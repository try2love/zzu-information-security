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4"/>
  </p:notesMasterIdLst>
  <p:sldIdLst>
    <p:sldId id="836" r:id="rId2"/>
    <p:sldId id="911" r:id="rId3"/>
    <p:sldId id="1050" r:id="rId4"/>
    <p:sldId id="885" r:id="rId5"/>
    <p:sldId id="890" r:id="rId6"/>
    <p:sldId id="990" r:id="rId7"/>
    <p:sldId id="991" r:id="rId8"/>
    <p:sldId id="992" r:id="rId9"/>
    <p:sldId id="993" r:id="rId10"/>
    <p:sldId id="935" r:id="rId11"/>
    <p:sldId id="936" r:id="rId12"/>
    <p:sldId id="941" r:id="rId13"/>
    <p:sldId id="940" r:id="rId14"/>
    <p:sldId id="994" r:id="rId15"/>
    <p:sldId id="996" r:id="rId16"/>
    <p:sldId id="997" r:id="rId17"/>
    <p:sldId id="998" r:id="rId18"/>
    <p:sldId id="999" r:id="rId19"/>
    <p:sldId id="1002" r:id="rId20"/>
    <p:sldId id="1003" r:id="rId21"/>
    <p:sldId id="1004" r:id="rId22"/>
    <p:sldId id="946" r:id="rId23"/>
    <p:sldId id="947" r:id="rId24"/>
    <p:sldId id="1001" r:id="rId25"/>
    <p:sldId id="1005" r:id="rId26"/>
    <p:sldId id="1006" r:id="rId27"/>
    <p:sldId id="1007" r:id="rId28"/>
    <p:sldId id="1008" r:id="rId29"/>
    <p:sldId id="1009" r:id="rId30"/>
    <p:sldId id="1010" r:id="rId31"/>
    <p:sldId id="1011" r:id="rId32"/>
    <p:sldId id="1012" r:id="rId33"/>
    <p:sldId id="1013" r:id="rId34"/>
    <p:sldId id="1014" r:id="rId35"/>
    <p:sldId id="1015" r:id="rId36"/>
    <p:sldId id="952" r:id="rId37"/>
    <p:sldId id="953" r:id="rId38"/>
    <p:sldId id="1016" r:id="rId39"/>
    <p:sldId id="957" r:id="rId40"/>
    <p:sldId id="958" r:id="rId41"/>
    <p:sldId id="1017" r:id="rId42"/>
    <p:sldId id="1029" r:id="rId43"/>
    <p:sldId id="1019" r:id="rId44"/>
    <p:sldId id="1020" r:id="rId45"/>
    <p:sldId id="1021" r:id="rId46"/>
    <p:sldId id="1022" r:id="rId47"/>
    <p:sldId id="1023" r:id="rId48"/>
    <p:sldId id="1024" r:id="rId49"/>
    <p:sldId id="1025" r:id="rId50"/>
    <p:sldId id="1026" r:id="rId51"/>
    <p:sldId id="1018" r:id="rId52"/>
    <p:sldId id="1030" r:id="rId53"/>
    <p:sldId id="1031" r:id="rId54"/>
    <p:sldId id="1032" r:id="rId55"/>
    <p:sldId id="1033" r:id="rId56"/>
    <p:sldId id="1034" r:id="rId57"/>
    <p:sldId id="1035" r:id="rId58"/>
    <p:sldId id="1036" r:id="rId59"/>
    <p:sldId id="1037" r:id="rId60"/>
    <p:sldId id="1039" r:id="rId61"/>
    <p:sldId id="1038" r:id="rId62"/>
    <p:sldId id="1040" r:id="rId63"/>
    <p:sldId id="1041" r:id="rId64"/>
    <p:sldId id="1042" r:id="rId65"/>
    <p:sldId id="1043" r:id="rId66"/>
    <p:sldId id="1044" r:id="rId67"/>
    <p:sldId id="1045" r:id="rId68"/>
    <p:sldId id="1046" r:id="rId69"/>
    <p:sldId id="1047" r:id="rId70"/>
    <p:sldId id="1048" r:id="rId71"/>
    <p:sldId id="1049" r:id="rId72"/>
    <p:sldId id="910" r:id="rId73"/>
  </p:sldIdLst>
  <p:sldSz cx="9144000" cy="5143500" type="screen16x9"/>
  <p:notesSz cx="6858000" cy="9144000"/>
  <p:embeddedFontLst>
    <p:embeddedFont>
      <p:font typeface="Calibri" panose="020F0502020204030204" pitchFamily="34" charset="0"/>
      <p:regular r:id="rId75"/>
      <p:bold r:id="rId76"/>
      <p:italic r:id="rId77"/>
      <p:boldItalic r:id="rId78"/>
    </p:embeddedFont>
    <p:embeddedFont>
      <p:font typeface="Century Gothic" panose="020B0502020202020204" pitchFamily="34" charset="0"/>
      <p:regular r:id="rId79"/>
      <p:bold r:id="rId80"/>
      <p:italic r:id="rId81"/>
      <p:boldItalic r:id="rId82"/>
    </p:embeddedFont>
    <p:embeddedFont>
      <p:font typeface="华文楷体" panose="02010600040101010101" pitchFamily="2" charset="-122"/>
      <p:regular r:id="rId83"/>
    </p:embeddedFont>
    <p:embeddedFont>
      <p:font typeface="楷体" panose="02010609060101010101" pitchFamily="49" charset="-122"/>
      <p:regular r:id="rId84"/>
    </p:embeddedFont>
    <p:embeddedFont>
      <p:font typeface="微软雅黑" panose="020B0503020204020204" pitchFamily="34" charset="-122"/>
      <p:regular r:id="rId85"/>
      <p:bold r:id="rId86"/>
    </p:embeddedFont>
  </p:embeddedFontLst>
  <p:custDataLst>
    <p:tags r:id="rId87"/>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7010"/>
    <a:srgbClr val="FEF4EC"/>
    <a:srgbClr val="52B98C"/>
    <a:srgbClr val="008F92"/>
    <a:srgbClr val="008487"/>
    <a:srgbClr val="163C46"/>
    <a:srgbClr val="DB2C03"/>
    <a:srgbClr val="20A9DD"/>
    <a:srgbClr val="0075B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3354" autoAdjust="0"/>
  </p:normalViewPr>
  <p:slideViewPr>
    <p:cSldViewPr>
      <p:cViewPr varScale="1">
        <p:scale>
          <a:sx n="91" d="100"/>
          <a:sy n="91" d="100"/>
        </p:scale>
        <p:origin x="52" y="500"/>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0.fntdata"/><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font" Target="fonts/font8.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2023/2/18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17007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2</a:t>
            </a:fld>
            <a:endParaRPr lang="zh-CN" altLang="en-US"/>
          </a:p>
        </p:txBody>
      </p:sp>
    </p:spTree>
    <p:extLst>
      <p:ext uri="{BB962C8B-B14F-4D97-AF65-F5344CB8AC3E}">
        <p14:creationId xmlns:p14="http://schemas.microsoft.com/office/powerpoint/2010/main" val="92971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a:t>
            </a:fld>
            <a:endParaRPr lang="en-GB"/>
          </a:p>
        </p:txBody>
      </p:sp>
    </p:spTree>
    <p:extLst>
      <p:ext uri="{BB962C8B-B14F-4D97-AF65-F5344CB8AC3E}">
        <p14:creationId xmlns:p14="http://schemas.microsoft.com/office/powerpoint/2010/main" val="30220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a:t>
            </a:fld>
            <a:endParaRPr lang="zh-CN" altLang="en-US"/>
          </a:p>
        </p:txBody>
      </p:sp>
    </p:spTree>
    <p:extLst>
      <p:ext uri="{BB962C8B-B14F-4D97-AF65-F5344CB8AC3E}">
        <p14:creationId xmlns:p14="http://schemas.microsoft.com/office/powerpoint/2010/main" val="325546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a:t>
            </a:fld>
            <a:endParaRPr lang="en-GB"/>
          </a:p>
        </p:txBody>
      </p:sp>
    </p:spTree>
    <p:extLst>
      <p:ext uri="{BB962C8B-B14F-4D97-AF65-F5344CB8AC3E}">
        <p14:creationId xmlns:p14="http://schemas.microsoft.com/office/powerpoint/2010/main" val="55939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a:t>
            </a:fld>
            <a:endParaRPr lang="en-GB"/>
          </a:p>
        </p:txBody>
      </p:sp>
    </p:spTree>
    <p:extLst>
      <p:ext uri="{BB962C8B-B14F-4D97-AF65-F5344CB8AC3E}">
        <p14:creationId xmlns:p14="http://schemas.microsoft.com/office/powerpoint/2010/main" val="1697117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32173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a:t>
            </a:fld>
            <a:endParaRPr lang="en-GB"/>
          </a:p>
        </p:txBody>
      </p:sp>
    </p:spTree>
    <p:extLst>
      <p:ext uri="{BB962C8B-B14F-4D97-AF65-F5344CB8AC3E}">
        <p14:creationId xmlns:p14="http://schemas.microsoft.com/office/powerpoint/2010/main" val="3006698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a:t>
            </a:fld>
            <a:endParaRPr lang="en-GB"/>
          </a:p>
        </p:txBody>
      </p:sp>
    </p:spTree>
    <p:extLst>
      <p:ext uri="{BB962C8B-B14F-4D97-AF65-F5344CB8AC3E}">
        <p14:creationId xmlns:p14="http://schemas.microsoft.com/office/powerpoint/2010/main" val="3975541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a:t>
            </a:fld>
            <a:endParaRPr lang="en-GB"/>
          </a:p>
        </p:txBody>
      </p:sp>
    </p:spTree>
    <p:extLst>
      <p:ext uri="{BB962C8B-B14F-4D97-AF65-F5344CB8AC3E}">
        <p14:creationId xmlns:p14="http://schemas.microsoft.com/office/powerpoint/2010/main" val="3702621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1318570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12</a:t>
            </a:fld>
            <a:endParaRPr lang="zh-CN" altLang="en-US"/>
          </a:p>
        </p:txBody>
      </p:sp>
    </p:spTree>
    <p:extLst>
      <p:ext uri="{BB962C8B-B14F-4D97-AF65-F5344CB8AC3E}">
        <p14:creationId xmlns:p14="http://schemas.microsoft.com/office/powerpoint/2010/main" val="3692650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13</a:t>
            </a:fld>
            <a:endParaRPr lang="en-GB"/>
          </a:p>
        </p:txBody>
      </p:sp>
    </p:spTree>
    <p:extLst>
      <p:ext uri="{BB962C8B-B14F-4D97-AF65-F5344CB8AC3E}">
        <p14:creationId xmlns:p14="http://schemas.microsoft.com/office/powerpoint/2010/main" val="1417226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a:t>
            </a:fld>
            <a:endParaRPr lang="en-GB"/>
          </a:p>
        </p:txBody>
      </p:sp>
    </p:spTree>
    <p:extLst>
      <p:ext uri="{BB962C8B-B14F-4D97-AF65-F5344CB8AC3E}">
        <p14:creationId xmlns:p14="http://schemas.microsoft.com/office/powerpoint/2010/main" val="4265087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4011814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a:t>
            </a:fld>
            <a:endParaRPr lang="en-GB"/>
          </a:p>
        </p:txBody>
      </p:sp>
    </p:spTree>
    <p:extLst>
      <p:ext uri="{BB962C8B-B14F-4D97-AF65-F5344CB8AC3E}">
        <p14:creationId xmlns:p14="http://schemas.microsoft.com/office/powerpoint/2010/main" val="4103765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a:t>
            </a:fld>
            <a:endParaRPr lang="en-GB"/>
          </a:p>
        </p:txBody>
      </p:sp>
    </p:spTree>
    <p:extLst>
      <p:ext uri="{BB962C8B-B14F-4D97-AF65-F5344CB8AC3E}">
        <p14:creationId xmlns:p14="http://schemas.microsoft.com/office/powerpoint/2010/main" val="3164933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a:t>
            </a:fld>
            <a:endParaRPr lang="en-GB"/>
          </a:p>
        </p:txBody>
      </p:sp>
    </p:spTree>
    <p:extLst>
      <p:ext uri="{BB962C8B-B14F-4D97-AF65-F5344CB8AC3E}">
        <p14:creationId xmlns:p14="http://schemas.microsoft.com/office/powerpoint/2010/main" val="3590127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a:t>
            </a:fld>
            <a:endParaRPr lang="en-GB"/>
          </a:p>
        </p:txBody>
      </p:sp>
    </p:spTree>
    <p:extLst>
      <p:ext uri="{BB962C8B-B14F-4D97-AF65-F5344CB8AC3E}">
        <p14:creationId xmlns:p14="http://schemas.microsoft.com/office/powerpoint/2010/main" val="1526589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a:t>
            </a:fld>
            <a:endParaRPr lang="en-GB"/>
          </a:p>
        </p:txBody>
      </p:sp>
    </p:spTree>
    <p:extLst>
      <p:ext uri="{BB962C8B-B14F-4D97-AF65-F5344CB8AC3E}">
        <p14:creationId xmlns:p14="http://schemas.microsoft.com/office/powerpoint/2010/main" val="1464640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3948728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22</a:t>
            </a:fld>
            <a:endParaRPr lang="zh-CN" altLang="en-US"/>
          </a:p>
        </p:txBody>
      </p:sp>
    </p:spTree>
    <p:extLst>
      <p:ext uri="{BB962C8B-B14F-4D97-AF65-F5344CB8AC3E}">
        <p14:creationId xmlns:p14="http://schemas.microsoft.com/office/powerpoint/2010/main" val="29734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23</a:t>
            </a:fld>
            <a:endParaRPr lang="en-GB"/>
          </a:p>
        </p:txBody>
      </p:sp>
    </p:spTree>
    <p:extLst>
      <p:ext uri="{BB962C8B-B14F-4D97-AF65-F5344CB8AC3E}">
        <p14:creationId xmlns:p14="http://schemas.microsoft.com/office/powerpoint/2010/main" val="28667847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24</a:t>
            </a:fld>
            <a:endParaRPr lang="en-GB"/>
          </a:p>
        </p:txBody>
      </p:sp>
    </p:spTree>
    <p:extLst>
      <p:ext uri="{BB962C8B-B14F-4D97-AF65-F5344CB8AC3E}">
        <p14:creationId xmlns:p14="http://schemas.microsoft.com/office/powerpoint/2010/main" val="417736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25</a:t>
            </a:fld>
            <a:endParaRPr lang="en-GB"/>
          </a:p>
        </p:txBody>
      </p:sp>
    </p:spTree>
    <p:extLst>
      <p:ext uri="{BB962C8B-B14F-4D97-AF65-F5344CB8AC3E}">
        <p14:creationId xmlns:p14="http://schemas.microsoft.com/office/powerpoint/2010/main" val="3156501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26</a:t>
            </a:fld>
            <a:endParaRPr lang="en-GB"/>
          </a:p>
        </p:txBody>
      </p:sp>
    </p:spTree>
    <p:extLst>
      <p:ext uri="{BB962C8B-B14F-4D97-AF65-F5344CB8AC3E}">
        <p14:creationId xmlns:p14="http://schemas.microsoft.com/office/powerpoint/2010/main" val="1867299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27</a:t>
            </a:fld>
            <a:endParaRPr lang="en-GB"/>
          </a:p>
        </p:txBody>
      </p:sp>
    </p:spTree>
    <p:extLst>
      <p:ext uri="{BB962C8B-B14F-4D97-AF65-F5344CB8AC3E}">
        <p14:creationId xmlns:p14="http://schemas.microsoft.com/office/powerpoint/2010/main" val="5237525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28</a:t>
            </a:fld>
            <a:endParaRPr lang="en-GB"/>
          </a:p>
        </p:txBody>
      </p:sp>
    </p:spTree>
    <p:extLst>
      <p:ext uri="{BB962C8B-B14F-4D97-AF65-F5344CB8AC3E}">
        <p14:creationId xmlns:p14="http://schemas.microsoft.com/office/powerpoint/2010/main" val="1362780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29</a:t>
            </a:fld>
            <a:endParaRPr lang="en-GB"/>
          </a:p>
        </p:txBody>
      </p:sp>
    </p:spTree>
    <p:extLst>
      <p:ext uri="{BB962C8B-B14F-4D97-AF65-F5344CB8AC3E}">
        <p14:creationId xmlns:p14="http://schemas.microsoft.com/office/powerpoint/2010/main" val="5299708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30</a:t>
            </a:fld>
            <a:endParaRPr lang="en-GB"/>
          </a:p>
        </p:txBody>
      </p:sp>
    </p:spTree>
    <p:extLst>
      <p:ext uri="{BB962C8B-B14F-4D97-AF65-F5344CB8AC3E}">
        <p14:creationId xmlns:p14="http://schemas.microsoft.com/office/powerpoint/2010/main" val="656243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31</a:t>
            </a:fld>
            <a:endParaRPr lang="en-GB"/>
          </a:p>
        </p:txBody>
      </p:sp>
    </p:spTree>
    <p:extLst>
      <p:ext uri="{BB962C8B-B14F-4D97-AF65-F5344CB8AC3E}">
        <p14:creationId xmlns:p14="http://schemas.microsoft.com/office/powerpoint/2010/main" val="2000086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32</a:t>
            </a:fld>
            <a:endParaRPr lang="en-GB"/>
          </a:p>
        </p:txBody>
      </p:sp>
    </p:spTree>
    <p:extLst>
      <p:ext uri="{BB962C8B-B14F-4D97-AF65-F5344CB8AC3E}">
        <p14:creationId xmlns:p14="http://schemas.microsoft.com/office/powerpoint/2010/main" val="1759094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33</a:t>
            </a:fld>
            <a:endParaRPr lang="en-GB"/>
          </a:p>
        </p:txBody>
      </p:sp>
    </p:spTree>
    <p:extLst>
      <p:ext uri="{BB962C8B-B14F-4D97-AF65-F5344CB8AC3E}">
        <p14:creationId xmlns:p14="http://schemas.microsoft.com/office/powerpoint/2010/main" val="3340208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34</a:t>
            </a:fld>
            <a:endParaRPr lang="en-GB"/>
          </a:p>
        </p:txBody>
      </p:sp>
    </p:spTree>
    <p:extLst>
      <p:ext uri="{BB962C8B-B14F-4D97-AF65-F5344CB8AC3E}">
        <p14:creationId xmlns:p14="http://schemas.microsoft.com/office/powerpoint/2010/main" val="192745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35</a:t>
            </a:fld>
            <a:endParaRPr lang="en-GB"/>
          </a:p>
        </p:txBody>
      </p:sp>
    </p:spTree>
    <p:extLst>
      <p:ext uri="{BB962C8B-B14F-4D97-AF65-F5344CB8AC3E}">
        <p14:creationId xmlns:p14="http://schemas.microsoft.com/office/powerpoint/2010/main" val="30113257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36</a:t>
            </a:fld>
            <a:endParaRPr lang="zh-CN" altLang="en-US"/>
          </a:p>
        </p:txBody>
      </p:sp>
    </p:spTree>
    <p:extLst>
      <p:ext uri="{BB962C8B-B14F-4D97-AF65-F5344CB8AC3E}">
        <p14:creationId xmlns:p14="http://schemas.microsoft.com/office/powerpoint/2010/main" val="20554493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37</a:t>
            </a:fld>
            <a:endParaRPr lang="en-GB"/>
          </a:p>
        </p:txBody>
      </p:sp>
    </p:spTree>
    <p:extLst>
      <p:ext uri="{BB962C8B-B14F-4D97-AF65-F5344CB8AC3E}">
        <p14:creationId xmlns:p14="http://schemas.microsoft.com/office/powerpoint/2010/main" val="6931098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38</a:t>
            </a:fld>
            <a:endParaRPr lang="en-GB"/>
          </a:p>
        </p:txBody>
      </p:sp>
    </p:spTree>
    <p:extLst>
      <p:ext uri="{BB962C8B-B14F-4D97-AF65-F5344CB8AC3E}">
        <p14:creationId xmlns:p14="http://schemas.microsoft.com/office/powerpoint/2010/main" val="36628985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39</a:t>
            </a:fld>
            <a:endParaRPr lang="zh-CN" altLang="en-US"/>
          </a:p>
        </p:txBody>
      </p:sp>
    </p:spTree>
    <p:extLst>
      <p:ext uri="{BB962C8B-B14F-4D97-AF65-F5344CB8AC3E}">
        <p14:creationId xmlns:p14="http://schemas.microsoft.com/office/powerpoint/2010/main" val="3471887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40</a:t>
            </a:fld>
            <a:endParaRPr lang="en-GB"/>
          </a:p>
        </p:txBody>
      </p:sp>
    </p:spTree>
    <p:extLst>
      <p:ext uri="{BB962C8B-B14F-4D97-AF65-F5344CB8AC3E}">
        <p14:creationId xmlns:p14="http://schemas.microsoft.com/office/powerpoint/2010/main" val="28044435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41</a:t>
            </a:fld>
            <a:endParaRPr lang="en-GB"/>
          </a:p>
        </p:txBody>
      </p:sp>
    </p:spTree>
    <p:extLst>
      <p:ext uri="{BB962C8B-B14F-4D97-AF65-F5344CB8AC3E}">
        <p14:creationId xmlns:p14="http://schemas.microsoft.com/office/powerpoint/2010/main" val="2244153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42</a:t>
            </a:fld>
            <a:endParaRPr lang="en-GB"/>
          </a:p>
        </p:txBody>
      </p:sp>
    </p:spTree>
    <p:extLst>
      <p:ext uri="{BB962C8B-B14F-4D97-AF65-F5344CB8AC3E}">
        <p14:creationId xmlns:p14="http://schemas.microsoft.com/office/powerpoint/2010/main" val="32864786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43</a:t>
            </a:fld>
            <a:endParaRPr lang="en-GB"/>
          </a:p>
        </p:txBody>
      </p:sp>
    </p:spTree>
    <p:extLst>
      <p:ext uri="{BB962C8B-B14F-4D97-AF65-F5344CB8AC3E}">
        <p14:creationId xmlns:p14="http://schemas.microsoft.com/office/powerpoint/2010/main" val="42911169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44</a:t>
            </a:fld>
            <a:endParaRPr lang="en-GB"/>
          </a:p>
        </p:txBody>
      </p:sp>
    </p:spTree>
    <p:extLst>
      <p:ext uri="{BB962C8B-B14F-4D97-AF65-F5344CB8AC3E}">
        <p14:creationId xmlns:p14="http://schemas.microsoft.com/office/powerpoint/2010/main" val="18493384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45</a:t>
            </a:fld>
            <a:endParaRPr lang="en-GB"/>
          </a:p>
        </p:txBody>
      </p:sp>
    </p:spTree>
    <p:extLst>
      <p:ext uri="{BB962C8B-B14F-4D97-AF65-F5344CB8AC3E}">
        <p14:creationId xmlns:p14="http://schemas.microsoft.com/office/powerpoint/2010/main" val="2169204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46</a:t>
            </a:fld>
            <a:endParaRPr lang="en-GB"/>
          </a:p>
        </p:txBody>
      </p:sp>
    </p:spTree>
    <p:extLst>
      <p:ext uri="{BB962C8B-B14F-4D97-AF65-F5344CB8AC3E}">
        <p14:creationId xmlns:p14="http://schemas.microsoft.com/office/powerpoint/2010/main" val="11883242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47</a:t>
            </a:fld>
            <a:endParaRPr lang="en-GB"/>
          </a:p>
        </p:txBody>
      </p:sp>
    </p:spTree>
    <p:extLst>
      <p:ext uri="{BB962C8B-B14F-4D97-AF65-F5344CB8AC3E}">
        <p14:creationId xmlns:p14="http://schemas.microsoft.com/office/powerpoint/2010/main" val="29592179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48</a:t>
            </a:fld>
            <a:endParaRPr lang="en-GB"/>
          </a:p>
        </p:txBody>
      </p:sp>
    </p:spTree>
    <p:extLst>
      <p:ext uri="{BB962C8B-B14F-4D97-AF65-F5344CB8AC3E}">
        <p14:creationId xmlns:p14="http://schemas.microsoft.com/office/powerpoint/2010/main" val="3720910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49</a:t>
            </a:fld>
            <a:endParaRPr lang="en-GB"/>
          </a:p>
        </p:txBody>
      </p:sp>
    </p:spTree>
    <p:extLst>
      <p:ext uri="{BB962C8B-B14F-4D97-AF65-F5344CB8AC3E}">
        <p14:creationId xmlns:p14="http://schemas.microsoft.com/office/powerpoint/2010/main" val="36177782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50</a:t>
            </a:fld>
            <a:endParaRPr lang="en-GB"/>
          </a:p>
        </p:txBody>
      </p:sp>
    </p:spTree>
    <p:extLst>
      <p:ext uri="{BB962C8B-B14F-4D97-AF65-F5344CB8AC3E}">
        <p14:creationId xmlns:p14="http://schemas.microsoft.com/office/powerpoint/2010/main" val="32441031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51</a:t>
            </a:fld>
            <a:endParaRPr lang="en-GB"/>
          </a:p>
        </p:txBody>
      </p:sp>
    </p:spTree>
    <p:extLst>
      <p:ext uri="{BB962C8B-B14F-4D97-AF65-F5344CB8AC3E}">
        <p14:creationId xmlns:p14="http://schemas.microsoft.com/office/powerpoint/2010/main" val="22491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52</a:t>
            </a:fld>
            <a:endParaRPr lang="en-GB"/>
          </a:p>
        </p:txBody>
      </p:sp>
    </p:spTree>
    <p:extLst>
      <p:ext uri="{BB962C8B-B14F-4D97-AF65-F5344CB8AC3E}">
        <p14:creationId xmlns:p14="http://schemas.microsoft.com/office/powerpoint/2010/main" val="4962802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53</a:t>
            </a:fld>
            <a:endParaRPr lang="zh-CN" altLang="en-US"/>
          </a:p>
        </p:txBody>
      </p:sp>
    </p:spTree>
    <p:extLst>
      <p:ext uri="{BB962C8B-B14F-4D97-AF65-F5344CB8AC3E}">
        <p14:creationId xmlns:p14="http://schemas.microsoft.com/office/powerpoint/2010/main" val="4040906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54</a:t>
            </a:fld>
            <a:endParaRPr lang="en-GB"/>
          </a:p>
        </p:txBody>
      </p:sp>
    </p:spTree>
    <p:extLst>
      <p:ext uri="{BB962C8B-B14F-4D97-AF65-F5344CB8AC3E}">
        <p14:creationId xmlns:p14="http://schemas.microsoft.com/office/powerpoint/2010/main" val="36159499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55</a:t>
            </a:fld>
            <a:endParaRPr lang="en-GB"/>
          </a:p>
        </p:txBody>
      </p:sp>
    </p:spTree>
    <p:extLst>
      <p:ext uri="{BB962C8B-B14F-4D97-AF65-F5344CB8AC3E}">
        <p14:creationId xmlns:p14="http://schemas.microsoft.com/office/powerpoint/2010/main" val="27565226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56</a:t>
            </a:fld>
            <a:endParaRPr lang="en-GB"/>
          </a:p>
        </p:txBody>
      </p:sp>
    </p:spTree>
    <p:extLst>
      <p:ext uri="{BB962C8B-B14F-4D97-AF65-F5344CB8AC3E}">
        <p14:creationId xmlns:p14="http://schemas.microsoft.com/office/powerpoint/2010/main" val="26688264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57</a:t>
            </a:fld>
            <a:endParaRPr lang="en-GB"/>
          </a:p>
        </p:txBody>
      </p:sp>
    </p:spTree>
    <p:extLst>
      <p:ext uri="{BB962C8B-B14F-4D97-AF65-F5344CB8AC3E}">
        <p14:creationId xmlns:p14="http://schemas.microsoft.com/office/powerpoint/2010/main" val="38059783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58</a:t>
            </a:fld>
            <a:endParaRPr lang="en-GB"/>
          </a:p>
        </p:txBody>
      </p:sp>
    </p:spTree>
    <p:extLst>
      <p:ext uri="{BB962C8B-B14F-4D97-AF65-F5344CB8AC3E}">
        <p14:creationId xmlns:p14="http://schemas.microsoft.com/office/powerpoint/2010/main" val="37349042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59</a:t>
            </a:fld>
            <a:endParaRPr lang="en-GB"/>
          </a:p>
        </p:txBody>
      </p:sp>
    </p:spTree>
    <p:extLst>
      <p:ext uri="{BB962C8B-B14F-4D97-AF65-F5344CB8AC3E}">
        <p14:creationId xmlns:p14="http://schemas.microsoft.com/office/powerpoint/2010/main" val="42321169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60</a:t>
            </a:fld>
            <a:endParaRPr lang="en-GB"/>
          </a:p>
        </p:txBody>
      </p:sp>
    </p:spTree>
    <p:extLst>
      <p:ext uri="{BB962C8B-B14F-4D97-AF65-F5344CB8AC3E}">
        <p14:creationId xmlns:p14="http://schemas.microsoft.com/office/powerpoint/2010/main" val="15402158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61</a:t>
            </a:fld>
            <a:endParaRPr lang="en-GB"/>
          </a:p>
        </p:txBody>
      </p:sp>
    </p:spTree>
    <p:extLst>
      <p:ext uri="{BB962C8B-B14F-4D97-AF65-F5344CB8AC3E}">
        <p14:creationId xmlns:p14="http://schemas.microsoft.com/office/powerpoint/2010/main" val="27462140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62</a:t>
            </a:fld>
            <a:endParaRPr lang="en-GB"/>
          </a:p>
        </p:txBody>
      </p:sp>
    </p:spTree>
    <p:extLst>
      <p:ext uri="{BB962C8B-B14F-4D97-AF65-F5344CB8AC3E}">
        <p14:creationId xmlns:p14="http://schemas.microsoft.com/office/powerpoint/2010/main" val="27050665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63</a:t>
            </a:fld>
            <a:endParaRPr lang="en-GB"/>
          </a:p>
        </p:txBody>
      </p:sp>
    </p:spTree>
    <p:extLst>
      <p:ext uri="{BB962C8B-B14F-4D97-AF65-F5344CB8AC3E}">
        <p14:creationId xmlns:p14="http://schemas.microsoft.com/office/powerpoint/2010/main" val="36970986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64</a:t>
            </a:fld>
            <a:endParaRPr lang="en-GB"/>
          </a:p>
        </p:txBody>
      </p:sp>
    </p:spTree>
    <p:extLst>
      <p:ext uri="{BB962C8B-B14F-4D97-AF65-F5344CB8AC3E}">
        <p14:creationId xmlns:p14="http://schemas.microsoft.com/office/powerpoint/2010/main" val="24588330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65</a:t>
            </a:fld>
            <a:endParaRPr lang="zh-CN" altLang="en-US"/>
          </a:p>
        </p:txBody>
      </p:sp>
    </p:spTree>
    <p:extLst>
      <p:ext uri="{BB962C8B-B14F-4D97-AF65-F5344CB8AC3E}">
        <p14:creationId xmlns:p14="http://schemas.microsoft.com/office/powerpoint/2010/main" val="34649546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66</a:t>
            </a:fld>
            <a:endParaRPr lang="en-GB"/>
          </a:p>
        </p:txBody>
      </p:sp>
    </p:spTree>
    <p:extLst>
      <p:ext uri="{BB962C8B-B14F-4D97-AF65-F5344CB8AC3E}">
        <p14:creationId xmlns:p14="http://schemas.microsoft.com/office/powerpoint/2010/main" val="30725209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67</a:t>
            </a:fld>
            <a:endParaRPr lang="en-GB"/>
          </a:p>
        </p:txBody>
      </p:sp>
    </p:spTree>
    <p:extLst>
      <p:ext uri="{BB962C8B-B14F-4D97-AF65-F5344CB8AC3E}">
        <p14:creationId xmlns:p14="http://schemas.microsoft.com/office/powerpoint/2010/main" val="39569561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68</a:t>
            </a:fld>
            <a:endParaRPr lang="en-GB"/>
          </a:p>
        </p:txBody>
      </p:sp>
    </p:spTree>
    <p:extLst>
      <p:ext uri="{BB962C8B-B14F-4D97-AF65-F5344CB8AC3E}">
        <p14:creationId xmlns:p14="http://schemas.microsoft.com/office/powerpoint/2010/main" val="33110407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69</a:t>
            </a:fld>
            <a:endParaRPr lang="en-GB"/>
          </a:p>
        </p:txBody>
      </p:sp>
    </p:spTree>
    <p:extLst>
      <p:ext uri="{BB962C8B-B14F-4D97-AF65-F5344CB8AC3E}">
        <p14:creationId xmlns:p14="http://schemas.microsoft.com/office/powerpoint/2010/main" val="38383372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70</a:t>
            </a:fld>
            <a:endParaRPr lang="en-GB"/>
          </a:p>
        </p:txBody>
      </p:sp>
    </p:spTree>
    <p:extLst>
      <p:ext uri="{BB962C8B-B14F-4D97-AF65-F5344CB8AC3E}">
        <p14:creationId xmlns:p14="http://schemas.microsoft.com/office/powerpoint/2010/main" val="34312846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71</a:t>
            </a:fld>
            <a:endParaRPr lang="en-GB"/>
          </a:p>
        </p:txBody>
      </p:sp>
    </p:spTree>
    <p:extLst>
      <p:ext uri="{BB962C8B-B14F-4D97-AF65-F5344CB8AC3E}">
        <p14:creationId xmlns:p14="http://schemas.microsoft.com/office/powerpoint/2010/main" val="6207560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72</a:t>
            </a:fld>
            <a:endParaRPr lang="zh-CN" altLang="en-US"/>
          </a:p>
        </p:txBody>
      </p:sp>
    </p:spTree>
    <p:extLst>
      <p:ext uri="{BB962C8B-B14F-4D97-AF65-F5344CB8AC3E}">
        <p14:creationId xmlns:p14="http://schemas.microsoft.com/office/powerpoint/2010/main" val="239770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93213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1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2023/2/18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41645999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pPr/>
              <a:t>2023/2/18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2434774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1" y="0"/>
            <a:ext cx="9143499" cy="5143500"/>
          </a:xfrm>
          <a:prstGeom prst="rect">
            <a:avLst/>
          </a:prstGeom>
        </p:spPr>
      </p:pic>
    </p:spTree>
    <p:extLst>
      <p:ext uri="{BB962C8B-B14F-4D97-AF65-F5344CB8AC3E}">
        <p14:creationId xmlns:p14="http://schemas.microsoft.com/office/powerpoint/2010/main" val="2116808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2023/2/18</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65" r:id="rId2"/>
    <p:sldLayoutId id="2147483668" r:id="rId3"/>
    <p:sldLayoutId id="2147483667"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4.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435871"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400" b="1" kern="2000" spc="200" dirty="0">
                <a:solidFill>
                  <a:schemeClr val="bg1"/>
                </a:solidFill>
                <a:latin typeface="微软雅黑" panose="020B0503020204020204" pitchFamily="34" charset="-122"/>
                <a:ea typeface="微软雅黑" panose="020B0503020204020204" pitchFamily="34" charset="-122"/>
              </a:rPr>
              <a:t>物联网安全基础</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第二章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1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6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1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a:spLocks/>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12968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1296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安全性攻击</a:t>
            </a:r>
          </a:p>
        </p:txBody>
      </p:sp>
      <p:sp>
        <p:nvSpPr>
          <p:cNvPr id="22" name="MH_Number_2"/>
          <p:cNvSpPr/>
          <p:nvPr>
            <p:custDataLst>
              <p:tags r:id="rId3"/>
            </p:custDataLst>
          </p:nvPr>
        </p:nvSpPr>
        <p:spPr>
          <a:xfrm>
            <a:off x="4732780" y="157607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58120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物联网面临的安全问题</a:t>
            </a:r>
          </a:p>
        </p:txBody>
      </p:sp>
      <p:sp>
        <p:nvSpPr>
          <p:cNvPr id="24" name="MH_Number_3"/>
          <p:cNvSpPr/>
          <p:nvPr>
            <p:custDataLst>
              <p:tags r:id="rId5"/>
            </p:custDataLst>
          </p:nvPr>
        </p:nvSpPr>
        <p:spPr>
          <a:xfrm>
            <a:off x="4732780" y="202246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03272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物联网安全概念</a:t>
            </a:r>
          </a:p>
        </p:txBody>
      </p:sp>
      <p:sp>
        <p:nvSpPr>
          <p:cNvPr id="26" name="MH_Number_4"/>
          <p:cNvSpPr/>
          <p:nvPr>
            <p:custDataLst>
              <p:tags r:id="rId7"/>
            </p:custDataLst>
          </p:nvPr>
        </p:nvSpPr>
        <p:spPr>
          <a:xfrm>
            <a:off x="4732780" y="246885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4"/>
          <p:cNvSpPr/>
          <p:nvPr>
            <p:custDataLst>
              <p:tags r:id="rId8"/>
            </p:custDataLst>
          </p:nvPr>
        </p:nvSpPr>
        <p:spPr>
          <a:xfrm>
            <a:off x="5234111" y="24842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物联网安全需求</a:t>
            </a:r>
          </a:p>
        </p:txBody>
      </p:sp>
      <p:sp>
        <p:nvSpPr>
          <p:cNvPr id="18" name="MH_Others_1"/>
          <p:cNvSpPr txBox="1"/>
          <p:nvPr>
            <p:custDataLst>
              <p:tags r:id="rId9"/>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10"/>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a:spLocks/>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MH_Entry_4">
            <a:extLst>
              <a:ext uri="{FF2B5EF4-FFF2-40B4-BE49-F238E27FC236}">
                <a16:creationId xmlns:a16="http://schemas.microsoft.com/office/drawing/2014/main" id="{3E259F03-D3D5-44D7-94B3-5B48EC51E9B3}"/>
              </a:ext>
            </a:extLst>
          </p:cNvPr>
          <p:cNvSpPr/>
          <p:nvPr>
            <p:custDataLst>
              <p:tags r:id="rId11"/>
            </p:custDataLst>
          </p:nvPr>
        </p:nvSpPr>
        <p:spPr>
          <a:xfrm>
            <a:off x="5234111" y="293576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物联网安全体系</a:t>
            </a:r>
          </a:p>
        </p:txBody>
      </p:sp>
      <p:sp>
        <p:nvSpPr>
          <p:cNvPr id="28" name="MH_Number_3">
            <a:extLst>
              <a:ext uri="{FF2B5EF4-FFF2-40B4-BE49-F238E27FC236}">
                <a16:creationId xmlns:a16="http://schemas.microsoft.com/office/drawing/2014/main" id="{26A0D43D-F70B-4F39-B8E7-D74DEE924E16}"/>
              </a:ext>
            </a:extLst>
          </p:cNvPr>
          <p:cNvSpPr/>
          <p:nvPr>
            <p:custDataLst>
              <p:tags r:id="rId12"/>
            </p:custDataLst>
          </p:nvPr>
        </p:nvSpPr>
        <p:spPr>
          <a:xfrm>
            <a:off x="4738620" y="29152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9" name="MH_Number_4">
            <a:extLst>
              <a:ext uri="{FF2B5EF4-FFF2-40B4-BE49-F238E27FC236}">
                <a16:creationId xmlns:a16="http://schemas.microsoft.com/office/drawing/2014/main" id="{91A0ED99-9CE3-4D48-89C2-9D5103530660}"/>
              </a:ext>
            </a:extLst>
          </p:cNvPr>
          <p:cNvSpPr/>
          <p:nvPr>
            <p:custDataLst>
              <p:tags r:id="rId13"/>
            </p:custDataLst>
          </p:nvPr>
        </p:nvSpPr>
        <p:spPr>
          <a:xfrm>
            <a:off x="4732780" y="336163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6</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0" name="MH_Entry_4">
            <a:extLst>
              <a:ext uri="{FF2B5EF4-FFF2-40B4-BE49-F238E27FC236}">
                <a16:creationId xmlns:a16="http://schemas.microsoft.com/office/drawing/2014/main" id="{FD6853CA-8338-466B-BDDB-B829D32E4215}"/>
              </a:ext>
            </a:extLst>
          </p:cNvPr>
          <p:cNvSpPr/>
          <p:nvPr>
            <p:custDataLst>
              <p:tags r:id="rId14"/>
            </p:custDataLst>
          </p:nvPr>
        </p:nvSpPr>
        <p:spPr>
          <a:xfrm>
            <a:off x="5234111" y="33872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物联网安全挑战</a:t>
            </a:r>
          </a:p>
        </p:txBody>
      </p:sp>
      <p:sp>
        <p:nvSpPr>
          <p:cNvPr id="31" name="MH_Entry_4">
            <a:extLst>
              <a:ext uri="{FF2B5EF4-FFF2-40B4-BE49-F238E27FC236}">
                <a16:creationId xmlns:a16="http://schemas.microsoft.com/office/drawing/2014/main" id="{261BB037-AC03-474B-BFE2-15775C7EE664}"/>
              </a:ext>
            </a:extLst>
          </p:cNvPr>
          <p:cNvSpPr/>
          <p:nvPr>
            <p:custDataLst>
              <p:tags r:id="rId15"/>
            </p:custDataLst>
          </p:nvPr>
        </p:nvSpPr>
        <p:spPr>
          <a:xfrm>
            <a:off x="5234110" y="3838805"/>
            <a:ext cx="3154313" cy="215444"/>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sz="1400"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物联网安全现状与发展趋势</a:t>
            </a:r>
          </a:p>
        </p:txBody>
      </p:sp>
      <p:sp>
        <p:nvSpPr>
          <p:cNvPr id="32" name="MH_Number_3">
            <a:extLst>
              <a:ext uri="{FF2B5EF4-FFF2-40B4-BE49-F238E27FC236}">
                <a16:creationId xmlns:a16="http://schemas.microsoft.com/office/drawing/2014/main" id="{59202A14-0C44-4587-B402-0C8193A96EC3}"/>
              </a:ext>
            </a:extLst>
          </p:cNvPr>
          <p:cNvSpPr/>
          <p:nvPr>
            <p:custDataLst>
              <p:tags r:id="rId16"/>
            </p:custDataLst>
          </p:nvPr>
        </p:nvSpPr>
        <p:spPr>
          <a:xfrm>
            <a:off x="4738620" y="3808028"/>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7</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47733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down)">
                                      <p:cBhvr>
                                        <p:cTn id="60" dur="500"/>
                                        <p:tgtEl>
                                          <p:spTgt spid="2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down)">
                                      <p:cBhvr>
                                        <p:cTn id="66" dur="500"/>
                                        <p:tgtEl>
                                          <p:spTgt spid="2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down)">
                                      <p:cBhvr>
                                        <p:cTn id="69" dur="500"/>
                                        <p:tgtEl>
                                          <p:spTgt spid="27"/>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p:cTn id="75" dur="500" fill="hold"/>
                                        <p:tgtEl>
                                          <p:spTgt spid="29"/>
                                        </p:tgtEl>
                                        <p:attrNameLst>
                                          <p:attrName>ppt_w</p:attrName>
                                        </p:attrNameLst>
                                      </p:cBhvr>
                                      <p:tavLst>
                                        <p:tav tm="0">
                                          <p:val>
                                            <p:fltVal val="0"/>
                                          </p:val>
                                        </p:tav>
                                        <p:tav tm="100000">
                                          <p:val>
                                            <p:strVal val="#ppt_w"/>
                                          </p:val>
                                        </p:tav>
                                      </p:tavLst>
                                    </p:anim>
                                    <p:anim calcmode="lin" valueType="num">
                                      <p:cBhvr>
                                        <p:cTn id="76" dur="500" fill="hold"/>
                                        <p:tgtEl>
                                          <p:spTgt spid="29"/>
                                        </p:tgtEl>
                                        <p:attrNameLst>
                                          <p:attrName>ppt_h</p:attrName>
                                        </p:attrNameLst>
                                      </p:cBhvr>
                                      <p:tavLst>
                                        <p:tav tm="0">
                                          <p:val>
                                            <p:fltVal val="0"/>
                                          </p:val>
                                        </p:tav>
                                        <p:tav tm="100000">
                                          <p:val>
                                            <p:strVal val="#ppt_h"/>
                                          </p:val>
                                        </p:tav>
                                      </p:tavLst>
                                    </p:anim>
                                    <p:animEffect transition="in" filter="fade">
                                      <p:cBhvr>
                                        <p:cTn id="77" dur="500"/>
                                        <p:tgtEl>
                                          <p:spTgt spid="29"/>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500" fill="hold"/>
                                        <p:tgtEl>
                                          <p:spTgt spid="32"/>
                                        </p:tgtEl>
                                        <p:attrNameLst>
                                          <p:attrName>ppt_w</p:attrName>
                                        </p:attrNameLst>
                                      </p:cBhvr>
                                      <p:tavLst>
                                        <p:tav tm="0">
                                          <p:val>
                                            <p:fltVal val="0"/>
                                          </p:val>
                                        </p:tav>
                                        <p:tav tm="100000">
                                          <p:val>
                                            <p:strVal val="#ppt_w"/>
                                          </p:val>
                                        </p:tav>
                                      </p:tavLst>
                                    </p:anim>
                                    <p:anim calcmode="lin" valueType="num">
                                      <p:cBhvr>
                                        <p:cTn id="81" dur="500" fill="hold"/>
                                        <p:tgtEl>
                                          <p:spTgt spid="32"/>
                                        </p:tgtEl>
                                        <p:attrNameLst>
                                          <p:attrName>ppt_h</p:attrName>
                                        </p:attrNameLst>
                                      </p:cBhvr>
                                      <p:tavLst>
                                        <p:tav tm="0">
                                          <p:val>
                                            <p:fltVal val="0"/>
                                          </p:val>
                                        </p:tav>
                                        <p:tav tm="100000">
                                          <p:val>
                                            <p:strVal val="#ppt_h"/>
                                          </p:val>
                                        </p:tav>
                                      </p:tavLst>
                                    </p:anim>
                                    <p:animEffect transition="in" filter="fade">
                                      <p:cBhvr>
                                        <p:cTn id="82" dur="500"/>
                                        <p:tgtEl>
                                          <p:spTgt spid="32"/>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wipe(down)">
                                      <p:cBhvr>
                                        <p:cTn id="85" dur="500"/>
                                        <p:tgtEl>
                                          <p:spTgt spid="30"/>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wipe(down)">
                                      <p:cBhvr>
                                        <p:cTn id="8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26" grpId="0" animBg="1"/>
      <p:bldP spid="27" grpId="0"/>
      <p:bldP spid="18" grpId="0"/>
      <p:bldP spid="19" grpId="0"/>
      <p:bldP spid="16" grpId="0" animBg="1"/>
      <p:bldP spid="17" grpId="0"/>
      <p:bldP spid="28" grpId="0" animBg="1"/>
      <p:bldP spid="29" grpId="0" animBg="1"/>
      <p:bldP spid="30" grpId="0"/>
      <p:bldP spid="31" grpId="0"/>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学习导引</a:t>
            </a:r>
          </a:p>
        </p:txBody>
      </p:sp>
      <p:graphicFrame>
        <p:nvGraphicFramePr>
          <p:cNvPr id="4" name="内容占位符 1">
            <a:extLst>
              <a:ext uri="{FF2B5EF4-FFF2-40B4-BE49-F238E27FC236}">
                <a16:creationId xmlns:a16="http://schemas.microsoft.com/office/drawing/2014/main" id="{DB1F3D57-CE80-4623-9D0B-60A57A9ED33F}"/>
              </a:ext>
            </a:extLst>
          </p:cNvPr>
          <p:cNvGraphicFramePr>
            <a:graphicFrameLocks/>
          </p:cNvGraphicFramePr>
          <p:nvPr>
            <p:extLst>
              <p:ext uri="{D42A27DB-BD31-4B8C-83A1-F6EECF244321}">
                <p14:modId xmlns:p14="http://schemas.microsoft.com/office/powerpoint/2010/main" val="1711331310"/>
              </p:ext>
            </p:extLst>
          </p:nvPr>
        </p:nvGraphicFramePr>
        <p:xfrm>
          <a:off x="0" y="20848"/>
          <a:ext cx="9144000" cy="5122651"/>
        </p:xfrm>
        <a:graphic>
          <a:graphicData uri="http://schemas.openxmlformats.org/drawingml/2006/table">
            <a:tbl>
              <a:tblPr/>
              <a:tblGrid>
                <a:gridCol w="884904">
                  <a:extLst>
                    <a:ext uri="{9D8B030D-6E8A-4147-A177-3AD203B41FA5}">
                      <a16:colId xmlns:a16="http://schemas.microsoft.com/office/drawing/2014/main" val="20000"/>
                    </a:ext>
                  </a:extLst>
                </a:gridCol>
                <a:gridCol w="8259096">
                  <a:extLst>
                    <a:ext uri="{9D8B030D-6E8A-4147-A177-3AD203B41FA5}">
                      <a16:colId xmlns:a16="http://schemas.microsoft.com/office/drawing/2014/main" val="20001"/>
                    </a:ext>
                  </a:extLst>
                </a:gridCol>
              </a:tblGrid>
              <a:tr h="1894601">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安全性攻击的主要形式、安全性攻击的分类</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物联网面临的安全问题（传统的网络安全威胁、物联网面临的新威胁）</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物联网安全概念（基本内涵、特点等）</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物联网安全需求（感知层、网络层、应用层）</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物联网安全体系（安全体系结构、安全技术体系）</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物联网安全挑战</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物联网安全现状与发展趋势</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4887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基于对安全性攻击的主要形式、安全性攻击分类，以及物联网安全概念、物联网安全挑战的理解，对物联网面临的安全问题、物联网安全现状与发展趋势的了解，形成知识应用能力和问题分析能力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基于对物联网安全需求和物联网安全体系的全面深入认识，形成工程研究能力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基于交流与微思考，形成沟通表达能力和问题分析能力</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803155">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重点：安全性攻击的主要形式及分类、物联网安全概念；物联网安全需求和安全体系；物联网安全挑战</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难点：物联网面临的安全问题、物联网安全现状与发展趋势</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107601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熟练掌握安全性攻击的主要形式及分类、物联网安全概念</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掌握物联网安全需求和安全体系</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熟悉物联网安全挑战</a:t>
                      </a:r>
                    </a:p>
                    <a:p>
                      <a:pPr marL="342900" marR="0" lvl="0" indent="-342900" algn="l" defTabSz="914400" rtl="0" eaLnBrk="1" fontAlgn="base" latinLnBrk="0" hangingPunct="1">
                        <a:lnSpc>
                          <a:spcPct val="120000"/>
                        </a:lnSpc>
                        <a:spcBef>
                          <a:spcPct val="0"/>
                        </a:spcBef>
                        <a:spcAft>
                          <a:spcPct val="0"/>
                        </a:spcAft>
                        <a:buClrTx/>
                        <a:buSzTx/>
                        <a:buFont typeface="Wingdings" panose="05000000000000000000" pitchFamily="2" charset="2"/>
                        <a:buChar char=""/>
                      </a:pPr>
                      <a:r>
                        <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了解物联网面临的安全问题、物联网安全现状与发展趋势</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98409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09499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安全性攻击</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40597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0759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是指实体透过不同的手段或渠道，对另一实体或目标实施的任何非授权行为，其后果是导致对行为对象的伤害或破坏</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则是指事物没有受到伤害或破坏，没有危险、危害或损失的自然状态</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安全性攻击</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是对事物正常（或自然）状态的一种威胁或破坏</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a:t>
            </a:r>
          </a:p>
        </p:txBody>
      </p:sp>
    </p:spTree>
    <p:extLst>
      <p:ext uri="{BB962C8B-B14F-4D97-AF65-F5344CB8AC3E}">
        <p14:creationId xmlns:p14="http://schemas.microsoft.com/office/powerpoint/2010/main" val="22110048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1778728" cy="28468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截取</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中断</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篡改</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伪造</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重放</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否认</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安全性攻击的主要形式</a:t>
            </a:r>
          </a:p>
        </p:txBody>
      </p:sp>
      <p:grpSp>
        <p:nvGrpSpPr>
          <p:cNvPr id="10" name="组合 9">
            <a:extLst>
              <a:ext uri="{FF2B5EF4-FFF2-40B4-BE49-F238E27FC236}">
                <a16:creationId xmlns:a16="http://schemas.microsoft.com/office/drawing/2014/main" id="{CEE73DCE-5CC4-4F74-95C4-E297B6A4A79B}"/>
              </a:ext>
            </a:extLst>
          </p:cNvPr>
          <p:cNvGrpSpPr/>
          <p:nvPr/>
        </p:nvGrpSpPr>
        <p:grpSpPr>
          <a:xfrm>
            <a:off x="2627784" y="627534"/>
            <a:ext cx="1893680" cy="1089242"/>
            <a:chOff x="2627784" y="849378"/>
            <a:chExt cx="1893680" cy="1089242"/>
          </a:xfrm>
        </p:grpSpPr>
        <p:sp>
          <p:nvSpPr>
            <p:cNvPr id="2" name="矩形 1">
              <a:extLst>
                <a:ext uri="{FF2B5EF4-FFF2-40B4-BE49-F238E27FC236}">
                  <a16:creationId xmlns:a16="http://schemas.microsoft.com/office/drawing/2014/main" id="{28AADAC4-F76F-419F-984B-91C9140FB8E2}"/>
                </a:ext>
              </a:extLst>
            </p:cNvPr>
            <p:cNvSpPr/>
            <p:nvPr/>
          </p:nvSpPr>
          <p:spPr>
            <a:xfrm>
              <a:off x="2627784" y="849378"/>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CA3150AB-2D14-4E91-ABBE-2756B5AE51E7}"/>
                </a:ext>
              </a:extLst>
            </p:cNvPr>
            <p:cNvSpPr/>
            <p:nvPr/>
          </p:nvSpPr>
          <p:spPr>
            <a:xfrm>
              <a:off x="2807944" y="93837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B716A8BA-D368-41DA-9E11-F7FAC941C396}"/>
                </a:ext>
              </a:extLst>
            </p:cNvPr>
            <p:cNvSpPr/>
            <p:nvPr/>
          </p:nvSpPr>
          <p:spPr>
            <a:xfrm>
              <a:off x="4067944" y="93837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BBB73B2-9869-40C6-8558-393531E88978}"/>
                </a:ext>
              </a:extLst>
            </p:cNvPr>
            <p:cNvSpPr txBox="1"/>
            <p:nvPr/>
          </p:nvSpPr>
          <p:spPr>
            <a:xfrm>
              <a:off x="2649256" y="1154396"/>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9" name="文本框 8">
              <a:extLst>
                <a:ext uri="{FF2B5EF4-FFF2-40B4-BE49-F238E27FC236}">
                  <a16:creationId xmlns:a16="http://schemas.microsoft.com/office/drawing/2014/main" id="{4D7A40AE-C896-4E44-AD00-B0C210AD6115}"/>
                </a:ext>
              </a:extLst>
            </p:cNvPr>
            <p:cNvSpPr txBox="1"/>
            <p:nvPr/>
          </p:nvSpPr>
          <p:spPr>
            <a:xfrm>
              <a:off x="2649256" y="1600066"/>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正常信息流</a:t>
              </a:r>
            </a:p>
          </p:txBody>
        </p:sp>
        <p:cxnSp>
          <p:nvCxnSpPr>
            <p:cNvPr id="8" name="直接箭头连接符 7">
              <a:extLst>
                <a:ext uri="{FF2B5EF4-FFF2-40B4-BE49-F238E27FC236}">
                  <a16:creationId xmlns:a16="http://schemas.microsoft.com/office/drawing/2014/main" id="{529ED2CA-CB48-45D2-8176-718A95C94A2D}"/>
                </a:ext>
              </a:extLst>
            </p:cNvPr>
            <p:cNvCxnSpPr>
              <a:stCxn id="3" idx="6"/>
              <a:endCxn id="7" idx="2"/>
            </p:cNvCxnSpPr>
            <p:nvPr/>
          </p:nvCxnSpPr>
          <p:spPr>
            <a:xfrm>
              <a:off x="3023968" y="1046384"/>
              <a:ext cx="104397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021B7911-99AB-4713-AAED-6F131E4B7846}"/>
              </a:ext>
            </a:extLst>
          </p:cNvPr>
          <p:cNvGrpSpPr/>
          <p:nvPr/>
        </p:nvGrpSpPr>
        <p:grpSpPr>
          <a:xfrm>
            <a:off x="2627784" y="1753541"/>
            <a:ext cx="1893680" cy="1089242"/>
            <a:chOff x="2627784" y="2057166"/>
            <a:chExt cx="1893680" cy="1089242"/>
          </a:xfrm>
        </p:grpSpPr>
        <p:sp>
          <p:nvSpPr>
            <p:cNvPr id="14" name="矩形 13">
              <a:extLst>
                <a:ext uri="{FF2B5EF4-FFF2-40B4-BE49-F238E27FC236}">
                  <a16:creationId xmlns:a16="http://schemas.microsoft.com/office/drawing/2014/main" id="{772165F6-03BE-49B7-B065-23BFA09A291D}"/>
                </a:ext>
              </a:extLst>
            </p:cNvPr>
            <p:cNvSpPr/>
            <p:nvPr/>
          </p:nvSpPr>
          <p:spPr>
            <a:xfrm>
              <a:off x="2627784" y="2057166"/>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9A1A40E6-69A9-4737-A821-8D80F1D24F35}"/>
                </a:ext>
              </a:extLst>
            </p:cNvPr>
            <p:cNvSpPr/>
            <p:nvPr/>
          </p:nvSpPr>
          <p:spPr>
            <a:xfrm>
              <a:off x="280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F88FB8D-940F-4266-BE4B-4EF7C25CD4B1}"/>
                </a:ext>
              </a:extLst>
            </p:cNvPr>
            <p:cNvSpPr/>
            <p:nvPr/>
          </p:nvSpPr>
          <p:spPr>
            <a:xfrm>
              <a:off x="406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C5DA2F1-6CA1-4566-AE92-B646994986A6}"/>
                </a:ext>
              </a:extLst>
            </p:cNvPr>
            <p:cNvSpPr txBox="1"/>
            <p:nvPr/>
          </p:nvSpPr>
          <p:spPr>
            <a:xfrm>
              <a:off x="2649256" y="2362184"/>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18" name="文本框 17">
              <a:extLst>
                <a:ext uri="{FF2B5EF4-FFF2-40B4-BE49-F238E27FC236}">
                  <a16:creationId xmlns:a16="http://schemas.microsoft.com/office/drawing/2014/main" id="{8B7A382E-CA3C-4272-BF47-D0CFFFF74B59}"/>
                </a:ext>
              </a:extLst>
            </p:cNvPr>
            <p:cNvSpPr txBox="1"/>
            <p:nvPr/>
          </p:nvSpPr>
          <p:spPr>
            <a:xfrm>
              <a:off x="2649256" y="2807854"/>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截取</a:t>
              </a:r>
            </a:p>
          </p:txBody>
        </p:sp>
        <p:cxnSp>
          <p:nvCxnSpPr>
            <p:cNvPr id="20" name="直接箭头连接符 19">
              <a:extLst>
                <a:ext uri="{FF2B5EF4-FFF2-40B4-BE49-F238E27FC236}">
                  <a16:creationId xmlns:a16="http://schemas.microsoft.com/office/drawing/2014/main" id="{42A0CB43-62BD-4324-8955-393977E4F325}"/>
                </a:ext>
              </a:extLst>
            </p:cNvPr>
            <p:cNvCxnSpPr>
              <a:stCxn id="15" idx="6"/>
              <a:endCxn id="16" idx="2"/>
            </p:cNvCxnSpPr>
            <p:nvPr/>
          </p:nvCxnSpPr>
          <p:spPr>
            <a:xfrm>
              <a:off x="3023968" y="2254172"/>
              <a:ext cx="104397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CF622B52-4C5C-4826-BAD8-7E03D3D43C61}"/>
                </a:ext>
              </a:extLst>
            </p:cNvPr>
            <p:cNvSpPr/>
            <p:nvPr/>
          </p:nvSpPr>
          <p:spPr>
            <a:xfrm>
              <a:off x="3491207" y="2509561"/>
              <a:ext cx="216024" cy="21602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12" name="连接符: 曲线 11">
              <a:extLst>
                <a:ext uri="{FF2B5EF4-FFF2-40B4-BE49-F238E27FC236}">
                  <a16:creationId xmlns:a16="http://schemas.microsoft.com/office/drawing/2014/main" id="{D0E3D608-D689-48C3-9912-019328D28FD5}"/>
                </a:ext>
              </a:extLst>
            </p:cNvPr>
            <p:cNvCxnSpPr>
              <a:cxnSpLocks/>
              <a:endCxn id="21" idx="0"/>
            </p:cNvCxnSpPr>
            <p:nvPr/>
          </p:nvCxnSpPr>
          <p:spPr>
            <a:xfrm rot="16200000" flipH="1">
              <a:off x="3357708" y="2268050"/>
              <a:ext cx="247074" cy="235948"/>
            </a:xfrm>
            <a:prstGeom prst="curvedConnector3">
              <a:avLst>
                <a:gd name="adj1" fmla="val -2454"/>
              </a:avLst>
            </a:prstGeom>
            <a:ln w="19050">
              <a:tailEnd type="triangle"/>
            </a:ln>
          </p:spPr>
          <p:style>
            <a:lnRef idx="1">
              <a:schemeClr val="accent4"/>
            </a:lnRef>
            <a:fillRef idx="0">
              <a:schemeClr val="accent4"/>
            </a:fillRef>
            <a:effectRef idx="0">
              <a:schemeClr val="accent4"/>
            </a:effectRef>
            <a:fontRef idx="minor">
              <a:schemeClr val="tx1"/>
            </a:fontRef>
          </p:style>
        </p:cxnSp>
      </p:grpSp>
      <p:grpSp>
        <p:nvGrpSpPr>
          <p:cNvPr id="92" name="组合 91">
            <a:extLst>
              <a:ext uri="{FF2B5EF4-FFF2-40B4-BE49-F238E27FC236}">
                <a16:creationId xmlns:a16="http://schemas.microsoft.com/office/drawing/2014/main" id="{B4A675C2-163B-43D3-9757-2373FBE7629B}"/>
              </a:ext>
            </a:extLst>
          </p:cNvPr>
          <p:cNvGrpSpPr/>
          <p:nvPr/>
        </p:nvGrpSpPr>
        <p:grpSpPr>
          <a:xfrm>
            <a:off x="2638520" y="2883784"/>
            <a:ext cx="1893680" cy="1089242"/>
            <a:chOff x="2638520" y="2909432"/>
            <a:chExt cx="1893680" cy="1089242"/>
          </a:xfrm>
        </p:grpSpPr>
        <p:grpSp>
          <p:nvGrpSpPr>
            <p:cNvPr id="27" name="组合 26">
              <a:extLst>
                <a:ext uri="{FF2B5EF4-FFF2-40B4-BE49-F238E27FC236}">
                  <a16:creationId xmlns:a16="http://schemas.microsoft.com/office/drawing/2014/main" id="{641EB68A-25F7-4835-9D6D-37567D0639C8}"/>
                </a:ext>
              </a:extLst>
            </p:cNvPr>
            <p:cNvGrpSpPr/>
            <p:nvPr/>
          </p:nvGrpSpPr>
          <p:grpSpPr>
            <a:xfrm>
              <a:off x="2638520" y="2909432"/>
              <a:ext cx="1893680" cy="1089242"/>
              <a:chOff x="2627784" y="2057166"/>
              <a:chExt cx="1893680" cy="1089242"/>
            </a:xfrm>
          </p:grpSpPr>
          <p:sp>
            <p:nvSpPr>
              <p:cNvPr id="28" name="矩形 27">
                <a:extLst>
                  <a:ext uri="{FF2B5EF4-FFF2-40B4-BE49-F238E27FC236}">
                    <a16:creationId xmlns:a16="http://schemas.microsoft.com/office/drawing/2014/main" id="{886D852E-74E3-4179-A0AD-209D3EF49FB5}"/>
                  </a:ext>
                </a:extLst>
              </p:cNvPr>
              <p:cNvSpPr/>
              <p:nvPr/>
            </p:nvSpPr>
            <p:spPr>
              <a:xfrm>
                <a:off x="2627784" y="2057166"/>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FD77246C-E0F5-49BC-9362-C4F5D94A1EA5}"/>
                  </a:ext>
                </a:extLst>
              </p:cNvPr>
              <p:cNvSpPr/>
              <p:nvPr/>
            </p:nvSpPr>
            <p:spPr>
              <a:xfrm>
                <a:off x="280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8A93602C-9504-4A84-B11A-D56A59C43A36}"/>
                  </a:ext>
                </a:extLst>
              </p:cNvPr>
              <p:cNvSpPr/>
              <p:nvPr/>
            </p:nvSpPr>
            <p:spPr>
              <a:xfrm>
                <a:off x="406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854DB8CD-993D-4EF2-8FE6-2A6B82959F12}"/>
                  </a:ext>
                </a:extLst>
              </p:cNvPr>
              <p:cNvSpPr txBox="1"/>
              <p:nvPr/>
            </p:nvSpPr>
            <p:spPr>
              <a:xfrm>
                <a:off x="2649256" y="2362184"/>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32" name="文本框 31">
                <a:extLst>
                  <a:ext uri="{FF2B5EF4-FFF2-40B4-BE49-F238E27FC236}">
                    <a16:creationId xmlns:a16="http://schemas.microsoft.com/office/drawing/2014/main" id="{C5112F44-DFDE-4E5C-8B87-5768EE7A081E}"/>
                  </a:ext>
                </a:extLst>
              </p:cNvPr>
              <p:cNvSpPr txBox="1"/>
              <p:nvPr/>
            </p:nvSpPr>
            <p:spPr>
              <a:xfrm>
                <a:off x="2649256" y="2807854"/>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篡改</a:t>
                </a:r>
              </a:p>
            </p:txBody>
          </p:sp>
          <p:sp>
            <p:nvSpPr>
              <p:cNvPr id="34" name="椭圆 33">
                <a:extLst>
                  <a:ext uri="{FF2B5EF4-FFF2-40B4-BE49-F238E27FC236}">
                    <a16:creationId xmlns:a16="http://schemas.microsoft.com/office/drawing/2014/main" id="{ACE56065-B8D9-4767-9B74-19E64FC840C2}"/>
                  </a:ext>
                </a:extLst>
              </p:cNvPr>
              <p:cNvSpPr/>
              <p:nvPr/>
            </p:nvSpPr>
            <p:spPr>
              <a:xfrm>
                <a:off x="3491207" y="2509561"/>
                <a:ext cx="216024" cy="21602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cxnSp>
          <p:nvCxnSpPr>
            <p:cNvPr id="48" name="连接符: 肘形 47">
              <a:extLst>
                <a:ext uri="{FF2B5EF4-FFF2-40B4-BE49-F238E27FC236}">
                  <a16:creationId xmlns:a16="http://schemas.microsoft.com/office/drawing/2014/main" id="{5A07E2DD-5814-40C1-99DA-779A022B85A5}"/>
                </a:ext>
              </a:extLst>
            </p:cNvPr>
            <p:cNvCxnSpPr>
              <a:cxnSpLocks/>
              <a:stCxn id="29" idx="6"/>
              <a:endCxn id="34" idx="1"/>
            </p:cNvCxnSpPr>
            <p:nvPr/>
          </p:nvCxnSpPr>
          <p:spPr>
            <a:xfrm>
              <a:off x="3034704" y="3106438"/>
              <a:ext cx="498875" cy="287025"/>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50" name="连接符: 肘形 49">
              <a:extLst>
                <a:ext uri="{FF2B5EF4-FFF2-40B4-BE49-F238E27FC236}">
                  <a16:creationId xmlns:a16="http://schemas.microsoft.com/office/drawing/2014/main" id="{96FA91D5-8E20-412B-BF69-A1418CA48EFB}"/>
                </a:ext>
              </a:extLst>
            </p:cNvPr>
            <p:cNvCxnSpPr>
              <a:cxnSpLocks/>
              <a:stCxn id="34" idx="0"/>
              <a:endCxn id="30" idx="2"/>
            </p:cNvCxnSpPr>
            <p:nvPr/>
          </p:nvCxnSpPr>
          <p:spPr>
            <a:xfrm rot="5400000" flipH="1" flipV="1">
              <a:off x="3716623" y="2999771"/>
              <a:ext cx="255389" cy="46872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91" name="组合 90">
            <a:extLst>
              <a:ext uri="{FF2B5EF4-FFF2-40B4-BE49-F238E27FC236}">
                <a16:creationId xmlns:a16="http://schemas.microsoft.com/office/drawing/2014/main" id="{D5C63978-BB2F-4CCA-A8B2-5CF05B06BE2F}"/>
              </a:ext>
            </a:extLst>
          </p:cNvPr>
          <p:cNvGrpSpPr/>
          <p:nvPr/>
        </p:nvGrpSpPr>
        <p:grpSpPr>
          <a:xfrm>
            <a:off x="2638520" y="4011910"/>
            <a:ext cx="1893680" cy="1089242"/>
            <a:chOff x="2638520" y="4011910"/>
            <a:chExt cx="1893680" cy="1089242"/>
          </a:xfrm>
        </p:grpSpPr>
        <p:grpSp>
          <p:nvGrpSpPr>
            <p:cNvPr id="36" name="组合 35">
              <a:extLst>
                <a:ext uri="{FF2B5EF4-FFF2-40B4-BE49-F238E27FC236}">
                  <a16:creationId xmlns:a16="http://schemas.microsoft.com/office/drawing/2014/main" id="{E33AAA6E-5740-48C1-8136-92B6392F8329}"/>
                </a:ext>
              </a:extLst>
            </p:cNvPr>
            <p:cNvGrpSpPr/>
            <p:nvPr/>
          </p:nvGrpSpPr>
          <p:grpSpPr>
            <a:xfrm>
              <a:off x="2638520" y="4011910"/>
              <a:ext cx="1893680" cy="1089242"/>
              <a:chOff x="2627784" y="2057166"/>
              <a:chExt cx="1893680" cy="1089242"/>
            </a:xfrm>
          </p:grpSpPr>
          <p:sp>
            <p:nvSpPr>
              <p:cNvPr id="37" name="矩形 36">
                <a:extLst>
                  <a:ext uri="{FF2B5EF4-FFF2-40B4-BE49-F238E27FC236}">
                    <a16:creationId xmlns:a16="http://schemas.microsoft.com/office/drawing/2014/main" id="{47E75A36-EAA5-4205-A8E1-2084942AB3AA}"/>
                  </a:ext>
                </a:extLst>
              </p:cNvPr>
              <p:cNvSpPr/>
              <p:nvPr/>
            </p:nvSpPr>
            <p:spPr>
              <a:xfrm>
                <a:off x="2627784" y="2057166"/>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BD7807D8-2456-4B37-A439-BCE301588014}"/>
                  </a:ext>
                </a:extLst>
              </p:cNvPr>
              <p:cNvSpPr/>
              <p:nvPr/>
            </p:nvSpPr>
            <p:spPr>
              <a:xfrm>
                <a:off x="280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C6889868-2E7F-4507-8C50-BDD2CA50CFF6}"/>
                  </a:ext>
                </a:extLst>
              </p:cNvPr>
              <p:cNvSpPr/>
              <p:nvPr/>
            </p:nvSpPr>
            <p:spPr>
              <a:xfrm>
                <a:off x="406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EAE5FC-1B3D-44A3-9516-B4AF7D6E33C6}"/>
                  </a:ext>
                </a:extLst>
              </p:cNvPr>
              <p:cNvSpPr txBox="1"/>
              <p:nvPr/>
            </p:nvSpPr>
            <p:spPr>
              <a:xfrm>
                <a:off x="2649256" y="2362184"/>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41" name="文本框 40">
                <a:extLst>
                  <a:ext uri="{FF2B5EF4-FFF2-40B4-BE49-F238E27FC236}">
                    <a16:creationId xmlns:a16="http://schemas.microsoft.com/office/drawing/2014/main" id="{B16FAD9B-3464-4F6A-A154-37392767DF77}"/>
                  </a:ext>
                </a:extLst>
              </p:cNvPr>
              <p:cNvSpPr txBox="1"/>
              <p:nvPr/>
            </p:nvSpPr>
            <p:spPr>
              <a:xfrm>
                <a:off x="2649256" y="2807854"/>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重放</a:t>
                </a:r>
              </a:p>
            </p:txBody>
          </p:sp>
          <p:cxnSp>
            <p:nvCxnSpPr>
              <p:cNvPr id="42" name="直接箭头连接符 41">
                <a:extLst>
                  <a:ext uri="{FF2B5EF4-FFF2-40B4-BE49-F238E27FC236}">
                    <a16:creationId xmlns:a16="http://schemas.microsoft.com/office/drawing/2014/main" id="{7EA306E0-EB17-4D1F-952D-13119F5D70CC}"/>
                  </a:ext>
                </a:extLst>
              </p:cNvPr>
              <p:cNvCxnSpPr>
                <a:cxnSpLocks/>
                <a:endCxn id="39" idx="2"/>
              </p:cNvCxnSpPr>
              <p:nvPr/>
            </p:nvCxnSpPr>
            <p:spPr>
              <a:xfrm>
                <a:off x="3491207" y="2254172"/>
                <a:ext cx="57673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54" name="直接箭头连接符 53">
              <a:extLst>
                <a:ext uri="{FF2B5EF4-FFF2-40B4-BE49-F238E27FC236}">
                  <a16:creationId xmlns:a16="http://schemas.microsoft.com/office/drawing/2014/main" id="{B0AED8BA-9BED-4FBD-BB12-A879780C8924}"/>
                </a:ext>
              </a:extLst>
            </p:cNvPr>
            <p:cNvCxnSpPr>
              <a:cxnSpLocks/>
            </p:cNvCxnSpPr>
            <p:nvPr/>
          </p:nvCxnSpPr>
          <p:spPr>
            <a:xfrm>
              <a:off x="3023968" y="4208916"/>
              <a:ext cx="49332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94" name="组合 93">
            <a:extLst>
              <a:ext uri="{FF2B5EF4-FFF2-40B4-BE49-F238E27FC236}">
                <a16:creationId xmlns:a16="http://schemas.microsoft.com/office/drawing/2014/main" id="{FA99F5C0-872F-483A-AF04-863BD14FB6FD}"/>
              </a:ext>
            </a:extLst>
          </p:cNvPr>
          <p:cNvGrpSpPr/>
          <p:nvPr/>
        </p:nvGrpSpPr>
        <p:grpSpPr>
          <a:xfrm>
            <a:off x="5141999" y="1753541"/>
            <a:ext cx="1893680" cy="1089242"/>
            <a:chOff x="5141999" y="1753541"/>
            <a:chExt cx="1893680" cy="1089242"/>
          </a:xfrm>
        </p:grpSpPr>
        <p:grpSp>
          <p:nvGrpSpPr>
            <p:cNvPr id="56" name="组合 55">
              <a:extLst>
                <a:ext uri="{FF2B5EF4-FFF2-40B4-BE49-F238E27FC236}">
                  <a16:creationId xmlns:a16="http://schemas.microsoft.com/office/drawing/2014/main" id="{2EE39A85-1DF5-41CF-AB8F-72146156D6AB}"/>
                </a:ext>
              </a:extLst>
            </p:cNvPr>
            <p:cNvGrpSpPr/>
            <p:nvPr/>
          </p:nvGrpSpPr>
          <p:grpSpPr>
            <a:xfrm>
              <a:off x="5141999" y="1753541"/>
              <a:ext cx="1893680" cy="1089242"/>
              <a:chOff x="2627784" y="2057166"/>
              <a:chExt cx="1893680" cy="1089242"/>
            </a:xfrm>
          </p:grpSpPr>
          <p:sp>
            <p:nvSpPr>
              <p:cNvPr id="57" name="矩形 56">
                <a:extLst>
                  <a:ext uri="{FF2B5EF4-FFF2-40B4-BE49-F238E27FC236}">
                    <a16:creationId xmlns:a16="http://schemas.microsoft.com/office/drawing/2014/main" id="{6E53AE42-0B5D-4E8A-A33E-4E62081614F5}"/>
                  </a:ext>
                </a:extLst>
              </p:cNvPr>
              <p:cNvSpPr/>
              <p:nvPr/>
            </p:nvSpPr>
            <p:spPr>
              <a:xfrm>
                <a:off x="2627784" y="2057166"/>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F76A7A60-6672-4B1D-A951-A3486C17876D}"/>
                  </a:ext>
                </a:extLst>
              </p:cNvPr>
              <p:cNvSpPr/>
              <p:nvPr/>
            </p:nvSpPr>
            <p:spPr>
              <a:xfrm>
                <a:off x="280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F52C11C9-589D-4E25-A122-91FCE663AEB0}"/>
                  </a:ext>
                </a:extLst>
              </p:cNvPr>
              <p:cNvSpPr/>
              <p:nvPr/>
            </p:nvSpPr>
            <p:spPr>
              <a:xfrm>
                <a:off x="406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2FCEB94F-47B5-409C-B344-5FAE39930832}"/>
                  </a:ext>
                </a:extLst>
              </p:cNvPr>
              <p:cNvSpPr txBox="1"/>
              <p:nvPr/>
            </p:nvSpPr>
            <p:spPr>
              <a:xfrm>
                <a:off x="2649256" y="2362184"/>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61" name="文本框 60">
                <a:extLst>
                  <a:ext uri="{FF2B5EF4-FFF2-40B4-BE49-F238E27FC236}">
                    <a16:creationId xmlns:a16="http://schemas.microsoft.com/office/drawing/2014/main" id="{76775091-CD9B-46DA-8CEB-8130C5B09474}"/>
                  </a:ext>
                </a:extLst>
              </p:cNvPr>
              <p:cNvSpPr txBox="1"/>
              <p:nvPr/>
            </p:nvSpPr>
            <p:spPr>
              <a:xfrm>
                <a:off x="2649256" y="2807854"/>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中断</a:t>
                </a:r>
              </a:p>
            </p:txBody>
          </p:sp>
          <p:cxnSp>
            <p:nvCxnSpPr>
              <p:cNvPr id="62" name="直接箭头连接符 61">
                <a:extLst>
                  <a:ext uri="{FF2B5EF4-FFF2-40B4-BE49-F238E27FC236}">
                    <a16:creationId xmlns:a16="http://schemas.microsoft.com/office/drawing/2014/main" id="{7DBDA6C7-AA39-4608-8604-553535252E63}"/>
                  </a:ext>
                </a:extLst>
              </p:cNvPr>
              <p:cNvCxnSpPr>
                <a:cxnSpLocks/>
                <a:stCxn id="58" idx="6"/>
              </p:cNvCxnSpPr>
              <p:nvPr/>
            </p:nvCxnSpPr>
            <p:spPr>
              <a:xfrm>
                <a:off x="3023968" y="2254172"/>
                <a:ext cx="561392"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69" name="直接连接符 68">
              <a:extLst>
                <a:ext uri="{FF2B5EF4-FFF2-40B4-BE49-F238E27FC236}">
                  <a16:creationId xmlns:a16="http://schemas.microsoft.com/office/drawing/2014/main" id="{B9C768EF-466A-4954-8E6D-1CB081ED6BF4}"/>
                </a:ext>
              </a:extLst>
            </p:cNvPr>
            <p:cNvCxnSpPr>
              <a:cxnSpLocks/>
            </p:cNvCxnSpPr>
            <p:nvPr/>
          </p:nvCxnSpPr>
          <p:spPr>
            <a:xfrm>
              <a:off x="6084168" y="1779662"/>
              <a:ext cx="0" cy="305018"/>
            </a:xfrm>
            <a:prstGeom prst="line">
              <a:avLst/>
            </a:prstGeom>
            <a:ln w="19050"/>
          </p:spPr>
          <p:style>
            <a:lnRef idx="1">
              <a:schemeClr val="accent2"/>
            </a:lnRef>
            <a:fillRef idx="0">
              <a:schemeClr val="accent2"/>
            </a:fillRef>
            <a:effectRef idx="0">
              <a:schemeClr val="accent2"/>
            </a:effectRef>
            <a:fontRef idx="minor">
              <a:schemeClr val="tx1"/>
            </a:fontRef>
          </p:style>
        </p:cxnSp>
      </p:grpSp>
      <p:grpSp>
        <p:nvGrpSpPr>
          <p:cNvPr id="95" name="组合 94">
            <a:extLst>
              <a:ext uri="{FF2B5EF4-FFF2-40B4-BE49-F238E27FC236}">
                <a16:creationId xmlns:a16="http://schemas.microsoft.com/office/drawing/2014/main" id="{E9914F4C-ECD3-4AB7-B109-BBD50E60892E}"/>
              </a:ext>
            </a:extLst>
          </p:cNvPr>
          <p:cNvGrpSpPr/>
          <p:nvPr/>
        </p:nvGrpSpPr>
        <p:grpSpPr>
          <a:xfrm>
            <a:off x="5141999" y="2882725"/>
            <a:ext cx="1893680" cy="1089242"/>
            <a:chOff x="5141999" y="2925218"/>
            <a:chExt cx="1893680" cy="1089242"/>
          </a:xfrm>
        </p:grpSpPr>
        <p:grpSp>
          <p:nvGrpSpPr>
            <p:cNvPr id="70" name="组合 69">
              <a:extLst>
                <a:ext uri="{FF2B5EF4-FFF2-40B4-BE49-F238E27FC236}">
                  <a16:creationId xmlns:a16="http://schemas.microsoft.com/office/drawing/2014/main" id="{9D9F8406-E1EA-465C-A7A4-05B35AD5DF68}"/>
                </a:ext>
              </a:extLst>
            </p:cNvPr>
            <p:cNvGrpSpPr/>
            <p:nvPr/>
          </p:nvGrpSpPr>
          <p:grpSpPr>
            <a:xfrm>
              <a:off x="5141999" y="2925218"/>
              <a:ext cx="1893680" cy="1089242"/>
              <a:chOff x="2627784" y="2057166"/>
              <a:chExt cx="1893680" cy="1089242"/>
            </a:xfrm>
          </p:grpSpPr>
          <p:sp>
            <p:nvSpPr>
              <p:cNvPr id="71" name="矩形 70">
                <a:extLst>
                  <a:ext uri="{FF2B5EF4-FFF2-40B4-BE49-F238E27FC236}">
                    <a16:creationId xmlns:a16="http://schemas.microsoft.com/office/drawing/2014/main" id="{9136D010-E619-492E-A5C0-C3B344F5E433}"/>
                  </a:ext>
                </a:extLst>
              </p:cNvPr>
              <p:cNvSpPr/>
              <p:nvPr/>
            </p:nvSpPr>
            <p:spPr>
              <a:xfrm>
                <a:off x="2627784" y="2057166"/>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72" name="椭圆 71">
                <a:extLst>
                  <a:ext uri="{FF2B5EF4-FFF2-40B4-BE49-F238E27FC236}">
                    <a16:creationId xmlns:a16="http://schemas.microsoft.com/office/drawing/2014/main" id="{039DA922-3184-4913-9CC0-BBCBF54D3CB3}"/>
                  </a:ext>
                </a:extLst>
              </p:cNvPr>
              <p:cNvSpPr/>
              <p:nvPr/>
            </p:nvSpPr>
            <p:spPr>
              <a:xfrm>
                <a:off x="280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F0ABBF6D-6030-49B9-AA87-23D34E1BDD26}"/>
                  </a:ext>
                </a:extLst>
              </p:cNvPr>
              <p:cNvSpPr/>
              <p:nvPr/>
            </p:nvSpPr>
            <p:spPr>
              <a:xfrm>
                <a:off x="4067944" y="2146160"/>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36545FCB-FF0D-4EE3-865C-5E9D8B2A27A5}"/>
                  </a:ext>
                </a:extLst>
              </p:cNvPr>
              <p:cNvSpPr txBox="1"/>
              <p:nvPr/>
            </p:nvSpPr>
            <p:spPr>
              <a:xfrm>
                <a:off x="2649256" y="2362184"/>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75" name="文本框 74">
                <a:extLst>
                  <a:ext uri="{FF2B5EF4-FFF2-40B4-BE49-F238E27FC236}">
                    <a16:creationId xmlns:a16="http://schemas.microsoft.com/office/drawing/2014/main" id="{FBDCD205-127F-477A-B313-4A8CC4B7FC7B}"/>
                  </a:ext>
                </a:extLst>
              </p:cNvPr>
              <p:cNvSpPr txBox="1"/>
              <p:nvPr/>
            </p:nvSpPr>
            <p:spPr>
              <a:xfrm>
                <a:off x="2649256" y="2807854"/>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伪造</a:t>
                </a:r>
              </a:p>
            </p:txBody>
          </p:sp>
          <p:sp>
            <p:nvSpPr>
              <p:cNvPr id="76" name="椭圆 75">
                <a:extLst>
                  <a:ext uri="{FF2B5EF4-FFF2-40B4-BE49-F238E27FC236}">
                    <a16:creationId xmlns:a16="http://schemas.microsoft.com/office/drawing/2014/main" id="{599F0DFF-538F-46B2-AB6E-E5A03CF71AEA}"/>
                  </a:ext>
                </a:extLst>
              </p:cNvPr>
              <p:cNvSpPr/>
              <p:nvPr/>
            </p:nvSpPr>
            <p:spPr>
              <a:xfrm>
                <a:off x="3491207" y="2509561"/>
                <a:ext cx="216024" cy="21602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cxnSp>
          <p:nvCxnSpPr>
            <p:cNvPr id="77" name="连接符: 肘形 76">
              <a:extLst>
                <a:ext uri="{FF2B5EF4-FFF2-40B4-BE49-F238E27FC236}">
                  <a16:creationId xmlns:a16="http://schemas.microsoft.com/office/drawing/2014/main" id="{8182E63F-1CAB-4F2A-B567-C0939F408957}"/>
                </a:ext>
              </a:extLst>
            </p:cNvPr>
            <p:cNvCxnSpPr>
              <a:cxnSpLocks/>
            </p:cNvCxnSpPr>
            <p:nvPr/>
          </p:nvCxnSpPr>
          <p:spPr>
            <a:xfrm rot="5400000" flipH="1" flipV="1">
              <a:off x="6232231" y="3015556"/>
              <a:ext cx="255389" cy="468725"/>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grpSp>
      <p:grpSp>
        <p:nvGrpSpPr>
          <p:cNvPr id="93" name="组合 92">
            <a:extLst>
              <a:ext uri="{FF2B5EF4-FFF2-40B4-BE49-F238E27FC236}">
                <a16:creationId xmlns:a16="http://schemas.microsoft.com/office/drawing/2014/main" id="{7B31E23C-F3D9-448C-BA8D-94590C88AFBC}"/>
              </a:ext>
            </a:extLst>
          </p:cNvPr>
          <p:cNvGrpSpPr/>
          <p:nvPr/>
        </p:nvGrpSpPr>
        <p:grpSpPr>
          <a:xfrm>
            <a:off x="5156295" y="4011910"/>
            <a:ext cx="1893680" cy="1089242"/>
            <a:chOff x="5156295" y="4054258"/>
            <a:chExt cx="1893680" cy="1089242"/>
          </a:xfrm>
        </p:grpSpPr>
        <p:grpSp>
          <p:nvGrpSpPr>
            <p:cNvPr id="78" name="组合 77">
              <a:extLst>
                <a:ext uri="{FF2B5EF4-FFF2-40B4-BE49-F238E27FC236}">
                  <a16:creationId xmlns:a16="http://schemas.microsoft.com/office/drawing/2014/main" id="{423D4554-C4BD-4B66-B6B3-C7F12300A143}"/>
                </a:ext>
              </a:extLst>
            </p:cNvPr>
            <p:cNvGrpSpPr/>
            <p:nvPr/>
          </p:nvGrpSpPr>
          <p:grpSpPr>
            <a:xfrm>
              <a:off x="5156295" y="4054258"/>
              <a:ext cx="1893680" cy="1089242"/>
              <a:chOff x="2627784" y="849378"/>
              <a:chExt cx="1893680" cy="1089242"/>
            </a:xfrm>
          </p:grpSpPr>
          <p:sp>
            <p:nvSpPr>
              <p:cNvPr id="79" name="矩形 78">
                <a:extLst>
                  <a:ext uri="{FF2B5EF4-FFF2-40B4-BE49-F238E27FC236}">
                    <a16:creationId xmlns:a16="http://schemas.microsoft.com/office/drawing/2014/main" id="{69987397-18AD-4977-92E0-5CE2FCD556DC}"/>
                  </a:ext>
                </a:extLst>
              </p:cNvPr>
              <p:cNvSpPr/>
              <p:nvPr/>
            </p:nvSpPr>
            <p:spPr>
              <a:xfrm>
                <a:off x="2627784" y="849378"/>
                <a:ext cx="1800200" cy="107430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6232971D-5497-48AE-85B3-C5D5637E04F5}"/>
                  </a:ext>
                </a:extLst>
              </p:cNvPr>
              <p:cNvSpPr/>
              <p:nvPr/>
            </p:nvSpPr>
            <p:spPr>
              <a:xfrm>
                <a:off x="2807944" y="93837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AAA15DF2-80F7-40C8-9900-CCB191711A7A}"/>
                  </a:ext>
                </a:extLst>
              </p:cNvPr>
              <p:cNvSpPr/>
              <p:nvPr/>
            </p:nvSpPr>
            <p:spPr>
              <a:xfrm>
                <a:off x="4067944" y="938372"/>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B35024AF-4131-468E-8190-BC6DB58B5AFE}"/>
                  </a:ext>
                </a:extLst>
              </p:cNvPr>
              <p:cNvSpPr txBox="1"/>
              <p:nvPr/>
            </p:nvSpPr>
            <p:spPr>
              <a:xfrm>
                <a:off x="2649256" y="1154396"/>
                <a:ext cx="1872208" cy="338554"/>
              </a:xfrm>
              <a:prstGeom prst="rect">
                <a:avLst/>
              </a:prstGeom>
              <a:noFill/>
            </p:spPr>
            <p:txBody>
              <a:bodyPr wrap="square" rtlCol="0">
                <a:spAutoFit/>
              </a:bodyPr>
              <a:lstStyle/>
              <a:p>
                <a:r>
                  <a:rPr lang="zh-CN" altLang="en-US" sz="1600" dirty="0">
                    <a:solidFill>
                      <a:schemeClr val="accent5"/>
                    </a:solidFill>
                    <a:latin typeface="华文楷体" panose="02010600040101010101" pitchFamily="2" charset="-122"/>
                    <a:ea typeface="华文楷体" panose="02010600040101010101" pitchFamily="2" charset="-122"/>
                  </a:rPr>
                  <a:t>信源                信宿</a:t>
                </a:r>
              </a:p>
            </p:txBody>
          </p:sp>
          <p:sp>
            <p:nvSpPr>
              <p:cNvPr id="83" name="文本框 82">
                <a:extLst>
                  <a:ext uri="{FF2B5EF4-FFF2-40B4-BE49-F238E27FC236}">
                    <a16:creationId xmlns:a16="http://schemas.microsoft.com/office/drawing/2014/main" id="{05BED1AD-0013-45EF-A4EC-405FF6EAFAB9}"/>
                  </a:ext>
                </a:extLst>
              </p:cNvPr>
              <p:cNvSpPr txBox="1"/>
              <p:nvPr/>
            </p:nvSpPr>
            <p:spPr>
              <a:xfrm>
                <a:off x="2649256" y="1600066"/>
                <a:ext cx="1778728" cy="338554"/>
              </a:xfrm>
              <a:prstGeom prst="rect">
                <a:avLst/>
              </a:prstGeom>
              <a:noFill/>
            </p:spPr>
            <p:txBody>
              <a:bodyPr wrap="square" rtlCol="0">
                <a:spAutoFit/>
              </a:bodyPr>
              <a:lstStyle/>
              <a:p>
                <a:pPr algn="ctr"/>
                <a:r>
                  <a:rPr lang="zh-CN" altLang="en-US" sz="1600" b="1" dirty="0">
                    <a:solidFill>
                      <a:schemeClr val="accent2"/>
                    </a:solidFill>
                    <a:latin typeface="微软雅黑" panose="020B0503020204020204" pitchFamily="34" charset="-122"/>
                    <a:ea typeface="微软雅黑" panose="020B0503020204020204" pitchFamily="34" charset="-122"/>
                  </a:rPr>
                  <a:t>否认</a:t>
                </a:r>
              </a:p>
            </p:txBody>
          </p:sp>
          <p:cxnSp>
            <p:nvCxnSpPr>
              <p:cNvPr id="84" name="直接箭头连接符 83">
                <a:extLst>
                  <a:ext uri="{FF2B5EF4-FFF2-40B4-BE49-F238E27FC236}">
                    <a16:creationId xmlns:a16="http://schemas.microsoft.com/office/drawing/2014/main" id="{5943E9E2-4D1D-4566-89E4-2B51DC5BB454}"/>
                  </a:ext>
                </a:extLst>
              </p:cNvPr>
              <p:cNvCxnSpPr>
                <a:stCxn id="80" idx="6"/>
                <a:endCxn id="81" idx="2"/>
              </p:cNvCxnSpPr>
              <p:nvPr/>
            </p:nvCxnSpPr>
            <p:spPr>
              <a:xfrm>
                <a:off x="3023968" y="1046384"/>
                <a:ext cx="104397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90" name="组合 89">
              <a:extLst>
                <a:ext uri="{FF2B5EF4-FFF2-40B4-BE49-F238E27FC236}">
                  <a16:creationId xmlns:a16="http://schemas.microsoft.com/office/drawing/2014/main" id="{56087603-0B3F-4E5F-B2BB-0B819DA195B8}"/>
                </a:ext>
              </a:extLst>
            </p:cNvPr>
            <p:cNvGrpSpPr/>
            <p:nvPr/>
          </p:nvGrpSpPr>
          <p:grpSpPr>
            <a:xfrm>
              <a:off x="5927580" y="4095102"/>
              <a:ext cx="270764" cy="270764"/>
              <a:chOff x="7676978" y="2346101"/>
              <a:chExt cx="270764" cy="270764"/>
            </a:xfrm>
          </p:grpSpPr>
          <p:cxnSp>
            <p:nvCxnSpPr>
              <p:cNvPr id="86" name="直接连接符 85">
                <a:extLst>
                  <a:ext uri="{FF2B5EF4-FFF2-40B4-BE49-F238E27FC236}">
                    <a16:creationId xmlns:a16="http://schemas.microsoft.com/office/drawing/2014/main" id="{07B437AA-79D3-4BA2-8ED4-3A51E7F87524}"/>
                  </a:ext>
                </a:extLst>
              </p:cNvPr>
              <p:cNvCxnSpPr>
                <a:cxnSpLocks/>
              </p:cNvCxnSpPr>
              <p:nvPr/>
            </p:nvCxnSpPr>
            <p:spPr>
              <a:xfrm rot="2700000">
                <a:off x="7812360" y="2345089"/>
                <a:ext cx="0" cy="270764"/>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89" name="直接连接符 88">
                <a:extLst>
                  <a:ext uri="{FF2B5EF4-FFF2-40B4-BE49-F238E27FC236}">
                    <a16:creationId xmlns:a16="http://schemas.microsoft.com/office/drawing/2014/main" id="{BD87A573-C2C3-48EC-8481-93EF00AE8784}"/>
                  </a:ext>
                </a:extLst>
              </p:cNvPr>
              <p:cNvCxnSpPr>
                <a:cxnSpLocks/>
              </p:cNvCxnSpPr>
              <p:nvPr/>
            </p:nvCxnSpPr>
            <p:spPr>
              <a:xfrm rot="8100000">
                <a:off x="7810109" y="2346101"/>
                <a:ext cx="0" cy="270764"/>
              </a:xfrm>
              <a:prstGeom prst="line">
                <a:avLst/>
              </a:prstGeom>
              <a:ln w="19050"/>
            </p:spPr>
            <p:style>
              <a:lnRef idx="1">
                <a:schemeClr val="accent2"/>
              </a:lnRef>
              <a:fillRef idx="0">
                <a:schemeClr val="accent2"/>
              </a:fillRef>
              <a:effectRef idx="0">
                <a:schemeClr val="accent2"/>
              </a:effectRef>
              <a:fontRef idx="minor">
                <a:schemeClr val="tx1"/>
              </a:fontRef>
            </p:style>
          </p:cxnSp>
        </p:grpSp>
      </p:grpSp>
    </p:spTree>
    <p:extLst>
      <p:ext uri="{BB962C8B-B14F-4D97-AF65-F5344CB8AC3E}">
        <p14:creationId xmlns:p14="http://schemas.microsoft.com/office/powerpoint/2010/main" val="314642604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4092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截取，</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即未获授权地通过对传输进行窃听和监测，从而获取对某个资源的访问，这是对机密性的攻击，</a:t>
            </a:r>
            <a:r>
              <a:rPr lang="zh-CN" altLang="en-US" sz="20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分为两种情况</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析出消息内容</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通信量分析</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安全性攻击的主要形式</a:t>
            </a:r>
          </a:p>
        </p:txBody>
      </p:sp>
    </p:spTree>
    <p:extLst>
      <p:ext uri="{BB962C8B-B14F-4D97-AF65-F5344CB8AC3E}">
        <p14:creationId xmlns:p14="http://schemas.microsoft.com/office/powerpoint/2010/main" val="12320645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612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中断，</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即拒绝服务。是指防止或禁止通信设施的正常使用或管理，从而达到减慢或中断系统服务的目的，这是对可用性的攻击。这种攻击通常有两种形式：</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一种是攻击者删除通过某一连接的所有协议单元，从而抑制所有的消息指向某个特殊的目的地</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另一种是使整个网络性能降低或崩溃，可能采取的手段是使网络不能工作或者滥发消息使之过载。</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安全性攻击的主要形式</a:t>
            </a:r>
          </a:p>
        </p:txBody>
      </p:sp>
    </p:spTree>
    <p:extLst>
      <p:ext uri="{BB962C8B-B14F-4D97-AF65-F5344CB8AC3E}">
        <p14:creationId xmlns:p14="http://schemas.microsoft.com/office/powerpoint/2010/main" val="41880012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40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篡改，</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即更改报文流，它是对通过连接的协议数据单元的完整性攻击，意味着一个合法消息的某些部分被改变，或消息被延迟、删除或改变顺序，以产生一个未经授权的效果。</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安全性攻击的主要形式</a:t>
            </a:r>
          </a:p>
        </p:txBody>
      </p:sp>
      <p:sp>
        <p:nvSpPr>
          <p:cNvPr id="7" name="TextBox 18">
            <a:extLst>
              <a:ext uri="{FF2B5EF4-FFF2-40B4-BE49-F238E27FC236}">
                <a16:creationId xmlns:a16="http://schemas.microsoft.com/office/drawing/2014/main" id="{1C3DBB3F-49F9-4F43-81AC-0976BDB12B3E}"/>
              </a:ext>
            </a:extLst>
          </p:cNvPr>
          <p:cNvSpPr txBox="1"/>
          <p:nvPr/>
        </p:nvSpPr>
        <p:spPr>
          <a:xfrm>
            <a:off x="611560" y="2139773"/>
            <a:ext cx="8208912" cy="86395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伪造，</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是一个非法实体假装成一个合法的实体。伪造通常与其他攻击形式结合在一起才具有攻击性效果。</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8" name="TextBox 18">
            <a:extLst>
              <a:ext uri="{FF2B5EF4-FFF2-40B4-BE49-F238E27FC236}">
                <a16:creationId xmlns:a16="http://schemas.microsoft.com/office/drawing/2014/main" id="{242FA60C-C16D-4749-A8A3-42646DBAAC4C}"/>
              </a:ext>
            </a:extLst>
          </p:cNvPr>
          <p:cNvSpPr txBox="1"/>
          <p:nvPr/>
        </p:nvSpPr>
        <p:spPr>
          <a:xfrm>
            <a:off x="618544" y="3076398"/>
            <a:ext cx="8208912" cy="86395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重放，</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涉及一个数据单元被获取以后的后继重传，以产生一个未授权的效果。</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9" name="TextBox 18">
            <a:extLst>
              <a:ext uri="{FF2B5EF4-FFF2-40B4-BE49-F238E27FC236}">
                <a16:creationId xmlns:a16="http://schemas.microsoft.com/office/drawing/2014/main" id="{8146C2CA-F1D0-4921-A30D-7CE44DDF2F82}"/>
              </a:ext>
            </a:extLst>
          </p:cNvPr>
          <p:cNvSpPr txBox="1"/>
          <p:nvPr/>
        </p:nvSpPr>
        <p:spPr>
          <a:xfrm>
            <a:off x="618544" y="4013023"/>
            <a:ext cx="8208912" cy="86395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否认，</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即消息的发送方可能事后否认他曾发送过该消息，或消息接收方可能事后否认他曾收到过该消息。</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9141267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安全性攻击的分类</a:t>
            </a:r>
          </a:p>
        </p:txBody>
      </p:sp>
      <p:graphicFrame>
        <p:nvGraphicFramePr>
          <p:cNvPr id="5" name="表格 4">
            <a:extLst>
              <a:ext uri="{FF2B5EF4-FFF2-40B4-BE49-F238E27FC236}">
                <a16:creationId xmlns:a16="http://schemas.microsoft.com/office/drawing/2014/main" id="{09191DD5-699E-4CEB-AF2C-5500BDF163A2}"/>
              </a:ext>
            </a:extLst>
          </p:cNvPr>
          <p:cNvGraphicFramePr>
            <a:graphicFrameLocks noGrp="1"/>
          </p:cNvGraphicFramePr>
          <p:nvPr>
            <p:custDataLst>
              <p:tags r:id="rId1"/>
            </p:custDataLst>
            <p:extLst>
              <p:ext uri="{D42A27DB-BD31-4B8C-83A1-F6EECF244321}">
                <p14:modId xmlns:p14="http://schemas.microsoft.com/office/powerpoint/2010/main" val="3106894084"/>
              </p:ext>
            </p:extLst>
          </p:nvPr>
        </p:nvGraphicFramePr>
        <p:xfrm>
          <a:off x="611560" y="987574"/>
          <a:ext cx="8208913" cy="3365676"/>
        </p:xfrm>
        <a:graphic>
          <a:graphicData uri="http://schemas.openxmlformats.org/drawingml/2006/table">
            <a:tbl>
              <a:tblPr firstRow="1" firstCol="1" lastRow="1" lastCol="1" bandRow="1" bandCol="1">
                <a:tableStyleId>{0505E3EF-67EA-436B-97B2-0124C06EBD24}</a:tableStyleId>
              </a:tblPr>
              <a:tblGrid>
                <a:gridCol w="2270019">
                  <a:extLst>
                    <a:ext uri="{9D8B030D-6E8A-4147-A177-3AD203B41FA5}">
                      <a16:colId xmlns:a16="http://schemas.microsoft.com/office/drawing/2014/main" val="20000"/>
                    </a:ext>
                  </a:extLst>
                </a:gridCol>
                <a:gridCol w="2122469">
                  <a:extLst>
                    <a:ext uri="{9D8B030D-6E8A-4147-A177-3AD203B41FA5}">
                      <a16:colId xmlns:a16="http://schemas.microsoft.com/office/drawing/2014/main" val="20001"/>
                    </a:ext>
                  </a:extLst>
                </a:gridCol>
                <a:gridCol w="1545577">
                  <a:extLst>
                    <a:ext uri="{9D8B030D-6E8A-4147-A177-3AD203B41FA5}">
                      <a16:colId xmlns:a16="http://schemas.microsoft.com/office/drawing/2014/main" val="20002"/>
                    </a:ext>
                  </a:extLst>
                </a:gridCol>
                <a:gridCol w="2270848">
                  <a:extLst>
                    <a:ext uri="{9D8B030D-6E8A-4147-A177-3AD203B41FA5}">
                      <a16:colId xmlns:a16="http://schemas.microsoft.com/office/drawing/2014/main" val="20003"/>
                    </a:ext>
                  </a:extLst>
                </a:gridCol>
              </a:tblGrid>
              <a:tr h="692897">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algn="ctr">
                        <a:spcAft>
                          <a:spcPts val="0"/>
                        </a:spcAft>
                      </a:pPr>
                      <a:r>
                        <a:rPr lang="zh-CN" altLang="en-US" sz="2000" b="1" kern="1200" dirty="0">
                          <a:solidFill>
                            <a:srgbClr val="008F92"/>
                          </a:solidFill>
                          <a:latin typeface="微软雅黑" panose="020B0503020204020204" pitchFamily="34" charset="-122"/>
                          <a:ea typeface="微软雅黑" panose="020B0503020204020204" pitchFamily="34" charset="-122"/>
                        </a:rPr>
                        <a:t>攻击类别</a:t>
                      </a:r>
                      <a:endParaRPr lang="zh-CN" altLang="en-US" sz="2000" b="1" kern="12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74" marR="68574" marT="0" marB="0" anchor="ctr"/>
                </a:tc>
                <a:tc gridSpan="2">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algn="ctr">
                        <a:spcAft>
                          <a:spcPts val="0"/>
                        </a:spcAft>
                      </a:pPr>
                      <a:r>
                        <a:rPr lang="zh-CN" altLang="en-US" sz="2000" b="1" kern="1200" dirty="0">
                          <a:solidFill>
                            <a:srgbClr val="008F92"/>
                          </a:solidFill>
                          <a:latin typeface="微软雅黑" panose="020B0503020204020204" pitchFamily="34" charset="-122"/>
                          <a:ea typeface="微软雅黑" panose="020B0503020204020204" pitchFamily="34" charset="-122"/>
                        </a:rPr>
                        <a:t>攻击形式</a:t>
                      </a:r>
                      <a:endParaRPr lang="zh-CN" altLang="en-US" sz="2000" b="1" kern="12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algn="ctr">
                        <a:spcAft>
                          <a:spcPts val="0"/>
                        </a:spcAft>
                      </a:pPr>
                      <a:r>
                        <a:rPr lang="zh-CN" altLang="en-US" sz="2000" b="1" kern="1200" dirty="0">
                          <a:solidFill>
                            <a:srgbClr val="008F92"/>
                          </a:solidFill>
                          <a:latin typeface="微软雅黑" panose="020B0503020204020204" pitchFamily="34" charset="-122"/>
                          <a:ea typeface="微软雅黑" panose="020B0503020204020204" pitchFamily="34" charset="-122"/>
                        </a:rPr>
                        <a:t>受威胁的数据性质</a:t>
                      </a:r>
                      <a:endParaRPr lang="zh-CN" altLang="en-US" sz="2000" b="1" kern="12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0"/>
                  </a:ext>
                </a:extLst>
              </a:tr>
              <a:tr h="505485">
                <a:tc rowSpan="2">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被动攻击</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rowSpan="2">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截取</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析出消息内容</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rowSpan="2">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a:solidFill>
                            <a:srgbClr val="008F92"/>
                          </a:solidFill>
                          <a:latin typeface="华文楷体" panose="02010600040101010101" pitchFamily="2" charset="-122"/>
                          <a:ea typeface="华文楷体" panose="02010600040101010101" pitchFamily="2" charset="-122"/>
                        </a:rPr>
                        <a:t>机密性</a:t>
                      </a:r>
                      <a:endParaRPr lang="zh-CN" altLang="en-US" sz="1800" b="0" kern="120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1"/>
                  </a:ext>
                </a:extLst>
              </a:tr>
              <a:tr h="504190">
                <a:tc vMerge="1">
                  <a:txBody>
                    <a:bodyPr/>
                    <a:lstStyle/>
                    <a:p>
                      <a:endParaRPr lang="zh-CN"/>
                    </a:p>
                  </a:txBody>
                  <a:tcPr/>
                </a:tc>
                <a:tc vMerge="1">
                  <a:txBody>
                    <a:bodyPr/>
                    <a:lstStyle/>
                    <a:p>
                      <a:endParaRPr lang="zh-CN"/>
                    </a:p>
                  </a:txBody>
                  <a:tcPr/>
                </a:tc>
                <a:tc>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通信量分析</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vMerge="1">
                  <a:txBody>
                    <a:bodyPr/>
                    <a:lstStyle/>
                    <a:p>
                      <a:endParaRPr lang="zh-CN"/>
                    </a:p>
                  </a:txBody>
                  <a:tcPr/>
                </a:tc>
                <a:extLst>
                  <a:ext uri="{0D108BD9-81ED-4DB2-BD59-A6C34878D82A}">
                    <a16:rowId xmlns:a16="http://schemas.microsoft.com/office/drawing/2014/main" val="10002"/>
                  </a:ext>
                </a:extLst>
              </a:tr>
              <a:tr h="332591">
                <a:tc rowSpan="5">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a:solidFill>
                            <a:srgbClr val="008F92"/>
                          </a:solidFill>
                          <a:latin typeface="华文楷体" panose="02010600040101010101" pitchFamily="2" charset="-122"/>
                          <a:ea typeface="华文楷体" panose="02010600040101010101" pitchFamily="2" charset="-122"/>
                        </a:rPr>
                        <a:t>主动攻击</a:t>
                      </a:r>
                      <a:endParaRPr lang="zh-CN" altLang="en-US" sz="1800" b="0" kern="120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gridSpan="2">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中断</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a:solidFill>
                            <a:srgbClr val="008F92"/>
                          </a:solidFill>
                          <a:latin typeface="华文楷体" panose="02010600040101010101" pitchFamily="2" charset="-122"/>
                          <a:ea typeface="华文楷体" panose="02010600040101010101" pitchFamily="2" charset="-122"/>
                        </a:rPr>
                        <a:t>可用性</a:t>
                      </a:r>
                      <a:endParaRPr lang="zh-CN" altLang="en-US" sz="1800" b="0" kern="120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3"/>
                  </a:ext>
                </a:extLst>
              </a:tr>
              <a:tr h="332591">
                <a:tc vMerge="1">
                  <a:txBody>
                    <a:bodyPr/>
                    <a:lstStyle/>
                    <a:p>
                      <a:endParaRPr lang="zh-CN"/>
                    </a:p>
                  </a:txBody>
                  <a:tcPr/>
                </a:tc>
                <a:tc gridSpan="2">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篡改</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完整性</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4"/>
                  </a:ext>
                </a:extLst>
              </a:tr>
              <a:tr h="332591">
                <a:tc vMerge="1">
                  <a:txBody>
                    <a:bodyPr/>
                    <a:lstStyle/>
                    <a:p>
                      <a:endParaRPr lang="zh-CN"/>
                    </a:p>
                  </a:txBody>
                  <a:tcPr/>
                </a:tc>
                <a:tc gridSpan="2">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伪造</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真实性</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5"/>
                  </a:ext>
                </a:extLst>
              </a:tr>
              <a:tr h="332740">
                <a:tc vMerge="1">
                  <a:txBody>
                    <a:bodyPr/>
                    <a:lstStyle/>
                    <a:p>
                      <a:endParaRPr lang="zh-CN"/>
                    </a:p>
                  </a:txBody>
                  <a:tcPr/>
                </a:tc>
                <a:tc gridSpan="2">
                  <a:txBody>
                    <a:bodyPr/>
                    <a:lstStyle>
                      <a:lvl1pPr marL="0" algn="l" defTabSz="914282" rtl="0" eaLnBrk="1" latinLnBrk="0" hangingPunct="1">
                        <a:defRPr sz="1800" kern="1200">
                          <a:solidFill>
                            <a:schemeClr val="dk1"/>
                          </a:solidFill>
                          <a:latin typeface="Arial"/>
                        </a:defRPr>
                      </a:lvl1pPr>
                      <a:lvl2pPr marL="457140" algn="l" defTabSz="914282" rtl="0" eaLnBrk="1" latinLnBrk="0" hangingPunct="1">
                        <a:defRPr sz="1800" kern="1200">
                          <a:solidFill>
                            <a:schemeClr val="dk1"/>
                          </a:solidFill>
                          <a:latin typeface="Arial"/>
                        </a:defRPr>
                      </a:lvl2pPr>
                      <a:lvl3pPr marL="914282" algn="l" defTabSz="914282" rtl="0" eaLnBrk="1" latinLnBrk="0" hangingPunct="1">
                        <a:defRPr sz="1800" kern="1200">
                          <a:solidFill>
                            <a:schemeClr val="dk1"/>
                          </a:solidFill>
                          <a:latin typeface="Arial"/>
                        </a:defRPr>
                      </a:lvl3pPr>
                      <a:lvl4pPr marL="1371422" algn="l" defTabSz="914282" rtl="0" eaLnBrk="1" latinLnBrk="0" hangingPunct="1">
                        <a:defRPr sz="1800" kern="1200">
                          <a:solidFill>
                            <a:schemeClr val="dk1"/>
                          </a:solidFill>
                          <a:latin typeface="Arial"/>
                        </a:defRPr>
                      </a:lvl4pPr>
                      <a:lvl5pPr marL="1828563" algn="l" defTabSz="914282" rtl="0" eaLnBrk="1" latinLnBrk="0" hangingPunct="1">
                        <a:defRPr sz="1800" kern="1200">
                          <a:solidFill>
                            <a:schemeClr val="dk1"/>
                          </a:solidFill>
                          <a:latin typeface="Arial"/>
                        </a:defRPr>
                      </a:lvl5pPr>
                      <a:lvl6pPr marL="2285704" algn="l" defTabSz="914282" rtl="0" eaLnBrk="1" latinLnBrk="0" hangingPunct="1">
                        <a:defRPr sz="1800" kern="1200">
                          <a:solidFill>
                            <a:schemeClr val="dk1"/>
                          </a:solidFill>
                          <a:latin typeface="Arial"/>
                        </a:defRPr>
                      </a:lvl6pPr>
                      <a:lvl7pPr marL="2742845" algn="l" defTabSz="914282" rtl="0" eaLnBrk="1" latinLnBrk="0" hangingPunct="1">
                        <a:defRPr sz="1800" kern="1200">
                          <a:solidFill>
                            <a:schemeClr val="dk1"/>
                          </a:solidFill>
                          <a:latin typeface="Arial"/>
                        </a:defRPr>
                      </a:lvl7pPr>
                      <a:lvl8pPr marL="3199985" algn="l" defTabSz="914282" rtl="0" eaLnBrk="1" latinLnBrk="0" hangingPunct="1">
                        <a:defRPr sz="1800" kern="1200">
                          <a:solidFill>
                            <a:schemeClr val="dk1"/>
                          </a:solidFill>
                          <a:latin typeface="Arial"/>
                        </a:defRPr>
                      </a:lvl8pPr>
                      <a:lvl9pPr marL="3657126" algn="l" defTabSz="914282" rtl="0" eaLnBrk="1" latinLnBrk="0" hangingPunct="1">
                        <a:defRPr sz="1800" kern="1200">
                          <a:solidFill>
                            <a:schemeClr val="dk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重放</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新鲜性</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6"/>
                  </a:ext>
                </a:extLst>
              </a:tr>
              <a:tr h="332591">
                <a:tc vMerge="1">
                  <a:txBody>
                    <a:bodyPr/>
                    <a:lstStyle/>
                    <a:p>
                      <a:endParaRPr lang="zh-CN"/>
                    </a:p>
                  </a:txBody>
                  <a:tcPr/>
                </a:tc>
                <a:tc gridSpan="2">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a:solidFill>
                            <a:srgbClr val="008F92"/>
                          </a:solidFill>
                          <a:latin typeface="华文楷体" panose="02010600040101010101" pitchFamily="2" charset="-122"/>
                          <a:ea typeface="华文楷体" panose="02010600040101010101" pitchFamily="2" charset="-122"/>
                        </a:rPr>
                        <a:t>否认</a:t>
                      </a:r>
                      <a:endParaRPr lang="zh-CN" altLang="en-US" sz="1800" b="0" kern="120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tc hMerge="1">
                  <a:txBody>
                    <a:bodyPr/>
                    <a:lstStyle/>
                    <a:p>
                      <a:endParaRPr lang="zh-CN"/>
                    </a:p>
                  </a:txBody>
                  <a:tcPr/>
                </a:tc>
                <a:tc>
                  <a:txBody>
                    <a:bodyPr/>
                    <a:lstStyle>
                      <a:lvl1pPr marL="0" algn="l" defTabSz="914282" rtl="0" eaLnBrk="1" latinLnBrk="0" hangingPunct="1">
                        <a:defRPr sz="1800" b="1" kern="1200">
                          <a:solidFill>
                            <a:schemeClr val="lt1"/>
                          </a:solidFill>
                          <a:latin typeface="Arial"/>
                        </a:defRPr>
                      </a:lvl1pPr>
                      <a:lvl2pPr marL="457140" algn="l" defTabSz="914282" rtl="0" eaLnBrk="1" latinLnBrk="0" hangingPunct="1">
                        <a:defRPr sz="1800" b="1" kern="1200">
                          <a:solidFill>
                            <a:schemeClr val="lt1"/>
                          </a:solidFill>
                          <a:latin typeface="Arial"/>
                        </a:defRPr>
                      </a:lvl2pPr>
                      <a:lvl3pPr marL="914282" algn="l" defTabSz="914282" rtl="0" eaLnBrk="1" latinLnBrk="0" hangingPunct="1">
                        <a:defRPr sz="1800" b="1" kern="1200">
                          <a:solidFill>
                            <a:schemeClr val="lt1"/>
                          </a:solidFill>
                          <a:latin typeface="Arial"/>
                        </a:defRPr>
                      </a:lvl3pPr>
                      <a:lvl4pPr marL="1371422" algn="l" defTabSz="914282" rtl="0" eaLnBrk="1" latinLnBrk="0" hangingPunct="1">
                        <a:defRPr sz="1800" b="1" kern="1200">
                          <a:solidFill>
                            <a:schemeClr val="lt1"/>
                          </a:solidFill>
                          <a:latin typeface="Arial"/>
                        </a:defRPr>
                      </a:lvl4pPr>
                      <a:lvl5pPr marL="1828563" algn="l" defTabSz="914282" rtl="0" eaLnBrk="1" latinLnBrk="0" hangingPunct="1">
                        <a:defRPr sz="1800" b="1" kern="1200">
                          <a:solidFill>
                            <a:schemeClr val="lt1"/>
                          </a:solidFill>
                          <a:latin typeface="Arial"/>
                        </a:defRPr>
                      </a:lvl5pPr>
                      <a:lvl6pPr marL="2285704" algn="l" defTabSz="914282" rtl="0" eaLnBrk="1" latinLnBrk="0" hangingPunct="1">
                        <a:defRPr sz="1800" b="1" kern="1200">
                          <a:solidFill>
                            <a:schemeClr val="lt1"/>
                          </a:solidFill>
                          <a:latin typeface="Arial"/>
                        </a:defRPr>
                      </a:lvl6pPr>
                      <a:lvl7pPr marL="2742845" algn="l" defTabSz="914282" rtl="0" eaLnBrk="1" latinLnBrk="0" hangingPunct="1">
                        <a:defRPr sz="1800" b="1" kern="1200">
                          <a:solidFill>
                            <a:schemeClr val="lt1"/>
                          </a:solidFill>
                          <a:latin typeface="Arial"/>
                        </a:defRPr>
                      </a:lvl7pPr>
                      <a:lvl8pPr marL="3199985" algn="l" defTabSz="914282" rtl="0" eaLnBrk="1" latinLnBrk="0" hangingPunct="1">
                        <a:defRPr sz="1800" b="1" kern="1200">
                          <a:solidFill>
                            <a:schemeClr val="lt1"/>
                          </a:solidFill>
                          <a:latin typeface="Arial"/>
                        </a:defRPr>
                      </a:lvl8pPr>
                      <a:lvl9pPr marL="3657126" algn="l" defTabSz="914282" rtl="0" eaLnBrk="1" latinLnBrk="0" hangingPunct="1">
                        <a:defRPr sz="1800" b="1" kern="1200">
                          <a:solidFill>
                            <a:schemeClr val="lt1"/>
                          </a:solidFill>
                          <a:latin typeface="Arial"/>
                        </a:defRPr>
                      </a:lvl9pPr>
                    </a:lstStyle>
                    <a:p>
                      <a:pPr marL="0" algn="ctr" defTabSz="914282" rtl="0" eaLnBrk="1" latinLnBrk="0" hangingPunct="1">
                        <a:spcAft>
                          <a:spcPts val="0"/>
                        </a:spcAft>
                      </a:pPr>
                      <a:r>
                        <a:rPr lang="zh-CN" altLang="en-US" sz="1800" b="0" kern="1200" dirty="0">
                          <a:solidFill>
                            <a:srgbClr val="008F92"/>
                          </a:solidFill>
                          <a:latin typeface="华文楷体" panose="02010600040101010101" pitchFamily="2" charset="-122"/>
                          <a:ea typeface="华文楷体" panose="02010600040101010101" pitchFamily="2" charset="-122"/>
                        </a:rPr>
                        <a:t>不可否认性</a:t>
                      </a:r>
                      <a:endParaRPr lang="zh-CN" altLang="en-US" sz="1800" b="0" kern="12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endParaRPr>
                    </a:p>
                  </a:txBody>
                  <a:tcPr marL="68574" marR="68574"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839733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58429"/>
          </a:xfrm>
          <a:prstGeom prst="rect">
            <a:avLst/>
          </a:prstGeom>
          <a:noFill/>
        </p:spPr>
        <p:txBody>
          <a:bodyPr wrap="square" rtlCol="0">
            <a:spAutoFit/>
          </a:bodyPr>
          <a:lstStyle/>
          <a:p>
            <a:pPr marL="357188" indent="-357188">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被动攻击</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通常是难以发现或检测的，因为它们并不会导致数据有任何变化，对付被动攻击的重点是防止，可以采用各种数据加密技术来阻止被动攻击。</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57188" indent="-357188">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主动攻击</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攻击者可以通过多种方式和途径发起主动攻击，完全防止主动攻击是相当困难的，对于主动攻击，可采取适当措施（如加密技术和鉴别技术相结合）加以检测和发现，并从主动攻击引起的任何破坏或时延中予以恢复。同时，这种检测也具有一定的威慑作用。</a:t>
            </a: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487"/>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安全性攻击的分类</a:t>
            </a:r>
          </a:p>
        </p:txBody>
      </p:sp>
    </p:spTree>
    <p:extLst>
      <p:ext uri="{BB962C8B-B14F-4D97-AF65-F5344CB8AC3E}">
        <p14:creationId xmlns:p14="http://schemas.microsoft.com/office/powerpoint/2010/main" val="23407557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722044"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物联网面临的安全问题</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7725934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303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传统的网络安全威胁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物联网面临的新威胁</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物联网面临的安全问题</a:t>
            </a:r>
          </a:p>
        </p:txBody>
      </p:sp>
    </p:spTree>
    <p:extLst>
      <p:ext uri="{BB962C8B-B14F-4D97-AF65-F5344CB8AC3E}">
        <p14:creationId xmlns:p14="http://schemas.microsoft.com/office/powerpoint/2010/main" val="33213210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309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互联网是一个开放系统，其具有资源丰富、高度分布、广泛开放、动态演化、边界模糊等特点，网络中的信息在存储和传输过程中有可能被盗用、暴露、篡改和伪造等，且基于网络的信息交换还面临着身份认证和防否认等安全需求</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网络资源难免会吸引各种主动或被动的人为攻击，例如信息泄漏、信息窃取、数据篡改、计算机病毒、黑客、工业间谍等。同时，通信实体还面临着诸如水灾、火灾、地震等自然灾害和电磁辐射等方面的考验</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传统的网络安全威胁</a:t>
            </a:r>
          </a:p>
        </p:txBody>
      </p:sp>
    </p:spTree>
    <p:extLst>
      <p:ext uri="{BB962C8B-B14F-4D97-AF65-F5344CB8AC3E}">
        <p14:creationId xmlns:p14="http://schemas.microsoft.com/office/powerpoint/2010/main" val="8938603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1155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网络安全的意义：</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从大的方面说</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，“没有网络安全就没有国家安全”，网络安全关系到国家主权的安全、社会的稳定、民族文化的继承和发扬等</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从小的方面说</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，网络安全关系到公私财物和个人隐私的安全；因此必须设计一套完善的安全策略，采用不同的防范措施，并制定相应的安全管理规章制度来加以保护</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传统的网络安全威胁</a:t>
            </a:r>
          </a:p>
        </p:txBody>
      </p:sp>
    </p:spTree>
    <p:extLst>
      <p:ext uri="{BB962C8B-B14F-4D97-AF65-F5344CB8AC3E}">
        <p14:creationId xmlns:p14="http://schemas.microsoft.com/office/powerpoint/2010/main" val="42571473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5337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欧盟网络信息安全局（</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ENISA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）发布的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2014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年新兴技术领域排名前</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位的网络威胁及其新趋势</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传统的网络安全威胁</a:t>
            </a:r>
          </a:p>
        </p:txBody>
      </p:sp>
      <p:graphicFrame>
        <p:nvGraphicFramePr>
          <p:cNvPr id="4" name="表格 3">
            <a:extLst>
              <a:ext uri="{FF2B5EF4-FFF2-40B4-BE49-F238E27FC236}">
                <a16:creationId xmlns:a16="http://schemas.microsoft.com/office/drawing/2014/main" id="{F067499B-01B6-4D2A-8A72-08FA331E327D}"/>
              </a:ext>
            </a:extLst>
          </p:cNvPr>
          <p:cNvGraphicFramePr>
            <a:graphicFrameLocks noGrp="1"/>
          </p:cNvGraphicFramePr>
          <p:nvPr>
            <p:extLst>
              <p:ext uri="{D42A27DB-BD31-4B8C-83A1-F6EECF244321}">
                <p14:modId xmlns:p14="http://schemas.microsoft.com/office/powerpoint/2010/main" val="2844748323"/>
              </p:ext>
            </p:extLst>
          </p:nvPr>
        </p:nvGraphicFramePr>
        <p:xfrm>
          <a:off x="388366" y="653719"/>
          <a:ext cx="8460458" cy="4483835"/>
        </p:xfrm>
        <a:graphic>
          <a:graphicData uri="http://schemas.openxmlformats.org/drawingml/2006/table">
            <a:tbl>
              <a:tblPr/>
              <a:tblGrid>
                <a:gridCol w="693345">
                  <a:extLst>
                    <a:ext uri="{9D8B030D-6E8A-4147-A177-3AD203B41FA5}">
                      <a16:colId xmlns:a16="http://schemas.microsoft.com/office/drawing/2014/main" val="20000"/>
                    </a:ext>
                  </a:extLst>
                </a:gridCol>
                <a:gridCol w="2225307">
                  <a:extLst>
                    <a:ext uri="{9D8B030D-6E8A-4147-A177-3AD203B41FA5}">
                      <a16:colId xmlns:a16="http://schemas.microsoft.com/office/drawing/2014/main" val="20001"/>
                    </a:ext>
                  </a:extLst>
                </a:gridCol>
                <a:gridCol w="693345">
                  <a:extLst>
                    <a:ext uri="{9D8B030D-6E8A-4147-A177-3AD203B41FA5}">
                      <a16:colId xmlns:a16="http://schemas.microsoft.com/office/drawing/2014/main" val="20002"/>
                    </a:ext>
                  </a:extLst>
                </a:gridCol>
                <a:gridCol w="691693">
                  <a:extLst>
                    <a:ext uri="{9D8B030D-6E8A-4147-A177-3AD203B41FA5}">
                      <a16:colId xmlns:a16="http://schemas.microsoft.com/office/drawing/2014/main" val="20003"/>
                    </a:ext>
                  </a:extLst>
                </a:gridCol>
                <a:gridCol w="693345">
                  <a:extLst>
                    <a:ext uri="{9D8B030D-6E8A-4147-A177-3AD203B41FA5}">
                      <a16:colId xmlns:a16="http://schemas.microsoft.com/office/drawing/2014/main" val="20004"/>
                    </a:ext>
                  </a:extLst>
                </a:gridCol>
                <a:gridCol w="693345">
                  <a:extLst>
                    <a:ext uri="{9D8B030D-6E8A-4147-A177-3AD203B41FA5}">
                      <a16:colId xmlns:a16="http://schemas.microsoft.com/office/drawing/2014/main" val="20005"/>
                    </a:ext>
                  </a:extLst>
                </a:gridCol>
                <a:gridCol w="691695">
                  <a:extLst>
                    <a:ext uri="{9D8B030D-6E8A-4147-A177-3AD203B41FA5}">
                      <a16:colId xmlns:a16="http://schemas.microsoft.com/office/drawing/2014/main" val="20006"/>
                    </a:ext>
                  </a:extLst>
                </a:gridCol>
                <a:gridCol w="693345">
                  <a:extLst>
                    <a:ext uri="{9D8B030D-6E8A-4147-A177-3AD203B41FA5}">
                      <a16:colId xmlns:a16="http://schemas.microsoft.com/office/drawing/2014/main" val="20007"/>
                    </a:ext>
                  </a:extLst>
                </a:gridCol>
                <a:gridCol w="691693">
                  <a:extLst>
                    <a:ext uri="{9D8B030D-6E8A-4147-A177-3AD203B41FA5}">
                      <a16:colId xmlns:a16="http://schemas.microsoft.com/office/drawing/2014/main" val="20008"/>
                    </a:ext>
                  </a:extLst>
                </a:gridCol>
                <a:gridCol w="693345">
                  <a:extLst>
                    <a:ext uri="{9D8B030D-6E8A-4147-A177-3AD203B41FA5}">
                      <a16:colId xmlns:a16="http://schemas.microsoft.com/office/drawing/2014/main" val="20009"/>
                    </a:ext>
                  </a:extLst>
                </a:gridCol>
              </a:tblGrid>
              <a:tr h="234725">
                <a:tc rowSpan="2">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序号</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rowSpan="2">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首要威胁</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发展</a:t>
                      </a:r>
                      <a:endPar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趋势</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新兴技术领域的首要威胁趋势</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4818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CPS</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和关键基础设施</a:t>
                      </a:r>
                    </a:p>
                  </a:txBody>
                  <a:tcPr marL="17780" marR="17780" marT="0" marB="0"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移动计算</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云计算</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信任基础设施</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大数据</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物联网</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网络虚拟化</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0" lang="zh-CN"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恶意代码：蠕虫</a:t>
                      </a:r>
                      <a:r>
                        <a:rPr kumimoji="0" lang="en-US" alt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木马</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0" lang="zh-CN"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基于</a:t>
                      </a: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Web</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的攻击</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r h="229538">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Web</a:t>
                      </a: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应用程序攻击</a:t>
                      </a:r>
                      <a:r>
                        <a:rPr kumimoji="0" lang="en-US" alt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注入攻击</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4"/>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4</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僵尸网络</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5"/>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5</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拒绝服务攻击</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6"/>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6</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垃圾邮件</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7"/>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7</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网络钓鱼</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8"/>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8</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利用漏洞</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9"/>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9</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数据泄露</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10"/>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10</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物理损坏</a:t>
                      </a: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盗窃</a:t>
                      </a: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损失</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11"/>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11</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内部威胁</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12"/>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12</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信息泄露</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13"/>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13</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身份盗用</a:t>
                      </a: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欺诈</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14"/>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14</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网络间谍</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15"/>
                  </a:ext>
                </a:extLst>
              </a:tr>
              <a:tr h="201526">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15</a:t>
                      </a:r>
                      <a:endParaRPr kumimoji="0" lang="zh-CN" altLang="zh-CN" sz="12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勒索软件</a:t>
                      </a:r>
                      <a:r>
                        <a:rPr kumimoji="0" lang="en-US" alt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sz="12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流氓软件</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zh-CN" altLang="zh-CN" sz="1000" b="0" i="0" u="none" strike="noStrike" cap="none" normalizeH="0" baseline="0" dirty="0">
                        <a:ln>
                          <a:noFill/>
                        </a:ln>
                        <a:solidFill>
                          <a:srgbClr val="008487"/>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17780" marR="177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16"/>
                  </a:ext>
                </a:extLst>
              </a:tr>
            </a:tbl>
          </a:graphicData>
        </a:graphic>
      </p:graphicFrame>
      <p:sp>
        <p:nvSpPr>
          <p:cNvPr id="2" name="标注: 线形 1">
            <a:extLst>
              <a:ext uri="{FF2B5EF4-FFF2-40B4-BE49-F238E27FC236}">
                <a16:creationId xmlns:a16="http://schemas.microsoft.com/office/drawing/2014/main" id="{B1F451F8-BFBA-EBFC-8A4F-0A17E8336700}"/>
              </a:ext>
            </a:extLst>
          </p:cNvPr>
          <p:cNvSpPr/>
          <p:nvPr/>
        </p:nvSpPr>
        <p:spPr>
          <a:xfrm>
            <a:off x="3322450" y="653719"/>
            <a:ext cx="5498021" cy="2782127"/>
          </a:xfrm>
          <a:prstGeom prst="borderCallout1">
            <a:avLst>
              <a:gd name="adj1" fmla="val 33332"/>
              <a:gd name="adj2" fmla="val -251"/>
              <a:gd name="adj3" fmla="val 33530"/>
              <a:gd name="adj4" fmla="val -14225"/>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spcBef>
                <a:spcPts val="300"/>
              </a:spcBef>
              <a:spcAft>
                <a:spcPts val="300"/>
              </a:spcAft>
            </a:pPr>
            <a:r>
              <a:rPr lang="zh-CN" altLang="zh-CN" sz="1400" b="1" dirty="0">
                <a:solidFill>
                  <a:srgbClr val="F0701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恶意代码（</a:t>
            </a:r>
            <a:r>
              <a:rPr lang="en-US" altLang="zh-CN" sz="1400" b="1" dirty="0">
                <a:solidFill>
                  <a:srgbClr val="F07010"/>
                </a:solidFill>
                <a:effectLst/>
                <a:uFill>
                  <a:solidFill>
                    <a:srgbClr val="FF0000"/>
                  </a:solidFill>
                </a:uFill>
                <a:latin typeface="Times New Roman" panose="02020603050405020304" pitchFamily="18" charset="0"/>
                <a:ea typeface="微软雅黑" panose="020B0503020204020204" pitchFamily="34" charset="-122"/>
              </a:rPr>
              <a:t>Malicious Code</a:t>
            </a:r>
            <a:r>
              <a:rPr lang="zh-CN" altLang="zh-CN" sz="1400" b="1" dirty="0">
                <a:solidFill>
                  <a:srgbClr val="F0701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是指没有作用却会带来危险的代码</a:t>
            </a:r>
            <a:endParaRPr lang="en-US" altLang="zh-CN" sz="14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endParaRPr>
          </a:p>
          <a:p>
            <a:pPr marL="628590" marR="502920" lvl="1" indent="-171450">
              <a:lnSpc>
                <a:spcPct val="120000"/>
              </a:lnSpc>
              <a:spcBef>
                <a:spcPts val="300"/>
              </a:spcBef>
              <a:spcAft>
                <a:spcPts val="300"/>
              </a:spcAft>
              <a:buFont typeface="Arial" panose="020B0604020202020204" pitchFamily="34" charset="0"/>
              <a:buChar char="•"/>
            </a:pPr>
            <a:r>
              <a:rPr lang="zh-CN" altLang="zh-CN" sz="1200" b="1"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定义一：</a:t>
            </a:r>
            <a:r>
              <a:rPr lang="zh-CN" altLang="zh-CN" sz="1200" kern="1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指在未明确提示用户或未经用户许可的情况下，在用户计算机或其他终端上安装运行，侵犯用户合法权益的软件</a:t>
            </a:r>
            <a:r>
              <a:rPr lang="zh-CN" altLang="zh-CN"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200" kern="100" dirty="0">
              <a:solidFill>
                <a:srgbClr val="FFFF00"/>
              </a:solidFill>
              <a:effectLst/>
              <a:latin typeface="Century Gothic" panose="020B0502020202020204" pitchFamily="34" charset="0"/>
              <a:ea typeface="微软雅黑" panose="020B0503020204020204" pitchFamily="34" charset="-122"/>
              <a:cs typeface="Times New Roman" panose="02020603050405020304" pitchFamily="18" charset="0"/>
            </a:endParaRPr>
          </a:p>
          <a:p>
            <a:pPr marL="628590" marR="502920" lvl="1" indent="-171450">
              <a:lnSpc>
                <a:spcPct val="120000"/>
              </a:lnSpc>
              <a:spcBef>
                <a:spcPts val="300"/>
              </a:spcBef>
              <a:spcAft>
                <a:spcPts val="300"/>
              </a:spcAft>
              <a:buFont typeface="Arial" panose="020B0604020202020204" pitchFamily="34" charset="0"/>
              <a:buChar char="•"/>
            </a:pPr>
            <a:r>
              <a:rPr lang="zh-CN" altLang="zh-CN" sz="1200" b="1"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定义二：</a:t>
            </a:r>
            <a:r>
              <a:rPr lang="zh-CN" altLang="zh-CN" sz="1200" kern="1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指故意编制或设置的、对网络或系统会产生威胁或潜在威胁的计算机代码。</a:t>
            </a:r>
            <a:endParaRPr lang="zh-CN" altLang="zh-CN" sz="1200" kern="100" dirty="0">
              <a:solidFill>
                <a:srgbClr val="FFFF00"/>
              </a:solidFill>
              <a:effectLst/>
              <a:latin typeface="Century Gothic" panose="020B0502020202020204" pitchFamily="34" charset="0"/>
              <a:ea typeface="微软雅黑" panose="020B0503020204020204" pitchFamily="34" charset="-122"/>
              <a:cs typeface="Times New Roman" panose="02020603050405020304" pitchFamily="18" charset="0"/>
            </a:endParaRPr>
          </a:p>
          <a:p>
            <a:pPr marL="171450" indent="-171450">
              <a:spcBef>
                <a:spcPts val="300"/>
              </a:spcBef>
              <a:spcAft>
                <a:spcPts val="300"/>
              </a:spcAft>
              <a:buFont typeface="Wingdings" panose="05000000000000000000" pitchFamily="2" charset="2"/>
              <a:buChar char="n"/>
            </a:pP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恶意代码的分类标准主要是代码的</a:t>
            </a:r>
            <a:r>
              <a:rPr lang="zh-CN" altLang="zh-CN" sz="1200" b="1"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独立性</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lang="zh-CN" altLang="zh-CN" sz="1200" b="1"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自我复制性</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1"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独立的恶意代码</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是指</a:t>
            </a:r>
            <a:r>
              <a:rPr lang="zh-CN" altLang="zh-CN" sz="12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具备一个完整程序所应该具有的全部功能功能，能够独立传播、运行的恶意代码，这样的恶意代码不需要寄宿在另一个程序中</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b="1"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非独立恶意代码</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只是一段代码，</a:t>
            </a:r>
            <a:r>
              <a:rPr lang="zh-CN" altLang="zh-CN" sz="1200" dirty="0">
                <a:solidFill>
                  <a:srgbClr val="FFFF00"/>
                </a:solidFill>
                <a:effectLst/>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必须嵌入某个完整的程序中，作为该程序的一个组成部分进行传播和运行</a:t>
            </a:r>
            <a:r>
              <a:rPr lang="zh-CN"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spcBef>
                <a:spcPts val="300"/>
              </a:spcBef>
              <a:spcAft>
                <a:spcPts val="300"/>
              </a:spcAft>
              <a:buFont typeface="Wingdings" panose="05000000000000000000" pitchFamily="2" charset="2"/>
              <a:buChar char="n"/>
            </a:pPr>
            <a:r>
              <a:rPr lang="zh-CN" altLang="zh-CN"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最常见的恶意代码有</a:t>
            </a:r>
            <a:r>
              <a:rPr lang="zh-CN" altLang="zh-CN" sz="1200" b="1"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计算机病毒</a:t>
            </a:r>
            <a:r>
              <a:rPr lang="zh-CN" altLang="zh-CN"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（简称病毒）、</a:t>
            </a:r>
            <a:r>
              <a:rPr lang="zh-CN" altLang="zh-CN" sz="1200" b="1"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特洛伊木马</a:t>
            </a:r>
            <a:r>
              <a:rPr lang="zh-CN" altLang="zh-CN"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（简称木马）、</a:t>
            </a:r>
            <a:r>
              <a:rPr lang="zh-CN" altLang="zh-CN" sz="1200" b="1"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计算机蠕虫</a:t>
            </a:r>
            <a:r>
              <a:rPr lang="zh-CN" altLang="zh-CN"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rPr>
              <a:t>（简称蠕虫）、后门、逻辑炸弹等。</a:t>
            </a:r>
            <a:endParaRPr lang="zh-CN" altLang="en-US"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注: 线形 4">
            <a:extLst>
              <a:ext uri="{FF2B5EF4-FFF2-40B4-BE49-F238E27FC236}">
                <a16:creationId xmlns:a16="http://schemas.microsoft.com/office/drawing/2014/main" id="{3609634D-1675-F732-F3B7-6CD88284BF95}"/>
              </a:ext>
            </a:extLst>
          </p:cNvPr>
          <p:cNvSpPr/>
          <p:nvPr/>
        </p:nvSpPr>
        <p:spPr>
          <a:xfrm>
            <a:off x="3322450" y="1937330"/>
            <a:ext cx="5498021" cy="555937"/>
          </a:xfrm>
          <a:prstGeom prst="borderCallout1">
            <a:avLst>
              <a:gd name="adj1" fmla="val 28057"/>
              <a:gd name="adj2" fmla="val -215"/>
              <a:gd name="adj3" fmla="val 27786"/>
              <a:gd name="adj4" fmla="val -6142"/>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spcBef>
                <a:spcPts val="300"/>
              </a:spcBef>
              <a:spcAft>
                <a:spcPts val="300"/>
              </a:spcAft>
            </a:pPr>
            <a:r>
              <a:rPr lang="en-US" altLang="zh-CN" sz="1400" b="1" dirty="0">
                <a:solidFill>
                  <a:srgbClr val="F0701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web</a:t>
            </a:r>
            <a:r>
              <a:rPr lang="zh-CN" altLang="en-US" sz="1400" b="1" dirty="0">
                <a:solidFill>
                  <a:srgbClr val="F0701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攻击技术：</a:t>
            </a:r>
            <a:r>
              <a:rPr lang="en-US" altLang="zh-CN"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SQL</a:t>
            </a:r>
            <a:r>
              <a:rPr lang="zh-CN" altLang="en-US"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技术（脚本注入攻击）、</a:t>
            </a:r>
            <a:r>
              <a:rPr lang="en-US" altLang="zh-CN"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XSS</a:t>
            </a:r>
            <a:r>
              <a:rPr lang="zh-CN" altLang="en-US"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攻击（跨站脚本攻击）、上传漏洞（文件上传）</a:t>
            </a:r>
            <a:endParaRPr lang="zh-CN" altLang="en-US"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标注: 线形 5">
            <a:extLst>
              <a:ext uri="{FF2B5EF4-FFF2-40B4-BE49-F238E27FC236}">
                <a16:creationId xmlns:a16="http://schemas.microsoft.com/office/drawing/2014/main" id="{894A4B3E-D36D-0C8F-310B-776915205DB0}"/>
              </a:ext>
            </a:extLst>
          </p:cNvPr>
          <p:cNvSpPr/>
          <p:nvPr/>
        </p:nvSpPr>
        <p:spPr>
          <a:xfrm>
            <a:off x="3319324" y="2408619"/>
            <a:ext cx="5498021" cy="555937"/>
          </a:xfrm>
          <a:prstGeom prst="borderCallout1">
            <a:avLst>
              <a:gd name="adj1" fmla="val 28057"/>
              <a:gd name="adj2" fmla="val -215"/>
              <a:gd name="adj3" fmla="val 27786"/>
              <a:gd name="adj4" fmla="val -6142"/>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spcBef>
                <a:spcPts val="300"/>
              </a:spcBef>
              <a:spcAft>
                <a:spcPts val="300"/>
              </a:spcAft>
            </a:pPr>
            <a:r>
              <a:rPr lang="zh-CN" altLang="en-US" sz="1400" b="1" dirty="0">
                <a:solidFill>
                  <a:srgbClr val="F0701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拒绝服务攻击技术：</a:t>
            </a:r>
            <a:r>
              <a:rPr lang="en-US" altLang="zh-CN"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DOS</a:t>
            </a:r>
            <a:r>
              <a:rPr lang="zh-CN" altLang="en-US"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DDOS</a:t>
            </a:r>
            <a:r>
              <a:rPr lang="zh-CN" altLang="en-US"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err="1">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RDoS</a:t>
            </a:r>
            <a:r>
              <a:rPr lang="zh-CN" altLang="en-US" sz="12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err="1">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DRDoS</a:t>
            </a:r>
            <a:endParaRPr lang="zh-CN" altLang="en-US"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标注: 线形 6">
            <a:extLst>
              <a:ext uri="{FF2B5EF4-FFF2-40B4-BE49-F238E27FC236}">
                <a16:creationId xmlns:a16="http://schemas.microsoft.com/office/drawing/2014/main" id="{B288A99F-2106-A968-EEEF-E69379282F6F}"/>
              </a:ext>
            </a:extLst>
          </p:cNvPr>
          <p:cNvSpPr/>
          <p:nvPr/>
        </p:nvSpPr>
        <p:spPr>
          <a:xfrm>
            <a:off x="3319324" y="2828873"/>
            <a:ext cx="5498021" cy="814788"/>
          </a:xfrm>
          <a:prstGeom prst="borderCallout1">
            <a:avLst>
              <a:gd name="adj1" fmla="val 28057"/>
              <a:gd name="adj2" fmla="val -215"/>
              <a:gd name="adj3" fmla="val 27786"/>
              <a:gd name="adj4" fmla="val -6142"/>
            </a:avLst>
          </a:prstGeom>
          <a:gradFill flip="none" rotWithShape="1">
            <a:gsLst>
              <a:gs pos="0">
                <a:schemeClr val="accent4">
                  <a:shade val="30000"/>
                  <a:satMod val="115000"/>
                </a:schemeClr>
              </a:gs>
              <a:gs pos="50000">
                <a:schemeClr val="accent4">
                  <a:shade val="67500"/>
                  <a:satMod val="115000"/>
                </a:schemeClr>
              </a:gs>
              <a:gs pos="100000">
                <a:schemeClr val="accent4">
                  <a:shade val="100000"/>
                  <a:satMod val="115000"/>
                </a:schemeClr>
              </a:gs>
            </a:gsLst>
            <a:lin ang="8100000" scaled="1"/>
            <a:tileRect/>
          </a:gra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spcBef>
                <a:spcPts val="300"/>
              </a:spcBef>
              <a:spcAft>
                <a:spcPts val="300"/>
              </a:spcAft>
            </a:pPr>
            <a:r>
              <a:rPr lang="zh-CN" altLang="en-US" sz="1400" b="1" dirty="0">
                <a:solidFill>
                  <a:srgbClr val="F0701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网络钓鱼，</a:t>
            </a:r>
            <a:r>
              <a:rPr lang="zh-CN" altLang="en-US" sz="14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rPr>
              <a:t>是指不法分子通过多种手段，试图引诱网民透露重要信息的一种网络攻击方式</a:t>
            </a:r>
            <a:endParaRPr lang="en-US" altLang="zh-CN" sz="1400" dirty="0">
              <a:solidFill>
                <a:srgbClr val="FFFF00"/>
              </a:solidFill>
              <a:uFill>
                <a:solidFill>
                  <a:srgbClr val="FF0000"/>
                </a:solidFill>
              </a:uFill>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spcBef>
                <a:spcPts val="300"/>
              </a:spcBef>
              <a:spcAft>
                <a:spcPts val="300"/>
              </a:spcAft>
              <a:buFont typeface="Wingdings" panose="05000000000000000000" pitchFamily="2" charset="2"/>
              <a:buChar char="n"/>
            </a:pPr>
            <a:r>
              <a:rPr lang="zh-CN" altLang="en-US" sz="1200" kern="10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手段包括网站、语音、短信、邮件、</a:t>
            </a:r>
            <a:r>
              <a:rPr lang="en-US" altLang="zh-CN" sz="1200" kern="10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WiFi</a:t>
            </a:r>
            <a:r>
              <a:rPr lang="zh-CN" altLang="en-US" sz="1200" kern="10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等</a:t>
            </a:r>
            <a:endParaRPr lang="zh-CN" altLang="en-US" sz="1200" kern="100" dirty="0">
              <a:solidFill>
                <a:srgbClr val="FFFF00"/>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2885644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heckerboard(across)">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heckerboard(across)">
                                      <p:cBhvr>
                                        <p:cTn id="18" dur="500"/>
                                        <p:tgtEl>
                                          <p:spTgt spid="5"/>
                                        </p:tgtEl>
                                      </p:cBhvr>
                                    </p:animEffect>
                                  </p:childTnLst>
                                </p:cTn>
                              </p:par>
                              <p:par>
                                <p:cTn id="19" presetID="14" presetClass="exit" presetSubtype="10" fill="hold" grpId="1" nodeType="withEffect">
                                  <p:stCondLst>
                                    <p:cond delay="0"/>
                                  </p:stCondLst>
                                  <p:childTnLst>
                                    <p:animEffect transition="out" filter="randombar(horizontal)">
                                      <p:cBhvr>
                                        <p:cTn id="20" dur="500"/>
                                        <p:tgtEl>
                                          <p:spTgt spid="2"/>
                                        </p:tgtEl>
                                      </p:cBhvr>
                                    </p:animEffect>
                                    <p:set>
                                      <p:cBhvr>
                                        <p:cTn id="21" dur="1" fill="hold">
                                          <p:stCondLst>
                                            <p:cond delay="499"/>
                                          </p:stCondLst>
                                        </p:cTn>
                                        <p:tgtEl>
                                          <p:spTgt spid="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checkerboard(across)">
                                      <p:cBhvr>
                                        <p:cTn id="26" dur="500"/>
                                        <p:tgtEl>
                                          <p:spTgt spid="6"/>
                                        </p:tgtEl>
                                      </p:cBhvr>
                                    </p:animEffect>
                                  </p:childTnLst>
                                </p:cTn>
                              </p:par>
                              <p:par>
                                <p:cTn id="27" presetID="14" presetClass="exit" presetSubtype="10" fill="hold" grpId="1" nodeType="withEffect">
                                  <p:stCondLst>
                                    <p:cond delay="0"/>
                                  </p:stCondLst>
                                  <p:childTnLst>
                                    <p:animEffect transition="out" filter="randombar(horizontal)">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checkerboard(across)">
                                      <p:cBhvr>
                                        <p:cTn id="34" dur="500"/>
                                        <p:tgtEl>
                                          <p:spTgt spid="7"/>
                                        </p:tgtEl>
                                      </p:cBhvr>
                                    </p:animEffect>
                                  </p:childTnLst>
                                </p:cTn>
                              </p:par>
                              <p:par>
                                <p:cTn id="35" presetID="14" presetClass="exit" presetSubtype="10" fill="hold" grpId="1" nodeType="withEffect">
                                  <p:stCondLst>
                                    <p:cond delay="0"/>
                                  </p:stCondLst>
                                  <p:childTnLst>
                                    <p:animEffect transition="out" filter="randombar(horizontal)">
                                      <p:cBhvr>
                                        <p:cTn id="36" dur="500"/>
                                        <p:tgtEl>
                                          <p:spTgt spid="7"/>
                                        </p:tgtEl>
                                      </p:cBhvr>
                                    </p:animEffect>
                                    <p:set>
                                      <p:cBhvr>
                                        <p:cTn id="3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P spid="2" grpId="1" animBg="1"/>
      <p:bldP spid="5" grpId="0" animBg="1"/>
      <p:bldP spid="6" grpId="0" animBg="1"/>
      <p:bldP spid="6" grpId="1" animBg="1"/>
      <p:bldP spid="7" grpId="0" animBg="1"/>
      <p:bldP spid="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01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ENISA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年报看</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2021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年全球主要网络安全威胁发展态势</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勒索软件</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恶意软件</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加密劫持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与电子邮件有关的威胁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对数据的威胁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对可用性和完整性的威胁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虚假信息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错误信息</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非恶意威胁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供应链威胁</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传统的网络安全威胁</a:t>
            </a:r>
          </a:p>
        </p:txBody>
      </p:sp>
    </p:spTree>
    <p:extLst>
      <p:ext uri="{BB962C8B-B14F-4D97-AF65-F5344CB8AC3E}">
        <p14:creationId xmlns:p14="http://schemas.microsoft.com/office/powerpoint/2010/main" val="1353813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501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从互联网安全到物联网安全</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indent="360363">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是互联网的延伸，因此物联网的安全也是互联网安全的延伸，物联网和互联网的关系是密不可分的，相辅相成的。但是物联网和互联网在网络的组织形态、网络功能及性能上的要求都是不同的，物联网对实时性、安全可信性、资源保证等方面却有很高的要求。物联网的安全既构建在互联网的安全上，又因为其业务环境而具有自身的特点。总的来说，物联网安全和互联网安全的关系体现在以下几点：</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物联网安全不是全新的概念；</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物联网安全比互联网安全多了感知层；</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传统互联网的安全机制可以应用到物联网；</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物联网安全比互联网安全更复杂。</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物联网面临的新威胁</a:t>
            </a:r>
          </a:p>
        </p:txBody>
      </p:sp>
    </p:spTree>
    <p:extLst>
      <p:ext uri="{BB962C8B-B14F-4D97-AF65-F5344CB8AC3E}">
        <p14:creationId xmlns:p14="http://schemas.microsoft.com/office/powerpoint/2010/main" val="905971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64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传感器与传感网所面临的安全问题比传统的信息安全更为复杂，因为传感器与传感网可能会因为能量和存储、计算、通信等资源受限的问题而不能构建过于复杂的保护体系</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物联网除面临一般信息网络所具有的安全问题外，还面临物联网特有的安全脆弱性与安全威胁。</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物联网面临的新威胁</a:t>
            </a:r>
          </a:p>
        </p:txBody>
      </p:sp>
    </p:spTree>
    <p:extLst>
      <p:ext uri="{BB962C8B-B14F-4D97-AF65-F5344CB8AC3E}">
        <p14:creationId xmlns:p14="http://schemas.microsoft.com/office/powerpoint/2010/main" val="32589193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物联网在数据处理和通信环境中特有的安全威胁</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物联网面临的新威胁</a:t>
            </a:r>
          </a:p>
        </p:txBody>
      </p:sp>
      <p:sp>
        <p:nvSpPr>
          <p:cNvPr id="2" name="云形 1">
            <a:extLst>
              <a:ext uri="{FF2B5EF4-FFF2-40B4-BE49-F238E27FC236}">
                <a16:creationId xmlns:a16="http://schemas.microsoft.com/office/drawing/2014/main" id="{92FD39E0-BE62-3FCB-BF2D-0FB865211A60}"/>
              </a:ext>
            </a:extLst>
          </p:cNvPr>
          <p:cNvSpPr/>
          <p:nvPr/>
        </p:nvSpPr>
        <p:spPr>
          <a:xfrm>
            <a:off x="2699792" y="2721868"/>
            <a:ext cx="2808312" cy="74544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latin typeface="微软雅黑" panose="020B0503020204020204" pitchFamily="34" charset="-122"/>
                <a:ea typeface="微软雅黑" panose="020B0503020204020204" pitchFamily="34" charset="-122"/>
              </a:rPr>
              <a:t>物联网面临的新威胁</a:t>
            </a:r>
          </a:p>
        </p:txBody>
      </p:sp>
      <p:grpSp>
        <p:nvGrpSpPr>
          <p:cNvPr id="8" name="组合 7">
            <a:extLst>
              <a:ext uri="{FF2B5EF4-FFF2-40B4-BE49-F238E27FC236}">
                <a16:creationId xmlns:a16="http://schemas.microsoft.com/office/drawing/2014/main" id="{CD88F14C-2CEB-7F4E-0825-0D847BDC001C}"/>
              </a:ext>
            </a:extLst>
          </p:cNvPr>
          <p:cNvGrpSpPr/>
          <p:nvPr/>
        </p:nvGrpSpPr>
        <p:grpSpPr>
          <a:xfrm>
            <a:off x="1432080" y="1497340"/>
            <a:ext cx="1296144" cy="360040"/>
            <a:chOff x="3088804" y="1332812"/>
            <a:chExt cx="1296144" cy="360040"/>
          </a:xfrm>
        </p:grpSpPr>
        <p:sp>
          <p:nvSpPr>
            <p:cNvPr id="4" name="矩形: 圆角 3">
              <a:extLst>
                <a:ext uri="{FF2B5EF4-FFF2-40B4-BE49-F238E27FC236}">
                  <a16:creationId xmlns:a16="http://schemas.microsoft.com/office/drawing/2014/main" id="{57A3ED9F-0A49-576F-F697-A6C5F55B1BD1}"/>
                </a:ext>
              </a:extLst>
            </p:cNvPr>
            <p:cNvSpPr/>
            <p:nvPr/>
          </p:nvSpPr>
          <p:spPr>
            <a:xfrm>
              <a:off x="3088804" y="1332812"/>
              <a:ext cx="1296144"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节点攻击</a:t>
              </a:r>
            </a:p>
          </p:txBody>
        </p:sp>
        <p:pic>
          <p:nvPicPr>
            <p:cNvPr id="7" name="图片 6">
              <a:extLst>
                <a:ext uri="{FF2B5EF4-FFF2-40B4-BE49-F238E27FC236}">
                  <a16:creationId xmlns:a16="http://schemas.microsoft.com/office/drawing/2014/main" id="{EE91F864-5901-8DB7-852E-09412775E3E3}"/>
                </a:ext>
              </a:extLst>
            </p:cNvPr>
            <p:cNvPicPr>
              <a:picLocks noChangeAspect="1"/>
            </p:cNvPicPr>
            <p:nvPr/>
          </p:nvPicPr>
          <p:blipFill>
            <a:blip r:embed="rId3"/>
            <a:stretch>
              <a:fillRect/>
            </a:stretch>
          </p:blipFill>
          <p:spPr>
            <a:xfrm>
              <a:off x="3131840" y="1355250"/>
              <a:ext cx="226096" cy="315164"/>
            </a:xfrm>
            <a:prstGeom prst="rect">
              <a:avLst/>
            </a:prstGeom>
          </p:spPr>
        </p:pic>
      </p:grpSp>
      <p:grpSp>
        <p:nvGrpSpPr>
          <p:cNvPr id="14" name="组合 13">
            <a:extLst>
              <a:ext uri="{FF2B5EF4-FFF2-40B4-BE49-F238E27FC236}">
                <a16:creationId xmlns:a16="http://schemas.microsoft.com/office/drawing/2014/main" id="{481E288C-82DB-F828-754F-7616B979188C}"/>
              </a:ext>
            </a:extLst>
          </p:cNvPr>
          <p:cNvGrpSpPr/>
          <p:nvPr/>
        </p:nvGrpSpPr>
        <p:grpSpPr>
          <a:xfrm>
            <a:off x="911660" y="2139702"/>
            <a:ext cx="1296144" cy="360040"/>
            <a:chOff x="1559732" y="2638597"/>
            <a:chExt cx="1296144" cy="360040"/>
          </a:xfrm>
        </p:grpSpPr>
        <p:sp>
          <p:nvSpPr>
            <p:cNvPr id="10" name="矩形: 圆角 9">
              <a:extLst>
                <a:ext uri="{FF2B5EF4-FFF2-40B4-BE49-F238E27FC236}">
                  <a16:creationId xmlns:a16="http://schemas.microsoft.com/office/drawing/2014/main" id="{03CB9E58-4B50-4D93-D914-B867E572D8FD}"/>
                </a:ext>
              </a:extLst>
            </p:cNvPr>
            <p:cNvSpPr/>
            <p:nvPr/>
          </p:nvSpPr>
          <p:spPr>
            <a:xfrm>
              <a:off x="1559732" y="2638597"/>
              <a:ext cx="1296144"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传输威胁</a:t>
              </a:r>
            </a:p>
          </p:txBody>
        </p:sp>
        <p:pic>
          <p:nvPicPr>
            <p:cNvPr id="13" name="图片 12">
              <a:extLst>
                <a:ext uri="{FF2B5EF4-FFF2-40B4-BE49-F238E27FC236}">
                  <a16:creationId xmlns:a16="http://schemas.microsoft.com/office/drawing/2014/main" id="{ED65AF83-C45A-5C1D-2135-0BB7C1E95184}"/>
                </a:ext>
              </a:extLst>
            </p:cNvPr>
            <p:cNvPicPr>
              <a:picLocks noChangeAspect="1"/>
            </p:cNvPicPr>
            <p:nvPr/>
          </p:nvPicPr>
          <p:blipFill>
            <a:blip r:embed="rId4"/>
            <a:stretch>
              <a:fillRect/>
            </a:stretch>
          </p:blipFill>
          <p:spPr>
            <a:xfrm>
              <a:off x="1594253" y="2684765"/>
              <a:ext cx="254645" cy="267704"/>
            </a:xfrm>
            <a:prstGeom prst="rect">
              <a:avLst/>
            </a:prstGeom>
          </p:spPr>
        </p:pic>
      </p:grpSp>
      <p:grpSp>
        <p:nvGrpSpPr>
          <p:cNvPr id="21" name="组合 20">
            <a:extLst>
              <a:ext uri="{FF2B5EF4-FFF2-40B4-BE49-F238E27FC236}">
                <a16:creationId xmlns:a16="http://schemas.microsoft.com/office/drawing/2014/main" id="{D28AFB00-325E-A3E6-472F-3E6922A585D1}"/>
              </a:ext>
            </a:extLst>
          </p:cNvPr>
          <p:cNvGrpSpPr/>
          <p:nvPr/>
        </p:nvGrpSpPr>
        <p:grpSpPr>
          <a:xfrm>
            <a:off x="680320" y="2834416"/>
            <a:ext cx="1387052" cy="360040"/>
            <a:chOff x="1088716" y="3327871"/>
            <a:chExt cx="1387052" cy="360040"/>
          </a:xfrm>
        </p:grpSpPr>
        <p:sp>
          <p:nvSpPr>
            <p:cNvPr id="16" name="矩形: 圆角 15">
              <a:extLst>
                <a:ext uri="{FF2B5EF4-FFF2-40B4-BE49-F238E27FC236}">
                  <a16:creationId xmlns:a16="http://schemas.microsoft.com/office/drawing/2014/main" id="{D2216B67-880B-7C86-4137-3F4B966B7261}"/>
                </a:ext>
              </a:extLst>
            </p:cNvPr>
            <p:cNvSpPr/>
            <p:nvPr/>
          </p:nvSpPr>
          <p:spPr>
            <a:xfrm>
              <a:off x="1088716" y="3327871"/>
              <a:ext cx="1387052"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自私性威胁</a:t>
              </a:r>
            </a:p>
          </p:txBody>
        </p:sp>
        <p:pic>
          <p:nvPicPr>
            <p:cNvPr id="20" name="图片 19">
              <a:extLst>
                <a:ext uri="{FF2B5EF4-FFF2-40B4-BE49-F238E27FC236}">
                  <a16:creationId xmlns:a16="http://schemas.microsoft.com/office/drawing/2014/main" id="{70D2C5A6-6AC2-2AF7-816B-9F8F56459197}"/>
                </a:ext>
              </a:extLst>
            </p:cNvPr>
            <p:cNvPicPr>
              <a:picLocks noChangeAspect="1"/>
            </p:cNvPicPr>
            <p:nvPr/>
          </p:nvPicPr>
          <p:blipFill>
            <a:blip r:embed="rId5"/>
            <a:stretch>
              <a:fillRect/>
            </a:stretch>
          </p:blipFill>
          <p:spPr>
            <a:xfrm>
              <a:off x="1109133" y="3384052"/>
              <a:ext cx="257586" cy="244376"/>
            </a:xfrm>
            <a:prstGeom prst="rect">
              <a:avLst/>
            </a:prstGeom>
          </p:spPr>
        </p:pic>
      </p:grpSp>
      <p:grpSp>
        <p:nvGrpSpPr>
          <p:cNvPr id="27" name="组合 26">
            <a:extLst>
              <a:ext uri="{FF2B5EF4-FFF2-40B4-BE49-F238E27FC236}">
                <a16:creationId xmlns:a16="http://schemas.microsoft.com/office/drawing/2014/main" id="{CFB30FBD-9EB0-F74D-EF8D-E0B345FE9224}"/>
              </a:ext>
            </a:extLst>
          </p:cNvPr>
          <p:cNvGrpSpPr/>
          <p:nvPr/>
        </p:nvGrpSpPr>
        <p:grpSpPr>
          <a:xfrm>
            <a:off x="602110" y="3495208"/>
            <a:ext cx="1603076" cy="360040"/>
            <a:chOff x="1312740" y="3811657"/>
            <a:chExt cx="1603076" cy="360040"/>
          </a:xfrm>
        </p:grpSpPr>
        <p:sp>
          <p:nvSpPr>
            <p:cNvPr id="23" name="矩形: 圆角 22">
              <a:extLst>
                <a:ext uri="{FF2B5EF4-FFF2-40B4-BE49-F238E27FC236}">
                  <a16:creationId xmlns:a16="http://schemas.microsoft.com/office/drawing/2014/main" id="{BC53027C-FEDD-A23E-A3DD-522AB672DED5}"/>
                </a:ext>
              </a:extLst>
            </p:cNvPr>
            <p:cNvSpPr/>
            <p:nvPr/>
          </p:nvSpPr>
          <p:spPr>
            <a:xfrm>
              <a:off x="1312740" y="3811657"/>
              <a:ext cx="1603076"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拒绝服务攻击</a:t>
              </a:r>
            </a:p>
          </p:txBody>
        </p:sp>
        <p:pic>
          <p:nvPicPr>
            <p:cNvPr id="26" name="图片 25">
              <a:extLst>
                <a:ext uri="{FF2B5EF4-FFF2-40B4-BE49-F238E27FC236}">
                  <a16:creationId xmlns:a16="http://schemas.microsoft.com/office/drawing/2014/main" id="{AE781893-58D6-D8E5-F062-FEA8FBEEF257}"/>
                </a:ext>
              </a:extLst>
            </p:cNvPr>
            <p:cNvPicPr>
              <a:picLocks noChangeAspect="1"/>
            </p:cNvPicPr>
            <p:nvPr/>
          </p:nvPicPr>
          <p:blipFill>
            <a:blip r:embed="rId6"/>
            <a:stretch>
              <a:fillRect/>
            </a:stretch>
          </p:blipFill>
          <p:spPr>
            <a:xfrm>
              <a:off x="1359410" y="3854224"/>
              <a:ext cx="242178" cy="274905"/>
            </a:xfrm>
            <a:prstGeom prst="rect">
              <a:avLst/>
            </a:prstGeom>
          </p:spPr>
        </p:pic>
      </p:grpSp>
      <p:grpSp>
        <p:nvGrpSpPr>
          <p:cNvPr id="33" name="组合 32">
            <a:extLst>
              <a:ext uri="{FF2B5EF4-FFF2-40B4-BE49-F238E27FC236}">
                <a16:creationId xmlns:a16="http://schemas.microsoft.com/office/drawing/2014/main" id="{19FF05B3-7441-E899-BA10-3553E981FBDA}"/>
              </a:ext>
            </a:extLst>
          </p:cNvPr>
          <p:cNvGrpSpPr/>
          <p:nvPr/>
        </p:nvGrpSpPr>
        <p:grpSpPr>
          <a:xfrm>
            <a:off x="1340192" y="4133866"/>
            <a:ext cx="1423056" cy="360040"/>
            <a:chOff x="2500872" y="4174441"/>
            <a:chExt cx="1423056" cy="360040"/>
          </a:xfrm>
        </p:grpSpPr>
        <p:sp>
          <p:nvSpPr>
            <p:cNvPr id="29" name="矩形: 圆角 28">
              <a:extLst>
                <a:ext uri="{FF2B5EF4-FFF2-40B4-BE49-F238E27FC236}">
                  <a16:creationId xmlns:a16="http://schemas.microsoft.com/office/drawing/2014/main" id="{2973DD0A-03A1-9CCE-C9C5-F53770982D47}"/>
                </a:ext>
              </a:extLst>
            </p:cNvPr>
            <p:cNvSpPr/>
            <p:nvPr/>
          </p:nvSpPr>
          <p:spPr>
            <a:xfrm>
              <a:off x="2500872" y="4174441"/>
              <a:ext cx="1423056"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重放攻击</a:t>
              </a:r>
            </a:p>
          </p:txBody>
        </p:sp>
        <p:pic>
          <p:nvPicPr>
            <p:cNvPr id="32" name="图片 31">
              <a:extLst>
                <a:ext uri="{FF2B5EF4-FFF2-40B4-BE49-F238E27FC236}">
                  <a16:creationId xmlns:a16="http://schemas.microsoft.com/office/drawing/2014/main" id="{EE0C02E3-95A1-BB15-CE9A-200CE6626104}"/>
                </a:ext>
              </a:extLst>
            </p:cNvPr>
            <p:cNvPicPr>
              <a:picLocks noChangeAspect="1"/>
            </p:cNvPicPr>
            <p:nvPr/>
          </p:nvPicPr>
          <p:blipFill>
            <a:blip r:embed="rId7"/>
            <a:stretch>
              <a:fillRect/>
            </a:stretch>
          </p:blipFill>
          <p:spPr>
            <a:xfrm>
              <a:off x="2555776" y="4226368"/>
              <a:ext cx="226907" cy="256185"/>
            </a:xfrm>
            <a:prstGeom prst="rect">
              <a:avLst/>
            </a:prstGeom>
          </p:spPr>
        </p:pic>
      </p:grpSp>
      <p:grpSp>
        <p:nvGrpSpPr>
          <p:cNvPr id="39" name="组合 38">
            <a:extLst>
              <a:ext uri="{FF2B5EF4-FFF2-40B4-BE49-F238E27FC236}">
                <a16:creationId xmlns:a16="http://schemas.microsoft.com/office/drawing/2014/main" id="{D7758E27-C378-406C-B592-6F84F397CC7D}"/>
              </a:ext>
            </a:extLst>
          </p:cNvPr>
          <p:cNvGrpSpPr/>
          <p:nvPr/>
        </p:nvGrpSpPr>
        <p:grpSpPr>
          <a:xfrm>
            <a:off x="5676972" y="1824419"/>
            <a:ext cx="1584176" cy="360040"/>
            <a:chOff x="5652120" y="1239602"/>
            <a:chExt cx="1584176" cy="360040"/>
          </a:xfrm>
        </p:grpSpPr>
        <p:sp>
          <p:nvSpPr>
            <p:cNvPr id="35" name="矩形: 圆角 34">
              <a:extLst>
                <a:ext uri="{FF2B5EF4-FFF2-40B4-BE49-F238E27FC236}">
                  <a16:creationId xmlns:a16="http://schemas.microsoft.com/office/drawing/2014/main" id="{771A2261-0B83-0A62-D6A4-C7A2FB0C7468}"/>
                </a:ext>
              </a:extLst>
            </p:cNvPr>
            <p:cNvSpPr/>
            <p:nvPr/>
          </p:nvSpPr>
          <p:spPr>
            <a:xfrm>
              <a:off x="5652120" y="1239602"/>
              <a:ext cx="1584176"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隐私泄露威胁</a:t>
              </a:r>
            </a:p>
          </p:txBody>
        </p:sp>
        <p:pic>
          <p:nvPicPr>
            <p:cNvPr id="38" name="图片 37">
              <a:extLst>
                <a:ext uri="{FF2B5EF4-FFF2-40B4-BE49-F238E27FC236}">
                  <a16:creationId xmlns:a16="http://schemas.microsoft.com/office/drawing/2014/main" id="{F962561C-834F-BAC0-1781-69DB19538EC8}"/>
                </a:ext>
              </a:extLst>
            </p:cNvPr>
            <p:cNvPicPr>
              <a:picLocks noChangeAspect="1"/>
            </p:cNvPicPr>
            <p:nvPr/>
          </p:nvPicPr>
          <p:blipFill>
            <a:blip r:embed="rId8"/>
            <a:stretch>
              <a:fillRect/>
            </a:stretch>
          </p:blipFill>
          <p:spPr>
            <a:xfrm>
              <a:off x="5724128" y="1300892"/>
              <a:ext cx="230675" cy="237460"/>
            </a:xfrm>
            <a:prstGeom prst="rect">
              <a:avLst/>
            </a:prstGeom>
          </p:spPr>
        </p:pic>
      </p:grpSp>
      <p:grpSp>
        <p:nvGrpSpPr>
          <p:cNvPr id="45" name="组合 44">
            <a:extLst>
              <a:ext uri="{FF2B5EF4-FFF2-40B4-BE49-F238E27FC236}">
                <a16:creationId xmlns:a16="http://schemas.microsoft.com/office/drawing/2014/main" id="{9C1258EA-070E-AB9B-F658-7366A1E26076}"/>
              </a:ext>
            </a:extLst>
          </p:cNvPr>
          <p:cNvGrpSpPr/>
          <p:nvPr/>
        </p:nvGrpSpPr>
        <p:grpSpPr>
          <a:xfrm>
            <a:off x="5954803" y="2499742"/>
            <a:ext cx="1943016" cy="360040"/>
            <a:chOff x="5827170" y="2890597"/>
            <a:chExt cx="1943016" cy="360040"/>
          </a:xfrm>
        </p:grpSpPr>
        <p:sp>
          <p:nvSpPr>
            <p:cNvPr id="41" name="矩形: 圆角 40">
              <a:extLst>
                <a:ext uri="{FF2B5EF4-FFF2-40B4-BE49-F238E27FC236}">
                  <a16:creationId xmlns:a16="http://schemas.microsoft.com/office/drawing/2014/main" id="{2C6A44C2-89C8-6BEE-4137-CD41E70913D8}"/>
                </a:ext>
              </a:extLst>
            </p:cNvPr>
            <p:cNvSpPr/>
            <p:nvPr/>
          </p:nvSpPr>
          <p:spPr>
            <a:xfrm>
              <a:off x="5827170" y="2890597"/>
              <a:ext cx="1943016"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业务关联认证风险</a:t>
              </a:r>
            </a:p>
          </p:txBody>
        </p:sp>
        <p:pic>
          <p:nvPicPr>
            <p:cNvPr id="44" name="图片 43">
              <a:extLst>
                <a:ext uri="{FF2B5EF4-FFF2-40B4-BE49-F238E27FC236}">
                  <a16:creationId xmlns:a16="http://schemas.microsoft.com/office/drawing/2014/main" id="{DB71EB7B-64D9-4B93-58EE-D61D2565FB83}"/>
                </a:ext>
              </a:extLst>
            </p:cNvPr>
            <p:cNvPicPr>
              <a:picLocks noChangeAspect="1"/>
            </p:cNvPicPr>
            <p:nvPr/>
          </p:nvPicPr>
          <p:blipFill>
            <a:blip r:embed="rId9"/>
            <a:stretch>
              <a:fillRect/>
            </a:stretch>
          </p:blipFill>
          <p:spPr>
            <a:xfrm>
              <a:off x="5893409" y="2941004"/>
              <a:ext cx="247115" cy="262560"/>
            </a:xfrm>
            <a:prstGeom prst="rect">
              <a:avLst/>
            </a:prstGeom>
          </p:spPr>
        </p:pic>
      </p:grpSp>
      <p:grpSp>
        <p:nvGrpSpPr>
          <p:cNvPr id="51" name="组合 50">
            <a:extLst>
              <a:ext uri="{FF2B5EF4-FFF2-40B4-BE49-F238E27FC236}">
                <a16:creationId xmlns:a16="http://schemas.microsoft.com/office/drawing/2014/main" id="{2CCF182C-A844-1382-8917-B91B5D4CEAFC}"/>
              </a:ext>
            </a:extLst>
          </p:cNvPr>
          <p:cNvGrpSpPr/>
          <p:nvPr/>
        </p:nvGrpSpPr>
        <p:grpSpPr>
          <a:xfrm>
            <a:off x="5954803" y="3184940"/>
            <a:ext cx="1943016" cy="360040"/>
            <a:chOff x="6280857" y="3579862"/>
            <a:chExt cx="1943016" cy="360040"/>
          </a:xfrm>
        </p:grpSpPr>
        <p:sp>
          <p:nvSpPr>
            <p:cNvPr id="47" name="矩形: 圆角 46">
              <a:extLst>
                <a:ext uri="{FF2B5EF4-FFF2-40B4-BE49-F238E27FC236}">
                  <a16:creationId xmlns:a16="http://schemas.microsoft.com/office/drawing/2014/main" id="{A7751CDA-5D43-FA25-54DE-ABF394F7A8DA}"/>
                </a:ext>
              </a:extLst>
            </p:cNvPr>
            <p:cNvSpPr/>
            <p:nvPr/>
          </p:nvSpPr>
          <p:spPr>
            <a:xfrm>
              <a:off x="6280857" y="3579862"/>
              <a:ext cx="1943016"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权限提升攻击</a:t>
              </a:r>
            </a:p>
          </p:txBody>
        </p:sp>
        <p:pic>
          <p:nvPicPr>
            <p:cNvPr id="50" name="图片 49">
              <a:extLst>
                <a:ext uri="{FF2B5EF4-FFF2-40B4-BE49-F238E27FC236}">
                  <a16:creationId xmlns:a16="http://schemas.microsoft.com/office/drawing/2014/main" id="{AFA3225B-000F-279B-5C6D-B3ACBCC04F1E}"/>
                </a:ext>
              </a:extLst>
            </p:cNvPr>
            <p:cNvPicPr>
              <a:picLocks noChangeAspect="1"/>
            </p:cNvPicPr>
            <p:nvPr/>
          </p:nvPicPr>
          <p:blipFill>
            <a:blip r:embed="rId10"/>
            <a:stretch>
              <a:fillRect/>
            </a:stretch>
          </p:blipFill>
          <p:spPr>
            <a:xfrm>
              <a:off x="6321334" y="3636467"/>
              <a:ext cx="245747" cy="267431"/>
            </a:xfrm>
            <a:prstGeom prst="rect">
              <a:avLst/>
            </a:prstGeom>
          </p:spPr>
        </p:pic>
      </p:grpSp>
      <p:grpSp>
        <p:nvGrpSpPr>
          <p:cNvPr id="57" name="组合 56">
            <a:extLst>
              <a:ext uri="{FF2B5EF4-FFF2-40B4-BE49-F238E27FC236}">
                <a16:creationId xmlns:a16="http://schemas.microsoft.com/office/drawing/2014/main" id="{B9F98EA6-F296-9E4A-CCD8-C798F5F44826}"/>
              </a:ext>
            </a:extLst>
          </p:cNvPr>
          <p:cNvGrpSpPr/>
          <p:nvPr/>
        </p:nvGrpSpPr>
        <p:grpSpPr>
          <a:xfrm>
            <a:off x="5675822" y="3835543"/>
            <a:ext cx="2105537" cy="360040"/>
            <a:chOff x="6117286" y="4367940"/>
            <a:chExt cx="2105537" cy="360040"/>
          </a:xfrm>
        </p:grpSpPr>
        <p:sp>
          <p:nvSpPr>
            <p:cNvPr id="53" name="矩形: 圆角 52">
              <a:extLst>
                <a:ext uri="{FF2B5EF4-FFF2-40B4-BE49-F238E27FC236}">
                  <a16:creationId xmlns:a16="http://schemas.microsoft.com/office/drawing/2014/main" id="{D6DE33C1-6F1D-8323-2398-59CBDC7274A6}"/>
                </a:ext>
              </a:extLst>
            </p:cNvPr>
            <p:cNvSpPr/>
            <p:nvPr/>
          </p:nvSpPr>
          <p:spPr>
            <a:xfrm>
              <a:off x="6117286" y="4367940"/>
              <a:ext cx="2105537" cy="360040"/>
            </a:xfrm>
            <a:prstGeom prst="roundRect">
              <a:avLst/>
            </a:prstGeom>
            <a:solidFill>
              <a:srgbClr val="FEF4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latin typeface="微软雅黑" panose="020B0503020204020204" pitchFamily="34" charset="-122"/>
                  <a:ea typeface="微软雅黑" panose="020B0503020204020204" pitchFamily="34" charset="-122"/>
                </a:rPr>
                <a:t>     篡改或泄露标识数据</a:t>
              </a:r>
            </a:p>
          </p:txBody>
        </p:sp>
        <p:pic>
          <p:nvPicPr>
            <p:cNvPr id="56" name="图片 55">
              <a:extLst>
                <a:ext uri="{FF2B5EF4-FFF2-40B4-BE49-F238E27FC236}">
                  <a16:creationId xmlns:a16="http://schemas.microsoft.com/office/drawing/2014/main" id="{AA87E530-1AD9-FDF1-AC22-CA81EC0E49CD}"/>
                </a:ext>
              </a:extLst>
            </p:cNvPr>
            <p:cNvPicPr>
              <a:picLocks noChangeAspect="1"/>
            </p:cNvPicPr>
            <p:nvPr/>
          </p:nvPicPr>
          <p:blipFill>
            <a:blip r:embed="rId11"/>
            <a:stretch>
              <a:fillRect/>
            </a:stretch>
          </p:blipFill>
          <p:spPr>
            <a:xfrm>
              <a:off x="6227505" y="4413183"/>
              <a:ext cx="199243" cy="306527"/>
            </a:xfrm>
            <a:prstGeom prst="rect">
              <a:avLst/>
            </a:prstGeom>
          </p:spPr>
        </p:pic>
      </p:grpSp>
      <p:cxnSp>
        <p:nvCxnSpPr>
          <p:cNvPr id="61" name="连接符: 曲线 60">
            <a:extLst>
              <a:ext uri="{FF2B5EF4-FFF2-40B4-BE49-F238E27FC236}">
                <a16:creationId xmlns:a16="http://schemas.microsoft.com/office/drawing/2014/main" id="{57705426-A6AE-B279-7859-24D0CA554777}"/>
              </a:ext>
            </a:extLst>
          </p:cNvPr>
          <p:cNvCxnSpPr>
            <a:stCxn id="4" idx="3"/>
            <a:endCxn id="2" idx="3"/>
          </p:cNvCxnSpPr>
          <p:nvPr/>
        </p:nvCxnSpPr>
        <p:spPr>
          <a:xfrm>
            <a:off x="2728224" y="1677360"/>
            <a:ext cx="1375724" cy="1087130"/>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63" name="连接符: 曲线 62">
            <a:extLst>
              <a:ext uri="{FF2B5EF4-FFF2-40B4-BE49-F238E27FC236}">
                <a16:creationId xmlns:a16="http://schemas.microsoft.com/office/drawing/2014/main" id="{541E01FD-7531-49D0-8C4B-F642BA5D0472}"/>
              </a:ext>
            </a:extLst>
          </p:cNvPr>
          <p:cNvCxnSpPr>
            <a:cxnSpLocks/>
            <a:stCxn id="10" idx="3"/>
            <a:endCxn id="2" idx="3"/>
          </p:cNvCxnSpPr>
          <p:nvPr/>
        </p:nvCxnSpPr>
        <p:spPr>
          <a:xfrm>
            <a:off x="2207804" y="2319722"/>
            <a:ext cx="1896144" cy="44476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71" name="连接符: 曲线 70">
            <a:extLst>
              <a:ext uri="{FF2B5EF4-FFF2-40B4-BE49-F238E27FC236}">
                <a16:creationId xmlns:a16="http://schemas.microsoft.com/office/drawing/2014/main" id="{75704728-2E19-C8F6-A58F-F22C394B4A12}"/>
              </a:ext>
            </a:extLst>
          </p:cNvPr>
          <p:cNvCxnSpPr>
            <a:stCxn id="35" idx="1"/>
            <a:endCxn id="2" idx="3"/>
          </p:cNvCxnSpPr>
          <p:nvPr/>
        </p:nvCxnSpPr>
        <p:spPr>
          <a:xfrm rot="10800000" flipV="1">
            <a:off x="4103948" y="2004438"/>
            <a:ext cx="1573024" cy="760051"/>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73" name="连接符: 曲线 72">
            <a:extLst>
              <a:ext uri="{FF2B5EF4-FFF2-40B4-BE49-F238E27FC236}">
                <a16:creationId xmlns:a16="http://schemas.microsoft.com/office/drawing/2014/main" id="{D5EBB49D-85B4-577C-203C-EFC2E9F8A9F2}"/>
              </a:ext>
            </a:extLst>
          </p:cNvPr>
          <p:cNvCxnSpPr>
            <a:stCxn id="53" idx="1"/>
            <a:endCxn id="2" idx="1"/>
          </p:cNvCxnSpPr>
          <p:nvPr/>
        </p:nvCxnSpPr>
        <p:spPr>
          <a:xfrm rot="10800000">
            <a:off x="4103948" y="3466521"/>
            <a:ext cx="1571874" cy="54904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75" name="连接符: 曲线 74">
            <a:extLst>
              <a:ext uri="{FF2B5EF4-FFF2-40B4-BE49-F238E27FC236}">
                <a16:creationId xmlns:a16="http://schemas.microsoft.com/office/drawing/2014/main" id="{37280AC3-2842-69D4-0022-887702596166}"/>
              </a:ext>
            </a:extLst>
          </p:cNvPr>
          <p:cNvCxnSpPr>
            <a:stCxn id="29" idx="3"/>
            <a:endCxn id="2" idx="1"/>
          </p:cNvCxnSpPr>
          <p:nvPr/>
        </p:nvCxnSpPr>
        <p:spPr>
          <a:xfrm flipV="1">
            <a:off x="2763248" y="3466520"/>
            <a:ext cx="1340700" cy="847366"/>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77" name="连接符: 曲线 76">
            <a:extLst>
              <a:ext uri="{FF2B5EF4-FFF2-40B4-BE49-F238E27FC236}">
                <a16:creationId xmlns:a16="http://schemas.microsoft.com/office/drawing/2014/main" id="{7DF79BCB-5954-8C8A-B469-9FC8EA4A7413}"/>
              </a:ext>
            </a:extLst>
          </p:cNvPr>
          <p:cNvCxnSpPr>
            <a:stCxn id="23" idx="3"/>
            <a:endCxn id="2" idx="1"/>
          </p:cNvCxnSpPr>
          <p:nvPr/>
        </p:nvCxnSpPr>
        <p:spPr>
          <a:xfrm flipV="1">
            <a:off x="2205186" y="3466520"/>
            <a:ext cx="1898762" cy="2087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79" name="连接符: 曲线 78">
            <a:extLst>
              <a:ext uri="{FF2B5EF4-FFF2-40B4-BE49-F238E27FC236}">
                <a16:creationId xmlns:a16="http://schemas.microsoft.com/office/drawing/2014/main" id="{0DA0EF06-1E53-B00E-EDDC-59957FB16997}"/>
              </a:ext>
            </a:extLst>
          </p:cNvPr>
          <p:cNvCxnSpPr>
            <a:stCxn id="47" idx="1"/>
            <a:endCxn id="2" idx="0"/>
          </p:cNvCxnSpPr>
          <p:nvPr/>
        </p:nvCxnSpPr>
        <p:spPr>
          <a:xfrm rot="10800000">
            <a:off x="5505765" y="3094592"/>
            <a:ext cx="449039" cy="270369"/>
          </a:xfrm>
          <a:prstGeom prst="curvedConnector3">
            <a:avLst/>
          </a:prstGeom>
        </p:spPr>
        <p:style>
          <a:lnRef idx="1">
            <a:schemeClr val="accent1"/>
          </a:lnRef>
          <a:fillRef idx="0">
            <a:schemeClr val="accent1"/>
          </a:fillRef>
          <a:effectRef idx="0">
            <a:schemeClr val="accent1"/>
          </a:effectRef>
          <a:fontRef idx="minor">
            <a:schemeClr val="tx1"/>
          </a:fontRef>
        </p:style>
      </p:cxnSp>
      <p:cxnSp>
        <p:nvCxnSpPr>
          <p:cNvPr id="81" name="连接符: 曲线 80">
            <a:extLst>
              <a:ext uri="{FF2B5EF4-FFF2-40B4-BE49-F238E27FC236}">
                <a16:creationId xmlns:a16="http://schemas.microsoft.com/office/drawing/2014/main" id="{BFE32B37-5FF8-3300-742A-B91E9B730ACA}"/>
              </a:ext>
            </a:extLst>
          </p:cNvPr>
          <p:cNvCxnSpPr>
            <a:stCxn id="41" idx="1"/>
            <a:endCxn id="2" idx="0"/>
          </p:cNvCxnSpPr>
          <p:nvPr/>
        </p:nvCxnSpPr>
        <p:spPr>
          <a:xfrm rot="10800000" flipV="1">
            <a:off x="5505765" y="2679761"/>
            <a:ext cx="449039" cy="414829"/>
          </a:xfrm>
          <a:prstGeom prst="curvedConnector3">
            <a:avLst/>
          </a:prstGeom>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51C3129-0ADC-F76F-A2A6-78A96C4E5FDD}"/>
              </a:ext>
            </a:extLst>
          </p:cNvPr>
          <p:cNvCxnSpPr>
            <a:stCxn id="16" idx="3"/>
            <a:endCxn id="2" idx="2"/>
          </p:cNvCxnSpPr>
          <p:nvPr/>
        </p:nvCxnSpPr>
        <p:spPr>
          <a:xfrm>
            <a:off x="2067372" y="3014436"/>
            <a:ext cx="641131" cy="801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4108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wipe(down)">
                                      <p:cBhvr>
                                        <p:cTn id="13" dur="500"/>
                                        <p:tgtEl>
                                          <p:spTgt spid="61"/>
                                        </p:tgtEl>
                                      </p:cBhvr>
                                    </p:animEffect>
                                  </p:childTnLst>
                                </p:cTn>
                              </p:par>
                            </p:childTnLst>
                          </p:cTn>
                        </p:par>
                        <p:par>
                          <p:cTn id="14" fill="hold">
                            <p:stCondLst>
                              <p:cond delay="500"/>
                            </p:stCondLst>
                            <p:childTnLst>
                              <p:par>
                                <p:cTn id="15" presetID="16" presetClass="entr" presetSubtype="2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wipe(down)">
                                      <p:cBhvr>
                                        <p:cTn id="22" dur="500"/>
                                        <p:tgtEl>
                                          <p:spTgt spid="63"/>
                                        </p:tgtEl>
                                      </p:cBhvr>
                                    </p:animEffect>
                                  </p:childTnLst>
                                </p:cTn>
                              </p:par>
                            </p:childTnLst>
                          </p:cTn>
                        </p:par>
                        <p:par>
                          <p:cTn id="23" fill="hold">
                            <p:stCondLst>
                              <p:cond delay="500"/>
                            </p:stCondLst>
                            <p:childTnLst>
                              <p:par>
                                <p:cTn id="24" presetID="16" presetClass="entr" presetSubtype="21"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wipe(down)">
                                      <p:cBhvr>
                                        <p:cTn id="31" dur="500"/>
                                        <p:tgtEl>
                                          <p:spTgt spid="83"/>
                                        </p:tgtEl>
                                      </p:cBhvr>
                                    </p:animEffect>
                                  </p:childTnLst>
                                </p:cTn>
                              </p:par>
                            </p:childTnLst>
                          </p:cTn>
                        </p:par>
                        <p:par>
                          <p:cTn id="32" fill="hold">
                            <p:stCondLst>
                              <p:cond delay="500"/>
                            </p:stCondLst>
                            <p:childTnLst>
                              <p:par>
                                <p:cTn id="33" presetID="16" presetClass="entr" presetSubtype="21"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arn(inVertical)">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wipe(up)">
                                      <p:cBhvr>
                                        <p:cTn id="40" dur="500"/>
                                        <p:tgtEl>
                                          <p:spTgt spid="77"/>
                                        </p:tgtEl>
                                      </p:cBhvr>
                                    </p:animEffect>
                                  </p:childTnLst>
                                </p:cTn>
                              </p:par>
                            </p:childTnLst>
                          </p:cTn>
                        </p:par>
                        <p:par>
                          <p:cTn id="41" fill="hold">
                            <p:stCondLst>
                              <p:cond delay="500"/>
                            </p:stCondLst>
                            <p:childTnLst>
                              <p:par>
                                <p:cTn id="42" presetID="16" presetClass="entr" presetSubtype="21"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barn(inVertical)">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wipe(up)">
                                      <p:cBhvr>
                                        <p:cTn id="49" dur="500"/>
                                        <p:tgtEl>
                                          <p:spTgt spid="75"/>
                                        </p:tgtEl>
                                      </p:cBhvr>
                                    </p:animEffect>
                                  </p:childTnLst>
                                </p:cTn>
                              </p:par>
                            </p:childTnLst>
                          </p:cTn>
                        </p:par>
                        <p:par>
                          <p:cTn id="50" fill="hold">
                            <p:stCondLst>
                              <p:cond delay="500"/>
                            </p:stCondLst>
                            <p:childTnLst>
                              <p:par>
                                <p:cTn id="51" presetID="16" presetClass="entr" presetSubtype="21" fill="hold"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barn(inVertical)">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wipe(down)">
                                      <p:cBhvr>
                                        <p:cTn id="58" dur="500"/>
                                        <p:tgtEl>
                                          <p:spTgt spid="71"/>
                                        </p:tgtEl>
                                      </p:cBhvr>
                                    </p:animEffect>
                                  </p:childTnLst>
                                </p:cTn>
                              </p:par>
                            </p:childTnLst>
                          </p:cTn>
                        </p:par>
                        <p:par>
                          <p:cTn id="59" fill="hold">
                            <p:stCondLst>
                              <p:cond delay="500"/>
                            </p:stCondLst>
                            <p:childTnLst>
                              <p:par>
                                <p:cTn id="60" presetID="16" presetClass="entr" presetSubtype="21" fill="hold" nodeType="after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arn(inVertical)">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81"/>
                                        </p:tgtEl>
                                        <p:attrNameLst>
                                          <p:attrName>style.visibility</p:attrName>
                                        </p:attrNameLst>
                                      </p:cBhvr>
                                      <p:to>
                                        <p:strVal val="visible"/>
                                      </p:to>
                                    </p:set>
                                    <p:animEffect transition="in" filter="wipe(down)">
                                      <p:cBhvr>
                                        <p:cTn id="67" dur="500"/>
                                        <p:tgtEl>
                                          <p:spTgt spid="81"/>
                                        </p:tgtEl>
                                      </p:cBhvr>
                                    </p:animEffect>
                                  </p:childTnLst>
                                </p:cTn>
                              </p:par>
                            </p:childTnLst>
                          </p:cTn>
                        </p:par>
                        <p:par>
                          <p:cTn id="68" fill="hold">
                            <p:stCondLst>
                              <p:cond delay="500"/>
                            </p:stCondLst>
                            <p:childTnLst>
                              <p:par>
                                <p:cTn id="69" presetID="16" presetClass="entr" presetSubtype="21" fill="hold" nodeType="after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barn(inVertical)">
                                      <p:cBhvr>
                                        <p:cTn id="71" dur="500"/>
                                        <p:tgtEl>
                                          <p:spTgt spid="4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79"/>
                                        </p:tgtEl>
                                        <p:attrNameLst>
                                          <p:attrName>style.visibility</p:attrName>
                                        </p:attrNameLst>
                                      </p:cBhvr>
                                      <p:to>
                                        <p:strVal val="visible"/>
                                      </p:to>
                                    </p:set>
                                    <p:animEffect transition="in" filter="wipe(up)">
                                      <p:cBhvr>
                                        <p:cTn id="76" dur="500"/>
                                        <p:tgtEl>
                                          <p:spTgt spid="79"/>
                                        </p:tgtEl>
                                      </p:cBhvr>
                                    </p:animEffect>
                                  </p:childTnLst>
                                </p:cTn>
                              </p:par>
                            </p:childTnLst>
                          </p:cTn>
                        </p:par>
                        <p:par>
                          <p:cTn id="77" fill="hold">
                            <p:stCondLst>
                              <p:cond delay="500"/>
                            </p:stCondLst>
                            <p:childTnLst>
                              <p:par>
                                <p:cTn id="78" presetID="16" presetClass="entr" presetSubtype="21" fill="hold" nodeType="afterEffect">
                                  <p:stCondLst>
                                    <p:cond delay="0"/>
                                  </p:stCondLst>
                                  <p:childTnLst>
                                    <p:set>
                                      <p:cBhvr>
                                        <p:cTn id="79" dur="1" fill="hold">
                                          <p:stCondLst>
                                            <p:cond delay="0"/>
                                          </p:stCondLst>
                                        </p:cTn>
                                        <p:tgtEl>
                                          <p:spTgt spid="51"/>
                                        </p:tgtEl>
                                        <p:attrNameLst>
                                          <p:attrName>style.visibility</p:attrName>
                                        </p:attrNameLst>
                                      </p:cBhvr>
                                      <p:to>
                                        <p:strVal val="visible"/>
                                      </p:to>
                                    </p:set>
                                    <p:animEffect transition="in" filter="barn(inVertical)">
                                      <p:cBhvr>
                                        <p:cTn id="80" dur="500"/>
                                        <p:tgtEl>
                                          <p:spTgt spid="5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73"/>
                                        </p:tgtEl>
                                        <p:attrNameLst>
                                          <p:attrName>style.visibility</p:attrName>
                                        </p:attrNameLst>
                                      </p:cBhvr>
                                      <p:to>
                                        <p:strVal val="visible"/>
                                      </p:to>
                                    </p:set>
                                    <p:animEffect transition="in" filter="wipe(up)">
                                      <p:cBhvr>
                                        <p:cTn id="85" dur="500"/>
                                        <p:tgtEl>
                                          <p:spTgt spid="73"/>
                                        </p:tgtEl>
                                      </p:cBhvr>
                                    </p:animEffect>
                                  </p:childTnLst>
                                </p:cTn>
                              </p:par>
                            </p:childTnLst>
                          </p:cTn>
                        </p:par>
                        <p:par>
                          <p:cTn id="86" fill="hold">
                            <p:stCondLst>
                              <p:cond delay="500"/>
                            </p:stCondLst>
                            <p:childTnLst>
                              <p:par>
                                <p:cTn id="87" presetID="16" presetClass="entr" presetSubtype="21" fill="hold" nodeType="afterEffect">
                                  <p:stCondLst>
                                    <p:cond delay="0"/>
                                  </p:stCondLst>
                                  <p:childTnLst>
                                    <p:set>
                                      <p:cBhvr>
                                        <p:cTn id="88" dur="1" fill="hold">
                                          <p:stCondLst>
                                            <p:cond delay="0"/>
                                          </p:stCondLst>
                                        </p:cTn>
                                        <p:tgtEl>
                                          <p:spTgt spid="57"/>
                                        </p:tgtEl>
                                        <p:attrNameLst>
                                          <p:attrName>style.visibility</p:attrName>
                                        </p:attrNameLst>
                                      </p:cBhvr>
                                      <p:to>
                                        <p:strVal val="visible"/>
                                      </p:to>
                                    </p:set>
                                    <p:animEffect transition="in" filter="barn(inVertical)">
                                      <p:cBhvr>
                                        <p:cTn id="8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618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从威胁的利益主体而言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，物联网的信息安全主要涉及两个方面：</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一是国家和企业机密（主要表现为业务过程的机密性）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二是个人隐私</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对国家和企业而言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，包含了敏感信息的数据资源若处理不当，很容易在数据交互共享的过程中遭受攻击而导致机密泄露、财物损失或正常的生产秩序被打乱，构成严重的安全威胁</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对个人而言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，数据信息往往涉及到个人行为、兴趣等隐私问题，严重时可能危及人的生命安全。</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物联网面临的新威胁</a:t>
            </a:r>
          </a:p>
        </p:txBody>
      </p:sp>
    </p:spTree>
    <p:extLst>
      <p:ext uri="{BB962C8B-B14F-4D97-AF65-F5344CB8AC3E}">
        <p14:creationId xmlns:p14="http://schemas.microsoft.com/office/powerpoint/2010/main" val="12512214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22758"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物联网安全概念</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3887551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144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物联网安全的基本内涵</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问题重点表现在如果物联网出现了被攻击、数据被篡改等，安全和隐私将面临巨大威胁，致使其出现与所期望的功能不一致的情况，或者不再发挥应有的功能，那么依赖于物联网的控制结果将会出现灾难性的问题</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物联网安全概念</a:t>
            </a:r>
          </a:p>
        </p:txBody>
      </p:sp>
    </p:spTree>
    <p:extLst>
      <p:ext uri="{BB962C8B-B14F-4D97-AF65-F5344CB8AC3E}">
        <p14:creationId xmlns:p14="http://schemas.microsoft.com/office/powerpoint/2010/main" val="10351301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2965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物联网主要由</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传感器、传输系统（泛在网）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以及</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处理系统</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３个要素构成，因此，物联网的安全形态也体现在这３个要素上。</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物联网面临的新威胁</a:t>
            </a:r>
          </a:p>
        </p:txBody>
      </p:sp>
      <p:sp>
        <p:nvSpPr>
          <p:cNvPr id="4" name="文本框 3">
            <a:extLst>
              <a:ext uri="{FF2B5EF4-FFF2-40B4-BE49-F238E27FC236}">
                <a16:creationId xmlns:a16="http://schemas.microsoft.com/office/drawing/2014/main" id="{49A37BF5-92D2-EA23-D369-E806B7567FB7}"/>
              </a:ext>
            </a:extLst>
          </p:cNvPr>
          <p:cNvSpPr txBox="1"/>
          <p:nvPr/>
        </p:nvSpPr>
        <p:spPr>
          <a:xfrm>
            <a:off x="605046" y="1635646"/>
            <a:ext cx="8496944"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第一是物理安全</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，主要是传感器的安全，包括对传感器的干扰、屏蔽、信号截获等，是物联网安全特殊性的体现</a:t>
            </a:r>
          </a:p>
        </p:txBody>
      </p:sp>
      <p:sp>
        <p:nvSpPr>
          <p:cNvPr id="6" name="文本框 5">
            <a:extLst>
              <a:ext uri="{FF2B5EF4-FFF2-40B4-BE49-F238E27FC236}">
                <a16:creationId xmlns:a16="http://schemas.microsoft.com/office/drawing/2014/main" id="{66DE793A-C011-4463-12EF-4BBEF258D25B}"/>
              </a:ext>
            </a:extLst>
          </p:cNvPr>
          <p:cNvSpPr txBox="1"/>
          <p:nvPr/>
        </p:nvSpPr>
        <p:spPr>
          <a:xfrm>
            <a:off x="605046" y="2422464"/>
            <a:ext cx="8424936"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第二是运行安全</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，存在于各个要素中，涉及到传感器、信息传输系统及信息处理系统的正常运行，与传统信息系统安全基本相同</a:t>
            </a:r>
          </a:p>
        </p:txBody>
      </p:sp>
      <p:sp>
        <p:nvSpPr>
          <p:cNvPr id="8" name="文本框 7">
            <a:extLst>
              <a:ext uri="{FF2B5EF4-FFF2-40B4-BE49-F238E27FC236}">
                <a16:creationId xmlns:a16="http://schemas.microsoft.com/office/drawing/2014/main" id="{A8663937-5407-20D1-739C-DD3860724E94}"/>
              </a:ext>
            </a:extLst>
          </p:cNvPr>
          <p:cNvSpPr txBox="1"/>
          <p:nvPr/>
        </p:nvSpPr>
        <p:spPr>
          <a:xfrm>
            <a:off x="629741" y="3269071"/>
            <a:ext cx="8352928"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第三是数据安全</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，也是存在于各个要素中，要求在传感器、信息传输系统、信息处理系统中的信息不会出现被窃取、被篡改、被伪造和抵赖等性质</a:t>
            </a:r>
          </a:p>
        </p:txBody>
      </p:sp>
    </p:spTree>
    <p:extLst>
      <p:ext uri="{BB962C8B-B14F-4D97-AF65-F5344CB8AC3E}">
        <p14:creationId xmlns:p14="http://schemas.microsoft.com/office/powerpoint/2010/main" val="410070196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7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物联网的发展需要全面考虑安全因素，设计并建立相对完善的安全机制，在考虑物联网的各种安全要素时，保护强度和特定业务需求之间需要折中</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设计原则：</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在满足业务功能需求基础上尽可能地确保信息安全，保护用户隐私，定制适度的安全策略。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物联网安全概念</a:t>
            </a:r>
          </a:p>
        </p:txBody>
      </p:sp>
    </p:spTree>
    <p:extLst>
      <p:ext uri="{BB962C8B-B14F-4D97-AF65-F5344CB8AC3E}">
        <p14:creationId xmlns:p14="http://schemas.microsoft.com/office/powerpoint/2010/main" val="29310112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信息安全的实质</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就是保护系统或网络中的信息资源免受各种类型的威胁、干扰、破坏、非法利用或恶意泄露，即保证信息的安全性</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信息安全性</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是指信息安全的基本属性，主要包括信息的机密性、完整性、真实性、可用性、可控性、新鲜性、可认证性和不可否认性</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Tree>
    <p:extLst>
      <p:ext uri="{BB962C8B-B14F-4D97-AF65-F5344CB8AC3E}">
        <p14:creationId xmlns:p14="http://schemas.microsoft.com/office/powerpoint/2010/main" val="37957072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773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机密性  </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是指信息不泄露给非授权的个人和实体或供其使用的特性。只有得到授权或许可，才能得到其权限对应的信息。通常，机密性是信息安全的基本要求，主要包括如下内容：</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
        <p:nvSpPr>
          <p:cNvPr id="4" name="文本框 3">
            <a:extLst>
              <a:ext uri="{FF2B5EF4-FFF2-40B4-BE49-F238E27FC236}">
                <a16:creationId xmlns:a16="http://schemas.microsoft.com/office/drawing/2014/main" id="{AE98C2B7-77B5-AE6F-150E-8C344DACA125}"/>
              </a:ext>
            </a:extLst>
          </p:cNvPr>
          <p:cNvSpPr txBox="1"/>
          <p:nvPr/>
        </p:nvSpPr>
        <p:spPr>
          <a:xfrm>
            <a:off x="611560" y="1995686"/>
            <a:ext cx="8064896" cy="923330"/>
          </a:xfrm>
          <a:prstGeom prst="rect">
            <a:avLst/>
          </a:prstGeom>
          <a:noFill/>
        </p:spPr>
        <p:txBody>
          <a:bodyPr wrap="square">
            <a:spAutoFit/>
          </a:bodyPr>
          <a:lstStyle/>
          <a:p>
            <a:pPr marL="342900" indent="-342900">
              <a:spcBef>
                <a:spcPts val="300"/>
              </a:spcBef>
              <a:spcAft>
                <a:spcPts val="300"/>
              </a:spcAft>
              <a:buFont typeface="+mj-ea"/>
              <a:buAutoNum type="circleNumDbPlai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对传输的信息进行加密保护</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，防止敌人译读信息并可靠检测出对传输系统的主动攻击和被动攻击。对不同密级的信息实施相应的保密强度和完善及合理的密钥管理。</a:t>
            </a:r>
          </a:p>
        </p:txBody>
      </p:sp>
      <p:sp>
        <p:nvSpPr>
          <p:cNvPr id="6" name="文本框 5">
            <a:extLst>
              <a:ext uri="{FF2B5EF4-FFF2-40B4-BE49-F238E27FC236}">
                <a16:creationId xmlns:a16="http://schemas.microsoft.com/office/drawing/2014/main" id="{61CFAC5C-D432-4128-6CEE-DC3FE20AAECE}"/>
              </a:ext>
            </a:extLst>
          </p:cNvPr>
          <p:cNvSpPr txBox="1"/>
          <p:nvPr/>
        </p:nvSpPr>
        <p:spPr>
          <a:xfrm>
            <a:off x="611560" y="2914384"/>
            <a:ext cx="8064896" cy="1200329"/>
          </a:xfrm>
          <a:prstGeom prst="rect">
            <a:avLst/>
          </a:prstGeom>
          <a:noFill/>
        </p:spPr>
        <p:txBody>
          <a:bodyPr wrap="square">
            <a:spAutoFit/>
          </a:bodyPr>
          <a:lstStyle/>
          <a:p>
            <a:pPr marL="342900" indent="-342900">
              <a:spcBef>
                <a:spcPts val="300"/>
              </a:spcBef>
              <a:spcAft>
                <a:spcPts val="300"/>
              </a:spcAft>
              <a:buFont typeface="+mj-ea"/>
              <a:buAutoNum type="circleNumDbPlain" startAt="2"/>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对存储的信息进行加密保护</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有效防止非法者利用非法手段通过获得明文信息来达到窃取机密之目的。加密保护方式一般应视所存储的信息密级、特征和使用资源的开发程度等具体情况来确定，加密系统应与访问控制和授权机制密切配合，以达到合理共享资源。</a:t>
            </a:r>
          </a:p>
        </p:txBody>
      </p:sp>
      <p:sp>
        <p:nvSpPr>
          <p:cNvPr id="8" name="文本框 7">
            <a:extLst>
              <a:ext uri="{FF2B5EF4-FFF2-40B4-BE49-F238E27FC236}">
                <a16:creationId xmlns:a16="http://schemas.microsoft.com/office/drawing/2014/main" id="{86C2D8EF-FC03-3CB5-19DE-740202ACAF93}"/>
              </a:ext>
            </a:extLst>
          </p:cNvPr>
          <p:cNvSpPr txBox="1"/>
          <p:nvPr/>
        </p:nvSpPr>
        <p:spPr>
          <a:xfrm>
            <a:off x="611560" y="4110081"/>
            <a:ext cx="8064896" cy="923330"/>
          </a:xfrm>
          <a:prstGeom prst="rect">
            <a:avLst/>
          </a:prstGeom>
          <a:noFill/>
        </p:spPr>
        <p:txBody>
          <a:bodyPr wrap="square">
            <a:spAutoFit/>
          </a:bodyPr>
          <a:lstStyle/>
          <a:p>
            <a:pPr marL="342900" indent="-342900">
              <a:spcBef>
                <a:spcPts val="300"/>
              </a:spcBef>
              <a:spcAft>
                <a:spcPts val="300"/>
              </a:spcAft>
              <a:buFont typeface="+mj-ea"/>
              <a:buAutoNum type="circleNumDbPlain" startAt="3"/>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防止因电磁信号泄露带来的失密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。计算机系统在工作时，常会发生辐射和传导电磁信号泄露现象，若此泄露的信号被敌方接收下来，经过提取处理，就可恢复出原信息而造成泄密。</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1172900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2000"/>
                                        <p:tgtEl>
                                          <p:spTgt spid="4"/>
                                        </p:tgtEl>
                                      </p:cBhvr>
                                    </p:animEffect>
                                    <p:anim calcmode="lin" valueType="num">
                                      <p:cBhvr>
                                        <p:cTn id="14" dur="2000" fill="hold"/>
                                        <p:tgtEl>
                                          <p:spTgt spid="4"/>
                                        </p:tgtEl>
                                        <p:attrNameLst>
                                          <p:attrName>ppt_w</p:attrName>
                                        </p:attrNameLst>
                                      </p:cBhvr>
                                      <p:tavLst>
                                        <p:tav tm="0" fmla="#ppt_w*sin(2.5*pi*$)">
                                          <p:val>
                                            <p:fltVal val="0"/>
                                          </p:val>
                                        </p:tav>
                                        <p:tav tm="100000">
                                          <p:val>
                                            <p:fltVal val="1"/>
                                          </p:val>
                                        </p:tav>
                                      </p:tavLst>
                                    </p:anim>
                                    <p:anim calcmode="lin" valueType="num">
                                      <p:cBhvr>
                                        <p:cTn id="15"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2000"/>
                                        <p:tgtEl>
                                          <p:spTgt spid="6"/>
                                        </p:tgtEl>
                                      </p:cBhvr>
                                    </p:animEffect>
                                    <p:anim calcmode="lin" valueType="num">
                                      <p:cBhvr>
                                        <p:cTn id="21" dur="2000" fill="hold"/>
                                        <p:tgtEl>
                                          <p:spTgt spid="6"/>
                                        </p:tgtEl>
                                        <p:attrNameLst>
                                          <p:attrName>ppt_w</p:attrName>
                                        </p:attrNameLst>
                                      </p:cBhvr>
                                      <p:tavLst>
                                        <p:tav tm="0" fmla="#ppt_w*sin(2.5*pi*$)">
                                          <p:val>
                                            <p:fltVal val="0"/>
                                          </p:val>
                                        </p:tav>
                                        <p:tav tm="100000">
                                          <p:val>
                                            <p:fltVal val="1"/>
                                          </p:val>
                                        </p:tav>
                                      </p:tavLst>
                                    </p:anim>
                                    <p:anim calcmode="lin" valueType="num">
                                      <p:cBhvr>
                                        <p:cTn id="22"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0"/>
                                        <p:tgtEl>
                                          <p:spTgt spid="8"/>
                                        </p:tgtEl>
                                      </p:cBhvr>
                                    </p:animEffect>
                                    <p:anim calcmode="lin" valueType="num">
                                      <p:cBhvr>
                                        <p:cTn id="28" dur="2000" fill="hold"/>
                                        <p:tgtEl>
                                          <p:spTgt spid="8"/>
                                        </p:tgtEl>
                                        <p:attrNameLst>
                                          <p:attrName>ppt_w</p:attrName>
                                        </p:attrNameLst>
                                      </p:cBhvr>
                                      <p:tavLst>
                                        <p:tav tm="0" fmla="#ppt_w*sin(2.5*pi*$)">
                                          <p:val>
                                            <p:fltVal val="0"/>
                                          </p:val>
                                        </p:tav>
                                        <p:tav tm="100000">
                                          <p:val>
                                            <p:fltVal val="1"/>
                                          </p:val>
                                        </p:tav>
                                      </p:tavLst>
                                    </p:anim>
                                    <p:anim calcmode="lin" valueType="num">
                                      <p:cBhvr>
                                        <p:cTn id="2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1727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完整性，</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就是要防止信息被非法复制，避免非授权的修改和破坏，以保证信息的正确性、有效性、一致性，或不受意外事件的破坏。</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
        <p:nvSpPr>
          <p:cNvPr id="4" name="文本框 3">
            <a:extLst>
              <a:ext uri="{FF2B5EF4-FFF2-40B4-BE49-F238E27FC236}">
                <a16:creationId xmlns:a16="http://schemas.microsoft.com/office/drawing/2014/main" id="{68798C5E-6DD7-F980-FE3D-7A6450272702}"/>
              </a:ext>
            </a:extLst>
          </p:cNvPr>
          <p:cNvSpPr txBox="1"/>
          <p:nvPr/>
        </p:nvSpPr>
        <p:spPr>
          <a:xfrm>
            <a:off x="611560" y="1635646"/>
            <a:ext cx="8136904" cy="1867114"/>
          </a:xfrm>
          <a:prstGeom prst="rect">
            <a:avLst/>
          </a:prstGeom>
          <a:noFill/>
        </p:spPr>
        <p:txBody>
          <a:bodyPr wrap="square">
            <a:spAutoFit/>
          </a:bodyPr>
          <a:lstStyle/>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完整性一般含两种形式：数据单元的完整性和数据单元序列的完整性。数据单元的完整性是指组成一个单元的一段数据不被破坏和增删篡改；数据序列的完整性是指发出的数据分割为按序列号编排的许多单元时，在接收时还能按原来的序列把数据串联起来，而不会发生数据单元的丢失、重复、乱序、假冒等情况。。</a:t>
            </a:r>
          </a:p>
        </p:txBody>
      </p:sp>
      <p:sp>
        <p:nvSpPr>
          <p:cNvPr id="6" name="文本框 5">
            <a:extLst>
              <a:ext uri="{FF2B5EF4-FFF2-40B4-BE49-F238E27FC236}">
                <a16:creationId xmlns:a16="http://schemas.microsoft.com/office/drawing/2014/main" id="{56602451-D4D1-BFD3-E474-9E7C6DC05288}"/>
              </a:ext>
            </a:extLst>
          </p:cNvPr>
          <p:cNvSpPr txBox="1"/>
          <p:nvPr/>
        </p:nvSpPr>
        <p:spPr>
          <a:xfrm>
            <a:off x="611560" y="3368932"/>
            <a:ext cx="8136904" cy="1867114"/>
          </a:xfrm>
          <a:prstGeom prst="rect">
            <a:avLst/>
          </a:prstGeom>
          <a:noFill/>
        </p:spPr>
        <p:txBody>
          <a:bodyPr wrap="square">
            <a:spAutoFit/>
          </a:bodyPr>
          <a:lstStyle/>
          <a:p>
            <a:pPr marL="342900" indent="-342900">
              <a:lnSpc>
                <a:spcPct val="130000"/>
              </a:lnSpc>
              <a:spcBef>
                <a:spcPts val="300"/>
              </a:spcBef>
              <a:spcAft>
                <a:spcPts val="300"/>
              </a:spcAft>
              <a:buFont typeface="+mj-ea"/>
              <a:buAutoNum type="circleNumDbPlain" startAt="2"/>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软件完整性。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防止软件被非法复制，对软件必须有唯一的标志，并且能检验这种标志是否存在及是否被修改过。除此之外，还应具有拒绝动态跟踪分析的能力，以免复制者绕过该标志的检验。为防止软件被非法修改，软件应有抗分析的能力和完整性的校验手段。应对软件实施加密处理，这样，即使复制者得到了源代码，也不能进行静态分析。</a:t>
            </a:r>
          </a:p>
        </p:txBody>
      </p:sp>
    </p:spTree>
    <p:extLst>
      <p:ext uri="{BB962C8B-B14F-4D97-AF65-F5344CB8AC3E}">
        <p14:creationId xmlns:p14="http://schemas.microsoft.com/office/powerpoint/2010/main" val="3200325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circle(in)">
                                      <p:cBhvr>
                                        <p:cTn id="18"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1998291"/>
            <a:ext cx="8208912" cy="1146917"/>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4"/>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内存完整性、磁盘完整性。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为防内存及磁盘中的信息不被非法复制、修改、删除、插入或受意外事件的破坏，必须定期检查内存的完整性和磁盘的完整性，以确保内存磁盘中信息的真实性和有效性。</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
        <p:nvSpPr>
          <p:cNvPr id="4" name="文本框 3">
            <a:extLst>
              <a:ext uri="{FF2B5EF4-FFF2-40B4-BE49-F238E27FC236}">
                <a16:creationId xmlns:a16="http://schemas.microsoft.com/office/drawing/2014/main" id="{0961E593-CA83-F2DB-7FD3-FF4AABC6808D}"/>
              </a:ext>
            </a:extLst>
          </p:cNvPr>
          <p:cNvSpPr txBox="1"/>
          <p:nvPr/>
        </p:nvSpPr>
        <p:spPr>
          <a:xfrm>
            <a:off x="572453" y="776761"/>
            <a:ext cx="8100900" cy="1146917"/>
          </a:xfrm>
          <a:prstGeom prst="rect">
            <a:avLst/>
          </a:prstGeom>
          <a:noFill/>
        </p:spPr>
        <p:txBody>
          <a:bodyPr wrap="square">
            <a:spAutoFit/>
          </a:bodyPr>
          <a:lstStyle/>
          <a:p>
            <a:pPr marL="342900" indent="-342900">
              <a:lnSpc>
                <a:spcPct val="130000"/>
              </a:lnSpc>
              <a:spcBef>
                <a:spcPts val="300"/>
              </a:spcBef>
              <a:spcAft>
                <a:spcPts val="300"/>
              </a:spcAft>
              <a:buFont typeface="+mj-ea"/>
              <a:buAutoNum type="circleNumDbPlain" startAt="3"/>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操作系统的完整性。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除计算机硬件外，操作系统是确保计算机安全保密的最基本部件。操作系统是计算机资源的管理者，其完整性控制也至关重要，如果操作系统完整性遭到破坏，也将会导致入侵者非法获取系统资源。</a:t>
            </a:r>
          </a:p>
        </p:txBody>
      </p:sp>
    </p:spTree>
    <p:extLst>
      <p:ext uri="{BB962C8B-B14F-4D97-AF65-F5344CB8AC3E}">
        <p14:creationId xmlns:p14="http://schemas.microsoft.com/office/powerpoint/2010/main" val="21007519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circle(in)">
                                      <p:cBhvr>
                                        <p:cTn id="18"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91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可用性，</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信息可被合法用户访问并能按要求顺序使用的特性，即在需要时就可以取用所需的信息。确保授权用户或实体对信息及资源的正常使用不会被异常拒绝，允许其可靠而及时地访问信息及资源。对于有合法访问权并经许可的用户，不应阻止它们访问那些目标，即不应发生拒绝服务或间断服务。反之，则要防止非法者进入系统访问、窃取资源、破坏系统；也要拒绝合法用户对资源的非法操作和使用。</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可用性问题的解决方案主要有如下两种：</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Tree>
    <p:extLst>
      <p:ext uri="{BB962C8B-B14F-4D97-AF65-F5344CB8AC3E}">
        <p14:creationId xmlns:p14="http://schemas.microsoft.com/office/powerpoint/2010/main" val="16005786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06257" y="2139702"/>
            <a:ext cx="8208912" cy="1867114"/>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2"/>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避免未授权使用。</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当资源被使用、被占用或过载时，其可用性会受到限制。如果未授权用户占用了有限的资源（如处理能力、网络宽带、调制解调器连接等），则这一资源对授权用户就是不可用的。识别与认证资源的使用可以提供访问控制来限制未授权使用。然而，过度频繁地发送请求可能导致网络运行减慢或停止。</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
        <p:nvSpPr>
          <p:cNvPr id="4" name="文本框 3">
            <a:extLst>
              <a:ext uri="{FF2B5EF4-FFF2-40B4-BE49-F238E27FC236}">
                <a16:creationId xmlns:a16="http://schemas.microsoft.com/office/drawing/2014/main" id="{FCA111A0-BCD4-B637-0CD8-BCE5CAE889F8}"/>
              </a:ext>
            </a:extLst>
          </p:cNvPr>
          <p:cNvSpPr txBox="1"/>
          <p:nvPr/>
        </p:nvSpPr>
        <p:spPr>
          <a:xfrm>
            <a:off x="611560" y="786757"/>
            <a:ext cx="8136904" cy="1146917"/>
          </a:xfrm>
          <a:prstGeom prst="rect">
            <a:avLst/>
          </a:prstGeom>
          <a:noFill/>
        </p:spPr>
        <p:txBody>
          <a:bodyPr wrap="square">
            <a:spAutoFit/>
          </a:bodyPr>
          <a:lstStyle/>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避免受到攻击。</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免受攻击的方法包括：关闭操作系统和网络配置中安全漏洞；控制授权实体对资源的访问；限制对手操作或浏览流经或流向这些资源的数据从而防止带入病毒等有害数据；防止路由表等敏感网络数据的泄漏。</a:t>
            </a:r>
          </a:p>
        </p:txBody>
      </p:sp>
    </p:spTree>
    <p:extLst>
      <p:ext uri="{BB962C8B-B14F-4D97-AF65-F5344CB8AC3E}">
        <p14:creationId xmlns:p14="http://schemas.microsoft.com/office/powerpoint/2010/main" val="20806924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8576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可认证性，</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从一个实体的行为能够唯一追溯到该实体的特性，可以支持故障隔离、攻击阻断和时候恢复等。一旦出现违反安全政策的事件，系统必须提供审计手段，能够追踪到当事人。这要求系统能识别、鉴别每个用户及其进程，能总结他们对系统资源的访问，能记录和追踪他们的有关活动。</a:t>
            </a:r>
          </a:p>
          <a:p>
            <a:pPr marL="342900" indent="-342900">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通常使用访问控制对网络资源（软件和硬件）和数据（存储的和通信的）进行认证。访问控制的目标是阻止未授权使用资源和未授权公开或修改数据。访问控制运用于基于身份（</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Identity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或授权（</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Authorization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）的实体。身份可能代表一个真实用户、具有自身身份的一次处理（如进行远程访问连接的一段程序）或者由单一身份代表的一组用户（如给予规测的访问控制）。</a:t>
            </a:r>
          </a:p>
          <a:p>
            <a:pPr marL="342900" indent="-342900">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身份认证、数据认证等可以是双向的，也可以是单向的。要实现信息的可认证性，可能需要认证协议、身份证书技术的支持。</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Tree>
    <p:extLst>
      <p:ext uri="{BB962C8B-B14F-4D97-AF65-F5344CB8AC3E}">
        <p14:creationId xmlns:p14="http://schemas.microsoft.com/office/powerpoint/2010/main" val="419148151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3208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不可否认性，</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一个实体不能够否认其行为的特性，可以支持责任追究、威慑作用和法律行为等。“否认”指参与通信的实体拒绝承认它参加了那次通信，不可否认性安全服务提供了向第三方证明该实体确实参与了那次通信的能力。</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可否认性服务通常由应用层提供，用户最可能参与为应用程序数据（如电子邮件消息或文件）提供不可否认性。在低层提供不可否认性仅能提供证据证明特定的连接产生，而无法将流经该连接的数据同一个特定的实体相绑定。</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确保信息交换的真实性和有效性。信息交换的接收方应能证实所收到信息的来源、内容和顺序都是真实的。为保证信息交换的有效性，接收方收到了真实信息时应予以确认。对所收到的信息不能删除或改变，也不能抵赖或否认。对发送方而言，不能慌称从未发过信息，也不能声称信息是由接收方伪造的。</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Tree>
    <p:extLst>
      <p:ext uri="{BB962C8B-B14F-4D97-AF65-F5344CB8AC3E}">
        <p14:creationId xmlns:p14="http://schemas.microsoft.com/office/powerpoint/2010/main" val="25223504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304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信息安全的目标</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就是要达成信息的安全性，确保其安全属性不受破坏</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物联网安全的目标</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则是达成物联网中的信息安全性，确保物联网能够按需地为获得授权的合法用户提供及时、可靠、安全的信息服务</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物联网安全与互联网信息安全的关系</a:t>
            </a:r>
          </a:p>
        </p:txBody>
      </p:sp>
      <p:sp>
        <p:nvSpPr>
          <p:cNvPr id="2" name="椭圆 1">
            <a:extLst>
              <a:ext uri="{FF2B5EF4-FFF2-40B4-BE49-F238E27FC236}">
                <a16:creationId xmlns:a16="http://schemas.microsoft.com/office/drawing/2014/main" id="{7BC4743B-A683-E85A-2C56-78AFC86898FB}"/>
              </a:ext>
            </a:extLst>
          </p:cNvPr>
          <p:cNvSpPr/>
          <p:nvPr/>
        </p:nvSpPr>
        <p:spPr>
          <a:xfrm>
            <a:off x="2447764" y="2227202"/>
            <a:ext cx="4464496" cy="25202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t" anchorCtr="1"/>
          <a:lstStyle/>
          <a:p>
            <a:pPr algn="r"/>
            <a:r>
              <a:rPr lang="zh-CN" altLang="en-US" dirty="0">
                <a:latin typeface="微软雅黑" panose="020B0503020204020204" pitchFamily="34" charset="-122"/>
                <a:ea typeface="微软雅黑" panose="020B0503020204020204" pitchFamily="34" charset="-122"/>
              </a:rPr>
              <a:t>信息安全</a:t>
            </a:r>
          </a:p>
        </p:txBody>
      </p:sp>
      <p:sp>
        <p:nvSpPr>
          <p:cNvPr id="5" name="椭圆 4">
            <a:extLst>
              <a:ext uri="{FF2B5EF4-FFF2-40B4-BE49-F238E27FC236}">
                <a16:creationId xmlns:a16="http://schemas.microsoft.com/office/drawing/2014/main" id="{C66691EE-C02A-E8E0-C58E-866311C28B28}"/>
              </a:ext>
            </a:extLst>
          </p:cNvPr>
          <p:cNvSpPr/>
          <p:nvPr/>
        </p:nvSpPr>
        <p:spPr>
          <a:xfrm>
            <a:off x="3419872" y="2227202"/>
            <a:ext cx="2520280" cy="2520280"/>
          </a:xfrm>
          <a:prstGeom prst="ellipse">
            <a:avLst/>
          </a:prstGeom>
          <a:pattFill prst="wdUpDiag">
            <a:fgClr>
              <a:schemeClr val="accent6"/>
            </a:fgClr>
            <a:bgClr>
              <a:schemeClr val="bg1"/>
            </a:bgClr>
          </a:pattFill>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t" anchorCtr="0"/>
          <a:lstStyle/>
          <a:p>
            <a:pPr algn="ctr"/>
            <a:r>
              <a:rPr lang="zh-CN" altLang="en-US" dirty="0">
                <a:solidFill>
                  <a:schemeClr val="tx1"/>
                </a:solidFill>
                <a:latin typeface="微软雅黑" panose="020B0503020204020204" pitchFamily="34" charset="-122"/>
                <a:ea typeface="微软雅黑" panose="020B0503020204020204" pitchFamily="34" charset="-122"/>
              </a:rPr>
              <a:t>物联网安全</a:t>
            </a:r>
          </a:p>
        </p:txBody>
      </p:sp>
      <p:sp>
        <p:nvSpPr>
          <p:cNvPr id="6" name="椭圆 5">
            <a:extLst>
              <a:ext uri="{FF2B5EF4-FFF2-40B4-BE49-F238E27FC236}">
                <a16:creationId xmlns:a16="http://schemas.microsoft.com/office/drawing/2014/main" id="{9BD411A5-9E50-8990-8511-E8DBB3E94BBA}"/>
              </a:ext>
            </a:extLst>
          </p:cNvPr>
          <p:cNvSpPr/>
          <p:nvPr/>
        </p:nvSpPr>
        <p:spPr>
          <a:xfrm>
            <a:off x="3815916" y="2947282"/>
            <a:ext cx="1800200" cy="1800200"/>
          </a:xfrm>
          <a:prstGeom prst="ellipse">
            <a:avLst/>
          </a:prstGeom>
          <a:solidFill>
            <a:srgbClr val="FFFF00"/>
          </a:solidFill>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nchorCtr="0"/>
          <a:lstStyle/>
          <a:p>
            <a:pPr algn="ctr"/>
            <a:r>
              <a:rPr lang="zh-CN" altLang="en-US" dirty="0">
                <a:solidFill>
                  <a:schemeClr val="tx1"/>
                </a:solidFill>
                <a:latin typeface="微软雅黑" panose="020B0503020204020204" pitchFamily="34" charset="-122"/>
                <a:ea typeface="微软雅黑" panose="020B0503020204020204" pitchFamily="34" charset="-122"/>
              </a:rPr>
              <a:t>互联网安全</a:t>
            </a:r>
          </a:p>
        </p:txBody>
      </p:sp>
    </p:spTree>
    <p:extLst>
      <p:ext uri="{BB962C8B-B14F-4D97-AF65-F5344CB8AC3E}">
        <p14:creationId xmlns:p14="http://schemas.microsoft.com/office/powerpoint/2010/main" val="21623169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855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物联网以互联网为基础实现了多角度的拓展，物联网安全相对互联网安全也覆盖了更丰富的内容，在</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广泛性、复杂性、非对称性和轻量级</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等方面表现出不同的特点。</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物联网规模越大，越可能放大安全问题造成的影响。</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物联网安全的特点</a:t>
            </a:r>
          </a:p>
        </p:txBody>
      </p:sp>
    </p:spTree>
    <p:extLst>
      <p:ext uri="{BB962C8B-B14F-4D97-AF65-F5344CB8AC3E}">
        <p14:creationId xmlns:p14="http://schemas.microsoft.com/office/powerpoint/2010/main" val="29064884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22758"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物联网安全需求</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0923608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物联网安全需求</a:t>
            </a:r>
          </a:p>
        </p:txBody>
      </p:sp>
      <p:sp>
        <p:nvSpPr>
          <p:cNvPr id="4" name="文本框 3">
            <a:extLst>
              <a:ext uri="{FF2B5EF4-FFF2-40B4-BE49-F238E27FC236}">
                <a16:creationId xmlns:a16="http://schemas.microsoft.com/office/drawing/2014/main" id="{E9D15F71-690B-A1B3-79EF-C4C3DC5ACA5C}"/>
              </a:ext>
            </a:extLst>
          </p:cNvPr>
          <p:cNvSpPr txBox="1"/>
          <p:nvPr/>
        </p:nvSpPr>
        <p:spPr>
          <a:xfrm>
            <a:off x="395536" y="1147242"/>
            <a:ext cx="4572000" cy="426720"/>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节点本身的安全需求</a:t>
            </a:r>
          </a:p>
        </p:txBody>
      </p:sp>
      <p:sp>
        <p:nvSpPr>
          <p:cNvPr id="6" name="文本框 5">
            <a:extLst>
              <a:ext uri="{FF2B5EF4-FFF2-40B4-BE49-F238E27FC236}">
                <a16:creationId xmlns:a16="http://schemas.microsoft.com/office/drawing/2014/main" id="{F8659746-8EF2-BB8E-3858-DCAE4A7DBEAE}"/>
              </a:ext>
            </a:extLst>
          </p:cNvPr>
          <p:cNvSpPr txBox="1"/>
          <p:nvPr/>
        </p:nvSpPr>
        <p:spPr>
          <a:xfrm>
            <a:off x="395536" y="1573962"/>
            <a:ext cx="4572000" cy="426720"/>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所采集信息的安全需求</a:t>
            </a:r>
          </a:p>
        </p:txBody>
      </p:sp>
      <p:sp>
        <p:nvSpPr>
          <p:cNvPr id="8" name="文本框 7">
            <a:extLst>
              <a:ext uri="{FF2B5EF4-FFF2-40B4-BE49-F238E27FC236}">
                <a16:creationId xmlns:a16="http://schemas.microsoft.com/office/drawing/2014/main" id="{68CA41B6-FED5-F9C1-A2F8-5130239B3A7D}"/>
              </a:ext>
            </a:extLst>
          </p:cNvPr>
          <p:cNvSpPr txBox="1"/>
          <p:nvPr/>
        </p:nvSpPr>
        <p:spPr>
          <a:xfrm>
            <a:off x="539552" y="680964"/>
            <a:ext cx="4572000" cy="453266"/>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物联网感知层安全</a:t>
            </a:r>
          </a:p>
        </p:txBody>
      </p:sp>
      <p:sp>
        <p:nvSpPr>
          <p:cNvPr id="10" name="文本框 9">
            <a:extLst>
              <a:ext uri="{FF2B5EF4-FFF2-40B4-BE49-F238E27FC236}">
                <a16:creationId xmlns:a16="http://schemas.microsoft.com/office/drawing/2014/main" id="{22667F42-8F01-7E0F-EA29-A9F7E77905FF}"/>
              </a:ext>
            </a:extLst>
          </p:cNvPr>
          <p:cNvSpPr txBox="1"/>
          <p:nvPr/>
        </p:nvSpPr>
        <p:spPr>
          <a:xfrm>
            <a:off x="611560" y="2100194"/>
            <a:ext cx="4572000" cy="41716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18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物联网网络层安全</a:t>
            </a:r>
          </a:p>
        </p:txBody>
      </p:sp>
      <p:sp>
        <p:nvSpPr>
          <p:cNvPr id="12" name="文本框 11">
            <a:extLst>
              <a:ext uri="{FF2B5EF4-FFF2-40B4-BE49-F238E27FC236}">
                <a16:creationId xmlns:a16="http://schemas.microsoft.com/office/drawing/2014/main" id="{2DA885A6-326B-6406-FC58-36B505786648}"/>
              </a:ext>
            </a:extLst>
          </p:cNvPr>
          <p:cNvSpPr txBox="1"/>
          <p:nvPr/>
        </p:nvSpPr>
        <p:spPr>
          <a:xfrm>
            <a:off x="395536" y="3315925"/>
            <a:ext cx="4572000" cy="426720"/>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高效的密钥管理需求</a:t>
            </a:r>
          </a:p>
        </p:txBody>
      </p:sp>
      <p:sp>
        <p:nvSpPr>
          <p:cNvPr id="14" name="文本框 13">
            <a:extLst>
              <a:ext uri="{FF2B5EF4-FFF2-40B4-BE49-F238E27FC236}">
                <a16:creationId xmlns:a16="http://schemas.microsoft.com/office/drawing/2014/main" id="{E0361823-03C4-958C-2CAF-A03BC80F8004}"/>
              </a:ext>
            </a:extLst>
          </p:cNvPr>
          <p:cNvSpPr txBox="1"/>
          <p:nvPr/>
        </p:nvSpPr>
        <p:spPr>
          <a:xfrm>
            <a:off x="395536" y="2912171"/>
            <a:ext cx="5312297" cy="426720"/>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避免网络拥塞和拒绝服务攻击的需求</a:t>
            </a:r>
          </a:p>
        </p:txBody>
      </p:sp>
      <p:sp>
        <p:nvSpPr>
          <p:cNvPr id="16" name="文本框 15">
            <a:extLst>
              <a:ext uri="{FF2B5EF4-FFF2-40B4-BE49-F238E27FC236}">
                <a16:creationId xmlns:a16="http://schemas.microsoft.com/office/drawing/2014/main" id="{4AAEE261-10F7-D032-9EE4-F924A867E5ED}"/>
              </a:ext>
            </a:extLst>
          </p:cNvPr>
          <p:cNvSpPr txBox="1"/>
          <p:nvPr/>
        </p:nvSpPr>
        <p:spPr>
          <a:xfrm>
            <a:off x="395536" y="2508418"/>
            <a:ext cx="4572000" cy="426720"/>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大批量接入认证需求</a:t>
            </a:r>
          </a:p>
        </p:txBody>
      </p:sp>
    </p:spTree>
    <p:extLst>
      <p:ext uri="{BB962C8B-B14F-4D97-AF65-F5344CB8AC3E}">
        <p14:creationId xmlns:p14="http://schemas.microsoft.com/office/powerpoint/2010/main" val="268006143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1+#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arn(inVertic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1+#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1+#ppt_w/2"/>
                                          </p:val>
                                        </p:tav>
                                        <p:tav tm="100000">
                                          <p:val>
                                            <p:strVal val="#ppt_x"/>
                                          </p:val>
                                        </p:tav>
                                      </p:tavLst>
                                    </p:anim>
                                    <p:anim calcmode="lin" valueType="num">
                                      <p:cBhvr additive="base">
                                        <p:cTn id="4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2" grpId="0"/>
      <p:bldP spid="14"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物联网安全需求</a:t>
            </a:r>
          </a:p>
        </p:txBody>
      </p:sp>
      <p:sp>
        <p:nvSpPr>
          <p:cNvPr id="4" name="文本框 3">
            <a:extLst>
              <a:ext uri="{FF2B5EF4-FFF2-40B4-BE49-F238E27FC236}">
                <a16:creationId xmlns:a16="http://schemas.microsoft.com/office/drawing/2014/main" id="{83DBAE62-0543-46F2-AB7D-8713467C3D54}"/>
              </a:ext>
            </a:extLst>
          </p:cNvPr>
          <p:cNvSpPr txBox="1"/>
          <p:nvPr/>
        </p:nvSpPr>
        <p:spPr>
          <a:xfrm>
            <a:off x="540000" y="699542"/>
            <a:ext cx="4572000" cy="453266"/>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物联网应用层安全</a:t>
            </a:r>
          </a:p>
        </p:txBody>
      </p:sp>
      <p:sp>
        <p:nvSpPr>
          <p:cNvPr id="6" name="文本框 5">
            <a:extLst>
              <a:ext uri="{FF2B5EF4-FFF2-40B4-BE49-F238E27FC236}">
                <a16:creationId xmlns:a16="http://schemas.microsoft.com/office/drawing/2014/main" id="{D064A28C-FF65-4333-A13D-CE42C891473F}"/>
              </a:ext>
            </a:extLst>
          </p:cNvPr>
          <p:cNvSpPr txBox="1"/>
          <p:nvPr/>
        </p:nvSpPr>
        <p:spPr>
          <a:xfrm>
            <a:off x="396000" y="2067694"/>
            <a:ext cx="7992424" cy="1146917"/>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其安全需求具有多样性，内容丰富，包括：身份认证、消息认证、访问控制、数据的机密性与用户隐私保护、数字签名、数字水印、入侵检测、容错容侵等</a:t>
            </a:r>
          </a:p>
        </p:txBody>
      </p:sp>
      <p:sp>
        <p:nvSpPr>
          <p:cNvPr id="8" name="文本框 7">
            <a:extLst>
              <a:ext uri="{FF2B5EF4-FFF2-40B4-BE49-F238E27FC236}">
                <a16:creationId xmlns:a16="http://schemas.microsoft.com/office/drawing/2014/main" id="{FC998D00-3667-2ED9-53D8-95E835F9CFB0}"/>
              </a:ext>
            </a:extLst>
          </p:cNvPr>
          <p:cNvSpPr txBox="1"/>
          <p:nvPr/>
        </p:nvSpPr>
        <p:spPr>
          <a:xfrm>
            <a:off x="396000" y="1250578"/>
            <a:ext cx="8138739" cy="786818"/>
          </a:xfrm>
          <a:prstGeom prst="rect">
            <a:avLst/>
          </a:prstGeom>
          <a:noFill/>
        </p:spPr>
        <p:txBody>
          <a:bodyPr wrap="square">
            <a:spAutoFit/>
          </a:bodyPr>
          <a:lstStyle/>
          <a:p>
            <a:pPr marL="800040" lvl="1"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物联网应用层涉及物联网的信息处理（业务支撑平台）和具体的应用（业务）</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涉及隐私保护等安全问题</a:t>
            </a:r>
          </a:p>
        </p:txBody>
      </p:sp>
    </p:spTree>
    <p:extLst>
      <p:ext uri="{BB962C8B-B14F-4D97-AF65-F5344CB8AC3E}">
        <p14:creationId xmlns:p14="http://schemas.microsoft.com/office/powerpoint/2010/main" val="30181883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1+#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4680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物联网安全体系</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984957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pic>
        <p:nvPicPr>
          <p:cNvPr id="4" name="Picture 3">
            <a:extLst>
              <a:ext uri="{FF2B5EF4-FFF2-40B4-BE49-F238E27FC236}">
                <a16:creationId xmlns:a16="http://schemas.microsoft.com/office/drawing/2014/main" id="{43E0512D-A5AD-4953-8079-A1850330FAFF}"/>
              </a:ext>
            </a:extLst>
          </p:cNvPr>
          <p:cNvPicPr>
            <a:picLocks noChangeAspect="1"/>
          </p:cNvPicPr>
          <p:nvPr/>
        </p:nvPicPr>
        <p:blipFill rotWithShape="1">
          <a:blip r:embed="rId3"/>
          <a:srcRect l="957" t="766" b="238"/>
          <a:stretch/>
        </p:blipFill>
        <p:spPr>
          <a:xfrm>
            <a:off x="755576" y="627533"/>
            <a:ext cx="7452742" cy="4392489"/>
          </a:xfrm>
          <a:prstGeom prst="rect">
            <a:avLst/>
          </a:prstGeom>
          <a:noFill/>
          <a:ln w="9525">
            <a:noFill/>
          </a:ln>
        </p:spPr>
      </p:pic>
    </p:spTree>
    <p:extLst>
      <p:ext uri="{BB962C8B-B14F-4D97-AF65-F5344CB8AC3E}">
        <p14:creationId xmlns:p14="http://schemas.microsoft.com/office/powerpoint/2010/main" val="7394010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3175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解决物联网安全的总体思路就是         与</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并重</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首先，要以技术为支撑，构建起物联网安全基础设施，包括研究芯片级的物理安全技术，完善传输级的密码与密钥管理技术，加强接入级的认证与访问控制，实现应用级的风险评估、入侵检测和安全控制；</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次，要以管理为保障，通过强化物联网安全教育管理，完善物联网安全立法，严厉打击物联网安全犯罪。只有技术与管理相互配合，才有实现物联网安全的可能。通常对外部威胁主要采用技术手段，对内部威胁则强化管理措施。构建完备的物联网安全体系是确保技术支撑得力、管理保障有效的核心。</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4" name="文本框 3">
            <a:extLst>
              <a:ext uri="{FF2B5EF4-FFF2-40B4-BE49-F238E27FC236}">
                <a16:creationId xmlns:a16="http://schemas.microsoft.com/office/drawing/2014/main" id="{3099E78F-1DD4-9896-9E19-AEA6857DFC26}"/>
              </a:ext>
            </a:extLst>
          </p:cNvPr>
          <p:cNvSpPr txBox="1"/>
          <p:nvPr/>
        </p:nvSpPr>
        <p:spPr>
          <a:xfrm>
            <a:off x="4529310" y="842400"/>
            <a:ext cx="773832" cy="400110"/>
          </a:xfrm>
          <a:prstGeom prst="rect">
            <a:avLst/>
          </a:prstGeom>
          <a:noFill/>
        </p:spPr>
        <p:txBody>
          <a:bodyPr wrap="square">
            <a:spAutoFit/>
          </a:bodyPr>
          <a:lstStyle/>
          <a:p>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技术</a:t>
            </a:r>
            <a:endParaRPr lang="zh-CN" altLang="en-US" sz="2000" dirty="0"/>
          </a:p>
        </p:txBody>
      </p:sp>
      <p:sp>
        <p:nvSpPr>
          <p:cNvPr id="6" name="文本框 5">
            <a:extLst>
              <a:ext uri="{FF2B5EF4-FFF2-40B4-BE49-F238E27FC236}">
                <a16:creationId xmlns:a16="http://schemas.microsoft.com/office/drawing/2014/main" id="{9D0573BC-4D12-413C-310E-11AD95094C78}"/>
              </a:ext>
            </a:extLst>
          </p:cNvPr>
          <p:cNvSpPr txBox="1"/>
          <p:nvPr/>
        </p:nvSpPr>
        <p:spPr>
          <a:xfrm>
            <a:off x="5382344" y="843558"/>
            <a:ext cx="773832" cy="400110"/>
          </a:xfrm>
          <a:prstGeom prst="rect">
            <a:avLst/>
          </a:prstGeom>
          <a:noFill/>
        </p:spPr>
        <p:txBody>
          <a:bodyPr wrap="square">
            <a:spAutoFit/>
          </a:bodyPr>
          <a:lstStyle/>
          <a:p>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管理</a:t>
            </a:r>
            <a:endParaRPr lang="zh-CN" altLang="en-US" dirty="0"/>
          </a:p>
        </p:txBody>
      </p:sp>
    </p:spTree>
    <p:extLst>
      <p:ext uri="{BB962C8B-B14F-4D97-AF65-F5344CB8AC3E}">
        <p14:creationId xmlns:p14="http://schemas.microsoft.com/office/powerpoint/2010/main" val="1338675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grpId="0" nodeType="clickEffect">
                                  <p:stCondLst>
                                    <p:cond delay="0"/>
                                  </p:stCondLst>
                                  <p:iterate type="lt">
                                    <p:tmPct val="4000"/>
                                  </p:iterate>
                                  <p:childTnLst>
                                    <p:set>
                                      <p:cBhvr override="childStyle">
                                        <p:cTn id="12" dur="500" fill="hold"/>
                                        <p:tgtEl>
                                          <p:spTgt spid="4"/>
                                        </p:tgtEl>
                                        <p:attrNameLst>
                                          <p:attrName>style.color</p:attrName>
                                        </p:attrNameLst>
                                      </p:cBhvr>
                                      <p:to>
                                        <p:clrVal>
                                          <a:srgbClr val="FF0000"/>
                                        </p:clrVal>
                                      </p:to>
                                    </p:set>
                                    <p:set>
                                      <p:cBhvr>
                                        <p:cTn id="13" dur="500" fill="hold"/>
                                        <p:tgtEl>
                                          <p:spTgt spid="4"/>
                                        </p:tgtEl>
                                        <p:attrNameLst>
                                          <p:attrName>fillcolor</p:attrName>
                                        </p:attrNameLst>
                                      </p:cBhvr>
                                      <p:to>
                                        <p:clrVal>
                                          <a:srgbClr val="FF0000"/>
                                        </p:clrVal>
                                      </p:to>
                                    </p:set>
                                    <p:set>
                                      <p:cBhvr>
                                        <p:cTn id="14" dur="500" fill="hold"/>
                                        <p:tgtEl>
                                          <p:spTgt spid="4"/>
                                        </p:tgtEl>
                                        <p:attrNameLst>
                                          <p:attrName>fill.type</p:attrName>
                                        </p:attrNameLst>
                                      </p:cBhvr>
                                      <p:to>
                                        <p:strVal val="solid"/>
                                      </p:to>
                                    </p:set>
                                  </p:childTnLst>
                                </p:cTn>
                              </p:par>
                              <p:par>
                                <p:cTn id="15" presetID="16" presetClass="emph" presetSubtype="0" fill="hold" grpId="0" nodeType="withEffect">
                                  <p:stCondLst>
                                    <p:cond delay="0"/>
                                  </p:stCondLst>
                                  <p:iterate type="lt">
                                    <p:tmPct val="4000"/>
                                  </p:iterate>
                                  <p:childTnLst>
                                    <p:set>
                                      <p:cBhvr override="childStyle">
                                        <p:cTn id="16" dur="500" fill="hold"/>
                                        <p:tgtEl>
                                          <p:spTgt spid="6"/>
                                        </p:tgtEl>
                                        <p:attrNameLst>
                                          <p:attrName>style.color</p:attrName>
                                        </p:attrNameLst>
                                      </p:cBhvr>
                                      <p:to>
                                        <p:clrVal>
                                          <a:srgbClr val="FF0000"/>
                                        </p:clrVal>
                                      </p:to>
                                    </p:set>
                                    <p:set>
                                      <p:cBhvr>
                                        <p:cTn id="17" dur="500" fill="hold"/>
                                        <p:tgtEl>
                                          <p:spTgt spid="6"/>
                                        </p:tgtEl>
                                        <p:attrNameLst>
                                          <p:attrName>fillcolor</p:attrName>
                                        </p:attrNameLst>
                                      </p:cBhvr>
                                      <p:to>
                                        <p:clrVal>
                                          <a:srgbClr val="FF0000"/>
                                        </p:clrVal>
                                      </p:to>
                                    </p:set>
                                    <p:set>
                                      <p:cBhvr>
                                        <p:cTn id="18" dur="500" fill="hold"/>
                                        <p:tgtEl>
                                          <p:spTgt spid="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07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物联网的构成要素包括传感器件、信息传输系统和信息处理系统，从结构上分别位于物联网的感知层、网络层以及应用层，对应着</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DCM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分层模型的设备</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(Devices)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、连接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(Connection)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和管理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(Management)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相应地，其安全形态表现为</a:t>
            </a:r>
            <a:r>
              <a:rPr lang="zh-CN" altLang="en-US" sz="2000" b="1" dirty="0">
                <a:solidFill>
                  <a:srgbClr val="F0701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感知层安全</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（包括物理安全和信息采集安全）、</a:t>
            </a:r>
            <a:r>
              <a:rPr lang="zh-CN" altLang="en-US" sz="2000" b="1" dirty="0">
                <a:solidFill>
                  <a:srgbClr val="F0701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网络层安全</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（网络与信息系统安全）、</a:t>
            </a:r>
            <a:r>
              <a:rPr lang="zh-CN" altLang="en-US" sz="2000" b="1" dirty="0">
                <a:solidFill>
                  <a:srgbClr val="F0701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应用层安全</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（信息处理安全）。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Tree>
    <p:extLst>
      <p:ext uri="{BB962C8B-B14F-4D97-AF65-F5344CB8AC3E}">
        <p14:creationId xmlns:p14="http://schemas.microsoft.com/office/powerpoint/2010/main" val="1107931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7" name="文本框 6">
            <a:extLst>
              <a:ext uri="{FF2B5EF4-FFF2-40B4-BE49-F238E27FC236}">
                <a16:creationId xmlns:a16="http://schemas.microsoft.com/office/drawing/2014/main" id="{ABDA3C65-69FE-435D-BDA2-4C39A7031DA7}"/>
              </a:ext>
            </a:extLst>
          </p:cNvPr>
          <p:cNvSpPr txBox="1"/>
          <p:nvPr/>
        </p:nvSpPr>
        <p:spPr>
          <a:xfrm>
            <a:off x="589825" y="1136742"/>
            <a:ext cx="7819183" cy="424412"/>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感知层安全主要分</a:t>
            </a:r>
            <a:r>
              <a:rPr lang="zh-CN" altLang="en-US" b="1" dirty="0">
                <a:solidFill>
                  <a:srgbClr val="F07010"/>
                </a:solidFill>
                <a:latin typeface="Times New Roman" panose="02020603050405020304" pitchFamily="18" charset="0"/>
                <a:ea typeface="华文楷体" panose="02010600040101010101" pitchFamily="2" charset="-122"/>
                <a:cs typeface="Times New Roman" panose="02020603050405020304" pitchFamily="18" charset="0"/>
              </a:rPr>
              <a:t>物理安全</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和</a:t>
            </a:r>
            <a:r>
              <a:rPr lang="zh-CN" altLang="en-US" b="1" dirty="0">
                <a:solidFill>
                  <a:srgbClr val="F07010"/>
                </a:solidFill>
                <a:latin typeface="Times New Roman" panose="02020603050405020304" pitchFamily="18" charset="0"/>
                <a:ea typeface="华文楷体" panose="02010600040101010101" pitchFamily="2" charset="-122"/>
                <a:cs typeface="Times New Roman" panose="02020603050405020304" pitchFamily="18" charset="0"/>
              </a:rPr>
              <a:t>信息安全</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两类</a:t>
            </a:r>
          </a:p>
        </p:txBody>
      </p:sp>
    </p:spTree>
    <p:extLst>
      <p:ext uri="{BB962C8B-B14F-4D97-AF65-F5344CB8AC3E}">
        <p14:creationId xmlns:p14="http://schemas.microsoft.com/office/powerpoint/2010/main" val="16798859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7" name="文本框 6">
            <a:extLst>
              <a:ext uri="{FF2B5EF4-FFF2-40B4-BE49-F238E27FC236}">
                <a16:creationId xmlns:a16="http://schemas.microsoft.com/office/drawing/2014/main" id="{ABDA3C65-69FE-435D-BDA2-4C39A7031DA7}"/>
              </a:ext>
            </a:extLst>
          </p:cNvPr>
          <p:cNvSpPr txBox="1"/>
          <p:nvPr/>
        </p:nvSpPr>
        <p:spPr>
          <a:xfrm>
            <a:off x="589825" y="627534"/>
            <a:ext cx="7819183" cy="424412"/>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感知层安全可以提供以下安全服务：</a:t>
            </a:r>
          </a:p>
        </p:txBody>
      </p:sp>
      <p:sp>
        <p:nvSpPr>
          <p:cNvPr id="5" name="矩形 4">
            <a:extLst>
              <a:ext uri="{FF2B5EF4-FFF2-40B4-BE49-F238E27FC236}">
                <a16:creationId xmlns:a16="http://schemas.microsoft.com/office/drawing/2014/main" id="{11991E1D-870A-46C4-BADA-55B3F098475C}"/>
              </a:ext>
            </a:extLst>
          </p:cNvPr>
          <p:cNvSpPr>
            <a:spLocks noChangeArrowheads="1"/>
          </p:cNvSpPr>
          <p:nvPr/>
        </p:nvSpPr>
        <p:spPr bwMode="auto">
          <a:xfrm>
            <a:off x="971569" y="1723161"/>
            <a:ext cx="3060000" cy="46038"/>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6" name="组合 14339">
            <a:extLst>
              <a:ext uri="{FF2B5EF4-FFF2-40B4-BE49-F238E27FC236}">
                <a16:creationId xmlns:a16="http://schemas.microsoft.com/office/drawing/2014/main" id="{BDE7DC78-155E-4312-B0FE-DD70802D3E09}"/>
              </a:ext>
            </a:extLst>
          </p:cNvPr>
          <p:cNvGrpSpPr>
            <a:grpSpLocks/>
          </p:cNvGrpSpPr>
          <p:nvPr/>
        </p:nvGrpSpPr>
        <p:grpSpPr bwMode="auto">
          <a:xfrm>
            <a:off x="611207" y="1254849"/>
            <a:ext cx="539750" cy="539750"/>
            <a:chOff x="0" y="0"/>
            <a:chExt cx="2016224" cy="2016224"/>
          </a:xfrm>
        </p:grpSpPr>
        <p:sp>
          <p:nvSpPr>
            <p:cNvPr id="8" name="椭圆 6">
              <a:extLst>
                <a:ext uri="{FF2B5EF4-FFF2-40B4-BE49-F238E27FC236}">
                  <a16:creationId xmlns:a16="http://schemas.microsoft.com/office/drawing/2014/main" id="{5824193B-2FCD-4A4D-AAF4-0A2E02815EBC}"/>
                </a:ext>
              </a:extLst>
            </p:cNvPr>
            <p:cNvSpPr>
              <a:spLocks noChangeArrowheads="1"/>
            </p:cNvSpPr>
            <p:nvPr/>
          </p:nvSpPr>
          <p:spPr bwMode="auto">
            <a:xfrm>
              <a:off x="0" y="0"/>
              <a:ext cx="2016224" cy="201622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9" name="椭圆 7">
              <a:extLst>
                <a:ext uri="{FF2B5EF4-FFF2-40B4-BE49-F238E27FC236}">
                  <a16:creationId xmlns:a16="http://schemas.microsoft.com/office/drawing/2014/main" id="{D9F319E1-E0A7-4D0E-87A1-3AC89762595F}"/>
                </a:ext>
              </a:extLst>
            </p:cNvPr>
            <p:cNvSpPr>
              <a:spLocks noChangeArrowheads="1"/>
            </p:cNvSpPr>
            <p:nvPr/>
          </p:nvSpPr>
          <p:spPr bwMode="auto">
            <a:xfrm>
              <a:off x="180020" y="180020"/>
              <a:ext cx="1656184" cy="165618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1</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10" name="TextBox 8">
            <a:extLst>
              <a:ext uri="{FF2B5EF4-FFF2-40B4-BE49-F238E27FC236}">
                <a16:creationId xmlns:a16="http://schemas.microsoft.com/office/drawing/2014/main" id="{AA2ED755-C3B5-4C34-AEF8-6C0A37C90EE4}"/>
              </a:ext>
            </a:extLst>
          </p:cNvPr>
          <p:cNvSpPr>
            <a:spLocks noChangeArrowheads="1"/>
          </p:cNvSpPr>
          <p:nvPr/>
        </p:nvSpPr>
        <p:spPr bwMode="auto">
          <a:xfrm>
            <a:off x="1187469" y="1291361"/>
            <a:ext cx="12239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保密性</a:t>
            </a:r>
          </a:p>
        </p:txBody>
      </p:sp>
      <p:sp>
        <p:nvSpPr>
          <p:cNvPr id="11" name="TextBox 9">
            <a:extLst>
              <a:ext uri="{FF2B5EF4-FFF2-40B4-BE49-F238E27FC236}">
                <a16:creationId xmlns:a16="http://schemas.microsoft.com/office/drawing/2014/main" id="{3BF3106C-7E30-44D7-8C6F-E9BCF603BCFA}"/>
              </a:ext>
            </a:extLst>
          </p:cNvPr>
          <p:cNvSpPr>
            <a:spLocks noChangeArrowheads="1"/>
          </p:cNvSpPr>
          <p:nvPr/>
        </p:nvSpPr>
        <p:spPr bwMode="auto">
          <a:xfrm>
            <a:off x="755669" y="1904136"/>
            <a:ext cx="3455950"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保密性是无线传感网络军事应用中的重要目标，在民用系统中，除部分隐私信息，很多信息并不需要保密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矩形 10">
            <a:extLst>
              <a:ext uri="{FF2B5EF4-FFF2-40B4-BE49-F238E27FC236}">
                <a16:creationId xmlns:a16="http://schemas.microsoft.com/office/drawing/2014/main" id="{6863647E-A960-4DAF-AD76-2CBB5F607C08}"/>
              </a:ext>
            </a:extLst>
          </p:cNvPr>
          <p:cNvSpPr>
            <a:spLocks noChangeArrowheads="1"/>
          </p:cNvSpPr>
          <p:nvPr/>
        </p:nvSpPr>
        <p:spPr bwMode="auto">
          <a:xfrm>
            <a:off x="5292744" y="1675536"/>
            <a:ext cx="3276000" cy="46038"/>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13" name="组合 14345">
            <a:extLst>
              <a:ext uri="{FF2B5EF4-FFF2-40B4-BE49-F238E27FC236}">
                <a16:creationId xmlns:a16="http://schemas.microsoft.com/office/drawing/2014/main" id="{CAAE84C1-21E7-43A3-96E5-F11154F6935E}"/>
              </a:ext>
            </a:extLst>
          </p:cNvPr>
          <p:cNvGrpSpPr>
            <a:grpSpLocks/>
          </p:cNvGrpSpPr>
          <p:nvPr/>
        </p:nvGrpSpPr>
        <p:grpSpPr bwMode="auto">
          <a:xfrm>
            <a:off x="4932382" y="1208811"/>
            <a:ext cx="539750" cy="539750"/>
            <a:chOff x="0" y="0"/>
            <a:chExt cx="2016224" cy="2016224"/>
          </a:xfrm>
        </p:grpSpPr>
        <p:sp>
          <p:nvSpPr>
            <p:cNvPr id="14" name="椭圆 12">
              <a:extLst>
                <a:ext uri="{FF2B5EF4-FFF2-40B4-BE49-F238E27FC236}">
                  <a16:creationId xmlns:a16="http://schemas.microsoft.com/office/drawing/2014/main" id="{5889ADC9-668F-43DB-841C-53AA1A89DD55}"/>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15" name="椭圆 13">
              <a:extLst>
                <a:ext uri="{FF2B5EF4-FFF2-40B4-BE49-F238E27FC236}">
                  <a16:creationId xmlns:a16="http://schemas.microsoft.com/office/drawing/2014/main" id="{15F1E71C-A791-4ECF-B70C-ADD6D77B3282}"/>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2</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16" name="TextBox 14">
            <a:extLst>
              <a:ext uri="{FF2B5EF4-FFF2-40B4-BE49-F238E27FC236}">
                <a16:creationId xmlns:a16="http://schemas.microsoft.com/office/drawing/2014/main" id="{2B4B7A8D-5E82-41E8-826A-DC797F1D8F0F}"/>
              </a:ext>
            </a:extLst>
          </p:cNvPr>
          <p:cNvSpPr>
            <a:spLocks noChangeArrowheads="1"/>
          </p:cNvSpPr>
          <p:nvPr/>
        </p:nvSpPr>
        <p:spPr bwMode="auto">
          <a:xfrm>
            <a:off x="5508644" y="1243736"/>
            <a:ext cx="12239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完整性</a:t>
            </a:r>
          </a:p>
        </p:txBody>
      </p:sp>
      <p:sp>
        <p:nvSpPr>
          <p:cNvPr id="17" name="TextBox 15">
            <a:extLst>
              <a:ext uri="{FF2B5EF4-FFF2-40B4-BE49-F238E27FC236}">
                <a16:creationId xmlns:a16="http://schemas.microsoft.com/office/drawing/2014/main" id="{FA889803-9585-493E-B2F9-CE9EEDC3F471}"/>
              </a:ext>
            </a:extLst>
          </p:cNvPr>
          <p:cNvSpPr>
            <a:spLocks noChangeArrowheads="1"/>
          </p:cNvSpPr>
          <p:nvPr/>
        </p:nvSpPr>
        <p:spPr bwMode="auto">
          <a:xfrm>
            <a:off x="5076844" y="1856511"/>
            <a:ext cx="3743628"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完整性是无线传感器网络安全最基本的需求和目标。虽然很多信息不需要保密，但这些信息必须保证没有被篡改</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矩形 16">
            <a:extLst>
              <a:ext uri="{FF2B5EF4-FFF2-40B4-BE49-F238E27FC236}">
                <a16:creationId xmlns:a16="http://schemas.microsoft.com/office/drawing/2014/main" id="{8DAF8E8C-EB88-4C5E-B8BD-D598EB5CF47C}"/>
              </a:ext>
            </a:extLst>
          </p:cNvPr>
          <p:cNvSpPr>
            <a:spLocks noChangeArrowheads="1"/>
          </p:cNvSpPr>
          <p:nvPr/>
        </p:nvSpPr>
        <p:spPr bwMode="auto">
          <a:xfrm>
            <a:off x="971569" y="3590156"/>
            <a:ext cx="2988000" cy="46037"/>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20" name="组合 14351">
            <a:extLst>
              <a:ext uri="{FF2B5EF4-FFF2-40B4-BE49-F238E27FC236}">
                <a16:creationId xmlns:a16="http://schemas.microsoft.com/office/drawing/2014/main" id="{08414C76-DCB6-4ADF-B639-C043641E70DE}"/>
              </a:ext>
            </a:extLst>
          </p:cNvPr>
          <p:cNvGrpSpPr>
            <a:grpSpLocks/>
          </p:cNvGrpSpPr>
          <p:nvPr/>
        </p:nvGrpSpPr>
        <p:grpSpPr bwMode="auto">
          <a:xfrm>
            <a:off x="611207" y="3121843"/>
            <a:ext cx="539750" cy="539750"/>
            <a:chOff x="0" y="0"/>
            <a:chExt cx="2016224" cy="2016224"/>
          </a:xfrm>
        </p:grpSpPr>
        <p:sp>
          <p:nvSpPr>
            <p:cNvPr id="21" name="椭圆 18">
              <a:extLst>
                <a:ext uri="{FF2B5EF4-FFF2-40B4-BE49-F238E27FC236}">
                  <a16:creationId xmlns:a16="http://schemas.microsoft.com/office/drawing/2014/main" id="{80729642-8C04-48DA-ADCE-FA85DCEC6F76}"/>
                </a:ext>
              </a:extLst>
            </p:cNvPr>
            <p:cNvSpPr>
              <a:spLocks noChangeArrowheads="1"/>
            </p:cNvSpPr>
            <p:nvPr/>
          </p:nvSpPr>
          <p:spPr bwMode="auto">
            <a:xfrm>
              <a:off x="0" y="0"/>
              <a:ext cx="2016224" cy="201622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22" name="椭圆 19">
              <a:extLst>
                <a:ext uri="{FF2B5EF4-FFF2-40B4-BE49-F238E27FC236}">
                  <a16:creationId xmlns:a16="http://schemas.microsoft.com/office/drawing/2014/main" id="{CCA40F14-8164-40E3-8FE5-1523AF40D5E4}"/>
                </a:ext>
              </a:extLst>
            </p:cNvPr>
            <p:cNvSpPr>
              <a:spLocks noChangeArrowheads="1"/>
            </p:cNvSpPr>
            <p:nvPr/>
          </p:nvSpPr>
          <p:spPr bwMode="auto">
            <a:xfrm>
              <a:off x="180020" y="180020"/>
              <a:ext cx="1656184" cy="165618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3</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23" name="TextBox 20">
            <a:extLst>
              <a:ext uri="{FF2B5EF4-FFF2-40B4-BE49-F238E27FC236}">
                <a16:creationId xmlns:a16="http://schemas.microsoft.com/office/drawing/2014/main" id="{BC8003D1-D712-4C7D-9E82-D8F4B537ABB3}"/>
              </a:ext>
            </a:extLst>
          </p:cNvPr>
          <p:cNvSpPr>
            <a:spLocks noChangeArrowheads="1"/>
          </p:cNvSpPr>
          <p:nvPr/>
        </p:nvSpPr>
        <p:spPr bwMode="auto">
          <a:xfrm>
            <a:off x="1187469" y="3158356"/>
            <a:ext cx="18716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鉴别和认证</a:t>
            </a:r>
          </a:p>
        </p:txBody>
      </p:sp>
      <p:sp>
        <p:nvSpPr>
          <p:cNvPr id="24" name="TextBox 21">
            <a:extLst>
              <a:ext uri="{FF2B5EF4-FFF2-40B4-BE49-F238E27FC236}">
                <a16:creationId xmlns:a16="http://schemas.microsoft.com/office/drawing/2014/main" id="{16636B0B-D410-4828-9801-9EB80C866584}"/>
              </a:ext>
            </a:extLst>
          </p:cNvPr>
          <p:cNvSpPr>
            <a:spLocks noChangeArrowheads="1"/>
          </p:cNvSpPr>
          <p:nvPr/>
        </p:nvSpPr>
        <p:spPr bwMode="auto">
          <a:xfrm>
            <a:off x="755668" y="3771131"/>
            <a:ext cx="3455949"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对于无线传感网络，组通信是经常使用的通信模式。对于组通信，源端认证是非常重要的安全需求和目标</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5" name="矩形 22">
            <a:extLst>
              <a:ext uri="{FF2B5EF4-FFF2-40B4-BE49-F238E27FC236}">
                <a16:creationId xmlns:a16="http://schemas.microsoft.com/office/drawing/2014/main" id="{E7FBBE9E-1D12-4F59-B9ED-E1FF3F613818}"/>
              </a:ext>
            </a:extLst>
          </p:cNvPr>
          <p:cNvSpPr>
            <a:spLocks noChangeArrowheads="1"/>
          </p:cNvSpPr>
          <p:nvPr/>
        </p:nvSpPr>
        <p:spPr bwMode="auto">
          <a:xfrm>
            <a:off x="5292744" y="3544118"/>
            <a:ext cx="3240000" cy="44450"/>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26" name="组合 14357">
            <a:extLst>
              <a:ext uri="{FF2B5EF4-FFF2-40B4-BE49-F238E27FC236}">
                <a16:creationId xmlns:a16="http://schemas.microsoft.com/office/drawing/2014/main" id="{BEDBB9C4-9D47-4B97-9D08-B7EA444A8789}"/>
              </a:ext>
            </a:extLst>
          </p:cNvPr>
          <p:cNvGrpSpPr>
            <a:grpSpLocks/>
          </p:cNvGrpSpPr>
          <p:nvPr/>
        </p:nvGrpSpPr>
        <p:grpSpPr bwMode="auto">
          <a:xfrm>
            <a:off x="4932382" y="3075806"/>
            <a:ext cx="539750" cy="539750"/>
            <a:chOff x="0" y="0"/>
            <a:chExt cx="2016224" cy="2016224"/>
          </a:xfrm>
        </p:grpSpPr>
        <p:sp>
          <p:nvSpPr>
            <p:cNvPr id="27" name="椭圆 24">
              <a:extLst>
                <a:ext uri="{FF2B5EF4-FFF2-40B4-BE49-F238E27FC236}">
                  <a16:creationId xmlns:a16="http://schemas.microsoft.com/office/drawing/2014/main" id="{C40E50D0-8A56-4F41-ADCC-55B275A6A773}"/>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28" name="椭圆 25">
              <a:extLst>
                <a:ext uri="{FF2B5EF4-FFF2-40B4-BE49-F238E27FC236}">
                  <a16:creationId xmlns:a16="http://schemas.microsoft.com/office/drawing/2014/main" id="{35C95C77-0095-413F-A43B-9FAF4B834162}"/>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4</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29" name="TextBox 26">
            <a:extLst>
              <a:ext uri="{FF2B5EF4-FFF2-40B4-BE49-F238E27FC236}">
                <a16:creationId xmlns:a16="http://schemas.microsoft.com/office/drawing/2014/main" id="{E2140800-10DE-4BC9-8EE0-EB91E2E568B6}"/>
              </a:ext>
            </a:extLst>
          </p:cNvPr>
          <p:cNvSpPr>
            <a:spLocks noChangeArrowheads="1"/>
          </p:cNvSpPr>
          <p:nvPr/>
        </p:nvSpPr>
        <p:spPr bwMode="auto">
          <a:xfrm>
            <a:off x="5508644" y="3112318"/>
            <a:ext cx="12239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可用性</a:t>
            </a:r>
          </a:p>
        </p:txBody>
      </p:sp>
      <p:sp>
        <p:nvSpPr>
          <p:cNvPr id="30" name="TextBox 27">
            <a:extLst>
              <a:ext uri="{FF2B5EF4-FFF2-40B4-BE49-F238E27FC236}">
                <a16:creationId xmlns:a16="http://schemas.microsoft.com/office/drawing/2014/main" id="{E6BBFBDD-4573-43FB-B0DA-6CE7703CA182}"/>
              </a:ext>
            </a:extLst>
          </p:cNvPr>
          <p:cNvSpPr>
            <a:spLocks noChangeArrowheads="1"/>
          </p:cNvSpPr>
          <p:nvPr/>
        </p:nvSpPr>
        <p:spPr bwMode="auto">
          <a:xfrm>
            <a:off x="5076844" y="3722365"/>
            <a:ext cx="3743628" cy="134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可用性也是无线传感器网络安全的基本需求和目标。可用性是指安全协议高效可靠，不会给节点带来过多的负载导致节点过早消耗完有限的电能</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7576259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49" name="矩形 3">
            <a:extLst>
              <a:ext uri="{FF2B5EF4-FFF2-40B4-BE49-F238E27FC236}">
                <a16:creationId xmlns:a16="http://schemas.microsoft.com/office/drawing/2014/main" id="{43B2A0A8-98C1-4628-B317-93C4BA84F063}"/>
              </a:ext>
            </a:extLst>
          </p:cNvPr>
          <p:cNvSpPr>
            <a:spLocks noChangeArrowheads="1"/>
          </p:cNvSpPr>
          <p:nvPr/>
        </p:nvSpPr>
        <p:spPr bwMode="auto">
          <a:xfrm>
            <a:off x="755898" y="1310655"/>
            <a:ext cx="331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0" name="组合 15362">
            <a:extLst>
              <a:ext uri="{FF2B5EF4-FFF2-40B4-BE49-F238E27FC236}">
                <a16:creationId xmlns:a16="http://schemas.microsoft.com/office/drawing/2014/main" id="{5C51564A-82B9-4CF3-86AE-3F84255B4B1F}"/>
              </a:ext>
            </a:extLst>
          </p:cNvPr>
          <p:cNvGrpSpPr>
            <a:grpSpLocks/>
          </p:cNvGrpSpPr>
          <p:nvPr/>
        </p:nvGrpSpPr>
        <p:grpSpPr bwMode="auto">
          <a:xfrm>
            <a:off x="395536" y="842343"/>
            <a:ext cx="539750" cy="539750"/>
            <a:chOff x="0" y="0"/>
            <a:chExt cx="2016224" cy="2016224"/>
          </a:xfrm>
        </p:grpSpPr>
        <p:sp>
          <p:nvSpPr>
            <p:cNvPr id="51" name="椭圆 5">
              <a:extLst>
                <a:ext uri="{FF2B5EF4-FFF2-40B4-BE49-F238E27FC236}">
                  <a16:creationId xmlns:a16="http://schemas.microsoft.com/office/drawing/2014/main" id="{36AE8FAE-D24C-461F-8F62-3E7247445043}"/>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2" name="椭圆 6">
              <a:extLst>
                <a:ext uri="{FF2B5EF4-FFF2-40B4-BE49-F238E27FC236}">
                  <a16:creationId xmlns:a16="http://schemas.microsoft.com/office/drawing/2014/main" id="{BFE8252D-724E-4996-9F63-5A454BAF5764}"/>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5</a:t>
              </a:r>
              <a:endParaRPr lang="zh-CN" altLang="en-US" sz="2000" b="1" dirty="0">
                <a:solidFill>
                  <a:srgbClr val="000000"/>
                </a:solidFill>
                <a:latin typeface="Calibri" panose="020F0502020204030204" pitchFamily="34" charset="0"/>
                <a:sym typeface="宋体" panose="02010600030101010101" pitchFamily="2" charset="-122"/>
              </a:endParaRPr>
            </a:p>
          </p:txBody>
        </p:sp>
      </p:grpSp>
      <p:sp>
        <p:nvSpPr>
          <p:cNvPr id="53" name="TextBox 7">
            <a:extLst>
              <a:ext uri="{FF2B5EF4-FFF2-40B4-BE49-F238E27FC236}">
                <a16:creationId xmlns:a16="http://schemas.microsoft.com/office/drawing/2014/main" id="{6C95684D-5FFF-42C2-B142-0A5462A1BB76}"/>
              </a:ext>
            </a:extLst>
          </p:cNvPr>
          <p:cNvSpPr>
            <a:spLocks noChangeArrowheads="1"/>
          </p:cNvSpPr>
          <p:nvPr/>
        </p:nvSpPr>
        <p:spPr bwMode="auto">
          <a:xfrm>
            <a:off x="971798" y="878855"/>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容错性</a:t>
            </a:r>
          </a:p>
        </p:txBody>
      </p:sp>
      <p:sp>
        <p:nvSpPr>
          <p:cNvPr id="54" name="TextBox 8">
            <a:extLst>
              <a:ext uri="{FF2B5EF4-FFF2-40B4-BE49-F238E27FC236}">
                <a16:creationId xmlns:a16="http://schemas.microsoft.com/office/drawing/2014/main" id="{32DDF514-4CF3-4552-9FE8-44BAE02C8AB3}"/>
              </a:ext>
            </a:extLst>
          </p:cNvPr>
          <p:cNvSpPr>
            <a:spLocks noChangeArrowheads="1"/>
          </p:cNvSpPr>
          <p:nvPr/>
        </p:nvSpPr>
        <p:spPr bwMode="auto">
          <a:xfrm>
            <a:off x="395536" y="1491630"/>
            <a:ext cx="3960440" cy="134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容错与安全相关，也可以称为使可用性的一个方面。当一部分节点失效或者出现安全问题时，必须保证这个无线传感器网络的正确和安全运行</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5" name="矩形 9">
            <a:extLst>
              <a:ext uri="{FF2B5EF4-FFF2-40B4-BE49-F238E27FC236}">
                <a16:creationId xmlns:a16="http://schemas.microsoft.com/office/drawing/2014/main" id="{6C8D33C9-0A74-4624-8602-7FE04E01EE5C}"/>
              </a:ext>
            </a:extLst>
          </p:cNvPr>
          <p:cNvSpPr>
            <a:spLocks noChangeArrowheads="1"/>
          </p:cNvSpPr>
          <p:nvPr/>
        </p:nvSpPr>
        <p:spPr bwMode="auto">
          <a:xfrm>
            <a:off x="5077073" y="1263030"/>
            <a:ext cx="349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6" name="组合 15368">
            <a:extLst>
              <a:ext uri="{FF2B5EF4-FFF2-40B4-BE49-F238E27FC236}">
                <a16:creationId xmlns:a16="http://schemas.microsoft.com/office/drawing/2014/main" id="{95C4DBEB-6873-4CBB-95F5-095F0E6B5D3F}"/>
              </a:ext>
            </a:extLst>
          </p:cNvPr>
          <p:cNvGrpSpPr>
            <a:grpSpLocks/>
          </p:cNvGrpSpPr>
          <p:nvPr/>
        </p:nvGrpSpPr>
        <p:grpSpPr bwMode="auto">
          <a:xfrm>
            <a:off x="4716711" y="796305"/>
            <a:ext cx="539750" cy="539750"/>
            <a:chOff x="0" y="0"/>
            <a:chExt cx="2016224" cy="2016224"/>
          </a:xfrm>
        </p:grpSpPr>
        <p:sp>
          <p:nvSpPr>
            <p:cNvPr id="57" name="椭圆 11">
              <a:extLst>
                <a:ext uri="{FF2B5EF4-FFF2-40B4-BE49-F238E27FC236}">
                  <a16:creationId xmlns:a16="http://schemas.microsoft.com/office/drawing/2014/main" id="{9BCECBFE-E5F5-4F14-A5C2-E082CF51392E}"/>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8" name="椭圆 12">
              <a:extLst>
                <a:ext uri="{FF2B5EF4-FFF2-40B4-BE49-F238E27FC236}">
                  <a16:creationId xmlns:a16="http://schemas.microsoft.com/office/drawing/2014/main" id="{4A08B28F-8FFD-401F-B6BB-2AE047DC738F}"/>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6</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59" name="TextBox 13">
            <a:extLst>
              <a:ext uri="{FF2B5EF4-FFF2-40B4-BE49-F238E27FC236}">
                <a16:creationId xmlns:a16="http://schemas.microsoft.com/office/drawing/2014/main" id="{6D55605C-8FC2-4AB2-9C63-58B8891AB057}"/>
              </a:ext>
            </a:extLst>
          </p:cNvPr>
          <p:cNvSpPr>
            <a:spLocks noChangeArrowheads="1"/>
          </p:cNvSpPr>
          <p:nvPr/>
        </p:nvSpPr>
        <p:spPr bwMode="auto">
          <a:xfrm>
            <a:off x="5292973" y="831230"/>
            <a:ext cx="1943100"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不可否认性</a:t>
            </a:r>
          </a:p>
        </p:txBody>
      </p:sp>
      <p:sp>
        <p:nvSpPr>
          <p:cNvPr id="60" name="TextBox 14">
            <a:extLst>
              <a:ext uri="{FF2B5EF4-FFF2-40B4-BE49-F238E27FC236}">
                <a16:creationId xmlns:a16="http://schemas.microsoft.com/office/drawing/2014/main" id="{3D45351D-5DEF-4834-B2B2-BE2C388E6F21}"/>
              </a:ext>
            </a:extLst>
          </p:cNvPr>
          <p:cNvSpPr>
            <a:spLocks noChangeArrowheads="1"/>
          </p:cNvSpPr>
          <p:nvPr/>
        </p:nvSpPr>
        <p:spPr bwMode="auto">
          <a:xfrm>
            <a:off x="4861172" y="1444005"/>
            <a:ext cx="3887291" cy="166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利用不可否认性，节点发送过的信息可以作为证据，证明节点是否具有恶意或者进行了不符合协议的操作。但是，由于传感器的计算能力很弱，该不可否认性不能通过传统的非对称密钥的方式来完成</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 name="矩形 15">
            <a:extLst>
              <a:ext uri="{FF2B5EF4-FFF2-40B4-BE49-F238E27FC236}">
                <a16:creationId xmlns:a16="http://schemas.microsoft.com/office/drawing/2014/main" id="{BFECE7C7-B8E6-45C1-BF85-8C46F05508C7}"/>
              </a:ext>
            </a:extLst>
          </p:cNvPr>
          <p:cNvSpPr>
            <a:spLocks noChangeArrowheads="1"/>
          </p:cNvSpPr>
          <p:nvPr/>
        </p:nvSpPr>
        <p:spPr bwMode="auto">
          <a:xfrm>
            <a:off x="755898" y="3544118"/>
            <a:ext cx="7776000" cy="44450"/>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62" name="组合 15374">
            <a:extLst>
              <a:ext uri="{FF2B5EF4-FFF2-40B4-BE49-F238E27FC236}">
                <a16:creationId xmlns:a16="http://schemas.microsoft.com/office/drawing/2014/main" id="{2452AFC6-FB3C-4563-A3AB-9F56F428EE10}"/>
              </a:ext>
            </a:extLst>
          </p:cNvPr>
          <p:cNvGrpSpPr>
            <a:grpSpLocks/>
          </p:cNvGrpSpPr>
          <p:nvPr/>
        </p:nvGrpSpPr>
        <p:grpSpPr bwMode="auto">
          <a:xfrm>
            <a:off x="395536" y="3075806"/>
            <a:ext cx="539750" cy="539750"/>
            <a:chOff x="0" y="0"/>
            <a:chExt cx="2016224" cy="2016224"/>
          </a:xfrm>
        </p:grpSpPr>
        <p:sp>
          <p:nvSpPr>
            <p:cNvPr id="63" name="椭圆 17">
              <a:extLst>
                <a:ext uri="{FF2B5EF4-FFF2-40B4-BE49-F238E27FC236}">
                  <a16:creationId xmlns:a16="http://schemas.microsoft.com/office/drawing/2014/main" id="{39036758-AAB8-4D96-ABCC-FCEB8AD40D50}"/>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64" name="椭圆 18">
              <a:extLst>
                <a:ext uri="{FF2B5EF4-FFF2-40B4-BE49-F238E27FC236}">
                  <a16:creationId xmlns:a16="http://schemas.microsoft.com/office/drawing/2014/main" id="{21C69BA6-B8E3-4CB4-93A3-274F12970BB9}"/>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7</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65" name="TextBox 19">
            <a:extLst>
              <a:ext uri="{FF2B5EF4-FFF2-40B4-BE49-F238E27FC236}">
                <a16:creationId xmlns:a16="http://schemas.microsoft.com/office/drawing/2014/main" id="{0B8FD4B6-04A2-40C0-9FA7-1B1DEC8E80C2}"/>
              </a:ext>
            </a:extLst>
          </p:cNvPr>
          <p:cNvSpPr>
            <a:spLocks noChangeArrowheads="1"/>
          </p:cNvSpPr>
          <p:nvPr/>
        </p:nvSpPr>
        <p:spPr bwMode="auto">
          <a:xfrm>
            <a:off x="971798" y="3112318"/>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扩展性</a:t>
            </a:r>
          </a:p>
        </p:txBody>
      </p:sp>
      <p:sp>
        <p:nvSpPr>
          <p:cNvPr id="66" name="TextBox 20">
            <a:extLst>
              <a:ext uri="{FF2B5EF4-FFF2-40B4-BE49-F238E27FC236}">
                <a16:creationId xmlns:a16="http://schemas.microsoft.com/office/drawing/2014/main" id="{6BA28F40-1068-4999-A009-CB0CE28F3189}"/>
              </a:ext>
            </a:extLst>
          </p:cNvPr>
          <p:cNvSpPr>
            <a:spLocks noChangeArrowheads="1"/>
          </p:cNvSpPr>
          <p:nvPr/>
        </p:nvSpPr>
        <p:spPr bwMode="auto">
          <a:xfrm>
            <a:off x="449388" y="3737837"/>
            <a:ext cx="8119685" cy="1398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WSN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的可扩展性表现在传感器节点数量、网络覆盖区域、生命周期、感知精度等方面的可扩展性级别，所以安全保障机制必须提供支持该可扩展性级别的安全机制和算法，来使传感器网络保持正常运行</a:t>
            </a:r>
          </a:p>
          <a:p>
            <a:pPr algn="just"/>
            <a:endParaRPr lang="zh-CN" altLang="en-US" sz="2000" dirty="0">
              <a:solidFill>
                <a:srgbClr val="000000"/>
              </a:solidFill>
              <a:latin typeface="楷体" panose="02010609060101010101" pitchFamily="49" charset="-122"/>
              <a:ea typeface="楷体" panose="02010609060101010101" pitchFamily="49" charset="-122"/>
              <a:sym typeface="楷体" panose="02010609060101010101" pitchFamily="49" charset="-122"/>
            </a:endParaRPr>
          </a:p>
        </p:txBody>
      </p:sp>
    </p:spTree>
    <p:extLst>
      <p:ext uri="{BB962C8B-B14F-4D97-AF65-F5344CB8AC3E}">
        <p14:creationId xmlns:p14="http://schemas.microsoft.com/office/powerpoint/2010/main" val="115613556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7" name="文本框 6">
            <a:extLst>
              <a:ext uri="{FF2B5EF4-FFF2-40B4-BE49-F238E27FC236}">
                <a16:creationId xmlns:a16="http://schemas.microsoft.com/office/drawing/2014/main" id="{ABDA3C65-69FE-435D-BDA2-4C39A7031DA7}"/>
              </a:ext>
            </a:extLst>
          </p:cNvPr>
          <p:cNvSpPr txBox="1"/>
          <p:nvPr/>
        </p:nvSpPr>
        <p:spPr>
          <a:xfrm>
            <a:off x="589825" y="1136742"/>
            <a:ext cx="7819183" cy="784510"/>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网络层的安全机制可分为</a:t>
            </a:r>
            <a:r>
              <a:rPr lang="zh-CN" altLang="en-US" b="1" dirty="0">
                <a:solidFill>
                  <a:srgbClr val="F07010"/>
                </a:solidFill>
                <a:latin typeface="Times New Roman" panose="02020603050405020304" pitchFamily="18" charset="0"/>
                <a:ea typeface="华文楷体" panose="02010600040101010101" pitchFamily="2" charset="-122"/>
                <a:cs typeface="Times New Roman" panose="02020603050405020304" pitchFamily="18" charset="0"/>
              </a:rPr>
              <a:t>端到端机密性</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和</a:t>
            </a:r>
            <a:r>
              <a:rPr lang="zh-CN" altLang="en-US" b="1" dirty="0">
                <a:solidFill>
                  <a:srgbClr val="F07010"/>
                </a:solidFill>
                <a:latin typeface="Times New Roman" panose="02020603050405020304" pitchFamily="18" charset="0"/>
                <a:ea typeface="华文楷体" panose="02010600040101010101" pitchFamily="2" charset="-122"/>
                <a:cs typeface="Times New Roman" panose="02020603050405020304" pitchFamily="18" charset="0"/>
              </a:rPr>
              <a:t>节点到节点机密性</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。需要建立相应的认证机制、密钥协商机制、密钥管理机制和算法选取机制。</a:t>
            </a:r>
          </a:p>
        </p:txBody>
      </p:sp>
    </p:spTree>
    <p:extLst>
      <p:ext uri="{BB962C8B-B14F-4D97-AF65-F5344CB8AC3E}">
        <p14:creationId xmlns:p14="http://schemas.microsoft.com/office/powerpoint/2010/main" val="20472942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7" name="文本框 6">
            <a:extLst>
              <a:ext uri="{FF2B5EF4-FFF2-40B4-BE49-F238E27FC236}">
                <a16:creationId xmlns:a16="http://schemas.microsoft.com/office/drawing/2014/main" id="{ABDA3C65-69FE-435D-BDA2-4C39A7031DA7}"/>
              </a:ext>
            </a:extLst>
          </p:cNvPr>
          <p:cNvSpPr txBox="1"/>
          <p:nvPr/>
        </p:nvSpPr>
        <p:spPr>
          <a:xfrm>
            <a:off x="589825" y="627534"/>
            <a:ext cx="7819183" cy="424412"/>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网络层安全防护主要涉及如下安全机制：</a:t>
            </a:r>
          </a:p>
        </p:txBody>
      </p:sp>
      <p:sp>
        <p:nvSpPr>
          <p:cNvPr id="5" name="矩形 4">
            <a:extLst>
              <a:ext uri="{FF2B5EF4-FFF2-40B4-BE49-F238E27FC236}">
                <a16:creationId xmlns:a16="http://schemas.microsoft.com/office/drawing/2014/main" id="{11991E1D-870A-46C4-BADA-55B3F098475C}"/>
              </a:ext>
            </a:extLst>
          </p:cNvPr>
          <p:cNvSpPr>
            <a:spLocks noChangeArrowheads="1"/>
          </p:cNvSpPr>
          <p:nvPr/>
        </p:nvSpPr>
        <p:spPr bwMode="auto">
          <a:xfrm>
            <a:off x="971569" y="1723161"/>
            <a:ext cx="3060000" cy="46038"/>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6" name="组合 14339">
            <a:extLst>
              <a:ext uri="{FF2B5EF4-FFF2-40B4-BE49-F238E27FC236}">
                <a16:creationId xmlns:a16="http://schemas.microsoft.com/office/drawing/2014/main" id="{BDE7DC78-155E-4312-B0FE-DD70802D3E09}"/>
              </a:ext>
            </a:extLst>
          </p:cNvPr>
          <p:cNvGrpSpPr>
            <a:grpSpLocks/>
          </p:cNvGrpSpPr>
          <p:nvPr/>
        </p:nvGrpSpPr>
        <p:grpSpPr bwMode="auto">
          <a:xfrm>
            <a:off x="611207" y="1254849"/>
            <a:ext cx="539750" cy="539750"/>
            <a:chOff x="0" y="0"/>
            <a:chExt cx="2016224" cy="2016224"/>
          </a:xfrm>
        </p:grpSpPr>
        <p:sp>
          <p:nvSpPr>
            <p:cNvPr id="8" name="椭圆 6">
              <a:extLst>
                <a:ext uri="{FF2B5EF4-FFF2-40B4-BE49-F238E27FC236}">
                  <a16:creationId xmlns:a16="http://schemas.microsoft.com/office/drawing/2014/main" id="{5824193B-2FCD-4A4D-AAF4-0A2E02815EBC}"/>
                </a:ext>
              </a:extLst>
            </p:cNvPr>
            <p:cNvSpPr>
              <a:spLocks noChangeArrowheads="1"/>
            </p:cNvSpPr>
            <p:nvPr/>
          </p:nvSpPr>
          <p:spPr bwMode="auto">
            <a:xfrm>
              <a:off x="0" y="0"/>
              <a:ext cx="2016224" cy="201622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9" name="椭圆 7">
              <a:extLst>
                <a:ext uri="{FF2B5EF4-FFF2-40B4-BE49-F238E27FC236}">
                  <a16:creationId xmlns:a16="http://schemas.microsoft.com/office/drawing/2014/main" id="{D9F319E1-E0A7-4D0E-87A1-3AC89762595F}"/>
                </a:ext>
              </a:extLst>
            </p:cNvPr>
            <p:cNvSpPr>
              <a:spLocks noChangeArrowheads="1"/>
            </p:cNvSpPr>
            <p:nvPr/>
          </p:nvSpPr>
          <p:spPr bwMode="auto">
            <a:xfrm>
              <a:off x="180020" y="180020"/>
              <a:ext cx="1656184" cy="165618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1</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10" name="TextBox 8">
            <a:extLst>
              <a:ext uri="{FF2B5EF4-FFF2-40B4-BE49-F238E27FC236}">
                <a16:creationId xmlns:a16="http://schemas.microsoft.com/office/drawing/2014/main" id="{AA2ED755-C3B5-4C34-AEF8-6C0A37C90EE4}"/>
              </a:ext>
            </a:extLst>
          </p:cNvPr>
          <p:cNvSpPr>
            <a:spLocks noChangeArrowheads="1"/>
          </p:cNvSpPr>
          <p:nvPr/>
        </p:nvSpPr>
        <p:spPr bwMode="auto">
          <a:xfrm>
            <a:off x="1187469" y="1291361"/>
            <a:ext cx="12239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加密机制</a:t>
            </a:r>
          </a:p>
        </p:txBody>
      </p:sp>
      <p:sp>
        <p:nvSpPr>
          <p:cNvPr id="11" name="TextBox 9">
            <a:extLst>
              <a:ext uri="{FF2B5EF4-FFF2-40B4-BE49-F238E27FC236}">
                <a16:creationId xmlns:a16="http://schemas.microsoft.com/office/drawing/2014/main" id="{3BF3106C-7E30-44D7-8C6F-E9BCF603BCFA}"/>
              </a:ext>
            </a:extLst>
          </p:cNvPr>
          <p:cNvSpPr>
            <a:spLocks noChangeArrowheads="1"/>
          </p:cNvSpPr>
          <p:nvPr/>
        </p:nvSpPr>
        <p:spPr bwMode="auto">
          <a:xfrm>
            <a:off x="755669" y="1904136"/>
            <a:ext cx="3455950"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采用加密算法对数据或通信业务流进行加密。它可以单独使用，也可以与其他机制结合起来使用</a:t>
            </a:r>
          </a:p>
        </p:txBody>
      </p:sp>
      <p:sp>
        <p:nvSpPr>
          <p:cNvPr id="12" name="矩形 10">
            <a:extLst>
              <a:ext uri="{FF2B5EF4-FFF2-40B4-BE49-F238E27FC236}">
                <a16:creationId xmlns:a16="http://schemas.microsoft.com/office/drawing/2014/main" id="{6863647E-A960-4DAF-AD76-2CBB5F607C08}"/>
              </a:ext>
            </a:extLst>
          </p:cNvPr>
          <p:cNvSpPr>
            <a:spLocks noChangeArrowheads="1"/>
          </p:cNvSpPr>
          <p:nvPr/>
        </p:nvSpPr>
        <p:spPr bwMode="auto">
          <a:xfrm>
            <a:off x="5292744" y="1675536"/>
            <a:ext cx="3276000" cy="46038"/>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13" name="组合 14345">
            <a:extLst>
              <a:ext uri="{FF2B5EF4-FFF2-40B4-BE49-F238E27FC236}">
                <a16:creationId xmlns:a16="http://schemas.microsoft.com/office/drawing/2014/main" id="{CAAE84C1-21E7-43A3-96E5-F11154F6935E}"/>
              </a:ext>
            </a:extLst>
          </p:cNvPr>
          <p:cNvGrpSpPr>
            <a:grpSpLocks/>
          </p:cNvGrpSpPr>
          <p:nvPr/>
        </p:nvGrpSpPr>
        <p:grpSpPr bwMode="auto">
          <a:xfrm>
            <a:off x="4932382" y="1208811"/>
            <a:ext cx="539750" cy="539750"/>
            <a:chOff x="0" y="0"/>
            <a:chExt cx="2016224" cy="2016224"/>
          </a:xfrm>
        </p:grpSpPr>
        <p:sp>
          <p:nvSpPr>
            <p:cNvPr id="14" name="椭圆 12">
              <a:extLst>
                <a:ext uri="{FF2B5EF4-FFF2-40B4-BE49-F238E27FC236}">
                  <a16:creationId xmlns:a16="http://schemas.microsoft.com/office/drawing/2014/main" id="{5889ADC9-668F-43DB-841C-53AA1A89DD55}"/>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15" name="椭圆 13">
              <a:extLst>
                <a:ext uri="{FF2B5EF4-FFF2-40B4-BE49-F238E27FC236}">
                  <a16:creationId xmlns:a16="http://schemas.microsoft.com/office/drawing/2014/main" id="{15F1E71C-A791-4ECF-B70C-ADD6D77B3282}"/>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2</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16" name="TextBox 14">
            <a:extLst>
              <a:ext uri="{FF2B5EF4-FFF2-40B4-BE49-F238E27FC236}">
                <a16:creationId xmlns:a16="http://schemas.microsoft.com/office/drawing/2014/main" id="{2B4B7A8D-5E82-41E8-826A-DC797F1D8F0F}"/>
              </a:ext>
            </a:extLst>
          </p:cNvPr>
          <p:cNvSpPr>
            <a:spLocks noChangeArrowheads="1"/>
          </p:cNvSpPr>
          <p:nvPr/>
        </p:nvSpPr>
        <p:spPr bwMode="auto">
          <a:xfrm>
            <a:off x="5508644" y="1243736"/>
            <a:ext cx="1727652"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数字签名机制</a:t>
            </a:r>
          </a:p>
        </p:txBody>
      </p:sp>
      <p:sp>
        <p:nvSpPr>
          <p:cNvPr id="17" name="TextBox 15">
            <a:extLst>
              <a:ext uri="{FF2B5EF4-FFF2-40B4-BE49-F238E27FC236}">
                <a16:creationId xmlns:a16="http://schemas.microsoft.com/office/drawing/2014/main" id="{FA889803-9585-493E-B2F9-CE9EEDC3F471}"/>
              </a:ext>
            </a:extLst>
          </p:cNvPr>
          <p:cNvSpPr>
            <a:spLocks noChangeArrowheads="1"/>
          </p:cNvSpPr>
          <p:nvPr/>
        </p:nvSpPr>
        <p:spPr bwMode="auto">
          <a:xfrm>
            <a:off x="5076844" y="1856511"/>
            <a:ext cx="3743628" cy="134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用于保证通信过程中操作的不可否认性，发送者在报文中附加使用自己私钥加密的签名信息，接收者使用签名者的公钥对签名信息进行验证</a:t>
            </a:r>
          </a:p>
        </p:txBody>
      </p:sp>
      <p:sp>
        <p:nvSpPr>
          <p:cNvPr id="18" name="矩形 16">
            <a:extLst>
              <a:ext uri="{FF2B5EF4-FFF2-40B4-BE49-F238E27FC236}">
                <a16:creationId xmlns:a16="http://schemas.microsoft.com/office/drawing/2014/main" id="{8DAF8E8C-EB88-4C5E-B8BD-D598EB5CF47C}"/>
              </a:ext>
            </a:extLst>
          </p:cNvPr>
          <p:cNvSpPr>
            <a:spLocks noChangeArrowheads="1"/>
          </p:cNvSpPr>
          <p:nvPr/>
        </p:nvSpPr>
        <p:spPr bwMode="auto">
          <a:xfrm>
            <a:off x="971569" y="3590156"/>
            <a:ext cx="2988000" cy="46037"/>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20" name="组合 14351">
            <a:extLst>
              <a:ext uri="{FF2B5EF4-FFF2-40B4-BE49-F238E27FC236}">
                <a16:creationId xmlns:a16="http://schemas.microsoft.com/office/drawing/2014/main" id="{08414C76-DCB6-4ADF-B639-C043641E70DE}"/>
              </a:ext>
            </a:extLst>
          </p:cNvPr>
          <p:cNvGrpSpPr>
            <a:grpSpLocks/>
          </p:cNvGrpSpPr>
          <p:nvPr/>
        </p:nvGrpSpPr>
        <p:grpSpPr bwMode="auto">
          <a:xfrm>
            <a:off x="611207" y="3121843"/>
            <a:ext cx="539750" cy="539750"/>
            <a:chOff x="0" y="0"/>
            <a:chExt cx="2016224" cy="2016224"/>
          </a:xfrm>
        </p:grpSpPr>
        <p:sp>
          <p:nvSpPr>
            <p:cNvPr id="21" name="椭圆 18">
              <a:extLst>
                <a:ext uri="{FF2B5EF4-FFF2-40B4-BE49-F238E27FC236}">
                  <a16:creationId xmlns:a16="http://schemas.microsoft.com/office/drawing/2014/main" id="{80729642-8C04-48DA-ADCE-FA85DCEC6F76}"/>
                </a:ext>
              </a:extLst>
            </p:cNvPr>
            <p:cNvSpPr>
              <a:spLocks noChangeArrowheads="1"/>
            </p:cNvSpPr>
            <p:nvPr/>
          </p:nvSpPr>
          <p:spPr bwMode="auto">
            <a:xfrm>
              <a:off x="0" y="0"/>
              <a:ext cx="2016224" cy="201622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22" name="椭圆 19">
              <a:extLst>
                <a:ext uri="{FF2B5EF4-FFF2-40B4-BE49-F238E27FC236}">
                  <a16:creationId xmlns:a16="http://schemas.microsoft.com/office/drawing/2014/main" id="{CCA40F14-8164-40E3-8FE5-1523AF40D5E4}"/>
                </a:ext>
              </a:extLst>
            </p:cNvPr>
            <p:cNvSpPr>
              <a:spLocks noChangeArrowheads="1"/>
            </p:cNvSpPr>
            <p:nvPr/>
          </p:nvSpPr>
          <p:spPr bwMode="auto">
            <a:xfrm>
              <a:off x="180020" y="180020"/>
              <a:ext cx="1656184" cy="1656184"/>
            </a:xfrm>
            <a:prstGeom prst="ellipse">
              <a:avLst/>
            </a:prstGeom>
            <a:ln/>
          </p:spPr>
          <p:style>
            <a:lnRef idx="2">
              <a:schemeClr val="accent4"/>
            </a:lnRef>
            <a:fillRef idx="1">
              <a:schemeClr val="lt1"/>
            </a:fillRef>
            <a:effectRef idx="0">
              <a:schemeClr val="accent4"/>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3</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23" name="TextBox 20">
            <a:extLst>
              <a:ext uri="{FF2B5EF4-FFF2-40B4-BE49-F238E27FC236}">
                <a16:creationId xmlns:a16="http://schemas.microsoft.com/office/drawing/2014/main" id="{BC8003D1-D712-4C7D-9E82-D8F4B537ABB3}"/>
              </a:ext>
            </a:extLst>
          </p:cNvPr>
          <p:cNvSpPr>
            <a:spLocks noChangeArrowheads="1"/>
          </p:cNvSpPr>
          <p:nvPr/>
        </p:nvSpPr>
        <p:spPr bwMode="auto">
          <a:xfrm>
            <a:off x="1187469" y="3158356"/>
            <a:ext cx="1871663" cy="4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数据完整性机制</a:t>
            </a:r>
          </a:p>
        </p:txBody>
      </p:sp>
      <p:sp>
        <p:nvSpPr>
          <p:cNvPr id="24" name="TextBox 21">
            <a:extLst>
              <a:ext uri="{FF2B5EF4-FFF2-40B4-BE49-F238E27FC236}">
                <a16:creationId xmlns:a16="http://schemas.microsoft.com/office/drawing/2014/main" id="{16636B0B-D410-4828-9801-9EB80C866584}"/>
              </a:ext>
            </a:extLst>
          </p:cNvPr>
          <p:cNvSpPr>
            <a:spLocks noChangeArrowheads="1"/>
          </p:cNvSpPr>
          <p:nvPr/>
        </p:nvSpPr>
        <p:spPr bwMode="auto">
          <a:xfrm>
            <a:off x="755668" y="3771131"/>
            <a:ext cx="3455949"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发送者在报文中附加使用单向散列算法加密的认证信息，接收者对认证信息、进行验证</a:t>
            </a:r>
          </a:p>
        </p:txBody>
      </p:sp>
      <p:sp>
        <p:nvSpPr>
          <p:cNvPr id="25" name="矩形 22">
            <a:extLst>
              <a:ext uri="{FF2B5EF4-FFF2-40B4-BE49-F238E27FC236}">
                <a16:creationId xmlns:a16="http://schemas.microsoft.com/office/drawing/2014/main" id="{E7FBBE9E-1D12-4F59-B9ED-E1FF3F613818}"/>
              </a:ext>
            </a:extLst>
          </p:cNvPr>
          <p:cNvSpPr>
            <a:spLocks noChangeArrowheads="1"/>
          </p:cNvSpPr>
          <p:nvPr/>
        </p:nvSpPr>
        <p:spPr bwMode="auto">
          <a:xfrm>
            <a:off x="5292744" y="3544118"/>
            <a:ext cx="3240000" cy="44450"/>
          </a:xfrm>
          <a:prstGeom prst="rect">
            <a:avLst/>
          </a:prstGeom>
          <a:solidFill>
            <a:schemeClr val="accent2"/>
          </a:solidFill>
          <a:ln>
            <a:noFill/>
          </a:ln>
        </p:spPr>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grpSp>
        <p:nvGrpSpPr>
          <p:cNvPr id="26" name="组合 14357">
            <a:extLst>
              <a:ext uri="{FF2B5EF4-FFF2-40B4-BE49-F238E27FC236}">
                <a16:creationId xmlns:a16="http://schemas.microsoft.com/office/drawing/2014/main" id="{BEDBB9C4-9D47-4B97-9D08-B7EA444A8789}"/>
              </a:ext>
            </a:extLst>
          </p:cNvPr>
          <p:cNvGrpSpPr>
            <a:grpSpLocks/>
          </p:cNvGrpSpPr>
          <p:nvPr/>
        </p:nvGrpSpPr>
        <p:grpSpPr bwMode="auto">
          <a:xfrm>
            <a:off x="4932382" y="3075806"/>
            <a:ext cx="539750" cy="539750"/>
            <a:chOff x="0" y="0"/>
            <a:chExt cx="2016224" cy="2016224"/>
          </a:xfrm>
        </p:grpSpPr>
        <p:sp>
          <p:nvSpPr>
            <p:cNvPr id="27" name="椭圆 24">
              <a:extLst>
                <a:ext uri="{FF2B5EF4-FFF2-40B4-BE49-F238E27FC236}">
                  <a16:creationId xmlns:a16="http://schemas.microsoft.com/office/drawing/2014/main" id="{C40E50D0-8A56-4F41-ADCC-55B275A6A773}"/>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sz="1400" b="1">
                <a:solidFill>
                  <a:srgbClr val="FFFFFF"/>
                </a:solidFill>
                <a:latin typeface="Calibri" panose="020F0502020204030204" pitchFamily="34" charset="0"/>
                <a:sym typeface="宋体" panose="02010600030101010101" pitchFamily="2" charset="-122"/>
              </a:endParaRPr>
            </a:p>
          </p:txBody>
        </p:sp>
        <p:sp>
          <p:nvSpPr>
            <p:cNvPr id="28" name="椭圆 25">
              <a:extLst>
                <a:ext uri="{FF2B5EF4-FFF2-40B4-BE49-F238E27FC236}">
                  <a16:creationId xmlns:a16="http://schemas.microsoft.com/office/drawing/2014/main" id="{35C95C77-0095-413F-A43B-9FAF4B834162}"/>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a:solidFill>
                    <a:srgbClr val="000000"/>
                  </a:solidFill>
                  <a:latin typeface="Calibri" panose="020F0502020204030204" pitchFamily="34" charset="0"/>
                  <a:sym typeface="宋体" panose="02010600030101010101" pitchFamily="2" charset="-122"/>
                </a:rPr>
                <a:t>4</a:t>
              </a:r>
              <a:endParaRPr lang="zh-CN" altLang="en-US" sz="1600" b="1">
                <a:solidFill>
                  <a:srgbClr val="000000"/>
                </a:solidFill>
                <a:latin typeface="Calibri" panose="020F0502020204030204" pitchFamily="34" charset="0"/>
                <a:sym typeface="宋体" panose="02010600030101010101" pitchFamily="2" charset="-122"/>
              </a:endParaRPr>
            </a:p>
          </p:txBody>
        </p:sp>
      </p:grpSp>
      <p:sp>
        <p:nvSpPr>
          <p:cNvPr id="29" name="TextBox 26">
            <a:extLst>
              <a:ext uri="{FF2B5EF4-FFF2-40B4-BE49-F238E27FC236}">
                <a16:creationId xmlns:a16="http://schemas.microsoft.com/office/drawing/2014/main" id="{E2140800-10DE-4BC9-8EE0-EB91E2E568B6}"/>
              </a:ext>
            </a:extLst>
          </p:cNvPr>
          <p:cNvSpPr>
            <a:spLocks noChangeArrowheads="1"/>
          </p:cNvSpPr>
          <p:nvPr/>
        </p:nvSpPr>
        <p:spPr bwMode="auto">
          <a:xfrm>
            <a:off x="5508644" y="3112318"/>
            <a:ext cx="1836738"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实体认证机制</a:t>
            </a:r>
          </a:p>
        </p:txBody>
      </p:sp>
      <p:sp>
        <p:nvSpPr>
          <p:cNvPr id="30" name="TextBox 27">
            <a:extLst>
              <a:ext uri="{FF2B5EF4-FFF2-40B4-BE49-F238E27FC236}">
                <a16:creationId xmlns:a16="http://schemas.microsoft.com/office/drawing/2014/main" id="{E6BBFBDD-4573-43FB-B0DA-6CE7703CA182}"/>
              </a:ext>
            </a:extLst>
          </p:cNvPr>
          <p:cNvSpPr>
            <a:spLocks noChangeArrowheads="1"/>
          </p:cNvSpPr>
          <p:nvPr/>
        </p:nvSpPr>
        <p:spPr bwMode="auto">
          <a:xfrm>
            <a:off x="5076844" y="3722365"/>
            <a:ext cx="3743628"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通信双方相互交换实体的特征信息来声明实体的身份</a:t>
            </a:r>
          </a:p>
        </p:txBody>
      </p:sp>
    </p:spTree>
    <p:extLst>
      <p:ext uri="{BB962C8B-B14F-4D97-AF65-F5344CB8AC3E}">
        <p14:creationId xmlns:p14="http://schemas.microsoft.com/office/powerpoint/2010/main" val="11103387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49" name="矩形 3">
            <a:extLst>
              <a:ext uri="{FF2B5EF4-FFF2-40B4-BE49-F238E27FC236}">
                <a16:creationId xmlns:a16="http://schemas.microsoft.com/office/drawing/2014/main" id="{43B2A0A8-98C1-4628-B317-93C4BA84F063}"/>
              </a:ext>
            </a:extLst>
          </p:cNvPr>
          <p:cNvSpPr>
            <a:spLocks noChangeArrowheads="1"/>
          </p:cNvSpPr>
          <p:nvPr/>
        </p:nvSpPr>
        <p:spPr bwMode="auto">
          <a:xfrm>
            <a:off x="755898" y="1310655"/>
            <a:ext cx="331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0" name="组合 15362">
            <a:extLst>
              <a:ext uri="{FF2B5EF4-FFF2-40B4-BE49-F238E27FC236}">
                <a16:creationId xmlns:a16="http://schemas.microsoft.com/office/drawing/2014/main" id="{5C51564A-82B9-4CF3-86AE-3F84255B4B1F}"/>
              </a:ext>
            </a:extLst>
          </p:cNvPr>
          <p:cNvGrpSpPr>
            <a:grpSpLocks/>
          </p:cNvGrpSpPr>
          <p:nvPr/>
        </p:nvGrpSpPr>
        <p:grpSpPr bwMode="auto">
          <a:xfrm>
            <a:off x="395536" y="842343"/>
            <a:ext cx="539750" cy="539750"/>
            <a:chOff x="0" y="0"/>
            <a:chExt cx="2016224" cy="2016224"/>
          </a:xfrm>
        </p:grpSpPr>
        <p:sp>
          <p:nvSpPr>
            <p:cNvPr id="51" name="椭圆 5">
              <a:extLst>
                <a:ext uri="{FF2B5EF4-FFF2-40B4-BE49-F238E27FC236}">
                  <a16:creationId xmlns:a16="http://schemas.microsoft.com/office/drawing/2014/main" id="{36AE8FAE-D24C-461F-8F62-3E7247445043}"/>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2" name="椭圆 6">
              <a:extLst>
                <a:ext uri="{FF2B5EF4-FFF2-40B4-BE49-F238E27FC236}">
                  <a16:creationId xmlns:a16="http://schemas.microsoft.com/office/drawing/2014/main" id="{BFE8252D-724E-4996-9F63-5A454BAF5764}"/>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5</a:t>
              </a:r>
              <a:endParaRPr lang="zh-CN" altLang="en-US" sz="2000" b="1" dirty="0">
                <a:solidFill>
                  <a:srgbClr val="000000"/>
                </a:solidFill>
                <a:latin typeface="Calibri" panose="020F0502020204030204" pitchFamily="34" charset="0"/>
                <a:sym typeface="宋体" panose="02010600030101010101" pitchFamily="2" charset="-122"/>
              </a:endParaRPr>
            </a:p>
          </p:txBody>
        </p:sp>
      </p:grpSp>
      <p:sp>
        <p:nvSpPr>
          <p:cNvPr id="53" name="TextBox 7">
            <a:extLst>
              <a:ext uri="{FF2B5EF4-FFF2-40B4-BE49-F238E27FC236}">
                <a16:creationId xmlns:a16="http://schemas.microsoft.com/office/drawing/2014/main" id="{6C95684D-5FFF-42C2-B142-0A5462A1BB76}"/>
              </a:ext>
            </a:extLst>
          </p:cNvPr>
          <p:cNvSpPr>
            <a:spLocks noChangeArrowheads="1"/>
          </p:cNvSpPr>
          <p:nvPr/>
        </p:nvSpPr>
        <p:spPr bwMode="auto">
          <a:xfrm>
            <a:off x="971798" y="878855"/>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访问控制机制</a:t>
            </a:r>
          </a:p>
        </p:txBody>
      </p:sp>
      <p:sp>
        <p:nvSpPr>
          <p:cNvPr id="54" name="TextBox 8">
            <a:extLst>
              <a:ext uri="{FF2B5EF4-FFF2-40B4-BE49-F238E27FC236}">
                <a16:creationId xmlns:a16="http://schemas.microsoft.com/office/drawing/2014/main" id="{32DDF514-4CF3-4552-9FE8-44BAE02C8AB3}"/>
              </a:ext>
            </a:extLst>
          </p:cNvPr>
          <p:cNvSpPr>
            <a:spLocks noChangeArrowheads="1"/>
          </p:cNvSpPr>
          <p:nvPr/>
        </p:nvSpPr>
        <p:spPr bwMode="auto">
          <a:xfrm>
            <a:off x="395536" y="1491630"/>
            <a:ext cx="3960440"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根据实体的身份及有关属性信息确定该实体对系统资源的访问权</a:t>
            </a:r>
          </a:p>
        </p:txBody>
      </p:sp>
      <p:sp>
        <p:nvSpPr>
          <p:cNvPr id="55" name="矩形 9">
            <a:extLst>
              <a:ext uri="{FF2B5EF4-FFF2-40B4-BE49-F238E27FC236}">
                <a16:creationId xmlns:a16="http://schemas.microsoft.com/office/drawing/2014/main" id="{6C8D33C9-0A74-4624-8602-7FE04E01EE5C}"/>
              </a:ext>
            </a:extLst>
          </p:cNvPr>
          <p:cNvSpPr>
            <a:spLocks noChangeArrowheads="1"/>
          </p:cNvSpPr>
          <p:nvPr/>
        </p:nvSpPr>
        <p:spPr bwMode="auto">
          <a:xfrm>
            <a:off x="5077073" y="1263030"/>
            <a:ext cx="349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6" name="组合 15368">
            <a:extLst>
              <a:ext uri="{FF2B5EF4-FFF2-40B4-BE49-F238E27FC236}">
                <a16:creationId xmlns:a16="http://schemas.microsoft.com/office/drawing/2014/main" id="{95C4DBEB-6873-4CBB-95F5-095F0E6B5D3F}"/>
              </a:ext>
            </a:extLst>
          </p:cNvPr>
          <p:cNvGrpSpPr>
            <a:grpSpLocks/>
          </p:cNvGrpSpPr>
          <p:nvPr/>
        </p:nvGrpSpPr>
        <p:grpSpPr bwMode="auto">
          <a:xfrm>
            <a:off x="4716711" y="796305"/>
            <a:ext cx="539750" cy="539750"/>
            <a:chOff x="0" y="0"/>
            <a:chExt cx="2016224" cy="2016224"/>
          </a:xfrm>
        </p:grpSpPr>
        <p:sp>
          <p:nvSpPr>
            <p:cNvPr id="57" name="椭圆 11">
              <a:extLst>
                <a:ext uri="{FF2B5EF4-FFF2-40B4-BE49-F238E27FC236}">
                  <a16:creationId xmlns:a16="http://schemas.microsoft.com/office/drawing/2014/main" id="{9BCECBFE-E5F5-4F14-A5C2-E082CF51392E}"/>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8" name="椭圆 12">
              <a:extLst>
                <a:ext uri="{FF2B5EF4-FFF2-40B4-BE49-F238E27FC236}">
                  <a16:creationId xmlns:a16="http://schemas.microsoft.com/office/drawing/2014/main" id="{4A08B28F-8FFD-401F-B6BB-2AE047DC738F}"/>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6</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59" name="TextBox 13">
            <a:extLst>
              <a:ext uri="{FF2B5EF4-FFF2-40B4-BE49-F238E27FC236}">
                <a16:creationId xmlns:a16="http://schemas.microsoft.com/office/drawing/2014/main" id="{6D55605C-8FC2-4AB2-9C63-58B8891AB057}"/>
              </a:ext>
            </a:extLst>
          </p:cNvPr>
          <p:cNvSpPr>
            <a:spLocks noChangeArrowheads="1"/>
          </p:cNvSpPr>
          <p:nvPr/>
        </p:nvSpPr>
        <p:spPr bwMode="auto">
          <a:xfrm>
            <a:off x="5292973" y="831230"/>
            <a:ext cx="1943100"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信息过滤机制</a:t>
            </a:r>
          </a:p>
        </p:txBody>
      </p:sp>
      <p:sp>
        <p:nvSpPr>
          <p:cNvPr id="60" name="TextBox 14">
            <a:extLst>
              <a:ext uri="{FF2B5EF4-FFF2-40B4-BE49-F238E27FC236}">
                <a16:creationId xmlns:a16="http://schemas.microsoft.com/office/drawing/2014/main" id="{3D45351D-5DEF-4834-B2B2-BE2C388E6F21}"/>
              </a:ext>
            </a:extLst>
          </p:cNvPr>
          <p:cNvSpPr>
            <a:spLocks noChangeArrowheads="1"/>
          </p:cNvSpPr>
          <p:nvPr/>
        </p:nvSpPr>
        <p:spPr bwMode="auto">
          <a:xfrm>
            <a:off x="4861172" y="1444005"/>
            <a:ext cx="3887291" cy="707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根据安全规则允许或禁止某些信息流入网络</a:t>
            </a:r>
          </a:p>
        </p:txBody>
      </p:sp>
      <p:sp>
        <p:nvSpPr>
          <p:cNvPr id="61" name="矩形 15">
            <a:extLst>
              <a:ext uri="{FF2B5EF4-FFF2-40B4-BE49-F238E27FC236}">
                <a16:creationId xmlns:a16="http://schemas.microsoft.com/office/drawing/2014/main" id="{BFECE7C7-B8E6-45C1-BF85-8C46F05508C7}"/>
              </a:ext>
            </a:extLst>
          </p:cNvPr>
          <p:cNvSpPr>
            <a:spLocks noChangeArrowheads="1"/>
          </p:cNvSpPr>
          <p:nvPr/>
        </p:nvSpPr>
        <p:spPr bwMode="auto">
          <a:xfrm>
            <a:off x="755898" y="3544118"/>
            <a:ext cx="3276000" cy="44450"/>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62" name="组合 15374">
            <a:extLst>
              <a:ext uri="{FF2B5EF4-FFF2-40B4-BE49-F238E27FC236}">
                <a16:creationId xmlns:a16="http://schemas.microsoft.com/office/drawing/2014/main" id="{2452AFC6-FB3C-4563-A3AB-9F56F428EE10}"/>
              </a:ext>
            </a:extLst>
          </p:cNvPr>
          <p:cNvGrpSpPr>
            <a:grpSpLocks/>
          </p:cNvGrpSpPr>
          <p:nvPr/>
        </p:nvGrpSpPr>
        <p:grpSpPr bwMode="auto">
          <a:xfrm>
            <a:off x="395536" y="3075806"/>
            <a:ext cx="539750" cy="539750"/>
            <a:chOff x="0" y="0"/>
            <a:chExt cx="2016224" cy="2016224"/>
          </a:xfrm>
        </p:grpSpPr>
        <p:sp>
          <p:nvSpPr>
            <p:cNvPr id="63" name="椭圆 17">
              <a:extLst>
                <a:ext uri="{FF2B5EF4-FFF2-40B4-BE49-F238E27FC236}">
                  <a16:creationId xmlns:a16="http://schemas.microsoft.com/office/drawing/2014/main" id="{39036758-AAB8-4D96-ABCC-FCEB8AD40D50}"/>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64" name="椭圆 18">
              <a:extLst>
                <a:ext uri="{FF2B5EF4-FFF2-40B4-BE49-F238E27FC236}">
                  <a16:creationId xmlns:a16="http://schemas.microsoft.com/office/drawing/2014/main" id="{21C69BA6-B8E3-4CB4-93A3-274F12970BB9}"/>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7</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65" name="TextBox 19">
            <a:extLst>
              <a:ext uri="{FF2B5EF4-FFF2-40B4-BE49-F238E27FC236}">
                <a16:creationId xmlns:a16="http://schemas.microsoft.com/office/drawing/2014/main" id="{0B8FD4B6-04A2-40C0-9FA7-1B1DEC8E80C2}"/>
              </a:ext>
            </a:extLst>
          </p:cNvPr>
          <p:cNvSpPr>
            <a:spLocks noChangeArrowheads="1"/>
          </p:cNvSpPr>
          <p:nvPr/>
        </p:nvSpPr>
        <p:spPr bwMode="auto">
          <a:xfrm>
            <a:off x="971798" y="3112318"/>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路由控制机制</a:t>
            </a:r>
          </a:p>
        </p:txBody>
      </p:sp>
      <p:sp>
        <p:nvSpPr>
          <p:cNvPr id="66" name="TextBox 20">
            <a:extLst>
              <a:ext uri="{FF2B5EF4-FFF2-40B4-BE49-F238E27FC236}">
                <a16:creationId xmlns:a16="http://schemas.microsoft.com/office/drawing/2014/main" id="{6BA28F40-1068-4999-A009-CB0CE28F3189}"/>
              </a:ext>
            </a:extLst>
          </p:cNvPr>
          <p:cNvSpPr>
            <a:spLocks noChangeArrowheads="1"/>
          </p:cNvSpPr>
          <p:nvPr/>
        </p:nvSpPr>
        <p:spPr bwMode="auto">
          <a:xfrm>
            <a:off x="449389" y="3737837"/>
            <a:ext cx="3690564"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根据报文中的安全标签来确定报文的转发路由，防止将敏感报文转发到某些网段或子网</a:t>
            </a:r>
          </a:p>
        </p:txBody>
      </p:sp>
      <p:sp>
        <p:nvSpPr>
          <p:cNvPr id="21" name="矩形 15">
            <a:extLst>
              <a:ext uri="{FF2B5EF4-FFF2-40B4-BE49-F238E27FC236}">
                <a16:creationId xmlns:a16="http://schemas.microsoft.com/office/drawing/2014/main" id="{1CEAC47F-5A3F-47D6-954D-FD8656CE6AA2}"/>
              </a:ext>
            </a:extLst>
          </p:cNvPr>
          <p:cNvSpPr>
            <a:spLocks noChangeArrowheads="1"/>
          </p:cNvSpPr>
          <p:nvPr/>
        </p:nvSpPr>
        <p:spPr bwMode="auto">
          <a:xfrm>
            <a:off x="5087588" y="3536123"/>
            <a:ext cx="3276000" cy="44450"/>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22" name="组合 15374">
            <a:extLst>
              <a:ext uri="{FF2B5EF4-FFF2-40B4-BE49-F238E27FC236}">
                <a16:creationId xmlns:a16="http://schemas.microsoft.com/office/drawing/2014/main" id="{BA529E51-BFEB-47C0-9C8F-CE828CCEDECF}"/>
              </a:ext>
            </a:extLst>
          </p:cNvPr>
          <p:cNvGrpSpPr>
            <a:grpSpLocks/>
          </p:cNvGrpSpPr>
          <p:nvPr/>
        </p:nvGrpSpPr>
        <p:grpSpPr bwMode="auto">
          <a:xfrm>
            <a:off x="4727226" y="3067811"/>
            <a:ext cx="539750" cy="539750"/>
            <a:chOff x="0" y="0"/>
            <a:chExt cx="2016224" cy="2016224"/>
          </a:xfrm>
        </p:grpSpPr>
        <p:sp>
          <p:nvSpPr>
            <p:cNvPr id="23" name="椭圆 17">
              <a:extLst>
                <a:ext uri="{FF2B5EF4-FFF2-40B4-BE49-F238E27FC236}">
                  <a16:creationId xmlns:a16="http://schemas.microsoft.com/office/drawing/2014/main" id="{60BFF14B-7045-4BC9-BBA7-41584FD67A6A}"/>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24" name="椭圆 18">
              <a:extLst>
                <a:ext uri="{FF2B5EF4-FFF2-40B4-BE49-F238E27FC236}">
                  <a16:creationId xmlns:a16="http://schemas.microsoft.com/office/drawing/2014/main" id="{27339B52-4B98-4B3E-AFB4-77189A810DE1}"/>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8</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25" name="TextBox 19">
            <a:extLst>
              <a:ext uri="{FF2B5EF4-FFF2-40B4-BE49-F238E27FC236}">
                <a16:creationId xmlns:a16="http://schemas.microsoft.com/office/drawing/2014/main" id="{D6907DDF-7F89-40E0-8961-7A789A939302}"/>
              </a:ext>
            </a:extLst>
          </p:cNvPr>
          <p:cNvSpPr>
            <a:spLocks noChangeArrowheads="1"/>
          </p:cNvSpPr>
          <p:nvPr/>
        </p:nvSpPr>
        <p:spPr bwMode="auto">
          <a:xfrm>
            <a:off x="5303488" y="3104323"/>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公证机制</a:t>
            </a:r>
          </a:p>
        </p:txBody>
      </p:sp>
      <p:sp>
        <p:nvSpPr>
          <p:cNvPr id="26" name="TextBox 20">
            <a:extLst>
              <a:ext uri="{FF2B5EF4-FFF2-40B4-BE49-F238E27FC236}">
                <a16:creationId xmlns:a16="http://schemas.microsoft.com/office/drawing/2014/main" id="{F342C25B-E239-4423-B1DF-70C4AC6BD967}"/>
              </a:ext>
            </a:extLst>
          </p:cNvPr>
          <p:cNvSpPr>
            <a:spLocks noChangeArrowheads="1"/>
          </p:cNvSpPr>
          <p:nvPr/>
        </p:nvSpPr>
        <p:spPr bwMode="auto">
          <a:xfrm>
            <a:off x="4781079" y="3729842"/>
            <a:ext cx="3690564" cy="102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由第三方参与的数字签名机制，通过双方都信任的第三方的公证来保证双方操作的不可否认性</a:t>
            </a:r>
          </a:p>
        </p:txBody>
      </p:sp>
    </p:spTree>
    <p:extLst>
      <p:ext uri="{BB962C8B-B14F-4D97-AF65-F5344CB8AC3E}">
        <p14:creationId xmlns:p14="http://schemas.microsoft.com/office/powerpoint/2010/main" val="380795291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49" name="矩形 3">
            <a:extLst>
              <a:ext uri="{FF2B5EF4-FFF2-40B4-BE49-F238E27FC236}">
                <a16:creationId xmlns:a16="http://schemas.microsoft.com/office/drawing/2014/main" id="{43B2A0A8-98C1-4628-B317-93C4BA84F063}"/>
              </a:ext>
            </a:extLst>
          </p:cNvPr>
          <p:cNvSpPr>
            <a:spLocks noChangeArrowheads="1"/>
          </p:cNvSpPr>
          <p:nvPr/>
        </p:nvSpPr>
        <p:spPr bwMode="auto">
          <a:xfrm>
            <a:off x="755898" y="1310655"/>
            <a:ext cx="331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0" name="组合 15362">
            <a:extLst>
              <a:ext uri="{FF2B5EF4-FFF2-40B4-BE49-F238E27FC236}">
                <a16:creationId xmlns:a16="http://schemas.microsoft.com/office/drawing/2014/main" id="{5C51564A-82B9-4CF3-86AE-3F84255B4B1F}"/>
              </a:ext>
            </a:extLst>
          </p:cNvPr>
          <p:cNvGrpSpPr>
            <a:grpSpLocks/>
          </p:cNvGrpSpPr>
          <p:nvPr/>
        </p:nvGrpSpPr>
        <p:grpSpPr bwMode="auto">
          <a:xfrm>
            <a:off x="395536" y="842343"/>
            <a:ext cx="539750" cy="539750"/>
            <a:chOff x="0" y="0"/>
            <a:chExt cx="2016224" cy="2016224"/>
          </a:xfrm>
        </p:grpSpPr>
        <p:sp>
          <p:nvSpPr>
            <p:cNvPr id="51" name="椭圆 5">
              <a:extLst>
                <a:ext uri="{FF2B5EF4-FFF2-40B4-BE49-F238E27FC236}">
                  <a16:creationId xmlns:a16="http://schemas.microsoft.com/office/drawing/2014/main" id="{36AE8FAE-D24C-461F-8F62-3E7247445043}"/>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2" name="椭圆 6">
              <a:extLst>
                <a:ext uri="{FF2B5EF4-FFF2-40B4-BE49-F238E27FC236}">
                  <a16:creationId xmlns:a16="http://schemas.microsoft.com/office/drawing/2014/main" id="{BFE8252D-724E-4996-9F63-5A454BAF5764}"/>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9</a:t>
              </a:r>
              <a:endParaRPr lang="zh-CN" altLang="en-US" sz="2000" b="1" dirty="0">
                <a:solidFill>
                  <a:srgbClr val="000000"/>
                </a:solidFill>
                <a:latin typeface="Calibri" panose="020F0502020204030204" pitchFamily="34" charset="0"/>
                <a:sym typeface="宋体" panose="02010600030101010101" pitchFamily="2" charset="-122"/>
              </a:endParaRPr>
            </a:p>
          </p:txBody>
        </p:sp>
      </p:grpSp>
      <p:sp>
        <p:nvSpPr>
          <p:cNvPr id="53" name="TextBox 7">
            <a:extLst>
              <a:ext uri="{FF2B5EF4-FFF2-40B4-BE49-F238E27FC236}">
                <a16:creationId xmlns:a16="http://schemas.microsoft.com/office/drawing/2014/main" id="{6C95684D-5FFF-42C2-B142-0A5462A1BB76}"/>
              </a:ext>
            </a:extLst>
          </p:cNvPr>
          <p:cNvSpPr>
            <a:spLocks noChangeArrowheads="1"/>
          </p:cNvSpPr>
          <p:nvPr/>
        </p:nvSpPr>
        <p:spPr bwMode="auto">
          <a:xfrm>
            <a:off x="971798" y="878855"/>
            <a:ext cx="1871663"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主动防御</a:t>
            </a:r>
          </a:p>
        </p:txBody>
      </p:sp>
      <p:sp>
        <p:nvSpPr>
          <p:cNvPr id="54" name="TextBox 8">
            <a:extLst>
              <a:ext uri="{FF2B5EF4-FFF2-40B4-BE49-F238E27FC236}">
                <a16:creationId xmlns:a16="http://schemas.microsoft.com/office/drawing/2014/main" id="{32DDF514-4CF3-4552-9FE8-44BAE02C8AB3}"/>
              </a:ext>
            </a:extLst>
          </p:cNvPr>
          <p:cNvSpPr>
            <a:spLocks noChangeArrowheads="1"/>
          </p:cNvSpPr>
          <p:nvPr/>
        </p:nvSpPr>
        <p:spPr bwMode="auto">
          <a:xfrm>
            <a:off x="395536" y="1491630"/>
            <a:ext cx="3960440" cy="134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在动态网络中，直接对网络信息进行监控，并能够完成吸引网络攻击蜜罐网络，牵制和转移黑客对真正业务往来的攻击，获取攻击特征，对攻击源回溯</a:t>
            </a:r>
          </a:p>
        </p:txBody>
      </p:sp>
      <p:sp>
        <p:nvSpPr>
          <p:cNvPr id="55" name="矩形 9">
            <a:extLst>
              <a:ext uri="{FF2B5EF4-FFF2-40B4-BE49-F238E27FC236}">
                <a16:creationId xmlns:a16="http://schemas.microsoft.com/office/drawing/2014/main" id="{6C8D33C9-0A74-4624-8602-7FE04E01EE5C}"/>
              </a:ext>
            </a:extLst>
          </p:cNvPr>
          <p:cNvSpPr>
            <a:spLocks noChangeArrowheads="1"/>
          </p:cNvSpPr>
          <p:nvPr/>
        </p:nvSpPr>
        <p:spPr bwMode="auto">
          <a:xfrm>
            <a:off x="5077073" y="1263030"/>
            <a:ext cx="3492000" cy="46038"/>
          </a:xfrm>
          <a:prstGeom prst="rect">
            <a:avLst/>
          </a:prstGeom>
          <a:solidFill>
            <a:schemeClr val="accent2"/>
          </a:solidFill>
          <a:ln>
            <a:noFill/>
          </a:ln>
        </p:spPr>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grpSp>
        <p:nvGrpSpPr>
          <p:cNvPr id="56" name="组合 15368">
            <a:extLst>
              <a:ext uri="{FF2B5EF4-FFF2-40B4-BE49-F238E27FC236}">
                <a16:creationId xmlns:a16="http://schemas.microsoft.com/office/drawing/2014/main" id="{95C4DBEB-6873-4CBB-95F5-095F0E6B5D3F}"/>
              </a:ext>
            </a:extLst>
          </p:cNvPr>
          <p:cNvGrpSpPr>
            <a:grpSpLocks/>
          </p:cNvGrpSpPr>
          <p:nvPr/>
        </p:nvGrpSpPr>
        <p:grpSpPr bwMode="auto">
          <a:xfrm>
            <a:off x="4716711" y="796305"/>
            <a:ext cx="539750" cy="539750"/>
            <a:chOff x="0" y="0"/>
            <a:chExt cx="2016224" cy="2016224"/>
          </a:xfrm>
        </p:grpSpPr>
        <p:sp>
          <p:nvSpPr>
            <p:cNvPr id="57" name="椭圆 11">
              <a:extLst>
                <a:ext uri="{FF2B5EF4-FFF2-40B4-BE49-F238E27FC236}">
                  <a16:creationId xmlns:a16="http://schemas.microsoft.com/office/drawing/2014/main" id="{9BCECBFE-E5F5-4F14-A5C2-E082CF51392E}"/>
                </a:ext>
              </a:extLst>
            </p:cNvPr>
            <p:cNvSpPr>
              <a:spLocks noChangeArrowheads="1"/>
            </p:cNvSpPr>
            <p:nvPr/>
          </p:nvSpPr>
          <p:spPr bwMode="auto">
            <a:xfrm>
              <a:off x="0" y="0"/>
              <a:ext cx="2016224" cy="201622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endParaRPr lang="zh-CN" altLang="zh-CN" b="1">
                <a:solidFill>
                  <a:srgbClr val="FFFFFF"/>
                </a:solidFill>
                <a:latin typeface="Calibri" panose="020F0502020204030204" pitchFamily="34" charset="0"/>
                <a:sym typeface="宋体" panose="02010600030101010101" pitchFamily="2" charset="-122"/>
              </a:endParaRPr>
            </a:p>
          </p:txBody>
        </p:sp>
        <p:sp>
          <p:nvSpPr>
            <p:cNvPr id="58" name="椭圆 12">
              <a:extLst>
                <a:ext uri="{FF2B5EF4-FFF2-40B4-BE49-F238E27FC236}">
                  <a16:creationId xmlns:a16="http://schemas.microsoft.com/office/drawing/2014/main" id="{4A08B28F-8FFD-401F-B6BB-2AE047DC738F}"/>
                </a:ext>
              </a:extLst>
            </p:cNvPr>
            <p:cNvSpPr>
              <a:spLocks noChangeArrowheads="1"/>
            </p:cNvSpPr>
            <p:nvPr/>
          </p:nvSpPr>
          <p:spPr bwMode="auto">
            <a:xfrm>
              <a:off x="180020" y="180020"/>
              <a:ext cx="1656184" cy="1656184"/>
            </a:xfrm>
            <a:prstGeom prst="ellipse">
              <a:avLst/>
            </a:prstGeom>
            <a:ln/>
          </p:spPr>
          <p:style>
            <a:lnRef idx="2">
              <a:schemeClr val="accent2"/>
            </a:lnRef>
            <a:fillRef idx="1">
              <a:schemeClr val="lt1"/>
            </a:fillRef>
            <a:effectRef idx="0">
              <a:schemeClr val="accent2"/>
            </a:effectRef>
            <a:fontRef idx="minor">
              <a:schemeClr val="dk1"/>
            </a:fontRef>
          </p:style>
          <p:txBody>
            <a:bodyPr anchor="ctr"/>
            <a:lstStyle/>
            <a:p>
              <a:pPr algn="ctr"/>
              <a:r>
                <a:rPr lang="en-US" altLang="zh-CN" sz="1600" b="1" dirty="0">
                  <a:solidFill>
                    <a:srgbClr val="000000"/>
                  </a:solidFill>
                  <a:latin typeface="Calibri" panose="020F0502020204030204" pitchFamily="34" charset="0"/>
                  <a:sym typeface="宋体" panose="02010600030101010101" pitchFamily="2" charset="-122"/>
                </a:rPr>
                <a:t>10</a:t>
              </a:r>
              <a:endParaRPr lang="zh-CN" altLang="en-US" sz="1600" b="1" dirty="0">
                <a:solidFill>
                  <a:srgbClr val="000000"/>
                </a:solidFill>
                <a:latin typeface="Calibri" panose="020F0502020204030204" pitchFamily="34" charset="0"/>
                <a:sym typeface="宋体" panose="02010600030101010101" pitchFamily="2" charset="-122"/>
              </a:endParaRPr>
            </a:p>
          </p:txBody>
        </p:sp>
      </p:grpSp>
      <p:sp>
        <p:nvSpPr>
          <p:cNvPr id="59" name="TextBox 13">
            <a:extLst>
              <a:ext uri="{FF2B5EF4-FFF2-40B4-BE49-F238E27FC236}">
                <a16:creationId xmlns:a16="http://schemas.microsoft.com/office/drawing/2014/main" id="{6D55605C-8FC2-4AB2-9C63-58B8891AB057}"/>
              </a:ext>
            </a:extLst>
          </p:cNvPr>
          <p:cNvSpPr>
            <a:spLocks noChangeArrowheads="1"/>
          </p:cNvSpPr>
          <p:nvPr/>
        </p:nvSpPr>
        <p:spPr bwMode="auto">
          <a:xfrm>
            <a:off x="5292973" y="831230"/>
            <a:ext cx="1943100"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楷体" panose="02010609060101010101" pitchFamily="49" charset="-122"/>
              </a:rPr>
              <a:t>其他机制</a:t>
            </a:r>
          </a:p>
        </p:txBody>
      </p:sp>
      <p:sp>
        <p:nvSpPr>
          <p:cNvPr id="60" name="TextBox 14">
            <a:extLst>
              <a:ext uri="{FF2B5EF4-FFF2-40B4-BE49-F238E27FC236}">
                <a16:creationId xmlns:a16="http://schemas.microsoft.com/office/drawing/2014/main" id="{3D45351D-5DEF-4834-B2B2-BE2C388E6F21}"/>
              </a:ext>
            </a:extLst>
          </p:cNvPr>
          <p:cNvSpPr>
            <a:spLocks noChangeArrowheads="1"/>
          </p:cNvSpPr>
          <p:nvPr/>
        </p:nvSpPr>
        <p:spPr bwMode="auto">
          <a:xfrm>
            <a:off x="4861172" y="1444005"/>
            <a:ext cx="3887291" cy="1347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节点认证、数据机密性、完整性、数据流机密性、</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DDOS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攻击的检测与防御、移动网中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AKA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楷体" panose="02010609060101010101" pitchFamily="49" charset="-122"/>
              </a:rPr>
              <a:t>机制的一致性或兼容性、跨域认证和跨网络认证等</a:t>
            </a:r>
          </a:p>
        </p:txBody>
      </p:sp>
    </p:spTree>
    <p:extLst>
      <p:ext uri="{BB962C8B-B14F-4D97-AF65-F5344CB8AC3E}">
        <p14:creationId xmlns:p14="http://schemas.microsoft.com/office/powerpoint/2010/main" val="42482247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物联网安全体系结构</a:t>
            </a:r>
          </a:p>
        </p:txBody>
      </p:sp>
      <p:sp>
        <p:nvSpPr>
          <p:cNvPr id="7" name="文本框 6">
            <a:extLst>
              <a:ext uri="{FF2B5EF4-FFF2-40B4-BE49-F238E27FC236}">
                <a16:creationId xmlns:a16="http://schemas.microsoft.com/office/drawing/2014/main" id="{ABDA3C65-69FE-435D-BDA2-4C39A7031DA7}"/>
              </a:ext>
            </a:extLst>
          </p:cNvPr>
          <p:cNvSpPr txBox="1"/>
          <p:nvPr/>
        </p:nvSpPr>
        <p:spPr>
          <a:xfrm>
            <a:off x="589825" y="1136742"/>
            <a:ext cx="7819183" cy="2585003"/>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物联网的应用层是物联网核心价值所在，而物联网的应用层的典型应用有很多，如：智能交通、手机支付、智能家居、智能电网、智能城市、智能水务、食品溯源和智能医疗等，这些应用会产生巨大量的数据，由于数据量大，需要云计算、云存储等为应用层提供支持。多样化的物联网应用面临各种各样的安全问题，因此应用层需要一个强大而统一的安全管理平台，否则不同的应用需要不同的安全平台，而这些安全要求不一样会割裂平台之间的安全信任关系。</a:t>
            </a:r>
          </a:p>
        </p:txBody>
      </p:sp>
    </p:spTree>
    <p:extLst>
      <p:ext uri="{BB962C8B-B14F-4D97-AF65-F5344CB8AC3E}">
        <p14:creationId xmlns:p14="http://schemas.microsoft.com/office/powerpoint/2010/main" val="33691927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940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物联网安全技术体系可以从</a:t>
            </a:r>
            <a:r>
              <a:rPr lang="zh-CN" altLang="en-US" sz="2000" b="1" dirty="0">
                <a:solidFill>
                  <a:srgbClr val="F0701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纵深防御体系</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F0701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横向防御体系</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两个方面来理解。</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纵深防御体系</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可分为边界防护（单个应用的边界）、区域防护（单个业务应用区域）、节点防护（如服务器或感知节点）和核心防护（针对一个具体的安全技术，或具体的节点与用户，或操作系统的内核等）。</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横向防御体系</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为物理安全、安全计算环境、安全区域边界、安全通信网络、安全管理中心、应急响应恢复与处置六个层面，以满足物联网密钥管理、点到点消息认证、防重放、抗拒绝服务、防篡改或隐私泄漏、业务安全等安全需求，实现数据或信息在传输、存储、使用过程中机密性、完整性、可追责性、可用性的物联网安全基本目标。</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物联网安全技术体系</a:t>
            </a:r>
          </a:p>
        </p:txBody>
      </p:sp>
    </p:spTree>
    <p:extLst>
      <p:ext uri="{BB962C8B-B14F-4D97-AF65-F5344CB8AC3E}">
        <p14:creationId xmlns:p14="http://schemas.microsoft.com/office/powerpoint/2010/main" val="785720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物联网安全技术体系</a:t>
            </a:r>
          </a:p>
        </p:txBody>
      </p:sp>
      <p:pic>
        <p:nvPicPr>
          <p:cNvPr id="4" name="Picture 2">
            <a:extLst>
              <a:ext uri="{FF2B5EF4-FFF2-40B4-BE49-F238E27FC236}">
                <a16:creationId xmlns:a16="http://schemas.microsoft.com/office/drawing/2014/main" id="{93F0376D-8DC8-433B-A09A-6FFC81F3698D}"/>
              </a:ext>
            </a:extLst>
          </p:cNvPr>
          <p:cNvPicPr>
            <a:picLocks noChangeAspect="1"/>
          </p:cNvPicPr>
          <p:nvPr/>
        </p:nvPicPr>
        <p:blipFill>
          <a:blip r:embed="rId3"/>
          <a:stretch>
            <a:fillRect/>
          </a:stretch>
        </p:blipFill>
        <p:spPr>
          <a:xfrm>
            <a:off x="1588214" y="633468"/>
            <a:ext cx="5967572" cy="4477900"/>
          </a:xfrm>
          <a:prstGeom prst="rect">
            <a:avLst/>
          </a:prstGeom>
          <a:noFill/>
          <a:ln w="9525">
            <a:noFill/>
          </a:ln>
        </p:spPr>
      </p:pic>
    </p:spTree>
    <p:extLst>
      <p:ext uri="{BB962C8B-B14F-4D97-AF65-F5344CB8AC3E}">
        <p14:creationId xmlns:p14="http://schemas.microsoft.com/office/powerpoint/2010/main" val="1528295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4680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第六部分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物联网安全挑战</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06</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06</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26987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086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物联网比一般</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系统更容易受到侵扰，面临着更严峻的安全问题</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物联网表现出网络组成的异构性、网络分布的广泛性、网络形态的多样性、感知信息和应用需求的多样性，以及网络的规模大、数据处理量多、决策控制复杂等特征</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一方面，感知层可自主实现信息感知，而传感器节点通常被部署在无人值守且物理攻击可以到达的区域</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另一方面，网络覆盖国民经济、社会发展、人们生产生活的各个方面，故其影响比传统网络更加巨大</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物联网安全挑战</a:t>
            </a:r>
          </a:p>
        </p:txBody>
      </p:sp>
    </p:spTree>
    <p:extLst>
      <p:ext uri="{BB962C8B-B14F-4D97-AF65-F5344CB8AC3E}">
        <p14:creationId xmlns:p14="http://schemas.microsoft.com/office/powerpoint/2010/main" val="27389445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775894" y="594859"/>
            <a:ext cx="2225962" cy="3662413"/>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这些变化和新的约束条件对密钥建立、保密和认证、隐私、拒绝服务攻击的鲁棒性、安全路由选择及节点俘获提出了新的研究难点，给物联网安全方案的构建带来了困难</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物联网安全挑战</a:t>
            </a:r>
          </a:p>
        </p:txBody>
      </p:sp>
      <p:sp>
        <p:nvSpPr>
          <p:cNvPr id="2" name="等腰三角形 1">
            <a:extLst>
              <a:ext uri="{FF2B5EF4-FFF2-40B4-BE49-F238E27FC236}">
                <a16:creationId xmlns:a16="http://schemas.microsoft.com/office/drawing/2014/main" id="{08044FC7-6FED-45AB-A835-7E821906963F}"/>
              </a:ext>
            </a:extLst>
          </p:cNvPr>
          <p:cNvSpPr/>
          <p:nvPr/>
        </p:nvSpPr>
        <p:spPr>
          <a:xfrm rot="5400000">
            <a:off x="-1101" y="2728485"/>
            <a:ext cx="288032" cy="21602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F4A9734C-0FA7-48C3-A619-4EA28BCE28A1}"/>
              </a:ext>
            </a:extLst>
          </p:cNvPr>
          <p:cNvCxnSpPr>
            <a:stCxn id="2" idx="0"/>
          </p:cNvCxnSpPr>
          <p:nvPr/>
        </p:nvCxnSpPr>
        <p:spPr>
          <a:xfrm>
            <a:off x="250927" y="2836497"/>
            <a:ext cx="4883125"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箭头: 五边形 7">
            <a:extLst>
              <a:ext uri="{FF2B5EF4-FFF2-40B4-BE49-F238E27FC236}">
                <a16:creationId xmlns:a16="http://schemas.microsoft.com/office/drawing/2014/main" id="{9CFF2636-0953-4A9C-9605-3D3D8284D3AA}"/>
              </a:ext>
            </a:extLst>
          </p:cNvPr>
          <p:cNvSpPr/>
          <p:nvPr/>
        </p:nvSpPr>
        <p:spPr>
          <a:xfrm>
            <a:off x="5134052" y="2581664"/>
            <a:ext cx="1508283" cy="50966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文楷体" panose="02010600040101010101" pitchFamily="2" charset="-122"/>
                <a:ea typeface="华文楷体" panose="02010600040101010101" pitchFamily="2" charset="-122"/>
              </a:rPr>
              <a:t>物联网安全挑战</a:t>
            </a:r>
          </a:p>
        </p:txBody>
      </p:sp>
      <p:sp>
        <p:nvSpPr>
          <p:cNvPr id="11" name="文本框 10">
            <a:extLst>
              <a:ext uri="{FF2B5EF4-FFF2-40B4-BE49-F238E27FC236}">
                <a16:creationId xmlns:a16="http://schemas.microsoft.com/office/drawing/2014/main" id="{E7E6ED9E-9058-4934-8E53-6D6C0F408516}"/>
              </a:ext>
            </a:extLst>
          </p:cNvPr>
          <p:cNvSpPr txBox="1"/>
          <p:nvPr/>
        </p:nvSpPr>
        <p:spPr>
          <a:xfrm rot="3659468">
            <a:off x="605842" y="1537308"/>
            <a:ext cx="2310377"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安全需求与成本的矛盾性</a:t>
            </a:r>
          </a:p>
        </p:txBody>
      </p:sp>
      <p:sp>
        <p:nvSpPr>
          <p:cNvPr id="12" name="文本框 11">
            <a:extLst>
              <a:ext uri="{FF2B5EF4-FFF2-40B4-BE49-F238E27FC236}">
                <a16:creationId xmlns:a16="http://schemas.microsoft.com/office/drawing/2014/main" id="{ADB10D01-5F85-4810-B033-9B3467F1BA15}"/>
              </a:ext>
            </a:extLst>
          </p:cNvPr>
          <p:cNvSpPr txBox="1"/>
          <p:nvPr/>
        </p:nvSpPr>
        <p:spPr>
          <a:xfrm rot="3659468">
            <a:off x="-124406" y="1627197"/>
            <a:ext cx="2104810"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安全方案重构的困难性</a:t>
            </a:r>
          </a:p>
        </p:txBody>
      </p:sp>
      <p:sp>
        <p:nvSpPr>
          <p:cNvPr id="13" name="文本框 12">
            <a:extLst>
              <a:ext uri="{FF2B5EF4-FFF2-40B4-BE49-F238E27FC236}">
                <a16:creationId xmlns:a16="http://schemas.microsoft.com/office/drawing/2014/main" id="{60E52E15-5FB7-4285-BA83-67A9065847F5}"/>
              </a:ext>
            </a:extLst>
          </p:cNvPr>
          <p:cNvSpPr txBox="1"/>
          <p:nvPr/>
        </p:nvSpPr>
        <p:spPr>
          <a:xfrm rot="3659468">
            <a:off x="1532246" y="1613291"/>
            <a:ext cx="2128444" cy="25103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安全支持能力的差异性</a:t>
            </a:r>
          </a:p>
        </p:txBody>
      </p:sp>
      <p:sp>
        <p:nvSpPr>
          <p:cNvPr id="14" name="文本框 13">
            <a:extLst>
              <a:ext uri="{FF2B5EF4-FFF2-40B4-BE49-F238E27FC236}">
                <a16:creationId xmlns:a16="http://schemas.microsoft.com/office/drawing/2014/main" id="{7DE6F212-FFC9-49AC-8CFD-34D933295C37}"/>
              </a:ext>
            </a:extLst>
          </p:cNvPr>
          <p:cNvSpPr txBox="1"/>
          <p:nvPr/>
        </p:nvSpPr>
        <p:spPr>
          <a:xfrm rot="3659468">
            <a:off x="2820667" y="2013018"/>
            <a:ext cx="1222475"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攻击的隐蔽性</a:t>
            </a:r>
          </a:p>
        </p:txBody>
      </p:sp>
      <p:sp>
        <p:nvSpPr>
          <p:cNvPr id="15" name="文本框 14">
            <a:extLst>
              <a:ext uri="{FF2B5EF4-FFF2-40B4-BE49-F238E27FC236}">
                <a16:creationId xmlns:a16="http://schemas.microsoft.com/office/drawing/2014/main" id="{B0F7F0F4-2111-4974-9396-579101E9C43A}"/>
              </a:ext>
            </a:extLst>
          </p:cNvPr>
          <p:cNvSpPr txBox="1"/>
          <p:nvPr/>
        </p:nvSpPr>
        <p:spPr>
          <a:xfrm rot="3659468">
            <a:off x="3429264" y="1816737"/>
            <a:ext cx="1671350"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网络资源的多态性</a:t>
            </a:r>
          </a:p>
        </p:txBody>
      </p:sp>
      <p:sp>
        <p:nvSpPr>
          <p:cNvPr id="16" name="文本框 15">
            <a:extLst>
              <a:ext uri="{FF2B5EF4-FFF2-40B4-BE49-F238E27FC236}">
                <a16:creationId xmlns:a16="http://schemas.microsoft.com/office/drawing/2014/main" id="{A7418200-BB66-414D-8DB1-B83C14FCE90E}"/>
              </a:ext>
            </a:extLst>
          </p:cNvPr>
          <p:cNvSpPr txBox="1"/>
          <p:nvPr/>
        </p:nvSpPr>
        <p:spPr>
          <a:xfrm rot="17940532" flipV="1">
            <a:off x="-29880" y="3934181"/>
            <a:ext cx="2424804"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传统防火墙机制的局限性</a:t>
            </a:r>
          </a:p>
        </p:txBody>
      </p:sp>
      <p:sp>
        <p:nvSpPr>
          <p:cNvPr id="17" name="文本框 16">
            <a:extLst>
              <a:ext uri="{FF2B5EF4-FFF2-40B4-BE49-F238E27FC236}">
                <a16:creationId xmlns:a16="http://schemas.microsoft.com/office/drawing/2014/main" id="{4E2EC9F6-E088-434A-AEB1-172A1E501779}"/>
              </a:ext>
            </a:extLst>
          </p:cNvPr>
          <p:cNvSpPr txBox="1"/>
          <p:nvPr/>
        </p:nvSpPr>
        <p:spPr>
          <a:xfrm rot="17940532" flipV="1">
            <a:off x="930689" y="3922280"/>
            <a:ext cx="2424804"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安全理论与技术的滞后性</a:t>
            </a:r>
          </a:p>
        </p:txBody>
      </p:sp>
      <p:sp>
        <p:nvSpPr>
          <p:cNvPr id="18" name="文本框 17">
            <a:extLst>
              <a:ext uri="{FF2B5EF4-FFF2-40B4-BE49-F238E27FC236}">
                <a16:creationId xmlns:a16="http://schemas.microsoft.com/office/drawing/2014/main" id="{357C1381-34F1-4EBB-854A-5122D873F4B7}"/>
              </a:ext>
            </a:extLst>
          </p:cNvPr>
          <p:cNvSpPr txBox="1"/>
          <p:nvPr/>
        </p:nvSpPr>
        <p:spPr>
          <a:xfrm rot="17940532" flipV="1">
            <a:off x="1757449" y="3992932"/>
            <a:ext cx="2424804"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安全需求的复杂性</a:t>
            </a:r>
          </a:p>
        </p:txBody>
      </p:sp>
      <p:sp>
        <p:nvSpPr>
          <p:cNvPr id="20" name="文本框 19">
            <a:extLst>
              <a:ext uri="{FF2B5EF4-FFF2-40B4-BE49-F238E27FC236}">
                <a16:creationId xmlns:a16="http://schemas.microsoft.com/office/drawing/2014/main" id="{51A22397-5669-4967-B0D7-BDC3782A461C}"/>
              </a:ext>
            </a:extLst>
          </p:cNvPr>
          <p:cNvSpPr txBox="1"/>
          <p:nvPr/>
        </p:nvSpPr>
        <p:spPr>
          <a:xfrm rot="17940532" flipV="1">
            <a:off x="2519968" y="3992933"/>
            <a:ext cx="2424804" cy="246221"/>
          </a:xfrm>
          <a:prstGeom prst="rect">
            <a:avLst/>
          </a:prstGeom>
          <a:noFill/>
        </p:spPr>
        <p:txBody>
          <a:bodyPr wrap="square" lIns="0" tIns="0" rIns="0" bIns="0" rtlCol="0">
            <a:spAutoFit/>
          </a:bodyPr>
          <a:lstStyle/>
          <a:p>
            <a:r>
              <a:rPr lang="zh-CN" altLang="en-US" sz="1600" dirty="0">
                <a:solidFill>
                  <a:srgbClr val="008F92"/>
                </a:solidFill>
                <a:latin typeface="华文楷体" panose="02010600040101010101" pitchFamily="2" charset="-122"/>
                <a:ea typeface="华文楷体" panose="02010600040101010101" pitchFamily="2" charset="-122"/>
              </a:rPr>
              <a:t>安全威胁的多样性</a:t>
            </a:r>
          </a:p>
        </p:txBody>
      </p:sp>
      <p:cxnSp>
        <p:nvCxnSpPr>
          <p:cNvPr id="21" name="直接连接符 20">
            <a:extLst>
              <a:ext uri="{FF2B5EF4-FFF2-40B4-BE49-F238E27FC236}">
                <a16:creationId xmlns:a16="http://schemas.microsoft.com/office/drawing/2014/main" id="{F186EB7F-BFE1-4A0E-825B-A47764945B94}"/>
              </a:ext>
            </a:extLst>
          </p:cNvPr>
          <p:cNvCxnSpPr>
            <a:stCxn id="12" idx="3"/>
          </p:cNvCxnSpPr>
          <p:nvPr/>
        </p:nvCxnSpPr>
        <p:spPr>
          <a:xfrm>
            <a:off x="1438357" y="2670683"/>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F26F06A-A7C4-43D7-996D-5BBD5D2BFC15}"/>
              </a:ext>
            </a:extLst>
          </p:cNvPr>
          <p:cNvCxnSpPr/>
          <p:nvPr/>
        </p:nvCxnSpPr>
        <p:spPr>
          <a:xfrm>
            <a:off x="2291772" y="2658987"/>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33095B1-E3B4-4F67-A073-8A2DA1521624}"/>
              </a:ext>
            </a:extLst>
          </p:cNvPr>
          <p:cNvCxnSpPr/>
          <p:nvPr/>
        </p:nvCxnSpPr>
        <p:spPr>
          <a:xfrm>
            <a:off x="3049150" y="2658538"/>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232E141-20E8-4B32-99CB-E3BA3B27DC6B}"/>
              </a:ext>
            </a:extLst>
          </p:cNvPr>
          <p:cNvCxnSpPr/>
          <p:nvPr/>
        </p:nvCxnSpPr>
        <p:spPr>
          <a:xfrm>
            <a:off x="3723234" y="2647666"/>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C03ABC3-CB1C-4420-9ED1-3382D08BA454}"/>
              </a:ext>
            </a:extLst>
          </p:cNvPr>
          <p:cNvCxnSpPr/>
          <p:nvPr/>
        </p:nvCxnSpPr>
        <p:spPr>
          <a:xfrm>
            <a:off x="4645125" y="2667215"/>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CF68A6C-2179-4B06-B45C-765C6B66D30A}"/>
              </a:ext>
            </a:extLst>
          </p:cNvPr>
          <p:cNvCxnSpPr>
            <a:cxnSpLocks/>
          </p:cNvCxnSpPr>
          <p:nvPr/>
        </p:nvCxnSpPr>
        <p:spPr>
          <a:xfrm flipV="1">
            <a:off x="1800037" y="2834294"/>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189EDA3-7F35-468A-87FF-FD5940886C26}"/>
              </a:ext>
            </a:extLst>
          </p:cNvPr>
          <p:cNvCxnSpPr>
            <a:cxnSpLocks/>
          </p:cNvCxnSpPr>
          <p:nvPr/>
        </p:nvCxnSpPr>
        <p:spPr>
          <a:xfrm flipV="1">
            <a:off x="2674587" y="2845949"/>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E965308-399F-436A-8A23-1A8830FB4F75}"/>
              </a:ext>
            </a:extLst>
          </p:cNvPr>
          <p:cNvCxnSpPr>
            <a:cxnSpLocks/>
          </p:cNvCxnSpPr>
          <p:nvPr/>
        </p:nvCxnSpPr>
        <p:spPr>
          <a:xfrm flipV="1">
            <a:off x="3528229" y="2860838"/>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1505EA3-E281-466A-944D-7DCE53793698}"/>
              </a:ext>
            </a:extLst>
          </p:cNvPr>
          <p:cNvCxnSpPr>
            <a:cxnSpLocks/>
          </p:cNvCxnSpPr>
          <p:nvPr/>
        </p:nvCxnSpPr>
        <p:spPr>
          <a:xfrm flipV="1">
            <a:off x="4320317" y="2845948"/>
            <a:ext cx="107667" cy="16581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6711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down)">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randombar(horizontal)">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up)">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randombar(horizontal)">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down)">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randombar(horizontal)">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up)">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randombar(horizontal)">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ipe(down)">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randombar(horizontal)">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up)">
                                      <p:cBhvr>
                                        <p:cTn id="74" dur="500"/>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randombar(horizontal)">
                                      <p:cBhvr>
                                        <p:cTn id="79" dur="500"/>
                                        <p:tgtEl>
                                          <p:spTgt spid="1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wipe(down)">
                                      <p:cBhvr>
                                        <p:cTn id="84" dur="500"/>
                                        <p:tgtEl>
                                          <p:spTgt spid="22"/>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11"/>
                                        </p:tgtEl>
                                        <p:attrNameLst>
                                          <p:attrName>style.visibility</p:attrName>
                                        </p:attrNameLst>
                                      </p:cBhvr>
                                      <p:to>
                                        <p:strVal val="visible"/>
                                      </p:to>
                                    </p:set>
                                    <p:animEffect transition="in" filter="randombar(horizontal)">
                                      <p:cBhvr>
                                        <p:cTn id="89" dur="500"/>
                                        <p:tgtEl>
                                          <p:spTgt spid="1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up)">
                                      <p:cBhvr>
                                        <p:cTn id="94" dur="500"/>
                                        <p:tgtEl>
                                          <p:spTgt spid="26"/>
                                        </p:tgtEl>
                                      </p:cBhvr>
                                    </p:animEffect>
                                  </p:childTnLst>
                                </p:cTn>
                              </p:par>
                            </p:childTnLst>
                          </p:cTn>
                        </p:par>
                      </p:childTnLst>
                    </p:cTn>
                  </p:par>
                  <p:par>
                    <p:cTn id="95" fill="hold">
                      <p:stCondLst>
                        <p:cond delay="indefinite"/>
                      </p:stCondLst>
                      <p:childTnLst>
                        <p:par>
                          <p:cTn id="96" fill="hold">
                            <p:stCondLst>
                              <p:cond delay="0"/>
                            </p:stCondLst>
                            <p:childTnLst>
                              <p:par>
                                <p:cTn id="97" presetID="14" presetClass="entr" presetSubtype="10" fill="hold" grpId="0" nodeType="clickEffect">
                                  <p:stCondLst>
                                    <p:cond delay="0"/>
                                  </p:stCondLst>
                                  <p:childTnLst>
                                    <p:set>
                                      <p:cBhvr>
                                        <p:cTn id="98" dur="1" fill="hold">
                                          <p:stCondLst>
                                            <p:cond delay="0"/>
                                          </p:stCondLst>
                                        </p:cTn>
                                        <p:tgtEl>
                                          <p:spTgt spid="16"/>
                                        </p:tgtEl>
                                        <p:attrNameLst>
                                          <p:attrName>style.visibility</p:attrName>
                                        </p:attrNameLst>
                                      </p:cBhvr>
                                      <p:to>
                                        <p:strVal val="visible"/>
                                      </p:to>
                                    </p:set>
                                    <p:animEffect transition="in" filter="randombar(horizontal)">
                                      <p:cBhvr>
                                        <p:cTn id="99" dur="500"/>
                                        <p:tgtEl>
                                          <p:spTgt spid="1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down)">
                                      <p:cBhvr>
                                        <p:cTn id="104" dur="500"/>
                                        <p:tgtEl>
                                          <p:spTgt spid="21"/>
                                        </p:tgtEl>
                                      </p:cBhvr>
                                    </p:animEffect>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grpId="0" nodeType="click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randombar(horizontal)">
                                      <p:cBhvr>
                                        <p:cTn id="109" dur="500"/>
                                        <p:tgtEl>
                                          <p:spTgt spid="12"/>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9"/>
                                        </p:tgtEl>
                                        <p:attrNameLst>
                                          <p:attrName>style.visibility</p:attrName>
                                        </p:attrNameLst>
                                      </p:cBhvr>
                                      <p:to>
                                        <p:strVal val="visible"/>
                                      </p:to>
                                    </p:set>
                                    <p:animEffect transition="in" filter="fade">
                                      <p:cBhvr>
                                        <p:cTn id="11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 grpId="0"/>
      <p:bldP spid="8" grpId="0" animBg="1"/>
      <p:bldP spid="11" grpId="0"/>
      <p:bldP spid="12" grpId="0"/>
      <p:bldP spid="13" grpId="0"/>
      <p:bldP spid="14" grpId="0"/>
      <p:bldP spid="15" grpId="0"/>
      <p:bldP spid="16" grpId="0"/>
      <p:bldP spid="17" grpId="0"/>
      <p:bldP spid="18"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3853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安全需求与安全成本的矛盾</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安全复杂性加大</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信息技术发展本身带来的问题 </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物联网系统攻击的复杂性和动态性仍较难把握</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物联网安全理论、技术与需求的差异性</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密码学方面的挑战</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31942042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5880"/>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．安全需求与安全成本的矛盾</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的最大挑战来自于安全需求与成本上的矛盾，从上述描述可以看出，物联网安全将是物联网的基本属性，为了确保物联网应用的高效、正确、有序，安全显得特别重要，但是安全是需要代价的。与互联网安全相比，“平民化”的物联网安全将面临巨大的成本压力，一个小小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标签，为了确保其安全性，可能会增加相对的较大的成本，成本增加将影响到其应用。成本，将是物联网安全不可回避的挑战。</a:t>
            </a: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238498839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44168"/>
          </a:xfrm>
          <a:prstGeom prst="rect">
            <a:avLst/>
          </a:prstGeom>
          <a:noFill/>
        </p:spPr>
        <p:txBody>
          <a:bodyPr wrap="square" rtlCol="0">
            <a:spAutoFit/>
          </a:bodyPr>
          <a:lstStyle/>
          <a:p>
            <a:pPr>
              <a:lnSpc>
                <a:spcPct val="130000"/>
              </a:lnSpc>
              <a:spcBef>
                <a:spcPts val="300"/>
              </a:spcBef>
              <a:spcAft>
                <a:spcPts val="300"/>
              </a:spcAft>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．安全复杂性加大</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物联网安全的复杂性将是另一个巨大的挑战。物联网中将获取、传输、处理和存储大量的信息，信息源和信息目的的相互关系将十分复杂；解决同样的问题，已有的技术虽然能用，但可能不再高效，这种复杂性肯定会催生新的解决方法出现。比如，大量的信息将导致现有包过滤防火墙的性能达不到要求，今后可能出现分布式防火墙，或者其他全新的防火墙技术。</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37777206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44168"/>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．信息技术发展本身带来的问题</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物联网是信息技术发展的趋势，信息技术在给人们带来方便和信息共享的同时，也带来了安全问题，如密码分析者大量利用信息技术本身提供的计算和决策方法实施破解，网络攻击者利用网络技术本身设计大量的攻击工具、病毒和垃圾邮件；信息技术带来的信息共享、复制和传播能力，使人们难以对数字版权进行管理。因此无所不在的安全网络需求是对信息安全的巨大挑战。</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14331112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84179"/>
          </a:xfrm>
          <a:prstGeom prst="rect">
            <a:avLst/>
          </a:prstGeom>
          <a:noFill/>
        </p:spPr>
        <p:txBody>
          <a:bodyPr wrap="square" rtlCol="0">
            <a:spAutoFit/>
          </a:bodyPr>
          <a:lstStyle/>
          <a:p>
            <a:pPr>
              <a:lnSpc>
                <a:spcPct val="130000"/>
              </a:lnSpc>
              <a:spcBef>
                <a:spcPts val="300"/>
              </a:spcBef>
              <a:spcAft>
                <a:spcPts val="300"/>
              </a:spcAft>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．物联网系统攻击的复杂性和动态性仍较难把握</a:t>
            </a: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安全发展到今天，对物联网系统攻击防护的理论研究仍然处于相对困难的状态，这些理论仍然较难完全刻画网络与系统攻击行为的复杂性和动态性，致使防护方法还主要依靠经验，“道高一尺，魔高一丈”的情况时常发生。目前，对于很多安全攻击，都不具备主动防护的能力，往往在攻击发生之后，才能获取到相关信息，之后才能避免这类攻击，这不能从根本上防护各种攻击。</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6714726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4069"/>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．物联网安全理论、技术与需求的差异性</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随着物联网中计算环境、技术条件、应用场合和性能要求变得复杂性，需要研究考虑的情况会更多，这在一定程度上加大了物联网安全研究的难度。在应用中，当前对物联网中的高速安全处理还存在诸多困难，处理速度还很难达到宽带的增长。</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6414088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21222"/>
          </a:xfrm>
          <a:prstGeom prst="rect">
            <a:avLst/>
          </a:prstGeom>
          <a:noFill/>
        </p:spPr>
        <p:txBody>
          <a:bodyPr wrap="square" rtlCol="0">
            <a:spAutoFit/>
          </a:bodyPr>
          <a:lstStyle/>
          <a:p>
            <a:pPr>
              <a:lnSpc>
                <a:spcPct val="130000"/>
              </a:lnSpc>
              <a:spcBef>
                <a:spcPts val="300"/>
              </a:spcBef>
              <a:spcAft>
                <a:spcPts val="300"/>
              </a:spcAft>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．密码学方面的挑战</a:t>
            </a: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密码技术是信息安全的核心，在物联网中，随着物联网应用的扩展，实现物联网安全，也对密码学提出了新的挑战，具体主要表现在以下两个方面。</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通过计算设备的计算能力越来越强与感知设备计算能力越来越弱带来的挑战，当前的信息安全技术特别是密码技术与计算技术密切相关，其安全性本质上是计算安全性，由于当前通用计算设备的计算能力不断增强，对很多方面的安全性带来了巨大挑战；</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24702932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621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但是在另一方面，同样位于物联网中感知层的感知节点，由于体积和功能等物理原因，导致计算能力、存储能力远远弱于网络层和应用层的设备，这些限制导致了其不可能采用复杂的密码计算，这增大了信息被窃的风险。因此如何有效地利用密码技术，防止感知层设备出现安全短板效应，是值得认真研究的课题。为了应对物联网安全的需求，很有可能产生一批运算复杂度不高，但防护强度相对较高的轻量级密码算法。</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391116340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97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当前，所谓轻量级密码的研究正试图寻找安全计算环境之间合理的平衡手段，然而当有待于发展。同样，物联网感知层可能面临不同的应用需求，其环境变化剧烈，这就要求密码算法能够适应多种环境，传统的单一的不可变密码算法很可能不再适用，随之而来则需要全新、具备灵活性的可编程、可重构的密码算法。</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物联网安全面临的问题</a:t>
            </a:r>
          </a:p>
        </p:txBody>
      </p:sp>
    </p:spTree>
    <p:extLst>
      <p:ext uri="{BB962C8B-B14F-4D97-AF65-F5344CB8AC3E}">
        <p14:creationId xmlns:p14="http://schemas.microsoft.com/office/powerpoint/2010/main" val="42332102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4440188"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第七部分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物联网安全现状与发展趋势</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07</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07</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2194083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2317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感知层的安全</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感知层面临的威胁主要包括：</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标签不受控制地被扫描、定位和追踪，导致隐私泄漏；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智能感知节点的自身物理安全问题及继发性破坏；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无线信号易被干扰；</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针对智能传感终端、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电子标签等的假冒攻击；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缓冲区溢出、格式化字符串、输入验证、同步漏洞、信任漏洞等数据驱动攻击；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蠕虫等恶意代码攻击；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大量节点数据传输导致网络拥塞的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攻击等。</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物联网安全现状</a:t>
            </a:r>
          </a:p>
        </p:txBody>
      </p:sp>
    </p:spTree>
    <p:extLst>
      <p:ext uri="{BB962C8B-B14F-4D97-AF65-F5344CB8AC3E}">
        <p14:creationId xmlns:p14="http://schemas.microsoft.com/office/powerpoint/2010/main" val="7346442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72582"/>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感知层的信息安全防御策略：</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）加密机制</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）认证机制</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）访问控制技术</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）物理机制</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物联网安全现状</a:t>
            </a:r>
          </a:p>
        </p:txBody>
      </p:sp>
    </p:spTree>
    <p:extLst>
      <p:ext uri="{BB962C8B-B14F-4D97-AF65-F5344CB8AC3E}">
        <p14:creationId xmlns:p14="http://schemas.microsoft.com/office/powerpoint/2010/main" val="7987750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437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网络层的安全</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网络层面临的威胁主要包括：</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病毒、木马、</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DDoS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攻击、假冒、中间人攻击、跨异构网络攻击等传统互联网的网络安全问题。</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物联网网络层可以使用的技术有</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传统的认证技术</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数据加密技术</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网络层的安全机制可分为</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端到端机密性</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节点到节点机密性</a:t>
            </a:r>
          </a:p>
          <a:p>
            <a:pPr marL="342900" indent="-342900">
              <a:lnSpc>
                <a:spcPct val="110000"/>
              </a:lnSpc>
              <a:spcBef>
                <a:spcPts val="300"/>
              </a:spcBef>
              <a:spcAft>
                <a:spcPts val="300"/>
              </a:spcAft>
              <a:buFont typeface="Wingdings" panose="05000000000000000000" pitchFamily="2" charset="2"/>
              <a:buChar char="ü"/>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端到端机密性：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需要建立端到端认证机制、端到端密钥协商机制、密钥管理机制和机密性算法选取机制等安全机制。在这些安全机制中，根据需要可以增加数据完整性服务</a:t>
            </a:r>
          </a:p>
          <a:p>
            <a:pPr marL="342900" indent="-342900">
              <a:lnSpc>
                <a:spcPct val="110000"/>
              </a:lnSpc>
              <a:spcBef>
                <a:spcPts val="300"/>
              </a:spcBef>
              <a:spcAft>
                <a:spcPts val="300"/>
              </a:spcAft>
              <a:buFont typeface="Wingdings" panose="05000000000000000000" pitchFamily="2" charset="2"/>
              <a:buChar char="ü"/>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节点到节点机密性：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需要节点间的认证和密钥协商协议，这类协议要重点考虑效率因素</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根据应用层的不同需求，网络传输模式可能区分为</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单播通信、组播通信和广播通信</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，针对不同类型的通信模式有相应的认证机制和机密性保护机制。</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物联网安全现状</a:t>
            </a:r>
          </a:p>
        </p:txBody>
      </p:sp>
    </p:spTree>
    <p:extLst>
      <p:ext uri="{BB962C8B-B14F-4D97-AF65-F5344CB8AC3E}">
        <p14:creationId xmlns:p14="http://schemas.microsoft.com/office/powerpoint/2010/main" val="15839091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01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应用层的安全</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应用层面临的安全挑战主要表现为：</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如何针对不同权限的用户进行不同的访问控制</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用户隐私信息保护</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信息被泄露跟踪问题</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如何进行计算机取证等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对于应用层的相关威胁，现有的解决方案有：</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访问控制技术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匿名签名与认证技术</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物联网安全现状</a:t>
            </a:r>
          </a:p>
        </p:txBody>
      </p:sp>
    </p:spTree>
    <p:extLst>
      <p:ext uri="{BB962C8B-B14F-4D97-AF65-F5344CB8AC3E}">
        <p14:creationId xmlns:p14="http://schemas.microsoft.com/office/powerpoint/2010/main" val="41328455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23474"/>
          </a:xfrm>
          <a:prstGeom prst="rect">
            <a:avLst/>
          </a:prstGeom>
          <a:noFill/>
        </p:spPr>
        <p:txBody>
          <a:bodyPr wrap="square" rtlCol="0">
            <a:spAutoFit/>
          </a:bodyPr>
          <a:lstStyle/>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总之，整个物联网安全的研究仍处于初始阶段，还没有形成一套完整、系统、标准化的解决方案</a:t>
            </a: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现有的许多方法离实际应用还有一定的距离，特别是传感器网络的资源局限性和多路自组织网络环境下的大规模数据处理，使其安全问题的研究难度增大，传感器网络的安全研究也是物联网安全的重要组成部分</a:t>
            </a: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同时，如何建立有效的多网络融合的安全架构，建立一个跨越多网络的统一安全模型，形成有效的共同防御系统也是重要的研究方向之一</a:t>
            </a: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到目前为止，物联网安全技术尚不成熟，缺少有关标准和规范的指导，使得当前物联网行业应用的信息安全解决方案不够系统和规范、安全性不足</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物联网安全现状</a:t>
            </a:r>
          </a:p>
        </p:txBody>
      </p:sp>
    </p:spTree>
    <p:extLst>
      <p:ext uri="{BB962C8B-B14F-4D97-AF65-F5344CB8AC3E}">
        <p14:creationId xmlns:p14="http://schemas.microsoft.com/office/powerpoint/2010/main" val="3189003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427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到目前为止，能够满足物联网安全新挑战及体现物联网特点的安全技术还不成熟，物联网安全技术还将经过相当长一段时间的发展才可能走向相对完备，并在“攻”与“防”的对抗式发展过程中“螺旋式上升”，其发展趋势包括：</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）融合创新</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）跨学科综合</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）智能化集成</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）新技术涌现</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）安全标准体系的建立和安全技术模块化</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物联网安全发展趋势</a:t>
            </a:r>
          </a:p>
        </p:txBody>
      </p:sp>
    </p:spTree>
    <p:extLst>
      <p:ext uri="{BB962C8B-B14F-4D97-AF65-F5344CB8AC3E}">
        <p14:creationId xmlns:p14="http://schemas.microsoft.com/office/powerpoint/2010/main" val="6247604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799" b="1" dirty="0">
                <a:solidFill>
                  <a:schemeClr val="bg1"/>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1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bf302489-8d3e-4248-b049-1dc939775605}"/>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12881</TotalTime>
  <Words>7024</Words>
  <Application>Microsoft Office PowerPoint</Application>
  <PresentationFormat>全屏显示(16:9)</PresentationFormat>
  <Paragraphs>665</Paragraphs>
  <Slides>72</Slides>
  <Notes>72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72</vt:i4>
      </vt:variant>
    </vt:vector>
  </HeadingPairs>
  <TitlesOfParts>
    <vt:vector size="82" baseType="lpstr">
      <vt:lpstr>宋体</vt:lpstr>
      <vt:lpstr>Times New Roman</vt:lpstr>
      <vt:lpstr>Calibri</vt:lpstr>
      <vt:lpstr>Arial</vt:lpstr>
      <vt:lpstr>微软雅黑</vt:lpstr>
      <vt:lpstr>Century Gothic</vt:lpstr>
      <vt:lpstr>Wingdings</vt:lpstr>
      <vt:lpstr>华文楷体</vt:lpstr>
      <vt:lpstr>楷体</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412</cp:revision>
  <dcterms:created xsi:type="dcterms:W3CDTF">2014-11-09T01:07:25Z</dcterms:created>
  <dcterms:modified xsi:type="dcterms:W3CDTF">2023-02-19T15:04:23Z</dcterms:modified>
</cp:coreProperties>
</file>