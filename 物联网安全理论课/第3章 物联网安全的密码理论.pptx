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9"/>
  </p:notesMasterIdLst>
  <p:sldIdLst>
    <p:sldId id="836" r:id="rId2"/>
    <p:sldId id="911" r:id="rId3"/>
    <p:sldId id="1050" r:id="rId4"/>
    <p:sldId id="885" r:id="rId5"/>
    <p:sldId id="890" r:id="rId6"/>
    <p:sldId id="1051" r:id="rId7"/>
    <p:sldId id="1052" r:id="rId8"/>
    <p:sldId id="1053" r:id="rId9"/>
    <p:sldId id="1054" r:id="rId10"/>
    <p:sldId id="1055" r:id="rId11"/>
    <p:sldId id="1056" r:id="rId12"/>
    <p:sldId id="1057" r:id="rId13"/>
    <p:sldId id="1058" r:id="rId14"/>
    <p:sldId id="1059" r:id="rId15"/>
    <p:sldId id="1060" r:id="rId16"/>
    <p:sldId id="1073" r:id="rId17"/>
    <p:sldId id="1074" r:id="rId18"/>
    <p:sldId id="1062" r:id="rId19"/>
    <p:sldId id="1063" r:id="rId20"/>
    <p:sldId id="1064" r:id="rId21"/>
    <p:sldId id="991" r:id="rId22"/>
    <p:sldId id="1066" r:id="rId23"/>
    <p:sldId id="992" r:id="rId24"/>
    <p:sldId id="1067" r:id="rId25"/>
    <p:sldId id="1068" r:id="rId26"/>
    <p:sldId id="1069" r:id="rId27"/>
    <p:sldId id="1070" r:id="rId28"/>
    <p:sldId id="1071" r:id="rId29"/>
    <p:sldId id="993" r:id="rId30"/>
    <p:sldId id="1072" r:id="rId31"/>
    <p:sldId id="1075" r:id="rId32"/>
    <p:sldId id="941" r:id="rId33"/>
    <p:sldId id="940" r:id="rId34"/>
    <p:sldId id="994" r:id="rId35"/>
    <p:sldId id="1076" r:id="rId36"/>
    <p:sldId id="1077" r:id="rId37"/>
    <p:sldId id="1078" r:id="rId38"/>
    <p:sldId id="1081" r:id="rId39"/>
    <p:sldId id="1082" r:id="rId40"/>
    <p:sldId id="1085" r:id="rId41"/>
    <p:sldId id="1083" r:id="rId42"/>
    <p:sldId id="1086" r:id="rId43"/>
    <p:sldId id="996" r:id="rId44"/>
    <p:sldId id="1084" r:id="rId45"/>
    <p:sldId id="1087" r:id="rId46"/>
    <p:sldId id="1088" r:id="rId47"/>
    <p:sldId id="1089" r:id="rId48"/>
    <p:sldId id="1090" r:id="rId49"/>
    <p:sldId id="1091" r:id="rId50"/>
    <p:sldId id="1092" r:id="rId51"/>
    <p:sldId id="1093" r:id="rId52"/>
    <p:sldId id="1095" r:id="rId53"/>
    <p:sldId id="1094" r:id="rId54"/>
    <p:sldId id="1096" r:id="rId55"/>
    <p:sldId id="1097" r:id="rId56"/>
    <p:sldId id="1098" r:id="rId57"/>
    <p:sldId id="998" r:id="rId58"/>
    <p:sldId id="999" r:id="rId59"/>
    <p:sldId id="1100" r:id="rId60"/>
    <p:sldId id="1099" r:id="rId61"/>
    <p:sldId id="1101" r:id="rId62"/>
    <p:sldId id="1102" r:id="rId63"/>
    <p:sldId id="1103" r:id="rId64"/>
    <p:sldId id="1104" r:id="rId65"/>
    <p:sldId id="1105" r:id="rId66"/>
    <p:sldId id="1106" r:id="rId67"/>
    <p:sldId id="1107" r:id="rId68"/>
    <p:sldId id="1108" r:id="rId69"/>
    <p:sldId id="1109" r:id="rId70"/>
    <p:sldId id="1248" r:id="rId71"/>
    <p:sldId id="1111" r:id="rId72"/>
    <p:sldId id="1250" r:id="rId73"/>
    <p:sldId id="1251" r:id="rId74"/>
    <p:sldId id="1112" r:id="rId75"/>
    <p:sldId id="1113" r:id="rId76"/>
    <p:sldId id="1115" r:id="rId77"/>
    <p:sldId id="1116" r:id="rId78"/>
    <p:sldId id="1117" r:id="rId79"/>
    <p:sldId id="1118" r:id="rId80"/>
    <p:sldId id="1120" r:id="rId81"/>
    <p:sldId id="1121" r:id="rId82"/>
    <p:sldId id="1122" r:id="rId83"/>
    <p:sldId id="1123" r:id="rId84"/>
    <p:sldId id="1119" r:id="rId85"/>
    <p:sldId id="1125" r:id="rId86"/>
    <p:sldId id="1124" r:id="rId87"/>
    <p:sldId id="1126" r:id="rId88"/>
    <p:sldId id="1127" r:id="rId89"/>
    <p:sldId id="1128" r:id="rId90"/>
    <p:sldId id="1129" r:id="rId91"/>
    <p:sldId id="1130" r:id="rId92"/>
    <p:sldId id="1131" r:id="rId93"/>
    <p:sldId id="1252" r:id="rId94"/>
    <p:sldId id="1132" r:id="rId95"/>
    <p:sldId id="946" r:id="rId96"/>
    <p:sldId id="947" r:id="rId97"/>
    <p:sldId id="1133" r:id="rId98"/>
    <p:sldId id="1134" r:id="rId99"/>
    <p:sldId id="1135" r:id="rId100"/>
    <p:sldId id="1136" r:id="rId101"/>
    <p:sldId id="1137" r:id="rId102"/>
    <p:sldId id="1138" r:id="rId103"/>
    <p:sldId id="1139" r:id="rId104"/>
    <p:sldId id="1140" r:id="rId105"/>
    <p:sldId id="1141" r:id="rId106"/>
    <p:sldId id="1142" r:id="rId107"/>
    <p:sldId id="1143" r:id="rId108"/>
    <p:sldId id="1144" r:id="rId109"/>
    <p:sldId id="1145" r:id="rId110"/>
    <p:sldId id="1146" r:id="rId111"/>
    <p:sldId id="1147" r:id="rId112"/>
    <p:sldId id="1150" r:id="rId113"/>
    <p:sldId id="1151" r:id="rId114"/>
    <p:sldId id="1152" r:id="rId115"/>
    <p:sldId id="1153" r:id="rId116"/>
    <p:sldId id="1155" r:id="rId117"/>
    <p:sldId id="1156" r:id="rId118"/>
    <p:sldId id="1253" r:id="rId119"/>
    <p:sldId id="1254" r:id="rId120"/>
    <p:sldId id="1255" r:id="rId121"/>
    <p:sldId id="1159" r:id="rId122"/>
    <p:sldId id="1157" r:id="rId123"/>
    <p:sldId id="1256" r:id="rId124"/>
    <p:sldId id="1257" r:id="rId125"/>
    <p:sldId id="1158" r:id="rId126"/>
    <p:sldId id="1160" r:id="rId127"/>
    <p:sldId id="1162" r:id="rId128"/>
    <p:sldId id="1163" r:id="rId129"/>
    <p:sldId id="1164" r:id="rId130"/>
    <p:sldId id="1165" r:id="rId131"/>
    <p:sldId id="1166" r:id="rId132"/>
    <p:sldId id="1167" r:id="rId133"/>
    <p:sldId id="1168" r:id="rId134"/>
    <p:sldId id="1170" r:id="rId135"/>
    <p:sldId id="1171" r:id="rId136"/>
    <p:sldId id="1172" r:id="rId137"/>
    <p:sldId id="1173" r:id="rId138"/>
    <p:sldId id="1174" r:id="rId139"/>
    <p:sldId id="1175" r:id="rId140"/>
    <p:sldId id="1176" r:id="rId141"/>
    <p:sldId id="1177" r:id="rId142"/>
    <p:sldId id="952" r:id="rId143"/>
    <p:sldId id="953" r:id="rId144"/>
    <p:sldId id="1180" r:id="rId145"/>
    <p:sldId id="1181" r:id="rId146"/>
    <p:sldId id="1182" r:id="rId147"/>
    <p:sldId id="1183" r:id="rId148"/>
    <p:sldId id="1259" r:id="rId149"/>
    <p:sldId id="1260" r:id="rId150"/>
    <p:sldId id="1258" r:id="rId151"/>
    <p:sldId id="1184" r:id="rId152"/>
    <p:sldId id="1185" r:id="rId153"/>
    <p:sldId id="1186" r:id="rId154"/>
    <p:sldId id="1187" r:id="rId155"/>
    <p:sldId id="1188" r:id="rId156"/>
    <p:sldId id="1189" r:id="rId157"/>
    <p:sldId id="1261" r:id="rId158"/>
    <p:sldId id="1190" r:id="rId159"/>
    <p:sldId id="1191" r:id="rId160"/>
    <p:sldId id="1193" r:id="rId161"/>
    <p:sldId id="1192" r:id="rId162"/>
    <p:sldId id="1194" r:id="rId163"/>
    <p:sldId id="1195" r:id="rId164"/>
    <p:sldId id="1196" r:id="rId165"/>
    <p:sldId id="1197" r:id="rId166"/>
    <p:sldId id="1262" r:id="rId167"/>
    <p:sldId id="1263" r:id="rId168"/>
    <p:sldId id="1199" r:id="rId169"/>
    <p:sldId id="1264" r:id="rId170"/>
    <p:sldId id="1200" r:id="rId171"/>
    <p:sldId id="1201" r:id="rId172"/>
    <p:sldId id="1202" r:id="rId173"/>
    <p:sldId id="1203" r:id="rId174"/>
    <p:sldId id="1204" r:id="rId175"/>
    <p:sldId id="1205" r:id="rId176"/>
    <p:sldId id="1206" r:id="rId177"/>
    <p:sldId id="1207" r:id="rId178"/>
    <p:sldId id="1208" r:id="rId179"/>
    <p:sldId id="1209" r:id="rId180"/>
    <p:sldId id="1210" r:id="rId181"/>
    <p:sldId id="1211" r:id="rId182"/>
    <p:sldId id="957" r:id="rId183"/>
    <p:sldId id="1017" r:id="rId184"/>
    <p:sldId id="1212" r:id="rId185"/>
    <p:sldId id="1213" r:id="rId186"/>
    <p:sldId id="1214" r:id="rId187"/>
    <p:sldId id="1215" r:id="rId188"/>
    <p:sldId id="1216" r:id="rId189"/>
    <p:sldId id="1265" r:id="rId190"/>
    <p:sldId id="1266" r:id="rId191"/>
    <p:sldId id="1267" r:id="rId192"/>
    <p:sldId id="1217" r:id="rId193"/>
    <p:sldId id="1218" r:id="rId194"/>
    <p:sldId id="1219" r:id="rId195"/>
    <p:sldId id="1220" r:id="rId196"/>
    <p:sldId id="1031" r:id="rId197"/>
    <p:sldId id="1032" r:id="rId198"/>
    <p:sldId id="1221" r:id="rId199"/>
    <p:sldId id="1223" r:id="rId200"/>
    <p:sldId id="1224" r:id="rId201"/>
    <p:sldId id="1225" r:id="rId202"/>
    <p:sldId id="1226" r:id="rId203"/>
    <p:sldId id="1227" r:id="rId204"/>
    <p:sldId id="1228" r:id="rId205"/>
    <p:sldId id="1229" r:id="rId206"/>
    <p:sldId id="1230" r:id="rId207"/>
    <p:sldId id="1231" r:id="rId208"/>
    <p:sldId id="1232" r:id="rId209"/>
    <p:sldId id="1222" r:id="rId210"/>
    <p:sldId id="1233" r:id="rId211"/>
    <p:sldId id="1234" r:id="rId212"/>
    <p:sldId id="1235" r:id="rId213"/>
    <p:sldId id="1236" r:id="rId214"/>
    <p:sldId id="1237" r:id="rId215"/>
    <p:sldId id="1043" r:id="rId216"/>
    <p:sldId id="1044" r:id="rId217"/>
    <p:sldId id="1238" r:id="rId218"/>
    <p:sldId id="1239" r:id="rId219"/>
    <p:sldId id="1240" r:id="rId220"/>
    <p:sldId id="1241" r:id="rId221"/>
    <p:sldId id="1242" r:id="rId222"/>
    <p:sldId id="1243" r:id="rId223"/>
    <p:sldId id="1244" r:id="rId224"/>
    <p:sldId id="1245" r:id="rId225"/>
    <p:sldId id="1246" r:id="rId226"/>
    <p:sldId id="1247" r:id="rId227"/>
    <p:sldId id="910" r:id="rId228"/>
  </p:sldIdLst>
  <p:sldSz cx="9144000" cy="5143500" type="screen16x9"/>
  <p:notesSz cx="6858000" cy="9144000"/>
  <p:embeddedFontLst>
    <p:embeddedFont>
      <p:font typeface="Calibri" panose="020F0502020204030204" pitchFamily="34" charset="0"/>
      <p:regular r:id="rId230"/>
      <p:bold r:id="rId231"/>
      <p:italic r:id="rId232"/>
      <p:boldItalic r:id="rId233"/>
    </p:embeddedFont>
    <p:embeddedFont>
      <p:font typeface="Cambria Math" panose="02040503050406030204" pitchFamily="18" charset="0"/>
      <p:regular r:id="rId234"/>
    </p:embeddedFont>
    <p:embeddedFont>
      <p:font typeface="Century Gothic" panose="020B0502020202020204" pitchFamily="34" charset="0"/>
      <p:regular r:id="rId235"/>
      <p:bold r:id="rId236"/>
      <p:italic r:id="rId237"/>
      <p:boldItalic r:id="rId238"/>
    </p:embeddedFont>
    <p:embeddedFont>
      <p:font typeface="等线" panose="02010600030101010101" pitchFamily="2" charset="-122"/>
      <p:regular r:id="rId239"/>
      <p:bold r:id="rId240"/>
    </p:embeddedFont>
    <p:embeddedFont>
      <p:font typeface="华文楷体" panose="02010600040101010101" pitchFamily="2" charset="-122"/>
      <p:regular r:id="rId241"/>
    </p:embeddedFont>
    <p:embeddedFont>
      <p:font typeface="楷体" panose="02010609060101010101" pitchFamily="49" charset="-122"/>
      <p:regular r:id="rId242"/>
    </p:embeddedFont>
    <p:embeddedFont>
      <p:font typeface="微软雅黑" panose="020B0503020204020204" pitchFamily="34" charset="-122"/>
      <p:regular r:id="rId243"/>
      <p:bold r:id="rId244"/>
    </p:embeddedFont>
  </p:embeddedFontLst>
  <p:custDataLst>
    <p:tags r:id="rId245"/>
  </p:custDataLst>
  <p:defaultText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5D01"/>
    <a:srgbClr val="FF9900"/>
    <a:srgbClr val="F2F2F2"/>
    <a:srgbClr val="88B0F5"/>
    <a:srgbClr val="DB7F23"/>
    <a:srgbClr val="FFFF99"/>
    <a:srgbClr val="33CCCC"/>
    <a:srgbClr val="F1C3DC"/>
    <a:srgbClr val="83EBDC"/>
    <a:srgbClr val="008F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97" autoAdjust="0"/>
  </p:normalViewPr>
  <p:slideViewPr>
    <p:cSldViewPr>
      <p:cViewPr varScale="1">
        <p:scale>
          <a:sx n="118" d="100"/>
          <a:sy n="118" d="100"/>
        </p:scale>
        <p:origin x="296" y="72"/>
      </p:cViewPr>
      <p:guideLst>
        <p:guide orient="horz" pos="2210"/>
        <p:guide pos="2880"/>
      </p:guideLst>
    </p:cSldViewPr>
  </p:slideViewPr>
  <p:notesTextViewPr>
    <p:cViewPr>
      <p:scale>
        <a:sx n="1" d="1"/>
        <a:sy n="1" d="1"/>
      </p:scale>
      <p:origin x="0" y="0"/>
    </p:cViewPr>
  </p:notesTextViewPr>
  <p:sorterViewPr>
    <p:cViewPr>
      <p:scale>
        <a:sx n="186" d="100"/>
        <a:sy n="18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font" Target="fonts/font8.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font" Target="fonts/font9.fntdata"/><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font" Target="fonts/font10.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notesMaster" Target="notesMasters/notesMaster1.xml"/><Relationship Id="rId240" Type="http://schemas.openxmlformats.org/officeDocument/2006/relationships/font" Target="fonts/font11.fntdata"/><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font" Target="fonts/font1.fnt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font" Target="fonts/font1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font" Target="fonts/font7.fntdata"/><Relationship Id="rId26" Type="http://schemas.openxmlformats.org/officeDocument/2006/relationships/slide" Target="slides/slide25.xml"/><Relationship Id="rId231" Type="http://schemas.openxmlformats.org/officeDocument/2006/relationships/font" Target="fonts/font2.fntdata"/><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font" Target="fonts/font13.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font" Target="fonts/font3.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font" Target="fonts/font14.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font" Target="fonts/font4.fnt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font" Target="fonts/font15.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tags" Target="tags/tag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font" Target="fonts/font6.fntdata"/><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presProps" Target="presProps.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DD455E-2973-41E6-83F3-8A3AA549F37F}"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zh-CN" altLang="en-US"/>
        </a:p>
      </dgm:t>
    </dgm:pt>
    <dgm:pt modelId="{0676727D-E38A-41FB-9BA5-08667686D660}">
      <dgm:prSet phldrT="[文本]" custT="1"/>
      <dgm:spPr/>
      <dgm:t>
        <a:bodyPr/>
        <a:lstStyle/>
        <a:p>
          <a:r>
            <a:rPr lang="zh-CN" altLang="en-US" sz="1800" dirty="0">
              <a:latin typeface="微软雅黑" panose="020B0503020204020204" pitchFamily="34" charset="-122"/>
              <a:ea typeface="微软雅黑" panose="020B0503020204020204" pitchFamily="34" charset="-122"/>
            </a:rPr>
            <a:t>密钥池框架</a:t>
          </a:r>
        </a:p>
      </dgm:t>
    </dgm:pt>
    <dgm:pt modelId="{9555F5D2-E1CB-40C3-96BF-91F0E03219CE}" type="parTrans" cxnId="{7E8040CC-21FB-446A-A078-5C2D801B5CA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EF0C658-D20A-4F8A-85B8-13D1E6C895F9}" type="sibTrans" cxnId="{7E8040CC-21FB-446A-A078-5C2D801B5CA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5CED097-83B9-4BF3-A1D8-928E3DF9FBBE}">
      <dgm:prSet phldrT="[文本]" custT="1"/>
      <dgm:spPr/>
      <dgm:t>
        <a:bodyPr/>
        <a:lstStyle/>
        <a:p>
          <a:r>
            <a:rPr lang="zh-CN" altLang="en-US" sz="1800" dirty="0">
              <a:latin typeface="微软雅黑" panose="020B0503020204020204" pitchFamily="34" charset="-122"/>
              <a:ea typeface="微软雅黑" panose="020B0503020204020204" pitchFamily="34" charset="-122"/>
            </a:rPr>
            <a:t>数学框架</a:t>
          </a:r>
        </a:p>
      </dgm:t>
    </dgm:pt>
    <dgm:pt modelId="{A036D1E6-87FF-47CB-A5B4-15F3D104FCAE}" type="parTrans" cxnId="{A916F03F-8FAF-49E5-931D-7900D923F08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A443B5B2-1D8B-4136-A467-0699E035142F}" type="sibTrans" cxnId="{A916F03F-8FAF-49E5-931D-7900D923F085}">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2E053595-722D-42CE-9AE6-50028E649062}">
      <dgm:prSet phldrT="[文本]" custT="1"/>
      <dgm:spPr/>
      <dgm:t>
        <a:bodyPr/>
        <a:lstStyle/>
        <a:p>
          <a:r>
            <a:rPr lang="zh-CN" altLang="en-US" sz="1800" dirty="0">
              <a:latin typeface="微软雅黑" panose="020B0503020204020204" pitchFamily="34" charset="-122"/>
              <a:ea typeface="微软雅黑" panose="020B0503020204020204" pitchFamily="34" charset="-122"/>
            </a:rPr>
            <a:t>协商框架</a:t>
          </a:r>
        </a:p>
      </dgm:t>
    </dgm:pt>
    <dgm:pt modelId="{22A9555C-88B7-402F-A4E7-6531B8B228E1}" type="parTrans" cxnId="{3D931807-CFBB-456E-AE88-A6B5D2B67A78}">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2572A53D-CE72-493D-A6CD-4FC513DC4785}" type="sibTrans" cxnId="{3D931807-CFBB-456E-AE88-A6B5D2B67A78}">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00AE2241-86DC-4066-A134-41DB944A9D2F}">
      <dgm:prSet custT="1"/>
      <dgm:spPr/>
      <dgm:t>
        <a:bodyPr/>
        <a:lstStyle/>
        <a:p>
          <a:r>
            <a:rPr lang="zh-CN" altLang="en-US" sz="1800" dirty="0">
              <a:latin typeface="微软雅黑" panose="020B0503020204020204" pitchFamily="34" charset="-122"/>
              <a:ea typeface="微软雅黑" panose="020B0503020204020204" pitchFamily="34" charset="-122"/>
            </a:rPr>
            <a:t>公钥框架</a:t>
          </a:r>
        </a:p>
      </dgm:t>
    </dgm:pt>
    <dgm:pt modelId="{D47B2E22-C490-4860-B0B7-3A59B7B43402}" type="parTrans" cxnId="{9CDDBD97-99BB-4975-9E99-F116DCBD75A6}">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BDB6798A-C1E9-4442-9CE2-780F49AAEFC5}" type="sibTrans" cxnId="{9CDDBD97-99BB-4975-9E99-F116DCBD75A6}">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81ACB643-D65B-4D0A-A45A-736C510C0DC8}" type="pres">
      <dgm:prSet presAssocID="{17DD455E-2973-41E6-83F3-8A3AA549F37F}" presName="Name0" presStyleCnt="0">
        <dgm:presLayoutVars>
          <dgm:chMax val="7"/>
          <dgm:chPref val="7"/>
          <dgm:dir/>
        </dgm:presLayoutVars>
      </dgm:prSet>
      <dgm:spPr/>
    </dgm:pt>
    <dgm:pt modelId="{E1E48E2E-FC6F-47B1-A249-5C65E403188A}" type="pres">
      <dgm:prSet presAssocID="{17DD455E-2973-41E6-83F3-8A3AA549F37F}" presName="Name1" presStyleCnt="0"/>
      <dgm:spPr/>
    </dgm:pt>
    <dgm:pt modelId="{359D405B-9372-4D28-99A9-120A09E6801A}" type="pres">
      <dgm:prSet presAssocID="{17DD455E-2973-41E6-83F3-8A3AA549F37F}" presName="cycle" presStyleCnt="0"/>
      <dgm:spPr/>
    </dgm:pt>
    <dgm:pt modelId="{00D2A892-A9EF-4CAB-A0C7-319C9FA8EA0B}" type="pres">
      <dgm:prSet presAssocID="{17DD455E-2973-41E6-83F3-8A3AA549F37F}" presName="srcNode" presStyleLbl="node1" presStyleIdx="0" presStyleCnt="4"/>
      <dgm:spPr/>
    </dgm:pt>
    <dgm:pt modelId="{00C957A7-D935-48F1-ABD9-37C40C78C5BE}" type="pres">
      <dgm:prSet presAssocID="{17DD455E-2973-41E6-83F3-8A3AA549F37F}" presName="conn" presStyleLbl="parChTrans1D2" presStyleIdx="0" presStyleCnt="1"/>
      <dgm:spPr/>
    </dgm:pt>
    <dgm:pt modelId="{90F3E56E-D576-4B29-9A13-B7C74DC19EF2}" type="pres">
      <dgm:prSet presAssocID="{17DD455E-2973-41E6-83F3-8A3AA549F37F}" presName="extraNode" presStyleLbl="node1" presStyleIdx="0" presStyleCnt="4"/>
      <dgm:spPr/>
    </dgm:pt>
    <dgm:pt modelId="{A078603B-68D2-4518-A6B7-0CF43DF93757}" type="pres">
      <dgm:prSet presAssocID="{17DD455E-2973-41E6-83F3-8A3AA549F37F}" presName="dstNode" presStyleLbl="node1" presStyleIdx="0" presStyleCnt="4"/>
      <dgm:spPr/>
    </dgm:pt>
    <dgm:pt modelId="{9BB7356C-638F-4BE8-B4CF-527B85A22A78}" type="pres">
      <dgm:prSet presAssocID="{0676727D-E38A-41FB-9BA5-08667686D660}" presName="text_1" presStyleLbl="node1" presStyleIdx="0" presStyleCnt="4">
        <dgm:presLayoutVars>
          <dgm:bulletEnabled val="1"/>
        </dgm:presLayoutVars>
      </dgm:prSet>
      <dgm:spPr/>
    </dgm:pt>
    <dgm:pt modelId="{27AC6AAA-E268-4FE8-BC41-1ED96A4820C1}" type="pres">
      <dgm:prSet presAssocID="{0676727D-E38A-41FB-9BA5-08667686D660}" presName="accent_1" presStyleCnt="0"/>
      <dgm:spPr/>
    </dgm:pt>
    <dgm:pt modelId="{0D19357C-F120-4EC8-8D69-C0543808E0FB}" type="pres">
      <dgm:prSet presAssocID="{0676727D-E38A-41FB-9BA5-08667686D660}" presName="accentRepeatNode" presStyleLbl="solidFgAcc1" presStyleIdx="0" presStyleCnt="4"/>
      <dgm:spPr/>
    </dgm:pt>
    <dgm:pt modelId="{33C25635-5809-48A0-BBDF-317DAEDBCA63}" type="pres">
      <dgm:prSet presAssocID="{B5CED097-83B9-4BF3-A1D8-928E3DF9FBBE}" presName="text_2" presStyleLbl="node1" presStyleIdx="1" presStyleCnt="4">
        <dgm:presLayoutVars>
          <dgm:bulletEnabled val="1"/>
        </dgm:presLayoutVars>
      </dgm:prSet>
      <dgm:spPr/>
    </dgm:pt>
    <dgm:pt modelId="{B794D238-D6B1-44C7-83F0-3014650D94D9}" type="pres">
      <dgm:prSet presAssocID="{B5CED097-83B9-4BF3-A1D8-928E3DF9FBBE}" presName="accent_2" presStyleCnt="0"/>
      <dgm:spPr/>
    </dgm:pt>
    <dgm:pt modelId="{09D59F24-9F82-4B40-8AD9-D60F982F7781}" type="pres">
      <dgm:prSet presAssocID="{B5CED097-83B9-4BF3-A1D8-928E3DF9FBBE}" presName="accentRepeatNode" presStyleLbl="solidFgAcc1" presStyleIdx="1" presStyleCnt="4"/>
      <dgm:spPr/>
    </dgm:pt>
    <dgm:pt modelId="{C6A7A945-73E3-43E0-B689-DEECE8CE2FC1}" type="pres">
      <dgm:prSet presAssocID="{2E053595-722D-42CE-9AE6-50028E649062}" presName="text_3" presStyleLbl="node1" presStyleIdx="2" presStyleCnt="4">
        <dgm:presLayoutVars>
          <dgm:bulletEnabled val="1"/>
        </dgm:presLayoutVars>
      </dgm:prSet>
      <dgm:spPr/>
    </dgm:pt>
    <dgm:pt modelId="{752A807A-F307-4600-9339-4D51E73DFD03}" type="pres">
      <dgm:prSet presAssocID="{2E053595-722D-42CE-9AE6-50028E649062}" presName="accent_3" presStyleCnt="0"/>
      <dgm:spPr/>
    </dgm:pt>
    <dgm:pt modelId="{4BCF2249-F19B-43A8-8224-BB539F951726}" type="pres">
      <dgm:prSet presAssocID="{2E053595-722D-42CE-9AE6-50028E649062}" presName="accentRepeatNode" presStyleLbl="solidFgAcc1" presStyleIdx="2" presStyleCnt="4"/>
      <dgm:spPr/>
    </dgm:pt>
    <dgm:pt modelId="{10FB9C6F-4FD8-42BD-8582-FF5C3F26E4C6}" type="pres">
      <dgm:prSet presAssocID="{00AE2241-86DC-4066-A134-41DB944A9D2F}" presName="text_4" presStyleLbl="node1" presStyleIdx="3" presStyleCnt="4">
        <dgm:presLayoutVars>
          <dgm:bulletEnabled val="1"/>
        </dgm:presLayoutVars>
      </dgm:prSet>
      <dgm:spPr/>
    </dgm:pt>
    <dgm:pt modelId="{FBD5E0BE-CAFF-47D5-B2F5-040E0EF80502}" type="pres">
      <dgm:prSet presAssocID="{00AE2241-86DC-4066-A134-41DB944A9D2F}" presName="accent_4" presStyleCnt="0"/>
      <dgm:spPr/>
    </dgm:pt>
    <dgm:pt modelId="{5D900932-681A-450A-BDF3-ABE892658E8E}" type="pres">
      <dgm:prSet presAssocID="{00AE2241-86DC-4066-A134-41DB944A9D2F}" presName="accentRepeatNode" presStyleLbl="solidFgAcc1" presStyleIdx="3" presStyleCnt="4"/>
      <dgm:spPr/>
    </dgm:pt>
  </dgm:ptLst>
  <dgm:cxnLst>
    <dgm:cxn modelId="{3D931807-CFBB-456E-AE88-A6B5D2B67A78}" srcId="{17DD455E-2973-41E6-83F3-8A3AA549F37F}" destId="{2E053595-722D-42CE-9AE6-50028E649062}" srcOrd="2" destOrd="0" parTransId="{22A9555C-88B7-402F-A4E7-6531B8B228E1}" sibTransId="{2572A53D-CE72-493D-A6CD-4FC513DC4785}"/>
    <dgm:cxn modelId="{A916F03F-8FAF-49E5-931D-7900D923F085}" srcId="{17DD455E-2973-41E6-83F3-8A3AA549F37F}" destId="{B5CED097-83B9-4BF3-A1D8-928E3DF9FBBE}" srcOrd="1" destOrd="0" parTransId="{A036D1E6-87FF-47CB-A5B4-15F3D104FCAE}" sibTransId="{A443B5B2-1D8B-4136-A467-0699E035142F}"/>
    <dgm:cxn modelId="{31DA0E44-28BD-4635-8175-5AD3E5942469}" type="presOf" srcId="{17DD455E-2973-41E6-83F3-8A3AA549F37F}" destId="{81ACB643-D65B-4D0A-A45A-736C510C0DC8}" srcOrd="0" destOrd="0" presId="urn:microsoft.com/office/officeart/2008/layout/VerticalCurvedList"/>
    <dgm:cxn modelId="{EE27BC47-155E-4747-AD87-990993361108}" type="presOf" srcId="{1EF0C658-D20A-4F8A-85B8-13D1E6C895F9}" destId="{00C957A7-D935-48F1-ABD9-37C40C78C5BE}" srcOrd="0" destOrd="0" presId="urn:microsoft.com/office/officeart/2008/layout/VerticalCurvedList"/>
    <dgm:cxn modelId="{9CDDBD97-99BB-4975-9E99-F116DCBD75A6}" srcId="{17DD455E-2973-41E6-83F3-8A3AA549F37F}" destId="{00AE2241-86DC-4066-A134-41DB944A9D2F}" srcOrd="3" destOrd="0" parTransId="{D47B2E22-C490-4860-B0B7-3A59B7B43402}" sibTransId="{BDB6798A-C1E9-4442-9CE2-780F49AAEFC5}"/>
    <dgm:cxn modelId="{4EFBDDB3-7A25-428A-9F5B-4CBA640D8A9B}" type="presOf" srcId="{2E053595-722D-42CE-9AE6-50028E649062}" destId="{C6A7A945-73E3-43E0-B689-DEECE8CE2FC1}" srcOrd="0" destOrd="0" presId="urn:microsoft.com/office/officeart/2008/layout/VerticalCurvedList"/>
    <dgm:cxn modelId="{6AAD19B4-6D4B-45E2-9D3D-D1DE7E47D76C}" type="presOf" srcId="{00AE2241-86DC-4066-A134-41DB944A9D2F}" destId="{10FB9C6F-4FD8-42BD-8582-FF5C3F26E4C6}" srcOrd="0" destOrd="0" presId="urn:microsoft.com/office/officeart/2008/layout/VerticalCurvedList"/>
    <dgm:cxn modelId="{C74D2CB4-4A2E-494D-A722-907F0E9DDF07}" type="presOf" srcId="{0676727D-E38A-41FB-9BA5-08667686D660}" destId="{9BB7356C-638F-4BE8-B4CF-527B85A22A78}" srcOrd="0" destOrd="0" presId="urn:microsoft.com/office/officeart/2008/layout/VerticalCurvedList"/>
    <dgm:cxn modelId="{7E8040CC-21FB-446A-A078-5C2D801B5CA5}" srcId="{17DD455E-2973-41E6-83F3-8A3AA549F37F}" destId="{0676727D-E38A-41FB-9BA5-08667686D660}" srcOrd="0" destOrd="0" parTransId="{9555F5D2-E1CB-40C3-96BF-91F0E03219CE}" sibTransId="{1EF0C658-D20A-4F8A-85B8-13D1E6C895F9}"/>
    <dgm:cxn modelId="{066B9AD1-B735-4A16-B222-5178A4C9276A}" type="presOf" srcId="{B5CED097-83B9-4BF3-A1D8-928E3DF9FBBE}" destId="{33C25635-5809-48A0-BBDF-317DAEDBCA63}" srcOrd="0" destOrd="0" presId="urn:microsoft.com/office/officeart/2008/layout/VerticalCurvedList"/>
    <dgm:cxn modelId="{37572C79-B929-40F1-A252-04762289680F}" type="presParOf" srcId="{81ACB643-D65B-4D0A-A45A-736C510C0DC8}" destId="{E1E48E2E-FC6F-47B1-A249-5C65E403188A}" srcOrd="0" destOrd="0" presId="urn:microsoft.com/office/officeart/2008/layout/VerticalCurvedList"/>
    <dgm:cxn modelId="{25D74515-80E6-4A5E-9949-0DB3C8B69B16}" type="presParOf" srcId="{E1E48E2E-FC6F-47B1-A249-5C65E403188A}" destId="{359D405B-9372-4D28-99A9-120A09E6801A}" srcOrd="0" destOrd="0" presId="urn:microsoft.com/office/officeart/2008/layout/VerticalCurvedList"/>
    <dgm:cxn modelId="{EC298A3A-C103-439A-B8E0-2B4AEB306EEF}" type="presParOf" srcId="{359D405B-9372-4D28-99A9-120A09E6801A}" destId="{00D2A892-A9EF-4CAB-A0C7-319C9FA8EA0B}" srcOrd="0" destOrd="0" presId="urn:microsoft.com/office/officeart/2008/layout/VerticalCurvedList"/>
    <dgm:cxn modelId="{FDC51D64-CD18-4D9A-BC8B-DCE3D1F41826}" type="presParOf" srcId="{359D405B-9372-4D28-99A9-120A09E6801A}" destId="{00C957A7-D935-48F1-ABD9-37C40C78C5BE}" srcOrd="1" destOrd="0" presId="urn:microsoft.com/office/officeart/2008/layout/VerticalCurvedList"/>
    <dgm:cxn modelId="{3088E00F-67F9-44A0-A531-39060A5A23AF}" type="presParOf" srcId="{359D405B-9372-4D28-99A9-120A09E6801A}" destId="{90F3E56E-D576-4B29-9A13-B7C74DC19EF2}" srcOrd="2" destOrd="0" presId="urn:microsoft.com/office/officeart/2008/layout/VerticalCurvedList"/>
    <dgm:cxn modelId="{16796A9F-3E99-4A5B-A578-BF5279CE6743}" type="presParOf" srcId="{359D405B-9372-4D28-99A9-120A09E6801A}" destId="{A078603B-68D2-4518-A6B7-0CF43DF93757}" srcOrd="3" destOrd="0" presId="urn:microsoft.com/office/officeart/2008/layout/VerticalCurvedList"/>
    <dgm:cxn modelId="{BC1F83C4-8902-4105-8415-D43A66E413FA}" type="presParOf" srcId="{E1E48E2E-FC6F-47B1-A249-5C65E403188A}" destId="{9BB7356C-638F-4BE8-B4CF-527B85A22A78}" srcOrd="1" destOrd="0" presId="urn:microsoft.com/office/officeart/2008/layout/VerticalCurvedList"/>
    <dgm:cxn modelId="{EC86E248-2105-44D5-825F-9528403E7082}" type="presParOf" srcId="{E1E48E2E-FC6F-47B1-A249-5C65E403188A}" destId="{27AC6AAA-E268-4FE8-BC41-1ED96A4820C1}" srcOrd="2" destOrd="0" presId="urn:microsoft.com/office/officeart/2008/layout/VerticalCurvedList"/>
    <dgm:cxn modelId="{A4D21C79-AAE4-47E8-9EAF-7125CE1099DF}" type="presParOf" srcId="{27AC6AAA-E268-4FE8-BC41-1ED96A4820C1}" destId="{0D19357C-F120-4EC8-8D69-C0543808E0FB}" srcOrd="0" destOrd="0" presId="urn:microsoft.com/office/officeart/2008/layout/VerticalCurvedList"/>
    <dgm:cxn modelId="{C055C030-C79A-43BB-A5AB-27F06988ED0E}" type="presParOf" srcId="{E1E48E2E-FC6F-47B1-A249-5C65E403188A}" destId="{33C25635-5809-48A0-BBDF-317DAEDBCA63}" srcOrd="3" destOrd="0" presId="urn:microsoft.com/office/officeart/2008/layout/VerticalCurvedList"/>
    <dgm:cxn modelId="{78767DDF-835E-4B13-85AD-C87465BF5148}" type="presParOf" srcId="{E1E48E2E-FC6F-47B1-A249-5C65E403188A}" destId="{B794D238-D6B1-44C7-83F0-3014650D94D9}" srcOrd="4" destOrd="0" presId="urn:microsoft.com/office/officeart/2008/layout/VerticalCurvedList"/>
    <dgm:cxn modelId="{354A0C89-D5D1-4BE6-92EE-DF53F2CD880A}" type="presParOf" srcId="{B794D238-D6B1-44C7-83F0-3014650D94D9}" destId="{09D59F24-9F82-4B40-8AD9-D60F982F7781}" srcOrd="0" destOrd="0" presId="urn:microsoft.com/office/officeart/2008/layout/VerticalCurvedList"/>
    <dgm:cxn modelId="{0CE935B9-B9ED-48F6-B6F0-D02CE3A384DD}" type="presParOf" srcId="{E1E48E2E-FC6F-47B1-A249-5C65E403188A}" destId="{C6A7A945-73E3-43E0-B689-DEECE8CE2FC1}" srcOrd="5" destOrd="0" presId="urn:microsoft.com/office/officeart/2008/layout/VerticalCurvedList"/>
    <dgm:cxn modelId="{CBFD476A-8ED5-4044-81DF-CA9F96072703}" type="presParOf" srcId="{E1E48E2E-FC6F-47B1-A249-5C65E403188A}" destId="{752A807A-F307-4600-9339-4D51E73DFD03}" srcOrd="6" destOrd="0" presId="urn:microsoft.com/office/officeart/2008/layout/VerticalCurvedList"/>
    <dgm:cxn modelId="{986E9EED-4986-402A-A610-2001ADF2CDE3}" type="presParOf" srcId="{752A807A-F307-4600-9339-4D51E73DFD03}" destId="{4BCF2249-F19B-43A8-8224-BB539F951726}" srcOrd="0" destOrd="0" presId="urn:microsoft.com/office/officeart/2008/layout/VerticalCurvedList"/>
    <dgm:cxn modelId="{45142825-2867-4C2E-A901-375E6C335675}" type="presParOf" srcId="{E1E48E2E-FC6F-47B1-A249-5C65E403188A}" destId="{10FB9C6F-4FD8-42BD-8582-FF5C3F26E4C6}" srcOrd="7" destOrd="0" presId="urn:microsoft.com/office/officeart/2008/layout/VerticalCurvedList"/>
    <dgm:cxn modelId="{C89DCC10-DE6C-4C90-8D85-3CD5F4B48F55}" type="presParOf" srcId="{E1E48E2E-FC6F-47B1-A249-5C65E403188A}" destId="{FBD5E0BE-CAFF-47D5-B2F5-040E0EF80502}" srcOrd="8" destOrd="0" presId="urn:microsoft.com/office/officeart/2008/layout/VerticalCurvedList"/>
    <dgm:cxn modelId="{35B3A633-A12E-43DD-86FB-1541C49768DB}" type="presParOf" srcId="{FBD5E0BE-CAFF-47D5-B2F5-040E0EF80502}" destId="{5D900932-681A-450A-BDF3-ABE892658E8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957A7-D935-48F1-ABD9-37C40C78C5BE}">
      <dsp:nvSpPr>
        <dsp:cNvPr id="0" name=""/>
        <dsp:cNvSpPr/>
      </dsp:nvSpPr>
      <dsp:spPr>
        <a:xfrm>
          <a:off x="-3272990" y="-503528"/>
          <a:ext cx="3903153" cy="3903153"/>
        </a:xfrm>
        <a:prstGeom prst="blockArc">
          <a:avLst>
            <a:gd name="adj1" fmla="val 18900000"/>
            <a:gd name="adj2" fmla="val 2700000"/>
            <a:gd name="adj3" fmla="val 553"/>
          </a:avLst>
        </a:pr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BB7356C-638F-4BE8-B4CF-527B85A22A78}">
      <dsp:nvSpPr>
        <dsp:cNvPr id="0" name=""/>
        <dsp:cNvSpPr/>
      </dsp:nvSpPr>
      <dsp:spPr>
        <a:xfrm>
          <a:off x="330484" y="222651"/>
          <a:ext cx="4336959" cy="445535"/>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644" tIns="45720" rIns="45720" bIns="45720" numCol="1" spcCol="1270" anchor="ctr" anchorCtr="0">
          <a:noAutofit/>
        </a:bodyPr>
        <a:lstStyle/>
        <a:p>
          <a:pPr marL="0" lvl="0" indent="0" algn="l" defTabSz="800100">
            <a:lnSpc>
              <a:spcPct val="90000"/>
            </a:lnSpc>
            <a:spcBef>
              <a:spcPct val="0"/>
            </a:spcBef>
            <a:spcAft>
              <a:spcPct val="35000"/>
            </a:spcAft>
            <a:buNone/>
          </a:pPr>
          <a:r>
            <a:rPr lang="zh-CN" altLang="en-US" sz="1800" kern="1200" dirty="0">
              <a:latin typeface="微软雅黑" panose="020B0503020204020204" pitchFamily="34" charset="-122"/>
              <a:ea typeface="微软雅黑" panose="020B0503020204020204" pitchFamily="34" charset="-122"/>
            </a:rPr>
            <a:t>密钥池框架</a:t>
          </a:r>
        </a:p>
      </dsp:txBody>
      <dsp:txXfrm>
        <a:off x="330484" y="222651"/>
        <a:ext cx="4336959" cy="445535"/>
      </dsp:txXfrm>
    </dsp:sp>
    <dsp:sp modelId="{0D19357C-F120-4EC8-8D69-C0543808E0FB}">
      <dsp:nvSpPr>
        <dsp:cNvPr id="0" name=""/>
        <dsp:cNvSpPr/>
      </dsp:nvSpPr>
      <dsp:spPr>
        <a:xfrm>
          <a:off x="52024" y="166959"/>
          <a:ext cx="556919" cy="556919"/>
        </a:xfrm>
        <a:prstGeom prst="ellipse">
          <a:avLst/>
        </a:prstGeom>
        <a:solidFill>
          <a:schemeClr val="lt1">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C25635-5809-48A0-BBDF-317DAEDBCA63}">
      <dsp:nvSpPr>
        <dsp:cNvPr id="0" name=""/>
        <dsp:cNvSpPr/>
      </dsp:nvSpPr>
      <dsp:spPr>
        <a:xfrm>
          <a:off x="585919" y="891070"/>
          <a:ext cx="4081523" cy="445535"/>
        </a:xfrm>
        <a:prstGeom prst="rect">
          <a:avLst/>
        </a:prstGeom>
        <a:solidFill>
          <a:schemeClr val="accent3">
            <a:hueOff val="-854431"/>
            <a:satOff val="-10774"/>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644" tIns="45720" rIns="45720" bIns="45720" numCol="1" spcCol="1270" anchor="ctr" anchorCtr="0">
          <a:noAutofit/>
        </a:bodyPr>
        <a:lstStyle/>
        <a:p>
          <a:pPr marL="0" lvl="0" indent="0" algn="l" defTabSz="800100">
            <a:lnSpc>
              <a:spcPct val="90000"/>
            </a:lnSpc>
            <a:spcBef>
              <a:spcPct val="0"/>
            </a:spcBef>
            <a:spcAft>
              <a:spcPct val="35000"/>
            </a:spcAft>
            <a:buNone/>
          </a:pPr>
          <a:r>
            <a:rPr lang="zh-CN" altLang="en-US" sz="1800" kern="1200" dirty="0">
              <a:latin typeface="微软雅黑" panose="020B0503020204020204" pitchFamily="34" charset="-122"/>
              <a:ea typeface="微软雅黑" panose="020B0503020204020204" pitchFamily="34" charset="-122"/>
            </a:rPr>
            <a:t>数学框架</a:t>
          </a:r>
        </a:p>
      </dsp:txBody>
      <dsp:txXfrm>
        <a:off x="585919" y="891070"/>
        <a:ext cx="4081523" cy="445535"/>
      </dsp:txXfrm>
    </dsp:sp>
    <dsp:sp modelId="{09D59F24-9F82-4B40-8AD9-D60F982F7781}">
      <dsp:nvSpPr>
        <dsp:cNvPr id="0" name=""/>
        <dsp:cNvSpPr/>
      </dsp:nvSpPr>
      <dsp:spPr>
        <a:xfrm>
          <a:off x="307460" y="835378"/>
          <a:ext cx="556919" cy="556919"/>
        </a:xfrm>
        <a:prstGeom prst="ellipse">
          <a:avLst/>
        </a:prstGeom>
        <a:solidFill>
          <a:schemeClr val="lt1">
            <a:hueOff val="0"/>
            <a:satOff val="0"/>
            <a:lumOff val="0"/>
            <a:alphaOff val="0"/>
          </a:schemeClr>
        </a:solidFill>
        <a:ln w="25400" cap="flat" cmpd="sng" algn="ctr">
          <a:solidFill>
            <a:schemeClr val="accent3">
              <a:hueOff val="-854431"/>
              <a:satOff val="-10774"/>
              <a:lumOff val="915"/>
              <a:alphaOff val="0"/>
            </a:schemeClr>
          </a:solidFill>
          <a:prstDash val="solid"/>
        </a:ln>
        <a:effectLst/>
      </dsp:spPr>
      <dsp:style>
        <a:lnRef idx="2">
          <a:scrgbClr r="0" g="0" b="0"/>
        </a:lnRef>
        <a:fillRef idx="1">
          <a:scrgbClr r="0" g="0" b="0"/>
        </a:fillRef>
        <a:effectRef idx="0">
          <a:scrgbClr r="0" g="0" b="0"/>
        </a:effectRef>
        <a:fontRef idx="minor"/>
      </dsp:style>
    </dsp:sp>
    <dsp:sp modelId="{C6A7A945-73E3-43E0-B689-DEECE8CE2FC1}">
      <dsp:nvSpPr>
        <dsp:cNvPr id="0" name=""/>
        <dsp:cNvSpPr/>
      </dsp:nvSpPr>
      <dsp:spPr>
        <a:xfrm>
          <a:off x="585919" y="1559489"/>
          <a:ext cx="4081523" cy="445535"/>
        </a:xfrm>
        <a:prstGeom prst="rect">
          <a:avLst/>
        </a:prstGeom>
        <a:solidFill>
          <a:schemeClr val="accent3">
            <a:hueOff val="-1708861"/>
            <a:satOff val="-21547"/>
            <a:lumOff val="18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644" tIns="45720" rIns="45720" bIns="45720" numCol="1" spcCol="1270" anchor="ctr" anchorCtr="0">
          <a:noAutofit/>
        </a:bodyPr>
        <a:lstStyle/>
        <a:p>
          <a:pPr marL="0" lvl="0" indent="0" algn="l" defTabSz="800100">
            <a:lnSpc>
              <a:spcPct val="90000"/>
            </a:lnSpc>
            <a:spcBef>
              <a:spcPct val="0"/>
            </a:spcBef>
            <a:spcAft>
              <a:spcPct val="35000"/>
            </a:spcAft>
            <a:buNone/>
          </a:pPr>
          <a:r>
            <a:rPr lang="zh-CN" altLang="en-US" sz="1800" kern="1200" dirty="0">
              <a:latin typeface="微软雅黑" panose="020B0503020204020204" pitchFamily="34" charset="-122"/>
              <a:ea typeface="微软雅黑" panose="020B0503020204020204" pitchFamily="34" charset="-122"/>
            </a:rPr>
            <a:t>协商框架</a:t>
          </a:r>
        </a:p>
      </dsp:txBody>
      <dsp:txXfrm>
        <a:off x="585919" y="1559489"/>
        <a:ext cx="4081523" cy="445535"/>
      </dsp:txXfrm>
    </dsp:sp>
    <dsp:sp modelId="{4BCF2249-F19B-43A8-8224-BB539F951726}">
      <dsp:nvSpPr>
        <dsp:cNvPr id="0" name=""/>
        <dsp:cNvSpPr/>
      </dsp:nvSpPr>
      <dsp:spPr>
        <a:xfrm>
          <a:off x="307460" y="1503797"/>
          <a:ext cx="556919" cy="556919"/>
        </a:xfrm>
        <a:prstGeom prst="ellipse">
          <a:avLst/>
        </a:prstGeom>
        <a:solidFill>
          <a:schemeClr val="lt1">
            <a:hueOff val="0"/>
            <a:satOff val="0"/>
            <a:lumOff val="0"/>
            <a:alphaOff val="0"/>
          </a:schemeClr>
        </a:solidFill>
        <a:ln w="25400" cap="flat" cmpd="sng" algn="ctr">
          <a:solidFill>
            <a:schemeClr val="accent3">
              <a:hueOff val="-1708861"/>
              <a:satOff val="-21547"/>
              <a:lumOff val="1831"/>
              <a:alphaOff val="0"/>
            </a:schemeClr>
          </a:solidFill>
          <a:prstDash val="solid"/>
        </a:ln>
        <a:effectLst/>
      </dsp:spPr>
      <dsp:style>
        <a:lnRef idx="2">
          <a:scrgbClr r="0" g="0" b="0"/>
        </a:lnRef>
        <a:fillRef idx="1">
          <a:scrgbClr r="0" g="0" b="0"/>
        </a:fillRef>
        <a:effectRef idx="0">
          <a:scrgbClr r="0" g="0" b="0"/>
        </a:effectRef>
        <a:fontRef idx="minor"/>
      </dsp:style>
    </dsp:sp>
    <dsp:sp modelId="{10FB9C6F-4FD8-42BD-8582-FF5C3F26E4C6}">
      <dsp:nvSpPr>
        <dsp:cNvPr id="0" name=""/>
        <dsp:cNvSpPr/>
      </dsp:nvSpPr>
      <dsp:spPr>
        <a:xfrm>
          <a:off x="330484" y="2227908"/>
          <a:ext cx="4336959" cy="445535"/>
        </a:xfrm>
        <a:prstGeom prst="rect">
          <a:avLst/>
        </a:prstGeom>
        <a:solidFill>
          <a:schemeClr val="accent3">
            <a:hueOff val="-2563292"/>
            <a:satOff val="-32321"/>
            <a:lumOff val="274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3644" tIns="45720" rIns="45720" bIns="45720" numCol="1" spcCol="1270" anchor="ctr" anchorCtr="0">
          <a:noAutofit/>
        </a:bodyPr>
        <a:lstStyle/>
        <a:p>
          <a:pPr marL="0" lvl="0" indent="0" algn="l" defTabSz="800100">
            <a:lnSpc>
              <a:spcPct val="90000"/>
            </a:lnSpc>
            <a:spcBef>
              <a:spcPct val="0"/>
            </a:spcBef>
            <a:spcAft>
              <a:spcPct val="35000"/>
            </a:spcAft>
            <a:buNone/>
          </a:pPr>
          <a:r>
            <a:rPr lang="zh-CN" altLang="en-US" sz="1800" kern="1200" dirty="0">
              <a:latin typeface="微软雅黑" panose="020B0503020204020204" pitchFamily="34" charset="-122"/>
              <a:ea typeface="微软雅黑" panose="020B0503020204020204" pitchFamily="34" charset="-122"/>
            </a:rPr>
            <a:t>公钥框架</a:t>
          </a:r>
        </a:p>
      </dsp:txBody>
      <dsp:txXfrm>
        <a:off x="330484" y="2227908"/>
        <a:ext cx="4336959" cy="445535"/>
      </dsp:txXfrm>
    </dsp:sp>
    <dsp:sp modelId="{5D900932-681A-450A-BDF3-ABE892658E8E}">
      <dsp:nvSpPr>
        <dsp:cNvPr id="0" name=""/>
        <dsp:cNvSpPr/>
      </dsp:nvSpPr>
      <dsp:spPr>
        <a:xfrm>
          <a:off x="52024" y="2172216"/>
          <a:ext cx="556919" cy="556919"/>
        </a:xfrm>
        <a:prstGeom prst="ellipse">
          <a:avLst/>
        </a:prstGeom>
        <a:solidFill>
          <a:schemeClr val="lt1">
            <a:hueOff val="0"/>
            <a:satOff val="0"/>
            <a:lumOff val="0"/>
            <a:alphaOff val="0"/>
          </a:schemeClr>
        </a:solidFill>
        <a:ln w="25400" cap="flat" cmpd="sng" algn="ctr">
          <a:solidFill>
            <a:schemeClr val="accent3">
              <a:hueOff val="-2563292"/>
              <a:satOff val="-32321"/>
              <a:lumOff val="2746"/>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pPr/>
              <a:t>2023/4/1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pPr/>
              <a:t>‹#›</a:t>
            </a:fld>
            <a:endParaRPr lang="zh-CN" altLang="en-US"/>
          </a:p>
        </p:txBody>
      </p:sp>
    </p:spTree>
    <p:extLst>
      <p:ext uri="{BB962C8B-B14F-4D97-AF65-F5344CB8AC3E}">
        <p14:creationId xmlns:p14="http://schemas.microsoft.com/office/powerpoint/2010/main" val="48234476"/>
      </p:ext>
    </p:extLst>
  </p:cSld>
  <p:clrMap bg1="lt1" tx1="dk1" bg2="lt2" tx2="dk2" accent1="accent1" accent2="accent2" accent3="accent3" accent4="accent4" accent5="accent5" accent6="accent6" hlink="hlink" folHlink="folHlink"/>
  <p:notesStyle>
    <a:lvl1pPr marL="0" algn="l" defTabSz="914282" rtl="0" eaLnBrk="1" latinLnBrk="0" hangingPunct="1">
      <a:defRPr sz="1200" kern="1200">
        <a:solidFill>
          <a:schemeClr val="tx1"/>
        </a:solidFill>
        <a:latin typeface="+mn-lt"/>
        <a:ea typeface="+mn-ea"/>
        <a:cs typeface="+mn-cs"/>
      </a:defRPr>
    </a:lvl1pPr>
    <a:lvl2pPr marL="457140" algn="l" defTabSz="914282" rtl="0" eaLnBrk="1" latinLnBrk="0" hangingPunct="1">
      <a:defRPr sz="1200" kern="1200">
        <a:solidFill>
          <a:schemeClr val="tx1"/>
        </a:solidFill>
        <a:latin typeface="+mn-lt"/>
        <a:ea typeface="+mn-ea"/>
        <a:cs typeface="+mn-cs"/>
      </a:defRPr>
    </a:lvl2pPr>
    <a:lvl3pPr marL="914282" algn="l" defTabSz="914282" rtl="0" eaLnBrk="1" latinLnBrk="0" hangingPunct="1">
      <a:defRPr sz="1200" kern="1200">
        <a:solidFill>
          <a:schemeClr val="tx1"/>
        </a:solidFill>
        <a:latin typeface="+mn-lt"/>
        <a:ea typeface="+mn-ea"/>
        <a:cs typeface="+mn-cs"/>
      </a:defRPr>
    </a:lvl3pPr>
    <a:lvl4pPr marL="1371422" algn="l" defTabSz="914282" rtl="0" eaLnBrk="1" latinLnBrk="0" hangingPunct="1">
      <a:defRPr sz="1200" kern="1200">
        <a:solidFill>
          <a:schemeClr val="tx1"/>
        </a:solidFill>
        <a:latin typeface="+mn-lt"/>
        <a:ea typeface="+mn-ea"/>
        <a:cs typeface="+mn-cs"/>
      </a:defRPr>
    </a:lvl4pPr>
    <a:lvl5pPr marL="1828563" algn="l" defTabSz="914282" rtl="0" eaLnBrk="1" latinLnBrk="0" hangingPunct="1">
      <a:defRPr sz="1200" kern="1200">
        <a:solidFill>
          <a:schemeClr val="tx1"/>
        </a:solidFill>
        <a:latin typeface="+mn-lt"/>
        <a:ea typeface="+mn-ea"/>
        <a:cs typeface="+mn-cs"/>
      </a:defRPr>
    </a:lvl5pPr>
    <a:lvl6pPr marL="2285704" algn="l" defTabSz="914282" rtl="0" eaLnBrk="1" latinLnBrk="0" hangingPunct="1">
      <a:defRPr sz="1200" kern="1200">
        <a:solidFill>
          <a:schemeClr val="tx1"/>
        </a:solidFill>
        <a:latin typeface="+mn-lt"/>
        <a:ea typeface="+mn-ea"/>
        <a:cs typeface="+mn-cs"/>
      </a:defRPr>
    </a:lvl6pPr>
    <a:lvl7pPr marL="2742845" algn="l" defTabSz="914282" rtl="0" eaLnBrk="1" latinLnBrk="0" hangingPunct="1">
      <a:defRPr sz="1200" kern="1200">
        <a:solidFill>
          <a:schemeClr val="tx1"/>
        </a:solidFill>
        <a:latin typeface="+mn-lt"/>
        <a:ea typeface="+mn-ea"/>
        <a:cs typeface="+mn-cs"/>
      </a:defRPr>
    </a:lvl7pPr>
    <a:lvl8pPr marL="3199985" algn="l" defTabSz="914282" rtl="0" eaLnBrk="1" latinLnBrk="0" hangingPunct="1">
      <a:defRPr sz="1200" kern="1200">
        <a:solidFill>
          <a:schemeClr val="tx1"/>
        </a:solidFill>
        <a:latin typeface="+mn-lt"/>
        <a:ea typeface="+mn-ea"/>
        <a:cs typeface="+mn-cs"/>
      </a:defRPr>
    </a:lvl8pPr>
    <a:lvl9pPr marL="3657126" algn="l" defTabSz="91428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1</a:t>
            </a:fld>
            <a:endParaRPr lang="zh-CN" altLang="en-US"/>
          </a:p>
        </p:txBody>
      </p:sp>
    </p:spTree>
    <p:extLst>
      <p:ext uri="{BB962C8B-B14F-4D97-AF65-F5344CB8AC3E}">
        <p14:creationId xmlns:p14="http://schemas.microsoft.com/office/powerpoint/2010/main" val="170076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pPr/>
              <a:t>2</a:t>
            </a:fld>
            <a:endParaRPr lang="zh-CN" altLang="en-US"/>
          </a:p>
        </p:txBody>
      </p:sp>
    </p:spTree>
    <p:extLst>
      <p:ext uri="{BB962C8B-B14F-4D97-AF65-F5344CB8AC3E}">
        <p14:creationId xmlns:p14="http://schemas.microsoft.com/office/powerpoint/2010/main" val="92971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a:t>
            </a:fld>
            <a:endParaRPr lang="en-GB"/>
          </a:p>
        </p:txBody>
      </p:sp>
    </p:spTree>
    <p:extLst>
      <p:ext uri="{BB962C8B-B14F-4D97-AF65-F5344CB8AC3E}">
        <p14:creationId xmlns:p14="http://schemas.microsoft.com/office/powerpoint/2010/main" val="302203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4</a:t>
            </a:fld>
            <a:endParaRPr lang="zh-CN" altLang="en-US"/>
          </a:p>
        </p:txBody>
      </p:sp>
    </p:spTree>
    <p:extLst>
      <p:ext uri="{BB962C8B-B14F-4D97-AF65-F5344CB8AC3E}">
        <p14:creationId xmlns:p14="http://schemas.microsoft.com/office/powerpoint/2010/main" val="3255464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a:t>
            </a:fld>
            <a:endParaRPr lang="en-GB"/>
          </a:p>
        </p:txBody>
      </p:sp>
    </p:spTree>
    <p:extLst>
      <p:ext uri="{BB962C8B-B14F-4D97-AF65-F5344CB8AC3E}">
        <p14:creationId xmlns:p14="http://schemas.microsoft.com/office/powerpoint/2010/main" val="559393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a:t>
            </a:fld>
            <a:endParaRPr lang="en-GB"/>
          </a:p>
        </p:txBody>
      </p:sp>
    </p:spTree>
    <p:extLst>
      <p:ext uri="{BB962C8B-B14F-4D97-AF65-F5344CB8AC3E}">
        <p14:creationId xmlns:p14="http://schemas.microsoft.com/office/powerpoint/2010/main" val="3971670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a:t>
            </a:fld>
            <a:endParaRPr lang="en-GB"/>
          </a:p>
        </p:txBody>
      </p:sp>
    </p:spTree>
    <p:extLst>
      <p:ext uri="{BB962C8B-B14F-4D97-AF65-F5344CB8AC3E}">
        <p14:creationId xmlns:p14="http://schemas.microsoft.com/office/powerpoint/2010/main" val="1652856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a:t>
            </a:fld>
            <a:endParaRPr lang="en-GB"/>
          </a:p>
        </p:txBody>
      </p:sp>
    </p:spTree>
    <p:extLst>
      <p:ext uri="{BB962C8B-B14F-4D97-AF65-F5344CB8AC3E}">
        <p14:creationId xmlns:p14="http://schemas.microsoft.com/office/powerpoint/2010/main" val="1919385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a:t>
            </a:fld>
            <a:endParaRPr lang="en-GB"/>
          </a:p>
        </p:txBody>
      </p:sp>
    </p:spTree>
    <p:extLst>
      <p:ext uri="{BB962C8B-B14F-4D97-AF65-F5344CB8AC3E}">
        <p14:creationId xmlns:p14="http://schemas.microsoft.com/office/powerpoint/2010/main" val="2474821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a:t>
            </a:fld>
            <a:endParaRPr lang="en-GB"/>
          </a:p>
        </p:txBody>
      </p:sp>
    </p:spTree>
    <p:extLst>
      <p:ext uri="{BB962C8B-B14F-4D97-AF65-F5344CB8AC3E}">
        <p14:creationId xmlns:p14="http://schemas.microsoft.com/office/powerpoint/2010/main" val="22756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a:t>
            </a:fld>
            <a:endParaRPr lang="en-GB"/>
          </a:p>
        </p:txBody>
      </p:sp>
    </p:spTree>
    <p:extLst>
      <p:ext uri="{BB962C8B-B14F-4D97-AF65-F5344CB8AC3E}">
        <p14:creationId xmlns:p14="http://schemas.microsoft.com/office/powerpoint/2010/main" val="2574102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12</a:t>
            </a:fld>
            <a:endParaRPr lang="en-GB"/>
          </a:p>
        </p:txBody>
      </p:sp>
    </p:spTree>
    <p:extLst>
      <p:ext uri="{BB962C8B-B14F-4D97-AF65-F5344CB8AC3E}">
        <p14:creationId xmlns:p14="http://schemas.microsoft.com/office/powerpoint/2010/main" val="997687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13</a:t>
            </a:fld>
            <a:endParaRPr lang="en-GB"/>
          </a:p>
        </p:txBody>
      </p:sp>
    </p:spTree>
    <p:extLst>
      <p:ext uri="{BB962C8B-B14F-4D97-AF65-F5344CB8AC3E}">
        <p14:creationId xmlns:p14="http://schemas.microsoft.com/office/powerpoint/2010/main" val="2188081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a:t>
            </a:fld>
            <a:endParaRPr lang="en-GB"/>
          </a:p>
        </p:txBody>
      </p:sp>
    </p:spTree>
    <p:extLst>
      <p:ext uri="{BB962C8B-B14F-4D97-AF65-F5344CB8AC3E}">
        <p14:creationId xmlns:p14="http://schemas.microsoft.com/office/powerpoint/2010/main" val="3745533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a:t>
            </a:fld>
            <a:endParaRPr lang="en-GB"/>
          </a:p>
        </p:txBody>
      </p:sp>
    </p:spTree>
    <p:extLst>
      <p:ext uri="{BB962C8B-B14F-4D97-AF65-F5344CB8AC3E}">
        <p14:creationId xmlns:p14="http://schemas.microsoft.com/office/powerpoint/2010/main" val="1555287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a:t>
            </a:fld>
            <a:endParaRPr lang="en-GB"/>
          </a:p>
        </p:txBody>
      </p:sp>
    </p:spTree>
    <p:extLst>
      <p:ext uri="{BB962C8B-B14F-4D97-AF65-F5344CB8AC3E}">
        <p14:creationId xmlns:p14="http://schemas.microsoft.com/office/powerpoint/2010/main" val="2303400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a:t>
            </a:fld>
            <a:endParaRPr lang="en-GB"/>
          </a:p>
        </p:txBody>
      </p:sp>
    </p:spTree>
    <p:extLst>
      <p:ext uri="{BB962C8B-B14F-4D97-AF65-F5344CB8AC3E}">
        <p14:creationId xmlns:p14="http://schemas.microsoft.com/office/powerpoint/2010/main" val="911205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a:t>
            </a:fld>
            <a:endParaRPr lang="en-GB"/>
          </a:p>
        </p:txBody>
      </p:sp>
    </p:spTree>
    <p:extLst>
      <p:ext uri="{BB962C8B-B14F-4D97-AF65-F5344CB8AC3E}">
        <p14:creationId xmlns:p14="http://schemas.microsoft.com/office/powerpoint/2010/main" val="52130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a:t>
            </a:fld>
            <a:endParaRPr lang="en-GB"/>
          </a:p>
        </p:txBody>
      </p:sp>
    </p:spTree>
    <p:extLst>
      <p:ext uri="{BB962C8B-B14F-4D97-AF65-F5344CB8AC3E}">
        <p14:creationId xmlns:p14="http://schemas.microsoft.com/office/powerpoint/2010/main" val="9950770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a:t>
            </a:fld>
            <a:endParaRPr lang="en-GB"/>
          </a:p>
        </p:txBody>
      </p:sp>
    </p:spTree>
    <p:extLst>
      <p:ext uri="{BB962C8B-B14F-4D97-AF65-F5344CB8AC3E}">
        <p14:creationId xmlns:p14="http://schemas.microsoft.com/office/powerpoint/2010/main" val="16826569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a:t>
            </a:fld>
            <a:endParaRPr lang="en-GB"/>
          </a:p>
        </p:txBody>
      </p:sp>
    </p:spTree>
    <p:extLst>
      <p:ext uri="{BB962C8B-B14F-4D97-AF65-F5344CB8AC3E}">
        <p14:creationId xmlns:p14="http://schemas.microsoft.com/office/powerpoint/2010/main" val="3217344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a:t>
            </a:fld>
            <a:endParaRPr lang="en-GB"/>
          </a:p>
        </p:txBody>
      </p:sp>
    </p:spTree>
    <p:extLst>
      <p:ext uri="{BB962C8B-B14F-4D97-AF65-F5344CB8AC3E}">
        <p14:creationId xmlns:p14="http://schemas.microsoft.com/office/powerpoint/2010/main" val="946752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23</a:t>
            </a:fld>
            <a:endParaRPr lang="en-GB"/>
          </a:p>
        </p:txBody>
      </p:sp>
    </p:spTree>
    <p:extLst>
      <p:ext uri="{BB962C8B-B14F-4D97-AF65-F5344CB8AC3E}">
        <p14:creationId xmlns:p14="http://schemas.microsoft.com/office/powerpoint/2010/main" val="30066987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24</a:t>
            </a:fld>
            <a:endParaRPr lang="en-GB"/>
          </a:p>
        </p:txBody>
      </p:sp>
    </p:spTree>
    <p:extLst>
      <p:ext uri="{BB962C8B-B14F-4D97-AF65-F5344CB8AC3E}">
        <p14:creationId xmlns:p14="http://schemas.microsoft.com/office/powerpoint/2010/main" val="376211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25</a:t>
            </a:fld>
            <a:endParaRPr lang="en-GB"/>
          </a:p>
        </p:txBody>
      </p:sp>
    </p:spTree>
    <p:extLst>
      <p:ext uri="{BB962C8B-B14F-4D97-AF65-F5344CB8AC3E}">
        <p14:creationId xmlns:p14="http://schemas.microsoft.com/office/powerpoint/2010/main" val="2285649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26</a:t>
            </a:fld>
            <a:endParaRPr lang="en-GB"/>
          </a:p>
        </p:txBody>
      </p:sp>
    </p:spTree>
    <p:extLst>
      <p:ext uri="{BB962C8B-B14F-4D97-AF65-F5344CB8AC3E}">
        <p14:creationId xmlns:p14="http://schemas.microsoft.com/office/powerpoint/2010/main" val="612791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27</a:t>
            </a:fld>
            <a:endParaRPr lang="en-GB"/>
          </a:p>
        </p:txBody>
      </p:sp>
    </p:spTree>
    <p:extLst>
      <p:ext uri="{BB962C8B-B14F-4D97-AF65-F5344CB8AC3E}">
        <p14:creationId xmlns:p14="http://schemas.microsoft.com/office/powerpoint/2010/main" val="2863480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28</a:t>
            </a:fld>
            <a:endParaRPr lang="en-GB"/>
          </a:p>
        </p:txBody>
      </p:sp>
    </p:spTree>
    <p:extLst>
      <p:ext uri="{BB962C8B-B14F-4D97-AF65-F5344CB8AC3E}">
        <p14:creationId xmlns:p14="http://schemas.microsoft.com/office/powerpoint/2010/main" val="23322752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29</a:t>
            </a:fld>
            <a:endParaRPr lang="en-GB"/>
          </a:p>
        </p:txBody>
      </p:sp>
    </p:spTree>
    <p:extLst>
      <p:ext uri="{BB962C8B-B14F-4D97-AF65-F5344CB8AC3E}">
        <p14:creationId xmlns:p14="http://schemas.microsoft.com/office/powerpoint/2010/main" val="39755413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30</a:t>
            </a:fld>
            <a:endParaRPr lang="en-GB"/>
          </a:p>
        </p:txBody>
      </p:sp>
    </p:spTree>
    <p:extLst>
      <p:ext uri="{BB962C8B-B14F-4D97-AF65-F5344CB8AC3E}">
        <p14:creationId xmlns:p14="http://schemas.microsoft.com/office/powerpoint/2010/main" val="42581657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31</a:t>
            </a:fld>
            <a:endParaRPr lang="en-GB"/>
          </a:p>
        </p:txBody>
      </p:sp>
    </p:spTree>
    <p:extLst>
      <p:ext uri="{BB962C8B-B14F-4D97-AF65-F5344CB8AC3E}">
        <p14:creationId xmlns:p14="http://schemas.microsoft.com/office/powerpoint/2010/main" val="12754140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32</a:t>
            </a:fld>
            <a:endParaRPr lang="zh-CN" altLang="en-US"/>
          </a:p>
        </p:txBody>
      </p:sp>
    </p:spTree>
    <p:extLst>
      <p:ext uri="{BB962C8B-B14F-4D97-AF65-F5344CB8AC3E}">
        <p14:creationId xmlns:p14="http://schemas.microsoft.com/office/powerpoint/2010/main" val="3692650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33</a:t>
            </a:fld>
            <a:endParaRPr lang="en-GB"/>
          </a:p>
        </p:txBody>
      </p:sp>
    </p:spTree>
    <p:extLst>
      <p:ext uri="{BB962C8B-B14F-4D97-AF65-F5344CB8AC3E}">
        <p14:creationId xmlns:p14="http://schemas.microsoft.com/office/powerpoint/2010/main" val="14172266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34</a:t>
            </a:fld>
            <a:endParaRPr lang="en-GB"/>
          </a:p>
        </p:txBody>
      </p:sp>
    </p:spTree>
    <p:extLst>
      <p:ext uri="{BB962C8B-B14F-4D97-AF65-F5344CB8AC3E}">
        <p14:creationId xmlns:p14="http://schemas.microsoft.com/office/powerpoint/2010/main" val="42650876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35</a:t>
            </a:fld>
            <a:endParaRPr lang="en-GB"/>
          </a:p>
        </p:txBody>
      </p:sp>
    </p:spTree>
    <p:extLst>
      <p:ext uri="{BB962C8B-B14F-4D97-AF65-F5344CB8AC3E}">
        <p14:creationId xmlns:p14="http://schemas.microsoft.com/office/powerpoint/2010/main" val="20852701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36</a:t>
            </a:fld>
            <a:endParaRPr lang="en-GB"/>
          </a:p>
        </p:txBody>
      </p:sp>
    </p:spTree>
    <p:extLst>
      <p:ext uri="{BB962C8B-B14F-4D97-AF65-F5344CB8AC3E}">
        <p14:creationId xmlns:p14="http://schemas.microsoft.com/office/powerpoint/2010/main" val="10022925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37</a:t>
            </a:fld>
            <a:endParaRPr lang="en-GB"/>
          </a:p>
        </p:txBody>
      </p:sp>
    </p:spTree>
    <p:extLst>
      <p:ext uri="{BB962C8B-B14F-4D97-AF65-F5344CB8AC3E}">
        <p14:creationId xmlns:p14="http://schemas.microsoft.com/office/powerpoint/2010/main" val="1697328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38</a:t>
            </a:fld>
            <a:endParaRPr lang="en-GB"/>
          </a:p>
        </p:txBody>
      </p:sp>
    </p:spTree>
    <p:extLst>
      <p:ext uri="{BB962C8B-B14F-4D97-AF65-F5344CB8AC3E}">
        <p14:creationId xmlns:p14="http://schemas.microsoft.com/office/powerpoint/2010/main" val="22302916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39</a:t>
            </a:fld>
            <a:endParaRPr lang="en-GB"/>
          </a:p>
        </p:txBody>
      </p:sp>
    </p:spTree>
    <p:extLst>
      <p:ext uri="{BB962C8B-B14F-4D97-AF65-F5344CB8AC3E}">
        <p14:creationId xmlns:p14="http://schemas.microsoft.com/office/powerpoint/2010/main" val="806319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40</a:t>
            </a:fld>
            <a:endParaRPr lang="en-GB"/>
          </a:p>
        </p:txBody>
      </p:sp>
    </p:spTree>
    <p:extLst>
      <p:ext uri="{BB962C8B-B14F-4D97-AF65-F5344CB8AC3E}">
        <p14:creationId xmlns:p14="http://schemas.microsoft.com/office/powerpoint/2010/main" val="19266588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41</a:t>
            </a:fld>
            <a:endParaRPr lang="en-GB"/>
          </a:p>
        </p:txBody>
      </p:sp>
    </p:spTree>
    <p:extLst>
      <p:ext uri="{BB962C8B-B14F-4D97-AF65-F5344CB8AC3E}">
        <p14:creationId xmlns:p14="http://schemas.microsoft.com/office/powerpoint/2010/main" val="14020504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42</a:t>
            </a:fld>
            <a:endParaRPr lang="en-GB"/>
          </a:p>
        </p:txBody>
      </p:sp>
    </p:spTree>
    <p:extLst>
      <p:ext uri="{BB962C8B-B14F-4D97-AF65-F5344CB8AC3E}">
        <p14:creationId xmlns:p14="http://schemas.microsoft.com/office/powerpoint/2010/main" val="16209465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43</a:t>
            </a:fld>
            <a:endParaRPr lang="en-GB"/>
          </a:p>
        </p:txBody>
      </p:sp>
    </p:spTree>
    <p:extLst>
      <p:ext uri="{BB962C8B-B14F-4D97-AF65-F5344CB8AC3E}">
        <p14:creationId xmlns:p14="http://schemas.microsoft.com/office/powerpoint/2010/main" val="40118147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上图也展示了</a:t>
            </a:r>
            <a:r>
              <a:rPr lang="en-US" altLang="zh-CN" dirty="0"/>
              <a:t>AES</a:t>
            </a:r>
            <a:r>
              <a:rPr lang="zh-CN" altLang="en-US" dirty="0"/>
              <a:t>解密过程，解密过程仍为</a:t>
            </a:r>
            <a:r>
              <a:rPr lang="en-US" altLang="zh-CN" dirty="0"/>
              <a:t>10</a:t>
            </a:r>
            <a:r>
              <a:rPr lang="zh-CN" altLang="en-US" dirty="0"/>
              <a:t>轮，每一轮的操作是加密操作的逆操作。由于</a:t>
            </a:r>
            <a:r>
              <a:rPr lang="en-US" altLang="zh-CN" dirty="0"/>
              <a:t>AES</a:t>
            </a:r>
            <a:r>
              <a:rPr lang="zh-CN" altLang="en-US" dirty="0"/>
              <a:t>的</a:t>
            </a:r>
            <a:r>
              <a:rPr lang="en-US" altLang="zh-CN" dirty="0"/>
              <a:t>4</a:t>
            </a:r>
            <a:r>
              <a:rPr lang="zh-CN" altLang="en-US" dirty="0"/>
              <a:t>个轮操作都是可逆的，因此，解密操作的一轮就是顺序执行逆行移位、逆字节代换、轮密钥加和逆列混合。同加密操作类似，最后一轮不执行逆列混合，在第</a:t>
            </a:r>
            <a:r>
              <a:rPr lang="en-US" altLang="zh-CN" dirty="0"/>
              <a:t>1</a:t>
            </a:r>
            <a:r>
              <a:rPr lang="zh-CN" altLang="en-US" dirty="0"/>
              <a:t>轮解密之前，要执行</a:t>
            </a:r>
            <a:r>
              <a:rPr lang="en-US" altLang="zh-CN" dirty="0"/>
              <a:t>1</a:t>
            </a:r>
            <a:r>
              <a:rPr lang="zh-CN" altLang="en-US" dirty="0"/>
              <a:t>次密钥加操作。</a:t>
            </a:r>
          </a:p>
        </p:txBody>
      </p:sp>
      <p:sp>
        <p:nvSpPr>
          <p:cNvPr id="4" name="灯片编号占位符 3"/>
          <p:cNvSpPr>
            <a:spLocks noGrp="1"/>
          </p:cNvSpPr>
          <p:nvPr>
            <p:ph type="sldNum" sz="quarter" idx="10"/>
          </p:nvPr>
        </p:nvSpPr>
        <p:spPr/>
        <p:txBody>
          <a:bodyPr/>
          <a:lstStyle/>
          <a:p>
            <a:fld id="{A26B02EC-97C0-4E19-AA45-E904FCC1D11E}" type="slidenum">
              <a:rPr lang="en-GB" smtClean="0"/>
              <a:pPr/>
              <a:t>44</a:t>
            </a:fld>
            <a:endParaRPr lang="en-GB"/>
          </a:p>
        </p:txBody>
      </p:sp>
    </p:spTree>
    <p:extLst>
      <p:ext uri="{BB962C8B-B14F-4D97-AF65-F5344CB8AC3E}">
        <p14:creationId xmlns:p14="http://schemas.microsoft.com/office/powerpoint/2010/main" val="24778218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45</a:t>
            </a:fld>
            <a:endParaRPr lang="en-GB"/>
          </a:p>
        </p:txBody>
      </p:sp>
    </p:spTree>
    <p:extLst>
      <p:ext uri="{BB962C8B-B14F-4D97-AF65-F5344CB8AC3E}">
        <p14:creationId xmlns:p14="http://schemas.microsoft.com/office/powerpoint/2010/main" val="30365506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46</a:t>
            </a:fld>
            <a:endParaRPr lang="en-GB"/>
          </a:p>
        </p:txBody>
      </p:sp>
    </p:spTree>
    <p:extLst>
      <p:ext uri="{BB962C8B-B14F-4D97-AF65-F5344CB8AC3E}">
        <p14:creationId xmlns:p14="http://schemas.microsoft.com/office/powerpoint/2010/main" val="6199596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47</a:t>
            </a:fld>
            <a:endParaRPr lang="en-GB"/>
          </a:p>
        </p:txBody>
      </p:sp>
    </p:spTree>
    <p:extLst>
      <p:ext uri="{BB962C8B-B14F-4D97-AF65-F5344CB8AC3E}">
        <p14:creationId xmlns:p14="http://schemas.microsoft.com/office/powerpoint/2010/main" val="18169728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48</a:t>
            </a:fld>
            <a:endParaRPr lang="en-GB"/>
          </a:p>
        </p:txBody>
      </p:sp>
    </p:spTree>
    <p:extLst>
      <p:ext uri="{BB962C8B-B14F-4D97-AF65-F5344CB8AC3E}">
        <p14:creationId xmlns:p14="http://schemas.microsoft.com/office/powerpoint/2010/main" val="14267350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49</a:t>
            </a:fld>
            <a:endParaRPr lang="en-GB"/>
          </a:p>
        </p:txBody>
      </p:sp>
    </p:spTree>
    <p:extLst>
      <p:ext uri="{BB962C8B-B14F-4D97-AF65-F5344CB8AC3E}">
        <p14:creationId xmlns:p14="http://schemas.microsoft.com/office/powerpoint/2010/main" val="4176236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50</a:t>
            </a:fld>
            <a:endParaRPr lang="en-GB"/>
          </a:p>
        </p:txBody>
      </p:sp>
    </p:spTree>
    <p:extLst>
      <p:ext uri="{BB962C8B-B14F-4D97-AF65-F5344CB8AC3E}">
        <p14:creationId xmlns:p14="http://schemas.microsoft.com/office/powerpoint/2010/main" val="26248211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51</a:t>
            </a:fld>
            <a:endParaRPr lang="en-GB"/>
          </a:p>
        </p:txBody>
      </p:sp>
    </p:spTree>
    <p:extLst>
      <p:ext uri="{BB962C8B-B14F-4D97-AF65-F5344CB8AC3E}">
        <p14:creationId xmlns:p14="http://schemas.microsoft.com/office/powerpoint/2010/main" val="17842861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52</a:t>
            </a:fld>
            <a:endParaRPr lang="en-GB"/>
          </a:p>
        </p:txBody>
      </p:sp>
    </p:spTree>
    <p:extLst>
      <p:ext uri="{BB962C8B-B14F-4D97-AF65-F5344CB8AC3E}">
        <p14:creationId xmlns:p14="http://schemas.microsoft.com/office/powerpoint/2010/main" val="37590363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53</a:t>
            </a:fld>
            <a:endParaRPr lang="en-GB"/>
          </a:p>
        </p:txBody>
      </p:sp>
    </p:spTree>
    <p:extLst>
      <p:ext uri="{BB962C8B-B14F-4D97-AF65-F5344CB8AC3E}">
        <p14:creationId xmlns:p14="http://schemas.microsoft.com/office/powerpoint/2010/main" val="36892664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54</a:t>
            </a:fld>
            <a:endParaRPr lang="en-GB"/>
          </a:p>
        </p:txBody>
      </p:sp>
    </p:spTree>
    <p:extLst>
      <p:ext uri="{BB962C8B-B14F-4D97-AF65-F5344CB8AC3E}">
        <p14:creationId xmlns:p14="http://schemas.microsoft.com/office/powerpoint/2010/main" val="28289347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55</a:t>
            </a:fld>
            <a:endParaRPr lang="en-GB"/>
          </a:p>
        </p:txBody>
      </p:sp>
    </p:spTree>
    <p:extLst>
      <p:ext uri="{BB962C8B-B14F-4D97-AF65-F5344CB8AC3E}">
        <p14:creationId xmlns:p14="http://schemas.microsoft.com/office/powerpoint/2010/main" val="41152488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Rijndael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开发者从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次不可约多项式中选出的一个，因为它是第一个不可约多项式</a:t>
            </a:r>
          </a:p>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56</a:t>
            </a:fld>
            <a:endParaRPr lang="en-GB"/>
          </a:p>
        </p:txBody>
      </p:sp>
    </p:spTree>
    <p:extLst>
      <p:ext uri="{BB962C8B-B14F-4D97-AF65-F5344CB8AC3E}">
        <p14:creationId xmlns:p14="http://schemas.microsoft.com/office/powerpoint/2010/main" val="31678658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57</a:t>
            </a:fld>
            <a:endParaRPr lang="en-GB"/>
          </a:p>
        </p:txBody>
      </p:sp>
    </p:spTree>
    <p:extLst>
      <p:ext uri="{BB962C8B-B14F-4D97-AF65-F5344CB8AC3E}">
        <p14:creationId xmlns:p14="http://schemas.microsoft.com/office/powerpoint/2010/main" val="31649330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58</a:t>
            </a:fld>
            <a:endParaRPr lang="en-GB"/>
          </a:p>
        </p:txBody>
      </p:sp>
    </p:spTree>
    <p:extLst>
      <p:ext uri="{BB962C8B-B14F-4D97-AF65-F5344CB8AC3E}">
        <p14:creationId xmlns:p14="http://schemas.microsoft.com/office/powerpoint/2010/main" val="35901278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59</a:t>
            </a:fld>
            <a:endParaRPr lang="en-GB"/>
          </a:p>
        </p:txBody>
      </p:sp>
    </p:spTree>
    <p:extLst>
      <p:ext uri="{BB962C8B-B14F-4D97-AF65-F5344CB8AC3E}">
        <p14:creationId xmlns:p14="http://schemas.microsoft.com/office/powerpoint/2010/main" val="8631202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60</a:t>
            </a:fld>
            <a:endParaRPr lang="en-GB"/>
          </a:p>
        </p:txBody>
      </p:sp>
    </p:spTree>
    <p:extLst>
      <p:ext uri="{BB962C8B-B14F-4D97-AF65-F5344CB8AC3E}">
        <p14:creationId xmlns:p14="http://schemas.microsoft.com/office/powerpoint/2010/main" val="36396033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61</a:t>
            </a:fld>
            <a:endParaRPr lang="en-GB"/>
          </a:p>
        </p:txBody>
      </p:sp>
    </p:spTree>
    <p:extLst>
      <p:ext uri="{BB962C8B-B14F-4D97-AF65-F5344CB8AC3E}">
        <p14:creationId xmlns:p14="http://schemas.microsoft.com/office/powerpoint/2010/main" val="3658634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62</a:t>
            </a:fld>
            <a:endParaRPr lang="en-GB"/>
          </a:p>
        </p:txBody>
      </p:sp>
    </p:spTree>
    <p:extLst>
      <p:ext uri="{BB962C8B-B14F-4D97-AF65-F5344CB8AC3E}">
        <p14:creationId xmlns:p14="http://schemas.microsoft.com/office/powerpoint/2010/main" val="17656507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63</a:t>
            </a:fld>
            <a:endParaRPr lang="en-GB"/>
          </a:p>
        </p:txBody>
      </p:sp>
    </p:spTree>
    <p:extLst>
      <p:ext uri="{BB962C8B-B14F-4D97-AF65-F5344CB8AC3E}">
        <p14:creationId xmlns:p14="http://schemas.microsoft.com/office/powerpoint/2010/main" val="1231741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64</a:t>
            </a:fld>
            <a:endParaRPr lang="en-GB"/>
          </a:p>
        </p:txBody>
      </p:sp>
    </p:spTree>
    <p:extLst>
      <p:ext uri="{BB962C8B-B14F-4D97-AF65-F5344CB8AC3E}">
        <p14:creationId xmlns:p14="http://schemas.microsoft.com/office/powerpoint/2010/main" val="372542571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65</a:t>
            </a:fld>
            <a:endParaRPr lang="en-GB"/>
          </a:p>
        </p:txBody>
      </p:sp>
    </p:spTree>
    <p:extLst>
      <p:ext uri="{BB962C8B-B14F-4D97-AF65-F5344CB8AC3E}">
        <p14:creationId xmlns:p14="http://schemas.microsoft.com/office/powerpoint/2010/main" val="28899544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66</a:t>
            </a:fld>
            <a:endParaRPr lang="en-GB"/>
          </a:p>
        </p:txBody>
      </p:sp>
    </p:spTree>
    <p:extLst>
      <p:ext uri="{BB962C8B-B14F-4D97-AF65-F5344CB8AC3E}">
        <p14:creationId xmlns:p14="http://schemas.microsoft.com/office/powerpoint/2010/main" val="24407907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67</a:t>
            </a:fld>
            <a:endParaRPr lang="en-GB"/>
          </a:p>
        </p:txBody>
      </p:sp>
    </p:spTree>
    <p:extLst>
      <p:ext uri="{BB962C8B-B14F-4D97-AF65-F5344CB8AC3E}">
        <p14:creationId xmlns:p14="http://schemas.microsoft.com/office/powerpoint/2010/main" val="41392629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68</a:t>
            </a:fld>
            <a:endParaRPr lang="en-GB"/>
          </a:p>
        </p:txBody>
      </p:sp>
    </p:spTree>
    <p:extLst>
      <p:ext uri="{BB962C8B-B14F-4D97-AF65-F5344CB8AC3E}">
        <p14:creationId xmlns:p14="http://schemas.microsoft.com/office/powerpoint/2010/main" val="36444515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69</a:t>
            </a:fld>
            <a:endParaRPr lang="en-GB"/>
          </a:p>
        </p:txBody>
      </p:sp>
    </p:spTree>
    <p:extLst>
      <p:ext uri="{BB962C8B-B14F-4D97-AF65-F5344CB8AC3E}">
        <p14:creationId xmlns:p14="http://schemas.microsoft.com/office/powerpoint/2010/main" val="176921269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70</a:t>
            </a:fld>
            <a:endParaRPr lang="en-GB"/>
          </a:p>
        </p:txBody>
      </p:sp>
    </p:spTree>
    <p:extLst>
      <p:ext uri="{BB962C8B-B14F-4D97-AF65-F5344CB8AC3E}">
        <p14:creationId xmlns:p14="http://schemas.microsoft.com/office/powerpoint/2010/main" val="85109236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71</a:t>
            </a:fld>
            <a:endParaRPr lang="en-GB"/>
          </a:p>
        </p:txBody>
      </p:sp>
    </p:spTree>
    <p:extLst>
      <p:ext uri="{BB962C8B-B14F-4D97-AF65-F5344CB8AC3E}">
        <p14:creationId xmlns:p14="http://schemas.microsoft.com/office/powerpoint/2010/main" val="7324592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72</a:t>
            </a:fld>
            <a:endParaRPr lang="en-GB"/>
          </a:p>
        </p:txBody>
      </p:sp>
    </p:spTree>
    <p:extLst>
      <p:ext uri="{BB962C8B-B14F-4D97-AF65-F5344CB8AC3E}">
        <p14:creationId xmlns:p14="http://schemas.microsoft.com/office/powerpoint/2010/main" val="7636757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73</a:t>
            </a:fld>
            <a:endParaRPr lang="en-GB"/>
          </a:p>
        </p:txBody>
      </p:sp>
    </p:spTree>
    <p:extLst>
      <p:ext uri="{BB962C8B-B14F-4D97-AF65-F5344CB8AC3E}">
        <p14:creationId xmlns:p14="http://schemas.microsoft.com/office/powerpoint/2010/main" val="62831856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74</a:t>
            </a:fld>
            <a:endParaRPr lang="en-GB"/>
          </a:p>
        </p:txBody>
      </p:sp>
    </p:spTree>
    <p:extLst>
      <p:ext uri="{BB962C8B-B14F-4D97-AF65-F5344CB8AC3E}">
        <p14:creationId xmlns:p14="http://schemas.microsoft.com/office/powerpoint/2010/main" val="30358558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75</a:t>
            </a:fld>
            <a:endParaRPr lang="en-GB"/>
          </a:p>
        </p:txBody>
      </p:sp>
    </p:spTree>
    <p:extLst>
      <p:ext uri="{BB962C8B-B14F-4D97-AF65-F5344CB8AC3E}">
        <p14:creationId xmlns:p14="http://schemas.microsoft.com/office/powerpoint/2010/main" val="41017910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76</a:t>
            </a:fld>
            <a:endParaRPr lang="en-GB"/>
          </a:p>
        </p:txBody>
      </p:sp>
    </p:spTree>
    <p:extLst>
      <p:ext uri="{BB962C8B-B14F-4D97-AF65-F5344CB8AC3E}">
        <p14:creationId xmlns:p14="http://schemas.microsoft.com/office/powerpoint/2010/main" val="381090312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77</a:t>
            </a:fld>
            <a:endParaRPr lang="en-GB"/>
          </a:p>
        </p:txBody>
      </p:sp>
    </p:spTree>
    <p:extLst>
      <p:ext uri="{BB962C8B-B14F-4D97-AF65-F5344CB8AC3E}">
        <p14:creationId xmlns:p14="http://schemas.microsoft.com/office/powerpoint/2010/main" val="287374775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78</a:t>
            </a:fld>
            <a:endParaRPr lang="en-GB"/>
          </a:p>
        </p:txBody>
      </p:sp>
    </p:spTree>
    <p:extLst>
      <p:ext uri="{BB962C8B-B14F-4D97-AF65-F5344CB8AC3E}">
        <p14:creationId xmlns:p14="http://schemas.microsoft.com/office/powerpoint/2010/main" val="75971269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79</a:t>
            </a:fld>
            <a:endParaRPr lang="en-GB"/>
          </a:p>
        </p:txBody>
      </p:sp>
    </p:spTree>
    <p:extLst>
      <p:ext uri="{BB962C8B-B14F-4D97-AF65-F5344CB8AC3E}">
        <p14:creationId xmlns:p14="http://schemas.microsoft.com/office/powerpoint/2010/main" val="29175205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80</a:t>
            </a:fld>
            <a:endParaRPr lang="en-GB"/>
          </a:p>
        </p:txBody>
      </p:sp>
    </p:spTree>
    <p:extLst>
      <p:ext uri="{BB962C8B-B14F-4D97-AF65-F5344CB8AC3E}">
        <p14:creationId xmlns:p14="http://schemas.microsoft.com/office/powerpoint/2010/main" val="252551520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81</a:t>
            </a:fld>
            <a:endParaRPr lang="en-GB"/>
          </a:p>
        </p:txBody>
      </p:sp>
    </p:spTree>
    <p:extLst>
      <p:ext uri="{BB962C8B-B14F-4D97-AF65-F5344CB8AC3E}">
        <p14:creationId xmlns:p14="http://schemas.microsoft.com/office/powerpoint/2010/main" val="233533064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82</a:t>
            </a:fld>
            <a:endParaRPr lang="en-GB"/>
          </a:p>
        </p:txBody>
      </p:sp>
    </p:spTree>
    <p:extLst>
      <p:ext uri="{BB962C8B-B14F-4D97-AF65-F5344CB8AC3E}">
        <p14:creationId xmlns:p14="http://schemas.microsoft.com/office/powerpoint/2010/main" val="257508770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83</a:t>
            </a:fld>
            <a:endParaRPr lang="en-GB"/>
          </a:p>
        </p:txBody>
      </p:sp>
    </p:spTree>
    <p:extLst>
      <p:ext uri="{BB962C8B-B14F-4D97-AF65-F5344CB8AC3E}">
        <p14:creationId xmlns:p14="http://schemas.microsoft.com/office/powerpoint/2010/main" val="70288076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84</a:t>
            </a:fld>
            <a:endParaRPr lang="en-GB"/>
          </a:p>
        </p:txBody>
      </p:sp>
    </p:spTree>
    <p:extLst>
      <p:ext uri="{BB962C8B-B14F-4D97-AF65-F5344CB8AC3E}">
        <p14:creationId xmlns:p14="http://schemas.microsoft.com/office/powerpoint/2010/main" val="96033879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85</a:t>
            </a:fld>
            <a:endParaRPr lang="en-GB"/>
          </a:p>
        </p:txBody>
      </p:sp>
    </p:spTree>
    <p:extLst>
      <p:ext uri="{BB962C8B-B14F-4D97-AF65-F5344CB8AC3E}">
        <p14:creationId xmlns:p14="http://schemas.microsoft.com/office/powerpoint/2010/main" val="85460671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86</a:t>
            </a:fld>
            <a:endParaRPr lang="en-GB"/>
          </a:p>
        </p:txBody>
      </p:sp>
    </p:spTree>
    <p:extLst>
      <p:ext uri="{BB962C8B-B14F-4D97-AF65-F5344CB8AC3E}">
        <p14:creationId xmlns:p14="http://schemas.microsoft.com/office/powerpoint/2010/main" val="90199021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87</a:t>
            </a:fld>
            <a:endParaRPr lang="en-GB"/>
          </a:p>
        </p:txBody>
      </p:sp>
    </p:spTree>
    <p:extLst>
      <p:ext uri="{BB962C8B-B14F-4D97-AF65-F5344CB8AC3E}">
        <p14:creationId xmlns:p14="http://schemas.microsoft.com/office/powerpoint/2010/main" val="343073892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88</a:t>
            </a:fld>
            <a:endParaRPr lang="en-GB"/>
          </a:p>
        </p:txBody>
      </p:sp>
    </p:spTree>
    <p:extLst>
      <p:ext uri="{BB962C8B-B14F-4D97-AF65-F5344CB8AC3E}">
        <p14:creationId xmlns:p14="http://schemas.microsoft.com/office/powerpoint/2010/main" val="123796983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89</a:t>
            </a:fld>
            <a:endParaRPr lang="en-GB"/>
          </a:p>
        </p:txBody>
      </p:sp>
    </p:spTree>
    <p:extLst>
      <p:ext uri="{BB962C8B-B14F-4D97-AF65-F5344CB8AC3E}">
        <p14:creationId xmlns:p14="http://schemas.microsoft.com/office/powerpoint/2010/main" val="136154865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90</a:t>
            </a:fld>
            <a:endParaRPr lang="en-GB"/>
          </a:p>
        </p:txBody>
      </p:sp>
    </p:spTree>
    <p:extLst>
      <p:ext uri="{BB962C8B-B14F-4D97-AF65-F5344CB8AC3E}">
        <p14:creationId xmlns:p14="http://schemas.microsoft.com/office/powerpoint/2010/main" val="372629817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91</a:t>
            </a:fld>
            <a:endParaRPr lang="en-GB"/>
          </a:p>
        </p:txBody>
      </p:sp>
    </p:spTree>
    <p:extLst>
      <p:ext uri="{BB962C8B-B14F-4D97-AF65-F5344CB8AC3E}">
        <p14:creationId xmlns:p14="http://schemas.microsoft.com/office/powerpoint/2010/main" val="322173899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92</a:t>
            </a:fld>
            <a:endParaRPr lang="en-GB"/>
          </a:p>
        </p:txBody>
      </p:sp>
    </p:spTree>
    <p:extLst>
      <p:ext uri="{BB962C8B-B14F-4D97-AF65-F5344CB8AC3E}">
        <p14:creationId xmlns:p14="http://schemas.microsoft.com/office/powerpoint/2010/main" val="148447378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93</a:t>
            </a:fld>
            <a:endParaRPr lang="en-GB"/>
          </a:p>
        </p:txBody>
      </p:sp>
    </p:spTree>
    <p:extLst>
      <p:ext uri="{BB962C8B-B14F-4D97-AF65-F5344CB8AC3E}">
        <p14:creationId xmlns:p14="http://schemas.microsoft.com/office/powerpoint/2010/main" val="268599263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94</a:t>
            </a:fld>
            <a:endParaRPr lang="en-GB"/>
          </a:p>
        </p:txBody>
      </p:sp>
    </p:spTree>
    <p:extLst>
      <p:ext uri="{BB962C8B-B14F-4D97-AF65-F5344CB8AC3E}">
        <p14:creationId xmlns:p14="http://schemas.microsoft.com/office/powerpoint/2010/main" val="287823154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95</a:t>
            </a:fld>
            <a:endParaRPr lang="zh-CN" altLang="en-US"/>
          </a:p>
        </p:txBody>
      </p:sp>
    </p:spTree>
    <p:extLst>
      <p:ext uri="{BB962C8B-B14F-4D97-AF65-F5344CB8AC3E}">
        <p14:creationId xmlns:p14="http://schemas.microsoft.com/office/powerpoint/2010/main" val="2973467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96</a:t>
            </a:fld>
            <a:endParaRPr lang="en-GB"/>
          </a:p>
        </p:txBody>
      </p:sp>
    </p:spTree>
    <p:extLst>
      <p:ext uri="{BB962C8B-B14F-4D97-AF65-F5344CB8AC3E}">
        <p14:creationId xmlns:p14="http://schemas.microsoft.com/office/powerpoint/2010/main" val="286678477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97</a:t>
            </a:fld>
            <a:endParaRPr lang="en-GB"/>
          </a:p>
        </p:txBody>
      </p:sp>
    </p:spTree>
    <p:extLst>
      <p:ext uri="{BB962C8B-B14F-4D97-AF65-F5344CB8AC3E}">
        <p14:creationId xmlns:p14="http://schemas.microsoft.com/office/powerpoint/2010/main" val="124822402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98</a:t>
            </a:fld>
            <a:endParaRPr lang="en-GB"/>
          </a:p>
        </p:txBody>
      </p:sp>
    </p:spTree>
    <p:extLst>
      <p:ext uri="{BB962C8B-B14F-4D97-AF65-F5344CB8AC3E}">
        <p14:creationId xmlns:p14="http://schemas.microsoft.com/office/powerpoint/2010/main" val="24439678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99</a:t>
            </a:fld>
            <a:endParaRPr lang="en-GB"/>
          </a:p>
        </p:txBody>
      </p:sp>
    </p:spTree>
    <p:extLst>
      <p:ext uri="{BB962C8B-B14F-4D97-AF65-F5344CB8AC3E}">
        <p14:creationId xmlns:p14="http://schemas.microsoft.com/office/powerpoint/2010/main" val="50104193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100</a:t>
            </a:fld>
            <a:endParaRPr lang="en-GB"/>
          </a:p>
        </p:txBody>
      </p:sp>
    </p:spTree>
    <p:extLst>
      <p:ext uri="{BB962C8B-B14F-4D97-AF65-F5344CB8AC3E}">
        <p14:creationId xmlns:p14="http://schemas.microsoft.com/office/powerpoint/2010/main" val="176925483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101</a:t>
            </a:fld>
            <a:endParaRPr lang="en-GB"/>
          </a:p>
        </p:txBody>
      </p:sp>
    </p:spTree>
    <p:extLst>
      <p:ext uri="{BB962C8B-B14F-4D97-AF65-F5344CB8AC3E}">
        <p14:creationId xmlns:p14="http://schemas.microsoft.com/office/powerpoint/2010/main" val="300117228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102</a:t>
            </a:fld>
            <a:endParaRPr lang="en-GB"/>
          </a:p>
        </p:txBody>
      </p:sp>
    </p:spTree>
    <p:extLst>
      <p:ext uri="{BB962C8B-B14F-4D97-AF65-F5344CB8AC3E}">
        <p14:creationId xmlns:p14="http://schemas.microsoft.com/office/powerpoint/2010/main" val="327384591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103</a:t>
            </a:fld>
            <a:endParaRPr lang="en-GB"/>
          </a:p>
        </p:txBody>
      </p:sp>
    </p:spTree>
    <p:extLst>
      <p:ext uri="{BB962C8B-B14F-4D97-AF65-F5344CB8AC3E}">
        <p14:creationId xmlns:p14="http://schemas.microsoft.com/office/powerpoint/2010/main" val="363992525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104</a:t>
            </a:fld>
            <a:endParaRPr lang="en-GB"/>
          </a:p>
        </p:txBody>
      </p:sp>
    </p:spTree>
    <p:extLst>
      <p:ext uri="{BB962C8B-B14F-4D97-AF65-F5344CB8AC3E}">
        <p14:creationId xmlns:p14="http://schemas.microsoft.com/office/powerpoint/2010/main" val="214546849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105</a:t>
            </a:fld>
            <a:endParaRPr lang="en-GB"/>
          </a:p>
        </p:txBody>
      </p:sp>
    </p:spTree>
    <p:extLst>
      <p:ext uri="{BB962C8B-B14F-4D97-AF65-F5344CB8AC3E}">
        <p14:creationId xmlns:p14="http://schemas.microsoft.com/office/powerpoint/2010/main" val="44413302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106</a:t>
            </a:fld>
            <a:endParaRPr lang="en-GB"/>
          </a:p>
        </p:txBody>
      </p:sp>
    </p:spTree>
    <p:extLst>
      <p:ext uri="{BB962C8B-B14F-4D97-AF65-F5344CB8AC3E}">
        <p14:creationId xmlns:p14="http://schemas.microsoft.com/office/powerpoint/2010/main" val="380471779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107</a:t>
            </a:fld>
            <a:endParaRPr lang="en-GB"/>
          </a:p>
        </p:txBody>
      </p:sp>
    </p:spTree>
    <p:extLst>
      <p:ext uri="{BB962C8B-B14F-4D97-AF65-F5344CB8AC3E}">
        <p14:creationId xmlns:p14="http://schemas.microsoft.com/office/powerpoint/2010/main" val="98249392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108</a:t>
            </a:fld>
            <a:endParaRPr lang="en-GB"/>
          </a:p>
        </p:txBody>
      </p:sp>
    </p:spTree>
    <p:extLst>
      <p:ext uri="{BB962C8B-B14F-4D97-AF65-F5344CB8AC3E}">
        <p14:creationId xmlns:p14="http://schemas.microsoft.com/office/powerpoint/2010/main" val="415649775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109</a:t>
            </a:fld>
            <a:endParaRPr lang="en-GB"/>
          </a:p>
        </p:txBody>
      </p:sp>
    </p:spTree>
    <p:extLst>
      <p:ext uri="{BB962C8B-B14F-4D97-AF65-F5344CB8AC3E}">
        <p14:creationId xmlns:p14="http://schemas.microsoft.com/office/powerpoint/2010/main" val="100762870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110</a:t>
            </a:fld>
            <a:endParaRPr lang="en-GB"/>
          </a:p>
        </p:txBody>
      </p:sp>
    </p:spTree>
    <p:extLst>
      <p:ext uri="{BB962C8B-B14F-4D97-AF65-F5344CB8AC3E}">
        <p14:creationId xmlns:p14="http://schemas.microsoft.com/office/powerpoint/2010/main" val="106271690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111</a:t>
            </a:fld>
            <a:endParaRPr lang="en-GB"/>
          </a:p>
        </p:txBody>
      </p:sp>
    </p:spTree>
    <p:extLst>
      <p:ext uri="{BB962C8B-B14F-4D97-AF65-F5344CB8AC3E}">
        <p14:creationId xmlns:p14="http://schemas.microsoft.com/office/powerpoint/2010/main" val="280717542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112</a:t>
            </a:fld>
            <a:endParaRPr lang="en-GB"/>
          </a:p>
        </p:txBody>
      </p:sp>
    </p:spTree>
    <p:extLst>
      <p:ext uri="{BB962C8B-B14F-4D97-AF65-F5344CB8AC3E}">
        <p14:creationId xmlns:p14="http://schemas.microsoft.com/office/powerpoint/2010/main" val="164432304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113</a:t>
            </a:fld>
            <a:endParaRPr lang="en-GB"/>
          </a:p>
        </p:txBody>
      </p:sp>
    </p:spTree>
    <p:extLst>
      <p:ext uri="{BB962C8B-B14F-4D97-AF65-F5344CB8AC3E}">
        <p14:creationId xmlns:p14="http://schemas.microsoft.com/office/powerpoint/2010/main" val="8405093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114</a:t>
            </a:fld>
            <a:endParaRPr lang="en-GB"/>
          </a:p>
        </p:txBody>
      </p:sp>
    </p:spTree>
    <p:extLst>
      <p:ext uri="{BB962C8B-B14F-4D97-AF65-F5344CB8AC3E}">
        <p14:creationId xmlns:p14="http://schemas.microsoft.com/office/powerpoint/2010/main" val="240729869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115</a:t>
            </a:fld>
            <a:endParaRPr lang="en-GB"/>
          </a:p>
        </p:txBody>
      </p:sp>
    </p:spTree>
    <p:extLst>
      <p:ext uri="{BB962C8B-B14F-4D97-AF65-F5344CB8AC3E}">
        <p14:creationId xmlns:p14="http://schemas.microsoft.com/office/powerpoint/2010/main" val="77391605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116</a:t>
            </a:fld>
            <a:endParaRPr lang="en-GB"/>
          </a:p>
        </p:txBody>
      </p:sp>
    </p:spTree>
    <p:extLst>
      <p:ext uri="{BB962C8B-B14F-4D97-AF65-F5344CB8AC3E}">
        <p14:creationId xmlns:p14="http://schemas.microsoft.com/office/powerpoint/2010/main" val="336692922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a:t>
            </a:r>
            <a:r>
              <a:rPr lang="en-US" altLang="zh-CN" dirty="0"/>
              <a:t>a</a:t>
            </a:r>
            <a:r>
              <a:rPr lang="zh-CN" altLang="en-US" dirty="0"/>
              <a:t>和</a:t>
            </a:r>
            <a:r>
              <a:rPr lang="en-US" altLang="zh-CN" dirty="0"/>
              <a:t>b</a:t>
            </a:r>
            <a:r>
              <a:rPr lang="zh-CN" altLang="en-US" dirty="0"/>
              <a:t>的不同，椭圆曲线也会在平面上呈现出不同的形状，但他还是很容易辨认的，椭圆曲线始终是关于</a:t>
            </a:r>
            <a:r>
              <a:rPr lang="en-US" altLang="zh-CN" dirty="0"/>
              <a:t>x</a:t>
            </a:r>
            <a:r>
              <a:rPr lang="zh-CN" altLang="en-US" dirty="0"/>
              <a:t>轴对称的。</a:t>
            </a:r>
          </a:p>
        </p:txBody>
      </p:sp>
      <p:sp>
        <p:nvSpPr>
          <p:cNvPr id="4" name="灯片编号占位符 3"/>
          <p:cNvSpPr>
            <a:spLocks noGrp="1"/>
          </p:cNvSpPr>
          <p:nvPr>
            <p:ph type="sldNum" sz="quarter" idx="10"/>
          </p:nvPr>
        </p:nvSpPr>
        <p:spPr/>
        <p:txBody>
          <a:bodyPr/>
          <a:lstStyle/>
          <a:p>
            <a:fld id="{A26B02EC-97C0-4E19-AA45-E904FCC1D11E}" type="slidenum">
              <a:rPr lang="en-GB" smtClean="0"/>
              <a:pPr/>
              <a:t>117</a:t>
            </a:fld>
            <a:endParaRPr lang="en-GB"/>
          </a:p>
        </p:txBody>
      </p:sp>
    </p:spTree>
    <p:extLst>
      <p:ext uri="{BB962C8B-B14F-4D97-AF65-F5344CB8AC3E}">
        <p14:creationId xmlns:p14="http://schemas.microsoft.com/office/powerpoint/2010/main" val="49564349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a:t>
            </a:r>
            <a:r>
              <a:rPr lang="en-US" altLang="zh-CN" dirty="0"/>
              <a:t>a</a:t>
            </a:r>
            <a:r>
              <a:rPr lang="zh-CN" altLang="en-US" dirty="0"/>
              <a:t>和</a:t>
            </a:r>
            <a:r>
              <a:rPr lang="en-US" altLang="zh-CN" dirty="0"/>
              <a:t>b</a:t>
            </a:r>
            <a:r>
              <a:rPr lang="zh-CN" altLang="en-US" dirty="0"/>
              <a:t>的不同，椭圆曲线也会在平面上呈现出不同的形状，但他还是很容易辨认的，椭圆曲线始终是关于</a:t>
            </a:r>
            <a:r>
              <a:rPr lang="en-US" altLang="zh-CN" dirty="0"/>
              <a:t>x</a:t>
            </a:r>
            <a:r>
              <a:rPr lang="zh-CN" altLang="en-US" dirty="0"/>
              <a:t>轴对称的。</a:t>
            </a:r>
          </a:p>
        </p:txBody>
      </p:sp>
      <p:sp>
        <p:nvSpPr>
          <p:cNvPr id="4" name="灯片编号占位符 3"/>
          <p:cNvSpPr>
            <a:spLocks noGrp="1"/>
          </p:cNvSpPr>
          <p:nvPr>
            <p:ph type="sldNum" sz="quarter" idx="10"/>
          </p:nvPr>
        </p:nvSpPr>
        <p:spPr/>
        <p:txBody>
          <a:bodyPr/>
          <a:lstStyle/>
          <a:p>
            <a:fld id="{A26B02EC-97C0-4E19-AA45-E904FCC1D11E}" type="slidenum">
              <a:rPr lang="en-GB" smtClean="0"/>
              <a:pPr/>
              <a:t>118</a:t>
            </a:fld>
            <a:endParaRPr lang="en-GB"/>
          </a:p>
        </p:txBody>
      </p:sp>
    </p:spTree>
    <p:extLst>
      <p:ext uri="{BB962C8B-B14F-4D97-AF65-F5344CB8AC3E}">
        <p14:creationId xmlns:p14="http://schemas.microsoft.com/office/powerpoint/2010/main" val="412021491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a:t>
            </a:r>
            <a:r>
              <a:rPr lang="en-US" altLang="zh-CN" dirty="0"/>
              <a:t>a</a:t>
            </a:r>
            <a:r>
              <a:rPr lang="zh-CN" altLang="en-US" dirty="0"/>
              <a:t>和</a:t>
            </a:r>
            <a:r>
              <a:rPr lang="en-US" altLang="zh-CN" dirty="0"/>
              <a:t>b</a:t>
            </a:r>
            <a:r>
              <a:rPr lang="zh-CN" altLang="en-US" dirty="0"/>
              <a:t>的不同，椭圆曲线也会在平面上呈现出不同的形状，但他还是很容易辨认的，椭圆曲线始终是关于</a:t>
            </a:r>
            <a:r>
              <a:rPr lang="en-US" altLang="zh-CN" dirty="0"/>
              <a:t>x</a:t>
            </a:r>
            <a:r>
              <a:rPr lang="zh-CN" altLang="en-US" dirty="0"/>
              <a:t>轴对称的。</a:t>
            </a:r>
          </a:p>
        </p:txBody>
      </p:sp>
      <p:sp>
        <p:nvSpPr>
          <p:cNvPr id="4" name="灯片编号占位符 3"/>
          <p:cNvSpPr>
            <a:spLocks noGrp="1"/>
          </p:cNvSpPr>
          <p:nvPr>
            <p:ph type="sldNum" sz="quarter" idx="10"/>
          </p:nvPr>
        </p:nvSpPr>
        <p:spPr/>
        <p:txBody>
          <a:bodyPr/>
          <a:lstStyle/>
          <a:p>
            <a:fld id="{A26B02EC-97C0-4E19-AA45-E904FCC1D11E}" type="slidenum">
              <a:rPr lang="en-GB" smtClean="0"/>
              <a:pPr/>
              <a:t>119</a:t>
            </a:fld>
            <a:endParaRPr lang="en-GB"/>
          </a:p>
        </p:txBody>
      </p:sp>
    </p:spTree>
    <p:extLst>
      <p:ext uri="{BB962C8B-B14F-4D97-AF65-F5344CB8AC3E}">
        <p14:creationId xmlns:p14="http://schemas.microsoft.com/office/powerpoint/2010/main" val="265844841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a:t>
            </a:r>
            <a:r>
              <a:rPr lang="en-US" altLang="zh-CN" dirty="0"/>
              <a:t>a</a:t>
            </a:r>
            <a:r>
              <a:rPr lang="zh-CN" altLang="en-US" dirty="0"/>
              <a:t>和</a:t>
            </a:r>
            <a:r>
              <a:rPr lang="en-US" altLang="zh-CN" dirty="0"/>
              <a:t>b</a:t>
            </a:r>
            <a:r>
              <a:rPr lang="zh-CN" altLang="en-US" dirty="0"/>
              <a:t>的不同，椭圆曲线也会在平面上呈现出不同的形状，但他还是很容易辨认的，椭圆曲线始终是关于</a:t>
            </a:r>
            <a:r>
              <a:rPr lang="en-US" altLang="zh-CN" dirty="0"/>
              <a:t>x</a:t>
            </a:r>
            <a:r>
              <a:rPr lang="zh-CN" altLang="en-US" dirty="0"/>
              <a:t>轴对称的。</a:t>
            </a:r>
          </a:p>
        </p:txBody>
      </p:sp>
      <p:sp>
        <p:nvSpPr>
          <p:cNvPr id="4" name="灯片编号占位符 3"/>
          <p:cNvSpPr>
            <a:spLocks noGrp="1"/>
          </p:cNvSpPr>
          <p:nvPr>
            <p:ph type="sldNum" sz="quarter" idx="10"/>
          </p:nvPr>
        </p:nvSpPr>
        <p:spPr/>
        <p:txBody>
          <a:bodyPr/>
          <a:lstStyle/>
          <a:p>
            <a:fld id="{A26B02EC-97C0-4E19-AA45-E904FCC1D11E}" type="slidenum">
              <a:rPr lang="en-GB" smtClean="0"/>
              <a:pPr/>
              <a:t>120</a:t>
            </a:fld>
            <a:endParaRPr lang="en-GB"/>
          </a:p>
        </p:txBody>
      </p:sp>
    </p:spTree>
    <p:extLst>
      <p:ext uri="{BB962C8B-B14F-4D97-AF65-F5344CB8AC3E}">
        <p14:creationId xmlns:p14="http://schemas.microsoft.com/office/powerpoint/2010/main" val="309677313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121</a:t>
            </a:fld>
            <a:endParaRPr lang="en-GB"/>
          </a:p>
        </p:txBody>
      </p:sp>
    </p:spTree>
    <p:extLst>
      <p:ext uri="{BB962C8B-B14F-4D97-AF65-F5344CB8AC3E}">
        <p14:creationId xmlns:p14="http://schemas.microsoft.com/office/powerpoint/2010/main" val="262801712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122</a:t>
            </a:fld>
            <a:endParaRPr lang="en-GB"/>
          </a:p>
        </p:txBody>
      </p:sp>
    </p:spTree>
    <p:extLst>
      <p:ext uri="{BB962C8B-B14F-4D97-AF65-F5344CB8AC3E}">
        <p14:creationId xmlns:p14="http://schemas.microsoft.com/office/powerpoint/2010/main" val="267108639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123</a:t>
            </a:fld>
            <a:endParaRPr lang="en-GB"/>
          </a:p>
        </p:txBody>
      </p:sp>
    </p:spTree>
    <p:extLst>
      <p:ext uri="{BB962C8B-B14F-4D97-AF65-F5344CB8AC3E}">
        <p14:creationId xmlns:p14="http://schemas.microsoft.com/office/powerpoint/2010/main" val="214548696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124</a:t>
            </a:fld>
            <a:endParaRPr lang="en-GB"/>
          </a:p>
        </p:txBody>
      </p:sp>
    </p:spTree>
    <p:extLst>
      <p:ext uri="{BB962C8B-B14F-4D97-AF65-F5344CB8AC3E}">
        <p14:creationId xmlns:p14="http://schemas.microsoft.com/office/powerpoint/2010/main" val="302660435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125</a:t>
            </a:fld>
            <a:endParaRPr lang="en-GB"/>
          </a:p>
        </p:txBody>
      </p:sp>
    </p:spTree>
    <p:extLst>
      <p:ext uri="{BB962C8B-B14F-4D97-AF65-F5344CB8AC3E}">
        <p14:creationId xmlns:p14="http://schemas.microsoft.com/office/powerpoint/2010/main" val="320671381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126</a:t>
            </a:fld>
            <a:endParaRPr lang="en-GB"/>
          </a:p>
        </p:txBody>
      </p:sp>
    </p:spTree>
    <p:extLst>
      <p:ext uri="{BB962C8B-B14F-4D97-AF65-F5344CB8AC3E}">
        <p14:creationId xmlns:p14="http://schemas.microsoft.com/office/powerpoint/2010/main" val="67932647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127</a:t>
            </a:fld>
            <a:endParaRPr lang="en-GB"/>
          </a:p>
        </p:txBody>
      </p:sp>
    </p:spTree>
    <p:extLst>
      <p:ext uri="{BB962C8B-B14F-4D97-AF65-F5344CB8AC3E}">
        <p14:creationId xmlns:p14="http://schemas.microsoft.com/office/powerpoint/2010/main" val="412845236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128</a:t>
            </a:fld>
            <a:endParaRPr lang="en-GB"/>
          </a:p>
        </p:txBody>
      </p:sp>
    </p:spTree>
    <p:extLst>
      <p:ext uri="{BB962C8B-B14F-4D97-AF65-F5344CB8AC3E}">
        <p14:creationId xmlns:p14="http://schemas.microsoft.com/office/powerpoint/2010/main" val="307300437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129</a:t>
            </a:fld>
            <a:endParaRPr lang="en-GB"/>
          </a:p>
        </p:txBody>
      </p:sp>
    </p:spTree>
    <p:extLst>
      <p:ext uri="{BB962C8B-B14F-4D97-AF65-F5344CB8AC3E}">
        <p14:creationId xmlns:p14="http://schemas.microsoft.com/office/powerpoint/2010/main" val="109494932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130</a:t>
            </a:fld>
            <a:endParaRPr lang="en-GB"/>
          </a:p>
        </p:txBody>
      </p:sp>
    </p:spTree>
    <p:extLst>
      <p:ext uri="{BB962C8B-B14F-4D97-AF65-F5344CB8AC3E}">
        <p14:creationId xmlns:p14="http://schemas.microsoft.com/office/powerpoint/2010/main" val="230795279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131</a:t>
            </a:fld>
            <a:endParaRPr lang="en-GB"/>
          </a:p>
        </p:txBody>
      </p:sp>
    </p:spTree>
    <p:extLst>
      <p:ext uri="{BB962C8B-B14F-4D97-AF65-F5344CB8AC3E}">
        <p14:creationId xmlns:p14="http://schemas.microsoft.com/office/powerpoint/2010/main" val="221812522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132</a:t>
            </a:fld>
            <a:endParaRPr lang="en-GB"/>
          </a:p>
        </p:txBody>
      </p:sp>
    </p:spTree>
    <p:extLst>
      <p:ext uri="{BB962C8B-B14F-4D97-AF65-F5344CB8AC3E}">
        <p14:creationId xmlns:p14="http://schemas.microsoft.com/office/powerpoint/2010/main" val="398730050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133</a:t>
            </a:fld>
            <a:endParaRPr lang="en-GB"/>
          </a:p>
        </p:txBody>
      </p:sp>
    </p:spTree>
    <p:extLst>
      <p:ext uri="{BB962C8B-B14F-4D97-AF65-F5344CB8AC3E}">
        <p14:creationId xmlns:p14="http://schemas.microsoft.com/office/powerpoint/2010/main" val="201159073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134</a:t>
            </a:fld>
            <a:endParaRPr lang="en-GB"/>
          </a:p>
        </p:txBody>
      </p:sp>
    </p:spTree>
    <p:extLst>
      <p:ext uri="{BB962C8B-B14F-4D97-AF65-F5344CB8AC3E}">
        <p14:creationId xmlns:p14="http://schemas.microsoft.com/office/powerpoint/2010/main" val="211349335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135</a:t>
            </a:fld>
            <a:endParaRPr lang="en-GB"/>
          </a:p>
        </p:txBody>
      </p:sp>
    </p:spTree>
    <p:extLst>
      <p:ext uri="{BB962C8B-B14F-4D97-AF65-F5344CB8AC3E}">
        <p14:creationId xmlns:p14="http://schemas.microsoft.com/office/powerpoint/2010/main" val="117398837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136</a:t>
            </a:fld>
            <a:endParaRPr lang="en-GB"/>
          </a:p>
        </p:txBody>
      </p:sp>
    </p:spTree>
    <p:extLst>
      <p:ext uri="{BB962C8B-B14F-4D97-AF65-F5344CB8AC3E}">
        <p14:creationId xmlns:p14="http://schemas.microsoft.com/office/powerpoint/2010/main" val="3718059250"/>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137</a:t>
            </a:fld>
            <a:endParaRPr lang="en-GB"/>
          </a:p>
        </p:txBody>
      </p:sp>
    </p:spTree>
    <p:extLst>
      <p:ext uri="{BB962C8B-B14F-4D97-AF65-F5344CB8AC3E}">
        <p14:creationId xmlns:p14="http://schemas.microsoft.com/office/powerpoint/2010/main" val="3665526985"/>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138</a:t>
            </a:fld>
            <a:endParaRPr lang="en-GB"/>
          </a:p>
        </p:txBody>
      </p:sp>
    </p:spTree>
    <p:extLst>
      <p:ext uri="{BB962C8B-B14F-4D97-AF65-F5344CB8AC3E}">
        <p14:creationId xmlns:p14="http://schemas.microsoft.com/office/powerpoint/2010/main" val="2337657216"/>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139</a:t>
            </a:fld>
            <a:endParaRPr lang="en-GB"/>
          </a:p>
        </p:txBody>
      </p:sp>
    </p:spTree>
    <p:extLst>
      <p:ext uri="{BB962C8B-B14F-4D97-AF65-F5344CB8AC3E}">
        <p14:creationId xmlns:p14="http://schemas.microsoft.com/office/powerpoint/2010/main" val="94492777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6B02EC-97C0-4E19-AA45-E904FCC1D11E}" type="slidenum">
              <a:rPr lang="en-GB" smtClean="0"/>
              <a:pPr/>
              <a:t>140</a:t>
            </a:fld>
            <a:endParaRPr lang="en-GB"/>
          </a:p>
        </p:txBody>
      </p:sp>
    </p:spTree>
    <p:extLst>
      <p:ext uri="{BB962C8B-B14F-4D97-AF65-F5344CB8AC3E}">
        <p14:creationId xmlns:p14="http://schemas.microsoft.com/office/powerpoint/2010/main" val="251348976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141</a:t>
            </a:fld>
            <a:endParaRPr lang="en-GB"/>
          </a:p>
        </p:txBody>
      </p:sp>
    </p:spTree>
    <p:extLst>
      <p:ext uri="{BB962C8B-B14F-4D97-AF65-F5344CB8AC3E}">
        <p14:creationId xmlns:p14="http://schemas.microsoft.com/office/powerpoint/2010/main" val="199319008"/>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142</a:t>
            </a:fld>
            <a:endParaRPr lang="zh-CN" altLang="en-US"/>
          </a:p>
        </p:txBody>
      </p:sp>
    </p:spTree>
    <p:extLst>
      <p:ext uri="{BB962C8B-B14F-4D97-AF65-F5344CB8AC3E}">
        <p14:creationId xmlns:p14="http://schemas.microsoft.com/office/powerpoint/2010/main" val="205544932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143</a:t>
            </a:fld>
            <a:endParaRPr lang="en-GB"/>
          </a:p>
        </p:txBody>
      </p:sp>
    </p:spTree>
    <p:extLst>
      <p:ext uri="{BB962C8B-B14F-4D97-AF65-F5344CB8AC3E}">
        <p14:creationId xmlns:p14="http://schemas.microsoft.com/office/powerpoint/2010/main" val="69310982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144</a:t>
            </a:fld>
            <a:endParaRPr lang="en-GB"/>
          </a:p>
        </p:txBody>
      </p:sp>
    </p:spTree>
    <p:extLst>
      <p:ext uri="{BB962C8B-B14F-4D97-AF65-F5344CB8AC3E}">
        <p14:creationId xmlns:p14="http://schemas.microsoft.com/office/powerpoint/2010/main" val="197064165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145</a:t>
            </a:fld>
            <a:endParaRPr lang="en-GB"/>
          </a:p>
        </p:txBody>
      </p:sp>
    </p:spTree>
    <p:extLst>
      <p:ext uri="{BB962C8B-B14F-4D97-AF65-F5344CB8AC3E}">
        <p14:creationId xmlns:p14="http://schemas.microsoft.com/office/powerpoint/2010/main" val="2699615236"/>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146</a:t>
            </a:fld>
            <a:endParaRPr lang="en-GB"/>
          </a:p>
        </p:txBody>
      </p:sp>
    </p:spTree>
    <p:extLst>
      <p:ext uri="{BB962C8B-B14F-4D97-AF65-F5344CB8AC3E}">
        <p14:creationId xmlns:p14="http://schemas.microsoft.com/office/powerpoint/2010/main" val="229327151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147</a:t>
            </a:fld>
            <a:endParaRPr lang="en-GB"/>
          </a:p>
        </p:txBody>
      </p:sp>
    </p:spTree>
    <p:extLst>
      <p:ext uri="{BB962C8B-B14F-4D97-AF65-F5344CB8AC3E}">
        <p14:creationId xmlns:p14="http://schemas.microsoft.com/office/powerpoint/2010/main" val="509091927"/>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148</a:t>
            </a:fld>
            <a:endParaRPr lang="en-GB"/>
          </a:p>
        </p:txBody>
      </p:sp>
    </p:spTree>
    <p:extLst>
      <p:ext uri="{BB962C8B-B14F-4D97-AF65-F5344CB8AC3E}">
        <p14:creationId xmlns:p14="http://schemas.microsoft.com/office/powerpoint/2010/main" val="228906785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149</a:t>
            </a:fld>
            <a:endParaRPr lang="en-GB"/>
          </a:p>
        </p:txBody>
      </p:sp>
    </p:spTree>
    <p:extLst>
      <p:ext uri="{BB962C8B-B14F-4D97-AF65-F5344CB8AC3E}">
        <p14:creationId xmlns:p14="http://schemas.microsoft.com/office/powerpoint/2010/main" val="47511483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150</a:t>
            </a:fld>
            <a:endParaRPr lang="en-GB"/>
          </a:p>
        </p:txBody>
      </p:sp>
    </p:spTree>
    <p:extLst>
      <p:ext uri="{BB962C8B-B14F-4D97-AF65-F5344CB8AC3E}">
        <p14:creationId xmlns:p14="http://schemas.microsoft.com/office/powerpoint/2010/main" val="107833979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151</a:t>
            </a:fld>
            <a:endParaRPr lang="en-GB"/>
          </a:p>
        </p:txBody>
      </p:sp>
    </p:spTree>
    <p:extLst>
      <p:ext uri="{BB962C8B-B14F-4D97-AF65-F5344CB8AC3E}">
        <p14:creationId xmlns:p14="http://schemas.microsoft.com/office/powerpoint/2010/main" val="272832268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152</a:t>
            </a:fld>
            <a:endParaRPr lang="en-GB"/>
          </a:p>
        </p:txBody>
      </p:sp>
    </p:spTree>
    <p:extLst>
      <p:ext uri="{BB962C8B-B14F-4D97-AF65-F5344CB8AC3E}">
        <p14:creationId xmlns:p14="http://schemas.microsoft.com/office/powerpoint/2010/main" val="52694353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153</a:t>
            </a:fld>
            <a:endParaRPr lang="en-GB"/>
          </a:p>
        </p:txBody>
      </p:sp>
    </p:spTree>
    <p:extLst>
      <p:ext uri="{BB962C8B-B14F-4D97-AF65-F5344CB8AC3E}">
        <p14:creationId xmlns:p14="http://schemas.microsoft.com/office/powerpoint/2010/main" val="2448102628"/>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154</a:t>
            </a:fld>
            <a:endParaRPr lang="en-GB"/>
          </a:p>
        </p:txBody>
      </p:sp>
    </p:spTree>
    <p:extLst>
      <p:ext uri="{BB962C8B-B14F-4D97-AF65-F5344CB8AC3E}">
        <p14:creationId xmlns:p14="http://schemas.microsoft.com/office/powerpoint/2010/main" val="394896934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155</a:t>
            </a:fld>
            <a:endParaRPr lang="en-GB"/>
          </a:p>
        </p:txBody>
      </p:sp>
    </p:spTree>
    <p:extLst>
      <p:ext uri="{BB962C8B-B14F-4D97-AF65-F5344CB8AC3E}">
        <p14:creationId xmlns:p14="http://schemas.microsoft.com/office/powerpoint/2010/main" val="3382087962"/>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156</a:t>
            </a:fld>
            <a:endParaRPr lang="en-GB"/>
          </a:p>
        </p:txBody>
      </p:sp>
    </p:spTree>
    <p:extLst>
      <p:ext uri="{BB962C8B-B14F-4D97-AF65-F5344CB8AC3E}">
        <p14:creationId xmlns:p14="http://schemas.microsoft.com/office/powerpoint/2010/main" val="3327373559"/>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157</a:t>
            </a:fld>
            <a:endParaRPr lang="en-GB"/>
          </a:p>
        </p:txBody>
      </p:sp>
    </p:spTree>
    <p:extLst>
      <p:ext uri="{BB962C8B-B14F-4D97-AF65-F5344CB8AC3E}">
        <p14:creationId xmlns:p14="http://schemas.microsoft.com/office/powerpoint/2010/main" val="251351747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158</a:t>
            </a:fld>
            <a:endParaRPr lang="en-GB"/>
          </a:p>
        </p:txBody>
      </p:sp>
    </p:spTree>
    <p:extLst>
      <p:ext uri="{BB962C8B-B14F-4D97-AF65-F5344CB8AC3E}">
        <p14:creationId xmlns:p14="http://schemas.microsoft.com/office/powerpoint/2010/main" val="428450211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159</a:t>
            </a:fld>
            <a:endParaRPr lang="en-GB"/>
          </a:p>
        </p:txBody>
      </p:sp>
    </p:spTree>
    <p:extLst>
      <p:ext uri="{BB962C8B-B14F-4D97-AF65-F5344CB8AC3E}">
        <p14:creationId xmlns:p14="http://schemas.microsoft.com/office/powerpoint/2010/main" val="276169637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160</a:t>
            </a:fld>
            <a:endParaRPr lang="en-GB"/>
          </a:p>
        </p:txBody>
      </p:sp>
    </p:spTree>
    <p:extLst>
      <p:ext uri="{BB962C8B-B14F-4D97-AF65-F5344CB8AC3E}">
        <p14:creationId xmlns:p14="http://schemas.microsoft.com/office/powerpoint/2010/main" val="3880585733"/>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161</a:t>
            </a:fld>
            <a:endParaRPr lang="en-GB"/>
          </a:p>
        </p:txBody>
      </p:sp>
    </p:spTree>
    <p:extLst>
      <p:ext uri="{BB962C8B-B14F-4D97-AF65-F5344CB8AC3E}">
        <p14:creationId xmlns:p14="http://schemas.microsoft.com/office/powerpoint/2010/main" val="42025722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162</a:t>
            </a:fld>
            <a:endParaRPr lang="en-GB"/>
          </a:p>
        </p:txBody>
      </p:sp>
    </p:spTree>
    <p:extLst>
      <p:ext uri="{BB962C8B-B14F-4D97-AF65-F5344CB8AC3E}">
        <p14:creationId xmlns:p14="http://schemas.microsoft.com/office/powerpoint/2010/main" val="3830517597"/>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163</a:t>
            </a:fld>
            <a:endParaRPr lang="en-GB"/>
          </a:p>
        </p:txBody>
      </p:sp>
    </p:spTree>
    <p:extLst>
      <p:ext uri="{BB962C8B-B14F-4D97-AF65-F5344CB8AC3E}">
        <p14:creationId xmlns:p14="http://schemas.microsoft.com/office/powerpoint/2010/main" val="358833345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164</a:t>
            </a:fld>
            <a:endParaRPr lang="en-GB"/>
          </a:p>
        </p:txBody>
      </p:sp>
    </p:spTree>
    <p:extLst>
      <p:ext uri="{BB962C8B-B14F-4D97-AF65-F5344CB8AC3E}">
        <p14:creationId xmlns:p14="http://schemas.microsoft.com/office/powerpoint/2010/main" val="49185509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165</a:t>
            </a:fld>
            <a:endParaRPr lang="en-GB"/>
          </a:p>
        </p:txBody>
      </p:sp>
    </p:spTree>
    <p:extLst>
      <p:ext uri="{BB962C8B-B14F-4D97-AF65-F5344CB8AC3E}">
        <p14:creationId xmlns:p14="http://schemas.microsoft.com/office/powerpoint/2010/main" val="809067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166</a:t>
            </a:fld>
            <a:endParaRPr lang="en-GB"/>
          </a:p>
        </p:txBody>
      </p:sp>
    </p:spTree>
    <p:extLst>
      <p:ext uri="{BB962C8B-B14F-4D97-AF65-F5344CB8AC3E}">
        <p14:creationId xmlns:p14="http://schemas.microsoft.com/office/powerpoint/2010/main" val="162459340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167</a:t>
            </a:fld>
            <a:endParaRPr lang="en-GB"/>
          </a:p>
        </p:txBody>
      </p:sp>
    </p:spTree>
    <p:extLst>
      <p:ext uri="{BB962C8B-B14F-4D97-AF65-F5344CB8AC3E}">
        <p14:creationId xmlns:p14="http://schemas.microsoft.com/office/powerpoint/2010/main" val="1369822537"/>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168</a:t>
            </a:fld>
            <a:endParaRPr lang="en-GB"/>
          </a:p>
        </p:txBody>
      </p:sp>
    </p:spTree>
    <p:extLst>
      <p:ext uri="{BB962C8B-B14F-4D97-AF65-F5344CB8AC3E}">
        <p14:creationId xmlns:p14="http://schemas.microsoft.com/office/powerpoint/2010/main" val="2307700360"/>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169</a:t>
            </a:fld>
            <a:endParaRPr lang="en-GB"/>
          </a:p>
        </p:txBody>
      </p:sp>
    </p:spTree>
    <p:extLst>
      <p:ext uri="{BB962C8B-B14F-4D97-AF65-F5344CB8AC3E}">
        <p14:creationId xmlns:p14="http://schemas.microsoft.com/office/powerpoint/2010/main" val="353638086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170</a:t>
            </a:fld>
            <a:endParaRPr lang="en-GB"/>
          </a:p>
        </p:txBody>
      </p:sp>
    </p:spTree>
    <p:extLst>
      <p:ext uri="{BB962C8B-B14F-4D97-AF65-F5344CB8AC3E}">
        <p14:creationId xmlns:p14="http://schemas.microsoft.com/office/powerpoint/2010/main" val="3015772454"/>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171</a:t>
            </a:fld>
            <a:endParaRPr lang="en-GB"/>
          </a:p>
        </p:txBody>
      </p:sp>
    </p:spTree>
    <p:extLst>
      <p:ext uri="{BB962C8B-B14F-4D97-AF65-F5344CB8AC3E}">
        <p14:creationId xmlns:p14="http://schemas.microsoft.com/office/powerpoint/2010/main" val="3610487246"/>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172</a:t>
            </a:fld>
            <a:endParaRPr lang="en-GB"/>
          </a:p>
        </p:txBody>
      </p:sp>
    </p:spTree>
    <p:extLst>
      <p:ext uri="{BB962C8B-B14F-4D97-AF65-F5344CB8AC3E}">
        <p14:creationId xmlns:p14="http://schemas.microsoft.com/office/powerpoint/2010/main" val="247569591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173</a:t>
            </a:fld>
            <a:endParaRPr lang="en-GB"/>
          </a:p>
        </p:txBody>
      </p:sp>
    </p:spTree>
    <p:extLst>
      <p:ext uri="{BB962C8B-B14F-4D97-AF65-F5344CB8AC3E}">
        <p14:creationId xmlns:p14="http://schemas.microsoft.com/office/powerpoint/2010/main" val="331755763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174</a:t>
            </a:fld>
            <a:endParaRPr lang="en-GB"/>
          </a:p>
        </p:txBody>
      </p:sp>
    </p:spTree>
    <p:extLst>
      <p:ext uri="{BB962C8B-B14F-4D97-AF65-F5344CB8AC3E}">
        <p14:creationId xmlns:p14="http://schemas.microsoft.com/office/powerpoint/2010/main" val="2334291722"/>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175</a:t>
            </a:fld>
            <a:endParaRPr lang="en-GB"/>
          </a:p>
        </p:txBody>
      </p:sp>
    </p:spTree>
    <p:extLst>
      <p:ext uri="{BB962C8B-B14F-4D97-AF65-F5344CB8AC3E}">
        <p14:creationId xmlns:p14="http://schemas.microsoft.com/office/powerpoint/2010/main" val="3952858106"/>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176</a:t>
            </a:fld>
            <a:endParaRPr lang="en-GB"/>
          </a:p>
        </p:txBody>
      </p:sp>
    </p:spTree>
    <p:extLst>
      <p:ext uri="{BB962C8B-B14F-4D97-AF65-F5344CB8AC3E}">
        <p14:creationId xmlns:p14="http://schemas.microsoft.com/office/powerpoint/2010/main" val="231774824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177</a:t>
            </a:fld>
            <a:endParaRPr lang="en-GB"/>
          </a:p>
        </p:txBody>
      </p:sp>
    </p:spTree>
    <p:extLst>
      <p:ext uri="{BB962C8B-B14F-4D97-AF65-F5344CB8AC3E}">
        <p14:creationId xmlns:p14="http://schemas.microsoft.com/office/powerpoint/2010/main" val="3050629629"/>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178</a:t>
            </a:fld>
            <a:endParaRPr lang="en-GB"/>
          </a:p>
        </p:txBody>
      </p:sp>
    </p:spTree>
    <p:extLst>
      <p:ext uri="{BB962C8B-B14F-4D97-AF65-F5344CB8AC3E}">
        <p14:creationId xmlns:p14="http://schemas.microsoft.com/office/powerpoint/2010/main" val="352885919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179</a:t>
            </a:fld>
            <a:endParaRPr lang="en-GB"/>
          </a:p>
        </p:txBody>
      </p:sp>
    </p:spTree>
    <p:extLst>
      <p:ext uri="{BB962C8B-B14F-4D97-AF65-F5344CB8AC3E}">
        <p14:creationId xmlns:p14="http://schemas.microsoft.com/office/powerpoint/2010/main" val="329872951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180</a:t>
            </a:fld>
            <a:endParaRPr lang="en-GB"/>
          </a:p>
        </p:txBody>
      </p:sp>
    </p:spTree>
    <p:extLst>
      <p:ext uri="{BB962C8B-B14F-4D97-AF65-F5344CB8AC3E}">
        <p14:creationId xmlns:p14="http://schemas.microsoft.com/office/powerpoint/2010/main" val="2022436457"/>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181</a:t>
            </a:fld>
            <a:endParaRPr lang="en-GB"/>
          </a:p>
        </p:txBody>
      </p:sp>
    </p:spTree>
    <p:extLst>
      <p:ext uri="{BB962C8B-B14F-4D97-AF65-F5344CB8AC3E}">
        <p14:creationId xmlns:p14="http://schemas.microsoft.com/office/powerpoint/2010/main" val="3904793646"/>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182</a:t>
            </a:fld>
            <a:endParaRPr lang="zh-CN" altLang="en-US"/>
          </a:p>
        </p:txBody>
      </p:sp>
    </p:spTree>
    <p:extLst>
      <p:ext uri="{BB962C8B-B14F-4D97-AF65-F5344CB8AC3E}">
        <p14:creationId xmlns:p14="http://schemas.microsoft.com/office/powerpoint/2010/main" val="3471887094"/>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183</a:t>
            </a:fld>
            <a:endParaRPr lang="en-GB"/>
          </a:p>
        </p:txBody>
      </p:sp>
    </p:spTree>
    <p:extLst>
      <p:ext uri="{BB962C8B-B14F-4D97-AF65-F5344CB8AC3E}">
        <p14:creationId xmlns:p14="http://schemas.microsoft.com/office/powerpoint/2010/main" val="2244153337"/>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184</a:t>
            </a:fld>
            <a:endParaRPr lang="en-GB"/>
          </a:p>
        </p:txBody>
      </p:sp>
    </p:spTree>
    <p:extLst>
      <p:ext uri="{BB962C8B-B14F-4D97-AF65-F5344CB8AC3E}">
        <p14:creationId xmlns:p14="http://schemas.microsoft.com/office/powerpoint/2010/main" val="1942914745"/>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185</a:t>
            </a:fld>
            <a:endParaRPr lang="en-GB"/>
          </a:p>
        </p:txBody>
      </p:sp>
    </p:spTree>
    <p:extLst>
      <p:ext uri="{BB962C8B-B14F-4D97-AF65-F5344CB8AC3E}">
        <p14:creationId xmlns:p14="http://schemas.microsoft.com/office/powerpoint/2010/main" val="31276302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186</a:t>
            </a:fld>
            <a:endParaRPr lang="en-GB"/>
          </a:p>
        </p:txBody>
      </p:sp>
    </p:spTree>
    <p:extLst>
      <p:ext uri="{BB962C8B-B14F-4D97-AF65-F5344CB8AC3E}">
        <p14:creationId xmlns:p14="http://schemas.microsoft.com/office/powerpoint/2010/main" val="174250764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187</a:t>
            </a:fld>
            <a:endParaRPr lang="en-GB"/>
          </a:p>
        </p:txBody>
      </p:sp>
    </p:spTree>
    <p:extLst>
      <p:ext uri="{BB962C8B-B14F-4D97-AF65-F5344CB8AC3E}">
        <p14:creationId xmlns:p14="http://schemas.microsoft.com/office/powerpoint/2010/main" val="4240049912"/>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188</a:t>
            </a:fld>
            <a:endParaRPr lang="en-GB"/>
          </a:p>
        </p:txBody>
      </p:sp>
    </p:spTree>
    <p:extLst>
      <p:ext uri="{BB962C8B-B14F-4D97-AF65-F5344CB8AC3E}">
        <p14:creationId xmlns:p14="http://schemas.microsoft.com/office/powerpoint/2010/main" val="3334702819"/>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189</a:t>
            </a:fld>
            <a:endParaRPr lang="en-GB"/>
          </a:p>
        </p:txBody>
      </p:sp>
    </p:spTree>
    <p:extLst>
      <p:ext uri="{BB962C8B-B14F-4D97-AF65-F5344CB8AC3E}">
        <p14:creationId xmlns:p14="http://schemas.microsoft.com/office/powerpoint/2010/main" val="1507218795"/>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190</a:t>
            </a:fld>
            <a:endParaRPr lang="en-GB"/>
          </a:p>
        </p:txBody>
      </p:sp>
    </p:spTree>
    <p:extLst>
      <p:ext uri="{BB962C8B-B14F-4D97-AF65-F5344CB8AC3E}">
        <p14:creationId xmlns:p14="http://schemas.microsoft.com/office/powerpoint/2010/main" val="116221386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191</a:t>
            </a:fld>
            <a:endParaRPr lang="en-GB"/>
          </a:p>
        </p:txBody>
      </p:sp>
    </p:spTree>
    <p:extLst>
      <p:ext uri="{BB962C8B-B14F-4D97-AF65-F5344CB8AC3E}">
        <p14:creationId xmlns:p14="http://schemas.microsoft.com/office/powerpoint/2010/main" val="672015795"/>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192</a:t>
            </a:fld>
            <a:endParaRPr lang="en-GB"/>
          </a:p>
        </p:txBody>
      </p:sp>
    </p:spTree>
    <p:extLst>
      <p:ext uri="{BB962C8B-B14F-4D97-AF65-F5344CB8AC3E}">
        <p14:creationId xmlns:p14="http://schemas.microsoft.com/office/powerpoint/2010/main" val="782309077"/>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193</a:t>
            </a:fld>
            <a:endParaRPr lang="en-GB"/>
          </a:p>
        </p:txBody>
      </p:sp>
    </p:spTree>
    <p:extLst>
      <p:ext uri="{BB962C8B-B14F-4D97-AF65-F5344CB8AC3E}">
        <p14:creationId xmlns:p14="http://schemas.microsoft.com/office/powerpoint/2010/main" val="3084915297"/>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194</a:t>
            </a:fld>
            <a:endParaRPr lang="en-GB"/>
          </a:p>
        </p:txBody>
      </p:sp>
    </p:spTree>
    <p:extLst>
      <p:ext uri="{BB962C8B-B14F-4D97-AF65-F5344CB8AC3E}">
        <p14:creationId xmlns:p14="http://schemas.microsoft.com/office/powerpoint/2010/main" val="666332352"/>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195</a:t>
            </a:fld>
            <a:endParaRPr lang="en-GB"/>
          </a:p>
        </p:txBody>
      </p:sp>
    </p:spTree>
    <p:extLst>
      <p:ext uri="{BB962C8B-B14F-4D97-AF65-F5344CB8AC3E}">
        <p14:creationId xmlns:p14="http://schemas.microsoft.com/office/powerpoint/2010/main" val="3445058625"/>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196</a:t>
            </a:fld>
            <a:endParaRPr lang="zh-CN" altLang="en-US"/>
          </a:p>
        </p:txBody>
      </p:sp>
    </p:spTree>
    <p:extLst>
      <p:ext uri="{BB962C8B-B14F-4D97-AF65-F5344CB8AC3E}">
        <p14:creationId xmlns:p14="http://schemas.microsoft.com/office/powerpoint/2010/main" val="4040906250"/>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197</a:t>
            </a:fld>
            <a:endParaRPr lang="en-GB"/>
          </a:p>
        </p:txBody>
      </p:sp>
    </p:spTree>
    <p:extLst>
      <p:ext uri="{BB962C8B-B14F-4D97-AF65-F5344CB8AC3E}">
        <p14:creationId xmlns:p14="http://schemas.microsoft.com/office/powerpoint/2010/main" val="3615949964"/>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198</a:t>
            </a:fld>
            <a:endParaRPr lang="en-GB"/>
          </a:p>
        </p:txBody>
      </p:sp>
    </p:spTree>
    <p:extLst>
      <p:ext uri="{BB962C8B-B14F-4D97-AF65-F5344CB8AC3E}">
        <p14:creationId xmlns:p14="http://schemas.microsoft.com/office/powerpoint/2010/main" val="1805687742"/>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199</a:t>
            </a:fld>
            <a:endParaRPr lang="en-GB"/>
          </a:p>
        </p:txBody>
      </p:sp>
    </p:spTree>
    <p:extLst>
      <p:ext uri="{BB962C8B-B14F-4D97-AF65-F5344CB8AC3E}">
        <p14:creationId xmlns:p14="http://schemas.microsoft.com/office/powerpoint/2010/main" val="1495489345"/>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200</a:t>
            </a:fld>
            <a:endParaRPr lang="en-GB"/>
          </a:p>
        </p:txBody>
      </p:sp>
    </p:spTree>
    <p:extLst>
      <p:ext uri="{BB962C8B-B14F-4D97-AF65-F5344CB8AC3E}">
        <p14:creationId xmlns:p14="http://schemas.microsoft.com/office/powerpoint/2010/main" val="1968741229"/>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201</a:t>
            </a:fld>
            <a:endParaRPr lang="en-GB"/>
          </a:p>
        </p:txBody>
      </p:sp>
    </p:spTree>
    <p:extLst>
      <p:ext uri="{BB962C8B-B14F-4D97-AF65-F5344CB8AC3E}">
        <p14:creationId xmlns:p14="http://schemas.microsoft.com/office/powerpoint/2010/main" val="3149533515"/>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202</a:t>
            </a:fld>
            <a:endParaRPr lang="en-GB"/>
          </a:p>
        </p:txBody>
      </p:sp>
    </p:spTree>
    <p:extLst>
      <p:ext uri="{BB962C8B-B14F-4D97-AF65-F5344CB8AC3E}">
        <p14:creationId xmlns:p14="http://schemas.microsoft.com/office/powerpoint/2010/main" val="1343084640"/>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203</a:t>
            </a:fld>
            <a:endParaRPr lang="en-GB"/>
          </a:p>
        </p:txBody>
      </p:sp>
    </p:spTree>
    <p:extLst>
      <p:ext uri="{BB962C8B-B14F-4D97-AF65-F5344CB8AC3E}">
        <p14:creationId xmlns:p14="http://schemas.microsoft.com/office/powerpoint/2010/main" val="283346978"/>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204</a:t>
            </a:fld>
            <a:endParaRPr lang="en-GB"/>
          </a:p>
        </p:txBody>
      </p:sp>
    </p:spTree>
    <p:extLst>
      <p:ext uri="{BB962C8B-B14F-4D97-AF65-F5344CB8AC3E}">
        <p14:creationId xmlns:p14="http://schemas.microsoft.com/office/powerpoint/2010/main" val="3455797443"/>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205</a:t>
            </a:fld>
            <a:endParaRPr lang="en-GB"/>
          </a:p>
        </p:txBody>
      </p:sp>
    </p:spTree>
    <p:extLst>
      <p:ext uri="{BB962C8B-B14F-4D97-AF65-F5344CB8AC3E}">
        <p14:creationId xmlns:p14="http://schemas.microsoft.com/office/powerpoint/2010/main" val="2147527640"/>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206</a:t>
            </a:fld>
            <a:endParaRPr lang="en-GB"/>
          </a:p>
        </p:txBody>
      </p:sp>
    </p:spTree>
    <p:extLst>
      <p:ext uri="{BB962C8B-B14F-4D97-AF65-F5344CB8AC3E}">
        <p14:creationId xmlns:p14="http://schemas.microsoft.com/office/powerpoint/2010/main" val="3536687309"/>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207</a:t>
            </a:fld>
            <a:endParaRPr lang="en-GB"/>
          </a:p>
        </p:txBody>
      </p:sp>
    </p:spTree>
    <p:extLst>
      <p:ext uri="{BB962C8B-B14F-4D97-AF65-F5344CB8AC3E}">
        <p14:creationId xmlns:p14="http://schemas.microsoft.com/office/powerpoint/2010/main" val="728911292"/>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208</a:t>
            </a:fld>
            <a:endParaRPr lang="en-GB"/>
          </a:p>
        </p:txBody>
      </p:sp>
    </p:spTree>
    <p:extLst>
      <p:ext uri="{BB962C8B-B14F-4D97-AF65-F5344CB8AC3E}">
        <p14:creationId xmlns:p14="http://schemas.microsoft.com/office/powerpoint/2010/main" val="356550686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209</a:t>
            </a:fld>
            <a:endParaRPr lang="en-GB"/>
          </a:p>
        </p:txBody>
      </p:sp>
    </p:spTree>
    <p:extLst>
      <p:ext uri="{BB962C8B-B14F-4D97-AF65-F5344CB8AC3E}">
        <p14:creationId xmlns:p14="http://schemas.microsoft.com/office/powerpoint/2010/main" val="3876889718"/>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210</a:t>
            </a:fld>
            <a:endParaRPr lang="en-GB"/>
          </a:p>
        </p:txBody>
      </p:sp>
    </p:spTree>
    <p:extLst>
      <p:ext uri="{BB962C8B-B14F-4D97-AF65-F5344CB8AC3E}">
        <p14:creationId xmlns:p14="http://schemas.microsoft.com/office/powerpoint/2010/main" val="3693141703"/>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211</a:t>
            </a:fld>
            <a:endParaRPr lang="en-GB"/>
          </a:p>
        </p:txBody>
      </p:sp>
    </p:spTree>
    <p:extLst>
      <p:ext uri="{BB962C8B-B14F-4D97-AF65-F5344CB8AC3E}">
        <p14:creationId xmlns:p14="http://schemas.microsoft.com/office/powerpoint/2010/main" val="585394589"/>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212</a:t>
            </a:fld>
            <a:endParaRPr lang="en-GB"/>
          </a:p>
        </p:txBody>
      </p:sp>
    </p:spTree>
    <p:extLst>
      <p:ext uri="{BB962C8B-B14F-4D97-AF65-F5344CB8AC3E}">
        <p14:creationId xmlns:p14="http://schemas.microsoft.com/office/powerpoint/2010/main" val="2381581802"/>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213</a:t>
            </a:fld>
            <a:endParaRPr lang="en-GB"/>
          </a:p>
        </p:txBody>
      </p:sp>
    </p:spTree>
    <p:extLst>
      <p:ext uri="{BB962C8B-B14F-4D97-AF65-F5344CB8AC3E}">
        <p14:creationId xmlns:p14="http://schemas.microsoft.com/office/powerpoint/2010/main" val="311165287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214</a:t>
            </a:fld>
            <a:endParaRPr lang="en-GB"/>
          </a:p>
        </p:txBody>
      </p:sp>
    </p:spTree>
    <p:extLst>
      <p:ext uri="{BB962C8B-B14F-4D97-AF65-F5344CB8AC3E}">
        <p14:creationId xmlns:p14="http://schemas.microsoft.com/office/powerpoint/2010/main" val="2630124493"/>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215</a:t>
            </a:fld>
            <a:endParaRPr lang="zh-CN" altLang="en-US"/>
          </a:p>
        </p:txBody>
      </p:sp>
    </p:spTree>
    <p:extLst>
      <p:ext uri="{BB962C8B-B14F-4D97-AF65-F5344CB8AC3E}">
        <p14:creationId xmlns:p14="http://schemas.microsoft.com/office/powerpoint/2010/main" val="3464954605"/>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216</a:t>
            </a:fld>
            <a:endParaRPr lang="en-GB"/>
          </a:p>
        </p:txBody>
      </p:sp>
    </p:spTree>
    <p:extLst>
      <p:ext uri="{BB962C8B-B14F-4D97-AF65-F5344CB8AC3E}">
        <p14:creationId xmlns:p14="http://schemas.microsoft.com/office/powerpoint/2010/main" val="3072520982"/>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217</a:t>
            </a:fld>
            <a:endParaRPr lang="en-GB"/>
          </a:p>
        </p:txBody>
      </p:sp>
    </p:spTree>
    <p:extLst>
      <p:ext uri="{BB962C8B-B14F-4D97-AF65-F5344CB8AC3E}">
        <p14:creationId xmlns:p14="http://schemas.microsoft.com/office/powerpoint/2010/main" val="3138716797"/>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218</a:t>
            </a:fld>
            <a:endParaRPr lang="en-GB"/>
          </a:p>
        </p:txBody>
      </p:sp>
    </p:spTree>
    <p:extLst>
      <p:ext uri="{BB962C8B-B14F-4D97-AF65-F5344CB8AC3E}">
        <p14:creationId xmlns:p14="http://schemas.microsoft.com/office/powerpoint/2010/main" val="2191759267"/>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219</a:t>
            </a:fld>
            <a:endParaRPr lang="en-GB"/>
          </a:p>
        </p:txBody>
      </p:sp>
    </p:spTree>
    <p:extLst>
      <p:ext uri="{BB962C8B-B14F-4D97-AF65-F5344CB8AC3E}">
        <p14:creationId xmlns:p14="http://schemas.microsoft.com/office/powerpoint/2010/main" val="1153748062"/>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220</a:t>
            </a:fld>
            <a:endParaRPr lang="en-GB"/>
          </a:p>
        </p:txBody>
      </p:sp>
    </p:spTree>
    <p:extLst>
      <p:ext uri="{BB962C8B-B14F-4D97-AF65-F5344CB8AC3E}">
        <p14:creationId xmlns:p14="http://schemas.microsoft.com/office/powerpoint/2010/main" val="1517152083"/>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221</a:t>
            </a:fld>
            <a:endParaRPr lang="en-GB"/>
          </a:p>
        </p:txBody>
      </p:sp>
    </p:spTree>
    <p:extLst>
      <p:ext uri="{BB962C8B-B14F-4D97-AF65-F5344CB8AC3E}">
        <p14:creationId xmlns:p14="http://schemas.microsoft.com/office/powerpoint/2010/main" val="2903535337"/>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222</a:t>
            </a:fld>
            <a:endParaRPr lang="en-GB"/>
          </a:p>
        </p:txBody>
      </p:sp>
    </p:spTree>
    <p:extLst>
      <p:ext uri="{BB962C8B-B14F-4D97-AF65-F5344CB8AC3E}">
        <p14:creationId xmlns:p14="http://schemas.microsoft.com/office/powerpoint/2010/main" val="425245746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223</a:t>
            </a:fld>
            <a:endParaRPr lang="en-GB"/>
          </a:p>
        </p:txBody>
      </p:sp>
    </p:spTree>
    <p:extLst>
      <p:ext uri="{BB962C8B-B14F-4D97-AF65-F5344CB8AC3E}">
        <p14:creationId xmlns:p14="http://schemas.microsoft.com/office/powerpoint/2010/main" val="3357067278"/>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224</a:t>
            </a:fld>
            <a:endParaRPr lang="en-GB"/>
          </a:p>
        </p:txBody>
      </p:sp>
    </p:spTree>
    <p:extLst>
      <p:ext uri="{BB962C8B-B14F-4D97-AF65-F5344CB8AC3E}">
        <p14:creationId xmlns:p14="http://schemas.microsoft.com/office/powerpoint/2010/main" val="2716433426"/>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225</a:t>
            </a:fld>
            <a:endParaRPr lang="en-GB"/>
          </a:p>
        </p:txBody>
      </p:sp>
    </p:spTree>
    <p:extLst>
      <p:ext uri="{BB962C8B-B14F-4D97-AF65-F5344CB8AC3E}">
        <p14:creationId xmlns:p14="http://schemas.microsoft.com/office/powerpoint/2010/main" val="3857892978"/>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226</a:t>
            </a:fld>
            <a:endParaRPr lang="en-GB"/>
          </a:p>
        </p:txBody>
      </p:sp>
    </p:spTree>
    <p:extLst>
      <p:ext uri="{BB962C8B-B14F-4D97-AF65-F5344CB8AC3E}">
        <p14:creationId xmlns:p14="http://schemas.microsoft.com/office/powerpoint/2010/main" val="3224874189"/>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227</a:t>
            </a:fld>
            <a:endParaRPr lang="zh-CN" altLang="en-US"/>
          </a:p>
        </p:txBody>
      </p:sp>
    </p:spTree>
    <p:extLst>
      <p:ext uri="{BB962C8B-B14F-4D97-AF65-F5344CB8AC3E}">
        <p14:creationId xmlns:p14="http://schemas.microsoft.com/office/powerpoint/2010/main" val="2397702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2023/4/1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cxnSp>
        <p:nvCxnSpPr>
          <p:cNvPr id="8" name="直接连接符 7"/>
          <p:cNvCxnSpPr/>
          <p:nvPr userDrawn="1"/>
        </p:nvCxnSpPr>
        <p:spPr>
          <a:xfrm flipV="1">
            <a:off x="435749" y="579644"/>
            <a:ext cx="8026659" cy="3402"/>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Freeform 6"/>
          <p:cNvSpPr>
            <a:spLocks noEditPoints="1"/>
          </p:cNvSpPr>
          <p:nvPr userDrawn="1"/>
        </p:nvSpPr>
        <p:spPr bwMode="auto">
          <a:xfrm>
            <a:off x="8462408" y="262311"/>
            <a:ext cx="319526" cy="320735"/>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sp>
        <p:nvSpPr>
          <p:cNvPr id="11" name="Oval 15"/>
          <p:cNvSpPr/>
          <p:nvPr userDrawn="1"/>
        </p:nvSpPr>
        <p:spPr>
          <a:xfrm>
            <a:off x="578057" y="195486"/>
            <a:ext cx="256073" cy="256122"/>
          </a:xfrm>
          <a:prstGeom prst="ellipse">
            <a:avLst/>
          </a:prstGeom>
          <a:solidFill>
            <a:schemeClr val="accent1"/>
          </a:solidFill>
          <a:ln>
            <a:noFill/>
          </a:ln>
          <a:effectLst>
            <a:outerShdw blurRad="228600" dist="139700" dir="678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5032" tIns="32516" rIns="65032" bIns="32516" rtlCol="0" anchor="ctr"/>
          <a:lstStyle/>
          <a:p>
            <a:pPr algn="ctr">
              <a:lnSpc>
                <a:spcPct val="120000"/>
              </a:lnSpc>
            </a:pP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2932135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11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pPr/>
              <a:t>2023/4/1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pPr/>
              <a:t>‹#›</a:t>
            </a:fld>
            <a:endParaRPr lang="zh-CN" altLang="en-US"/>
          </a:p>
        </p:txBody>
      </p:sp>
    </p:spTree>
    <p:extLst>
      <p:ext uri="{BB962C8B-B14F-4D97-AF65-F5344CB8AC3E}">
        <p14:creationId xmlns:p14="http://schemas.microsoft.com/office/powerpoint/2010/main" val="41645999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854A03-91AF-448A-9954-517C0577E5F0}" type="datetimeFigureOut">
              <a:rPr lang="zh-CN" altLang="en-US" smtClean="0"/>
              <a:pPr/>
              <a:t>2023/4/1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7" name="矩形 6"/>
          <p:cNvSpPr/>
          <p:nvPr userDrawn="1"/>
        </p:nvSpPr>
        <p:spPr>
          <a:xfrm>
            <a:off x="6948264" y="4773801"/>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24347741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1" y="0"/>
            <a:ext cx="9143499" cy="5143500"/>
          </a:xfrm>
          <a:prstGeom prst="rect">
            <a:avLst/>
          </a:prstGeom>
        </p:spPr>
      </p:pic>
    </p:spTree>
    <p:extLst>
      <p:ext uri="{BB962C8B-B14F-4D97-AF65-F5344CB8AC3E}">
        <p14:creationId xmlns:p14="http://schemas.microsoft.com/office/powerpoint/2010/main" val="21168080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pPr/>
              <a:t>2023/4/1</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pPr/>
              <a:t>‹#›</a:t>
            </a:fld>
            <a:endParaRPr lang="zh-CN" altLang="en-US"/>
          </a:p>
        </p:txBody>
      </p:sp>
    </p:spTree>
    <p:extLst>
      <p:ext uri="{BB962C8B-B14F-4D97-AF65-F5344CB8AC3E}">
        <p14:creationId xmlns:p14="http://schemas.microsoft.com/office/powerpoint/2010/main" val="3795072685"/>
      </p:ext>
    </p:extLst>
  </p:cSld>
  <p:clrMap bg1="lt1" tx1="dk1" bg2="lt2" tx2="dk2" accent1="accent1" accent2="accent2" accent3="accent3" accent4="accent4" accent5="accent5" accent6="accent6" hlink="hlink" folHlink="folHlink"/>
  <p:sldLayoutIdLst>
    <p:sldLayoutId id="2147483655" r:id="rId1"/>
    <p:sldLayoutId id="2147483665" r:id="rId2"/>
    <p:sldLayoutId id="2147483668" r:id="rId3"/>
    <p:sldLayoutId id="2147483667" r:id="rId4"/>
  </p:sldLayoutIdLst>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xStyles>
    <p:titleStyle>
      <a:lvl1pPr algn="ctr" defTabSz="914282" rtl="0" eaLnBrk="1" latinLnBrk="0" hangingPunct="1">
        <a:spcBef>
          <a:spcPct val="0"/>
        </a:spcBef>
        <a:buNone/>
        <a:defRPr sz="4400" kern="1200">
          <a:solidFill>
            <a:schemeClr val="tx1"/>
          </a:solidFill>
          <a:latin typeface="+mj-lt"/>
          <a:ea typeface="+mj-ea"/>
          <a:cs typeface="+mj-cs"/>
        </a:defRPr>
      </a:lvl1pPr>
    </p:titleStyle>
    <p:body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notesSlide" Target="../notesSlides/notesSlide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4.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8.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0.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image" Target="../media/image38.png"/><Relationship Id="rId26" Type="http://schemas.openxmlformats.org/officeDocument/2006/relationships/image" Target="../media/image46.png"/><Relationship Id="rId39" Type="http://schemas.openxmlformats.org/officeDocument/2006/relationships/image" Target="../media/image59.png"/><Relationship Id="rId21" Type="http://schemas.openxmlformats.org/officeDocument/2006/relationships/image" Target="../media/image41.png"/><Relationship Id="rId34" Type="http://schemas.openxmlformats.org/officeDocument/2006/relationships/image" Target="../media/image54.png"/><Relationship Id="rId42" Type="http://schemas.openxmlformats.org/officeDocument/2006/relationships/image" Target="../media/image62.png"/><Relationship Id="rId47" Type="http://schemas.openxmlformats.org/officeDocument/2006/relationships/image" Target="../media/image67.png"/><Relationship Id="rId50" Type="http://schemas.openxmlformats.org/officeDocument/2006/relationships/image" Target="../media/image70.png"/><Relationship Id="rId7" Type="http://schemas.openxmlformats.org/officeDocument/2006/relationships/image" Target="../media/image27.png"/><Relationship Id="rId2" Type="http://schemas.openxmlformats.org/officeDocument/2006/relationships/notesSlide" Target="../notesSlides/notesSlide69.xml"/><Relationship Id="rId16" Type="http://schemas.openxmlformats.org/officeDocument/2006/relationships/image" Target="../media/image36.png"/><Relationship Id="rId29" Type="http://schemas.openxmlformats.org/officeDocument/2006/relationships/image" Target="../media/image49.png"/><Relationship Id="rId11" Type="http://schemas.openxmlformats.org/officeDocument/2006/relationships/image" Target="../media/image31.png"/><Relationship Id="rId24" Type="http://schemas.openxmlformats.org/officeDocument/2006/relationships/image" Target="../media/image44.png"/><Relationship Id="rId32" Type="http://schemas.openxmlformats.org/officeDocument/2006/relationships/image" Target="../media/image52.png"/><Relationship Id="rId37" Type="http://schemas.openxmlformats.org/officeDocument/2006/relationships/image" Target="../media/image57.png"/><Relationship Id="rId40" Type="http://schemas.openxmlformats.org/officeDocument/2006/relationships/image" Target="../media/image60.png"/><Relationship Id="rId45" Type="http://schemas.openxmlformats.org/officeDocument/2006/relationships/image" Target="../media/image65.png"/><Relationship Id="rId5" Type="http://schemas.openxmlformats.org/officeDocument/2006/relationships/image" Target="../media/image25.png"/><Relationship Id="rId15" Type="http://schemas.openxmlformats.org/officeDocument/2006/relationships/image" Target="../media/image35.png"/><Relationship Id="rId23" Type="http://schemas.openxmlformats.org/officeDocument/2006/relationships/image" Target="../media/image43.png"/><Relationship Id="rId28" Type="http://schemas.openxmlformats.org/officeDocument/2006/relationships/image" Target="../media/image48.png"/><Relationship Id="rId36" Type="http://schemas.openxmlformats.org/officeDocument/2006/relationships/image" Target="../media/image56.png"/><Relationship Id="rId49" Type="http://schemas.openxmlformats.org/officeDocument/2006/relationships/image" Target="../media/image69.png"/><Relationship Id="rId10" Type="http://schemas.openxmlformats.org/officeDocument/2006/relationships/image" Target="../media/image30.png"/><Relationship Id="rId19" Type="http://schemas.openxmlformats.org/officeDocument/2006/relationships/image" Target="../media/image39.png"/><Relationship Id="rId31" Type="http://schemas.openxmlformats.org/officeDocument/2006/relationships/image" Target="../media/image51.png"/><Relationship Id="rId44" Type="http://schemas.openxmlformats.org/officeDocument/2006/relationships/image" Target="../media/image64.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 Id="rId27" Type="http://schemas.openxmlformats.org/officeDocument/2006/relationships/image" Target="../media/image47.png"/><Relationship Id="rId30" Type="http://schemas.openxmlformats.org/officeDocument/2006/relationships/image" Target="../media/image50.png"/><Relationship Id="rId35" Type="http://schemas.openxmlformats.org/officeDocument/2006/relationships/image" Target="../media/image55.png"/><Relationship Id="rId43" Type="http://schemas.openxmlformats.org/officeDocument/2006/relationships/image" Target="../media/image63.png"/><Relationship Id="rId48" Type="http://schemas.openxmlformats.org/officeDocument/2006/relationships/image" Target="../media/image68.png"/><Relationship Id="rId8" Type="http://schemas.openxmlformats.org/officeDocument/2006/relationships/image" Target="../media/image28.png"/><Relationship Id="rId51" Type="http://schemas.openxmlformats.org/officeDocument/2006/relationships/image" Target="../media/image71.png"/><Relationship Id="rId3" Type="http://schemas.openxmlformats.org/officeDocument/2006/relationships/image" Target="../media/image23.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5.png"/><Relationship Id="rId33" Type="http://schemas.openxmlformats.org/officeDocument/2006/relationships/image" Target="../media/image53.png"/><Relationship Id="rId38" Type="http://schemas.openxmlformats.org/officeDocument/2006/relationships/image" Target="../media/image58.png"/><Relationship Id="rId46" Type="http://schemas.openxmlformats.org/officeDocument/2006/relationships/image" Target="../media/image66.png"/><Relationship Id="rId20" Type="http://schemas.openxmlformats.org/officeDocument/2006/relationships/image" Target="../media/image40.png"/><Relationship Id="rId41"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26.png"/></Relationships>
</file>

<file path=ppt/slides/_rels/slide7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18.png"/><Relationship Id="rId7" Type="http://schemas.openxmlformats.org/officeDocument/2006/relationships/image" Target="../media/image74.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20.png"/><Relationship Id="rId9" Type="http://schemas.openxmlformats.org/officeDocument/2006/relationships/image" Target="../media/image76.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18" Type="http://schemas.openxmlformats.org/officeDocument/2006/relationships/image" Target="../media/image103.png"/><Relationship Id="rId3" Type="http://schemas.openxmlformats.org/officeDocument/2006/relationships/image" Target="../media/image88.png"/><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102.png"/><Relationship Id="rId2" Type="http://schemas.openxmlformats.org/officeDocument/2006/relationships/notesSlide" Target="../notesSlides/notesSlide79.xml"/><Relationship Id="rId16" Type="http://schemas.openxmlformats.org/officeDocument/2006/relationships/image" Target="../media/image101.png"/><Relationship Id="rId1" Type="http://schemas.openxmlformats.org/officeDocument/2006/relationships/slideLayout" Target="../slideLayouts/slideLayout1.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5" Type="http://schemas.openxmlformats.org/officeDocument/2006/relationships/image" Target="../media/image10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 Id="rId14" Type="http://schemas.openxmlformats.org/officeDocument/2006/relationships/image" Target="../media/image99.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105.png"/><Relationship Id="rId4" Type="http://schemas.openxmlformats.org/officeDocument/2006/relationships/image" Target="../media/image17.e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oleObject" Target="../embeddings/oleObject12.bin"/><Relationship Id="rId4" Type="http://schemas.openxmlformats.org/officeDocument/2006/relationships/image" Target="../media/image87.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19.emf"/><Relationship Id="rId5" Type="http://schemas.openxmlformats.org/officeDocument/2006/relationships/oleObject" Target="../embeddings/oleObject13.bin"/><Relationship Id="rId4" Type="http://schemas.openxmlformats.org/officeDocument/2006/relationships/image" Target="../media/image104.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82.em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8.xml"/><Relationship Id="rId1" Type="http://schemas.openxmlformats.org/officeDocument/2006/relationships/slideLayout" Target="../slideLayouts/slideLayout1.xml"/><Relationship Id="rId5" Type="http://schemas.openxmlformats.org/officeDocument/2006/relationships/image" Target="../media/image107.png"/><Relationship Id="rId4" Type="http://schemas.openxmlformats.org/officeDocument/2006/relationships/image" Target="../media/image106.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2.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48.xml"/><Relationship Id="rId1" Type="http://schemas.openxmlformats.org/officeDocument/2006/relationships/slideLayout" Target="../slideLayouts/slideLayout1.xml"/><Relationship Id="rId4" Type="http://schemas.openxmlformats.org/officeDocument/2006/relationships/image" Target="../media/image120.png"/></Relationships>
</file>

<file path=ppt/slides/_rels/slide14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3" Type="http://schemas.openxmlformats.org/officeDocument/2006/relationships/image" Target="../media/image1230.png"/><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68.xml"/><Relationship Id="rId1" Type="http://schemas.openxmlformats.org/officeDocument/2006/relationships/slideLayout" Target="../slideLayouts/slideLayout1.xml"/><Relationship Id="rId4" Type="http://schemas.openxmlformats.org/officeDocument/2006/relationships/image" Target="../media/image124.emf"/></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74.xml"/><Relationship Id="rId1" Type="http://schemas.openxmlformats.org/officeDocument/2006/relationships/slideLayout" Target="../slideLayouts/slideLayout1.xml"/><Relationship Id="rId4" Type="http://schemas.openxmlformats.org/officeDocument/2006/relationships/image" Target="../media/image1250.png"/></Relationships>
</file>

<file path=ppt/slides/_rels/slide175.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75.xml"/><Relationship Id="rId1" Type="http://schemas.openxmlformats.org/officeDocument/2006/relationships/slideLayout" Target="../slideLayouts/slideLayout1.xml"/><Relationship Id="rId5" Type="http://schemas.openxmlformats.org/officeDocument/2006/relationships/image" Target="../media/image128.png"/><Relationship Id="rId4" Type="http://schemas.openxmlformats.org/officeDocument/2006/relationships/image" Target="../media/image127.png"/></Relationships>
</file>

<file path=ppt/slides/_rels/slide17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76.xml"/><Relationship Id="rId1" Type="http://schemas.openxmlformats.org/officeDocument/2006/relationships/slideLayout" Target="../slideLayouts/slideLayout1.xml"/><Relationship Id="rId4" Type="http://schemas.openxmlformats.org/officeDocument/2006/relationships/image" Target="../media/image130.png"/></Relationships>
</file>

<file path=ppt/slides/_rels/slide17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77.xml"/><Relationship Id="rId1" Type="http://schemas.openxmlformats.org/officeDocument/2006/relationships/slideLayout" Target="../slideLayouts/slideLayout1.xml"/><Relationship Id="rId4" Type="http://schemas.openxmlformats.org/officeDocument/2006/relationships/image" Target="../media/image132.png"/></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81.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2.xml"/><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84.xml"/><Relationship Id="rId1" Type="http://schemas.openxmlformats.org/officeDocument/2006/relationships/slideLayout" Target="../slideLayouts/slideLayout1.xml"/><Relationship Id="rId4" Type="http://schemas.openxmlformats.org/officeDocument/2006/relationships/image" Target="../media/image126.emf"/></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93.xml"/><Relationship Id="rId1" Type="http://schemas.openxmlformats.org/officeDocument/2006/relationships/slideLayout" Target="../slideLayouts/slideLayout1.xml"/><Relationship Id="rId4" Type="http://schemas.openxmlformats.org/officeDocument/2006/relationships/image" Target="../media/image134.emf"/></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6.xml"/><Relationship Id="rId1" Type="http://schemas.openxmlformats.org/officeDocument/2006/relationships/slideLayout" Target="../slideLayouts/slideLayout4.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9.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05.xml"/><Relationship Id="rId1" Type="http://schemas.openxmlformats.org/officeDocument/2006/relationships/slideLayout" Target="../slideLayouts/slideLayout1.xml"/><Relationship Id="rId4" Type="http://schemas.microsoft.com/office/2007/relationships/hdphoto" Target="../media/hdphoto1.wdp"/></Relationships>
</file>

<file path=ppt/slides/_rels/slide206.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206.xml"/><Relationship Id="rId1" Type="http://schemas.openxmlformats.org/officeDocument/2006/relationships/slideLayout" Target="../slideLayouts/slideLayout1.xml"/><Relationship Id="rId5" Type="http://schemas.openxmlformats.org/officeDocument/2006/relationships/image" Target="../media/image138.png"/><Relationship Id="rId4" Type="http://schemas.microsoft.com/office/2007/relationships/hdphoto" Target="../media/hdphoto2.wdp"/></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11.xml"/><Relationship Id="rId1" Type="http://schemas.openxmlformats.org/officeDocument/2006/relationships/slideLayout" Target="../slideLayouts/slideLayout1.xml"/><Relationship Id="rId5" Type="http://schemas.openxmlformats.org/officeDocument/2006/relationships/image" Target="../media/image140.emf"/><Relationship Id="rId4" Type="http://schemas.openxmlformats.org/officeDocument/2006/relationships/oleObject" Target="../embeddings/oleObject17.bin"/></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5.xml"/><Relationship Id="rId1" Type="http://schemas.openxmlformats.org/officeDocument/2006/relationships/slideLayout" Target="../slideLayouts/slideLayout4.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23.xml"/><Relationship Id="rId1" Type="http://schemas.openxmlformats.org/officeDocument/2006/relationships/slideLayout" Target="../slideLayouts/slideLayout1.xml"/><Relationship Id="rId4" Type="http://schemas.openxmlformats.org/officeDocument/2006/relationships/image" Target="../media/image141.emf"/></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994680"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000" b="1" kern="2000" spc="200" dirty="0">
                <a:solidFill>
                  <a:schemeClr val="bg1"/>
                </a:solidFill>
                <a:latin typeface="微软雅黑" panose="020B0503020204020204" pitchFamily="34" charset="-122"/>
                <a:ea typeface="微软雅黑" panose="020B0503020204020204" pitchFamily="34" charset="-122"/>
              </a:rPr>
              <a:t>物联网安全的密码理论</a:t>
            </a: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800" b="0" dirty="0">
                <a:latin typeface="微软雅黑" panose="020B0503020204020204" pitchFamily="34" charset="-122"/>
                <a:ea typeface="微软雅黑" panose="020B0503020204020204" pitchFamily="34" charset="-122"/>
              </a:rPr>
              <a:t>第三章</a:t>
            </a:r>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4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9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3400"/>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a:spLocks/>
          </p:cNvSpPr>
          <p:nvPr/>
        </p:nvSpPr>
        <p:spPr bwMode="auto">
          <a:xfrm>
            <a:off x="-20311" y="1056553"/>
            <a:ext cx="4358700"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2"/>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 name="MH_Number_1"/>
          <p:cNvSpPr/>
          <p:nvPr>
            <p:custDataLst>
              <p:tags r:id="rId1"/>
            </p:custDataLst>
          </p:nvPr>
        </p:nvSpPr>
        <p:spPr>
          <a:xfrm>
            <a:off x="4732780" y="112968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MH_Entry_1"/>
          <p:cNvSpPr/>
          <p:nvPr>
            <p:custDataLst>
              <p:tags r:id="rId2"/>
            </p:custDataLst>
          </p:nvPr>
        </p:nvSpPr>
        <p:spPr>
          <a:xfrm>
            <a:off x="5234111" y="112968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密码学基础</a:t>
            </a:r>
          </a:p>
        </p:txBody>
      </p:sp>
      <p:sp>
        <p:nvSpPr>
          <p:cNvPr id="22" name="MH_Number_2"/>
          <p:cNvSpPr/>
          <p:nvPr>
            <p:custDataLst>
              <p:tags r:id="rId3"/>
            </p:custDataLst>
          </p:nvPr>
        </p:nvSpPr>
        <p:spPr>
          <a:xfrm>
            <a:off x="4732780" y="157607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MH_Entry_2"/>
          <p:cNvSpPr/>
          <p:nvPr>
            <p:custDataLst>
              <p:tags r:id="rId4"/>
            </p:custDataLst>
          </p:nvPr>
        </p:nvSpPr>
        <p:spPr>
          <a:xfrm>
            <a:off x="5234111" y="158120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对称密码体制与算法</a:t>
            </a:r>
          </a:p>
        </p:txBody>
      </p:sp>
      <p:sp>
        <p:nvSpPr>
          <p:cNvPr id="24" name="MH_Number_3"/>
          <p:cNvSpPr/>
          <p:nvPr>
            <p:custDataLst>
              <p:tags r:id="rId5"/>
            </p:custDataLst>
          </p:nvPr>
        </p:nvSpPr>
        <p:spPr>
          <a:xfrm>
            <a:off x="4732780" y="202246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MH_Entry_3"/>
          <p:cNvSpPr/>
          <p:nvPr>
            <p:custDataLst>
              <p:tags r:id="rId6"/>
            </p:custDataLst>
          </p:nvPr>
        </p:nvSpPr>
        <p:spPr>
          <a:xfrm>
            <a:off x="5234111" y="203272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非对称密码体制与算法</a:t>
            </a:r>
          </a:p>
        </p:txBody>
      </p:sp>
      <p:sp>
        <p:nvSpPr>
          <p:cNvPr id="26" name="MH_Number_4"/>
          <p:cNvSpPr/>
          <p:nvPr>
            <p:custDataLst>
              <p:tags r:id="rId7"/>
            </p:custDataLst>
          </p:nvPr>
        </p:nvSpPr>
        <p:spPr>
          <a:xfrm>
            <a:off x="4732780" y="246885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7" name="MH_Entry_4"/>
          <p:cNvSpPr/>
          <p:nvPr>
            <p:custDataLst>
              <p:tags r:id="rId8"/>
            </p:custDataLst>
          </p:nvPr>
        </p:nvSpPr>
        <p:spPr>
          <a:xfrm>
            <a:off x="5234111" y="248424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杂凑算法与消息认证</a:t>
            </a:r>
          </a:p>
        </p:txBody>
      </p:sp>
      <p:sp>
        <p:nvSpPr>
          <p:cNvPr id="18" name="MH_Others_1"/>
          <p:cNvSpPr txBox="1"/>
          <p:nvPr>
            <p:custDataLst>
              <p:tags r:id="rId9"/>
            </p:custDataLst>
          </p:nvPr>
        </p:nvSpPr>
        <p:spPr>
          <a:xfrm>
            <a:off x="1927685" y="1222488"/>
            <a:ext cx="1261884" cy="2698525"/>
          </a:xfrm>
          <a:prstGeom prst="rect">
            <a:avLst/>
          </a:prstGeom>
          <a:noFill/>
        </p:spPr>
        <p:txBody>
          <a:bodyPr vert="eaVert" wrap="square" lIns="0" tIns="0" rIns="0" bIns="0" rtlCol="0" anchor="ctr" anchorCtr="0">
            <a:spAutoFit/>
          </a:bodyPr>
          <a:lstStyle/>
          <a:p>
            <a:pPr algn="ctr"/>
            <a:r>
              <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19" name="MH_Others_2"/>
          <p:cNvSpPr txBox="1"/>
          <p:nvPr>
            <p:custDataLst>
              <p:tags r:id="rId10"/>
            </p:custDataLst>
          </p:nvPr>
        </p:nvSpPr>
        <p:spPr>
          <a:xfrm rot="5400000">
            <a:off x="615352" y="2331001"/>
            <a:ext cx="2346295" cy="481499"/>
          </a:xfrm>
          <a:prstGeom prst="rect">
            <a:avLst/>
          </a:prstGeom>
          <a:noFill/>
        </p:spPr>
        <p:txBody>
          <a:bodyPr wrap="square" lIns="0" tIns="0" rIns="0" bIns="0">
            <a:spAutoFit/>
          </a:bodyPr>
          <a:lstStyle/>
          <a:p>
            <a:pPr algn="ctr">
              <a:defRPr/>
            </a:pPr>
            <a:r>
              <a:rPr lang="en-US" altLang="zh-CN" sz="31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1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任意多边形 15"/>
          <p:cNvSpPr>
            <a:spLocks/>
          </p:cNvSpPr>
          <p:nvPr/>
        </p:nvSpPr>
        <p:spPr bwMode="auto">
          <a:xfrm>
            <a:off x="7593135" y="1056553"/>
            <a:ext cx="1565286"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1"/>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MH_Entry_4">
            <a:extLst>
              <a:ext uri="{FF2B5EF4-FFF2-40B4-BE49-F238E27FC236}">
                <a16:creationId xmlns:a16="http://schemas.microsoft.com/office/drawing/2014/main" id="{3E259F03-D3D5-44D7-94B3-5B48EC51E9B3}"/>
              </a:ext>
            </a:extLst>
          </p:cNvPr>
          <p:cNvSpPr/>
          <p:nvPr>
            <p:custDataLst>
              <p:tags r:id="rId11"/>
            </p:custDataLst>
          </p:nvPr>
        </p:nvSpPr>
        <p:spPr>
          <a:xfrm>
            <a:off x="5234111" y="293576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数字签名</a:t>
            </a:r>
          </a:p>
        </p:txBody>
      </p:sp>
      <p:sp>
        <p:nvSpPr>
          <p:cNvPr id="28" name="MH_Number_3">
            <a:extLst>
              <a:ext uri="{FF2B5EF4-FFF2-40B4-BE49-F238E27FC236}">
                <a16:creationId xmlns:a16="http://schemas.microsoft.com/office/drawing/2014/main" id="{26A0D43D-F70B-4F39-B8E7-D74DEE924E16}"/>
              </a:ext>
            </a:extLst>
          </p:cNvPr>
          <p:cNvSpPr/>
          <p:nvPr>
            <p:custDataLst>
              <p:tags r:id="rId12"/>
            </p:custDataLst>
          </p:nvPr>
        </p:nvSpPr>
        <p:spPr>
          <a:xfrm>
            <a:off x="4738620" y="291524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5</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9" name="MH_Number_4">
            <a:extLst>
              <a:ext uri="{FF2B5EF4-FFF2-40B4-BE49-F238E27FC236}">
                <a16:creationId xmlns:a16="http://schemas.microsoft.com/office/drawing/2014/main" id="{91A0ED99-9CE3-4D48-89C2-9D5103530660}"/>
              </a:ext>
            </a:extLst>
          </p:cNvPr>
          <p:cNvSpPr/>
          <p:nvPr>
            <p:custDataLst>
              <p:tags r:id="rId13"/>
            </p:custDataLst>
          </p:nvPr>
        </p:nvSpPr>
        <p:spPr>
          <a:xfrm>
            <a:off x="4732780" y="3361637"/>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6</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0" name="MH_Entry_4">
            <a:extLst>
              <a:ext uri="{FF2B5EF4-FFF2-40B4-BE49-F238E27FC236}">
                <a16:creationId xmlns:a16="http://schemas.microsoft.com/office/drawing/2014/main" id="{FD6853CA-8338-466B-BDDB-B829D32E4215}"/>
              </a:ext>
            </a:extLst>
          </p:cNvPr>
          <p:cNvSpPr/>
          <p:nvPr>
            <p:custDataLst>
              <p:tags r:id="rId14"/>
            </p:custDataLst>
          </p:nvPr>
        </p:nvSpPr>
        <p:spPr>
          <a:xfrm>
            <a:off x="5234111" y="338728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密钥管理</a:t>
            </a:r>
          </a:p>
        </p:txBody>
      </p:sp>
      <p:sp>
        <p:nvSpPr>
          <p:cNvPr id="31" name="MH_Entry_4">
            <a:extLst>
              <a:ext uri="{FF2B5EF4-FFF2-40B4-BE49-F238E27FC236}">
                <a16:creationId xmlns:a16="http://schemas.microsoft.com/office/drawing/2014/main" id="{261BB037-AC03-474B-BFE2-15775C7EE664}"/>
              </a:ext>
            </a:extLst>
          </p:cNvPr>
          <p:cNvSpPr/>
          <p:nvPr>
            <p:custDataLst>
              <p:tags r:id="rId15"/>
            </p:custDataLst>
          </p:nvPr>
        </p:nvSpPr>
        <p:spPr>
          <a:xfrm>
            <a:off x="5234110" y="3808028"/>
            <a:ext cx="3154313"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量子密码学概述</a:t>
            </a:r>
          </a:p>
        </p:txBody>
      </p:sp>
      <p:sp>
        <p:nvSpPr>
          <p:cNvPr id="32" name="MH_Number_3">
            <a:extLst>
              <a:ext uri="{FF2B5EF4-FFF2-40B4-BE49-F238E27FC236}">
                <a16:creationId xmlns:a16="http://schemas.microsoft.com/office/drawing/2014/main" id="{59202A14-0C44-4587-B402-0C8193A96EC3}"/>
              </a:ext>
            </a:extLst>
          </p:cNvPr>
          <p:cNvSpPr/>
          <p:nvPr>
            <p:custDataLst>
              <p:tags r:id="rId16"/>
            </p:custDataLst>
          </p:nvPr>
        </p:nvSpPr>
        <p:spPr>
          <a:xfrm>
            <a:off x="4738620" y="3808028"/>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7</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477337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6" presetClass="entr" presetSubtype="0" fill="hold" grpId="0" nodeType="click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by="(-#ppt_w*2)" calcmode="lin" valueType="num">
                                      <p:cBhvr rctx="PPT">
                                        <p:cTn id="19" dur="500" autoRev="1" fill="hold">
                                          <p:stCondLst>
                                            <p:cond delay="0"/>
                                          </p:stCondLst>
                                        </p:cTn>
                                        <p:tgtEl>
                                          <p:spTgt spid="18"/>
                                        </p:tgtEl>
                                        <p:attrNameLst>
                                          <p:attrName>ppt_w</p:attrName>
                                        </p:attrNameLst>
                                      </p:cBhvr>
                                    </p:anim>
                                    <p:anim by="(#ppt_w*0.50)" calcmode="lin" valueType="num">
                                      <p:cBhvr>
                                        <p:cTn id="20" dur="500" decel="50000" autoRev="1" fill="hold">
                                          <p:stCondLst>
                                            <p:cond delay="0"/>
                                          </p:stCondLst>
                                        </p:cTn>
                                        <p:tgtEl>
                                          <p:spTgt spid="18"/>
                                        </p:tgtEl>
                                        <p:attrNameLst>
                                          <p:attrName>ppt_x</p:attrName>
                                        </p:attrNameLst>
                                      </p:cBhvr>
                                    </p:anim>
                                    <p:anim from="(-#ppt_h/2)" to="(#ppt_y)" calcmode="lin" valueType="num">
                                      <p:cBhvr>
                                        <p:cTn id="21" dur="1000" fill="hold">
                                          <p:stCondLst>
                                            <p:cond delay="0"/>
                                          </p:stCondLst>
                                        </p:cTn>
                                        <p:tgtEl>
                                          <p:spTgt spid="18"/>
                                        </p:tgtEl>
                                        <p:attrNameLst>
                                          <p:attrName>ppt_y</p:attrName>
                                        </p:attrNameLst>
                                      </p:cBhvr>
                                    </p:anim>
                                    <p:animRot by="21600000">
                                      <p:cBhvr>
                                        <p:cTn id="22" dur="1000" fill="hold">
                                          <p:stCondLst>
                                            <p:cond delay="0"/>
                                          </p:stCondLst>
                                        </p:cTn>
                                        <p:tgtEl>
                                          <p:spTgt spid="18"/>
                                        </p:tgtEl>
                                        <p:attrNameLst>
                                          <p:attrName>r</p:attrName>
                                        </p:attrNameLst>
                                      </p:cBhvr>
                                    </p:animRot>
                                  </p:childTnLst>
                                </p:cTn>
                              </p:par>
                              <p:par>
                                <p:cTn id="23" presetID="56" presetClass="entr" presetSubtype="0" fill="hold" grpId="0" nodeType="with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by="(-#ppt_w*2)" calcmode="lin" valueType="num">
                                      <p:cBhvr rctx="PPT">
                                        <p:cTn id="25" dur="500" autoRev="1" fill="hold">
                                          <p:stCondLst>
                                            <p:cond delay="0"/>
                                          </p:stCondLst>
                                        </p:cTn>
                                        <p:tgtEl>
                                          <p:spTgt spid="19"/>
                                        </p:tgtEl>
                                        <p:attrNameLst>
                                          <p:attrName>ppt_w</p:attrName>
                                        </p:attrNameLst>
                                      </p:cBhvr>
                                    </p:anim>
                                    <p:anim by="(#ppt_w*0.50)" calcmode="lin" valueType="num">
                                      <p:cBhvr>
                                        <p:cTn id="26" dur="500" decel="50000" autoRev="1" fill="hold">
                                          <p:stCondLst>
                                            <p:cond delay="0"/>
                                          </p:stCondLst>
                                        </p:cTn>
                                        <p:tgtEl>
                                          <p:spTgt spid="19"/>
                                        </p:tgtEl>
                                        <p:attrNameLst>
                                          <p:attrName>ppt_x</p:attrName>
                                        </p:attrNameLst>
                                      </p:cBhvr>
                                    </p:anim>
                                    <p:anim from="(-#ppt_h/2)" to="(#ppt_y)" calcmode="lin" valueType="num">
                                      <p:cBhvr>
                                        <p:cTn id="27" dur="1000" fill="hold">
                                          <p:stCondLst>
                                            <p:cond delay="0"/>
                                          </p:stCondLst>
                                        </p:cTn>
                                        <p:tgtEl>
                                          <p:spTgt spid="19"/>
                                        </p:tgtEl>
                                        <p:attrNameLst>
                                          <p:attrName>ppt_y</p:attrName>
                                        </p:attrNameLst>
                                      </p:cBhvr>
                                    </p:anim>
                                    <p:animRot by="21600000">
                                      <p:cBhvr>
                                        <p:cTn id="28" dur="1000" fill="hold">
                                          <p:stCondLst>
                                            <p:cond delay="0"/>
                                          </p:stCondLst>
                                        </p:cTn>
                                        <p:tgtEl>
                                          <p:spTgt spid="19"/>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ppt_w</p:attrName>
                                        </p:attrNameLst>
                                      </p:cBhvr>
                                      <p:tavLst>
                                        <p:tav tm="0">
                                          <p:val>
                                            <p:fltVal val="0"/>
                                          </p:val>
                                        </p:tav>
                                        <p:tav tm="100000">
                                          <p:val>
                                            <p:strVal val="#ppt_w"/>
                                          </p:val>
                                        </p:tav>
                                      </p:tavLst>
                                    </p:anim>
                                    <p:anim calcmode="lin" valueType="num">
                                      <p:cBhvr>
                                        <p:cTn id="44" dur="500" fill="hold"/>
                                        <p:tgtEl>
                                          <p:spTgt spid="24"/>
                                        </p:tgtEl>
                                        <p:attrNameLst>
                                          <p:attrName>ppt_h</p:attrName>
                                        </p:attrNameLst>
                                      </p:cBhvr>
                                      <p:tavLst>
                                        <p:tav tm="0">
                                          <p:val>
                                            <p:fltVal val="0"/>
                                          </p:val>
                                        </p:tav>
                                        <p:tav tm="100000">
                                          <p:val>
                                            <p:strVal val="#ppt_h"/>
                                          </p:val>
                                        </p:tav>
                                      </p:tavLst>
                                    </p:anim>
                                    <p:animEffect transition="in" filter="fade">
                                      <p:cBhvr>
                                        <p:cTn id="45" dur="500"/>
                                        <p:tgtEl>
                                          <p:spTgt spid="2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p:cTn id="53" dur="500" fill="hold"/>
                                        <p:tgtEl>
                                          <p:spTgt spid="28"/>
                                        </p:tgtEl>
                                        <p:attrNameLst>
                                          <p:attrName>ppt_w</p:attrName>
                                        </p:attrNameLst>
                                      </p:cBhvr>
                                      <p:tavLst>
                                        <p:tav tm="0">
                                          <p:val>
                                            <p:fltVal val="0"/>
                                          </p:val>
                                        </p:tav>
                                        <p:tav tm="100000">
                                          <p:val>
                                            <p:strVal val="#ppt_w"/>
                                          </p:val>
                                        </p:tav>
                                      </p:tavLst>
                                    </p:anim>
                                    <p:anim calcmode="lin" valueType="num">
                                      <p:cBhvr>
                                        <p:cTn id="54" dur="500" fill="hold"/>
                                        <p:tgtEl>
                                          <p:spTgt spid="28"/>
                                        </p:tgtEl>
                                        <p:attrNameLst>
                                          <p:attrName>ppt_h</p:attrName>
                                        </p:attrNameLst>
                                      </p:cBhvr>
                                      <p:tavLst>
                                        <p:tav tm="0">
                                          <p:val>
                                            <p:fltVal val="0"/>
                                          </p:val>
                                        </p:tav>
                                        <p:tav tm="100000">
                                          <p:val>
                                            <p:strVal val="#ppt_h"/>
                                          </p:val>
                                        </p:tav>
                                      </p:tavLst>
                                    </p:anim>
                                    <p:animEffect transition="in" filter="fade">
                                      <p:cBhvr>
                                        <p:cTn id="55" dur="5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down)">
                                      <p:cBhvr>
                                        <p:cTn id="60" dur="500"/>
                                        <p:tgtEl>
                                          <p:spTgt spid="21"/>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down)">
                                      <p:cBhvr>
                                        <p:cTn id="66" dur="500"/>
                                        <p:tgtEl>
                                          <p:spTgt spid="25"/>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down)">
                                      <p:cBhvr>
                                        <p:cTn id="69" dur="500"/>
                                        <p:tgtEl>
                                          <p:spTgt spid="27"/>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 calcmode="lin" valueType="num">
                                      <p:cBhvr>
                                        <p:cTn id="75" dur="500" fill="hold"/>
                                        <p:tgtEl>
                                          <p:spTgt spid="29"/>
                                        </p:tgtEl>
                                        <p:attrNameLst>
                                          <p:attrName>ppt_w</p:attrName>
                                        </p:attrNameLst>
                                      </p:cBhvr>
                                      <p:tavLst>
                                        <p:tav tm="0">
                                          <p:val>
                                            <p:fltVal val="0"/>
                                          </p:val>
                                        </p:tav>
                                        <p:tav tm="100000">
                                          <p:val>
                                            <p:strVal val="#ppt_w"/>
                                          </p:val>
                                        </p:tav>
                                      </p:tavLst>
                                    </p:anim>
                                    <p:anim calcmode="lin" valueType="num">
                                      <p:cBhvr>
                                        <p:cTn id="76" dur="500" fill="hold"/>
                                        <p:tgtEl>
                                          <p:spTgt spid="29"/>
                                        </p:tgtEl>
                                        <p:attrNameLst>
                                          <p:attrName>ppt_h</p:attrName>
                                        </p:attrNameLst>
                                      </p:cBhvr>
                                      <p:tavLst>
                                        <p:tav tm="0">
                                          <p:val>
                                            <p:fltVal val="0"/>
                                          </p:val>
                                        </p:tav>
                                        <p:tav tm="100000">
                                          <p:val>
                                            <p:strVal val="#ppt_h"/>
                                          </p:val>
                                        </p:tav>
                                      </p:tavLst>
                                    </p:anim>
                                    <p:animEffect transition="in" filter="fade">
                                      <p:cBhvr>
                                        <p:cTn id="77" dur="500"/>
                                        <p:tgtEl>
                                          <p:spTgt spid="29"/>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 calcmode="lin" valueType="num">
                                      <p:cBhvr>
                                        <p:cTn id="80" dur="500" fill="hold"/>
                                        <p:tgtEl>
                                          <p:spTgt spid="32"/>
                                        </p:tgtEl>
                                        <p:attrNameLst>
                                          <p:attrName>ppt_w</p:attrName>
                                        </p:attrNameLst>
                                      </p:cBhvr>
                                      <p:tavLst>
                                        <p:tav tm="0">
                                          <p:val>
                                            <p:fltVal val="0"/>
                                          </p:val>
                                        </p:tav>
                                        <p:tav tm="100000">
                                          <p:val>
                                            <p:strVal val="#ppt_w"/>
                                          </p:val>
                                        </p:tav>
                                      </p:tavLst>
                                    </p:anim>
                                    <p:anim calcmode="lin" valueType="num">
                                      <p:cBhvr>
                                        <p:cTn id="81" dur="500" fill="hold"/>
                                        <p:tgtEl>
                                          <p:spTgt spid="32"/>
                                        </p:tgtEl>
                                        <p:attrNameLst>
                                          <p:attrName>ppt_h</p:attrName>
                                        </p:attrNameLst>
                                      </p:cBhvr>
                                      <p:tavLst>
                                        <p:tav tm="0">
                                          <p:val>
                                            <p:fltVal val="0"/>
                                          </p:val>
                                        </p:tav>
                                        <p:tav tm="100000">
                                          <p:val>
                                            <p:strVal val="#ppt_h"/>
                                          </p:val>
                                        </p:tav>
                                      </p:tavLst>
                                    </p:anim>
                                    <p:animEffect transition="in" filter="fade">
                                      <p:cBhvr>
                                        <p:cTn id="82" dur="500"/>
                                        <p:tgtEl>
                                          <p:spTgt spid="32"/>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wipe(down)">
                                      <p:cBhvr>
                                        <p:cTn id="85" dur="500"/>
                                        <p:tgtEl>
                                          <p:spTgt spid="30"/>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wipe(down)">
                                      <p:cBhvr>
                                        <p:cTn id="8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p:bldP spid="22" grpId="0" animBg="1"/>
      <p:bldP spid="23" grpId="0"/>
      <p:bldP spid="24" grpId="0" animBg="1"/>
      <p:bldP spid="25" grpId="0"/>
      <p:bldP spid="26" grpId="0" animBg="1"/>
      <p:bldP spid="27" grpId="0"/>
      <p:bldP spid="18" grpId="0"/>
      <p:bldP spid="19" grpId="0"/>
      <p:bldP spid="16" grpId="0" animBg="1"/>
      <p:bldP spid="17" grpId="0"/>
      <p:bldP spid="28" grpId="0" animBg="1"/>
      <p:bldP spid="29" grpId="0" animBg="1"/>
      <p:bldP spid="30" grpId="0"/>
      <p:bldP spid="31" grpId="0"/>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学习导引</a:t>
            </a:r>
          </a:p>
        </p:txBody>
      </p:sp>
      <p:graphicFrame>
        <p:nvGraphicFramePr>
          <p:cNvPr id="4" name="内容占位符 1">
            <a:extLst>
              <a:ext uri="{FF2B5EF4-FFF2-40B4-BE49-F238E27FC236}">
                <a16:creationId xmlns:a16="http://schemas.microsoft.com/office/drawing/2014/main" id="{DB1F3D57-CE80-4623-9D0B-60A57A9ED33F}"/>
              </a:ext>
            </a:extLst>
          </p:cNvPr>
          <p:cNvGraphicFramePr>
            <a:graphicFrameLocks/>
          </p:cNvGraphicFramePr>
          <p:nvPr>
            <p:extLst>
              <p:ext uri="{D42A27DB-BD31-4B8C-83A1-F6EECF244321}">
                <p14:modId xmlns:p14="http://schemas.microsoft.com/office/powerpoint/2010/main" val="1958071051"/>
              </p:ext>
            </p:extLst>
          </p:nvPr>
        </p:nvGraphicFramePr>
        <p:xfrm>
          <a:off x="0" y="22860"/>
          <a:ext cx="9144000" cy="5120640"/>
        </p:xfrm>
        <a:graphic>
          <a:graphicData uri="http://schemas.openxmlformats.org/drawingml/2006/table">
            <a:tbl>
              <a:tblPr/>
              <a:tblGrid>
                <a:gridCol w="884904">
                  <a:extLst>
                    <a:ext uri="{9D8B030D-6E8A-4147-A177-3AD203B41FA5}">
                      <a16:colId xmlns:a16="http://schemas.microsoft.com/office/drawing/2014/main" val="20000"/>
                    </a:ext>
                  </a:extLst>
                </a:gridCol>
                <a:gridCol w="8259096">
                  <a:extLst>
                    <a:ext uri="{9D8B030D-6E8A-4147-A177-3AD203B41FA5}">
                      <a16:colId xmlns:a16="http://schemas.microsoft.com/office/drawing/2014/main" val="20001"/>
                    </a:ext>
                  </a:extLst>
                </a:gridCol>
              </a:tblGrid>
              <a:tr h="1376558">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知识单元与知识点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密码学在物联网安全中的作用</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密码系统的组成与分类、分组密码的操作模式、安全模型</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对称密码体制与算法（</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AES</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SM4</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ZUC</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非对称密码体制与算法（</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RSA</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ECC</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SM2</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杂凑函数、杂凑算法与消息认证</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数字签名的特殊性和要求、数字签名方案、数字签名标准（</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DSA</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密钥管理系统、</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DH</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密钥协商算法、密钥的分发</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085145">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能力点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密码学在物联网安全中作用和密码学相关概念的理解，对密码系统的组成与分类、分组密码的操作模式、安全模型的把握，对对称密码算法和非对称密码算法的了解，对杂凑算法、数字签名方案及数字签名标准的熟悉，对密钥管理系统、</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DH</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密钥协商算法、密钥分发方法的了解，形成知识应用能力、现代密码工具使用能力、管理决策能力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基于交流与微思考，形成沟通表达能力、问题分析能力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基于学习拓展与探究式研讨，形成知识应用能力、问题分析能力、设计开发能力、终身学习能力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基于复杂工程问题实践，形成问题分析能力、设计开发能力、工程研究与创新能力</a:t>
                      </a:r>
                      <a:endPar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1"/>
                  </a:ext>
                </a:extLst>
              </a:tr>
              <a:tr h="620083">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重难点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重点：密码学在物联网安全中的作用、密码系统的组成与分类、安全模型；对称密码体制；非对称密码体制；杂凑函数、消息认证；数字签名的特殊性与要求、数字签名方案</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难点：分组密码的操作模式；对称密码算法（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AES</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SM4</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ZUC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）；非对称密码算法（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RSA</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ECC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SM2)</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；杂凑算法；数字签名标准；密钥管理</a:t>
                      </a:r>
                      <a:endPar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2"/>
                  </a:ext>
                </a:extLst>
              </a:tr>
              <a:tr h="930124">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学习要求</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理解密码学在物联网安全中的作用</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熟练掌握杂凑函数、对称密码体制、非对称密码体制、数字签名、消息认证、密钥管理等概念</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理解密码系统的组成与分类、分组密码的操作模式、安全模型</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了解对称密码算法（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ASE</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SM4</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ZUC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）和非对称密码算法（</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RSA</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ECC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SM2</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理解杂凑算法、数字签名方案及数字签名标准（</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DSA</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DH</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密钥协商算法、密钥分发方法</a:t>
                      </a:r>
                      <a:endParaRPr kumimoji="0" lang="zh-CN"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984099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094995"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第一部分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密码学基础</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01</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01</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405975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密码学（</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cryptology</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                     和                      的统称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
        <p:nvSpPr>
          <p:cNvPr id="3" name="文本框 2">
            <a:extLst>
              <a:ext uri="{FF2B5EF4-FFF2-40B4-BE49-F238E27FC236}">
                <a16:creationId xmlns:a16="http://schemas.microsoft.com/office/drawing/2014/main" id="{0806867D-202B-5714-DB92-50E29AB059F6}"/>
              </a:ext>
            </a:extLst>
          </p:cNvPr>
          <p:cNvSpPr txBox="1"/>
          <p:nvPr/>
        </p:nvSpPr>
        <p:spPr>
          <a:xfrm>
            <a:off x="3635896" y="843558"/>
            <a:ext cx="1493912" cy="400110"/>
          </a:xfrm>
          <a:prstGeom prst="rect">
            <a:avLst/>
          </a:prstGeom>
          <a:noFill/>
        </p:spPr>
        <p:txBody>
          <a:bodyPr wrap="square">
            <a:spAutoFit/>
          </a:bodyPr>
          <a:lstStyle/>
          <a:p>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密码编码学</a:t>
            </a:r>
            <a:endParaRPr lang="zh-CN" altLang="en-US" sz="2000" dirty="0"/>
          </a:p>
        </p:txBody>
      </p:sp>
      <p:sp>
        <p:nvSpPr>
          <p:cNvPr id="5" name="文本框 4">
            <a:extLst>
              <a:ext uri="{FF2B5EF4-FFF2-40B4-BE49-F238E27FC236}">
                <a16:creationId xmlns:a16="http://schemas.microsoft.com/office/drawing/2014/main" id="{02A19908-1672-2B3B-DECE-DC8005AE3CF9}"/>
              </a:ext>
            </a:extLst>
          </p:cNvPr>
          <p:cNvSpPr txBox="1"/>
          <p:nvPr/>
        </p:nvSpPr>
        <p:spPr>
          <a:xfrm>
            <a:off x="5310336" y="842400"/>
            <a:ext cx="1493912" cy="400110"/>
          </a:xfrm>
          <a:prstGeom prst="rect">
            <a:avLst/>
          </a:prstGeom>
          <a:noFill/>
        </p:spPr>
        <p:txBody>
          <a:bodyPr wrap="square">
            <a:spAutoFit/>
          </a:bodyPr>
          <a:lstStyle/>
          <a:p>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密码分析学</a:t>
            </a:r>
            <a:endParaRPr lang="zh-CN" altLang="en-US" sz="2000" dirty="0"/>
          </a:p>
        </p:txBody>
      </p:sp>
      <p:sp>
        <p:nvSpPr>
          <p:cNvPr id="7" name="文本框 6">
            <a:extLst>
              <a:ext uri="{FF2B5EF4-FFF2-40B4-BE49-F238E27FC236}">
                <a16:creationId xmlns:a16="http://schemas.microsoft.com/office/drawing/2014/main" id="{456E5074-B5DC-FCBE-A293-B22F3AEA8F2B}"/>
              </a:ext>
            </a:extLst>
          </p:cNvPr>
          <p:cNvSpPr txBox="1"/>
          <p:nvPr/>
        </p:nvSpPr>
        <p:spPr>
          <a:xfrm>
            <a:off x="611560" y="1275606"/>
            <a:ext cx="8064896" cy="1146917"/>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通过变换消息使其保密的科学和艺术叫做</a:t>
            </a:r>
            <a:r>
              <a:rPr lang="zh-CN" altLang="en-US" b="1" dirty="0">
                <a:solidFill>
                  <a:srgbClr val="E55D01"/>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密码编码学</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cryptography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），密码编码学是密码体制的设计学，即怎样编码，采用什么样的密码体制以保证信息被安全地加密</a:t>
            </a:r>
          </a:p>
        </p:txBody>
      </p:sp>
      <p:sp>
        <p:nvSpPr>
          <p:cNvPr id="9" name="文本框 8">
            <a:extLst>
              <a:ext uri="{FF2B5EF4-FFF2-40B4-BE49-F238E27FC236}">
                <a16:creationId xmlns:a16="http://schemas.microsoft.com/office/drawing/2014/main" id="{307F61D8-381E-D962-8836-D99FBC0F1513}"/>
              </a:ext>
            </a:extLst>
          </p:cNvPr>
          <p:cNvSpPr txBox="1"/>
          <p:nvPr/>
        </p:nvSpPr>
        <p:spPr>
          <a:xfrm>
            <a:off x="611560" y="2454461"/>
            <a:ext cx="7776864"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密码分析学</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cryptanalysis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）就是破译密文的科学和艺术。密码分析学是在未知密钥的情况下从密文推演出明文或密钥的艺术</a:t>
            </a:r>
          </a:p>
        </p:txBody>
      </p:sp>
      <p:sp>
        <p:nvSpPr>
          <p:cNvPr id="11" name="文本框 10">
            <a:extLst>
              <a:ext uri="{FF2B5EF4-FFF2-40B4-BE49-F238E27FC236}">
                <a16:creationId xmlns:a16="http://schemas.microsoft.com/office/drawing/2014/main" id="{C92F9580-514F-496A-A896-D2E0CA359DEE}"/>
              </a:ext>
            </a:extLst>
          </p:cNvPr>
          <p:cNvSpPr txBox="1"/>
          <p:nvPr/>
        </p:nvSpPr>
        <p:spPr>
          <a:xfrm>
            <a:off x="611560" y="3457149"/>
            <a:ext cx="8064896" cy="1661865"/>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密码技术</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是实现网络信息安全的核心技术，通过密码算法的加密变换，将可读的文件（明文）变换成不可理解的乱码（密文），从而起到保护信息和数据的作用。</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它直接支持机密性、完整性和非否认性等安全服务</a:t>
            </a:r>
            <a:endParaRPr lang="zh-CN" altLang="en-US" sz="20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21100489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1+#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out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outHorizont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7" grpId="0"/>
      <p:bldP spid="3" grpId="0"/>
      <p:bldP spid="7" grpId="0"/>
      <p:bldP spid="9"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804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安全服务</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是加强数据处理系统和信息传输安全性的一类服务，其目的在于利用一种或多种安全机制阻止安全攻击</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物联网系统通常需要的安全服务：</a:t>
            </a:r>
            <a:r>
              <a:rPr lang="zh-CN" altLang="en-US"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机密性、完整性、鉴别、非否认性、访问控制、可用性</a:t>
            </a:r>
            <a:endParaRPr lang="en-US" altLang="zh-CN"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、机密性（</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Confidentiality</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机密性是信息不泄露给非授权的用户、实体或过程，或供其利用的特性，是信息安全最基本的需求</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机密性可保护数据免受被动攻击</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191284928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76082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对于消息内容的析出</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机密性能够确定不同层次的保护，如广义保护可以防止一段时间内两个用户之间传输的所有用户数据被泄露，狭义保护可以保护单一消息中某个特定字段的内容。</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对于通信量分析</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机密性要求一个攻击不能在通信设施上观察到通信量的源端和目的端、通信频度、通信量长度或其他特征。</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3883686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72966"/>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、完整性</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(Integrity)</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完整性是数据未经授权不能进行改变的特性，即信息在存储或传输过程中不被修改、不被插入或删除的特性</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它保证收到的数据的确是授权实体所发出的数据</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完整性服务旨在防止以某种违反安全策略的方式改变数据的价值和存在的威胁</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面向连接的完整性服务用于处理消息流的篡改和拒绝服务，它能确保接收到的消息如同发送的消息一样，没有冗余、插入、篡改、重排序或延迟，也包括数据的销毁</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无连接的完整性服务用于处理单个无连接消息，通常只保护消息免受篡改</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4511579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165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违反完整性不一定是恶意行为的结果，系统的中断（如电力方面的浪涌）也可能造成某些信息意想不到的改变</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对数据完整性的破坏通常只关注检测而不关注防止，一旦检测到数据完整性被破坏就报告并采取适当的恢复措施</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37090723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95912"/>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、鉴别</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(Authentication)</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也叫认证，用于确保一个消息的来源或消息本身被正确地标识，同时确保该标识没有被伪造</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鉴别服务关注确保一个通信是真实可信的，分为实体认证和数据源认证。</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对于单个消息而言，鉴别服务要求能向接收方保证该消息确实来自于它所宣称的源方，即数据源认证。数据源认证主要用于无连接的通信</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实体认证是指对于通信的双方而言，鉴别服务要求在连接发起时能确保这两个实体是可信的，即每个实体的确是它宣称的那个实体。实体认证主要用于面向连接的通信</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662494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55737"/>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、非否认性</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(Non-repudiation)</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也叫不可抵赖性。是防止发送方或接收方抵赖所传输的消息</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当发送一个消息时，接收方能够提供源方证据以证实该消息的确是由所宣称的发送方发来的（源非否认性）</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当接收方收到一个消息时，发送方能够提供投递证据以证实该消息的确送到了指定的接收方（宿非否认性）</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19960914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50019"/>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(Access Control) </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是限制或控制经通信链路对主机系统和应用程序等系统资源进行访问的能力。防止对任何资源（如计算资源、通信资源或信息资源）进行未授权的访问，即未经授权地读、写、使用、泄露、修改、销毁以及颁发指令等</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访问控制直接支持机密性、完整性以及合法使用等安全目标。控制的实现方式是认证。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访问控制是实施授权的一种方法。通常有两种方法：</a:t>
            </a:r>
          </a:p>
          <a:p>
            <a:pPr marL="342900" indent="-342900">
              <a:lnSpc>
                <a:spcPct val="130000"/>
              </a:lnSpc>
              <a:spcBef>
                <a:spcPts val="300"/>
              </a:spcBef>
              <a:spcAft>
                <a:spcPts val="300"/>
              </a:spcAft>
              <a:buFont typeface="+mj-ea"/>
              <a:buAutoNum type="circleNumDbPlain"/>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访问请求过滤：</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当一个发起者试图访问一个目标时，需要检查发起者是否被准予访问目标（由控制策略决定）</a:t>
            </a:r>
          </a:p>
          <a:p>
            <a:pPr marL="342900" indent="-342900">
              <a:lnSpc>
                <a:spcPct val="130000"/>
              </a:lnSpc>
              <a:spcBef>
                <a:spcPts val="300"/>
              </a:spcBef>
              <a:spcAft>
                <a:spcPts val="300"/>
              </a:spcAft>
              <a:buFont typeface="+mj-ea"/>
              <a:buAutoNum type="circleNumDbPlain"/>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隔离：</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从物理上防止非授权用户有机会访问敏感的目标</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5719890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78793"/>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、可用性</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(Availability)</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可用性是可被授权实体访问并按需求使用的特性，即要求网络信息系统的有用资源在需要时可为授权各方使用，保证合法用户对信息和资源的使用不会被不正当地拒绝</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例如网络环境下拒绝服务、破坏网络和有关系统的正常运行等都是对可用性的攻击</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密码学在物联网安全中的作用</a:t>
            </a:r>
          </a:p>
        </p:txBody>
      </p:sp>
    </p:spTree>
    <p:extLst>
      <p:ext uri="{BB962C8B-B14F-4D97-AF65-F5344CB8AC3E}">
        <p14:creationId xmlns:p14="http://schemas.microsoft.com/office/powerpoint/2010/main" val="369562107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5348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密码系统（</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cryptosystem</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是用于加密与解密的系统，就是明文与加密密钥作为加密变换的输入参数，经过一定的加密变换处理以后得到输出的密文，或者基于密文与解密密钥，经过解密变换恢复明文</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
        <p:nvSpPr>
          <p:cNvPr id="3" name="文本框 2">
            <a:extLst>
              <a:ext uri="{FF2B5EF4-FFF2-40B4-BE49-F238E27FC236}">
                <a16:creationId xmlns:a16="http://schemas.microsoft.com/office/drawing/2014/main" id="{46BA9CE2-0F30-D75F-3D4C-094969B16E35}"/>
              </a:ext>
            </a:extLst>
          </p:cNvPr>
          <p:cNvSpPr txBox="1"/>
          <p:nvPr/>
        </p:nvSpPr>
        <p:spPr>
          <a:xfrm>
            <a:off x="611560" y="2172197"/>
            <a:ext cx="8208912" cy="1253485"/>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一个密码系统涉及到用来提供信息安全服务的一组密码基础要素，由</a:t>
            </a:r>
            <a:r>
              <a:rPr lang="zh-CN" altLang="en-US"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加密算法、解密算法、所有可能的明文、密文、密钥</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以及信源、信宿和攻击者（或敌手）等组成</a:t>
            </a:r>
          </a:p>
        </p:txBody>
      </p:sp>
    </p:spTree>
    <p:extLst>
      <p:ext uri="{BB962C8B-B14F-4D97-AF65-F5344CB8AC3E}">
        <p14:creationId xmlns:p14="http://schemas.microsoft.com/office/powerpoint/2010/main" val="20661927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randombar(vertical)">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randombar(vertic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7"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6519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密码体制</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消息在密码学中被称为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明文</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伪装消息以隐藏它的内容的过程称为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被加密的消息称为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密文</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把密文转变为明文的过程称为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解密</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参与密码变换的参数称为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
        <p:nvSpPr>
          <p:cNvPr id="5" name="矩形 4">
            <a:extLst>
              <a:ext uri="{FF2B5EF4-FFF2-40B4-BE49-F238E27FC236}">
                <a16:creationId xmlns:a16="http://schemas.microsoft.com/office/drawing/2014/main" id="{920BBCB8-364F-44E0-AC23-B8EB54161DA5}"/>
              </a:ext>
            </a:extLst>
          </p:cNvPr>
          <p:cNvSpPr/>
          <p:nvPr/>
        </p:nvSpPr>
        <p:spPr>
          <a:xfrm>
            <a:off x="805507" y="3812620"/>
            <a:ext cx="3096344" cy="1083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D5C95DC-9474-44D0-A6C0-77C981007246}"/>
              </a:ext>
            </a:extLst>
          </p:cNvPr>
          <p:cNvSpPr/>
          <p:nvPr/>
        </p:nvSpPr>
        <p:spPr>
          <a:xfrm>
            <a:off x="949523" y="3957157"/>
            <a:ext cx="2808312" cy="79156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7" name="流程图: 文档 6">
            <a:extLst>
              <a:ext uri="{FF2B5EF4-FFF2-40B4-BE49-F238E27FC236}">
                <a16:creationId xmlns:a16="http://schemas.microsoft.com/office/drawing/2014/main" id="{E020B816-BA68-4AA7-B890-DD236BB61093}"/>
              </a:ext>
            </a:extLst>
          </p:cNvPr>
          <p:cNvSpPr/>
          <p:nvPr/>
        </p:nvSpPr>
        <p:spPr>
          <a:xfrm>
            <a:off x="1088136" y="4095945"/>
            <a:ext cx="576064" cy="513989"/>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明文</a:t>
            </a:r>
          </a:p>
        </p:txBody>
      </p:sp>
      <p:sp>
        <p:nvSpPr>
          <p:cNvPr id="8" name="矩形 7">
            <a:extLst>
              <a:ext uri="{FF2B5EF4-FFF2-40B4-BE49-F238E27FC236}">
                <a16:creationId xmlns:a16="http://schemas.microsoft.com/office/drawing/2014/main" id="{E9A9E820-5795-4D74-A72B-3602B03228AC}"/>
              </a:ext>
            </a:extLst>
          </p:cNvPr>
          <p:cNvSpPr/>
          <p:nvPr/>
        </p:nvSpPr>
        <p:spPr>
          <a:xfrm>
            <a:off x="2081030" y="4095945"/>
            <a:ext cx="576064"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加密</a:t>
            </a:r>
          </a:p>
        </p:txBody>
      </p:sp>
      <p:sp>
        <p:nvSpPr>
          <p:cNvPr id="11" name="流程图: 文档 10">
            <a:extLst>
              <a:ext uri="{FF2B5EF4-FFF2-40B4-BE49-F238E27FC236}">
                <a16:creationId xmlns:a16="http://schemas.microsoft.com/office/drawing/2014/main" id="{3D53BFFA-394E-472D-BB35-7CAC5F9D7742}"/>
              </a:ext>
            </a:extLst>
          </p:cNvPr>
          <p:cNvSpPr/>
          <p:nvPr/>
        </p:nvSpPr>
        <p:spPr>
          <a:xfrm flipH="1">
            <a:off x="3073925" y="4095945"/>
            <a:ext cx="576064" cy="513989"/>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密文</a:t>
            </a:r>
          </a:p>
        </p:txBody>
      </p:sp>
      <p:cxnSp>
        <p:nvCxnSpPr>
          <p:cNvPr id="10" name="直接箭头连接符 9">
            <a:extLst>
              <a:ext uri="{FF2B5EF4-FFF2-40B4-BE49-F238E27FC236}">
                <a16:creationId xmlns:a16="http://schemas.microsoft.com/office/drawing/2014/main" id="{21399F4F-D886-4FCB-BB4F-9F6FD6762E2D}"/>
              </a:ext>
            </a:extLst>
          </p:cNvPr>
          <p:cNvCxnSpPr>
            <a:cxnSpLocks/>
          </p:cNvCxnSpPr>
          <p:nvPr/>
        </p:nvCxnSpPr>
        <p:spPr>
          <a:xfrm>
            <a:off x="1669603" y="4311969"/>
            <a:ext cx="39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a:extLst>
              <a:ext uri="{FF2B5EF4-FFF2-40B4-BE49-F238E27FC236}">
                <a16:creationId xmlns:a16="http://schemas.microsoft.com/office/drawing/2014/main" id="{69CBA1AF-5825-4319-B75E-F8E73C962BC8}"/>
              </a:ext>
            </a:extLst>
          </p:cNvPr>
          <p:cNvCxnSpPr>
            <a:cxnSpLocks/>
          </p:cNvCxnSpPr>
          <p:nvPr/>
        </p:nvCxnSpPr>
        <p:spPr>
          <a:xfrm>
            <a:off x="2677715" y="4316676"/>
            <a:ext cx="39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减号 15">
            <a:extLst>
              <a:ext uri="{FF2B5EF4-FFF2-40B4-BE49-F238E27FC236}">
                <a16:creationId xmlns:a16="http://schemas.microsoft.com/office/drawing/2014/main" id="{BE9ACDAF-B414-43F8-8FE0-0AD5A78B0F69}"/>
              </a:ext>
            </a:extLst>
          </p:cNvPr>
          <p:cNvSpPr/>
          <p:nvPr/>
        </p:nvSpPr>
        <p:spPr>
          <a:xfrm rot="5400000">
            <a:off x="2011679" y="3722648"/>
            <a:ext cx="684000" cy="216024"/>
          </a:xfrm>
          <a:prstGeom prst="mathMinus">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158B76F3-4833-4577-ACA5-A7F9BE830C37}"/>
              </a:ext>
            </a:extLst>
          </p:cNvPr>
          <p:cNvGrpSpPr/>
          <p:nvPr/>
        </p:nvGrpSpPr>
        <p:grpSpPr>
          <a:xfrm>
            <a:off x="2245667" y="3320734"/>
            <a:ext cx="216024" cy="793083"/>
            <a:chOff x="2195736" y="2871952"/>
            <a:chExt cx="216024" cy="793083"/>
          </a:xfrm>
        </p:grpSpPr>
        <p:sp>
          <p:nvSpPr>
            <p:cNvPr id="13" name="圆: 空心 12">
              <a:extLst>
                <a:ext uri="{FF2B5EF4-FFF2-40B4-BE49-F238E27FC236}">
                  <a16:creationId xmlns:a16="http://schemas.microsoft.com/office/drawing/2014/main" id="{0492CA1F-8D8B-4B40-A46F-994FCDB1AD9C}"/>
                </a:ext>
              </a:extLst>
            </p:cNvPr>
            <p:cNvSpPr/>
            <p:nvPr/>
          </p:nvSpPr>
          <p:spPr>
            <a:xfrm>
              <a:off x="2195736" y="2967534"/>
              <a:ext cx="216024" cy="216024"/>
            </a:xfrm>
            <a:prstGeom prst="donu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a:extLst>
                <a:ext uri="{FF2B5EF4-FFF2-40B4-BE49-F238E27FC236}">
                  <a16:creationId xmlns:a16="http://schemas.microsoft.com/office/drawing/2014/main" id="{B64E672C-F276-41F9-BF84-F573A50084F3}"/>
                </a:ext>
              </a:extLst>
            </p:cNvPr>
            <p:cNvSpPr/>
            <p:nvPr/>
          </p:nvSpPr>
          <p:spPr>
            <a:xfrm>
              <a:off x="2240303" y="2871952"/>
              <a:ext cx="131393" cy="1313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减号 19">
              <a:extLst>
                <a:ext uri="{FF2B5EF4-FFF2-40B4-BE49-F238E27FC236}">
                  <a16:creationId xmlns:a16="http://schemas.microsoft.com/office/drawing/2014/main" id="{0FFB08E1-9BB8-4A6D-81D8-58DF50A17AC8}"/>
                </a:ext>
              </a:extLst>
            </p:cNvPr>
            <p:cNvSpPr/>
            <p:nvPr/>
          </p:nvSpPr>
          <p:spPr>
            <a:xfrm rot="10800000">
              <a:off x="2255197" y="3449011"/>
              <a:ext cx="144000" cy="216024"/>
            </a:xfrm>
            <a:prstGeom prst="mathMinus">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a:extLst>
              <a:ext uri="{FF2B5EF4-FFF2-40B4-BE49-F238E27FC236}">
                <a16:creationId xmlns:a16="http://schemas.microsoft.com/office/drawing/2014/main" id="{362C4BC0-16D9-47D5-BEDE-4391AC25C00C}"/>
              </a:ext>
            </a:extLst>
          </p:cNvPr>
          <p:cNvSpPr txBox="1"/>
          <p:nvPr/>
        </p:nvSpPr>
        <p:spPr>
          <a:xfrm>
            <a:off x="2064172" y="3049696"/>
            <a:ext cx="915483" cy="307777"/>
          </a:xfrm>
          <a:prstGeom prst="rect">
            <a:avLst/>
          </a:prstGeom>
          <a:noFill/>
        </p:spPr>
        <p:txBody>
          <a:bodyPr wrap="square" rtlCol="0">
            <a:spAutoFit/>
          </a:bodyPr>
          <a:lstStyle/>
          <a:p>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密钥</a:t>
            </a:r>
            <a:r>
              <a:rPr lang="en-US" altLang="zh-CN" sz="1400" dirty="0" err="1">
                <a:latin typeface="Times New Roman" panose="02020603050405020304" pitchFamily="18" charset="0"/>
                <a:ea typeface="华文楷体" panose="02010600040101010101" pitchFamily="2" charset="-122"/>
                <a:cs typeface="Times New Roman" panose="02020603050405020304" pitchFamily="18" charset="0"/>
              </a:rPr>
              <a:t>ke</a:t>
            </a:r>
            <a:endParaRPr lang="zh-CN" altLang="en-US" sz="1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矩形 21">
            <a:extLst>
              <a:ext uri="{FF2B5EF4-FFF2-40B4-BE49-F238E27FC236}">
                <a16:creationId xmlns:a16="http://schemas.microsoft.com/office/drawing/2014/main" id="{92EF1F29-DE28-4188-A6A5-2481267D7CF8}"/>
              </a:ext>
            </a:extLst>
          </p:cNvPr>
          <p:cNvSpPr/>
          <p:nvPr/>
        </p:nvSpPr>
        <p:spPr>
          <a:xfrm>
            <a:off x="5076056" y="3812620"/>
            <a:ext cx="3096344" cy="1083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09319B5-14CE-4B74-AA87-4AB1638EB340}"/>
              </a:ext>
            </a:extLst>
          </p:cNvPr>
          <p:cNvSpPr/>
          <p:nvPr/>
        </p:nvSpPr>
        <p:spPr>
          <a:xfrm>
            <a:off x="5220072" y="3957157"/>
            <a:ext cx="2808312" cy="79156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4" name="流程图: 文档 23">
            <a:extLst>
              <a:ext uri="{FF2B5EF4-FFF2-40B4-BE49-F238E27FC236}">
                <a16:creationId xmlns:a16="http://schemas.microsoft.com/office/drawing/2014/main" id="{80B93940-4D66-4313-8FD0-33A5E8703062}"/>
              </a:ext>
            </a:extLst>
          </p:cNvPr>
          <p:cNvSpPr/>
          <p:nvPr/>
        </p:nvSpPr>
        <p:spPr>
          <a:xfrm>
            <a:off x="5358685" y="4095945"/>
            <a:ext cx="576064" cy="513989"/>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密文</a:t>
            </a:r>
          </a:p>
        </p:txBody>
      </p:sp>
      <p:sp>
        <p:nvSpPr>
          <p:cNvPr id="25" name="矩形 24">
            <a:extLst>
              <a:ext uri="{FF2B5EF4-FFF2-40B4-BE49-F238E27FC236}">
                <a16:creationId xmlns:a16="http://schemas.microsoft.com/office/drawing/2014/main" id="{90B37E5E-1798-4983-8451-3D88C36B8E94}"/>
              </a:ext>
            </a:extLst>
          </p:cNvPr>
          <p:cNvSpPr/>
          <p:nvPr/>
        </p:nvSpPr>
        <p:spPr>
          <a:xfrm>
            <a:off x="6351579" y="4095945"/>
            <a:ext cx="576064"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解密</a:t>
            </a:r>
          </a:p>
        </p:txBody>
      </p:sp>
      <p:sp>
        <p:nvSpPr>
          <p:cNvPr id="26" name="流程图: 文档 25">
            <a:extLst>
              <a:ext uri="{FF2B5EF4-FFF2-40B4-BE49-F238E27FC236}">
                <a16:creationId xmlns:a16="http://schemas.microsoft.com/office/drawing/2014/main" id="{E15307FD-9073-4F86-99E1-C6528C2B45A0}"/>
              </a:ext>
            </a:extLst>
          </p:cNvPr>
          <p:cNvSpPr/>
          <p:nvPr/>
        </p:nvSpPr>
        <p:spPr>
          <a:xfrm flipH="1">
            <a:off x="7344474" y="4095945"/>
            <a:ext cx="576064" cy="513989"/>
          </a:xfrm>
          <a:prstGeom prst="flowChartDocument">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400" dirty="0">
                <a:latin typeface="华文楷体" panose="02010600040101010101" pitchFamily="2" charset="-122"/>
                <a:ea typeface="华文楷体" panose="02010600040101010101" pitchFamily="2" charset="-122"/>
              </a:rPr>
              <a:t>明文</a:t>
            </a:r>
          </a:p>
        </p:txBody>
      </p:sp>
      <p:cxnSp>
        <p:nvCxnSpPr>
          <p:cNvPr id="27" name="直接箭头连接符 26">
            <a:extLst>
              <a:ext uri="{FF2B5EF4-FFF2-40B4-BE49-F238E27FC236}">
                <a16:creationId xmlns:a16="http://schemas.microsoft.com/office/drawing/2014/main" id="{82D06FF3-3705-40A6-9005-135B520A3537}"/>
              </a:ext>
            </a:extLst>
          </p:cNvPr>
          <p:cNvCxnSpPr>
            <a:cxnSpLocks/>
          </p:cNvCxnSpPr>
          <p:nvPr/>
        </p:nvCxnSpPr>
        <p:spPr>
          <a:xfrm>
            <a:off x="5940152" y="4311969"/>
            <a:ext cx="39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56240066-53CE-42EA-A4CE-48C3BC81D30C}"/>
              </a:ext>
            </a:extLst>
          </p:cNvPr>
          <p:cNvCxnSpPr>
            <a:cxnSpLocks/>
          </p:cNvCxnSpPr>
          <p:nvPr/>
        </p:nvCxnSpPr>
        <p:spPr>
          <a:xfrm>
            <a:off x="6948264" y="4316676"/>
            <a:ext cx="396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减号 28">
            <a:extLst>
              <a:ext uri="{FF2B5EF4-FFF2-40B4-BE49-F238E27FC236}">
                <a16:creationId xmlns:a16="http://schemas.microsoft.com/office/drawing/2014/main" id="{63C0CDA9-F673-4DAC-8B8F-81BC865C729A}"/>
              </a:ext>
            </a:extLst>
          </p:cNvPr>
          <p:cNvSpPr/>
          <p:nvPr/>
        </p:nvSpPr>
        <p:spPr>
          <a:xfrm rot="5400000">
            <a:off x="6282228" y="3722648"/>
            <a:ext cx="684000" cy="216024"/>
          </a:xfrm>
          <a:prstGeom prst="mathMinus">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a:extLst>
              <a:ext uri="{FF2B5EF4-FFF2-40B4-BE49-F238E27FC236}">
                <a16:creationId xmlns:a16="http://schemas.microsoft.com/office/drawing/2014/main" id="{0944C0B8-C5D5-4E49-9086-20D6369A39C0}"/>
              </a:ext>
            </a:extLst>
          </p:cNvPr>
          <p:cNvGrpSpPr/>
          <p:nvPr/>
        </p:nvGrpSpPr>
        <p:grpSpPr>
          <a:xfrm>
            <a:off x="6516216" y="3320734"/>
            <a:ext cx="216024" cy="793083"/>
            <a:chOff x="2195736" y="2871952"/>
            <a:chExt cx="216024" cy="793083"/>
          </a:xfrm>
        </p:grpSpPr>
        <p:sp>
          <p:nvSpPr>
            <p:cNvPr id="31" name="圆: 空心 30">
              <a:extLst>
                <a:ext uri="{FF2B5EF4-FFF2-40B4-BE49-F238E27FC236}">
                  <a16:creationId xmlns:a16="http://schemas.microsoft.com/office/drawing/2014/main" id="{5F580F0C-180A-4D11-8F78-A1B5229CF909}"/>
                </a:ext>
              </a:extLst>
            </p:cNvPr>
            <p:cNvSpPr/>
            <p:nvPr/>
          </p:nvSpPr>
          <p:spPr>
            <a:xfrm>
              <a:off x="2195736" y="2967534"/>
              <a:ext cx="216024" cy="216024"/>
            </a:xfrm>
            <a:prstGeom prst="donu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椭圆 31">
              <a:extLst>
                <a:ext uri="{FF2B5EF4-FFF2-40B4-BE49-F238E27FC236}">
                  <a16:creationId xmlns:a16="http://schemas.microsoft.com/office/drawing/2014/main" id="{6A21BD5E-1D3F-4DDB-98D6-E8F25E0903FF}"/>
                </a:ext>
              </a:extLst>
            </p:cNvPr>
            <p:cNvSpPr/>
            <p:nvPr/>
          </p:nvSpPr>
          <p:spPr>
            <a:xfrm>
              <a:off x="2240303" y="2871952"/>
              <a:ext cx="131393" cy="13139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减号 32">
              <a:extLst>
                <a:ext uri="{FF2B5EF4-FFF2-40B4-BE49-F238E27FC236}">
                  <a16:creationId xmlns:a16="http://schemas.microsoft.com/office/drawing/2014/main" id="{A10AF73D-5F58-44A3-A672-6CE9FA3BBFA9}"/>
                </a:ext>
              </a:extLst>
            </p:cNvPr>
            <p:cNvSpPr/>
            <p:nvPr/>
          </p:nvSpPr>
          <p:spPr>
            <a:xfrm rot="10800000">
              <a:off x="2255197" y="3449011"/>
              <a:ext cx="144000" cy="216024"/>
            </a:xfrm>
            <a:prstGeom prst="mathMinus">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文本框 33">
            <a:extLst>
              <a:ext uri="{FF2B5EF4-FFF2-40B4-BE49-F238E27FC236}">
                <a16:creationId xmlns:a16="http://schemas.microsoft.com/office/drawing/2014/main" id="{7355FCE0-354E-42A1-A101-C625C49BD3E3}"/>
              </a:ext>
            </a:extLst>
          </p:cNvPr>
          <p:cNvSpPr txBox="1"/>
          <p:nvPr/>
        </p:nvSpPr>
        <p:spPr>
          <a:xfrm>
            <a:off x="6334721" y="3049696"/>
            <a:ext cx="915483" cy="307777"/>
          </a:xfrm>
          <a:prstGeom prst="rect">
            <a:avLst/>
          </a:prstGeom>
          <a:noFill/>
        </p:spPr>
        <p:txBody>
          <a:bodyPr wrap="square" rtlCol="0">
            <a:spAutoFit/>
          </a:bodyPr>
          <a:lstStyle/>
          <a:p>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密钥</a:t>
            </a:r>
            <a:r>
              <a:rPr lang="en-US" altLang="zh-CN" sz="1400" dirty="0" err="1">
                <a:latin typeface="Times New Roman" panose="02020603050405020304" pitchFamily="18" charset="0"/>
                <a:ea typeface="华文楷体" panose="02010600040101010101" pitchFamily="2" charset="-122"/>
                <a:cs typeface="Times New Roman" panose="02020603050405020304" pitchFamily="18" charset="0"/>
              </a:rPr>
              <a:t>kd</a:t>
            </a:r>
            <a:endParaRPr lang="zh-CN" altLang="en-US" sz="1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35" name="直接连接符 34">
            <a:extLst>
              <a:ext uri="{FF2B5EF4-FFF2-40B4-BE49-F238E27FC236}">
                <a16:creationId xmlns:a16="http://schemas.microsoft.com/office/drawing/2014/main" id="{1D0AA0AB-FD78-4359-8ACE-476C1B94A17D}"/>
              </a:ext>
            </a:extLst>
          </p:cNvPr>
          <p:cNvCxnSpPr>
            <a:stCxn id="5" idx="3"/>
            <a:endCxn id="22" idx="1"/>
          </p:cNvCxnSpPr>
          <p:nvPr/>
        </p:nvCxnSpPr>
        <p:spPr>
          <a:xfrm>
            <a:off x="3901851" y="4354461"/>
            <a:ext cx="1174205" cy="0"/>
          </a:xfrm>
          <a:prstGeom prst="line">
            <a:avLst/>
          </a:prstGeom>
          <a:ln w="19050"/>
        </p:spPr>
        <p:style>
          <a:lnRef idx="1">
            <a:schemeClr val="dk1"/>
          </a:lnRef>
          <a:fillRef idx="0">
            <a:schemeClr val="dk1"/>
          </a:fillRef>
          <a:effectRef idx="0">
            <a:schemeClr val="dk1"/>
          </a:effectRef>
          <a:fontRef idx="minor">
            <a:schemeClr val="tx1"/>
          </a:fontRef>
        </p:style>
      </p:cxnSp>
      <p:sp>
        <p:nvSpPr>
          <p:cNvPr id="36" name="等腰三角形 35">
            <a:extLst>
              <a:ext uri="{FF2B5EF4-FFF2-40B4-BE49-F238E27FC236}">
                <a16:creationId xmlns:a16="http://schemas.microsoft.com/office/drawing/2014/main" id="{A52EE6FB-9444-48DE-9CB3-8B143FFC4B81}"/>
              </a:ext>
            </a:extLst>
          </p:cNvPr>
          <p:cNvSpPr/>
          <p:nvPr/>
        </p:nvSpPr>
        <p:spPr>
          <a:xfrm rot="5400000">
            <a:off x="4405907" y="4242629"/>
            <a:ext cx="216024" cy="216024"/>
          </a:xfrm>
          <a:prstGeom prst="triangle">
            <a:avLst/>
          </a:prstGeom>
          <a:solidFill>
            <a:srgbClr val="F2F2F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a:extLst>
              <a:ext uri="{FF2B5EF4-FFF2-40B4-BE49-F238E27FC236}">
                <a16:creationId xmlns:a16="http://schemas.microsoft.com/office/drawing/2014/main" id="{33A32BBC-F79D-43AD-8FC6-06249DD3C1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185221" y="3662532"/>
            <a:ext cx="170755" cy="336001"/>
          </a:xfrm>
          <a:prstGeom prst="rect">
            <a:avLst/>
          </a:prstGeom>
        </p:spPr>
      </p:pic>
      <p:sp>
        <p:nvSpPr>
          <p:cNvPr id="42" name="文本框 41">
            <a:extLst>
              <a:ext uri="{FF2B5EF4-FFF2-40B4-BE49-F238E27FC236}">
                <a16:creationId xmlns:a16="http://schemas.microsoft.com/office/drawing/2014/main" id="{EF2DA97C-27AE-4E19-B00D-C8E18BA3008C}"/>
              </a:ext>
            </a:extLst>
          </p:cNvPr>
          <p:cNvSpPr txBox="1"/>
          <p:nvPr/>
        </p:nvSpPr>
        <p:spPr>
          <a:xfrm>
            <a:off x="4263658" y="3675359"/>
            <a:ext cx="915483" cy="307777"/>
          </a:xfrm>
          <a:prstGeom prst="rect">
            <a:avLst/>
          </a:prstGeom>
          <a:noFill/>
        </p:spPr>
        <p:txBody>
          <a:bodyPr wrap="square" rtlCol="0">
            <a:spAutoFit/>
          </a:bodyPr>
          <a:lstStyle/>
          <a:p>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破译者</a:t>
            </a:r>
          </a:p>
        </p:txBody>
      </p:sp>
      <p:sp>
        <p:nvSpPr>
          <p:cNvPr id="43" name="文本框 42">
            <a:extLst>
              <a:ext uri="{FF2B5EF4-FFF2-40B4-BE49-F238E27FC236}">
                <a16:creationId xmlns:a16="http://schemas.microsoft.com/office/drawing/2014/main" id="{E70F0692-A82E-4C7C-ABE1-F74A3E61A9C5}"/>
              </a:ext>
            </a:extLst>
          </p:cNvPr>
          <p:cNvSpPr txBox="1"/>
          <p:nvPr/>
        </p:nvSpPr>
        <p:spPr>
          <a:xfrm>
            <a:off x="1963885" y="4882805"/>
            <a:ext cx="915483"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发送方</a:t>
            </a:r>
          </a:p>
        </p:txBody>
      </p:sp>
      <p:sp>
        <p:nvSpPr>
          <p:cNvPr id="44" name="文本框 43">
            <a:extLst>
              <a:ext uri="{FF2B5EF4-FFF2-40B4-BE49-F238E27FC236}">
                <a16:creationId xmlns:a16="http://schemas.microsoft.com/office/drawing/2014/main" id="{D413D11E-4FDE-4EBB-88EC-649285AB8554}"/>
              </a:ext>
            </a:extLst>
          </p:cNvPr>
          <p:cNvSpPr txBox="1"/>
          <p:nvPr/>
        </p:nvSpPr>
        <p:spPr>
          <a:xfrm>
            <a:off x="6334720" y="4882805"/>
            <a:ext cx="915483"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接收方</a:t>
            </a:r>
          </a:p>
        </p:txBody>
      </p:sp>
    </p:spTree>
    <p:extLst>
      <p:ext uri="{BB962C8B-B14F-4D97-AF65-F5344CB8AC3E}">
        <p14:creationId xmlns:p14="http://schemas.microsoft.com/office/powerpoint/2010/main" val="39597987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6544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密码编码系统通常有三种独立的分类方式：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根据明文变换到密文的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操作类型</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：（代替和换位）</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根据密码算法所用的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密钥数量</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分类：（单密钥加密和双密钥加密）</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根据对明文信息的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处理方式</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分类：（序列密码和分组密码）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另外关于密码体制的分类，还有一些其他的方法，例如按照加密过程中是否引入客观随机因素，可以分为</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确定型密码体制</a:t>
            </a: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概率</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密码体制</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a:t>
            </a:r>
            <a:endPar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
        <p:nvSpPr>
          <p:cNvPr id="2" name="矩形: 圆角 1">
            <a:extLst>
              <a:ext uri="{FF2B5EF4-FFF2-40B4-BE49-F238E27FC236}">
                <a16:creationId xmlns:a16="http://schemas.microsoft.com/office/drawing/2014/main" id="{FB0345FD-EC9C-4B4D-AA5A-D938E0B97A08}"/>
              </a:ext>
            </a:extLst>
          </p:cNvPr>
          <p:cNvSpPr/>
          <p:nvPr/>
        </p:nvSpPr>
        <p:spPr>
          <a:xfrm>
            <a:off x="3491880" y="3435846"/>
            <a:ext cx="2016224" cy="36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密码系统的分类</a:t>
            </a:r>
          </a:p>
        </p:txBody>
      </p:sp>
      <p:sp>
        <p:nvSpPr>
          <p:cNvPr id="6" name="矩形: 圆角 5">
            <a:extLst>
              <a:ext uri="{FF2B5EF4-FFF2-40B4-BE49-F238E27FC236}">
                <a16:creationId xmlns:a16="http://schemas.microsoft.com/office/drawing/2014/main" id="{2CA6F9A5-08F1-4AB8-914E-6F60CDF2772E}"/>
              </a:ext>
            </a:extLst>
          </p:cNvPr>
          <p:cNvSpPr/>
          <p:nvPr/>
        </p:nvSpPr>
        <p:spPr>
          <a:xfrm>
            <a:off x="647408" y="4174441"/>
            <a:ext cx="2736304" cy="36004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明文变换到密文的操作类型</a:t>
            </a:r>
          </a:p>
        </p:txBody>
      </p:sp>
      <p:sp>
        <p:nvSpPr>
          <p:cNvPr id="7" name="矩形: 圆角 6">
            <a:extLst>
              <a:ext uri="{FF2B5EF4-FFF2-40B4-BE49-F238E27FC236}">
                <a16:creationId xmlns:a16="http://schemas.microsoft.com/office/drawing/2014/main" id="{7861A9A9-42DD-449A-B41C-DF7809814160}"/>
              </a:ext>
            </a:extLst>
          </p:cNvPr>
          <p:cNvSpPr/>
          <p:nvPr/>
        </p:nvSpPr>
        <p:spPr>
          <a:xfrm>
            <a:off x="4067944" y="4174441"/>
            <a:ext cx="1800200" cy="36004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所用的密钥数量</a:t>
            </a:r>
          </a:p>
        </p:txBody>
      </p:sp>
      <p:sp>
        <p:nvSpPr>
          <p:cNvPr id="8" name="矩形: 圆角 7">
            <a:extLst>
              <a:ext uri="{FF2B5EF4-FFF2-40B4-BE49-F238E27FC236}">
                <a16:creationId xmlns:a16="http://schemas.microsoft.com/office/drawing/2014/main" id="{629D8316-F49A-4D12-9FF0-D94BFE9BF5BF}"/>
              </a:ext>
            </a:extLst>
          </p:cNvPr>
          <p:cNvSpPr/>
          <p:nvPr/>
        </p:nvSpPr>
        <p:spPr>
          <a:xfrm>
            <a:off x="6689176" y="4168831"/>
            <a:ext cx="1987280" cy="36004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明文被处理的方式</a:t>
            </a:r>
          </a:p>
        </p:txBody>
      </p:sp>
      <p:sp>
        <p:nvSpPr>
          <p:cNvPr id="3" name="矩形 2">
            <a:extLst>
              <a:ext uri="{FF2B5EF4-FFF2-40B4-BE49-F238E27FC236}">
                <a16:creationId xmlns:a16="http://schemas.microsoft.com/office/drawing/2014/main" id="{189722AB-6829-4E51-8D6B-CEF49D2C6DD0}"/>
              </a:ext>
            </a:extLst>
          </p:cNvPr>
          <p:cNvSpPr/>
          <p:nvPr/>
        </p:nvSpPr>
        <p:spPr>
          <a:xfrm>
            <a:off x="1115296" y="4863220"/>
            <a:ext cx="648072"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代替</a:t>
            </a:r>
          </a:p>
        </p:txBody>
      </p:sp>
      <p:sp>
        <p:nvSpPr>
          <p:cNvPr id="10" name="矩形 9">
            <a:extLst>
              <a:ext uri="{FF2B5EF4-FFF2-40B4-BE49-F238E27FC236}">
                <a16:creationId xmlns:a16="http://schemas.microsoft.com/office/drawing/2014/main" id="{CB34532C-154A-4787-943C-D5AC93CEF3E6}"/>
              </a:ext>
            </a:extLst>
          </p:cNvPr>
          <p:cNvSpPr/>
          <p:nvPr/>
        </p:nvSpPr>
        <p:spPr>
          <a:xfrm>
            <a:off x="2015560" y="4863220"/>
            <a:ext cx="648072"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换位</a:t>
            </a:r>
          </a:p>
        </p:txBody>
      </p:sp>
      <p:sp>
        <p:nvSpPr>
          <p:cNvPr id="11" name="矩形 10">
            <a:extLst>
              <a:ext uri="{FF2B5EF4-FFF2-40B4-BE49-F238E27FC236}">
                <a16:creationId xmlns:a16="http://schemas.microsoft.com/office/drawing/2014/main" id="{B48BA243-9DD7-4748-9748-581D1F967C4A}"/>
              </a:ext>
            </a:extLst>
          </p:cNvPr>
          <p:cNvSpPr/>
          <p:nvPr/>
        </p:nvSpPr>
        <p:spPr>
          <a:xfrm>
            <a:off x="3690962" y="4863220"/>
            <a:ext cx="1097062"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单密钥密码</a:t>
            </a:r>
          </a:p>
        </p:txBody>
      </p:sp>
      <p:sp>
        <p:nvSpPr>
          <p:cNvPr id="12" name="矩形 11">
            <a:extLst>
              <a:ext uri="{FF2B5EF4-FFF2-40B4-BE49-F238E27FC236}">
                <a16:creationId xmlns:a16="http://schemas.microsoft.com/office/drawing/2014/main" id="{A57FDAF6-693A-4649-B3E6-BA2DB755B5ED}"/>
              </a:ext>
            </a:extLst>
          </p:cNvPr>
          <p:cNvSpPr/>
          <p:nvPr/>
        </p:nvSpPr>
        <p:spPr>
          <a:xfrm>
            <a:off x="4989668" y="4859920"/>
            <a:ext cx="1097062"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双密钥密码</a:t>
            </a:r>
          </a:p>
        </p:txBody>
      </p:sp>
      <p:sp>
        <p:nvSpPr>
          <p:cNvPr id="13" name="矩形 12">
            <a:extLst>
              <a:ext uri="{FF2B5EF4-FFF2-40B4-BE49-F238E27FC236}">
                <a16:creationId xmlns:a16="http://schemas.microsoft.com/office/drawing/2014/main" id="{E12700A3-0B8F-4704-95B7-3080B4BFE3C8}"/>
              </a:ext>
            </a:extLst>
          </p:cNvPr>
          <p:cNvSpPr/>
          <p:nvPr/>
        </p:nvSpPr>
        <p:spPr>
          <a:xfrm>
            <a:off x="6585754" y="4859920"/>
            <a:ext cx="938574"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分组密码</a:t>
            </a:r>
          </a:p>
        </p:txBody>
      </p:sp>
      <p:sp>
        <p:nvSpPr>
          <p:cNvPr id="14" name="矩形 13">
            <a:extLst>
              <a:ext uri="{FF2B5EF4-FFF2-40B4-BE49-F238E27FC236}">
                <a16:creationId xmlns:a16="http://schemas.microsoft.com/office/drawing/2014/main" id="{839EF8C4-4BBC-4C2A-81EB-B37D1B8CDAF1}"/>
              </a:ext>
            </a:extLst>
          </p:cNvPr>
          <p:cNvSpPr/>
          <p:nvPr/>
        </p:nvSpPr>
        <p:spPr>
          <a:xfrm>
            <a:off x="7774210" y="4859920"/>
            <a:ext cx="938574" cy="26749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400" b="1" dirty="0">
                <a:latin typeface="华文楷体" panose="02010600040101010101" pitchFamily="2" charset="-122"/>
                <a:ea typeface="华文楷体" panose="02010600040101010101" pitchFamily="2" charset="-122"/>
              </a:rPr>
              <a:t>序列密码</a:t>
            </a:r>
          </a:p>
        </p:txBody>
      </p:sp>
      <p:cxnSp>
        <p:nvCxnSpPr>
          <p:cNvPr id="9" name="直接连接符 8">
            <a:extLst>
              <a:ext uri="{FF2B5EF4-FFF2-40B4-BE49-F238E27FC236}">
                <a16:creationId xmlns:a16="http://schemas.microsoft.com/office/drawing/2014/main" id="{4A525DBB-5A39-4378-B479-D2D4EFCD10DC}"/>
              </a:ext>
            </a:extLst>
          </p:cNvPr>
          <p:cNvCxnSpPr>
            <a:stCxn id="2" idx="2"/>
          </p:cNvCxnSpPr>
          <p:nvPr/>
        </p:nvCxnSpPr>
        <p:spPr>
          <a:xfrm flipH="1">
            <a:off x="4490644" y="3795886"/>
            <a:ext cx="0" cy="14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75EF1139-51DD-4FFF-BEE8-871D783531A4}"/>
              </a:ext>
            </a:extLst>
          </p:cNvPr>
          <p:cNvCxnSpPr>
            <a:stCxn id="6" idx="0"/>
            <a:endCxn id="8" idx="0"/>
          </p:cNvCxnSpPr>
          <p:nvPr/>
        </p:nvCxnSpPr>
        <p:spPr>
          <a:xfrm rot="5400000" flipH="1" flipV="1">
            <a:off x="4846383" y="1338008"/>
            <a:ext cx="5610" cy="5667256"/>
          </a:xfrm>
          <a:prstGeom prst="bentConnector3">
            <a:avLst>
              <a:gd name="adj1" fmla="val 4174866"/>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85F4E9A-1527-4ADE-AAF4-096ECD57056E}"/>
              </a:ext>
            </a:extLst>
          </p:cNvPr>
          <p:cNvCxnSpPr>
            <a:endCxn id="7" idx="0"/>
          </p:cNvCxnSpPr>
          <p:nvPr/>
        </p:nvCxnSpPr>
        <p:spPr>
          <a:xfrm>
            <a:off x="4932040" y="3939886"/>
            <a:ext cx="0" cy="2345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7A340B5F-D916-44FF-8BFD-9D5DFE74290F}"/>
              </a:ext>
            </a:extLst>
          </p:cNvPr>
          <p:cNvCxnSpPr/>
          <p:nvPr/>
        </p:nvCxnSpPr>
        <p:spPr>
          <a:xfrm>
            <a:off x="1907704" y="4528870"/>
            <a:ext cx="0" cy="21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C4564894-0D28-4B77-8E16-7B850582F523}"/>
              </a:ext>
            </a:extLst>
          </p:cNvPr>
          <p:cNvCxnSpPr>
            <a:stCxn id="3" idx="0"/>
            <a:endCxn id="10" idx="0"/>
          </p:cNvCxnSpPr>
          <p:nvPr/>
        </p:nvCxnSpPr>
        <p:spPr>
          <a:xfrm rot="5400000" flipH="1" flipV="1">
            <a:off x="1889464" y="4413088"/>
            <a:ext cx="12700" cy="900264"/>
          </a:xfrm>
          <a:prstGeom prst="bentConnector3">
            <a:avLst>
              <a:gd name="adj1" fmla="val 1119685"/>
            </a:avLst>
          </a:prstGeom>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60DFCFF-0356-420D-955E-0243CE2507A8}"/>
              </a:ext>
            </a:extLst>
          </p:cNvPr>
          <p:cNvCxnSpPr/>
          <p:nvPr/>
        </p:nvCxnSpPr>
        <p:spPr>
          <a:xfrm>
            <a:off x="4943467" y="4529040"/>
            <a:ext cx="0" cy="21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3D6F2934-F019-4BFB-9CD9-06ACFD2AE59B}"/>
              </a:ext>
            </a:extLst>
          </p:cNvPr>
          <p:cNvCxnSpPr/>
          <p:nvPr/>
        </p:nvCxnSpPr>
        <p:spPr>
          <a:xfrm rot="5400000" flipH="1" flipV="1">
            <a:off x="4925227" y="4413258"/>
            <a:ext cx="12700" cy="900264"/>
          </a:xfrm>
          <a:prstGeom prst="bentConnector3">
            <a:avLst>
              <a:gd name="adj1" fmla="val 1119685"/>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9BBD2BD-095B-4C6D-B910-0010FE20DD1A}"/>
              </a:ext>
            </a:extLst>
          </p:cNvPr>
          <p:cNvCxnSpPr/>
          <p:nvPr/>
        </p:nvCxnSpPr>
        <p:spPr>
          <a:xfrm>
            <a:off x="7774210" y="4529210"/>
            <a:ext cx="0" cy="216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51FBC991-02D7-4885-BD1C-EAE2C6D3914F}"/>
              </a:ext>
            </a:extLst>
          </p:cNvPr>
          <p:cNvCxnSpPr/>
          <p:nvPr/>
        </p:nvCxnSpPr>
        <p:spPr>
          <a:xfrm rot="5400000" flipH="1" flipV="1">
            <a:off x="7755970" y="4413428"/>
            <a:ext cx="12700" cy="900264"/>
          </a:xfrm>
          <a:prstGeom prst="bentConnector3">
            <a:avLst>
              <a:gd name="adj1" fmla="val 1119685"/>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2353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根据明文变换到密文的操作类型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
        <p:nvSpPr>
          <p:cNvPr id="3" name="文本框 2">
            <a:extLst>
              <a:ext uri="{FF2B5EF4-FFF2-40B4-BE49-F238E27FC236}">
                <a16:creationId xmlns:a16="http://schemas.microsoft.com/office/drawing/2014/main" id="{3F680496-69B4-9C5F-E98C-DE3224C763C6}"/>
              </a:ext>
            </a:extLst>
          </p:cNvPr>
          <p:cNvSpPr txBox="1"/>
          <p:nvPr/>
        </p:nvSpPr>
        <p:spPr>
          <a:xfrm>
            <a:off x="611560" y="1347614"/>
            <a:ext cx="7848872"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E55D01"/>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代替，</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即明文中的每个元素（比特、字母、比特组合或字母组合）被映射为另一个元素。该操作主要达到非线性变换的目的。</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5" name="文本框 4">
            <a:extLst>
              <a:ext uri="{FF2B5EF4-FFF2-40B4-BE49-F238E27FC236}">
                <a16:creationId xmlns:a16="http://schemas.microsoft.com/office/drawing/2014/main" id="{CDD21DBE-064E-1EF8-1E8D-6315ACAF01A1}"/>
              </a:ext>
            </a:extLst>
          </p:cNvPr>
          <p:cNvSpPr txBox="1"/>
          <p:nvPr/>
        </p:nvSpPr>
        <p:spPr>
          <a:xfrm>
            <a:off x="611560" y="2239741"/>
            <a:ext cx="7848872" cy="786818"/>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E55D01"/>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换位，</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即明文中的元素被重新排列，这是一种线性变换，对它们的基本要求是不丢失信息（即所有操作都是可逆的）</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93067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ircle(in)">
                                      <p:cBhvr>
                                        <p:cTn id="1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3"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413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根据密码算法所用的密钥数量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根据加密算法与解密算法所使用的密钥是否相同，可以将密码体制分为：单钥加密</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对称密码体制</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（常用的对称密码体制：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3DES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IDEA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非对称密码体制</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（常用的非对称密码体制：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RSA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EIGAMAL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、椭圆曲线密码等）</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如果一个提供保密服务的密码系统，它的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加密密钥和解密密钥相同</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，或者虽然不相同，但由其中的任意一个</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可以很容易地导出另外一个</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，那么该系统所采用的就是</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对称密码体制</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grpSp>
        <p:nvGrpSpPr>
          <p:cNvPr id="40" name="组合 39">
            <a:extLst>
              <a:ext uri="{FF2B5EF4-FFF2-40B4-BE49-F238E27FC236}">
                <a16:creationId xmlns:a16="http://schemas.microsoft.com/office/drawing/2014/main" id="{98706BD5-A804-405A-BF3D-6FBE2CCDE1E5}"/>
              </a:ext>
            </a:extLst>
          </p:cNvPr>
          <p:cNvGrpSpPr/>
          <p:nvPr/>
        </p:nvGrpSpPr>
        <p:grpSpPr>
          <a:xfrm>
            <a:off x="700090" y="3508375"/>
            <a:ext cx="7558619" cy="1567134"/>
            <a:chOff x="700090" y="3508375"/>
            <a:chExt cx="7558619" cy="1567134"/>
          </a:xfrm>
        </p:grpSpPr>
        <p:sp>
          <p:nvSpPr>
            <p:cNvPr id="8" name="卷形: 垂直 7">
              <a:extLst>
                <a:ext uri="{FF2B5EF4-FFF2-40B4-BE49-F238E27FC236}">
                  <a16:creationId xmlns:a16="http://schemas.microsoft.com/office/drawing/2014/main" id="{17249B39-CE37-4C4F-BCC4-A9A2B3278635}"/>
                </a:ext>
              </a:extLst>
            </p:cNvPr>
            <p:cNvSpPr/>
            <p:nvPr/>
          </p:nvSpPr>
          <p:spPr>
            <a:xfrm rot="21055147">
              <a:off x="1347064" y="3889095"/>
              <a:ext cx="576064" cy="597218"/>
            </a:xfrm>
            <a:prstGeom prst="verticalScroll">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ctr">
              <a:spAutoFit/>
            </a:bodyPr>
            <a:lstStyle/>
            <a:p>
              <a:pPr algn="ctr"/>
              <a:r>
                <a:rPr lang="zh-CN" altLang="en-US" sz="1600" dirty="0">
                  <a:latin typeface="华文楷体" panose="02010600040101010101" pitchFamily="2" charset="-122"/>
                  <a:ea typeface="华文楷体" panose="02010600040101010101" pitchFamily="2" charset="-122"/>
                </a:rPr>
                <a:t>明文</a:t>
              </a:r>
              <a:endParaRPr lang="en-US" altLang="zh-CN" sz="1600" dirty="0">
                <a:latin typeface="华文楷体" panose="02010600040101010101" pitchFamily="2" charset="-122"/>
                <a:ea typeface="华文楷体" panose="02010600040101010101" pitchFamily="2" charset="-122"/>
              </a:endParaRPr>
            </a:p>
            <a:p>
              <a:pPr algn="ctr"/>
              <a:r>
                <a:rPr lang="en-US" altLang="zh-CN" sz="1600" dirty="0">
                  <a:latin typeface="华文楷体" panose="02010600040101010101" pitchFamily="2" charset="-122"/>
                  <a:ea typeface="华文楷体" panose="02010600040101010101" pitchFamily="2" charset="-122"/>
                </a:rPr>
                <a:t>m</a:t>
              </a:r>
              <a:endParaRPr lang="zh-CN" altLang="en-US" sz="1600" dirty="0">
                <a:latin typeface="华文楷体" panose="02010600040101010101" pitchFamily="2" charset="-122"/>
                <a:ea typeface="华文楷体" panose="02010600040101010101" pitchFamily="2" charset="-122"/>
              </a:endParaRPr>
            </a:p>
          </p:txBody>
        </p:sp>
        <p:sp>
          <p:nvSpPr>
            <p:cNvPr id="11" name="卷形: 垂直 10">
              <a:extLst>
                <a:ext uri="{FF2B5EF4-FFF2-40B4-BE49-F238E27FC236}">
                  <a16:creationId xmlns:a16="http://schemas.microsoft.com/office/drawing/2014/main" id="{857A2606-1B03-4206-A6CA-F901EDF90AF9}"/>
                </a:ext>
              </a:extLst>
            </p:cNvPr>
            <p:cNvSpPr/>
            <p:nvPr/>
          </p:nvSpPr>
          <p:spPr>
            <a:xfrm rot="21055147">
              <a:off x="7140730" y="3889095"/>
              <a:ext cx="576064" cy="597218"/>
            </a:xfrm>
            <a:prstGeom prst="verticalScroll">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ctr">
              <a:spAutoFit/>
            </a:bodyPr>
            <a:lstStyle/>
            <a:p>
              <a:pPr algn="ctr"/>
              <a:r>
                <a:rPr lang="zh-CN" altLang="en-US" sz="1600" dirty="0">
                  <a:latin typeface="华文楷体" panose="02010600040101010101" pitchFamily="2" charset="-122"/>
                  <a:ea typeface="华文楷体" panose="02010600040101010101" pitchFamily="2" charset="-122"/>
                </a:rPr>
                <a:t>明文</a:t>
              </a:r>
              <a:endParaRPr lang="en-US" altLang="zh-CN" sz="1600" dirty="0">
                <a:latin typeface="华文楷体" panose="02010600040101010101" pitchFamily="2" charset="-122"/>
                <a:ea typeface="华文楷体" panose="02010600040101010101" pitchFamily="2" charset="-122"/>
              </a:endParaRPr>
            </a:p>
            <a:p>
              <a:pPr algn="ctr"/>
              <a:r>
                <a:rPr lang="en-US" altLang="zh-CN" sz="1600" dirty="0">
                  <a:latin typeface="华文楷体" panose="02010600040101010101" pitchFamily="2" charset="-122"/>
                  <a:ea typeface="华文楷体" panose="02010600040101010101" pitchFamily="2" charset="-122"/>
                </a:rPr>
                <a:t>m</a:t>
              </a:r>
              <a:endParaRPr lang="zh-CN" altLang="en-US" sz="1600" dirty="0">
                <a:latin typeface="华文楷体" panose="02010600040101010101" pitchFamily="2" charset="-122"/>
                <a:ea typeface="华文楷体" panose="02010600040101010101" pitchFamily="2" charset="-122"/>
              </a:endParaRPr>
            </a:p>
          </p:txBody>
        </p:sp>
        <p:sp>
          <p:nvSpPr>
            <p:cNvPr id="9" name="矩形 8">
              <a:extLst>
                <a:ext uri="{FF2B5EF4-FFF2-40B4-BE49-F238E27FC236}">
                  <a16:creationId xmlns:a16="http://schemas.microsoft.com/office/drawing/2014/main" id="{DB5DD931-BF20-4DF0-A2DF-88CEEE5B8D46}"/>
                </a:ext>
              </a:extLst>
            </p:cNvPr>
            <p:cNvSpPr/>
            <p:nvPr/>
          </p:nvSpPr>
          <p:spPr>
            <a:xfrm>
              <a:off x="2297497" y="4082801"/>
              <a:ext cx="792088" cy="209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加密算法</a:t>
              </a:r>
            </a:p>
          </p:txBody>
        </p:sp>
        <p:sp>
          <p:nvSpPr>
            <p:cNvPr id="10" name="流程图: 资料带 9">
              <a:extLst>
                <a:ext uri="{FF2B5EF4-FFF2-40B4-BE49-F238E27FC236}">
                  <a16:creationId xmlns:a16="http://schemas.microsoft.com/office/drawing/2014/main" id="{A4426FB8-EB44-4326-85C1-F3B3AD35D3FA}"/>
                </a:ext>
              </a:extLst>
            </p:cNvPr>
            <p:cNvSpPr/>
            <p:nvPr/>
          </p:nvSpPr>
          <p:spPr>
            <a:xfrm>
              <a:off x="3540366" y="3935676"/>
              <a:ext cx="399148" cy="504056"/>
            </a:xfrm>
            <a:prstGeom prst="flowChartPunchedTape">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密文</a:t>
              </a:r>
              <a:endParaRPr lang="en-US" altLang="zh-CN" sz="1400" dirty="0">
                <a:latin typeface="华文楷体" panose="02010600040101010101" pitchFamily="2" charset="-122"/>
                <a:ea typeface="华文楷体" panose="02010600040101010101" pitchFamily="2" charset="-122"/>
              </a:endParaRPr>
            </a:p>
            <a:p>
              <a:pPr algn="ctr"/>
              <a:r>
                <a:rPr lang="en-US" altLang="zh-CN" sz="1400" dirty="0">
                  <a:latin typeface="华文楷体" panose="02010600040101010101" pitchFamily="2" charset="-122"/>
                  <a:ea typeface="华文楷体" panose="02010600040101010101" pitchFamily="2" charset="-122"/>
                </a:rPr>
                <a:t>c</a:t>
              </a:r>
              <a:endParaRPr lang="zh-CN" altLang="en-US" sz="1400" dirty="0">
                <a:latin typeface="华文楷体" panose="02010600040101010101" pitchFamily="2" charset="-122"/>
                <a:ea typeface="华文楷体" panose="02010600040101010101" pitchFamily="2" charset="-122"/>
              </a:endParaRPr>
            </a:p>
          </p:txBody>
        </p:sp>
        <p:sp>
          <p:nvSpPr>
            <p:cNvPr id="14" name="流程图: 资料带 13">
              <a:extLst>
                <a:ext uri="{FF2B5EF4-FFF2-40B4-BE49-F238E27FC236}">
                  <a16:creationId xmlns:a16="http://schemas.microsoft.com/office/drawing/2014/main" id="{984B3363-CFC1-4313-94BF-347813E74BC9}"/>
                </a:ext>
              </a:extLst>
            </p:cNvPr>
            <p:cNvSpPr/>
            <p:nvPr/>
          </p:nvSpPr>
          <p:spPr>
            <a:xfrm>
              <a:off x="5085300" y="3935676"/>
              <a:ext cx="399148" cy="504056"/>
            </a:xfrm>
            <a:prstGeom prst="flowChartPunchedTape">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密文</a:t>
              </a:r>
              <a:endParaRPr lang="en-US" altLang="zh-CN" sz="1400" dirty="0">
                <a:latin typeface="华文楷体" panose="02010600040101010101" pitchFamily="2" charset="-122"/>
                <a:ea typeface="华文楷体" panose="02010600040101010101" pitchFamily="2" charset="-122"/>
              </a:endParaRPr>
            </a:p>
            <a:p>
              <a:pPr algn="ctr"/>
              <a:r>
                <a:rPr lang="en-US" altLang="zh-CN" sz="1400" dirty="0">
                  <a:latin typeface="华文楷体" panose="02010600040101010101" pitchFamily="2" charset="-122"/>
                  <a:ea typeface="华文楷体" panose="02010600040101010101" pitchFamily="2" charset="-122"/>
                </a:rPr>
                <a:t>c</a:t>
              </a:r>
              <a:endParaRPr lang="zh-CN" altLang="en-US" sz="1400" dirty="0">
                <a:latin typeface="华文楷体" panose="02010600040101010101" pitchFamily="2" charset="-122"/>
                <a:ea typeface="华文楷体" panose="02010600040101010101" pitchFamily="2" charset="-122"/>
              </a:endParaRPr>
            </a:p>
          </p:txBody>
        </p:sp>
        <p:sp>
          <p:nvSpPr>
            <p:cNvPr id="15" name="矩形 14">
              <a:extLst>
                <a:ext uri="{FF2B5EF4-FFF2-40B4-BE49-F238E27FC236}">
                  <a16:creationId xmlns:a16="http://schemas.microsoft.com/office/drawing/2014/main" id="{825E61CB-6955-419E-85B8-4B58CE597762}"/>
                </a:ext>
              </a:extLst>
            </p:cNvPr>
            <p:cNvSpPr/>
            <p:nvPr/>
          </p:nvSpPr>
          <p:spPr>
            <a:xfrm>
              <a:off x="5936637" y="4082801"/>
              <a:ext cx="792088" cy="209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解密算法</a:t>
              </a:r>
            </a:p>
          </p:txBody>
        </p:sp>
        <p:sp>
          <p:nvSpPr>
            <p:cNvPr id="13" name="流程图: 终止 12">
              <a:extLst>
                <a:ext uri="{FF2B5EF4-FFF2-40B4-BE49-F238E27FC236}">
                  <a16:creationId xmlns:a16="http://schemas.microsoft.com/office/drawing/2014/main" id="{DEE4A64A-E722-4075-9A1C-67617F916ED2}"/>
                </a:ext>
              </a:extLst>
            </p:cNvPr>
            <p:cNvSpPr/>
            <p:nvPr/>
          </p:nvSpPr>
          <p:spPr>
            <a:xfrm>
              <a:off x="4107236" y="4134228"/>
              <a:ext cx="761379" cy="89328"/>
            </a:xfrm>
            <a:prstGeom prst="flowChartTerminator">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2ED1FF9-9502-4BE1-A801-FFF2D58457F2}"/>
                </a:ext>
              </a:extLst>
            </p:cNvPr>
            <p:cNvSpPr/>
            <p:nvPr/>
          </p:nvSpPr>
          <p:spPr>
            <a:xfrm>
              <a:off x="3956388" y="3508375"/>
              <a:ext cx="1072096" cy="2672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2"/>
                  </a:solidFill>
                  <a:latin typeface="华文楷体" panose="02010600040101010101" pitchFamily="2" charset="-122"/>
                  <a:ea typeface="华文楷体" panose="02010600040101010101" pitchFamily="2" charset="-122"/>
                </a:rPr>
                <a:t>密码攻击者</a:t>
              </a:r>
            </a:p>
          </p:txBody>
        </p:sp>
        <p:sp>
          <p:nvSpPr>
            <p:cNvPr id="21" name="矩形 20">
              <a:extLst>
                <a:ext uri="{FF2B5EF4-FFF2-40B4-BE49-F238E27FC236}">
                  <a16:creationId xmlns:a16="http://schemas.microsoft.com/office/drawing/2014/main" id="{A47EB184-0A19-4DD8-9FC3-AA67D75F6405}"/>
                </a:ext>
              </a:extLst>
            </p:cNvPr>
            <p:cNvSpPr/>
            <p:nvPr/>
          </p:nvSpPr>
          <p:spPr>
            <a:xfrm>
              <a:off x="2343418" y="4791638"/>
              <a:ext cx="700246" cy="283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2"/>
                  </a:solidFill>
                  <a:latin typeface="华文楷体" panose="02010600040101010101" pitchFamily="2" charset="-122"/>
                  <a:ea typeface="华文楷体" panose="02010600040101010101" pitchFamily="2" charset="-122"/>
                </a:rPr>
                <a:t>密钥源</a:t>
              </a:r>
            </a:p>
          </p:txBody>
        </p:sp>
        <p:sp>
          <p:nvSpPr>
            <p:cNvPr id="22" name="矩形 21">
              <a:extLst>
                <a:ext uri="{FF2B5EF4-FFF2-40B4-BE49-F238E27FC236}">
                  <a16:creationId xmlns:a16="http://schemas.microsoft.com/office/drawing/2014/main" id="{7E901424-9F93-40EC-B232-B3FDD0EB4045}"/>
                </a:ext>
              </a:extLst>
            </p:cNvPr>
            <p:cNvSpPr/>
            <p:nvPr/>
          </p:nvSpPr>
          <p:spPr>
            <a:xfrm>
              <a:off x="4103735" y="4223556"/>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普通信道</a:t>
              </a:r>
            </a:p>
          </p:txBody>
        </p:sp>
        <p:sp>
          <p:nvSpPr>
            <p:cNvPr id="23" name="矩形 22">
              <a:extLst>
                <a:ext uri="{FF2B5EF4-FFF2-40B4-BE49-F238E27FC236}">
                  <a16:creationId xmlns:a16="http://schemas.microsoft.com/office/drawing/2014/main" id="{188D51AD-DF9C-48ED-AAC0-2F9266E0A70C}"/>
                </a:ext>
              </a:extLst>
            </p:cNvPr>
            <p:cNvSpPr/>
            <p:nvPr/>
          </p:nvSpPr>
          <p:spPr>
            <a:xfrm>
              <a:off x="4091159" y="4774151"/>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安全信道</a:t>
              </a:r>
            </a:p>
          </p:txBody>
        </p:sp>
        <p:sp>
          <p:nvSpPr>
            <p:cNvPr id="24" name="矩形 23">
              <a:extLst>
                <a:ext uri="{FF2B5EF4-FFF2-40B4-BE49-F238E27FC236}">
                  <a16:creationId xmlns:a16="http://schemas.microsoft.com/office/drawing/2014/main" id="{DCF8DD7A-DD58-4634-A3EA-F87F64D76D75}"/>
                </a:ext>
              </a:extLst>
            </p:cNvPr>
            <p:cNvSpPr/>
            <p:nvPr/>
          </p:nvSpPr>
          <p:spPr>
            <a:xfrm>
              <a:off x="6266483" y="4430137"/>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密钥</a:t>
              </a:r>
              <a:r>
                <a:rPr lang="en-US" altLang="zh-CN" sz="1400" dirty="0">
                  <a:solidFill>
                    <a:schemeClr val="tx1"/>
                  </a:solidFill>
                  <a:latin typeface="华文楷体" panose="02010600040101010101" pitchFamily="2" charset="-122"/>
                  <a:ea typeface="华文楷体" panose="02010600040101010101" pitchFamily="2" charset="-122"/>
                </a:rPr>
                <a:t>k</a:t>
              </a:r>
              <a:endParaRPr lang="zh-CN" altLang="en-US" sz="1400" dirty="0">
                <a:solidFill>
                  <a:schemeClr val="tx1"/>
                </a:solidFill>
                <a:latin typeface="华文楷体" panose="02010600040101010101" pitchFamily="2" charset="-122"/>
                <a:ea typeface="华文楷体" panose="02010600040101010101" pitchFamily="2" charset="-122"/>
              </a:endParaRPr>
            </a:p>
          </p:txBody>
        </p:sp>
        <p:sp>
          <p:nvSpPr>
            <p:cNvPr id="25" name="矩形 24">
              <a:extLst>
                <a:ext uri="{FF2B5EF4-FFF2-40B4-BE49-F238E27FC236}">
                  <a16:creationId xmlns:a16="http://schemas.microsoft.com/office/drawing/2014/main" id="{2D41788B-5472-4789-9230-06B22968FFDB}"/>
                </a:ext>
              </a:extLst>
            </p:cNvPr>
            <p:cNvSpPr/>
            <p:nvPr/>
          </p:nvSpPr>
          <p:spPr>
            <a:xfrm>
              <a:off x="7497331" y="4054397"/>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信宿</a:t>
              </a:r>
            </a:p>
          </p:txBody>
        </p:sp>
        <p:cxnSp>
          <p:nvCxnSpPr>
            <p:cNvPr id="17" name="直接箭头连接符 16">
              <a:extLst>
                <a:ext uri="{FF2B5EF4-FFF2-40B4-BE49-F238E27FC236}">
                  <a16:creationId xmlns:a16="http://schemas.microsoft.com/office/drawing/2014/main" id="{60690811-1992-4A6E-9F5F-921387215465}"/>
                </a:ext>
              </a:extLst>
            </p:cNvPr>
            <p:cNvCxnSpPr>
              <a:cxnSpLocks/>
            </p:cNvCxnSpPr>
            <p:nvPr/>
          </p:nvCxnSpPr>
          <p:spPr>
            <a:xfrm>
              <a:off x="1848412"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3C02ABB9-339E-4BC0-A229-B053C22926A0}"/>
                </a:ext>
              </a:extLst>
            </p:cNvPr>
            <p:cNvCxnSpPr>
              <a:cxnSpLocks/>
            </p:cNvCxnSpPr>
            <p:nvPr/>
          </p:nvCxnSpPr>
          <p:spPr>
            <a:xfrm>
              <a:off x="3091281"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24B04FA9-7DF5-4C13-B52A-C90591D6E2A2}"/>
                </a:ext>
              </a:extLst>
            </p:cNvPr>
            <p:cNvCxnSpPr>
              <a:cxnSpLocks/>
            </p:cNvCxnSpPr>
            <p:nvPr/>
          </p:nvCxnSpPr>
          <p:spPr>
            <a:xfrm>
              <a:off x="4858931" y="4178892"/>
              <a:ext cx="21712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7DBB073-0BC0-4359-B16E-C2FF41C8210D}"/>
                </a:ext>
              </a:extLst>
            </p:cNvPr>
            <p:cNvCxnSpPr>
              <a:cxnSpLocks/>
            </p:cNvCxnSpPr>
            <p:nvPr/>
          </p:nvCxnSpPr>
          <p:spPr>
            <a:xfrm>
              <a:off x="6728725"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526D9014-5603-421B-9202-DDBE415F6FAD}"/>
                </a:ext>
              </a:extLst>
            </p:cNvPr>
            <p:cNvCxnSpPr>
              <a:cxnSpLocks/>
            </p:cNvCxnSpPr>
            <p:nvPr/>
          </p:nvCxnSpPr>
          <p:spPr>
            <a:xfrm>
              <a:off x="5484448"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56C02994-9C2C-4AC0-8C17-BFF1504A3791}"/>
                </a:ext>
              </a:extLst>
            </p:cNvPr>
            <p:cNvCxnSpPr>
              <a:stCxn id="21" idx="0"/>
              <a:endCxn id="9" idx="2"/>
            </p:cNvCxnSpPr>
            <p:nvPr/>
          </p:nvCxnSpPr>
          <p:spPr>
            <a:xfrm flipV="1">
              <a:off x="2693541" y="4292608"/>
              <a:ext cx="0" cy="4990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4" name="矩形: 圆角 33">
              <a:extLst>
                <a:ext uri="{FF2B5EF4-FFF2-40B4-BE49-F238E27FC236}">
                  <a16:creationId xmlns:a16="http://schemas.microsoft.com/office/drawing/2014/main" id="{96DDFDF2-EF92-4B37-A2CC-2B2B952864ED}"/>
                </a:ext>
              </a:extLst>
            </p:cNvPr>
            <p:cNvSpPr/>
            <p:nvPr/>
          </p:nvSpPr>
          <p:spPr>
            <a:xfrm>
              <a:off x="3089585" y="4581249"/>
              <a:ext cx="2952328" cy="107001"/>
            </a:xfrm>
            <a:prstGeom prst="roundRect">
              <a:avLst>
                <a:gd name="adj" fmla="val 50000"/>
              </a:avLst>
            </a:prstGeom>
            <a:ln w="25400">
              <a:roun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F985318A-A35C-441A-9ACE-BB43DB8F7642}"/>
                </a:ext>
              </a:extLst>
            </p:cNvPr>
            <p:cNvCxnSpPr>
              <a:stCxn id="34" idx="1"/>
            </p:cNvCxnSpPr>
            <p:nvPr/>
          </p:nvCxnSpPr>
          <p:spPr>
            <a:xfrm flipH="1" flipV="1">
              <a:off x="2693541" y="4634013"/>
              <a:ext cx="396044" cy="73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连接符: 肘形 38">
              <a:extLst>
                <a:ext uri="{FF2B5EF4-FFF2-40B4-BE49-F238E27FC236}">
                  <a16:creationId xmlns:a16="http://schemas.microsoft.com/office/drawing/2014/main" id="{87A560A6-4D3B-4314-90B0-572AE88AD952}"/>
                </a:ext>
              </a:extLst>
            </p:cNvPr>
            <p:cNvCxnSpPr>
              <a:stCxn id="34" idx="3"/>
              <a:endCxn id="15" idx="2"/>
            </p:cNvCxnSpPr>
            <p:nvPr/>
          </p:nvCxnSpPr>
          <p:spPr>
            <a:xfrm flipV="1">
              <a:off x="6041913" y="4292608"/>
              <a:ext cx="290768" cy="342142"/>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215350F-5C75-4850-B197-DEBE910B1194}"/>
                </a:ext>
              </a:extLst>
            </p:cNvPr>
            <p:cNvCxnSpPr/>
            <p:nvPr/>
          </p:nvCxnSpPr>
          <p:spPr>
            <a:xfrm flipH="1" flipV="1">
              <a:off x="3943015" y="4177293"/>
              <a:ext cx="180000" cy="73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5DB984EC-426E-4E3B-837C-D5745939D1DC}"/>
                </a:ext>
              </a:extLst>
            </p:cNvPr>
            <p:cNvCxnSpPr/>
            <p:nvPr/>
          </p:nvCxnSpPr>
          <p:spPr>
            <a:xfrm flipV="1">
              <a:off x="4496117" y="3795886"/>
              <a:ext cx="0" cy="32400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C4C0C076-1279-4FE2-8E19-95AE42306E24}"/>
                </a:ext>
              </a:extLst>
            </p:cNvPr>
            <p:cNvSpPr/>
            <p:nvPr/>
          </p:nvSpPr>
          <p:spPr>
            <a:xfrm>
              <a:off x="700090" y="4089810"/>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信源</a:t>
              </a:r>
            </a:p>
          </p:txBody>
        </p:sp>
        <p:sp>
          <p:nvSpPr>
            <p:cNvPr id="44" name="矩形 43">
              <a:extLst>
                <a:ext uri="{FF2B5EF4-FFF2-40B4-BE49-F238E27FC236}">
                  <a16:creationId xmlns:a16="http://schemas.microsoft.com/office/drawing/2014/main" id="{6C54BAE3-7118-4F7B-86C5-95B6D4DDE98E}"/>
                </a:ext>
              </a:extLst>
            </p:cNvPr>
            <p:cNvSpPr/>
            <p:nvPr/>
          </p:nvSpPr>
          <p:spPr>
            <a:xfrm>
              <a:off x="2052094" y="4444229"/>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密钥</a:t>
              </a:r>
              <a:r>
                <a:rPr lang="en-US" altLang="zh-CN" sz="1400" dirty="0">
                  <a:solidFill>
                    <a:schemeClr val="tx1"/>
                  </a:solidFill>
                  <a:latin typeface="华文楷体" panose="02010600040101010101" pitchFamily="2" charset="-122"/>
                  <a:ea typeface="华文楷体" panose="02010600040101010101" pitchFamily="2" charset="-122"/>
                </a:rPr>
                <a:t>k</a:t>
              </a:r>
              <a:endParaRPr lang="zh-CN" altLang="en-US" sz="1400" dirty="0">
                <a:solidFill>
                  <a:schemeClr val="tx1"/>
                </a:solidFill>
                <a:latin typeface="华文楷体" panose="02010600040101010101" pitchFamily="2" charset="-122"/>
                <a:ea typeface="华文楷体" panose="02010600040101010101" pitchFamily="2" charset="-122"/>
              </a:endParaRPr>
            </a:p>
          </p:txBody>
        </p:sp>
      </p:grpSp>
    </p:spTree>
    <p:extLst>
      <p:ext uri="{BB962C8B-B14F-4D97-AF65-F5344CB8AC3E}">
        <p14:creationId xmlns:p14="http://schemas.microsoft.com/office/powerpoint/2010/main" val="335889170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0415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如果一个提供保密服务的密码系统，其加密算法和解密算法分别用</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两个不同的密钥实现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，并且由</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加密密钥不能推导出解密密钥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，则该系统所采用的就</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是非对称密码体制</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采用非对称密钥密码体制的每个用户都有</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选定的密钥。其中一个是可以公开的，称为</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公开密钥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，简称</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；另一个由用户自己秘密保存，称为</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私有密钥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，简称</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私钥</a:t>
            </a:r>
            <a:endPar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grpSp>
        <p:nvGrpSpPr>
          <p:cNvPr id="7" name="组合 6">
            <a:extLst>
              <a:ext uri="{FF2B5EF4-FFF2-40B4-BE49-F238E27FC236}">
                <a16:creationId xmlns:a16="http://schemas.microsoft.com/office/drawing/2014/main" id="{9031115B-54FB-4543-A9BA-D0773EDE15F9}"/>
              </a:ext>
            </a:extLst>
          </p:cNvPr>
          <p:cNvGrpSpPr/>
          <p:nvPr/>
        </p:nvGrpSpPr>
        <p:grpSpPr>
          <a:xfrm>
            <a:off x="792690" y="3291830"/>
            <a:ext cx="7558619" cy="1804410"/>
            <a:chOff x="700090" y="3508375"/>
            <a:chExt cx="7558619" cy="1804410"/>
          </a:xfrm>
        </p:grpSpPr>
        <p:sp>
          <p:nvSpPr>
            <p:cNvPr id="8" name="卷形: 垂直 7">
              <a:extLst>
                <a:ext uri="{FF2B5EF4-FFF2-40B4-BE49-F238E27FC236}">
                  <a16:creationId xmlns:a16="http://schemas.microsoft.com/office/drawing/2014/main" id="{98B25B56-CF51-4181-BA65-EB227C6C1C91}"/>
                </a:ext>
              </a:extLst>
            </p:cNvPr>
            <p:cNvSpPr/>
            <p:nvPr/>
          </p:nvSpPr>
          <p:spPr>
            <a:xfrm rot="21055147">
              <a:off x="1347064" y="3889095"/>
              <a:ext cx="576064" cy="597218"/>
            </a:xfrm>
            <a:prstGeom prst="verticalScroll">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ctr">
              <a:spAutoFit/>
            </a:bodyPr>
            <a:lstStyle/>
            <a:p>
              <a:pPr algn="ctr"/>
              <a:r>
                <a:rPr lang="zh-CN" altLang="en-US" sz="1600" dirty="0">
                  <a:latin typeface="华文楷体" panose="02010600040101010101" pitchFamily="2" charset="-122"/>
                  <a:ea typeface="华文楷体" panose="02010600040101010101" pitchFamily="2" charset="-122"/>
                </a:rPr>
                <a:t>明文</a:t>
              </a:r>
              <a:endParaRPr lang="en-US" altLang="zh-CN" sz="1600" dirty="0">
                <a:latin typeface="华文楷体" panose="02010600040101010101" pitchFamily="2" charset="-122"/>
                <a:ea typeface="华文楷体" panose="02010600040101010101" pitchFamily="2" charset="-122"/>
              </a:endParaRPr>
            </a:p>
            <a:p>
              <a:pPr algn="ctr"/>
              <a:r>
                <a:rPr lang="en-US" altLang="zh-CN" sz="1600" dirty="0">
                  <a:latin typeface="华文楷体" panose="02010600040101010101" pitchFamily="2" charset="-122"/>
                  <a:ea typeface="华文楷体" panose="02010600040101010101" pitchFamily="2" charset="-122"/>
                </a:rPr>
                <a:t>m</a:t>
              </a:r>
              <a:endParaRPr lang="zh-CN" altLang="en-US" sz="1600" dirty="0">
                <a:latin typeface="华文楷体" panose="02010600040101010101" pitchFamily="2" charset="-122"/>
                <a:ea typeface="华文楷体" panose="02010600040101010101" pitchFamily="2" charset="-122"/>
              </a:endParaRPr>
            </a:p>
          </p:txBody>
        </p:sp>
        <p:sp>
          <p:nvSpPr>
            <p:cNvPr id="9" name="卷形: 垂直 8">
              <a:extLst>
                <a:ext uri="{FF2B5EF4-FFF2-40B4-BE49-F238E27FC236}">
                  <a16:creationId xmlns:a16="http://schemas.microsoft.com/office/drawing/2014/main" id="{A6936519-E161-4FD3-B290-7B9A4BE039B5}"/>
                </a:ext>
              </a:extLst>
            </p:cNvPr>
            <p:cNvSpPr/>
            <p:nvPr/>
          </p:nvSpPr>
          <p:spPr>
            <a:xfrm rot="21055147">
              <a:off x="7140730" y="3889095"/>
              <a:ext cx="576064" cy="597218"/>
            </a:xfrm>
            <a:prstGeom prst="verticalScroll">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ctr">
              <a:spAutoFit/>
            </a:bodyPr>
            <a:lstStyle/>
            <a:p>
              <a:pPr algn="ctr"/>
              <a:r>
                <a:rPr lang="zh-CN" altLang="en-US" sz="1600" dirty="0">
                  <a:latin typeface="华文楷体" panose="02010600040101010101" pitchFamily="2" charset="-122"/>
                  <a:ea typeface="华文楷体" panose="02010600040101010101" pitchFamily="2" charset="-122"/>
                </a:rPr>
                <a:t>明文</a:t>
              </a:r>
              <a:endParaRPr lang="en-US" altLang="zh-CN" sz="1600" dirty="0">
                <a:latin typeface="华文楷体" panose="02010600040101010101" pitchFamily="2" charset="-122"/>
                <a:ea typeface="华文楷体" panose="02010600040101010101" pitchFamily="2" charset="-122"/>
              </a:endParaRPr>
            </a:p>
            <a:p>
              <a:pPr algn="ctr"/>
              <a:r>
                <a:rPr lang="en-US" altLang="zh-CN" sz="1600" dirty="0">
                  <a:latin typeface="华文楷体" panose="02010600040101010101" pitchFamily="2" charset="-122"/>
                  <a:ea typeface="华文楷体" panose="02010600040101010101" pitchFamily="2" charset="-122"/>
                </a:rPr>
                <a:t>m</a:t>
              </a:r>
              <a:endParaRPr lang="zh-CN" altLang="en-US" sz="1600" dirty="0">
                <a:latin typeface="华文楷体" panose="02010600040101010101" pitchFamily="2" charset="-122"/>
                <a:ea typeface="华文楷体" panose="02010600040101010101" pitchFamily="2" charset="-122"/>
              </a:endParaRPr>
            </a:p>
          </p:txBody>
        </p:sp>
        <p:sp>
          <p:nvSpPr>
            <p:cNvPr id="10" name="矩形 9">
              <a:extLst>
                <a:ext uri="{FF2B5EF4-FFF2-40B4-BE49-F238E27FC236}">
                  <a16:creationId xmlns:a16="http://schemas.microsoft.com/office/drawing/2014/main" id="{77CBF968-598A-4751-A86B-22E4EE3F47CB}"/>
                </a:ext>
              </a:extLst>
            </p:cNvPr>
            <p:cNvSpPr/>
            <p:nvPr/>
          </p:nvSpPr>
          <p:spPr>
            <a:xfrm>
              <a:off x="2297497" y="4082801"/>
              <a:ext cx="792088" cy="209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加密算法</a:t>
              </a:r>
            </a:p>
          </p:txBody>
        </p:sp>
        <p:sp>
          <p:nvSpPr>
            <p:cNvPr id="11" name="流程图: 资料带 10">
              <a:extLst>
                <a:ext uri="{FF2B5EF4-FFF2-40B4-BE49-F238E27FC236}">
                  <a16:creationId xmlns:a16="http://schemas.microsoft.com/office/drawing/2014/main" id="{814ECC18-5E88-4AA2-A05D-882665E90D87}"/>
                </a:ext>
              </a:extLst>
            </p:cNvPr>
            <p:cNvSpPr/>
            <p:nvPr/>
          </p:nvSpPr>
          <p:spPr>
            <a:xfrm>
              <a:off x="3540366" y="3935676"/>
              <a:ext cx="399148" cy="504056"/>
            </a:xfrm>
            <a:prstGeom prst="flowChartPunchedTape">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密文</a:t>
              </a:r>
              <a:endParaRPr lang="en-US" altLang="zh-CN" sz="1400" dirty="0">
                <a:latin typeface="华文楷体" panose="02010600040101010101" pitchFamily="2" charset="-122"/>
                <a:ea typeface="华文楷体" panose="02010600040101010101" pitchFamily="2" charset="-122"/>
              </a:endParaRPr>
            </a:p>
            <a:p>
              <a:pPr algn="ctr"/>
              <a:r>
                <a:rPr lang="en-US" altLang="zh-CN" sz="1400" dirty="0">
                  <a:latin typeface="华文楷体" panose="02010600040101010101" pitchFamily="2" charset="-122"/>
                  <a:ea typeface="华文楷体" panose="02010600040101010101" pitchFamily="2" charset="-122"/>
                </a:rPr>
                <a:t>c</a:t>
              </a:r>
              <a:endParaRPr lang="zh-CN" altLang="en-US" sz="1400" dirty="0">
                <a:latin typeface="华文楷体" panose="02010600040101010101" pitchFamily="2" charset="-122"/>
                <a:ea typeface="华文楷体" panose="02010600040101010101" pitchFamily="2" charset="-122"/>
              </a:endParaRPr>
            </a:p>
          </p:txBody>
        </p:sp>
        <p:sp>
          <p:nvSpPr>
            <p:cNvPr id="12" name="流程图: 资料带 11">
              <a:extLst>
                <a:ext uri="{FF2B5EF4-FFF2-40B4-BE49-F238E27FC236}">
                  <a16:creationId xmlns:a16="http://schemas.microsoft.com/office/drawing/2014/main" id="{0B3C901A-F6D1-4198-A88B-D0AC7FAD37FB}"/>
                </a:ext>
              </a:extLst>
            </p:cNvPr>
            <p:cNvSpPr/>
            <p:nvPr/>
          </p:nvSpPr>
          <p:spPr>
            <a:xfrm>
              <a:off x="5085300" y="3935676"/>
              <a:ext cx="399148" cy="504056"/>
            </a:xfrm>
            <a:prstGeom prst="flowChartPunchedTape">
              <a:avLst/>
            </a:prstGeom>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密文</a:t>
              </a:r>
              <a:endParaRPr lang="en-US" altLang="zh-CN" sz="1400" dirty="0">
                <a:latin typeface="华文楷体" panose="02010600040101010101" pitchFamily="2" charset="-122"/>
                <a:ea typeface="华文楷体" panose="02010600040101010101" pitchFamily="2" charset="-122"/>
              </a:endParaRPr>
            </a:p>
            <a:p>
              <a:pPr algn="ctr"/>
              <a:r>
                <a:rPr lang="en-US" altLang="zh-CN" sz="1400" dirty="0">
                  <a:latin typeface="华文楷体" panose="02010600040101010101" pitchFamily="2" charset="-122"/>
                  <a:ea typeface="华文楷体" panose="02010600040101010101" pitchFamily="2" charset="-122"/>
                </a:rPr>
                <a:t>c</a:t>
              </a:r>
              <a:endParaRPr lang="zh-CN" altLang="en-US" sz="1400" dirty="0">
                <a:latin typeface="华文楷体" panose="02010600040101010101" pitchFamily="2" charset="-122"/>
                <a:ea typeface="华文楷体" panose="02010600040101010101" pitchFamily="2" charset="-122"/>
              </a:endParaRPr>
            </a:p>
          </p:txBody>
        </p:sp>
        <p:sp>
          <p:nvSpPr>
            <p:cNvPr id="13" name="矩形 12">
              <a:extLst>
                <a:ext uri="{FF2B5EF4-FFF2-40B4-BE49-F238E27FC236}">
                  <a16:creationId xmlns:a16="http://schemas.microsoft.com/office/drawing/2014/main" id="{7E6B7827-1E0D-4FD9-965B-37C6709CCF85}"/>
                </a:ext>
              </a:extLst>
            </p:cNvPr>
            <p:cNvSpPr/>
            <p:nvPr/>
          </p:nvSpPr>
          <p:spPr>
            <a:xfrm>
              <a:off x="5936637" y="4082801"/>
              <a:ext cx="792088" cy="209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华文楷体" panose="02010600040101010101" pitchFamily="2" charset="-122"/>
                  <a:ea typeface="华文楷体" panose="02010600040101010101" pitchFamily="2" charset="-122"/>
                </a:rPr>
                <a:t>解密算法</a:t>
              </a:r>
            </a:p>
          </p:txBody>
        </p:sp>
        <p:sp>
          <p:nvSpPr>
            <p:cNvPr id="14" name="流程图: 终止 13">
              <a:extLst>
                <a:ext uri="{FF2B5EF4-FFF2-40B4-BE49-F238E27FC236}">
                  <a16:creationId xmlns:a16="http://schemas.microsoft.com/office/drawing/2014/main" id="{42639463-5FF3-4277-AB9C-D1B10FABDE0E}"/>
                </a:ext>
              </a:extLst>
            </p:cNvPr>
            <p:cNvSpPr/>
            <p:nvPr/>
          </p:nvSpPr>
          <p:spPr>
            <a:xfrm>
              <a:off x="4107236" y="4134228"/>
              <a:ext cx="761379" cy="89328"/>
            </a:xfrm>
            <a:prstGeom prst="flowChartTerminator">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CDCF562-978D-42FB-BAB3-28CB120D3D22}"/>
                </a:ext>
              </a:extLst>
            </p:cNvPr>
            <p:cNvSpPr/>
            <p:nvPr/>
          </p:nvSpPr>
          <p:spPr>
            <a:xfrm>
              <a:off x="3956388" y="3508375"/>
              <a:ext cx="1072096" cy="2672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2"/>
                  </a:solidFill>
                  <a:latin typeface="华文楷体" panose="02010600040101010101" pitchFamily="2" charset="-122"/>
                  <a:ea typeface="华文楷体" panose="02010600040101010101" pitchFamily="2" charset="-122"/>
                </a:rPr>
                <a:t>密码攻击者</a:t>
              </a:r>
            </a:p>
          </p:txBody>
        </p:sp>
        <p:sp>
          <p:nvSpPr>
            <p:cNvPr id="16" name="矩形 15">
              <a:extLst>
                <a:ext uri="{FF2B5EF4-FFF2-40B4-BE49-F238E27FC236}">
                  <a16:creationId xmlns:a16="http://schemas.microsoft.com/office/drawing/2014/main" id="{854FBE1A-623C-4139-8E3D-2980119BBD65}"/>
                </a:ext>
              </a:extLst>
            </p:cNvPr>
            <p:cNvSpPr/>
            <p:nvPr/>
          </p:nvSpPr>
          <p:spPr>
            <a:xfrm>
              <a:off x="5982558" y="4872044"/>
              <a:ext cx="700246" cy="283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2"/>
                  </a:solidFill>
                  <a:latin typeface="华文楷体" panose="02010600040101010101" pitchFamily="2" charset="-122"/>
                  <a:ea typeface="华文楷体" panose="02010600040101010101" pitchFamily="2" charset="-122"/>
                </a:rPr>
                <a:t>密钥源</a:t>
              </a:r>
            </a:p>
          </p:txBody>
        </p:sp>
        <p:sp>
          <p:nvSpPr>
            <p:cNvPr id="17" name="矩形 16">
              <a:extLst>
                <a:ext uri="{FF2B5EF4-FFF2-40B4-BE49-F238E27FC236}">
                  <a16:creationId xmlns:a16="http://schemas.microsoft.com/office/drawing/2014/main" id="{ED858C61-5E28-4778-B699-88215FA35F0D}"/>
                </a:ext>
              </a:extLst>
            </p:cNvPr>
            <p:cNvSpPr/>
            <p:nvPr/>
          </p:nvSpPr>
          <p:spPr>
            <a:xfrm>
              <a:off x="4103735" y="4223556"/>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普通信道</a:t>
              </a:r>
            </a:p>
          </p:txBody>
        </p:sp>
        <p:sp>
          <p:nvSpPr>
            <p:cNvPr id="18" name="矩形 17">
              <a:extLst>
                <a:ext uri="{FF2B5EF4-FFF2-40B4-BE49-F238E27FC236}">
                  <a16:creationId xmlns:a16="http://schemas.microsoft.com/office/drawing/2014/main" id="{91605FEF-3FCB-43E1-A7F4-0A66644D0D77}"/>
                </a:ext>
              </a:extLst>
            </p:cNvPr>
            <p:cNvSpPr/>
            <p:nvPr/>
          </p:nvSpPr>
          <p:spPr>
            <a:xfrm>
              <a:off x="4123015" y="5116998"/>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普通信道</a:t>
              </a:r>
            </a:p>
          </p:txBody>
        </p:sp>
        <p:sp>
          <p:nvSpPr>
            <p:cNvPr id="20" name="矩形 19">
              <a:extLst>
                <a:ext uri="{FF2B5EF4-FFF2-40B4-BE49-F238E27FC236}">
                  <a16:creationId xmlns:a16="http://schemas.microsoft.com/office/drawing/2014/main" id="{6C06A828-149E-45A1-BE8B-EB249F67E4AC}"/>
                </a:ext>
              </a:extLst>
            </p:cNvPr>
            <p:cNvSpPr/>
            <p:nvPr/>
          </p:nvSpPr>
          <p:spPr>
            <a:xfrm>
              <a:off x="5347956" y="4515464"/>
              <a:ext cx="911327" cy="203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私有密钥</a:t>
              </a:r>
              <a:r>
                <a:rPr lang="en-US" altLang="zh-CN" sz="1400" dirty="0" err="1">
                  <a:solidFill>
                    <a:schemeClr val="tx1"/>
                  </a:solidFill>
                  <a:latin typeface="华文楷体" panose="02010600040101010101" pitchFamily="2" charset="-122"/>
                  <a:ea typeface="华文楷体" panose="02010600040101010101" pitchFamily="2" charset="-122"/>
                </a:rPr>
                <a:t>kd</a:t>
              </a:r>
              <a:endParaRPr lang="en-US" altLang="zh-CN" sz="1400" dirty="0">
                <a:solidFill>
                  <a:schemeClr val="tx1"/>
                </a:solidFill>
                <a:latin typeface="华文楷体" panose="02010600040101010101" pitchFamily="2" charset="-122"/>
                <a:ea typeface="华文楷体" panose="02010600040101010101" pitchFamily="2" charset="-122"/>
              </a:endParaRPr>
            </a:p>
            <a:p>
              <a:pPr algn="ctr"/>
              <a:r>
                <a:rPr lang="zh-CN" altLang="en-US" sz="1400" dirty="0">
                  <a:solidFill>
                    <a:schemeClr val="tx1"/>
                  </a:solidFill>
                  <a:latin typeface="华文楷体" panose="02010600040101010101" pitchFamily="2" charset="-122"/>
                  <a:ea typeface="华文楷体" panose="02010600040101010101" pitchFamily="2" charset="-122"/>
                </a:rPr>
                <a:t>（解密密钥）</a:t>
              </a:r>
            </a:p>
          </p:txBody>
        </p:sp>
        <p:sp>
          <p:nvSpPr>
            <p:cNvPr id="21" name="矩形 20">
              <a:extLst>
                <a:ext uri="{FF2B5EF4-FFF2-40B4-BE49-F238E27FC236}">
                  <a16:creationId xmlns:a16="http://schemas.microsoft.com/office/drawing/2014/main" id="{46F80360-0E15-44A4-82E4-5D832C968824}"/>
                </a:ext>
              </a:extLst>
            </p:cNvPr>
            <p:cNvSpPr/>
            <p:nvPr/>
          </p:nvSpPr>
          <p:spPr>
            <a:xfrm>
              <a:off x="7497331" y="4054397"/>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信宿</a:t>
              </a:r>
            </a:p>
          </p:txBody>
        </p:sp>
        <p:cxnSp>
          <p:nvCxnSpPr>
            <p:cNvPr id="22" name="直接箭头连接符 21">
              <a:extLst>
                <a:ext uri="{FF2B5EF4-FFF2-40B4-BE49-F238E27FC236}">
                  <a16:creationId xmlns:a16="http://schemas.microsoft.com/office/drawing/2014/main" id="{B45D01AD-C194-49CC-9B12-B2925B7BA827}"/>
                </a:ext>
              </a:extLst>
            </p:cNvPr>
            <p:cNvCxnSpPr>
              <a:cxnSpLocks/>
            </p:cNvCxnSpPr>
            <p:nvPr/>
          </p:nvCxnSpPr>
          <p:spPr>
            <a:xfrm>
              <a:off x="1848412"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EBE96FD-2D57-45C8-9337-74351D021C53}"/>
                </a:ext>
              </a:extLst>
            </p:cNvPr>
            <p:cNvCxnSpPr>
              <a:cxnSpLocks/>
            </p:cNvCxnSpPr>
            <p:nvPr/>
          </p:nvCxnSpPr>
          <p:spPr>
            <a:xfrm>
              <a:off x="3091281"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B65AC1C-E21C-44D2-81BC-08E29A4F3F99}"/>
                </a:ext>
              </a:extLst>
            </p:cNvPr>
            <p:cNvCxnSpPr>
              <a:cxnSpLocks/>
            </p:cNvCxnSpPr>
            <p:nvPr/>
          </p:nvCxnSpPr>
          <p:spPr>
            <a:xfrm>
              <a:off x="4858931" y="4178892"/>
              <a:ext cx="21712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7E7CF973-03DC-447B-B3FB-96812724C6B9}"/>
                </a:ext>
              </a:extLst>
            </p:cNvPr>
            <p:cNvCxnSpPr>
              <a:cxnSpLocks/>
            </p:cNvCxnSpPr>
            <p:nvPr/>
          </p:nvCxnSpPr>
          <p:spPr>
            <a:xfrm>
              <a:off x="6728725"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2503CCF0-E75B-4A4E-BE44-104EE3CE7679}"/>
                </a:ext>
              </a:extLst>
            </p:cNvPr>
            <p:cNvCxnSpPr>
              <a:cxnSpLocks/>
            </p:cNvCxnSpPr>
            <p:nvPr/>
          </p:nvCxnSpPr>
          <p:spPr>
            <a:xfrm>
              <a:off x="5484448" y="4178892"/>
              <a:ext cx="44908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BB7FF451-6CAE-44A4-B750-E6312BB01B7C}"/>
                </a:ext>
              </a:extLst>
            </p:cNvPr>
            <p:cNvCxnSpPr>
              <a:cxnSpLocks/>
              <a:stCxn id="16" idx="0"/>
              <a:endCxn id="13" idx="2"/>
            </p:cNvCxnSpPr>
            <p:nvPr/>
          </p:nvCxnSpPr>
          <p:spPr>
            <a:xfrm flipV="1">
              <a:off x="6332681" y="4292608"/>
              <a:ext cx="0" cy="57943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6EF1903A-E526-4913-86C2-7C2FA8F3E88E}"/>
                </a:ext>
              </a:extLst>
            </p:cNvPr>
            <p:cNvSpPr/>
            <p:nvPr/>
          </p:nvSpPr>
          <p:spPr>
            <a:xfrm>
              <a:off x="2971819" y="4944700"/>
              <a:ext cx="2664000" cy="107001"/>
            </a:xfrm>
            <a:prstGeom prst="roundRect">
              <a:avLst>
                <a:gd name="adj" fmla="val 50000"/>
              </a:avLst>
            </a:prstGeom>
            <a:ln w="25400">
              <a:round/>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30" name="连接符: 肘形 29">
              <a:extLst>
                <a:ext uri="{FF2B5EF4-FFF2-40B4-BE49-F238E27FC236}">
                  <a16:creationId xmlns:a16="http://schemas.microsoft.com/office/drawing/2014/main" id="{4CF62FE7-C0CD-4BFD-8869-06A97654A88B}"/>
                </a:ext>
              </a:extLst>
            </p:cNvPr>
            <p:cNvCxnSpPr>
              <a:cxnSpLocks/>
              <a:stCxn id="28" idx="1"/>
              <a:endCxn id="10" idx="2"/>
            </p:cNvCxnSpPr>
            <p:nvPr/>
          </p:nvCxnSpPr>
          <p:spPr>
            <a:xfrm rot="10800000">
              <a:off x="2693541" y="4292609"/>
              <a:ext cx="278278" cy="705593"/>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259E376D-792F-45A5-8AA6-D3D6D6E9AA0E}"/>
                </a:ext>
              </a:extLst>
            </p:cNvPr>
            <p:cNvCxnSpPr/>
            <p:nvPr/>
          </p:nvCxnSpPr>
          <p:spPr>
            <a:xfrm flipH="1" flipV="1">
              <a:off x="3943015" y="4177293"/>
              <a:ext cx="180000" cy="73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CCEC061-41AD-4A7C-8427-E1A6669EB3F6}"/>
                </a:ext>
              </a:extLst>
            </p:cNvPr>
            <p:cNvCxnSpPr/>
            <p:nvPr/>
          </p:nvCxnSpPr>
          <p:spPr>
            <a:xfrm flipV="1">
              <a:off x="4496117" y="3795886"/>
              <a:ext cx="0" cy="32400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0A7A0CF4-8643-4408-9F6A-15D0A98746D4}"/>
                </a:ext>
              </a:extLst>
            </p:cNvPr>
            <p:cNvSpPr/>
            <p:nvPr/>
          </p:nvSpPr>
          <p:spPr>
            <a:xfrm>
              <a:off x="700090" y="4089810"/>
              <a:ext cx="761378" cy="19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信源</a:t>
              </a:r>
            </a:p>
          </p:txBody>
        </p:sp>
        <p:sp>
          <p:nvSpPr>
            <p:cNvPr id="34" name="矩形 33">
              <a:extLst>
                <a:ext uri="{FF2B5EF4-FFF2-40B4-BE49-F238E27FC236}">
                  <a16:creationId xmlns:a16="http://schemas.microsoft.com/office/drawing/2014/main" id="{0DCD4B74-4F02-49DA-94F2-D24E564A96EB}"/>
                </a:ext>
              </a:extLst>
            </p:cNvPr>
            <p:cNvSpPr/>
            <p:nvPr/>
          </p:nvSpPr>
          <p:spPr>
            <a:xfrm>
              <a:off x="1798393" y="4665414"/>
              <a:ext cx="873269" cy="189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rPr>
                <a:t>公开密钥</a:t>
              </a:r>
              <a:r>
                <a:rPr lang="en-US" altLang="zh-CN" sz="1400" dirty="0" err="1">
                  <a:solidFill>
                    <a:schemeClr val="tx1"/>
                  </a:solidFill>
                  <a:latin typeface="华文楷体" panose="02010600040101010101" pitchFamily="2" charset="-122"/>
                  <a:ea typeface="华文楷体" panose="02010600040101010101" pitchFamily="2" charset="-122"/>
                </a:rPr>
                <a:t>ke</a:t>
              </a:r>
              <a:endParaRPr lang="en-US" altLang="zh-CN" sz="1400" dirty="0">
                <a:solidFill>
                  <a:schemeClr val="tx1"/>
                </a:solidFill>
                <a:latin typeface="华文楷体" panose="02010600040101010101" pitchFamily="2" charset="-122"/>
                <a:ea typeface="华文楷体" panose="02010600040101010101" pitchFamily="2" charset="-122"/>
              </a:endParaRPr>
            </a:p>
            <a:p>
              <a:pPr algn="ctr"/>
              <a:r>
                <a:rPr lang="en-US" altLang="zh-CN" sz="1400" dirty="0">
                  <a:solidFill>
                    <a:schemeClr val="tx1"/>
                  </a:solidFill>
                  <a:latin typeface="华文楷体" panose="02010600040101010101" pitchFamily="2" charset="-122"/>
                  <a:ea typeface="华文楷体" panose="02010600040101010101" pitchFamily="2" charset="-122"/>
                </a:rPr>
                <a:t>(</a:t>
              </a:r>
              <a:r>
                <a:rPr lang="zh-CN" altLang="en-US" sz="1400" dirty="0">
                  <a:solidFill>
                    <a:schemeClr val="tx1"/>
                  </a:solidFill>
                  <a:latin typeface="华文楷体" panose="02010600040101010101" pitchFamily="2" charset="-122"/>
                  <a:ea typeface="华文楷体" panose="02010600040101010101" pitchFamily="2" charset="-122"/>
                </a:rPr>
                <a:t>加密密钥）</a:t>
              </a:r>
            </a:p>
          </p:txBody>
        </p:sp>
      </p:grpSp>
      <p:cxnSp>
        <p:nvCxnSpPr>
          <p:cNvPr id="44" name="直接连接符 43">
            <a:extLst>
              <a:ext uri="{FF2B5EF4-FFF2-40B4-BE49-F238E27FC236}">
                <a16:creationId xmlns:a16="http://schemas.microsoft.com/office/drawing/2014/main" id="{8CEAACB4-FE42-4179-8DF6-74179F55A6E7}"/>
              </a:ext>
            </a:extLst>
          </p:cNvPr>
          <p:cNvCxnSpPr/>
          <p:nvPr/>
        </p:nvCxnSpPr>
        <p:spPr>
          <a:xfrm flipH="1" flipV="1">
            <a:off x="5683491" y="4788774"/>
            <a:ext cx="396000" cy="737"/>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59313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0140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根据对明文信息的处理方式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分组密码，将消息进行分组，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一次处理一个数据块</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（分组）元素的输入，对每个输入块产生一个输出块。在用分组密码加密时，一个</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明文分组</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被当作</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一个整体</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来产生一个</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等长</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密文分组</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输出。分组密码通常使用的分组大小是</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a:t>
            </a:r>
            <a:r>
              <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。一般</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对称密码</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都采用</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分组加密</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形式，常用的分组密码有：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3DES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IDEA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序列密码，是</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连续地处理输入元素</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，并随着处理过程的进行，</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一次产生一个元素的输出</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，在用序列密码加密时，一次加密</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一个比特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一个字节</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。常用的序列密码有：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A5</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SEAL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系列密码等</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密码系统的组成与分类</a:t>
            </a:r>
          </a:p>
        </p:txBody>
      </p:sp>
    </p:spTree>
    <p:extLst>
      <p:ext uri="{BB962C8B-B14F-4D97-AF65-F5344CB8AC3E}">
        <p14:creationId xmlns:p14="http://schemas.microsoft.com/office/powerpoint/2010/main" val="99094893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3086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分组密码就是将明文消息序列</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分成等长的消息组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2n</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；在密钥控制下，按固定的算法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一组一组进行加密。加密后输出等长密文组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m+1</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m+2</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,...,y</a:t>
            </a:r>
            <a:r>
              <a:rPr lang="en-US" altLang="zh-CN" sz="2000" baseline="-25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2m</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通常，分组密码算法是提供数据安全的一个基本构件，它以固定长度的分组作为基本的处理单位（如典型地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位作为一个分组的大小）但要保密传输的消息不一定刚好是一个分组长度，根据分组密码算法的明文输入长度要求，一个长报文需要分成多个明文分组</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spTree>
    <p:extLst>
      <p:ext uri="{BB962C8B-B14F-4D97-AF65-F5344CB8AC3E}">
        <p14:creationId xmlns:p14="http://schemas.microsoft.com/office/powerpoint/2010/main" val="12320645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05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为了在各种各样的应用中使用这些基本加密构件，定义了五种常用的“操作模式”。这五种操作模式试图覆盖所有可能使用基本构件的加密应用</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任何一种对称分组密码算法都可以基于这些方式进行应用</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spTree>
    <p:extLst>
      <p:ext uri="{BB962C8B-B14F-4D97-AF65-F5344CB8AC3E}">
        <p14:creationId xmlns:p14="http://schemas.microsoft.com/office/powerpoint/2010/main" val="30115474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4239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常用的有五种加密模式：</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电码本模式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Electronic Code Book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密文分组链接模式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CBC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Cipher Block Chaining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密文反馈模式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Ciphertext Feedback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输出反馈模式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OFB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Output Feedback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计数器模式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CRT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Counter Mode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spTree>
    <p:extLst>
      <p:ext uri="{BB962C8B-B14F-4D97-AF65-F5344CB8AC3E}">
        <p14:creationId xmlns:p14="http://schemas.microsoft.com/office/powerpoint/2010/main" val="41880012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3024336" cy="35783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电码本模式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ECB </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模式是分组密码的基本工作方式。</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每一个加密区块依次独立加密，产生独立的密文区块，每一加密区块的加密结果均不受其他区块的影响。</a:t>
            </a:r>
          </a:p>
          <a:p>
            <a:pPr marL="342900" indent="-342900">
              <a:lnSpc>
                <a:spcPct val="130000"/>
              </a:lnSpc>
              <a:spcBef>
                <a:spcPts val="300"/>
              </a:spcBef>
              <a:spcAft>
                <a:spcPts val="300"/>
              </a:spcAft>
              <a:buFont typeface="Wingdings" panose="05000000000000000000" pitchFamily="2" charset="2"/>
              <a:buChar char="Ø"/>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4" name="对象 2">
            <a:extLst>
              <a:ext uri="{FF2B5EF4-FFF2-40B4-BE49-F238E27FC236}">
                <a16:creationId xmlns:a16="http://schemas.microsoft.com/office/drawing/2014/main" id="{E4F3BDC2-2765-4022-9024-8530633E5A0F}"/>
              </a:ext>
            </a:extLst>
          </p:cNvPr>
          <p:cNvGraphicFramePr>
            <a:graphicFrameLocks noChangeAspect="1"/>
          </p:cNvGraphicFramePr>
          <p:nvPr>
            <p:extLst>
              <p:ext uri="{D42A27DB-BD31-4B8C-83A1-F6EECF244321}">
                <p14:modId xmlns:p14="http://schemas.microsoft.com/office/powerpoint/2010/main" val="2938971339"/>
              </p:ext>
            </p:extLst>
          </p:nvPr>
        </p:nvGraphicFramePr>
        <p:xfrm>
          <a:off x="3368515" y="594166"/>
          <a:ext cx="5761037" cy="4665662"/>
        </p:xfrm>
        <a:graphic>
          <a:graphicData uri="http://schemas.openxmlformats.org/presentationml/2006/ole">
            <mc:AlternateContent xmlns:mc="http://schemas.openxmlformats.org/markup-compatibility/2006">
              <mc:Choice xmlns:v="urn:schemas-microsoft-com:vml" Requires="v">
                <p:oleObj r:id="rId3" imgW="3232785" imgH="2614930" progId="Visio.Drawing.11">
                  <p:embed/>
                </p:oleObj>
              </mc:Choice>
              <mc:Fallback>
                <p:oleObj r:id="rId3" imgW="3232785" imgH="2614930" progId="Visio.Drawing.11">
                  <p:embed/>
                  <p:pic>
                    <p:nvPicPr>
                      <p:cNvPr id="4" name="对象 2">
                        <a:extLst>
                          <a:ext uri="{FF2B5EF4-FFF2-40B4-BE49-F238E27FC236}">
                            <a16:creationId xmlns:a16="http://schemas.microsoft.com/office/drawing/2014/main" id="{E4F3BDC2-2765-4022-9024-8530633E5A0F}"/>
                          </a:ext>
                        </a:extLst>
                      </p:cNvPr>
                      <p:cNvPicPr/>
                      <p:nvPr/>
                    </p:nvPicPr>
                    <p:blipFill>
                      <a:blip r:embed="rId4"/>
                      <a:stretch>
                        <a:fillRect/>
                      </a:stretch>
                    </p:blipFill>
                    <p:spPr>
                      <a:xfrm>
                        <a:off x="3368515" y="594166"/>
                        <a:ext cx="5761037" cy="4665662"/>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19197180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3816424" cy="422160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密文分组链接模式</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CBC </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第一个加密区块先与初始向量（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Initialization  Vector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）做异或（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XOR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）运算，再进行加密。其他每个加密区块加密之前，必须与前一个加密区块的密文作一次异或运算，再进行加密。</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每一个区块的加密结果均会受到前面所有区块内容的影响，所以即使在明文中出现多次相同的明文，也会产生不同的密文。</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5" name="对象 4">
            <a:extLst>
              <a:ext uri="{FF2B5EF4-FFF2-40B4-BE49-F238E27FC236}">
                <a16:creationId xmlns:a16="http://schemas.microsoft.com/office/drawing/2014/main" id="{8C2387C1-3D03-4749-A426-7830CB6524DA}"/>
              </a:ext>
            </a:extLst>
          </p:cNvPr>
          <p:cNvGraphicFramePr>
            <a:graphicFrameLocks noChangeAspect="1"/>
          </p:cNvGraphicFramePr>
          <p:nvPr>
            <p:extLst>
              <p:ext uri="{D42A27DB-BD31-4B8C-83A1-F6EECF244321}">
                <p14:modId xmlns:p14="http://schemas.microsoft.com/office/powerpoint/2010/main" val="538604393"/>
              </p:ext>
            </p:extLst>
          </p:nvPr>
        </p:nvGraphicFramePr>
        <p:xfrm>
          <a:off x="4233901" y="699542"/>
          <a:ext cx="4910099" cy="4515279"/>
        </p:xfrm>
        <a:graphic>
          <a:graphicData uri="http://schemas.openxmlformats.org/presentationml/2006/ole">
            <mc:AlternateContent xmlns:mc="http://schemas.openxmlformats.org/markup-compatibility/2006">
              <mc:Choice xmlns:v="urn:schemas-microsoft-com:vml" Requires="v">
                <p:oleObj r:id="rId3" imgW="3248660" imgH="2992120" progId="Visio.Drawing.11">
                  <p:embed/>
                </p:oleObj>
              </mc:Choice>
              <mc:Fallback>
                <p:oleObj r:id="rId3" imgW="3248660" imgH="2992120" progId="Visio.Drawing.11">
                  <p:embed/>
                  <p:pic>
                    <p:nvPicPr>
                      <p:cNvPr id="5" name="对象 4">
                        <a:extLst>
                          <a:ext uri="{FF2B5EF4-FFF2-40B4-BE49-F238E27FC236}">
                            <a16:creationId xmlns:a16="http://schemas.microsoft.com/office/drawing/2014/main" id="{8C2387C1-3D03-4749-A426-7830CB6524DA}"/>
                          </a:ext>
                        </a:extLst>
                      </p:cNvPr>
                      <p:cNvPicPr/>
                      <p:nvPr/>
                    </p:nvPicPr>
                    <p:blipFill>
                      <a:blip r:embed="rId4"/>
                      <a:stretch>
                        <a:fillRect/>
                      </a:stretch>
                    </p:blipFill>
                    <p:spPr>
                      <a:xfrm>
                        <a:off x="4233901" y="699542"/>
                        <a:ext cx="4910099" cy="4515279"/>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127500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4606170" cy="35783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密文反馈模式</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CFB</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每一个区块的明文与之前区块加密后的密文做异或后，成为的密文。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每一个区块的加密结果也受之前所有区块内容的影响，也会使得在明文中出现多次相同的明文均产生不相同的密文。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在此模式下，与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CBC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模式一样，为了加密第一个区块，必须选择一个初始向量，也难以利用平行处理来加快加密作业。</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6" name="对象 7">
            <a:extLst>
              <a:ext uri="{FF2B5EF4-FFF2-40B4-BE49-F238E27FC236}">
                <a16:creationId xmlns:a16="http://schemas.microsoft.com/office/drawing/2014/main" id="{7FE219EE-6323-4D87-B7C6-D523C7A0B4B6}"/>
              </a:ext>
            </a:extLst>
          </p:cNvPr>
          <p:cNvGraphicFramePr>
            <a:graphicFrameLocks noChangeAspect="1"/>
          </p:cNvGraphicFramePr>
          <p:nvPr>
            <p:extLst>
              <p:ext uri="{D42A27DB-BD31-4B8C-83A1-F6EECF244321}">
                <p14:modId xmlns:p14="http://schemas.microsoft.com/office/powerpoint/2010/main" val="1627720351"/>
              </p:ext>
            </p:extLst>
          </p:nvPr>
        </p:nvGraphicFramePr>
        <p:xfrm>
          <a:off x="5217730" y="627533"/>
          <a:ext cx="3674750" cy="4536663"/>
        </p:xfrm>
        <a:graphic>
          <a:graphicData uri="http://schemas.openxmlformats.org/presentationml/2006/ole">
            <mc:AlternateContent xmlns:mc="http://schemas.openxmlformats.org/markup-compatibility/2006">
              <mc:Choice xmlns:v="urn:schemas-microsoft-com:vml" Requires="v">
                <p:oleObj r:id="rId3" imgW="3513455" imgH="4331335" progId="Visio.Drawing.11">
                  <p:embed/>
                </p:oleObj>
              </mc:Choice>
              <mc:Fallback>
                <p:oleObj r:id="rId3" imgW="3513455" imgH="4331335" progId="Visio.Drawing.11">
                  <p:embed/>
                  <p:pic>
                    <p:nvPicPr>
                      <p:cNvPr id="6" name="对象 7">
                        <a:extLst>
                          <a:ext uri="{FF2B5EF4-FFF2-40B4-BE49-F238E27FC236}">
                            <a16:creationId xmlns:a16="http://schemas.microsoft.com/office/drawing/2014/main" id="{7FE219EE-6323-4D87-B7C6-D523C7A0B4B6}"/>
                          </a:ext>
                        </a:extLst>
                      </p:cNvPr>
                      <p:cNvPicPr/>
                      <p:nvPr/>
                    </p:nvPicPr>
                    <p:blipFill>
                      <a:blip r:embed="rId4"/>
                      <a:stretch>
                        <a:fillRect/>
                      </a:stretch>
                    </p:blipFill>
                    <p:spPr>
                      <a:xfrm>
                        <a:off x="5217730" y="627533"/>
                        <a:ext cx="3674750" cy="4536663"/>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2984531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5184576" cy="429854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输出反馈模式</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OFB</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OFB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模式实际上就是一个同步流密码：用分组密码反复加密一个初始向量，结果作为流密码的密钥，用此密钥以流密码的方式加密明文。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每一个区块的加密结果不受之前所有区块的内容的影响，如果有区块在传输过程中遗失或发生错误，将不至于无法完全解密，但也会使得在明文中出现多次的明文，均产生相同的密文，也容易遭受剪接攻击。</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为了加密第一个区块，必须设置一个初始向量，否则难以利用平行处理来加快加密作业。</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5" name="对象 6">
            <a:extLst>
              <a:ext uri="{FF2B5EF4-FFF2-40B4-BE49-F238E27FC236}">
                <a16:creationId xmlns:a16="http://schemas.microsoft.com/office/drawing/2014/main" id="{1E11E986-5728-4B8F-9848-AA2B1AE065F2}"/>
              </a:ext>
            </a:extLst>
          </p:cNvPr>
          <p:cNvGraphicFramePr>
            <a:graphicFrameLocks noChangeAspect="1"/>
          </p:cNvGraphicFramePr>
          <p:nvPr>
            <p:extLst>
              <p:ext uri="{D42A27DB-BD31-4B8C-83A1-F6EECF244321}">
                <p14:modId xmlns:p14="http://schemas.microsoft.com/office/powerpoint/2010/main" val="3665921657"/>
              </p:ext>
            </p:extLst>
          </p:nvPr>
        </p:nvGraphicFramePr>
        <p:xfrm>
          <a:off x="5471533" y="627534"/>
          <a:ext cx="3672467" cy="4546188"/>
        </p:xfrm>
        <a:graphic>
          <a:graphicData uri="http://schemas.openxmlformats.org/presentationml/2006/ole">
            <mc:AlternateContent xmlns:mc="http://schemas.openxmlformats.org/markup-compatibility/2006">
              <mc:Choice xmlns:v="urn:schemas-microsoft-com:vml" Requires="v">
                <p:oleObj r:id="rId3" imgW="3513455" imgH="4347210" progId="Visio.Drawing.11">
                  <p:embed/>
                </p:oleObj>
              </mc:Choice>
              <mc:Fallback>
                <p:oleObj r:id="rId3" imgW="3513455" imgH="4347210" progId="Visio.Drawing.11">
                  <p:embed/>
                  <p:pic>
                    <p:nvPicPr>
                      <p:cNvPr id="5" name="对象 6">
                        <a:extLst>
                          <a:ext uri="{FF2B5EF4-FFF2-40B4-BE49-F238E27FC236}">
                            <a16:creationId xmlns:a16="http://schemas.microsoft.com/office/drawing/2014/main" id="{1E11E986-5728-4B8F-9848-AA2B1AE065F2}"/>
                          </a:ext>
                        </a:extLst>
                      </p:cNvPr>
                      <p:cNvPicPr/>
                      <p:nvPr/>
                    </p:nvPicPr>
                    <p:blipFill>
                      <a:blip r:embed="rId4"/>
                      <a:stretch>
                        <a:fillRect/>
                      </a:stretch>
                    </p:blipFill>
                    <p:spPr>
                      <a:xfrm>
                        <a:off x="5471533" y="627534"/>
                        <a:ext cx="3672467" cy="454618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40888121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3492128" cy="422160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计数器模式（</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CTR</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使用一个与明文分组等长的计数器，每个明文组计数器的值必须不同，一般给一个初始值，每次只加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2</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是分组的长度）。计数器的值加密后与明文异或得到密文。</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解密使用相同的计数器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对应相同的值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加密后与密文进行异或。</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分组密码的操作模式</a:t>
            </a:r>
          </a:p>
        </p:txBody>
      </p:sp>
      <p:graphicFrame>
        <p:nvGraphicFramePr>
          <p:cNvPr id="6" name="对象 5">
            <a:extLst>
              <a:ext uri="{FF2B5EF4-FFF2-40B4-BE49-F238E27FC236}">
                <a16:creationId xmlns:a16="http://schemas.microsoft.com/office/drawing/2014/main" id="{29CD51DF-D42E-42EE-831B-F153DDCFF472}"/>
              </a:ext>
            </a:extLst>
          </p:cNvPr>
          <p:cNvGraphicFramePr>
            <a:graphicFrameLocks noChangeAspect="1"/>
          </p:cNvGraphicFramePr>
          <p:nvPr>
            <p:extLst>
              <p:ext uri="{D42A27DB-BD31-4B8C-83A1-F6EECF244321}">
                <p14:modId xmlns:p14="http://schemas.microsoft.com/office/powerpoint/2010/main" val="1684482653"/>
              </p:ext>
            </p:extLst>
          </p:nvPr>
        </p:nvGraphicFramePr>
        <p:xfrm>
          <a:off x="4103688" y="627534"/>
          <a:ext cx="5040312" cy="4627562"/>
        </p:xfrm>
        <a:graphic>
          <a:graphicData uri="http://schemas.openxmlformats.org/presentationml/2006/ole">
            <mc:AlternateContent xmlns:mc="http://schemas.openxmlformats.org/markup-compatibility/2006">
              <mc:Choice xmlns:v="urn:schemas-microsoft-com:vml" Requires="v">
                <p:oleObj r:id="rId3" imgW="3240405" imgH="2983865" progId="Visio.Drawing.11">
                  <p:embed/>
                </p:oleObj>
              </mc:Choice>
              <mc:Fallback>
                <p:oleObj r:id="rId3" imgW="3240405" imgH="2983865" progId="Visio.Drawing.11">
                  <p:embed/>
                  <p:pic>
                    <p:nvPicPr>
                      <p:cNvPr id="6" name="对象 5">
                        <a:extLst>
                          <a:ext uri="{FF2B5EF4-FFF2-40B4-BE49-F238E27FC236}">
                            <a16:creationId xmlns:a16="http://schemas.microsoft.com/office/drawing/2014/main" id="{29CD51DF-D42E-42EE-831B-F153DDCFF472}"/>
                          </a:ext>
                        </a:extLst>
                      </p:cNvPr>
                      <p:cNvPicPr/>
                      <p:nvPr/>
                    </p:nvPicPr>
                    <p:blipFill>
                      <a:blip r:embed="rId4"/>
                      <a:stretch>
                        <a:fillRect/>
                      </a:stretch>
                    </p:blipFill>
                    <p:spPr>
                      <a:xfrm>
                        <a:off x="4103688" y="627534"/>
                        <a:ext cx="5040312" cy="4627562"/>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6784300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6149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信息安全涉及网络中正在传输信息的安全（动态数据安全）和系统中存储信息的安全（静态数据安全）两种情形，它们对应着两种不同的信息安全模型的建立</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安全模型</a:t>
            </a:r>
          </a:p>
        </p:txBody>
      </p:sp>
    </p:spTree>
    <p:extLst>
      <p:ext uri="{BB962C8B-B14F-4D97-AF65-F5344CB8AC3E}">
        <p14:creationId xmlns:p14="http://schemas.microsoft.com/office/powerpoint/2010/main" val="29141267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网络通信安全模型</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安全模型</a:t>
            </a:r>
          </a:p>
        </p:txBody>
      </p:sp>
      <p:graphicFrame>
        <p:nvGraphicFramePr>
          <p:cNvPr id="5" name="对象 8">
            <a:extLst>
              <a:ext uri="{FF2B5EF4-FFF2-40B4-BE49-F238E27FC236}">
                <a16:creationId xmlns:a16="http://schemas.microsoft.com/office/drawing/2014/main" id="{0A332E44-B040-46EC-ABF8-B0C455BC968E}"/>
              </a:ext>
            </a:extLst>
          </p:cNvPr>
          <p:cNvGraphicFramePr>
            <a:graphicFrameLocks noChangeAspect="1"/>
          </p:cNvGraphicFramePr>
          <p:nvPr>
            <p:extLst>
              <p:ext uri="{D42A27DB-BD31-4B8C-83A1-F6EECF244321}">
                <p14:modId xmlns:p14="http://schemas.microsoft.com/office/powerpoint/2010/main" val="3963770043"/>
              </p:ext>
            </p:extLst>
          </p:nvPr>
        </p:nvGraphicFramePr>
        <p:xfrm>
          <a:off x="686594" y="1563638"/>
          <a:ext cx="7770812" cy="2973388"/>
        </p:xfrm>
        <a:graphic>
          <a:graphicData uri="http://schemas.openxmlformats.org/presentationml/2006/ole">
            <mc:AlternateContent xmlns:mc="http://schemas.openxmlformats.org/markup-compatibility/2006">
              <mc:Choice xmlns:v="urn:schemas-microsoft-com:vml" Requires="v">
                <p:oleObj r:id="rId3" imgW="4563745" imgH="1748790" progId="Visio.Drawing.11">
                  <p:embed/>
                </p:oleObj>
              </mc:Choice>
              <mc:Fallback>
                <p:oleObj r:id="rId3" imgW="4563745" imgH="1748790" progId="Visio.Drawing.11">
                  <p:embed/>
                  <p:pic>
                    <p:nvPicPr>
                      <p:cNvPr id="5" name="对象 8">
                        <a:extLst>
                          <a:ext uri="{FF2B5EF4-FFF2-40B4-BE49-F238E27FC236}">
                            <a16:creationId xmlns:a16="http://schemas.microsoft.com/office/drawing/2014/main" id="{0A332E44-B040-46EC-ABF8-B0C455BC968E}"/>
                          </a:ext>
                        </a:extLst>
                      </p:cNvPr>
                      <p:cNvPicPr/>
                      <p:nvPr/>
                    </p:nvPicPr>
                    <p:blipFill>
                      <a:blip r:embed="rId4"/>
                      <a:stretch>
                        <a:fillRect/>
                      </a:stretch>
                    </p:blipFill>
                    <p:spPr>
                      <a:xfrm>
                        <a:off x="686594" y="1563638"/>
                        <a:ext cx="7770812" cy="297338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46301764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网络访问安全模型</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安全模型</a:t>
            </a:r>
          </a:p>
        </p:txBody>
      </p:sp>
      <p:graphicFrame>
        <p:nvGraphicFramePr>
          <p:cNvPr id="6" name="对象 9">
            <a:extLst>
              <a:ext uri="{FF2B5EF4-FFF2-40B4-BE49-F238E27FC236}">
                <a16:creationId xmlns:a16="http://schemas.microsoft.com/office/drawing/2014/main" id="{B74E9F56-1E20-4402-B540-F095017C4135}"/>
              </a:ext>
            </a:extLst>
          </p:cNvPr>
          <p:cNvGraphicFramePr>
            <a:graphicFrameLocks noChangeAspect="1"/>
          </p:cNvGraphicFramePr>
          <p:nvPr>
            <p:extLst>
              <p:ext uri="{D42A27DB-BD31-4B8C-83A1-F6EECF244321}">
                <p14:modId xmlns:p14="http://schemas.microsoft.com/office/powerpoint/2010/main" val="1146642966"/>
              </p:ext>
            </p:extLst>
          </p:nvPr>
        </p:nvGraphicFramePr>
        <p:xfrm>
          <a:off x="1115616" y="1084073"/>
          <a:ext cx="6459537" cy="2425700"/>
        </p:xfrm>
        <a:graphic>
          <a:graphicData uri="http://schemas.openxmlformats.org/presentationml/2006/ole">
            <mc:AlternateContent xmlns:mc="http://schemas.openxmlformats.org/markup-compatibility/2006">
              <mc:Choice xmlns:v="urn:schemas-microsoft-com:vml" Requires="v">
                <p:oleObj r:id="rId3" imgW="3441065" imgH="1299210" progId="Visio.Drawing.11">
                  <p:embed/>
                </p:oleObj>
              </mc:Choice>
              <mc:Fallback>
                <p:oleObj r:id="rId3" imgW="3441065" imgH="1299210" progId="Visio.Drawing.11">
                  <p:embed/>
                  <p:pic>
                    <p:nvPicPr>
                      <p:cNvPr id="6" name="对象 9">
                        <a:extLst>
                          <a:ext uri="{FF2B5EF4-FFF2-40B4-BE49-F238E27FC236}">
                            <a16:creationId xmlns:a16="http://schemas.microsoft.com/office/drawing/2014/main" id="{B74E9F56-1E20-4402-B540-F095017C4135}"/>
                          </a:ext>
                        </a:extLst>
                      </p:cNvPr>
                      <p:cNvPicPr/>
                      <p:nvPr/>
                    </p:nvPicPr>
                    <p:blipFill>
                      <a:blip r:embed="rId4"/>
                      <a:stretch>
                        <a:fillRect/>
                      </a:stretch>
                    </p:blipFill>
                    <p:spPr>
                      <a:xfrm>
                        <a:off x="1115616" y="1084073"/>
                        <a:ext cx="6459537" cy="24257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31894355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56014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第二部分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对称密码体制与算法</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02</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02</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7725934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对称密码体制</a:t>
            </a:r>
          </a:p>
        </p:txBody>
      </p:sp>
      <p:graphicFrame>
        <p:nvGraphicFramePr>
          <p:cNvPr id="4" name="对象 2">
            <a:extLst>
              <a:ext uri="{FF2B5EF4-FFF2-40B4-BE49-F238E27FC236}">
                <a16:creationId xmlns:a16="http://schemas.microsoft.com/office/drawing/2014/main" id="{324D7E15-068B-4ECC-8331-F119F458FA14}"/>
              </a:ext>
            </a:extLst>
          </p:cNvPr>
          <p:cNvGraphicFramePr>
            <a:graphicFrameLocks noChangeAspect="1"/>
          </p:cNvGraphicFramePr>
          <p:nvPr>
            <p:extLst>
              <p:ext uri="{D42A27DB-BD31-4B8C-83A1-F6EECF244321}">
                <p14:modId xmlns:p14="http://schemas.microsoft.com/office/powerpoint/2010/main" val="239486249"/>
              </p:ext>
            </p:extLst>
          </p:nvPr>
        </p:nvGraphicFramePr>
        <p:xfrm>
          <a:off x="971600" y="699542"/>
          <a:ext cx="7070725" cy="2520950"/>
        </p:xfrm>
        <a:graphic>
          <a:graphicData uri="http://schemas.openxmlformats.org/presentationml/2006/ole">
            <mc:AlternateContent xmlns:mc="http://schemas.openxmlformats.org/markup-compatibility/2006">
              <mc:Choice xmlns:v="urn:schemas-microsoft-com:vml" Requires="v">
                <p:oleObj r:id="rId3" imgW="5662930" imgH="2021205" progId="Visio.Drawing.11">
                  <p:embed/>
                </p:oleObj>
              </mc:Choice>
              <mc:Fallback>
                <p:oleObj r:id="rId3" imgW="5662930" imgH="2021205" progId="Visio.Drawing.11">
                  <p:embed/>
                  <p:pic>
                    <p:nvPicPr>
                      <p:cNvPr id="4" name="对象 2">
                        <a:extLst>
                          <a:ext uri="{FF2B5EF4-FFF2-40B4-BE49-F238E27FC236}">
                            <a16:creationId xmlns:a16="http://schemas.microsoft.com/office/drawing/2014/main" id="{324D7E15-068B-4ECC-8331-F119F458FA14}"/>
                          </a:ext>
                        </a:extLst>
                      </p:cNvPr>
                      <p:cNvPicPr/>
                      <p:nvPr/>
                    </p:nvPicPr>
                    <p:blipFill>
                      <a:blip r:embed="rId4"/>
                      <a:stretch>
                        <a:fillRect/>
                      </a:stretch>
                    </p:blipFill>
                    <p:spPr>
                      <a:xfrm>
                        <a:off x="971600" y="699542"/>
                        <a:ext cx="7070725" cy="2520950"/>
                      </a:xfrm>
                      <a:prstGeom prst="rect">
                        <a:avLst/>
                      </a:prstGeom>
                      <a:noFill/>
                      <a:ln w="38100">
                        <a:noFill/>
                        <a:miter/>
                      </a:ln>
                    </p:spPr>
                  </p:pic>
                </p:oleObj>
              </mc:Fallback>
            </mc:AlternateContent>
          </a:graphicData>
        </a:graphic>
      </p:graphicFrame>
      <p:graphicFrame>
        <p:nvGraphicFramePr>
          <p:cNvPr id="5" name="对象 4">
            <a:extLst>
              <a:ext uri="{FF2B5EF4-FFF2-40B4-BE49-F238E27FC236}">
                <a16:creationId xmlns:a16="http://schemas.microsoft.com/office/drawing/2014/main" id="{DF791804-673F-46EE-8A53-677B0298C46B}"/>
              </a:ext>
            </a:extLst>
          </p:cNvPr>
          <p:cNvGraphicFramePr>
            <a:graphicFrameLocks noChangeAspect="1"/>
          </p:cNvGraphicFramePr>
          <p:nvPr>
            <p:extLst>
              <p:ext uri="{D42A27DB-BD31-4B8C-83A1-F6EECF244321}">
                <p14:modId xmlns:p14="http://schemas.microsoft.com/office/powerpoint/2010/main" val="620918031"/>
              </p:ext>
            </p:extLst>
          </p:nvPr>
        </p:nvGraphicFramePr>
        <p:xfrm>
          <a:off x="1763688" y="3162913"/>
          <a:ext cx="1247775" cy="488950"/>
        </p:xfrm>
        <a:graphic>
          <a:graphicData uri="http://schemas.openxmlformats.org/presentationml/2006/ole">
            <mc:AlternateContent xmlns:mc="http://schemas.openxmlformats.org/markup-compatibility/2006">
              <mc:Choice xmlns:v="urn:schemas-microsoft-com:vml" Requires="v">
                <p:oleObj r:id="rId5" imgW="660400" imgH="254000" progId="Equation.DSMT4">
                  <p:embed/>
                </p:oleObj>
              </mc:Choice>
              <mc:Fallback>
                <p:oleObj r:id="rId5" imgW="660400" imgH="254000" progId="Equation.DSMT4">
                  <p:embed/>
                  <p:pic>
                    <p:nvPicPr>
                      <p:cNvPr id="5" name="对象 4">
                        <a:extLst>
                          <a:ext uri="{FF2B5EF4-FFF2-40B4-BE49-F238E27FC236}">
                            <a16:creationId xmlns:a16="http://schemas.microsoft.com/office/drawing/2014/main" id="{DF791804-673F-46EE-8A53-677B0298C46B}"/>
                          </a:ext>
                        </a:extLst>
                      </p:cNvPr>
                      <p:cNvPicPr/>
                      <p:nvPr/>
                    </p:nvPicPr>
                    <p:blipFill>
                      <a:blip r:embed="rId6"/>
                      <a:stretch>
                        <a:fillRect/>
                      </a:stretch>
                    </p:blipFill>
                    <p:spPr>
                      <a:xfrm>
                        <a:off x="1763688" y="3162913"/>
                        <a:ext cx="1247775" cy="488950"/>
                      </a:xfrm>
                      <a:prstGeom prst="rect">
                        <a:avLst/>
                      </a:prstGeom>
                      <a:noFill/>
                      <a:ln w="38100">
                        <a:noFill/>
                        <a:miter/>
                      </a:ln>
                    </p:spPr>
                  </p:pic>
                </p:oleObj>
              </mc:Fallback>
            </mc:AlternateContent>
          </a:graphicData>
        </a:graphic>
      </p:graphicFrame>
      <p:graphicFrame>
        <p:nvGraphicFramePr>
          <p:cNvPr id="6" name="对象 6">
            <a:extLst>
              <a:ext uri="{FF2B5EF4-FFF2-40B4-BE49-F238E27FC236}">
                <a16:creationId xmlns:a16="http://schemas.microsoft.com/office/drawing/2014/main" id="{8B30E7AF-F0D2-496A-88CC-4E12F2810234}"/>
              </a:ext>
            </a:extLst>
          </p:cNvPr>
          <p:cNvGraphicFramePr>
            <a:graphicFrameLocks noChangeAspect="1"/>
          </p:cNvGraphicFramePr>
          <p:nvPr>
            <p:extLst>
              <p:ext uri="{D42A27DB-BD31-4B8C-83A1-F6EECF244321}">
                <p14:modId xmlns:p14="http://schemas.microsoft.com/office/powerpoint/2010/main" val="1724419906"/>
              </p:ext>
            </p:extLst>
          </p:nvPr>
        </p:nvGraphicFramePr>
        <p:xfrm>
          <a:off x="5957863" y="3208950"/>
          <a:ext cx="1316038" cy="500063"/>
        </p:xfrm>
        <a:graphic>
          <a:graphicData uri="http://schemas.openxmlformats.org/presentationml/2006/ole">
            <mc:AlternateContent xmlns:mc="http://schemas.openxmlformats.org/markup-compatibility/2006">
              <mc:Choice xmlns:v="urn:schemas-microsoft-com:vml" Requires="v">
                <p:oleObj r:id="rId7" imgW="673100" imgH="254000" progId="Equation.DSMT4">
                  <p:embed/>
                </p:oleObj>
              </mc:Choice>
              <mc:Fallback>
                <p:oleObj r:id="rId7" imgW="673100" imgH="254000" progId="Equation.DSMT4">
                  <p:embed/>
                  <p:pic>
                    <p:nvPicPr>
                      <p:cNvPr id="6" name="对象 6">
                        <a:extLst>
                          <a:ext uri="{FF2B5EF4-FFF2-40B4-BE49-F238E27FC236}">
                            <a16:creationId xmlns:a16="http://schemas.microsoft.com/office/drawing/2014/main" id="{8B30E7AF-F0D2-496A-88CC-4E12F2810234}"/>
                          </a:ext>
                        </a:extLst>
                      </p:cNvPr>
                      <p:cNvPicPr/>
                      <p:nvPr/>
                    </p:nvPicPr>
                    <p:blipFill>
                      <a:blip r:embed="rId8"/>
                      <a:stretch>
                        <a:fillRect/>
                      </a:stretch>
                    </p:blipFill>
                    <p:spPr>
                      <a:xfrm>
                        <a:off x="5957863" y="3208950"/>
                        <a:ext cx="1316038" cy="500063"/>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3213210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238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对称密码体制的安全性主要取决于两个因素：</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）加密算法必须足够强大，不必为算法保密，仅根据密文就能破译出消息是不可行的</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）密钥的安全性，密钥必须保密并保证有足够大的密钥空间。对称密码体制要求基于密文和加密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解密算法的知识能破译出消息的做法是不可行的。</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对称密码体制</a:t>
            </a:r>
          </a:p>
        </p:txBody>
      </p:sp>
    </p:spTree>
    <p:extLst>
      <p:ext uri="{BB962C8B-B14F-4D97-AF65-F5344CB8AC3E}">
        <p14:creationId xmlns:p14="http://schemas.microsoft.com/office/powerpoint/2010/main" val="8938603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8442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优点</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缺点</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对称密码体制</a:t>
            </a:r>
          </a:p>
        </p:txBody>
      </p:sp>
      <p:sp>
        <p:nvSpPr>
          <p:cNvPr id="4" name="文本框 3">
            <a:extLst>
              <a:ext uri="{FF2B5EF4-FFF2-40B4-BE49-F238E27FC236}">
                <a16:creationId xmlns:a16="http://schemas.microsoft.com/office/drawing/2014/main" id="{ED9C115A-B43C-1912-DFCA-26068B7D8D57}"/>
              </a:ext>
            </a:extLst>
          </p:cNvPr>
          <p:cNvSpPr txBox="1"/>
          <p:nvPr/>
        </p:nvSpPr>
        <p:spPr>
          <a:xfrm>
            <a:off x="611560" y="1203598"/>
            <a:ext cx="8208912"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加密、解密处理速度快，具有很高的数据吞吐率，硬件加密实现可达到每秒几百兆字节，软件也可以达到兆字节每秒的吞吐率。密钥相对较短。</a:t>
            </a:r>
          </a:p>
        </p:txBody>
      </p:sp>
      <p:sp>
        <p:nvSpPr>
          <p:cNvPr id="6" name="文本框 5">
            <a:extLst>
              <a:ext uri="{FF2B5EF4-FFF2-40B4-BE49-F238E27FC236}">
                <a16:creationId xmlns:a16="http://schemas.microsoft.com/office/drawing/2014/main" id="{32E31F79-22B6-52AB-E0B9-747BB7F208BE}"/>
              </a:ext>
            </a:extLst>
          </p:cNvPr>
          <p:cNvSpPr txBox="1"/>
          <p:nvPr/>
        </p:nvSpPr>
        <p:spPr>
          <a:xfrm>
            <a:off x="611560" y="2571750"/>
            <a:ext cx="8280920"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 密钥是保密通信安全的关键，如何才能把密钥安全地送到收信方，是对称密码算法的突出问题。对称密码算法的密钥分发过程十分复杂，所花代价高。</a:t>
            </a:r>
          </a:p>
        </p:txBody>
      </p:sp>
      <p:sp>
        <p:nvSpPr>
          <p:cNvPr id="8" name="文本框 7">
            <a:extLst>
              <a:ext uri="{FF2B5EF4-FFF2-40B4-BE49-F238E27FC236}">
                <a16:creationId xmlns:a16="http://schemas.microsoft.com/office/drawing/2014/main" id="{5C4EF37D-A496-F879-3B25-8CEDBF11FC68}"/>
              </a:ext>
            </a:extLst>
          </p:cNvPr>
          <p:cNvSpPr txBox="1"/>
          <p:nvPr/>
        </p:nvSpPr>
        <p:spPr>
          <a:xfrm>
            <a:off x="611560" y="3362360"/>
            <a:ext cx="8192339" cy="426720"/>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②多人通信时密钥组合的数量会出现爆炸性膨胀，使密钥分发更加复杂化</a:t>
            </a:r>
          </a:p>
        </p:txBody>
      </p:sp>
      <p:sp>
        <p:nvSpPr>
          <p:cNvPr id="10" name="文本框 9">
            <a:extLst>
              <a:ext uri="{FF2B5EF4-FFF2-40B4-BE49-F238E27FC236}">
                <a16:creationId xmlns:a16="http://schemas.microsoft.com/office/drawing/2014/main" id="{FCEAEA21-3BB5-E4D4-5B4F-6517BFCEFF3F}"/>
              </a:ext>
            </a:extLst>
          </p:cNvPr>
          <p:cNvSpPr txBox="1"/>
          <p:nvPr/>
        </p:nvSpPr>
        <p:spPr>
          <a:xfrm>
            <a:off x="611560" y="3792872"/>
            <a:ext cx="8191535"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③通信双方必须统一密钥，如果发信方与收信方素不相识，就无法向对方发送秘密信息</a:t>
            </a:r>
          </a:p>
        </p:txBody>
      </p:sp>
      <p:sp>
        <p:nvSpPr>
          <p:cNvPr id="12" name="文本框 11">
            <a:extLst>
              <a:ext uri="{FF2B5EF4-FFF2-40B4-BE49-F238E27FC236}">
                <a16:creationId xmlns:a16="http://schemas.microsoft.com/office/drawing/2014/main" id="{C80C3681-5AE5-045C-A1F8-88D1DABE0855}"/>
              </a:ext>
            </a:extLst>
          </p:cNvPr>
          <p:cNvSpPr txBox="1"/>
          <p:nvPr/>
        </p:nvSpPr>
        <p:spPr>
          <a:xfrm>
            <a:off x="611560" y="4583481"/>
            <a:ext cx="4572000" cy="424412"/>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④存在数字签名困难问题</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8324966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10"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5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加密算法</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即密码学中的高级加密标准（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Advanced Encryption Standard</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），又称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Rijndael</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加密法，是美国联邦政府采用的一种区块加密标准。这个标准用来替代原先的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DES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，已经被多方分析且广为全世界所使用。</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9948245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7177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Rijndael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的设计思想</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Rijndael </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密码的设计力求满足以下 </a:t>
            </a:r>
            <a:r>
              <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 </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条标准：</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①抵抗所有已知的攻击。</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②在多个平台上速度快，编码紧凑。</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 设计简单。</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21544814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2111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的基本结构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为分组密码，分组密码也就是把明文分成一组一组的，每组长度相等，每次加密一组数据，直到加密完整个明文。</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的处理单位是字节，在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标准规范中，分组长度只能是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位，也就是说，每个分组为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个字节（每个字节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位）。密钥的长度可以使用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192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位。密钥的长度不同，推荐加密轮数也不同</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2" name="表格 1">
            <a:extLst>
              <a:ext uri="{FF2B5EF4-FFF2-40B4-BE49-F238E27FC236}">
                <a16:creationId xmlns:a16="http://schemas.microsoft.com/office/drawing/2014/main" id="{CB9BDDDE-7819-482E-9C39-8ED3236C71BD}"/>
              </a:ext>
            </a:extLst>
          </p:cNvPr>
          <p:cNvGraphicFramePr>
            <a:graphicFrameLocks noGrp="1"/>
          </p:cNvGraphicFramePr>
          <p:nvPr>
            <p:extLst>
              <p:ext uri="{D42A27DB-BD31-4B8C-83A1-F6EECF244321}">
                <p14:modId xmlns:p14="http://schemas.microsoft.com/office/powerpoint/2010/main" val="3510863487"/>
              </p:ext>
            </p:extLst>
          </p:nvPr>
        </p:nvGraphicFramePr>
        <p:xfrm>
          <a:off x="611560" y="3291830"/>
          <a:ext cx="8229600" cy="1584960"/>
        </p:xfrm>
        <a:graphic>
          <a:graphicData uri="http://schemas.openxmlformats.org/drawingml/2006/table">
            <a:tbl>
              <a:tblPr>
                <a:tableStyleId>{22838BEF-8BB2-4498-84A7-C5851F593DF1}</a:tableStyleId>
              </a:tblPr>
              <a:tblGrid>
                <a:gridCol w="2057400">
                  <a:extLst>
                    <a:ext uri="{9D8B030D-6E8A-4147-A177-3AD203B41FA5}">
                      <a16:colId xmlns:a16="http://schemas.microsoft.com/office/drawing/2014/main" val="272533564"/>
                    </a:ext>
                  </a:extLst>
                </a:gridCol>
                <a:gridCol w="2057400">
                  <a:extLst>
                    <a:ext uri="{9D8B030D-6E8A-4147-A177-3AD203B41FA5}">
                      <a16:colId xmlns:a16="http://schemas.microsoft.com/office/drawing/2014/main" val="2264572313"/>
                    </a:ext>
                  </a:extLst>
                </a:gridCol>
                <a:gridCol w="2057400">
                  <a:extLst>
                    <a:ext uri="{9D8B030D-6E8A-4147-A177-3AD203B41FA5}">
                      <a16:colId xmlns:a16="http://schemas.microsoft.com/office/drawing/2014/main" val="352606883"/>
                    </a:ext>
                  </a:extLst>
                </a:gridCol>
                <a:gridCol w="2057400">
                  <a:extLst>
                    <a:ext uri="{9D8B030D-6E8A-4147-A177-3AD203B41FA5}">
                      <a16:colId xmlns:a16="http://schemas.microsoft.com/office/drawing/2014/main" val="2794680783"/>
                    </a:ext>
                  </a:extLst>
                </a:gridCol>
              </a:tblGrid>
              <a:tr h="0">
                <a:tc>
                  <a:txBody>
                    <a:bodyPr/>
                    <a:lstStyle/>
                    <a:p>
                      <a:pPr algn="ctr"/>
                      <a:r>
                        <a:rPr lang="en-US" sz="1600" b="1" dirty="0">
                          <a:solidFill>
                            <a:schemeClr val="tx1"/>
                          </a:solidFill>
                          <a:latin typeface="华文楷体" panose="02010600040101010101" pitchFamily="2" charset="-122"/>
                          <a:ea typeface="华文楷体" panose="02010600040101010101" pitchFamily="2" charset="-122"/>
                        </a:rPr>
                        <a:t>AES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r>
                        <a:rPr lang="zh-CN" altLang="en-US" sz="1600" b="1" dirty="0">
                          <a:solidFill>
                            <a:schemeClr val="tx1"/>
                          </a:solidFill>
                          <a:latin typeface="华文楷体" panose="02010600040101010101" pitchFamily="2" charset="-122"/>
                          <a:ea typeface="华文楷体" panose="02010600040101010101" pitchFamily="2" charset="-122"/>
                        </a:rPr>
                        <a:t>密钥长度</a:t>
                      </a:r>
                      <a:endParaRPr lang="en-US" altLang="zh-CN" sz="1600" b="1" dirty="0">
                        <a:solidFill>
                          <a:schemeClr val="tx1"/>
                        </a:solidFill>
                        <a:latin typeface="华文楷体" panose="02010600040101010101" pitchFamily="2" charset="-122"/>
                        <a:ea typeface="华文楷体" panose="02010600040101010101" pitchFamily="2" charset="-122"/>
                      </a:endParaRPr>
                    </a:p>
                    <a:p>
                      <a:pPr algn="ctr"/>
                      <a:r>
                        <a:rPr lang="zh-CN" altLang="en-US" sz="1600" b="1" dirty="0">
                          <a:solidFill>
                            <a:schemeClr val="tx1"/>
                          </a:solidFill>
                          <a:latin typeface="华文楷体" panose="02010600040101010101" pitchFamily="2" charset="-122"/>
                          <a:ea typeface="华文楷体" panose="02010600040101010101" pitchFamily="2" charset="-122"/>
                        </a:rPr>
                        <a:t>（字</a:t>
                      </a:r>
                      <a:r>
                        <a:rPr lang="en-US" altLang="zh-CN" sz="1600" b="1" dirty="0">
                          <a:solidFill>
                            <a:schemeClr val="tx1"/>
                          </a:solidFill>
                          <a:latin typeface="华文楷体" panose="02010600040101010101" pitchFamily="2" charset="-122"/>
                          <a:ea typeface="华文楷体" panose="02010600040101010101" pitchFamily="2" charset="-122"/>
                        </a:rPr>
                        <a:t>/</a:t>
                      </a:r>
                      <a:r>
                        <a:rPr lang="zh-CN" altLang="en-US" sz="1600" b="1" dirty="0">
                          <a:solidFill>
                            <a:schemeClr val="tx1"/>
                          </a:solidFill>
                          <a:latin typeface="华文楷体" panose="02010600040101010101" pitchFamily="2" charset="-122"/>
                          <a:ea typeface="华文楷体" panose="02010600040101010101" pitchFamily="2" charset="-122"/>
                        </a:rPr>
                        <a:t>字节</a:t>
                      </a:r>
                      <a:r>
                        <a:rPr lang="en-US" altLang="zh-CN" sz="1600" b="1" dirty="0">
                          <a:solidFill>
                            <a:schemeClr val="tx1"/>
                          </a:solidFill>
                          <a:latin typeface="华文楷体" panose="02010600040101010101" pitchFamily="2" charset="-122"/>
                          <a:ea typeface="华文楷体" panose="02010600040101010101" pitchFamily="2" charset="-122"/>
                        </a:rPr>
                        <a:t>/</a:t>
                      </a:r>
                      <a:r>
                        <a:rPr lang="zh-CN" altLang="en-US" sz="1600" b="1" dirty="0">
                          <a:solidFill>
                            <a:schemeClr val="tx1"/>
                          </a:solidFill>
                          <a:latin typeface="华文楷体" panose="02010600040101010101" pitchFamily="2" charset="-122"/>
                          <a:ea typeface="华文楷体" panose="02010600040101010101" pitchFamily="2" charset="-122"/>
                        </a:rPr>
                        <a:t>位）</a:t>
                      </a:r>
                      <a:endParaRPr lang="en-US" altLang="zh-CN" sz="1600" b="1" dirty="0">
                        <a:solidFill>
                          <a:schemeClr val="tx1"/>
                        </a:solidFill>
                        <a:latin typeface="华文楷体" panose="02010600040101010101" pitchFamily="2" charset="-122"/>
                        <a:ea typeface="华文楷体" panose="0201060004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sz="1600" b="1" dirty="0">
                          <a:solidFill>
                            <a:schemeClr val="tx1"/>
                          </a:solidFill>
                          <a:latin typeface="华文楷体" panose="02010600040101010101" pitchFamily="2" charset="-122"/>
                          <a:ea typeface="华文楷体" panose="02010600040101010101" pitchFamily="2" charset="-122"/>
                        </a:rPr>
                        <a:t>分组长度</a:t>
                      </a:r>
                      <a:endParaRPr lang="en-US" altLang="zh-CN" sz="1600" b="1" dirty="0">
                        <a:solidFill>
                          <a:schemeClr val="tx1"/>
                        </a:solidFill>
                        <a:latin typeface="华文楷体" panose="02010600040101010101" pitchFamily="2" charset="-122"/>
                        <a:ea typeface="华文楷体" panose="02010600040101010101" pitchFamily="2" charset="-122"/>
                      </a:endParaRPr>
                    </a:p>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sz="1600" b="1" dirty="0">
                          <a:solidFill>
                            <a:schemeClr val="tx1"/>
                          </a:solidFill>
                          <a:latin typeface="华文楷体" panose="02010600040101010101" pitchFamily="2" charset="-122"/>
                          <a:ea typeface="华文楷体" panose="02010600040101010101" pitchFamily="2" charset="-122"/>
                        </a:rPr>
                        <a:t>（字</a:t>
                      </a:r>
                      <a:r>
                        <a:rPr lang="en-US" altLang="zh-CN" sz="1600" b="1" dirty="0">
                          <a:solidFill>
                            <a:schemeClr val="tx1"/>
                          </a:solidFill>
                          <a:latin typeface="华文楷体" panose="02010600040101010101" pitchFamily="2" charset="-122"/>
                          <a:ea typeface="华文楷体" panose="02010600040101010101" pitchFamily="2" charset="-122"/>
                        </a:rPr>
                        <a:t>/</a:t>
                      </a:r>
                      <a:r>
                        <a:rPr lang="zh-CN" altLang="en-US" sz="1600" b="1" dirty="0">
                          <a:solidFill>
                            <a:schemeClr val="tx1"/>
                          </a:solidFill>
                          <a:latin typeface="华文楷体" panose="02010600040101010101" pitchFamily="2" charset="-122"/>
                          <a:ea typeface="华文楷体" panose="02010600040101010101" pitchFamily="2" charset="-122"/>
                        </a:rPr>
                        <a:t>字节</a:t>
                      </a:r>
                      <a:r>
                        <a:rPr lang="en-US" altLang="zh-CN" sz="1600" b="1" dirty="0">
                          <a:solidFill>
                            <a:schemeClr val="tx1"/>
                          </a:solidFill>
                          <a:latin typeface="华文楷体" panose="02010600040101010101" pitchFamily="2" charset="-122"/>
                          <a:ea typeface="华文楷体" panose="02010600040101010101" pitchFamily="2" charset="-122"/>
                        </a:rPr>
                        <a:t>/</a:t>
                      </a:r>
                      <a:r>
                        <a:rPr lang="zh-CN" altLang="en-US" sz="1600" b="1" dirty="0">
                          <a:solidFill>
                            <a:schemeClr val="tx1"/>
                          </a:solidFill>
                          <a:latin typeface="华文楷体" panose="02010600040101010101" pitchFamily="2" charset="-122"/>
                          <a:ea typeface="华文楷体" panose="02010600040101010101" pitchFamily="2" charset="-122"/>
                        </a:rPr>
                        <a:t>位）</a:t>
                      </a:r>
                      <a:endParaRPr lang="en-US" altLang="zh-CN" sz="1600" b="1" dirty="0">
                        <a:solidFill>
                          <a:schemeClr val="tx1"/>
                        </a:solidFill>
                        <a:latin typeface="华文楷体" panose="02010600040101010101" pitchFamily="2" charset="-122"/>
                        <a:ea typeface="华文楷体" panose="02010600040101010101"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r>
                        <a:rPr lang="zh-CN" altLang="en-US" sz="1600" b="1" dirty="0">
                          <a:solidFill>
                            <a:schemeClr val="tx1"/>
                          </a:solidFill>
                          <a:latin typeface="华文楷体" panose="02010600040101010101" pitchFamily="2" charset="-122"/>
                          <a:ea typeface="华文楷体" panose="02010600040101010101" pitchFamily="2" charset="-122"/>
                        </a:rPr>
                        <a:t>加密轮数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extLst>
                  <a:ext uri="{0D108BD9-81ED-4DB2-BD59-A6C34878D82A}">
                    <a16:rowId xmlns:a16="http://schemas.microsoft.com/office/drawing/2014/main" val="2876001136"/>
                  </a:ext>
                </a:extLst>
              </a:tr>
              <a:tr h="0">
                <a:tc>
                  <a:txBody>
                    <a:bodyPr/>
                    <a:lstStyle/>
                    <a:p>
                      <a:pPr algn="ctr"/>
                      <a:r>
                        <a:rPr lang="en-US"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AES-128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4/16/128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4/16/128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0609416"/>
                  </a:ext>
                </a:extLst>
              </a:tr>
              <a:tr h="0">
                <a:tc>
                  <a:txBody>
                    <a:bodyPr/>
                    <a:lstStyle/>
                    <a:p>
                      <a:pPr algn="ctr"/>
                      <a:r>
                        <a:rPr lang="en-US" sz="160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AES-192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6/24/192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4/16/128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8606689"/>
                  </a:ext>
                </a:extLst>
              </a:tr>
              <a:tr h="0">
                <a:tc>
                  <a:txBody>
                    <a:bodyPr/>
                    <a:lstStyle/>
                    <a:p>
                      <a:pPr algn="ctr"/>
                      <a:r>
                        <a:rPr lang="en-US" sz="160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AES-256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8/32/256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4/16/128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accent3"/>
                          </a:solidFill>
                          <a:latin typeface="Times New Roman" panose="02020603050405020304" pitchFamily="18" charset="0"/>
                          <a:ea typeface="华文楷体" panose="02010600040101010101" pitchFamily="2" charset="-122"/>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5378715"/>
                  </a:ext>
                </a:extLst>
              </a:tr>
            </a:tbl>
          </a:graphicData>
        </a:graphic>
      </p:graphicFrame>
    </p:spTree>
    <p:extLst>
      <p:ext uri="{BB962C8B-B14F-4D97-AF65-F5344CB8AC3E}">
        <p14:creationId xmlns:p14="http://schemas.microsoft.com/office/powerpoint/2010/main" val="12156271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064896" cy="1864806"/>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的处理单位是字节，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位的输入明文分组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和输入密钥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都被分成</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个字节，分别记为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 = 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。一般地，明文分组用字节为单位的正方形矩阵描述，称为</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状态矩阵</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。在算法的每一轮中，状态矩阵的内容不断发生变化，最后的结果作为密文输出。在字节方阵中，每一列都是一个字，包含了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字节。在矩阵中字是按列排序的。</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9212325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2" name="表格 3">
            <a:extLst>
              <a:ext uri="{FF2B5EF4-FFF2-40B4-BE49-F238E27FC236}">
                <a16:creationId xmlns:a16="http://schemas.microsoft.com/office/drawing/2014/main" id="{6150E390-FD72-4D8A-8007-52F7CF89E1CD}"/>
              </a:ext>
            </a:extLst>
          </p:cNvPr>
          <p:cNvGraphicFramePr>
            <a:graphicFrameLocks noGrp="1"/>
          </p:cNvGraphicFramePr>
          <p:nvPr>
            <p:extLst>
              <p:ext uri="{D42A27DB-BD31-4B8C-83A1-F6EECF244321}">
                <p14:modId xmlns:p14="http://schemas.microsoft.com/office/powerpoint/2010/main" val="225569204"/>
              </p:ext>
            </p:extLst>
          </p:nvPr>
        </p:nvGraphicFramePr>
        <p:xfrm>
          <a:off x="611560" y="726823"/>
          <a:ext cx="2399928" cy="186480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P1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P9</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P2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P6</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P10</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P14</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P3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P7</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P15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graphicFrame>
        <p:nvGraphicFramePr>
          <p:cNvPr id="6" name="表格 3">
            <a:extLst>
              <a:ext uri="{FF2B5EF4-FFF2-40B4-BE49-F238E27FC236}">
                <a16:creationId xmlns:a16="http://schemas.microsoft.com/office/drawing/2014/main" id="{1C69908A-DF58-460E-8557-CF736FE0DEDF}"/>
              </a:ext>
            </a:extLst>
          </p:cNvPr>
          <p:cNvGraphicFramePr>
            <a:graphicFrameLocks noGrp="1"/>
          </p:cNvGraphicFramePr>
          <p:nvPr>
            <p:extLst>
              <p:ext uri="{D42A27DB-BD31-4B8C-83A1-F6EECF244321}">
                <p14:modId xmlns:p14="http://schemas.microsoft.com/office/powerpoint/2010/main" val="2320695174"/>
              </p:ext>
            </p:extLst>
          </p:nvPr>
        </p:nvGraphicFramePr>
        <p:xfrm>
          <a:off x="3818830" y="726823"/>
          <a:ext cx="2399928" cy="1864808"/>
        </p:xfrm>
        <a:graphic>
          <a:graphicData uri="http://schemas.openxmlformats.org/drawingml/2006/table">
            <a:tbl>
              <a:tblPr firstRow="1" bandRow="1">
                <a:tableStyleId>{08FB837D-C827-4EFA-A057-4D05807E0F7C}</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S5</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S9</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S13</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S6</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S10</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S14</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S7</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S11</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S15</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graphicFrame>
        <p:nvGraphicFramePr>
          <p:cNvPr id="7" name="表格 3">
            <a:extLst>
              <a:ext uri="{FF2B5EF4-FFF2-40B4-BE49-F238E27FC236}">
                <a16:creationId xmlns:a16="http://schemas.microsoft.com/office/drawing/2014/main" id="{162D2887-724C-4BB7-993B-A34A4B568249}"/>
              </a:ext>
            </a:extLst>
          </p:cNvPr>
          <p:cNvGraphicFramePr>
            <a:graphicFrameLocks noGrp="1"/>
          </p:cNvGraphicFramePr>
          <p:nvPr>
            <p:extLst>
              <p:ext uri="{D42A27DB-BD31-4B8C-83A1-F6EECF244321}">
                <p14:modId xmlns:p14="http://schemas.microsoft.com/office/powerpoint/2010/main" val="3014642940"/>
              </p:ext>
            </p:extLst>
          </p:nvPr>
        </p:nvGraphicFramePr>
        <p:xfrm>
          <a:off x="620986" y="3149174"/>
          <a:ext cx="2399928" cy="186480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C0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C4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C8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C12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C1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C9</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C2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C6</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C10</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C14</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C3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C7</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C15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graphicFrame>
        <p:nvGraphicFramePr>
          <p:cNvPr id="8" name="表格 3">
            <a:extLst>
              <a:ext uri="{FF2B5EF4-FFF2-40B4-BE49-F238E27FC236}">
                <a16:creationId xmlns:a16="http://schemas.microsoft.com/office/drawing/2014/main" id="{AA437671-9E03-452A-B527-002B3D779817}"/>
              </a:ext>
            </a:extLst>
          </p:cNvPr>
          <p:cNvGraphicFramePr>
            <a:graphicFrameLocks noGrp="1"/>
          </p:cNvGraphicFramePr>
          <p:nvPr>
            <p:extLst>
              <p:ext uri="{D42A27DB-BD31-4B8C-83A1-F6EECF244321}">
                <p14:modId xmlns:p14="http://schemas.microsoft.com/office/powerpoint/2010/main" val="2708364610"/>
              </p:ext>
            </p:extLst>
          </p:nvPr>
        </p:nvGraphicFramePr>
        <p:xfrm>
          <a:off x="3828256" y="3149174"/>
          <a:ext cx="2399928" cy="1864808"/>
        </p:xfrm>
        <a:graphic>
          <a:graphicData uri="http://schemas.openxmlformats.org/drawingml/2006/table">
            <a:tbl>
              <a:tblPr firstRow="1" bandRow="1">
                <a:tableStyleId>{08FB837D-C827-4EFA-A057-4D05807E0F7C}</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S0’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S12’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S5’</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S9’</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S13’</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S6’</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S10’</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S14’</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cs typeface="Times New Roman" panose="02020603050405020304" pitchFamily="18" charset="0"/>
                        </a:rPr>
                        <a:t>S3’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63967F"/>
                    </a:solidFill>
                  </a:tcPr>
                </a:tc>
                <a:tc>
                  <a:txBody>
                    <a:bodyPr/>
                    <a:lstStyle/>
                    <a:p>
                      <a:pPr algn="ctr"/>
                      <a:r>
                        <a:rPr lang="en-US" altLang="zh-CN" dirty="0">
                          <a:latin typeface="Times New Roman" panose="02020603050405020304" pitchFamily="18" charset="0"/>
                          <a:cs typeface="Times New Roman" panose="02020603050405020304" pitchFamily="18" charset="0"/>
                        </a:rPr>
                        <a:t>S7’</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S11’</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n-US" altLang="zh-CN" dirty="0">
                          <a:latin typeface="Times New Roman" panose="02020603050405020304" pitchFamily="18" charset="0"/>
                          <a:cs typeface="Times New Roman" panose="02020603050405020304" pitchFamily="18" charset="0"/>
                        </a:rPr>
                        <a:t>S15’</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sp>
        <p:nvSpPr>
          <p:cNvPr id="4" name="矩形 3">
            <a:extLst>
              <a:ext uri="{FF2B5EF4-FFF2-40B4-BE49-F238E27FC236}">
                <a16:creationId xmlns:a16="http://schemas.microsoft.com/office/drawing/2014/main" id="{FC77ED16-D280-4761-B2DE-D9D45FB5CA63}"/>
              </a:ext>
            </a:extLst>
          </p:cNvPr>
          <p:cNvSpPr/>
          <p:nvPr/>
        </p:nvSpPr>
        <p:spPr>
          <a:xfrm>
            <a:off x="7035526" y="789039"/>
            <a:ext cx="1872208" cy="40869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AES</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10</a:t>
            </a: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轮加密</a:t>
            </a:r>
          </a:p>
        </p:txBody>
      </p:sp>
      <p:sp>
        <p:nvSpPr>
          <p:cNvPr id="9" name="箭头: 右 8">
            <a:extLst>
              <a:ext uri="{FF2B5EF4-FFF2-40B4-BE49-F238E27FC236}">
                <a16:creationId xmlns:a16="http://schemas.microsoft.com/office/drawing/2014/main" id="{F0B7E5F8-8164-4CED-B4B9-5963049E7793}"/>
              </a:ext>
            </a:extLst>
          </p:cNvPr>
          <p:cNvSpPr/>
          <p:nvPr/>
        </p:nvSpPr>
        <p:spPr>
          <a:xfrm>
            <a:off x="3059832" y="1479207"/>
            <a:ext cx="71065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8C472150-89B4-434A-B60F-466B2C0B550A}"/>
              </a:ext>
            </a:extLst>
          </p:cNvPr>
          <p:cNvSpPr/>
          <p:nvPr/>
        </p:nvSpPr>
        <p:spPr>
          <a:xfrm>
            <a:off x="6267102" y="1456190"/>
            <a:ext cx="71065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548863ED-3F3F-4CFB-A8A5-8315136CBB8D}"/>
              </a:ext>
            </a:extLst>
          </p:cNvPr>
          <p:cNvSpPr/>
          <p:nvPr/>
        </p:nvSpPr>
        <p:spPr>
          <a:xfrm rot="10800000">
            <a:off x="6285954" y="3901558"/>
            <a:ext cx="71065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771C2668-6914-49F0-AC4F-29DCCA8696DE}"/>
              </a:ext>
            </a:extLst>
          </p:cNvPr>
          <p:cNvSpPr/>
          <p:nvPr/>
        </p:nvSpPr>
        <p:spPr>
          <a:xfrm rot="10800000">
            <a:off x="3059832" y="3886991"/>
            <a:ext cx="71065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0278515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1)">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heel(1)">
                                      <p:cBhvr>
                                        <p:cTn id="23" dur="2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arn(inVertical)">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heel(1)">
                                      <p:cBhvr>
                                        <p:cTn id="43" dur="20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right)">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heel(1)">
                                      <p:cBhvr>
                                        <p:cTn id="5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9" grpId="0" animBg="1"/>
      <p:bldP spid="11" grpId="0" animBg="1"/>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064896" cy="1864806"/>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位密钥也是用字节为单位的矩阵表示，矩阵的每一列被称为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位比特字。通过密钥编排函数该密钥矩阵被扩展成一个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个字组成的序列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W[0],W[1], … ,W[43],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该序列的前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个元素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W[0],W[1],W[2],W[3]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是原始密钥，用于加密运算中的初始密钥加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后面</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个字分为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组，每组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比特）分别用于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轮加密运算中的轮密钥加</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28698717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7" name="表格 3">
            <a:extLst>
              <a:ext uri="{FF2B5EF4-FFF2-40B4-BE49-F238E27FC236}">
                <a16:creationId xmlns:a16="http://schemas.microsoft.com/office/drawing/2014/main" id="{162D2887-724C-4BB7-993B-A34A4B568249}"/>
              </a:ext>
            </a:extLst>
          </p:cNvPr>
          <p:cNvGraphicFramePr>
            <a:graphicFrameLocks noGrp="1"/>
          </p:cNvGraphicFramePr>
          <p:nvPr>
            <p:extLst>
              <p:ext uri="{D42A27DB-BD31-4B8C-83A1-F6EECF244321}">
                <p14:modId xmlns:p14="http://schemas.microsoft.com/office/powerpoint/2010/main" val="3386936277"/>
              </p:ext>
            </p:extLst>
          </p:nvPr>
        </p:nvGraphicFramePr>
        <p:xfrm>
          <a:off x="620986" y="843558"/>
          <a:ext cx="2399928" cy="186480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extLst>
                  <a:ext uri="{0D108BD9-81ED-4DB2-BD59-A6C34878D82A}">
                    <a16:rowId xmlns:a16="http://schemas.microsoft.com/office/drawing/2014/main" val="3621328574"/>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K1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K9</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4187728352"/>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K2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K6</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K10</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K14</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833058746"/>
                  </a:ext>
                </a:extLst>
              </a:tr>
              <a:tr h="46620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K3</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20A9DD"/>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K7</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298896949"/>
                  </a:ext>
                </a:extLst>
              </a:tr>
            </a:tbl>
          </a:graphicData>
        </a:graphic>
      </p:graphicFrame>
      <p:graphicFrame>
        <p:nvGraphicFramePr>
          <p:cNvPr id="8" name="表格 3">
            <a:extLst>
              <a:ext uri="{FF2B5EF4-FFF2-40B4-BE49-F238E27FC236}">
                <a16:creationId xmlns:a16="http://schemas.microsoft.com/office/drawing/2014/main" id="{AA437671-9E03-452A-B527-002B3D779817}"/>
              </a:ext>
            </a:extLst>
          </p:cNvPr>
          <p:cNvGraphicFramePr>
            <a:graphicFrameLocks noGrp="1"/>
          </p:cNvGraphicFramePr>
          <p:nvPr>
            <p:extLst>
              <p:ext uri="{D42A27DB-BD31-4B8C-83A1-F6EECF244321}">
                <p14:modId xmlns:p14="http://schemas.microsoft.com/office/powerpoint/2010/main" val="4176720635"/>
              </p:ext>
            </p:extLst>
          </p:nvPr>
        </p:nvGraphicFramePr>
        <p:xfrm>
          <a:off x="618320" y="3508374"/>
          <a:ext cx="8328334" cy="1295623"/>
        </p:xfrm>
        <a:graphic>
          <a:graphicData uri="http://schemas.openxmlformats.org/drawingml/2006/table">
            <a:tbl>
              <a:tblPr firstRow="1" bandRow="1">
                <a:tableStyleId>{08FB837D-C827-4EFA-A057-4D05807E0F7C}</a:tableStyleId>
              </a:tblPr>
              <a:tblGrid>
                <a:gridCol w="641312">
                  <a:extLst>
                    <a:ext uri="{9D8B030D-6E8A-4147-A177-3AD203B41FA5}">
                      <a16:colId xmlns:a16="http://schemas.microsoft.com/office/drawing/2014/main" val="1682154946"/>
                    </a:ext>
                  </a:extLst>
                </a:gridCol>
                <a:gridCol w="648072">
                  <a:extLst>
                    <a:ext uri="{9D8B030D-6E8A-4147-A177-3AD203B41FA5}">
                      <a16:colId xmlns:a16="http://schemas.microsoft.com/office/drawing/2014/main" val="2643685566"/>
                    </a:ext>
                  </a:extLst>
                </a:gridCol>
                <a:gridCol w="648072">
                  <a:extLst>
                    <a:ext uri="{9D8B030D-6E8A-4147-A177-3AD203B41FA5}">
                      <a16:colId xmlns:a16="http://schemas.microsoft.com/office/drawing/2014/main" val="769385834"/>
                    </a:ext>
                  </a:extLst>
                </a:gridCol>
                <a:gridCol w="648072">
                  <a:extLst>
                    <a:ext uri="{9D8B030D-6E8A-4147-A177-3AD203B41FA5}">
                      <a16:colId xmlns:a16="http://schemas.microsoft.com/office/drawing/2014/main" val="2045808745"/>
                    </a:ext>
                  </a:extLst>
                </a:gridCol>
                <a:gridCol w="4248472">
                  <a:extLst>
                    <a:ext uri="{9D8B030D-6E8A-4147-A177-3AD203B41FA5}">
                      <a16:colId xmlns:a16="http://schemas.microsoft.com/office/drawing/2014/main" val="728896517"/>
                    </a:ext>
                  </a:extLst>
                </a:gridCol>
                <a:gridCol w="720080">
                  <a:extLst>
                    <a:ext uri="{9D8B030D-6E8A-4147-A177-3AD203B41FA5}">
                      <a16:colId xmlns:a16="http://schemas.microsoft.com/office/drawing/2014/main" val="4289885924"/>
                    </a:ext>
                  </a:extLst>
                </a:gridCol>
                <a:gridCol w="774254">
                  <a:extLst>
                    <a:ext uri="{9D8B030D-6E8A-4147-A177-3AD203B41FA5}">
                      <a16:colId xmlns:a16="http://schemas.microsoft.com/office/drawing/2014/main" val="4041477255"/>
                    </a:ext>
                  </a:extLst>
                </a:gridCol>
              </a:tblGrid>
              <a:tr h="1295623">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W[0]</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W[1]</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W[2]</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W[3]</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W[42]</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tc>
                  <a:txBody>
                    <a:bodyPr/>
                    <a:lstStyle/>
                    <a:p>
                      <a:pPr algn="ctr"/>
                      <a:r>
                        <a:rPr lang="en-US" altLang="zh-CN"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W[43]</a:t>
                      </a:r>
                      <a:endParaRPr lang="zh-CN" altLang="en-US"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C0FCDC"/>
                    </a:solidFill>
                  </a:tcPr>
                </a:tc>
                <a:extLst>
                  <a:ext uri="{0D108BD9-81ED-4DB2-BD59-A6C34878D82A}">
                    <a16:rowId xmlns:a16="http://schemas.microsoft.com/office/drawing/2014/main" val="3621328574"/>
                  </a:ext>
                </a:extLst>
              </a:tr>
            </a:tbl>
          </a:graphicData>
        </a:graphic>
      </p:graphicFrame>
      <p:sp>
        <p:nvSpPr>
          <p:cNvPr id="5" name="箭头: 下 4">
            <a:extLst>
              <a:ext uri="{FF2B5EF4-FFF2-40B4-BE49-F238E27FC236}">
                <a16:creationId xmlns:a16="http://schemas.microsoft.com/office/drawing/2014/main" id="{59126D8D-BCB4-4BC6-916F-D32DC6569003}"/>
              </a:ext>
            </a:extLst>
          </p:cNvPr>
          <p:cNvSpPr/>
          <p:nvPr/>
        </p:nvSpPr>
        <p:spPr>
          <a:xfrm>
            <a:off x="899592" y="2744236"/>
            <a:ext cx="72008" cy="7486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a:extLst>
              <a:ext uri="{FF2B5EF4-FFF2-40B4-BE49-F238E27FC236}">
                <a16:creationId xmlns:a16="http://schemas.microsoft.com/office/drawing/2014/main" id="{60E9E7B4-AADC-430A-B666-6B27C479B73A}"/>
              </a:ext>
            </a:extLst>
          </p:cNvPr>
          <p:cNvSpPr/>
          <p:nvPr/>
        </p:nvSpPr>
        <p:spPr>
          <a:xfrm>
            <a:off x="1499659" y="2744236"/>
            <a:ext cx="72008" cy="7486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374EE9B5-A8F2-4C63-96D1-B395FC22F3C4}"/>
              </a:ext>
            </a:extLst>
          </p:cNvPr>
          <p:cNvSpPr/>
          <p:nvPr/>
        </p:nvSpPr>
        <p:spPr>
          <a:xfrm>
            <a:off x="2099726" y="2744236"/>
            <a:ext cx="72008" cy="7486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下 16">
            <a:extLst>
              <a:ext uri="{FF2B5EF4-FFF2-40B4-BE49-F238E27FC236}">
                <a16:creationId xmlns:a16="http://schemas.microsoft.com/office/drawing/2014/main" id="{62F58840-4263-4B3E-BD13-2D7E891FBF31}"/>
              </a:ext>
            </a:extLst>
          </p:cNvPr>
          <p:cNvSpPr/>
          <p:nvPr/>
        </p:nvSpPr>
        <p:spPr>
          <a:xfrm>
            <a:off x="2699792" y="2744236"/>
            <a:ext cx="72008" cy="7486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99932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6928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加密解密的详细结构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Rijndael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的轮函数由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个不同的计算部件组成</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分别是：</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字节代换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(ByteSub),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非线性层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盒完成分组的字节到字节的代替。</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行移位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SR(</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ShiftRow</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线性层</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一个简单的置换。</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列混合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MC(</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MixColumn</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线性层</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利用域</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上的算术特性的一个代替。</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密钥加</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ARK(</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AddRoundKey</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线性层</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当前分组和扩展密钥的一部分进行按位异或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XOR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未使用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Feistel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结构。其前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个不同的变换组成：字节代替、行移位、列混淆和轮密钥加。最后一轮仅包含三个变换。而在第一轮前面有一个起始的单变换（轮密钥加），可以视为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2571473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17947"/>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
        <p:nvSpPr>
          <p:cNvPr id="5" name="矩形 4">
            <a:extLst>
              <a:ext uri="{FF2B5EF4-FFF2-40B4-BE49-F238E27FC236}">
                <a16:creationId xmlns:a16="http://schemas.microsoft.com/office/drawing/2014/main" id="{5ED43B23-0FF7-4425-947C-D31A6951EEF0}"/>
              </a:ext>
            </a:extLst>
          </p:cNvPr>
          <p:cNvSpPr/>
          <p:nvPr/>
        </p:nvSpPr>
        <p:spPr>
          <a:xfrm>
            <a:off x="3561800" y="198837"/>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明文</a:t>
            </a:r>
          </a:p>
        </p:txBody>
      </p:sp>
      <p:grpSp>
        <p:nvGrpSpPr>
          <p:cNvPr id="13" name="组合 12">
            <a:extLst>
              <a:ext uri="{FF2B5EF4-FFF2-40B4-BE49-F238E27FC236}">
                <a16:creationId xmlns:a16="http://schemas.microsoft.com/office/drawing/2014/main" id="{8FE2FA36-509E-42D8-9F8B-617178190EEC}"/>
              </a:ext>
            </a:extLst>
          </p:cNvPr>
          <p:cNvGrpSpPr/>
          <p:nvPr/>
        </p:nvGrpSpPr>
        <p:grpSpPr>
          <a:xfrm>
            <a:off x="3343753" y="905028"/>
            <a:ext cx="938997" cy="1276533"/>
            <a:chOff x="755575" y="1311077"/>
            <a:chExt cx="938997" cy="1276533"/>
          </a:xfrm>
        </p:grpSpPr>
        <p:sp>
          <p:nvSpPr>
            <p:cNvPr id="9" name="矩形 8">
              <a:extLst>
                <a:ext uri="{FF2B5EF4-FFF2-40B4-BE49-F238E27FC236}">
                  <a16:creationId xmlns:a16="http://schemas.microsoft.com/office/drawing/2014/main" id="{10588918-AD04-45F2-B661-E610FF5F46CF}"/>
                </a:ext>
              </a:extLst>
            </p:cNvPr>
            <p:cNvSpPr/>
            <p:nvPr/>
          </p:nvSpPr>
          <p:spPr>
            <a:xfrm>
              <a:off x="755575" y="1311077"/>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字节代换</a:t>
              </a:r>
            </a:p>
          </p:txBody>
        </p:sp>
        <p:sp>
          <p:nvSpPr>
            <p:cNvPr id="10" name="矩形 9">
              <a:extLst>
                <a:ext uri="{FF2B5EF4-FFF2-40B4-BE49-F238E27FC236}">
                  <a16:creationId xmlns:a16="http://schemas.microsoft.com/office/drawing/2014/main" id="{DDF65E1B-4BFE-4843-8499-9651FEE899F6}"/>
                </a:ext>
              </a:extLst>
            </p:cNvPr>
            <p:cNvSpPr/>
            <p:nvPr/>
          </p:nvSpPr>
          <p:spPr>
            <a:xfrm>
              <a:off x="755575" y="1634580"/>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行移位</a:t>
              </a:r>
            </a:p>
          </p:txBody>
        </p:sp>
        <p:sp>
          <p:nvSpPr>
            <p:cNvPr id="11" name="矩形 10">
              <a:extLst>
                <a:ext uri="{FF2B5EF4-FFF2-40B4-BE49-F238E27FC236}">
                  <a16:creationId xmlns:a16="http://schemas.microsoft.com/office/drawing/2014/main" id="{131D177E-7179-4598-B219-A991409E5C94}"/>
                </a:ext>
              </a:extLst>
            </p:cNvPr>
            <p:cNvSpPr/>
            <p:nvPr/>
          </p:nvSpPr>
          <p:spPr>
            <a:xfrm>
              <a:off x="755575" y="1958083"/>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列混合</a:t>
              </a:r>
            </a:p>
          </p:txBody>
        </p:sp>
        <p:sp>
          <p:nvSpPr>
            <p:cNvPr id="12" name="矩形 11">
              <a:extLst>
                <a:ext uri="{FF2B5EF4-FFF2-40B4-BE49-F238E27FC236}">
                  <a16:creationId xmlns:a16="http://schemas.microsoft.com/office/drawing/2014/main" id="{28123C69-59A6-4C7E-95A1-C9333FC40A2F}"/>
                </a:ext>
              </a:extLst>
            </p:cNvPr>
            <p:cNvSpPr/>
            <p:nvPr/>
          </p:nvSpPr>
          <p:spPr>
            <a:xfrm>
              <a:off x="755575" y="2281586"/>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14" name="箭头: 下 13">
              <a:extLst>
                <a:ext uri="{FF2B5EF4-FFF2-40B4-BE49-F238E27FC236}">
                  <a16:creationId xmlns:a16="http://schemas.microsoft.com/office/drawing/2014/main" id="{318E1D0E-C819-41EF-B1FB-433C94BD9025}"/>
                </a:ext>
              </a:extLst>
            </p:cNvPr>
            <p:cNvSpPr/>
            <p:nvPr/>
          </p:nvSpPr>
          <p:spPr>
            <a:xfrm>
              <a:off x="1193530" y="1525876"/>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a:extLst>
                <a:ext uri="{FF2B5EF4-FFF2-40B4-BE49-F238E27FC236}">
                  <a16:creationId xmlns:a16="http://schemas.microsoft.com/office/drawing/2014/main" id="{34AC77A2-4568-4CA9-91F0-CE17208A7BBE}"/>
                </a:ext>
              </a:extLst>
            </p:cNvPr>
            <p:cNvSpPr/>
            <p:nvPr/>
          </p:nvSpPr>
          <p:spPr>
            <a:xfrm>
              <a:off x="1187624" y="1863517"/>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4F210D09-BD1F-43D2-BC5C-972E8429F019}"/>
                </a:ext>
              </a:extLst>
            </p:cNvPr>
            <p:cNvSpPr/>
            <p:nvPr/>
          </p:nvSpPr>
          <p:spPr>
            <a:xfrm>
              <a:off x="1187624" y="2177281"/>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下 16">
              <a:extLst>
                <a:ext uri="{FF2B5EF4-FFF2-40B4-BE49-F238E27FC236}">
                  <a16:creationId xmlns:a16="http://schemas.microsoft.com/office/drawing/2014/main" id="{2878DB03-670D-45D7-A4BD-90FD9723ED03}"/>
                </a:ext>
              </a:extLst>
            </p:cNvPr>
            <p:cNvSpPr/>
            <p:nvPr/>
          </p:nvSpPr>
          <p:spPr>
            <a:xfrm>
              <a:off x="1199869" y="2497610"/>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4" name="矩形 43">
            <a:extLst>
              <a:ext uri="{FF2B5EF4-FFF2-40B4-BE49-F238E27FC236}">
                <a16:creationId xmlns:a16="http://schemas.microsoft.com/office/drawing/2014/main" id="{261A5681-7A57-46A5-8487-4C63CBA6A1B1}"/>
              </a:ext>
            </a:extLst>
          </p:cNvPr>
          <p:cNvSpPr/>
          <p:nvPr/>
        </p:nvSpPr>
        <p:spPr>
          <a:xfrm>
            <a:off x="6406346" y="16960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明文</a:t>
            </a:r>
          </a:p>
        </p:txBody>
      </p:sp>
      <p:sp>
        <p:nvSpPr>
          <p:cNvPr id="52" name="矩形 51">
            <a:extLst>
              <a:ext uri="{FF2B5EF4-FFF2-40B4-BE49-F238E27FC236}">
                <a16:creationId xmlns:a16="http://schemas.microsoft.com/office/drawing/2014/main" id="{56CD3AD9-DC79-4FDE-A964-D026CF323FA3}"/>
              </a:ext>
            </a:extLst>
          </p:cNvPr>
          <p:cNvSpPr/>
          <p:nvPr/>
        </p:nvSpPr>
        <p:spPr>
          <a:xfrm>
            <a:off x="3635426" y="212433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tx1"/>
                </a:solidFill>
                <a:latin typeface="华文楷体" panose="02010600040101010101" pitchFamily="2" charset="-122"/>
                <a:ea typeface="华文楷体" panose="02010600040101010101" pitchFamily="2" charset="-122"/>
              </a:rPr>
              <a:t>......</a:t>
            </a:r>
            <a:endParaRPr lang="zh-CN" altLang="en-US" sz="1600" dirty="0">
              <a:solidFill>
                <a:schemeClr val="tx1"/>
              </a:solidFill>
              <a:latin typeface="华文楷体" panose="02010600040101010101" pitchFamily="2" charset="-122"/>
              <a:ea typeface="华文楷体" panose="02010600040101010101" pitchFamily="2" charset="-122"/>
            </a:endParaRPr>
          </a:p>
        </p:txBody>
      </p:sp>
      <p:grpSp>
        <p:nvGrpSpPr>
          <p:cNvPr id="180" name="组合 179">
            <a:extLst>
              <a:ext uri="{FF2B5EF4-FFF2-40B4-BE49-F238E27FC236}">
                <a16:creationId xmlns:a16="http://schemas.microsoft.com/office/drawing/2014/main" id="{2FF646A2-483D-48E2-96A6-125C696B4297}"/>
              </a:ext>
            </a:extLst>
          </p:cNvPr>
          <p:cNvGrpSpPr/>
          <p:nvPr/>
        </p:nvGrpSpPr>
        <p:grpSpPr>
          <a:xfrm>
            <a:off x="4393722" y="591990"/>
            <a:ext cx="1635213" cy="161910"/>
            <a:chOff x="5358804" y="424107"/>
            <a:chExt cx="1635213" cy="161910"/>
          </a:xfrm>
        </p:grpSpPr>
        <p:sp>
          <p:nvSpPr>
            <p:cNvPr id="55" name="箭头: 下 54">
              <a:extLst>
                <a:ext uri="{FF2B5EF4-FFF2-40B4-BE49-F238E27FC236}">
                  <a16:creationId xmlns:a16="http://schemas.microsoft.com/office/drawing/2014/main" id="{9F6CB1C4-7A52-4B79-A8E8-7BAAACC72705}"/>
                </a:ext>
              </a:extLst>
            </p:cNvPr>
            <p:cNvSpPr/>
            <p:nvPr/>
          </p:nvSpPr>
          <p:spPr>
            <a:xfrm rot="16200000" flipV="1">
              <a:off x="5541767" y="272476"/>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56" name="箭头: 下 55">
              <a:extLst>
                <a:ext uri="{FF2B5EF4-FFF2-40B4-BE49-F238E27FC236}">
                  <a16:creationId xmlns:a16="http://schemas.microsoft.com/office/drawing/2014/main" id="{FB84E256-F706-4B60-A71F-8A448A0892EB}"/>
                </a:ext>
              </a:extLst>
            </p:cNvPr>
            <p:cNvSpPr/>
            <p:nvPr/>
          </p:nvSpPr>
          <p:spPr>
            <a:xfrm rot="5400000" flipV="1">
              <a:off x="6691088" y="283088"/>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B4D25AF6-DDA7-4D49-862B-D972DE997043}"/>
                </a:ext>
              </a:extLst>
            </p:cNvPr>
            <p:cNvSpPr/>
            <p:nvPr/>
          </p:nvSpPr>
          <p:spPr>
            <a:xfrm>
              <a:off x="5890807" y="424107"/>
              <a:ext cx="580139" cy="161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W[0,3]</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81" name="组合 180">
            <a:extLst>
              <a:ext uri="{FF2B5EF4-FFF2-40B4-BE49-F238E27FC236}">
                <a16:creationId xmlns:a16="http://schemas.microsoft.com/office/drawing/2014/main" id="{ACB31DEC-48BA-43B5-992B-E2E3F80DD9F4}"/>
              </a:ext>
            </a:extLst>
          </p:cNvPr>
          <p:cNvGrpSpPr/>
          <p:nvPr/>
        </p:nvGrpSpPr>
        <p:grpSpPr>
          <a:xfrm>
            <a:off x="4393722" y="4521939"/>
            <a:ext cx="1635213" cy="161910"/>
            <a:chOff x="5358804" y="3814790"/>
            <a:chExt cx="1635213" cy="161910"/>
          </a:xfrm>
        </p:grpSpPr>
        <p:sp>
          <p:nvSpPr>
            <p:cNvPr id="58" name="箭头: 下 57">
              <a:extLst>
                <a:ext uri="{FF2B5EF4-FFF2-40B4-BE49-F238E27FC236}">
                  <a16:creationId xmlns:a16="http://schemas.microsoft.com/office/drawing/2014/main" id="{30A4D155-978A-4AE8-BE4C-E28C4CCFA998}"/>
                </a:ext>
              </a:extLst>
            </p:cNvPr>
            <p:cNvSpPr/>
            <p:nvPr/>
          </p:nvSpPr>
          <p:spPr>
            <a:xfrm rot="16200000" flipV="1">
              <a:off x="5541767" y="3663159"/>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59" name="箭头: 下 58">
              <a:extLst>
                <a:ext uri="{FF2B5EF4-FFF2-40B4-BE49-F238E27FC236}">
                  <a16:creationId xmlns:a16="http://schemas.microsoft.com/office/drawing/2014/main" id="{5C682097-A482-4671-8F34-1BFF7DE6A7E8}"/>
                </a:ext>
              </a:extLst>
            </p:cNvPr>
            <p:cNvSpPr/>
            <p:nvPr/>
          </p:nvSpPr>
          <p:spPr>
            <a:xfrm rot="5400000" flipV="1">
              <a:off x="6691088" y="3673771"/>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60" name="矩形 59">
              <a:extLst>
                <a:ext uri="{FF2B5EF4-FFF2-40B4-BE49-F238E27FC236}">
                  <a16:creationId xmlns:a16="http://schemas.microsoft.com/office/drawing/2014/main" id="{53804BC0-318D-47BA-BD03-34F0DF5E4DE4}"/>
                </a:ext>
              </a:extLst>
            </p:cNvPr>
            <p:cNvSpPr/>
            <p:nvPr/>
          </p:nvSpPr>
          <p:spPr>
            <a:xfrm>
              <a:off x="5890807" y="3814790"/>
              <a:ext cx="580139" cy="161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W[40,43]</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61" name="矩形 60">
            <a:extLst>
              <a:ext uri="{FF2B5EF4-FFF2-40B4-BE49-F238E27FC236}">
                <a16:creationId xmlns:a16="http://schemas.microsoft.com/office/drawing/2014/main" id="{794D623B-F14F-496A-8E8E-00CA642A59D5}"/>
              </a:ext>
            </a:extLst>
          </p:cNvPr>
          <p:cNvSpPr/>
          <p:nvPr/>
        </p:nvSpPr>
        <p:spPr>
          <a:xfrm>
            <a:off x="3601688" y="4830887"/>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密文</a:t>
            </a:r>
          </a:p>
        </p:txBody>
      </p:sp>
      <p:sp>
        <p:nvSpPr>
          <p:cNvPr id="62" name="矩形 61">
            <a:extLst>
              <a:ext uri="{FF2B5EF4-FFF2-40B4-BE49-F238E27FC236}">
                <a16:creationId xmlns:a16="http://schemas.microsoft.com/office/drawing/2014/main" id="{A2F1BFAA-5B7B-41B2-8F54-CA9755C90178}"/>
              </a:ext>
            </a:extLst>
          </p:cNvPr>
          <p:cNvSpPr/>
          <p:nvPr/>
        </p:nvSpPr>
        <p:spPr>
          <a:xfrm>
            <a:off x="6408634" y="4832184"/>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密文</a:t>
            </a:r>
          </a:p>
        </p:txBody>
      </p:sp>
      <p:grpSp>
        <p:nvGrpSpPr>
          <p:cNvPr id="120" name="组合 119">
            <a:extLst>
              <a:ext uri="{FF2B5EF4-FFF2-40B4-BE49-F238E27FC236}">
                <a16:creationId xmlns:a16="http://schemas.microsoft.com/office/drawing/2014/main" id="{FAAE6FFF-F43D-4BD3-B67A-8AD53E61D5AB}"/>
              </a:ext>
            </a:extLst>
          </p:cNvPr>
          <p:cNvGrpSpPr/>
          <p:nvPr/>
        </p:nvGrpSpPr>
        <p:grpSpPr>
          <a:xfrm>
            <a:off x="2950674" y="931236"/>
            <a:ext cx="300000" cy="1160325"/>
            <a:chOff x="4004327" y="763353"/>
            <a:chExt cx="300000" cy="1160325"/>
          </a:xfrm>
        </p:grpSpPr>
        <p:cxnSp>
          <p:nvCxnSpPr>
            <p:cNvPr id="64" name="直接连接符 63">
              <a:extLst>
                <a:ext uri="{FF2B5EF4-FFF2-40B4-BE49-F238E27FC236}">
                  <a16:creationId xmlns:a16="http://schemas.microsoft.com/office/drawing/2014/main" id="{51EADB20-105C-44F2-96B8-DDC004F5331C}"/>
                </a:ext>
              </a:extLst>
            </p:cNvPr>
            <p:cNvCxnSpPr/>
            <p:nvPr/>
          </p:nvCxnSpPr>
          <p:spPr>
            <a:xfrm flipH="1">
              <a:off x="4167539" y="763353"/>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7C0D45C3-D42F-4A3A-9FCE-7F6C90761937}"/>
                </a:ext>
              </a:extLst>
            </p:cNvPr>
            <p:cNvCxnSpPr/>
            <p:nvPr/>
          </p:nvCxnSpPr>
          <p:spPr>
            <a:xfrm flipH="1">
              <a:off x="4172126" y="1923678"/>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8E8CB591-0D31-4D00-8035-1FE872237E0B}"/>
                </a:ext>
              </a:extLst>
            </p:cNvPr>
            <p:cNvCxnSpPr/>
            <p:nvPr/>
          </p:nvCxnSpPr>
          <p:spPr>
            <a:xfrm>
              <a:off x="4233639" y="763353"/>
              <a:ext cx="0" cy="1152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68" name="矩形 67">
              <a:extLst>
                <a:ext uri="{FF2B5EF4-FFF2-40B4-BE49-F238E27FC236}">
                  <a16:creationId xmlns:a16="http://schemas.microsoft.com/office/drawing/2014/main" id="{4D674000-3340-4628-9CD0-8FF86157FB06}"/>
                </a:ext>
              </a:extLst>
            </p:cNvPr>
            <p:cNvSpPr/>
            <p:nvPr/>
          </p:nvSpPr>
          <p:spPr>
            <a:xfrm rot="16200000">
              <a:off x="3712453" y="1314264"/>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第</a:t>
              </a:r>
              <a:r>
                <a:rPr lang="en-US" altLang="zh-CN" sz="1600" dirty="0">
                  <a:solidFill>
                    <a:schemeClr val="tx1"/>
                  </a:solidFill>
                  <a:latin typeface="华文楷体" panose="02010600040101010101" pitchFamily="2" charset="-122"/>
                  <a:ea typeface="华文楷体" panose="02010600040101010101" pitchFamily="2" charset="-122"/>
                </a:rPr>
                <a:t>1</a:t>
              </a:r>
              <a:r>
                <a:rPr lang="zh-CN" altLang="en-US" sz="1600" dirty="0">
                  <a:solidFill>
                    <a:schemeClr val="tx1"/>
                  </a:solidFill>
                  <a:latin typeface="华文楷体" panose="02010600040101010101" pitchFamily="2" charset="-122"/>
                  <a:ea typeface="华文楷体" panose="02010600040101010101" pitchFamily="2" charset="-122"/>
                </a:rPr>
                <a:t>轮</a:t>
              </a:r>
            </a:p>
          </p:txBody>
        </p:sp>
      </p:grpSp>
      <p:grpSp>
        <p:nvGrpSpPr>
          <p:cNvPr id="19" name="组合 18">
            <a:extLst>
              <a:ext uri="{FF2B5EF4-FFF2-40B4-BE49-F238E27FC236}">
                <a16:creationId xmlns:a16="http://schemas.microsoft.com/office/drawing/2014/main" id="{A971D62B-3626-4A2F-13C9-41CC00D91A3A}"/>
              </a:ext>
            </a:extLst>
          </p:cNvPr>
          <p:cNvGrpSpPr/>
          <p:nvPr/>
        </p:nvGrpSpPr>
        <p:grpSpPr>
          <a:xfrm>
            <a:off x="2950674" y="3839883"/>
            <a:ext cx="321679" cy="900000"/>
            <a:chOff x="2950674" y="3839883"/>
            <a:chExt cx="321679" cy="900000"/>
          </a:xfrm>
        </p:grpSpPr>
        <p:cxnSp>
          <p:nvCxnSpPr>
            <p:cNvPr id="69" name="直接连接符 68">
              <a:extLst>
                <a:ext uri="{FF2B5EF4-FFF2-40B4-BE49-F238E27FC236}">
                  <a16:creationId xmlns:a16="http://schemas.microsoft.com/office/drawing/2014/main" id="{A97117BB-3755-4F76-8023-AB2A193CEDD7}"/>
                </a:ext>
              </a:extLst>
            </p:cNvPr>
            <p:cNvCxnSpPr/>
            <p:nvPr/>
          </p:nvCxnSpPr>
          <p:spPr>
            <a:xfrm flipH="1">
              <a:off x="3135565" y="3839883"/>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70" name="直接连接符 69">
              <a:extLst>
                <a:ext uri="{FF2B5EF4-FFF2-40B4-BE49-F238E27FC236}">
                  <a16:creationId xmlns:a16="http://schemas.microsoft.com/office/drawing/2014/main" id="{503FF401-CF92-4219-903C-1BC8F2FEAA86}"/>
                </a:ext>
              </a:extLst>
            </p:cNvPr>
            <p:cNvCxnSpPr/>
            <p:nvPr/>
          </p:nvCxnSpPr>
          <p:spPr>
            <a:xfrm flipH="1">
              <a:off x="3140152" y="4739883"/>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3B822860-9131-4B4C-94F2-DEC9A8B62832}"/>
                </a:ext>
              </a:extLst>
            </p:cNvPr>
            <p:cNvCxnSpPr/>
            <p:nvPr/>
          </p:nvCxnSpPr>
          <p:spPr>
            <a:xfrm>
              <a:off x="3201665" y="3855865"/>
              <a:ext cx="0" cy="864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2" name="矩形 71">
              <a:extLst>
                <a:ext uri="{FF2B5EF4-FFF2-40B4-BE49-F238E27FC236}">
                  <a16:creationId xmlns:a16="http://schemas.microsoft.com/office/drawing/2014/main" id="{9AD4D309-68E9-4BAE-B2C4-D743D6B2530F}"/>
                </a:ext>
              </a:extLst>
            </p:cNvPr>
            <p:cNvSpPr/>
            <p:nvPr/>
          </p:nvSpPr>
          <p:spPr>
            <a:xfrm rot="16200000">
              <a:off x="2658800" y="4209079"/>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FF0000"/>
                  </a:solidFill>
                  <a:latin typeface="华文楷体" panose="02010600040101010101" pitchFamily="2" charset="-122"/>
                  <a:ea typeface="华文楷体" panose="02010600040101010101" pitchFamily="2" charset="-122"/>
                </a:rPr>
                <a:t>第</a:t>
              </a:r>
              <a:r>
                <a:rPr lang="en-US" altLang="zh-CN" sz="1600" b="1" dirty="0">
                  <a:solidFill>
                    <a:srgbClr val="FF0000"/>
                  </a:solidFill>
                  <a:latin typeface="华文楷体" panose="02010600040101010101" pitchFamily="2" charset="-122"/>
                  <a:ea typeface="华文楷体" panose="02010600040101010101" pitchFamily="2" charset="-122"/>
                </a:rPr>
                <a:t>10</a:t>
              </a:r>
              <a:r>
                <a:rPr lang="zh-CN" altLang="en-US" sz="1600" b="1" dirty="0">
                  <a:solidFill>
                    <a:srgbClr val="FF0000"/>
                  </a:solidFill>
                  <a:latin typeface="华文楷体" panose="02010600040101010101" pitchFamily="2" charset="-122"/>
                  <a:ea typeface="华文楷体" panose="02010600040101010101" pitchFamily="2" charset="-122"/>
                </a:rPr>
                <a:t>轮</a:t>
              </a:r>
            </a:p>
          </p:txBody>
        </p:sp>
      </p:grpSp>
      <p:grpSp>
        <p:nvGrpSpPr>
          <p:cNvPr id="91" name="组合 90">
            <a:extLst>
              <a:ext uri="{FF2B5EF4-FFF2-40B4-BE49-F238E27FC236}">
                <a16:creationId xmlns:a16="http://schemas.microsoft.com/office/drawing/2014/main" id="{FBF4A5FD-33D1-4666-AB53-9214146F62B8}"/>
              </a:ext>
            </a:extLst>
          </p:cNvPr>
          <p:cNvGrpSpPr/>
          <p:nvPr/>
        </p:nvGrpSpPr>
        <p:grpSpPr>
          <a:xfrm>
            <a:off x="3343753" y="2378779"/>
            <a:ext cx="938997" cy="1384012"/>
            <a:chOff x="755575" y="1203598"/>
            <a:chExt cx="938997" cy="1384012"/>
          </a:xfrm>
        </p:grpSpPr>
        <p:sp>
          <p:nvSpPr>
            <p:cNvPr id="93" name="矩形 92">
              <a:extLst>
                <a:ext uri="{FF2B5EF4-FFF2-40B4-BE49-F238E27FC236}">
                  <a16:creationId xmlns:a16="http://schemas.microsoft.com/office/drawing/2014/main" id="{A78F4C65-87ED-4468-A975-E4A3DAFEBA78}"/>
                </a:ext>
              </a:extLst>
            </p:cNvPr>
            <p:cNvSpPr/>
            <p:nvPr/>
          </p:nvSpPr>
          <p:spPr>
            <a:xfrm>
              <a:off x="755575" y="1311077"/>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字节代换</a:t>
              </a:r>
            </a:p>
          </p:txBody>
        </p:sp>
        <p:sp>
          <p:nvSpPr>
            <p:cNvPr id="94" name="矩形 93">
              <a:extLst>
                <a:ext uri="{FF2B5EF4-FFF2-40B4-BE49-F238E27FC236}">
                  <a16:creationId xmlns:a16="http://schemas.microsoft.com/office/drawing/2014/main" id="{48E03725-155E-4DD8-8B4B-E985A213DAD9}"/>
                </a:ext>
              </a:extLst>
            </p:cNvPr>
            <p:cNvSpPr/>
            <p:nvPr/>
          </p:nvSpPr>
          <p:spPr>
            <a:xfrm>
              <a:off x="755575" y="1634580"/>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行移位</a:t>
              </a:r>
            </a:p>
          </p:txBody>
        </p:sp>
        <p:sp>
          <p:nvSpPr>
            <p:cNvPr id="95" name="矩形 94">
              <a:extLst>
                <a:ext uri="{FF2B5EF4-FFF2-40B4-BE49-F238E27FC236}">
                  <a16:creationId xmlns:a16="http://schemas.microsoft.com/office/drawing/2014/main" id="{66985BCC-6EAB-45B1-8672-5F055ED2BDE6}"/>
                </a:ext>
              </a:extLst>
            </p:cNvPr>
            <p:cNvSpPr/>
            <p:nvPr/>
          </p:nvSpPr>
          <p:spPr>
            <a:xfrm>
              <a:off x="755575" y="1958083"/>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列混合</a:t>
              </a:r>
            </a:p>
          </p:txBody>
        </p:sp>
        <p:sp>
          <p:nvSpPr>
            <p:cNvPr id="96" name="矩形 95">
              <a:extLst>
                <a:ext uri="{FF2B5EF4-FFF2-40B4-BE49-F238E27FC236}">
                  <a16:creationId xmlns:a16="http://schemas.microsoft.com/office/drawing/2014/main" id="{B1453ADE-7C6C-41F2-8473-77143C5DB140}"/>
                </a:ext>
              </a:extLst>
            </p:cNvPr>
            <p:cNvSpPr/>
            <p:nvPr/>
          </p:nvSpPr>
          <p:spPr>
            <a:xfrm>
              <a:off x="755575" y="2281586"/>
              <a:ext cx="938997"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97" name="箭头: 下 96">
              <a:extLst>
                <a:ext uri="{FF2B5EF4-FFF2-40B4-BE49-F238E27FC236}">
                  <a16:creationId xmlns:a16="http://schemas.microsoft.com/office/drawing/2014/main" id="{D04AE425-30DB-40C9-8E41-B77F258F891C}"/>
                </a:ext>
              </a:extLst>
            </p:cNvPr>
            <p:cNvSpPr/>
            <p:nvPr/>
          </p:nvSpPr>
          <p:spPr>
            <a:xfrm>
              <a:off x="1187624" y="1203598"/>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箭头: 下 97">
              <a:extLst>
                <a:ext uri="{FF2B5EF4-FFF2-40B4-BE49-F238E27FC236}">
                  <a16:creationId xmlns:a16="http://schemas.microsoft.com/office/drawing/2014/main" id="{33243226-D75B-49DF-9F34-798145E2C734}"/>
                </a:ext>
              </a:extLst>
            </p:cNvPr>
            <p:cNvSpPr/>
            <p:nvPr/>
          </p:nvSpPr>
          <p:spPr>
            <a:xfrm>
              <a:off x="1193530" y="1525876"/>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箭头: 下 98">
              <a:extLst>
                <a:ext uri="{FF2B5EF4-FFF2-40B4-BE49-F238E27FC236}">
                  <a16:creationId xmlns:a16="http://schemas.microsoft.com/office/drawing/2014/main" id="{BF7EF677-5CD5-41DE-83A7-DA48BBD3CF97}"/>
                </a:ext>
              </a:extLst>
            </p:cNvPr>
            <p:cNvSpPr/>
            <p:nvPr/>
          </p:nvSpPr>
          <p:spPr>
            <a:xfrm>
              <a:off x="1187624" y="1863517"/>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箭头: 下 99">
              <a:extLst>
                <a:ext uri="{FF2B5EF4-FFF2-40B4-BE49-F238E27FC236}">
                  <a16:creationId xmlns:a16="http://schemas.microsoft.com/office/drawing/2014/main" id="{100BC9A7-7EE0-4A0B-A923-1E4BF8C66F6B}"/>
                </a:ext>
              </a:extLst>
            </p:cNvPr>
            <p:cNvSpPr/>
            <p:nvPr/>
          </p:nvSpPr>
          <p:spPr>
            <a:xfrm>
              <a:off x="1187624" y="2177281"/>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箭头: 下 100">
              <a:extLst>
                <a:ext uri="{FF2B5EF4-FFF2-40B4-BE49-F238E27FC236}">
                  <a16:creationId xmlns:a16="http://schemas.microsoft.com/office/drawing/2014/main" id="{C1612341-18CC-493C-ABD2-7037559B1DDB}"/>
                </a:ext>
              </a:extLst>
            </p:cNvPr>
            <p:cNvSpPr/>
            <p:nvPr/>
          </p:nvSpPr>
          <p:spPr>
            <a:xfrm>
              <a:off x="1199869" y="2497610"/>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3" name="组合 102">
            <a:extLst>
              <a:ext uri="{FF2B5EF4-FFF2-40B4-BE49-F238E27FC236}">
                <a16:creationId xmlns:a16="http://schemas.microsoft.com/office/drawing/2014/main" id="{79F43A87-0A94-4E00-8C48-EBDF2A08D5A0}"/>
              </a:ext>
            </a:extLst>
          </p:cNvPr>
          <p:cNvGrpSpPr/>
          <p:nvPr/>
        </p:nvGrpSpPr>
        <p:grpSpPr>
          <a:xfrm>
            <a:off x="3343753" y="3833418"/>
            <a:ext cx="938997" cy="1031680"/>
            <a:chOff x="766374" y="1311077"/>
            <a:chExt cx="938997" cy="1031680"/>
          </a:xfrm>
        </p:grpSpPr>
        <p:sp>
          <p:nvSpPr>
            <p:cNvPr id="104" name="矩形 103">
              <a:extLst>
                <a:ext uri="{FF2B5EF4-FFF2-40B4-BE49-F238E27FC236}">
                  <a16:creationId xmlns:a16="http://schemas.microsoft.com/office/drawing/2014/main" id="{6602E966-73A9-4431-8492-5230AA98E9AB}"/>
                </a:ext>
              </a:extLst>
            </p:cNvPr>
            <p:cNvSpPr/>
            <p:nvPr/>
          </p:nvSpPr>
          <p:spPr>
            <a:xfrm>
              <a:off x="766374" y="1311077"/>
              <a:ext cx="938997"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字节代换</a:t>
              </a:r>
            </a:p>
          </p:txBody>
        </p:sp>
        <p:sp>
          <p:nvSpPr>
            <p:cNvPr id="105" name="矩形 104">
              <a:extLst>
                <a:ext uri="{FF2B5EF4-FFF2-40B4-BE49-F238E27FC236}">
                  <a16:creationId xmlns:a16="http://schemas.microsoft.com/office/drawing/2014/main" id="{642C19C6-7F3A-4EDC-AA1C-7C4CC2619539}"/>
                </a:ext>
              </a:extLst>
            </p:cNvPr>
            <p:cNvSpPr/>
            <p:nvPr/>
          </p:nvSpPr>
          <p:spPr>
            <a:xfrm>
              <a:off x="766374" y="1634580"/>
              <a:ext cx="938997"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行移位</a:t>
              </a:r>
            </a:p>
          </p:txBody>
        </p:sp>
        <p:sp>
          <p:nvSpPr>
            <p:cNvPr id="107" name="矩形 106">
              <a:extLst>
                <a:ext uri="{FF2B5EF4-FFF2-40B4-BE49-F238E27FC236}">
                  <a16:creationId xmlns:a16="http://schemas.microsoft.com/office/drawing/2014/main" id="{0F8B69CC-7289-49F9-86B2-75925A8F0D67}"/>
                </a:ext>
              </a:extLst>
            </p:cNvPr>
            <p:cNvSpPr/>
            <p:nvPr/>
          </p:nvSpPr>
          <p:spPr>
            <a:xfrm>
              <a:off x="766374" y="1971563"/>
              <a:ext cx="938997"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109" name="箭头: 下 108">
              <a:extLst>
                <a:ext uri="{FF2B5EF4-FFF2-40B4-BE49-F238E27FC236}">
                  <a16:creationId xmlns:a16="http://schemas.microsoft.com/office/drawing/2014/main" id="{D83C5E56-582E-4DC4-A2D0-9D923E3B3F1C}"/>
                </a:ext>
              </a:extLst>
            </p:cNvPr>
            <p:cNvSpPr/>
            <p:nvPr/>
          </p:nvSpPr>
          <p:spPr>
            <a:xfrm>
              <a:off x="1193530" y="1525876"/>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箭头: 下 110">
              <a:extLst>
                <a:ext uri="{FF2B5EF4-FFF2-40B4-BE49-F238E27FC236}">
                  <a16:creationId xmlns:a16="http://schemas.microsoft.com/office/drawing/2014/main" id="{D2AE8FAA-C6AB-4205-8987-7CC7C8E44CBE}"/>
                </a:ext>
              </a:extLst>
            </p:cNvPr>
            <p:cNvSpPr/>
            <p:nvPr/>
          </p:nvSpPr>
          <p:spPr>
            <a:xfrm>
              <a:off x="1187503" y="1850604"/>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2" name="箭头: 下 111">
              <a:extLst>
                <a:ext uri="{FF2B5EF4-FFF2-40B4-BE49-F238E27FC236}">
                  <a16:creationId xmlns:a16="http://schemas.microsoft.com/office/drawing/2014/main" id="{A94A5B58-A8E2-4E2F-A294-83C22EF5C2E4}"/>
                </a:ext>
              </a:extLst>
            </p:cNvPr>
            <p:cNvSpPr/>
            <p:nvPr/>
          </p:nvSpPr>
          <p:spPr>
            <a:xfrm>
              <a:off x="1193530" y="2198741"/>
              <a:ext cx="72008" cy="144016"/>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1" name="组合 120">
            <a:extLst>
              <a:ext uri="{FF2B5EF4-FFF2-40B4-BE49-F238E27FC236}">
                <a16:creationId xmlns:a16="http://schemas.microsoft.com/office/drawing/2014/main" id="{57C998EA-C6DD-4B76-8134-CEAD24A7AD1A}"/>
              </a:ext>
            </a:extLst>
          </p:cNvPr>
          <p:cNvGrpSpPr/>
          <p:nvPr/>
        </p:nvGrpSpPr>
        <p:grpSpPr>
          <a:xfrm>
            <a:off x="2950674" y="2515412"/>
            <a:ext cx="300000" cy="1160325"/>
            <a:chOff x="4004327" y="763353"/>
            <a:chExt cx="300000" cy="1160325"/>
          </a:xfrm>
        </p:grpSpPr>
        <p:cxnSp>
          <p:nvCxnSpPr>
            <p:cNvPr id="122" name="直接连接符 121">
              <a:extLst>
                <a:ext uri="{FF2B5EF4-FFF2-40B4-BE49-F238E27FC236}">
                  <a16:creationId xmlns:a16="http://schemas.microsoft.com/office/drawing/2014/main" id="{47BA0A3E-762E-482F-A841-5D19805C0045}"/>
                </a:ext>
              </a:extLst>
            </p:cNvPr>
            <p:cNvCxnSpPr/>
            <p:nvPr/>
          </p:nvCxnSpPr>
          <p:spPr>
            <a:xfrm flipH="1">
              <a:off x="4167539" y="763353"/>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23" name="直接连接符 122">
              <a:extLst>
                <a:ext uri="{FF2B5EF4-FFF2-40B4-BE49-F238E27FC236}">
                  <a16:creationId xmlns:a16="http://schemas.microsoft.com/office/drawing/2014/main" id="{F4CDAD07-0E69-4B40-B4E5-62F8284C7F9B}"/>
                </a:ext>
              </a:extLst>
            </p:cNvPr>
            <p:cNvCxnSpPr/>
            <p:nvPr/>
          </p:nvCxnSpPr>
          <p:spPr>
            <a:xfrm flipH="1">
              <a:off x="4172126" y="1923678"/>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24" name="直接箭头连接符 123">
              <a:extLst>
                <a:ext uri="{FF2B5EF4-FFF2-40B4-BE49-F238E27FC236}">
                  <a16:creationId xmlns:a16="http://schemas.microsoft.com/office/drawing/2014/main" id="{A77E093A-C1E8-4114-BF1C-9C9320D16EC8}"/>
                </a:ext>
              </a:extLst>
            </p:cNvPr>
            <p:cNvCxnSpPr/>
            <p:nvPr/>
          </p:nvCxnSpPr>
          <p:spPr>
            <a:xfrm>
              <a:off x="4233639" y="763353"/>
              <a:ext cx="0" cy="1152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25" name="矩形 124">
              <a:extLst>
                <a:ext uri="{FF2B5EF4-FFF2-40B4-BE49-F238E27FC236}">
                  <a16:creationId xmlns:a16="http://schemas.microsoft.com/office/drawing/2014/main" id="{E0BA12BE-1868-4600-9067-0198AE47C038}"/>
                </a:ext>
              </a:extLst>
            </p:cNvPr>
            <p:cNvSpPr/>
            <p:nvPr/>
          </p:nvSpPr>
          <p:spPr>
            <a:xfrm rot="16200000">
              <a:off x="3712453" y="1314264"/>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第</a:t>
              </a:r>
              <a:r>
                <a:rPr lang="en-US" altLang="zh-CN" sz="1600" dirty="0">
                  <a:solidFill>
                    <a:schemeClr val="tx1"/>
                  </a:solidFill>
                  <a:latin typeface="华文楷体" panose="02010600040101010101" pitchFamily="2" charset="-122"/>
                  <a:ea typeface="华文楷体" panose="02010600040101010101" pitchFamily="2" charset="-122"/>
                </a:rPr>
                <a:t>9</a:t>
              </a:r>
              <a:r>
                <a:rPr lang="zh-CN" altLang="en-US" sz="1600" dirty="0">
                  <a:solidFill>
                    <a:schemeClr val="tx1"/>
                  </a:solidFill>
                  <a:latin typeface="华文楷体" panose="02010600040101010101" pitchFamily="2" charset="-122"/>
                  <a:ea typeface="华文楷体" panose="02010600040101010101" pitchFamily="2" charset="-122"/>
                </a:rPr>
                <a:t>轮</a:t>
              </a:r>
            </a:p>
          </p:txBody>
        </p:sp>
      </p:grpSp>
      <p:grpSp>
        <p:nvGrpSpPr>
          <p:cNvPr id="150" name="组合 149">
            <a:extLst>
              <a:ext uri="{FF2B5EF4-FFF2-40B4-BE49-F238E27FC236}">
                <a16:creationId xmlns:a16="http://schemas.microsoft.com/office/drawing/2014/main" id="{02DF9CDE-EA32-4B07-A7C8-91428F3175F0}"/>
              </a:ext>
            </a:extLst>
          </p:cNvPr>
          <p:cNvGrpSpPr/>
          <p:nvPr/>
        </p:nvGrpSpPr>
        <p:grpSpPr>
          <a:xfrm>
            <a:off x="6106677" y="482173"/>
            <a:ext cx="1044000" cy="1061734"/>
            <a:chOff x="7128473" y="955857"/>
            <a:chExt cx="1044000" cy="1061734"/>
          </a:xfrm>
        </p:grpSpPr>
        <p:sp>
          <p:nvSpPr>
            <p:cNvPr id="129" name="矩形 128">
              <a:extLst>
                <a:ext uri="{FF2B5EF4-FFF2-40B4-BE49-F238E27FC236}">
                  <a16:creationId xmlns:a16="http://schemas.microsoft.com/office/drawing/2014/main" id="{3441FA9C-F086-4EBC-8E0A-628027B62A36}"/>
                </a:ext>
              </a:extLst>
            </p:cNvPr>
            <p:cNvSpPr/>
            <p:nvPr/>
          </p:nvSpPr>
          <p:spPr>
            <a:xfrm>
              <a:off x="7128473" y="1064561"/>
              <a:ext cx="1044000"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130" name="矩形 129">
              <a:extLst>
                <a:ext uri="{FF2B5EF4-FFF2-40B4-BE49-F238E27FC236}">
                  <a16:creationId xmlns:a16="http://schemas.microsoft.com/office/drawing/2014/main" id="{7A037DDC-5C3F-40C8-8195-8FB20F01515C}"/>
                </a:ext>
              </a:extLst>
            </p:cNvPr>
            <p:cNvSpPr/>
            <p:nvPr/>
          </p:nvSpPr>
          <p:spPr>
            <a:xfrm>
              <a:off x="7128473" y="1388064"/>
              <a:ext cx="1044000"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逆字节代换</a:t>
              </a:r>
            </a:p>
          </p:txBody>
        </p:sp>
        <p:sp>
          <p:nvSpPr>
            <p:cNvPr id="131" name="矩形 130">
              <a:extLst>
                <a:ext uri="{FF2B5EF4-FFF2-40B4-BE49-F238E27FC236}">
                  <a16:creationId xmlns:a16="http://schemas.microsoft.com/office/drawing/2014/main" id="{17052605-8B3C-4DE3-99F2-385F384B385B}"/>
                </a:ext>
              </a:extLst>
            </p:cNvPr>
            <p:cNvSpPr/>
            <p:nvPr/>
          </p:nvSpPr>
          <p:spPr>
            <a:xfrm>
              <a:off x="7128473" y="1711567"/>
              <a:ext cx="1044000" cy="216024"/>
            </a:xfrm>
            <a:prstGeom prst="rect">
              <a:avLst/>
            </a:prstGeom>
            <a:ln>
              <a:solidFill>
                <a:srgbClr val="008F92"/>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逆行移位</a:t>
              </a:r>
            </a:p>
          </p:txBody>
        </p:sp>
        <p:sp>
          <p:nvSpPr>
            <p:cNvPr id="133" name="箭头: 下 132">
              <a:extLst>
                <a:ext uri="{FF2B5EF4-FFF2-40B4-BE49-F238E27FC236}">
                  <a16:creationId xmlns:a16="http://schemas.microsoft.com/office/drawing/2014/main" id="{5F093000-4CDF-45C8-8E89-0CC6F24D0C8E}"/>
                </a:ext>
              </a:extLst>
            </p:cNvPr>
            <p:cNvSpPr/>
            <p:nvPr/>
          </p:nvSpPr>
          <p:spPr>
            <a:xfrm flipV="1">
              <a:off x="7614469" y="955857"/>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箭头: 下 133">
              <a:extLst>
                <a:ext uri="{FF2B5EF4-FFF2-40B4-BE49-F238E27FC236}">
                  <a16:creationId xmlns:a16="http://schemas.microsoft.com/office/drawing/2014/main" id="{E43D8327-A464-481F-923A-806FA2ACA3B9}"/>
                </a:ext>
              </a:extLst>
            </p:cNvPr>
            <p:cNvSpPr/>
            <p:nvPr/>
          </p:nvSpPr>
          <p:spPr>
            <a:xfrm flipV="1">
              <a:off x="7614469" y="1293498"/>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箭头: 下 134">
              <a:extLst>
                <a:ext uri="{FF2B5EF4-FFF2-40B4-BE49-F238E27FC236}">
                  <a16:creationId xmlns:a16="http://schemas.microsoft.com/office/drawing/2014/main" id="{5BE3B771-B0C9-42D8-A6C7-3292528BF9D3}"/>
                </a:ext>
              </a:extLst>
            </p:cNvPr>
            <p:cNvSpPr/>
            <p:nvPr/>
          </p:nvSpPr>
          <p:spPr>
            <a:xfrm flipV="1">
              <a:off x="7614469" y="1607262"/>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箭头: 下 135">
              <a:extLst>
                <a:ext uri="{FF2B5EF4-FFF2-40B4-BE49-F238E27FC236}">
                  <a16:creationId xmlns:a16="http://schemas.microsoft.com/office/drawing/2014/main" id="{3936184D-4AEE-46B9-9F55-C36E5C720568}"/>
                </a:ext>
              </a:extLst>
            </p:cNvPr>
            <p:cNvSpPr/>
            <p:nvPr/>
          </p:nvSpPr>
          <p:spPr>
            <a:xfrm flipV="1">
              <a:off x="7614469" y="1927591"/>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82" name="组合 181">
            <a:extLst>
              <a:ext uri="{FF2B5EF4-FFF2-40B4-BE49-F238E27FC236}">
                <a16:creationId xmlns:a16="http://schemas.microsoft.com/office/drawing/2014/main" id="{F2BB035B-FEA0-4BC8-99D5-F9131270CCAC}"/>
              </a:ext>
            </a:extLst>
          </p:cNvPr>
          <p:cNvGrpSpPr/>
          <p:nvPr/>
        </p:nvGrpSpPr>
        <p:grpSpPr>
          <a:xfrm>
            <a:off x="4393722" y="3459713"/>
            <a:ext cx="1635213" cy="161910"/>
            <a:chOff x="5358804" y="3814790"/>
            <a:chExt cx="1635213" cy="161910"/>
          </a:xfrm>
        </p:grpSpPr>
        <p:sp>
          <p:nvSpPr>
            <p:cNvPr id="183" name="箭头: 下 182">
              <a:extLst>
                <a:ext uri="{FF2B5EF4-FFF2-40B4-BE49-F238E27FC236}">
                  <a16:creationId xmlns:a16="http://schemas.microsoft.com/office/drawing/2014/main" id="{1141348B-D530-4936-A451-BFBC1CD27498}"/>
                </a:ext>
              </a:extLst>
            </p:cNvPr>
            <p:cNvSpPr/>
            <p:nvPr/>
          </p:nvSpPr>
          <p:spPr>
            <a:xfrm rot="16200000" flipV="1">
              <a:off x="5541767" y="3663159"/>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184" name="箭头: 下 183">
              <a:extLst>
                <a:ext uri="{FF2B5EF4-FFF2-40B4-BE49-F238E27FC236}">
                  <a16:creationId xmlns:a16="http://schemas.microsoft.com/office/drawing/2014/main" id="{78100A92-F7F2-42F9-B7C0-67FE9E7D46B6}"/>
                </a:ext>
              </a:extLst>
            </p:cNvPr>
            <p:cNvSpPr/>
            <p:nvPr/>
          </p:nvSpPr>
          <p:spPr>
            <a:xfrm rot="5400000" flipV="1">
              <a:off x="6691088" y="3673771"/>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185" name="矩形 184">
              <a:extLst>
                <a:ext uri="{FF2B5EF4-FFF2-40B4-BE49-F238E27FC236}">
                  <a16:creationId xmlns:a16="http://schemas.microsoft.com/office/drawing/2014/main" id="{F7D86F11-CA1B-4765-8B8B-AEEA7D6BBC40}"/>
                </a:ext>
              </a:extLst>
            </p:cNvPr>
            <p:cNvSpPr/>
            <p:nvPr/>
          </p:nvSpPr>
          <p:spPr>
            <a:xfrm>
              <a:off x="5890807" y="3814790"/>
              <a:ext cx="580139" cy="161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W[36,39]</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86" name="组合 185">
            <a:extLst>
              <a:ext uri="{FF2B5EF4-FFF2-40B4-BE49-F238E27FC236}">
                <a16:creationId xmlns:a16="http://schemas.microsoft.com/office/drawing/2014/main" id="{A92329CA-2038-46BD-9EFD-FAF45E7A904F}"/>
              </a:ext>
            </a:extLst>
          </p:cNvPr>
          <p:cNvGrpSpPr/>
          <p:nvPr/>
        </p:nvGrpSpPr>
        <p:grpSpPr>
          <a:xfrm>
            <a:off x="4393721" y="1884913"/>
            <a:ext cx="1635213" cy="161910"/>
            <a:chOff x="5358804" y="424107"/>
            <a:chExt cx="1635213" cy="161910"/>
          </a:xfrm>
        </p:grpSpPr>
        <p:sp>
          <p:nvSpPr>
            <p:cNvPr id="187" name="箭头: 下 186">
              <a:extLst>
                <a:ext uri="{FF2B5EF4-FFF2-40B4-BE49-F238E27FC236}">
                  <a16:creationId xmlns:a16="http://schemas.microsoft.com/office/drawing/2014/main" id="{4B313447-66BA-47EE-BDA5-2E859E0C7A01}"/>
                </a:ext>
              </a:extLst>
            </p:cNvPr>
            <p:cNvSpPr/>
            <p:nvPr/>
          </p:nvSpPr>
          <p:spPr>
            <a:xfrm rot="16200000" flipV="1">
              <a:off x="5541767" y="272476"/>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188" name="箭头: 下 187">
              <a:extLst>
                <a:ext uri="{FF2B5EF4-FFF2-40B4-BE49-F238E27FC236}">
                  <a16:creationId xmlns:a16="http://schemas.microsoft.com/office/drawing/2014/main" id="{6C1DE822-30B3-4BAB-8376-409B1F28E8D5}"/>
                </a:ext>
              </a:extLst>
            </p:cNvPr>
            <p:cNvSpPr/>
            <p:nvPr/>
          </p:nvSpPr>
          <p:spPr>
            <a:xfrm rot="5400000" flipV="1">
              <a:off x="6691088" y="283088"/>
              <a:ext cx="119965" cy="485892"/>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189" name="矩形 188">
              <a:extLst>
                <a:ext uri="{FF2B5EF4-FFF2-40B4-BE49-F238E27FC236}">
                  <a16:creationId xmlns:a16="http://schemas.microsoft.com/office/drawing/2014/main" id="{4DED7329-1398-4E04-81AE-0B4663093C34}"/>
                </a:ext>
              </a:extLst>
            </p:cNvPr>
            <p:cNvSpPr/>
            <p:nvPr/>
          </p:nvSpPr>
          <p:spPr>
            <a:xfrm>
              <a:off x="5890807" y="424107"/>
              <a:ext cx="580139" cy="1619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W[4,7]</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90" name="组合 189">
            <a:extLst>
              <a:ext uri="{FF2B5EF4-FFF2-40B4-BE49-F238E27FC236}">
                <a16:creationId xmlns:a16="http://schemas.microsoft.com/office/drawing/2014/main" id="{68E18B01-2D7E-417C-9829-1530D7371594}"/>
              </a:ext>
            </a:extLst>
          </p:cNvPr>
          <p:cNvGrpSpPr/>
          <p:nvPr/>
        </p:nvGrpSpPr>
        <p:grpSpPr>
          <a:xfrm>
            <a:off x="7285050" y="3189340"/>
            <a:ext cx="333390" cy="1193434"/>
            <a:chOff x="8273947" y="2931790"/>
            <a:chExt cx="333390" cy="1323245"/>
          </a:xfrm>
        </p:grpSpPr>
        <p:cxnSp>
          <p:nvCxnSpPr>
            <p:cNvPr id="73" name="直接连接符 72">
              <a:extLst>
                <a:ext uri="{FF2B5EF4-FFF2-40B4-BE49-F238E27FC236}">
                  <a16:creationId xmlns:a16="http://schemas.microsoft.com/office/drawing/2014/main" id="{E9CA92D0-DED1-48C9-A3C2-E185FA51D02B}"/>
                </a:ext>
              </a:extLst>
            </p:cNvPr>
            <p:cNvCxnSpPr/>
            <p:nvPr/>
          </p:nvCxnSpPr>
          <p:spPr>
            <a:xfrm flipH="1">
              <a:off x="8273947" y="2931790"/>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74" name="直接连接符 73">
              <a:extLst>
                <a:ext uri="{FF2B5EF4-FFF2-40B4-BE49-F238E27FC236}">
                  <a16:creationId xmlns:a16="http://schemas.microsoft.com/office/drawing/2014/main" id="{F7BC1270-8995-4D92-A501-595EB8EFE7B7}"/>
                </a:ext>
              </a:extLst>
            </p:cNvPr>
            <p:cNvCxnSpPr/>
            <p:nvPr/>
          </p:nvCxnSpPr>
          <p:spPr>
            <a:xfrm flipH="1">
              <a:off x="8278534" y="425503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DFED264D-277D-487E-B4AF-438958885985}"/>
                </a:ext>
              </a:extLst>
            </p:cNvPr>
            <p:cNvCxnSpPr/>
            <p:nvPr/>
          </p:nvCxnSpPr>
          <p:spPr>
            <a:xfrm>
              <a:off x="8340047" y="2931790"/>
              <a:ext cx="0" cy="132073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6" name="矩形 75">
              <a:extLst>
                <a:ext uri="{FF2B5EF4-FFF2-40B4-BE49-F238E27FC236}">
                  <a16:creationId xmlns:a16="http://schemas.microsoft.com/office/drawing/2014/main" id="{62CE7FD7-0773-487F-9597-FA296EA7C2F8}"/>
                </a:ext>
              </a:extLst>
            </p:cNvPr>
            <p:cNvSpPr/>
            <p:nvPr/>
          </p:nvSpPr>
          <p:spPr>
            <a:xfrm rot="5400000">
              <a:off x="8096551" y="3498905"/>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第</a:t>
              </a:r>
              <a:r>
                <a:rPr lang="en-US" altLang="zh-CN" sz="1600" dirty="0">
                  <a:solidFill>
                    <a:schemeClr val="tx1"/>
                  </a:solidFill>
                  <a:latin typeface="华文楷体" panose="02010600040101010101" pitchFamily="2" charset="-122"/>
                  <a:ea typeface="华文楷体" panose="02010600040101010101" pitchFamily="2" charset="-122"/>
                </a:rPr>
                <a:t>1</a:t>
              </a:r>
              <a:r>
                <a:rPr lang="zh-CN" altLang="en-US" sz="1600" dirty="0">
                  <a:solidFill>
                    <a:schemeClr val="tx1"/>
                  </a:solidFill>
                  <a:latin typeface="华文楷体" panose="02010600040101010101" pitchFamily="2" charset="-122"/>
                  <a:ea typeface="华文楷体" panose="02010600040101010101" pitchFamily="2" charset="-122"/>
                </a:rPr>
                <a:t>轮</a:t>
              </a:r>
            </a:p>
          </p:txBody>
        </p:sp>
      </p:grpSp>
      <p:grpSp>
        <p:nvGrpSpPr>
          <p:cNvPr id="191" name="组合 190">
            <a:extLst>
              <a:ext uri="{FF2B5EF4-FFF2-40B4-BE49-F238E27FC236}">
                <a16:creationId xmlns:a16="http://schemas.microsoft.com/office/drawing/2014/main" id="{1F3387A7-A5B7-43FE-9808-85BFF2B520AF}"/>
              </a:ext>
            </a:extLst>
          </p:cNvPr>
          <p:cNvGrpSpPr/>
          <p:nvPr/>
        </p:nvGrpSpPr>
        <p:grpSpPr>
          <a:xfrm>
            <a:off x="7285050" y="1567577"/>
            <a:ext cx="333390" cy="1188000"/>
            <a:chOff x="8273947" y="3072875"/>
            <a:chExt cx="333390" cy="1188000"/>
          </a:xfrm>
        </p:grpSpPr>
        <p:cxnSp>
          <p:nvCxnSpPr>
            <p:cNvPr id="192" name="直接连接符 191">
              <a:extLst>
                <a:ext uri="{FF2B5EF4-FFF2-40B4-BE49-F238E27FC236}">
                  <a16:creationId xmlns:a16="http://schemas.microsoft.com/office/drawing/2014/main" id="{6D5A4EA1-E84D-47A8-9F93-10861B7D50E7}"/>
                </a:ext>
              </a:extLst>
            </p:cNvPr>
            <p:cNvCxnSpPr/>
            <p:nvPr/>
          </p:nvCxnSpPr>
          <p:spPr>
            <a:xfrm flipH="1">
              <a:off x="8273947" y="307287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93" name="直接连接符 192">
              <a:extLst>
                <a:ext uri="{FF2B5EF4-FFF2-40B4-BE49-F238E27FC236}">
                  <a16:creationId xmlns:a16="http://schemas.microsoft.com/office/drawing/2014/main" id="{79A3A910-D1ED-48CB-BDF9-01A8CC9D9943}"/>
                </a:ext>
              </a:extLst>
            </p:cNvPr>
            <p:cNvCxnSpPr/>
            <p:nvPr/>
          </p:nvCxnSpPr>
          <p:spPr>
            <a:xfrm flipH="1">
              <a:off x="8278534" y="425503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94" name="直接箭头连接符 193">
              <a:extLst>
                <a:ext uri="{FF2B5EF4-FFF2-40B4-BE49-F238E27FC236}">
                  <a16:creationId xmlns:a16="http://schemas.microsoft.com/office/drawing/2014/main" id="{A35D52D7-E95C-4415-9C01-95D6D1CA7778}"/>
                </a:ext>
              </a:extLst>
            </p:cNvPr>
            <p:cNvCxnSpPr/>
            <p:nvPr/>
          </p:nvCxnSpPr>
          <p:spPr>
            <a:xfrm>
              <a:off x="8340047" y="3072875"/>
              <a:ext cx="0" cy="1188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95" name="矩形 194">
              <a:extLst>
                <a:ext uri="{FF2B5EF4-FFF2-40B4-BE49-F238E27FC236}">
                  <a16:creationId xmlns:a16="http://schemas.microsoft.com/office/drawing/2014/main" id="{9B6F9051-C7C3-4690-9A31-2596548F17D6}"/>
                </a:ext>
              </a:extLst>
            </p:cNvPr>
            <p:cNvSpPr/>
            <p:nvPr/>
          </p:nvSpPr>
          <p:spPr>
            <a:xfrm rot="5400000">
              <a:off x="8096551" y="3498905"/>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第</a:t>
              </a:r>
              <a:r>
                <a:rPr lang="en-US" altLang="zh-CN" sz="1600" dirty="0">
                  <a:solidFill>
                    <a:schemeClr val="tx1"/>
                  </a:solidFill>
                  <a:latin typeface="华文楷体" panose="02010600040101010101" pitchFamily="2" charset="-122"/>
                  <a:ea typeface="华文楷体" panose="02010600040101010101" pitchFamily="2" charset="-122"/>
                </a:rPr>
                <a:t>9</a:t>
              </a:r>
              <a:r>
                <a:rPr lang="zh-CN" altLang="en-US" sz="1600" dirty="0">
                  <a:solidFill>
                    <a:schemeClr val="tx1"/>
                  </a:solidFill>
                  <a:latin typeface="华文楷体" panose="02010600040101010101" pitchFamily="2" charset="-122"/>
                  <a:ea typeface="华文楷体" panose="02010600040101010101" pitchFamily="2" charset="-122"/>
                </a:rPr>
                <a:t>轮</a:t>
              </a:r>
            </a:p>
          </p:txBody>
        </p:sp>
      </p:grpSp>
      <p:grpSp>
        <p:nvGrpSpPr>
          <p:cNvPr id="196" name="组合 195">
            <a:extLst>
              <a:ext uri="{FF2B5EF4-FFF2-40B4-BE49-F238E27FC236}">
                <a16:creationId xmlns:a16="http://schemas.microsoft.com/office/drawing/2014/main" id="{955B1972-4D50-4196-92A2-878518A48393}"/>
              </a:ext>
            </a:extLst>
          </p:cNvPr>
          <p:cNvGrpSpPr/>
          <p:nvPr/>
        </p:nvGrpSpPr>
        <p:grpSpPr>
          <a:xfrm>
            <a:off x="7285050" y="552191"/>
            <a:ext cx="333390" cy="901301"/>
            <a:chOff x="8273947" y="3036739"/>
            <a:chExt cx="333390" cy="864136"/>
          </a:xfrm>
        </p:grpSpPr>
        <p:cxnSp>
          <p:nvCxnSpPr>
            <p:cNvPr id="197" name="直接连接符 196">
              <a:extLst>
                <a:ext uri="{FF2B5EF4-FFF2-40B4-BE49-F238E27FC236}">
                  <a16:creationId xmlns:a16="http://schemas.microsoft.com/office/drawing/2014/main" id="{385DE2CA-EFDA-444D-8002-0C3AAE2E2DD7}"/>
                </a:ext>
              </a:extLst>
            </p:cNvPr>
            <p:cNvCxnSpPr/>
            <p:nvPr/>
          </p:nvCxnSpPr>
          <p:spPr>
            <a:xfrm flipH="1">
              <a:off x="8273947" y="307287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98" name="直接连接符 197">
              <a:extLst>
                <a:ext uri="{FF2B5EF4-FFF2-40B4-BE49-F238E27FC236}">
                  <a16:creationId xmlns:a16="http://schemas.microsoft.com/office/drawing/2014/main" id="{0104E357-B519-4709-A1C2-71615D377C4E}"/>
                </a:ext>
              </a:extLst>
            </p:cNvPr>
            <p:cNvCxnSpPr/>
            <p:nvPr/>
          </p:nvCxnSpPr>
          <p:spPr>
            <a:xfrm flipH="1">
              <a:off x="8278534" y="3900835"/>
              <a:ext cx="132201" cy="0"/>
            </a:xfrm>
            <a:prstGeom prst="line">
              <a:avLst/>
            </a:prstGeom>
          </p:spPr>
          <p:style>
            <a:lnRef idx="1">
              <a:schemeClr val="dk1"/>
            </a:lnRef>
            <a:fillRef idx="0">
              <a:schemeClr val="dk1"/>
            </a:fillRef>
            <a:effectRef idx="0">
              <a:schemeClr val="dk1"/>
            </a:effectRef>
            <a:fontRef idx="minor">
              <a:schemeClr val="tx1"/>
            </a:fontRef>
          </p:style>
        </p:cxnSp>
        <p:cxnSp>
          <p:nvCxnSpPr>
            <p:cNvPr id="199" name="直接箭头连接符 198">
              <a:extLst>
                <a:ext uri="{FF2B5EF4-FFF2-40B4-BE49-F238E27FC236}">
                  <a16:creationId xmlns:a16="http://schemas.microsoft.com/office/drawing/2014/main" id="{2512DD20-7D60-4641-8F7F-9CECEE28BF8B}"/>
                </a:ext>
              </a:extLst>
            </p:cNvPr>
            <p:cNvCxnSpPr/>
            <p:nvPr/>
          </p:nvCxnSpPr>
          <p:spPr>
            <a:xfrm>
              <a:off x="8340047" y="3072875"/>
              <a:ext cx="0" cy="82800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00" name="矩形 199">
              <a:extLst>
                <a:ext uri="{FF2B5EF4-FFF2-40B4-BE49-F238E27FC236}">
                  <a16:creationId xmlns:a16="http://schemas.microsoft.com/office/drawing/2014/main" id="{8852DD72-CE51-4E48-B4BD-01C23BEE1B0D}"/>
                </a:ext>
              </a:extLst>
            </p:cNvPr>
            <p:cNvSpPr/>
            <p:nvPr/>
          </p:nvSpPr>
          <p:spPr>
            <a:xfrm rot="5400000">
              <a:off x="8096551" y="3328613"/>
              <a:ext cx="802659" cy="218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FF0000"/>
                  </a:solidFill>
                  <a:latin typeface="华文楷体" panose="02010600040101010101" pitchFamily="2" charset="-122"/>
                  <a:ea typeface="华文楷体" panose="02010600040101010101" pitchFamily="2" charset="-122"/>
                </a:rPr>
                <a:t>第</a:t>
              </a:r>
              <a:r>
                <a:rPr lang="en-US" altLang="zh-CN" sz="1600" b="1" dirty="0">
                  <a:solidFill>
                    <a:srgbClr val="FF0000"/>
                  </a:solidFill>
                  <a:latin typeface="华文楷体" panose="02010600040101010101" pitchFamily="2" charset="-122"/>
                  <a:ea typeface="华文楷体" panose="02010600040101010101" pitchFamily="2" charset="-122"/>
                </a:rPr>
                <a:t>10</a:t>
              </a:r>
              <a:r>
                <a:rPr lang="zh-CN" altLang="en-US" sz="1600" b="1" dirty="0">
                  <a:solidFill>
                    <a:srgbClr val="FF0000"/>
                  </a:solidFill>
                  <a:latin typeface="华文楷体" panose="02010600040101010101" pitchFamily="2" charset="-122"/>
                  <a:ea typeface="华文楷体" panose="02010600040101010101" pitchFamily="2" charset="-122"/>
                </a:rPr>
                <a:t>轮</a:t>
              </a:r>
            </a:p>
          </p:txBody>
        </p:sp>
      </p:grpSp>
      <p:sp>
        <p:nvSpPr>
          <p:cNvPr id="201" name="矩形 200">
            <a:extLst>
              <a:ext uri="{FF2B5EF4-FFF2-40B4-BE49-F238E27FC236}">
                <a16:creationId xmlns:a16="http://schemas.microsoft.com/office/drawing/2014/main" id="{54D0B999-4246-41D6-93B1-6203836C4D97}"/>
              </a:ext>
            </a:extLst>
          </p:cNvPr>
          <p:cNvSpPr/>
          <p:nvPr/>
        </p:nvSpPr>
        <p:spPr>
          <a:xfrm>
            <a:off x="6408634" y="2787774"/>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tx1"/>
                </a:solidFill>
                <a:latin typeface="华文楷体" panose="02010600040101010101" pitchFamily="2" charset="-122"/>
                <a:ea typeface="华文楷体" panose="02010600040101010101" pitchFamily="2" charset="-122"/>
              </a:rPr>
              <a:t>......</a:t>
            </a:r>
            <a:endParaRPr lang="zh-CN" altLang="en-US" sz="1600" dirty="0">
              <a:solidFill>
                <a:schemeClr val="tx1"/>
              </a:solidFill>
              <a:latin typeface="华文楷体" panose="02010600040101010101" pitchFamily="2" charset="-122"/>
              <a:ea typeface="华文楷体" panose="02010600040101010101" pitchFamily="2" charset="-122"/>
            </a:endParaRPr>
          </a:p>
        </p:txBody>
      </p:sp>
      <p:sp>
        <p:nvSpPr>
          <p:cNvPr id="2" name="矩形 1">
            <a:extLst>
              <a:ext uri="{FF2B5EF4-FFF2-40B4-BE49-F238E27FC236}">
                <a16:creationId xmlns:a16="http://schemas.microsoft.com/office/drawing/2014/main" id="{1D116B4A-9A07-412B-140E-0A07B1714BF9}"/>
              </a:ext>
            </a:extLst>
          </p:cNvPr>
          <p:cNvSpPr/>
          <p:nvPr/>
        </p:nvSpPr>
        <p:spPr>
          <a:xfrm>
            <a:off x="3343753" y="581525"/>
            <a:ext cx="938997" cy="216024"/>
          </a:xfrm>
          <a:prstGeom prst="rect">
            <a:avLst/>
          </a:prstGeom>
          <a:solidFill>
            <a:srgbClr val="FBDDA7"/>
          </a:solidFill>
          <a:ln>
            <a:solidFill>
              <a:srgbClr val="FF9900"/>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4" name="箭头: 下 3">
            <a:extLst>
              <a:ext uri="{FF2B5EF4-FFF2-40B4-BE49-F238E27FC236}">
                <a16:creationId xmlns:a16="http://schemas.microsoft.com/office/drawing/2014/main" id="{33D50498-9272-FE62-E59F-BCC891A797AD}"/>
              </a:ext>
            </a:extLst>
          </p:cNvPr>
          <p:cNvSpPr/>
          <p:nvPr/>
        </p:nvSpPr>
        <p:spPr>
          <a:xfrm>
            <a:off x="3775802" y="797549"/>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箭头: 下 5">
            <a:extLst>
              <a:ext uri="{FF2B5EF4-FFF2-40B4-BE49-F238E27FC236}">
                <a16:creationId xmlns:a16="http://schemas.microsoft.com/office/drawing/2014/main" id="{EF246B4C-EC90-A422-62FA-F55F9BFF774F}"/>
              </a:ext>
            </a:extLst>
          </p:cNvPr>
          <p:cNvSpPr/>
          <p:nvPr/>
        </p:nvSpPr>
        <p:spPr>
          <a:xfrm>
            <a:off x="3775802" y="419644"/>
            <a:ext cx="72008" cy="144016"/>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204C357A-9852-9EAF-526A-7719683C8B8D}"/>
              </a:ext>
            </a:extLst>
          </p:cNvPr>
          <p:cNvSpPr/>
          <p:nvPr/>
        </p:nvSpPr>
        <p:spPr>
          <a:xfrm>
            <a:off x="6104856" y="4516364"/>
            <a:ext cx="1044000" cy="216024"/>
          </a:xfrm>
          <a:prstGeom prst="rect">
            <a:avLst/>
          </a:prstGeom>
          <a:solidFill>
            <a:srgbClr val="FBDDA7"/>
          </a:solidFill>
          <a:ln>
            <a:solidFill>
              <a:srgbClr val="FF9900"/>
            </a:solidFill>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25" name="箭头: 下 24">
            <a:extLst>
              <a:ext uri="{FF2B5EF4-FFF2-40B4-BE49-F238E27FC236}">
                <a16:creationId xmlns:a16="http://schemas.microsoft.com/office/drawing/2014/main" id="{A84E47A3-D57F-2876-12F9-1B1C59CBF45B}"/>
              </a:ext>
            </a:extLst>
          </p:cNvPr>
          <p:cNvSpPr/>
          <p:nvPr/>
        </p:nvSpPr>
        <p:spPr>
          <a:xfrm flipV="1">
            <a:off x="6590852" y="4732388"/>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2E2B09EC-A589-E58D-F300-5287B111239E}"/>
              </a:ext>
            </a:extLst>
          </p:cNvPr>
          <p:cNvSpPr/>
          <p:nvPr/>
        </p:nvSpPr>
        <p:spPr>
          <a:xfrm flipV="1">
            <a:off x="6590852" y="4412059"/>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8" name="组合 27">
            <a:extLst>
              <a:ext uri="{FF2B5EF4-FFF2-40B4-BE49-F238E27FC236}">
                <a16:creationId xmlns:a16="http://schemas.microsoft.com/office/drawing/2014/main" id="{37CC88B0-76FB-A257-FE11-FD1F1A70B42E}"/>
              </a:ext>
            </a:extLst>
          </p:cNvPr>
          <p:cNvGrpSpPr/>
          <p:nvPr/>
        </p:nvGrpSpPr>
        <p:grpSpPr>
          <a:xfrm>
            <a:off x="6100370" y="3075806"/>
            <a:ext cx="1048486" cy="1333079"/>
            <a:chOff x="6100370" y="3075806"/>
            <a:chExt cx="1048486" cy="1333079"/>
          </a:xfrm>
        </p:grpSpPr>
        <p:sp>
          <p:nvSpPr>
            <p:cNvPr id="204" name="箭头: 下 203">
              <a:extLst>
                <a:ext uri="{FF2B5EF4-FFF2-40B4-BE49-F238E27FC236}">
                  <a16:creationId xmlns:a16="http://schemas.microsoft.com/office/drawing/2014/main" id="{2E920A8F-B226-48D6-A9BF-315DB922C09C}"/>
                </a:ext>
              </a:extLst>
            </p:cNvPr>
            <p:cNvSpPr/>
            <p:nvPr/>
          </p:nvSpPr>
          <p:spPr>
            <a:xfrm flipV="1">
              <a:off x="6586366" y="3075806"/>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 name="组合 26">
              <a:extLst>
                <a:ext uri="{FF2B5EF4-FFF2-40B4-BE49-F238E27FC236}">
                  <a16:creationId xmlns:a16="http://schemas.microsoft.com/office/drawing/2014/main" id="{3BF1B8A8-525B-95DA-0D28-52EC987B397B}"/>
                </a:ext>
              </a:extLst>
            </p:cNvPr>
            <p:cNvGrpSpPr/>
            <p:nvPr/>
          </p:nvGrpSpPr>
          <p:grpSpPr>
            <a:xfrm>
              <a:off x="6100370" y="3189340"/>
              <a:ext cx="1048486" cy="1219545"/>
              <a:chOff x="6100370" y="3189340"/>
              <a:chExt cx="1048486" cy="1219545"/>
            </a:xfrm>
          </p:grpSpPr>
          <p:sp>
            <p:nvSpPr>
              <p:cNvPr id="166" name="矩形 165">
                <a:extLst>
                  <a:ext uri="{FF2B5EF4-FFF2-40B4-BE49-F238E27FC236}">
                    <a16:creationId xmlns:a16="http://schemas.microsoft.com/office/drawing/2014/main" id="{899F5A78-C56E-4972-8986-DBC87CC9BDBF}"/>
                  </a:ext>
                </a:extLst>
              </p:cNvPr>
              <p:cNvSpPr/>
              <p:nvPr/>
            </p:nvSpPr>
            <p:spPr>
              <a:xfrm>
                <a:off x="6104856" y="3869358"/>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逆字节代换</a:t>
                </a:r>
              </a:p>
            </p:txBody>
          </p:sp>
          <p:sp>
            <p:nvSpPr>
              <p:cNvPr id="167" name="矩形 166">
                <a:extLst>
                  <a:ext uri="{FF2B5EF4-FFF2-40B4-BE49-F238E27FC236}">
                    <a16:creationId xmlns:a16="http://schemas.microsoft.com/office/drawing/2014/main" id="{06C4A4DE-2686-45F5-91EE-1AE2491FA9AD}"/>
                  </a:ext>
                </a:extLst>
              </p:cNvPr>
              <p:cNvSpPr/>
              <p:nvPr/>
            </p:nvSpPr>
            <p:spPr>
              <a:xfrm>
                <a:off x="6104856" y="4192861"/>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逆行移位</a:t>
                </a:r>
              </a:p>
            </p:txBody>
          </p:sp>
          <p:sp>
            <p:nvSpPr>
              <p:cNvPr id="171" name="箭头: 下 170">
                <a:extLst>
                  <a:ext uri="{FF2B5EF4-FFF2-40B4-BE49-F238E27FC236}">
                    <a16:creationId xmlns:a16="http://schemas.microsoft.com/office/drawing/2014/main" id="{B4EF3711-499D-42E9-BD30-9B070E677E65}"/>
                  </a:ext>
                </a:extLst>
              </p:cNvPr>
              <p:cNvSpPr/>
              <p:nvPr/>
            </p:nvSpPr>
            <p:spPr>
              <a:xfrm flipV="1">
                <a:off x="6590852" y="4098295"/>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a:extLst>
                  <a:ext uri="{FF2B5EF4-FFF2-40B4-BE49-F238E27FC236}">
                    <a16:creationId xmlns:a16="http://schemas.microsoft.com/office/drawing/2014/main" id="{6B50B8DC-AAC9-4B9F-9E1A-02221E829529}"/>
                  </a:ext>
                </a:extLst>
              </p:cNvPr>
              <p:cNvSpPr/>
              <p:nvPr/>
            </p:nvSpPr>
            <p:spPr>
              <a:xfrm>
                <a:off x="6100370" y="3189340"/>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逆列混合</a:t>
                </a:r>
              </a:p>
            </p:txBody>
          </p:sp>
          <p:sp>
            <p:nvSpPr>
              <p:cNvPr id="177" name="矩形 176">
                <a:extLst>
                  <a:ext uri="{FF2B5EF4-FFF2-40B4-BE49-F238E27FC236}">
                    <a16:creationId xmlns:a16="http://schemas.microsoft.com/office/drawing/2014/main" id="{75FF1253-D7F5-4DAA-8521-4033AF89678D}"/>
                  </a:ext>
                </a:extLst>
              </p:cNvPr>
              <p:cNvSpPr/>
              <p:nvPr/>
            </p:nvSpPr>
            <p:spPr>
              <a:xfrm>
                <a:off x="6100370" y="3526618"/>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178" name="箭头: 下 177">
                <a:extLst>
                  <a:ext uri="{FF2B5EF4-FFF2-40B4-BE49-F238E27FC236}">
                    <a16:creationId xmlns:a16="http://schemas.microsoft.com/office/drawing/2014/main" id="{104795EE-66BF-41C9-B442-DD355A4A7E49}"/>
                  </a:ext>
                </a:extLst>
              </p:cNvPr>
              <p:cNvSpPr/>
              <p:nvPr/>
            </p:nvSpPr>
            <p:spPr>
              <a:xfrm flipV="1">
                <a:off x="6590852" y="3417854"/>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0" name="箭头: 下 169">
                <a:extLst>
                  <a:ext uri="{FF2B5EF4-FFF2-40B4-BE49-F238E27FC236}">
                    <a16:creationId xmlns:a16="http://schemas.microsoft.com/office/drawing/2014/main" id="{90013E04-98E6-4889-AACF-1FE7FFE9DAEE}"/>
                  </a:ext>
                </a:extLst>
              </p:cNvPr>
              <p:cNvSpPr/>
              <p:nvPr/>
            </p:nvSpPr>
            <p:spPr>
              <a:xfrm flipV="1">
                <a:off x="6590852" y="3760654"/>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29" name="组合 28">
            <a:extLst>
              <a:ext uri="{FF2B5EF4-FFF2-40B4-BE49-F238E27FC236}">
                <a16:creationId xmlns:a16="http://schemas.microsoft.com/office/drawing/2014/main" id="{053AF2F1-DD52-3EA1-F7B3-4023E1C8547A}"/>
              </a:ext>
            </a:extLst>
          </p:cNvPr>
          <p:cNvGrpSpPr/>
          <p:nvPr/>
        </p:nvGrpSpPr>
        <p:grpSpPr>
          <a:xfrm>
            <a:off x="6105717" y="1576848"/>
            <a:ext cx="1044000" cy="1276533"/>
            <a:chOff x="7128473" y="741058"/>
            <a:chExt cx="1044000" cy="1276533"/>
          </a:xfrm>
        </p:grpSpPr>
        <p:sp>
          <p:nvSpPr>
            <p:cNvPr id="31" name="矩形 30">
              <a:extLst>
                <a:ext uri="{FF2B5EF4-FFF2-40B4-BE49-F238E27FC236}">
                  <a16:creationId xmlns:a16="http://schemas.microsoft.com/office/drawing/2014/main" id="{75E71736-45BC-52F4-9087-31E0D605BD8D}"/>
                </a:ext>
              </a:extLst>
            </p:cNvPr>
            <p:cNvSpPr/>
            <p:nvPr/>
          </p:nvSpPr>
          <p:spPr>
            <a:xfrm>
              <a:off x="7128473" y="741058"/>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逆列混合</a:t>
              </a:r>
            </a:p>
          </p:txBody>
        </p:sp>
        <p:sp>
          <p:nvSpPr>
            <p:cNvPr id="32" name="矩形 31">
              <a:extLst>
                <a:ext uri="{FF2B5EF4-FFF2-40B4-BE49-F238E27FC236}">
                  <a16:creationId xmlns:a16="http://schemas.microsoft.com/office/drawing/2014/main" id="{7B29E225-5BAC-077D-AB14-A216A63D9A92}"/>
                </a:ext>
              </a:extLst>
            </p:cNvPr>
            <p:cNvSpPr/>
            <p:nvPr/>
          </p:nvSpPr>
          <p:spPr>
            <a:xfrm>
              <a:off x="7128473" y="1064561"/>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轮密钥加</a:t>
              </a:r>
            </a:p>
          </p:txBody>
        </p:sp>
        <p:sp>
          <p:nvSpPr>
            <p:cNvPr id="33" name="矩形 32">
              <a:extLst>
                <a:ext uri="{FF2B5EF4-FFF2-40B4-BE49-F238E27FC236}">
                  <a16:creationId xmlns:a16="http://schemas.microsoft.com/office/drawing/2014/main" id="{47F88C1B-82FD-735A-A581-333BC808A161}"/>
                </a:ext>
              </a:extLst>
            </p:cNvPr>
            <p:cNvSpPr/>
            <p:nvPr/>
          </p:nvSpPr>
          <p:spPr>
            <a:xfrm>
              <a:off x="7128473" y="1388064"/>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逆字节代换</a:t>
              </a:r>
            </a:p>
          </p:txBody>
        </p:sp>
        <p:sp>
          <p:nvSpPr>
            <p:cNvPr id="34" name="矩形 33">
              <a:extLst>
                <a:ext uri="{FF2B5EF4-FFF2-40B4-BE49-F238E27FC236}">
                  <a16:creationId xmlns:a16="http://schemas.microsoft.com/office/drawing/2014/main" id="{58ECA25E-B670-8275-132A-CEA5BD4DE8E6}"/>
                </a:ext>
              </a:extLst>
            </p:cNvPr>
            <p:cNvSpPr/>
            <p:nvPr/>
          </p:nvSpPr>
          <p:spPr>
            <a:xfrm>
              <a:off x="7128473" y="1711567"/>
              <a:ext cx="1044000" cy="216024"/>
            </a:xfrm>
            <a:prstGeom prst="rect">
              <a:avLst/>
            </a:prstGeom>
            <a:ln/>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逆行移位</a:t>
              </a:r>
            </a:p>
          </p:txBody>
        </p:sp>
        <p:sp>
          <p:nvSpPr>
            <p:cNvPr id="36" name="箭头: 下 35">
              <a:extLst>
                <a:ext uri="{FF2B5EF4-FFF2-40B4-BE49-F238E27FC236}">
                  <a16:creationId xmlns:a16="http://schemas.microsoft.com/office/drawing/2014/main" id="{CC35DD24-B29E-B8B5-A997-536A610C42AD}"/>
                </a:ext>
              </a:extLst>
            </p:cNvPr>
            <p:cNvSpPr/>
            <p:nvPr/>
          </p:nvSpPr>
          <p:spPr>
            <a:xfrm flipV="1">
              <a:off x="7614469" y="955857"/>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箭头: 下 36">
              <a:extLst>
                <a:ext uri="{FF2B5EF4-FFF2-40B4-BE49-F238E27FC236}">
                  <a16:creationId xmlns:a16="http://schemas.microsoft.com/office/drawing/2014/main" id="{CF8CE9F7-0BC4-AECB-1305-DA3057CE81E0}"/>
                </a:ext>
              </a:extLst>
            </p:cNvPr>
            <p:cNvSpPr/>
            <p:nvPr/>
          </p:nvSpPr>
          <p:spPr>
            <a:xfrm flipV="1">
              <a:off x="7614469" y="1293498"/>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下 37">
              <a:extLst>
                <a:ext uri="{FF2B5EF4-FFF2-40B4-BE49-F238E27FC236}">
                  <a16:creationId xmlns:a16="http://schemas.microsoft.com/office/drawing/2014/main" id="{64ACA0A4-F49D-6C1B-2820-3013D9493CC0}"/>
                </a:ext>
              </a:extLst>
            </p:cNvPr>
            <p:cNvSpPr/>
            <p:nvPr/>
          </p:nvSpPr>
          <p:spPr>
            <a:xfrm flipV="1">
              <a:off x="7614469" y="1607262"/>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箭头: 下 38">
              <a:extLst>
                <a:ext uri="{FF2B5EF4-FFF2-40B4-BE49-F238E27FC236}">
                  <a16:creationId xmlns:a16="http://schemas.microsoft.com/office/drawing/2014/main" id="{C3F1DD54-02A8-D056-8D8C-BFCDBC4BDAB8}"/>
                </a:ext>
              </a:extLst>
            </p:cNvPr>
            <p:cNvSpPr/>
            <p:nvPr/>
          </p:nvSpPr>
          <p:spPr>
            <a:xfrm flipV="1">
              <a:off x="7614469" y="1927591"/>
              <a:ext cx="72008" cy="9000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36614413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randombar(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180"/>
                                        </p:tgtEl>
                                        <p:attrNameLst>
                                          <p:attrName>style.visibility</p:attrName>
                                        </p:attrNameLst>
                                      </p:cBhvr>
                                      <p:to>
                                        <p:strVal val="visible"/>
                                      </p:to>
                                    </p:set>
                                    <p:animEffect transition="in" filter="randombar(horizontal)">
                                      <p:cBhvr>
                                        <p:cTn id="28" dur="500"/>
                                        <p:tgtEl>
                                          <p:spTgt spid="18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42" fill="hold" nodeType="clickEffect">
                                  <p:stCondLst>
                                    <p:cond delay="0"/>
                                  </p:stCondLst>
                                  <p:childTnLst>
                                    <p:set>
                                      <p:cBhvr>
                                        <p:cTn id="37" dur="1" fill="hold">
                                          <p:stCondLst>
                                            <p:cond delay="0"/>
                                          </p:stCondLst>
                                        </p:cTn>
                                        <p:tgtEl>
                                          <p:spTgt spid="120"/>
                                        </p:tgtEl>
                                        <p:attrNameLst>
                                          <p:attrName>style.visibility</p:attrName>
                                        </p:attrNameLst>
                                      </p:cBhvr>
                                      <p:to>
                                        <p:strVal val="visible"/>
                                      </p:to>
                                    </p:set>
                                    <p:animEffect transition="in" filter="barn(outHorizontal)">
                                      <p:cBhvr>
                                        <p:cTn id="38" dur="500"/>
                                        <p:tgtEl>
                                          <p:spTgt spid="120"/>
                                        </p:tgtEl>
                                      </p:cBhvr>
                                    </p:animEffect>
                                  </p:childTnLst>
                                </p:cTn>
                              </p:par>
                            </p:childTnLst>
                          </p:cTn>
                        </p:par>
                        <p:par>
                          <p:cTn id="39" fill="hold">
                            <p:stCondLst>
                              <p:cond delay="500"/>
                            </p:stCondLst>
                            <p:childTnLst>
                              <p:par>
                                <p:cTn id="40" presetID="22" presetClass="entr" presetSubtype="1"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up)">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86"/>
                                        </p:tgtEl>
                                        <p:attrNameLst>
                                          <p:attrName>style.visibility</p:attrName>
                                        </p:attrNameLst>
                                      </p:cBhvr>
                                      <p:to>
                                        <p:strVal val="visible"/>
                                      </p:to>
                                    </p:set>
                                    <p:animEffect transition="in" filter="randombar(horizontal)">
                                      <p:cBhvr>
                                        <p:cTn id="47" dur="500"/>
                                        <p:tgtEl>
                                          <p:spTgt spid="186"/>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randombar(horizontal)">
                                      <p:cBhvr>
                                        <p:cTn id="52" dur="500"/>
                                        <p:tgtEl>
                                          <p:spTgt spid="52"/>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121"/>
                                        </p:tgtEl>
                                        <p:attrNameLst>
                                          <p:attrName>style.visibility</p:attrName>
                                        </p:attrNameLst>
                                      </p:cBhvr>
                                      <p:to>
                                        <p:strVal val="visible"/>
                                      </p:to>
                                    </p:set>
                                    <p:animEffect transition="in" filter="barn(outHorizontal)">
                                      <p:cBhvr>
                                        <p:cTn id="57" dur="500"/>
                                        <p:tgtEl>
                                          <p:spTgt spid="121"/>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wipe(up)">
                                      <p:cBhvr>
                                        <p:cTn id="61" dur="500"/>
                                        <p:tgtEl>
                                          <p:spTgt spid="91"/>
                                        </p:tgtEl>
                                      </p:cBhvr>
                                    </p:animEffect>
                                  </p:childTnLst>
                                </p:cTn>
                              </p:par>
                            </p:childTnLst>
                          </p:cTn>
                        </p:par>
                      </p:childTnLst>
                    </p:cTn>
                  </p:par>
                  <p:par>
                    <p:cTn id="62" fill="hold">
                      <p:stCondLst>
                        <p:cond delay="indefinite"/>
                      </p:stCondLst>
                      <p:childTnLst>
                        <p:par>
                          <p:cTn id="63" fill="hold">
                            <p:stCondLst>
                              <p:cond delay="0"/>
                            </p:stCondLst>
                            <p:childTnLst>
                              <p:par>
                                <p:cTn id="64" presetID="14" presetClass="entr" presetSubtype="10" fill="hold" nodeType="clickEffect">
                                  <p:stCondLst>
                                    <p:cond delay="0"/>
                                  </p:stCondLst>
                                  <p:childTnLst>
                                    <p:set>
                                      <p:cBhvr>
                                        <p:cTn id="65" dur="1" fill="hold">
                                          <p:stCondLst>
                                            <p:cond delay="0"/>
                                          </p:stCondLst>
                                        </p:cTn>
                                        <p:tgtEl>
                                          <p:spTgt spid="182"/>
                                        </p:tgtEl>
                                        <p:attrNameLst>
                                          <p:attrName>style.visibility</p:attrName>
                                        </p:attrNameLst>
                                      </p:cBhvr>
                                      <p:to>
                                        <p:strVal val="visible"/>
                                      </p:to>
                                    </p:set>
                                    <p:animEffect transition="in" filter="randombar(horizontal)">
                                      <p:cBhvr>
                                        <p:cTn id="66" dur="500"/>
                                        <p:tgtEl>
                                          <p:spTgt spid="182"/>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42"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barn(outHorizontal)">
                                      <p:cBhvr>
                                        <p:cTn id="71" dur="500"/>
                                        <p:tgtEl>
                                          <p:spTgt spid="19"/>
                                        </p:tgtEl>
                                      </p:cBhvr>
                                    </p:animEffect>
                                  </p:childTnLst>
                                </p:cTn>
                              </p:par>
                            </p:childTnLst>
                          </p:cTn>
                        </p:par>
                        <p:par>
                          <p:cTn id="72" fill="hold">
                            <p:stCondLst>
                              <p:cond delay="500"/>
                            </p:stCondLst>
                            <p:childTnLst>
                              <p:par>
                                <p:cTn id="73" presetID="22" presetClass="entr" presetSubtype="1" fill="hold" nodeType="afterEffect">
                                  <p:stCondLst>
                                    <p:cond delay="0"/>
                                  </p:stCondLst>
                                  <p:childTnLst>
                                    <p:set>
                                      <p:cBhvr>
                                        <p:cTn id="74" dur="1" fill="hold">
                                          <p:stCondLst>
                                            <p:cond delay="0"/>
                                          </p:stCondLst>
                                        </p:cTn>
                                        <p:tgtEl>
                                          <p:spTgt spid="103"/>
                                        </p:tgtEl>
                                        <p:attrNameLst>
                                          <p:attrName>style.visibility</p:attrName>
                                        </p:attrNameLst>
                                      </p:cBhvr>
                                      <p:to>
                                        <p:strVal val="visible"/>
                                      </p:to>
                                    </p:set>
                                    <p:animEffect transition="in" filter="wipe(up)">
                                      <p:cBhvr>
                                        <p:cTn id="75" dur="500"/>
                                        <p:tgtEl>
                                          <p:spTgt spid="103"/>
                                        </p:tgtEl>
                                      </p:cBhvr>
                                    </p:animEffect>
                                  </p:childTnLst>
                                </p:cTn>
                              </p:par>
                            </p:childTnLst>
                          </p:cTn>
                        </p:par>
                      </p:childTnLst>
                    </p:cTn>
                  </p:par>
                  <p:par>
                    <p:cTn id="76" fill="hold">
                      <p:stCondLst>
                        <p:cond delay="indefinite"/>
                      </p:stCondLst>
                      <p:childTnLst>
                        <p:par>
                          <p:cTn id="77" fill="hold">
                            <p:stCondLst>
                              <p:cond delay="0"/>
                            </p:stCondLst>
                            <p:childTnLst>
                              <p:par>
                                <p:cTn id="78" presetID="14" presetClass="entr" presetSubtype="10" fill="hold" nodeType="clickEffect">
                                  <p:stCondLst>
                                    <p:cond delay="0"/>
                                  </p:stCondLst>
                                  <p:childTnLst>
                                    <p:set>
                                      <p:cBhvr>
                                        <p:cTn id="79" dur="1" fill="hold">
                                          <p:stCondLst>
                                            <p:cond delay="0"/>
                                          </p:stCondLst>
                                        </p:cTn>
                                        <p:tgtEl>
                                          <p:spTgt spid="181"/>
                                        </p:tgtEl>
                                        <p:attrNameLst>
                                          <p:attrName>style.visibility</p:attrName>
                                        </p:attrNameLst>
                                      </p:cBhvr>
                                      <p:to>
                                        <p:strVal val="visible"/>
                                      </p:to>
                                    </p:set>
                                    <p:animEffect transition="in" filter="randombar(horizontal)">
                                      <p:cBhvr>
                                        <p:cTn id="80" dur="500"/>
                                        <p:tgtEl>
                                          <p:spTgt spid="181"/>
                                        </p:tgtEl>
                                      </p:cBhvr>
                                    </p:animEffect>
                                  </p:childTnLst>
                                </p:cTn>
                              </p:par>
                            </p:childTnLst>
                          </p:cTn>
                        </p:par>
                      </p:childTnLst>
                    </p:cTn>
                  </p:par>
                  <p:par>
                    <p:cTn id="81" fill="hold">
                      <p:stCondLst>
                        <p:cond delay="indefinite"/>
                      </p:stCondLst>
                      <p:childTnLst>
                        <p:par>
                          <p:cTn id="82" fill="hold">
                            <p:stCondLst>
                              <p:cond delay="0"/>
                            </p:stCondLst>
                            <p:childTnLst>
                              <p:par>
                                <p:cTn id="83" presetID="14" presetClass="entr" presetSubtype="10" fill="hold" grpId="0" nodeType="click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randombar(horizontal)">
                                      <p:cBhvr>
                                        <p:cTn id="85" dur="500"/>
                                        <p:tgtEl>
                                          <p:spTgt spid="61"/>
                                        </p:tgtEl>
                                      </p:cBhvr>
                                    </p:animEffect>
                                  </p:childTnLst>
                                </p:cTn>
                              </p:par>
                            </p:childTnLst>
                          </p:cTn>
                        </p:par>
                      </p:childTnLst>
                    </p:cTn>
                  </p:par>
                  <p:par>
                    <p:cTn id="86" fill="hold">
                      <p:stCondLst>
                        <p:cond delay="indefinite"/>
                      </p:stCondLst>
                      <p:childTnLst>
                        <p:par>
                          <p:cTn id="87" fill="hold">
                            <p:stCondLst>
                              <p:cond delay="0"/>
                            </p:stCondLst>
                            <p:childTnLst>
                              <p:par>
                                <p:cTn id="88" presetID="14" presetClass="entr" presetSubtype="10" fill="hold" grpId="0" nodeType="click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randombar(horizontal)">
                                      <p:cBhvr>
                                        <p:cTn id="90" dur="500"/>
                                        <p:tgtEl>
                                          <p:spTgt spid="6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wipe(down)">
                                      <p:cBhvr>
                                        <p:cTn id="95" dur="500"/>
                                        <p:tgtEl>
                                          <p:spTgt spid="25"/>
                                        </p:tgtEl>
                                      </p:cBhvr>
                                    </p:animEffec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grpId="0" nodeType="click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randombar(horizontal)">
                                      <p:cBhvr>
                                        <p:cTn id="100" dur="500"/>
                                        <p:tgtEl>
                                          <p:spTgt spid="24"/>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wipe(down)">
                                      <p:cBhvr>
                                        <p:cTn id="105" dur="500"/>
                                        <p:tgtEl>
                                          <p:spTgt spid="26"/>
                                        </p:tgtEl>
                                      </p:cBhvr>
                                    </p:animEffect>
                                  </p:childTnLst>
                                </p:cTn>
                              </p:par>
                            </p:childTnLst>
                          </p:cTn>
                        </p:par>
                      </p:childTnLst>
                    </p:cTn>
                  </p:par>
                  <p:par>
                    <p:cTn id="106" fill="hold">
                      <p:stCondLst>
                        <p:cond delay="indefinite"/>
                      </p:stCondLst>
                      <p:childTnLst>
                        <p:par>
                          <p:cTn id="107" fill="hold">
                            <p:stCondLst>
                              <p:cond delay="0"/>
                            </p:stCondLst>
                            <p:childTnLst>
                              <p:par>
                                <p:cTn id="108" presetID="16" presetClass="entr" presetSubtype="42" fill="hold" nodeType="clickEffect">
                                  <p:stCondLst>
                                    <p:cond delay="0"/>
                                  </p:stCondLst>
                                  <p:childTnLst>
                                    <p:set>
                                      <p:cBhvr>
                                        <p:cTn id="109" dur="1" fill="hold">
                                          <p:stCondLst>
                                            <p:cond delay="0"/>
                                          </p:stCondLst>
                                        </p:cTn>
                                        <p:tgtEl>
                                          <p:spTgt spid="190"/>
                                        </p:tgtEl>
                                        <p:attrNameLst>
                                          <p:attrName>style.visibility</p:attrName>
                                        </p:attrNameLst>
                                      </p:cBhvr>
                                      <p:to>
                                        <p:strVal val="visible"/>
                                      </p:to>
                                    </p:set>
                                    <p:animEffect transition="in" filter="barn(outHorizontal)">
                                      <p:cBhvr>
                                        <p:cTn id="110" dur="500"/>
                                        <p:tgtEl>
                                          <p:spTgt spid="190"/>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nodeType="clickEffect">
                                  <p:stCondLst>
                                    <p:cond delay="0"/>
                                  </p:stCondLst>
                                  <p:childTnLst>
                                    <p:set>
                                      <p:cBhvr>
                                        <p:cTn id="114" dur="1" fill="hold">
                                          <p:stCondLst>
                                            <p:cond delay="0"/>
                                          </p:stCondLst>
                                        </p:cTn>
                                        <p:tgtEl>
                                          <p:spTgt spid="28"/>
                                        </p:tgtEl>
                                        <p:attrNameLst>
                                          <p:attrName>style.visibility</p:attrName>
                                        </p:attrNameLst>
                                      </p:cBhvr>
                                      <p:to>
                                        <p:strVal val="visible"/>
                                      </p:to>
                                    </p:set>
                                    <p:animEffect transition="in" filter="wipe(down)">
                                      <p:cBhvr>
                                        <p:cTn id="115" dur="500"/>
                                        <p:tgtEl>
                                          <p:spTgt spid="28"/>
                                        </p:tgtEl>
                                      </p:cBhvr>
                                    </p:animEffect>
                                  </p:childTnLst>
                                </p:cTn>
                              </p:par>
                            </p:childTnLst>
                          </p:cTn>
                        </p:par>
                      </p:childTnLst>
                    </p:cTn>
                  </p:par>
                  <p:par>
                    <p:cTn id="116" fill="hold">
                      <p:stCondLst>
                        <p:cond delay="indefinite"/>
                      </p:stCondLst>
                      <p:childTnLst>
                        <p:par>
                          <p:cTn id="117" fill="hold">
                            <p:stCondLst>
                              <p:cond delay="0"/>
                            </p:stCondLst>
                            <p:childTnLst>
                              <p:par>
                                <p:cTn id="118" presetID="14" presetClass="entr" presetSubtype="10" fill="hold" grpId="0" nodeType="clickEffect">
                                  <p:stCondLst>
                                    <p:cond delay="0"/>
                                  </p:stCondLst>
                                  <p:childTnLst>
                                    <p:set>
                                      <p:cBhvr>
                                        <p:cTn id="119" dur="1" fill="hold">
                                          <p:stCondLst>
                                            <p:cond delay="0"/>
                                          </p:stCondLst>
                                        </p:cTn>
                                        <p:tgtEl>
                                          <p:spTgt spid="201"/>
                                        </p:tgtEl>
                                        <p:attrNameLst>
                                          <p:attrName>style.visibility</p:attrName>
                                        </p:attrNameLst>
                                      </p:cBhvr>
                                      <p:to>
                                        <p:strVal val="visible"/>
                                      </p:to>
                                    </p:set>
                                    <p:animEffect transition="in" filter="randombar(horizontal)">
                                      <p:cBhvr>
                                        <p:cTn id="120" dur="500"/>
                                        <p:tgtEl>
                                          <p:spTgt spid="201"/>
                                        </p:tgtEl>
                                      </p:cBhvr>
                                    </p:animEffect>
                                  </p:childTnLst>
                                </p:cTn>
                              </p:par>
                            </p:childTnLst>
                          </p:cTn>
                        </p:par>
                      </p:childTnLst>
                    </p:cTn>
                  </p:par>
                  <p:par>
                    <p:cTn id="121" fill="hold">
                      <p:stCondLst>
                        <p:cond delay="indefinite"/>
                      </p:stCondLst>
                      <p:childTnLst>
                        <p:par>
                          <p:cTn id="122" fill="hold">
                            <p:stCondLst>
                              <p:cond delay="0"/>
                            </p:stCondLst>
                            <p:childTnLst>
                              <p:par>
                                <p:cTn id="123" presetID="16" presetClass="entr" presetSubtype="42" fill="hold" nodeType="clickEffect">
                                  <p:stCondLst>
                                    <p:cond delay="0"/>
                                  </p:stCondLst>
                                  <p:childTnLst>
                                    <p:set>
                                      <p:cBhvr>
                                        <p:cTn id="124" dur="1" fill="hold">
                                          <p:stCondLst>
                                            <p:cond delay="0"/>
                                          </p:stCondLst>
                                        </p:cTn>
                                        <p:tgtEl>
                                          <p:spTgt spid="191"/>
                                        </p:tgtEl>
                                        <p:attrNameLst>
                                          <p:attrName>style.visibility</p:attrName>
                                        </p:attrNameLst>
                                      </p:cBhvr>
                                      <p:to>
                                        <p:strVal val="visible"/>
                                      </p:to>
                                    </p:set>
                                    <p:animEffect transition="in" filter="barn(outHorizontal)">
                                      <p:cBhvr>
                                        <p:cTn id="125" dur="500"/>
                                        <p:tgtEl>
                                          <p:spTgt spid="191"/>
                                        </p:tgtEl>
                                      </p:cBhvr>
                                    </p:animEffect>
                                  </p:childTnLst>
                                </p:cTn>
                              </p:par>
                            </p:childTnLst>
                          </p:cTn>
                        </p:par>
                        <p:par>
                          <p:cTn id="126" fill="hold">
                            <p:stCondLst>
                              <p:cond delay="500"/>
                            </p:stCondLst>
                            <p:childTnLst>
                              <p:par>
                                <p:cTn id="127" presetID="22" presetClass="entr" presetSubtype="4" fill="hold" nodeType="afterEffect">
                                  <p:stCondLst>
                                    <p:cond delay="0"/>
                                  </p:stCondLst>
                                  <p:childTnLst>
                                    <p:set>
                                      <p:cBhvr>
                                        <p:cTn id="128" dur="1" fill="hold">
                                          <p:stCondLst>
                                            <p:cond delay="0"/>
                                          </p:stCondLst>
                                        </p:cTn>
                                        <p:tgtEl>
                                          <p:spTgt spid="29"/>
                                        </p:tgtEl>
                                        <p:attrNameLst>
                                          <p:attrName>style.visibility</p:attrName>
                                        </p:attrNameLst>
                                      </p:cBhvr>
                                      <p:to>
                                        <p:strVal val="visible"/>
                                      </p:to>
                                    </p:set>
                                    <p:animEffect transition="in" filter="wipe(down)">
                                      <p:cBhvr>
                                        <p:cTn id="129" dur="500"/>
                                        <p:tgtEl>
                                          <p:spTgt spid="29"/>
                                        </p:tgtEl>
                                      </p:cBhvr>
                                    </p:animEffect>
                                  </p:childTnLst>
                                </p:cTn>
                              </p:par>
                            </p:childTnLst>
                          </p:cTn>
                        </p:par>
                      </p:childTnLst>
                    </p:cTn>
                  </p:par>
                  <p:par>
                    <p:cTn id="130" fill="hold">
                      <p:stCondLst>
                        <p:cond delay="indefinite"/>
                      </p:stCondLst>
                      <p:childTnLst>
                        <p:par>
                          <p:cTn id="131" fill="hold">
                            <p:stCondLst>
                              <p:cond delay="0"/>
                            </p:stCondLst>
                            <p:childTnLst>
                              <p:par>
                                <p:cTn id="132" presetID="16" presetClass="entr" presetSubtype="42" fill="hold" nodeType="clickEffect">
                                  <p:stCondLst>
                                    <p:cond delay="0"/>
                                  </p:stCondLst>
                                  <p:childTnLst>
                                    <p:set>
                                      <p:cBhvr>
                                        <p:cTn id="133" dur="1" fill="hold">
                                          <p:stCondLst>
                                            <p:cond delay="0"/>
                                          </p:stCondLst>
                                        </p:cTn>
                                        <p:tgtEl>
                                          <p:spTgt spid="196"/>
                                        </p:tgtEl>
                                        <p:attrNameLst>
                                          <p:attrName>style.visibility</p:attrName>
                                        </p:attrNameLst>
                                      </p:cBhvr>
                                      <p:to>
                                        <p:strVal val="visible"/>
                                      </p:to>
                                    </p:set>
                                    <p:animEffect transition="in" filter="barn(outHorizontal)">
                                      <p:cBhvr>
                                        <p:cTn id="134" dur="500"/>
                                        <p:tgtEl>
                                          <p:spTgt spid="196"/>
                                        </p:tgtEl>
                                      </p:cBhvr>
                                    </p:animEffect>
                                  </p:childTnLst>
                                </p:cTn>
                              </p:par>
                            </p:childTnLst>
                          </p:cTn>
                        </p:par>
                        <p:par>
                          <p:cTn id="135" fill="hold">
                            <p:stCondLst>
                              <p:cond delay="500"/>
                            </p:stCondLst>
                            <p:childTnLst>
                              <p:par>
                                <p:cTn id="136" presetID="22" presetClass="entr" presetSubtype="4" fill="hold" nodeType="afterEffect">
                                  <p:stCondLst>
                                    <p:cond delay="0"/>
                                  </p:stCondLst>
                                  <p:childTnLst>
                                    <p:set>
                                      <p:cBhvr>
                                        <p:cTn id="137" dur="1" fill="hold">
                                          <p:stCondLst>
                                            <p:cond delay="0"/>
                                          </p:stCondLst>
                                        </p:cTn>
                                        <p:tgtEl>
                                          <p:spTgt spid="150"/>
                                        </p:tgtEl>
                                        <p:attrNameLst>
                                          <p:attrName>style.visibility</p:attrName>
                                        </p:attrNameLst>
                                      </p:cBhvr>
                                      <p:to>
                                        <p:strVal val="visible"/>
                                      </p:to>
                                    </p:set>
                                    <p:animEffect transition="in" filter="wipe(down)">
                                      <p:cBhvr>
                                        <p:cTn id="138" dur="500"/>
                                        <p:tgtEl>
                                          <p:spTgt spid="150"/>
                                        </p:tgtEl>
                                      </p:cBhvr>
                                    </p:animEffect>
                                  </p:childTnLst>
                                </p:cTn>
                              </p:par>
                            </p:childTnLst>
                          </p:cTn>
                        </p:par>
                      </p:childTnLst>
                    </p:cTn>
                  </p:par>
                  <p:par>
                    <p:cTn id="139" fill="hold">
                      <p:stCondLst>
                        <p:cond delay="indefinite"/>
                      </p:stCondLst>
                      <p:childTnLst>
                        <p:par>
                          <p:cTn id="140" fill="hold">
                            <p:stCondLst>
                              <p:cond delay="0"/>
                            </p:stCondLst>
                            <p:childTnLst>
                              <p:par>
                                <p:cTn id="141" presetID="14" presetClass="entr" presetSubtype="10" fill="hold" grpId="0" nodeType="clickEffect">
                                  <p:stCondLst>
                                    <p:cond delay="0"/>
                                  </p:stCondLst>
                                  <p:childTnLst>
                                    <p:set>
                                      <p:cBhvr>
                                        <p:cTn id="142" dur="1" fill="hold">
                                          <p:stCondLst>
                                            <p:cond delay="0"/>
                                          </p:stCondLst>
                                        </p:cTn>
                                        <p:tgtEl>
                                          <p:spTgt spid="44"/>
                                        </p:tgtEl>
                                        <p:attrNameLst>
                                          <p:attrName>style.visibility</p:attrName>
                                        </p:attrNameLst>
                                      </p:cBhvr>
                                      <p:to>
                                        <p:strVal val="visible"/>
                                      </p:to>
                                    </p:set>
                                    <p:animEffect transition="in" filter="randombar(horizontal)">
                                      <p:cBhvr>
                                        <p:cTn id="14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44" grpId="0"/>
      <p:bldP spid="52" grpId="0"/>
      <p:bldP spid="61" grpId="0"/>
      <p:bldP spid="62" grpId="0"/>
      <p:bldP spid="201" grpId="0"/>
      <p:bldP spid="2" grpId="0" animBg="1"/>
      <p:bldP spid="4" grpId="0" animBg="1"/>
      <p:bldP spid="6" grpId="0" animBg="1"/>
      <p:bldP spid="24" grpId="0" animBg="1"/>
      <p:bldP spid="25" grpId="0" animBg="1"/>
      <p:bldP spid="2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760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轮函数：字节代换</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SubBytes</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SubBytes()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变换是一个基于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盒的非线性置换，它用于将每一个字节通过一个简单的查表操作映射为另一个字节</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映射方法是：把输入字节的高</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位作为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盒的行值，低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位作为列值，然后取出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盒中对应行和列交叉位的元素作为输出</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SubBytes()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是一个简单的查表工作。</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定义了一个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盒和一个逆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盒。状态矩阵中的每一个元素（含</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个字节）将字节高</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位作为行值，低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位作为列值，取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盒中的元素作为输出。而字节代换逆操作也就是查逆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盒来变换。</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1507013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8596"/>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盒是一个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个字节的矩阵，包含了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位所能表示的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个数的一个置换。</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例如，十六进制数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盒中的值为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就被代替为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盒与其类似，逆推。</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32748664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412"/>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pic>
        <p:nvPicPr>
          <p:cNvPr id="12" name="图片 11">
            <a:extLst>
              <a:ext uri="{FF2B5EF4-FFF2-40B4-BE49-F238E27FC236}">
                <a16:creationId xmlns:a16="http://schemas.microsoft.com/office/drawing/2014/main" id="{8C74AA0B-3DB1-4C53-AE5D-9C7C4D22816E}"/>
              </a:ext>
            </a:extLst>
          </p:cNvPr>
          <p:cNvPicPr>
            <a:picLocks noChangeAspect="1"/>
          </p:cNvPicPr>
          <p:nvPr/>
        </p:nvPicPr>
        <p:blipFill rotWithShape="1">
          <a:blip r:embed="rId3">
            <a:extLst>
              <a:ext uri="{28A0092B-C50C-407E-A947-70E740481C1C}">
                <a14:useLocalDpi xmlns:a14="http://schemas.microsoft.com/office/drawing/2010/main" val="0"/>
              </a:ext>
            </a:extLst>
          </a:blip>
          <a:srcRect l="6012" t="6600" b="5201"/>
          <a:stretch/>
        </p:blipFill>
        <p:spPr>
          <a:xfrm>
            <a:off x="1619672" y="606996"/>
            <a:ext cx="7308304" cy="4536504"/>
          </a:xfrm>
          <a:prstGeom prst="rect">
            <a:avLst/>
          </a:prstGeom>
        </p:spPr>
      </p:pic>
    </p:spTree>
    <p:extLst>
      <p:ext uri="{BB962C8B-B14F-4D97-AF65-F5344CB8AC3E}">
        <p14:creationId xmlns:p14="http://schemas.microsoft.com/office/powerpoint/2010/main" val="144499297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pic>
        <p:nvPicPr>
          <p:cNvPr id="4" name="图片 3">
            <a:extLst>
              <a:ext uri="{FF2B5EF4-FFF2-40B4-BE49-F238E27FC236}">
                <a16:creationId xmlns:a16="http://schemas.microsoft.com/office/drawing/2014/main" id="{B834B55D-0544-4611-8A65-A4927DAF7E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699542"/>
            <a:ext cx="7742857" cy="4177540"/>
          </a:xfrm>
          <a:prstGeom prst="rect">
            <a:avLst/>
          </a:prstGeom>
        </p:spPr>
      </p:pic>
    </p:spTree>
    <p:extLst>
      <p:ext uri="{BB962C8B-B14F-4D97-AF65-F5344CB8AC3E}">
        <p14:creationId xmlns:p14="http://schemas.microsoft.com/office/powerpoint/2010/main" val="250957150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
        <p:nvSpPr>
          <p:cNvPr id="6" name="TextBox 18">
            <a:extLst>
              <a:ext uri="{FF2B5EF4-FFF2-40B4-BE49-F238E27FC236}">
                <a16:creationId xmlns:a16="http://schemas.microsoft.com/office/drawing/2014/main" id="{1AF5D618-785E-4545-8DA1-C56055B14943}"/>
              </a:ext>
            </a:extLst>
          </p:cNvPr>
          <p:cNvSpPr txBox="1"/>
          <p:nvPr/>
        </p:nvSpPr>
        <p:spPr>
          <a:xfrm>
            <a:off x="611560" y="789039"/>
            <a:ext cx="8208912" cy="424412"/>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Example</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graphicFrame>
        <p:nvGraphicFramePr>
          <p:cNvPr id="2" name="表格 6">
            <a:extLst>
              <a:ext uri="{FF2B5EF4-FFF2-40B4-BE49-F238E27FC236}">
                <a16:creationId xmlns:a16="http://schemas.microsoft.com/office/drawing/2014/main" id="{31D5D97D-F17E-40E4-8D15-641F39D67DCC}"/>
              </a:ext>
            </a:extLst>
          </p:cNvPr>
          <p:cNvGraphicFramePr>
            <a:graphicFrameLocks noGrp="1"/>
          </p:cNvGraphicFramePr>
          <p:nvPr>
            <p:extLst>
              <p:ext uri="{D42A27DB-BD31-4B8C-83A1-F6EECF244321}">
                <p14:modId xmlns:p14="http://schemas.microsoft.com/office/powerpoint/2010/main" val="99355327"/>
              </p:ext>
            </p:extLst>
          </p:nvPr>
        </p:nvGraphicFramePr>
        <p:xfrm>
          <a:off x="1475656" y="1461352"/>
          <a:ext cx="2213520" cy="2032000"/>
        </p:xfrm>
        <a:graphic>
          <a:graphicData uri="http://schemas.openxmlformats.org/drawingml/2006/table">
            <a:tbl>
              <a:tblPr firstRow="1" bandRow="1">
                <a:tableStyleId>{5C22544A-7EE6-4342-B048-85BDC9FD1C3A}</a:tableStyleId>
              </a:tblPr>
              <a:tblGrid>
                <a:gridCol w="553380">
                  <a:extLst>
                    <a:ext uri="{9D8B030D-6E8A-4147-A177-3AD203B41FA5}">
                      <a16:colId xmlns:a16="http://schemas.microsoft.com/office/drawing/2014/main" val="4045994525"/>
                    </a:ext>
                  </a:extLst>
                </a:gridCol>
                <a:gridCol w="553380">
                  <a:extLst>
                    <a:ext uri="{9D8B030D-6E8A-4147-A177-3AD203B41FA5}">
                      <a16:colId xmlns:a16="http://schemas.microsoft.com/office/drawing/2014/main" val="3943220121"/>
                    </a:ext>
                  </a:extLst>
                </a:gridCol>
                <a:gridCol w="553380">
                  <a:extLst>
                    <a:ext uri="{9D8B030D-6E8A-4147-A177-3AD203B41FA5}">
                      <a16:colId xmlns:a16="http://schemas.microsoft.com/office/drawing/2014/main" val="3061055807"/>
                    </a:ext>
                  </a:extLst>
                </a:gridCol>
                <a:gridCol w="553380">
                  <a:extLst>
                    <a:ext uri="{9D8B030D-6E8A-4147-A177-3AD203B41FA5}">
                      <a16:colId xmlns:a16="http://schemas.microsoft.com/office/drawing/2014/main" val="1633863889"/>
                    </a:ext>
                  </a:extLst>
                </a:gridCol>
              </a:tblGrid>
              <a:tr h="508000">
                <a:tc>
                  <a:txBody>
                    <a:bodyPr/>
                    <a:lstStyle/>
                    <a:p>
                      <a:pPr algn="ctr"/>
                      <a:r>
                        <a:rPr lang="en-US" altLang="zh-CN" b="0" dirty="0">
                          <a:solidFill>
                            <a:schemeClr val="tx1"/>
                          </a:solidFill>
                        </a:rPr>
                        <a:t>EA</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04</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tc>
                  <a:txBody>
                    <a:bodyPr/>
                    <a:lstStyle/>
                    <a:p>
                      <a:pPr algn="ctr"/>
                      <a:r>
                        <a:rPr lang="en-US" altLang="zh-CN" b="0" dirty="0">
                          <a:solidFill>
                            <a:schemeClr val="tx1"/>
                          </a:solidFill>
                        </a:rPr>
                        <a:t>65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85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extLst>
                  <a:ext uri="{0D108BD9-81ED-4DB2-BD59-A6C34878D82A}">
                    <a16:rowId xmlns:a16="http://schemas.microsoft.com/office/drawing/2014/main" val="1234550195"/>
                  </a:ext>
                </a:extLst>
              </a:tr>
              <a:tr h="508000">
                <a:tc>
                  <a:txBody>
                    <a:bodyPr/>
                    <a:lstStyle/>
                    <a:p>
                      <a:pPr algn="ctr"/>
                      <a:r>
                        <a:rPr lang="en-US" altLang="zh-CN" b="0" dirty="0">
                          <a:solidFill>
                            <a:schemeClr val="tx1"/>
                          </a:solidFill>
                        </a:rPr>
                        <a:t>83</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45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5D</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96</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extLst>
                  <a:ext uri="{0D108BD9-81ED-4DB2-BD59-A6C34878D82A}">
                    <a16:rowId xmlns:a16="http://schemas.microsoft.com/office/drawing/2014/main" val="576442634"/>
                  </a:ext>
                </a:extLst>
              </a:tr>
              <a:tr h="508000">
                <a:tc>
                  <a:txBody>
                    <a:bodyPr/>
                    <a:lstStyle/>
                    <a:p>
                      <a:pPr algn="ctr"/>
                      <a:r>
                        <a:rPr lang="en-US" altLang="zh-CN" b="0" dirty="0">
                          <a:solidFill>
                            <a:schemeClr val="tx1"/>
                          </a:solidFill>
                        </a:rPr>
                        <a:t>5C</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33</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tc>
                  <a:txBody>
                    <a:bodyPr/>
                    <a:lstStyle/>
                    <a:p>
                      <a:pPr algn="ctr"/>
                      <a:r>
                        <a:rPr lang="en-US" altLang="zh-CN" b="0" dirty="0">
                          <a:solidFill>
                            <a:schemeClr val="tx1"/>
                          </a:solidFill>
                        </a:rPr>
                        <a:t>98</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B0</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extLst>
                  <a:ext uri="{0D108BD9-81ED-4DB2-BD59-A6C34878D82A}">
                    <a16:rowId xmlns:a16="http://schemas.microsoft.com/office/drawing/2014/main" val="1111028818"/>
                  </a:ext>
                </a:extLst>
              </a:tr>
              <a:tr h="508000">
                <a:tc>
                  <a:txBody>
                    <a:bodyPr/>
                    <a:lstStyle/>
                    <a:p>
                      <a:pPr algn="ctr"/>
                      <a:r>
                        <a:rPr lang="en-US" altLang="zh-CN" b="0" dirty="0">
                          <a:solidFill>
                            <a:schemeClr val="tx1"/>
                          </a:solidFill>
                        </a:rPr>
                        <a:t>F0</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2D</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AD</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C5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extLst>
                  <a:ext uri="{0D108BD9-81ED-4DB2-BD59-A6C34878D82A}">
                    <a16:rowId xmlns:a16="http://schemas.microsoft.com/office/drawing/2014/main" val="3011445040"/>
                  </a:ext>
                </a:extLst>
              </a:tr>
            </a:tbl>
          </a:graphicData>
        </a:graphic>
      </p:graphicFrame>
      <p:graphicFrame>
        <p:nvGraphicFramePr>
          <p:cNvPr id="7" name="表格 6">
            <a:extLst>
              <a:ext uri="{FF2B5EF4-FFF2-40B4-BE49-F238E27FC236}">
                <a16:creationId xmlns:a16="http://schemas.microsoft.com/office/drawing/2014/main" id="{F9AD6375-B4EB-4BA0-80A5-B134DCF33F6C}"/>
              </a:ext>
            </a:extLst>
          </p:cNvPr>
          <p:cNvGraphicFramePr>
            <a:graphicFrameLocks noGrp="1"/>
          </p:cNvGraphicFramePr>
          <p:nvPr>
            <p:extLst>
              <p:ext uri="{D42A27DB-BD31-4B8C-83A1-F6EECF244321}">
                <p14:modId xmlns:p14="http://schemas.microsoft.com/office/powerpoint/2010/main" val="3367197332"/>
              </p:ext>
            </p:extLst>
          </p:nvPr>
        </p:nvGraphicFramePr>
        <p:xfrm>
          <a:off x="5148064" y="1467714"/>
          <a:ext cx="2213520" cy="2032000"/>
        </p:xfrm>
        <a:graphic>
          <a:graphicData uri="http://schemas.openxmlformats.org/drawingml/2006/table">
            <a:tbl>
              <a:tblPr firstRow="1" bandRow="1">
                <a:tableStyleId>{5C22544A-7EE6-4342-B048-85BDC9FD1C3A}</a:tableStyleId>
              </a:tblPr>
              <a:tblGrid>
                <a:gridCol w="553380">
                  <a:extLst>
                    <a:ext uri="{9D8B030D-6E8A-4147-A177-3AD203B41FA5}">
                      <a16:colId xmlns:a16="http://schemas.microsoft.com/office/drawing/2014/main" val="4045994525"/>
                    </a:ext>
                  </a:extLst>
                </a:gridCol>
                <a:gridCol w="553380">
                  <a:extLst>
                    <a:ext uri="{9D8B030D-6E8A-4147-A177-3AD203B41FA5}">
                      <a16:colId xmlns:a16="http://schemas.microsoft.com/office/drawing/2014/main" val="3943220121"/>
                    </a:ext>
                  </a:extLst>
                </a:gridCol>
                <a:gridCol w="553380">
                  <a:extLst>
                    <a:ext uri="{9D8B030D-6E8A-4147-A177-3AD203B41FA5}">
                      <a16:colId xmlns:a16="http://schemas.microsoft.com/office/drawing/2014/main" val="3061055807"/>
                    </a:ext>
                  </a:extLst>
                </a:gridCol>
                <a:gridCol w="553380">
                  <a:extLst>
                    <a:ext uri="{9D8B030D-6E8A-4147-A177-3AD203B41FA5}">
                      <a16:colId xmlns:a16="http://schemas.microsoft.com/office/drawing/2014/main" val="1633863889"/>
                    </a:ext>
                  </a:extLst>
                </a:gridCol>
              </a:tblGrid>
              <a:tr h="508000">
                <a:tc>
                  <a:txBody>
                    <a:bodyPr/>
                    <a:lstStyle/>
                    <a:p>
                      <a:pPr algn="ctr"/>
                      <a:r>
                        <a:rPr lang="en-US" altLang="zh-CN" b="0" dirty="0">
                          <a:solidFill>
                            <a:schemeClr val="tx1"/>
                          </a:solidFill>
                        </a:rPr>
                        <a:t>87</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F2</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tc>
                  <a:txBody>
                    <a:bodyPr/>
                    <a:lstStyle/>
                    <a:p>
                      <a:pPr algn="ctr"/>
                      <a:r>
                        <a:rPr lang="en-US" altLang="zh-CN" b="0" dirty="0">
                          <a:solidFill>
                            <a:schemeClr val="tx1"/>
                          </a:solidFill>
                        </a:rPr>
                        <a:t>4D</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97</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extLst>
                  <a:ext uri="{0D108BD9-81ED-4DB2-BD59-A6C34878D82A}">
                    <a16:rowId xmlns:a16="http://schemas.microsoft.com/office/drawing/2014/main" val="1234550195"/>
                  </a:ext>
                </a:extLst>
              </a:tr>
              <a:tr h="508000">
                <a:tc>
                  <a:txBody>
                    <a:bodyPr/>
                    <a:lstStyle/>
                    <a:p>
                      <a:pPr algn="ctr"/>
                      <a:r>
                        <a:rPr lang="en-US" altLang="zh-CN" b="0" dirty="0">
                          <a:solidFill>
                            <a:schemeClr val="tx1"/>
                          </a:solidFill>
                        </a:rPr>
                        <a:t>EC</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6E</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4C</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90</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extLst>
                  <a:ext uri="{0D108BD9-81ED-4DB2-BD59-A6C34878D82A}">
                    <a16:rowId xmlns:a16="http://schemas.microsoft.com/office/drawing/2014/main" val="576442634"/>
                  </a:ext>
                </a:extLst>
              </a:tr>
              <a:tr h="508000">
                <a:tc>
                  <a:txBody>
                    <a:bodyPr/>
                    <a:lstStyle/>
                    <a:p>
                      <a:pPr algn="ctr"/>
                      <a:r>
                        <a:rPr lang="en-US" altLang="zh-CN" b="0" dirty="0">
                          <a:solidFill>
                            <a:schemeClr val="tx1"/>
                          </a:solidFill>
                        </a:rPr>
                        <a:t>4A</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C3</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tc>
                  <a:txBody>
                    <a:bodyPr/>
                    <a:lstStyle/>
                    <a:p>
                      <a:pPr algn="ctr"/>
                      <a:r>
                        <a:rPr lang="en-US" altLang="zh-CN" b="0" dirty="0">
                          <a:solidFill>
                            <a:schemeClr val="tx1"/>
                          </a:solidFill>
                        </a:rPr>
                        <a:t>46</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E7</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CCE2F2"/>
                    </a:solidFill>
                  </a:tcPr>
                </a:tc>
                <a:extLst>
                  <a:ext uri="{0D108BD9-81ED-4DB2-BD59-A6C34878D82A}">
                    <a16:rowId xmlns:a16="http://schemas.microsoft.com/office/drawing/2014/main" val="1111028818"/>
                  </a:ext>
                </a:extLst>
              </a:tr>
              <a:tr h="508000">
                <a:tc>
                  <a:txBody>
                    <a:bodyPr/>
                    <a:lstStyle/>
                    <a:p>
                      <a:pPr algn="ctr"/>
                      <a:r>
                        <a:rPr lang="en-US" altLang="zh-CN" b="0" dirty="0">
                          <a:solidFill>
                            <a:schemeClr val="tx1"/>
                          </a:solidFill>
                        </a:rPr>
                        <a:t>8C</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D8</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tc>
                  <a:txBody>
                    <a:bodyPr/>
                    <a:lstStyle/>
                    <a:p>
                      <a:pPr algn="ctr"/>
                      <a:r>
                        <a:rPr lang="en-US" altLang="zh-CN" b="0" dirty="0">
                          <a:solidFill>
                            <a:schemeClr val="tx1"/>
                          </a:solidFill>
                        </a:rPr>
                        <a:t>95</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0" dirty="0">
                          <a:solidFill>
                            <a:schemeClr val="tx1"/>
                          </a:solidFill>
                        </a:rPr>
                        <a:t>A6</a:t>
                      </a:r>
                      <a:endParaRPr lang="zh-CN"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20A9DD"/>
                    </a:solidFill>
                  </a:tcPr>
                </a:tc>
                <a:extLst>
                  <a:ext uri="{0D108BD9-81ED-4DB2-BD59-A6C34878D82A}">
                    <a16:rowId xmlns:a16="http://schemas.microsoft.com/office/drawing/2014/main" val="3011445040"/>
                  </a:ext>
                </a:extLst>
              </a:tr>
            </a:tbl>
          </a:graphicData>
        </a:graphic>
      </p:graphicFrame>
      <p:cxnSp>
        <p:nvCxnSpPr>
          <p:cNvPr id="9" name="直接箭头连接符 8">
            <a:extLst>
              <a:ext uri="{FF2B5EF4-FFF2-40B4-BE49-F238E27FC236}">
                <a16:creationId xmlns:a16="http://schemas.microsoft.com/office/drawing/2014/main" id="{B60BDED3-6831-4D3C-A900-3EF43DDAE3EB}"/>
              </a:ext>
            </a:extLst>
          </p:cNvPr>
          <p:cNvCxnSpPr/>
          <p:nvPr/>
        </p:nvCxnSpPr>
        <p:spPr>
          <a:xfrm>
            <a:off x="3851920" y="2477352"/>
            <a:ext cx="115212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25225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randombar(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9780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轮函数：行移位（ </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ShiftRow</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行移位变换对状态的行进行循环移位。</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不同状态行的位移量不同。</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行不移位，第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字节，第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字节，第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行移位变换属于置换，本质在于把数据打乱重排</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的行移位变换属于线性变换。</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2" name="表格 4">
            <a:extLst>
              <a:ext uri="{FF2B5EF4-FFF2-40B4-BE49-F238E27FC236}">
                <a16:creationId xmlns:a16="http://schemas.microsoft.com/office/drawing/2014/main" id="{47D84E8D-E827-4A82-BA07-C9FD982F5D9A}"/>
              </a:ext>
            </a:extLst>
          </p:cNvPr>
          <p:cNvGraphicFramePr>
            <a:graphicFrameLocks noGrp="1"/>
          </p:cNvGraphicFramePr>
          <p:nvPr>
            <p:extLst>
              <p:ext uri="{D42A27DB-BD31-4B8C-83A1-F6EECF244321}">
                <p14:modId xmlns:p14="http://schemas.microsoft.com/office/powerpoint/2010/main" val="2900164033"/>
              </p:ext>
            </p:extLst>
          </p:nvPr>
        </p:nvGraphicFramePr>
        <p:xfrm>
          <a:off x="1043608" y="2571750"/>
          <a:ext cx="3384376" cy="1494836"/>
        </p:xfrm>
        <a:graphic>
          <a:graphicData uri="http://schemas.openxmlformats.org/drawingml/2006/table">
            <a:tbl>
              <a:tblPr firstRow="1" bandRow="1">
                <a:tableStyleId>{5C22544A-7EE6-4342-B048-85BDC9FD1C3A}</a:tableStyleId>
              </a:tblPr>
              <a:tblGrid>
                <a:gridCol w="846094">
                  <a:extLst>
                    <a:ext uri="{9D8B030D-6E8A-4147-A177-3AD203B41FA5}">
                      <a16:colId xmlns:a16="http://schemas.microsoft.com/office/drawing/2014/main" val="2887116290"/>
                    </a:ext>
                  </a:extLst>
                </a:gridCol>
                <a:gridCol w="846094">
                  <a:extLst>
                    <a:ext uri="{9D8B030D-6E8A-4147-A177-3AD203B41FA5}">
                      <a16:colId xmlns:a16="http://schemas.microsoft.com/office/drawing/2014/main" val="3610237953"/>
                    </a:ext>
                  </a:extLst>
                </a:gridCol>
                <a:gridCol w="846094">
                  <a:extLst>
                    <a:ext uri="{9D8B030D-6E8A-4147-A177-3AD203B41FA5}">
                      <a16:colId xmlns:a16="http://schemas.microsoft.com/office/drawing/2014/main" val="4151211294"/>
                    </a:ext>
                  </a:extLst>
                </a:gridCol>
                <a:gridCol w="846094">
                  <a:extLst>
                    <a:ext uri="{9D8B030D-6E8A-4147-A177-3AD203B41FA5}">
                      <a16:colId xmlns:a16="http://schemas.microsoft.com/office/drawing/2014/main" val="2026975847"/>
                    </a:ext>
                  </a:extLst>
                </a:gridCol>
              </a:tblGrid>
              <a:tr h="373709">
                <a:tc>
                  <a:txBody>
                    <a:bodyPr/>
                    <a:lstStyle/>
                    <a:p>
                      <a:pPr algn="ctr"/>
                      <a:r>
                        <a:rPr lang="en-US" altLang="zh-CN" dirty="0">
                          <a:latin typeface="Times New Roman" panose="02020603050405020304" pitchFamily="18" charset="0"/>
                          <a:cs typeface="Times New Roman" panose="02020603050405020304" pitchFamily="18" charset="0"/>
                        </a:rPr>
                        <a:t>Nb</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C1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C2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C3</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6554734"/>
                  </a:ext>
                </a:extLst>
              </a:tr>
              <a:tr h="373709">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056580"/>
                  </a:ext>
                </a:extLst>
              </a:tr>
              <a:tr h="373709">
                <a:tc>
                  <a:txBody>
                    <a:bodyPr/>
                    <a:lstStyle/>
                    <a:p>
                      <a:pPr algn="ctr"/>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8108536"/>
                  </a:ext>
                </a:extLst>
              </a:tr>
              <a:tr h="373709">
                <a:tc>
                  <a:txBody>
                    <a:bodyPr/>
                    <a:lstStyle/>
                    <a:p>
                      <a:pPr algn="ctr"/>
                      <a:r>
                        <a:rPr lang="en-US" altLang="zh-CN" dirty="0">
                          <a:latin typeface="Times New Roman" panose="02020603050405020304" pitchFamily="18" charset="0"/>
                          <a:cs typeface="Times New Roman" panose="02020603050405020304" pitchFamily="18" charset="0"/>
                        </a:rPr>
                        <a:t>8</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1543467"/>
                  </a:ext>
                </a:extLst>
              </a:tr>
            </a:tbl>
          </a:graphicData>
        </a:graphic>
      </p:graphicFrame>
    </p:spTree>
    <p:extLst>
      <p:ext uri="{BB962C8B-B14F-4D97-AF65-F5344CB8AC3E}">
        <p14:creationId xmlns:p14="http://schemas.microsoft.com/office/powerpoint/2010/main" val="314615641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4" name="表格 6">
            <a:extLst>
              <a:ext uri="{FF2B5EF4-FFF2-40B4-BE49-F238E27FC236}">
                <a16:creationId xmlns:a16="http://schemas.microsoft.com/office/drawing/2014/main" id="{0989B1F6-AC14-48DC-8290-23985B9AEE63}"/>
              </a:ext>
            </a:extLst>
          </p:cNvPr>
          <p:cNvGraphicFramePr>
            <a:graphicFrameLocks noGrp="1"/>
          </p:cNvGraphicFramePr>
          <p:nvPr>
            <p:extLst>
              <p:ext uri="{D42A27DB-BD31-4B8C-83A1-F6EECF244321}">
                <p14:modId xmlns:p14="http://schemas.microsoft.com/office/powerpoint/2010/main" val="1710783576"/>
              </p:ext>
            </p:extLst>
          </p:nvPr>
        </p:nvGraphicFramePr>
        <p:xfrm>
          <a:off x="420375" y="1303022"/>
          <a:ext cx="3452754" cy="2877208"/>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00</a:t>
                      </a:r>
                      <a:endParaRPr lang="zh-CN" altLang="en-US" sz="2000" b="1" i="1" baseline="-25000"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01</a:t>
                      </a:r>
                      <a:endParaRPr lang="zh-CN" altLang="en-US" sz="2000" b="1" i="1" baseline="-25000"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rgbClr val="E7F1F9"/>
                    </a:solidFill>
                  </a:tcPr>
                </a:tc>
                <a:extLst>
                  <a:ext uri="{0D108BD9-81ED-4DB2-BD59-A6C34878D82A}">
                    <a16:rowId xmlns:a16="http://schemas.microsoft.com/office/drawing/2014/main" val="3104787533"/>
                  </a:ext>
                </a:extLst>
              </a:tr>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84900226"/>
                  </a:ext>
                </a:extLst>
              </a:tr>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69394170"/>
                  </a:ext>
                </a:extLst>
              </a:tr>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52631208"/>
                  </a:ext>
                </a:extLst>
              </a:tr>
            </a:tbl>
          </a:graphicData>
        </a:graphic>
      </p:graphicFrame>
      <p:graphicFrame>
        <p:nvGraphicFramePr>
          <p:cNvPr id="8" name="表格 6">
            <a:extLst>
              <a:ext uri="{FF2B5EF4-FFF2-40B4-BE49-F238E27FC236}">
                <a16:creationId xmlns:a16="http://schemas.microsoft.com/office/drawing/2014/main" id="{7A60661C-9CA2-44A9-8065-AC6DD7AE9443}"/>
              </a:ext>
            </a:extLst>
          </p:cNvPr>
          <p:cNvGraphicFramePr>
            <a:graphicFrameLocks noGrp="1"/>
          </p:cNvGraphicFramePr>
          <p:nvPr>
            <p:extLst>
              <p:ext uri="{D42A27DB-BD31-4B8C-83A1-F6EECF244321}">
                <p14:modId xmlns:p14="http://schemas.microsoft.com/office/powerpoint/2010/main" val="1212361013"/>
              </p:ext>
            </p:extLst>
          </p:nvPr>
        </p:nvGraphicFramePr>
        <p:xfrm>
          <a:off x="5436096" y="1308736"/>
          <a:ext cx="3452754" cy="719302"/>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00</a:t>
                      </a:r>
                      <a:endParaRPr lang="zh-CN" altLang="en-US" sz="2000" b="1" i="1" baseline="-25000"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01</a:t>
                      </a:r>
                      <a:endParaRPr lang="zh-CN" altLang="en-US" sz="2000" b="1" i="1" baseline="-25000"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05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extLst>
                  <a:ext uri="{0D108BD9-81ED-4DB2-BD59-A6C34878D82A}">
                    <a16:rowId xmlns:a16="http://schemas.microsoft.com/office/drawing/2014/main" val="3104787533"/>
                  </a:ext>
                </a:extLst>
              </a:tr>
            </a:tbl>
          </a:graphicData>
        </a:graphic>
      </p:graphicFrame>
      <p:sp>
        <p:nvSpPr>
          <p:cNvPr id="7" name="箭头: 右 6">
            <a:extLst>
              <a:ext uri="{FF2B5EF4-FFF2-40B4-BE49-F238E27FC236}">
                <a16:creationId xmlns:a16="http://schemas.microsoft.com/office/drawing/2014/main" id="{033C8CAB-F855-4856-992E-D34DEF59D7F2}"/>
              </a:ext>
            </a:extLst>
          </p:cNvPr>
          <p:cNvSpPr/>
          <p:nvPr/>
        </p:nvSpPr>
        <p:spPr>
          <a:xfrm>
            <a:off x="3923928" y="1635646"/>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左移</a:t>
            </a:r>
            <a:r>
              <a:rPr lang="en-US" altLang="zh-CN" sz="1400" b="1" dirty="0">
                <a:latin typeface="微软雅黑" panose="020B0503020204020204" pitchFamily="34" charset="-122"/>
                <a:ea typeface="微软雅黑" panose="020B0503020204020204" pitchFamily="34" charset="-122"/>
              </a:rPr>
              <a:t>0</a:t>
            </a:r>
            <a:r>
              <a:rPr lang="zh-CN" altLang="en-US" sz="1400" b="1" dirty="0">
                <a:latin typeface="微软雅黑" panose="020B0503020204020204" pitchFamily="34" charset="-122"/>
                <a:ea typeface="微软雅黑" panose="020B0503020204020204" pitchFamily="34" charset="-122"/>
              </a:rPr>
              <a:t>位</a:t>
            </a:r>
          </a:p>
        </p:txBody>
      </p:sp>
      <p:sp>
        <p:nvSpPr>
          <p:cNvPr id="10" name="箭头: 右 9">
            <a:extLst>
              <a:ext uri="{FF2B5EF4-FFF2-40B4-BE49-F238E27FC236}">
                <a16:creationId xmlns:a16="http://schemas.microsoft.com/office/drawing/2014/main" id="{3F72A8F6-C661-4D3E-B2B8-CA29C326DF16}"/>
              </a:ext>
            </a:extLst>
          </p:cNvPr>
          <p:cNvSpPr/>
          <p:nvPr/>
        </p:nvSpPr>
        <p:spPr>
          <a:xfrm>
            <a:off x="3900615" y="2283718"/>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左移</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位</a:t>
            </a:r>
          </a:p>
        </p:txBody>
      </p:sp>
      <p:sp>
        <p:nvSpPr>
          <p:cNvPr id="11" name="箭头: 右 10">
            <a:extLst>
              <a:ext uri="{FF2B5EF4-FFF2-40B4-BE49-F238E27FC236}">
                <a16:creationId xmlns:a16="http://schemas.microsoft.com/office/drawing/2014/main" id="{23F323F2-3C50-4A91-9050-C081AF6623B0}"/>
              </a:ext>
            </a:extLst>
          </p:cNvPr>
          <p:cNvSpPr/>
          <p:nvPr/>
        </p:nvSpPr>
        <p:spPr>
          <a:xfrm>
            <a:off x="3898776" y="3062123"/>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左移</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位</a:t>
            </a:r>
          </a:p>
        </p:txBody>
      </p:sp>
      <p:sp>
        <p:nvSpPr>
          <p:cNvPr id="12" name="箭头: 右 11">
            <a:extLst>
              <a:ext uri="{FF2B5EF4-FFF2-40B4-BE49-F238E27FC236}">
                <a16:creationId xmlns:a16="http://schemas.microsoft.com/office/drawing/2014/main" id="{FDB04358-F867-4A4B-A4D7-A2DC0262E3C1}"/>
              </a:ext>
            </a:extLst>
          </p:cNvPr>
          <p:cNvSpPr/>
          <p:nvPr/>
        </p:nvSpPr>
        <p:spPr>
          <a:xfrm>
            <a:off x="3894460" y="3696512"/>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rPr>
              <a:t>左移</a:t>
            </a:r>
            <a:r>
              <a:rPr lang="en-US" altLang="zh-CN" sz="1400" b="1" dirty="0">
                <a:latin typeface="微软雅黑" panose="020B0503020204020204" pitchFamily="34" charset="-122"/>
                <a:ea typeface="微软雅黑" panose="020B0503020204020204" pitchFamily="34" charset="-122"/>
              </a:rPr>
              <a:t>3</a:t>
            </a:r>
            <a:r>
              <a:rPr lang="zh-CN" altLang="en-US" sz="1400" b="1" dirty="0">
                <a:latin typeface="微软雅黑" panose="020B0503020204020204" pitchFamily="34" charset="-122"/>
                <a:ea typeface="微软雅黑" panose="020B0503020204020204" pitchFamily="34" charset="-122"/>
              </a:rPr>
              <a:t>位</a:t>
            </a:r>
          </a:p>
        </p:txBody>
      </p:sp>
      <p:graphicFrame>
        <p:nvGraphicFramePr>
          <p:cNvPr id="2" name="表格 6">
            <a:extLst>
              <a:ext uri="{FF2B5EF4-FFF2-40B4-BE49-F238E27FC236}">
                <a16:creationId xmlns:a16="http://schemas.microsoft.com/office/drawing/2014/main" id="{B2EAF3F0-DEBF-4E31-E6B8-B02BFF0C3117}"/>
              </a:ext>
            </a:extLst>
          </p:cNvPr>
          <p:cNvGraphicFramePr>
            <a:graphicFrameLocks noGrp="1"/>
          </p:cNvGraphicFramePr>
          <p:nvPr>
            <p:extLst>
              <p:ext uri="{D42A27DB-BD31-4B8C-83A1-F6EECF244321}">
                <p14:modId xmlns:p14="http://schemas.microsoft.com/office/powerpoint/2010/main" val="2247850945"/>
              </p:ext>
            </p:extLst>
          </p:nvPr>
        </p:nvGraphicFramePr>
        <p:xfrm>
          <a:off x="5436096" y="2028038"/>
          <a:ext cx="3452754" cy="719302"/>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10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extLst>
                  <a:ext uri="{0D108BD9-81ED-4DB2-BD59-A6C34878D82A}">
                    <a16:rowId xmlns:a16="http://schemas.microsoft.com/office/drawing/2014/main" val="3784900226"/>
                  </a:ext>
                </a:extLst>
              </a:tr>
            </a:tbl>
          </a:graphicData>
        </a:graphic>
      </p:graphicFrame>
      <p:graphicFrame>
        <p:nvGraphicFramePr>
          <p:cNvPr id="5" name="表格 6">
            <a:extLst>
              <a:ext uri="{FF2B5EF4-FFF2-40B4-BE49-F238E27FC236}">
                <a16:creationId xmlns:a16="http://schemas.microsoft.com/office/drawing/2014/main" id="{B276EF74-43A8-C6BE-445A-D32CE1CFB753}"/>
              </a:ext>
            </a:extLst>
          </p:cNvPr>
          <p:cNvGraphicFramePr>
            <a:graphicFrameLocks noGrp="1"/>
          </p:cNvGraphicFramePr>
          <p:nvPr>
            <p:extLst>
              <p:ext uri="{D42A27DB-BD31-4B8C-83A1-F6EECF244321}">
                <p14:modId xmlns:p14="http://schemas.microsoft.com/office/powerpoint/2010/main" val="1522430164"/>
              </p:ext>
            </p:extLst>
          </p:nvPr>
        </p:nvGraphicFramePr>
        <p:xfrm>
          <a:off x="5436096" y="2747340"/>
          <a:ext cx="3452754" cy="719302"/>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21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20000"/>
                        <a:lumOff val="80000"/>
                      </a:schemeClr>
                    </a:solidFill>
                  </a:tcPr>
                </a:tc>
                <a:extLst>
                  <a:ext uri="{0D108BD9-81ED-4DB2-BD59-A6C34878D82A}">
                    <a16:rowId xmlns:a16="http://schemas.microsoft.com/office/drawing/2014/main" val="1969394170"/>
                  </a:ext>
                </a:extLst>
              </a:tr>
            </a:tbl>
          </a:graphicData>
        </a:graphic>
      </p:graphicFrame>
      <p:graphicFrame>
        <p:nvGraphicFramePr>
          <p:cNvPr id="6" name="表格 6">
            <a:extLst>
              <a:ext uri="{FF2B5EF4-FFF2-40B4-BE49-F238E27FC236}">
                <a16:creationId xmlns:a16="http://schemas.microsoft.com/office/drawing/2014/main" id="{D005C8FF-A634-45C8-E010-1899C1225922}"/>
              </a:ext>
            </a:extLst>
          </p:cNvPr>
          <p:cNvGraphicFramePr>
            <a:graphicFrameLocks noGrp="1"/>
          </p:cNvGraphicFramePr>
          <p:nvPr>
            <p:extLst>
              <p:ext uri="{D42A27DB-BD31-4B8C-83A1-F6EECF244321}">
                <p14:modId xmlns:p14="http://schemas.microsoft.com/office/powerpoint/2010/main" val="2750529310"/>
              </p:ext>
            </p:extLst>
          </p:nvPr>
        </p:nvGraphicFramePr>
        <p:xfrm>
          <a:off x="5436096" y="3466642"/>
          <a:ext cx="3452754" cy="719302"/>
        </p:xfrm>
        <a:graphic>
          <a:graphicData uri="http://schemas.openxmlformats.org/drawingml/2006/table">
            <a:tbl>
              <a:tblPr firstRow="1" bandRow="1">
                <a:tableStyleId>{5C22544A-7EE6-4342-B048-85BDC9FD1C3A}</a:tableStyleId>
              </a:tblPr>
              <a:tblGrid>
                <a:gridCol w="575459">
                  <a:extLst>
                    <a:ext uri="{9D8B030D-6E8A-4147-A177-3AD203B41FA5}">
                      <a16:colId xmlns:a16="http://schemas.microsoft.com/office/drawing/2014/main" val="2302147897"/>
                    </a:ext>
                  </a:extLst>
                </a:gridCol>
                <a:gridCol w="575459">
                  <a:extLst>
                    <a:ext uri="{9D8B030D-6E8A-4147-A177-3AD203B41FA5}">
                      <a16:colId xmlns:a16="http://schemas.microsoft.com/office/drawing/2014/main" val="3865682362"/>
                    </a:ext>
                  </a:extLst>
                </a:gridCol>
                <a:gridCol w="575459">
                  <a:extLst>
                    <a:ext uri="{9D8B030D-6E8A-4147-A177-3AD203B41FA5}">
                      <a16:colId xmlns:a16="http://schemas.microsoft.com/office/drawing/2014/main" val="2635100323"/>
                    </a:ext>
                  </a:extLst>
                </a:gridCol>
                <a:gridCol w="575459">
                  <a:extLst>
                    <a:ext uri="{9D8B030D-6E8A-4147-A177-3AD203B41FA5}">
                      <a16:colId xmlns:a16="http://schemas.microsoft.com/office/drawing/2014/main" val="2217226815"/>
                    </a:ext>
                  </a:extLst>
                </a:gridCol>
                <a:gridCol w="575459">
                  <a:extLst>
                    <a:ext uri="{9D8B030D-6E8A-4147-A177-3AD203B41FA5}">
                      <a16:colId xmlns:a16="http://schemas.microsoft.com/office/drawing/2014/main" val="2208462173"/>
                    </a:ext>
                  </a:extLst>
                </a:gridCol>
                <a:gridCol w="575459">
                  <a:extLst>
                    <a:ext uri="{9D8B030D-6E8A-4147-A177-3AD203B41FA5}">
                      <a16:colId xmlns:a16="http://schemas.microsoft.com/office/drawing/2014/main" val="404630368"/>
                    </a:ext>
                  </a:extLst>
                </a:gridCol>
              </a:tblGrid>
              <a:tr h="719302">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33</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34</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35</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30</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31</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tc>
                  <a:txBody>
                    <a:bodyPr/>
                    <a:lstStyle/>
                    <a:p>
                      <a:pPr algn="ctr"/>
                      <a:r>
                        <a:rPr lang="en-US" altLang="zh-CN" sz="2000" b="1" i="1" dirty="0">
                          <a:solidFill>
                            <a:schemeClr val="tx1"/>
                          </a:solidFill>
                          <a:latin typeface="Times New Roman" panose="02020603050405020304" pitchFamily="18" charset="0"/>
                          <a:cs typeface="Times New Roman" panose="02020603050405020304" pitchFamily="18" charset="0"/>
                        </a:rPr>
                        <a:t>a</a:t>
                      </a:r>
                      <a:r>
                        <a:rPr lang="en-US" altLang="zh-CN" sz="2000" b="1" i="1" baseline="-25000" dirty="0">
                          <a:solidFill>
                            <a:schemeClr val="tx1"/>
                          </a:solidFill>
                          <a:latin typeface="Times New Roman" panose="02020603050405020304" pitchFamily="18" charset="0"/>
                          <a:cs typeface="Times New Roman" panose="02020603050405020304" pitchFamily="18" charset="0"/>
                        </a:rPr>
                        <a:t>32</a:t>
                      </a:r>
                      <a:endParaRPr lang="zh-CN" altLang="en-US" sz="2000" b="1" i="1" dirty="0">
                        <a:solidFill>
                          <a:schemeClr val="tx1"/>
                        </a:solidFill>
                        <a:latin typeface="Times New Roman" panose="02020603050405020304" pitchFamily="18" charset="0"/>
                        <a:cs typeface="Times New Roman" panose="02020603050405020304" pitchFamily="18" charset="0"/>
                      </a:endParaRPr>
                    </a:p>
                  </a:txBody>
                  <a:tcPr anchor="ctr">
                    <a:solidFill>
                      <a:schemeClr val="accent1">
                        <a:lumMod val="60000"/>
                        <a:lumOff val="40000"/>
                      </a:schemeClr>
                    </a:solidFill>
                  </a:tcPr>
                </a:tc>
                <a:extLst>
                  <a:ext uri="{0D108BD9-81ED-4DB2-BD59-A6C34878D82A}">
                    <a16:rowId xmlns:a16="http://schemas.microsoft.com/office/drawing/2014/main" val="2352631208"/>
                  </a:ext>
                </a:extLst>
              </a:tr>
            </a:tbl>
          </a:graphicData>
        </a:graphic>
      </p:graphicFrame>
    </p:spTree>
    <p:extLst>
      <p:ext uri="{BB962C8B-B14F-4D97-AF65-F5344CB8AC3E}">
        <p14:creationId xmlns:p14="http://schemas.microsoft.com/office/powerpoint/2010/main" val="390100694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10" grpId="0" animBg="1"/>
      <p:bldP spid="11" grpId="0" animBg="1"/>
      <p:bldP spid="1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5356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例如当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Nb=4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时，具体的操作如下：</a:t>
            </a: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4" name="表格 5">
            <a:extLst>
              <a:ext uri="{FF2B5EF4-FFF2-40B4-BE49-F238E27FC236}">
                <a16:creationId xmlns:a16="http://schemas.microsoft.com/office/drawing/2014/main" id="{65781304-74E2-4A99-A97C-E1D8A6B4C240}"/>
              </a:ext>
            </a:extLst>
          </p:cNvPr>
          <p:cNvGraphicFramePr>
            <a:graphicFrameLocks noGrp="1"/>
          </p:cNvGraphicFramePr>
          <p:nvPr>
            <p:extLst>
              <p:ext uri="{D42A27DB-BD31-4B8C-83A1-F6EECF244321}">
                <p14:modId xmlns:p14="http://schemas.microsoft.com/office/powerpoint/2010/main" val="2582537599"/>
              </p:ext>
            </p:extLst>
          </p:nvPr>
        </p:nvGraphicFramePr>
        <p:xfrm>
          <a:off x="755576" y="1216047"/>
          <a:ext cx="2543944" cy="2292328"/>
        </p:xfrm>
        <a:graphic>
          <a:graphicData uri="http://schemas.openxmlformats.org/drawingml/2006/table">
            <a:tbl>
              <a:tblPr firstRow="1" bandRow="1">
                <a:tableStyleId>{5C22544A-7EE6-4342-B048-85BDC9FD1C3A}</a:tableStyleId>
              </a:tblPr>
              <a:tblGrid>
                <a:gridCol w="635986">
                  <a:extLst>
                    <a:ext uri="{9D8B030D-6E8A-4147-A177-3AD203B41FA5}">
                      <a16:colId xmlns:a16="http://schemas.microsoft.com/office/drawing/2014/main" val="1399258209"/>
                    </a:ext>
                  </a:extLst>
                </a:gridCol>
                <a:gridCol w="635986">
                  <a:extLst>
                    <a:ext uri="{9D8B030D-6E8A-4147-A177-3AD203B41FA5}">
                      <a16:colId xmlns:a16="http://schemas.microsoft.com/office/drawing/2014/main" val="3619478621"/>
                    </a:ext>
                  </a:extLst>
                </a:gridCol>
                <a:gridCol w="635986">
                  <a:extLst>
                    <a:ext uri="{9D8B030D-6E8A-4147-A177-3AD203B41FA5}">
                      <a16:colId xmlns:a16="http://schemas.microsoft.com/office/drawing/2014/main" val="3270356976"/>
                    </a:ext>
                  </a:extLst>
                </a:gridCol>
                <a:gridCol w="635986">
                  <a:extLst>
                    <a:ext uri="{9D8B030D-6E8A-4147-A177-3AD203B41FA5}">
                      <a16:colId xmlns:a16="http://schemas.microsoft.com/office/drawing/2014/main" val="321494003"/>
                    </a:ext>
                  </a:extLst>
                </a:gridCol>
              </a:tblGrid>
              <a:tr h="573082">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573082">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573082">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573082">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3,0</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3,1</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3,2</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3,3</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graphicFrame>
        <p:nvGraphicFramePr>
          <p:cNvPr id="7" name="表格 5">
            <a:extLst>
              <a:ext uri="{FF2B5EF4-FFF2-40B4-BE49-F238E27FC236}">
                <a16:creationId xmlns:a16="http://schemas.microsoft.com/office/drawing/2014/main" id="{672F8236-4328-48D5-BE0D-F67522769815}"/>
              </a:ext>
            </a:extLst>
          </p:cNvPr>
          <p:cNvGraphicFramePr>
            <a:graphicFrameLocks noGrp="1"/>
          </p:cNvGraphicFramePr>
          <p:nvPr>
            <p:extLst>
              <p:ext uri="{D42A27DB-BD31-4B8C-83A1-F6EECF244321}">
                <p14:modId xmlns:p14="http://schemas.microsoft.com/office/powerpoint/2010/main" val="3696604350"/>
              </p:ext>
            </p:extLst>
          </p:nvPr>
        </p:nvGraphicFramePr>
        <p:xfrm>
          <a:off x="6156176" y="1203597"/>
          <a:ext cx="2543944" cy="2304776"/>
        </p:xfrm>
        <a:graphic>
          <a:graphicData uri="http://schemas.openxmlformats.org/drawingml/2006/table">
            <a:tbl>
              <a:tblPr firstRow="1" bandRow="1">
                <a:tableStyleId>{5C22544A-7EE6-4342-B048-85BDC9FD1C3A}</a:tableStyleId>
              </a:tblPr>
              <a:tblGrid>
                <a:gridCol w="635986">
                  <a:extLst>
                    <a:ext uri="{9D8B030D-6E8A-4147-A177-3AD203B41FA5}">
                      <a16:colId xmlns:a16="http://schemas.microsoft.com/office/drawing/2014/main" val="1399258209"/>
                    </a:ext>
                  </a:extLst>
                </a:gridCol>
                <a:gridCol w="635986">
                  <a:extLst>
                    <a:ext uri="{9D8B030D-6E8A-4147-A177-3AD203B41FA5}">
                      <a16:colId xmlns:a16="http://schemas.microsoft.com/office/drawing/2014/main" val="3619478621"/>
                    </a:ext>
                  </a:extLst>
                </a:gridCol>
                <a:gridCol w="635986">
                  <a:extLst>
                    <a:ext uri="{9D8B030D-6E8A-4147-A177-3AD203B41FA5}">
                      <a16:colId xmlns:a16="http://schemas.microsoft.com/office/drawing/2014/main" val="3270356976"/>
                    </a:ext>
                  </a:extLst>
                </a:gridCol>
                <a:gridCol w="635986">
                  <a:extLst>
                    <a:ext uri="{9D8B030D-6E8A-4147-A177-3AD203B41FA5}">
                      <a16:colId xmlns:a16="http://schemas.microsoft.com/office/drawing/2014/main" val="321494003"/>
                    </a:ext>
                  </a:extLst>
                </a:gridCol>
              </a:tblGrid>
              <a:tr h="576194">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0,3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576194">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1,0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576194">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2,0</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2,1</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576194">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3,3</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3,0</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3,1</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S</a:t>
                      </a:r>
                      <a:r>
                        <a:rPr lang="en-US" altLang="zh-CN" b="1" i="1" baseline="-25000" dirty="0">
                          <a:solidFill>
                            <a:schemeClr val="tx1"/>
                          </a:solidFill>
                          <a:latin typeface="Times New Roman" panose="02020603050405020304" pitchFamily="18" charset="0"/>
                          <a:cs typeface="Times New Roman" panose="02020603050405020304" pitchFamily="18" charset="0"/>
                        </a:rPr>
                        <a:t>3,2</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graphicFrame>
        <p:nvGraphicFramePr>
          <p:cNvPr id="6" name="表格 7">
            <a:extLst>
              <a:ext uri="{FF2B5EF4-FFF2-40B4-BE49-F238E27FC236}">
                <a16:creationId xmlns:a16="http://schemas.microsoft.com/office/drawing/2014/main" id="{8CB684F5-F62C-4EB7-BD80-E80DDED1B0E5}"/>
              </a:ext>
            </a:extLst>
          </p:cNvPr>
          <p:cNvGraphicFramePr>
            <a:graphicFrameLocks noGrp="1"/>
          </p:cNvGraphicFramePr>
          <p:nvPr>
            <p:extLst>
              <p:ext uri="{D42A27DB-BD31-4B8C-83A1-F6EECF244321}">
                <p14:modId xmlns:p14="http://schemas.microsoft.com/office/powerpoint/2010/main" val="3487945557"/>
              </p:ext>
            </p:extLst>
          </p:nvPr>
        </p:nvGraphicFramePr>
        <p:xfrm>
          <a:off x="3887924" y="1756958"/>
          <a:ext cx="1679848" cy="365760"/>
        </p:xfrm>
        <a:graphic>
          <a:graphicData uri="http://schemas.openxmlformats.org/drawingml/2006/table">
            <a:tbl>
              <a:tblPr firstRow="1" bandRow="1">
                <a:tableStyleId>{5C22544A-7EE6-4342-B048-85BDC9FD1C3A}</a:tableStyleId>
              </a:tblPr>
              <a:tblGrid>
                <a:gridCol w="419962">
                  <a:extLst>
                    <a:ext uri="{9D8B030D-6E8A-4147-A177-3AD203B41FA5}">
                      <a16:colId xmlns:a16="http://schemas.microsoft.com/office/drawing/2014/main" val="174197149"/>
                    </a:ext>
                  </a:extLst>
                </a:gridCol>
                <a:gridCol w="419962">
                  <a:extLst>
                    <a:ext uri="{9D8B030D-6E8A-4147-A177-3AD203B41FA5}">
                      <a16:colId xmlns:a16="http://schemas.microsoft.com/office/drawing/2014/main" val="3865874732"/>
                    </a:ext>
                  </a:extLst>
                </a:gridCol>
                <a:gridCol w="419962">
                  <a:extLst>
                    <a:ext uri="{9D8B030D-6E8A-4147-A177-3AD203B41FA5}">
                      <a16:colId xmlns:a16="http://schemas.microsoft.com/office/drawing/2014/main" val="3870136711"/>
                    </a:ext>
                  </a:extLst>
                </a:gridCol>
                <a:gridCol w="419962">
                  <a:extLst>
                    <a:ext uri="{9D8B030D-6E8A-4147-A177-3AD203B41FA5}">
                      <a16:colId xmlns:a16="http://schemas.microsoft.com/office/drawing/2014/main" val="2413432234"/>
                    </a:ext>
                  </a:extLst>
                </a:gridCol>
              </a:tblGrid>
              <a:tr h="23758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endParaRPr lang="zh-CN" altLang="en-US" sz="1200"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extLst>
                  <a:ext uri="{0D108BD9-81ED-4DB2-BD59-A6C34878D82A}">
                    <a16:rowId xmlns:a16="http://schemas.microsoft.com/office/drawing/2014/main" val="816932131"/>
                  </a:ext>
                </a:extLst>
              </a:tr>
            </a:tbl>
          </a:graphicData>
        </a:graphic>
      </p:graphicFrame>
      <p:graphicFrame>
        <p:nvGraphicFramePr>
          <p:cNvPr id="9" name="表格 7">
            <a:extLst>
              <a:ext uri="{FF2B5EF4-FFF2-40B4-BE49-F238E27FC236}">
                <a16:creationId xmlns:a16="http://schemas.microsoft.com/office/drawing/2014/main" id="{3B7AE9E2-4F48-4613-944C-5D7EBA2C08AE}"/>
              </a:ext>
            </a:extLst>
          </p:cNvPr>
          <p:cNvGraphicFramePr>
            <a:graphicFrameLocks noGrp="1"/>
          </p:cNvGraphicFramePr>
          <p:nvPr>
            <p:extLst>
              <p:ext uri="{D42A27DB-BD31-4B8C-83A1-F6EECF244321}">
                <p14:modId xmlns:p14="http://schemas.microsoft.com/office/powerpoint/2010/main" val="1315494675"/>
              </p:ext>
            </p:extLst>
          </p:nvPr>
        </p:nvGraphicFramePr>
        <p:xfrm>
          <a:off x="3887924" y="2502618"/>
          <a:ext cx="1679848" cy="365760"/>
        </p:xfrm>
        <a:graphic>
          <a:graphicData uri="http://schemas.openxmlformats.org/drawingml/2006/table">
            <a:tbl>
              <a:tblPr firstRow="1" bandRow="1">
                <a:tableStyleId>{5C22544A-7EE6-4342-B048-85BDC9FD1C3A}</a:tableStyleId>
              </a:tblPr>
              <a:tblGrid>
                <a:gridCol w="419962">
                  <a:extLst>
                    <a:ext uri="{9D8B030D-6E8A-4147-A177-3AD203B41FA5}">
                      <a16:colId xmlns:a16="http://schemas.microsoft.com/office/drawing/2014/main" val="174197149"/>
                    </a:ext>
                  </a:extLst>
                </a:gridCol>
                <a:gridCol w="419962">
                  <a:extLst>
                    <a:ext uri="{9D8B030D-6E8A-4147-A177-3AD203B41FA5}">
                      <a16:colId xmlns:a16="http://schemas.microsoft.com/office/drawing/2014/main" val="3865874732"/>
                    </a:ext>
                  </a:extLst>
                </a:gridCol>
                <a:gridCol w="419962">
                  <a:extLst>
                    <a:ext uri="{9D8B030D-6E8A-4147-A177-3AD203B41FA5}">
                      <a16:colId xmlns:a16="http://schemas.microsoft.com/office/drawing/2014/main" val="3870136711"/>
                    </a:ext>
                  </a:extLst>
                </a:gridCol>
                <a:gridCol w="419962">
                  <a:extLst>
                    <a:ext uri="{9D8B030D-6E8A-4147-A177-3AD203B41FA5}">
                      <a16:colId xmlns:a16="http://schemas.microsoft.com/office/drawing/2014/main" val="2413432234"/>
                    </a:ext>
                  </a:extLst>
                </a:gridCol>
              </a:tblGrid>
              <a:tr h="237580">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endParaRPr lang="zh-CN" alt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816932131"/>
                  </a:ext>
                </a:extLst>
              </a:tr>
            </a:tbl>
          </a:graphicData>
        </a:graphic>
      </p:graphicFrame>
      <p:graphicFrame>
        <p:nvGraphicFramePr>
          <p:cNvPr id="10" name="表格 7">
            <a:extLst>
              <a:ext uri="{FF2B5EF4-FFF2-40B4-BE49-F238E27FC236}">
                <a16:creationId xmlns:a16="http://schemas.microsoft.com/office/drawing/2014/main" id="{0980D766-8457-46BF-95DE-5310FD4CD99A}"/>
              </a:ext>
            </a:extLst>
          </p:cNvPr>
          <p:cNvGraphicFramePr>
            <a:graphicFrameLocks noGrp="1"/>
          </p:cNvGraphicFramePr>
          <p:nvPr>
            <p:extLst>
              <p:ext uri="{D42A27DB-BD31-4B8C-83A1-F6EECF244321}">
                <p14:modId xmlns:p14="http://schemas.microsoft.com/office/powerpoint/2010/main" val="2243400668"/>
              </p:ext>
            </p:extLst>
          </p:nvPr>
        </p:nvGraphicFramePr>
        <p:xfrm>
          <a:off x="3887924" y="3199586"/>
          <a:ext cx="1679848" cy="365760"/>
        </p:xfrm>
        <a:graphic>
          <a:graphicData uri="http://schemas.openxmlformats.org/drawingml/2006/table">
            <a:tbl>
              <a:tblPr firstRow="1" bandRow="1">
                <a:tableStyleId>{5C22544A-7EE6-4342-B048-85BDC9FD1C3A}</a:tableStyleId>
              </a:tblPr>
              <a:tblGrid>
                <a:gridCol w="419962">
                  <a:extLst>
                    <a:ext uri="{9D8B030D-6E8A-4147-A177-3AD203B41FA5}">
                      <a16:colId xmlns:a16="http://schemas.microsoft.com/office/drawing/2014/main" val="174197149"/>
                    </a:ext>
                  </a:extLst>
                </a:gridCol>
                <a:gridCol w="419962">
                  <a:extLst>
                    <a:ext uri="{9D8B030D-6E8A-4147-A177-3AD203B41FA5}">
                      <a16:colId xmlns:a16="http://schemas.microsoft.com/office/drawing/2014/main" val="3865874732"/>
                    </a:ext>
                  </a:extLst>
                </a:gridCol>
                <a:gridCol w="419962">
                  <a:extLst>
                    <a:ext uri="{9D8B030D-6E8A-4147-A177-3AD203B41FA5}">
                      <a16:colId xmlns:a16="http://schemas.microsoft.com/office/drawing/2014/main" val="3870136711"/>
                    </a:ext>
                  </a:extLst>
                </a:gridCol>
                <a:gridCol w="419962">
                  <a:extLst>
                    <a:ext uri="{9D8B030D-6E8A-4147-A177-3AD203B41FA5}">
                      <a16:colId xmlns:a16="http://schemas.microsoft.com/office/drawing/2014/main" val="2413432234"/>
                    </a:ext>
                  </a:extLst>
                </a:gridCol>
              </a:tblGrid>
              <a:tr h="237580">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tc>
                  <a:txBody>
                    <a:bodyPr/>
                    <a:lstStyle/>
                    <a:p>
                      <a:endParaRPr lang="zh-CN" altLang="en-US"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CCE2F2"/>
                    </a:solidFill>
                  </a:tcPr>
                </a:tc>
                <a:extLst>
                  <a:ext uri="{0D108BD9-81ED-4DB2-BD59-A6C34878D82A}">
                    <a16:rowId xmlns:a16="http://schemas.microsoft.com/office/drawing/2014/main" val="816932131"/>
                  </a:ext>
                </a:extLst>
              </a:tr>
            </a:tbl>
          </a:graphicData>
        </a:graphic>
      </p:graphicFrame>
      <p:sp>
        <p:nvSpPr>
          <p:cNvPr id="35" name="文本框 34">
            <a:extLst>
              <a:ext uri="{FF2B5EF4-FFF2-40B4-BE49-F238E27FC236}">
                <a16:creationId xmlns:a16="http://schemas.microsoft.com/office/drawing/2014/main" id="{51AB9384-7380-4306-AC89-F775D1638B13}"/>
              </a:ext>
            </a:extLst>
          </p:cNvPr>
          <p:cNvSpPr txBox="1"/>
          <p:nvPr/>
        </p:nvSpPr>
        <p:spPr>
          <a:xfrm>
            <a:off x="4114800" y="2739258"/>
            <a:ext cx="914400" cy="369332"/>
          </a:xfrm>
          <a:prstGeom prst="rect">
            <a:avLst/>
          </a:prstGeom>
          <a:noFill/>
        </p:spPr>
        <p:txBody>
          <a:bodyPr wrap="square" rtlCol="0">
            <a:spAutoFit/>
          </a:bodyPr>
          <a:lstStyle/>
          <a:p>
            <a:r>
              <a:rPr lang="en-US" altLang="zh-CN" dirty="0"/>
              <a:t>`</a:t>
            </a:r>
            <a:endParaRPr lang="zh-CN" altLang="en-US" dirty="0"/>
          </a:p>
        </p:txBody>
      </p:sp>
      <p:sp>
        <p:nvSpPr>
          <p:cNvPr id="39" name="弧形 38">
            <a:extLst>
              <a:ext uri="{FF2B5EF4-FFF2-40B4-BE49-F238E27FC236}">
                <a16:creationId xmlns:a16="http://schemas.microsoft.com/office/drawing/2014/main" id="{E02DBAC7-1B38-431F-AD12-E5E1726F33E6}"/>
              </a:ext>
            </a:extLst>
          </p:cNvPr>
          <p:cNvSpPr/>
          <p:nvPr/>
        </p:nvSpPr>
        <p:spPr>
          <a:xfrm rot="18900000">
            <a:off x="3636016" y="1404000"/>
            <a:ext cx="2160000" cy="2160000"/>
          </a:xfrm>
          <a:prstGeom prst="arc">
            <a:avLst/>
          </a:prstGeom>
          <a:ln w="22225">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弧形 39">
            <a:extLst>
              <a:ext uri="{FF2B5EF4-FFF2-40B4-BE49-F238E27FC236}">
                <a16:creationId xmlns:a16="http://schemas.microsoft.com/office/drawing/2014/main" id="{84B997A4-8241-4837-B93D-99A1FF1F8390}"/>
              </a:ext>
            </a:extLst>
          </p:cNvPr>
          <p:cNvSpPr/>
          <p:nvPr/>
        </p:nvSpPr>
        <p:spPr>
          <a:xfrm rot="2700000" flipH="1">
            <a:off x="4853939" y="1669910"/>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弧形 43">
            <a:extLst>
              <a:ext uri="{FF2B5EF4-FFF2-40B4-BE49-F238E27FC236}">
                <a16:creationId xmlns:a16="http://schemas.microsoft.com/office/drawing/2014/main" id="{A6F03095-4D2F-4FFA-8142-17256AFF8D0B}"/>
              </a:ext>
            </a:extLst>
          </p:cNvPr>
          <p:cNvSpPr/>
          <p:nvPr/>
        </p:nvSpPr>
        <p:spPr>
          <a:xfrm rot="2700000" flipH="1">
            <a:off x="4456450" y="1669911"/>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弧形 44">
            <a:extLst>
              <a:ext uri="{FF2B5EF4-FFF2-40B4-BE49-F238E27FC236}">
                <a16:creationId xmlns:a16="http://schemas.microsoft.com/office/drawing/2014/main" id="{DC3B43F5-C07B-445B-9B31-A38A4F8BB505}"/>
              </a:ext>
            </a:extLst>
          </p:cNvPr>
          <p:cNvSpPr/>
          <p:nvPr/>
        </p:nvSpPr>
        <p:spPr>
          <a:xfrm rot="2700000" flipH="1">
            <a:off x="3998783" y="1666086"/>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弧形 45">
            <a:extLst>
              <a:ext uri="{FF2B5EF4-FFF2-40B4-BE49-F238E27FC236}">
                <a16:creationId xmlns:a16="http://schemas.microsoft.com/office/drawing/2014/main" id="{183BB96A-E5ED-49C1-8AF5-AF0E8BA8379C}"/>
              </a:ext>
            </a:extLst>
          </p:cNvPr>
          <p:cNvSpPr/>
          <p:nvPr/>
        </p:nvSpPr>
        <p:spPr>
          <a:xfrm rot="2700000" flipH="1">
            <a:off x="4355185" y="2324335"/>
            <a:ext cx="1224000" cy="1224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弧形 46">
            <a:extLst>
              <a:ext uri="{FF2B5EF4-FFF2-40B4-BE49-F238E27FC236}">
                <a16:creationId xmlns:a16="http://schemas.microsoft.com/office/drawing/2014/main" id="{F1CCB9BC-5A3F-4D88-AAA2-2FEA1A33FB74}"/>
              </a:ext>
            </a:extLst>
          </p:cNvPr>
          <p:cNvSpPr/>
          <p:nvPr/>
        </p:nvSpPr>
        <p:spPr>
          <a:xfrm rot="2700000" flipH="1">
            <a:off x="3907156" y="2311923"/>
            <a:ext cx="1224000" cy="1224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弧形 47">
            <a:extLst>
              <a:ext uri="{FF2B5EF4-FFF2-40B4-BE49-F238E27FC236}">
                <a16:creationId xmlns:a16="http://schemas.microsoft.com/office/drawing/2014/main" id="{6E4DC866-9E1F-4806-A3C6-E4A1CF099257}"/>
              </a:ext>
            </a:extLst>
          </p:cNvPr>
          <p:cNvSpPr/>
          <p:nvPr/>
        </p:nvSpPr>
        <p:spPr>
          <a:xfrm rot="2700000" flipV="1">
            <a:off x="3870067" y="1841484"/>
            <a:ext cx="1224000" cy="1224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弧形 48">
            <a:extLst>
              <a:ext uri="{FF2B5EF4-FFF2-40B4-BE49-F238E27FC236}">
                <a16:creationId xmlns:a16="http://schemas.microsoft.com/office/drawing/2014/main" id="{58D50CEB-37AF-4081-8289-66C535804C06}"/>
              </a:ext>
            </a:extLst>
          </p:cNvPr>
          <p:cNvSpPr/>
          <p:nvPr/>
        </p:nvSpPr>
        <p:spPr>
          <a:xfrm rot="2700000" flipV="1">
            <a:off x="4415362" y="1819342"/>
            <a:ext cx="1224000" cy="1224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 name="弧形 49">
            <a:extLst>
              <a:ext uri="{FF2B5EF4-FFF2-40B4-BE49-F238E27FC236}">
                <a16:creationId xmlns:a16="http://schemas.microsoft.com/office/drawing/2014/main" id="{85958DBD-6884-4FBF-A51F-B3698F6DFF29}"/>
              </a:ext>
            </a:extLst>
          </p:cNvPr>
          <p:cNvSpPr/>
          <p:nvPr/>
        </p:nvSpPr>
        <p:spPr>
          <a:xfrm rot="18900000" flipH="1" flipV="1">
            <a:off x="3682450" y="1735469"/>
            <a:ext cx="2160000" cy="2160000"/>
          </a:xfrm>
          <a:prstGeom prst="arc">
            <a:avLst/>
          </a:prstGeom>
          <a:ln w="22225">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1" name="弧形 50">
            <a:extLst>
              <a:ext uri="{FF2B5EF4-FFF2-40B4-BE49-F238E27FC236}">
                <a16:creationId xmlns:a16="http://schemas.microsoft.com/office/drawing/2014/main" id="{4EF3189A-9344-416A-8993-2068D748BCAE}"/>
              </a:ext>
            </a:extLst>
          </p:cNvPr>
          <p:cNvSpPr/>
          <p:nvPr/>
        </p:nvSpPr>
        <p:spPr>
          <a:xfrm rot="2700000" flipV="1">
            <a:off x="4068596" y="3062912"/>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弧形 51">
            <a:extLst>
              <a:ext uri="{FF2B5EF4-FFF2-40B4-BE49-F238E27FC236}">
                <a16:creationId xmlns:a16="http://schemas.microsoft.com/office/drawing/2014/main" id="{42743124-9029-4710-BF5E-CAA7A20E4784}"/>
              </a:ext>
            </a:extLst>
          </p:cNvPr>
          <p:cNvSpPr/>
          <p:nvPr/>
        </p:nvSpPr>
        <p:spPr>
          <a:xfrm rot="2700000" flipV="1">
            <a:off x="4513164" y="3076172"/>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弧形 52">
            <a:extLst>
              <a:ext uri="{FF2B5EF4-FFF2-40B4-BE49-F238E27FC236}">
                <a16:creationId xmlns:a16="http://schemas.microsoft.com/office/drawing/2014/main" id="{C2FB2FAB-9415-4DD0-B53A-D26B17C489DF}"/>
              </a:ext>
            </a:extLst>
          </p:cNvPr>
          <p:cNvSpPr/>
          <p:nvPr/>
        </p:nvSpPr>
        <p:spPr>
          <a:xfrm rot="2700000" flipV="1">
            <a:off x="4945914" y="3057406"/>
            <a:ext cx="612000" cy="612000"/>
          </a:xfrm>
          <a:prstGeom prst="arc">
            <a:avLst/>
          </a:pr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5" name="直接箭头连接符 54">
            <a:extLst>
              <a:ext uri="{FF2B5EF4-FFF2-40B4-BE49-F238E27FC236}">
                <a16:creationId xmlns:a16="http://schemas.microsoft.com/office/drawing/2014/main" id="{B26328DA-C0BA-455B-B654-CFC245B2BBE1}"/>
              </a:ext>
            </a:extLst>
          </p:cNvPr>
          <p:cNvCxnSpPr>
            <a:endCxn id="6" idx="1"/>
          </p:cNvCxnSpPr>
          <p:nvPr/>
        </p:nvCxnSpPr>
        <p:spPr>
          <a:xfrm flipV="1">
            <a:off x="3299520" y="1939838"/>
            <a:ext cx="588404" cy="9790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FB60751F-8C1F-41E0-9E8D-3EEE88BB1058}"/>
              </a:ext>
            </a:extLst>
          </p:cNvPr>
          <p:cNvCxnSpPr>
            <a:cxnSpLocks/>
            <a:endCxn id="9" idx="1"/>
          </p:cNvCxnSpPr>
          <p:nvPr/>
        </p:nvCxnSpPr>
        <p:spPr>
          <a:xfrm>
            <a:off x="3310631" y="2670050"/>
            <a:ext cx="57729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E08CD945-A776-493C-91AD-A20BE744466B}"/>
              </a:ext>
            </a:extLst>
          </p:cNvPr>
          <p:cNvCxnSpPr>
            <a:cxnSpLocks/>
            <a:endCxn id="10" idx="1"/>
          </p:cNvCxnSpPr>
          <p:nvPr/>
        </p:nvCxnSpPr>
        <p:spPr>
          <a:xfrm>
            <a:off x="3312393" y="3278487"/>
            <a:ext cx="575531" cy="10397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7B42DD71-B2D2-4C35-961B-56D572BB6D34}"/>
              </a:ext>
            </a:extLst>
          </p:cNvPr>
          <p:cNvCxnSpPr>
            <a:cxnSpLocks/>
            <a:stCxn id="6" idx="3"/>
          </p:cNvCxnSpPr>
          <p:nvPr/>
        </p:nvCxnSpPr>
        <p:spPr>
          <a:xfrm>
            <a:off x="5567772" y="1939838"/>
            <a:ext cx="625017" cy="12926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CFBF2850-8270-4A86-8DE4-527A5C1EBAB5}"/>
              </a:ext>
            </a:extLst>
          </p:cNvPr>
          <p:cNvCxnSpPr>
            <a:cxnSpLocks/>
          </p:cNvCxnSpPr>
          <p:nvPr/>
        </p:nvCxnSpPr>
        <p:spPr>
          <a:xfrm>
            <a:off x="5567772" y="2698168"/>
            <a:ext cx="57729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5E01A9D5-F432-436D-AFE5-ADC74573A259}"/>
              </a:ext>
            </a:extLst>
          </p:cNvPr>
          <p:cNvCxnSpPr>
            <a:cxnSpLocks/>
          </p:cNvCxnSpPr>
          <p:nvPr/>
        </p:nvCxnSpPr>
        <p:spPr>
          <a:xfrm flipV="1">
            <a:off x="5545510" y="3245720"/>
            <a:ext cx="632376" cy="13002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aphicFrame>
        <p:nvGraphicFramePr>
          <p:cNvPr id="66" name="表格 5">
            <a:extLst>
              <a:ext uri="{FF2B5EF4-FFF2-40B4-BE49-F238E27FC236}">
                <a16:creationId xmlns:a16="http://schemas.microsoft.com/office/drawing/2014/main" id="{C9D0247B-7F47-44B9-8DAC-7CF66AAD223A}"/>
              </a:ext>
            </a:extLst>
          </p:cNvPr>
          <p:cNvGraphicFramePr>
            <a:graphicFrameLocks noGrp="1"/>
          </p:cNvGraphicFramePr>
          <p:nvPr>
            <p:extLst>
              <p:ext uri="{D42A27DB-BD31-4B8C-83A1-F6EECF244321}">
                <p14:modId xmlns:p14="http://schemas.microsoft.com/office/powerpoint/2010/main" val="2091804496"/>
              </p:ext>
            </p:extLst>
          </p:nvPr>
        </p:nvGraphicFramePr>
        <p:xfrm>
          <a:off x="735583" y="3675807"/>
          <a:ext cx="2543944" cy="1463040"/>
        </p:xfrm>
        <a:graphic>
          <a:graphicData uri="http://schemas.openxmlformats.org/drawingml/2006/table">
            <a:tbl>
              <a:tblPr firstRow="1" bandRow="1">
                <a:tableStyleId>{00A15C55-8517-42AA-B614-E9B94910E393}</a:tableStyleId>
              </a:tblPr>
              <a:tblGrid>
                <a:gridCol w="635986">
                  <a:extLst>
                    <a:ext uri="{9D8B030D-6E8A-4147-A177-3AD203B41FA5}">
                      <a16:colId xmlns:a16="http://schemas.microsoft.com/office/drawing/2014/main" val="1399258209"/>
                    </a:ext>
                  </a:extLst>
                </a:gridCol>
                <a:gridCol w="635986">
                  <a:extLst>
                    <a:ext uri="{9D8B030D-6E8A-4147-A177-3AD203B41FA5}">
                      <a16:colId xmlns:a16="http://schemas.microsoft.com/office/drawing/2014/main" val="3619478621"/>
                    </a:ext>
                  </a:extLst>
                </a:gridCol>
                <a:gridCol w="635986">
                  <a:extLst>
                    <a:ext uri="{9D8B030D-6E8A-4147-A177-3AD203B41FA5}">
                      <a16:colId xmlns:a16="http://schemas.microsoft.com/office/drawing/2014/main" val="3270356976"/>
                    </a:ext>
                  </a:extLst>
                </a:gridCol>
                <a:gridCol w="635986">
                  <a:extLst>
                    <a:ext uri="{9D8B030D-6E8A-4147-A177-3AD203B41FA5}">
                      <a16:colId xmlns:a16="http://schemas.microsoft.com/office/drawing/2014/main" val="321494003"/>
                    </a:ext>
                  </a:extLst>
                </a:gridCol>
              </a:tblGrid>
              <a:tr h="166753">
                <a:tc>
                  <a:txBody>
                    <a:bodyPr/>
                    <a:lstStyle/>
                    <a:p>
                      <a:r>
                        <a:rPr lang="en-US" altLang="zh-CN" b="1" dirty="0">
                          <a:solidFill>
                            <a:schemeClr val="tx1"/>
                          </a:solidFill>
                          <a:latin typeface="Times New Roman" panose="02020603050405020304" pitchFamily="18" charset="0"/>
                          <a:cs typeface="Times New Roman" panose="02020603050405020304" pitchFamily="18" charset="0"/>
                        </a:rPr>
                        <a:t>87</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F2</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4D</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97</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extLst>
                  <a:ext uri="{0D108BD9-81ED-4DB2-BD59-A6C34878D82A}">
                    <a16:rowId xmlns:a16="http://schemas.microsoft.com/office/drawing/2014/main" val="3416863855"/>
                  </a:ext>
                </a:extLst>
              </a:tr>
              <a:tr h="166753">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EC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6E</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90</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983988525"/>
                  </a:ext>
                </a:extLst>
              </a:tr>
              <a:tr h="166753">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4A</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C3</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E7</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3888612084"/>
                  </a:ext>
                </a:extLst>
              </a:tr>
              <a:tr h="166753">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8C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D8</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95</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A6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graphicFrame>
        <p:nvGraphicFramePr>
          <p:cNvPr id="67" name="表格 5">
            <a:extLst>
              <a:ext uri="{FF2B5EF4-FFF2-40B4-BE49-F238E27FC236}">
                <a16:creationId xmlns:a16="http://schemas.microsoft.com/office/drawing/2014/main" id="{82A72E93-B2AA-41BE-BA35-875E6E7E4B33}"/>
              </a:ext>
            </a:extLst>
          </p:cNvPr>
          <p:cNvGraphicFramePr>
            <a:graphicFrameLocks noGrp="1"/>
          </p:cNvGraphicFramePr>
          <p:nvPr>
            <p:extLst>
              <p:ext uri="{D42A27DB-BD31-4B8C-83A1-F6EECF244321}">
                <p14:modId xmlns:p14="http://schemas.microsoft.com/office/powerpoint/2010/main" val="1397439521"/>
              </p:ext>
            </p:extLst>
          </p:nvPr>
        </p:nvGraphicFramePr>
        <p:xfrm>
          <a:off x="6156176" y="3694389"/>
          <a:ext cx="2543944" cy="1463040"/>
        </p:xfrm>
        <a:graphic>
          <a:graphicData uri="http://schemas.openxmlformats.org/drawingml/2006/table">
            <a:tbl>
              <a:tblPr firstRow="1" bandRow="1">
                <a:tableStyleId>{00A15C55-8517-42AA-B614-E9B94910E393}</a:tableStyleId>
              </a:tblPr>
              <a:tblGrid>
                <a:gridCol w="635986">
                  <a:extLst>
                    <a:ext uri="{9D8B030D-6E8A-4147-A177-3AD203B41FA5}">
                      <a16:colId xmlns:a16="http://schemas.microsoft.com/office/drawing/2014/main" val="1399258209"/>
                    </a:ext>
                  </a:extLst>
                </a:gridCol>
                <a:gridCol w="635986">
                  <a:extLst>
                    <a:ext uri="{9D8B030D-6E8A-4147-A177-3AD203B41FA5}">
                      <a16:colId xmlns:a16="http://schemas.microsoft.com/office/drawing/2014/main" val="3619478621"/>
                    </a:ext>
                  </a:extLst>
                </a:gridCol>
                <a:gridCol w="635986">
                  <a:extLst>
                    <a:ext uri="{9D8B030D-6E8A-4147-A177-3AD203B41FA5}">
                      <a16:colId xmlns:a16="http://schemas.microsoft.com/office/drawing/2014/main" val="3270356976"/>
                    </a:ext>
                  </a:extLst>
                </a:gridCol>
                <a:gridCol w="635986">
                  <a:extLst>
                    <a:ext uri="{9D8B030D-6E8A-4147-A177-3AD203B41FA5}">
                      <a16:colId xmlns:a16="http://schemas.microsoft.com/office/drawing/2014/main" val="321494003"/>
                    </a:ext>
                  </a:extLst>
                </a:gridCol>
              </a:tblGrid>
              <a:tr h="166753">
                <a:tc>
                  <a:txBody>
                    <a:bodyPr/>
                    <a:lstStyle/>
                    <a:p>
                      <a:r>
                        <a:rPr lang="en-US" altLang="zh-CN" b="1" dirty="0">
                          <a:solidFill>
                            <a:schemeClr val="tx1"/>
                          </a:solidFill>
                          <a:latin typeface="Times New Roman" panose="02020603050405020304" pitchFamily="18" charset="0"/>
                          <a:cs typeface="Times New Roman" panose="02020603050405020304" pitchFamily="18" charset="0"/>
                        </a:rPr>
                        <a:t>87</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F2</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4D</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97</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solidFill>
                      <a:srgbClr val="E9F3EE"/>
                    </a:solidFill>
                  </a:tcPr>
                </a:tc>
                <a:extLst>
                  <a:ext uri="{0D108BD9-81ED-4DB2-BD59-A6C34878D82A}">
                    <a16:rowId xmlns:a16="http://schemas.microsoft.com/office/drawing/2014/main" val="3416863855"/>
                  </a:ext>
                </a:extLst>
              </a:tr>
              <a:tr h="166753">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6E</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90</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EC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983988525"/>
                  </a:ext>
                </a:extLst>
              </a:tr>
              <a:tr h="166753">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E7</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4A</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baseline="0" dirty="0">
                          <a:solidFill>
                            <a:schemeClr val="tx1"/>
                          </a:solidFill>
                          <a:latin typeface="Times New Roman" panose="02020603050405020304" pitchFamily="18" charset="0"/>
                          <a:cs typeface="Times New Roman" panose="02020603050405020304" pitchFamily="18" charset="0"/>
                        </a:rPr>
                        <a:t>C3</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3888612084"/>
                  </a:ext>
                </a:extLst>
              </a:tr>
              <a:tr h="166753">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A6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8C</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D8</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tc>
                  <a:txBody>
                    <a:bodyPr/>
                    <a:lstStyle/>
                    <a:p>
                      <a:r>
                        <a:rPr lang="en-US" altLang="zh-CN" b="1" baseline="0" dirty="0">
                          <a:solidFill>
                            <a:schemeClr val="tx1"/>
                          </a:solidFill>
                          <a:latin typeface="Times New Roman" panose="02020603050405020304" pitchFamily="18" charset="0"/>
                          <a:cs typeface="Times New Roman" panose="02020603050405020304" pitchFamily="18" charset="0"/>
                        </a:rPr>
                        <a:t>95</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2">
                          <a:lumMod val="20000"/>
                          <a:lumOff val="80000"/>
                        </a:schemeClr>
                      </a:solidFill>
                      <a:prstDash val="solid"/>
                      <a:round/>
                      <a:headEnd type="none" w="med" len="med"/>
                      <a:tailEnd type="none" w="med" len="med"/>
                    </a:lnL>
                    <a:lnR w="12700" cap="flat" cmpd="sng" algn="ctr">
                      <a:solidFill>
                        <a:schemeClr val="accent2">
                          <a:lumMod val="20000"/>
                          <a:lumOff val="80000"/>
                        </a:schemeClr>
                      </a:solidFill>
                      <a:prstDash val="solid"/>
                      <a:round/>
                      <a:headEnd type="none" w="med" len="med"/>
                      <a:tailEnd type="none" w="med" len="med"/>
                    </a:lnR>
                    <a:lnT w="12700" cap="flat" cmpd="sng" algn="ctr">
                      <a:solidFill>
                        <a:schemeClr val="accent2">
                          <a:lumMod val="20000"/>
                          <a:lumOff val="80000"/>
                        </a:schemeClr>
                      </a:solidFill>
                      <a:prstDash val="solid"/>
                      <a:round/>
                      <a:headEnd type="none" w="med" len="med"/>
                      <a:tailEnd type="none" w="med" len="med"/>
                    </a:lnT>
                    <a:lnB w="12700" cap="flat" cmpd="sng" algn="ctr">
                      <a:solidFill>
                        <a:schemeClr val="accent2">
                          <a:lumMod val="20000"/>
                          <a:lumOff val="80000"/>
                        </a:schemeClr>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cxnSp>
        <p:nvCxnSpPr>
          <p:cNvPr id="69" name="直接箭头连接符 68">
            <a:extLst>
              <a:ext uri="{FF2B5EF4-FFF2-40B4-BE49-F238E27FC236}">
                <a16:creationId xmlns:a16="http://schemas.microsoft.com/office/drawing/2014/main" id="{BCA733D3-33FD-4D19-8488-49E70CF0CBD7}"/>
              </a:ext>
            </a:extLst>
          </p:cNvPr>
          <p:cNvCxnSpPr/>
          <p:nvPr/>
        </p:nvCxnSpPr>
        <p:spPr>
          <a:xfrm>
            <a:off x="3881669" y="4558902"/>
            <a:ext cx="1631887" cy="0"/>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00093179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2817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轮函数：列混合（ </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MixColumn</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列混合变换是通过矩阵相乘来实现的，经行移位后的状态矩阵与</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固定</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的矩阵相乘，得到混淆后的状态矩阵，如下的公式所示：</a:t>
                </a:r>
                <a:endParaRPr lang="en-US" altLang="zh-CN"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centerGroup"/>
                    </m:oMathParaPr>
                    <m:oMath xmlns:m="http://schemas.openxmlformats.org/officeDocument/2006/math">
                      <m:d>
                        <m:dPr>
                          <m:begChr m:val="["/>
                          <m:endChr m:val="]"/>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m:rPr>
                                          <m:brk m:alnAt="7"/>
                                        </m:rP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1,0</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1,1</m:t>
                                      </m:r>
                                    </m:e>
                                  </m:mr>
                                </m:m>
                              </m:e>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m:rPr>
                                          <m:brk m:alnAt="7"/>
                                        </m:rP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m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1,2</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1,3</m:t>
                                      </m:r>
                                    </m:e>
                                  </m:mr>
                                </m:m>
                              </m:e>
                            </m:mr>
                            <m:mr>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m:rPr>
                                          <m:brk m:alnAt="7"/>
                                        </m:rP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2,1</m:t>
                                      </m:r>
                                    </m:e>
                                  </m:m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3,0</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3,1</m:t>
                                      </m:r>
                                    </m:e>
                                  </m:mr>
                                </m:m>
                              </m:e>
                              <m:e>
                                <m:m>
                                  <m:mPr>
                                    <m:mcs>
                                      <m:mc>
                                        <m:mcPr>
                                          <m:count m:val="2"/>
                                          <m:mcJc m:val="center"/>
                                        </m:mcPr>
                                      </m:mc>
                                    </m:mcs>
                                    <m:ctrlPr>
                                      <a:rPr lang="en-US" altLang="zh-CN"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m:rPr>
                                          <m:brk m:alnAt="7"/>
                                        </m:rP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2,3</m:t>
                                      </m:r>
                                    </m:e>
                                  </m:mr>
                                  <m:mr>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3,2</m:t>
                                      </m:r>
                                    </m:e>
                                    <m:e>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3,3</m:t>
                                      </m:r>
                                    </m:e>
                                  </m:mr>
                                </m:m>
                              </m:e>
                            </m:mr>
                          </m:m>
                        </m:e>
                      </m:d>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d>
                        <m:dPr>
                          <m:begChr m:val="["/>
                          <m:endChr m:val="]"/>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mr>
                                  <m:mr>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02</m:t>
                                      </m:r>
                                    </m:e>
                                  </m:mr>
                                </m:m>
                              </m:e>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r>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
                              </m:e>
                            </m:mr>
                            <m:mr>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r>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
                              </m:e>
                              <m:e>
                                <m:m>
                                  <m:mPr>
                                    <m:mcs>
                                      <m:mc>
                                        <m:mcPr>
                                          <m:count m:val="2"/>
                                          <m:mcJc m:val="center"/>
                                        </m:mcPr>
                                      </m:mc>
                                    </m:mcs>
                                    <m:ctrl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mr>
                                  <m:mr>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e>
                                      <m:r>
                                        <a:rPr lang="en-US" altLang="zh-CN" b="0"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02</m:t>
                                      </m:r>
                                    </m:e>
                                  </m:mr>
                                </m:m>
                              </m:e>
                            </m:mr>
                          </m:m>
                        </m:e>
                      </m:d>
                      <m:d>
                        <m:dPr>
                          <m:begChr m:val="["/>
                          <m:endChr m:val="]"/>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0,0</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0,1</m:t>
                                      </m:r>
                                    </m:e>
                                  </m:mr>
                                  <m:m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1,0</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1,1</m:t>
                                      </m:r>
                                    </m:e>
                                  </m:mr>
                                </m:m>
                              </m:e>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0,2</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0,3</m:t>
                                      </m:r>
                                    </m:e>
                                  </m:mr>
                                  <m:m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1,2</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1,3</m:t>
                                      </m:r>
                                    </m:e>
                                  </m:mr>
                                </m:m>
                              </m:e>
                            </m:mr>
                            <m:mr>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2,0</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2,1</m:t>
                                      </m:r>
                                    </m:e>
                                  </m:mr>
                                  <m:m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3,0</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3,1</m:t>
                                      </m:r>
                                    </m:e>
                                  </m:mr>
                                </m:m>
                              </m:e>
                              <m:e>
                                <m:m>
                                  <m:mPr>
                                    <m:mcs>
                                      <m:mc>
                                        <m:mcPr>
                                          <m:count m:val="2"/>
                                          <m:mcJc m:val="center"/>
                                        </m:mcPr>
                                      </m:mc>
                                    </m:mcs>
                                    <m:ctrlPr>
                                      <a:rPr lang="en-US" altLang="zh-CN"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mPr>
                                  <m:mr>
                                    <m:e>
                                      <m:r>
                                        <m:rPr>
                                          <m:brk m:alnAt="7"/>
                                        </m:r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2,2</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2,3</m:t>
                                      </m:r>
                                    </m:e>
                                  </m:mr>
                                  <m:m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3,2</m:t>
                                      </m:r>
                                    </m:e>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3,3</m:t>
                                      </m:r>
                                    </m:e>
                                  </m:mr>
                                </m:m>
                              </m:e>
                            </m:mr>
                          </m:m>
                        </m:e>
                      </m:d>
                    </m:oMath>
                  </m:oMathPara>
                </a14:m>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281732"/>
              </a:xfrm>
              <a:prstGeom prst="rect">
                <a:avLst/>
              </a:prstGeom>
              <a:blipFill>
                <a:blip r:embed="rId3"/>
                <a:stretch>
                  <a:fillRect l="-668" r="-304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14057436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623667"/>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状态矩阵中的第</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≤j≤3)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的列混合可以表示如下所示：</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704975"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sty m:val="p"/>
                        </m:rPr>
                        <a:rPr lang="en-US" altLang="zh-CN" b="0" i="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S</m:t>
                      </m:r>
                      <m:r>
                        <a:rPr lang="en-US" altLang="zh-CN" b="0" i="0"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m:rPr>
                          <m:sty m:val="p"/>
                        </m:rPr>
                        <a:rPr lang="en-US" altLang="zh-CN" b="0" i="0"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704975"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sty m:val="p"/>
                        </m:rPr>
                        <a:rPr lang="en-US" altLang="zh-CN" b="0" i="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S</m:t>
                      </m:r>
                      <m:r>
                        <a:rPr lang="en-US" altLang="zh-CN" b="0" i="0"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m:rPr>
                          <m:sty m:val="p"/>
                        </m:rPr>
                        <a:rPr lang="en-US" altLang="zh-CN" b="0" i="0"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704975"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704975"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𝑆</m:t>
                      </m:r>
                      <m:r>
                        <a:rPr lang="en-US" altLang="zh-CN"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baseline="-2500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623667"/>
              </a:xfrm>
              <a:prstGeom prst="rect">
                <a:avLst/>
              </a:prstGeom>
              <a:blipFill>
                <a:blip r:embed="rId3"/>
                <a:stretch>
                  <a:fillRect l="-445"/>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80897937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7074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矩阵元素的乘法和加法都是定义在基于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GF(2^8)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上的二元运算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并不是通常意义上的乘法和加法。</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加法：</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两元素多项式的系数按位模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加（即异或）</a:t>
            </a:r>
          </a:p>
          <a:p>
            <a:pPr marL="2682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57</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D4</a:t>
            </a:r>
          </a:p>
          <a:p>
            <a:pPr marL="2682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(x6+x4+x2+x+1)⊕(x7+x+1)= x7+x6+x4+x2 </a:t>
            </a:r>
          </a:p>
          <a:p>
            <a:pPr marL="2682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加法逆元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每个元素的加法逆元等于自己，所以减法和加法相同</a:t>
            </a:r>
          </a:p>
          <a:p>
            <a:pPr marL="285750" indent="-285750">
              <a:lnSpc>
                <a:spcPct val="130000"/>
              </a:lnSpc>
              <a:spcBef>
                <a:spcPts val="300"/>
              </a:spcBef>
              <a:spcAft>
                <a:spcPts val="300"/>
              </a:spcAft>
              <a:buFont typeface="Wingdings" panose="05000000000000000000" pitchFamily="2" charset="2"/>
              <a:buChar char="n"/>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2487736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483518"/>
            <a:ext cx="8208912" cy="4710007"/>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乘法：</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两元素多项式相乘，模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a:t>
            </a:r>
          </a:p>
          <a:p>
            <a:pPr marL="2682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算法中，若两个多项式进行乘法运算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运算的方法为两个多项式相乘。若运算的结果超过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次方，则必须对此结果对一个多项式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进行模运算。 </a:t>
            </a:r>
          </a:p>
          <a:p>
            <a:pPr marL="27146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算法中定义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多项式（不可约多项式）为：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100011011</a:t>
            </a:r>
          </a:p>
          <a:p>
            <a:pPr marL="27146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m(x)=x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十六进制的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11B)</a:t>
            </a:r>
          </a:p>
          <a:p>
            <a:pPr marL="271463">
              <a:lnSpc>
                <a:spcPct val="130000"/>
              </a:lnSpc>
              <a:spcBef>
                <a:spcPts val="300"/>
              </a:spcBef>
              <a:spcAft>
                <a:spcPts val="300"/>
              </a:spcAft>
              <a:tabLst>
                <a:tab pos="271463" algn="l"/>
              </a:tabLst>
            </a:pPr>
            <a:r>
              <a:rPr lang="zh-CN" altLang="da-DK"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57×83</a:t>
            </a:r>
            <a:r>
              <a:rPr lang="zh-CN" altLang="da-DK"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C1</a:t>
            </a:r>
          </a:p>
          <a:p>
            <a:pPr>
              <a:lnSpc>
                <a:spcPct val="130000"/>
              </a:lnSpc>
              <a:spcBef>
                <a:spcPts val="300"/>
              </a:spcBef>
              <a:spcAft>
                <a:spcPts val="300"/>
              </a:spcAft>
            </a:pP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p>
          <a:p>
            <a:pPr>
              <a:lnSpc>
                <a:spcPct val="130000"/>
              </a:lnSpc>
              <a:spcBef>
                <a:spcPts val="300"/>
              </a:spcBef>
              <a:spcAft>
                <a:spcPts val="300"/>
              </a:spcAft>
            </a:pP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p>
          <a:p>
            <a:pPr>
              <a:lnSpc>
                <a:spcPct val="130000"/>
              </a:lnSpc>
              <a:spcBef>
                <a:spcPts val="300"/>
              </a:spcBef>
              <a:spcAft>
                <a:spcPts val="300"/>
              </a:spcAft>
            </a:pP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mod m(x)</a:t>
            </a:r>
          </a:p>
          <a:p>
            <a:pPr>
              <a:lnSpc>
                <a:spcPct val="130000"/>
              </a:lnSpc>
              <a:spcBef>
                <a:spcPts val="300"/>
              </a:spcBef>
              <a:spcAft>
                <a:spcPts val="300"/>
              </a:spcAft>
            </a:pP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da-DK"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da-DK"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mod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06250831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569632"/>
              </a:xfrm>
              <a:prstGeom prst="rect">
                <a:avLst/>
              </a:prstGeom>
              <a:noFill/>
            </p:spPr>
            <p:txBody>
              <a:bodyPr wrap="square" rtlCol="0">
                <a:spAutoFit/>
              </a:bodyPr>
              <a:lstStyle/>
              <a:p>
                <a:pPr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𝑥𝐶</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9)⨁(3×0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𝑥𝐵</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400"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a:rPr lang="en-US" altLang="zh-CN" sz="1400" b="0" i="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m:t>
                    </m:r>
                    <m:r>
                      <a:rPr lang="en-US" altLang="zh-CN" sz="1400" b="0" i="1" dirty="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𝑚𝑜𝑑</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 (</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8</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4</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4</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4</m:t>
                    </m:r>
                  </m:oMath>
                </a14:m>
                <a:endPar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sz="1400" b="0" i="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 +1</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3</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2</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5</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4</m:t>
                      </m:r>
                    </m:oMath>
                  </m:oMathPara>
                </a14:m>
                <a:endParaRPr lang="en-US" altLang="zh-CN" sz="1400" baseline="30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 xmlns:m="http://schemas.openxmlformats.org/officeDocument/2006/math">
                    <m:r>
                      <a:rPr lang="en-US" altLang="zh-CN" sz="1400" b="0" i="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7</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0" i="0" baseline="3000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6</m:t>
                    </m:r>
                    <m:r>
                      <m:rPr>
                        <m:nor/>
                      </m:rPr>
                      <a:rPr lang="en-US" altLang="zh-CN" sz="1400"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0" i="0" baseline="3000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4</m:t>
                    </m:r>
                    <m:r>
                      <m:rPr>
                        <m:nor/>
                      </m:rPr>
                      <a:rPr lang="en-US" altLang="zh-CN" sz="1400"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sz="1400"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x</m:t>
                    </m:r>
                    <m:r>
                      <m:rPr>
                        <m:nor/>
                      </m:rPr>
                      <a:rPr lang="en-US" altLang="zh-CN" sz="1400" b="0" i="0" baseline="3000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2</m:t>
                    </m:r>
                    <m:r>
                      <m:rPr>
                        <m:nor/>
                      </m:rPr>
                      <a:rPr lang="en-US" altLang="zh-CN" sz="1400" b="0" i="0" dirty="0" smtClean="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=11010100</m:t>
                    </m:r>
                  </m:oMath>
                </a14:m>
                <a:r>
                  <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D4</a:t>
                </a:r>
                <a:endPar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𝑥𝐶</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9⨁(2×0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𝑥𝐵</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𝑥𝐶</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9⨁0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63)⨁(3×0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𝑥𝐵</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r">
                  <a:lnSpc>
                    <a:spcPct val="130000"/>
                  </a:lnSpc>
                  <a:spcBef>
                    <a:spcPts val="300"/>
                  </a:spcBef>
                  <a:spcAft>
                    <a:spcPts val="300"/>
                  </a:spcAft>
                </a:pPr>
                <a14:m>
                  <m:oMathPara xmlns:m="http://schemas.openxmlformats.org/officeDocument/2006/math">
                    <m:oMathParaPr>
                      <m:jc m:val="left"/>
                    </m:oMathParaPr>
                    <m:oMath xmlns:m="http://schemas.openxmlformats.org/officeDocument/2006/math">
                      <m:sSup>
                        <m:sSupPr>
                          <m:ctrlP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m:t>
                          </m:r>
                        </m:e>
                        <m:sup>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3,0</m:t>
                      </m:r>
                      <m:r>
                        <a:rPr lang="en-US" altLang="zh-CN"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𝑥𝐶</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9)⨁0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63⨁(2×0</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𝑥𝐵</m:t>
                      </m:r>
                      <m:r>
                        <a:rPr lang="en-US" altLang="zh-CN"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baseline="-250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其它列的计算就不列举了，列混合后生成的新状态矩阵如下：</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569632"/>
              </a:xfrm>
              <a:prstGeom prst="rect">
                <a:avLst/>
              </a:prstGeom>
              <a:blipFill>
                <a:blip r:embed="rId3"/>
                <a:stretch>
                  <a:fillRect l="-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6" name="表格 5">
            <a:extLst>
              <a:ext uri="{FF2B5EF4-FFF2-40B4-BE49-F238E27FC236}">
                <a16:creationId xmlns:a16="http://schemas.microsoft.com/office/drawing/2014/main" id="{8FC3B708-454B-4DFE-91B0-7EF039405FC9}"/>
              </a:ext>
            </a:extLst>
          </p:cNvPr>
          <p:cNvGraphicFramePr>
            <a:graphicFrameLocks noGrp="1"/>
          </p:cNvGraphicFramePr>
          <p:nvPr>
            <p:extLst>
              <p:ext uri="{D42A27DB-BD31-4B8C-83A1-F6EECF244321}">
                <p14:modId xmlns:p14="http://schemas.microsoft.com/office/powerpoint/2010/main" val="2186954580"/>
              </p:ext>
            </p:extLst>
          </p:nvPr>
        </p:nvGraphicFramePr>
        <p:xfrm>
          <a:off x="6698120" y="1923678"/>
          <a:ext cx="2122352" cy="1463040"/>
        </p:xfrm>
        <a:graphic>
          <a:graphicData uri="http://schemas.openxmlformats.org/drawingml/2006/table">
            <a:tbl>
              <a:tblPr firstRow="1" bandRow="1">
                <a:tableStyleId>{5C22544A-7EE6-4342-B048-85BDC9FD1C3A}</a:tableStyleId>
              </a:tblPr>
              <a:tblGrid>
                <a:gridCol w="530588">
                  <a:extLst>
                    <a:ext uri="{9D8B030D-6E8A-4147-A177-3AD203B41FA5}">
                      <a16:colId xmlns:a16="http://schemas.microsoft.com/office/drawing/2014/main" val="1399258209"/>
                    </a:ext>
                  </a:extLst>
                </a:gridCol>
                <a:gridCol w="530588">
                  <a:extLst>
                    <a:ext uri="{9D8B030D-6E8A-4147-A177-3AD203B41FA5}">
                      <a16:colId xmlns:a16="http://schemas.microsoft.com/office/drawing/2014/main" val="3619478621"/>
                    </a:ext>
                  </a:extLst>
                </a:gridCol>
                <a:gridCol w="530588">
                  <a:extLst>
                    <a:ext uri="{9D8B030D-6E8A-4147-A177-3AD203B41FA5}">
                      <a16:colId xmlns:a16="http://schemas.microsoft.com/office/drawing/2014/main" val="3270356976"/>
                    </a:ext>
                  </a:extLst>
                </a:gridCol>
                <a:gridCol w="530588">
                  <a:extLst>
                    <a:ext uri="{9D8B030D-6E8A-4147-A177-3AD203B41FA5}">
                      <a16:colId xmlns:a16="http://schemas.microsoft.com/office/drawing/2014/main" val="321494003"/>
                    </a:ext>
                  </a:extLst>
                </a:gridCol>
              </a:tblGrid>
              <a:tr h="358770">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C9</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E5</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FD</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2B</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35877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7A</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F2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78</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6E</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35877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63</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9C</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26</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67</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358770">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B0</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A7</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82</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E5</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graphicFrame>
        <p:nvGraphicFramePr>
          <p:cNvPr id="9" name="表格 8">
            <a:extLst>
              <a:ext uri="{FF2B5EF4-FFF2-40B4-BE49-F238E27FC236}">
                <a16:creationId xmlns:a16="http://schemas.microsoft.com/office/drawing/2014/main" id="{0276D4D8-E15D-4462-BD99-FFF2B60941C7}"/>
              </a:ext>
            </a:extLst>
          </p:cNvPr>
          <p:cNvGraphicFramePr>
            <a:graphicFrameLocks noGrp="1"/>
          </p:cNvGraphicFramePr>
          <p:nvPr>
            <p:extLst>
              <p:ext uri="{D42A27DB-BD31-4B8C-83A1-F6EECF244321}">
                <p14:modId xmlns:p14="http://schemas.microsoft.com/office/powerpoint/2010/main" val="1491567023"/>
              </p:ext>
            </p:extLst>
          </p:nvPr>
        </p:nvGraphicFramePr>
        <p:xfrm>
          <a:off x="6698120" y="3680460"/>
          <a:ext cx="2122352" cy="1463040"/>
        </p:xfrm>
        <a:graphic>
          <a:graphicData uri="http://schemas.openxmlformats.org/drawingml/2006/table">
            <a:tbl>
              <a:tblPr firstRow="1" bandRow="1">
                <a:tableStyleId>{5C22544A-7EE6-4342-B048-85BDC9FD1C3A}</a:tableStyleId>
              </a:tblPr>
              <a:tblGrid>
                <a:gridCol w="530588">
                  <a:extLst>
                    <a:ext uri="{9D8B030D-6E8A-4147-A177-3AD203B41FA5}">
                      <a16:colId xmlns:a16="http://schemas.microsoft.com/office/drawing/2014/main" val="1399258209"/>
                    </a:ext>
                  </a:extLst>
                </a:gridCol>
                <a:gridCol w="530588">
                  <a:extLst>
                    <a:ext uri="{9D8B030D-6E8A-4147-A177-3AD203B41FA5}">
                      <a16:colId xmlns:a16="http://schemas.microsoft.com/office/drawing/2014/main" val="3619478621"/>
                    </a:ext>
                  </a:extLst>
                </a:gridCol>
                <a:gridCol w="530588">
                  <a:extLst>
                    <a:ext uri="{9D8B030D-6E8A-4147-A177-3AD203B41FA5}">
                      <a16:colId xmlns:a16="http://schemas.microsoft.com/office/drawing/2014/main" val="3270356976"/>
                    </a:ext>
                  </a:extLst>
                </a:gridCol>
                <a:gridCol w="530588">
                  <a:extLst>
                    <a:ext uri="{9D8B030D-6E8A-4147-A177-3AD203B41FA5}">
                      <a16:colId xmlns:a16="http://schemas.microsoft.com/office/drawing/2014/main" val="321494003"/>
                    </a:ext>
                  </a:extLst>
                </a:gridCol>
              </a:tblGrid>
              <a:tr h="358770">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D4</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E7</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CD</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b="1" i="1" baseline="0" dirty="0">
                          <a:solidFill>
                            <a:schemeClr val="tx1"/>
                          </a:solidFill>
                          <a:latin typeface="Times New Roman" panose="02020603050405020304" pitchFamily="18" charset="0"/>
                          <a:cs typeface="Times New Roman" panose="02020603050405020304" pitchFamily="18" charset="0"/>
                        </a:rPr>
                        <a:t>66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35877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28</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02</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E5</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BB</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358770">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BE</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dirty="0">
                          <a:solidFill>
                            <a:schemeClr val="tx1"/>
                          </a:solidFill>
                          <a:latin typeface="Times New Roman" panose="02020603050405020304" pitchFamily="18" charset="0"/>
                          <a:cs typeface="Times New Roman" panose="02020603050405020304" pitchFamily="18" charset="0"/>
                        </a:rPr>
                        <a:t>C6</a:t>
                      </a:r>
                      <a:endParaRPr lang="zh-CN" altLang="en-US" b="1" i="1" baseline="-25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D6</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b="1" i="1" baseline="0" dirty="0">
                          <a:solidFill>
                            <a:schemeClr val="tx1"/>
                          </a:solidFill>
                          <a:latin typeface="Times New Roman" panose="02020603050405020304" pitchFamily="18" charset="0"/>
                          <a:cs typeface="Times New Roman" panose="02020603050405020304" pitchFamily="18" charset="0"/>
                        </a:rPr>
                        <a:t>BF</a:t>
                      </a:r>
                      <a:endParaRPr lang="zh-CN" altLang="en-US" b="1" i="1" baseline="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358770">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22</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0F</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DF</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b="1" i="1" dirty="0">
                          <a:solidFill>
                            <a:schemeClr val="tx1"/>
                          </a:solidFill>
                          <a:latin typeface="Times New Roman" panose="02020603050405020304" pitchFamily="18" charset="0"/>
                          <a:cs typeface="Times New Roman" panose="02020603050405020304" pitchFamily="18" charset="0"/>
                        </a:rPr>
                        <a:t>A5</a:t>
                      </a:r>
                      <a:endParaRPr lang="zh-CN" altLang="en-US"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46663673"/>
                  </a:ext>
                </a:extLst>
              </a:tr>
            </a:tbl>
          </a:graphicData>
        </a:graphic>
      </p:graphicFrame>
    </p:spTree>
    <p:extLst>
      <p:ext uri="{BB962C8B-B14F-4D97-AF65-F5344CB8AC3E}">
        <p14:creationId xmlns:p14="http://schemas.microsoft.com/office/powerpoint/2010/main" val="1353813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3042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密钥加是将轮密钥简单地与状态进行逐比特异或。</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轮密钥由种子密钥通过密钥编排算法得到，轮密钥长度等于分组长度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Nb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
        <p:nvSpPr>
          <p:cNvPr id="6" name="椭圆 56379">
            <a:extLst>
              <a:ext uri="{FF2B5EF4-FFF2-40B4-BE49-F238E27FC236}">
                <a16:creationId xmlns:a16="http://schemas.microsoft.com/office/drawing/2014/main" id="{4D4A0573-57C4-43B5-8023-C3774DAC052E}"/>
              </a:ext>
            </a:extLst>
          </p:cNvPr>
          <p:cNvSpPr/>
          <p:nvPr/>
        </p:nvSpPr>
        <p:spPr>
          <a:xfrm>
            <a:off x="4620780" y="3664795"/>
            <a:ext cx="431800" cy="431800"/>
          </a:xfrm>
          <a:prstGeom prst="ellipse">
            <a:avLst/>
          </a:prstGeom>
          <a:noFill/>
          <a:ln w="9525" cap="flat" cmpd="sng">
            <a:solidFill>
              <a:schemeClr val="tx1"/>
            </a:solidFill>
            <a:prstDash val="solid"/>
            <a:round/>
            <a:headEnd type="none" w="med" len="med"/>
            <a:tailEnd type="none" w="med" len="med"/>
          </a:ln>
        </p:spPr>
        <p:txBody>
          <a:bodyPr wrap="none" anchor="ctr"/>
          <a:lstStyle/>
          <a:p>
            <a:pPr algn="ctr"/>
            <a:r>
              <a:rPr lang="zh-CN" altLang="en-US" dirty="0">
                <a:solidFill>
                  <a:srgbClr val="000000"/>
                </a:solidFill>
                <a:ea typeface="宋体" panose="02010600030101010101" pitchFamily="2" charset="-122"/>
                <a:sym typeface="+mn-ea"/>
              </a:rPr>
              <a:t>＋</a:t>
            </a: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10" name="表格 5">
            <a:extLst>
              <a:ext uri="{FF2B5EF4-FFF2-40B4-BE49-F238E27FC236}">
                <a16:creationId xmlns:a16="http://schemas.microsoft.com/office/drawing/2014/main" id="{9658C6DE-2710-4284-9636-C599E703B7A5}"/>
              </a:ext>
            </a:extLst>
          </p:cNvPr>
          <p:cNvGraphicFramePr>
            <a:graphicFrameLocks noGrp="1"/>
          </p:cNvGraphicFramePr>
          <p:nvPr>
            <p:extLst>
              <p:ext uri="{D42A27DB-BD31-4B8C-83A1-F6EECF244321}">
                <p14:modId xmlns:p14="http://schemas.microsoft.com/office/powerpoint/2010/main" val="1442449935"/>
              </p:ext>
            </p:extLst>
          </p:nvPr>
        </p:nvGraphicFramePr>
        <p:xfrm>
          <a:off x="877455" y="2555146"/>
          <a:ext cx="2016224" cy="181680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399258209"/>
                    </a:ext>
                  </a:extLst>
                </a:gridCol>
                <a:gridCol w="504056">
                  <a:extLst>
                    <a:ext uri="{9D8B030D-6E8A-4147-A177-3AD203B41FA5}">
                      <a16:colId xmlns:a16="http://schemas.microsoft.com/office/drawing/2014/main" val="3619478621"/>
                    </a:ext>
                  </a:extLst>
                </a:gridCol>
                <a:gridCol w="504056">
                  <a:extLst>
                    <a:ext uri="{9D8B030D-6E8A-4147-A177-3AD203B41FA5}">
                      <a16:colId xmlns:a16="http://schemas.microsoft.com/office/drawing/2014/main" val="3270356976"/>
                    </a:ext>
                  </a:extLst>
                </a:gridCol>
                <a:gridCol w="504056">
                  <a:extLst>
                    <a:ext uri="{9D8B030D-6E8A-4147-A177-3AD203B41FA5}">
                      <a16:colId xmlns:a16="http://schemas.microsoft.com/office/drawing/2014/main" val="321494003"/>
                    </a:ext>
                  </a:extLst>
                </a:gridCol>
              </a:tblGrid>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0,0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0,1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0,2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0,3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1,0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1,1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1,2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1,3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2,0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2,1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2,2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2,3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3,0</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3,1</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3,2</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25000" dirty="0">
                          <a:solidFill>
                            <a:schemeClr val="tx1"/>
                          </a:solidFill>
                          <a:latin typeface="Times New Roman" panose="02020603050405020304" pitchFamily="18" charset="0"/>
                          <a:cs typeface="Times New Roman" panose="02020603050405020304" pitchFamily="18" charset="0"/>
                        </a:rPr>
                        <a:t>3,3</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FFFF00"/>
                    </a:solidFill>
                  </a:tcPr>
                </a:tc>
                <a:extLst>
                  <a:ext uri="{0D108BD9-81ED-4DB2-BD59-A6C34878D82A}">
                    <a16:rowId xmlns:a16="http://schemas.microsoft.com/office/drawing/2014/main" val="2546663673"/>
                  </a:ext>
                </a:extLst>
              </a:tr>
            </a:tbl>
          </a:graphicData>
        </a:graphic>
      </p:graphicFrame>
      <p:graphicFrame>
        <p:nvGraphicFramePr>
          <p:cNvPr id="11" name="表格 5">
            <a:extLst>
              <a:ext uri="{FF2B5EF4-FFF2-40B4-BE49-F238E27FC236}">
                <a16:creationId xmlns:a16="http://schemas.microsoft.com/office/drawing/2014/main" id="{35FC4DBB-9B09-4EDB-A67A-54D9B820C748}"/>
              </a:ext>
            </a:extLst>
          </p:cNvPr>
          <p:cNvGraphicFramePr>
            <a:graphicFrameLocks noGrp="1"/>
          </p:cNvGraphicFramePr>
          <p:nvPr>
            <p:extLst>
              <p:ext uri="{D42A27DB-BD31-4B8C-83A1-F6EECF244321}">
                <p14:modId xmlns:p14="http://schemas.microsoft.com/office/powerpoint/2010/main" val="3576037099"/>
              </p:ext>
            </p:extLst>
          </p:nvPr>
        </p:nvGraphicFramePr>
        <p:xfrm>
          <a:off x="3671900" y="2555146"/>
          <a:ext cx="2016224" cy="181680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399258209"/>
                    </a:ext>
                  </a:extLst>
                </a:gridCol>
                <a:gridCol w="504056">
                  <a:extLst>
                    <a:ext uri="{9D8B030D-6E8A-4147-A177-3AD203B41FA5}">
                      <a16:colId xmlns:a16="http://schemas.microsoft.com/office/drawing/2014/main" val="3619478621"/>
                    </a:ext>
                  </a:extLst>
                </a:gridCol>
                <a:gridCol w="504056">
                  <a:extLst>
                    <a:ext uri="{9D8B030D-6E8A-4147-A177-3AD203B41FA5}">
                      <a16:colId xmlns:a16="http://schemas.microsoft.com/office/drawing/2014/main" val="3270356976"/>
                    </a:ext>
                  </a:extLst>
                </a:gridCol>
                <a:gridCol w="504056">
                  <a:extLst>
                    <a:ext uri="{9D8B030D-6E8A-4147-A177-3AD203B41FA5}">
                      <a16:colId xmlns:a16="http://schemas.microsoft.com/office/drawing/2014/main" val="321494003"/>
                    </a:ext>
                  </a:extLst>
                </a:gridCol>
              </a:tblGrid>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0,0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0,1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0,2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0,3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1,0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1,1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1,2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1,3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2,0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2,1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2,2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2,3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3,0</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3,1</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3,2</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K</a:t>
                      </a:r>
                      <a:r>
                        <a:rPr lang="en-US" altLang="zh-CN" sz="1400" b="1" i="1" baseline="-25000" dirty="0">
                          <a:solidFill>
                            <a:schemeClr val="tx1"/>
                          </a:solidFill>
                          <a:latin typeface="Times New Roman" panose="02020603050405020304" pitchFamily="18" charset="0"/>
                          <a:cs typeface="Times New Roman" panose="02020603050405020304" pitchFamily="18" charset="0"/>
                        </a:rPr>
                        <a:t>3,3</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2546663673"/>
                  </a:ext>
                </a:extLst>
              </a:tr>
            </a:tbl>
          </a:graphicData>
        </a:graphic>
      </p:graphicFrame>
      <p:graphicFrame>
        <p:nvGraphicFramePr>
          <p:cNvPr id="12" name="表格 5">
            <a:extLst>
              <a:ext uri="{FF2B5EF4-FFF2-40B4-BE49-F238E27FC236}">
                <a16:creationId xmlns:a16="http://schemas.microsoft.com/office/drawing/2014/main" id="{CB021755-342D-46C7-A37D-E688AEEC8181}"/>
              </a:ext>
            </a:extLst>
          </p:cNvPr>
          <p:cNvGraphicFramePr>
            <a:graphicFrameLocks noGrp="1"/>
          </p:cNvGraphicFramePr>
          <p:nvPr>
            <p:extLst>
              <p:ext uri="{D42A27DB-BD31-4B8C-83A1-F6EECF244321}">
                <p14:modId xmlns:p14="http://schemas.microsoft.com/office/powerpoint/2010/main" val="904734017"/>
              </p:ext>
            </p:extLst>
          </p:nvPr>
        </p:nvGraphicFramePr>
        <p:xfrm>
          <a:off x="6444208" y="2555146"/>
          <a:ext cx="2016224" cy="1816804"/>
        </p:xfrm>
        <a:graphic>
          <a:graphicData uri="http://schemas.openxmlformats.org/drawingml/2006/table">
            <a:tbl>
              <a:tblPr firstRow="1" bandRow="1">
                <a:tableStyleId>{5C22544A-7EE6-4342-B048-85BDC9FD1C3A}</a:tableStyleId>
              </a:tblPr>
              <a:tblGrid>
                <a:gridCol w="504056">
                  <a:extLst>
                    <a:ext uri="{9D8B030D-6E8A-4147-A177-3AD203B41FA5}">
                      <a16:colId xmlns:a16="http://schemas.microsoft.com/office/drawing/2014/main" val="1399258209"/>
                    </a:ext>
                  </a:extLst>
                </a:gridCol>
                <a:gridCol w="504056">
                  <a:extLst>
                    <a:ext uri="{9D8B030D-6E8A-4147-A177-3AD203B41FA5}">
                      <a16:colId xmlns:a16="http://schemas.microsoft.com/office/drawing/2014/main" val="3619478621"/>
                    </a:ext>
                  </a:extLst>
                </a:gridCol>
                <a:gridCol w="504056">
                  <a:extLst>
                    <a:ext uri="{9D8B030D-6E8A-4147-A177-3AD203B41FA5}">
                      <a16:colId xmlns:a16="http://schemas.microsoft.com/office/drawing/2014/main" val="3270356976"/>
                    </a:ext>
                  </a:extLst>
                </a:gridCol>
                <a:gridCol w="504056">
                  <a:extLst>
                    <a:ext uri="{9D8B030D-6E8A-4147-A177-3AD203B41FA5}">
                      <a16:colId xmlns:a16="http://schemas.microsoft.com/office/drawing/2014/main" val="321494003"/>
                    </a:ext>
                  </a:extLst>
                </a:gridCol>
              </a:tblGrid>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0,0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0,1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0,2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0,3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E7F1F9"/>
                    </a:solidFill>
                  </a:tcPr>
                </a:tc>
                <a:extLst>
                  <a:ext uri="{0D108BD9-81ED-4DB2-BD59-A6C34878D82A}">
                    <a16:rowId xmlns:a16="http://schemas.microsoft.com/office/drawing/2014/main" val="341686385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1,0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1,1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1,2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1,3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983988525"/>
                  </a:ext>
                </a:extLst>
              </a:tr>
              <a:tr h="454201">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2,0</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2,1</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2,2</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2,3</a:t>
                      </a:r>
                      <a:endParaRPr lang="zh-CN" altLang="en-US" sz="1400" b="1" i="1" baseline="-25000"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88612084"/>
                  </a:ext>
                </a:extLst>
              </a:tr>
              <a:tr h="454201">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3,0</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3,1</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3,2</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en-US" altLang="zh-CN" sz="1400" b="1" i="1" dirty="0">
                          <a:solidFill>
                            <a:schemeClr val="tx1"/>
                          </a:solidFill>
                          <a:latin typeface="Times New Roman" panose="02020603050405020304" pitchFamily="18" charset="0"/>
                          <a:cs typeface="Times New Roman" panose="02020603050405020304" pitchFamily="18" charset="0"/>
                        </a:rPr>
                        <a:t>C</a:t>
                      </a:r>
                      <a:r>
                        <a:rPr lang="en-US" altLang="zh-CN" sz="1400" b="1" i="1" baseline="-25000" dirty="0">
                          <a:solidFill>
                            <a:schemeClr val="tx1"/>
                          </a:solidFill>
                          <a:latin typeface="Times New Roman" panose="02020603050405020304" pitchFamily="18" charset="0"/>
                          <a:cs typeface="Times New Roman" panose="02020603050405020304" pitchFamily="18" charset="0"/>
                        </a:rPr>
                        <a:t>3,3</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72472" marR="72472" marT="36236" marB="36236">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6"/>
                    </a:solidFill>
                  </a:tcPr>
                </a:tc>
                <a:extLst>
                  <a:ext uri="{0D108BD9-81ED-4DB2-BD59-A6C34878D82A}">
                    <a16:rowId xmlns:a16="http://schemas.microsoft.com/office/drawing/2014/main" val="2546663673"/>
                  </a:ext>
                </a:extLst>
              </a:tr>
            </a:tbl>
          </a:graphicData>
        </a:graphic>
      </p:graphicFrame>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00263B1-E8AB-4F77-9B7C-87D7955E4DFF}"/>
                  </a:ext>
                </a:extLst>
              </p:cNvPr>
              <p:cNvSpPr/>
              <p:nvPr/>
            </p:nvSpPr>
            <p:spPr>
              <a:xfrm>
                <a:off x="3120425" y="335244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zh-CN" altLang="en-US" sz="3200" i="1" dirty="0" smtClean="0">
                          <a:solidFill>
                            <a:schemeClr val="tx2"/>
                          </a:solidFill>
                          <a:latin typeface="Cambria Math" panose="02040503050406030204" pitchFamily="18" charset="0"/>
                          <a:ea typeface="华文楷体" panose="02010600040101010101" pitchFamily="2" charset="-122"/>
                        </a:rPr>
                        <m:t>⨁</m:t>
                      </m:r>
                    </m:oMath>
                  </m:oMathPara>
                </a14:m>
                <a:endParaRPr lang="zh-CN" altLang="en-US" sz="32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3" name="矩形 12">
                <a:extLst>
                  <a:ext uri="{FF2B5EF4-FFF2-40B4-BE49-F238E27FC236}">
                    <a16:creationId xmlns:a16="http://schemas.microsoft.com/office/drawing/2014/main" id="{C00263B1-E8AB-4F77-9B7C-87D7955E4DFF}"/>
                  </a:ext>
                </a:extLst>
              </p:cNvPr>
              <p:cNvSpPr>
                <a:spLocks noRot="1" noChangeAspect="1" noMove="1" noResize="1" noEditPoints="1" noAdjustHandles="1" noChangeArrowheads="1" noChangeShapeType="1" noTextEdit="1"/>
              </p:cNvSpPr>
              <p:nvPr/>
            </p:nvSpPr>
            <p:spPr>
              <a:xfrm>
                <a:off x="3120425" y="3352445"/>
                <a:ext cx="432048" cy="216024"/>
              </a:xfrm>
              <a:prstGeom prst="rect">
                <a:avLst/>
              </a:prstGeom>
              <a:blipFill>
                <a:blip r:embed="rId3"/>
                <a:stretch>
                  <a:fillRect t="-17143" b="-3428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53B9D895-2D8B-48F0-B888-78DB4B7E5DEC}"/>
                  </a:ext>
                </a:extLst>
              </p:cNvPr>
              <p:cNvSpPr/>
              <p:nvPr/>
            </p:nvSpPr>
            <p:spPr>
              <a:xfrm>
                <a:off x="5962561" y="332020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3200" b="0" i="1" dirty="0" smtClean="0">
                          <a:solidFill>
                            <a:schemeClr val="tx2"/>
                          </a:solidFill>
                          <a:latin typeface="Cambria Math" panose="02040503050406030204" pitchFamily="18" charset="0"/>
                          <a:ea typeface="华文楷体" panose="02010600040101010101" pitchFamily="2" charset="-122"/>
                        </a:rPr>
                        <m:t>=</m:t>
                      </m:r>
                    </m:oMath>
                  </m:oMathPara>
                </a14:m>
                <a:endParaRPr lang="zh-CN" altLang="en-US" sz="32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4" name="矩形 13">
                <a:extLst>
                  <a:ext uri="{FF2B5EF4-FFF2-40B4-BE49-F238E27FC236}">
                    <a16:creationId xmlns:a16="http://schemas.microsoft.com/office/drawing/2014/main" id="{53B9D895-2D8B-48F0-B888-78DB4B7E5DEC}"/>
                  </a:ext>
                </a:extLst>
              </p:cNvPr>
              <p:cNvSpPr>
                <a:spLocks noRot="1" noChangeAspect="1" noMove="1" noResize="1" noEditPoints="1" noAdjustHandles="1" noChangeArrowheads="1" noChangeShapeType="1" noTextEdit="1"/>
              </p:cNvSpPr>
              <p:nvPr/>
            </p:nvSpPr>
            <p:spPr>
              <a:xfrm>
                <a:off x="5962561" y="3320201"/>
                <a:ext cx="432048" cy="216024"/>
              </a:xfrm>
              <a:prstGeom prst="rect">
                <a:avLst/>
              </a:prstGeom>
              <a:blipFill>
                <a:blip r:embed="rId4"/>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905971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6321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密钥编排</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密钥编排指从种子密钥得到轮密钥的过程，它由密钥扩展和轮密钥选取两部分组成</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其基本原则如下</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）轮密钥的比特数等于分组长度乘以轮数加</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例如要将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比特的明文经过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10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轮的加密，则总共需要（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10+1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128=1408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比特的密钥。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）种子密钥被扩展成为扩展密钥；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）轮密钥从扩展密钥中取，其中第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轮密钥取扩展密钥的前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Nb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个字，第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轮轮密钥取接下来的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Nb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个字，如此下去。</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483332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05347"/>
          </a:xfrm>
          <a:prstGeom prst="rect">
            <a:avLst/>
          </a:prstGeom>
          <a:noFill/>
        </p:spPr>
        <p:txBody>
          <a:bodyPr wrap="square" rtlCol="0">
            <a:spAutoFit/>
          </a:bodyPr>
          <a:lstStyle/>
          <a:p>
            <a:pPr>
              <a:lnSpc>
                <a:spcPct val="130000"/>
              </a:lnSpc>
              <a:spcBef>
                <a:spcPts val="300"/>
              </a:spcBef>
              <a:spcAft>
                <a:spcPts val="300"/>
              </a:spcAft>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密钥扩展</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①密钥扩展产生扩展密钥。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②用一个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字节字元素的一维数组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W[Nb*(Nr+1)]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表示扩展密钥。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③数组中最开始的 </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Nk</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个字为种子密钥。</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④其它的字由它前面的字经过递归处理后得到。</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458609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连接符: 肘形 43">
            <a:extLst>
              <a:ext uri="{FF2B5EF4-FFF2-40B4-BE49-F238E27FC236}">
                <a16:creationId xmlns:a16="http://schemas.microsoft.com/office/drawing/2014/main" id="{37E786D7-0621-4BA1-8292-423814056C89}"/>
              </a:ext>
            </a:extLst>
          </p:cNvPr>
          <p:cNvCxnSpPr>
            <a:cxnSpLocks/>
          </p:cNvCxnSpPr>
          <p:nvPr/>
        </p:nvCxnSpPr>
        <p:spPr>
          <a:xfrm rot="5400000">
            <a:off x="6315037" y="1592808"/>
            <a:ext cx="720000" cy="972000"/>
          </a:xfrm>
          <a:prstGeom prst="bentConnector3">
            <a:avLst>
              <a:gd name="adj1" fmla="val 80017"/>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6" name="表格 3">
            <a:extLst>
              <a:ext uri="{FF2B5EF4-FFF2-40B4-BE49-F238E27FC236}">
                <a16:creationId xmlns:a16="http://schemas.microsoft.com/office/drawing/2014/main" id="{CF6960B0-4963-4C92-B90F-6F541A764334}"/>
              </a:ext>
            </a:extLst>
          </p:cNvPr>
          <p:cNvGraphicFramePr>
            <a:graphicFrameLocks noGrp="1"/>
          </p:cNvGraphicFramePr>
          <p:nvPr>
            <p:extLst>
              <p:ext uri="{D42A27DB-BD31-4B8C-83A1-F6EECF244321}">
                <p14:modId xmlns:p14="http://schemas.microsoft.com/office/powerpoint/2010/main" val="2122425756"/>
              </p:ext>
            </p:extLst>
          </p:nvPr>
        </p:nvGraphicFramePr>
        <p:xfrm>
          <a:off x="593088" y="750251"/>
          <a:ext cx="2399928" cy="186480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466202">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K0</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K8</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K12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621328574"/>
                  </a:ext>
                </a:extLst>
              </a:tr>
              <a:tr h="466202">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K9</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4187728352"/>
                  </a:ext>
                </a:extLst>
              </a:tr>
              <a:tr h="466202">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K2</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K6</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K10</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K14</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833058746"/>
                  </a:ext>
                </a:extLst>
              </a:tr>
              <a:tr h="466202">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K3</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K7</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K11</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latin typeface="Times New Roman" panose="02020603050405020304" pitchFamily="18" charset="0"/>
                          <a:ea typeface="华文楷体" panose="02010600040101010101" pitchFamily="2" charset="-122"/>
                          <a:cs typeface="Times New Roman" panose="02020603050405020304" pitchFamily="18" charset="0"/>
                        </a:rPr>
                        <a:t>K15</a:t>
                      </a:r>
                      <a:endParaRPr lang="zh-CN" altLang="en-US" b="0" dirty="0">
                        <a:latin typeface="Times New Roman" panose="02020603050405020304" pitchFamily="18" charset="0"/>
                        <a:ea typeface="华文楷体" panose="02010600040101010101" pitchFamily="2" charset="-122"/>
                        <a:cs typeface="Times New Roman" panose="02020603050405020304" pitchFamily="18" charset="0"/>
                      </a:endParaRPr>
                    </a:p>
                  </a:txBody>
                  <a:tcP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298896949"/>
                  </a:ext>
                </a:extLst>
              </a:tr>
            </a:tbl>
          </a:graphicData>
        </a:graphic>
      </p:graphicFrame>
      <p:graphicFrame>
        <p:nvGraphicFramePr>
          <p:cNvPr id="7" name="表格 3">
            <a:extLst>
              <a:ext uri="{FF2B5EF4-FFF2-40B4-BE49-F238E27FC236}">
                <a16:creationId xmlns:a16="http://schemas.microsoft.com/office/drawing/2014/main" id="{702DB0FE-B902-4F83-AF5B-B3917286BE7E}"/>
              </a:ext>
            </a:extLst>
          </p:cNvPr>
          <p:cNvGraphicFramePr>
            <a:graphicFrameLocks noGrp="1"/>
          </p:cNvGraphicFramePr>
          <p:nvPr>
            <p:extLst>
              <p:ext uri="{D42A27DB-BD31-4B8C-83A1-F6EECF244321}">
                <p14:modId xmlns:p14="http://schemas.microsoft.com/office/powerpoint/2010/main" val="66494692"/>
              </p:ext>
            </p:extLst>
          </p:nvPr>
        </p:nvGraphicFramePr>
        <p:xfrm>
          <a:off x="611560" y="3939902"/>
          <a:ext cx="2399928" cy="1069428"/>
        </p:xfrm>
        <a:graphic>
          <a:graphicData uri="http://schemas.openxmlformats.org/drawingml/2006/table">
            <a:tbl>
              <a:tblPr firstRow="1" bandRow="1">
                <a:tableStyleId>{5C22544A-7EE6-4342-B048-85BDC9FD1C3A}</a:tableStyleId>
              </a:tblPr>
              <a:tblGrid>
                <a:gridCol w="599982">
                  <a:extLst>
                    <a:ext uri="{9D8B030D-6E8A-4147-A177-3AD203B41FA5}">
                      <a16:colId xmlns:a16="http://schemas.microsoft.com/office/drawing/2014/main" val="596590154"/>
                    </a:ext>
                  </a:extLst>
                </a:gridCol>
                <a:gridCol w="599982">
                  <a:extLst>
                    <a:ext uri="{9D8B030D-6E8A-4147-A177-3AD203B41FA5}">
                      <a16:colId xmlns:a16="http://schemas.microsoft.com/office/drawing/2014/main" val="1682154946"/>
                    </a:ext>
                  </a:extLst>
                </a:gridCol>
                <a:gridCol w="599982">
                  <a:extLst>
                    <a:ext uri="{9D8B030D-6E8A-4147-A177-3AD203B41FA5}">
                      <a16:colId xmlns:a16="http://schemas.microsoft.com/office/drawing/2014/main" val="1307029340"/>
                    </a:ext>
                  </a:extLst>
                </a:gridCol>
                <a:gridCol w="599982">
                  <a:extLst>
                    <a:ext uri="{9D8B030D-6E8A-4147-A177-3AD203B41FA5}">
                      <a16:colId xmlns:a16="http://schemas.microsoft.com/office/drawing/2014/main" val="840592447"/>
                    </a:ext>
                  </a:extLst>
                </a:gridCol>
              </a:tblGrid>
              <a:tr h="1069428">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W[0]</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E7F1F9"/>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W[1]</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CE2F2"/>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40000"/>
                        <a:lumOff val="60000"/>
                      </a:schemeClr>
                    </a:solidFill>
                  </a:tcPr>
                </a:tc>
                <a:tc>
                  <a:txBody>
                    <a:bodyPr/>
                    <a:lstStyle/>
                    <a:p>
                      <a:pPr algn="ctr"/>
                      <a:r>
                        <a:rPr lang="en-US" altLang="zh-CN"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W[3]</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3621328574"/>
                  </a:ext>
                </a:extLst>
              </a:tr>
            </a:tbl>
          </a:graphicData>
        </a:graphic>
      </p:graphicFrame>
      <p:sp>
        <p:nvSpPr>
          <p:cNvPr id="5" name="箭头: 下 4">
            <a:extLst>
              <a:ext uri="{FF2B5EF4-FFF2-40B4-BE49-F238E27FC236}">
                <a16:creationId xmlns:a16="http://schemas.microsoft.com/office/drawing/2014/main" id="{AD643661-446E-4BCC-9094-822D5641C0EC}"/>
              </a:ext>
            </a:extLst>
          </p:cNvPr>
          <p:cNvSpPr/>
          <p:nvPr/>
        </p:nvSpPr>
        <p:spPr>
          <a:xfrm>
            <a:off x="816154" y="2740166"/>
            <a:ext cx="166876" cy="1069428"/>
          </a:xfrm>
          <a:prstGeom prst="down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下 8">
            <a:extLst>
              <a:ext uri="{FF2B5EF4-FFF2-40B4-BE49-F238E27FC236}">
                <a16:creationId xmlns:a16="http://schemas.microsoft.com/office/drawing/2014/main" id="{3F9E4C4E-1D45-4D32-82A6-DB58E936D7A5}"/>
              </a:ext>
            </a:extLst>
          </p:cNvPr>
          <p:cNvSpPr/>
          <p:nvPr/>
        </p:nvSpPr>
        <p:spPr>
          <a:xfrm>
            <a:off x="1403648" y="2740166"/>
            <a:ext cx="166876" cy="1069428"/>
          </a:xfrm>
          <a:prstGeom prst="down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ED6DC8B3-F5C2-43F7-95BB-A58A962DFAAD}"/>
              </a:ext>
            </a:extLst>
          </p:cNvPr>
          <p:cNvSpPr/>
          <p:nvPr/>
        </p:nvSpPr>
        <p:spPr>
          <a:xfrm>
            <a:off x="2005162" y="2740166"/>
            <a:ext cx="166876" cy="1069428"/>
          </a:xfrm>
          <a:prstGeom prst="down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1A058BE3-20AC-4C2E-87C5-21ADFC3AED1A}"/>
              </a:ext>
            </a:extLst>
          </p:cNvPr>
          <p:cNvSpPr/>
          <p:nvPr/>
        </p:nvSpPr>
        <p:spPr>
          <a:xfrm>
            <a:off x="2619946" y="2740166"/>
            <a:ext cx="166876" cy="1069428"/>
          </a:xfrm>
          <a:prstGeom prst="downArrow">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2" name="表格 3">
            <a:extLst>
              <a:ext uri="{FF2B5EF4-FFF2-40B4-BE49-F238E27FC236}">
                <a16:creationId xmlns:a16="http://schemas.microsoft.com/office/drawing/2014/main" id="{310D8352-A86C-4BB3-8645-EF0EA33C86F3}"/>
              </a:ext>
            </a:extLst>
          </p:cNvPr>
          <p:cNvGraphicFramePr>
            <a:graphicFrameLocks noGrp="1"/>
          </p:cNvGraphicFramePr>
          <p:nvPr>
            <p:extLst>
              <p:ext uri="{D42A27DB-BD31-4B8C-83A1-F6EECF244321}">
                <p14:modId xmlns:p14="http://schemas.microsoft.com/office/powerpoint/2010/main" val="700607192"/>
              </p:ext>
            </p:extLst>
          </p:nvPr>
        </p:nvGraphicFramePr>
        <p:xfrm>
          <a:off x="4400198" y="750250"/>
          <a:ext cx="3268148" cy="1461459"/>
        </p:xfrm>
        <a:graphic>
          <a:graphicData uri="http://schemas.openxmlformats.org/drawingml/2006/table">
            <a:tbl>
              <a:tblPr firstRow="1" bandRow="1">
                <a:tableStyleId>{8A107856-5554-42FB-B03E-39F5DBC370BA}</a:tableStyleId>
              </a:tblPr>
              <a:tblGrid>
                <a:gridCol w="817037">
                  <a:extLst>
                    <a:ext uri="{9D8B030D-6E8A-4147-A177-3AD203B41FA5}">
                      <a16:colId xmlns:a16="http://schemas.microsoft.com/office/drawing/2014/main" val="596590154"/>
                    </a:ext>
                  </a:extLst>
                </a:gridCol>
                <a:gridCol w="817037">
                  <a:extLst>
                    <a:ext uri="{9D8B030D-6E8A-4147-A177-3AD203B41FA5}">
                      <a16:colId xmlns:a16="http://schemas.microsoft.com/office/drawing/2014/main" val="1682154946"/>
                    </a:ext>
                  </a:extLst>
                </a:gridCol>
                <a:gridCol w="817037">
                  <a:extLst>
                    <a:ext uri="{9D8B030D-6E8A-4147-A177-3AD203B41FA5}">
                      <a16:colId xmlns:a16="http://schemas.microsoft.com/office/drawing/2014/main" val="1307029340"/>
                    </a:ext>
                  </a:extLst>
                </a:gridCol>
                <a:gridCol w="817037">
                  <a:extLst>
                    <a:ext uri="{9D8B030D-6E8A-4147-A177-3AD203B41FA5}">
                      <a16:colId xmlns:a16="http://schemas.microsoft.com/office/drawing/2014/main" val="840592447"/>
                    </a:ext>
                  </a:extLst>
                </a:gridCol>
              </a:tblGrid>
              <a:tr h="1461459">
                <a:tc>
                  <a:txBody>
                    <a:bodyPr/>
                    <a:lstStyle/>
                    <a:p>
                      <a:pPr algn="ctr"/>
                      <a:r>
                        <a:rPr lang="en-US" altLang="zh-CN" b="0" dirty="0">
                          <a:solidFill>
                            <a:schemeClr val="tx1"/>
                          </a:solidFill>
                        </a:rPr>
                        <a:t>W[4i-4]</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W[4i-3]</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W[4i-1]</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3621328574"/>
                  </a:ext>
                </a:extLst>
              </a:tr>
            </a:tbl>
          </a:graphicData>
        </a:graphic>
      </p:graphicFrame>
      <p:graphicFrame>
        <p:nvGraphicFramePr>
          <p:cNvPr id="13" name="表格 3">
            <a:extLst>
              <a:ext uri="{FF2B5EF4-FFF2-40B4-BE49-F238E27FC236}">
                <a16:creationId xmlns:a16="http://schemas.microsoft.com/office/drawing/2014/main" id="{33A7281C-6792-44DA-8776-DBF727571F35}"/>
              </a:ext>
            </a:extLst>
          </p:cNvPr>
          <p:cNvGraphicFramePr>
            <a:graphicFrameLocks noGrp="1"/>
          </p:cNvGraphicFramePr>
          <p:nvPr>
            <p:extLst>
              <p:ext uri="{D42A27DB-BD31-4B8C-83A1-F6EECF244321}">
                <p14:modId xmlns:p14="http://schemas.microsoft.com/office/powerpoint/2010/main" val="2994235950"/>
              </p:ext>
            </p:extLst>
          </p:nvPr>
        </p:nvGraphicFramePr>
        <p:xfrm>
          <a:off x="4283968" y="3508375"/>
          <a:ext cx="3540312" cy="1461459"/>
        </p:xfrm>
        <a:graphic>
          <a:graphicData uri="http://schemas.openxmlformats.org/drawingml/2006/table">
            <a:tbl>
              <a:tblPr firstRow="1" bandRow="1">
                <a:tableStyleId>{8A107856-5554-42FB-B03E-39F5DBC370BA}</a:tableStyleId>
              </a:tblPr>
              <a:tblGrid>
                <a:gridCol w="885078">
                  <a:extLst>
                    <a:ext uri="{9D8B030D-6E8A-4147-A177-3AD203B41FA5}">
                      <a16:colId xmlns:a16="http://schemas.microsoft.com/office/drawing/2014/main" val="596590154"/>
                    </a:ext>
                  </a:extLst>
                </a:gridCol>
                <a:gridCol w="885078">
                  <a:extLst>
                    <a:ext uri="{9D8B030D-6E8A-4147-A177-3AD203B41FA5}">
                      <a16:colId xmlns:a16="http://schemas.microsoft.com/office/drawing/2014/main" val="1682154946"/>
                    </a:ext>
                  </a:extLst>
                </a:gridCol>
                <a:gridCol w="885078">
                  <a:extLst>
                    <a:ext uri="{9D8B030D-6E8A-4147-A177-3AD203B41FA5}">
                      <a16:colId xmlns:a16="http://schemas.microsoft.com/office/drawing/2014/main" val="1307029340"/>
                    </a:ext>
                  </a:extLst>
                </a:gridCol>
                <a:gridCol w="885078">
                  <a:extLst>
                    <a:ext uri="{9D8B030D-6E8A-4147-A177-3AD203B41FA5}">
                      <a16:colId xmlns:a16="http://schemas.microsoft.com/office/drawing/2014/main" val="840592447"/>
                    </a:ext>
                  </a:extLst>
                </a:gridCol>
              </a:tblGrid>
              <a:tr h="1461459">
                <a:tc>
                  <a:txBody>
                    <a:bodyPr/>
                    <a:lstStyle/>
                    <a:p>
                      <a:pPr algn="ctr"/>
                      <a:r>
                        <a:rPr lang="en-US" altLang="zh-CN" b="0" dirty="0">
                          <a:solidFill>
                            <a:schemeClr val="tx1"/>
                          </a:solidFill>
                        </a:rPr>
                        <a:t>W[4i]</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W[4i+1]</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W[4i+2]</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tc>
                  <a:txBody>
                    <a:bodyPr/>
                    <a:lstStyle/>
                    <a:p>
                      <a:pPr algn="ctr"/>
                      <a:r>
                        <a:rPr lang="en-US" altLang="zh-CN" b="0" dirty="0">
                          <a:solidFill>
                            <a:schemeClr val="tx1"/>
                          </a:solidFill>
                        </a:rPr>
                        <a:t>W[4i+3]</a:t>
                      </a:r>
                      <a:endParaRPr lang="zh-CN" altLang="en-US" b="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txBody>
                  <a:tcPr anchor="ctr"/>
                </a:tc>
                <a:extLst>
                  <a:ext uri="{0D108BD9-81ED-4DB2-BD59-A6C34878D82A}">
                    <a16:rowId xmlns:a16="http://schemas.microsoft.com/office/drawing/2014/main" val="3621328574"/>
                  </a:ext>
                </a:extLst>
              </a:tr>
            </a:tbl>
          </a:graphicData>
        </a:graphic>
      </p:graphicFrame>
      <p:cxnSp>
        <p:nvCxnSpPr>
          <p:cNvPr id="14" name="直接箭头连接符 13">
            <a:extLst>
              <a:ext uri="{FF2B5EF4-FFF2-40B4-BE49-F238E27FC236}">
                <a16:creationId xmlns:a16="http://schemas.microsoft.com/office/drawing/2014/main" id="{BCFC163D-BFAE-42C4-BC20-C8459BE6D144}"/>
              </a:ext>
            </a:extLst>
          </p:cNvPr>
          <p:cNvCxnSpPr>
            <a:cxnSpLocks/>
          </p:cNvCxnSpPr>
          <p:nvPr/>
        </p:nvCxnSpPr>
        <p:spPr>
          <a:xfrm>
            <a:off x="4788024" y="2211709"/>
            <a:ext cx="0" cy="648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F36835DA-0BF3-47CE-91DC-DF3920EDAC84}"/>
              </a:ext>
            </a:extLst>
          </p:cNvPr>
          <p:cNvGrpSpPr/>
          <p:nvPr/>
        </p:nvGrpSpPr>
        <p:grpSpPr>
          <a:xfrm>
            <a:off x="4633206" y="2859782"/>
            <a:ext cx="309635" cy="309635"/>
            <a:chOff x="3563888" y="1419622"/>
            <a:chExt cx="436701" cy="436701"/>
          </a:xfrm>
        </p:grpSpPr>
        <p:sp>
          <p:nvSpPr>
            <p:cNvPr id="15" name="椭圆 14">
              <a:extLst>
                <a:ext uri="{FF2B5EF4-FFF2-40B4-BE49-F238E27FC236}">
                  <a16:creationId xmlns:a16="http://schemas.microsoft.com/office/drawing/2014/main" id="{E6F3D5FF-29C0-42D1-9DCA-DB5147406A90}"/>
                </a:ext>
              </a:extLst>
            </p:cNvPr>
            <p:cNvSpPr/>
            <p:nvPr/>
          </p:nvSpPr>
          <p:spPr>
            <a:xfrm>
              <a:off x="3563888" y="1419622"/>
              <a:ext cx="436701" cy="4367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A741E021-23C5-4D63-942D-88B8ABE9C2FE}"/>
                </a:ext>
              </a:extLst>
            </p:cNvPr>
            <p:cNvCxnSpPr>
              <a:cxnSpLocks/>
            </p:cNvCxnSpPr>
            <p:nvPr/>
          </p:nvCxnSpPr>
          <p:spPr>
            <a:xfrm>
              <a:off x="3563888" y="1646532"/>
              <a:ext cx="4367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9F16161-FBE3-480D-98D1-BEA6098B569A}"/>
                </a:ext>
              </a:extLst>
            </p:cNvPr>
            <p:cNvCxnSpPr>
              <a:endCxn id="15" idx="4"/>
            </p:cNvCxnSpPr>
            <p:nvPr/>
          </p:nvCxnSpPr>
          <p:spPr>
            <a:xfrm>
              <a:off x="3779912" y="1419622"/>
              <a:ext cx="2327" cy="436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2" name="直接箭头连接符 21">
            <a:extLst>
              <a:ext uri="{FF2B5EF4-FFF2-40B4-BE49-F238E27FC236}">
                <a16:creationId xmlns:a16="http://schemas.microsoft.com/office/drawing/2014/main" id="{3519E206-2B53-49D1-828C-90BED2AC89D6}"/>
              </a:ext>
            </a:extLst>
          </p:cNvPr>
          <p:cNvCxnSpPr/>
          <p:nvPr/>
        </p:nvCxnSpPr>
        <p:spPr>
          <a:xfrm>
            <a:off x="4786374" y="3184338"/>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A35C04DD-2418-4AA3-B6EC-DF7B71DA85D6}"/>
              </a:ext>
            </a:extLst>
          </p:cNvPr>
          <p:cNvGrpSpPr/>
          <p:nvPr/>
        </p:nvGrpSpPr>
        <p:grpSpPr>
          <a:xfrm>
            <a:off x="5478081" y="2859782"/>
            <a:ext cx="309635" cy="309635"/>
            <a:chOff x="3563888" y="1419622"/>
            <a:chExt cx="436701" cy="436701"/>
          </a:xfrm>
        </p:grpSpPr>
        <p:sp>
          <p:nvSpPr>
            <p:cNvPr id="24" name="椭圆 23">
              <a:extLst>
                <a:ext uri="{FF2B5EF4-FFF2-40B4-BE49-F238E27FC236}">
                  <a16:creationId xmlns:a16="http://schemas.microsoft.com/office/drawing/2014/main" id="{F785D16F-B6EF-4AD9-9C39-C01D9832F7AD}"/>
                </a:ext>
              </a:extLst>
            </p:cNvPr>
            <p:cNvSpPr/>
            <p:nvPr/>
          </p:nvSpPr>
          <p:spPr>
            <a:xfrm>
              <a:off x="3563888" y="1419622"/>
              <a:ext cx="436701" cy="4367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2D2CFE69-E69C-423E-84FF-0498E41D454B}"/>
                </a:ext>
              </a:extLst>
            </p:cNvPr>
            <p:cNvCxnSpPr>
              <a:cxnSpLocks/>
            </p:cNvCxnSpPr>
            <p:nvPr/>
          </p:nvCxnSpPr>
          <p:spPr>
            <a:xfrm>
              <a:off x="3563888" y="1646532"/>
              <a:ext cx="4367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A257A16-C8D7-4935-8EFF-3FF610088A25}"/>
                </a:ext>
              </a:extLst>
            </p:cNvPr>
            <p:cNvCxnSpPr>
              <a:endCxn id="24" idx="4"/>
            </p:cNvCxnSpPr>
            <p:nvPr/>
          </p:nvCxnSpPr>
          <p:spPr>
            <a:xfrm>
              <a:off x="3779912" y="1419622"/>
              <a:ext cx="2327" cy="436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7" name="直接箭头连接符 26">
            <a:extLst>
              <a:ext uri="{FF2B5EF4-FFF2-40B4-BE49-F238E27FC236}">
                <a16:creationId xmlns:a16="http://schemas.microsoft.com/office/drawing/2014/main" id="{B04EC55E-CA2B-4017-8865-7B2A36A54ACC}"/>
              </a:ext>
            </a:extLst>
          </p:cNvPr>
          <p:cNvCxnSpPr/>
          <p:nvPr/>
        </p:nvCxnSpPr>
        <p:spPr>
          <a:xfrm>
            <a:off x="5631249" y="3184338"/>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76FE90BB-A45A-4E58-B7C8-A5C913929D3B}"/>
              </a:ext>
            </a:extLst>
          </p:cNvPr>
          <p:cNvGrpSpPr/>
          <p:nvPr/>
        </p:nvGrpSpPr>
        <p:grpSpPr>
          <a:xfrm>
            <a:off x="6322956" y="2859782"/>
            <a:ext cx="309635" cy="309635"/>
            <a:chOff x="3563888" y="1419622"/>
            <a:chExt cx="436701" cy="436701"/>
          </a:xfrm>
        </p:grpSpPr>
        <p:sp>
          <p:nvSpPr>
            <p:cNvPr id="29" name="椭圆 28">
              <a:extLst>
                <a:ext uri="{FF2B5EF4-FFF2-40B4-BE49-F238E27FC236}">
                  <a16:creationId xmlns:a16="http://schemas.microsoft.com/office/drawing/2014/main" id="{BDE8F722-44B9-499E-B7B0-886AF7103D4E}"/>
                </a:ext>
              </a:extLst>
            </p:cNvPr>
            <p:cNvSpPr/>
            <p:nvPr/>
          </p:nvSpPr>
          <p:spPr>
            <a:xfrm>
              <a:off x="3563888" y="1419622"/>
              <a:ext cx="436701" cy="4367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a:extLst>
                <a:ext uri="{FF2B5EF4-FFF2-40B4-BE49-F238E27FC236}">
                  <a16:creationId xmlns:a16="http://schemas.microsoft.com/office/drawing/2014/main" id="{AF82E382-666F-4808-9C67-875956AD4272}"/>
                </a:ext>
              </a:extLst>
            </p:cNvPr>
            <p:cNvCxnSpPr>
              <a:cxnSpLocks/>
            </p:cNvCxnSpPr>
            <p:nvPr/>
          </p:nvCxnSpPr>
          <p:spPr>
            <a:xfrm>
              <a:off x="3563888" y="1646532"/>
              <a:ext cx="4367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3912515C-FB16-43A8-9BB0-6141BFC23777}"/>
                </a:ext>
              </a:extLst>
            </p:cNvPr>
            <p:cNvCxnSpPr>
              <a:endCxn id="29" idx="4"/>
            </p:cNvCxnSpPr>
            <p:nvPr/>
          </p:nvCxnSpPr>
          <p:spPr>
            <a:xfrm>
              <a:off x="3779912" y="1419622"/>
              <a:ext cx="2327" cy="436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2" name="直接箭头连接符 31">
            <a:extLst>
              <a:ext uri="{FF2B5EF4-FFF2-40B4-BE49-F238E27FC236}">
                <a16:creationId xmlns:a16="http://schemas.microsoft.com/office/drawing/2014/main" id="{139D7EC4-E5D0-4F73-B80C-81DA5E9C43A1}"/>
              </a:ext>
            </a:extLst>
          </p:cNvPr>
          <p:cNvCxnSpPr/>
          <p:nvPr/>
        </p:nvCxnSpPr>
        <p:spPr>
          <a:xfrm>
            <a:off x="6476124" y="3184338"/>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FDE33F41-98CF-4267-9124-C09C2B05343A}"/>
              </a:ext>
            </a:extLst>
          </p:cNvPr>
          <p:cNvGrpSpPr/>
          <p:nvPr/>
        </p:nvGrpSpPr>
        <p:grpSpPr>
          <a:xfrm>
            <a:off x="7167831" y="2874444"/>
            <a:ext cx="309635" cy="309635"/>
            <a:chOff x="3563888" y="1419622"/>
            <a:chExt cx="436701" cy="436701"/>
          </a:xfrm>
        </p:grpSpPr>
        <p:sp>
          <p:nvSpPr>
            <p:cNvPr id="34" name="椭圆 33">
              <a:extLst>
                <a:ext uri="{FF2B5EF4-FFF2-40B4-BE49-F238E27FC236}">
                  <a16:creationId xmlns:a16="http://schemas.microsoft.com/office/drawing/2014/main" id="{92E2570B-5AE2-40CE-97E4-99F7FA897AF6}"/>
                </a:ext>
              </a:extLst>
            </p:cNvPr>
            <p:cNvSpPr/>
            <p:nvPr/>
          </p:nvSpPr>
          <p:spPr>
            <a:xfrm>
              <a:off x="3563888" y="1419622"/>
              <a:ext cx="436701" cy="4367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a:extLst>
                <a:ext uri="{FF2B5EF4-FFF2-40B4-BE49-F238E27FC236}">
                  <a16:creationId xmlns:a16="http://schemas.microsoft.com/office/drawing/2014/main" id="{949018EF-2EF9-4B46-8FB5-4DAE90A0A1A5}"/>
                </a:ext>
              </a:extLst>
            </p:cNvPr>
            <p:cNvCxnSpPr>
              <a:cxnSpLocks/>
            </p:cNvCxnSpPr>
            <p:nvPr/>
          </p:nvCxnSpPr>
          <p:spPr>
            <a:xfrm>
              <a:off x="3563888" y="1646532"/>
              <a:ext cx="4367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3014BA2-00DC-4157-9039-2135F2EDF50D}"/>
                </a:ext>
              </a:extLst>
            </p:cNvPr>
            <p:cNvCxnSpPr>
              <a:endCxn id="34" idx="4"/>
            </p:cNvCxnSpPr>
            <p:nvPr/>
          </p:nvCxnSpPr>
          <p:spPr>
            <a:xfrm>
              <a:off x="3779912" y="1419622"/>
              <a:ext cx="2327" cy="4367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7" name="直接箭头连接符 36">
            <a:extLst>
              <a:ext uri="{FF2B5EF4-FFF2-40B4-BE49-F238E27FC236}">
                <a16:creationId xmlns:a16="http://schemas.microsoft.com/office/drawing/2014/main" id="{EDEA0D56-7E8A-4513-932F-3F1A11108149}"/>
              </a:ext>
            </a:extLst>
          </p:cNvPr>
          <p:cNvCxnSpPr/>
          <p:nvPr/>
        </p:nvCxnSpPr>
        <p:spPr>
          <a:xfrm>
            <a:off x="7320999" y="3199000"/>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9220E860-7888-4F4B-856F-ABF0C69A40CA}"/>
              </a:ext>
            </a:extLst>
          </p:cNvPr>
          <p:cNvCxnSpPr>
            <a:cxnSpLocks/>
          </p:cNvCxnSpPr>
          <p:nvPr/>
        </p:nvCxnSpPr>
        <p:spPr>
          <a:xfrm>
            <a:off x="7319129" y="2211709"/>
            <a:ext cx="0" cy="648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BF838387-08C0-4DB2-80B4-E5F53BEDF7A4}"/>
              </a:ext>
            </a:extLst>
          </p:cNvPr>
          <p:cNvCxnSpPr>
            <a:cxnSpLocks/>
          </p:cNvCxnSpPr>
          <p:nvPr/>
        </p:nvCxnSpPr>
        <p:spPr>
          <a:xfrm>
            <a:off x="6475428" y="2211709"/>
            <a:ext cx="0" cy="648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7033DC2F-BBB7-49E0-BDC5-EE61D03831EB}"/>
              </a:ext>
            </a:extLst>
          </p:cNvPr>
          <p:cNvCxnSpPr>
            <a:cxnSpLocks/>
          </p:cNvCxnSpPr>
          <p:nvPr/>
        </p:nvCxnSpPr>
        <p:spPr>
          <a:xfrm>
            <a:off x="5631726" y="2211709"/>
            <a:ext cx="0" cy="648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70EE6B29-AF3B-4811-A492-DE8639B14DD2}"/>
              </a:ext>
            </a:extLst>
          </p:cNvPr>
          <p:cNvCxnSpPr>
            <a:endCxn id="15" idx="6"/>
          </p:cNvCxnSpPr>
          <p:nvPr/>
        </p:nvCxnSpPr>
        <p:spPr>
          <a:xfrm rot="10800000" flipV="1">
            <a:off x="4942842" y="2571750"/>
            <a:ext cx="997311" cy="442850"/>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02EE665A-6F3E-477D-AA99-1D6C4B26A327}"/>
              </a:ext>
            </a:extLst>
          </p:cNvPr>
          <p:cNvSpPr/>
          <p:nvPr/>
        </p:nvSpPr>
        <p:spPr>
          <a:xfrm>
            <a:off x="5950978" y="2428161"/>
            <a:ext cx="432048" cy="36946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200" dirty="0">
                <a:solidFill>
                  <a:schemeClr val="tx2"/>
                </a:solidFill>
                <a:ea typeface="华文楷体" panose="02010600040101010101" pitchFamily="2" charset="-122"/>
              </a:rPr>
              <a:t>T</a:t>
            </a:r>
            <a:endParaRPr lang="zh-CN" altLang="en-US" sz="3200" dirty="0">
              <a:solidFill>
                <a:schemeClr val="tx2"/>
              </a:solidFill>
              <a:latin typeface="华文楷体" panose="02010600040101010101" pitchFamily="2" charset="-122"/>
              <a:ea typeface="华文楷体" panose="02010600040101010101" pitchFamily="2" charset="-122"/>
            </a:endParaRPr>
          </a:p>
        </p:txBody>
      </p:sp>
      <p:cxnSp>
        <p:nvCxnSpPr>
          <p:cNvPr id="56" name="直接箭头连接符 55">
            <a:extLst>
              <a:ext uri="{FF2B5EF4-FFF2-40B4-BE49-F238E27FC236}">
                <a16:creationId xmlns:a16="http://schemas.microsoft.com/office/drawing/2014/main" id="{B99BC1FB-1BA4-41F6-9D15-75932EDF8B97}"/>
              </a:ext>
            </a:extLst>
          </p:cNvPr>
          <p:cNvCxnSpPr>
            <a:cxnSpLocks/>
          </p:cNvCxnSpPr>
          <p:nvPr/>
        </p:nvCxnSpPr>
        <p:spPr>
          <a:xfrm flipV="1">
            <a:off x="4973350" y="3145970"/>
            <a:ext cx="466497" cy="3093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C03CAB37-8E10-4000-84A0-CB84603B91BF}"/>
              </a:ext>
            </a:extLst>
          </p:cNvPr>
          <p:cNvCxnSpPr>
            <a:cxnSpLocks/>
          </p:cNvCxnSpPr>
          <p:nvPr/>
        </p:nvCxnSpPr>
        <p:spPr>
          <a:xfrm flipV="1">
            <a:off x="5820438" y="3167013"/>
            <a:ext cx="466497" cy="3093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934C1893-05EA-4043-AED5-B75EAC70FB11}"/>
              </a:ext>
            </a:extLst>
          </p:cNvPr>
          <p:cNvCxnSpPr>
            <a:cxnSpLocks/>
          </p:cNvCxnSpPr>
          <p:nvPr/>
        </p:nvCxnSpPr>
        <p:spPr>
          <a:xfrm flipV="1">
            <a:off x="6675037" y="3146127"/>
            <a:ext cx="466497" cy="3093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2B646FBB-47ED-4837-B91F-3C1D42D8C634}"/>
              </a:ext>
            </a:extLst>
          </p:cNvPr>
          <p:cNvSpPr txBox="1"/>
          <p:nvPr/>
        </p:nvSpPr>
        <p:spPr>
          <a:xfrm>
            <a:off x="476378" y="4167746"/>
            <a:ext cx="8407268" cy="92333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这个</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44</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矩阵的每一列的</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个字节组成一个字，矩阵</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列的</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个字依次命名为</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W[0]</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W[1]</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W[2]</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W[3]</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，它们构成一个以字为单位的数组</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。例如，设密钥</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abcdefghijklmnop</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K0 = ‘a’,K1 = ‘b’, K2 = ‘c’,K3 = ‘</a:t>
            </a:r>
            <a:r>
              <a:rPr lang="en-US" altLang="zh-CN" dirty="0" err="1">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d’,W</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 “</a:t>
            </a:r>
            <a:r>
              <a:rPr lang="en-US" altLang="zh-CN" dirty="0" err="1">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abcd</a:t>
            </a:r>
            <a:r>
              <a:rPr lang="en-US" altLang="zh-CN"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dirty="0">
              <a:solidFill>
                <a:srgbClr val="FFFF00"/>
              </a:solidFill>
            </a:endParaRPr>
          </a:p>
        </p:txBody>
      </p:sp>
    </p:spTree>
    <p:extLst>
      <p:ext uri="{BB962C8B-B14F-4D97-AF65-F5344CB8AC3E}">
        <p14:creationId xmlns:p14="http://schemas.microsoft.com/office/powerpoint/2010/main" val="1270239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randombar(horizontal)">
                                      <p:cBhvr>
                                        <p:cTn id="13"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29822"/>
          </a:xfrm>
          <a:prstGeom prst="rect">
            <a:avLst/>
          </a:prstGeom>
          <a:noFill/>
        </p:spPr>
        <p:txBody>
          <a:bodyPr wrap="square" rtlCol="0">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接着，对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数组扩充</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个新列，构成总共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列的扩展密钥数组。新列以如下的递归方式产生：</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不是</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的倍数，那么第</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列由如下等式确定：</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]=W[i-4]⨁W[i-1]</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的倍数，那么第</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列由如下等式确定：</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]=W[i-4]⨁T(W[i-1])</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是一个函数，由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部分组成：</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字循环、字节代换和轮常量异或</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部分的作用分别如下。</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9721796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98661"/>
          </a:xfrm>
          <a:prstGeom prst="rect">
            <a:avLst/>
          </a:prstGeom>
          <a:noFill/>
        </p:spPr>
        <p:txBody>
          <a:bodyPr wrap="square" rtlCol="0">
            <a:spAutoFit/>
          </a:bodyPr>
          <a:lstStyle/>
          <a:p>
            <a:pP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字循环：</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个字中的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个字节循环左移</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个字节。即将输入字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[b0, b1, b2, b3]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变换成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[b1,b2,b3,b0]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字节代换：</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对字循环的结果使用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盒进行字节代换。</a:t>
            </a:r>
          </a:p>
          <a:p>
            <a:pP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轮常量异或：</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将前两步的结果同轮常量</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Rcon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进行异或，其中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表示轮数。</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轮常量</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Rcon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是一个字，其值见下表。</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aphicFrame>
        <p:nvGraphicFramePr>
          <p:cNvPr id="2" name="表格 1">
            <a:extLst>
              <a:ext uri="{FF2B5EF4-FFF2-40B4-BE49-F238E27FC236}">
                <a16:creationId xmlns:a16="http://schemas.microsoft.com/office/drawing/2014/main" id="{787851F7-BC41-4318-ADD3-C50FC42FDA41}"/>
              </a:ext>
            </a:extLst>
          </p:cNvPr>
          <p:cNvGraphicFramePr>
            <a:graphicFrameLocks noGrp="1"/>
          </p:cNvGraphicFramePr>
          <p:nvPr>
            <p:extLst>
              <p:ext uri="{D42A27DB-BD31-4B8C-83A1-F6EECF244321}">
                <p14:modId xmlns:p14="http://schemas.microsoft.com/office/powerpoint/2010/main" val="3056275635"/>
              </p:ext>
            </p:extLst>
          </p:nvPr>
        </p:nvGraphicFramePr>
        <p:xfrm>
          <a:off x="683568" y="2891421"/>
          <a:ext cx="8229600" cy="1463040"/>
        </p:xfrm>
        <a:graphic>
          <a:graphicData uri="http://schemas.openxmlformats.org/drawingml/2006/table">
            <a:tbl>
              <a:tblPr>
                <a:tableStyleId>{8799B23B-EC83-4686-B30A-512413B5E67A}</a:tableStyleId>
              </a:tblPr>
              <a:tblGrid>
                <a:gridCol w="1371600">
                  <a:extLst>
                    <a:ext uri="{9D8B030D-6E8A-4147-A177-3AD203B41FA5}">
                      <a16:colId xmlns:a16="http://schemas.microsoft.com/office/drawing/2014/main" val="632391044"/>
                    </a:ext>
                  </a:extLst>
                </a:gridCol>
                <a:gridCol w="1371600">
                  <a:extLst>
                    <a:ext uri="{9D8B030D-6E8A-4147-A177-3AD203B41FA5}">
                      <a16:colId xmlns:a16="http://schemas.microsoft.com/office/drawing/2014/main" val="3623747273"/>
                    </a:ext>
                  </a:extLst>
                </a:gridCol>
                <a:gridCol w="1371600">
                  <a:extLst>
                    <a:ext uri="{9D8B030D-6E8A-4147-A177-3AD203B41FA5}">
                      <a16:colId xmlns:a16="http://schemas.microsoft.com/office/drawing/2014/main" val="1216129983"/>
                    </a:ext>
                  </a:extLst>
                </a:gridCol>
                <a:gridCol w="1371600">
                  <a:extLst>
                    <a:ext uri="{9D8B030D-6E8A-4147-A177-3AD203B41FA5}">
                      <a16:colId xmlns:a16="http://schemas.microsoft.com/office/drawing/2014/main" val="2249478643"/>
                    </a:ext>
                  </a:extLst>
                </a:gridCol>
                <a:gridCol w="1371600">
                  <a:extLst>
                    <a:ext uri="{9D8B030D-6E8A-4147-A177-3AD203B41FA5}">
                      <a16:colId xmlns:a16="http://schemas.microsoft.com/office/drawing/2014/main" val="3917561293"/>
                    </a:ext>
                  </a:extLst>
                </a:gridCol>
                <a:gridCol w="1371600">
                  <a:extLst>
                    <a:ext uri="{9D8B030D-6E8A-4147-A177-3AD203B41FA5}">
                      <a16:colId xmlns:a16="http://schemas.microsoft.com/office/drawing/2014/main" val="1271958613"/>
                    </a:ext>
                  </a:extLst>
                </a:gridCol>
              </a:tblGrid>
              <a:tr h="0">
                <a:tc>
                  <a:txBody>
                    <a:bodyPr/>
                    <a:lstStyle/>
                    <a:p>
                      <a:r>
                        <a:rPr lang="en-US" b="1" dirty="0">
                          <a:latin typeface="Times New Roman" panose="02020603050405020304" pitchFamily="18" charset="0"/>
                          <a:cs typeface="Times New Roman" panose="02020603050405020304" pitchFamily="18" charset="0"/>
                        </a:rPr>
                        <a:t>j</a:t>
                      </a:r>
                    </a:p>
                  </a:txBody>
                  <a:tcPr anchor="ctr"/>
                </a:tc>
                <a:tc>
                  <a:txBody>
                    <a:bodyPr/>
                    <a:lstStyle/>
                    <a:p>
                      <a:r>
                        <a:rPr lang="en-US" altLang="zh-CN" b="1">
                          <a:latin typeface="Times New Roman" panose="02020603050405020304" pitchFamily="18" charset="0"/>
                          <a:cs typeface="Times New Roman" panose="02020603050405020304" pitchFamily="18" charset="0"/>
                        </a:rPr>
                        <a:t>1</a:t>
                      </a:r>
                    </a:p>
                  </a:txBody>
                  <a:tcPr anchor="ctr"/>
                </a:tc>
                <a:tc>
                  <a:txBody>
                    <a:bodyPr/>
                    <a:lstStyle/>
                    <a:p>
                      <a:r>
                        <a:rPr lang="en-US" altLang="zh-CN" b="1">
                          <a:latin typeface="Times New Roman" panose="02020603050405020304" pitchFamily="18" charset="0"/>
                          <a:cs typeface="Times New Roman" panose="02020603050405020304" pitchFamily="18" charset="0"/>
                        </a:rPr>
                        <a:t>2</a:t>
                      </a:r>
                    </a:p>
                  </a:txBody>
                  <a:tcPr anchor="ctr"/>
                </a:tc>
                <a:tc>
                  <a:txBody>
                    <a:bodyPr/>
                    <a:lstStyle/>
                    <a:p>
                      <a:r>
                        <a:rPr lang="en-US" altLang="zh-CN" b="1">
                          <a:latin typeface="Times New Roman" panose="02020603050405020304" pitchFamily="18" charset="0"/>
                          <a:cs typeface="Times New Roman" panose="02020603050405020304" pitchFamily="18" charset="0"/>
                        </a:rPr>
                        <a:t>3</a:t>
                      </a:r>
                    </a:p>
                  </a:txBody>
                  <a:tcPr anchor="ctr"/>
                </a:tc>
                <a:tc>
                  <a:txBody>
                    <a:bodyPr/>
                    <a:lstStyle/>
                    <a:p>
                      <a:r>
                        <a:rPr lang="en-US" altLang="zh-CN" b="1">
                          <a:latin typeface="Times New Roman" panose="02020603050405020304" pitchFamily="18" charset="0"/>
                          <a:cs typeface="Times New Roman" panose="02020603050405020304" pitchFamily="18" charset="0"/>
                        </a:rPr>
                        <a:t>4</a:t>
                      </a:r>
                    </a:p>
                  </a:txBody>
                  <a:tcPr anchor="ctr"/>
                </a:tc>
                <a:tc>
                  <a:txBody>
                    <a:bodyPr/>
                    <a:lstStyle/>
                    <a:p>
                      <a:r>
                        <a:rPr lang="en-US" altLang="zh-CN" b="1" dirty="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2136728880"/>
                  </a:ext>
                </a:extLst>
              </a:tr>
              <a:tr h="0">
                <a:tc>
                  <a:txBody>
                    <a:bodyPr/>
                    <a:lstStyle/>
                    <a:p>
                      <a:r>
                        <a:rPr lang="en-US" dirty="0" err="1">
                          <a:latin typeface="Times New Roman" panose="02020603050405020304" pitchFamily="18" charset="0"/>
                          <a:cs typeface="Times New Roman" panose="02020603050405020304" pitchFamily="18" charset="0"/>
                        </a:rPr>
                        <a:t>Rcon</a:t>
                      </a:r>
                      <a:r>
                        <a:rPr lang="en-US" dirty="0">
                          <a:latin typeface="Times New Roman" panose="02020603050405020304" pitchFamily="18" charset="0"/>
                          <a:cs typeface="Times New Roman" panose="02020603050405020304" pitchFamily="18" charset="0"/>
                        </a:rPr>
                        <a:t>[j]</a:t>
                      </a:r>
                    </a:p>
                  </a:txBody>
                  <a:tcPr anchor="ctr"/>
                </a:tc>
                <a:tc>
                  <a:txBody>
                    <a:bodyPr/>
                    <a:lstStyle/>
                    <a:p>
                      <a:r>
                        <a:rPr lang="en-US" altLang="zh-CN" dirty="0">
                          <a:latin typeface="Times New Roman" panose="02020603050405020304" pitchFamily="18" charset="0"/>
                          <a:cs typeface="Times New Roman" panose="02020603050405020304" pitchFamily="18" charset="0"/>
                        </a:rPr>
                        <a:t>01 00 00 00</a:t>
                      </a:r>
                    </a:p>
                  </a:txBody>
                  <a:tcPr anchor="ctr"/>
                </a:tc>
                <a:tc>
                  <a:txBody>
                    <a:bodyPr/>
                    <a:lstStyle/>
                    <a:p>
                      <a:r>
                        <a:rPr lang="en-US" altLang="zh-CN" dirty="0">
                          <a:latin typeface="Times New Roman" panose="02020603050405020304" pitchFamily="18" charset="0"/>
                          <a:cs typeface="Times New Roman" panose="02020603050405020304" pitchFamily="18" charset="0"/>
                        </a:rPr>
                        <a:t>02 00 00 00</a:t>
                      </a:r>
                    </a:p>
                  </a:txBody>
                  <a:tcPr anchor="ctr"/>
                </a:tc>
                <a:tc>
                  <a:txBody>
                    <a:bodyPr/>
                    <a:lstStyle/>
                    <a:p>
                      <a:r>
                        <a:rPr lang="en-US" altLang="zh-CN">
                          <a:latin typeface="Times New Roman" panose="02020603050405020304" pitchFamily="18" charset="0"/>
                          <a:cs typeface="Times New Roman" panose="02020603050405020304" pitchFamily="18" charset="0"/>
                        </a:rPr>
                        <a:t>04 00 00 00</a:t>
                      </a:r>
                    </a:p>
                  </a:txBody>
                  <a:tcPr anchor="ctr"/>
                </a:tc>
                <a:tc>
                  <a:txBody>
                    <a:bodyPr/>
                    <a:lstStyle/>
                    <a:p>
                      <a:r>
                        <a:rPr lang="en-US" altLang="zh-CN">
                          <a:latin typeface="Times New Roman" panose="02020603050405020304" pitchFamily="18" charset="0"/>
                          <a:cs typeface="Times New Roman" panose="02020603050405020304" pitchFamily="18" charset="0"/>
                        </a:rPr>
                        <a:t>08 00 00 00</a:t>
                      </a:r>
                    </a:p>
                  </a:txBody>
                  <a:tcPr anchor="ctr"/>
                </a:tc>
                <a:tc>
                  <a:txBody>
                    <a:bodyPr/>
                    <a:lstStyle/>
                    <a:p>
                      <a:r>
                        <a:rPr lang="en-US" altLang="zh-CN">
                          <a:latin typeface="Times New Roman" panose="02020603050405020304" pitchFamily="18" charset="0"/>
                          <a:cs typeface="Times New Roman" panose="02020603050405020304" pitchFamily="18" charset="0"/>
                        </a:rPr>
                        <a:t>10 00 00 00</a:t>
                      </a:r>
                    </a:p>
                  </a:txBody>
                  <a:tcPr anchor="ctr"/>
                </a:tc>
                <a:extLst>
                  <a:ext uri="{0D108BD9-81ED-4DB2-BD59-A6C34878D82A}">
                    <a16:rowId xmlns:a16="http://schemas.microsoft.com/office/drawing/2014/main" val="1899034343"/>
                  </a:ext>
                </a:extLst>
              </a:tr>
              <a:tr h="0">
                <a:tc>
                  <a:txBody>
                    <a:bodyPr/>
                    <a:lstStyle/>
                    <a:p>
                      <a:r>
                        <a:rPr lang="en-US" b="1" dirty="0">
                          <a:latin typeface="Times New Roman" panose="02020603050405020304" pitchFamily="18" charset="0"/>
                          <a:cs typeface="Times New Roman" panose="02020603050405020304" pitchFamily="18" charset="0"/>
                        </a:rPr>
                        <a:t>j</a:t>
                      </a:r>
                    </a:p>
                  </a:txBody>
                  <a:tcPr anchor="ctr"/>
                </a:tc>
                <a:tc>
                  <a:txBody>
                    <a:bodyPr/>
                    <a:lstStyle/>
                    <a:p>
                      <a:r>
                        <a:rPr lang="en-US" altLang="zh-CN" b="1" dirty="0">
                          <a:latin typeface="Times New Roman" panose="02020603050405020304" pitchFamily="18" charset="0"/>
                          <a:cs typeface="Times New Roman" panose="02020603050405020304" pitchFamily="18" charset="0"/>
                        </a:rPr>
                        <a:t>6</a:t>
                      </a:r>
                    </a:p>
                  </a:txBody>
                  <a:tcPr anchor="ctr"/>
                </a:tc>
                <a:tc>
                  <a:txBody>
                    <a:bodyPr/>
                    <a:lstStyle/>
                    <a:p>
                      <a:r>
                        <a:rPr lang="en-US" altLang="zh-CN" b="1">
                          <a:latin typeface="Times New Roman" panose="02020603050405020304" pitchFamily="18" charset="0"/>
                          <a:cs typeface="Times New Roman" panose="02020603050405020304" pitchFamily="18" charset="0"/>
                        </a:rPr>
                        <a:t>7</a:t>
                      </a:r>
                    </a:p>
                  </a:txBody>
                  <a:tcPr anchor="ctr"/>
                </a:tc>
                <a:tc>
                  <a:txBody>
                    <a:bodyPr/>
                    <a:lstStyle/>
                    <a:p>
                      <a:r>
                        <a:rPr lang="en-US" altLang="zh-CN" b="1">
                          <a:latin typeface="Times New Roman" panose="02020603050405020304" pitchFamily="18" charset="0"/>
                          <a:cs typeface="Times New Roman" panose="02020603050405020304" pitchFamily="18" charset="0"/>
                        </a:rPr>
                        <a:t>8</a:t>
                      </a:r>
                    </a:p>
                  </a:txBody>
                  <a:tcPr anchor="ctr"/>
                </a:tc>
                <a:tc>
                  <a:txBody>
                    <a:bodyPr/>
                    <a:lstStyle/>
                    <a:p>
                      <a:r>
                        <a:rPr lang="en-US" altLang="zh-CN" b="1">
                          <a:latin typeface="Times New Roman" panose="02020603050405020304" pitchFamily="18" charset="0"/>
                          <a:cs typeface="Times New Roman" panose="02020603050405020304" pitchFamily="18" charset="0"/>
                        </a:rPr>
                        <a:t>9</a:t>
                      </a:r>
                    </a:p>
                  </a:txBody>
                  <a:tcPr anchor="ctr"/>
                </a:tc>
                <a:tc>
                  <a:txBody>
                    <a:bodyPr/>
                    <a:lstStyle/>
                    <a:p>
                      <a:r>
                        <a:rPr lang="en-US" altLang="zh-CN" b="1" dirty="0">
                          <a:latin typeface="Times New Roman" panose="02020603050405020304" pitchFamily="18" charset="0"/>
                          <a:cs typeface="Times New Roman" panose="02020603050405020304" pitchFamily="18" charset="0"/>
                        </a:rPr>
                        <a:t>10</a:t>
                      </a:r>
                    </a:p>
                  </a:txBody>
                  <a:tcPr anchor="ctr"/>
                </a:tc>
                <a:extLst>
                  <a:ext uri="{0D108BD9-81ED-4DB2-BD59-A6C34878D82A}">
                    <a16:rowId xmlns:a16="http://schemas.microsoft.com/office/drawing/2014/main" val="1660780662"/>
                  </a:ext>
                </a:extLst>
              </a:tr>
              <a:tr h="0">
                <a:tc>
                  <a:txBody>
                    <a:bodyPr/>
                    <a:lstStyle/>
                    <a:p>
                      <a:r>
                        <a:rPr lang="en-US" dirty="0" err="1">
                          <a:latin typeface="Times New Roman" panose="02020603050405020304" pitchFamily="18" charset="0"/>
                          <a:cs typeface="Times New Roman" panose="02020603050405020304" pitchFamily="18" charset="0"/>
                        </a:rPr>
                        <a:t>Rcon</a:t>
                      </a:r>
                      <a:r>
                        <a:rPr lang="en-US" dirty="0">
                          <a:latin typeface="Times New Roman" panose="02020603050405020304" pitchFamily="18" charset="0"/>
                          <a:cs typeface="Times New Roman" panose="02020603050405020304" pitchFamily="18" charset="0"/>
                        </a:rPr>
                        <a:t>[j]</a:t>
                      </a:r>
                    </a:p>
                  </a:txBody>
                  <a:tcPr anchor="ctr"/>
                </a:tc>
                <a:tc>
                  <a:txBody>
                    <a:bodyPr/>
                    <a:lstStyle/>
                    <a:p>
                      <a:r>
                        <a:rPr lang="en-US" altLang="zh-CN">
                          <a:latin typeface="Times New Roman" panose="02020603050405020304" pitchFamily="18" charset="0"/>
                          <a:cs typeface="Times New Roman" panose="02020603050405020304" pitchFamily="18" charset="0"/>
                        </a:rPr>
                        <a:t>20 00 00 00</a:t>
                      </a:r>
                    </a:p>
                  </a:txBody>
                  <a:tcPr anchor="ctr"/>
                </a:tc>
                <a:tc>
                  <a:txBody>
                    <a:bodyPr/>
                    <a:lstStyle/>
                    <a:p>
                      <a:r>
                        <a:rPr lang="en-US" altLang="zh-CN">
                          <a:latin typeface="Times New Roman" panose="02020603050405020304" pitchFamily="18" charset="0"/>
                          <a:cs typeface="Times New Roman" panose="02020603050405020304" pitchFamily="18" charset="0"/>
                        </a:rPr>
                        <a:t>40 00 00 00</a:t>
                      </a:r>
                    </a:p>
                  </a:txBody>
                  <a:tcPr anchor="ctr"/>
                </a:tc>
                <a:tc>
                  <a:txBody>
                    <a:bodyPr/>
                    <a:lstStyle/>
                    <a:p>
                      <a:r>
                        <a:rPr lang="en-US" altLang="zh-CN">
                          <a:latin typeface="Times New Roman" panose="02020603050405020304" pitchFamily="18" charset="0"/>
                          <a:cs typeface="Times New Roman" panose="02020603050405020304" pitchFamily="18" charset="0"/>
                        </a:rPr>
                        <a:t>80 00 00 00</a:t>
                      </a:r>
                    </a:p>
                  </a:txBody>
                  <a:tcPr anchor="ctr"/>
                </a:tc>
                <a:tc>
                  <a:txBody>
                    <a:bodyPr/>
                    <a:lstStyle/>
                    <a:p>
                      <a:r>
                        <a:rPr lang="en-US">
                          <a:latin typeface="Times New Roman" panose="02020603050405020304" pitchFamily="18" charset="0"/>
                          <a:cs typeface="Times New Roman" panose="02020603050405020304" pitchFamily="18" charset="0"/>
                        </a:rPr>
                        <a:t>1B 00 00 00</a:t>
                      </a:r>
                    </a:p>
                  </a:txBody>
                  <a:tcPr anchor="ctr"/>
                </a:tc>
                <a:tc>
                  <a:txBody>
                    <a:bodyPr/>
                    <a:lstStyle/>
                    <a:p>
                      <a:r>
                        <a:rPr lang="en-US" altLang="zh-CN" dirty="0">
                          <a:latin typeface="Times New Roman" panose="02020603050405020304" pitchFamily="18" charset="0"/>
                          <a:cs typeface="Times New Roman" panose="02020603050405020304" pitchFamily="18" charset="0"/>
                        </a:rPr>
                        <a:t>36 00 00 00</a:t>
                      </a:r>
                    </a:p>
                  </a:txBody>
                  <a:tcPr anchor="ctr"/>
                </a:tc>
                <a:extLst>
                  <a:ext uri="{0D108BD9-81ED-4DB2-BD59-A6C34878D82A}">
                    <a16:rowId xmlns:a16="http://schemas.microsoft.com/office/drawing/2014/main" val="87409368"/>
                  </a:ext>
                </a:extLst>
              </a:tr>
            </a:tbl>
          </a:graphicData>
        </a:graphic>
      </p:graphicFrame>
    </p:spTree>
    <p:extLst>
      <p:ext uri="{BB962C8B-B14F-4D97-AF65-F5344CB8AC3E}">
        <p14:creationId xmlns:p14="http://schemas.microsoft.com/office/powerpoint/2010/main" val="6725273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27652"/>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例如：设初始的</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位密钥为：</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3C A1 0B 21 57 F0 19 16 90 2E 13 80 AC C1 07 BD</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那么</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个初始值为：</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W[0] = 3C A1 0B 21	W[1] = 57 F0 19 16</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W[2] = 90 2E 13 80	W[3] = AC C1 07 BD</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7114344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21935"/>
          </a:xfrm>
          <a:prstGeom prst="rect">
            <a:avLst/>
          </a:prstGeom>
          <a:noFill/>
        </p:spPr>
        <p:txBody>
          <a:bodyPr wrap="square" rtlCol="0">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下面求扩展的第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轮的子密钥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(W[4],W[5],W[6],W[7])</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的倍数，所以：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W[4] = W[0] ⨁ T(W[3])</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T(W[3])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的计算步骤如下：</a:t>
            </a:r>
          </a:p>
          <a:p>
            <a:pPr marL="342900" indent="-342900">
              <a:lnSpc>
                <a:spcPct val="13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循环地将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的元素移位：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 C1 07 BD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变成</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C1 07 BD AC;</a:t>
            </a:r>
          </a:p>
          <a:p>
            <a:pPr marL="342900" indent="-342900">
              <a:lnSpc>
                <a:spcPct val="13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C1 07 BD AC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盒的输入，输出为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78 C5 7A 91;</a:t>
            </a:r>
          </a:p>
          <a:p>
            <a:pPr marL="342900" indent="-342900">
              <a:lnSpc>
                <a:spcPct val="13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78 C5 7A 91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与第一轮轮常量</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Rcon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进行异或运算，将得到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79 C5 7A 91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，因此，</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T(W[3])=79 C5 7A 91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，故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W[4] = 3C A1 0B 21 ⨁ 79 C5 7A 91 = 45 64 71 B0</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8842270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72582"/>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其余的</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个子密钥段的计算如下：</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W[5] = W[1] ⨁ W[4] = 57 F0 19 16 ⨁ 45 64 71 B0 = 12 94 68 A6</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W[6] = W[2] ⨁ W[5] =90 2E 13 80 ⨁ 12 94 68 A6 = 82 BA 7B 26</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W[7] = W[3] ⨁ W[6] = AC C1 07 BD ⨁ 82 BA 7B 26 = 2E 7B 7C 9B</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所以，第一轮的密钥为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45 64 71 B0 12 94 68 A6 82 BA 7B 26 2E 7B 7C 9B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0389777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4403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AES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的解密算法与加密算法类似（称为逆加密算法），主要区别在于轮密钥要逆序使用，四个基本运算都有对应的逆变换</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解密的基本运算中除轮密钥加</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AddRoundKey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不变外（实际上按位异或操作的逆变换是其本身），其余的字节代替</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SubBytes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、行移位</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ShiftRows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、列混淆</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MixColumns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都要进行求逆变换，分别为</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InvSubBytes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InvShiftRows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InvMixColumns</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AES</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62709814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618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密码算法是中国国家密码管理权威机构发布的国内第一个面向无线局域网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WAPI (Wireless LAN Authentication and Privacy Infrastructure)</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产品使用的商用分组密码算法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该算法的分组长度和密钥长度都是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加密算法与密钥扩展算法都采用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轮非线性迭代结构</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每一次迭代运算均为一轮变换函数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解密算法与加密算法的结构相同，只是轮密钥的使用顺序相反，解密轮密钥是加密轮密钥的逆序</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38937419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算法的完整过程</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（明文处理）</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grpSp>
        <p:nvGrpSpPr>
          <p:cNvPr id="25" name="组合 24">
            <a:extLst>
              <a:ext uri="{FF2B5EF4-FFF2-40B4-BE49-F238E27FC236}">
                <a16:creationId xmlns:a16="http://schemas.microsoft.com/office/drawing/2014/main" id="{55004DBC-3673-4356-A947-3F828C29AE26}"/>
              </a:ext>
            </a:extLst>
          </p:cNvPr>
          <p:cNvGrpSpPr/>
          <p:nvPr/>
        </p:nvGrpSpPr>
        <p:grpSpPr>
          <a:xfrm>
            <a:off x="898600" y="1636877"/>
            <a:ext cx="2682552" cy="586093"/>
            <a:chOff x="899592" y="1409593"/>
            <a:chExt cx="2682552" cy="586093"/>
          </a:xfrm>
        </p:grpSpPr>
        <p:sp>
          <p:nvSpPr>
            <p:cNvPr id="5" name="矩形: 圆角 4">
              <a:extLst>
                <a:ext uri="{FF2B5EF4-FFF2-40B4-BE49-F238E27FC236}">
                  <a16:creationId xmlns:a16="http://schemas.microsoft.com/office/drawing/2014/main" id="{D289B391-2B76-4B0E-9A3D-CB266E559EC7}"/>
                </a:ext>
              </a:extLst>
            </p:cNvPr>
            <p:cNvSpPr/>
            <p:nvPr/>
          </p:nvSpPr>
          <p:spPr>
            <a:xfrm>
              <a:off x="899592" y="1707654"/>
              <a:ext cx="180020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轮</a:t>
              </a:r>
              <a:endParaRPr lang="zh-CN" altLang="en-US" dirty="0">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266DFF2B-96CF-490F-B71F-F661F05BF33F}"/>
                </a:ext>
              </a:extLst>
            </p:cNvPr>
            <p:cNvGrpSpPr/>
            <p:nvPr/>
          </p:nvGrpSpPr>
          <p:grpSpPr>
            <a:xfrm>
              <a:off x="1043608" y="1419622"/>
              <a:ext cx="1512168" cy="288032"/>
              <a:chOff x="1043608" y="1419622"/>
              <a:chExt cx="1512168" cy="288032"/>
            </a:xfrm>
          </p:grpSpPr>
          <p:cxnSp>
            <p:nvCxnSpPr>
              <p:cNvPr id="9" name="直接箭头连接符 8">
                <a:extLst>
                  <a:ext uri="{FF2B5EF4-FFF2-40B4-BE49-F238E27FC236}">
                    <a16:creationId xmlns:a16="http://schemas.microsoft.com/office/drawing/2014/main" id="{DB324EDA-ADC6-4587-B73F-243EF2D2660D}"/>
                  </a:ext>
                </a:extLst>
              </p:cNvPr>
              <p:cNvCxnSpPr>
                <a:cxnSpLocks/>
              </p:cNvCxnSpPr>
              <p:nvPr/>
            </p:nvCxnSpPr>
            <p:spPr>
              <a:xfrm>
                <a:off x="1043608"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A1CF50E-4064-47D9-96D5-424DBB1AE2E6}"/>
                  </a:ext>
                </a:extLst>
              </p:cNvPr>
              <p:cNvCxnSpPr>
                <a:cxnSpLocks/>
              </p:cNvCxnSpPr>
              <p:nvPr/>
            </p:nvCxnSpPr>
            <p:spPr>
              <a:xfrm>
                <a:off x="1547664"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3C995373-AF80-47DD-842D-7176072DD93F}"/>
                  </a:ext>
                </a:extLst>
              </p:cNvPr>
              <p:cNvCxnSpPr>
                <a:cxnSpLocks/>
              </p:cNvCxnSpPr>
              <p:nvPr/>
            </p:nvCxnSpPr>
            <p:spPr>
              <a:xfrm>
                <a:off x="2051720"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D7D576CB-314B-40FB-9D49-61CD3583370A}"/>
                  </a:ext>
                </a:extLst>
              </p:cNvPr>
              <p:cNvCxnSpPr>
                <a:cxnSpLocks/>
              </p:cNvCxnSpPr>
              <p:nvPr/>
            </p:nvCxnSpPr>
            <p:spPr>
              <a:xfrm>
                <a:off x="2555776"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8593328-8078-4EFE-8192-402A7A906B65}"/>
                  </a:ext>
                </a:extLst>
              </p:cNvPr>
              <p:cNvCxnSpPr/>
              <p:nvPr/>
            </p:nvCxnSpPr>
            <p:spPr>
              <a:xfrm>
                <a:off x="1043608" y="1419622"/>
                <a:ext cx="151216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7" name="直接箭头连接符 16">
              <a:extLst>
                <a:ext uri="{FF2B5EF4-FFF2-40B4-BE49-F238E27FC236}">
                  <a16:creationId xmlns:a16="http://schemas.microsoft.com/office/drawing/2014/main" id="{9B5604B8-8072-42FE-9328-4C87ED342D8B}"/>
                </a:ext>
              </a:extLst>
            </p:cNvPr>
            <p:cNvCxnSpPr>
              <a:cxnSpLocks/>
              <a:endCxn id="5" idx="3"/>
            </p:cNvCxnSpPr>
            <p:nvPr/>
          </p:nvCxnSpPr>
          <p:spPr>
            <a:xfrm flipH="1">
              <a:off x="2699792" y="1851670"/>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2C2A6677-F282-45F5-A385-1C39759F5333}"/>
                    </a:ext>
                  </a:extLst>
                </p:cNvPr>
                <p:cNvSpPr/>
                <p:nvPr/>
              </p:nvSpPr>
              <p:spPr>
                <a:xfrm>
                  <a:off x="3150096" y="172370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n-US" altLang="zh-CN" sz="1600" i="1" dirty="0" smtClean="0">
                            <a:solidFill>
                              <a:schemeClr val="tx2"/>
                            </a:solidFill>
                            <a:latin typeface="Cambria Math" panose="02040503050406030204" pitchFamily="18" charset="0"/>
                            <a:ea typeface="华文楷体" panose="02010600040101010101" pitchFamily="2" charset="-122"/>
                          </a:rPr>
                          <m:t>r</m:t>
                        </m:r>
                        <m:r>
                          <a:rPr lang="en-US" altLang="zh-CN" sz="1600" b="0" i="1" dirty="0" smtClean="0">
                            <a:solidFill>
                              <a:schemeClr val="tx2"/>
                            </a:solidFill>
                            <a:latin typeface="Cambria Math" panose="02040503050406030204" pitchFamily="18" charset="0"/>
                            <a:ea typeface="华文楷体" panose="02010600040101010101" pitchFamily="2" charset="-122"/>
                          </a:rPr>
                          <m:t>𝑘</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0</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0" name="矩形 19">
                  <a:extLst>
                    <a:ext uri="{FF2B5EF4-FFF2-40B4-BE49-F238E27FC236}">
                      <a16:creationId xmlns:a16="http://schemas.microsoft.com/office/drawing/2014/main" id="{2C2A6677-F282-45F5-A385-1C39759F5333}"/>
                    </a:ext>
                  </a:extLst>
                </p:cNvPr>
                <p:cNvSpPr>
                  <a:spLocks noRot="1" noChangeAspect="1" noMove="1" noResize="1" noEditPoints="1" noAdjustHandles="1" noChangeArrowheads="1" noChangeShapeType="1" noTextEdit="1"/>
                </p:cNvSpPr>
                <p:nvPr/>
              </p:nvSpPr>
              <p:spPr>
                <a:xfrm>
                  <a:off x="3150096" y="1723701"/>
                  <a:ext cx="432048" cy="216024"/>
                </a:xfrm>
                <a:prstGeom prst="rect">
                  <a:avLst/>
                </a:prstGeom>
                <a:blipFill>
                  <a:blip r:embed="rId3"/>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5B370BE9-E079-41F4-9196-EB0845D4FBA1}"/>
                    </a:ext>
                  </a:extLst>
                </p:cNvPr>
                <p:cNvSpPr/>
                <p:nvPr/>
              </p:nvSpPr>
              <p:spPr>
                <a:xfrm>
                  <a:off x="989348"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0</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1" name="矩形 20">
                  <a:extLst>
                    <a:ext uri="{FF2B5EF4-FFF2-40B4-BE49-F238E27FC236}">
                      <a16:creationId xmlns:a16="http://schemas.microsoft.com/office/drawing/2014/main" id="{5B370BE9-E079-41F4-9196-EB0845D4FBA1}"/>
                    </a:ext>
                  </a:extLst>
                </p:cNvPr>
                <p:cNvSpPr>
                  <a:spLocks noRot="1" noChangeAspect="1" noMove="1" noResize="1" noEditPoints="1" noAdjustHandles="1" noChangeArrowheads="1" noChangeShapeType="1" noTextEdit="1"/>
                </p:cNvSpPr>
                <p:nvPr/>
              </p:nvSpPr>
              <p:spPr>
                <a:xfrm>
                  <a:off x="989348" y="1409593"/>
                  <a:ext cx="432048" cy="216024"/>
                </a:xfrm>
                <a:prstGeom prst="rect">
                  <a:avLst/>
                </a:prstGeom>
                <a:blipFill>
                  <a:blip r:embed="rId4"/>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2FCFC041-587B-466C-AE85-58878E2A9EE6}"/>
                    </a:ext>
                  </a:extLst>
                </p:cNvPr>
                <p:cNvSpPr/>
                <p:nvPr/>
              </p:nvSpPr>
              <p:spPr>
                <a:xfrm>
                  <a:off x="1488734"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2" name="矩形 21">
                  <a:extLst>
                    <a:ext uri="{FF2B5EF4-FFF2-40B4-BE49-F238E27FC236}">
                      <a16:creationId xmlns:a16="http://schemas.microsoft.com/office/drawing/2014/main" id="{2FCFC041-587B-466C-AE85-58878E2A9EE6}"/>
                    </a:ext>
                  </a:extLst>
                </p:cNvPr>
                <p:cNvSpPr>
                  <a:spLocks noRot="1" noChangeAspect="1" noMove="1" noResize="1" noEditPoints="1" noAdjustHandles="1" noChangeArrowheads="1" noChangeShapeType="1" noTextEdit="1"/>
                </p:cNvSpPr>
                <p:nvPr/>
              </p:nvSpPr>
              <p:spPr>
                <a:xfrm>
                  <a:off x="1488734" y="1409593"/>
                  <a:ext cx="432048" cy="216024"/>
                </a:xfrm>
                <a:prstGeom prst="rect">
                  <a:avLst/>
                </a:prstGeom>
                <a:blipFill>
                  <a:blip r:embed="rId5"/>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391D89B6-A85C-41A7-9AC9-CBF3D927A39A}"/>
                    </a:ext>
                  </a:extLst>
                </p:cNvPr>
                <p:cNvSpPr/>
                <p:nvPr/>
              </p:nvSpPr>
              <p:spPr>
                <a:xfrm>
                  <a:off x="1988120"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3" name="矩形 22">
                  <a:extLst>
                    <a:ext uri="{FF2B5EF4-FFF2-40B4-BE49-F238E27FC236}">
                      <a16:creationId xmlns:a16="http://schemas.microsoft.com/office/drawing/2014/main" id="{391D89B6-A85C-41A7-9AC9-CBF3D927A39A}"/>
                    </a:ext>
                  </a:extLst>
                </p:cNvPr>
                <p:cNvSpPr>
                  <a:spLocks noRot="1" noChangeAspect="1" noMove="1" noResize="1" noEditPoints="1" noAdjustHandles="1" noChangeArrowheads="1" noChangeShapeType="1" noTextEdit="1"/>
                </p:cNvSpPr>
                <p:nvPr/>
              </p:nvSpPr>
              <p:spPr>
                <a:xfrm>
                  <a:off x="1988120" y="1409593"/>
                  <a:ext cx="432048" cy="216024"/>
                </a:xfrm>
                <a:prstGeom prst="rect">
                  <a:avLst/>
                </a:prstGeom>
                <a:blipFill>
                  <a:blip r:embed="rId6"/>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C3EC932A-A4B1-4D15-A3C0-81808E783FE5}"/>
                    </a:ext>
                  </a:extLst>
                </p:cNvPr>
                <p:cNvSpPr/>
                <p:nvPr/>
              </p:nvSpPr>
              <p:spPr>
                <a:xfrm>
                  <a:off x="2487505"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4" name="矩形 23">
                  <a:extLst>
                    <a:ext uri="{FF2B5EF4-FFF2-40B4-BE49-F238E27FC236}">
                      <a16:creationId xmlns:a16="http://schemas.microsoft.com/office/drawing/2014/main" id="{C3EC932A-A4B1-4D15-A3C0-81808E783FE5}"/>
                    </a:ext>
                  </a:extLst>
                </p:cNvPr>
                <p:cNvSpPr>
                  <a:spLocks noRot="1" noChangeAspect="1" noMove="1" noResize="1" noEditPoints="1" noAdjustHandles="1" noChangeArrowheads="1" noChangeShapeType="1" noTextEdit="1"/>
                </p:cNvSpPr>
                <p:nvPr/>
              </p:nvSpPr>
              <p:spPr>
                <a:xfrm>
                  <a:off x="2487505" y="1409593"/>
                  <a:ext cx="432048" cy="216024"/>
                </a:xfrm>
                <a:prstGeom prst="rect">
                  <a:avLst/>
                </a:prstGeom>
                <a:blipFill>
                  <a:blip r:embed="rId7"/>
                  <a:stretch>
                    <a:fillRect b="-28571"/>
                  </a:stretch>
                </a:blipFill>
                <a:ln>
                  <a:noFill/>
                </a:ln>
              </p:spPr>
              <p:txBody>
                <a:bodyPr/>
                <a:lstStyle/>
                <a:p>
                  <a:r>
                    <a:rPr lang="zh-CN" altLang="en-US">
                      <a:noFill/>
                    </a:rPr>
                    <a:t> </a:t>
                  </a:r>
                </a:p>
              </p:txBody>
            </p:sp>
          </mc:Fallback>
        </mc:AlternateContent>
      </p:grpSp>
      <p:grpSp>
        <p:nvGrpSpPr>
          <p:cNvPr id="26" name="组合 25">
            <a:extLst>
              <a:ext uri="{FF2B5EF4-FFF2-40B4-BE49-F238E27FC236}">
                <a16:creationId xmlns:a16="http://schemas.microsoft.com/office/drawing/2014/main" id="{5741DFC9-BAF4-4454-A6D2-822D480A8BB0}"/>
              </a:ext>
            </a:extLst>
          </p:cNvPr>
          <p:cNvGrpSpPr/>
          <p:nvPr/>
        </p:nvGrpSpPr>
        <p:grpSpPr>
          <a:xfrm>
            <a:off x="898600" y="2217954"/>
            <a:ext cx="2682552" cy="586093"/>
            <a:chOff x="899592" y="1409593"/>
            <a:chExt cx="2682552" cy="586093"/>
          </a:xfrm>
        </p:grpSpPr>
        <p:sp>
          <p:nvSpPr>
            <p:cNvPr id="27" name="矩形: 圆角 26">
              <a:extLst>
                <a:ext uri="{FF2B5EF4-FFF2-40B4-BE49-F238E27FC236}">
                  <a16:creationId xmlns:a16="http://schemas.microsoft.com/office/drawing/2014/main" id="{BB70F219-A999-4A60-8B3A-D7F5D3EA6043}"/>
                </a:ext>
              </a:extLst>
            </p:cNvPr>
            <p:cNvSpPr/>
            <p:nvPr/>
          </p:nvSpPr>
          <p:spPr>
            <a:xfrm>
              <a:off x="899592" y="1707654"/>
              <a:ext cx="180020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轮</a:t>
              </a:r>
              <a:endParaRPr lang="zh-CN" altLang="en-US" dirty="0">
                <a:latin typeface="微软雅黑" panose="020B0503020204020204" pitchFamily="34" charset="-122"/>
                <a:ea typeface="微软雅黑" panose="020B0503020204020204" pitchFamily="34" charset="-122"/>
              </a:endParaRPr>
            </a:p>
          </p:txBody>
        </p:sp>
        <p:grpSp>
          <p:nvGrpSpPr>
            <p:cNvPr id="28" name="组合 27">
              <a:extLst>
                <a:ext uri="{FF2B5EF4-FFF2-40B4-BE49-F238E27FC236}">
                  <a16:creationId xmlns:a16="http://schemas.microsoft.com/office/drawing/2014/main" id="{134C548D-688C-4972-8CFB-A3EA5CDDA48C}"/>
                </a:ext>
              </a:extLst>
            </p:cNvPr>
            <p:cNvGrpSpPr/>
            <p:nvPr/>
          </p:nvGrpSpPr>
          <p:grpSpPr>
            <a:xfrm>
              <a:off x="1043608" y="1419622"/>
              <a:ext cx="1512168" cy="288032"/>
              <a:chOff x="1043608" y="1419622"/>
              <a:chExt cx="1512168" cy="288032"/>
            </a:xfrm>
          </p:grpSpPr>
          <p:cxnSp>
            <p:nvCxnSpPr>
              <p:cNvPr id="35" name="直接箭头连接符 34">
                <a:extLst>
                  <a:ext uri="{FF2B5EF4-FFF2-40B4-BE49-F238E27FC236}">
                    <a16:creationId xmlns:a16="http://schemas.microsoft.com/office/drawing/2014/main" id="{437BF121-83D6-43D8-9128-55AE016B6AC0}"/>
                  </a:ext>
                </a:extLst>
              </p:cNvPr>
              <p:cNvCxnSpPr>
                <a:cxnSpLocks/>
              </p:cNvCxnSpPr>
              <p:nvPr/>
            </p:nvCxnSpPr>
            <p:spPr>
              <a:xfrm>
                <a:off x="1043608"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37E80BF0-6529-465F-A56E-E2D984232981}"/>
                  </a:ext>
                </a:extLst>
              </p:cNvPr>
              <p:cNvCxnSpPr>
                <a:cxnSpLocks/>
              </p:cNvCxnSpPr>
              <p:nvPr/>
            </p:nvCxnSpPr>
            <p:spPr>
              <a:xfrm>
                <a:off x="1547664"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1AC39E03-6F51-4F02-A5D1-0C0E55F1D77A}"/>
                  </a:ext>
                </a:extLst>
              </p:cNvPr>
              <p:cNvCxnSpPr>
                <a:cxnSpLocks/>
              </p:cNvCxnSpPr>
              <p:nvPr/>
            </p:nvCxnSpPr>
            <p:spPr>
              <a:xfrm>
                <a:off x="2051720"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D89B5BC4-C715-43D2-A5CF-8DC80445E2E8}"/>
                  </a:ext>
                </a:extLst>
              </p:cNvPr>
              <p:cNvCxnSpPr>
                <a:cxnSpLocks/>
              </p:cNvCxnSpPr>
              <p:nvPr/>
            </p:nvCxnSpPr>
            <p:spPr>
              <a:xfrm>
                <a:off x="2555776" y="141962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FE2C36CC-B690-4F55-8736-0FBC2A1662B9}"/>
                  </a:ext>
                </a:extLst>
              </p:cNvPr>
              <p:cNvCxnSpPr/>
              <p:nvPr/>
            </p:nvCxnSpPr>
            <p:spPr>
              <a:xfrm>
                <a:off x="1043608" y="1419622"/>
                <a:ext cx="151216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9" name="直接箭头连接符 28">
              <a:extLst>
                <a:ext uri="{FF2B5EF4-FFF2-40B4-BE49-F238E27FC236}">
                  <a16:creationId xmlns:a16="http://schemas.microsoft.com/office/drawing/2014/main" id="{0A27E19D-354B-4B83-9E15-5A8679C2B14B}"/>
                </a:ext>
              </a:extLst>
            </p:cNvPr>
            <p:cNvCxnSpPr>
              <a:cxnSpLocks/>
              <a:endCxn id="27" idx="3"/>
            </p:cNvCxnSpPr>
            <p:nvPr/>
          </p:nvCxnSpPr>
          <p:spPr>
            <a:xfrm flipH="1">
              <a:off x="2699792" y="1851670"/>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95F4388C-D24C-4C23-9470-D2F0FCC0F363}"/>
                    </a:ext>
                  </a:extLst>
                </p:cNvPr>
                <p:cNvSpPr/>
                <p:nvPr/>
              </p:nvSpPr>
              <p:spPr>
                <a:xfrm>
                  <a:off x="3150096" y="172370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n-US" altLang="zh-CN" sz="1600" i="1" dirty="0" smtClean="0">
                            <a:solidFill>
                              <a:schemeClr val="tx2"/>
                            </a:solidFill>
                            <a:latin typeface="Cambria Math" panose="02040503050406030204" pitchFamily="18" charset="0"/>
                            <a:ea typeface="华文楷体" panose="02010600040101010101" pitchFamily="2" charset="-122"/>
                          </a:rPr>
                          <m:t>r</m:t>
                        </m:r>
                        <m:r>
                          <a:rPr lang="en-US" altLang="zh-CN" sz="1600" b="0" i="1" dirty="0" smtClean="0">
                            <a:solidFill>
                              <a:schemeClr val="tx2"/>
                            </a:solidFill>
                            <a:latin typeface="Cambria Math" panose="02040503050406030204" pitchFamily="18" charset="0"/>
                            <a:ea typeface="华文楷体" panose="02010600040101010101" pitchFamily="2" charset="-122"/>
                          </a:rPr>
                          <m:t>𝑘</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0" name="矩形 29">
                  <a:extLst>
                    <a:ext uri="{FF2B5EF4-FFF2-40B4-BE49-F238E27FC236}">
                      <a16:creationId xmlns:a16="http://schemas.microsoft.com/office/drawing/2014/main" id="{95F4388C-D24C-4C23-9470-D2F0FCC0F363}"/>
                    </a:ext>
                  </a:extLst>
                </p:cNvPr>
                <p:cNvSpPr>
                  <a:spLocks noRot="1" noChangeAspect="1" noMove="1" noResize="1" noEditPoints="1" noAdjustHandles="1" noChangeArrowheads="1" noChangeShapeType="1" noTextEdit="1"/>
                </p:cNvSpPr>
                <p:nvPr/>
              </p:nvSpPr>
              <p:spPr>
                <a:xfrm>
                  <a:off x="3150096" y="1723701"/>
                  <a:ext cx="432048" cy="216024"/>
                </a:xfrm>
                <a:prstGeom prst="rect">
                  <a:avLst/>
                </a:prstGeom>
                <a:blipFill>
                  <a:blip r:embed="rId8"/>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76C7D1C9-7388-46F3-8CC0-35D98AF5B132}"/>
                    </a:ext>
                  </a:extLst>
                </p:cNvPr>
                <p:cNvSpPr/>
                <p:nvPr/>
              </p:nvSpPr>
              <p:spPr>
                <a:xfrm>
                  <a:off x="989348"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1" name="矩形 30">
                  <a:extLst>
                    <a:ext uri="{FF2B5EF4-FFF2-40B4-BE49-F238E27FC236}">
                      <a16:creationId xmlns:a16="http://schemas.microsoft.com/office/drawing/2014/main" id="{76C7D1C9-7388-46F3-8CC0-35D98AF5B132}"/>
                    </a:ext>
                  </a:extLst>
                </p:cNvPr>
                <p:cNvSpPr>
                  <a:spLocks noRot="1" noChangeAspect="1" noMove="1" noResize="1" noEditPoints="1" noAdjustHandles="1" noChangeArrowheads="1" noChangeShapeType="1" noTextEdit="1"/>
                </p:cNvSpPr>
                <p:nvPr/>
              </p:nvSpPr>
              <p:spPr>
                <a:xfrm>
                  <a:off x="989348" y="1409593"/>
                  <a:ext cx="432048" cy="216024"/>
                </a:xfrm>
                <a:prstGeom prst="rect">
                  <a:avLst/>
                </a:prstGeom>
                <a:blipFill>
                  <a:blip r:embed="rId9"/>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E62F5CFB-C36A-43D2-A87F-DE7F87D9FAA7}"/>
                    </a:ext>
                  </a:extLst>
                </p:cNvPr>
                <p:cNvSpPr/>
                <p:nvPr/>
              </p:nvSpPr>
              <p:spPr>
                <a:xfrm>
                  <a:off x="1488734"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2" name="矩形 31">
                  <a:extLst>
                    <a:ext uri="{FF2B5EF4-FFF2-40B4-BE49-F238E27FC236}">
                      <a16:creationId xmlns:a16="http://schemas.microsoft.com/office/drawing/2014/main" id="{E62F5CFB-C36A-43D2-A87F-DE7F87D9FAA7}"/>
                    </a:ext>
                  </a:extLst>
                </p:cNvPr>
                <p:cNvSpPr>
                  <a:spLocks noRot="1" noChangeAspect="1" noMove="1" noResize="1" noEditPoints="1" noAdjustHandles="1" noChangeArrowheads="1" noChangeShapeType="1" noTextEdit="1"/>
                </p:cNvSpPr>
                <p:nvPr/>
              </p:nvSpPr>
              <p:spPr>
                <a:xfrm>
                  <a:off x="1488734" y="1409593"/>
                  <a:ext cx="432048" cy="216024"/>
                </a:xfrm>
                <a:prstGeom prst="rect">
                  <a:avLst/>
                </a:prstGeom>
                <a:blipFill>
                  <a:blip r:embed="rId10"/>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D86C426F-4EDD-43C4-BF77-22DCB832A746}"/>
                    </a:ext>
                  </a:extLst>
                </p:cNvPr>
                <p:cNvSpPr/>
                <p:nvPr/>
              </p:nvSpPr>
              <p:spPr>
                <a:xfrm>
                  <a:off x="1988120"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3" name="矩形 32">
                  <a:extLst>
                    <a:ext uri="{FF2B5EF4-FFF2-40B4-BE49-F238E27FC236}">
                      <a16:creationId xmlns:a16="http://schemas.microsoft.com/office/drawing/2014/main" id="{D86C426F-4EDD-43C4-BF77-22DCB832A746}"/>
                    </a:ext>
                  </a:extLst>
                </p:cNvPr>
                <p:cNvSpPr>
                  <a:spLocks noRot="1" noChangeAspect="1" noMove="1" noResize="1" noEditPoints="1" noAdjustHandles="1" noChangeArrowheads="1" noChangeShapeType="1" noTextEdit="1"/>
                </p:cNvSpPr>
                <p:nvPr/>
              </p:nvSpPr>
              <p:spPr>
                <a:xfrm>
                  <a:off x="1988120" y="1409593"/>
                  <a:ext cx="432048" cy="216024"/>
                </a:xfrm>
                <a:prstGeom prst="rect">
                  <a:avLst/>
                </a:prstGeom>
                <a:blipFill>
                  <a:blip r:embed="rId11"/>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F66882CB-565B-443C-A99B-0656E30BEAD0}"/>
                    </a:ext>
                  </a:extLst>
                </p:cNvPr>
                <p:cNvSpPr/>
                <p:nvPr/>
              </p:nvSpPr>
              <p:spPr>
                <a:xfrm>
                  <a:off x="2487505" y="140959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4" name="矩形 33">
                  <a:extLst>
                    <a:ext uri="{FF2B5EF4-FFF2-40B4-BE49-F238E27FC236}">
                      <a16:creationId xmlns:a16="http://schemas.microsoft.com/office/drawing/2014/main" id="{F66882CB-565B-443C-A99B-0656E30BEAD0}"/>
                    </a:ext>
                  </a:extLst>
                </p:cNvPr>
                <p:cNvSpPr>
                  <a:spLocks noRot="1" noChangeAspect="1" noMove="1" noResize="1" noEditPoints="1" noAdjustHandles="1" noChangeArrowheads="1" noChangeShapeType="1" noTextEdit="1"/>
                </p:cNvSpPr>
                <p:nvPr/>
              </p:nvSpPr>
              <p:spPr>
                <a:xfrm>
                  <a:off x="2487505" y="1409593"/>
                  <a:ext cx="432048" cy="216024"/>
                </a:xfrm>
                <a:prstGeom prst="rect">
                  <a:avLst/>
                </a:prstGeom>
                <a:blipFill>
                  <a:blip r:embed="rId12"/>
                  <a:stretch>
                    <a:fillRect b="-28571"/>
                  </a:stretch>
                </a:blipFill>
                <a:ln>
                  <a:noFill/>
                </a:ln>
              </p:spPr>
              <p:txBody>
                <a:bodyPr/>
                <a:lstStyle/>
                <a:p>
                  <a:r>
                    <a:rPr lang="zh-CN" altLang="en-US">
                      <a:noFill/>
                    </a:rPr>
                    <a:t> </a:t>
                  </a:r>
                </a:p>
              </p:txBody>
            </p:sp>
          </mc:Fallback>
        </mc:AlternateContent>
      </p:grpSp>
      <p:grpSp>
        <p:nvGrpSpPr>
          <p:cNvPr id="55" name="组合 54">
            <a:extLst>
              <a:ext uri="{FF2B5EF4-FFF2-40B4-BE49-F238E27FC236}">
                <a16:creationId xmlns:a16="http://schemas.microsoft.com/office/drawing/2014/main" id="{3FD9EBE0-7F1F-4794-A5F0-7778E6290EB3}"/>
              </a:ext>
            </a:extLst>
          </p:cNvPr>
          <p:cNvGrpSpPr/>
          <p:nvPr/>
        </p:nvGrpSpPr>
        <p:grpSpPr>
          <a:xfrm>
            <a:off x="988356" y="2809060"/>
            <a:ext cx="1930205" cy="298061"/>
            <a:chOff x="952624" y="2906421"/>
            <a:chExt cx="1930205" cy="298061"/>
          </a:xfrm>
        </p:grpSpPr>
        <p:cxnSp>
          <p:nvCxnSpPr>
            <p:cNvPr id="49" name="直接箭头连接符 48">
              <a:extLst>
                <a:ext uri="{FF2B5EF4-FFF2-40B4-BE49-F238E27FC236}">
                  <a16:creationId xmlns:a16="http://schemas.microsoft.com/office/drawing/2014/main" id="{91FEC7B4-7B32-46FE-A84D-049C49968924}"/>
                </a:ext>
              </a:extLst>
            </p:cNvPr>
            <p:cNvCxnSpPr>
              <a:cxnSpLocks/>
            </p:cNvCxnSpPr>
            <p:nvPr/>
          </p:nvCxnSpPr>
          <p:spPr>
            <a:xfrm>
              <a:off x="1006884"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E580E9CD-44E9-4FDB-8851-2668052ABD89}"/>
                </a:ext>
              </a:extLst>
            </p:cNvPr>
            <p:cNvCxnSpPr>
              <a:cxnSpLocks/>
            </p:cNvCxnSpPr>
            <p:nvPr/>
          </p:nvCxnSpPr>
          <p:spPr>
            <a:xfrm>
              <a:off x="1510940"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A166F465-A063-4CE4-959B-DB954311174C}"/>
                </a:ext>
              </a:extLst>
            </p:cNvPr>
            <p:cNvCxnSpPr>
              <a:cxnSpLocks/>
            </p:cNvCxnSpPr>
            <p:nvPr/>
          </p:nvCxnSpPr>
          <p:spPr>
            <a:xfrm>
              <a:off x="2014996"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64069D06-5A94-47C8-9D90-F52EAA4F3FD6}"/>
                </a:ext>
              </a:extLst>
            </p:cNvPr>
            <p:cNvCxnSpPr>
              <a:cxnSpLocks/>
            </p:cNvCxnSpPr>
            <p:nvPr/>
          </p:nvCxnSpPr>
          <p:spPr>
            <a:xfrm>
              <a:off x="2519052"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D8509FE4-D512-48FF-B27A-56E37A2EC828}"/>
                    </a:ext>
                  </a:extLst>
                </p:cNvPr>
                <p:cNvSpPr/>
                <p:nvPr/>
              </p:nvSpPr>
              <p:spPr>
                <a:xfrm>
                  <a:off x="952624"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45" name="矩形 44">
                  <a:extLst>
                    <a:ext uri="{FF2B5EF4-FFF2-40B4-BE49-F238E27FC236}">
                      <a16:creationId xmlns:a16="http://schemas.microsoft.com/office/drawing/2014/main" id="{D8509FE4-D512-48FF-B27A-56E37A2EC828}"/>
                    </a:ext>
                  </a:extLst>
                </p:cNvPr>
                <p:cNvSpPr>
                  <a:spLocks noRot="1" noChangeAspect="1" noMove="1" noResize="1" noEditPoints="1" noAdjustHandles="1" noChangeArrowheads="1" noChangeShapeType="1" noTextEdit="1"/>
                </p:cNvSpPr>
                <p:nvPr/>
              </p:nvSpPr>
              <p:spPr>
                <a:xfrm>
                  <a:off x="952624" y="2906421"/>
                  <a:ext cx="432048" cy="216024"/>
                </a:xfrm>
                <a:prstGeom prst="rect">
                  <a:avLst/>
                </a:prstGeom>
                <a:blipFill>
                  <a:blip r:embed="rId13"/>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9BEF691C-D5D5-4D9C-B8E3-9291B7161A4E}"/>
                    </a:ext>
                  </a:extLst>
                </p:cNvPr>
                <p:cNvSpPr/>
                <p:nvPr/>
              </p:nvSpPr>
              <p:spPr>
                <a:xfrm>
                  <a:off x="1452010"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46" name="矩形 45">
                  <a:extLst>
                    <a:ext uri="{FF2B5EF4-FFF2-40B4-BE49-F238E27FC236}">
                      <a16:creationId xmlns:a16="http://schemas.microsoft.com/office/drawing/2014/main" id="{9BEF691C-D5D5-4D9C-B8E3-9291B7161A4E}"/>
                    </a:ext>
                  </a:extLst>
                </p:cNvPr>
                <p:cNvSpPr>
                  <a:spLocks noRot="1" noChangeAspect="1" noMove="1" noResize="1" noEditPoints="1" noAdjustHandles="1" noChangeArrowheads="1" noChangeShapeType="1" noTextEdit="1"/>
                </p:cNvSpPr>
                <p:nvPr/>
              </p:nvSpPr>
              <p:spPr>
                <a:xfrm>
                  <a:off x="1452010" y="2906421"/>
                  <a:ext cx="432048" cy="216024"/>
                </a:xfrm>
                <a:prstGeom prst="rect">
                  <a:avLst/>
                </a:prstGeom>
                <a:blipFill>
                  <a:blip r:embed="rId14"/>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945D452E-45C2-4DF4-9BF1-7B97F7126741}"/>
                    </a:ext>
                  </a:extLst>
                </p:cNvPr>
                <p:cNvSpPr/>
                <p:nvPr/>
              </p:nvSpPr>
              <p:spPr>
                <a:xfrm>
                  <a:off x="1951396"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47" name="矩形 46">
                  <a:extLst>
                    <a:ext uri="{FF2B5EF4-FFF2-40B4-BE49-F238E27FC236}">
                      <a16:creationId xmlns:a16="http://schemas.microsoft.com/office/drawing/2014/main" id="{945D452E-45C2-4DF4-9BF1-7B97F7126741}"/>
                    </a:ext>
                  </a:extLst>
                </p:cNvPr>
                <p:cNvSpPr>
                  <a:spLocks noRot="1" noChangeAspect="1" noMove="1" noResize="1" noEditPoints="1" noAdjustHandles="1" noChangeArrowheads="1" noChangeShapeType="1" noTextEdit="1"/>
                </p:cNvSpPr>
                <p:nvPr/>
              </p:nvSpPr>
              <p:spPr>
                <a:xfrm>
                  <a:off x="1951396" y="2906421"/>
                  <a:ext cx="432048" cy="216024"/>
                </a:xfrm>
                <a:prstGeom prst="rect">
                  <a:avLst/>
                </a:prstGeom>
                <a:blipFill>
                  <a:blip r:embed="rId15"/>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E3E9E68A-6A25-47CE-85CF-290B05890277}"/>
                    </a:ext>
                  </a:extLst>
                </p:cNvPr>
                <p:cNvSpPr/>
                <p:nvPr/>
              </p:nvSpPr>
              <p:spPr>
                <a:xfrm>
                  <a:off x="2450781"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5</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48" name="矩形 47">
                  <a:extLst>
                    <a:ext uri="{FF2B5EF4-FFF2-40B4-BE49-F238E27FC236}">
                      <a16:creationId xmlns:a16="http://schemas.microsoft.com/office/drawing/2014/main" id="{E3E9E68A-6A25-47CE-85CF-290B05890277}"/>
                    </a:ext>
                  </a:extLst>
                </p:cNvPr>
                <p:cNvSpPr>
                  <a:spLocks noRot="1" noChangeAspect="1" noMove="1" noResize="1" noEditPoints="1" noAdjustHandles="1" noChangeArrowheads="1" noChangeShapeType="1" noTextEdit="1"/>
                </p:cNvSpPr>
                <p:nvPr/>
              </p:nvSpPr>
              <p:spPr>
                <a:xfrm>
                  <a:off x="2450781" y="2906421"/>
                  <a:ext cx="432048" cy="216024"/>
                </a:xfrm>
                <a:prstGeom prst="rect">
                  <a:avLst/>
                </a:prstGeom>
                <a:blipFill>
                  <a:blip r:embed="rId16"/>
                  <a:stretch>
                    <a:fillRect b="-28571"/>
                  </a:stretch>
                </a:blipFill>
                <a:ln>
                  <a:noFill/>
                </a:ln>
              </p:spPr>
              <p:txBody>
                <a:bodyPr/>
                <a:lstStyle/>
                <a:p>
                  <a:r>
                    <a:rPr lang="zh-CN" altLang="en-US">
                      <a:noFill/>
                    </a:rPr>
                    <a:t> </a:t>
                  </a:r>
                </a:p>
              </p:txBody>
            </p:sp>
          </mc:Fallback>
        </mc:AlternateContent>
      </p:grpSp>
      <p:grpSp>
        <p:nvGrpSpPr>
          <p:cNvPr id="56" name="组合 55">
            <a:extLst>
              <a:ext uri="{FF2B5EF4-FFF2-40B4-BE49-F238E27FC236}">
                <a16:creationId xmlns:a16="http://schemas.microsoft.com/office/drawing/2014/main" id="{7C3C46FB-4E60-4062-943B-563888982405}"/>
              </a:ext>
            </a:extLst>
          </p:cNvPr>
          <p:cNvGrpSpPr/>
          <p:nvPr/>
        </p:nvGrpSpPr>
        <p:grpSpPr>
          <a:xfrm>
            <a:off x="988356" y="3344385"/>
            <a:ext cx="1930205" cy="298061"/>
            <a:chOff x="952624" y="2906421"/>
            <a:chExt cx="1930205" cy="298061"/>
          </a:xfrm>
        </p:grpSpPr>
        <p:cxnSp>
          <p:nvCxnSpPr>
            <p:cNvPr id="57" name="直接箭头连接符 56">
              <a:extLst>
                <a:ext uri="{FF2B5EF4-FFF2-40B4-BE49-F238E27FC236}">
                  <a16:creationId xmlns:a16="http://schemas.microsoft.com/office/drawing/2014/main" id="{D47CE47E-C53D-4FA0-82ED-3A00D2903AAD}"/>
                </a:ext>
              </a:extLst>
            </p:cNvPr>
            <p:cNvCxnSpPr>
              <a:cxnSpLocks/>
            </p:cNvCxnSpPr>
            <p:nvPr/>
          </p:nvCxnSpPr>
          <p:spPr>
            <a:xfrm>
              <a:off x="1006884"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371AF6EF-A23A-4318-884A-428CEA5D7406}"/>
                </a:ext>
              </a:extLst>
            </p:cNvPr>
            <p:cNvCxnSpPr>
              <a:cxnSpLocks/>
            </p:cNvCxnSpPr>
            <p:nvPr/>
          </p:nvCxnSpPr>
          <p:spPr>
            <a:xfrm>
              <a:off x="1510940"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390783E1-B864-4372-BCE0-50787A810279}"/>
                </a:ext>
              </a:extLst>
            </p:cNvPr>
            <p:cNvCxnSpPr>
              <a:cxnSpLocks/>
            </p:cNvCxnSpPr>
            <p:nvPr/>
          </p:nvCxnSpPr>
          <p:spPr>
            <a:xfrm>
              <a:off x="2014996"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DACC2A48-6424-40BD-B8D6-C0199C538F1C}"/>
                </a:ext>
              </a:extLst>
            </p:cNvPr>
            <p:cNvCxnSpPr>
              <a:cxnSpLocks/>
            </p:cNvCxnSpPr>
            <p:nvPr/>
          </p:nvCxnSpPr>
          <p:spPr>
            <a:xfrm>
              <a:off x="2519052"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089F125C-11D4-45CA-B31C-E6E9B1382A61}"/>
                    </a:ext>
                  </a:extLst>
                </p:cNvPr>
                <p:cNvSpPr/>
                <p:nvPr/>
              </p:nvSpPr>
              <p:spPr>
                <a:xfrm>
                  <a:off x="952624"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1" name="矩形 60">
                  <a:extLst>
                    <a:ext uri="{FF2B5EF4-FFF2-40B4-BE49-F238E27FC236}">
                      <a16:creationId xmlns:a16="http://schemas.microsoft.com/office/drawing/2014/main" id="{089F125C-11D4-45CA-B31C-E6E9B1382A61}"/>
                    </a:ext>
                  </a:extLst>
                </p:cNvPr>
                <p:cNvSpPr>
                  <a:spLocks noRot="1" noChangeAspect="1" noMove="1" noResize="1" noEditPoints="1" noAdjustHandles="1" noChangeArrowheads="1" noChangeShapeType="1" noTextEdit="1"/>
                </p:cNvSpPr>
                <p:nvPr/>
              </p:nvSpPr>
              <p:spPr>
                <a:xfrm>
                  <a:off x="952624" y="2906421"/>
                  <a:ext cx="432048" cy="216024"/>
                </a:xfrm>
                <a:prstGeom prst="rect">
                  <a:avLst/>
                </a:prstGeom>
                <a:blipFill>
                  <a:blip r:embed="rId17"/>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B0A83722-A9E9-4C48-AC82-B3EC9D3028DC}"/>
                    </a:ext>
                  </a:extLst>
                </p:cNvPr>
                <p:cNvSpPr/>
                <p:nvPr/>
              </p:nvSpPr>
              <p:spPr>
                <a:xfrm>
                  <a:off x="1452010"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2" name="矩形 61">
                  <a:extLst>
                    <a:ext uri="{FF2B5EF4-FFF2-40B4-BE49-F238E27FC236}">
                      <a16:creationId xmlns:a16="http://schemas.microsoft.com/office/drawing/2014/main" id="{B0A83722-A9E9-4C48-AC82-B3EC9D3028DC}"/>
                    </a:ext>
                  </a:extLst>
                </p:cNvPr>
                <p:cNvSpPr>
                  <a:spLocks noRot="1" noChangeAspect="1" noMove="1" noResize="1" noEditPoints="1" noAdjustHandles="1" noChangeArrowheads="1" noChangeShapeType="1" noTextEdit="1"/>
                </p:cNvSpPr>
                <p:nvPr/>
              </p:nvSpPr>
              <p:spPr>
                <a:xfrm>
                  <a:off x="1452010" y="2906421"/>
                  <a:ext cx="432048" cy="216024"/>
                </a:xfrm>
                <a:prstGeom prst="rect">
                  <a:avLst/>
                </a:prstGeom>
                <a:blipFill>
                  <a:blip r:embed="rId18"/>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1DE823A5-CB44-4368-902C-ABB80F602708}"/>
                    </a:ext>
                  </a:extLst>
                </p:cNvPr>
                <p:cNvSpPr/>
                <p:nvPr/>
              </p:nvSpPr>
              <p:spPr>
                <a:xfrm>
                  <a:off x="1951396"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3" name="矩形 62">
                  <a:extLst>
                    <a:ext uri="{FF2B5EF4-FFF2-40B4-BE49-F238E27FC236}">
                      <a16:creationId xmlns:a16="http://schemas.microsoft.com/office/drawing/2014/main" id="{1DE823A5-CB44-4368-902C-ABB80F602708}"/>
                    </a:ext>
                  </a:extLst>
                </p:cNvPr>
                <p:cNvSpPr>
                  <a:spLocks noRot="1" noChangeAspect="1" noMove="1" noResize="1" noEditPoints="1" noAdjustHandles="1" noChangeArrowheads="1" noChangeShapeType="1" noTextEdit="1"/>
                </p:cNvSpPr>
                <p:nvPr/>
              </p:nvSpPr>
              <p:spPr>
                <a:xfrm>
                  <a:off x="1951396" y="2906421"/>
                  <a:ext cx="432048" cy="216024"/>
                </a:xfrm>
                <a:prstGeom prst="rect">
                  <a:avLst/>
                </a:prstGeom>
                <a:blipFill>
                  <a:blip r:embed="rId19"/>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71708BD6-D1E4-410C-B6A3-F70D05B27270}"/>
                    </a:ext>
                  </a:extLst>
                </p:cNvPr>
                <p:cNvSpPr/>
                <p:nvPr/>
              </p:nvSpPr>
              <p:spPr>
                <a:xfrm>
                  <a:off x="2450781"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4" name="矩形 63">
                  <a:extLst>
                    <a:ext uri="{FF2B5EF4-FFF2-40B4-BE49-F238E27FC236}">
                      <a16:creationId xmlns:a16="http://schemas.microsoft.com/office/drawing/2014/main" id="{71708BD6-D1E4-410C-B6A3-F70D05B27270}"/>
                    </a:ext>
                  </a:extLst>
                </p:cNvPr>
                <p:cNvSpPr>
                  <a:spLocks noRot="1" noChangeAspect="1" noMove="1" noResize="1" noEditPoints="1" noAdjustHandles="1" noChangeArrowheads="1" noChangeShapeType="1" noTextEdit="1"/>
                </p:cNvSpPr>
                <p:nvPr/>
              </p:nvSpPr>
              <p:spPr>
                <a:xfrm>
                  <a:off x="2450781" y="2906421"/>
                  <a:ext cx="432048" cy="216024"/>
                </a:xfrm>
                <a:prstGeom prst="rect">
                  <a:avLst/>
                </a:prstGeom>
                <a:blipFill>
                  <a:blip r:embed="rId20"/>
                  <a:stretch>
                    <a:fillRect b="-28571"/>
                  </a:stretch>
                </a:blipFill>
                <a:ln>
                  <a:noFill/>
                </a:ln>
              </p:spPr>
              <p:txBody>
                <a:bodyPr/>
                <a:lstStyle/>
                <a:p>
                  <a:r>
                    <a:rPr lang="zh-CN" altLang="en-US">
                      <a:noFill/>
                    </a:rPr>
                    <a:t> </a:t>
                  </a:r>
                </a:p>
              </p:txBody>
            </p:sp>
          </mc:Fallback>
        </mc:AlternateContent>
      </p:grpSp>
      <p:sp>
        <p:nvSpPr>
          <p:cNvPr id="66" name="矩形: 圆角 65">
            <a:extLst>
              <a:ext uri="{FF2B5EF4-FFF2-40B4-BE49-F238E27FC236}">
                <a16:creationId xmlns:a16="http://schemas.microsoft.com/office/drawing/2014/main" id="{BE207755-C7AF-496B-B63C-EBD599BF1686}"/>
              </a:ext>
            </a:extLst>
          </p:cNvPr>
          <p:cNvSpPr/>
          <p:nvPr/>
        </p:nvSpPr>
        <p:spPr>
          <a:xfrm>
            <a:off x="898600" y="3652626"/>
            <a:ext cx="180020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第</a:t>
            </a:r>
            <a:r>
              <a:rPr lang="en-US" altLang="zh-CN" sz="1400" dirty="0">
                <a:latin typeface="微软雅黑" panose="020B0503020204020204" pitchFamily="34" charset="-122"/>
                <a:ea typeface="微软雅黑" panose="020B0503020204020204" pitchFamily="34" charset="-122"/>
              </a:rPr>
              <a:t>32</a:t>
            </a:r>
            <a:r>
              <a:rPr lang="zh-CN" altLang="en-US" sz="1400" dirty="0">
                <a:latin typeface="微软雅黑" panose="020B0503020204020204" pitchFamily="34" charset="-122"/>
                <a:ea typeface="微软雅黑" panose="020B0503020204020204" pitchFamily="34" charset="-122"/>
              </a:rPr>
              <a:t>轮</a:t>
            </a:r>
            <a:endParaRPr lang="zh-CN" altLang="en-US" dirty="0">
              <a:latin typeface="微软雅黑" panose="020B0503020204020204" pitchFamily="34" charset="-122"/>
              <a:ea typeface="微软雅黑" panose="020B0503020204020204" pitchFamily="34" charset="-122"/>
            </a:endParaRPr>
          </a:p>
        </p:txBody>
      </p:sp>
      <p:cxnSp>
        <p:nvCxnSpPr>
          <p:cNvPr id="68" name="直接箭头连接符 67">
            <a:extLst>
              <a:ext uri="{FF2B5EF4-FFF2-40B4-BE49-F238E27FC236}">
                <a16:creationId xmlns:a16="http://schemas.microsoft.com/office/drawing/2014/main" id="{12C10232-E925-4B72-8897-4457D9E0B32A}"/>
              </a:ext>
            </a:extLst>
          </p:cNvPr>
          <p:cNvCxnSpPr>
            <a:cxnSpLocks/>
            <a:endCxn id="66" idx="3"/>
          </p:cNvCxnSpPr>
          <p:nvPr/>
        </p:nvCxnSpPr>
        <p:spPr>
          <a:xfrm flipH="1">
            <a:off x="2698800" y="3796642"/>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8BF73603-A4ED-4CF8-9DA7-174D5C6DA4E0}"/>
                  </a:ext>
                </a:extLst>
              </p:cNvPr>
              <p:cNvSpPr/>
              <p:nvPr/>
            </p:nvSpPr>
            <p:spPr>
              <a:xfrm>
                <a:off x="3149104" y="366867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n-US" altLang="zh-CN" sz="1600" i="1" dirty="0" smtClean="0">
                          <a:solidFill>
                            <a:schemeClr val="tx2"/>
                          </a:solidFill>
                          <a:latin typeface="Cambria Math" panose="02040503050406030204" pitchFamily="18" charset="0"/>
                          <a:ea typeface="华文楷体" panose="02010600040101010101" pitchFamily="2" charset="-122"/>
                        </a:rPr>
                        <m:t>r</m:t>
                      </m:r>
                      <m:r>
                        <a:rPr lang="en-US" altLang="zh-CN" sz="1600" b="0" i="1" dirty="0" smtClean="0">
                          <a:solidFill>
                            <a:schemeClr val="tx2"/>
                          </a:solidFill>
                          <a:latin typeface="Cambria Math" panose="02040503050406030204" pitchFamily="18" charset="0"/>
                          <a:ea typeface="华文楷体" panose="02010600040101010101" pitchFamily="2" charset="-122"/>
                        </a:rPr>
                        <m:t>𝑘</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69" name="矩形 68">
                <a:extLst>
                  <a:ext uri="{FF2B5EF4-FFF2-40B4-BE49-F238E27FC236}">
                    <a16:creationId xmlns:a16="http://schemas.microsoft.com/office/drawing/2014/main" id="{8BF73603-A4ED-4CF8-9DA7-174D5C6DA4E0}"/>
                  </a:ext>
                </a:extLst>
              </p:cNvPr>
              <p:cNvSpPr>
                <a:spLocks noRot="1" noChangeAspect="1" noMove="1" noResize="1" noEditPoints="1" noAdjustHandles="1" noChangeArrowheads="1" noChangeShapeType="1" noTextEdit="1"/>
              </p:cNvSpPr>
              <p:nvPr/>
            </p:nvSpPr>
            <p:spPr>
              <a:xfrm>
                <a:off x="3149104" y="3668673"/>
                <a:ext cx="432048" cy="216024"/>
              </a:xfrm>
              <a:prstGeom prst="rect">
                <a:avLst/>
              </a:prstGeom>
              <a:blipFill>
                <a:blip r:embed="rId21"/>
                <a:stretch>
                  <a:fillRect l="-7143" b="-28571"/>
                </a:stretch>
              </a:blipFill>
              <a:ln>
                <a:noFill/>
              </a:ln>
            </p:spPr>
            <p:txBody>
              <a:bodyPr/>
              <a:lstStyle/>
              <a:p>
                <a:r>
                  <a:rPr lang="zh-CN" altLang="en-US">
                    <a:noFill/>
                  </a:rPr>
                  <a:t> </a:t>
                </a:r>
              </a:p>
            </p:txBody>
          </p:sp>
        </mc:Fallback>
      </mc:AlternateContent>
      <p:grpSp>
        <p:nvGrpSpPr>
          <p:cNvPr id="79" name="组合 78">
            <a:extLst>
              <a:ext uri="{FF2B5EF4-FFF2-40B4-BE49-F238E27FC236}">
                <a16:creationId xmlns:a16="http://schemas.microsoft.com/office/drawing/2014/main" id="{8BDBF651-47C5-4D19-9C1C-D0777645FEFC}"/>
              </a:ext>
            </a:extLst>
          </p:cNvPr>
          <p:cNvGrpSpPr/>
          <p:nvPr/>
        </p:nvGrpSpPr>
        <p:grpSpPr>
          <a:xfrm>
            <a:off x="993747" y="3951162"/>
            <a:ext cx="1930205" cy="298061"/>
            <a:chOff x="952624" y="2906421"/>
            <a:chExt cx="1930205" cy="298061"/>
          </a:xfrm>
        </p:grpSpPr>
        <p:cxnSp>
          <p:nvCxnSpPr>
            <p:cNvPr id="80" name="直接箭头连接符 79">
              <a:extLst>
                <a:ext uri="{FF2B5EF4-FFF2-40B4-BE49-F238E27FC236}">
                  <a16:creationId xmlns:a16="http://schemas.microsoft.com/office/drawing/2014/main" id="{B49D29B2-63B8-4148-9F55-C819E0D58163}"/>
                </a:ext>
              </a:extLst>
            </p:cNvPr>
            <p:cNvCxnSpPr>
              <a:cxnSpLocks/>
            </p:cNvCxnSpPr>
            <p:nvPr/>
          </p:nvCxnSpPr>
          <p:spPr>
            <a:xfrm>
              <a:off x="1006884"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1987244B-5CCD-4EAF-8A84-6528ED939C48}"/>
                </a:ext>
              </a:extLst>
            </p:cNvPr>
            <p:cNvCxnSpPr>
              <a:cxnSpLocks/>
            </p:cNvCxnSpPr>
            <p:nvPr/>
          </p:nvCxnSpPr>
          <p:spPr>
            <a:xfrm>
              <a:off x="1510940"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0FADA4FC-88B8-417E-888C-C4B105F85614}"/>
                </a:ext>
              </a:extLst>
            </p:cNvPr>
            <p:cNvCxnSpPr>
              <a:cxnSpLocks/>
            </p:cNvCxnSpPr>
            <p:nvPr/>
          </p:nvCxnSpPr>
          <p:spPr>
            <a:xfrm>
              <a:off x="2014996"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1807DA45-4A7A-4311-A056-F9622702872F}"/>
                </a:ext>
              </a:extLst>
            </p:cNvPr>
            <p:cNvCxnSpPr>
              <a:cxnSpLocks/>
            </p:cNvCxnSpPr>
            <p:nvPr/>
          </p:nvCxnSpPr>
          <p:spPr>
            <a:xfrm>
              <a:off x="2519052" y="2916450"/>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矩形 83">
                  <a:extLst>
                    <a:ext uri="{FF2B5EF4-FFF2-40B4-BE49-F238E27FC236}">
                      <a16:creationId xmlns:a16="http://schemas.microsoft.com/office/drawing/2014/main" id="{83D2A595-8ADC-49BE-B086-5853D701ED52}"/>
                    </a:ext>
                  </a:extLst>
                </p:cNvPr>
                <p:cNvSpPr/>
                <p:nvPr/>
              </p:nvSpPr>
              <p:spPr>
                <a:xfrm>
                  <a:off x="952624"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84" name="矩形 83">
                  <a:extLst>
                    <a:ext uri="{FF2B5EF4-FFF2-40B4-BE49-F238E27FC236}">
                      <a16:creationId xmlns:a16="http://schemas.microsoft.com/office/drawing/2014/main" id="{83D2A595-8ADC-49BE-B086-5853D701ED52}"/>
                    </a:ext>
                  </a:extLst>
                </p:cNvPr>
                <p:cNvSpPr>
                  <a:spLocks noRot="1" noChangeAspect="1" noMove="1" noResize="1" noEditPoints="1" noAdjustHandles="1" noChangeArrowheads="1" noChangeShapeType="1" noTextEdit="1"/>
                </p:cNvSpPr>
                <p:nvPr/>
              </p:nvSpPr>
              <p:spPr>
                <a:xfrm>
                  <a:off x="952624" y="2906421"/>
                  <a:ext cx="432048" cy="216024"/>
                </a:xfrm>
                <a:prstGeom prst="rect">
                  <a:avLst/>
                </a:prstGeom>
                <a:blipFill>
                  <a:blip r:embed="rId22"/>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矩形 84">
                  <a:extLst>
                    <a:ext uri="{FF2B5EF4-FFF2-40B4-BE49-F238E27FC236}">
                      <a16:creationId xmlns:a16="http://schemas.microsoft.com/office/drawing/2014/main" id="{36AF60DE-60AE-458D-ACB1-AB716C6BD807}"/>
                    </a:ext>
                  </a:extLst>
                </p:cNvPr>
                <p:cNvSpPr/>
                <p:nvPr/>
              </p:nvSpPr>
              <p:spPr>
                <a:xfrm>
                  <a:off x="1452010"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85" name="矩形 84">
                  <a:extLst>
                    <a:ext uri="{FF2B5EF4-FFF2-40B4-BE49-F238E27FC236}">
                      <a16:creationId xmlns:a16="http://schemas.microsoft.com/office/drawing/2014/main" id="{36AF60DE-60AE-458D-ACB1-AB716C6BD807}"/>
                    </a:ext>
                  </a:extLst>
                </p:cNvPr>
                <p:cNvSpPr>
                  <a:spLocks noRot="1" noChangeAspect="1" noMove="1" noResize="1" noEditPoints="1" noAdjustHandles="1" noChangeArrowheads="1" noChangeShapeType="1" noTextEdit="1"/>
                </p:cNvSpPr>
                <p:nvPr/>
              </p:nvSpPr>
              <p:spPr>
                <a:xfrm>
                  <a:off x="1452010" y="2906421"/>
                  <a:ext cx="432048" cy="216024"/>
                </a:xfrm>
                <a:prstGeom prst="rect">
                  <a:avLst/>
                </a:prstGeom>
                <a:blipFill>
                  <a:blip r:embed="rId23"/>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矩形 85">
                  <a:extLst>
                    <a:ext uri="{FF2B5EF4-FFF2-40B4-BE49-F238E27FC236}">
                      <a16:creationId xmlns:a16="http://schemas.microsoft.com/office/drawing/2014/main" id="{F541B756-14A6-4196-B308-2FB816E1FDEA}"/>
                    </a:ext>
                  </a:extLst>
                </p:cNvPr>
                <p:cNvSpPr/>
                <p:nvPr/>
              </p:nvSpPr>
              <p:spPr>
                <a:xfrm>
                  <a:off x="1951396"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86" name="矩形 85">
                  <a:extLst>
                    <a:ext uri="{FF2B5EF4-FFF2-40B4-BE49-F238E27FC236}">
                      <a16:creationId xmlns:a16="http://schemas.microsoft.com/office/drawing/2014/main" id="{F541B756-14A6-4196-B308-2FB816E1FDEA}"/>
                    </a:ext>
                  </a:extLst>
                </p:cNvPr>
                <p:cNvSpPr>
                  <a:spLocks noRot="1" noChangeAspect="1" noMove="1" noResize="1" noEditPoints="1" noAdjustHandles="1" noChangeArrowheads="1" noChangeShapeType="1" noTextEdit="1"/>
                </p:cNvSpPr>
                <p:nvPr/>
              </p:nvSpPr>
              <p:spPr>
                <a:xfrm>
                  <a:off x="1951396" y="2906421"/>
                  <a:ext cx="432048" cy="216024"/>
                </a:xfrm>
                <a:prstGeom prst="rect">
                  <a:avLst/>
                </a:prstGeom>
                <a:blipFill>
                  <a:blip r:embed="rId24"/>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矩形 86">
                  <a:extLst>
                    <a:ext uri="{FF2B5EF4-FFF2-40B4-BE49-F238E27FC236}">
                      <a16:creationId xmlns:a16="http://schemas.microsoft.com/office/drawing/2014/main" id="{8AC757CB-B605-4D23-8482-5FE4D73D8651}"/>
                    </a:ext>
                  </a:extLst>
                </p:cNvPr>
                <p:cNvSpPr/>
                <p:nvPr/>
              </p:nvSpPr>
              <p:spPr>
                <a:xfrm>
                  <a:off x="2450781"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35</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87" name="矩形 86">
                  <a:extLst>
                    <a:ext uri="{FF2B5EF4-FFF2-40B4-BE49-F238E27FC236}">
                      <a16:creationId xmlns:a16="http://schemas.microsoft.com/office/drawing/2014/main" id="{8AC757CB-B605-4D23-8482-5FE4D73D8651}"/>
                    </a:ext>
                  </a:extLst>
                </p:cNvPr>
                <p:cNvSpPr>
                  <a:spLocks noRot="1" noChangeAspect="1" noMove="1" noResize="1" noEditPoints="1" noAdjustHandles="1" noChangeArrowheads="1" noChangeShapeType="1" noTextEdit="1"/>
                </p:cNvSpPr>
                <p:nvPr/>
              </p:nvSpPr>
              <p:spPr>
                <a:xfrm>
                  <a:off x="2450781" y="2906421"/>
                  <a:ext cx="432048" cy="216024"/>
                </a:xfrm>
                <a:prstGeom prst="rect">
                  <a:avLst/>
                </a:prstGeom>
                <a:blipFill>
                  <a:blip r:embed="rId25"/>
                  <a:stretch>
                    <a:fillRect b="-27778"/>
                  </a:stretch>
                </a:blipFill>
                <a:ln>
                  <a:noFill/>
                </a:ln>
              </p:spPr>
              <p:txBody>
                <a:bodyPr/>
                <a:lstStyle/>
                <a:p>
                  <a:r>
                    <a:rPr lang="zh-CN" altLang="en-US">
                      <a:noFill/>
                    </a:rPr>
                    <a:t> </a:t>
                  </a:r>
                </a:p>
              </p:txBody>
            </p:sp>
          </mc:Fallback>
        </mc:AlternateContent>
      </p:grpSp>
      <p:sp>
        <p:nvSpPr>
          <p:cNvPr id="88" name="矩形: 圆角 87">
            <a:extLst>
              <a:ext uri="{FF2B5EF4-FFF2-40B4-BE49-F238E27FC236}">
                <a16:creationId xmlns:a16="http://schemas.microsoft.com/office/drawing/2014/main" id="{4ECEADFA-387C-43DA-AA44-D480C299A951}"/>
              </a:ext>
            </a:extLst>
          </p:cNvPr>
          <p:cNvSpPr/>
          <p:nvPr/>
        </p:nvSpPr>
        <p:spPr>
          <a:xfrm>
            <a:off x="898600" y="4239194"/>
            <a:ext cx="1800200" cy="288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反序变换</a:t>
            </a:r>
            <a:r>
              <a:rPr lang="en-US" altLang="zh-CN" sz="1400" dirty="0">
                <a:latin typeface="微软雅黑" panose="020B0503020204020204" pitchFamily="34" charset="-122"/>
                <a:ea typeface="微软雅黑" panose="020B0503020204020204" pitchFamily="34" charset="-122"/>
              </a:rPr>
              <a:t>R</a:t>
            </a:r>
            <a:endParaRPr lang="zh-CN" altLang="en-US" dirty="0">
              <a:latin typeface="微软雅黑" panose="020B0503020204020204" pitchFamily="34" charset="-122"/>
              <a:ea typeface="微软雅黑" panose="020B0503020204020204" pitchFamily="34" charset="-122"/>
            </a:endParaRPr>
          </a:p>
        </p:txBody>
      </p:sp>
      <p:grpSp>
        <p:nvGrpSpPr>
          <p:cNvPr id="91" name="组合 90">
            <a:extLst>
              <a:ext uri="{FF2B5EF4-FFF2-40B4-BE49-F238E27FC236}">
                <a16:creationId xmlns:a16="http://schemas.microsoft.com/office/drawing/2014/main" id="{7DA888DC-BC8B-4CE1-8CFE-6EED2CD3CBB5}"/>
              </a:ext>
            </a:extLst>
          </p:cNvPr>
          <p:cNvGrpSpPr/>
          <p:nvPr/>
        </p:nvGrpSpPr>
        <p:grpSpPr>
          <a:xfrm>
            <a:off x="988356" y="4522689"/>
            <a:ext cx="1930205" cy="298061"/>
            <a:chOff x="952624" y="2906421"/>
            <a:chExt cx="1930205" cy="298061"/>
          </a:xfrm>
        </p:grpSpPr>
        <p:cxnSp>
          <p:nvCxnSpPr>
            <p:cNvPr id="92" name="直接箭头连接符 91">
              <a:extLst>
                <a:ext uri="{FF2B5EF4-FFF2-40B4-BE49-F238E27FC236}">
                  <a16:creationId xmlns:a16="http://schemas.microsoft.com/office/drawing/2014/main" id="{41228BF6-ACF9-4D63-A398-D429FA4A79FD}"/>
                </a:ext>
              </a:extLst>
            </p:cNvPr>
            <p:cNvCxnSpPr>
              <a:cxnSpLocks/>
            </p:cNvCxnSpPr>
            <p:nvPr/>
          </p:nvCxnSpPr>
          <p:spPr>
            <a:xfrm>
              <a:off x="1006884" y="2916450"/>
              <a:ext cx="0" cy="28803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5535F9D5-BE33-4E04-B798-17E73189D103}"/>
                </a:ext>
              </a:extLst>
            </p:cNvPr>
            <p:cNvCxnSpPr>
              <a:cxnSpLocks/>
            </p:cNvCxnSpPr>
            <p:nvPr/>
          </p:nvCxnSpPr>
          <p:spPr>
            <a:xfrm>
              <a:off x="1510940" y="2916450"/>
              <a:ext cx="0" cy="28803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EF24BE2C-D140-4626-9B1D-0F1AE2FD00A0}"/>
                </a:ext>
              </a:extLst>
            </p:cNvPr>
            <p:cNvCxnSpPr>
              <a:cxnSpLocks/>
            </p:cNvCxnSpPr>
            <p:nvPr/>
          </p:nvCxnSpPr>
          <p:spPr>
            <a:xfrm>
              <a:off x="2014996" y="2916450"/>
              <a:ext cx="0" cy="28803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14EC2BCF-94DB-4276-8688-2E280B80F6FB}"/>
                </a:ext>
              </a:extLst>
            </p:cNvPr>
            <p:cNvCxnSpPr>
              <a:cxnSpLocks/>
            </p:cNvCxnSpPr>
            <p:nvPr/>
          </p:nvCxnSpPr>
          <p:spPr>
            <a:xfrm>
              <a:off x="2519052" y="2916450"/>
              <a:ext cx="0" cy="28803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矩形 95">
                  <a:extLst>
                    <a:ext uri="{FF2B5EF4-FFF2-40B4-BE49-F238E27FC236}">
                      <a16:creationId xmlns:a16="http://schemas.microsoft.com/office/drawing/2014/main" id="{38730711-B4C0-4B96-A1BB-BC32F165181C}"/>
                    </a:ext>
                  </a:extLst>
                </p:cNvPr>
                <p:cNvSpPr/>
                <p:nvPr/>
              </p:nvSpPr>
              <p:spPr>
                <a:xfrm>
                  <a:off x="952624"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𝑌</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0</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6" name="矩形 95">
                  <a:extLst>
                    <a:ext uri="{FF2B5EF4-FFF2-40B4-BE49-F238E27FC236}">
                      <a16:creationId xmlns:a16="http://schemas.microsoft.com/office/drawing/2014/main" id="{38730711-B4C0-4B96-A1BB-BC32F165181C}"/>
                    </a:ext>
                  </a:extLst>
                </p:cNvPr>
                <p:cNvSpPr>
                  <a:spLocks noRot="1" noChangeAspect="1" noMove="1" noResize="1" noEditPoints="1" noAdjustHandles="1" noChangeArrowheads="1" noChangeShapeType="1" noTextEdit="1"/>
                </p:cNvSpPr>
                <p:nvPr/>
              </p:nvSpPr>
              <p:spPr>
                <a:xfrm>
                  <a:off x="952624" y="2906421"/>
                  <a:ext cx="432048" cy="216024"/>
                </a:xfrm>
                <a:prstGeom prst="rect">
                  <a:avLst/>
                </a:prstGeom>
                <a:blipFill>
                  <a:blip r:embed="rId26"/>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矩形 96">
                  <a:extLst>
                    <a:ext uri="{FF2B5EF4-FFF2-40B4-BE49-F238E27FC236}">
                      <a16:creationId xmlns:a16="http://schemas.microsoft.com/office/drawing/2014/main" id="{E33FE61F-5085-4840-91DF-1789E647542B}"/>
                    </a:ext>
                  </a:extLst>
                </p:cNvPr>
                <p:cNvSpPr/>
                <p:nvPr/>
              </p:nvSpPr>
              <p:spPr>
                <a:xfrm>
                  <a:off x="1452010"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𝑌</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7" name="矩形 96">
                  <a:extLst>
                    <a:ext uri="{FF2B5EF4-FFF2-40B4-BE49-F238E27FC236}">
                      <a16:creationId xmlns:a16="http://schemas.microsoft.com/office/drawing/2014/main" id="{E33FE61F-5085-4840-91DF-1789E647542B}"/>
                    </a:ext>
                  </a:extLst>
                </p:cNvPr>
                <p:cNvSpPr>
                  <a:spLocks noRot="1" noChangeAspect="1" noMove="1" noResize="1" noEditPoints="1" noAdjustHandles="1" noChangeArrowheads="1" noChangeShapeType="1" noTextEdit="1"/>
                </p:cNvSpPr>
                <p:nvPr/>
              </p:nvSpPr>
              <p:spPr>
                <a:xfrm>
                  <a:off x="1452010" y="2906421"/>
                  <a:ext cx="432048" cy="216024"/>
                </a:xfrm>
                <a:prstGeom prst="rect">
                  <a:avLst/>
                </a:prstGeom>
                <a:blipFill>
                  <a:blip r:embed="rId27"/>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矩形 97">
                  <a:extLst>
                    <a:ext uri="{FF2B5EF4-FFF2-40B4-BE49-F238E27FC236}">
                      <a16:creationId xmlns:a16="http://schemas.microsoft.com/office/drawing/2014/main" id="{6D0CE3C6-8FD8-4544-A540-326E577064AE}"/>
                    </a:ext>
                  </a:extLst>
                </p:cNvPr>
                <p:cNvSpPr/>
                <p:nvPr/>
              </p:nvSpPr>
              <p:spPr>
                <a:xfrm>
                  <a:off x="1951396"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𝑌</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8" name="矩形 97">
                  <a:extLst>
                    <a:ext uri="{FF2B5EF4-FFF2-40B4-BE49-F238E27FC236}">
                      <a16:creationId xmlns:a16="http://schemas.microsoft.com/office/drawing/2014/main" id="{6D0CE3C6-8FD8-4544-A540-326E577064AE}"/>
                    </a:ext>
                  </a:extLst>
                </p:cNvPr>
                <p:cNvSpPr>
                  <a:spLocks noRot="1" noChangeAspect="1" noMove="1" noResize="1" noEditPoints="1" noAdjustHandles="1" noChangeArrowheads="1" noChangeShapeType="1" noTextEdit="1"/>
                </p:cNvSpPr>
                <p:nvPr/>
              </p:nvSpPr>
              <p:spPr>
                <a:xfrm>
                  <a:off x="1951396" y="2906421"/>
                  <a:ext cx="432048" cy="216024"/>
                </a:xfrm>
                <a:prstGeom prst="rect">
                  <a:avLst/>
                </a:prstGeom>
                <a:blipFill>
                  <a:blip r:embed="rId28"/>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矩形 98">
                  <a:extLst>
                    <a:ext uri="{FF2B5EF4-FFF2-40B4-BE49-F238E27FC236}">
                      <a16:creationId xmlns:a16="http://schemas.microsoft.com/office/drawing/2014/main" id="{86CA4DAA-372D-4E93-AACF-33439BC5A557}"/>
                    </a:ext>
                  </a:extLst>
                </p:cNvPr>
                <p:cNvSpPr/>
                <p:nvPr/>
              </p:nvSpPr>
              <p:spPr>
                <a:xfrm>
                  <a:off x="2450781" y="290642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𝑌</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9" name="矩形 98">
                  <a:extLst>
                    <a:ext uri="{FF2B5EF4-FFF2-40B4-BE49-F238E27FC236}">
                      <a16:creationId xmlns:a16="http://schemas.microsoft.com/office/drawing/2014/main" id="{86CA4DAA-372D-4E93-AACF-33439BC5A557}"/>
                    </a:ext>
                  </a:extLst>
                </p:cNvPr>
                <p:cNvSpPr>
                  <a:spLocks noRot="1" noChangeAspect="1" noMove="1" noResize="1" noEditPoints="1" noAdjustHandles="1" noChangeArrowheads="1" noChangeShapeType="1" noTextEdit="1"/>
                </p:cNvSpPr>
                <p:nvPr/>
              </p:nvSpPr>
              <p:spPr>
                <a:xfrm>
                  <a:off x="2450781" y="2906421"/>
                  <a:ext cx="432048" cy="216024"/>
                </a:xfrm>
                <a:prstGeom prst="rect">
                  <a:avLst/>
                </a:prstGeom>
                <a:blipFill>
                  <a:blip r:embed="rId29"/>
                  <a:stretch>
                    <a:fillRect b="-28571"/>
                  </a:stretch>
                </a:blipFill>
                <a:ln>
                  <a:noFill/>
                </a:ln>
              </p:spPr>
              <p:txBody>
                <a:bodyPr/>
                <a:lstStyle/>
                <a:p>
                  <a:r>
                    <a:rPr lang="zh-CN" altLang="en-US">
                      <a:noFill/>
                    </a:rPr>
                    <a:t> </a:t>
                  </a:r>
                </a:p>
              </p:txBody>
            </p:sp>
          </mc:Fallback>
        </mc:AlternateContent>
      </p:grpSp>
      <p:cxnSp>
        <p:nvCxnSpPr>
          <p:cNvPr id="101" name="直接连接符 100">
            <a:extLst>
              <a:ext uri="{FF2B5EF4-FFF2-40B4-BE49-F238E27FC236}">
                <a16:creationId xmlns:a16="http://schemas.microsoft.com/office/drawing/2014/main" id="{1FA645C7-7743-4309-9C37-672E4CC2553D}"/>
              </a:ext>
            </a:extLst>
          </p:cNvPr>
          <p:cNvCxnSpPr/>
          <p:nvPr/>
        </p:nvCxnSpPr>
        <p:spPr>
          <a:xfrm>
            <a:off x="1042616" y="4820750"/>
            <a:ext cx="15121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33451026-E538-4743-8318-EF483497F539}"/>
              </a:ext>
            </a:extLst>
          </p:cNvPr>
          <p:cNvCxnSpPr/>
          <p:nvPr/>
        </p:nvCxnSpPr>
        <p:spPr>
          <a:xfrm>
            <a:off x="1798700" y="4820750"/>
            <a:ext cx="0" cy="282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81502ADE-9ADF-456A-B193-D77A291151A0}"/>
              </a:ext>
            </a:extLst>
          </p:cNvPr>
          <p:cNvCxnSpPr/>
          <p:nvPr/>
        </p:nvCxnSpPr>
        <p:spPr>
          <a:xfrm>
            <a:off x="1798700" y="1364366"/>
            <a:ext cx="0" cy="282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95C659EE-C131-4AA5-A9E0-F19C8601AF1D}"/>
              </a:ext>
            </a:extLst>
          </p:cNvPr>
          <p:cNvSpPr/>
          <p:nvPr/>
        </p:nvSpPr>
        <p:spPr>
          <a:xfrm>
            <a:off x="1724824" y="1389635"/>
            <a:ext cx="651807" cy="185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tx2"/>
                </a:solidFill>
                <a:latin typeface="华文楷体" panose="02010600040101010101" pitchFamily="2" charset="-122"/>
                <a:ea typeface="华文楷体" panose="02010600040101010101" pitchFamily="2" charset="-122"/>
              </a:rPr>
              <a:t>X</a:t>
            </a:r>
            <a:r>
              <a:rPr lang="en-US" altLang="zh-CN" sz="1600" baseline="-25000" dirty="0">
                <a:solidFill>
                  <a:schemeClr val="tx2"/>
                </a:solidFill>
                <a:latin typeface="华文楷体" panose="02010600040101010101" pitchFamily="2" charset="-122"/>
                <a:ea typeface="华文楷体" panose="02010600040101010101" pitchFamily="2" charset="-122"/>
              </a:rPr>
              <a:t>(128)</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06" name="矩形 105">
            <a:extLst>
              <a:ext uri="{FF2B5EF4-FFF2-40B4-BE49-F238E27FC236}">
                <a16:creationId xmlns:a16="http://schemas.microsoft.com/office/drawing/2014/main" id="{7D53D587-A424-4AB3-B292-A56380F95529}"/>
              </a:ext>
            </a:extLst>
          </p:cNvPr>
          <p:cNvSpPr/>
          <p:nvPr/>
        </p:nvSpPr>
        <p:spPr>
          <a:xfrm>
            <a:off x="1767369" y="4869388"/>
            <a:ext cx="651807" cy="185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tx2"/>
                </a:solidFill>
                <a:latin typeface="华文楷体" panose="02010600040101010101" pitchFamily="2" charset="-122"/>
                <a:ea typeface="华文楷体" panose="02010600040101010101" pitchFamily="2" charset="-122"/>
              </a:rPr>
              <a:t>Y</a:t>
            </a:r>
            <a:r>
              <a:rPr lang="en-US" altLang="zh-CN" sz="1600" baseline="-25000" dirty="0">
                <a:solidFill>
                  <a:schemeClr val="tx2"/>
                </a:solidFill>
                <a:latin typeface="华文楷体" panose="02010600040101010101" pitchFamily="2" charset="-122"/>
                <a:ea typeface="华文楷体" panose="02010600040101010101" pitchFamily="2" charset="-122"/>
              </a:rPr>
              <a:t>(128)</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07" name="矩形 106">
            <a:extLst>
              <a:ext uri="{FF2B5EF4-FFF2-40B4-BE49-F238E27FC236}">
                <a16:creationId xmlns:a16="http://schemas.microsoft.com/office/drawing/2014/main" id="{70B6A467-5AB2-4CB4-8DE7-C649FFE5B6EC}"/>
              </a:ext>
            </a:extLst>
          </p:cNvPr>
          <p:cNvSpPr/>
          <p:nvPr/>
        </p:nvSpPr>
        <p:spPr>
          <a:xfrm>
            <a:off x="835936" y="3128825"/>
            <a:ext cx="432048" cy="2503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700"/>
              </a:lnSpc>
            </a:pP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08" name="矩形 107">
            <a:extLst>
              <a:ext uri="{FF2B5EF4-FFF2-40B4-BE49-F238E27FC236}">
                <a16:creationId xmlns:a16="http://schemas.microsoft.com/office/drawing/2014/main" id="{28DFD138-E120-40FF-B0C9-F4D0E1BE181E}"/>
              </a:ext>
            </a:extLst>
          </p:cNvPr>
          <p:cNvSpPr/>
          <p:nvPr/>
        </p:nvSpPr>
        <p:spPr>
          <a:xfrm>
            <a:off x="1339988" y="3127000"/>
            <a:ext cx="432048" cy="2503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700"/>
              </a:lnSpc>
            </a:pP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09" name="矩形 108">
            <a:extLst>
              <a:ext uri="{FF2B5EF4-FFF2-40B4-BE49-F238E27FC236}">
                <a16:creationId xmlns:a16="http://schemas.microsoft.com/office/drawing/2014/main" id="{A569A4B5-E6FB-421C-ABBA-AD4F86B83D3A}"/>
              </a:ext>
            </a:extLst>
          </p:cNvPr>
          <p:cNvSpPr/>
          <p:nvPr/>
        </p:nvSpPr>
        <p:spPr>
          <a:xfrm>
            <a:off x="1839374" y="3124731"/>
            <a:ext cx="432048" cy="2503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700"/>
              </a:lnSpc>
            </a:pP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sp>
        <p:nvSpPr>
          <p:cNvPr id="110" name="矩形 109">
            <a:extLst>
              <a:ext uri="{FF2B5EF4-FFF2-40B4-BE49-F238E27FC236}">
                <a16:creationId xmlns:a16="http://schemas.microsoft.com/office/drawing/2014/main" id="{7A7659DF-2044-4C2C-B110-72EFF727A97C}"/>
              </a:ext>
            </a:extLst>
          </p:cNvPr>
          <p:cNvSpPr/>
          <p:nvPr/>
        </p:nvSpPr>
        <p:spPr>
          <a:xfrm>
            <a:off x="2348534" y="3132077"/>
            <a:ext cx="432048" cy="2503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700"/>
              </a:lnSpc>
            </a:pP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br>
              <a:rPr lang="en-US" altLang="zh-CN" sz="1600" dirty="0">
                <a:solidFill>
                  <a:schemeClr val="tx2"/>
                </a:solidFill>
                <a:latin typeface="华文楷体" panose="02010600040101010101" pitchFamily="2" charset="-122"/>
                <a:ea typeface="华文楷体" panose="02010600040101010101" pitchFamily="2" charset="-122"/>
              </a:rPr>
            </a:br>
            <a:r>
              <a:rPr lang="en-US" altLang="zh-CN" sz="1600" dirty="0">
                <a:solidFill>
                  <a:schemeClr val="tx2"/>
                </a:solidFill>
                <a:latin typeface="华文楷体" panose="02010600040101010101" pitchFamily="2" charset="-122"/>
                <a:ea typeface="华文楷体" panose="02010600040101010101" pitchFamily="2" charset="-122"/>
              </a:rPr>
              <a:t>.</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p:cxnSp>
        <p:nvCxnSpPr>
          <p:cNvPr id="112" name="直接连接符 111">
            <a:extLst>
              <a:ext uri="{FF2B5EF4-FFF2-40B4-BE49-F238E27FC236}">
                <a16:creationId xmlns:a16="http://schemas.microsoft.com/office/drawing/2014/main" id="{E4C3C937-A890-451A-ACB3-D67CE8107BC6}"/>
              </a:ext>
            </a:extLst>
          </p:cNvPr>
          <p:cNvCxnSpPr/>
          <p:nvPr/>
        </p:nvCxnSpPr>
        <p:spPr>
          <a:xfrm flipV="1">
            <a:off x="2560175" y="1646906"/>
            <a:ext cx="1583564" cy="1610338"/>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245561C8-94E3-4220-8AB5-B425D3F2BA77}"/>
              </a:ext>
            </a:extLst>
          </p:cNvPr>
          <p:cNvCxnSpPr>
            <a:cxnSpLocks/>
          </p:cNvCxnSpPr>
          <p:nvPr/>
        </p:nvCxnSpPr>
        <p:spPr>
          <a:xfrm>
            <a:off x="2564558" y="3249898"/>
            <a:ext cx="1580395" cy="782977"/>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4A3DC7A3-580F-4D1B-889B-4C27E2E7617D}"/>
              </a:ext>
            </a:extLst>
          </p:cNvPr>
          <p:cNvCxnSpPr>
            <a:cxnSpLocks/>
          </p:cNvCxnSpPr>
          <p:nvPr/>
        </p:nvCxnSpPr>
        <p:spPr>
          <a:xfrm>
            <a:off x="2657153" y="4381575"/>
            <a:ext cx="1496359" cy="487813"/>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BFD39215-3049-422C-8833-14300686BA76}"/>
              </a:ext>
            </a:extLst>
          </p:cNvPr>
          <p:cNvCxnSpPr>
            <a:cxnSpLocks/>
          </p:cNvCxnSpPr>
          <p:nvPr/>
        </p:nvCxnSpPr>
        <p:spPr>
          <a:xfrm flipV="1">
            <a:off x="2638432" y="4257689"/>
            <a:ext cx="1515080" cy="126608"/>
          </a:xfrm>
          <a:prstGeom prst="line">
            <a:avLst/>
          </a:prstGeom>
          <a:ln>
            <a:prstDash val="sysDot"/>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C6352B3F-F77B-4075-80B1-39907B258249}"/>
              </a:ext>
            </a:extLst>
          </p:cNvPr>
          <p:cNvCxnSpPr>
            <a:cxnSpLocks/>
          </p:cNvCxnSpPr>
          <p:nvPr/>
        </p:nvCxnSpPr>
        <p:spPr>
          <a:xfrm>
            <a:off x="4143739" y="1674884"/>
            <a:ext cx="0" cy="720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矩形 120">
                <a:extLst>
                  <a:ext uri="{FF2B5EF4-FFF2-40B4-BE49-F238E27FC236}">
                    <a16:creationId xmlns:a16="http://schemas.microsoft.com/office/drawing/2014/main" id="{F00ED6BD-2A44-45C2-B68B-07EC593832A3}"/>
                  </a:ext>
                </a:extLst>
              </p:cNvPr>
              <p:cNvSpPr/>
              <p:nvPr/>
            </p:nvSpPr>
            <p:spPr>
              <a:xfrm>
                <a:off x="4015255" y="2355726"/>
                <a:ext cx="268713" cy="329909"/>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i="0"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1" name="矩形 120">
                <a:extLst>
                  <a:ext uri="{FF2B5EF4-FFF2-40B4-BE49-F238E27FC236}">
                    <a16:creationId xmlns:a16="http://schemas.microsoft.com/office/drawing/2014/main" id="{F00ED6BD-2A44-45C2-B68B-07EC593832A3}"/>
                  </a:ext>
                </a:extLst>
              </p:cNvPr>
              <p:cNvSpPr>
                <a:spLocks noRot="1" noChangeAspect="1" noMove="1" noResize="1" noEditPoints="1" noAdjustHandles="1" noChangeArrowheads="1" noChangeShapeType="1" noTextEdit="1"/>
              </p:cNvSpPr>
              <p:nvPr/>
            </p:nvSpPr>
            <p:spPr>
              <a:xfrm>
                <a:off x="4015255" y="2355726"/>
                <a:ext cx="268713" cy="329909"/>
              </a:xfrm>
              <a:prstGeom prst="rect">
                <a:avLst/>
              </a:prstGeom>
              <a:blipFill>
                <a:blip r:embed="rId30"/>
                <a:stretch>
                  <a:fillRect l="-12500" r="-2083"/>
                </a:stretch>
              </a:blipFill>
              <a:ln/>
            </p:spPr>
            <p:txBody>
              <a:bodyPr/>
              <a:lstStyle/>
              <a:p>
                <a:r>
                  <a:rPr lang="zh-CN" altLang="en-US">
                    <a:noFill/>
                  </a:rPr>
                  <a:t> </a:t>
                </a:r>
              </a:p>
            </p:txBody>
          </p:sp>
        </mc:Fallback>
      </mc:AlternateContent>
      <p:cxnSp>
        <p:nvCxnSpPr>
          <p:cNvPr id="122" name="直接箭头连接符 121">
            <a:extLst>
              <a:ext uri="{FF2B5EF4-FFF2-40B4-BE49-F238E27FC236}">
                <a16:creationId xmlns:a16="http://schemas.microsoft.com/office/drawing/2014/main" id="{032ACC39-7C2E-4336-84C7-171091E3075E}"/>
              </a:ext>
            </a:extLst>
          </p:cNvPr>
          <p:cNvCxnSpPr>
            <a:cxnSpLocks/>
          </p:cNvCxnSpPr>
          <p:nvPr/>
        </p:nvCxnSpPr>
        <p:spPr>
          <a:xfrm>
            <a:off x="4149232" y="3476781"/>
            <a:ext cx="0" cy="5805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3D145B91-DA47-442A-A506-06CD15CBD48A}"/>
              </a:ext>
            </a:extLst>
          </p:cNvPr>
          <p:cNvCxnSpPr>
            <a:stCxn id="121" idx="2"/>
          </p:cNvCxnSpPr>
          <p:nvPr/>
        </p:nvCxnSpPr>
        <p:spPr>
          <a:xfrm>
            <a:off x="4149612" y="2685635"/>
            <a:ext cx="0" cy="432000"/>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6" name="矩形 125">
                <a:extLst>
                  <a:ext uri="{FF2B5EF4-FFF2-40B4-BE49-F238E27FC236}">
                    <a16:creationId xmlns:a16="http://schemas.microsoft.com/office/drawing/2014/main" id="{04AB6B2E-7E96-48A6-BA53-733725D3F84C}"/>
                  </a:ext>
                </a:extLst>
              </p:cNvPr>
              <p:cNvSpPr/>
              <p:nvPr/>
            </p:nvSpPr>
            <p:spPr>
              <a:xfrm>
                <a:off x="4592555" y="2099056"/>
                <a:ext cx="268713" cy="83273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6" name="矩形 125">
                <a:extLst>
                  <a:ext uri="{FF2B5EF4-FFF2-40B4-BE49-F238E27FC236}">
                    <a16:creationId xmlns:a16="http://schemas.microsoft.com/office/drawing/2014/main" id="{04AB6B2E-7E96-48A6-BA53-733725D3F84C}"/>
                  </a:ext>
                </a:extLst>
              </p:cNvPr>
              <p:cNvSpPr>
                <a:spLocks noRot="1" noChangeAspect="1" noMove="1" noResize="1" noEditPoints="1" noAdjustHandles="1" noChangeArrowheads="1" noChangeShapeType="1" noTextEdit="1"/>
              </p:cNvSpPr>
              <p:nvPr/>
            </p:nvSpPr>
            <p:spPr>
              <a:xfrm>
                <a:off x="4592555" y="2099056"/>
                <a:ext cx="268713" cy="832734"/>
              </a:xfrm>
              <a:prstGeom prst="rect">
                <a:avLst/>
              </a:prstGeom>
              <a:blipFill>
                <a:blip r:embed="rId31"/>
                <a:stretch>
                  <a:fillRect/>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矩形 126">
                <a:extLst>
                  <a:ext uri="{FF2B5EF4-FFF2-40B4-BE49-F238E27FC236}">
                    <a16:creationId xmlns:a16="http://schemas.microsoft.com/office/drawing/2014/main" id="{E0B2044D-809E-4F68-8815-E068D8EAF6DC}"/>
                  </a:ext>
                </a:extLst>
              </p:cNvPr>
              <p:cNvSpPr/>
              <p:nvPr/>
            </p:nvSpPr>
            <p:spPr>
              <a:xfrm>
                <a:off x="5138052" y="2104607"/>
                <a:ext cx="268713" cy="83273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dirty="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7" name="矩形 126">
                <a:extLst>
                  <a:ext uri="{FF2B5EF4-FFF2-40B4-BE49-F238E27FC236}">
                    <a16:creationId xmlns:a16="http://schemas.microsoft.com/office/drawing/2014/main" id="{E0B2044D-809E-4F68-8815-E068D8EAF6DC}"/>
                  </a:ext>
                </a:extLst>
              </p:cNvPr>
              <p:cNvSpPr>
                <a:spLocks noRot="1" noChangeAspect="1" noMove="1" noResize="1" noEditPoints="1" noAdjustHandles="1" noChangeArrowheads="1" noChangeShapeType="1" noTextEdit="1"/>
              </p:cNvSpPr>
              <p:nvPr/>
            </p:nvSpPr>
            <p:spPr>
              <a:xfrm>
                <a:off x="5138052" y="2104607"/>
                <a:ext cx="268713" cy="832734"/>
              </a:xfrm>
              <a:prstGeom prst="rect">
                <a:avLst/>
              </a:prstGeom>
              <a:blipFill>
                <a:blip r:embed="rId32"/>
                <a:stretch>
                  <a:fillRect l="-12500" r="-2083"/>
                </a:stretch>
              </a:blipFill>
              <a:ln/>
            </p:spPr>
            <p:txBody>
              <a:bodyPr/>
              <a:lstStyle/>
              <a:p>
                <a:r>
                  <a:rPr lang="zh-CN" altLang="en-US">
                    <a:noFill/>
                  </a:rPr>
                  <a:t> </a:t>
                </a:r>
              </a:p>
            </p:txBody>
          </p:sp>
        </mc:Fallback>
      </mc:AlternateContent>
      <p:cxnSp>
        <p:nvCxnSpPr>
          <p:cNvPr id="128" name="直接连接符 127">
            <a:extLst>
              <a:ext uri="{FF2B5EF4-FFF2-40B4-BE49-F238E27FC236}">
                <a16:creationId xmlns:a16="http://schemas.microsoft.com/office/drawing/2014/main" id="{F44832E8-CE5F-4B31-9C44-53C057CC428F}"/>
              </a:ext>
            </a:extLst>
          </p:cNvPr>
          <p:cNvCxnSpPr>
            <a:cxnSpLocks/>
          </p:cNvCxnSpPr>
          <p:nvPr/>
        </p:nvCxnSpPr>
        <p:spPr>
          <a:xfrm>
            <a:off x="4138024" y="3111505"/>
            <a:ext cx="2434546" cy="4425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8666F89-180B-4285-8B77-75F1421EE319}"/>
              </a:ext>
            </a:extLst>
          </p:cNvPr>
          <p:cNvCxnSpPr>
            <a:cxnSpLocks/>
          </p:cNvCxnSpPr>
          <p:nvPr/>
        </p:nvCxnSpPr>
        <p:spPr>
          <a:xfrm flipV="1">
            <a:off x="4153512" y="3013268"/>
            <a:ext cx="1610432" cy="4687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16478579-B185-4ABD-B25E-8424E807C01B}"/>
              </a:ext>
            </a:extLst>
          </p:cNvPr>
          <p:cNvCxnSpPr>
            <a:cxnSpLocks/>
          </p:cNvCxnSpPr>
          <p:nvPr/>
        </p:nvCxnSpPr>
        <p:spPr>
          <a:xfrm flipV="1">
            <a:off x="5763944" y="1668175"/>
            <a:ext cx="0" cy="1350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4E08755C-9C31-457B-AD24-48A84312431F}"/>
              </a:ext>
            </a:extLst>
          </p:cNvPr>
          <p:cNvCxnSpPr>
            <a:cxnSpLocks/>
          </p:cNvCxnSpPr>
          <p:nvPr/>
        </p:nvCxnSpPr>
        <p:spPr>
          <a:xfrm flipV="1">
            <a:off x="6156176" y="1660985"/>
            <a:ext cx="0" cy="1350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11CF4A8C-3A92-4797-A580-384F59C3E749}"/>
              </a:ext>
            </a:extLst>
          </p:cNvPr>
          <p:cNvCxnSpPr>
            <a:cxnSpLocks/>
          </p:cNvCxnSpPr>
          <p:nvPr/>
        </p:nvCxnSpPr>
        <p:spPr>
          <a:xfrm flipV="1">
            <a:off x="6588224" y="1674884"/>
            <a:ext cx="0" cy="1350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B92243F8-C6B5-43B5-995C-7597A29519AE}"/>
              </a:ext>
            </a:extLst>
          </p:cNvPr>
          <p:cNvCxnSpPr>
            <a:cxnSpLocks/>
          </p:cNvCxnSpPr>
          <p:nvPr/>
        </p:nvCxnSpPr>
        <p:spPr>
          <a:xfrm flipV="1">
            <a:off x="5602467" y="3006365"/>
            <a:ext cx="547927" cy="56820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424B2335-BC50-4461-8451-10E349E8F940}"/>
              </a:ext>
            </a:extLst>
          </p:cNvPr>
          <p:cNvCxnSpPr>
            <a:cxnSpLocks/>
          </p:cNvCxnSpPr>
          <p:nvPr/>
        </p:nvCxnSpPr>
        <p:spPr>
          <a:xfrm>
            <a:off x="5605637" y="3574572"/>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B950D8E7-6D3A-489B-B8A0-A56A06B71A2D}"/>
              </a:ext>
            </a:extLst>
          </p:cNvPr>
          <p:cNvCxnSpPr>
            <a:cxnSpLocks/>
          </p:cNvCxnSpPr>
          <p:nvPr/>
        </p:nvCxnSpPr>
        <p:spPr>
          <a:xfrm flipV="1">
            <a:off x="6048869" y="3008949"/>
            <a:ext cx="547927" cy="56820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21EDE200-F8FC-42DC-8174-5150CC6A9712}"/>
              </a:ext>
            </a:extLst>
          </p:cNvPr>
          <p:cNvCxnSpPr>
            <a:cxnSpLocks/>
          </p:cNvCxnSpPr>
          <p:nvPr/>
        </p:nvCxnSpPr>
        <p:spPr>
          <a:xfrm>
            <a:off x="6052039" y="3577156"/>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9A39AC88-1DEC-468F-82B8-B9795DD09A0F}"/>
              </a:ext>
            </a:extLst>
          </p:cNvPr>
          <p:cNvCxnSpPr>
            <a:cxnSpLocks/>
          </p:cNvCxnSpPr>
          <p:nvPr/>
        </p:nvCxnSpPr>
        <p:spPr>
          <a:xfrm flipH="1">
            <a:off x="5400224" y="2819089"/>
            <a:ext cx="1764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F3CD9448-4747-4C57-8891-0D75E55797E0}"/>
              </a:ext>
            </a:extLst>
          </p:cNvPr>
          <p:cNvCxnSpPr>
            <a:cxnSpLocks/>
          </p:cNvCxnSpPr>
          <p:nvPr/>
        </p:nvCxnSpPr>
        <p:spPr>
          <a:xfrm flipH="1">
            <a:off x="5400224" y="2624645"/>
            <a:ext cx="118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04C5CA00-EF7B-4023-B0FA-4F0750650A82}"/>
              </a:ext>
            </a:extLst>
          </p:cNvPr>
          <p:cNvCxnSpPr>
            <a:cxnSpLocks/>
          </p:cNvCxnSpPr>
          <p:nvPr/>
        </p:nvCxnSpPr>
        <p:spPr>
          <a:xfrm flipH="1">
            <a:off x="5400224" y="2430200"/>
            <a:ext cx="756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B63D4DC3-0EEF-4940-8D59-C2C5264C3A8F}"/>
              </a:ext>
            </a:extLst>
          </p:cNvPr>
          <p:cNvCxnSpPr>
            <a:cxnSpLocks/>
          </p:cNvCxnSpPr>
          <p:nvPr/>
        </p:nvCxnSpPr>
        <p:spPr>
          <a:xfrm flipH="1">
            <a:off x="5400224" y="2235755"/>
            <a:ext cx="360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915586A4-C6D3-477A-A62B-D838C4DC9889}"/>
              </a:ext>
            </a:extLst>
          </p:cNvPr>
          <p:cNvCxnSpPr>
            <a:cxnSpLocks/>
          </p:cNvCxnSpPr>
          <p:nvPr/>
        </p:nvCxnSpPr>
        <p:spPr>
          <a:xfrm flipH="1">
            <a:off x="4283968" y="2515423"/>
            <a:ext cx="324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4950285C-67AD-4957-9A02-89CB054ED0C5}"/>
              </a:ext>
            </a:extLst>
          </p:cNvPr>
          <p:cNvCxnSpPr>
            <a:cxnSpLocks/>
          </p:cNvCxnSpPr>
          <p:nvPr/>
        </p:nvCxnSpPr>
        <p:spPr>
          <a:xfrm flipH="1">
            <a:off x="4861268" y="2515423"/>
            <a:ext cx="252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矩形 154">
                <a:extLst>
                  <a:ext uri="{FF2B5EF4-FFF2-40B4-BE49-F238E27FC236}">
                    <a16:creationId xmlns:a16="http://schemas.microsoft.com/office/drawing/2014/main" id="{1238FF8D-12CA-4535-B5B1-745FC8D37A0C}"/>
                  </a:ext>
                </a:extLst>
              </p:cNvPr>
              <p:cNvSpPr/>
              <p:nvPr/>
            </p:nvSpPr>
            <p:spPr>
              <a:xfrm>
                <a:off x="4077367" y="161848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55" name="矩形 154">
                <a:extLst>
                  <a:ext uri="{FF2B5EF4-FFF2-40B4-BE49-F238E27FC236}">
                    <a16:creationId xmlns:a16="http://schemas.microsoft.com/office/drawing/2014/main" id="{1238FF8D-12CA-4535-B5B1-745FC8D37A0C}"/>
                  </a:ext>
                </a:extLst>
              </p:cNvPr>
              <p:cNvSpPr>
                <a:spLocks noRot="1" noChangeAspect="1" noMove="1" noResize="1" noEditPoints="1" noAdjustHandles="1" noChangeArrowheads="1" noChangeShapeType="1" noTextEdit="1"/>
              </p:cNvSpPr>
              <p:nvPr/>
            </p:nvSpPr>
            <p:spPr>
              <a:xfrm>
                <a:off x="4077367" y="1618480"/>
                <a:ext cx="432048" cy="216024"/>
              </a:xfrm>
              <a:prstGeom prst="rect">
                <a:avLst/>
              </a:prstGeom>
              <a:blipFill>
                <a:blip r:embed="rId33"/>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矩形 155">
                <a:extLst>
                  <a:ext uri="{FF2B5EF4-FFF2-40B4-BE49-F238E27FC236}">
                    <a16:creationId xmlns:a16="http://schemas.microsoft.com/office/drawing/2014/main" id="{AD463039-CF6E-4D51-BD72-C7D90A49FC96}"/>
                  </a:ext>
                </a:extLst>
              </p:cNvPr>
              <p:cNvSpPr/>
              <p:nvPr/>
            </p:nvSpPr>
            <p:spPr>
              <a:xfrm>
                <a:off x="4139952" y="358568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+1</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56" name="矩形 155">
                <a:extLst>
                  <a:ext uri="{FF2B5EF4-FFF2-40B4-BE49-F238E27FC236}">
                    <a16:creationId xmlns:a16="http://schemas.microsoft.com/office/drawing/2014/main" id="{AD463039-CF6E-4D51-BD72-C7D90A49FC96}"/>
                  </a:ext>
                </a:extLst>
              </p:cNvPr>
              <p:cNvSpPr>
                <a:spLocks noRot="1" noChangeAspect="1" noMove="1" noResize="1" noEditPoints="1" noAdjustHandles="1" noChangeArrowheads="1" noChangeShapeType="1" noTextEdit="1"/>
              </p:cNvSpPr>
              <p:nvPr/>
            </p:nvSpPr>
            <p:spPr>
              <a:xfrm>
                <a:off x="4139952" y="3585683"/>
                <a:ext cx="432048" cy="216024"/>
              </a:xfrm>
              <a:prstGeom prst="rect">
                <a:avLst/>
              </a:prstGeom>
              <a:blipFill>
                <a:blip r:embed="rId34"/>
                <a:stretch>
                  <a:fillRect r="-4225" b="-5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 name="矩形 156">
                <a:extLst>
                  <a:ext uri="{FF2B5EF4-FFF2-40B4-BE49-F238E27FC236}">
                    <a16:creationId xmlns:a16="http://schemas.microsoft.com/office/drawing/2014/main" id="{47270700-8F1C-4F41-994C-A94CF32D4949}"/>
                  </a:ext>
                </a:extLst>
              </p:cNvPr>
              <p:cNvSpPr/>
              <p:nvPr/>
            </p:nvSpPr>
            <p:spPr>
              <a:xfrm>
                <a:off x="5582503" y="358147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+2</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57" name="矩形 156">
                <a:extLst>
                  <a:ext uri="{FF2B5EF4-FFF2-40B4-BE49-F238E27FC236}">
                    <a16:creationId xmlns:a16="http://schemas.microsoft.com/office/drawing/2014/main" id="{47270700-8F1C-4F41-994C-A94CF32D4949}"/>
                  </a:ext>
                </a:extLst>
              </p:cNvPr>
              <p:cNvSpPr>
                <a:spLocks noRot="1" noChangeAspect="1" noMove="1" noResize="1" noEditPoints="1" noAdjustHandles="1" noChangeArrowheads="1" noChangeShapeType="1" noTextEdit="1"/>
              </p:cNvSpPr>
              <p:nvPr/>
            </p:nvSpPr>
            <p:spPr>
              <a:xfrm>
                <a:off x="5582503" y="3581475"/>
                <a:ext cx="432048" cy="216024"/>
              </a:xfrm>
              <a:prstGeom prst="rect">
                <a:avLst/>
              </a:prstGeom>
              <a:blipFill>
                <a:blip r:embed="rId35"/>
                <a:stretch>
                  <a:fillRect r="-2817"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 name="矩形 157">
                <a:extLst>
                  <a:ext uri="{FF2B5EF4-FFF2-40B4-BE49-F238E27FC236}">
                    <a16:creationId xmlns:a16="http://schemas.microsoft.com/office/drawing/2014/main" id="{AEED2219-99D9-4C66-8DEB-E863C3DE55D6}"/>
                  </a:ext>
                </a:extLst>
              </p:cNvPr>
              <p:cNvSpPr/>
              <p:nvPr/>
            </p:nvSpPr>
            <p:spPr>
              <a:xfrm>
                <a:off x="6027270" y="3593272"/>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+3</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58" name="矩形 157">
                <a:extLst>
                  <a:ext uri="{FF2B5EF4-FFF2-40B4-BE49-F238E27FC236}">
                    <a16:creationId xmlns:a16="http://schemas.microsoft.com/office/drawing/2014/main" id="{AEED2219-99D9-4C66-8DEB-E863C3DE55D6}"/>
                  </a:ext>
                </a:extLst>
              </p:cNvPr>
              <p:cNvSpPr>
                <a:spLocks noRot="1" noChangeAspect="1" noMove="1" noResize="1" noEditPoints="1" noAdjustHandles="1" noChangeArrowheads="1" noChangeShapeType="1" noTextEdit="1"/>
              </p:cNvSpPr>
              <p:nvPr/>
            </p:nvSpPr>
            <p:spPr>
              <a:xfrm>
                <a:off x="6027270" y="3593272"/>
                <a:ext cx="432048" cy="216024"/>
              </a:xfrm>
              <a:prstGeom prst="rect">
                <a:avLst/>
              </a:prstGeom>
              <a:blipFill>
                <a:blip r:embed="rId36"/>
                <a:stretch>
                  <a:fillRect r="-2817" b="-58333"/>
                </a:stretch>
              </a:blipFill>
              <a:ln>
                <a:noFill/>
              </a:ln>
            </p:spPr>
            <p:txBody>
              <a:bodyPr/>
              <a:lstStyle/>
              <a:p>
                <a:r>
                  <a:rPr lang="zh-CN" altLang="en-US">
                    <a:noFill/>
                  </a:rPr>
                  <a:t> </a:t>
                </a:r>
              </a:p>
            </p:txBody>
          </p:sp>
        </mc:Fallback>
      </mc:AlternateContent>
      <p:cxnSp>
        <p:nvCxnSpPr>
          <p:cNvPr id="159" name="直接箭头连接符 158">
            <a:extLst>
              <a:ext uri="{FF2B5EF4-FFF2-40B4-BE49-F238E27FC236}">
                <a16:creationId xmlns:a16="http://schemas.microsoft.com/office/drawing/2014/main" id="{EB045CF6-8702-494C-958C-9A349D1357F1}"/>
              </a:ext>
            </a:extLst>
          </p:cNvPr>
          <p:cNvCxnSpPr>
            <a:cxnSpLocks/>
          </p:cNvCxnSpPr>
          <p:nvPr/>
        </p:nvCxnSpPr>
        <p:spPr>
          <a:xfrm>
            <a:off x="6572570" y="3554083"/>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0" name="矩形 159">
                <a:extLst>
                  <a:ext uri="{FF2B5EF4-FFF2-40B4-BE49-F238E27FC236}">
                    <a16:creationId xmlns:a16="http://schemas.microsoft.com/office/drawing/2014/main" id="{E56CEE00-355C-45C4-900B-1A0328A8D90B}"/>
                  </a:ext>
                </a:extLst>
              </p:cNvPr>
              <p:cNvSpPr/>
              <p:nvPr/>
            </p:nvSpPr>
            <p:spPr>
              <a:xfrm>
                <a:off x="6538171" y="3600528"/>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+4</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0" name="矩形 159">
                <a:extLst>
                  <a:ext uri="{FF2B5EF4-FFF2-40B4-BE49-F238E27FC236}">
                    <a16:creationId xmlns:a16="http://schemas.microsoft.com/office/drawing/2014/main" id="{E56CEE00-355C-45C4-900B-1A0328A8D90B}"/>
                  </a:ext>
                </a:extLst>
              </p:cNvPr>
              <p:cNvSpPr>
                <a:spLocks noRot="1" noChangeAspect="1" noMove="1" noResize="1" noEditPoints="1" noAdjustHandles="1" noChangeArrowheads="1" noChangeShapeType="1" noTextEdit="1"/>
              </p:cNvSpPr>
              <p:nvPr/>
            </p:nvSpPr>
            <p:spPr>
              <a:xfrm>
                <a:off x="6538171" y="3600528"/>
                <a:ext cx="432048" cy="216024"/>
              </a:xfrm>
              <a:prstGeom prst="rect">
                <a:avLst/>
              </a:prstGeom>
              <a:blipFill>
                <a:blip r:embed="rId37"/>
                <a:stretch>
                  <a:fillRect r="-4286"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矩形 161">
                <a:extLst>
                  <a:ext uri="{FF2B5EF4-FFF2-40B4-BE49-F238E27FC236}">
                    <a16:creationId xmlns:a16="http://schemas.microsoft.com/office/drawing/2014/main" id="{77DCFD80-49DD-4FCA-AC89-A977D0F92D54}"/>
                  </a:ext>
                </a:extLst>
              </p:cNvPr>
              <p:cNvSpPr/>
              <p:nvPr/>
            </p:nvSpPr>
            <p:spPr>
              <a:xfrm>
                <a:off x="5720223" y="162466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+1</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2" name="矩形 161">
                <a:extLst>
                  <a:ext uri="{FF2B5EF4-FFF2-40B4-BE49-F238E27FC236}">
                    <a16:creationId xmlns:a16="http://schemas.microsoft.com/office/drawing/2014/main" id="{77DCFD80-49DD-4FCA-AC89-A977D0F92D54}"/>
                  </a:ext>
                </a:extLst>
              </p:cNvPr>
              <p:cNvSpPr>
                <a:spLocks noRot="1" noChangeAspect="1" noMove="1" noResize="1" noEditPoints="1" noAdjustHandles="1" noChangeArrowheads="1" noChangeShapeType="1" noTextEdit="1"/>
              </p:cNvSpPr>
              <p:nvPr/>
            </p:nvSpPr>
            <p:spPr>
              <a:xfrm>
                <a:off x="5720223" y="1624665"/>
                <a:ext cx="432048" cy="216024"/>
              </a:xfrm>
              <a:prstGeom prst="rect">
                <a:avLst/>
              </a:prstGeom>
              <a:blipFill>
                <a:blip r:embed="rId38"/>
                <a:stretch>
                  <a:fillRect r="-4225"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3" name="矩形 162">
                <a:extLst>
                  <a:ext uri="{FF2B5EF4-FFF2-40B4-BE49-F238E27FC236}">
                    <a16:creationId xmlns:a16="http://schemas.microsoft.com/office/drawing/2014/main" id="{0A8FD7EC-31F2-4C17-9C98-57FE0F811B69}"/>
                  </a:ext>
                </a:extLst>
              </p:cNvPr>
              <p:cNvSpPr/>
              <p:nvPr/>
            </p:nvSpPr>
            <p:spPr>
              <a:xfrm>
                <a:off x="6131052" y="1637912"/>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+2</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3" name="矩形 162">
                <a:extLst>
                  <a:ext uri="{FF2B5EF4-FFF2-40B4-BE49-F238E27FC236}">
                    <a16:creationId xmlns:a16="http://schemas.microsoft.com/office/drawing/2014/main" id="{0A8FD7EC-31F2-4C17-9C98-57FE0F811B69}"/>
                  </a:ext>
                </a:extLst>
              </p:cNvPr>
              <p:cNvSpPr>
                <a:spLocks noRot="1" noChangeAspect="1" noMove="1" noResize="1" noEditPoints="1" noAdjustHandles="1" noChangeArrowheads="1" noChangeShapeType="1" noTextEdit="1"/>
              </p:cNvSpPr>
              <p:nvPr/>
            </p:nvSpPr>
            <p:spPr>
              <a:xfrm>
                <a:off x="6131052" y="1637912"/>
                <a:ext cx="432048" cy="216024"/>
              </a:xfrm>
              <a:prstGeom prst="rect">
                <a:avLst/>
              </a:prstGeom>
              <a:blipFill>
                <a:blip r:embed="rId39"/>
                <a:stretch>
                  <a:fillRect r="-2817"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4" name="矩形 163">
                <a:extLst>
                  <a:ext uri="{FF2B5EF4-FFF2-40B4-BE49-F238E27FC236}">
                    <a16:creationId xmlns:a16="http://schemas.microsoft.com/office/drawing/2014/main" id="{00AF01A2-2B2D-4B43-9D1E-AE569F0F6B6C}"/>
                  </a:ext>
                </a:extLst>
              </p:cNvPr>
              <p:cNvSpPr/>
              <p:nvPr/>
            </p:nvSpPr>
            <p:spPr>
              <a:xfrm>
                <a:off x="6548408" y="165669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m:rPr>
                        <m:sty m:val="p"/>
                      </m:rPr>
                      <a:rPr lang="en-US" altLang="zh-CN" sz="1600" b="0" i="1" baseline="-25000" dirty="0">
                        <a:solidFill>
                          <a:schemeClr val="tx2"/>
                        </a:solidFill>
                        <a:latin typeface="Cambria Math" panose="02040503050406030204" pitchFamily="18" charset="0"/>
                        <a:ea typeface="华文楷体" panose="02010600040101010101" pitchFamily="2" charset="-122"/>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+3</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4" name="矩形 163">
                <a:extLst>
                  <a:ext uri="{FF2B5EF4-FFF2-40B4-BE49-F238E27FC236}">
                    <a16:creationId xmlns:a16="http://schemas.microsoft.com/office/drawing/2014/main" id="{00AF01A2-2B2D-4B43-9D1E-AE569F0F6B6C}"/>
                  </a:ext>
                </a:extLst>
              </p:cNvPr>
              <p:cNvSpPr>
                <a:spLocks noRot="1" noChangeAspect="1" noMove="1" noResize="1" noEditPoints="1" noAdjustHandles="1" noChangeArrowheads="1" noChangeShapeType="1" noTextEdit="1"/>
              </p:cNvSpPr>
              <p:nvPr/>
            </p:nvSpPr>
            <p:spPr>
              <a:xfrm>
                <a:off x="6548408" y="1656690"/>
                <a:ext cx="432048" cy="216024"/>
              </a:xfrm>
              <a:prstGeom prst="rect">
                <a:avLst/>
              </a:prstGeom>
              <a:blipFill>
                <a:blip r:embed="rId40"/>
                <a:stretch>
                  <a:fillRect r="-4225"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5" name="矩形 164">
                <a:extLst>
                  <a:ext uri="{FF2B5EF4-FFF2-40B4-BE49-F238E27FC236}">
                    <a16:creationId xmlns:a16="http://schemas.microsoft.com/office/drawing/2014/main" id="{5957A65F-08E4-4498-9869-19EFB4192DF0}"/>
                  </a:ext>
                </a:extLst>
              </p:cNvPr>
              <p:cNvSpPr/>
              <p:nvPr/>
            </p:nvSpPr>
            <p:spPr>
              <a:xfrm>
                <a:off x="6650809" y="257762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n-US" altLang="zh-CN" sz="1600" i="1" dirty="0" smtClean="0">
                          <a:solidFill>
                            <a:schemeClr val="tx2"/>
                          </a:solidFill>
                          <a:latin typeface="Cambria Math" panose="02040503050406030204" pitchFamily="18" charset="0"/>
                          <a:ea typeface="华文楷体" panose="02010600040101010101" pitchFamily="2" charset="-122"/>
                        </a:rPr>
                        <m:t>r</m:t>
                      </m:r>
                      <m:r>
                        <a:rPr lang="en-US" altLang="zh-CN" sz="1600" b="0" i="1" dirty="0" smtClean="0">
                          <a:solidFill>
                            <a:schemeClr val="tx2"/>
                          </a:solidFill>
                          <a:latin typeface="Cambria Math" panose="02040503050406030204" pitchFamily="18" charset="0"/>
                          <a:ea typeface="华文楷体" panose="02010600040101010101" pitchFamily="2" charset="-122"/>
                        </a:rPr>
                        <m:t>𝑘</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𝑖</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65" name="矩形 164">
                <a:extLst>
                  <a:ext uri="{FF2B5EF4-FFF2-40B4-BE49-F238E27FC236}">
                    <a16:creationId xmlns:a16="http://schemas.microsoft.com/office/drawing/2014/main" id="{5957A65F-08E4-4498-9869-19EFB4192DF0}"/>
                  </a:ext>
                </a:extLst>
              </p:cNvPr>
              <p:cNvSpPr>
                <a:spLocks noRot="1" noChangeAspect="1" noMove="1" noResize="1" noEditPoints="1" noAdjustHandles="1" noChangeArrowheads="1" noChangeShapeType="1" noTextEdit="1"/>
              </p:cNvSpPr>
              <p:nvPr/>
            </p:nvSpPr>
            <p:spPr>
              <a:xfrm>
                <a:off x="6650809" y="2577623"/>
                <a:ext cx="432048" cy="216024"/>
              </a:xfrm>
              <a:prstGeom prst="rect">
                <a:avLst/>
              </a:prstGeom>
              <a:blipFill>
                <a:blip r:embed="rId41"/>
                <a:stretch>
                  <a:fillRect b="-28571"/>
                </a:stretch>
              </a:blipFill>
              <a:ln>
                <a:noFill/>
              </a:ln>
            </p:spPr>
            <p:txBody>
              <a:bodyPr/>
              <a:lstStyle/>
              <a:p>
                <a:r>
                  <a:rPr lang="zh-CN" altLang="en-US">
                    <a:noFill/>
                  </a:rPr>
                  <a:t> </a:t>
                </a:r>
              </a:p>
            </p:txBody>
          </p:sp>
        </mc:Fallback>
      </mc:AlternateContent>
      <p:sp>
        <p:nvSpPr>
          <p:cNvPr id="166" name="箭头: 右 165">
            <a:extLst>
              <a:ext uri="{FF2B5EF4-FFF2-40B4-BE49-F238E27FC236}">
                <a16:creationId xmlns:a16="http://schemas.microsoft.com/office/drawing/2014/main" id="{9AFC33DF-B6AA-4F7F-8060-80649045105B}"/>
              </a:ext>
            </a:extLst>
          </p:cNvPr>
          <p:cNvSpPr/>
          <p:nvPr/>
        </p:nvSpPr>
        <p:spPr>
          <a:xfrm flipH="1">
            <a:off x="7156548" y="2732047"/>
            <a:ext cx="251828" cy="144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7" name="直接连接符 166">
            <a:extLst>
              <a:ext uri="{FF2B5EF4-FFF2-40B4-BE49-F238E27FC236}">
                <a16:creationId xmlns:a16="http://schemas.microsoft.com/office/drawing/2014/main" id="{437B938A-3570-4A9B-868C-6A63463B5928}"/>
              </a:ext>
            </a:extLst>
          </p:cNvPr>
          <p:cNvCxnSpPr/>
          <p:nvPr/>
        </p:nvCxnSpPr>
        <p:spPr>
          <a:xfrm>
            <a:off x="4153512" y="4257689"/>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BACAB530-142F-4A81-88D5-D79B75EE1393}"/>
              </a:ext>
            </a:extLst>
          </p:cNvPr>
          <p:cNvCxnSpPr>
            <a:cxnSpLocks/>
          </p:cNvCxnSpPr>
          <p:nvPr/>
        </p:nvCxnSpPr>
        <p:spPr>
          <a:xfrm>
            <a:off x="4164498" y="4880619"/>
            <a:ext cx="0" cy="252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CC53AADA-A852-4092-A46C-05E8EE85DAE6}"/>
              </a:ext>
            </a:extLst>
          </p:cNvPr>
          <p:cNvCxnSpPr>
            <a:cxnSpLocks/>
          </p:cNvCxnSpPr>
          <p:nvPr/>
        </p:nvCxnSpPr>
        <p:spPr>
          <a:xfrm>
            <a:off x="4131050" y="4578543"/>
            <a:ext cx="2432050" cy="25548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6DAEC98F-7E8D-4AF0-9010-347CE5BCC06D}"/>
              </a:ext>
            </a:extLst>
          </p:cNvPr>
          <p:cNvCxnSpPr>
            <a:cxnSpLocks/>
          </p:cNvCxnSpPr>
          <p:nvPr/>
        </p:nvCxnSpPr>
        <p:spPr>
          <a:xfrm>
            <a:off x="6559029" y="4834028"/>
            <a:ext cx="0" cy="28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32E79110-0B2D-495B-8170-8B1A98D9E589}"/>
              </a:ext>
            </a:extLst>
          </p:cNvPr>
          <p:cNvCxnSpPr>
            <a:cxnSpLocks/>
          </p:cNvCxnSpPr>
          <p:nvPr/>
        </p:nvCxnSpPr>
        <p:spPr>
          <a:xfrm flipV="1">
            <a:off x="4164746" y="4613903"/>
            <a:ext cx="2432050" cy="25548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0C826F49-97EA-4A5F-B40B-D7B9F6717788}"/>
              </a:ext>
            </a:extLst>
          </p:cNvPr>
          <p:cNvCxnSpPr/>
          <p:nvPr/>
        </p:nvCxnSpPr>
        <p:spPr>
          <a:xfrm>
            <a:off x="6596796" y="4289040"/>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25E81B1-5E3B-4C26-8BB8-5B5D37565817}"/>
              </a:ext>
            </a:extLst>
          </p:cNvPr>
          <p:cNvCxnSpPr/>
          <p:nvPr/>
        </p:nvCxnSpPr>
        <p:spPr>
          <a:xfrm>
            <a:off x="5795231" y="4289040"/>
            <a:ext cx="0" cy="324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98661798-B7B8-47C6-8E6F-082CBD286D98}"/>
              </a:ext>
            </a:extLst>
          </p:cNvPr>
          <p:cNvCxnSpPr>
            <a:cxnSpLocks/>
          </p:cNvCxnSpPr>
          <p:nvPr/>
        </p:nvCxnSpPr>
        <p:spPr>
          <a:xfrm flipV="1">
            <a:off x="5113268" y="4610045"/>
            <a:ext cx="677483" cy="2579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C051F421-BDFD-461A-8D45-417BC932ACD3}"/>
              </a:ext>
            </a:extLst>
          </p:cNvPr>
          <p:cNvCxnSpPr>
            <a:cxnSpLocks/>
          </p:cNvCxnSpPr>
          <p:nvPr/>
        </p:nvCxnSpPr>
        <p:spPr>
          <a:xfrm>
            <a:off x="5111282" y="4867966"/>
            <a:ext cx="0" cy="28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C79A65E5-815B-4659-947B-7BA9AD16403A}"/>
              </a:ext>
            </a:extLst>
          </p:cNvPr>
          <p:cNvCxnSpPr>
            <a:cxnSpLocks/>
          </p:cNvCxnSpPr>
          <p:nvPr/>
        </p:nvCxnSpPr>
        <p:spPr>
          <a:xfrm>
            <a:off x="5119020" y="4613878"/>
            <a:ext cx="677483" cy="25792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0" name="直接箭头连接符 179">
            <a:extLst>
              <a:ext uri="{FF2B5EF4-FFF2-40B4-BE49-F238E27FC236}">
                <a16:creationId xmlns:a16="http://schemas.microsoft.com/office/drawing/2014/main" id="{955E6571-CA70-44A9-87C3-D764CB4CF87A}"/>
              </a:ext>
            </a:extLst>
          </p:cNvPr>
          <p:cNvCxnSpPr>
            <a:cxnSpLocks/>
          </p:cNvCxnSpPr>
          <p:nvPr/>
        </p:nvCxnSpPr>
        <p:spPr>
          <a:xfrm>
            <a:off x="5790751" y="4867966"/>
            <a:ext cx="0" cy="28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BBF9DED3-6324-4A60-9CE4-80CE0924BADF}"/>
              </a:ext>
            </a:extLst>
          </p:cNvPr>
          <p:cNvCxnSpPr/>
          <p:nvPr/>
        </p:nvCxnSpPr>
        <p:spPr>
          <a:xfrm>
            <a:off x="5119020" y="4301481"/>
            <a:ext cx="0" cy="324000"/>
          </a:xfrm>
          <a:prstGeom prst="line">
            <a:avLst/>
          </a:prstGeom>
          <a:ln w="190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2" name="矩形 181">
                <a:extLst>
                  <a:ext uri="{FF2B5EF4-FFF2-40B4-BE49-F238E27FC236}">
                    <a16:creationId xmlns:a16="http://schemas.microsoft.com/office/drawing/2014/main" id="{AFF90274-0C52-496F-B8E9-ADB02C3FF7AC}"/>
                  </a:ext>
                </a:extLst>
              </p:cNvPr>
              <p:cNvSpPr/>
              <p:nvPr/>
            </p:nvSpPr>
            <p:spPr>
              <a:xfrm>
                <a:off x="4131050" y="427012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2" name="矩形 181">
                <a:extLst>
                  <a:ext uri="{FF2B5EF4-FFF2-40B4-BE49-F238E27FC236}">
                    <a16:creationId xmlns:a16="http://schemas.microsoft.com/office/drawing/2014/main" id="{AFF90274-0C52-496F-B8E9-ADB02C3FF7AC}"/>
                  </a:ext>
                </a:extLst>
              </p:cNvPr>
              <p:cNvSpPr>
                <a:spLocks noRot="1" noChangeAspect="1" noMove="1" noResize="1" noEditPoints="1" noAdjustHandles="1" noChangeArrowheads="1" noChangeShapeType="1" noTextEdit="1"/>
              </p:cNvSpPr>
              <p:nvPr/>
            </p:nvSpPr>
            <p:spPr>
              <a:xfrm>
                <a:off x="4131050" y="4270129"/>
                <a:ext cx="432048" cy="216024"/>
              </a:xfrm>
              <a:prstGeom prst="rect">
                <a:avLst/>
              </a:prstGeom>
              <a:blipFill>
                <a:blip r:embed="rId42"/>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3" name="矩形 182">
                <a:extLst>
                  <a:ext uri="{FF2B5EF4-FFF2-40B4-BE49-F238E27FC236}">
                    <a16:creationId xmlns:a16="http://schemas.microsoft.com/office/drawing/2014/main" id="{7A4E44DD-583A-456B-8E36-9888AB0D9227}"/>
                  </a:ext>
                </a:extLst>
              </p:cNvPr>
              <p:cNvSpPr/>
              <p:nvPr/>
            </p:nvSpPr>
            <p:spPr>
              <a:xfrm>
                <a:off x="5111282" y="427012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3" name="矩形 182">
                <a:extLst>
                  <a:ext uri="{FF2B5EF4-FFF2-40B4-BE49-F238E27FC236}">
                    <a16:creationId xmlns:a16="http://schemas.microsoft.com/office/drawing/2014/main" id="{7A4E44DD-583A-456B-8E36-9888AB0D9227}"/>
                  </a:ext>
                </a:extLst>
              </p:cNvPr>
              <p:cNvSpPr>
                <a:spLocks noRot="1" noChangeAspect="1" noMove="1" noResize="1" noEditPoints="1" noAdjustHandles="1" noChangeArrowheads="1" noChangeShapeType="1" noTextEdit="1"/>
              </p:cNvSpPr>
              <p:nvPr/>
            </p:nvSpPr>
            <p:spPr>
              <a:xfrm>
                <a:off x="5111282" y="4270129"/>
                <a:ext cx="432048" cy="216024"/>
              </a:xfrm>
              <a:prstGeom prst="rect">
                <a:avLst/>
              </a:prstGeom>
              <a:blipFill>
                <a:blip r:embed="rId43"/>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 name="矩形 183">
                <a:extLst>
                  <a:ext uri="{FF2B5EF4-FFF2-40B4-BE49-F238E27FC236}">
                    <a16:creationId xmlns:a16="http://schemas.microsoft.com/office/drawing/2014/main" id="{DE5EE783-AF1D-4BE5-B2EF-19098104D5A9}"/>
                  </a:ext>
                </a:extLst>
              </p:cNvPr>
              <p:cNvSpPr/>
              <p:nvPr/>
            </p:nvSpPr>
            <p:spPr>
              <a:xfrm>
                <a:off x="5778224" y="427012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4" name="矩形 183">
                <a:extLst>
                  <a:ext uri="{FF2B5EF4-FFF2-40B4-BE49-F238E27FC236}">
                    <a16:creationId xmlns:a16="http://schemas.microsoft.com/office/drawing/2014/main" id="{DE5EE783-AF1D-4BE5-B2EF-19098104D5A9}"/>
                  </a:ext>
                </a:extLst>
              </p:cNvPr>
              <p:cNvSpPr>
                <a:spLocks noRot="1" noChangeAspect="1" noMove="1" noResize="1" noEditPoints="1" noAdjustHandles="1" noChangeArrowheads="1" noChangeShapeType="1" noTextEdit="1"/>
              </p:cNvSpPr>
              <p:nvPr/>
            </p:nvSpPr>
            <p:spPr>
              <a:xfrm>
                <a:off x="5778224" y="4270129"/>
                <a:ext cx="432048" cy="216024"/>
              </a:xfrm>
              <a:prstGeom prst="rect">
                <a:avLst/>
              </a:prstGeom>
              <a:blipFill>
                <a:blip r:embed="rId44"/>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5" name="矩形 184">
                <a:extLst>
                  <a:ext uri="{FF2B5EF4-FFF2-40B4-BE49-F238E27FC236}">
                    <a16:creationId xmlns:a16="http://schemas.microsoft.com/office/drawing/2014/main" id="{A51AE341-42A0-4816-8016-442FE44D339B}"/>
                  </a:ext>
                </a:extLst>
              </p:cNvPr>
              <p:cNvSpPr/>
              <p:nvPr/>
            </p:nvSpPr>
            <p:spPr>
              <a:xfrm>
                <a:off x="6588224" y="427012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35</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5" name="矩形 184">
                <a:extLst>
                  <a:ext uri="{FF2B5EF4-FFF2-40B4-BE49-F238E27FC236}">
                    <a16:creationId xmlns:a16="http://schemas.microsoft.com/office/drawing/2014/main" id="{A51AE341-42A0-4816-8016-442FE44D339B}"/>
                  </a:ext>
                </a:extLst>
              </p:cNvPr>
              <p:cNvSpPr>
                <a:spLocks noRot="1" noChangeAspect="1" noMove="1" noResize="1" noEditPoints="1" noAdjustHandles="1" noChangeArrowheads="1" noChangeShapeType="1" noTextEdit="1"/>
              </p:cNvSpPr>
              <p:nvPr/>
            </p:nvSpPr>
            <p:spPr>
              <a:xfrm>
                <a:off x="6588224" y="4270129"/>
                <a:ext cx="432048" cy="216024"/>
              </a:xfrm>
              <a:prstGeom prst="rect">
                <a:avLst/>
              </a:prstGeom>
              <a:blipFill>
                <a:blip r:embed="rId45"/>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6" name="矩形 185">
                <a:extLst>
                  <a:ext uri="{FF2B5EF4-FFF2-40B4-BE49-F238E27FC236}">
                    <a16:creationId xmlns:a16="http://schemas.microsoft.com/office/drawing/2014/main" id="{CFEFEE17-491F-464B-8C6F-484C20964C24}"/>
                  </a:ext>
                </a:extLst>
              </p:cNvPr>
              <p:cNvSpPr/>
              <p:nvPr/>
            </p:nvSpPr>
            <p:spPr>
              <a:xfrm>
                <a:off x="4131050" y="48760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35</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6" name="矩形 185">
                <a:extLst>
                  <a:ext uri="{FF2B5EF4-FFF2-40B4-BE49-F238E27FC236}">
                    <a16:creationId xmlns:a16="http://schemas.microsoft.com/office/drawing/2014/main" id="{CFEFEE17-491F-464B-8C6F-484C20964C24}"/>
                  </a:ext>
                </a:extLst>
              </p:cNvPr>
              <p:cNvSpPr>
                <a:spLocks noRot="1" noChangeAspect="1" noMove="1" noResize="1" noEditPoints="1" noAdjustHandles="1" noChangeArrowheads="1" noChangeShapeType="1" noTextEdit="1"/>
              </p:cNvSpPr>
              <p:nvPr/>
            </p:nvSpPr>
            <p:spPr>
              <a:xfrm>
                <a:off x="4131050" y="4876006"/>
                <a:ext cx="432048" cy="216024"/>
              </a:xfrm>
              <a:prstGeom prst="rect">
                <a:avLst/>
              </a:prstGeom>
              <a:blipFill>
                <a:blip r:embed="rId46"/>
                <a:stretch>
                  <a:fillRect b="-31429"/>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7" name="矩形 186">
                <a:extLst>
                  <a:ext uri="{FF2B5EF4-FFF2-40B4-BE49-F238E27FC236}">
                    <a16:creationId xmlns:a16="http://schemas.microsoft.com/office/drawing/2014/main" id="{9872D6BE-EB5C-4941-8C82-7A4451EA0C74}"/>
                  </a:ext>
                </a:extLst>
              </p:cNvPr>
              <p:cNvSpPr/>
              <p:nvPr/>
            </p:nvSpPr>
            <p:spPr>
              <a:xfrm>
                <a:off x="5111282" y="48760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34</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7" name="矩形 186">
                <a:extLst>
                  <a:ext uri="{FF2B5EF4-FFF2-40B4-BE49-F238E27FC236}">
                    <a16:creationId xmlns:a16="http://schemas.microsoft.com/office/drawing/2014/main" id="{9872D6BE-EB5C-4941-8C82-7A4451EA0C74}"/>
                  </a:ext>
                </a:extLst>
              </p:cNvPr>
              <p:cNvSpPr>
                <a:spLocks noRot="1" noChangeAspect="1" noMove="1" noResize="1" noEditPoints="1" noAdjustHandles="1" noChangeArrowheads="1" noChangeShapeType="1" noTextEdit="1"/>
              </p:cNvSpPr>
              <p:nvPr/>
            </p:nvSpPr>
            <p:spPr>
              <a:xfrm>
                <a:off x="5111282" y="4876006"/>
                <a:ext cx="432048" cy="216024"/>
              </a:xfrm>
              <a:prstGeom prst="rect">
                <a:avLst/>
              </a:prstGeom>
              <a:blipFill>
                <a:blip r:embed="rId47"/>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8" name="矩形 187">
                <a:extLst>
                  <a:ext uri="{FF2B5EF4-FFF2-40B4-BE49-F238E27FC236}">
                    <a16:creationId xmlns:a16="http://schemas.microsoft.com/office/drawing/2014/main" id="{F14E34BF-106F-4C8B-8A4E-A68782B3720A}"/>
                  </a:ext>
                </a:extLst>
              </p:cNvPr>
              <p:cNvSpPr/>
              <p:nvPr/>
            </p:nvSpPr>
            <p:spPr>
              <a:xfrm>
                <a:off x="5778224" y="48760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33</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8" name="矩形 187">
                <a:extLst>
                  <a:ext uri="{FF2B5EF4-FFF2-40B4-BE49-F238E27FC236}">
                    <a16:creationId xmlns:a16="http://schemas.microsoft.com/office/drawing/2014/main" id="{F14E34BF-106F-4C8B-8A4E-A68782B3720A}"/>
                  </a:ext>
                </a:extLst>
              </p:cNvPr>
              <p:cNvSpPr>
                <a:spLocks noRot="1" noChangeAspect="1" noMove="1" noResize="1" noEditPoints="1" noAdjustHandles="1" noChangeArrowheads="1" noChangeShapeType="1" noTextEdit="1"/>
              </p:cNvSpPr>
              <p:nvPr/>
            </p:nvSpPr>
            <p:spPr>
              <a:xfrm>
                <a:off x="5778224" y="4876006"/>
                <a:ext cx="432048" cy="216024"/>
              </a:xfrm>
              <a:prstGeom prst="rect">
                <a:avLst/>
              </a:prstGeom>
              <a:blipFill>
                <a:blip r:embed="rId48"/>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9" name="矩形 188">
                <a:extLst>
                  <a:ext uri="{FF2B5EF4-FFF2-40B4-BE49-F238E27FC236}">
                    <a16:creationId xmlns:a16="http://schemas.microsoft.com/office/drawing/2014/main" id="{936B486A-C1FF-4565-8088-05BEAC548FB2}"/>
                  </a:ext>
                </a:extLst>
              </p:cNvPr>
              <p:cNvSpPr/>
              <p:nvPr/>
            </p:nvSpPr>
            <p:spPr>
              <a:xfrm>
                <a:off x="6588224" y="48760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32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89" name="矩形 188">
                <a:extLst>
                  <a:ext uri="{FF2B5EF4-FFF2-40B4-BE49-F238E27FC236}">
                    <a16:creationId xmlns:a16="http://schemas.microsoft.com/office/drawing/2014/main" id="{936B486A-C1FF-4565-8088-05BEAC548FB2}"/>
                  </a:ext>
                </a:extLst>
              </p:cNvPr>
              <p:cNvSpPr>
                <a:spLocks noRot="1" noChangeAspect="1" noMove="1" noResize="1" noEditPoints="1" noAdjustHandles="1" noChangeArrowheads="1" noChangeShapeType="1" noTextEdit="1"/>
              </p:cNvSpPr>
              <p:nvPr/>
            </p:nvSpPr>
            <p:spPr>
              <a:xfrm>
                <a:off x="6588224" y="4876006"/>
                <a:ext cx="432048" cy="216024"/>
              </a:xfrm>
              <a:prstGeom prst="rect">
                <a:avLst/>
              </a:prstGeom>
              <a:blipFill>
                <a:blip r:embed="rId49"/>
                <a:stretch>
                  <a:fillRect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0" name="矩形 189">
                <a:extLst>
                  <a:ext uri="{FF2B5EF4-FFF2-40B4-BE49-F238E27FC236}">
                    <a16:creationId xmlns:a16="http://schemas.microsoft.com/office/drawing/2014/main" id="{07C4EFB9-3761-4AC7-818C-E92E76E0701E}"/>
                  </a:ext>
                </a:extLst>
              </p:cNvPr>
              <p:cNvSpPr/>
              <p:nvPr/>
            </p:nvSpPr>
            <p:spPr>
              <a:xfrm>
                <a:off x="3180996" y="3019037"/>
                <a:ext cx="804835" cy="211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zh-CN" altLang="en-US" sz="1600" b="1" i="1" dirty="0" smtClean="0">
                        <a:solidFill>
                          <a:schemeClr val="tx1"/>
                        </a:solidFill>
                        <a:latin typeface="Cambria Math" panose="02040503050406030204" pitchFamily="18" charset="0"/>
                        <a:ea typeface="华文楷体" panose="02010600040101010101" pitchFamily="2" charset="-122"/>
                      </a:rPr>
                      <m:t>第</m:t>
                    </m:r>
                  </m:oMath>
                </a14:m>
                <a:r>
                  <a:rPr lang="en-US" altLang="zh-CN" sz="1600" b="1" dirty="0">
                    <a:solidFill>
                      <a:schemeClr val="tx1"/>
                    </a:solidFill>
                    <a:latin typeface="华文楷体" panose="02010600040101010101" pitchFamily="2" charset="-122"/>
                    <a:ea typeface="华文楷体" panose="02010600040101010101" pitchFamily="2" charset="-122"/>
                  </a:rPr>
                  <a:t>i+1</a:t>
                </a:r>
                <a:r>
                  <a:rPr lang="zh-CN" altLang="en-US" sz="1600" b="1" dirty="0">
                    <a:solidFill>
                      <a:schemeClr val="tx1"/>
                    </a:solidFill>
                    <a:latin typeface="华文楷体" panose="02010600040101010101" pitchFamily="2" charset="-122"/>
                    <a:ea typeface="华文楷体" panose="02010600040101010101" pitchFamily="2" charset="-122"/>
                  </a:rPr>
                  <a:t>轮</a:t>
                </a:r>
              </a:p>
            </p:txBody>
          </p:sp>
        </mc:Choice>
        <mc:Fallback xmlns="">
          <p:sp>
            <p:nvSpPr>
              <p:cNvPr id="190" name="矩形 189">
                <a:extLst>
                  <a:ext uri="{FF2B5EF4-FFF2-40B4-BE49-F238E27FC236}">
                    <a16:creationId xmlns:a16="http://schemas.microsoft.com/office/drawing/2014/main" id="{07C4EFB9-3761-4AC7-818C-E92E76E0701E}"/>
                  </a:ext>
                </a:extLst>
              </p:cNvPr>
              <p:cNvSpPr>
                <a:spLocks noRot="1" noChangeAspect="1" noMove="1" noResize="1" noEditPoints="1" noAdjustHandles="1" noChangeArrowheads="1" noChangeShapeType="1" noTextEdit="1"/>
              </p:cNvSpPr>
              <p:nvPr/>
            </p:nvSpPr>
            <p:spPr>
              <a:xfrm>
                <a:off x="3180996" y="3019037"/>
                <a:ext cx="804835" cy="211388"/>
              </a:xfrm>
              <a:prstGeom prst="rect">
                <a:avLst/>
              </a:prstGeom>
              <a:blipFill>
                <a:blip r:embed="rId50"/>
                <a:stretch>
                  <a:fillRect l="-6061" t="-34286" r="-8333" b="-6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1" name="矩形 190">
                <a:extLst>
                  <a:ext uri="{FF2B5EF4-FFF2-40B4-BE49-F238E27FC236}">
                    <a16:creationId xmlns:a16="http://schemas.microsoft.com/office/drawing/2014/main" id="{B68DDE38-39B0-4FC6-9714-71395B48DBC0}"/>
                  </a:ext>
                </a:extLst>
              </p:cNvPr>
              <p:cNvSpPr/>
              <p:nvPr/>
            </p:nvSpPr>
            <p:spPr>
              <a:xfrm>
                <a:off x="3089735" y="4388271"/>
                <a:ext cx="1006971" cy="185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zh-CN" altLang="en-US" sz="1600" b="1" i="1" dirty="0" smtClean="0">
                        <a:solidFill>
                          <a:schemeClr val="tx1"/>
                        </a:solidFill>
                        <a:latin typeface="Cambria Math" panose="02040503050406030204" pitchFamily="18" charset="0"/>
                        <a:ea typeface="华文楷体" panose="02010600040101010101" pitchFamily="2" charset="-122"/>
                      </a:rPr>
                      <m:t>反序</m:t>
                    </m:r>
                  </m:oMath>
                </a14:m>
                <a:r>
                  <a:rPr lang="zh-CN" altLang="en-US" sz="1600" b="1" dirty="0">
                    <a:solidFill>
                      <a:schemeClr val="tx1"/>
                    </a:solidFill>
                    <a:latin typeface="华文楷体" panose="02010600040101010101" pitchFamily="2" charset="-122"/>
                    <a:ea typeface="华文楷体" panose="02010600040101010101" pitchFamily="2" charset="-122"/>
                  </a:rPr>
                  <a:t>变换</a:t>
                </a:r>
                <a:r>
                  <a:rPr lang="en-US" altLang="zh-CN" sz="1600" b="1" dirty="0">
                    <a:solidFill>
                      <a:schemeClr val="tx1"/>
                    </a:solidFill>
                    <a:latin typeface="华文楷体" panose="02010600040101010101" pitchFamily="2" charset="-122"/>
                    <a:ea typeface="华文楷体" panose="02010600040101010101" pitchFamily="2" charset="-122"/>
                  </a:rPr>
                  <a:t>R</a:t>
                </a:r>
                <a:endParaRPr lang="zh-CN" altLang="en-US" sz="1600" b="1" dirty="0">
                  <a:solidFill>
                    <a:schemeClr val="tx1"/>
                  </a:solidFill>
                  <a:latin typeface="华文楷体" panose="02010600040101010101" pitchFamily="2" charset="-122"/>
                  <a:ea typeface="华文楷体" panose="02010600040101010101" pitchFamily="2" charset="-122"/>
                </a:endParaRPr>
              </a:p>
            </p:txBody>
          </p:sp>
        </mc:Choice>
        <mc:Fallback xmlns="">
          <p:sp>
            <p:nvSpPr>
              <p:cNvPr id="191" name="矩形 190">
                <a:extLst>
                  <a:ext uri="{FF2B5EF4-FFF2-40B4-BE49-F238E27FC236}">
                    <a16:creationId xmlns:a16="http://schemas.microsoft.com/office/drawing/2014/main" id="{B68DDE38-39B0-4FC6-9714-71395B48DBC0}"/>
                  </a:ext>
                </a:extLst>
              </p:cNvPr>
              <p:cNvSpPr>
                <a:spLocks noRot="1" noChangeAspect="1" noMove="1" noResize="1" noEditPoints="1" noAdjustHandles="1" noChangeArrowheads="1" noChangeShapeType="1" noTextEdit="1"/>
              </p:cNvSpPr>
              <p:nvPr/>
            </p:nvSpPr>
            <p:spPr>
              <a:xfrm>
                <a:off x="3089735" y="4388271"/>
                <a:ext cx="1006971" cy="185766"/>
              </a:xfrm>
              <a:prstGeom prst="rect">
                <a:avLst/>
              </a:prstGeom>
              <a:blipFill>
                <a:blip r:embed="rId51"/>
                <a:stretch>
                  <a:fillRect l="-7273" t="-46667" r="-9697" b="-90000"/>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55011898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5" name="矩形 124">
                <a:extLst>
                  <a:ext uri="{FF2B5EF4-FFF2-40B4-BE49-F238E27FC236}">
                    <a16:creationId xmlns:a16="http://schemas.microsoft.com/office/drawing/2014/main" id="{68CCBDDC-4E27-A2FA-1F11-9719F9C4C5B8}"/>
                  </a:ext>
                </a:extLst>
              </p:cNvPr>
              <p:cNvSpPr/>
              <p:nvPr/>
            </p:nvSpPr>
            <p:spPr>
              <a:xfrm>
                <a:off x="3653187" y="987574"/>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5" name="矩形 124">
                <a:extLst>
                  <a:ext uri="{FF2B5EF4-FFF2-40B4-BE49-F238E27FC236}">
                    <a16:creationId xmlns:a16="http://schemas.microsoft.com/office/drawing/2014/main" id="{68CCBDDC-4E27-A2FA-1F11-9719F9C4C5B8}"/>
                  </a:ext>
                </a:extLst>
              </p:cNvPr>
              <p:cNvSpPr>
                <a:spLocks noRot="1" noChangeAspect="1" noMove="1" noResize="1" noEditPoints="1" noAdjustHandles="1" noChangeArrowheads="1" noChangeShapeType="1" noTextEdit="1"/>
              </p:cNvSpPr>
              <p:nvPr/>
            </p:nvSpPr>
            <p:spPr>
              <a:xfrm>
                <a:off x="3653187" y="987574"/>
                <a:ext cx="521756" cy="216024"/>
              </a:xfrm>
              <a:prstGeom prst="rect">
                <a:avLst/>
              </a:prstGeom>
              <a:blipFill>
                <a:blip r:embed="rId3"/>
                <a:stretch>
                  <a:fillRect b="-20513"/>
                </a:stretch>
              </a:blipFill>
              <a:ln/>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C22258E-9CD4-8E31-7316-A3D1AFFF38BD}"/>
                  </a:ext>
                </a:extLst>
              </p:cNvPr>
              <p:cNvSpPr/>
              <p:nvPr/>
            </p:nvSpPr>
            <p:spPr>
              <a:xfrm>
                <a:off x="3654301" y="987574"/>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+1</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5" name="矩形 4">
                <a:extLst>
                  <a:ext uri="{FF2B5EF4-FFF2-40B4-BE49-F238E27FC236}">
                    <a16:creationId xmlns:a16="http://schemas.microsoft.com/office/drawing/2014/main" id="{9C22258E-9CD4-8E31-7316-A3D1AFFF38BD}"/>
                  </a:ext>
                </a:extLst>
              </p:cNvPr>
              <p:cNvSpPr>
                <a:spLocks noRot="1" noChangeAspect="1" noMove="1" noResize="1" noEditPoints="1" noAdjustHandles="1" noChangeArrowheads="1" noChangeShapeType="1" noTextEdit="1"/>
              </p:cNvSpPr>
              <p:nvPr/>
            </p:nvSpPr>
            <p:spPr>
              <a:xfrm>
                <a:off x="3654301" y="987574"/>
                <a:ext cx="521756" cy="216024"/>
              </a:xfrm>
              <a:prstGeom prst="rect">
                <a:avLst/>
              </a:prstGeom>
              <a:blipFill>
                <a:blip r:embed="rId4"/>
                <a:stretch>
                  <a:fillRect b="-35897"/>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B03C448-545E-C33D-101B-EEA3F1A3FF1B}"/>
                  </a:ext>
                </a:extLst>
              </p:cNvPr>
              <p:cNvSpPr/>
              <p:nvPr/>
            </p:nvSpPr>
            <p:spPr>
              <a:xfrm>
                <a:off x="4173829" y="987574"/>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+2</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9" name="矩形 8">
                <a:extLst>
                  <a:ext uri="{FF2B5EF4-FFF2-40B4-BE49-F238E27FC236}">
                    <a16:creationId xmlns:a16="http://schemas.microsoft.com/office/drawing/2014/main" id="{4B03C448-545E-C33D-101B-EEA3F1A3FF1B}"/>
                  </a:ext>
                </a:extLst>
              </p:cNvPr>
              <p:cNvSpPr>
                <a:spLocks noRot="1" noChangeAspect="1" noMove="1" noResize="1" noEditPoints="1" noAdjustHandles="1" noChangeArrowheads="1" noChangeShapeType="1" noTextEdit="1"/>
              </p:cNvSpPr>
              <p:nvPr/>
            </p:nvSpPr>
            <p:spPr>
              <a:xfrm>
                <a:off x="4173829" y="987574"/>
                <a:ext cx="521756" cy="216024"/>
              </a:xfrm>
              <a:prstGeom prst="rect">
                <a:avLst/>
              </a:prstGeom>
              <a:blipFill>
                <a:blip r:embed="rId5"/>
                <a:stretch>
                  <a:fillRect b="-35897"/>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2E546331-70D9-05E0-5915-D595843C8644}"/>
                  </a:ext>
                </a:extLst>
              </p:cNvPr>
              <p:cNvSpPr/>
              <p:nvPr/>
            </p:nvSpPr>
            <p:spPr>
              <a:xfrm>
                <a:off x="4680012" y="987574"/>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+3</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1" name="矩形 10">
                <a:extLst>
                  <a:ext uri="{FF2B5EF4-FFF2-40B4-BE49-F238E27FC236}">
                    <a16:creationId xmlns:a16="http://schemas.microsoft.com/office/drawing/2014/main" id="{2E546331-70D9-05E0-5915-D595843C8644}"/>
                  </a:ext>
                </a:extLst>
              </p:cNvPr>
              <p:cNvSpPr>
                <a:spLocks noRot="1" noChangeAspect="1" noMove="1" noResize="1" noEditPoints="1" noAdjustHandles="1" noChangeArrowheads="1" noChangeShapeType="1" noTextEdit="1"/>
              </p:cNvSpPr>
              <p:nvPr/>
            </p:nvSpPr>
            <p:spPr>
              <a:xfrm>
                <a:off x="4680012" y="987574"/>
                <a:ext cx="521756" cy="216024"/>
              </a:xfrm>
              <a:prstGeom prst="rect">
                <a:avLst/>
              </a:prstGeom>
              <a:blipFill>
                <a:blip r:embed="rId6"/>
                <a:stretch>
                  <a:fillRect b="-35897"/>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EC40BB4C-8512-1BA2-B253-6B62CC1964BC}"/>
                  </a:ext>
                </a:extLst>
              </p:cNvPr>
              <p:cNvSpPr/>
              <p:nvPr/>
            </p:nvSpPr>
            <p:spPr>
              <a:xfrm>
                <a:off x="4173829" y="1419622"/>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12" name="矩形 11">
                <a:extLst>
                  <a:ext uri="{FF2B5EF4-FFF2-40B4-BE49-F238E27FC236}">
                    <a16:creationId xmlns:a16="http://schemas.microsoft.com/office/drawing/2014/main" id="{EC40BB4C-8512-1BA2-B253-6B62CC1964BC}"/>
                  </a:ext>
                </a:extLst>
              </p:cNvPr>
              <p:cNvSpPr>
                <a:spLocks noRot="1" noChangeAspect="1" noMove="1" noResize="1" noEditPoints="1" noAdjustHandles="1" noChangeArrowheads="1" noChangeShapeType="1" noTextEdit="1"/>
              </p:cNvSpPr>
              <p:nvPr/>
            </p:nvSpPr>
            <p:spPr>
              <a:xfrm>
                <a:off x="4173829" y="1419622"/>
                <a:ext cx="521756" cy="216024"/>
              </a:xfrm>
              <a:prstGeom prst="rect">
                <a:avLst/>
              </a:prstGeom>
              <a:blipFill>
                <a:blip r:embed="rId7"/>
                <a:stretch>
                  <a:fillRect b="-37143"/>
                </a:stretch>
              </a:blipFill>
              <a:ln>
                <a:noFill/>
              </a:ln>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05B41D97-E71A-5AA3-7114-08886744CB7E}"/>
              </a:ext>
            </a:extLst>
          </p:cNvPr>
          <p:cNvSpPr/>
          <p:nvPr/>
        </p:nvSpPr>
        <p:spPr>
          <a:xfrm>
            <a:off x="2555776" y="2200914"/>
            <a:ext cx="449210" cy="298828"/>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en-US" altLang="zh-CN"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盒</a:t>
            </a:r>
          </a:p>
        </p:txBody>
      </p:sp>
      <p:sp>
        <p:nvSpPr>
          <p:cNvPr id="15" name="矩形 14">
            <a:extLst>
              <a:ext uri="{FF2B5EF4-FFF2-40B4-BE49-F238E27FC236}">
                <a16:creationId xmlns:a16="http://schemas.microsoft.com/office/drawing/2014/main" id="{D31BAE28-BAC5-E723-D439-A795DB45F36B}"/>
              </a:ext>
            </a:extLst>
          </p:cNvPr>
          <p:cNvSpPr/>
          <p:nvPr/>
        </p:nvSpPr>
        <p:spPr>
          <a:xfrm>
            <a:off x="3452049" y="2200914"/>
            <a:ext cx="449210" cy="298828"/>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en-US" altLang="zh-CN"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盒</a:t>
            </a:r>
          </a:p>
        </p:txBody>
      </p:sp>
      <p:sp>
        <p:nvSpPr>
          <p:cNvPr id="16" name="矩形 15">
            <a:extLst>
              <a:ext uri="{FF2B5EF4-FFF2-40B4-BE49-F238E27FC236}">
                <a16:creationId xmlns:a16="http://schemas.microsoft.com/office/drawing/2014/main" id="{A8662C46-EBE3-8888-C1C2-B2C0F5D513FB}"/>
              </a:ext>
            </a:extLst>
          </p:cNvPr>
          <p:cNvSpPr/>
          <p:nvPr/>
        </p:nvSpPr>
        <p:spPr>
          <a:xfrm>
            <a:off x="4954711" y="2200914"/>
            <a:ext cx="449210" cy="298828"/>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en-US" altLang="zh-CN"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盒</a:t>
            </a:r>
          </a:p>
        </p:txBody>
      </p:sp>
      <p:sp>
        <p:nvSpPr>
          <p:cNvPr id="17" name="矩形 16">
            <a:extLst>
              <a:ext uri="{FF2B5EF4-FFF2-40B4-BE49-F238E27FC236}">
                <a16:creationId xmlns:a16="http://schemas.microsoft.com/office/drawing/2014/main" id="{926B655C-319D-74B0-B592-86C7AE8B9ED0}"/>
              </a:ext>
            </a:extLst>
          </p:cNvPr>
          <p:cNvSpPr/>
          <p:nvPr/>
        </p:nvSpPr>
        <p:spPr>
          <a:xfrm>
            <a:off x="5890075" y="2200914"/>
            <a:ext cx="449210" cy="298828"/>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en-US" altLang="zh-CN"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S</a:t>
            </a:r>
            <a:r>
              <a:rPr lang="zh-CN" altLang="en-US"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盒</a:t>
            </a:r>
          </a:p>
        </p:txBody>
      </p:sp>
      <p:sp>
        <p:nvSpPr>
          <p:cNvPr id="20" name="矩形 19">
            <a:extLst>
              <a:ext uri="{FF2B5EF4-FFF2-40B4-BE49-F238E27FC236}">
                <a16:creationId xmlns:a16="http://schemas.microsoft.com/office/drawing/2014/main" id="{167AAEF7-3C2D-F249-6974-A7B30AA112BD}"/>
              </a:ext>
            </a:extLst>
          </p:cNvPr>
          <p:cNvSpPr/>
          <p:nvPr/>
        </p:nvSpPr>
        <p:spPr>
          <a:xfrm>
            <a:off x="4164475" y="2499742"/>
            <a:ext cx="521756" cy="216024"/>
          </a:xfrm>
          <a:prstGeom prst="rect">
            <a:avLst/>
          </a:prstGeom>
          <a:solidFill>
            <a:schemeClr val="accent2"/>
          </a:solidFill>
          <a:ln/>
        </p:spPr>
        <p:style>
          <a:lnRef idx="2">
            <a:schemeClr val="accent1"/>
          </a:lnRef>
          <a:fillRef idx="1">
            <a:schemeClr val="lt1"/>
          </a:fillRef>
          <a:effectRef idx="0">
            <a:schemeClr val="accent1"/>
          </a:effectRef>
          <a:fontRef idx="minor">
            <a:schemeClr val="dk1"/>
          </a:fontRef>
        </p:style>
        <p:txBody>
          <a:bodyPr wrap="none" lIns="0" tIns="0" rIns="0" bIns="0" rtlCol="0" anchor="t" anchorCtr="0"/>
          <a:lstStyle/>
          <a:p>
            <a:pPr algn="ctr" eaLnBrk="0" fontAlgn="t" hangingPunct="0"/>
            <a:r>
              <a:rPr lang="en-US" altLang="zh-CN" sz="2000" b="1" baseline="-2500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32bit</a:t>
            </a:r>
            <a:endParaRPr lang="zh-CN" altLang="en-US" sz="2000" b="1" baseline="-2500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矩形 20">
            <a:extLst>
              <a:ext uri="{FF2B5EF4-FFF2-40B4-BE49-F238E27FC236}">
                <a16:creationId xmlns:a16="http://schemas.microsoft.com/office/drawing/2014/main" id="{5D10121F-6190-E670-232A-06A8A027C049}"/>
              </a:ext>
            </a:extLst>
          </p:cNvPr>
          <p:cNvSpPr/>
          <p:nvPr/>
        </p:nvSpPr>
        <p:spPr>
          <a:xfrm>
            <a:off x="1403648" y="3075806"/>
            <a:ext cx="648072" cy="226820"/>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位</a:t>
            </a:r>
          </a:p>
        </p:txBody>
      </p:sp>
      <p:sp>
        <p:nvSpPr>
          <p:cNvPr id="22" name="矩形 21">
            <a:extLst>
              <a:ext uri="{FF2B5EF4-FFF2-40B4-BE49-F238E27FC236}">
                <a16:creationId xmlns:a16="http://schemas.microsoft.com/office/drawing/2014/main" id="{0BBF3025-A440-F1ED-9C7E-747D090D146E}"/>
              </a:ext>
            </a:extLst>
          </p:cNvPr>
          <p:cNvSpPr/>
          <p:nvPr/>
        </p:nvSpPr>
        <p:spPr>
          <a:xfrm>
            <a:off x="2717793" y="3075806"/>
            <a:ext cx="734256" cy="226820"/>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10</a:t>
            </a: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位</a:t>
            </a:r>
          </a:p>
        </p:txBody>
      </p:sp>
      <p:sp>
        <p:nvSpPr>
          <p:cNvPr id="23" name="矩形 22">
            <a:extLst>
              <a:ext uri="{FF2B5EF4-FFF2-40B4-BE49-F238E27FC236}">
                <a16:creationId xmlns:a16="http://schemas.microsoft.com/office/drawing/2014/main" id="{70F39EF7-A367-71B3-CE1D-67B1CBF4ADC8}"/>
              </a:ext>
            </a:extLst>
          </p:cNvPr>
          <p:cNvSpPr/>
          <p:nvPr/>
        </p:nvSpPr>
        <p:spPr>
          <a:xfrm>
            <a:off x="5403920" y="3075806"/>
            <a:ext cx="752255" cy="226820"/>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18</a:t>
            </a: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位</a:t>
            </a:r>
          </a:p>
        </p:txBody>
      </p:sp>
      <p:sp>
        <p:nvSpPr>
          <p:cNvPr id="24" name="矩形 23">
            <a:extLst>
              <a:ext uri="{FF2B5EF4-FFF2-40B4-BE49-F238E27FC236}">
                <a16:creationId xmlns:a16="http://schemas.microsoft.com/office/drawing/2014/main" id="{4F2F666F-FBB3-FEDA-F807-5C057013B0BE}"/>
              </a:ext>
            </a:extLst>
          </p:cNvPr>
          <p:cNvSpPr/>
          <p:nvPr/>
        </p:nvSpPr>
        <p:spPr>
          <a:xfrm>
            <a:off x="6642330" y="3075806"/>
            <a:ext cx="752254" cy="226820"/>
          </a:xfrm>
          <a:prstGeom prst="rect">
            <a:avLst/>
          </a:prstGeom>
          <a:noFill/>
          <a:ln/>
        </p:spPr>
        <p:style>
          <a:lnRef idx="2">
            <a:schemeClr val="accent1"/>
          </a:lnRef>
          <a:fillRef idx="1">
            <a:schemeClr val="lt1"/>
          </a:fillRef>
          <a:effectRef idx="0">
            <a:schemeClr val="accent1"/>
          </a:effectRef>
          <a:fontRef idx="minor">
            <a:schemeClr val="dk1"/>
          </a:fontRef>
        </p:style>
        <p:txBody>
          <a:bodyPr wrap="none" lIns="0" tIns="0" rIns="0" bIns="0" rtlCol="0" anchor="ctr" anchorCtr="1"/>
          <a:lstStyle/>
          <a:p>
            <a:pPr algn="ctr" fontAlgn="ct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24</a:t>
            </a:r>
            <a:r>
              <a:rPr lang="zh-CN" altLang="en-US" sz="14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位</a:t>
            </a: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D79ECBC4-20D4-5B73-1E26-C301076CA770}"/>
                  </a:ext>
                </a:extLst>
              </p:cNvPr>
              <p:cNvSpPr/>
              <p:nvPr/>
            </p:nvSpPr>
            <p:spPr>
              <a:xfrm>
                <a:off x="4173829" y="3339014"/>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5" name="矩形 24">
                <a:extLst>
                  <a:ext uri="{FF2B5EF4-FFF2-40B4-BE49-F238E27FC236}">
                    <a16:creationId xmlns:a16="http://schemas.microsoft.com/office/drawing/2014/main" id="{D79ECBC4-20D4-5B73-1E26-C301076CA770}"/>
                  </a:ext>
                </a:extLst>
              </p:cNvPr>
              <p:cNvSpPr>
                <a:spLocks noRot="1" noChangeAspect="1" noMove="1" noResize="1" noEditPoints="1" noAdjustHandles="1" noChangeArrowheads="1" noChangeShapeType="1" noTextEdit="1"/>
              </p:cNvSpPr>
              <p:nvPr/>
            </p:nvSpPr>
            <p:spPr>
              <a:xfrm>
                <a:off x="4173829" y="3339014"/>
                <a:ext cx="521756" cy="216024"/>
              </a:xfrm>
              <a:prstGeom prst="rect">
                <a:avLst/>
              </a:prstGeom>
              <a:blipFill>
                <a:blip r:embed="rId8"/>
                <a:stretch>
                  <a:fillRect b="-3714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66947E69-44E7-2470-A627-1FF16EE66B32}"/>
                  </a:ext>
                </a:extLst>
              </p:cNvPr>
              <p:cNvSpPr/>
              <p:nvPr/>
            </p:nvSpPr>
            <p:spPr>
              <a:xfrm>
                <a:off x="4176057" y="3739606"/>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Para xmlns:m="http://schemas.openxmlformats.org/officeDocument/2006/math">
                    <m:oMathParaPr>
                      <m:jc m:val="center"/>
                    </m:oMathParaPr>
                    <m:oMath xmlns:m="http://schemas.openxmlformats.org/officeDocument/2006/math">
                      <m:r>
                        <a:rPr lang="en-US" altLang="zh-CN" sz="16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6" name="矩形 25">
                <a:extLst>
                  <a:ext uri="{FF2B5EF4-FFF2-40B4-BE49-F238E27FC236}">
                    <a16:creationId xmlns:a16="http://schemas.microsoft.com/office/drawing/2014/main" id="{66947E69-44E7-2470-A627-1FF16EE66B32}"/>
                  </a:ext>
                </a:extLst>
              </p:cNvPr>
              <p:cNvSpPr>
                <a:spLocks noRot="1" noChangeAspect="1" noMove="1" noResize="1" noEditPoints="1" noAdjustHandles="1" noChangeArrowheads="1" noChangeShapeType="1" noTextEdit="1"/>
              </p:cNvSpPr>
              <p:nvPr/>
            </p:nvSpPr>
            <p:spPr>
              <a:xfrm>
                <a:off x="4176057" y="3739606"/>
                <a:ext cx="521756" cy="216024"/>
              </a:xfrm>
              <a:prstGeom prst="rect">
                <a:avLst/>
              </a:prstGeom>
              <a:blipFill>
                <a:blip r:embed="rId9"/>
                <a:stretch>
                  <a:fillRect b="-3611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828917B0-BBA0-DE10-118D-235E81D2E075}"/>
                  </a:ext>
                </a:extLst>
              </p:cNvPr>
              <p:cNvSpPr/>
              <p:nvPr/>
            </p:nvSpPr>
            <p:spPr>
              <a:xfrm>
                <a:off x="4195107" y="4140198"/>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14:m>
                  <m:oMath xmlns:m="http://schemas.openxmlformats.org/officeDocument/2006/math">
                    <m:r>
                      <m:rPr>
                        <m:sty m:val="p"/>
                      </m:rPr>
                      <a:rPr lang="en-US" altLang="zh-CN" sz="1600" b="0" i="0" dirty="0" smtClean="0">
                        <a:solidFill>
                          <a:schemeClr val="tx2"/>
                        </a:solidFill>
                        <a:latin typeface="Cambria Math" panose="02040503050406030204" pitchFamily="18" charset="0"/>
                        <a:ea typeface="Cambria Math" panose="02040503050406030204" pitchFamily="18" charset="0"/>
                      </a:rPr>
                      <m:t>X</m:t>
                    </m:r>
                    <m:r>
                      <m:rPr>
                        <m:sty m:val="p"/>
                      </m:rPr>
                      <a:rPr lang="en-US" altLang="zh-CN" sz="1600" i="1" baseline="-25000" dirty="0">
                        <a:solidFill>
                          <a:schemeClr val="tx2"/>
                        </a:solidFill>
                        <a:latin typeface="Cambria Math" panose="02040503050406030204" pitchFamily="18" charset="0"/>
                        <a:ea typeface="Cambria Math" panose="02040503050406030204" pitchFamily="18" charset="0"/>
                      </a:rPr>
                      <m:t>i</m:t>
                    </m:r>
                  </m:oMath>
                </a14:m>
                <a:r>
                  <a:rPr lang="en-US" altLang="zh-CN" sz="1600" baseline="-25000" dirty="0">
                    <a:solidFill>
                      <a:schemeClr val="tx2"/>
                    </a:solidFill>
                    <a:latin typeface="华文楷体" panose="02010600040101010101" pitchFamily="2" charset="-122"/>
                    <a:ea typeface="华文楷体" panose="02010600040101010101" pitchFamily="2" charset="-122"/>
                  </a:rPr>
                  <a:t>+4</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7" name="矩形 26">
                <a:extLst>
                  <a:ext uri="{FF2B5EF4-FFF2-40B4-BE49-F238E27FC236}">
                    <a16:creationId xmlns:a16="http://schemas.microsoft.com/office/drawing/2014/main" id="{828917B0-BBA0-DE10-118D-235E81D2E075}"/>
                  </a:ext>
                </a:extLst>
              </p:cNvPr>
              <p:cNvSpPr>
                <a:spLocks noRot="1" noChangeAspect="1" noMove="1" noResize="1" noEditPoints="1" noAdjustHandles="1" noChangeArrowheads="1" noChangeShapeType="1" noTextEdit="1"/>
              </p:cNvSpPr>
              <p:nvPr/>
            </p:nvSpPr>
            <p:spPr>
              <a:xfrm>
                <a:off x="4195107" y="4140198"/>
                <a:ext cx="521756" cy="216024"/>
              </a:xfrm>
              <a:prstGeom prst="rect">
                <a:avLst/>
              </a:prstGeom>
              <a:blipFill>
                <a:blip r:embed="rId10"/>
                <a:stretch>
                  <a:fillRect b="-32500"/>
                </a:stretch>
              </a:blipFill>
              <a:ln/>
            </p:spPr>
            <p:txBody>
              <a:bodyPr/>
              <a:lstStyle/>
              <a:p>
                <a:r>
                  <a:rPr lang="zh-CN" altLang="en-US">
                    <a:noFill/>
                  </a:rPr>
                  <a:t> </a:t>
                </a:r>
              </a:p>
            </p:txBody>
          </p:sp>
        </mc:Fallback>
      </mc:AlternateContent>
      <p:sp>
        <p:nvSpPr>
          <p:cNvPr id="28" name="矩形 27">
            <a:extLst>
              <a:ext uri="{FF2B5EF4-FFF2-40B4-BE49-F238E27FC236}">
                <a16:creationId xmlns:a16="http://schemas.microsoft.com/office/drawing/2014/main" id="{66FD31C7-D734-7188-9481-43598647D672}"/>
              </a:ext>
            </a:extLst>
          </p:cNvPr>
          <p:cNvSpPr/>
          <p:nvPr/>
        </p:nvSpPr>
        <p:spPr>
          <a:xfrm>
            <a:off x="4195107" y="4515966"/>
            <a:ext cx="521756" cy="216024"/>
          </a:xfrm>
          <a:prstGeom prst="rect">
            <a:avLst/>
          </a:prstGeom>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200" b="1" dirty="0">
                <a:solidFill>
                  <a:schemeClr val="tx2"/>
                </a:solidFill>
                <a:latin typeface="华文楷体" panose="02010600040101010101" pitchFamily="2" charset="-122"/>
                <a:ea typeface="华文楷体" panose="02010600040101010101" pitchFamily="2" charset="-122"/>
              </a:rPr>
              <a:t>反序变换</a:t>
            </a:r>
          </a:p>
        </p:txBody>
      </p:sp>
      <p:sp>
        <p:nvSpPr>
          <p:cNvPr id="29" name="矩形 28">
            <a:extLst>
              <a:ext uri="{FF2B5EF4-FFF2-40B4-BE49-F238E27FC236}">
                <a16:creationId xmlns:a16="http://schemas.microsoft.com/office/drawing/2014/main" id="{0CF740C0-1144-A7C4-DC4D-E3897E8816E8}"/>
              </a:ext>
            </a:extLst>
          </p:cNvPr>
          <p:cNvSpPr/>
          <p:nvPr/>
        </p:nvSpPr>
        <p:spPr>
          <a:xfrm>
            <a:off x="4831972" y="375081"/>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400" dirty="0">
                <a:solidFill>
                  <a:schemeClr val="tx2"/>
                </a:solidFill>
                <a:latin typeface="华文楷体" panose="02010600040101010101" pitchFamily="2" charset="-122"/>
                <a:ea typeface="华文楷体" panose="02010600040101010101" pitchFamily="2" charset="-122"/>
              </a:rPr>
              <a:t>输入明文</a:t>
            </a:r>
            <a:endParaRPr lang="en-US" altLang="zh-CN" sz="1400" dirty="0">
              <a:solidFill>
                <a:schemeClr val="tx2"/>
              </a:solidFill>
              <a:latin typeface="华文楷体" panose="02010600040101010101" pitchFamily="2" charset="-122"/>
              <a:ea typeface="华文楷体" panose="02010600040101010101" pitchFamily="2" charset="-122"/>
            </a:endParaRPr>
          </a:p>
          <a:p>
            <a:pPr algn="ctr" fontAlgn="ct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0</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1</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2</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a:t>
            </a:r>
            <a:r>
              <a:rPr lang="en-US" altLang="zh-CN" sz="1400" dirty="0">
                <a:solidFill>
                  <a:schemeClr val="tx2"/>
                </a:solidFill>
                <a:latin typeface="华文楷体" panose="02010600040101010101" pitchFamily="2" charset="-122"/>
                <a:ea typeface="华文楷体" panose="02010600040101010101" pitchFamily="2" charset="-122"/>
              </a:rPr>
              <a:t>) </a:t>
            </a:r>
          </a:p>
          <a:p>
            <a:pPr algn="ctr" fontAlgn="ctr"/>
            <a:r>
              <a:rPr lang="en-US" altLang="zh-CN" sz="1400" dirty="0">
                <a:solidFill>
                  <a:schemeClr val="tx2"/>
                </a:solidFill>
                <a:latin typeface="华文楷体" panose="02010600040101010101" pitchFamily="2" charset="-122"/>
                <a:ea typeface="华文楷体" panose="02010600040101010101" pitchFamily="2" charset="-122"/>
              </a:rPr>
              <a:t>128bit</a:t>
            </a:r>
            <a:endParaRPr lang="zh-CN" altLang="en-US" sz="1400" dirty="0">
              <a:solidFill>
                <a:schemeClr val="tx2"/>
              </a:solidFill>
              <a:latin typeface="华文楷体" panose="02010600040101010101" pitchFamily="2" charset="-122"/>
              <a:ea typeface="华文楷体" panose="02010600040101010101" pitchFamily="2" charset="-122"/>
            </a:endParaRPr>
          </a:p>
        </p:txBody>
      </p:sp>
      <p:sp>
        <p:nvSpPr>
          <p:cNvPr id="33" name="矩形 32">
            <a:extLst>
              <a:ext uri="{FF2B5EF4-FFF2-40B4-BE49-F238E27FC236}">
                <a16:creationId xmlns:a16="http://schemas.microsoft.com/office/drawing/2014/main" id="{8B25C1F2-165E-F437-C8C3-D0A732286369}"/>
              </a:ext>
            </a:extLst>
          </p:cNvPr>
          <p:cNvSpPr/>
          <p:nvPr/>
        </p:nvSpPr>
        <p:spPr>
          <a:xfrm>
            <a:off x="5136468" y="4708956"/>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400" dirty="0">
                <a:solidFill>
                  <a:schemeClr val="tx2"/>
                </a:solidFill>
                <a:latin typeface="华文楷体" panose="02010600040101010101" pitchFamily="2" charset="-122"/>
                <a:ea typeface="华文楷体" panose="02010600040101010101" pitchFamily="2" charset="-122"/>
              </a:rPr>
              <a:t>输出密文</a:t>
            </a:r>
            <a:endParaRPr lang="en-US" altLang="zh-CN" sz="1400" dirty="0">
              <a:solidFill>
                <a:schemeClr val="tx2"/>
              </a:solidFill>
              <a:latin typeface="华文楷体" panose="02010600040101010101" pitchFamily="2" charset="-122"/>
              <a:ea typeface="华文楷体" panose="02010600040101010101" pitchFamily="2" charset="-122"/>
            </a:endParaRPr>
          </a:p>
          <a:p>
            <a:pPr algn="ctr" fontAlgn="ct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35</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34</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33</a:t>
            </a:r>
            <a:r>
              <a:rPr lang="en-US" altLang="zh-CN" sz="1400" dirty="0">
                <a:solidFill>
                  <a:schemeClr val="tx2"/>
                </a:solidFill>
                <a:latin typeface="华文楷体" panose="02010600040101010101" pitchFamily="2" charset="-122"/>
                <a:ea typeface="华文楷体" panose="02010600040101010101" pitchFamily="2" charset="-122"/>
              </a:rPr>
              <a:t>,X</a:t>
            </a:r>
            <a:r>
              <a:rPr lang="en-US" altLang="zh-CN" sz="1400" baseline="-25000" dirty="0">
                <a:solidFill>
                  <a:schemeClr val="tx2"/>
                </a:solidFill>
                <a:latin typeface="华文楷体" panose="02010600040101010101" pitchFamily="2" charset="-122"/>
                <a:ea typeface="华文楷体" panose="02010600040101010101" pitchFamily="2" charset="-122"/>
              </a:rPr>
              <a:t>32</a:t>
            </a:r>
            <a:r>
              <a:rPr lang="en-US" altLang="zh-CN" sz="1400" dirty="0">
                <a:solidFill>
                  <a:schemeClr val="tx2"/>
                </a:solidFill>
                <a:latin typeface="华文楷体" panose="02010600040101010101" pitchFamily="2" charset="-122"/>
                <a:ea typeface="华文楷体" panose="02010600040101010101" pitchFamily="2" charset="-122"/>
              </a:rPr>
              <a:t>) </a:t>
            </a:r>
          </a:p>
          <a:p>
            <a:pPr algn="ctr" fontAlgn="ctr"/>
            <a:r>
              <a:rPr lang="en-US" altLang="zh-CN" sz="1400" dirty="0">
                <a:solidFill>
                  <a:schemeClr val="tx2"/>
                </a:solidFill>
                <a:latin typeface="华文楷体" panose="02010600040101010101" pitchFamily="2" charset="-122"/>
                <a:ea typeface="华文楷体" panose="02010600040101010101" pitchFamily="2" charset="-122"/>
              </a:rPr>
              <a:t>128bit</a:t>
            </a:r>
            <a:endParaRPr lang="zh-CN" altLang="en-US" sz="1400" dirty="0">
              <a:solidFill>
                <a:schemeClr val="tx2"/>
              </a:solidFill>
              <a:latin typeface="华文楷体" panose="02010600040101010101" pitchFamily="2" charset="-122"/>
              <a:ea typeface="华文楷体" panose="02010600040101010101" pitchFamily="2" charset="-122"/>
            </a:endParaRPr>
          </a:p>
        </p:txBody>
      </p:sp>
      <p:sp>
        <p:nvSpPr>
          <p:cNvPr id="34" name="矩形 33">
            <a:extLst>
              <a:ext uri="{FF2B5EF4-FFF2-40B4-BE49-F238E27FC236}">
                <a16:creationId xmlns:a16="http://schemas.microsoft.com/office/drawing/2014/main" id="{25BFEDEC-5EC5-485A-AF7E-B33569F4E98C}"/>
              </a:ext>
            </a:extLst>
          </p:cNvPr>
          <p:cNvSpPr/>
          <p:nvPr/>
        </p:nvSpPr>
        <p:spPr>
          <a:xfrm>
            <a:off x="393561" y="3525398"/>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400" dirty="0">
                <a:solidFill>
                  <a:schemeClr val="tx2"/>
                </a:solidFill>
                <a:latin typeface="华文楷体" panose="02010600040101010101" pitchFamily="2" charset="-122"/>
                <a:ea typeface="华文楷体" panose="02010600040101010101" pitchFamily="2" charset="-122"/>
              </a:rPr>
              <a:t>第</a:t>
            </a:r>
            <a:r>
              <a:rPr lang="en-US" altLang="zh-CN" sz="1400" dirty="0" err="1">
                <a:solidFill>
                  <a:schemeClr val="tx2"/>
                </a:solidFill>
                <a:latin typeface="华文楷体" panose="02010600040101010101" pitchFamily="2" charset="-122"/>
                <a:ea typeface="华文楷体" panose="02010600040101010101" pitchFamily="2" charset="-122"/>
              </a:rPr>
              <a:t>i</a:t>
            </a:r>
            <a:r>
              <a:rPr lang="zh-CN" altLang="en-US" sz="1400" dirty="0">
                <a:solidFill>
                  <a:schemeClr val="tx2"/>
                </a:solidFill>
                <a:latin typeface="华文楷体" panose="02010600040101010101" pitchFamily="2" charset="-122"/>
                <a:ea typeface="华文楷体" panose="02010600040101010101" pitchFamily="2" charset="-122"/>
              </a:rPr>
              <a:t>轮迭代</a:t>
            </a:r>
            <a:endParaRPr lang="en-US" altLang="zh-CN" sz="1400" dirty="0">
              <a:solidFill>
                <a:schemeClr val="tx2"/>
              </a:solidFill>
              <a:latin typeface="华文楷体" panose="02010600040101010101" pitchFamily="2" charset="-122"/>
              <a:ea typeface="华文楷体" panose="02010600040101010101" pitchFamily="2" charset="-122"/>
            </a:endParaRPr>
          </a:p>
          <a:p>
            <a:pPr algn="ctr" fontAlgn="ctr"/>
            <a:r>
              <a:rPr lang="en-US" altLang="zh-CN" sz="1400" dirty="0">
                <a:solidFill>
                  <a:schemeClr val="tx2"/>
                </a:solidFill>
                <a:latin typeface="华文楷体" panose="02010600040101010101" pitchFamily="2" charset="-122"/>
                <a:ea typeface="华文楷体" panose="02010600040101010101" pitchFamily="2" charset="-122"/>
              </a:rPr>
              <a:t>(</a:t>
            </a:r>
            <a:r>
              <a:rPr lang="en-US" altLang="zh-CN" sz="1400" dirty="0" err="1">
                <a:solidFill>
                  <a:schemeClr val="tx2"/>
                </a:solidFill>
                <a:latin typeface="华文楷体" panose="02010600040101010101" pitchFamily="2" charset="-122"/>
                <a:ea typeface="华文楷体" panose="02010600040101010101" pitchFamily="2" charset="-122"/>
              </a:rPr>
              <a:t>i</a:t>
            </a:r>
            <a:r>
              <a:rPr lang="en-US" altLang="zh-CN" sz="1400" dirty="0">
                <a:solidFill>
                  <a:schemeClr val="tx2"/>
                </a:solidFill>
                <a:latin typeface="华文楷体" panose="02010600040101010101" pitchFamily="2" charset="-122"/>
                <a:ea typeface="华文楷体" panose="02010600040101010101" pitchFamily="2" charset="-122"/>
              </a:rPr>
              <a:t>=0,1,…,31) </a:t>
            </a:r>
          </a:p>
        </p:txBody>
      </p:sp>
      <p:cxnSp>
        <p:nvCxnSpPr>
          <p:cNvPr id="36" name="直接箭头连接符 35">
            <a:extLst>
              <a:ext uri="{FF2B5EF4-FFF2-40B4-BE49-F238E27FC236}">
                <a16:creationId xmlns:a16="http://schemas.microsoft.com/office/drawing/2014/main" id="{72A885C0-E462-64D2-7CE9-4283876441E5}"/>
              </a:ext>
            </a:extLst>
          </p:cNvPr>
          <p:cNvCxnSpPr>
            <a:endCxn id="9" idx="0"/>
          </p:cNvCxnSpPr>
          <p:nvPr/>
        </p:nvCxnSpPr>
        <p:spPr>
          <a:xfrm>
            <a:off x="4428035" y="375081"/>
            <a:ext cx="6672" cy="612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9603D034-CD30-2D3E-BD4D-DF55FFBF5E7A}"/>
              </a:ext>
            </a:extLst>
          </p:cNvPr>
          <p:cNvCxnSpPr>
            <a:cxnSpLocks/>
            <a:stCxn id="5" idx="1"/>
          </p:cNvCxnSpPr>
          <p:nvPr/>
        </p:nvCxnSpPr>
        <p:spPr>
          <a:xfrm rot="10800000" flipH="1" flipV="1">
            <a:off x="3654300" y="1095586"/>
            <a:ext cx="630489" cy="440900"/>
          </a:xfrm>
          <a:prstGeom prst="bentConnector3">
            <a:avLst>
              <a:gd name="adj1" fmla="val -3625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62BAB042-B48E-64FB-6FD7-03015FB04D99}"/>
              </a:ext>
            </a:extLst>
          </p:cNvPr>
          <p:cNvCxnSpPr>
            <a:cxnSpLocks/>
            <a:stCxn id="9" idx="2"/>
            <a:endCxn id="12" idx="0"/>
          </p:cNvCxnSpPr>
          <p:nvPr/>
        </p:nvCxnSpPr>
        <p:spPr>
          <a:xfrm>
            <a:off x="4434707" y="1203598"/>
            <a:ext cx="0" cy="21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3D1D3B69-D3FE-3567-556E-299C4F3175FA}"/>
              </a:ext>
            </a:extLst>
          </p:cNvPr>
          <p:cNvCxnSpPr>
            <a:stCxn id="11" idx="3"/>
          </p:cNvCxnSpPr>
          <p:nvPr/>
        </p:nvCxnSpPr>
        <p:spPr>
          <a:xfrm flipH="1">
            <a:off x="4572000" y="1095586"/>
            <a:ext cx="629768" cy="432048"/>
          </a:xfrm>
          <a:prstGeom prst="bentConnector3">
            <a:avLst>
              <a:gd name="adj1" fmla="val -3629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58041B0D-4144-7F71-AEF5-C8D488C26971}"/>
              </a:ext>
            </a:extLst>
          </p:cNvPr>
          <p:cNvCxnSpPr>
            <a:cxnSpLocks/>
            <a:stCxn id="12" idx="2"/>
          </p:cNvCxnSpPr>
          <p:nvPr/>
        </p:nvCxnSpPr>
        <p:spPr>
          <a:xfrm>
            <a:off x="4434707" y="1635646"/>
            <a:ext cx="0" cy="435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86558B33-7EAD-D2C6-89B2-301A485D2676}"/>
              </a:ext>
            </a:extLst>
          </p:cNvPr>
          <p:cNvCxnSpPr/>
          <p:nvPr/>
        </p:nvCxnSpPr>
        <p:spPr>
          <a:xfrm>
            <a:off x="2772200" y="2071398"/>
            <a:ext cx="331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574640B8-390B-1F52-734E-F610CE87366A}"/>
              </a:ext>
            </a:extLst>
          </p:cNvPr>
          <p:cNvCxnSpPr>
            <a:endCxn id="14" idx="0"/>
          </p:cNvCxnSpPr>
          <p:nvPr/>
        </p:nvCxnSpPr>
        <p:spPr>
          <a:xfrm>
            <a:off x="2780381" y="2071398"/>
            <a:ext cx="0" cy="12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BD4974E4-B95D-C0BB-15AF-178F85960035}"/>
              </a:ext>
            </a:extLst>
          </p:cNvPr>
          <p:cNvCxnSpPr>
            <a:endCxn id="15" idx="0"/>
          </p:cNvCxnSpPr>
          <p:nvPr/>
        </p:nvCxnSpPr>
        <p:spPr>
          <a:xfrm>
            <a:off x="3654300" y="2071398"/>
            <a:ext cx="0" cy="12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DE74BA32-FADB-80A8-7EBD-0C2EF39BC74E}"/>
              </a:ext>
            </a:extLst>
          </p:cNvPr>
          <p:cNvCxnSpPr>
            <a:endCxn id="16" idx="0"/>
          </p:cNvCxnSpPr>
          <p:nvPr/>
        </p:nvCxnSpPr>
        <p:spPr>
          <a:xfrm>
            <a:off x="5148064" y="2071398"/>
            <a:ext cx="0" cy="12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B6FCB292-9C38-F3F1-5C69-9CD475A0516C}"/>
              </a:ext>
            </a:extLst>
          </p:cNvPr>
          <p:cNvCxnSpPr>
            <a:endCxn id="17" idx="0"/>
          </p:cNvCxnSpPr>
          <p:nvPr/>
        </p:nvCxnSpPr>
        <p:spPr>
          <a:xfrm>
            <a:off x="6084168" y="2071398"/>
            <a:ext cx="0" cy="12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连接符: 肘形 62">
            <a:extLst>
              <a:ext uri="{FF2B5EF4-FFF2-40B4-BE49-F238E27FC236}">
                <a16:creationId xmlns:a16="http://schemas.microsoft.com/office/drawing/2014/main" id="{EAC949EB-852D-BEB0-CA6A-45A1C0E5D5F0}"/>
              </a:ext>
            </a:extLst>
          </p:cNvPr>
          <p:cNvCxnSpPr>
            <a:stCxn id="15" idx="2"/>
            <a:endCxn id="20" idx="1"/>
          </p:cNvCxnSpPr>
          <p:nvPr/>
        </p:nvCxnSpPr>
        <p:spPr>
          <a:xfrm rot="16200000" flipH="1">
            <a:off x="3866558" y="2309837"/>
            <a:ext cx="108012" cy="4878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连接符: 肘形 67">
            <a:extLst>
              <a:ext uri="{FF2B5EF4-FFF2-40B4-BE49-F238E27FC236}">
                <a16:creationId xmlns:a16="http://schemas.microsoft.com/office/drawing/2014/main" id="{5FC612C9-FE98-6E07-CB5D-68CBE42CAF40}"/>
              </a:ext>
            </a:extLst>
          </p:cNvPr>
          <p:cNvCxnSpPr>
            <a:stCxn id="14" idx="2"/>
          </p:cNvCxnSpPr>
          <p:nvPr/>
        </p:nvCxnSpPr>
        <p:spPr>
          <a:xfrm rot="16200000" flipH="1">
            <a:off x="3355002" y="1925121"/>
            <a:ext cx="234025" cy="138326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E083399B-4FCB-5750-169E-D2DC0DA6216E}"/>
              </a:ext>
            </a:extLst>
          </p:cNvPr>
          <p:cNvCxnSpPr>
            <a:stCxn id="16" idx="2"/>
            <a:endCxn id="20" idx="3"/>
          </p:cNvCxnSpPr>
          <p:nvPr/>
        </p:nvCxnSpPr>
        <p:spPr>
          <a:xfrm rot="5400000">
            <a:off x="4878768" y="2307206"/>
            <a:ext cx="108012" cy="49308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连接符: 肘形 75">
            <a:extLst>
              <a:ext uri="{FF2B5EF4-FFF2-40B4-BE49-F238E27FC236}">
                <a16:creationId xmlns:a16="http://schemas.microsoft.com/office/drawing/2014/main" id="{1DD9A855-2A74-C3D7-CB34-B7E561FF6711}"/>
              </a:ext>
            </a:extLst>
          </p:cNvPr>
          <p:cNvCxnSpPr>
            <a:stCxn id="17" idx="2"/>
          </p:cNvCxnSpPr>
          <p:nvPr/>
        </p:nvCxnSpPr>
        <p:spPr>
          <a:xfrm rot="5400000">
            <a:off x="5280334" y="1899420"/>
            <a:ext cx="234025" cy="143466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连接符: 肘形 78">
            <a:extLst>
              <a:ext uri="{FF2B5EF4-FFF2-40B4-BE49-F238E27FC236}">
                <a16:creationId xmlns:a16="http://schemas.microsoft.com/office/drawing/2014/main" id="{411942AE-10A3-87FC-32BA-B5D24258292F}"/>
              </a:ext>
            </a:extLst>
          </p:cNvPr>
          <p:cNvCxnSpPr>
            <a:stCxn id="21" idx="2"/>
          </p:cNvCxnSpPr>
          <p:nvPr/>
        </p:nvCxnSpPr>
        <p:spPr>
          <a:xfrm rot="16200000" flipH="1">
            <a:off x="2927820" y="2102489"/>
            <a:ext cx="156833" cy="25571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连接符: 肘形 82">
            <a:extLst>
              <a:ext uri="{FF2B5EF4-FFF2-40B4-BE49-F238E27FC236}">
                <a16:creationId xmlns:a16="http://schemas.microsoft.com/office/drawing/2014/main" id="{41ECEDD0-BFA6-003E-5DC4-744C1BC80915}"/>
              </a:ext>
            </a:extLst>
          </p:cNvPr>
          <p:cNvCxnSpPr>
            <a:stCxn id="22" idx="3"/>
            <a:endCxn id="25" idx="0"/>
          </p:cNvCxnSpPr>
          <p:nvPr/>
        </p:nvCxnSpPr>
        <p:spPr>
          <a:xfrm>
            <a:off x="3452049" y="3189216"/>
            <a:ext cx="982658" cy="1497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连接符: 肘形 84">
            <a:extLst>
              <a:ext uri="{FF2B5EF4-FFF2-40B4-BE49-F238E27FC236}">
                <a16:creationId xmlns:a16="http://schemas.microsoft.com/office/drawing/2014/main" id="{5C7FAB6E-59E0-FF81-A0C3-36E10F8FD6A0}"/>
              </a:ext>
            </a:extLst>
          </p:cNvPr>
          <p:cNvCxnSpPr>
            <a:stCxn id="23" idx="1"/>
            <a:endCxn id="25" idx="0"/>
          </p:cNvCxnSpPr>
          <p:nvPr/>
        </p:nvCxnSpPr>
        <p:spPr>
          <a:xfrm rot="10800000" flipV="1">
            <a:off x="4434708" y="3189216"/>
            <a:ext cx="969213" cy="14979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连接符: 肘形 86">
            <a:extLst>
              <a:ext uri="{FF2B5EF4-FFF2-40B4-BE49-F238E27FC236}">
                <a16:creationId xmlns:a16="http://schemas.microsoft.com/office/drawing/2014/main" id="{9533A193-2058-4B62-6544-9368C51D54B6}"/>
              </a:ext>
            </a:extLst>
          </p:cNvPr>
          <p:cNvCxnSpPr>
            <a:stCxn id="24" idx="2"/>
            <a:endCxn id="25" idx="2"/>
          </p:cNvCxnSpPr>
          <p:nvPr/>
        </p:nvCxnSpPr>
        <p:spPr>
          <a:xfrm rot="5400000">
            <a:off x="5685521" y="2114090"/>
            <a:ext cx="144400" cy="25214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DA848B92-0EA0-3243-19E7-ED2B7EEE3AE0}"/>
              </a:ext>
            </a:extLst>
          </p:cNvPr>
          <p:cNvCxnSpPr>
            <a:stCxn id="20" idx="2"/>
            <a:endCxn id="25" idx="0"/>
          </p:cNvCxnSpPr>
          <p:nvPr/>
        </p:nvCxnSpPr>
        <p:spPr>
          <a:xfrm>
            <a:off x="4425353" y="2715766"/>
            <a:ext cx="0" cy="25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9890C594-49CB-CC0B-8F9C-BF0D8EEF57E4}"/>
              </a:ext>
            </a:extLst>
          </p:cNvPr>
          <p:cNvCxnSpPr>
            <a:stCxn id="25" idx="2"/>
            <a:endCxn id="26" idx="0"/>
          </p:cNvCxnSpPr>
          <p:nvPr/>
        </p:nvCxnSpPr>
        <p:spPr>
          <a:xfrm>
            <a:off x="4434707" y="3555038"/>
            <a:ext cx="0" cy="184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A45D7B3F-C499-8143-DFA9-96FFB23301D5}"/>
              </a:ext>
            </a:extLst>
          </p:cNvPr>
          <p:cNvCxnSpPr>
            <a:stCxn id="26" idx="2"/>
            <a:endCxn id="27" idx="0"/>
          </p:cNvCxnSpPr>
          <p:nvPr/>
        </p:nvCxnSpPr>
        <p:spPr>
          <a:xfrm>
            <a:off x="4436935" y="3955630"/>
            <a:ext cx="0" cy="184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4A35E210-5A3E-0507-7259-298DF6358A45}"/>
              </a:ext>
            </a:extLst>
          </p:cNvPr>
          <p:cNvCxnSpPr>
            <a:stCxn id="27" idx="2"/>
            <a:endCxn id="28" idx="0"/>
          </p:cNvCxnSpPr>
          <p:nvPr/>
        </p:nvCxnSpPr>
        <p:spPr>
          <a:xfrm>
            <a:off x="4455985" y="4356222"/>
            <a:ext cx="0" cy="159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00F67DFD-6CB1-5913-0FAC-B011F8088DBC}"/>
              </a:ext>
            </a:extLst>
          </p:cNvPr>
          <p:cNvCxnSpPr>
            <a:stCxn id="28" idx="2"/>
          </p:cNvCxnSpPr>
          <p:nvPr/>
        </p:nvCxnSpPr>
        <p:spPr>
          <a:xfrm>
            <a:off x="4455985" y="4731990"/>
            <a:ext cx="0" cy="352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A46EAD1-B6F1-13E9-2397-E9A6134BE19B}"/>
              </a:ext>
            </a:extLst>
          </p:cNvPr>
          <p:cNvCxnSpPr/>
          <p:nvPr/>
        </p:nvCxnSpPr>
        <p:spPr>
          <a:xfrm>
            <a:off x="1670029" y="2931790"/>
            <a:ext cx="532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C6A7153C-938E-D8D6-C98D-D7AA31C6E521}"/>
              </a:ext>
            </a:extLst>
          </p:cNvPr>
          <p:cNvCxnSpPr>
            <a:endCxn id="21" idx="0"/>
          </p:cNvCxnSpPr>
          <p:nvPr/>
        </p:nvCxnSpPr>
        <p:spPr>
          <a:xfrm>
            <a:off x="1691680" y="2931790"/>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B10C81A0-E130-B9B0-AABF-B31FE8558215}"/>
              </a:ext>
            </a:extLst>
          </p:cNvPr>
          <p:cNvCxnSpPr>
            <a:endCxn id="22" idx="0"/>
          </p:cNvCxnSpPr>
          <p:nvPr/>
        </p:nvCxnSpPr>
        <p:spPr>
          <a:xfrm>
            <a:off x="3084921" y="2931790"/>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a:extLst>
              <a:ext uri="{FF2B5EF4-FFF2-40B4-BE49-F238E27FC236}">
                <a16:creationId xmlns:a16="http://schemas.microsoft.com/office/drawing/2014/main" id="{C8355063-D9A1-72FB-1579-E4DF524C80D4}"/>
              </a:ext>
            </a:extLst>
          </p:cNvPr>
          <p:cNvCxnSpPr>
            <a:endCxn id="23" idx="0"/>
          </p:cNvCxnSpPr>
          <p:nvPr/>
        </p:nvCxnSpPr>
        <p:spPr>
          <a:xfrm>
            <a:off x="5780047" y="2931790"/>
            <a:ext cx="1"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a:extLst>
              <a:ext uri="{FF2B5EF4-FFF2-40B4-BE49-F238E27FC236}">
                <a16:creationId xmlns:a16="http://schemas.microsoft.com/office/drawing/2014/main" id="{2329E6EA-A77A-E89B-4AA8-1BD991E08C4A}"/>
              </a:ext>
            </a:extLst>
          </p:cNvPr>
          <p:cNvCxnSpPr>
            <a:endCxn id="24" idx="0"/>
          </p:cNvCxnSpPr>
          <p:nvPr/>
        </p:nvCxnSpPr>
        <p:spPr>
          <a:xfrm flipH="1">
            <a:off x="7018457" y="2931790"/>
            <a:ext cx="0"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a:extLst>
              <a:ext uri="{FF2B5EF4-FFF2-40B4-BE49-F238E27FC236}">
                <a16:creationId xmlns:a16="http://schemas.microsoft.com/office/drawing/2014/main" id="{5E9184C3-0CD4-5E3D-79EE-6D0401C0E4F9}"/>
              </a:ext>
            </a:extLst>
          </p:cNvPr>
          <p:cNvCxnSpPr>
            <a:cxnSpLocks/>
            <a:endCxn id="25" idx="0"/>
          </p:cNvCxnSpPr>
          <p:nvPr/>
        </p:nvCxnSpPr>
        <p:spPr>
          <a:xfrm>
            <a:off x="4434707" y="2967766"/>
            <a:ext cx="0" cy="371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36687F09-CD4E-7E08-555F-CD2A41DB73AD}"/>
              </a:ext>
            </a:extLst>
          </p:cNvPr>
          <p:cNvCxnSpPr/>
          <p:nvPr/>
        </p:nvCxnSpPr>
        <p:spPr>
          <a:xfrm>
            <a:off x="369873" y="1203598"/>
            <a:ext cx="0" cy="266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5AC4057E-0B34-BB22-559A-05AF49A2673F}"/>
              </a:ext>
            </a:extLst>
          </p:cNvPr>
          <p:cNvCxnSpPr/>
          <p:nvPr/>
        </p:nvCxnSpPr>
        <p:spPr>
          <a:xfrm>
            <a:off x="369873" y="3867894"/>
            <a:ext cx="396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矩形 119">
            <a:extLst>
              <a:ext uri="{FF2B5EF4-FFF2-40B4-BE49-F238E27FC236}">
                <a16:creationId xmlns:a16="http://schemas.microsoft.com/office/drawing/2014/main" id="{36DEEEE5-1E55-100A-67D1-4278432326DB}"/>
              </a:ext>
            </a:extLst>
          </p:cNvPr>
          <p:cNvSpPr/>
          <p:nvPr/>
        </p:nvSpPr>
        <p:spPr>
          <a:xfrm>
            <a:off x="7632219" y="1481569"/>
            <a:ext cx="521756" cy="21602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lIns="0" tIns="0" rIns="0" bIns="0" rtlCol="0" anchor="ctr"/>
          <a:lstStyle/>
          <a:p>
            <a:pPr algn="ctr" fontAlgn="ctr"/>
            <a:r>
              <a:rPr lang="zh-CN" altLang="en-US" sz="1400" dirty="0">
                <a:solidFill>
                  <a:schemeClr val="tx2"/>
                </a:solidFill>
                <a:latin typeface="华文楷体" panose="02010600040101010101" pitchFamily="2" charset="-122"/>
                <a:ea typeface="华文楷体" panose="02010600040101010101" pitchFamily="2" charset="-122"/>
              </a:rPr>
              <a:t>轮密钥</a:t>
            </a:r>
            <a:r>
              <a:rPr lang="en-US" altLang="zh-CN" sz="1400" dirty="0" err="1">
                <a:solidFill>
                  <a:schemeClr val="tx2"/>
                </a:solidFill>
                <a:latin typeface="华文楷体" panose="02010600040101010101" pitchFamily="2" charset="-122"/>
                <a:ea typeface="华文楷体" panose="02010600040101010101" pitchFamily="2" charset="-122"/>
              </a:rPr>
              <a:t>rki</a:t>
            </a:r>
            <a:endParaRPr lang="zh-CN" altLang="en-US" sz="1400" dirty="0">
              <a:solidFill>
                <a:schemeClr val="tx2"/>
              </a:solidFill>
              <a:latin typeface="华文楷体" panose="02010600040101010101" pitchFamily="2" charset="-122"/>
              <a:ea typeface="华文楷体" panose="02010600040101010101" pitchFamily="2" charset="-122"/>
            </a:endParaRPr>
          </a:p>
        </p:txBody>
      </p:sp>
      <p:cxnSp>
        <p:nvCxnSpPr>
          <p:cNvPr id="122" name="直接箭头连接符 121">
            <a:extLst>
              <a:ext uri="{FF2B5EF4-FFF2-40B4-BE49-F238E27FC236}">
                <a16:creationId xmlns:a16="http://schemas.microsoft.com/office/drawing/2014/main" id="{BF844B54-6CC1-204A-B023-0C4BE39954EF}"/>
              </a:ext>
            </a:extLst>
          </p:cNvPr>
          <p:cNvCxnSpPr>
            <a:cxnSpLocks/>
          </p:cNvCxnSpPr>
          <p:nvPr/>
        </p:nvCxnSpPr>
        <p:spPr>
          <a:xfrm flipH="1" flipV="1">
            <a:off x="4572000" y="1589581"/>
            <a:ext cx="2922926" cy="2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296360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up)">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35" presetClass="path" presetSubtype="0" accel="50000" decel="50000" fill="hold" grpId="0" nodeType="clickEffect">
                                  <p:stCondLst>
                                    <p:cond delay="0"/>
                                  </p:stCondLst>
                                  <p:childTnLst>
                                    <p:animMotion origin="layout" path="M -1.38889E-6 -2.96296E-6 L -0.38142 0.00371 " pathEditMode="relative" rAng="0" ptsTypes="AA">
                                      <p:cBhvr>
                                        <p:cTn id="33" dur="2000" fill="hold"/>
                                        <p:tgtEl>
                                          <p:spTgt spid="125"/>
                                        </p:tgtEl>
                                        <p:attrNameLst>
                                          <p:attrName>ppt_x</p:attrName>
                                          <p:attrName>ppt_y</p:attrName>
                                        </p:attrNameLst>
                                      </p:cBhvr>
                                      <p:rCtr x="-19080" y="185"/>
                                    </p:animMotion>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left)">
                                      <p:cBhvr>
                                        <p:cTn id="43" dur="500"/>
                                        <p:tgtEl>
                                          <p:spTgt spid="3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up)">
                                      <p:cBhvr>
                                        <p:cTn id="48" dur="500"/>
                                        <p:tgtEl>
                                          <p:spTgt spid="4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wipe(up)">
                                      <p:cBhvr>
                                        <p:cTn id="53" dur="500"/>
                                        <p:tgtEl>
                                          <p:spTgt spid="4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0"/>
                                        </p:tgtEl>
                                        <p:attrNameLst>
                                          <p:attrName>style.visibility</p:attrName>
                                        </p:attrNameLst>
                                      </p:cBhvr>
                                      <p:to>
                                        <p:strVal val="visible"/>
                                      </p:to>
                                    </p:set>
                                    <p:animEffect transition="in" filter="fade">
                                      <p:cBhvr>
                                        <p:cTn id="58" dur="500"/>
                                        <p:tgtEl>
                                          <p:spTgt spid="12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2" fill="hold" nodeType="clickEffect">
                                  <p:stCondLst>
                                    <p:cond delay="0"/>
                                  </p:stCondLst>
                                  <p:childTnLst>
                                    <p:set>
                                      <p:cBhvr>
                                        <p:cTn id="62" dur="1" fill="hold">
                                          <p:stCondLst>
                                            <p:cond delay="0"/>
                                          </p:stCondLst>
                                        </p:cTn>
                                        <p:tgtEl>
                                          <p:spTgt spid="122"/>
                                        </p:tgtEl>
                                        <p:attrNameLst>
                                          <p:attrName>style.visibility</p:attrName>
                                        </p:attrNameLst>
                                      </p:cBhvr>
                                      <p:to>
                                        <p:strVal val="visible"/>
                                      </p:to>
                                    </p:set>
                                    <p:animEffect transition="in" filter="wipe(right)">
                                      <p:cBhvr>
                                        <p:cTn id="63" dur="500"/>
                                        <p:tgtEl>
                                          <p:spTgt spid="12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wipe(up)">
                                      <p:cBhvr>
                                        <p:cTn id="68" dur="500"/>
                                        <p:tgtEl>
                                          <p:spTgt spid="48"/>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37" fill="hold" nodeType="click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barn(outVertical)">
                                      <p:cBhvr>
                                        <p:cTn id="73" dur="500"/>
                                        <p:tgtEl>
                                          <p:spTgt spid="5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wipe(up)">
                                      <p:cBhvr>
                                        <p:cTn id="78" dur="500"/>
                                        <p:tgtEl>
                                          <p:spTgt spid="55"/>
                                        </p:tgtEl>
                                      </p:cBhvr>
                                    </p:animEffect>
                                  </p:childTnLst>
                                </p:cTn>
                              </p:par>
                            </p:childTnLst>
                          </p:cTn>
                        </p:par>
                      </p:childTnLst>
                    </p:cTn>
                  </p:par>
                  <p:par>
                    <p:cTn id="79" fill="hold">
                      <p:stCondLst>
                        <p:cond delay="indefinite"/>
                      </p:stCondLst>
                      <p:childTnLst>
                        <p:par>
                          <p:cTn id="80" fill="hold">
                            <p:stCondLst>
                              <p:cond delay="0"/>
                            </p:stCondLst>
                            <p:childTnLst>
                              <p:par>
                                <p:cTn id="81" presetID="6" presetClass="entr" presetSubtype="16"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circle(in)">
                                      <p:cBhvr>
                                        <p:cTn id="83" dur="2000"/>
                                        <p:tgtEl>
                                          <p:spTgt spid="1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wipe(up)">
                                      <p:cBhvr>
                                        <p:cTn id="88" dur="500"/>
                                        <p:tgtEl>
                                          <p:spTgt spid="57"/>
                                        </p:tgtEl>
                                      </p:cBhvr>
                                    </p:animEffect>
                                  </p:childTnLst>
                                </p:cTn>
                              </p:par>
                            </p:childTnLst>
                          </p:cTn>
                        </p:par>
                      </p:childTnLst>
                    </p:cTn>
                  </p:par>
                  <p:par>
                    <p:cTn id="89" fill="hold">
                      <p:stCondLst>
                        <p:cond delay="indefinite"/>
                      </p:stCondLst>
                      <p:childTnLst>
                        <p:par>
                          <p:cTn id="90" fill="hold">
                            <p:stCondLst>
                              <p:cond delay="0"/>
                            </p:stCondLst>
                            <p:childTnLst>
                              <p:par>
                                <p:cTn id="91" presetID="6" presetClass="entr" presetSubtype="16" fill="hold" grpId="0" nodeType="clickEffect">
                                  <p:stCondLst>
                                    <p:cond delay="0"/>
                                  </p:stCondLst>
                                  <p:childTnLst>
                                    <p:set>
                                      <p:cBhvr>
                                        <p:cTn id="92" dur="1" fill="hold">
                                          <p:stCondLst>
                                            <p:cond delay="0"/>
                                          </p:stCondLst>
                                        </p:cTn>
                                        <p:tgtEl>
                                          <p:spTgt spid="15"/>
                                        </p:tgtEl>
                                        <p:attrNameLst>
                                          <p:attrName>style.visibility</p:attrName>
                                        </p:attrNameLst>
                                      </p:cBhvr>
                                      <p:to>
                                        <p:strVal val="visible"/>
                                      </p:to>
                                    </p:set>
                                    <p:animEffect transition="in" filter="circle(in)">
                                      <p:cBhvr>
                                        <p:cTn id="93" dur="2000"/>
                                        <p:tgtEl>
                                          <p:spTgt spid="15"/>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nodeType="clickEffect">
                                  <p:stCondLst>
                                    <p:cond delay="0"/>
                                  </p:stCondLst>
                                  <p:childTnLst>
                                    <p:set>
                                      <p:cBhvr>
                                        <p:cTn id="97" dur="1" fill="hold">
                                          <p:stCondLst>
                                            <p:cond delay="0"/>
                                          </p:stCondLst>
                                        </p:cTn>
                                        <p:tgtEl>
                                          <p:spTgt spid="59"/>
                                        </p:tgtEl>
                                        <p:attrNameLst>
                                          <p:attrName>style.visibility</p:attrName>
                                        </p:attrNameLst>
                                      </p:cBhvr>
                                      <p:to>
                                        <p:strVal val="visible"/>
                                      </p:to>
                                    </p:set>
                                    <p:animEffect transition="in" filter="wipe(up)">
                                      <p:cBhvr>
                                        <p:cTn id="98" dur="500"/>
                                        <p:tgtEl>
                                          <p:spTgt spid="59"/>
                                        </p:tgtEl>
                                      </p:cBhvr>
                                    </p:animEffect>
                                  </p:childTnLst>
                                </p:cTn>
                              </p:par>
                            </p:childTnLst>
                          </p:cTn>
                        </p:par>
                      </p:childTnLst>
                    </p:cTn>
                  </p:par>
                  <p:par>
                    <p:cTn id="99" fill="hold">
                      <p:stCondLst>
                        <p:cond delay="indefinite"/>
                      </p:stCondLst>
                      <p:childTnLst>
                        <p:par>
                          <p:cTn id="100" fill="hold">
                            <p:stCondLst>
                              <p:cond delay="0"/>
                            </p:stCondLst>
                            <p:childTnLst>
                              <p:par>
                                <p:cTn id="101" presetID="6" presetClass="entr" presetSubtype="16" fill="hold" grpId="0" nodeType="clickEffect">
                                  <p:stCondLst>
                                    <p:cond delay="0"/>
                                  </p:stCondLst>
                                  <p:childTnLst>
                                    <p:set>
                                      <p:cBhvr>
                                        <p:cTn id="102" dur="1" fill="hold">
                                          <p:stCondLst>
                                            <p:cond delay="0"/>
                                          </p:stCondLst>
                                        </p:cTn>
                                        <p:tgtEl>
                                          <p:spTgt spid="16"/>
                                        </p:tgtEl>
                                        <p:attrNameLst>
                                          <p:attrName>style.visibility</p:attrName>
                                        </p:attrNameLst>
                                      </p:cBhvr>
                                      <p:to>
                                        <p:strVal val="visible"/>
                                      </p:to>
                                    </p:set>
                                    <p:animEffect transition="in" filter="circle(in)">
                                      <p:cBhvr>
                                        <p:cTn id="103" dur="2000"/>
                                        <p:tgtEl>
                                          <p:spTgt spid="16"/>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61"/>
                                        </p:tgtEl>
                                        <p:attrNameLst>
                                          <p:attrName>style.visibility</p:attrName>
                                        </p:attrNameLst>
                                      </p:cBhvr>
                                      <p:to>
                                        <p:strVal val="visible"/>
                                      </p:to>
                                    </p:set>
                                    <p:animEffect transition="in" filter="wipe(up)">
                                      <p:cBhvr>
                                        <p:cTn id="108" dur="500"/>
                                        <p:tgtEl>
                                          <p:spTgt spid="61"/>
                                        </p:tgtEl>
                                      </p:cBhvr>
                                    </p:animEffect>
                                  </p:childTnLst>
                                </p:cTn>
                              </p:par>
                            </p:childTnLst>
                          </p:cTn>
                        </p:par>
                      </p:childTnLst>
                    </p:cTn>
                  </p:par>
                  <p:par>
                    <p:cTn id="109" fill="hold">
                      <p:stCondLst>
                        <p:cond delay="indefinite"/>
                      </p:stCondLst>
                      <p:childTnLst>
                        <p:par>
                          <p:cTn id="110" fill="hold">
                            <p:stCondLst>
                              <p:cond delay="0"/>
                            </p:stCondLst>
                            <p:childTnLst>
                              <p:par>
                                <p:cTn id="111" presetID="6" presetClass="entr" presetSubtype="16" fill="hold" grpId="0" nodeType="clickEffect">
                                  <p:stCondLst>
                                    <p:cond delay="0"/>
                                  </p:stCondLst>
                                  <p:childTnLst>
                                    <p:set>
                                      <p:cBhvr>
                                        <p:cTn id="112" dur="1" fill="hold">
                                          <p:stCondLst>
                                            <p:cond delay="0"/>
                                          </p:stCondLst>
                                        </p:cTn>
                                        <p:tgtEl>
                                          <p:spTgt spid="17"/>
                                        </p:tgtEl>
                                        <p:attrNameLst>
                                          <p:attrName>style.visibility</p:attrName>
                                        </p:attrNameLst>
                                      </p:cBhvr>
                                      <p:to>
                                        <p:strVal val="visible"/>
                                      </p:to>
                                    </p:set>
                                    <p:animEffect transition="in" filter="circle(in)">
                                      <p:cBhvr>
                                        <p:cTn id="113" dur="2000"/>
                                        <p:tgtEl>
                                          <p:spTgt spid="17"/>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nodeType="clickEffect">
                                  <p:stCondLst>
                                    <p:cond delay="0"/>
                                  </p:stCondLst>
                                  <p:childTnLst>
                                    <p:set>
                                      <p:cBhvr>
                                        <p:cTn id="117" dur="1" fill="hold">
                                          <p:stCondLst>
                                            <p:cond delay="0"/>
                                          </p:stCondLst>
                                        </p:cTn>
                                        <p:tgtEl>
                                          <p:spTgt spid="68"/>
                                        </p:tgtEl>
                                        <p:attrNameLst>
                                          <p:attrName>style.visibility</p:attrName>
                                        </p:attrNameLst>
                                      </p:cBhvr>
                                      <p:to>
                                        <p:strVal val="visible"/>
                                      </p:to>
                                    </p:set>
                                    <p:animEffect transition="in" filter="wipe(up)">
                                      <p:cBhvr>
                                        <p:cTn id="118" dur="500"/>
                                        <p:tgtEl>
                                          <p:spTgt spid="68"/>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nodeType="click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wipe(up)">
                                      <p:cBhvr>
                                        <p:cTn id="123" dur="500"/>
                                        <p:tgtEl>
                                          <p:spTgt spid="6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nodeType="clickEffect">
                                  <p:stCondLst>
                                    <p:cond delay="0"/>
                                  </p:stCondLst>
                                  <p:childTnLst>
                                    <p:set>
                                      <p:cBhvr>
                                        <p:cTn id="127" dur="1" fill="hold">
                                          <p:stCondLst>
                                            <p:cond delay="0"/>
                                          </p:stCondLst>
                                        </p:cTn>
                                        <p:tgtEl>
                                          <p:spTgt spid="70"/>
                                        </p:tgtEl>
                                        <p:attrNameLst>
                                          <p:attrName>style.visibility</p:attrName>
                                        </p:attrNameLst>
                                      </p:cBhvr>
                                      <p:to>
                                        <p:strVal val="visible"/>
                                      </p:to>
                                    </p:set>
                                    <p:animEffect transition="in" filter="wipe(up)">
                                      <p:cBhvr>
                                        <p:cTn id="128" dur="500"/>
                                        <p:tgtEl>
                                          <p:spTgt spid="70"/>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2" fill="hold" nodeType="clickEffect">
                                  <p:stCondLst>
                                    <p:cond delay="0"/>
                                  </p:stCondLst>
                                  <p:childTnLst>
                                    <p:set>
                                      <p:cBhvr>
                                        <p:cTn id="132" dur="1" fill="hold">
                                          <p:stCondLst>
                                            <p:cond delay="0"/>
                                          </p:stCondLst>
                                        </p:cTn>
                                        <p:tgtEl>
                                          <p:spTgt spid="76"/>
                                        </p:tgtEl>
                                        <p:attrNameLst>
                                          <p:attrName>style.visibility</p:attrName>
                                        </p:attrNameLst>
                                      </p:cBhvr>
                                      <p:to>
                                        <p:strVal val="visible"/>
                                      </p:to>
                                    </p:set>
                                    <p:animEffect transition="in" filter="wipe(right)">
                                      <p:cBhvr>
                                        <p:cTn id="133" dur="500"/>
                                        <p:tgtEl>
                                          <p:spTgt spid="76"/>
                                        </p:tgtEl>
                                      </p:cBhvr>
                                    </p:animEffect>
                                  </p:childTnLst>
                                </p:cTn>
                              </p:par>
                            </p:childTnLst>
                          </p:cTn>
                        </p:par>
                      </p:childTnLst>
                    </p:cTn>
                  </p:par>
                  <p:par>
                    <p:cTn id="134" fill="hold">
                      <p:stCondLst>
                        <p:cond delay="indefinite"/>
                      </p:stCondLst>
                      <p:childTnLst>
                        <p:par>
                          <p:cTn id="135" fill="hold">
                            <p:stCondLst>
                              <p:cond delay="0"/>
                            </p:stCondLst>
                            <p:childTnLst>
                              <p:par>
                                <p:cTn id="136" presetID="14" presetClass="entr" presetSubtype="10" fill="hold" grpId="0" nodeType="clickEffect">
                                  <p:stCondLst>
                                    <p:cond delay="0"/>
                                  </p:stCondLst>
                                  <p:childTnLst>
                                    <p:set>
                                      <p:cBhvr>
                                        <p:cTn id="137" dur="1" fill="hold">
                                          <p:stCondLst>
                                            <p:cond delay="0"/>
                                          </p:stCondLst>
                                        </p:cTn>
                                        <p:tgtEl>
                                          <p:spTgt spid="20"/>
                                        </p:tgtEl>
                                        <p:attrNameLst>
                                          <p:attrName>style.visibility</p:attrName>
                                        </p:attrNameLst>
                                      </p:cBhvr>
                                      <p:to>
                                        <p:strVal val="visible"/>
                                      </p:to>
                                    </p:set>
                                    <p:animEffect transition="in" filter="randombar(horizontal)">
                                      <p:cBhvr>
                                        <p:cTn id="138" dur="500"/>
                                        <p:tgtEl>
                                          <p:spTgt spid="20"/>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nodeType="clickEffect">
                                  <p:stCondLst>
                                    <p:cond delay="0"/>
                                  </p:stCondLst>
                                  <p:childTnLst>
                                    <p:set>
                                      <p:cBhvr>
                                        <p:cTn id="142" dur="1" fill="hold">
                                          <p:stCondLst>
                                            <p:cond delay="0"/>
                                          </p:stCondLst>
                                        </p:cTn>
                                        <p:tgtEl>
                                          <p:spTgt spid="89"/>
                                        </p:tgtEl>
                                        <p:attrNameLst>
                                          <p:attrName>style.visibility</p:attrName>
                                        </p:attrNameLst>
                                      </p:cBhvr>
                                      <p:to>
                                        <p:strVal val="visible"/>
                                      </p:to>
                                    </p:set>
                                    <p:animEffect transition="in" filter="wipe(up)">
                                      <p:cBhvr>
                                        <p:cTn id="143" dur="500"/>
                                        <p:tgtEl>
                                          <p:spTgt spid="89"/>
                                        </p:tgtEl>
                                      </p:cBhvr>
                                    </p:animEffect>
                                  </p:childTnLst>
                                </p:cTn>
                              </p:par>
                            </p:childTnLst>
                          </p:cTn>
                        </p:par>
                      </p:childTnLst>
                    </p:cTn>
                  </p:par>
                  <p:par>
                    <p:cTn id="144" fill="hold">
                      <p:stCondLst>
                        <p:cond delay="indefinite"/>
                      </p:stCondLst>
                      <p:childTnLst>
                        <p:par>
                          <p:cTn id="145" fill="hold">
                            <p:stCondLst>
                              <p:cond delay="0"/>
                            </p:stCondLst>
                            <p:childTnLst>
                              <p:par>
                                <p:cTn id="146" presetID="16" presetClass="entr" presetSubtype="37" fill="hold" nodeType="clickEffect">
                                  <p:stCondLst>
                                    <p:cond delay="0"/>
                                  </p:stCondLst>
                                  <p:childTnLst>
                                    <p:set>
                                      <p:cBhvr>
                                        <p:cTn id="147" dur="1" fill="hold">
                                          <p:stCondLst>
                                            <p:cond delay="0"/>
                                          </p:stCondLst>
                                        </p:cTn>
                                        <p:tgtEl>
                                          <p:spTgt spid="100"/>
                                        </p:tgtEl>
                                        <p:attrNameLst>
                                          <p:attrName>style.visibility</p:attrName>
                                        </p:attrNameLst>
                                      </p:cBhvr>
                                      <p:to>
                                        <p:strVal val="visible"/>
                                      </p:to>
                                    </p:set>
                                    <p:animEffect transition="in" filter="barn(outVertical)">
                                      <p:cBhvr>
                                        <p:cTn id="148" dur="500"/>
                                        <p:tgtEl>
                                          <p:spTgt spid="100"/>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1" fill="hold" nodeType="clickEffect">
                                  <p:stCondLst>
                                    <p:cond delay="0"/>
                                  </p:stCondLst>
                                  <p:childTnLst>
                                    <p:set>
                                      <p:cBhvr>
                                        <p:cTn id="152" dur="1" fill="hold">
                                          <p:stCondLst>
                                            <p:cond delay="0"/>
                                          </p:stCondLst>
                                        </p:cTn>
                                        <p:tgtEl>
                                          <p:spTgt spid="102"/>
                                        </p:tgtEl>
                                        <p:attrNameLst>
                                          <p:attrName>style.visibility</p:attrName>
                                        </p:attrNameLst>
                                      </p:cBhvr>
                                      <p:to>
                                        <p:strVal val="visible"/>
                                      </p:to>
                                    </p:set>
                                    <p:animEffect transition="in" filter="wipe(up)">
                                      <p:cBhvr>
                                        <p:cTn id="153" dur="500"/>
                                        <p:tgtEl>
                                          <p:spTgt spid="102"/>
                                        </p:tgtEl>
                                      </p:cBhvr>
                                    </p:animEffect>
                                  </p:childTnLst>
                                </p:cTn>
                              </p:par>
                            </p:childTnLst>
                          </p:cTn>
                        </p:par>
                      </p:childTnLst>
                    </p:cTn>
                  </p:par>
                  <p:par>
                    <p:cTn id="154" fill="hold">
                      <p:stCondLst>
                        <p:cond delay="indefinite"/>
                      </p:stCondLst>
                      <p:childTnLst>
                        <p:par>
                          <p:cTn id="155" fill="hold">
                            <p:stCondLst>
                              <p:cond delay="0"/>
                            </p:stCondLst>
                            <p:childTnLst>
                              <p:par>
                                <p:cTn id="156" presetID="21" presetClass="entr" presetSubtype="1" fill="hold" grpId="0" nodeType="clickEffect">
                                  <p:stCondLst>
                                    <p:cond delay="0"/>
                                  </p:stCondLst>
                                  <p:childTnLst>
                                    <p:set>
                                      <p:cBhvr>
                                        <p:cTn id="157" dur="1" fill="hold">
                                          <p:stCondLst>
                                            <p:cond delay="0"/>
                                          </p:stCondLst>
                                        </p:cTn>
                                        <p:tgtEl>
                                          <p:spTgt spid="21"/>
                                        </p:tgtEl>
                                        <p:attrNameLst>
                                          <p:attrName>style.visibility</p:attrName>
                                        </p:attrNameLst>
                                      </p:cBhvr>
                                      <p:to>
                                        <p:strVal val="visible"/>
                                      </p:to>
                                    </p:set>
                                    <p:animEffect transition="in" filter="wheel(1)">
                                      <p:cBhvr>
                                        <p:cTn id="158" dur="2000"/>
                                        <p:tgtEl>
                                          <p:spTgt spid="21"/>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1" fill="hold" nodeType="clickEffect">
                                  <p:stCondLst>
                                    <p:cond delay="0"/>
                                  </p:stCondLst>
                                  <p:childTnLst>
                                    <p:set>
                                      <p:cBhvr>
                                        <p:cTn id="162" dur="1" fill="hold">
                                          <p:stCondLst>
                                            <p:cond delay="0"/>
                                          </p:stCondLst>
                                        </p:cTn>
                                        <p:tgtEl>
                                          <p:spTgt spid="104"/>
                                        </p:tgtEl>
                                        <p:attrNameLst>
                                          <p:attrName>style.visibility</p:attrName>
                                        </p:attrNameLst>
                                      </p:cBhvr>
                                      <p:to>
                                        <p:strVal val="visible"/>
                                      </p:to>
                                    </p:set>
                                    <p:animEffect transition="in" filter="wipe(up)">
                                      <p:cBhvr>
                                        <p:cTn id="163" dur="500"/>
                                        <p:tgtEl>
                                          <p:spTgt spid="104"/>
                                        </p:tgtEl>
                                      </p:cBhvr>
                                    </p:animEffect>
                                  </p:childTnLst>
                                </p:cTn>
                              </p:par>
                            </p:childTnLst>
                          </p:cTn>
                        </p:par>
                      </p:childTnLst>
                    </p:cTn>
                  </p:par>
                  <p:par>
                    <p:cTn id="164" fill="hold">
                      <p:stCondLst>
                        <p:cond delay="indefinite"/>
                      </p:stCondLst>
                      <p:childTnLst>
                        <p:par>
                          <p:cTn id="165" fill="hold">
                            <p:stCondLst>
                              <p:cond delay="0"/>
                            </p:stCondLst>
                            <p:childTnLst>
                              <p:par>
                                <p:cTn id="166" presetID="21" presetClass="entr" presetSubtype="1" fill="hold" grpId="0" nodeType="clickEffect">
                                  <p:stCondLst>
                                    <p:cond delay="0"/>
                                  </p:stCondLst>
                                  <p:childTnLst>
                                    <p:set>
                                      <p:cBhvr>
                                        <p:cTn id="167" dur="1" fill="hold">
                                          <p:stCondLst>
                                            <p:cond delay="0"/>
                                          </p:stCondLst>
                                        </p:cTn>
                                        <p:tgtEl>
                                          <p:spTgt spid="22"/>
                                        </p:tgtEl>
                                        <p:attrNameLst>
                                          <p:attrName>style.visibility</p:attrName>
                                        </p:attrNameLst>
                                      </p:cBhvr>
                                      <p:to>
                                        <p:strVal val="visible"/>
                                      </p:to>
                                    </p:set>
                                    <p:animEffect transition="in" filter="wheel(1)">
                                      <p:cBhvr>
                                        <p:cTn id="168" dur="2000"/>
                                        <p:tgtEl>
                                          <p:spTgt spid="22"/>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1" fill="hold" nodeType="clickEffect">
                                  <p:stCondLst>
                                    <p:cond delay="0"/>
                                  </p:stCondLst>
                                  <p:childTnLst>
                                    <p:set>
                                      <p:cBhvr>
                                        <p:cTn id="172" dur="1" fill="hold">
                                          <p:stCondLst>
                                            <p:cond delay="0"/>
                                          </p:stCondLst>
                                        </p:cTn>
                                        <p:tgtEl>
                                          <p:spTgt spid="106"/>
                                        </p:tgtEl>
                                        <p:attrNameLst>
                                          <p:attrName>style.visibility</p:attrName>
                                        </p:attrNameLst>
                                      </p:cBhvr>
                                      <p:to>
                                        <p:strVal val="visible"/>
                                      </p:to>
                                    </p:set>
                                    <p:animEffect transition="in" filter="wipe(up)">
                                      <p:cBhvr>
                                        <p:cTn id="173" dur="500"/>
                                        <p:tgtEl>
                                          <p:spTgt spid="106"/>
                                        </p:tgtEl>
                                      </p:cBhvr>
                                    </p:animEffect>
                                  </p:childTnLst>
                                </p:cTn>
                              </p:par>
                            </p:childTnLst>
                          </p:cTn>
                        </p:par>
                      </p:childTnLst>
                    </p:cTn>
                  </p:par>
                  <p:par>
                    <p:cTn id="174" fill="hold">
                      <p:stCondLst>
                        <p:cond delay="indefinite"/>
                      </p:stCondLst>
                      <p:childTnLst>
                        <p:par>
                          <p:cTn id="175" fill="hold">
                            <p:stCondLst>
                              <p:cond delay="0"/>
                            </p:stCondLst>
                            <p:childTnLst>
                              <p:par>
                                <p:cTn id="176" presetID="21" presetClass="entr" presetSubtype="1" fill="hold" grpId="0" nodeType="clickEffect">
                                  <p:stCondLst>
                                    <p:cond delay="0"/>
                                  </p:stCondLst>
                                  <p:childTnLst>
                                    <p:set>
                                      <p:cBhvr>
                                        <p:cTn id="177" dur="1" fill="hold">
                                          <p:stCondLst>
                                            <p:cond delay="0"/>
                                          </p:stCondLst>
                                        </p:cTn>
                                        <p:tgtEl>
                                          <p:spTgt spid="23"/>
                                        </p:tgtEl>
                                        <p:attrNameLst>
                                          <p:attrName>style.visibility</p:attrName>
                                        </p:attrNameLst>
                                      </p:cBhvr>
                                      <p:to>
                                        <p:strVal val="visible"/>
                                      </p:to>
                                    </p:set>
                                    <p:animEffect transition="in" filter="wheel(1)">
                                      <p:cBhvr>
                                        <p:cTn id="178" dur="2000"/>
                                        <p:tgtEl>
                                          <p:spTgt spid="23"/>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1" fill="hold" nodeType="clickEffect">
                                  <p:stCondLst>
                                    <p:cond delay="0"/>
                                  </p:stCondLst>
                                  <p:childTnLst>
                                    <p:set>
                                      <p:cBhvr>
                                        <p:cTn id="182" dur="1" fill="hold">
                                          <p:stCondLst>
                                            <p:cond delay="0"/>
                                          </p:stCondLst>
                                        </p:cTn>
                                        <p:tgtEl>
                                          <p:spTgt spid="108"/>
                                        </p:tgtEl>
                                        <p:attrNameLst>
                                          <p:attrName>style.visibility</p:attrName>
                                        </p:attrNameLst>
                                      </p:cBhvr>
                                      <p:to>
                                        <p:strVal val="visible"/>
                                      </p:to>
                                    </p:set>
                                    <p:animEffect transition="in" filter="wipe(up)">
                                      <p:cBhvr>
                                        <p:cTn id="183" dur="500"/>
                                        <p:tgtEl>
                                          <p:spTgt spid="108"/>
                                        </p:tgtEl>
                                      </p:cBhvr>
                                    </p:animEffect>
                                  </p:childTnLst>
                                </p:cTn>
                              </p:par>
                            </p:childTnLst>
                          </p:cTn>
                        </p:par>
                      </p:childTnLst>
                    </p:cTn>
                  </p:par>
                  <p:par>
                    <p:cTn id="184" fill="hold">
                      <p:stCondLst>
                        <p:cond delay="indefinite"/>
                      </p:stCondLst>
                      <p:childTnLst>
                        <p:par>
                          <p:cTn id="185" fill="hold">
                            <p:stCondLst>
                              <p:cond delay="0"/>
                            </p:stCondLst>
                            <p:childTnLst>
                              <p:par>
                                <p:cTn id="186" presetID="21" presetClass="entr" presetSubtype="1" fill="hold" grpId="0" nodeType="clickEffect">
                                  <p:stCondLst>
                                    <p:cond delay="0"/>
                                  </p:stCondLst>
                                  <p:childTnLst>
                                    <p:set>
                                      <p:cBhvr>
                                        <p:cTn id="187" dur="1" fill="hold">
                                          <p:stCondLst>
                                            <p:cond delay="0"/>
                                          </p:stCondLst>
                                        </p:cTn>
                                        <p:tgtEl>
                                          <p:spTgt spid="24"/>
                                        </p:tgtEl>
                                        <p:attrNameLst>
                                          <p:attrName>style.visibility</p:attrName>
                                        </p:attrNameLst>
                                      </p:cBhvr>
                                      <p:to>
                                        <p:strVal val="visible"/>
                                      </p:to>
                                    </p:set>
                                    <p:animEffect transition="in" filter="wheel(1)">
                                      <p:cBhvr>
                                        <p:cTn id="188" dur="2000"/>
                                        <p:tgtEl>
                                          <p:spTgt spid="24"/>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25"/>
                                        </p:tgtEl>
                                        <p:attrNameLst>
                                          <p:attrName>style.visibility</p:attrName>
                                        </p:attrNameLst>
                                      </p:cBhvr>
                                      <p:to>
                                        <p:strVal val="visible"/>
                                      </p:to>
                                    </p:set>
                                    <p:animEffect transition="in" filter="fade">
                                      <p:cBhvr>
                                        <p:cTn id="193" dur="500"/>
                                        <p:tgtEl>
                                          <p:spTgt spid="25"/>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8" fill="hold" nodeType="clickEffect">
                                  <p:stCondLst>
                                    <p:cond delay="0"/>
                                  </p:stCondLst>
                                  <p:childTnLst>
                                    <p:set>
                                      <p:cBhvr>
                                        <p:cTn id="197" dur="1" fill="hold">
                                          <p:stCondLst>
                                            <p:cond delay="0"/>
                                          </p:stCondLst>
                                        </p:cTn>
                                        <p:tgtEl>
                                          <p:spTgt spid="79"/>
                                        </p:tgtEl>
                                        <p:attrNameLst>
                                          <p:attrName>style.visibility</p:attrName>
                                        </p:attrNameLst>
                                      </p:cBhvr>
                                      <p:to>
                                        <p:strVal val="visible"/>
                                      </p:to>
                                    </p:set>
                                    <p:animEffect transition="in" filter="wipe(left)">
                                      <p:cBhvr>
                                        <p:cTn id="198" dur="500"/>
                                        <p:tgtEl>
                                          <p:spTgt spid="79"/>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nodeType="clickEffect">
                                  <p:stCondLst>
                                    <p:cond delay="0"/>
                                  </p:stCondLst>
                                  <p:childTnLst>
                                    <p:set>
                                      <p:cBhvr>
                                        <p:cTn id="202" dur="1" fill="hold">
                                          <p:stCondLst>
                                            <p:cond delay="0"/>
                                          </p:stCondLst>
                                        </p:cTn>
                                        <p:tgtEl>
                                          <p:spTgt spid="83"/>
                                        </p:tgtEl>
                                        <p:attrNameLst>
                                          <p:attrName>style.visibility</p:attrName>
                                        </p:attrNameLst>
                                      </p:cBhvr>
                                      <p:to>
                                        <p:strVal val="visible"/>
                                      </p:to>
                                    </p:set>
                                    <p:animEffect transition="in" filter="wipe(left)">
                                      <p:cBhvr>
                                        <p:cTn id="203" dur="500"/>
                                        <p:tgtEl>
                                          <p:spTgt spid="83"/>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1" fill="hold" nodeType="clickEffect">
                                  <p:stCondLst>
                                    <p:cond delay="0"/>
                                  </p:stCondLst>
                                  <p:childTnLst>
                                    <p:set>
                                      <p:cBhvr>
                                        <p:cTn id="207" dur="1" fill="hold">
                                          <p:stCondLst>
                                            <p:cond delay="0"/>
                                          </p:stCondLst>
                                        </p:cTn>
                                        <p:tgtEl>
                                          <p:spTgt spid="109"/>
                                        </p:tgtEl>
                                        <p:attrNameLst>
                                          <p:attrName>style.visibility</p:attrName>
                                        </p:attrNameLst>
                                      </p:cBhvr>
                                      <p:to>
                                        <p:strVal val="visible"/>
                                      </p:to>
                                    </p:set>
                                    <p:animEffect transition="in" filter="wipe(up)">
                                      <p:cBhvr>
                                        <p:cTn id="208" dur="500"/>
                                        <p:tgtEl>
                                          <p:spTgt spid="109"/>
                                        </p:tgtEl>
                                      </p:cBhvr>
                                    </p:animEffect>
                                  </p:childTnLst>
                                </p:cTn>
                              </p:par>
                            </p:childTnLst>
                          </p:cTn>
                        </p:par>
                      </p:childTnLst>
                    </p:cTn>
                  </p:par>
                  <p:par>
                    <p:cTn id="209" fill="hold">
                      <p:stCondLst>
                        <p:cond delay="indefinite"/>
                      </p:stCondLst>
                      <p:childTnLst>
                        <p:par>
                          <p:cTn id="210" fill="hold">
                            <p:stCondLst>
                              <p:cond delay="0"/>
                            </p:stCondLst>
                            <p:childTnLst>
                              <p:par>
                                <p:cTn id="211" presetID="22" presetClass="entr" presetSubtype="1" fill="hold" nodeType="clickEffect">
                                  <p:stCondLst>
                                    <p:cond delay="0"/>
                                  </p:stCondLst>
                                  <p:childTnLst>
                                    <p:set>
                                      <p:cBhvr>
                                        <p:cTn id="212" dur="1" fill="hold">
                                          <p:stCondLst>
                                            <p:cond delay="0"/>
                                          </p:stCondLst>
                                        </p:cTn>
                                        <p:tgtEl>
                                          <p:spTgt spid="85"/>
                                        </p:tgtEl>
                                        <p:attrNameLst>
                                          <p:attrName>style.visibility</p:attrName>
                                        </p:attrNameLst>
                                      </p:cBhvr>
                                      <p:to>
                                        <p:strVal val="visible"/>
                                      </p:to>
                                    </p:set>
                                    <p:animEffect transition="in" filter="wipe(up)">
                                      <p:cBhvr>
                                        <p:cTn id="213" dur="500"/>
                                        <p:tgtEl>
                                          <p:spTgt spid="85"/>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2" fill="hold" nodeType="clickEffect">
                                  <p:stCondLst>
                                    <p:cond delay="0"/>
                                  </p:stCondLst>
                                  <p:childTnLst>
                                    <p:set>
                                      <p:cBhvr>
                                        <p:cTn id="217" dur="1" fill="hold">
                                          <p:stCondLst>
                                            <p:cond delay="0"/>
                                          </p:stCondLst>
                                        </p:cTn>
                                        <p:tgtEl>
                                          <p:spTgt spid="87"/>
                                        </p:tgtEl>
                                        <p:attrNameLst>
                                          <p:attrName>style.visibility</p:attrName>
                                        </p:attrNameLst>
                                      </p:cBhvr>
                                      <p:to>
                                        <p:strVal val="visible"/>
                                      </p:to>
                                    </p:set>
                                    <p:animEffect transition="in" filter="wipe(right)">
                                      <p:cBhvr>
                                        <p:cTn id="218" dur="500"/>
                                        <p:tgtEl>
                                          <p:spTgt spid="87"/>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1" fill="hold" nodeType="clickEffect">
                                  <p:stCondLst>
                                    <p:cond delay="0"/>
                                  </p:stCondLst>
                                  <p:childTnLst>
                                    <p:set>
                                      <p:cBhvr>
                                        <p:cTn id="222" dur="1" fill="hold">
                                          <p:stCondLst>
                                            <p:cond delay="0"/>
                                          </p:stCondLst>
                                        </p:cTn>
                                        <p:tgtEl>
                                          <p:spTgt spid="115"/>
                                        </p:tgtEl>
                                        <p:attrNameLst>
                                          <p:attrName>style.visibility</p:attrName>
                                        </p:attrNameLst>
                                      </p:cBhvr>
                                      <p:to>
                                        <p:strVal val="visible"/>
                                      </p:to>
                                    </p:set>
                                    <p:animEffect transition="in" filter="wipe(up)">
                                      <p:cBhvr>
                                        <p:cTn id="223" dur="500"/>
                                        <p:tgtEl>
                                          <p:spTgt spid="115"/>
                                        </p:tgtEl>
                                      </p:cBhvr>
                                    </p:animEffect>
                                  </p:childTnLst>
                                </p:cTn>
                              </p:par>
                            </p:childTnLst>
                          </p:cTn>
                        </p:par>
                      </p:childTnLst>
                    </p:cTn>
                  </p:par>
                  <p:par>
                    <p:cTn id="224" fill="hold">
                      <p:stCondLst>
                        <p:cond delay="indefinite"/>
                      </p:stCondLst>
                      <p:childTnLst>
                        <p:par>
                          <p:cTn id="225" fill="hold">
                            <p:stCondLst>
                              <p:cond delay="0"/>
                            </p:stCondLst>
                            <p:childTnLst>
                              <p:par>
                                <p:cTn id="226" presetID="22" presetClass="entr" presetSubtype="8" fill="hold" nodeType="clickEffect">
                                  <p:stCondLst>
                                    <p:cond delay="0"/>
                                  </p:stCondLst>
                                  <p:childTnLst>
                                    <p:set>
                                      <p:cBhvr>
                                        <p:cTn id="227" dur="1" fill="hold">
                                          <p:stCondLst>
                                            <p:cond delay="0"/>
                                          </p:stCondLst>
                                        </p:cTn>
                                        <p:tgtEl>
                                          <p:spTgt spid="117"/>
                                        </p:tgtEl>
                                        <p:attrNameLst>
                                          <p:attrName>style.visibility</p:attrName>
                                        </p:attrNameLst>
                                      </p:cBhvr>
                                      <p:to>
                                        <p:strVal val="visible"/>
                                      </p:to>
                                    </p:set>
                                    <p:animEffect transition="in" filter="wipe(left)">
                                      <p:cBhvr>
                                        <p:cTn id="228" dur="500"/>
                                        <p:tgtEl>
                                          <p:spTgt spid="117"/>
                                        </p:tgtEl>
                                      </p:cBhvr>
                                    </p:animEffect>
                                  </p:childTnLst>
                                </p:cTn>
                              </p:par>
                            </p:childTnLst>
                          </p:cTn>
                        </p:par>
                      </p:childTnLst>
                    </p:cTn>
                  </p:par>
                  <p:par>
                    <p:cTn id="229" fill="hold">
                      <p:stCondLst>
                        <p:cond delay="indefinite"/>
                      </p:stCondLst>
                      <p:childTnLst>
                        <p:par>
                          <p:cTn id="230" fill="hold">
                            <p:stCondLst>
                              <p:cond delay="0"/>
                            </p:stCondLst>
                            <p:childTnLst>
                              <p:par>
                                <p:cTn id="231" presetID="10" presetClass="entr" presetSubtype="0" fill="hold" grpId="0" nodeType="clickEffect">
                                  <p:stCondLst>
                                    <p:cond delay="0"/>
                                  </p:stCondLst>
                                  <p:childTnLst>
                                    <p:set>
                                      <p:cBhvr>
                                        <p:cTn id="232" dur="1" fill="hold">
                                          <p:stCondLst>
                                            <p:cond delay="0"/>
                                          </p:stCondLst>
                                        </p:cTn>
                                        <p:tgtEl>
                                          <p:spTgt spid="26"/>
                                        </p:tgtEl>
                                        <p:attrNameLst>
                                          <p:attrName>style.visibility</p:attrName>
                                        </p:attrNameLst>
                                      </p:cBhvr>
                                      <p:to>
                                        <p:strVal val="visible"/>
                                      </p:to>
                                    </p:set>
                                    <p:animEffect transition="in" filter="fade">
                                      <p:cBhvr>
                                        <p:cTn id="233" dur="500"/>
                                        <p:tgtEl>
                                          <p:spTgt spid="26"/>
                                        </p:tgtEl>
                                      </p:cBhvr>
                                    </p:animEffect>
                                  </p:childTnLst>
                                </p:cTn>
                              </p:par>
                            </p:childTnLst>
                          </p:cTn>
                        </p:par>
                      </p:childTnLst>
                    </p:cTn>
                  </p:par>
                  <p:par>
                    <p:cTn id="234" fill="hold">
                      <p:stCondLst>
                        <p:cond delay="indefinite"/>
                      </p:stCondLst>
                      <p:childTnLst>
                        <p:par>
                          <p:cTn id="235" fill="hold">
                            <p:stCondLst>
                              <p:cond delay="0"/>
                            </p:stCondLst>
                            <p:childTnLst>
                              <p:par>
                                <p:cTn id="236" presetID="22" presetClass="entr" presetSubtype="1" fill="hold" nodeType="clickEffect">
                                  <p:stCondLst>
                                    <p:cond delay="0"/>
                                  </p:stCondLst>
                                  <p:childTnLst>
                                    <p:set>
                                      <p:cBhvr>
                                        <p:cTn id="237" dur="1" fill="hold">
                                          <p:stCondLst>
                                            <p:cond delay="0"/>
                                          </p:stCondLst>
                                        </p:cTn>
                                        <p:tgtEl>
                                          <p:spTgt spid="92"/>
                                        </p:tgtEl>
                                        <p:attrNameLst>
                                          <p:attrName>style.visibility</p:attrName>
                                        </p:attrNameLst>
                                      </p:cBhvr>
                                      <p:to>
                                        <p:strVal val="visible"/>
                                      </p:to>
                                    </p:set>
                                    <p:animEffect transition="in" filter="wipe(up)">
                                      <p:cBhvr>
                                        <p:cTn id="238" dur="500"/>
                                        <p:tgtEl>
                                          <p:spTgt spid="92"/>
                                        </p:tgtEl>
                                      </p:cBhvr>
                                    </p:animEffect>
                                  </p:childTnLst>
                                </p:cTn>
                              </p:par>
                            </p:childTnLst>
                          </p:cTn>
                        </p:par>
                      </p:childTnLst>
                    </p:cTn>
                  </p:par>
                  <p:par>
                    <p:cTn id="239" fill="hold">
                      <p:stCondLst>
                        <p:cond delay="indefinite"/>
                      </p:stCondLst>
                      <p:childTnLst>
                        <p:par>
                          <p:cTn id="240" fill="hold">
                            <p:stCondLst>
                              <p:cond delay="0"/>
                            </p:stCondLst>
                            <p:childTnLst>
                              <p:par>
                                <p:cTn id="241" presetID="22" presetClass="entr" presetSubtype="1" fill="hold" nodeType="clickEffect">
                                  <p:stCondLst>
                                    <p:cond delay="0"/>
                                  </p:stCondLst>
                                  <p:childTnLst>
                                    <p:set>
                                      <p:cBhvr>
                                        <p:cTn id="242" dur="1" fill="hold">
                                          <p:stCondLst>
                                            <p:cond delay="0"/>
                                          </p:stCondLst>
                                        </p:cTn>
                                        <p:tgtEl>
                                          <p:spTgt spid="94"/>
                                        </p:tgtEl>
                                        <p:attrNameLst>
                                          <p:attrName>style.visibility</p:attrName>
                                        </p:attrNameLst>
                                      </p:cBhvr>
                                      <p:to>
                                        <p:strVal val="visible"/>
                                      </p:to>
                                    </p:set>
                                    <p:animEffect transition="in" filter="wipe(up)">
                                      <p:cBhvr>
                                        <p:cTn id="243" dur="500"/>
                                        <p:tgtEl>
                                          <p:spTgt spid="94"/>
                                        </p:tgtEl>
                                      </p:cBhvr>
                                    </p:animEffect>
                                  </p:childTnLst>
                                </p:cTn>
                              </p:par>
                            </p:childTnLst>
                          </p:cTn>
                        </p:par>
                      </p:childTnLst>
                    </p:cTn>
                  </p:par>
                  <p:par>
                    <p:cTn id="244" fill="hold">
                      <p:stCondLst>
                        <p:cond delay="indefinite"/>
                      </p:stCondLst>
                      <p:childTnLst>
                        <p:par>
                          <p:cTn id="245" fill="hold">
                            <p:stCondLst>
                              <p:cond delay="0"/>
                            </p:stCondLst>
                            <p:childTnLst>
                              <p:par>
                                <p:cTn id="246" presetID="10" presetClass="entr" presetSubtype="0" fill="hold" grpId="0" nodeType="clickEffect">
                                  <p:stCondLst>
                                    <p:cond delay="0"/>
                                  </p:stCondLst>
                                  <p:childTnLst>
                                    <p:set>
                                      <p:cBhvr>
                                        <p:cTn id="247" dur="1" fill="hold">
                                          <p:stCondLst>
                                            <p:cond delay="0"/>
                                          </p:stCondLst>
                                        </p:cTn>
                                        <p:tgtEl>
                                          <p:spTgt spid="27"/>
                                        </p:tgtEl>
                                        <p:attrNameLst>
                                          <p:attrName>style.visibility</p:attrName>
                                        </p:attrNameLst>
                                      </p:cBhvr>
                                      <p:to>
                                        <p:strVal val="visible"/>
                                      </p:to>
                                    </p:set>
                                    <p:animEffect transition="in" filter="fade">
                                      <p:cBhvr>
                                        <p:cTn id="248" dur="500"/>
                                        <p:tgtEl>
                                          <p:spTgt spid="27"/>
                                        </p:tgtEl>
                                      </p:cBhvr>
                                    </p:animEffect>
                                  </p:childTnLst>
                                </p:cTn>
                              </p:par>
                            </p:childTnLst>
                          </p:cTn>
                        </p:par>
                      </p:childTnLst>
                    </p:cTn>
                  </p:par>
                  <p:par>
                    <p:cTn id="249" fill="hold">
                      <p:stCondLst>
                        <p:cond delay="indefinite"/>
                      </p:stCondLst>
                      <p:childTnLst>
                        <p:par>
                          <p:cTn id="250" fill="hold">
                            <p:stCondLst>
                              <p:cond delay="0"/>
                            </p:stCondLst>
                            <p:childTnLst>
                              <p:par>
                                <p:cTn id="251" presetID="22" presetClass="entr" presetSubtype="1" fill="hold" nodeType="clickEffect">
                                  <p:stCondLst>
                                    <p:cond delay="0"/>
                                  </p:stCondLst>
                                  <p:childTnLst>
                                    <p:set>
                                      <p:cBhvr>
                                        <p:cTn id="252" dur="1" fill="hold">
                                          <p:stCondLst>
                                            <p:cond delay="0"/>
                                          </p:stCondLst>
                                        </p:cTn>
                                        <p:tgtEl>
                                          <p:spTgt spid="96"/>
                                        </p:tgtEl>
                                        <p:attrNameLst>
                                          <p:attrName>style.visibility</p:attrName>
                                        </p:attrNameLst>
                                      </p:cBhvr>
                                      <p:to>
                                        <p:strVal val="visible"/>
                                      </p:to>
                                    </p:set>
                                    <p:animEffect transition="in" filter="wipe(up)">
                                      <p:cBhvr>
                                        <p:cTn id="253" dur="500"/>
                                        <p:tgtEl>
                                          <p:spTgt spid="96"/>
                                        </p:tgtEl>
                                      </p:cBhvr>
                                    </p:animEffect>
                                  </p:childTnLst>
                                </p:cTn>
                              </p:par>
                            </p:childTnLst>
                          </p:cTn>
                        </p:par>
                      </p:childTnLst>
                    </p:cTn>
                  </p:par>
                  <p:par>
                    <p:cTn id="254" fill="hold">
                      <p:stCondLst>
                        <p:cond delay="indefinite"/>
                      </p:stCondLst>
                      <p:childTnLst>
                        <p:par>
                          <p:cTn id="255" fill="hold">
                            <p:stCondLst>
                              <p:cond delay="0"/>
                            </p:stCondLst>
                            <p:childTnLst>
                              <p:par>
                                <p:cTn id="256" presetID="10" presetClass="entr" presetSubtype="0" fill="hold" grpId="0" nodeType="clickEffect">
                                  <p:stCondLst>
                                    <p:cond delay="0"/>
                                  </p:stCondLst>
                                  <p:childTnLst>
                                    <p:set>
                                      <p:cBhvr>
                                        <p:cTn id="257" dur="1" fill="hold">
                                          <p:stCondLst>
                                            <p:cond delay="0"/>
                                          </p:stCondLst>
                                        </p:cTn>
                                        <p:tgtEl>
                                          <p:spTgt spid="28"/>
                                        </p:tgtEl>
                                        <p:attrNameLst>
                                          <p:attrName>style.visibility</p:attrName>
                                        </p:attrNameLst>
                                      </p:cBhvr>
                                      <p:to>
                                        <p:strVal val="visible"/>
                                      </p:to>
                                    </p:set>
                                    <p:animEffect transition="in" filter="fade">
                                      <p:cBhvr>
                                        <p:cTn id="258" dur="500"/>
                                        <p:tgtEl>
                                          <p:spTgt spid="28"/>
                                        </p:tgtEl>
                                      </p:cBhvr>
                                    </p:animEffect>
                                  </p:childTnLst>
                                </p:cTn>
                              </p:par>
                            </p:childTnLst>
                          </p:cTn>
                        </p:par>
                      </p:childTnLst>
                    </p:cTn>
                  </p:par>
                  <p:par>
                    <p:cTn id="259" fill="hold">
                      <p:stCondLst>
                        <p:cond delay="indefinite"/>
                      </p:stCondLst>
                      <p:childTnLst>
                        <p:par>
                          <p:cTn id="260" fill="hold">
                            <p:stCondLst>
                              <p:cond delay="0"/>
                            </p:stCondLst>
                            <p:childTnLst>
                              <p:par>
                                <p:cTn id="261" presetID="22" presetClass="entr" presetSubtype="1" fill="hold" nodeType="clickEffect">
                                  <p:stCondLst>
                                    <p:cond delay="0"/>
                                  </p:stCondLst>
                                  <p:childTnLst>
                                    <p:set>
                                      <p:cBhvr>
                                        <p:cTn id="262" dur="1" fill="hold">
                                          <p:stCondLst>
                                            <p:cond delay="0"/>
                                          </p:stCondLst>
                                        </p:cTn>
                                        <p:tgtEl>
                                          <p:spTgt spid="98"/>
                                        </p:tgtEl>
                                        <p:attrNameLst>
                                          <p:attrName>style.visibility</p:attrName>
                                        </p:attrNameLst>
                                      </p:cBhvr>
                                      <p:to>
                                        <p:strVal val="visible"/>
                                      </p:to>
                                    </p:set>
                                    <p:animEffect transition="in" filter="wipe(up)">
                                      <p:cBhvr>
                                        <p:cTn id="263" dur="500"/>
                                        <p:tgtEl>
                                          <p:spTgt spid="98"/>
                                        </p:tgtEl>
                                      </p:cBhvr>
                                    </p:animEffect>
                                  </p:childTnLst>
                                </p:cTn>
                              </p:par>
                            </p:childTnLst>
                          </p:cTn>
                        </p:par>
                      </p:childTnLst>
                    </p:cTn>
                  </p:par>
                  <p:par>
                    <p:cTn id="264" fill="hold">
                      <p:stCondLst>
                        <p:cond delay="indefinite"/>
                      </p:stCondLst>
                      <p:childTnLst>
                        <p:par>
                          <p:cTn id="265" fill="hold">
                            <p:stCondLst>
                              <p:cond delay="0"/>
                            </p:stCondLst>
                            <p:childTnLst>
                              <p:par>
                                <p:cTn id="266" presetID="10" presetClass="entr" presetSubtype="0" fill="hold" grpId="0" nodeType="clickEffect">
                                  <p:stCondLst>
                                    <p:cond delay="0"/>
                                  </p:stCondLst>
                                  <p:childTnLst>
                                    <p:set>
                                      <p:cBhvr>
                                        <p:cTn id="267" dur="1" fill="hold">
                                          <p:stCondLst>
                                            <p:cond delay="0"/>
                                          </p:stCondLst>
                                        </p:cTn>
                                        <p:tgtEl>
                                          <p:spTgt spid="33"/>
                                        </p:tgtEl>
                                        <p:attrNameLst>
                                          <p:attrName>style.visibility</p:attrName>
                                        </p:attrNameLst>
                                      </p:cBhvr>
                                      <p:to>
                                        <p:strVal val="visible"/>
                                      </p:to>
                                    </p:set>
                                    <p:animEffect transition="in" filter="fade">
                                      <p:cBhvr>
                                        <p:cTn id="26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3" grpId="0"/>
      <p:bldP spid="5" grpId="0" animBg="1"/>
      <p:bldP spid="9" grpId="0" animBg="1"/>
      <p:bldP spid="11" grpId="0" animBg="1"/>
      <p:bldP spid="12" grpId="0"/>
      <p:bldP spid="14" grpId="0" animBg="1"/>
      <p:bldP spid="15" grpId="0" animBg="1"/>
      <p:bldP spid="16" grpId="0" animBg="1"/>
      <p:bldP spid="17" grpId="0" animBg="1"/>
      <p:bldP spid="20" grpId="0" animBg="1"/>
      <p:bldP spid="21" grpId="0" animBg="1"/>
      <p:bldP spid="22" grpId="0" animBg="1"/>
      <p:bldP spid="23" grpId="0" animBg="1"/>
      <p:bldP spid="24" grpId="0" animBg="1"/>
      <p:bldP spid="25" grpId="0"/>
      <p:bldP spid="26" grpId="0"/>
      <p:bldP spid="27" grpId="0" animBg="1"/>
      <p:bldP spid="28" grpId="0" animBg="1"/>
      <p:bldP spid="29" grpId="0"/>
      <p:bldP spid="33" grpId="0"/>
      <p:bldP spid="12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95536" y="789039"/>
            <a:ext cx="8640960" cy="4078039"/>
          </a:xfrm>
          <a:prstGeom prst="rect">
            <a:avLst/>
          </a:prstGeom>
          <a:noFill/>
        </p:spPr>
        <p:txBody>
          <a:bodyPr wrap="square" rtlCol="0">
            <a:noAutofit/>
          </a:bodyPr>
          <a:lstStyle/>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输入的明文为</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128bit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的数据，将其按位拆分成</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的数据</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3 </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=0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时为第一次轮变换，一直进行到</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结束</a:t>
            </a:r>
            <a:endPar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502920" lvl="0" indent="-342900">
              <a:spcBef>
                <a:spcPts val="300"/>
              </a:spcBef>
              <a:spcAft>
                <a:spcPts val="300"/>
              </a:spcAft>
              <a:buFont typeface="+mj-ea"/>
              <a:buAutoNum type="circleNumDbPlain"/>
            </a:pP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暂时不做处理，将</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i+1</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i+2</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i+3</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和轮密钥</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rk</a:t>
            </a:r>
            <a:r>
              <a:rPr lang="en-US" altLang="zh-CN" sz="1800" kern="100" baseline="-250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异或得到一个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的数据，作为盒变换的输入，即</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b="1" kern="100" dirty="0" err="1">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sbox_input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i+1</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i+2</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i+3</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err="1">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rk</a:t>
            </a:r>
            <a:r>
              <a:rPr lang="en-US" altLang="zh-CN" sz="1800" b="1" kern="100" baseline="-25000" dirty="0" err="1">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a:t>
            </a:r>
            <a:endParaRPr lang="en-US" altLang="zh-CN" b="1" kern="1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sbox_input</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拆分成</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8bit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数据，分别进行盒变换，之后再将</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8bit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输出合并成一个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sbox_output</a:t>
            </a:r>
            <a:endPar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将刚才获得的</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sbox_output</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分别循环</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左移</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2</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24 </a:t>
            </a:r>
            <a:r>
              <a:rPr lang="zh-CN" altLang="zh-CN" sz="1800" b="1"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位</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，得到</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的结果，记移位结果为</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24</a:t>
            </a:r>
            <a:endPar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将移位的结果 </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24</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与盒变换输出</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sbox_output</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异或，得到</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i+4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即</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i+4</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err="1">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sbox_output</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24</a:t>
            </a:r>
            <a:r>
              <a:rPr lang="zh-CN"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b="1" kern="1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b="1" kern="100" baseline="-25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，至此完成了一轮的加解密运算</a:t>
            </a:r>
          </a:p>
          <a:p>
            <a:pPr marL="342900" marR="502920" lvl="0" indent="-342900">
              <a:spcBef>
                <a:spcPts val="300"/>
              </a:spcBef>
              <a:spcAft>
                <a:spcPts val="300"/>
              </a:spcAft>
              <a:buFont typeface="+mj-ea"/>
              <a:buAutoNum type="circleNumDbPlain"/>
            </a:pP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在实际加解密过程中，上述运算要执行</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轮，同时使用</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32 </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个不同的</a:t>
            </a:r>
            <a:r>
              <a:rPr lang="en-US"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800" kern="1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rk</a:t>
            </a:r>
            <a:r>
              <a:rPr lang="en-US" altLang="zh-CN" sz="1800" kern="100" baseline="-25000" dirty="0" err="1">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800" kern="100" dirty="0" err="1">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rk</a:t>
            </a:r>
            <a:r>
              <a:rPr lang="en-US" altLang="zh-CN" sz="1800" kern="100" baseline="-25000" dirty="0" err="1">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由</a:t>
            </a:r>
            <a:r>
              <a:rPr lang="zh-CN" altLang="zh-CN" sz="1800" b="1"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密钥拓展</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生成，最后将生成的最后</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4 </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个</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32bit </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数据（</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32</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33</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34</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35</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）反序输出</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35</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34</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33</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800" kern="100" baseline="-250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32</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合并成一个</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128bit </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的数据</a:t>
            </a:r>
            <a:r>
              <a:rPr lang="en-US"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 output</a:t>
            </a:r>
            <a:r>
              <a:rPr lang="zh-CN" altLang="zh-CN" sz="1800" kern="100" dirty="0">
                <a:solidFill>
                  <a:srgbClr val="008F92"/>
                </a:solidFill>
                <a:effectLst/>
                <a:uFill>
                  <a:solidFill>
                    <a:srgbClr val="FF0000"/>
                  </a:solidFill>
                </a:uFill>
                <a:latin typeface="Times New Roman" panose="02020603050405020304" pitchFamily="18" charset="0"/>
                <a:ea typeface="华文楷体" panose="02010600040101010101" pitchFamily="2" charset="-122"/>
                <a:cs typeface="Times New Roman" panose="02020603050405020304" pitchFamily="18" charset="0"/>
              </a:rPr>
              <a:t>，作为最后的输出结果</a:t>
            </a:r>
            <a:endParaRPr lang="zh-CN" altLang="zh-CN" sz="1800" kern="100" dirty="0">
              <a:solidFill>
                <a:srgbClr val="008F92"/>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0920720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7719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密钥处理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SM4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算法的加密密钥长度为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比特，其中每一项都为为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位的字。表示为：</a:t>
                </a:r>
                <a14:m>
                  <m:oMath xmlns:m="http://schemas.openxmlformats.org/officeDocument/2006/math">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𝟎</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𝟏</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𝟐</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𝟑</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系统参数，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其中每一项都为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位的字。表示为：</a:t>
                </a:r>
                <a14:m>
                  <m:oMath xmlns:m="http://schemas.openxmlformats.org/officeDocument/2006/math">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𝟎</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𝟏</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𝟐</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𝑭𝑲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𝟑</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b="1" i="1" dirty="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其中 </a:t>
                </a:r>
                <a:r>
                  <a:rPr lang="en-US" altLang="zh-CN" b="1" i="1" dirty="0" err="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FKi</a:t>
                </a:r>
                <a:r>
                  <a:rPr lang="en-US" altLang="zh-CN" b="1" i="1" dirty="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b="1" i="1" dirty="0" err="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i="1" dirty="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=0,⋯,3)</a:t>
                </a:r>
              </a:p>
              <a:p>
                <a:pPr marL="361950" lvl="1">
                  <a:lnSpc>
                    <a:spcPct val="130000"/>
                  </a:lnSpc>
                  <a:spcBef>
                    <a:spcPts val="300"/>
                  </a:spcBef>
                  <a:spcAft>
                    <a:spcPts val="300"/>
                  </a:spcAft>
                </a:pPr>
                <a:r>
                  <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系统参数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FK</a:t>
                </a:r>
                <a:r>
                  <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的取值为：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FK</a:t>
                </a:r>
                <a:r>
                  <a:rPr lang="en-US" altLang="zh-CN" sz="1600"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=(A3B1BAC6), FK</a:t>
                </a:r>
                <a:r>
                  <a:rPr lang="en-US" altLang="zh-CN" sz="1600"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=(56AA3350), FK</a:t>
                </a:r>
                <a:r>
                  <a:rPr lang="en-US" altLang="zh-CN" sz="1600"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=(677D9197), FK</a:t>
                </a:r>
                <a:r>
                  <a:rPr lang="en-US" altLang="zh-CN" sz="1600"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=(B27022DC)</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771913"/>
              </a:xfrm>
              <a:prstGeom prst="rect">
                <a:avLst/>
              </a:prstGeom>
              <a:blipFill>
                <a:blip r:embed="rId3"/>
                <a:stretch>
                  <a:fillRect l="-668" r="-2079" b="-1978"/>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2264201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320974"/>
              </a:xfrm>
              <a:prstGeom prst="rect">
                <a:avLst/>
              </a:prstGeom>
              <a:noFill/>
            </p:spPr>
            <p:txBody>
              <a:bodyPr wrap="square" rtlCol="0">
                <a:spAutoFit/>
              </a:bodyPr>
              <a:lstStyle/>
              <a:p>
                <a:pPr marL="342900" indent="-342900">
                  <a:lnSpc>
                    <a:spcPct val="130000"/>
                  </a:lnSpc>
                  <a:spcBef>
                    <a:spcPts val="300"/>
                  </a:spcBef>
                  <a:spcAft>
                    <a:spcPts val="300"/>
                  </a:spcAft>
                  <a:buClr>
                    <a:srgbClr val="008487"/>
                  </a:buClr>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固定参数，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用于密钥扩展算法。其中每一项都为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位的字。表示为：</a:t>
                </a:r>
                <a14:m>
                  <m:oMath xmlns:m="http://schemas.openxmlformats.org/officeDocument/2006/math">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𝑪𝑲</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𝟎</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𝟏</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𝑪𝑲</m:t>
                    </m:r>
                    <m:r>
                      <a:rPr lang="en-US" altLang="zh-CN"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𝟑𝟏</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61950">
                  <a:lnSpc>
                    <a:spcPct val="130000"/>
                  </a:lnSpc>
                  <a:spcBef>
                    <a:spcPts val="300"/>
                  </a:spcBef>
                  <a:spcAft>
                    <a:spcPts val="300"/>
                  </a:spcAft>
                  <a:buClr>
                    <a:srgbClr val="008487"/>
                  </a:buClr>
                </a:pP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固定参数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的取值方法为：设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i,j</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的第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 </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err="1">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=0,1,⋯,31; j=0,1,2,3)</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i,0</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i,1</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i,2</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i,3</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 </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CK</a:t>
                </a:r>
                <a:r>
                  <a:rPr lang="en-US" altLang="zh-CN" b="1" baseline="-250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i,j</a:t>
                </a:r>
                <a:r>
                  <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=(4i+j)×7(mod256)</a:t>
                </a:r>
                <a:r>
                  <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Clr>
                    <a:srgbClr val="008487"/>
                  </a:buClr>
                  <a:buFont typeface="Wingdings" panose="05000000000000000000" pitchFamily="2" charset="2"/>
                  <a:buChar char="n"/>
                </a:pPr>
                <a:endParaRPr lang="zh-CN" altLang="en-US"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轮密钥，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其中每一项都为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位的字。轮密钥由加密密钥通过密钥扩展算法生成。表示为：</a:t>
                </a:r>
                <a14:m>
                  <m:oMath xmlns:m="http://schemas.openxmlformats.org/officeDocument/2006/math">
                    <m:r>
                      <a:rPr lang="en-US" altLang="zh-CN" sz="2000" b="1" i="1" dirty="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𝒓</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𝒓𝒌</m:t>
                    </m:r>
                    <m:r>
                      <a:rPr lang="en-US" altLang="zh-CN" sz="2000"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𝟎</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𝒓𝒌</m:t>
                    </m:r>
                    <m:r>
                      <a:rPr lang="en-US" altLang="zh-CN" sz="2000"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𝟏</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𝒓𝒌</m:t>
                    </m:r>
                    <m:r>
                      <a:rPr lang="en-US" altLang="zh-CN" sz="2000" b="1" i="1" baseline="-2500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𝟑𝟏</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sz="2000" b="1"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320974"/>
              </a:xfrm>
              <a:prstGeom prst="rect">
                <a:avLst/>
              </a:prstGeom>
              <a:blipFill>
                <a:blip r:embed="rId3"/>
                <a:stretch>
                  <a:fillRect l="-445" r="-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28417003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415652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密钥扩展算法</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将密钥的每个字分别与系统参数的每个字做异或运算得到（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），再将得到的后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个字与固定参数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做异或运算后进行函数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运算得到值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，最后将函数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运算得到的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做异或运算就得到了第一轮的子密钥，也是下一轮密钥运算的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所以密钥扩展算法可以有下面两个函数表示：</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第一步：密钥与系统参数的异或：</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𝐹𝐾</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第二步：获取子密钥：</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𝑟𝑘</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+4</m:t>
                          </m:r>
                        </m:sub>
                      </m:sSub>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sub>
                      </m:s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b>
                      </m:sSub>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sub>
                      </m:sSub>
                      <m:r>
                        <a:rPr lang="en-US" altLang="zh-CN"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sub>
                      </m:sSub>
                      <m:r>
                        <a:rPr lang="en-US" altLang="zh-CN"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𝐶</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𝐾</m:t>
                          </m:r>
                        </m:e>
                        <m:sub>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sub>
                      </m:sSub>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4156522"/>
              </a:xfrm>
              <a:prstGeom prst="rect">
                <a:avLst/>
              </a:prstGeom>
              <a:blipFill>
                <a:blip r:embed="rId3"/>
                <a:stretch>
                  <a:fillRect l="-668" r="-223"/>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261330752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1204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函数</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大致分解为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）经过后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个字与固定参数异或后，得到的值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也为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位的字。</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拆分为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8bit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的字节进行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盒变换。该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盒是一个固定的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比特输入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比特输出的置换。</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）将中间</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盒的输出组成</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与左移</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位及左移</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进行异或处理作为函数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的输出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141849276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149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明文处理</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明文处理大致分解为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128bit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的明文分成</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32bit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X1,X2,X3,X4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）将上述得到的字进行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轮的轮操作。</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）最后将进行过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轮操作的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个字进行反序变换后组成</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128bit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的密文。</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SM4</a:t>
            </a:r>
            <a:r>
              <a:rPr lang="zh-CN" altLang="en-US" sz="2000" b="1" dirty="0">
                <a:solidFill>
                  <a:schemeClr val="tx1">
                    <a:lumMod val="50000"/>
                    <a:lumOff val="50000"/>
                  </a:schemeClr>
                </a:solidFill>
                <a:latin typeface="微软雅黑" pitchFamily="34" charset="-122"/>
                <a:ea typeface="微软雅黑" pitchFamily="34" charset="-122"/>
              </a:rPr>
              <a:t>对称密码算法</a:t>
            </a:r>
          </a:p>
        </p:txBody>
      </p:sp>
    </p:spTree>
    <p:extLst>
      <p:ext uri="{BB962C8B-B14F-4D97-AF65-F5344CB8AC3E}">
        <p14:creationId xmlns:p14="http://schemas.microsoft.com/office/powerpoint/2010/main" val="402732076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9298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祖冲之序列密码算法（即</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ZUC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算法）是第</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代合作伙伴计划（</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3rd Generation Partnership Project,3GPP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）所规范的机密性算法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128-EEA3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和完整性算法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128-EIA3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的核心，是中国自主设计的序列密码算法</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2011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9</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月正式成为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LTE</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第三套加密标准的核心算法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祖冲之序列密码算法是中国第一个成为国际密码标准的密码算法。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祖冲之序列密码算法是一个面向字</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(word)</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的序列密码算法，它采用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比特的初始密钥和一个</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比特的初始矢量（</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IV</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）作为输入，并输出以</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比特的字为单位的密钥流（每</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比特被称为一个密钥字）。密钥流可用于对明文进行加密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解密</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3129007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4081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祖冲之序列密码算法的执行分为两个阶段：</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初始化阶段：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对密钥和初始矢量进行初始化，不产生输出</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工作阶段：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每一个时钟脉冲产生一个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比特的密钥字输出</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42330292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2808312" cy="447821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算法结构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祖冲之序列密码算法有三个逻辑层</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顶层为一个包含</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个单元的线性反馈移位寄存器（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LFSR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中间层是比特重组（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最下层为一个非线性变换函数（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graphicFrame>
        <p:nvGraphicFramePr>
          <p:cNvPr id="5" name="表格 5">
            <a:extLst>
              <a:ext uri="{FF2B5EF4-FFF2-40B4-BE49-F238E27FC236}">
                <a16:creationId xmlns:a16="http://schemas.microsoft.com/office/drawing/2014/main" id="{74BED565-CD66-4BAA-A8EC-5735104A8420}"/>
              </a:ext>
            </a:extLst>
          </p:cNvPr>
          <p:cNvGraphicFramePr>
            <a:graphicFrameLocks noGrp="1"/>
          </p:cNvGraphicFramePr>
          <p:nvPr>
            <p:extLst>
              <p:ext uri="{D42A27DB-BD31-4B8C-83A1-F6EECF244321}">
                <p14:modId xmlns:p14="http://schemas.microsoft.com/office/powerpoint/2010/main" val="3920736082"/>
              </p:ext>
            </p:extLst>
          </p:nvPr>
        </p:nvGraphicFramePr>
        <p:xfrm>
          <a:off x="4283968" y="1563638"/>
          <a:ext cx="3960448" cy="288032"/>
        </p:xfrm>
        <a:graphic>
          <a:graphicData uri="http://schemas.openxmlformats.org/drawingml/2006/table">
            <a:tbl>
              <a:tblPr firstRow="1" bandRow="1">
                <a:tableStyleId>{5C22544A-7EE6-4342-B048-85BDC9FD1C3A}</a:tableStyleId>
              </a:tblPr>
              <a:tblGrid>
                <a:gridCol w="247528">
                  <a:extLst>
                    <a:ext uri="{9D8B030D-6E8A-4147-A177-3AD203B41FA5}">
                      <a16:colId xmlns:a16="http://schemas.microsoft.com/office/drawing/2014/main" val="601119254"/>
                    </a:ext>
                  </a:extLst>
                </a:gridCol>
                <a:gridCol w="247528">
                  <a:extLst>
                    <a:ext uri="{9D8B030D-6E8A-4147-A177-3AD203B41FA5}">
                      <a16:colId xmlns:a16="http://schemas.microsoft.com/office/drawing/2014/main" val="3994928204"/>
                    </a:ext>
                  </a:extLst>
                </a:gridCol>
                <a:gridCol w="247528">
                  <a:extLst>
                    <a:ext uri="{9D8B030D-6E8A-4147-A177-3AD203B41FA5}">
                      <a16:colId xmlns:a16="http://schemas.microsoft.com/office/drawing/2014/main" val="1908034123"/>
                    </a:ext>
                  </a:extLst>
                </a:gridCol>
                <a:gridCol w="247528">
                  <a:extLst>
                    <a:ext uri="{9D8B030D-6E8A-4147-A177-3AD203B41FA5}">
                      <a16:colId xmlns:a16="http://schemas.microsoft.com/office/drawing/2014/main" val="1862674939"/>
                    </a:ext>
                  </a:extLst>
                </a:gridCol>
                <a:gridCol w="247528">
                  <a:extLst>
                    <a:ext uri="{9D8B030D-6E8A-4147-A177-3AD203B41FA5}">
                      <a16:colId xmlns:a16="http://schemas.microsoft.com/office/drawing/2014/main" val="386352742"/>
                    </a:ext>
                  </a:extLst>
                </a:gridCol>
                <a:gridCol w="247528">
                  <a:extLst>
                    <a:ext uri="{9D8B030D-6E8A-4147-A177-3AD203B41FA5}">
                      <a16:colId xmlns:a16="http://schemas.microsoft.com/office/drawing/2014/main" val="239901882"/>
                    </a:ext>
                  </a:extLst>
                </a:gridCol>
                <a:gridCol w="247528">
                  <a:extLst>
                    <a:ext uri="{9D8B030D-6E8A-4147-A177-3AD203B41FA5}">
                      <a16:colId xmlns:a16="http://schemas.microsoft.com/office/drawing/2014/main" val="2790427454"/>
                    </a:ext>
                  </a:extLst>
                </a:gridCol>
                <a:gridCol w="247528">
                  <a:extLst>
                    <a:ext uri="{9D8B030D-6E8A-4147-A177-3AD203B41FA5}">
                      <a16:colId xmlns:a16="http://schemas.microsoft.com/office/drawing/2014/main" val="2362118636"/>
                    </a:ext>
                  </a:extLst>
                </a:gridCol>
                <a:gridCol w="247528">
                  <a:extLst>
                    <a:ext uri="{9D8B030D-6E8A-4147-A177-3AD203B41FA5}">
                      <a16:colId xmlns:a16="http://schemas.microsoft.com/office/drawing/2014/main" val="1811460939"/>
                    </a:ext>
                  </a:extLst>
                </a:gridCol>
                <a:gridCol w="247528">
                  <a:extLst>
                    <a:ext uri="{9D8B030D-6E8A-4147-A177-3AD203B41FA5}">
                      <a16:colId xmlns:a16="http://schemas.microsoft.com/office/drawing/2014/main" val="3623859022"/>
                    </a:ext>
                  </a:extLst>
                </a:gridCol>
                <a:gridCol w="247528">
                  <a:extLst>
                    <a:ext uri="{9D8B030D-6E8A-4147-A177-3AD203B41FA5}">
                      <a16:colId xmlns:a16="http://schemas.microsoft.com/office/drawing/2014/main" val="28473028"/>
                    </a:ext>
                  </a:extLst>
                </a:gridCol>
                <a:gridCol w="247528">
                  <a:extLst>
                    <a:ext uri="{9D8B030D-6E8A-4147-A177-3AD203B41FA5}">
                      <a16:colId xmlns:a16="http://schemas.microsoft.com/office/drawing/2014/main" val="764739704"/>
                    </a:ext>
                  </a:extLst>
                </a:gridCol>
                <a:gridCol w="247528">
                  <a:extLst>
                    <a:ext uri="{9D8B030D-6E8A-4147-A177-3AD203B41FA5}">
                      <a16:colId xmlns:a16="http://schemas.microsoft.com/office/drawing/2014/main" val="778674833"/>
                    </a:ext>
                  </a:extLst>
                </a:gridCol>
                <a:gridCol w="247528">
                  <a:extLst>
                    <a:ext uri="{9D8B030D-6E8A-4147-A177-3AD203B41FA5}">
                      <a16:colId xmlns:a16="http://schemas.microsoft.com/office/drawing/2014/main" val="3387147411"/>
                    </a:ext>
                  </a:extLst>
                </a:gridCol>
                <a:gridCol w="247528">
                  <a:extLst>
                    <a:ext uri="{9D8B030D-6E8A-4147-A177-3AD203B41FA5}">
                      <a16:colId xmlns:a16="http://schemas.microsoft.com/office/drawing/2014/main" val="2352248097"/>
                    </a:ext>
                  </a:extLst>
                </a:gridCol>
                <a:gridCol w="247528">
                  <a:extLst>
                    <a:ext uri="{9D8B030D-6E8A-4147-A177-3AD203B41FA5}">
                      <a16:colId xmlns:a16="http://schemas.microsoft.com/office/drawing/2014/main" val="50112437"/>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15</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14</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13</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12</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11</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10</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9</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8</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7</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6</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5</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4</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3</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2</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0</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graphicFrame>
        <p:nvGraphicFramePr>
          <p:cNvPr id="7" name="表格 5">
            <a:extLst>
              <a:ext uri="{FF2B5EF4-FFF2-40B4-BE49-F238E27FC236}">
                <a16:creationId xmlns:a16="http://schemas.microsoft.com/office/drawing/2014/main" id="{F03F3586-3EE2-456D-9527-44CA108CD484}"/>
              </a:ext>
            </a:extLst>
          </p:cNvPr>
          <p:cNvGraphicFramePr>
            <a:graphicFrameLocks noGrp="1"/>
          </p:cNvGraphicFramePr>
          <p:nvPr>
            <p:extLst>
              <p:ext uri="{D42A27DB-BD31-4B8C-83A1-F6EECF244321}">
                <p14:modId xmlns:p14="http://schemas.microsoft.com/office/powerpoint/2010/main" val="383648365"/>
              </p:ext>
            </p:extLst>
          </p:nvPr>
        </p:nvGraphicFramePr>
        <p:xfrm>
          <a:off x="4308069" y="645023"/>
          <a:ext cx="3960448" cy="288032"/>
        </p:xfrm>
        <a:graphic>
          <a:graphicData uri="http://schemas.openxmlformats.org/drawingml/2006/table">
            <a:tbl>
              <a:tblPr firstRow="1" bandRow="1">
                <a:tableStyleId>{5C22544A-7EE6-4342-B048-85BDC9FD1C3A}</a:tableStyleId>
              </a:tblPr>
              <a:tblGrid>
                <a:gridCol w="3960448">
                  <a:extLst>
                    <a:ext uri="{9D8B030D-6E8A-4147-A177-3AD203B41FA5}">
                      <a16:colId xmlns:a16="http://schemas.microsoft.com/office/drawing/2014/main" val="601119254"/>
                    </a:ext>
                  </a:extLst>
                </a:gridCol>
              </a:tblGrid>
              <a:tr h="288032">
                <a:tc>
                  <a:txBody>
                    <a:bodyPr/>
                    <a:lstStyle/>
                    <a:p>
                      <a:pPr algn="ctr" eaLnBrk="0" fontAlgn="ctr" hangingPunct="0"/>
                      <a:r>
                        <a:rPr lang="en-US" altLang="zh-CN" sz="1200" b="0" baseline="0" dirty="0">
                          <a:latin typeface="Times New Roman" panose="02020603050405020304" pitchFamily="18" charset="0"/>
                          <a:cs typeface="Times New Roman" panose="02020603050405020304" pitchFamily="18" charset="0"/>
                        </a:rPr>
                        <a:t>Mod2</a:t>
                      </a:r>
                      <a:r>
                        <a:rPr lang="en-US" altLang="zh-CN" sz="1200" b="0" baseline="30000" dirty="0">
                          <a:latin typeface="Times New Roman" panose="02020603050405020304" pitchFamily="18" charset="0"/>
                          <a:cs typeface="Times New Roman" panose="02020603050405020304" pitchFamily="18" charset="0"/>
                        </a:rPr>
                        <a:t>31</a:t>
                      </a:r>
                      <a:r>
                        <a:rPr lang="en-US" altLang="zh-CN" sz="1200" b="0" baseline="0" dirty="0">
                          <a:latin typeface="Times New Roman" panose="02020603050405020304" pitchFamily="18" charset="0"/>
                          <a:cs typeface="Times New Roman" panose="02020603050405020304" pitchFamily="18" charset="0"/>
                        </a:rPr>
                        <a:t>-1</a:t>
                      </a:r>
                      <a:endParaRPr lang="zh-CN" altLang="en-US" sz="1200" b="0" baseline="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sp>
        <p:nvSpPr>
          <p:cNvPr id="6" name="椭圆 5">
            <a:extLst>
              <a:ext uri="{FF2B5EF4-FFF2-40B4-BE49-F238E27FC236}">
                <a16:creationId xmlns:a16="http://schemas.microsoft.com/office/drawing/2014/main" id="{306D3571-E689-4CB8-8F13-EE6151CFB352}"/>
              </a:ext>
            </a:extLst>
          </p:cNvPr>
          <p:cNvSpPr/>
          <p:nvPr/>
        </p:nvSpPr>
        <p:spPr>
          <a:xfrm>
            <a:off x="4280980" y="10817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2</a:t>
            </a:r>
            <a:r>
              <a:rPr lang="en-US" altLang="zh-CN" sz="1200" b="1" baseline="30000" dirty="0">
                <a:latin typeface="Times New Roman" panose="02020603050405020304" pitchFamily="18" charset="0"/>
                <a:cs typeface="Times New Roman" panose="02020603050405020304" pitchFamily="18" charset="0"/>
              </a:rPr>
              <a:t>15</a:t>
            </a:r>
            <a:endParaRPr lang="zh-CN" altLang="en-US" sz="1200" b="1" baseline="30000" dirty="0">
              <a:latin typeface="Times New Roman" panose="02020603050405020304" pitchFamily="18" charset="0"/>
              <a:cs typeface="Times New Roman" panose="02020603050405020304" pitchFamily="18" charset="0"/>
            </a:endParaRPr>
          </a:p>
        </p:txBody>
      </p:sp>
      <p:sp>
        <p:nvSpPr>
          <p:cNvPr id="9" name="椭圆 8">
            <a:extLst>
              <a:ext uri="{FF2B5EF4-FFF2-40B4-BE49-F238E27FC236}">
                <a16:creationId xmlns:a16="http://schemas.microsoft.com/office/drawing/2014/main" id="{8F79013D-58DE-4D70-8991-8C60EE987262}"/>
              </a:ext>
            </a:extLst>
          </p:cNvPr>
          <p:cNvSpPr/>
          <p:nvPr/>
        </p:nvSpPr>
        <p:spPr>
          <a:xfrm>
            <a:off x="4788024" y="10817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2</a:t>
            </a:r>
            <a:r>
              <a:rPr lang="en-US" altLang="zh-CN" sz="1200" b="1" baseline="30000" dirty="0">
                <a:latin typeface="Times New Roman" panose="02020603050405020304" pitchFamily="18" charset="0"/>
                <a:cs typeface="Times New Roman" panose="02020603050405020304" pitchFamily="18" charset="0"/>
              </a:rPr>
              <a:t>17</a:t>
            </a:r>
            <a:endParaRPr lang="zh-CN" altLang="en-US" sz="1200" b="1" baseline="30000" dirty="0">
              <a:latin typeface="Times New Roman" panose="02020603050405020304" pitchFamily="18" charset="0"/>
              <a:cs typeface="Times New Roman" panose="02020603050405020304" pitchFamily="18" charset="0"/>
            </a:endParaRPr>
          </a:p>
        </p:txBody>
      </p:sp>
      <p:sp>
        <p:nvSpPr>
          <p:cNvPr id="10" name="椭圆 9">
            <a:extLst>
              <a:ext uri="{FF2B5EF4-FFF2-40B4-BE49-F238E27FC236}">
                <a16:creationId xmlns:a16="http://schemas.microsoft.com/office/drawing/2014/main" id="{49EF0F6E-34FC-43A4-ABFA-867AE3EAA9D1}"/>
              </a:ext>
            </a:extLst>
          </p:cNvPr>
          <p:cNvSpPr/>
          <p:nvPr/>
        </p:nvSpPr>
        <p:spPr>
          <a:xfrm>
            <a:off x="5508104" y="10817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2</a:t>
            </a:r>
            <a:r>
              <a:rPr lang="en-US" altLang="zh-CN" sz="1200" b="1" baseline="30000" dirty="0">
                <a:latin typeface="Times New Roman" panose="02020603050405020304" pitchFamily="18" charset="0"/>
                <a:cs typeface="Times New Roman" panose="02020603050405020304" pitchFamily="18" charset="0"/>
              </a:rPr>
              <a:t>21</a:t>
            </a:r>
            <a:endParaRPr lang="zh-CN" altLang="en-US" sz="1200" b="1" baseline="30000" dirty="0">
              <a:latin typeface="Times New Roman" panose="02020603050405020304" pitchFamily="18" charset="0"/>
              <a:cs typeface="Times New Roman" panose="02020603050405020304" pitchFamily="18" charset="0"/>
            </a:endParaRPr>
          </a:p>
        </p:txBody>
      </p:sp>
      <p:sp>
        <p:nvSpPr>
          <p:cNvPr id="11" name="椭圆 10">
            <a:extLst>
              <a:ext uri="{FF2B5EF4-FFF2-40B4-BE49-F238E27FC236}">
                <a16:creationId xmlns:a16="http://schemas.microsoft.com/office/drawing/2014/main" id="{EFA811DB-EE68-4D1B-81A1-B3AAA60A8A46}"/>
              </a:ext>
            </a:extLst>
          </p:cNvPr>
          <p:cNvSpPr/>
          <p:nvPr/>
        </p:nvSpPr>
        <p:spPr>
          <a:xfrm>
            <a:off x="7017963" y="108172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2</a:t>
            </a:r>
            <a:r>
              <a:rPr lang="en-US" altLang="zh-CN" sz="1200" b="1" baseline="30000" dirty="0">
                <a:latin typeface="Times New Roman" panose="02020603050405020304" pitchFamily="18" charset="0"/>
                <a:cs typeface="Times New Roman" panose="02020603050405020304" pitchFamily="18" charset="0"/>
              </a:rPr>
              <a:t>20</a:t>
            </a:r>
            <a:endParaRPr lang="zh-CN" altLang="en-US" sz="1200" b="1" baseline="30000" dirty="0">
              <a:latin typeface="Times New Roman" panose="02020603050405020304" pitchFamily="18" charset="0"/>
              <a:cs typeface="Times New Roman" panose="02020603050405020304" pitchFamily="18" charset="0"/>
            </a:endParaRPr>
          </a:p>
        </p:txBody>
      </p:sp>
      <p:sp>
        <p:nvSpPr>
          <p:cNvPr id="12" name="椭圆 11">
            <a:extLst>
              <a:ext uri="{FF2B5EF4-FFF2-40B4-BE49-F238E27FC236}">
                <a16:creationId xmlns:a16="http://schemas.microsoft.com/office/drawing/2014/main" id="{C0FA6499-D27A-4443-8B26-A97698049751}"/>
              </a:ext>
            </a:extLst>
          </p:cNvPr>
          <p:cNvSpPr/>
          <p:nvPr/>
        </p:nvSpPr>
        <p:spPr>
          <a:xfrm>
            <a:off x="7884368" y="1081721"/>
            <a:ext cx="432048"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1+2</a:t>
            </a:r>
            <a:r>
              <a:rPr lang="en-US" altLang="zh-CN" sz="1200" b="1" baseline="30000" dirty="0">
                <a:latin typeface="Times New Roman" panose="02020603050405020304" pitchFamily="18" charset="0"/>
                <a:cs typeface="Times New Roman" panose="02020603050405020304" pitchFamily="18" charset="0"/>
              </a:rPr>
              <a:t>8</a:t>
            </a:r>
            <a:endParaRPr lang="zh-CN" altLang="en-US" sz="1200" b="1" baseline="30000" dirty="0">
              <a:latin typeface="Times New Roman" panose="02020603050405020304" pitchFamily="18" charset="0"/>
              <a:cs typeface="Times New Roman" panose="02020603050405020304" pitchFamily="18" charset="0"/>
            </a:endParaRPr>
          </a:p>
        </p:txBody>
      </p:sp>
      <p:graphicFrame>
        <p:nvGraphicFramePr>
          <p:cNvPr id="13" name="表格 5">
            <a:extLst>
              <a:ext uri="{FF2B5EF4-FFF2-40B4-BE49-F238E27FC236}">
                <a16:creationId xmlns:a16="http://schemas.microsoft.com/office/drawing/2014/main" id="{B30FC7AB-2BA5-457B-956C-2715C537FE7A}"/>
              </a:ext>
            </a:extLst>
          </p:cNvPr>
          <p:cNvGraphicFramePr>
            <a:graphicFrameLocks noGrp="1"/>
          </p:cNvGraphicFramePr>
          <p:nvPr>
            <p:extLst>
              <p:ext uri="{D42A27DB-BD31-4B8C-83A1-F6EECF244321}">
                <p14:modId xmlns:p14="http://schemas.microsoft.com/office/powerpoint/2010/main" val="2366652103"/>
              </p:ext>
            </p:extLst>
          </p:nvPr>
        </p:nvGraphicFramePr>
        <p:xfrm>
          <a:off x="4297102" y="2111487"/>
          <a:ext cx="579052" cy="288032"/>
        </p:xfrm>
        <a:graphic>
          <a:graphicData uri="http://schemas.openxmlformats.org/drawingml/2006/table">
            <a:tbl>
              <a:tblPr firstRow="1" bandRow="1">
                <a:tableStyleId>{5C22544A-7EE6-4342-B048-85BDC9FD1C3A}</a:tableStyleId>
              </a:tblPr>
              <a:tblGrid>
                <a:gridCol w="289526">
                  <a:extLst>
                    <a:ext uri="{9D8B030D-6E8A-4147-A177-3AD203B41FA5}">
                      <a16:colId xmlns:a16="http://schemas.microsoft.com/office/drawing/2014/main" val="601119254"/>
                    </a:ext>
                  </a:extLst>
                </a:gridCol>
                <a:gridCol w="289526">
                  <a:extLst>
                    <a:ext uri="{9D8B030D-6E8A-4147-A177-3AD203B41FA5}">
                      <a16:colId xmlns:a16="http://schemas.microsoft.com/office/drawing/2014/main" val="3994928204"/>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15H</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14L</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graphicFrame>
        <p:nvGraphicFramePr>
          <p:cNvPr id="14" name="表格 5">
            <a:extLst>
              <a:ext uri="{FF2B5EF4-FFF2-40B4-BE49-F238E27FC236}">
                <a16:creationId xmlns:a16="http://schemas.microsoft.com/office/drawing/2014/main" id="{9E8CF92C-695F-4FE6-AA48-07300A41CE5B}"/>
              </a:ext>
            </a:extLst>
          </p:cNvPr>
          <p:cNvGraphicFramePr>
            <a:graphicFrameLocks noGrp="1"/>
          </p:cNvGraphicFramePr>
          <p:nvPr>
            <p:extLst>
              <p:ext uri="{D42A27DB-BD31-4B8C-83A1-F6EECF244321}">
                <p14:modId xmlns:p14="http://schemas.microsoft.com/office/powerpoint/2010/main" val="3186458226"/>
              </p:ext>
            </p:extLst>
          </p:nvPr>
        </p:nvGraphicFramePr>
        <p:xfrm>
          <a:off x="5177320" y="2111487"/>
          <a:ext cx="579052" cy="288032"/>
        </p:xfrm>
        <a:graphic>
          <a:graphicData uri="http://schemas.openxmlformats.org/drawingml/2006/table">
            <a:tbl>
              <a:tblPr firstRow="1" bandRow="1">
                <a:tableStyleId>{5C22544A-7EE6-4342-B048-85BDC9FD1C3A}</a:tableStyleId>
              </a:tblPr>
              <a:tblGrid>
                <a:gridCol w="289526">
                  <a:extLst>
                    <a:ext uri="{9D8B030D-6E8A-4147-A177-3AD203B41FA5}">
                      <a16:colId xmlns:a16="http://schemas.microsoft.com/office/drawing/2014/main" val="601119254"/>
                    </a:ext>
                  </a:extLst>
                </a:gridCol>
                <a:gridCol w="289526">
                  <a:extLst>
                    <a:ext uri="{9D8B030D-6E8A-4147-A177-3AD203B41FA5}">
                      <a16:colId xmlns:a16="http://schemas.microsoft.com/office/drawing/2014/main" val="3994928204"/>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11L</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9H</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graphicFrame>
        <p:nvGraphicFramePr>
          <p:cNvPr id="15" name="表格 5">
            <a:extLst>
              <a:ext uri="{FF2B5EF4-FFF2-40B4-BE49-F238E27FC236}">
                <a16:creationId xmlns:a16="http://schemas.microsoft.com/office/drawing/2014/main" id="{BD753051-014D-4F8E-B2DC-4064EE61CFF0}"/>
              </a:ext>
            </a:extLst>
          </p:cNvPr>
          <p:cNvGraphicFramePr>
            <a:graphicFrameLocks noGrp="1"/>
          </p:cNvGraphicFramePr>
          <p:nvPr>
            <p:extLst>
              <p:ext uri="{D42A27DB-BD31-4B8C-83A1-F6EECF244321}">
                <p14:modId xmlns:p14="http://schemas.microsoft.com/office/powerpoint/2010/main" val="2261184718"/>
              </p:ext>
            </p:extLst>
          </p:nvPr>
        </p:nvGraphicFramePr>
        <p:xfrm>
          <a:off x="6516216" y="2111487"/>
          <a:ext cx="579052" cy="288032"/>
        </p:xfrm>
        <a:graphic>
          <a:graphicData uri="http://schemas.openxmlformats.org/drawingml/2006/table">
            <a:tbl>
              <a:tblPr firstRow="1" bandRow="1">
                <a:tableStyleId>{5C22544A-7EE6-4342-B048-85BDC9FD1C3A}</a:tableStyleId>
              </a:tblPr>
              <a:tblGrid>
                <a:gridCol w="289526">
                  <a:extLst>
                    <a:ext uri="{9D8B030D-6E8A-4147-A177-3AD203B41FA5}">
                      <a16:colId xmlns:a16="http://schemas.microsoft.com/office/drawing/2014/main" val="601119254"/>
                    </a:ext>
                  </a:extLst>
                </a:gridCol>
                <a:gridCol w="289526">
                  <a:extLst>
                    <a:ext uri="{9D8B030D-6E8A-4147-A177-3AD203B41FA5}">
                      <a16:colId xmlns:a16="http://schemas.microsoft.com/office/drawing/2014/main" val="3994928204"/>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7L</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5H</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graphicFrame>
        <p:nvGraphicFramePr>
          <p:cNvPr id="16" name="表格 5">
            <a:extLst>
              <a:ext uri="{FF2B5EF4-FFF2-40B4-BE49-F238E27FC236}">
                <a16:creationId xmlns:a16="http://schemas.microsoft.com/office/drawing/2014/main" id="{659A863E-B755-4E4C-8BAC-E24EF56BAE00}"/>
              </a:ext>
            </a:extLst>
          </p:cNvPr>
          <p:cNvGraphicFramePr>
            <a:graphicFrameLocks noGrp="1"/>
          </p:cNvGraphicFramePr>
          <p:nvPr>
            <p:extLst>
              <p:ext uri="{D42A27DB-BD31-4B8C-83A1-F6EECF244321}">
                <p14:modId xmlns:p14="http://schemas.microsoft.com/office/powerpoint/2010/main" val="70434593"/>
              </p:ext>
            </p:extLst>
          </p:nvPr>
        </p:nvGraphicFramePr>
        <p:xfrm>
          <a:off x="7565586" y="2111487"/>
          <a:ext cx="579052" cy="288032"/>
        </p:xfrm>
        <a:graphic>
          <a:graphicData uri="http://schemas.openxmlformats.org/drawingml/2006/table">
            <a:tbl>
              <a:tblPr firstRow="1" bandRow="1">
                <a:tableStyleId>{5C22544A-7EE6-4342-B048-85BDC9FD1C3A}</a:tableStyleId>
              </a:tblPr>
              <a:tblGrid>
                <a:gridCol w="289526">
                  <a:extLst>
                    <a:ext uri="{9D8B030D-6E8A-4147-A177-3AD203B41FA5}">
                      <a16:colId xmlns:a16="http://schemas.microsoft.com/office/drawing/2014/main" val="601119254"/>
                    </a:ext>
                  </a:extLst>
                </a:gridCol>
                <a:gridCol w="289526">
                  <a:extLst>
                    <a:ext uri="{9D8B030D-6E8A-4147-A177-3AD203B41FA5}">
                      <a16:colId xmlns:a16="http://schemas.microsoft.com/office/drawing/2014/main" val="3994928204"/>
                    </a:ext>
                  </a:extLst>
                </a:gridCol>
              </a:tblGrid>
              <a:tr h="288032">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2L</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tc>
                  <a:txBody>
                    <a:bodyPr/>
                    <a:lstStyle/>
                    <a:p>
                      <a:pPr algn="ctr" eaLnBrk="0" fontAlgn="ctr" hangingPunct="0"/>
                      <a:r>
                        <a:rPr lang="en-US" altLang="zh-CN" sz="1200" b="0" dirty="0">
                          <a:latin typeface="Times New Roman" panose="02020603050405020304" pitchFamily="18" charset="0"/>
                          <a:cs typeface="Times New Roman" panose="02020603050405020304" pitchFamily="18" charset="0"/>
                        </a:rPr>
                        <a:t>S</a:t>
                      </a:r>
                      <a:r>
                        <a:rPr lang="en-US" altLang="zh-CN" sz="1200" b="0" baseline="-25000" dirty="0">
                          <a:latin typeface="Times New Roman" panose="02020603050405020304" pitchFamily="18" charset="0"/>
                          <a:cs typeface="Times New Roman" panose="02020603050405020304" pitchFamily="18" charset="0"/>
                        </a:rPr>
                        <a:t>0H</a:t>
                      </a:r>
                      <a:endParaRPr lang="zh-CN" altLang="en-US" sz="1200" b="0" baseline="-2500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sp>
        <p:nvSpPr>
          <p:cNvPr id="17" name="矩形 16">
            <a:extLst>
              <a:ext uri="{FF2B5EF4-FFF2-40B4-BE49-F238E27FC236}">
                <a16:creationId xmlns:a16="http://schemas.microsoft.com/office/drawing/2014/main" id="{615B0325-D148-418C-8F11-F459217DBA70}"/>
              </a:ext>
            </a:extLst>
          </p:cNvPr>
          <p:cNvSpPr/>
          <p:nvPr/>
        </p:nvSpPr>
        <p:spPr>
          <a:xfrm>
            <a:off x="4308069" y="3065536"/>
            <a:ext cx="57905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R</a:t>
            </a:r>
            <a:r>
              <a:rPr lang="en-US" altLang="zh-CN" sz="1200" b="1" baseline="-25000" dirty="0">
                <a:latin typeface="Times New Roman" panose="02020603050405020304" pitchFamily="18" charset="0"/>
                <a:cs typeface="Times New Roman" panose="02020603050405020304" pitchFamily="18" charset="0"/>
              </a:rPr>
              <a:t>1</a:t>
            </a:r>
            <a:endParaRPr lang="zh-CN" altLang="en-US" sz="1200" b="1" baseline="-25000"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4ED9D414-1D71-4FD5-AD68-64EA38B4BB75}"/>
              </a:ext>
            </a:extLst>
          </p:cNvPr>
          <p:cNvSpPr/>
          <p:nvPr/>
        </p:nvSpPr>
        <p:spPr>
          <a:xfrm>
            <a:off x="5831998" y="3065536"/>
            <a:ext cx="57905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R</a:t>
            </a:r>
            <a:r>
              <a:rPr lang="en-US" altLang="zh-CN" sz="1200" b="1" baseline="-25000" dirty="0">
                <a:latin typeface="Times New Roman" panose="02020603050405020304" pitchFamily="18" charset="0"/>
                <a:cs typeface="Times New Roman" panose="02020603050405020304" pitchFamily="18" charset="0"/>
              </a:rPr>
              <a:t>2</a:t>
            </a:r>
            <a:endParaRPr lang="zh-CN" altLang="en-US" sz="1200" b="1" baseline="-25000" dirty="0">
              <a:latin typeface="Times New Roman" panose="02020603050405020304" pitchFamily="18" charset="0"/>
              <a:cs typeface="Times New Roman" panose="02020603050405020304" pitchFamily="18" charset="0"/>
            </a:endParaRPr>
          </a:p>
        </p:txBody>
      </p:sp>
      <p:graphicFrame>
        <p:nvGraphicFramePr>
          <p:cNvPr id="20" name="表格 5">
            <a:extLst>
              <a:ext uri="{FF2B5EF4-FFF2-40B4-BE49-F238E27FC236}">
                <a16:creationId xmlns:a16="http://schemas.microsoft.com/office/drawing/2014/main" id="{1F3B941D-6D8A-4DD9-A4F4-8CA5BDE020C4}"/>
              </a:ext>
            </a:extLst>
          </p:cNvPr>
          <p:cNvGraphicFramePr>
            <a:graphicFrameLocks noGrp="1"/>
          </p:cNvGraphicFramePr>
          <p:nvPr>
            <p:extLst>
              <p:ext uri="{D42A27DB-BD31-4B8C-83A1-F6EECF244321}">
                <p14:modId xmlns:p14="http://schemas.microsoft.com/office/powerpoint/2010/main" val="3405480100"/>
              </p:ext>
            </p:extLst>
          </p:nvPr>
        </p:nvGraphicFramePr>
        <p:xfrm>
          <a:off x="4306295" y="4019585"/>
          <a:ext cx="2104755" cy="288032"/>
        </p:xfrm>
        <a:graphic>
          <a:graphicData uri="http://schemas.openxmlformats.org/drawingml/2006/table">
            <a:tbl>
              <a:tblPr firstRow="1" bandRow="1">
                <a:tableStyleId>{5C22544A-7EE6-4342-B048-85BDC9FD1C3A}</a:tableStyleId>
              </a:tblPr>
              <a:tblGrid>
                <a:gridCol w="2104755">
                  <a:extLst>
                    <a:ext uri="{9D8B030D-6E8A-4147-A177-3AD203B41FA5}">
                      <a16:colId xmlns:a16="http://schemas.microsoft.com/office/drawing/2014/main" val="601119254"/>
                    </a:ext>
                  </a:extLst>
                </a:gridCol>
              </a:tblGrid>
              <a:tr h="288032">
                <a:tc>
                  <a:txBody>
                    <a:bodyPr/>
                    <a:lstStyle/>
                    <a:p>
                      <a:pPr algn="ctr" eaLnBrk="0" fontAlgn="ctr" hangingPunct="0"/>
                      <a:r>
                        <a:rPr lang="en-US" altLang="zh-CN" sz="1200" b="0" baseline="0" dirty="0">
                          <a:latin typeface="Times New Roman" panose="02020603050405020304" pitchFamily="18" charset="0"/>
                          <a:cs typeface="Times New Roman" panose="02020603050405020304" pitchFamily="18" charset="0"/>
                        </a:rPr>
                        <a:t>&lt;&lt;&lt;16</a:t>
                      </a:r>
                      <a:endParaRPr lang="zh-CN" altLang="en-US" sz="1200" b="0" baseline="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73769144"/>
                  </a:ext>
                </a:extLst>
              </a:tr>
            </a:tbl>
          </a:graphicData>
        </a:graphic>
      </p:graphicFrame>
      <p:sp>
        <p:nvSpPr>
          <p:cNvPr id="21" name="矩形 20">
            <a:extLst>
              <a:ext uri="{FF2B5EF4-FFF2-40B4-BE49-F238E27FC236}">
                <a16:creationId xmlns:a16="http://schemas.microsoft.com/office/drawing/2014/main" id="{29E363F6-0CEF-486D-B924-18C397C234F5}"/>
              </a:ext>
            </a:extLst>
          </p:cNvPr>
          <p:cNvSpPr/>
          <p:nvPr/>
        </p:nvSpPr>
        <p:spPr>
          <a:xfrm>
            <a:off x="4308069" y="4527091"/>
            <a:ext cx="57905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S</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200" b="1" baseline="-25000" dirty="0">
                <a:latin typeface="Times New Roman" panose="02020603050405020304" pitchFamily="18" charset="0"/>
                <a:cs typeface="Times New Roman" panose="02020603050405020304" pitchFamily="18" charset="0"/>
              </a:rPr>
              <a:t>1</a:t>
            </a:r>
            <a:endParaRPr lang="zh-CN" altLang="en-US" sz="1200" b="1" baseline="-25000" dirty="0">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9CEFF622-4F36-4B14-B854-D5ACC4B40F2C}"/>
              </a:ext>
            </a:extLst>
          </p:cNvPr>
          <p:cNvSpPr/>
          <p:nvPr/>
        </p:nvSpPr>
        <p:spPr>
          <a:xfrm>
            <a:off x="5831998" y="4527091"/>
            <a:ext cx="57905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latin typeface="Times New Roman" panose="02020603050405020304" pitchFamily="18" charset="0"/>
                <a:cs typeface="Times New Roman" panose="02020603050405020304" pitchFamily="18" charset="0"/>
              </a:rPr>
              <a:t>S</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rPr>
              <a:t>L</a:t>
            </a:r>
            <a:r>
              <a:rPr lang="en-US" altLang="zh-CN" sz="1200" b="1" baseline="-25000" dirty="0">
                <a:latin typeface="Times New Roman" panose="02020603050405020304" pitchFamily="18" charset="0"/>
                <a:cs typeface="Times New Roman" panose="02020603050405020304" pitchFamily="18" charset="0"/>
              </a:rPr>
              <a:t>2</a:t>
            </a:r>
            <a:endParaRPr lang="zh-CN" altLang="en-US" sz="1200" b="1" baseline="-25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73D54949-AE7D-4472-AD29-4CAB61D36423}"/>
                  </a:ext>
                </a:extLst>
              </p:cNvPr>
              <p:cNvSpPr/>
              <p:nvPr/>
            </p:nvSpPr>
            <p:spPr>
              <a:xfrm>
                <a:off x="5625490" y="216159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oMath>
                </a14:m>
                <a:r>
                  <a:rPr lang="en-US" altLang="zh-CN" sz="1600" baseline="-25000" dirty="0">
                    <a:solidFill>
                      <a:schemeClr val="tx2"/>
                    </a:solidFill>
                    <a:latin typeface="华文楷体" panose="02010600040101010101" pitchFamily="2" charset="-122"/>
                    <a:ea typeface="华文楷体" panose="02010600040101010101" pitchFamily="2" charset="-122"/>
                  </a:rPr>
                  <a:t>1</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3" name="矩形 22">
                <a:extLst>
                  <a:ext uri="{FF2B5EF4-FFF2-40B4-BE49-F238E27FC236}">
                    <a16:creationId xmlns:a16="http://schemas.microsoft.com/office/drawing/2014/main" id="{73D54949-AE7D-4472-AD29-4CAB61D36423}"/>
                  </a:ext>
                </a:extLst>
              </p:cNvPr>
              <p:cNvSpPr>
                <a:spLocks noRot="1" noChangeAspect="1" noMove="1" noResize="1" noEditPoints="1" noAdjustHandles="1" noChangeArrowheads="1" noChangeShapeType="1" noTextEdit="1"/>
              </p:cNvSpPr>
              <p:nvPr/>
            </p:nvSpPr>
            <p:spPr>
              <a:xfrm>
                <a:off x="5625490" y="2161599"/>
                <a:ext cx="432048" cy="216024"/>
              </a:xfrm>
              <a:prstGeom prst="rect">
                <a:avLst/>
              </a:prstGeom>
              <a:blipFill>
                <a:blip r:embed="rId3"/>
                <a:stretch>
                  <a:fillRect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2BA9C5C8-A91F-44FF-BD49-7DE940EBC574}"/>
                  </a:ext>
                </a:extLst>
              </p:cNvPr>
              <p:cNvSpPr/>
              <p:nvPr/>
            </p:nvSpPr>
            <p:spPr>
              <a:xfrm>
                <a:off x="4749506" y="218349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oMath>
                </a14:m>
                <a:r>
                  <a:rPr lang="en-US" altLang="zh-CN" sz="1600" baseline="-25000" dirty="0">
                    <a:solidFill>
                      <a:schemeClr val="tx2"/>
                    </a:solidFill>
                    <a:latin typeface="华文楷体" panose="02010600040101010101" pitchFamily="2" charset="-122"/>
                    <a:ea typeface="华文楷体" panose="02010600040101010101" pitchFamily="2" charset="-122"/>
                  </a:rPr>
                  <a:t>0</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4" name="矩形 23">
                <a:extLst>
                  <a:ext uri="{FF2B5EF4-FFF2-40B4-BE49-F238E27FC236}">
                    <a16:creationId xmlns:a16="http://schemas.microsoft.com/office/drawing/2014/main" id="{2BA9C5C8-A91F-44FF-BD49-7DE940EBC574}"/>
                  </a:ext>
                </a:extLst>
              </p:cNvPr>
              <p:cNvSpPr>
                <a:spLocks noRot="1" noChangeAspect="1" noMove="1" noResize="1" noEditPoints="1" noAdjustHandles="1" noChangeArrowheads="1" noChangeShapeType="1" noTextEdit="1"/>
              </p:cNvSpPr>
              <p:nvPr/>
            </p:nvSpPr>
            <p:spPr>
              <a:xfrm>
                <a:off x="4749506" y="2183495"/>
                <a:ext cx="432048" cy="216024"/>
              </a:xfrm>
              <a:prstGeom prst="rect">
                <a:avLst/>
              </a:prstGeom>
              <a:blipFill>
                <a:blip r:embed="rId4"/>
                <a:stretch>
                  <a:fillRect b="-5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9E9979B1-D71B-4526-B79B-5F95E6E26C6F}"/>
                  </a:ext>
                </a:extLst>
              </p:cNvPr>
              <p:cNvSpPr/>
              <p:nvPr/>
            </p:nvSpPr>
            <p:spPr>
              <a:xfrm>
                <a:off x="6945955" y="2180747"/>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oMath>
                </a14:m>
                <a:r>
                  <a:rPr lang="en-US" altLang="zh-CN" sz="1600" baseline="-25000" dirty="0">
                    <a:solidFill>
                      <a:schemeClr val="tx2"/>
                    </a:solidFill>
                    <a:latin typeface="华文楷体" panose="02010600040101010101" pitchFamily="2" charset="-122"/>
                    <a:ea typeface="华文楷体" panose="02010600040101010101" pitchFamily="2" charset="-122"/>
                  </a:rPr>
                  <a:t>2</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5" name="矩形 24">
                <a:extLst>
                  <a:ext uri="{FF2B5EF4-FFF2-40B4-BE49-F238E27FC236}">
                    <a16:creationId xmlns:a16="http://schemas.microsoft.com/office/drawing/2014/main" id="{9E9979B1-D71B-4526-B79B-5F95E6E26C6F}"/>
                  </a:ext>
                </a:extLst>
              </p:cNvPr>
              <p:cNvSpPr>
                <a:spLocks noRot="1" noChangeAspect="1" noMove="1" noResize="1" noEditPoints="1" noAdjustHandles="1" noChangeArrowheads="1" noChangeShapeType="1" noTextEdit="1"/>
              </p:cNvSpPr>
              <p:nvPr/>
            </p:nvSpPr>
            <p:spPr>
              <a:xfrm>
                <a:off x="6945955" y="2180747"/>
                <a:ext cx="432048" cy="216024"/>
              </a:xfrm>
              <a:prstGeom prst="rect">
                <a:avLst/>
              </a:prstGeom>
              <a:blipFill>
                <a:blip r:embed="rId5"/>
                <a:stretch>
                  <a:fillRect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E904C08-B133-4745-9F61-E45842F74D2C}"/>
                  </a:ext>
                </a:extLst>
              </p:cNvPr>
              <p:cNvSpPr/>
              <p:nvPr/>
            </p:nvSpPr>
            <p:spPr>
              <a:xfrm>
                <a:off x="8061874" y="2161599"/>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 xmlns:m="http://schemas.openxmlformats.org/officeDocument/2006/math">
                    <m:r>
                      <a:rPr lang="en-US" altLang="zh-CN" sz="1600" i="1" dirty="0" smtClean="0">
                        <a:solidFill>
                          <a:schemeClr val="tx2"/>
                        </a:solidFill>
                        <a:latin typeface="Cambria Math" panose="02040503050406030204" pitchFamily="18" charset="0"/>
                        <a:ea typeface="华文楷体" panose="02010600040101010101" pitchFamily="2" charset="-122"/>
                      </a:rPr>
                      <m:t>𝑥</m:t>
                    </m:r>
                  </m:oMath>
                </a14:m>
                <a:r>
                  <a:rPr lang="en-US" altLang="zh-CN" sz="1600" baseline="-25000" dirty="0">
                    <a:solidFill>
                      <a:schemeClr val="tx2"/>
                    </a:solidFill>
                    <a:latin typeface="华文楷体" panose="02010600040101010101" pitchFamily="2" charset="-122"/>
                    <a:ea typeface="华文楷体" panose="02010600040101010101" pitchFamily="2" charset="-122"/>
                  </a:rPr>
                  <a:t>3</a:t>
                </a:r>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6" name="矩形 25">
                <a:extLst>
                  <a:ext uri="{FF2B5EF4-FFF2-40B4-BE49-F238E27FC236}">
                    <a16:creationId xmlns:a16="http://schemas.microsoft.com/office/drawing/2014/main" id="{BE904C08-B133-4745-9F61-E45842F74D2C}"/>
                  </a:ext>
                </a:extLst>
              </p:cNvPr>
              <p:cNvSpPr>
                <a:spLocks noRot="1" noChangeAspect="1" noMove="1" noResize="1" noEditPoints="1" noAdjustHandles="1" noChangeArrowheads="1" noChangeShapeType="1" noTextEdit="1"/>
              </p:cNvSpPr>
              <p:nvPr/>
            </p:nvSpPr>
            <p:spPr>
              <a:xfrm>
                <a:off x="8061874" y="2161599"/>
                <a:ext cx="432048" cy="216024"/>
              </a:xfrm>
              <a:prstGeom prst="rect">
                <a:avLst/>
              </a:prstGeom>
              <a:blipFill>
                <a:blip r:embed="rId6"/>
                <a:stretch>
                  <a:fillRect b="-6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A8BED2A-6FAF-4F8F-848D-9A954D6DDB68}"/>
                  </a:ext>
                </a:extLst>
              </p:cNvPr>
              <p:cNvSpPr/>
              <p:nvPr/>
            </p:nvSpPr>
            <p:spPr>
              <a:xfrm>
                <a:off x="7111100" y="2530706"/>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𝑤</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7" name="矩形 26">
                <a:extLst>
                  <a:ext uri="{FF2B5EF4-FFF2-40B4-BE49-F238E27FC236}">
                    <a16:creationId xmlns:a16="http://schemas.microsoft.com/office/drawing/2014/main" id="{5A8BED2A-6FAF-4F8F-848D-9A954D6DDB68}"/>
                  </a:ext>
                </a:extLst>
              </p:cNvPr>
              <p:cNvSpPr>
                <a:spLocks noRot="1" noChangeAspect="1" noMove="1" noResize="1" noEditPoints="1" noAdjustHandles="1" noChangeArrowheads="1" noChangeShapeType="1" noTextEdit="1"/>
              </p:cNvSpPr>
              <p:nvPr/>
            </p:nvSpPr>
            <p:spPr>
              <a:xfrm>
                <a:off x="7111100" y="2530706"/>
                <a:ext cx="432048" cy="216024"/>
              </a:xfrm>
              <a:prstGeom prst="rect">
                <a:avLst/>
              </a:prstGeom>
              <a:blipFill>
                <a:blip r:embed="rId7"/>
                <a:stretch>
                  <a:fillRect b="-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06DC892B-BBFA-4B5D-A597-8F5E4F2A841C}"/>
                  </a:ext>
                </a:extLst>
              </p:cNvPr>
              <p:cNvSpPr/>
              <p:nvPr/>
            </p:nvSpPr>
            <p:spPr>
              <a:xfrm>
                <a:off x="8272562" y="2549854"/>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𝑧</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8" name="矩形 27">
                <a:extLst>
                  <a:ext uri="{FF2B5EF4-FFF2-40B4-BE49-F238E27FC236}">
                    <a16:creationId xmlns:a16="http://schemas.microsoft.com/office/drawing/2014/main" id="{06DC892B-BBFA-4B5D-A597-8F5E4F2A841C}"/>
                  </a:ext>
                </a:extLst>
              </p:cNvPr>
              <p:cNvSpPr>
                <a:spLocks noRot="1" noChangeAspect="1" noMove="1" noResize="1" noEditPoints="1" noAdjustHandles="1" noChangeArrowheads="1" noChangeShapeType="1" noTextEdit="1"/>
              </p:cNvSpPr>
              <p:nvPr/>
            </p:nvSpPr>
            <p:spPr>
              <a:xfrm>
                <a:off x="8272562" y="2549854"/>
                <a:ext cx="432048" cy="216024"/>
              </a:xfrm>
              <a:prstGeom prst="rect">
                <a:avLst/>
              </a:prstGeom>
              <a:blipFill>
                <a:blip r:embed="rId8"/>
                <a:stretch>
                  <a:fillRect b="-8333"/>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11918125-A314-4833-83BC-4D888BA39308}"/>
                  </a:ext>
                </a:extLst>
              </p:cNvPr>
              <p:cNvSpPr/>
              <p:nvPr/>
            </p:nvSpPr>
            <p:spPr>
              <a:xfrm>
                <a:off x="4561704" y="380011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𝑤</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1</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29" name="矩形 28">
                <a:extLst>
                  <a:ext uri="{FF2B5EF4-FFF2-40B4-BE49-F238E27FC236}">
                    <a16:creationId xmlns:a16="http://schemas.microsoft.com/office/drawing/2014/main" id="{11918125-A314-4833-83BC-4D888BA39308}"/>
                  </a:ext>
                </a:extLst>
              </p:cNvPr>
              <p:cNvSpPr>
                <a:spLocks noRot="1" noChangeAspect="1" noMove="1" noResize="1" noEditPoints="1" noAdjustHandles="1" noChangeArrowheads="1" noChangeShapeType="1" noTextEdit="1"/>
              </p:cNvSpPr>
              <p:nvPr/>
            </p:nvSpPr>
            <p:spPr>
              <a:xfrm>
                <a:off x="4561704" y="3800111"/>
                <a:ext cx="432048" cy="216024"/>
              </a:xfrm>
              <a:prstGeom prst="rect">
                <a:avLst/>
              </a:prstGeom>
              <a:blipFill>
                <a:blip r:embed="rId9"/>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0BC3A0FD-BCE4-4657-8D47-C09D5DF963B0}"/>
                  </a:ext>
                </a:extLst>
              </p:cNvPr>
              <p:cNvSpPr/>
              <p:nvPr/>
            </p:nvSpPr>
            <p:spPr>
              <a:xfrm>
                <a:off x="6189871" y="3800111"/>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2"/>
                          </a:solidFill>
                          <a:latin typeface="Cambria Math" panose="02040503050406030204" pitchFamily="18" charset="0"/>
                          <a:ea typeface="华文楷体" panose="02010600040101010101" pitchFamily="2" charset="-122"/>
                        </a:rPr>
                        <m:t>𝑤</m:t>
                      </m:r>
                      <m:r>
                        <a:rPr lang="en-US" altLang="zh-CN" sz="1600" b="0" i="1" baseline="-25000" dirty="0" smtClean="0">
                          <a:solidFill>
                            <a:schemeClr val="tx2"/>
                          </a:solidFill>
                          <a:latin typeface="Cambria Math" panose="02040503050406030204" pitchFamily="18" charset="0"/>
                          <a:ea typeface="华文楷体" panose="02010600040101010101" pitchFamily="2" charset="-122"/>
                        </a:rPr>
                        <m:t>2</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0" name="矩形 29">
                <a:extLst>
                  <a:ext uri="{FF2B5EF4-FFF2-40B4-BE49-F238E27FC236}">
                    <a16:creationId xmlns:a16="http://schemas.microsoft.com/office/drawing/2014/main" id="{0BC3A0FD-BCE4-4657-8D47-C09D5DF963B0}"/>
                  </a:ext>
                </a:extLst>
              </p:cNvPr>
              <p:cNvSpPr>
                <a:spLocks noRot="1" noChangeAspect="1" noMove="1" noResize="1" noEditPoints="1" noAdjustHandles="1" noChangeArrowheads="1" noChangeShapeType="1" noTextEdit="1"/>
              </p:cNvSpPr>
              <p:nvPr/>
            </p:nvSpPr>
            <p:spPr>
              <a:xfrm>
                <a:off x="6189871" y="3800111"/>
                <a:ext cx="432048" cy="216024"/>
              </a:xfrm>
              <a:prstGeom prst="rect">
                <a:avLst/>
              </a:prstGeom>
              <a:blipFill>
                <a:blip r:embed="rId10"/>
                <a:stretch>
                  <a:fillRect b="-27778"/>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E7623C97-341D-43AB-9946-381CC2BA295F}"/>
                  </a:ext>
                </a:extLst>
              </p:cNvPr>
              <p:cNvSpPr/>
              <p:nvPr/>
            </p:nvSpPr>
            <p:spPr>
              <a:xfrm>
                <a:off x="7065215" y="481512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1" i="0" dirty="0" smtClean="0">
                          <a:solidFill>
                            <a:schemeClr val="tx1"/>
                          </a:solidFill>
                          <a:latin typeface="Cambria Math" panose="02040503050406030204" pitchFamily="18" charset="0"/>
                          <a:ea typeface="华文楷体" panose="02010600040101010101" pitchFamily="2" charset="-122"/>
                        </a:rPr>
                        <m:t>𝐅</m:t>
                      </m:r>
                    </m:oMath>
                  </m:oMathPara>
                </a14:m>
                <a:endParaRPr lang="zh-CN" altLang="en-US" sz="1600" b="1" baseline="-25000" dirty="0">
                  <a:solidFill>
                    <a:schemeClr val="tx1"/>
                  </a:solidFill>
                  <a:latin typeface="华文楷体" panose="02010600040101010101" pitchFamily="2" charset="-122"/>
                  <a:ea typeface="华文楷体" panose="02010600040101010101" pitchFamily="2" charset="-122"/>
                </a:endParaRPr>
              </a:p>
            </p:txBody>
          </p:sp>
        </mc:Choice>
        <mc:Fallback xmlns="">
          <p:sp>
            <p:nvSpPr>
              <p:cNvPr id="31" name="矩形 30">
                <a:extLst>
                  <a:ext uri="{FF2B5EF4-FFF2-40B4-BE49-F238E27FC236}">
                    <a16:creationId xmlns:a16="http://schemas.microsoft.com/office/drawing/2014/main" id="{E7623C97-341D-43AB-9946-381CC2BA295F}"/>
                  </a:ext>
                </a:extLst>
              </p:cNvPr>
              <p:cNvSpPr>
                <a:spLocks noRot="1" noChangeAspect="1" noMove="1" noResize="1" noEditPoints="1" noAdjustHandles="1" noChangeArrowheads="1" noChangeShapeType="1" noTextEdit="1"/>
              </p:cNvSpPr>
              <p:nvPr/>
            </p:nvSpPr>
            <p:spPr>
              <a:xfrm>
                <a:off x="7065215" y="4815123"/>
                <a:ext cx="432048" cy="216024"/>
              </a:xfrm>
              <a:prstGeom prst="rect">
                <a:avLst/>
              </a:prstGeom>
              <a:blipFill>
                <a:blip r:embed="rId11"/>
                <a:stretch>
                  <a:fillRect b="-20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67068EE4-DDBC-4D21-878F-8C065991F883}"/>
                  </a:ext>
                </a:extLst>
              </p:cNvPr>
              <p:cNvSpPr/>
              <p:nvPr/>
            </p:nvSpPr>
            <p:spPr>
              <a:xfrm>
                <a:off x="8380419" y="105982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𝐋</m:t>
                      </m:r>
                    </m:oMath>
                  </m:oMathPara>
                </a14:m>
                <a:endParaRPr lang="en-US" altLang="zh-CN" sz="1600" b="1" i="0" dirty="0">
                  <a:solidFill>
                    <a:schemeClr val="tx1"/>
                  </a:solidFill>
                  <a:latin typeface="Cambria Math" panose="02040503050406030204" pitchFamily="18" charset="0"/>
                  <a:ea typeface="华文楷体" panose="02010600040101010101" pitchFamily="2" charset="-122"/>
                </a:endParaRPr>
              </a:p>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𝐅</m:t>
                      </m:r>
                    </m:oMath>
                  </m:oMathPara>
                </a14:m>
                <a:endParaRPr lang="en-US" altLang="zh-CN" sz="1600" b="1" i="0" dirty="0">
                  <a:solidFill>
                    <a:schemeClr val="tx1"/>
                  </a:solidFill>
                  <a:latin typeface="Cambria Math" panose="02040503050406030204" pitchFamily="18" charset="0"/>
                  <a:ea typeface="华文楷体" panose="02010600040101010101" pitchFamily="2" charset="-122"/>
                </a:endParaRPr>
              </a:p>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𝐒</m:t>
                      </m:r>
                    </m:oMath>
                  </m:oMathPara>
                </a14:m>
                <a:endParaRPr lang="en-US" altLang="zh-CN" sz="1600" b="1" i="0" dirty="0">
                  <a:solidFill>
                    <a:schemeClr val="tx1"/>
                  </a:solidFill>
                  <a:latin typeface="Cambria Math" panose="02040503050406030204" pitchFamily="18" charset="0"/>
                  <a:ea typeface="华文楷体" panose="02010600040101010101" pitchFamily="2" charset="-122"/>
                </a:endParaRPr>
              </a:p>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𝐑</m:t>
                      </m:r>
                    </m:oMath>
                  </m:oMathPara>
                </a14:m>
                <a:endParaRPr lang="zh-CN" altLang="en-US" sz="1600" b="1" dirty="0">
                  <a:solidFill>
                    <a:schemeClr val="tx2"/>
                  </a:solidFill>
                  <a:latin typeface="华文楷体" panose="02010600040101010101" pitchFamily="2" charset="-122"/>
                  <a:ea typeface="华文楷体" panose="02010600040101010101" pitchFamily="2" charset="-122"/>
                </a:endParaRPr>
              </a:p>
            </p:txBody>
          </p:sp>
        </mc:Choice>
        <mc:Fallback xmlns="">
          <p:sp>
            <p:nvSpPr>
              <p:cNvPr id="32" name="矩形 31">
                <a:extLst>
                  <a:ext uri="{FF2B5EF4-FFF2-40B4-BE49-F238E27FC236}">
                    <a16:creationId xmlns:a16="http://schemas.microsoft.com/office/drawing/2014/main" id="{67068EE4-DDBC-4D21-878F-8C065991F883}"/>
                  </a:ext>
                </a:extLst>
              </p:cNvPr>
              <p:cNvSpPr>
                <a:spLocks noRot="1" noChangeAspect="1" noMove="1" noResize="1" noEditPoints="1" noAdjustHandles="1" noChangeArrowheads="1" noChangeShapeType="1" noTextEdit="1"/>
              </p:cNvSpPr>
              <p:nvPr/>
            </p:nvSpPr>
            <p:spPr>
              <a:xfrm>
                <a:off x="8380419" y="1059825"/>
                <a:ext cx="432048" cy="216024"/>
              </a:xfrm>
              <a:prstGeom prst="rect">
                <a:avLst/>
              </a:prstGeom>
              <a:blipFill>
                <a:blip r:embed="rId12"/>
                <a:stretch>
                  <a:fillRect t="-165714" b="-185714"/>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7189621B-7882-4550-A982-39F617E096D0}"/>
                  </a:ext>
                </a:extLst>
              </p:cNvPr>
              <p:cNvSpPr/>
              <p:nvPr/>
            </p:nvSpPr>
            <p:spPr>
              <a:xfrm>
                <a:off x="8367983" y="2086905"/>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𝐁</m:t>
                      </m:r>
                    </m:oMath>
                  </m:oMathPara>
                </a14:m>
                <a:endParaRPr lang="en-US" altLang="zh-CN" sz="1600" b="1" i="0" dirty="0">
                  <a:solidFill>
                    <a:schemeClr val="tx1"/>
                  </a:solidFill>
                  <a:latin typeface="Cambria Math" panose="02040503050406030204" pitchFamily="18" charset="0"/>
                  <a:ea typeface="华文楷体" panose="02010600040101010101" pitchFamily="2" charset="-122"/>
                </a:endParaRPr>
              </a:p>
              <a:p>
                <a:pPr algn="ctr"/>
                <a14:m>
                  <m:oMathPara xmlns:m="http://schemas.openxmlformats.org/officeDocument/2006/math">
                    <m:oMathParaPr>
                      <m:jc m:val="centerGroup"/>
                    </m:oMathParaPr>
                    <m:oMath xmlns:m="http://schemas.openxmlformats.org/officeDocument/2006/math">
                      <m:r>
                        <a:rPr lang="en-US" altLang="zh-CN" sz="1600" b="1" i="0" smtClean="0">
                          <a:solidFill>
                            <a:schemeClr val="tx1"/>
                          </a:solidFill>
                          <a:latin typeface="Cambria Math" panose="02040503050406030204" pitchFamily="18" charset="0"/>
                          <a:ea typeface="华文楷体" panose="02010600040101010101" pitchFamily="2" charset="-122"/>
                        </a:rPr>
                        <m:t>𝐑</m:t>
                      </m:r>
                    </m:oMath>
                  </m:oMathPara>
                </a14:m>
                <a:endParaRPr lang="zh-CN" altLang="en-US" sz="1600" b="1" dirty="0">
                  <a:solidFill>
                    <a:schemeClr val="tx2"/>
                  </a:solidFill>
                  <a:latin typeface="华文楷体" panose="02010600040101010101" pitchFamily="2" charset="-122"/>
                  <a:ea typeface="华文楷体" panose="02010600040101010101" pitchFamily="2" charset="-122"/>
                </a:endParaRPr>
              </a:p>
            </p:txBody>
          </p:sp>
        </mc:Choice>
        <mc:Fallback xmlns="">
          <p:sp>
            <p:nvSpPr>
              <p:cNvPr id="33" name="矩形 32">
                <a:extLst>
                  <a:ext uri="{FF2B5EF4-FFF2-40B4-BE49-F238E27FC236}">
                    <a16:creationId xmlns:a16="http://schemas.microsoft.com/office/drawing/2014/main" id="{7189621B-7882-4550-A982-39F617E096D0}"/>
                  </a:ext>
                </a:extLst>
              </p:cNvPr>
              <p:cNvSpPr>
                <a:spLocks noRot="1" noChangeAspect="1" noMove="1" noResize="1" noEditPoints="1" noAdjustHandles="1" noChangeArrowheads="1" noChangeShapeType="1" noTextEdit="1"/>
              </p:cNvSpPr>
              <p:nvPr/>
            </p:nvSpPr>
            <p:spPr>
              <a:xfrm>
                <a:off x="8367983" y="2086905"/>
                <a:ext cx="432048" cy="216024"/>
              </a:xfrm>
              <a:prstGeom prst="rect">
                <a:avLst/>
              </a:prstGeom>
              <a:blipFill>
                <a:blip r:embed="rId13"/>
                <a:stretch>
                  <a:fillRect t="-50000" b="-69444"/>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E5FD5F2E-AB9C-4157-94CB-8B7A71246C1F}"/>
                  </a:ext>
                </a:extLst>
              </p:cNvPr>
              <p:cNvSpPr/>
              <p:nvPr/>
            </p:nvSpPr>
            <p:spPr>
              <a:xfrm>
                <a:off x="4388598" y="263597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4" name="矩形 33">
                <a:extLst>
                  <a:ext uri="{FF2B5EF4-FFF2-40B4-BE49-F238E27FC236}">
                    <a16:creationId xmlns:a16="http://schemas.microsoft.com/office/drawing/2014/main" id="{E5FD5F2E-AB9C-4157-94CB-8B7A71246C1F}"/>
                  </a:ext>
                </a:extLst>
              </p:cNvPr>
              <p:cNvSpPr>
                <a:spLocks noRot="1" noChangeAspect="1" noMove="1" noResize="1" noEditPoints="1" noAdjustHandles="1" noChangeArrowheads="1" noChangeShapeType="1" noTextEdit="1"/>
              </p:cNvSpPr>
              <p:nvPr/>
            </p:nvSpPr>
            <p:spPr>
              <a:xfrm>
                <a:off x="4388598" y="2635970"/>
                <a:ext cx="432048" cy="216024"/>
              </a:xfrm>
              <a:prstGeom prst="rect">
                <a:avLst/>
              </a:prstGeom>
              <a:blipFill>
                <a:blip r:embed="rId14"/>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459086E7-F1F5-46F8-B633-0033A8C54E62}"/>
                  </a:ext>
                </a:extLst>
              </p:cNvPr>
              <p:cNvSpPr/>
              <p:nvPr/>
            </p:nvSpPr>
            <p:spPr>
              <a:xfrm>
                <a:off x="5982269" y="357994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5" name="矩形 34">
                <a:extLst>
                  <a:ext uri="{FF2B5EF4-FFF2-40B4-BE49-F238E27FC236}">
                    <a16:creationId xmlns:a16="http://schemas.microsoft.com/office/drawing/2014/main" id="{459086E7-F1F5-46F8-B633-0033A8C54E62}"/>
                  </a:ext>
                </a:extLst>
              </p:cNvPr>
              <p:cNvSpPr>
                <a:spLocks noRot="1" noChangeAspect="1" noMove="1" noResize="1" noEditPoints="1" noAdjustHandles="1" noChangeArrowheads="1" noChangeShapeType="1" noTextEdit="1"/>
              </p:cNvSpPr>
              <p:nvPr/>
            </p:nvSpPr>
            <p:spPr>
              <a:xfrm>
                <a:off x="5982269" y="3579940"/>
                <a:ext cx="432048" cy="216024"/>
              </a:xfrm>
              <a:prstGeom prst="rect">
                <a:avLst/>
              </a:prstGeom>
              <a:blipFill>
                <a:blip r:embed="rId15"/>
                <a:stretch>
                  <a:fillRect b="-2500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C2C4FDAD-DA4B-4FFF-9863-9B34581165B5}"/>
                  </a:ext>
                </a:extLst>
              </p:cNvPr>
              <p:cNvSpPr/>
              <p:nvPr/>
            </p:nvSpPr>
            <p:spPr>
              <a:xfrm>
                <a:off x="7687164" y="264597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6" name="矩形 35">
                <a:extLst>
                  <a:ext uri="{FF2B5EF4-FFF2-40B4-BE49-F238E27FC236}">
                    <a16:creationId xmlns:a16="http://schemas.microsoft.com/office/drawing/2014/main" id="{C2C4FDAD-DA4B-4FFF-9863-9B34581165B5}"/>
                  </a:ext>
                </a:extLst>
              </p:cNvPr>
              <p:cNvSpPr>
                <a:spLocks noRot="1" noChangeAspect="1" noMove="1" noResize="1" noEditPoints="1" noAdjustHandles="1" noChangeArrowheads="1" noChangeShapeType="1" noTextEdit="1"/>
              </p:cNvSpPr>
              <p:nvPr/>
            </p:nvSpPr>
            <p:spPr>
              <a:xfrm>
                <a:off x="7687164" y="2645970"/>
                <a:ext cx="432048" cy="216024"/>
              </a:xfrm>
              <a:prstGeom prst="rect">
                <a:avLst/>
              </a:prstGeom>
              <a:blipFill>
                <a:blip r:embed="rId16"/>
                <a:stretch>
                  <a:fillRect t="-2857" b="-2857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3A208A01-D71C-4C34-ACD8-66E21548752D}"/>
                  </a:ext>
                </a:extLst>
              </p:cNvPr>
              <p:cNvSpPr/>
              <p:nvPr/>
            </p:nvSpPr>
            <p:spPr>
              <a:xfrm>
                <a:off x="5973847" y="2645970"/>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7" name="矩形 36">
                <a:extLst>
                  <a:ext uri="{FF2B5EF4-FFF2-40B4-BE49-F238E27FC236}">
                    <a16:creationId xmlns:a16="http://schemas.microsoft.com/office/drawing/2014/main" id="{3A208A01-D71C-4C34-ACD8-66E21548752D}"/>
                  </a:ext>
                </a:extLst>
              </p:cNvPr>
              <p:cNvSpPr>
                <a:spLocks noRot="1" noChangeAspect="1" noMove="1" noResize="1" noEditPoints="1" noAdjustHandles="1" noChangeArrowheads="1" noChangeShapeType="1" noTextEdit="1"/>
              </p:cNvSpPr>
              <p:nvPr/>
            </p:nvSpPr>
            <p:spPr>
              <a:xfrm>
                <a:off x="5973847" y="2645970"/>
                <a:ext cx="432048" cy="216024"/>
              </a:xfrm>
              <a:prstGeom prst="rect">
                <a:avLst/>
              </a:prstGeom>
              <a:blipFill>
                <a:blip r:embed="rId17"/>
                <a:stretch>
                  <a:fillRect t="-5714" b="-31429"/>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5F7B726C-A49C-42AC-B70C-4E49136A0ADE}"/>
                  </a:ext>
                </a:extLst>
              </p:cNvPr>
              <p:cNvSpPr/>
              <p:nvPr/>
            </p:nvSpPr>
            <p:spPr>
              <a:xfrm>
                <a:off x="4371206" y="3572283"/>
                <a:ext cx="432048" cy="2160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Group"/>
                    </m:oMathParaPr>
                    <m:oMath xmlns:m="http://schemas.openxmlformats.org/officeDocument/2006/math">
                      <m:r>
                        <a:rPr lang="en-US" altLang="zh-CN" sz="2800" b="0" i="1" dirty="0" smtClean="0">
                          <a:solidFill>
                            <a:schemeClr val="tx2"/>
                          </a:solidFill>
                          <a:latin typeface="Cambria Math" panose="02040503050406030204" pitchFamily="18" charset="0"/>
                          <a:ea typeface="Cambria Math" panose="02040503050406030204" pitchFamily="18" charset="0"/>
                        </a:rPr>
                        <m:t>⊞</m:t>
                      </m:r>
                    </m:oMath>
                  </m:oMathPara>
                </a14:m>
                <a:endParaRPr lang="zh-CN" altLang="en-US" sz="1600" baseline="-25000" dirty="0">
                  <a:solidFill>
                    <a:schemeClr val="tx2"/>
                  </a:solidFill>
                  <a:latin typeface="华文楷体" panose="02010600040101010101" pitchFamily="2" charset="-122"/>
                  <a:ea typeface="华文楷体" panose="02010600040101010101" pitchFamily="2" charset="-122"/>
                </a:endParaRPr>
              </a:p>
            </p:txBody>
          </p:sp>
        </mc:Choice>
        <mc:Fallback xmlns="">
          <p:sp>
            <p:nvSpPr>
              <p:cNvPr id="38" name="矩形 37">
                <a:extLst>
                  <a:ext uri="{FF2B5EF4-FFF2-40B4-BE49-F238E27FC236}">
                    <a16:creationId xmlns:a16="http://schemas.microsoft.com/office/drawing/2014/main" id="{5F7B726C-A49C-42AC-B70C-4E49136A0ADE}"/>
                  </a:ext>
                </a:extLst>
              </p:cNvPr>
              <p:cNvSpPr>
                <a:spLocks noRot="1" noChangeAspect="1" noMove="1" noResize="1" noEditPoints="1" noAdjustHandles="1" noChangeArrowheads="1" noChangeShapeType="1" noTextEdit="1"/>
              </p:cNvSpPr>
              <p:nvPr/>
            </p:nvSpPr>
            <p:spPr>
              <a:xfrm>
                <a:off x="4371206" y="3572283"/>
                <a:ext cx="432048" cy="216024"/>
              </a:xfrm>
              <a:prstGeom prst="rect">
                <a:avLst/>
              </a:prstGeom>
              <a:blipFill>
                <a:blip r:embed="rId18"/>
                <a:stretch>
                  <a:fillRect t="-5714" b="-31429"/>
                </a:stretch>
              </a:blipFill>
              <a:ln>
                <a:noFill/>
              </a:ln>
            </p:spPr>
            <p:txBody>
              <a:bodyPr/>
              <a:lstStyle/>
              <a:p>
                <a:r>
                  <a:rPr lang="zh-CN" altLang="en-US">
                    <a:noFill/>
                  </a:rPr>
                  <a:t> </a:t>
                </a:r>
              </a:p>
            </p:txBody>
          </p:sp>
        </mc:Fallback>
      </mc:AlternateContent>
      <p:cxnSp>
        <p:nvCxnSpPr>
          <p:cNvPr id="42" name="直接箭头连接符 41">
            <a:extLst>
              <a:ext uri="{FF2B5EF4-FFF2-40B4-BE49-F238E27FC236}">
                <a16:creationId xmlns:a16="http://schemas.microsoft.com/office/drawing/2014/main" id="{89CD109F-055B-4053-B47E-801B78EE6ED9}"/>
              </a:ext>
            </a:extLst>
          </p:cNvPr>
          <p:cNvCxnSpPr>
            <a:cxnSpLocks/>
          </p:cNvCxnSpPr>
          <p:nvPr/>
        </p:nvCxnSpPr>
        <p:spPr>
          <a:xfrm flipV="1">
            <a:off x="4424996"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a:extLst>
              <a:ext uri="{FF2B5EF4-FFF2-40B4-BE49-F238E27FC236}">
                <a16:creationId xmlns:a16="http://schemas.microsoft.com/office/drawing/2014/main" id="{F2D9A008-161C-4339-BD9A-F3410099AFF0}"/>
              </a:ext>
            </a:extLst>
          </p:cNvPr>
          <p:cNvCxnSpPr>
            <a:cxnSpLocks/>
          </p:cNvCxnSpPr>
          <p:nvPr/>
        </p:nvCxnSpPr>
        <p:spPr>
          <a:xfrm flipV="1">
            <a:off x="4932040"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2968592F-4490-40DC-A282-377879B8C27D}"/>
              </a:ext>
            </a:extLst>
          </p:cNvPr>
          <p:cNvCxnSpPr>
            <a:cxnSpLocks/>
          </p:cNvCxnSpPr>
          <p:nvPr/>
        </p:nvCxnSpPr>
        <p:spPr>
          <a:xfrm flipV="1">
            <a:off x="5665265"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EC747A6E-B240-49E4-8733-AB7068FE3E78}"/>
              </a:ext>
            </a:extLst>
          </p:cNvPr>
          <p:cNvCxnSpPr>
            <a:cxnSpLocks/>
          </p:cNvCxnSpPr>
          <p:nvPr/>
        </p:nvCxnSpPr>
        <p:spPr>
          <a:xfrm flipV="1">
            <a:off x="7161979"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F222ECD2-90E5-4750-B1C6-26948858F177}"/>
              </a:ext>
            </a:extLst>
          </p:cNvPr>
          <p:cNvCxnSpPr>
            <a:cxnSpLocks/>
          </p:cNvCxnSpPr>
          <p:nvPr/>
        </p:nvCxnSpPr>
        <p:spPr>
          <a:xfrm flipV="1">
            <a:off x="8119212" y="897621"/>
            <a:ext cx="0" cy="1841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53DD9BE9-C708-449F-9AAA-9A293BEAADC5}"/>
              </a:ext>
            </a:extLst>
          </p:cNvPr>
          <p:cNvCxnSpPr>
            <a:cxnSpLocks/>
          </p:cNvCxnSpPr>
          <p:nvPr/>
        </p:nvCxnSpPr>
        <p:spPr>
          <a:xfrm flipV="1">
            <a:off x="4424996"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8" name="直接箭头连接符 47">
            <a:extLst>
              <a:ext uri="{FF2B5EF4-FFF2-40B4-BE49-F238E27FC236}">
                <a16:creationId xmlns:a16="http://schemas.microsoft.com/office/drawing/2014/main" id="{D6A5D568-3948-4673-9431-32C18F005C21}"/>
              </a:ext>
            </a:extLst>
          </p:cNvPr>
          <p:cNvCxnSpPr>
            <a:cxnSpLocks/>
          </p:cNvCxnSpPr>
          <p:nvPr/>
        </p:nvCxnSpPr>
        <p:spPr>
          <a:xfrm flipV="1">
            <a:off x="4945185"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9" name="直接箭头连接符 48">
            <a:extLst>
              <a:ext uri="{FF2B5EF4-FFF2-40B4-BE49-F238E27FC236}">
                <a16:creationId xmlns:a16="http://schemas.microsoft.com/office/drawing/2014/main" id="{7E805013-9C0D-4F0B-957E-DBD36E263111}"/>
              </a:ext>
            </a:extLst>
          </p:cNvPr>
          <p:cNvCxnSpPr>
            <a:cxnSpLocks/>
          </p:cNvCxnSpPr>
          <p:nvPr/>
        </p:nvCxnSpPr>
        <p:spPr>
          <a:xfrm flipV="1">
            <a:off x="5665265"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DD5566BB-EABD-452F-8794-CB8140868491}"/>
              </a:ext>
            </a:extLst>
          </p:cNvPr>
          <p:cNvCxnSpPr>
            <a:cxnSpLocks/>
          </p:cNvCxnSpPr>
          <p:nvPr/>
        </p:nvCxnSpPr>
        <p:spPr>
          <a:xfrm flipV="1">
            <a:off x="7161979"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1" name="直接箭头连接符 50">
            <a:extLst>
              <a:ext uri="{FF2B5EF4-FFF2-40B4-BE49-F238E27FC236}">
                <a16:creationId xmlns:a16="http://schemas.microsoft.com/office/drawing/2014/main" id="{2DA2C7F4-97C3-4B55-887A-DD61107B882D}"/>
              </a:ext>
            </a:extLst>
          </p:cNvPr>
          <p:cNvCxnSpPr>
            <a:cxnSpLocks/>
          </p:cNvCxnSpPr>
          <p:nvPr/>
        </p:nvCxnSpPr>
        <p:spPr>
          <a:xfrm flipV="1">
            <a:off x="8119212" y="134761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a:extLst>
              <a:ext uri="{FF2B5EF4-FFF2-40B4-BE49-F238E27FC236}">
                <a16:creationId xmlns:a16="http://schemas.microsoft.com/office/drawing/2014/main" id="{9361BB17-D94D-436E-B18C-122393FA9BDF}"/>
              </a:ext>
            </a:extLst>
          </p:cNvPr>
          <p:cNvCxnSpPr>
            <a:cxnSpLocks/>
          </p:cNvCxnSpPr>
          <p:nvPr/>
        </p:nvCxnSpPr>
        <p:spPr>
          <a:xfrm>
            <a:off x="4368594" y="1877584"/>
            <a:ext cx="97763" cy="23390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a:extLst>
              <a:ext uri="{FF2B5EF4-FFF2-40B4-BE49-F238E27FC236}">
                <a16:creationId xmlns:a16="http://schemas.microsoft.com/office/drawing/2014/main" id="{FF5EDA95-2949-4D82-8EFD-74431007EEB5}"/>
              </a:ext>
            </a:extLst>
          </p:cNvPr>
          <p:cNvCxnSpPr>
            <a:cxnSpLocks/>
          </p:cNvCxnSpPr>
          <p:nvPr/>
        </p:nvCxnSpPr>
        <p:spPr>
          <a:xfrm>
            <a:off x="4730273" y="1865780"/>
            <a:ext cx="0" cy="23390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7" name="直接箭头连接符 56">
            <a:extLst>
              <a:ext uri="{FF2B5EF4-FFF2-40B4-BE49-F238E27FC236}">
                <a16:creationId xmlns:a16="http://schemas.microsoft.com/office/drawing/2014/main" id="{C9B326CD-A21C-4971-9EF9-314C3C50E213}"/>
              </a:ext>
            </a:extLst>
          </p:cNvPr>
          <p:cNvCxnSpPr>
            <a:cxnSpLocks/>
          </p:cNvCxnSpPr>
          <p:nvPr/>
        </p:nvCxnSpPr>
        <p:spPr>
          <a:xfrm flipH="1">
            <a:off x="5358672" y="1877584"/>
            <a:ext cx="108174" cy="23390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9" name="直接箭头连接符 58">
            <a:extLst>
              <a:ext uri="{FF2B5EF4-FFF2-40B4-BE49-F238E27FC236}">
                <a16:creationId xmlns:a16="http://schemas.microsoft.com/office/drawing/2014/main" id="{36265D62-5DB6-4220-8D3D-FF66B3979098}"/>
              </a:ext>
            </a:extLst>
          </p:cNvPr>
          <p:cNvCxnSpPr>
            <a:cxnSpLocks/>
          </p:cNvCxnSpPr>
          <p:nvPr/>
        </p:nvCxnSpPr>
        <p:spPr>
          <a:xfrm flipH="1">
            <a:off x="5610491" y="1889683"/>
            <a:ext cx="187729" cy="22180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1" name="直接箭头连接符 60">
            <a:extLst>
              <a:ext uri="{FF2B5EF4-FFF2-40B4-BE49-F238E27FC236}">
                <a16:creationId xmlns:a16="http://schemas.microsoft.com/office/drawing/2014/main" id="{2C823E58-6A7D-4C07-B9A1-69101B0795F2}"/>
              </a:ext>
            </a:extLst>
          </p:cNvPr>
          <p:cNvCxnSpPr>
            <a:cxnSpLocks/>
          </p:cNvCxnSpPr>
          <p:nvPr/>
        </p:nvCxnSpPr>
        <p:spPr>
          <a:xfrm>
            <a:off x="6508182" y="1877879"/>
            <a:ext cx="170870" cy="23360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接箭头连接符 62">
            <a:extLst>
              <a:ext uri="{FF2B5EF4-FFF2-40B4-BE49-F238E27FC236}">
                <a16:creationId xmlns:a16="http://schemas.microsoft.com/office/drawing/2014/main" id="{222A0DCB-6257-4A41-9FD0-DB3AAA2C2315}"/>
              </a:ext>
            </a:extLst>
          </p:cNvPr>
          <p:cNvCxnSpPr>
            <a:cxnSpLocks/>
          </p:cNvCxnSpPr>
          <p:nvPr/>
        </p:nvCxnSpPr>
        <p:spPr>
          <a:xfrm>
            <a:off x="6854563" y="1867074"/>
            <a:ext cx="91392" cy="24166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5" name="直接箭头连接符 64">
            <a:extLst>
              <a:ext uri="{FF2B5EF4-FFF2-40B4-BE49-F238E27FC236}">
                <a16:creationId xmlns:a16="http://schemas.microsoft.com/office/drawing/2014/main" id="{FB31F26D-240B-46EC-8F2A-ACFAFDDDA549}"/>
              </a:ext>
            </a:extLst>
          </p:cNvPr>
          <p:cNvCxnSpPr>
            <a:cxnSpLocks/>
            <a:endCxn id="16" idx="0"/>
          </p:cNvCxnSpPr>
          <p:nvPr/>
        </p:nvCxnSpPr>
        <p:spPr>
          <a:xfrm>
            <a:off x="7720388" y="1895376"/>
            <a:ext cx="134724" cy="21611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5B51BD17-C0BE-4CCF-9CD4-F29A430A8460}"/>
              </a:ext>
            </a:extLst>
          </p:cNvPr>
          <p:cNvCxnSpPr>
            <a:cxnSpLocks/>
          </p:cNvCxnSpPr>
          <p:nvPr/>
        </p:nvCxnSpPr>
        <p:spPr>
          <a:xfrm flipH="1">
            <a:off x="8009914" y="1884464"/>
            <a:ext cx="41936" cy="24136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a:extLst>
              <a:ext uri="{FF2B5EF4-FFF2-40B4-BE49-F238E27FC236}">
                <a16:creationId xmlns:a16="http://schemas.microsoft.com/office/drawing/2014/main" id="{AF81E860-3798-438C-A704-225BD5C16DE1}"/>
              </a:ext>
            </a:extLst>
          </p:cNvPr>
          <p:cNvCxnSpPr>
            <a:cxnSpLocks/>
          </p:cNvCxnSpPr>
          <p:nvPr/>
        </p:nvCxnSpPr>
        <p:spPr>
          <a:xfrm>
            <a:off x="4584866" y="2377623"/>
            <a:ext cx="0" cy="28024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C1656AC8-F51A-4B94-A987-1C8CE816D3E9}"/>
              </a:ext>
            </a:extLst>
          </p:cNvPr>
          <p:cNvCxnSpPr>
            <a:cxnSpLocks/>
          </p:cNvCxnSpPr>
          <p:nvPr/>
        </p:nvCxnSpPr>
        <p:spPr>
          <a:xfrm>
            <a:off x="4569012" y="3353568"/>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A8148555-B693-4201-88ED-7A2C528A5796}"/>
              </a:ext>
            </a:extLst>
          </p:cNvPr>
          <p:cNvCxnSpPr>
            <a:cxnSpLocks/>
          </p:cNvCxnSpPr>
          <p:nvPr/>
        </p:nvCxnSpPr>
        <p:spPr>
          <a:xfrm>
            <a:off x="4572000" y="3816000"/>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接箭头连接符 72">
            <a:extLst>
              <a:ext uri="{FF2B5EF4-FFF2-40B4-BE49-F238E27FC236}">
                <a16:creationId xmlns:a16="http://schemas.microsoft.com/office/drawing/2014/main" id="{6EFDD93C-74F2-436B-B55D-81976DE2A23C}"/>
              </a:ext>
            </a:extLst>
          </p:cNvPr>
          <p:cNvCxnSpPr>
            <a:cxnSpLocks/>
          </p:cNvCxnSpPr>
          <p:nvPr/>
        </p:nvCxnSpPr>
        <p:spPr>
          <a:xfrm>
            <a:off x="4561704" y="4284000"/>
            <a:ext cx="0" cy="252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接箭头连接符 73">
            <a:extLst>
              <a:ext uri="{FF2B5EF4-FFF2-40B4-BE49-F238E27FC236}">
                <a16:creationId xmlns:a16="http://schemas.microsoft.com/office/drawing/2014/main" id="{05737100-E425-4B24-A06A-46265A09D24C}"/>
              </a:ext>
            </a:extLst>
          </p:cNvPr>
          <p:cNvCxnSpPr>
            <a:cxnSpLocks/>
          </p:cNvCxnSpPr>
          <p:nvPr/>
        </p:nvCxnSpPr>
        <p:spPr>
          <a:xfrm flipV="1">
            <a:off x="6164270" y="2916336"/>
            <a:ext cx="0" cy="144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6ECE1439-7B0D-49FB-AAF0-297D8BCF4850}"/>
              </a:ext>
            </a:extLst>
          </p:cNvPr>
          <p:cNvCxnSpPr>
            <a:cxnSpLocks/>
          </p:cNvCxnSpPr>
          <p:nvPr/>
        </p:nvCxnSpPr>
        <p:spPr>
          <a:xfrm flipV="1">
            <a:off x="4572000" y="2916336"/>
            <a:ext cx="0" cy="144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29288D0C-94E5-43E9-B02A-AA024FB0C33D}"/>
              </a:ext>
            </a:extLst>
          </p:cNvPr>
          <p:cNvCxnSpPr>
            <a:cxnSpLocks/>
          </p:cNvCxnSpPr>
          <p:nvPr/>
        </p:nvCxnSpPr>
        <p:spPr>
          <a:xfrm>
            <a:off x="6164270" y="3353568"/>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7" name="直接箭头连接符 76">
            <a:extLst>
              <a:ext uri="{FF2B5EF4-FFF2-40B4-BE49-F238E27FC236}">
                <a16:creationId xmlns:a16="http://schemas.microsoft.com/office/drawing/2014/main" id="{AC0AC678-776B-4286-AAC2-0AC59D5A6407}"/>
              </a:ext>
            </a:extLst>
          </p:cNvPr>
          <p:cNvCxnSpPr>
            <a:cxnSpLocks/>
          </p:cNvCxnSpPr>
          <p:nvPr/>
        </p:nvCxnSpPr>
        <p:spPr>
          <a:xfrm>
            <a:off x="6164270" y="3824095"/>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a:extLst>
              <a:ext uri="{FF2B5EF4-FFF2-40B4-BE49-F238E27FC236}">
                <a16:creationId xmlns:a16="http://schemas.microsoft.com/office/drawing/2014/main" id="{12E22E38-206F-4256-B8BA-6FF41C9A8E14}"/>
              </a:ext>
            </a:extLst>
          </p:cNvPr>
          <p:cNvCxnSpPr>
            <a:cxnSpLocks/>
          </p:cNvCxnSpPr>
          <p:nvPr/>
        </p:nvCxnSpPr>
        <p:spPr>
          <a:xfrm>
            <a:off x="6159140" y="4284000"/>
            <a:ext cx="0" cy="252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8CC68B0A-3459-49E1-B06E-DC3A1A605A81}"/>
              </a:ext>
            </a:extLst>
          </p:cNvPr>
          <p:cNvCxnSpPr>
            <a:cxnSpLocks/>
          </p:cNvCxnSpPr>
          <p:nvPr/>
        </p:nvCxnSpPr>
        <p:spPr>
          <a:xfrm>
            <a:off x="7871721" y="2409744"/>
            <a:ext cx="0" cy="216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0" name="直接箭头连接符 79">
            <a:extLst>
              <a:ext uri="{FF2B5EF4-FFF2-40B4-BE49-F238E27FC236}">
                <a16:creationId xmlns:a16="http://schemas.microsoft.com/office/drawing/2014/main" id="{6FC91DE5-7172-46E0-AFD6-2169704D3CF4}"/>
              </a:ext>
            </a:extLst>
          </p:cNvPr>
          <p:cNvCxnSpPr>
            <a:cxnSpLocks/>
          </p:cNvCxnSpPr>
          <p:nvPr/>
        </p:nvCxnSpPr>
        <p:spPr>
          <a:xfrm>
            <a:off x="7988453" y="2765878"/>
            <a:ext cx="37953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2" name="直接箭头连接符 81">
            <a:extLst>
              <a:ext uri="{FF2B5EF4-FFF2-40B4-BE49-F238E27FC236}">
                <a16:creationId xmlns:a16="http://schemas.microsoft.com/office/drawing/2014/main" id="{7EACD54E-7DAB-4DF6-9355-3B984E0B37A4}"/>
              </a:ext>
            </a:extLst>
          </p:cNvPr>
          <p:cNvCxnSpPr>
            <a:cxnSpLocks/>
          </p:cNvCxnSpPr>
          <p:nvPr/>
        </p:nvCxnSpPr>
        <p:spPr>
          <a:xfrm>
            <a:off x="6299522" y="2765878"/>
            <a:ext cx="144000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3" name="直接箭头连接符 82">
            <a:extLst>
              <a:ext uri="{FF2B5EF4-FFF2-40B4-BE49-F238E27FC236}">
                <a16:creationId xmlns:a16="http://schemas.microsoft.com/office/drawing/2014/main" id="{8C2D6F5F-3C47-47D3-9733-07AA7285FF24}"/>
              </a:ext>
            </a:extLst>
          </p:cNvPr>
          <p:cNvCxnSpPr>
            <a:cxnSpLocks/>
          </p:cNvCxnSpPr>
          <p:nvPr/>
        </p:nvCxnSpPr>
        <p:spPr>
          <a:xfrm>
            <a:off x="4661972" y="2765878"/>
            <a:ext cx="136800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5" name="连接符: 肘形 84">
            <a:extLst>
              <a:ext uri="{FF2B5EF4-FFF2-40B4-BE49-F238E27FC236}">
                <a16:creationId xmlns:a16="http://schemas.microsoft.com/office/drawing/2014/main" id="{A78BD67A-CBA4-46CB-8A29-EC1BA6D5EDE8}"/>
              </a:ext>
            </a:extLst>
          </p:cNvPr>
          <p:cNvCxnSpPr>
            <a:endCxn id="5" idx="1"/>
          </p:cNvCxnSpPr>
          <p:nvPr/>
        </p:nvCxnSpPr>
        <p:spPr>
          <a:xfrm rot="5400000">
            <a:off x="3835825" y="1237183"/>
            <a:ext cx="918615" cy="22327"/>
          </a:xfrm>
          <a:prstGeom prst="bentConnector4">
            <a:avLst>
              <a:gd name="adj1" fmla="val -1705"/>
              <a:gd name="adj2" fmla="val 637967"/>
            </a:avLst>
          </a:prstGeom>
          <a:ln w="12700">
            <a:tailEnd type="triangle"/>
          </a:ln>
        </p:spPr>
        <p:style>
          <a:lnRef idx="1">
            <a:schemeClr val="dk1"/>
          </a:lnRef>
          <a:fillRef idx="0">
            <a:schemeClr val="dk1"/>
          </a:fillRef>
          <a:effectRef idx="0">
            <a:schemeClr val="dk1"/>
          </a:effectRef>
          <a:fontRef idx="minor">
            <a:schemeClr val="tx1"/>
          </a:fontRef>
        </p:style>
      </p:cxnSp>
      <p:cxnSp>
        <p:nvCxnSpPr>
          <p:cNvPr id="89" name="连接符: 肘形 88">
            <a:extLst>
              <a:ext uri="{FF2B5EF4-FFF2-40B4-BE49-F238E27FC236}">
                <a16:creationId xmlns:a16="http://schemas.microsoft.com/office/drawing/2014/main" id="{E56EDA68-03F4-4A67-8D27-67ADC6944BFA}"/>
              </a:ext>
            </a:extLst>
          </p:cNvPr>
          <p:cNvCxnSpPr>
            <a:endCxn id="38" idx="3"/>
          </p:cNvCxnSpPr>
          <p:nvPr/>
        </p:nvCxnSpPr>
        <p:spPr>
          <a:xfrm rot="5400000">
            <a:off x="4404846" y="2666771"/>
            <a:ext cx="1332000" cy="792000"/>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91" name="连接符: 肘形 90">
            <a:extLst>
              <a:ext uri="{FF2B5EF4-FFF2-40B4-BE49-F238E27FC236}">
                <a16:creationId xmlns:a16="http://schemas.microsoft.com/office/drawing/2014/main" id="{E9CE4729-445C-43F9-B7D9-E56749AF18E3}"/>
              </a:ext>
            </a:extLst>
          </p:cNvPr>
          <p:cNvCxnSpPr>
            <a:cxnSpLocks/>
            <a:endCxn id="18" idx="3"/>
          </p:cNvCxnSpPr>
          <p:nvPr/>
        </p:nvCxnSpPr>
        <p:spPr>
          <a:xfrm rot="5400000" flipH="1" flipV="1">
            <a:off x="5485258" y="3891227"/>
            <a:ext cx="1607466" cy="244117"/>
          </a:xfrm>
          <a:prstGeom prst="bentConnector4">
            <a:avLst>
              <a:gd name="adj1" fmla="val -7990"/>
              <a:gd name="adj2" fmla="val 215865"/>
            </a:avLst>
          </a:prstGeom>
          <a:ln w="12700">
            <a:tailEnd type="triangle"/>
          </a:ln>
        </p:spPr>
        <p:style>
          <a:lnRef idx="1">
            <a:schemeClr val="dk1"/>
          </a:lnRef>
          <a:fillRef idx="0">
            <a:schemeClr val="dk1"/>
          </a:fillRef>
          <a:effectRef idx="0">
            <a:schemeClr val="dk1"/>
          </a:effectRef>
          <a:fontRef idx="minor">
            <a:schemeClr val="tx1"/>
          </a:fontRef>
        </p:style>
      </p:cxnSp>
      <p:cxnSp>
        <p:nvCxnSpPr>
          <p:cNvPr id="97" name="连接符: 肘形 96">
            <a:extLst>
              <a:ext uri="{FF2B5EF4-FFF2-40B4-BE49-F238E27FC236}">
                <a16:creationId xmlns:a16="http://schemas.microsoft.com/office/drawing/2014/main" id="{139486A7-326B-4DE9-A7E1-B8B02BB6CE3A}"/>
              </a:ext>
            </a:extLst>
          </p:cNvPr>
          <p:cNvCxnSpPr>
            <a:endCxn id="35" idx="3"/>
          </p:cNvCxnSpPr>
          <p:nvPr/>
        </p:nvCxnSpPr>
        <p:spPr>
          <a:xfrm rot="5400000">
            <a:off x="5887743" y="2791622"/>
            <a:ext cx="1332000" cy="504000"/>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99" name="连接符: 肘形 98">
            <a:extLst>
              <a:ext uri="{FF2B5EF4-FFF2-40B4-BE49-F238E27FC236}">
                <a16:creationId xmlns:a16="http://schemas.microsoft.com/office/drawing/2014/main" id="{5A8C28B7-F16B-4FF9-A4CB-9DFA6EFB2655}"/>
              </a:ext>
            </a:extLst>
          </p:cNvPr>
          <p:cNvCxnSpPr>
            <a:endCxn id="17" idx="1"/>
          </p:cNvCxnSpPr>
          <p:nvPr/>
        </p:nvCxnSpPr>
        <p:spPr>
          <a:xfrm rot="16200000" flipV="1">
            <a:off x="3622114" y="3895507"/>
            <a:ext cx="1620644" cy="248734"/>
          </a:xfrm>
          <a:prstGeom prst="bentConnector4">
            <a:avLst>
              <a:gd name="adj1" fmla="val -5605"/>
              <a:gd name="adj2" fmla="val 163866"/>
            </a:avLst>
          </a:prstGeom>
          <a:ln w="12700">
            <a:tailEnd type="triangle"/>
          </a:ln>
        </p:spPr>
        <p:style>
          <a:lnRef idx="1">
            <a:schemeClr val="dk1"/>
          </a:lnRef>
          <a:fillRef idx="0">
            <a:schemeClr val="dk1"/>
          </a:fillRef>
          <a:effectRef idx="0">
            <a:schemeClr val="dk1"/>
          </a:effectRef>
          <a:fontRef idx="minor">
            <a:schemeClr val="tx1"/>
          </a:fontRef>
        </p:style>
      </p:cxnSp>
      <p:sp>
        <p:nvSpPr>
          <p:cNvPr id="102" name="矩形 101">
            <a:extLst>
              <a:ext uri="{FF2B5EF4-FFF2-40B4-BE49-F238E27FC236}">
                <a16:creationId xmlns:a16="http://schemas.microsoft.com/office/drawing/2014/main" id="{6384A9D9-9C27-44FE-9C92-51EC2A3AD259}"/>
              </a:ext>
            </a:extLst>
          </p:cNvPr>
          <p:cNvSpPr/>
          <p:nvPr/>
        </p:nvSpPr>
        <p:spPr>
          <a:xfrm>
            <a:off x="4061600" y="587692"/>
            <a:ext cx="4315432" cy="1294784"/>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2CB81DE1-6923-4EDC-8CDC-827E938C1951}"/>
              </a:ext>
            </a:extLst>
          </p:cNvPr>
          <p:cNvSpPr/>
          <p:nvPr/>
        </p:nvSpPr>
        <p:spPr>
          <a:xfrm>
            <a:off x="4064423" y="1972489"/>
            <a:ext cx="4315432" cy="466909"/>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a:extLst>
              <a:ext uri="{FF2B5EF4-FFF2-40B4-BE49-F238E27FC236}">
                <a16:creationId xmlns:a16="http://schemas.microsoft.com/office/drawing/2014/main" id="{ED79E330-B029-4C4E-B77F-69E193698CDC}"/>
              </a:ext>
            </a:extLst>
          </p:cNvPr>
          <p:cNvSpPr/>
          <p:nvPr/>
        </p:nvSpPr>
        <p:spPr>
          <a:xfrm>
            <a:off x="4061600" y="2550777"/>
            <a:ext cx="3049500" cy="2469245"/>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3100364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5243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反馈移位寄存器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LFSR</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反馈移位寄存器由一个移位寄存器和一个反馈函数组成</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移位寄存器是一个有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个单元的序列，每个单元容纳一位，所有的单元被一个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位的字（种子）初始化，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表示二值（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）存储单元，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的个数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称为反馈移位寄存器的级。</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在任一时刻，这些级的内容构成该反馈移位寄存器的状态，每一状态对应于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维向量，共有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种可能的状态。</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每一时刻的状态可用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维向量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表示，其中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是第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级存储器的内容。每输出一位，移位寄存器就依次向右移一位，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的值被移出作为密钥流输出，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的移入值来源于反馈函数计算结果</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372567782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graphicFrame>
        <p:nvGraphicFramePr>
          <p:cNvPr id="6" name="对象 2">
            <a:extLst>
              <a:ext uri="{FF2B5EF4-FFF2-40B4-BE49-F238E27FC236}">
                <a16:creationId xmlns:a16="http://schemas.microsoft.com/office/drawing/2014/main" id="{6B565854-66D1-4375-806F-CF4AAB7D8480}"/>
              </a:ext>
            </a:extLst>
          </p:cNvPr>
          <p:cNvGraphicFramePr>
            <a:graphicFrameLocks noChangeAspect="1"/>
          </p:cNvGraphicFramePr>
          <p:nvPr>
            <p:extLst>
              <p:ext uri="{D42A27DB-BD31-4B8C-83A1-F6EECF244321}">
                <p14:modId xmlns:p14="http://schemas.microsoft.com/office/powerpoint/2010/main" val="1128706242"/>
              </p:ext>
            </p:extLst>
          </p:nvPr>
        </p:nvGraphicFramePr>
        <p:xfrm>
          <a:off x="395536" y="530985"/>
          <a:ext cx="5976938" cy="2338387"/>
        </p:xfrm>
        <a:graphic>
          <a:graphicData uri="http://schemas.openxmlformats.org/presentationml/2006/ole">
            <mc:AlternateContent xmlns:mc="http://schemas.openxmlformats.org/markup-compatibility/2006">
              <mc:Choice xmlns:v="urn:schemas-microsoft-com:vml" Requires="v">
                <p:oleObj r:id="rId3" imgW="3288665" imgH="1291590" progId="Visio.Drawing.11">
                  <p:embed/>
                </p:oleObj>
              </mc:Choice>
              <mc:Fallback>
                <p:oleObj r:id="rId3" imgW="3288665" imgH="1291590" progId="Visio.Drawing.11">
                  <p:embed/>
                  <p:pic>
                    <p:nvPicPr>
                      <p:cNvPr id="6" name="对象 2">
                        <a:extLst>
                          <a:ext uri="{FF2B5EF4-FFF2-40B4-BE49-F238E27FC236}">
                            <a16:creationId xmlns:a16="http://schemas.microsoft.com/office/drawing/2014/main" id="{6B565854-66D1-4375-806F-CF4AAB7D8480}"/>
                          </a:ext>
                        </a:extLst>
                      </p:cNvPr>
                      <p:cNvPicPr/>
                      <p:nvPr/>
                    </p:nvPicPr>
                    <p:blipFill>
                      <a:blip r:embed="rId4"/>
                      <a:stretch>
                        <a:fillRect/>
                      </a:stretch>
                    </p:blipFill>
                    <p:spPr>
                      <a:xfrm>
                        <a:off x="395536" y="530985"/>
                        <a:ext cx="5976938" cy="2338387"/>
                      </a:xfrm>
                      <a:prstGeom prst="rect">
                        <a:avLst/>
                      </a:prstGeom>
                      <a:noFill/>
                      <a:ln w="38100">
                        <a:noFill/>
                        <a:miter/>
                      </a:ln>
                    </p:spPr>
                  </p:pic>
                </p:oleObj>
              </mc:Fallback>
            </mc:AlternateContent>
          </a:graphicData>
        </a:graphic>
      </p:graphicFrame>
      <p:sp>
        <p:nvSpPr>
          <p:cNvPr id="7" name="TextBox 18">
            <a:extLst>
              <a:ext uri="{FF2B5EF4-FFF2-40B4-BE49-F238E27FC236}">
                <a16:creationId xmlns:a16="http://schemas.microsoft.com/office/drawing/2014/main" id="{DFCA5D0E-1363-4DF8-907D-80E808D28AFC}"/>
              </a:ext>
            </a:extLst>
          </p:cNvPr>
          <p:cNvSpPr txBox="1"/>
          <p:nvPr/>
        </p:nvSpPr>
        <p:spPr>
          <a:xfrm>
            <a:off x="539552" y="2715766"/>
            <a:ext cx="5112568" cy="78681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例如：一个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级反馈移位寄存器，其初始状态为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)=(1,0,1)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，输出可由右表给出。</a:t>
            </a:r>
          </a:p>
        </p:txBody>
      </p:sp>
      <p:sp>
        <p:nvSpPr>
          <p:cNvPr id="10" name="矩形 9">
            <a:extLst>
              <a:ext uri="{FF2B5EF4-FFF2-40B4-BE49-F238E27FC236}">
                <a16:creationId xmlns:a16="http://schemas.microsoft.com/office/drawing/2014/main" id="{945F8EEC-6C65-451C-A1C6-ABEA364EC647}"/>
              </a:ext>
            </a:extLst>
          </p:cNvPr>
          <p:cNvSpPr/>
          <p:nvPr/>
        </p:nvSpPr>
        <p:spPr>
          <a:xfrm>
            <a:off x="899592" y="3620506"/>
            <a:ext cx="288032" cy="391404"/>
          </a:xfrm>
          <a:prstGeom prst="rect">
            <a:avLst/>
          </a:prstGeom>
          <a:solidFill>
            <a:srgbClr val="E8EEF7"/>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a</a:t>
            </a:r>
            <a:r>
              <a:rPr lang="en-US" altLang="zh-CN" sz="2000" b="1" baseline="-25000" dirty="0">
                <a:solidFill>
                  <a:schemeClr val="tx1"/>
                </a:solidFill>
                <a:latin typeface="Times New Roman" panose="02020603050405020304" pitchFamily="18" charset="0"/>
                <a:cs typeface="Times New Roman" panose="02020603050405020304" pitchFamily="18" charset="0"/>
              </a:rPr>
              <a:t>3</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A0FE3856-98F7-4C3C-8EAE-2D353479DBDE}"/>
              </a:ext>
            </a:extLst>
          </p:cNvPr>
          <p:cNvSpPr/>
          <p:nvPr/>
        </p:nvSpPr>
        <p:spPr>
          <a:xfrm>
            <a:off x="1835696" y="3620506"/>
            <a:ext cx="288032" cy="391404"/>
          </a:xfrm>
          <a:prstGeom prst="rect">
            <a:avLst/>
          </a:prstGeom>
          <a:solidFill>
            <a:srgbClr val="E8EEF7"/>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a</a:t>
            </a:r>
            <a:r>
              <a:rPr lang="en-US" altLang="zh-CN" sz="2000" b="1" baseline="-25000" dirty="0">
                <a:solidFill>
                  <a:schemeClr val="tx1"/>
                </a:solidFill>
                <a:latin typeface="Times New Roman" panose="02020603050405020304" pitchFamily="18" charset="0"/>
                <a:cs typeface="Times New Roman" panose="02020603050405020304" pitchFamily="18" charset="0"/>
              </a:rPr>
              <a:t>2</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5B5C1124-B24E-4825-8DF3-A18ADD520B79}"/>
              </a:ext>
            </a:extLst>
          </p:cNvPr>
          <p:cNvSpPr/>
          <p:nvPr/>
        </p:nvSpPr>
        <p:spPr>
          <a:xfrm>
            <a:off x="2767207" y="3620506"/>
            <a:ext cx="288032" cy="391404"/>
          </a:xfrm>
          <a:prstGeom prst="rect">
            <a:avLst/>
          </a:prstGeom>
          <a:solidFill>
            <a:srgbClr val="E8EEF7"/>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b="1" dirty="0">
                <a:solidFill>
                  <a:schemeClr val="tx1"/>
                </a:solidFill>
                <a:latin typeface="Times New Roman" panose="02020603050405020304" pitchFamily="18" charset="0"/>
                <a:cs typeface="Times New Roman" panose="02020603050405020304" pitchFamily="18" charset="0"/>
              </a:rPr>
              <a:t>a</a:t>
            </a:r>
            <a:r>
              <a:rPr lang="en-US" altLang="zh-CN" sz="2000" b="1" baseline="-25000" dirty="0">
                <a:solidFill>
                  <a:schemeClr val="tx1"/>
                </a:solidFill>
                <a:latin typeface="Times New Roman" panose="02020603050405020304" pitchFamily="18" charset="0"/>
                <a:cs typeface="Times New Roman" panose="02020603050405020304" pitchFamily="18" charset="0"/>
              </a:rPr>
              <a:t>1</a:t>
            </a:r>
            <a:endParaRPr lang="zh-CN" altLang="en-US" sz="2000" b="1" baseline="-25000" dirty="0">
              <a:solidFill>
                <a:schemeClr val="tx1"/>
              </a:solidFill>
              <a:latin typeface="Times New Roman" panose="02020603050405020304" pitchFamily="18" charset="0"/>
              <a:cs typeface="Times New Roman" panose="02020603050405020304" pitchFamily="18" charset="0"/>
            </a:endParaRPr>
          </a:p>
        </p:txBody>
      </p:sp>
      <p:cxnSp>
        <p:nvCxnSpPr>
          <p:cNvPr id="13" name="直接箭头连接符 12">
            <a:extLst>
              <a:ext uri="{FF2B5EF4-FFF2-40B4-BE49-F238E27FC236}">
                <a16:creationId xmlns:a16="http://schemas.microsoft.com/office/drawing/2014/main" id="{9423E0A9-6F3E-42E8-A5A8-B543A12CB51C}"/>
              </a:ext>
            </a:extLst>
          </p:cNvPr>
          <p:cNvCxnSpPr>
            <a:stCxn id="10" idx="3"/>
            <a:endCxn id="11" idx="1"/>
          </p:cNvCxnSpPr>
          <p:nvPr/>
        </p:nvCxnSpPr>
        <p:spPr>
          <a:xfrm>
            <a:off x="1187624" y="3816208"/>
            <a:ext cx="6480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A9CEC2E2-71B8-4CD6-B66B-7533FC296B7C}"/>
              </a:ext>
            </a:extLst>
          </p:cNvPr>
          <p:cNvCxnSpPr/>
          <p:nvPr/>
        </p:nvCxnSpPr>
        <p:spPr>
          <a:xfrm>
            <a:off x="2119135" y="3815328"/>
            <a:ext cx="6480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92E04707-BFB4-428F-AAE9-2A871492FF0E}"/>
              </a:ext>
            </a:extLst>
          </p:cNvPr>
          <p:cNvCxnSpPr/>
          <p:nvPr/>
        </p:nvCxnSpPr>
        <p:spPr>
          <a:xfrm>
            <a:off x="3059969" y="3815328"/>
            <a:ext cx="6480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流程图: 可选过程 13">
                <a:extLst>
                  <a:ext uri="{FF2B5EF4-FFF2-40B4-BE49-F238E27FC236}">
                    <a16:creationId xmlns:a16="http://schemas.microsoft.com/office/drawing/2014/main" id="{0D550F44-1203-4B29-808E-3EC5EBC2FFDC}"/>
                  </a:ext>
                </a:extLst>
              </p:cNvPr>
              <p:cNvSpPr/>
              <p:nvPr/>
            </p:nvSpPr>
            <p:spPr>
              <a:xfrm>
                <a:off x="1038878" y="4299942"/>
                <a:ext cx="2232248" cy="391401"/>
              </a:xfrm>
              <a:prstGeom prst="flowChartAlternateProcess">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f(a</a:t>
                </a:r>
                <a:r>
                  <a:rPr lang="en-US" altLang="zh-CN" baseline="-25000" dirty="0">
                    <a:solidFill>
                      <a:schemeClr val="tx1"/>
                    </a:solidFill>
                    <a:latin typeface="Times New Roman" panose="02020603050405020304" pitchFamily="18" charset="0"/>
                    <a:cs typeface="Times New Roman" panose="02020603050405020304" pitchFamily="18" charset="0"/>
                  </a:rPr>
                  <a:t>1</a:t>
                </a:r>
                <a:r>
                  <a:rPr lang="en-US" altLang="zh-CN" dirty="0">
                    <a:solidFill>
                      <a:schemeClr val="tx1"/>
                    </a:solidFill>
                    <a:latin typeface="Times New Roman" panose="02020603050405020304" pitchFamily="18" charset="0"/>
                    <a:cs typeface="Times New Roman" panose="02020603050405020304" pitchFamily="18" charset="0"/>
                  </a:rPr>
                  <a:t>,a</a:t>
                </a:r>
                <a:r>
                  <a:rPr lang="en-US" altLang="zh-CN" baseline="-25000" dirty="0">
                    <a:solidFill>
                      <a:schemeClr val="tx1"/>
                    </a:solidFill>
                    <a:latin typeface="Times New Roman" panose="02020603050405020304" pitchFamily="18" charset="0"/>
                    <a:cs typeface="Times New Roman" panose="02020603050405020304" pitchFamily="18" charset="0"/>
                  </a:rPr>
                  <a:t>2</a:t>
                </a:r>
                <a:r>
                  <a:rPr lang="en-US" altLang="zh-CN" dirty="0">
                    <a:solidFill>
                      <a:schemeClr val="tx1"/>
                    </a:solidFill>
                    <a:latin typeface="Times New Roman" panose="02020603050405020304" pitchFamily="18" charset="0"/>
                    <a:cs typeface="Times New Roman" panose="02020603050405020304" pitchFamily="18" charset="0"/>
                  </a:rPr>
                  <a:t>,a</a:t>
                </a:r>
                <a:r>
                  <a:rPr lang="en-US" altLang="zh-CN" baseline="-25000" dirty="0">
                    <a:solidFill>
                      <a:schemeClr val="tx1"/>
                    </a:solidFill>
                    <a:latin typeface="Times New Roman" panose="02020603050405020304" pitchFamily="18" charset="0"/>
                    <a:cs typeface="Times New Roman" panose="02020603050405020304" pitchFamily="18" charset="0"/>
                  </a:rPr>
                  <a:t>3</a:t>
                </a:r>
                <a:r>
                  <a:rPr lang="en-US" altLang="zh-CN" dirty="0">
                    <a:solidFill>
                      <a:schemeClr val="tx1"/>
                    </a:solidFill>
                    <a:latin typeface="Times New Roman" panose="02020603050405020304" pitchFamily="18" charset="0"/>
                    <a:cs typeface="Times New Roman" panose="02020603050405020304" pitchFamily="18" charset="0"/>
                  </a:rPr>
                  <a:t>)=a</a:t>
                </a:r>
                <a:r>
                  <a:rPr lang="en-US" altLang="zh-CN" baseline="-25000" dirty="0">
                    <a:solidFill>
                      <a:schemeClr val="tx1"/>
                    </a:solidFill>
                    <a:latin typeface="Times New Roman" panose="02020603050405020304" pitchFamily="18" charset="0"/>
                    <a:cs typeface="Times New Roman" panose="02020603050405020304" pitchFamily="18" charset="0"/>
                  </a:rPr>
                  <a:t>1</a:t>
                </a:r>
                <a:r>
                  <a:rPr lang="en-US" altLang="zh-CN" dirty="0">
                    <a:solidFill>
                      <a:schemeClr val="tx1"/>
                    </a:solidFill>
                    <a:latin typeface="Times New Roman" panose="02020603050405020304" pitchFamily="18" charset="0"/>
                    <a:cs typeface="Times New Roman" panose="02020603050405020304" pitchFamily="18" charset="0"/>
                  </a:rPr>
                  <a:t>a</a:t>
                </a:r>
                <a:r>
                  <a:rPr lang="en-US" altLang="zh-CN" baseline="-25000" dirty="0">
                    <a:solidFill>
                      <a:schemeClr val="tx1"/>
                    </a:solidFill>
                    <a:latin typeface="Times New Roman" panose="02020603050405020304" pitchFamily="18" charset="0"/>
                    <a:cs typeface="Times New Roman" panose="02020603050405020304" pitchFamily="18" charset="0"/>
                  </a:rPr>
                  <a:t>2</a:t>
                </a:r>
                <a14:m>
                  <m:oMath xmlns:m="http://schemas.openxmlformats.org/officeDocument/2006/math">
                    <m:r>
                      <a:rPr lang="en-US" altLang="zh-CN" b="0" i="1" dirty="0" smtClean="0">
                        <a:solidFill>
                          <a:schemeClr val="tx1"/>
                        </a:solidFill>
                        <a:latin typeface="Cambria Math" panose="02040503050406030204" pitchFamily="18" charset="0"/>
                        <a:ea typeface="Cambria Math" panose="02040503050406030204" pitchFamily="18" charset="0"/>
                      </a:rPr>
                      <m:t>⨁</m:t>
                    </m:r>
                  </m:oMath>
                </a14:m>
                <a:r>
                  <a:rPr lang="en-US" altLang="zh-CN"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a:t>
                </a:r>
                <a:r>
                  <a:rPr lang="en-US" altLang="zh-CN" baseline="-250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3</a:t>
                </a:r>
                <a:endParaRPr lang="zh-CN" altLang="en-US" baseline="-250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4" name="流程图: 可选过程 13">
                <a:extLst>
                  <a:ext uri="{FF2B5EF4-FFF2-40B4-BE49-F238E27FC236}">
                    <a16:creationId xmlns:a16="http://schemas.microsoft.com/office/drawing/2014/main" id="{0D550F44-1203-4B29-808E-3EC5EBC2FFDC}"/>
                  </a:ext>
                </a:extLst>
              </p:cNvPr>
              <p:cNvSpPr>
                <a:spLocks noRot="1" noChangeAspect="1" noMove="1" noResize="1" noEditPoints="1" noAdjustHandles="1" noChangeArrowheads="1" noChangeShapeType="1" noTextEdit="1"/>
              </p:cNvSpPr>
              <p:nvPr/>
            </p:nvSpPr>
            <p:spPr>
              <a:xfrm>
                <a:off x="1038878" y="4299942"/>
                <a:ext cx="2232248" cy="391401"/>
              </a:xfrm>
              <a:prstGeom prst="flowChartAlternateProcess">
                <a:avLst/>
              </a:prstGeom>
              <a:blipFill>
                <a:blip r:embed="rId6"/>
                <a:stretch>
                  <a:fillRect t="-2985" b="-17910"/>
                </a:stretch>
              </a:blipFill>
              <a:ln w="12700">
                <a:solidFill>
                  <a:schemeClr val="tx1"/>
                </a:solidFill>
              </a:ln>
            </p:spPr>
            <p:txBody>
              <a:bodyPr/>
              <a:lstStyle/>
              <a:p>
                <a:r>
                  <a:rPr lang="zh-CN" altLang="en-US">
                    <a:noFill/>
                  </a:rPr>
                  <a:t> </a:t>
                </a:r>
              </a:p>
            </p:txBody>
          </p:sp>
        </mc:Fallback>
      </mc:AlternateContent>
      <p:cxnSp>
        <p:nvCxnSpPr>
          <p:cNvPr id="18" name="直接箭头连接符 17">
            <a:extLst>
              <a:ext uri="{FF2B5EF4-FFF2-40B4-BE49-F238E27FC236}">
                <a16:creationId xmlns:a16="http://schemas.microsoft.com/office/drawing/2014/main" id="{D1F5E5D1-BD80-4902-95FA-374FD463EC89}"/>
              </a:ext>
            </a:extLst>
          </p:cNvPr>
          <p:cNvCxnSpPr>
            <a:cxnSpLocks/>
          </p:cNvCxnSpPr>
          <p:nvPr/>
        </p:nvCxnSpPr>
        <p:spPr>
          <a:xfrm>
            <a:off x="1038878" y="4011910"/>
            <a:ext cx="792088" cy="288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3C55216E-AC17-487D-9E5D-EECB816BF415}"/>
              </a:ext>
            </a:extLst>
          </p:cNvPr>
          <p:cNvCxnSpPr>
            <a:cxnSpLocks/>
          </p:cNvCxnSpPr>
          <p:nvPr/>
        </p:nvCxnSpPr>
        <p:spPr>
          <a:xfrm flipH="1">
            <a:off x="2299086" y="4014357"/>
            <a:ext cx="652665" cy="2880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7739B1BA-69CB-411C-8676-805632558BF6}"/>
              </a:ext>
            </a:extLst>
          </p:cNvPr>
          <p:cNvCxnSpPr>
            <a:cxnSpLocks/>
          </p:cNvCxnSpPr>
          <p:nvPr/>
        </p:nvCxnSpPr>
        <p:spPr>
          <a:xfrm>
            <a:off x="2051720" y="4003061"/>
            <a:ext cx="0" cy="2968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93429FA7-B461-47FD-8960-AA95C9FCDBB5}"/>
              </a:ext>
            </a:extLst>
          </p:cNvPr>
          <p:cNvCxnSpPr>
            <a:endCxn id="10" idx="1"/>
          </p:cNvCxnSpPr>
          <p:nvPr/>
        </p:nvCxnSpPr>
        <p:spPr>
          <a:xfrm rot="16200000" flipV="1">
            <a:off x="786059" y="3929741"/>
            <a:ext cx="875138" cy="648072"/>
          </a:xfrm>
          <a:prstGeom prst="bentConnector4">
            <a:avLst>
              <a:gd name="adj1" fmla="val -22739"/>
              <a:gd name="adj2" fmla="val 135274"/>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7" name="表格 27">
            <a:extLst>
              <a:ext uri="{FF2B5EF4-FFF2-40B4-BE49-F238E27FC236}">
                <a16:creationId xmlns:a16="http://schemas.microsoft.com/office/drawing/2014/main" id="{0A038C1D-C0C1-49B9-9B55-8634149C67EE}"/>
              </a:ext>
            </a:extLst>
          </p:cNvPr>
          <p:cNvGraphicFramePr>
            <a:graphicFrameLocks noGrp="1"/>
          </p:cNvGraphicFramePr>
          <p:nvPr>
            <p:extLst>
              <p:ext uri="{D42A27DB-BD31-4B8C-83A1-F6EECF244321}">
                <p14:modId xmlns:p14="http://schemas.microsoft.com/office/powerpoint/2010/main" val="3799198882"/>
              </p:ext>
            </p:extLst>
          </p:nvPr>
        </p:nvGraphicFramePr>
        <p:xfrm>
          <a:off x="5721715" y="2505690"/>
          <a:ext cx="3114428" cy="2619276"/>
        </p:xfrm>
        <a:graphic>
          <a:graphicData uri="http://schemas.openxmlformats.org/drawingml/2006/table">
            <a:tbl>
              <a:tblPr firstRow="1" bandRow="1">
                <a:tableStyleId>{5C22544A-7EE6-4342-B048-85BDC9FD1C3A}</a:tableStyleId>
              </a:tblPr>
              <a:tblGrid>
                <a:gridCol w="1557214">
                  <a:extLst>
                    <a:ext uri="{9D8B030D-6E8A-4147-A177-3AD203B41FA5}">
                      <a16:colId xmlns:a16="http://schemas.microsoft.com/office/drawing/2014/main" val="3517594730"/>
                    </a:ext>
                  </a:extLst>
                </a:gridCol>
                <a:gridCol w="1557214">
                  <a:extLst>
                    <a:ext uri="{9D8B030D-6E8A-4147-A177-3AD203B41FA5}">
                      <a16:colId xmlns:a16="http://schemas.microsoft.com/office/drawing/2014/main" val="76090182"/>
                    </a:ext>
                  </a:extLst>
                </a:gridCol>
              </a:tblGrid>
              <a:tr h="424716">
                <a:tc>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状态</a:t>
                      </a: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(a3,a2,a1)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输出</a:t>
                      </a:r>
                    </a:p>
                  </a:txBody>
                  <a:tcPr/>
                </a:tc>
                <a:extLst>
                  <a:ext uri="{0D108BD9-81ED-4DB2-BD59-A6C34878D82A}">
                    <a16:rowId xmlns:a16="http://schemas.microsoft.com/office/drawing/2014/main" val="839510149"/>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1   0   1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3509375070"/>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1   1   0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1651827026"/>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1   1   1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381029950"/>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0   1   1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670616618"/>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1   0   1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1340605483"/>
                  </a:ext>
                </a:extLst>
              </a:tr>
              <a:tr h="242695">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1   1   0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tc>
                <a:extLst>
                  <a:ext uri="{0D108BD9-81ED-4DB2-BD59-A6C34878D82A}">
                    <a16:rowId xmlns:a16="http://schemas.microsoft.com/office/drawing/2014/main" val="274321744"/>
                  </a:ext>
                </a:extLst>
              </a:tr>
            </a:tbl>
          </a:graphicData>
        </a:graphic>
      </p:graphicFrame>
    </p:spTree>
    <p:extLst>
      <p:ext uri="{BB962C8B-B14F-4D97-AF65-F5344CB8AC3E}">
        <p14:creationId xmlns:p14="http://schemas.microsoft.com/office/powerpoint/2010/main" val="22800123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432086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线性反馈移位寄存器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LFSR</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线性反馈移位寄存器（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linear feedback shift register, LFSR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）是指给定前一状态的输出，将该输出的线性函数再用作输入的移位寄存器。</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令</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时刻第</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级的内容，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的下一时刻的内容，则有</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移位：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=1,2,...,n-1</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线性反馈：</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14:m>
                  <m:oMath xmlns:m="http://schemas.openxmlformats.org/officeDocument/2006/math">
                    <m:r>
                      <a:rPr lang="en-US" altLang="zh-CN"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14:m>
                  <m:oMath xmlns:m="http://schemas.openxmlformats.org/officeDocument/2006/math">
                    <m:r>
                      <a:rPr lang="en-US" altLang="zh-CN"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14:m>
                  <m:oMath xmlns:m="http://schemas.openxmlformats.org/officeDocument/2006/math">
                    <m:r>
                      <a:rPr lang="en-US" altLang="zh-CN"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 </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4320863"/>
              </a:xfrm>
              <a:prstGeom prst="rect">
                <a:avLst/>
              </a:prstGeom>
              <a:blipFill>
                <a:blip r:embed="rId4"/>
                <a:stretch>
                  <a:fillRect l="-668" b="-141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graphicFrame>
        <p:nvGraphicFramePr>
          <p:cNvPr id="4" name="对象 4">
            <a:extLst>
              <a:ext uri="{FF2B5EF4-FFF2-40B4-BE49-F238E27FC236}">
                <a16:creationId xmlns:a16="http://schemas.microsoft.com/office/drawing/2014/main" id="{08EA6F8E-A48A-4115-AEAE-29114A55F77D}"/>
              </a:ext>
            </a:extLst>
          </p:cNvPr>
          <p:cNvGraphicFramePr>
            <a:graphicFrameLocks noChangeAspect="1"/>
          </p:cNvGraphicFramePr>
          <p:nvPr>
            <p:extLst>
              <p:ext uri="{D42A27DB-BD31-4B8C-83A1-F6EECF244321}">
                <p14:modId xmlns:p14="http://schemas.microsoft.com/office/powerpoint/2010/main" val="786057724"/>
              </p:ext>
            </p:extLst>
          </p:nvPr>
        </p:nvGraphicFramePr>
        <p:xfrm>
          <a:off x="1187624" y="1779662"/>
          <a:ext cx="6605587" cy="2190750"/>
        </p:xfrm>
        <a:graphic>
          <a:graphicData uri="http://schemas.openxmlformats.org/presentationml/2006/ole">
            <mc:AlternateContent xmlns:mc="http://schemas.openxmlformats.org/markup-compatibility/2006">
              <mc:Choice xmlns:v="urn:schemas-microsoft-com:vml" Requires="v">
                <p:oleObj r:id="rId5" imgW="3521075" imgH="1179195" progId="Visio.Drawing.11">
                  <p:embed/>
                </p:oleObj>
              </mc:Choice>
              <mc:Fallback>
                <p:oleObj r:id="rId5" imgW="3521075" imgH="1179195" progId="Visio.Drawing.11">
                  <p:embed/>
                  <p:pic>
                    <p:nvPicPr>
                      <p:cNvPr id="4" name="对象 4">
                        <a:extLst>
                          <a:ext uri="{FF2B5EF4-FFF2-40B4-BE49-F238E27FC236}">
                            <a16:creationId xmlns:a16="http://schemas.microsoft.com/office/drawing/2014/main" id="{08EA6F8E-A48A-4115-AEAE-29114A55F77D}"/>
                          </a:ext>
                        </a:extLst>
                      </p:cNvPr>
                      <p:cNvPicPr/>
                      <p:nvPr/>
                    </p:nvPicPr>
                    <p:blipFill>
                      <a:blip r:embed="rId6"/>
                      <a:stretch>
                        <a:fillRect/>
                      </a:stretch>
                    </p:blipFill>
                    <p:spPr>
                      <a:xfrm>
                        <a:off x="1187624" y="1779662"/>
                        <a:ext cx="6605587" cy="219075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1934458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5247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举例</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d>
                        <m:d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𝑡</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e>
                      </m:d>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𝑎𝑖</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d>
                        <m:d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𝑡</m:t>
                          </m:r>
                        </m:e>
                      </m:d>
                      <m:d>
                        <m:d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𝑖</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=1,2,3</m:t>
                          </m:r>
                        </m:e>
                      </m:d>
                    </m:oMath>
                  </m:oMathPara>
                </a14:m>
                <a:endParaRPr lang="en-US" altLang="zh-CN" b="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=1   </a:t>
                </a:r>
              </a:p>
              <a:p>
                <a:pPr>
                  <a:lnSpc>
                    <a:spcPct val="130000"/>
                  </a:lnSpc>
                  <a:spcBef>
                    <a:spcPts val="300"/>
                  </a:spcBef>
                  <a:spcAft>
                    <a:spcPts val="300"/>
                  </a:spcAft>
                </a:pPr>
                <a:r>
                  <a:rPr lang="zh-CN" altLang="en-US"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初始状态（</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0" i="1" baseline="-25000"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b="0" i="1" dirty="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a:t>)=0110</a:t>
                </a:r>
              </a:p>
              <a:p>
                <a:pPr>
                  <a:lnSpc>
                    <a:spcPct val="130000"/>
                  </a:lnSpc>
                  <a:spcBef>
                    <a:spcPts val="300"/>
                  </a:spcBef>
                  <a:spcAft>
                    <a:spcPts val="300"/>
                  </a:spcAft>
                </a:pPr>
                <a14:m>
                  <m:oMathPara xmlns:m="http://schemas.openxmlformats.org/officeDocument/2006/math">
                    <m:oMathParaPr>
                      <m:jc m:val="left"/>
                    </m:oMathParaPr>
                    <m:oMath xmlns:m="http://schemas.openxmlformats.org/officeDocument/2006/math">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4</m:t>
                      </m:r>
                      <m:d>
                        <m:d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𝑡</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e>
                      </m:d>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d>
                        <m:d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𝑡</m:t>
                          </m:r>
                        </m:e>
                      </m:d>
                      <m:r>
                        <a:rPr lang="en-US" altLang="zh-CN"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𝑎</m:t>
                      </m:r>
                      <m:r>
                        <a:rPr lang="en-US" altLang="zh-CN" b="0" i="1" baseline="-25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4</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𝑡</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m:oMathPara>
                </a14:m>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524794"/>
              </a:xfrm>
              <a:prstGeom prst="rect">
                <a:avLst/>
              </a:prstGeom>
              <a:blipFill>
                <a:blip r:embed="rId4"/>
                <a:stretch>
                  <a:fillRect l="-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graphicFrame>
        <p:nvGraphicFramePr>
          <p:cNvPr id="5" name="对象 12">
            <a:extLst>
              <a:ext uri="{FF2B5EF4-FFF2-40B4-BE49-F238E27FC236}">
                <a16:creationId xmlns:a16="http://schemas.microsoft.com/office/drawing/2014/main" id="{868AAE4D-E28D-4619-9F47-CE005053197F}"/>
              </a:ext>
            </a:extLst>
          </p:cNvPr>
          <p:cNvGraphicFramePr>
            <a:graphicFrameLocks noChangeAspect="1"/>
          </p:cNvGraphicFramePr>
          <p:nvPr>
            <p:extLst>
              <p:ext uri="{D42A27DB-BD31-4B8C-83A1-F6EECF244321}">
                <p14:modId xmlns:p14="http://schemas.microsoft.com/office/powerpoint/2010/main" val="3256016840"/>
              </p:ext>
            </p:extLst>
          </p:nvPr>
        </p:nvGraphicFramePr>
        <p:xfrm>
          <a:off x="4020856" y="498809"/>
          <a:ext cx="5126037" cy="2041525"/>
        </p:xfrm>
        <a:graphic>
          <a:graphicData uri="http://schemas.openxmlformats.org/presentationml/2006/ole">
            <mc:AlternateContent xmlns:mc="http://schemas.openxmlformats.org/markup-compatibility/2006">
              <mc:Choice xmlns:v="urn:schemas-microsoft-com:vml" Requires="v">
                <p:oleObj r:id="rId5" imgW="3072130" imgH="1227455" progId="Visio.Drawing.11">
                  <p:embed/>
                </p:oleObj>
              </mc:Choice>
              <mc:Fallback>
                <p:oleObj r:id="rId5" imgW="3072130" imgH="1227455" progId="Visio.Drawing.11">
                  <p:embed/>
                  <p:pic>
                    <p:nvPicPr>
                      <p:cNvPr id="5" name="对象 12">
                        <a:extLst>
                          <a:ext uri="{FF2B5EF4-FFF2-40B4-BE49-F238E27FC236}">
                            <a16:creationId xmlns:a16="http://schemas.microsoft.com/office/drawing/2014/main" id="{868AAE4D-E28D-4619-9F47-CE005053197F}"/>
                          </a:ext>
                        </a:extLst>
                      </p:cNvPr>
                      <p:cNvPicPr/>
                      <p:nvPr/>
                    </p:nvPicPr>
                    <p:blipFill>
                      <a:blip r:embed="rId6"/>
                      <a:stretch>
                        <a:fillRect/>
                      </a:stretch>
                    </p:blipFill>
                    <p:spPr>
                      <a:xfrm>
                        <a:off x="4020856" y="498809"/>
                        <a:ext cx="5126037" cy="2041525"/>
                      </a:xfrm>
                      <a:prstGeom prst="rect">
                        <a:avLst/>
                      </a:prstGeom>
                      <a:noFill/>
                      <a:ln w="38100">
                        <a:noFill/>
                        <a:miter/>
                      </a:ln>
                    </p:spPr>
                  </p:pic>
                </p:oleObj>
              </mc:Fallback>
            </mc:AlternateContent>
          </a:graphicData>
        </a:graphic>
      </p:graphicFrame>
      <p:graphicFrame>
        <p:nvGraphicFramePr>
          <p:cNvPr id="10" name="表格 9">
            <a:extLst>
              <a:ext uri="{FF2B5EF4-FFF2-40B4-BE49-F238E27FC236}">
                <a16:creationId xmlns:a16="http://schemas.microsoft.com/office/drawing/2014/main" id="{49F8B6F4-463D-4B53-9BF4-EAE2A1B69620}"/>
              </a:ext>
            </a:extLst>
          </p:cNvPr>
          <p:cNvGraphicFramePr>
            <a:graphicFrameLocks noGrp="1"/>
          </p:cNvGraphicFramePr>
          <p:nvPr>
            <p:extLst>
              <p:ext uri="{D42A27DB-BD31-4B8C-83A1-F6EECF244321}">
                <p14:modId xmlns:p14="http://schemas.microsoft.com/office/powerpoint/2010/main" val="3124417018"/>
              </p:ext>
            </p:extLst>
          </p:nvPr>
        </p:nvGraphicFramePr>
        <p:xfrm>
          <a:off x="3275856" y="2582961"/>
          <a:ext cx="5772147" cy="2356544"/>
        </p:xfrm>
        <a:graphic>
          <a:graphicData uri="http://schemas.openxmlformats.org/drawingml/2006/table">
            <a:tbl>
              <a:tblPr firstRow="1" firstCol="1" lastRow="1" lastCol="1" bandRow="1" bandCol="1">
                <a:tableStyleId>{5C22544A-7EE6-4342-B048-85BDC9FD1C3A}</a:tableStyleId>
              </a:tblPr>
              <a:tblGrid>
                <a:gridCol w="462047">
                  <a:extLst>
                    <a:ext uri="{9D8B030D-6E8A-4147-A177-3AD203B41FA5}">
                      <a16:colId xmlns:a16="http://schemas.microsoft.com/office/drawing/2014/main" val="20000"/>
                    </a:ext>
                  </a:extLst>
                </a:gridCol>
                <a:gridCol w="494266">
                  <a:extLst>
                    <a:ext uri="{9D8B030D-6E8A-4147-A177-3AD203B41FA5}">
                      <a16:colId xmlns:a16="http://schemas.microsoft.com/office/drawing/2014/main" val="20001"/>
                    </a:ext>
                  </a:extLst>
                </a:gridCol>
                <a:gridCol w="494266">
                  <a:extLst>
                    <a:ext uri="{9D8B030D-6E8A-4147-A177-3AD203B41FA5}">
                      <a16:colId xmlns:a16="http://schemas.microsoft.com/office/drawing/2014/main" val="20002"/>
                    </a:ext>
                  </a:extLst>
                </a:gridCol>
                <a:gridCol w="493580">
                  <a:extLst>
                    <a:ext uri="{9D8B030D-6E8A-4147-A177-3AD203B41FA5}">
                      <a16:colId xmlns:a16="http://schemas.microsoft.com/office/drawing/2014/main" val="20003"/>
                    </a:ext>
                  </a:extLst>
                </a:gridCol>
                <a:gridCol w="489467">
                  <a:extLst>
                    <a:ext uri="{9D8B030D-6E8A-4147-A177-3AD203B41FA5}">
                      <a16:colId xmlns:a16="http://schemas.microsoft.com/office/drawing/2014/main" val="20004"/>
                    </a:ext>
                  </a:extLst>
                </a:gridCol>
                <a:gridCol w="432568">
                  <a:extLst>
                    <a:ext uri="{9D8B030D-6E8A-4147-A177-3AD203B41FA5}">
                      <a16:colId xmlns:a16="http://schemas.microsoft.com/office/drawing/2014/main" val="20005"/>
                    </a:ext>
                  </a:extLst>
                </a:gridCol>
                <a:gridCol w="477813">
                  <a:extLst>
                    <a:ext uri="{9D8B030D-6E8A-4147-A177-3AD203B41FA5}">
                      <a16:colId xmlns:a16="http://schemas.microsoft.com/office/drawing/2014/main" val="20006"/>
                    </a:ext>
                  </a:extLst>
                </a:gridCol>
                <a:gridCol w="493580">
                  <a:extLst>
                    <a:ext uri="{9D8B030D-6E8A-4147-A177-3AD203B41FA5}">
                      <a16:colId xmlns:a16="http://schemas.microsoft.com/office/drawing/2014/main" val="20007"/>
                    </a:ext>
                  </a:extLst>
                </a:gridCol>
                <a:gridCol w="493580">
                  <a:extLst>
                    <a:ext uri="{9D8B030D-6E8A-4147-A177-3AD203B41FA5}">
                      <a16:colId xmlns:a16="http://schemas.microsoft.com/office/drawing/2014/main" val="20008"/>
                    </a:ext>
                  </a:extLst>
                </a:gridCol>
                <a:gridCol w="493580">
                  <a:extLst>
                    <a:ext uri="{9D8B030D-6E8A-4147-A177-3AD203B41FA5}">
                      <a16:colId xmlns:a16="http://schemas.microsoft.com/office/drawing/2014/main" val="20009"/>
                    </a:ext>
                  </a:extLst>
                </a:gridCol>
                <a:gridCol w="489467">
                  <a:extLst>
                    <a:ext uri="{9D8B030D-6E8A-4147-A177-3AD203B41FA5}">
                      <a16:colId xmlns:a16="http://schemas.microsoft.com/office/drawing/2014/main" val="20010"/>
                    </a:ext>
                  </a:extLst>
                </a:gridCol>
                <a:gridCol w="457933">
                  <a:extLst>
                    <a:ext uri="{9D8B030D-6E8A-4147-A177-3AD203B41FA5}">
                      <a16:colId xmlns:a16="http://schemas.microsoft.com/office/drawing/2014/main" val="20011"/>
                    </a:ext>
                  </a:extLst>
                </a:gridCol>
              </a:tblGrid>
              <a:tr h="206060">
                <a:tc>
                  <a:txBody>
                    <a:bodyPr/>
                    <a:lstStyle/>
                    <a:p>
                      <a:pPr algn="ctr">
                        <a:lnSpc>
                          <a:spcPct val="120000"/>
                        </a:lnSpc>
                        <a:spcAft>
                          <a:spcPts val="0"/>
                        </a:spcAft>
                      </a:pPr>
                      <a:r>
                        <a:rPr lang="en-US" alt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en-US" sz="1400" b="1" kern="100" baseline="-250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alt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1"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en-US" sz="1400" b="1" kern="100" baseline="-250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en-US" sz="1400" b="1" kern="100" baseline="-250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0</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 </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8</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1"/>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1</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9</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2"/>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2</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10</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3"/>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3</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11</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4"/>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4</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12</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5"/>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5</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13</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6"/>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6</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14</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0A9DD"/>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1</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a:solidFill>
                            <a:srgbClr val="000000"/>
                          </a:solidFill>
                          <a:effectLst/>
                          <a:latin typeface="Times New Roman" panose="02020603050405020304" pitchFamily="18" charset="0"/>
                          <a:cs typeface="Times New Roman" panose="02020603050405020304" pitchFamily="18" charset="0"/>
                        </a:rPr>
                        <a:t>0</a:t>
                      </a:r>
                      <a:endParaRPr lang="zh-CN" sz="1400" b="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7"/>
                  </a:ext>
                </a:extLst>
              </a:tr>
              <a:tr h="265350">
                <a:tc>
                  <a:txBody>
                    <a:bodyPr/>
                    <a:lstStyle/>
                    <a:p>
                      <a:pPr algn="ctr">
                        <a:lnSpc>
                          <a:spcPct val="120000"/>
                        </a:lnSpc>
                        <a:spcAft>
                          <a:spcPts val="0"/>
                        </a:spcAft>
                      </a:pPr>
                      <a:r>
                        <a:rPr lang="en-US" sz="1400" b="1" kern="100">
                          <a:solidFill>
                            <a:srgbClr val="000000"/>
                          </a:solidFill>
                          <a:effectLst/>
                          <a:latin typeface="Times New Roman" panose="02020603050405020304" pitchFamily="18" charset="0"/>
                          <a:cs typeface="Times New Roman" panose="02020603050405020304" pitchFamily="18" charset="0"/>
                        </a:rPr>
                        <a:t>7</a:t>
                      </a:r>
                      <a:endParaRPr lang="zh-CN" sz="1400" b="1"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1" kern="100" dirty="0">
                          <a:solidFill>
                            <a:srgbClr val="000000"/>
                          </a:solidFill>
                          <a:effectLst/>
                          <a:latin typeface="Times New Roman" panose="02020603050405020304" pitchFamily="18" charset="0"/>
                          <a:cs typeface="Times New Roman" panose="02020603050405020304" pitchFamily="18" charset="0"/>
                        </a:rPr>
                        <a:t>15</a:t>
                      </a:r>
                      <a:endParaRPr 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0</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tc>
                  <a:txBody>
                    <a:bodyPr/>
                    <a:lstStyle/>
                    <a:p>
                      <a:pPr algn="ctr">
                        <a:lnSpc>
                          <a:spcPct val="120000"/>
                        </a:lnSpc>
                        <a:spcAft>
                          <a:spcPts val="0"/>
                        </a:spcAft>
                      </a:pPr>
                      <a:r>
                        <a:rPr lang="en-US" sz="1400" b="0" kern="100" dirty="0">
                          <a:solidFill>
                            <a:srgbClr val="000000"/>
                          </a:solidFill>
                          <a:effectLst/>
                          <a:latin typeface="Times New Roman" panose="02020603050405020304" pitchFamily="18" charset="0"/>
                          <a:cs typeface="Times New Roman" panose="02020603050405020304" pitchFamily="18" charset="0"/>
                        </a:rPr>
                        <a:t>1</a:t>
                      </a:r>
                      <a:endParaRPr lang="zh-CN" sz="1400" b="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2F2"/>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77432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40660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LFSR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包括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16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31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比特寄存器单元变量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s0, s1, …, s15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LFSR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的运行模式有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种：</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初始化模式</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工作模式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32796765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2166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初始化模式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在初始化模式下，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接收一个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31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是由非线性函数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比特输出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通过舍弃最低位比特得到，即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 = w&gt;&gt;1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在初始化模式下，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计算过程如下：</a:t>
            </a:r>
            <a:endPar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5" name="文本框 4">
            <a:extLst>
              <a:ext uri="{FF2B5EF4-FFF2-40B4-BE49-F238E27FC236}">
                <a16:creationId xmlns:a16="http://schemas.microsoft.com/office/drawing/2014/main" id="{200C104A-2982-4697-BC27-CABFAF6F374C}"/>
              </a:ext>
            </a:extLst>
          </p:cNvPr>
          <p:cNvSpPr txBox="1"/>
          <p:nvPr/>
        </p:nvSpPr>
        <p:spPr>
          <a:xfrm>
            <a:off x="950622" y="2515566"/>
            <a:ext cx="7848872" cy="1707583"/>
          </a:xfrm>
          <a:prstGeom prst="rect">
            <a:avLst/>
          </a:prstGeom>
          <a:noFill/>
        </p:spPr>
        <p:txBody>
          <a:bodyPr wrap="square">
            <a:spAutoFit/>
          </a:bodyPr>
          <a:lstStyle/>
          <a:p>
            <a:pPr>
              <a:lnSpc>
                <a:spcPct val="120000"/>
              </a:lnSpc>
              <a:spcBef>
                <a:spcPts val="600"/>
              </a:spcBef>
              <a:spcAft>
                <a:spcPts val="6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v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17</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13</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8</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mod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600"/>
              </a:spcBef>
              <a:spcAft>
                <a:spcPts val="6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err="1">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v+u</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mod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600"/>
              </a:spcBef>
              <a:spcAft>
                <a:spcPts val="6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  </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如果 </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，则置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600"/>
              </a:spcBef>
              <a:spcAft>
                <a:spcPts val="6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(4)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14</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63679054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037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工作模式</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在工作模式下，相比于初始化模式，没有输入，计算过程如下</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5" name="文本框 4">
            <a:extLst>
              <a:ext uri="{FF2B5EF4-FFF2-40B4-BE49-F238E27FC236}">
                <a16:creationId xmlns:a16="http://schemas.microsoft.com/office/drawing/2014/main" id="{200C104A-2982-4697-BC27-CABFAF6F374C}"/>
              </a:ext>
            </a:extLst>
          </p:cNvPr>
          <p:cNvSpPr txBox="1"/>
          <p:nvPr/>
        </p:nvSpPr>
        <p:spPr>
          <a:xfrm>
            <a:off x="647564" y="1727608"/>
            <a:ext cx="7848872" cy="984885"/>
          </a:xfrm>
          <a:prstGeom prst="rect">
            <a:avLst/>
          </a:prstGeom>
          <a:noFill/>
        </p:spPr>
        <p:txBody>
          <a:bodyPr wrap="square">
            <a:spAutoFit/>
          </a:bodyPr>
          <a:lstStyle/>
          <a:p>
            <a:pPr>
              <a:spcBef>
                <a:spcPts val="300"/>
              </a:spcBef>
              <a:spcAft>
                <a:spcPts val="3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17</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13</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4</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(1 + 2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8</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mod (2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  </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如果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，则置 </a:t>
            </a:r>
            <a:r>
              <a:rPr lang="en-US" altLang="zh-CN"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rPr>
              <a:t>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baseline="30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lang="zh-CN" altLang="en-US"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16</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14</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en-US"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lang="en-US"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0724616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6156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比特重组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BR</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输入为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寄存器单元变量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14</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。计算过程如下：</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4" name="文本框 3">
            <a:extLst>
              <a:ext uri="{FF2B5EF4-FFF2-40B4-BE49-F238E27FC236}">
                <a16:creationId xmlns:a16="http://schemas.microsoft.com/office/drawing/2014/main" id="{19FCC8AF-215D-4AB4-A573-FADD57526A6E}"/>
              </a:ext>
            </a:extLst>
          </p:cNvPr>
          <p:cNvSpPr txBox="1"/>
          <p:nvPr/>
        </p:nvSpPr>
        <p:spPr>
          <a:xfrm>
            <a:off x="647564" y="2043795"/>
            <a:ext cx="7848872" cy="1308050"/>
          </a:xfrm>
          <a:prstGeom prst="rect">
            <a:avLst/>
          </a:prstGeom>
          <a:noFill/>
        </p:spPr>
        <p:txBody>
          <a:bodyPr wrap="square">
            <a:spAutoFit/>
          </a:bodyPr>
          <a:lstStyle/>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 </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15H</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14L</a:t>
            </a:r>
            <a:endParaRPr lang="zh-CN" altLang="pt-BR"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  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11L</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9H</a:t>
            </a:r>
            <a:endParaRPr lang="zh-CN" altLang="pt-BR"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  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7L</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5H</a:t>
            </a:r>
            <a:endParaRPr lang="zh-CN" altLang="pt-BR"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(4)  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3</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2L</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‖S</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0H</a:t>
            </a:r>
            <a:endPar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24478614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5556" y="512646"/>
            <a:ext cx="8208912" cy="344677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非线性函数 </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a:t>
            </a: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当中包含了两个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32bit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记忆单元变量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输入为上次经过比特重组的前三个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输出为一个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32bit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计算过程如下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S-Box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变换，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L1​, L2​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比特线性变化</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4" name="文本框 3">
            <a:extLst>
              <a:ext uri="{FF2B5EF4-FFF2-40B4-BE49-F238E27FC236}">
                <a16:creationId xmlns:a16="http://schemas.microsoft.com/office/drawing/2014/main" id="{19FCC8AF-215D-4AB4-A573-FADD57526A6E}"/>
              </a:ext>
            </a:extLst>
          </p:cNvPr>
          <p:cNvSpPr txBox="1"/>
          <p:nvPr/>
        </p:nvSpPr>
        <p:spPr>
          <a:xfrm>
            <a:off x="2123728" y="1877159"/>
            <a:ext cx="6444716" cy="1661993"/>
          </a:xfrm>
          <a:prstGeom prst="rect">
            <a:avLst/>
          </a:prstGeom>
          <a:noFill/>
        </p:spPr>
        <p:txBody>
          <a:bodyPr wrap="square">
            <a:spAutoFit/>
          </a:bodyPr>
          <a:lstStyle/>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accent1"/>
                </a:solidFill>
                <a:effectLst/>
                <a:latin typeface="Century Gothic" panose="020B0502020202020204" pitchFamily="34" charset="0"/>
                <a:ea typeface="微软雅黑" panose="020B0503020204020204" pitchFamily="34" charset="-122"/>
                <a:cs typeface="Times New Roman" panose="02020603050405020304" pitchFamily="18" charset="0"/>
              </a:rPr>
              <a:t>田</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pt-BR"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effectLst/>
                <a:latin typeface="Century Gothic" panose="020B0502020202020204" pitchFamily="34" charset="0"/>
                <a:ea typeface="微软雅黑" panose="020B0503020204020204" pitchFamily="34" charset="-122"/>
                <a:cs typeface="Times New Roman" panose="02020603050405020304" pitchFamily="18" charset="0"/>
              </a:rPr>
              <a:t>田</a:t>
            </a:r>
            <a:r>
              <a:rPr lang="zh-CN" altLang="en-US"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表示 </a:t>
            </a:r>
            <a:r>
              <a:rPr lang="pt-BR"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mod 2</a:t>
            </a:r>
            <a:r>
              <a:rPr lang="pt-BR" altLang="zh-CN" sz="1600" baseline="30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32</a:t>
            </a:r>
            <a:endParaRPr lang="pt-BR" altLang="zh-CN" sz="1600" baseline="30000" dirty="0">
              <a:solidFill>
                <a:srgbClr val="FF0000"/>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1600" dirty="0">
                <a:solidFill>
                  <a:schemeClr val="accent1"/>
                </a:solidFill>
                <a:effectLst/>
                <a:latin typeface="Century Gothic" panose="020B0502020202020204" pitchFamily="34" charset="0"/>
                <a:ea typeface="微软雅黑" panose="020B0503020204020204" pitchFamily="34" charset="-122"/>
                <a:cs typeface="Times New Roman" panose="02020603050405020304" pitchFamily="18" charset="0"/>
              </a:rPr>
              <a:t>田</a:t>
            </a:r>
            <a:r>
              <a:rPr lang="en-US" altLang="zh-CN" sz="1600" dirty="0">
                <a:solidFill>
                  <a:schemeClr val="accent1"/>
                </a:solidFill>
                <a:effectLst/>
                <a:latin typeface="Century Gothic" panose="020B0502020202020204" pitchFamily="34" charset="0"/>
                <a:ea typeface="微软雅黑" panose="020B0503020204020204" pitchFamily="34" charset="-122"/>
                <a:cs typeface="Times New Roman" panose="02020603050405020304" pitchFamily="18" charset="0"/>
              </a:rPr>
              <a:t> </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 </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S(L</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1L</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2H</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S(L</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2L </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 || W</a:t>
            </a:r>
            <a:r>
              <a:rPr lang="pt-BR" altLang="zh-CN" sz="1600" baseline="-250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1H</a:t>
            </a: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600" dirty="0">
              <a:solidFill>
                <a:srgbClr val="20A9DD"/>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387080F4-4887-4614-8338-438498CB8674}"/>
              </a:ext>
            </a:extLst>
          </p:cNvPr>
          <p:cNvSpPr txBox="1"/>
          <p:nvPr/>
        </p:nvSpPr>
        <p:spPr>
          <a:xfrm>
            <a:off x="2123728" y="4017731"/>
            <a:ext cx="7848872" cy="661720"/>
          </a:xfrm>
          <a:prstGeom prst="rect">
            <a:avLst/>
          </a:prstGeom>
          <a:noFill/>
        </p:spPr>
        <p:txBody>
          <a:bodyPr wrap="square">
            <a:spAutoFit/>
          </a:bodyPr>
          <a:lstStyle/>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L1​(X)=X⊕(X&lt;&lt;&lt;2)⊕(X&lt;&lt;&lt;10)⊕(X&lt;&lt;&lt;18)⊕(X&lt;&lt;&lt;24)</a:t>
            </a:r>
          </a:p>
          <a:p>
            <a:pPr>
              <a:spcBef>
                <a:spcPts val="300"/>
              </a:spcBef>
              <a:spcAft>
                <a:spcPts val="300"/>
              </a:spcAft>
            </a:pPr>
            <a:r>
              <a:rPr lang="pt-BR" altLang="zh-CN" sz="1600" dirty="0">
                <a:solidFill>
                  <a:srgbClr val="20A9DD"/>
                </a:solidFill>
                <a:effectLst/>
                <a:latin typeface="Times New Roman" panose="02020603050405020304" pitchFamily="18" charset="0"/>
                <a:ea typeface="华文楷体" panose="02010600040101010101" pitchFamily="2" charset="-122"/>
                <a:cs typeface="Times New Roman" panose="02020603050405020304" pitchFamily="18" charset="0"/>
              </a:rPr>
              <a:t>L2​(X)=X⊕(X&lt;&lt;&lt;8)⊕(X&lt;&lt;&lt;14)⊕(X&lt;&lt;&lt;22)⊕(X&lt;&lt;&lt;30)</a:t>
            </a:r>
          </a:p>
        </p:txBody>
      </p:sp>
    </p:spTree>
    <p:extLst>
      <p:ext uri="{BB962C8B-B14F-4D97-AF65-F5344CB8AC3E}">
        <p14:creationId xmlns:p14="http://schemas.microsoft.com/office/powerpoint/2010/main" val="25798292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784510"/>
          </a:xfrm>
          <a:prstGeom prst="rect">
            <a:avLst/>
          </a:prstGeom>
          <a:noFill/>
        </p:spPr>
        <p:txBody>
          <a:bodyPr wrap="square" rtlCol="0">
            <a:spAutoFit/>
          </a:bodyPr>
          <a:lstStyle/>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函数中包含的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盒是由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个并列的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盒组成的，即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S1,S2,S3)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S0=S2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S1=S3</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5" name="Rectangle 3">
            <a:extLst>
              <a:ext uri="{FF2B5EF4-FFF2-40B4-BE49-F238E27FC236}">
                <a16:creationId xmlns:a16="http://schemas.microsoft.com/office/drawing/2014/main" id="{70AE25E0-1D9D-430E-BBE1-BA7516D0E019}"/>
              </a:ext>
            </a:extLst>
          </p:cNvPr>
          <p:cNvSpPr txBox="1">
            <a:spLocks noChangeArrowheads="1"/>
          </p:cNvSpPr>
          <p:nvPr/>
        </p:nvSpPr>
        <p:spPr>
          <a:xfrm>
            <a:off x="1835697" y="1419623"/>
            <a:ext cx="5472608" cy="430320"/>
          </a:xfrm>
          <a:prstGeom prst="rect">
            <a:avLst/>
          </a:prstGeom>
        </p:spPr>
        <p:txBody>
          <a:bodyPr vert="horz" wrap="square" lIns="91440" tIns="45720" rIns="91440" bIns="45720" numCol="1" anchor="t" anchorCtr="0" compatLnSpc="1"/>
          <a:lst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eaLnBrk="0" fontAlgn="base" hangingPunct="0">
              <a:lnSpc>
                <a:spcPct val="150000"/>
              </a:lnSpc>
              <a:spcAft>
                <a:spcPct val="0"/>
              </a:spcAft>
              <a:buNone/>
              <a:defRPr/>
            </a:pPr>
            <a:r>
              <a:rPr lang="en-US" altLang="zh-CN" sz="1800" b="1" kern="0" dirty="0">
                <a:solidFill>
                  <a:srgbClr val="20A9DD"/>
                </a:solidFill>
                <a:latin typeface="Times New Roman" panose="02020603050405020304" pitchFamily="18" charset="0"/>
                <a:ea typeface="幼圆" panose="02010509060101010101" pitchFamily="49" charset="-122"/>
                <a:cs typeface="Times New Roman" panose="02020603050405020304" pitchFamily="18" charset="0"/>
              </a:rPr>
              <a:t>S0                                                                                    S1</a:t>
            </a:r>
            <a:endParaRPr lang="zh-CN" altLang="en-US" sz="1800" b="1" kern="0" dirty="0">
              <a:solidFill>
                <a:srgbClr val="20A9DD"/>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6" name="Picture 2">
            <a:extLst>
              <a:ext uri="{FF2B5EF4-FFF2-40B4-BE49-F238E27FC236}">
                <a16:creationId xmlns:a16="http://schemas.microsoft.com/office/drawing/2014/main" id="{184386AB-5DE3-41C3-ABC5-6B5B0F0DE2A1}"/>
              </a:ext>
            </a:extLst>
          </p:cNvPr>
          <p:cNvPicPr>
            <a:picLocks noChangeAspect="1"/>
          </p:cNvPicPr>
          <p:nvPr/>
        </p:nvPicPr>
        <p:blipFill>
          <a:blip r:embed="rId3"/>
          <a:stretch>
            <a:fillRect/>
          </a:stretch>
        </p:blipFill>
        <p:spPr>
          <a:xfrm>
            <a:off x="338872" y="1851025"/>
            <a:ext cx="4022725" cy="3292475"/>
          </a:xfrm>
          <a:prstGeom prst="rect">
            <a:avLst/>
          </a:prstGeom>
          <a:noFill/>
          <a:ln w="9525">
            <a:noFill/>
          </a:ln>
        </p:spPr>
      </p:pic>
      <p:pic>
        <p:nvPicPr>
          <p:cNvPr id="7" name="Picture 3">
            <a:extLst>
              <a:ext uri="{FF2B5EF4-FFF2-40B4-BE49-F238E27FC236}">
                <a16:creationId xmlns:a16="http://schemas.microsoft.com/office/drawing/2014/main" id="{26A7FC1A-24CC-4564-B201-F4415028B8D8}"/>
              </a:ext>
            </a:extLst>
          </p:cNvPr>
          <p:cNvPicPr>
            <a:picLocks noChangeAspect="1"/>
          </p:cNvPicPr>
          <p:nvPr/>
        </p:nvPicPr>
        <p:blipFill>
          <a:blip r:embed="rId4"/>
          <a:stretch>
            <a:fillRect/>
          </a:stretch>
        </p:blipFill>
        <p:spPr>
          <a:xfrm>
            <a:off x="4704497" y="1851025"/>
            <a:ext cx="4100631" cy="3270624"/>
          </a:xfrm>
          <a:prstGeom prst="rect">
            <a:avLst/>
          </a:prstGeom>
          <a:noFill/>
          <a:ln w="9525">
            <a:noFill/>
          </a:ln>
        </p:spPr>
      </p:pic>
    </p:spTree>
    <p:extLst>
      <p:ext uri="{BB962C8B-B14F-4D97-AF65-F5344CB8AC3E}">
        <p14:creationId xmlns:p14="http://schemas.microsoft.com/office/powerpoint/2010/main" val="26225786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306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密钥装入</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每个密钥和初始化向量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分组都按照如下的方式进行拼接</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
        <p:nvSpPr>
          <p:cNvPr id="2" name="矩形 1">
            <a:extLst>
              <a:ext uri="{FF2B5EF4-FFF2-40B4-BE49-F238E27FC236}">
                <a16:creationId xmlns:a16="http://schemas.microsoft.com/office/drawing/2014/main" id="{890481CD-F6FD-748B-34B3-7C5D29C0585B}"/>
              </a:ext>
            </a:extLst>
          </p:cNvPr>
          <p:cNvSpPr/>
          <p:nvPr/>
        </p:nvSpPr>
        <p:spPr>
          <a:xfrm>
            <a:off x="755576" y="1779662"/>
            <a:ext cx="1728192" cy="432048"/>
          </a:xfrm>
          <a:prstGeom prst="rect">
            <a:avLst/>
          </a:prstGeom>
          <a:solidFill>
            <a:srgbClr val="83EB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KEY(8)</a:t>
            </a:r>
            <a:endParaRPr lang="zh-CN" altLang="en-US" sz="1400" dirty="0">
              <a:solidFill>
                <a:schemeClr val="tx1"/>
              </a:solidFill>
            </a:endParaRPr>
          </a:p>
        </p:txBody>
      </p:sp>
      <p:sp>
        <p:nvSpPr>
          <p:cNvPr id="4" name="矩形 3">
            <a:extLst>
              <a:ext uri="{FF2B5EF4-FFF2-40B4-BE49-F238E27FC236}">
                <a16:creationId xmlns:a16="http://schemas.microsoft.com/office/drawing/2014/main" id="{E5259A8F-48C7-5F08-CC0A-8792D68E2AD7}"/>
              </a:ext>
            </a:extLst>
          </p:cNvPr>
          <p:cNvSpPr/>
          <p:nvPr/>
        </p:nvSpPr>
        <p:spPr>
          <a:xfrm>
            <a:off x="2486520" y="1779662"/>
            <a:ext cx="3381623" cy="432048"/>
          </a:xfrm>
          <a:prstGeom prst="rect">
            <a:avLst/>
          </a:prstGeom>
          <a:solidFill>
            <a:srgbClr val="F1C3D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D(15)</a:t>
            </a:r>
            <a:endParaRPr lang="zh-CN" altLang="en-US" sz="1400" dirty="0">
              <a:solidFill>
                <a:schemeClr val="tx1"/>
              </a:solidFill>
            </a:endParaRPr>
          </a:p>
        </p:txBody>
      </p:sp>
      <p:sp>
        <p:nvSpPr>
          <p:cNvPr id="6" name="矩形 5">
            <a:extLst>
              <a:ext uri="{FF2B5EF4-FFF2-40B4-BE49-F238E27FC236}">
                <a16:creationId xmlns:a16="http://schemas.microsoft.com/office/drawing/2014/main" id="{ED196D92-CCF2-4F1A-AC8D-EE1B44866DE5}"/>
              </a:ext>
            </a:extLst>
          </p:cNvPr>
          <p:cNvSpPr/>
          <p:nvPr/>
        </p:nvSpPr>
        <p:spPr>
          <a:xfrm>
            <a:off x="5868143" y="1779662"/>
            <a:ext cx="1728192" cy="432048"/>
          </a:xfrm>
          <a:prstGeom prst="rect">
            <a:avLst/>
          </a:prstGeom>
          <a:solidFill>
            <a:srgbClr val="88B0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IV(8)</a:t>
            </a:r>
            <a:endParaRPr lang="zh-CN" altLang="en-US" sz="1400" dirty="0">
              <a:solidFill>
                <a:schemeClr val="tx1"/>
              </a:solidFill>
            </a:endParaRPr>
          </a:p>
        </p:txBody>
      </p:sp>
      <p:graphicFrame>
        <p:nvGraphicFramePr>
          <p:cNvPr id="7" name="表格 7">
            <a:extLst>
              <a:ext uri="{FF2B5EF4-FFF2-40B4-BE49-F238E27FC236}">
                <a16:creationId xmlns:a16="http://schemas.microsoft.com/office/drawing/2014/main" id="{CB1F2FB7-2D01-2AA6-0627-C4DA62015E05}"/>
              </a:ext>
            </a:extLst>
          </p:cNvPr>
          <p:cNvGraphicFramePr>
            <a:graphicFrameLocks noGrp="1"/>
          </p:cNvGraphicFramePr>
          <p:nvPr>
            <p:extLst>
              <p:ext uri="{D42A27DB-BD31-4B8C-83A1-F6EECF244321}">
                <p14:modId xmlns:p14="http://schemas.microsoft.com/office/powerpoint/2010/main" val="1212940075"/>
              </p:ext>
            </p:extLst>
          </p:nvPr>
        </p:nvGraphicFramePr>
        <p:xfrm>
          <a:off x="755576" y="2355726"/>
          <a:ext cx="6192688" cy="2682240"/>
        </p:xfrm>
        <a:graphic>
          <a:graphicData uri="http://schemas.openxmlformats.org/drawingml/2006/table">
            <a:tbl>
              <a:tblPr firstRow="1" bandRow="1">
                <a:tableStyleId>{16D9F66E-5EB9-4882-86FB-DCBF35E3C3E4}</a:tableStyleId>
              </a:tblPr>
              <a:tblGrid>
                <a:gridCol w="728552">
                  <a:extLst>
                    <a:ext uri="{9D8B030D-6E8A-4147-A177-3AD203B41FA5}">
                      <a16:colId xmlns:a16="http://schemas.microsoft.com/office/drawing/2014/main" val="3879680120"/>
                    </a:ext>
                  </a:extLst>
                </a:gridCol>
                <a:gridCol w="2367792">
                  <a:extLst>
                    <a:ext uri="{9D8B030D-6E8A-4147-A177-3AD203B41FA5}">
                      <a16:colId xmlns:a16="http://schemas.microsoft.com/office/drawing/2014/main" val="531595743"/>
                    </a:ext>
                  </a:extLst>
                </a:gridCol>
                <a:gridCol w="692124">
                  <a:extLst>
                    <a:ext uri="{9D8B030D-6E8A-4147-A177-3AD203B41FA5}">
                      <a16:colId xmlns:a16="http://schemas.microsoft.com/office/drawing/2014/main" val="3827103182"/>
                    </a:ext>
                  </a:extLst>
                </a:gridCol>
                <a:gridCol w="2404220">
                  <a:extLst>
                    <a:ext uri="{9D8B030D-6E8A-4147-A177-3AD203B41FA5}">
                      <a16:colId xmlns:a16="http://schemas.microsoft.com/office/drawing/2014/main" val="258804718"/>
                    </a:ext>
                  </a:extLst>
                </a:gridCol>
              </a:tblGrid>
              <a:tr h="279031">
                <a:tc>
                  <a:txBody>
                    <a:bodyPr/>
                    <a:lstStyle/>
                    <a:p>
                      <a:pPr algn="ctr"/>
                      <a:r>
                        <a:rPr lang="en-US" altLang="zh-CN" sz="1600" b="1" dirty="0"/>
                        <a:t>d</a:t>
                      </a:r>
                      <a:r>
                        <a:rPr lang="en-US" altLang="zh-CN" sz="1600" b="1" baseline="-25000" dirty="0"/>
                        <a:t>0</a:t>
                      </a:r>
                      <a:endParaRPr lang="zh-CN" altLang="en-US" sz="1600" b="1" baseline="-25000" dirty="0"/>
                    </a:p>
                  </a:txBody>
                  <a:tcPr/>
                </a:tc>
                <a:tc>
                  <a:txBody>
                    <a:bodyPr/>
                    <a:lstStyle/>
                    <a:p>
                      <a:pPr algn="ctr"/>
                      <a:r>
                        <a:rPr lang="en-US" altLang="zh-CN" sz="1600" b="0" dirty="0"/>
                        <a:t>100010011010111</a:t>
                      </a:r>
                      <a:endParaRPr lang="zh-CN" altLang="en-US" sz="1600" b="0" dirty="0"/>
                    </a:p>
                  </a:txBody>
                  <a:tcPr/>
                </a:tc>
                <a:tc>
                  <a:txBody>
                    <a:bodyPr/>
                    <a:lstStyle/>
                    <a:p>
                      <a:pPr algn="ctr"/>
                      <a:r>
                        <a:rPr lang="en-US" altLang="zh-CN" sz="1600" b="1" dirty="0"/>
                        <a:t>d</a:t>
                      </a:r>
                      <a:r>
                        <a:rPr lang="en-US" altLang="zh-CN" sz="1600" b="1" baseline="-25000" dirty="0"/>
                        <a:t>8</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100110101111000</a:t>
                      </a:r>
                      <a:endParaRPr lang="zh-CN" altLang="en-US" sz="1600" b="0" dirty="0"/>
                    </a:p>
                  </a:txBody>
                  <a:tcPr/>
                </a:tc>
                <a:extLst>
                  <a:ext uri="{0D108BD9-81ED-4DB2-BD59-A6C34878D82A}">
                    <a16:rowId xmlns:a16="http://schemas.microsoft.com/office/drawing/2014/main" val="259941454"/>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a:t>
                      </a:r>
                      <a:endParaRPr lang="zh-CN" altLang="en-US" sz="1600" b="1" baseline="-25000" dirty="0"/>
                    </a:p>
                  </a:txBody>
                  <a:tcPr/>
                </a:tc>
                <a:tc>
                  <a:txBody>
                    <a:bodyPr/>
                    <a:lstStyle/>
                    <a:p>
                      <a:pPr algn="ctr"/>
                      <a:r>
                        <a:rPr lang="en-US" altLang="zh-CN" sz="1600" b="0" dirty="0"/>
                        <a:t>010011010111100</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9</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010111100010011</a:t>
                      </a:r>
                      <a:endParaRPr lang="zh-CN" altLang="en-US" sz="1600" b="0" dirty="0"/>
                    </a:p>
                  </a:txBody>
                  <a:tcPr/>
                </a:tc>
                <a:extLst>
                  <a:ext uri="{0D108BD9-81ED-4DB2-BD59-A6C34878D82A}">
                    <a16:rowId xmlns:a16="http://schemas.microsoft.com/office/drawing/2014/main" val="3866395234"/>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2</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110001001101011</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10</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110101111000100</a:t>
                      </a:r>
                      <a:endParaRPr lang="zh-CN" altLang="en-US" sz="1600" b="0" dirty="0"/>
                    </a:p>
                  </a:txBody>
                  <a:tcPr/>
                </a:tc>
                <a:extLst>
                  <a:ext uri="{0D108BD9-81ED-4DB2-BD59-A6C34878D82A}">
                    <a16:rowId xmlns:a16="http://schemas.microsoft.com/office/drawing/2014/main" val="1599813548"/>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3</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001001101011110</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11</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001101011110001</a:t>
                      </a:r>
                      <a:endParaRPr lang="zh-CN" altLang="en-US" sz="1600" b="0" dirty="0"/>
                    </a:p>
                  </a:txBody>
                  <a:tcPr/>
                </a:tc>
                <a:extLst>
                  <a:ext uri="{0D108BD9-81ED-4DB2-BD59-A6C34878D82A}">
                    <a16:rowId xmlns:a16="http://schemas.microsoft.com/office/drawing/2014/main" val="4028260209"/>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4</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101011110001001</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12</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101111000100110</a:t>
                      </a:r>
                      <a:endParaRPr lang="zh-CN" altLang="en-US" sz="1600" b="0" dirty="0"/>
                    </a:p>
                  </a:txBody>
                  <a:tcPr/>
                </a:tc>
                <a:extLst>
                  <a:ext uri="{0D108BD9-81ED-4DB2-BD59-A6C34878D82A}">
                    <a16:rowId xmlns:a16="http://schemas.microsoft.com/office/drawing/2014/main" val="1202684282"/>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5</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011010111100010</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13</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011110001001101</a:t>
                      </a:r>
                      <a:endParaRPr lang="zh-CN" altLang="en-US" sz="1600" b="0" dirty="0"/>
                    </a:p>
                  </a:txBody>
                  <a:tcPr/>
                </a:tc>
                <a:extLst>
                  <a:ext uri="{0D108BD9-81ED-4DB2-BD59-A6C34878D82A}">
                    <a16:rowId xmlns:a16="http://schemas.microsoft.com/office/drawing/2014/main" val="3200398760"/>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6</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111000100110101</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14</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111100010011010</a:t>
                      </a:r>
                      <a:endParaRPr lang="zh-CN" altLang="en-US" sz="1600" b="0" dirty="0"/>
                    </a:p>
                  </a:txBody>
                  <a:tcPr/>
                </a:tc>
                <a:extLst>
                  <a:ext uri="{0D108BD9-81ED-4DB2-BD59-A6C34878D82A}">
                    <a16:rowId xmlns:a16="http://schemas.microsoft.com/office/drawing/2014/main" val="3443686885"/>
                  </a:ext>
                </a:extLst>
              </a:tr>
              <a:tr h="279031">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7</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000100110101111</a:t>
                      </a:r>
                      <a:endParaRPr lang="zh-CN" altLang="en-US" sz="1600" b="0" dirty="0"/>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sz="1600" b="1" dirty="0"/>
                        <a:t>d</a:t>
                      </a:r>
                      <a:r>
                        <a:rPr lang="en-US" altLang="zh-CN" sz="1600" b="1" baseline="-25000" dirty="0"/>
                        <a:t>15</a:t>
                      </a:r>
                      <a:endParaRPr lang="zh-CN" altLang="en-US" sz="1600" b="1" baseline="-25000" dirty="0"/>
                    </a:p>
                  </a:txBody>
                  <a:tcPr/>
                </a:tc>
                <a:tc>
                  <a:txBody>
                    <a:bodyPr/>
                    <a:lstStyle/>
                    <a:p>
                      <a:pPr algn="ctr"/>
                      <a:r>
                        <a:rPr lang="en-US" altLang="zh-CN" sz="1600" b="0" kern="1200" dirty="0">
                          <a:solidFill>
                            <a:schemeClr val="dk1"/>
                          </a:solidFill>
                          <a:effectLst/>
                          <a:latin typeface="+mn-lt"/>
                          <a:ea typeface="+mn-ea"/>
                          <a:cs typeface="+mn-cs"/>
                        </a:rPr>
                        <a:t>100011110101100</a:t>
                      </a:r>
                      <a:endParaRPr lang="zh-CN" altLang="en-US" sz="1600" b="0" dirty="0"/>
                    </a:p>
                  </a:txBody>
                  <a:tcPr/>
                </a:tc>
                <a:extLst>
                  <a:ext uri="{0D108BD9-81ED-4DB2-BD59-A6C34878D82A}">
                    <a16:rowId xmlns:a16="http://schemas.microsoft.com/office/drawing/2014/main" val="3848979363"/>
                  </a:ext>
                </a:extLst>
              </a:tr>
            </a:tbl>
          </a:graphicData>
        </a:graphic>
      </p:graphicFrame>
    </p:spTree>
    <p:extLst>
      <p:ext uri="{BB962C8B-B14F-4D97-AF65-F5344CB8AC3E}">
        <p14:creationId xmlns:p14="http://schemas.microsoft.com/office/powerpoint/2010/main" val="172992620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20808"/>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算法初始化</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首先装在密钥，然后记忆单元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R1​, R2​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均置</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按照下面的过程重复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次</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714375"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比特重组</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 F(X0​, X1​, X2​)</a:t>
            </a:r>
            <a:r>
              <a:rPr lang="en-US" altLang="zh-CN" sz="1600" dirty="0">
                <a:solidFill>
                  <a:srgbClr val="008F92"/>
                </a:solidFill>
                <a:latin typeface="等线" panose="02010600030101010101" pitchFamily="2" charset="-122"/>
                <a:ea typeface="等线" panose="0201060003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等线" panose="02010600030101010101" pitchFamily="2" charset="-122"/>
                <a:cs typeface="Times New Roman" panose="02020603050405020304" pitchFamily="18" charset="0"/>
                <a:sym typeface="Arial" panose="020B0604020202020204" pitchFamily="34" charset="0"/>
              </a:rPr>
              <a:t>X3</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初始化模式</a:t>
            </a:r>
          </a:p>
          <a:p>
            <a:pPr marL="342900" indent="-342900">
              <a:lnSpc>
                <a:spcPct val="130000"/>
              </a:lnSpc>
              <a:spcBef>
                <a:spcPts val="300"/>
              </a:spcBef>
              <a:spcAft>
                <a:spcPts val="300"/>
              </a:spcAft>
              <a:buFont typeface="+mj-lt"/>
              <a:buAutoNum type="arabicPeriod"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密钥生成阶段</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首先执行一次</a:t>
            </a:r>
          </a:p>
          <a:p>
            <a:pPr marL="714375"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比特重组</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 F(X0​, X1​, X2​)</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工作模式</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39652711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52550"/>
          </a:xfrm>
          <a:prstGeom prst="rect">
            <a:avLst/>
          </a:prstGeom>
          <a:noFill/>
        </p:spPr>
        <p:txBody>
          <a:bodyPr wrap="square" rtlCol="0">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第一轮输出的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丢掉不要；然后按照下面的方式输出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位的字</a:t>
            </a:r>
          </a:p>
          <a:p>
            <a:pPr marL="714375"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比特重组</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 = F( X0​, X1​, X2​)</a:t>
            </a:r>
            <a:r>
              <a:rPr lang="en-US" altLang="zh-CN" sz="1600" dirty="0">
                <a:solidFill>
                  <a:srgbClr val="008F92"/>
                </a:solidFill>
                <a:latin typeface="等线" panose="02010600030101010101" pitchFamily="2" charset="-122"/>
                <a:ea typeface="等线" panose="0201060003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等线" panose="02010600030101010101" pitchFamily="2" charset="-122"/>
                <a:cs typeface="Times New Roman" panose="02020603050405020304" pitchFamily="18" charset="0"/>
                <a:sym typeface="Arial" panose="020B0604020202020204" pitchFamily="34" charset="0"/>
              </a:rPr>
              <a:t>X3</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14375"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输出密钥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p>
          <a:p>
            <a:pPr marL="714375"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LFSR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工作模式</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spTree>
    <p:extLst>
      <p:ext uri="{BB962C8B-B14F-4D97-AF65-F5344CB8AC3E}">
        <p14:creationId xmlns:p14="http://schemas.microsoft.com/office/powerpoint/2010/main" val="47988671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祖冲之（</a:t>
            </a:r>
            <a:r>
              <a:rPr lang="en-US" altLang="zh-CN" sz="2000" b="1" dirty="0">
                <a:solidFill>
                  <a:schemeClr val="tx1">
                    <a:lumMod val="50000"/>
                    <a:lumOff val="50000"/>
                  </a:schemeClr>
                </a:solidFill>
                <a:latin typeface="微软雅黑" pitchFamily="34" charset="-122"/>
                <a:ea typeface="微软雅黑" pitchFamily="34" charset="-122"/>
              </a:rPr>
              <a:t>ZUC</a:t>
            </a:r>
            <a:r>
              <a:rPr lang="zh-CN" altLang="en-US" sz="2000" b="1" dirty="0">
                <a:solidFill>
                  <a:schemeClr val="tx1">
                    <a:lumMod val="50000"/>
                    <a:lumOff val="50000"/>
                  </a:schemeClr>
                </a:solidFill>
                <a:latin typeface="微软雅黑" pitchFamily="34" charset="-122"/>
                <a:ea typeface="微软雅黑" pitchFamily="34" charset="-122"/>
              </a:rPr>
              <a:t>）序列密码算法</a:t>
            </a:r>
          </a:p>
        </p:txBody>
      </p:sp>
      <p:pic>
        <p:nvPicPr>
          <p:cNvPr id="2" name="图片 1">
            <a:extLst>
              <a:ext uri="{FF2B5EF4-FFF2-40B4-BE49-F238E27FC236}">
                <a16:creationId xmlns:a16="http://schemas.microsoft.com/office/drawing/2014/main" id="{208E96CE-9740-3C70-E1F4-FED52AEF752D}"/>
              </a:ext>
            </a:extLst>
          </p:cNvPr>
          <p:cNvPicPr>
            <a:picLocks noChangeAspect="1"/>
          </p:cNvPicPr>
          <p:nvPr/>
        </p:nvPicPr>
        <p:blipFill>
          <a:blip r:embed="rId3"/>
          <a:stretch>
            <a:fillRect/>
          </a:stretch>
        </p:blipFill>
        <p:spPr>
          <a:xfrm>
            <a:off x="1187624" y="714730"/>
            <a:ext cx="6188710" cy="2270760"/>
          </a:xfrm>
          <a:prstGeom prst="rect">
            <a:avLst/>
          </a:prstGeom>
        </p:spPr>
      </p:pic>
      <p:sp>
        <p:nvSpPr>
          <p:cNvPr id="5" name="TextBox 18">
            <a:extLst>
              <a:ext uri="{FF2B5EF4-FFF2-40B4-BE49-F238E27FC236}">
                <a16:creationId xmlns:a16="http://schemas.microsoft.com/office/drawing/2014/main" id="{521C8E62-F804-BD3D-5A47-F173BFD90980}"/>
              </a:ext>
            </a:extLst>
          </p:cNvPr>
          <p:cNvSpPr txBox="1"/>
          <p:nvPr/>
        </p:nvSpPr>
        <p:spPr>
          <a:xfrm>
            <a:off x="467544" y="3046013"/>
            <a:ext cx="8208912" cy="2008627"/>
          </a:xfrm>
          <a:prstGeom prst="rect">
            <a:avLst/>
          </a:prstGeom>
          <a:noFill/>
        </p:spPr>
        <p:txBody>
          <a:bodyPr wrap="square" rtlCol="0">
            <a:spAutoFit/>
          </a:bodyPr>
          <a:lstStyle/>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设长度为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LENGTH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的输入消息的比特流为：</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M=M[0]||M[1]||M[2]||…||M[LENGTH-1]</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则输出的密文比特流为：</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C=C[0]||C[1]||C[2]||…||C[LENGTH-1]</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⊕Z[</a:t>
            </a:r>
            <a:r>
              <a:rPr lang="en-US" altLang="zh-CN" sz="1600" dirty="0" err="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i</a:t>
            </a:r>
            <a:r>
              <a:rPr lang="en-US" altLang="zh-CN" sz="1600" dirty="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a:t>
            </a:r>
            <a:r>
              <a:rPr lang="zh-CN" altLang="en-US" sz="1600" dirty="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a:t>
            </a:r>
            <a:r>
              <a:rPr lang="en-US" altLang="zh-CN" sz="1600" dirty="0" err="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i</a:t>
            </a:r>
            <a:r>
              <a:rPr lang="en-US" altLang="zh-CN" sz="1600" dirty="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a:t>=0,1,2,…,LENGTH-1</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8996801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9973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优点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加密、解密处理速度快，具有很高的数据吞吐率，硬件加密实现可达到每秒几百兆字节，软件也可以达到兆字节每秒的吞吐率。密钥相对较短。</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缺点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 密钥是保密通信安全的关键，如何把密钥安全地送到收信方，是对称密码算法的突出问题。对称密码算法的密钥分发过程十分复杂，所花代价高。</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 多人通信时密钥组合的数量会出现爆炸性膨胀，使密钥分发更加复杂化。</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 通信双方必须统一密钥，如果发信方与收信方素不相识，就无法向对方发送秘密信息</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 存在数字签名困难问题。</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4066964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722043"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第三部分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非对称密码体制与算法</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03</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03</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3887551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8486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非对称密码体制也叫公开密钥密码体制、双密钥密码体制</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非对称密码算法基于数学问题求解的困难性，而不再是基于代替和换位方法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非对称密码体制使用具有配对关系的两个不同密钥，一个可</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公开</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，称为</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公钥</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，一个只能被密钥持有人自己</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秘密保管</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，称为</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私钥</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，但不能基于公钥推导出私钥</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用公钥对明文加密后，仅能用与之配对的私钥解密，才能恢复出明文，反之亦然</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103513013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pic>
        <p:nvPicPr>
          <p:cNvPr id="4" name="图片 3">
            <a:extLst>
              <a:ext uri="{FF2B5EF4-FFF2-40B4-BE49-F238E27FC236}">
                <a16:creationId xmlns:a16="http://schemas.microsoft.com/office/drawing/2014/main" id="{CC27264A-847E-4025-83BF-1E58E4AC78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726" y="804056"/>
            <a:ext cx="8460548" cy="3535388"/>
          </a:xfrm>
          <a:prstGeom prst="rect">
            <a:avLst/>
          </a:prstGeom>
        </p:spPr>
      </p:pic>
    </p:spTree>
    <p:extLst>
      <p:ext uri="{BB962C8B-B14F-4D97-AF65-F5344CB8AC3E}">
        <p14:creationId xmlns:p14="http://schemas.microsoft.com/office/powerpoint/2010/main" val="1041997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4498732"/>
              </a:xfrm>
              <a:prstGeom prst="rect">
                <a:avLst/>
              </a:prstGeom>
              <a:noFill/>
            </p:spPr>
            <p:txBody>
              <a:bodyPr wrap="square" rtlCol="0">
                <a:spAutoFit/>
              </a:bodyPr>
              <a:lstStyle/>
              <a:p>
                <a:pPr marL="342900" indent="-342900">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为了保障非对称密码体制的正确实现，要求：</a:t>
                </a: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）参与方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容易通过计算产生一对密钥（公开密钥和私有密钥）</a:t>
                </a: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）在知道公开密钥和待加密报文的情况下，对于发送方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，很容易通过计算产生对应的密文：</a:t>
                </a:r>
                <a14:m>
                  <m:oMath xmlns:m="http://schemas.openxmlformats.org/officeDocument/2006/math">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𝑼</m:t>
                            </m:r>
                          </m:e>
                          <m: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）接收方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使用私有密钥容易通过计算解密所得的密文，以恢复原来的报文：</a:t>
                </a:r>
                <a14:m>
                  <m:oMath xmlns:m="http://schemas.openxmlformats.org/officeDocument/2006/math">
                    <m:r>
                      <m:rPr>
                        <m:sty m:val="p"/>
                      </m:rPr>
                      <a:rPr lang="en-US" altLang="zh-CN">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m:t>
                    </m:r>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𝑫</m:t>
                        </m:r>
                      </m:e>
                      <m: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𝑹</m:t>
                            </m:r>
                          </m:e>
                          <m:sub>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d>
                      <m:dPr>
                        <m:ctrlP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𝑪</m:t>
                        </m:r>
                      </m:e>
                    </m:d>
                    <m:r>
                      <a:rPr lang="en-US" altLang="zh-CN"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𝑫</m:t>
                        </m:r>
                      </m:e>
                      <m: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𝑹</m:t>
                            </m:r>
                          </m:e>
                          <m: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d>
                      <m:d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sSub>
                          <m:sSub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𝑼</m:t>
                                </m:r>
                              </m:e>
                              <m: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zh-CN" altLang="en-US"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m:t> </m:t>
                        </m:r>
                      </m:e>
                    </m:d>
                  </m:oMath>
                </a14:m>
                <a:endParaRPr lang="zh-CN" altLang="en-US"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）敌对方即使知道公开密钥，要确定私有密钥在计算上是不可行的</a:t>
                </a: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）敌对方即使知道公开密钥和密文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，要想恢复原来的报文在计算上也是不可行的</a:t>
                </a:r>
              </a:p>
              <a:p>
                <a:pPr>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）两个密钥中的任何一个都可以用来加密，对应的另一个密钥用来解密（不是对所有公开密钥密码体制都适用，如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DSA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只用于数字签名）：</a:t>
                </a:r>
                <a:endParaRPr lang="en-US" altLang="zh-CN" sz="2000" b="1" i="1" dirty="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endParaRPr>
              </a:p>
              <a:p>
                <a:pPr>
                  <a:spcBef>
                    <a:spcPts val="300"/>
                  </a:spcBef>
                  <a:spcAft>
                    <a:spcPts val="300"/>
                  </a:spcAft>
                </a:pPr>
                <a14:m>
                  <m:oMath xmlns:m="http://schemas.openxmlformats.org/officeDocument/2006/math">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𝑫</m:t>
                        </m:r>
                      </m:e>
                      <m:sub>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𝑹</m:t>
                            </m:r>
                          </m:e>
                          <m:sub>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𝑼</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sz="2000"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a:rPr lang="en-US" altLang="zh-CN" sz="2000" b="1" i="0"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𝑫</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𝑼</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m:t>
                        </m:r>
                        <m:sSub>
                          <m:sSubPr>
                            <m:ctrlP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2000" b="1" i="1" smtClean="0">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𝑹</m:t>
                            </m:r>
                          </m:e>
                          <m: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𝒃</m:t>
                            </m:r>
                          </m:sub>
                        </m:sSub>
                      </m:sub>
                    </m:sSub>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r>
                      <a:rPr lang="en-US" altLang="zh-CN" sz="2000" b="1" i="1">
                        <a:solidFill>
                          <a:srgbClr val="20A9DD"/>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sz="2000" b="1" dirty="0">
                  <a:solidFill>
                    <a:srgbClr val="20A9DD"/>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spcBef>
                    <a:spcPts val="300"/>
                  </a:spcBef>
                  <a:spcAft>
                    <a:spcPts val="300"/>
                  </a:spcAft>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4498732"/>
              </a:xfrm>
              <a:prstGeom prst="rect">
                <a:avLst/>
              </a:prstGeom>
              <a:blipFill>
                <a:blip r:embed="rId3"/>
                <a:stretch>
                  <a:fillRect l="-668" t="-678" r="-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268679506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6830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非对称密码的关键</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非对称密码的安全性主要取决于构造非对称算法所依赖的数学问题</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要求加密函数具有</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单向性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，即求逆的困难性</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设计非对称密码体制的关键是</a:t>
            </a:r>
            <a:r>
              <a:rPr lang="zh-CN" altLang="en-US"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寻求一个合适的单向函数</a:t>
            </a:r>
            <a:endParaRPr lang="en-US" altLang="zh-CN" sz="20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37168402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2397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单向函数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对于一个函数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，如果对于其定义域上的任意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，都容易计算，同时对于其值域中几乎所有的取值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，计算其逆函数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都是不可行的，则函数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称为单向函数</a:t>
            </a:r>
            <a:endParaRPr lang="en-US" altLang="zh-CN" sz="2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10567833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91100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单向陷门函数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对于一个单向函数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，如果其逆函数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在已知某些辅助信息的情况下容易求解得出，则称该单向函数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为单向陷门函数。</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单项陷门函数是满足下列条件的函数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正向计算容易。即如果知道了公钥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和消息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，容易计算密文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en-US" altLang="zh-CN" sz="1600"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在不知道私钥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的情况下，反向计算是不可行的。（所谓的计算不可行是指计算上相当复杂，在有限时间和成本范围内很难得到想要的结果，已无实际意义）。即如果只知道消息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二不知道密钥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x=f</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是不可行的。</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在知道私钥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的情况下，反向计算是容易的。即如果同时知道消息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，则计算 </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Sup>
                      <m:sSub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Sup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𝑓</m:t>
                        </m:r>
                      </m:e>
                      <m:sub>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𝑆𝐾</m:t>
                        </m:r>
                      </m:sub>
                      <m: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b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𝑦</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是容易的。这里的密钥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相当于陷门，和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配对使用。</a:t>
                </a:r>
                <a:endPar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911007"/>
              </a:xfrm>
              <a:prstGeom prst="rect">
                <a:avLst/>
              </a:prstGeom>
              <a:blipFill>
                <a:blip r:embed="rId3"/>
                <a:stretch>
                  <a:fillRect l="-668" r="-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10387120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8073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公钥加密体制中的公钥用于单向陷门函数的正向（加密）计算，私钥用于反向（解密）计算</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仅满足上述前两条的函数称为单向函数，第三条称为陷门性，密钥 </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SK </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称为陷门信息。</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单向陷门函数 </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是公开的</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上述第二条性质表明，窃听者由截获的密文</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y=</a:t>
            </a:r>
            <a:r>
              <a:rPr lang="en-US" altLang="zh-CN" sz="1600"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a:t>
            </a:r>
            <a:r>
              <a:rPr lang="en-US" altLang="zh-CN" sz="1600" baseline="-25000"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PK</a:t>
            </a:r>
            <a:r>
              <a:rPr lang="en-US" altLang="zh-CN" sz="1600" baseline="-25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 </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推测消息的明文 </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 </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是不可行的。</a:t>
            </a:r>
            <a:endParaRPr lang="en-US" altLang="zh-CN"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7557285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3218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非对称密码体制的优缺点</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优点</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①网络中的每一个用户只需要保存自己的私有密钥，则</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个用户仅需产生</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对密钥，密钥少，便于管理；而且一个私钥</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公钥对可以在一段相当长的时间内（甚至数年）保持不变</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②密钥分配简单，不需要秘密的通道和复杂的协议来传送密钥。公开密钥可基于公开的渠道（如密钥分发中心）分发给其他用户，而私有密钥则由用户自己保管</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③可以实现数字签名</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缺点：</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与对称密码体制相比，非对称密码体制的加密、解密处理速度较慢，同等安全强度下非对称密码体制的密钥位数要求多一些</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非对称密码体制与算法</a:t>
            </a:r>
          </a:p>
        </p:txBody>
      </p:sp>
    </p:spTree>
    <p:extLst>
      <p:ext uri="{BB962C8B-B14F-4D97-AF65-F5344CB8AC3E}">
        <p14:creationId xmlns:p14="http://schemas.microsoft.com/office/powerpoint/2010/main" val="12295385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77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RSA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公钥密码算法是由美国麻省理工学院（</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Ron Rivest, Adi Shamir, Leonard Adleman</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1978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年提出来的</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是被广泛接受并实现的通用公开密钥密码算法，目前已成为公钥密码的国际标准</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该算法的数学基础是初等数论中的欧拉定理，其安全性建立在大整数因子分解的困难性之上</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5919423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0091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互质关系</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如果两个正整数，除了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以外，没有其他公因子，我们就称这两个数是互质关系（</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coprime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关于互质关系，不难得到以下结论：</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
        <p:nvSpPr>
          <p:cNvPr id="4" name="文本框 3">
            <a:extLst>
              <a:ext uri="{FF2B5EF4-FFF2-40B4-BE49-F238E27FC236}">
                <a16:creationId xmlns:a16="http://schemas.microsoft.com/office/drawing/2014/main" id="{B4F18CFA-D2EF-7BCF-ECDE-20CA9F2D00DA}"/>
              </a:ext>
            </a:extLst>
          </p:cNvPr>
          <p:cNvSpPr txBox="1"/>
          <p:nvPr/>
        </p:nvSpPr>
        <p:spPr>
          <a:xfrm>
            <a:off x="608158" y="2467119"/>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任意两个质数构成互质关系，比如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6" name="文本框 5">
            <a:extLst>
              <a:ext uri="{FF2B5EF4-FFF2-40B4-BE49-F238E27FC236}">
                <a16:creationId xmlns:a16="http://schemas.microsoft.com/office/drawing/2014/main" id="{598E12E2-D362-F0EA-6E8E-8A3E506BBC52}"/>
              </a:ext>
            </a:extLst>
          </p:cNvPr>
          <p:cNvSpPr txBox="1"/>
          <p:nvPr/>
        </p:nvSpPr>
        <p:spPr>
          <a:xfrm>
            <a:off x="608158" y="2787961"/>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一个数是质数，另一个数只要不是前者的倍数，两者就构成互质关系，比如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8" name="文本框 7">
            <a:extLst>
              <a:ext uri="{FF2B5EF4-FFF2-40B4-BE49-F238E27FC236}">
                <a16:creationId xmlns:a16="http://schemas.microsoft.com/office/drawing/2014/main" id="{344D72D2-9452-621E-D939-14E03E269616}"/>
              </a:ext>
            </a:extLst>
          </p:cNvPr>
          <p:cNvSpPr txBox="1"/>
          <p:nvPr/>
        </p:nvSpPr>
        <p:spPr>
          <a:xfrm>
            <a:off x="608158" y="3108803"/>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3"/>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如果两个数之中，较大的那个数是质数，则两者构成互质关系，比如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10" name="文本框 9">
            <a:extLst>
              <a:ext uri="{FF2B5EF4-FFF2-40B4-BE49-F238E27FC236}">
                <a16:creationId xmlns:a16="http://schemas.microsoft.com/office/drawing/2014/main" id="{C796AA81-5F18-21D9-264B-A3FD38E38845}"/>
              </a:ext>
            </a:extLst>
          </p:cNvPr>
          <p:cNvSpPr txBox="1"/>
          <p:nvPr/>
        </p:nvSpPr>
        <p:spPr>
          <a:xfrm>
            <a:off x="608158" y="3429645"/>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4"/>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和任意一个自然数是都是互质关系，比如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99</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12" name="文本框 11">
            <a:extLst>
              <a:ext uri="{FF2B5EF4-FFF2-40B4-BE49-F238E27FC236}">
                <a16:creationId xmlns:a16="http://schemas.microsoft.com/office/drawing/2014/main" id="{FFB02ED6-AE6A-3871-6BAE-9949346D511E}"/>
              </a:ext>
            </a:extLst>
          </p:cNvPr>
          <p:cNvSpPr txBox="1"/>
          <p:nvPr/>
        </p:nvSpPr>
        <p:spPr>
          <a:xfrm>
            <a:off x="608158" y="4071329"/>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6"/>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是大于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的整数，则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14" name="文本框 13">
            <a:extLst>
              <a:ext uri="{FF2B5EF4-FFF2-40B4-BE49-F238E27FC236}">
                <a16:creationId xmlns:a16="http://schemas.microsoft.com/office/drawing/2014/main" id="{E5413939-D362-16D1-0A11-3D9DADB7332B}"/>
              </a:ext>
            </a:extLst>
          </p:cNvPr>
          <p:cNvSpPr txBox="1"/>
          <p:nvPr/>
        </p:nvSpPr>
        <p:spPr>
          <a:xfrm>
            <a:off x="608158" y="3750487"/>
            <a:ext cx="8028000" cy="389530"/>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startAt="5"/>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是大于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的奇数，则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构成互质关系，比如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Tree>
    <p:extLst>
      <p:ext uri="{BB962C8B-B14F-4D97-AF65-F5344CB8AC3E}">
        <p14:creationId xmlns:p14="http://schemas.microsoft.com/office/powerpoint/2010/main" val="42062685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1+#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1+#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1+#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10" grpId="0"/>
      <p:bldP spid="12" grpId="0"/>
      <p:bldP spid="14"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0886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欧拉函数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定义：欧拉函数</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m&gt;1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a:t>
                </a:r>
                <a14:m>
                  <m:oMath xmlns:m="http://schemas.openxmlformats.org/officeDocument/2006/math">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小且与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互素的正整数的个数。</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欧拉函数的性质：</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是素数，则</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=m-1</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是互异的素数，则</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14:m>
                  <m:oMath xmlns:m="http://schemas.openxmlformats.org/officeDocument/2006/math">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𝑞</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nor/>
                      </m:rPr>
                      <a:rPr lang="en-US" altLang="zh-CN"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p</m:t>
                    </m:r>
                    <m:r>
                      <m:rPr>
                        <m:nor/>
                      </m:rPr>
                      <a:rPr lang="en-US" altLang="zh-CN" b="0" i="0" dirty="0" smtClean="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−1)</m:t>
                    </m:r>
                  </m:oMath>
                </a14:m>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14:m>
                  <m:oMath xmlns:m="http://schemas.openxmlformats.org/officeDocument/2006/math">
                    <m:r>
                      <a:rPr lang="en-US" altLang="zh-CN"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nor/>
                      </m:rP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i="1" dirty="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q</m:t>
                    </m:r>
                    <m:r>
                      <m:rPr>
                        <m:nor/>
                      </m:rP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m:t>−1)</m:t>
                    </m:r>
                  </m:oMath>
                </a14:m>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m=pe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是正整数，则</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14:m>
                  <m:oMath xmlns:m="http://schemas.openxmlformats.org/officeDocument/2006/math">
                    <m:sSup>
                      <m:sSupPr>
                        <m:ctrl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m=pe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是正整数，则</a:t>
                </a:r>
                <a14:m>
                  <m:oMath xmlns:m="http://schemas.openxmlformats.org/officeDocument/2006/math">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14:m>
                  <m:oMath xmlns:m="http://schemas.openxmlformats.org/officeDocument/2006/math">
                    <m:sSup>
                      <m:sSupPr>
                        <m:ctrl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e>
                      <m: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dirty="0">
                    <a:solidFill>
                      <a:srgbClr val="008F92"/>
                    </a:solidFill>
                    <a:latin typeface="Times New Roman" panose="02020603050405020304" pitchFamily="18" charset="0"/>
                    <a:ea typeface="Cambria Math" panose="02040503050406030204" pitchFamily="18" charset="0"/>
                    <a:cs typeface="Times New Roman" panose="02020603050405020304" pitchFamily="18" charset="0"/>
                    <a:sym typeface="Arial" panose="020B0604020202020204" pitchFamily="34" charset="0"/>
                  </a:rPr>
                  <a:t> </a:t>
                </a: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088602"/>
              </a:xfrm>
              <a:prstGeom prst="rect">
                <a:avLst/>
              </a:prstGeom>
              <a:blipFill>
                <a:blip r:embed="rId3"/>
                <a:stretch>
                  <a:fillRect l="-668" b="-217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8622129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07338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欧拉定理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如果两个正整数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互质，则</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的欧拉函数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可以让下面的等式成立：</a:t>
                </a:r>
                <a14:m>
                  <m:oMath xmlns:m="http://schemas.openxmlformats.org/officeDocument/2006/math">
                    <m:sSup>
                      <m:sSupPr>
                        <m:ctrl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e>
                      <m:sup>
                        <m:r>
                          <a:rPr lang="zh-CN" altLang="en-US"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欧拉定理有一个特殊情况：假设正整数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与质数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互质，因为质数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，则欧拉定理可以写成</a:t>
                </a:r>
                <a14:m>
                  <m:oMath xmlns:m="http://schemas.openxmlformats.org/officeDocument/2006/math">
                    <m:sSup>
                      <m:sSupPr>
                        <m:ctrlPr>
                          <a:rPr lang="en-US" altLang="zh-CN"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e>
                      <m:sup>
                        <m:r>
                          <m:rPr>
                            <m:sty m:val="p"/>
                          </m:r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p</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𝑝</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073388"/>
              </a:xfrm>
              <a:prstGeom prst="rect">
                <a:avLst/>
              </a:prstGeom>
              <a:blipFill>
                <a:blip r:embed="rId3"/>
                <a:stretch>
                  <a:fillRect l="-668" r="-1114" b="-3812"/>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4850598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4974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模反元素</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如果两个正整数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互质，那么一定可以找到整数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，使得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ab-1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整除，或者说</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被</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除的余数是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centerGroup"/>
                    </m:oMathParaPr>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𝑎𝑏</m:t>
                      </m:r>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这时，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就叫做</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模反元素</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模反元素不止一个</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欧拉定理可以用来证明模反元素必然存在   </a:t>
                </a:r>
                <a14:m>
                  <m:oMath xmlns:m="http://schemas.openxmlformats.org/officeDocument/2006/math">
                    <m:sSup>
                      <m:sSup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e>
                      <m:sup>
                        <m:r>
                          <a:rPr lang="zh-CN" altLang="en-US"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p>
                      <m:sSup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e>
                      <m:sup>
                        <m:r>
                          <a:rPr lang="zh-CN" altLang="en-US"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𝜑</m:t>
                        </m:r>
                        <m:d>
                          <m:dPr>
                            <m:ctrlP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e>
                        </m:d>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r>
                      <a:rPr lang="en-US" altLang="zh-CN"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可以看到，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 </a:t>
                </a:r>
                <a:r>
                  <a:rPr lang="el-GR"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n)-1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次方，就是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的模反元素。</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497496"/>
              </a:xfrm>
              <a:prstGeom prst="rect">
                <a:avLst/>
              </a:prstGeom>
              <a:blipFill>
                <a:blip r:embed="rId3"/>
                <a:stretch>
                  <a:fillRect l="-668" b="-17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20128290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610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算法描述</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安全性建立在大整数因子分解的困难性问题之上，利用了单向陷门函数的原理。</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RSA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密码体制的 明文空间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 =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密文空间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 = Zn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表示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mod 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所组成的整数空间，即其取值范围为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 ~ n-1)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0880762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12262"/>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密钥生成</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首先，选择两个互异的大素数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公开</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n)=(p−1)(q−1)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，选择一个随机整数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e(0&lt;e&lt;</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公开</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满足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gcd</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d=e−1mod</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确定：公钥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KU = {</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e,n</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 = {</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d,p,q</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 = {d,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已知：明文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&lt;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因为所有明文和密文空间均为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，即在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 n -1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的范围内；实际处理时对于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&gt;=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的情形，则需要对大报文进行分组，确保每一个分组满足该条件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和公钥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KU = {</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e,n</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。计算密文：</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C=M</a:t>
            </a:r>
            <a:r>
              <a:rPr lang="en-US" altLang="zh-CN" sz="1600"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解密</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已知：密文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和私钥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 = {d, 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。计算明文：</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M=C</a:t>
            </a:r>
            <a:r>
              <a:rPr lang="en-US" altLang="zh-CN" sz="1600"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23315059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92999"/>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算法归纳</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选择两个互异的大素数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，为了保证安全性，通常要求每个素数均大于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100</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即超过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位的十进制数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公开</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n)=(p−1)(q−1)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选择一个和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互素的数，令其为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选好这些参数后，将明文划分成块，使得每个明文报文长度满足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&lt; 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C=M</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时，计算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M=C</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。由模运算的对称性可以证明，在确定的范围内，加密和解密函数是互逆的。为实现加密，需公开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，为实现解密需要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 n}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73964146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0011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算法实例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假设爱丽丝要与鲍勃进行加密通信，她该怎么生成公钥和私钥呢？</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第一步，随机选择两个不相等的质数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p=61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q=53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第二步，计算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的乘积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 = 61×53 = 3233</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第三步，计算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的欧拉函数</a:t>
            </a:r>
            <a:r>
              <a:rPr lang="el-GR"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。根据公式： </a:t>
            </a:r>
            <a:r>
              <a:rPr lang="el-GR"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 = (p-1)(q-1)   </a:t>
            </a:r>
            <a:r>
              <a:rPr lang="el-GR"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φ(3233)</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=60×52=3120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pic>
        <p:nvPicPr>
          <p:cNvPr id="4" name="图片 3">
            <a:extLst>
              <a:ext uri="{FF2B5EF4-FFF2-40B4-BE49-F238E27FC236}">
                <a16:creationId xmlns:a16="http://schemas.microsoft.com/office/drawing/2014/main" id="{A100A243-58FB-4B6D-8F07-04BF3521CB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183" y="1692812"/>
            <a:ext cx="2623694" cy="1757875"/>
          </a:xfrm>
          <a:prstGeom prst="rect">
            <a:avLst/>
          </a:prstGeom>
        </p:spPr>
      </p:pic>
    </p:spTree>
    <p:extLst>
      <p:ext uri="{BB962C8B-B14F-4D97-AF65-F5344CB8AC3E}">
        <p14:creationId xmlns:p14="http://schemas.microsoft.com/office/powerpoint/2010/main" val="24210127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1193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第四步，随机选择一个整数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e=17</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第五步，计算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a:t>
            </a:r>
            <a:r>
              <a:rPr lang="el-GR"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的模反元素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p>
          <a:p>
            <a:pPr algn="ct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n)=17</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3120=2573</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第六步，将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封装成公钥，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封装成私钥</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n=3233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e=17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d=2753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，所以公钥就是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(3233,17)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，私钥就是（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3233, 2753</a:t>
            </a:r>
          </a:p>
          <a:p>
            <a:pPr marL="285750" indent="-285750">
              <a:lnSpc>
                <a:spcPct val="130000"/>
              </a:lnSpc>
              <a:spcBef>
                <a:spcPts val="300"/>
              </a:spcBef>
              <a:spcAft>
                <a:spcPts val="300"/>
              </a:spcAft>
              <a:buFont typeface="Wingdings" panose="05000000000000000000" pitchFamily="2" charset="2"/>
              <a:buChar char="n"/>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9640442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12098"/>
          </a:xfrm>
          <a:prstGeom prst="rect">
            <a:avLst/>
          </a:prstGeom>
          <a:noFill/>
        </p:spPr>
        <p:txBody>
          <a:bodyPr wrap="square" rtlCol="0">
            <a:spAutoFit/>
          </a:bodyPr>
          <a:lstStyle/>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有了公钥和密钥，就能进行加密和解密了。</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加密要用公钥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n,e</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假设鲍勃要向爱丽丝发送加密信息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，他就要用爱丽丝的公钥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n,e</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进行加密。这里需要注意，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必须是整数（字符串可以取</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ascii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值或</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unicode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必须小于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所谓</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，就是算出下式的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C=M</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爱丽丝的公钥是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(3233, 17)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，鲍勃的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，那么可以算出下面的等式：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65</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17</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3233=2790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，于是鲍勃就把</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2790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发给了爱丽丝。</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7538788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71550"/>
            <a:ext cx="8208912" cy="161858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解密要用私钥</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n,d</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爱丽丝拿到鲍勃发来的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2790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以后，就用自己的私钥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(3233, 2753)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进行解密。</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M=C</a:t>
            </a:r>
            <a:r>
              <a:rPr lang="en-US" altLang="zh-CN" sz="1600"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n</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现在，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2790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(3233, 2753)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，那么，爱丽丝算出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2790</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2753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3233=65</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RSA</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16536376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0853"/>
            <a:ext cx="8208912" cy="46851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算法是迄今被实践证明安全有效的三类公钥密码体制之一，以高效性著称，由</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Koblitz</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Miller</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1985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年分别提出</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的安全性基于椭圆曲线离散对数问题的难解性，即椭圆曲线离散对数问题被公认为要比整数因子分解问题和模</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离散对数问题难解得多</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它的密钥长度大大地减小，</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256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密钥就可以达到对称密码体制</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128</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比特密钥的安全水平，这就保证了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密码体制成为目前已知公钥密码体制中每位提供加密强度最高的一种体制，可以有效减少处理开销</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具有存储效率、计算效率和通信带宽的节约等方面的优势，特别适用于那些对计算能力没有很好支持的系统，如</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RFID</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WSN</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010865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8979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椭圆曲线</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一条椭圆曲线就是一组被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+ax+b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定义的且满足 </a:t>
                </a:r>
                <a14:m>
                  <m:oMath xmlns:m="http://schemas.openxmlformats.org/officeDocument/2006/math">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4</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𝑎</m:t>
                    </m:r>
                    <m:r>
                      <a:rPr lang="en-US" altLang="zh-CN" b="0" i="1" baseline="30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+27</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𝑏</m:t>
                    </m:r>
                    <m:r>
                      <a:rPr lang="en-US" altLang="zh-CN" b="0" i="1" baseline="30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a14:m>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的点集</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另外，我们还需要一个无穷处的点作为曲线的一部分，从现在开始，我们将用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这个符号表示无穷处的点。如果我们将无穷处的点也考虑进来的话，那么椭圆曲线的表达式精炼为：</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14:m>
                  <m:oMathPara xmlns:m="http://schemas.openxmlformats.org/officeDocument/2006/math">
                    <m:oMathParaPr>
                      <m:jc m:val="centerGroup"/>
                    </m:oMathParaPr>
                    <m:oMath xmlns:m="http://schemas.openxmlformats.org/officeDocument/2006/math">
                      <m:d>
                        <m:dPr>
                          <m:begChr m:val="{"/>
                          <m:endChr m:val="}"/>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d>
                            <m:dPr>
                              <m:ctrlP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𝑦</m:t>
                              </m:r>
                            </m:e>
                          </m:d>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e>
                        <m:e>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𝑦</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𝑎𝑥</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𝑏</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,4</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𝑎</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+27</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𝑏</m:t>
                          </m:r>
                          <m:r>
                            <a:rPr lang="en-US" altLang="zh-CN" b="0" i="1" baseline="30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e>
                      </m:d>
                      <m:r>
                        <a:rPr lang="en-US" altLang="zh-CN"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∪{0}</m:t>
                      </m:r>
                    </m:oMath>
                  </m:oMathPara>
                </a14:m>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897909"/>
              </a:xfrm>
              <a:prstGeom prst="rect">
                <a:avLst/>
              </a:prstGeom>
              <a:blipFill>
                <a:blip r:embed="rId3"/>
                <a:stretch>
                  <a:fillRect l="-668" r="-594"/>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44346813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pic>
        <p:nvPicPr>
          <p:cNvPr id="2" name="图片 1">
            <a:extLst>
              <a:ext uri="{FF2B5EF4-FFF2-40B4-BE49-F238E27FC236}">
                <a16:creationId xmlns:a16="http://schemas.microsoft.com/office/drawing/2014/main" id="{4A63BA31-9ACB-1192-6107-B13E737232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7544" y="843558"/>
            <a:ext cx="2952328" cy="3019821"/>
          </a:xfrm>
          <a:prstGeom prst="rect">
            <a:avLst/>
          </a:prstGeom>
          <a:noFill/>
          <a:ln>
            <a:noFill/>
          </a:ln>
        </p:spPr>
      </p:pic>
      <p:pic>
        <p:nvPicPr>
          <p:cNvPr id="4" name="图片 3">
            <a:extLst>
              <a:ext uri="{FF2B5EF4-FFF2-40B4-BE49-F238E27FC236}">
                <a16:creationId xmlns:a16="http://schemas.microsoft.com/office/drawing/2014/main" id="{A8B7F6EC-7114-0530-B7B8-752E599D317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14207" y="847259"/>
            <a:ext cx="2162049" cy="1585182"/>
          </a:xfrm>
          <a:prstGeom prst="rect">
            <a:avLst/>
          </a:prstGeom>
          <a:noFill/>
          <a:ln>
            <a:noFill/>
          </a:ln>
        </p:spPr>
      </p:pic>
      <p:sp>
        <p:nvSpPr>
          <p:cNvPr id="6" name="文本框 5">
            <a:extLst>
              <a:ext uri="{FF2B5EF4-FFF2-40B4-BE49-F238E27FC236}">
                <a16:creationId xmlns:a16="http://schemas.microsoft.com/office/drawing/2014/main" id="{458B8A3D-98CC-6781-928F-854823B20626}"/>
              </a:ext>
            </a:extLst>
          </p:cNvPr>
          <p:cNvSpPr txBox="1"/>
          <p:nvPr/>
        </p:nvSpPr>
        <p:spPr>
          <a:xfrm>
            <a:off x="467544" y="4263951"/>
            <a:ext cx="8208912"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从曲线方程和图像易知，椭圆曲线关于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轴对称。判定式不等于零是为了椭圆曲线不存在奇异点，即处处光滑可导，这样才能进行椭圆曲线上的加法运算</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CFF5CCF-0707-0A95-4F27-D70041C99D81}"/>
                  </a:ext>
                </a:extLst>
              </p:cNvPr>
              <p:cNvSpPr txBox="1"/>
              <p:nvPr/>
            </p:nvSpPr>
            <p:spPr>
              <a:xfrm>
                <a:off x="352022" y="3894619"/>
                <a:ext cx="31833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𝑏</m:t>
                      </m:r>
                      <m:r>
                        <a:rPr lang="en-US" altLang="zh-CN" b="0" i="1" smtClean="0">
                          <a:latin typeface="Cambria Math" panose="02040503050406030204" pitchFamily="18" charset="0"/>
                        </a:rPr>
                        <m:t>=1,</m:t>
                      </m:r>
                      <m:r>
                        <a:rPr lang="en-US" altLang="zh-CN" b="0" i="1" smtClean="0">
                          <a:latin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∈{2,1,0,−1,−2,−3}</m:t>
                      </m:r>
                    </m:oMath>
                  </m:oMathPara>
                </a14:m>
                <a:endParaRPr lang="zh-CN" altLang="en-US" dirty="0"/>
              </a:p>
            </p:txBody>
          </p:sp>
        </mc:Choice>
        <mc:Fallback xmlns="">
          <p:sp>
            <p:nvSpPr>
              <p:cNvPr id="9" name="文本框 8">
                <a:extLst>
                  <a:ext uri="{FF2B5EF4-FFF2-40B4-BE49-F238E27FC236}">
                    <a16:creationId xmlns:a16="http://schemas.microsoft.com/office/drawing/2014/main" id="{3CFF5CCF-0707-0A95-4F27-D70041C99D81}"/>
                  </a:ext>
                </a:extLst>
              </p:cNvPr>
              <p:cNvSpPr txBox="1">
                <a:spLocks noRot="1" noChangeAspect="1" noMove="1" noResize="1" noEditPoints="1" noAdjustHandles="1" noChangeArrowheads="1" noChangeShapeType="1" noTextEdit="1"/>
              </p:cNvSpPr>
              <p:nvPr/>
            </p:nvSpPr>
            <p:spPr>
              <a:xfrm>
                <a:off x="352022" y="3894619"/>
                <a:ext cx="3183372" cy="369332"/>
              </a:xfrm>
              <a:prstGeom prst="rect">
                <a:avLst/>
              </a:prstGeom>
              <a:blipFill>
                <a:blip r:embed="rId5"/>
                <a:stretch>
                  <a:fillRect b="-1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80505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2599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数学基础</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群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Group)</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一个集合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连同一个二元运算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要成为一个群，该集合和运算需要满足如下</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个要求：</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封闭性：</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中任意的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运算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的结果也在集合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结合律：</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中任意的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等式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 = 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成立。</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单位元：</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中存在一个元素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中任意元素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等式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 = 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e = 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成立。</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逆元：</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中任意元素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中都存在另一个元素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 = e</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是单位元。</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而如果再满足交换律，则该群就被称为是一个阿贝尔群。</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交换律：</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中的任意元素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b</a:t>
            </a:r>
            <a:r>
              <a:rPr lang="zh-CN" altLang="pt-BR"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等式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pt-B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成立。</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
        <p:nvSpPr>
          <p:cNvPr id="4" name="AutoShape 2" descr="G">
            <a:extLst>
              <a:ext uri="{FF2B5EF4-FFF2-40B4-BE49-F238E27FC236}">
                <a16:creationId xmlns:a16="http://schemas.microsoft.com/office/drawing/2014/main" id="{8FFB3666-4BAE-EDBD-E512-A4D59CFADCAA}"/>
              </a:ext>
            </a:extLst>
          </p:cNvPr>
          <p:cNvSpPr>
            <a:spLocks noChangeAspect="1" noChangeArrowheads="1"/>
          </p:cNvSpPr>
          <p:nvPr/>
        </p:nvSpPr>
        <p:spPr bwMode="auto">
          <a:xfrm>
            <a:off x="15621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3" descr="a, b">
            <a:extLst>
              <a:ext uri="{FF2B5EF4-FFF2-40B4-BE49-F238E27FC236}">
                <a16:creationId xmlns:a16="http://schemas.microsoft.com/office/drawing/2014/main" id="{AC6EE186-4A1E-CCA8-BB58-DFFADC19D52A}"/>
              </a:ext>
            </a:extLst>
          </p:cNvPr>
          <p:cNvSpPr>
            <a:spLocks noChangeAspect="1" noChangeArrowheads="1"/>
          </p:cNvSpPr>
          <p:nvPr/>
        </p:nvSpPr>
        <p:spPr bwMode="auto">
          <a:xfrm>
            <a:off x="35210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a \cdot b = b \cdot a">
            <a:extLst>
              <a:ext uri="{FF2B5EF4-FFF2-40B4-BE49-F238E27FC236}">
                <a16:creationId xmlns:a16="http://schemas.microsoft.com/office/drawing/2014/main" id="{08470AA1-FDFB-63CA-9F76-ED8542EC1205}"/>
              </a:ext>
            </a:extLst>
          </p:cNvPr>
          <p:cNvSpPr>
            <a:spLocks noChangeAspect="1" noChangeArrowheads="1"/>
          </p:cNvSpPr>
          <p:nvPr/>
        </p:nvSpPr>
        <p:spPr bwMode="auto">
          <a:xfrm>
            <a:off x="47307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85488611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6306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数学基础</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域 </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Group)</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为了使一个结构同时支持四种基本算术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即加减乘除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，我们需要一个包含加法和乘法群的集合，这就是域。当一个集合为域的时候，我们就能在其中进行基本算术运算了。</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域 </a:t>
            </a:r>
            <a:r>
              <a:rPr lang="pt-BR" altLang="zh-CN"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是具有下面特性的元素集合：</a:t>
            </a:r>
            <a:endParaRPr lang="en-US" altLang="zh-CN"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中所有元素形成一个加法群，对应群的运算是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，单位元为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，对于元素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，加法逆元表示为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外的所有元素构成一个乘法群，对应群的运算是 ✖，单位元是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。对于元素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，乘法逆元表示为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中的元素混合使用这两种群操作时，分配律始终成立。即对所有的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，都有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b+c</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(ab) + (ac)</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
        <p:nvSpPr>
          <p:cNvPr id="4" name="AutoShape 2" descr="G">
            <a:extLst>
              <a:ext uri="{FF2B5EF4-FFF2-40B4-BE49-F238E27FC236}">
                <a16:creationId xmlns:a16="http://schemas.microsoft.com/office/drawing/2014/main" id="{8FFB3666-4BAE-EDBD-E512-A4D59CFADCAA}"/>
              </a:ext>
            </a:extLst>
          </p:cNvPr>
          <p:cNvSpPr>
            <a:spLocks noChangeAspect="1" noChangeArrowheads="1"/>
          </p:cNvSpPr>
          <p:nvPr/>
        </p:nvSpPr>
        <p:spPr bwMode="auto">
          <a:xfrm>
            <a:off x="15621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3" descr="a, b">
            <a:extLst>
              <a:ext uri="{FF2B5EF4-FFF2-40B4-BE49-F238E27FC236}">
                <a16:creationId xmlns:a16="http://schemas.microsoft.com/office/drawing/2014/main" id="{AC6EE186-4A1E-CCA8-BB58-DFFADC19D52A}"/>
              </a:ext>
            </a:extLst>
          </p:cNvPr>
          <p:cNvSpPr>
            <a:spLocks noChangeAspect="1" noChangeArrowheads="1"/>
          </p:cNvSpPr>
          <p:nvPr/>
        </p:nvSpPr>
        <p:spPr bwMode="auto">
          <a:xfrm>
            <a:off x="35210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4" descr="a \cdot b = b \cdot a">
            <a:extLst>
              <a:ext uri="{FF2B5EF4-FFF2-40B4-BE49-F238E27FC236}">
                <a16:creationId xmlns:a16="http://schemas.microsoft.com/office/drawing/2014/main" id="{08470AA1-FDFB-63CA-9F76-ED8542EC1205}"/>
              </a:ext>
            </a:extLst>
          </p:cNvPr>
          <p:cNvSpPr>
            <a:spLocks noChangeAspect="1" noChangeArrowheads="1"/>
          </p:cNvSpPr>
          <p:nvPr/>
        </p:nvSpPr>
        <p:spPr bwMode="auto">
          <a:xfrm>
            <a:off x="47307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33063665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6376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正负取反</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轴对称位置的点定义为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，即椭圆曲线的正负取反运算</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
        <p:nvSpPr>
          <p:cNvPr id="6" name="任意多边形: 形状 5">
            <a:extLst>
              <a:ext uri="{FF2B5EF4-FFF2-40B4-BE49-F238E27FC236}">
                <a16:creationId xmlns:a16="http://schemas.microsoft.com/office/drawing/2014/main" id="{4A760AEF-03E2-4176-B90D-2C42FDCF4860}"/>
              </a:ext>
            </a:extLst>
          </p:cNvPr>
          <p:cNvSpPr/>
          <p:nvPr/>
        </p:nvSpPr>
        <p:spPr>
          <a:xfrm>
            <a:off x="3797061" y="2058288"/>
            <a:ext cx="1673019" cy="2817717"/>
          </a:xfrm>
          <a:custGeom>
            <a:avLst/>
            <a:gdLst>
              <a:gd name="connsiteX0" fmla="*/ 1147276 w 1166326"/>
              <a:gd name="connsiteY0" fmla="*/ 0 h 1969770"/>
              <a:gd name="connsiteX1" fmla="*/ 785326 w 1166326"/>
              <a:gd name="connsiteY1" fmla="*/ 533400 h 1969770"/>
              <a:gd name="connsiteX2" fmla="*/ 225256 w 1166326"/>
              <a:gd name="connsiteY2" fmla="*/ 407670 h 1969770"/>
              <a:gd name="connsiteX3" fmla="*/ 466 w 1166326"/>
              <a:gd name="connsiteY3" fmla="*/ 811530 h 1969770"/>
              <a:gd name="connsiteX4" fmla="*/ 274786 w 1166326"/>
              <a:gd name="connsiteY4" fmla="*/ 1573530 h 1969770"/>
              <a:gd name="connsiteX5" fmla="*/ 773896 w 1166326"/>
              <a:gd name="connsiteY5" fmla="*/ 1428750 h 1969770"/>
              <a:gd name="connsiteX6" fmla="*/ 1166326 w 1166326"/>
              <a:gd name="connsiteY6" fmla="*/ 1969770 h 1969770"/>
              <a:gd name="connsiteX0" fmla="*/ 1170068 w 1189118"/>
              <a:gd name="connsiteY0" fmla="*/ 0 h 1969770"/>
              <a:gd name="connsiteX1" fmla="*/ 808118 w 1189118"/>
              <a:gd name="connsiteY1" fmla="*/ 533400 h 1969770"/>
              <a:gd name="connsiteX2" fmla="*/ 248048 w 1189118"/>
              <a:gd name="connsiteY2" fmla="*/ 407670 h 1969770"/>
              <a:gd name="connsiteX3" fmla="*/ 398 w 1189118"/>
              <a:gd name="connsiteY3" fmla="*/ 838200 h 1969770"/>
              <a:gd name="connsiteX4" fmla="*/ 297578 w 1189118"/>
              <a:gd name="connsiteY4" fmla="*/ 1573530 h 1969770"/>
              <a:gd name="connsiteX5" fmla="*/ 796688 w 1189118"/>
              <a:gd name="connsiteY5" fmla="*/ 1428750 h 1969770"/>
              <a:gd name="connsiteX6" fmla="*/ 1189118 w 1189118"/>
              <a:gd name="connsiteY6" fmla="*/ 1969770 h 1969770"/>
              <a:gd name="connsiteX0" fmla="*/ 1143481 w 1162531"/>
              <a:gd name="connsiteY0" fmla="*/ 0 h 1969770"/>
              <a:gd name="connsiteX1" fmla="*/ 781531 w 1162531"/>
              <a:gd name="connsiteY1" fmla="*/ 533400 h 1969770"/>
              <a:gd name="connsiteX2" fmla="*/ 221461 w 1162531"/>
              <a:gd name="connsiteY2" fmla="*/ 407670 h 1969770"/>
              <a:gd name="connsiteX3" fmla="*/ 481 w 1162531"/>
              <a:gd name="connsiteY3" fmla="*/ 868680 h 1969770"/>
              <a:gd name="connsiteX4" fmla="*/ 270991 w 1162531"/>
              <a:gd name="connsiteY4" fmla="*/ 1573530 h 1969770"/>
              <a:gd name="connsiteX5" fmla="*/ 770101 w 1162531"/>
              <a:gd name="connsiteY5" fmla="*/ 1428750 h 1969770"/>
              <a:gd name="connsiteX6" fmla="*/ 1162531 w 1162531"/>
              <a:gd name="connsiteY6" fmla="*/ 1969770 h 1969770"/>
              <a:gd name="connsiteX0" fmla="*/ 1148343 w 1167393"/>
              <a:gd name="connsiteY0" fmla="*/ 0 h 1969770"/>
              <a:gd name="connsiteX1" fmla="*/ 786393 w 1167393"/>
              <a:gd name="connsiteY1" fmla="*/ 533400 h 1969770"/>
              <a:gd name="connsiteX2" fmla="*/ 226323 w 1167393"/>
              <a:gd name="connsiteY2" fmla="*/ 407670 h 1969770"/>
              <a:gd name="connsiteX3" fmla="*/ 5343 w 1167393"/>
              <a:gd name="connsiteY3" fmla="*/ 868680 h 1969770"/>
              <a:gd name="connsiteX4" fmla="*/ 131073 w 1167393"/>
              <a:gd name="connsiteY4" fmla="*/ 1474470 h 1969770"/>
              <a:gd name="connsiteX5" fmla="*/ 774963 w 1167393"/>
              <a:gd name="connsiteY5" fmla="*/ 1428750 h 1969770"/>
              <a:gd name="connsiteX6" fmla="*/ 1167393 w 1167393"/>
              <a:gd name="connsiteY6" fmla="*/ 1969770 h 1969770"/>
              <a:gd name="connsiteX0" fmla="*/ 1143851 w 1162901"/>
              <a:gd name="connsiteY0" fmla="*/ 0 h 1969770"/>
              <a:gd name="connsiteX1" fmla="*/ 781901 w 1162901"/>
              <a:gd name="connsiteY1" fmla="*/ 533400 h 1969770"/>
              <a:gd name="connsiteX2" fmla="*/ 221831 w 1162901"/>
              <a:gd name="connsiteY2" fmla="*/ 407670 h 1969770"/>
              <a:gd name="connsiteX3" fmla="*/ 851 w 1162901"/>
              <a:gd name="connsiteY3" fmla="*/ 868680 h 1969770"/>
              <a:gd name="connsiteX4" fmla="*/ 172301 w 1162901"/>
              <a:gd name="connsiteY4" fmla="*/ 1531620 h 1969770"/>
              <a:gd name="connsiteX5" fmla="*/ 770471 w 1162901"/>
              <a:gd name="connsiteY5" fmla="*/ 1428750 h 1969770"/>
              <a:gd name="connsiteX6" fmla="*/ 1162901 w 1162901"/>
              <a:gd name="connsiteY6" fmla="*/ 1969770 h 1969770"/>
              <a:gd name="connsiteX0" fmla="*/ 1148468 w 1167518"/>
              <a:gd name="connsiteY0" fmla="*/ 0 h 1969770"/>
              <a:gd name="connsiteX1" fmla="*/ 786518 w 1167518"/>
              <a:gd name="connsiteY1" fmla="*/ 533400 h 1969770"/>
              <a:gd name="connsiteX2" fmla="*/ 226448 w 1167518"/>
              <a:gd name="connsiteY2" fmla="*/ 407670 h 1969770"/>
              <a:gd name="connsiteX3" fmla="*/ 5468 w 1167518"/>
              <a:gd name="connsiteY3" fmla="*/ 868680 h 1969770"/>
              <a:gd name="connsiteX4" fmla="*/ 176918 w 1167518"/>
              <a:gd name="connsiteY4" fmla="*/ 1531620 h 1969770"/>
              <a:gd name="connsiteX5" fmla="*/ 775088 w 1167518"/>
              <a:gd name="connsiteY5" fmla="*/ 1428750 h 1969770"/>
              <a:gd name="connsiteX6" fmla="*/ 1167518 w 1167518"/>
              <a:gd name="connsiteY6" fmla="*/ 1969770 h 1969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7518" h="1969770">
                <a:moveTo>
                  <a:pt x="1148468" y="0"/>
                </a:moveTo>
                <a:cubicBezTo>
                  <a:pt x="1044328" y="232727"/>
                  <a:pt x="940188" y="465455"/>
                  <a:pt x="786518" y="533400"/>
                </a:cubicBezTo>
                <a:cubicBezTo>
                  <a:pt x="632848" y="601345"/>
                  <a:pt x="356623" y="351790"/>
                  <a:pt x="226448" y="407670"/>
                </a:cubicBezTo>
                <a:cubicBezTo>
                  <a:pt x="96273" y="463550"/>
                  <a:pt x="13723" y="681355"/>
                  <a:pt x="5468" y="868680"/>
                </a:cubicBezTo>
                <a:cubicBezTo>
                  <a:pt x="-2787" y="1056005"/>
                  <a:pt x="-27552" y="1411605"/>
                  <a:pt x="176918" y="1531620"/>
                </a:cubicBezTo>
                <a:cubicBezTo>
                  <a:pt x="381388" y="1651635"/>
                  <a:pt x="626498" y="1362710"/>
                  <a:pt x="775088" y="1428750"/>
                </a:cubicBezTo>
                <a:cubicBezTo>
                  <a:pt x="923678" y="1494790"/>
                  <a:pt x="1045598" y="1732280"/>
                  <a:pt x="1167518" y="19697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251DC8F3-59D8-4BA5-BEE7-B211CFF82B95}"/>
              </a:ext>
            </a:extLst>
          </p:cNvPr>
          <p:cNvCxnSpPr/>
          <p:nvPr/>
        </p:nvCxnSpPr>
        <p:spPr>
          <a:xfrm flipV="1">
            <a:off x="4536000" y="1992248"/>
            <a:ext cx="0" cy="29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8CF998C4-482C-43C6-884F-C484398A554E}"/>
              </a:ext>
            </a:extLst>
          </p:cNvPr>
          <p:cNvCxnSpPr/>
          <p:nvPr/>
        </p:nvCxnSpPr>
        <p:spPr>
          <a:xfrm>
            <a:off x="3042050" y="3455673"/>
            <a:ext cx="2988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37DD5EC-D7E3-4DB3-A54A-ABC284E8584C}"/>
              </a:ext>
            </a:extLst>
          </p:cNvPr>
          <p:cNvCxnSpPr/>
          <p:nvPr/>
        </p:nvCxnSpPr>
        <p:spPr>
          <a:xfrm flipV="1">
            <a:off x="4032000" y="2715766"/>
            <a:ext cx="0" cy="151200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D84986BF-E6B7-4C7A-8900-18CD5D2A4579}"/>
              </a:ext>
            </a:extLst>
          </p:cNvPr>
          <p:cNvSpPr txBox="1"/>
          <p:nvPr/>
        </p:nvSpPr>
        <p:spPr>
          <a:xfrm>
            <a:off x="3959932" y="2496794"/>
            <a:ext cx="45719"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a:t>
            </a:r>
            <a:endParaRPr lang="zh-CN" altLang="en-US" sz="1200" b="1" i="1"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7988DC05-275E-4E4D-855B-1825F5C23D29}"/>
              </a:ext>
            </a:extLst>
          </p:cNvPr>
          <p:cNvSpPr txBox="1"/>
          <p:nvPr/>
        </p:nvSpPr>
        <p:spPr>
          <a:xfrm>
            <a:off x="3901907" y="4196589"/>
            <a:ext cx="207487"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a:t>
            </a:r>
            <a:endParaRPr lang="zh-CN" altLang="en-US" sz="1200" b="1" i="1"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F5FEE554-ACBF-46FF-BC21-F89571E67C9B}"/>
              </a:ext>
            </a:extLst>
          </p:cNvPr>
          <p:cNvSpPr txBox="1"/>
          <p:nvPr/>
        </p:nvSpPr>
        <p:spPr>
          <a:xfrm>
            <a:off x="4490281" y="1824026"/>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y</a:t>
            </a:r>
            <a:endParaRPr lang="zh-CN" altLang="en-US" sz="1100" i="1"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5AD93D7F-BC5C-440D-99A7-6155CBC3F7BB}"/>
              </a:ext>
            </a:extLst>
          </p:cNvPr>
          <p:cNvSpPr txBox="1"/>
          <p:nvPr/>
        </p:nvSpPr>
        <p:spPr>
          <a:xfrm>
            <a:off x="6043721" y="3362380"/>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x</a:t>
            </a:r>
            <a:endParaRPr lang="zh-CN" altLang="en-US" sz="1100" i="1"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DEDEAEF7-31A4-49A8-8BB1-E3B8BCDDF0E4}"/>
              </a:ext>
            </a:extLst>
          </p:cNvPr>
          <p:cNvSpPr txBox="1"/>
          <p:nvPr/>
        </p:nvSpPr>
        <p:spPr>
          <a:xfrm>
            <a:off x="4719229" y="2126427"/>
            <a:ext cx="1218796"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椭圆曲线</a:t>
            </a:r>
          </a:p>
        </p:txBody>
      </p:sp>
      <p:sp>
        <p:nvSpPr>
          <p:cNvPr id="21" name="椭圆 20">
            <a:extLst>
              <a:ext uri="{FF2B5EF4-FFF2-40B4-BE49-F238E27FC236}">
                <a16:creationId xmlns:a16="http://schemas.microsoft.com/office/drawing/2014/main" id="{D1754ACB-725D-4889-994F-5050DC7243CA}"/>
              </a:ext>
            </a:extLst>
          </p:cNvPr>
          <p:cNvSpPr/>
          <p:nvPr/>
        </p:nvSpPr>
        <p:spPr>
          <a:xfrm>
            <a:off x="4005650" y="2699468"/>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C08044DC-B395-4A72-910B-EAA0A1A63F90}"/>
              </a:ext>
            </a:extLst>
          </p:cNvPr>
          <p:cNvSpPr/>
          <p:nvPr/>
        </p:nvSpPr>
        <p:spPr>
          <a:xfrm>
            <a:off x="4005650" y="4196589"/>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2809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0091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定义椭圆曲线的运算规则</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加法</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过曲线上的两点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画一条直线，找到直线与椭圆曲线的交点，交点关于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轴对称位置的点，定义为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，即为加法。如下图所示：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 + B = C</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grpSp>
        <p:nvGrpSpPr>
          <p:cNvPr id="30" name="组合 29">
            <a:extLst>
              <a:ext uri="{FF2B5EF4-FFF2-40B4-BE49-F238E27FC236}">
                <a16:creationId xmlns:a16="http://schemas.microsoft.com/office/drawing/2014/main" id="{C8153035-BB22-4CB7-B93D-ADB233BF2705}"/>
              </a:ext>
            </a:extLst>
          </p:cNvPr>
          <p:cNvGrpSpPr/>
          <p:nvPr/>
        </p:nvGrpSpPr>
        <p:grpSpPr>
          <a:xfrm>
            <a:off x="3193490" y="2653547"/>
            <a:ext cx="3045052" cy="2291836"/>
            <a:chOff x="3491880" y="2367914"/>
            <a:chExt cx="3045052" cy="2291836"/>
          </a:xfrm>
        </p:grpSpPr>
        <p:sp>
          <p:nvSpPr>
            <p:cNvPr id="6" name="任意多边形: 形状 5">
              <a:extLst>
                <a:ext uri="{FF2B5EF4-FFF2-40B4-BE49-F238E27FC236}">
                  <a16:creationId xmlns:a16="http://schemas.microsoft.com/office/drawing/2014/main" id="{C4F94636-205D-48FB-8692-38CEE9662460}"/>
                </a:ext>
              </a:extLst>
            </p:cNvPr>
            <p:cNvSpPr/>
            <p:nvPr/>
          </p:nvSpPr>
          <p:spPr>
            <a:xfrm>
              <a:off x="4044562" y="2670810"/>
              <a:ext cx="1167518" cy="1969770"/>
            </a:xfrm>
            <a:custGeom>
              <a:avLst/>
              <a:gdLst>
                <a:gd name="connsiteX0" fmla="*/ 1147276 w 1166326"/>
                <a:gd name="connsiteY0" fmla="*/ 0 h 1969770"/>
                <a:gd name="connsiteX1" fmla="*/ 785326 w 1166326"/>
                <a:gd name="connsiteY1" fmla="*/ 533400 h 1969770"/>
                <a:gd name="connsiteX2" fmla="*/ 225256 w 1166326"/>
                <a:gd name="connsiteY2" fmla="*/ 407670 h 1969770"/>
                <a:gd name="connsiteX3" fmla="*/ 466 w 1166326"/>
                <a:gd name="connsiteY3" fmla="*/ 811530 h 1969770"/>
                <a:gd name="connsiteX4" fmla="*/ 274786 w 1166326"/>
                <a:gd name="connsiteY4" fmla="*/ 1573530 h 1969770"/>
                <a:gd name="connsiteX5" fmla="*/ 773896 w 1166326"/>
                <a:gd name="connsiteY5" fmla="*/ 1428750 h 1969770"/>
                <a:gd name="connsiteX6" fmla="*/ 1166326 w 1166326"/>
                <a:gd name="connsiteY6" fmla="*/ 1969770 h 1969770"/>
                <a:gd name="connsiteX0" fmla="*/ 1170068 w 1189118"/>
                <a:gd name="connsiteY0" fmla="*/ 0 h 1969770"/>
                <a:gd name="connsiteX1" fmla="*/ 808118 w 1189118"/>
                <a:gd name="connsiteY1" fmla="*/ 533400 h 1969770"/>
                <a:gd name="connsiteX2" fmla="*/ 248048 w 1189118"/>
                <a:gd name="connsiteY2" fmla="*/ 407670 h 1969770"/>
                <a:gd name="connsiteX3" fmla="*/ 398 w 1189118"/>
                <a:gd name="connsiteY3" fmla="*/ 838200 h 1969770"/>
                <a:gd name="connsiteX4" fmla="*/ 297578 w 1189118"/>
                <a:gd name="connsiteY4" fmla="*/ 1573530 h 1969770"/>
                <a:gd name="connsiteX5" fmla="*/ 796688 w 1189118"/>
                <a:gd name="connsiteY5" fmla="*/ 1428750 h 1969770"/>
                <a:gd name="connsiteX6" fmla="*/ 1189118 w 1189118"/>
                <a:gd name="connsiteY6" fmla="*/ 1969770 h 1969770"/>
                <a:gd name="connsiteX0" fmla="*/ 1143481 w 1162531"/>
                <a:gd name="connsiteY0" fmla="*/ 0 h 1969770"/>
                <a:gd name="connsiteX1" fmla="*/ 781531 w 1162531"/>
                <a:gd name="connsiteY1" fmla="*/ 533400 h 1969770"/>
                <a:gd name="connsiteX2" fmla="*/ 221461 w 1162531"/>
                <a:gd name="connsiteY2" fmla="*/ 407670 h 1969770"/>
                <a:gd name="connsiteX3" fmla="*/ 481 w 1162531"/>
                <a:gd name="connsiteY3" fmla="*/ 868680 h 1969770"/>
                <a:gd name="connsiteX4" fmla="*/ 270991 w 1162531"/>
                <a:gd name="connsiteY4" fmla="*/ 1573530 h 1969770"/>
                <a:gd name="connsiteX5" fmla="*/ 770101 w 1162531"/>
                <a:gd name="connsiteY5" fmla="*/ 1428750 h 1969770"/>
                <a:gd name="connsiteX6" fmla="*/ 1162531 w 1162531"/>
                <a:gd name="connsiteY6" fmla="*/ 1969770 h 1969770"/>
                <a:gd name="connsiteX0" fmla="*/ 1148343 w 1167393"/>
                <a:gd name="connsiteY0" fmla="*/ 0 h 1969770"/>
                <a:gd name="connsiteX1" fmla="*/ 786393 w 1167393"/>
                <a:gd name="connsiteY1" fmla="*/ 533400 h 1969770"/>
                <a:gd name="connsiteX2" fmla="*/ 226323 w 1167393"/>
                <a:gd name="connsiteY2" fmla="*/ 407670 h 1969770"/>
                <a:gd name="connsiteX3" fmla="*/ 5343 w 1167393"/>
                <a:gd name="connsiteY3" fmla="*/ 868680 h 1969770"/>
                <a:gd name="connsiteX4" fmla="*/ 131073 w 1167393"/>
                <a:gd name="connsiteY4" fmla="*/ 1474470 h 1969770"/>
                <a:gd name="connsiteX5" fmla="*/ 774963 w 1167393"/>
                <a:gd name="connsiteY5" fmla="*/ 1428750 h 1969770"/>
                <a:gd name="connsiteX6" fmla="*/ 1167393 w 1167393"/>
                <a:gd name="connsiteY6" fmla="*/ 1969770 h 1969770"/>
                <a:gd name="connsiteX0" fmla="*/ 1143851 w 1162901"/>
                <a:gd name="connsiteY0" fmla="*/ 0 h 1969770"/>
                <a:gd name="connsiteX1" fmla="*/ 781901 w 1162901"/>
                <a:gd name="connsiteY1" fmla="*/ 533400 h 1969770"/>
                <a:gd name="connsiteX2" fmla="*/ 221831 w 1162901"/>
                <a:gd name="connsiteY2" fmla="*/ 407670 h 1969770"/>
                <a:gd name="connsiteX3" fmla="*/ 851 w 1162901"/>
                <a:gd name="connsiteY3" fmla="*/ 868680 h 1969770"/>
                <a:gd name="connsiteX4" fmla="*/ 172301 w 1162901"/>
                <a:gd name="connsiteY4" fmla="*/ 1531620 h 1969770"/>
                <a:gd name="connsiteX5" fmla="*/ 770471 w 1162901"/>
                <a:gd name="connsiteY5" fmla="*/ 1428750 h 1969770"/>
                <a:gd name="connsiteX6" fmla="*/ 1162901 w 1162901"/>
                <a:gd name="connsiteY6" fmla="*/ 1969770 h 1969770"/>
                <a:gd name="connsiteX0" fmla="*/ 1148468 w 1167518"/>
                <a:gd name="connsiteY0" fmla="*/ 0 h 1969770"/>
                <a:gd name="connsiteX1" fmla="*/ 786518 w 1167518"/>
                <a:gd name="connsiteY1" fmla="*/ 533400 h 1969770"/>
                <a:gd name="connsiteX2" fmla="*/ 226448 w 1167518"/>
                <a:gd name="connsiteY2" fmla="*/ 407670 h 1969770"/>
                <a:gd name="connsiteX3" fmla="*/ 5468 w 1167518"/>
                <a:gd name="connsiteY3" fmla="*/ 868680 h 1969770"/>
                <a:gd name="connsiteX4" fmla="*/ 176918 w 1167518"/>
                <a:gd name="connsiteY4" fmla="*/ 1531620 h 1969770"/>
                <a:gd name="connsiteX5" fmla="*/ 775088 w 1167518"/>
                <a:gd name="connsiteY5" fmla="*/ 1428750 h 1969770"/>
                <a:gd name="connsiteX6" fmla="*/ 1167518 w 1167518"/>
                <a:gd name="connsiteY6" fmla="*/ 1969770 h 1969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7518" h="1969770">
                  <a:moveTo>
                    <a:pt x="1148468" y="0"/>
                  </a:moveTo>
                  <a:cubicBezTo>
                    <a:pt x="1044328" y="232727"/>
                    <a:pt x="940188" y="465455"/>
                    <a:pt x="786518" y="533400"/>
                  </a:cubicBezTo>
                  <a:cubicBezTo>
                    <a:pt x="632848" y="601345"/>
                    <a:pt x="356623" y="351790"/>
                    <a:pt x="226448" y="407670"/>
                  </a:cubicBezTo>
                  <a:cubicBezTo>
                    <a:pt x="96273" y="463550"/>
                    <a:pt x="13723" y="681355"/>
                    <a:pt x="5468" y="868680"/>
                  </a:cubicBezTo>
                  <a:cubicBezTo>
                    <a:pt x="-2787" y="1056005"/>
                    <a:pt x="-27552" y="1411605"/>
                    <a:pt x="176918" y="1531620"/>
                  </a:cubicBezTo>
                  <a:cubicBezTo>
                    <a:pt x="381388" y="1651635"/>
                    <a:pt x="626498" y="1362710"/>
                    <a:pt x="775088" y="1428750"/>
                  </a:cubicBezTo>
                  <a:cubicBezTo>
                    <a:pt x="923678" y="1494790"/>
                    <a:pt x="1045598" y="1732280"/>
                    <a:pt x="1167518" y="19697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E63FFB4E-EBD9-4916-8B02-9F1295B5646D}"/>
                </a:ext>
              </a:extLst>
            </p:cNvPr>
            <p:cNvCxnSpPr>
              <a:cxnSpLocks/>
            </p:cNvCxnSpPr>
            <p:nvPr/>
          </p:nvCxnSpPr>
          <p:spPr>
            <a:xfrm flipV="1">
              <a:off x="3563888" y="2766347"/>
              <a:ext cx="1872208" cy="957531"/>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 name="直接箭头连接符 10">
              <a:extLst>
                <a:ext uri="{FF2B5EF4-FFF2-40B4-BE49-F238E27FC236}">
                  <a16:creationId xmlns:a16="http://schemas.microsoft.com/office/drawing/2014/main" id="{0AACE06D-3C5D-458E-BEDD-9FC77EE65AC5}"/>
                </a:ext>
              </a:extLst>
            </p:cNvPr>
            <p:cNvCxnSpPr/>
            <p:nvPr/>
          </p:nvCxnSpPr>
          <p:spPr>
            <a:xfrm flipV="1">
              <a:off x="4536000" y="2571750"/>
              <a:ext cx="0" cy="2088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F6A3411C-5FB8-4A48-8FED-E497AFCD3DD7}"/>
                </a:ext>
              </a:extLst>
            </p:cNvPr>
            <p:cNvCxnSpPr/>
            <p:nvPr/>
          </p:nvCxnSpPr>
          <p:spPr>
            <a:xfrm>
              <a:off x="3491880" y="3655695"/>
              <a:ext cx="21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3FE07CB-E843-40AB-BFDB-FEB79CA01B8C}"/>
                </a:ext>
              </a:extLst>
            </p:cNvPr>
            <p:cNvCxnSpPr/>
            <p:nvPr/>
          </p:nvCxnSpPr>
          <p:spPr>
            <a:xfrm flipV="1">
              <a:off x="5040000" y="2971619"/>
              <a:ext cx="0" cy="136815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DB889EF0-B92B-4F39-A4E9-9DB0705239B7}"/>
                </a:ext>
              </a:extLst>
            </p:cNvPr>
            <p:cNvSpPr txBox="1"/>
            <p:nvPr/>
          </p:nvSpPr>
          <p:spPr>
            <a:xfrm>
              <a:off x="3923928" y="3308301"/>
              <a:ext cx="45719"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a:t>
              </a:r>
              <a:endParaRPr lang="zh-CN" altLang="en-US" sz="1200" b="1" i="1"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0AE8ACB5-13A4-4AB5-A859-4E2DA6C729FE}"/>
                </a:ext>
              </a:extLst>
            </p:cNvPr>
            <p:cNvSpPr txBox="1"/>
            <p:nvPr/>
          </p:nvSpPr>
          <p:spPr>
            <a:xfrm>
              <a:off x="4599181" y="2952681"/>
              <a:ext cx="45719"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B</a:t>
              </a:r>
              <a:endParaRPr lang="zh-CN" altLang="en-US" sz="1200" b="1" i="1"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1ADB1CD5-59AF-4F56-9500-DFB6F3CA26FF}"/>
                </a:ext>
              </a:extLst>
            </p:cNvPr>
            <p:cNvSpPr txBox="1"/>
            <p:nvPr/>
          </p:nvSpPr>
          <p:spPr>
            <a:xfrm>
              <a:off x="4506443" y="2367914"/>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y</a:t>
              </a:r>
              <a:endParaRPr lang="zh-CN" altLang="en-US" sz="1100" i="1"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F3CD49BA-A798-4E60-9C30-7AC392EC60A5}"/>
                </a:ext>
              </a:extLst>
            </p:cNvPr>
            <p:cNvSpPr txBox="1"/>
            <p:nvPr/>
          </p:nvSpPr>
          <p:spPr>
            <a:xfrm>
              <a:off x="5628247" y="3539212"/>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x</a:t>
              </a:r>
              <a:endParaRPr lang="zh-CN" altLang="en-US" sz="1100" i="1"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9222D407-EE91-4A8B-8171-A9F85BA65ADE}"/>
                </a:ext>
              </a:extLst>
            </p:cNvPr>
            <p:cNvSpPr txBox="1"/>
            <p:nvPr/>
          </p:nvSpPr>
          <p:spPr>
            <a:xfrm>
              <a:off x="5102920" y="4190533"/>
              <a:ext cx="623545"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A+B</a:t>
              </a:r>
              <a:endParaRPr lang="zh-CN" altLang="en-US" sz="1200" b="1" i="1"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28CF5C29-9546-416E-8B7E-2CD9C6CA117E}"/>
                </a:ext>
              </a:extLst>
            </p:cNvPr>
            <p:cNvSpPr txBox="1"/>
            <p:nvPr/>
          </p:nvSpPr>
          <p:spPr>
            <a:xfrm>
              <a:off x="5052306" y="2947129"/>
              <a:ext cx="623545"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交点</a:t>
              </a:r>
            </a:p>
          </p:txBody>
        </p:sp>
        <p:sp>
          <p:nvSpPr>
            <p:cNvPr id="25" name="文本框 24">
              <a:extLst>
                <a:ext uri="{FF2B5EF4-FFF2-40B4-BE49-F238E27FC236}">
                  <a16:creationId xmlns:a16="http://schemas.microsoft.com/office/drawing/2014/main" id="{8F9397FE-351C-49AE-AF4F-7DBF179D0D70}"/>
                </a:ext>
              </a:extLst>
            </p:cNvPr>
            <p:cNvSpPr txBox="1"/>
            <p:nvPr/>
          </p:nvSpPr>
          <p:spPr>
            <a:xfrm>
              <a:off x="5318136" y="2773401"/>
              <a:ext cx="1218796"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过</a:t>
              </a:r>
              <a:r>
                <a:rPr lang="en-US" altLang="zh-CN" sz="1200" dirty="0">
                  <a:latin typeface="楷体" panose="02010609060101010101" pitchFamily="49" charset="-122"/>
                  <a:ea typeface="楷体" panose="02010609060101010101" pitchFamily="49" charset="-122"/>
                  <a:cs typeface="Times New Roman" panose="02020603050405020304" pitchFamily="18" charset="0"/>
                </a:rPr>
                <a:t>A</a:t>
              </a:r>
              <a:r>
                <a:rPr lang="zh-CN" altLang="en-US" sz="1200" dirty="0">
                  <a:latin typeface="楷体" panose="02010609060101010101" pitchFamily="49" charset="-122"/>
                  <a:ea typeface="楷体" panose="02010609060101010101" pitchFamily="49" charset="-122"/>
                  <a:cs typeface="Times New Roman" panose="02020603050405020304" pitchFamily="18" charset="0"/>
                </a:rPr>
                <a:t>、</a:t>
              </a:r>
              <a:r>
                <a:rPr lang="en-US" altLang="zh-CN" sz="1200" dirty="0">
                  <a:latin typeface="楷体" panose="02010609060101010101" pitchFamily="49" charset="-122"/>
                  <a:ea typeface="楷体" panose="02010609060101010101" pitchFamily="49" charset="-122"/>
                  <a:cs typeface="Times New Roman" panose="02020603050405020304" pitchFamily="18" charset="0"/>
                </a:rPr>
                <a:t>B</a:t>
              </a:r>
              <a:r>
                <a:rPr lang="zh-CN" altLang="en-US" sz="1200" dirty="0">
                  <a:latin typeface="楷体" panose="02010609060101010101" pitchFamily="49" charset="-122"/>
                  <a:ea typeface="楷体" panose="02010609060101010101" pitchFamily="49" charset="-122"/>
                  <a:cs typeface="Times New Roman" panose="02020603050405020304" pitchFamily="18" charset="0"/>
                </a:rPr>
                <a:t>的直线</a:t>
              </a:r>
            </a:p>
          </p:txBody>
        </p:sp>
        <p:sp>
          <p:nvSpPr>
            <p:cNvPr id="26" name="文本框 25">
              <a:extLst>
                <a:ext uri="{FF2B5EF4-FFF2-40B4-BE49-F238E27FC236}">
                  <a16:creationId xmlns:a16="http://schemas.microsoft.com/office/drawing/2014/main" id="{55C969D3-0ED1-4D98-896C-ACB879B6B993}"/>
                </a:ext>
              </a:extLst>
            </p:cNvPr>
            <p:cNvSpPr txBox="1"/>
            <p:nvPr/>
          </p:nvSpPr>
          <p:spPr>
            <a:xfrm>
              <a:off x="4826698" y="2497008"/>
              <a:ext cx="1218796"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椭圆曲线</a:t>
              </a:r>
            </a:p>
          </p:txBody>
        </p:sp>
        <p:sp>
          <p:nvSpPr>
            <p:cNvPr id="17" name="椭圆 16">
              <a:extLst>
                <a:ext uri="{FF2B5EF4-FFF2-40B4-BE49-F238E27FC236}">
                  <a16:creationId xmlns:a16="http://schemas.microsoft.com/office/drawing/2014/main" id="{3AEEC804-0464-4B06-8AE7-BC4B46B0DF97}"/>
                </a:ext>
              </a:extLst>
            </p:cNvPr>
            <p:cNvSpPr/>
            <p:nvPr/>
          </p:nvSpPr>
          <p:spPr>
            <a:xfrm>
              <a:off x="4039871" y="345696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CF3FBC3E-02F9-4A18-B937-923A5D6A32DC}"/>
                </a:ext>
              </a:extLst>
            </p:cNvPr>
            <p:cNvSpPr/>
            <p:nvPr/>
          </p:nvSpPr>
          <p:spPr>
            <a:xfrm>
              <a:off x="5023482" y="2953619"/>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1807DCFE-A9FF-4FCA-8D41-A6D320AB3C35}"/>
                </a:ext>
              </a:extLst>
            </p:cNvPr>
            <p:cNvSpPr/>
            <p:nvPr/>
          </p:nvSpPr>
          <p:spPr>
            <a:xfrm>
              <a:off x="5023482" y="4313356"/>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0E760C16-D738-4B50-A0E6-A76806EB44B1}"/>
                </a:ext>
              </a:extLst>
            </p:cNvPr>
            <p:cNvSpPr/>
            <p:nvPr/>
          </p:nvSpPr>
          <p:spPr>
            <a:xfrm>
              <a:off x="4610503" y="3153519"/>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4084767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2386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加法特殊情况</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过曲线上的两点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画一条直线，找到直线与椭圆曲线的交点，交点关于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轴对称位置的点，定义为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，即为加法。如下图所示：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 + B = C</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pic>
        <p:nvPicPr>
          <p:cNvPr id="4" name="图片 3">
            <a:extLst>
              <a:ext uri="{FF2B5EF4-FFF2-40B4-BE49-F238E27FC236}">
                <a16:creationId xmlns:a16="http://schemas.microsoft.com/office/drawing/2014/main" id="{68511F66-501B-50D8-5130-A0121E15B0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33733"/>
            <a:ext cx="9144000" cy="2301240"/>
          </a:xfrm>
          <a:prstGeom prst="rect">
            <a:avLst/>
          </a:prstGeom>
        </p:spPr>
      </p:pic>
      <p:sp>
        <p:nvSpPr>
          <p:cNvPr id="5" name="文本框 4">
            <a:extLst>
              <a:ext uri="{FF2B5EF4-FFF2-40B4-BE49-F238E27FC236}">
                <a16:creationId xmlns:a16="http://schemas.microsoft.com/office/drawing/2014/main" id="{42112AEC-21FF-6C3F-D3A7-0EC53B464AD9}"/>
              </a:ext>
            </a:extLst>
          </p:cNvPr>
          <p:cNvSpPr txBox="1"/>
          <p:nvPr/>
        </p:nvSpPr>
        <p:spPr>
          <a:xfrm>
            <a:off x="2987824" y="4443958"/>
            <a:ext cx="1279517" cy="338554"/>
          </a:xfrm>
          <a:prstGeom prst="rect">
            <a:avLst/>
          </a:prstGeom>
          <a:noFill/>
        </p:spPr>
        <p:txBody>
          <a:bodyPr wrap="none" rtlCol="0">
            <a:spAutoFit/>
          </a:bodyPr>
          <a:lstStyle/>
          <a:p>
            <a:r>
              <a:rPr lang="en-US" altLang="zh-CN" sz="1600" b="1" dirty="0">
                <a:solidFill>
                  <a:srgbClr val="E55D01"/>
                </a:solidFill>
                <a:latin typeface="华文楷体" panose="02010600040101010101" pitchFamily="2" charset="-122"/>
                <a:ea typeface="华文楷体" panose="02010600040101010101" pitchFamily="2" charset="-122"/>
              </a:rPr>
              <a:t>P</a:t>
            </a:r>
            <a:r>
              <a:rPr lang="zh-CN" altLang="en-US" sz="1600" b="1" dirty="0">
                <a:solidFill>
                  <a:srgbClr val="E55D01"/>
                </a:solidFill>
                <a:latin typeface="华文楷体" panose="02010600040101010101" pitchFamily="2" charset="-122"/>
                <a:ea typeface="华文楷体" panose="02010600040101010101" pitchFamily="2" charset="-122"/>
              </a:rPr>
              <a:t>或</a:t>
            </a:r>
            <a:r>
              <a:rPr lang="en-US" altLang="zh-CN" sz="1600" b="1" dirty="0">
                <a:solidFill>
                  <a:srgbClr val="E55D01"/>
                </a:solidFill>
                <a:latin typeface="华文楷体" panose="02010600040101010101" pitchFamily="2" charset="-122"/>
                <a:ea typeface="华文楷体" panose="02010600040101010101" pitchFamily="2" charset="-122"/>
              </a:rPr>
              <a:t>Q</a:t>
            </a:r>
            <a:r>
              <a:rPr lang="zh-CN" altLang="en-US" sz="1600" b="1" dirty="0">
                <a:solidFill>
                  <a:srgbClr val="E55D01"/>
                </a:solidFill>
                <a:latin typeface="华文楷体" panose="02010600040101010101" pitchFamily="2" charset="-122"/>
                <a:ea typeface="华文楷体" panose="02010600040101010101" pitchFamily="2" charset="-122"/>
              </a:rPr>
              <a:t>是切点</a:t>
            </a:r>
          </a:p>
        </p:txBody>
      </p:sp>
      <p:sp>
        <p:nvSpPr>
          <p:cNvPr id="7" name="文本框 6">
            <a:extLst>
              <a:ext uri="{FF2B5EF4-FFF2-40B4-BE49-F238E27FC236}">
                <a16:creationId xmlns:a16="http://schemas.microsoft.com/office/drawing/2014/main" id="{4C49AB1B-D1AD-63EB-2229-76080E3C38E5}"/>
              </a:ext>
            </a:extLst>
          </p:cNvPr>
          <p:cNvSpPr txBox="1"/>
          <p:nvPr/>
        </p:nvSpPr>
        <p:spPr>
          <a:xfrm>
            <a:off x="4865901" y="4443958"/>
            <a:ext cx="1989647" cy="338554"/>
          </a:xfrm>
          <a:prstGeom prst="rect">
            <a:avLst/>
          </a:prstGeom>
          <a:noFill/>
        </p:spPr>
        <p:txBody>
          <a:bodyPr wrap="none" rtlCol="0">
            <a:spAutoFit/>
          </a:bodyPr>
          <a:lstStyle/>
          <a:p>
            <a:r>
              <a:rPr lang="en-US" altLang="zh-CN" sz="1600" b="1" dirty="0">
                <a:solidFill>
                  <a:srgbClr val="E55D01"/>
                </a:solidFill>
                <a:latin typeface="华文楷体" panose="02010600040101010101" pitchFamily="2" charset="-122"/>
                <a:ea typeface="华文楷体" panose="02010600040101010101" pitchFamily="2" charset="-122"/>
              </a:rPr>
              <a:t>P</a:t>
            </a:r>
            <a:r>
              <a:rPr lang="zh-CN" altLang="en-US" sz="1600" b="1" dirty="0">
                <a:solidFill>
                  <a:srgbClr val="E55D01"/>
                </a:solidFill>
                <a:latin typeface="华文楷体" panose="02010600040101010101" pitchFamily="2" charset="-122"/>
                <a:ea typeface="华文楷体" panose="02010600040101010101" pitchFamily="2" charset="-122"/>
              </a:rPr>
              <a:t>和</a:t>
            </a:r>
            <a:r>
              <a:rPr lang="en-US" altLang="zh-CN" sz="1600" b="1" dirty="0">
                <a:solidFill>
                  <a:srgbClr val="E55D01"/>
                </a:solidFill>
                <a:latin typeface="华文楷体" panose="02010600040101010101" pitchFamily="2" charset="-122"/>
                <a:ea typeface="华文楷体" panose="02010600040101010101" pitchFamily="2" charset="-122"/>
              </a:rPr>
              <a:t>Q</a:t>
            </a:r>
            <a:r>
              <a:rPr lang="zh-CN" altLang="en-US" sz="1600" b="1" dirty="0">
                <a:solidFill>
                  <a:srgbClr val="E55D01"/>
                </a:solidFill>
                <a:latin typeface="华文楷体" panose="02010600040101010101" pitchFamily="2" charset="-122"/>
                <a:ea typeface="华文楷体" panose="02010600040101010101" pitchFamily="2" charset="-122"/>
              </a:rPr>
              <a:t>连线垂直于</a:t>
            </a:r>
            <a:r>
              <a:rPr lang="en-US" altLang="zh-CN" sz="1600" b="1" dirty="0">
                <a:solidFill>
                  <a:srgbClr val="E55D01"/>
                </a:solidFill>
                <a:latin typeface="华文楷体" panose="02010600040101010101" pitchFamily="2" charset="-122"/>
                <a:ea typeface="华文楷体" panose="02010600040101010101" pitchFamily="2" charset="-122"/>
              </a:rPr>
              <a:t>x</a:t>
            </a:r>
            <a:r>
              <a:rPr lang="zh-CN" altLang="en-US" sz="1600" b="1" dirty="0">
                <a:solidFill>
                  <a:srgbClr val="E55D01"/>
                </a:solidFill>
                <a:latin typeface="华文楷体" panose="02010600040101010101" pitchFamily="2" charset="-122"/>
                <a:ea typeface="华文楷体" panose="02010600040101010101" pitchFamily="2" charset="-122"/>
              </a:rPr>
              <a:t>轴</a:t>
            </a:r>
          </a:p>
        </p:txBody>
      </p:sp>
      <p:sp>
        <p:nvSpPr>
          <p:cNvPr id="9" name="文本框 8">
            <a:extLst>
              <a:ext uri="{FF2B5EF4-FFF2-40B4-BE49-F238E27FC236}">
                <a16:creationId xmlns:a16="http://schemas.microsoft.com/office/drawing/2014/main" id="{8E362DAB-967F-2009-6149-121E2B3C4AE1}"/>
              </a:ext>
            </a:extLst>
          </p:cNvPr>
          <p:cNvSpPr txBox="1"/>
          <p:nvPr/>
        </p:nvSpPr>
        <p:spPr>
          <a:xfrm>
            <a:off x="7863794" y="4443958"/>
            <a:ext cx="596638" cy="338554"/>
          </a:xfrm>
          <a:prstGeom prst="rect">
            <a:avLst/>
          </a:prstGeom>
          <a:noFill/>
        </p:spPr>
        <p:txBody>
          <a:bodyPr wrap="none" rtlCol="0">
            <a:spAutoFit/>
          </a:bodyPr>
          <a:lstStyle/>
          <a:p>
            <a:r>
              <a:rPr lang="en-US" altLang="zh-CN" sz="1600" b="1" dirty="0">
                <a:solidFill>
                  <a:srgbClr val="E55D01"/>
                </a:solidFill>
                <a:latin typeface="华文楷体" panose="02010600040101010101" pitchFamily="2" charset="-122"/>
                <a:ea typeface="华文楷体" panose="02010600040101010101" pitchFamily="2" charset="-122"/>
              </a:rPr>
              <a:t>P=Q</a:t>
            </a:r>
            <a:endParaRPr lang="zh-CN" altLang="en-US" sz="1600" b="1" dirty="0">
              <a:solidFill>
                <a:srgbClr val="E55D01"/>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722686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6378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代数加法</a:t>
            </a: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上面</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定义了椭圆曲线几何上意义的点加法，需要转换为代数加法以方便计算。要注意的是，这并不是两个点的坐标简单相加。</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假设直线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的斜率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，然后将直线方程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kx+c</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代入曲线可以得到：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kx+c</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ax +b,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转换成标准式，根据韦达定理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，即而可求得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5176E01-25BA-87C4-20FF-0FA7708BF142}"/>
                  </a:ext>
                </a:extLst>
              </p:cNvPr>
              <p:cNvSpPr txBox="1"/>
              <p:nvPr/>
            </p:nvSpPr>
            <p:spPr>
              <a:xfrm>
                <a:off x="501671" y="2551707"/>
                <a:ext cx="8318801" cy="2535759"/>
              </a:xfrm>
              <a:prstGeom prst="rect">
                <a:avLst/>
              </a:prstGeom>
              <a:noFill/>
            </p:spPr>
            <p:txBody>
              <a:bodyPr wrap="square">
                <a:spAutoFit/>
              </a:bodyPr>
              <a:lstStyle/>
              <a:p>
                <a:pPr marL="180340" marR="502920">
                  <a:lnSpc>
                    <a:spcPct val="120000"/>
                  </a:lnSpc>
                  <a:spcBef>
                    <a:spcPts val="600"/>
                  </a:spcBef>
                  <a:spcAft>
                    <a:spcPts val="600"/>
                  </a:spcAft>
                </a:pP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R</a:t>
                </a:r>
                <a14:m>
                  <m:oMath xmlns:m="http://schemas.openxmlformats.org/officeDocument/2006/math">
                    <m:r>
                      <a:rPr lang="en-US" altLang="zh-CN" sz="1600" b="1" i="1" kern="100">
                        <a:solidFill>
                          <a:srgbClr val="E55D0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l-GR"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k² - </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Q</a:t>
                </a: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180340" marR="502920">
                  <a:lnSpc>
                    <a:spcPct val="120000"/>
                  </a:lnSpc>
                  <a:spcBef>
                    <a:spcPts val="600"/>
                  </a:spcBef>
                  <a:spcAft>
                    <a:spcPts val="600"/>
                  </a:spcAft>
                </a:pP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a:rPr lang="en-US" altLang="zh-CN" sz="1600" b="1" i="1" kern="100">
                        <a:solidFill>
                          <a:srgbClr val="E55D0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el-GR"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Q</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180340" marR="502920">
                  <a:lnSpc>
                    <a:spcPct val="120000"/>
                  </a:lnSpc>
                  <a:spcBef>
                    <a:spcPts val="600"/>
                  </a:spcBef>
                  <a:spcAft>
                    <a:spcPts val="600"/>
                  </a:spcAft>
                </a:pP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斜率 </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 </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计算需要区分两种情况，当 </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P=Q </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时求椭圆曲线在 </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 </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点的切线斜率</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求导</a:t>
                </a:r>
                <a:r>
                  <a:rPr lang="en-US"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a:t>
                </a:r>
                <a:r>
                  <a:rPr lang="zh-CN" altLang="en-US"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即可：</a:t>
                </a:r>
                <a:endParaRPr lang="zh-CN" altLang="zh-CN"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180340" marR="502920">
                  <a:lnSpc>
                    <a:spcPct val="120000"/>
                  </a:lnSpc>
                  <a:spcBef>
                    <a:spcPts val="600"/>
                  </a:spcBef>
                  <a:spcAft>
                    <a:spcPts val="600"/>
                  </a:spcAft>
                </a:pP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P≠Q</a:t>
                </a: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，则</a:t>
                </a:r>
                <a:r>
                  <a:rPr lang="el-GR"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 = (</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Q</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Q</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180340" marR="502920">
                  <a:lnSpc>
                    <a:spcPct val="120000"/>
                  </a:lnSpc>
                  <a:spcBef>
                    <a:spcPts val="600"/>
                  </a:spcBef>
                  <a:spcAft>
                    <a:spcPts val="600"/>
                  </a:spcAft>
                </a:pP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P=Q</a:t>
                </a:r>
                <a:r>
                  <a:rPr lang="zh-CN"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，则</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k</a:t>
                </a:r>
                <a:r>
                  <a:rPr lang="el-GR"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 (3</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X</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² + a)/2Y</a:t>
                </a:r>
                <a:r>
                  <a:rPr lang="en-US" altLang="zh-CN" sz="1600" b="1" kern="100" baseline="-250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P</a:t>
                </a:r>
                <a:r>
                  <a:rPr lang="en-US" altLang="zh-CN" sz="1600" b="1"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1600" kern="100" dirty="0">
                  <a:solidFill>
                    <a:srgbClr val="E55D01"/>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55176E01-25BA-87C4-20FF-0FA7708BF142}"/>
                  </a:ext>
                </a:extLst>
              </p:cNvPr>
              <p:cNvSpPr txBox="1">
                <a:spLocks noRot="1" noChangeAspect="1" noMove="1" noResize="1" noEditPoints="1" noAdjustHandles="1" noChangeArrowheads="1" noChangeShapeType="1" noTextEdit="1"/>
              </p:cNvSpPr>
              <p:nvPr/>
            </p:nvSpPr>
            <p:spPr>
              <a:xfrm>
                <a:off x="501671" y="2551707"/>
                <a:ext cx="8318801" cy="2535759"/>
              </a:xfrm>
              <a:prstGeom prst="rect">
                <a:avLst/>
              </a:prstGeom>
              <a:blipFill>
                <a:blip r:embed="rId3"/>
                <a:stretch>
                  <a:fillRect b="-24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29427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396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二倍运算</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上述方法无法解释</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 + 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，即两点重合的情况。因此在这种情况下，将椭圆曲线在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点的切线，与椭圆曲线的交点，交点关于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轴对称位置的点，定义为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 + 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，即为二倍运算。</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grpSp>
        <p:nvGrpSpPr>
          <p:cNvPr id="4" name="组合 3">
            <a:extLst>
              <a:ext uri="{FF2B5EF4-FFF2-40B4-BE49-F238E27FC236}">
                <a16:creationId xmlns:a16="http://schemas.microsoft.com/office/drawing/2014/main" id="{9FB6F04B-6F6E-4EE3-8701-9803E2370B13}"/>
              </a:ext>
            </a:extLst>
          </p:cNvPr>
          <p:cNvGrpSpPr/>
          <p:nvPr/>
        </p:nvGrpSpPr>
        <p:grpSpPr>
          <a:xfrm>
            <a:off x="3275856" y="2067694"/>
            <a:ext cx="3746859" cy="2646766"/>
            <a:chOff x="3860794" y="2145221"/>
            <a:chExt cx="3746859" cy="2646766"/>
          </a:xfrm>
        </p:grpSpPr>
        <p:sp>
          <p:nvSpPr>
            <p:cNvPr id="7" name="任意多边形: 形状 6">
              <a:extLst>
                <a:ext uri="{FF2B5EF4-FFF2-40B4-BE49-F238E27FC236}">
                  <a16:creationId xmlns:a16="http://schemas.microsoft.com/office/drawing/2014/main" id="{C9811EDD-B435-40FF-B891-D6478CD3E174}"/>
                </a:ext>
              </a:extLst>
            </p:cNvPr>
            <p:cNvSpPr/>
            <p:nvPr/>
          </p:nvSpPr>
          <p:spPr>
            <a:xfrm>
              <a:off x="4513951" y="2383120"/>
              <a:ext cx="1390362" cy="2348869"/>
            </a:xfrm>
            <a:custGeom>
              <a:avLst/>
              <a:gdLst>
                <a:gd name="connsiteX0" fmla="*/ 1147276 w 1166326"/>
                <a:gd name="connsiteY0" fmla="*/ 0 h 1969770"/>
                <a:gd name="connsiteX1" fmla="*/ 785326 w 1166326"/>
                <a:gd name="connsiteY1" fmla="*/ 533400 h 1969770"/>
                <a:gd name="connsiteX2" fmla="*/ 225256 w 1166326"/>
                <a:gd name="connsiteY2" fmla="*/ 407670 h 1969770"/>
                <a:gd name="connsiteX3" fmla="*/ 466 w 1166326"/>
                <a:gd name="connsiteY3" fmla="*/ 811530 h 1969770"/>
                <a:gd name="connsiteX4" fmla="*/ 274786 w 1166326"/>
                <a:gd name="connsiteY4" fmla="*/ 1573530 h 1969770"/>
                <a:gd name="connsiteX5" fmla="*/ 773896 w 1166326"/>
                <a:gd name="connsiteY5" fmla="*/ 1428750 h 1969770"/>
                <a:gd name="connsiteX6" fmla="*/ 1166326 w 1166326"/>
                <a:gd name="connsiteY6" fmla="*/ 1969770 h 1969770"/>
                <a:gd name="connsiteX0" fmla="*/ 1170068 w 1189118"/>
                <a:gd name="connsiteY0" fmla="*/ 0 h 1969770"/>
                <a:gd name="connsiteX1" fmla="*/ 808118 w 1189118"/>
                <a:gd name="connsiteY1" fmla="*/ 533400 h 1969770"/>
                <a:gd name="connsiteX2" fmla="*/ 248048 w 1189118"/>
                <a:gd name="connsiteY2" fmla="*/ 407670 h 1969770"/>
                <a:gd name="connsiteX3" fmla="*/ 398 w 1189118"/>
                <a:gd name="connsiteY3" fmla="*/ 838200 h 1969770"/>
                <a:gd name="connsiteX4" fmla="*/ 297578 w 1189118"/>
                <a:gd name="connsiteY4" fmla="*/ 1573530 h 1969770"/>
                <a:gd name="connsiteX5" fmla="*/ 796688 w 1189118"/>
                <a:gd name="connsiteY5" fmla="*/ 1428750 h 1969770"/>
                <a:gd name="connsiteX6" fmla="*/ 1189118 w 1189118"/>
                <a:gd name="connsiteY6" fmla="*/ 1969770 h 1969770"/>
                <a:gd name="connsiteX0" fmla="*/ 1143481 w 1162531"/>
                <a:gd name="connsiteY0" fmla="*/ 0 h 1969770"/>
                <a:gd name="connsiteX1" fmla="*/ 781531 w 1162531"/>
                <a:gd name="connsiteY1" fmla="*/ 533400 h 1969770"/>
                <a:gd name="connsiteX2" fmla="*/ 221461 w 1162531"/>
                <a:gd name="connsiteY2" fmla="*/ 407670 h 1969770"/>
                <a:gd name="connsiteX3" fmla="*/ 481 w 1162531"/>
                <a:gd name="connsiteY3" fmla="*/ 868680 h 1969770"/>
                <a:gd name="connsiteX4" fmla="*/ 270991 w 1162531"/>
                <a:gd name="connsiteY4" fmla="*/ 1573530 h 1969770"/>
                <a:gd name="connsiteX5" fmla="*/ 770101 w 1162531"/>
                <a:gd name="connsiteY5" fmla="*/ 1428750 h 1969770"/>
                <a:gd name="connsiteX6" fmla="*/ 1162531 w 1162531"/>
                <a:gd name="connsiteY6" fmla="*/ 1969770 h 1969770"/>
                <a:gd name="connsiteX0" fmla="*/ 1148343 w 1167393"/>
                <a:gd name="connsiteY0" fmla="*/ 0 h 1969770"/>
                <a:gd name="connsiteX1" fmla="*/ 786393 w 1167393"/>
                <a:gd name="connsiteY1" fmla="*/ 533400 h 1969770"/>
                <a:gd name="connsiteX2" fmla="*/ 226323 w 1167393"/>
                <a:gd name="connsiteY2" fmla="*/ 407670 h 1969770"/>
                <a:gd name="connsiteX3" fmla="*/ 5343 w 1167393"/>
                <a:gd name="connsiteY3" fmla="*/ 868680 h 1969770"/>
                <a:gd name="connsiteX4" fmla="*/ 131073 w 1167393"/>
                <a:gd name="connsiteY4" fmla="*/ 1474470 h 1969770"/>
                <a:gd name="connsiteX5" fmla="*/ 774963 w 1167393"/>
                <a:gd name="connsiteY5" fmla="*/ 1428750 h 1969770"/>
                <a:gd name="connsiteX6" fmla="*/ 1167393 w 1167393"/>
                <a:gd name="connsiteY6" fmla="*/ 1969770 h 1969770"/>
                <a:gd name="connsiteX0" fmla="*/ 1143851 w 1162901"/>
                <a:gd name="connsiteY0" fmla="*/ 0 h 1969770"/>
                <a:gd name="connsiteX1" fmla="*/ 781901 w 1162901"/>
                <a:gd name="connsiteY1" fmla="*/ 533400 h 1969770"/>
                <a:gd name="connsiteX2" fmla="*/ 221831 w 1162901"/>
                <a:gd name="connsiteY2" fmla="*/ 407670 h 1969770"/>
                <a:gd name="connsiteX3" fmla="*/ 851 w 1162901"/>
                <a:gd name="connsiteY3" fmla="*/ 868680 h 1969770"/>
                <a:gd name="connsiteX4" fmla="*/ 172301 w 1162901"/>
                <a:gd name="connsiteY4" fmla="*/ 1531620 h 1969770"/>
                <a:gd name="connsiteX5" fmla="*/ 770471 w 1162901"/>
                <a:gd name="connsiteY5" fmla="*/ 1428750 h 1969770"/>
                <a:gd name="connsiteX6" fmla="*/ 1162901 w 1162901"/>
                <a:gd name="connsiteY6" fmla="*/ 1969770 h 1969770"/>
                <a:gd name="connsiteX0" fmla="*/ 1148468 w 1167518"/>
                <a:gd name="connsiteY0" fmla="*/ 0 h 1969770"/>
                <a:gd name="connsiteX1" fmla="*/ 786518 w 1167518"/>
                <a:gd name="connsiteY1" fmla="*/ 533400 h 1969770"/>
                <a:gd name="connsiteX2" fmla="*/ 226448 w 1167518"/>
                <a:gd name="connsiteY2" fmla="*/ 407670 h 1969770"/>
                <a:gd name="connsiteX3" fmla="*/ 5468 w 1167518"/>
                <a:gd name="connsiteY3" fmla="*/ 868680 h 1969770"/>
                <a:gd name="connsiteX4" fmla="*/ 176918 w 1167518"/>
                <a:gd name="connsiteY4" fmla="*/ 1531620 h 1969770"/>
                <a:gd name="connsiteX5" fmla="*/ 775088 w 1167518"/>
                <a:gd name="connsiteY5" fmla="*/ 1428750 h 1969770"/>
                <a:gd name="connsiteX6" fmla="*/ 1167518 w 1167518"/>
                <a:gd name="connsiteY6" fmla="*/ 1969770 h 1969770"/>
                <a:gd name="connsiteX0" fmla="*/ 1148468 w 1167518"/>
                <a:gd name="connsiteY0" fmla="*/ 0 h 1969770"/>
                <a:gd name="connsiteX1" fmla="*/ 773727 w 1167518"/>
                <a:gd name="connsiteY1" fmla="*/ 523592 h 1969770"/>
                <a:gd name="connsiteX2" fmla="*/ 226448 w 1167518"/>
                <a:gd name="connsiteY2" fmla="*/ 407670 h 1969770"/>
                <a:gd name="connsiteX3" fmla="*/ 5468 w 1167518"/>
                <a:gd name="connsiteY3" fmla="*/ 868680 h 1969770"/>
                <a:gd name="connsiteX4" fmla="*/ 176918 w 1167518"/>
                <a:gd name="connsiteY4" fmla="*/ 1531620 h 1969770"/>
                <a:gd name="connsiteX5" fmla="*/ 775088 w 1167518"/>
                <a:gd name="connsiteY5" fmla="*/ 1428750 h 1969770"/>
                <a:gd name="connsiteX6" fmla="*/ 1167518 w 1167518"/>
                <a:gd name="connsiteY6" fmla="*/ 1969770 h 1969770"/>
                <a:gd name="connsiteX0" fmla="*/ 1167655 w 1167655"/>
                <a:gd name="connsiteY0" fmla="*/ 0 h 2015540"/>
                <a:gd name="connsiteX1" fmla="*/ 773727 w 1167655"/>
                <a:gd name="connsiteY1" fmla="*/ 569362 h 2015540"/>
                <a:gd name="connsiteX2" fmla="*/ 226448 w 1167655"/>
                <a:gd name="connsiteY2" fmla="*/ 453440 h 2015540"/>
                <a:gd name="connsiteX3" fmla="*/ 5468 w 1167655"/>
                <a:gd name="connsiteY3" fmla="*/ 914450 h 2015540"/>
                <a:gd name="connsiteX4" fmla="*/ 176918 w 1167655"/>
                <a:gd name="connsiteY4" fmla="*/ 1577390 h 2015540"/>
                <a:gd name="connsiteX5" fmla="*/ 775088 w 1167655"/>
                <a:gd name="connsiteY5" fmla="*/ 1474520 h 2015540"/>
                <a:gd name="connsiteX6" fmla="*/ 1167518 w 1167655"/>
                <a:gd name="connsiteY6" fmla="*/ 2015540 h 2015540"/>
                <a:gd name="connsiteX0" fmla="*/ 1166972 w 1166972"/>
                <a:gd name="connsiteY0" fmla="*/ 0 h 2015540"/>
                <a:gd name="connsiteX1" fmla="*/ 773044 w 1166972"/>
                <a:gd name="connsiteY1" fmla="*/ 569362 h 2015540"/>
                <a:gd name="connsiteX2" fmla="*/ 216171 w 1166972"/>
                <a:gd name="connsiteY2" fmla="*/ 430555 h 2015540"/>
                <a:gd name="connsiteX3" fmla="*/ 4785 w 1166972"/>
                <a:gd name="connsiteY3" fmla="*/ 914450 h 2015540"/>
                <a:gd name="connsiteX4" fmla="*/ 176235 w 1166972"/>
                <a:gd name="connsiteY4" fmla="*/ 1577390 h 2015540"/>
                <a:gd name="connsiteX5" fmla="*/ 774405 w 1166972"/>
                <a:gd name="connsiteY5" fmla="*/ 1474520 h 2015540"/>
                <a:gd name="connsiteX6" fmla="*/ 1166835 w 1166972"/>
                <a:gd name="connsiteY6" fmla="*/ 2015540 h 2015540"/>
                <a:gd name="connsiteX0" fmla="*/ 1166972 w 1166972"/>
                <a:gd name="connsiteY0" fmla="*/ 0 h 2015540"/>
                <a:gd name="connsiteX1" fmla="*/ 782638 w 1166972"/>
                <a:gd name="connsiteY1" fmla="*/ 559554 h 2015540"/>
                <a:gd name="connsiteX2" fmla="*/ 216171 w 1166972"/>
                <a:gd name="connsiteY2" fmla="*/ 430555 h 2015540"/>
                <a:gd name="connsiteX3" fmla="*/ 4785 w 1166972"/>
                <a:gd name="connsiteY3" fmla="*/ 914450 h 2015540"/>
                <a:gd name="connsiteX4" fmla="*/ 176235 w 1166972"/>
                <a:gd name="connsiteY4" fmla="*/ 1577390 h 2015540"/>
                <a:gd name="connsiteX5" fmla="*/ 774405 w 1166972"/>
                <a:gd name="connsiteY5" fmla="*/ 1474520 h 2015540"/>
                <a:gd name="connsiteX6" fmla="*/ 1166835 w 1166972"/>
                <a:gd name="connsiteY6" fmla="*/ 2015540 h 2015540"/>
                <a:gd name="connsiteX0" fmla="*/ 1166972 w 1166972"/>
                <a:gd name="connsiteY0" fmla="*/ 0 h 2015540"/>
                <a:gd name="connsiteX1" fmla="*/ 782638 w 1166972"/>
                <a:gd name="connsiteY1" fmla="*/ 559554 h 2015540"/>
                <a:gd name="connsiteX2" fmla="*/ 216171 w 1166972"/>
                <a:gd name="connsiteY2" fmla="*/ 430555 h 2015540"/>
                <a:gd name="connsiteX3" fmla="*/ 4785 w 1166972"/>
                <a:gd name="connsiteY3" fmla="*/ 914450 h 2015540"/>
                <a:gd name="connsiteX4" fmla="*/ 176235 w 1166972"/>
                <a:gd name="connsiteY4" fmla="*/ 1577390 h 2015540"/>
                <a:gd name="connsiteX5" fmla="*/ 774405 w 1166972"/>
                <a:gd name="connsiteY5" fmla="*/ 1474520 h 2015540"/>
                <a:gd name="connsiteX6" fmla="*/ 1166835 w 1166972"/>
                <a:gd name="connsiteY6" fmla="*/ 2015540 h 2015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972" h="2015540">
                  <a:moveTo>
                    <a:pt x="1166972" y="0"/>
                  </a:moveTo>
                  <a:cubicBezTo>
                    <a:pt x="1062832" y="232727"/>
                    <a:pt x="937907" y="543374"/>
                    <a:pt x="782638" y="559554"/>
                  </a:cubicBezTo>
                  <a:cubicBezTo>
                    <a:pt x="627369" y="575734"/>
                    <a:pt x="345813" y="371406"/>
                    <a:pt x="216171" y="430555"/>
                  </a:cubicBezTo>
                  <a:cubicBezTo>
                    <a:pt x="86529" y="489704"/>
                    <a:pt x="11441" y="723311"/>
                    <a:pt x="4785" y="914450"/>
                  </a:cubicBezTo>
                  <a:cubicBezTo>
                    <a:pt x="-1871" y="1105589"/>
                    <a:pt x="-28235" y="1457375"/>
                    <a:pt x="176235" y="1577390"/>
                  </a:cubicBezTo>
                  <a:cubicBezTo>
                    <a:pt x="380705" y="1697405"/>
                    <a:pt x="625815" y="1408480"/>
                    <a:pt x="774405" y="1474520"/>
                  </a:cubicBezTo>
                  <a:cubicBezTo>
                    <a:pt x="922995" y="1540560"/>
                    <a:pt x="1044915" y="1778050"/>
                    <a:pt x="1166835" y="20155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D5ABF411-9978-42D0-BDE1-5170F2E99934}"/>
                </a:ext>
              </a:extLst>
            </p:cNvPr>
            <p:cNvCxnSpPr>
              <a:cxnSpLocks/>
            </p:cNvCxnSpPr>
            <p:nvPr/>
          </p:nvCxnSpPr>
          <p:spPr>
            <a:xfrm flipV="1">
              <a:off x="3860794" y="2466000"/>
              <a:ext cx="2367815" cy="66452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CA0BFCD6-2F81-487E-A99F-F70DD8992640}"/>
                </a:ext>
              </a:extLst>
            </p:cNvPr>
            <p:cNvCxnSpPr/>
            <p:nvPr/>
          </p:nvCxnSpPr>
          <p:spPr>
            <a:xfrm flipV="1">
              <a:off x="5120794" y="2307987"/>
              <a:ext cx="0" cy="2484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6D7EE98F-5147-44AC-9ED9-39DCBBAC87A2}"/>
                </a:ext>
              </a:extLst>
            </p:cNvPr>
            <p:cNvCxnSpPr/>
            <p:nvPr/>
          </p:nvCxnSpPr>
          <p:spPr>
            <a:xfrm>
              <a:off x="3860794" y="3565139"/>
              <a:ext cx="252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813FDA2-4343-433E-98BD-A85DD3EDE995}"/>
                </a:ext>
              </a:extLst>
            </p:cNvPr>
            <p:cNvCxnSpPr/>
            <p:nvPr/>
          </p:nvCxnSpPr>
          <p:spPr>
            <a:xfrm flipV="1">
              <a:off x="5796136" y="2596574"/>
              <a:ext cx="0" cy="194400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0FB844C1-6F5D-467A-968D-CC351B0E956F}"/>
                </a:ext>
              </a:extLst>
            </p:cNvPr>
            <p:cNvSpPr txBox="1"/>
            <p:nvPr/>
          </p:nvSpPr>
          <p:spPr>
            <a:xfrm>
              <a:off x="4745872" y="2676050"/>
              <a:ext cx="45719"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A</a:t>
              </a:r>
              <a:endParaRPr lang="zh-CN" altLang="en-US" sz="1200" b="1" i="1"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5040453E-1EC1-406C-B7F4-0C53E75584EE}"/>
                </a:ext>
              </a:extLst>
            </p:cNvPr>
            <p:cNvSpPr txBox="1"/>
            <p:nvPr/>
          </p:nvSpPr>
          <p:spPr>
            <a:xfrm>
              <a:off x="5090986" y="2145221"/>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y</a:t>
              </a:r>
              <a:endParaRPr lang="zh-CN" altLang="en-US" sz="1100" i="1"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423BBFE3-BE23-4631-8310-ED09D5B09BBB}"/>
                </a:ext>
              </a:extLst>
            </p:cNvPr>
            <p:cNvSpPr txBox="1"/>
            <p:nvPr/>
          </p:nvSpPr>
          <p:spPr>
            <a:xfrm>
              <a:off x="6387742" y="3464034"/>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x</a:t>
              </a:r>
              <a:endParaRPr lang="zh-CN" altLang="en-US" sz="1100" i="1"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9EFA0F9E-92CB-4153-8FB5-1B74724B9E46}"/>
                </a:ext>
              </a:extLst>
            </p:cNvPr>
            <p:cNvSpPr txBox="1"/>
            <p:nvPr/>
          </p:nvSpPr>
          <p:spPr>
            <a:xfrm>
              <a:off x="5859498" y="4420834"/>
              <a:ext cx="623545" cy="184666"/>
            </a:xfrm>
            <a:prstGeom prst="rect">
              <a:avLst/>
            </a:prstGeom>
            <a:noFill/>
          </p:spPr>
          <p:txBody>
            <a:bodyPr wrap="square" lIns="0" tIns="0" rIns="0" bIns="0" rtlCol="0">
              <a:spAutoFit/>
            </a:bodyPr>
            <a:lstStyle/>
            <a:p>
              <a:r>
                <a:rPr lang="en-US" altLang="zh-CN" sz="1200" b="1" i="1" dirty="0">
                  <a:latin typeface="Times New Roman" panose="02020603050405020304" pitchFamily="18" charset="0"/>
                  <a:cs typeface="Times New Roman" panose="02020603050405020304" pitchFamily="18" charset="0"/>
                </a:rPr>
                <a:t>2A</a:t>
              </a:r>
              <a:endParaRPr lang="zh-CN" altLang="en-US" sz="1200" b="1" i="1"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55CA2DD7-D3E8-460A-9F68-C575CFC0A86D}"/>
                </a:ext>
              </a:extLst>
            </p:cNvPr>
            <p:cNvSpPr txBox="1"/>
            <p:nvPr/>
          </p:nvSpPr>
          <p:spPr>
            <a:xfrm>
              <a:off x="5845916" y="2592950"/>
              <a:ext cx="623545"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交点</a:t>
              </a:r>
            </a:p>
          </p:txBody>
        </p:sp>
        <p:sp>
          <p:nvSpPr>
            <p:cNvPr id="18" name="文本框 17">
              <a:extLst>
                <a:ext uri="{FF2B5EF4-FFF2-40B4-BE49-F238E27FC236}">
                  <a16:creationId xmlns:a16="http://schemas.microsoft.com/office/drawing/2014/main" id="{7D0963D7-5820-4C5E-95A0-BE17540AB786}"/>
                </a:ext>
              </a:extLst>
            </p:cNvPr>
            <p:cNvSpPr txBox="1"/>
            <p:nvPr/>
          </p:nvSpPr>
          <p:spPr>
            <a:xfrm>
              <a:off x="6228609" y="2407529"/>
              <a:ext cx="1379044"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曲线在点</a:t>
              </a:r>
              <a:r>
                <a:rPr lang="en-US" altLang="zh-CN" sz="1200" dirty="0">
                  <a:latin typeface="楷体" panose="02010609060101010101" pitchFamily="49" charset="-122"/>
                  <a:ea typeface="楷体" panose="02010609060101010101" pitchFamily="49" charset="-122"/>
                  <a:cs typeface="Times New Roman" panose="02020603050405020304" pitchFamily="18" charset="0"/>
                </a:rPr>
                <a:t>A</a:t>
              </a:r>
              <a:r>
                <a:rPr lang="zh-CN" altLang="en-US" sz="1200" dirty="0">
                  <a:latin typeface="楷体" panose="02010609060101010101" pitchFamily="49" charset="-122"/>
                  <a:ea typeface="楷体" panose="02010609060101010101" pitchFamily="49" charset="-122"/>
                  <a:cs typeface="Times New Roman" panose="02020603050405020304" pitchFamily="18" charset="0"/>
                </a:rPr>
                <a:t>上的切线</a:t>
              </a:r>
            </a:p>
          </p:txBody>
        </p:sp>
        <p:sp>
          <p:nvSpPr>
            <p:cNvPr id="20" name="文本框 19">
              <a:extLst>
                <a:ext uri="{FF2B5EF4-FFF2-40B4-BE49-F238E27FC236}">
                  <a16:creationId xmlns:a16="http://schemas.microsoft.com/office/drawing/2014/main" id="{1590C9FC-FDC0-409A-83DE-6EDE81DE97FB}"/>
                </a:ext>
              </a:extLst>
            </p:cNvPr>
            <p:cNvSpPr txBox="1"/>
            <p:nvPr/>
          </p:nvSpPr>
          <p:spPr>
            <a:xfrm>
              <a:off x="5234711" y="2304540"/>
              <a:ext cx="1218796" cy="184666"/>
            </a:xfrm>
            <a:prstGeom prst="rect">
              <a:avLst/>
            </a:prstGeom>
            <a:noFill/>
          </p:spPr>
          <p:txBody>
            <a:bodyPr wrap="square" lIns="0" tIns="0" rIns="0" bIns="0" rtlCol="0">
              <a:spAutoFit/>
            </a:bodyPr>
            <a:lstStyle/>
            <a:p>
              <a:r>
                <a:rPr lang="zh-CN" altLang="en-US" sz="1200" dirty="0">
                  <a:latin typeface="楷体" panose="02010609060101010101" pitchFamily="49" charset="-122"/>
                  <a:ea typeface="楷体" panose="02010609060101010101" pitchFamily="49" charset="-122"/>
                  <a:cs typeface="Times New Roman" panose="02020603050405020304" pitchFamily="18" charset="0"/>
                </a:rPr>
                <a:t>椭圆曲线</a:t>
              </a:r>
            </a:p>
          </p:txBody>
        </p:sp>
        <p:sp>
          <p:nvSpPr>
            <p:cNvPr id="21" name="椭圆 20">
              <a:extLst>
                <a:ext uri="{FF2B5EF4-FFF2-40B4-BE49-F238E27FC236}">
                  <a16:creationId xmlns:a16="http://schemas.microsoft.com/office/drawing/2014/main" id="{7E704ED0-C7A4-4511-9CA5-6581209010EA}"/>
                </a:ext>
              </a:extLst>
            </p:cNvPr>
            <p:cNvSpPr/>
            <p:nvPr/>
          </p:nvSpPr>
          <p:spPr>
            <a:xfrm>
              <a:off x="4775778" y="285283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063AB6C-6E92-436C-A342-06DD3E2FC661}"/>
                </a:ext>
              </a:extLst>
            </p:cNvPr>
            <p:cNvSpPr/>
            <p:nvPr/>
          </p:nvSpPr>
          <p:spPr>
            <a:xfrm>
              <a:off x="5774704" y="2582207"/>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2DBC4952-3742-4304-9176-ADB0C15F84B9}"/>
                </a:ext>
              </a:extLst>
            </p:cNvPr>
            <p:cNvSpPr/>
            <p:nvPr/>
          </p:nvSpPr>
          <p:spPr>
            <a:xfrm>
              <a:off x="5778136" y="4510562"/>
              <a:ext cx="36000" cy="36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25523107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8110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无穷远点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相加，过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的直线平行于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轴，可以认为直线与椭圆曲线相交于无穷远点。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综上，定义了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运算，因此给定椭圆曲线的某一点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，可以求出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 + 2G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。即：当给定</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点时，已知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，求</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点并不困难。反之，已知</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则非常困难。此即为椭圆曲线加密算法背后的数学原理。</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63229603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1825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有限域上的椭圆曲线运算</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椭圆曲线要形成一条光滑的曲线，要求</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x,y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取值均为实数，即实数域上的椭圆曲线。但椭圆曲线加密算法，并非使用实数域，而是使用有限域。按数论定义，有限域</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GF(p)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指给定某个质数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2......p-1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个元素组成的整数集合中定义的加减乘除运算。</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假设椭圆曲线为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y² = x³ + x + 1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，其在有限域</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GF(23)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上时，写作：</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y² ≡ x³ + x + 1 (mod 23)</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此时，椭圆曲线不再是一条光滑曲线，而是一些不连续的点</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19197119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cxnSp>
        <p:nvCxnSpPr>
          <p:cNvPr id="6" name="直接箭头连接符 5">
            <a:extLst>
              <a:ext uri="{FF2B5EF4-FFF2-40B4-BE49-F238E27FC236}">
                <a16:creationId xmlns:a16="http://schemas.microsoft.com/office/drawing/2014/main" id="{DAE886C4-E1D0-4C9B-98C6-23B5BDF5C7A6}"/>
              </a:ext>
            </a:extLst>
          </p:cNvPr>
          <p:cNvCxnSpPr/>
          <p:nvPr/>
        </p:nvCxnSpPr>
        <p:spPr>
          <a:xfrm flipV="1">
            <a:off x="1691680" y="843558"/>
            <a:ext cx="0" cy="39604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4848C402-ACE0-40DC-B930-F0453A3B6217}"/>
              </a:ext>
            </a:extLst>
          </p:cNvPr>
          <p:cNvCxnSpPr/>
          <p:nvPr/>
        </p:nvCxnSpPr>
        <p:spPr>
          <a:xfrm>
            <a:off x="1691680" y="4803998"/>
            <a:ext cx="24482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椭圆 8">
            <a:extLst>
              <a:ext uri="{FF2B5EF4-FFF2-40B4-BE49-F238E27FC236}">
                <a16:creationId xmlns:a16="http://schemas.microsoft.com/office/drawing/2014/main" id="{59E82641-F12A-46C5-9719-E325560AD9BA}"/>
              </a:ext>
            </a:extLst>
          </p:cNvPr>
          <p:cNvSpPr/>
          <p:nvPr/>
        </p:nvSpPr>
        <p:spPr>
          <a:xfrm>
            <a:off x="2520000" y="147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8AAC3C15-45E9-43FA-9041-B9786D2DE861}"/>
              </a:ext>
            </a:extLst>
          </p:cNvPr>
          <p:cNvSpPr/>
          <p:nvPr/>
        </p:nvSpPr>
        <p:spPr>
          <a:xfrm>
            <a:off x="2699792" y="147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11D4C01C-B294-4F97-899E-D19CDB59CCBE}"/>
              </a:ext>
            </a:extLst>
          </p:cNvPr>
          <p:cNvSpPr/>
          <p:nvPr/>
        </p:nvSpPr>
        <p:spPr>
          <a:xfrm>
            <a:off x="3582000" y="129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7208BFC6-DA6A-424E-8FCB-92E7195CE4E7}"/>
              </a:ext>
            </a:extLst>
          </p:cNvPr>
          <p:cNvSpPr/>
          <p:nvPr/>
        </p:nvSpPr>
        <p:spPr>
          <a:xfrm>
            <a:off x="3582000" y="426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B3D57787-3935-42E8-BB2D-802E2DFCF60B}"/>
              </a:ext>
            </a:extLst>
          </p:cNvPr>
          <p:cNvSpPr/>
          <p:nvPr/>
        </p:nvSpPr>
        <p:spPr>
          <a:xfrm>
            <a:off x="2520000" y="4083918"/>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F6367114-EABC-4091-88BB-3AABE5606425}"/>
              </a:ext>
            </a:extLst>
          </p:cNvPr>
          <p:cNvSpPr/>
          <p:nvPr/>
        </p:nvSpPr>
        <p:spPr>
          <a:xfrm>
            <a:off x="2699792" y="4083918"/>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4D554863-BA6C-4760-8344-16482620D210}"/>
              </a:ext>
            </a:extLst>
          </p:cNvPr>
          <p:cNvSpPr/>
          <p:nvPr/>
        </p:nvSpPr>
        <p:spPr>
          <a:xfrm>
            <a:off x="3240000" y="1995686"/>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53764DDA-B8DF-492E-9CC9-A88702161AE4}"/>
              </a:ext>
            </a:extLst>
          </p:cNvPr>
          <p:cNvSpPr/>
          <p:nvPr/>
        </p:nvSpPr>
        <p:spPr>
          <a:xfrm>
            <a:off x="3240000" y="3564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82B7B5BC-717C-47CE-9CFE-0B7231BD65F4}"/>
              </a:ext>
            </a:extLst>
          </p:cNvPr>
          <p:cNvSpPr/>
          <p:nvPr/>
        </p:nvSpPr>
        <p:spPr>
          <a:xfrm>
            <a:off x="1836000" y="1995686"/>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2FA5E89F-5F12-4C08-B890-522DF4793340}"/>
              </a:ext>
            </a:extLst>
          </p:cNvPr>
          <p:cNvSpPr/>
          <p:nvPr/>
        </p:nvSpPr>
        <p:spPr>
          <a:xfrm>
            <a:off x="1836000" y="3564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2B0C9738-3491-41A2-B53A-8039AA0CEB58}"/>
              </a:ext>
            </a:extLst>
          </p:cNvPr>
          <p:cNvSpPr/>
          <p:nvPr/>
        </p:nvSpPr>
        <p:spPr>
          <a:xfrm>
            <a:off x="2183598" y="2520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E515C8C6-DA2F-47B2-8546-35F7F75C462E}"/>
              </a:ext>
            </a:extLst>
          </p:cNvPr>
          <p:cNvSpPr/>
          <p:nvPr/>
        </p:nvSpPr>
        <p:spPr>
          <a:xfrm>
            <a:off x="2181914" y="3042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E3BFDFAF-0C46-4D2F-918D-86F26E3AD5AD}"/>
              </a:ext>
            </a:extLst>
          </p:cNvPr>
          <p:cNvSpPr/>
          <p:nvPr/>
        </p:nvSpPr>
        <p:spPr>
          <a:xfrm>
            <a:off x="2879812" y="2688632"/>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3C103CDE-B74E-4A34-93D6-1DBFEF32C0D6}"/>
              </a:ext>
            </a:extLst>
          </p:cNvPr>
          <p:cNvSpPr/>
          <p:nvPr/>
        </p:nvSpPr>
        <p:spPr>
          <a:xfrm>
            <a:off x="2879812" y="2862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7952D710-9077-4A22-9613-7E8A0CF65DDD}"/>
              </a:ext>
            </a:extLst>
          </p:cNvPr>
          <p:cNvSpPr/>
          <p:nvPr/>
        </p:nvSpPr>
        <p:spPr>
          <a:xfrm>
            <a:off x="1655676" y="936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DB288CD6-68CC-421A-AE97-05939E00081B}"/>
              </a:ext>
            </a:extLst>
          </p:cNvPr>
          <p:cNvSpPr/>
          <p:nvPr/>
        </p:nvSpPr>
        <p:spPr>
          <a:xfrm>
            <a:off x="1655676" y="4590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79DAD95E-5556-4AB8-B788-7DDBC0162987}"/>
              </a:ext>
            </a:extLst>
          </p:cNvPr>
          <p:cNvSpPr/>
          <p:nvPr/>
        </p:nvSpPr>
        <p:spPr>
          <a:xfrm>
            <a:off x="2357408" y="4770000"/>
            <a:ext cx="72008" cy="72008"/>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B31674E7-0393-4048-B6D3-490E1574AC36}"/>
              </a:ext>
            </a:extLst>
          </p:cNvPr>
          <p:cNvSpPr txBox="1"/>
          <p:nvPr/>
        </p:nvSpPr>
        <p:spPr>
          <a:xfrm>
            <a:off x="1763688" y="901692"/>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(0,22)</a:t>
            </a:r>
            <a:endParaRPr lang="zh-CN" altLang="en-US" sz="1000" b="1"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AD402AB6-D130-4DB2-98B7-0C8B528B0AE1}"/>
              </a:ext>
            </a:extLst>
          </p:cNvPr>
          <p:cNvSpPr txBox="1"/>
          <p:nvPr/>
        </p:nvSpPr>
        <p:spPr>
          <a:xfrm>
            <a:off x="2430371" y="1321671"/>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(5,19)</a:t>
            </a:r>
            <a:endParaRPr lang="zh-CN" altLang="en-US" sz="1000" b="1"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4CB7228F-35C6-4E7A-9E5D-5818B67500CD}"/>
              </a:ext>
            </a:extLst>
          </p:cNvPr>
          <p:cNvSpPr txBox="1"/>
          <p:nvPr/>
        </p:nvSpPr>
        <p:spPr>
          <a:xfrm>
            <a:off x="2592008" y="1517101"/>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(6,19)</a:t>
            </a:r>
            <a:endParaRPr lang="zh-CN" altLang="en-US" sz="1000" b="1" dirty="0">
              <a:latin typeface="Times New Roman" panose="02020603050405020304" pitchFamily="18" charset="0"/>
              <a:cs typeface="Times New Roman" panose="02020603050405020304" pitchFamily="18" charset="0"/>
            </a:endParaRPr>
          </a:p>
        </p:txBody>
      </p:sp>
      <p:sp>
        <p:nvSpPr>
          <p:cNvPr id="31" name="文本框 30">
            <a:extLst>
              <a:ext uri="{FF2B5EF4-FFF2-40B4-BE49-F238E27FC236}">
                <a16:creationId xmlns:a16="http://schemas.microsoft.com/office/drawing/2014/main" id="{F6FA38A2-CB15-4942-B290-526656239143}"/>
              </a:ext>
            </a:extLst>
          </p:cNvPr>
          <p:cNvSpPr txBox="1"/>
          <p:nvPr/>
        </p:nvSpPr>
        <p:spPr>
          <a:xfrm>
            <a:off x="3660452" y="1255060"/>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(11,20)</a:t>
            </a:r>
            <a:endParaRPr lang="zh-CN" altLang="en-US" sz="1000" b="1" dirty="0">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E7E10EF5-10C7-4472-9864-7A446312D803}"/>
              </a:ext>
            </a:extLst>
          </p:cNvPr>
          <p:cNvSpPr txBox="1"/>
          <p:nvPr/>
        </p:nvSpPr>
        <p:spPr>
          <a:xfrm>
            <a:off x="3328652" y="1939136"/>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(9,16)</a:t>
            </a:r>
            <a:endParaRPr lang="zh-CN" altLang="en-US" sz="1000" b="1"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3981A63B-3EAC-4906-B616-F7DB4CB4590E}"/>
              </a:ext>
            </a:extLst>
          </p:cNvPr>
          <p:cNvSpPr txBox="1"/>
          <p:nvPr/>
        </p:nvSpPr>
        <p:spPr>
          <a:xfrm>
            <a:off x="1916110" y="1939136"/>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(1,16)</a:t>
            </a:r>
            <a:endParaRPr lang="zh-CN" altLang="en-US" sz="1000" b="1"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D1E83AE5-E02F-447B-9595-5DD6DD0E6E6C}"/>
              </a:ext>
            </a:extLst>
          </p:cNvPr>
          <p:cNvSpPr txBox="1"/>
          <p:nvPr/>
        </p:nvSpPr>
        <p:spPr>
          <a:xfrm>
            <a:off x="2299745" y="2463749"/>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(3,13)</a:t>
            </a:r>
            <a:endParaRPr lang="zh-CN" altLang="en-US" sz="1000" b="1"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03D9F885-5310-4D7B-B6FB-C6F87AAEECC5}"/>
              </a:ext>
            </a:extLst>
          </p:cNvPr>
          <p:cNvSpPr txBox="1"/>
          <p:nvPr/>
        </p:nvSpPr>
        <p:spPr>
          <a:xfrm>
            <a:off x="2986652" y="2647692"/>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(7,12)</a:t>
            </a:r>
            <a:endParaRPr lang="zh-CN" altLang="en-US" sz="1000" b="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684F54D8-1AF8-46FF-95BF-20DD211E2F70}"/>
              </a:ext>
            </a:extLst>
          </p:cNvPr>
          <p:cNvSpPr txBox="1"/>
          <p:nvPr/>
        </p:nvSpPr>
        <p:spPr>
          <a:xfrm>
            <a:off x="2986651" y="2820081"/>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(7,11)</a:t>
            </a:r>
            <a:endParaRPr lang="zh-CN" altLang="en-US" sz="1000" b="1" dirty="0">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4646B671-5378-4A5F-9055-D8CF3DCEF602}"/>
              </a:ext>
            </a:extLst>
          </p:cNvPr>
          <p:cNvSpPr txBox="1"/>
          <p:nvPr/>
        </p:nvSpPr>
        <p:spPr>
          <a:xfrm>
            <a:off x="2282615" y="2995035"/>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(3,10)</a:t>
            </a:r>
            <a:endParaRPr lang="zh-CN" altLang="en-US" sz="1000" b="1"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941C7EF3-7930-426E-BEED-2649D2CE397C}"/>
              </a:ext>
            </a:extLst>
          </p:cNvPr>
          <p:cNvSpPr txBox="1"/>
          <p:nvPr/>
        </p:nvSpPr>
        <p:spPr>
          <a:xfrm>
            <a:off x="3344444" y="3518365"/>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(9,7)</a:t>
            </a:r>
            <a:endParaRPr lang="zh-CN" altLang="en-US" sz="1000" b="1"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84307804-F37D-4054-B1B9-4D7270C934E7}"/>
              </a:ext>
            </a:extLst>
          </p:cNvPr>
          <p:cNvSpPr txBox="1"/>
          <p:nvPr/>
        </p:nvSpPr>
        <p:spPr>
          <a:xfrm>
            <a:off x="1950641" y="3514422"/>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(1,7)</a:t>
            </a:r>
            <a:endParaRPr lang="zh-CN" altLang="en-US" sz="1000" b="1"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54DC444D-07FC-4787-A556-A74B784FF3D8}"/>
              </a:ext>
            </a:extLst>
          </p:cNvPr>
          <p:cNvSpPr txBox="1"/>
          <p:nvPr/>
        </p:nvSpPr>
        <p:spPr>
          <a:xfrm>
            <a:off x="2446444" y="3930030"/>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(5,4)</a:t>
            </a:r>
            <a:endParaRPr lang="zh-CN" altLang="en-US" sz="1000" b="1"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FAF48242-4992-49DF-98F2-7077A8EFEB47}"/>
              </a:ext>
            </a:extLst>
          </p:cNvPr>
          <p:cNvSpPr txBox="1"/>
          <p:nvPr/>
        </p:nvSpPr>
        <p:spPr>
          <a:xfrm>
            <a:off x="2657494" y="4144028"/>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(6,4)</a:t>
            </a:r>
            <a:endParaRPr lang="zh-CN" altLang="en-US" sz="1000" b="1"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E2A95DFC-48A8-4143-B077-A156337A801C}"/>
              </a:ext>
            </a:extLst>
          </p:cNvPr>
          <p:cNvSpPr txBox="1"/>
          <p:nvPr/>
        </p:nvSpPr>
        <p:spPr>
          <a:xfrm>
            <a:off x="3685741" y="4216649"/>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(11,3)</a:t>
            </a:r>
            <a:endParaRPr lang="zh-CN" altLang="en-US" sz="1000" b="1"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88D9DC79-5EEC-47CD-A858-9CD476D542D1}"/>
              </a:ext>
            </a:extLst>
          </p:cNvPr>
          <p:cNvSpPr txBox="1"/>
          <p:nvPr/>
        </p:nvSpPr>
        <p:spPr>
          <a:xfrm>
            <a:off x="1762201" y="4549060"/>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(0,1)</a:t>
            </a:r>
            <a:endParaRPr lang="zh-CN" altLang="en-US" sz="1000" b="1" dirty="0">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473EC2D1-D251-44AA-8B6E-4365E96422DB}"/>
              </a:ext>
            </a:extLst>
          </p:cNvPr>
          <p:cNvSpPr txBox="1"/>
          <p:nvPr/>
        </p:nvSpPr>
        <p:spPr>
          <a:xfrm>
            <a:off x="2454765" y="4628934"/>
            <a:ext cx="578703" cy="153888"/>
          </a:xfrm>
          <a:prstGeom prst="rect">
            <a:avLst/>
          </a:prstGeom>
          <a:noFill/>
        </p:spPr>
        <p:txBody>
          <a:bodyPr wrap="square" lIns="0" tIns="0" rIns="0" bIns="0" rtlCol="0">
            <a:spAutoFit/>
          </a:bodyPr>
          <a:lstStyle/>
          <a:p>
            <a:r>
              <a:rPr lang="en-US" altLang="zh-CN" sz="1000" b="1" dirty="0">
                <a:latin typeface="Times New Roman" panose="02020603050405020304" pitchFamily="18" charset="0"/>
                <a:cs typeface="Times New Roman" panose="02020603050405020304" pitchFamily="18" charset="0"/>
              </a:rPr>
              <a:t>(4,0)</a:t>
            </a:r>
            <a:endParaRPr lang="zh-CN" altLang="en-US" sz="1000"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021AFABF-7DC3-4F69-A7F8-ECEFE951C722}"/>
              </a:ext>
            </a:extLst>
          </p:cNvPr>
          <p:cNvSpPr txBox="1"/>
          <p:nvPr/>
        </p:nvSpPr>
        <p:spPr>
          <a:xfrm>
            <a:off x="1668820" y="631560"/>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y</a:t>
            </a:r>
            <a:endParaRPr lang="zh-CN" altLang="en-US" sz="1100" i="1"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34454752-7AA5-4DE4-9A4B-24D85755C109}"/>
              </a:ext>
            </a:extLst>
          </p:cNvPr>
          <p:cNvSpPr txBox="1"/>
          <p:nvPr/>
        </p:nvSpPr>
        <p:spPr>
          <a:xfrm>
            <a:off x="4165301" y="4698183"/>
            <a:ext cx="45719" cy="169277"/>
          </a:xfrm>
          <a:prstGeom prst="rect">
            <a:avLst/>
          </a:prstGeom>
          <a:noFill/>
        </p:spPr>
        <p:txBody>
          <a:bodyPr wrap="square" lIns="0" tIns="0" rIns="0" bIns="0" rtlCol="0">
            <a:spAutoFit/>
          </a:bodyPr>
          <a:lstStyle/>
          <a:p>
            <a:r>
              <a:rPr lang="en-US" altLang="zh-CN" sz="1100" i="1" dirty="0">
                <a:latin typeface="Times New Roman" panose="02020603050405020304" pitchFamily="18" charset="0"/>
                <a:cs typeface="Times New Roman" panose="02020603050405020304" pitchFamily="18" charset="0"/>
              </a:rPr>
              <a:t>x</a:t>
            </a:r>
            <a:endParaRPr lang="zh-CN" altLang="en-US" sz="1100" i="1" dirty="0">
              <a:latin typeface="Times New Roman" panose="02020603050405020304" pitchFamily="18" charset="0"/>
              <a:cs typeface="Times New Roman" panose="02020603050405020304" pitchFamily="18" charset="0"/>
            </a:endParaRPr>
          </a:p>
        </p:txBody>
      </p:sp>
      <p:sp>
        <p:nvSpPr>
          <p:cNvPr id="47" name="TextBox 18">
            <a:extLst>
              <a:ext uri="{FF2B5EF4-FFF2-40B4-BE49-F238E27FC236}">
                <a16:creationId xmlns:a16="http://schemas.microsoft.com/office/drawing/2014/main" id="{34C5FDB5-3124-4F76-8AF3-B175DEFAC185}"/>
              </a:ext>
            </a:extLst>
          </p:cNvPr>
          <p:cNvSpPr txBox="1"/>
          <p:nvPr/>
        </p:nvSpPr>
        <p:spPr>
          <a:xfrm>
            <a:off x="5013714" y="789039"/>
            <a:ext cx="3806758" cy="82657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有限域</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GF(23)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上的椭圆曲线</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y² ≡ x³ + x + 1 (mod 23)</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8635257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428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计算</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xG</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有限域</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上的椭圆曲线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y² = x³ + ax + 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Q(X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P+Q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由如下规则确定：</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² -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Y</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Y</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k</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l-G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² + a)/2Y</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P=Q</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R(x,y)</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的逆元（</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 </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x,-y mod p)= (x,p-y)</a:t>
            </a:r>
            <a:endPar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9469426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34685"/>
          </a:xfrm>
          <a:prstGeom prst="rect">
            <a:avLst/>
          </a:prstGeom>
          <a:noFill/>
        </p:spPr>
        <p:txBody>
          <a:bodyPr wrap="square" rtlCol="0">
            <a:spAutoFit/>
          </a:bodyPr>
          <a:lstStyle/>
          <a:p>
            <a:pPr>
              <a:lnSpc>
                <a:spcPct val="11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因此，有限域</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GF(23)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上的椭圆曲线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y² ≡ x³ + x + 1 (mod 23)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点，计算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4G...</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等等，方法如下：</a:t>
            </a:r>
          </a:p>
          <a:p>
            <a:pPr marL="285750" indent="-28575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×0² + 1)/2×1 mod 23 = (1/2) mod 23 = 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(12² - 0 - 0) mod 23 = 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(12(0 - 6) - 1) mod 23 = 19</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(6,19)</a:t>
            </a:r>
          </a:p>
          <a:p>
            <a:pPr marL="285750" indent="-28575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 = G + 2G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(0,1) + (6,19)</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l-GR"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(19 - 1)/(6 - 0)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23 = 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(3² - 0 - 6) mod 23 = 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(3(0 - 3) - 1) mod 23 = 13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1165225">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(3, 13)</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56815279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729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椭圆曲线加解密算法原理</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建立基于椭圆曲线的加密机制，需要找到类似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质因子分解或其他求离散对数这样的难题。而椭圆曲线上的已知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，是非常困难的，此即为椭圆曲线上的的离散对数问题。此处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即为私钥，</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即为公钥。</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椭圆曲线加密算法原理如下：</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设私钥、公钥分别为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点。</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公钥加密：选择随机数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生成密文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，该密文是一个点对，即：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M+rK</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为公钥</a:t>
            </a: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私钥解密：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rK</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M + r(</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k(</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分别为私钥、公钥。</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88244554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39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利用椭圆曲线进行加密通信的过程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选定一条椭圆曲线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Ep(</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，并取椭圆曲线上一点，作为基点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选择一个私有密钥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，并生成公开密钥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Ep(</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传给用户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接到信息后 ，将待传输的明文编码到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Ep(</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上一点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，并产生一个随机整数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r&lt;n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计算点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传给用户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接到信息后，计算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，结果就是点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。再对点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进行解码就可以得到明文。因为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M+rK−k</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rG</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M+rkG−krG</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4495642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5573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椭圆曲线签名体制（</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ECDSA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设私钥、公钥分别为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 =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点。</a:t>
            </a: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私钥签名：</a:t>
            </a:r>
          </a:p>
          <a:p>
            <a:pPr marL="342900"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密钥的生成，在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[1,n-1]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中选定一个随机的整数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作为私钥后，可以计算对应的公钥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Q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={x1,y1}</a:t>
            </a:r>
          </a:p>
          <a:p>
            <a:pPr marL="342900"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消息摘要的生成，用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散列函数计算散列值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e=H(M)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，它是一个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比特的整数</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421988745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089757"/>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3"/>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模计算</a:t>
                </a:r>
              </a:p>
              <a:p>
                <a:pPr marL="358775">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转换域元素</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p>
              <a:p>
                <a:pPr marL="358775">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n</a:t>
                </a:r>
              </a:p>
              <a:p>
                <a:pPr marL="358775">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 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，则重新选择一个随机整数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p>
              <a:p>
                <a:pPr marL="358775">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𝑠</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𝑘</m:t>
                        </m:r>
                      </m:e>
                      <m: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p>
                    </m:sSup>
                    <m:d>
                      <m:d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𝑒</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𝑟𝐺</m:t>
                        </m:r>
                      </m:e>
                    </m:d>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8775">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 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，则重新选择一个随机整数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p>
              <a:p>
                <a:pPr marL="342900" indent="-342900">
                  <a:lnSpc>
                    <a:spcPct val="130000"/>
                  </a:lnSpc>
                  <a:spcBef>
                    <a:spcPts val="300"/>
                  </a:spcBef>
                  <a:spcAft>
                    <a:spcPts val="300"/>
                  </a:spcAft>
                  <a:buFont typeface="+mj-ea"/>
                  <a:buAutoNum type="circleNumDbPlain" startAt="4"/>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的签名就是模计算中得到的两个整数：（</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、和签名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 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发给接收方</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089757"/>
              </a:xfrm>
              <a:prstGeom prst="rect">
                <a:avLst/>
              </a:prstGeom>
              <a:blipFill>
                <a:blip r:embed="rId3"/>
                <a:stretch>
                  <a:fillRect l="-297" b="-1775"/>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1983804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643754"/>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公钥验证签名：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收到的设消息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、收到的消息签名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消息摘要的生成，用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散列函数计算散列值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14:m>
                  <m:oMath xmlns:m="http://schemas.openxmlformats.org/officeDocument/2006/math">
                    <m: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𝐻</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p>
                      <m:s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𝑀</m:t>
                        </m:r>
                      </m:e>
                      <m: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ea"/>
                  <a:buAutoNum type="circleNumDbPlain"/>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模计算</a:t>
                </a: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不是一个在区间</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[-1,n-1]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内的整数，则拒绝该签名</a:t>
                </a: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d>
                      <m:d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sSup>
                          <m:s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p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𝑠</m:t>
                            </m:r>
                          </m:e>
                          <m:sup>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p>
                      </m:e>
                    </m:d>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𝑤𝑐</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和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14:m>
                  <m:oMath xmlns:m="http://schemas.openxmlformats.org/officeDocument/2006/math">
                    <m:r>
                      <a:rPr lang="en-US" altLang="zh-CN" sz="160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𝑤</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𝑟</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p>
              <a:p>
                <a:pPr marL="342900" indent="-342900">
                  <a:lnSpc>
                    <a:spcPct val="130000"/>
                  </a:lnSpc>
                  <a:spcBef>
                    <a:spcPts val="300"/>
                  </a:spcBef>
                  <a:spcAft>
                    <a:spcPts val="300"/>
                  </a:spcAft>
                  <a:buFont typeface="+mj-ea"/>
                  <a:buAutoNum type="circleNumDbPlain" startAt="3"/>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椭圆曲线计算，计算椭圆曲线点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uG+vK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是无穷远点，则拒绝该签名</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643754"/>
              </a:xfrm>
              <a:prstGeom prst="rect">
                <a:avLst/>
              </a:prstGeom>
              <a:blipFill>
                <a:blip r:embed="rId3"/>
                <a:stretch>
                  <a:fillRect l="-594" b="-1839"/>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35159422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2321085"/>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4"/>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签名证实</a:t>
                </a: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转换域元素</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x1</a:t>
                </a: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14:m>
                  <m:oMath xmlns:m="http://schemas.openxmlformats.org/officeDocument/2006/math">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𝑣</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𝑥</m:t>
                        </m:r>
                      </m:e>
                      <m:sub>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ub>
                    </m:sSub>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𝑚𝑜𝑑</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𝑛</m:t>
                    </m:r>
                  </m:oMath>
                </a14:m>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715963">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r’=v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，则该签名是真实的；否则，则消息可能被篡改，或被不正确地签名，或该签名来自攻击者的伪造。该签名应该被认为是无效的</a:t>
                </a:r>
              </a:p>
              <a:p>
                <a:pPr marL="342900" indent="-342900">
                  <a:lnSpc>
                    <a:spcPct val="130000"/>
                  </a:lnSpc>
                  <a:spcBef>
                    <a:spcPts val="300"/>
                  </a:spcBef>
                  <a:spcAft>
                    <a:spcPts val="300"/>
                  </a:spcAft>
                  <a:buFont typeface="+mj-ea"/>
                  <a:buAutoNum type="circleNumDbPlain" startAt="3"/>
                </a:pP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2321085"/>
              </a:xfrm>
              <a:prstGeom prst="rect">
                <a:avLst/>
              </a:prstGeom>
              <a:blipFill>
                <a:blip r:embed="rId3"/>
                <a:stretch>
                  <a:fillRect l="-52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0493847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TextBox 18"/>
          <p:cNvSpPr txBox="1"/>
          <p:nvPr/>
        </p:nvSpPr>
        <p:spPr>
          <a:xfrm>
            <a:off x="611560" y="789039"/>
            <a:ext cx="8208912" cy="37299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椭圆曲线密钥交换协议（</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ECDH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通信双方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基于椭圆权限密码体制进行密钥交换的处理过程如下：</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）选择参数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，确定椭圆曲线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Ep(</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+ax+b(mod 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，并在曲线上选择一个基点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，要求满足</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n×G</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的最小的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值是一个足够大的素数。曲线</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和初始点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是为双方所共知的系统公开参数。</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选择一个比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小的整数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作为私钥，产生一个公钥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类似地选择一个私钥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并计算出他的公钥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都可以基于公开途径得到。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K=d</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×P</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，将其用于双方通信的秘密密钥，实际上容易得知它们是相同的。</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ECC</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37509994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3064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是国家密码管理局于</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2010</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月</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17</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日发布的椭圆曲线公钥密码算法，以椭圆曲线及其相关运算为基础。</a:t>
            </a: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算法适用于中国国家商用密码应用中的消息加解密，消息发送者利用接收者的公钥对消息进行加密，接收者用对应的私钥进行解密，获取消息。</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SM2</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6993751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575556" y="627534"/>
            <a:ext cx="8208912" cy="455785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加密算法流程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设需要发送的消息为比特串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klen</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的比特长度。</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为了对明文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进行加密，作为加密者的用户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应实现以下运算步骤：</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：用随机数发生器产生随机数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k∈[1,n-1]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：计算椭圆曲线点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kG</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的数据类型转换为比特串；</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：计算椭圆曲线点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hP</a:t>
            </a:r>
            <a:r>
              <a:rPr lang="en-US" altLang="zh-CN" sz="1600"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是无穷远点，则报错并退出；</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：计算椭圆曲线点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kP</a:t>
            </a:r>
            <a:r>
              <a:rPr lang="en-US" altLang="zh-CN" sz="1600"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，将坐标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的数据类型转换为比特串；</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t=KDF(x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klen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比特串，则返回 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步；</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Hash(x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 || 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A8</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：输出密文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 =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SM2</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26843736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4386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解密过程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klen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为密文中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的比特长度。</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为了对密文</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C</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进行解密，作为解密者的用户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应实现以下运算步骤：</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中取出比特串</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的数据类型转换为椭圆曲线上的点，验证</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是否满足椭圆曲线方程，若不满足则报错并退出；</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：计算椭圆曲线点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是无穷远点，则报错并退出；</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，将坐标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的数据类型转换为比特串；</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t=KDF(x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klen</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比特串，则报错并退出；</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中取出比特串</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 = Hash(x</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||M’||y</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中取出比特串</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 != C</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，则报错并退出；</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SM2</a:t>
            </a:r>
            <a:r>
              <a:rPr lang="zh-CN" altLang="en-US" sz="2000" b="1" dirty="0">
                <a:solidFill>
                  <a:schemeClr val="tx1">
                    <a:lumMod val="50000"/>
                    <a:lumOff val="50000"/>
                  </a:schemeClr>
                </a:solidFill>
                <a:latin typeface="微软雅黑" pitchFamily="34" charset="-122"/>
                <a:ea typeface="微软雅黑" pitchFamily="34" charset="-122"/>
              </a:rPr>
              <a:t>公钥密码算法</a:t>
            </a:r>
          </a:p>
        </p:txBody>
      </p:sp>
    </p:spTree>
    <p:extLst>
      <p:ext uri="{BB962C8B-B14F-4D97-AF65-F5344CB8AC3E}">
        <p14:creationId xmlns:p14="http://schemas.microsoft.com/office/powerpoint/2010/main" val="31642469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3235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优点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①网络中的每一个用户只需要保存自己的私有密钥，则</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个用户仅需产生</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对密钥，密钥少，便于管理；而且一个私钥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公钥对可以在一段相当长的时间内（甚至数年）保持不变</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②密钥分配简单，不需要秘密的通道和复杂的协议来传送密钥。公开密钥可基于公开的渠道（如密钥分发中心）分发给其他用户，而私有密钥则由用户自己保管</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③可以实现数字签名</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缺点</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与对称密码体制相比，非对称密码体制的加密、解密处理速度较慢，同等安全强度下非对称密码体制的密钥位数要求多一些</a:t>
            </a:r>
          </a:p>
        </p:txBody>
      </p:sp>
    </p:spTree>
    <p:extLst>
      <p:ext uri="{BB962C8B-B14F-4D97-AF65-F5344CB8AC3E}">
        <p14:creationId xmlns:p14="http://schemas.microsoft.com/office/powerpoint/2010/main" val="37829715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36297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第四部分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杂凑算法与消息认证</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04</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04</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0923608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6191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杂凑函数（或称</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HASH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函数、散列函数）</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是杂凑算法的基础，它是一种单向密码体制</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它是一个从明文到密文的不可逆映射，只有加密过程，不能解密</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杂凑函数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是一公开函数，用于将任意长度的消息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映射为较短的、固定长度的一个值</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，作为认证符，称函数值</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为杂凑值、杂凑码或消息摘要</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杂凑码是消息中所有比特的函数，因此提供了一种错误检测能力，即改变消息种任何一个比特或几个比特都会使杂凑码发生改变</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zh-CN" altLang="en-US"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数据完整性认证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E55D0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等领域有广泛的应用</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杂凑函数</a:t>
            </a:r>
          </a:p>
        </p:txBody>
      </p:sp>
    </p:spTree>
    <p:extLst>
      <p:ext uri="{BB962C8B-B14F-4D97-AF65-F5344CB8AC3E}">
        <p14:creationId xmlns:p14="http://schemas.microsoft.com/office/powerpoint/2010/main" val="268006143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8233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杂凑函数的目的是为需认证的数据产生一个“指纹”。为了能够实现对数据的认证，杂凑函数应满足以下条件：</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函数的输入可以是任意长。</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函数的输出是固定长。</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较为容易，可用硬件或软件实现。</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，求使得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H(x)=h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在计算上是不可行的，这一性质称为函数的单向性，称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为单向杂凑函数。</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已知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，找出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y≠x</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H(y)=H(x)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在计算上是不可行的。如果单向杂凑函数满足这一性质，则称其为弱单向杂凑函数。</a:t>
            </a:r>
          </a:p>
          <a:p>
            <a:pPr marL="342900" indent="-342900">
              <a:lnSpc>
                <a:spcPct val="11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找出任意两个不同的输入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H(y)=H(x)</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在计算上是不可行的。强单向杂凑函数。</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杂凑函数</a:t>
            </a:r>
          </a:p>
        </p:txBody>
      </p:sp>
    </p:spTree>
    <p:extLst>
      <p:ext uri="{BB962C8B-B14F-4D97-AF65-F5344CB8AC3E}">
        <p14:creationId xmlns:p14="http://schemas.microsoft.com/office/powerpoint/2010/main" val="63866533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4557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HASH</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Secure HASH </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Algorithm,SHA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）由美国国家标准技术研究所</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NIST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开发，作为联邦信息处理标准于</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年发表（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FIPS PUB 180</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年修订，作为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SHA-1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（即美国的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FIPS PUB 180-1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标准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SHA-1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算法逻辑</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输入：</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最大长度为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比特的消息（规定消息长度用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比特二进制数描述）</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比特消息摘要</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处理：</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输入以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比特数据块为处理单位</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13018127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4850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SHA1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哈希算法流程</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对于任意长度的明文，</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首先对其进行分组，使得每一组的长度为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位，然后对这些明文分组反复重复处理。</a:t>
            </a:r>
          </a:p>
          <a:p>
            <a:pPr>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对于每个明文分组的摘要生成过程如下：</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位的明文分组划分为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个子明文分组，每个子明文分组为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申请</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位的链接变量，记为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份子明文分组扩展为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份子明文分组进行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链接变量与初始链接变量进行求和运算。</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链接变量作为下一个明文分组的输入重复进行以上操作。</a:t>
            </a:r>
          </a:p>
          <a:p>
            <a:pPr>
              <a:lnSpc>
                <a:spcPct val="11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最后，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个链接变量里面的数据就是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摘要。</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232316198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8192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在进行散列值计算之前，先要对需要加密的数据进行预处理。这一预处理由三部分组成：消息填充、分割已填充消息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将填充后的消息等分成</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位处理块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、为散列值计算设置初始化值。</a:t>
            </a:r>
          </a:p>
          <a:p>
            <a:pPr>
              <a:lnSpc>
                <a:spcPct val="130000"/>
              </a:lnSpc>
              <a:spcBef>
                <a:spcPts val="300"/>
              </a:spcBef>
              <a:spcAft>
                <a:spcPts val="300"/>
              </a:spcAft>
            </a:pP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）消息填充</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假设原始消息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的长度是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位。首先，在消息最后加一位“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，接着在这位“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后面补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L+1+k(</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即补位后的消息长度</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满足对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取模后余数是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448</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。然后，添加最后的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位二进制数据，这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位二进制数据就是原始</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位消息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长度的二进制表示。</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graphicFrame>
        <p:nvGraphicFramePr>
          <p:cNvPr id="5" name="表格 5">
            <a:extLst>
              <a:ext uri="{FF2B5EF4-FFF2-40B4-BE49-F238E27FC236}">
                <a16:creationId xmlns:a16="http://schemas.microsoft.com/office/drawing/2014/main" id="{652CFCA3-743A-7EAA-0F65-CBE410BDFFEE}"/>
              </a:ext>
            </a:extLst>
          </p:cNvPr>
          <p:cNvGraphicFramePr>
            <a:graphicFrameLocks noGrp="1"/>
          </p:cNvGraphicFramePr>
          <p:nvPr>
            <p:extLst>
              <p:ext uri="{D42A27DB-BD31-4B8C-83A1-F6EECF244321}">
                <p14:modId xmlns:p14="http://schemas.microsoft.com/office/powerpoint/2010/main" val="640855585"/>
              </p:ext>
            </p:extLst>
          </p:nvPr>
        </p:nvGraphicFramePr>
        <p:xfrm>
          <a:off x="1835696" y="3647357"/>
          <a:ext cx="4884787" cy="1112084"/>
        </p:xfrm>
        <a:graphic>
          <a:graphicData uri="http://schemas.openxmlformats.org/drawingml/2006/table">
            <a:tbl>
              <a:tblPr firstRow="1" bandRow="1">
                <a:tableStyleId>{22838BEF-8BB2-4498-84A7-C5851F593DF1}</a:tableStyleId>
              </a:tblPr>
              <a:tblGrid>
                <a:gridCol w="1221197">
                  <a:extLst>
                    <a:ext uri="{9D8B030D-6E8A-4147-A177-3AD203B41FA5}">
                      <a16:colId xmlns:a16="http://schemas.microsoft.com/office/drawing/2014/main" val="635507912"/>
                    </a:ext>
                  </a:extLst>
                </a:gridCol>
                <a:gridCol w="1221197">
                  <a:extLst>
                    <a:ext uri="{9D8B030D-6E8A-4147-A177-3AD203B41FA5}">
                      <a16:colId xmlns:a16="http://schemas.microsoft.com/office/drawing/2014/main" val="3764119169"/>
                    </a:ext>
                  </a:extLst>
                </a:gridCol>
                <a:gridCol w="1221197">
                  <a:extLst>
                    <a:ext uri="{9D8B030D-6E8A-4147-A177-3AD203B41FA5}">
                      <a16:colId xmlns:a16="http://schemas.microsoft.com/office/drawing/2014/main" val="3311401817"/>
                    </a:ext>
                  </a:extLst>
                </a:gridCol>
                <a:gridCol w="610598">
                  <a:extLst>
                    <a:ext uri="{9D8B030D-6E8A-4147-A177-3AD203B41FA5}">
                      <a16:colId xmlns:a16="http://schemas.microsoft.com/office/drawing/2014/main" val="1648850562"/>
                    </a:ext>
                  </a:extLst>
                </a:gridCol>
                <a:gridCol w="610598">
                  <a:extLst>
                    <a:ext uri="{9D8B030D-6E8A-4147-A177-3AD203B41FA5}">
                      <a16:colId xmlns:a16="http://schemas.microsoft.com/office/drawing/2014/main" val="86153006"/>
                    </a:ext>
                  </a:extLst>
                </a:gridCol>
              </a:tblGrid>
              <a:tr h="556042">
                <a:tc>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第一组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第二组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gridSpan="2">
                  <a:txBody>
                    <a:bodyP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最后一组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hMerge="1">
                  <a:txBody>
                    <a:bodyPr/>
                    <a:lstStyle/>
                    <a:p>
                      <a:endParaRPr lang="zh-CN" altLang="en-US"/>
                    </a:p>
                  </a:txBody>
                  <a:tcPr/>
                </a:tc>
                <a:extLst>
                  <a:ext uri="{0D108BD9-81ED-4DB2-BD59-A6C34878D82A}">
                    <a16:rowId xmlns:a16="http://schemas.microsoft.com/office/drawing/2014/main" val="818432519"/>
                  </a:ext>
                </a:extLst>
              </a:tr>
              <a:tr h="556042">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512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512</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448</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altLang="zh-CN" b="1" dirty="0">
                          <a:latin typeface="Times New Roman" panose="02020603050405020304" pitchFamily="18" charset="0"/>
                          <a:ea typeface="华文楷体" panose="02010600040101010101" pitchFamily="2" charset="-122"/>
                          <a:cs typeface="Times New Roman" panose="02020603050405020304" pitchFamily="18" charset="0"/>
                        </a:rPr>
                        <a:t>64</a:t>
                      </a:r>
                      <a:endParaRPr lang="zh-CN" altLang="en-US" b="1" dirty="0">
                        <a:latin typeface="Times New Roman" panose="02020603050405020304" pitchFamily="18" charset="0"/>
                        <a:ea typeface="华文楷体" panose="02010600040101010101" pitchFamily="2"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20653584"/>
                  </a:ext>
                </a:extLst>
              </a:tr>
            </a:tbl>
          </a:graphicData>
        </a:graphic>
      </p:graphicFrame>
    </p:spTree>
    <p:extLst>
      <p:ext uri="{BB962C8B-B14F-4D97-AF65-F5344CB8AC3E}">
        <p14:creationId xmlns:p14="http://schemas.microsoft.com/office/powerpoint/2010/main" val="42415362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情况一：</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当明文很短，甚至不足一个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位，采取补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再补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的方式进行补齐</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pic>
        <p:nvPicPr>
          <p:cNvPr id="4" name="图片 3">
            <a:extLst>
              <a:ext uri="{FF2B5EF4-FFF2-40B4-BE49-F238E27FC236}">
                <a16:creationId xmlns:a16="http://schemas.microsoft.com/office/drawing/2014/main" id="{506F46A3-9850-0268-746A-A7C00D407686}"/>
              </a:ext>
            </a:extLst>
          </p:cNvPr>
          <p:cNvPicPr>
            <a:picLocks noChangeAspect="1"/>
          </p:cNvPicPr>
          <p:nvPr/>
        </p:nvPicPr>
        <p:blipFill rotWithShape="1">
          <a:blip r:embed="rId3">
            <a:extLst>
              <a:ext uri="{28A0092B-C50C-407E-A947-70E740481C1C}">
                <a14:useLocalDpi xmlns:a14="http://schemas.microsoft.com/office/drawing/2010/main" val="0"/>
              </a:ext>
            </a:extLst>
          </a:blip>
          <a:srcRect b="20087"/>
          <a:stretch/>
        </p:blipFill>
        <p:spPr>
          <a:xfrm>
            <a:off x="1331640" y="1227735"/>
            <a:ext cx="5414566" cy="1344015"/>
          </a:xfrm>
          <a:prstGeom prst="rect">
            <a:avLst/>
          </a:prstGeom>
        </p:spPr>
      </p:pic>
      <p:sp>
        <p:nvSpPr>
          <p:cNvPr id="5" name="TextBox 18">
            <a:extLst>
              <a:ext uri="{FF2B5EF4-FFF2-40B4-BE49-F238E27FC236}">
                <a16:creationId xmlns:a16="http://schemas.microsoft.com/office/drawing/2014/main" id="{5B36E2BB-1E4B-2B44-D233-E821C45B0AB8}"/>
              </a:ext>
            </a:extLst>
          </p:cNvPr>
          <p:cNvSpPr txBox="1"/>
          <p:nvPr/>
        </p:nvSpPr>
        <p:spPr>
          <a:xfrm>
            <a:off x="611560" y="2859782"/>
            <a:ext cx="8208912" cy="387478"/>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情况二：</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当明文刚好够一组，补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就行，不必再补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p>
        </p:txBody>
      </p:sp>
      <p:pic>
        <p:nvPicPr>
          <p:cNvPr id="7" name="图片 6">
            <a:extLst>
              <a:ext uri="{FF2B5EF4-FFF2-40B4-BE49-F238E27FC236}">
                <a16:creationId xmlns:a16="http://schemas.microsoft.com/office/drawing/2014/main" id="{B33AC023-07DE-7EBC-1521-BF3ECE8AFE62}"/>
              </a:ext>
            </a:extLst>
          </p:cNvPr>
          <p:cNvPicPr>
            <a:picLocks noChangeAspect="1"/>
          </p:cNvPicPr>
          <p:nvPr/>
        </p:nvPicPr>
        <p:blipFill rotWithShape="1">
          <a:blip r:embed="rId4">
            <a:extLst>
              <a:ext uri="{28A0092B-C50C-407E-A947-70E740481C1C}">
                <a14:useLocalDpi xmlns:a14="http://schemas.microsoft.com/office/drawing/2010/main" val="0"/>
              </a:ext>
            </a:extLst>
          </a:blip>
          <a:srcRect b="20615"/>
          <a:stretch/>
        </p:blipFill>
        <p:spPr>
          <a:xfrm>
            <a:off x="1331640" y="3507854"/>
            <a:ext cx="5365030" cy="1340714"/>
          </a:xfrm>
          <a:prstGeom prst="rect">
            <a:avLst/>
          </a:prstGeom>
        </p:spPr>
      </p:pic>
    </p:spTree>
    <p:extLst>
      <p:ext uri="{BB962C8B-B14F-4D97-AF65-F5344CB8AC3E}">
        <p14:creationId xmlns:p14="http://schemas.microsoft.com/office/powerpoint/2010/main" val="345515225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情况三：</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当明文不止一组，后方补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，剩下的通过补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以保证是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位的倍数</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pic>
        <p:nvPicPr>
          <p:cNvPr id="6" name="图片 5">
            <a:extLst>
              <a:ext uri="{FF2B5EF4-FFF2-40B4-BE49-F238E27FC236}">
                <a16:creationId xmlns:a16="http://schemas.microsoft.com/office/drawing/2014/main" id="{FA659E81-476C-3567-9BA8-57D5768BEC08}"/>
              </a:ext>
            </a:extLst>
          </p:cNvPr>
          <p:cNvPicPr>
            <a:picLocks noChangeAspect="1"/>
          </p:cNvPicPr>
          <p:nvPr/>
        </p:nvPicPr>
        <p:blipFill rotWithShape="1">
          <a:blip r:embed="rId3">
            <a:extLst>
              <a:ext uri="{28A0092B-C50C-407E-A947-70E740481C1C}">
                <a14:useLocalDpi xmlns:a14="http://schemas.microsoft.com/office/drawing/2010/main" val="0"/>
              </a:ext>
            </a:extLst>
          </a:blip>
          <a:srcRect b="9587"/>
          <a:stretch/>
        </p:blipFill>
        <p:spPr>
          <a:xfrm>
            <a:off x="1475656" y="1347614"/>
            <a:ext cx="5345451" cy="2716171"/>
          </a:xfrm>
          <a:prstGeom prst="rect">
            <a:avLst/>
          </a:prstGeom>
        </p:spPr>
      </p:pic>
    </p:spTree>
    <p:extLst>
      <p:ext uri="{BB962C8B-B14F-4D97-AF65-F5344CB8AC3E}">
        <p14:creationId xmlns:p14="http://schemas.microsoft.com/office/powerpoint/2010/main" val="281256351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424685"/>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b="1"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）分割已填充消息</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经过消息填充后，还必须将数据划分成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位一组的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块的数据块来提供给下面的散列值计算过程。对于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加密算法，填充过的消息被分割成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N(M(1),M(2),...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块，每块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位。然后每组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位的输入块可以表示成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位的字，分别记为：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49089277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9844"/>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）设置初始散列值</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(H(0))</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在安全散列算法开始其核心的散列迭代计算之前，还必须设置好正确的初始散列值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的数量和字长取决于消息摘要的选择。对于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加密算法，初始散列值由下面</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位的字组成，其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进制表示如下：</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(0)=0x67452301</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(0)=0xEFCDAB89</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(0)=0x98BADCFE</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(0)=0x10325476</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(0)=0xC3D2E1F0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30171265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3591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份子明文分组扩展为</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份子明文分组扩充到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份子明文分组，我们记为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 0, 1,……79</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），扩充的方法如下。</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M</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0≤t≤15</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 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t-3</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t-8</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t-14</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t-16</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 &lt;&lt;&lt; 1,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16≤t≤79</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pic>
        <p:nvPicPr>
          <p:cNvPr id="4" name="图片 3">
            <a:extLst>
              <a:ext uri="{FF2B5EF4-FFF2-40B4-BE49-F238E27FC236}">
                <a16:creationId xmlns:a16="http://schemas.microsoft.com/office/drawing/2014/main" id="{5AE3C880-A85C-F657-C6B9-99F02BED56B6}"/>
              </a:ext>
            </a:extLst>
          </p:cNvPr>
          <p:cNvPicPr>
            <a:picLocks noChangeAspect="1"/>
          </p:cNvPicPr>
          <p:nvPr/>
        </p:nvPicPr>
        <p:blipFill rotWithShape="1">
          <a:blip r:embed="rId3">
            <a:extLst>
              <a:ext uri="{28A0092B-C50C-407E-A947-70E740481C1C}">
                <a14:useLocalDpi xmlns:a14="http://schemas.microsoft.com/office/drawing/2010/main" val="0"/>
              </a:ext>
            </a:extLst>
          </a:blip>
          <a:srcRect l="1558" t="2401" r="36957" b="57000"/>
          <a:stretch/>
        </p:blipFill>
        <p:spPr>
          <a:xfrm>
            <a:off x="1547664" y="2859782"/>
            <a:ext cx="4752529" cy="2088232"/>
          </a:xfrm>
          <a:prstGeom prst="rect">
            <a:avLst/>
          </a:prstGeom>
        </p:spPr>
      </p:pic>
    </p:spTree>
    <p:extLst>
      <p:ext uri="{BB962C8B-B14F-4D97-AF65-F5344CB8AC3E}">
        <p14:creationId xmlns:p14="http://schemas.microsoft.com/office/powerpoint/2010/main" val="15656546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471921"/>
            <a:ext cx="8208912" cy="476412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有</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轮运算，每一轮包括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个步骤，一共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步，当第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轮运算中的第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步骤开始处理时，</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五个链接变量中的值先赋值到另外</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个记录单元</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个值将保留，用于在第</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轮的最后一个步骤完成之后与链接变量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进行求和操作。</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轮运算，共</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80</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个步骤使用同一个操作程序，如下：</a:t>
            </a:r>
          </a:p>
          <a:p>
            <a:pPr algn="ctr">
              <a:lnSpc>
                <a:spcPct val="130000"/>
              </a:lnSpc>
              <a:spcBef>
                <a:spcPts val="300"/>
              </a:spcBef>
              <a:spcAft>
                <a:spcPts val="300"/>
              </a:spcAft>
            </a:pP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A,B,C,D,E←[(A&lt;&lt;&lt;5)+ f</a:t>
            </a:r>
            <a:r>
              <a:rPr lang="en-US" altLang="zh-CN" sz="16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(B,C,D)+E+W</a:t>
            </a:r>
            <a:r>
              <a:rPr lang="en-US" altLang="zh-CN" sz="16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],A,(B&lt;&lt;&lt;30),C,D</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(B,C,D)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为逻辑函数，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为子明文分组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为固定常数。这个操作程序的意义为：</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[(A&lt;&lt;&lt;5)+ ft(B,C,D)+E+W</a:t>
            </a:r>
            <a:r>
              <a:rPr lang="en-US" altLang="zh-CN" sz="14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4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的结果赋值给链接变量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初始值赋值给链接变量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初始值循环左移</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初始值赋值给链接变量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Wingdings" panose="05000000000000000000" pitchFamily="2" charset="2"/>
              <a:buChar char="ü"/>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初始值赋值给链接变量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spTree>
    <p:extLst>
      <p:ext uri="{BB962C8B-B14F-4D97-AF65-F5344CB8AC3E}">
        <p14:creationId xmlns:p14="http://schemas.microsoft.com/office/powerpoint/2010/main" val="4116595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03579"/>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的逻辑函数</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SHA1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的常数</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取值表</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SHA-1</a:t>
            </a:r>
            <a:r>
              <a:rPr lang="zh-CN" altLang="en-US" sz="2000" b="1" dirty="0">
                <a:solidFill>
                  <a:schemeClr val="tx1">
                    <a:lumMod val="50000"/>
                    <a:lumOff val="50000"/>
                  </a:schemeClr>
                </a:solidFill>
                <a:latin typeface="微软雅黑" pitchFamily="34" charset="-122"/>
                <a:ea typeface="微软雅黑" pitchFamily="34" charset="-122"/>
              </a:rPr>
              <a:t>算法</a:t>
            </a:r>
          </a:p>
        </p:txBody>
      </p:sp>
      <p:graphicFrame>
        <p:nvGraphicFramePr>
          <p:cNvPr id="2" name="表格 1">
            <a:extLst>
              <a:ext uri="{FF2B5EF4-FFF2-40B4-BE49-F238E27FC236}">
                <a16:creationId xmlns:a16="http://schemas.microsoft.com/office/drawing/2014/main" id="{E10480A3-D778-4146-B10A-51C915FEA10A}"/>
              </a:ext>
            </a:extLst>
          </p:cNvPr>
          <p:cNvGraphicFramePr>
            <a:graphicFrameLocks noGrp="1"/>
          </p:cNvGraphicFramePr>
          <p:nvPr>
            <p:extLst>
              <p:ext uri="{D42A27DB-BD31-4B8C-83A1-F6EECF244321}">
                <p14:modId xmlns:p14="http://schemas.microsoft.com/office/powerpoint/2010/main" val="3018623252"/>
              </p:ext>
            </p:extLst>
          </p:nvPr>
        </p:nvGraphicFramePr>
        <p:xfrm>
          <a:off x="685840" y="1275606"/>
          <a:ext cx="7702584" cy="1728192"/>
        </p:xfrm>
        <a:graphic>
          <a:graphicData uri="http://schemas.openxmlformats.org/drawingml/2006/table">
            <a:tbl>
              <a:tblPr>
                <a:tableStyleId>{0505E3EF-67EA-436B-97B2-0124C06EBD24}</a:tableStyleId>
              </a:tblPr>
              <a:tblGrid>
                <a:gridCol w="378577">
                  <a:extLst>
                    <a:ext uri="{9D8B030D-6E8A-4147-A177-3AD203B41FA5}">
                      <a16:colId xmlns:a16="http://schemas.microsoft.com/office/drawing/2014/main" val="685815655"/>
                    </a:ext>
                  </a:extLst>
                </a:gridCol>
                <a:gridCol w="1150291">
                  <a:extLst>
                    <a:ext uri="{9D8B030D-6E8A-4147-A177-3AD203B41FA5}">
                      <a16:colId xmlns:a16="http://schemas.microsoft.com/office/drawing/2014/main" val="2509502046"/>
                    </a:ext>
                  </a:extLst>
                </a:gridCol>
                <a:gridCol w="2329704">
                  <a:extLst>
                    <a:ext uri="{9D8B030D-6E8A-4147-A177-3AD203B41FA5}">
                      <a16:colId xmlns:a16="http://schemas.microsoft.com/office/drawing/2014/main" val="4150384558"/>
                    </a:ext>
                  </a:extLst>
                </a:gridCol>
                <a:gridCol w="393138">
                  <a:extLst>
                    <a:ext uri="{9D8B030D-6E8A-4147-A177-3AD203B41FA5}">
                      <a16:colId xmlns:a16="http://schemas.microsoft.com/office/drawing/2014/main" val="1257327218"/>
                    </a:ext>
                  </a:extLst>
                </a:gridCol>
                <a:gridCol w="1135731">
                  <a:extLst>
                    <a:ext uri="{9D8B030D-6E8A-4147-A177-3AD203B41FA5}">
                      <a16:colId xmlns:a16="http://schemas.microsoft.com/office/drawing/2014/main" val="793895219"/>
                    </a:ext>
                  </a:extLst>
                </a:gridCol>
                <a:gridCol w="2315143">
                  <a:extLst>
                    <a:ext uri="{9D8B030D-6E8A-4147-A177-3AD203B41FA5}">
                      <a16:colId xmlns:a16="http://schemas.microsoft.com/office/drawing/2014/main" val="1423107389"/>
                    </a:ext>
                  </a:extLst>
                </a:gridCol>
              </a:tblGrid>
              <a:tr h="288032">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轮</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步骤</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函数定义</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轮</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步骤</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函数定义</a:t>
                      </a:r>
                    </a:p>
                  </a:txBody>
                  <a:tcPr marL="0" marR="0" marT="0" marB="0" anchor="ctr"/>
                </a:tc>
                <a:extLst>
                  <a:ext uri="{0D108BD9-81ED-4DB2-BD59-A6C34878D82A}">
                    <a16:rowId xmlns:a16="http://schemas.microsoft.com/office/drawing/2014/main" val="570227719"/>
                  </a:ext>
                </a:extLst>
              </a:tr>
              <a:tr h="864096">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1</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0≤t≤19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f</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(B,C,D)=(B·C)V(~B·D)</a:t>
                      </a:r>
                    </a:p>
                  </a:txBody>
                  <a:tcPr marL="0" marR="0" marT="0" marB="0" anchor="ctr"/>
                </a:tc>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3</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40≤t≤59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f</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(B,C,D)=(B·C)V(B·D)V(C·D)</a:t>
                      </a:r>
                    </a:p>
                  </a:txBody>
                  <a:tcPr marL="0" marR="0" marT="0" marB="0" anchor="ctr"/>
                </a:tc>
                <a:extLst>
                  <a:ext uri="{0D108BD9-81ED-4DB2-BD59-A6C34878D82A}">
                    <a16:rowId xmlns:a16="http://schemas.microsoft.com/office/drawing/2014/main" val="2365400742"/>
                  </a:ext>
                </a:extLst>
              </a:tr>
              <a:tr h="576064">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2</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20≤t≤39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f</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(B,C,D)=B⊕C⊕D</a:t>
                      </a:r>
                    </a:p>
                  </a:txBody>
                  <a:tcPr marL="0" marR="0" marT="0" marB="0" anchor="ctr"/>
                </a:tc>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4</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60≤t≤79</a:t>
                      </a:r>
                    </a:p>
                  </a:txBody>
                  <a:tcPr marL="0" marR="0" marT="0" marB="0" anchor="ctr"/>
                </a:tc>
                <a:tc>
                  <a:txBody>
                    <a:bodyPr/>
                    <a:lstStyle/>
                    <a:p>
                      <a:pPr algn="ctr"/>
                      <a:r>
                        <a:rPr lang="en-US" sz="1600" dirty="0">
                          <a:latin typeface="Times New Roman" panose="02020603050405020304" pitchFamily="18" charset="0"/>
                          <a:ea typeface="华文楷体" panose="02010600040101010101" pitchFamily="2" charset="-122"/>
                          <a:cs typeface="Times New Roman" panose="02020603050405020304" pitchFamily="18" charset="0"/>
                        </a:rPr>
                        <a:t>f</a:t>
                      </a:r>
                      <a:r>
                        <a:rPr lang="en-US" sz="1600" baseline="-25000" dirty="0">
                          <a:latin typeface="Times New Roman" panose="02020603050405020304" pitchFamily="18" charset="0"/>
                          <a:ea typeface="华文楷体" panose="02010600040101010101" pitchFamily="2" charset="-122"/>
                          <a:cs typeface="Times New Roman" panose="02020603050405020304" pitchFamily="18" charset="0"/>
                        </a:rPr>
                        <a:t>t</a:t>
                      </a:r>
                      <a:r>
                        <a:rPr lang="en-US" sz="1600" dirty="0">
                          <a:latin typeface="Times New Roman" panose="02020603050405020304" pitchFamily="18" charset="0"/>
                          <a:ea typeface="华文楷体" panose="02010600040101010101" pitchFamily="2" charset="-122"/>
                          <a:cs typeface="Times New Roman" panose="02020603050405020304" pitchFamily="18" charset="0"/>
                        </a:rPr>
                        <a:t>(B,C,D)=B⊕C⊕D</a:t>
                      </a:r>
                    </a:p>
                  </a:txBody>
                  <a:tcPr marL="0" marR="0" marT="0" marB="0" anchor="ctr"/>
                </a:tc>
                <a:extLst>
                  <a:ext uri="{0D108BD9-81ED-4DB2-BD59-A6C34878D82A}">
                    <a16:rowId xmlns:a16="http://schemas.microsoft.com/office/drawing/2014/main" val="450753129"/>
                  </a:ext>
                </a:extLst>
              </a:tr>
            </a:tbl>
          </a:graphicData>
        </a:graphic>
      </p:graphicFrame>
      <p:graphicFrame>
        <p:nvGraphicFramePr>
          <p:cNvPr id="4" name="表格 3">
            <a:extLst>
              <a:ext uri="{FF2B5EF4-FFF2-40B4-BE49-F238E27FC236}">
                <a16:creationId xmlns:a16="http://schemas.microsoft.com/office/drawing/2014/main" id="{CB452199-5CD8-4B18-8C92-2123E20DBC10}"/>
              </a:ext>
            </a:extLst>
          </p:cNvPr>
          <p:cNvGraphicFramePr>
            <a:graphicFrameLocks noGrp="1"/>
          </p:cNvGraphicFramePr>
          <p:nvPr>
            <p:extLst>
              <p:ext uri="{D42A27DB-BD31-4B8C-83A1-F6EECF244321}">
                <p14:modId xmlns:p14="http://schemas.microsoft.com/office/powerpoint/2010/main" val="971039371"/>
              </p:ext>
            </p:extLst>
          </p:nvPr>
        </p:nvGraphicFramePr>
        <p:xfrm>
          <a:off x="680668" y="3800822"/>
          <a:ext cx="7707758" cy="1219200"/>
        </p:xfrm>
        <a:graphic>
          <a:graphicData uri="http://schemas.openxmlformats.org/drawingml/2006/table">
            <a:tbl>
              <a:tblPr>
                <a:tableStyleId>{0505E3EF-67EA-436B-97B2-0124C06EBD24}</a:tableStyleId>
              </a:tblPr>
              <a:tblGrid>
                <a:gridCol w="379549">
                  <a:extLst>
                    <a:ext uri="{9D8B030D-6E8A-4147-A177-3AD203B41FA5}">
                      <a16:colId xmlns:a16="http://schemas.microsoft.com/office/drawing/2014/main" val="2438518866"/>
                    </a:ext>
                  </a:extLst>
                </a:gridCol>
                <a:gridCol w="1167842">
                  <a:extLst>
                    <a:ext uri="{9D8B030D-6E8A-4147-A177-3AD203B41FA5}">
                      <a16:colId xmlns:a16="http://schemas.microsoft.com/office/drawing/2014/main" val="3260473493"/>
                    </a:ext>
                  </a:extLst>
                </a:gridCol>
                <a:gridCol w="2321086">
                  <a:extLst>
                    <a:ext uri="{9D8B030D-6E8A-4147-A177-3AD203B41FA5}">
                      <a16:colId xmlns:a16="http://schemas.microsoft.com/office/drawing/2014/main" val="942902909"/>
                    </a:ext>
                  </a:extLst>
                </a:gridCol>
                <a:gridCol w="394147">
                  <a:extLst>
                    <a:ext uri="{9D8B030D-6E8A-4147-A177-3AD203B41FA5}">
                      <a16:colId xmlns:a16="http://schemas.microsoft.com/office/drawing/2014/main" val="2554913169"/>
                    </a:ext>
                  </a:extLst>
                </a:gridCol>
                <a:gridCol w="1138646">
                  <a:extLst>
                    <a:ext uri="{9D8B030D-6E8A-4147-A177-3AD203B41FA5}">
                      <a16:colId xmlns:a16="http://schemas.microsoft.com/office/drawing/2014/main" val="832430359"/>
                    </a:ext>
                  </a:extLst>
                </a:gridCol>
                <a:gridCol w="2306488">
                  <a:extLst>
                    <a:ext uri="{9D8B030D-6E8A-4147-A177-3AD203B41FA5}">
                      <a16:colId xmlns:a16="http://schemas.microsoft.com/office/drawing/2014/main" val="167388904"/>
                    </a:ext>
                  </a:extLst>
                </a:gridCol>
              </a:tblGrid>
              <a:tr h="406400">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轮</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步骤</a:t>
                      </a:r>
                    </a:p>
                  </a:txBody>
                  <a:tcPr marL="0" marR="0" marT="0" marB="0" anchor="ctr"/>
                </a:tc>
                <a:tc>
                  <a:txBody>
                    <a:bodyPr/>
                    <a:lstStyle/>
                    <a:p>
                      <a:pPr algn="ct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函数定义</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轮</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步骤</a:t>
                      </a:r>
                    </a:p>
                  </a:txBody>
                  <a:tcPr marL="0" marR="0" marT="0" marB="0" anchor="ctr"/>
                </a:tc>
                <a:tc>
                  <a:txBody>
                    <a:bodyPr/>
                    <a:lstStyle/>
                    <a:p>
                      <a:pPr algn="ctr"/>
                      <a:r>
                        <a:rPr lang="zh-CN" altLang="en-US" sz="1600">
                          <a:latin typeface="Times New Roman" panose="02020603050405020304" pitchFamily="18" charset="0"/>
                          <a:ea typeface="华文楷体" panose="02010600040101010101" pitchFamily="2" charset="-122"/>
                          <a:cs typeface="Times New Roman" panose="02020603050405020304" pitchFamily="18" charset="0"/>
                        </a:rPr>
                        <a:t>函数定义</a:t>
                      </a:r>
                    </a:p>
                  </a:txBody>
                  <a:tcPr marL="0" marR="0" marT="0" marB="0" anchor="ctr"/>
                </a:tc>
                <a:extLst>
                  <a:ext uri="{0D108BD9-81ED-4DB2-BD59-A6C34878D82A}">
                    <a16:rowId xmlns:a16="http://schemas.microsoft.com/office/drawing/2014/main" val="533394748"/>
                  </a:ext>
                </a:extLst>
              </a:tr>
              <a:tr h="406400">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1</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0≤t≤19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K</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=5A827999</a:t>
                      </a:r>
                    </a:p>
                  </a:txBody>
                  <a:tcPr marL="0" marR="0" marT="0" marB="0" anchor="ctr"/>
                </a:tc>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3</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40≤t≤59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K</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=8F188CDC</a:t>
                      </a:r>
                    </a:p>
                  </a:txBody>
                  <a:tcPr marL="0" marR="0" marT="0" marB="0" anchor="ctr"/>
                </a:tc>
                <a:extLst>
                  <a:ext uri="{0D108BD9-81ED-4DB2-BD59-A6C34878D82A}">
                    <a16:rowId xmlns:a16="http://schemas.microsoft.com/office/drawing/2014/main" val="1564906436"/>
                  </a:ext>
                </a:extLst>
              </a:tr>
              <a:tr h="406400">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2</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20≤t≤39</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K</a:t>
                      </a:r>
                      <a:r>
                        <a:rPr lang="en-US" sz="1600" baseline="-25000">
                          <a:latin typeface="Times New Roman" panose="02020603050405020304" pitchFamily="18" charset="0"/>
                          <a:ea typeface="华文楷体" panose="02010600040101010101" pitchFamily="2" charset="-122"/>
                          <a:cs typeface="Times New Roman" panose="02020603050405020304" pitchFamily="18" charset="0"/>
                        </a:rPr>
                        <a:t>t</a:t>
                      </a:r>
                      <a:r>
                        <a:rPr lang="en-US" sz="1600">
                          <a:latin typeface="Times New Roman" panose="02020603050405020304" pitchFamily="18" charset="0"/>
                          <a:ea typeface="华文楷体" panose="02010600040101010101" pitchFamily="2" charset="-122"/>
                          <a:cs typeface="Times New Roman" panose="02020603050405020304" pitchFamily="18" charset="0"/>
                        </a:rPr>
                        <a:t>=6ED9EBA1</a:t>
                      </a:r>
                    </a:p>
                  </a:txBody>
                  <a:tcPr marL="0" marR="0" marT="0" marB="0" anchor="ctr"/>
                </a:tc>
                <a:tc>
                  <a:txBody>
                    <a:bodyPr/>
                    <a:lstStyle/>
                    <a:p>
                      <a:pPr algn="ctr"/>
                      <a:r>
                        <a:rPr lang="en-US" altLang="zh-CN" sz="1600">
                          <a:latin typeface="Times New Roman" panose="02020603050405020304" pitchFamily="18" charset="0"/>
                          <a:ea typeface="华文楷体" panose="02010600040101010101" pitchFamily="2" charset="-122"/>
                          <a:cs typeface="Times New Roman" panose="02020603050405020304" pitchFamily="18" charset="0"/>
                        </a:rPr>
                        <a:t>4</a:t>
                      </a:r>
                    </a:p>
                  </a:txBody>
                  <a:tcPr marL="0" marR="0" marT="0" marB="0" anchor="ctr"/>
                </a:tc>
                <a:tc>
                  <a:txBody>
                    <a:bodyPr/>
                    <a:lstStyle/>
                    <a:p>
                      <a:pPr algn="ctr"/>
                      <a:r>
                        <a:rPr lang="en-US" sz="1600">
                          <a:latin typeface="Times New Roman" panose="02020603050405020304" pitchFamily="18" charset="0"/>
                          <a:ea typeface="华文楷体" panose="02010600040101010101" pitchFamily="2" charset="-122"/>
                          <a:cs typeface="Times New Roman" panose="02020603050405020304" pitchFamily="18" charset="0"/>
                        </a:rPr>
                        <a:t>60≤t≤79</a:t>
                      </a:r>
                    </a:p>
                  </a:txBody>
                  <a:tcPr marL="0" marR="0" marT="0" marB="0" anchor="ctr"/>
                </a:tc>
                <a:tc>
                  <a:txBody>
                    <a:bodyPr/>
                    <a:lstStyle/>
                    <a:p>
                      <a:pPr algn="ctr"/>
                      <a:r>
                        <a:rPr lang="en-US" sz="1600" dirty="0">
                          <a:latin typeface="Times New Roman" panose="02020603050405020304" pitchFamily="18" charset="0"/>
                          <a:ea typeface="华文楷体" panose="02010600040101010101" pitchFamily="2" charset="-122"/>
                          <a:cs typeface="Times New Roman" panose="02020603050405020304" pitchFamily="18" charset="0"/>
                        </a:rPr>
                        <a:t>K</a:t>
                      </a:r>
                      <a:r>
                        <a:rPr lang="en-US" sz="1600" baseline="-25000" dirty="0">
                          <a:latin typeface="Times New Roman" panose="02020603050405020304" pitchFamily="18" charset="0"/>
                          <a:ea typeface="华文楷体" panose="02010600040101010101" pitchFamily="2" charset="-122"/>
                          <a:cs typeface="Times New Roman" panose="02020603050405020304" pitchFamily="18" charset="0"/>
                        </a:rPr>
                        <a:t>t</a:t>
                      </a:r>
                      <a:r>
                        <a:rPr lang="en-US" sz="1600" dirty="0">
                          <a:latin typeface="Times New Roman" panose="02020603050405020304" pitchFamily="18" charset="0"/>
                          <a:ea typeface="华文楷体" panose="02010600040101010101" pitchFamily="2" charset="-122"/>
                          <a:cs typeface="Times New Roman" panose="02020603050405020304" pitchFamily="18" charset="0"/>
                        </a:rPr>
                        <a:t>=CA62C1D6</a:t>
                      </a:r>
                    </a:p>
                  </a:txBody>
                  <a:tcPr marL="0" marR="0" marT="0" marB="0" anchor="ctr"/>
                </a:tc>
                <a:extLst>
                  <a:ext uri="{0D108BD9-81ED-4DB2-BD59-A6C34878D82A}">
                    <a16:rowId xmlns:a16="http://schemas.microsoft.com/office/drawing/2014/main" val="1345805294"/>
                  </a:ext>
                </a:extLst>
              </a:tr>
            </a:tbl>
          </a:graphicData>
        </a:graphic>
      </p:graphicFrame>
    </p:spTree>
    <p:extLst>
      <p:ext uri="{BB962C8B-B14F-4D97-AF65-F5344CB8AC3E}">
        <p14:creationId xmlns:p14="http://schemas.microsoft.com/office/powerpoint/2010/main" val="24731551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078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杂凑算法是国内设计的，适用于商用密码应用中的数字签名和验证、消息认证码的生成与验证以及随机数的生成，可满足多种密码应用的安全需求</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杂凑算法规定数据在内存中的表示为“左高右低”（即数的高阶字节放在存储器的低地址，数的低阶字节放在存储器的高地址）</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杂凑算法可以作用于任意有限长度的比特串，输出杂凑值长度为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256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比特的比特串；处理过程中所涉及字的长度为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19512297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05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杂凑算法的执行过程可以概括成四个步骤：</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消息填充、消息扩展、迭代压缩、输出结果。</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l(l &lt; 264)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比特的消息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杂凑算法经过填充和迭代压缩，生成杂凑值，杂凑值长度为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256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pic>
        <p:nvPicPr>
          <p:cNvPr id="4" name="图片 3">
            <a:extLst>
              <a:ext uri="{FF2B5EF4-FFF2-40B4-BE49-F238E27FC236}">
                <a16:creationId xmlns:a16="http://schemas.microsoft.com/office/drawing/2014/main" id="{2B3F7C58-64EF-FD89-6E3F-46D0428D1B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2" y="2519577"/>
            <a:ext cx="8424428" cy="2530367"/>
          </a:xfrm>
          <a:prstGeom prst="rect">
            <a:avLst/>
          </a:prstGeom>
        </p:spPr>
      </p:pic>
    </p:spTree>
    <p:extLst>
      <p:ext uri="{BB962C8B-B14F-4D97-AF65-F5344CB8AC3E}">
        <p14:creationId xmlns:p14="http://schemas.microsoft.com/office/powerpoint/2010/main" val="55358135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1817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杂凑算法的执行过程可以概括成四个步骤：</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消息填充、消息扩展、迭代压缩、输出结果。</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l(l &lt; 264)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比特的消息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SM3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杂凑算法经过填充和迭代压缩，生成杂凑值，杂凑值长度为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256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比特。</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457200" indent="-457200">
              <a:lnSpc>
                <a:spcPct val="130000"/>
              </a:lnSpc>
              <a:spcBef>
                <a:spcPts val="300"/>
              </a:spcBef>
              <a:spcAft>
                <a:spcPts val="300"/>
              </a:spcAft>
              <a:buFont typeface="+mj-lt"/>
              <a:buAutoNum type="arabicPeriod"/>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填充</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假设消息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比特。首先将比特“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添加到消息的末尾，再添加</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是满足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l+1+k=448mod512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的最小的非负整数。然后再添加一个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位比特串，该比特串是长度</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的二进制表示。填充后的消息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的比特长度为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39085923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778902"/>
          </a:xfrm>
          <a:prstGeom prst="rect">
            <a:avLst/>
          </a:prstGeom>
          <a:noFill/>
        </p:spPr>
        <p:txBody>
          <a:bodyPr wrap="square" rtlCol="0">
            <a:spAutoFit/>
          </a:bodyPr>
          <a:lstStyle/>
          <a:p>
            <a:pPr marL="457200" indent="-457200">
              <a:lnSpc>
                <a:spcPct val="130000"/>
              </a:lnSpc>
              <a:spcBef>
                <a:spcPts val="300"/>
              </a:spcBef>
              <a:spcAft>
                <a:spcPts val="300"/>
              </a:spcAft>
              <a:buFont typeface="+mj-lt"/>
              <a:buAutoNum type="arabicPeriod" startAt="2"/>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消息扩展</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SM3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的迭代压缩步骤没有直接使用数据分组进行运算，而是使用这个步骤产生的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个消息字。（一个消息字的长度为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16j</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进制数字）概括来说，先将一个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位数据分组划分为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个消息字，并且作为生成的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个消息字的前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个。再用这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个消息字递推生成剩余的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在最终得到的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个消息字中，前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个消息字构成数列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Wj</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个消息字构成数列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 j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，其中下标</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j</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开始计数。</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29502234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35598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将消息分组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按以下方法扩展生成</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67</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63</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，用于压缩函数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ea"/>
                  <a:buAutoNum type="circleNumDbPlain"/>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将消息分组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划分为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t>
                </a:r>
                <a:r>
                  <a:rPr lang="en-US" altLang="zh-CN" sz="1600"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a:t>
                </a:r>
              </a:p>
              <a:p>
                <a:pPr marL="342900" indent="-342900">
                  <a:lnSpc>
                    <a:spcPct val="130000"/>
                  </a:lnSpc>
                  <a:spcBef>
                    <a:spcPts val="300"/>
                  </a:spcBef>
                  <a:spcAft>
                    <a:spcPts val="300"/>
                  </a:spcAft>
                  <a:buFont typeface="+mj-ea"/>
                  <a:buAutoNum type="circleNumDbPlain"/>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FOR j=16 TO 67</a:t>
                </a:r>
              </a:p>
              <a:p>
                <a:pPr>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m:rPr>
                        <m:sty m:val="p"/>
                      </m:rP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W</m:t>
                    </m:r>
                    <m:r>
                      <m:rPr>
                        <m:sty m:val="p"/>
                      </m:rPr>
                      <a:rPr lang="en-US" altLang="zh-CN" sz="1600" b="0" i="0" baseline="-2500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j</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m:rPr>
                        <m:sty m:val="p"/>
                      </m:rP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P</m:t>
                    </m:r>
                    <m:r>
                      <a:rPr lang="en-US" altLang="zh-CN" sz="1600" b="0" i="0" baseline="-2500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sz="1600"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−16</m:t>
                        </m:r>
                      </m:sub>
                    </m:sSub>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−9</m:t>
                        </m:r>
                      </m:sub>
                    </m:sSub>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d>
                      <m:dPr>
                        <m:ctrlPr>
                          <a:rPr lang="en-US" altLang="zh-CN" sz="1600" b="0" i="1"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−3</m:t>
                            </m:r>
                          </m:sub>
                        </m:sSub>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⋘15</m:t>
                        </m:r>
                      </m:e>
                    </m:d>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−13</m:t>
                        </m:r>
                      </m:sub>
                    </m:sSub>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−6</m:t>
                        </m:r>
                      </m:sub>
                    </m:sSub>
                  </m:oMath>
                </a14:m>
                <a:endPar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spcBef>
                    <a:spcPts val="300"/>
                  </a:spcBef>
                  <a:spcAft>
                    <a:spcPts val="300"/>
                  </a:spcAft>
                </a:pPr>
                <a:r>
                  <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END FOR</a:t>
                </a:r>
              </a:p>
              <a:p>
                <a:pPr marL="342900" indent="-342900">
                  <a:spcBef>
                    <a:spcPts val="300"/>
                  </a:spcBef>
                  <a:spcAft>
                    <a:spcPts val="300"/>
                  </a:spcAft>
                  <a:buFont typeface="+mj-ea"/>
                  <a:buAutoNum type="circleNumDbPlain" startAt="3"/>
                </a:pPr>
                <a:r>
                  <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FOR j=0 TO 63</a:t>
                </a:r>
              </a:p>
              <a:p>
                <a:pPr>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sSubSup>
                      <m:sSubSupPr>
                        <m:ctrlPr>
                          <a:rPr lang="en-US" altLang="zh-CN" sz="1600" b="0"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SupPr>
                      <m:e>
                        <m:r>
                          <m:rPr>
                            <m:sty m:val="p"/>
                          </m:rP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W</m:t>
                        </m:r>
                      </m:e>
                      <m:sub>
                        <m:r>
                          <m:rPr>
                            <m:sty m:val="p"/>
                          </m:rP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j</m:t>
                        </m:r>
                      </m:sub>
                      <m:sup>
                        <m: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bSup>
                    <m: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m:rPr>
                        <m:sty m:val="p"/>
                      </m:rPr>
                      <a:rPr lang="en-US" altLang="zh-CN" sz="1600" b="0"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Wj</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lang="en-US" altLang="zh-CN" sz="1600" i="1">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W</m:t>
                        </m:r>
                      </m:e>
                      <m:sub>
                        <m:r>
                          <m:rPr>
                            <m:sty m:val="p"/>
                          </m:rPr>
                          <a:rPr lang="en-US" altLang="zh-CN" sz="1600" i="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j</m:t>
                        </m:r>
                        <m:r>
                          <a:rPr lang="en-US" altLang="zh-CN" sz="1600" b="0" i="0" smtClean="0">
                            <a:solidFill>
                              <a:srgbClr val="008F92"/>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+4</m:t>
                        </m:r>
                      </m:sub>
                    </m:sSub>
                  </m:oMath>
                </a14:m>
                <a:endPar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spcBef>
                    <a:spcPts val="300"/>
                  </a:spcBef>
                  <a:spcAft>
                    <a:spcPts val="300"/>
                  </a:spcAft>
                </a:pPr>
                <a:r>
                  <a:rPr lang="en-US" altLang="zh-CN"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END FOR</a:t>
                </a:r>
                <a:endParaRPr lang="zh-CN" altLang="en-US" sz="16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355983"/>
              </a:xfrm>
              <a:prstGeom prst="rect">
                <a:avLst/>
              </a:prstGeom>
              <a:blipFill>
                <a:blip r:embed="rId3"/>
                <a:stretch>
                  <a:fillRect l="-52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41978461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83820"/>
          </a:xfrm>
          <a:prstGeom prst="rect">
            <a:avLst/>
          </a:prstGeom>
          <a:noFill/>
        </p:spPr>
        <p:txBody>
          <a:bodyPr wrap="square" rtlCol="0">
            <a:spAutoFit/>
          </a:bodyPr>
          <a:lstStyle/>
          <a:p>
            <a:pPr marL="457200" indent="-457200">
              <a:lnSpc>
                <a:spcPct val="130000"/>
              </a:lnSpc>
              <a:spcBef>
                <a:spcPts val="300"/>
              </a:spcBef>
              <a:spcAft>
                <a:spcPts val="300"/>
              </a:spcAft>
              <a:buFont typeface="+mj-lt"/>
              <a:buAutoNum type="arabicPeriod" startAt="3"/>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迭代压缩</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将填充后的消息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比特进行分组：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(n-1)</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n=(l+k+65)/512</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按下列方式迭代</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44926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FOR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TO n-1</a:t>
            </a:r>
          </a:p>
          <a:p>
            <a:pPr marL="90011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=CF(V</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449263">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END FOR</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是压缩函数，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比特初始值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为填充后的消息分组，迭代压缩的结果为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a:t>
            </a:r>
            <a:endParaRPr lang="zh-CN" altLang="en-US" sz="2000" baseline="30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426455271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
        <p:nvSpPr>
          <p:cNvPr id="2" name="矩形 1">
            <a:extLst>
              <a:ext uri="{FF2B5EF4-FFF2-40B4-BE49-F238E27FC236}">
                <a16:creationId xmlns:a16="http://schemas.microsoft.com/office/drawing/2014/main" id="{FE828079-BB9B-4F62-B2E7-877203BB18F0}"/>
              </a:ext>
            </a:extLst>
          </p:cNvPr>
          <p:cNvSpPr/>
          <p:nvPr/>
        </p:nvSpPr>
        <p:spPr>
          <a:xfrm>
            <a:off x="1944000" y="1062000"/>
            <a:ext cx="1224136" cy="576064"/>
          </a:xfrm>
          <a:prstGeom prst="rect">
            <a:avLst/>
          </a:prstGeom>
          <a:solidFill>
            <a:srgbClr val="FE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第</a:t>
            </a:r>
            <a:r>
              <a:rPr lang="en-US" altLang="zh-CN" sz="1200" dirty="0">
                <a:solidFill>
                  <a:schemeClr val="tx1"/>
                </a:solidFill>
                <a:latin typeface="微软雅黑" panose="020B0503020204020204" pitchFamily="34" charset="-122"/>
                <a:ea typeface="微软雅黑" panose="020B0503020204020204" pitchFamily="34" charset="-122"/>
              </a:rPr>
              <a:t>1</a:t>
            </a:r>
            <a:r>
              <a:rPr lang="zh-CN" altLang="en-US" sz="1200" dirty="0">
                <a:solidFill>
                  <a:schemeClr val="tx1"/>
                </a:solidFill>
                <a:latin typeface="微软雅黑" panose="020B0503020204020204" pitchFamily="34" charset="-122"/>
                <a:ea typeface="微软雅黑" panose="020B0503020204020204" pitchFamily="34" charset="-122"/>
              </a:rPr>
              <a:t>个</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64</a:t>
            </a:r>
            <a:r>
              <a:rPr lang="zh-CN" altLang="en-US" sz="1200" dirty="0">
                <a:solidFill>
                  <a:schemeClr val="tx1"/>
                </a:solidFill>
                <a:latin typeface="微软雅黑" panose="020B0503020204020204" pitchFamily="34" charset="-122"/>
                <a:ea typeface="微软雅黑" panose="020B0503020204020204" pitchFamily="34" charset="-122"/>
              </a:rPr>
              <a:t>字节分组</a:t>
            </a:r>
          </a:p>
        </p:txBody>
      </p:sp>
      <p:sp>
        <p:nvSpPr>
          <p:cNvPr id="5" name="矩形 4">
            <a:extLst>
              <a:ext uri="{FF2B5EF4-FFF2-40B4-BE49-F238E27FC236}">
                <a16:creationId xmlns:a16="http://schemas.microsoft.com/office/drawing/2014/main" id="{AF996B1C-C22D-40D7-9CB3-FFA9629E58A4}"/>
              </a:ext>
            </a:extLst>
          </p:cNvPr>
          <p:cNvSpPr/>
          <p:nvPr/>
        </p:nvSpPr>
        <p:spPr>
          <a:xfrm>
            <a:off x="3707904" y="1062000"/>
            <a:ext cx="1224136" cy="576064"/>
          </a:xfrm>
          <a:prstGeom prst="rect">
            <a:avLst/>
          </a:prstGeom>
          <a:solidFill>
            <a:srgbClr val="FE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第</a:t>
            </a:r>
            <a:r>
              <a:rPr lang="en-US" altLang="zh-CN" sz="1200" dirty="0">
                <a:solidFill>
                  <a:schemeClr val="tx1"/>
                </a:solidFill>
                <a:latin typeface="微软雅黑" panose="020B0503020204020204" pitchFamily="34" charset="-122"/>
                <a:ea typeface="微软雅黑" panose="020B0503020204020204" pitchFamily="34" charset="-122"/>
              </a:rPr>
              <a:t>2</a:t>
            </a:r>
            <a:r>
              <a:rPr lang="zh-CN" altLang="en-US" sz="1200" dirty="0">
                <a:solidFill>
                  <a:schemeClr val="tx1"/>
                </a:solidFill>
                <a:latin typeface="微软雅黑" panose="020B0503020204020204" pitchFamily="34" charset="-122"/>
                <a:ea typeface="微软雅黑" panose="020B0503020204020204" pitchFamily="34" charset="-122"/>
              </a:rPr>
              <a:t>个</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64</a:t>
            </a:r>
            <a:r>
              <a:rPr lang="zh-CN" altLang="en-US" sz="1200" dirty="0">
                <a:solidFill>
                  <a:schemeClr val="tx1"/>
                </a:solidFill>
                <a:latin typeface="微软雅黑" panose="020B0503020204020204" pitchFamily="34" charset="-122"/>
                <a:ea typeface="微软雅黑" panose="020B0503020204020204" pitchFamily="34" charset="-122"/>
              </a:rPr>
              <a:t>字节分组</a:t>
            </a:r>
          </a:p>
        </p:txBody>
      </p:sp>
      <p:sp>
        <p:nvSpPr>
          <p:cNvPr id="6" name="矩形 5">
            <a:extLst>
              <a:ext uri="{FF2B5EF4-FFF2-40B4-BE49-F238E27FC236}">
                <a16:creationId xmlns:a16="http://schemas.microsoft.com/office/drawing/2014/main" id="{B45714CF-2A02-4F8D-ACA7-9709D9BDA2B5}"/>
              </a:ext>
            </a:extLst>
          </p:cNvPr>
          <p:cNvSpPr/>
          <p:nvPr/>
        </p:nvSpPr>
        <p:spPr>
          <a:xfrm>
            <a:off x="5904000" y="1062000"/>
            <a:ext cx="1224136" cy="576064"/>
          </a:xfrm>
          <a:prstGeom prst="rect">
            <a:avLst/>
          </a:prstGeom>
          <a:solidFill>
            <a:srgbClr val="FE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第</a:t>
            </a:r>
            <a:r>
              <a:rPr lang="en-US" altLang="zh-CN" sz="1200" dirty="0">
                <a:solidFill>
                  <a:schemeClr val="tx1"/>
                </a:solidFill>
                <a:latin typeface="微软雅黑" panose="020B0503020204020204" pitchFamily="34" charset="-122"/>
                <a:ea typeface="微软雅黑" panose="020B0503020204020204" pitchFamily="34" charset="-122"/>
              </a:rPr>
              <a:t>n</a:t>
            </a:r>
            <a:r>
              <a:rPr lang="zh-CN" altLang="en-US" sz="1200" dirty="0">
                <a:solidFill>
                  <a:schemeClr val="tx1"/>
                </a:solidFill>
                <a:latin typeface="微软雅黑" panose="020B0503020204020204" pitchFamily="34" charset="-122"/>
                <a:ea typeface="微软雅黑" panose="020B0503020204020204" pitchFamily="34" charset="-122"/>
              </a:rPr>
              <a:t>个</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64</a:t>
            </a:r>
            <a:r>
              <a:rPr lang="zh-CN" altLang="en-US" sz="1200" dirty="0">
                <a:solidFill>
                  <a:schemeClr val="tx1"/>
                </a:solidFill>
                <a:latin typeface="微软雅黑" panose="020B0503020204020204" pitchFamily="34" charset="-122"/>
                <a:ea typeface="微软雅黑" panose="020B0503020204020204" pitchFamily="34" charset="-122"/>
              </a:rPr>
              <a:t>字节分组</a:t>
            </a:r>
          </a:p>
        </p:txBody>
      </p:sp>
      <p:sp>
        <p:nvSpPr>
          <p:cNvPr id="7" name="矩形 6">
            <a:extLst>
              <a:ext uri="{FF2B5EF4-FFF2-40B4-BE49-F238E27FC236}">
                <a16:creationId xmlns:a16="http://schemas.microsoft.com/office/drawing/2014/main" id="{A8463385-6E71-408A-9B9E-114AAA9665A3}"/>
              </a:ext>
            </a:extLst>
          </p:cNvPr>
          <p:cNvSpPr/>
          <p:nvPr/>
        </p:nvSpPr>
        <p:spPr>
          <a:xfrm>
            <a:off x="1944000" y="2268000"/>
            <a:ext cx="1224136" cy="576064"/>
          </a:xfrm>
          <a:prstGeom prst="rect">
            <a:avLst/>
          </a:prstGeom>
          <a:solidFill>
            <a:srgbClr val="FF98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消息扩展</a:t>
            </a:r>
          </a:p>
        </p:txBody>
      </p:sp>
      <p:sp>
        <p:nvSpPr>
          <p:cNvPr id="8" name="矩形 7">
            <a:extLst>
              <a:ext uri="{FF2B5EF4-FFF2-40B4-BE49-F238E27FC236}">
                <a16:creationId xmlns:a16="http://schemas.microsoft.com/office/drawing/2014/main" id="{B2AA2B04-74BA-49EF-8804-196C5474521C}"/>
              </a:ext>
            </a:extLst>
          </p:cNvPr>
          <p:cNvSpPr/>
          <p:nvPr/>
        </p:nvSpPr>
        <p:spPr>
          <a:xfrm>
            <a:off x="3707904" y="2268000"/>
            <a:ext cx="1224136" cy="576064"/>
          </a:xfrm>
          <a:prstGeom prst="rect">
            <a:avLst/>
          </a:prstGeom>
          <a:solidFill>
            <a:srgbClr val="FF98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消息扩展</a:t>
            </a:r>
          </a:p>
        </p:txBody>
      </p:sp>
      <p:sp>
        <p:nvSpPr>
          <p:cNvPr id="9" name="矩形 8">
            <a:extLst>
              <a:ext uri="{FF2B5EF4-FFF2-40B4-BE49-F238E27FC236}">
                <a16:creationId xmlns:a16="http://schemas.microsoft.com/office/drawing/2014/main" id="{0FDC584B-907D-4EEE-8FBD-BE57194734DF}"/>
              </a:ext>
            </a:extLst>
          </p:cNvPr>
          <p:cNvSpPr/>
          <p:nvPr/>
        </p:nvSpPr>
        <p:spPr>
          <a:xfrm>
            <a:off x="5904000" y="2268000"/>
            <a:ext cx="1224136" cy="576064"/>
          </a:xfrm>
          <a:prstGeom prst="rect">
            <a:avLst/>
          </a:prstGeom>
          <a:solidFill>
            <a:srgbClr val="FF98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消息扩展</a:t>
            </a:r>
          </a:p>
        </p:txBody>
      </p:sp>
      <p:sp>
        <p:nvSpPr>
          <p:cNvPr id="10" name="矩形 9">
            <a:extLst>
              <a:ext uri="{FF2B5EF4-FFF2-40B4-BE49-F238E27FC236}">
                <a16:creationId xmlns:a16="http://schemas.microsoft.com/office/drawing/2014/main" id="{F1B9AAB4-8763-40FB-B4D0-D71DC5E9F141}"/>
              </a:ext>
            </a:extLst>
          </p:cNvPr>
          <p:cNvSpPr/>
          <p:nvPr/>
        </p:nvSpPr>
        <p:spPr>
          <a:xfrm>
            <a:off x="1937000" y="3488786"/>
            <a:ext cx="1224136" cy="576064"/>
          </a:xfrm>
          <a:prstGeom prst="rect">
            <a:avLst/>
          </a:prstGeom>
          <a:solidFill>
            <a:srgbClr val="9DFF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压缩函数</a:t>
            </a:r>
          </a:p>
        </p:txBody>
      </p:sp>
      <p:sp>
        <p:nvSpPr>
          <p:cNvPr id="11" name="矩形 10">
            <a:extLst>
              <a:ext uri="{FF2B5EF4-FFF2-40B4-BE49-F238E27FC236}">
                <a16:creationId xmlns:a16="http://schemas.microsoft.com/office/drawing/2014/main" id="{3B1900BF-0546-4420-B101-6F09F05334F5}"/>
              </a:ext>
            </a:extLst>
          </p:cNvPr>
          <p:cNvSpPr/>
          <p:nvPr/>
        </p:nvSpPr>
        <p:spPr>
          <a:xfrm>
            <a:off x="3700904" y="3488786"/>
            <a:ext cx="1224136" cy="576064"/>
          </a:xfrm>
          <a:prstGeom prst="rect">
            <a:avLst/>
          </a:prstGeom>
          <a:solidFill>
            <a:srgbClr val="9DFF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压缩函数</a:t>
            </a:r>
          </a:p>
        </p:txBody>
      </p:sp>
      <p:sp>
        <p:nvSpPr>
          <p:cNvPr id="12" name="矩形 11">
            <a:extLst>
              <a:ext uri="{FF2B5EF4-FFF2-40B4-BE49-F238E27FC236}">
                <a16:creationId xmlns:a16="http://schemas.microsoft.com/office/drawing/2014/main" id="{FCF445FB-CD40-4E5A-8F84-527B2629F622}"/>
              </a:ext>
            </a:extLst>
          </p:cNvPr>
          <p:cNvSpPr/>
          <p:nvPr/>
        </p:nvSpPr>
        <p:spPr>
          <a:xfrm>
            <a:off x="5897000" y="3488786"/>
            <a:ext cx="1224136" cy="576064"/>
          </a:xfrm>
          <a:prstGeom prst="rect">
            <a:avLst/>
          </a:prstGeom>
          <a:solidFill>
            <a:srgbClr val="9DFFF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压缩函数</a:t>
            </a:r>
          </a:p>
        </p:txBody>
      </p:sp>
      <p:sp>
        <p:nvSpPr>
          <p:cNvPr id="13" name="矩形 12">
            <a:extLst>
              <a:ext uri="{FF2B5EF4-FFF2-40B4-BE49-F238E27FC236}">
                <a16:creationId xmlns:a16="http://schemas.microsoft.com/office/drawing/2014/main" id="{EBECD1D1-E72D-46BD-B9FA-FC86402B0BBD}"/>
              </a:ext>
            </a:extLst>
          </p:cNvPr>
          <p:cNvSpPr/>
          <p:nvPr/>
        </p:nvSpPr>
        <p:spPr>
          <a:xfrm>
            <a:off x="226884" y="3488786"/>
            <a:ext cx="1224136" cy="576064"/>
          </a:xfrm>
          <a:prstGeom prst="rect">
            <a:avLst/>
          </a:prstGeom>
          <a:solidFill>
            <a:srgbClr val="99FF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初值</a:t>
            </a:r>
            <a:r>
              <a:rPr lang="en-US" altLang="zh-CN" sz="1200" dirty="0">
                <a:solidFill>
                  <a:schemeClr val="tx1"/>
                </a:solidFill>
                <a:latin typeface="微软雅黑" panose="020B0503020204020204" pitchFamily="34" charset="-122"/>
                <a:ea typeface="微软雅黑" panose="020B0503020204020204" pitchFamily="34" charset="-122"/>
              </a:rPr>
              <a:t>IV</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520A543A-6E6B-421B-83C6-9A40C56C51E6}"/>
              </a:ext>
            </a:extLst>
          </p:cNvPr>
          <p:cNvSpPr/>
          <p:nvPr/>
        </p:nvSpPr>
        <p:spPr>
          <a:xfrm>
            <a:off x="7692980" y="3488786"/>
            <a:ext cx="1224136" cy="576064"/>
          </a:xfrm>
          <a:prstGeom prst="rect">
            <a:avLst/>
          </a:prstGeom>
          <a:solidFill>
            <a:srgbClr val="FFCB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杂凑值</a:t>
            </a:r>
          </a:p>
        </p:txBody>
      </p:sp>
      <p:cxnSp>
        <p:nvCxnSpPr>
          <p:cNvPr id="16" name="直接箭头连接符 15">
            <a:extLst>
              <a:ext uri="{FF2B5EF4-FFF2-40B4-BE49-F238E27FC236}">
                <a16:creationId xmlns:a16="http://schemas.microsoft.com/office/drawing/2014/main" id="{79F58739-76F6-4398-A839-128D21D596AA}"/>
              </a:ext>
            </a:extLst>
          </p:cNvPr>
          <p:cNvCxnSpPr>
            <a:stCxn id="2" idx="2"/>
            <a:endCxn id="7" idx="0"/>
          </p:cNvCxnSpPr>
          <p:nvPr/>
        </p:nvCxnSpPr>
        <p:spPr>
          <a:xfrm>
            <a:off x="2556068" y="1638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95EF30F-1011-4932-9FC0-04319A3C17AE}"/>
              </a:ext>
            </a:extLst>
          </p:cNvPr>
          <p:cNvCxnSpPr/>
          <p:nvPr/>
        </p:nvCxnSpPr>
        <p:spPr>
          <a:xfrm>
            <a:off x="4322845" y="1638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F17EDA6D-E3D8-44FA-BCDB-7CA29AFDC983}"/>
              </a:ext>
            </a:extLst>
          </p:cNvPr>
          <p:cNvCxnSpPr/>
          <p:nvPr/>
        </p:nvCxnSpPr>
        <p:spPr>
          <a:xfrm>
            <a:off x="6509068" y="1638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F368E1C-5658-4994-8A48-A8C0040F0864}"/>
              </a:ext>
            </a:extLst>
          </p:cNvPr>
          <p:cNvCxnSpPr>
            <a:cxnSpLocks/>
          </p:cNvCxnSpPr>
          <p:nvPr/>
        </p:nvCxnSpPr>
        <p:spPr>
          <a:xfrm>
            <a:off x="1451019" y="3776818"/>
            <a:ext cx="468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C56D65C7-D6CD-48A8-B222-5CBF3D8BD4AB}"/>
              </a:ext>
            </a:extLst>
          </p:cNvPr>
          <p:cNvCxnSpPr/>
          <p:nvPr/>
        </p:nvCxnSpPr>
        <p:spPr>
          <a:xfrm>
            <a:off x="6509068" y="2844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3ACC0407-DE02-4ABC-958B-EA884C26FB02}"/>
              </a:ext>
            </a:extLst>
          </p:cNvPr>
          <p:cNvCxnSpPr/>
          <p:nvPr/>
        </p:nvCxnSpPr>
        <p:spPr>
          <a:xfrm>
            <a:off x="4319972" y="2858850"/>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CB83A18D-0D88-4BA1-9F1C-282D18F67009}"/>
              </a:ext>
            </a:extLst>
          </p:cNvPr>
          <p:cNvCxnSpPr/>
          <p:nvPr/>
        </p:nvCxnSpPr>
        <p:spPr>
          <a:xfrm>
            <a:off x="2549068" y="2844064"/>
            <a:ext cx="0" cy="62993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27E153FC-EC9F-40BF-8047-C1ECA76430F1}"/>
              </a:ext>
            </a:extLst>
          </p:cNvPr>
          <p:cNvCxnSpPr>
            <a:cxnSpLocks/>
          </p:cNvCxnSpPr>
          <p:nvPr/>
        </p:nvCxnSpPr>
        <p:spPr>
          <a:xfrm>
            <a:off x="3161136" y="3776818"/>
            <a:ext cx="5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9529ADC-672A-4F13-90B8-02FA805336F6}"/>
              </a:ext>
            </a:extLst>
          </p:cNvPr>
          <p:cNvCxnSpPr>
            <a:cxnSpLocks/>
          </p:cNvCxnSpPr>
          <p:nvPr/>
        </p:nvCxnSpPr>
        <p:spPr>
          <a:xfrm>
            <a:off x="4932040" y="3776818"/>
            <a:ext cx="216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D21B8D0B-DBFB-47C1-B920-2ACA2B37570D}"/>
              </a:ext>
            </a:extLst>
          </p:cNvPr>
          <p:cNvCxnSpPr>
            <a:cxnSpLocks/>
          </p:cNvCxnSpPr>
          <p:nvPr/>
        </p:nvCxnSpPr>
        <p:spPr>
          <a:xfrm>
            <a:off x="5688000" y="3776818"/>
            <a:ext cx="216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AD5233A7-66FC-4824-91D1-F0823EF40492}"/>
              </a:ext>
            </a:extLst>
          </p:cNvPr>
          <p:cNvCxnSpPr>
            <a:cxnSpLocks/>
          </p:cNvCxnSpPr>
          <p:nvPr/>
        </p:nvCxnSpPr>
        <p:spPr>
          <a:xfrm>
            <a:off x="7121136" y="3776818"/>
            <a:ext cx="576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47A4599F-CBAB-4B86-A7B9-463B266F89A6}"/>
              </a:ext>
            </a:extLst>
          </p:cNvPr>
          <p:cNvSpPr txBox="1"/>
          <p:nvPr/>
        </p:nvSpPr>
        <p:spPr>
          <a:xfrm>
            <a:off x="5149894" y="3507854"/>
            <a:ext cx="576064" cy="369332"/>
          </a:xfrm>
          <a:prstGeom prst="rect">
            <a:avLst/>
          </a:prstGeom>
          <a:noFill/>
        </p:spPr>
        <p:txBody>
          <a:bodyPr wrap="square" rtlCol="0">
            <a:spAutoFit/>
          </a:bodyPr>
          <a:lstStyle/>
          <a:p>
            <a:r>
              <a:rPr lang="en-US" altLang="zh-CN" dirty="0"/>
              <a:t>......</a:t>
            </a:r>
            <a:endParaRPr lang="zh-CN" altLang="en-US" dirty="0"/>
          </a:p>
        </p:txBody>
      </p:sp>
    </p:spTree>
    <p:extLst>
      <p:ext uri="{BB962C8B-B14F-4D97-AF65-F5344CB8AC3E}">
        <p14:creationId xmlns:p14="http://schemas.microsoft.com/office/powerpoint/2010/main" val="134959148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32681"/>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初值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被放在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八个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位变量中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为中间变量</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压缩函数</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(i+1)</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=CF(V</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b="1"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计算过程如下：</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最后，再将计算完成的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和原来的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分别进行异或，就是压缩函数的输出</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8BDE27A-0136-4D46-B818-24A84AE5C7BE}"/>
                  </a:ext>
                </a:extLst>
              </p:cNvPr>
              <p:cNvSpPr txBox="1"/>
              <p:nvPr/>
            </p:nvSpPr>
            <p:spPr>
              <a:xfrm>
                <a:off x="5220072" y="1466682"/>
                <a:ext cx="3600400" cy="359245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𝐴𝐵𝐶𝐷𝐸𝐹𝐺𝐻</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p>
                        <m:sSupPr>
                          <m:ctrlP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pPr>
                        <m:e>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𝑉</m:t>
                          </m:r>
                        </m:e>
                        <m:sup>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up>
                      </m:sSup>
                    </m:oMath>
                  </m:oMathPara>
                </a14:m>
                <a:endPar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𝐹𝑂𝑅</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𝑇𝑂</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63</m:t>
                      </m:r>
                    </m:oMath>
                  </m:oMathPara>
                </a14:m>
                <a:endParaRPr lang="en-US" altLang="zh-CN" sz="1400" b="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d>
                        <m:dPr>
                          <m:ctrlP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⋘12</m:t>
                          </m:r>
                        </m:e>
                      </m:d>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𝐸</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d>
                        <m:dPr>
                          <m:ctrlP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𝑇</m:t>
                          </m:r>
                          <m:r>
                            <a:rPr lang="en-US" altLang="zh-CN" sz="1400" b="0" i="1" baseline="-25000"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e>
                      </m:d>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)⋘7</m:t>
                      </m:r>
                    </m:oMath>
                  </m:oMathPara>
                </a14:m>
                <a:endPar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d>
                        <m:dPr>
                          <m:ctrlP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𝐴</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⋘12</m:t>
                          </m:r>
                        </m:e>
                      </m:d>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𝑇𝑇</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𝐹𝐹𝑗</m:t>
                      </m:r>
                      <m:d>
                        <m:dPr>
                          <m:ctrlP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𝐵</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𝐶</m:t>
                          </m:r>
                        </m:e>
                      </m:d>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𝐷</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sSubSup>
                        <m:sSubSupPr>
                          <m:ctrlP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SupPr>
                        <m:e>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𝑊</m:t>
                          </m:r>
                        </m:e>
                        <m:sub>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sub>
                        <m:sup>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up>
                      </m:sSubSup>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𝑇𝑇</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𝐺𝐺𝑗</m:t>
                      </m:r>
                      <m:d>
                        <m:dPr>
                          <m:ctrlP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𝐸</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𝐺</m:t>
                          </m:r>
                        </m:e>
                      </m:d>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𝐻</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𝑆𝑆</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sSubSup>
                        <m:sSubSupPr>
                          <m:ctrlP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SupPr>
                        <m:e>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𝑊</m:t>
                          </m:r>
                        </m:e>
                        <m:sub>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𝑗</m:t>
                          </m:r>
                        </m:sub>
                        <m:sup/>
                      </m:sSubSup>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𝐷</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𝐶</m:t>
                      </m:r>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𝐶</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𝐵</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⋘9</m:t>
                      </m:r>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𝐵</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m:t>
                      </m:r>
                    </m:oMath>
                  </m:oMathPara>
                </a14:m>
                <a:endParaRPr lang="en-US" altLang="zh-CN" sz="1400"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𝑇𝑇</m:t>
                      </m:r>
                      <m:r>
                        <a:rPr lang="en-US" altLang="zh-CN" sz="1400"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1</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𝐻</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𝐺</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𝐺</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⋘19</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𝐸</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𝐸</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𝑃</m:t>
                      </m:r>
                      <m:r>
                        <a:rPr lang="en-US" altLang="zh-CN" sz="1400" b="0" i="1" baseline="-25000"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0</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𝑇𝑇</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2)</m:t>
                      </m:r>
                    </m:oMath>
                  </m:oMathPara>
                </a14:m>
                <a:endParaRPr lang="en-US" altLang="zh-CN" sz="1400" baseline="-25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𝐸𝑁𝐷</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 </m:t>
                      </m:r>
                      <m:r>
                        <a:rPr lang="en-US" altLang="zh-CN" sz="1400" b="0" i="1" smtClean="0">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𝐹𝑂𝑅</m:t>
                      </m:r>
                    </m:oMath>
                  </m:oMathPara>
                </a14:m>
                <a:endParaRPr lang="en-US" altLang="zh-CN" sz="1400" b="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14:m>
                  <m:oMathPara xmlns:m="http://schemas.openxmlformats.org/officeDocument/2006/math">
                    <m:oMathParaPr>
                      <m:jc m:val="left"/>
                    </m:oMathParaPr>
                    <m:oMath xmlns:m="http://schemas.openxmlformats.org/officeDocument/2006/math">
                      <m:sSup>
                        <m:sSupPr>
                          <m:ctrlP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pPr>
                        <m:e>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𝑉</m:t>
                          </m:r>
                        </m:e>
                        <m:sup>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r>
                            <a:rPr lang="en-US" altLang="zh-CN" sz="1400" b="0"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up>
                      </m:sSup>
                      <m:r>
                        <a:rPr lang="en-US" altLang="zh-CN" sz="1400" i="1">
                          <a:solidFill>
                            <a:schemeClr val="accent1"/>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1400" i="1">
                          <a:solidFill>
                            <a:schemeClr val="accent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𝐴𝐵𝐶𝐷𝐸𝐹𝐺𝐻</m:t>
                      </m:r>
                    </m:oMath>
                  </m:oMathPara>
                </a14:m>
                <a:endParaRPr lang="en-US" altLang="zh-CN" sz="1400" dirty="0">
                  <a:solidFill>
                    <a:schemeClr val="accent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7" name="文本框 6">
                <a:extLst>
                  <a:ext uri="{FF2B5EF4-FFF2-40B4-BE49-F238E27FC236}">
                    <a16:creationId xmlns:a16="http://schemas.microsoft.com/office/drawing/2014/main" id="{48BDE27A-0136-4D46-B818-24A84AE5C7BE}"/>
                  </a:ext>
                </a:extLst>
              </p:cNvPr>
              <p:cNvSpPr txBox="1">
                <a:spLocks noRot="1" noChangeAspect="1" noMove="1" noResize="1" noEditPoints="1" noAdjustHandles="1" noChangeArrowheads="1" noChangeShapeType="1" noTextEdit="1"/>
              </p:cNvSpPr>
              <p:nvPr/>
            </p:nvSpPr>
            <p:spPr>
              <a:xfrm>
                <a:off x="5220072" y="1466682"/>
                <a:ext cx="3600400" cy="359245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2265891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01465"/>
          </a:xfrm>
          <a:prstGeom prst="rect">
            <a:avLst/>
          </a:prstGeom>
          <a:noFill/>
        </p:spPr>
        <p:txBody>
          <a:bodyPr wrap="square" rtlCol="0">
            <a:spAutoFit/>
          </a:bodyPr>
          <a:lstStyle/>
          <a:p>
            <a:pPr marL="457200" indent="-457200">
              <a:lnSpc>
                <a:spcPct val="130000"/>
              </a:lnSpc>
              <a:spcBef>
                <a:spcPts val="300"/>
              </a:spcBef>
              <a:spcAft>
                <a:spcPts val="300"/>
              </a:spcAft>
              <a:buFont typeface="+mj-lt"/>
              <a:buAutoNum type="arabicPeriod" startAt="4"/>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输出结果</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将得到的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八个变量拼接输出，就是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SM3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算法的输出。</a:t>
            </a:r>
            <a:endParaRPr lang="zh-CN" altLang="en-US" sz="2000" baseline="30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SM3</a:t>
            </a:r>
            <a:r>
              <a:rPr lang="zh-CN" altLang="en-US" sz="2000" b="1" dirty="0">
                <a:solidFill>
                  <a:schemeClr val="tx1">
                    <a:lumMod val="50000"/>
                    <a:lumOff val="50000"/>
                  </a:schemeClr>
                </a:solidFill>
                <a:latin typeface="微软雅黑" pitchFamily="34" charset="-122"/>
                <a:ea typeface="微软雅黑" pitchFamily="34" charset="-122"/>
              </a:rPr>
              <a:t>杂凑算法</a:t>
            </a:r>
          </a:p>
        </p:txBody>
      </p:sp>
    </p:spTree>
    <p:extLst>
      <p:ext uri="{BB962C8B-B14F-4D97-AF65-F5344CB8AC3E}">
        <p14:creationId xmlns:p14="http://schemas.microsoft.com/office/powerpoint/2010/main" val="115140558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1872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是对抗主动攻击的主要手段</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认证可分为</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实体认证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证实某个人就是他所声称的那个人</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消息认证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使目标消息接收者能够检验收到的消息是否真实的认证方法</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消息认证的目的：</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第一，验证信息的来源是真实的，而不是伪造的，此为信息源认证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第二，验证信息的完整性，即验证信息在传送或存储过程中未被篡改、重放或延迟等</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消息认证的实现要基于认证函数来生成认证标识</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42266395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9805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认证函数分为三类：</a:t>
            </a:r>
          </a:p>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消息加密函数：</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用整个消息的密文作为对消息进行认证的认证标识</a:t>
            </a:r>
          </a:p>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消息认证码</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MAC(Message Authentication Code)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是以消息和密钥作为输入的公开函数，产生定长的输出，并以此输出值作为认证标识</a:t>
            </a:r>
          </a:p>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杂凑函数：</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是一个不需要密钥的公开函数，它将任意长度的输入消息映射成一个固定长度的输出值，并以此值作为认证标识</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31976387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5886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消息加密认证</a:t>
            </a:r>
          </a:p>
          <a:p>
            <a:pPr marL="342900" indent="-342900">
              <a:lnSpc>
                <a:spcPct val="130000"/>
              </a:lnSpc>
              <a:spcBef>
                <a:spcPts val="300"/>
              </a:spcBef>
              <a:spcAft>
                <a:spcPts val="300"/>
              </a:spcAft>
              <a:buFont typeface="+mj-ea"/>
              <a:buAutoNum type="circleNumDbPlai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对称加密</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方法一：</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通过将明文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和错误检测码连接后进行加密得到密文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，认证者通过解密密文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得到明文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和错误检测码连接结果，并验证错误检测码从而确定身份</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方法二：</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计算“校验和”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通过校验和函数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计算出明文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对应的校验码，然后与明文连接进行加密，认证时解密密文到明文，通过明文代入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计算校验码并与解密后的校验码进行验证</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6305960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412"/>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公钥加密</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
        <p:nvSpPr>
          <p:cNvPr id="4" name="矩形 3">
            <a:extLst>
              <a:ext uri="{FF2B5EF4-FFF2-40B4-BE49-F238E27FC236}">
                <a16:creationId xmlns:a16="http://schemas.microsoft.com/office/drawing/2014/main" id="{A77BA655-513F-DFFA-BFDC-7D7379608CCD}"/>
              </a:ext>
            </a:extLst>
          </p:cNvPr>
          <p:cNvSpPr/>
          <p:nvPr/>
        </p:nvSpPr>
        <p:spPr>
          <a:xfrm>
            <a:off x="2555776" y="896586"/>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5" name="椭圆 4">
            <a:extLst>
              <a:ext uri="{FF2B5EF4-FFF2-40B4-BE49-F238E27FC236}">
                <a16:creationId xmlns:a16="http://schemas.microsoft.com/office/drawing/2014/main" id="{BE1ED62E-0FEE-42D7-E647-F5FABEECAF2D}"/>
              </a:ext>
            </a:extLst>
          </p:cNvPr>
          <p:cNvSpPr/>
          <p:nvPr/>
        </p:nvSpPr>
        <p:spPr>
          <a:xfrm>
            <a:off x="3491880" y="1048238"/>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6" name="矩形 5">
            <a:extLst>
              <a:ext uri="{FF2B5EF4-FFF2-40B4-BE49-F238E27FC236}">
                <a16:creationId xmlns:a16="http://schemas.microsoft.com/office/drawing/2014/main" id="{03CDEA3E-C8E2-3AF6-45AB-25189FDA4E8E}"/>
              </a:ext>
            </a:extLst>
          </p:cNvPr>
          <p:cNvSpPr/>
          <p:nvPr/>
        </p:nvSpPr>
        <p:spPr>
          <a:xfrm>
            <a:off x="4499992" y="896586"/>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a:extLst>
              <a:ext uri="{FF2B5EF4-FFF2-40B4-BE49-F238E27FC236}">
                <a16:creationId xmlns:a16="http://schemas.microsoft.com/office/drawing/2014/main" id="{B5FBFB4F-52DA-C9D4-C2CF-BF13BB0EEE1F}"/>
              </a:ext>
            </a:extLst>
          </p:cNvPr>
          <p:cNvSpPr/>
          <p:nvPr/>
        </p:nvSpPr>
        <p:spPr>
          <a:xfrm>
            <a:off x="6516216" y="896586"/>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8" name="椭圆 7">
            <a:extLst>
              <a:ext uri="{FF2B5EF4-FFF2-40B4-BE49-F238E27FC236}">
                <a16:creationId xmlns:a16="http://schemas.microsoft.com/office/drawing/2014/main" id="{844A528C-00F5-5D97-03A6-65AA9659A0DE}"/>
              </a:ext>
            </a:extLst>
          </p:cNvPr>
          <p:cNvSpPr/>
          <p:nvPr/>
        </p:nvSpPr>
        <p:spPr>
          <a:xfrm>
            <a:off x="5508104" y="1048238"/>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cxnSp>
        <p:nvCxnSpPr>
          <p:cNvPr id="10" name="直接箭头连接符 9">
            <a:extLst>
              <a:ext uri="{FF2B5EF4-FFF2-40B4-BE49-F238E27FC236}">
                <a16:creationId xmlns:a16="http://schemas.microsoft.com/office/drawing/2014/main" id="{9AF37546-C232-076C-7F03-BC70365BAFE7}"/>
              </a:ext>
            </a:extLst>
          </p:cNvPr>
          <p:cNvCxnSpPr>
            <a:cxnSpLocks/>
          </p:cNvCxnSpPr>
          <p:nvPr/>
        </p:nvCxnSpPr>
        <p:spPr>
          <a:xfrm>
            <a:off x="2915816" y="1213451"/>
            <a:ext cx="576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71C41ED9-DD57-B82A-D012-990E70712D14}"/>
              </a:ext>
            </a:extLst>
          </p:cNvPr>
          <p:cNvCxnSpPr>
            <a:cxnSpLocks/>
          </p:cNvCxnSpPr>
          <p:nvPr/>
        </p:nvCxnSpPr>
        <p:spPr>
          <a:xfrm>
            <a:off x="3851920" y="1213451"/>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ECB637A-FCE9-8DA7-34B6-6CFF36AE2968}"/>
              </a:ext>
            </a:extLst>
          </p:cNvPr>
          <p:cNvCxnSpPr>
            <a:cxnSpLocks/>
          </p:cNvCxnSpPr>
          <p:nvPr/>
        </p:nvCxnSpPr>
        <p:spPr>
          <a:xfrm>
            <a:off x="4860032" y="1213451"/>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809042C-E0F4-FF4C-11F9-6C090B4D6C13}"/>
              </a:ext>
            </a:extLst>
          </p:cNvPr>
          <p:cNvCxnSpPr>
            <a:cxnSpLocks/>
          </p:cNvCxnSpPr>
          <p:nvPr/>
        </p:nvCxnSpPr>
        <p:spPr>
          <a:xfrm>
            <a:off x="5904216" y="1213451"/>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A52D0556-B693-E433-8273-B1879D5D3411}"/>
              </a:ext>
            </a:extLst>
          </p:cNvPr>
          <p:cNvCxnSpPr>
            <a:endCxn id="5" idx="4"/>
          </p:cNvCxnSpPr>
          <p:nvPr/>
        </p:nvCxnSpPr>
        <p:spPr>
          <a:xfrm flipH="1" flipV="1">
            <a:off x="3671900" y="1400642"/>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C681E9A3-FA61-9E9B-F17F-632F8E493DE6}"/>
              </a:ext>
            </a:extLst>
          </p:cNvPr>
          <p:cNvCxnSpPr/>
          <p:nvPr/>
        </p:nvCxnSpPr>
        <p:spPr>
          <a:xfrm flipH="1" flipV="1">
            <a:off x="5700632" y="1400642"/>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9E12ECB3-1DB9-14F8-7157-D09C94B81ED7}"/>
              </a:ext>
            </a:extLst>
          </p:cNvPr>
          <p:cNvSpPr txBox="1"/>
          <p:nvPr/>
        </p:nvSpPr>
        <p:spPr>
          <a:xfrm>
            <a:off x="3383868" y="1532841"/>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PU</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5ED94D60-7011-229B-DB9A-08D6A1512E73}"/>
              </a:ext>
            </a:extLst>
          </p:cNvPr>
          <p:cNvSpPr txBox="1"/>
          <p:nvPr/>
        </p:nvSpPr>
        <p:spPr>
          <a:xfrm>
            <a:off x="4231979" y="1532841"/>
            <a:ext cx="856456"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a:t>
            </a:r>
            <a:r>
              <a:rPr lang="en-US" altLang="zh-CN" sz="1400" dirty="0" err="1">
                <a:latin typeface="Times New Roman" panose="02020603050405020304" pitchFamily="18" charset="0"/>
                <a:cs typeface="Times New Roman" panose="02020603050405020304" pitchFamily="18" charset="0"/>
              </a:rPr>
              <a:t>PU</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04C36C51-7180-C347-8F8D-C28D6E951892}"/>
              </a:ext>
            </a:extLst>
          </p:cNvPr>
          <p:cNvSpPr txBox="1"/>
          <p:nvPr/>
        </p:nvSpPr>
        <p:spPr>
          <a:xfrm>
            <a:off x="5454285" y="1521231"/>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PR</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EF62A104-277F-AB7A-237C-0C9376DBDF5F}"/>
              </a:ext>
            </a:extLst>
          </p:cNvPr>
          <p:cNvSpPr/>
          <p:nvPr/>
        </p:nvSpPr>
        <p:spPr>
          <a:xfrm>
            <a:off x="2555776" y="2254885"/>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22" name="椭圆 21">
            <a:extLst>
              <a:ext uri="{FF2B5EF4-FFF2-40B4-BE49-F238E27FC236}">
                <a16:creationId xmlns:a16="http://schemas.microsoft.com/office/drawing/2014/main" id="{300A5AFC-470B-4B1A-F0C5-A03F9C22FC87}"/>
              </a:ext>
            </a:extLst>
          </p:cNvPr>
          <p:cNvSpPr/>
          <p:nvPr/>
        </p:nvSpPr>
        <p:spPr>
          <a:xfrm>
            <a:off x="3491880" y="2406537"/>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23" name="矩形 22">
            <a:extLst>
              <a:ext uri="{FF2B5EF4-FFF2-40B4-BE49-F238E27FC236}">
                <a16:creationId xmlns:a16="http://schemas.microsoft.com/office/drawing/2014/main" id="{550360D6-6050-F102-37EC-C069ADB0EE72}"/>
              </a:ext>
            </a:extLst>
          </p:cNvPr>
          <p:cNvSpPr/>
          <p:nvPr/>
        </p:nvSpPr>
        <p:spPr>
          <a:xfrm>
            <a:off x="4499992" y="2254885"/>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a:extLst>
              <a:ext uri="{FF2B5EF4-FFF2-40B4-BE49-F238E27FC236}">
                <a16:creationId xmlns:a16="http://schemas.microsoft.com/office/drawing/2014/main" id="{46C7737B-00FC-E89F-52EF-2809B8027A1F}"/>
              </a:ext>
            </a:extLst>
          </p:cNvPr>
          <p:cNvSpPr/>
          <p:nvPr/>
        </p:nvSpPr>
        <p:spPr>
          <a:xfrm>
            <a:off x="6516216" y="2254885"/>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25" name="椭圆 24">
            <a:extLst>
              <a:ext uri="{FF2B5EF4-FFF2-40B4-BE49-F238E27FC236}">
                <a16:creationId xmlns:a16="http://schemas.microsoft.com/office/drawing/2014/main" id="{66D427D9-ED4B-14EF-9E74-F068619ADB66}"/>
              </a:ext>
            </a:extLst>
          </p:cNvPr>
          <p:cNvSpPr/>
          <p:nvPr/>
        </p:nvSpPr>
        <p:spPr>
          <a:xfrm>
            <a:off x="5508104" y="2406537"/>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cxnSp>
        <p:nvCxnSpPr>
          <p:cNvPr id="26" name="直接箭头连接符 25">
            <a:extLst>
              <a:ext uri="{FF2B5EF4-FFF2-40B4-BE49-F238E27FC236}">
                <a16:creationId xmlns:a16="http://schemas.microsoft.com/office/drawing/2014/main" id="{5B49199C-0CFD-3C9B-CF94-69786E40E8E3}"/>
              </a:ext>
            </a:extLst>
          </p:cNvPr>
          <p:cNvCxnSpPr>
            <a:cxnSpLocks/>
          </p:cNvCxnSpPr>
          <p:nvPr/>
        </p:nvCxnSpPr>
        <p:spPr>
          <a:xfrm>
            <a:off x="2915816" y="2571750"/>
            <a:ext cx="576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F347DEE-0C00-E476-23D9-A4A77BB59FCC}"/>
              </a:ext>
            </a:extLst>
          </p:cNvPr>
          <p:cNvCxnSpPr>
            <a:cxnSpLocks/>
          </p:cNvCxnSpPr>
          <p:nvPr/>
        </p:nvCxnSpPr>
        <p:spPr>
          <a:xfrm>
            <a:off x="3851920" y="257175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4646912D-99D0-B4AB-B939-A9BE859E5D90}"/>
              </a:ext>
            </a:extLst>
          </p:cNvPr>
          <p:cNvCxnSpPr>
            <a:cxnSpLocks/>
          </p:cNvCxnSpPr>
          <p:nvPr/>
        </p:nvCxnSpPr>
        <p:spPr>
          <a:xfrm>
            <a:off x="4860032" y="257175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65F86D26-3969-3C2D-8218-697486AFDDD6}"/>
              </a:ext>
            </a:extLst>
          </p:cNvPr>
          <p:cNvCxnSpPr>
            <a:cxnSpLocks/>
          </p:cNvCxnSpPr>
          <p:nvPr/>
        </p:nvCxnSpPr>
        <p:spPr>
          <a:xfrm>
            <a:off x="5904216" y="257175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38ACAD0E-09D2-26B4-4162-D8F1BC6ED849}"/>
              </a:ext>
            </a:extLst>
          </p:cNvPr>
          <p:cNvCxnSpPr>
            <a:endCxn id="22" idx="4"/>
          </p:cNvCxnSpPr>
          <p:nvPr/>
        </p:nvCxnSpPr>
        <p:spPr>
          <a:xfrm flipH="1" flipV="1">
            <a:off x="3671900" y="2758941"/>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61E5C7F5-E795-746E-EF7B-FC3A5FE5BC0D}"/>
              </a:ext>
            </a:extLst>
          </p:cNvPr>
          <p:cNvCxnSpPr/>
          <p:nvPr/>
        </p:nvCxnSpPr>
        <p:spPr>
          <a:xfrm flipH="1" flipV="1">
            <a:off x="5700632" y="2758941"/>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0B623132-F258-C362-D89E-236BD82AB1E5}"/>
              </a:ext>
            </a:extLst>
          </p:cNvPr>
          <p:cNvSpPr txBox="1"/>
          <p:nvPr/>
        </p:nvSpPr>
        <p:spPr>
          <a:xfrm>
            <a:off x="3383868" y="2891140"/>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PR</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7BA3307F-CAF4-A104-58C4-9BB5EEE32EAD}"/>
              </a:ext>
            </a:extLst>
          </p:cNvPr>
          <p:cNvSpPr txBox="1"/>
          <p:nvPr/>
        </p:nvSpPr>
        <p:spPr>
          <a:xfrm>
            <a:off x="4231979" y="2891140"/>
            <a:ext cx="856456"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a:t>
            </a:r>
            <a:r>
              <a:rPr lang="en-US" altLang="zh-CN" sz="1400" dirty="0" err="1">
                <a:latin typeface="Times New Roman" panose="02020603050405020304" pitchFamily="18" charset="0"/>
                <a:cs typeface="Times New Roman" panose="02020603050405020304" pitchFamily="18" charset="0"/>
              </a:rPr>
              <a:t>PR</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262FFCC5-4629-0421-4842-611605E7DD90}"/>
              </a:ext>
            </a:extLst>
          </p:cNvPr>
          <p:cNvSpPr txBox="1"/>
          <p:nvPr/>
        </p:nvSpPr>
        <p:spPr>
          <a:xfrm>
            <a:off x="5454285" y="2879530"/>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PU</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43C014D7-8DDF-5787-16A7-588D11110048}"/>
              </a:ext>
            </a:extLst>
          </p:cNvPr>
          <p:cNvSpPr/>
          <p:nvPr/>
        </p:nvSpPr>
        <p:spPr>
          <a:xfrm>
            <a:off x="586456" y="3706073"/>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36" name="椭圆 35">
            <a:extLst>
              <a:ext uri="{FF2B5EF4-FFF2-40B4-BE49-F238E27FC236}">
                <a16:creationId xmlns:a16="http://schemas.microsoft.com/office/drawing/2014/main" id="{29EDB29B-A885-F4DA-5A95-988A867E4AB7}"/>
              </a:ext>
            </a:extLst>
          </p:cNvPr>
          <p:cNvSpPr/>
          <p:nvPr/>
        </p:nvSpPr>
        <p:spPr>
          <a:xfrm>
            <a:off x="1522560" y="3857725"/>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37" name="矩形 36">
            <a:extLst>
              <a:ext uri="{FF2B5EF4-FFF2-40B4-BE49-F238E27FC236}">
                <a16:creationId xmlns:a16="http://schemas.microsoft.com/office/drawing/2014/main" id="{31743D39-E89E-1A3A-8DF7-DD7F33322067}"/>
              </a:ext>
            </a:extLst>
          </p:cNvPr>
          <p:cNvSpPr/>
          <p:nvPr/>
        </p:nvSpPr>
        <p:spPr>
          <a:xfrm>
            <a:off x="2530672" y="3706073"/>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37">
            <a:extLst>
              <a:ext uri="{FF2B5EF4-FFF2-40B4-BE49-F238E27FC236}">
                <a16:creationId xmlns:a16="http://schemas.microsoft.com/office/drawing/2014/main" id="{4B67A027-B7EF-F382-51E4-006918E1C219}"/>
              </a:ext>
            </a:extLst>
          </p:cNvPr>
          <p:cNvSpPr/>
          <p:nvPr/>
        </p:nvSpPr>
        <p:spPr>
          <a:xfrm>
            <a:off x="8584039" y="3734891"/>
            <a:ext cx="360040" cy="633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39" name="椭圆 38">
            <a:extLst>
              <a:ext uri="{FF2B5EF4-FFF2-40B4-BE49-F238E27FC236}">
                <a16:creationId xmlns:a16="http://schemas.microsoft.com/office/drawing/2014/main" id="{1A96C5AB-54E5-1672-96B8-76A34F8C4E09}"/>
              </a:ext>
            </a:extLst>
          </p:cNvPr>
          <p:cNvSpPr/>
          <p:nvPr/>
        </p:nvSpPr>
        <p:spPr>
          <a:xfrm>
            <a:off x="5508104" y="3875554"/>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cxnSp>
        <p:nvCxnSpPr>
          <p:cNvPr id="40" name="直接箭头连接符 39">
            <a:extLst>
              <a:ext uri="{FF2B5EF4-FFF2-40B4-BE49-F238E27FC236}">
                <a16:creationId xmlns:a16="http://schemas.microsoft.com/office/drawing/2014/main" id="{BA6775E1-1ED9-AC57-B1C5-22A82D2B4C90}"/>
              </a:ext>
            </a:extLst>
          </p:cNvPr>
          <p:cNvCxnSpPr>
            <a:cxnSpLocks/>
          </p:cNvCxnSpPr>
          <p:nvPr/>
        </p:nvCxnSpPr>
        <p:spPr>
          <a:xfrm>
            <a:off x="946496" y="4022938"/>
            <a:ext cx="576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51388474-BF49-2026-A5B4-034C651779D3}"/>
              </a:ext>
            </a:extLst>
          </p:cNvPr>
          <p:cNvCxnSpPr>
            <a:cxnSpLocks/>
          </p:cNvCxnSpPr>
          <p:nvPr/>
        </p:nvCxnSpPr>
        <p:spPr>
          <a:xfrm>
            <a:off x="1882600" y="4022938"/>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C0A4CEBD-2243-9AD2-EE74-76CDFE69F53E}"/>
              </a:ext>
            </a:extLst>
          </p:cNvPr>
          <p:cNvCxnSpPr>
            <a:cxnSpLocks/>
          </p:cNvCxnSpPr>
          <p:nvPr/>
        </p:nvCxnSpPr>
        <p:spPr>
          <a:xfrm>
            <a:off x="4860032" y="4040767"/>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A059B9B5-7395-320D-987F-8B966523F8EB}"/>
              </a:ext>
            </a:extLst>
          </p:cNvPr>
          <p:cNvCxnSpPr>
            <a:cxnSpLocks/>
          </p:cNvCxnSpPr>
          <p:nvPr/>
        </p:nvCxnSpPr>
        <p:spPr>
          <a:xfrm>
            <a:off x="5904216" y="4040767"/>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ACA19431-98A9-1D16-D0DD-FE225C5C60B4}"/>
              </a:ext>
            </a:extLst>
          </p:cNvPr>
          <p:cNvCxnSpPr>
            <a:endCxn id="36" idx="4"/>
          </p:cNvCxnSpPr>
          <p:nvPr/>
        </p:nvCxnSpPr>
        <p:spPr>
          <a:xfrm flipH="1" flipV="1">
            <a:off x="1702580" y="4210129"/>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AA227636-4C8A-9F77-6175-5930DF11817D}"/>
              </a:ext>
            </a:extLst>
          </p:cNvPr>
          <p:cNvCxnSpPr/>
          <p:nvPr/>
        </p:nvCxnSpPr>
        <p:spPr>
          <a:xfrm flipH="1" flipV="1">
            <a:off x="5700632" y="4227958"/>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DDBAE8B8-2A81-67D2-26B7-AC3E5CF6A3CB}"/>
              </a:ext>
            </a:extLst>
          </p:cNvPr>
          <p:cNvSpPr txBox="1"/>
          <p:nvPr/>
        </p:nvSpPr>
        <p:spPr>
          <a:xfrm>
            <a:off x="1414548" y="4342328"/>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PR</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13A77D56-E150-1A39-051C-5AA287C68487}"/>
              </a:ext>
            </a:extLst>
          </p:cNvPr>
          <p:cNvSpPr txBox="1"/>
          <p:nvPr/>
        </p:nvSpPr>
        <p:spPr>
          <a:xfrm>
            <a:off x="2262659" y="4342328"/>
            <a:ext cx="856456"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a:t>
            </a:r>
            <a:r>
              <a:rPr lang="en-US" altLang="zh-CN" sz="1400" dirty="0" err="1">
                <a:latin typeface="Times New Roman" panose="02020603050405020304" pitchFamily="18" charset="0"/>
                <a:cs typeface="Times New Roman" panose="02020603050405020304" pitchFamily="18" charset="0"/>
              </a:rPr>
              <a:t>PR</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C9541FCD-0AD0-0160-23D1-EEEE4110A9D4}"/>
              </a:ext>
            </a:extLst>
          </p:cNvPr>
          <p:cNvSpPr txBox="1"/>
          <p:nvPr/>
        </p:nvSpPr>
        <p:spPr>
          <a:xfrm>
            <a:off x="5454285" y="4342328"/>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PR</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42B36D5D-40A1-8F07-00CD-7AEBF257B5BC}"/>
              </a:ext>
            </a:extLst>
          </p:cNvPr>
          <p:cNvCxnSpPr>
            <a:cxnSpLocks/>
          </p:cNvCxnSpPr>
          <p:nvPr/>
        </p:nvCxnSpPr>
        <p:spPr>
          <a:xfrm>
            <a:off x="2890712" y="4022938"/>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51055794-DCD3-5C74-73FB-E21246EAF6D9}"/>
              </a:ext>
            </a:extLst>
          </p:cNvPr>
          <p:cNvSpPr/>
          <p:nvPr/>
        </p:nvSpPr>
        <p:spPr>
          <a:xfrm>
            <a:off x="3496148" y="3846736"/>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cxnSp>
        <p:nvCxnSpPr>
          <p:cNvPr id="53" name="直接箭头连接符 52">
            <a:extLst>
              <a:ext uri="{FF2B5EF4-FFF2-40B4-BE49-F238E27FC236}">
                <a16:creationId xmlns:a16="http://schemas.microsoft.com/office/drawing/2014/main" id="{249F8318-2F91-7851-82E6-E8470E8EF1DD}"/>
              </a:ext>
            </a:extLst>
          </p:cNvPr>
          <p:cNvCxnSpPr/>
          <p:nvPr/>
        </p:nvCxnSpPr>
        <p:spPr>
          <a:xfrm flipH="1" flipV="1">
            <a:off x="3671900" y="4199140"/>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7D14A0BB-4B5D-AA3F-74B1-87070B7F5108}"/>
              </a:ext>
            </a:extLst>
          </p:cNvPr>
          <p:cNvSpPr txBox="1"/>
          <p:nvPr/>
        </p:nvSpPr>
        <p:spPr>
          <a:xfrm>
            <a:off x="3383868" y="4342328"/>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PU</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
        <p:nvSpPr>
          <p:cNvPr id="55" name="矩形 54">
            <a:extLst>
              <a:ext uri="{FF2B5EF4-FFF2-40B4-BE49-F238E27FC236}">
                <a16:creationId xmlns:a16="http://schemas.microsoft.com/office/drawing/2014/main" id="{B82B8FC6-EFBF-D037-E7B1-14EC2466CF65}"/>
              </a:ext>
            </a:extLst>
          </p:cNvPr>
          <p:cNvSpPr/>
          <p:nvPr/>
        </p:nvSpPr>
        <p:spPr>
          <a:xfrm>
            <a:off x="4483725" y="3706073"/>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文本框 55">
            <a:extLst>
              <a:ext uri="{FF2B5EF4-FFF2-40B4-BE49-F238E27FC236}">
                <a16:creationId xmlns:a16="http://schemas.microsoft.com/office/drawing/2014/main" id="{5B3A15F2-01DB-EB61-43DF-8C804AD16C91}"/>
              </a:ext>
            </a:extLst>
          </p:cNvPr>
          <p:cNvSpPr txBox="1"/>
          <p:nvPr/>
        </p:nvSpPr>
        <p:spPr>
          <a:xfrm>
            <a:off x="3845004" y="4342328"/>
            <a:ext cx="159109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E(PU</a:t>
            </a:r>
            <a:r>
              <a:rPr lang="en-US" altLang="zh-CN" sz="1400" baseline="-25000" dirty="0">
                <a:latin typeface="Times New Roman" panose="02020603050405020304" pitchFamily="18" charset="0"/>
                <a:cs typeface="Times New Roman" panose="02020603050405020304" pitchFamily="18" charset="0"/>
              </a:rPr>
              <a:t>b</a:t>
            </a:r>
            <a:r>
              <a:rPr lang="en-US" altLang="zh-CN" sz="1400" dirty="0">
                <a:latin typeface="Times New Roman" panose="02020603050405020304" pitchFamily="18" charset="0"/>
                <a:cs typeface="Times New Roman" panose="02020603050405020304" pitchFamily="18" charset="0"/>
              </a:rPr>
              <a:t>, E(</a:t>
            </a:r>
            <a:r>
              <a:rPr lang="en-US" altLang="zh-CN" sz="1400" dirty="0" err="1">
                <a:latin typeface="Times New Roman" panose="02020603050405020304" pitchFamily="18" charset="0"/>
                <a:cs typeface="Times New Roman" panose="02020603050405020304" pitchFamily="18" charset="0"/>
              </a:rPr>
              <a:t>PR</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cxnSp>
        <p:nvCxnSpPr>
          <p:cNvPr id="57" name="直接箭头连接符 56">
            <a:extLst>
              <a:ext uri="{FF2B5EF4-FFF2-40B4-BE49-F238E27FC236}">
                <a16:creationId xmlns:a16="http://schemas.microsoft.com/office/drawing/2014/main" id="{65CD58BE-C4FC-48A2-A114-F4475944F0F7}"/>
              </a:ext>
            </a:extLst>
          </p:cNvPr>
          <p:cNvCxnSpPr>
            <a:cxnSpLocks/>
          </p:cNvCxnSpPr>
          <p:nvPr/>
        </p:nvCxnSpPr>
        <p:spPr>
          <a:xfrm>
            <a:off x="3851920" y="4020352"/>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3C8525B2-9E52-46D6-9144-C0ED061AC02C}"/>
              </a:ext>
            </a:extLst>
          </p:cNvPr>
          <p:cNvSpPr/>
          <p:nvPr/>
        </p:nvSpPr>
        <p:spPr>
          <a:xfrm>
            <a:off x="6549483" y="3703548"/>
            <a:ext cx="360040" cy="633730"/>
          </a:xfrm>
          <a:prstGeom prst="rect">
            <a:avLst/>
          </a:prstGeom>
          <a:solidFill>
            <a:srgbClr val="DB7F23"/>
          </a:solidFill>
          <a:ln>
            <a:solidFill>
              <a:srgbClr val="E55D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文本框 58">
            <a:extLst>
              <a:ext uri="{FF2B5EF4-FFF2-40B4-BE49-F238E27FC236}">
                <a16:creationId xmlns:a16="http://schemas.microsoft.com/office/drawing/2014/main" id="{7D080066-5230-9B66-39A9-B1AA59D511E0}"/>
              </a:ext>
            </a:extLst>
          </p:cNvPr>
          <p:cNvSpPr txBox="1"/>
          <p:nvPr/>
        </p:nvSpPr>
        <p:spPr>
          <a:xfrm>
            <a:off x="6281470" y="4339803"/>
            <a:ext cx="856456"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E(</a:t>
            </a:r>
            <a:r>
              <a:rPr lang="en-US" altLang="zh-CN" sz="1400" dirty="0" err="1">
                <a:latin typeface="Times New Roman" panose="02020603050405020304" pitchFamily="18" charset="0"/>
                <a:cs typeface="Times New Roman" panose="02020603050405020304" pitchFamily="18" charset="0"/>
              </a:rPr>
              <a:t>PR</a:t>
            </a:r>
            <a:r>
              <a:rPr lang="en-US" altLang="zh-CN" sz="1400" baseline="-25000" dirty="0" err="1">
                <a:latin typeface="Times New Roman" panose="02020603050405020304" pitchFamily="18" charset="0"/>
                <a:cs typeface="Times New Roman" panose="02020603050405020304" pitchFamily="18" charset="0"/>
              </a:rPr>
              <a:t>b</a:t>
            </a:r>
            <a:r>
              <a:rPr lang="en-US" altLang="zh-CN" sz="1400" dirty="0" err="1">
                <a:latin typeface="Times New Roman" panose="02020603050405020304" pitchFamily="18" charset="0"/>
                <a:cs typeface="Times New Roman" panose="02020603050405020304" pitchFamily="18" charset="0"/>
              </a:rPr>
              <a:t>,M</a:t>
            </a:r>
            <a:r>
              <a:rPr lang="en-US"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60" name="椭圆 59">
            <a:extLst>
              <a:ext uri="{FF2B5EF4-FFF2-40B4-BE49-F238E27FC236}">
                <a16:creationId xmlns:a16="http://schemas.microsoft.com/office/drawing/2014/main" id="{4AD31BB5-3785-05A0-0A80-9AC401D9047C}"/>
              </a:ext>
            </a:extLst>
          </p:cNvPr>
          <p:cNvSpPr/>
          <p:nvPr/>
        </p:nvSpPr>
        <p:spPr>
          <a:xfrm>
            <a:off x="7578235" y="3876197"/>
            <a:ext cx="360040" cy="352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cxnSp>
        <p:nvCxnSpPr>
          <p:cNvPr id="61" name="直接箭头连接符 60">
            <a:extLst>
              <a:ext uri="{FF2B5EF4-FFF2-40B4-BE49-F238E27FC236}">
                <a16:creationId xmlns:a16="http://schemas.microsoft.com/office/drawing/2014/main" id="{28CAC020-56F0-E366-AFF0-FB3FD7256095}"/>
              </a:ext>
            </a:extLst>
          </p:cNvPr>
          <p:cNvCxnSpPr>
            <a:cxnSpLocks/>
          </p:cNvCxnSpPr>
          <p:nvPr/>
        </p:nvCxnSpPr>
        <p:spPr>
          <a:xfrm>
            <a:off x="6930163" y="404141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E7CC89DB-2513-A817-7249-DBD4525369E2}"/>
              </a:ext>
            </a:extLst>
          </p:cNvPr>
          <p:cNvCxnSpPr>
            <a:cxnSpLocks/>
          </p:cNvCxnSpPr>
          <p:nvPr/>
        </p:nvCxnSpPr>
        <p:spPr>
          <a:xfrm>
            <a:off x="7974347" y="404141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E2B45173-709B-93C8-AB00-2BA57642EDF4}"/>
              </a:ext>
            </a:extLst>
          </p:cNvPr>
          <p:cNvCxnSpPr/>
          <p:nvPr/>
        </p:nvCxnSpPr>
        <p:spPr>
          <a:xfrm flipH="1" flipV="1">
            <a:off x="7779048" y="4245333"/>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31230868-E0AE-5AE7-1D2B-08567416E27D}"/>
              </a:ext>
            </a:extLst>
          </p:cNvPr>
          <p:cNvSpPr txBox="1"/>
          <p:nvPr/>
        </p:nvSpPr>
        <p:spPr>
          <a:xfrm>
            <a:off x="7532701" y="4359703"/>
            <a:ext cx="648072" cy="307777"/>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PU</a:t>
            </a:r>
            <a:r>
              <a:rPr lang="en-US" altLang="zh-CN" sz="1400" baseline="-25000" dirty="0">
                <a:latin typeface="Times New Roman" panose="02020603050405020304" pitchFamily="18" charset="0"/>
                <a:cs typeface="Times New Roman" panose="02020603050405020304" pitchFamily="18" charset="0"/>
              </a:rPr>
              <a:t>b</a:t>
            </a:r>
            <a:endParaRPr lang="zh-CN" altLang="en-US" sz="1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3315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基于消息认证码</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(MAC)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的认证</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aphicFrame>
        <p:nvGraphicFramePr>
          <p:cNvPr id="6" name="对象 14">
            <a:extLst>
              <a:ext uri="{FF2B5EF4-FFF2-40B4-BE49-F238E27FC236}">
                <a16:creationId xmlns:a16="http://schemas.microsoft.com/office/drawing/2014/main" id="{C6226A83-6467-439D-B463-3B6F4178169B}"/>
              </a:ext>
            </a:extLst>
          </p:cNvPr>
          <p:cNvGraphicFramePr>
            <a:graphicFrameLocks noChangeAspect="1"/>
          </p:cNvGraphicFramePr>
          <p:nvPr>
            <p:extLst>
              <p:ext uri="{D42A27DB-BD31-4B8C-83A1-F6EECF244321}">
                <p14:modId xmlns:p14="http://schemas.microsoft.com/office/powerpoint/2010/main" val="832244257"/>
              </p:ext>
            </p:extLst>
          </p:nvPr>
        </p:nvGraphicFramePr>
        <p:xfrm>
          <a:off x="2591778" y="1491630"/>
          <a:ext cx="3943061" cy="1840981"/>
        </p:xfrm>
        <a:graphic>
          <a:graphicData uri="http://schemas.openxmlformats.org/presentationml/2006/ole">
            <mc:AlternateContent xmlns:mc="http://schemas.openxmlformats.org/markup-compatibility/2006">
              <mc:Choice xmlns:v="urn:schemas-microsoft-com:vml" Requires="v">
                <p:oleObj name="Visio" r:id="rId3" imgW="3124099" imgH="1454082" progId="Visio.Drawing.11">
                  <p:embed/>
                </p:oleObj>
              </mc:Choice>
              <mc:Fallback>
                <p:oleObj name="Visio" r:id="rId3" imgW="3124099" imgH="1454082" progId="Visio.Drawing.11">
                  <p:embed/>
                  <p:pic>
                    <p:nvPicPr>
                      <p:cNvPr id="6" name="对象 14">
                        <a:extLst>
                          <a:ext uri="{FF2B5EF4-FFF2-40B4-BE49-F238E27FC236}">
                            <a16:creationId xmlns:a16="http://schemas.microsoft.com/office/drawing/2014/main" id="{C6226A83-6467-439D-B463-3B6F4178169B}"/>
                          </a:ext>
                        </a:extLst>
                      </p:cNvPr>
                      <p:cNvPicPr/>
                      <p:nvPr/>
                    </p:nvPicPr>
                    <p:blipFill>
                      <a:blip r:embed="rId4"/>
                      <a:stretch>
                        <a:fillRect/>
                      </a:stretch>
                    </p:blipFill>
                    <p:spPr>
                      <a:xfrm>
                        <a:off x="2591778" y="1491630"/>
                        <a:ext cx="3943061" cy="1840981"/>
                      </a:xfrm>
                      <a:prstGeom prst="rect">
                        <a:avLst/>
                      </a:prstGeom>
                      <a:noFill/>
                      <a:ln w="38100">
                        <a:noFill/>
                        <a:miter/>
                      </a:ln>
                    </p:spPr>
                  </p:pic>
                </p:oleObj>
              </mc:Fallback>
            </mc:AlternateContent>
          </a:graphicData>
        </a:graphic>
      </p:graphicFrame>
      <p:sp>
        <p:nvSpPr>
          <p:cNvPr id="8" name="文本框 7">
            <a:extLst>
              <a:ext uri="{FF2B5EF4-FFF2-40B4-BE49-F238E27FC236}">
                <a16:creationId xmlns:a16="http://schemas.microsoft.com/office/drawing/2014/main" id="{ACCC9D5B-D877-4154-B831-E4C3394EFB71}"/>
              </a:ext>
            </a:extLst>
          </p:cNvPr>
          <p:cNvSpPr txBox="1"/>
          <p:nvPr/>
        </p:nvSpPr>
        <p:spPr>
          <a:xfrm>
            <a:off x="611559" y="3173388"/>
            <a:ext cx="7903501" cy="1658596"/>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消息认证码</a:t>
            </a:r>
            <a:endPar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消息认证码是消息和密钥的公开函数，它产生定长的值，以该值作为认证符，并将其附加在消息之后。</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MAC = C(K , M)</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是输入消息；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函数；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是共享密钥；</a:t>
            </a:r>
            <a:endPar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8405715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15D88D2D-488D-F2A1-A1CF-053431BCE6E5}"/>
              </a:ext>
            </a:extLst>
          </p:cNvPr>
          <p:cNvSpPr txBox="1"/>
          <p:nvPr/>
        </p:nvSpPr>
        <p:spPr>
          <a:xfrm>
            <a:off x="2329667" y="1829700"/>
            <a:ext cx="269626" cy="276999"/>
          </a:xfrm>
          <a:prstGeom prst="rect">
            <a:avLst/>
          </a:prstGeom>
          <a:noFill/>
        </p:spPr>
        <p:txBody>
          <a:bodyPr wrap="none" rtlCol="0">
            <a:spAutoFit/>
          </a:bodyPr>
          <a:lstStyle/>
          <a:p>
            <a:r>
              <a:rPr lang="en-US" altLang="zh-CN" sz="1200" b="1" i="1" dirty="0"/>
              <a:t>K</a:t>
            </a:r>
            <a:endParaRPr lang="zh-CN" altLang="en-US" sz="1200" b="1" i="1" dirty="0"/>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
        <p:nvSpPr>
          <p:cNvPr id="8" name="文本框 7">
            <a:extLst>
              <a:ext uri="{FF2B5EF4-FFF2-40B4-BE49-F238E27FC236}">
                <a16:creationId xmlns:a16="http://schemas.microsoft.com/office/drawing/2014/main" id="{ACCC9D5B-D877-4154-B831-E4C3394EFB71}"/>
              </a:ext>
            </a:extLst>
          </p:cNvPr>
          <p:cNvSpPr txBox="1"/>
          <p:nvPr/>
        </p:nvSpPr>
        <p:spPr>
          <a:xfrm>
            <a:off x="611559" y="843558"/>
            <a:ext cx="7903501" cy="417165"/>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n"/>
            </a:pPr>
            <a:r>
              <a:rPr lang="pt-BR"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MAC</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rPr>
              <a:t>有以下三种基本模式</a:t>
            </a:r>
            <a:endPar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50D0C195-B078-DD07-A135-572A6E775505}"/>
              </a:ext>
            </a:extLst>
          </p:cNvPr>
          <p:cNvSpPr/>
          <p:nvPr/>
        </p:nvSpPr>
        <p:spPr>
          <a:xfrm>
            <a:off x="1627774" y="1545441"/>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685AF7FF-E667-5D44-F32E-ED4469B3526F}"/>
              </a:ext>
            </a:extLst>
          </p:cNvPr>
          <p:cNvSpPr/>
          <p:nvPr/>
        </p:nvSpPr>
        <p:spPr>
          <a:xfrm>
            <a:off x="1645491" y="2612243"/>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AB47400A-DD66-D230-FC4A-E7F70A9B849C}"/>
              </a:ext>
            </a:extLst>
          </p:cNvPr>
          <p:cNvSpPr/>
          <p:nvPr/>
        </p:nvSpPr>
        <p:spPr>
          <a:xfrm>
            <a:off x="1645491" y="3939902"/>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9" name="矩形: 圆角 8">
            <a:extLst>
              <a:ext uri="{FF2B5EF4-FFF2-40B4-BE49-F238E27FC236}">
                <a16:creationId xmlns:a16="http://schemas.microsoft.com/office/drawing/2014/main" id="{487FE364-8CD1-AE28-F3A1-495CB76E7BB4}"/>
              </a:ext>
            </a:extLst>
          </p:cNvPr>
          <p:cNvSpPr/>
          <p:nvPr/>
        </p:nvSpPr>
        <p:spPr>
          <a:xfrm>
            <a:off x="2356263" y="2203047"/>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0" name="矩形: 圆角 9">
            <a:extLst>
              <a:ext uri="{FF2B5EF4-FFF2-40B4-BE49-F238E27FC236}">
                <a16:creationId xmlns:a16="http://schemas.microsoft.com/office/drawing/2014/main" id="{F9EC8514-3E2D-AE02-C161-6A3AE0C7D3F9}"/>
              </a:ext>
            </a:extLst>
          </p:cNvPr>
          <p:cNvSpPr/>
          <p:nvPr/>
        </p:nvSpPr>
        <p:spPr>
          <a:xfrm>
            <a:off x="2356263" y="3279436"/>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1" name="矩形: 圆角 10">
            <a:extLst>
              <a:ext uri="{FF2B5EF4-FFF2-40B4-BE49-F238E27FC236}">
                <a16:creationId xmlns:a16="http://schemas.microsoft.com/office/drawing/2014/main" id="{DC863F52-0C19-B4A8-6B0B-3B65F0E4E06A}"/>
              </a:ext>
            </a:extLst>
          </p:cNvPr>
          <p:cNvSpPr/>
          <p:nvPr/>
        </p:nvSpPr>
        <p:spPr>
          <a:xfrm>
            <a:off x="2699792" y="4587974"/>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2" name="矩形: 圆角 11">
            <a:extLst>
              <a:ext uri="{FF2B5EF4-FFF2-40B4-BE49-F238E27FC236}">
                <a16:creationId xmlns:a16="http://schemas.microsoft.com/office/drawing/2014/main" id="{F8B1BF76-D013-5EDB-CB68-9ECB0C9D3DF2}"/>
              </a:ext>
            </a:extLst>
          </p:cNvPr>
          <p:cNvSpPr/>
          <p:nvPr/>
        </p:nvSpPr>
        <p:spPr>
          <a:xfrm>
            <a:off x="3465153" y="2666709"/>
            <a:ext cx="216024" cy="184787"/>
          </a:xfrm>
          <a:prstGeom prst="roundRect">
            <a:avLst/>
          </a:prstGeom>
          <a:solidFill>
            <a:srgbClr val="DB7F23"/>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E</a:t>
            </a:r>
            <a:endParaRPr lang="zh-CN" altLang="en-US" sz="1200" dirty="0">
              <a:solidFill>
                <a:schemeClr val="bg1"/>
              </a:solidFill>
            </a:endParaRPr>
          </a:p>
        </p:txBody>
      </p:sp>
      <p:sp>
        <p:nvSpPr>
          <p:cNvPr id="13" name="矩形: 圆角 12">
            <a:extLst>
              <a:ext uri="{FF2B5EF4-FFF2-40B4-BE49-F238E27FC236}">
                <a16:creationId xmlns:a16="http://schemas.microsoft.com/office/drawing/2014/main" id="{DEB11B8C-69B8-F13C-A690-CD51A2BC6522}"/>
              </a:ext>
            </a:extLst>
          </p:cNvPr>
          <p:cNvSpPr/>
          <p:nvPr/>
        </p:nvSpPr>
        <p:spPr>
          <a:xfrm>
            <a:off x="5032815" y="2666709"/>
            <a:ext cx="216024" cy="184787"/>
          </a:xfrm>
          <a:prstGeom prst="roundRect">
            <a:avLst/>
          </a:prstGeom>
          <a:solidFill>
            <a:srgbClr val="00B050"/>
          </a:solidFill>
          <a:ln w="127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D</a:t>
            </a:r>
            <a:endParaRPr lang="zh-CN" altLang="en-US" sz="1200" dirty="0">
              <a:solidFill>
                <a:schemeClr val="bg1"/>
              </a:solidFill>
            </a:endParaRPr>
          </a:p>
        </p:txBody>
      </p:sp>
      <p:sp>
        <p:nvSpPr>
          <p:cNvPr id="14" name="矩形: 圆角 13">
            <a:extLst>
              <a:ext uri="{FF2B5EF4-FFF2-40B4-BE49-F238E27FC236}">
                <a16:creationId xmlns:a16="http://schemas.microsoft.com/office/drawing/2014/main" id="{339A5C95-2EC6-80A8-5861-1891AE2E88A0}"/>
              </a:ext>
            </a:extLst>
          </p:cNvPr>
          <p:cNvSpPr/>
          <p:nvPr/>
        </p:nvSpPr>
        <p:spPr>
          <a:xfrm>
            <a:off x="6084168" y="3917115"/>
            <a:ext cx="216024" cy="184787"/>
          </a:xfrm>
          <a:prstGeom prst="roundRect">
            <a:avLst/>
          </a:prstGeom>
          <a:solidFill>
            <a:srgbClr val="00B050"/>
          </a:solidFill>
          <a:ln w="127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D</a:t>
            </a:r>
            <a:endParaRPr lang="zh-CN" altLang="en-US" sz="1200" dirty="0">
              <a:solidFill>
                <a:schemeClr val="bg1"/>
              </a:solidFill>
            </a:endParaRPr>
          </a:p>
        </p:txBody>
      </p:sp>
      <p:sp>
        <p:nvSpPr>
          <p:cNvPr id="15" name="矩形: 圆角 14">
            <a:extLst>
              <a:ext uri="{FF2B5EF4-FFF2-40B4-BE49-F238E27FC236}">
                <a16:creationId xmlns:a16="http://schemas.microsoft.com/office/drawing/2014/main" id="{B79CD717-C74C-C7BD-E20C-68870FBB0EB5}"/>
              </a:ext>
            </a:extLst>
          </p:cNvPr>
          <p:cNvSpPr/>
          <p:nvPr/>
        </p:nvSpPr>
        <p:spPr>
          <a:xfrm>
            <a:off x="6098551" y="2610891"/>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6" name="矩形: 圆角 15">
            <a:extLst>
              <a:ext uri="{FF2B5EF4-FFF2-40B4-BE49-F238E27FC236}">
                <a16:creationId xmlns:a16="http://schemas.microsoft.com/office/drawing/2014/main" id="{8A61A248-D360-FEE7-3530-E2AEAE1C6DF9}"/>
              </a:ext>
            </a:extLst>
          </p:cNvPr>
          <p:cNvSpPr/>
          <p:nvPr/>
        </p:nvSpPr>
        <p:spPr>
          <a:xfrm>
            <a:off x="5140827" y="1522654"/>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7" name="矩形: 圆角 16">
            <a:extLst>
              <a:ext uri="{FF2B5EF4-FFF2-40B4-BE49-F238E27FC236}">
                <a16:creationId xmlns:a16="http://schemas.microsoft.com/office/drawing/2014/main" id="{4DC12C17-B454-E947-4031-EBF45B21E874}"/>
              </a:ext>
            </a:extLst>
          </p:cNvPr>
          <p:cNvSpPr/>
          <p:nvPr/>
        </p:nvSpPr>
        <p:spPr>
          <a:xfrm>
            <a:off x="5140827" y="4076790"/>
            <a:ext cx="216024" cy="184787"/>
          </a:xfrm>
          <a:prstGeom prst="roundRect">
            <a:avLst/>
          </a:prstGeom>
          <a:solidFill>
            <a:srgbClr val="FFFF9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C</a:t>
            </a:r>
            <a:endParaRPr lang="zh-CN" altLang="en-US" sz="1200" dirty="0">
              <a:solidFill>
                <a:schemeClr val="tx1"/>
              </a:solidFill>
            </a:endParaRPr>
          </a:p>
        </p:txBody>
      </p:sp>
      <p:sp>
        <p:nvSpPr>
          <p:cNvPr id="18" name="矩形 17">
            <a:extLst>
              <a:ext uri="{FF2B5EF4-FFF2-40B4-BE49-F238E27FC236}">
                <a16:creationId xmlns:a16="http://schemas.microsoft.com/office/drawing/2014/main" id="{ECE8369E-8113-22C8-E20C-28D4A8B89303}"/>
              </a:ext>
            </a:extLst>
          </p:cNvPr>
          <p:cNvSpPr/>
          <p:nvPr/>
        </p:nvSpPr>
        <p:spPr>
          <a:xfrm>
            <a:off x="4260327" y="1545441"/>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2C7CA038-355C-F091-6B93-171B41FC8D3D}"/>
              </a:ext>
            </a:extLst>
          </p:cNvPr>
          <p:cNvSpPr/>
          <p:nvPr/>
        </p:nvSpPr>
        <p:spPr>
          <a:xfrm>
            <a:off x="4260327" y="1848906"/>
            <a:ext cx="252000" cy="123724"/>
          </a:xfrm>
          <a:prstGeom prst="rect">
            <a:avLst/>
          </a:prstGeom>
          <a:pattFill prst="smCheck">
            <a:fgClr>
              <a:srgbClr val="33CCCC"/>
            </a:fgClr>
            <a:bgClr>
              <a:schemeClr val="bg1"/>
            </a:bgClr>
          </a:patt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655226DB-8184-E776-4D82-DFCBEA4CD066}"/>
              </a:ext>
            </a:extLst>
          </p:cNvPr>
          <p:cNvSpPr/>
          <p:nvPr/>
        </p:nvSpPr>
        <p:spPr>
          <a:xfrm>
            <a:off x="4285115" y="2612243"/>
            <a:ext cx="227212" cy="454934"/>
          </a:xfrm>
          <a:prstGeom prst="rect">
            <a:avLst/>
          </a:prstGeom>
          <a:solidFill>
            <a:srgbClr val="88B0F5"/>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9A66797D-D1DF-D404-0A63-3EBEFA20F1C0}"/>
              </a:ext>
            </a:extLst>
          </p:cNvPr>
          <p:cNvSpPr/>
          <p:nvPr/>
        </p:nvSpPr>
        <p:spPr>
          <a:xfrm>
            <a:off x="4287510" y="3958112"/>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8B7E1BD2-2F5B-ACB8-755E-69BB8CCC1F7C}"/>
              </a:ext>
            </a:extLst>
          </p:cNvPr>
          <p:cNvSpPr/>
          <p:nvPr/>
        </p:nvSpPr>
        <p:spPr>
          <a:xfrm>
            <a:off x="4287510" y="4261577"/>
            <a:ext cx="252000" cy="123724"/>
          </a:xfrm>
          <a:prstGeom prst="rect">
            <a:avLst/>
          </a:prstGeom>
          <a:pattFill prst="smCheck">
            <a:fgClr>
              <a:srgbClr val="33CCCC"/>
            </a:fgClr>
            <a:bgClr>
              <a:schemeClr val="bg1"/>
            </a:bgClr>
          </a:patt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D0EB3E2B-3B9C-B8ED-7239-9701CC5FBBF5}"/>
              </a:ext>
            </a:extLst>
          </p:cNvPr>
          <p:cNvSpPr/>
          <p:nvPr/>
        </p:nvSpPr>
        <p:spPr>
          <a:xfrm>
            <a:off x="6516216" y="3939902"/>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id="{50F5BBBE-3C89-61F2-1598-62637FDF2FB1}"/>
              </a:ext>
            </a:extLst>
          </p:cNvPr>
          <p:cNvSpPr/>
          <p:nvPr/>
        </p:nvSpPr>
        <p:spPr>
          <a:xfrm>
            <a:off x="5479487" y="2612243"/>
            <a:ext cx="252000" cy="324000"/>
          </a:xfrm>
          <a:prstGeom prst="rect">
            <a:avLst/>
          </a:prstGeom>
          <a:solidFill>
            <a:srgbClr val="33CCCC"/>
          </a:solid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M</a:t>
            </a:r>
            <a:endParaRPr lang="zh-CN" altLang="en-US" sz="1400" dirty="0">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1E4D522C-3C26-784F-778B-C606F4015426}"/>
              </a:ext>
            </a:extLst>
          </p:cNvPr>
          <p:cNvSpPr/>
          <p:nvPr/>
        </p:nvSpPr>
        <p:spPr>
          <a:xfrm>
            <a:off x="5479487" y="2915708"/>
            <a:ext cx="252000" cy="123724"/>
          </a:xfrm>
          <a:prstGeom prst="rect">
            <a:avLst/>
          </a:prstGeom>
          <a:pattFill prst="smCheck">
            <a:fgClr>
              <a:srgbClr val="33CCCC"/>
            </a:fgClr>
            <a:bgClr>
              <a:schemeClr val="bg1"/>
            </a:bgClr>
          </a:pattFill>
          <a:ln w="127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sz="1400" dirty="0">
              <a:latin typeface="Times New Roman" panose="02020603050405020304" pitchFamily="18" charset="0"/>
              <a:cs typeface="Times New Roman" panose="02020603050405020304" pitchFamily="18" charset="0"/>
            </a:endParaRPr>
          </a:p>
        </p:txBody>
      </p:sp>
      <p:sp>
        <p:nvSpPr>
          <p:cNvPr id="26" name="椭圆 25">
            <a:extLst>
              <a:ext uri="{FF2B5EF4-FFF2-40B4-BE49-F238E27FC236}">
                <a16:creationId xmlns:a16="http://schemas.microsoft.com/office/drawing/2014/main" id="{BCF57277-5004-EA58-24EB-B64E71541DBB}"/>
              </a:ext>
            </a:extLst>
          </p:cNvPr>
          <p:cNvSpPr/>
          <p:nvPr/>
        </p:nvSpPr>
        <p:spPr>
          <a:xfrm>
            <a:off x="3035722" y="1626744"/>
            <a:ext cx="161395" cy="161395"/>
          </a:xfrm>
          <a:prstGeom prst="ellipse">
            <a:avLst/>
          </a:prstGeom>
          <a:solidFill>
            <a:srgbClr val="FFC0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dirty="0">
                <a:solidFill>
                  <a:schemeClr val="tx1"/>
                </a:solidFill>
              </a:rPr>
              <a:t>||</a:t>
            </a:r>
            <a:endParaRPr lang="zh-CN" altLang="en-US" sz="1000" dirty="0">
              <a:solidFill>
                <a:schemeClr val="tx1"/>
              </a:solidFill>
            </a:endParaRPr>
          </a:p>
        </p:txBody>
      </p:sp>
      <p:sp>
        <p:nvSpPr>
          <p:cNvPr id="31" name="椭圆 30">
            <a:extLst>
              <a:ext uri="{FF2B5EF4-FFF2-40B4-BE49-F238E27FC236}">
                <a16:creationId xmlns:a16="http://schemas.microsoft.com/office/drawing/2014/main" id="{D9A7B4EA-C976-395B-3E0A-E42DF4B70990}"/>
              </a:ext>
            </a:extLst>
          </p:cNvPr>
          <p:cNvSpPr/>
          <p:nvPr/>
        </p:nvSpPr>
        <p:spPr>
          <a:xfrm>
            <a:off x="3035722" y="2696886"/>
            <a:ext cx="161395" cy="161395"/>
          </a:xfrm>
          <a:prstGeom prst="ellipse">
            <a:avLst/>
          </a:prstGeom>
          <a:solidFill>
            <a:srgbClr val="FFC0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dirty="0">
                <a:solidFill>
                  <a:schemeClr val="tx1"/>
                </a:solidFill>
              </a:rPr>
              <a:t>||</a:t>
            </a:r>
            <a:endParaRPr lang="zh-CN" altLang="en-US" sz="1000" dirty="0">
              <a:solidFill>
                <a:schemeClr val="tx1"/>
              </a:solidFill>
            </a:endParaRPr>
          </a:p>
        </p:txBody>
      </p:sp>
      <p:sp>
        <p:nvSpPr>
          <p:cNvPr id="32" name="椭圆 31">
            <a:extLst>
              <a:ext uri="{FF2B5EF4-FFF2-40B4-BE49-F238E27FC236}">
                <a16:creationId xmlns:a16="http://schemas.microsoft.com/office/drawing/2014/main" id="{46195018-D869-1DF7-6C2A-74F14940AB58}"/>
              </a:ext>
            </a:extLst>
          </p:cNvPr>
          <p:cNvSpPr/>
          <p:nvPr/>
        </p:nvSpPr>
        <p:spPr>
          <a:xfrm>
            <a:off x="3479495" y="4021205"/>
            <a:ext cx="161395" cy="161395"/>
          </a:xfrm>
          <a:prstGeom prst="ellipse">
            <a:avLst/>
          </a:prstGeom>
          <a:solidFill>
            <a:srgbClr val="FFC000"/>
          </a:solidFill>
          <a:ln w="127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000" dirty="0">
                <a:solidFill>
                  <a:schemeClr val="tx1"/>
                </a:solidFill>
              </a:rPr>
              <a:t>||</a:t>
            </a:r>
            <a:endParaRPr lang="zh-CN" altLang="en-US" sz="1000" dirty="0">
              <a:solidFill>
                <a:schemeClr val="tx1"/>
              </a:solidFill>
            </a:endParaRPr>
          </a:p>
        </p:txBody>
      </p:sp>
      <p:sp>
        <p:nvSpPr>
          <p:cNvPr id="33" name="矩形: 圆角 32">
            <a:extLst>
              <a:ext uri="{FF2B5EF4-FFF2-40B4-BE49-F238E27FC236}">
                <a16:creationId xmlns:a16="http://schemas.microsoft.com/office/drawing/2014/main" id="{C51C74B0-A8FD-99FD-01B3-5FD84972DED5}"/>
              </a:ext>
            </a:extLst>
          </p:cNvPr>
          <p:cNvSpPr/>
          <p:nvPr/>
        </p:nvSpPr>
        <p:spPr>
          <a:xfrm>
            <a:off x="2153137" y="3887020"/>
            <a:ext cx="216024" cy="184787"/>
          </a:xfrm>
          <a:prstGeom prst="roundRect">
            <a:avLst/>
          </a:prstGeom>
          <a:solidFill>
            <a:srgbClr val="DB7F23"/>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E</a:t>
            </a:r>
            <a:endParaRPr lang="zh-CN" altLang="en-US" sz="1200" dirty="0">
              <a:solidFill>
                <a:schemeClr val="bg1"/>
              </a:solidFill>
            </a:endParaRPr>
          </a:p>
        </p:txBody>
      </p:sp>
      <p:sp>
        <p:nvSpPr>
          <p:cNvPr id="35" name="文本框 34">
            <a:extLst>
              <a:ext uri="{FF2B5EF4-FFF2-40B4-BE49-F238E27FC236}">
                <a16:creationId xmlns:a16="http://schemas.microsoft.com/office/drawing/2014/main" id="{BC8955C9-4081-17E5-4936-FBE69885B3B1}"/>
              </a:ext>
            </a:extLst>
          </p:cNvPr>
          <p:cNvSpPr txBox="1"/>
          <p:nvPr/>
        </p:nvSpPr>
        <p:spPr>
          <a:xfrm>
            <a:off x="3820013" y="2143633"/>
            <a:ext cx="620683" cy="276999"/>
          </a:xfrm>
          <a:prstGeom prst="rect">
            <a:avLst/>
          </a:prstGeom>
          <a:noFill/>
        </p:spPr>
        <p:txBody>
          <a:bodyPr wrap="none" rtlCol="0">
            <a:spAutoFit/>
          </a:bodyPr>
          <a:lstStyle/>
          <a:p>
            <a:r>
              <a:rPr lang="en-US" altLang="zh-CN" sz="1200" b="1" i="1" dirty="0"/>
              <a:t>C(K,M)</a:t>
            </a:r>
            <a:endParaRPr lang="zh-CN" altLang="en-US" sz="1200" b="1" i="1" dirty="0"/>
          </a:p>
        </p:txBody>
      </p:sp>
      <p:sp>
        <p:nvSpPr>
          <p:cNvPr id="36" name="文本框 35">
            <a:extLst>
              <a:ext uri="{FF2B5EF4-FFF2-40B4-BE49-F238E27FC236}">
                <a16:creationId xmlns:a16="http://schemas.microsoft.com/office/drawing/2014/main" id="{BF3CAB6C-653C-B41C-BAA8-81A336BAE069}"/>
              </a:ext>
            </a:extLst>
          </p:cNvPr>
          <p:cNvSpPr txBox="1"/>
          <p:nvPr/>
        </p:nvSpPr>
        <p:spPr>
          <a:xfrm>
            <a:off x="5137058" y="1848906"/>
            <a:ext cx="269626" cy="276999"/>
          </a:xfrm>
          <a:prstGeom prst="rect">
            <a:avLst/>
          </a:prstGeom>
          <a:noFill/>
        </p:spPr>
        <p:txBody>
          <a:bodyPr wrap="none" rtlCol="0">
            <a:spAutoFit/>
          </a:bodyPr>
          <a:lstStyle/>
          <a:p>
            <a:r>
              <a:rPr lang="en-US" altLang="zh-CN" sz="1200" b="1" i="1" dirty="0"/>
              <a:t>K</a:t>
            </a:r>
            <a:endParaRPr lang="zh-CN" altLang="en-US" sz="1200" b="1" i="1" dirty="0"/>
          </a:p>
        </p:txBody>
      </p:sp>
      <p:sp>
        <p:nvSpPr>
          <p:cNvPr id="45" name="文本框 44">
            <a:extLst>
              <a:ext uri="{FF2B5EF4-FFF2-40B4-BE49-F238E27FC236}">
                <a16:creationId xmlns:a16="http://schemas.microsoft.com/office/drawing/2014/main" id="{FB0A0F65-76FF-9160-9A59-C63855D0E51B}"/>
              </a:ext>
            </a:extLst>
          </p:cNvPr>
          <p:cNvSpPr txBox="1"/>
          <p:nvPr/>
        </p:nvSpPr>
        <p:spPr>
          <a:xfrm>
            <a:off x="5489034" y="1798173"/>
            <a:ext cx="492443" cy="276999"/>
          </a:xfrm>
          <a:prstGeom prst="rect">
            <a:avLst/>
          </a:prstGeom>
          <a:noFill/>
        </p:spPr>
        <p:txBody>
          <a:bodyPr wrap="none" rtlCol="0">
            <a:spAutoFit/>
          </a:bodyPr>
          <a:lstStyle/>
          <a:p>
            <a:r>
              <a:rPr lang="zh-CN" altLang="en-US" sz="1200" b="1" i="1" dirty="0"/>
              <a:t>比较</a:t>
            </a:r>
          </a:p>
        </p:txBody>
      </p:sp>
      <p:sp>
        <p:nvSpPr>
          <p:cNvPr id="46" name="文本框 45">
            <a:extLst>
              <a:ext uri="{FF2B5EF4-FFF2-40B4-BE49-F238E27FC236}">
                <a16:creationId xmlns:a16="http://schemas.microsoft.com/office/drawing/2014/main" id="{277CAA66-2FCC-5017-5787-43915590B9CD}"/>
              </a:ext>
            </a:extLst>
          </p:cNvPr>
          <p:cNvSpPr txBox="1"/>
          <p:nvPr/>
        </p:nvSpPr>
        <p:spPr>
          <a:xfrm>
            <a:off x="6452425" y="2878959"/>
            <a:ext cx="492443" cy="276999"/>
          </a:xfrm>
          <a:prstGeom prst="rect">
            <a:avLst/>
          </a:prstGeom>
          <a:noFill/>
        </p:spPr>
        <p:txBody>
          <a:bodyPr wrap="none" rtlCol="0">
            <a:spAutoFit/>
          </a:bodyPr>
          <a:lstStyle/>
          <a:p>
            <a:r>
              <a:rPr lang="zh-CN" altLang="en-US" sz="1200" b="1" i="1" dirty="0"/>
              <a:t>比较</a:t>
            </a:r>
          </a:p>
        </p:txBody>
      </p:sp>
      <p:sp>
        <p:nvSpPr>
          <p:cNvPr id="47" name="文本框 46">
            <a:extLst>
              <a:ext uri="{FF2B5EF4-FFF2-40B4-BE49-F238E27FC236}">
                <a16:creationId xmlns:a16="http://schemas.microsoft.com/office/drawing/2014/main" id="{F9958EFA-F29E-890A-9106-9BE47FF3AE1A}"/>
              </a:ext>
            </a:extLst>
          </p:cNvPr>
          <p:cNvSpPr txBox="1"/>
          <p:nvPr/>
        </p:nvSpPr>
        <p:spPr>
          <a:xfrm>
            <a:off x="5479487" y="4294820"/>
            <a:ext cx="492443" cy="276999"/>
          </a:xfrm>
          <a:prstGeom prst="rect">
            <a:avLst/>
          </a:prstGeom>
          <a:noFill/>
        </p:spPr>
        <p:txBody>
          <a:bodyPr wrap="none" rtlCol="0">
            <a:spAutoFit/>
          </a:bodyPr>
          <a:lstStyle/>
          <a:p>
            <a:r>
              <a:rPr lang="zh-CN" altLang="en-US" sz="1200" b="1" i="1" dirty="0"/>
              <a:t>比较</a:t>
            </a:r>
          </a:p>
        </p:txBody>
      </p:sp>
      <p:sp>
        <p:nvSpPr>
          <p:cNvPr id="50" name="文本框 49">
            <a:extLst>
              <a:ext uri="{FF2B5EF4-FFF2-40B4-BE49-F238E27FC236}">
                <a16:creationId xmlns:a16="http://schemas.microsoft.com/office/drawing/2014/main" id="{5C6E1D84-586C-D7AB-E63B-4418CD327701}"/>
              </a:ext>
            </a:extLst>
          </p:cNvPr>
          <p:cNvSpPr txBox="1"/>
          <p:nvPr/>
        </p:nvSpPr>
        <p:spPr>
          <a:xfrm>
            <a:off x="3791452" y="2359628"/>
            <a:ext cx="1189749" cy="276999"/>
          </a:xfrm>
          <a:prstGeom prst="rect">
            <a:avLst/>
          </a:prstGeom>
          <a:noFill/>
        </p:spPr>
        <p:txBody>
          <a:bodyPr wrap="none" rtlCol="0">
            <a:spAutoFit/>
          </a:bodyPr>
          <a:lstStyle/>
          <a:p>
            <a:r>
              <a:rPr lang="zh-CN" altLang="en-US" sz="1200" b="1" i="1" dirty="0"/>
              <a:t>（</a:t>
            </a:r>
            <a:r>
              <a:rPr lang="en-US" altLang="zh-CN" sz="1200" b="1" i="1" dirty="0"/>
              <a:t>a</a:t>
            </a:r>
            <a:r>
              <a:rPr lang="zh-CN" altLang="en-US" sz="1200" b="1" i="1" dirty="0"/>
              <a:t>）消息认证</a:t>
            </a:r>
          </a:p>
        </p:txBody>
      </p:sp>
      <p:sp>
        <p:nvSpPr>
          <p:cNvPr id="51" name="文本框 50">
            <a:extLst>
              <a:ext uri="{FF2B5EF4-FFF2-40B4-BE49-F238E27FC236}">
                <a16:creationId xmlns:a16="http://schemas.microsoft.com/office/drawing/2014/main" id="{3E2B4289-D6B0-1B17-58A6-FB5E86232320}"/>
              </a:ext>
            </a:extLst>
          </p:cNvPr>
          <p:cNvSpPr txBox="1"/>
          <p:nvPr/>
        </p:nvSpPr>
        <p:spPr>
          <a:xfrm>
            <a:off x="3141296" y="3429794"/>
            <a:ext cx="3190297" cy="276999"/>
          </a:xfrm>
          <a:prstGeom prst="rect">
            <a:avLst/>
          </a:prstGeom>
          <a:noFill/>
        </p:spPr>
        <p:txBody>
          <a:bodyPr wrap="none" rtlCol="0">
            <a:spAutoFit/>
          </a:bodyPr>
          <a:lstStyle/>
          <a:p>
            <a:r>
              <a:rPr lang="zh-CN" altLang="en-US" sz="1200" b="1" i="1" dirty="0"/>
              <a:t>（</a:t>
            </a:r>
            <a:r>
              <a:rPr lang="en-US" altLang="zh-CN" sz="1200" b="1" i="1" dirty="0"/>
              <a:t>b</a:t>
            </a:r>
            <a:r>
              <a:rPr lang="zh-CN" altLang="en-US" sz="1200" b="1" i="1" dirty="0"/>
              <a:t>）消息认证和保密性：与明文捆绑的认证</a:t>
            </a:r>
          </a:p>
        </p:txBody>
      </p:sp>
      <p:sp>
        <p:nvSpPr>
          <p:cNvPr id="52" name="文本框 51">
            <a:extLst>
              <a:ext uri="{FF2B5EF4-FFF2-40B4-BE49-F238E27FC236}">
                <a16:creationId xmlns:a16="http://schemas.microsoft.com/office/drawing/2014/main" id="{AFE8929E-0B44-5F6A-9CDC-5E2859F79E2C}"/>
              </a:ext>
            </a:extLst>
          </p:cNvPr>
          <p:cNvSpPr txBox="1"/>
          <p:nvPr/>
        </p:nvSpPr>
        <p:spPr>
          <a:xfrm>
            <a:off x="3093691" y="4769935"/>
            <a:ext cx="3172663" cy="276999"/>
          </a:xfrm>
          <a:prstGeom prst="rect">
            <a:avLst/>
          </a:prstGeom>
          <a:noFill/>
        </p:spPr>
        <p:txBody>
          <a:bodyPr wrap="none" rtlCol="0">
            <a:spAutoFit/>
          </a:bodyPr>
          <a:lstStyle/>
          <a:p>
            <a:r>
              <a:rPr lang="zh-CN" altLang="en-US" sz="1200" b="1" i="1" dirty="0"/>
              <a:t>（</a:t>
            </a:r>
            <a:r>
              <a:rPr lang="en-US" altLang="zh-CN" sz="1200" b="1" i="1" dirty="0"/>
              <a:t>c</a:t>
            </a:r>
            <a:r>
              <a:rPr lang="zh-CN" altLang="en-US" sz="1200" b="1" i="1" dirty="0"/>
              <a:t>）消息认证和保密性：与密文捆绑的认证</a:t>
            </a:r>
          </a:p>
        </p:txBody>
      </p:sp>
      <p:sp>
        <p:nvSpPr>
          <p:cNvPr id="53" name="文本框 52">
            <a:extLst>
              <a:ext uri="{FF2B5EF4-FFF2-40B4-BE49-F238E27FC236}">
                <a16:creationId xmlns:a16="http://schemas.microsoft.com/office/drawing/2014/main" id="{DD2A87A7-A3D3-8BBB-099D-8AD5AD87C46A}"/>
              </a:ext>
            </a:extLst>
          </p:cNvPr>
          <p:cNvSpPr txBox="1"/>
          <p:nvPr/>
        </p:nvSpPr>
        <p:spPr>
          <a:xfrm>
            <a:off x="3726398" y="3078195"/>
            <a:ext cx="1428596" cy="276999"/>
          </a:xfrm>
          <a:prstGeom prst="rect">
            <a:avLst/>
          </a:prstGeom>
          <a:noFill/>
        </p:spPr>
        <p:txBody>
          <a:bodyPr wrap="none" rtlCol="0">
            <a:spAutoFit/>
          </a:bodyPr>
          <a:lstStyle/>
          <a:p>
            <a:r>
              <a:rPr lang="en-US" altLang="zh-CN" sz="1200" b="1" i="1" dirty="0"/>
              <a:t>E(K</a:t>
            </a:r>
            <a:r>
              <a:rPr lang="en-US" altLang="zh-CN" sz="1200" b="1" i="1" baseline="-25000" dirty="0"/>
              <a:t>2</a:t>
            </a:r>
            <a:r>
              <a:rPr lang="en-US" altLang="zh-CN" sz="1200" b="1" i="1" dirty="0"/>
              <a:t>,[M||C(K</a:t>
            </a:r>
            <a:r>
              <a:rPr lang="en-US" altLang="zh-CN" sz="1200" b="1" i="1" baseline="-25000" dirty="0"/>
              <a:t>1</a:t>
            </a:r>
            <a:r>
              <a:rPr lang="en-US" altLang="zh-CN" sz="1200" b="1" i="1" dirty="0"/>
              <a:t>,M)])</a:t>
            </a:r>
            <a:endParaRPr lang="zh-CN" altLang="en-US" sz="1200" b="1" i="1" dirty="0"/>
          </a:p>
        </p:txBody>
      </p:sp>
      <p:sp>
        <p:nvSpPr>
          <p:cNvPr id="54" name="文本框 53">
            <a:extLst>
              <a:ext uri="{FF2B5EF4-FFF2-40B4-BE49-F238E27FC236}">
                <a16:creationId xmlns:a16="http://schemas.microsoft.com/office/drawing/2014/main" id="{01603833-89FE-193B-491C-187E5217E15B}"/>
              </a:ext>
            </a:extLst>
          </p:cNvPr>
          <p:cNvSpPr txBox="1"/>
          <p:nvPr/>
        </p:nvSpPr>
        <p:spPr>
          <a:xfrm>
            <a:off x="3779353" y="3593642"/>
            <a:ext cx="667170" cy="276999"/>
          </a:xfrm>
          <a:prstGeom prst="rect">
            <a:avLst/>
          </a:prstGeom>
          <a:noFill/>
        </p:spPr>
        <p:txBody>
          <a:bodyPr wrap="none" rtlCol="0">
            <a:spAutoFit/>
          </a:bodyPr>
          <a:lstStyle/>
          <a:p>
            <a:r>
              <a:rPr lang="en-US" altLang="zh-CN" sz="1200" b="1" i="1" dirty="0"/>
              <a:t>E(K</a:t>
            </a:r>
            <a:r>
              <a:rPr lang="en-US" altLang="zh-CN" sz="1200" b="1" i="1" baseline="-25000" dirty="0"/>
              <a:t>2</a:t>
            </a:r>
            <a:r>
              <a:rPr lang="en-US" altLang="zh-CN" sz="1200" b="1" i="1" dirty="0"/>
              <a:t>,M)</a:t>
            </a:r>
            <a:endParaRPr lang="zh-CN" altLang="en-US" sz="1200" b="1" i="1" dirty="0"/>
          </a:p>
        </p:txBody>
      </p:sp>
      <p:sp>
        <p:nvSpPr>
          <p:cNvPr id="55" name="文本框 54">
            <a:extLst>
              <a:ext uri="{FF2B5EF4-FFF2-40B4-BE49-F238E27FC236}">
                <a16:creationId xmlns:a16="http://schemas.microsoft.com/office/drawing/2014/main" id="{5A75C1CE-BA37-A8D8-2EA7-AF18E5E3D39D}"/>
              </a:ext>
            </a:extLst>
          </p:cNvPr>
          <p:cNvSpPr txBox="1"/>
          <p:nvPr/>
        </p:nvSpPr>
        <p:spPr>
          <a:xfrm>
            <a:off x="2324682" y="2870521"/>
            <a:ext cx="320922" cy="276999"/>
          </a:xfrm>
          <a:prstGeom prst="rect">
            <a:avLst/>
          </a:prstGeom>
          <a:noFill/>
        </p:spPr>
        <p:txBody>
          <a:bodyPr wrap="none" rtlCol="0">
            <a:spAutoFit/>
          </a:bodyPr>
          <a:lstStyle/>
          <a:p>
            <a:r>
              <a:rPr lang="en-US" altLang="zh-CN" sz="1200" b="1" i="1" dirty="0"/>
              <a:t>K</a:t>
            </a:r>
            <a:r>
              <a:rPr lang="en-US" altLang="zh-CN" sz="1200" b="1" i="1" baseline="-25000" dirty="0"/>
              <a:t>1</a:t>
            </a:r>
            <a:endParaRPr lang="zh-CN" altLang="en-US" sz="1200" b="1" i="1" baseline="-25000" dirty="0"/>
          </a:p>
        </p:txBody>
      </p:sp>
      <p:sp>
        <p:nvSpPr>
          <p:cNvPr id="56" name="文本框 55">
            <a:extLst>
              <a:ext uri="{FF2B5EF4-FFF2-40B4-BE49-F238E27FC236}">
                <a16:creationId xmlns:a16="http://schemas.microsoft.com/office/drawing/2014/main" id="{520D7208-C42C-BA14-B2C6-9F223F4D46A9}"/>
              </a:ext>
            </a:extLst>
          </p:cNvPr>
          <p:cNvSpPr txBox="1"/>
          <p:nvPr/>
        </p:nvSpPr>
        <p:spPr>
          <a:xfrm>
            <a:off x="3422622" y="3005351"/>
            <a:ext cx="320922" cy="276999"/>
          </a:xfrm>
          <a:prstGeom prst="rect">
            <a:avLst/>
          </a:prstGeom>
          <a:noFill/>
        </p:spPr>
        <p:txBody>
          <a:bodyPr wrap="none" rtlCol="0">
            <a:spAutoFit/>
          </a:bodyPr>
          <a:lstStyle/>
          <a:p>
            <a:r>
              <a:rPr lang="en-US" altLang="zh-CN" sz="1200" b="1" i="1" dirty="0"/>
              <a:t>K</a:t>
            </a:r>
            <a:r>
              <a:rPr lang="en-US" altLang="zh-CN" sz="1200" b="1" i="1" baseline="-25000" dirty="0"/>
              <a:t>2</a:t>
            </a:r>
            <a:endParaRPr lang="zh-CN" altLang="en-US" sz="1200" b="1" i="1" baseline="-25000" dirty="0"/>
          </a:p>
        </p:txBody>
      </p:sp>
      <p:sp>
        <p:nvSpPr>
          <p:cNvPr id="57" name="文本框 56">
            <a:extLst>
              <a:ext uri="{FF2B5EF4-FFF2-40B4-BE49-F238E27FC236}">
                <a16:creationId xmlns:a16="http://schemas.microsoft.com/office/drawing/2014/main" id="{BBF405A7-695A-DBA6-8962-FF0489C1867B}"/>
              </a:ext>
            </a:extLst>
          </p:cNvPr>
          <p:cNvSpPr txBox="1"/>
          <p:nvPr/>
        </p:nvSpPr>
        <p:spPr>
          <a:xfrm>
            <a:off x="4981201" y="3005351"/>
            <a:ext cx="320922" cy="276999"/>
          </a:xfrm>
          <a:prstGeom prst="rect">
            <a:avLst/>
          </a:prstGeom>
          <a:noFill/>
        </p:spPr>
        <p:txBody>
          <a:bodyPr wrap="none" rtlCol="0">
            <a:spAutoFit/>
          </a:bodyPr>
          <a:lstStyle/>
          <a:p>
            <a:r>
              <a:rPr lang="en-US" altLang="zh-CN" sz="1200" b="1" i="1" dirty="0"/>
              <a:t>K</a:t>
            </a:r>
            <a:r>
              <a:rPr lang="en-US" altLang="zh-CN" sz="1200" b="1" i="1" baseline="-25000" dirty="0"/>
              <a:t>2</a:t>
            </a:r>
            <a:endParaRPr lang="zh-CN" altLang="en-US" sz="1200" b="1" i="1" baseline="-25000" dirty="0"/>
          </a:p>
        </p:txBody>
      </p:sp>
      <p:sp>
        <p:nvSpPr>
          <p:cNvPr id="58" name="文本框 57">
            <a:extLst>
              <a:ext uri="{FF2B5EF4-FFF2-40B4-BE49-F238E27FC236}">
                <a16:creationId xmlns:a16="http://schemas.microsoft.com/office/drawing/2014/main" id="{F4EA858E-9A21-E52B-12CC-5BA8E3738000}"/>
              </a:ext>
            </a:extLst>
          </p:cNvPr>
          <p:cNvSpPr txBox="1"/>
          <p:nvPr/>
        </p:nvSpPr>
        <p:spPr>
          <a:xfrm>
            <a:off x="6046102" y="2902378"/>
            <a:ext cx="320922" cy="276999"/>
          </a:xfrm>
          <a:prstGeom prst="rect">
            <a:avLst/>
          </a:prstGeom>
          <a:noFill/>
        </p:spPr>
        <p:txBody>
          <a:bodyPr wrap="none" rtlCol="0">
            <a:spAutoFit/>
          </a:bodyPr>
          <a:lstStyle/>
          <a:p>
            <a:r>
              <a:rPr lang="en-US" altLang="zh-CN" sz="1200" b="1" i="1" dirty="0"/>
              <a:t>K</a:t>
            </a:r>
            <a:r>
              <a:rPr lang="en-US" altLang="zh-CN" sz="1200" b="1" i="1" baseline="-25000" dirty="0"/>
              <a:t>1</a:t>
            </a:r>
            <a:endParaRPr lang="zh-CN" altLang="en-US" sz="1200" b="1" i="1" baseline="-25000" dirty="0"/>
          </a:p>
        </p:txBody>
      </p:sp>
      <p:sp>
        <p:nvSpPr>
          <p:cNvPr id="59" name="文本框 58">
            <a:extLst>
              <a:ext uri="{FF2B5EF4-FFF2-40B4-BE49-F238E27FC236}">
                <a16:creationId xmlns:a16="http://schemas.microsoft.com/office/drawing/2014/main" id="{F3ABDAFB-5D8A-F967-F297-ADDFA56B56D7}"/>
              </a:ext>
            </a:extLst>
          </p:cNvPr>
          <p:cNvSpPr txBox="1"/>
          <p:nvPr/>
        </p:nvSpPr>
        <p:spPr>
          <a:xfrm>
            <a:off x="6046102" y="4242519"/>
            <a:ext cx="320922" cy="276999"/>
          </a:xfrm>
          <a:prstGeom prst="rect">
            <a:avLst/>
          </a:prstGeom>
          <a:noFill/>
        </p:spPr>
        <p:txBody>
          <a:bodyPr wrap="none" rtlCol="0">
            <a:spAutoFit/>
          </a:bodyPr>
          <a:lstStyle/>
          <a:p>
            <a:r>
              <a:rPr lang="en-US" altLang="zh-CN" sz="1200" b="1" i="1" dirty="0"/>
              <a:t>K</a:t>
            </a:r>
            <a:r>
              <a:rPr lang="en-US" altLang="zh-CN" sz="1200" b="1" i="1" baseline="-25000" dirty="0"/>
              <a:t>2</a:t>
            </a:r>
            <a:endParaRPr lang="zh-CN" altLang="en-US" sz="1200" b="1" i="1" baseline="-25000" dirty="0"/>
          </a:p>
        </p:txBody>
      </p:sp>
      <p:sp>
        <p:nvSpPr>
          <p:cNvPr id="60" name="文本框 59">
            <a:extLst>
              <a:ext uri="{FF2B5EF4-FFF2-40B4-BE49-F238E27FC236}">
                <a16:creationId xmlns:a16="http://schemas.microsoft.com/office/drawing/2014/main" id="{AB76E947-44FF-9A71-DC54-2B97A970871D}"/>
              </a:ext>
            </a:extLst>
          </p:cNvPr>
          <p:cNvSpPr txBox="1"/>
          <p:nvPr/>
        </p:nvSpPr>
        <p:spPr>
          <a:xfrm>
            <a:off x="5111410" y="4403368"/>
            <a:ext cx="320922" cy="276999"/>
          </a:xfrm>
          <a:prstGeom prst="rect">
            <a:avLst/>
          </a:prstGeom>
          <a:noFill/>
        </p:spPr>
        <p:txBody>
          <a:bodyPr wrap="none" rtlCol="0">
            <a:spAutoFit/>
          </a:bodyPr>
          <a:lstStyle/>
          <a:p>
            <a:r>
              <a:rPr lang="en-US" altLang="zh-CN" sz="1200" b="1" i="1" dirty="0"/>
              <a:t>K</a:t>
            </a:r>
            <a:r>
              <a:rPr lang="en-US" altLang="zh-CN" sz="1200" b="1" i="1" baseline="-25000" dirty="0"/>
              <a:t>1</a:t>
            </a:r>
            <a:endParaRPr lang="zh-CN" altLang="en-US" sz="1200" b="1" i="1" baseline="-25000" dirty="0"/>
          </a:p>
        </p:txBody>
      </p:sp>
      <p:sp>
        <p:nvSpPr>
          <p:cNvPr id="61" name="文本框 60">
            <a:extLst>
              <a:ext uri="{FF2B5EF4-FFF2-40B4-BE49-F238E27FC236}">
                <a16:creationId xmlns:a16="http://schemas.microsoft.com/office/drawing/2014/main" id="{0241A215-19BA-FFB9-1795-DF03BBB0DFDA}"/>
              </a:ext>
            </a:extLst>
          </p:cNvPr>
          <p:cNvSpPr txBox="1"/>
          <p:nvPr/>
        </p:nvSpPr>
        <p:spPr>
          <a:xfrm>
            <a:off x="2697243" y="4169183"/>
            <a:ext cx="320922" cy="276999"/>
          </a:xfrm>
          <a:prstGeom prst="rect">
            <a:avLst/>
          </a:prstGeom>
          <a:noFill/>
        </p:spPr>
        <p:txBody>
          <a:bodyPr wrap="none" rtlCol="0">
            <a:spAutoFit/>
          </a:bodyPr>
          <a:lstStyle/>
          <a:p>
            <a:r>
              <a:rPr lang="en-US" altLang="zh-CN" sz="1200" b="1" i="1" dirty="0"/>
              <a:t>K</a:t>
            </a:r>
            <a:r>
              <a:rPr lang="en-US" altLang="zh-CN" sz="1200" b="1" i="1" baseline="-25000" dirty="0"/>
              <a:t>1</a:t>
            </a:r>
            <a:endParaRPr lang="zh-CN" altLang="en-US" sz="1200" b="1" i="1" baseline="-25000" dirty="0"/>
          </a:p>
        </p:txBody>
      </p:sp>
      <p:sp>
        <p:nvSpPr>
          <p:cNvPr id="62" name="文本框 61">
            <a:extLst>
              <a:ext uri="{FF2B5EF4-FFF2-40B4-BE49-F238E27FC236}">
                <a16:creationId xmlns:a16="http://schemas.microsoft.com/office/drawing/2014/main" id="{04D7136F-5475-4B2A-2147-5849B50D4B21}"/>
              </a:ext>
            </a:extLst>
          </p:cNvPr>
          <p:cNvSpPr txBox="1"/>
          <p:nvPr/>
        </p:nvSpPr>
        <p:spPr>
          <a:xfrm>
            <a:off x="3597944" y="4547512"/>
            <a:ext cx="979755" cy="276999"/>
          </a:xfrm>
          <a:prstGeom prst="rect">
            <a:avLst/>
          </a:prstGeom>
          <a:noFill/>
        </p:spPr>
        <p:txBody>
          <a:bodyPr wrap="none" rtlCol="0">
            <a:spAutoFit/>
          </a:bodyPr>
          <a:lstStyle/>
          <a:p>
            <a:r>
              <a:rPr lang="en-US" altLang="zh-CN" sz="1200" b="1" i="1" dirty="0"/>
              <a:t>C(K</a:t>
            </a:r>
            <a:r>
              <a:rPr lang="en-US" altLang="zh-CN" sz="1200" b="1" i="1" baseline="-25000" dirty="0"/>
              <a:t>1</a:t>
            </a:r>
            <a:r>
              <a:rPr lang="en-US" altLang="zh-CN" sz="1200" b="1" i="1" dirty="0"/>
              <a:t>E(K</a:t>
            </a:r>
            <a:r>
              <a:rPr lang="en-US" altLang="zh-CN" sz="1200" b="1" i="1" baseline="-25000" dirty="0"/>
              <a:t>2</a:t>
            </a:r>
            <a:r>
              <a:rPr lang="en-US" altLang="zh-CN" sz="1200" b="1" i="1" dirty="0"/>
              <a:t>,M))</a:t>
            </a:r>
            <a:endParaRPr lang="zh-CN" altLang="en-US" sz="1200" b="1" i="1" dirty="0"/>
          </a:p>
        </p:txBody>
      </p:sp>
      <p:sp>
        <p:nvSpPr>
          <p:cNvPr id="63" name="文本框 62">
            <a:extLst>
              <a:ext uri="{FF2B5EF4-FFF2-40B4-BE49-F238E27FC236}">
                <a16:creationId xmlns:a16="http://schemas.microsoft.com/office/drawing/2014/main" id="{90E05585-AAC2-8233-D037-58E851896EAB}"/>
              </a:ext>
            </a:extLst>
          </p:cNvPr>
          <p:cNvSpPr txBox="1"/>
          <p:nvPr/>
        </p:nvSpPr>
        <p:spPr>
          <a:xfrm>
            <a:off x="4973583" y="3257115"/>
            <a:ext cx="631904" cy="276999"/>
          </a:xfrm>
          <a:prstGeom prst="rect">
            <a:avLst/>
          </a:prstGeom>
          <a:noFill/>
        </p:spPr>
        <p:txBody>
          <a:bodyPr wrap="none" rtlCol="0">
            <a:spAutoFit/>
          </a:bodyPr>
          <a:lstStyle/>
          <a:p>
            <a:r>
              <a:rPr lang="en-US" altLang="zh-CN" sz="1200" b="1" i="1" dirty="0"/>
              <a:t>C(K</a:t>
            </a:r>
            <a:r>
              <a:rPr lang="en-US" altLang="zh-CN" sz="1200" b="1" i="1" baseline="-25000" dirty="0"/>
              <a:t>1</a:t>
            </a:r>
            <a:r>
              <a:rPr lang="en-US" altLang="zh-CN" sz="1200" b="1" i="1" dirty="0"/>
              <a:t>M)</a:t>
            </a:r>
            <a:endParaRPr lang="zh-CN" altLang="en-US" sz="1200" b="1" i="1" dirty="0"/>
          </a:p>
        </p:txBody>
      </p:sp>
      <p:sp>
        <p:nvSpPr>
          <p:cNvPr id="64" name="文本框 63">
            <a:extLst>
              <a:ext uri="{FF2B5EF4-FFF2-40B4-BE49-F238E27FC236}">
                <a16:creationId xmlns:a16="http://schemas.microsoft.com/office/drawing/2014/main" id="{32539ABF-2A47-1362-A8A4-9F0FFB726810}"/>
              </a:ext>
            </a:extLst>
          </p:cNvPr>
          <p:cNvSpPr txBox="1"/>
          <p:nvPr/>
        </p:nvSpPr>
        <p:spPr>
          <a:xfrm>
            <a:off x="2100688" y="4241575"/>
            <a:ext cx="320922" cy="276999"/>
          </a:xfrm>
          <a:prstGeom prst="rect">
            <a:avLst/>
          </a:prstGeom>
          <a:noFill/>
        </p:spPr>
        <p:txBody>
          <a:bodyPr wrap="none" rtlCol="0">
            <a:spAutoFit/>
          </a:bodyPr>
          <a:lstStyle/>
          <a:p>
            <a:r>
              <a:rPr lang="en-US" altLang="zh-CN" sz="1200" b="1" i="1" dirty="0"/>
              <a:t>K</a:t>
            </a:r>
            <a:r>
              <a:rPr lang="en-US" altLang="zh-CN" sz="1200" b="1" i="1" baseline="-25000" dirty="0"/>
              <a:t>2</a:t>
            </a:r>
            <a:endParaRPr lang="zh-CN" altLang="en-US" sz="1200" b="1" i="1" baseline="-25000" dirty="0"/>
          </a:p>
        </p:txBody>
      </p:sp>
      <p:cxnSp>
        <p:nvCxnSpPr>
          <p:cNvPr id="66" name="直接箭头连接符 65">
            <a:extLst>
              <a:ext uri="{FF2B5EF4-FFF2-40B4-BE49-F238E27FC236}">
                <a16:creationId xmlns:a16="http://schemas.microsoft.com/office/drawing/2014/main" id="{75D75DFF-24BE-8190-3C67-72D821223449}"/>
              </a:ext>
            </a:extLst>
          </p:cNvPr>
          <p:cNvCxnSpPr>
            <a:cxnSpLocks/>
          </p:cNvCxnSpPr>
          <p:nvPr/>
        </p:nvCxnSpPr>
        <p:spPr>
          <a:xfrm>
            <a:off x="1887736" y="2715766"/>
            <a:ext cx="118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396D2CED-81EA-CFA5-E4D3-025FD5DA8D4A}"/>
              </a:ext>
            </a:extLst>
          </p:cNvPr>
          <p:cNvCxnSpPr>
            <a:cxnSpLocks/>
          </p:cNvCxnSpPr>
          <p:nvPr/>
        </p:nvCxnSpPr>
        <p:spPr>
          <a:xfrm>
            <a:off x="3197117" y="1698437"/>
            <a:ext cx="104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22F14CFA-AEEC-3172-0EA2-A5276CB1A67E}"/>
              </a:ext>
            </a:extLst>
          </p:cNvPr>
          <p:cNvCxnSpPr>
            <a:cxnSpLocks/>
          </p:cNvCxnSpPr>
          <p:nvPr/>
        </p:nvCxnSpPr>
        <p:spPr>
          <a:xfrm>
            <a:off x="4510815" y="1626744"/>
            <a:ext cx="64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066C7300-18D4-3711-6CF7-20709F07F327}"/>
              </a:ext>
            </a:extLst>
          </p:cNvPr>
          <p:cNvCxnSpPr>
            <a:cxnSpLocks/>
          </p:cNvCxnSpPr>
          <p:nvPr/>
        </p:nvCxnSpPr>
        <p:spPr>
          <a:xfrm>
            <a:off x="4510815" y="3988245"/>
            <a:ext cx="158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D1E68489-4A84-FC1E-8046-8ECBD51405B8}"/>
              </a:ext>
            </a:extLst>
          </p:cNvPr>
          <p:cNvCxnSpPr>
            <a:cxnSpLocks/>
          </p:cNvCxnSpPr>
          <p:nvPr/>
        </p:nvCxnSpPr>
        <p:spPr>
          <a:xfrm>
            <a:off x="1870275" y="1635646"/>
            <a:ext cx="118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15247076-8CBE-79E8-EE24-62EBF3EBDCF9}"/>
              </a:ext>
            </a:extLst>
          </p:cNvPr>
          <p:cNvCxnSpPr>
            <a:cxnSpLocks/>
          </p:cNvCxnSpPr>
          <p:nvPr/>
        </p:nvCxnSpPr>
        <p:spPr>
          <a:xfrm>
            <a:off x="3692601" y="2774243"/>
            <a:ext cx="57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863F7314-4AC7-8A5E-67B4-D459BBB4B382}"/>
              </a:ext>
            </a:extLst>
          </p:cNvPr>
          <p:cNvCxnSpPr>
            <a:cxnSpLocks/>
          </p:cNvCxnSpPr>
          <p:nvPr/>
        </p:nvCxnSpPr>
        <p:spPr>
          <a:xfrm>
            <a:off x="4510815" y="2774243"/>
            <a:ext cx="5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343C7780-F837-4A92-8304-342E0ADE1FE2}"/>
              </a:ext>
            </a:extLst>
          </p:cNvPr>
          <p:cNvCxnSpPr>
            <a:cxnSpLocks/>
          </p:cNvCxnSpPr>
          <p:nvPr/>
        </p:nvCxnSpPr>
        <p:spPr>
          <a:xfrm>
            <a:off x="5256847" y="2774243"/>
            <a:ext cx="21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78F1723A-B4C3-487F-9EBF-87D6CA232DEB}"/>
              </a:ext>
            </a:extLst>
          </p:cNvPr>
          <p:cNvCxnSpPr>
            <a:cxnSpLocks/>
          </p:cNvCxnSpPr>
          <p:nvPr/>
        </p:nvCxnSpPr>
        <p:spPr>
          <a:xfrm>
            <a:off x="5701930" y="2696886"/>
            <a:ext cx="39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EBD2F2BC-2064-9848-BA02-F34432467D2C}"/>
              </a:ext>
            </a:extLst>
          </p:cNvPr>
          <p:cNvCxnSpPr>
            <a:cxnSpLocks/>
          </p:cNvCxnSpPr>
          <p:nvPr/>
        </p:nvCxnSpPr>
        <p:spPr>
          <a:xfrm>
            <a:off x="3201944" y="2774243"/>
            <a:ext cx="25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01FBD506-8652-A7E9-14C9-554877C805CA}"/>
              </a:ext>
            </a:extLst>
          </p:cNvPr>
          <p:cNvCxnSpPr>
            <a:cxnSpLocks/>
          </p:cNvCxnSpPr>
          <p:nvPr/>
        </p:nvCxnSpPr>
        <p:spPr>
          <a:xfrm>
            <a:off x="3640890" y="4071807"/>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45382E9F-C34B-5865-BA97-9AD4EED45298}"/>
              </a:ext>
            </a:extLst>
          </p:cNvPr>
          <p:cNvCxnSpPr>
            <a:cxnSpLocks/>
          </p:cNvCxnSpPr>
          <p:nvPr/>
        </p:nvCxnSpPr>
        <p:spPr>
          <a:xfrm>
            <a:off x="4525058" y="4157940"/>
            <a:ext cx="61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41B47B1C-0A69-0F66-1D77-F01CAF503A5E}"/>
              </a:ext>
            </a:extLst>
          </p:cNvPr>
          <p:cNvCxnSpPr>
            <a:cxnSpLocks/>
          </p:cNvCxnSpPr>
          <p:nvPr/>
        </p:nvCxnSpPr>
        <p:spPr>
          <a:xfrm>
            <a:off x="1907704" y="4011910"/>
            <a:ext cx="25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连接符: 肘形 80">
            <a:extLst>
              <a:ext uri="{FF2B5EF4-FFF2-40B4-BE49-F238E27FC236}">
                <a16:creationId xmlns:a16="http://schemas.microsoft.com/office/drawing/2014/main" id="{6BA85547-5DDA-CE28-C34C-74515410C39A}"/>
              </a:ext>
            </a:extLst>
          </p:cNvPr>
          <p:cNvCxnSpPr>
            <a:cxnSpLocks/>
          </p:cNvCxnSpPr>
          <p:nvPr/>
        </p:nvCxnSpPr>
        <p:spPr>
          <a:xfrm rot="5400000" flipH="1" flipV="1">
            <a:off x="2741759" y="1952384"/>
            <a:ext cx="504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连接符: 肘形 81">
            <a:extLst>
              <a:ext uri="{FF2B5EF4-FFF2-40B4-BE49-F238E27FC236}">
                <a16:creationId xmlns:a16="http://schemas.microsoft.com/office/drawing/2014/main" id="{74F2AABD-7A83-9E48-D7B6-C64A298D0F07}"/>
              </a:ext>
            </a:extLst>
          </p:cNvPr>
          <p:cNvCxnSpPr>
            <a:cxnSpLocks/>
          </p:cNvCxnSpPr>
          <p:nvPr/>
        </p:nvCxnSpPr>
        <p:spPr>
          <a:xfrm rot="5400000" flipH="1" flipV="1">
            <a:off x="2741759" y="3008844"/>
            <a:ext cx="504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连接符: 肘形 82">
            <a:extLst>
              <a:ext uri="{FF2B5EF4-FFF2-40B4-BE49-F238E27FC236}">
                <a16:creationId xmlns:a16="http://schemas.microsoft.com/office/drawing/2014/main" id="{BE61F071-B5DF-86A9-4C45-53D4DABC8F9C}"/>
              </a:ext>
            </a:extLst>
          </p:cNvPr>
          <p:cNvCxnSpPr>
            <a:cxnSpLocks/>
          </p:cNvCxnSpPr>
          <p:nvPr/>
        </p:nvCxnSpPr>
        <p:spPr>
          <a:xfrm rot="5400000" flipH="1" flipV="1">
            <a:off x="3135510" y="4338727"/>
            <a:ext cx="540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连接符: 肘形 83">
            <a:extLst>
              <a:ext uri="{FF2B5EF4-FFF2-40B4-BE49-F238E27FC236}">
                <a16:creationId xmlns:a16="http://schemas.microsoft.com/office/drawing/2014/main" id="{FA130E21-73B6-B124-07BB-83E9A9227C6D}"/>
              </a:ext>
            </a:extLst>
          </p:cNvPr>
          <p:cNvCxnSpPr>
            <a:cxnSpLocks/>
          </p:cNvCxnSpPr>
          <p:nvPr/>
        </p:nvCxnSpPr>
        <p:spPr>
          <a:xfrm rot="10800000" flipH="1" flipV="1">
            <a:off x="5364088" y="1635647"/>
            <a:ext cx="396000" cy="18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连接符: 肘形 84">
            <a:extLst>
              <a:ext uri="{FF2B5EF4-FFF2-40B4-BE49-F238E27FC236}">
                <a16:creationId xmlns:a16="http://schemas.microsoft.com/office/drawing/2014/main" id="{C8624C83-91F1-9BCE-26EA-E4AC1004B142}"/>
              </a:ext>
            </a:extLst>
          </p:cNvPr>
          <p:cNvCxnSpPr>
            <a:cxnSpLocks/>
          </p:cNvCxnSpPr>
          <p:nvPr/>
        </p:nvCxnSpPr>
        <p:spPr>
          <a:xfrm rot="10800000" flipH="1">
            <a:off x="4644012" y="2048410"/>
            <a:ext cx="1116000" cy="216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连接符: 肘形 85">
            <a:extLst>
              <a:ext uri="{FF2B5EF4-FFF2-40B4-BE49-F238E27FC236}">
                <a16:creationId xmlns:a16="http://schemas.microsoft.com/office/drawing/2014/main" id="{8D2361C5-7BED-ED27-E06B-EAAD36D084B7}"/>
              </a:ext>
            </a:extLst>
          </p:cNvPr>
          <p:cNvCxnSpPr>
            <a:cxnSpLocks/>
          </p:cNvCxnSpPr>
          <p:nvPr/>
        </p:nvCxnSpPr>
        <p:spPr>
          <a:xfrm rot="10800000" flipH="1" flipV="1">
            <a:off x="6318216" y="2708469"/>
            <a:ext cx="396000" cy="18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连接符: 肘形 86">
            <a:extLst>
              <a:ext uri="{FF2B5EF4-FFF2-40B4-BE49-F238E27FC236}">
                <a16:creationId xmlns:a16="http://schemas.microsoft.com/office/drawing/2014/main" id="{B9A80A7E-EBEA-06D8-9959-7D04A3CF058C}"/>
              </a:ext>
            </a:extLst>
          </p:cNvPr>
          <p:cNvCxnSpPr>
            <a:cxnSpLocks/>
          </p:cNvCxnSpPr>
          <p:nvPr/>
        </p:nvCxnSpPr>
        <p:spPr>
          <a:xfrm rot="10800000" flipH="1">
            <a:off x="5868192" y="3110892"/>
            <a:ext cx="864000" cy="216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连接符: 肘形 87">
            <a:extLst>
              <a:ext uri="{FF2B5EF4-FFF2-40B4-BE49-F238E27FC236}">
                <a16:creationId xmlns:a16="http://schemas.microsoft.com/office/drawing/2014/main" id="{B751C6BC-664B-8932-ED98-E61ACE19A400}"/>
              </a:ext>
            </a:extLst>
          </p:cNvPr>
          <p:cNvCxnSpPr>
            <a:cxnSpLocks/>
          </p:cNvCxnSpPr>
          <p:nvPr/>
        </p:nvCxnSpPr>
        <p:spPr>
          <a:xfrm rot="10800000" flipH="1" flipV="1">
            <a:off x="5353266" y="4157940"/>
            <a:ext cx="396000" cy="18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连接符: 肘形 88">
            <a:extLst>
              <a:ext uri="{FF2B5EF4-FFF2-40B4-BE49-F238E27FC236}">
                <a16:creationId xmlns:a16="http://schemas.microsoft.com/office/drawing/2014/main" id="{571516FD-8F30-D5E2-49E4-DA50617F716B}"/>
              </a:ext>
            </a:extLst>
          </p:cNvPr>
          <p:cNvCxnSpPr>
            <a:cxnSpLocks/>
          </p:cNvCxnSpPr>
          <p:nvPr/>
        </p:nvCxnSpPr>
        <p:spPr>
          <a:xfrm rot="10800000" flipH="1">
            <a:off x="4680012" y="4496151"/>
            <a:ext cx="1080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连接符: 肘形 90">
            <a:extLst>
              <a:ext uri="{FF2B5EF4-FFF2-40B4-BE49-F238E27FC236}">
                <a16:creationId xmlns:a16="http://schemas.microsoft.com/office/drawing/2014/main" id="{CACF6B42-5204-0423-6256-FA2D22D2F129}"/>
              </a:ext>
            </a:extLst>
          </p:cNvPr>
          <p:cNvCxnSpPr/>
          <p:nvPr/>
        </p:nvCxnSpPr>
        <p:spPr>
          <a:xfrm>
            <a:off x="5731487" y="3003798"/>
            <a:ext cx="216000" cy="3240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92" name="连接符: 肘形 91">
            <a:extLst>
              <a:ext uri="{FF2B5EF4-FFF2-40B4-BE49-F238E27FC236}">
                <a16:creationId xmlns:a16="http://schemas.microsoft.com/office/drawing/2014/main" id="{46539342-3C2A-9630-EEBD-2AA7DABD9F1B}"/>
              </a:ext>
            </a:extLst>
          </p:cNvPr>
          <p:cNvCxnSpPr>
            <a:cxnSpLocks/>
          </p:cNvCxnSpPr>
          <p:nvPr/>
        </p:nvCxnSpPr>
        <p:spPr>
          <a:xfrm>
            <a:off x="4531198" y="4318623"/>
            <a:ext cx="216000" cy="3240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95" name="连接符: 肘形 94">
            <a:extLst>
              <a:ext uri="{FF2B5EF4-FFF2-40B4-BE49-F238E27FC236}">
                <a16:creationId xmlns:a16="http://schemas.microsoft.com/office/drawing/2014/main" id="{B651CFDA-09A1-F95B-E980-719120FEC682}"/>
              </a:ext>
            </a:extLst>
          </p:cNvPr>
          <p:cNvCxnSpPr>
            <a:cxnSpLocks/>
          </p:cNvCxnSpPr>
          <p:nvPr/>
        </p:nvCxnSpPr>
        <p:spPr>
          <a:xfrm rot="16200000" flipH="1">
            <a:off x="1940628" y="1887695"/>
            <a:ext cx="466238" cy="36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连接符: 肘形 95">
            <a:extLst>
              <a:ext uri="{FF2B5EF4-FFF2-40B4-BE49-F238E27FC236}">
                <a16:creationId xmlns:a16="http://schemas.microsoft.com/office/drawing/2014/main" id="{C12B3D94-B6F8-7077-5BE3-DFBA33A79C63}"/>
              </a:ext>
            </a:extLst>
          </p:cNvPr>
          <p:cNvCxnSpPr>
            <a:cxnSpLocks/>
          </p:cNvCxnSpPr>
          <p:nvPr/>
        </p:nvCxnSpPr>
        <p:spPr>
          <a:xfrm rot="16200000" flipH="1">
            <a:off x="1959464" y="2955497"/>
            <a:ext cx="466238" cy="360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连接符: 肘形 96">
            <a:extLst>
              <a:ext uri="{FF2B5EF4-FFF2-40B4-BE49-F238E27FC236}">
                <a16:creationId xmlns:a16="http://schemas.microsoft.com/office/drawing/2014/main" id="{42A4BB0C-DA0F-AD4C-5C93-E24F2694E904}"/>
              </a:ext>
            </a:extLst>
          </p:cNvPr>
          <p:cNvCxnSpPr>
            <a:cxnSpLocks/>
          </p:cNvCxnSpPr>
          <p:nvPr/>
        </p:nvCxnSpPr>
        <p:spPr>
          <a:xfrm rot="16200000" flipH="1">
            <a:off x="2270347" y="4263133"/>
            <a:ext cx="6840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A68F3CCC-45D9-4879-21EE-E9DBF0DEA48A}"/>
              </a:ext>
            </a:extLst>
          </p:cNvPr>
          <p:cNvCxnSpPr/>
          <p:nvPr/>
        </p:nvCxnSpPr>
        <p:spPr>
          <a:xfrm>
            <a:off x="1882909" y="1843965"/>
            <a:ext cx="1060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361C2FCA-CBDB-9FC7-802D-447085DE5FB0}"/>
              </a:ext>
            </a:extLst>
          </p:cNvPr>
          <p:cNvCxnSpPr/>
          <p:nvPr/>
        </p:nvCxnSpPr>
        <p:spPr>
          <a:xfrm>
            <a:off x="1897491" y="2902377"/>
            <a:ext cx="11509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2684999-FC0B-3C1A-C503-78607155D833}"/>
              </a:ext>
            </a:extLst>
          </p:cNvPr>
          <p:cNvCxnSpPr>
            <a:cxnSpLocks/>
          </p:cNvCxnSpPr>
          <p:nvPr/>
        </p:nvCxnSpPr>
        <p:spPr>
          <a:xfrm>
            <a:off x="2356331" y="3997253"/>
            <a:ext cx="2031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792682E9-1164-AAAE-C3CA-D25B5D8EA018}"/>
              </a:ext>
            </a:extLst>
          </p:cNvPr>
          <p:cNvCxnSpPr>
            <a:stCxn id="9" idx="3"/>
          </p:cNvCxnSpPr>
          <p:nvPr/>
        </p:nvCxnSpPr>
        <p:spPr>
          <a:xfrm flipV="1">
            <a:off x="2572287" y="2292969"/>
            <a:ext cx="348159" cy="24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连接符: 肘形 105">
            <a:extLst>
              <a:ext uri="{FF2B5EF4-FFF2-40B4-BE49-F238E27FC236}">
                <a16:creationId xmlns:a16="http://schemas.microsoft.com/office/drawing/2014/main" id="{8E9DA768-4171-BDB1-F9A9-CC481A1A7145}"/>
              </a:ext>
            </a:extLst>
          </p:cNvPr>
          <p:cNvCxnSpPr/>
          <p:nvPr/>
        </p:nvCxnSpPr>
        <p:spPr>
          <a:xfrm>
            <a:off x="4524090" y="1905845"/>
            <a:ext cx="216000" cy="3600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2A5C70A4-2DB9-D14A-CBE2-A39100A65665}"/>
              </a:ext>
            </a:extLst>
          </p:cNvPr>
          <p:cNvCxnSpPr>
            <a:stCxn id="11" idx="3"/>
          </p:cNvCxnSpPr>
          <p:nvPr/>
        </p:nvCxnSpPr>
        <p:spPr>
          <a:xfrm>
            <a:off x="2915816" y="4680368"/>
            <a:ext cx="4121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985EAA87-8B37-2EE8-C987-38649DA1BE6A}"/>
              </a:ext>
            </a:extLst>
          </p:cNvPr>
          <p:cNvCxnSpPr>
            <a:cxnSpLocks/>
          </p:cNvCxnSpPr>
          <p:nvPr/>
        </p:nvCxnSpPr>
        <p:spPr>
          <a:xfrm>
            <a:off x="2369161" y="3935741"/>
            <a:ext cx="9316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连接符: 肘形 111">
            <a:extLst>
              <a:ext uri="{FF2B5EF4-FFF2-40B4-BE49-F238E27FC236}">
                <a16:creationId xmlns:a16="http://schemas.microsoft.com/office/drawing/2014/main" id="{CFD8DBD9-C55B-02C2-2D6A-B9236F2A4DAA}"/>
              </a:ext>
            </a:extLst>
          </p:cNvPr>
          <p:cNvCxnSpPr>
            <a:cxnSpLocks/>
          </p:cNvCxnSpPr>
          <p:nvPr/>
        </p:nvCxnSpPr>
        <p:spPr>
          <a:xfrm>
            <a:off x="3261514" y="3939910"/>
            <a:ext cx="203639" cy="720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3AAF929F-045C-E1D5-B457-C9C012867C61}"/>
              </a:ext>
            </a:extLst>
          </p:cNvPr>
          <p:cNvCxnSpPr>
            <a:endCxn id="22" idx="1"/>
          </p:cNvCxnSpPr>
          <p:nvPr/>
        </p:nvCxnSpPr>
        <p:spPr>
          <a:xfrm flipV="1">
            <a:off x="3980601" y="4323439"/>
            <a:ext cx="306909" cy="26453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a:extLst>
              <a:ext uri="{FF2B5EF4-FFF2-40B4-BE49-F238E27FC236}">
                <a16:creationId xmlns:a16="http://schemas.microsoft.com/office/drawing/2014/main" id="{3462C4C1-51D7-B9A4-B948-FA306CEFEB84}"/>
              </a:ext>
            </a:extLst>
          </p:cNvPr>
          <p:cNvCxnSpPr/>
          <p:nvPr/>
        </p:nvCxnSpPr>
        <p:spPr>
          <a:xfrm flipV="1">
            <a:off x="5319397" y="3033474"/>
            <a:ext cx="306909" cy="26453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630C28FC-77AD-7F33-5747-7B50777F888A}"/>
              </a:ext>
            </a:extLst>
          </p:cNvPr>
          <p:cNvCxnSpPr>
            <a:cxnSpLocks/>
          </p:cNvCxnSpPr>
          <p:nvPr/>
        </p:nvCxnSpPr>
        <p:spPr>
          <a:xfrm flipH="1">
            <a:off x="2464275" y="2031710"/>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直接箭头连接符 118">
            <a:extLst>
              <a:ext uri="{FF2B5EF4-FFF2-40B4-BE49-F238E27FC236}">
                <a16:creationId xmlns:a16="http://schemas.microsoft.com/office/drawing/2014/main" id="{0555E09E-A8F9-C953-8825-DE8441BEC6A1}"/>
              </a:ext>
            </a:extLst>
          </p:cNvPr>
          <p:cNvCxnSpPr>
            <a:cxnSpLocks/>
          </p:cNvCxnSpPr>
          <p:nvPr/>
        </p:nvCxnSpPr>
        <p:spPr>
          <a:xfrm flipH="1">
            <a:off x="2461162" y="3104154"/>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直接箭头连接符 119">
            <a:extLst>
              <a:ext uri="{FF2B5EF4-FFF2-40B4-BE49-F238E27FC236}">
                <a16:creationId xmlns:a16="http://schemas.microsoft.com/office/drawing/2014/main" id="{70253D7D-9BBC-43B6-30BA-381B83547C7B}"/>
              </a:ext>
            </a:extLst>
          </p:cNvPr>
          <p:cNvCxnSpPr>
            <a:cxnSpLocks/>
          </p:cNvCxnSpPr>
          <p:nvPr/>
        </p:nvCxnSpPr>
        <p:spPr>
          <a:xfrm flipH="1">
            <a:off x="2804961" y="4403368"/>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直接箭头连接符 120">
            <a:extLst>
              <a:ext uri="{FF2B5EF4-FFF2-40B4-BE49-F238E27FC236}">
                <a16:creationId xmlns:a16="http://schemas.microsoft.com/office/drawing/2014/main" id="{6C731B27-05D2-F6B1-AF57-7736670DEBBB}"/>
              </a:ext>
            </a:extLst>
          </p:cNvPr>
          <p:cNvCxnSpPr>
            <a:cxnSpLocks/>
          </p:cNvCxnSpPr>
          <p:nvPr/>
        </p:nvCxnSpPr>
        <p:spPr>
          <a:xfrm flipH="1" flipV="1">
            <a:off x="5257694" y="4272884"/>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直接箭头连接符 121">
            <a:extLst>
              <a:ext uri="{FF2B5EF4-FFF2-40B4-BE49-F238E27FC236}">
                <a16:creationId xmlns:a16="http://schemas.microsoft.com/office/drawing/2014/main" id="{22EFD548-90D8-EAE7-7E12-55FF7B511C18}"/>
              </a:ext>
            </a:extLst>
          </p:cNvPr>
          <p:cNvCxnSpPr>
            <a:cxnSpLocks/>
          </p:cNvCxnSpPr>
          <p:nvPr/>
        </p:nvCxnSpPr>
        <p:spPr>
          <a:xfrm flipH="1" flipV="1">
            <a:off x="6206358" y="2780278"/>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直接箭头连接符 122">
            <a:extLst>
              <a:ext uri="{FF2B5EF4-FFF2-40B4-BE49-F238E27FC236}">
                <a16:creationId xmlns:a16="http://schemas.microsoft.com/office/drawing/2014/main" id="{F373EE90-0AF8-F377-60F8-51E8FBC2B089}"/>
              </a:ext>
            </a:extLst>
          </p:cNvPr>
          <p:cNvCxnSpPr>
            <a:cxnSpLocks/>
          </p:cNvCxnSpPr>
          <p:nvPr/>
        </p:nvCxnSpPr>
        <p:spPr>
          <a:xfrm flipH="1" flipV="1">
            <a:off x="3587956" y="2864353"/>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直接箭头连接符 123">
            <a:extLst>
              <a:ext uri="{FF2B5EF4-FFF2-40B4-BE49-F238E27FC236}">
                <a16:creationId xmlns:a16="http://schemas.microsoft.com/office/drawing/2014/main" id="{BAB28E9A-82F4-6B8A-42CF-E8DB9BD7E919}"/>
              </a:ext>
            </a:extLst>
          </p:cNvPr>
          <p:cNvCxnSpPr>
            <a:cxnSpLocks/>
          </p:cNvCxnSpPr>
          <p:nvPr/>
        </p:nvCxnSpPr>
        <p:spPr>
          <a:xfrm flipH="1" flipV="1">
            <a:off x="5256847" y="1703553"/>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直接箭头连接符 124">
            <a:extLst>
              <a:ext uri="{FF2B5EF4-FFF2-40B4-BE49-F238E27FC236}">
                <a16:creationId xmlns:a16="http://schemas.microsoft.com/office/drawing/2014/main" id="{5216DEEA-BAE7-5406-4CD7-E1B791DE190D}"/>
              </a:ext>
            </a:extLst>
          </p:cNvPr>
          <p:cNvCxnSpPr>
            <a:cxnSpLocks/>
          </p:cNvCxnSpPr>
          <p:nvPr/>
        </p:nvCxnSpPr>
        <p:spPr>
          <a:xfrm flipH="1" flipV="1">
            <a:off x="6191975" y="4090254"/>
            <a:ext cx="205"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7" name="直接箭头连接符 126">
            <a:extLst>
              <a:ext uri="{FF2B5EF4-FFF2-40B4-BE49-F238E27FC236}">
                <a16:creationId xmlns:a16="http://schemas.microsoft.com/office/drawing/2014/main" id="{2CAC415E-87C2-2952-7879-B8BC73FB4A55}"/>
              </a:ext>
            </a:extLst>
          </p:cNvPr>
          <p:cNvCxnSpPr/>
          <p:nvPr/>
        </p:nvCxnSpPr>
        <p:spPr>
          <a:xfrm>
            <a:off x="1600070" y="1347614"/>
            <a:ext cx="229259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8" name="文本框 127">
            <a:extLst>
              <a:ext uri="{FF2B5EF4-FFF2-40B4-BE49-F238E27FC236}">
                <a16:creationId xmlns:a16="http://schemas.microsoft.com/office/drawing/2014/main" id="{0A451981-A65A-CDD6-4A38-5D74060044A2}"/>
              </a:ext>
            </a:extLst>
          </p:cNvPr>
          <p:cNvSpPr txBox="1"/>
          <p:nvPr/>
        </p:nvSpPr>
        <p:spPr>
          <a:xfrm>
            <a:off x="2455591" y="1207758"/>
            <a:ext cx="431528" cy="276999"/>
          </a:xfrm>
          <a:prstGeom prst="rect">
            <a:avLst/>
          </a:prstGeom>
          <a:solidFill>
            <a:srgbClr val="F2F2F2"/>
          </a:solidFill>
        </p:spPr>
        <p:txBody>
          <a:bodyPr wrap="none" rtlCol="0">
            <a:spAutoFit/>
          </a:bodyPr>
          <a:lstStyle/>
          <a:p>
            <a:r>
              <a:rPr lang="zh-CN" altLang="en-US" sz="1200" b="1" i="1" dirty="0"/>
              <a:t>源</a:t>
            </a:r>
            <a:r>
              <a:rPr lang="en-US" altLang="zh-CN" sz="1200" b="1" i="1" dirty="0"/>
              <a:t>A</a:t>
            </a:r>
            <a:endParaRPr lang="zh-CN" altLang="en-US" sz="1200" b="1" i="1" dirty="0"/>
          </a:p>
        </p:txBody>
      </p:sp>
      <p:cxnSp>
        <p:nvCxnSpPr>
          <p:cNvPr id="129" name="直接箭头连接符 128">
            <a:extLst>
              <a:ext uri="{FF2B5EF4-FFF2-40B4-BE49-F238E27FC236}">
                <a16:creationId xmlns:a16="http://schemas.microsoft.com/office/drawing/2014/main" id="{FA9F076B-FD46-CF6F-CB76-18ED645FFFC5}"/>
              </a:ext>
            </a:extLst>
          </p:cNvPr>
          <p:cNvCxnSpPr/>
          <p:nvPr/>
        </p:nvCxnSpPr>
        <p:spPr>
          <a:xfrm>
            <a:off x="4825634" y="1359889"/>
            <a:ext cx="229259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0" name="文本框 129">
            <a:extLst>
              <a:ext uri="{FF2B5EF4-FFF2-40B4-BE49-F238E27FC236}">
                <a16:creationId xmlns:a16="http://schemas.microsoft.com/office/drawing/2014/main" id="{CD0E0363-18B2-4A25-BAFB-0F87F8037F64}"/>
              </a:ext>
            </a:extLst>
          </p:cNvPr>
          <p:cNvSpPr txBox="1"/>
          <p:nvPr/>
        </p:nvSpPr>
        <p:spPr>
          <a:xfrm>
            <a:off x="5681155" y="1220033"/>
            <a:ext cx="425116" cy="276999"/>
          </a:xfrm>
          <a:prstGeom prst="rect">
            <a:avLst/>
          </a:prstGeom>
          <a:solidFill>
            <a:srgbClr val="F2F2F2"/>
          </a:solidFill>
        </p:spPr>
        <p:txBody>
          <a:bodyPr wrap="none" rtlCol="0">
            <a:spAutoFit/>
          </a:bodyPr>
          <a:lstStyle/>
          <a:p>
            <a:r>
              <a:rPr lang="zh-CN" altLang="en-US" sz="1200" b="1" i="1" dirty="0"/>
              <a:t>宿</a:t>
            </a:r>
            <a:r>
              <a:rPr lang="en-US" altLang="zh-CN" sz="1200" b="1" i="1" dirty="0"/>
              <a:t>B</a:t>
            </a:r>
            <a:endParaRPr lang="zh-CN" altLang="en-US" sz="1200" b="1" i="1" dirty="0"/>
          </a:p>
        </p:txBody>
      </p:sp>
    </p:spTree>
    <p:extLst>
      <p:ext uri="{BB962C8B-B14F-4D97-AF65-F5344CB8AC3E}">
        <p14:creationId xmlns:p14="http://schemas.microsoft.com/office/powerpoint/2010/main" val="179117542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63763"/>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函数与加密的区别：</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算法不要求可逆，而加密算法必须可逆。</a:t>
            </a:r>
          </a:p>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函数与</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函数的区别：</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算法的输入包含密钥，而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不包含。</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26191948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610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基于杂凑函数</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(HASH)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的认证</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杂凑函数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是一公开函数，用于将任意长的消息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映射为较短的、固定长度的一个值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，作为认证符，称函数值</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为杂凑值、杂凑码或消息摘要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杂凑码是消息中所有比特的函数，因此提供了一种错误检测能力，即改变消息中任何一个比特或几个比特都会使杂凑码发生改变</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40107140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396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杂凑函数用来提供消息认证的基本使用方式共有</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ea"/>
              <a:buAutoNum type="circleNumDbPlai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消息与杂凑码链接后用对称密码体制加密，即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en-US" altLang="zh-CN"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[M||H(M)]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。由于所用密钥仅为收发双方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共享，因此可保证消息的确来自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并且未被篡改。同时还由于消息和杂凑码都被加密，这种方式还提供了保密性。</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66" name="组合 65">
            <a:extLst>
              <a:ext uri="{FF2B5EF4-FFF2-40B4-BE49-F238E27FC236}">
                <a16:creationId xmlns:a16="http://schemas.microsoft.com/office/drawing/2014/main" id="{0A3AEC1A-4F30-4243-A775-4035D07B9B88}"/>
              </a:ext>
            </a:extLst>
          </p:cNvPr>
          <p:cNvGrpSpPr/>
          <p:nvPr/>
        </p:nvGrpSpPr>
        <p:grpSpPr>
          <a:xfrm>
            <a:off x="846195" y="2634362"/>
            <a:ext cx="7448182" cy="2128258"/>
            <a:chOff x="846195" y="2634362"/>
            <a:chExt cx="7448182" cy="2128258"/>
          </a:xfrm>
        </p:grpSpPr>
        <p:sp>
          <p:nvSpPr>
            <p:cNvPr id="10" name="矩形 9">
              <a:extLst>
                <a:ext uri="{FF2B5EF4-FFF2-40B4-BE49-F238E27FC236}">
                  <a16:creationId xmlns:a16="http://schemas.microsoft.com/office/drawing/2014/main" id="{7CCD5C48-67CB-42C7-8B9E-D0286D28AB27}"/>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11" name="椭圆 10">
              <a:extLst>
                <a:ext uri="{FF2B5EF4-FFF2-40B4-BE49-F238E27FC236}">
                  <a16:creationId xmlns:a16="http://schemas.microsoft.com/office/drawing/2014/main" id="{D0730EC0-12B0-4B82-A0C4-74092B6C1000}"/>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13" name="椭圆 12">
              <a:extLst>
                <a:ext uri="{FF2B5EF4-FFF2-40B4-BE49-F238E27FC236}">
                  <a16:creationId xmlns:a16="http://schemas.microsoft.com/office/drawing/2014/main" id="{02D57A78-EE57-411E-8F97-9ADF835593C0}"/>
                </a:ext>
              </a:extLst>
            </p:cNvPr>
            <p:cNvSpPr/>
            <p:nvPr/>
          </p:nvSpPr>
          <p:spPr>
            <a:xfrm>
              <a:off x="1907704" y="4299942"/>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14" name="椭圆 13">
              <a:extLst>
                <a:ext uri="{FF2B5EF4-FFF2-40B4-BE49-F238E27FC236}">
                  <a16:creationId xmlns:a16="http://schemas.microsoft.com/office/drawing/2014/main" id="{579F0C97-3DE6-43A4-A388-86318B2DAD32}"/>
                </a:ext>
              </a:extLst>
            </p:cNvPr>
            <p:cNvSpPr/>
            <p:nvPr/>
          </p:nvSpPr>
          <p:spPr>
            <a:xfrm>
              <a:off x="3707904" y="336383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15" name="椭圆 14">
              <a:extLst>
                <a:ext uri="{FF2B5EF4-FFF2-40B4-BE49-F238E27FC236}">
                  <a16:creationId xmlns:a16="http://schemas.microsoft.com/office/drawing/2014/main" id="{9FBA06B0-3046-4B38-ADD9-AA45EEAB6E21}"/>
                </a:ext>
              </a:extLst>
            </p:cNvPr>
            <p:cNvSpPr/>
            <p:nvPr/>
          </p:nvSpPr>
          <p:spPr>
            <a:xfrm>
              <a:off x="5364088" y="3375165"/>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16" name="椭圆 15">
              <a:extLst>
                <a:ext uri="{FF2B5EF4-FFF2-40B4-BE49-F238E27FC236}">
                  <a16:creationId xmlns:a16="http://schemas.microsoft.com/office/drawing/2014/main" id="{8B96BCFA-4F8D-4FD4-B830-40352608429D}"/>
                </a:ext>
              </a:extLst>
            </p:cNvPr>
            <p:cNvSpPr/>
            <p:nvPr/>
          </p:nvSpPr>
          <p:spPr>
            <a:xfrm>
              <a:off x="6998237" y="3195145"/>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17" name="矩形 16">
              <a:extLst>
                <a:ext uri="{FF2B5EF4-FFF2-40B4-BE49-F238E27FC236}">
                  <a16:creationId xmlns:a16="http://schemas.microsoft.com/office/drawing/2014/main" id="{882426A5-8736-4F2E-814D-49B28A283AFA}"/>
                </a:ext>
              </a:extLst>
            </p:cNvPr>
            <p:cNvSpPr/>
            <p:nvPr/>
          </p:nvSpPr>
          <p:spPr>
            <a:xfrm>
              <a:off x="4460958" y="3075806"/>
              <a:ext cx="288032" cy="792088"/>
            </a:xfrm>
            <a:prstGeom prst="rect">
              <a:avLst/>
            </a:prstGeom>
            <a:pattFill prst="smCheck">
              <a:fgClr>
                <a:schemeClr val="dk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20" name="矩形 19">
              <a:extLst>
                <a:ext uri="{FF2B5EF4-FFF2-40B4-BE49-F238E27FC236}">
                  <a16:creationId xmlns:a16="http://schemas.microsoft.com/office/drawing/2014/main" id="{BB12AC59-8B40-4266-8C09-CEC52A62308F}"/>
                </a:ext>
              </a:extLst>
            </p:cNvPr>
            <p:cNvSpPr/>
            <p:nvPr/>
          </p:nvSpPr>
          <p:spPr>
            <a:xfrm>
              <a:off x="6087846" y="3112331"/>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21" name="矩形 20">
              <a:extLst>
                <a:ext uri="{FF2B5EF4-FFF2-40B4-BE49-F238E27FC236}">
                  <a16:creationId xmlns:a16="http://schemas.microsoft.com/office/drawing/2014/main" id="{0CDE9B19-F0E4-447D-B5FE-69A4B8DDDAF2}"/>
                </a:ext>
              </a:extLst>
            </p:cNvPr>
            <p:cNvSpPr/>
            <p:nvPr/>
          </p:nvSpPr>
          <p:spPr>
            <a:xfrm>
              <a:off x="6087846" y="3926179"/>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2BD6FADE-5B34-4F1C-99C4-AAB09F1055AA}"/>
                </a:ext>
              </a:extLst>
            </p:cNvPr>
            <p:cNvSpPr txBox="1"/>
            <p:nvPr/>
          </p:nvSpPr>
          <p:spPr>
            <a:xfrm>
              <a:off x="3809367" y="4202963"/>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EE227593-4249-43E1-8648-2729C72C8380}"/>
                </a:ext>
              </a:extLst>
            </p:cNvPr>
            <p:cNvSpPr txBox="1"/>
            <p:nvPr/>
          </p:nvSpPr>
          <p:spPr>
            <a:xfrm>
              <a:off x="5470470" y="418870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D7DAE4D1-12C7-4EE0-9E40-8E8C49F618E1}"/>
                </a:ext>
              </a:extLst>
            </p:cNvPr>
            <p:cNvSpPr txBox="1"/>
            <p:nvPr/>
          </p:nvSpPr>
          <p:spPr>
            <a:xfrm>
              <a:off x="7740510"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p:sp>
          <p:nvSpPr>
            <p:cNvPr id="24" name="文本框 23">
              <a:extLst>
                <a:ext uri="{FF2B5EF4-FFF2-40B4-BE49-F238E27FC236}">
                  <a16:creationId xmlns:a16="http://schemas.microsoft.com/office/drawing/2014/main" id="{CBF6C2D0-3207-453F-818B-F5F05C26039C}"/>
                </a:ext>
              </a:extLst>
            </p:cNvPr>
            <p:cNvSpPr txBox="1"/>
            <p:nvPr/>
          </p:nvSpPr>
          <p:spPr>
            <a:xfrm>
              <a:off x="4067944" y="3862598"/>
              <a:ext cx="1388469" cy="276999"/>
            </a:xfrm>
            <a:prstGeom prst="rect">
              <a:avLst/>
            </a:prstGeom>
            <a:noFill/>
          </p:spPr>
          <p:txBody>
            <a:bodyPr wrap="square" lIns="0" tIns="0" rIns="0" bIns="0"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E</a:t>
              </a:r>
              <a:r>
                <a:rPr lang="en-US" altLang="zh-CN" b="1" baseline="-25000" dirty="0">
                  <a:solidFill>
                    <a:srgbClr val="FF0000"/>
                  </a:solidFill>
                  <a:latin typeface="Times New Roman" panose="02020603050405020304" pitchFamily="18" charset="0"/>
                  <a:cs typeface="Times New Roman" panose="02020603050405020304" pitchFamily="18" charset="0"/>
                </a:rPr>
                <a:t>k</a:t>
              </a:r>
              <a:r>
                <a:rPr lang="en-US" altLang="zh-CN" b="1" dirty="0">
                  <a:solidFill>
                    <a:srgbClr val="FF0000"/>
                  </a:solidFill>
                  <a:latin typeface="Times New Roman" panose="02020603050405020304" pitchFamily="18" charset="0"/>
                  <a:cs typeface="Times New Roman" panose="02020603050405020304" pitchFamily="18" charset="0"/>
                </a:rPr>
                <a:t>[M||H(M)]</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215D3149-B12E-48B2-B9B0-A6A2BDEDC4E9}"/>
                </a:ext>
              </a:extLst>
            </p:cNvPr>
            <p:cNvSpPr txBox="1"/>
            <p:nvPr/>
          </p:nvSpPr>
          <p:spPr>
            <a:xfrm>
              <a:off x="5609567" y="4485621"/>
              <a:ext cx="618617"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H(M)</a:t>
              </a:r>
              <a:endParaRPr lang="zh-CN" altLang="en-US" b="1" i="1" dirty="0">
                <a:latin typeface="Times New Roman" panose="02020603050405020304" pitchFamily="18" charset="0"/>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58AB814E-F44E-438E-B2A9-54E82E9FE775}"/>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0ED7F83D-FC83-49E4-B4CD-07A85C9CEEF8}"/>
                </a:ext>
              </a:extLst>
            </p:cNvPr>
            <p:cNvCxnSpPr>
              <a:cxnSpLocks/>
            </p:cNvCxnSpPr>
            <p:nvPr/>
          </p:nvCxnSpPr>
          <p:spPr>
            <a:xfrm>
              <a:off x="5364088"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8EB80B54-1D77-4891-A044-4BA75278FF37}"/>
                </a:ext>
              </a:extLst>
            </p:cNvPr>
            <p:cNvCxnSpPr>
              <a:stCxn id="10"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FF4AFFDD-49DD-4376-890C-53B9A9A3DF3F}"/>
                </a:ext>
              </a:extLst>
            </p:cNvPr>
            <p:cNvCxnSpPr>
              <a:cxnSpLocks/>
            </p:cNvCxnSpPr>
            <p:nvPr/>
          </p:nvCxnSpPr>
          <p:spPr>
            <a:xfrm>
              <a:off x="1145144" y="3755994"/>
              <a:ext cx="782168" cy="689552"/>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EFB9B55A-745C-47F0-86A7-0BC024120F95}"/>
                </a:ext>
              </a:extLst>
            </p:cNvPr>
            <p:cNvCxnSpPr>
              <a:cxnSpLocks/>
              <a:stCxn id="13" idx="6"/>
              <a:endCxn id="11" idx="2"/>
            </p:cNvCxnSpPr>
            <p:nvPr/>
          </p:nvCxnSpPr>
          <p:spPr>
            <a:xfrm flipV="1">
              <a:off x="2267744" y="3543858"/>
              <a:ext cx="720080" cy="93610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9E009883-D960-4A02-AF34-47EAA2FC7827}"/>
                </a:ext>
              </a:extLst>
            </p:cNvPr>
            <p:cNvCxnSpPr>
              <a:stCxn id="11" idx="6"/>
              <a:endCxn id="14" idx="2"/>
            </p:cNvCxnSpPr>
            <p:nvPr/>
          </p:nvCxnSpPr>
          <p:spPr>
            <a:xfrm>
              <a:off x="3347864" y="3543858"/>
              <a:ext cx="36004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688170FF-1E0A-4915-801D-212D34047E0D}"/>
                </a:ext>
              </a:extLst>
            </p:cNvPr>
            <p:cNvCxnSpPr/>
            <p:nvPr/>
          </p:nvCxnSpPr>
          <p:spPr>
            <a:xfrm>
              <a:off x="4067944" y="3555185"/>
              <a:ext cx="396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75527BB5-651E-4B7F-81E8-2A295718B6F2}"/>
                </a:ext>
              </a:extLst>
            </p:cNvPr>
            <p:cNvCxnSpPr/>
            <p:nvPr/>
          </p:nvCxnSpPr>
          <p:spPr>
            <a:xfrm>
              <a:off x="4762178" y="355518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7E62D3BD-C33D-43FF-8F11-AB31CBCF7ABA}"/>
                </a:ext>
              </a:extLst>
            </p:cNvPr>
            <p:cNvCxnSpPr/>
            <p:nvPr/>
          </p:nvCxnSpPr>
          <p:spPr>
            <a:xfrm>
              <a:off x="5724128" y="3543858"/>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D04C9F0F-5C91-4532-A6BA-5C3FC4CF8050}"/>
                </a:ext>
              </a:extLst>
            </p:cNvPr>
            <p:cNvCxnSpPr/>
            <p:nvPr/>
          </p:nvCxnSpPr>
          <p:spPr>
            <a:xfrm>
              <a:off x="6516214" y="3375165"/>
              <a:ext cx="46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436039A3-3006-4F78-B6B8-0858FFB11768}"/>
                </a:ext>
              </a:extLst>
            </p:cNvPr>
            <p:cNvCxnSpPr>
              <a:cxnSpLocks/>
            </p:cNvCxnSpPr>
            <p:nvPr/>
          </p:nvCxnSpPr>
          <p:spPr>
            <a:xfrm flipV="1">
              <a:off x="3893623" y="3712673"/>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C4CA11F6-C1CE-4050-AE90-C067EC298217}"/>
                </a:ext>
              </a:extLst>
            </p:cNvPr>
            <p:cNvCxnSpPr>
              <a:cxnSpLocks/>
            </p:cNvCxnSpPr>
            <p:nvPr/>
          </p:nvCxnSpPr>
          <p:spPr>
            <a:xfrm flipV="1">
              <a:off x="5545954" y="3753434"/>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1E46CB9-BCF6-405C-839A-5C58787E86DA}"/>
                </a:ext>
              </a:extLst>
            </p:cNvPr>
            <p:cNvCxnSpPr>
              <a:cxnSpLocks/>
              <a:endCxn id="21" idx="2"/>
            </p:cNvCxnSpPr>
            <p:nvPr/>
          </p:nvCxnSpPr>
          <p:spPr>
            <a:xfrm flipV="1">
              <a:off x="5904128" y="4155926"/>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F4AF265E-4DE2-4FAD-9531-B8C69F27F3EE}"/>
                </a:ext>
              </a:extLst>
            </p:cNvPr>
            <p:cNvCxnSpPr>
              <a:cxnSpLocks/>
              <a:stCxn id="21" idx="3"/>
              <a:endCxn id="23" idx="2"/>
            </p:cNvCxnSpPr>
            <p:nvPr/>
          </p:nvCxnSpPr>
          <p:spPr>
            <a:xfrm>
              <a:off x="6516214" y="4041053"/>
              <a:ext cx="1501230" cy="23625"/>
            </a:xfrm>
            <a:prstGeom prst="bentConnector4">
              <a:avLst>
                <a:gd name="adj1" fmla="val 14035"/>
                <a:gd name="adj2" fmla="val 175989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连接符: 肘形 61">
              <a:extLst>
                <a:ext uri="{FF2B5EF4-FFF2-40B4-BE49-F238E27FC236}">
                  <a16:creationId xmlns:a16="http://schemas.microsoft.com/office/drawing/2014/main" id="{63F49268-F237-409B-89FD-17EB2EC322CF}"/>
                </a:ext>
              </a:extLst>
            </p:cNvPr>
            <p:cNvCxnSpPr>
              <a:cxnSpLocks/>
            </p:cNvCxnSpPr>
            <p:nvPr/>
          </p:nvCxnSpPr>
          <p:spPr>
            <a:xfrm>
              <a:off x="7372300" y="3360439"/>
              <a:ext cx="659167" cy="38949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4E40F00E-929B-4F07-8C55-63E90B7B10C7}"/>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65" name="文本框 64">
              <a:extLst>
                <a:ext uri="{FF2B5EF4-FFF2-40B4-BE49-F238E27FC236}">
                  <a16:creationId xmlns:a16="http://schemas.microsoft.com/office/drawing/2014/main" id="{32B2A8B2-C070-4A4F-9E86-782411653534}"/>
                </a:ext>
              </a:extLst>
            </p:cNvPr>
            <p:cNvSpPr txBox="1"/>
            <p:nvPr/>
          </p:nvSpPr>
          <p:spPr>
            <a:xfrm>
              <a:off x="6302030"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66295111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46917"/>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2"/>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用对称密码体制仅对杂凑码加密，即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M||E</a:t>
            </a:r>
            <a:r>
              <a:rPr lang="en-US" altLang="zh-CN"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。这种方式中消息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是以明文的形式传递，因此不能提供机密性，用于不要求保密性的情况下，可减少处理负担。</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56" name="组合 55">
            <a:extLst>
              <a:ext uri="{FF2B5EF4-FFF2-40B4-BE49-F238E27FC236}">
                <a16:creationId xmlns:a16="http://schemas.microsoft.com/office/drawing/2014/main" id="{508DDADA-51B6-419B-BEA1-06916CE73816}"/>
              </a:ext>
            </a:extLst>
          </p:cNvPr>
          <p:cNvGrpSpPr/>
          <p:nvPr/>
        </p:nvGrpSpPr>
        <p:grpSpPr>
          <a:xfrm>
            <a:off x="846195" y="2634362"/>
            <a:ext cx="6606125" cy="2097316"/>
            <a:chOff x="846195" y="2634362"/>
            <a:chExt cx="6606125" cy="2097316"/>
          </a:xfrm>
        </p:grpSpPr>
        <p:sp>
          <p:nvSpPr>
            <p:cNvPr id="5" name="矩形 4">
              <a:extLst>
                <a:ext uri="{FF2B5EF4-FFF2-40B4-BE49-F238E27FC236}">
                  <a16:creationId xmlns:a16="http://schemas.microsoft.com/office/drawing/2014/main" id="{AD5DB8A7-877D-47ED-9694-129FA808242D}"/>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6" name="椭圆 5">
              <a:extLst>
                <a:ext uri="{FF2B5EF4-FFF2-40B4-BE49-F238E27FC236}">
                  <a16:creationId xmlns:a16="http://schemas.microsoft.com/office/drawing/2014/main" id="{AC58E25F-2080-45DB-8F79-47D7160F5C88}"/>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7" name="椭圆 6">
              <a:extLst>
                <a:ext uri="{FF2B5EF4-FFF2-40B4-BE49-F238E27FC236}">
                  <a16:creationId xmlns:a16="http://schemas.microsoft.com/office/drawing/2014/main" id="{E06F4683-7030-4560-B456-EC210596FFE1}"/>
                </a:ext>
              </a:extLst>
            </p:cNvPr>
            <p:cNvSpPr/>
            <p:nvPr/>
          </p:nvSpPr>
          <p:spPr>
            <a:xfrm>
              <a:off x="1535912" y="431940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8" name="椭圆 7">
              <a:extLst>
                <a:ext uri="{FF2B5EF4-FFF2-40B4-BE49-F238E27FC236}">
                  <a16:creationId xmlns:a16="http://schemas.microsoft.com/office/drawing/2014/main" id="{1D96510E-2893-4EF9-95EC-5A4F0540F85E}"/>
                </a:ext>
              </a:extLst>
            </p:cNvPr>
            <p:cNvSpPr/>
            <p:nvPr/>
          </p:nvSpPr>
          <p:spPr>
            <a:xfrm>
              <a:off x="2267744" y="431940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9" name="椭圆 8">
              <a:extLst>
                <a:ext uri="{FF2B5EF4-FFF2-40B4-BE49-F238E27FC236}">
                  <a16:creationId xmlns:a16="http://schemas.microsoft.com/office/drawing/2014/main" id="{0BA3E73D-79C2-472E-9553-5B3B816DB84F}"/>
                </a:ext>
              </a:extLst>
            </p:cNvPr>
            <p:cNvSpPr/>
            <p:nvPr/>
          </p:nvSpPr>
          <p:spPr>
            <a:xfrm>
              <a:off x="5516513" y="431940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10" name="椭圆 9">
              <a:extLst>
                <a:ext uri="{FF2B5EF4-FFF2-40B4-BE49-F238E27FC236}">
                  <a16:creationId xmlns:a16="http://schemas.microsoft.com/office/drawing/2014/main" id="{C1559EB5-8B6A-414C-AF6C-56CA4F6668C2}"/>
                </a:ext>
              </a:extLst>
            </p:cNvPr>
            <p:cNvSpPr/>
            <p:nvPr/>
          </p:nvSpPr>
          <p:spPr>
            <a:xfrm>
              <a:off x="550810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12" name="矩形 11">
              <a:extLst>
                <a:ext uri="{FF2B5EF4-FFF2-40B4-BE49-F238E27FC236}">
                  <a16:creationId xmlns:a16="http://schemas.microsoft.com/office/drawing/2014/main" id="{4F2E9199-FEC1-4257-B306-6F6C13A9C70A}"/>
                </a:ext>
              </a:extLst>
            </p:cNvPr>
            <p:cNvSpPr/>
            <p:nvPr/>
          </p:nvSpPr>
          <p:spPr>
            <a:xfrm>
              <a:off x="4438639" y="3046665"/>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13" name="矩形 12">
              <a:extLst>
                <a:ext uri="{FF2B5EF4-FFF2-40B4-BE49-F238E27FC236}">
                  <a16:creationId xmlns:a16="http://schemas.microsoft.com/office/drawing/2014/main" id="{74209CDD-01D0-4584-9B57-2243AE3C8463}"/>
                </a:ext>
              </a:extLst>
            </p:cNvPr>
            <p:cNvSpPr/>
            <p:nvPr/>
          </p:nvSpPr>
          <p:spPr>
            <a:xfrm>
              <a:off x="4438639" y="3860513"/>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7EA0176A-F7A3-4321-8615-214F0CE363BE}"/>
                </a:ext>
              </a:extLst>
            </p:cNvPr>
            <p:cNvSpPr txBox="1"/>
            <p:nvPr/>
          </p:nvSpPr>
          <p:spPr>
            <a:xfrm>
              <a:off x="2398663" y="380691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80B71ECC-FEA5-4E14-B47B-2B825BEEF501}"/>
                </a:ext>
              </a:extLst>
            </p:cNvPr>
            <p:cNvSpPr txBox="1"/>
            <p:nvPr/>
          </p:nvSpPr>
          <p:spPr>
            <a:xfrm>
              <a:off x="6713472"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p:sp>
          <p:nvSpPr>
            <p:cNvPr id="17" name="文本框 16">
              <a:extLst>
                <a:ext uri="{FF2B5EF4-FFF2-40B4-BE49-F238E27FC236}">
                  <a16:creationId xmlns:a16="http://schemas.microsoft.com/office/drawing/2014/main" id="{8E0B6B12-9598-4520-BFF1-0E76C951EC32}"/>
                </a:ext>
              </a:extLst>
            </p:cNvPr>
            <p:cNvSpPr txBox="1"/>
            <p:nvPr/>
          </p:nvSpPr>
          <p:spPr>
            <a:xfrm>
              <a:off x="3647606" y="4454679"/>
              <a:ext cx="1388469" cy="276999"/>
            </a:xfrm>
            <a:prstGeom prst="rect">
              <a:avLst/>
            </a:prstGeom>
            <a:noFill/>
          </p:spPr>
          <p:txBody>
            <a:bodyPr wrap="square" lIns="0" tIns="0" rIns="0" bIns="0" rtlCol="0">
              <a:spAutoFit/>
            </a:bodyPr>
            <a:lstStyle/>
            <a:p>
              <a:r>
                <a:rPr lang="en-US" altLang="zh-CN" b="1" dirty="0">
                  <a:solidFill>
                    <a:srgbClr val="FF0000"/>
                  </a:solidFill>
                  <a:latin typeface="Times New Roman" panose="02020603050405020304" pitchFamily="18" charset="0"/>
                  <a:cs typeface="Times New Roman" panose="02020603050405020304" pitchFamily="18" charset="0"/>
                </a:rPr>
                <a:t>M || E</a:t>
              </a:r>
              <a:r>
                <a:rPr lang="en-US" altLang="zh-CN" b="1" baseline="-25000" dirty="0">
                  <a:solidFill>
                    <a:srgbClr val="FF0000"/>
                  </a:solidFill>
                  <a:latin typeface="Times New Roman" panose="02020603050405020304" pitchFamily="18" charset="0"/>
                  <a:cs typeface="Times New Roman" panose="02020603050405020304" pitchFamily="18" charset="0"/>
                </a:rPr>
                <a:t>k</a:t>
              </a:r>
              <a:r>
                <a:rPr lang="en-US" altLang="zh-CN" b="1" dirty="0">
                  <a:solidFill>
                    <a:srgbClr val="FF0000"/>
                  </a:solidFill>
                  <a:latin typeface="Times New Roman" panose="02020603050405020304" pitchFamily="18" charset="0"/>
                  <a:cs typeface="Times New Roman" panose="02020603050405020304" pitchFamily="18" charset="0"/>
                </a:rPr>
                <a:t>[H(M)]</a:t>
              </a:r>
              <a:endParaRPr lang="zh-CN" altLang="en-US" b="1" dirty="0">
                <a:solidFill>
                  <a:srgbClr val="FF0000"/>
                </a:solidFill>
                <a:latin typeface="Times New Roman" panose="02020603050405020304" pitchFamily="18" charset="0"/>
                <a:cs typeface="Times New Roman" panose="02020603050405020304" pitchFamily="18" charset="0"/>
              </a:endParaRPr>
            </a:p>
          </p:txBody>
        </p:sp>
        <p:cxnSp>
          <p:nvCxnSpPr>
            <p:cNvPr id="20" name="直接箭头连接符 19">
              <a:extLst>
                <a:ext uri="{FF2B5EF4-FFF2-40B4-BE49-F238E27FC236}">
                  <a16:creationId xmlns:a16="http://schemas.microsoft.com/office/drawing/2014/main" id="{4C4CC583-4674-424E-A545-5C9F0BE2B1F7}"/>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1D645545-50D7-4E28-B447-BD17CD8A5A8D}"/>
                </a:ext>
              </a:extLst>
            </p:cNvPr>
            <p:cNvCxnSpPr>
              <a:cxnSpLocks/>
            </p:cNvCxnSpPr>
            <p:nvPr/>
          </p:nvCxnSpPr>
          <p:spPr>
            <a:xfrm>
              <a:off x="4860032"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F11BE97A-FC69-4085-8BD2-ED72A3A96954}"/>
                </a:ext>
              </a:extLst>
            </p:cNvPr>
            <p:cNvCxnSpPr>
              <a:stCxn id="5"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54D0A786-DC51-4106-8194-30BCBFC883DF}"/>
                </a:ext>
              </a:extLst>
            </p:cNvPr>
            <p:cNvCxnSpPr>
              <a:cxnSpLocks/>
            </p:cNvCxnSpPr>
            <p:nvPr/>
          </p:nvCxnSpPr>
          <p:spPr>
            <a:xfrm>
              <a:off x="1145144" y="3755994"/>
              <a:ext cx="396000" cy="756000"/>
            </a:xfrm>
            <a:prstGeom prst="bentConnector3">
              <a:avLst>
                <a:gd name="adj1" fmla="val 3548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CC45555E-D782-4FD0-BBB4-E414D2C46ABD}"/>
                </a:ext>
              </a:extLst>
            </p:cNvPr>
            <p:cNvCxnSpPr>
              <a:cxnSpLocks/>
              <a:stCxn id="8" idx="6"/>
              <a:endCxn id="6" idx="2"/>
            </p:cNvCxnSpPr>
            <p:nvPr/>
          </p:nvCxnSpPr>
          <p:spPr>
            <a:xfrm flipV="1">
              <a:off x="2627784" y="3543858"/>
              <a:ext cx="360040" cy="95557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AB7C6F4-9FBF-4049-A04F-EAF03A2421A3}"/>
                </a:ext>
              </a:extLst>
            </p:cNvPr>
            <p:cNvCxnSpPr>
              <a:cxnSpLocks/>
            </p:cNvCxnSpPr>
            <p:nvPr/>
          </p:nvCxnSpPr>
          <p:spPr>
            <a:xfrm flipV="1">
              <a:off x="3347864" y="3507854"/>
              <a:ext cx="11130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A7DC9D77-8108-4545-8937-F1E552FE234F}"/>
                </a:ext>
              </a:extLst>
            </p:cNvPr>
            <p:cNvCxnSpPr/>
            <p:nvPr/>
          </p:nvCxnSpPr>
          <p:spPr>
            <a:xfrm>
              <a:off x="4867007" y="350837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9086E2D-3297-4EE5-A838-F6BCAA646943}"/>
                </a:ext>
              </a:extLst>
            </p:cNvPr>
            <p:cNvCxnSpPr>
              <a:cxnSpLocks/>
            </p:cNvCxnSpPr>
            <p:nvPr/>
          </p:nvCxnSpPr>
          <p:spPr>
            <a:xfrm>
              <a:off x="2469674" y="4011942"/>
              <a:ext cx="0" cy="288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F960E179-09E8-4171-ABAD-45C8F4033B11}"/>
                </a:ext>
              </a:extLst>
            </p:cNvPr>
            <p:cNvCxnSpPr>
              <a:cxnSpLocks/>
              <a:endCxn id="13" idx="2"/>
            </p:cNvCxnSpPr>
            <p:nvPr/>
          </p:nvCxnSpPr>
          <p:spPr>
            <a:xfrm flipV="1">
              <a:off x="4254921" y="4090260"/>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0A68F9F3-0760-4492-BBF2-DDE38B97AB7A}"/>
                </a:ext>
              </a:extLst>
            </p:cNvPr>
            <p:cNvCxnSpPr>
              <a:cxnSpLocks/>
              <a:stCxn id="9" idx="6"/>
              <a:endCxn id="16" idx="2"/>
            </p:cNvCxnSpPr>
            <p:nvPr/>
          </p:nvCxnSpPr>
          <p:spPr>
            <a:xfrm flipV="1">
              <a:off x="5876553" y="4064678"/>
              <a:ext cx="1113853" cy="434750"/>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D3CB6AFB-1D88-446F-BA33-1B20D9761E9F}"/>
                </a:ext>
              </a:extLst>
            </p:cNvPr>
            <p:cNvCxnSpPr>
              <a:cxnSpLocks/>
              <a:stCxn id="10" idx="6"/>
              <a:endCxn id="16" idx="0"/>
            </p:cNvCxnSpPr>
            <p:nvPr/>
          </p:nvCxnSpPr>
          <p:spPr>
            <a:xfrm>
              <a:off x="5868144" y="3543858"/>
              <a:ext cx="1122262" cy="24382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851336E-A6E5-4DC0-A602-436CE401EE80}"/>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5F99A51E-B499-469D-A6D0-F5723A1E939E}"/>
                </a:ext>
              </a:extLst>
            </p:cNvPr>
            <p:cNvSpPr txBox="1"/>
            <p:nvPr/>
          </p:nvSpPr>
          <p:spPr>
            <a:xfrm>
              <a:off x="5797974"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cxnSp>
          <p:nvCxnSpPr>
            <p:cNvPr id="46" name="直接箭头连接符 45">
              <a:extLst>
                <a:ext uri="{FF2B5EF4-FFF2-40B4-BE49-F238E27FC236}">
                  <a16:creationId xmlns:a16="http://schemas.microsoft.com/office/drawing/2014/main" id="{07B2FDE2-E913-4D95-B199-8CF38F84DB2B}"/>
                </a:ext>
              </a:extLst>
            </p:cNvPr>
            <p:cNvCxnSpPr>
              <a:cxnSpLocks/>
            </p:cNvCxnSpPr>
            <p:nvPr/>
          </p:nvCxnSpPr>
          <p:spPr>
            <a:xfrm flipV="1">
              <a:off x="1895952" y="4502704"/>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2681F7C-EC9F-4D7C-8D12-F18DE94A6B09}"/>
                </a:ext>
              </a:extLst>
            </p:cNvPr>
            <p:cNvSpPr txBox="1"/>
            <p:nvPr/>
          </p:nvSpPr>
          <p:spPr>
            <a:xfrm>
              <a:off x="5605067" y="380691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9443C0A6-B34A-44AF-9280-CCFECA82D7F8}"/>
                </a:ext>
              </a:extLst>
            </p:cNvPr>
            <p:cNvCxnSpPr>
              <a:cxnSpLocks/>
            </p:cNvCxnSpPr>
            <p:nvPr/>
          </p:nvCxnSpPr>
          <p:spPr>
            <a:xfrm>
              <a:off x="5676078" y="4047942"/>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94419F1B-673D-485C-B56E-1BB1745A6B22}"/>
                </a:ext>
              </a:extLst>
            </p:cNvPr>
            <p:cNvCxnSpPr>
              <a:cxnSpLocks/>
              <a:endCxn id="9" idx="2"/>
            </p:cNvCxnSpPr>
            <p:nvPr/>
          </p:nvCxnSpPr>
          <p:spPr>
            <a:xfrm>
              <a:off x="4867007" y="3989871"/>
              <a:ext cx="649506" cy="50955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94444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1932132"/>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3"/>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用公钥密码体制只对杂凑码进行加密，即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14:m>
                  <m:oMath xmlns:m="http://schemas.openxmlformats.org/officeDocument/2006/math">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。这种方式与上一种方式的区别是对杂凑值的加密保护使用公钥密码体制，即用发送方的私钥对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进行加密保护，接收方用发送方的公钥进行解密鉴别。这种方式能提供鉴别和数字签名，因为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受到加密保护，而且只有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能生成</a:t>
                </a:r>
                <a14:m>
                  <m:oMath xmlns:m="http://schemas.openxmlformats.org/officeDocument/2006/math">
                    <m:sSub>
                      <m:sSubPr>
                        <m:ctrlPr>
                          <a:rPr lang="en-US" altLang="zh-CN" b="1"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b="1"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r>
                      <a:rPr lang="en-US" altLang="zh-CN" b="1">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1932132"/>
              </a:xfrm>
              <a:prstGeom prst="rect">
                <a:avLst/>
              </a:prstGeom>
              <a:blipFill>
                <a:blip r:embed="rId3"/>
                <a:stretch>
                  <a:fillRect l="-520" b="-1262"/>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28" name="组合 27">
            <a:extLst>
              <a:ext uri="{FF2B5EF4-FFF2-40B4-BE49-F238E27FC236}">
                <a16:creationId xmlns:a16="http://schemas.microsoft.com/office/drawing/2014/main" id="{49A59C66-B600-43BF-A389-DA64CD16B6FB}"/>
              </a:ext>
            </a:extLst>
          </p:cNvPr>
          <p:cNvGrpSpPr/>
          <p:nvPr/>
        </p:nvGrpSpPr>
        <p:grpSpPr>
          <a:xfrm>
            <a:off x="846195" y="2634362"/>
            <a:ext cx="6606125" cy="2121105"/>
            <a:chOff x="846195" y="2634362"/>
            <a:chExt cx="6606125" cy="2121105"/>
          </a:xfrm>
        </p:grpSpPr>
        <p:sp>
          <p:nvSpPr>
            <p:cNvPr id="5" name="矩形 4">
              <a:extLst>
                <a:ext uri="{FF2B5EF4-FFF2-40B4-BE49-F238E27FC236}">
                  <a16:creationId xmlns:a16="http://schemas.microsoft.com/office/drawing/2014/main" id="{AD5DB8A7-877D-47ED-9694-129FA808242D}"/>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6" name="椭圆 5">
              <a:extLst>
                <a:ext uri="{FF2B5EF4-FFF2-40B4-BE49-F238E27FC236}">
                  <a16:creationId xmlns:a16="http://schemas.microsoft.com/office/drawing/2014/main" id="{AC58E25F-2080-45DB-8F79-47D7160F5C88}"/>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7" name="椭圆 6">
              <a:extLst>
                <a:ext uri="{FF2B5EF4-FFF2-40B4-BE49-F238E27FC236}">
                  <a16:creationId xmlns:a16="http://schemas.microsoft.com/office/drawing/2014/main" id="{E06F4683-7030-4560-B456-EC210596FFE1}"/>
                </a:ext>
              </a:extLst>
            </p:cNvPr>
            <p:cNvSpPr/>
            <p:nvPr/>
          </p:nvSpPr>
          <p:spPr>
            <a:xfrm>
              <a:off x="1535912" y="431940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8" name="椭圆 7">
              <a:extLst>
                <a:ext uri="{FF2B5EF4-FFF2-40B4-BE49-F238E27FC236}">
                  <a16:creationId xmlns:a16="http://schemas.microsoft.com/office/drawing/2014/main" id="{1D96510E-2893-4EF9-95EC-5A4F0540F85E}"/>
                </a:ext>
              </a:extLst>
            </p:cNvPr>
            <p:cNvSpPr/>
            <p:nvPr/>
          </p:nvSpPr>
          <p:spPr>
            <a:xfrm>
              <a:off x="2267744" y="431940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9" name="椭圆 8">
              <a:extLst>
                <a:ext uri="{FF2B5EF4-FFF2-40B4-BE49-F238E27FC236}">
                  <a16:creationId xmlns:a16="http://schemas.microsoft.com/office/drawing/2014/main" id="{0BA3E73D-79C2-472E-9553-5B3B816DB84F}"/>
                </a:ext>
              </a:extLst>
            </p:cNvPr>
            <p:cNvSpPr/>
            <p:nvPr/>
          </p:nvSpPr>
          <p:spPr>
            <a:xfrm>
              <a:off x="5516513" y="431940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10" name="椭圆 9">
              <a:extLst>
                <a:ext uri="{FF2B5EF4-FFF2-40B4-BE49-F238E27FC236}">
                  <a16:creationId xmlns:a16="http://schemas.microsoft.com/office/drawing/2014/main" id="{C1559EB5-8B6A-414C-AF6C-56CA4F6668C2}"/>
                </a:ext>
              </a:extLst>
            </p:cNvPr>
            <p:cNvSpPr/>
            <p:nvPr/>
          </p:nvSpPr>
          <p:spPr>
            <a:xfrm>
              <a:off x="550810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12" name="矩形 11">
              <a:extLst>
                <a:ext uri="{FF2B5EF4-FFF2-40B4-BE49-F238E27FC236}">
                  <a16:creationId xmlns:a16="http://schemas.microsoft.com/office/drawing/2014/main" id="{4F2E9199-FEC1-4257-B306-6F6C13A9C70A}"/>
                </a:ext>
              </a:extLst>
            </p:cNvPr>
            <p:cNvSpPr/>
            <p:nvPr/>
          </p:nvSpPr>
          <p:spPr>
            <a:xfrm>
              <a:off x="4438639" y="3046665"/>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13" name="矩形 12">
              <a:extLst>
                <a:ext uri="{FF2B5EF4-FFF2-40B4-BE49-F238E27FC236}">
                  <a16:creationId xmlns:a16="http://schemas.microsoft.com/office/drawing/2014/main" id="{74209CDD-01D0-4584-9B57-2243AE3C8463}"/>
                </a:ext>
              </a:extLst>
            </p:cNvPr>
            <p:cNvSpPr/>
            <p:nvPr/>
          </p:nvSpPr>
          <p:spPr>
            <a:xfrm>
              <a:off x="4438639" y="3860513"/>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7EA0176A-F7A3-4321-8615-214F0CE363BE}"/>
                </a:ext>
              </a:extLst>
            </p:cNvPr>
            <p:cNvSpPr txBox="1"/>
            <p:nvPr/>
          </p:nvSpPr>
          <p:spPr>
            <a:xfrm>
              <a:off x="2269412" y="3712872"/>
              <a:ext cx="480136"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KR</a:t>
              </a:r>
              <a:r>
                <a:rPr lang="en-US" altLang="zh-CN" b="1" i="1" baseline="-25000" dirty="0">
                  <a:latin typeface="Times New Roman" panose="02020603050405020304" pitchFamily="18" charset="0"/>
                  <a:cs typeface="Times New Roman" panose="02020603050405020304" pitchFamily="18" charset="0"/>
                </a:rPr>
                <a:t>A</a:t>
              </a:r>
              <a:endParaRPr lang="zh-CN" altLang="en-US" b="1" i="1" baseline="-250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80B71ECC-FEA5-4E14-B47B-2B825BEEF501}"/>
                </a:ext>
              </a:extLst>
            </p:cNvPr>
            <p:cNvSpPr txBox="1"/>
            <p:nvPr/>
          </p:nvSpPr>
          <p:spPr>
            <a:xfrm>
              <a:off x="6713472"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E0B6B12-9598-4520-BFF1-0E76C951EC32}"/>
                    </a:ext>
                  </a:extLst>
                </p:cNvPr>
                <p:cNvSpPr txBox="1"/>
                <p:nvPr/>
              </p:nvSpPr>
              <p:spPr>
                <a:xfrm>
                  <a:off x="3647606" y="4454679"/>
                  <a:ext cx="1388469" cy="3007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zh-CN" alt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8E0B6B12-9598-4520-BFF1-0E76C951EC32}"/>
                    </a:ext>
                  </a:extLst>
                </p:cNvPr>
                <p:cNvSpPr txBox="1">
                  <a:spLocks noRot="1" noChangeAspect="1" noMove="1" noResize="1" noEditPoints="1" noAdjustHandles="1" noChangeArrowheads="1" noChangeShapeType="1" noTextEdit="1"/>
                </p:cNvSpPr>
                <p:nvPr/>
              </p:nvSpPr>
              <p:spPr>
                <a:xfrm>
                  <a:off x="3647606" y="4454679"/>
                  <a:ext cx="1388469" cy="300788"/>
                </a:xfrm>
                <a:prstGeom prst="rect">
                  <a:avLst/>
                </a:prstGeom>
                <a:blipFill>
                  <a:blip r:embed="rId4"/>
                  <a:stretch>
                    <a:fillRect t="-2041" r="-1754" b="-28571"/>
                  </a:stretch>
                </a:blipFill>
              </p:spPr>
              <p:txBody>
                <a:bodyPr/>
                <a:lstStyle/>
                <a:p>
                  <a:r>
                    <a:rPr lang="zh-CN" altLang="en-US">
                      <a:noFill/>
                    </a:rPr>
                    <a:t> </a:t>
                  </a:r>
                </a:p>
              </p:txBody>
            </p:sp>
          </mc:Fallback>
        </mc:AlternateContent>
        <p:cxnSp>
          <p:nvCxnSpPr>
            <p:cNvPr id="20" name="直接箭头连接符 19">
              <a:extLst>
                <a:ext uri="{FF2B5EF4-FFF2-40B4-BE49-F238E27FC236}">
                  <a16:creationId xmlns:a16="http://schemas.microsoft.com/office/drawing/2014/main" id="{4C4CC583-4674-424E-A545-5C9F0BE2B1F7}"/>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1D645545-50D7-4E28-B447-BD17CD8A5A8D}"/>
                </a:ext>
              </a:extLst>
            </p:cNvPr>
            <p:cNvCxnSpPr>
              <a:cxnSpLocks/>
            </p:cNvCxnSpPr>
            <p:nvPr/>
          </p:nvCxnSpPr>
          <p:spPr>
            <a:xfrm>
              <a:off x="4860032"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F11BE97A-FC69-4085-8BD2-ED72A3A96954}"/>
                </a:ext>
              </a:extLst>
            </p:cNvPr>
            <p:cNvCxnSpPr>
              <a:stCxn id="5"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54D0A786-DC51-4106-8194-30BCBFC883DF}"/>
                </a:ext>
              </a:extLst>
            </p:cNvPr>
            <p:cNvCxnSpPr>
              <a:cxnSpLocks/>
            </p:cNvCxnSpPr>
            <p:nvPr/>
          </p:nvCxnSpPr>
          <p:spPr>
            <a:xfrm>
              <a:off x="1145144" y="3755994"/>
              <a:ext cx="396000" cy="756000"/>
            </a:xfrm>
            <a:prstGeom prst="bentConnector3">
              <a:avLst>
                <a:gd name="adj1" fmla="val 3548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CC45555E-D782-4FD0-BBB4-E414D2C46ABD}"/>
                </a:ext>
              </a:extLst>
            </p:cNvPr>
            <p:cNvCxnSpPr>
              <a:cxnSpLocks/>
              <a:stCxn id="8" idx="6"/>
              <a:endCxn id="6" idx="2"/>
            </p:cNvCxnSpPr>
            <p:nvPr/>
          </p:nvCxnSpPr>
          <p:spPr>
            <a:xfrm flipV="1">
              <a:off x="2627784" y="3543858"/>
              <a:ext cx="360040" cy="95557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AB7C6F4-9FBF-4049-A04F-EAF03A2421A3}"/>
                </a:ext>
              </a:extLst>
            </p:cNvPr>
            <p:cNvCxnSpPr>
              <a:cxnSpLocks/>
            </p:cNvCxnSpPr>
            <p:nvPr/>
          </p:nvCxnSpPr>
          <p:spPr>
            <a:xfrm flipV="1">
              <a:off x="3347864" y="3507854"/>
              <a:ext cx="11130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A7DC9D77-8108-4545-8937-F1E552FE234F}"/>
                </a:ext>
              </a:extLst>
            </p:cNvPr>
            <p:cNvCxnSpPr/>
            <p:nvPr/>
          </p:nvCxnSpPr>
          <p:spPr>
            <a:xfrm>
              <a:off x="4867007" y="350837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9086E2D-3297-4EE5-A838-F6BCAA646943}"/>
                </a:ext>
              </a:extLst>
            </p:cNvPr>
            <p:cNvCxnSpPr>
              <a:cxnSpLocks/>
            </p:cNvCxnSpPr>
            <p:nvPr/>
          </p:nvCxnSpPr>
          <p:spPr>
            <a:xfrm>
              <a:off x="2469674" y="4011942"/>
              <a:ext cx="0" cy="288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F960E179-09E8-4171-ABAD-45C8F4033B11}"/>
                </a:ext>
              </a:extLst>
            </p:cNvPr>
            <p:cNvCxnSpPr>
              <a:cxnSpLocks/>
              <a:endCxn id="13" idx="2"/>
            </p:cNvCxnSpPr>
            <p:nvPr/>
          </p:nvCxnSpPr>
          <p:spPr>
            <a:xfrm flipV="1">
              <a:off x="4254921" y="4090260"/>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0A68F9F3-0760-4492-BBF2-DDE38B97AB7A}"/>
                </a:ext>
              </a:extLst>
            </p:cNvPr>
            <p:cNvCxnSpPr>
              <a:cxnSpLocks/>
              <a:stCxn id="9" idx="6"/>
              <a:endCxn id="16" idx="2"/>
            </p:cNvCxnSpPr>
            <p:nvPr/>
          </p:nvCxnSpPr>
          <p:spPr>
            <a:xfrm flipV="1">
              <a:off x="5876553" y="4064678"/>
              <a:ext cx="1113853" cy="434750"/>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D3CB6AFB-1D88-446F-BA33-1B20D9761E9F}"/>
                </a:ext>
              </a:extLst>
            </p:cNvPr>
            <p:cNvCxnSpPr>
              <a:cxnSpLocks/>
              <a:stCxn id="10" idx="6"/>
              <a:endCxn id="16" idx="0"/>
            </p:cNvCxnSpPr>
            <p:nvPr/>
          </p:nvCxnSpPr>
          <p:spPr>
            <a:xfrm>
              <a:off x="5868144" y="3543858"/>
              <a:ext cx="1122262" cy="24382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851336E-A6E5-4DC0-A602-436CE401EE80}"/>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5F99A51E-B499-469D-A6D0-F5723A1E939E}"/>
                </a:ext>
              </a:extLst>
            </p:cNvPr>
            <p:cNvSpPr txBox="1"/>
            <p:nvPr/>
          </p:nvSpPr>
          <p:spPr>
            <a:xfrm>
              <a:off x="5797974"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cxnSp>
          <p:nvCxnSpPr>
            <p:cNvPr id="46" name="直接箭头连接符 45">
              <a:extLst>
                <a:ext uri="{FF2B5EF4-FFF2-40B4-BE49-F238E27FC236}">
                  <a16:creationId xmlns:a16="http://schemas.microsoft.com/office/drawing/2014/main" id="{07B2FDE2-E913-4D95-B199-8CF38F84DB2B}"/>
                </a:ext>
              </a:extLst>
            </p:cNvPr>
            <p:cNvCxnSpPr>
              <a:cxnSpLocks/>
            </p:cNvCxnSpPr>
            <p:nvPr/>
          </p:nvCxnSpPr>
          <p:spPr>
            <a:xfrm flipV="1">
              <a:off x="1895952" y="4502704"/>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2681F7C-EC9F-4D7C-8D12-F18DE94A6B09}"/>
                </a:ext>
              </a:extLst>
            </p:cNvPr>
            <p:cNvSpPr txBox="1"/>
            <p:nvPr/>
          </p:nvSpPr>
          <p:spPr>
            <a:xfrm>
              <a:off x="5515706" y="3761210"/>
              <a:ext cx="450830"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KU</a:t>
              </a:r>
              <a:r>
                <a:rPr lang="en-US" altLang="zh-CN" b="1" i="1" baseline="-25000" dirty="0">
                  <a:latin typeface="Times New Roman" panose="02020603050405020304" pitchFamily="18" charset="0"/>
                  <a:cs typeface="Times New Roman" panose="02020603050405020304" pitchFamily="18" charset="0"/>
                </a:rPr>
                <a:t>A</a:t>
              </a:r>
              <a:endParaRPr lang="zh-CN" altLang="en-US" b="1" i="1" baseline="-25000" dirty="0">
                <a:latin typeface="Times New Roman" panose="02020603050405020304" pitchFamily="18" charset="0"/>
                <a:cs typeface="Times New Roman" panose="02020603050405020304" pitchFamily="18" charset="0"/>
              </a:endParaRPr>
            </a:p>
          </p:txBody>
        </p:sp>
        <p:cxnSp>
          <p:nvCxnSpPr>
            <p:cNvPr id="51" name="直接箭头连接符 50">
              <a:extLst>
                <a:ext uri="{FF2B5EF4-FFF2-40B4-BE49-F238E27FC236}">
                  <a16:creationId xmlns:a16="http://schemas.microsoft.com/office/drawing/2014/main" id="{9443C0A6-B34A-44AF-9280-CCFECA82D7F8}"/>
                </a:ext>
              </a:extLst>
            </p:cNvPr>
            <p:cNvCxnSpPr>
              <a:cxnSpLocks/>
            </p:cNvCxnSpPr>
            <p:nvPr/>
          </p:nvCxnSpPr>
          <p:spPr>
            <a:xfrm>
              <a:off x="5676078" y="4047942"/>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94419F1B-673D-485C-B56E-1BB1745A6B22}"/>
                </a:ext>
              </a:extLst>
            </p:cNvPr>
            <p:cNvCxnSpPr>
              <a:cxnSpLocks/>
              <a:endCxn id="9" idx="2"/>
            </p:cNvCxnSpPr>
            <p:nvPr/>
          </p:nvCxnSpPr>
          <p:spPr>
            <a:xfrm>
              <a:off x="4867007" y="3989871"/>
              <a:ext cx="649506" cy="50955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130943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1535613"/>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4"/>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结合使用公钥密码体制和对称密码体制。这种方法用发送方的私钥对杂凑值进行数字签名，用对称密码加密消息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和得到的数字签名，即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m:t>
                        </m:r>
                      </m:sub>
                    </m:s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d>
                      <m:dPr>
                        <m:begChr m:val="["/>
                        <m:endChr m:val="]"/>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e>
                    </m:d>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。因此这种方法既提供鉴别和数字签名，也提供机密性，在实际应用中较常见。</a:t>
                </a: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1535613"/>
              </a:xfrm>
              <a:prstGeom prst="rect">
                <a:avLst/>
              </a:prstGeom>
              <a:blipFill>
                <a:blip r:embed="rId3"/>
                <a:stretch>
                  <a:fillRect l="-520" r="-594" b="-5556"/>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83" name="组合 82">
            <a:extLst>
              <a:ext uri="{FF2B5EF4-FFF2-40B4-BE49-F238E27FC236}">
                <a16:creationId xmlns:a16="http://schemas.microsoft.com/office/drawing/2014/main" id="{D278AC47-40B1-46DB-B15A-31C3C019A715}"/>
              </a:ext>
            </a:extLst>
          </p:cNvPr>
          <p:cNvGrpSpPr/>
          <p:nvPr/>
        </p:nvGrpSpPr>
        <p:grpSpPr>
          <a:xfrm>
            <a:off x="846195" y="2634362"/>
            <a:ext cx="7448182" cy="2152047"/>
            <a:chOff x="846195" y="2634362"/>
            <a:chExt cx="7448182" cy="2152047"/>
          </a:xfrm>
        </p:grpSpPr>
        <p:sp>
          <p:nvSpPr>
            <p:cNvPr id="39" name="矩形 38">
              <a:extLst>
                <a:ext uri="{FF2B5EF4-FFF2-40B4-BE49-F238E27FC236}">
                  <a16:creationId xmlns:a16="http://schemas.microsoft.com/office/drawing/2014/main" id="{7072615C-BE02-4ED3-B019-58B11AB9D388}"/>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40" name="椭圆 39">
              <a:extLst>
                <a:ext uri="{FF2B5EF4-FFF2-40B4-BE49-F238E27FC236}">
                  <a16:creationId xmlns:a16="http://schemas.microsoft.com/office/drawing/2014/main" id="{A17404BE-5CDF-4A76-A02E-6E3726B87A10}"/>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41" name="椭圆 40">
              <a:extLst>
                <a:ext uri="{FF2B5EF4-FFF2-40B4-BE49-F238E27FC236}">
                  <a16:creationId xmlns:a16="http://schemas.microsoft.com/office/drawing/2014/main" id="{3CF21040-FB34-433F-9C33-28A5272C49CC}"/>
                </a:ext>
              </a:extLst>
            </p:cNvPr>
            <p:cNvSpPr/>
            <p:nvPr/>
          </p:nvSpPr>
          <p:spPr>
            <a:xfrm>
              <a:off x="1475656" y="4299942"/>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42" name="椭圆 41">
              <a:extLst>
                <a:ext uri="{FF2B5EF4-FFF2-40B4-BE49-F238E27FC236}">
                  <a16:creationId xmlns:a16="http://schemas.microsoft.com/office/drawing/2014/main" id="{1AE6D0B7-1AE1-48FA-8FD2-57BA0B528DD9}"/>
                </a:ext>
              </a:extLst>
            </p:cNvPr>
            <p:cNvSpPr/>
            <p:nvPr/>
          </p:nvSpPr>
          <p:spPr>
            <a:xfrm>
              <a:off x="3707904" y="336383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43" name="椭圆 42">
              <a:extLst>
                <a:ext uri="{FF2B5EF4-FFF2-40B4-BE49-F238E27FC236}">
                  <a16:creationId xmlns:a16="http://schemas.microsoft.com/office/drawing/2014/main" id="{B1877AAD-3C1A-491B-B98B-BEA3AE69A04F}"/>
                </a:ext>
              </a:extLst>
            </p:cNvPr>
            <p:cNvSpPr/>
            <p:nvPr/>
          </p:nvSpPr>
          <p:spPr>
            <a:xfrm>
              <a:off x="5364088" y="3375165"/>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44" name="椭圆 43">
              <a:extLst>
                <a:ext uri="{FF2B5EF4-FFF2-40B4-BE49-F238E27FC236}">
                  <a16:creationId xmlns:a16="http://schemas.microsoft.com/office/drawing/2014/main" id="{D05D3ADA-F1D0-42E5-BEBA-39F240DEF9FC}"/>
                </a:ext>
              </a:extLst>
            </p:cNvPr>
            <p:cNvSpPr/>
            <p:nvPr/>
          </p:nvSpPr>
          <p:spPr>
            <a:xfrm>
              <a:off x="6998237" y="3195145"/>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45" name="矩形 44">
              <a:extLst>
                <a:ext uri="{FF2B5EF4-FFF2-40B4-BE49-F238E27FC236}">
                  <a16:creationId xmlns:a16="http://schemas.microsoft.com/office/drawing/2014/main" id="{113260CE-EF3E-41AC-93A2-3768F84F99B9}"/>
                </a:ext>
              </a:extLst>
            </p:cNvPr>
            <p:cNvSpPr/>
            <p:nvPr/>
          </p:nvSpPr>
          <p:spPr>
            <a:xfrm>
              <a:off x="4460958" y="3075806"/>
              <a:ext cx="288032" cy="792088"/>
            </a:xfrm>
            <a:prstGeom prst="rect">
              <a:avLst/>
            </a:prstGeom>
            <a:pattFill prst="smCheck">
              <a:fgClr>
                <a:schemeClr val="dk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7" name="矩形 46">
              <a:extLst>
                <a:ext uri="{FF2B5EF4-FFF2-40B4-BE49-F238E27FC236}">
                  <a16:creationId xmlns:a16="http://schemas.microsoft.com/office/drawing/2014/main" id="{5D50E60E-5A89-49CC-8E3A-24D9AFDFE5BE}"/>
                </a:ext>
              </a:extLst>
            </p:cNvPr>
            <p:cNvSpPr/>
            <p:nvPr/>
          </p:nvSpPr>
          <p:spPr>
            <a:xfrm>
              <a:off x="6087846" y="3112331"/>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48" name="矩形 47">
              <a:extLst>
                <a:ext uri="{FF2B5EF4-FFF2-40B4-BE49-F238E27FC236}">
                  <a16:creationId xmlns:a16="http://schemas.microsoft.com/office/drawing/2014/main" id="{CDE6C081-8C5A-4363-96F3-6A623F635059}"/>
                </a:ext>
              </a:extLst>
            </p:cNvPr>
            <p:cNvSpPr/>
            <p:nvPr/>
          </p:nvSpPr>
          <p:spPr>
            <a:xfrm>
              <a:off x="6087846" y="3926179"/>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9" name="文本框 48">
              <a:extLst>
                <a:ext uri="{FF2B5EF4-FFF2-40B4-BE49-F238E27FC236}">
                  <a16:creationId xmlns:a16="http://schemas.microsoft.com/office/drawing/2014/main" id="{395238CE-4C1F-4BB0-8FCA-6FB807A5049B}"/>
                </a:ext>
              </a:extLst>
            </p:cNvPr>
            <p:cNvSpPr txBox="1"/>
            <p:nvPr/>
          </p:nvSpPr>
          <p:spPr>
            <a:xfrm>
              <a:off x="3809367" y="4202963"/>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E062A00F-38F8-4166-9817-88775B4F0DA7}"/>
                </a:ext>
              </a:extLst>
            </p:cNvPr>
            <p:cNvSpPr txBox="1"/>
            <p:nvPr/>
          </p:nvSpPr>
          <p:spPr>
            <a:xfrm>
              <a:off x="5470470" y="418870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53" name="文本框 52">
              <a:extLst>
                <a:ext uri="{FF2B5EF4-FFF2-40B4-BE49-F238E27FC236}">
                  <a16:creationId xmlns:a16="http://schemas.microsoft.com/office/drawing/2014/main" id="{0BAE37CE-88C8-447B-8783-32BE8F6EDC30}"/>
                </a:ext>
              </a:extLst>
            </p:cNvPr>
            <p:cNvSpPr txBox="1"/>
            <p:nvPr/>
          </p:nvSpPr>
          <p:spPr>
            <a:xfrm>
              <a:off x="7740510"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523A38ED-4319-46DB-9604-6F56E3225D16}"/>
                    </a:ext>
                  </a:extLst>
                </p:cNvPr>
                <p:cNvSpPr txBox="1"/>
                <p:nvPr/>
              </p:nvSpPr>
              <p:spPr>
                <a:xfrm>
                  <a:off x="3711141" y="3938249"/>
                  <a:ext cx="2016184" cy="2339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m:t>
                            </m:r>
                          </m:sub>
                        </m:s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sSub>
                          <m:sSub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sSub>
                              <m:sSub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𝐊𝐑</m:t>
                                </m:r>
                              </m:e>
                              <m: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𝐀</m:t>
                                </m:r>
                              </m:sub>
                            </m:sSub>
                          </m:sub>
                        </m:sSub>
                        <m:d>
                          <m:dPr>
                            <m:begChr m:val="["/>
                            <m:endChr m:val="]"/>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e>
                            </m:d>
                          </m:e>
                        </m:d>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m:oMathPara>
                  </a14:m>
                  <a:endParaRPr lang="zh-CN"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本框 54">
                  <a:extLst>
                    <a:ext uri="{FF2B5EF4-FFF2-40B4-BE49-F238E27FC236}">
                      <a16:creationId xmlns:a16="http://schemas.microsoft.com/office/drawing/2014/main" id="{523A38ED-4319-46DB-9604-6F56E3225D16}"/>
                    </a:ext>
                  </a:extLst>
                </p:cNvPr>
                <p:cNvSpPr txBox="1">
                  <a:spLocks noRot="1" noChangeAspect="1" noMove="1" noResize="1" noEditPoints="1" noAdjustHandles="1" noChangeArrowheads="1" noChangeShapeType="1" noTextEdit="1"/>
                </p:cNvSpPr>
                <p:nvPr/>
              </p:nvSpPr>
              <p:spPr>
                <a:xfrm>
                  <a:off x="3711141" y="3938249"/>
                  <a:ext cx="2016184" cy="233910"/>
                </a:xfrm>
                <a:prstGeom prst="rect">
                  <a:avLst/>
                </a:prstGeom>
                <a:blipFill>
                  <a:blip r:embed="rId4"/>
                  <a:stretch>
                    <a:fillRect b="-26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F7715E72-7D7C-4F9D-AC1F-30978CBADDB4}"/>
                    </a:ext>
                  </a:extLst>
                </p:cNvPr>
                <p:cNvSpPr txBox="1"/>
                <p:nvPr/>
              </p:nvSpPr>
              <p:spPr>
                <a:xfrm>
                  <a:off x="5609567" y="4485621"/>
                  <a:ext cx="618617" cy="3007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𝑬</m:t>
                            </m:r>
                          </m:e>
                          <m:sub>
                            <m:sSub>
                              <m:sSubPr>
                                <m:ctrlP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𝑲𝑹</m:t>
                                </m:r>
                              </m:e>
                              <m:sub>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𝑨</m:t>
                                </m:r>
                              </m:sub>
                            </m:sSub>
                          </m:sub>
                        </m:sSub>
                        <m:d>
                          <m:dPr>
                            <m:begChr m:val="["/>
                            <m:endChr m:val="]"/>
                            <m:ctrlP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𝑯</m:t>
                            </m:r>
                            <m:d>
                              <m:dPr>
                                <m:ctrlP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1" smtClean="0">
                                    <a:solidFill>
                                      <a:schemeClr val="tx1"/>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𝑴</m:t>
                                </m:r>
                              </m:e>
                            </m:d>
                          </m:e>
                        </m:d>
                      </m:oMath>
                    </m:oMathPara>
                  </a14:m>
                  <a:endParaRPr lang="zh-CN" altLang="en-US" b="1"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56" name="文本框 55">
                  <a:extLst>
                    <a:ext uri="{FF2B5EF4-FFF2-40B4-BE49-F238E27FC236}">
                      <a16:creationId xmlns:a16="http://schemas.microsoft.com/office/drawing/2014/main" id="{F7715E72-7D7C-4F9D-AC1F-30978CBADDB4}"/>
                    </a:ext>
                  </a:extLst>
                </p:cNvPr>
                <p:cNvSpPr txBox="1">
                  <a:spLocks noRot="1" noChangeAspect="1" noMove="1" noResize="1" noEditPoints="1" noAdjustHandles="1" noChangeArrowheads="1" noChangeShapeType="1" noTextEdit="1"/>
                </p:cNvSpPr>
                <p:nvPr/>
              </p:nvSpPr>
              <p:spPr>
                <a:xfrm>
                  <a:off x="5609567" y="4485621"/>
                  <a:ext cx="618617" cy="300788"/>
                </a:xfrm>
                <a:prstGeom prst="rect">
                  <a:avLst/>
                </a:prstGeom>
                <a:blipFill>
                  <a:blip r:embed="rId5"/>
                  <a:stretch>
                    <a:fillRect l="-12745" r="-97059" b="-18367"/>
                  </a:stretch>
                </a:blipFill>
              </p:spPr>
              <p:txBody>
                <a:bodyPr/>
                <a:lstStyle/>
                <a:p>
                  <a:r>
                    <a:rPr lang="zh-CN" altLang="en-US">
                      <a:noFill/>
                    </a:rPr>
                    <a:t> </a:t>
                  </a:r>
                </a:p>
              </p:txBody>
            </p:sp>
          </mc:Fallback>
        </mc:AlternateContent>
        <p:cxnSp>
          <p:nvCxnSpPr>
            <p:cNvPr id="57" name="直接箭头连接符 56">
              <a:extLst>
                <a:ext uri="{FF2B5EF4-FFF2-40B4-BE49-F238E27FC236}">
                  <a16:creationId xmlns:a16="http://schemas.microsoft.com/office/drawing/2014/main" id="{87BFD4EB-7692-450C-93D9-DFC4EF9C4D0E}"/>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FE6D17D5-1763-4BE6-9FE5-CCB114E63951}"/>
                </a:ext>
              </a:extLst>
            </p:cNvPr>
            <p:cNvCxnSpPr>
              <a:cxnSpLocks/>
            </p:cNvCxnSpPr>
            <p:nvPr/>
          </p:nvCxnSpPr>
          <p:spPr>
            <a:xfrm>
              <a:off x="5364088"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1BE5404D-2049-4DFE-8C6B-6BC93ED94073}"/>
                </a:ext>
              </a:extLst>
            </p:cNvPr>
            <p:cNvCxnSpPr>
              <a:stCxn id="39"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连接符: 肘形 59">
              <a:extLst>
                <a:ext uri="{FF2B5EF4-FFF2-40B4-BE49-F238E27FC236}">
                  <a16:creationId xmlns:a16="http://schemas.microsoft.com/office/drawing/2014/main" id="{8FE0386E-C5E0-4E07-B97C-1FA0BEB3E258}"/>
                </a:ext>
              </a:extLst>
            </p:cNvPr>
            <p:cNvCxnSpPr>
              <a:cxnSpLocks/>
            </p:cNvCxnSpPr>
            <p:nvPr/>
          </p:nvCxnSpPr>
          <p:spPr>
            <a:xfrm>
              <a:off x="1145144" y="3755994"/>
              <a:ext cx="324000" cy="689552"/>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9992EDEF-C7E5-4B94-A483-B16C01384885}"/>
                </a:ext>
              </a:extLst>
            </p:cNvPr>
            <p:cNvCxnSpPr>
              <a:cxnSpLocks/>
              <a:stCxn id="74" idx="6"/>
              <a:endCxn id="40" idx="2"/>
            </p:cNvCxnSpPr>
            <p:nvPr/>
          </p:nvCxnSpPr>
          <p:spPr>
            <a:xfrm flipV="1">
              <a:off x="2447764" y="3543858"/>
              <a:ext cx="540060" cy="93610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715A29E2-6B50-4190-B468-DC8DB5842432}"/>
                </a:ext>
              </a:extLst>
            </p:cNvPr>
            <p:cNvCxnSpPr>
              <a:stCxn id="40" idx="6"/>
              <a:endCxn id="42" idx="2"/>
            </p:cNvCxnSpPr>
            <p:nvPr/>
          </p:nvCxnSpPr>
          <p:spPr>
            <a:xfrm>
              <a:off x="3347864" y="3543858"/>
              <a:ext cx="36004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3D6AFAEF-B378-4664-B707-C44ABDA1B0FC}"/>
                </a:ext>
              </a:extLst>
            </p:cNvPr>
            <p:cNvCxnSpPr/>
            <p:nvPr/>
          </p:nvCxnSpPr>
          <p:spPr>
            <a:xfrm>
              <a:off x="4067944" y="3555185"/>
              <a:ext cx="396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9B6822D7-03D4-4EC6-9A3A-B77DE2A0BF91}"/>
                </a:ext>
              </a:extLst>
            </p:cNvPr>
            <p:cNvCxnSpPr/>
            <p:nvPr/>
          </p:nvCxnSpPr>
          <p:spPr>
            <a:xfrm>
              <a:off x="4762178" y="355518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3F4148A3-A60A-4674-9B7F-1375AECF0510}"/>
                </a:ext>
              </a:extLst>
            </p:cNvPr>
            <p:cNvCxnSpPr/>
            <p:nvPr/>
          </p:nvCxnSpPr>
          <p:spPr>
            <a:xfrm>
              <a:off x="5724128" y="3543858"/>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9633241-CA77-4C38-8C32-2B89B070DC41}"/>
                </a:ext>
              </a:extLst>
            </p:cNvPr>
            <p:cNvCxnSpPr/>
            <p:nvPr/>
          </p:nvCxnSpPr>
          <p:spPr>
            <a:xfrm>
              <a:off x="6516214" y="3375165"/>
              <a:ext cx="46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97BF7125-6026-434F-9306-83EDF61F522D}"/>
                </a:ext>
              </a:extLst>
            </p:cNvPr>
            <p:cNvCxnSpPr>
              <a:cxnSpLocks/>
            </p:cNvCxnSpPr>
            <p:nvPr/>
          </p:nvCxnSpPr>
          <p:spPr>
            <a:xfrm flipV="1">
              <a:off x="3893623" y="3712673"/>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C0238685-D15F-49EA-9194-C6F31E1828CA}"/>
                </a:ext>
              </a:extLst>
            </p:cNvPr>
            <p:cNvCxnSpPr>
              <a:cxnSpLocks/>
            </p:cNvCxnSpPr>
            <p:nvPr/>
          </p:nvCxnSpPr>
          <p:spPr>
            <a:xfrm flipV="1">
              <a:off x="5545954" y="3753434"/>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A0A68AFB-D92C-4BDF-BBD5-665C4A8EB43B}"/>
                </a:ext>
              </a:extLst>
            </p:cNvPr>
            <p:cNvCxnSpPr>
              <a:cxnSpLocks/>
              <a:endCxn id="48" idx="2"/>
            </p:cNvCxnSpPr>
            <p:nvPr/>
          </p:nvCxnSpPr>
          <p:spPr>
            <a:xfrm flipV="1">
              <a:off x="5904128" y="4155926"/>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6BDF508B-8287-456D-A5C8-249362074644}"/>
                </a:ext>
              </a:extLst>
            </p:cNvPr>
            <p:cNvCxnSpPr>
              <a:cxnSpLocks/>
              <a:stCxn id="48" idx="3"/>
              <a:endCxn id="78" idx="2"/>
            </p:cNvCxnSpPr>
            <p:nvPr/>
          </p:nvCxnSpPr>
          <p:spPr>
            <a:xfrm>
              <a:off x="6516214" y="4041053"/>
              <a:ext cx="540062" cy="43333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连接符: 肘形 70">
              <a:extLst>
                <a:ext uri="{FF2B5EF4-FFF2-40B4-BE49-F238E27FC236}">
                  <a16:creationId xmlns:a16="http://schemas.microsoft.com/office/drawing/2014/main" id="{7C45B322-7858-4999-9B34-A12AB8E8A01F}"/>
                </a:ext>
              </a:extLst>
            </p:cNvPr>
            <p:cNvCxnSpPr>
              <a:cxnSpLocks/>
            </p:cNvCxnSpPr>
            <p:nvPr/>
          </p:nvCxnSpPr>
          <p:spPr>
            <a:xfrm>
              <a:off x="7372300" y="3360439"/>
              <a:ext cx="659167" cy="38949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7F77EFD2-22A9-48F7-919B-55D61D59420F}"/>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73" name="文本框 72">
              <a:extLst>
                <a:ext uri="{FF2B5EF4-FFF2-40B4-BE49-F238E27FC236}">
                  <a16:creationId xmlns:a16="http://schemas.microsoft.com/office/drawing/2014/main" id="{327E4D65-0274-4718-B423-A043467D55DB}"/>
                </a:ext>
              </a:extLst>
            </p:cNvPr>
            <p:cNvSpPr txBox="1"/>
            <p:nvPr/>
          </p:nvSpPr>
          <p:spPr>
            <a:xfrm>
              <a:off x="6302030"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sp>
          <p:nvSpPr>
            <p:cNvPr id="74" name="椭圆 73">
              <a:extLst>
                <a:ext uri="{FF2B5EF4-FFF2-40B4-BE49-F238E27FC236}">
                  <a16:creationId xmlns:a16="http://schemas.microsoft.com/office/drawing/2014/main" id="{CB3BCC73-3A67-4B72-A67B-7BF496A9DA38}"/>
                </a:ext>
              </a:extLst>
            </p:cNvPr>
            <p:cNvSpPr/>
            <p:nvPr/>
          </p:nvSpPr>
          <p:spPr>
            <a:xfrm>
              <a:off x="2087724" y="4299942"/>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cxnSp>
          <p:nvCxnSpPr>
            <p:cNvPr id="75" name="直接箭头连接符 74">
              <a:extLst>
                <a:ext uri="{FF2B5EF4-FFF2-40B4-BE49-F238E27FC236}">
                  <a16:creationId xmlns:a16="http://schemas.microsoft.com/office/drawing/2014/main" id="{56E9376D-37B6-4AC6-BB5B-662A97BC03C5}"/>
                </a:ext>
              </a:extLst>
            </p:cNvPr>
            <p:cNvCxnSpPr/>
            <p:nvPr/>
          </p:nvCxnSpPr>
          <p:spPr>
            <a:xfrm>
              <a:off x="1825789" y="4474386"/>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B7C774D5-4EDA-401F-BA27-A9439AD6EC13}"/>
                </a:ext>
              </a:extLst>
            </p:cNvPr>
            <p:cNvCxnSpPr>
              <a:cxnSpLocks/>
            </p:cNvCxnSpPr>
            <p:nvPr/>
          </p:nvCxnSpPr>
          <p:spPr>
            <a:xfrm>
              <a:off x="2267744" y="4047942"/>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文本框 76">
              <a:extLst>
                <a:ext uri="{FF2B5EF4-FFF2-40B4-BE49-F238E27FC236}">
                  <a16:creationId xmlns:a16="http://schemas.microsoft.com/office/drawing/2014/main" id="{E58FF91F-0C7B-43A0-B6FD-144874C69EE6}"/>
                </a:ext>
              </a:extLst>
            </p:cNvPr>
            <p:cNvSpPr txBox="1"/>
            <p:nvPr/>
          </p:nvSpPr>
          <p:spPr>
            <a:xfrm>
              <a:off x="2073198" y="3745709"/>
              <a:ext cx="617582"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KR</a:t>
              </a:r>
              <a:r>
                <a:rPr lang="en-US" altLang="zh-CN" b="1" i="1" baseline="-25000" dirty="0">
                  <a:latin typeface="Times New Roman" panose="02020603050405020304" pitchFamily="18" charset="0"/>
                  <a:cs typeface="Times New Roman" panose="02020603050405020304" pitchFamily="18" charset="0"/>
                </a:rPr>
                <a:t>A</a:t>
              </a:r>
              <a:endParaRPr lang="zh-CN" altLang="en-US" b="1" i="1" baseline="-25000" dirty="0">
                <a:latin typeface="Times New Roman" panose="02020603050405020304" pitchFamily="18" charset="0"/>
                <a:cs typeface="Times New Roman" panose="02020603050405020304" pitchFamily="18" charset="0"/>
              </a:endParaRPr>
            </a:p>
          </p:txBody>
        </p:sp>
        <p:sp>
          <p:nvSpPr>
            <p:cNvPr id="78" name="椭圆 77">
              <a:extLst>
                <a:ext uri="{FF2B5EF4-FFF2-40B4-BE49-F238E27FC236}">
                  <a16:creationId xmlns:a16="http://schemas.microsoft.com/office/drawing/2014/main" id="{6A7500E3-EEE9-484B-90E1-5A41EA684CCF}"/>
                </a:ext>
              </a:extLst>
            </p:cNvPr>
            <p:cNvSpPr/>
            <p:nvPr/>
          </p:nvSpPr>
          <p:spPr>
            <a:xfrm>
              <a:off x="7056276" y="4294366"/>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cxnSp>
          <p:nvCxnSpPr>
            <p:cNvPr id="79" name="连接符: 肘形 78">
              <a:extLst>
                <a:ext uri="{FF2B5EF4-FFF2-40B4-BE49-F238E27FC236}">
                  <a16:creationId xmlns:a16="http://schemas.microsoft.com/office/drawing/2014/main" id="{37F694F8-CE64-472D-AFE4-0B7CF0A57507}"/>
                </a:ext>
              </a:extLst>
            </p:cNvPr>
            <p:cNvCxnSpPr>
              <a:cxnSpLocks/>
              <a:stCxn id="78" idx="6"/>
              <a:endCxn id="53" idx="2"/>
            </p:cNvCxnSpPr>
            <p:nvPr/>
          </p:nvCxnSpPr>
          <p:spPr>
            <a:xfrm flipV="1">
              <a:off x="7416316" y="4064678"/>
              <a:ext cx="601128" cy="409708"/>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1D025F50-651B-4010-9EA1-CB5CFAB7F91B}"/>
                </a:ext>
              </a:extLst>
            </p:cNvPr>
            <p:cNvCxnSpPr>
              <a:cxnSpLocks/>
            </p:cNvCxnSpPr>
            <p:nvPr/>
          </p:nvCxnSpPr>
          <p:spPr>
            <a:xfrm>
              <a:off x="7225281" y="4013062"/>
              <a:ext cx="0" cy="25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79FC1453-F672-4512-BA95-08357FF6EAB3}"/>
                </a:ext>
              </a:extLst>
            </p:cNvPr>
            <p:cNvSpPr txBox="1"/>
            <p:nvPr/>
          </p:nvSpPr>
          <p:spPr>
            <a:xfrm>
              <a:off x="7030735" y="3710829"/>
              <a:ext cx="617582"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KU</a:t>
              </a:r>
              <a:r>
                <a:rPr lang="en-US" altLang="zh-CN" b="1" i="1" baseline="-25000" dirty="0">
                  <a:latin typeface="Times New Roman" panose="02020603050405020304" pitchFamily="18" charset="0"/>
                  <a:cs typeface="Times New Roman" panose="02020603050405020304" pitchFamily="18" charset="0"/>
                </a:rPr>
                <a:t>A</a:t>
              </a:r>
              <a:endParaRPr lang="zh-CN" altLang="en-US" b="1" i="1" baseline="-25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15739848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1864806"/>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5"/>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使用杂凑算法，但未使用密码体制，为了实现鉴别，要求发送方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和接收方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共享一个秘密值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，发送方生成消息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和秘密值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的杂凑值，然后与消息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一起发送给对方，即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𝐒</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。接收方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可以按照发送方相同的处理办法生成消息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和秘密值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的杂凑值，二者进行对比，从而实现鉴别。这种方法中秘密值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并不参与传递，因此可以保证攻击者无法伪造。</a:t>
                </a: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1864806"/>
              </a:xfrm>
              <a:prstGeom prst="rect">
                <a:avLst/>
              </a:prstGeom>
              <a:blipFill>
                <a:blip r:embed="rId3"/>
                <a:stretch>
                  <a:fillRect l="-520" r="-594" b="-4575"/>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grpSp>
        <p:nvGrpSpPr>
          <p:cNvPr id="16" name="组合 15">
            <a:extLst>
              <a:ext uri="{FF2B5EF4-FFF2-40B4-BE49-F238E27FC236}">
                <a16:creationId xmlns:a16="http://schemas.microsoft.com/office/drawing/2014/main" id="{7F8C4FE7-D716-47D5-9BBE-716528FC26A8}"/>
              </a:ext>
            </a:extLst>
          </p:cNvPr>
          <p:cNvGrpSpPr/>
          <p:nvPr/>
        </p:nvGrpSpPr>
        <p:grpSpPr>
          <a:xfrm>
            <a:off x="846195" y="2845978"/>
            <a:ext cx="6606125" cy="2102036"/>
            <a:chOff x="846195" y="2634362"/>
            <a:chExt cx="6606125" cy="2102036"/>
          </a:xfrm>
        </p:grpSpPr>
        <p:sp>
          <p:nvSpPr>
            <p:cNvPr id="51" name="矩形 50">
              <a:extLst>
                <a:ext uri="{FF2B5EF4-FFF2-40B4-BE49-F238E27FC236}">
                  <a16:creationId xmlns:a16="http://schemas.microsoft.com/office/drawing/2014/main" id="{87DFF408-B36A-4664-96BE-5FC0D6AF0A9D}"/>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54" name="椭圆 53">
              <a:extLst>
                <a:ext uri="{FF2B5EF4-FFF2-40B4-BE49-F238E27FC236}">
                  <a16:creationId xmlns:a16="http://schemas.microsoft.com/office/drawing/2014/main" id="{52151F2A-AF49-4E93-AFC2-9A3471108519}"/>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80" name="椭圆 79">
              <a:extLst>
                <a:ext uri="{FF2B5EF4-FFF2-40B4-BE49-F238E27FC236}">
                  <a16:creationId xmlns:a16="http://schemas.microsoft.com/office/drawing/2014/main" id="{8586FA85-FAF6-4CE8-A002-E2D3E8A9ED78}"/>
                </a:ext>
              </a:extLst>
            </p:cNvPr>
            <p:cNvSpPr/>
            <p:nvPr/>
          </p:nvSpPr>
          <p:spPr>
            <a:xfrm>
              <a:off x="1535912" y="431940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85" name="椭圆 84">
              <a:extLst>
                <a:ext uri="{FF2B5EF4-FFF2-40B4-BE49-F238E27FC236}">
                  <a16:creationId xmlns:a16="http://schemas.microsoft.com/office/drawing/2014/main" id="{315EED55-DEF3-44B6-83E2-E6E13CF02F84}"/>
                </a:ext>
              </a:extLst>
            </p:cNvPr>
            <p:cNvSpPr/>
            <p:nvPr/>
          </p:nvSpPr>
          <p:spPr>
            <a:xfrm>
              <a:off x="6156176"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
          <p:nvSpPr>
            <p:cNvPr id="86" name="矩形 85">
              <a:extLst>
                <a:ext uri="{FF2B5EF4-FFF2-40B4-BE49-F238E27FC236}">
                  <a16:creationId xmlns:a16="http://schemas.microsoft.com/office/drawing/2014/main" id="{1AC0AE71-42DC-4EE4-83E1-FBF282B84405}"/>
                </a:ext>
              </a:extLst>
            </p:cNvPr>
            <p:cNvSpPr/>
            <p:nvPr/>
          </p:nvSpPr>
          <p:spPr>
            <a:xfrm>
              <a:off x="4438639" y="3046665"/>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87" name="矩形 86">
              <a:extLst>
                <a:ext uri="{FF2B5EF4-FFF2-40B4-BE49-F238E27FC236}">
                  <a16:creationId xmlns:a16="http://schemas.microsoft.com/office/drawing/2014/main" id="{9DD44DC5-B1D2-4C94-95FE-1520B910EEE0}"/>
                </a:ext>
              </a:extLst>
            </p:cNvPr>
            <p:cNvSpPr/>
            <p:nvPr/>
          </p:nvSpPr>
          <p:spPr>
            <a:xfrm>
              <a:off x="4438639" y="3860513"/>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88" name="文本框 87">
              <a:extLst>
                <a:ext uri="{FF2B5EF4-FFF2-40B4-BE49-F238E27FC236}">
                  <a16:creationId xmlns:a16="http://schemas.microsoft.com/office/drawing/2014/main" id="{43E7E06B-E24C-4C07-9262-E6406FC8EDD5}"/>
                </a:ext>
              </a:extLst>
            </p:cNvPr>
            <p:cNvSpPr txBox="1"/>
            <p:nvPr/>
          </p:nvSpPr>
          <p:spPr>
            <a:xfrm>
              <a:off x="1081480" y="4459399"/>
              <a:ext cx="158339"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S</a:t>
              </a:r>
              <a:endParaRPr lang="zh-CN" altLang="en-US" b="1" i="1" dirty="0">
                <a:latin typeface="Times New Roman" panose="02020603050405020304" pitchFamily="18" charset="0"/>
                <a:cs typeface="Times New Roman" panose="02020603050405020304" pitchFamily="18" charset="0"/>
              </a:endParaRPr>
            </a:p>
          </p:txBody>
        </p:sp>
        <p:sp>
          <p:nvSpPr>
            <p:cNvPr id="89" name="文本框 88">
              <a:extLst>
                <a:ext uri="{FF2B5EF4-FFF2-40B4-BE49-F238E27FC236}">
                  <a16:creationId xmlns:a16="http://schemas.microsoft.com/office/drawing/2014/main" id="{16C19384-F71F-47A3-AA0F-89387E079E40}"/>
                </a:ext>
              </a:extLst>
            </p:cNvPr>
            <p:cNvSpPr txBox="1"/>
            <p:nvPr/>
          </p:nvSpPr>
          <p:spPr>
            <a:xfrm>
              <a:off x="6871476" y="3947543"/>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11A4F5C1-3F9A-49A4-8C28-D9418FF02209}"/>
                    </a:ext>
                  </a:extLst>
                </p:cNvPr>
                <p:cNvSpPr txBox="1"/>
                <p:nvPr/>
              </p:nvSpPr>
              <p:spPr>
                <a:xfrm>
                  <a:off x="3647606" y="4454679"/>
                  <a:ext cx="138846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𝐒</m:t>
                            </m:r>
                          </m:e>
                        </m:d>
                      </m:oMath>
                    </m:oMathPara>
                  </a14:m>
                  <a:endParaRPr lang="zh-CN" alt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90" name="文本框 89">
                  <a:extLst>
                    <a:ext uri="{FF2B5EF4-FFF2-40B4-BE49-F238E27FC236}">
                      <a16:creationId xmlns:a16="http://schemas.microsoft.com/office/drawing/2014/main" id="{11A4F5C1-3F9A-49A4-8C28-D9418FF02209}"/>
                    </a:ext>
                  </a:extLst>
                </p:cNvPr>
                <p:cNvSpPr txBox="1">
                  <a:spLocks noRot="1" noChangeAspect="1" noMove="1" noResize="1" noEditPoints="1" noAdjustHandles="1" noChangeArrowheads="1" noChangeShapeType="1" noTextEdit="1"/>
                </p:cNvSpPr>
                <p:nvPr/>
              </p:nvSpPr>
              <p:spPr>
                <a:xfrm>
                  <a:off x="3647606" y="4454679"/>
                  <a:ext cx="1388469" cy="276999"/>
                </a:xfrm>
                <a:prstGeom prst="rect">
                  <a:avLst/>
                </a:prstGeom>
                <a:blipFill>
                  <a:blip r:embed="rId4"/>
                  <a:stretch>
                    <a:fillRect b="-34783"/>
                  </a:stretch>
                </a:blipFill>
              </p:spPr>
              <p:txBody>
                <a:bodyPr/>
                <a:lstStyle/>
                <a:p>
                  <a:r>
                    <a:rPr lang="zh-CN" altLang="en-US">
                      <a:noFill/>
                    </a:rPr>
                    <a:t> </a:t>
                  </a:r>
                </a:p>
              </p:txBody>
            </p:sp>
          </mc:Fallback>
        </mc:AlternateContent>
        <p:cxnSp>
          <p:nvCxnSpPr>
            <p:cNvPr id="91" name="直接箭头连接符 90">
              <a:extLst>
                <a:ext uri="{FF2B5EF4-FFF2-40B4-BE49-F238E27FC236}">
                  <a16:creationId xmlns:a16="http://schemas.microsoft.com/office/drawing/2014/main" id="{24E3FEDE-0E19-4A70-AA72-0EB08A891D5E}"/>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6F1A6D3B-0381-45B2-9AF8-2FC14AF17C3D}"/>
                </a:ext>
              </a:extLst>
            </p:cNvPr>
            <p:cNvCxnSpPr>
              <a:cxnSpLocks/>
            </p:cNvCxnSpPr>
            <p:nvPr/>
          </p:nvCxnSpPr>
          <p:spPr>
            <a:xfrm>
              <a:off x="4860032"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64827C4B-FBA8-4294-81E2-766A16C42F86}"/>
                </a:ext>
              </a:extLst>
            </p:cNvPr>
            <p:cNvCxnSpPr>
              <a:stCxn id="51"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连接符: 肘形 93">
              <a:extLst>
                <a:ext uri="{FF2B5EF4-FFF2-40B4-BE49-F238E27FC236}">
                  <a16:creationId xmlns:a16="http://schemas.microsoft.com/office/drawing/2014/main" id="{D2ACF85E-8C7E-4BA4-940C-48D5D231F779}"/>
                </a:ext>
              </a:extLst>
            </p:cNvPr>
            <p:cNvCxnSpPr>
              <a:cxnSpLocks/>
            </p:cNvCxnSpPr>
            <p:nvPr/>
          </p:nvCxnSpPr>
          <p:spPr>
            <a:xfrm>
              <a:off x="1145144" y="3755994"/>
              <a:ext cx="396000" cy="684000"/>
            </a:xfrm>
            <a:prstGeom prst="bentConnector3">
              <a:avLst>
                <a:gd name="adj1" fmla="val 3548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连接符: 肘形 94">
              <a:extLst>
                <a:ext uri="{FF2B5EF4-FFF2-40B4-BE49-F238E27FC236}">
                  <a16:creationId xmlns:a16="http://schemas.microsoft.com/office/drawing/2014/main" id="{2F5D6A72-5A57-48EF-8EA5-9A6FECFDE55E}"/>
                </a:ext>
              </a:extLst>
            </p:cNvPr>
            <p:cNvCxnSpPr>
              <a:cxnSpLocks/>
              <a:endCxn id="54" idx="2"/>
            </p:cNvCxnSpPr>
            <p:nvPr/>
          </p:nvCxnSpPr>
          <p:spPr>
            <a:xfrm flipV="1">
              <a:off x="2627784" y="3543858"/>
              <a:ext cx="360040" cy="95557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65A9389E-580E-4917-A107-D3D324D91C14}"/>
                </a:ext>
              </a:extLst>
            </p:cNvPr>
            <p:cNvCxnSpPr>
              <a:cxnSpLocks/>
            </p:cNvCxnSpPr>
            <p:nvPr/>
          </p:nvCxnSpPr>
          <p:spPr>
            <a:xfrm flipV="1">
              <a:off x="3347864" y="3507854"/>
              <a:ext cx="11130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9763B331-3DA3-466C-BB9B-7C40B0B1BA06}"/>
                </a:ext>
              </a:extLst>
            </p:cNvPr>
            <p:cNvCxnSpPr/>
            <p:nvPr/>
          </p:nvCxnSpPr>
          <p:spPr>
            <a:xfrm>
              <a:off x="4867007" y="350837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BF7D2AE3-97DB-4BF2-825E-EE0B713C4271}"/>
                </a:ext>
              </a:extLst>
            </p:cNvPr>
            <p:cNvCxnSpPr>
              <a:cxnSpLocks/>
              <a:endCxn id="87" idx="2"/>
            </p:cNvCxnSpPr>
            <p:nvPr/>
          </p:nvCxnSpPr>
          <p:spPr>
            <a:xfrm flipV="1">
              <a:off x="4254921" y="4090260"/>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0" name="连接符: 肘形 99">
              <a:extLst>
                <a:ext uri="{FF2B5EF4-FFF2-40B4-BE49-F238E27FC236}">
                  <a16:creationId xmlns:a16="http://schemas.microsoft.com/office/drawing/2014/main" id="{7A4FD28E-F337-46EC-B304-EE84A4A560C6}"/>
                </a:ext>
              </a:extLst>
            </p:cNvPr>
            <p:cNvCxnSpPr>
              <a:cxnSpLocks/>
              <a:stCxn id="87" idx="3"/>
              <a:endCxn id="89" idx="2"/>
            </p:cNvCxnSpPr>
            <p:nvPr/>
          </p:nvCxnSpPr>
          <p:spPr>
            <a:xfrm>
              <a:off x="4867007" y="3975387"/>
              <a:ext cx="2281403" cy="249155"/>
            </a:xfrm>
            <a:prstGeom prst="bentConnector4">
              <a:avLst>
                <a:gd name="adj1" fmla="val 17847"/>
                <a:gd name="adj2" fmla="val 252917"/>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连接符: 肘形 100">
              <a:extLst>
                <a:ext uri="{FF2B5EF4-FFF2-40B4-BE49-F238E27FC236}">
                  <a16:creationId xmlns:a16="http://schemas.microsoft.com/office/drawing/2014/main" id="{2BCA0D6D-85DB-4C10-A703-DE08202020CA}"/>
                </a:ext>
              </a:extLst>
            </p:cNvPr>
            <p:cNvCxnSpPr>
              <a:cxnSpLocks/>
              <a:stCxn id="85" idx="6"/>
              <a:endCxn id="89" idx="0"/>
            </p:cNvCxnSpPr>
            <p:nvPr/>
          </p:nvCxnSpPr>
          <p:spPr>
            <a:xfrm>
              <a:off x="6516216" y="3543858"/>
              <a:ext cx="632194" cy="403685"/>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文本框 101">
              <a:extLst>
                <a:ext uri="{FF2B5EF4-FFF2-40B4-BE49-F238E27FC236}">
                  <a16:creationId xmlns:a16="http://schemas.microsoft.com/office/drawing/2014/main" id="{726FCA62-8CF3-4134-8B84-EE24CE26CEBF}"/>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103" name="文本框 102">
              <a:extLst>
                <a:ext uri="{FF2B5EF4-FFF2-40B4-BE49-F238E27FC236}">
                  <a16:creationId xmlns:a16="http://schemas.microsoft.com/office/drawing/2014/main" id="{9D10A7B2-A869-488B-B81A-1B818572B417}"/>
                </a:ext>
              </a:extLst>
            </p:cNvPr>
            <p:cNvSpPr txBox="1"/>
            <p:nvPr/>
          </p:nvSpPr>
          <p:spPr>
            <a:xfrm>
              <a:off x="5797974"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cxnSp>
          <p:nvCxnSpPr>
            <p:cNvPr id="104" name="直接箭头连接符 103">
              <a:extLst>
                <a:ext uri="{FF2B5EF4-FFF2-40B4-BE49-F238E27FC236}">
                  <a16:creationId xmlns:a16="http://schemas.microsoft.com/office/drawing/2014/main" id="{EE182839-E20C-4D4C-99C7-452AEBA465C8}"/>
                </a:ext>
              </a:extLst>
            </p:cNvPr>
            <p:cNvCxnSpPr>
              <a:cxnSpLocks/>
            </p:cNvCxnSpPr>
            <p:nvPr/>
          </p:nvCxnSpPr>
          <p:spPr>
            <a:xfrm flipV="1">
              <a:off x="1259632" y="4587974"/>
              <a:ext cx="28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椭圆 107">
              <a:extLst>
                <a:ext uri="{FF2B5EF4-FFF2-40B4-BE49-F238E27FC236}">
                  <a16:creationId xmlns:a16="http://schemas.microsoft.com/office/drawing/2014/main" id="{9CF8C741-8F6F-4620-ABB4-05E3F409191C}"/>
                </a:ext>
              </a:extLst>
            </p:cNvPr>
            <p:cNvSpPr/>
            <p:nvPr/>
          </p:nvSpPr>
          <p:spPr>
            <a:xfrm>
              <a:off x="2239579" y="431940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cxnSp>
          <p:nvCxnSpPr>
            <p:cNvPr id="109" name="直接箭头连接符 108">
              <a:extLst>
                <a:ext uri="{FF2B5EF4-FFF2-40B4-BE49-F238E27FC236}">
                  <a16:creationId xmlns:a16="http://schemas.microsoft.com/office/drawing/2014/main" id="{5043DDD9-7F19-4A89-9DE3-063090625D74}"/>
                </a:ext>
              </a:extLst>
            </p:cNvPr>
            <p:cNvCxnSpPr>
              <a:cxnSpLocks/>
            </p:cNvCxnSpPr>
            <p:nvPr/>
          </p:nvCxnSpPr>
          <p:spPr>
            <a:xfrm flipV="1">
              <a:off x="1915427" y="4522659"/>
              <a:ext cx="324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AC2CC725-DF98-4573-AA89-77864B16C014}"/>
                </a:ext>
              </a:extLst>
            </p:cNvPr>
            <p:cNvSpPr txBox="1"/>
            <p:nvPr/>
          </p:nvSpPr>
          <p:spPr>
            <a:xfrm>
              <a:off x="4976297" y="3516397"/>
              <a:ext cx="158339"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S</a:t>
              </a:r>
              <a:endParaRPr lang="zh-CN" altLang="en-US" b="1" i="1" dirty="0">
                <a:latin typeface="Times New Roman" panose="02020603050405020304" pitchFamily="18" charset="0"/>
                <a:cs typeface="Times New Roman" panose="02020603050405020304" pitchFamily="18" charset="0"/>
              </a:endParaRPr>
            </a:p>
          </p:txBody>
        </p:sp>
        <p:cxnSp>
          <p:nvCxnSpPr>
            <p:cNvPr id="111" name="直接箭头连接符 110">
              <a:extLst>
                <a:ext uri="{FF2B5EF4-FFF2-40B4-BE49-F238E27FC236}">
                  <a16:creationId xmlns:a16="http://schemas.microsoft.com/office/drawing/2014/main" id="{847020F0-A667-4FBA-94EC-A5317830C50E}"/>
                </a:ext>
              </a:extLst>
            </p:cNvPr>
            <p:cNvCxnSpPr>
              <a:cxnSpLocks/>
            </p:cNvCxnSpPr>
            <p:nvPr/>
          </p:nvCxnSpPr>
          <p:spPr>
            <a:xfrm flipV="1">
              <a:off x="5190481" y="3644972"/>
              <a:ext cx="28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2" name="椭圆 111">
            <a:extLst>
              <a:ext uri="{FF2B5EF4-FFF2-40B4-BE49-F238E27FC236}">
                <a16:creationId xmlns:a16="http://schemas.microsoft.com/office/drawing/2014/main" id="{ECA68C53-1AFE-4FD7-B852-52C733E237A2}"/>
              </a:ext>
            </a:extLst>
          </p:cNvPr>
          <p:cNvSpPr/>
          <p:nvPr/>
        </p:nvSpPr>
        <p:spPr>
          <a:xfrm>
            <a:off x="5478481" y="3370327"/>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cxnSp>
        <p:nvCxnSpPr>
          <p:cNvPr id="113" name="直接箭头连接符 112">
            <a:extLst>
              <a:ext uri="{FF2B5EF4-FFF2-40B4-BE49-F238E27FC236}">
                <a16:creationId xmlns:a16="http://schemas.microsoft.com/office/drawing/2014/main" id="{353D5E89-559C-4CD8-852D-6E9CF0C4BFF2}"/>
              </a:ext>
            </a:extLst>
          </p:cNvPr>
          <p:cNvCxnSpPr>
            <a:cxnSpLocks/>
          </p:cNvCxnSpPr>
          <p:nvPr/>
        </p:nvCxnSpPr>
        <p:spPr>
          <a:xfrm flipV="1">
            <a:off x="5838521" y="3516397"/>
            <a:ext cx="28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7422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1144609"/>
              </a:xfrm>
              <a:prstGeom prst="rect">
                <a:avLst/>
              </a:prstGeom>
              <a:noFill/>
            </p:spPr>
            <p:txBody>
              <a:bodyPr wrap="square" rtlCol="0">
                <a:spAutoFit/>
              </a:bodyPr>
              <a:lstStyle/>
              <a:p>
                <a:pPr marL="342900" indent="-342900">
                  <a:lnSpc>
                    <a:spcPct val="130000"/>
                  </a:lnSpc>
                  <a:spcBef>
                    <a:spcPts val="300"/>
                  </a:spcBef>
                  <a:spcAft>
                    <a:spcPts val="300"/>
                  </a:spcAft>
                  <a:buFont typeface="+mj-ea"/>
                  <a:buAutoNum type="circleNumDbPlain" startAt="6"/>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种方法的基础上，使用对称密码体制对消息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和所生成的杂凑值进行加密保护，即</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A-&gt;B</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ea typeface="华文楷体" panose="02010600040101010101" pitchFamily="2" charset="-122"/>
                    <a:cs typeface="Times New Roman" panose="02020603050405020304" pitchFamily="18" charset="0"/>
                    <a:sym typeface="Arial" panose="020B0604020202020204" pitchFamily="34" charset="0"/>
                  </a:rPr>
                  <a:t> </a:t>
                </a:r>
                <a14:m>
                  <m:oMath xmlns:m="http://schemas.openxmlformats.org/officeDocument/2006/math">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r>
                      <m:rPr>
                        <m:sty m:val="p"/>
                      </m:rPr>
                      <a:rPr lang="en-US" altLang="zh-CN" b="1" i="1" baseline="-2500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k</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d>
                      <m:dPr>
                        <m:begChr m:val="|"/>
                        <m:ctrlPr>
                          <a:rPr lang="en-US" altLang="zh-CN" b="1" i="1"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𝐒</m:t>
                        </m:r>
                      </m:e>
                    </m:d>
                    <m:r>
                      <a:rPr lang="en-US" altLang="zh-CN" b="1" i="0" smtClean="0">
                        <a:solidFill>
                          <a:srgbClr val="008F92"/>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oMath>
                </a14:m>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。因此这种方法除了提供鉴别，还可以提供机密性。</a:t>
                </a: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1144609"/>
              </a:xfrm>
              <a:prstGeom prst="rect">
                <a:avLst/>
              </a:prstGeom>
              <a:blipFill>
                <a:blip r:embed="rId3"/>
                <a:stretch>
                  <a:fillRect l="-520" r="-445" b="-7979"/>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
        <p:nvSpPr>
          <p:cNvPr id="36" name="矩形 35">
            <a:extLst>
              <a:ext uri="{FF2B5EF4-FFF2-40B4-BE49-F238E27FC236}">
                <a16:creationId xmlns:a16="http://schemas.microsoft.com/office/drawing/2014/main" id="{78F6BB00-B82B-423D-8E22-48E0029DAE1A}"/>
              </a:ext>
            </a:extLst>
          </p:cNvPr>
          <p:cNvSpPr/>
          <p:nvPr/>
        </p:nvSpPr>
        <p:spPr>
          <a:xfrm>
            <a:off x="846195" y="3070510"/>
            <a:ext cx="288032"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37" name="椭圆 36">
            <a:extLst>
              <a:ext uri="{FF2B5EF4-FFF2-40B4-BE49-F238E27FC236}">
                <a16:creationId xmlns:a16="http://schemas.microsoft.com/office/drawing/2014/main" id="{0E80F8CF-AF98-4908-911E-78CF57016EAF}"/>
              </a:ext>
            </a:extLst>
          </p:cNvPr>
          <p:cNvSpPr/>
          <p:nvPr/>
        </p:nvSpPr>
        <p:spPr>
          <a:xfrm>
            <a:off x="2987824" y="3363838"/>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38" name="椭圆 37">
            <a:extLst>
              <a:ext uri="{FF2B5EF4-FFF2-40B4-BE49-F238E27FC236}">
                <a16:creationId xmlns:a16="http://schemas.microsoft.com/office/drawing/2014/main" id="{20D7082E-2B71-47B1-B894-91FE54945BFB}"/>
              </a:ext>
            </a:extLst>
          </p:cNvPr>
          <p:cNvSpPr/>
          <p:nvPr/>
        </p:nvSpPr>
        <p:spPr>
          <a:xfrm>
            <a:off x="1475656" y="4299942"/>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39" name="椭圆 38">
            <a:extLst>
              <a:ext uri="{FF2B5EF4-FFF2-40B4-BE49-F238E27FC236}">
                <a16:creationId xmlns:a16="http://schemas.microsoft.com/office/drawing/2014/main" id="{9AF2014B-8AA8-4483-AC41-D4A03FAFDB81}"/>
              </a:ext>
            </a:extLst>
          </p:cNvPr>
          <p:cNvSpPr/>
          <p:nvPr/>
        </p:nvSpPr>
        <p:spPr>
          <a:xfrm>
            <a:off x="3707904" y="3363838"/>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E</a:t>
            </a:r>
            <a:endParaRPr lang="zh-CN" altLang="en-US" dirty="0"/>
          </a:p>
        </p:txBody>
      </p:sp>
      <p:sp>
        <p:nvSpPr>
          <p:cNvPr id="40" name="椭圆 39">
            <a:extLst>
              <a:ext uri="{FF2B5EF4-FFF2-40B4-BE49-F238E27FC236}">
                <a16:creationId xmlns:a16="http://schemas.microsoft.com/office/drawing/2014/main" id="{8B2BCC4C-F635-46C0-A634-31166C493B4A}"/>
              </a:ext>
            </a:extLst>
          </p:cNvPr>
          <p:cNvSpPr/>
          <p:nvPr/>
        </p:nvSpPr>
        <p:spPr>
          <a:xfrm>
            <a:off x="5364088" y="3375165"/>
            <a:ext cx="360040" cy="36004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lstStyle/>
          <a:p>
            <a:pPr algn="ctr"/>
            <a:r>
              <a:rPr lang="en-US" altLang="zh-CN" dirty="0"/>
              <a:t>D</a:t>
            </a:r>
            <a:endParaRPr lang="zh-CN" altLang="en-US" dirty="0"/>
          </a:p>
        </p:txBody>
      </p:sp>
      <p:sp>
        <p:nvSpPr>
          <p:cNvPr id="41" name="椭圆 40">
            <a:extLst>
              <a:ext uri="{FF2B5EF4-FFF2-40B4-BE49-F238E27FC236}">
                <a16:creationId xmlns:a16="http://schemas.microsoft.com/office/drawing/2014/main" id="{281F9BD6-E9A7-45CF-9B74-0524CAD766A9}"/>
              </a:ext>
            </a:extLst>
          </p:cNvPr>
          <p:cNvSpPr/>
          <p:nvPr/>
        </p:nvSpPr>
        <p:spPr>
          <a:xfrm>
            <a:off x="6998237" y="3195145"/>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a:t>
            </a:r>
            <a:endParaRPr lang="zh-CN" altLang="en-US" dirty="0"/>
          </a:p>
        </p:txBody>
      </p:sp>
      <p:sp>
        <p:nvSpPr>
          <p:cNvPr id="42" name="矩形 41">
            <a:extLst>
              <a:ext uri="{FF2B5EF4-FFF2-40B4-BE49-F238E27FC236}">
                <a16:creationId xmlns:a16="http://schemas.microsoft.com/office/drawing/2014/main" id="{A2314402-9434-4D09-8442-292A28011617}"/>
              </a:ext>
            </a:extLst>
          </p:cNvPr>
          <p:cNvSpPr/>
          <p:nvPr/>
        </p:nvSpPr>
        <p:spPr>
          <a:xfrm>
            <a:off x="4460958" y="3075806"/>
            <a:ext cx="288032" cy="792088"/>
          </a:xfrm>
          <a:prstGeom prst="rect">
            <a:avLst/>
          </a:prstGeom>
          <a:pattFill prst="smCheck">
            <a:fgClr>
              <a:schemeClr val="dk1"/>
            </a:fgClr>
            <a:bgClr>
              <a:schemeClr val="bg1"/>
            </a:bgClr>
          </a:patt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3" name="矩形 42">
            <a:extLst>
              <a:ext uri="{FF2B5EF4-FFF2-40B4-BE49-F238E27FC236}">
                <a16:creationId xmlns:a16="http://schemas.microsoft.com/office/drawing/2014/main" id="{28E176F4-4C84-4DAE-9B14-D02384B4B5FD}"/>
              </a:ext>
            </a:extLst>
          </p:cNvPr>
          <p:cNvSpPr/>
          <p:nvPr/>
        </p:nvSpPr>
        <p:spPr>
          <a:xfrm>
            <a:off x="6087846" y="3112331"/>
            <a:ext cx="428369"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a:t>
            </a:r>
            <a:endParaRPr lang="zh-CN" altLang="en-US" dirty="0"/>
          </a:p>
        </p:txBody>
      </p:sp>
      <p:sp>
        <p:nvSpPr>
          <p:cNvPr id="44" name="矩形 43">
            <a:extLst>
              <a:ext uri="{FF2B5EF4-FFF2-40B4-BE49-F238E27FC236}">
                <a16:creationId xmlns:a16="http://schemas.microsoft.com/office/drawing/2014/main" id="{FC818359-CC7C-4F89-BA41-92EEB5BAEEF8}"/>
              </a:ext>
            </a:extLst>
          </p:cNvPr>
          <p:cNvSpPr/>
          <p:nvPr/>
        </p:nvSpPr>
        <p:spPr>
          <a:xfrm>
            <a:off x="6087846" y="3926179"/>
            <a:ext cx="428368" cy="229747"/>
          </a:xfrm>
          <a:prstGeom prst="rect">
            <a:avLst/>
          </a:prstGeom>
          <a:pattFill prst="smCheck">
            <a:fgClr>
              <a:schemeClr val="dk1"/>
            </a:fgClr>
            <a:bgClr>
              <a:schemeClr val="bg1"/>
            </a:bgClr>
          </a:pattFill>
          <a:ln>
            <a:solidFill>
              <a:srgbClr val="147BA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sp>
        <p:nvSpPr>
          <p:cNvPr id="45" name="文本框 44">
            <a:extLst>
              <a:ext uri="{FF2B5EF4-FFF2-40B4-BE49-F238E27FC236}">
                <a16:creationId xmlns:a16="http://schemas.microsoft.com/office/drawing/2014/main" id="{35E16442-781E-42FD-BE7A-E8DDDBB9CF62}"/>
              </a:ext>
            </a:extLst>
          </p:cNvPr>
          <p:cNvSpPr txBox="1"/>
          <p:nvPr/>
        </p:nvSpPr>
        <p:spPr>
          <a:xfrm>
            <a:off x="3809367" y="4202963"/>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D20948B0-D788-482F-A9DE-320A783D65A2}"/>
              </a:ext>
            </a:extLst>
          </p:cNvPr>
          <p:cNvSpPr txBox="1"/>
          <p:nvPr/>
        </p:nvSpPr>
        <p:spPr>
          <a:xfrm>
            <a:off x="5470470" y="4188709"/>
            <a:ext cx="229121"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K</a:t>
            </a:r>
            <a:endParaRPr lang="zh-CN" altLang="en-US" b="1" i="1"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C9240F3C-DA71-4B34-8151-D58A50B677DE}"/>
              </a:ext>
            </a:extLst>
          </p:cNvPr>
          <p:cNvSpPr txBox="1"/>
          <p:nvPr/>
        </p:nvSpPr>
        <p:spPr>
          <a:xfrm>
            <a:off x="8338613" y="3787679"/>
            <a:ext cx="553867" cy="276999"/>
          </a:xfrm>
          <a:prstGeom prst="rect">
            <a:avLst/>
          </a:prstGeom>
          <a:noFill/>
        </p:spPr>
        <p:txBody>
          <a:bodyPr wrap="square" lIns="0" tIns="0" rIns="0" bIns="0" rtlCol="0">
            <a:spAutoFit/>
          </a:bodyPr>
          <a:lstStyle/>
          <a:p>
            <a:r>
              <a:rPr lang="zh-CN" altLang="en-US" b="1" dirty="0">
                <a:latin typeface="华文楷体" panose="02010600040101010101" pitchFamily="2" charset="-122"/>
                <a:ea typeface="华文楷体" panose="02010600040101010101" pitchFamily="2" charset="-122"/>
              </a:rPr>
              <a:t>比较</a:t>
            </a:r>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04B4D795-A295-4DC7-8579-705F4F98C70C}"/>
                  </a:ext>
                </a:extLst>
              </p:cNvPr>
              <p:cNvSpPr txBox="1"/>
              <p:nvPr/>
            </p:nvSpPr>
            <p:spPr>
              <a:xfrm>
                <a:off x="4050732" y="3939961"/>
                <a:ext cx="2016184" cy="215444"/>
              </a:xfrm>
              <a:prstGeom prst="rect">
                <a:avLst/>
              </a:prstGeom>
              <a:noFill/>
            </p:spPr>
            <p:txBody>
              <a:bodyPr wrap="square" lIns="0" tIns="0" rIns="0" bIns="0" rtlCol="0">
                <a:spAutoFit/>
              </a:bodyPr>
              <a:lstStyle/>
              <a:p>
                <a14:m>
                  <m:oMath xmlns:m="http://schemas.openxmlformats.org/officeDocument/2006/math">
                    <m:sSub>
                      <m:sSubPr>
                        <m:ctrlPr>
                          <a:rPr lang="en-US" altLang="zh-CN" sz="1400" b="1" i="1"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sSubPr>
                      <m:e>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𝐄</m:t>
                        </m:r>
                      </m:e>
                      <m: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𝐊</m:t>
                        </m:r>
                      </m:sub>
                    </m:sSub>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sz="1400" b="1" i="0" smtClean="0">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𝐇</m:t>
                    </m:r>
                    <m:d>
                      <m:dPr>
                        <m:ctrlPr>
                          <a:rPr lang="en-US" altLang="zh-CN" sz="1400" b="1" i="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ctrlPr>
                      </m:dPr>
                      <m:e>
                        <m:r>
                          <a:rPr lang="en-US" altLang="zh-CN" sz="1400" b="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𝐌</m:t>
                        </m:r>
                        <m:r>
                          <a:rPr lang="en-US" altLang="zh-CN" sz="1400" b="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m:t>
                        </m:r>
                        <m:r>
                          <a:rPr lang="en-US" altLang="zh-CN" sz="1400" b="1">
                            <a:solidFill>
                              <a:srgbClr val="FF0000"/>
                            </a:solidFill>
                            <a:latin typeface="Cambria Math" panose="02040503050406030204" pitchFamily="18" charset="0"/>
                            <a:ea typeface="华文楷体" panose="02010600040101010101" pitchFamily="2" charset="-122"/>
                            <a:cs typeface="Times New Roman" panose="02020603050405020304" pitchFamily="18" charset="0"/>
                            <a:sym typeface="Arial" panose="020B0604020202020204" pitchFamily="34" charset="0"/>
                          </a:rPr>
                          <m:t>𝐒</m:t>
                        </m:r>
                      </m:e>
                    </m:d>
                  </m:oMath>
                </a14:m>
                <a:r>
                  <a:rPr lang="en-US" altLang="zh-CN" sz="1400" b="1" dirty="0">
                    <a:solidFill>
                      <a:srgbClr val="FF0000"/>
                    </a:solidFill>
                    <a:latin typeface="Times New Roman" panose="02020603050405020304" pitchFamily="18" charset="0"/>
                    <a:cs typeface="Times New Roman" panose="02020603050405020304" pitchFamily="18" charset="0"/>
                  </a:rPr>
                  <a:t>]</a:t>
                </a:r>
                <a:endParaRPr lang="zh-CN"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8" name="文本框 47">
                <a:extLst>
                  <a:ext uri="{FF2B5EF4-FFF2-40B4-BE49-F238E27FC236}">
                    <a16:creationId xmlns:a16="http://schemas.microsoft.com/office/drawing/2014/main" id="{04B4D795-A295-4DC7-8579-705F4F98C70C}"/>
                  </a:ext>
                </a:extLst>
              </p:cNvPr>
              <p:cNvSpPr txBox="1">
                <a:spLocks noRot="1" noChangeAspect="1" noMove="1" noResize="1" noEditPoints="1" noAdjustHandles="1" noChangeArrowheads="1" noChangeShapeType="1" noTextEdit="1"/>
              </p:cNvSpPr>
              <p:nvPr/>
            </p:nvSpPr>
            <p:spPr>
              <a:xfrm>
                <a:off x="4050732" y="3939961"/>
                <a:ext cx="2016184" cy="215444"/>
              </a:xfrm>
              <a:prstGeom prst="rect">
                <a:avLst/>
              </a:prstGeom>
              <a:blipFill>
                <a:blip r:embed="rId4"/>
                <a:stretch>
                  <a:fillRect l="-3021" t="-25000" b="-47222"/>
                </a:stretch>
              </a:blipFill>
            </p:spPr>
            <p:txBody>
              <a:bodyPr/>
              <a:lstStyle/>
              <a:p>
                <a:r>
                  <a:rPr lang="zh-CN" altLang="en-US">
                    <a:noFill/>
                  </a:rPr>
                  <a:t> </a:t>
                </a:r>
              </a:p>
            </p:txBody>
          </p:sp>
        </mc:Fallback>
      </mc:AlternateContent>
      <p:sp>
        <p:nvSpPr>
          <p:cNvPr id="49" name="文本框 48">
            <a:extLst>
              <a:ext uri="{FF2B5EF4-FFF2-40B4-BE49-F238E27FC236}">
                <a16:creationId xmlns:a16="http://schemas.microsoft.com/office/drawing/2014/main" id="{C0D637C7-A0F6-4AD3-97A0-E70BA49FCACB}"/>
              </a:ext>
            </a:extLst>
          </p:cNvPr>
          <p:cNvSpPr txBox="1"/>
          <p:nvPr/>
        </p:nvSpPr>
        <p:spPr>
          <a:xfrm>
            <a:off x="5609567" y="4485621"/>
            <a:ext cx="906647" cy="276999"/>
          </a:xfrm>
          <a:prstGeom prst="rect">
            <a:avLst/>
          </a:prstGeom>
          <a:noFill/>
        </p:spPr>
        <p:txBody>
          <a:bodyPr wrap="square" lIns="0" tIns="0" rIns="0" bIns="0" rtlCol="0">
            <a:spAutoFit/>
          </a:bodyPr>
          <a:lstStyle/>
          <a:p>
            <a:r>
              <a:rPr lang="en-US" altLang="zh-CN" b="1" i="1" dirty="0">
                <a:solidFill>
                  <a:schemeClr val="tx1"/>
                </a:solidFill>
                <a:latin typeface="Times New Roman" panose="02020603050405020304" pitchFamily="18" charset="0"/>
                <a:cs typeface="Times New Roman" panose="02020603050405020304" pitchFamily="18" charset="0"/>
              </a:rPr>
              <a:t>H(M||S)</a:t>
            </a:r>
            <a:endParaRPr lang="zh-CN" altLang="en-US" b="1" i="1" dirty="0">
              <a:solidFill>
                <a:schemeClr val="tx1"/>
              </a:solidFill>
              <a:latin typeface="Times New Roman" panose="02020603050405020304" pitchFamily="18" charset="0"/>
              <a:cs typeface="Times New Roman" panose="02020603050405020304" pitchFamily="18" charset="0"/>
            </a:endParaRPr>
          </a:p>
        </p:txBody>
      </p:sp>
      <p:cxnSp>
        <p:nvCxnSpPr>
          <p:cNvPr id="50" name="直接箭头连接符 49">
            <a:extLst>
              <a:ext uri="{FF2B5EF4-FFF2-40B4-BE49-F238E27FC236}">
                <a16:creationId xmlns:a16="http://schemas.microsoft.com/office/drawing/2014/main" id="{94C92424-D2C7-4555-BD60-71CAFF0C6749}"/>
              </a:ext>
            </a:extLst>
          </p:cNvPr>
          <p:cNvCxnSpPr/>
          <p:nvPr/>
        </p:nvCxnSpPr>
        <p:spPr>
          <a:xfrm>
            <a:off x="971600" y="2787774"/>
            <a:ext cx="295232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4254CD9F-B95E-4059-ADC1-5994809951F8}"/>
              </a:ext>
            </a:extLst>
          </p:cNvPr>
          <p:cNvCxnSpPr>
            <a:cxnSpLocks/>
          </p:cNvCxnSpPr>
          <p:nvPr/>
        </p:nvCxnSpPr>
        <p:spPr>
          <a:xfrm>
            <a:off x="5364088" y="2798894"/>
            <a:ext cx="2592288"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FAEC8CC6-C594-40A3-920A-55DD96DAEA89}"/>
              </a:ext>
            </a:extLst>
          </p:cNvPr>
          <p:cNvCxnSpPr>
            <a:stCxn id="36" idx="3"/>
          </p:cNvCxnSpPr>
          <p:nvPr/>
        </p:nvCxnSpPr>
        <p:spPr>
          <a:xfrm>
            <a:off x="1134227" y="3466554"/>
            <a:ext cx="18504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连接符: 肘形 54">
            <a:extLst>
              <a:ext uri="{FF2B5EF4-FFF2-40B4-BE49-F238E27FC236}">
                <a16:creationId xmlns:a16="http://schemas.microsoft.com/office/drawing/2014/main" id="{BD189294-2E33-4246-B920-0D952B6EC62A}"/>
              </a:ext>
            </a:extLst>
          </p:cNvPr>
          <p:cNvCxnSpPr>
            <a:cxnSpLocks/>
          </p:cNvCxnSpPr>
          <p:nvPr/>
        </p:nvCxnSpPr>
        <p:spPr>
          <a:xfrm>
            <a:off x="1145144" y="3755994"/>
            <a:ext cx="324000" cy="64800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连接符: 肘形 55">
            <a:extLst>
              <a:ext uri="{FF2B5EF4-FFF2-40B4-BE49-F238E27FC236}">
                <a16:creationId xmlns:a16="http://schemas.microsoft.com/office/drawing/2014/main" id="{7AAB66D4-B0F3-46BF-9B3F-AE024025EC47}"/>
              </a:ext>
            </a:extLst>
          </p:cNvPr>
          <p:cNvCxnSpPr>
            <a:cxnSpLocks/>
            <a:endCxn id="37" idx="2"/>
          </p:cNvCxnSpPr>
          <p:nvPr/>
        </p:nvCxnSpPr>
        <p:spPr>
          <a:xfrm flipV="1">
            <a:off x="2447764" y="3543858"/>
            <a:ext cx="540060" cy="93610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EF0FC73D-029B-4FE0-BE02-2F0A993164C3}"/>
              </a:ext>
            </a:extLst>
          </p:cNvPr>
          <p:cNvCxnSpPr>
            <a:stCxn id="37" idx="6"/>
            <a:endCxn id="39" idx="2"/>
          </p:cNvCxnSpPr>
          <p:nvPr/>
        </p:nvCxnSpPr>
        <p:spPr>
          <a:xfrm>
            <a:off x="3347864" y="3543858"/>
            <a:ext cx="36004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E5910280-BC72-4A81-9480-B2AD2CFB2BE0}"/>
              </a:ext>
            </a:extLst>
          </p:cNvPr>
          <p:cNvCxnSpPr/>
          <p:nvPr/>
        </p:nvCxnSpPr>
        <p:spPr>
          <a:xfrm>
            <a:off x="4067944" y="3555185"/>
            <a:ext cx="396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6891720F-B510-40D3-8771-5B1618BAAB09}"/>
              </a:ext>
            </a:extLst>
          </p:cNvPr>
          <p:cNvCxnSpPr/>
          <p:nvPr/>
        </p:nvCxnSpPr>
        <p:spPr>
          <a:xfrm>
            <a:off x="4762178" y="3555185"/>
            <a:ext cx="6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3411FFB8-4A9C-4519-8DA7-77200D3A9753}"/>
              </a:ext>
            </a:extLst>
          </p:cNvPr>
          <p:cNvCxnSpPr/>
          <p:nvPr/>
        </p:nvCxnSpPr>
        <p:spPr>
          <a:xfrm>
            <a:off x="5724128" y="3543858"/>
            <a:ext cx="36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233F1A00-8C83-4EA5-A2E6-C7F443840875}"/>
              </a:ext>
            </a:extLst>
          </p:cNvPr>
          <p:cNvCxnSpPr/>
          <p:nvPr/>
        </p:nvCxnSpPr>
        <p:spPr>
          <a:xfrm>
            <a:off x="6516214" y="3375165"/>
            <a:ext cx="468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00078A6F-8917-4E01-9B41-3BAE28588121}"/>
              </a:ext>
            </a:extLst>
          </p:cNvPr>
          <p:cNvCxnSpPr>
            <a:cxnSpLocks/>
          </p:cNvCxnSpPr>
          <p:nvPr/>
        </p:nvCxnSpPr>
        <p:spPr>
          <a:xfrm flipV="1">
            <a:off x="3893623" y="3712673"/>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C224DC1B-047D-4016-969F-A1FA0F13DE1C}"/>
              </a:ext>
            </a:extLst>
          </p:cNvPr>
          <p:cNvCxnSpPr>
            <a:cxnSpLocks/>
          </p:cNvCxnSpPr>
          <p:nvPr/>
        </p:nvCxnSpPr>
        <p:spPr>
          <a:xfrm flipV="1">
            <a:off x="5545954" y="3753434"/>
            <a:ext cx="0" cy="4495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096CF95F-3504-49E0-AB07-6EBE5AEA11E4}"/>
              </a:ext>
            </a:extLst>
          </p:cNvPr>
          <p:cNvCxnSpPr>
            <a:cxnSpLocks/>
            <a:endCxn id="44" idx="2"/>
          </p:cNvCxnSpPr>
          <p:nvPr/>
        </p:nvCxnSpPr>
        <p:spPr>
          <a:xfrm flipV="1">
            <a:off x="5904128" y="4155926"/>
            <a:ext cx="397902" cy="369540"/>
          </a:xfrm>
          <a:prstGeom prst="straightConnector1">
            <a:avLst/>
          </a:prstGeom>
          <a:ln w="127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822654C0-D4F2-4D5F-BAFE-997F3654574E}"/>
              </a:ext>
            </a:extLst>
          </p:cNvPr>
          <p:cNvCxnSpPr>
            <a:cxnSpLocks/>
          </p:cNvCxnSpPr>
          <p:nvPr/>
        </p:nvCxnSpPr>
        <p:spPr>
          <a:xfrm>
            <a:off x="7945281" y="3360439"/>
            <a:ext cx="659167" cy="38949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DAA82AFF-6675-474A-8DFB-3314FDEC095B}"/>
              </a:ext>
            </a:extLst>
          </p:cNvPr>
          <p:cNvSpPr txBox="1"/>
          <p:nvPr/>
        </p:nvSpPr>
        <p:spPr>
          <a:xfrm>
            <a:off x="1953145" y="2634362"/>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发送</a:t>
            </a:r>
            <a:r>
              <a:rPr lang="en-US" altLang="zh-CN" b="1" i="1" dirty="0">
                <a:latin typeface="Times New Roman" panose="02020603050405020304" pitchFamily="18" charset="0"/>
                <a:cs typeface="Times New Roman" panose="02020603050405020304" pitchFamily="18" charset="0"/>
              </a:rPr>
              <a:t>A</a:t>
            </a:r>
            <a:endParaRPr lang="zh-CN" altLang="en-US" b="1" i="1" dirty="0">
              <a:latin typeface="Times New Roman" panose="02020603050405020304" pitchFamily="18" charset="0"/>
              <a:cs typeface="Times New Roman" panose="02020603050405020304" pitchFamily="18" charset="0"/>
            </a:endParaRPr>
          </a:p>
        </p:txBody>
      </p:sp>
      <p:sp>
        <p:nvSpPr>
          <p:cNvPr id="68" name="文本框 67">
            <a:extLst>
              <a:ext uri="{FF2B5EF4-FFF2-40B4-BE49-F238E27FC236}">
                <a16:creationId xmlns:a16="http://schemas.microsoft.com/office/drawing/2014/main" id="{FB4303F0-85BE-46C8-A799-FE9852514643}"/>
              </a:ext>
            </a:extLst>
          </p:cNvPr>
          <p:cNvSpPr txBox="1"/>
          <p:nvPr/>
        </p:nvSpPr>
        <p:spPr>
          <a:xfrm>
            <a:off x="6302030" y="2644136"/>
            <a:ext cx="868706" cy="276999"/>
          </a:xfrm>
          <a:prstGeom prst="rect">
            <a:avLst/>
          </a:prstGeom>
          <a:solidFill>
            <a:srgbClr val="F2F2F2"/>
          </a:solidFill>
        </p:spPr>
        <p:txBody>
          <a:bodyPr wrap="square" lIns="0" tIns="0" rIns="0" bIns="0" rtlCol="0">
            <a:spAutoFit/>
          </a:bodyPr>
          <a:lstStyle/>
          <a:p>
            <a:pPr algn="ctr"/>
            <a:r>
              <a:rPr lang="zh-CN" altLang="en-US" b="1" i="1" dirty="0">
                <a:latin typeface="Times New Roman" panose="02020603050405020304" pitchFamily="18" charset="0"/>
                <a:cs typeface="Times New Roman" panose="02020603050405020304" pitchFamily="18" charset="0"/>
              </a:rPr>
              <a:t>接收</a:t>
            </a:r>
            <a:r>
              <a:rPr lang="en-US" altLang="zh-CN" b="1" i="1" dirty="0">
                <a:latin typeface="Times New Roman" panose="02020603050405020304" pitchFamily="18" charset="0"/>
                <a:cs typeface="Times New Roman" panose="02020603050405020304" pitchFamily="18" charset="0"/>
              </a:rPr>
              <a:t>B</a:t>
            </a:r>
            <a:endParaRPr lang="zh-CN" altLang="en-US" b="1" i="1" dirty="0">
              <a:latin typeface="Times New Roman" panose="02020603050405020304" pitchFamily="18" charset="0"/>
              <a:cs typeface="Times New Roman" panose="02020603050405020304" pitchFamily="18" charset="0"/>
            </a:endParaRPr>
          </a:p>
        </p:txBody>
      </p:sp>
      <p:cxnSp>
        <p:nvCxnSpPr>
          <p:cNvPr id="70" name="直接箭头连接符 69">
            <a:extLst>
              <a:ext uri="{FF2B5EF4-FFF2-40B4-BE49-F238E27FC236}">
                <a16:creationId xmlns:a16="http://schemas.microsoft.com/office/drawing/2014/main" id="{78CECC8F-0564-47BB-8A84-027E6FA42439}"/>
              </a:ext>
            </a:extLst>
          </p:cNvPr>
          <p:cNvCxnSpPr/>
          <p:nvPr/>
        </p:nvCxnSpPr>
        <p:spPr>
          <a:xfrm>
            <a:off x="1825789" y="4474386"/>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4FB17E39-DA57-4CBA-8527-A2EAE06DC71C}"/>
              </a:ext>
            </a:extLst>
          </p:cNvPr>
          <p:cNvSpPr txBox="1"/>
          <p:nvPr/>
        </p:nvSpPr>
        <p:spPr>
          <a:xfrm>
            <a:off x="1036103" y="4354461"/>
            <a:ext cx="173022"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S</a:t>
            </a:r>
            <a:endParaRPr lang="zh-CN" altLang="en-US" b="1" i="1" dirty="0">
              <a:latin typeface="Times New Roman" panose="02020603050405020304" pitchFamily="18" charset="0"/>
              <a:cs typeface="Times New Roman" panose="02020603050405020304" pitchFamily="18" charset="0"/>
            </a:endParaRPr>
          </a:p>
        </p:txBody>
      </p:sp>
      <p:cxnSp>
        <p:nvCxnSpPr>
          <p:cNvPr id="74" name="连接符: 肘形 73">
            <a:extLst>
              <a:ext uri="{FF2B5EF4-FFF2-40B4-BE49-F238E27FC236}">
                <a16:creationId xmlns:a16="http://schemas.microsoft.com/office/drawing/2014/main" id="{E209B8AE-C87E-4103-847D-9958ED1F1328}"/>
              </a:ext>
            </a:extLst>
          </p:cNvPr>
          <p:cNvCxnSpPr>
            <a:cxnSpLocks/>
            <a:stCxn id="44" idx="3"/>
            <a:endCxn id="47" idx="2"/>
          </p:cNvCxnSpPr>
          <p:nvPr/>
        </p:nvCxnSpPr>
        <p:spPr>
          <a:xfrm>
            <a:off x="6516214" y="4041053"/>
            <a:ext cx="2099333" cy="23625"/>
          </a:xfrm>
          <a:prstGeom prst="bentConnector4">
            <a:avLst>
              <a:gd name="adj1" fmla="val 16440"/>
              <a:gd name="adj2" fmla="val 1712698"/>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椭圆 78">
            <a:extLst>
              <a:ext uri="{FF2B5EF4-FFF2-40B4-BE49-F238E27FC236}">
                <a16:creationId xmlns:a16="http://schemas.microsoft.com/office/drawing/2014/main" id="{FFDA292E-561C-4246-8C93-7DECBF595C25}"/>
              </a:ext>
            </a:extLst>
          </p:cNvPr>
          <p:cNvSpPr/>
          <p:nvPr/>
        </p:nvSpPr>
        <p:spPr>
          <a:xfrm>
            <a:off x="2075956" y="4308620"/>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cxnSp>
        <p:nvCxnSpPr>
          <p:cNvPr id="81" name="直接箭头连接符 80">
            <a:extLst>
              <a:ext uri="{FF2B5EF4-FFF2-40B4-BE49-F238E27FC236}">
                <a16:creationId xmlns:a16="http://schemas.microsoft.com/office/drawing/2014/main" id="{8C97E577-B75C-4368-870E-F3FB07587E9B}"/>
              </a:ext>
            </a:extLst>
          </p:cNvPr>
          <p:cNvCxnSpPr/>
          <p:nvPr/>
        </p:nvCxnSpPr>
        <p:spPr>
          <a:xfrm>
            <a:off x="1223656" y="4515966"/>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69C5B4EC-60B8-4E50-B286-4A2E59CEAEC2}"/>
              </a:ext>
            </a:extLst>
          </p:cNvPr>
          <p:cNvSpPr txBox="1"/>
          <p:nvPr/>
        </p:nvSpPr>
        <p:spPr>
          <a:xfrm>
            <a:off x="6580719" y="3338911"/>
            <a:ext cx="173022" cy="276999"/>
          </a:xfrm>
          <a:prstGeom prst="rect">
            <a:avLst/>
          </a:prstGeom>
          <a:noFill/>
        </p:spPr>
        <p:txBody>
          <a:bodyPr wrap="square" lIns="0" tIns="0" rIns="0" bIns="0" rtlCol="0">
            <a:spAutoFit/>
          </a:bodyPr>
          <a:lstStyle/>
          <a:p>
            <a:r>
              <a:rPr lang="en-US" altLang="zh-CN" b="1" i="1" dirty="0">
                <a:latin typeface="Times New Roman" panose="02020603050405020304" pitchFamily="18" charset="0"/>
                <a:cs typeface="Times New Roman" panose="02020603050405020304" pitchFamily="18" charset="0"/>
              </a:rPr>
              <a:t>S</a:t>
            </a:r>
            <a:endParaRPr lang="zh-CN" altLang="en-US" b="1" i="1" dirty="0">
              <a:latin typeface="Times New Roman" panose="02020603050405020304" pitchFamily="18" charset="0"/>
              <a:cs typeface="Times New Roman" panose="02020603050405020304" pitchFamily="18" charset="0"/>
            </a:endParaRPr>
          </a:p>
        </p:txBody>
      </p:sp>
      <p:cxnSp>
        <p:nvCxnSpPr>
          <p:cNvPr id="83" name="直接箭头连接符 82">
            <a:extLst>
              <a:ext uri="{FF2B5EF4-FFF2-40B4-BE49-F238E27FC236}">
                <a16:creationId xmlns:a16="http://schemas.microsoft.com/office/drawing/2014/main" id="{80425CAE-66C5-42C9-BF13-3D586FAB670A}"/>
              </a:ext>
            </a:extLst>
          </p:cNvPr>
          <p:cNvCxnSpPr/>
          <p:nvPr/>
        </p:nvCxnSpPr>
        <p:spPr>
          <a:xfrm>
            <a:off x="6768272" y="3500416"/>
            <a:ext cx="25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DEFBB0AB-184A-419E-9E27-5FD1BA913010}"/>
              </a:ext>
            </a:extLst>
          </p:cNvPr>
          <p:cNvSpPr/>
          <p:nvPr/>
        </p:nvSpPr>
        <p:spPr>
          <a:xfrm>
            <a:off x="7609342" y="3175594"/>
            <a:ext cx="360040" cy="36004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lstStyle/>
          <a:p>
            <a:pPr algn="ctr"/>
            <a:r>
              <a:rPr lang="en-US" altLang="zh-CN" dirty="0"/>
              <a:t>H</a:t>
            </a:r>
            <a:endParaRPr lang="zh-CN" altLang="en-US" dirty="0"/>
          </a:p>
        </p:txBody>
      </p:sp>
    </p:spTree>
    <p:extLst>
      <p:ext uri="{BB962C8B-B14F-4D97-AF65-F5344CB8AC3E}">
        <p14:creationId xmlns:p14="http://schemas.microsoft.com/office/powerpoint/2010/main" val="249113865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6101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认证协议</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认证协议就是能使通信各方证实对方身份或消息来源的通信协议，是两个或两个以上实体为达到一个特定的安全目标，执行一系列有明确动作规定的步骤</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认证协议根据应用需求的不同可分为</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单向鉴别</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双向鉴别</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三向鉴别</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spTree>
    <p:extLst>
      <p:ext uri="{BB962C8B-B14F-4D97-AF65-F5344CB8AC3E}">
        <p14:creationId xmlns:p14="http://schemas.microsoft.com/office/powerpoint/2010/main" val="330549928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181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单向鉴别</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单向鉴别涉及信息从一个用户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传送到另一个用户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，它只验证发起实体的身份，而不验证响应实体。</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报文至少包括一个时间戳</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防止报文的延迟传送</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、一个不重复的随机数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用于检测重放攻击，并防止伪造签名</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的身份标识，它们都用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的私钥签名，报文也可能传递一个会话密钥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，该密钥用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的公开密钥加密</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pic>
        <p:nvPicPr>
          <p:cNvPr id="6" name="图片 5" descr="图片1">
            <a:extLst>
              <a:ext uri="{FF2B5EF4-FFF2-40B4-BE49-F238E27FC236}">
                <a16:creationId xmlns:a16="http://schemas.microsoft.com/office/drawing/2014/main" id="{9C4DECB8-206B-4C95-B5D3-92D5DA12B53B}"/>
              </a:ext>
            </a:extLst>
          </p:cNvPr>
          <p:cNvPicPr>
            <a:picLocks noChangeAspect="1"/>
          </p:cNvPicPr>
          <p:nvPr/>
        </p:nvPicPr>
        <p:blipFill>
          <a:blip r:embed="rId3"/>
          <a:srcRect b="74765"/>
          <a:stretch>
            <a:fillRect/>
          </a:stretch>
        </p:blipFill>
        <p:spPr>
          <a:xfrm>
            <a:off x="2987824" y="3340100"/>
            <a:ext cx="3624262" cy="1803400"/>
          </a:xfrm>
          <a:prstGeom prst="rect">
            <a:avLst/>
          </a:prstGeom>
          <a:noFill/>
          <a:ln w="9525">
            <a:noFill/>
          </a:ln>
        </p:spPr>
      </p:pic>
    </p:spTree>
    <p:extLst>
      <p:ext uri="{BB962C8B-B14F-4D97-AF65-F5344CB8AC3E}">
        <p14:creationId xmlns:p14="http://schemas.microsoft.com/office/powerpoint/2010/main" val="24704281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6090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双向鉴别</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双向鉴别允许通信双方互相验证对方的身份。处理方式与单向鉴别相似，只是响应方要将发起方传来的随机数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返回。</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pic>
        <p:nvPicPr>
          <p:cNvPr id="7" name="图片 6" descr="图片1">
            <a:extLst>
              <a:ext uri="{FF2B5EF4-FFF2-40B4-BE49-F238E27FC236}">
                <a16:creationId xmlns:a16="http://schemas.microsoft.com/office/drawing/2014/main" id="{5E5705AF-1889-4825-AE67-C6457FFA1785}"/>
              </a:ext>
            </a:extLst>
          </p:cNvPr>
          <p:cNvPicPr>
            <a:picLocks noChangeAspect="1"/>
          </p:cNvPicPr>
          <p:nvPr/>
        </p:nvPicPr>
        <p:blipFill>
          <a:blip r:embed="rId3"/>
          <a:srcRect t="24452" b="38321"/>
          <a:stretch>
            <a:fillRect/>
          </a:stretch>
        </p:blipFill>
        <p:spPr>
          <a:xfrm>
            <a:off x="2699792" y="2216943"/>
            <a:ext cx="3516312" cy="2582863"/>
          </a:xfrm>
          <a:prstGeom prst="rect">
            <a:avLst/>
          </a:prstGeom>
          <a:noFill/>
          <a:ln w="9525">
            <a:noFill/>
          </a:ln>
        </p:spPr>
      </p:pic>
    </p:spTree>
    <p:extLst>
      <p:ext uri="{BB962C8B-B14F-4D97-AF65-F5344CB8AC3E}">
        <p14:creationId xmlns:p14="http://schemas.microsoft.com/office/powerpoint/2010/main" val="178819257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396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三向鉴别</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双向鉴别中，除了进行双向鉴别的两个传递外，还有一个从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的报文，它包含的是一个随机数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的备份。这样两个随机数都有另一方返回，每一方都可以检查返回的随机数来检测重放攻击，不再需要时间戳</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消息认证</a:t>
            </a:r>
          </a:p>
        </p:txBody>
      </p:sp>
      <p:pic>
        <p:nvPicPr>
          <p:cNvPr id="8" name="图片 7" descr="图片1">
            <a:extLst>
              <a:ext uri="{FF2B5EF4-FFF2-40B4-BE49-F238E27FC236}">
                <a16:creationId xmlns:a16="http://schemas.microsoft.com/office/drawing/2014/main" id="{51A903FA-3A39-48F2-8D10-E4A0472B19AD}"/>
              </a:ext>
            </a:extLst>
          </p:cNvPr>
          <p:cNvPicPr>
            <a:picLocks noChangeAspect="1"/>
          </p:cNvPicPr>
          <p:nvPr/>
        </p:nvPicPr>
        <p:blipFill>
          <a:blip r:embed="rId3"/>
          <a:srcRect t="62256"/>
          <a:stretch>
            <a:fillRect/>
          </a:stretch>
        </p:blipFill>
        <p:spPr>
          <a:xfrm>
            <a:off x="2767359" y="2261507"/>
            <a:ext cx="3897313" cy="2901950"/>
          </a:xfrm>
          <a:prstGeom prst="rect">
            <a:avLst/>
          </a:prstGeom>
          <a:noFill/>
          <a:ln w="9525">
            <a:noFill/>
          </a:ln>
        </p:spPr>
      </p:pic>
    </p:spTree>
    <p:extLst>
      <p:ext uri="{BB962C8B-B14F-4D97-AF65-F5344CB8AC3E}">
        <p14:creationId xmlns:p14="http://schemas.microsoft.com/office/powerpoint/2010/main" val="2111384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74554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第五部分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数字签名</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05</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a:solidFill>
                  <a:schemeClr val="accent1"/>
                </a:solidFill>
                <a:latin typeface="Arial" panose="020B0604020202020204" pitchFamily="34" charset="0"/>
                <a:ea typeface="+mj-ea"/>
                <a:cs typeface="Arial" panose="020B0604020202020204" pitchFamily="34" charset="0"/>
              </a:rPr>
              <a:t>05</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9849576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0781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数字签名是针对电子文档的一种签名确认方法，所要达到的目的是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对数字对象的合法性、真实性进行标记，并提供签名者的承诺。</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数字签名的特殊性</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通常，要签名的任何一个文档都有物理载体、载体所携带的文字符号、以及文字符号所包含的有意义的信息或数据等几个要素</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但电子文档的物理载体表现为电磁信号、所携带的文字符号以二进制编码的逻辑形式存在，数字签名与被签名的消息表现为两个分离的文档，可以任意分割、复制而不易被察觉，且数字化信息本身没有个性特征</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电子文档是一个编码序列，对它的签名也是一种编码序列。数字签名是手写签名在功能上的一种电子模拟</a:t>
            </a:r>
          </a:p>
          <a:p>
            <a:pPr marL="342900" indent="-342900">
              <a:lnSpc>
                <a:spcPct val="11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数字签名基于两条基本的假设：一是私钥是安全的，只有其拥有者才能知晓；二是产生数字签名的唯一途径是使用私钥</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数字签名的特殊性和要求</a:t>
            </a:r>
          </a:p>
        </p:txBody>
      </p:sp>
    </p:spTree>
    <p:extLst>
      <p:ext uri="{BB962C8B-B14F-4D97-AF65-F5344CB8AC3E}">
        <p14:creationId xmlns:p14="http://schemas.microsoft.com/office/powerpoint/2010/main" val="13386750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255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数字签名具有以下性质：</a:t>
            </a: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精确性。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签名是对文档的一种映射，不同的文档内容所得到的映射结果是不一样的，即签名与文档具有一一对应关系 </a:t>
            </a: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唯一性。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签名应基于签名者的唯一性特征（如私钥），从而确定签名的不可伪造性和不可否认性 </a:t>
            </a: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时效性。</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签名应该具有时间特征，防止签名的重复使用</a:t>
            </a:r>
          </a:p>
          <a:p>
            <a:pPr>
              <a:lnSpc>
                <a:spcPct val="130000"/>
              </a:lnSpc>
              <a:spcBef>
                <a:spcPts val="300"/>
              </a:spcBef>
              <a:spcAft>
                <a:spcPts val="300"/>
              </a:spcAft>
            </a:pPr>
            <a:r>
              <a:rPr lang="zh-CN" altLang="en-US"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由此可见，数字签名比手写签名有更强的不可否认性和可认证性</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数字签名的特殊性和要求</a:t>
            </a:r>
          </a:p>
        </p:txBody>
      </p:sp>
      <p:graphicFrame>
        <p:nvGraphicFramePr>
          <p:cNvPr id="4" name="对象 18">
            <a:extLst>
              <a:ext uri="{FF2B5EF4-FFF2-40B4-BE49-F238E27FC236}">
                <a16:creationId xmlns:a16="http://schemas.microsoft.com/office/drawing/2014/main" id="{3B1F93CE-030C-4E2D-98AD-CC97B92C5EF3}"/>
              </a:ext>
            </a:extLst>
          </p:cNvPr>
          <p:cNvGraphicFramePr>
            <a:graphicFrameLocks noChangeAspect="1"/>
          </p:cNvGraphicFramePr>
          <p:nvPr>
            <p:extLst>
              <p:ext uri="{D42A27DB-BD31-4B8C-83A1-F6EECF244321}">
                <p14:modId xmlns:p14="http://schemas.microsoft.com/office/powerpoint/2010/main" val="3751176782"/>
              </p:ext>
            </p:extLst>
          </p:nvPr>
        </p:nvGraphicFramePr>
        <p:xfrm>
          <a:off x="2159732" y="3587632"/>
          <a:ext cx="4824536" cy="1555868"/>
        </p:xfrm>
        <a:graphic>
          <a:graphicData uri="http://schemas.openxmlformats.org/presentationml/2006/ole">
            <mc:AlternateContent xmlns:mc="http://schemas.openxmlformats.org/markup-compatibility/2006">
              <mc:Choice xmlns:v="urn:schemas-microsoft-com:vml" Requires="v">
                <p:oleObj r:id="rId3" imgW="3096260" imgH="1002665" progId="Visio.Drawing.11">
                  <p:embed/>
                </p:oleObj>
              </mc:Choice>
              <mc:Fallback>
                <p:oleObj r:id="rId3" imgW="3096260" imgH="1002665" progId="Visio.Drawing.11">
                  <p:embed/>
                  <p:pic>
                    <p:nvPicPr>
                      <p:cNvPr id="4" name="对象 18">
                        <a:extLst>
                          <a:ext uri="{FF2B5EF4-FFF2-40B4-BE49-F238E27FC236}">
                            <a16:creationId xmlns:a16="http://schemas.microsoft.com/office/drawing/2014/main" id="{3B1F93CE-030C-4E2D-98AD-CC97B92C5EF3}"/>
                          </a:ext>
                        </a:extLst>
                      </p:cNvPr>
                      <p:cNvPicPr/>
                      <p:nvPr/>
                    </p:nvPicPr>
                    <p:blipFill>
                      <a:blip r:embed="rId4"/>
                      <a:stretch>
                        <a:fillRect/>
                      </a:stretch>
                    </p:blipFill>
                    <p:spPr>
                      <a:xfrm>
                        <a:off x="2159732" y="3587632"/>
                        <a:ext cx="4824536" cy="155586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9884849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数字签名的要求</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数字签名的特殊性和要求</a:t>
            </a:r>
          </a:p>
        </p:txBody>
      </p:sp>
      <p:sp>
        <p:nvSpPr>
          <p:cNvPr id="2" name="矩形: 圆角 1">
            <a:extLst>
              <a:ext uri="{FF2B5EF4-FFF2-40B4-BE49-F238E27FC236}">
                <a16:creationId xmlns:a16="http://schemas.microsoft.com/office/drawing/2014/main" id="{9771E2F2-5B96-4F1A-8BD4-50F344F11CCF}"/>
              </a:ext>
            </a:extLst>
          </p:cNvPr>
          <p:cNvSpPr/>
          <p:nvPr/>
        </p:nvSpPr>
        <p:spPr>
          <a:xfrm>
            <a:off x="3347864" y="1491630"/>
            <a:ext cx="5400600" cy="504056"/>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签名必须是依赖于被签名信息的一个位串模板，即签名必须以被签名的消息为输入，与其绑定</a:t>
            </a:r>
          </a:p>
        </p:txBody>
      </p:sp>
      <p:sp>
        <p:nvSpPr>
          <p:cNvPr id="6" name="矩形: 圆角 5">
            <a:extLst>
              <a:ext uri="{FF2B5EF4-FFF2-40B4-BE49-F238E27FC236}">
                <a16:creationId xmlns:a16="http://schemas.microsoft.com/office/drawing/2014/main" id="{E0756F5B-5B13-4821-8CBB-0EEDBFB32B55}"/>
              </a:ext>
            </a:extLst>
          </p:cNvPr>
          <p:cNvSpPr/>
          <p:nvPr/>
        </p:nvSpPr>
        <p:spPr>
          <a:xfrm>
            <a:off x="3347864" y="2133516"/>
            <a:ext cx="5400600" cy="504056"/>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签名必须使用某些对发送者是唯一的信息。对发送者唯一就可防止发送方以外的人伪造签名，也防止发送方事后否认。</a:t>
            </a:r>
          </a:p>
        </p:txBody>
      </p:sp>
      <p:sp>
        <p:nvSpPr>
          <p:cNvPr id="7" name="矩形: 圆角 6">
            <a:extLst>
              <a:ext uri="{FF2B5EF4-FFF2-40B4-BE49-F238E27FC236}">
                <a16:creationId xmlns:a16="http://schemas.microsoft.com/office/drawing/2014/main" id="{B5295721-EABB-4FA9-9D3D-BC6210D7E7F0}"/>
              </a:ext>
            </a:extLst>
          </p:cNvPr>
          <p:cNvSpPr/>
          <p:nvPr/>
        </p:nvSpPr>
        <p:spPr>
          <a:xfrm>
            <a:off x="3347864" y="2775402"/>
            <a:ext cx="5400600" cy="288032"/>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必须相对容易地生成该数字签名，即签名容易生成</a:t>
            </a:r>
          </a:p>
        </p:txBody>
      </p:sp>
      <p:sp>
        <p:nvSpPr>
          <p:cNvPr id="8" name="矩形: 圆角 7">
            <a:extLst>
              <a:ext uri="{FF2B5EF4-FFF2-40B4-BE49-F238E27FC236}">
                <a16:creationId xmlns:a16="http://schemas.microsoft.com/office/drawing/2014/main" id="{D1C71EBA-74B5-435C-A74A-6F5EF84EA78D}"/>
              </a:ext>
            </a:extLst>
          </p:cNvPr>
          <p:cNvSpPr/>
          <p:nvPr/>
        </p:nvSpPr>
        <p:spPr>
          <a:xfrm>
            <a:off x="3347864" y="3201264"/>
            <a:ext cx="5400600" cy="288032"/>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必须相对容易地识别和验证该数字签名</a:t>
            </a:r>
          </a:p>
        </p:txBody>
      </p:sp>
      <p:sp>
        <p:nvSpPr>
          <p:cNvPr id="9" name="矩形: 圆角 8">
            <a:extLst>
              <a:ext uri="{FF2B5EF4-FFF2-40B4-BE49-F238E27FC236}">
                <a16:creationId xmlns:a16="http://schemas.microsoft.com/office/drawing/2014/main" id="{6618A1EA-AC42-45AA-A829-E7F4348AFCF8}"/>
              </a:ext>
            </a:extLst>
          </p:cNvPr>
          <p:cNvSpPr/>
          <p:nvPr/>
        </p:nvSpPr>
        <p:spPr>
          <a:xfrm>
            <a:off x="3347864" y="3627126"/>
            <a:ext cx="5400600" cy="483518"/>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伪造数字签名在计算复杂性意义上不可行，包括对一个已有数字签名构建新的消息，对一个给定消息伪造一个数字签名</a:t>
            </a:r>
          </a:p>
        </p:txBody>
      </p:sp>
      <p:sp>
        <p:nvSpPr>
          <p:cNvPr id="10" name="矩形: 圆角 9">
            <a:extLst>
              <a:ext uri="{FF2B5EF4-FFF2-40B4-BE49-F238E27FC236}">
                <a16:creationId xmlns:a16="http://schemas.microsoft.com/office/drawing/2014/main" id="{ADEB5F4F-0718-49A2-9C54-BA1E041AE084}"/>
              </a:ext>
            </a:extLst>
          </p:cNvPr>
          <p:cNvSpPr/>
          <p:nvPr/>
        </p:nvSpPr>
        <p:spPr>
          <a:xfrm>
            <a:off x="3347864" y="4248472"/>
            <a:ext cx="5400600" cy="339502"/>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华文楷体" panose="02010600040101010101" pitchFamily="2" charset="-122"/>
                <a:ea typeface="华文楷体" panose="02010600040101010101" pitchFamily="2" charset="-122"/>
              </a:rPr>
              <a:t>在存储器中保存一个数字签名副本是现实可行的</a:t>
            </a:r>
          </a:p>
        </p:txBody>
      </p:sp>
      <p:sp>
        <p:nvSpPr>
          <p:cNvPr id="5" name="文本框 4">
            <a:extLst>
              <a:ext uri="{FF2B5EF4-FFF2-40B4-BE49-F238E27FC236}">
                <a16:creationId xmlns:a16="http://schemas.microsoft.com/office/drawing/2014/main" id="{0AB0053E-D8EB-42B4-B09E-B7CF7C749E1B}"/>
              </a:ext>
            </a:extLst>
          </p:cNvPr>
          <p:cNvSpPr txBox="1"/>
          <p:nvPr/>
        </p:nvSpPr>
        <p:spPr>
          <a:xfrm>
            <a:off x="657282" y="2603108"/>
            <a:ext cx="2463574"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数字签名的设计要求</a:t>
            </a:r>
          </a:p>
        </p:txBody>
      </p:sp>
      <p:cxnSp>
        <p:nvCxnSpPr>
          <p:cNvPr id="12" name="直接连接符 11">
            <a:extLst>
              <a:ext uri="{FF2B5EF4-FFF2-40B4-BE49-F238E27FC236}">
                <a16:creationId xmlns:a16="http://schemas.microsoft.com/office/drawing/2014/main" id="{6AFC8A14-3A62-42C8-BB86-6EBA83F2E1CA}"/>
              </a:ext>
            </a:extLst>
          </p:cNvPr>
          <p:cNvCxnSpPr/>
          <p:nvPr/>
        </p:nvCxnSpPr>
        <p:spPr>
          <a:xfrm>
            <a:off x="611560" y="3075806"/>
            <a:ext cx="2376264" cy="0"/>
          </a:xfrm>
          <a:prstGeom prst="line">
            <a:avLst/>
          </a:prstGeom>
          <a:ln w="76200">
            <a:solidFill>
              <a:srgbClr val="C8071D"/>
            </a:solidFill>
          </a:ln>
        </p:spPr>
        <p:style>
          <a:lnRef idx="1">
            <a:schemeClr val="accent1"/>
          </a:lnRef>
          <a:fillRef idx="0">
            <a:schemeClr val="accent1"/>
          </a:fillRef>
          <a:effectRef idx="0">
            <a:schemeClr val="accent1"/>
          </a:effectRef>
          <a:fontRef idx="minor">
            <a:schemeClr val="tx1"/>
          </a:fontRef>
        </p:style>
      </p:cxnSp>
      <p:sp>
        <p:nvSpPr>
          <p:cNvPr id="16" name="左大括号 15">
            <a:extLst>
              <a:ext uri="{FF2B5EF4-FFF2-40B4-BE49-F238E27FC236}">
                <a16:creationId xmlns:a16="http://schemas.microsoft.com/office/drawing/2014/main" id="{1BF82B6F-3796-462C-A481-767554849B61}"/>
              </a:ext>
            </a:extLst>
          </p:cNvPr>
          <p:cNvSpPr/>
          <p:nvPr/>
        </p:nvSpPr>
        <p:spPr>
          <a:xfrm>
            <a:off x="2627784" y="1743658"/>
            <a:ext cx="720080" cy="2716818"/>
          </a:xfrm>
          <a:prstGeom prst="leftBrace">
            <a:avLst>
              <a:gd name="adj1" fmla="val 8333"/>
              <a:gd name="adj2" fmla="val 48900"/>
            </a:avLst>
          </a:prstGeom>
          <a:ln w="38100">
            <a:solidFill>
              <a:srgbClr val="C8071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3" name="左中括号 32">
            <a:extLst>
              <a:ext uri="{FF2B5EF4-FFF2-40B4-BE49-F238E27FC236}">
                <a16:creationId xmlns:a16="http://schemas.microsoft.com/office/drawing/2014/main" id="{0C8DE484-B38F-43FC-A8C9-F6000FF31182}"/>
              </a:ext>
            </a:extLst>
          </p:cNvPr>
          <p:cNvSpPr/>
          <p:nvPr/>
        </p:nvSpPr>
        <p:spPr>
          <a:xfrm>
            <a:off x="2987824" y="2355726"/>
            <a:ext cx="360040" cy="1512168"/>
          </a:xfrm>
          <a:prstGeom prst="leftBracket">
            <a:avLst>
              <a:gd name="adj" fmla="val 53759"/>
            </a:avLst>
          </a:prstGeom>
          <a:ln w="28575">
            <a:solidFill>
              <a:srgbClr val="C8071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左中括号 33">
            <a:extLst>
              <a:ext uri="{FF2B5EF4-FFF2-40B4-BE49-F238E27FC236}">
                <a16:creationId xmlns:a16="http://schemas.microsoft.com/office/drawing/2014/main" id="{B5DF1C9F-AE06-4D52-9AE7-354809A062F1}"/>
              </a:ext>
            </a:extLst>
          </p:cNvPr>
          <p:cNvSpPr/>
          <p:nvPr/>
        </p:nvSpPr>
        <p:spPr>
          <a:xfrm>
            <a:off x="2993773" y="2919418"/>
            <a:ext cx="360040" cy="483518"/>
          </a:xfrm>
          <a:prstGeom prst="leftBracket">
            <a:avLst>
              <a:gd name="adj" fmla="val 53759"/>
            </a:avLst>
          </a:prstGeom>
          <a:ln w="28575">
            <a:solidFill>
              <a:srgbClr val="C8071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4599288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TextBox 18"/>
              <p:cNvSpPr txBox="1"/>
              <p:nvPr/>
            </p:nvSpPr>
            <p:spPr>
              <a:xfrm>
                <a:off x="611560" y="789039"/>
                <a:ext cx="8208912" cy="358886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数字签名方案的定义是：设</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是消息的有限集合（明文空间），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是签名的有限集合（签名空间），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是密钥的有限集合（密钥空间），则：</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签名算法是一个映射：</a:t>
                </a:r>
                <a14:m>
                  <m:oMath xmlns:m="http://schemas.openxmlformats.org/officeDocument/2006/math">
                    <m:r>
                      <a:rPr lang="en-US" altLang="zh-CN" sz="2000" b="1"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𝒔𝒊𝒈</m:t>
                    </m:r>
                    <m:r>
                      <a:rPr lang="zh-CN" altLang="en-US" sz="2000" b="1" i="1">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𝑷</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𝑲</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𝑺</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𝒚</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𝒔𝒊𝒈𝒌</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a14:m>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验证算法也是一个映射：</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14:m>
                  <m:oMath xmlns:m="http://schemas.openxmlformats.org/officeDocument/2006/math">
                    <m:r>
                      <a:rPr lang="en-US" altLang="zh-CN" sz="2000" b="1"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𝒗𝒆𝒓</m:t>
                    </m:r>
                    <m:r>
                      <a:rPr lang="zh-CN" altLang="en-US" sz="2000" b="1" i="1">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𝑷</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𝑲</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𝒕𝒓𝒖𝒆</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𝒇𝒂𝒍𝒔𝒆</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Sup>
                      <m:sSubSupPr>
                        <m:ctrlP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SupPr>
                      <m:e>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e>
                      <m:sub>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𝒗𝒆𝒓</m:t>
                        </m:r>
                        <m:d>
                          <m:dPr>
                            <m:ctrlP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𝒚</m:t>
                            </m:r>
                          </m:e>
                        </m:d>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𝒇𝒂𝒍𝒔𝒆</m:t>
                        </m:r>
                        <m:r>
                          <a:rPr lang="zh-CN" altLang="en-US"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，如果</m:t>
                        </m:r>
                        <m:r>
                          <m:rPr>
                            <m:sty m:val="p"/>
                          </m:rP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y</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𝒔𝒊𝒈𝒌</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ub>
                      <m:sup>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𝒗𝒆𝒓</m:t>
                        </m:r>
                        <m:d>
                          <m:dPr>
                            <m:ctrlP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𝒚</m:t>
                            </m:r>
                          </m:e>
                        </m:d>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𝒕𝒓𝒖𝒆</m:t>
                        </m:r>
                        <m:r>
                          <a:rPr lang="zh-CN" altLang="en-US"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  </m:t>
                        </m:r>
                        <m:r>
                          <a:rPr lang="zh-CN" altLang="en-US"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如果</m:t>
                        </m:r>
                        <m:r>
                          <m:rPr>
                            <m:sty m:val="p"/>
                          </m:rPr>
                          <a:rPr lang="en-US" altLang="zh-CN"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y</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𝒔𝒊𝒈𝒌</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𝒙</m:t>
                        </m:r>
                        <m:r>
                          <a:rPr lang="en-US" altLang="zh-CN" sz="2000" b="1"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up>
                    </m:sSubSup>
                  </m:oMath>
                </a14:m>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五元组</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P,S,K,sig,ver</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就称为一个签名方案</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11560" y="789039"/>
                <a:ext cx="8208912" cy="3588868"/>
              </a:xfrm>
              <a:prstGeom prst="rect">
                <a:avLst/>
              </a:prstGeom>
              <a:blipFill>
                <a:blip r:embed="rId3"/>
                <a:stretch>
                  <a:fillRect l="-668" r="-2450"/>
                </a:stretch>
              </a:blipFill>
            </p:spPr>
            <p:txBody>
              <a:bodyPr/>
              <a:lstStyle/>
              <a:p>
                <a:r>
                  <a:rPr lang="zh-CN" altLang="en-US">
                    <a:noFill/>
                  </a:rPr>
                  <a:t> </a:t>
                </a:r>
              </a:p>
            </p:txBody>
          </p:sp>
        </mc:Fallback>
      </mc:AlternateContent>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422584023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205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最基本的数字签名</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基于公钥密码算法：</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本质上是公钥密码加密算法的逆应用</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签名算法（用私钥加密）：</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en-US" altLang="zh-CN" sz="1600" b="1"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KRa</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验证算法（用公钥解密）：</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ver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m,y</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)=true</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m=E</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KUa</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(y)</a:t>
            </a:r>
          </a:p>
          <a:p>
            <a:pPr marL="342900" indent="-342900">
              <a:lnSpc>
                <a:spcPct val="130000"/>
              </a:lnSpc>
              <a:spcBef>
                <a:spcPts val="300"/>
              </a:spcBef>
              <a:spcAft>
                <a:spcPts val="300"/>
              </a:spcAft>
              <a:buFont typeface="Wingdings" panose="05000000000000000000" pitchFamily="2" charset="2"/>
              <a:buChar char="ü"/>
            </a:pP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基于对称密钥算法：</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本质上是基于共享密钥的验证</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签名算法</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sig</a:t>
            </a:r>
            <a:r>
              <a:rPr lang="en-US" altLang="zh-CN" sz="1600" b="1" baseline="-25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(m)=E</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验证算法</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解密算法：</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ver</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m,y</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true</a:t>
            </a:r>
            <a:r>
              <a:rPr lang="en-US" altLang="zh-CN" sz="1600"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m</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=D</a:t>
            </a:r>
            <a:r>
              <a:rPr lang="en-US" altLang="zh-CN" sz="1600" b="1"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K</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Wingdings" panose="05000000000000000000" pitchFamily="2" charset="2"/>
              </a:rPr>
              <a:t>(y)</a:t>
            </a:r>
            <a:endParaRPr lang="zh-CN" altLang="en-US" sz="20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305888441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8953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基于消息摘要的数字签名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endParaRPr lang="zh-CN" altLang="en-US" sz="20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pic>
        <p:nvPicPr>
          <p:cNvPr id="4" name="Picture 50" descr="F:\DOCS\写作\教材编著\3　物联网安全\物联网安全-理论与技术\PPTs（添加编辑图片）\编辑好的图片-20170122\3z31.tif">
            <a:extLst>
              <a:ext uri="{FF2B5EF4-FFF2-40B4-BE49-F238E27FC236}">
                <a16:creationId xmlns:a16="http://schemas.microsoft.com/office/drawing/2014/main" id="{6FB52577-C47C-40D7-956B-A6B2D9DA00B2}"/>
              </a:ext>
            </a:extLst>
          </p:cNvPr>
          <p:cNvPicPr>
            <a:picLocks noChangeAspect="1"/>
          </p:cNvPicPr>
          <p:nvPr/>
        </p:nvPicPr>
        <p:blipFill>
          <a:blip r:embed="rId3"/>
          <a:stretch>
            <a:fillRect/>
          </a:stretch>
        </p:blipFill>
        <p:spPr>
          <a:xfrm>
            <a:off x="862421" y="1251883"/>
            <a:ext cx="6216456" cy="3502727"/>
          </a:xfrm>
          <a:prstGeom prst="rect">
            <a:avLst/>
          </a:prstGeom>
          <a:noFill/>
          <a:ln w="9525">
            <a:noFill/>
          </a:ln>
        </p:spPr>
      </p:pic>
    </p:spTree>
    <p:extLst>
      <p:ext uri="{BB962C8B-B14F-4D97-AF65-F5344CB8AC3E}">
        <p14:creationId xmlns:p14="http://schemas.microsoft.com/office/powerpoint/2010/main" val="35623894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399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数字签名的种类：</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直接数字签名（通信双方为签名与验证方）</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需仲裁的数字签名（通信三方为签名方、仲裁者和接收方）</a:t>
            </a:r>
            <a:endParaRPr lang="en-US" altLang="zh-CN"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直接数字签名</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直接数字签名只涉及通信双方，假设接收方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知道发送方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的公开密钥，在发送消息之前，发送方用自己的私钥作加密密钥加密需签名的消息，产生的“密文“就可当作发送方对发送消息的数字签名。</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先对要签名的消息实施</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处理，之后用私钥对所得的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码进行上面说的签名处理</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直接数字签名方案的有效性依靠签名者私钥的安全性</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30534978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8701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可仲裁的数字签名</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消息进行签名时，发送方先对消息进行数字签名，然后把生成的数字签名与被签消息一起发送给仲裁者，仲裁者验证消息的签名，通过仲裁者验证的数字签名被签发一个证据来表明其真实性；最后消息、数字签名与签名真实性证据一起被发给接收方。</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单密钥加密方式，仲裁者可看见信息</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X-&gt;A</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Kxa</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(IDx||H(M))</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A-&gt;Y</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Kay</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(IDx||M|| 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Kxa</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(IDx||H(M))||T)</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单密钥加密方式，仲裁者不可看见信息</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X-&gt;A</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 ||E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Kxy</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(IDx||H(E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Kxy</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A-&gt;Y</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Kay</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Kxy</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 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Kxa</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(IDx||H(E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Kxy</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69784115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04661"/>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双密钥加密方式，仲裁者不可看见信息</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X-&gt;A</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 ||E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KRx</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KUy</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KRx</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p>
          <a:p>
            <a:pPr>
              <a:lnSpc>
                <a:spcPct val="130000"/>
              </a:lnSpc>
              <a:spcBef>
                <a:spcPts val="300"/>
              </a:spcBef>
              <a:spcAft>
                <a:spcPts val="300"/>
              </a:spcAft>
            </a:pP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A-&gt;Y</a:t>
            </a:r>
            <a:r>
              <a:rPr lang="zh-CN" altLang="pt-BR"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KRa</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(IDx||E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KUy</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t>
            </a:r>
            <a:r>
              <a:rPr lang="pt-BR" altLang="zh-CN" sz="1400" baseline="-250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KRx</a:t>
            </a:r>
            <a:r>
              <a:rPr lang="pt-BR" altLang="zh-CN" sz="1400" dirty="0">
                <a:solidFill>
                  <a:srgbClr val="E55D01"/>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数字签名方案</a:t>
            </a:r>
          </a:p>
        </p:txBody>
      </p:sp>
    </p:spTree>
    <p:extLst>
      <p:ext uri="{BB962C8B-B14F-4D97-AF65-F5344CB8AC3E}">
        <p14:creationId xmlns:p14="http://schemas.microsoft.com/office/powerpoint/2010/main" val="360773023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085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公布于</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月</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日的联邦记录上，并于</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月</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日采纳为标准</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DSS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DSS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a:t>
            </a:r>
            <a:r>
              <a:rPr lang="en-US" altLang="zh-CN" sz="20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EIGamal</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签名方案的改进。</a:t>
            </a: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DSA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的主要参数：</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全局公开密钥分量，可以为用户公用</a:t>
            </a:r>
          </a:p>
          <a:p>
            <a:pPr marL="268288">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：素数，要求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L-1</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&lt;p&lt;2</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,512&lt;=L&lt;1024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的倍数</a:t>
            </a:r>
          </a:p>
          <a:p>
            <a:pPr marL="268288">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 (p-1)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的素因子，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159</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&lt;q&lt;2</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，即比特长度为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p>
          <a:p>
            <a:pPr marL="268288">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g:=h</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(p-1)/q</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是一整数，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1&lt;h&lt;(p-1)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t>
            </a:r>
            <a:r>
              <a:rPr lang="en-US" altLang="zh-CN" sz="1600"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(p-1)/q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p&gt;1</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用户私有密钥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：随机或伪随机整数，要求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0&lt;x&lt;q</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用户公开密钥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en-US" altLang="zh-CN" sz="1600"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x</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a:t>
            </a:r>
          </a:p>
          <a:p>
            <a:pPr>
              <a:lnSpc>
                <a:spcPct val="130000"/>
              </a:lnSpc>
              <a:spcBef>
                <a:spcPts val="300"/>
              </a:spcBef>
              <a:spcAft>
                <a:spcPts val="300"/>
              </a:spcAft>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(4)k: </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随机或伪随机整数，要求</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0&lt;k&lt;q </a:t>
            </a: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数字签名标准</a:t>
            </a:r>
          </a:p>
        </p:txBody>
      </p:sp>
    </p:spTree>
    <p:extLst>
      <p:ext uri="{BB962C8B-B14F-4D97-AF65-F5344CB8AC3E}">
        <p14:creationId xmlns:p14="http://schemas.microsoft.com/office/powerpoint/2010/main" val="179593672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数字签名标准</a:t>
            </a:r>
          </a:p>
        </p:txBody>
      </p:sp>
      <p:graphicFrame>
        <p:nvGraphicFramePr>
          <p:cNvPr id="4" name="对象 23">
            <a:extLst>
              <a:ext uri="{FF2B5EF4-FFF2-40B4-BE49-F238E27FC236}">
                <a16:creationId xmlns:a16="http://schemas.microsoft.com/office/drawing/2014/main" id="{50555667-B715-4FA7-9D64-0D5A5AEEE67C}"/>
              </a:ext>
            </a:extLst>
          </p:cNvPr>
          <p:cNvGraphicFramePr>
            <a:graphicFrameLocks noChangeAspect="1"/>
          </p:cNvGraphicFramePr>
          <p:nvPr>
            <p:extLst>
              <p:ext uri="{D42A27DB-BD31-4B8C-83A1-F6EECF244321}">
                <p14:modId xmlns:p14="http://schemas.microsoft.com/office/powerpoint/2010/main" val="736980996"/>
              </p:ext>
            </p:extLst>
          </p:nvPr>
        </p:nvGraphicFramePr>
        <p:xfrm>
          <a:off x="539750" y="915566"/>
          <a:ext cx="8064500" cy="3652838"/>
        </p:xfrm>
        <a:graphic>
          <a:graphicData uri="http://schemas.openxmlformats.org/presentationml/2006/ole">
            <mc:AlternateContent xmlns:mc="http://schemas.openxmlformats.org/markup-compatibility/2006">
              <mc:Choice xmlns:v="urn:schemas-microsoft-com:vml" Requires="v">
                <p:oleObj r:id="rId3" imgW="3472815" imgH="1579880" progId="Visio.Drawing.11">
                  <p:embed/>
                </p:oleObj>
              </mc:Choice>
              <mc:Fallback>
                <p:oleObj r:id="rId3" imgW="3472815" imgH="1579880" progId="Visio.Drawing.11">
                  <p:embed/>
                  <p:pic>
                    <p:nvPicPr>
                      <p:cNvPr id="4" name="对象 23">
                        <a:extLst>
                          <a:ext uri="{FF2B5EF4-FFF2-40B4-BE49-F238E27FC236}">
                            <a16:creationId xmlns:a16="http://schemas.microsoft.com/office/drawing/2014/main" id="{50555667-B715-4FA7-9D64-0D5A5AEEE67C}"/>
                          </a:ext>
                        </a:extLst>
                      </p:cNvPr>
                      <p:cNvPicPr/>
                      <p:nvPr/>
                    </p:nvPicPr>
                    <p:blipFill>
                      <a:blip r:embed="rId4"/>
                      <a:stretch>
                        <a:fillRect/>
                      </a:stretch>
                    </p:blipFill>
                    <p:spPr>
                      <a:xfrm>
                        <a:off x="539750" y="915566"/>
                        <a:ext cx="8064500" cy="3652838"/>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0667319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17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签名过程：</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用户随机选取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a:t>
            </a:r>
          </a:p>
          <a:p>
            <a:pPr marL="534988">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a:t>
            </a:r>
            <a:r>
              <a:rPr lang="en-US" altLang="zh-CN" sz="16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a:t>
            </a:r>
            <a:r>
              <a:rPr lang="en-US" altLang="zh-CN" sz="1600" b="1" baseline="30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k</a:t>
            </a: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mod p) mod q</a:t>
            </a:r>
          </a:p>
          <a:p>
            <a:pPr marL="534988">
              <a:lnSpc>
                <a:spcPct val="130000"/>
              </a:lnSpc>
              <a:spcBef>
                <a:spcPts val="300"/>
              </a:spcBef>
              <a:spcAft>
                <a:spcPts val="300"/>
              </a:spcAft>
            </a:pP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s=[k</a:t>
            </a:r>
            <a:r>
              <a:rPr lang="en-US" altLang="zh-CN" sz="1600" b="1" baseline="30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(H(M)+</a:t>
            </a:r>
            <a:r>
              <a:rPr lang="en-US" altLang="zh-CN" sz="1600" b="1"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xr</a:t>
            </a:r>
            <a:r>
              <a:rPr lang="en-US" altLang="zh-CN" sz="16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)]mod q</a:t>
            </a:r>
          </a:p>
          <a:p>
            <a:pPr>
              <a:lnSpc>
                <a:spcPct val="130000"/>
              </a:lnSpc>
              <a:spcBef>
                <a:spcPts val="300"/>
              </a:spcBef>
              <a:spcAft>
                <a:spcPts val="300"/>
              </a:spcAft>
            </a:pPr>
            <a:r>
              <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r,s</a:t>
            </a:r>
            <a:r>
              <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即为消息</a:t>
            </a:r>
            <a:r>
              <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的数字签名</a:t>
            </a:r>
          </a:p>
          <a:p>
            <a:pPr>
              <a:lnSpc>
                <a:spcPct val="130000"/>
              </a:lnSpc>
              <a:spcBef>
                <a:spcPts val="300"/>
              </a:spcBef>
              <a:spcAft>
                <a:spcPts val="300"/>
              </a:spcAft>
            </a:pPr>
            <a:endPar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数字签名标准</a:t>
            </a:r>
          </a:p>
        </p:txBody>
      </p:sp>
    </p:spTree>
    <p:extLst>
      <p:ext uri="{BB962C8B-B14F-4D97-AF65-F5344CB8AC3E}">
        <p14:creationId xmlns:p14="http://schemas.microsoft.com/office/powerpoint/2010/main" val="26882159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1553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验证过程：</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接收者收到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M,r,s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后，首先验证</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0&lt;r&lt;q, 0&lt;s&lt;q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，如果通过则计算：</a:t>
            </a:r>
          </a:p>
          <a:p>
            <a:pPr marL="4460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w=s</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 </a:t>
            </a:r>
          </a:p>
          <a:p>
            <a:pPr marL="4460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u1=[H(M)w] mod q</a:t>
            </a:r>
          </a:p>
          <a:p>
            <a:pPr marL="4460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u2=[</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rw</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a:t>
            </a:r>
          </a:p>
          <a:p>
            <a:pPr marL="4460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v=[(g</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p] mod q</a:t>
            </a:r>
          </a:p>
          <a:p>
            <a:pPr>
              <a:lnSpc>
                <a:spcPct val="130000"/>
              </a:lnSpc>
              <a:spcBef>
                <a:spcPts val="300"/>
              </a:spcBef>
              <a:spcAft>
                <a:spcPts val="300"/>
              </a:spcAft>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v=r</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，则确认签名正确 </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数字签名标准</a:t>
            </a:r>
          </a:p>
        </p:txBody>
      </p:sp>
    </p:spTree>
    <p:extLst>
      <p:ext uri="{BB962C8B-B14F-4D97-AF65-F5344CB8AC3E}">
        <p14:creationId xmlns:p14="http://schemas.microsoft.com/office/powerpoint/2010/main" val="161486859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74554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第六部分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密钥管理</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06</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06</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269878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79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就是在授权各方之间实现密钥关系的建立和维护的一整套技术和程序</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密钥管理负责密钥从产生到最终销毁的整个过程，包括密钥的</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生成、存储、分发、使用、备份、恢复、更新、撤销和销毁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作为提供机密性、实体认证、数据源认证、数据完整性和数字签名等安全密码技术的基础，在物联网安全中占有重要的地位，因为现代密码学要求所有加密体制的密码算法是可以公开的，一切秘密都寓于密钥之中</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273894453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09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物联网的多源异构性，特别是感知节点资源的有限性，给密钥管理带来了挑战</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物联网密钥管理面临着两个主要问题：</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一是如何构建一个能覆盖不同网络的统一密钥管理系统，并与物联网的安全体系相适应</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二是如何实现物联网的密钥管理，包括密钥的产生、分发、存储、更新和销毁等</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26265608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2955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密钥管理系统框架</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graphicFrame>
        <p:nvGraphicFramePr>
          <p:cNvPr id="2" name="图示 1">
            <a:extLst>
              <a:ext uri="{FF2B5EF4-FFF2-40B4-BE49-F238E27FC236}">
                <a16:creationId xmlns:a16="http://schemas.microsoft.com/office/drawing/2014/main" id="{788284B4-0479-B215-BE5D-E1EFE124118A}"/>
              </a:ext>
            </a:extLst>
          </p:cNvPr>
          <p:cNvGraphicFramePr/>
          <p:nvPr>
            <p:extLst>
              <p:ext uri="{D42A27DB-BD31-4B8C-83A1-F6EECF244321}">
                <p14:modId xmlns:p14="http://schemas.microsoft.com/office/powerpoint/2010/main" val="1392980154"/>
              </p:ext>
            </p:extLst>
          </p:nvPr>
        </p:nvGraphicFramePr>
        <p:xfrm>
          <a:off x="2219908" y="1458365"/>
          <a:ext cx="4704184" cy="2896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01518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2432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公钥基础设施</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PKI</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物联网本质上高度分散，完全按照</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的模式应用于物联网的可行性不高；但是有一个系统中心（即基站）负责网络节点的初始化，很明显基站可以作为一个证书认证中心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），基站也起注册认证</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）的作用。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的核心，是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应用中权威的、可信的、公正的第三方机构，可以向用户颁发数字证书，每份数字证书都是使用签发者（即</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）的私钥签发的，可以使用签发者的公钥加以验证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基于公钥密码技术发展起来的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能够为网络应用提供全面的认证、密钥管理、数据的机密性、完整性检验和不可否认性保证等安全服务。</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对数字证书的管理包含证书的签发、更新、查询以及撤销</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35197389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209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密钥管理的阶段</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物联网中的密钥管理可以分解为四个阶段</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首先是</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密钥分发或预分发阶段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，该阶段密钥被分发给传感器节点用于一定的安全机制，如机密性、可认证性和完整性。密钥和生成密钥的材料可以在传感器节点分布前以集中的方式预分发给传感器节点</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第二个阶段是</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共享密钥发现阶段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。该阶段始于物联网分布，每一个传感器节点发现它的邻居节点，并且它们拥有一个共同的密钥</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56517736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2707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第三个阶段是</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密钥建立阶段</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该阶段，每一对邻近节点（没有共同的密钥）建立一个或多个密钥。两个节点间密钥的建立能够通过预分发的密钥材料，直接在它们不安全的无线链路或在一个或多个安全路径上（安全路径上的每一条链路都受密钥保护）交换信息。传感器节点有一个有限的生命时间，并且它们受到包括节点捕获在内的多种安全威胁</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新的传感器节点可以被分布，节点上的安全材料也需要更新，因此，第四阶段被称为密钥更新阶段；该阶段用于邻近节点间安全链路建立的密钥被更新</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12992874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5370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DH</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是非对称加密算法的鼻祖，为非对称加密算法奠定了基础，主要用途是进行密钥交换，确保共享的密钥能够安全穿越不安全的网络。该算法其背后有对应数学理论做支撑，简单来讲就是构造一个复杂的计算难题，使得对该问题的求解在现实的时间内无法快速有效的求解（</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computationally infeasible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spTree>
    <p:extLst>
      <p:ext uri="{BB962C8B-B14F-4D97-AF65-F5344CB8AC3E}">
        <p14:creationId xmlns:p14="http://schemas.microsoft.com/office/powerpoint/2010/main" val="12872502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9519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数学基础</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本原元：</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对于一个素数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，如果数值</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mod q,a</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q,...,a</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q-1</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是各不相同的整数，并且以某种排列方式组成了从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的所有整数，则称整数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的一个本原元。</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离散对数：</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对于一个整数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和素数</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的一个本原元</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，可以找到一个唯一的指数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，使得</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gn="ct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mod q(0≤i ≤ q-1)</a:t>
            </a:r>
          </a:p>
          <a:p>
            <a:pPr marL="3571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成立，则指数</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称为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为底数的模</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的离散对数。</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spTree>
    <p:extLst>
      <p:ext uri="{BB962C8B-B14F-4D97-AF65-F5344CB8AC3E}">
        <p14:creationId xmlns:p14="http://schemas.microsoft.com/office/powerpoint/2010/main" val="386488297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0146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算法流程及原理</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共享一个素数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以及该素数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的本原根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，且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2≤g≤p−1</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grpSp>
        <p:nvGrpSpPr>
          <p:cNvPr id="6" name="组合 5">
            <a:extLst>
              <a:ext uri="{FF2B5EF4-FFF2-40B4-BE49-F238E27FC236}">
                <a16:creationId xmlns:a16="http://schemas.microsoft.com/office/drawing/2014/main" id="{F1133198-E1DE-44AE-931B-36F9664B1904}"/>
              </a:ext>
            </a:extLst>
          </p:cNvPr>
          <p:cNvGrpSpPr/>
          <p:nvPr/>
        </p:nvGrpSpPr>
        <p:grpSpPr>
          <a:xfrm>
            <a:off x="2627784" y="1817029"/>
            <a:ext cx="3744416" cy="1728193"/>
            <a:chOff x="971600" y="1779661"/>
            <a:chExt cx="3744416" cy="1728193"/>
          </a:xfrm>
        </p:grpSpPr>
        <p:pic>
          <p:nvPicPr>
            <p:cNvPr id="4" name="图片 3">
              <a:extLst>
                <a:ext uri="{FF2B5EF4-FFF2-40B4-BE49-F238E27FC236}">
                  <a16:creationId xmlns:a16="http://schemas.microsoft.com/office/drawing/2014/main" id="{A22685D2-2055-4CB1-841D-8188F14E969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858" b="89474" l="694" r="99306">
                          <a14:foregroundMark x1="5972" y1="45511" x2="5972" y2="45511"/>
                          <a14:foregroundMark x1="5833" y1="60372" x2="5833" y2="60372"/>
                          <a14:foregroundMark x1="1111" y1="59443" x2="1111" y2="59443"/>
                          <a14:foregroundMark x1="48889" y1="2167" x2="48889" y2="2167"/>
                          <a14:foregroundMark x1="26389" y1="42724" x2="26389" y2="42724"/>
                          <a14:foregroundMark x1="74861" y1="46130" x2="74861" y2="46130"/>
                          <a14:foregroundMark x1="95694" y1="64087" x2="95694" y2="64087"/>
                          <a14:foregroundMark x1="92500" y1="62229" x2="92500" y2="62229"/>
                          <a14:foregroundMark x1="99306" y1="63158" x2="99306" y2="63158"/>
                          <a14:foregroundMark x1="95139" y1="47368" x2="95139" y2="47368"/>
                        </a14:backgroundRemoval>
                      </a14:imgEffect>
                    </a14:imgLayer>
                  </a14:imgProps>
                </a:ext>
                <a:ext uri="{28A0092B-C50C-407E-A947-70E740481C1C}">
                  <a14:useLocalDpi xmlns:a14="http://schemas.microsoft.com/office/drawing/2010/main" val="0"/>
                </a:ext>
              </a:extLst>
            </a:blip>
            <a:stretch>
              <a:fillRect/>
            </a:stretch>
          </p:blipFill>
          <p:spPr>
            <a:xfrm>
              <a:off x="1115616" y="1779661"/>
              <a:ext cx="3528392" cy="1582875"/>
            </a:xfrm>
            <a:prstGeom prst="rect">
              <a:avLst/>
            </a:prstGeom>
          </p:spPr>
        </p:pic>
        <p:sp>
          <p:nvSpPr>
            <p:cNvPr id="5" name="文本框 4">
              <a:extLst>
                <a:ext uri="{FF2B5EF4-FFF2-40B4-BE49-F238E27FC236}">
                  <a16:creationId xmlns:a16="http://schemas.microsoft.com/office/drawing/2014/main" id="{072236E0-67C0-49A6-9990-3E3B374BA050}"/>
                </a:ext>
              </a:extLst>
            </p:cNvPr>
            <p:cNvSpPr txBox="1"/>
            <p:nvPr/>
          </p:nvSpPr>
          <p:spPr>
            <a:xfrm>
              <a:off x="971600" y="3138522"/>
              <a:ext cx="684803" cy="369332"/>
            </a:xfrm>
            <a:prstGeom prst="rect">
              <a:avLst/>
            </a:prstGeom>
            <a:noFill/>
          </p:spPr>
          <p:txBody>
            <a:bodyPr wrap="none" rtlCol="0">
              <a:spAutoFit/>
            </a:bodyPr>
            <a:lstStyle/>
            <a:p>
              <a:r>
                <a:rPr lang="en-US" altLang="zh-CN" dirty="0">
                  <a:solidFill>
                    <a:srgbClr val="0070C0"/>
                  </a:solidFill>
                  <a:latin typeface="Times New Roman" panose="02020603050405020304" pitchFamily="18" charset="0"/>
                  <a:cs typeface="Times New Roman" panose="02020603050405020304" pitchFamily="18" charset="0"/>
                </a:rPr>
                <a:t>Alice</a:t>
              </a:r>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88077644-AE0C-406B-AFA4-1AAB00467F2C}"/>
                </a:ext>
              </a:extLst>
            </p:cNvPr>
            <p:cNvSpPr txBox="1"/>
            <p:nvPr/>
          </p:nvSpPr>
          <p:spPr>
            <a:xfrm>
              <a:off x="4146629" y="3138522"/>
              <a:ext cx="569387" cy="369332"/>
            </a:xfrm>
            <a:prstGeom prst="rect">
              <a:avLst/>
            </a:prstGeom>
            <a:noFill/>
          </p:spPr>
          <p:txBody>
            <a:bodyPr wrap="none" rtlCol="0">
              <a:spAutoFit/>
            </a:bodyPr>
            <a:lstStyle/>
            <a:p>
              <a:r>
                <a:rPr lang="en-US" altLang="zh-CN" dirty="0">
                  <a:solidFill>
                    <a:srgbClr val="0070C0"/>
                  </a:solidFill>
                  <a:latin typeface="Times New Roman" panose="02020603050405020304" pitchFamily="18" charset="0"/>
                  <a:cs typeface="Times New Roman" panose="02020603050405020304" pitchFamily="18" charset="0"/>
                </a:rPr>
                <a:t>Bob</a:t>
              </a:r>
              <a:endParaRPr lang="zh-CN" altLang="en-US" dirty="0">
                <a:solidFill>
                  <a:srgbClr val="0070C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01147299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144609"/>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2"/>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产生一个私有的随机数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，满足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1≤A≤p−1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，然后计算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p=Y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，将结果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通过公网发送给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与此同时，</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也产生一个私有的随机数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，满足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1≤B≤p−1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a:t>
            </a:r>
            <a:r>
              <a:rPr lang="en-US" altLang="zh-CN" baseline="300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baseline="30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mod p=Y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，再将结果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t>
            </a:r>
            <a:r>
              <a:rPr lang="en-US" altLang="zh-CN" baseline="-25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通过公网发送给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grpSp>
        <p:nvGrpSpPr>
          <p:cNvPr id="20" name="组合 19">
            <a:extLst>
              <a:ext uri="{FF2B5EF4-FFF2-40B4-BE49-F238E27FC236}">
                <a16:creationId xmlns:a16="http://schemas.microsoft.com/office/drawing/2014/main" id="{5C964AAF-EEF1-47A9-8603-585B73BF5CBD}"/>
              </a:ext>
            </a:extLst>
          </p:cNvPr>
          <p:cNvGrpSpPr/>
          <p:nvPr/>
        </p:nvGrpSpPr>
        <p:grpSpPr>
          <a:xfrm>
            <a:off x="1280251" y="1933648"/>
            <a:ext cx="6583497" cy="1345332"/>
            <a:chOff x="1280251" y="1933648"/>
            <a:chExt cx="6583497" cy="1345332"/>
          </a:xfrm>
        </p:grpSpPr>
        <p:pic>
          <p:nvPicPr>
            <p:cNvPr id="8" name="图片 7">
              <a:extLst>
                <a:ext uri="{FF2B5EF4-FFF2-40B4-BE49-F238E27FC236}">
                  <a16:creationId xmlns:a16="http://schemas.microsoft.com/office/drawing/2014/main" id="{01AA7617-73C4-4B08-8377-7F34C1A03D47}"/>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5487" b="28944" l="3276" r="94123">
                          <a14:foregroundMark x1="11175" y1="9739" x2="11175" y2="9739"/>
                          <a14:foregroundMark x1="6744" y1="11523" x2="6744" y2="11523"/>
                          <a14:foregroundMark x1="3276" y1="11385" x2="3276" y2="11385"/>
                          <a14:foregroundMark x1="20713" y1="14403" x2="20713" y2="14403"/>
                          <a14:foregroundMark x1="21291" y1="6859" x2="21291" y2="6859"/>
                          <a14:foregroundMark x1="32948" y1="12071" x2="32948" y2="12071"/>
                          <a14:foregroundMark x1="34778" y1="12071" x2="34778" y2="12071"/>
                          <a14:foregroundMark x1="40173" y1="12071" x2="40173" y2="12071"/>
                          <a14:foregroundMark x1="43256" y1="12071" x2="43256" y2="12071"/>
                          <a14:foregroundMark x1="50482" y1="12346" x2="50482" y2="12346"/>
                          <a14:foregroundMark x1="55106" y1="25514" x2="55106" y2="25514"/>
                          <a14:foregroundMark x1="77649" y1="16187" x2="77649" y2="16187"/>
                          <a14:foregroundMark x1="77553" y1="6173" x2="77553" y2="6173"/>
                          <a14:foregroundMark x1="88825" y1="13306" x2="88825" y2="13306"/>
                          <a14:foregroundMark x1="94123" y1="11523" x2="94123" y2="11523"/>
                          <a14:foregroundMark x1="59634" y1="24829" x2="59634" y2="24829"/>
                        </a14:backgroundRemoval>
                      </a14:imgEffect>
                    </a14:imgLayer>
                  </a14:imgProps>
                </a:ext>
                <a:ext uri="{28A0092B-C50C-407E-A947-70E740481C1C}">
                  <a14:useLocalDpi xmlns:a14="http://schemas.microsoft.com/office/drawing/2010/main" val="0"/>
                </a:ext>
              </a:extLst>
            </a:blip>
            <a:srcRect t="2866" b="68037"/>
            <a:stretch/>
          </p:blipFill>
          <p:spPr>
            <a:xfrm>
              <a:off x="1280251" y="1933648"/>
              <a:ext cx="6583497" cy="1345332"/>
            </a:xfrm>
            <a:prstGeom prst="rect">
              <a:avLst/>
            </a:prstGeom>
          </p:spPr>
        </p:pic>
        <p:sp>
          <p:nvSpPr>
            <p:cNvPr id="13" name="文本框 12">
              <a:extLst>
                <a:ext uri="{FF2B5EF4-FFF2-40B4-BE49-F238E27FC236}">
                  <a16:creationId xmlns:a16="http://schemas.microsoft.com/office/drawing/2014/main" id="{964D6B58-8DA4-4E02-8C17-3EB4A0BAEB6E}"/>
                </a:ext>
              </a:extLst>
            </p:cNvPr>
            <p:cNvSpPr txBox="1"/>
            <p:nvPr/>
          </p:nvSpPr>
          <p:spPr>
            <a:xfrm>
              <a:off x="2347238" y="2937075"/>
              <a:ext cx="574196" cy="307777"/>
            </a:xfrm>
            <a:prstGeom prst="rect">
              <a:avLst/>
            </a:prstGeom>
            <a:noFill/>
          </p:spPr>
          <p:txBody>
            <a:bodyPr wrap="none" rtlCol="0">
              <a:spAutoFit/>
            </a:bodyPr>
            <a:lstStyle/>
            <a:p>
              <a:r>
                <a:rPr lang="en-US" altLang="zh-CN" sz="1400" dirty="0">
                  <a:solidFill>
                    <a:srgbClr val="0070C0"/>
                  </a:solidFill>
                  <a:latin typeface="Times New Roman" panose="02020603050405020304" pitchFamily="18" charset="0"/>
                  <a:cs typeface="Times New Roman" panose="02020603050405020304" pitchFamily="18" charset="0"/>
                </a:rPr>
                <a:t>Alice</a:t>
              </a:r>
              <a:endParaRPr lang="zh-CN" altLang="en-US" sz="1400" dirty="0">
                <a:solidFill>
                  <a:srgbClr val="0070C0"/>
                </a:solidFill>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C0EC8C87-2B81-48A4-ABBD-6577E26C4544}"/>
                </a:ext>
              </a:extLst>
            </p:cNvPr>
            <p:cNvSpPr txBox="1"/>
            <p:nvPr/>
          </p:nvSpPr>
          <p:spPr>
            <a:xfrm>
              <a:off x="6156176" y="2937075"/>
              <a:ext cx="484428" cy="307777"/>
            </a:xfrm>
            <a:prstGeom prst="rect">
              <a:avLst/>
            </a:prstGeom>
            <a:noFill/>
          </p:spPr>
          <p:txBody>
            <a:bodyPr wrap="none" rtlCol="0">
              <a:spAutoFit/>
            </a:bodyPr>
            <a:lstStyle/>
            <a:p>
              <a:r>
                <a:rPr lang="en-US" altLang="zh-CN" sz="1400" dirty="0">
                  <a:solidFill>
                    <a:srgbClr val="0070C0"/>
                  </a:solidFill>
                  <a:latin typeface="Times New Roman" panose="02020603050405020304" pitchFamily="18" charset="0"/>
                  <a:cs typeface="Times New Roman" panose="02020603050405020304" pitchFamily="18" charset="0"/>
                </a:rPr>
                <a:t>Bob</a:t>
              </a:r>
              <a:endParaRPr lang="zh-CN" altLang="en-US" sz="1400" dirty="0">
                <a:solidFill>
                  <a:srgbClr val="0070C0"/>
                </a:solidFill>
                <a:latin typeface="Times New Roman" panose="02020603050405020304" pitchFamily="18" charset="0"/>
                <a:cs typeface="Times New Roman" panose="02020603050405020304" pitchFamily="18" charset="0"/>
              </a:endParaRPr>
            </a:p>
          </p:txBody>
        </p:sp>
      </p:grpSp>
      <p:sp>
        <p:nvSpPr>
          <p:cNvPr id="15" name="文本框 14">
            <a:extLst>
              <a:ext uri="{FF2B5EF4-FFF2-40B4-BE49-F238E27FC236}">
                <a16:creationId xmlns:a16="http://schemas.microsoft.com/office/drawing/2014/main" id="{98A2B288-0B03-49D7-9C0D-F221DC38A675}"/>
              </a:ext>
            </a:extLst>
          </p:cNvPr>
          <p:cNvSpPr txBox="1"/>
          <p:nvPr/>
        </p:nvSpPr>
        <p:spPr>
          <a:xfrm>
            <a:off x="3782938" y="2563851"/>
            <a:ext cx="1389035" cy="338554"/>
          </a:xfrm>
          <a:prstGeom prst="rect">
            <a:avLst/>
          </a:prstGeom>
          <a:noFill/>
        </p:spPr>
        <p:txBody>
          <a:bodyPr wrap="none" rtlCol="0">
            <a:spAutoFit/>
          </a:bodyPr>
          <a:lstStyle/>
          <a:p>
            <a:r>
              <a:rPr lang="en-US" altLang="zh-CN" sz="1600" b="1" dirty="0" err="1">
                <a:solidFill>
                  <a:srgbClr val="FF0000"/>
                </a:solidFill>
                <a:latin typeface="Times New Roman" panose="02020603050405020304" pitchFamily="18" charset="0"/>
                <a:cs typeface="Times New Roman" panose="02020603050405020304" pitchFamily="18" charset="0"/>
              </a:rPr>
              <a:t>g</a:t>
            </a:r>
            <a:r>
              <a:rPr lang="en-US" altLang="zh-CN" sz="1600" b="1" baseline="30000" dirty="0" err="1">
                <a:solidFill>
                  <a:srgbClr val="FF0000"/>
                </a:solidFill>
                <a:latin typeface="Times New Roman" panose="02020603050405020304" pitchFamily="18" charset="0"/>
                <a:cs typeface="Times New Roman" panose="02020603050405020304" pitchFamily="18" charset="0"/>
              </a:rPr>
              <a:t>A</a:t>
            </a:r>
            <a:r>
              <a:rPr lang="en-US" altLang="zh-CN" sz="1600" b="1" dirty="0">
                <a:solidFill>
                  <a:srgbClr val="FF0000"/>
                </a:solidFill>
                <a:latin typeface="Times New Roman" panose="02020603050405020304" pitchFamily="18" charset="0"/>
                <a:cs typeface="Times New Roman" panose="02020603050405020304" pitchFamily="18" charset="0"/>
              </a:rPr>
              <a:t> mod p = Y</a:t>
            </a:r>
            <a:r>
              <a:rPr lang="en-US" altLang="zh-CN" sz="1600" b="1" baseline="-25000" dirty="0">
                <a:solidFill>
                  <a:srgbClr val="FF0000"/>
                </a:solidFill>
                <a:latin typeface="Times New Roman" panose="02020603050405020304" pitchFamily="18" charset="0"/>
                <a:cs typeface="Times New Roman" panose="02020603050405020304" pitchFamily="18" charset="0"/>
              </a:rPr>
              <a:t>a</a:t>
            </a:r>
            <a:endParaRPr lang="zh-CN" altLang="en-US" sz="1600" b="1" baseline="-25000" dirty="0">
              <a:solidFill>
                <a:srgbClr val="FF0000"/>
              </a:solidFill>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503636D4-426D-4E6E-BB34-A2EDFCE03D2D}"/>
              </a:ext>
            </a:extLst>
          </p:cNvPr>
          <p:cNvSpPr txBox="1"/>
          <p:nvPr/>
        </p:nvSpPr>
        <p:spPr>
          <a:xfrm>
            <a:off x="3782938" y="1933648"/>
            <a:ext cx="1417760" cy="338554"/>
          </a:xfrm>
          <a:prstGeom prst="rect">
            <a:avLst/>
          </a:prstGeom>
          <a:noFill/>
        </p:spPr>
        <p:txBody>
          <a:bodyPr wrap="none" rtlCol="0">
            <a:spAutoFit/>
          </a:bodyPr>
          <a:lstStyle/>
          <a:p>
            <a:r>
              <a:rPr lang="en-US" altLang="zh-CN" sz="1600" b="1" dirty="0" err="1">
                <a:solidFill>
                  <a:srgbClr val="FF0000"/>
                </a:solidFill>
                <a:latin typeface="Times New Roman" panose="02020603050405020304" pitchFamily="18" charset="0"/>
                <a:cs typeface="Times New Roman" panose="02020603050405020304" pitchFamily="18" charset="0"/>
              </a:rPr>
              <a:t>g</a:t>
            </a:r>
            <a:r>
              <a:rPr lang="en-US" altLang="zh-CN" sz="1600" b="1" baseline="30000" dirty="0" err="1">
                <a:solidFill>
                  <a:srgbClr val="FF0000"/>
                </a:solidFill>
                <a:latin typeface="Times New Roman" panose="02020603050405020304" pitchFamily="18" charset="0"/>
                <a:cs typeface="Times New Roman" panose="02020603050405020304" pitchFamily="18" charset="0"/>
              </a:rPr>
              <a:t>B</a:t>
            </a:r>
            <a:r>
              <a:rPr lang="en-US" altLang="zh-CN" sz="1600" b="1" dirty="0">
                <a:solidFill>
                  <a:srgbClr val="FF0000"/>
                </a:solidFill>
                <a:latin typeface="Times New Roman" panose="02020603050405020304" pitchFamily="18" charset="0"/>
                <a:cs typeface="Times New Roman" panose="02020603050405020304" pitchFamily="18" charset="0"/>
              </a:rPr>
              <a:t> mod p = Y</a:t>
            </a:r>
            <a:r>
              <a:rPr lang="en-US" altLang="zh-CN" sz="1600" b="1" baseline="-25000" dirty="0">
                <a:solidFill>
                  <a:srgbClr val="FF0000"/>
                </a:solidFill>
                <a:latin typeface="Times New Roman" panose="02020603050405020304" pitchFamily="18" charset="0"/>
                <a:cs typeface="Times New Roman" panose="02020603050405020304" pitchFamily="18" charset="0"/>
              </a:rPr>
              <a:t>b</a:t>
            </a:r>
            <a:endParaRPr lang="zh-CN" altLang="en-US" sz="1600" b="1" baseline="-25000" dirty="0">
              <a:solidFill>
                <a:srgbClr val="FF0000"/>
              </a:solidFill>
              <a:latin typeface="Times New Roman" panose="02020603050405020304" pitchFamily="18" charset="0"/>
              <a:cs typeface="Times New Roman" panose="02020603050405020304" pitchFamily="18" charset="0"/>
            </a:endParaRPr>
          </a:p>
        </p:txBody>
      </p:sp>
      <p:grpSp>
        <p:nvGrpSpPr>
          <p:cNvPr id="12" name="组合 11">
            <a:extLst>
              <a:ext uri="{FF2B5EF4-FFF2-40B4-BE49-F238E27FC236}">
                <a16:creationId xmlns:a16="http://schemas.microsoft.com/office/drawing/2014/main" id="{00C21644-0353-4093-A78C-C9BC94EFB05D}"/>
              </a:ext>
            </a:extLst>
          </p:cNvPr>
          <p:cNvGrpSpPr/>
          <p:nvPr/>
        </p:nvGrpSpPr>
        <p:grpSpPr>
          <a:xfrm>
            <a:off x="1136765" y="3657632"/>
            <a:ext cx="7323667" cy="1531913"/>
            <a:chOff x="1136765" y="3723878"/>
            <a:chExt cx="7323667" cy="1531913"/>
          </a:xfrm>
        </p:grpSpPr>
        <p:pic>
          <p:nvPicPr>
            <p:cNvPr id="11" name="图片 10">
              <a:extLst>
                <a:ext uri="{FF2B5EF4-FFF2-40B4-BE49-F238E27FC236}">
                  <a16:creationId xmlns:a16="http://schemas.microsoft.com/office/drawing/2014/main" id="{59F24BB3-2B85-4871-B9D7-6E713F531D20}"/>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10000" b="90000" l="10000" r="90000">
                          <a14:foregroundMark x1="41522" y1="75034" x2="41522" y2="75034"/>
                          <a14:foregroundMark x1="40751" y1="67627" x2="40751" y2="67627"/>
                          <a14:foregroundMark x1="54432" y1="68038" x2="54432" y2="68038"/>
                          <a14:foregroundMark x1="54046" y1="76406" x2="54046" y2="76406"/>
                          <a14:foregroundMark x1="30250" y1="72702" x2="30250" y2="72702"/>
                        </a14:backgroundRemoval>
                      </a14:imgEffect>
                    </a14:imgLayer>
                  </a14:imgProps>
                </a:ext>
                <a:ext uri="{28A0092B-C50C-407E-A947-70E740481C1C}">
                  <a14:useLocalDpi xmlns:a14="http://schemas.microsoft.com/office/drawing/2010/main" val="0"/>
                </a:ext>
              </a:extLst>
            </a:blip>
            <a:srcRect t="62433" b="11411"/>
            <a:stretch/>
          </p:blipFill>
          <p:spPr>
            <a:xfrm>
              <a:off x="1136765" y="3723878"/>
              <a:ext cx="7323667" cy="1345332"/>
            </a:xfrm>
            <a:prstGeom prst="rect">
              <a:avLst/>
            </a:prstGeom>
          </p:spPr>
        </p:pic>
        <p:sp>
          <p:nvSpPr>
            <p:cNvPr id="17" name="文本框 16">
              <a:extLst>
                <a:ext uri="{FF2B5EF4-FFF2-40B4-BE49-F238E27FC236}">
                  <a16:creationId xmlns:a16="http://schemas.microsoft.com/office/drawing/2014/main" id="{75BBAA84-4135-40FA-A53A-E524DE90AFA3}"/>
                </a:ext>
              </a:extLst>
            </p:cNvPr>
            <p:cNvSpPr txBox="1"/>
            <p:nvPr/>
          </p:nvSpPr>
          <p:spPr>
            <a:xfrm>
              <a:off x="3819923" y="4948014"/>
              <a:ext cx="574196" cy="307777"/>
            </a:xfrm>
            <a:prstGeom prst="rect">
              <a:avLst/>
            </a:prstGeom>
            <a:noFill/>
          </p:spPr>
          <p:txBody>
            <a:bodyPr wrap="none" rtlCol="0">
              <a:spAutoFit/>
            </a:bodyPr>
            <a:lstStyle/>
            <a:p>
              <a:r>
                <a:rPr lang="en-US" altLang="zh-CN" sz="1400" dirty="0">
                  <a:solidFill>
                    <a:srgbClr val="0070C0"/>
                  </a:solidFill>
                  <a:latin typeface="Times New Roman" panose="02020603050405020304" pitchFamily="18" charset="0"/>
                  <a:cs typeface="Times New Roman" panose="02020603050405020304" pitchFamily="18" charset="0"/>
                </a:rPr>
                <a:t>Alice</a:t>
              </a:r>
              <a:endParaRPr lang="zh-CN" altLang="en-US" sz="1400" dirty="0">
                <a:solidFill>
                  <a:srgbClr val="0070C0"/>
                </a:solidFill>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D52095B5-BCE5-41D1-89B3-2596F7E8A56D}"/>
                </a:ext>
              </a:extLst>
            </p:cNvPr>
            <p:cNvSpPr txBox="1"/>
            <p:nvPr/>
          </p:nvSpPr>
          <p:spPr>
            <a:xfrm>
              <a:off x="4812032" y="4948013"/>
              <a:ext cx="484428" cy="307777"/>
            </a:xfrm>
            <a:prstGeom prst="rect">
              <a:avLst/>
            </a:prstGeom>
            <a:noFill/>
          </p:spPr>
          <p:txBody>
            <a:bodyPr wrap="none" rtlCol="0">
              <a:spAutoFit/>
            </a:bodyPr>
            <a:lstStyle/>
            <a:p>
              <a:r>
                <a:rPr lang="en-US" altLang="zh-CN" sz="1400" dirty="0">
                  <a:solidFill>
                    <a:srgbClr val="0070C0"/>
                  </a:solidFill>
                  <a:latin typeface="Times New Roman" panose="02020603050405020304" pitchFamily="18" charset="0"/>
                  <a:cs typeface="Times New Roman" panose="02020603050405020304" pitchFamily="18" charset="0"/>
                </a:rPr>
                <a:t>Bob</a:t>
              </a:r>
              <a:endParaRPr lang="zh-CN" altLang="en-US" sz="1400" dirty="0">
                <a:solidFill>
                  <a:srgbClr val="0070C0"/>
                </a:solidFill>
                <a:latin typeface="Times New Roman" panose="02020603050405020304" pitchFamily="18" charset="0"/>
                <a:cs typeface="Times New Roman" panose="02020603050405020304" pitchFamily="18" charset="0"/>
              </a:endParaRPr>
            </a:p>
          </p:txBody>
        </p:sp>
      </p:grpSp>
      <p:sp>
        <p:nvSpPr>
          <p:cNvPr id="21" name="箭头: 下 20">
            <a:extLst>
              <a:ext uri="{FF2B5EF4-FFF2-40B4-BE49-F238E27FC236}">
                <a16:creationId xmlns:a16="http://schemas.microsoft.com/office/drawing/2014/main" id="{18C3021B-CBB0-420C-B087-B25A5C7242C1}"/>
              </a:ext>
            </a:extLst>
          </p:cNvPr>
          <p:cNvSpPr/>
          <p:nvPr/>
        </p:nvSpPr>
        <p:spPr>
          <a:xfrm>
            <a:off x="4356948" y="3223559"/>
            <a:ext cx="484428" cy="5818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598522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92780"/>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3"/>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知道的信息有</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p,g,A,Ya,Yb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，其中数字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私有的；同样</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知道的信息有</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p,g,A,Ya,Yb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，其中数字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私有的。</a:t>
            </a:r>
          </a:p>
          <a:p>
            <a:pPr marL="357188">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到目前为止，</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之间的密钥协商结束。</a:t>
            </a:r>
          </a:p>
          <a:p>
            <a:pPr marL="342900" indent="-342900">
              <a:lnSpc>
                <a:spcPct val="130000"/>
              </a:lnSpc>
              <a:spcBef>
                <a:spcPts val="300"/>
              </a:spcBef>
              <a:spcAft>
                <a:spcPts val="300"/>
              </a:spcAft>
              <a:buFont typeface="+mj-lt"/>
              <a:buAutoNum type="arabicPeriod" startAt="3"/>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7188">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通过计算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Ka=(Yb)A mod 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得到密钥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，同样的，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通过计算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Kb</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=(Ya)B mod p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得到密钥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，可以证明，必然满足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Ka=</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。由此，</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得到了相同的密钥，达成了密钥协商的目的。</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Diffie-Hellman</a:t>
            </a:r>
            <a:r>
              <a:rPr lang="zh-CN" altLang="en-US" sz="2000" b="1" dirty="0">
                <a:solidFill>
                  <a:schemeClr val="tx1">
                    <a:lumMod val="50000"/>
                    <a:lumOff val="50000"/>
                  </a:schemeClr>
                </a:solidFill>
                <a:latin typeface="微软雅黑" pitchFamily="34" charset="-122"/>
                <a:ea typeface="微软雅黑" pitchFamily="34" charset="-122"/>
              </a:rPr>
              <a:t>密钥协商算法</a:t>
            </a:r>
          </a:p>
        </p:txBody>
      </p:sp>
    </p:spTree>
    <p:extLst>
      <p:ext uri="{BB962C8B-B14F-4D97-AF65-F5344CB8AC3E}">
        <p14:creationId xmlns:p14="http://schemas.microsoft.com/office/powerpoint/2010/main" val="406213262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77271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密钥的分发是保密通信中的一方或可信的第三方（如密钥分发中心）生成并选择秘密密钥，然后把该密钥发送给通信参与的其他一方或多方的机制</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密钥分发需要由密钥分发协议来进行控制。密钥分发协议是关于密钥分发的规则和约定</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按照密钥分发途径的不同，可分为在</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用户之间直接实现分配</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或由设立的</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密钥分发中心负责密钥分发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两种方式；</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按照密钥分发途径的不同，可分为在用户之间直接实现分配或由设立的密钥分发中心负责密钥分发两种方式；按照密钥分发内容的不同，密钥的分发方法可分为</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秘密密钥的分发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公开密钥的分发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两类</a:t>
            </a: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28690789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86046"/>
          </a:xfrm>
          <a:prstGeom prst="rect">
            <a:avLst/>
          </a:prstGeom>
          <a:noFill/>
        </p:spPr>
        <p:txBody>
          <a:bodyPr wrap="square" rtlCol="0">
            <a:spAutoFit/>
          </a:bodyPr>
          <a:lstStyle/>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E55D0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集中式密钥管理模式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用于在核心网络构建统一的密钥管理中心，负责整个物联网的密钥管理，应用节点接入核心网络时，通过与密钥管理中心交互，实现对网络中各节点的密钥管理</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E55D0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分布式密钥管理模式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通过在物联网承载网络中构建不同层次、不同区域、不同网络的区域密钥管理中心，形成层次式密钥管理结构，由区域密钥管理中心负责接入设备的密钥管理，顶层密钥管理中心负责区域密钥管理中心的密钥管理</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57188">
              <a:lnSpc>
                <a:spcPct val="11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此模式对传感网的要求较高；尽管可以在传感网中推选簇头，每个节点与相应的簇头通信，簇头间以及簇头与汇聚节点之间进行密钥的协商，但对多跳通信的边缘节点、以及由于簇头选择算法和簇头本身的能量消耗，使传感网的密钥管理成为解决问题的关键</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密钥管理系统</a:t>
            </a:r>
          </a:p>
        </p:txBody>
      </p:sp>
    </p:spTree>
    <p:extLst>
      <p:ext uri="{BB962C8B-B14F-4D97-AF65-F5344CB8AC3E}">
        <p14:creationId xmlns:p14="http://schemas.microsoft.com/office/powerpoint/2010/main" val="73659206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1212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秘密密钥的分发</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秘密密钥的分发典型地有三种方式：</a:t>
            </a:r>
          </a:p>
          <a:p>
            <a:pPr marL="342900" indent="-342900">
              <a:lnSpc>
                <a:spcPct val="130000"/>
              </a:lnSpc>
              <a:spcBef>
                <a:spcPts val="300"/>
              </a:spcBef>
              <a:spcAft>
                <a:spcPts val="300"/>
              </a:spcAft>
              <a:buFont typeface="+mj-lt"/>
              <a:buAutoNum type="arabicPeriod"/>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用一个密钥加密密钥</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(Key-Encrypted </a:t>
            </a:r>
            <a:r>
              <a:rPr lang="en-US" altLang="zh-CN" b="1"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Key,KEK</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加密多个会话密钥</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这种方式要求预先通过秘密渠道分配一个用于加密的密钥，而会话密钥可以临时产生，用密钥加密密钥</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(KEK)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加密后发送给对方</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342638978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23144"/>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基于公钥密码体制的密钥分发方式</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使用密钥分发中心</a:t>
            </a: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pic>
        <p:nvPicPr>
          <p:cNvPr id="4" name="Picture 54" descr="F:\DOCS\写作\教材编著\3　物联网安全\物联网安全-理论与技术\PPTs（添加编辑图片）\编辑好的图片-20170122\3z34.tif">
            <a:extLst>
              <a:ext uri="{FF2B5EF4-FFF2-40B4-BE49-F238E27FC236}">
                <a16:creationId xmlns:a16="http://schemas.microsoft.com/office/drawing/2014/main" id="{F01D8997-FAAC-4664-A70A-31A6AAE1D21A}"/>
              </a:ext>
            </a:extLst>
          </p:cNvPr>
          <p:cNvPicPr>
            <a:picLocks noChangeAspect="1"/>
          </p:cNvPicPr>
          <p:nvPr/>
        </p:nvPicPr>
        <p:blipFill>
          <a:blip r:embed="rId3"/>
          <a:stretch>
            <a:fillRect/>
          </a:stretch>
        </p:blipFill>
        <p:spPr>
          <a:xfrm>
            <a:off x="654491" y="1275606"/>
            <a:ext cx="5035550" cy="1774825"/>
          </a:xfrm>
          <a:prstGeom prst="rect">
            <a:avLst/>
          </a:prstGeom>
          <a:noFill/>
          <a:ln w="9525">
            <a:noFill/>
          </a:ln>
        </p:spPr>
      </p:pic>
      <p:graphicFrame>
        <p:nvGraphicFramePr>
          <p:cNvPr id="5" name="对象 24">
            <a:extLst>
              <a:ext uri="{FF2B5EF4-FFF2-40B4-BE49-F238E27FC236}">
                <a16:creationId xmlns:a16="http://schemas.microsoft.com/office/drawing/2014/main" id="{CCFE52CB-CD85-47B9-A7E3-395664164AD1}"/>
              </a:ext>
            </a:extLst>
          </p:cNvPr>
          <p:cNvGraphicFramePr>
            <a:graphicFrameLocks noChangeAspect="1"/>
          </p:cNvGraphicFramePr>
          <p:nvPr>
            <p:extLst>
              <p:ext uri="{D42A27DB-BD31-4B8C-83A1-F6EECF244321}">
                <p14:modId xmlns:p14="http://schemas.microsoft.com/office/powerpoint/2010/main" val="503340631"/>
              </p:ext>
            </p:extLst>
          </p:nvPr>
        </p:nvGraphicFramePr>
        <p:xfrm>
          <a:off x="2627784" y="3416300"/>
          <a:ext cx="4602162" cy="1727200"/>
        </p:xfrm>
        <a:graphic>
          <a:graphicData uri="http://schemas.openxmlformats.org/presentationml/2006/ole">
            <mc:AlternateContent xmlns:mc="http://schemas.openxmlformats.org/markup-compatibility/2006">
              <mc:Choice xmlns:v="urn:schemas-microsoft-com:vml" Requires="v">
                <p:oleObj r:id="rId4" imgW="4518025" imgH="1699895" progId="Visio.Drawing.11">
                  <p:embed/>
                </p:oleObj>
              </mc:Choice>
              <mc:Fallback>
                <p:oleObj r:id="rId4" imgW="4518025" imgH="1699895" progId="Visio.Drawing.11">
                  <p:embed/>
                  <p:pic>
                    <p:nvPicPr>
                      <p:cNvPr id="5" name="对象 24">
                        <a:extLst>
                          <a:ext uri="{FF2B5EF4-FFF2-40B4-BE49-F238E27FC236}">
                            <a16:creationId xmlns:a16="http://schemas.microsoft.com/office/drawing/2014/main" id="{CCFE52CB-CD85-47B9-A7E3-395664164AD1}"/>
                          </a:ext>
                        </a:extLst>
                      </p:cNvPr>
                      <p:cNvPicPr/>
                      <p:nvPr/>
                    </p:nvPicPr>
                    <p:blipFill>
                      <a:blip r:embed="rId5"/>
                      <a:stretch>
                        <a:fillRect/>
                      </a:stretch>
                    </p:blipFill>
                    <p:spPr>
                      <a:xfrm>
                        <a:off x="2627784" y="3416300"/>
                        <a:ext cx="4602162" cy="17272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24306689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608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公开密钥的分发</a:t>
            </a:r>
          </a:p>
          <a:p>
            <a:pPr>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在公开密钥密码体制中，密钥分配主要有广播式公开发布、建立公钥目录、带认证的密钥分配、使用数字证书分配等</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种形式。</a:t>
            </a:r>
          </a:p>
          <a:p>
            <a:pPr marL="342900" indent="-342900">
              <a:lnSpc>
                <a:spcPct val="130000"/>
              </a:lnSpc>
              <a:spcBef>
                <a:spcPts val="300"/>
              </a:spcBef>
              <a:spcAft>
                <a:spcPts val="300"/>
              </a:spcAft>
              <a:buFont typeface="+mj-lt"/>
              <a:buAutoNum type="arabicPeriod"/>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广播式公开发布</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任意通信方可将其公钥发送或广播给其他通信各方</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2"/>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建立公钥目录</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可信实体或组织负责维护一个动态可访问的公钥目录</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98500" indent="-342900">
              <a:lnSpc>
                <a:spcPct val="130000"/>
              </a:lnSpc>
              <a:spcBef>
                <a:spcPts val="300"/>
              </a:spcBef>
              <a:spcAft>
                <a:spcPts val="300"/>
              </a:spcAft>
              <a:buFont typeface="Arial" panose="020B0604020202020204" pitchFamily="34" charset="0"/>
              <a:buChar char="•"/>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每一通信方通过目录管理方以安全的方式注册公钥</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98500" indent="-342900">
              <a:lnSpc>
                <a:spcPct val="130000"/>
              </a:lnSpc>
              <a:spcBef>
                <a:spcPts val="300"/>
              </a:spcBef>
              <a:spcAft>
                <a:spcPts val="300"/>
              </a:spcAft>
              <a:buFont typeface="Arial" panose="020B0604020202020204" pitchFamily="34" charset="0"/>
              <a:buChar char="•"/>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目录管理方为每一个通信方建立目录项</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98500" indent="-342900">
              <a:lnSpc>
                <a:spcPct val="130000"/>
              </a:lnSpc>
              <a:spcBef>
                <a:spcPts val="300"/>
              </a:spcBef>
              <a:spcAft>
                <a:spcPts val="300"/>
              </a:spcAft>
              <a:buFont typeface="Arial" panose="020B0604020202020204" pitchFamily="34" charset="0"/>
              <a:buChar char="•"/>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每一通信方能够可靠地知道目录管理方的公钥</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231666032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298432"/>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3"/>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带认证的密钥分配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带认证的密钥分配是指由一个专门的权威机构在线维护一个包含所有注册用户公开密钥信息的动态目录。</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92910856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69888"/>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4"/>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使用数字证书分配</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5600">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数字证书基于离线服务器的方式工作，但要求证书所携带的公钥与密钥持有人要具有某种关联性</a:t>
            </a:r>
          </a:p>
          <a:p>
            <a:pPr marL="355600">
              <a:lnSpc>
                <a:spcPct val="130000"/>
              </a:lnSpc>
              <a:spcBef>
                <a:spcPts val="300"/>
              </a:spcBef>
              <a:spcAft>
                <a:spcPts val="300"/>
              </a:spcAft>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如何保证与证明这种关联性是重要的</a:t>
            </a:r>
          </a:p>
          <a:p>
            <a:pPr marL="6413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一方面该密钥与签名者的关联性需要传递以便其它人可以校验该签名，在传递的过程中需要保证这种关联性不会被篡改</a:t>
            </a:r>
          </a:p>
          <a:p>
            <a:pPr marL="6413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另一方面，需要记录该关联性的起源</a:t>
            </a:r>
          </a:p>
          <a:p>
            <a:pPr marL="355600">
              <a:lnSpc>
                <a:spcPct val="130000"/>
              </a:lnSpc>
              <a:spcBef>
                <a:spcPts val="300"/>
              </a:spcBef>
              <a:spcAft>
                <a:spcPts val="300"/>
              </a:spcAft>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可以采用对该关联进行签名的办法，数字证书就是提供一种确保这种关联的可靠性以及传递这种关联和公钥本身的机制</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密钥分发</a:t>
            </a:r>
          </a:p>
        </p:txBody>
      </p:sp>
    </p:spTree>
    <p:extLst>
      <p:ext uri="{BB962C8B-B14F-4D97-AF65-F5344CB8AC3E}">
        <p14:creationId xmlns:p14="http://schemas.microsoft.com/office/powerpoint/2010/main" val="27876241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898099"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第七部分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量子密码学概述</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07</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07</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2194083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424936" cy="477271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量子密码学</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(quantum cryptography)</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的研究主要集中在量子密钥分配方面，它提供了一个交换密钥的安全协议，称为量子密钥交换或分发协议</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量子密码的安全性基于量子力学的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Heisenberg</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测不准原理，要攻破量子密码协议就意味着必须否定量子力学定律，所以量子密码学是一种理论上绝对安全的密码技术</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科学家们认为它是最安全的密码，即使最高明的黑客对它也将一筹莫展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量子密码通信不仅是绝对安全的、不可破译的，而且任何窃听量子的行为都会改变量子的状态，从而会立刻为量子密码的使用者所知，所以，量子密码可能成为光通信网络中数据保护的强有力工具，而且要能对付未来具有量子计算能力的攻击者，量子密码可能是唯一的选择</a:t>
            </a:r>
          </a:p>
          <a:p>
            <a:pPr marL="342900" indent="-342900">
              <a:lnSpc>
                <a:spcPct val="130000"/>
              </a:lnSpc>
              <a:spcBef>
                <a:spcPts val="300"/>
              </a:spcBef>
              <a:spcAft>
                <a:spcPts val="300"/>
              </a:spcAft>
              <a:buFont typeface="Wingdings" panose="05000000000000000000" pitchFamily="2" charset="2"/>
              <a:buChar char="n"/>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73464421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7112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量子测不准原理：</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微观世界的粒子有许多共轭量，如位置和速度、时间和能量都是一对共轭量，</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Heisenberg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量子测不准原理告诉我们，在某一时刻，人们只能对一对共轭量之一进行测量，对其中一个的测量将影响对另一个的测量，因此，不能同时测得另一个与之共轭的量，如对位置进行测量的同时，就失去了对速度进行测量的可能性</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量子密码学利用了量子的不确定性，使任何在信道上的窃听行为不可能不对通信本身产生影响，从而达到发现窃听者的目的，保证信道的安全</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386529887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8505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光子在传输过程会产生振动，而振动方向是任意的，如果所有光子都沿同一个方向振动，则称其为偏振光</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偏振滤光器只允许某一方向的偏振光通过，其他方向的偏振光则以一定概率通过偏振滤光器</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偏振滤光器与光子振动方向的夹角越小，则光子通过偏振滤光器的概率越大，即：</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如果光子的偏振方向与偏振滤光器的方向一致，则光子通过的概率为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100%</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10012232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076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当角度为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45º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时，通过偏振滤光器的概率为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50%</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夹角为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90º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时通过的概率为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例如水平方向的偏振器只让水平极化方向的光子通过，如果将偏振滤光器慢慢转</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90º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，光子通过的数目将逐渐减少，直到没有光子通过</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293493214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6189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光子极化可以在任意两个正交的方向进行测量</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如水平极化态“－”或垂直极化态“｜”，它们统称为“＋基极化态”</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或</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45º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极化态“∕”或</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135º</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极化态“</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，它们统称为“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基极化态”</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若光子脉冲在某一坐标轴方向极化，可在该坐标轴方向进行测量；若在其他的轴向进行测量，将得到随机结果。利用该特性可以产生会话密钥，实现密钥分配</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编码方案：</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graphicFrame>
        <p:nvGraphicFramePr>
          <p:cNvPr id="4" name="表格 3">
            <a:extLst>
              <a:ext uri="{FF2B5EF4-FFF2-40B4-BE49-F238E27FC236}">
                <a16:creationId xmlns:a16="http://schemas.microsoft.com/office/drawing/2014/main" id="{7C6D8E00-40D9-43D3-A92F-4593D48A32E5}"/>
              </a:ext>
            </a:extLst>
          </p:cNvPr>
          <p:cNvGraphicFramePr>
            <a:graphicFrameLocks noGrp="1"/>
          </p:cNvGraphicFramePr>
          <p:nvPr>
            <p:extLst>
              <p:ext uri="{D42A27DB-BD31-4B8C-83A1-F6EECF244321}">
                <p14:modId xmlns:p14="http://schemas.microsoft.com/office/powerpoint/2010/main" val="1909307609"/>
              </p:ext>
            </p:extLst>
          </p:nvPr>
        </p:nvGraphicFramePr>
        <p:xfrm>
          <a:off x="2627784" y="3579862"/>
          <a:ext cx="3032125" cy="942975"/>
        </p:xfrm>
        <a:graphic>
          <a:graphicData uri="http://schemas.openxmlformats.org/drawingml/2006/table">
            <a:tbl>
              <a:tblPr/>
              <a:tblGrid>
                <a:gridCol w="1568450">
                  <a:extLst>
                    <a:ext uri="{9D8B030D-6E8A-4147-A177-3AD203B41FA5}">
                      <a16:colId xmlns:a16="http://schemas.microsoft.com/office/drawing/2014/main" val="20000"/>
                    </a:ext>
                  </a:extLst>
                </a:gridCol>
                <a:gridCol w="1463675">
                  <a:extLst>
                    <a:ext uri="{9D8B030D-6E8A-4147-A177-3AD203B41FA5}">
                      <a16:colId xmlns:a16="http://schemas.microsoft.com/office/drawing/2014/main" val="20001"/>
                    </a:ext>
                  </a:extLst>
                </a:gridCol>
              </a:tblGrid>
              <a:tr h="3143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1"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符号</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1"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位</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43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rPr>
                        <a:t>－　或　</a:t>
                      </a:r>
                      <a:r>
                        <a:rPr kumimoji="0" lang="zh-CN" altLang="en-US"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rPr>
                        <a:t>∕</a:t>
                      </a:r>
                      <a:endParaRPr kumimoji="0" 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0</a:t>
                      </a:r>
                      <a:endParaRPr kumimoji="0" lang="zh-CN" altLang="zh-CN" sz="16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143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rPr>
                        <a:t>｜　或　</a:t>
                      </a:r>
                      <a:r>
                        <a:rPr kumimoji="0" lang="en-US" alt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rPr>
                        <a:t>\</a:t>
                      </a:r>
                      <a:endParaRPr kumimoji="0" lang="zh-CN" altLang="zh-CN" sz="1600" b="0" i="0" u="none" strike="noStrike" cap="none" normalizeH="0" baseline="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1</a:t>
                      </a:r>
                      <a:endParaRPr kumimoji="0" lang="zh-CN" altLang="zh-CN" sz="16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4415563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8406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量子密码学第一原理：</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量子系统未知状态的每一次测量都不可避免地将改变系统原来的状态（除非系统与测量处于兼容状态），反过来说，如果系统状态没有改变，也就没有测量或窃听行为的发生。这个原理表明一个未知的量子状态不可能被复制或克隆，因此它也被称为不可克隆原理</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61796888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4130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量子密码学第二原理</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在通过一个通信链接交换真正的机密消息之前， 只用量子密码方法交换一个随机的密钥。实际上这是量子密码学为了保证通信安全的一个基本处理原则</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随机密钥可以是一个随机的位序列。这样，如果</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Bob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发现密钥在传输过程中已受到窃听，他们就丢弃它。</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Alice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然后重新传输另一个随机密钥，直到没有窃听出现为止。在这种情况下，当消息正在传输时，窃听者</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Eve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通过测量量子系统的状态来读取消息的内容必然违反量子密码学第一原理，因此将被发现</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spTree>
    <p:extLst>
      <p:ext uri="{BB962C8B-B14F-4D97-AF65-F5344CB8AC3E}">
        <p14:creationId xmlns:p14="http://schemas.microsoft.com/office/powerpoint/2010/main" val="404307014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305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量子密码通信系统</a:t>
            </a: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量子密码学</a:t>
            </a:r>
          </a:p>
        </p:txBody>
      </p:sp>
      <p:graphicFrame>
        <p:nvGraphicFramePr>
          <p:cNvPr id="4" name="对象 2">
            <a:extLst>
              <a:ext uri="{FF2B5EF4-FFF2-40B4-BE49-F238E27FC236}">
                <a16:creationId xmlns:a16="http://schemas.microsoft.com/office/drawing/2014/main" id="{66C36456-F858-4C9F-82D9-9CB20C91C1CB}"/>
              </a:ext>
            </a:extLst>
          </p:cNvPr>
          <p:cNvGraphicFramePr>
            <a:graphicFrameLocks noChangeAspect="1"/>
          </p:cNvGraphicFramePr>
          <p:nvPr>
            <p:extLst>
              <p:ext uri="{D42A27DB-BD31-4B8C-83A1-F6EECF244321}">
                <p14:modId xmlns:p14="http://schemas.microsoft.com/office/powerpoint/2010/main" val="3720808864"/>
              </p:ext>
            </p:extLst>
          </p:nvPr>
        </p:nvGraphicFramePr>
        <p:xfrm>
          <a:off x="3275856" y="1254294"/>
          <a:ext cx="4695825" cy="3432175"/>
        </p:xfrm>
        <a:graphic>
          <a:graphicData uri="http://schemas.openxmlformats.org/presentationml/2006/ole">
            <mc:AlternateContent xmlns:mc="http://schemas.openxmlformats.org/markup-compatibility/2006">
              <mc:Choice xmlns:v="urn:schemas-microsoft-com:vml" Requires="v">
                <p:oleObj r:id="rId3" imgW="2630805" imgH="1917065" progId="Visio.Drawing.11">
                  <p:embed/>
                </p:oleObj>
              </mc:Choice>
              <mc:Fallback>
                <p:oleObj r:id="rId3" imgW="2630805" imgH="1917065" progId="Visio.Drawing.11">
                  <p:embed/>
                  <p:pic>
                    <p:nvPicPr>
                      <p:cNvPr id="4" name="对象 2">
                        <a:extLst>
                          <a:ext uri="{FF2B5EF4-FFF2-40B4-BE49-F238E27FC236}">
                            <a16:creationId xmlns:a16="http://schemas.microsoft.com/office/drawing/2014/main" id="{66C36456-F858-4C9F-82D9-9CB20C91C1CB}"/>
                          </a:ext>
                        </a:extLst>
                      </p:cNvPr>
                      <p:cNvPicPr/>
                      <p:nvPr/>
                    </p:nvPicPr>
                    <p:blipFill>
                      <a:blip r:embed="rId4"/>
                      <a:stretch>
                        <a:fillRect/>
                      </a:stretch>
                    </p:blipFill>
                    <p:spPr>
                      <a:xfrm>
                        <a:off x="3275856" y="1254294"/>
                        <a:ext cx="4695825" cy="343217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96701387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73224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密钥分发的步骤</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随机地生成一个比特流，根据编码方法发给</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一串光子脉冲，每一个光子有四个可能的极化状态，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随机地、独立地设置每个光子的极化状态。</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设置接收滤光器的序列，并读取接收到的光子序列，转换为相应的比特流，但因</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不知道</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的设置，故只能随机地设置，对于每一个位置，能正确接收的概率为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通过传统的非保密通道告诉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其滤光器序列的设置。</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对照自己的设置，通过传统的信道告诉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设置正确的位置。</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5</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选取正确设置位置的比特，并公布部分选定的比特，一般为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量子密钥分发</a:t>
            </a:r>
          </a:p>
        </p:txBody>
      </p:sp>
    </p:spTree>
    <p:extLst>
      <p:ext uri="{BB962C8B-B14F-4D97-AF65-F5344CB8AC3E}">
        <p14:creationId xmlns:p14="http://schemas.microsoft.com/office/powerpoint/2010/main" val="317660663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58396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检查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公布的比特与自己所发出比特的一致性，如果没有窃听行为发生，则它们应该是一致的，否则，肯定发生了窃听行为。</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步</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7</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如果没有窃听行为发生，双方可约定用剩余的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比特作为共享的会话密钥，从而实现了密钥的分配。</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依此办法可获得足够多的位</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量子密钥分发</a:t>
            </a:r>
          </a:p>
        </p:txBody>
      </p:sp>
    </p:spTree>
    <p:extLst>
      <p:ext uri="{BB962C8B-B14F-4D97-AF65-F5344CB8AC3E}">
        <p14:creationId xmlns:p14="http://schemas.microsoft.com/office/powerpoint/2010/main" val="402253386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073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到目前为止，已出现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BB84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B92</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E91</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等主流量子密码协议，用于量子通信时密钥的生成与安全分发</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随着量子通信和量子密码技术研究的深入及其走向应用，必将对物联网安全解决方案带来全新思路，迎来一个更加安全可信的物联网时代</a:t>
            </a:r>
          </a:p>
        </p:txBody>
      </p:sp>
      <p:sp>
        <p:nvSpPr>
          <p:cNvPr id="3" name="TextBox 46">
            <a:extLst>
              <a:ext uri="{FF2B5EF4-FFF2-40B4-BE49-F238E27FC236}">
                <a16:creationId xmlns:a16="http://schemas.microsoft.com/office/drawing/2014/main" id="{84C5578A-87D0-453C-A5FE-73047858ACC4}"/>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量子密钥分发</a:t>
            </a:r>
          </a:p>
        </p:txBody>
      </p:sp>
    </p:spTree>
    <p:extLst>
      <p:ext uri="{BB962C8B-B14F-4D97-AF65-F5344CB8AC3E}">
        <p14:creationId xmlns:p14="http://schemas.microsoft.com/office/powerpoint/2010/main" val="175926369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779912" y="1923678"/>
            <a:ext cx="5134457"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4799" b="1" dirty="0">
                <a:solidFill>
                  <a:schemeClr val="bg1"/>
                </a:solidFill>
                <a:latin typeface="微软雅黑" panose="020B0503020204020204" pitchFamily="34" charset="-122"/>
                <a:ea typeface="微软雅黑" panose="020B0503020204020204" pitchFamily="34" charset="-122"/>
              </a:rPr>
              <a:t>谢谢大家</a:t>
            </a: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互联网通信计算机工程网络安全第一ppt模版"/>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1.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1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1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heme/theme1.xml><?xml version="1.0" encoding="utf-8"?>
<a:theme xmlns:a="http://schemas.openxmlformats.org/drawingml/2006/main" name="第一PPT，www.1ppt.com​">
  <a:themeElements>
    <a:clrScheme name="自定义 921">
      <a:dk1>
        <a:sysClr val="windowText" lastClr="000000"/>
      </a:dk1>
      <a:lt1>
        <a:sysClr val="window" lastClr="FFFFFF"/>
      </a:lt1>
      <a:dk2>
        <a:srgbClr val="04617B"/>
      </a:dk2>
      <a:lt2>
        <a:srgbClr val="DBF5F9"/>
      </a:lt2>
      <a:accent1>
        <a:srgbClr val="20A9DD"/>
      </a:accent1>
      <a:accent2>
        <a:srgbClr val="52B98C"/>
      </a:accent2>
      <a:accent3>
        <a:srgbClr val="20A9DD"/>
      </a:accent3>
      <a:accent4>
        <a:srgbClr val="52B98C"/>
      </a:accent4>
      <a:accent5>
        <a:srgbClr val="20A9DD"/>
      </a:accent5>
      <a:accent6>
        <a:srgbClr val="52B98C"/>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45559</TotalTime>
  <Words>23924</Words>
  <Application>Microsoft Office PowerPoint</Application>
  <PresentationFormat>全屏显示(16:9)</PresentationFormat>
  <Paragraphs>2535</Paragraphs>
  <Slides>227</Slides>
  <Notes>227</Notes>
  <HiddenSlides>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227</vt:i4>
      </vt:variant>
    </vt:vector>
  </HeadingPairs>
  <TitlesOfParts>
    <vt:vector size="242" baseType="lpstr">
      <vt:lpstr>Century Gothic</vt:lpstr>
      <vt:lpstr>Arial</vt:lpstr>
      <vt:lpstr>楷体</vt:lpstr>
      <vt:lpstr>Calibri</vt:lpstr>
      <vt:lpstr>Cambria Math</vt:lpstr>
      <vt:lpstr>宋体</vt:lpstr>
      <vt:lpstr>微软雅黑</vt:lpstr>
      <vt:lpstr>Times New Roman</vt:lpstr>
      <vt:lpstr>Wingdings</vt:lpstr>
      <vt:lpstr>华文楷体</vt:lpstr>
      <vt:lpstr>等线</vt:lpstr>
      <vt:lpstr>第一PPT，www.1ppt.com​</vt:lpstr>
      <vt:lpstr>Microsoft Visio 2003-2010 Drawing</vt:lpstr>
      <vt:lpstr>Equation.DSMT4</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互联网通信计算机</dc:title>
  <dc:creator>第一PPT</dc:creator>
  <cp:keywords>www.1ppt.com</cp:keywords>
  <dc:description>www.1ppt.com</dc:description>
  <cp:lastModifiedBy>Liu Minghao</cp:lastModifiedBy>
  <cp:revision>470</cp:revision>
  <dcterms:created xsi:type="dcterms:W3CDTF">2014-11-09T01:07:25Z</dcterms:created>
  <dcterms:modified xsi:type="dcterms:W3CDTF">2023-04-01T14:35:17Z</dcterms:modified>
</cp:coreProperties>
</file>