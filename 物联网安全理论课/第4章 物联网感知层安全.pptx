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5"/>
  </p:notesMasterIdLst>
  <p:sldIdLst>
    <p:sldId id="836" r:id="rId2"/>
    <p:sldId id="911" r:id="rId3"/>
    <p:sldId id="1050" r:id="rId4"/>
    <p:sldId id="885" r:id="rId5"/>
    <p:sldId id="890" r:id="rId6"/>
    <p:sldId id="1248" r:id="rId7"/>
    <p:sldId id="1249" r:id="rId8"/>
    <p:sldId id="941" r:id="rId9"/>
    <p:sldId id="994" r:id="rId10"/>
    <p:sldId id="1251" r:id="rId11"/>
    <p:sldId id="1250" r:id="rId12"/>
    <p:sldId id="1304" r:id="rId13"/>
    <p:sldId id="1252" r:id="rId14"/>
    <p:sldId id="1253" r:id="rId15"/>
    <p:sldId id="1255" r:id="rId16"/>
    <p:sldId id="1254" r:id="rId17"/>
    <p:sldId id="1256" r:id="rId18"/>
    <p:sldId id="1257" r:id="rId19"/>
    <p:sldId id="1305" r:id="rId20"/>
    <p:sldId id="1306" r:id="rId21"/>
    <p:sldId id="1307" r:id="rId22"/>
    <p:sldId id="1308" r:id="rId23"/>
    <p:sldId id="1309" r:id="rId24"/>
    <p:sldId id="1258" r:id="rId25"/>
    <p:sldId id="1259" r:id="rId26"/>
    <p:sldId id="1260" r:id="rId27"/>
    <p:sldId id="1261" r:id="rId28"/>
    <p:sldId id="1262" r:id="rId29"/>
    <p:sldId id="1263" r:id="rId30"/>
    <p:sldId id="1264" r:id="rId31"/>
    <p:sldId id="1265" r:id="rId32"/>
    <p:sldId id="1266" r:id="rId33"/>
    <p:sldId id="1267" r:id="rId34"/>
    <p:sldId id="1268" r:id="rId35"/>
    <p:sldId id="1269" r:id="rId36"/>
    <p:sldId id="1270" r:id="rId37"/>
    <p:sldId id="1271" r:id="rId38"/>
    <p:sldId id="1272" r:id="rId39"/>
    <p:sldId id="1273" r:id="rId40"/>
    <p:sldId id="1310" r:id="rId41"/>
    <p:sldId id="1274" r:id="rId42"/>
    <p:sldId id="1275" r:id="rId43"/>
    <p:sldId id="1276" r:id="rId44"/>
    <p:sldId id="1277" r:id="rId45"/>
    <p:sldId id="946" r:id="rId46"/>
    <p:sldId id="947" r:id="rId47"/>
    <p:sldId id="1279" r:id="rId48"/>
    <p:sldId id="1280" r:id="rId49"/>
    <p:sldId id="1278" r:id="rId50"/>
    <p:sldId id="1281" r:id="rId51"/>
    <p:sldId id="1282" r:id="rId52"/>
    <p:sldId id="1283" r:id="rId53"/>
    <p:sldId id="1284" r:id="rId54"/>
    <p:sldId id="1285" r:id="rId55"/>
    <p:sldId id="1286" r:id="rId56"/>
    <p:sldId id="1287" r:id="rId57"/>
    <p:sldId id="1288" r:id="rId58"/>
    <p:sldId id="1289" r:id="rId59"/>
    <p:sldId id="1290" r:id="rId60"/>
    <p:sldId id="1291" r:id="rId61"/>
    <p:sldId id="1292" r:id="rId62"/>
    <p:sldId id="1293" r:id="rId63"/>
    <p:sldId id="1294" r:id="rId64"/>
    <p:sldId id="1295" r:id="rId65"/>
    <p:sldId id="1296" r:id="rId66"/>
    <p:sldId id="1297" r:id="rId67"/>
    <p:sldId id="1298" r:id="rId68"/>
    <p:sldId id="1299" r:id="rId69"/>
    <p:sldId id="1300" r:id="rId70"/>
    <p:sldId id="1301" r:id="rId71"/>
    <p:sldId id="1302" r:id="rId72"/>
    <p:sldId id="1303" r:id="rId73"/>
    <p:sldId id="910" r:id="rId74"/>
  </p:sldIdLst>
  <p:sldSz cx="9144000" cy="5143500" type="screen16x9"/>
  <p:notesSz cx="6858000" cy="9144000"/>
  <p:embeddedFontLst>
    <p:embeddedFont>
      <p:font typeface="Calibri" panose="020F0502020204030204" pitchFamily="34" charset="0"/>
      <p:regular r:id="rId76"/>
      <p:bold r:id="rId77"/>
      <p:italic r:id="rId78"/>
      <p:boldItalic r:id="rId79"/>
    </p:embeddedFont>
    <p:embeddedFont>
      <p:font typeface="Cambria Math" panose="02040503050406030204" pitchFamily="18" charset="0"/>
      <p:regular r:id="rId80"/>
    </p:embeddedFont>
    <p:embeddedFont>
      <p:font typeface="华文楷体" panose="02010600040101010101" pitchFamily="2" charset="-122"/>
      <p:regular r:id="rId81"/>
    </p:embeddedFont>
    <p:embeddedFont>
      <p:font typeface="微软雅黑" panose="020B0503020204020204" pitchFamily="34" charset="-122"/>
      <p:regular r:id="rId82"/>
      <p:bold r:id="rId83"/>
    </p:embeddedFont>
  </p:embeddedFontLst>
  <p:custDataLst>
    <p:tags r:id="rId84"/>
  </p:custDataLst>
  <p:defaultText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0" userDrawn="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89B4"/>
    <a:srgbClr val="FF9933"/>
    <a:srgbClr val="FF9900"/>
    <a:srgbClr val="008F92"/>
    <a:srgbClr val="2FA2A4"/>
    <a:srgbClr val="3A8765"/>
    <a:srgbClr val="147BA2"/>
    <a:srgbClr val="C8071D"/>
    <a:srgbClr val="FFCB99"/>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97" autoAdjust="0"/>
  </p:normalViewPr>
  <p:slideViewPr>
    <p:cSldViewPr>
      <p:cViewPr varScale="1">
        <p:scale>
          <a:sx n="112" d="100"/>
          <a:sy n="112" d="100"/>
        </p:scale>
        <p:origin x="456" y="60"/>
      </p:cViewPr>
      <p:guideLst>
        <p:guide orient="horz" pos="2210"/>
        <p:guide pos="2880"/>
      </p:guideLst>
    </p:cSldViewPr>
  </p:slideViewPr>
  <p:notesTextViewPr>
    <p:cViewPr>
      <p:scale>
        <a:sx n="1" d="1"/>
        <a:sy n="1" d="1"/>
      </p:scale>
      <p:origin x="0" y="0"/>
    </p:cViewPr>
  </p:notesTextViewPr>
  <p:sorterViewPr>
    <p:cViewPr>
      <p:scale>
        <a:sx n="186" d="100"/>
        <a:sy n="186" d="100"/>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4.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5.fntdata"/><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83" Type="http://schemas.openxmlformats.org/officeDocument/2006/relationships/font" Target="fonts/font8.fntdata"/><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pPr/>
              <a:t>2023/4/7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pPr/>
              <a:t>‹#›</a:t>
            </a:fld>
            <a:endParaRPr lang="zh-CN" altLang="en-US"/>
          </a:p>
        </p:txBody>
      </p:sp>
    </p:spTree>
    <p:extLst>
      <p:ext uri="{BB962C8B-B14F-4D97-AF65-F5344CB8AC3E}">
        <p14:creationId xmlns:p14="http://schemas.microsoft.com/office/powerpoint/2010/main" val="48234476"/>
      </p:ext>
    </p:extLst>
  </p:cSld>
  <p:clrMap bg1="lt1" tx1="dk1" bg2="lt2" tx2="dk2" accent1="accent1" accent2="accent2" accent3="accent3" accent4="accent4" accent5="accent5" accent6="accent6" hlink="hlink" folHlink="folHlink"/>
  <p:notesStyle>
    <a:lvl1pPr marL="0" algn="l" defTabSz="914282" rtl="0" eaLnBrk="1" latinLnBrk="0" hangingPunct="1">
      <a:defRPr sz="1200" kern="1200">
        <a:solidFill>
          <a:schemeClr val="tx1"/>
        </a:solidFill>
        <a:latin typeface="+mn-lt"/>
        <a:ea typeface="+mn-ea"/>
        <a:cs typeface="+mn-cs"/>
      </a:defRPr>
    </a:lvl1pPr>
    <a:lvl2pPr marL="457140" algn="l" defTabSz="914282" rtl="0" eaLnBrk="1" latinLnBrk="0" hangingPunct="1">
      <a:defRPr sz="1200" kern="1200">
        <a:solidFill>
          <a:schemeClr val="tx1"/>
        </a:solidFill>
        <a:latin typeface="+mn-lt"/>
        <a:ea typeface="+mn-ea"/>
        <a:cs typeface="+mn-cs"/>
      </a:defRPr>
    </a:lvl2pPr>
    <a:lvl3pPr marL="914282" algn="l" defTabSz="914282" rtl="0" eaLnBrk="1" latinLnBrk="0" hangingPunct="1">
      <a:defRPr sz="1200" kern="1200">
        <a:solidFill>
          <a:schemeClr val="tx1"/>
        </a:solidFill>
        <a:latin typeface="+mn-lt"/>
        <a:ea typeface="+mn-ea"/>
        <a:cs typeface="+mn-cs"/>
      </a:defRPr>
    </a:lvl3pPr>
    <a:lvl4pPr marL="1371422" algn="l" defTabSz="914282" rtl="0" eaLnBrk="1" latinLnBrk="0" hangingPunct="1">
      <a:defRPr sz="1200" kern="1200">
        <a:solidFill>
          <a:schemeClr val="tx1"/>
        </a:solidFill>
        <a:latin typeface="+mn-lt"/>
        <a:ea typeface="+mn-ea"/>
        <a:cs typeface="+mn-cs"/>
      </a:defRPr>
    </a:lvl4pPr>
    <a:lvl5pPr marL="1828563" algn="l" defTabSz="914282" rtl="0" eaLnBrk="1" latinLnBrk="0" hangingPunct="1">
      <a:defRPr sz="1200" kern="1200">
        <a:solidFill>
          <a:schemeClr val="tx1"/>
        </a:solidFill>
        <a:latin typeface="+mn-lt"/>
        <a:ea typeface="+mn-ea"/>
        <a:cs typeface="+mn-cs"/>
      </a:defRPr>
    </a:lvl5pPr>
    <a:lvl6pPr marL="2285704" algn="l" defTabSz="914282" rtl="0" eaLnBrk="1" latinLnBrk="0" hangingPunct="1">
      <a:defRPr sz="1200" kern="1200">
        <a:solidFill>
          <a:schemeClr val="tx1"/>
        </a:solidFill>
        <a:latin typeface="+mn-lt"/>
        <a:ea typeface="+mn-ea"/>
        <a:cs typeface="+mn-cs"/>
      </a:defRPr>
    </a:lvl6pPr>
    <a:lvl7pPr marL="2742845" algn="l" defTabSz="914282" rtl="0" eaLnBrk="1" latinLnBrk="0" hangingPunct="1">
      <a:defRPr sz="1200" kern="1200">
        <a:solidFill>
          <a:schemeClr val="tx1"/>
        </a:solidFill>
        <a:latin typeface="+mn-lt"/>
        <a:ea typeface="+mn-ea"/>
        <a:cs typeface="+mn-cs"/>
      </a:defRPr>
    </a:lvl7pPr>
    <a:lvl8pPr marL="3199985" algn="l" defTabSz="914282" rtl="0" eaLnBrk="1" latinLnBrk="0" hangingPunct="1">
      <a:defRPr sz="1200" kern="1200">
        <a:solidFill>
          <a:schemeClr val="tx1"/>
        </a:solidFill>
        <a:latin typeface="+mn-lt"/>
        <a:ea typeface="+mn-ea"/>
        <a:cs typeface="+mn-cs"/>
      </a:defRPr>
    </a:lvl8pPr>
    <a:lvl9pPr marL="3657126" algn="l" defTabSz="91428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1</a:t>
            </a:fld>
            <a:endParaRPr lang="zh-CN" altLang="en-US"/>
          </a:p>
        </p:txBody>
      </p:sp>
    </p:spTree>
    <p:extLst>
      <p:ext uri="{BB962C8B-B14F-4D97-AF65-F5344CB8AC3E}">
        <p14:creationId xmlns:p14="http://schemas.microsoft.com/office/powerpoint/2010/main" val="170076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pPr/>
              <a:t>2</a:t>
            </a:fld>
            <a:endParaRPr lang="zh-CN" altLang="en-US"/>
          </a:p>
        </p:txBody>
      </p:sp>
    </p:spTree>
    <p:extLst>
      <p:ext uri="{BB962C8B-B14F-4D97-AF65-F5344CB8AC3E}">
        <p14:creationId xmlns:p14="http://schemas.microsoft.com/office/powerpoint/2010/main" val="92971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a:t>
            </a:fld>
            <a:endParaRPr lang="en-GB"/>
          </a:p>
        </p:txBody>
      </p:sp>
    </p:spTree>
    <p:extLst>
      <p:ext uri="{BB962C8B-B14F-4D97-AF65-F5344CB8AC3E}">
        <p14:creationId xmlns:p14="http://schemas.microsoft.com/office/powerpoint/2010/main" val="302203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4</a:t>
            </a:fld>
            <a:endParaRPr lang="zh-CN" altLang="en-US"/>
          </a:p>
        </p:txBody>
      </p:sp>
    </p:spTree>
    <p:extLst>
      <p:ext uri="{BB962C8B-B14F-4D97-AF65-F5344CB8AC3E}">
        <p14:creationId xmlns:p14="http://schemas.microsoft.com/office/powerpoint/2010/main" val="3255464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a:t>
            </a:fld>
            <a:endParaRPr lang="en-GB"/>
          </a:p>
        </p:txBody>
      </p:sp>
    </p:spTree>
    <p:extLst>
      <p:ext uri="{BB962C8B-B14F-4D97-AF65-F5344CB8AC3E}">
        <p14:creationId xmlns:p14="http://schemas.microsoft.com/office/powerpoint/2010/main" val="559393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a:t>
            </a:fld>
            <a:endParaRPr lang="en-GB"/>
          </a:p>
        </p:txBody>
      </p:sp>
    </p:spTree>
    <p:extLst>
      <p:ext uri="{BB962C8B-B14F-4D97-AF65-F5344CB8AC3E}">
        <p14:creationId xmlns:p14="http://schemas.microsoft.com/office/powerpoint/2010/main" val="1330450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a:t>
            </a:fld>
            <a:endParaRPr lang="en-GB"/>
          </a:p>
        </p:txBody>
      </p:sp>
    </p:spTree>
    <p:extLst>
      <p:ext uri="{BB962C8B-B14F-4D97-AF65-F5344CB8AC3E}">
        <p14:creationId xmlns:p14="http://schemas.microsoft.com/office/powerpoint/2010/main" val="3813747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8</a:t>
            </a:fld>
            <a:endParaRPr lang="zh-CN" altLang="en-US"/>
          </a:p>
        </p:txBody>
      </p:sp>
    </p:spTree>
    <p:extLst>
      <p:ext uri="{BB962C8B-B14F-4D97-AF65-F5344CB8AC3E}">
        <p14:creationId xmlns:p14="http://schemas.microsoft.com/office/powerpoint/2010/main" val="3692650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a:t>
            </a:fld>
            <a:endParaRPr lang="en-GB"/>
          </a:p>
        </p:txBody>
      </p:sp>
    </p:spTree>
    <p:extLst>
      <p:ext uri="{BB962C8B-B14F-4D97-AF65-F5344CB8AC3E}">
        <p14:creationId xmlns:p14="http://schemas.microsoft.com/office/powerpoint/2010/main" val="4265087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a:t>
            </a:fld>
            <a:endParaRPr lang="en-GB"/>
          </a:p>
        </p:txBody>
      </p:sp>
    </p:spTree>
    <p:extLst>
      <p:ext uri="{BB962C8B-B14F-4D97-AF65-F5344CB8AC3E}">
        <p14:creationId xmlns:p14="http://schemas.microsoft.com/office/powerpoint/2010/main" val="2829696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a:t>
            </a:fld>
            <a:endParaRPr lang="en-GB"/>
          </a:p>
        </p:txBody>
      </p:sp>
    </p:spTree>
    <p:extLst>
      <p:ext uri="{BB962C8B-B14F-4D97-AF65-F5344CB8AC3E}">
        <p14:creationId xmlns:p14="http://schemas.microsoft.com/office/powerpoint/2010/main" val="3990612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12</a:t>
            </a:fld>
            <a:endParaRPr lang="en-GB"/>
          </a:p>
        </p:txBody>
      </p:sp>
    </p:spTree>
    <p:extLst>
      <p:ext uri="{BB962C8B-B14F-4D97-AF65-F5344CB8AC3E}">
        <p14:creationId xmlns:p14="http://schemas.microsoft.com/office/powerpoint/2010/main" val="75898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13</a:t>
            </a:fld>
            <a:endParaRPr lang="en-GB"/>
          </a:p>
        </p:txBody>
      </p:sp>
    </p:spTree>
    <p:extLst>
      <p:ext uri="{BB962C8B-B14F-4D97-AF65-F5344CB8AC3E}">
        <p14:creationId xmlns:p14="http://schemas.microsoft.com/office/powerpoint/2010/main" val="2684576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a:t>
            </a:fld>
            <a:endParaRPr lang="en-GB"/>
          </a:p>
        </p:txBody>
      </p:sp>
    </p:spTree>
    <p:extLst>
      <p:ext uri="{BB962C8B-B14F-4D97-AF65-F5344CB8AC3E}">
        <p14:creationId xmlns:p14="http://schemas.microsoft.com/office/powerpoint/2010/main" val="4087020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a:t>
            </a:fld>
            <a:endParaRPr lang="en-GB"/>
          </a:p>
        </p:txBody>
      </p:sp>
    </p:spTree>
    <p:extLst>
      <p:ext uri="{BB962C8B-B14F-4D97-AF65-F5344CB8AC3E}">
        <p14:creationId xmlns:p14="http://schemas.microsoft.com/office/powerpoint/2010/main" val="7816919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a:t>
            </a:fld>
            <a:endParaRPr lang="en-GB"/>
          </a:p>
        </p:txBody>
      </p:sp>
    </p:spTree>
    <p:extLst>
      <p:ext uri="{BB962C8B-B14F-4D97-AF65-F5344CB8AC3E}">
        <p14:creationId xmlns:p14="http://schemas.microsoft.com/office/powerpoint/2010/main" val="35525095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a:t>
            </a:fld>
            <a:endParaRPr lang="en-GB"/>
          </a:p>
        </p:txBody>
      </p:sp>
    </p:spTree>
    <p:extLst>
      <p:ext uri="{BB962C8B-B14F-4D97-AF65-F5344CB8AC3E}">
        <p14:creationId xmlns:p14="http://schemas.microsoft.com/office/powerpoint/2010/main" val="8424614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a:t>
            </a:fld>
            <a:endParaRPr lang="en-GB"/>
          </a:p>
        </p:txBody>
      </p:sp>
    </p:spTree>
    <p:extLst>
      <p:ext uri="{BB962C8B-B14F-4D97-AF65-F5344CB8AC3E}">
        <p14:creationId xmlns:p14="http://schemas.microsoft.com/office/powerpoint/2010/main" val="2848951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a:t>
            </a:fld>
            <a:endParaRPr lang="en-GB"/>
          </a:p>
        </p:txBody>
      </p:sp>
    </p:spTree>
    <p:extLst>
      <p:ext uri="{BB962C8B-B14F-4D97-AF65-F5344CB8AC3E}">
        <p14:creationId xmlns:p14="http://schemas.microsoft.com/office/powerpoint/2010/main" val="3501982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a:t>
            </a:fld>
            <a:endParaRPr lang="en-GB"/>
          </a:p>
        </p:txBody>
      </p:sp>
    </p:spTree>
    <p:extLst>
      <p:ext uri="{BB962C8B-B14F-4D97-AF65-F5344CB8AC3E}">
        <p14:creationId xmlns:p14="http://schemas.microsoft.com/office/powerpoint/2010/main" val="1564273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a:t>
            </a:fld>
            <a:endParaRPr lang="en-GB"/>
          </a:p>
        </p:txBody>
      </p:sp>
    </p:spTree>
    <p:extLst>
      <p:ext uri="{BB962C8B-B14F-4D97-AF65-F5344CB8AC3E}">
        <p14:creationId xmlns:p14="http://schemas.microsoft.com/office/powerpoint/2010/main" val="2188899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a:t>
            </a:fld>
            <a:endParaRPr lang="en-GB"/>
          </a:p>
        </p:txBody>
      </p:sp>
    </p:spTree>
    <p:extLst>
      <p:ext uri="{BB962C8B-B14F-4D97-AF65-F5344CB8AC3E}">
        <p14:creationId xmlns:p14="http://schemas.microsoft.com/office/powerpoint/2010/main" val="1908548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23</a:t>
            </a:fld>
            <a:endParaRPr lang="en-GB"/>
          </a:p>
        </p:txBody>
      </p:sp>
    </p:spTree>
    <p:extLst>
      <p:ext uri="{BB962C8B-B14F-4D97-AF65-F5344CB8AC3E}">
        <p14:creationId xmlns:p14="http://schemas.microsoft.com/office/powerpoint/2010/main" val="31934640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24</a:t>
            </a:fld>
            <a:endParaRPr lang="en-GB"/>
          </a:p>
        </p:txBody>
      </p:sp>
    </p:spTree>
    <p:extLst>
      <p:ext uri="{BB962C8B-B14F-4D97-AF65-F5344CB8AC3E}">
        <p14:creationId xmlns:p14="http://schemas.microsoft.com/office/powerpoint/2010/main" val="16397396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25</a:t>
            </a:fld>
            <a:endParaRPr lang="en-GB"/>
          </a:p>
        </p:txBody>
      </p:sp>
    </p:spTree>
    <p:extLst>
      <p:ext uri="{BB962C8B-B14F-4D97-AF65-F5344CB8AC3E}">
        <p14:creationId xmlns:p14="http://schemas.microsoft.com/office/powerpoint/2010/main" val="18369783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26</a:t>
            </a:fld>
            <a:endParaRPr lang="en-GB"/>
          </a:p>
        </p:txBody>
      </p:sp>
    </p:spTree>
    <p:extLst>
      <p:ext uri="{BB962C8B-B14F-4D97-AF65-F5344CB8AC3E}">
        <p14:creationId xmlns:p14="http://schemas.microsoft.com/office/powerpoint/2010/main" val="383499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27</a:t>
            </a:fld>
            <a:endParaRPr lang="en-GB"/>
          </a:p>
        </p:txBody>
      </p:sp>
    </p:spTree>
    <p:extLst>
      <p:ext uri="{BB962C8B-B14F-4D97-AF65-F5344CB8AC3E}">
        <p14:creationId xmlns:p14="http://schemas.microsoft.com/office/powerpoint/2010/main" val="27510127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28</a:t>
            </a:fld>
            <a:endParaRPr lang="en-GB"/>
          </a:p>
        </p:txBody>
      </p:sp>
    </p:spTree>
    <p:extLst>
      <p:ext uri="{BB962C8B-B14F-4D97-AF65-F5344CB8AC3E}">
        <p14:creationId xmlns:p14="http://schemas.microsoft.com/office/powerpoint/2010/main" val="40034621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29</a:t>
            </a:fld>
            <a:endParaRPr lang="en-GB"/>
          </a:p>
        </p:txBody>
      </p:sp>
    </p:spTree>
    <p:extLst>
      <p:ext uri="{BB962C8B-B14F-4D97-AF65-F5344CB8AC3E}">
        <p14:creationId xmlns:p14="http://schemas.microsoft.com/office/powerpoint/2010/main" val="16346693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30</a:t>
            </a:fld>
            <a:endParaRPr lang="en-GB"/>
          </a:p>
        </p:txBody>
      </p:sp>
    </p:spTree>
    <p:extLst>
      <p:ext uri="{BB962C8B-B14F-4D97-AF65-F5344CB8AC3E}">
        <p14:creationId xmlns:p14="http://schemas.microsoft.com/office/powerpoint/2010/main" val="20191486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31</a:t>
            </a:fld>
            <a:endParaRPr lang="en-GB"/>
          </a:p>
        </p:txBody>
      </p:sp>
    </p:spTree>
    <p:extLst>
      <p:ext uri="{BB962C8B-B14F-4D97-AF65-F5344CB8AC3E}">
        <p14:creationId xmlns:p14="http://schemas.microsoft.com/office/powerpoint/2010/main" val="368327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32</a:t>
            </a:fld>
            <a:endParaRPr lang="en-GB"/>
          </a:p>
        </p:txBody>
      </p:sp>
    </p:spTree>
    <p:extLst>
      <p:ext uri="{BB962C8B-B14F-4D97-AF65-F5344CB8AC3E}">
        <p14:creationId xmlns:p14="http://schemas.microsoft.com/office/powerpoint/2010/main" val="19597674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33</a:t>
            </a:fld>
            <a:endParaRPr lang="en-GB"/>
          </a:p>
        </p:txBody>
      </p:sp>
    </p:spTree>
    <p:extLst>
      <p:ext uri="{BB962C8B-B14F-4D97-AF65-F5344CB8AC3E}">
        <p14:creationId xmlns:p14="http://schemas.microsoft.com/office/powerpoint/2010/main" val="13234411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34</a:t>
            </a:fld>
            <a:endParaRPr lang="en-GB"/>
          </a:p>
        </p:txBody>
      </p:sp>
    </p:spTree>
    <p:extLst>
      <p:ext uri="{BB962C8B-B14F-4D97-AF65-F5344CB8AC3E}">
        <p14:creationId xmlns:p14="http://schemas.microsoft.com/office/powerpoint/2010/main" val="23732807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35</a:t>
            </a:fld>
            <a:endParaRPr lang="en-GB"/>
          </a:p>
        </p:txBody>
      </p:sp>
    </p:spTree>
    <p:extLst>
      <p:ext uri="{BB962C8B-B14F-4D97-AF65-F5344CB8AC3E}">
        <p14:creationId xmlns:p14="http://schemas.microsoft.com/office/powerpoint/2010/main" val="9800964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36</a:t>
            </a:fld>
            <a:endParaRPr lang="en-GB"/>
          </a:p>
        </p:txBody>
      </p:sp>
    </p:spTree>
    <p:extLst>
      <p:ext uri="{BB962C8B-B14F-4D97-AF65-F5344CB8AC3E}">
        <p14:creationId xmlns:p14="http://schemas.microsoft.com/office/powerpoint/2010/main" val="37120436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37</a:t>
            </a:fld>
            <a:endParaRPr lang="en-GB"/>
          </a:p>
        </p:txBody>
      </p:sp>
    </p:spTree>
    <p:extLst>
      <p:ext uri="{BB962C8B-B14F-4D97-AF65-F5344CB8AC3E}">
        <p14:creationId xmlns:p14="http://schemas.microsoft.com/office/powerpoint/2010/main" val="56535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38</a:t>
            </a:fld>
            <a:endParaRPr lang="en-GB"/>
          </a:p>
        </p:txBody>
      </p:sp>
    </p:spTree>
    <p:extLst>
      <p:ext uri="{BB962C8B-B14F-4D97-AF65-F5344CB8AC3E}">
        <p14:creationId xmlns:p14="http://schemas.microsoft.com/office/powerpoint/2010/main" val="27220585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39</a:t>
            </a:fld>
            <a:endParaRPr lang="en-GB"/>
          </a:p>
        </p:txBody>
      </p:sp>
    </p:spTree>
    <p:extLst>
      <p:ext uri="{BB962C8B-B14F-4D97-AF65-F5344CB8AC3E}">
        <p14:creationId xmlns:p14="http://schemas.microsoft.com/office/powerpoint/2010/main" val="23803438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40</a:t>
            </a:fld>
            <a:endParaRPr lang="en-GB"/>
          </a:p>
        </p:txBody>
      </p:sp>
    </p:spTree>
    <p:extLst>
      <p:ext uri="{BB962C8B-B14F-4D97-AF65-F5344CB8AC3E}">
        <p14:creationId xmlns:p14="http://schemas.microsoft.com/office/powerpoint/2010/main" val="34301246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41</a:t>
            </a:fld>
            <a:endParaRPr lang="en-GB"/>
          </a:p>
        </p:txBody>
      </p:sp>
    </p:spTree>
    <p:extLst>
      <p:ext uri="{BB962C8B-B14F-4D97-AF65-F5344CB8AC3E}">
        <p14:creationId xmlns:p14="http://schemas.microsoft.com/office/powerpoint/2010/main" val="42135613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42</a:t>
            </a:fld>
            <a:endParaRPr lang="en-GB"/>
          </a:p>
        </p:txBody>
      </p:sp>
    </p:spTree>
    <p:extLst>
      <p:ext uri="{BB962C8B-B14F-4D97-AF65-F5344CB8AC3E}">
        <p14:creationId xmlns:p14="http://schemas.microsoft.com/office/powerpoint/2010/main" val="40183786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43</a:t>
            </a:fld>
            <a:endParaRPr lang="en-GB"/>
          </a:p>
        </p:txBody>
      </p:sp>
    </p:spTree>
    <p:extLst>
      <p:ext uri="{BB962C8B-B14F-4D97-AF65-F5344CB8AC3E}">
        <p14:creationId xmlns:p14="http://schemas.microsoft.com/office/powerpoint/2010/main" val="6778240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44</a:t>
            </a:fld>
            <a:endParaRPr lang="en-GB"/>
          </a:p>
        </p:txBody>
      </p:sp>
    </p:spTree>
    <p:extLst>
      <p:ext uri="{BB962C8B-B14F-4D97-AF65-F5344CB8AC3E}">
        <p14:creationId xmlns:p14="http://schemas.microsoft.com/office/powerpoint/2010/main" val="19150743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45</a:t>
            </a:fld>
            <a:endParaRPr lang="zh-CN" altLang="en-US"/>
          </a:p>
        </p:txBody>
      </p:sp>
    </p:spTree>
    <p:extLst>
      <p:ext uri="{BB962C8B-B14F-4D97-AF65-F5344CB8AC3E}">
        <p14:creationId xmlns:p14="http://schemas.microsoft.com/office/powerpoint/2010/main" val="297346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46</a:t>
            </a:fld>
            <a:endParaRPr lang="en-GB"/>
          </a:p>
        </p:txBody>
      </p:sp>
    </p:spTree>
    <p:extLst>
      <p:ext uri="{BB962C8B-B14F-4D97-AF65-F5344CB8AC3E}">
        <p14:creationId xmlns:p14="http://schemas.microsoft.com/office/powerpoint/2010/main" val="28667847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47</a:t>
            </a:fld>
            <a:endParaRPr lang="en-GB"/>
          </a:p>
        </p:txBody>
      </p:sp>
    </p:spTree>
    <p:extLst>
      <p:ext uri="{BB962C8B-B14F-4D97-AF65-F5344CB8AC3E}">
        <p14:creationId xmlns:p14="http://schemas.microsoft.com/office/powerpoint/2010/main" val="40692036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48</a:t>
            </a:fld>
            <a:endParaRPr lang="en-GB"/>
          </a:p>
        </p:txBody>
      </p:sp>
    </p:spTree>
    <p:extLst>
      <p:ext uri="{BB962C8B-B14F-4D97-AF65-F5344CB8AC3E}">
        <p14:creationId xmlns:p14="http://schemas.microsoft.com/office/powerpoint/2010/main" val="30018253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49</a:t>
            </a:fld>
            <a:endParaRPr lang="en-GB"/>
          </a:p>
        </p:txBody>
      </p:sp>
    </p:spTree>
    <p:extLst>
      <p:ext uri="{BB962C8B-B14F-4D97-AF65-F5344CB8AC3E}">
        <p14:creationId xmlns:p14="http://schemas.microsoft.com/office/powerpoint/2010/main" val="2687116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50</a:t>
            </a:fld>
            <a:endParaRPr lang="en-GB"/>
          </a:p>
        </p:txBody>
      </p:sp>
    </p:spTree>
    <p:extLst>
      <p:ext uri="{BB962C8B-B14F-4D97-AF65-F5344CB8AC3E}">
        <p14:creationId xmlns:p14="http://schemas.microsoft.com/office/powerpoint/2010/main" val="21339104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51</a:t>
            </a:fld>
            <a:endParaRPr lang="en-GB"/>
          </a:p>
        </p:txBody>
      </p:sp>
    </p:spTree>
    <p:extLst>
      <p:ext uri="{BB962C8B-B14F-4D97-AF65-F5344CB8AC3E}">
        <p14:creationId xmlns:p14="http://schemas.microsoft.com/office/powerpoint/2010/main" val="41641268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52</a:t>
            </a:fld>
            <a:endParaRPr lang="en-GB"/>
          </a:p>
        </p:txBody>
      </p:sp>
    </p:spTree>
    <p:extLst>
      <p:ext uri="{BB962C8B-B14F-4D97-AF65-F5344CB8AC3E}">
        <p14:creationId xmlns:p14="http://schemas.microsoft.com/office/powerpoint/2010/main" val="33623191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53</a:t>
            </a:fld>
            <a:endParaRPr lang="en-GB"/>
          </a:p>
        </p:txBody>
      </p:sp>
    </p:spTree>
    <p:extLst>
      <p:ext uri="{BB962C8B-B14F-4D97-AF65-F5344CB8AC3E}">
        <p14:creationId xmlns:p14="http://schemas.microsoft.com/office/powerpoint/2010/main" val="30915221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54</a:t>
            </a:fld>
            <a:endParaRPr lang="en-GB"/>
          </a:p>
        </p:txBody>
      </p:sp>
    </p:spTree>
    <p:extLst>
      <p:ext uri="{BB962C8B-B14F-4D97-AF65-F5344CB8AC3E}">
        <p14:creationId xmlns:p14="http://schemas.microsoft.com/office/powerpoint/2010/main" val="9468811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55</a:t>
            </a:fld>
            <a:endParaRPr lang="en-GB"/>
          </a:p>
        </p:txBody>
      </p:sp>
    </p:spTree>
    <p:extLst>
      <p:ext uri="{BB962C8B-B14F-4D97-AF65-F5344CB8AC3E}">
        <p14:creationId xmlns:p14="http://schemas.microsoft.com/office/powerpoint/2010/main" val="30500895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56</a:t>
            </a:fld>
            <a:endParaRPr lang="en-GB"/>
          </a:p>
        </p:txBody>
      </p:sp>
    </p:spTree>
    <p:extLst>
      <p:ext uri="{BB962C8B-B14F-4D97-AF65-F5344CB8AC3E}">
        <p14:creationId xmlns:p14="http://schemas.microsoft.com/office/powerpoint/2010/main" val="39886631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57</a:t>
            </a:fld>
            <a:endParaRPr lang="en-GB"/>
          </a:p>
        </p:txBody>
      </p:sp>
    </p:spTree>
    <p:extLst>
      <p:ext uri="{BB962C8B-B14F-4D97-AF65-F5344CB8AC3E}">
        <p14:creationId xmlns:p14="http://schemas.microsoft.com/office/powerpoint/2010/main" val="14041629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58</a:t>
            </a:fld>
            <a:endParaRPr lang="en-GB"/>
          </a:p>
        </p:txBody>
      </p:sp>
    </p:spTree>
    <p:extLst>
      <p:ext uri="{BB962C8B-B14F-4D97-AF65-F5344CB8AC3E}">
        <p14:creationId xmlns:p14="http://schemas.microsoft.com/office/powerpoint/2010/main" val="122166920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59</a:t>
            </a:fld>
            <a:endParaRPr lang="en-GB"/>
          </a:p>
        </p:txBody>
      </p:sp>
    </p:spTree>
    <p:extLst>
      <p:ext uri="{BB962C8B-B14F-4D97-AF65-F5344CB8AC3E}">
        <p14:creationId xmlns:p14="http://schemas.microsoft.com/office/powerpoint/2010/main" val="25293149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60</a:t>
            </a:fld>
            <a:endParaRPr lang="en-GB"/>
          </a:p>
        </p:txBody>
      </p:sp>
    </p:spTree>
    <p:extLst>
      <p:ext uri="{BB962C8B-B14F-4D97-AF65-F5344CB8AC3E}">
        <p14:creationId xmlns:p14="http://schemas.microsoft.com/office/powerpoint/2010/main" val="18333453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61</a:t>
            </a:fld>
            <a:endParaRPr lang="en-GB"/>
          </a:p>
        </p:txBody>
      </p:sp>
    </p:spTree>
    <p:extLst>
      <p:ext uri="{BB962C8B-B14F-4D97-AF65-F5344CB8AC3E}">
        <p14:creationId xmlns:p14="http://schemas.microsoft.com/office/powerpoint/2010/main" val="35130301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62</a:t>
            </a:fld>
            <a:endParaRPr lang="en-GB"/>
          </a:p>
        </p:txBody>
      </p:sp>
    </p:spTree>
    <p:extLst>
      <p:ext uri="{BB962C8B-B14F-4D97-AF65-F5344CB8AC3E}">
        <p14:creationId xmlns:p14="http://schemas.microsoft.com/office/powerpoint/2010/main" val="16577005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63</a:t>
            </a:fld>
            <a:endParaRPr lang="en-GB"/>
          </a:p>
        </p:txBody>
      </p:sp>
    </p:spTree>
    <p:extLst>
      <p:ext uri="{BB962C8B-B14F-4D97-AF65-F5344CB8AC3E}">
        <p14:creationId xmlns:p14="http://schemas.microsoft.com/office/powerpoint/2010/main" val="22239665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64</a:t>
            </a:fld>
            <a:endParaRPr lang="en-GB"/>
          </a:p>
        </p:txBody>
      </p:sp>
    </p:spTree>
    <p:extLst>
      <p:ext uri="{BB962C8B-B14F-4D97-AF65-F5344CB8AC3E}">
        <p14:creationId xmlns:p14="http://schemas.microsoft.com/office/powerpoint/2010/main" val="391056695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65</a:t>
            </a:fld>
            <a:endParaRPr lang="en-GB"/>
          </a:p>
        </p:txBody>
      </p:sp>
    </p:spTree>
    <p:extLst>
      <p:ext uri="{BB962C8B-B14F-4D97-AF65-F5344CB8AC3E}">
        <p14:creationId xmlns:p14="http://schemas.microsoft.com/office/powerpoint/2010/main" val="42007431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66</a:t>
            </a:fld>
            <a:endParaRPr lang="en-GB"/>
          </a:p>
        </p:txBody>
      </p:sp>
    </p:spTree>
    <p:extLst>
      <p:ext uri="{BB962C8B-B14F-4D97-AF65-F5344CB8AC3E}">
        <p14:creationId xmlns:p14="http://schemas.microsoft.com/office/powerpoint/2010/main" val="397606788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67</a:t>
            </a:fld>
            <a:endParaRPr lang="en-GB"/>
          </a:p>
        </p:txBody>
      </p:sp>
    </p:spTree>
    <p:extLst>
      <p:ext uri="{BB962C8B-B14F-4D97-AF65-F5344CB8AC3E}">
        <p14:creationId xmlns:p14="http://schemas.microsoft.com/office/powerpoint/2010/main" val="82838657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68</a:t>
            </a:fld>
            <a:endParaRPr lang="en-GB"/>
          </a:p>
        </p:txBody>
      </p:sp>
    </p:spTree>
    <p:extLst>
      <p:ext uri="{BB962C8B-B14F-4D97-AF65-F5344CB8AC3E}">
        <p14:creationId xmlns:p14="http://schemas.microsoft.com/office/powerpoint/2010/main" val="201396224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69</a:t>
            </a:fld>
            <a:endParaRPr lang="en-GB"/>
          </a:p>
        </p:txBody>
      </p:sp>
    </p:spTree>
    <p:extLst>
      <p:ext uri="{BB962C8B-B14F-4D97-AF65-F5344CB8AC3E}">
        <p14:creationId xmlns:p14="http://schemas.microsoft.com/office/powerpoint/2010/main" val="376419188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70</a:t>
            </a:fld>
            <a:endParaRPr lang="en-GB"/>
          </a:p>
        </p:txBody>
      </p:sp>
    </p:spTree>
    <p:extLst>
      <p:ext uri="{BB962C8B-B14F-4D97-AF65-F5344CB8AC3E}">
        <p14:creationId xmlns:p14="http://schemas.microsoft.com/office/powerpoint/2010/main" val="19834663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71</a:t>
            </a:fld>
            <a:endParaRPr lang="en-GB"/>
          </a:p>
        </p:txBody>
      </p:sp>
    </p:spTree>
    <p:extLst>
      <p:ext uri="{BB962C8B-B14F-4D97-AF65-F5344CB8AC3E}">
        <p14:creationId xmlns:p14="http://schemas.microsoft.com/office/powerpoint/2010/main" val="35459612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72</a:t>
            </a:fld>
            <a:endParaRPr lang="en-GB"/>
          </a:p>
        </p:txBody>
      </p:sp>
    </p:spTree>
    <p:extLst>
      <p:ext uri="{BB962C8B-B14F-4D97-AF65-F5344CB8AC3E}">
        <p14:creationId xmlns:p14="http://schemas.microsoft.com/office/powerpoint/2010/main" val="112420951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73</a:t>
            </a:fld>
            <a:endParaRPr lang="zh-CN" altLang="en-US"/>
          </a:p>
        </p:txBody>
      </p:sp>
    </p:spTree>
    <p:extLst>
      <p:ext uri="{BB962C8B-B14F-4D97-AF65-F5344CB8AC3E}">
        <p14:creationId xmlns:p14="http://schemas.microsoft.com/office/powerpoint/2010/main" val="2397702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2023/4/7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cxnSp>
        <p:nvCxnSpPr>
          <p:cNvPr id="8" name="直接连接符 7"/>
          <p:cNvCxnSpPr/>
          <p:nvPr userDrawn="1"/>
        </p:nvCxnSpPr>
        <p:spPr>
          <a:xfrm flipV="1">
            <a:off x="435749" y="579644"/>
            <a:ext cx="8026659" cy="3402"/>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Freeform 6"/>
          <p:cNvSpPr>
            <a:spLocks noEditPoints="1"/>
          </p:cNvSpPr>
          <p:nvPr userDrawn="1"/>
        </p:nvSpPr>
        <p:spPr bwMode="auto">
          <a:xfrm>
            <a:off x="8462408" y="262311"/>
            <a:ext cx="319526" cy="320735"/>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sp>
        <p:nvSpPr>
          <p:cNvPr id="11" name="Oval 15"/>
          <p:cNvSpPr/>
          <p:nvPr userDrawn="1"/>
        </p:nvSpPr>
        <p:spPr>
          <a:xfrm>
            <a:off x="578057" y="195486"/>
            <a:ext cx="256073" cy="256122"/>
          </a:xfrm>
          <a:prstGeom prst="ellipse">
            <a:avLst/>
          </a:prstGeom>
          <a:solidFill>
            <a:schemeClr val="accent1"/>
          </a:solidFill>
          <a:ln>
            <a:noFill/>
          </a:ln>
          <a:effectLst>
            <a:outerShdw blurRad="228600" dist="139700" dir="678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5032" tIns="32516" rIns="65032" bIns="32516" rtlCol="0" anchor="ctr"/>
          <a:lstStyle/>
          <a:p>
            <a:pPr algn="ctr">
              <a:lnSpc>
                <a:spcPct val="120000"/>
              </a:lnSpc>
            </a:pP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2932135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par>
                          <p:cTn id="12" fill="hold">
                            <p:stCondLst>
                              <p:cond delay="11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61BD0C8-D35A-439E-96FB-C8D4A6430554}" type="datetimeFigureOut">
              <a:rPr lang="zh-CN" altLang="en-US" smtClean="0"/>
              <a:pPr/>
              <a:t>2023/4/7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0F15A6-E82C-4E1E-834E-C415C51F7DF3}" type="slidenum">
              <a:rPr lang="zh-CN" altLang="en-US" smtClean="0"/>
              <a:pPr/>
              <a:t>‹#›</a:t>
            </a:fld>
            <a:endParaRPr lang="zh-CN" altLang="en-US"/>
          </a:p>
        </p:txBody>
      </p:sp>
    </p:spTree>
    <p:extLst>
      <p:ext uri="{BB962C8B-B14F-4D97-AF65-F5344CB8AC3E}">
        <p14:creationId xmlns:p14="http://schemas.microsoft.com/office/powerpoint/2010/main" val="416459998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854A03-91AF-448A-9954-517C0577E5F0}" type="datetimeFigureOut">
              <a:rPr lang="zh-CN" altLang="en-US" smtClean="0"/>
              <a:pPr/>
              <a:t>2023/4/7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7" name="矩形 6"/>
          <p:cNvSpPr/>
          <p:nvPr userDrawn="1"/>
        </p:nvSpPr>
        <p:spPr>
          <a:xfrm>
            <a:off x="6948264" y="4773801"/>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extLst>
      <p:ext uri="{BB962C8B-B14F-4D97-AF65-F5344CB8AC3E}">
        <p14:creationId xmlns:p14="http://schemas.microsoft.com/office/powerpoint/2010/main" val="24347741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1" y="0"/>
            <a:ext cx="9143499" cy="5143500"/>
          </a:xfrm>
          <a:prstGeom prst="rect">
            <a:avLst/>
          </a:prstGeom>
        </p:spPr>
      </p:pic>
    </p:spTree>
    <p:extLst>
      <p:ext uri="{BB962C8B-B14F-4D97-AF65-F5344CB8AC3E}">
        <p14:creationId xmlns:p14="http://schemas.microsoft.com/office/powerpoint/2010/main" val="21168080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pPr/>
              <a:t>2023/4/7</a:t>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pPr/>
              <a:t>‹#›</a:t>
            </a:fld>
            <a:endParaRPr lang="zh-CN" altLang="en-US"/>
          </a:p>
        </p:txBody>
      </p:sp>
    </p:spTree>
    <p:extLst>
      <p:ext uri="{BB962C8B-B14F-4D97-AF65-F5344CB8AC3E}">
        <p14:creationId xmlns:p14="http://schemas.microsoft.com/office/powerpoint/2010/main" val="3795072685"/>
      </p:ext>
    </p:extLst>
  </p:cSld>
  <p:clrMap bg1="lt1" tx1="dk1" bg2="lt2" tx2="dk2" accent1="accent1" accent2="accent2" accent3="accent3" accent4="accent4" accent5="accent5" accent6="accent6" hlink="hlink" folHlink="folHlink"/>
  <p:sldLayoutIdLst>
    <p:sldLayoutId id="2147483655" r:id="rId1"/>
    <p:sldLayoutId id="2147483665" r:id="rId2"/>
    <p:sldLayoutId id="2147483668" r:id="rId3"/>
    <p:sldLayoutId id="2147483667" r:id="rId4"/>
  </p:sldLayoutIdLst>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xStyles>
    <p:titleStyle>
      <a:lvl1pPr algn="ctr" defTabSz="914282" rtl="0" eaLnBrk="1" latinLnBrk="0" hangingPunct="1">
        <a:spcBef>
          <a:spcPct val="0"/>
        </a:spcBef>
        <a:buNone/>
        <a:defRPr sz="4400" kern="1200">
          <a:solidFill>
            <a:schemeClr val="tx1"/>
          </a:solidFill>
          <a:latin typeface="+mj-lt"/>
          <a:ea typeface="+mj-ea"/>
          <a:cs typeface="+mj-cs"/>
        </a:defRPr>
      </a:lvl1pPr>
    </p:titleStyle>
    <p:bodyStyle>
      <a:lvl1pPr marL="342855" indent="-342855" algn="l" defTabSz="9142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54" indent="-285713" algn="l" defTabSz="9142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52" indent="-228570" algn="l" defTabSz="9142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9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3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7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1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56"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97"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notesSlide" Target="../notesSlides/notesSlide2.xml"/><Relationship Id="rId4" Type="http://schemas.openxmlformats.org/officeDocument/2006/relationships/tags" Target="../tags/tag5.xml"/><Relationship Id="rId9"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microsoft.com/office/2007/relationships/hdphoto" Target="../media/hdphoto1.wdp"/></Relationships>
</file>

<file path=ppt/slides/_rels/slide4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6.jpe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microsoft.com/office/2007/relationships/hdphoto" Target="../media/hdphoto3.wdp"/><Relationship Id="rId5" Type="http://schemas.openxmlformats.org/officeDocument/2006/relationships/image" Target="../media/image15.png"/><Relationship Id="rId4" Type="http://schemas.microsoft.com/office/2007/relationships/hdphoto" Target="../media/hdphoto2.wdp"/><Relationship Id="rId9" Type="http://schemas.openxmlformats.org/officeDocument/2006/relationships/image" Target="../media/image18.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9.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20.e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545872" y="1753712"/>
            <a:ext cx="5994680"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4000" b="1" kern="2000" spc="200" dirty="0">
                <a:solidFill>
                  <a:schemeClr val="bg1"/>
                </a:solidFill>
                <a:latin typeface="微软雅黑" panose="020B0503020204020204" pitchFamily="34" charset="-122"/>
                <a:ea typeface="微软雅黑" panose="020B0503020204020204" pitchFamily="34" charset="-122"/>
              </a:rPr>
              <a:t>物联网感知层安全</a:t>
            </a:r>
          </a:p>
        </p:txBody>
      </p:sp>
      <p:sp>
        <p:nvSpPr>
          <p:cNvPr id="25" name="Rectangle 4"/>
          <p:cNvSpPr txBox="1">
            <a:spLocks noChangeArrowheads="1"/>
          </p:cNvSpPr>
          <p:nvPr/>
        </p:nvSpPr>
        <p:spPr bwMode="auto">
          <a:xfrm>
            <a:off x="3570041" y="1437919"/>
            <a:ext cx="4139879" cy="41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sz="2800" b="0" dirty="0">
                <a:latin typeface="微软雅黑" panose="020B0503020204020204" pitchFamily="34" charset="-122"/>
                <a:ea typeface="微软雅黑" panose="020B0503020204020204" pitchFamily="34" charset="-122"/>
              </a:rPr>
              <a:t>第四章</a:t>
            </a:r>
            <a:endParaRPr lang="zh-CN" altLang="zh-CN" sz="2800" b="0" dirty="0">
              <a:latin typeface="微软雅黑" panose="020B0503020204020204" pitchFamily="34" charset="-122"/>
              <a:ea typeface="微软雅黑" panose="020B0503020204020204" pitchFamily="34" charset="-122"/>
            </a:endParaRPr>
          </a:p>
        </p:txBody>
      </p:sp>
      <p:sp>
        <p:nvSpPr>
          <p:cNvPr id="26" name="六边形 25"/>
          <p:cNvSpPr/>
          <p:nvPr/>
        </p:nvSpPr>
        <p:spPr>
          <a:xfrm flipH="1">
            <a:off x="3651705" y="2663476"/>
            <a:ext cx="1511774" cy="323952"/>
          </a:xfrm>
          <a:prstGeom prst="hexagon">
            <a:avLst/>
          </a:prstGeom>
          <a:solidFill>
            <a:schemeClr val="accent1"/>
          </a:solidFill>
          <a:ln w="19050">
            <a:gradFill>
              <a:gsLst>
                <a:gs pos="0">
                  <a:schemeClr val="bg1"/>
                </a:gs>
                <a:gs pos="100000">
                  <a:srgbClr val="CBCBCB"/>
                </a:gs>
              </a:gsLst>
              <a:lin ang="5400000" scaled="0"/>
            </a:gradFill>
          </a:ln>
          <a:effectLst>
            <a:outerShdw blurRad="1905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schemeClr val="bg1"/>
              </a:solidFill>
            </a:endParaRPr>
          </a:p>
        </p:txBody>
      </p:sp>
      <p:sp>
        <p:nvSpPr>
          <p:cNvPr id="27" name="Rectangle 4"/>
          <p:cNvSpPr txBox="1">
            <a:spLocks noChangeArrowheads="1"/>
          </p:cNvSpPr>
          <p:nvPr/>
        </p:nvSpPr>
        <p:spPr bwMode="auto">
          <a:xfrm>
            <a:off x="3597713" y="2644579"/>
            <a:ext cx="1619758" cy="361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350" b="0" dirty="0">
                <a:latin typeface="微软雅黑" panose="020B0503020204020204" pitchFamily="34" charset="-122"/>
                <a:ea typeface="微软雅黑" panose="020B0503020204020204" pitchFamily="34" charset="-122"/>
              </a:rPr>
              <a:t>刘铭皓</a:t>
            </a:r>
            <a:endParaRPr lang="zh-CN" altLang="zh-CN" sz="135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7010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par>
                          <p:cTn id="15" fill="hold">
                            <p:stCondLst>
                              <p:cond delay="2200"/>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par>
                          <p:cTn id="19" fill="hold">
                            <p:stCondLst>
                              <p:cond delay="2700"/>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par>
                          <p:cTn id="23" fill="hold">
                            <p:stCondLst>
                              <p:cond delay="3200"/>
                            </p:stCondLst>
                            <p:childTnLst>
                              <p:par>
                                <p:cTn id="24" presetID="22" presetClass="entr" presetSubtype="8" fill="hold" grpId="0"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animBg="1"/>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14"/>
          <p:cNvSpPr>
            <a:spLocks/>
          </p:cNvSpPr>
          <p:nvPr/>
        </p:nvSpPr>
        <p:spPr bwMode="auto">
          <a:xfrm>
            <a:off x="-20311" y="1056553"/>
            <a:ext cx="4358700"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2"/>
          </a:solidFill>
          <a:ln w="0">
            <a:noFill/>
            <a:prstDash val="solid"/>
            <a:round/>
            <a:headEnd/>
            <a:tailEnd/>
          </a:ln>
        </p:spPr>
        <p:txBody>
          <a:bodyPr vert="horz" wrap="square" lIns="91433" tIns="45717" rIns="91433" bIns="45717" numCol="1" anchor="t" anchorCtr="0" compatLnSpc="1">
            <a:prstTxWarp prst="textNoShape">
              <a:avLst/>
            </a:prstTxWarp>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 name="MH_Number_1"/>
          <p:cNvSpPr/>
          <p:nvPr>
            <p:custDataLst>
              <p:tags r:id="rId1"/>
            </p:custDataLst>
          </p:nvPr>
        </p:nvSpPr>
        <p:spPr>
          <a:xfrm>
            <a:off x="4732780" y="135864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1" name="MH_Entry_1"/>
          <p:cNvSpPr/>
          <p:nvPr>
            <p:custDataLst>
              <p:tags r:id="rId2"/>
            </p:custDataLst>
          </p:nvPr>
        </p:nvSpPr>
        <p:spPr>
          <a:xfrm>
            <a:off x="5234111" y="135864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概述</a:t>
            </a:r>
          </a:p>
        </p:txBody>
      </p:sp>
      <p:sp>
        <p:nvSpPr>
          <p:cNvPr id="22" name="MH_Number_2"/>
          <p:cNvSpPr/>
          <p:nvPr>
            <p:custDataLst>
              <p:tags r:id="rId3"/>
            </p:custDataLst>
          </p:nvPr>
        </p:nvSpPr>
        <p:spPr>
          <a:xfrm>
            <a:off x="4732780" y="2433251"/>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3" name="MH_Entry_2"/>
          <p:cNvSpPr/>
          <p:nvPr>
            <p:custDataLst>
              <p:tags r:id="rId4"/>
            </p:custDataLst>
          </p:nvPr>
        </p:nvSpPr>
        <p:spPr>
          <a:xfrm>
            <a:off x="5234111" y="2438381"/>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en-US" altLang="zh-CN" dirty="0">
                <a:solidFill>
                  <a:schemeClr val="accent2"/>
                </a:solidFill>
                <a:latin typeface="Arial" panose="020B0604020202020204" pitchFamily="34" charset="0"/>
                <a:ea typeface="微软雅黑" panose="020B0503020204020204" pitchFamily="34" charset="-122"/>
                <a:sym typeface="Arial" panose="020B0604020202020204" pitchFamily="34" charset="0"/>
              </a:rPr>
              <a:t>WSN</a:t>
            </a:r>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安全</a:t>
            </a:r>
          </a:p>
        </p:txBody>
      </p:sp>
      <p:sp>
        <p:nvSpPr>
          <p:cNvPr id="24" name="MH_Number_3"/>
          <p:cNvSpPr/>
          <p:nvPr>
            <p:custDataLst>
              <p:tags r:id="rId5"/>
            </p:custDataLst>
          </p:nvPr>
        </p:nvSpPr>
        <p:spPr>
          <a:xfrm>
            <a:off x="4732780" y="3507854"/>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5" name="MH_Entry_3"/>
          <p:cNvSpPr/>
          <p:nvPr>
            <p:custDataLst>
              <p:tags r:id="rId6"/>
            </p:custDataLst>
          </p:nvPr>
        </p:nvSpPr>
        <p:spPr>
          <a:xfrm>
            <a:off x="5234111" y="3518114"/>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en-US" altLang="zh-CN" dirty="0">
                <a:solidFill>
                  <a:schemeClr val="accent1"/>
                </a:solidFill>
                <a:latin typeface="Arial" panose="020B0604020202020204" pitchFamily="34" charset="0"/>
                <a:ea typeface="微软雅黑" panose="020B0503020204020204" pitchFamily="34" charset="-122"/>
                <a:sym typeface="Arial" panose="020B0604020202020204" pitchFamily="34" charset="0"/>
              </a:rPr>
              <a:t>RFID</a:t>
            </a:r>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安全</a:t>
            </a:r>
          </a:p>
        </p:txBody>
      </p:sp>
      <p:sp>
        <p:nvSpPr>
          <p:cNvPr id="18" name="MH_Others_1"/>
          <p:cNvSpPr txBox="1"/>
          <p:nvPr>
            <p:custDataLst>
              <p:tags r:id="rId7"/>
            </p:custDataLst>
          </p:nvPr>
        </p:nvSpPr>
        <p:spPr>
          <a:xfrm>
            <a:off x="1927685" y="1222488"/>
            <a:ext cx="1261884" cy="2698525"/>
          </a:xfrm>
          <a:prstGeom prst="rect">
            <a:avLst/>
          </a:prstGeom>
          <a:noFill/>
        </p:spPr>
        <p:txBody>
          <a:bodyPr vert="eaVert" wrap="square" lIns="0" tIns="0" rIns="0" bIns="0" rtlCol="0" anchor="ctr" anchorCtr="0">
            <a:spAutoFit/>
          </a:bodyPr>
          <a:lstStyle/>
          <a:p>
            <a:pPr algn="ctr"/>
            <a:r>
              <a:rPr lang="zh-CN" altLang="en-US" sz="82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19" name="MH_Others_2"/>
          <p:cNvSpPr txBox="1"/>
          <p:nvPr>
            <p:custDataLst>
              <p:tags r:id="rId8"/>
            </p:custDataLst>
          </p:nvPr>
        </p:nvSpPr>
        <p:spPr>
          <a:xfrm rot="5400000">
            <a:off x="615352" y="2331001"/>
            <a:ext cx="2346295" cy="481499"/>
          </a:xfrm>
          <a:prstGeom prst="rect">
            <a:avLst/>
          </a:prstGeom>
          <a:noFill/>
        </p:spPr>
        <p:txBody>
          <a:bodyPr wrap="square" lIns="0" tIns="0" rIns="0" bIns="0">
            <a:spAutoFit/>
          </a:bodyPr>
          <a:lstStyle/>
          <a:p>
            <a:pPr algn="ctr">
              <a:defRPr/>
            </a:pPr>
            <a:r>
              <a:rPr lang="en-US" altLang="zh-CN" sz="31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31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任意多边形 15"/>
          <p:cNvSpPr>
            <a:spLocks/>
          </p:cNvSpPr>
          <p:nvPr/>
        </p:nvSpPr>
        <p:spPr bwMode="auto">
          <a:xfrm>
            <a:off x="7593135" y="1056553"/>
            <a:ext cx="1565286"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1"/>
          </a:solidFill>
          <a:ln w="0">
            <a:noFill/>
            <a:prstDash val="solid"/>
            <a:round/>
            <a:headEnd/>
            <a:tailEnd/>
          </a:ln>
        </p:spPr>
        <p:txBody>
          <a:bodyPr vert="horz" wrap="square" lIns="91433" tIns="45717" rIns="91433" bIns="45717" numCol="1" anchor="t" anchorCtr="0" compatLnSpc="1">
            <a:prstTxWarp prst="textNoShape">
              <a:avLst/>
            </a:prstTxWarp>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9477337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6" presetClass="entr" presetSubtype="0" fill="hold" grpId="0" nodeType="clickEffect">
                                  <p:stCondLst>
                                    <p:cond delay="0"/>
                                  </p:stCondLst>
                                  <p:iterate type="lt">
                                    <p:tmPct val="10000"/>
                                  </p:iterate>
                                  <p:childTnLst>
                                    <p:set>
                                      <p:cBhvr>
                                        <p:cTn id="18" dur="1" fill="hold">
                                          <p:stCondLst>
                                            <p:cond delay="0"/>
                                          </p:stCondLst>
                                        </p:cTn>
                                        <p:tgtEl>
                                          <p:spTgt spid="18"/>
                                        </p:tgtEl>
                                        <p:attrNameLst>
                                          <p:attrName>style.visibility</p:attrName>
                                        </p:attrNameLst>
                                      </p:cBhvr>
                                      <p:to>
                                        <p:strVal val="visible"/>
                                      </p:to>
                                    </p:set>
                                    <p:anim by="(-#ppt_w*2)" calcmode="lin" valueType="num">
                                      <p:cBhvr rctx="PPT">
                                        <p:cTn id="19" dur="500" autoRev="1" fill="hold">
                                          <p:stCondLst>
                                            <p:cond delay="0"/>
                                          </p:stCondLst>
                                        </p:cTn>
                                        <p:tgtEl>
                                          <p:spTgt spid="18"/>
                                        </p:tgtEl>
                                        <p:attrNameLst>
                                          <p:attrName>ppt_w</p:attrName>
                                        </p:attrNameLst>
                                      </p:cBhvr>
                                    </p:anim>
                                    <p:anim by="(#ppt_w*0.50)" calcmode="lin" valueType="num">
                                      <p:cBhvr>
                                        <p:cTn id="20" dur="500" decel="50000" autoRev="1" fill="hold">
                                          <p:stCondLst>
                                            <p:cond delay="0"/>
                                          </p:stCondLst>
                                        </p:cTn>
                                        <p:tgtEl>
                                          <p:spTgt spid="18"/>
                                        </p:tgtEl>
                                        <p:attrNameLst>
                                          <p:attrName>ppt_x</p:attrName>
                                        </p:attrNameLst>
                                      </p:cBhvr>
                                    </p:anim>
                                    <p:anim from="(-#ppt_h/2)" to="(#ppt_y)" calcmode="lin" valueType="num">
                                      <p:cBhvr>
                                        <p:cTn id="21" dur="1000" fill="hold">
                                          <p:stCondLst>
                                            <p:cond delay="0"/>
                                          </p:stCondLst>
                                        </p:cTn>
                                        <p:tgtEl>
                                          <p:spTgt spid="18"/>
                                        </p:tgtEl>
                                        <p:attrNameLst>
                                          <p:attrName>ppt_y</p:attrName>
                                        </p:attrNameLst>
                                      </p:cBhvr>
                                    </p:anim>
                                    <p:animRot by="21600000">
                                      <p:cBhvr>
                                        <p:cTn id="22" dur="1000" fill="hold">
                                          <p:stCondLst>
                                            <p:cond delay="0"/>
                                          </p:stCondLst>
                                        </p:cTn>
                                        <p:tgtEl>
                                          <p:spTgt spid="18"/>
                                        </p:tgtEl>
                                        <p:attrNameLst>
                                          <p:attrName>r</p:attrName>
                                        </p:attrNameLst>
                                      </p:cBhvr>
                                    </p:animRot>
                                  </p:childTnLst>
                                </p:cTn>
                              </p:par>
                              <p:par>
                                <p:cTn id="23" presetID="56" presetClass="entr" presetSubtype="0" fill="hold" grpId="0" nodeType="withEffect">
                                  <p:stCondLst>
                                    <p:cond delay="0"/>
                                  </p:stCondLst>
                                  <p:iterate type="lt">
                                    <p:tmPct val="10000"/>
                                  </p:iterate>
                                  <p:childTnLst>
                                    <p:set>
                                      <p:cBhvr>
                                        <p:cTn id="24" dur="1" fill="hold">
                                          <p:stCondLst>
                                            <p:cond delay="0"/>
                                          </p:stCondLst>
                                        </p:cTn>
                                        <p:tgtEl>
                                          <p:spTgt spid="19"/>
                                        </p:tgtEl>
                                        <p:attrNameLst>
                                          <p:attrName>style.visibility</p:attrName>
                                        </p:attrNameLst>
                                      </p:cBhvr>
                                      <p:to>
                                        <p:strVal val="visible"/>
                                      </p:to>
                                    </p:set>
                                    <p:anim by="(-#ppt_w*2)" calcmode="lin" valueType="num">
                                      <p:cBhvr rctx="PPT">
                                        <p:cTn id="25" dur="500" autoRev="1" fill="hold">
                                          <p:stCondLst>
                                            <p:cond delay="0"/>
                                          </p:stCondLst>
                                        </p:cTn>
                                        <p:tgtEl>
                                          <p:spTgt spid="19"/>
                                        </p:tgtEl>
                                        <p:attrNameLst>
                                          <p:attrName>ppt_w</p:attrName>
                                        </p:attrNameLst>
                                      </p:cBhvr>
                                    </p:anim>
                                    <p:anim by="(#ppt_w*0.50)" calcmode="lin" valueType="num">
                                      <p:cBhvr>
                                        <p:cTn id="26" dur="500" decel="50000" autoRev="1" fill="hold">
                                          <p:stCondLst>
                                            <p:cond delay="0"/>
                                          </p:stCondLst>
                                        </p:cTn>
                                        <p:tgtEl>
                                          <p:spTgt spid="19"/>
                                        </p:tgtEl>
                                        <p:attrNameLst>
                                          <p:attrName>ppt_x</p:attrName>
                                        </p:attrNameLst>
                                      </p:cBhvr>
                                    </p:anim>
                                    <p:anim from="(-#ppt_h/2)" to="(#ppt_y)" calcmode="lin" valueType="num">
                                      <p:cBhvr>
                                        <p:cTn id="27" dur="1000" fill="hold">
                                          <p:stCondLst>
                                            <p:cond delay="0"/>
                                          </p:stCondLst>
                                        </p:cTn>
                                        <p:tgtEl>
                                          <p:spTgt spid="19"/>
                                        </p:tgtEl>
                                        <p:attrNameLst>
                                          <p:attrName>ppt_y</p:attrName>
                                        </p:attrNameLst>
                                      </p:cBhvr>
                                    </p:anim>
                                    <p:animRot by="21600000">
                                      <p:cBhvr>
                                        <p:cTn id="28" dur="1000" fill="hold">
                                          <p:stCondLst>
                                            <p:cond delay="0"/>
                                          </p:stCondLst>
                                        </p:cTn>
                                        <p:tgtEl>
                                          <p:spTgt spid="19"/>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 fill="hold"/>
                                        <p:tgtEl>
                                          <p:spTgt spid="20"/>
                                        </p:tgtEl>
                                        <p:attrNameLst>
                                          <p:attrName>ppt_w</p:attrName>
                                        </p:attrNameLst>
                                      </p:cBhvr>
                                      <p:tavLst>
                                        <p:tav tm="0">
                                          <p:val>
                                            <p:fltVal val="0"/>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animEffect transition="in" filter="fade">
                                      <p:cBhvr>
                                        <p:cTn id="35" dur="500"/>
                                        <p:tgtEl>
                                          <p:spTgt spid="2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500" fill="hold"/>
                                        <p:tgtEl>
                                          <p:spTgt spid="24"/>
                                        </p:tgtEl>
                                        <p:attrNameLst>
                                          <p:attrName>ppt_w</p:attrName>
                                        </p:attrNameLst>
                                      </p:cBhvr>
                                      <p:tavLst>
                                        <p:tav tm="0">
                                          <p:val>
                                            <p:fltVal val="0"/>
                                          </p:val>
                                        </p:tav>
                                        <p:tav tm="100000">
                                          <p:val>
                                            <p:strVal val="#ppt_w"/>
                                          </p:val>
                                        </p:tav>
                                      </p:tavLst>
                                    </p:anim>
                                    <p:anim calcmode="lin" valueType="num">
                                      <p:cBhvr>
                                        <p:cTn id="44" dur="500" fill="hold"/>
                                        <p:tgtEl>
                                          <p:spTgt spid="24"/>
                                        </p:tgtEl>
                                        <p:attrNameLst>
                                          <p:attrName>ppt_h</p:attrName>
                                        </p:attrNameLst>
                                      </p:cBhvr>
                                      <p:tavLst>
                                        <p:tav tm="0">
                                          <p:val>
                                            <p:fltVal val="0"/>
                                          </p:val>
                                        </p:tav>
                                        <p:tav tm="100000">
                                          <p:val>
                                            <p:strVal val="#ppt_h"/>
                                          </p:val>
                                        </p:tav>
                                      </p:tavLst>
                                    </p:anim>
                                    <p:animEffect transition="in" filter="fad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down)">
                                      <p:cBhvr>
                                        <p:cTn id="50" dur="500"/>
                                        <p:tgtEl>
                                          <p:spTgt spid="21"/>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down)">
                                      <p:cBhvr>
                                        <p:cTn id="53" dur="500"/>
                                        <p:tgtEl>
                                          <p:spTgt spid="23"/>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wipe(down)">
                                      <p:cBhvr>
                                        <p:cTn id="5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1" grpId="0"/>
      <p:bldP spid="22" grpId="0" animBg="1"/>
      <p:bldP spid="23" grpId="0"/>
      <p:bldP spid="24" grpId="0" animBg="1"/>
      <p:bldP spid="25" grpId="0"/>
      <p:bldP spid="18" grpId="0"/>
      <p:bldP spid="19" grpId="0"/>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学习导引</a:t>
            </a:r>
          </a:p>
        </p:txBody>
      </p:sp>
      <p:graphicFrame>
        <p:nvGraphicFramePr>
          <p:cNvPr id="4" name="内容占位符 1">
            <a:extLst>
              <a:ext uri="{FF2B5EF4-FFF2-40B4-BE49-F238E27FC236}">
                <a16:creationId xmlns:a16="http://schemas.microsoft.com/office/drawing/2014/main" id="{DB1F3D57-CE80-4623-9D0B-60A57A9ED33F}"/>
              </a:ext>
            </a:extLst>
          </p:cNvPr>
          <p:cNvGraphicFramePr>
            <a:graphicFrameLocks/>
          </p:cNvGraphicFramePr>
          <p:nvPr>
            <p:extLst>
              <p:ext uri="{D42A27DB-BD31-4B8C-83A1-F6EECF244321}">
                <p14:modId xmlns:p14="http://schemas.microsoft.com/office/powerpoint/2010/main" val="2153619270"/>
              </p:ext>
            </p:extLst>
          </p:nvPr>
        </p:nvGraphicFramePr>
        <p:xfrm>
          <a:off x="0" y="20848"/>
          <a:ext cx="9144000" cy="5336656"/>
        </p:xfrm>
        <a:graphic>
          <a:graphicData uri="http://schemas.openxmlformats.org/drawingml/2006/table">
            <a:tbl>
              <a:tblPr/>
              <a:tblGrid>
                <a:gridCol w="884904">
                  <a:extLst>
                    <a:ext uri="{9D8B030D-6E8A-4147-A177-3AD203B41FA5}">
                      <a16:colId xmlns:a16="http://schemas.microsoft.com/office/drawing/2014/main" val="20000"/>
                    </a:ext>
                  </a:extLst>
                </a:gridCol>
                <a:gridCol w="8259096">
                  <a:extLst>
                    <a:ext uri="{9D8B030D-6E8A-4147-A177-3AD203B41FA5}">
                      <a16:colId xmlns:a16="http://schemas.microsoft.com/office/drawing/2014/main" val="20001"/>
                    </a:ext>
                  </a:extLst>
                </a:gridCol>
              </a:tblGrid>
              <a:tr h="1283578">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知识单元与知识点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概述、</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安全脆弱性、</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安全威胁、</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安全需求、</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安全防御方法</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工作原理、</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安全脆弱性、</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安全威胁、</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安全需求、</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安全防御方法</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377870">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能力点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基于对以</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安全和</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安全为核心的物联网感知层安全概念的建立、对</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和</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安全基本内容的熟悉，形成知识应用能力</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安全脆弱性、</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安全威胁、</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安全需求、</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安全防御方法，以及</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工作原理、</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安全脆弱性、</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安全威胁、</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安全需求、</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安全防御方法和</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安全标准的把握，形成知识应用能力、问题分析能力</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基于交流与微思考，形成沟通表达能力和问题分析能力</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基于学习拓展与探究式研讨，形成知识应用能力、问题分析能力、终身学习能力</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基于复杂工程问题实践，形成问题分析能力、设计开发能力、工程研究与创新能力</a:t>
                      </a:r>
                      <a:endPar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1"/>
                  </a:ext>
                </a:extLst>
              </a:tr>
              <a:tr h="544132">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重难点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重点：物联网感知层安全的基本含义；</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安全需求与安全防御方法；</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安全需求与安全防御方法</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难点：</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安全脆弱性和安全威胁；</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安全脆弱性和安全威胁</a:t>
                      </a:r>
                      <a:endPar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02"/>
                  </a:ext>
                </a:extLst>
              </a:tr>
              <a:tr h="857490">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学习要求</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掌握物联网感知层安全的基本含义</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安全需求和</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安全防御方法</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安全需求和</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安全防御方法</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安全脆弱性、</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WSN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安全威胁</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工作原理、</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安全脆弱性、</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安全威胁、</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RFID</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安全标准等</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984099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210137"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第一部分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概述</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01</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01</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1405975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469346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感知层位于整个物联网体系结构的最底层，是物联网的核心和基础，其基本任务是全面感知外界信息，是整个物联网的信息源</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感知层主要涉及各种传感器及其所组成的无线传感器网络、无线射频识别、条形码、激光扫描、卫星定位等信息感知与采集技术，用以完成对目标对象或环境的信息感知</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由于物联网感知层节点数量众多、覆盖范围广泛、功能特点各异，并直接与物理环境或人相联接，往往分布于无人值守的区域，且所采集的信息可以基于网络实现远程传播</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信息作为一种资源，其内容都具有一定的价值或安全敏感性，物联网感知层的信息安全问题突出，且涉及面广、影响巨大，感知层数据信息的安全保障是整个物联网信息安全的基础</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概述</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21100489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259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物联网感知层信息安全问题是物联网安全的核心内容</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物联网感知层面临的安全威胁主要表现为</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感知层中节点自身故障（如节点被捕获、被控制、功能失效或服务中断、身份伪造等）</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节点间的链接关系不正常（如选择性转发、路由欺骗、集团式作弊等）</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感知层所采集原始数据的机密性、真实性、完整性或新鲜性等属性受到破坏（如数据被非法访问、虚假数据注入、数据被篡改、数据传输被延迟等）</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感知层中的“物”被错误地标识或被非授权地定位与跟踪等</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概述</a:t>
            </a:r>
          </a:p>
        </p:txBody>
      </p:sp>
    </p:spTree>
    <p:extLst>
      <p:ext uri="{BB962C8B-B14F-4D97-AF65-F5344CB8AC3E}">
        <p14:creationId xmlns:p14="http://schemas.microsoft.com/office/powerpoint/2010/main" val="250984717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4177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物联网感知层的安全目标主要体现为：</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）强调基于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WSN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的感知中的信任管理，确保所采集数据的真实和有效性</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）确保基于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的感知层中对象的隐私得到保护，包括“物”的标识与定位等</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因感知层节点资源有限、只能执行少量的计算和通信的突出特点，感知层能否抗</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DoS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攻击是衡量物联网是否健康的重要指标</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感知层安全机制的建立离不开轻量级密码算法和轻量级安全认证协议的支持</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概述</a:t>
            </a:r>
          </a:p>
        </p:txBody>
      </p:sp>
    </p:spTree>
    <p:extLst>
      <p:ext uri="{BB962C8B-B14F-4D97-AF65-F5344CB8AC3E}">
        <p14:creationId xmlns:p14="http://schemas.microsoft.com/office/powerpoint/2010/main" val="369341036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756761"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第二部分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en-US" altLang="zh-CN" sz="2800" b="1" dirty="0">
                <a:latin typeface="微软雅黑" panose="020B0503020204020204" pitchFamily="34" charset="-122"/>
                <a:ea typeface="微软雅黑" panose="020B0503020204020204" pitchFamily="34" charset="-122"/>
              </a:rPr>
              <a:t>WSN</a:t>
            </a:r>
            <a:r>
              <a:rPr lang="zh-CN" altLang="en-US" sz="2800" b="1" dirty="0">
                <a:latin typeface="微软雅黑" panose="020B0503020204020204" pitchFamily="34" charset="-122"/>
                <a:ea typeface="微软雅黑" panose="020B0503020204020204" pitchFamily="34" charset="-122"/>
              </a:rPr>
              <a:t>安全</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02</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02</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7725934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无线网络的分类</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
        <p:nvSpPr>
          <p:cNvPr id="4" name="Rectangle 7">
            <a:extLst>
              <a:ext uri="{FF2B5EF4-FFF2-40B4-BE49-F238E27FC236}">
                <a16:creationId xmlns:a16="http://schemas.microsoft.com/office/drawing/2014/main" id="{1BECE045-D59D-46C8-9365-D814E0C8109B}"/>
              </a:ext>
            </a:extLst>
          </p:cNvPr>
          <p:cNvSpPr>
            <a:spLocks noChangeArrowheads="1"/>
          </p:cNvSpPr>
          <p:nvPr/>
        </p:nvSpPr>
        <p:spPr bwMode="auto">
          <a:xfrm>
            <a:off x="1497904" y="2589828"/>
            <a:ext cx="415498" cy="1082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50000"/>
              </a:lnSpc>
            </a:pPr>
            <a:r>
              <a:rPr kumimoji="1" lang="zh-CN" altLang="en-US" b="1" dirty="0">
                <a:solidFill>
                  <a:srgbClr val="2FA2A4"/>
                </a:solidFill>
                <a:latin typeface="微软雅黑" panose="020B0503020204020204" pitchFamily="34" charset="-122"/>
                <a:ea typeface="微软雅黑" panose="020B0503020204020204" pitchFamily="34" charset="-122"/>
              </a:rPr>
              <a:t>无</a:t>
            </a:r>
          </a:p>
          <a:p>
            <a:pPr>
              <a:lnSpc>
                <a:spcPct val="50000"/>
              </a:lnSpc>
            </a:pPr>
            <a:endParaRPr kumimoji="1" lang="zh-CN" altLang="en-US" b="1" dirty="0">
              <a:solidFill>
                <a:srgbClr val="2FA2A4"/>
              </a:solidFill>
              <a:latin typeface="微软雅黑" panose="020B0503020204020204" pitchFamily="34" charset="-122"/>
              <a:ea typeface="微软雅黑" panose="020B0503020204020204" pitchFamily="34" charset="-122"/>
            </a:endParaRPr>
          </a:p>
          <a:p>
            <a:pPr>
              <a:lnSpc>
                <a:spcPct val="50000"/>
              </a:lnSpc>
            </a:pPr>
            <a:r>
              <a:rPr kumimoji="1" lang="zh-CN" altLang="en-US" b="1" dirty="0">
                <a:solidFill>
                  <a:srgbClr val="2FA2A4"/>
                </a:solidFill>
                <a:latin typeface="微软雅黑" panose="020B0503020204020204" pitchFamily="34" charset="-122"/>
                <a:ea typeface="微软雅黑" panose="020B0503020204020204" pitchFamily="34" charset="-122"/>
              </a:rPr>
              <a:t>线</a:t>
            </a:r>
          </a:p>
          <a:p>
            <a:pPr>
              <a:lnSpc>
                <a:spcPct val="50000"/>
              </a:lnSpc>
            </a:pPr>
            <a:endParaRPr kumimoji="1" lang="zh-CN" altLang="en-US" b="1" dirty="0">
              <a:solidFill>
                <a:srgbClr val="2FA2A4"/>
              </a:solidFill>
              <a:latin typeface="微软雅黑" panose="020B0503020204020204" pitchFamily="34" charset="-122"/>
              <a:ea typeface="微软雅黑" panose="020B0503020204020204" pitchFamily="34" charset="-122"/>
            </a:endParaRPr>
          </a:p>
          <a:p>
            <a:pPr>
              <a:lnSpc>
                <a:spcPct val="50000"/>
              </a:lnSpc>
            </a:pPr>
            <a:r>
              <a:rPr kumimoji="1" lang="zh-CN" altLang="en-US" b="1" dirty="0">
                <a:solidFill>
                  <a:srgbClr val="2FA2A4"/>
                </a:solidFill>
                <a:latin typeface="微软雅黑" panose="020B0503020204020204" pitchFamily="34" charset="-122"/>
                <a:ea typeface="微软雅黑" panose="020B0503020204020204" pitchFamily="34" charset="-122"/>
              </a:rPr>
              <a:t>网</a:t>
            </a:r>
          </a:p>
          <a:p>
            <a:pPr>
              <a:lnSpc>
                <a:spcPct val="50000"/>
              </a:lnSpc>
            </a:pPr>
            <a:endParaRPr kumimoji="1" lang="zh-CN" altLang="en-US" b="1" dirty="0">
              <a:solidFill>
                <a:srgbClr val="2FA2A4"/>
              </a:solidFill>
              <a:latin typeface="微软雅黑" panose="020B0503020204020204" pitchFamily="34" charset="-122"/>
              <a:ea typeface="微软雅黑" panose="020B0503020204020204" pitchFamily="34" charset="-122"/>
            </a:endParaRPr>
          </a:p>
          <a:p>
            <a:pPr>
              <a:lnSpc>
                <a:spcPct val="50000"/>
              </a:lnSpc>
            </a:pPr>
            <a:r>
              <a:rPr kumimoji="1" lang="zh-CN" altLang="en-US" b="1" dirty="0">
                <a:solidFill>
                  <a:srgbClr val="2FA2A4"/>
                </a:solidFill>
                <a:latin typeface="微软雅黑" panose="020B0503020204020204" pitchFamily="34" charset="-122"/>
                <a:ea typeface="微软雅黑" panose="020B0503020204020204" pitchFamily="34" charset="-122"/>
              </a:rPr>
              <a:t>络</a:t>
            </a:r>
          </a:p>
        </p:txBody>
      </p:sp>
      <p:sp>
        <p:nvSpPr>
          <p:cNvPr id="5" name="Oval 8">
            <a:extLst>
              <a:ext uri="{FF2B5EF4-FFF2-40B4-BE49-F238E27FC236}">
                <a16:creationId xmlns:a16="http://schemas.microsoft.com/office/drawing/2014/main" id="{8F46B6AF-60E1-40E7-B54F-3F7A1D36D9BE}"/>
              </a:ext>
            </a:extLst>
          </p:cNvPr>
          <p:cNvSpPr>
            <a:spLocks noChangeArrowheads="1"/>
          </p:cNvSpPr>
          <p:nvPr/>
        </p:nvSpPr>
        <p:spPr bwMode="auto">
          <a:xfrm>
            <a:off x="2411760" y="1635646"/>
            <a:ext cx="2398339" cy="725488"/>
          </a:xfrm>
          <a:prstGeom prst="ellipse">
            <a:avLst/>
          </a:prstGeom>
          <a:ln>
            <a:headEnd/>
            <a:tailEnd/>
          </a:ln>
        </p:spPr>
        <p:style>
          <a:lnRef idx="2">
            <a:schemeClr val="accent6"/>
          </a:lnRef>
          <a:fillRef idx="1">
            <a:schemeClr val="lt1"/>
          </a:fillRef>
          <a:effectRef idx="0">
            <a:schemeClr val="accent6"/>
          </a:effectRef>
          <a:fontRef idx="minor">
            <a:schemeClr val="dk1"/>
          </a:fontRef>
        </p:style>
        <p:txBody>
          <a:bodyPr anchor="ctr"/>
          <a:lstStyle/>
          <a:p>
            <a:pPr algn="ctr"/>
            <a:r>
              <a:rPr kumimoji="1" lang="zh-CN" altLang="en-US" b="0" dirty="0">
                <a:latin typeface="微软雅黑" panose="020B0503020204020204" pitchFamily="34" charset="-122"/>
                <a:ea typeface="微软雅黑" panose="020B0503020204020204" pitchFamily="34" charset="-122"/>
              </a:rPr>
              <a:t>有基础设施网</a:t>
            </a:r>
          </a:p>
        </p:txBody>
      </p:sp>
      <p:sp>
        <p:nvSpPr>
          <p:cNvPr id="6" name="Oval 9">
            <a:extLst>
              <a:ext uri="{FF2B5EF4-FFF2-40B4-BE49-F238E27FC236}">
                <a16:creationId xmlns:a16="http://schemas.microsoft.com/office/drawing/2014/main" id="{68C8FF19-3E10-485B-BA95-D0EC55116899}"/>
              </a:ext>
            </a:extLst>
          </p:cNvPr>
          <p:cNvSpPr>
            <a:spLocks noChangeArrowheads="1"/>
          </p:cNvSpPr>
          <p:nvPr/>
        </p:nvSpPr>
        <p:spPr bwMode="auto">
          <a:xfrm>
            <a:off x="2411760" y="3846683"/>
            <a:ext cx="2474213" cy="765175"/>
          </a:xfrm>
          <a:prstGeom prst="ellipse">
            <a:avLst/>
          </a:prstGeom>
          <a:ln>
            <a:headEnd/>
            <a:tailEnd/>
          </a:ln>
        </p:spPr>
        <p:style>
          <a:lnRef idx="2">
            <a:schemeClr val="accent5"/>
          </a:lnRef>
          <a:fillRef idx="1">
            <a:schemeClr val="lt1"/>
          </a:fillRef>
          <a:effectRef idx="0">
            <a:schemeClr val="accent5"/>
          </a:effectRef>
          <a:fontRef idx="minor">
            <a:schemeClr val="dk1"/>
          </a:fontRef>
        </p:style>
        <p:txBody>
          <a:bodyPr anchor="ctr"/>
          <a:lstStyle/>
          <a:p>
            <a:pPr algn="ctr"/>
            <a:r>
              <a:rPr kumimoji="1" lang="zh-CN" altLang="en-US" b="0">
                <a:latin typeface="微软雅黑" panose="020B0503020204020204" pitchFamily="34" charset="-122"/>
                <a:ea typeface="微软雅黑" panose="020B0503020204020204" pitchFamily="34" charset="-122"/>
              </a:rPr>
              <a:t>无基础设施网</a:t>
            </a:r>
          </a:p>
        </p:txBody>
      </p:sp>
      <p:sp>
        <p:nvSpPr>
          <p:cNvPr id="7" name="AutoShape 10">
            <a:extLst>
              <a:ext uri="{FF2B5EF4-FFF2-40B4-BE49-F238E27FC236}">
                <a16:creationId xmlns:a16="http://schemas.microsoft.com/office/drawing/2014/main" id="{4FA5AC36-ADB8-4186-889D-85E3F5891B57}"/>
              </a:ext>
            </a:extLst>
          </p:cNvPr>
          <p:cNvSpPr>
            <a:spLocks noChangeArrowheads="1"/>
          </p:cNvSpPr>
          <p:nvPr/>
        </p:nvSpPr>
        <p:spPr bwMode="auto">
          <a:xfrm>
            <a:off x="5119589" y="3642604"/>
            <a:ext cx="2426813" cy="369981"/>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pPr algn="ctr"/>
            <a:r>
              <a:rPr kumimoji="1" lang="zh-CN" altLang="en-US" sz="1600" dirty="0">
                <a:latin typeface="微软雅黑" panose="020B0503020204020204" pitchFamily="34" charset="-122"/>
                <a:ea typeface="微软雅黑" panose="020B0503020204020204" pitchFamily="34" charset="-122"/>
              </a:rPr>
              <a:t>移动自组织网络</a:t>
            </a:r>
            <a:r>
              <a:rPr kumimoji="1" lang="en-US" altLang="zh-CN" sz="1600" dirty="0">
                <a:latin typeface="微软雅黑" panose="020B0503020204020204" pitchFamily="34" charset="-122"/>
                <a:ea typeface="微软雅黑" panose="020B0503020204020204" pitchFamily="34" charset="-122"/>
              </a:rPr>
              <a:t>Ad Hoc</a:t>
            </a:r>
            <a:endParaRPr kumimoji="1" lang="zh-CN" altLang="en-US" sz="1600" dirty="0">
              <a:latin typeface="微软雅黑" panose="020B0503020204020204" pitchFamily="34" charset="-122"/>
              <a:ea typeface="微软雅黑" panose="020B0503020204020204" pitchFamily="34" charset="-122"/>
            </a:endParaRPr>
          </a:p>
        </p:txBody>
      </p:sp>
      <p:sp>
        <p:nvSpPr>
          <p:cNvPr id="8" name="AutoShape 11">
            <a:extLst>
              <a:ext uri="{FF2B5EF4-FFF2-40B4-BE49-F238E27FC236}">
                <a16:creationId xmlns:a16="http://schemas.microsoft.com/office/drawing/2014/main" id="{BB7BACD1-27BD-436B-A7FF-E954CB8CD9C0}"/>
              </a:ext>
            </a:extLst>
          </p:cNvPr>
          <p:cNvSpPr>
            <a:spLocks noChangeArrowheads="1"/>
          </p:cNvSpPr>
          <p:nvPr/>
        </p:nvSpPr>
        <p:spPr bwMode="auto">
          <a:xfrm>
            <a:off x="5127168" y="4435222"/>
            <a:ext cx="2426814" cy="370842"/>
          </a:xfrm>
          <a:prstGeom prst="roundRect">
            <a:avLst>
              <a:gd name="adj"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pPr algn="ctr"/>
            <a:r>
              <a:rPr kumimoji="1" lang="zh-CN" altLang="en-US" sz="1600" b="1" dirty="0">
                <a:solidFill>
                  <a:srgbClr val="FFFF00"/>
                </a:solidFill>
                <a:latin typeface="微软雅黑" panose="020B0503020204020204" pitchFamily="34" charset="-122"/>
                <a:ea typeface="微软雅黑" panose="020B0503020204020204" pitchFamily="34" charset="-122"/>
              </a:rPr>
              <a:t>无线传感器网络</a:t>
            </a:r>
            <a:r>
              <a:rPr kumimoji="1" lang="en-US" altLang="zh-CN" sz="1600" b="1" dirty="0">
                <a:solidFill>
                  <a:srgbClr val="FFFF00"/>
                </a:solidFill>
                <a:latin typeface="微软雅黑" panose="020B0503020204020204" pitchFamily="34" charset="-122"/>
                <a:ea typeface="微软雅黑" panose="020B0503020204020204" pitchFamily="34" charset="-122"/>
              </a:rPr>
              <a:t>WSN</a:t>
            </a:r>
          </a:p>
        </p:txBody>
      </p:sp>
      <p:sp>
        <p:nvSpPr>
          <p:cNvPr id="9" name="AutoShape 12">
            <a:extLst>
              <a:ext uri="{FF2B5EF4-FFF2-40B4-BE49-F238E27FC236}">
                <a16:creationId xmlns:a16="http://schemas.microsoft.com/office/drawing/2014/main" id="{C2B11C2A-32D2-4487-BFF3-F65148CA87FD}"/>
              </a:ext>
            </a:extLst>
          </p:cNvPr>
          <p:cNvSpPr>
            <a:spLocks/>
          </p:cNvSpPr>
          <p:nvPr/>
        </p:nvSpPr>
        <p:spPr bwMode="auto">
          <a:xfrm>
            <a:off x="1939443" y="2061938"/>
            <a:ext cx="415498" cy="2137936"/>
          </a:xfrm>
          <a:prstGeom prst="leftBrace">
            <a:avLst>
              <a:gd name="adj1" fmla="val 56645"/>
              <a:gd name="adj2" fmla="val 50000"/>
            </a:avLst>
          </a:prstGeom>
          <a:noFill/>
          <a:ln w="9525">
            <a:solidFill>
              <a:srgbClr val="147BA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latin typeface="微软雅黑" panose="020B0503020204020204" pitchFamily="34" charset="-122"/>
              <a:ea typeface="微软雅黑" panose="020B0503020204020204" pitchFamily="34" charset="-122"/>
            </a:endParaRPr>
          </a:p>
        </p:txBody>
      </p:sp>
      <p:sp>
        <p:nvSpPr>
          <p:cNvPr id="11" name="AutoShape 14">
            <a:extLst>
              <a:ext uri="{FF2B5EF4-FFF2-40B4-BE49-F238E27FC236}">
                <a16:creationId xmlns:a16="http://schemas.microsoft.com/office/drawing/2014/main" id="{CF90A0F7-C2F0-4659-BD32-58311C876870}"/>
              </a:ext>
            </a:extLst>
          </p:cNvPr>
          <p:cNvSpPr>
            <a:spLocks noChangeArrowheads="1"/>
          </p:cNvSpPr>
          <p:nvPr/>
        </p:nvSpPr>
        <p:spPr bwMode="auto">
          <a:xfrm>
            <a:off x="5102180" y="1396775"/>
            <a:ext cx="1700580" cy="356731"/>
          </a:xfrm>
          <a:prstGeom prst="roundRect">
            <a:avLst>
              <a:gd name="adj" fmla="val 16667"/>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kumimoji="1" lang="zh-CN" altLang="en-US" sz="1600" b="0" dirty="0">
                <a:latin typeface="微软雅黑" panose="020B0503020204020204" pitchFamily="34" charset="-122"/>
                <a:ea typeface="微软雅黑" panose="020B0503020204020204" pitchFamily="34" charset="-122"/>
              </a:rPr>
              <a:t>无线蜂窝网等</a:t>
            </a:r>
          </a:p>
        </p:txBody>
      </p:sp>
      <p:sp>
        <p:nvSpPr>
          <p:cNvPr id="12" name="AutoShape 15">
            <a:extLst>
              <a:ext uri="{FF2B5EF4-FFF2-40B4-BE49-F238E27FC236}">
                <a16:creationId xmlns:a16="http://schemas.microsoft.com/office/drawing/2014/main" id="{F57D634F-1CB2-47F9-B1CE-BC5076523156}"/>
              </a:ext>
            </a:extLst>
          </p:cNvPr>
          <p:cNvSpPr>
            <a:spLocks noChangeArrowheads="1"/>
          </p:cNvSpPr>
          <p:nvPr/>
        </p:nvSpPr>
        <p:spPr bwMode="auto">
          <a:xfrm>
            <a:off x="5098975" y="2176143"/>
            <a:ext cx="1700580" cy="369981"/>
          </a:xfrm>
          <a:prstGeom prst="roundRect">
            <a:avLst>
              <a:gd name="adj" fmla="val 16667"/>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kumimoji="1" lang="zh-CN" altLang="en-US" sz="1600" b="0">
                <a:latin typeface="微软雅黑" panose="020B0503020204020204" pitchFamily="34" charset="-122"/>
                <a:ea typeface="微软雅黑" panose="020B0503020204020204" pitchFamily="34" charset="-122"/>
              </a:rPr>
              <a:t>无线局域网</a:t>
            </a:r>
          </a:p>
        </p:txBody>
      </p:sp>
      <p:sp>
        <p:nvSpPr>
          <p:cNvPr id="13" name="AutoShape 16">
            <a:extLst>
              <a:ext uri="{FF2B5EF4-FFF2-40B4-BE49-F238E27FC236}">
                <a16:creationId xmlns:a16="http://schemas.microsoft.com/office/drawing/2014/main" id="{A48490CD-8F50-4D6C-AD5B-72B275237165}"/>
              </a:ext>
            </a:extLst>
          </p:cNvPr>
          <p:cNvSpPr>
            <a:spLocks/>
          </p:cNvSpPr>
          <p:nvPr/>
        </p:nvSpPr>
        <p:spPr bwMode="auto">
          <a:xfrm>
            <a:off x="4866918" y="1596942"/>
            <a:ext cx="202006" cy="802895"/>
          </a:xfrm>
          <a:prstGeom prst="leftBrace">
            <a:avLst>
              <a:gd name="adj1" fmla="val 33471"/>
              <a:gd name="adj2" fmla="val 50000"/>
            </a:avLst>
          </a:prstGeom>
          <a:ln>
            <a:headEnd/>
            <a:tailEnd/>
          </a:ln>
        </p:spPr>
        <p:style>
          <a:lnRef idx="1">
            <a:schemeClr val="accent4"/>
          </a:lnRef>
          <a:fillRef idx="0">
            <a:schemeClr val="accent4"/>
          </a:fillRef>
          <a:effectRef idx="0">
            <a:schemeClr val="accent4"/>
          </a:effectRef>
          <a:fontRef idx="minor">
            <a:schemeClr val="tx1"/>
          </a:fontRef>
        </p:style>
        <p:txBody>
          <a:bodyPr wrap="square" anchor="ctr">
            <a:spAutoFit/>
          </a:bodyPr>
          <a:lstStyle/>
          <a:p>
            <a:endParaRPr lang="zh-CN" altLang="en-US">
              <a:latin typeface="微软雅黑" panose="020B0503020204020204" pitchFamily="34" charset="-122"/>
              <a:ea typeface="微软雅黑" panose="020B0503020204020204" pitchFamily="34" charset="-122"/>
            </a:endParaRPr>
          </a:p>
        </p:txBody>
      </p:sp>
      <p:sp>
        <p:nvSpPr>
          <p:cNvPr id="14" name="AutoShape 16">
            <a:extLst>
              <a:ext uri="{FF2B5EF4-FFF2-40B4-BE49-F238E27FC236}">
                <a16:creationId xmlns:a16="http://schemas.microsoft.com/office/drawing/2014/main" id="{9CCC5117-050B-49CD-8FE6-53DEA1FF9E3C}"/>
              </a:ext>
            </a:extLst>
          </p:cNvPr>
          <p:cNvSpPr>
            <a:spLocks/>
          </p:cNvSpPr>
          <p:nvPr/>
        </p:nvSpPr>
        <p:spPr bwMode="auto">
          <a:xfrm>
            <a:off x="4896969" y="3827595"/>
            <a:ext cx="202006" cy="802895"/>
          </a:xfrm>
          <a:prstGeom prst="leftBrace">
            <a:avLst>
              <a:gd name="adj1" fmla="val 33471"/>
              <a:gd name="adj2" fmla="val 50000"/>
            </a:avLst>
          </a:prstGeom>
          <a:ln>
            <a:headEnd/>
            <a:tailEnd/>
          </a:ln>
        </p:spPr>
        <p:style>
          <a:lnRef idx="1">
            <a:schemeClr val="accent5"/>
          </a:lnRef>
          <a:fillRef idx="0">
            <a:schemeClr val="accent5"/>
          </a:fillRef>
          <a:effectRef idx="0">
            <a:schemeClr val="accent5"/>
          </a:effectRef>
          <a:fontRef idx="minor">
            <a:schemeClr val="tx1"/>
          </a:fontRef>
        </p:style>
        <p:txBody>
          <a:bodyPr wrap="square" anchor="ctr">
            <a:spAutoFit/>
          </a:bodyPr>
          <a:lstStyle/>
          <a:p>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38603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20682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无线传感器网络技术</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是传统传感技术和网络通讯技术的融合，通过将无线网络节点附加采集各种物理量的传感器而成为兼有感知能力和通讯能力的智能节点，是</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物联网的核心支撑技术之一</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是物联网网络感知层和传输网络层的主要实现技术。</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Tree>
    <p:extLst>
      <p:ext uri="{BB962C8B-B14F-4D97-AF65-F5344CB8AC3E}">
        <p14:creationId xmlns:p14="http://schemas.microsoft.com/office/powerpoint/2010/main" val="35158727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8508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无线传感器网络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WSN (Wireless Sensor Network)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是由</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大量静止</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传感器以</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自组织</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多跳</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的方式构成无线网络。目的是</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协作地探测、处理、传输</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网络覆盖区内感知对象的监测信息，并报告给用户。</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无线传感器网络的应用是进行各种数据的采集、处理和传输，一般并不需要很高的带宽，但是在大部分时间必须保持低功耗，以节省电池的消耗。</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由于无线传感结点的存储容量受限，因此对协议栈的大小有严格的限制。</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无线传感器网络还对网络安全性、结点自动配置、网络动态重组等方面有一定的要求。</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Tree>
    <p:extLst>
      <p:ext uri="{BB962C8B-B14F-4D97-AF65-F5344CB8AC3E}">
        <p14:creationId xmlns:p14="http://schemas.microsoft.com/office/powerpoint/2010/main" val="185557862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6101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WSN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应用系统架构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WSN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涉及数据</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采集、处理</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传输</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三种功能，对应现代信息技术中的传感器技术、计算机技术和通信技术。</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协作式的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感知、采集、处理和发布</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感知信息是 </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WSN </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的基本功能</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传感器、感知对象和用户</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 </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WSN </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三个基本要素</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
        <p:nvSpPr>
          <p:cNvPr id="4" name="椭圆 3">
            <a:extLst>
              <a:ext uri="{FF2B5EF4-FFF2-40B4-BE49-F238E27FC236}">
                <a16:creationId xmlns:a16="http://schemas.microsoft.com/office/drawing/2014/main" id="{423638A7-7E1E-522D-766A-ABC2712E06E9}"/>
              </a:ext>
            </a:extLst>
          </p:cNvPr>
          <p:cNvSpPr/>
          <p:nvPr/>
        </p:nvSpPr>
        <p:spPr>
          <a:xfrm>
            <a:off x="3347864" y="2829920"/>
            <a:ext cx="122413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现代信息技术</a:t>
            </a:r>
          </a:p>
        </p:txBody>
      </p:sp>
      <p:sp>
        <p:nvSpPr>
          <p:cNvPr id="5" name="椭圆 4">
            <a:extLst>
              <a:ext uri="{FF2B5EF4-FFF2-40B4-BE49-F238E27FC236}">
                <a16:creationId xmlns:a16="http://schemas.microsoft.com/office/drawing/2014/main" id="{979C9A24-8961-EFE6-8ACF-0D6B478C2B70}"/>
              </a:ext>
            </a:extLst>
          </p:cNvPr>
          <p:cNvSpPr/>
          <p:nvPr/>
        </p:nvSpPr>
        <p:spPr>
          <a:xfrm>
            <a:off x="5292080" y="2829920"/>
            <a:ext cx="122413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信息</a:t>
            </a:r>
            <a:endParaRPr lang="en-US" altLang="zh-CN" sz="1400" dirty="0">
              <a:latin typeface="华文楷体" panose="02010600040101010101" pitchFamily="2" charset="-122"/>
              <a:ea typeface="华文楷体" panose="02010600040101010101" pitchFamily="2" charset="-122"/>
            </a:endParaRPr>
          </a:p>
          <a:p>
            <a:pPr algn="ctr"/>
            <a:r>
              <a:rPr lang="zh-CN" altLang="en-US" sz="1400" dirty="0">
                <a:latin typeface="华文楷体" panose="02010600040101010101" pitchFamily="2" charset="-122"/>
                <a:ea typeface="华文楷体" panose="02010600040101010101" pitchFamily="2" charset="-122"/>
              </a:rPr>
              <a:t>系统</a:t>
            </a:r>
          </a:p>
        </p:txBody>
      </p:sp>
      <p:sp>
        <p:nvSpPr>
          <p:cNvPr id="6" name="矩形 5">
            <a:extLst>
              <a:ext uri="{FF2B5EF4-FFF2-40B4-BE49-F238E27FC236}">
                <a16:creationId xmlns:a16="http://schemas.microsoft.com/office/drawing/2014/main" id="{F5019BE1-DE4C-C593-4B97-363072AA8EC9}"/>
              </a:ext>
            </a:extLst>
          </p:cNvPr>
          <p:cNvSpPr/>
          <p:nvPr/>
        </p:nvSpPr>
        <p:spPr>
          <a:xfrm>
            <a:off x="3419872" y="3410243"/>
            <a:ext cx="1080120" cy="2828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传感器技术</a:t>
            </a:r>
          </a:p>
        </p:txBody>
      </p:sp>
      <p:sp>
        <p:nvSpPr>
          <p:cNvPr id="7" name="矩形 6">
            <a:extLst>
              <a:ext uri="{FF2B5EF4-FFF2-40B4-BE49-F238E27FC236}">
                <a16:creationId xmlns:a16="http://schemas.microsoft.com/office/drawing/2014/main" id="{FDEA019F-E490-5E4F-B903-1E2D7CAD253A}"/>
              </a:ext>
            </a:extLst>
          </p:cNvPr>
          <p:cNvSpPr/>
          <p:nvPr/>
        </p:nvSpPr>
        <p:spPr>
          <a:xfrm>
            <a:off x="3431028" y="3766796"/>
            <a:ext cx="1080120" cy="2828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计算机技术</a:t>
            </a:r>
          </a:p>
        </p:txBody>
      </p:sp>
      <p:sp>
        <p:nvSpPr>
          <p:cNvPr id="8" name="矩形 7">
            <a:extLst>
              <a:ext uri="{FF2B5EF4-FFF2-40B4-BE49-F238E27FC236}">
                <a16:creationId xmlns:a16="http://schemas.microsoft.com/office/drawing/2014/main" id="{5101135D-CAD0-389F-649F-014B48563C81}"/>
              </a:ext>
            </a:extLst>
          </p:cNvPr>
          <p:cNvSpPr/>
          <p:nvPr/>
        </p:nvSpPr>
        <p:spPr>
          <a:xfrm>
            <a:off x="3431028" y="4130752"/>
            <a:ext cx="1080120" cy="2828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通信技术</a:t>
            </a:r>
          </a:p>
        </p:txBody>
      </p:sp>
      <p:sp>
        <p:nvSpPr>
          <p:cNvPr id="9" name="矩形 8">
            <a:extLst>
              <a:ext uri="{FF2B5EF4-FFF2-40B4-BE49-F238E27FC236}">
                <a16:creationId xmlns:a16="http://schemas.microsoft.com/office/drawing/2014/main" id="{CB089DDE-2878-AE4D-3390-942763267C62}"/>
              </a:ext>
            </a:extLst>
          </p:cNvPr>
          <p:cNvSpPr/>
          <p:nvPr/>
        </p:nvSpPr>
        <p:spPr>
          <a:xfrm>
            <a:off x="5352932" y="3410243"/>
            <a:ext cx="1080120" cy="2828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数据采集</a:t>
            </a:r>
          </a:p>
        </p:txBody>
      </p:sp>
      <p:sp>
        <p:nvSpPr>
          <p:cNvPr id="10" name="矩形 9">
            <a:extLst>
              <a:ext uri="{FF2B5EF4-FFF2-40B4-BE49-F238E27FC236}">
                <a16:creationId xmlns:a16="http://schemas.microsoft.com/office/drawing/2014/main" id="{0CA828D6-1CB2-462B-4DD1-14D954708D39}"/>
              </a:ext>
            </a:extLst>
          </p:cNvPr>
          <p:cNvSpPr/>
          <p:nvPr/>
        </p:nvSpPr>
        <p:spPr>
          <a:xfrm>
            <a:off x="5364088" y="3766796"/>
            <a:ext cx="1080120" cy="2828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数据处理</a:t>
            </a:r>
          </a:p>
        </p:txBody>
      </p:sp>
      <p:sp>
        <p:nvSpPr>
          <p:cNvPr id="11" name="矩形 10">
            <a:extLst>
              <a:ext uri="{FF2B5EF4-FFF2-40B4-BE49-F238E27FC236}">
                <a16:creationId xmlns:a16="http://schemas.microsoft.com/office/drawing/2014/main" id="{636DAA91-7C8A-6EFB-9054-7178B1640483}"/>
              </a:ext>
            </a:extLst>
          </p:cNvPr>
          <p:cNvSpPr/>
          <p:nvPr/>
        </p:nvSpPr>
        <p:spPr>
          <a:xfrm>
            <a:off x="5364088" y="4130752"/>
            <a:ext cx="1080120" cy="2828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数据传输</a:t>
            </a:r>
          </a:p>
        </p:txBody>
      </p:sp>
      <p:sp>
        <p:nvSpPr>
          <p:cNvPr id="12" name="矩形 11">
            <a:extLst>
              <a:ext uri="{FF2B5EF4-FFF2-40B4-BE49-F238E27FC236}">
                <a16:creationId xmlns:a16="http://schemas.microsoft.com/office/drawing/2014/main" id="{6D66D255-2229-214A-537F-838BC1DF3FB8}"/>
              </a:ext>
            </a:extLst>
          </p:cNvPr>
          <p:cNvSpPr/>
          <p:nvPr/>
        </p:nvSpPr>
        <p:spPr>
          <a:xfrm>
            <a:off x="3377885" y="4774317"/>
            <a:ext cx="3138331" cy="282831"/>
          </a:xfrm>
          <a:prstGeom prst="rect">
            <a:avLst/>
          </a:prstGeom>
          <a:solidFill>
            <a:srgbClr val="FF9900"/>
          </a:solidFill>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无线传感网络</a:t>
            </a:r>
          </a:p>
        </p:txBody>
      </p:sp>
      <p:sp>
        <p:nvSpPr>
          <p:cNvPr id="13" name="矩形 12">
            <a:extLst>
              <a:ext uri="{FF2B5EF4-FFF2-40B4-BE49-F238E27FC236}">
                <a16:creationId xmlns:a16="http://schemas.microsoft.com/office/drawing/2014/main" id="{79591EEA-F714-001F-BBA0-2FF24861AE30}"/>
              </a:ext>
            </a:extLst>
          </p:cNvPr>
          <p:cNvSpPr/>
          <p:nvPr/>
        </p:nvSpPr>
        <p:spPr>
          <a:xfrm>
            <a:off x="3263771" y="2787774"/>
            <a:ext cx="1380237" cy="1728192"/>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D37F21D-3A0A-1FF3-0CDA-C2EF5A861F58}"/>
              </a:ext>
            </a:extLst>
          </p:cNvPr>
          <p:cNvSpPr/>
          <p:nvPr/>
        </p:nvSpPr>
        <p:spPr>
          <a:xfrm>
            <a:off x="5226052" y="2792794"/>
            <a:ext cx="1380237" cy="1728192"/>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左右 14">
            <a:extLst>
              <a:ext uri="{FF2B5EF4-FFF2-40B4-BE49-F238E27FC236}">
                <a16:creationId xmlns:a16="http://schemas.microsoft.com/office/drawing/2014/main" id="{53E1E91E-E23A-4036-64DC-241161B71240}"/>
              </a:ext>
            </a:extLst>
          </p:cNvPr>
          <p:cNvSpPr/>
          <p:nvPr/>
        </p:nvSpPr>
        <p:spPr>
          <a:xfrm>
            <a:off x="4661452" y="3410243"/>
            <a:ext cx="558803" cy="14401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左右 15">
            <a:extLst>
              <a:ext uri="{FF2B5EF4-FFF2-40B4-BE49-F238E27FC236}">
                <a16:creationId xmlns:a16="http://schemas.microsoft.com/office/drawing/2014/main" id="{4FCEA09C-46A5-EA6B-AD37-CE8B77BA2E72}"/>
              </a:ext>
            </a:extLst>
          </p:cNvPr>
          <p:cNvSpPr/>
          <p:nvPr/>
        </p:nvSpPr>
        <p:spPr>
          <a:xfrm>
            <a:off x="4655628" y="3795915"/>
            <a:ext cx="558803" cy="14401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左右 16">
            <a:extLst>
              <a:ext uri="{FF2B5EF4-FFF2-40B4-BE49-F238E27FC236}">
                <a16:creationId xmlns:a16="http://schemas.microsoft.com/office/drawing/2014/main" id="{0FA451C9-42FC-3A5F-1D83-61D08592F161}"/>
              </a:ext>
            </a:extLst>
          </p:cNvPr>
          <p:cNvSpPr/>
          <p:nvPr/>
        </p:nvSpPr>
        <p:spPr>
          <a:xfrm>
            <a:off x="4644008" y="4181587"/>
            <a:ext cx="558803" cy="14401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左右 17">
            <a:extLst>
              <a:ext uri="{FF2B5EF4-FFF2-40B4-BE49-F238E27FC236}">
                <a16:creationId xmlns:a16="http://schemas.microsoft.com/office/drawing/2014/main" id="{A085A2A1-BD3A-9E98-3724-F49A6CE26CA2}"/>
              </a:ext>
            </a:extLst>
          </p:cNvPr>
          <p:cNvSpPr/>
          <p:nvPr/>
        </p:nvSpPr>
        <p:spPr>
          <a:xfrm rot="5400000">
            <a:off x="5790170" y="4569000"/>
            <a:ext cx="252000" cy="144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左右 19">
            <a:extLst>
              <a:ext uri="{FF2B5EF4-FFF2-40B4-BE49-F238E27FC236}">
                <a16:creationId xmlns:a16="http://schemas.microsoft.com/office/drawing/2014/main" id="{112FFCB8-6DBE-40EA-BD29-578A08E4A44D}"/>
              </a:ext>
            </a:extLst>
          </p:cNvPr>
          <p:cNvSpPr/>
          <p:nvPr/>
        </p:nvSpPr>
        <p:spPr>
          <a:xfrm rot="5400000">
            <a:off x="3809853" y="4569000"/>
            <a:ext cx="252000" cy="144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0748320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
        <p:nvSpPr>
          <p:cNvPr id="4" name="Rectangle 6">
            <a:extLst>
              <a:ext uri="{FF2B5EF4-FFF2-40B4-BE49-F238E27FC236}">
                <a16:creationId xmlns:a16="http://schemas.microsoft.com/office/drawing/2014/main" id="{CEE295EA-884B-42E9-A977-942B7EE3D809}"/>
              </a:ext>
            </a:extLst>
          </p:cNvPr>
          <p:cNvSpPr>
            <a:spLocks noChangeArrowheads="1"/>
          </p:cNvSpPr>
          <p:nvPr/>
        </p:nvSpPr>
        <p:spPr bwMode="auto">
          <a:xfrm>
            <a:off x="4849491" y="1275606"/>
            <a:ext cx="3903662" cy="2433637"/>
          </a:xfrm>
          <a:prstGeom prst="rect">
            <a:avLst/>
          </a:prstGeom>
          <a:solidFill>
            <a:srgbClr val="CCECFF"/>
          </a:solidFill>
          <a:ln w="12700" cap="sq">
            <a:solidFill>
              <a:srgbClr val="333399"/>
            </a:solidFill>
            <a:miter lim="800000"/>
            <a:headEnd type="none" w="sm" len="sm"/>
            <a:tailEnd type="none" w="sm" len="sm"/>
          </a:ln>
          <a:effectLst>
            <a:outerShdw dist="35921" dir="2700000" algn="ctr" rotWithShape="0">
              <a:schemeClr val="bg2"/>
            </a:outerShdw>
          </a:effectLst>
        </p:spPr>
        <p:txBody>
          <a:bodyPr wrap="none" anchor="ctr"/>
          <a:lstStyle/>
          <a:p>
            <a:pPr algn="ctr" eaLnBrk="0" hangingPunct="0"/>
            <a:endParaRPr lang="zh-CN" altLang="zh-CN" b="1">
              <a:solidFill>
                <a:srgbClr val="000099"/>
              </a:solidFill>
              <a:ea typeface="黑体" panose="02010609060101010101" pitchFamily="49" charset="-122"/>
            </a:endParaRPr>
          </a:p>
        </p:txBody>
      </p:sp>
      <p:sp>
        <p:nvSpPr>
          <p:cNvPr id="5" name="AutoShape 7">
            <a:extLst>
              <a:ext uri="{FF2B5EF4-FFF2-40B4-BE49-F238E27FC236}">
                <a16:creationId xmlns:a16="http://schemas.microsoft.com/office/drawing/2014/main" id="{52413CA2-777D-4731-AE08-A9B07E348441}"/>
              </a:ext>
            </a:extLst>
          </p:cNvPr>
          <p:cNvSpPr>
            <a:spLocks noChangeArrowheads="1"/>
          </p:cNvSpPr>
          <p:nvPr/>
        </p:nvSpPr>
        <p:spPr bwMode="auto">
          <a:xfrm>
            <a:off x="5055866" y="2445593"/>
            <a:ext cx="901700" cy="1125538"/>
          </a:xfrm>
          <a:prstGeom prst="roundRect">
            <a:avLst>
              <a:gd name="adj" fmla="val 16667"/>
            </a:avLst>
          </a:prstGeom>
          <a:solidFill>
            <a:srgbClr val="99FF99">
              <a:alpha val="50000"/>
            </a:srgbClr>
          </a:solidFill>
          <a:ln w="12700" cap="sq">
            <a:solidFill>
              <a:srgbClr val="333399"/>
            </a:solidFill>
            <a:round/>
            <a:headEnd type="none" w="sm" len="sm"/>
            <a:tailEnd type="none" w="sm" len="sm"/>
          </a:ln>
        </p:spPr>
        <p:txBody>
          <a:bodyPr wrap="none" anchor="ctr"/>
          <a:lstStyle/>
          <a:p>
            <a:pPr algn="ctr" eaLnBrk="0" hangingPunct="0"/>
            <a:r>
              <a:rPr lang="zh-CN" altLang="en-US" b="1">
                <a:solidFill>
                  <a:srgbClr val="000099"/>
                </a:solidFill>
                <a:ea typeface="黑体" panose="02010609060101010101" pitchFamily="49" charset="-122"/>
              </a:rPr>
              <a:t>存储器</a:t>
            </a:r>
          </a:p>
        </p:txBody>
      </p:sp>
      <p:sp>
        <p:nvSpPr>
          <p:cNvPr id="6" name="AutoShape 8">
            <a:extLst>
              <a:ext uri="{FF2B5EF4-FFF2-40B4-BE49-F238E27FC236}">
                <a16:creationId xmlns:a16="http://schemas.microsoft.com/office/drawing/2014/main" id="{96C92C90-5D73-46E1-9A90-A4D2DBE6DFED}"/>
              </a:ext>
            </a:extLst>
          </p:cNvPr>
          <p:cNvSpPr>
            <a:spLocks noChangeArrowheads="1"/>
          </p:cNvSpPr>
          <p:nvPr/>
        </p:nvSpPr>
        <p:spPr bwMode="auto">
          <a:xfrm>
            <a:off x="6082978" y="1470868"/>
            <a:ext cx="1025525" cy="720725"/>
          </a:xfrm>
          <a:prstGeom prst="roundRect">
            <a:avLst>
              <a:gd name="adj" fmla="val 16667"/>
            </a:avLst>
          </a:prstGeom>
          <a:solidFill>
            <a:srgbClr val="FFCC00">
              <a:alpha val="50000"/>
            </a:srgbClr>
          </a:solidFill>
          <a:ln w="12700" cap="sq">
            <a:solidFill>
              <a:schemeClr val="tx2"/>
            </a:solidFill>
            <a:round/>
            <a:headEnd type="none" w="sm" len="sm"/>
            <a:tailEnd type="none" w="sm" len="sm"/>
          </a:ln>
        </p:spPr>
        <p:txBody>
          <a:bodyPr wrap="none" anchor="ctr"/>
          <a:lstStyle/>
          <a:p>
            <a:pPr algn="ctr" eaLnBrk="0" hangingPunct="0"/>
            <a:r>
              <a:rPr lang="en-US" altLang="zh-CN" b="1">
                <a:solidFill>
                  <a:srgbClr val="000099"/>
                </a:solidFill>
                <a:ea typeface="黑体" panose="02010609060101010101" pitchFamily="49" charset="-122"/>
              </a:rPr>
              <a:t>CPU</a:t>
            </a:r>
          </a:p>
        </p:txBody>
      </p:sp>
      <p:grpSp>
        <p:nvGrpSpPr>
          <p:cNvPr id="7" name="Group 9">
            <a:extLst>
              <a:ext uri="{FF2B5EF4-FFF2-40B4-BE49-F238E27FC236}">
                <a16:creationId xmlns:a16="http://schemas.microsoft.com/office/drawing/2014/main" id="{420CE360-D53E-4798-AE72-5B9FAA502840}"/>
              </a:ext>
            </a:extLst>
          </p:cNvPr>
          <p:cNvGrpSpPr>
            <a:grpSpLocks/>
          </p:cNvGrpSpPr>
          <p:nvPr/>
        </p:nvGrpSpPr>
        <p:grpSpPr bwMode="auto">
          <a:xfrm>
            <a:off x="6286178" y="2445593"/>
            <a:ext cx="1130300" cy="1119188"/>
            <a:chOff x="1296" y="2064"/>
            <a:chExt cx="768" cy="1344"/>
          </a:xfrm>
        </p:grpSpPr>
        <p:sp>
          <p:nvSpPr>
            <p:cNvPr id="8" name="AutoShape 10">
              <a:extLst>
                <a:ext uri="{FF2B5EF4-FFF2-40B4-BE49-F238E27FC236}">
                  <a16:creationId xmlns:a16="http://schemas.microsoft.com/office/drawing/2014/main" id="{6880AB16-9BDC-4576-98B2-96809315EFA0}"/>
                </a:ext>
              </a:extLst>
            </p:cNvPr>
            <p:cNvSpPr>
              <a:spLocks noChangeArrowheads="1"/>
            </p:cNvSpPr>
            <p:nvPr/>
          </p:nvSpPr>
          <p:spPr bwMode="auto">
            <a:xfrm>
              <a:off x="1296"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9" name="AutoShape 11">
              <a:extLst>
                <a:ext uri="{FF2B5EF4-FFF2-40B4-BE49-F238E27FC236}">
                  <a16:creationId xmlns:a16="http://schemas.microsoft.com/office/drawing/2014/main" id="{E760755C-9D11-4024-B960-7661E50E19DE}"/>
                </a:ext>
              </a:extLst>
            </p:cNvPr>
            <p:cNvSpPr>
              <a:spLocks noChangeArrowheads="1"/>
            </p:cNvSpPr>
            <p:nvPr/>
          </p:nvSpPr>
          <p:spPr bwMode="auto">
            <a:xfrm>
              <a:off x="1872"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 name="AutoShape 12">
              <a:extLst>
                <a:ext uri="{FF2B5EF4-FFF2-40B4-BE49-F238E27FC236}">
                  <a16:creationId xmlns:a16="http://schemas.microsoft.com/office/drawing/2014/main" id="{712F9866-EB99-4ACE-BE9F-637FF7F33C3E}"/>
                </a:ext>
              </a:extLst>
            </p:cNvPr>
            <p:cNvSpPr>
              <a:spLocks noChangeArrowheads="1"/>
            </p:cNvSpPr>
            <p:nvPr/>
          </p:nvSpPr>
          <p:spPr bwMode="auto">
            <a:xfrm>
              <a:off x="1584"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1" name="AutoShape 13">
            <a:extLst>
              <a:ext uri="{FF2B5EF4-FFF2-40B4-BE49-F238E27FC236}">
                <a16:creationId xmlns:a16="http://schemas.microsoft.com/office/drawing/2014/main" id="{94DBEDB4-339C-4E7C-BB0C-990D849169D3}"/>
              </a:ext>
            </a:extLst>
          </p:cNvPr>
          <p:cNvSpPr>
            <a:spLocks noChangeArrowheads="1"/>
          </p:cNvSpPr>
          <p:nvPr/>
        </p:nvSpPr>
        <p:spPr bwMode="auto">
          <a:xfrm rot="5400000">
            <a:off x="7221216" y="1662956"/>
            <a:ext cx="666750" cy="279400"/>
          </a:xfrm>
          <a:custGeom>
            <a:avLst/>
            <a:gdLst>
              <a:gd name="T0" fmla="*/ 0 w 21600"/>
              <a:gd name="T1" fmla="*/ 0 h 21600"/>
              <a:gd name="T2" fmla="*/ 5400 w 21600"/>
              <a:gd name="T3" fmla="*/ 21600 h 21600"/>
              <a:gd name="T4" fmla="*/ 16200 w 21600"/>
              <a:gd name="T5" fmla="*/ 21600 h 21600"/>
              <a:gd name="T6" fmla="*/ 21600 w 21600"/>
              <a:gd name="T7" fmla="*/ 0 h 21600"/>
            </a:gdLst>
            <a:ahLst/>
            <a:cxnLst>
              <a:cxn ang="0">
                <a:pos x="T0" y="T1"/>
              </a:cxn>
              <a:cxn ang="0">
                <a:pos x="T2" y="T3"/>
              </a:cxn>
              <a:cxn ang="0">
                <a:pos x="T4" y="T5"/>
              </a:cxn>
              <a:cxn ang="0">
                <a:pos x="T6" y="T7"/>
              </a:cxn>
            </a:cxnLst>
            <a:rect l="0" t="0" r="r" b="b"/>
            <a:pathLst>
              <a:path w="21600" h="21600">
                <a:moveTo>
                  <a:pt x="0" y="0"/>
                </a:moveTo>
                <a:lnTo>
                  <a:pt x="5400" y="21600"/>
                </a:lnTo>
                <a:lnTo>
                  <a:pt x="16200" y="21600"/>
                </a:lnTo>
                <a:lnTo>
                  <a:pt x="21600" y="0"/>
                </a:lnTo>
                <a:close/>
              </a:path>
            </a:pathLst>
          </a:custGeom>
          <a:solidFill>
            <a:srgbClr val="99CC00"/>
          </a:solidFill>
          <a:ln w="12700" cap="sq">
            <a:solidFill>
              <a:srgbClr val="333399"/>
            </a:solidFill>
            <a:miter lim="800000"/>
            <a:headEnd type="none" w="sm" len="sm"/>
            <a:tailEnd type="none" w="sm" len="sm"/>
          </a:ln>
        </p:spPr>
        <p:txBody>
          <a:bodyPr/>
          <a:lstStyle/>
          <a:p>
            <a:endParaRPr lang="zh-CN" altLang="en-US">
              <a:ea typeface="宋体" panose="02010600030101010101" pitchFamily="2" charset="-122"/>
            </a:endParaRPr>
          </a:p>
        </p:txBody>
      </p:sp>
      <p:sp>
        <p:nvSpPr>
          <p:cNvPr id="12" name="Rectangle 14">
            <a:extLst>
              <a:ext uri="{FF2B5EF4-FFF2-40B4-BE49-F238E27FC236}">
                <a16:creationId xmlns:a16="http://schemas.microsoft.com/office/drawing/2014/main" id="{CB5CF8D0-6DE4-4C65-8E87-19180DF19384}"/>
              </a:ext>
            </a:extLst>
          </p:cNvPr>
          <p:cNvSpPr>
            <a:spLocks noChangeArrowheads="1"/>
          </p:cNvSpPr>
          <p:nvPr/>
        </p:nvSpPr>
        <p:spPr bwMode="auto">
          <a:xfrm>
            <a:off x="7329166" y="2586881"/>
            <a:ext cx="1108075"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传感器</a:t>
            </a:r>
          </a:p>
          <a:p>
            <a:pPr algn="ctr" eaLnBrk="0" hangingPunct="0">
              <a:lnSpc>
                <a:spcPct val="85000"/>
              </a:lnSpc>
            </a:pPr>
            <a:r>
              <a:rPr lang="zh-CN" altLang="en-US" b="1">
                <a:solidFill>
                  <a:srgbClr val="000099"/>
                </a:solidFill>
                <a:ea typeface="黑体" panose="02010609060101010101" pitchFamily="49" charset="-122"/>
              </a:rPr>
              <a:t>硬件</a:t>
            </a:r>
          </a:p>
        </p:txBody>
      </p:sp>
      <p:sp>
        <p:nvSpPr>
          <p:cNvPr id="13" name="Oval 15">
            <a:extLst>
              <a:ext uri="{FF2B5EF4-FFF2-40B4-BE49-F238E27FC236}">
                <a16:creationId xmlns:a16="http://schemas.microsoft.com/office/drawing/2014/main" id="{C36892E8-B1EA-41D8-9AE9-252830126A65}"/>
              </a:ext>
            </a:extLst>
          </p:cNvPr>
          <p:cNvSpPr>
            <a:spLocks noChangeArrowheads="1"/>
          </p:cNvSpPr>
          <p:nvPr/>
        </p:nvSpPr>
        <p:spPr bwMode="auto">
          <a:xfrm>
            <a:off x="5157466" y="1469281"/>
            <a:ext cx="719137" cy="682625"/>
          </a:xfrm>
          <a:prstGeom prst="ellipse">
            <a:avLst/>
          </a:prstGeom>
          <a:solidFill>
            <a:srgbClr val="FFCCFF"/>
          </a:solidFill>
          <a:ln w="9525">
            <a:solidFill>
              <a:srgbClr val="333399"/>
            </a:solidFill>
            <a:round/>
            <a:headEnd/>
            <a:tailEnd/>
          </a:ln>
        </p:spPr>
        <p:txBody>
          <a:bodyPr wrap="none" anchor="ctr"/>
          <a:lstStyle/>
          <a:p>
            <a:pPr algn="ctr" eaLnBrk="0" hangingPunct="0"/>
            <a:r>
              <a:rPr lang="zh-CN" altLang="en-US" b="1">
                <a:solidFill>
                  <a:srgbClr val="000099"/>
                </a:solidFill>
                <a:ea typeface="黑体" panose="02010609060101010101" pitchFamily="49" charset="-122"/>
              </a:rPr>
              <a:t>电池</a:t>
            </a:r>
          </a:p>
        </p:txBody>
      </p:sp>
      <p:sp>
        <p:nvSpPr>
          <p:cNvPr id="14" name="Rectangle 16">
            <a:extLst>
              <a:ext uri="{FF2B5EF4-FFF2-40B4-BE49-F238E27FC236}">
                <a16:creationId xmlns:a16="http://schemas.microsoft.com/office/drawing/2014/main" id="{95D015D3-6694-4F5B-95DC-08ED6D9688DF}"/>
              </a:ext>
            </a:extLst>
          </p:cNvPr>
          <p:cNvSpPr>
            <a:spLocks noChangeArrowheads="1"/>
          </p:cNvSpPr>
          <p:nvPr/>
        </p:nvSpPr>
        <p:spPr bwMode="auto">
          <a:xfrm>
            <a:off x="7637141" y="1426418"/>
            <a:ext cx="11080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5000"/>
              </a:lnSpc>
            </a:pPr>
            <a:r>
              <a:rPr lang="zh-CN" altLang="en-US" b="1">
                <a:solidFill>
                  <a:srgbClr val="000099"/>
                </a:solidFill>
                <a:ea typeface="黑体" panose="02010609060101010101" pitchFamily="49" charset="-122"/>
              </a:rPr>
              <a:t>无线</a:t>
            </a:r>
          </a:p>
          <a:p>
            <a:pPr algn="ctr" eaLnBrk="0" hangingPunct="0">
              <a:lnSpc>
                <a:spcPct val="85000"/>
              </a:lnSpc>
            </a:pPr>
            <a:r>
              <a:rPr lang="zh-CN" altLang="en-US" b="1">
                <a:solidFill>
                  <a:srgbClr val="000099"/>
                </a:solidFill>
                <a:ea typeface="黑体" panose="02010609060101010101" pitchFamily="49" charset="-122"/>
              </a:rPr>
              <a:t>收发器</a:t>
            </a:r>
          </a:p>
        </p:txBody>
      </p:sp>
      <p:pic>
        <p:nvPicPr>
          <p:cNvPr id="15" name="Picture 17" descr="UCB-sensor-dots">
            <a:extLst>
              <a:ext uri="{FF2B5EF4-FFF2-40B4-BE49-F238E27FC236}">
                <a16:creationId xmlns:a16="http://schemas.microsoft.com/office/drawing/2014/main" id="{5F3E4BA5-D323-474B-9A82-8A96889671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50" t="11598" r="7932" b="12183"/>
          <a:stretch>
            <a:fillRect/>
          </a:stretch>
        </p:blipFill>
        <p:spPr bwMode="auto">
          <a:xfrm>
            <a:off x="323528" y="1275606"/>
            <a:ext cx="400367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21">
            <a:extLst>
              <a:ext uri="{FF2B5EF4-FFF2-40B4-BE49-F238E27FC236}">
                <a16:creationId xmlns:a16="http://schemas.microsoft.com/office/drawing/2014/main" id="{6FD452B6-FD09-4387-8662-AB21FB79C99F}"/>
              </a:ext>
            </a:extLst>
          </p:cNvPr>
          <p:cNvSpPr txBox="1">
            <a:spLocks noChangeArrowheads="1"/>
          </p:cNvSpPr>
          <p:nvPr/>
        </p:nvSpPr>
        <p:spPr bwMode="auto">
          <a:xfrm>
            <a:off x="1860228" y="3787031"/>
            <a:ext cx="9858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00"/>
                </a:solidFill>
                <a:ea typeface="黑体" panose="02010609060101010101" pitchFamily="49" charset="-122"/>
              </a:rPr>
              <a:t>(a) </a:t>
            </a:r>
            <a:r>
              <a:rPr lang="zh-CN" altLang="en-US" b="1">
                <a:solidFill>
                  <a:srgbClr val="000000"/>
                </a:solidFill>
                <a:ea typeface="黑体" panose="02010609060101010101" pitchFamily="49" charset="-122"/>
              </a:rPr>
              <a:t>形状</a:t>
            </a:r>
          </a:p>
        </p:txBody>
      </p:sp>
      <p:sp>
        <p:nvSpPr>
          <p:cNvPr id="17" name="Text Box 22">
            <a:extLst>
              <a:ext uri="{FF2B5EF4-FFF2-40B4-BE49-F238E27FC236}">
                <a16:creationId xmlns:a16="http://schemas.microsoft.com/office/drawing/2014/main" id="{ACC11D1C-315C-4FBF-9712-1E0AA8D8DD3C}"/>
              </a:ext>
            </a:extLst>
          </p:cNvPr>
          <p:cNvSpPr txBox="1"/>
          <p:nvPr/>
        </p:nvSpPr>
        <p:spPr>
          <a:xfrm>
            <a:off x="6294747" y="3794968"/>
            <a:ext cx="1281116" cy="461962"/>
          </a:xfrm>
          <a:prstGeom prst="rect">
            <a:avLst/>
          </a:prstGeom>
          <a:noFill/>
          <a:ln w="9525">
            <a:noFill/>
          </a:ln>
        </p:spPr>
        <p:txBody>
          <a:bodyPr wrap="none">
            <a:spAutoFit/>
            <a:scene3d>
              <a:camera prst="orthographicFront"/>
              <a:lightRig rig="threePt" dir="t"/>
            </a:scene3d>
          </a:bodyPr>
          <a:lstStyle/>
          <a:p>
            <a:pPr eaLnBrk="0" hangingPunct="0"/>
            <a:r>
              <a:rPr lang="en-US" altLang="zh-CN" b="1" noProof="1">
                <a:solidFill>
                  <a:srgbClr val="000000"/>
                </a:solidFill>
                <a:effectLst>
                  <a:outerShdw blurRad="38100" dist="25400" dir="5400000" algn="ctr" rotWithShape="0">
                    <a:srgbClr val="6E747A">
                      <a:alpha val="43000"/>
                    </a:srgbClr>
                  </a:outerShdw>
                </a:effectLst>
                <a:ea typeface="黑体" panose="02010609060101010101" pitchFamily="49" charset="-122"/>
              </a:rPr>
              <a:t>(b) </a:t>
            </a:r>
            <a:r>
              <a:rPr lang="zh-CN" altLang="en-US" b="1" noProof="1">
                <a:solidFill>
                  <a:srgbClr val="000000"/>
                </a:solidFill>
                <a:effectLst>
                  <a:outerShdw blurRad="38100" dist="25400" dir="5400000" algn="ctr" rotWithShape="0">
                    <a:srgbClr val="6E747A">
                      <a:alpha val="43000"/>
                    </a:srgbClr>
                  </a:outerShdw>
                </a:effectLst>
                <a:ea typeface="黑体" panose="02010609060101010101" pitchFamily="49" charset="-122"/>
              </a:rPr>
              <a:t>组成</a:t>
            </a:r>
          </a:p>
        </p:txBody>
      </p:sp>
    </p:spTree>
    <p:extLst>
      <p:ext uri="{BB962C8B-B14F-4D97-AF65-F5344CB8AC3E}">
        <p14:creationId xmlns:p14="http://schemas.microsoft.com/office/powerpoint/2010/main" val="11477237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无线传感器网络的体系结构</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
        <p:nvSpPr>
          <p:cNvPr id="4" name="Rectangle 3">
            <a:extLst>
              <a:ext uri="{FF2B5EF4-FFF2-40B4-BE49-F238E27FC236}">
                <a16:creationId xmlns:a16="http://schemas.microsoft.com/office/drawing/2014/main" id="{6F2FC555-6B07-43A4-80F5-D6829DFC3A74}"/>
              </a:ext>
            </a:extLst>
          </p:cNvPr>
          <p:cNvSpPr txBox="1">
            <a:spLocks noChangeArrowheads="1"/>
          </p:cNvSpPr>
          <p:nvPr/>
        </p:nvSpPr>
        <p:spPr>
          <a:xfrm>
            <a:off x="2862730" y="4711700"/>
            <a:ext cx="2358111" cy="431800"/>
          </a:xfrm>
          <a:prstGeom prst="rect">
            <a:avLst/>
          </a:prstGeom>
        </p:spPr>
        <p:txBody>
          <a:bodyPr/>
          <a:lstStyle>
            <a:lvl1pPr marL="342855" indent="-342855" algn="l" defTabSz="9142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54" indent="-285713" algn="l" defTabSz="9142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52" indent="-228570" algn="l" defTabSz="9142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9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3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7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1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56"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97"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30000"/>
              </a:lnSpc>
              <a:spcBef>
                <a:spcPts val="300"/>
              </a:spcBef>
              <a:spcAft>
                <a:spcPts val="300"/>
              </a:spcAft>
              <a:buNone/>
            </a:pPr>
            <a:r>
              <a:rPr lang="en-US" altLang="zh-CN" sz="20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WSN</a:t>
            </a:r>
            <a:r>
              <a:rPr lang="zh-CN" altLang="en-US" sz="20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的系统架构图</a:t>
            </a:r>
            <a:endParaRPr lang="en-US" altLang="zh-CN" sz="20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Oval 6">
            <a:extLst>
              <a:ext uri="{FF2B5EF4-FFF2-40B4-BE49-F238E27FC236}">
                <a16:creationId xmlns:a16="http://schemas.microsoft.com/office/drawing/2014/main" id="{2A3AF9D7-5072-4997-80BC-5F3D6C4DD2C5}"/>
              </a:ext>
            </a:extLst>
          </p:cNvPr>
          <p:cNvSpPr>
            <a:spLocks noChangeArrowheads="1"/>
          </p:cNvSpPr>
          <p:nvPr/>
        </p:nvSpPr>
        <p:spPr bwMode="auto">
          <a:xfrm>
            <a:off x="1080804" y="1436492"/>
            <a:ext cx="2088529" cy="1008062"/>
          </a:xfrm>
          <a:prstGeom prst="ellipse">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pPr algn="ctr">
              <a:lnSpc>
                <a:spcPct val="150000"/>
              </a:lnSpc>
            </a:pPr>
            <a:r>
              <a:rPr kumimoji="1" lang="zh-CN" altLang="en-US" sz="1600" dirty="0">
                <a:solidFill>
                  <a:schemeClr val="bg1"/>
                </a:solidFill>
                <a:latin typeface="微软雅黑" panose="020B0503020204020204" pitchFamily="34" charset="-122"/>
                <a:ea typeface="微软雅黑" panose="020B0503020204020204" pitchFamily="34" charset="-122"/>
              </a:rPr>
              <a:t>互联网、卫星</a:t>
            </a:r>
          </a:p>
          <a:p>
            <a:pPr algn="ctr">
              <a:lnSpc>
                <a:spcPct val="150000"/>
              </a:lnSpc>
            </a:pPr>
            <a:r>
              <a:rPr kumimoji="1" lang="zh-CN" altLang="en-US" sz="1600" dirty="0">
                <a:solidFill>
                  <a:schemeClr val="bg1"/>
                </a:solidFill>
                <a:latin typeface="微软雅黑" panose="020B0503020204020204" pitchFamily="34" charset="-122"/>
                <a:ea typeface="微软雅黑" panose="020B0503020204020204" pitchFamily="34" charset="-122"/>
              </a:rPr>
              <a:t>移动通讯网络</a:t>
            </a:r>
          </a:p>
        </p:txBody>
      </p:sp>
      <p:sp>
        <p:nvSpPr>
          <p:cNvPr id="6" name="Rectangle 7">
            <a:extLst>
              <a:ext uri="{FF2B5EF4-FFF2-40B4-BE49-F238E27FC236}">
                <a16:creationId xmlns:a16="http://schemas.microsoft.com/office/drawing/2014/main" id="{B4BB93CB-1E94-40D3-911A-47E4211B4E3E}"/>
              </a:ext>
            </a:extLst>
          </p:cNvPr>
          <p:cNvSpPr>
            <a:spLocks noChangeArrowheads="1"/>
          </p:cNvSpPr>
          <p:nvPr/>
        </p:nvSpPr>
        <p:spPr bwMode="auto">
          <a:xfrm>
            <a:off x="3851920" y="1266457"/>
            <a:ext cx="1152525" cy="358775"/>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162000" tIns="190800" rIns="162000" bIns="190800" anchor="ctr"/>
          <a:lstStyle/>
          <a:p>
            <a:pPr algn="ctr"/>
            <a:r>
              <a:rPr kumimoji="1" lang="zh-CN" altLang="en-US" sz="1600" dirty="0">
                <a:latin typeface="微软雅黑" panose="020B0503020204020204" pitchFamily="34" charset="-122"/>
                <a:ea typeface="微软雅黑" panose="020B0503020204020204" pitchFamily="34" charset="-122"/>
              </a:rPr>
              <a:t>汇聚节点</a:t>
            </a:r>
          </a:p>
        </p:txBody>
      </p:sp>
      <p:sp>
        <p:nvSpPr>
          <p:cNvPr id="7" name="Rectangle 9">
            <a:extLst>
              <a:ext uri="{FF2B5EF4-FFF2-40B4-BE49-F238E27FC236}">
                <a16:creationId xmlns:a16="http://schemas.microsoft.com/office/drawing/2014/main" id="{3F37302B-94C0-4C00-A08B-B7A7CE822A7A}"/>
              </a:ext>
            </a:extLst>
          </p:cNvPr>
          <p:cNvSpPr>
            <a:spLocks noChangeArrowheads="1"/>
          </p:cNvSpPr>
          <p:nvPr/>
        </p:nvSpPr>
        <p:spPr bwMode="auto">
          <a:xfrm>
            <a:off x="1607996" y="3660599"/>
            <a:ext cx="1152525" cy="358775"/>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162000" tIns="190800" rIns="162000" bIns="190800" anchor="ctr"/>
          <a:lstStyle/>
          <a:p>
            <a:pPr algn="ctr"/>
            <a:r>
              <a:rPr kumimoji="1" lang="zh-CN" altLang="en-US" sz="1600" dirty="0">
                <a:latin typeface="微软雅黑" panose="020B0503020204020204" pitchFamily="34" charset="-122"/>
                <a:ea typeface="微软雅黑" panose="020B0503020204020204" pitchFamily="34" charset="-122"/>
              </a:rPr>
              <a:t>管理节点</a:t>
            </a:r>
          </a:p>
        </p:txBody>
      </p:sp>
      <p:sp>
        <p:nvSpPr>
          <p:cNvPr id="8" name="Rectangle 11">
            <a:extLst>
              <a:ext uri="{FF2B5EF4-FFF2-40B4-BE49-F238E27FC236}">
                <a16:creationId xmlns:a16="http://schemas.microsoft.com/office/drawing/2014/main" id="{C3951459-2807-463D-BF9F-6193265B3C63}"/>
              </a:ext>
            </a:extLst>
          </p:cNvPr>
          <p:cNvSpPr>
            <a:spLocks noChangeArrowheads="1"/>
          </p:cNvSpPr>
          <p:nvPr/>
        </p:nvSpPr>
        <p:spPr bwMode="auto">
          <a:xfrm>
            <a:off x="5677985" y="4680154"/>
            <a:ext cx="1368425" cy="360362"/>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162000" tIns="190800" rIns="162000" bIns="190800" anchor="ctr"/>
          <a:lstStyle/>
          <a:p>
            <a:pPr algn="ctr"/>
            <a:r>
              <a:rPr kumimoji="1" lang="zh-CN" altLang="en-US" sz="1600">
                <a:latin typeface="微软雅黑" panose="020B0503020204020204" pitchFamily="34" charset="-122"/>
                <a:ea typeface="微软雅黑" panose="020B0503020204020204" pitchFamily="34" charset="-122"/>
              </a:rPr>
              <a:t>传感器节点</a:t>
            </a:r>
          </a:p>
        </p:txBody>
      </p:sp>
      <p:sp>
        <p:nvSpPr>
          <p:cNvPr id="9" name="Rectangle 12">
            <a:extLst>
              <a:ext uri="{FF2B5EF4-FFF2-40B4-BE49-F238E27FC236}">
                <a16:creationId xmlns:a16="http://schemas.microsoft.com/office/drawing/2014/main" id="{ED6B1F4E-FD76-4D35-BCCD-C53712CD22F2}"/>
              </a:ext>
            </a:extLst>
          </p:cNvPr>
          <p:cNvSpPr>
            <a:spLocks noChangeArrowheads="1"/>
          </p:cNvSpPr>
          <p:nvPr/>
        </p:nvSpPr>
        <p:spPr bwMode="auto">
          <a:xfrm>
            <a:off x="1582355" y="4099907"/>
            <a:ext cx="1152525" cy="358775"/>
          </a:xfrm>
          <a:prstGeom prst="rect">
            <a:avLst/>
          </a:prstGeom>
          <a:noFill/>
          <a:ln>
            <a:noFill/>
          </a:ln>
          <a:effectLst/>
          <a:extLst>
            <a:ext uri="{909E8E84-426E-40DD-AFC4-6F175D3DCCD1}">
              <a14:hiddenFill xmlns:a14="http://schemas.microsoft.com/office/drawing/2010/main">
                <a:solidFill>
                  <a:srgbClr val="FFFF99">
                    <a:alpha val="53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62000" tIns="190800" rIns="162000" bIns="190800" anchor="ctr"/>
          <a:lstStyle/>
          <a:p>
            <a:pPr algn="ctr">
              <a:lnSpc>
                <a:spcPct val="50000"/>
              </a:lnSpc>
            </a:pPr>
            <a:r>
              <a:rPr kumimoji="1" lang="zh-CN" altLang="en-US" sz="1600" b="1" dirty="0">
                <a:solidFill>
                  <a:srgbClr val="2FA2A4"/>
                </a:solidFill>
                <a:latin typeface="华文楷体" panose="02010600040101010101" pitchFamily="2" charset="-122"/>
                <a:ea typeface="华文楷体" panose="02010600040101010101" pitchFamily="2" charset="-122"/>
              </a:rPr>
              <a:t>用户</a:t>
            </a:r>
          </a:p>
        </p:txBody>
      </p:sp>
      <p:sp>
        <p:nvSpPr>
          <p:cNvPr id="10" name="Oval 13">
            <a:extLst>
              <a:ext uri="{FF2B5EF4-FFF2-40B4-BE49-F238E27FC236}">
                <a16:creationId xmlns:a16="http://schemas.microsoft.com/office/drawing/2014/main" id="{D1684B50-803C-4E42-B482-DCDB6F2B826F}"/>
              </a:ext>
            </a:extLst>
          </p:cNvPr>
          <p:cNvSpPr>
            <a:spLocks noChangeArrowheads="1"/>
          </p:cNvSpPr>
          <p:nvPr/>
        </p:nvSpPr>
        <p:spPr bwMode="auto">
          <a:xfrm>
            <a:off x="6578098" y="2594179"/>
            <a:ext cx="144463" cy="144462"/>
          </a:xfrm>
          <a:prstGeom prst="ellipse">
            <a:avLst/>
          </a:prstGeom>
          <a:solidFill>
            <a:srgbClr val="333333"/>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1" name="Rectangle 14">
            <a:extLst>
              <a:ext uri="{FF2B5EF4-FFF2-40B4-BE49-F238E27FC236}">
                <a16:creationId xmlns:a16="http://schemas.microsoft.com/office/drawing/2014/main" id="{E3DA3325-59F6-42BD-8EE5-6BD825D218EA}"/>
              </a:ext>
            </a:extLst>
          </p:cNvPr>
          <p:cNvSpPr>
            <a:spLocks noChangeArrowheads="1"/>
          </p:cNvSpPr>
          <p:nvPr/>
        </p:nvSpPr>
        <p:spPr bwMode="auto">
          <a:xfrm>
            <a:off x="3622531" y="4099907"/>
            <a:ext cx="1152525" cy="358775"/>
          </a:xfrm>
          <a:prstGeom prst="rect">
            <a:avLst/>
          </a:prstGeom>
          <a:noFill/>
          <a:ln>
            <a:noFill/>
          </a:ln>
          <a:effectLst/>
          <a:extLst>
            <a:ext uri="{909E8E84-426E-40DD-AFC4-6F175D3DCCD1}">
              <a14:hiddenFill xmlns:a14="http://schemas.microsoft.com/office/drawing/2010/main">
                <a:solidFill>
                  <a:srgbClr val="FFFF99">
                    <a:alpha val="53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62000" tIns="190800" rIns="162000" bIns="190800" anchor="ctr"/>
          <a:lstStyle/>
          <a:p>
            <a:pPr>
              <a:lnSpc>
                <a:spcPct val="50000"/>
              </a:lnSpc>
            </a:pPr>
            <a:r>
              <a:rPr kumimoji="1" lang="zh-CN" altLang="en-US" sz="1600" dirty="0">
                <a:solidFill>
                  <a:srgbClr val="008F92"/>
                </a:solidFill>
                <a:latin typeface="华文楷体" panose="02010600040101010101" pitchFamily="2" charset="-122"/>
                <a:ea typeface="华文楷体" panose="02010600040101010101" pitchFamily="2" charset="-122"/>
              </a:rPr>
              <a:t>待测区域</a:t>
            </a:r>
          </a:p>
        </p:txBody>
      </p:sp>
      <p:sp>
        <p:nvSpPr>
          <p:cNvPr id="12" name="Oval 15">
            <a:extLst>
              <a:ext uri="{FF2B5EF4-FFF2-40B4-BE49-F238E27FC236}">
                <a16:creationId xmlns:a16="http://schemas.microsoft.com/office/drawing/2014/main" id="{A4565223-319C-49DB-A752-A948E37EC579}"/>
              </a:ext>
            </a:extLst>
          </p:cNvPr>
          <p:cNvSpPr>
            <a:spLocks noChangeArrowheads="1"/>
          </p:cNvSpPr>
          <p:nvPr/>
        </p:nvSpPr>
        <p:spPr bwMode="auto">
          <a:xfrm>
            <a:off x="5785936" y="2738641"/>
            <a:ext cx="144462" cy="144463"/>
          </a:xfrm>
          <a:prstGeom prst="ellipse">
            <a:avLst/>
          </a:prstGeom>
          <a:solidFill>
            <a:srgbClr val="333333"/>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3" name="Oval 16">
            <a:extLst>
              <a:ext uri="{FF2B5EF4-FFF2-40B4-BE49-F238E27FC236}">
                <a16:creationId xmlns:a16="http://schemas.microsoft.com/office/drawing/2014/main" id="{5FAC09D1-219A-4B59-9717-80F08BFC0834}"/>
              </a:ext>
            </a:extLst>
          </p:cNvPr>
          <p:cNvSpPr>
            <a:spLocks noChangeArrowheads="1"/>
          </p:cNvSpPr>
          <p:nvPr/>
        </p:nvSpPr>
        <p:spPr bwMode="auto">
          <a:xfrm>
            <a:off x="7298823" y="3099004"/>
            <a:ext cx="144463" cy="144462"/>
          </a:xfrm>
          <a:prstGeom prst="ellipse">
            <a:avLst/>
          </a:prstGeom>
          <a:solidFill>
            <a:srgbClr val="333333"/>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4" name="Oval 17">
            <a:extLst>
              <a:ext uri="{FF2B5EF4-FFF2-40B4-BE49-F238E27FC236}">
                <a16:creationId xmlns:a16="http://schemas.microsoft.com/office/drawing/2014/main" id="{53593B52-C9E9-4DA6-9D7F-6340244FF4EC}"/>
              </a:ext>
            </a:extLst>
          </p:cNvPr>
          <p:cNvSpPr>
            <a:spLocks noChangeArrowheads="1"/>
          </p:cNvSpPr>
          <p:nvPr/>
        </p:nvSpPr>
        <p:spPr bwMode="auto">
          <a:xfrm>
            <a:off x="5570036" y="3459366"/>
            <a:ext cx="144462" cy="144463"/>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 name="Oval 18">
            <a:extLst>
              <a:ext uri="{FF2B5EF4-FFF2-40B4-BE49-F238E27FC236}">
                <a16:creationId xmlns:a16="http://schemas.microsoft.com/office/drawing/2014/main" id="{7BAFBA51-EA68-40E3-9A34-67EE46756D34}"/>
              </a:ext>
            </a:extLst>
          </p:cNvPr>
          <p:cNvSpPr>
            <a:spLocks noChangeArrowheads="1"/>
          </p:cNvSpPr>
          <p:nvPr/>
        </p:nvSpPr>
        <p:spPr bwMode="auto">
          <a:xfrm>
            <a:off x="6506661" y="4034041"/>
            <a:ext cx="144462" cy="144463"/>
          </a:xfrm>
          <a:prstGeom prst="ellipse">
            <a:avLst/>
          </a:prstGeom>
          <a:solidFill>
            <a:srgbClr val="333333"/>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6" name="Oval 19">
            <a:extLst>
              <a:ext uri="{FF2B5EF4-FFF2-40B4-BE49-F238E27FC236}">
                <a16:creationId xmlns:a16="http://schemas.microsoft.com/office/drawing/2014/main" id="{D7851D1F-2950-4E46-91F6-B225B060DCC7}"/>
              </a:ext>
            </a:extLst>
          </p:cNvPr>
          <p:cNvSpPr>
            <a:spLocks noChangeArrowheads="1"/>
          </p:cNvSpPr>
          <p:nvPr/>
        </p:nvSpPr>
        <p:spPr bwMode="auto">
          <a:xfrm>
            <a:off x="5930398" y="4034041"/>
            <a:ext cx="144463" cy="144463"/>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7" name="Oval 20">
            <a:extLst>
              <a:ext uri="{FF2B5EF4-FFF2-40B4-BE49-F238E27FC236}">
                <a16:creationId xmlns:a16="http://schemas.microsoft.com/office/drawing/2014/main" id="{B5014296-F3B7-41A8-B55C-3993F109A682}"/>
              </a:ext>
            </a:extLst>
          </p:cNvPr>
          <p:cNvSpPr>
            <a:spLocks noChangeArrowheads="1"/>
          </p:cNvSpPr>
          <p:nvPr/>
        </p:nvSpPr>
        <p:spPr bwMode="auto">
          <a:xfrm>
            <a:off x="6217736" y="3170441"/>
            <a:ext cx="144462" cy="144463"/>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8" name="Oval 21">
            <a:extLst>
              <a:ext uri="{FF2B5EF4-FFF2-40B4-BE49-F238E27FC236}">
                <a16:creationId xmlns:a16="http://schemas.microsoft.com/office/drawing/2014/main" id="{184778E1-9D7F-461D-AED4-60CA961BE24F}"/>
              </a:ext>
            </a:extLst>
          </p:cNvPr>
          <p:cNvSpPr>
            <a:spLocks noChangeArrowheads="1"/>
          </p:cNvSpPr>
          <p:nvPr/>
        </p:nvSpPr>
        <p:spPr bwMode="auto">
          <a:xfrm>
            <a:off x="6362198" y="1875041"/>
            <a:ext cx="144463" cy="144463"/>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20" name="Oval 22">
            <a:extLst>
              <a:ext uri="{FF2B5EF4-FFF2-40B4-BE49-F238E27FC236}">
                <a16:creationId xmlns:a16="http://schemas.microsoft.com/office/drawing/2014/main" id="{DD51070C-B3C4-4876-89D6-B92F761AB0C0}"/>
              </a:ext>
            </a:extLst>
          </p:cNvPr>
          <p:cNvSpPr>
            <a:spLocks noChangeArrowheads="1"/>
          </p:cNvSpPr>
          <p:nvPr/>
        </p:nvSpPr>
        <p:spPr bwMode="auto">
          <a:xfrm>
            <a:off x="7298823" y="1370216"/>
            <a:ext cx="144463" cy="144463"/>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21" name="Oval 23">
            <a:extLst>
              <a:ext uri="{FF2B5EF4-FFF2-40B4-BE49-F238E27FC236}">
                <a16:creationId xmlns:a16="http://schemas.microsoft.com/office/drawing/2014/main" id="{189D027A-8CF5-4B2B-A51A-796E9975A904}"/>
              </a:ext>
            </a:extLst>
          </p:cNvPr>
          <p:cNvSpPr>
            <a:spLocks noChangeArrowheads="1"/>
          </p:cNvSpPr>
          <p:nvPr/>
        </p:nvSpPr>
        <p:spPr bwMode="auto">
          <a:xfrm>
            <a:off x="7586161" y="2162379"/>
            <a:ext cx="144462" cy="144462"/>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22" name="Line 24">
            <a:extLst>
              <a:ext uri="{FF2B5EF4-FFF2-40B4-BE49-F238E27FC236}">
                <a16:creationId xmlns:a16="http://schemas.microsoft.com/office/drawing/2014/main" id="{4E38D34B-D7F4-4E30-A8DA-5BB786A1047C}"/>
              </a:ext>
            </a:extLst>
          </p:cNvPr>
          <p:cNvSpPr>
            <a:spLocks noChangeShapeType="1"/>
          </p:cNvSpPr>
          <p:nvPr/>
        </p:nvSpPr>
        <p:spPr bwMode="auto">
          <a:xfrm flipH="1" flipV="1">
            <a:off x="6001836" y="4211189"/>
            <a:ext cx="215900" cy="38935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23" name="Line 25">
            <a:extLst>
              <a:ext uri="{FF2B5EF4-FFF2-40B4-BE49-F238E27FC236}">
                <a16:creationId xmlns:a16="http://schemas.microsoft.com/office/drawing/2014/main" id="{481B57AD-C108-4DC8-B791-B965767AF0B7}"/>
              </a:ext>
            </a:extLst>
          </p:cNvPr>
          <p:cNvSpPr>
            <a:spLocks noChangeShapeType="1"/>
          </p:cNvSpPr>
          <p:nvPr/>
        </p:nvSpPr>
        <p:spPr bwMode="auto">
          <a:xfrm flipV="1">
            <a:off x="6397918" y="4234976"/>
            <a:ext cx="144462" cy="36557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24" name="Line 26">
            <a:extLst>
              <a:ext uri="{FF2B5EF4-FFF2-40B4-BE49-F238E27FC236}">
                <a16:creationId xmlns:a16="http://schemas.microsoft.com/office/drawing/2014/main" id="{208815E5-D532-49F9-B0AF-A7C2B51F426F}"/>
              </a:ext>
            </a:extLst>
          </p:cNvPr>
          <p:cNvSpPr>
            <a:spLocks noChangeShapeType="1"/>
          </p:cNvSpPr>
          <p:nvPr/>
        </p:nvSpPr>
        <p:spPr bwMode="auto">
          <a:xfrm flipV="1">
            <a:off x="4716016" y="3991957"/>
            <a:ext cx="50482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25" name="Line 27">
            <a:extLst>
              <a:ext uri="{FF2B5EF4-FFF2-40B4-BE49-F238E27FC236}">
                <a16:creationId xmlns:a16="http://schemas.microsoft.com/office/drawing/2014/main" id="{FF1AD082-7D0F-421E-A8E6-6BE0389FB123}"/>
              </a:ext>
            </a:extLst>
          </p:cNvPr>
          <p:cNvSpPr>
            <a:spLocks noChangeShapeType="1"/>
          </p:cNvSpPr>
          <p:nvPr/>
        </p:nvSpPr>
        <p:spPr bwMode="auto">
          <a:xfrm>
            <a:off x="2339604" y="2467963"/>
            <a:ext cx="215900" cy="576262"/>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26" name="Line 28">
            <a:extLst>
              <a:ext uri="{FF2B5EF4-FFF2-40B4-BE49-F238E27FC236}">
                <a16:creationId xmlns:a16="http://schemas.microsoft.com/office/drawing/2014/main" id="{DFE48959-3A61-43D0-80C8-8CDB0BCCA33E}"/>
              </a:ext>
            </a:extLst>
          </p:cNvPr>
          <p:cNvSpPr>
            <a:spLocks noChangeShapeType="1"/>
          </p:cNvSpPr>
          <p:nvPr/>
        </p:nvSpPr>
        <p:spPr bwMode="auto">
          <a:xfrm flipV="1">
            <a:off x="3205845" y="1843513"/>
            <a:ext cx="863600" cy="14287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27" name="Line 29">
            <a:extLst>
              <a:ext uri="{FF2B5EF4-FFF2-40B4-BE49-F238E27FC236}">
                <a16:creationId xmlns:a16="http://schemas.microsoft.com/office/drawing/2014/main" id="{B49F2610-C20C-423B-B8D6-C6C946F6C5C2}"/>
              </a:ext>
            </a:extLst>
          </p:cNvPr>
          <p:cNvSpPr>
            <a:spLocks noChangeShapeType="1"/>
          </p:cNvSpPr>
          <p:nvPr/>
        </p:nvSpPr>
        <p:spPr bwMode="auto">
          <a:xfrm>
            <a:off x="4544321" y="1829624"/>
            <a:ext cx="1152525" cy="649288"/>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28" name="Line 30">
            <a:extLst>
              <a:ext uri="{FF2B5EF4-FFF2-40B4-BE49-F238E27FC236}">
                <a16:creationId xmlns:a16="http://schemas.microsoft.com/office/drawing/2014/main" id="{01EE466D-124B-4B53-B8FB-8EB342E176AB}"/>
              </a:ext>
            </a:extLst>
          </p:cNvPr>
          <p:cNvSpPr>
            <a:spLocks noChangeShapeType="1"/>
          </p:cNvSpPr>
          <p:nvPr/>
        </p:nvSpPr>
        <p:spPr bwMode="auto">
          <a:xfrm flipV="1">
            <a:off x="6722561" y="3314904"/>
            <a:ext cx="576262" cy="6477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29" name="Line 31">
            <a:extLst>
              <a:ext uri="{FF2B5EF4-FFF2-40B4-BE49-F238E27FC236}">
                <a16:creationId xmlns:a16="http://schemas.microsoft.com/office/drawing/2014/main" id="{12656CEE-40E2-4859-86FC-B0F56D87482A}"/>
              </a:ext>
            </a:extLst>
          </p:cNvPr>
          <p:cNvSpPr>
            <a:spLocks noChangeShapeType="1"/>
          </p:cNvSpPr>
          <p:nvPr/>
        </p:nvSpPr>
        <p:spPr bwMode="auto">
          <a:xfrm flipV="1">
            <a:off x="6074861" y="2667204"/>
            <a:ext cx="431800" cy="14287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30" name="Line 32">
            <a:extLst>
              <a:ext uri="{FF2B5EF4-FFF2-40B4-BE49-F238E27FC236}">
                <a16:creationId xmlns:a16="http://schemas.microsoft.com/office/drawing/2014/main" id="{8F96E685-DD2F-4B8D-8728-737582EC7CE9}"/>
              </a:ext>
            </a:extLst>
          </p:cNvPr>
          <p:cNvSpPr>
            <a:spLocks noChangeShapeType="1"/>
          </p:cNvSpPr>
          <p:nvPr/>
        </p:nvSpPr>
        <p:spPr bwMode="auto">
          <a:xfrm>
            <a:off x="6793998" y="2665616"/>
            <a:ext cx="431800" cy="360363"/>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31" name="Oval 33">
            <a:extLst>
              <a:ext uri="{FF2B5EF4-FFF2-40B4-BE49-F238E27FC236}">
                <a16:creationId xmlns:a16="http://schemas.microsoft.com/office/drawing/2014/main" id="{18361B21-9CF9-4DCE-8D90-F8F909C8D938}"/>
              </a:ext>
            </a:extLst>
          </p:cNvPr>
          <p:cNvSpPr>
            <a:spLocks noChangeArrowheads="1"/>
          </p:cNvSpPr>
          <p:nvPr/>
        </p:nvSpPr>
        <p:spPr bwMode="auto">
          <a:xfrm>
            <a:off x="7441698" y="2738641"/>
            <a:ext cx="144463" cy="144463"/>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32" name="Oval 34">
            <a:extLst>
              <a:ext uri="{FF2B5EF4-FFF2-40B4-BE49-F238E27FC236}">
                <a16:creationId xmlns:a16="http://schemas.microsoft.com/office/drawing/2014/main" id="{2DE484A9-7FBB-41B0-BDAF-7AB014F6A031}"/>
              </a:ext>
            </a:extLst>
          </p:cNvPr>
          <p:cNvSpPr>
            <a:spLocks noChangeArrowheads="1"/>
          </p:cNvSpPr>
          <p:nvPr/>
        </p:nvSpPr>
        <p:spPr bwMode="auto">
          <a:xfrm>
            <a:off x="7009898" y="2017916"/>
            <a:ext cx="144463" cy="144463"/>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33" name="Oval 35">
            <a:extLst>
              <a:ext uri="{FF2B5EF4-FFF2-40B4-BE49-F238E27FC236}">
                <a16:creationId xmlns:a16="http://schemas.microsoft.com/office/drawing/2014/main" id="{E4EB6B4E-C65E-446D-8526-ADA15983F3B3}"/>
              </a:ext>
            </a:extLst>
          </p:cNvPr>
          <p:cNvSpPr>
            <a:spLocks noChangeArrowheads="1"/>
          </p:cNvSpPr>
          <p:nvPr/>
        </p:nvSpPr>
        <p:spPr bwMode="auto">
          <a:xfrm>
            <a:off x="7082923" y="3746704"/>
            <a:ext cx="144463" cy="144462"/>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34" name="AutoShape 36">
            <a:extLst>
              <a:ext uri="{FF2B5EF4-FFF2-40B4-BE49-F238E27FC236}">
                <a16:creationId xmlns:a16="http://schemas.microsoft.com/office/drawing/2014/main" id="{7A606A97-A89A-4C05-927C-403C94341551}"/>
              </a:ext>
            </a:extLst>
          </p:cNvPr>
          <p:cNvSpPr>
            <a:spLocks noChangeArrowheads="1"/>
          </p:cNvSpPr>
          <p:nvPr/>
        </p:nvSpPr>
        <p:spPr bwMode="auto">
          <a:xfrm>
            <a:off x="4124404" y="1699051"/>
            <a:ext cx="358775" cy="287337"/>
          </a:xfrm>
          <a:prstGeom prst="can">
            <a:avLst>
              <a:gd name="adj" fmla="val 25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pic>
        <p:nvPicPr>
          <p:cNvPr id="35" name="Picture 39">
            <a:extLst>
              <a:ext uri="{FF2B5EF4-FFF2-40B4-BE49-F238E27FC236}">
                <a16:creationId xmlns:a16="http://schemas.microsoft.com/office/drawing/2014/main" id="{892A7904-2F28-4A24-9E44-059B34E367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4685" y="3090835"/>
            <a:ext cx="401637"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 name="Line 41">
            <a:extLst>
              <a:ext uri="{FF2B5EF4-FFF2-40B4-BE49-F238E27FC236}">
                <a16:creationId xmlns:a16="http://schemas.microsoft.com/office/drawing/2014/main" id="{8E24DA2A-6BD9-41EC-8BE6-8CE4DB4FA2C9}"/>
              </a:ext>
            </a:extLst>
          </p:cNvPr>
          <p:cNvSpPr>
            <a:spLocks noChangeShapeType="1"/>
          </p:cNvSpPr>
          <p:nvPr/>
        </p:nvSpPr>
        <p:spPr bwMode="auto">
          <a:xfrm flipH="1">
            <a:off x="1690188" y="2467963"/>
            <a:ext cx="288925" cy="50482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853727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359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传感器网络节点的</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个主要的组成部分：</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数据采集模块</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传感器、</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A/D</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转换器</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数据处理</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控制模块</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微处理器、存储器</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无线通信模块</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无线收发器</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能量供应模块</a:t>
            </a:r>
            <a:r>
              <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电池</a:t>
            </a:r>
            <a:r>
              <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组成。可以选择的其他功能单元包括：定位模块、移动模块以及电源自供电模块等</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Tree>
    <p:extLst>
      <p:ext uri="{BB962C8B-B14F-4D97-AF65-F5344CB8AC3E}">
        <p14:creationId xmlns:p14="http://schemas.microsoft.com/office/powerpoint/2010/main" val="173212958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40660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无线传感器的节点结构</a:t>
            </a:r>
            <a:endPar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grpSp>
        <p:nvGrpSpPr>
          <p:cNvPr id="4" name="Group 10">
            <a:extLst>
              <a:ext uri="{FF2B5EF4-FFF2-40B4-BE49-F238E27FC236}">
                <a16:creationId xmlns:a16="http://schemas.microsoft.com/office/drawing/2014/main" id="{3CCAD096-988A-44CD-B7A3-31DC06846C87}"/>
              </a:ext>
            </a:extLst>
          </p:cNvPr>
          <p:cNvGrpSpPr>
            <a:grpSpLocks/>
          </p:cNvGrpSpPr>
          <p:nvPr/>
        </p:nvGrpSpPr>
        <p:grpSpPr bwMode="auto">
          <a:xfrm>
            <a:off x="831244" y="2371595"/>
            <a:ext cx="2017712" cy="1152525"/>
            <a:chOff x="793" y="1661"/>
            <a:chExt cx="1271" cy="726"/>
          </a:xfrm>
        </p:grpSpPr>
        <p:sp>
          <p:nvSpPr>
            <p:cNvPr id="5" name="Rectangle 8">
              <a:extLst>
                <a:ext uri="{FF2B5EF4-FFF2-40B4-BE49-F238E27FC236}">
                  <a16:creationId xmlns:a16="http://schemas.microsoft.com/office/drawing/2014/main" id="{42BE9523-E1B5-4E67-9587-65DD0D58485A}"/>
                </a:ext>
              </a:extLst>
            </p:cNvPr>
            <p:cNvSpPr>
              <a:spLocks noChangeArrowheads="1"/>
            </p:cNvSpPr>
            <p:nvPr/>
          </p:nvSpPr>
          <p:spPr bwMode="auto">
            <a:xfrm>
              <a:off x="793" y="1661"/>
              <a:ext cx="1271" cy="726"/>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tIns="54000" anchor="t"/>
            <a:lstStyle/>
            <a:p>
              <a:pPr algn="ctr"/>
              <a:r>
                <a:rPr kumimoji="1" lang="zh-CN" altLang="en-US" b="1" dirty="0">
                  <a:solidFill>
                    <a:schemeClr val="accent1"/>
                  </a:solidFill>
                  <a:latin typeface="微软雅黑" panose="020B0503020204020204" pitchFamily="34" charset="-122"/>
                  <a:ea typeface="微软雅黑" panose="020B0503020204020204" pitchFamily="34" charset="-122"/>
                </a:rPr>
                <a:t>传感器模块</a:t>
              </a:r>
            </a:p>
          </p:txBody>
        </p:sp>
        <p:sp>
          <p:nvSpPr>
            <p:cNvPr id="6" name="Rectangle 5">
              <a:extLst>
                <a:ext uri="{FF2B5EF4-FFF2-40B4-BE49-F238E27FC236}">
                  <a16:creationId xmlns:a16="http://schemas.microsoft.com/office/drawing/2014/main" id="{6712DDAB-2F3F-4821-AA95-4EA2F8F7E835}"/>
                </a:ext>
              </a:extLst>
            </p:cNvPr>
            <p:cNvSpPr>
              <a:spLocks noChangeArrowheads="1"/>
            </p:cNvSpPr>
            <p:nvPr/>
          </p:nvSpPr>
          <p:spPr bwMode="auto">
            <a:xfrm>
              <a:off x="863" y="1917"/>
              <a:ext cx="605" cy="440"/>
            </a:xfrm>
            <a:prstGeom prst="roundRect">
              <a:avLst/>
            </a:prstGeom>
            <a:ln>
              <a:headEnd/>
              <a:tailEnd/>
            </a:ln>
          </p:spPr>
          <p:style>
            <a:lnRef idx="3">
              <a:schemeClr val="lt1"/>
            </a:lnRef>
            <a:fillRef idx="1">
              <a:schemeClr val="accent1"/>
            </a:fillRef>
            <a:effectRef idx="1">
              <a:schemeClr val="accent1"/>
            </a:effectRef>
            <a:fontRef idx="minor">
              <a:schemeClr val="lt1"/>
            </a:fontRef>
          </p:style>
          <p:txBody>
            <a:bodyPr tIns="190800" bIns="190800" anchor="ctr">
              <a:spAutoFit/>
            </a:bodyPr>
            <a:lstStyle/>
            <a:p>
              <a:pPr algn="ctr"/>
              <a:r>
                <a:rPr kumimoji="1" lang="zh-CN" altLang="en-US" sz="1600" dirty="0">
                  <a:solidFill>
                    <a:srgbClr val="FFFF00"/>
                  </a:solidFill>
                  <a:latin typeface="华文楷体" panose="02010600040101010101" pitchFamily="2" charset="-122"/>
                  <a:ea typeface="华文楷体" panose="02010600040101010101" pitchFamily="2" charset="-122"/>
                </a:rPr>
                <a:t>传感器</a:t>
              </a:r>
            </a:p>
          </p:txBody>
        </p:sp>
        <p:sp>
          <p:nvSpPr>
            <p:cNvPr id="7" name="Rectangle 6">
              <a:extLst>
                <a:ext uri="{FF2B5EF4-FFF2-40B4-BE49-F238E27FC236}">
                  <a16:creationId xmlns:a16="http://schemas.microsoft.com/office/drawing/2014/main" id="{CB14FEE4-B2F1-470A-8D2E-CA115B0196DF}"/>
                </a:ext>
              </a:extLst>
            </p:cNvPr>
            <p:cNvSpPr>
              <a:spLocks noChangeArrowheads="1"/>
            </p:cNvSpPr>
            <p:nvPr/>
          </p:nvSpPr>
          <p:spPr bwMode="auto">
            <a:xfrm>
              <a:off x="1642" y="1935"/>
              <a:ext cx="374" cy="432"/>
            </a:xfrm>
            <a:prstGeom prst="roundRect">
              <a:avLst/>
            </a:prstGeom>
            <a:ln>
              <a:headEnd/>
              <a:tailEnd/>
            </a:ln>
          </p:spPr>
          <p:style>
            <a:lnRef idx="3">
              <a:schemeClr val="lt1"/>
            </a:lnRef>
            <a:fillRef idx="1">
              <a:schemeClr val="accent1"/>
            </a:fillRef>
            <a:effectRef idx="1">
              <a:schemeClr val="accent1"/>
            </a:effectRef>
            <a:fontRef idx="minor">
              <a:schemeClr val="lt1"/>
            </a:fontRef>
          </p:style>
          <p:txBody>
            <a:bodyPr wrap="none" tIns="190800" bIns="190800" anchor="ctr">
              <a:spAutoFit/>
            </a:bodyPr>
            <a:lstStyle/>
            <a:p>
              <a:pPr algn="ctr"/>
              <a:r>
                <a:rPr kumimoji="1" lang="en-US" altLang="zh-CN" sz="160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A/D</a:t>
              </a:r>
            </a:p>
          </p:txBody>
        </p:sp>
        <p:sp>
          <p:nvSpPr>
            <p:cNvPr id="8" name="Line 9">
              <a:extLst>
                <a:ext uri="{FF2B5EF4-FFF2-40B4-BE49-F238E27FC236}">
                  <a16:creationId xmlns:a16="http://schemas.microsoft.com/office/drawing/2014/main" id="{A9D5B812-02A7-4744-9AE3-207B39609BDC}"/>
                </a:ext>
              </a:extLst>
            </p:cNvPr>
            <p:cNvSpPr>
              <a:spLocks noChangeShapeType="1"/>
            </p:cNvSpPr>
            <p:nvPr/>
          </p:nvSpPr>
          <p:spPr bwMode="auto">
            <a:xfrm>
              <a:off x="1474" y="2115"/>
              <a:ext cx="181" cy="0"/>
            </a:xfrm>
            <a:prstGeom prst="line">
              <a:avLst/>
            </a:prstGeom>
            <a:ln>
              <a:headEnd/>
              <a:tailEnd type="triangle" w="med" len="me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9" name="Rectangle 12">
            <a:extLst>
              <a:ext uri="{FF2B5EF4-FFF2-40B4-BE49-F238E27FC236}">
                <a16:creationId xmlns:a16="http://schemas.microsoft.com/office/drawing/2014/main" id="{AE3C78AD-3C73-4CA5-88EA-35423568C71C}"/>
              </a:ext>
            </a:extLst>
          </p:cNvPr>
          <p:cNvSpPr>
            <a:spLocks noChangeArrowheads="1"/>
          </p:cNvSpPr>
          <p:nvPr/>
        </p:nvSpPr>
        <p:spPr bwMode="auto">
          <a:xfrm>
            <a:off x="3279169" y="2371595"/>
            <a:ext cx="2017712" cy="1152525"/>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tIns="46800" anchor="ctr"/>
          <a:lstStyle/>
          <a:p>
            <a:pPr algn="ctr"/>
            <a:r>
              <a:rPr kumimoji="1" lang="zh-CN" altLang="en-US">
                <a:solidFill>
                  <a:srgbClr val="6600CC"/>
                </a:solidFill>
                <a:latin typeface="微软雅黑" panose="020B0503020204020204" pitchFamily="34" charset="-122"/>
                <a:ea typeface="微软雅黑" panose="020B0503020204020204" pitchFamily="34" charset="-122"/>
              </a:rPr>
              <a:t>处理器模块</a:t>
            </a:r>
          </a:p>
        </p:txBody>
      </p:sp>
      <p:sp>
        <p:nvSpPr>
          <p:cNvPr id="10" name="Rectangle 13">
            <a:extLst>
              <a:ext uri="{FF2B5EF4-FFF2-40B4-BE49-F238E27FC236}">
                <a16:creationId xmlns:a16="http://schemas.microsoft.com/office/drawing/2014/main" id="{2D864ED8-C260-472C-9380-AFC9EABEA11A}"/>
              </a:ext>
            </a:extLst>
          </p:cNvPr>
          <p:cNvSpPr>
            <a:spLocks noChangeArrowheads="1"/>
          </p:cNvSpPr>
          <p:nvPr/>
        </p:nvSpPr>
        <p:spPr bwMode="auto">
          <a:xfrm>
            <a:off x="3390294" y="2777084"/>
            <a:ext cx="1833562" cy="698734"/>
          </a:xfrm>
          <a:prstGeom prst="roundRect">
            <a:avLst/>
          </a:prstGeom>
          <a:ln>
            <a:headEnd/>
            <a:tailEnd/>
          </a:ln>
        </p:spPr>
        <p:style>
          <a:lnRef idx="3">
            <a:schemeClr val="lt1"/>
          </a:lnRef>
          <a:fillRef idx="1">
            <a:schemeClr val="accent1"/>
          </a:fillRef>
          <a:effectRef idx="1">
            <a:schemeClr val="accent1"/>
          </a:effectRef>
          <a:fontRef idx="minor">
            <a:schemeClr val="lt1"/>
          </a:fontRef>
        </p:style>
        <p:txBody>
          <a:bodyPr tIns="190800" bIns="190800" anchor="ctr">
            <a:spAutoFit/>
          </a:bodyPr>
          <a:lstStyle/>
          <a:p>
            <a:pPr algn="ctr"/>
            <a:r>
              <a:rPr kumimoji="1" lang="zh-CN" altLang="en-US" sz="1600" dirty="0">
                <a:solidFill>
                  <a:srgbClr val="FFFF00"/>
                </a:solidFill>
                <a:latin typeface="华文楷体" panose="02010600040101010101" pitchFamily="2" charset="-122"/>
                <a:ea typeface="华文楷体" panose="02010600040101010101" pitchFamily="2" charset="-122"/>
              </a:rPr>
              <a:t>处理器</a:t>
            </a:r>
            <a:r>
              <a:rPr kumimoji="1" lang="en-US" altLang="zh-CN" sz="1600" dirty="0">
                <a:solidFill>
                  <a:srgbClr val="FFFF00"/>
                </a:solidFill>
                <a:latin typeface="华文楷体" panose="02010600040101010101" pitchFamily="2" charset="-122"/>
                <a:ea typeface="华文楷体" panose="02010600040101010101" pitchFamily="2" charset="-122"/>
              </a:rPr>
              <a:t>/</a:t>
            </a:r>
            <a:r>
              <a:rPr kumimoji="1" lang="zh-CN" altLang="en-US" sz="1600" dirty="0">
                <a:solidFill>
                  <a:srgbClr val="FFFF00"/>
                </a:solidFill>
                <a:latin typeface="华文楷体" panose="02010600040101010101" pitchFamily="2" charset="-122"/>
                <a:ea typeface="华文楷体" panose="02010600040101010101" pitchFamily="2" charset="-122"/>
              </a:rPr>
              <a:t>存储器</a:t>
            </a:r>
          </a:p>
        </p:txBody>
      </p:sp>
      <p:sp>
        <p:nvSpPr>
          <p:cNvPr id="11" name="Rectangle 17">
            <a:extLst>
              <a:ext uri="{FF2B5EF4-FFF2-40B4-BE49-F238E27FC236}">
                <a16:creationId xmlns:a16="http://schemas.microsoft.com/office/drawing/2014/main" id="{418469FF-22E5-4CAA-A51D-860C623C6756}"/>
              </a:ext>
            </a:extLst>
          </p:cNvPr>
          <p:cNvSpPr>
            <a:spLocks noChangeArrowheads="1"/>
          </p:cNvSpPr>
          <p:nvPr/>
        </p:nvSpPr>
        <p:spPr bwMode="auto">
          <a:xfrm>
            <a:off x="5728680" y="2371595"/>
            <a:ext cx="2875761" cy="1152525"/>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tIns="54000" anchor="t"/>
          <a:lstStyle/>
          <a:p>
            <a:pPr algn="ctr"/>
            <a:r>
              <a:rPr kumimoji="1" lang="zh-CN" altLang="en-US" b="1" dirty="0">
                <a:solidFill>
                  <a:srgbClr val="00B0F0"/>
                </a:solidFill>
                <a:latin typeface="微软雅黑" panose="020B0503020204020204" pitchFamily="34" charset="-122"/>
                <a:ea typeface="微软雅黑" panose="020B0503020204020204" pitchFamily="34" charset="-122"/>
              </a:rPr>
              <a:t>无线通信模块</a:t>
            </a:r>
          </a:p>
        </p:txBody>
      </p:sp>
      <p:sp>
        <p:nvSpPr>
          <p:cNvPr id="12" name="Rectangle 18">
            <a:extLst>
              <a:ext uri="{FF2B5EF4-FFF2-40B4-BE49-F238E27FC236}">
                <a16:creationId xmlns:a16="http://schemas.microsoft.com/office/drawing/2014/main" id="{873C4582-86EC-4EAA-A420-E534535EE755}"/>
              </a:ext>
            </a:extLst>
          </p:cNvPr>
          <p:cNvSpPr>
            <a:spLocks noChangeArrowheads="1"/>
          </p:cNvSpPr>
          <p:nvPr/>
        </p:nvSpPr>
        <p:spPr bwMode="auto">
          <a:xfrm>
            <a:off x="7671781" y="2789784"/>
            <a:ext cx="863600" cy="698734"/>
          </a:xfrm>
          <a:prstGeom prst="roundRect">
            <a:avLst/>
          </a:prstGeom>
          <a:ln>
            <a:headEnd/>
            <a:tailEnd/>
          </a:ln>
        </p:spPr>
        <p:style>
          <a:lnRef idx="3">
            <a:schemeClr val="lt1"/>
          </a:lnRef>
          <a:fillRef idx="1">
            <a:schemeClr val="accent1"/>
          </a:fillRef>
          <a:effectRef idx="1">
            <a:schemeClr val="accent1"/>
          </a:effectRef>
          <a:fontRef idx="minor">
            <a:schemeClr val="lt1"/>
          </a:fontRef>
        </p:style>
        <p:txBody>
          <a:bodyPr wrap="square" tIns="190800" bIns="190800" anchor="ctr">
            <a:spAutoFit/>
          </a:bodyPr>
          <a:lstStyle/>
          <a:p>
            <a:pPr algn="ctr"/>
            <a:r>
              <a:rPr kumimoji="1" lang="zh-CN" altLang="en-US" sz="1600" dirty="0">
                <a:solidFill>
                  <a:srgbClr val="FFFF00"/>
                </a:solidFill>
                <a:latin typeface="华文楷体" panose="02010600040101010101" pitchFamily="2" charset="-122"/>
                <a:ea typeface="华文楷体" panose="02010600040101010101" pitchFamily="2" charset="-122"/>
              </a:rPr>
              <a:t>收发器</a:t>
            </a:r>
          </a:p>
        </p:txBody>
      </p:sp>
      <p:sp>
        <p:nvSpPr>
          <p:cNvPr id="13" name="Rectangle 19">
            <a:extLst>
              <a:ext uri="{FF2B5EF4-FFF2-40B4-BE49-F238E27FC236}">
                <a16:creationId xmlns:a16="http://schemas.microsoft.com/office/drawing/2014/main" id="{FB39913A-BD4E-4474-83A9-F771DEE56AF3}"/>
              </a:ext>
            </a:extLst>
          </p:cNvPr>
          <p:cNvSpPr>
            <a:spLocks noChangeArrowheads="1"/>
          </p:cNvSpPr>
          <p:nvPr/>
        </p:nvSpPr>
        <p:spPr bwMode="auto">
          <a:xfrm>
            <a:off x="6742321" y="2789784"/>
            <a:ext cx="723209" cy="698734"/>
          </a:xfrm>
          <a:prstGeom prst="roundRect">
            <a:avLst/>
          </a:prstGeom>
          <a:ln>
            <a:headEnd/>
            <a:tailEnd/>
          </a:ln>
        </p:spPr>
        <p:style>
          <a:lnRef idx="3">
            <a:schemeClr val="lt1"/>
          </a:lnRef>
          <a:fillRef idx="1">
            <a:schemeClr val="accent1"/>
          </a:fillRef>
          <a:effectRef idx="1">
            <a:schemeClr val="accent1"/>
          </a:effectRef>
          <a:fontRef idx="minor">
            <a:schemeClr val="lt1"/>
          </a:fontRef>
        </p:style>
        <p:txBody>
          <a:bodyPr wrap="square" tIns="190800" bIns="190800" anchor="ctr">
            <a:spAutoFit/>
          </a:bodyPr>
          <a:lstStyle/>
          <a:p>
            <a:pPr algn="ctr"/>
            <a:r>
              <a:rPr kumimoji="1" lang="en-US" altLang="zh-CN" sz="1600">
                <a:solidFill>
                  <a:srgbClr val="FFFF00"/>
                </a:solidFill>
                <a:latin typeface="华文楷体" panose="02010600040101010101" pitchFamily="2" charset="-122"/>
                <a:ea typeface="华文楷体" panose="02010600040101010101" pitchFamily="2" charset="-122"/>
              </a:rPr>
              <a:t>MAC</a:t>
            </a:r>
          </a:p>
        </p:txBody>
      </p:sp>
      <p:sp>
        <p:nvSpPr>
          <p:cNvPr id="14" name="Rectangle 22">
            <a:extLst>
              <a:ext uri="{FF2B5EF4-FFF2-40B4-BE49-F238E27FC236}">
                <a16:creationId xmlns:a16="http://schemas.microsoft.com/office/drawing/2014/main" id="{C51F1DC9-806C-4EEF-AFCE-9CC37B9F0D02}"/>
              </a:ext>
            </a:extLst>
          </p:cNvPr>
          <p:cNvSpPr>
            <a:spLocks noChangeArrowheads="1"/>
          </p:cNvSpPr>
          <p:nvPr/>
        </p:nvSpPr>
        <p:spPr bwMode="auto">
          <a:xfrm>
            <a:off x="3279169" y="1434970"/>
            <a:ext cx="2087562" cy="431800"/>
          </a:xfrm>
          <a:prstGeom prst="roundRect">
            <a:avLst/>
          </a:prstGeom>
          <a:ln>
            <a:headEnd/>
            <a:tailEnd/>
          </a:ln>
        </p:spPr>
        <p:style>
          <a:lnRef idx="1">
            <a:schemeClr val="dk1"/>
          </a:lnRef>
          <a:fillRef idx="2">
            <a:schemeClr val="dk1"/>
          </a:fillRef>
          <a:effectRef idx="1">
            <a:schemeClr val="dk1"/>
          </a:effectRef>
          <a:fontRef idx="minor">
            <a:schemeClr val="dk1"/>
          </a:fontRef>
        </p:style>
        <p:txBody>
          <a:bodyPr wrap="none" lIns="0" tIns="0" rIns="0" bIns="0" anchor="ctr"/>
          <a:lstStyle/>
          <a:p>
            <a:pPr algn="ctr"/>
            <a:r>
              <a:rPr kumimoji="1" lang="zh-CN" altLang="en-US" dirty="0">
                <a:solidFill>
                  <a:srgbClr val="2FA2A4"/>
                </a:solidFill>
                <a:latin typeface="微软雅黑" panose="020B0503020204020204" pitchFamily="34" charset="-122"/>
                <a:ea typeface="微软雅黑" panose="020B0503020204020204" pitchFamily="34" charset="-122"/>
              </a:rPr>
              <a:t>嵌入式软件系统</a:t>
            </a:r>
          </a:p>
        </p:txBody>
      </p:sp>
      <p:sp>
        <p:nvSpPr>
          <p:cNvPr id="15" name="Line 31">
            <a:extLst>
              <a:ext uri="{FF2B5EF4-FFF2-40B4-BE49-F238E27FC236}">
                <a16:creationId xmlns:a16="http://schemas.microsoft.com/office/drawing/2014/main" id="{04A0061F-9B3F-44A9-AC5B-19B1C1DC8200}"/>
              </a:ext>
            </a:extLst>
          </p:cNvPr>
          <p:cNvSpPr>
            <a:spLocks noChangeShapeType="1"/>
          </p:cNvSpPr>
          <p:nvPr/>
        </p:nvSpPr>
        <p:spPr bwMode="auto">
          <a:xfrm>
            <a:off x="2847369" y="3090732"/>
            <a:ext cx="431800" cy="0"/>
          </a:xfrm>
          <a:prstGeom prst="line">
            <a:avLst/>
          </a:prstGeom>
          <a:noFill/>
          <a:ln w="38100">
            <a:solidFill>
              <a:srgbClr val="147BA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16" name="Rectangle 32">
            <a:extLst>
              <a:ext uri="{FF2B5EF4-FFF2-40B4-BE49-F238E27FC236}">
                <a16:creationId xmlns:a16="http://schemas.microsoft.com/office/drawing/2014/main" id="{97B9999F-BBEE-4E92-8F7B-12BC90D3B380}"/>
              </a:ext>
            </a:extLst>
          </p:cNvPr>
          <p:cNvSpPr>
            <a:spLocks noChangeArrowheads="1"/>
          </p:cNvSpPr>
          <p:nvPr/>
        </p:nvSpPr>
        <p:spPr bwMode="auto">
          <a:xfrm>
            <a:off x="831244" y="4098795"/>
            <a:ext cx="7773195" cy="431800"/>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tIns="90000" bIns="90000" anchor="ctr"/>
          <a:lstStyle/>
          <a:p>
            <a:pPr algn="ctr"/>
            <a:r>
              <a:rPr kumimoji="1" lang="zh-CN" altLang="en-US" dirty="0">
                <a:solidFill>
                  <a:schemeClr val="bg1"/>
                </a:solidFill>
                <a:latin typeface="微软雅黑" panose="020B0503020204020204" pitchFamily="34" charset="-122"/>
                <a:ea typeface="微软雅黑" panose="020B0503020204020204" pitchFamily="34" charset="-122"/>
              </a:rPr>
              <a:t>电  源  模  块</a:t>
            </a:r>
          </a:p>
        </p:txBody>
      </p:sp>
      <p:sp>
        <p:nvSpPr>
          <p:cNvPr id="17" name="Line 33">
            <a:extLst>
              <a:ext uri="{FF2B5EF4-FFF2-40B4-BE49-F238E27FC236}">
                <a16:creationId xmlns:a16="http://schemas.microsoft.com/office/drawing/2014/main" id="{E17FD00A-4FA9-4047-964A-6D6D39D07156}"/>
              </a:ext>
            </a:extLst>
          </p:cNvPr>
          <p:cNvSpPr>
            <a:spLocks noChangeShapeType="1"/>
          </p:cNvSpPr>
          <p:nvPr/>
        </p:nvSpPr>
        <p:spPr bwMode="auto">
          <a:xfrm flipV="1">
            <a:off x="1839306" y="3595557"/>
            <a:ext cx="0" cy="503238"/>
          </a:xfrm>
          <a:prstGeom prst="line">
            <a:avLst/>
          </a:prstGeom>
          <a:noFill/>
          <a:ln w="38100">
            <a:solidFill>
              <a:srgbClr val="2FA2A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Line 34">
            <a:extLst>
              <a:ext uri="{FF2B5EF4-FFF2-40B4-BE49-F238E27FC236}">
                <a16:creationId xmlns:a16="http://schemas.microsoft.com/office/drawing/2014/main" id="{CF90D6A1-2C8C-40EA-942E-FD9C34DA3B12}"/>
              </a:ext>
            </a:extLst>
          </p:cNvPr>
          <p:cNvSpPr>
            <a:spLocks noChangeShapeType="1"/>
          </p:cNvSpPr>
          <p:nvPr/>
        </p:nvSpPr>
        <p:spPr bwMode="auto">
          <a:xfrm flipV="1">
            <a:off x="4287231" y="3595557"/>
            <a:ext cx="0" cy="503238"/>
          </a:xfrm>
          <a:prstGeom prst="line">
            <a:avLst/>
          </a:prstGeom>
          <a:noFill/>
          <a:ln w="38100">
            <a:solidFill>
              <a:srgbClr val="2FA2A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20" name="Line 35">
            <a:extLst>
              <a:ext uri="{FF2B5EF4-FFF2-40B4-BE49-F238E27FC236}">
                <a16:creationId xmlns:a16="http://schemas.microsoft.com/office/drawing/2014/main" id="{0761756A-6BEB-474F-98B2-1CC1CFA66A6E}"/>
              </a:ext>
            </a:extLst>
          </p:cNvPr>
          <p:cNvSpPr>
            <a:spLocks noChangeShapeType="1"/>
          </p:cNvSpPr>
          <p:nvPr/>
        </p:nvSpPr>
        <p:spPr bwMode="auto">
          <a:xfrm flipV="1">
            <a:off x="7168544" y="3595557"/>
            <a:ext cx="0" cy="503238"/>
          </a:xfrm>
          <a:prstGeom prst="line">
            <a:avLst/>
          </a:prstGeom>
          <a:noFill/>
          <a:ln w="38100">
            <a:solidFill>
              <a:srgbClr val="2FA2A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21" name="Rectangle 37">
            <a:extLst>
              <a:ext uri="{FF2B5EF4-FFF2-40B4-BE49-F238E27FC236}">
                <a16:creationId xmlns:a16="http://schemas.microsoft.com/office/drawing/2014/main" id="{268209DF-37B0-46C3-ACD2-4999C4264E14}"/>
              </a:ext>
            </a:extLst>
          </p:cNvPr>
          <p:cNvSpPr>
            <a:spLocks noChangeArrowheads="1"/>
          </p:cNvSpPr>
          <p:nvPr/>
        </p:nvSpPr>
        <p:spPr bwMode="auto">
          <a:xfrm>
            <a:off x="5800119" y="2789784"/>
            <a:ext cx="723210" cy="698734"/>
          </a:xfrm>
          <a:prstGeom prst="roundRect">
            <a:avLst/>
          </a:prstGeom>
          <a:ln>
            <a:headEnd/>
            <a:tailEnd/>
          </a:ln>
        </p:spPr>
        <p:style>
          <a:lnRef idx="3">
            <a:schemeClr val="lt1"/>
          </a:lnRef>
          <a:fillRef idx="1">
            <a:schemeClr val="accent1"/>
          </a:fillRef>
          <a:effectRef idx="1">
            <a:schemeClr val="accent1"/>
          </a:effectRef>
          <a:fontRef idx="minor">
            <a:schemeClr val="lt1"/>
          </a:fontRef>
        </p:style>
        <p:txBody>
          <a:bodyPr wrap="square" tIns="190800" bIns="190800" anchor="ctr">
            <a:spAutoFit/>
          </a:bodyPr>
          <a:lstStyle/>
          <a:p>
            <a:pPr algn="ctr"/>
            <a:r>
              <a:rPr kumimoji="1" lang="zh-CN" altLang="en-US" sz="1600" dirty="0">
                <a:solidFill>
                  <a:srgbClr val="FFFF00"/>
                </a:solidFill>
                <a:latin typeface="华文楷体" panose="02010600040101010101" pitchFamily="2" charset="-122"/>
                <a:ea typeface="华文楷体" panose="02010600040101010101" pitchFamily="2" charset="-122"/>
              </a:rPr>
              <a:t>网络</a:t>
            </a:r>
          </a:p>
        </p:txBody>
      </p:sp>
      <p:sp>
        <p:nvSpPr>
          <p:cNvPr id="22" name="Line 38">
            <a:extLst>
              <a:ext uri="{FF2B5EF4-FFF2-40B4-BE49-F238E27FC236}">
                <a16:creationId xmlns:a16="http://schemas.microsoft.com/office/drawing/2014/main" id="{8E4285EA-A91E-4497-B905-7EDACA447BAE}"/>
              </a:ext>
            </a:extLst>
          </p:cNvPr>
          <p:cNvSpPr>
            <a:spLocks noChangeShapeType="1"/>
          </p:cNvSpPr>
          <p:nvPr/>
        </p:nvSpPr>
        <p:spPr bwMode="auto">
          <a:xfrm>
            <a:off x="5296881" y="3090732"/>
            <a:ext cx="431800" cy="0"/>
          </a:xfrm>
          <a:prstGeom prst="line">
            <a:avLst/>
          </a:prstGeom>
          <a:noFill/>
          <a:ln w="38100">
            <a:solidFill>
              <a:srgbClr val="147BA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23" name="Line 39">
            <a:extLst>
              <a:ext uri="{FF2B5EF4-FFF2-40B4-BE49-F238E27FC236}">
                <a16:creationId xmlns:a16="http://schemas.microsoft.com/office/drawing/2014/main" id="{E1A19433-70D6-496D-847D-42F9AF11CEB4}"/>
              </a:ext>
            </a:extLst>
          </p:cNvPr>
          <p:cNvSpPr>
            <a:spLocks noChangeShapeType="1"/>
          </p:cNvSpPr>
          <p:nvPr/>
        </p:nvSpPr>
        <p:spPr bwMode="auto">
          <a:xfrm>
            <a:off x="7380312" y="3090732"/>
            <a:ext cx="293057" cy="0"/>
          </a:xfrm>
          <a:prstGeom prst="line">
            <a:avLst/>
          </a:prstGeom>
          <a:noFill/>
          <a:ln w="12700">
            <a:solidFill>
              <a:srgbClr val="008F9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24" name="Line 40">
            <a:extLst>
              <a:ext uri="{FF2B5EF4-FFF2-40B4-BE49-F238E27FC236}">
                <a16:creationId xmlns:a16="http://schemas.microsoft.com/office/drawing/2014/main" id="{CFCBEC7D-07B2-4B88-BA62-57FBFB923020}"/>
              </a:ext>
            </a:extLst>
          </p:cNvPr>
          <p:cNvSpPr>
            <a:spLocks noChangeShapeType="1"/>
          </p:cNvSpPr>
          <p:nvPr/>
        </p:nvSpPr>
        <p:spPr bwMode="auto">
          <a:xfrm>
            <a:off x="6444208" y="3090732"/>
            <a:ext cx="292536" cy="0"/>
          </a:xfrm>
          <a:prstGeom prst="line">
            <a:avLst/>
          </a:prstGeom>
          <a:noFill/>
          <a:ln w="12700">
            <a:solidFill>
              <a:srgbClr val="008F9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25" name="AutoShape 41">
            <a:extLst>
              <a:ext uri="{FF2B5EF4-FFF2-40B4-BE49-F238E27FC236}">
                <a16:creationId xmlns:a16="http://schemas.microsoft.com/office/drawing/2014/main" id="{2543F413-CE5C-49D7-912B-CFA253F0809B}"/>
              </a:ext>
            </a:extLst>
          </p:cNvPr>
          <p:cNvSpPr>
            <a:spLocks noChangeArrowheads="1"/>
          </p:cNvSpPr>
          <p:nvPr/>
        </p:nvSpPr>
        <p:spPr bwMode="auto">
          <a:xfrm>
            <a:off x="3999894" y="1938207"/>
            <a:ext cx="504825" cy="360363"/>
          </a:xfrm>
          <a:prstGeom prst="upDownArrow">
            <a:avLst>
              <a:gd name="adj1" fmla="val 50000"/>
              <a:gd name="adj2" fmla="val 20000"/>
            </a:avLst>
          </a:prstGeom>
          <a:solidFill>
            <a:schemeClr val="accent2"/>
          </a:solidFill>
          <a:ln w="9525" algn="ctr">
            <a:solidFill>
              <a:srgbClr val="147BA2"/>
            </a:solidFill>
            <a:miter lim="800000"/>
            <a:headEnd/>
            <a:tailEnd/>
          </a:ln>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86224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8486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传感器模块</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负责监测区域内针对特定观测对象和物理信号的采集和数据转换。</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处理器模块</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负责控制整个传感器的硬件，存储和处理本身采集的或其它节点发来的数据。</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无线通信模块</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负责与其他传感器节点进行无线通信，交换应用数据和网络管理控制数据。</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能量供应模块</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为传感器节点提供运行所需要的能量，通常采用微型电池供电。</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Tree>
    <p:extLst>
      <p:ext uri="{BB962C8B-B14F-4D97-AF65-F5344CB8AC3E}">
        <p14:creationId xmlns:p14="http://schemas.microsoft.com/office/powerpoint/2010/main" val="338601395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82670"/>
            <a:ext cx="8208912" cy="9037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WSN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节点体系结构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WSN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节点体系结构由</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网络通信协议</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网络管理平台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应用支撑</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组成</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
        <p:nvSpPr>
          <p:cNvPr id="4" name="Rectangle 5">
            <a:extLst>
              <a:ext uri="{FF2B5EF4-FFF2-40B4-BE49-F238E27FC236}">
                <a16:creationId xmlns:a16="http://schemas.microsoft.com/office/drawing/2014/main" id="{24232711-4F07-4F94-923D-A6361EEFCC20}"/>
              </a:ext>
            </a:extLst>
          </p:cNvPr>
          <p:cNvSpPr>
            <a:spLocks noChangeArrowheads="1"/>
          </p:cNvSpPr>
          <p:nvPr/>
        </p:nvSpPr>
        <p:spPr bwMode="auto">
          <a:xfrm>
            <a:off x="1909415" y="3802447"/>
            <a:ext cx="3743325" cy="324000"/>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pPr>
              <a:lnSpc>
                <a:spcPct val="50000"/>
              </a:lnSpc>
            </a:pPr>
            <a:r>
              <a:rPr kumimoji="1" lang="zh-CN" altLang="en-US" sz="1600">
                <a:solidFill>
                  <a:schemeClr val="bg1"/>
                </a:solidFill>
                <a:latin typeface="华文楷体" panose="02010600040101010101" pitchFamily="2" charset="-122"/>
                <a:ea typeface="华文楷体" panose="02010600040101010101" pitchFamily="2" charset="-122"/>
              </a:rPr>
              <a:t>网络层          （路由）</a:t>
            </a:r>
          </a:p>
        </p:txBody>
      </p:sp>
      <p:sp>
        <p:nvSpPr>
          <p:cNvPr id="5" name="Rectangle 6">
            <a:extLst>
              <a:ext uri="{FF2B5EF4-FFF2-40B4-BE49-F238E27FC236}">
                <a16:creationId xmlns:a16="http://schemas.microsoft.com/office/drawing/2014/main" id="{9B02A9D2-1778-448E-930A-6AFDB4441CEE}"/>
              </a:ext>
            </a:extLst>
          </p:cNvPr>
          <p:cNvSpPr>
            <a:spLocks noChangeArrowheads="1"/>
          </p:cNvSpPr>
          <p:nvPr/>
        </p:nvSpPr>
        <p:spPr bwMode="auto">
          <a:xfrm>
            <a:off x="1909415" y="4127057"/>
            <a:ext cx="3743325" cy="324000"/>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pPr>
              <a:lnSpc>
                <a:spcPct val="50000"/>
              </a:lnSpc>
            </a:pPr>
            <a:r>
              <a:rPr kumimoji="1" lang="zh-CN" altLang="en-US" sz="1600">
                <a:solidFill>
                  <a:schemeClr val="bg1"/>
                </a:solidFill>
                <a:latin typeface="华文楷体" panose="02010600040101010101" pitchFamily="2" charset="-122"/>
                <a:ea typeface="华文楷体" panose="02010600040101010101" pitchFamily="2" charset="-122"/>
              </a:rPr>
              <a:t>数据链路层       （</a:t>
            </a:r>
            <a:r>
              <a:rPr kumimoji="1" lang="en-US" altLang="zh-CN" sz="1600">
                <a:solidFill>
                  <a:schemeClr val="bg1"/>
                </a:solidFill>
                <a:latin typeface="华文楷体" panose="02010600040101010101" pitchFamily="2" charset="-122"/>
                <a:ea typeface="华文楷体" panose="02010600040101010101" pitchFamily="2" charset="-122"/>
              </a:rPr>
              <a:t>MAC</a:t>
            </a:r>
            <a:r>
              <a:rPr kumimoji="1" lang="zh-CN" altLang="en-US" sz="1600">
                <a:solidFill>
                  <a:schemeClr val="bg1"/>
                </a:solidFill>
                <a:latin typeface="华文楷体" panose="02010600040101010101" pitchFamily="2" charset="-122"/>
                <a:ea typeface="华文楷体" panose="02010600040101010101" pitchFamily="2" charset="-122"/>
              </a:rPr>
              <a:t>）</a:t>
            </a:r>
          </a:p>
        </p:txBody>
      </p:sp>
      <p:sp>
        <p:nvSpPr>
          <p:cNvPr id="6" name="Rectangle 7">
            <a:extLst>
              <a:ext uri="{FF2B5EF4-FFF2-40B4-BE49-F238E27FC236}">
                <a16:creationId xmlns:a16="http://schemas.microsoft.com/office/drawing/2014/main" id="{B8EB7F58-BEC8-4C5F-9CA0-9DFF4910C8FA}"/>
              </a:ext>
            </a:extLst>
          </p:cNvPr>
          <p:cNvSpPr>
            <a:spLocks noChangeArrowheads="1"/>
          </p:cNvSpPr>
          <p:nvPr/>
        </p:nvSpPr>
        <p:spPr bwMode="auto">
          <a:xfrm>
            <a:off x="1909415" y="3477837"/>
            <a:ext cx="3743325" cy="324000"/>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pPr>
              <a:lnSpc>
                <a:spcPct val="50000"/>
              </a:lnSpc>
            </a:pPr>
            <a:r>
              <a:rPr kumimoji="1" lang="zh-CN" altLang="en-US" sz="1600">
                <a:solidFill>
                  <a:schemeClr val="bg1"/>
                </a:solidFill>
                <a:latin typeface="华文楷体" panose="02010600040101010101" pitchFamily="2" charset="-122"/>
                <a:ea typeface="华文楷体" panose="02010600040101010101" pitchFamily="2" charset="-122"/>
              </a:rPr>
              <a:t>传输层      （传输控制）</a:t>
            </a:r>
          </a:p>
        </p:txBody>
      </p:sp>
      <p:sp>
        <p:nvSpPr>
          <p:cNvPr id="7" name="Rectangle 8">
            <a:extLst>
              <a:ext uri="{FF2B5EF4-FFF2-40B4-BE49-F238E27FC236}">
                <a16:creationId xmlns:a16="http://schemas.microsoft.com/office/drawing/2014/main" id="{715AD750-A6B6-4E30-8FB7-AAF8836EBC3E}"/>
              </a:ext>
            </a:extLst>
          </p:cNvPr>
          <p:cNvSpPr>
            <a:spLocks noChangeArrowheads="1"/>
          </p:cNvSpPr>
          <p:nvPr/>
        </p:nvSpPr>
        <p:spPr bwMode="auto">
          <a:xfrm>
            <a:off x="1909415" y="4451670"/>
            <a:ext cx="3743325" cy="324000"/>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pPr>
              <a:lnSpc>
                <a:spcPct val="50000"/>
              </a:lnSpc>
            </a:pPr>
            <a:r>
              <a:rPr kumimoji="1" lang="zh-CN" altLang="en-US" sz="1600">
                <a:solidFill>
                  <a:schemeClr val="bg1"/>
                </a:solidFill>
                <a:latin typeface="华文楷体" panose="02010600040101010101" pitchFamily="2" charset="-122"/>
                <a:ea typeface="华文楷体" panose="02010600040101010101" pitchFamily="2" charset="-122"/>
              </a:rPr>
              <a:t>物理层  （声、光、电磁）</a:t>
            </a:r>
          </a:p>
        </p:txBody>
      </p:sp>
      <p:sp>
        <p:nvSpPr>
          <p:cNvPr id="8" name="Rectangle 9">
            <a:extLst>
              <a:ext uri="{FF2B5EF4-FFF2-40B4-BE49-F238E27FC236}">
                <a16:creationId xmlns:a16="http://schemas.microsoft.com/office/drawing/2014/main" id="{A22C358A-AA9C-41D5-B5DA-56641A1C142B}"/>
              </a:ext>
            </a:extLst>
          </p:cNvPr>
          <p:cNvSpPr>
            <a:spLocks noChangeArrowheads="1"/>
          </p:cNvSpPr>
          <p:nvPr/>
        </p:nvSpPr>
        <p:spPr bwMode="auto">
          <a:xfrm>
            <a:off x="5652740" y="3155670"/>
            <a:ext cx="647700" cy="1620000"/>
          </a:xfrm>
          <a:prstGeom prst="rect">
            <a:avLst/>
          </a:prstGeom>
          <a:solidFill>
            <a:srgbClr val="99CCFF">
              <a:alpha val="53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lnSpc>
                <a:spcPct val="70000"/>
              </a:lnSpc>
            </a:pPr>
            <a:r>
              <a:rPr kumimoji="1" lang="zh-CN" altLang="en-US" sz="1600" dirty="0">
                <a:solidFill>
                  <a:srgbClr val="0000FF"/>
                </a:solidFill>
                <a:latin typeface="华文楷体" panose="02010600040101010101" pitchFamily="2" charset="-122"/>
                <a:ea typeface="华文楷体" panose="02010600040101010101" pitchFamily="2" charset="-122"/>
              </a:rPr>
              <a:t>能</a:t>
            </a:r>
          </a:p>
          <a:p>
            <a:pPr algn="ctr">
              <a:lnSpc>
                <a:spcPct val="70000"/>
              </a:lnSpc>
            </a:pPr>
            <a:r>
              <a:rPr kumimoji="1" lang="zh-CN" altLang="en-US" sz="1600" dirty="0">
                <a:solidFill>
                  <a:srgbClr val="0000FF"/>
                </a:solidFill>
                <a:latin typeface="华文楷体" panose="02010600040101010101" pitchFamily="2" charset="-122"/>
                <a:ea typeface="华文楷体" panose="02010600040101010101" pitchFamily="2" charset="-122"/>
              </a:rPr>
              <a:t>量</a:t>
            </a:r>
          </a:p>
          <a:p>
            <a:pPr algn="ctr">
              <a:lnSpc>
                <a:spcPct val="70000"/>
              </a:lnSpc>
            </a:pPr>
            <a:r>
              <a:rPr kumimoji="1" lang="zh-CN" altLang="en-US" sz="1600" dirty="0">
                <a:solidFill>
                  <a:srgbClr val="0000FF"/>
                </a:solidFill>
                <a:latin typeface="华文楷体" panose="02010600040101010101" pitchFamily="2" charset="-122"/>
                <a:ea typeface="华文楷体" panose="02010600040101010101" pitchFamily="2" charset="-122"/>
              </a:rPr>
              <a:t>管</a:t>
            </a:r>
          </a:p>
          <a:p>
            <a:pPr algn="ctr">
              <a:lnSpc>
                <a:spcPct val="70000"/>
              </a:lnSpc>
            </a:pPr>
            <a:r>
              <a:rPr kumimoji="1" lang="zh-CN" altLang="en-US" sz="1600" dirty="0">
                <a:solidFill>
                  <a:srgbClr val="0000FF"/>
                </a:solidFill>
                <a:latin typeface="华文楷体" panose="02010600040101010101" pitchFamily="2" charset="-122"/>
                <a:ea typeface="华文楷体" panose="02010600040101010101" pitchFamily="2" charset="-122"/>
              </a:rPr>
              <a:t>理</a:t>
            </a:r>
          </a:p>
          <a:p>
            <a:pPr algn="ctr">
              <a:lnSpc>
                <a:spcPct val="70000"/>
              </a:lnSpc>
            </a:pPr>
            <a:r>
              <a:rPr kumimoji="1" lang="zh-CN" altLang="en-US" sz="1600" dirty="0">
                <a:solidFill>
                  <a:srgbClr val="0000FF"/>
                </a:solidFill>
                <a:latin typeface="华文楷体" panose="02010600040101010101" pitchFamily="2" charset="-122"/>
                <a:ea typeface="华文楷体" panose="02010600040101010101" pitchFamily="2" charset="-122"/>
              </a:rPr>
              <a:t>平</a:t>
            </a:r>
          </a:p>
          <a:p>
            <a:pPr algn="ctr">
              <a:lnSpc>
                <a:spcPct val="70000"/>
              </a:lnSpc>
            </a:pPr>
            <a:r>
              <a:rPr kumimoji="1" lang="zh-CN" altLang="en-US" sz="1600" dirty="0">
                <a:solidFill>
                  <a:srgbClr val="0000FF"/>
                </a:solidFill>
                <a:latin typeface="华文楷体" panose="02010600040101010101" pitchFamily="2" charset="-122"/>
                <a:ea typeface="华文楷体" panose="02010600040101010101" pitchFamily="2" charset="-122"/>
              </a:rPr>
              <a:t>台</a:t>
            </a:r>
          </a:p>
        </p:txBody>
      </p:sp>
      <p:sp>
        <p:nvSpPr>
          <p:cNvPr id="9" name="Rectangle 10">
            <a:extLst>
              <a:ext uri="{FF2B5EF4-FFF2-40B4-BE49-F238E27FC236}">
                <a16:creationId xmlns:a16="http://schemas.microsoft.com/office/drawing/2014/main" id="{1407CF86-5AEB-4741-95BA-FD691470F388}"/>
              </a:ext>
            </a:extLst>
          </p:cNvPr>
          <p:cNvSpPr>
            <a:spLocks noChangeArrowheads="1"/>
          </p:cNvSpPr>
          <p:nvPr/>
        </p:nvSpPr>
        <p:spPr bwMode="auto">
          <a:xfrm>
            <a:off x="5652740" y="2504008"/>
            <a:ext cx="1873250" cy="647702"/>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0" tIns="0" rIns="0" bIns="0" anchor="ctr"/>
          <a:lstStyle/>
          <a:p>
            <a:pPr algn="ctr">
              <a:lnSpc>
                <a:spcPct val="50000"/>
              </a:lnSpc>
            </a:pPr>
            <a:r>
              <a:rPr kumimoji="1" lang="zh-CN" altLang="en-US" dirty="0">
                <a:solidFill>
                  <a:schemeClr val="bg1"/>
                </a:solidFill>
                <a:latin typeface="华文楷体" panose="02010600040101010101" pitchFamily="2" charset="-122"/>
                <a:ea typeface="华文楷体" panose="02010600040101010101" pitchFamily="2" charset="-122"/>
              </a:rPr>
              <a:t>网络管理接口</a:t>
            </a:r>
          </a:p>
        </p:txBody>
      </p:sp>
      <p:sp>
        <p:nvSpPr>
          <p:cNvPr id="10" name="Rectangle 11">
            <a:extLst>
              <a:ext uri="{FF2B5EF4-FFF2-40B4-BE49-F238E27FC236}">
                <a16:creationId xmlns:a16="http://schemas.microsoft.com/office/drawing/2014/main" id="{D4BC9717-CBBC-4128-AF8E-02B5C614B53E}"/>
              </a:ext>
            </a:extLst>
          </p:cNvPr>
          <p:cNvSpPr>
            <a:spLocks noChangeArrowheads="1"/>
          </p:cNvSpPr>
          <p:nvPr/>
        </p:nvSpPr>
        <p:spPr bwMode="auto">
          <a:xfrm>
            <a:off x="1909415" y="2828617"/>
            <a:ext cx="3743325" cy="32400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0" tIns="0" rIns="0" bIns="0" anchor="ctr"/>
          <a:lstStyle/>
          <a:p>
            <a:pPr>
              <a:lnSpc>
                <a:spcPct val="50000"/>
              </a:lnSpc>
            </a:pPr>
            <a:r>
              <a:rPr kumimoji="1" lang="zh-CN" altLang="en-US" sz="1600">
                <a:solidFill>
                  <a:schemeClr val="bg1"/>
                </a:solidFill>
                <a:latin typeface="华文楷体" panose="02010600040101010101" pitchFamily="2" charset="-122"/>
                <a:ea typeface="华文楷体" panose="02010600040101010101" pitchFamily="2" charset="-122"/>
              </a:rPr>
              <a:t>时间同步、定位</a:t>
            </a:r>
          </a:p>
        </p:txBody>
      </p:sp>
      <p:sp>
        <p:nvSpPr>
          <p:cNvPr id="11" name="Rectangle 12">
            <a:extLst>
              <a:ext uri="{FF2B5EF4-FFF2-40B4-BE49-F238E27FC236}">
                <a16:creationId xmlns:a16="http://schemas.microsoft.com/office/drawing/2014/main" id="{831C2D7E-64DC-427F-8DCD-90BAADBC3A5E}"/>
              </a:ext>
            </a:extLst>
          </p:cNvPr>
          <p:cNvSpPr>
            <a:spLocks noChangeArrowheads="1"/>
          </p:cNvSpPr>
          <p:nvPr/>
        </p:nvSpPr>
        <p:spPr bwMode="auto">
          <a:xfrm>
            <a:off x="1909415" y="3153227"/>
            <a:ext cx="3743325" cy="324000"/>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pPr>
              <a:lnSpc>
                <a:spcPct val="50000"/>
              </a:lnSpc>
            </a:pPr>
            <a:r>
              <a:rPr kumimoji="1" lang="zh-CN" altLang="en-US" sz="1600">
                <a:solidFill>
                  <a:schemeClr val="bg1"/>
                </a:solidFill>
                <a:latin typeface="华文楷体" panose="02010600040101010101" pitchFamily="2" charset="-122"/>
                <a:ea typeface="华文楷体" panose="02010600040101010101" pitchFamily="2" charset="-122"/>
              </a:rPr>
              <a:t>应用层                  </a:t>
            </a:r>
          </a:p>
        </p:txBody>
      </p:sp>
      <p:sp>
        <p:nvSpPr>
          <p:cNvPr id="12" name="Rectangle 18">
            <a:extLst>
              <a:ext uri="{FF2B5EF4-FFF2-40B4-BE49-F238E27FC236}">
                <a16:creationId xmlns:a16="http://schemas.microsoft.com/office/drawing/2014/main" id="{2FF1771A-A1F8-4F52-8644-944C7DF9BC67}"/>
              </a:ext>
            </a:extLst>
          </p:cNvPr>
          <p:cNvSpPr>
            <a:spLocks noChangeArrowheads="1"/>
          </p:cNvSpPr>
          <p:nvPr/>
        </p:nvSpPr>
        <p:spPr bwMode="auto">
          <a:xfrm>
            <a:off x="6300440" y="3155670"/>
            <a:ext cx="576263" cy="1620000"/>
          </a:xfrm>
          <a:prstGeom prst="rect">
            <a:avLst/>
          </a:prstGeom>
          <a:solidFill>
            <a:srgbClr val="99CCFF">
              <a:alpha val="53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移</a:t>
            </a:r>
          </a:p>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动</a:t>
            </a:r>
          </a:p>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管</a:t>
            </a:r>
          </a:p>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理</a:t>
            </a:r>
          </a:p>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平</a:t>
            </a:r>
          </a:p>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台</a:t>
            </a:r>
          </a:p>
        </p:txBody>
      </p:sp>
      <p:sp>
        <p:nvSpPr>
          <p:cNvPr id="13" name="Rectangle 19">
            <a:extLst>
              <a:ext uri="{FF2B5EF4-FFF2-40B4-BE49-F238E27FC236}">
                <a16:creationId xmlns:a16="http://schemas.microsoft.com/office/drawing/2014/main" id="{3DC1480A-B5DD-4DD7-B9AB-678100688E0F}"/>
              </a:ext>
            </a:extLst>
          </p:cNvPr>
          <p:cNvSpPr>
            <a:spLocks noChangeArrowheads="1"/>
          </p:cNvSpPr>
          <p:nvPr/>
        </p:nvSpPr>
        <p:spPr bwMode="auto">
          <a:xfrm>
            <a:off x="6876703" y="3155670"/>
            <a:ext cx="647700" cy="1620000"/>
          </a:xfrm>
          <a:prstGeom prst="rect">
            <a:avLst/>
          </a:prstGeom>
          <a:solidFill>
            <a:srgbClr val="99CCFF">
              <a:alpha val="53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任</a:t>
            </a:r>
          </a:p>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务</a:t>
            </a:r>
          </a:p>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管</a:t>
            </a:r>
          </a:p>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理</a:t>
            </a:r>
          </a:p>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平</a:t>
            </a:r>
          </a:p>
          <a:p>
            <a:pPr algn="ctr">
              <a:lnSpc>
                <a:spcPct val="70000"/>
              </a:lnSpc>
            </a:pPr>
            <a:r>
              <a:rPr kumimoji="1" lang="zh-CN" altLang="en-US" sz="1600">
                <a:solidFill>
                  <a:srgbClr val="0000FF"/>
                </a:solidFill>
                <a:latin typeface="华文楷体" panose="02010600040101010101" pitchFamily="2" charset="-122"/>
                <a:ea typeface="华文楷体" panose="02010600040101010101" pitchFamily="2" charset="-122"/>
              </a:rPr>
              <a:t>台</a:t>
            </a:r>
          </a:p>
        </p:txBody>
      </p:sp>
      <p:sp>
        <p:nvSpPr>
          <p:cNvPr id="14" name="AutoShape 22">
            <a:extLst>
              <a:ext uri="{FF2B5EF4-FFF2-40B4-BE49-F238E27FC236}">
                <a16:creationId xmlns:a16="http://schemas.microsoft.com/office/drawing/2014/main" id="{72C7E424-4610-4AA4-A851-00BB2904DE76}"/>
              </a:ext>
            </a:extLst>
          </p:cNvPr>
          <p:cNvSpPr>
            <a:spLocks/>
          </p:cNvSpPr>
          <p:nvPr/>
        </p:nvSpPr>
        <p:spPr bwMode="auto">
          <a:xfrm>
            <a:off x="1647469" y="3171170"/>
            <a:ext cx="197562" cy="1586492"/>
          </a:xfrm>
          <a:prstGeom prst="leftBrace">
            <a:avLst>
              <a:gd name="adj1" fmla="val 69485"/>
              <a:gd name="adj2" fmla="val 50000"/>
            </a:avLst>
          </a:prstGeom>
          <a:noFill/>
          <a:ln w="19050">
            <a:solidFill>
              <a:srgbClr val="2FA2A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15" name="AutoShape 23">
            <a:extLst>
              <a:ext uri="{FF2B5EF4-FFF2-40B4-BE49-F238E27FC236}">
                <a16:creationId xmlns:a16="http://schemas.microsoft.com/office/drawing/2014/main" id="{DCE8B1D3-1FFF-49F4-BD68-873DE8DBFB55}"/>
              </a:ext>
            </a:extLst>
          </p:cNvPr>
          <p:cNvSpPr>
            <a:spLocks/>
          </p:cNvSpPr>
          <p:nvPr/>
        </p:nvSpPr>
        <p:spPr bwMode="auto">
          <a:xfrm rot="16200000">
            <a:off x="6471006" y="4163937"/>
            <a:ext cx="215900" cy="1403350"/>
          </a:xfrm>
          <a:prstGeom prst="leftBrace">
            <a:avLst>
              <a:gd name="adj1" fmla="val 54167"/>
              <a:gd name="adj2" fmla="val 52940"/>
            </a:avLst>
          </a:prstGeom>
          <a:noFill/>
          <a:ln w="19050">
            <a:solidFill>
              <a:srgbClr val="2FA2A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16" name="Rectangle 24">
            <a:extLst>
              <a:ext uri="{FF2B5EF4-FFF2-40B4-BE49-F238E27FC236}">
                <a16:creationId xmlns:a16="http://schemas.microsoft.com/office/drawing/2014/main" id="{566595F4-DA51-4B8F-A5D9-49E3CDAC30EA}"/>
              </a:ext>
            </a:extLst>
          </p:cNvPr>
          <p:cNvSpPr>
            <a:spLocks noChangeArrowheads="1"/>
          </p:cNvSpPr>
          <p:nvPr/>
        </p:nvSpPr>
        <p:spPr bwMode="auto">
          <a:xfrm>
            <a:off x="1333152" y="3172646"/>
            <a:ext cx="431800" cy="1511300"/>
          </a:xfrm>
          <a:prstGeom prst="rect">
            <a:avLst/>
          </a:prstGeom>
          <a:noFill/>
          <a:ln>
            <a:noFill/>
          </a:ln>
          <a:effectLst/>
          <a:extLst>
            <a:ext uri="{909E8E84-426E-40DD-AFC4-6F175D3DCCD1}">
              <a14:hiddenFill xmlns:a14="http://schemas.microsoft.com/office/drawing/2010/main">
                <a:solidFill>
                  <a:srgbClr val="FFFF99">
                    <a:alpha val="53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r>
              <a:rPr kumimoji="1" lang="zh-CN" altLang="en-US" sz="1600" dirty="0">
                <a:solidFill>
                  <a:srgbClr val="008F92"/>
                </a:solidFill>
                <a:latin typeface="微软雅黑" panose="020B0503020204020204" pitchFamily="34" charset="-122"/>
                <a:ea typeface="微软雅黑" panose="020B0503020204020204" pitchFamily="34" charset="-122"/>
              </a:rPr>
              <a:t>网</a:t>
            </a:r>
          </a:p>
          <a:p>
            <a:r>
              <a:rPr kumimoji="1" lang="zh-CN" altLang="en-US" sz="1600" dirty="0">
                <a:solidFill>
                  <a:srgbClr val="008F92"/>
                </a:solidFill>
                <a:latin typeface="微软雅黑" panose="020B0503020204020204" pitchFamily="34" charset="-122"/>
                <a:ea typeface="微软雅黑" panose="020B0503020204020204" pitchFamily="34" charset="-122"/>
              </a:rPr>
              <a:t>络</a:t>
            </a:r>
          </a:p>
          <a:p>
            <a:r>
              <a:rPr kumimoji="1" lang="zh-CN" altLang="en-US" sz="1600" dirty="0">
                <a:solidFill>
                  <a:srgbClr val="008F92"/>
                </a:solidFill>
                <a:latin typeface="微软雅黑" panose="020B0503020204020204" pitchFamily="34" charset="-122"/>
                <a:ea typeface="微软雅黑" panose="020B0503020204020204" pitchFamily="34" charset="-122"/>
              </a:rPr>
              <a:t>通</a:t>
            </a:r>
          </a:p>
          <a:p>
            <a:r>
              <a:rPr kumimoji="1" lang="zh-CN" altLang="en-US" sz="1600" dirty="0">
                <a:solidFill>
                  <a:srgbClr val="008F92"/>
                </a:solidFill>
                <a:latin typeface="微软雅黑" panose="020B0503020204020204" pitchFamily="34" charset="-122"/>
                <a:ea typeface="微软雅黑" panose="020B0503020204020204" pitchFamily="34" charset="-122"/>
              </a:rPr>
              <a:t>信</a:t>
            </a:r>
          </a:p>
          <a:p>
            <a:r>
              <a:rPr kumimoji="1" lang="zh-CN" altLang="en-US" sz="1600" dirty="0">
                <a:solidFill>
                  <a:srgbClr val="008F92"/>
                </a:solidFill>
                <a:latin typeface="微软雅黑" panose="020B0503020204020204" pitchFamily="34" charset="-122"/>
                <a:ea typeface="微软雅黑" panose="020B0503020204020204" pitchFamily="34" charset="-122"/>
              </a:rPr>
              <a:t>协</a:t>
            </a:r>
          </a:p>
          <a:p>
            <a:r>
              <a:rPr kumimoji="1" lang="zh-CN" altLang="en-US" sz="1600" dirty="0">
                <a:solidFill>
                  <a:srgbClr val="008F92"/>
                </a:solidFill>
                <a:latin typeface="微软雅黑" panose="020B0503020204020204" pitchFamily="34" charset="-122"/>
                <a:ea typeface="微软雅黑" panose="020B0503020204020204" pitchFamily="34" charset="-122"/>
              </a:rPr>
              <a:t>议</a:t>
            </a:r>
          </a:p>
        </p:txBody>
      </p:sp>
      <p:sp>
        <p:nvSpPr>
          <p:cNvPr id="17" name="Rectangle 25">
            <a:extLst>
              <a:ext uri="{FF2B5EF4-FFF2-40B4-BE49-F238E27FC236}">
                <a16:creationId xmlns:a16="http://schemas.microsoft.com/office/drawing/2014/main" id="{A801388F-B4DE-412E-8158-487F1CACA164}"/>
              </a:ext>
            </a:extLst>
          </p:cNvPr>
          <p:cNvSpPr>
            <a:spLocks noChangeArrowheads="1"/>
          </p:cNvSpPr>
          <p:nvPr/>
        </p:nvSpPr>
        <p:spPr bwMode="auto">
          <a:xfrm>
            <a:off x="5976590" y="4922820"/>
            <a:ext cx="1368425" cy="358775"/>
          </a:xfrm>
          <a:prstGeom prst="rect">
            <a:avLst/>
          </a:prstGeom>
          <a:noFill/>
          <a:ln>
            <a:noFill/>
          </a:ln>
          <a:effectLst/>
          <a:extLst>
            <a:ext uri="{909E8E84-426E-40DD-AFC4-6F175D3DCCD1}">
              <a14:hiddenFill xmlns:a14="http://schemas.microsoft.com/office/drawing/2010/main">
                <a:solidFill>
                  <a:srgbClr val="FFFF99">
                    <a:alpha val="53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50000"/>
              </a:lnSpc>
            </a:pPr>
            <a:r>
              <a:rPr kumimoji="1" lang="zh-CN" altLang="en-US" sz="1600">
                <a:solidFill>
                  <a:srgbClr val="008F92"/>
                </a:solidFill>
                <a:latin typeface="微软雅黑" panose="020B0503020204020204" pitchFamily="34" charset="-122"/>
                <a:ea typeface="微软雅黑" panose="020B0503020204020204" pitchFamily="34" charset="-122"/>
              </a:rPr>
              <a:t>网络管理平台</a:t>
            </a:r>
          </a:p>
        </p:txBody>
      </p:sp>
      <p:sp>
        <p:nvSpPr>
          <p:cNvPr id="18" name="Rectangle 26">
            <a:extLst>
              <a:ext uri="{FF2B5EF4-FFF2-40B4-BE49-F238E27FC236}">
                <a16:creationId xmlns:a16="http://schemas.microsoft.com/office/drawing/2014/main" id="{6000BF12-0798-48DF-B4CE-2BB28F9F37F8}"/>
              </a:ext>
            </a:extLst>
          </p:cNvPr>
          <p:cNvSpPr>
            <a:spLocks noChangeArrowheads="1"/>
          </p:cNvSpPr>
          <p:nvPr/>
        </p:nvSpPr>
        <p:spPr bwMode="auto">
          <a:xfrm>
            <a:off x="4499992" y="1995686"/>
            <a:ext cx="1368425" cy="358775"/>
          </a:xfrm>
          <a:prstGeom prst="rect">
            <a:avLst/>
          </a:prstGeom>
          <a:noFill/>
          <a:ln>
            <a:noFill/>
          </a:ln>
          <a:effectLst/>
          <a:extLst>
            <a:ext uri="{909E8E84-426E-40DD-AFC4-6F175D3DCCD1}">
              <a14:hiddenFill xmlns:a14="http://schemas.microsoft.com/office/drawing/2010/main">
                <a:solidFill>
                  <a:srgbClr val="FFFF99">
                    <a:alpha val="53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nSpc>
                <a:spcPct val="50000"/>
              </a:lnSpc>
            </a:pPr>
            <a:r>
              <a:rPr kumimoji="1" lang="zh-CN" altLang="en-US" sz="1600" dirty="0">
                <a:solidFill>
                  <a:srgbClr val="008F92"/>
                </a:solidFill>
                <a:latin typeface="微软雅黑" panose="020B0503020204020204" pitchFamily="34" charset="-122"/>
                <a:ea typeface="微软雅黑" panose="020B0503020204020204" pitchFamily="34" charset="-122"/>
              </a:rPr>
              <a:t>应用支撑平台</a:t>
            </a:r>
          </a:p>
        </p:txBody>
      </p:sp>
      <p:sp>
        <p:nvSpPr>
          <p:cNvPr id="20" name="AutoShape 27">
            <a:extLst>
              <a:ext uri="{FF2B5EF4-FFF2-40B4-BE49-F238E27FC236}">
                <a16:creationId xmlns:a16="http://schemas.microsoft.com/office/drawing/2014/main" id="{3BEA5332-01AF-4B31-BD57-34C42A2407FB}"/>
              </a:ext>
            </a:extLst>
          </p:cNvPr>
          <p:cNvSpPr>
            <a:spLocks/>
          </p:cNvSpPr>
          <p:nvPr/>
        </p:nvSpPr>
        <p:spPr bwMode="auto">
          <a:xfrm rot="5400000">
            <a:off x="5005041" y="1280044"/>
            <a:ext cx="215900" cy="2232025"/>
          </a:xfrm>
          <a:prstGeom prst="leftBrace">
            <a:avLst>
              <a:gd name="adj1" fmla="val 86152"/>
              <a:gd name="adj2" fmla="val 52940"/>
            </a:avLst>
          </a:prstGeom>
          <a:noFill/>
          <a:ln w="19050">
            <a:solidFill>
              <a:srgbClr val="2FA2A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21" name="Rectangle 28">
            <a:extLst>
              <a:ext uri="{FF2B5EF4-FFF2-40B4-BE49-F238E27FC236}">
                <a16:creationId xmlns:a16="http://schemas.microsoft.com/office/drawing/2014/main" id="{8F93EDCA-5A06-4EFD-8B1C-C7028946A936}"/>
              </a:ext>
            </a:extLst>
          </p:cNvPr>
          <p:cNvSpPr>
            <a:spLocks noChangeArrowheads="1"/>
          </p:cNvSpPr>
          <p:nvPr/>
        </p:nvSpPr>
        <p:spPr bwMode="auto">
          <a:xfrm>
            <a:off x="1909415" y="2504007"/>
            <a:ext cx="3743325" cy="32400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0" tIns="0" rIns="0" bIns="0" anchor="ctr"/>
          <a:lstStyle/>
          <a:p>
            <a:pPr>
              <a:lnSpc>
                <a:spcPct val="50000"/>
              </a:lnSpc>
            </a:pPr>
            <a:r>
              <a:rPr kumimoji="1" lang="zh-CN" altLang="en-US" sz="1600" dirty="0">
                <a:solidFill>
                  <a:schemeClr val="bg1"/>
                </a:solidFill>
                <a:latin typeface="华文楷体" panose="02010600040101010101" pitchFamily="2" charset="-122"/>
                <a:ea typeface="华文楷体" panose="02010600040101010101" pitchFamily="2" charset="-122"/>
              </a:rPr>
              <a:t>应用服务接口</a:t>
            </a:r>
          </a:p>
        </p:txBody>
      </p:sp>
    </p:spTree>
    <p:extLst>
      <p:ext uri="{BB962C8B-B14F-4D97-AF65-F5344CB8AC3E}">
        <p14:creationId xmlns:p14="http://schemas.microsoft.com/office/powerpoint/2010/main" val="116458564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82670"/>
            <a:ext cx="8208912" cy="325518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chemeClr val="accent1">
                    <a:lumMod val="75000"/>
                  </a:schemeClr>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通信协议层</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可以划分为物理层、链路层、网络层、传输层和应用层五层，而网络管理面则可以划分为能耗管理面、移动性管理面以及任务管理面。</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chemeClr val="accent1">
                    <a:lumMod val="75000"/>
                  </a:schemeClr>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网络管理平台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主要负责对节点自身的管理以及用户对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WSN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的管理，有能量管理、拓扑控制、网络管理、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QoS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支持与安全机制等</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chemeClr val="accent1">
                    <a:lumMod val="75000"/>
                  </a:schemeClr>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应用支撑平台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包括一系列检测为主的应用层软件，并通过应用服务和网络管理接口提供支持。</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Tree>
    <p:extLst>
      <p:ext uri="{BB962C8B-B14F-4D97-AF65-F5344CB8AC3E}">
        <p14:creationId xmlns:p14="http://schemas.microsoft.com/office/powerpoint/2010/main" val="7793712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438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无线传感网络的网络结构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）平面网络结构</a:t>
            </a:r>
            <a:endParaRPr lang="en-US" altLang="zh-CN"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无线传感器网络中最简单的一种拓扑结构，所有节点为对等结构，具有完全一致的功能；拓扑结构简单，易维护；由于没有中心管理节点，故采用自组织协同算法形成网络，其组网算法比较复杂</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
        <p:nvSpPr>
          <p:cNvPr id="4" name="椭圆 3">
            <a:extLst>
              <a:ext uri="{FF2B5EF4-FFF2-40B4-BE49-F238E27FC236}">
                <a16:creationId xmlns:a16="http://schemas.microsoft.com/office/drawing/2014/main" id="{A1A80135-2788-40AC-2A7A-4B7A6CA51DF3}"/>
              </a:ext>
            </a:extLst>
          </p:cNvPr>
          <p:cNvSpPr/>
          <p:nvPr/>
        </p:nvSpPr>
        <p:spPr>
          <a:xfrm>
            <a:off x="3707904" y="293179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E3CD7354-37FC-68F3-47A5-1E5255A5AFDC}"/>
              </a:ext>
            </a:extLst>
          </p:cNvPr>
          <p:cNvSpPr/>
          <p:nvPr/>
        </p:nvSpPr>
        <p:spPr>
          <a:xfrm>
            <a:off x="2771800" y="336383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57AEA25E-ADE4-36A4-7873-3EE272F44E57}"/>
              </a:ext>
            </a:extLst>
          </p:cNvPr>
          <p:cNvSpPr/>
          <p:nvPr/>
        </p:nvSpPr>
        <p:spPr>
          <a:xfrm>
            <a:off x="3599892" y="357986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33C972BA-E3C8-2FE1-2994-A5C8FCE8FF33}"/>
              </a:ext>
            </a:extLst>
          </p:cNvPr>
          <p:cNvSpPr/>
          <p:nvPr/>
        </p:nvSpPr>
        <p:spPr>
          <a:xfrm>
            <a:off x="3131840" y="401191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DAB54F68-03DD-29BF-DF8A-AF1EC845FA43}"/>
              </a:ext>
            </a:extLst>
          </p:cNvPr>
          <p:cNvSpPr/>
          <p:nvPr/>
        </p:nvSpPr>
        <p:spPr>
          <a:xfrm>
            <a:off x="4572000" y="328781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B5DB5541-76FC-1BDB-23D3-77240C04F60A}"/>
              </a:ext>
            </a:extLst>
          </p:cNvPr>
          <p:cNvSpPr/>
          <p:nvPr/>
        </p:nvSpPr>
        <p:spPr>
          <a:xfrm>
            <a:off x="5724128" y="303980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F52935AD-870E-014B-D9DC-C96E807C14A8}"/>
              </a:ext>
            </a:extLst>
          </p:cNvPr>
          <p:cNvSpPr/>
          <p:nvPr/>
        </p:nvSpPr>
        <p:spPr>
          <a:xfrm>
            <a:off x="5112062" y="3401509"/>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FB50CE99-C521-D2C9-AC83-11E1FD4EB631}"/>
              </a:ext>
            </a:extLst>
          </p:cNvPr>
          <p:cNvSpPr/>
          <p:nvPr/>
        </p:nvSpPr>
        <p:spPr>
          <a:xfrm>
            <a:off x="4211960" y="3812187"/>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8F59F7E-293D-796B-696E-4A77FE0319E8}"/>
              </a:ext>
            </a:extLst>
          </p:cNvPr>
          <p:cNvSpPr/>
          <p:nvPr/>
        </p:nvSpPr>
        <p:spPr>
          <a:xfrm>
            <a:off x="4869292" y="422793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2A971E08-A24D-7E1B-94DE-A7C168029074}"/>
              </a:ext>
            </a:extLst>
          </p:cNvPr>
          <p:cNvSpPr/>
          <p:nvPr/>
        </p:nvSpPr>
        <p:spPr>
          <a:xfrm>
            <a:off x="5517364" y="393589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1AF4BB7-E7AB-3954-9751-FF055BAF73CE}"/>
              </a:ext>
            </a:extLst>
          </p:cNvPr>
          <p:cNvSpPr/>
          <p:nvPr/>
        </p:nvSpPr>
        <p:spPr>
          <a:xfrm>
            <a:off x="6156176" y="3596163"/>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45973648-5D4A-DE16-AA5C-D6694B2FDAA1}"/>
              </a:ext>
            </a:extLst>
          </p:cNvPr>
          <p:cNvSpPr/>
          <p:nvPr/>
        </p:nvSpPr>
        <p:spPr>
          <a:xfrm>
            <a:off x="6808012" y="3380139"/>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a:extLst>
              <a:ext uri="{FF2B5EF4-FFF2-40B4-BE49-F238E27FC236}">
                <a16:creationId xmlns:a16="http://schemas.microsoft.com/office/drawing/2014/main" id="{B154A0AF-0255-A0E3-F2C3-88776E9CFE95}"/>
              </a:ext>
            </a:extLst>
          </p:cNvPr>
          <p:cNvCxnSpPr>
            <a:cxnSpLocks/>
            <a:stCxn id="4" idx="2"/>
            <a:endCxn id="5" idx="7"/>
          </p:cNvCxnSpPr>
          <p:nvPr/>
        </p:nvCxnSpPr>
        <p:spPr>
          <a:xfrm flipH="1">
            <a:off x="2956188" y="3039802"/>
            <a:ext cx="751716" cy="35567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4DDA2BB-0973-77CA-4D0B-C80DB2DE7D6A}"/>
              </a:ext>
            </a:extLst>
          </p:cNvPr>
          <p:cNvCxnSpPr>
            <a:cxnSpLocks/>
            <a:stCxn id="4" idx="2"/>
            <a:endCxn id="6" idx="0"/>
          </p:cNvCxnSpPr>
          <p:nvPr/>
        </p:nvCxnSpPr>
        <p:spPr>
          <a:xfrm>
            <a:off x="3707904" y="3039802"/>
            <a:ext cx="0" cy="54006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3F322417-29D0-ECD1-0021-331BD7F35E58}"/>
              </a:ext>
            </a:extLst>
          </p:cNvPr>
          <p:cNvCxnSpPr>
            <a:cxnSpLocks/>
            <a:stCxn id="4" idx="6"/>
            <a:endCxn id="8" idx="1"/>
          </p:cNvCxnSpPr>
          <p:nvPr/>
        </p:nvCxnSpPr>
        <p:spPr>
          <a:xfrm>
            <a:off x="3923928" y="3039802"/>
            <a:ext cx="679708" cy="27965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752AC0D-5B52-D9CC-02FB-B89DFE0E8EED}"/>
              </a:ext>
            </a:extLst>
          </p:cNvPr>
          <p:cNvCxnSpPr>
            <a:cxnSpLocks/>
            <a:stCxn id="6" idx="0"/>
            <a:endCxn id="8" idx="1"/>
          </p:cNvCxnSpPr>
          <p:nvPr/>
        </p:nvCxnSpPr>
        <p:spPr>
          <a:xfrm flipV="1">
            <a:off x="3707904" y="3319454"/>
            <a:ext cx="895732" cy="26040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78DE677-2128-BA39-EADC-0D508AB56BB8}"/>
              </a:ext>
            </a:extLst>
          </p:cNvPr>
          <p:cNvCxnSpPr>
            <a:cxnSpLocks/>
            <a:stCxn id="5" idx="7"/>
            <a:endCxn id="6" idx="2"/>
          </p:cNvCxnSpPr>
          <p:nvPr/>
        </p:nvCxnSpPr>
        <p:spPr>
          <a:xfrm>
            <a:off x="2956188" y="3395474"/>
            <a:ext cx="643704" cy="29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0F7BDE3E-7DB4-4528-9342-981427ED2897}"/>
              </a:ext>
            </a:extLst>
          </p:cNvPr>
          <p:cNvCxnSpPr>
            <a:cxnSpLocks/>
            <a:stCxn id="5" idx="5"/>
            <a:endCxn id="7" idx="1"/>
          </p:cNvCxnSpPr>
          <p:nvPr/>
        </p:nvCxnSpPr>
        <p:spPr>
          <a:xfrm>
            <a:off x="2956188" y="3548226"/>
            <a:ext cx="207288" cy="49532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EDAE7E5-21DC-0E4C-5F79-AB8B49B267DE}"/>
              </a:ext>
            </a:extLst>
          </p:cNvPr>
          <p:cNvCxnSpPr>
            <a:cxnSpLocks/>
            <a:stCxn id="6" idx="3"/>
            <a:endCxn id="7" idx="7"/>
          </p:cNvCxnSpPr>
          <p:nvPr/>
        </p:nvCxnSpPr>
        <p:spPr>
          <a:xfrm flipH="1">
            <a:off x="3316228" y="3764250"/>
            <a:ext cx="315300" cy="279296"/>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6E16E942-7E8F-4112-1716-FDF3595933E3}"/>
              </a:ext>
            </a:extLst>
          </p:cNvPr>
          <p:cNvCxnSpPr>
            <a:cxnSpLocks/>
            <a:stCxn id="6" idx="5"/>
            <a:endCxn id="11" idx="2"/>
          </p:cNvCxnSpPr>
          <p:nvPr/>
        </p:nvCxnSpPr>
        <p:spPr>
          <a:xfrm>
            <a:off x="3784280" y="3764250"/>
            <a:ext cx="427680" cy="15594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FAC8D7BE-B9C0-092D-1D36-FF8A0DF3833C}"/>
              </a:ext>
            </a:extLst>
          </p:cNvPr>
          <p:cNvCxnSpPr>
            <a:cxnSpLocks/>
            <a:stCxn id="7" idx="5"/>
            <a:endCxn id="11" idx="2"/>
          </p:cNvCxnSpPr>
          <p:nvPr/>
        </p:nvCxnSpPr>
        <p:spPr>
          <a:xfrm flipV="1">
            <a:off x="3316228" y="3920199"/>
            <a:ext cx="895732" cy="27609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C4352234-C5F4-3621-37BC-81FD2ADCB7EF}"/>
              </a:ext>
            </a:extLst>
          </p:cNvPr>
          <p:cNvCxnSpPr>
            <a:cxnSpLocks/>
            <a:stCxn id="11" idx="7"/>
            <a:endCxn id="8" idx="4"/>
          </p:cNvCxnSpPr>
          <p:nvPr/>
        </p:nvCxnSpPr>
        <p:spPr>
          <a:xfrm flipV="1">
            <a:off x="4396348" y="3503842"/>
            <a:ext cx="283664" cy="33998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3159C88C-810F-EC36-002A-D33EB4B8AEF5}"/>
              </a:ext>
            </a:extLst>
          </p:cNvPr>
          <p:cNvCxnSpPr>
            <a:cxnSpLocks/>
            <a:stCxn id="10" idx="1"/>
            <a:endCxn id="8" idx="6"/>
          </p:cNvCxnSpPr>
          <p:nvPr/>
        </p:nvCxnSpPr>
        <p:spPr>
          <a:xfrm flipH="1" flipV="1">
            <a:off x="4788024" y="3395830"/>
            <a:ext cx="355674" cy="3731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E841E902-44BD-0C8F-2C95-A900DFABF96E}"/>
              </a:ext>
            </a:extLst>
          </p:cNvPr>
          <p:cNvCxnSpPr>
            <a:cxnSpLocks/>
            <a:stCxn id="12" idx="1"/>
            <a:endCxn id="11" idx="5"/>
          </p:cNvCxnSpPr>
          <p:nvPr/>
        </p:nvCxnSpPr>
        <p:spPr>
          <a:xfrm flipH="1" flipV="1">
            <a:off x="4396348" y="3996575"/>
            <a:ext cx="504580" cy="26299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D9FF9C69-FAAF-9964-8EA0-42115DA52F4E}"/>
              </a:ext>
            </a:extLst>
          </p:cNvPr>
          <p:cNvCxnSpPr>
            <a:cxnSpLocks/>
            <a:stCxn id="12" idx="7"/>
            <a:endCxn id="10" idx="4"/>
          </p:cNvCxnSpPr>
          <p:nvPr/>
        </p:nvCxnSpPr>
        <p:spPr>
          <a:xfrm flipV="1">
            <a:off x="5053680" y="3617533"/>
            <a:ext cx="166394" cy="64203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22A453BF-1E9F-946A-C113-4FFA5DC8EF35}"/>
              </a:ext>
            </a:extLst>
          </p:cNvPr>
          <p:cNvCxnSpPr>
            <a:cxnSpLocks/>
            <a:stCxn id="13" idx="0"/>
            <a:endCxn id="10" idx="5"/>
          </p:cNvCxnSpPr>
          <p:nvPr/>
        </p:nvCxnSpPr>
        <p:spPr>
          <a:xfrm flipH="1" flipV="1">
            <a:off x="5296450" y="3585897"/>
            <a:ext cx="328926" cy="34999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53FD045C-84C8-4851-582D-92D55B158F88}"/>
              </a:ext>
            </a:extLst>
          </p:cNvPr>
          <p:cNvCxnSpPr>
            <a:cxnSpLocks/>
            <a:stCxn id="13" idx="3"/>
            <a:endCxn id="12" idx="5"/>
          </p:cNvCxnSpPr>
          <p:nvPr/>
        </p:nvCxnSpPr>
        <p:spPr>
          <a:xfrm flipH="1">
            <a:off x="5053680" y="4120278"/>
            <a:ext cx="495320" cy="292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2F76A081-FEBB-D008-8087-CEB5D8886241}"/>
              </a:ext>
            </a:extLst>
          </p:cNvPr>
          <p:cNvCxnSpPr>
            <a:cxnSpLocks/>
            <a:stCxn id="14" idx="3"/>
            <a:endCxn id="13" idx="6"/>
          </p:cNvCxnSpPr>
          <p:nvPr/>
        </p:nvCxnSpPr>
        <p:spPr>
          <a:xfrm flipH="1">
            <a:off x="5733388" y="3780551"/>
            <a:ext cx="454424" cy="26335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45C53E5B-1EA9-6C14-FE81-C01F0010BE3F}"/>
              </a:ext>
            </a:extLst>
          </p:cNvPr>
          <p:cNvCxnSpPr>
            <a:cxnSpLocks/>
            <a:stCxn id="15" idx="3"/>
            <a:endCxn id="14" idx="6"/>
          </p:cNvCxnSpPr>
          <p:nvPr/>
        </p:nvCxnSpPr>
        <p:spPr>
          <a:xfrm flipH="1">
            <a:off x="6372200" y="3564527"/>
            <a:ext cx="467448" cy="13964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B4F5798-AD8A-BAF0-7C82-02AB397179FC}"/>
              </a:ext>
            </a:extLst>
          </p:cNvPr>
          <p:cNvCxnSpPr>
            <a:cxnSpLocks/>
            <a:stCxn id="14" idx="1"/>
            <a:endCxn id="9" idx="5"/>
          </p:cNvCxnSpPr>
          <p:nvPr/>
        </p:nvCxnSpPr>
        <p:spPr>
          <a:xfrm flipH="1" flipV="1">
            <a:off x="5908516" y="3224190"/>
            <a:ext cx="279296" cy="40360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12B33A7E-BC85-C248-8152-A691CA92B9B4}"/>
              </a:ext>
            </a:extLst>
          </p:cNvPr>
          <p:cNvCxnSpPr>
            <a:cxnSpLocks/>
            <a:stCxn id="10" idx="7"/>
            <a:endCxn id="9" idx="3"/>
          </p:cNvCxnSpPr>
          <p:nvPr/>
        </p:nvCxnSpPr>
        <p:spPr>
          <a:xfrm flipV="1">
            <a:off x="5296450" y="3224190"/>
            <a:ext cx="459314" cy="20895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80503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575556" y="585904"/>
            <a:ext cx="8208912" cy="2183868"/>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）分级式网络结构</a:t>
            </a:r>
            <a:endParaRPr lang="en-US" altLang="zh-CN"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分级网路结构也叫层次网络结构，它是无线传感器网络中平面网络结构的一种扩展拓扑结构。网络分为上层和下层两个部分：上层为中心骨干节点；下层为一般传感器节点。</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分级结构中，一个 </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WSN </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划分为多个簇，每个簇由一个簇头和多个簇成员组成。簇头间可形成高一级网络，簇头负责簇间数据转发，簇成员只负责数据采集，这样就减少了路由控制信息的数量。一般中小网络采用平面结构，较大网络采用分级结构。</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
        <p:nvSpPr>
          <p:cNvPr id="4" name="椭圆 3">
            <a:extLst>
              <a:ext uri="{FF2B5EF4-FFF2-40B4-BE49-F238E27FC236}">
                <a16:creationId xmlns:a16="http://schemas.microsoft.com/office/drawing/2014/main" id="{A1A80135-2788-40AC-2A7A-4B7A6CA51DF3}"/>
              </a:ext>
            </a:extLst>
          </p:cNvPr>
          <p:cNvSpPr/>
          <p:nvPr/>
        </p:nvSpPr>
        <p:spPr>
          <a:xfrm>
            <a:off x="3828285" y="283340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E3CD7354-37FC-68F3-47A5-1E5255A5AFDC}"/>
              </a:ext>
            </a:extLst>
          </p:cNvPr>
          <p:cNvSpPr/>
          <p:nvPr/>
        </p:nvSpPr>
        <p:spPr>
          <a:xfrm>
            <a:off x="2906556" y="314781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57AEA25E-ADE4-36A4-7873-3EE272F44E57}"/>
              </a:ext>
            </a:extLst>
          </p:cNvPr>
          <p:cNvSpPr/>
          <p:nvPr/>
        </p:nvSpPr>
        <p:spPr>
          <a:xfrm>
            <a:off x="3734648" y="336383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33C972BA-E3C8-2FE1-2994-A5C8FCE8FF33}"/>
              </a:ext>
            </a:extLst>
          </p:cNvPr>
          <p:cNvSpPr/>
          <p:nvPr/>
        </p:nvSpPr>
        <p:spPr>
          <a:xfrm>
            <a:off x="3266596" y="3795886"/>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DAB54F68-03DD-29BF-DF8A-AF1EC845FA43}"/>
              </a:ext>
            </a:extLst>
          </p:cNvPr>
          <p:cNvSpPr/>
          <p:nvPr/>
        </p:nvSpPr>
        <p:spPr>
          <a:xfrm>
            <a:off x="4706756" y="307179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B5DB5541-76FC-1BDB-23D3-77240C04F60A}"/>
              </a:ext>
            </a:extLst>
          </p:cNvPr>
          <p:cNvSpPr/>
          <p:nvPr/>
        </p:nvSpPr>
        <p:spPr>
          <a:xfrm>
            <a:off x="5858884" y="282377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F52935AD-870E-014B-D9DC-C96E807C14A8}"/>
              </a:ext>
            </a:extLst>
          </p:cNvPr>
          <p:cNvSpPr/>
          <p:nvPr/>
        </p:nvSpPr>
        <p:spPr>
          <a:xfrm>
            <a:off x="5246818" y="3185485"/>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FB50CE99-C521-D2C9-AC83-11E1FD4EB631}"/>
              </a:ext>
            </a:extLst>
          </p:cNvPr>
          <p:cNvSpPr/>
          <p:nvPr/>
        </p:nvSpPr>
        <p:spPr>
          <a:xfrm>
            <a:off x="4346716" y="3596163"/>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8F59F7E-293D-796B-696E-4A77FE0319E8}"/>
              </a:ext>
            </a:extLst>
          </p:cNvPr>
          <p:cNvSpPr/>
          <p:nvPr/>
        </p:nvSpPr>
        <p:spPr>
          <a:xfrm>
            <a:off x="5004048" y="401191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2A971E08-A24D-7E1B-94DE-A7C168029074}"/>
              </a:ext>
            </a:extLst>
          </p:cNvPr>
          <p:cNvSpPr/>
          <p:nvPr/>
        </p:nvSpPr>
        <p:spPr>
          <a:xfrm>
            <a:off x="5652120" y="3719866"/>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1AF4BB7-E7AB-3954-9751-FF055BAF73CE}"/>
              </a:ext>
            </a:extLst>
          </p:cNvPr>
          <p:cNvSpPr/>
          <p:nvPr/>
        </p:nvSpPr>
        <p:spPr>
          <a:xfrm>
            <a:off x="6290932" y="3380139"/>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45973648-5D4A-DE16-AA5C-D6694B2FDAA1}"/>
              </a:ext>
            </a:extLst>
          </p:cNvPr>
          <p:cNvSpPr/>
          <p:nvPr/>
        </p:nvSpPr>
        <p:spPr>
          <a:xfrm>
            <a:off x="6942768" y="3164115"/>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a:extLst>
              <a:ext uri="{FF2B5EF4-FFF2-40B4-BE49-F238E27FC236}">
                <a16:creationId xmlns:a16="http://schemas.microsoft.com/office/drawing/2014/main" id="{B154A0AF-0255-A0E3-F2C3-88776E9CFE95}"/>
              </a:ext>
            </a:extLst>
          </p:cNvPr>
          <p:cNvCxnSpPr>
            <a:cxnSpLocks/>
            <a:stCxn id="4" idx="2"/>
            <a:endCxn id="5" idx="7"/>
          </p:cNvCxnSpPr>
          <p:nvPr/>
        </p:nvCxnSpPr>
        <p:spPr>
          <a:xfrm flipH="1">
            <a:off x="3090944" y="2941412"/>
            <a:ext cx="737341" cy="23803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4DDA2BB-0973-77CA-4D0B-C80DB2DE7D6A}"/>
              </a:ext>
            </a:extLst>
          </p:cNvPr>
          <p:cNvCxnSpPr>
            <a:cxnSpLocks/>
            <a:stCxn id="4" idx="2"/>
            <a:endCxn id="6" idx="0"/>
          </p:cNvCxnSpPr>
          <p:nvPr/>
        </p:nvCxnSpPr>
        <p:spPr>
          <a:xfrm>
            <a:off x="3828285" y="2941412"/>
            <a:ext cx="14375" cy="422426"/>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3F322417-29D0-ECD1-0021-331BD7F35E58}"/>
              </a:ext>
            </a:extLst>
          </p:cNvPr>
          <p:cNvCxnSpPr>
            <a:cxnSpLocks/>
            <a:stCxn id="4" idx="6"/>
            <a:endCxn id="8" idx="1"/>
          </p:cNvCxnSpPr>
          <p:nvPr/>
        </p:nvCxnSpPr>
        <p:spPr>
          <a:xfrm>
            <a:off x="4044309" y="2941412"/>
            <a:ext cx="694083" cy="16201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752AC0D-5B52-D9CC-02FB-B89DFE0E8EED}"/>
              </a:ext>
            </a:extLst>
          </p:cNvPr>
          <p:cNvCxnSpPr>
            <a:cxnSpLocks/>
            <a:stCxn id="6" idx="0"/>
            <a:endCxn id="8" idx="1"/>
          </p:cNvCxnSpPr>
          <p:nvPr/>
        </p:nvCxnSpPr>
        <p:spPr>
          <a:xfrm flipV="1">
            <a:off x="3842660" y="3103430"/>
            <a:ext cx="895732" cy="26040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78DE677-2128-BA39-EADC-0D508AB56BB8}"/>
              </a:ext>
            </a:extLst>
          </p:cNvPr>
          <p:cNvCxnSpPr>
            <a:cxnSpLocks/>
            <a:stCxn id="5" idx="7"/>
            <a:endCxn id="6" idx="2"/>
          </p:cNvCxnSpPr>
          <p:nvPr/>
        </p:nvCxnSpPr>
        <p:spPr>
          <a:xfrm>
            <a:off x="3090944" y="3179450"/>
            <a:ext cx="643704" cy="29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0F7BDE3E-7DB4-4528-9342-981427ED2897}"/>
              </a:ext>
            </a:extLst>
          </p:cNvPr>
          <p:cNvCxnSpPr>
            <a:cxnSpLocks/>
            <a:stCxn id="5" idx="5"/>
            <a:endCxn id="7" idx="1"/>
          </p:cNvCxnSpPr>
          <p:nvPr/>
        </p:nvCxnSpPr>
        <p:spPr>
          <a:xfrm>
            <a:off x="3090944" y="3332202"/>
            <a:ext cx="207288" cy="49532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EDAE7E5-21DC-0E4C-5F79-AB8B49B267DE}"/>
              </a:ext>
            </a:extLst>
          </p:cNvPr>
          <p:cNvCxnSpPr>
            <a:cxnSpLocks/>
            <a:stCxn id="6" idx="3"/>
            <a:endCxn id="7" idx="7"/>
          </p:cNvCxnSpPr>
          <p:nvPr/>
        </p:nvCxnSpPr>
        <p:spPr>
          <a:xfrm flipH="1">
            <a:off x="3450984" y="3548226"/>
            <a:ext cx="315300" cy="279296"/>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6E16E942-7E8F-4112-1716-FDF3595933E3}"/>
              </a:ext>
            </a:extLst>
          </p:cNvPr>
          <p:cNvCxnSpPr>
            <a:cxnSpLocks/>
            <a:stCxn id="6" idx="5"/>
            <a:endCxn id="11" idx="2"/>
          </p:cNvCxnSpPr>
          <p:nvPr/>
        </p:nvCxnSpPr>
        <p:spPr>
          <a:xfrm>
            <a:off x="3919036" y="3548226"/>
            <a:ext cx="427680" cy="15594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FAC8D7BE-B9C0-092D-1D36-FF8A0DF3833C}"/>
              </a:ext>
            </a:extLst>
          </p:cNvPr>
          <p:cNvCxnSpPr>
            <a:cxnSpLocks/>
            <a:stCxn id="7" idx="5"/>
            <a:endCxn id="11" idx="2"/>
          </p:cNvCxnSpPr>
          <p:nvPr/>
        </p:nvCxnSpPr>
        <p:spPr>
          <a:xfrm flipV="1">
            <a:off x="3450984" y="3704175"/>
            <a:ext cx="895732" cy="27609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C4352234-C5F4-3621-37BC-81FD2ADCB7EF}"/>
              </a:ext>
            </a:extLst>
          </p:cNvPr>
          <p:cNvCxnSpPr>
            <a:cxnSpLocks/>
            <a:stCxn id="11" idx="7"/>
            <a:endCxn id="8" idx="4"/>
          </p:cNvCxnSpPr>
          <p:nvPr/>
        </p:nvCxnSpPr>
        <p:spPr>
          <a:xfrm flipV="1">
            <a:off x="4531104" y="3287818"/>
            <a:ext cx="283664" cy="33998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3159C88C-810F-EC36-002A-D33EB4B8AEF5}"/>
              </a:ext>
            </a:extLst>
          </p:cNvPr>
          <p:cNvCxnSpPr>
            <a:cxnSpLocks/>
            <a:stCxn id="10" idx="1"/>
            <a:endCxn id="8" idx="6"/>
          </p:cNvCxnSpPr>
          <p:nvPr/>
        </p:nvCxnSpPr>
        <p:spPr>
          <a:xfrm flipH="1" flipV="1">
            <a:off x="4922780" y="3179806"/>
            <a:ext cx="355674" cy="3731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E841E902-44BD-0C8F-2C95-A900DFABF96E}"/>
              </a:ext>
            </a:extLst>
          </p:cNvPr>
          <p:cNvCxnSpPr>
            <a:cxnSpLocks/>
            <a:stCxn id="12" idx="1"/>
            <a:endCxn id="11" idx="5"/>
          </p:cNvCxnSpPr>
          <p:nvPr/>
        </p:nvCxnSpPr>
        <p:spPr>
          <a:xfrm flipH="1" flipV="1">
            <a:off x="4531104" y="3780551"/>
            <a:ext cx="504580" cy="26299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D9FF9C69-FAAF-9964-8EA0-42115DA52F4E}"/>
              </a:ext>
            </a:extLst>
          </p:cNvPr>
          <p:cNvCxnSpPr>
            <a:cxnSpLocks/>
            <a:stCxn id="12" idx="7"/>
            <a:endCxn id="10" idx="4"/>
          </p:cNvCxnSpPr>
          <p:nvPr/>
        </p:nvCxnSpPr>
        <p:spPr>
          <a:xfrm flipV="1">
            <a:off x="5188436" y="3401509"/>
            <a:ext cx="166394" cy="64203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22A453BF-1E9F-946A-C113-4FFA5DC8EF35}"/>
              </a:ext>
            </a:extLst>
          </p:cNvPr>
          <p:cNvCxnSpPr>
            <a:cxnSpLocks/>
            <a:stCxn id="13" idx="0"/>
            <a:endCxn id="10" idx="5"/>
          </p:cNvCxnSpPr>
          <p:nvPr/>
        </p:nvCxnSpPr>
        <p:spPr>
          <a:xfrm flipH="1" flipV="1">
            <a:off x="5431206" y="3369873"/>
            <a:ext cx="328926" cy="34999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53FD045C-84C8-4851-582D-92D55B158F88}"/>
              </a:ext>
            </a:extLst>
          </p:cNvPr>
          <p:cNvCxnSpPr>
            <a:cxnSpLocks/>
            <a:stCxn id="13" idx="3"/>
            <a:endCxn id="12" idx="5"/>
          </p:cNvCxnSpPr>
          <p:nvPr/>
        </p:nvCxnSpPr>
        <p:spPr>
          <a:xfrm flipH="1">
            <a:off x="5188436" y="3904254"/>
            <a:ext cx="495320" cy="292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2F76A081-FEBB-D008-8087-CEB5D8886241}"/>
              </a:ext>
            </a:extLst>
          </p:cNvPr>
          <p:cNvCxnSpPr>
            <a:cxnSpLocks/>
            <a:stCxn id="14" idx="3"/>
            <a:endCxn id="13" idx="6"/>
          </p:cNvCxnSpPr>
          <p:nvPr/>
        </p:nvCxnSpPr>
        <p:spPr>
          <a:xfrm flipH="1">
            <a:off x="5868144" y="3564527"/>
            <a:ext cx="454424" cy="26335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45C53E5B-1EA9-6C14-FE81-C01F0010BE3F}"/>
              </a:ext>
            </a:extLst>
          </p:cNvPr>
          <p:cNvCxnSpPr>
            <a:cxnSpLocks/>
            <a:stCxn id="15" idx="3"/>
            <a:endCxn id="14" idx="6"/>
          </p:cNvCxnSpPr>
          <p:nvPr/>
        </p:nvCxnSpPr>
        <p:spPr>
          <a:xfrm flipH="1">
            <a:off x="6506956" y="3348503"/>
            <a:ext cx="467448" cy="13964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B4F5798-AD8A-BAF0-7C82-02AB397179FC}"/>
              </a:ext>
            </a:extLst>
          </p:cNvPr>
          <p:cNvCxnSpPr>
            <a:cxnSpLocks/>
            <a:stCxn id="14" idx="1"/>
            <a:endCxn id="9" idx="5"/>
          </p:cNvCxnSpPr>
          <p:nvPr/>
        </p:nvCxnSpPr>
        <p:spPr>
          <a:xfrm flipH="1" flipV="1">
            <a:off x="6043272" y="3008166"/>
            <a:ext cx="279296" cy="40360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12B33A7E-BC85-C248-8152-A691CA92B9B4}"/>
              </a:ext>
            </a:extLst>
          </p:cNvPr>
          <p:cNvCxnSpPr>
            <a:cxnSpLocks/>
            <a:stCxn id="10" idx="7"/>
            <a:endCxn id="9" idx="3"/>
          </p:cNvCxnSpPr>
          <p:nvPr/>
        </p:nvCxnSpPr>
        <p:spPr>
          <a:xfrm flipV="1">
            <a:off x="5431206" y="3008166"/>
            <a:ext cx="459314" cy="20895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7297D5D9-4990-9F0E-E9D4-73FFA322079F}"/>
              </a:ext>
            </a:extLst>
          </p:cNvPr>
          <p:cNvSpPr/>
          <p:nvPr/>
        </p:nvSpPr>
        <p:spPr>
          <a:xfrm>
            <a:off x="2796884" y="4587974"/>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EE1D7D0C-B933-6E8C-25EE-677BC56A0059}"/>
              </a:ext>
            </a:extLst>
          </p:cNvPr>
          <p:cNvSpPr/>
          <p:nvPr/>
        </p:nvSpPr>
        <p:spPr>
          <a:xfrm>
            <a:off x="3321981" y="4803998"/>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D4066171-F257-3DC9-2B1B-96F62C52DFD9}"/>
              </a:ext>
            </a:extLst>
          </p:cNvPr>
          <p:cNvSpPr/>
          <p:nvPr/>
        </p:nvSpPr>
        <p:spPr>
          <a:xfrm>
            <a:off x="4015604" y="4557596"/>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8D48E230-B6B0-B198-3403-15186EE1BB99}"/>
              </a:ext>
            </a:extLst>
          </p:cNvPr>
          <p:cNvSpPr/>
          <p:nvPr/>
        </p:nvSpPr>
        <p:spPr>
          <a:xfrm>
            <a:off x="4540701" y="4773620"/>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2CA12D38-1644-7AB2-C2E3-09D1F1CDF0C4}"/>
              </a:ext>
            </a:extLst>
          </p:cNvPr>
          <p:cNvSpPr/>
          <p:nvPr/>
        </p:nvSpPr>
        <p:spPr>
          <a:xfrm>
            <a:off x="5354830" y="4546291"/>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2423899-0E6F-7425-44CB-EA17ECC5E3F3}"/>
              </a:ext>
            </a:extLst>
          </p:cNvPr>
          <p:cNvSpPr/>
          <p:nvPr/>
        </p:nvSpPr>
        <p:spPr>
          <a:xfrm>
            <a:off x="5879927" y="4762315"/>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6759535C-C77C-3170-3940-9A279414DA61}"/>
              </a:ext>
            </a:extLst>
          </p:cNvPr>
          <p:cNvSpPr/>
          <p:nvPr/>
        </p:nvSpPr>
        <p:spPr>
          <a:xfrm>
            <a:off x="6159797" y="4484741"/>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cxnSp>
        <p:nvCxnSpPr>
          <p:cNvPr id="27" name="直接连接符 26">
            <a:extLst>
              <a:ext uri="{FF2B5EF4-FFF2-40B4-BE49-F238E27FC236}">
                <a16:creationId xmlns:a16="http://schemas.microsoft.com/office/drawing/2014/main" id="{A1A9C54E-F575-59E9-AC76-05660900A6A0}"/>
              </a:ext>
            </a:extLst>
          </p:cNvPr>
          <p:cNvCxnSpPr>
            <a:cxnSpLocks/>
            <a:stCxn id="7" idx="3"/>
            <a:endCxn id="16" idx="7"/>
          </p:cNvCxnSpPr>
          <p:nvPr/>
        </p:nvCxnSpPr>
        <p:spPr>
          <a:xfrm flipH="1">
            <a:off x="2981272" y="3980274"/>
            <a:ext cx="316960" cy="639336"/>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E1E0306-8167-A967-B035-86AA1FABCE3A}"/>
              </a:ext>
            </a:extLst>
          </p:cNvPr>
          <p:cNvCxnSpPr>
            <a:cxnSpLocks/>
            <a:stCxn id="7" idx="3"/>
            <a:endCxn id="17" idx="0"/>
          </p:cNvCxnSpPr>
          <p:nvPr/>
        </p:nvCxnSpPr>
        <p:spPr>
          <a:xfrm>
            <a:off x="3298232" y="3980274"/>
            <a:ext cx="131761" cy="823724"/>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0019607F-6DAC-135A-E9D1-13B28CFFE7C8}"/>
              </a:ext>
            </a:extLst>
          </p:cNvPr>
          <p:cNvCxnSpPr>
            <a:cxnSpLocks/>
            <a:stCxn id="11" idx="4"/>
            <a:endCxn id="18" idx="0"/>
          </p:cNvCxnSpPr>
          <p:nvPr/>
        </p:nvCxnSpPr>
        <p:spPr>
          <a:xfrm flipH="1">
            <a:off x="4123616" y="3812187"/>
            <a:ext cx="331112" cy="745409"/>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C9EE287-FA6A-D856-0A64-1E4B486F9774}"/>
              </a:ext>
            </a:extLst>
          </p:cNvPr>
          <p:cNvCxnSpPr>
            <a:cxnSpLocks/>
            <a:stCxn id="11" idx="4"/>
            <a:endCxn id="20" idx="0"/>
          </p:cNvCxnSpPr>
          <p:nvPr/>
        </p:nvCxnSpPr>
        <p:spPr>
          <a:xfrm>
            <a:off x="4454728" y="3812187"/>
            <a:ext cx="193985" cy="961433"/>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322E15CA-B0F5-EA3C-7CC2-EF8398387F71}"/>
              </a:ext>
            </a:extLst>
          </p:cNvPr>
          <p:cNvCxnSpPr>
            <a:cxnSpLocks/>
            <a:stCxn id="13" idx="4"/>
            <a:endCxn id="22" idx="0"/>
          </p:cNvCxnSpPr>
          <p:nvPr/>
        </p:nvCxnSpPr>
        <p:spPr>
          <a:xfrm flipH="1">
            <a:off x="5462842" y="3935890"/>
            <a:ext cx="297290" cy="610401"/>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5601FDBE-634D-62E5-FD05-DC1EFEBF7991}"/>
              </a:ext>
            </a:extLst>
          </p:cNvPr>
          <p:cNvCxnSpPr>
            <a:cxnSpLocks/>
            <a:stCxn id="13" idx="4"/>
            <a:endCxn id="24" idx="0"/>
          </p:cNvCxnSpPr>
          <p:nvPr/>
        </p:nvCxnSpPr>
        <p:spPr>
          <a:xfrm>
            <a:off x="5760132" y="3935890"/>
            <a:ext cx="227807" cy="826425"/>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5E8A8EFC-6D8C-0CEB-A439-9279C02815B8}"/>
              </a:ext>
            </a:extLst>
          </p:cNvPr>
          <p:cNvCxnSpPr>
            <a:cxnSpLocks/>
            <a:stCxn id="13" idx="4"/>
            <a:endCxn id="25" idx="0"/>
          </p:cNvCxnSpPr>
          <p:nvPr/>
        </p:nvCxnSpPr>
        <p:spPr>
          <a:xfrm>
            <a:off x="5760132" y="3935890"/>
            <a:ext cx="507677" cy="548851"/>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02F001FC-2B6D-2896-FD0D-E0FF6F8CA741}"/>
              </a:ext>
            </a:extLst>
          </p:cNvPr>
          <p:cNvSpPr/>
          <p:nvPr/>
        </p:nvSpPr>
        <p:spPr>
          <a:xfrm>
            <a:off x="2657412" y="2715766"/>
            <a:ext cx="4650891" cy="1584175"/>
          </a:xfrm>
          <a:prstGeom prst="ellipse">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75A20AEB-B930-A8B2-6496-9A81BC87D87F}"/>
              </a:ext>
            </a:extLst>
          </p:cNvPr>
          <p:cNvSpPr/>
          <p:nvPr/>
        </p:nvSpPr>
        <p:spPr>
          <a:xfrm>
            <a:off x="2657412" y="4347878"/>
            <a:ext cx="4650891" cy="795622"/>
          </a:xfrm>
          <a:prstGeom prst="ellipse">
            <a:avLst/>
          </a:prstGeom>
          <a:noFill/>
          <a:ln>
            <a:solidFill>
              <a:srgbClr val="008F9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C3D48F24-4F44-E298-FC30-8390B742CD0D}"/>
              </a:ext>
            </a:extLst>
          </p:cNvPr>
          <p:cNvSpPr txBox="1"/>
          <p:nvPr/>
        </p:nvSpPr>
        <p:spPr>
          <a:xfrm>
            <a:off x="1669206" y="3171761"/>
            <a:ext cx="902811" cy="307777"/>
          </a:xfrm>
          <a:prstGeom prst="rect">
            <a:avLst/>
          </a:prstGeom>
          <a:noFill/>
        </p:spPr>
        <p:txBody>
          <a:bodyPr wrap="none" rtlCol="0">
            <a:spAutoFit/>
          </a:bodyPr>
          <a:lstStyle/>
          <a:p>
            <a:r>
              <a:rPr lang="zh-CN" altLang="en-US" sz="1400" dirty="0">
                <a:solidFill>
                  <a:schemeClr val="accent1">
                    <a:lumMod val="75000"/>
                  </a:schemeClr>
                </a:solidFill>
                <a:latin typeface="华文楷体" panose="02010600040101010101" pitchFamily="2" charset="-122"/>
                <a:ea typeface="华文楷体" panose="02010600040101010101" pitchFamily="2" charset="-122"/>
              </a:rPr>
              <a:t>骨干节点</a:t>
            </a:r>
          </a:p>
        </p:txBody>
      </p:sp>
      <p:sp>
        <p:nvSpPr>
          <p:cNvPr id="68" name="文本框 67">
            <a:extLst>
              <a:ext uri="{FF2B5EF4-FFF2-40B4-BE49-F238E27FC236}">
                <a16:creationId xmlns:a16="http://schemas.microsoft.com/office/drawing/2014/main" id="{E6EB7F43-EB99-8BF3-449E-819E4426AA89}"/>
              </a:ext>
            </a:extLst>
          </p:cNvPr>
          <p:cNvSpPr txBox="1"/>
          <p:nvPr/>
        </p:nvSpPr>
        <p:spPr>
          <a:xfrm>
            <a:off x="1200378" y="4573855"/>
            <a:ext cx="1441420" cy="307777"/>
          </a:xfrm>
          <a:prstGeom prst="rect">
            <a:avLst/>
          </a:prstGeom>
          <a:noFill/>
        </p:spPr>
        <p:txBody>
          <a:bodyPr wrap="none" rtlCol="0">
            <a:spAutoFit/>
          </a:bodyPr>
          <a:lstStyle/>
          <a:p>
            <a:r>
              <a:rPr lang="zh-CN" altLang="en-US" sz="1400" dirty="0">
                <a:solidFill>
                  <a:schemeClr val="accent2"/>
                </a:solidFill>
                <a:latin typeface="华文楷体" panose="02010600040101010101" pitchFamily="2" charset="-122"/>
                <a:ea typeface="华文楷体" panose="02010600040101010101" pitchFamily="2" charset="-122"/>
              </a:rPr>
              <a:t>一般传感器节点</a:t>
            </a:r>
          </a:p>
        </p:txBody>
      </p:sp>
      <p:sp>
        <p:nvSpPr>
          <p:cNvPr id="70" name="文本框 69">
            <a:extLst>
              <a:ext uri="{FF2B5EF4-FFF2-40B4-BE49-F238E27FC236}">
                <a16:creationId xmlns:a16="http://schemas.microsoft.com/office/drawing/2014/main" id="{C5DB8AE4-9A2E-B5A6-4E69-85895F852237}"/>
              </a:ext>
            </a:extLst>
          </p:cNvPr>
          <p:cNvSpPr txBox="1"/>
          <p:nvPr/>
        </p:nvSpPr>
        <p:spPr>
          <a:xfrm>
            <a:off x="6308649" y="3608766"/>
            <a:ext cx="902811" cy="307777"/>
          </a:xfrm>
          <a:prstGeom prst="rect">
            <a:avLst/>
          </a:prstGeom>
          <a:noFill/>
        </p:spPr>
        <p:txBody>
          <a:bodyPr wrap="none" rtlCol="0">
            <a:spAutoFit/>
          </a:bodyPr>
          <a:lstStyle/>
          <a:p>
            <a:r>
              <a:rPr lang="zh-CN" altLang="en-US" sz="1400" dirty="0">
                <a:solidFill>
                  <a:schemeClr val="accent1">
                    <a:lumMod val="75000"/>
                  </a:schemeClr>
                </a:solidFill>
                <a:latin typeface="华文楷体" panose="02010600040101010101" pitchFamily="2" charset="-122"/>
                <a:ea typeface="华文楷体" panose="02010600040101010101" pitchFamily="2" charset="-122"/>
              </a:rPr>
              <a:t>网络上层</a:t>
            </a:r>
          </a:p>
        </p:txBody>
      </p:sp>
      <p:sp>
        <p:nvSpPr>
          <p:cNvPr id="71" name="文本框 70">
            <a:extLst>
              <a:ext uri="{FF2B5EF4-FFF2-40B4-BE49-F238E27FC236}">
                <a16:creationId xmlns:a16="http://schemas.microsoft.com/office/drawing/2014/main" id="{A883DF23-40F4-AB50-E09F-5E8628A83586}"/>
              </a:ext>
            </a:extLst>
          </p:cNvPr>
          <p:cNvSpPr txBox="1"/>
          <p:nvPr/>
        </p:nvSpPr>
        <p:spPr>
          <a:xfrm>
            <a:off x="6302861" y="4654303"/>
            <a:ext cx="902811" cy="307777"/>
          </a:xfrm>
          <a:prstGeom prst="rect">
            <a:avLst/>
          </a:prstGeom>
          <a:noFill/>
        </p:spPr>
        <p:txBody>
          <a:bodyPr wrap="none" rtlCol="0">
            <a:spAutoFit/>
          </a:bodyPr>
          <a:lstStyle/>
          <a:p>
            <a:r>
              <a:rPr lang="zh-CN" altLang="en-US" sz="1400" dirty="0">
                <a:solidFill>
                  <a:schemeClr val="accent2"/>
                </a:solidFill>
                <a:latin typeface="华文楷体" panose="02010600040101010101" pitchFamily="2" charset="-122"/>
                <a:ea typeface="华文楷体" panose="02010600040101010101" pitchFamily="2" charset="-122"/>
              </a:rPr>
              <a:t>网络下层</a:t>
            </a:r>
          </a:p>
        </p:txBody>
      </p:sp>
    </p:spTree>
    <p:extLst>
      <p:ext uri="{BB962C8B-B14F-4D97-AF65-F5344CB8AC3E}">
        <p14:creationId xmlns:p14="http://schemas.microsoft.com/office/powerpoint/2010/main" val="181069806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575556" y="585904"/>
            <a:ext cx="8208912" cy="1466748"/>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）混合网络结构</a:t>
            </a:r>
            <a:endParaRPr lang="en-US" altLang="zh-CN"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混合网络结构是无线传感器网络中平面网络结构和分级网络结构的一种混合拓扑结构，网络骨干节点之间及一般传感器节点之间都采用平面网络结构，而网络骨干节点和一般传感器节点之间采用分级网络结构。</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
        <p:nvSpPr>
          <p:cNvPr id="4" name="椭圆 3">
            <a:extLst>
              <a:ext uri="{FF2B5EF4-FFF2-40B4-BE49-F238E27FC236}">
                <a16:creationId xmlns:a16="http://schemas.microsoft.com/office/drawing/2014/main" id="{A1A80135-2788-40AC-2A7A-4B7A6CA51DF3}"/>
              </a:ext>
            </a:extLst>
          </p:cNvPr>
          <p:cNvSpPr/>
          <p:nvPr/>
        </p:nvSpPr>
        <p:spPr>
          <a:xfrm>
            <a:off x="3798657" y="219396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E3CD7354-37FC-68F3-47A5-1E5255A5AFDC}"/>
              </a:ext>
            </a:extLst>
          </p:cNvPr>
          <p:cNvSpPr/>
          <p:nvPr/>
        </p:nvSpPr>
        <p:spPr>
          <a:xfrm>
            <a:off x="2876928" y="250838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57AEA25E-ADE4-36A4-7873-3EE272F44E57}"/>
              </a:ext>
            </a:extLst>
          </p:cNvPr>
          <p:cNvSpPr/>
          <p:nvPr/>
        </p:nvSpPr>
        <p:spPr>
          <a:xfrm>
            <a:off x="3705020" y="2724406"/>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33C972BA-E3C8-2FE1-2994-A5C8FCE8FF33}"/>
              </a:ext>
            </a:extLst>
          </p:cNvPr>
          <p:cNvSpPr/>
          <p:nvPr/>
        </p:nvSpPr>
        <p:spPr>
          <a:xfrm>
            <a:off x="3236968" y="315645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DAB54F68-03DD-29BF-DF8A-AF1EC845FA43}"/>
              </a:ext>
            </a:extLst>
          </p:cNvPr>
          <p:cNvSpPr/>
          <p:nvPr/>
        </p:nvSpPr>
        <p:spPr>
          <a:xfrm>
            <a:off x="4677128" y="243236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B5DB5541-76FC-1BDB-23D3-77240C04F60A}"/>
              </a:ext>
            </a:extLst>
          </p:cNvPr>
          <p:cNvSpPr/>
          <p:nvPr/>
        </p:nvSpPr>
        <p:spPr>
          <a:xfrm>
            <a:off x="5829256" y="2184346"/>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F52935AD-870E-014B-D9DC-C96E807C14A8}"/>
              </a:ext>
            </a:extLst>
          </p:cNvPr>
          <p:cNvSpPr/>
          <p:nvPr/>
        </p:nvSpPr>
        <p:spPr>
          <a:xfrm>
            <a:off x="5217190" y="2546053"/>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FB50CE99-C521-D2C9-AC83-11E1FD4EB631}"/>
              </a:ext>
            </a:extLst>
          </p:cNvPr>
          <p:cNvSpPr/>
          <p:nvPr/>
        </p:nvSpPr>
        <p:spPr>
          <a:xfrm>
            <a:off x="4317088" y="2956731"/>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8F59F7E-293D-796B-696E-4A77FE0319E8}"/>
              </a:ext>
            </a:extLst>
          </p:cNvPr>
          <p:cNvSpPr/>
          <p:nvPr/>
        </p:nvSpPr>
        <p:spPr>
          <a:xfrm>
            <a:off x="4974420" y="337247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2A971E08-A24D-7E1B-94DE-A7C168029074}"/>
              </a:ext>
            </a:extLst>
          </p:cNvPr>
          <p:cNvSpPr/>
          <p:nvPr/>
        </p:nvSpPr>
        <p:spPr>
          <a:xfrm>
            <a:off x="5622492" y="308043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1AF4BB7-E7AB-3954-9751-FF055BAF73CE}"/>
              </a:ext>
            </a:extLst>
          </p:cNvPr>
          <p:cNvSpPr/>
          <p:nvPr/>
        </p:nvSpPr>
        <p:spPr>
          <a:xfrm>
            <a:off x="6261304" y="2740707"/>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45973648-5D4A-DE16-AA5C-D6694B2FDAA1}"/>
              </a:ext>
            </a:extLst>
          </p:cNvPr>
          <p:cNvSpPr/>
          <p:nvPr/>
        </p:nvSpPr>
        <p:spPr>
          <a:xfrm>
            <a:off x="6913140" y="2524683"/>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a:extLst>
              <a:ext uri="{FF2B5EF4-FFF2-40B4-BE49-F238E27FC236}">
                <a16:creationId xmlns:a16="http://schemas.microsoft.com/office/drawing/2014/main" id="{B154A0AF-0255-A0E3-F2C3-88776E9CFE95}"/>
              </a:ext>
            </a:extLst>
          </p:cNvPr>
          <p:cNvCxnSpPr>
            <a:cxnSpLocks/>
            <a:stCxn id="4" idx="2"/>
            <a:endCxn id="5" idx="7"/>
          </p:cNvCxnSpPr>
          <p:nvPr/>
        </p:nvCxnSpPr>
        <p:spPr>
          <a:xfrm flipH="1">
            <a:off x="3061316" y="2301980"/>
            <a:ext cx="737341" cy="23803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4DDA2BB-0973-77CA-4D0B-C80DB2DE7D6A}"/>
              </a:ext>
            </a:extLst>
          </p:cNvPr>
          <p:cNvCxnSpPr>
            <a:cxnSpLocks/>
            <a:stCxn id="4" idx="2"/>
            <a:endCxn id="6" idx="0"/>
          </p:cNvCxnSpPr>
          <p:nvPr/>
        </p:nvCxnSpPr>
        <p:spPr>
          <a:xfrm>
            <a:off x="3798657" y="2301980"/>
            <a:ext cx="14375" cy="422426"/>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3F322417-29D0-ECD1-0021-331BD7F35E58}"/>
              </a:ext>
            </a:extLst>
          </p:cNvPr>
          <p:cNvCxnSpPr>
            <a:cxnSpLocks/>
            <a:stCxn id="4" idx="6"/>
            <a:endCxn id="8" idx="1"/>
          </p:cNvCxnSpPr>
          <p:nvPr/>
        </p:nvCxnSpPr>
        <p:spPr>
          <a:xfrm>
            <a:off x="4014681" y="2301980"/>
            <a:ext cx="694083" cy="16201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752AC0D-5B52-D9CC-02FB-B89DFE0E8EED}"/>
              </a:ext>
            </a:extLst>
          </p:cNvPr>
          <p:cNvCxnSpPr>
            <a:cxnSpLocks/>
            <a:stCxn id="6" idx="0"/>
            <a:endCxn id="8" idx="1"/>
          </p:cNvCxnSpPr>
          <p:nvPr/>
        </p:nvCxnSpPr>
        <p:spPr>
          <a:xfrm flipV="1">
            <a:off x="3813032" y="2463998"/>
            <a:ext cx="895732" cy="26040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78DE677-2128-BA39-EADC-0D508AB56BB8}"/>
              </a:ext>
            </a:extLst>
          </p:cNvPr>
          <p:cNvCxnSpPr>
            <a:cxnSpLocks/>
            <a:stCxn id="5" idx="7"/>
            <a:endCxn id="6" idx="2"/>
          </p:cNvCxnSpPr>
          <p:nvPr/>
        </p:nvCxnSpPr>
        <p:spPr>
          <a:xfrm>
            <a:off x="3061316" y="2540018"/>
            <a:ext cx="643704" cy="29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0F7BDE3E-7DB4-4528-9342-981427ED2897}"/>
              </a:ext>
            </a:extLst>
          </p:cNvPr>
          <p:cNvCxnSpPr>
            <a:cxnSpLocks/>
            <a:stCxn id="5" idx="5"/>
            <a:endCxn id="7" idx="1"/>
          </p:cNvCxnSpPr>
          <p:nvPr/>
        </p:nvCxnSpPr>
        <p:spPr>
          <a:xfrm>
            <a:off x="3061316" y="2692770"/>
            <a:ext cx="207288" cy="49532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EDAE7E5-21DC-0E4C-5F79-AB8B49B267DE}"/>
              </a:ext>
            </a:extLst>
          </p:cNvPr>
          <p:cNvCxnSpPr>
            <a:cxnSpLocks/>
            <a:stCxn id="6" idx="3"/>
            <a:endCxn id="7" idx="7"/>
          </p:cNvCxnSpPr>
          <p:nvPr/>
        </p:nvCxnSpPr>
        <p:spPr>
          <a:xfrm flipH="1">
            <a:off x="3421356" y="2908794"/>
            <a:ext cx="315300" cy="279296"/>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6E16E942-7E8F-4112-1716-FDF3595933E3}"/>
              </a:ext>
            </a:extLst>
          </p:cNvPr>
          <p:cNvCxnSpPr>
            <a:cxnSpLocks/>
            <a:stCxn id="6" idx="5"/>
            <a:endCxn id="11" idx="2"/>
          </p:cNvCxnSpPr>
          <p:nvPr/>
        </p:nvCxnSpPr>
        <p:spPr>
          <a:xfrm>
            <a:off x="3889408" y="2908794"/>
            <a:ext cx="427680" cy="15594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FAC8D7BE-B9C0-092D-1D36-FF8A0DF3833C}"/>
              </a:ext>
            </a:extLst>
          </p:cNvPr>
          <p:cNvCxnSpPr>
            <a:cxnSpLocks/>
            <a:stCxn id="7" idx="5"/>
            <a:endCxn id="11" idx="2"/>
          </p:cNvCxnSpPr>
          <p:nvPr/>
        </p:nvCxnSpPr>
        <p:spPr>
          <a:xfrm flipV="1">
            <a:off x="3421356" y="3064743"/>
            <a:ext cx="895732" cy="27609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C4352234-C5F4-3621-37BC-81FD2ADCB7EF}"/>
              </a:ext>
            </a:extLst>
          </p:cNvPr>
          <p:cNvCxnSpPr>
            <a:cxnSpLocks/>
            <a:stCxn id="11" idx="7"/>
            <a:endCxn id="8" idx="4"/>
          </p:cNvCxnSpPr>
          <p:nvPr/>
        </p:nvCxnSpPr>
        <p:spPr>
          <a:xfrm flipV="1">
            <a:off x="4501476" y="2648386"/>
            <a:ext cx="283664" cy="33998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3159C88C-810F-EC36-002A-D33EB4B8AEF5}"/>
              </a:ext>
            </a:extLst>
          </p:cNvPr>
          <p:cNvCxnSpPr>
            <a:cxnSpLocks/>
            <a:stCxn id="10" idx="1"/>
            <a:endCxn id="8" idx="6"/>
          </p:cNvCxnSpPr>
          <p:nvPr/>
        </p:nvCxnSpPr>
        <p:spPr>
          <a:xfrm flipH="1" flipV="1">
            <a:off x="4893152" y="2540374"/>
            <a:ext cx="355674" cy="3731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E841E902-44BD-0C8F-2C95-A900DFABF96E}"/>
              </a:ext>
            </a:extLst>
          </p:cNvPr>
          <p:cNvCxnSpPr>
            <a:cxnSpLocks/>
            <a:stCxn id="12" idx="1"/>
            <a:endCxn id="11" idx="5"/>
          </p:cNvCxnSpPr>
          <p:nvPr/>
        </p:nvCxnSpPr>
        <p:spPr>
          <a:xfrm flipH="1" flipV="1">
            <a:off x="4501476" y="3141119"/>
            <a:ext cx="504580" cy="26299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D9FF9C69-FAAF-9964-8EA0-42115DA52F4E}"/>
              </a:ext>
            </a:extLst>
          </p:cNvPr>
          <p:cNvCxnSpPr>
            <a:cxnSpLocks/>
            <a:stCxn id="12" idx="7"/>
            <a:endCxn id="10" idx="4"/>
          </p:cNvCxnSpPr>
          <p:nvPr/>
        </p:nvCxnSpPr>
        <p:spPr>
          <a:xfrm flipV="1">
            <a:off x="5158808" y="2762077"/>
            <a:ext cx="166394" cy="64203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22A453BF-1E9F-946A-C113-4FFA5DC8EF35}"/>
              </a:ext>
            </a:extLst>
          </p:cNvPr>
          <p:cNvCxnSpPr>
            <a:cxnSpLocks/>
            <a:stCxn id="13" idx="0"/>
            <a:endCxn id="10" idx="5"/>
          </p:cNvCxnSpPr>
          <p:nvPr/>
        </p:nvCxnSpPr>
        <p:spPr>
          <a:xfrm flipH="1" flipV="1">
            <a:off x="5401578" y="2730441"/>
            <a:ext cx="328926" cy="34999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53FD045C-84C8-4851-582D-92D55B158F88}"/>
              </a:ext>
            </a:extLst>
          </p:cNvPr>
          <p:cNvCxnSpPr>
            <a:cxnSpLocks/>
            <a:stCxn id="13" idx="3"/>
            <a:endCxn id="12" idx="5"/>
          </p:cNvCxnSpPr>
          <p:nvPr/>
        </p:nvCxnSpPr>
        <p:spPr>
          <a:xfrm flipH="1">
            <a:off x="5158808" y="3264822"/>
            <a:ext cx="495320" cy="292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2F76A081-FEBB-D008-8087-CEB5D8886241}"/>
              </a:ext>
            </a:extLst>
          </p:cNvPr>
          <p:cNvCxnSpPr>
            <a:cxnSpLocks/>
            <a:stCxn id="14" idx="3"/>
            <a:endCxn id="13" idx="6"/>
          </p:cNvCxnSpPr>
          <p:nvPr/>
        </p:nvCxnSpPr>
        <p:spPr>
          <a:xfrm flipH="1">
            <a:off x="5838516" y="2925095"/>
            <a:ext cx="454424" cy="26335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45C53E5B-1EA9-6C14-FE81-C01F0010BE3F}"/>
              </a:ext>
            </a:extLst>
          </p:cNvPr>
          <p:cNvCxnSpPr>
            <a:cxnSpLocks/>
            <a:stCxn id="15" idx="3"/>
            <a:endCxn id="14" idx="6"/>
          </p:cNvCxnSpPr>
          <p:nvPr/>
        </p:nvCxnSpPr>
        <p:spPr>
          <a:xfrm flipH="1">
            <a:off x="6477328" y="2709071"/>
            <a:ext cx="467448" cy="13964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B4F5798-AD8A-BAF0-7C82-02AB397179FC}"/>
              </a:ext>
            </a:extLst>
          </p:cNvPr>
          <p:cNvCxnSpPr>
            <a:cxnSpLocks/>
            <a:stCxn id="14" idx="1"/>
            <a:endCxn id="9" idx="5"/>
          </p:cNvCxnSpPr>
          <p:nvPr/>
        </p:nvCxnSpPr>
        <p:spPr>
          <a:xfrm flipH="1" flipV="1">
            <a:off x="6013644" y="2368734"/>
            <a:ext cx="279296" cy="40360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12B33A7E-BC85-C248-8152-A691CA92B9B4}"/>
              </a:ext>
            </a:extLst>
          </p:cNvPr>
          <p:cNvCxnSpPr>
            <a:cxnSpLocks/>
            <a:stCxn id="10" idx="7"/>
            <a:endCxn id="9" idx="3"/>
          </p:cNvCxnSpPr>
          <p:nvPr/>
        </p:nvCxnSpPr>
        <p:spPr>
          <a:xfrm flipV="1">
            <a:off x="5401578" y="2368734"/>
            <a:ext cx="459314" cy="20895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7297D5D9-4990-9F0E-E9D4-73FFA322079F}"/>
              </a:ext>
            </a:extLst>
          </p:cNvPr>
          <p:cNvSpPr/>
          <p:nvPr/>
        </p:nvSpPr>
        <p:spPr>
          <a:xfrm>
            <a:off x="2767256" y="3948542"/>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EE1D7D0C-B933-6E8C-25EE-677BC56A0059}"/>
              </a:ext>
            </a:extLst>
          </p:cNvPr>
          <p:cNvSpPr/>
          <p:nvPr/>
        </p:nvSpPr>
        <p:spPr>
          <a:xfrm>
            <a:off x="3292353" y="4164566"/>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D4066171-F257-3DC9-2B1B-96F62C52DFD9}"/>
              </a:ext>
            </a:extLst>
          </p:cNvPr>
          <p:cNvSpPr/>
          <p:nvPr/>
        </p:nvSpPr>
        <p:spPr>
          <a:xfrm>
            <a:off x="3985976" y="3918164"/>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8D48E230-B6B0-B198-3403-15186EE1BB99}"/>
              </a:ext>
            </a:extLst>
          </p:cNvPr>
          <p:cNvSpPr/>
          <p:nvPr/>
        </p:nvSpPr>
        <p:spPr>
          <a:xfrm>
            <a:off x="4511073" y="4134188"/>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2CA12D38-1644-7AB2-C2E3-09D1F1CDF0C4}"/>
              </a:ext>
            </a:extLst>
          </p:cNvPr>
          <p:cNvSpPr/>
          <p:nvPr/>
        </p:nvSpPr>
        <p:spPr>
          <a:xfrm>
            <a:off x="5325202" y="3906859"/>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2423899-0E6F-7425-44CB-EA17ECC5E3F3}"/>
              </a:ext>
            </a:extLst>
          </p:cNvPr>
          <p:cNvSpPr/>
          <p:nvPr/>
        </p:nvSpPr>
        <p:spPr>
          <a:xfrm>
            <a:off x="5850299" y="4122883"/>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6759535C-C77C-3170-3940-9A279414DA61}"/>
              </a:ext>
            </a:extLst>
          </p:cNvPr>
          <p:cNvSpPr/>
          <p:nvPr/>
        </p:nvSpPr>
        <p:spPr>
          <a:xfrm>
            <a:off x="6130169" y="3845309"/>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cxnSp>
        <p:nvCxnSpPr>
          <p:cNvPr id="27" name="直接连接符 26">
            <a:extLst>
              <a:ext uri="{FF2B5EF4-FFF2-40B4-BE49-F238E27FC236}">
                <a16:creationId xmlns:a16="http://schemas.microsoft.com/office/drawing/2014/main" id="{A1A9C54E-F575-59E9-AC76-05660900A6A0}"/>
              </a:ext>
            </a:extLst>
          </p:cNvPr>
          <p:cNvCxnSpPr>
            <a:cxnSpLocks/>
            <a:stCxn id="7" idx="3"/>
            <a:endCxn id="16" idx="7"/>
          </p:cNvCxnSpPr>
          <p:nvPr/>
        </p:nvCxnSpPr>
        <p:spPr>
          <a:xfrm flipH="1">
            <a:off x="2951644" y="3340842"/>
            <a:ext cx="316960" cy="639336"/>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E1E0306-8167-A967-B035-86AA1FABCE3A}"/>
              </a:ext>
            </a:extLst>
          </p:cNvPr>
          <p:cNvCxnSpPr>
            <a:cxnSpLocks/>
            <a:stCxn id="7" idx="3"/>
            <a:endCxn id="17" idx="0"/>
          </p:cNvCxnSpPr>
          <p:nvPr/>
        </p:nvCxnSpPr>
        <p:spPr>
          <a:xfrm>
            <a:off x="3268604" y="3340842"/>
            <a:ext cx="131761" cy="823724"/>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0019607F-6DAC-135A-E9D1-13B28CFFE7C8}"/>
              </a:ext>
            </a:extLst>
          </p:cNvPr>
          <p:cNvCxnSpPr>
            <a:cxnSpLocks/>
            <a:stCxn id="11" idx="4"/>
            <a:endCxn id="18" idx="0"/>
          </p:cNvCxnSpPr>
          <p:nvPr/>
        </p:nvCxnSpPr>
        <p:spPr>
          <a:xfrm flipH="1">
            <a:off x="4093988" y="3172755"/>
            <a:ext cx="331112" cy="745409"/>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C9EE287-FA6A-D856-0A64-1E4B486F9774}"/>
              </a:ext>
            </a:extLst>
          </p:cNvPr>
          <p:cNvCxnSpPr>
            <a:cxnSpLocks/>
            <a:stCxn id="11" idx="4"/>
            <a:endCxn id="20" idx="0"/>
          </p:cNvCxnSpPr>
          <p:nvPr/>
        </p:nvCxnSpPr>
        <p:spPr>
          <a:xfrm>
            <a:off x="4425100" y="3172755"/>
            <a:ext cx="193985" cy="961433"/>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322E15CA-B0F5-EA3C-7CC2-EF8398387F71}"/>
              </a:ext>
            </a:extLst>
          </p:cNvPr>
          <p:cNvCxnSpPr>
            <a:cxnSpLocks/>
            <a:stCxn id="13" idx="4"/>
            <a:endCxn id="22" idx="0"/>
          </p:cNvCxnSpPr>
          <p:nvPr/>
        </p:nvCxnSpPr>
        <p:spPr>
          <a:xfrm flipH="1">
            <a:off x="5433214" y="3296458"/>
            <a:ext cx="297290" cy="610401"/>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5601FDBE-634D-62E5-FD05-DC1EFEBF7991}"/>
              </a:ext>
            </a:extLst>
          </p:cNvPr>
          <p:cNvCxnSpPr>
            <a:cxnSpLocks/>
            <a:stCxn id="13" idx="4"/>
            <a:endCxn id="24" idx="0"/>
          </p:cNvCxnSpPr>
          <p:nvPr/>
        </p:nvCxnSpPr>
        <p:spPr>
          <a:xfrm>
            <a:off x="5730504" y="3296458"/>
            <a:ext cx="227807" cy="826425"/>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5E8A8EFC-6D8C-0CEB-A439-9279C02815B8}"/>
              </a:ext>
            </a:extLst>
          </p:cNvPr>
          <p:cNvCxnSpPr>
            <a:cxnSpLocks/>
            <a:stCxn id="13" idx="4"/>
            <a:endCxn id="25" idx="0"/>
          </p:cNvCxnSpPr>
          <p:nvPr/>
        </p:nvCxnSpPr>
        <p:spPr>
          <a:xfrm>
            <a:off x="5730504" y="3296458"/>
            <a:ext cx="507677" cy="548851"/>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02F001FC-2B6D-2896-FD0D-E0FF6F8CA741}"/>
              </a:ext>
            </a:extLst>
          </p:cNvPr>
          <p:cNvSpPr/>
          <p:nvPr/>
        </p:nvSpPr>
        <p:spPr>
          <a:xfrm>
            <a:off x="2627784" y="2076334"/>
            <a:ext cx="4650891" cy="1584175"/>
          </a:xfrm>
          <a:prstGeom prst="ellipse">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75A20AEB-B930-A8B2-6496-9A81BC87D87F}"/>
              </a:ext>
            </a:extLst>
          </p:cNvPr>
          <p:cNvSpPr/>
          <p:nvPr/>
        </p:nvSpPr>
        <p:spPr>
          <a:xfrm>
            <a:off x="2627784" y="3708446"/>
            <a:ext cx="4650891" cy="795622"/>
          </a:xfrm>
          <a:prstGeom prst="ellipse">
            <a:avLst/>
          </a:prstGeom>
          <a:noFill/>
          <a:ln>
            <a:solidFill>
              <a:srgbClr val="008F9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C3D48F24-4F44-E298-FC30-8390B742CD0D}"/>
              </a:ext>
            </a:extLst>
          </p:cNvPr>
          <p:cNvSpPr txBox="1"/>
          <p:nvPr/>
        </p:nvSpPr>
        <p:spPr>
          <a:xfrm>
            <a:off x="1639578" y="2532329"/>
            <a:ext cx="902811" cy="307777"/>
          </a:xfrm>
          <a:prstGeom prst="rect">
            <a:avLst/>
          </a:prstGeom>
          <a:noFill/>
        </p:spPr>
        <p:txBody>
          <a:bodyPr wrap="none" rtlCol="0">
            <a:spAutoFit/>
          </a:bodyPr>
          <a:lstStyle/>
          <a:p>
            <a:r>
              <a:rPr lang="zh-CN" altLang="en-US" sz="1400" dirty="0">
                <a:solidFill>
                  <a:schemeClr val="accent1">
                    <a:lumMod val="75000"/>
                  </a:schemeClr>
                </a:solidFill>
                <a:latin typeface="华文楷体" panose="02010600040101010101" pitchFamily="2" charset="-122"/>
                <a:ea typeface="华文楷体" panose="02010600040101010101" pitchFamily="2" charset="-122"/>
              </a:rPr>
              <a:t>骨干节点</a:t>
            </a:r>
          </a:p>
        </p:txBody>
      </p:sp>
      <p:sp>
        <p:nvSpPr>
          <p:cNvPr id="68" name="文本框 67">
            <a:extLst>
              <a:ext uri="{FF2B5EF4-FFF2-40B4-BE49-F238E27FC236}">
                <a16:creationId xmlns:a16="http://schemas.microsoft.com/office/drawing/2014/main" id="{E6EB7F43-EB99-8BF3-449E-819E4426AA89}"/>
              </a:ext>
            </a:extLst>
          </p:cNvPr>
          <p:cNvSpPr txBox="1"/>
          <p:nvPr/>
        </p:nvSpPr>
        <p:spPr>
          <a:xfrm>
            <a:off x="1170750" y="3934423"/>
            <a:ext cx="1441420" cy="307777"/>
          </a:xfrm>
          <a:prstGeom prst="rect">
            <a:avLst/>
          </a:prstGeom>
          <a:noFill/>
        </p:spPr>
        <p:txBody>
          <a:bodyPr wrap="none" rtlCol="0">
            <a:spAutoFit/>
          </a:bodyPr>
          <a:lstStyle/>
          <a:p>
            <a:r>
              <a:rPr lang="zh-CN" altLang="en-US" sz="1400" dirty="0">
                <a:solidFill>
                  <a:schemeClr val="accent2"/>
                </a:solidFill>
                <a:latin typeface="华文楷体" panose="02010600040101010101" pitchFamily="2" charset="-122"/>
                <a:ea typeface="华文楷体" panose="02010600040101010101" pitchFamily="2" charset="-122"/>
              </a:rPr>
              <a:t>一般传感器节点</a:t>
            </a:r>
          </a:p>
        </p:txBody>
      </p:sp>
      <p:sp>
        <p:nvSpPr>
          <p:cNvPr id="70" name="文本框 69">
            <a:extLst>
              <a:ext uri="{FF2B5EF4-FFF2-40B4-BE49-F238E27FC236}">
                <a16:creationId xmlns:a16="http://schemas.microsoft.com/office/drawing/2014/main" id="{C5DB8AE4-9A2E-B5A6-4E69-85895F852237}"/>
              </a:ext>
            </a:extLst>
          </p:cNvPr>
          <p:cNvSpPr txBox="1"/>
          <p:nvPr/>
        </p:nvSpPr>
        <p:spPr>
          <a:xfrm>
            <a:off x="6279021" y="2969334"/>
            <a:ext cx="902811" cy="307777"/>
          </a:xfrm>
          <a:prstGeom prst="rect">
            <a:avLst/>
          </a:prstGeom>
          <a:noFill/>
        </p:spPr>
        <p:txBody>
          <a:bodyPr wrap="none" rtlCol="0">
            <a:spAutoFit/>
          </a:bodyPr>
          <a:lstStyle/>
          <a:p>
            <a:r>
              <a:rPr lang="zh-CN" altLang="en-US" sz="1400" dirty="0">
                <a:solidFill>
                  <a:schemeClr val="accent1">
                    <a:lumMod val="75000"/>
                  </a:schemeClr>
                </a:solidFill>
                <a:latin typeface="华文楷体" panose="02010600040101010101" pitchFamily="2" charset="-122"/>
                <a:ea typeface="华文楷体" panose="02010600040101010101" pitchFamily="2" charset="-122"/>
              </a:rPr>
              <a:t>网络上层</a:t>
            </a:r>
          </a:p>
        </p:txBody>
      </p:sp>
      <p:sp>
        <p:nvSpPr>
          <p:cNvPr id="71" name="文本框 70">
            <a:extLst>
              <a:ext uri="{FF2B5EF4-FFF2-40B4-BE49-F238E27FC236}">
                <a16:creationId xmlns:a16="http://schemas.microsoft.com/office/drawing/2014/main" id="{A883DF23-40F4-AB50-E09F-5E8628A83586}"/>
              </a:ext>
            </a:extLst>
          </p:cNvPr>
          <p:cNvSpPr txBox="1"/>
          <p:nvPr/>
        </p:nvSpPr>
        <p:spPr>
          <a:xfrm>
            <a:off x="6273233" y="4014871"/>
            <a:ext cx="902811" cy="307777"/>
          </a:xfrm>
          <a:prstGeom prst="rect">
            <a:avLst/>
          </a:prstGeom>
          <a:noFill/>
        </p:spPr>
        <p:txBody>
          <a:bodyPr wrap="none" rtlCol="0">
            <a:spAutoFit/>
          </a:bodyPr>
          <a:lstStyle/>
          <a:p>
            <a:r>
              <a:rPr lang="zh-CN" altLang="en-US" sz="1400" dirty="0">
                <a:solidFill>
                  <a:schemeClr val="accent2"/>
                </a:solidFill>
                <a:latin typeface="华文楷体" panose="02010600040101010101" pitchFamily="2" charset="-122"/>
                <a:ea typeface="华文楷体" panose="02010600040101010101" pitchFamily="2" charset="-122"/>
              </a:rPr>
              <a:t>网络下层</a:t>
            </a:r>
          </a:p>
        </p:txBody>
      </p:sp>
      <p:cxnSp>
        <p:nvCxnSpPr>
          <p:cNvPr id="2" name="直接连接符 1">
            <a:extLst>
              <a:ext uri="{FF2B5EF4-FFF2-40B4-BE49-F238E27FC236}">
                <a16:creationId xmlns:a16="http://schemas.microsoft.com/office/drawing/2014/main" id="{F2FF25C9-D292-41A2-FCD1-97D6AE879CB8}"/>
              </a:ext>
            </a:extLst>
          </p:cNvPr>
          <p:cNvCxnSpPr>
            <a:cxnSpLocks/>
            <a:stCxn id="16" idx="6"/>
            <a:endCxn id="17" idx="1"/>
          </p:cNvCxnSpPr>
          <p:nvPr/>
        </p:nvCxnSpPr>
        <p:spPr>
          <a:xfrm>
            <a:off x="2983280" y="4056554"/>
            <a:ext cx="340709" cy="139648"/>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76547889-B137-2228-3C01-913A9D8162A7}"/>
              </a:ext>
            </a:extLst>
          </p:cNvPr>
          <p:cNvCxnSpPr>
            <a:cxnSpLocks/>
            <a:stCxn id="16" idx="7"/>
            <a:endCxn id="18" idx="2"/>
          </p:cNvCxnSpPr>
          <p:nvPr/>
        </p:nvCxnSpPr>
        <p:spPr>
          <a:xfrm>
            <a:off x="2951644" y="3980178"/>
            <a:ext cx="1034332" cy="45998"/>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40AEDBB-FE80-FF87-EB99-1F72B20B89A7}"/>
              </a:ext>
            </a:extLst>
          </p:cNvPr>
          <p:cNvCxnSpPr>
            <a:cxnSpLocks/>
            <a:stCxn id="17" idx="6"/>
            <a:endCxn id="18" idx="3"/>
          </p:cNvCxnSpPr>
          <p:nvPr/>
        </p:nvCxnSpPr>
        <p:spPr>
          <a:xfrm flipV="1">
            <a:off x="3508377" y="4102552"/>
            <a:ext cx="509235" cy="170026"/>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AF7D4DF-AD1B-F1BC-67A4-D5F6E7303013}"/>
              </a:ext>
            </a:extLst>
          </p:cNvPr>
          <p:cNvCxnSpPr>
            <a:cxnSpLocks/>
            <a:stCxn id="17" idx="6"/>
            <a:endCxn id="20" idx="2"/>
          </p:cNvCxnSpPr>
          <p:nvPr/>
        </p:nvCxnSpPr>
        <p:spPr>
          <a:xfrm flipV="1">
            <a:off x="3508377" y="4242200"/>
            <a:ext cx="1002696" cy="30378"/>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FC41C4F7-427E-D9A9-DC63-AAE150FB0E14}"/>
              </a:ext>
            </a:extLst>
          </p:cNvPr>
          <p:cNvCxnSpPr>
            <a:cxnSpLocks/>
            <a:stCxn id="18" idx="6"/>
            <a:endCxn id="20" idx="1"/>
          </p:cNvCxnSpPr>
          <p:nvPr/>
        </p:nvCxnSpPr>
        <p:spPr>
          <a:xfrm>
            <a:off x="4202000" y="4026176"/>
            <a:ext cx="340709" cy="139648"/>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94E9E5ED-0548-28E7-51B4-292EB298EBAF}"/>
              </a:ext>
            </a:extLst>
          </p:cNvPr>
          <p:cNvCxnSpPr>
            <a:cxnSpLocks/>
            <a:stCxn id="18" idx="6"/>
            <a:endCxn id="22" idx="2"/>
          </p:cNvCxnSpPr>
          <p:nvPr/>
        </p:nvCxnSpPr>
        <p:spPr>
          <a:xfrm flipV="1">
            <a:off x="4202000" y="4014871"/>
            <a:ext cx="1123202" cy="11305"/>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A4B99E33-69E8-6891-BE86-03B10583E7EC}"/>
              </a:ext>
            </a:extLst>
          </p:cNvPr>
          <p:cNvCxnSpPr>
            <a:cxnSpLocks/>
            <a:stCxn id="20" idx="6"/>
            <a:endCxn id="22" idx="2"/>
          </p:cNvCxnSpPr>
          <p:nvPr/>
        </p:nvCxnSpPr>
        <p:spPr>
          <a:xfrm flipV="1">
            <a:off x="4727097" y="4014871"/>
            <a:ext cx="598105" cy="227329"/>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D9333B2E-BB04-C621-43BF-287176ECC042}"/>
              </a:ext>
            </a:extLst>
          </p:cNvPr>
          <p:cNvCxnSpPr>
            <a:cxnSpLocks/>
            <a:stCxn id="20" idx="6"/>
            <a:endCxn id="24" idx="2"/>
          </p:cNvCxnSpPr>
          <p:nvPr/>
        </p:nvCxnSpPr>
        <p:spPr>
          <a:xfrm flipV="1">
            <a:off x="4727097" y="4230895"/>
            <a:ext cx="1123202" cy="11305"/>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BF993F12-89DC-5A95-8A1A-E4674F25D598}"/>
              </a:ext>
            </a:extLst>
          </p:cNvPr>
          <p:cNvCxnSpPr>
            <a:cxnSpLocks/>
            <a:stCxn id="22" idx="6"/>
            <a:endCxn id="24" idx="1"/>
          </p:cNvCxnSpPr>
          <p:nvPr/>
        </p:nvCxnSpPr>
        <p:spPr>
          <a:xfrm>
            <a:off x="5541226" y="4014871"/>
            <a:ext cx="340709" cy="139648"/>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4001083A-AA9A-EDD4-1519-EFA117545176}"/>
              </a:ext>
            </a:extLst>
          </p:cNvPr>
          <p:cNvCxnSpPr>
            <a:cxnSpLocks/>
            <a:stCxn id="22" idx="6"/>
            <a:endCxn id="25" idx="1"/>
          </p:cNvCxnSpPr>
          <p:nvPr/>
        </p:nvCxnSpPr>
        <p:spPr>
          <a:xfrm flipV="1">
            <a:off x="5541226" y="3876945"/>
            <a:ext cx="620579" cy="137926"/>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B964F2C3-ABD8-5E2C-26B8-83EF05DE5EF7}"/>
              </a:ext>
            </a:extLst>
          </p:cNvPr>
          <p:cNvCxnSpPr>
            <a:cxnSpLocks/>
            <a:stCxn id="24" idx="7"/>
            <a:endCxn id="25" idx="2"/>
          </p:cNvCxnSpPr>
          <p:nvPr/>
        </p:nvCxnSpPr>
        <p:spPr>
          <a:xfrm flipV="1">
            <a:off x="6034687" y="3953321"/>
            <a:ext cx="95482" cy="201198"/>
          </a:xfrm>
          <a:prstGeom prst="line">
            <a:avLst/>
          </a:prstGeom>
          <a:ln>
            <a:solidFill>
              <a:srgbClr val="008F92"/>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98921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575556" y="585904"/>
            <a:ext cx="8208912" cy="1466748"/>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Mesh</a:t>
            </a:r>
            <a:r>
              <a:rPr lang="zh-CN" altLang="en-US"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网络结构</a:t>
            </a:r>
            <a:endParaRPr lang="en-US" altLang="zh-CN" b="1" dirty="0">
              <a:solidFill>
                <a:srgbClr val="FF99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Mesh</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网络结构是一种新型的无线传感器网络结构，从结构来看，</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Mesh</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网络是规则分布的网络，不同于完全连接的网络结构，该结构中通常只允许和节点最近的邻居通信，网络内部的节点一般都是相同的，因此</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Mesh</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网络也称为对等网</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概述</a:t>
            </a:r>
          </a:p>
        </p:txBody>
      </p:sp>
      <p:sp>
        <p:nvSpPr>
          <p:cNvPr id="4" name="椭圆 3">
            <a:extLst>
              <a:ext uri="{FF2B5EF4-FFF2-40B4-BE49-F238E27FC236}">
                <a16:creationId xmlns:a16="http://schemas.microsoft.com/office/drawing/2014/main" id="{A1A80135-2788-40AC-2A7A-4B7A6CA51DF3}"/>
              </a:ext>
            </a:extLst>
          </p:cNvPr>
          <p:cNvSpPr/>
          <p:nvPr/>
        </p:nvSpPr>
        <p:spPr>
          <a:xfrm>
            <a:off x="1831110" y="396593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E3CD7354-37FC-68F3-47A5-1E5255A5AFDC}"/>
              </a:ext>
            </a:extLst>
          </p:cNvPr>
          <p:cNvSpPr/>
          <p:nvPr/>
        </p:nvSpPr>
        <p:spPr>
          <a:xfrm>
            <a:off x="2248633" y="2346979"/>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57AEA25E-ADE4-36A4-7873-3EE272F44E57}"/>
              </a:ext>
            </a:extLst>
          </p:cNvPr>
          <p:cNvSpPr/>
          <p:nvPr/>
        </p:nvSpPr>
        <p:spPr>
          <a:xfrm>
            <a:off x="3115001" y="3101703"/>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33C972BA-E3C8-2FE1-2994-A5C8FCE8FF33}"/>
              </a:ext>
            </a:extLst>
          </p:cNvPr>
          <p:cNvSpPr/>
          <p:nvPr/>
        </p:nvSpPr>
        <p:spPr>
          <a:xfrm>
            <a:off x="1382266" y="3064743"/>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DAB54F68-03DD-29BF-DF8A-AF1EC845FA43}"/>
              </a:ext>
            </a:extLst>
          </p:cNvPr>
          <p:cNvSpPr/>
          <p:nvPr/>
        </p:nvSpPr>
        <p:spPr>
          <a:xfrm>
            <a:off x="2727693" y="3972415"/>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a:extLst>
              <a:ext uri="{FF2B5EF4-FFF2-40B4-BE49-F238E27FC236}">
                <a16:creationId xmlns:a16="http://schemas.microsoft.com/office/drawing/2014/main" id="{B154A0AF-0255-A0E3-F2C3-88776E9CFE95}"/>
              </a:ext>
            </a:extLst>
          </p:cNvPr>
          <p:cNvCxnSpPr>
            <a:cxnSpLocks/>
            <a:stCxn id="4" idx="1"/>
            <a:endCxn id="7" idx="4"/>
          </p:cNvCxnSpPr>
          <p:nvPr/>
        </p:nvCxnSpPr>
        <p:spPr>
          <a:xfrm flipH="1" flipV="1">
            <a:off x="1490278" y="3280767"/>
            <a:ext cx="372468" cy="71680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3F322417-29D0-ECD1-0021-331BD7F35E58}"/>
              </a:ext>
            </a:extLst>
          </p:cNvPr>
          <p:cNvCxnSpPr>
            <a:cxnSpLocks/>
            <a:stCxn id="4" idx="0"/>
            <a:endCxn id="5" idx="4"/>
          </p:cNvCxnSpPr>
          <p:nvPr/>
        </p:nvCxnSpPr>
        <p:spPr>
          <a:xfrm flipV="1">
            <a:off x="1939122" y="2563003"/>
            <a:ext cx="417523" cy="140292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752AC0D-5B52-D9CC-02FB-B89DFE0E8EED}"/>
              </a:ext>
            </a:extLst>
          </p:cNvPr>
          <p:cNvCxnSpPr>
            <a:cxnSpLocks/>
            <a:stCxn id="6" idx="3"/>
            <a:endCxn id="8" idx="0"/>
          </p:cNvCxnSpPr>
          <p:nvPr/>
        </p:nvCxnSpPr>
        <p:spPr>
          <a:xfrm flipH="1">
            <a:off x="2835705" y="3286091"/>
            <a:ext cx="310932" cy="6863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78DE677-2128-BA39-EADC-0D508AB56BB8}"/>
              </a:ext>
            </a:extLst>
          </p:cNvPr>
          <p:cNvCxnSpPr>
            <a:cxnSpLocks/>
            <a:stCxn id="5" idx="4"/>
            <a:endCxn id="6" idx="2"/>
          </p:cNvCxnSpPr>
          <p:nvPr/>
        </p:nvCxnSpPr>
        <p:spPr>
          <a:xfrm>
            <a:off x="2356645" y="2563003"/>
            <a:ext cx="758356" cy="64671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0F7BDE3E-7DB4-4528-9342-981427ED2897}"/>
              </a:ext>
            </a:extLst>
          </p:cNvPr>
          <p:cNvCxnSpPr>
            <a:cxnSpLocks/>
            <a:stCxn id="5" idx="4"/>
            <a:endCxn id="7" idx="6"/>
          </p:cNvCxnSpPr>
          <p:nvPr/>
        </p:nvCxnSpPr>
        <p:spPr>
          <a:xfrm flipH="1">
            <a:off x="1598290" y="2563003"/>
            <a:ext cx="758355" cy="60975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6E16E942-7E8F-4112-1716-FDF3595933E3}"/>
              </a:ext>
            </a:extLst>
          </p:cNvPr>
          <p:cNvCxnSpPr>
            <a:cxnSpLocks/>
            <a:stCxn id="5" idx="4"/>
            <a:endCxn id="8" idx="1"/>
          </p:cNvCxnSpPr>
          <p:nvPr/>
        </p:nvCxnSpPr>
        <p:spPr>
          <a:xfrm>
            <a:off x="2356645" y="2563003"/>
            <a:ext cx="402684" cy="144104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FAC8D7BE-B9C0-092D-1D36-FF8A0DF3833C}"/>
              </a:ext>
            </a:extLst>
          </p:cNvPr>
          <p:cNvCxnSpPr>
            <a:cxnSpLocks/>
            <a:stCxn id="7" idx="6"/>
            <a:endCxn id="6" idx="2"/>
          </p:cNvCxnSpPr>
          <p:nvPr/>
        </p:nvCxnSpPr>
        <p:spPr>
          <a:xfrm>
            <a:off x="1598290" y="3172755"/>
            <a:ext cx="1516711" cy="3696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D9FF9C69-FAAF-9964-8EA0-42115DA52F4E}"/>
              </a:ext>
            </a:extLst>
          </p:cNvPr>
          <p:cNvCxnSpPr>
            <a:cxnSpLocks/>
            <a:stCxn id="7" idx="5"/>
            <a:endCxn id="8" idx="1"/>
          </p:cNvCxnSpPr>
          <p:nvPr/>
        </p:nvCxnSpPr>
        <p:spPr>
          <a:xfrm>
            <a:off x="1566654" y="3249131"/>
            <a:ext cx="1192675" cy="75492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12B33A7E-BC85-C248-8152-A691CA92B9B4}"/>
              </a:ext>
            </a:extLst>
          </p:cNvPr>
          <p:cNvCxnSpPr>
            <a:cxnSpLocks/>
            <a:stCxn id="4" idx="6"/>
            <a:endCxn id="8" idx="2"/>
          </p:cNvCxnSpPr>
          <p:nvPr/>
        </p:nvCxnSpPr>
        <p:spPr>
          <a:xfrm>
            <a:off x="2047134" y="4073944"/>
            <a:ext cx="680559" cy="6483"/>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7297D5D9-4990-9F0E-E9D4-73FFA322079F}"/>
              </a:ext>
            </a:extLst>
          </p:cNvPr>
          <p:cNvSpPr/>
          <p:nvPr/>
        </p:nvSpPr>
        <p:spPr>
          <a:xfrm>
            <a:off x="4716016" y="2355726"/>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EE1D7D0C-B933-6E8C-25EE-677BC56A0059}"/>
              </a:ext>
            </a:extLst>
          </p:cNvPr>
          <p:cNvSpPr/>
          <p:nvPr/>
        </p:nvSpPr>
        <p:spPr>
          <a:xfrm>
            <a:off x="5653517" y="2355726"/>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D4066171-F257-3DC9-2B1B-96F62C52DFD9}"/>
              </a:ext>
            </a:extLst>
          </p:cNvPr>
          <p:cNvSpPr/>
          <p:nvPr/>
        </p:nvSpPr>
        <p:spPr>
          <a:xfrm>
            <a:off x="6591018" y="2355726"/>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70" name="文本框 69">
            <a:extLst>
              <a:ext uri="{FF2B5EF4-FFF2-40B4-BE49-F238E27FC236}">
                <a16:creationId xmlns:a16="http://schemas.microsoft.com/office/drawing/2014/main" id="{C5DB8AE4-9A2E-B5A6-4E69-85895F852237}"/>
              </a:ext>
            </a:extLst>
          </p:cNvPr>
          <p:cNvSpPr txBox="1"/>
          <p:nvPr/>
        </p:nvSpPr>
        <p:spPr>
          <a:xfrm>
            <a:off x="1681833" y="4333562"/>
            <a:ext cx="1261884" cy="307777"/>
          </a:xfrm>
          <a:prstGeom prst="rect">
            <a:avLst/>
          </a:prstGeom>
          <a:noFill/>
        </p:spPr>
        <p:txBody>
          <a:bodyPr wrap="none" rtlCol="0">
            <a:spAutoFit/>
          </a:bodyPr>
          <a:lstStyle/>
          <a:p>
            <a:r>
              <a:rPr lang="zh-CN" altLang="en-US" sz="1400" dirty="0">
                <a:solidFill>
                  <a:schemeClr val="accent1">
                    <a:lumMod val="75000"/>
                  </a:schemeClr>
                </a:solidFill>
                <a:latin typeface="华文楷体" panose="02010600040101010101" pitchFamily="2" charset="-122"/>
                <a:ea typeface="华文楷体" panose="02010600040101010101" pitchFamily="2" charset="-122"/>
              </a:rPr>
              <a:t>完全连接网络</a:t>
            </a:r>
          </a:p>
        </p:txBody>
      </p:sp>
      <p:sp>
        <p:nvSpPr>
          <p:cNvPr id="71" name="文本框 70">
            <a:extLst>
              <a:ext uri="{FF2B5EF4-FFF2-40B4-BE49-F238E27FC236}">
                <a16:creationId xmlns:a16="http://schemas.microsoft.com/office/drawing/2014/main" id="{A883DF23-40F4-AB50-E09F-5E8628A83586}"/>
              </a:ext>
            </a:extLst>
          </p:cNvPr>
          <p:cNvSpPr txBox="1"/>
          <p:nvPr/>
        </p:nvSpPr>
        <p:spPr>
          <a:xfrm>
            <a:off x="5773777" y="4755379"/>
            <a:ext cx="925253" cy="307777"/>
          </a:xfrm>
          <a:prstGeom prst="rect">
            <a:avLst/>
          </a:prstGeom>
          <a:noFill/>
        </p:spPr>
        <p:txBody>
          <a:bodyPr wrap="none" rtlCol="0">
            <a:spAutoFit/>
          </a:bodyPr>
          <a:lstStyle/>
          <a:p>
            <a:r>
              <a:rPr lang="en-US" altLang="zh-CN" sz="1400" dirty="0">
                <a:solidFill>
                  <a:schemeClr val="accent2"/>
                </a:solidFill>
                <a:latin typeface="华文楷体" panose="02010600040101010101" pitchFamily="2" charset="-122"/>
                <a:ea typeface="华文楷体" panose="02010600040101010101" pitchFamily="2" charset="-122"/>
              </a:rPr>
              <a:t>Mesh</a:t>
            </a:r>
            <a:r>
              <a:rPr lang="zh-CN" altLang="en-US" sz="1400" dirty="0">
                <a:solidFill>
                  <a:schemeClr val="accent2"/>
                </a:solidFill>
                <a:latin typeface="华文楷体" panose="02010600040101010101" pitchFamily="2" charset="-122"/>
                <a:ea typeface="华文楷体" panose="02010600040101010101" pitchFamily="2" charset="-122"/>
              </a:rPr>
              <a:t>网络</a:t>
            </a:r>
          </a:p>
        </p:txBody>
      </p:sp>
      <p:cxnSp>
        <p:nvCxnSpPr>
          <p:cNvPr id="125" name="直接连接符 124">
            <a:extLst>
              <a:ext uri="{FF2B5EF4-FFF2-40B4-BE49-F238E27FC236}">
                <a16:creationId xmlns:a16="http://schemas.microsoft.com/office/drawing/2014/main" id="{B62A68C3-0D19-BF91-1C6E-16BC7CE2F68F}"/>
              </a:ext>
            </a:extLst>
          </p:cNvPr>
          <p:cNvCxnSpPr>
            <a:cxnSpLocks/>
            <a:stCxn id="6" idx="3"/>
            <a:endCxn id="4" idx="7"/>
          </p:cNvCxnSpPr>
          <p:nvPr/>
        </p:nvCxnSpPr>
        <p:spPr>
          <a:xfrm flipH="1">
            <a:off x="2015498" y="3286091"/>
            <a:ext cx="1131139" cy="71147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60" name="椭圆 159">
            <a:extLst>
              <a:ext uri="{FF2B5EF4-FFF2-40B4-BE49-F238E27FC236}">
                <a16:creationId xmlns:a16="http://schemas.microsoft.com/office/drawing/2014/main" id="{5B8DEBB2-8EE3-5F4A-4142-DD462C430EE3}"/>
              </a:ext>
            </a:extLst>
          </p:cNvPr>
          <p:cNvSpPr/>
          <p:nvPr/>
        </p:nvSpPr>
        <p:spPr>
          <a:xfrm>
            <a:off x="7528519" y="2355726"/>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1" name="椭圆 160">
            <a:extLst>
              <a:ext uri="{FF2B5EF4-FFF2-40B4-BE49-F238E27FC236}">
                <a16:creationId xmlns:a16="http://schemas.microsoft.com/office/drawing/2014/main" id="{AE28B3A0-3A6A-98D3-76D9-E110F0398557}"/>
              </a:ext>
            </a:extLst>
          </p:cNvPr>
          <p:cNvSpPr/>
          <p:nvPr/>
        </p:nvSpPr>
        <p:spPr>
          <a:xfrm>
            <a:off x="4716016" y="3023693"/>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2" name="椭圆 161">
            <a:extLst>
              <a:ext uri="{FF2B5EF4-FFF2-40B4-BE49-F238E27FC236}">
                <a16:creationId xmlns:a16="http://schemas.microsoft.com/office/drawing/2014/main" id="{51A12BC3-776C-F60E-25A6-AE6A455E0320}"/>
              </a:ext>
            </a:extLst>
          </p:cNvPr>
          <p:cNvSpPr/>
          <p:nvPr/>
        </p:nvSpPr>
        <p:spPr>
          <a:xfrm>
            <a:off x="5653517" y="3033107"/>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3" name="椭圆 162">
            <a:extLst>
              <a:ext uri="{FF2B5EF4-FFF2-40B4-BE49-F238E27FC236}">
                <a16:creationId xmlns:a16="http://schemas.microsoft.com/office/drawing/2014/main" id="{628374C1-B593-4533-DE10-32C1F30EE8B7}"/>
              </a:ext>
            </a:extLst>
          </p:cNvPr>
          <p:cNvSpPr/>
          <p:nvPr/>
        </p:nvSpPr>
        <p:spPr>
          <a:xfrm>
            <a:off x="6591018" y="3023693"/>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4" name="椭圆 163">
            <a:extLst>
              <a:ext uri="{FF2B5EF4-FFF2-40B4-BE49-F238E27FC236}">
                <a16:creationId xmlns:a16="http://schemas.microsoft.com/office/drawing/2014/main" id="{C484914E-AE48-8C90-7E49-A32D276B56D2}"/>
              </a:ext>
            </a:extLst>
          </p:cNvPr>
          <p:cNvSpPr/>
          <p:nvPr/>
        </p:nvSpPr>
        <p:spPr>
          <a:xfrm>
            <a:off x="7528519" y="3023693"/>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5" name="椭圆 164">
            <a:extLst>
              <a:ext uri="{FF2B5EF4-FFF2-40B4-BE49-F238E27FC236}">
                <a16:creationId xmlns:a16="http://schemas.microsoft.com/office/drawing/2014/main" id="{E9D90A9E-9293-9250-F70D-822AA0A8C864}"/>
              </a:ext>
            </a:extLst>
          </p:cNvPr>
          <p:cNvSpPr/>
          <p:nvPr/>
        </p:nvSpPr>
        <p:spPr>
          <a:xfrm>
            <a:off x="4716016" y="3691660"/>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6" name="椭圆 165">
            <a:extLst>
              <a:ext uri="{FF2B5EF4-FFF2-40B4-BE49-F238E27FC236}">
                <a16:creationId xmlns:a16="http://schemas.microsoft.com/office/drawing/2014/main" id="{796FE3A8-9F65-73A9-89BC-9BB8DF7EE5CD}"/>
              </a:ext>
            </a:extLst>
          </p:cNvPr>
          <p:cNvSpPr/>
          <p:nvPr/>
        </p:nvSpPr>
        <p:spPr>
          <a:xfrm>
            <a:off x="5653517" y="3696367"/>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7" name="椭圆 166">
            <a:extLst>
              <a:ext uri="{FF2B5EF4-FFF2-40B4-BE49-F238E27FC236}">
                <a16:creationId xmlns:a16="http://schemas.microsoft.com/office/drawing/2014/main" id="{41C8B10F-A581-371B-E483-95E46D9F2768}"/>
              </a:ext>
            </a:extLst>
          </p:cNvPr>
          <p:cNvSpPr/>
          <p:nvPr/>
        </p:nvSpPr>
        <p:spPr>
          <a:xfrm>
            <a:off x="6591018" y="3691660"/>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8" name="椭圆 167">
            <a:extLst>
              <a:ext uri="{FF2B5EF4-FFF2-40B4-BE49-F238E27FC236}">
                <a16:creationId xmlns:a16="http://schemas.microsoft.com/office/drawing/2014/main" id="{24DE9CD5-A010-07E2-6898-F99E720C20F8}"/>
              </a:ext>
            </a:extLst>
          </p:cNvPr>
          <p:cNvSpPr/>
          <p:nvPr/>
        </p:nvSpPr>
        <p:spPr>
          <a:xfrm>
            <a:off x="7528519" y="3691660"/>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9" name="椭圆 168">
            <a:extLst>
              <a:ext uri="{FF2B5EF4-FFF2-40B4-BE49-F238E27FC236}">
                <a16:creationId xmlns:a16="http://schemas.microsoft.com/office/drawing/2014/main" id="{BA2D6C47-7175-3F75-DBCA-579ACC97CA0D}"/>
              </a:ext>
            </a:extLst>
          </p:cNvPr>
          <p:cNvSpPr/>
          <p:nvPr/>
        </p:nvSpPr>
        <p:spPr>
          <a:xfrm>
            <a:off x="4716016" y="4359626"/>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70" name="椭圆 169">
            <a:extLst>
              <a:ext uri="{FF2B5EF4-FFF2-40B4-BE49-F238E27FC236}">
                <a16:creationId xmlns:a16="http://schemas.microsoft.com/office/drawing/2014/main" id="{1C8A17BC-AC32-4C2D-C19B-185106A79FC1}"/>
              </a:ext>
            </a:extLst>
          </p:cNvPr>
          <p:cNvSpPr/>
          <p:nvPr/>
        </p:nvSpPr>
        <p:spPr>
          <a:xfrm>
            <a:off x="5653517" y="4359626"/>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71" name="椭圆 170">
            <a:extLst>
              <a:ext uri="{FF2B5EF4-FFF2-40B4-BE49-F238E27FC236}">
                <a16:creationId xmlns:a16="http://schemas.microsoft.com/office/drawing/2014/main" id="{9E854F56-6F6D-CC87-D9DA-D5A5CFEB41D9}"/>
              </a:ext>
            </a:extLst>
          </p:cNvPr>
          <p:cNvSpPr/>
          <p:nvPr/>
        </p:nvSpPr>
        <p:spPr>
          <a:xfrm>
            <a:off x="6591018" y="4359626"/>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72" name="椭圆 171">
            <a:extLst>
              <a:ext uri="{FF2B5EF4-FFF2-40B4-BE49-F238E27FC236}">
                <a16:creationId xmlns:a16="http://schemas.microsoft.com/office/drawing/2014/main" id="{9426C6FC-7E2D-C76D-25F3-D7561D71DFD6}"/>
              </a:ext>
            </a:extLst>
          </p:cNvPr>
          <p:cNvSpPr/>
          <p:nvPr/>
        </p:nvSpPr>
        <p:spPr>
          <a:xfrm>
            <a:off x="7528519" y="4359626"/>
            <a:ext cx="216024" cy="21602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cxnSp>
        <p:nvCxnSpPr>
          <p:cNvPr id="173" name="直接连接符 172">
            <a:extLst>
              <a:ext uri="{FF2B5EF4-FFF2-40B4-BE49-F238E27FC236}">
                <a16:creationId xmlns:a16="http://schemas.microsoft.com/office/drawing/2014/main" id="{F50BCAC4-FED6-D3D9-5C9B-E56C0D2E0EC5}"/>
              </a:ext>
            </a:extLst>
          </p:cNvPr>
          <p:cNvCxnSpPr>
            <a:cxnSpLocks/>
            <a:stCxn id="16" idx="6"/>
            <a:endCxn id="17" idx="2"/>
          </p:cNvCxnSpPr>
          <p:nvPr/>
        </p:nvCxnSpPr>
        <p:spPr>
          <a:xfrm>
            <a:off x="4932040" y="2463738"/>
            <a:ext cx="721477" cy="0"/>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C34EF6C5-C279-7830-1674-3C506447BE37}"/>
              </a:ext>
            </a:extLst>
          </p:cNvPr>
          <p:cNvCxnSpPr>
            <a:cxnSpLocks/>
          </p:cNvCxnSpPr>
          <p:nvPr/>
        </p:nvCxnSpPr>
        <p:spPr>
          <a:xfrm>
            <a:off x="5869541" y="2454991"/>
            <a:ext cx="721477" cy="0"/>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BCEA89E6-DD41-8A64-F223-2C741977E90D}"/>
              </a:ext>
            </a:extLst>
          </p:cNvPr>
          <p:cNvCxnSpPr>
            <a:cxnSpLocks/>
          </p:cNvCxnSpPr>
          <p:nvPr/>
        </p:nvCxnSpPr>
        <p:spPr>
          <a:xfrm>
            <a:off x="6807042" y="2454991"/>
            <a:ext cx="721477" cy="0"/>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4561C5B5-5573-1099-E0EF-781F573C1AE0}"/>
              </a:ext>
            </a:extLst>
          </p:cNvPr>
          <p:cNvCxnSpPr>
            <a:cxnSpLocks/>
          </p:cNvCxnSpPr>
          <p:nvPr/>
        </p:nvCxnSpPr>
        <p:spPr>
          <a:xfrm>
            <a:off x="4932040" y="3141119"/>
            <a:ext cx="721477" cy="0"/>
          </a:xfrm>
          <a:prstGeom prst="line">
            <a:avLst/>
          </a:prstGeom>
          <a:ln>
            <a:solidFill>
              <a:schemeClr val="accent2"/>
            </a:solidFill>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1AEB220A-F269-EA69-6E11-73245F9803B9}"/>
              </a:ext>
            </a:extLst>
          </p:cNvPr>
          <p:cNvCxnSpPr>
            <a:cxnSpLocks/>
          </p:cNvCxnSpPr>
          <p:nvPr/>
        </p:nvCxnSpPr>
        <p:spPr>
          <a:xfrm>
            <a:off x="5869541" y="3141119"/>
            <a:ext cx="721477" cy="0"/>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7162D3B4-E9E4-18B4-A041-092DDE4F3114}"/>
              </a:ext>
            </a:extLst>
          </p:cNvPr>
          <p:cNvCxnSpPr>
            <a:cxnSpLocks/>
          </p:cNvCxnSpPr>
          <p:nvPr/>
        </p:nvCxnSpPr>
        <p:spPr>
          <a:xfrm>
            <a:off x="6835845" y="3141119"/>
            <a:ext cx="721477" cy="0"/>
          </a:xfrm>
          <a:prstGeom prst="line">
            <a:avLst/>
          </a:prstGeom>
          <a:ln>
            <a:solidFill>
              <a:schemeClr val="accent2"/>
            </a:solidFill>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47CFC9AE-4F59-5A3B-3F75-3120BEA67C3C}"/>
              </a:ext>
            </a:extLst>
          </p:cNvPr>
          <p:cNvCxnSpPr>
            <a:cxnSpLocks/>
          </p:cNvCxnSpPr>
          <p:nvPr/>
        </p:nvCxnSpPr>
        <p:spPr>
          <a:xfrm>
            <a:off x="4970331" y="3759882"/>
            <a:ext cx="721477" cy="0"/>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E3358854-F42B-AB92-F78E-0A6E27F01DEF}"/>
              </a:ext>
            </a:extLst>
          </p:cNvPr>
          <p:cNvCxnSpPr>
            <a:cxnSpLocks/>
          </p:cNvCxnSpPr>
          <p:nvPr/>
        </p:nvCxnSpPr>
        <p:spPr>
          <a:xfrm>
            <a:off x="5898344" y="3759882"/>
            <a:ext cx="721477" cy="0"/>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4B4F9AFF-934A-D180-38C0-773E06FFE4E7}"/>
              </a:ext>
            </a:extLst>
          </p:cNvPr>
          <p:cNvCxnSpPr>
            <a:cxnSpLocks/>
          </p:cNvCxnSpPr>
          <p:nvPr/>
        </p:nvCxnSpPr>
        <p:spPr>
          <a:xfrm>
            <a:off x="6835844" y="3769128"/>
            <a:ext cx="721477" cy="0"/>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4FE89B0E-9944-9166-64CB-B284B5576AA8}"/>
              </a:ext>
            </a:extLst>
          </p:cNvPr>
          <p:cNvCxnSpPr>
            <a:cxnSpLocks/>
          </p:cNvCxnSpPr>
          <p:nvPr/>
        </p:nvCxnSpPr>
        <p:spPr>
          <a:xfrm>
            <a:off x="4970331" y="4459846"/>
            <a:ext cx="721477" cy="0"/>
          </a:xfrm>
          <a:prstGeom prst="line">
            <a:avLst/>
          </a:prstGeom>
          <a:ln>
            <a:solidFill>
              <a:schemeClr val="accent2"/>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40344C95-244A-2A95-A38A-EFA201B5DD98}"/>
              </a:ext>
            </a:extLst>
          </p:cNvPr>
          <p:cNvCxnSpPr>
            <a:cxnSpLocks/>
          </p:cNvCxnSpPr>
          <p:nvPr/>
        </p:nvCxnSpPr>
        <p:spPr>
          <a:xfrm>
            <a:off x="5898344" y="4463413"/>
            <a:ext cx="721477" cy="0"/>
          </a:xfrm>
          <a:prstGeom prst="line">
            <a:avLst/>
          </a:prstGeom>
          <a:ln>
            <a:solidFill>
              <a:schemeClr val="accent2"/>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186" name="直接连接符 185">
            <a:extLst>
              <a:ext uri="{FF2B5EF4-FFF2-40B4-BE49-F238E27FC236}">
                <a16:creationId xmlns:a16="http://schemas.microsoft.com/office/drawing/2014/main" id="{9210305A-8B2B-1DB8-82FF-758EFC6CEB27}"/>
              </a:ext>
            </a:extLst>
          </p:cNvPr>
          <p:cNvCxnSpPr>
            <a:cxnSpLocks/>
          </p:cNvCxnSpPr>
          <p:nvPr/>
        </p:nvCxnSpPr>
        <p:spPr>
          <a:xfrm>
            <a:off x="6835843" y="4474772"/>
            <a:ext cx="721477" cy="0"/>
          </a:xfrm>
          <a:prstGeom prst="line">
            <a:avLst/>
          </a:prstGeom>
          <a:ln>
            <a:solidFill>
              <a:schemeClr val="accent2"/>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09EE1E46-83FB-5278-3EA1-4FF24AA44C7B}"/>
              </a:ext>
            </a:extLst>
          </p:cNvPr>
          <p:cNvCxnSpPr>
            <a:cxnSpLocks/>
            <a:stCxn id="16" idx="4"/>
            <a:endCxn id="161" idx="0"/>
          </p:cNvCxnSpPr>
          <p:nvPr/>
        </p:nvCxnSpPr>
        <p:spPr>
          <a:xfrm>
            <a:off x="4824028" y="2571750"/>
            <a:ext cx="0" cy="451943"/>
          </a:xfrm>
          <a:prstGeom prst="line">
            <a:avLst/>
          </a:prstGeom>
          <a:ln>
            <a:solidFill>
              <a:schemeClr val="accent2"/>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47B6AE9C-1B99-96C5-52DD-88EE80361B3E}"/>
              </a:ext>
            </a:extLst>
          </p:cNvPr>
          <p:cNvCxnSpPr>
            <a:cxnSpLocks/>
          </p:cNvCxnSpPr>
          <p:nvPr/>
        </p:nvCxnSpPr>
        <p:spPr>
          <a:xfrm>
            <a:off x="4826158" y="3264467"/>
            <a:ext cx="0" cy="451943"/>
          </a:xfrm>
          <a:prstGeom prst="line">
            <a:avLst/>
          </a:prstGeom>
          <a:ln>
            <a:solidFill>
              <a:schemeClr val="accent2"/>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30142769-FDD9-A555-F899-E07B2A7539DB}"/>
              </a:ext>
            </a:extLst>
          </p:cNvPr>
          <p:cNvCxnSpPr>
            <a:cxnSpLocks/>
          </p:cNvCxnSpPr>
          <p:nvPr/>
        </p:nvCxnSpPr>
        <p:spPr>
          <a:xfrm>
            <a:off x="4824028" y="3907683"/>
            <a:ext cx="0" cy="451943"/>
          </a:xfrm>
          <a:prstGeom prst="line">
            <a:avLst/>
          </a:prstGeom>
          <a:ln>
            <a:solidFill>
              <a:schemeClr val="accent2"/>
            </a:solidFill>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37B59D2F-F948-F272-888D-0B8F212D494B}"/>
              </a:ext>
            </a:extLst>
          </p:cNvPr>
          <p:cNvCxnSpPr>
            <a:cxnSpLocks/>
          </p:cNvCxnSpPr>
          <p:nvPr/>
        </p:nvCxnSpPr>
        <p:spPr>
          <a:xfrm>
            <a:off x="5761529" y="2581164"/>
            <a:ext cx="0" cy="451943"/>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F0C42123-8793-1635-DB4D-CDF64C7814B2}"/>
              </a:ext>
            </a:extLst>
          </p:cNvPr>
          <p:cNvCxnSpPr>
            <a:cxnSpLocks/>
          </p:cNvCxnSpPr>
          <p:nvPr/>
        </p:nvCxnSpPr>
        <p:spPr>
          <a:xfrm>
            <a:off x="6699030" y="2581164"/>
            <a:ext cx="0" cy="451943"/>
          </a:xfrm>
          <a:prstGeom prst="line">
            <a:avLst/>
          </a:prstGeom>
          <a:ln>
            <a:solidFill>
              <a:schemeClr val="accent2"/>
            </a:solidFill>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769B9027-AAD2-674B-87D2-8907E71B6F9D}"/>
              </a:ext>
            </a:extLst>
          </p:cNvPr>
          <p:cNvCxnSpPr>
            <a:cxnSpLocks/>
          </p:cNvCxnSpPr>
          <p:nvPr/>
        </p:nvCxnSpPr>
        <p:spPr>
          <a:xfrm>
            <a:off x="7645106" y="2563003"/>
            <a:ext cx="0" cy="451943"/>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292F6496-0F17-A82F-531F-5BF174FB78C9}"/>
              </a:ext>
            </a:extLst>
          </p:cNvPr>
          <p:cNvCxnSpPr>
            <a:cxnSpLocks/>
          </p:cNvCxnSpPr>
          <p:nvPr/>
        </p:nvCxnSpPr>
        <p:spPr>
          <a:xfrm>
            <a:off x="7636531" y="3264467"/>
            <a:ext cx="0" cy="451943"/>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B33C26D6-FE62-D8BA-BD73-D2CF33DDC32C}"/>
              </a:ext>
            </a:extLst>
          </p:cNvPr>
          <p:cNvCxnSpPr>
            <a:cxnSpLocks/>
          </p:cNvCxnSpPr>
          <p:nvPr/>
        </p:nvCxnSpPr>
        <p:spPr>
          <a:xfrm>
            <a:off x="6699030" y="3264466"/>
            <a:ext cx="0" cy="451943"/>
          </a:xfrm>
          <a:prstGeom prst="line">
            <a:avLst/>
          </a:prstGeom>
          <a:ln>
            <a:solidFill>
              <a:schemeClr val="accent2"/>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4E72331C-D208-DC9D-258F-2E21759E48F9}"/>
              </a:ext>
            </a:extLst>
          </p:cNvPr>
          <p:cNvCxnSpPr>
            <a:cxnSpLocks/>
          </p:cNvCxnSpPr>
          <p:nvPr/>
        </p:nvCxnSpPr>
        <p:spPr>
          <a:xfrm>
            <a:off x="5753066" y="3264466"/>
            <a:ext cx="0" cy="451943"/>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BF5C8A88-821C-A1CB-64E4-E29126040213}"/>
              </a:ext>
            </a:extLst>
          </p:cNvPr>
          <p:cNvCxnSpPr>
            <a:cxnSpLocks/>
          </p:cNvCxnSpPr>
          <p:nvPr/>
        </p:nvCxnSpPr>
        <p:spPr>
          <a:xfrm>
            <a:off x="5761529" y="3881619"/>
            <a:ext cx="0" cy="451943"/>
          </a:xfrm>
          <a:prstGeom prst="line">
            <a:avLst/>
          </a:prstGeom>
          <a:ln>
            <a:solidFill>
              <a:schemeClr val="accent2"/>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5D596658-949A-1924-5BB6-7D4A74645E64}"/>
              </a:ext>
            </a:extLst>
          </p:cNvPr>
          <p:cNvCxnSpPr>
            <a:cxnSpLocks/>
          </p:cNvCxnSpPr>
          <p:nvPr/>
        </p:nvCxnSpPr>
        <p:spPr>
          <a:xfrm>
            <a:off x="6699030" y="3907683"/>
            <a:ext cx="0" cy="451943"/>
          </a:xfrm>
          <a:prstGeom prst="line">
            <a:avLst/>
          </a:prstGeom>
          <a:ln>
            <a:solidFill>
              <a:schemeClr val="accent2"/>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DD7720F8-2F34-61B0-6885-06D5EDBACA49}"/>
              </a:ext>
            </a:extLst>
          </p:cNvPr>
          <p:cNvCxnSpPr>
            <a:cxnSpLocks/>
          </p:cNvCxnSpPr>
          <p:nvPr/>
        </p:nvCxnSpPr>
        <p:spPr>
          <a:xfrm>
            <a:off x="7645106" y="3918239"/>
            <a:ext cx="0" cy="451943"/>
          </a:xfrm>
          <a:prstGeom prst="line">
            <a:avLst/>
          </a:prstGeom>
          <a:ln>
            <a:solidFill>
              <a:schemeClr val="accent2"/>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01" name="矩形 200">
            <a:extLst>
              <a:ext uri="{FF2B5EF4-FFF2-40B4-BE49-F238E27FC236}">
                <a16:creationId xmlns:a16="http://schemas.microsoft.com/office/drawing/2014/main" id="{7C8F1673-0176-8341-CB83-AC438ADB6861}"/>
              </a:ext>
            </a:extLst>
          </p:cNvPr>
          <p:cNvSpPr/>
          <p:nvPr/>
        </p:nvSpPr>
        <p:spPr>
          <a:xfrm>
            <a:off x="4572000" y="2230576"/>
            <a:ext cx="1457000" cy="1205257"/>
          </a:xfrm>
          <a:prstGeom prst="rect">
            <a:avLst/>
          </a:prstGeom>
          <a:noFill/>
          <a:ln>
            <a:solidFill>
              <a:srgbClr val="FF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矩形 201">
            <a:extLst>
              <a:ext uri="{FF2B5EF4-FFF2-40B4-BE49-F238E27FC236}">
                <a16:creationId xmlns:a16="http://schemas.microsoft.com/office/drawing/2014/main" id="{0EEBF890-CB32-BA0E-3032-2724FB854D48}"/>
              </a:ext>
            </a:extLst>
          </p:cNvPr>
          <p:cNvSpPr/>
          <p:nvPr/>
        </p:nvSpPr>
        <p:spPr>
          <a:xfrm>
            <a:off x="6439280" y="2226159"/>
            <a:ext cx="1457000" cy="1205257"/>
          </a:xfrm>
          <a:prstGeom prst="rect">
            <a:avLst/>
          </a:prstGeom>
          <a:noFill/>
          <a:ln>
            <a:solidFill>
              <a:srgbClr val="FF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矩形 202">
            <a:extLst>
              <a:ext uri="{FF2B5EF4-FFF2-40B4-BE49-F238E27FC236}">
                <a16:creationId xmlns:a16="http://schemas.microsoft.com/office/drawing/2014/main" id="{880D590B-7D77-836B-4961-83712D60D50D}"/>
              </a:ext>
            </a:extLst>
          </p:cNvPr>
          <p:cNvSpPr/>
          <p:nvPr/>
        </p:nvSpPr>
        <p:spPr>
          <a:xfrm>
            <a:off x="4572233" y="3535098"/>
            <a:ext cx="1457000" cy="1205257"/>
          </a:xfrm>
          <a:prstGeom prst="rect">
            <a:avLst/>
          </a:prstGeom>
          <a:noFill/>
          <a:ln>
            <a:solidFill>
              <a:srgbClr val="FF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矩形 203">
            <a:extLst>
              <a:ext uri="{FF2B5EF4-FFF2-40B4-BE49-F238E27FC236}">
                <a16:creationId xmlns:a16="http://schemas.microsoft.com/office/drawing/2014/main" id="{E2311618-B666-35E1-C771-AF847D15BDDA}"/>
              </a:ext>
            </a:extLst>
          </p:cNvPr>
          <p:cNvSpPr/>
          <p:nvPr/>
        </p:nvSpPr>
        <p:spPr>
          <a:xfrm>
            <a:off x="6440048" y="3556904"/>
            <a:ext cx="1457000" cy="1205257"/>
          </a:xfrm>
          <a:prstGeom prst="rect">
            <a:avLst/>
          </a:prstGeom>
          <a:noFill/>
          <a:ln>
            <a:solidFill>
              <a:srgbClr val="FF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470298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870702"/>
            <a:ext cx="8208912" cy="3792641"/>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）分布的开放性</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）网络的动态性</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）电源能量的有限性</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）计算能力的有限性</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）通信能力的有限性</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）存储空间的有限性</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7</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）通信的开放性和不可靠性</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）技术不成熟及标准不统一性</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安全脆弱性</a:t>
            </a:r>
          </a:p>
        </p:txBody>
      </p:sp>
    </p:spTree>
    <p:extLst>
      <p:ext uri="{BB962C8B-B14F-4D97-AF65-F5344CB8AC3E}">
        <p14:creationId xmlns:p14="http://schemas.microsoft.com/office/powerpoint/2010/main" val="163482779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25139"/>
            <a:ext cx="8208912" cy="3114763"/>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）针对节点的攻击</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①物理攻击与节点被捕获</a:t>
            </a: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②节点被控制</a:t>
            </a: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③节点受到拒绝服务（</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DoS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a:t>
            </a: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④假冒攻击或节点复制攻击</a:t>
            </a: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⑤大规模节点的有效管理问题</a:t>
            </a:r>
          </a:p>
          <a:p>
            <a:pPr>
              <a:lnSpc>
                <a:spcPct val="130000"/>
              </a:lnSpc>
              <a:spcBef>
                <a:spcPts val="300"/>
              </a:spcBef>
              <a:spcAft>
                <a:spcPts val="300"/>
              </a:spcAft>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安全威胁</a:t>
            </a:r>
          </a:p>
        </p:txBody>
      </p:sp>
      <p:grpSp>
        <p:nvGrpSpPr>
          <p:cNvPr id="165" name="组合 164">
            <a:extLst>
              <a:ext uri="{FF2B5EF4-FFF2-40B4-BE49-F238E27FC236}">
                <a16:creationId xmlns:a16="http://schemas.microsoft.com/office/drawing/2014/main" id="{B794EE20-B45A-4EA5-9BD0-EE80E46C0293}"/>
              </a:ext>
            </a:extLst>
          </p:cNvPr>
          <p:cNvGrpSpPr/>
          <p:nvPr/>
        </p:nvGrpSpPr>
        <p:grpSpPr>
          <a:xfrm>
            <a:off x="3868893" y="918122"/>
            <a:ext cx="5275107" cy="2753808"/>
            <a:chOff x="3941473" y="978852"/>
            <a:chExt cx="5275107" cy="2753808"/>
          </a:xfrm>
        </p:grpSpPr>
        <p:sp>
          <p:nvSpPr>
            <p:cNvPr id="2" name="椭圆 1">
              <a:extLst>
                <a:ext uri="{FF2B5EF4-FFF2-40B4-BE49-F238E27FC236}">
                  <a16:creationId xmlns:a16="http://schemas.microsoft.com/office/drawing/2014/main" id="{F9F0E10B-81DA-4309-9685-248CE23517D5}"/>
                </a:ext>
              </a:extLst>
            </p:cNvPr>
            <p:cNvSpPr/>
            <p:nvPr/>
          </p:nvSpPr>
          <p:spPr>
            <a:xfrm>
              <a:off x="5004048" y="1230976"/>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265BB455-F4A5-4D9C-9554-EFD07C74B843}"/>
                </a:ext>
              </a:extLst>
            </p:cNvPr>
            <p:cNvSpPr/>
            <p:nvPr/>
          </p:nvSpPr>
          <p:spPr>
            <a:xfrm>
              <a:off x="5165328" y="146401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27762DE3-7298-40D6-B2BB-97DB790DE3C0}"/>
                </a:ext>
              </a:extLst>
            </p:cNvPr>
            <p:cNvSpPr/>
            <p:nvPr/>
          </p:nvSpPr>
          <p:spPr>
            <a:xfrm>
              <a:off x="4788024" y="145990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3222A46A-231F-44F7-A7ED-577F5976FF47}"/>
                </a:ext>
              </a:extLst>
            </p:cNvPr>
            <p:cNvSpPr/>
            <p:nvPr/>
          </p:nvSpPr>
          <p:spPr>
            <a:xfrm>
              <a:off x="4436616" y="135188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7970977F-DA9F-4EFC-B0F8-703DFEB68274}"/>
                </a:ext>
              </a:extLst>
            </p:cNvPr>
            <p:cNvSpPr/>
            <p:nvPr/>
          </p:nvSpPr>
          <p:spPr>
            <a:xfrm>
              <a:off x="5796136" y="120359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0699D2B6-9F78-43FB-9477-ACEA949C550B}"/>
                </a:ext>
              </a:extLst>
            </p:cNvPr>
            <p:cNvSpPr/>
            <p:nvPr/>
          </p:nvSpPr>
          <p:spPr>
            <a:xfrm>
              <a:off x="5705389" y="1525965"/>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2AC5E008-1544-4DA3-AFF7-C1E15BC89380}"/>
                </a:ext>
              </a:extLst>
            </p:cNvPr>
            <p:cNvSpPr/>
            <p:nvPr/>
          </p:nvSpPr>
          <p:spPr>
            <a:xfrm>
              <a:off x="6156176" y="1203725"/>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E5845A09-606D-431E-8797-459B50071F8D}"/>
                </a:ext>
              </a:extLst>
            </p:cNvPr>
            <p:cNvSpPr/>
            <p:nvPr/>
          </p:nvSpPr>
          <p:spPr>
            <a:xfrm>
              <a:off x="6088073" y="1525965"/>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0AD87B0E-F002-4296-BCE8-158386B4B3D3}"/>
                </a:ext>
              </a:extLst>
            </p:cNvPr>
            <p:cNvSpPr/>
            <p:nvPr/>
          </p:nvSpPr>
          <p:spPr>
            <a:xfrm>
              <a:off x="6361688" y="156985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2A0A349E-E177-4428-A119-84857AE80F9B}"/>
                </a:ext>
              </a:extLst>
            </p:cNvPr>
            <p:cNvSpPr/>
            <p:nvPr/>
          </p:nvSpPr>
          <p:spPr>
            <a:xfrm>
              <a:off x="7133664" y="122077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E6F36CFC-3B89-4FF9-AE6A-77C52789B8D4}"/>
                </a:ext>
              </a:extLst>
            </p:cNvPr>
            <p:cNvSpPr/>
            <p:nvPr/>
          </p:nvSpPr>
          <p:spPr>
            <a:xfrm>
              <a:off x="7483068" y="134366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D99CC0CA-440F-416D-9EA8-D56957C1ECC5}"/>
                </a:ext>
              </a:extLst>
            </p:cNvPr>
            <p:cNvSpPr/>
            <p:nvPr/>
          </p:nvSpPr>
          <p:spPr>
            <a:xfrm>
              <a:off x="7767724" y="1244003"/>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EF92B1D6-F63D-45CB-A35D-B38E4C89D1BB}"/>
                </a:ext>
              </a:extLst>
            </p:cNvPr>
            <p:cNvSpPr/>
            <p:nvPr/>
          </p:nvSpPr>
          <p:spPr>
            <a:xfrm>
              <a:off x="7712140" y="1633977"/>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4ADBD392-DEBD-44C6-93D8-BB0023654835}"/>
                </a:ext>
              </a:extLst>
            </p:cNvPr>
            <p:cNvSpPr/>
            <p:nvPr/>
          </p:nvSpPr>
          <p:spPr>
            <a:xfrm>
              <a:off x="8093786" y="163410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8BB93336-06C2-4577-A5A5-8B474CAE9326}"/>
                </a:ext>
              </a:extLst>
            </p:cNvPr>
            <p:cNvSpPr/>
            <p:nvPr/>
          </p:nvSpPr>
          <p:spPr>
            <a:xfrm>
              <a:off x="7767724" y="190794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E4382DB1-AA21-49E4-8940-DCCE1DF2FE4D}"/>
                </a:ext>
              </a:extLst>
            </p:cNvPr>
            <p:cNvSpPr/>
            <p:nvPr/>
          </p:nvSpPr>
          <p:spPr>
            <a:xfrm>
              <a:off x="8093786" y="1923377"/>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6B0BEE4-C189-4EFF-AB84-AA3E206167F8}"/>
                </a:ext>
              </a:extLst>
            </p:cNvPr>
            <p:cNvSpPr/>
            <p:nvPr/>
          </p:nvSpPr>
          <p:spPr>
            <a:xfrm>
              <a:off x="4715393" y="1923377"/>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429F93D9-F228-4EF2-AF83-AF40C92D4F20}"/>
                </a:ext>
              </a:extLst>
            </p:cNvPr>
            <p:cNvSpPr/>
            <p:nvPr/>
          </p:nvSpPr>
          <p:spPr>
            <a:xfrm>
              <a:off x="4389331" y="1844083"/>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CEB67907-40CF-4202-880D-2B629384F0AF}"/>
                </a:ext>
              </a:extLst>
            </p:cNvPr>
            <p:cNvSpPr/>
            <p:nvPr/>
          </p:nvSpPr>
          <p:spPr>
            <a:xfrm>
              <a:off x="5220072" y="212277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BF45253B-C8A1-4293-A749-F7D79267C41C}"/>
                </a:ext>
              </a:extLst>
            </p:cNvPr>
            <p:cNvSpPr/>
            <p:nvPr/>
          </p:nvSpPr>
          <p:spPr>
            <a:xfrm>
              <a:off x="6145664" y="2153806"/>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34F68880-2933-4E8C-89C8-FDB86203F730}"/>
                </a:ext>
              </a:extLst>
            </p:cNvPr>
            <p:cNvSpPr/>
            <p:nvPr/>
          </p:nvSpPr>
          <p:spPr>
            <a:xfrm>
              <a:off x="5328084" y="2644771"/>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FB8D5298-B132-4092-88F6-F8FD79F68A47}"/>
                </a:ext>
              </a:extLst>
            </p:cNvPr>
            <p:cNvSpPr/>
            <p:nvPr/>
          </p:nvSpPr>
          <p:spPr>
            <a:xfrm>
              <a:off x="5380729" y="3303533"/>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D2CF24E8-BA70-476F-B809-88DFCDABD66D}"/>
                </a:ext>
              </a:extLst>
            </p:cNvPr>
            <p:cNvSpPr/>
            <p:nvPr/>
          </p:nvSpPr>
          <p:spPr>
            <a:xfrm>
              <a:off x="4917492" y="2746686"/>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54AD7B50-5F69-4B79-9E8B-32AEACCFFB0A}"/>
                </a:ext>
              </a:extLst>
            </p:cNvPr>
            <p:cNvSpPr/>
            <p:nvPr/>
          </p:nvSpPr>
          <p:spPr>
            <a:xfrm>
              <a:off x="4626006" y="2497457"/>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D59735A6-D9F2-4631-A170-B1A91954866E}"/>
                </a:ext>
              </a:extLst>
            </p:cNvPr>
            <p:cNvSpPr/>
            <p:nvPr/>
          </p:nvSpPr>
          <p:spPr>
            <a:xfrm>
              <a:off x="4629042" y="296271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956B2067-DE37-4217-A78C-070C70C0C07F}"/>
                </a:ext>
              </a:extLst>
            </p:cNvPr>
            <p:cNvSpPr/>
            <p:nvPr/>
          </p:nvSpPr>
          <p:spPr>
            <a:xfrm>
              <a:off x="4949304" y="321275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E8BE7C54-3018-4540-B40F-5A14C0E13A92}"/>
                </a:ext>
              </a:extLst>
            </p:cNvPr>
            <p:cNvSpPr/>
            <p:nvPr/>
          </p:nvSpPr>
          <p:spPr>
            <a:xfrm>
              <a:off x="5068727" y="1745750"/>
              <a:ext cx="252000" cy="25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42D0F579-ACF7-46DD-81CF-7D6188F94DAE}"/>
                </a:ext>
              </a:extLst>
            </p:cNvPr>
            <p:cNvSpPr/>
            <p:nvPr/>
          </p:nvSpPr>
          <p:spPr>
            <a:xfrm>
              <a:off x="6052097" y="1808769"/>
              <a:ext cx="252000" cy="25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AEBDF7E7-675B-46DB-A9DB-FCB8477A0686}"/>
                </a:ext>
              </a:extLst>
            </p:cNvPr>
            <p:cNvSpPr/>
            <p:nvPr/>
          </p:nvSpPr>
          <p:spPr>
            <a:xfrm>
              <a:off x="7321092" y="1695058"/>
              <a:ext cx="252000" cy="25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0ADD9592-ACEB-4390-98D3-177084DCDD5F}"/>
                </a:ext>
              </a:extLst>
            </p:cNvPr>
            <p:cNvSpPr/>
            <p:nvPr/>
          </p:nvSpPr>
          <p:spPr>
            <a:xfrm>
              <a:off x="5220072" y="2944722"/>
              <a:ext cx="252000" cy="25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grpSp>
          <p:nvGrpSpPr>
            <p:cNvPr id="59" name="组合 58">
              <a:extLst>
                <a:ext uri="{FF2B5EF4-FFF2-40B4-BE49-F238E27FC236}">
                  <a16:creationId xmlns:a16="http://schemas.microsoft.com/office/drawing/2014/main" id="{B9272620-320E-4379-8E17-AE55198F9F9F}"/>
                </a:ext>
              </a:extLst>
            </p:cNvPr>
            <p:cNvGrpSpPr/>
            <p:nvPr/>
          </p:nvGrpSpPr>
          <p:grpSpPr>
            <a:xfrm>
              <a:off x="6948264" y="2801842"/>
              <a:ext cx="394991" cy="682644"/>
              <a:chOff x="6948264" y="2801842"/>
              <a:chExt cx="394991" cy="682644"/>
            </a:xfrm>
          </p:grpSpPr>
          <p:grpSp>
            <p:nvGrpSpPr>
              <p:cNvPr id="51" name="组合 50">
                <a:extLst>
                  <a:ext uri="{FF2B5EF4-FFF2-40B4-BE49-F238E27FC236}">
                    <a16:creationId xmlns:a16="http://schemas.microsoft.com/office/drawing/2014/main" id="{F9EBF989-5C2E-4536-BE5E-449D39F0BFF2}"/>
                  </a:ext>
                </a:extLst>
              </p:cNvPr>
              <p:cNvGrpSpPr/>
              <p:nvPr/>
            </p:nvGrpSpPr>
            <p:grpSpPr>
              <a:xfrm>
                <a:off x="6948264" y="2995541"/>
                <a:ext cx="394991" cy="488945"/>
                <a:chOff x="6948264" y="2995541"/>
                <a:chExt cx="394991" cy="488945"/>
              </a:xfrm>
            </p:grpSpPr>
            <p:cxnSp>
              <p:nvCxnSpPr>
                <p:cNvPr id="36" name="直接连接符 35">
                  <a:extLst>
                    <a:ext uri="{FF2B5EF4-FFF2-40B4-BE49-F238E27FC236}">
                      <a16:creationId xmlns:a16="http://schemas.microsoft.com/office/drawing/2014/main" id="{63523D11-F21D-4DA9-A776-D09F6544184C}"/>
                    </a:ext>
                  </a:extLst>
                </p:cNvPr>
                <p:cNvCxnSpPr/>
                <p:nvPr/>
              </p:nvCxnSpPr>
              <p:spPr>
                <a:xfrm flipH="1">
                  <a:off x="6948264" y="2998505"/>
                  <a:ext cx="185400" cy="4859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2EAFF961-D621-4684-9E85-D72D332AA37C}"/>
                    </a:ext>
                  </a:extLst>
                </p:cNvPr>
                <p:cNvCxnSpPr>
                  <a:cxnSpLocks/>
                </p:cNvCxnSpPr>
                <p:nvPr/>
              </p:nvCxnSpPr>
              <p:spPr>
                <a:xfrm>
                  <a:off x="7131280" y="2995541"/>
                  <a:ext cx="211975" cy="4889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796A90F1-46A5-4F0F-B060-D1059CC6B14B}"/>
                    </a:ext>
                  </a:extLst>
                </p:cNvPr>
                <p:cNvCxnSpPr>
                  <a:cxnSpLocks/>
                </p:cNvCxnSpPr>
                <p:nvPr/>
              </p:nvCxnSpPr>
              <p:spPr>
                <a:xfrm>
                  <a:off x="7076752" y="3137001"/>
                  <a:ext cx="164924" cy="1256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656494F-876E-4872-A168-CECD8A46F5F0}"/>
                    </a:ext>
                  </a:extLst>
                </p:cNvPr>
                <p:cNvCxnSpPr>
                  <a:cxnSpLocks/>
                </p:cNvCxnSpPr>
                <p:nvPr/>
              </p:nvCxnSpPr>
              <p:spPr>
                <a:xfrm>
                  <a:off x="7025652" y="3277272"/>
                  <a:ext cx="293412" cy="1611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A923CA0-8183-4202-BDB4-E18DC90FDB0D}"/>
                    </a:ext>
                  </a:extLst>
                </p:cNvPr>
                <p:cNvCxnSpPr>
                  <a:cxnSpLocks/>
                </p:cNvCxnSpPr>
                <p:nvPr/>
              </p:nvCxnSpPr>
              <p:spPr>
                <a:xfrm flipH="1">
                  <a:off x="6966266" y="3277272"/>
                  <a:ext cx="275410" cy="1515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B02A95D1-8D5E-441C-8D00-BF4986EE0E2D}"/>
                    </a:ext>
                  </a:extLst>
                </p:cNvPr>
                <p:cNvCxnSpPr>
                  <a:cxnSpLocks/>
                </p:cNvCxnSpPr>
                <p:nvPr/>
              </p:nvCxnSpPr>
              <p:spPr>
                <a:xfrm flipH="1">
                  <a:off x="7023624" y="3137001"/>
                  <a:ext cx="176238" cy="1402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 name="椭圆 51">
                <a:extLst>
                  <a:ext uri="{FF2B5EF4-FFF2-40B4-BE49-F238E27FC236}">
                    <a16:creationId xmlns:a16="http://schemas.microsoft.com/office/drawing/2014/main" id="{1137C474-DC99-4EA3-9CAD-178BE553BBE3}"/>
                  </a:ext>
                </a:extLst>
              </p:cNvPr>
              <p:cNvSpPr/>
              <p:nvPr/>
            </p:nvSpPr>
            <p:spPr>
              <a:xfrm>
                <a:off x="7110804" y="2897078"/>
                <a:ext cx="45719" cy="45719"/>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空心弧 53">
                <a:extLst>
                  <a:ext uri="{FF2B5EF4-FFF2-40B4-BE49-F238E27FC236}">
                    <a16:creationId xmlns:a16="http://schemas.microsoft.com/office/drawing/2014/main" id="{ED93AFFA-27F6-4E26-AF25-230F0F7D2085}"/>
                  </a:ext>
                </a:extLst>
              </p:cNvPr>
              <p:cNvSpPr/>
              <p:nvPr/>
            </p:nvSpPr>
            <p:spPr>
              <a:xfrm rot="16200000">
                <a:off x="7022752" y="2887063"/>
                <a:ext cx="108000" cy="68104"/>
              </a:xfrm>
              <a:prstGeom prst="blockArc">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5" name="空心弧 54">
                <a:extLst>
                  <a:ext uri="{FF2B5EF4-FFF2-40B4-BE49-F238E27FC236}">
                    <a16:creationId xmlns:a16="http://schemas.microsoft.com/office/drawing/2014/main" id="{783AF4AA-417A-465A-ABDE-B01EDBFC4512}"/>
                  </a:ext>
                </a:extLst>
              </p:cNvPr>
              <p:cNvSpPr/>
              <p:nvPr/>
            </p:nvSpPr>
            <p:spPr>
              <a:xfrm rot="5400000">
                <a:off x="7128290" y="2887062"/>
                <a:ext cx="108000" cy="68104"/>
              </a:xfrm>
              <a:prstGeom prst="blockArc">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空心弧 55">
                <a:extLst>
                  <a:ext uri="{FF2B5EF4-FFF2-40B4-BE49-F238E27FC236}">
                    <a16:creationId xmlns:a16="http://schemas.microsoft.com/office/drawing/2014/main" id="{2BD333A1-CACF-4BD5-9DB0-BA12630A2838}"/>
                  </a:ext>
                </a:extLst>
              </p:cNvPr>
              <p:cNvSpPr/>
              <p:nvPr/>
            </p:nvSpPr>
            <p:spPr>
              <a:xfrm rot="5400000">
                <a:off x="7099718" y="2847434"/>
                <a:ext cx="233248" cy="142064"/>
              </a:xfrm>
              <a:prstGeom prst="blockArc">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7" name="空心弧 56">
                <a:extLst>
                  <a:ext uri="{FF2B5EF4-FFF2-40B4-BE49-F238E27FC236}">
                    <a16:creationId xmlns:a16="http://schemas.microsoft.com/office/drawing/2014/main" id="{47115BC0-E3F4-4699-9EF3-FDEE449EE855}"/>
                  </a:ext>
                </a:extLst>
              </p:cNvPr>
              <p:cNvSpPr/>
              <p:nvPr/>
            </p:nvSpPr>
            <p:spPr>
              <a:xfrm rot="16200000" flipH="1">
                <a:off x="6923148" y="2847434"/>
                <a:ext cx="233248" cy="142064"/>
              </a:xfrm>
              <a:prstGeom prst="blockArc">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cxnSp>
          <p:nvCxnSpPr>
            <p:cNvPr id="64" name="直接连接符 63">
              <a:extLst>
                <a:ext uri="{FF2B5EF4-FFF2-40B4-BE49-F238E27FC236}">
                  <a16:creationId xmlns:a16="http://schemas.microsoft.com/office/drawing/2014/main" id="{2F32F1E5-D813-4E9C-9E4B-46B8B4E45C9C}"/>
                </a:ext>
              </a:extLst>
            </p:cNvPr>
            <p:cNvCxnSpPr>
              <a:cxnSpLocks/>
            </p:cNvCxnSpPr>
            <p:nvPr/>
          </p:nvCxnSpPr>
          <p:spPr>
            <a:xfrm>
              <a:off x="5148064" y="1419622"/>
              <a:ext cx="33030" cy="7200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75366E88-3F09-46F8-8AEF-97E1890D3C27}"/>
                </a:ext>
              </a:extLst>
            </p:cNvPr>
            <p:cNvCxnSpPr>
              <a:cxnSpLocks/>
              <a:endCxn id="7" idx="2"/>
            </p:cNvCxnSpPr>
            <p:nvPr/>
          </p:nvCxnSpPr>
          <p:spPr>
            <a:xfrm>
              <a:off x="4648949" y="1523692"/>
              <a:ext cx="139075" cy="4422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4DA07FA1-CFD2-489A-B460-8DD443DFA092}"/>
                </a:ext>
              </a:extLst>
            </p:cNvPr>
            <p:cNvCxnSpPr>
              <a:cxnSpLocks/>
            </p:cNvCxnSpPr>
            <p:nvPr/>
          </p:nvCxnSpPr>
          <p:spPr>
            <a:xfrm>
              <a:off x="4976673" y="1649188"/>
              <a:ext cx="80643" cy="96562"/>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90A51EC2-50F5-463B-B05C-AFF3BD3E51E6}"/>
                </a:ext>
              </a:extLst>
            </p:cNvPr>
            <p:cNvCxnSpPr>
              <a:cxnSpLocks/>
              <a:endCxn id="22" idx="2"/>
            </p:cNvCxnSpPr>
            <p:nvPr/>
          </p:nvCxnSpPr>
          <p:spPr>
            <a:xfrm>
              <a:off x="4606067" y="1963545"/>
              <a:ext cx="109326" cy="67844"/>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078DBDB2-C83A-4748-ADF0-FA044C609CCF}"/>
                </a:ext>
              </a:extLst>
            </p:cNvPr>
            <p:cNvCxnSpPr>
              <a:cxnSpLocks/>
            </p:cNvCxnSpPr>
            <p:nvPr/>
          </p:nvCxnSpPr>
          <p:spPr>
            <a:xfrm rot="1080000" flipV="1">
              <a:off x="4916323" y="1898054"/>
              <a:ext cx="145409" cy="103193"/>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81ECCE9F-79DD-433D-B3F8-D695E54375B1}"/>
                </a:ext>
              </a:extLst>
            </p:cNvPr>
            <p:cNvCxnSpPr>
              <a:cxnSpLocks/>
              <a:stCxn id="24" idx="1"/>
              <a:endCxn id="32" idx="2"/>
            </p:cNvCxnSpPr>
            <p:nvPr/>
          </p:nvCxnSpPr>
          <p:spPr>
            <a:xfrm flipH="1" flipV="1">
              <a:off x="5194727" y="1997750"/>
              <a:ext cx="56981" cy="156658"/>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78CCA183-43FC-476A-9828-8C9F7005D5F0}"/>
                </a:ext>
              </a:extLst>
            </p:cNvPr>
            <p:cNvCxnSpPr>
              <a:cxnSpLocks/>
              <a:stCxn id="6" idx="4"/>
              <a:endCxn id="32" idx="0"/>
            </p:cNvCxnSpPr>
            <p:nvPr/>
          </p:nvCxnSpPr>
          <p:spPr>
            <a:xfrm flipH="1">
              <a:off x="5194727" y="1680034"/>
              <a:ext cx="78613" cy="65716"/>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B740A9A5-C868-4D61-89E6-02BDC3CDE394}"/>
                </a:ext>
              </a:extLst>
            </p:cNvPr>
            <p:cNvCxnSpPr>
              <a:cxnSpLocks/>
              <a:endCxn id="10" idx="0"/>
            </p:cNvCxnSpPr>
            <p:nvPr/>
          </p:nvCxnSpPr>
          <p:spPr>
            <a:xfrm flipH="1">
              <a:off x="5813401" y="1425906"/>
              <a:ext cx="70097" cy="100059"/>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878560BB-72FF-4B51-AC68-DAB2CC5E686A}"/>
                </a:ext>
              </a:extLst>
            </p:cNvPr>
            <p:cNvCxnSpPr>
              <a:cxnSpLocks/>
            </p:cNvCxnSpPr>
            <p:nvPr/>
          </p:nvCxnSpPr>
          <p:spPr>
            <a:xfrm flipH="1">
              <a:off x="6193115" y="1410217"/>
              <a:ext cx="70097" cy="100059"/>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E623C688-5E78-4547-9A77-E54F524E3D54}"/>
                </a:ext>
              </a:extLst>
            </p:cNvPr>
            <p:cNvCxnSpPr>
              <a:cxnSpLocks/>
              <a:stCxn id="13" idx="2"/>
            </p:cNvCxnSpPr>
            <p:nvPr/>
          </p:nvCxnSpPr>
          <p:spPr>
            <a:xfrm flipH="1" flipV="1">
              <a:off x="6303365" y="1675924"/>
              <a:ext cx="58323" cy="194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9FB4011F-03C4-45E7-A57D-A768FAA497CA}"/>
                </a:ext>
              </a:extLst>
            </p:cNvPr>
            <p:cNvCxnSpPr>
              <a:cxnSpLocks/>
            </p:cNvCxnSpPr>
            <p:nvPr/>
          </p:nvCxnSpPr>
          <p:spPr>
            <a:xfrm flipH="1" flipV="1">
              <a:off x="5912514" y="1649188"/>
              <a:ext cx="139583" cy="159581"/>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F19D1B08-2121-4ECB-AA81-FC8E6288E18C}"/>
                </a:ext>
              </a:extLst>
            </p:cNvPr>
            <p:cNvCxnSpPr>
              <a:cxnSpLocks/>
              <a:stCxn id="33" idx="0"/>
            </p:cNvCxnSpPr>
            <p:nvPr/>
          </p:nvCxnSpPr>
          <p:spPr>
            <a:xfrm flipV="1">
              <a:off x="6178097" y="1741019"/>
              <a:ext cx="2287" cy="6775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C795B500-BBC9-4060-AC9E-A42DB1F48300}"/>
                </a:ext>
              </a:extLst>
            </p:cNvPr>
            <p:cNvCxnSpPr>
              <a:cxnSpLocks/>
              <a:endCxn id="15" idx="2"/>
            </p:cNvCxnSpPr>
            <p:nvPr/>
          </p:nvCxnSpPr>
          <p:spPr>
            <a:xfrm>
              <a:off x="7341479" y="1396970"/>
              <a:ext cx="141589" cy="5471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C7EF7A49-4F3E-47DC-B57C-C8DD4ECD8389}"/>
                </a:ext>
              </a:extLst>
            </p:cNvPr>
            <p:cNvCxnSpPr>
              <a:cxnSpLocks/>
              <a:endCxn id="15" idx="6"/>
            </p:cNvCxnSpPr>
            <p:nvPr/>
          </p:nvCxnSpPr>
          <p:spPr>
            <a:xfrm flipH="1">
              <a:off x="7699092" y="1428267"/>
              <a:ext cx="92895" cy="23413"/>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839CB13A-27E9-4339-92B0-31ABDD1FE868}"/>
                </a:ext>
              </a:extLst>
            </p:cNvPr>
            <p:cNvCxnSpPr>
              <a:cxnSpLocks/>
              <a:endCxn id="34" idx="0"/>
            </p:cNvCxnSpPr>
            <p:nvPr/>
          </p:nvCxnSpPr>
          <p:spPr>
            <a:xfrm flipH="1">
              <a:off x="7447092" y="1547985"/>
              <a:ext cx="143988" cy="147073"/>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07308EB3-575C-4E16-97F9-AA41A3E0B164}"/>
                </a:ext>
              </a:extLst>
            </p:cNvPr>
            <p:cNvCxnSpPr>
              <a:cxnSpLocks/>
              <a:stCxn id="17" idx="2"/>
            </p:cNvCxnSpPr>
            <p:nvPr/>
          </p:nvCxnSpPr>
          <p:spPr>
            <a:xfrm flipH="1">
              <a:off x="7553491" y="1741989"/>
              <a:ext cx="158649" cy="56318"/>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A0953E9-CE03-402D-85E4-66B47B3D53C6}"/>
                </a:ext>
              </a:extLst>
            </p:cNvPr>
            <p:cNvCxnSpPr>
              <a:cxnSpLocks/>
            </p:cNvCxnSpPr>
            <p:nvPr/>
          </p:nvCxnSpPr>
          <p:spPr>
            <a:xfrm flipH="1" flipV="1">
              <a:off x="7570918" y="1896217"/>
              <a:ext cx="183196" cy="84387"/>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084E43E-5F78-4421-9DC8-E21923D992BB}"/>
                </a:ext>
              </a:extLst>
            </p:cNvPr>
            <p:cNvCxnSpPr>
              <a:cxnSpLocks/>
              <a:stCxn id="18" idx="2"/>
            </p:cNvCxnSpPr>
            <p:nvPr/>
          </p:nvCxnSpPr>
          <p:spPr>
            <a:xfrm flipH="1">
              <a:off x="7931278" y="1742116"/>
              <a:ext cx="162508" cy="15021"/>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4BE60401-9A55-4BBF-862B-C25F3C42C9FF}"/>
                </a:ext>
              </a:extLst>
            </p:cNvPr>
            <p:cNvCxnSpPr>
              <a:cxnSpLocks/>
              <a:stCxn id="21" idx="2"/>
            </p:cNvCxnSpPr>
            <p:nvPr/>
          </p:nvCxnSpPr>
          <p:spPr>
            <a:xfrm flipH="1">
              <a:off x="7968944" y="2031389"/>
              <a:ext cx="124842" cy="9369"/>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7319AC38-DEEF-417B-9EA2-41C13D224241}"/>
                </a:ext>
              </a:extLst>
            </p:cNvPr>
            <p:cNvCxnSpPr>
              <a:cxnSpLocks/>
              <a:endCxn id="29" idx="5"/>
            </p:cNvCxnSpPr>
            <p:nvPr/>
          </p:nvCxnSpPr>
          <p:spPr>
            <a:xfrm flipH="1" flipV="1">
              <a:off x="4810394" y="2681845"/>
              <a:ext cx="113017" cy="119996"/>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61F962CA-8168-4FDB-AAE0-0061180CB34D}"/>
                </a:ext>
              </a:extLst>
            </p:cNvPr>
            <p:cNvCxnSpPr>
              <a:cxnSpLocks/>
              <a:stCxn id="35" idx="1"/>
            </p:cNvCxnSpPr>
            <p:nvPr/>
          </p:nvCxnSpPr>
          <p:spPr>
            <a:xfrm flipH="1" flipV="1">
              <a:off x="5082831" y="2942797"/>
              <a:ext cx="137241" cy="127925"/>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42AAE6DA-2377-49DA-BCC0-B8D07C5E95A6}"/>
                </a:ext>
              </a:extLst>
            </p:cNvPr>
            <p:cNvCxnSpPr>
              <a:cxnSpLocks/>
              <a:stCxn id="31" idx="1"/>
            </p:cNvCxnSpPr>
            <p:nvPr/>
          </p:nvCxnSpPr>
          <p:spPr>
            <a:xfrm flipH="1" flipV="1">
              <a:off x="4810220" y="3130997"/>
              <a:ext cx="170720" cy="113393"/>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283AAC1B-5DAE-40E8-B954-F628641D121B}"/>
                </a:ext>
              </a:extLst>
            </p:cNvPr>
            <p:cNvCxnSpPr>
              <a:cxnSpLocks/>
            </p:cNvCxnSpPr>
            <p:nvPr/>
          </p:nvCxnSpPr>
          <p:spPr>
            <a:xfrm flipH="1" flipV="1">
              <a:off x="5342725" y="3196722"/>
              <a:ext cx="61735" cy="124044"/>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0011B140-B565-4724-8274-A9DDB1346ADF}"/>
                </a:ext>
              </a:extLst>
            </p:cNvPr>
            <p:cNvCxnSpPr>
              <a:cxnSpLocks/>
              <a:stCxn id="31" idx="7"/>
            </p:cNvCxnSpPr>
            <p:nvPr/>
          </p:nvCxnSpPr>
          <p:spPr>
            <a:xfrm flipV="1">
              <a:off x="5133692" y="3186448"/>
              <a:ext cx="77290" cy="57942"/>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5A3DE83C-0663-49AB-8FBC-2649FC511238}"/>
                </a:ext>
              </a:extLst>
            </p:cNvPr>
            <p:cNvCxnSpPr>
              <a:cxnSpLocks/>
              <a:endCxn id="26" idx="4"/>
            </p:cNvCxnSpPr>
            <p:nvPr/>
          </p:nvCxnSpPr>
          <p:spPr>
            <a:xfrm flipV="1">
              <a:off x="5400955" y="2860795"/>
              <a:ext cx="35141" cy="82964"/>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7894A419-2F44-4A57-9D6D-842EAADFE603}"/>
                </a:ext>
              </a:extLst>
            </p:cNvPr>
            <p:cNvCxnSpPr>
              <a:cxnSpLocks/>
              <a:stCxn id="25" idx="0"/>
            </p:cNvCxnSpPr>
            <p:nvPr/>
          </p:nvCxnSpPr>
          <p:spPr>
            <a:xfrm flipH="1" flipV="1">
              <a:off x="6164624" y="2061273"/>
              <a:ext cx="89052" cy="92533"/>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A984A494-3775-4219-A835-0DDD13278AF7}"/>
                </a:ext>
              </a:extLst>
            </p:cNvPr>
            <p:cNvCxnSpPr>
              <a:cxnSpLocks/>
            </p:cNvCxnSpPr>
            <p:nvPr/>
          </p:nvCxnSpPr>
          <p:spPr>
            <a:xfrm flipH="1" flipV="1">
              <a:off x="5137608" y="1999716"/>
              <a:ext cx="82464" cy="933169"/>
            </a:xfrm>
            <a:prstGeom prst="line">
              <a:avLst/>
            </a:prstGeom>
            <a:ln w="12700">
              <a:solidFill>
                <a:srgbClr val="3A8765"/>
              </a:solidFill>
              <a:prstDash val="dash"/>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886730ED-B5C1-40EB-BD1B-20859323C0BB}"/>
                </a:ext>
              </a:extLst>
            </p:cNvPr>
            <p:cNvCxnSpPr>
              <a:cxnSpLocks/>
            </p:cNvCxnSpPr>
            <p:nvPr/>
          </p:nvCxnSpPr>
          <p:spPr>
            <a:xfrm flipH="1" flipV="1">
              <a:off x="5335397" y="1956738"/>
              <a:ext cx="1574858" cy="910376"/>
            </a:xfrm>
            <a:prstGeom prst="line">
              <a:avLst/>
            </a:prstGeom>
            <a:ln w="12700">
              <a:solidFill>
                <a:srgbClr val="3A8765"/>
              </a:solidFill>
              <a:prstDash val="dash"/>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ABF30928-BD1D-4C4E-A4FA-DFAB9B2BB25B}"/>
                </a:ext>
              </a:extLst>
            </p:cNvPr>
            <p:cNvCxnSpPr>
              <a:cxnSpLocks/>
            </p:cNvCxnSpPr>
            <p:nvPr/>
          </p:nvCxnSpPr>
          <p:spPr>
            <a:xfrm flipV="1">
              <a:off x="5479385" y="2067494"/>
              <a:ext cx="586688" cy="829584"/>
            </a:xfrm>
            <a:prstGeom prst="line">
              <a:avLst/>
            </a:prstGeom>
            <a:ln w="12700">
              <a:solidFill>
                <a:srgbClr val="3A8765"/>
              </a:solidFill>
              <a:prstDash val="dash"/>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2DAD0B6F-AFEC-4321-9760-EFC1A7E451BB}"/>
                </a:ext>
              </a:extLst>
            </p:cNvPr>
            <p:cNvCxnSpPr>
              <a:cxnSpLocks/>
            </p:cNvCxnSpPr>
            <p:nvPr/>
          </p:nvCxnSpPr>
          <p:spPr>
            <a:xfrm flipV="1">
              <a:off x="5485517" y="1900164"/>
              <a:ext cx="1826094" cy="1104914"/>
            </a:xfrm>
            <a:prstGeom prst="line">
              <a:avLst/>
            </a:prstGeom>
            <a:ln w="12700">
              <a:solidFill>
                <a:srgbClr val="3A8765"/>
              </a:solidFill>
              <a:prstDash val="dash"/>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8C904CEE-1A94-4D9C-8F4D-6CBDED509C63}"/>
                </a:ext>
              </a:extLst>
            </p:cNvPr>
            <p:cNvCxnSpPr>
              <a:cxnSpLocks/>
            </p:cNvCxnSpPr>
            <p:nvPr/>
          </p:nvCxnSpPr>
          <p:spPr>
            <a:xfrm flipH="1" flipV="1">
              <a:off x="6303365" y="2058070"/>
              <a:ext cx="709907" cy="694713"/>
            </a:xfrm>
            <a:prstGeom prst="line">
              <a:avLst/>
            </a:prstGeom>
            <a:ln w="12700">
              <a:solidFill>
                <a:srgbClr val="3A8765"/>
              </a:solidFill>
              <a:prstDash val="dash"/>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DA525139-A683-40C4-BB9D-A02B101297BD}"/>
                </a:ext>
              </a:extLst>
            </p:cNvPr>
            <p:cNvCxnSpPr>
              <a:cxnSpLocks/>
            </p:cNvCxnSpPr>
            <p:nvPr/>
          </p:nvCxnSpPr>
          <p:spPr>
            <a:xfrm flipV="1">
              <a:off x="7103971" y="1927426"/>
              <a:ext cx="258900" cy="825357"/>
            </a:xfrm>
            <a:prstGeom prst="line">
              <a:avLst/>
            </a:prstGeom>
            <a:ln w="12700">
              <a:solidFill>
                <a:srgbClr val="3A8765"/>
              </a:solidFill>
              <a:prstDash val="dash"/>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8F4D4DF2-BEDB-4BE3-B1B6-E518F4D0AA64}"/>
                </a:ext>
              </a:extLst>
            </p:cNvPr>
            <p:cNvCxnSpPr>
              <a:cxnSpLocks/>
            </p:cNvCxnSpPr>
            <p:nvPr/>
          </p:nvCxnSpPr>
          <p:spPr>
            <a:xfrm flipV="1">
              <a:off x="5492548" y="3012702"/>
              <a:ext cx="1413260" cy="83771"/>
            </a:xfrm>
            <a:prstGeom prst="line">
              <a:avLst/>
            </a:prstGeom>
            <a:ln w="12700">
              <a:solidFill>
                <a:srgbClr val="3A8765"/>
              </a:solidFill>
              <a:prstDash val="dash"/>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3E7998B-7CB0-4A97-B14E-01530A90A8CD}"/>
                </a:ext>
              </a:extLst>
            </p:cNvPr>
            <p:cNvCxnSpPr>
              <a:cxnSpLocks/>
              <a:endCxn id="34" idx="1"/>
            </p:cNvCxnSpPr>
            <p:nvPr/>
          </p:nvCxnSpPr>
          <p:spPr>
            <a:xfrm flipV="1">
              <a:off x="6316578" y="1821058"/>
              <a:ext cx="1004514" cy="136213"/>
            </a:xfrm>
            <a:prstGeom prst="line">
              <a:avLst/>
            </a:prstGeom>
            <a:ln w="12700">
              <a:solidFill>
                <a:srgbClr val="3A8765"/>
              </a:solidFill>
              <a:prstDash val="dash"/>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BF098045-5EEB-406A-B58B-BB9E2A06E872}"/>
                </a:ext>
              </a:extLst>
            </p:cNvPr>
            <p:cNvCxnSpPr>
              <a:cxnSpLocks/>
            </p:cNvCxnSpPr>
            <p:nvPr/>
          </p:nvCxnSpPr>
          <p:spPr>
            <a:xfrm>
              <a:off x="7404028" y="1948906"/>
              <a:ext cx="934059" cy="1055194"/>
            </a:xfrm>
            <a:prstGeom prst="line">
              <a:avLst/>
            </a:prstGeom>
            <a:ln w="12700">
              <a:solidFill>
                <a:srgbClr val="3A8765"/>
              </a:solidFill>
              <a:prstDash val="dashDot"/>
            </a:ln>
          </p:spPr>
          <p:style>
            <a:lnRef idx="1">
              <a:schemeClr val="accent1"/>
            </a:lnRef>
            <a:fillRef idx="0">
              <a:schemeClr val="accent1"/>
            </a:fillRef>
            <a:effectRef idx="0">
              <a:schemeClr val="accent1"/>
            </a:effectRef>
            <a:fontRef idx="minor">
              <a:schemeClr val="tx1"/>
            </a:fontRef>
          </p:style>
        </p:cxnSp>
        <p:sp>
          <p:nvSpPr>
            <p:cNvPr id="142" name="文本框 141">
              <a:extLst>
                <a:ext uri="{FF2B5EF4-FFF2-40B4-BE49-F238E27FC236}">
                  <a16:creationId xmlns:a16="http://schemas.microsoft.com/office/drawing/2014/main" id="{E571C8FD-A27A-4E22-803C-D6937D2A9983}"/>
                </a:ext>
              </a:extLst>
            </p:cNvPr>
            <p:cNvSpPr txBox="1"/>
            <p:nvPr/>
          </p:nvSpPr>
          <p:spPr>
            <a:xfrm>
              <a:off x="4036003" y="1094541"/>
              <a:ext cx="954107" cy="276999"/>
            </a:xfrm>
            <a:prstGeom prst="rect">
              <a:avLst/>
            </a:prstGeom>
            <a:noFill/>
          </p:spPr>
          <p:txBody>
            <a:bodyPr wrap="none" rtlCol="0">
              <a:spAutoFit/>
            </a:bodyPr>
            <a:lstStyle/>
            <a:p>
              <a:r>
                <a:rPr lang="zh-CN" altLang="en-US" sz="1200" b="1" dirty="0">
                  <a:solidFill>
                    <a:srgbClr val="1889B4"/>
                  </a:solidFill>
                  <a:latin typeface="华文楷体" panose="02010600040101010101" pitchFamily="2" charset="-122"/>
                  <a:ea typeface="华文楷体" panose="02010600040101010101" pitchFamily="2" charset="-122"/>
                </a:rPr>
                <a:t>传感器节点</a:t>
              </a:r>
            </a:p>
          </p:txBody>
        </p:sp>
        <p:sp>
          <p:nvSpPr>
            <p:cNvPr id="143" name="文本框 142">
              <a:extLst>
                <a:ext uri="{FF2B5EF4-FFF2-40B4-BE49-F238E27FC236}">
                  <a16:creationId xmlns:a16="http://schemas.microsoft.com/office/drawing/2014/main" id="{A702B3EA-66E3-4FF8-8632-3CC7AFFE537A}"/>
                </a:ext>
              </a:extLst>
            </p:cNvPr>
            <p:cNvSpPr txBox="1"/>
            <p:nvPr/>
          </p:nvSpPr>
          <p:spPr>
            <a:xfrm>
              <a:off x="6221976" y="978852"/>
              <a:ext cx="954107" cy="276999"/>
            </a:xfrm>
            <a:prstGeom prst="rect">
              <a:avLst/>
            </a:prstGeom>
            <a:noFill/>
          </p:spPr>
          <p:txBody>
            <a:bodyPr wrap="none" rtlCol="0">
              <a:spAutoFit/>
            </a:bodyPr>
            <a:lstStyle/>
            <a:p>
              <a:r>
                <a:rPr lang="zh-CN" altLang="en-US" sz="1200" b="1" dirty="0">
                  <a:solidFill>
                    <a:srgbClr val="1889B4"/>
                  </a:solidFill>
                  <a:latin typeface="华文楷体" panose="02010600040101010101" pitchFamily="2" charset="-122"/>
                  <a:ea typeface="华文楷体" panose="02010600040101010101" pitchFamily="2" charset="-122"/>
                </a:rPr>
                <a:t>传感器节点</a:t>
              </a:r>
            </a:p>
          </p:txBody>
        </p:sp>
        <p:sp>
          <p:nvSpPr>
            <p:cNvPr id="144" name="文本框 143">
              <a:extLst>
                <a:ext uri="{FF2B5EF4-FFF2-40B4-BE49-F238E27FC236}">
                  <a16:creationId xmlns:a16="http://schemas.microsoft.com/office/drawing/2014/main" id="{C8234447-6E12-4114-8262-0540F348C834}"/>
                </a:ext>
              </a:extLst>
            </p:cNvPr>
            <p:cNvSpPr txBox="1"/>
            <p:nvPr/>
          </p:nvSpPr>
          <p:spPr>
            <a:xfrm>
              <a:off x="8032430" y="1344522"/>
              <a:ext cx="954107" cy="276999"/>
            </a:xfrm>
            <a:prstGeom prst="rect">
              <a:avLst/>
            </a:prstGeom>
            <a:noFill/>
          </p:spPr>
          <p:txBody>
            <a:bodyPr wrap="none" rtlCol="0">
              <a:spAutoFit/>
            </a:bodyPr>
            <a:lstStyle/>
            <a:p>
              <a:r>
                <a:rPr lang="zh-CN" altLang="en-US" sz="1200" b="1" dirty="0">
                  <a:solidFill>
                    <a:srgbClr val="1889B4"/>
                  </a:solidFill>
                  <a:latin typeface="华文楷体" panose="02010600040101010101" pitchFamily="2" charset="-122"/>
                  <a:ea typeface="华文楷体" panose="02010600040101010101" pitchFamily="2" charset="-122"/>
                </a:rPr>
                <a:t>传感器节点</a:t>
              </a:r>
            </a:p>
          </p:txBody>
        </p:sp>
        <p:sp>
          <p:nvSpPr>
            <p:cNvPr id="145" name="文本框 144">
              <a:extLst>
                <a:ext uri="{FF2B5EF4-FFF2-40B4-BE49-F238E27FC236}">
                  <a16:creationId xmlns:a16="http://schemas.microsoft.com/office/drawing/2014/main" id="{662303D7-A37B-42D1-A50E-3EA0CDC1526E}"/>
                </a:ext>
              </a:extLst>
            </p:cNvPr>
            <p:cNvSpPr txBox="1"/>
            <p:nvPr/>
          </p:nvSpPr>
          <p:spPr>
            <a:xfrm>
              <a:off x="3941473" y="2672594"/>
              <a:ext cx="954107" cy="276999"/>
            </a:xfrm>
            <a:prstGeom prst="rect">
              <a:avLst/>
            </a:prstGeom>
            <a:noFill/>
          </p:spPr>
          <p:txBody>
            <a:bodyPr wrap="none" rtlCol="0">
              <a:spAutoFit/>
            </a:bodyPr>
            <a:lstStyle/>
            <a:p>
              <a:r>
                <a:rPr lang="zh-CN" altLang="en-US" sz="1200" b="1" dirty="0">
                  <a:solidFill>
                    <a:srgbClr val="1889B4"/>
                  </a:solidFill>
                  <a:latin typeface="华文楷体" panose="02010600040101010101" pitchFamily="2" charset="-122"/>
                  <a:ea typeface="华文楷体" panose="02010600040101010101" pitchFamily="2" charset="-122"/>
                </a:rPr>
                <a:t>传感器节点</a:t>
              </a:r>
            </a:p>
          </p:txBody>
        </p:sp>
        <p:sp>
          <p:nvSpPr>
            <p:cNvPr id="146" name="文本框 145">
              <a:extLst>
                <a:ext uri="{FF2B5EF4-FFF2-40B4-BE49-F238E27FC236}">
                  <a16:creationId xmlns:a16="http://schemas.microsoft.com/office/drawing/2014/main" id="{E55DB434-0AC9-4B59-AE59-44B4B482BB8B}"/>
                </a:ext>
              </a:extLst>
            </p:cNvPr>
            <p:cNvSpPr txBox="1"/>
            <p:nvPr/>
          </p:nvSpPr>
          <p:spPr>
            <a:xfrm>
              <a:off x="5519545" y="3097426"/>
              <a:ext cx="800219" cy="276999"/>
            </a:xfrm>
            <a:prstGeom prst="rect">
              <a:avLst/>
            </a:prstGeom>
            <a:noFill/>
          </p:spPr>
          <p:txBody>
            <a:bodyPr wrap="none" rtlCol="0">
              <a:spAutoFit/>
            </a:bodyPr>
            <a:lstStyle/>
            <a:p>
              <a:r>
                <a:rPr lang="zh-CN" altLang="en-US" sz="1200" b="1" dirty="0">
                  <a:solidFill>
                    <a:srgbClr val="008F92"/>
                  </a:solidFill>
                  <a:latin typeface="华文楷体" panose="02010600040101010101" pitchFamily="2" charset="-122"/>
                  <a:ea typeface="华文楷体" panose="02010600040101010101" pitchFamily="2" charset="-122"/>
                </a:rPr>
                <a:t>簇头节点</a:t>
              </a:r>
            </a:p>
          </p:txBody>
        </p:sp>
        <p:sp>
          <p:nvSpPr>
            <p:cNvPr id="147" name="文本框 146">
              <a:extLst>
                <a:ext uri="{FF2B5EF4-FFF2-40B4-BE49-F238E27FC236}">
                  <a16:creationId xmlns:a16="http://schemas.microsoft.com/office/drawing/2014/main" id="{9B5A9DD1-9471-4C42-B42A-8ACD97D828AC}"/>
                </a:ext>
              </a:extLst>
            </p:cNvPr>
            <p:cNvSpPr txBox="1"/>
            <p:nvPr/>
          </p:nvSpPr>
          <p:spPr>
            <a:xfrm>
              <a:off x="5244171" y="1696030"/>
              <a:ext cx="800219" cy="276999"/>
            </a:xfrm>
            <a:prstGeom prst="rect">
              <a:avLst/>
            </a:prstGeom>
            <a:noFill/>
          </p:spPr>
          <p:txBody>
            <a:bodyPr wrap="none" rtlCol="0">
              <a:spAutoFit/>
            </a:bodyPr>
            <a:lstStyle/>
            <a:p>
              <a:r>
                <a:rPr lang="zh-CN" altLang="en-US" sz="1200" b="1" dirty="0">
                  <a:solidFill>
                    <a:srgbClr val="008F92"/>
                  </a:solidFill>
                  <a:latin typeface="华文楷体" panose="02010600040101010101" pitchFamily="2" charset="-122"/>
                  <a:ea typeface="华文楷体" panose="02010600040101010101" pitchFamily="2" charset="-122"/>
                </a:rPr>
                <a:t>簇头节点</a:t>
              </a:r>
            </a:p>
          </p:txBody>
        </p:sp>
        <p:sp>
          <p:nvSpPr>
            <p:cNvPr id="148" name="文本框 147">
              <a:extLst>
                <a:ext uri="{FF2B5EF4-FFF2-40B4-BE49-F238E27FC236}">
                  <a16:creationId xmlns:a16="http://schemas.microsoft.com/office/drawing/2014/main" id="{1A440CD4-CE92-4465-87E6-83605FB5E1C8}"/>
                </a:ext>
              </a:extLst>
            </p:cNvPr>
            <p:cNvSpPr txBox="1"/>
            <p:nvPr/>
          </p:nvSpPr>
          <p:spPr>
            <a:xfrm>
              <a:off x="6262043" y="1884733"/>
              <a:ext cx="800219" cy="276999"/>
            </a:xfrm>
            <a:prstGeom prst="rect">
              <a:avLst/>
            </a:prstGeom>
            <a:noFill/>
          </p:spPr>
          <p:txBody>
            <a:bodyPr wrap="none" rtlCol="0">
              <a:spAutoFit/>
            </a:bodyPr>
            <a:lstStyle/>
            <a:p>
              <a:r>
                <a:rPr lang="zh-CN" altLang="en-US" sz="1200" b="1" dirty="0">
                  <a:solidFill>
                    <a:srgbClr val="008F92"/>
                  </a:solidFill>
                  <a:latin typeface="华文楷体" panose="02010600040101010101" pitchFamily="2" charset="-122"/>
                  <a:ea typeface="华文楷体" panose="02010600040101010101" pitchFamily="2" charset="-122"/>
                </a:rPr>
                <a:t>簇头节点</a:t>
              </a:r>
            </a:p>
          </p:txBody>
        </p:sp>
        <p:sp>
          <p:nvSpPr>
            <p:cNvPr id="149" name="文本框 148">
              <a:extLst>
                <a:ext uri="{FF2B5EF4-FFF2-40B4-BE49-F238E27FC236}">
                  <a16:creationId xmlns:a16="http://schemas.microsoft.com/office/drawing/2014/main" id="{65E17942-2E67-4B5E-84C0-83C0C95751B0}"/>
                </a:ext>
              </a:extLst>
            </p:cNvPr>
            <p:cNvSpPr txBox="1"/>
            <p:nvPr/>
          </p:nvSpPr>
          <p:spPr>
            <a:xfrm>
              <a:off x="6572791" y="1475935"/>
              <a:ext cx="800219" cy="276999"/>
            </a:xfrm>
            <a:prstGeom prst="rect">
              <a:avLst/>
            </a:prstGeom>
            <a:noFill/>
          </p:spPr>
          <p:txBody>
            <a:bodyPr wrap="none" rtlCol="0">
              <a:spAutoFit/>
            </a:bodyPr>
            <a:lstStyle/>
            <a:p>
              <a:r>
                <a:rPr lang="zh-CN" altLang="en-US" sz="1200" b="1" dirty="0">
                  <a:solidFill>
                    <a:srgbClr val="008F92"/>
                  </a:solidFill>
                  <a:latin typeface="华文楷体" panose="02010600040101010101" pitchFamily="2" charset="-122"/>
                  <a:ea typeface="华文楷体" panose="02010600040101010101" pitchFamily="2" charset="-122"/>
                </a:rPr>
                <a:t>簇头节点</a:t>
              </a:r>
            </a:p>
          </p:txBody>
        </p:sp>
        <p:pic>
          <p:nvPicPr>
            <p:cNvPr id="151" name="图片 150">
              <a:extLst>
                <a:ext uri="{FF2B5EF4-FFF2-40B4-BE49-F238E27FC236}">
                  <a16:creationId xmlns:a16="http://schemas.microsoft.com/office/drawing/2014/main" id="{950C75AE-5FD5-4920-98CA-73375DB0F6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0918" y="2450483"/>
              <a:ext cx="231362" cy="231362"/>
            </a:xfrm>
            <a:prstGeom prst="rect">
              <a:avLst/>
            </a:prstGeom>
          </p:spPr>
        </p:pic>
        <p:pic>
          <p:nvPicPr>
            <p:cNvPr id="153" name="图片 152">
              <a:extLst>
                <a:ext uri="{FF2B5EF4-FFF2-40B4-BE49-F238E27FC236}">
                  <a16:creationId xmlns:a16="http://schemas.microsoft.com/office/drawing/2014/main" id="{E51EE065-B55D-4741-B66A-290DCCBB63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4184" y="2637327"/>
              <a:ext cx="255133" cy="255133"/>
            </a:xfrm>
            <a:prstGeom prst="rect">
              <a:avLst/>
            </a:prstGeom>
          </p:spPr>
        </p:pic>
        <p:sp>
          <p:nvSpPr>
            <p:cNvPr id="154" name="文本框 153">
              <a:extLst>
                <a:ext uri="{FF2B5EF4-FFF2-40B4-BE49-F238E27FC236}">
                  <a16:creationId xmlns:a16="http://schemas.microsoft.com/office/drawing/2014/main" id="{84645067-1B53-4118-A8CE-3395EBE6A21A}"/>
                </a:ext>
              </a:extLst>
            </p:cNvPr>
            <p:cNvSpPr txBox="1"/>
            <p:nvPr/>
          </p:nvSpPr>
          <p:spPr>
            <a:xfrm>
              <a:off x="7328069" y="2613528"/>
              <a:ext cx="806631" cy="276999"/>
            </a:xfrm>
            <a:prstGeom prst="rect">
              <a:avLst/>
            </a:prstGeom>
            <a:noFill/>
          </p:spPr>
          <p:txBody>
            <a:bodyPr wrap="none" rtlCol="0">
              <a:spAutoFit/>
            </a:bodyPr>
            <a:lstStyle/>
            <a:p>
              <a:r>
                <a:rPr lang="zh-CN" altLang="en-US" sz="1200" b="1" dirty="0">
                  <a:solidFill>
                    <a:srgbClr val="FF0000"/>
                  </a:solidFill>
                  <a:latin typeface="华文楷体" panose="02010600040101010101" pitchFamily="2" charset="-122"/>
                  <a:ea typeface="华文楷体" panose="02010600040101010101" pitchFamily="2" charset="-122"/>
                </a:rPr>
                <a:t>数据加密</a:t>
              </a:r>
            </a:p>
          </p:txBody>
        </p:sp>
        <p:sp>
          <p:nvSpPr>
            <p:cNvPr id="155" name="文本框 154">
              <a:extLst>
                <a:ext uri="{FF2B5EF4-FFF2-40B4-BE49-F238E27FC236}">
                  <a16:creationId xmlns:a16="http://schemas.microsoft.com/office/drawing/2014/main" id="{EBDE1CEA-8C21-4D16-BA99-57190DCB20BA}"/>
                </a:ext>
              </a:extLst>
            </p:cNvPr>
            <p:cNvSpPr txBox="1"/>
            <p:nvPr/>
          </p:nvSpPr>
          <p:spPr>
            <a:xfrm>
              <a:off x="8416361" y="2836614"/>
              <a:ext cx="800219" cy="276999"/>
            </a:xfrm>
            <a:prstGeom prst="rect">
              <a:avLst/>
            </a:prstGeom>
            <a:noFill/>
          </p:spPr>
          <p:txBody>
            <a:bodyPr wrap="none" rtlCol="0">
              <a:spAutoFit/>
            </a:bodyPr>
            <a:lstStyle/>
            <a:p>
              <a:r>
                <a:rPr lang="zh-CN" altLang="en-US" sz="1200" b="1" dirty="0">
                  <a:solidFill>
                    <a:srgbClr val="FF0000"/>
                  </a:solidFill>
                  <a:latin typeface="华文楷体" panose="02010600040101010101" pitchFamily="2" charset="-122"/>
                  <a:ea typeface="华文楷体" panose="02010600040101010101" pitchFamily="2" charset="-122"/>
                </a:rPr>
                <a:t>数据解密</a:t>
              </a:r>
            </a:p>
          </p:txBody>
        </p:sp>
        <p:pic>
          <p:nvPicPr>
            <p:cNvPr id="157" name="图片 156">
              <a:extLst>
                <a:ext uri="{FF2B5EF4-FFF2-40B4-BE49-F238E27FC236}">
                  <a16:creationId xmlns:a16="http://schemas.microsoft.com/office/drawing/2014/main" id="{EBE5C7BB-B6DF-4FF9-B15A-3A7C6115BE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71127" y="3102878"/>
              <a:ext cx="304800" cy="304800"/>
            </a:xfrm>
            <a:prstGeom prst="rect">
              <a:avLst/>
            </a:prstGeom>
          </p:spPr>
        </p:pic>
        <p:sp>
          <p:nvSpPr>
            <p:cNvPr id="158" name="文本框 157">
              <a:extLst>
                <a:ext uri="{FF2B5EF4-FFF2-40B4-BE49-F238E27FC236}">
                  <a16:creationId xmlns:a16="http://schemas.microsoft.com/office/drawing/2014/main" id="{AAD0791E-A74D-40B3-BA29-E51CC2F834AA}"/>
                </a:ext>
              </a:extLst>
            </p:cNvPr>
            <p:cNvSpPr txBox="1"/>
            <p:nvPr/>
          </p:nvSpPr>
          <p:spPr>
            <a:xfrm>
              <a:off x="8027009" y="3367956"/>
              <a:ext cx="800219" cy="276999"/>
            </a:xfrm>
            <a:prstGeom prst="rect">
              <a:avLst/>
            </a:prstGeom>
            <a:noFill/>
          </p:spPr>
          <p:txBody>
            <a:bodyPr wrap="none" rtlCol="0">
              <a:spAutoFit/>
            </a:bodyPr>
            <a:lstStyle/>
            <a:p>
              <a:r>
                <a:rPr lang="zh-CN" altLang="en-US" sz="1200" b="1" dirty="0">
                  <a:latin typeface="华文楷体" panose="02010600040101010101" pitchFamily="2" charset="-122"/>
                  <a:ea typeface="华文楷体" panose="02010600040101010101" pitchFamily="2" charset="-122"/>
                </a:rPr>
                <a:t>数据用户</a:t>
              </a:r>
            </a:p>
          </p:txBody>
        </p:sp>
        <p:sp>
          <p:nvSpPr>
            <p:cNvPr id="159" name="文本框 158">
              <a:extLst>
                <a:ext uri="{FF2B5EF4-FFF2-40B4-BE49-F238E27FC236}">
                  <a16:creationId xmlns:a16="http://schemas.microsoft.com/office/drawing/2014/main" id="{2DB72F0F-3DC1-4983-BF57-6F01716E55BC}"/>
                </a:ext>
              </a:extLst>
            </p:cNvPr>
            <p:cNvSpPr txBox="1"/>
            <p:nvPr/>
          </p:nvSpPr>
          <p:spPr>
            <a:xfrm>
              <a:off x="6905308" y="3455661"/>
              <a:ext cx="492443" cy="276999"/>
            </a:xfrm>
            <a:prstGeom prst="rect">
              <a:avLst/>
            </a:prstGeom>
            <a:noFill/>
          </p:spPr>
          <p:txBody>
            <a:bodyPr wrap="none" rtlCol="0">
              <a:spAutoFit/>
            </a:bodyPr>
            <a:lstStyle/>
            <a:p>
              <a:r>
                <a:rPr lang="zh-CN" altLang="en-US" sz="1200" b="1" dirty="0">
                  <a:latin typeface="华文楷体" panose="02010600040101010101" pitchFamily="2" charset="-122"/>
                  <a:ea typeface="华文楷体" panose="02010600040101010101" pitchFamily="2" charset="-122"/>
                </a:rPr>
                <a:t>基站</a:t>
              </a:r>
            </a:p>
          </p:txBody>
        </p:sp>
        <p:cxnSp>
          <p:nvCxnSpPr>
            <p:cNvPr id="162" name="直接连接符 161">
              <a:extLst>
                <a:ext uri="{FF2B5EF4-FFF2-40B4-BE49-F238E27FC236}">
                  <a16:creationId xmlns:a16="http://schemas.microsoft.com/office/drawing/2014/main" id="{2AA65BB3-4E51-4A5D-B8CA-EE43FE3C7217}"/>
                </a:ext>
              </a:extLst>
            </p:cNvPr>
            <p:cNvCxnSpPr>
              <a:cxnSpLocks/>
              <a:endCxn id="157" idx="1"/>
            </p:cNvCxnSpPr>
            <p:nvPr/>
          </p:nvCxnSpPr>
          <p:spPr>
            <a:xfrm>
              <a:off x="7319064" y="3224765"/>
              <a:ext cx="952063" cy="30513"/>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61" name="图片 160">
              <a:extLst>
                <a:ext uri="{FF2B5EF4-FFF2-40B4-BE49-F238E27FC236}">
                  <a16:creationId xmlns:a16="http://schemas.microsoft.com/office/drawing/2014/main" id="{9A94598D-B217-4236-8AD2-FDDFCEADB4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76720" y="3087780"/>
              <a:ext cx="304800" cy="304800"/>
            </a:xfrm>
            <a:prstGeom prst="rect">
              <a:avLst/>
            </a:prstGeom>
          </p:spPr>
        </p:pic>
      </p:grpSp>
    </p:spTree>
    <p:extLst>
      <p:ext uri="{BB962C8B-B14F-4D97-AF65-F5344CB8AC3E}">
        <p14:creationId xmlns:p14="http://schemas.microsoft.com/office/powerpoint/2010/main" val="26731688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3880742"/>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）针对数据的攻击</a:t>
            </a: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①非法访问</a:t>
            </a: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②截取</a:t>
            </a:r>
          </a:p>
          <a:p>
            <a:pPr marL="898525"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被动的消息截取</a:t>
            </a:r>
          </a:p>
          <a:p>
            <a:pPr marL="898525"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流量分析</a:t>
            </a: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③篡改</a:t>
            </a: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④重放</a:t>
            </a: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⑤虚假数据注入</a:t>
            </a:r>
          </a:p>
          <a:p>
            <a:pPr marL="180975">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⑥数据的选择性转发</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安全威胁</a:t>
            </a:r>
          </a:p>
        </p:txBody>
      </p:sp>
    </p:spTree>
    <p:extLst>
      <p:ext uri="{BB962C8B-B14F-4D97-AF65-F5344CB8AC3E}">
        <p14:creationId xmlns:p14="http://schemas.microsoft.com/office/powerpoint/2010/main" val="151044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4440896"/>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）针对网络的攻击</a:t>
            </a:r>
          </a:p>
          <a:p>
            <a:pPr marL="180975">
              <a:lnSpc>
                <a:spcPct val="11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①干扰</a:t>
            </a:r>
          </a:p>
          <a:p>
            <a:pPr marL="180975">
              <a:lnSpc>
                <a:spcPct val="11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②路由攻击</a:t>
            </a:r>
          </a:p>
          <a:p>
            <a:pPr marL="808038" indent="-28575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路由欺骗攻击</a:t>
            </a:r>
          </a:p>
          <a:p>
            <a:pPr marL="808038" indent="-28575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污水池（</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sinkhole</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a:t>
            </a:r>
          </a:p>
          <a:p>
            <a:pPr marL="808038" indent="-28575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虫洞（</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wormhole</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a:t>
            </a:r>
          </a:p>
          <a:p>
            <a:pPr marL="808038" indent="-28575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洪泛（</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flood</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攻击</a:t>
            </a:r>
          </a:p>
          <a:p>
            <a:pPr marL="180975">
              <a:lnSpc>
                <a:spcPct val="11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③集团式作弊（或合谋攻击）</a:t>
            </a:r>
          </a:p>
          <a:p>
            <a:pPr marL="180975">
              <a:lnSpc>
                <a:spcPct val="11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④拒绝服务攻击</a:t>
            </a:r>
          </a:p>
          <a:p>
            <a:pPr marL="808038" indent="-28575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黑洞攻击</a:t>
            </a:r>
          </a:p>
          <a:p>
            <a:pPr marL="808038" indent="-28575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能量耗尽攻击</a:t>
            </a:r>
          </a:p>
          <a:p>
            <a:pPr marL="808038" indent="-28575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方向误导攻击</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安全威胁</a:t>
            </a:r>
          </a:p>
        </p:txBody>
      </p:sp>
    </p:spTree>
    <p:extLst>
      <p:ext uri="{BB962C8B-B14F-4D97-AF65-F5344CB8AC3E}">
        <p14:creationId xmlns:p14="http://schemas.microsoft.com/office/powerpoint/2010/main" val="14632247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3649140"/>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）针对特定协议的攻击</a:t>
            </a:r>
          </a:p>
          <a:p>
            <a:pPr marL="466725"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来自于被攻陷节点的复杂攻击可以针对网络的内部协议</a:t>
            </a:r>
          </a:p>
          <a:p>
            <a:pPr marL="898525"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如针对路由协议的攻击</a:t>
            </a:r>
          </a:p>
          <a:p>
            <a:pPr marL="898525"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针对数据融合协议的攻击</a:t>
            </a:r>
          </a:p>
          <a:p>
            <a:pPr marL="898525"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针对定位协议的攻击</a:t>
            </a:r>
          </a:p>
          <a:p>
            <a:pPr marL="898525"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针对时间同步协议的攻击等</a:t>
            </a:r>
          </a:p>
          <a:p>
            <a:pPr marL="446088"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WSN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中，这些安全威胁或挑战能引起快速的电池能量消耗，并有效地使</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WSN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中的单个传感器节点甚至整个网络瘫痪，从而阻止或破坏其服务功能的实现</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安全威胁</a:t>
            </a:r>
          </a:p>
        </p:txBody>
      </p:sp>
    </p:spTree>
    <p:extLst>
      <p:ext uri="{BB962C8B-B14F-4D97-AF65-F5344CB8AC3E}">
        <p14:creationId xmlns:p14="http://schemas.microsoft.com/office/powerpoint/2010/main" val="372945037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428719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无线传感器网络的安全需求是设计网络安全系统的根本依据。由于无线传感器网络具有和应有密切相关的特点，因此，不同的应用有不同的安全需求，主要表现为</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物理上和逻辑上的安全需求</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两个方面。</a:t>
            </a:r>
          </a:p>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）物理安全需求</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无线传感器网络中的传感器节点往往分布于无人值守、恶劣甚至敌对的开放环境中，节点容易被攻击者物理上捕获或控制</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物理安全需求主要表现为要保证无线传感器网络节点的物理安全</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节点不容易被发现</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不容易被敌方篡改和利用</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允许敌方捕获节点而不至于对网络造成重大破坏或伤害</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安全需求</a:t>
            </a:r>
          </a:p>
        </p:txBody>
      </p:sp>
    </p:spTree>
    <p:extLst>
      <p:ext uri="{BB962C8B-B14F-4D97-AF65-F5344CB8AC3E}">
        <p14:creationId xmlns:p14="http://schemas.microsoft.com/office/powerpoint/2010/main" val="317791923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4347537"/>
          </a:xfrm>
          <a:prstGeom prst="rect">
            <a:avLst/>
          </a:prstGeom>
          <a:noFill/>
        </p:spPr>
        <p:txBody>
          <a:bodyPr wrap="square" rtlCol="0">
            <a:spAutoFit/>
          </a:bodyPr>
          <a:lstStyle/>
          <a:p>
            <a:pPr>
              <a:lnSpc>
                <a:spcPct val="11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）逻辑安全需求</a:t>
            </a:r>
          </a:p>
          <a:p>
            <a:pPr marL="180975">
              <a:lnSpc>
                <a:spcPct val="11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逻辑安全需求可分为信息安全需求和通信安全需求。</a:t>
            </a:r>
          </a:p>
          <a:p>
            <a:pPr marL="180975">
              <a:lnSpc>
                <a:spcPct val="11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 信息安全需求</a:t>
            </a:r>
          </a:p>
          <a:p>
            <a:pPr marL="627063">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a:t>
            </a:r>
          </a:p>
          <a:p>
            <a:pPr marL="627063">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完整性</a:t>
            </a:r>
          </a:p>
          <a:p>
            <a:pPr marL="627063">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真实性</a:t>
            </a:r>
          </a:p>
          <a:p>
            <a:pPr marL="627063">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可用性</a:t>
            </a:r>
          </a:p>
          <a:p>
            <a:pPr marL="627063">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新鲜性</a:t>
            </a:r>
          </a:p>
          <a:p>
            <a:pPr marL="627063">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鲁棒性</a:t>
            </a:r>
          </a:p>
          <a:p>
            <a:pPr marL="627063">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访问控制</a:t>
            </a:r>
          </a:p>
          <a:p>
            <a:pPr marL="180975">
              <a:lnSpc>
                <a:spcPct val="11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 通信安全需求</a:t>
            </a:r>
          </a:p>
          <a:p>
            <a:pPr marL="180975">
              <a:lnSpc>
                <a:spcPct val="11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涉及到传感器节点的被动抵御入侵的能力和主动反击入侵的能力</a:t>
            </a:r>
            <a:endPar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安全需求</a:t>
            </a:r>
          </a:p>
        </p:txBody>
      </p:sp>
    </p:spTree>
    <p:extLst>
      <p:ext uri="{BB962C8B-B14F-4D97-AF65-F5344CB8AC3E}">
        <p14:creationId xmlns:p14="http://schemas.microsoft.com/office/powerpoint/2010/main" val="25862212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3284425"/>
          </a:xfrm>
          <a:prstGeom prst="rect">
            <a:avLst/>
          </a:prstGeom>
          <a:noFill/>
        </p:spPr>
        <p:txBody>
          <a:bodyPr wrap="square" rtlCol="0">
            <a:spAutoFit/>
          </a:bodyPr>
          <a:lstStyle/>
          <a:p>
            <a:pPr marL="90488">
              <a:lnSpc>
                <a:spcPct val="11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 通信安全需求</a:t>
            </a:r>
          </a:p>
          <a:p>
            <a:pPr marL="90488">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节点的安全保证</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90488">
              <a:lnSpc>
                <a:spcPct val="11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节点的安全性包括以下两个具体要求：</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节点不易被发现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节点不易被篡改</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90488">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被动低于入侵的能力</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90488">
              <a:lnSpc>
                <a:spcPct val="11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被动防御要求网络具备以下能力：</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对抗外部攻击者的能力</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对抗内部攻击者的能力</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90488">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主动反击入侵的能力</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90488">
              <a:lnSpc>
                <a:spcPct val="11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主动反击能力是指网络安全系统能够主动地限制甚至消灭入侵者，为此至少需要具备以下能力：</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入侵检测能力、隔离入侵者能力和消灭入侵者能力</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安全需求</a:t>
            </a:r>
          </a:p>
        </p:txBody>
      </p:sp>
    </p:spTree>
    <p:extLst>
      <p:ext uri="{BB962C8B-B14F-4D97-AF65-F5344CB8AC3E}">
        <p14:creationId xmlns:p14="http://schemas.microsoft.com/office/powerpoint/2010/main" val="195233829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WSN</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安全问题与解决思路</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sp>
        <p:nvSpPr>
          <p:cNvPr id="2" name="矩形 1">
            <a:extLst>
              <a:ext uri="{FF2B5EF4-FFF2-40B4-BE49-F238E27FC236}">
                <a16:creationId xmlns:a16="http://schemas.microsoft.com/office/drawing/2014/main" id="{911791FC-9D41-4908-9321-9A5309C35E10}"/>
              </a:ext>
            </a:extLst>
          </p:cNvPr>
          <p:cNvSpPr/>
          <p:nvPr/>
        </p:nvSpPr>
        <p:spPr>
          <a:xfrm>
            <a:off x="971600" y="1779662"/>
            <a:ext cx="3024336" cy="1368152"/>
          </a:xfrm>
          <a:prstGeom prst="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7" name="矩形 6">
            <a:extLst>
              <a:ext uri="{FF2B5EF4-FFF2-40B4-BE49-F238E27FC236}">
                <a16:creationId xmlns:a16="http://schemas.microsoft.com/office/drawing/2014/main" id="{1CD50E4B-7FCC-490C-ABDC-2C4C1A322669}"/>
              </a:ext>
            </a:extLst>
          </p:cNvPr>
          <p:cNvSpPr/>
          <p:nvPr/>
        </p:nvSpPr>
        <p:spPr>
          <a:xfrm>
            <a:off x="4360594" y="1779662"/>
            <a:ext cx="3327469" cy="1368152"/>
          </a:xfrm>
          <a:prstGeom prst="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94F7B80-5BE2-4A8E-B4C6-2F7EBBF52AEB}"/>
              </a:ext>
            </a:extLst>
          </p:cNvPr>
          <p:cNvSpPr/>
          <p:nvPr/>
        </p:nvSpPr>
        <p:spPr>
          <a:xfrm>
            <a:off x="1447412" y="3772812"/>
            <a:ext cx="4060692" cy="1247210"/>
          </a:xfrm>
          <a:prstGeom prst="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 name="矩形 4">
            <a:extLst>
              <a:ext uri="{FF2B5EF4-FFF2-40B4-BE49-F238E27FC236}">
                <a16:creationId xmlns:a16="http://schemas.microsoft.com/office/drawing/2014/main" id="{1E02C0AF-A982-4C8B-A6F1-983941382518}"/>
              </a:ext>
            </a:extLst>
          </p:cNvPr>
          <p:cNvSpPr/>
          <p:nvPr/>
        </p:nvSpPr>
        <p:spPr>
          <a:xfrm>
            <a:off x="1043608" y="1854948"/>
            <a:ext cx="504056" cy="118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保密性</a:t>
            </a:r>
          </a:p>
        </p:txBody>
      </p:sp>
      <p:sp>
        <p:nvSpPr>
          <p:cNvPr id="10" name="矩形 9">
            <a:extLst>
              <a:ext uri="{FF2B5EF4-FFF2-40B4-BE49-F238E27FC236}">
                <a16:creationId xmlns:a16="http://schemas.microsoft.com/office/drawing/2014/main" id="{9E53F823-4C43-4BBC-9E65-3CA3724940C1}"/>
              </a:ext>
            </a:extLst>
          </p:cNvPr>
          <p:cNvSpPr/>
          <p:nvPr/>
        </p:nvSpPr>
        <p:spPr>
          <a:xfrm>
            <a:off x="1637743" y="1854948"/>
            <a:ext cx="504056" cy="118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安全性</a:t>
            </a:r>
          </a:p>
        </p:txBody>
      </p:sp>
      <p:sp>
        <p:nvSpPr>
          <p:cNvPr id="11" name="矩形 10">
            <a:extLst>
              <a:ext uri="{FF2B5EF4-FFF2-40B4-BE49-F238E27FC236}">
                <a16:creationId xmlns:a16="http://schemas.microsoft.com/office/drawing/2014/main" id="{ED717C78-CC18-4DBA-B4AF-36576B1EB9E3}"/>
              </a:ext>
            </a:extLst>
          </p:cNvPr>
          <p:cNvSpPr/>
          <p:nvPr/>
        </p:nvSpPr>
        <p:spPr>
          <a:xfrm>
            <a:off x="2231878" y="1854948"/>
            <a:ext cx="504056" cy="118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可用性</a:t>
            </a:r>
          </a:p>
        </p:txBody>
      </p:sp>
      <p:sp>
        <p:nvSpPr>
          <p:cNvPr id="12" name="矩形 11">
            <a:extLst>
              <a:ext uri="{FF2B5EF4-FFF2-40B4-BE49-F238E27FC236}">
                <a16:creationId xmlns:a16="http://schemas.microsoft.com/office/drawing/2014/main" id="{EB8CED2C-DB19-4953-936D-602BC49F1FC1}"/>
              </a:ext>
            </a:extLst>
          </p:cNvPr>
          <p:cNvSpPr/>
          <p:nvPr/>
        </p:nvSpPr>
        <p:spPr>
          <a:xfrm>
            <a:off x="2826013" y="1854948"/>
            <a:ext cx="504056" cy="118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真实性</a:t>
            </a:r>
          </a:p>
        </p:txBody>
      </p:sp>
      <p:sp>
        <p:nvSpPr>
          <p:cNvPr id="13" name="矩形 12">
            <a:extLst>
              <a:ext uri="{FF2B5EF4-FFF2-40B4-BE49-F238E27FC236}">
                <a16:creationId xmlns:a16="http://schemas.microsoft.com/office/drawing/2014/main" id="{23EE3128-5DA1-494E-96CD-0A58B1C06740}"/>
              </a:ext>
            </a:extLst>
          </p:cNvPr>
          <p:cNvSpPr/>
          <p:nvPr/>
        </p:nvSpPr>
        <p:spPr>
          <a:xfrm>
            <a:off x="3420147" y="1854948"/>
            <a:ext cx="504056" cy="118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可验证性</a:t>
            </a:r>
          </a:p>
        </p:txBody>
      </p:sp>
      <p:sp>
        <p:nvSpPr>
          <p:cNvPr id="14" name="矩形 13">
            <a:extLst>
              <a:ext uri="{FF2B5EF4-FFF2-40B4-BE49-F238E27FC236}">
                <a16:creationId xmlns:a16="http://schemas.microsoft.com/office/drawing/2014/main" id="{E3D46845-A444-44D0-A5A2-C87F2B57BC29}"/>
              </a:ext>
            </a:extLst>
          </p:cNvPr>
          <p:cNvSpPr/>
          <p:nvPr/>
        </p:nvSpPr>
        <p:spPr>
          <a:xfrm>
            <a:off x="4581720" y="1854948"/>
            <a:ext cx="628276" cy="118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节点泄露安全隐私</a:t>
            </a:r>
          </a:p>
        </p:txBody>
      </p:sp>
      <p:sp>
        <p:nvSpPr>
          <p:cNvPr id="15" name="矩形 14">
            <a:extLst>
              <a:ext uri="{FF2B5EF4-FFF2-40B4-BE49-F238E27FC236}">
                <a16:creationId xmlns:a16="http://schemas.microsoft.com/office/drawing/2014/main" id="{E6EBB86C-5653-43FB-8582-FCD5FF385965}"/>
              </a:ext>
            </a:extLst>
          </p:cNvPr>
          <p:cNvSpPr/>
          <p:nvPr/>
        </p:nvSpPr>
        <p:spPr>
          <a:xfrm>
            <a:off x="5704130" y="1854948"/>
            <a:ext cx="628276" cy="118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节点能耗攻击</a:t>
            </a:r>
          </a:p>
        </p:txBody>
      </p:sp>
      <p:sp>
        <p:nvSpPr>
          <p:cNvPr id="16" name="矩形 15">
            <a:extLst>
              <a:ext uri="{FF2B5EF4-FFF2-40B4-BE49-F238E27FC236}">
                <a16:creationId xmlns:a16="http://schemas.microsoft.com/office/drawing/2014/main" id="{8977E386-7506-4F22-A55F-DC8028A0FB5A}"/>
              </a:ext>
            </a:extLst>
          </p:cNvPr>
          <p:cNvSpPr/>
          <p:nvPr/>
        </p:nvSpPr>
        <p:spPr>
          <a:xfrm>
            <a:off x="6826540" y="1854948"/>
            <a:ext cx="628276" cy="118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节点物理安全</a:t>
            </a:r>
          </a:p>
        </p:txBody>
      </p:sp>
      <p:sp>
        <p:nvSpPr>
          <p:cNvPr id="17" name="矩形 16">
            <a:extLst>
              <a:ext uri="{FF2B5EF4-FFF2-40B4-BE49-F238E27FC236}">
                <a16:creationId xmlns:a16="http://schemas.microsoft.com/office/drawing/2014/main" id="{482FA5EA-04D4-4D35-9F58-02628A4EFAD4}"/>
              </a:ext>
            </a:extLst>
          </p:cNvPr>
          <p:cNvSpPr/>
          <p:nvPr/>
        </p:nvSpPr>
        <p:spPr>
          <a:xfrm>
            <a:off x="1637743" y="3862094"/>
            <a:ext cx="628276" cy="1085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态势分析技术</a:t>
            </a:r>
          </a:p>
        </p:txBody>
      </p:sp>
      <p:sp>
        <p:nvSpPr>
          <p:cNvPr id="18" name="矩形 17">
            <a:extLst>
              <a:ext uri="{FF2B5EF4-FFF2-40B4-BE49-F238E27FC236}">
                <a16:creationId xmlns:a16="http://schemas.microsoft.com/office/drawing/2014/main" id="{FF99CCB0-047E-41BE-8D57-ADFE5B9A9DAD}"/>
              </a:ext>
            </a:extLst>
          </p:cNvPr>
          <p:cNvSpPr/>
          <p:nvPr/>
        </p:nvSpPr>
        <p:spPr>
          <a:xfrm>
            <a:off x="2592556" y="3861985"/>
            <a:ext cx="628276" cy="1085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访问控制技术</a:t>
            </a:r>
          </a:p>
        </p:txBody>
      </p:sp>
      <p:sp>
        <p:nvSpPr>
          <p:cNvPr id="20" name="矩形 19">
            <a:extLst>
              <a:ext uri="{FF2B5EF4-FFF2-40B4-BE49-F238E27FC236}">
                <a16:creationId xmlns:a16="http://schemas.microsoft.com/office/drawing/2014/main" id="{B4ABDD9A-32D5-4BE9-98C2-070779DEC2B5}"/>
              </a:ext>
            </a:extLst>
          </p:cNvPr>
          <p:cNvSpPr/>
          <p:nvPr/>
        </p:nvSpPr>
        <p:spPr>
          <a:xfrm>
            <a:off x="3547369" y="3853457"/>
            <a:ext cx="628276" cy="1085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节点认证机制</a:t>
            </a:r>
          </a:p>
        </p:txBody>
      </p:sp>
      <p:sp>
        <p:nvSpPr>
          <p:cNvPr id="21" name="矩形 20">
            <a:extLst>
              <a:ext uri="{FF2B5EF4-FFF2-40B4-BE49-F238E27FC236}">
                <a16:creationId xmlns:a16="http://schemas.microsoft.com/office/drawing/2014/main" id="{51FFC8BE-B5C6-4E6C-8B4F-CDA9E8A2B3FB}"/>
              </a:ext>
            </a:extLst>
          </p:cNvPr>
          <p:cNvSpPr/>
          <p:nvPr/>
        </p:nvSpPr>
        <p:spPr>
          <a:xfrm>
            <a:off x="4502181" y="3861985"/>
            <a:ext cx="806959" cy="1085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轻量级加密技术</a:t>
            </a:r>
          </a:p>
        </p:txBody>
      </p:sp>
      <p:sp>
        <p:nvSpPr>
          <p:cNvPr id="22" name="矩形 21">
            <a:extLst>
              <a:ext uri="{FF2B5EF4-FFF2-40B4-BE49-F238E27FC236}">
                <a16:creationId xmlns:a16="http://schemas.microsoft.com/office/drawing/2014/main" id="{42482C46-1223-4505-B7FA-1FC6E4C065C0}"/>
              </a:ext>
            </a:extLst>
          </p:cNvPr>
          <p:cNvSpPr/>
          <p:nvPr/>
        </p:nvSpPr>
        <p:spPr>
          <a:xfrm>
            <a:off x="6262513" y="3887619"/>
            <a:ext cx="457689" cy="1047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物</a:t>
            </a:r>
            <a:endParaRPr lang="en-US" altLang="zh-CN" sz="1600" b="1" dirty="0">
              <a:latin typeface="华文楷体" panose="02010600040101010101" pitchFamily="2" charset="-122"/>
              <a:ea typeface="华文楷体" panose="02010600040101010101" pitchFamily="2" charset="-122"/>
            </a:endParaRPr>
          </a:p>
          <a:p>
            <a:pPr algn="ctr"/>
            <a:r>
              <a:rPr lang="zh-CN" altLang="en-US" sz="1600" b="1" dirty="0">
                <a:latin typeface="华文楷体" panose="02010600040101010101" pitchFamily="2" charset="-122"/>
                <a:ea typeface="华文楷体" panose="02010600040101010101" pitchFamily="2" charset="-122"/>
              </a:rPr>
              <a:t>理</a:t>
            </a:r>
            <a:endParaRPr lang="en-US" altLang="zh-CN" sz="1600" b="1" dirty="0">
              <a:latin typeface="华文楷体" panose="02010600040101010101" pitchFamily="2" charset="-122"/>
              <a:ea typeface="华文楷体" panose="02010600040101010101" pitchFamily="2" charset="-122"/>
            </a:endParaRPr>
          </a:p>
          <a:p>
            <a:pPr algn="ctr"/>
            <a:r>
              <a:rPr lang="zh-CN" altLang="en-US" sz="1600" b="1" dirty="0">
                <a:latin typeface="华文楷体" panose="02010600040101010101" pitchFamily="2" charset="-122"/>
                <a:ea typeface="华文楷体" panose="02010600040101010101" pitchFamily="2" charset="-122"/>
              </a:rPr>
              <a:t>手</a:t>
            </a:r>
            <a:endParaRPr lang="en-US" altLang="zh-CN" sz="1600" b="1" dirty="0">
              <a:latin typeface="华文楷体" panose="02010600040101010101" pitchFamily="2" charset="-122"/>
              <a:ea typeface="华文楷体" panose="02010600040101010101" pitchFamily="2" charset="-122"/>
            </a:endParaRPr>
          </a:p>
          <a:p>
            <a:pPr algn="ctr"/>
            <a:r>
              <a:rPr lang="zh-CN" altLang="en-US" sz="1600" b="1" dirty="0">
                <a:latin typeface="华文楷体" panose="02010600040101010101" pitchFamily="2" charset="-122"/>
                <a:ea typeface="华文楷体" panose="02010600040101010101" pitchFamily="2" charset="-122"/>
              </a:rPr>
              <a:t>段</a:t>
            </a:r>
          </a:p>
        </p:txBody>
      </p:sp>
      <p:sp>
        <p:nvSpPr>
          <p:cNvPr id="23" name="矩形 22">
            <a:extLst>
              <a:ext uri="{FF2B5EF4-FFF2-40B4-BE49-F238E27FC236}">
                <a16:creationId xmlns:a16="http://schemas.microsoft.com/office/drawing/2014/main" id="{93AF5809-DD42-4577-AC8D-7C12B04C3C7E}"/>
              </a:ext>
            </a:extLst>
          </p:cNvPr>
          <p:cNvSpPr/>
          <p:nvPr/>
        </p:nvSpPr>
        <p:spPr>
          <a:xfrm>
            <a:off x="6156176" y="3802272"/>
            <a:ext cx="670364" cy="1247210"/>
          </a:xfrm>
          <a:prstGeom prst="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9" name="箭头: 下 8">
            <a:extLst>
              <a:ext uri="{FF2B5EF4-FFF2-40B4-BE49-F238E27FC236}">
                <a16:creationId xmlns:a16="http://schemas.microsoft.com/office/drawing/2014/main" id="{25421D8D-710A-4151-8F2E-14799A33F380}"/>
              </a:ext>
            </a:extLst>
          </p:cNvPr>
          <p:cNvSpPr/>
          <p:nvPr/>
        </p:nvSpPr>
        <p:spPr>
          <a:xfrm rot="18626335">
            <a:off x="2735053" y="3084524"/>
            <a:ext cx="279584" cy="794013"/>
          </a:xfrm>
          <a:prstGeom prst="downArrow">
            <a:avLst/>
          </a:prstGeom>
          <a:noFill/>
          <a:ln>
            <a:solidFill>
              <a:srgbClr val="2FA2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下 23">
            <a:extLst>
              <a:ext uri="{FF2B5EF4-FFF2-40B4-BE49-F238E27FC236}">
                <a16:creationId xmlns:a16="http://schemas.microsoft.com/office/drawing/2014/main" id="{2FE0EC93-5173-4002-895B-4211940A902D}"/>
              </a:ext>
            </a:extLst>
          </p:cNvPr>
          <p:cNvSpPr/>
          <p:nvPr/>
        </p:nvSpPr>
        <p:spPr>
          <a:xfrm rot="2807036">
            <a:off x="4504216" y="3078023"/>
            <a:ext cx="279584" cy="794013"/>
          </a:xfrm>
          <a:prstGeom prst="downArrow">
            <a:avLst/>
          </a:prstGeom>
          <a:noFill/>
          <a:ln>
            <a:solidFill>
              <a:srgbClr val="2FA2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下 24">
            <a:extLst>
              <a:ext uri="{FF2B5EF4-FFF2-40B4-BE49-F238E27FC236}">
                <a16:creationId xmlns:a16="http://schemas.microsoft.com/office/drawing/2014/main" id="{70CA4A2B-53CB-412A-8286-DF3D8150ED78}"/>
              </a:ext>
            </a:extLst>
          </p:cNvPr>
          <p:cNvSpPr/>
          <p:nvPr/>
        </p:nvSpPr>
        <p:spPr>
          <a:xfrm rot="19024227">
            <a:off x="6048645" y="3100748"/>
            <a:ext cx="279584" cy="794013"/>
          </a:xfrm>
          <a:prstGeom prst="downArrow">
            <a:avLst/>
          </a:prstGeom>
          <a:noFill/>
          <a:ln>
            <a:solidFill>
              <a:srgbClr val="2FA2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下 25">
            <a:extLst>
              <a:ext uri="{FF2B5EF4-FFF2-40B4-BE49-F238E27FC236}">
                <a16:creationId xmlns:a16="http://schemas.microsoft.com/office/drawing/2014/main" id="{97EE7733-83BF-43AA-9EE7-D3D64C01A53A}"/>
              </a:ext>
            </a:extLst>
          </p:cNvPr>
          <p:cNvSpPr/>
          <p:nvPr/>
        </p:nvSpPr>
        <p:spPr>
          <a:xfrm rot="2649089">
            <a:off x="6674567" y="3094235"/>
            <a:ext cx="279584" cy="794013"/>
          </a:xfrm>
          <a:prstGeom prst="downArrow">
            <a:avLst/>
          </a:prstGeom>
          <a:noFill/>
          <a:ln>
            <a:solidFill>
              <a:srgbClr val="2FA2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49BA2A7A-EF34-48CD-9AAD-B3DE29C52E9A}"/>
              </a:ext>
            </a:extLst>
          </p:cNvPr>
          <p:cNvSpPr txBox="1"/>
          <p:nvPr/>
        </p:nvSpPr>
        <p:spPr>
          <a:xfrm>
            <a:off x="1702131" y="1402393"/>
            <a:ext cx="1718016" cy="369332"/>
          </a:xfrm>
          <a:prstGeom prst="rect">
            <a:avLst/>
          </a:prstGeom>
          <a:noFill/>
        </p:spPr>
        <p:txBody>
          <a:bodyPr wrap="square" rtlCol="0">
            <a:spAutoFit/>
          </a:bodyPr>
          <a:lstStyle/>
          <a:p>
            <a:r>
              <a:rPr lang="zh-CN" altLang="en-US" dirty="0">
                <a:solidFill>
                  <a:srgbClr val="008F92"/>
                </a:solidFill>
                <a:latin typeface="微软雅黑" panose="020B0503020204020204" pitchFamily="34" charset="-122"/>
                <a:ea typeface="微软雅黑" panose="020B0503020204020204" pitchFamily="34" charset="-122"/>
              </a:rPr>
              <a:t>传统安全问题</a:t>
            </a:r>
          </a:p>
        </p:txBody>
      </p:sp>
      <p:sp>
        <p:nvSpPr>
          <p:cNvPr id="28" name="文本框 27">
            <a:extLst>
              <a:ext uri="{FF2B5EF4-FFF2-40B4-BE49-F238E27FC236}">
                <a16:creationId xmlns:a16="http://schemas.microsoft.com/office/drawing/2014/main" id="{7E392100-AA38-4A60-BB8B-A57BF1BDE1C1}"/>
              </a:ext>
            </a:extLst>
          </p:cNvPr>
          <p:cNvSpPr txBox="1"/>
          <p:nvPr/>
        </p:nvSpPr>
        <p:spPr>
          <a:xfrm>
            <a:off x="5029379" y="1407389"/>
            <a:ext cx="1718016" cy="369332"/>
          </a:xfrm>
          <a:prstGeom prst="rect">
            <a:avLst/>
          </a:prstGeom>
          <a:noFill/>
        </p:spPr>
        <p:txBody>
          <a:bodyPr wrap="square" rtlCol="0">
            <a:spAutoFit/>
          </a:bodyPr>
          <a:lstStyle/>
          <a:p>
            <a:r>
              <a:rPr lang="zh-CN" altLang="en-US" dirty="0">
                <a:solidFill>
                  <a:srgbClr val="008F92"/>
                </a:solidFill>
                <a:latin typeface="微软雅黑" panose="020B0503020204020204" pitchFamily="34" charset="-122"/>
                <a:ea typeface="微软雅黑" panose="020B0503020204020204" pitchFamily="34" charset="-122"/>
              </a:rPr>
              <a:t>特殊安全问题</a:t>
            </a:r>
          </a:p>
        </p:txBody>
      </p:sp>
      <p:sp>
        <p:nvSpPr>
          <p:cNvPr id="29" name="文本框 28">
            <a:extLst>
              <a:ext uri="{FF2B5EF4-FFF2-40B4-BE49-F238E27FC236}">
                <a16:creationId xmlns:a16="http://schemas.microsoft.com/office/drawing/2014/main" id="{A8301E9D-18B4-4206-9F68-86880DF7324B}"/>
              </a:ext>
            </a:extLst>
          </p:cNvPr>
          <p:cNvSpPr txBox="1"/>
          <p:nvPr/>
        </p:nvSpPr>
        <p:spPr>
          <a:xfrm>
            <a:off x="528568" y="1900972"/>
            <a:ext cx="428227" cy="1200329"/>
          </a:xfrm>
          <a:prstGeom prst="rect">
            <a:avLst/>
          </a:prstGeom>
          <a:noFill/>
        </p:spPr>
        <p:txBody>
          <a:bodyPr wrap="square" rtlCol="0">
            <a:spAutoFit/>
          </a:bodyPr>
          <a:lstStyle/>
          <a:p>
            <a:r>
              <a:rPr lang="zh-CN" altLang="en-US" dirty="0">
                <a:solidFill>
                  <a:srgbClr val="008F92"/>
                </a:solidFill>
                <a:latin typeface="微软雅黑" panose="020B0503020204020204" pitchFamily="34" charset="-122"/>
                <a:ea typeface="微软雅黑" panose="020B0503020204020204" pitchFamily="34" charset="-122"/>
              </a:rPr>
              <a:t>具</a:t>
            </a:r>
            <a:endParaRPr lang="en-US" altLang="zh-CN" dirty="0">
              <a:solidFill>
                <a:srgbClr val="008F92"/>
              </a:solidFill>
              <a:latin typeface="微软雅黑" panose="020B0503020204020204" pitchFamily="34" charset="-122"/>
              <a:ea typeface="微软雅黑" panose="020B0503020204020204" pitchFamily="34" charset="-122"/>
            </a:endParaRPr>
          </a:p>
          <a:p>
            <a:r>
              <a:rPr lang="zh-CN" altLang="en-US" dirty="0">
                <a:solidFill>
                  <a:srgbClr val="008F92"/>
                </a:solidFill>
                <a:latin typeface="微软雅黑" panose="020B0503020204020204" pitchFamily="34" charset="-122"/>
                <a:ea typeface="微软雅黑" panose="020B0503020204020204" pitchFamily="34" charset="-122"/>
              </a:rPr>
              <a:t>体</a:t>
            </a:r>
            <a:endParaRPr lang="en-US" altLang="zh-CN" dirty="0">
              <a:solidFill>
                <a:srgbClr val="008F92"/>
              </a:solidFill>
              <a:latin typeface="微软雅黑" panose="020B0503020204020204" pitchFamily="34" charset="-122"/>
              <a:ea typeface="微软雅黑" panose="020B0503020204020204" pitchFamily="34" charset="-122"/>
            </a:endParaRPr>
          </a:p>
          <a:p>
            <a:r>
              <a:rPr lang="zh-CN" altLang="en-US" dirty="0">
                <a:solidFill>
                  <a:srgbClr val="008F92"/>
                </a:solidFill>
                <a:latin typeface="微软雅黑" panose="020B0503020204020204" pitchFamily="34" charset="-122"/>
                <a:ea typeface="微软雅黑" panose="020B0503020204020204" pitchFamily="34" charset="-122"/>
              </a:rPr>
              <a:t>问</a:t>
            </a:r>
            <a:endParaRPr lang="en-US" altLang="zh-CN" dirty="0">
              <a:solidFill>
                <a:srgbClr val="008F92"/>
              </a:solidFill>
              <a:latin typeface="微软雅黑" panose="020B0503020204020204" pitchFamily="34" charset="-122"/>
              <a:ea typeface="微软雅黑" panose="020B0503020204020204" pitchFamily="34" charset="-122"/>
            </a:endParaRPr>
          </a:p>
          <a:p>
            <a:r>
              <a:rPr lang="zh-CN" altLang="en-US" dirty="0">
                <a:solidFill>
                  <a:srgbClr val="008F92"/>
                </a:solidFill>
                <a:latin typeface="微软雅黑" panose="020B0503020204020204" pitchFamily="34" charset="-122"/>
                <a:ea typeface="微软雅黑" panose="020B0503020204020204" pitchFamily="34" charset="-122"/>
              </a:rPr>
              <a:t>题</a:t>
            </a:r>
          </a:p>
        </p:txBody>
      </p:sp>
      <p:sp>
        <p:nvSpPr>
          <p:cNvPr id="30" name="文本框 29">
            <a:extLst>
              <a:ext uri="{FF2B5EF4-FFF2-40B4-BE49-F238E27FC236}">
                <a16:creationId xmlns:a16="http://schemas.microsoft.com/office/drawing/2014/main" id="{4362BE15-3829-4819-9A74-D80EB89D02A1}"/>
              </a:ext>
            </a:extLst>
          </p:cNvPr>
          <p:cNvSpPr txBox="1"/>
          <p:nvPr/>
        </p:nvSpPr>
        <p:spPr>
          <a:xfrm>
            <a:off x="1003803" y="3819693"/>
            <a:ext cx="428227" cy="1200329"/>
          </a:xfrm>
          <a:prstGeom prst="rect">
            <a:avLst/>
          </a:prstGeom>
          <a:noFill/>
        </p:spPr>
        <p:txBody>
          <a:bodyPr wrap="square" rtlCol="0">
            <a:spAutoFit/>
          </a:bodyPr>
          <a:lstStyle/>
          <a:p>
            <a:r>
              <a:rPr lang="zh-CN" altLang="en-US" dirty="0">
                <a:solidFill>
                  <a:srgbClr val="008F92"/>
                </a:solidFill>
                <a:latin typeface="微软雅黑" panose="020B0503020204020204" pitchFamily="34" charset="-122"/>
                <a:ea typeface="微软雅黑" panose="020B0503020204020204" pitchFamily="34" charset="-122"/>
              </a:rPr>
              <a:t>解决方案</a:t>
            </a:r>
          </a:p>
        </p:txBody>
      </p:sp>
    </p:spTree>
    <p:extLst>
      <p:ext uri="{BB962C8B-B14F-4D97-AF65-F5344CB8AC3E}">
        <p14:creationId xmlns:p14="http://schemas.microsoft.com/office/powerpoint/2010/main" val="35742266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4146584"/>
          </a:xfrm>
          <a:prstGeom prst="rect">
            <a:avLst/>
          </a:prstGeom>
          <a:noFill/>
        </p:spPr>
        <p:txBody>
          <a:bodyPr wrap="square" rtlCol="0">
            <a:spAutoFit/>
          </a:bodyPr>
          <a:lstStyle/>
          <a:p>
            <a:pPr>
              <a:lnSpc>
                <a:spcPct val="11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、物理防护</a:t>
            </a:r>
          </a:p>
          <a:p>
            <a:pPr>
              <a:lnSpc>
                <a:spcPct val="11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、扩频与跳频</a:t>
            </a:r>
          </a:p>
          <a:p>
            <a:pPr>
              <a:lnSpc>
                <a:spcPct val="11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、信息加密</a:t>
            </a:r>
          </a:p>
          <a:p>
            <a:pPr>
              <a:lnSpc>
                <a:spcPct val="11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、阻止拒绝服务</a:t>
            </a:r>
          </a:p>
          <a:p>
            <a:pPr>
              <a:lnSpc>
                <a:spcPct val="11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a:t>
            </a:r>
          </a:p>
          <a:p>
            <a:pPr>
              <a:lnSpc>
                <a:spcPct val="11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a:t>
            </a:r>
          </a:p>
          <a:p>
            <a:pPr>
              <a:lnSpc>
                <a:spcPct val="11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7</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、入侵检测</a:t>
            </a:r>
          </a:p>
          <a:p>
            <a:pPr>
              <a:lnSpc>
                <a:spcPct val="11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、安全成簇</a:t>
            </a:r>
          </a:p>
          <a:p>
            <a:pPr>
              <a:lnSpc>
                <a:spcPct val="11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9</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、安全数据融合</a:t>
            </a:r>
          </a:p>
          <a:p>
            <a:pPr>
              <a:lnSpc>
                <a:spcPct val="11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10</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、容侵容错</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spTree>
    <p:extLst>
      <p:ext uri="{BB962C8B-B14F-4D97-AF65-F5344CB8AC3E}">
        <p14:creationId xmlns:p14="http://schemas.microsoft.com/office/powerpoint/2010/main" val="291349566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26777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物理防护</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物理攻击是对传感器节点最有效的攻击之一；</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实施物理隔离，使攻击者不能接触到传感器节点；</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对节点的硬件层实施安全保护，例如配置防篡改模块；</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关键在于发现物理攻击，定期进行邻居核查。</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spTree>
    <p:extLst>
      <p:ext uri="{BB962C8B-B14F-4D97-AF65-F5344CB8AC3E}">
        <p14:creationId xmlns:p14="http://schemas.microsoft.com/office/powerpoint/2010/main" val="354765249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324403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扩频与跳频</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固定无线信道的带宽总是有限的，当网络中多个节点同时进行数据传输时，将导致很大的延迟及冲突；</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无线通信中使用扩频或跳频，虽然两个节点通信时还是使用单一的频率，但是每次通信的频率都不相同，而别的节点就可以使用不同的频率进行通信，即增加了通信信道，可以容纳更多的节点进行同时通信，减少冲突和延迟，也可以防御攻击者对通信链路的窃听和截取。</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spTree>
    <p:extLst>
      <p:ext uri="{BB962C8B-B14F-4D97-AF65-F5344CB8AC3E}">
        <p14:creationId xmlns:p14="http://schemas.microsoft.com/office/powerpoint/2010/main" val="418139625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296087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信息加密</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对通信信息进行加密，即对传感器网络中节点与节点之间的通信链路上的通信数据进行加密，不以明文数据进行传播，即使攻击者窃听或截取到数据，也不会得到真实信息。</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针对消息截取</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针对流量分析攻击</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spTree>
    <p:extLst>
      <p:ext uri="{BB962C8B-B14F-4D97-AF65-F5344CB8AC3E}">
        <p14:creationId xmlns:p14="http://schemas.microsoft.com/office/powerpoint/2010/main" val="59549582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90146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阻止拒绝服务</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传感器网络分层拒绝服务攻击及其防御方法</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graphicFrame>
        <p:nvGraphicFramePr>
          <p:cNvPr id="5" name="表格 5">
            <a:extLst>
              <a:ext uri="{FF2B5EF4-FFF2-40B4-BE49-F238E27FC236}">
                <a16:creationId xmlns:a16="http://schemas.microsoft.com/office/drawing/2014/main" id="{42ACB694-BA45-49F1-9ECE-95FA52A5EBA9}"/>
              </a:ext>
            </a:extLst>
          </p:cNvPr>
          <p:cNvGraphicFramePr>
            <a:graphicFrameLocks noGrp="1"/>
          </p:cNvGraphicFramePr>
          <p:nvPr>
            <p:extLst>
              <p:ext uri="{D42A27DB-BD31-4B8C-83A1-F6EECF244321}">
                <p14:modId xmlns:p14="http://schemas.microsoft.com/office/powerpoint/2010/main" val="1817533096"/>
              </p:ext>
            </p:extLst>
          </p:nvPr>
        </p:nvGraphicFramePr>
        <p:xfrm>
          <a:off x="251520" y="1711619"/>
          <a:ext cx="8280920" cy="3557276"/>
        </p:xfrm>
        <a:graphic>
          <a:graphicData uri="http://schemas.openxmlformats.org/drawingml/2006/table">
            <a:tbl>
              <a:tblPr firstRow="1" bandRow="1">
                <a:tableStyleId>{5C22544A-7EE6-4342-B048-85BDC9FD1C3A}</a:tableStyleId>
              </a:tblPr>
              <a:tblGrid>
                <a:gridCol w="1179173">
                  <a:extLst>
                    <a:ext uri="{9D8B030D-6E8A-4147-A177-3AD203B41FA5}">
                      <a16:colId xmlns:a16="http://schemas.microsoft.com/office/drawing/2014/main" val="2365470447"/>
                    </a:ext>
                  </a:extLst>
                </a:gridCol>
                <a:gridCol w="1368152">
                  <a:extLst>
                    <a:ext uri="{9D8B030D-6E8A-4147-A177-3AD203B41FA5}">
                      <a16:colId xmlns:a16="http://schemas.microsoft.com/office/drawing/2014/main" val="3434991781"/>
                    </a:ext>
                  </a:extLst>
                </a:gridCol>
                <a:gridCol w="5733595">
                  <a:extLst>
                    <a:ext uri="{9D8B030D-6E8A-4147-A177-3AD203B41FA5}">
                      <a16:colId xmlns:a16="http://schemas.microsoft.com/office/drawing/2014/main" val="2416934776"/>
                    </a:ext>
                  </a:extLst>
                </a:gridCol>
              </a:tblGrid>
              <a:tr h="187331">
                <a:tc>
                  <a:txBody>
                    <a:bodyPr/>
                    <a:lstStyle/>
                    <a:p>
                      <a:pPr algn="ctr">
                        <a:lnSpc>
                          <a:spcPct val="80000"/>
                        </a:lnSpc>
                      </a:pPr>
                      <a:r>
                        <a:rPr lang="zh-CN" altLang="en-US" dirty="0">
                          <a:latin typeface="华文楷体" panose="02010600040101010101" pitchFamily="2" charset="-122"/>
                          <a:ea typeface="华文楷体" panose="02010600040101010101" pitchFamily="2" charset="-122"/>
                        </a:rPr>
                        <a:t>网络层次</a:t>
                      </a:r>
                    </a:p>
                  </a:txBody>
                  <a:tcPr/>
                </a:tc>
                <a:tc>
                  <a:txBody>
                    <a:bodyPr/>
                    <a:lstStyle/>
                    <a:p>
                      <a:pPr algn="ctr">
                        <a:lnSpc>
                          <a:spcPct val="80000"/>
                        </a:lnSpc>
                      </a:pPr>
                      <a:r>
                        <a:rPr lang="zh-CN" altLang="en-US" dirty="0">
                          <a:latin typeface="华文楷体" panose="02010600040101010101" pitchFamily="2" charset="-122"/>
                          <a:ea typeface="华文楷体" panose="02010600040101010101" pitchFamily="2" charset="-122"/>
                        </a:rPr>
                        <a:t>攻击</a:t>
                      </a:r>
                    </a:p>
                  </a:txBody>
                  <a:tcPr/>
                </a:tc>
                <a:tc>
                  <a:txBody>
                    <a:bodyPr/>
                    <a:lstStyle/>
                    <a:p>
                      <a:pPr algn="ctr">
                        <a:lnSpc>
                          <a:spcPct val="80000"/>
                        </a:lnSpc>
                      </a:pPr>
                      <a:r>
                        <a:rPr lang="zh-CN" altLang="en-US" dirty="0">
                          <a:latin typeface="华文楷体" panose="02010600040101010101" pitchFamily="2" charset="-122"/>
                          <a:ea typeface="华文楷体" panose="02010600040101010101" pitchFamily="2" charset="-122"/>
                        </a:rPr>
                        <a:t>防御方法</a:t>
                      </a:r>
                    </a:p>
                  </a:txBody>
                  <a:tcPr/>
                </a:tc>
                <a:extLst>
                  <a:ext uri="{0D108BD9-81ED-4DB2-BD59-A6C34878D82A}">
                    <a16:rowId xmlns:a16="http://schemas.microsoft.com/office/drawing/2014/main" val="994881554"/>
                  </a:ext>
                </a:extLst>
              </a:tr>
              <a:tr h="172449">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物理层</a:t>
                      </a: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拥塞</a:t>
                      </a:r>
                    </a:p>
                  </a:txBody>
                  <a:tcPr/>
                </a:tc>
                <a:tc>
                  <a:txBody>
                    <a:bodyPr/>
                    <a:lstStyle/>
                    <a:p>
                      <a:pPr algn="l">
                        <a:lnSpc>
                          <a:spcPct val="80000"/>
                        </a:lnSpc>
                      </a:pPr>
                      <a:r>
                        <a:rPr lang="zh-CN" altLang="en-US" sz="1600" dirty="0">
                          <a:latin typeface="华文楷体" panose="02010600040101010101" pitchFamily="2" charset="-122"/>
                          <a:ea typeface="华文楷体" panose="02010600040101010101" pitchFamily="2" charset="-122"/>
                        </a:rPr>
                        <a:t>宽频（跳频）、消息优先权、低占空比、区域映射、模式渐变</a:t>
                      </a:r>
                    </a:p>
                  </a:txBody>
                  <a:tcPr/>
                </a:tc>
                <a:extLst>
                  <a:ext uri="{0D108BD9-81ED-4DB2-BD59-A6C34878D82A}">
                    <a16:rowId xmlns:a16="http://schemas.microsoft.com/office/drawing/2014/main" val="2910414670"/>
                  </a:ext>
                </a:extLst>
              </a:tr>
              <a:tr h="172449">
                <a:tc>
                  <a:txBody>
                    <a:bodyPr/>
                    <a:lstStyle/>
                    <a:p>
                      <a:pPr algn="ctr">
                        <a:lnSpc>
                          <a:spcPct val="80000"/>
                        </a:lnSpc>
                      </a:pPr>
                      <a:endParaRPr lang="zh-CN" altLang="en-US" sz="1600">
                        <a:latin typeface="华文楷体" panose="02010600040101010101" pitchFamily="2" charset="-122"/>
                        <a:ea typeface="华文楷体" panose="02010600040101010101" pitchFamily="2" charset="-122"/>
                      </a:endParaRP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物理篡改</a:t>
                      </a:r>
                    </a:p>
                  </a:txBody>
                  <a:tcPr/>
                </a:tc>
                <a:tc>
                  <a:txBody>
                    <a:bodyPr/>
                    <a:lstStyle/>
                    <a:p>
                      <a:pPr algn="l">
                        <a:lnSpc>
                          <a:spcPct val="80000"/>
                        </a:lnSpc>
                      </a:pPr>
                      <a:r>
                        <a:rPr lang="zh-CN" altLang="en-US" sz="1600" dirty="0">
                          <a:latin typeface="华文楷体" panose="02010600040101010101" pitchFamily="2" charset="-122"/>
                          <a:ea typeface="华文楷体" panose="02010600040101010101" pitchFamily="2" charset="-122"/>
                        </a:rPr>
                        <a:t>物理防篡改（篡改自损坏）、隐藏</a:t>
                      </a:r>
                    </a:p>
                  </a:txBody>
                  <a:tcPr/>
                </a:tc>
                <a:extLst>
                  <a:ext uri="{0D108BD9-81ED-4DB2-BD59-A6C34878D82A}">
                    <a16:rowId xmlns:a16="http://schemas.microsoft.com/office/drawing/2014/main" val="1605904528"/>
                  </a:ext>
                </a:extLst>
              </a:tr>
              <a:tr h="172449">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链路层</a:t>
                      </a: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碰撞</a:t>
                      </a:r>
                    </a:p>
                  </a:txBody>
                  <a:tcPr/>
                </a:tc>
                <a:tc>
                  <a:txBody>
                    <a:bodyPr/>
                    <a:lstStyle/>
                    <a:p>
                      <a:pPr algn="l">
                        <a:lnSpc>
                          <a:spcPct val="80000"/>
                        </a:lnSpc>
                      </a:pPr>
                      <a:r>
                        <a:rPr lang="zh-CN" altLang="en-US" sz="1600" dirty="0">
                          <a:latin typeface="华文楷体" panose="02010600040101010101" pitchFamily="2" charset="-122"/>
                          <a:ea typeface="华文楷体" panose="02010600040101010101" pitchFamily="2" charset="-122"/>
                        </a:rPr>
                        <a:t>纠错编码</a:t>
                      </a:r>
                    </a:p>
                  </a:txBody>
                  <a:tcPr/>
                </a:tc>
                <a:extLst>
                  <a:ext uri="{0D108BD9-81ED-4DB2-BD59-A6C34878D82A}">
                    <a16:rowId xmlns:a16="http://schemas.microsoft.com/office/drawing/2014/main" val="3657281633"/>
                  </a:ext>
                </a:extLst>
              </a:tr>
              <a:tr h="172449">
                <a:tc>
                  <a:txBody>
                    <a:bodyPr/>
                    <a:lstStyle/>
                    <a:p>
                      <a:pPr algn="ctr">
                        <a:lnSpc>
                          <a:spcPct val="80000"/>
                        </a:lnSpc>
                      </a:pPr>
                      <a:endParaRPr lang="zh-CN" altLang="en-US" sz="1600">
                        <a:latin typeface="华文楷体" panose="02010600040101010101" pitchFamily="2" charset="-122"/>
                        <a:ea typeface="华文楷体" panose="02010600040101010101" pitchFamily="2" charset="-122"/>
                      </a:endParaRP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资源耗尽</a:t>
                      </a:r>
                    </a:p>
                  </a:txBody>
                  <a:tcPr/>
                </a:tc>
                <a:tc>
                  <a:txBody>
                    <a:bodyPr/>
                    <a:lstStyle/>
                    <a:p>
                      <a:pPr algn="l">
                        <a:lnSpc>
                          <a:spcPct val="80000"/>
                        </a:lnSpc>
                      </a:pPr>
                      <a:r>
                        <a:rPr lang="en-US" altLang="zh-CN" sz="1600" dirty="0">
                          <a:latin typeface="华文楷体" panose="02010600040101010101" pitchFamily="2" charset="-122"/>
                          <a:ea typeface="华文楷体" panose="02010600040101010101" pitchFamily="2" charset="-122"/>
                        </a:rPr>
                        <a:t>MAC</a:t>
                      </a:r>
                      <a:r>
                        <a:rPr lang="zh-CN" altLang="en-US" sz="1600" dirty="0">
                          <a:latin typeface="华文楷体" panose="02010600040101010101" pitchFamily="2" charset="-122"/>
                          <a:ea typeface="华文楷体" panose="02010600040101010101" pitchFamily="2" charset="-122"/>
                        </a:rPr>
                        <a:t>请求速率限制（门限）</a:t>
                      </a:r>
                    </a:p>
                  </a:txBody>
                  <a:tcPr/>
                </a:tc>
                <a:extLst>
                  <a:ext uri="{0D108BD9-81ED-4DB2-BD59-A6C34878D82A}">
                    <a16:rowId xmlns:a16="http://schemas.microsoft.com/office/drawing/2014/main" val="264503656"/>
                  </a:ext>
                </a:extLst>
              </a:tr>
              <a:tr h="172449">
                <a:tc>
                  <a:txBody>
                    <a:bodyPr/>
                    <a:lstStyle/>
                    <a:p>
                      <a:pPr algn="ctr">
                        <a:lnSpc>
                          <a:spcPct val="80000"/>
                        </a:lnSpc>
                      </a:pPr>
                      <a:endParaRPr lang="zh-CN" altLang="en-US" sz="1600">
                        <a:latin typeface="华文楷体" panose="02010600040101010101" pitchFamily="2" charset="-122"/>
                        <a:ea typeface="华文楷体" panose="02010600040101010101" pitchFamily="2" charset="-122"/>
                      </a:endParaRP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非公平竞争</a:t>
                      </a:r>
                    </a:p>
                  </a:txBody>
                  <a:tcPr/>
                </a:tc>
                <a:tc>
                  <a:txBody>
                    <a:bodyPr/>
                    <a:lstStyle/>
                    <a:p>
                      <a:pPr algn="l">
                        <a:lnSpc>
                          <a:spcPct val="80000"/>
                        </a:lnSpc>
                      </a:pPr>
                      <a:r>
                        <a:rPr lang="zh-CN" altLang="en-US" sz="1600" dirty="0">
                          <a:latin typeface="华文楷体" panose="02010600040101010101" pitchFamily="2" charset="-122"/>
                          <a:ea typeface="华文楷体" panose="02010600040101010101" pitchFamily="2" charset="-122"/>
                        </a:rPr>
                        <a:t>使用短帧</a:t>
                      </a:r>
                    </a:p>
                  </a:txBody>
                  <a:tcPr/>
                </a:tc>
                <a:extLst>
                  <a:ext uri="{0D108BD9-81ED-4DB2-BD59-A6C34878D82A}">
                    <a16:rowId xmlns:a16="http://schemas.microsoft.com/office/drawing/2014/main" val="1002321145"/>
                  </a:ext>
                </a:extLst>
              </a:tr>
              <a:tr h="172449">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网络层</a:t>
                      </a: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丢弃和贪婪</a:t>
                      </a:r>
                    </a:p>
                  </a:txBody>
                  <a:tcPr/>
                </a:tc>
                <a:tc>
                  <a:txBody>
                    <a:bodyPr/>
                    <a:lstStyle/>
                    <a:p>
                      <a:pPr algn="l">
                        <a:lnSpc>
                          <a:spcPct val="80000"/>
                        </a:lnSpc>
                      </a:pPr>
                      <a:r>
                        <a:rPr lang="zh-CN" altLang="en-US" sz="1600" dirty="0">
                          <a:latin typeface="华文楷体" panose="02010600040101010101" pitchFamily="2" charset="-122"/>
                          <a:ea typeface="华文楷体" panose="02010600040101010101" pitchFamily="2" charset="-122"/>
                        </a:rPr>
                        <a:t>使用冗余、探测机制</a:t>
                      </a:r>
                    </a:p>
                  </a:txBody>
                  <a:tcPr/>
                </a:tc>
                <a:extLst>
                  <a:ext uri="{0D108BD9-81ED-4DB2-BD59-A6C34878D82A}">
                    <a16:rowId xmlns:a16="http://schemas.microsoft.com/office/drawing/2014/main" val="1587357987"/>
                  </a:ext>
                </a:extLst>
              </a:tr>
              <a:tr h="172449">
                <a:tc>
                  <a:txBody>
                    <a:bodyPr/>
                    <a:lstStyle/>
                    <a:p>
                      <a:pPr algn="ctr">
                        <a:lnSpc>
                          <a:spcPct val="80000"/>
                        </a:lnSpc>
                      </a:pPr>
                      <a:endParaRPr lang="zh-CN" altLang="en-US" sz="1600">
                        <a:latin typeface="华文楷体" panose="02010600040101010101" pitchFamily="2" charset="-122"/>
                        <a:ea typeface="华文楷体" panose="02010600040101010101" pitchFamily="2" charset="-122"/>
                      </a:endParaRP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污水池</a:t>
                      </a:r>
                    </a:p>
                  </a:txBody>
                  <a:tcPr/>
                </a:tc>
                <a:tc>
                  <a:txBody>
                    <a:bodyPr/>
                    <a:lstStyle/>
                    <a:p>
                      <a:pPr algn="l">
                        <a:lnSpc>
                          <a:spcPct val="80000"/>
                        </a:lnSpc>
                      </a:pPr>
                      <a:r>
                        <a:rPr lang="zh-CN" altLang="en-US" sz="1600" dirty="0">
                          <a:latin typeface="华文楷体" panose="02010600040101010101" pitchFamily="2" charset="-122"/>
                          <a:ea typeface="华文楷体" panose="02010600040101010101" pitchFamily="2" charset="-122"/>
                        </a:rPr>
                        <a:t>加密</a:t>
                      </a:r>
                    </a:p>
                  </a:txBody>
                  <a:tcPr/>
                </a:tc>
                <a:extLst>
                  <a:ext uri="{0D108BD9-81ED-4DB2-BD59-A6C34878D82A}">
                    <a16:rowId xmlns:a16="http://schemas.microsoft.com/office/drawing/2014/main" val="4111605367"/>
                  </a:ext>
                </a:extLst>
              </a:tr>
              <a:tr h="172449">
                <a:tc>
                  <a:txBody>
                    <a:bodyPr/>
                    <a:lstStyle/>
                    <a:p>
                      <a:pPr algn="ctr">
                        <a:lnSpc>
                          <a:spcPct val="80000"/>
                        </a:lnSpc>
                      </a:pPr>
                      <a:endParaRPr lang="zh-CN" altLang="en-US" sz="1600">
                        <a:latin typeface="华文楷体" panose="02010600040101010101" pitchFamily="2" charset="-122"/>
                        <a:ea typeface="华文楷体" panose="02010600040101010101" pitchFamily="2" charset="-122"/>
                      </a:endParaRP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方向误导</a:t>
                      </a:r>
                    </a:p>
                  </a:txBody>
                  <a:tcPr/>
                </a:tc>
                <a:tc>
                  <a:txBody>
                    <a:bodyPr/>
                    <a:lstStyle/>
                    <a:p>
                      <a:pPr algn="l">
                        <a:lnSpc>
                          <a:spcPct val="80000"/>
                        </a:lnSpc>
                      </a:pPr>
                      <a:r>
                        <a:rPr lang="zh-CN" altLang="en-US" sz="1600" dirty="0">
                          <a:latin typeface="华文楷体" panose="02010600040101010101" pitchFamily="2" charset="-122"/>
                          <a:ea typeface="华文楷体" panose="02010600040101010101" pitchFamily="2" charset="-122"/>
                        </a:rPr>
                        <a:t>出口过滤、认证、监视</a:t>
                      </a:r>
                    </a:p>
                  </a:txBody>
                  <a:tcPr/>
                </a:tc>
                <a:extLst>
                  <a:ext uri="{0D108BD9-81ED-4DB2-BD59-A6C34878D82A}">
                    <a16:rowId xmlns:a16="http://schemas.microsoft.com/office/drawing/2014/main" val="153393959"/>
                  </a:ext>
                </a:extLst>
              </a:tr>
              <a:tr h="172449">
                <a:tc>
                  <a:txBody>
                    <a:bodyPr/>
                    <a:lstStyle/>
                    <a:p>
                      <a:pPr algn="ctr">
                        <a:lnSpc>
                          <a:spcPct val="80000"/>
                        </a:lnSpc>
                      </a:pPr>
                      <a:endParaRPr lang="zh-CN" altLang="en-US" sz="1600">
                        <a:latin typeface="华文楷体" panose="02010600040101010101" pitchFamily="2" charset="-122"/>
                        <a:ea typeface="华文楷体" panose="02010600040101010101" pitchFamily="2" charset="-122"/>
                      </a:endParaRP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黑洞</a:t>
                      </a:r>
                    </a:p>
                  </a:txBody>
                  <a:tcPr/>
                </a:tc>
                <a:tc>
                  <a:txBody>
                    <a:bodyPr/>
                    <a:lstStyle/>
                    <a:p>
                      <a:pPr algn="l">
                        <a:lnSpc>
                          <a:spcPct val="80000"/>
                        </a:lnSpc>
                      </a:pPr>
                      <a:r>
                        <a:rPr lang="zh-CN" altLang="en-US" sz="1600" dirty="0">
                          <a:latin typeface="华文楷体" panose="02010600040101010101" pitchFamily="2" charset="-122"/>
                          <a:ea typeface="华文楷体" panose="02010600040101010101" pitchFamily="2" charset="-122"/>
                        </a:rPr>
                        <a:t>认证、监视、冗余</a:t>
                      </a:r>
                    </a:p>
                  </a:txBody>
                  <a:tcPr/>
                </a:tc>
                <a:extLst>
                  <a:ext uri="{0D108BD9-81ED-4DB2-BD59-A6C34878D82A}">
                    <a16:rowId xmlns:a16="http://schemas.microsoft.com/office/drawing/2014/main" val="2160035126"/>
                  </a:ext>
                </a:extLst>
              </a:tr>
              <a:tr h="172449">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传输层</a:t>
                      </a: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洪泛</a:t>
                      </a:r>
                    </a:p>
                  </a:txBody>
                  <a:tcPr/>
                </a:tc>
                <a:tc>
                  <a:txBody>
                    <a:bodyPr/>
                    <a:lstStyle/>
                    <a:p>
                      <a:pPr algn="l">
                        <a:lnSpc>
                          <a:spcPct val="80000"/>
                        </a:lnSpc>
                      </a:pPr>
                      <a:r>
                        <a:rPr lang="zh-CN" altLang="en-US" sz="1600" dirty="0">
                          <a:latin typeface="华文楷体" panose="02010600040101010101" pitchFamily="2" charset="-122"/>
                          <a:ea typeface="华文楷体" panose="02010600040101010101" pitchFamily="2" charset="-122"/>
                        </a:rPr>
                        <a:t>客户端谜题：通信双方有效的相互身份验证</a:t>
                      </a:r>
                    </a:p>
                  </a:txBody>
                  <a:tcPr/>
                </a:tc>
                <a:extLst>
                  <a:ext uri="{0D108BD9-81ED-4DB2-BD59-A6C34878D82A}">
                    <a16:rowId xmlns:a16="http://schemas.microsoft.com/office/drawing/2014/main" val="522269844"/>
                  </a:ext>
                </a:extLst>
              </a:tr>
              <a:tr h="172449">
                <a:tc>
                  <a:txBody>
                    <a:bodyPr/>
                    <a:lstStyle/>
                    <a:p>
                      <a:pPr algn="ctr">
                        <a:lnSpc>
                          <a:spcPct val="80000"/>
                        </a:lnSpc>
                      </a:pPr>
                      <a:endParaRPr lang="zh-CN" altLang="en-US" sz="1600">
                        <a:latin typeface="华文楷体" panose="02010600040101010101" pitchFamily="2" charset="-122"/>
                        <a:ea typeface="华文楷体" panose="02010600040101010101" pitchFamily="2" charset="-122"/>
                      </a:endParaRPr>
                    </a:p>
                  </a:txBody>
                  <a:tcPr/>
                </a:tc>
                <a:tc>
                  <a:txBody>
                    <a:bodyPr/>
                    <a:lstStyle/>
                    <a:p>
                      <a:pPr algn="ctr">
                        <a:lnSpc>
                          <a:spcPct val="80000"/>
                        </a:lnSpc>
                      </a:pPr>
                      <a:r>
                        <a:rPr lang="zh-CN" altLang="en-US" sz="1600" dirty="0">
                          <a:latin typeface="华文楷体" panose="02010600040101010101" pitchFamily="2" charset="-122"/>
                          <a:ea typeface="华文楷体" panose="02010600040101010101" pitchFamily="2" charset="-122"/>
                        </a:rPr>
                        <a:t>不同步</a:t>
                      </a:r>
                    </a:p>
                  </a:txBody>
                  <a:tcPr/>
                </a:tc>
                <a:tc>
                  <a:txBody>
                    <a:bodyPr/>
                    <a:lstStyle/>
                    <a:p>
                      <a:pPr algn="l">
                        <a:lnSpc>
                          <a:spcPct val="80000"/>
                        </a:lnSpc>
                      </a:pPr>
                      <a:r>
                        <a:rPr lang="zh-CN" altLang="en-US" sz="1600" dirty="0">
                          <a:latin typeface="华文楷体" panose="02010600040101010101" pitchFamily="2" charset="-122"/>
                          <a:ea typeface="华文楷体" panose="02010600040101010101" pitchFamily="2" charset="-122"/>
                        </a:rPr>
                        <a:t>认证</a:t>
                      </a:r>
                    </a:p>
                  </a:txBody>
                  <a:tcPr/>
                </a:tc>
                <a:extLst>
                  <a:ext uri="{0D108BD9-81ED-4DB2-BD59-A6C34878D82A}">
                    <a16:rowId xmlns:a16="http://schemas.microsoft.com/office/drawing/2014/main" val="3404762793"/>
                  </a:ext>
                </a:extLst>
              </a:tr>
            </a:tbl>
          </a:graphicData>
        </a:graphic>
      </p:graphicFrame>
    </p:spTree>
    <p:extLst>
      <p:ext uri="{BB962C8B-B14F-4D97-AF65-F5344CB8AC3E}">
        <p14:creationId xmlns:p14="http://schemas.microsoft.com/office/powerpoint/2010/main" val="21759056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22149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认证是对抗无线传感器网络中假冒节点或虚假数据的有效方法。</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身份认证</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消息认证</a:t>
            </a: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graphicFrame>
        <p:nvGraphicFramePr>
          <p:cNvPr id="4" name="表格 4">
            <a:extLst>
              <a:ext uri="{FF2B5EF4-FFF2-40B4-BE49-F238E27FC236}">
                <a16:creationId xmlns:a16="http://schemas.microsoft.com/office/drawing/2014/main" id="{98A2F58A-0F1A-CBE2-EA5D-B104920C7C39}"/>
              </a:ext>
            </a:extLst>
          </p:cNvPr>
          <p:cNvGraphicFramePr>
            <a:graphicFrameLocks noGrp="1"/>
          </p:cNvGraphicFramePr>
          <p:nvPr>
            <p:extLst>
              <p:ext uri="{D42A27DB-BD31-4B8C-83A1-F6EECF244321}">
                <p14:modId xmlns:p14="http://schemas.microsoft.com/office/powerpoint/2010/main" val="2316277462"/>
              </p:ext>
            </p:extLst>
          </p:nvPr>
        </p:nvGraphicFramePr>
        <p:xfrm>
          <a:off x="2233940" y="1872874"/>
          <a:ext cx="5021580" cy="518160"/>
        </p:xfrm>
        <a:graphic>
          <a:graphicData uri="http://schemas.openxmlformats.org/drawingml/2006/table">
            <a:tbl>
              <a:tblPr firstRow="1" bandRow="1">
                <a:tableStyleId>{5C22544A-7EE6-4342-B048-85BDC9FD1C3A}</a:tableStyleId>
              </a:tblPr>
              <a:tblGrid>
                <a:gridCol w="671830">
                  <a:extLst>
                    <a:ext uri="{9D8B030D-6E8A-4147-A177-3AD203B41FA5}">
                      <a16:colId xmlns:a16="http://schemas.microsoft.com/office/drawing/2014/main" val="2800566373"/>
                    </a:ext>
                  </a:extLst>
                </a:gridCol>
                <a:gridCol w="671830">
                  <a:extLst>
                    <a:ext uri="{9D8B030D-6E8A-4147-A177-3AD203B41FA5}">
                      <a16:colId xmlns:a16="http://schemas.microsoft.com/office/drawing/2014/main" val="3579845876"/>
                    </a:ext>
                  </a:extLst>
                </a:gridCol>
                <a:gridCol w="671830">
                  <a:extLst>
                    <a:ext uri="{9D8B030D-6E8A-4147-A177-3AD203B41FA5}">
                      <a16:colId xmlns:a16="http://schemas.microsoft.com/office/drawing/2014/main" val="2528323384"/>
                    </a:ext>
                  </a:extLst>
                </a:gridCol>
                <a:gridCol w="671830">
                  <a:extLst>
                    <a:ext uri="{9D8B030D-6E8A-4147-A177-3AD203B41FA5}">
                      <a16:colId xmlns:a16="http://schemas.microsoft.com/office/drawing/2014/main" val="3293560192"/>
                    </a:ext>
                  </a:extLst>
                </a:gridCol>
                <a:gridCol w="1662430">
                  <a:extLst>
                    <a:ext uri="{9D8B030D-6E8A-4147-A177-3AD203B41FA5}">
                      <a16:colId xmlns:a16="http://schemas.microsoft.com/office/drawing/2014/main" val="2334516780"/>
                    </a:ext>
                  </a:extLst>
                </a:gridCol>
                <a:gridCol w="671830">
                  <a:extLst>
                    <a:ext uri="{9D8B030D-6E8A-4147-A177-3AD203B41FA5}">
                      <a16:colId xmlns:a16="http://schemas.microsoft.com/office/drawing/2014/main" val="3308446478"/>
                    </a:ext>
                  </a:extLst>
                </a:gridCol>
              </a:tblGrid>
              <a:tr h="291443">
                <a:tc>
                  <a:txBody>
                    <a:bodyPr/>
                    <a:lstStyle/>
                    <a:p>
                      <a:pPr algn="ctr"/>
                      <a:r>
                        <a:rPr lang="en-US" altLang="zh-CN" sz="1400" dirty="0" err="1">
                          <a:latin typeface="Times New Roman" panose="02020603050405020304" pitchFamily="18" charset="0"/>
                          <a:cs typeface="Times New Roman" panose="02020603050405020304" pitchFamily="18" charset="0"/>
                        </a:rPr>
                        <a:t>Dest</a:t>
                      </a:r>
                      <a:endParaRPr lang="en-US" altLang="zh-CN" sz="1400" dirty="0">
                        <a:latin typeface="Times New Roman" panose="02020603050405020304" pitchFamily="18" charset="0"/>
                        <a:cs typeface="Times New Roman" panose="02020603050405020304" pitchFamily="18" charset="0"/>
                      </a:endParaRP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2</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AM</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1</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Len</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1</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Grp</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1</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Data</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plain text</a:t>
                      </a:r>
                      <a:r>
                        <a:rPr lang="zh-CN" altLang="en-US" sz="1400" dirty="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0..29</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CRC</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2</a:t>
                      </a:r>
                      <a:r>
                        <a:rPr lang="zh-CN" altLang="en-US" sz="14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236959445"/>
                  </a:ext>
                </a:extLst>
              </a:tr>
            </a:tbl>
          </a:graphicData>
        </a:graphic>
      </p:graphicFrame>
      <p:graphicFrame>
        <p:nvGraphicFramePr>
          <p:cNvPr id="5" name="表格 4">
            <a:extLst>
              <a:ext uri="{FF2B5EF4-FFF2-40B4-BE49-F238E27FC236}">
                <a16:creationId xmlns:a16="http://schemas.microsoft.com/office/drawing/2014/main" id="{79AEA325-018C-7423-F156-DAD7831A00FF}"/>
              </a:ext>
            </a:extLst>
          </p:cNvPr>
          <p:cNvGraphicFramePr>
            <a:graphicFrameLocks noGrp="1"/>
          </p:cNvGraphicFramePr>
          <p:nvPr>
            <p:extLst>
              <p:ext uri="{D42A27DB-BD31-4B8C-83A1-F6EECF244321}">
                <p14:modId xmlns:p14="http://schemas.microsoft.com/office/powerpoint/2010/main" val="3719386209"/>
              </p:ext>
            </p:extLst>
          </p:nvPr>
        </p:nvGraphicFramePr>
        <p:xfrm>
          <a:off x="2569855" y="3068175"/>
          <a:ext cx="4349750" cy="518160"/>
        </p:xfrm>
        <a:graphic>
          <a:graphicData uri="http://schemas.openxmlformats.org/drawingml/2006/table">
            <a:tbl>
              <a:tblPr firstRow="1" bandRow="1">
                <a:tableStyleId>{5C22544A-7EE6-4342-B048-85BDC9FD1C3A}</a:tableStyleId>
              </a:tblPr>
              <a:tblGrid>
                <a:gridCol w="671830">
                  <a:extLst>
                    <a:ext uri="{9D8B030D-6E8A-4147-A177-3AD203B41FA5}">
                      <a16:colId xmlns:a16="http://schemas.microsoft.com/office/drawing/2014/main" val="2800566373"/>
                    </a:ext>
                  </a:extLst>
                </a:gridCol>
                <a:gridCol w="671830">
                  <a:extLst>
                    <a:ext uri="{9D8B030D-6E8A-4147-A177-3AD203B41FA5}">
                      <a16:colId xmlns:a16="http://schemas.microsoft.com/office/drawing/2014/main" val="3579845876"/>
                    </a:ext>
                  </a:extLst>
                </a:gridCol>
                <a:gridCol w="671830">
                  <a:extLst>
                    <a:ext uri="{9D8B030D-6E8A-4147-A177-3AD203B41FA5}">
                      <a16:colId xmlns:a16="http://schemas.microsoft.com/office/drawing/2014/main" val="2528323384"/>
                    </a:ext>
                  </a:extLst>
                </a:gridCol>
                <a:gridCol w="1662430">
                  <a:extLst>
                    <a:ext uri="{9D8B030D-6E8A-4147-A177-3AD203B41FA5}">
                      <a16:colId xmlns:a16="http://schemas.microsoft.com/office/drawing/2014/main" val="2334516780"/>
                    </a:ext>
                  </a:extLst>
                </a:gridCol>
                <a:gridCol w="671830">
                  <a:extLst>
                    <a:ext uri="{9D8B030D-6E8A-4147-A177-3AD203B41FA5}">
                      <a16:colId xmlns:a16="http://schemas.microsoft.com/office/drawing/2014/main" val="3308446478"/>
                    </a:ext>
                  </a:extLst>
                </a:gridCol>
              </a:tblGrid>
              <a:tr h="291443">
                <a:tc>
                  <a:txBody>
                    <a:bodyPr/>
                    <a:lstStyle/>
                    <a:p>
                      <a:pPr algn="ctr"/>
                      <a:r>
                        <a:rPr lang="en-US" altLang="zh-CN" sz="1400" dirty="0" err="1">
                          <a:latin typeface="Times New Roman" panose="02020603050405020304" pitchFamily="18" charset="0"/>
                          <a:cs typeface="Times New Roman" panose="02020603050405020304" pitchFamily="18" charset="0"/>
                        </a:rPr>
                        <a:t>Dest</a:t>
                      </a:r>
                      <a:endParaRPr lang="en-US" altLang="zh-CN" sz="1400" dirty="0">
                        <a:latin typeface="Times New Roman" panose="02020603050405020304" pitchFamily="18" charset="0"/>
                        <a:cs typeface="Times New Roman" panose="02020603050405020304" pitchFamily="18" charset="0"/>
                      </a:endParaRP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2</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AM</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1</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Len</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1</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Data</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plain text</a:t>
                      </a:r>
                      <a:r>
                        <a:rPr lang="zh-CN" altLang="en-US" sz="1400" dirty="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0..29</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MAC</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2</a:t>
                      </a:r>
                      <a:r>
                        <a:rPr lang="zh-CN" altLang="en-US" sz="14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236959445"/>
                  </a:ext>
                </a:extLst>
              </a:tr>
            </a:tbl>
          </a:graphicData>
        </a:graphic>
      </p:graphicFrame>
      <p:graphicFrame>
        <p:nvGraphicFramePr>
          <p:cNvPr id="6" name="表格 5">
            <a:extLst>
              <a:ext uri="{FF2B5EF4-FFF2-40B4-BE49-F238E27FC236}">
                <a16:creationId xmlns:a16="http://schemas.microsoft.com/office/drawing/2014/main" id="{69ADCB5B-C642-0AB2-69CE-D29C9038FC1C}"/>
              </a:ext>
            </a:extLst>
          </p:cNvPr>
          <p:cNvGraphicFramePr>
            <a:graphicFrameLocks noGrp="1"/>
          </p:cNvGraphicFramePr>
          <p:nvPr>
            <p:extLst>
              <p:ext uri="{D42A27DB-BD31-4B8C-83A1-F6EECF244321}">
                <p14:modId xmlns:p14="http://schemas.microsoft.com/office/powerpoint/2010/main" val="272576501"/>
              </p:ext>
            </p:extLst>
          </p:nvPr>
        </p:nvGraphicFramePr>
        <p:xfrm>
          <a:off x="1907704" y="4170315"/>
          <a:ext cx="5693410" cy="518160"/>
        </p:xfrm>
        <a:graphic>
          <a:graphicData uri="http://schemas.openxmlformats.org/drawingml/2006/table">
            <a:tbl>
              <a:tblPr firstRow="1" bandRow="1">
                <a:tableStyleId>{5C22544A-7EE6-4342-B048-85BDC9FD1C3A}</a:tableStyleId>
              </a:tblPr>
              <a:tblGrid>
                <a:gridCol w="671830">
                  <a:extLst>
                    <a:ext uri="{9D8B030D-6E8A-4147-A177-3AD203B41FA5}">
                      <a16:colId xmlns:a16="http://schemas.microsoft.com/office/drawing/2014/main" val="2800566373"/>
                    </a:ext>
                  </a:extLst>
                </a:gridCol>
                <a:gridCol w="671830">
                  <a:extLst>
                    <a:ext uri="{9D8B030D-6E8A-4147-A177-3AD203B41FA5}">
                      <a16:colId xmlns:a16="http://schemas.microsoft.com/office/drawing/2014/main" val="3579845876"/>
                    </a:ext>
                  </a:extLst>
                </a:gridCol>
                <a:gridCol w="671830">
                  <a:extLst>
                    <a:ext uri="{9D8B030D-6E8A-4147-A177-3AD203B41FA5}">
                      <a16:colId xmlns:a16="http://schemas.microsoft.com/office/drawing/2014/main" val="2528323384"/>
                    </a:ext>
                  </a:extLst>
                </a:gridCol>
                <a:gridCol w="671830">
                  <a:extLst>
                    <a:ext uri="{9D8B030D-6E8A-4147-A177-3AD203B41FA5}">
                      <a16:colId xmlns:a16="http://schemas.microsoft.com/office/drawing/2014/main" val="2177771835"/>
                    </a:ext>
                  </a:extLst>
                </a:gridCol>
                <a:gridCol w="671830">
                  <a:extLst>
                    <a:ext uri="{9D8B030D-6E8A-4147-A177-3AD203B41FA5}">
                      <a16:colId xmlns:a16="http://schemas.microsoft.com/office/drawing/2014/main" val="3153589723"/>
                    </a:ext>
                  </a:extLst>
                </a:gridCol>
                <a:gridCol w="1662430">
                  <a:extLst>
                    <a:ext uri="{9D8B030D-6E8A-4147-A177-3AD203B41FA5}">
                      <a16:colId xmlns:a16="http://schemas.microsoft.com/office/drawing/2014/main" val="2334516780"/>
                    </a:ext>
                  </a:extLst>
                </a:gridCol>
                <a:gridCol w="671830">
                  <a:extLst>
                    <a:ext uri="{9D8B030D-6E8A-4147-A177-3AD203B41FA5}">
                      <a16:colId xmlns:a16="http://schemas.microsoft.com/office/drawing/2014/main" val="3308446478"/>
                    </a:ext>
                  </a:extLst>
                </a:gridCol>
              </a:tblGrid>
              <a:tr h="291443">
                <a:tc>
                  <a:txBody>
                    <a:bodyPr/>
                    <a:lstStyle/>
                    <a:p>
                      <a:pPr algn="ctr"/>
                      <a:r>
                        <a:rPr lang="en-US" altLang="zh-CN" sz="1400" dirty="0" err="1">
                          <a:latin typeface="Times New Roman" panose="02020603050405020304" pitchFamily="18" charset="0"/>
                          <a:cs typeface="Times New Roman" panose="02020603050405020304" pitchFamily="18" charset="0"/>
                        </a:rPr>
                        <a:t>Dest</a:t>
                      </a:r>
                      <a:endParaRPr lang="en-US" altLang="zh-CN" sz="1400" dirty="0">
                        <a:latin typeface="Times New Roman" panose="02020603050405020304" pitchFamily="18" charset="0"/>
                        <a:cs typeface="Times New Roman" panose="02020603050405020304" pitchFamily="18" charset="0"/>
                      </a:endParaRP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2</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AM</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1</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Len</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1</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err="1">
                          <a:latin typeface="Times New Roman" panose="02020603050405020304" pitchFamily="18" charset="0"/>
                          <a:cs typeface="Times New Roman" panose="02020603050405020304" pitchFamily="18" charset="0"/>
                        </a:rPr>
                        <a:t>Src</a:t>
                      </a:r>
                      <a:endParaRPr lang="en-US" altLang="zh-CN" sz="1400" dirty="0">
                        <a:latin typeface="Times New Roman" panose="02020603050405020304" pitchFamily="18" charset="0"/>
                        <a:cs typeface="Times New Roman" panose="02020603050405020304" pitchFamily="18" charset="0"/>
                      </a:endParaRP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2</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Ctr</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2</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Data</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plain text</a:t>
                      </a:r>
                      <a:r>
                        <a:rPr lang="zh-CN" altLang="en-US" sz="1400" dirty="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0..29</a:t>
                      </a:r>
                      <a:r>
                        <a:rPr lang="zh-CN" altLang="en-US" sz="1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MAC</a:t>
                      </a:r>
                    </a:p>
                    <a:p>
                      <a:pPr algn="ct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2</a:t>
                      </a:r>
                      <a:r>
                        <a:rPr lang="zh-CN" altLang="en-US" sz="14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236959445"/>
                  </a:ext>
                </a:extLst>
              </a:tr>
            </a:tbl>
          </a:graphicData>
        </a:graphic>
      </p:graphicFrame>
      <p:sp>
        <p:nvSpPr>
          <p:cNvPr id="7" name="文本框 6">
            <a:extLst>
              <a:ext uri="{FF2B5EF4-FFF2-40B4-BE49-F238E27FC236}">
                <a16:creationId xmlns:a16="http://schemas.microsoft.com/office/drawing/2014/main" id="{62440477-E810-292D-E64F-D5DDD5C3F617}"/>
              </a:ext>
            </a:extLst>
          </p:cNvPr>
          <p:cNvSpPr txBox="1"/>
          <p:nvPr/>
        </p:nvSpPr>
        <p:spPr>
          <a:xfrm>
            <a:off x="3434592" y="4728889"/>
            <a:ext cx="2676823" cy="338554"/>
          </a:xfrm>
          <a:prstGeom prst="rect">
            <a:avLst/>
          </a:prstGeom>
          <a:noFill/>
        </p:spPr>
        <p:txBody>
          <a:bodyPr wrap="none" rtlCol="0">
            <a:spAutoFit/>
          </a:bodyPr>
          <a:lstStyle/>
          <a:p>
            <a:r>
              <a:rPr lang="en-US" altLang="zh-CN" sz="1600" b="1" dirty="0" err="1">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TinySec</a:t>
            </a:r>
            <a:r>
              <a:rPr lang="en-US" altLang="zh-CN" sz="16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-AE</a:t>
            </a:r>
            <a:r>
              <a:rPr lang="zh-CN" altLang="en-US" sz="16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认证加密数据包</a:t>
            </a:r>
          </a:p>
        </p:txBody>
      </p:sp>
      <p:sp>
        <p:nvSpPr>
          <p:cNvPr id="8" name="文本框 7">
            <a:extLst>
              <a:ext uri="{FF2B5EF4-FFF2-40B4-BE49-F238E27FC236}">
                <a16:creationId xmlns:a16="http://schemas.microsoft.com/office/drawing/2014/main" id="{9820E784-A1A4-F705-1AAA-BEDA4E71B34B}"/>
              </a:ext>
            </a:extLst>
          </p:cNvPr>
          <p:cNvSpPr txBox="1"/>
          <p:nvPr/>
        </p:nvSpPr>
        <p:spPr>
          <a:xfrm>
            <a:off x="3559625" y="3558245"/>
            <a:ext cx="2426755" cy="338554"/>
          </a:xfrm>
          <a:prstGeom prst="rect">
            <a:avLst/>
          </a:prstGeom>
          <a:noFill/>
        </p:spPr>
        <p:txBody>
          <a:bodyPr wrap="none" rtlCol="0">
            <a:spAutoFit/>
          </a:bodyPr>
          <a:lstStyle/>
          <a:p>
            <a:r>
              <a:rPr lang="en-US" altLang="zh-CN" sz="1600" b="1" dirty="0" err="1">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TinySec</a:t>
            </a:r>
            <a:r>
              <a:rPr lang="en-US" altLang="zh-CN" sz="16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-Auth</a:t>
            </a:r>
            <a:r>
              <a:rPr lang="zh-CN" altLang="en-US" sz="16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认证数据包</a:t>
            </a:r>
          </a:p>
        </p:txBody>
      </p:sp>
      <p:sp>
        <p:nvSpPr>
          <p:cNvPr id="9" name="文本框 8">
            <a:extLst>
              <a:ext uri="{FF2B5EF4-FFF2-40B4-BE49-F238E27FC236}">
                <a16:creationId xmlns:a16="http://schemas.microsoft.com/office/drawing/2014/main" id="{EF96C990-119E-B690-8AC8-FE9432A4C9DF}"/>
              </a:ext>
            </a:extLst>
          </p:cNvPr>
          <p:cNvSpPr txBox="1"/>
          <p:nvPr/>
        </p:nvSpPr>
        <p:spPr>
          <a:xfrm>
            <a:off x="4139952" y="2352933"/>
            <a:ext cx="1480983" cy="338554"/>
          </a:xfrm>
          <a:prstGeom prst="rect">
            <a:avLst/>
          </a:prstGeom>
          <a:noFill/>
        </p:spPr>
        <p:txBody>
          <a:bodyPr wrap="none" rtlCol="0">
            <a:spAutoFit/>
          </a:bodyPr>
          <a:lstStyle/>
          <a:p>
            <a:r>
              <a:rPr lang="en-US" altLang="zh-CN" sz="1600" b="1" dirty="0" err="1">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TinyOS</a:t>
            </a:r>
            <a:r>
              <a:rPr lang="zh-CN" altLang="en-US" sz="16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数据包</a:t>
            </a:r>
          </a:p>
        </p:txBody>
      </p:sp>
    </p:spTree>
    <p:extLst>
      <p:ext uri="{BB962C8B-B14F-4D97-AF65-F5344CB8AC3E}">
        <p14:creationId xmlns:p14="http://schemas.microsoft.com/office/powerpoint/2010/main" val="336790120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257500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目的：</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保护无线传感器网络中的资源或服务，确保只向获得授权的合法用户提供；</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基于性能、效率和安全性综合考虑的访问控制机制；</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基于对称密码体制的访问控制、利用单向秘钥链接和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Merkle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哈希树的控制机制。</a:t>
            </a: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sp>
        <p:nvSpPr>
          <p:cNvPr id="4" name="椭圆 3">
            <a:extLst>
              <a:ext uri="{FF2B5EF4-FFF2-40B4-BE49-F238E27FC236}">
                <a16:creationId xmlns:a16="http://schemas.microsoft.com/office/drawing/2014/main" id="{F7B54263-C1B3-ECA2-C13A-0DE9F90D414E}"/>
              </a:ext>
            </a:extLst>
          </p:cNvPr>
          <p:cNvSpPr/>
          <p:nvPr/>
        </p:nvSpPr>
        <p:spPr>
          <a:xfrm>
            <a:off x="1807756" y="3569438"/>
            <a:ext cx="113224" cy="1132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8488A168-6507-AC3F-1DE1-76351B1A4178}"/>
              </a:ext>
            </a:extLst>
          </p:cNvPr>
          <p:cNvSpPr/>
          <p:nvPr/>
        </p:nvSpPr>
        <p:spPr>
          <a:xfrm>
            <a:off x="2750845" y="3569438"/>
            <a:ext cx="113224" cy="1132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EBC236D9-D751-EC71-7679-AD9545DAE254}"/>
              </a:ext>
            </a:extLst>
          </p:cNvPr>
          <p:cNvSpPr/>
          <p:nvPr/>
        </p:nvSpPr>
        <p:spPr>
          <a:xfrm>
            <a:off x="3693934" y="3569438"/>
            <a:ext cx="113224" cy="1132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4C1F79CB-9832-D4D3-285A-E7594DAAFF14}"/>
              </a:ext>
            </a:extLst>
          </p:cNvPr>
          <p:cNvSpPr/>
          <p:nvPr/>
        </p:nvSpPr>
        <p:spPr>
          <a:xfrm>
            <a:off x="4637023" y="3569438"/>
            <a:ext cx="113224" cy="1132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6BFC7102-EF84-C103-642F-F5BCA5AFC244}"/>
              </a:ext>
            </a:extLst>
          </p:cNvPr>
          <p:cNvSpPr/>
          <p:nvPr/>
        </p:nvSpPr>
        <p:spPr>
          <a:xfrm>
            <a:off x="5580112" y="3569438"/>
            <a:ext cx="113224" cy="1132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815C4463-4D0E-925A-8557-B5FEFF4B546D}"/>
              </a:ext>
            </a:extLst>
          </p:cNvPr>
          <p:cNvSpPr/>
          <p:nvPr/>
        </p:nvSpPr>
        <p:spPr>
          <a:xfrm>
            <a:off x="6523200" y="3569438"/>
            <a:ext cx="113224" cy="1132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B3CF9E2A-93C1-2C32-20E5-441C2C39F869}"/>
              </a:ext>
            </a:extLst>
          </p:cNvPr>
          <p:cNvCxnSpPr>
            <a:cxnSpLocks/>
            <a:stCxn id="5" idx="2"/>
            <a:endCxn id="4" idx="6"/>
          </p:cNvCxnSpPr>
          <p:nvPr/>
        </p:nvCxnSpPr>
        <p:spPr>
          <a:xfrm flipH="1">
            <a:off x="1920980" y="3626050"/>
            <a:ext cx="8298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272E6613-03FA-6860-7F64-4C43C09099AE}"/>
              </a:ext>
            </a:extLst>
          </p:cNvPr>
          <p:cNvCxnSpPr>
            <a:cxnSpLocks/>
            <a:stCxn id="6" idx="2"/>
            <a:endCxn id="5" idx="6"/>
          </p:cNvCxnSpPr>
          <p:nvPr/>
        </p:nvCxnSpPr>
        <p:spPr>
          <a:xfrm flipH="1">
            <a:off x="2864069" y="3626050"/>
            <a:ext cx="8298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4527D7F6-35C7-91FA-E7F7-431B400D1BBB}"/>
              </a:ext>
            </a:extLst>
          </p:cNvPr>
          <p:cNvCxnSpPr>
            <a:cxnSpLocks/>
            <a:stCxn id="7" idx="2"/>
            <a:endCxn id="6" idx="6"/>
          </p:cNvCxnSpPr>
          <p:nvPr/>
        </p:nvCxnSpPr>
        <p:spPr>
          <a:xfrm flipH="1">
            <a:off x="3807158" y="3626050"/>
            <a:ext cx="8298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FAC304B-EE30-7006-6FC9-BA1C7845B5F4}"/>
              </a:ext>
            </a:extLst>
          </p:cNvPr>
          <p:cNvCxnSpPr>
            <a:cxnSpLocks/>
            <a:stCxn id="8" idx="2"/>
            <a:endCxn id="7" idx="6"/>
          </p:cNvCxnSpPr>
          <p:nvPr/>
        </p:nvCxnSpPr>
        <p:spPr>
          <a:xfrm flipH="1">
            <a:off x="4750247" y="3626050"/>
            <a:ext cx="8298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A13F89A4-FEB9-D9F2-7392-AD532614B45E}"/>
              </a:ext>
            </a:extLst>
          </p:cNvPr>
          <p:cNvCxnSpPr>
            <a:cxnSpLocks/>
            <a:stCxn id="9" idx="2"/>
            <a:endCxn id="8" idx="6"/>
          </p:cNvCxnSpPr>
          <p:nvPr/>
        </p:nvCxnSpPr>
        <p:spPr>
          <a:xfrm flipH="1">
            <a:off x="5693336" y="3626050"/>
            <a:ext cx="8298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F49A2576-CB09-6A33-AB4F-050163264DE6}"/>
              </a:ext>
            </a:extLst>
          </p:cNvPr>
          <p:cNvSpPr txBox="1"/>
          <p:nvPr/>
        </p:nvSpPr>
        <p:spPr>
          <a:xfrm>
            <a:off x="1680664" y="3169864"/>
            <a:ext cx="367408" cy="369332"/>
          </a:xfrm>
          <a:prstGeom prst="rect">
            <a:avLst/>
          </a:prstGeom>
          <a:noFill/>
        </p:spPr>
        <p:txBody>
          <a:bodyPr wrap="none" rtlCol="0">
            <a:spAutoFit/>
          </a:bodyPr>
          <a:lstStyle/>
          <a:p>
            <a:r>
              <a:rPr lang="en-US" altLang="zh-CN" dirty="0"/>
              <a:t>v</a:t>
            </a:r>
            <a:r>
              <a:rPr lang="en-US" altLang="zh-CN" baseline="-25000" dirty="0"/>
              <a:t>0</a:t>
            </a:r>
            <a:endParaRPr lang="zh-CN" altLang="en-US" baseline="-25000" dirty="0"/>
          </a:p>
        </p:txBody>
      </p:sp>
      <p:sp>
        <p:nvSpPr>
          <p:cNvPr id="27" name="文本框 26">
            <a:extLst>
              <a:ext uri="{FF2B5EF4-FFF2-40B4-BE49-F238E27FC236}">
                <a16:creationId xmlns:a16="http://schemas.microsoft.com/office/drawing/2014/main" id="{C042DF4E-D80E-5520-EED2-D4F72E14830A}"/>
              </a:ext>
            </a:extLst>
          </p:cNvPr>
          <p:cNvSpPr txBox="1"/>
          <p:nvPr/>
        </p:nvSpPr>
        <p:spPr>
          <a:xfrm>
            <a:off x="2623753" y="3134117"/>
            <a:ext cx="367408" cy="369332"/>
          </a:xfrm>
          <a:prstGeom prst="rect">
            <a:avLst/>
          </a:prstGeom>
          <a:noFill/>
        </p:spPr>
        <p:txBody>
          <a:bodyPr wrap="none" rtlCol="0">
            <a:spAutoFit/>
          </a:bodyPr>
          <a:lstStyle/>
          <a:p>
            <a:r>
              <a:rPr lang="en-US" altLang="zh-CN" dirty="0"/>
              <a:t>v</a:t>
            </a:r>
            <a:r>
              <a:rPr lang="en-US" altLang="zh-CN" baseline="-25000" dirty="0"/>
              <a:t>1</a:t>
            </a:r>
            <a:endParaRPr lang="zh-CN" altLang="en-US" baseline="-25000" dirty="0"/>
          </a:p>
        </p:txBody>
      </p:sp>
      <p:sp>
        <p:nvSpPr>
          <p:cNvPr id="28" name="文本框 27">
            <a:extLst>
              <a:ext uri="{FF2B5EF4-FFF2-40B4-BE49-F238E27FC236}">
                <a16:creationId xmlns:a16="http://schemas.microsoft.com/office/drawing/2014/main" id="{5A890C43-BDD8-A244-913A-8FE3FE9786C6}"/>
              </a:ext>
            </a:extLst>
          </p:cNvPr>
          <p:cNvSpPr txBox="1"/>
          <p:nvPr/>
        </p:nvSpPr>
        <p:spPr>
          <a:xfrm>
            <a:off x="3566842" y="3134117"/>
            <a:ext cx="367408" cy="369332"/>
          </a:xfrm>
          <a:prstGeom prst="rect">
            <a:avLst/>
          </a:prstGeom>
          <a:noFill/>
        </p:spPr>
        <p:txBody>
          <a:bodyPr wrap="none" rtlCol="0">
            <a:spAutoFit/>
          </a:bodyPr>
          <a:lstStyle/>
          <a:p>
            <a:r>
              <a:rPr lang="en-US" altLang="zh-CN" dirty="0"/>
              <a:t>v</a:t>
            </a:r>
            <a:r>
              <a:rPr lang="en-US" altLang="zh-CN" baseline="-25000" dirty="0"/>
              <a:t>2</a:t>
            </a:r>
            <a:endParaRPr lang="zh-CN" altLang="en-US" baseline="-25000" dirty="0"/>
          </a:p>
        </p:txBody>
      </p:sp>
      <p:sp>
        <p:nvSpPr>
          <p:cNvPr id="29" name="文本框 28">
            <a:extLst>
              <a:ext uri="{FF2B5EF4-FFF2-40B4-BE49-F238E27FC236}">
                <a16:creationId xmlns:a16="http://schemas.microsoft.com/office/drawing/2014/main" id="{FBFD1378-EF3D-568E-D075-5F551EC683B6}"/>
              </a:ext>
            </a:extLst>
          </p:cNvPr>
          <p:cNvSpPr txBox="1"/>
          <p:nvPr/>
        </p:nvSpPr>
        <p:spPr>
          <a:xfrm>
            <a:off x="4488513" y="3134117"/>
            <a:ext cx="367408" cy="369332"/>
          </a:xfrm>
          <a:prstGeom prst="rect">
            <a:avLst/>
          </a:prstGeom>
          <a:noFill/>
        </p:spPr>
        <p:txBody>
          <a:bodyPr wrap="none" rtlCol="0">
            <a:spAutoFit/>
          </a:bodyPr>
          <a:lstStyle/>
          <a:p>
            <a:r>
              <a:rPr lang="en-US" altLang="zh-CN" dirty="0"/>
              <a:t>v</a:t>
            </a:r>
            <a:r>
              <a:rPr lang="en-US" altLang="zh-CN" baseline="-25000" dirty="0"/>
              <a:t>3</a:t>
            </a:r>
            <a:endParaRPr lang="zh-CN" altLang="en-US" baseline="-25000" dirty="0"/>
          </a:p>
        </p:txBody>
      </p:sp>
      <p:sp>
        <p:nvSpPr>
          <p:cNvPr id="30" name="文本框 29">
            <a:extLst>
              <a:ext uri="{FF2B5EF4-FFF2-40B4-BE49-F238E27FC236}">
                <a16:creationId xmlns:a16="http://schemas.microsoft.com/office/drawing/2014/main" id="{50E12CF8-740B-6CD5-5762-2B43620C605E}"/>
              </a:ext>
            </a:extLst>
          </p:cNvPr>
          <p:cNvSpPr txBox="1"/>
          <p:nvPr/>
        </p:nvSpPr>
        <p:spPr>
          <a:xfrm>
            <a:off x="5453020" y="3134117"/>
            <a:ext cx="367408" cy="369332"/>
          </a:xfrm>
          <a:prstGeom prst="rect">
            <a:avLst/>
          </a:prstGeom>
          <a:noFill/>
        </p:spPr>
        <p:txBody>
          <a:bodyPr wrap="none" rtlCol="0">
            <a:spAutoFit/>
          </a:bodyPr>
          <a:lstStyle/>
          <a:p>
            <a:r>
              <a:rPr lang="en-US" altLang="zh-CN" dirty="0"/>
              <a:t>v</a:t>
            </a:r>
            <a:r>
              <a:rPr lang="en-US" altLang="zh-CN" baseline="-25000" dirty="0"/>
              <a:t>4</a:t>
            </a:r>
            <a:endParaRPr lang="zh-CN" altLang="en-US" baseline="-25000" dirty="0"/>
          </a:p>
        </p:txBody>
      </p:sp>
      <p:sp>
        <p:nvSpPr>
          <p:cNvPr id="31" name="文本框 30">
            <a:extLst>
              <a:ext uri="{FF2B5EF4-FFF2-40B4-BE49-F238E27FC236}">
                <a16:creationId xmlns:a16="http://schemas.microsoft.com/office/drawing/2014/main" id="{826807E9-6B45-C382-3B38-94D2B02CB3B3}"/>
              </a:ext>
            </a:extLst>
          </p:cNvPr>
          <p:cNvSpPr txBox="1"/>
          <p:nvPr/>
        </p:nvSpPr>
        <p:spPr>
          <a:xfrm>
            <a:off x="6385703" y="3134117"/>
            <a:ext cx="367408" cy="369332"/>
          </a:xfrm>
          <a:prstGeom prst="rect">
            <a:avLst/>
          </a:prstGeom>
          <a:noFill/>
        </p:spPr>
        <p:txBody>
          <a:bodyPr wrap="none" rtlCol="0">
            <a:spAutoFit/>
          </a:bodyPr>
          <a:lstStyle/>
          <a:p>
            <a:r>
              <a:rPr lang="en-US" altLang="zh-CN" dirty="0"/>
              <a:t>v</a:t>
            </a:r>
            <a:r>
              <a:rPr lang="en-US" altLang="zh-CN" baseline="-25000" dirty="0"/>
              <a:t>5</a:t>
            </a:r>
            <a:endParaRPr lang="zh-CN" altLang="en-US" baseline="-25000" dirty="0"/>
          </a:p>
        </p:txBody>
      </p:sp>
    </p:spTree>
    <p:extLst>
      <p:ext uri="{BB962C8B-B14F-4D97-AF65-F5344CB8AC3E}">
        <p14:creationId xmlns:p14="http://schemas.microsoft.com/office/powerpoint/2010/main" val="294559402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mc:AlternateContent xmlns:mc="http://schemas.openxmlformats.org/markup-compatibility/2006">
        <mc:Choice xmlns:a14="http://schemas.microsoft.com/office/drawing/2010/main" Requires="a14">
          <p:sp>
            <p:nvSpPr>
              <p:cNvPr id="10" name="矩形 9">
                <a:extLst>
                  <a:ext uri="{FF2B5EF4-FFF2-40B4-BE49-F238E27FC236}">
                    <a16:creationId xmlns:a16="http://schemas.microsoft.com/office/drawing/2014/main" id="{851C8921-EF57-046C-F6DF-057945BF843C}"/>
                  </a:ext>
                </a:extLst>
              </p:cNvPr>
              <p:cNvSpPr/>
              <p:nvPr/>
            </p:nvSpPr>
            <p:spPr>
              <a:xfrm>
                <a:off x="3275856" y="771550"/>
                <a:ext cx="1080120"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Top Hash</a:t>
                </a:r>
                <a:br>
                  <a:rPr lang="en-US" altLang="zh-CN" dirty="0"/>
                </a:br>
                <a:r>
                  <a:rPr lang="en-US" altLang="zh-CN" sz="800" b="1" dirty="0">
                    <a:solidFill>
                      <a:srgbClr val="FFFF00"/>
                    </a:solidFill>
                  </a:rPr>
                  <a:t>hash</a:t>
                </a:r>
                <a14:m>
                  <m:oMath xmlns:m="http://schemas.openxmlformats.org/officeDocument/2006/math">
                    <m:d>
                      <m:dPr>
                        <m:ctrlPr>
                          <a:rPr lang="en-US" altLang="zh-CN" sz="800" b="1" i="1" smtClean="0">
                            <a:solidFill>
                              <a:srgbClr val="FFFF00"/>
                            </a:solidFill>
                            <a:latin typeface="Cambria Math" panose="02040503050406030204" pitchFamily="18" charset="0"/>
                          </a:rPr>
                        </m:ctrlPr>
                      </m:dPr>
                      <m:e>
                        <m:m>
                          <m:mPr>
                            <m:mcs>
                              <m:mc>
                                <m:mcPr>
                                  <m:count m:val="2"/>
                                  <m:mcJc m:val="center"/>
                                </m:mcPr>
                              </m:mc>
                            </m:mcs>
                            <m:ctrlPr>
                              <a:rPr lang="en-US" altLang="zh-CN" sz="800" b="1" i="1" smtClean="0">
                                <a:solidFill>
                                  <a:srgbClr val="FFFF00"/>
                                </a:solidFill>
                                <a:latin typeface="Cambria Math" panose="02040503050406030204" pitchFamily="18" charset="0"/>
                              </a:rPr>
                            </m:ctrlPr>
                          </m:mPr>
                          <m:mr>
                            <m:e>
                              <m:r>
                                <m:rPr>
                                  <m:brk m:alnAt="7"/>
                                </m:rPr>
                                <a:rPr lang="en-US" altLang="zh-CN" sz="800" b="1" i="1" smtClean="0">
                                  <a:solidFill>
                                    <a:srgbClr val="FFFF00"/>
                                  </a:solidFill>
                                  <a:latin typeface="Cambria Math" panose="02040503050406030204" pitchFamily="18" charset="0"/>
                                </a:rPr>
                                <m:t>𝑯</m:t>
                              </m:r>
                              <m:r>
                                <a:rPr lang="en-US" altLang="zh-CN" sz="800" b="1" i="1">
                                  <a:solidFill>
                                    <a:srgbClr val="FFFF00"/>
                                  </a:solidFill>
                                  <a:latin typeface="Cambria Math" panose="02040503050406030204" pitchFamily="18" charset="0"/>
                                </a:rPr>
                                <m:t>𝒂𝒔𝒉</m:t>
                              </m:r>
                              <m:r>
                                <a:rPr lang="en-US" altLang="zh-CN" sz="800" b="1" i="1" smtClean="0">
                                  <a:solidFill>
                                    <a:srgbClr val="FFFF00"/>
                                  </a:solidFill>
                                  <a:latin typeface="Cambria Math" panose="02040503050406030204" pitchFamily="18" charset="0"/>
                                </a:rPr>
                                <m:t>𝟎</m:t>
                              </m:r>
                            </m:e>
                            <m:e/>
                          </m:mr>
                          <m:mr>
                            <m:e>
                              <m:r>
                                <a:rPr lang="en-US" altLang="zh-CN" sz="800" b="1" i="1" smtClean="0">
                                  <a:solidFill>
                                    <a:srgbClr val="FFFF00"/>
                                  </a:solidFill>
                                  <a:latin typeface="Cambria Math" panose="02040503050406030204" pitchFamily="18" charset="0"/>
                                </a:rPr>
                                <m:t>𝑯𝒂𝒔𝒉</m:t>
                              </m:r>
                              <m:r>
                                <a:rPr lang="en-US" altLang="zh-CN" sz="800" b="1" i="1" smtClean="0">
                                  <a:solidFill>
                                    <a:srgbClr val="FFFF00"/>
                                  </a:solidFill>
                                  <a:latin typeface="Cambria Math" panose="02040503050406030204" pitchFamily="18" charset="0"/>
                                </a:rPr>
                                <m:t>𝟏</m:t>
                              </m:r>
                            </m:e>
                            <m:e/>
                          </m:mr>
                        </m:m>
                      </m:e>
                    </m:d>
                  </m:oMath>
                </a14:m>
                <a:endParaRPr lang="zh-CN" altLang="en-US" sz="1100" b="1" dirty="0"/>
              </a:p>
            </p:txBody>
          </p:sp>
        </mc:Choice>
        <mc:Fallback>
          <p:sp>
            <p:nvSpPr>
              <p:cNvPr id="10" name="矩形 9">
                <a:extLst>
                  <a:ext uri="{FF2B5EF4-FFF2-40B4-BE49-F238E27FC236}">
                    <a16:creationId xmlns:a16="http://schemas.microsoft.com/office/drawing/2014/main" id="{851C8921-EF57-046C-F6DF-057945BF843C}"/>
                  </a:ext>
                </a:extLst>
              </p:cNvPr>
              <p:cNvSpPr>
                <a:spLocks noRot="1" noChangeAspect="1" noMove="1" noResize="1" noEditPoints="1" noAdjustHandles="1" noChangeArrowheads="1" noChangeShapeType="1" noTextEdit="1"/>
              </p:cNvSpPr>
              <p:nvPr/>
            </p:nvSpPr>
            <p:spPr>
              <a:xfrm>
                <a:off x="3275856" y="771550"/>
                <a:ext cx="1080120" cy="57606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a:extLst>
                  <a:ext uri="{FF2B5EF4-FFF2-40B4-BE49-F238E27FC236}">
                    <a16:creationId xmlns:a16="http://schemas.microsoft.com/office/drawing/2014/main" id="{5C05C97D-17DC-5EF2-2883-7ECE9C1DADE5}"/>
                  </a:ext>
                </a:extLst>
              </p:cNvPr>
              <p:cNvSpPr/>
              <p:nvPr/>
            </p:nvSpPr>
            <p:spPr>
              <a:xfrm>
                <a:off x="1475656" y="213970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Hash 0</a:t>
                </a:r>
                <a:br>
                  <a:rPr lang="en-US" altLang="zh-CN" dirty="0"/>
                </a:br>
                <a:r>
                  <a:rPr lang="en-US" altLang="zh-CN" sz="800" b="1" dirty="0">
                    <a:solidFill>
                      <a:srgbClr val="FFFF00"/>
                    </a:solidFill>
                  </a:rPr>
                  <a:t>hash</a:t>
                </a:r>
                <a14:m>
                  <m:oMath xmlns:m="http://schemas.openxmlformats.org/officeDocument/2006/math">
                    <m:d>
                      <m:dPr>
                        <m:ctrlPr>
                          <a:rPr lang="en-US" altLang="zh-CN" sz="800" b="1" i="1" smtClean="0">
                            <a:solidFill>
                              <a:srgbClr val="FFFF00"/>
                            </a:solidFill>
                            <a:latin typeface="Cambria Math" panose="02040503050406030204" pitchFamily="18" charset="0"/>
                          </a:rPr>
                        </m:ctrlPr>
                      </m:dPr>
                      <m:e>
                        <m:m>
                          <m:mPr>
                            <m:mcs>
                              <m:mc>
                                <m:mcPr>
                                  <m:count m:val="2"/>
                                  <m:mcJc m:val="center"/>
                                </m:mcPr>
                              </m:mc>
                            </m:mcs>
                            <m:ctrlPr>
                              <a:rPr lang="en-US" altLang="zh-CN" sz="800" b="1" i="1" smtClean="0">
                                <a:solidFill>
                                  <a:srgbClr val="FFFF00"/>
                                </a:solidFill>
                                <a:latin typeface="Cambria Math" panose="02040503050406030204" pitchFamily="18" charset="0"/>
                              </a:rPr>
                            </m:ctrlPr>
                          </m:mPr>
                          <m:mr>
                            <m:e>
                              <m:r>
                                <m:rPr>
                                  <m:brk m:alnAt="7"/>
                                </m:rPr>
                                <a:rPr lang="en-US" altLang="zh-CN" sz="800" b="1" i="1" smtClean="0">
                                  <a:solidFill>
                                    <a:srgbClr val="FFFF00"/>
                                  </a:solidFill>
                                  <a:latin typeface="Cambria Math" panose="02040503050406030204" pitchFamily="18" charset="0"/>
                                </a:rPr>
                                <m:t>𝑯</m:t>
                              </m:r>
                              <m:r>
                                <a:rPr lang="en-US" altLang="zh-CN" sz="800" b="1" i="1">
                                  <a:solidFill>
                                    <a:srgbClr val="FFFF00"/>
                                  </a:solidFill>
                                  <a:latin typeface="Cambria Math" panose="02040503050406030204" pitchFamily="18" charset="0"/>
                                </a:rPr>
                                <m:t>𝒂𝒔𝒉</m:t>
                              </m:r>
                              <m:r>
                                <a:rPr lang="en-US" altLang="zh-CN" sz="800" b="1" i="1" smtClean="0">
                                  <a:solidFill>
                                    <a:srgbClr val="FFFF00"/>
                                  </a:solidFill>
                                  <a:latin typeface="Cambria Math" panose="02040503050406030204" pitchFamily="18" charset="0"/>
                                </a:rPr>
                                <m:t>𝟎</m:t>
                              </m:r>
                              <m:r>
                                <a:rPr lang="en-US" altLang="zh-CN" sz="800" b="1" i="1" smtClean="0">
                                  <a:solidFill>
                                    <a:srgbClr val="FFFF00"/>
                                  </a:solidFill>
                                  <a:latin typeface="Cambria Math" panose="02040503050406030204" pitchFamily="18" charset="0"/>
                                </a:rPr>
                                <m:t>−</m:t>
                              </m:r>
                              <m:r>
                                <a:rPr lang="en-US" altLang="zh-CN" sz="800" b="1" i="1" smtClean="0">
                                  <a:solidFill>
                                    <a:srgbClr val="FFFF00"/>
                                  </a:solidFill>
                                  <a:latin typeface="Cambria Math" panose="02040503050406030204" pitchFamily="18" charset="0"/>
                                </a:rPr>
                                <m:t>𝟎</m:t>
                              </m:r>
                            </m:e>
                            <m:e/>
                          </m:mr>
                          <m:mr>
                            <m:e>
                              <m:r>
                                <a:rPr lang="en-US" altLang="zh-CN" sz="800" b="1" i="1" smtClean="0">
                                  <a:solidFill>
                                    <a:srgbClr val="FFFF00"/>
                                  </a:solidFill>
                                  <a:latin typeface="Cambria Math" panose="02040503050406030204" pitchFamily="18" charset="0"/>
                                </a:rPr>
                                <m:t>𝑯𝒂𝒔𝒉</m:t>
                              </m:r>
                              <m:r>
                                <a:rPr lang="en-US" altLang="zh-CN" sz="800" b="1" i="1" smtClean="0">
                                  <a:solidFill>
                                    <a:srgbClr val="FFFF00"/>
                                  </a:solidFill>
                                  <a:latin typeface="Cambria Math" panose="02040503050406030204" pitchFamily="18" charset="0"/>
                                </a:rPr>
                                <m:t>𝟎</m:t>
                              </m:r>
                              <m:r>
                                <a:rPr lang="en-US" altLang="zh-CN" sz="800" b="1" i="1" smtClean="0">
                                  <a:solidFill>
                                    <a:srgbClr val="FFFF00"/>
                                  </a:solidFill>
                                  <a:latin typeface="Cambria Math" panose="02040503050406030204" pitchFamily="18" charset="0"/>
                                </a:rPr>
                                <m:t>−</m:t>
                              </m:r>
                              <m:r>
                                <a:rPr lang="en-US" altLang="zh-CN" sz="800" b="1" i="1" smtClean="0">
                                  <a:solidFill>
                                    <a:srgbClr val="FFFF00"/>
                                  </a:solidFill>
                                  <a:latin typeface="Cambria Math" panose="02040503050406030204" pitchFamily="18" charset="0"/>
                                </a:rPr>
                                <m:t>𝟏</m:t>
                              </m:r>
                            </m:e>
                            <m:e/>
                          </m:mr>
                        </m:m>
                      </m:e>
                    </m:d>
                  </m:oMath>
                </a14:m>
                <a:endParaRPr lang="zh-CN" altLang="en-US" sz="1100" b="1" dirty="0"/>
              </a:p>
            </p:txBody>
          </p:sp>
        </mc:Choice>
        <mc:Fallback>
          <p:sp>
            <p:nvSpPr>
              <p:cNvPr id="12" name="矩形 11">
                <a:extLst>
                  <a:ext uri="{FF2B5EF4-FFF2-40B4-BE49-F238E27FC236}">
                    <a16:creationId xmlns:a16="http://schemas.microsoft.com/office/drawing/2014/main" id="{5C05C97D-17DC-5EF2-2883-7ECE9C1DADE5}"/>
                  </a:ext>
                </a:extLst>
              </p:cNvPr>
              <p:cNvSpPr>
                <a:spLocks noRot="1" noChangeAspect="1" noMove="1" noResize="1" noEditPoints="1" noAdjustHandles="1" noChangeArrowheads="1" noChangeShapeType="1" noTextEdit="1"/>
              </p:cNvSpPr>
              <p:nvPr/>
            </p:nvSpPr>
            <p:spPr>
              <a:xfrm>
                <a:off x="1475656" y="2139702"/>
                <a:ext cx="1224136" cy="57606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13">
                <a:extLst>
                  <a:ext uri="{FF2B5EF4-FFF2-40B4-BE49-F238E27FC236}">
                    <a16:creationId xmlns:a16="http://schemas.microsoft.com/office/drawing/2014/main" id="{B9709144-9065-7017-7A79-62246504A331}"/>
                  </a:ext>
                </a:extLst>
              </p:cNvPr>
              <p:cNvSpPr/>
              <p:nvPr/>
            </p:nvSpPr>
            <p:spPr>
              <a:xfrm>
                <a:off x="5004048" y="213970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Hash 1</a:t>
                </a:r>
                <a:br>
                  <a:rPr lang="en-US" altLang="zh-CN" dirty="0"/>
                </a:br>
                <a:r>
                  <a:rPr lang="en-US" altLang="zh-CN" sz="800" b="1" dirty="0">
                    <a:solidFill>
                      <a:srgbClr val="FFFF00"/>
                    </a:solidFill>
                  </a:rPr>
                  <a:t>hash</a:t>
                </a:r>
                <a14:m>
                  <m:oMath xmlns:m="http://schemas.openxmlformats.org/officeDocument/2006/math">
                    <m:d>
                      <m:dPr>
                        <m:ctrlPr>
                          <a:rPr lang="en-US" altLang="zh-CN" sz="800" b="1" i="1" smtClean="0">
                            <a:solidFill>
                              <a:srgbClr val="FFFF00"/>
                            </a:solidFill>
                            <a:latin typeface="Cambria Math" panose="02040503050406030204" pitchFamily="18" charset="0"/>
                          </a:rPr>
                        </m:ctrlPr>
                      </m:dPr>
                      <m:e>
                        <m:m>
                          <m:mPr>
                            <m:mcs>
                              <m:mc>
                                <m:mcPr>
                                  <m:count m:val="2"/>
                                  <m:mcJc m:val="center"/>
                                </m:mcPr>
                              </m:mc>
                            </m:mcs>
                            <m:ctrlPr>
                              <a:rPr lang="en-US" altLang="zh-CN" sz="800" b="1" i="1" smtClean="0">
                                <a:solidFill>
                                  <a:srgbClr val="FFFF00"/>
                                </a:solidFill>
                                <a:latin typeface="Cambria Math" panose="02040503050406030204" pitchFamily="18" charset="0"/>
                              </a:rPr>
                            </m:ctrlPr>
                          </m:mPr>
                          <m:mr>
                            <m:e>
                              <m:r>
                                <m:rPr>
                                  <m:brk m:alnAt="7"/>
                                </m:rPr>
                                <a:rPr lang="en-US" altLang="zh-CN" sz="800" b="1" i="1" smtClean="0">
                                  <a:solidFill>
                                    <a:srgbClr val="FFFF00"/>
                                  </a:solidFill>
                                  <a:latin typeface="Cambria Math" panose="02040503050406030204" pitchFamily="18" charset="0"/>
                                </a:rPr>
                                <m:t>𝑯</m:t>
                              </m:r>
                              <m:r>
                                <a:rPr lang="en-US" altLang="zh-CN" sz="800" b="1" i="1">
                                  <a:solidFill>
                                    <a:srgbClr val="FFFF00"/>
                                  </a:solidFill>
                                  <a:latin typeface="Cambria Math" panose="02040503050406030204" pitchFamily="18" charset="0"/>
                                </a:rPr>
                                <m:t>𝒂𝒔𝒉</m:t>
                              </m:r>
                              <m:r>
                                <a:rPr lang="en-US" altLang="zh-CN" sz="800" b="1" i="1" smtClean="0">
                                  <a:solidFill>
                                    <a:srgbClr val="FFFF00"/>
                                  </a:solidFill>
                                  <a:latin typeface="Cambria Math" panose="02040503050406030204" pitchFamily="18" charset="0"/>
                                </a:rPr>
                                <m:t>𝟏</m:t>
                              </m:r>
                              <m:r>
                                <a:rPr lang="en-US" altLang="zh-CN" sz="800" b="1" i="1" smtClean="0">
                                  <a:solidFill>
                                    <a:srgbClr val="FFFF00"/>
                                  </a:solidFill>
                                  <a:latin typeface="Cambria Math" panose="02040503050406030204" pitchFamily="18" charset="0"/>
                                </a:rPr>
                                <m:t>−</m:t>
                              </m:r>
                              <m:r>
                                <a:rPr lang="en-US" altLang="zh-CN" sz="800" b="1" i="1" smtClean="0">
                                  <a:solidFill>
                                    <a:srgbClr val="FFFF00"/>
                                  </a:solidFill>
                                  <a:latin typeface="Cambria Math" panose="02040503050406030204" pitchFamily="18" charset="0"/>
                                </a:rPr>
                                <m:t>𝟎</m:t>
                              </m:r>
                            </m:e>
                            <m:e/>
                          </m:mr>
                          <m:mr>
                            <m:e>
                              <m:r>
                                <a:rPr lang="en-US" altLang="zh-CN" sz="800" b="1" i="1" smtClean="0">
                                  <a:solidFill>
                                    <a:srgbClr val="FFFF00"/>
                                  </a:solidFill>
                                  <a:latin typeface="Cambria Math" panose="02040503050406030204" pitchFamily="18" charset="0"/>
                                </a:rPr>
                                <m:t>𝑯𝒂𝒔𝒉</m:t>
                              </m:r>
                              <m:r>
                                <a:rPr lang="en-US" altLang="zh-CN" sz="800" b="1" i="1" smtClean="0">
                                  <a:solidFill>
                                    <a:srgbClr val="FFFF00"/>
                                  </a:solidFill>
                                  <a:latin typeface="Cambria Math" panose="02040503050406030204" pitchFamily="18" charset="0"/>
                                </a:rPr>
                                <m:t>𝟏</m:t>
                              </m:r>
                              <m:r>
                                <a:rPr lang="en-US" altLang="zh-CN" sz="800" b="1" i="1" smtClean="0">
                                  <a:solidFill>
                                    <a:srgbClr val="FFFF00"/>
                                  </a:solidFill>
                                  <a:latin typeface="Cambria Math" panose="02040503050406030204" pitchFamily="18" charset="0"/>
                                </a:rPr>
                                <m:t>−</m:t>
                              </m:r>
                              <m:r>
                                <a:rPr lang="en-US" altLang="zh-CN" sz="800" b="1" i="1" smtClean="0">
                                  <a:solidFill>
                                    <a:srgbClr val="FFFF00"/>
                                  </a:solidFill>
                                  <a:latin typeface="Cambria Math" panose="02040503050406030204" pitchFamily="18" charset="0"/>
                                </a:rPr>
                                <m:t>𝟏</m:t>
                              </m:r>
                            </m:e>
                            <m:e/>
                          </m:mr>
                        </m:m>
                      </m:e>
                    </m:d>
                  </m:oMath>
                </a14:m>
                <a:endParaRPr lang="zh-CN" altLang="en-US" sz="1100" b="1" dirty="0"/>
              </a:p>
            </p:txBody>
          </p:sp>
        </mc:Choice>
        <mc:Fallback>
          <p:sp>
            <p:nvSpPr>
              <p:cNvPr id="14" name="矩形 13">
                <a:extLst>
                  <a:ext uri="{FF2B5EF4-FFF2-40B4-BE49-F238E27FC236}">
                    <a16:creationId xmlns:a16="http://schemas.microsoft.com/office/drawing/2014/main" id="{B9709144-9065-7017-7A79-62246504A331}"/>
                  </a:ext>
                </a:extLst>
              </p:cNvPr>
              <p:cNvSpPr>
                <a:spLocks noRot="1" noChangeAspect="1" noMove="1" noResize="1" noEditPoints="1" noAdjustHandles="1" noChangeArrowheads="1" noChangeShapeType="1" noTextEdit="1"/>
              </p:cNvSpPr>
              <p:nvPr/>
            </p:nvSpPr>
            <p:spPr>
              <a:xfrm>
                <a:off x="5004048" y="2139702"/>
                <a:ext cx="1224136" cy="576064"/>
              </a:xfrm>
              <a:prstGeom prst="rect">
                <a:avLst/>
              </a:prstGeom>
              <a:blipFill>
                <a:blip r:embed="rId5"/>
                <a:stretch>
                  <a:fillRect/>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CC957372-5CB5-C044-F11F-95FDCFDE708F}"/>
              </a:ext>
            </a:extLst>
          </p:cNvPr>
          <p:cNvSpPr/>
          <p:nvPr/>
        </p:nvSpPr>
        <p:spPr>
          <a:xfrm>
            <a:off x="2231740" y="3003798"/>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Hash </a:t>
            </a:r>
          </a:p>
          <a:p>
            <a:pPr algn="ctr"/>
            <a:r>
              <a:rPr lang="en-US" altLang="zh-CN" sz="1200" dirty="0"/>
              <a:t>0-1</a:t>
            </a:r>
            <a:br>
              <a:rPr lang="en-US" altLang="zh-CN" sz="1400" dirty="0"/>
            </a:br>
            <a:r>
              <a:rPr lang="en-US" altLang="zh-CN" sz="800" b="1" dirty="0">
                <a:solidFill>
                  <a:srgbClr val="FFFF00"/>
                </a:solidFill>
              </a:rPr>
              <a:t>hash(L2)</a:t>
            </a:r>
            <a:endParaRPr lang="zh-CN" altLang="en-US" sz="1100" b="1" dirty="0"/>
          </a:p>
        </p:txBody>
      </p:sp>
      <p:sp>
        <p:nvSpPr>
          <p:cNvPr id="17" name="矩形 16">
            <a:extLst>
              <a:ext uri="{FF2B5EF4-FFF2-40B4-BE49-F238E27FC236}">
                <a16:creationId xmlns:a16="http://schemas.microsoft.com/office/drawing/2014/main" id="{DDC8EA60-4A01-41D7-40B5-B5667326D4C2}"/>
              </a:ext>
            </a:extLst>
          </p:cNvPr>
          <p:cNvSpPr/>
          <p:nvPr/>
        </p:nvSpPr>
        <p:spPr>
          <a:xfrm>
            <a:off x="863588" y="3003798"/>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Hash </a:t>
            </a:r>
          </a:p>
          <a:p>
            <a:pPr algn="ctr"/>
            <a:r>
              <a:rPr lang="en-US" altLang="zh-CN" sz="1200" dirty="0"/>
              <a:t>0-0</a:t>
            </a:r>
            <a:br>
              <a:rPr lang="en-US" altLang="zh-CN" sz="1400" dirty="0"/>
            </a:br>
            <a:r>
              <a:rPr lang="en-US" altLang="zh-CN" sz="800" b="1" dirty="0">
                <a:solidFill>
                  <a:srgbClr val="FFFF00"/>
                </a:solidFill>
              </a:rPr>
              <a:t>hash(L1)</a:t>
            </a:r>
            <a:endParaRPr lang="zh-CN" altLang="en-US" sz="1100" b="1" dirty="0"/>
          </a:p>
        </p:txBody>
      </p:sp>
      <p:sp>
        <p:nvSpPr>
          <p:cNvPr id="18" name="矩形 17">
            <a:extLst>
              <a:ext uri="{FF2B5EF4-FFF2-40B4-BE49-F238E27FC236}">
                <a16:creationId xmlns:a16="http://schemas.microsoft.com/office/drawing/2014/main" id="{CF8C6A35-0122-7E79-2879-37D8498F55C6}"/>
              </a:ext>
            </a:extLst>
          </p:cNvPr>
          <p:cNvSpPr/>
          <p:nvPr/>
        </p:nvSpPr>
        <p:spPr>
          <a:xfrm>
            <a:off x="4347696" y="3003798"/>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Hash </a:t>
            </a:r>
          </a:p>
          <a:p>
            <a:pPr algn="ctr"/>
            <a:r>
              <a:rPr lang="en-US" altLang="zh-CN" sz="1200" dirty="0"/>
              <a:t>1-0</a:t>
            </a:r>
            <a:br>
              <a:rPr lang="en-US" altLang="zh-CN" sz="1400" dirty="0"/>
            </a:br>
            <a:r>
              <a:rPr lang="en-US" altLang="zh-CN" sz="800" b="1" dirty="0">
                <a:solidFill>
                  <a:srgbClr val="FFFF00"/>
                </a:solidFill>
              </a:rPr>
              <a:t>hash(L3)</a:t>
            </a:r>
            <a:endParaRPr lang="zh-CN" altLang="en-US" sz="1100" b="1" dirty="0"/>
          </a:p>
        </p:txBody>
      </p:sp>
      <p:sp>
        <p:nvSpPr>
          <p:cNvPr id="21" name="矩形 20">
            <a:extLst>
              <a:ext uri="{FF2B5EF4-FFF2-40B4-BE49-F238E27FC236}">
                <a16:creationId xmlns:a16="http://schemas.microsoft.com/office/drawing/2014/main" id="{86818106-81F8-2116-7430-2E2C844EA807}"/>
              </a:ext>
            </a:extLst>
          </p:cNvPr>
          <p:cNvSpPr/>
          <p:nvPr/>
        </p:nvSpPr>
        <p:spPr>
          <a:xfrm>
            <a:off x="5748949" y="3003798"/>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Hash </a:t>
            </a:r>
          </a:p>
          <a:p>
            <a:pPr algn="ctr"/>
            <a:r>
              <a:rPr lang="en-US" altLang="zh-CN" sz="1200" dirty="0"/>
              <a:t>1-1</a:t>
            </a:r>
            <a:br>
              <a:rPr lang="en-US" altLang="zh-CN" sz="1400" dirty="0"/>
            </a:br>
            <a:r>
              <a:rPr lang="en-US" altLang="zh-CN" sz="800" b="1" dirty="0">
                <a:solidFill>
                  <a:srgbClr val="FFFF00"/>
                </a:solidFill>
              </a:rPr>
              <a:t>hash(L4)</a:t>
            </a:r>
            <a:endParaRPr lang="zh-CN" altLang="en-US" sz="1100" b="1" dirty="0"/>
          </a:p>
        </p:txBody>
      </p:sp>
      <p:sp>
        <p:nvSpPr>
          <p:cNvPr id="22" name="矩形 21">
            <a:extLst>
              <a:ext uri="{FF2B5EF4-FFF2-40B4-BE49-F238E27FC236}">
                <a16:creationId xmlns:a16="http://schemas.microsoft.com/office/drawing/2014/main" id="{B85549D7-E167-8B8D-1313-AC148AF6B534}"/>
              </a:ext>
            </a:extLst>
          </p:cNvPr>
          <p:cNvSpPr/>
          <p:nvPr/>
        </p:nvSpPr>
        <p:spPr>
          <a:xfrm>
            <a:off x="971600" y="3947882"/>
            <a:ext cx="1008112" cy="288032"/>
          </a:xfrm>
          <a:prstGeom prst="rect">
            <a:avLst/>
          </a:prstGeom>
          <a:solidFill>
            <a:srgbClr val="FFFF00"/>
          </a:solidFill>
          <a:ln>
            <a:solidFill>
              <a:srgbClr val="1889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L1</a:t>
            </a:r>
            <a:endParaRPr lang="zh-CN" altLang="en-US" dirty="0">
              <a:solidFill>
                <a:schemeClr val="tx1"/>
              </a:solidFill>
            </a:endParaRPr>
          </a:p>
        </p:txBody>
      </p:sp>
      <p:sp>
        <p:nvSpPr>
          <p:cNvPr id="24" name="矩形 23">
            <a:extLst>
              <a:ext uri="{FF2B5EF4-FFF2-40B4-BE49-F238E27FC236}">
                <a16:creationId xmlns:a16="http://schemas.microsoft.com/office/drawing/2014/main" id="{1DFEE4AC-0202-A93B-9DD9-8CCF6316AD76}"/>
              </a:ext>
            </a:extLst>
          </p:cNvPr>
          <p:cNvSpPr/>
          <p:nvPr/>
        </p:nvSpPr>
        <p:spPr>
          <a:xfrm>
            <a:off x="2339752" y="3939901"/>
            <a:ext cx="1008112" cy="288032"/>
          </a:xfrm>
          <a:prstGeom prst="rect">
            <a:avLst/>
          </a:prstGeom>
          <a:solidFill>
            <a:srgbClr val="FFFF00"/>
          </a:solidFill>
          <a:ln>
            <a:solidFill>
              <a:srgbClr val="1889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L2</a:t>
            </a:r>
            <a:endParaRPr lang="zh-CN" altLang="en-US" dirty="0">
              <a:solidFill>
                <a:schemeClr val="tx1"/>
              </a:solidFill>
            </a:endParaRPr>
          </a:p>
        </p:txBody>
      </p:sp>
      <p:sp>
        <p:nvSpPr>
          <p:cNvPr id="25" name="矩形 24">
            <a:extLst>
              <a:ext uri="{FF2B5EF4-FFF2-40B4-BE49-F238E27FC236}">
                <a16:creationId xmlns:a16="http://schemas.microsoft.com/office/drawing/2014/main" id="{16D6DCED-6A5B-28FB-3534-17FA144312C6}"/>
              </a:ext>
            </a:extLst>
          </p:cNvPr>
          <p:cNvSpPr/>
          <p:nvPr/>
        </p:nvSpPr>
        <p:spPr>
          <a:xfrm>
            <a:off x="4453668" y="3939901"/>
            <a:ext cx="1008112" cy="288032"/>
          </a:xfrm>
          <a:prstGeom prst="rect">
            <a:avLst/>
          </a:prstGeom>
          <a:solidFill>
            <a:srgbClr val="FFFF00"/>
          </a:solidFill>
          <a:ln>
            <a:solidFill>
              <a:srgbClr val="1889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L3</a:t>
            </a:r>
            <a:endParaRPr lang="zh-CN" altLang="en-US" dirty="0">
              <a:solidFill>
                <a:schemeClr val="tx1"/>
              </a:solidFill>
            </a:endParaRPr>
          </a:p>
        </p:txBody>
      </p:sp>
      <p:sp>
        <p:nvSpPr>
          <p:cNvPr id="32" name="矩形 31">
            <a:extLst>
              <a:ext uri="{FF2B5EF4-FFF2-40B4-BE49-F238E27FC236}">
                <a16:creationId xmlns:a16="http://schemas.microsoft.com/office/drawing/2014/main" id="{D19A00E5-38B5-A3FA-90AA-1D7D77C4504B}"/>
              </a:ext>
            </a:extLst>
          </p:cNvPr>
          <p:cNvSpPr/>
          <p:nvPr/>
        </p:nvSpPr>
        <p:spPr>
          <a:xfrm>
            <a:off x="5856961" y="3939901"/>
            <a:ext cx="1008112" cy="288032"/>
          </a:xfrm>
          <a:prstGeom prst="rect">
            <a:avLst/>
          </a:prstGeom>
          <a:solidFill>
            <a:srgbClr val="FFFF00"/>
          </a:solidFill>
          <a:ln>
            <a:solidFill>
              <a:srgbClr val="1889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L4</a:t>
            </a:r>
            <a:endParaRPr lang="zh-CN" altLang="en-US" dirty="0">
              <a:solidFill>
                <a:schemeClr val="tx1"/>
              </a:solidFill>
            </a:endParaRPr>
          </a:p>
        </p:txBody>
      </p:sp>
      <p:sp>
        <p:nvSpPr>
          <p:cNvPr id="33" name="矩形 32">
            <a:extLst>
              <a:ext uri="{FF2B5EF4-FFF2-40B4-BE49-F238E27FC236}">
                <a16:creationId xmlns:a16="http://schemas.microsoft.com/office/drawing/2014/main" id="{79910394-B1FA-B220-CDFE-065B2BFD8BD7}"/>
              </a:ext>
            </a:extLst>
          </p:cNvPr>
          <p:cNvSpPr/>
          <p:nvPr/>
        </p:nvSpPr>
        <p:spPr>
          <a:xfrm>
            <a:off x="611560" y="3723878"/>
            <a:ext cx="6908688" cy="720080"/>
          </a:xfrm>
          <a:prstGeom prst="rect">
            <a:avLst/>
          </a:prstGeom>
          <a:noFill/>
          <a:ln>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FBBA9753-5DBF-768D-DB08-4253882872D9}"/>
              </a:ext>
            </a:extLst>
          </p:cNvPr>
          <p:cNvSpPr txBox="1"/>
          <p:nvPr/>
        </p:nvSpPr>
        <p:spPr>
          <a:xfrm>
            <a:off x="6827461" y="3853085"/>
            <a:ext cx="580800" cy="461665"/>
          </a:xfrm>
          <a:prstGeom prst="rect">
            <a:avLst/>
          </a:prstGeom>
          <a:noFill/>
        </p:spPr>
        <p:txBody>
          <a:bodyPr wrap="none" rtlCol="0">
            <a:spAutoFit/>
          </a:bodyPr>
          <a:lstStyle/>
          <a:p>
            <a:r>
              <a:rPr lang="en-US" altLang="zh-CN" sz="1200" dirty="0"/>
              <a:t>Data</a:t>
            </a:r>
          </a:p>
          <a:p>
            <a:r>
              <a:rPr lang="en-US" altLang="zh-CN" sz="1200" dirty="0"/>
              <a:t>Blocks</a:t>
            </a:r>
            <a:endParaRPr lang="zh-CN" altLang="en-US" sz="1200" dirty="0"/>
          </a:p>
        </p:txBody>
      </p:sp>
      <p:cxnSp>
        <p:nvCxnSpPr>
          <p:cNvPr id="36" name="直接箭头连接符 35">
            <a:extLst>
              <a:ext uri="{FF2B5EF4-FFF2-40B4-BE49-F238E27FC236}">
                <a16:creationId xmlns:a16="http://schemas.microsoft.com/office/drawing/2014/main" id="{FFAB3BFC-4155-CACD-82A7-E34E7C5C80A4}"/>
              </a:ext>
            </a:extLst>
          </p:cNvPr>
          <p:cNvCxnSpPr>
            <a:cxnSpLocks/>
            <a:stCxn id="12" idx="0"/>
            <a:endCxn id="10" idx="2"/>
          </p:cNvCxnSpPr>
          <p:nvPr/>
        </p:nvCxnSpPr>
        <p:spPr>
          <a:xfrm flipV="1">
            <a:off x="2087724" y="1347614"/>
            <a:ext cx="1728192" cy="792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a:extLst>
              <a:ext uri="{FF2B5EF4-FFF2-40B4-BE49-F238E27FC236}">
                <a16:creationId xmlns:a16="http://schemas.microsoft.com/office/drawing/2014/main" id="{55A5A51C-7DC2-E9B1-37AA-D11A570CED1F}"/>
              </a:ext>
            </a:extLst>
          </p:cNvPr>
          <p:cNvCxnSpPr>
            <a:cxnSpLocks/>
            <a:stCxn id="14" idx="0"/>
          </p:cNvCxnSpPr>
          <p:nvPr/>
        </p:nvCxnSpPr>
        <p:spPr>
          <a:xfrm flipH="1" flipV="1">
            <a:off x="3815916" y="1362178"/>
            <a:ext cx="1800200" cy="777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a:extLst>
              <a:ext uri="{FF2B5EF4-FFF2-40B4-BE49-F238E27FC236}">
                <a16:creationId xmlns:a16="http://schemas.microsoft.com/office/drawing/2014/main" id="{92992ABB-39F7-0087-2F9B-4063A86B5CB8}"/>
              </a:ext>
            </a:extLst>
          </p:cNvPr>
          <p:cNvCxnSpPr>
            <a:cxnSpLocks/>
            <a:stCxn id="21" idx="0"/>
            <a:endCxn id="14" idx="2"/>
          </p:cNvCxnSpPr>
          <p:nvPr/>
        </p:nvCxnSpPr>
        <p:spPr>
          <a:xfrm flipH="1" flipV="1">
            <a:off x="5616116" y="2715766"/>
            <a:ext cx="744901" cy="2880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E8392B3D-D63A-3AA8-A073-978C6FE2BD0F}"/>
              </a:ext>
            </a:extLst>
          </p:cNvPr>
          <p:cNvCxnSpPr>
            <a:cxnSpLocks/>
            <a:stCxn id="18" idx="0"/>
          </p:cNvCxnSpPr>
          <p:nvPr/>
        </p:nvCxnSpPr>
        <p:spPr>
          <a:xfrm flipV="1">
            <a:off x="4959764" y="2715766"/>
            <a:ext cx="656352" cy="2880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a:extLst>
              <a:ext uri="{FF2B5EF4-FFF2-40B4-BE49-F238E27FC236}">
                <a16:creationId xmlns:a16="http://schemas.microsoft.com/office/drawing/2014/main" id="{E1F8D118-6D65-70F2-6B4E-1AE77B67B5F4}"/>
              </a:ext>
            </a:extLst>
          </p:cNvPr>
          <p:cNvCxnSpPr>
            <a:cxnSpLocks/>
            <a:stCxn id="15" idx="0"/>
            <a:endCxn id="12" idx="2"/>
          </p:cNvCxnSpPr>
          <p:nvPr/>
        </p:nvCxnSpPr>
        <p:spPr>
          <a:xfrm flipH="1" flipV="1">
            <a:off x="2087724" y="2715766"/>
            <a:ext cx="756084" cy="2880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a:extLst>
              <a:ext uri="{FF2B5EF4-FFF2-40B4-BE49-F238E27FC236}">
                <a16:creationId xmlns:a16="http://schemas.microsoft.com/office/drawing/2014/main" id="{691C126B-EC49-A731-7863-768D34C2A8A3}"/>
              </a:ext>
            </a:extLst>
          </p:cNvPr>
          <p:cNvCxnSpPr>
            <a:cxnSpLocks/>
            <a:stCxn id="17" idx="0"/>
            <a:endCxn id="12" idx="2"/>
          </p:cNvCxnSpPr>
          <p:nvPr/>
        </p:nvCxnSpPr>
        <p:spPr>
          <a:xfrm flipV="1">
            <a:off x="1475656" y="2715766"/>
            <a:ext cx="612068" cy="2880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直接箭头连接符 52">
            <a:extLst>
              <a:ext uri="{FF2B5EF4-FFF2-40B4-BE49-F238E27FC236}">
                <a16:creationId xmlns:a16="http://schemas.microsoft.com/office/drawing/2014/main" id="{50270B4B-DDD6-B912-EE23-0E4988612199}"/>
              </a:ext>
            </a:extLst>
          </p:cNvPr>
          <p:cNvCxnSpPr>
            <a:cxnSpLocks/>
            <a:stCxn id="22" idx="0"/>
            <a:endCxn id="17" idx="2"/>
          </p:cNvCxnSpPr>
          <p:nvPr/>
        </p:nvCxnSpPr>
        <p:spPr>
          <a:xfrm flipV="1">
            <a:off x="1475656" y="3579862"/>
            <a:ext cx="0" cy="3680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直接箭头连接符 55">
            <a:extLst>
              <a:ext uri="{FF2B5EF4-FFF2-40B4-BE49-F238E27FC236}">
                <a16:creationId xmlns:a16="http://schemas.microsoft.com/office/drawing/2014/main" id="{E986891A-BCFA-9966-3200-6A74B99209E1}"/>
              </a:ext>
            </a:extLst>
          </p:cNvPr>
          <p:cNvCxnSpPr>
            <a:cxnSpLocks/>
            <a:stCxn id="24" idx="0"/>
            <a:endCxn id="15" idx="2"/>
          </p:cNvCxnSpPr>
          <p:nvPr/>
        </p:nvCxnSpPr>
        <p:spPr>
          <a:xfrm flipV="1">
            <a:off x="2843808" y="3579862"/>
            <a:ext cx="0" cy="3600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直接箭头连接符 60">
            <a:extLst>
              <a:ext uri="{FF2B5EF4-FFF2-40B4-BE49-F238E27FC236}">
                <a16:creationId xmlns:a16="http://schemas.microsoft.com/office/drawing/2014/main" id="{78D906A2-94F7-9C5B-2FA1-C17B19DC0A3B}"/>
              </a:ext>
            </a:extLst>
          </p:cNvPr>
          <p:cNvCxnSpPr>
            <a:cxnSpLocks/>
            <a:stCxn id="25" idx="0"/>
            <a:endCxn id="18" idx="2"/>
          </p:cNvCxnSpPr>
          <p:nvPr/>
        </p:nvCxnSpPr>
        <p:spPr>
          <a:xfrm flipV="1">
            <a:off x="4957724" y="3579862"/>
            <a:ext cx="2040" cy="3600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直接箭头连接符 64">
            <a:extLst>
              <a:ext uri="{FF2B5EF4-FFF2-40B4-BE49-F238E27FC236}">
                <a16:creationId xmlns:a16="http://schemas.microsoft.com/office/drawing/2014/main" id="{4DE8E5A8-FFCE-FB3C-D17E-FD0C3846E8D3}"/>
              </a:ext>
            </a:extLst>
          </p:cNvPr>
          <p:cNvCxnSpPr>
            <a:cxnSpLocks/>
            <a:stCxn id="32" idx="0"/>
            <a:endCxn id="21" idx="2"/>
          </p:cNvCxnSpPr>
          <p:nvPr/>
        </p:nvCxnSpPr>
        <p:spPr>
          <a:xfrm flipV="1">
            <a:off x="6361017" y="3579862"/>
            <a:ext cx="0" cy="3600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982202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22149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入侵检测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入侵检测是发现未授权行为或破坏网络正常活动的一种方法；</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集中在监测节点的异常和辨别恶意节点方面；</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基于节点的信誉度评估机制是一个有效入侵检测方法。</a:t>
            </a: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spTree>
    <p:extLst>
      <p:ext uri="{BB962C8B-B14F-4D97-AF65-F5344CB8AC3E}">
        <p14:creationId xmlns:p14="http://schemas.microsoft.com/office/powerpoint/2010/main" val="114933383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257500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安全成簇</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建立基于“簇”的层次式拓扑结构；</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节点在成簇阶段对非正常节点进行识别和剔除，减少了数据通信量，节省了能量，有效延长网络的生存时间。</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安全成簇算法（</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Secure Clustering Algorithm</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SCA</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spTree>
    <p:extLst>
      <p:ext uri="{BB962C8B-B14F-4D97-AF65-F5344CB8AC3E}">
        <p14:creationId xmlns:p14="http://schemas.microsoft.com/office/powerpoint/2010/main" val="104934697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344908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安全数据融合</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数据融合，是通过收集来自一定区域的数据，将其总结提炼成一个简要的报告，从而减少后续的数据通信量。</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融合</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承诺</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证实的安全数据融合方案：</a:t>
            </a:r>
          </a:p>
          <a:p>
            <a:pPr marL="742890" lvl="1"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第一阶段，完成数据融合；</a:t>
            </a:r>
          </a:p>
          <a:p>
            <a:pPr marL="742890" lvl="1"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第二阶段，融合节点对融合数据做出承诺；</a:t>
            </a:r>
          </a:p>
          <a:p>
            <a:pPr marL="742890" lvl="1"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第三阶段，证实结果的正确性。</a:t>
            </a: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spTree>
    <p:extLst>
      <p:ext uri="{BB962C8B-B14F-4D97-AF65-F5344CB8AC3E}">
        <p14:creationId xmlns:p14="http://schemas.microsoft.com/office/powerpoint/2010/main" val="14444488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79512" y="810154"/>
            <a:ext cx="8208912" cy="376609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容侵容错</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容侵是指在网络存在恶意入侵情况下，通过一定的措施确保网络仍然能够正常的运行。</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无线传感器网络容侵框架包括：</a:t>
            </a:r>
          </a:p>
          <a:p>
            <a:pPr marL="742890" lvl="1"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判定恶意节点；</a:t>
            </a:r>
          </a:p>
          <a:p>
            <a:pPr marL="742890" lvl="1"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发现恶意节点后启动容侵机制；</a:t>
            </a:r>
          </a:p>
          <a:p>
            <a:pPr marL="742890" lvl="1"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通过节点间协作对恶意节点进行处理。</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容错性是指在故障存在的情况下系统不失效，仍然能够正常工作的特性。</a:t>
            </a: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WSN</a:t>
            </a:r>
            <a:r>
              <a:rPr lang="zh-CN" altLang="en-US" sz="2000" b="1" dirty="0">
                <a:solidFill>
                  <a:schemeClr val="tx1">
                    <a:lumMod val="50000"/>
                    <a:lumOff val="50000"/>
                  </a:schemeClr>
                </a:solidFill>
                <a:latin typeface="微软雅黑" pitchFamily="34" charset="-122"/>
                <a:ea typeface="微软雅黑" pitchFamily="34" charset="-122"/>
              </a:rPr>
              <a:t>安全防御方法</a:t>
            </a:r>
          </a:p>
        </p:txBody>
      </p:sp>
    </p:spTree>
    <p:extLst>
      <p:ext uri="{BB962C8B-B14F-4D97-AF65-F5344CB8AC3E}">
        <p14:creationId xmlns:p14="http://schemas.microsoft.com/office/powerpoint/2010/main" val="215820512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850505"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第三部分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en-US" altLang="zh-CN" sz="2800" b="1" dirty="0">
                <a:latin typeface="微软雅黑" panose="020B0503020204020204" pitchFamily="34" charset="-122"/>
                <a:ea typeface="微软雅黑" panose="020B0503020204020204" pitchFamily="34" charset="-122"/>
              </a:rPr>
              <a:t>RFID</a:t>
            </a:r>
            <a:r>
              <a:rPr lang="zh-CN" altLang="en-US" sz="2800" b="1" dirty="0">
                <a:latin typeface="微软雅黑" panose="020B0503020204020204" pitchFamily="34" charset="-122"/>
                <a:ea typeface="微软雅黑" panose="020B0503020204020204" pitchFamily="34" charset="-122"/>
              </a:rPr>
              <a:t>安全</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03</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03</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38875516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33097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射频识别技术（</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Radio Frequency Identification</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RFID</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是自动识别技术的一种，通过无线射频方式进行非接触双向数据通信，利用无线射频方式对记录媒体（电子标签或射频卡）进行读写，从而达到识别目标和数据交换的目的。</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射频识别技术通过无线电波不接触快速信息交换和存储技术，通过无线通信结合数据访问技术，然后连接数据库系统，加以实现非接触式的双向通信，从而达到了识别的目的，用于数据交换，串联起一个极其复杂的系统</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endParaRPr lang="zh-CN" altLang="en-US" sz="2000" b="1" dirty="0">
              <a:solidFill>
                <a:schemeClr val="tx1">
                  <a:lumMod val="50000"/>
                  <a:lumOff val="50000"/>
                </a:schemeClr>
              </a:solidFill>
              <a:latin typeface="微软雅黑" pitchFamily="34" charset="-122"/>
              <a:ea typeface="微软雅黑" pitchFamily="34" charset="-122"/>
            </a:endParaRPr>
          </a:p>
        </p:txBody>
      </p:sp>
      <p:pic>
        <p:nvPicPr>
          <p:cNvPr id="4" name="图片 4">
            <a:extLst>
              <a:ext uri="{FF2B5EF4-FFF2-40B4-BE49-F238E27FC236}">
                <a16:creationId xmlns:a16="http://schemas.microsoft.com/office/drawing/2014/main" id="{79BF50AA-2076-4232-A0F9-4F93847288B2}"/>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667" b="90000" l="9921" r="89881">
                        <a14:foregroundMark x1="19643" y1="37333" x2="19643" y2="37333"/>
                        <a14:foregroundMark x1="19048" y1="42000" x2="19048" y2="42000"/>
                        <a14:foregroundMark x1="19048" y1="42000" x2="19048" y2="42000"/>
                        <a14:foregroundMark x1="19048" y1="42000" x2="19048" y2="42000"/>
                        <a14:foregroundMark x1="49405" y1="9667" x2="49405" y2="9667"/>
                        <a14:foregroundMark x1="49603" y1="12333" x2="49603" y2="12333"/>
                        <a14:foregroundMark x1="51190" y1="23000" x2="51190" y2="23000"/>
                        <a14:foregroundMark x1="51786" y1="35333" x2="51786" y2="35333"/>
                        <a14:foregroundMark x1="48214" y1="45000" x2="48214" y2="45000"/>
                        <a14:foregroundMark x1="38492" y1="61667" x2="38492" y2="61667"/>
                        <a14:foregroundMark x1="38294" y1="61333" x2="38294" y2="61333"/>
                        <a14:foregroundMark x1="45635" y1="62667" x2="45635" y2="62667"/>
                        <a14:foregroundMark x1="51389" y1="62667" x2="51389" y2="62667"/>
                        <a14:foregroundMark x1="54167" y1="64333" x2="54167" y2="64333"/>
                        <a14:foregroundMark x1="31746" y1="38000" x2="31746" y2="38000"/>
                        <a14:foregroundMark x1="33532" y1="38333" x2="33532" y2="38333"/>
                        <a14:foregroundMark x1="34921" y1="38333" x2="34921" y2="38333"/>
                        <a14:foregroundMark x1="29960" y1="38333" x2="29960" y2="38333"/>
                        <a14:foregroundMark x1="28571" y1="38333" x2="28571" y2="38333"/>
                        <a14:foregroundMark x1="27579" y1="38333" x2="27579" y2="38333"/>
                        <a14:foregroundMark x1="26587" y1="38333" x2="26587" y2="38333"/>
                        <a14:foregroundMark x1="25794" y1="38667" x2="25794" y2="38667"/>
                        <a14:foregroundMark x1="25397" y1="40333" x2="25397" y2="40333"/>
                        <a14:foregroundMark x1="25397" y1="74333" x2="25397" y2="74333"/>
                        <a14:foregroundMark x1="25992" y1="75333" x2="25992" y2="75333"/>
                        <a14:foregroundMark x1="28770" y1="75333" x2="28770" y2="75333"/>
                        <a14:foregroundMark x1="35317" y1="75333" x2="35317" y2="75333"/>
                        <a14:foregroundMark x1="45635" y1="75333" x2="45635" y2="75333"/>
                        <a14:foregroundMark x1="71627" y1="75333" x2="71627" y2="75333"/>
                        <a14:foregroundMark x1="70437" y1="75333" x2="70437" y2="75333"/>
                        <a14:foregroundMark x1="66071" y1="75333" x2="66071" y2="75333"/>
                        <a14:foregroundMark x1="58532" y1="75333" x2="58532" y2="75333"/>
                        <a14:foregroundMark x1="71627" y1="42333" x2="71627" y2="42333"/>
                        <a14:foregroundMark x1="71825" y1="45333" x2="71825" y2="45333"/>
                        <a14:foregroundMark x1="71825" y1="50667" x2="71825" y2="50667"/>
                        <a14:foregroundMark x1="71825" y1="67000" x2="71825" y2="67000"/>
                        <a14:foregroundMark x1="71627" y1="55333" x2="71627" y2="55333"/>
                        <a14:foregroundMark x1="71825" y1="39000" x2="71825" y2="39000"/>
                        <a14:foregroundMark x1="61905" y1="38333" x2="61905" y2="38333"/>
                        <a14:foregroundMark x1="63889" y1="38333" x2="63889" y2="38333"/>
                        <a14:foregroundMark x1="31746" y1="36000" x2="31746" y2="36000"/>
                        <a14:foregroundMark x1="24206" y1="36000" x2="24206" y2="36000"/>
                        <a14:foregroundMark x1="25198" y1="36000" x2="25198" y2="36000"/>
                        <a14:foregroundMark x1="27976" y1="36000" x2="27976" y2="36000"/>
                        <a14:foregroundMark x1="24206" y1="76000" x2="24206" y2="76000"/>
                        <a14:foregroundMark x1="24008" y1="69000" x2="24008" y2="69000"/>
                        <a14:foregroundMark x1="23810" y1="77333" x2="23810" y2="77333"/>
                        <a14:foregroundMark x1="73214" y1="77667" x2="73214" y2="77667"/>
                        <a14:foregroundMark x1="73214" y1="36000" x2="73214" y2="36000"/>
                        <a14:foregroundMark x1="72421" y1="36000" x2="72421" y2="36000"/>
                        <a14:foregroundMark x1="66865" y1="36000" x2="66865" y2="36000"/>
                        <a14:foregroundMark x1="65873" y1="36000" x2="65873" y2="36000"/>
                        <a14:foregroundMark x1="68254" y1="36667" x2="68254" y2="36667"/>
                        <a14:foregroundMark x1="68849" y1="36000" x2="68849" y2="36000"/>
                        <a14:foregroundMark x1="72421" y1="36000" x2="72421" y2="36000"/>
                        <a14:foregroundMark x1="70040" y1="77667" x2="70040" y2="77667"/>
                        <a14:foregroundMark x1="47817" y1="77333" x2="47817" y2="77333"/>
                        <a14:foregroundMark x1="49206" y1="77333" x2="49206" y2="77333"/>
                        <a14:foregroundMark x1="50000" y1="77667" x2="50000" y2="77667"/>
                        <a14:foregroundMark x1="51389" y1="77667" x2="51389" y2="77667"/>
                        <a14:foregroundMark x1="53770" y1="77667" x2="53770" y2="77667"/>
                        <a14:foregroundMark x1="56349" y1="77667" x2="56349" y2="77667"/>
                        <a14:foregroundMark x1="25992" y1="77667" x2="25992" y2="77667"/>
                        <a14:foregroundMark x1="30159" y1="77667" x2="30159" y2="77667"/>
                        <a14:foregroundMark x1="38294" y1="77667" x2="38294" y2="77667"/>
                      </a14:backgroundRemoval>
                    </a14:imgEffect>
                  </a14:imgLayer>
                </a14:imgProps>
              </a:ext>
              <a:ext uri="{28A0092B-C50C-407E-A947-70E740481C1C}">
                <a14:useLocalDpi xmlns:a14="http://schemas.microsoft.com/office/drawing/2010/main" val="0"/>
              </a:ext>
            </a:extLst>
          </a:blip>
          <a:srcRect/>
          <a:stretch>
            <a:fillRect/>
          </a:stretch>
        </p:blipFill>
        <p:spPr bwMode="auto">
          <a:xfrm>
            <a:off x="3379517" y="3723878"/>
            <a:ext cx="2384965" cy="1419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513013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应用领域</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endParaRPr lang="zh-CN" altLang="en-US" sz="2000" b="1" dirty="0">
              <a:solidFill>
                <a:schemeClr val="tx1">
                  <a:lumMod val="50000"/>
                  <a:lumOff val="50000"/>
                </a:schemeClr>
              </a:solidFill>
              <a:latin typeface="微软雅黑" pitchFamily="34" charset="-122"/>
              <a:ea typeface="微软雅黑" pitchFamily="34" charset="-122"/>
            </a:endParaRPr>
          </a:p>
        </p:txBody>
      </p:sp>
      <p:grpSp>
        <p:nvGrpSpPr>
          <p:cNvPr id="2" name="组合 1">
            <a:extLst>
              <a:ext uri="{FF2B5EF4-FFF2-40B4-BE49-F238E27FC236}">
                <a16:creationId xmlns:a16="http://schemas.microsoft.com/office/drawing/2014/main" id="{C37410B6-F3F3-425C-9575-73245AD4F527}"/>
              </a:ext>
            </a:extLst>
          </p:cNvPr>
          <p:cNvGrpSpPr/>
          <p:nvPr/>
        </p:nvGrpSpPr>
        <p:grpSpPr>
          <a:xfrm>
            <a:off x="2267744" y="789039"/>
            <a:ext cx="6703134" cy="4038600"/>
            <a:chOff x="61913" y="1165225"/>
            <a:chExt cx="9037637" cy="5445125"/>
          </a:xfrm>
        </p:grpSpPr>
        <p:grpSp>
          <p:nvGrpSpPr>
            <p:cNvPr id="5" name="组合 12">
              <a:extLst>
                <a:ext uri="{FF2B5EF4-FFF2-40B4-BE49-F238E27FC236}">
                  <a16:creationId xmlns:a16="http://schemas.microsoft.com/office/drawing/2014/main" id="{CAED313B-E45A-46D0-935E-AC89B7A661B2}"/>
                </a:ext>
              </a:extLst>
            </p:cNvPr>
            <p:cNvGrpSpPr>
              <a:grpSpLocks/>
            </p:cNvGrpSpPr>
            <p:nvPr/>
          </p:nvGrpSpPr>
          <p:grpSpPr bwMode="auto">
            <a:xfrm>
              <a:off x="1914525" y="1516063"/>
              <a:ext cx="5413375" cy="4400550"/>
              <a:chOff x="2829" y="2726"/>
              <a:chExt cx="8335" cy="6806"/>
            </a:xfrm>
          </p:grpSpPr>
          <p:pic>
            <p:nvPicPr>
              <p:cNvPr id="6" name="图片 9">
                <a:extLst>
                  <a:ext uri="{FF2B5EF4-FFF2-40B4-BE49-F238E27FC236}">
                    <a16:creationId xmlns:a16="http://schemas.microsoft.com/office/drawing/2014/main" id="{12B4D7DB-44B3-45BC-AA80-1861B561D10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12" b="98583" l="9587" r="90579">
                            <a14:foregroundMark x1="57521" y1="4858" x2="57521" y2="4858"/>
                            <a14:foregroundMark x1="46446" y1="95951" x2="46446" y2="95951"/>
                            <a14:foregroundMark x1="49752" y1="98785" x2="49752" y2="98785"/>
                            <a14:foregroundMark x1="90579" y1="45547" x2="90579" y2="45547"/>
                            <a14:foregroundMark x1="55868" y1="1012" x2="55868" y2="1012"/>
                            <a14:foregroundMark x1="53554" y1="44939" x2="53554" y2="44939"/>
                            <a14:foregroundMark x1="52562" y1="51417" x2="52562" y2="51417"/>
                            <a14:foregroundMark x1="47934" y1="35830" x2="47934" y2="35830"/>
                            <a14:foregroundMark x1="53554" y1="32591" x2="53554" y2="32591"/>
                            <a14:foregroundMark x1="55372" y1="34413" x2="55372" y2="34413"/>
                            <a14:foregroundMark x1="58017" y1="41093" x2="58017" y2="41093"/>
                            <a14:foregroundMark x1="59504" y1="35223" x2="59504" y2="35223"/>
                            <a14:foregroundMark x1="59835" y1="38462" x2="59835" y2="38462"/>
                            <a14:foregroundMark x1="61488" y1="42105" x2="61488" y2="42105"/>
                            <a14:foregroundMark x1="62645" y1="50405" x2="62645" y2="50405"/>
                            <a14:foregroundMark x1="62975" y1="51417" x2="62975" y2="51417"/>
                            <a14:foregroundMark x1="62645" y1="43927" x2="62645" y2="43927"/>
                            <a14:foregroundMark x1="60000" y1="37854" x2="28926" y2="49798"/>
                            <a14:foregroundMark x1="28926" y1="49798" x2="41983" y2="42510"/>
                            <a14:foregroundMark x1="41983" y1="42510" x2="50579" y2="44939"/>
                            <a14:foregroundMark x1="47107" y1="31579" x2="45785" y2="46356"/>
                            <a14:foregroundMark x1="45785" y1="46356" x2="60661" y2="59717"/>
                            <a14:foregroundMark x1="60661" y1="59717" x2="45785" y2="47976"/>
                            <a14:foregroundMark x1="45785" y1="47976" x2="47107" y2="42915"/>
                            <a14:foregroundMark x1="50744" y1="40081" x2="41653" y2="51215"/>
                            <a14:foregroundMark x1="41653" y1="51215" x2="57521" y2="55061"/>
                            <a14:foregroundMark x1="57521" y1="55061" x2="48099" y2="58704"/>
                            <a14:foregroundMark x1="48264" y1="62348" x2="44298" y2="60526"/>
                            <a14:foregroundMark x1="38017" y1="54049" x2="49256" y2="69028"/>
                            <a14:foregroundMark x1="39008" y1="54049" x2="59174" y2="66397"/>
                            <a14:foregroundMark x1="50579" y1="53239" x2="64132" y2="59109"/>
                            <a14:foregroundMark x1="52893" y1="34413" x2="62314" y2="48178"/>
                            <a14:foregroundMark x1="57521" y1="33806" x2="50413" y2="58300"/>
                            <a14:foregroundMark x1="50413" y1="58300" x2="50413" y2="58300"/>
                            <a14:foregroundMark x1="50083" y1="33198" x2="32893" y2="46356"/>
                          </a14:backgroundRemoval>
                        </a14:imgEffect>
                      </a14:imgLayer>
                    </a14:imgProps>
                  </a:ext>
                  <a:ext uri="{28A0092B-C50C-407E-A947-70E740481C1C}">
                    <a14:useLocalDpi xmlns:a14="http://schemas.microsoft.com/office/drawing/2010/main" val="0"/>
                  </a:ext>
                </a:extLst>
              </a:blip>
              <a:srcRect/>
              <a:stretch>
                <a:fillRect/>
              </a:stretch>
            </p:blipFill>
            <p:spPr bwMode="auto">
              <a:xfrm>
                <a:off x="2829" y="2726"/>
                <a:ext cx="8335" cy="6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椭圆 6">
                <a:extLst>
                  <a:ext uri="{FF2B5EF4-FFF2-40B4-BE49-F238E27FC236}">
                    <a16:creationId xmlns:a16="http://schemas.microsoft.com/office/drawing/2014/main" id="{D9A1A25E-30AF-4988-BD99-5ED41EC71814}"/>
                  </a:ext>
                </a:extLst>
              </p:cNvPr>
              <p:cNvSpPr/>
              <p:nvPr/>
            </p:nvSpPr>
            <p:spPr>
              <a:xfrm>
                <a:off x="5796" y="4715"/>
                <a:ext cx="2698" cy="2716"/>
              </a:xfrm>
              <a:prstGeom prst="ellipse">
                <a:avLst/>
              </a:prstGeom>
              <a:solidFill>
                <a:srgbClr val="FFFFFF"/>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altLang="en-US" sz="2400" b="1">
                    <a:solidFill>
                      <a:srgbClr val="4FB1D1"/>
                    </a:solidFill>
                  </a:rPr>
                  <a:t>RFID</a:t>
                </a:r>
                <a:r>
                  <a:rPr lang="zh-CN" altLang="en-US" sz="2400" b="1">
                    <a:solidFill>
                      <a:srgbClr val="4FB1D1"/>
                    </a:solidFill>
                    <a:ea typeface="宋体" panose="02010600030101010101" pitchFamily="2" charset="-122"/>
                  </a:rPr>
                  <a:t>应用</a:t>
                </a:r>
                <a:r>
                  <a:rPr lang="en-US" altLang="en-US" sz="2400" b="1">
                    <a:solidFill>
                      <a:srgbClr val="4FB1D1"/>
                    </a:solidFill>
                  </a:rPr>
                  <a:t> </a:t>
                </a:r>
              </a:p>
            </p:txBody>
          </p:sp>
        </p:grpSp>
        <p:pic>
          <p:nvPicPr>
            <p:cNvPr id="8" name="图片 6">
              <a:extLst>
                <a:ext uri="{FF2B5EF4-FFF2-40B4-BE49-F238E27FC236}">
                  <a16:creationId xmlns:a16="http://schemas.microsoft.com/office/drawing/2014/main" id="{DCEEEDCE-0754-4801-83BA-2A759D9315E3}"/>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5987" b="98448" l="6400" r="93000">
                          <a14:foregroundMark x1="58400" y1="34812" x2="58400" y2="34812"/>
                          <a14:foregroundMark x1="48400" y1="42350" x2="48400" y2="42350"/>
                          <a14:foregroundMark x1="40800" y1="47228" x2="31800" y2="56763"/>
                          <a14:foregroundMark x1="47600" y1="31929" x2="21600" y2="62306"/>
                          <a14:foregroundMark x1="21600" y1="62306" x2="21000" y2="62306"/>
                          <a14:foregroundMark x1="6400" y1="64745" x2="6400" y2="64745"/>
                          <a14:foregroundMark x1="37800" y1="90022" x2="37800" y2="90022"/>
                          <a14:foregroundMark x1="42000" y1="95122" x2="42000" y2="95122"/>
                          <a14:foregroundMark x1="93000" y1="41463" x2="93000" y2="41463"/>
                          <a14:foregroundMark x1="87000" y1="50111" x2="82400" y2="56763"/>
                          <a14:foregroundMark x1="89200" y1="47228" x2="80200" y2="58537"/>
                          <a14:foregroundMark x1="58800" y1="6208" x2="58800" y2="6208"/>
                          <a14:foregroundMark x1="39800" y1="98448" x2="39800" y2="98448"/>
                        </a14:backgroundRemoval>
                      </a14:imgEffect>
                    </a14:imgLayer>
                  </a14:imgProps>
                </a:ext>
                <a:ext uri="{28A0092B-C50C-407E-A947-70E740481C1C}">
                  <a14:useLocalDpi xmlns:a14="http://schemas.microsoft.com/office/drawing/2010/main" val="0"/>
                </a:ext>
              </a:extLst>
            </a:blip>
            <a:srcRect/>
            <a:stretch>
              <a:fillRect/>
            </a:stretch>
          </p:blipFill>
          <p:spPr bwMode="auto">
            <a:xfrm>
              <a:off x="6818313" y="1165225"/>
              <a:ext cx="2281237"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7">
              <a:extLst>
                <a:ext uri="{FF2B5EF4-FFF2-40B4-BE49-F238E27FC236}">
                  <a16:creationId xmlns:a16="http://schemas.microsoft.com/office/drawing/2014/main" id="{F83C4535-D00C-4B91-93BD-AC5A32895B6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16738" y="4989513"/>
              <a:ext cx="2182812" cy="162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5">
              <a:extLst>
                <a:ext uri="{FF2B5EF4-FFF2-40B4-BE49-F238E27FC236}">
                  <a16:creationId xmlns:a16="http://schemas.microsoft.com/office/drawing/2014/main" id="{08324B89-463B-4EBF-89F3-92DF65B639B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913" y="1316038"/>
              <a:ext cx="2251075"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3">
              <a:extLst>
                <a:ext uri="{FF2B5EF4-FFF2-40B4-BE49-F238E27FC236}">
                  <a16:creationId xmlns:a16="http://schemas.microsoft.com/office/drawing/2014/main" id="{8D7F00E3-2DA9-48BC-80E1-8C0051227F3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8425" y="4691063"/>
              <a:ext cx="2457450"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72113084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2955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RFID</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基本组成</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系统一般由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大部分构成：标签、阅读器以及后台数据库</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endParaRPr lang="zh-CN" altLang="en-US" sz="2000" b="1" dirty="0">
              <a:solidFill>
                <a:schemeClr val="tx1">
                  <a:lumMod val="50000"/>
                  <a:lumOff val="50000"/>
                </a:schemeClr>
              </a:solidFill>
              <a:latin typeface="微软雅黑" pitchFamily="34" charset="-122"/>
              <a:ea typeface="微软雅黑" pitchFamily="34" charset="-122"/>
            </a:endParaRPr>
          </a:p>
        </p:txBody>
      </p:sp>
      <p:sp>
        <p:nvSpPr>
          <p:cNvPr id="8" name="圆柱体 7">
            <a:extLst>
              <a:ext uri="{FF2B5EF4-FFF2-40B4-BE49-F238E27FC236}">
                <a16:creationId xmlns:a16="http://schemas.microsoft.com/office/drawing/2014/main" id="{97A30BC1-26AD-4806-AD18-7052FF93789E}"/>
              </a:ext>
            </a:extLst>
          </p:cNvPr>
          <p:cNvSpPr/>
          <p:nvPr/>
        </p:nvSpPr>
        <p:spPr>
          <a:xfrm>
            <a:off x="1403648" y="3003798"/>
            <a:ext cx="792088" cy="1152128"/>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后台数据库</a:t>
            </a:r>
          </a:p>
        </p:txBody>
      </p:sp>
      <p:sp>
        <p:nvSpPr>
          <p:cNvPr id="9" name="矩形 8">
            <a:extLst>
              <a:ext uri="{FF2B5EF4-FFF2-40B4-BE49-F238E27FC236}">
                <a16:creationId xmlns:a16="http://schemas.microsoft.com/office/drawing/2014/main" id="{D623598D-D0FC-4C99-97B8-D6400E221134}"/>
              </a:ext>
            </a:extLst>
          </p:cNvPr>
          <p:cNvSpPr/>
          <p:nvPr/>
        </p:nvSpPr>
        <p:spPr>
          <a:xfrm>
            <a:off x="2987824" y="3435846"/>
            <a:ext cx="864096" cy="4320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阅读器</a:t>
            </a:r>
          </a:p>
        </p:txBody>
      </p:sp>
      <p:sp>
        <p:nvSpPr>
          <p:cNvPr id="11" name="矩形 10">
            <a:extLst>
              <a:ext uri="{FF2B5EF4-FFF2-40B4-BE49-F238E27FC236}">
                <a16:creationId xmlns:a16="http://schemas.microsoft.com/office/drawing/2014/main" id="{A983DED0-46DB-4030-867D-BF027BCB44D4}"/>
              </a:ext>
            </a:extLst>
          </p:cNvPr>
          <p:cNvSpPr/>
          <p:nvPr/>
        </p:nvSpPr>
        <p:spPr>
          <a:xfrm>
            <a:off x="4004320" y="3435846"/>
            <a:ext cx="783704" cy="4320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标签</a:t>
            </a:r>
            <a:r>
              <a:rPr lang="en-US" altLang="zh-CN" sz="1600" b="1" dirty="0">
                <a:latin typeface="华文楷体" panose="02010600040101010101" pitchFamily="2" charset="-122"/>
                <a:ea typeface="华文楷体" panose="02010600040101010101" pitchFamily="2" charset="-122"/>
              </a:rPr>
              <a:t>1</a:t>
            </a:r>
            <a:endParaRPr lang="zh-CN" altLang="en-US" sz="1600" b="1" dirty="0">
              <a:latin typeface="华文楷体" panose="02010600040101010101" pitchFamily="2" charset="-122"/>
              <a:ea typeface="华文楷体" panose="02010600040101010101" pitchFamily="2" charset="-122"/>
            </a:endParaRPr>
          </a:p>
        </p:txBody>
      </p:sp>
      <p:sp>
        <p:nvSpPr>
          <p:cNvPr id="12" name="矩形 11">
            <a:extLst>
              <a:ext uri="{FF2B5EF4-FFF2-40B4-BE49-F238E27FC236}">
                <a16:creationId xmlns:a16="http://schemas.microsoft.com/office/drawing/2014/main" id="{215C4CE6-209B-4548-A150-9CDA9EEFD52B}"/>
              </a:ext>
            </a:extLst>
          </p:cNvPr>
          <p:cNvSpPr/>
          <p:nvPr/>
        </p:nvSpPr>
        <p:spPr>
          <a:xfrm>
            <a:off x="5220072" y="3424911"/>
            <a:ext cx="783704" cy="4320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标签</a:t>
            </a:r>
            <a:r>
              <a:rPr lang="en-US" altLang="zh-CN" sz="1600" b="1" dirty="0">
                <a:latin typeface="华文楷体" panose="02010600040101010101" pitchFamily="2" charset="-122"/>
                <a:ea typeface="华文楷体" panose="02010600040101010101" pitchFamily="2" charset="-122"/>
              </a:rPr>
              <a:t>2</a:t>
            </a:r>
            <a:endParaRPr lang="zh-CN" altLang="en-US" sz="1600" b="1" dirty="0">
              <a:latin typeface="华文楷体" panose="02010600040101010101" pitchFamily="2" charset="-122"/>
              <a:ea typeface="华文楷体" panose="02010600040101010101" pitchFamily="2" charset="-122"/>
            </a:endParaRPr>
          </a:p>
        </p:txBody>
      </p:sp>
      <p:sp>
        <p:nvSpPr>
          <p:cNvPr id="13" name="矩形 12">
            <a:extLst>
              <a:ext uri="{FF2B5EF4-FFF2-40B4-BE49-F238E27FC236}">
                <a16:creationId xmlns:a16="http://schemas.microsoft.com/office/drawing/2014/main" id="{5D0EB58F-C474-4890-9778-B87386735D1B}"/>
              </a:ext>
            </a:extLst>
          </p:cNvPr>
          <p:cNvSpPr/>
          <p:nvPr/>
        </p:nvSpPr>
        <p:spPr>
          <a:xfrm>
            <a:off x="6248687" y="3435846"/>
            <a:ext cx="835209" cy="4320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b="1" dirty="0">
                <a:latin typeface="华文楷体" panose="02010600040101010101" pitchFamily="2" charset="-122"/>
                <a:ea typeface="华文楷体" panose="02010600040101010101" pitchFamily="2" charset="-122"/>
              </a:rPr>
              <a:t>监听者</a:t>
            </a:r>
          </a:p>
        </p:txBody>
      </p:sp>
      <p:sp>
        <p:nvSpPr>
          <p:cNvPr id="10" name="椭圆 9">
            <a:extLst>
              <a:ext uri="{FF2B5EF4-FFF2-40B4-BE49-F238E27FC236}">
                <a16:creationId xmlns:a16="http://schemas.microsoft.com/office/drawing/2014/main" id="{37AB8C06-7073-4EF9-92D2-49DECE883E66}"/>
              </a:ext>
            </a:extLst>
          </p:cNvPr>
          <p:cNvSpPr/>
          <p:nvPr/>
        </p:nvSpPr>
        <p:spPr>
          <a:xfrm>
            <a:off x="3851920" y="3064871"/>
            <a:ext cx="1152128" cy="1152128"/>
          </a:xfrm>
          <a:prstGeom prst="ellipse">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弧形 13">
            <a:extLst>
              <a:ext uri="{FF2B5EF4-FFF2-40B4-BE49-F238E27FC236}">
                <a16:creationId xmlns:a16="http://schemas.microsoft.com/office/drawing/2014/main" id="{7BEFD7D9-FFDF-4650-A923-0505A4D6AFAA}"/>
              </a:ext>
            </a:extLst>
          </p:cNvPr>
          <p:cNvSpPr/>
          <p:nvPr/>
        </p:nvSpPr>
        <p:spPr>
          <a:xfrm rot="2636235">
            <a:off x="4766543" y="2478859"/>
            <a:ext cx="2384168" cy="2452839"/>
          </a:xfrm>
          <a:prstGeom prst="arc">
            <a:avLst/>
          </a:prstGeom>
          <a:ln w="28575">
            <a:solidFill>
              <a:schemeClr val="accent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EF75FE45-F355-4C3C-BE61-CDE62016745B}"/>
              </a:ext>
            </a:extLst>
          </p:cNvPr>
          <p:cNvCxnSpPr/>
          <p:nvPr/>
        </p:nvCxnSpPr>
        <p:spPr>
          <a:xfrm>
            <a:off x="3491880" y="2545443"/>
            <a:ext cx="3663702"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11C58CE5-1DB9-493D-99FA-DE0737D4A896}"/>
              </a:ext>
            </a:extLst>
          </p:cNvPr>
          <p:cNvCxnSpPr/>
          <p:nvPr/>
        </p:nvCxnSpPr>
        <p:spPr>
          <a:xfrm>
            <a:off x="3491880" y="2425920"/>
            <a:ext cx="0" cy="21602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643AF76-6C81-4B40-90F4-B9082C893C2F}"/>
              </a:ext>
            </a:extLst>
          </p:cNvPr>
          <p:cNvCxnSpPr/>
          <p:nvPr/>
        </p:nvCxnSpPr>
        <p:spPr>
          <a:xfrm>
            <a:off x="7149519" y="2437431"/>
            <a:ext cx="0" cy="21602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895A3EF9-3DB7-4CC3-B0D8-BDD15D6711C9}"/>
              </a:ext>
            </a:extLst>
          </p:cNvPr>
          <p:cNvCxnSpPr>
            <a:cxnSpLocks/>
          </p:cNvCxnSpPr>
          <p:nvPr/>
        </p:nvCxnSpPr>
        <p:spPr>
          <a:xfrm>
            <a:off x="3923928" y="2931790"/>
            <a:ext cx="504056"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BD2BB19B-06CA-4827-82B8-0A00E266C934}"/>
              </a:ext>
            </a:extLst>
          </p:cNvPr>
          <p:cNvCxnSpPr/>
          <p:nvPr/>
        </p:nvCxnSpPr>
        <p:spPr>
          <a:xfrm>
            <a:off x="3918953" y="2823778"/>
            <a:ext cx="0" cy="21602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72977E6-F3AF-45C2-99F5-5A97E9712BC1}"/>
              </a:ext>
            </a:extLst>
          </p:cNvPr>
          <p:cNvCxnSpPr/>
          <p:nvPr/>
        </p:nvCxnSpPr>
        <p:spPr>
          <a:xfrm>
            <a:off x="4421921" y="2823778"/>
            <a:ext cx="0" cy="21602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80EBCB8A-D9DE-47CB-A689-A7FE3938F676}"/>
              </a:ext>
            </a:extLst>
          </p:cNvPr>
          <p:cNvCxnSpPr>
            <a:cxnSpLocks/>
          </p:cNvCxnSpPr>
          <p:nvPr/>
        </p:nvCxnSpPr>
        <p:spPr>
          <a:xfrm>
            <a:off x="1403648" y="4551970"/>
            <a:ext cx="2508317"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11548A4-7192-4D21-A32D-739A402D799E}"/>
              </a:ext>
            </a:extLst>
          </p:cNvPr>
          <p:cNvCxnSpPr/>
          <p:nvPr/>
        </p:nvCxnSpPr>
        <p:spPr>
          <a:xfrm>
            <a:off x="1398673" y="4443958"/>
            <a:ext cx="0" cy="21602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46183C3-D323-430C-9E0A-EC8430148D98}"/>
              </a:ext>
            </a:extLst>
          </p:cNvPr>
          <p:cNvCxnSpPr/>
          <p:nvPr/>
        </p:nvCxnSpPr>
        <p:spPr>
          <a:xfrm>
            <a:off x="3911965" y="4443958"/>
            <a:ext cx="0" cy="21602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C5053565-30EA-43A9-B7AC-F3A1EDF2D204}"/>
              </a:ext>
            </a:extLst>
          </p:cNvPr>
          <p:cNvCxnSpPr>
            <a:cxnSpLocks/>
          </p:cNvCxnSpPr>
          <p:nvPr/>
        </p:nvCxnSpPr>
        <p:spPr>
          <a:xfrm>
            <a:off x="3911965" y="4554557"/>
            <a:ext cx="3237554"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1B2FCA0-BB03-485A-9870-6A0320B38D54}"/>
              </a:ext>
            </a:extLst>
          </p:cNvPr>
          <p:cNvCxnSpPr/>
          <p:nvPr/>
        </p:nvCxnSpPr>
        <p:spPr>
          <a:xfrm>
            <a:off x="7125792" y="4443958"/>
            <a:ext cx="0" cy="21602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124D3480-BCD6-4ECC-BBF6-58A879A78414}"/>
              </a:ext>
            </a:extLst>
          </p:cNvPr>
          <p:cNvSpPr txBox="1"/>
          <p:nvPr/>
        </p:nvSpPr>
        <p:spPr>
          <a:xfrm>
            <a:off x="4730518" y="2225340"/>
            <a:ext cx="1415772" cy="338554"/>
          </a:xfrm>
          <a:prstGeom prst="rect">
            <a:avLst/>
          </a:prstGeom>
          <a:noFill/>
        </p:spPr>
        <p:txBody>
          <a:bodyPr wrap="none" rtlCol="0">
            <a:spAutoFit/>
          </a:bodyPr>
          <a:lstStyle/>
          <a:p>
            <a:r>
              <a:rPr lang="zh-CN" altLang="en-US" sz="1600" dirty="0">
                <a:solidFill>
                  <a:srgbClr val="1889B4"/>
                </a:solidFill>
                <a:latin typeface="华文楷体" panose="02010600040101010101" pitchFamily="2" charset="-122"/>
                <a:ea typeface="华文楷体" panose="02010600040101010101" pitchFamily="2" charset="-122"/>
              </a:rPr>
              <a:t>前向通信距离</a:t>
            </a:r>
          </a:p>
        </p:txBody>
      </p:sp>
      <p:sp>
        <p:nvSpPr>
          <p:cNvPr id="34" name="文本框 33">
            <a:extLst>
              <a:ext uri="{FF2B5EF4-FFF2-40B4-BE49-F238E27FC236}">
                <a16:creationId xmlns:a16="http://schemas.microsoft.com/office/drawing/2014/main" id="{949F89B8-F442-4345-BCDE-9A5F58CB2D0E}"/>
              </a:ext>
            </a:extLst>
          </p:cNvPr>
          <p:cNvSpPr txBox="1"/>
          <p:nvPr/>
        </p:nvSpPr>
        <p:spPr>
          <a:xfrm>
            <a:off x="3491880" y="2588029"/>
            <a:ext cx="1463862" cy="338554"/>
          </a:xfrm>
          <a:prstGeom prst="rect">
            <a:avLst/>
          </a:prstGeom>
          <a:noFill/>
        </p:spPr>
        <p:txBody>
          <a:bodyPr wrap="none" rtlCol="0">
            <a:spAutoFit/>
          </a:bodyPr>
          <a:lstStyle/>
          <a:p>
            <a:r>
              <a:rPr lang="zh-CN" altLang="en-US" sz="1600" dirty="0">
                <a:solidFill>
                  <a:srgbClr val="1889B4"/>
                </a:solidFill>
                <a:latin typeface="华文楷体" panose="02010600040101010101" pitchFamily="2" charset="-122"/>
                <a:ea typeface="华文楷体" panose="02010600040101010101" pitchFamily="2" charset="-122"/>
              </a:rPr>
              <a:t>反向通信距离</a:t>
            </a:r>
          </a:p>
        </p:txBody>
      </p:sp>
      <p:sp>
        <p:nvSpPr>
          <p:cNvPr id="35" name="文本框 34">
            <a:extLst>
              <a:ext uri="{FF2B5EF4-FFF2-40B4-BE49-F238E27FC236}">
                <a16:creationId xmlns:a16="http://schemas.microsoft.com/office/drawing/2014/main" id="{07B9FE05-99CC-432A-90EE-28F2AD3BAB77}"/>
              </a:ext>
            </a:extLst>
          </p:cNvPr>
          <p:cNvSpPr txBox="1"/>
          <p:nvPr/>
        </p:nvSpPr>
        <p:spPr>
          <a:xfrm>
            <a:off x="2050793" y="4184671"/>
            <a:ext cx="1005403" cy="338554"/>
          </a:xfrm>
          <a:prstGeom prst="rect">
            <a:avLst/>
          </a:prstGeom>
          <a:noFill/>
        </p:spPr>
        <p:txBody>
          <a:bodyPr wrap="none" rtlCol="0">
            <a:spAutoFit/>
          </a:bodyPr>
          <a:lstStyle/>
          <a:p>
            <a:r>
              <a:rPr lang="zh-CN" altLang="en-US" sz="1600" dirty="0">
                <a:solidFill>
                  <a:srgbClr val="1889B4"/>
                </a:solidFill>
                <a:latin typeface="华文楷体" panose="02010600040101010101" pitchFamily="2" charset="-122"/>
                <a:ea typeface="华文楷体" panose="02010600040101010101" pitchFamily="2" charset="-122"/>
              </a:rPr>
              <a:t>安全信道</a:t>
            </a:r>
          </a:p>
        </p:txBody>
      </p:sp>
      <p:sp>
        <p:nvSpPr>
          <p:cNvPr id="36" name="文本框 35">
            <a:extLst>
              <a:ext uri="{FF2B5EF4-FFF2-40B4-BE49-F238E27FC236}">
                <a16:creationId xmlns:a16="http://schemas.microsoft.com/office/drawing/2014/main" id="{B1174417-93B6-4BAF-A910-12028D73CA4C}"/>
              </a:ext>
            </a:extLst>
          </p:cNvPr>
          <p:cNvSpPr txBox="1"/>
          <p:nvPr/>
        </p:nvSpPr>
        <p:spPr>
          <a:xfrm>
            <a:off x="4917199" y="4242068"/>
            <a:ext cx="1210588" cy="338554"/>
          </a:xfrm>
          <a:prstGeom prst="rect">
            <a:avLst/>
          </a:prstGeom>
          <a:noFill/>
        </p:spPr>
        <p:txBody>
          <a:bodyPr wrap="none" rtlCol="0">
            <a:spAutoFit/>
          </a:bodyPr>
          <a:lstStyle/>
          <a:p>
            <a:r>
              <a:rPr lang="zh-CN" altLang="en-US" sz="1600" dirty="0">
                <a:solidFill>
                  <a:srgbClr val="1889B4"/>
                </a:solidFill>
                <a:latin typeface="华文楷体" panose="02010600040101010101" pitchFamily="2" charset="-122"/>
                <a:ea typeface="华文楷体" panose="02010600040101010101" pitchFamily="2" charset="-122"/>
              </a:rPr>
              <a:t>不安全信道</a:t>
            </a:r>
          </a:p>
        </p:txBody>
      </p:sp>
      <p:cxnSp>
        <p:nvCxnSpPr>
          <p:cNvPr id="38" name="直接连接符 37">
            <a:extLst>
              <a:ext uri="{FF2B5EF4-FFF2-40B4-BE49-F238E27FC236}">
                <a16:creationId xmlns:a16="http://schemas.microsoft.com/office/drawing/2014/main" id="{1FF7F1A6-F180-4675-845B-B284B3C4F505}"/>
              </a:ext>
            </a:extLst>
          </p:cNvPr>
          <p:cNvCxnSpPr>
            <a:cxnSpLocks/>
          </p:cNvCxnSpPr>
          <p:nvPr/>
        </p:nvCxnSpPr>
        <p:spPr>
          <a:xfrm>
            <a:off x="2195736" y="3651870"/>
            <a:ext cx="792088"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51521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6387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阅读器</a:t>
            </a:r>
            <a:endPar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用于读或读</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写标签数据的装置，由射频模块</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发送器和接收器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、控制单元、与标签连接的耦合单元组成</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endParaRPr lang="zh-CN" altLang="en-US" sz="2000" b="1" dirty="0">
              <a:solidFill>
                <a:schemeClr val="tx1">
                  <a:lumMod val="50000"/>
                  <a:lumOff val="50000"/>
                </a:schemeClr>
              </a:solidFill>
              <a:latin typeface="微软雅黑" pitchFamily="34" charset="-122"/>
              <a:ea typeface="微软雅黑" pitchFamily="34" charset="-122"/>
            </a:endParaRPr>
          </a:p>
        </p:txBody>
      </p:sp>
      <p:graphicFrame>
        <p:nvGraphicFramePr>
          <p:cNvPr id="41" name="对象 2">
            <a:extLst>
              <a:ext uri="{FF2B5EF4-FFF2-40B4-BE49-F238E27FC236}">
                <a16:creationId xmlns:a16="http://schemas.microsoft.com/office/drawing/2014/main" id="{BC578C01-0A75-4535-A066-0822141BBC3E}"/>
              </a:ext>
            </a:extLst>
          </p:cNvPr>
          <p:cNvGraphicFramePr>
            <a:graphicFrameLocks noChangeAspect="1"/>
          </p:cNvGraphicFramePr>
          <p:nvPr>
            <p:extLst>
              <p:ext uri="{D42A27DB-BD31-4B8C-83A1-F6EECF244321}">
                <p14:modId xmlns:p14="http://schemas.microsoft.com/office/powerpoint/2010/main" val="3717002113"/>
              </p:ext>
            </p:extLst>
          </p:nvPr>
        </p:nvGraphicFramePr>
        <p:xfrm>
          <a:off x="3059832" y="2045558"/>
          <a:ext cx="4702964" cy="2653479"/>
        </p:xfrm>
        <a:graphic>
          <a:graphicData uri="http://schemas.openxmlformats.org/presentationml/2006/ole">
            <mc:AlternateContent xmlns:mc="http://schemas.openxmlformats.org/markup-compatibility/2006">
              <mc:Choice xmlns:v="urn:schemas-microsoft-com:vml" Requires="v">
                <p:oleObj name="Visio" r:id="rId3" imgW="3520227" imgH="2019221" progId="Visio.Drawing.11">
                  <p:embed/>
                </p:oleObj>
              </mc:Choice>
              <mc:Fallback>
                <p:oleObj name="Visio" r:id="rId3" imgW="3520227" imgH="2019221" progId="Visio.Drawing.11">
                  <p:embed/>
                  <p:pic>
                    <p:nvPicPr>
                      <p:cNvPr id="46084" name="对象 2">
                        <a:extLst>
                          <a:ext uri="{FF2B5EF4-FFF2-40B4-BE49-F238E27FC236}">
                            <a16:creationId xmlns:a16="http://schemas.microsoft.com/office/drawing/2014/main" id="{51A8CE85-95DD-46A7-BD85-482F75D40C42}"/>
                          </a:ext>
                        </a:extLst>
                      </p:cNvPr>
                      <p:cNvPicPr>
                        <a:picLocks noChangeAspect="1" noChangeArrowheads="1"/>
                      </p:cNvPicPr>
                      <p:nvPr/>
                    </p:nvPicPr>
                    <p:blipFill>
                      <a:blip r:embed="rId4"/>
                      <a:srcRect/>
                      <a:stretch>
                        <a:fillRect/>
                      </a:stretch>
                    </p:blipFill>
                    <p:spPr bwMode="auto">
                      <a:xfrm>
                        <a:off x="3059832" y="2045558"/>
                        <a:ext cx="4702964" cy="265347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8977493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424936" cy="423673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电子标签</a:t>
            </a:r>
            <a:endPar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电子标签（</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tag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芯片和无线通信天线组成的微型电路，每个标签都具有唯一的电子编码</a:t>
            </a:r>
          </a:p>
          <a:p>
            <a:pPr marL="285750" indent="-28575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电子标签通常没有微处理器，仅由数千个逻辑门电路组成</a:t>
            </a:r>
          </a:p>
          <a:p>
            <a:pPr marL="285750" indent="-28575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电子标签和阅读器之间的通信距离受到多个参数的影响，特别是通信频率，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目前主要使用两种通信频率：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13.56MHz</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860</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960MHz(</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通信距离更远；有时也用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2.45GHz)</a:t>
            </a:r>
          </a:p>
          <a:p>
            <a:pPr marL="285750" indent="-28575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根据标签获得能量的方式不同，标签分为：</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主动式标签由内置电池供电，并能主动向阅读器发送射频信号，通信距离可达</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1000m</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以上</a:t>
            </a:r>
          </a:p>
          <a:p>
            <a:pPr marL="285750" indent="-28575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半被动式标签也有内置电池，但只对输入的传输信号进行响应，最大通信距离为</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100m</a:t>
            </a:r>
          </a:p>
          <a:p>
            <a:pPr marL="285750" indent="-28575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被动式标签没有内置电池，它在接收到阅读器发出的电磁波信号后，将部分电磁能量转化为供自己工作的能量从而做出响应，最大通信距离为</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10m</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88982507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endParaRPr lang="zh-CN" altLang="en-US" sz="2000" b="1" dirty="0">
              <a:solidFill>
                <a:schemeClr val="tx1">
                  <a:lumMod val="50000"/>
                  <a:lumOff val="50000"/>
                </a:schemeClr>
              </a:solidFill>
              <a:latin typeface="微软雅黑" pitchFamily="34" charset="-122"/>
              <a:ea typeface="微软雅黑" pitchFamily="34" charset="-122"/>
            </a:endParaRPr>
          </a:p>
        </p:txBody>
      </p:sp>
      <p:graphicFrame>
        <p:nvGraphicFramePr>
          <p:cNvPr id="5" name="表格 4">
            <a:extLst>
              <a:ext uri="{FF2B5EF4-FFF2-40B4-BE49-F238E27FC236}">
                <a16:creationId xmlns:a16="http://schemas.microsoft.com/office/drawing/2014/main" id="{2BCDAAD9-A471-4405-94CE-84B7A0972197}"/>
              </a:ext>
            </a:extLst>
          </p:cNvPr>
          <p:cNvGraphicFramePr>
            <a:graphicFrameLocks noGrp="1"/>
          </p:cNvGraphicFramePr>
          <p:nvPr>
            <p:extLst>
              <p:ext uri="{D42A27DB-BD31-4B8C-83A1-F6EECF244321}">
                <p14:modId xmlns:p14="http://schemas.microsoft.com/office/powerpoint/2010/main" val="3546965027"/>
              </p:ext>
            </p:extLst>
          </p:nvPr>
        </p:nvGraphicFramePr>
        <p:xfrm>
          <a:off x="1547664" y="1352479"/>
          <a:ext cx="6186425" cy="2160240"/>
        </p:xfrm>
        <a:graphic>
          <a:graphicData uri="http://schemas.openxmlformats.org/drawingml/2006/table">
            <a:tbl>
              <a:tblPr>
                <a:tableStyleId>{0505E3EF-67EA-436B-97B2-0124C06EBD24}</a:tableStyleId>
              </a:tblPr>
              <a:tblGrid>
                <a:gridCol w="1546914">
                  <a:extLst>
                    <a:ext uri="{9D8B030D-6E8A-4147-A177-3AD203B41FA5}">
                      <a16:colId xmlns:a16="http://schemas.microsoft.com/office/drawing/2014/main" val="20000"/>
                    </a:ext>
                  </a:extLst>
                </a:gridCol>
                <a:gridCol w="1546914">
                  <a:extLst>
                    <a:ext uri="{9D8B030D-6E8A-4147-A177-3AD203B41FA5}">
                      <a16:colId xmlns:a16="http://schemas.microsoft.com/office/drawing/2014/main" val="20001"/>
                    </a:ext>
                  </a:extLst>
                </a:gridCol>
                <a:gridCol w="1546914">
                  <a:extLst>
                    <a:ext uri="{9D8B030D-6E8A-4147-A177-3AD203B41FA5}">
                      <a16:colId xmlns:a16="http://schemas.microsoft.com/office/drawing/2014/main" val="20002"/>
                    </a:ext>
                  </a:extLst>
                </a:gridCol>
                <a:gridCol w="1545683">
                  <a:extLst>
                    <a:ext uri="{9D8B030D-6E8A-4147-A177-3AD203B41FA5}">
                      <a16:colId xmlns:a16="http://schemas.microsoft.com/office/drawing/2014/main" val="20003"/>
                    </a:ext>
                  </a:extLst>
                </a:gridCol>
              </a:tblGrid>
              <a:tr h="540060">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2000" b="1"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标签类别</a:t>
                      </a:r>
                      <a:endParaRPr kumimoji="0" lang="zh-CN"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2000" b="1"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被动式</a:t>
                      </a:r>
                      <a:endParaRPr kumimoji="0" lang="zh-CN"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2000" b="1"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半被动式</a:t>
                      </a:r>
                      <a:endParaRPr kumimoji="0" lang="zh-CN"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2000" b="1"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主动式</a:t>
                      </a:r>
                      <a:endParaRPr kumimoji="0" lang="zh-CN"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68580" marR="68580" marT="0" marB="0" anchor="ctr" horzOverflow="overflow"/>
                </a:tc>
                <a:extLst>
                  <a:ext uri="{0D108BD9-81ED-4DB2-BD59-A6C34878D82A}">
                    <a16:rowId xmlns:a16="http://schemas.microsoft.com/office/drawing/2014/main" val="10000"/>
                  </a:ext>
                </a:extLst>
              </a:tr>
              <a:tr h="540060">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电源</a:t>
                      </a:r>
                      <a:endParaRPr kumimoji="0" lang="zh-CN" altLang="zh-CN" sz="18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无</a:t>
                      </a:r>
                      <a:endParaRPr kumimoji="0" lang="zh-CN" altLang="zh-CN" sz="18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电池</a:t>
                      </a:r>
                      <a:endParaRPr kumimoji="0" lang="zh-CN" altLang="zh-CN" sz="18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电池</a:t>
                      </a:r>
                      <a:endParaRPr kumimoji="0" lang="zh-CN" altLang="zh-CN" sz="18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extLst>
                  <a:ext uri="{0D108BD9-81ED-4DB2-BD59-A6C34878D82A}">
                    <a16:rowId xmlns:a16="http://schemas.microsoft.com/office/drawing/2014/main" val="10001"/>
                  </a:ext>
                </a:extLst>
              </a:tr>
              <a:tr h="540060">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传输方式</a:t>
                      </a:r>
                      <a:endParaRPr kumimoji="0" lang="zh-CN" altLang="zh-CN" sz="18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被动</a:t>
                      </a:r>
                      <a:endParaRPr kumimoji="0" lang="zh-CN" altLang="zh-CN" sz="18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被动</a:t>
                      </a:r>
                      <a:endParaRPr kumimoji="0" lang="zh-CN" altLang="zh-CN" sz="18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主动</a:t>
                      </a:r>
                      <a:endParaRPr kumimoji="0" lang="zh-CN" altLang="zh-CN" sz="18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extLst>
                  <a:ext uri="{0D108BD9-81ED-4DB2-BD59-A6C34878D82A}">
                    <a16:rowId xmlns:a16="http://schemas.microsoft.com/office/drawing/2014/main" val="10002"/>
                  </a:ext>
                </a:extLst>
              </a:tr>
              <a:tr h="540060">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rPr>
                        <a:t>最大通信距离</a:t>
                      </a:r>
                      <a:endParaRPr kumimoji="0" lang="zh-CN" altLang="zh-CN" sz="1800" b="0" i="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10m</a:t>
                      </a:r>
                      <a:endParaRPr kumimoji="0" lang="zh-CN" altLang="zh-CN" sz="18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100m</a:t>
                      </a:r>
                      <a:endParaRPr kumimoji="0" lang="zh-CN" altLang="zh-CN" sz="18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rPr>
                        <a:t>1000m</a:t>
                      </a:r>
                      <a:endParaRPr kumimoji="0" lang="zh-CN" altLang="zh-CN" sz="1800" b="0" i="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192529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5815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后端数据库</a:t>
            </a:r>
            <a:endPar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后端数据库是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面向应用的支撑软件，主要负责实现与企业或组织应用相关的数据管理功能</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后端数据库能够将产品信息、跟踪日志、主要管理信息等和一个特定的标签联系起来</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通常假设后端计算和存储能力强大，包含所有电子标签的信息，并能够与标签阅读器之间建立安全的连接</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63864665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32350"/>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）电子标签</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容易被攻击者获取、分析、破坏，另一方面，不容易加载强大的安全机制</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标签的安全性、有效性、完整性、可用性和真实性都难以保障，是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系统安全最薄弱的环节</a:t>
            </a:r>
          </a:p>
          <a:p>
            <a:pPr>
              <a:lnSpc>
                <a:spcPct val="130000"/>
              </a:lnSpc>
              <a:spcBef>
                <a:spcPts val="300"/>
              </a:spcBef>
              <a:spcAft>
                <a:spcPts val="300"/>
              </a:spcAft>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）阅读器</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阅读器连接着电子标签和后台数据库系统，具有更大的攻击价值，如果设计不当，对阅读器的破解可能危及整个系统的安全</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阅读器在接收到数据后进行处理的过程中可能会受到类似计算机安全脆弱性的问题；有些阅读器（如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系统）工作在无人值守的场合，可能被盗取或伪造</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安全脆弱性</a:t>
            </a:r>
          </a:p>
        </p:txBody>
      </p:sp>
    </p:spTree>
    <p:extLst>
      <p:ext uri="{BB962C8B-B14F-4D97-AF65-F5344CB8AC3E}">
        <p14:creationId xmlns:p14="http://schemas.microsoft.com/office/powerpoint/2010/main" val="212517009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98056"/>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）空中接口</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空中接口表现出通信链路的脆弱性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电子标签和阅读器间的无线通信具有开放性特点，限于成本和功耗，电子标签难以承受复杂的加密算法和认证协议，从而造成空中接口的安全脆弱性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攻击者可能对空中接口实施窃听、篡改、重放等攻击，也可以实施阻塞式频带干扰，引起拒绝服务</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安全脆弱性</a:t>
            </a:r>
          </a:p>
        </p:txBody>
      </p:sp>
    </p:spTree>
    <p:extLst>
      <p:ext uri="{BB962C8B-B14F-4D97-AF65-F5344CB8AC3E}">
        <p14:creationId xmlns:p14="http://schemas.microsoft.com/office/powerpoint/2010/main" val="382795538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4622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应用角度：</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RFID</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系统面临的安全威胁基于应用的不同而有多种情形</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对于零售业，贵重商品上的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标签可能被改写成便宜的价格</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攻击者出于竞争或其他原因“杀死”标签，导致商店管理上出现混乱</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竞争对手在库房出入口秘密安装</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阅读器来了解企业的物资流转及经营状况</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伪造标签，使假货变真品</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隐私泄露，如身份证、护照、会员卡、城市（或校园）一卡通等</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财物被盗窃，如门禁卡、汽车钥匙等</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金额被篡改、资金被划转等利益风险，如购物卡、预付费卡、公交卡、</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卡、银行卡等</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安全威胁</a:t>
            </a:r>
          </a:p>
        </p:txBody>
      </p:sp>
    </p:spTree>
    <p:extLst>
      <p:ext uri="{BB962C8B-B14F-4D97-AF65-F5344CB8AC3E}">
        <p14:creationId xmlns:p14="http://schemas.microsoft.com/office/powerpoint/2010/main" val="342373959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8934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技术角度：</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目前，</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RFID</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空中接口面临的主要威胁分为恶意搜集信息式威胁、伪装式威胁及拒绝服务威胁三大类</a:t>
            </a: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恶意搜集信息式威胁：</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窃听、嗅探、数据篡改、跟踪、物理攻击等</a:t>
            </a:r>
          </a:p>
          <a:p>
            <a:pPr marL="355600">
              <a:lnSpc>
                <a:spcPct val="11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特点：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非法用户远距离监听阅读器与标签通信内容，获取其中的有用信息，进而导致标签内部重要数据泄漏或被篡改</a:t>
            </a: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伪装式威胁：</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欺骗、标签伪造与复制、病毒（或恶意代码）攻击、重放等</a:t>
            </a:r>
          </a:p>
          <a:p>
            <a:pPr marL="355600">
              <a:lnSpc>
                <a:spcPct val="11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特点：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通过“伪造”</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标签来欺骗阅读器，进而使得非法用户成为合法用户</a:t>
            </a: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拒绝服务威胁：</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未授权杀死标签、干扰或屏蔽标签等，也包括对标签实施破坏的物理攻击</a:t>
            </a:r>
          </a:p>
          <a:p>
            <a:pPr marL="355600">
              <a:lnSpc>
                <a:spcPct val="11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特点：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是非法用户通过干扰、屏蔽或杀死标签等手段，阻碍标签与阅读器之间的通信，造成有用信息的丢失</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安全威胁</a:t>
            </a:r>
          </a:p>
        </p:txBody>
      </p:sp>
    </p:spTree>
    <p:extLst>
      <p:ext uri="{BB962C8B-B14F-4D97-AF65-F5344CB8AC3E}">
        <p14:creationId xmlns:p14="http://schemas.microsoft.com/office/powerpoint/2010/main" val="386319166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3801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RFID</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系统的安全需求强调“物联网标识或定位中的隐私保护”</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一个安全的无线射频识别系统一般应具备：</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完整性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可用性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真实性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隐私性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防跟踪能力</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前向安全性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后向安全性等</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安全需求</a:t>
            </a:r>
          </a:p>
        </p:txBody>
      </p:sp>
    </p:spTree>
    <p:extLst>
      <p:ext uri="{BB962C8B-B14F-4D97-AF65-F5344CB8AC3E}">
        <p14:creationId xmlns:p14="http://schemas.microsoft.com/office/powerpoint/2010/main" val="33281437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88840"/>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）基于访问控制的方法</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kill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命令机制（</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kill tag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睡眠机制（</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sleep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法拉弟笼（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Faraday cage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主动干扰（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active jamming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阻塞器标签（</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blocker tag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可分离的标签</a:t>
            </a:r>
          </a:p>
          <a:p>
            <a:pPr marL="342900" indent="-342900">
              <a:lnSpc>
                <a:spcPct val="130000"/>
              </a:lnSpc>
              <a:spcBef>
                <a:spcPts val="300"/>
              </a:spcBef>
              <a:spcAft>
                <a:spcPts val="300"/>
              </a:spcAft>
              <a:buFont typeface="Wingdings" panose="05000000000000000000" pitchFamily="2" charset="2"/>
              <a:buChar char="n"/>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安全访问方法</a:t>
            </a:r>
          </a:p>
        </p:txBody>
      </p:sp>
    </p:spTree>
    <p:extLst>
      <p:ext uri="{BB962C8B-B14F-4D97-AF65-F5344CB8AC3E}">
        <p14:creationId xmlns:p14="http://schemas.microsoft.com/office/powerpoint/2010/main" val="374545912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03627"/>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）基于密码技术的方法</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散列锁（</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hash-lock</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为了避免信息泄露和被追踪，它使用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meta ID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来代替真实的标签</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安全访问方法</a:t>
            </a:r>
          </a:p>
        </p:txBody>
      </p:sp>
      <p:grpSp>
        <p:nvGrpSpPr>
          <p:cNvPr id="27" name="组合 26">
            <a:extLst>
              <a:ext uri="{FF2B5EF4-FFF2-40B4-BE49-F238E27FC236}">
                <a16:creationId xmlns:a16="http://schemas.microsoft.com/office/drawing/2014/main" id="{C3FF76AD-03BD-4E8F-8DFC-C2C4C5D3D2A2}"/>
              </a:ext>
            </a:extLst>
          </p:cNvPr>
          <p:cNvGrpSpPr/>
          <p:nvPr/>
        </p:nvGrpSpPr>
        <p:grpSpPr>
          <a:xfrm>
            <a:off x="1649818" y="2345570"/>
            <a:ext cx="5154827" cy="2481989"/>
            <a:chOff x="1649818" y="2345570"/>
            <a:chExt cx="5154827" cy="2481989"/>
          </a:xfrm>
        </p:grpSpPr>
        <p:sp>
          <p:nvSpPr>
            <p:cNvPr id="6" name="矩形 5">
              <a:extLst>
                <a:ext uri="{FF2B5EF4-FFF2-40B4-BE49-F238E27FC236}">
                  <a16:creationId xmlns:a16="http://schemas.microsoft.com/office/drawing/2014/main" id="{FD26745A-414E-4B3C-8FF6-AF7DA3A4EA9E}"/>
                </a:ext>
              </a:extLst>
            </p:cNvPr>
            <p:cNvSpPr/>
            <p:nvPr/>
          </p:nvSpPr>
          <p:spPr>
            <a:xfrm>
              <a:off x="1763688" y="2369059"/>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数据库</a:t>
              </a:r>
            </a:p>
          </p:txBody>
        </p:sp>
        <p:sp>
          <p:nvSpPr>
            <p:cNvPr id="8" name="矩形 7">
              <a:extLst>
                <a:ext uri="{FF2B5EF4-FFF2-40B4-BE49-F238E27FC236}">
                  <a16:creationId xmlns:a16="http://schemas.microsoft.com/office/drawing/2014/main" id="{983A2B50-6D0A-4DA1-B908-F5F9CE1CC591}"/>
                </a:ext>
              </a:extLst>
            </p:cNvPr>
            <p:cNvSpPr/>
            <p:nvPr/>
          </p:nvSpPr>
          <p:spPr>
            <a:xfrm>
              <a:off x="3707904" y="2369059"/>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阅读器</a:t>
              </a:r>
            </a:p>
          </p:txBody>
        </p:sp>
        <p:sp>
          <p:nvSpPr>
            <p:cNvPr id="9" name="矩形 8">
              <a:extLst>
                <a:ext uri="{FF2B5EF4-FFF2-40B4-BE49-F238E27FC236}">
                  <a16:creationId xmlns:a16="http://schemas.microsoft.com/office/drawing/2014/main" id="{008CCA4A-531B-420E-BE71-A7A52B910D6B}"/>
                </a:ext>
              </a:extLst>
            </p:cNvPr>
            <p:cNvSpPr/>
            <p:nvPr/>
          </p:nvSpPr>
          <p:spPr>
            <a:xfrm>
              <a:off x="5796533" y="2376784"/>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电子</a:t>
              </a:r>
              <a:endParaRPr lang="en-US" altLang="zh-CN" dirty="0">
                <a:solidFill>
                  <a:srgbClr val="1889B4"/>
                </a:solidFill>
                <a:latin typeface="华文楷体" panose="02010600040101010101" pitchFamily="2" charset="-122"/>
                <a:ea typeface="华文楷体" panose="02010600040101010101" pitchFamily="2" charset="-122"/>
              </a:endParaRPr>
            </a:p>
            <a:p>
              <a:pPr algn="ctr"/>
              <a:r>
                <a:rPr lang="zh-CN" altLang="en-US" dirty="0">
                  <a:solidFill>
                    <a:srgbClr val="1889B4"/>
                  </a:solidFill>
                  <a:latin typeface="华文楷体" panose="02010600040101010101" pitchFamily="2" charset="-122"/>
                  <a:ea typeface="华文楷体" panose="02010600040101010101" pitchFamily="2" charset="-122"/>
                </a:rPr>
                <a:t>标签</a:t>
              </a:r>
            </a:p>
          </p:txBody>
        </p:sp>
        <p:cxnSp>
          <p:nvCxnSpPr>
            <p:cNvPr id="10" name="直接箭头连接符 9">
              <a:extLst>
                <a:ext uri="{FF2B5EF4-FFF2-40B4-BE49-F238E27FC236}">
                  <a16:creationId xmlns:a16="http://schemas.microsoft.com/office/drawing/2014/main" id="{1724CA42-69D5-4453-A362-00A099658E8A}"/>
                </a:ext>
              </a:extLst>
            </p:cNvPr>
            <p:cNvCxnSpPr/>
            <p:nvPr/>
          </p:nvCxnSpPr>
          <p:spPr>
            <a:xfrm flipH="1">
              <a:off x="2771800" y="3147814"/>
              <a:ext cx="93610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627F7E0-CF94-4131-8760-17D2F559B6C1}"/>
                </a:ext>
              </a:extLst>
            </p:cNvPr>
            <p:cNvCxnSpPr>
              <a:cxnSpLocks/>
            </p:cNvCxnSpPr>
            <p:nvPr/>
          </p:nvCxnSpPr>
          <p:spPr>
            <a:xfrm flipH="1">
              <a:off x="4716016" y="3153285"/>
              <a:ext cx="1080517"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09802228-4B66-45E7-9B3D-0A7D03EA2000}"/>
                </a:ext>
              </a:extLst>
            </p:cNvPr>
            <p:cNvCxnSpPr>
              <a:cxnSpLocks/>
            </p:cNvCxnSpPr>
            <p:nvPr/>
          </p:nvCxnSpPr>
          <p:spPr>
            <a:xfrm flipH="1">
              <a:off x="4716016" y="4083918"/>
              <a:ext cx="1080517"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C250EAB9-2CFF-470F-8708-BE8FF3A8267A}"/>
                </a:ext>
              </a:extLst>
            </p:cNvPr>
            <p:cNvCxnSpPr>
              <a:cxnSpLocks/>
            </p:cNvCxnSpPr>
            <p:nvPr/>
          </p:nvCxnSpPr>
          <p:spPr>
            <a:xfrm>
              <a:off x="4716016" y="3579862"/>
              <a:ext cx="1080517"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0E513A4-CF6F-4A98-B78D-1B6745C5A52F}"/>
                </a:ext>
              </a:extLst>
            </p:cNvPr>
            <p:cNvCxnSpPr>
              <a:cxnSpLocks/>
            </p:cNvCxnSpPr>
            <p:nvPr/>
          </p:nvCxnSpPr>
          <p:spPr>
            <a:xfrm>
              <a:off x="4716016" y="2643758"/>
              <a:ext cx="1080517"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3F9F6649-3D67-41CA-9CF4-9EA4E77F887E}"/>
                </a:ext>
              </a:extLst>
            </p:cNvPr>
            <p:cNvCxnSpPr>
              <a:cxnSpLocks/>
            </p:cNvCxnSpPr>
            <p:nvPr/>
          </p:nvCxnSpPr>
          <p:spPr>
            <a:xfrm>
              <a:off x="2771800" y="3589277"/>
              <a:ext cx="93610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0DE77DAF-EF51-4F6B-AFBF-E7A6E4A4A78E}"/>
                </a:ext>
              </a:extLst>
            </p:cNvPr>
            <p:cNvSpPr txBox="1"/>
            <p:nvPr/>
          </p:nvSpPr>
          <p:spPr>
            <a:xfrm>
              <a:off x="2838940" y="2809260"/>
              <a:ext cx="801823" cy="338554"/>
            </a:xfrm>
            <a:prstGeom prst="rect">
              <a:avLst/>
            </a:prstGeom>
            <a:noFill/>
          </p:spPr>
          <p:txBody>
            <a:bodyPr wrap="none" rtlCol="0">
              <a:spAutoFit/>
            </a:bodyPr>
            <a:lstStyle/>
            <a:p>
              <a:r>
                <a:rPr lang="en-US" altLang="zh-CN" sz="1600" dirty="0" err="1">
                  <a:latin typeface="Times New Roman" panose="02020603050405020304" pitchFamily="18" charset="0"/>
                  <a:cs typeface="Times New Roman" panose="02020603050405020304" pitchFamily="18" charset="0"/>
                </a:rPr>
                <a:t>metaID</a:t>
              </a:r>
              <a:endParaRPr lang="zh-CN" altLang="en-US" sz="160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7F5FBB7A-BD44-456B-8EFF-C7B9CF42D6AB}"/>
                </a:ext>
              </a:extLst>
            </p:cNvPr>
            <p:cNvSpPr txBox="1"/>
            <p:nvPr/>
          </p:nvSpPr>
          <p:spPr>
            <a:xfrm>
              <a:off x="2780687" y="3280960"/>
              <a:ext cx="918328"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Key,ID</a:t>
              </a:r>
              <a:r>
                <a:rPr lang="en-US"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B9724E4A-FDF3-4E06-A61D-07113E8764AF}"/>
                </a:ext>
              </a:extLst>
            </p:cNvPr>
            <p:cNvSpPr txBox="1"/>
            <p:nvPr/>
          </p:nvSpPr>
          <p:spPr>
            <a:xfrm>
              <a:off x="4905149" y="2345570"/>
              <a:ext cx="697627"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Query</a:t>
              </a:r>
              <a:endParaRPr lang="zh-CN" altLang="en-US" sz="1600"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34210515-EB11-42E3-AFE7-5ED5DC296BFE}"/>
                </a:ext>
              </a:extLst>
            </p:cNvPr>
            <p:cNvSpPr txBox="1"/>
            <p:nvPr/>
          </p:nvSpPr>
          <p:spPr>
            <a:xfrm>
              <a:off x="5029424" y="3280960"/>
              <a:ext cx="526106"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Key</a:t>
              </a:r>
              <a:endParaRPr lang="zh-CN" altLang="en-US" sz="1600"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19FF6B6B-4800-42B7-8BB6-D9F38F21E3AA}"/>
                </a:ext>
              </a:extLst>
            </p:cNvPr>
            <p:cNvSpPr txBox="1"/>
            <p:nvPr/>
          </p:nvSpPr>
          <p:spPr>
            <a:xfrm>
              <a:off x="5029686" y="3762505"/>
              <a:ext cx="401072"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ID</a:t>
              </a:r>
              <a:endParaRPr lang="zh-CN" altLang="en-US" sz="1600"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95FB110E-BFCC-423B-A68B-11AF73CBBF42}"/>
                </a:ext>
              </a:extLst>
            </p:cNvPr>
            <p:cNvSpPr txBox="1"/>
            <p:nvPr/>
          </p:nvSpPr>
          <p:spPr>
            <a:xfrm>
              <a:off x="4889944" y="2826144"/>
              <a:ext cx="801823" cy="338554"/>
            </a:xfrm>
            <a:prstGeom prst="rect">
              <a:avLst/>
            </a:prstGeom>
            <a:noFill/>
          </p:spPr>
          <p:txBody>
            <a:bodyPr wrap="none" rtlCol="0">
              <a:spAutoFit/>
            </a:bodyPr>
            <a:lstStyle/>
            <a:p>
              <a:r>
                <a:rPr lang="en-US" altLang="zh-CN" sz="1600" dirty="0" err="1">
                  <a:latin typeface="Times New Roman" panose="02020603050405020304" pitchFamily="18" charset="0"/>
                  <a:cs typeface="Times New Roman" panose="02020603050405020304" pitchFamily="18" charset="0"/>
                </a:rPr>
                <a:t>metaID</a:t>
              </a:r>
              <a:endParaRPr lang="zh-CN" altLang="en-US" sz="1600" dirty="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3308411E-D58F-4901-84CC-E736A23C8F76}"/>
                </a:ext>
              </a:extLst>
            </p:cNvPr>
            <p:cNvSpPr txBox="1"/>
            <p:nvPr/>
          </p:nvSpPr>
          <p:spPr>
            <a:xfrm>
              <a:off x="1649818" y="4550560"/>
              <a:ext cx="1235851"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metaID,Key,ID</a:t>
              </a:r>
              <a:r>
                <a:rPr lang="en-US" altLang="zh-CN" sz="1200" dirty="0">
                  <a:latin typeface="Times New Roman" panose="02020603050405020304" pitchFamily="18" charset="0"/>
                  <a:cs typeface="Times New Roman" panose="02020603050405020304" pitchFamily="18" charset="0"/>
                </a:rPr>
                <a:t>)</a:t>
              </a:r>
              <a:endParaRPr lang="zh-CN" altLang="en-US" sz="1200" dirty="0">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F7B28C09-8C19-4B86-9C15-008B0674ACF6}"/>
                </a:ext>
              </a:extLst>
            </p:cNvPr>
            <p:cNvSpPr txBox="1"/>
            <p:nvPr/>
          </p:nvSpPr>
          <p:spPr>
            <a:xfrm>
              <a:off x="5825144" y="4530810"/>
              <a:ext cx="950901"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metaID,ID</a:t>
              </a:r>
              <a:r>
                <a:rPr lang="en-US" altLang="zh-CN" sz="1200" dirty="0">
                  <a:latin typeface="Times New Roman" panose="02020603050405020304" pitchFamily="18" charset="0"/>
                  <a:cs typeface="Times New Roman" panose="02020603050405020304" pitchFamily="18" charset="0"/>
                </a:rPr>
                <a:t>)</a:t>
              </a:r>
              <a:endParaRPr lang="zh-CN" altLang="en-US" sz="12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9511620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13761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随机散列锁协议</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采用了基于随机数的询问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应答机制。认证通过后的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标识仍以明文的形式通过不安全信道传送，因此攻击者可以对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进行有效的追踪</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安全访问方法</a:t>
            </a:r>
          </a:p>
        </p:txBody>
      </p:sp>
      <p:sp>
        <p:nvSpPr>
          <p:cNvPr id="6" name="矩形 5">
            <a:extLst>
              <a:ext uri="{FF2B5EF4-FFF2-40B4-BE49-F238E27FC236}">
                <a16:creationId xmlns:a16="http://schemas.microsoft.com/office/drawing/2014/main" id="{FD26745A-414E-4B3C-8FF6-AF7DA3A4EA9E}"/>
              </a:ext>
            </a:extLst>
          </p:cNvPr>
          <p:cNvSpPr/>
          <p:nvPr/>
        </p:nvSpPr>
        <p:spPr>
          <a:xfrm>
            <a:off x="1763688" y="2369059"/>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数据库</a:t>
            </a:r>
          </a:p>
        </p:txBody>
      </p:sp>
      <p:sp>
        <p:nvSpPr>
          <p:cNvPr id="8" name="矩形 7">
            <a:extLst>
              <a:ext uri="{FF2B5EF4-FFF2-40B4-BE49-F238E27FC236}">
                <a16:creationId xmlns:a16="http://schemas.microsoft.com/office/drawing/2014/main" id="{983A2B50-6D0A-4DA1-B908-F5F9CE1CC591}"/>
              </a:ext>
            </a:extLst>
          </p:cNvPr>
          <p:cNvSpPr/>
          <p:nvPr/>
        </p:nvSpPr>
        <p:spPr>
          <a:xfrm>
            <a:off x="4067547" y="2369059"/>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阅读器</a:t>
            </a:r>
          </a:p>
        </p:txBody>
      </p:sp>
      <p:sp>
        <p:nvSpPr>
          <p:cNvPr id="9" name="矩形 8">
            <a:extLst>
              <a:ext uri="{FF2B5EF4-FFF2-40B4-BE49-F238E27FC236}">
                <a16:creationId xmlns:a16="http://schemas.microsoft.com/office/drawing/2014/main" id="{008CCA4A-531B-420E-BE71-A7A52B910D6B}"/>
              </a:ext>
            </a:extLst>
          </p:cNvPr>
          <p:cNvSpPr/>
          <p:nvPr/>
        </p:nvSpPr>
        <p:spPr>
          <a:xfrm>
            <a:off x="6588224" y="2376784"/>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电子</a:t>
            </a:r>
            <a:endParaRPr lang="en-US" altLang="zh-CN" dirty="0">
              <a:solidFill>
                <a:srgbClr val="1889B4"/>
              </a:solidFill>
              <a:latin typeface="华文楷体" panose="02010600040101010101" pitchFamily="2" charset="-122"/>
              <a:ea typeface="华文楷体" panose="02010600040101010101" pitchFamily="2" charset="-122"/>
            </a:endParaRPr>
          </a:p>
          <a:p>
            <a:pPr algn="ctr"/>
            <a:r>
              <a:rPr lang="zh-CN" altLang="en-US" dirty="0">
                <a:solidFill>
                  <a:srgbClr val="1889B4"/>
                </a:solidFill>
                <a:latin typeface="华文楷体" panose="02010600040101010101" pitchFamily="2" charset="-122"/>
                <a:ea typeface="华文楷体" panose="02010600040101010101" pitchFamily="2" charset="-122"/>
              </a:rPr>
              <a:t>标签</a:t>
            </a:r>
          </a:p>
        </p:txBody>
      </p:sp>
      <p:cxnSp>
        <p:nvCxnSpPr>
          <p:cNvPr id="10" name="直接箭头连接符 9">
            <a:extLst>
              <a:ext uri="{FF2B5EF4-FFF2-40B4-BE49-F238E27FC236}">
                <a16:creationId xmlns:a16="http://schemas.microsoft.com/office/drawing/2014/main" id="{1724CA42-69D5-4453-A362-00A099658E8A}"/>
              </a:ext>
            </a:extLst>
          </p:cNvPr>
          <p:cNvCxnSpPr/>
          <p:nvPr/>
        </p:nvCxnSpPr>
        <p:spPr>
          <a:xfrm flipH="1">
            <a:off x="2771800" y="3147814"/>
            <a:ext cx="1260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627F7E0-CF94-4131-8760-17D2F559B6C1}"/>
              </a:ext>
            </a:extLst>
          </p:cNvPr>
          <p:cNvCxnSpPr>
            <a:cxnSpLocks/>
          </p:cNvCxnSpPr>
          <p:nvPr/>
        </p:nvCxnSpPr>
        <p:spPr>
          <a:xfrm flipH="1">
            <a:off x="5075659" y="3153285"/>
            <a:ext cx="151256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C250EAB9-2CFF-470F-8708-BE8FF3A8267A}"/>
              </a:ext>
            </a:extLst>
          </p:cNvPr>
          <p:cNvCxnSpPr>
            <a:cxnSpLocks/>
          </p:cNvCxnSpPr>
          <p:nvPr/>
        </p:nvCxnSpPr>
        <p:spPr>
          <a:xfrm>
            <a:off x="5075659" y="3579862"/>
            <a:ext cx="151256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0E513A4-CF6F-4A98-B78D-1B6745C5A52F}"/>
              </a:ext>
            </a:extLst>
          </p:cNvPr>
          <p:cNvCxnSpPr>
            <a:cxnSpLocks/>
          </p:cNvCxnSpPr>
          <p:nvPr/>
        </p:nvCxnSpPr>
        <p:spPr>
          <a:xfrm>
            <a:off x="5075659" y="2643758"/>
            <a:ext cx="151256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3F9F6649-3D67-41CA-9CF4-9EA4E77F887E}"/>
              </a:ext>
            </a:extLst>
          </p:cNvPr>
          <p:cNvCxnSpPr>
            <a:cxnSpLocks/>
          </p:cNvCxnSpPr>
          <p:nvPr/>
        </p:nvCxnSpPr>
        <p:spPr>
          <a:xfrm>
            <a:off x="2771800" y="3589277"/>
            <a:ext cx="1260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0DE77DAF-EF51-4F6B-AFBF-E7A6E4A4A78E}"/>
              </a:ext>
            </a:extLst>
          </p:cNvPr>
          <p:cNvSpPr txBox="1"/>
          <p:nvPr/>
        </p:nvSpPr>
        <p:spPr>
          <a:xfrm>
            <a:off x="2706299" y="2819633"/>
            <a:ext cx="1441420"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cs typeface="Times New Roman" panose="02020603050405020304" pitchFamily="18" charset="0"/>
              </a:rPr>
              <a:t>获取所有</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ID</a:t>
            </a:r>
            <a:r>
              <a:rPr lang="zh-CN" altLang="en-US" sz="1600" dirty="0">
                <a:latin typeface="华文楷体" panose="02010600040101010101" pitchFamily="2" charset="-122"/>
                <a:ea typeface="华文楷体" panose="02010600040101010101" pitchFamily="2" charset="-122"/>
                <a:cs typeface="Times New Roman" panose="02020603050405020304" pitchFamily="18" charset="0"/>
              </a:rPr>
              <a:t>号</a:t>
            </a:r>
          </a:p>
        </p:txBody>
      </p:sp>
      <p:sp>
        <p:nvSpPr>
          <p:cNvPr id="20" name="文本框 19">
            <a:extLst>
              <a:ext uri="{FF2B5EF4-FFF2-40B4-BE49-F238E27FC236}">
                <a16:creationId xmlns:a16="http://schemas.microsoft.com/office/drawing/2014/main" id="{7F5FBB7A-BD44-456B-8EFF-C7B9CF42D6AB}"/>
              </a:ext>
            </a:extLst>
          </p:cNvPr>
          <p:cNvSpPr txBox="1"/>
          <p:nvPr/>
        </p:nvSpPr>
        <p:spPr>
          <a:xfrm>
            <a:off x="2786470" y="3218928"/>
            <a:ext cx="1382110"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ID</a:t>
            </a:r>
            <a:r>
              <a:rPr lang="en-US" altLang="zh-CN" sz="1600" baseline="-25000" dirty="0">
                <a:latin typeface="Times New Roman" panose="02020603050405020304" pitchFamily="18" charset="0"/>
                <a:cs typeface="Times New Roman" panose="02020603050405020304" pitchFamily="18" charset="0"/>
              </a:rPr>
              <a:t>1</a:t>
            </a:r>
            <a:r>
              <a:rPr lang="en-US" altLang="zh-CN" sz="1600" dirty="0">
                <a:latin typeface="Times New Roman" panose="02020603050405020304" pitchFamily="18" charset="0"/>
                <a:cs typeface="Times New Roman" panose="02020603050405020304" pitchFamily="18" charset="0"/>
              </a:rPr>
              <a:t>,ID</a:t>
            </a:r>
            <a:r>
              <a:rPr lang="en-US" altLang="zh-CN" sz="1600" baseline="-25000" dirty="0">
                <a:latin typeface="Times New Roman" panose="02020603050405020304" pitchFamily="18" charset="0"/>
                <a:cs typeface="Times New Roman" panose="02020603050405020304" pitchFamily="18" charset="0"/>
              </a:rPr>
              <a:t>2</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ID</a:t>
            </a:r>
            <a:r>
              <a:rPr lang="en-US" altLang="zh-CN" sz="1600" baseline="-25000" dirty="0" err="1">
                <a:latin typeface="Times New Roman" panose="02020603050405020304" pitchFamily="18" charset="0"/>
                <a:cs typeface="Times New Roman" panose="02020603050405020304" pitchFamily="18" charset="0"/>
              </a:rPr>
              <a:t>n</a:t>
            </a:r>
            <a:endParaRPr lang="zh-CN" altLang="en-US" sz="1600" baseline="-25000"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B9724E4A-FDF3-4E06-A61D-07113E8764AF}"/>
              </a:ext>
            </a:extLst>
          </p:cNvPr>
          <p:cNvSpPr txBox="1"/>
          <p:nvPr/>
        </p:nvSpPr>
        <p:spPr>
          <a:xfrm>
            <a:off x="5458549" y="2345570"/>
            <a:ext cx="697627"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Query</a:t>
            </a:r>
            <a:endParaRPr lang="zh-CN" altLang="en-US" sz="1600"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19FF6B6B-4800-42B7-8BB6-D9F38F21E3AA}"/>
              </a:ext>
            </a:extLst>
          </p:cNvPr>
          <p:cNvSpPr txBox="1"/>
          <p:nvPr/>
        </p:nvSpPr>
        <p:spPr>
          <a:xfrm>
            <a:off x="5686176" y="3275504"/>
            <a:ext cx="470000" cy="338554"/>
          </a:xfrm>
          <a:prstGeom prst="rect">
            <a:avLst/>
          </a:prstGeom>
          <a:noFill/>
        </p:spPr>
        <p:txBody>
          <a:bodyPr wrap="none" rtlCol="0">
            <a:spAutoFit/>
          </a:bodyPr>
          <a:lstStyle/>
          <a:p>
            <a:r>
              <a:rPr lang="en-US" altLang="zh-CN" sz="1600" dirty="0" err="1">
                <a:latin typeface="Times New Roman" panose="02020603050405020304" pitchFamily="18" charset="0"/>
                <a:cs typeface="Times New Roman" panose="02020603050405020304" pitchFamily="18" charset="0"/>
              </a:rPr>
              <a:t>ID</a:t>
            </a:r>
            <a:r>
              <a:rPr lang="en-US" altLang="zh-CN" sz="1600" baseline="-25000" dirty="0" err="1">
                <a:latin typeface="Times New Roman" panose="02020603050405020304" pitchFamily="18" charset="0"/>
                <a:cs typeface="Times New Roman" panose="02020603050405020304" pitchFamily="18" charset="0"/>
              </a:rPr>
              <a:t>k</a:t>
            </a:r>
            <a:endParaRPr lang="zh-CN" altLang="en-US" sz="1600" baseline="-25000"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95FB110E-BFCC-423B-A68B-11AF73CBBF42}"/>
              </a:ext>
            </a:extLst>
          </p:cNvPr>
          <p:cNvSpPr txBox="1"/>
          <p:nvPr/>
        </p:nvSpPr>
        <p:spPr>
          <a:xfrm>
            <a:off x="5249587" y="2826144"/>
            <a:ext cx="1350050"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R</a:t>
            </a:r>
            <a:r>
              <a:rPr lang="zh-CN" altLang="en-US"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H(</a:t>
            </a:r>
            <a:r>
              <a:rPr lang="en-US" altLang="zh-CN" sz="1600" dirty="0" err="1">
                <a:latin typeface="Times New Roman" panose="02020603050405020304" pitchFamily="18" charset="0"/>
                <a:cs typeface="Times New Roman" panose="02020603050405020304" pitchFamily="18" charset="0"/>
              </a:rPr>
              <a:t>ID</a:t>
            </a:r>
            <a:r>
              <a:rPr lang="en-US" altLang="zh-CN" sz="1600" baseline="-25000" dirty="0" err="1">
                <a:latin typeface="Times New Roman" panose="02020603050405020304" pitchFamily="18" charset="0"/>
                <a:cs typeface="Times New Roman" panose="02020603050405020304" pitchFamily="18" charset="0"/>
              </a:rPr>
              <a:t>k</a:t>
            </a:r>
            <a:r>
              <a:rPr lang="en-US" altLang="zh-CN" sz="1600" dirty="0">
                <a:latin typeface="Times New Roman" panose="02020603050405020304" pitchFamily="18" charset="0"/>
                <a:cs typeface="Times New Roman" panose="02020603050405020304" pitchFamily="18" charset="0"/>
              </a:rPr>
              <a:t>||R)</a:t>
            </a:r>
            <a:endParaRPr lang="zh-CN" altLang="en-US" sz="1600" dirty="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3308411E-D58F-4901-84CC-E736A23C8F76}"/>
              </a:ext>
            </a:extLst>
          </p:cNvPr>
          <p:cNvSpPr txBox="1"/>
          <p:nvPr/>
        </p:nvSpPr>
        <p:spPr>
          <a:xfrm>
            <a:off x="1725590" y="4523691"/>
            <a:ext cx="1055097"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ID</a:t>
            </a:r>
            <a:r>
              <a:rPr lang="en-US" altLang="zh-CN" sz="1200" baseline="-25000" dirty="0">
                <a:latin typeface="Times New Roman" panose="02020603050405020304" pitchFamily="18" charset="0"/>
                <a:cs typeface="Times New Roman" panose="02020603050405020304" pitchFamily="18" charset="0"/>
              </a:rPr>
              <a:t>1</a:t>
            </a:r>
            <a:r>
              <a:rPr lang="en-US" altLang="zh-CN" sz="1200" dirty="0">
                <a:latin typeface="Times New Roman" panose="02020603050405020304" pitchFamily="18" charset="0"/>
                <a:cs typeface="Times New Roman" panose="02020603050405020304" pitchFamily="18" charset="0"/>
              </a:rPr>
              <a:t>,ID</a:t>
            </a:r>
            <a:r>
              <a:rPr lang="en-US" altLang="zh-CN" sz="1200" baseline="-25000" dirty="0">
                <a:latin typeface="Times New Roman" panose="02020603050405020304" pitchFamily="18" charset="0"/>
                <a:cs typeface="Times New Roman" panose="02020603050405020304" pitchFamily="18" charset="0"/>
              </a:rPr>
              <a:t>2</a:t>
            </a:r>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ID</a:t>
            </a:r>
            <a:r>
              <a:rPr lang="en-US" altLang="zh-CN" sz="1200" baseline="-25000" dirty="0" err="1">
                <a:latin typeface="Times New Roman" panose="02020603050405020304" pitchFamily="18" charset="0"/>
                <a:cs typeface="Times New Roman" panose="02020603050405020304" pitchFamily="18" charset="0"/>
              </a:rPr>
              <a:t>n</a:t>
            </a:r>
            <a:endParaRPr lang="zh-CN" altLang="en-US" sz="1200" baseline="-25000" dirty="0">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F7B28C09-8C19-4B86-9C15-008B0674ACF6}"/>
              </a:ext>
            </a:extLst>
          </p:cNvPr>
          <p:cNvSpPr txBox="1"/>
          <p:nvPr/>
        </p:nvSpPr>
        <p:spPr>
          <a:xfrm>
            <a:off x="6867699" y="4515966"/>
            <a:ext cx="449162"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(ID)</a:t>
            </a:r>
            <a:endParaRPr lang="zh-CN"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343837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1753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供应链</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供应链协议是基于共享秘密的询问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应答协议</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安全访问方法</a:t>
            </a:r>
          </a:p>
        </p:txBody>
      </p:sp>
      <p:sp>
        <p:nvSpPr>
          <p:cNvPr id="6" name="矩形 5">
            <a:extLst>
              <a:ext uri="{FF2B5EF4-FFF2-40B4-BE49-F238E27FC236}">
                <a16:creationId xmlns:a16="http://schemas.microsoft.com/office/drawing/2014/main" id="{FD26745A-414E-4B3C-8FF6-AF7DA3A4EA9E}"/>
              </a:ext>
            </a:extLst>
          </p:cNvPr>
          <p:cNvSpPr/>
          <p:nvPr/>
        </p:nvSpPr>
        <p:spPr>
          <a:xfrm>
            <a:off x="1763688" y="2369059"/>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数据库</a:t>
            </a:r>
          </a:p>
        </p:txBody>
      </p:sp>
      <p:sp>
        <p:nvSpPr>
          <p:cNvPr id="8" name="矩形 7">
            <a:extLst>
              <a:ext uri="{FF2B5EF4-FFF2-40B4-BE49-F238E27FC236}">
                <a16:creationId xmlns:a16="http://schemas.microsoft.com/office/drawing/2014/main" id="{983A2B50-6D0A-4DA1-B908-F5F9CE1CC591}"/>
              </a:ext>
            </a:extLst>
          </p:cNvPr>
          <p:cNvSpPr/>
          <p:nvPr/>
        </p:nvSpPr>
        <p:spPr>
          <a:xfrm>
            <a:off x="4067547" y="2369059"/>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阅读器</a:t>
            </a:r>
          </a:p>
        </p:txBody>
      </p:sp>
      <p:sp>
        <p:nvSpPr>
          <p:cNvPr id="9" name="矩形 8">
            <a:extLst>
              <a:ext uri="{FF2B5EF4-FFF2-40B4-BE49-F238E27FC236}">
                <a16:creationId xmlns:a16="http://schemas.microsoft.com/office/drawing/2014/main" id="{008CCA4A-531B-420E-BE71-A7A52B910D6B}"/>
              </a:ext>
            </a:extLst>
          </p:cNvPr>
          <p:cNvSpPr/>
          <p:nvPr/>
        </p:nvSpPr>
        <p:spPr>
          <a:xfrm>
            <a:off x="6588224" y="2376784"/>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电子</a:t>
            </a:r>
            <a:endParaRPr lang="en-US" altLang="zh-CN" dirty="0">
              <a:solidFill>
                <a:srgbClr val="1889B4"/>
              </a:solidFill>
              <a:latin typeface="华文楷体" panose="02010600040101010101" pitchFamily="2" charset="-122"/>
              <a:ea typeface="华文楷体" panose="02010600040101010101" pitchFamily="2" charset="-122"/>
            </a:endParaRPr>
          </a:p>
          <a:p>
            <a:pPr algn="ctr"/>
            <a:r>
              <a:rPr lang="zh-CN" altLang="en-US" dirty="0">
                <a:solidFill>
                  <a:srgbClr val="1889B4"/>
                </a:solidFill>
                <a:latin typeface="华文楷体" panose="02010600040101010101" pitchFamily="2" charset="-122"/>
                <a:ea typeface="华文楷体" panose="02010600040101010101" pitchFamily="2" charset="-122"/>
              </a:rPr>
              <a:t>标签</a:t>
            </a:r>
          </a:p>
        </p:txBody>
      </p:sp>
      <p:cxnSp>
        <p:nvCxnSpPr>
          <p:cNvPr id="10" name="直接箭头连接符 9">
            <a:extLst>
              <a:ext uri="{FF2B5EF4-FFF2-40B4-BE49-F238E27FC236}">
                <a16:creationId xmlns:a16="http://schemas.microsoft.com/office/drawing/2014/main" id="{1724CA42-69D5-4453-A362-00A099658E8A}"/>
              </a:ext>
            </a:extLst>
          </p:cNvPr>
          <p:cNvCxnSpPr/>
          <p:nvPr/>
        </p:nvCxnSpPr>
        <p:spPr>
          <a:xfrm flipH="1">
            <a:off x="2771800" y="2851609"/>
            <a:ext cx="1260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627F7E0-CF94-4131-8760-17D2F559B6C1}"/>
              </a:ext>
            </a:extLst>
          </p:cNvPr>
          <p:cNvCxnSpPr>
            <a:cxnSpLocks/>
          </p:cNvCxnSpPr>
          <p:nvPr/>
        </p:nvCxnSpPr>
        <p:spPr>
          <a:xfrm flipH="1">
            <a:off x="5075659" y="3153285"/>
            <a:ext cx="151256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C250EAB9-2CFF-470F-8708-BE8FF3A8267A}"/>
              </a:ext>
            </a:extLst>
          </p:cNvPr>
          <p:cNvCxnSpPr>
            <a:cxnSpLocks/>
          </p:cNvCxnSpPr>
          <p:nvPr/>
        </p:nvCxnSpPr>
        <p:spPr>
          <a:xfrm>
            <a:off x="5075659" y="3579862"/>
            <a:ext cx="151256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0E513A4-CF6F-4A98-B78D-1B6745C5A52F}"/>
              </a:ext>
            </a:extLst>
          </p:cNvPr>
          <p:cNvCxnSpPr>
            <a:cxnSpLocks/>
          </p:cNvCxnSpPr>
          <p:nvPr/>
        </p:nvCxnSpPr>
        <p:spPr>
          <a:xfrm>
            <a:off x="5075659" y="2643758"/>
            <a:ext cx="151256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3F9F6649-3D67-41CA-9CF4-9EA4E77F887E}"/>
              </a:ext>
            </a:extLst>
          </p:cNvPr>
          <p:cNvCxnSpPr>
            <a:cxnSpLocks/>
          </p:cNvCxnSpPr>
          <p:nvPr/>
        </p:nvCxnSpPr>
        <p:spPr>
          <a:xfrm>
            <a:off x="2771800" y="3293072"/>
            <a:ext cx="1260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0DE77DAF-EF51-4F6B-AFBF-E7A6E4A4A78E}"/>
              </a:ext>
            </a:extLst>
          </p:cNvPr>
          <p:cNvSpPr txBox="1"/>
          <p:nvPr/>
        </p:nvSpPr>
        <p:spPr>
          <a:xfrm>
            <a:off x="3237431" y="2559550"/>
            <a:ext cx="312906" cy="338554"/>
          </a:xfrm>
          <a:prstGeom prst="rect">
            <a:avLst/>
          </a:prstGeom>
          <a:noFill/>
        </p:spPr>
        <p:txBody>
          <a:bodyPr wrap="none" rtlCol="0">
            <a:spAutoFit/>
          </a:bodyPr>
          <a:lstStyle/>
          <a:p>
            <a:pPr algn="ct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R</a:t>
            </a:r>
            <a:endParaRPr lang="zh-CN" altLang="en-US" sz="16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20" name="文本框 19">
            <a:extLst>
              <a:ext uri="{FF2B5EF4-FFF2-40B4-BE49-F238E27FC236}">
                <a16:creationId xmlns:a16="http://schemas.microsoft.com/office/drawing/2014/main" id="{7F5FBB7A-BD44-456B-8EFF-C7B9CF42D6AB}"/>
              </a:ext>
            </a:extLst>
          </p:cNvPr>
          <p:cNvSpPr txBox="1"/>
          <p:nvPr/>
        </p:nvSpPr>
        <p:spPr>
          <a:xfrm>
            <a:off x="2709383" y="2787424"/>
            <a:ext cx="1420582" cy="584775"/>
          </a:xfrm>
          <a:prstGeom prst="rect">
            <a:avLst/>
          </a:prstGeom>
          <a:noFill/>
        </p:spPr>
        <p:txBody>
          <a:bodyPr wrap="none" rtlCol="0">
            <a:spAutoFit/>
          </a:bodyPr>
          <a:lstStyle/>
          <a:p>
            <a:pPr algn="ct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a(R)=H</a:t>
            </a:r>
          </a:p>
          <a:p>
            <a:pPr algn="ct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dirty="0" err="1">
                <a:latin typeface="华文楷体" panose="02010600040101010101" pitchFamily="2" charset="-122"/>
                <a:ea typeface="华文楷体" panose="02010600040101010101" pitchFamily="2" charset="-122"/>
                <a:cs typeface="Times New Roman" panose="02020603050405020304" pitchFamily="18" charset="0"/>
              </a:rPr>
              <a:t>ReaderID</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||R)</a:t>
            </a:r>
            <a:endParaRPr lang="zh-CN" altLang="en-US" sz="16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B9724E4A-FDF3-4E06-A61D-07113E8764AF}"/>
              </a:ext>
            </a:extLst>
          </p:cNvPr>
          <p:cNvSpPr txBox="1"/>
          <p:nvPr/>
        </p:nvSpPr>
        <p:spPr>
          <a:xfrm>
            <a:off x="5458549" y="2345570"/>
            <a:ext cx="697627"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Query</a:t>
            </a:r>
            <a:endParaRPr lang="zh-CN" altLang="en-US" sz="1600"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19FF6B6B-4800-42B7-8BB6-D9F38F21E3AA}"/>
              </a:ext>
            </a:extLst>
          </p:cNvPr>
          <p:cNvSpPr txBox="1"/>
          <p:nvPr/>
        </p:nvSpPr>
        <p:spPr>
          <a:xfrm>
            <a:off x="5686176" y="3275504"/>
            <a:ext cx="550151"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a(R)</a:t>
            </a:r>
            <a:endParaRPr lang="zh-CN" altLang="en-US" sz="1600" baseline="-25000"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95FB110E-BFCC-423B-A68B-11AF73CBBF42}"/>
              </a:ext>
            </a:extLst>
          </p:cNvPr>
          <p:cNvSpPr txBox="1"/>
          <p:nvPr/>
        </p:nvSpPr>
        <p:spPr>
          <a:xfrm>
            <a:off x="5700431" y="2844607"/>
            <a:ext cx="320922"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R</a:t>
            </a:r>
            <a:endParaRPr lang="zh-CN" altLang="en-US" sz="1600" dirty="0">
              <a:latin typeface="Times New Roman" panose="02020603050405020304" pitchFamily="18" charset="0"/>
              <a:cs typeface="Times New Roman" panose="02020603050405020304" pitchFamily="18" charset="0"/>
            </a:endParaRPr>
          </a:p>
        </p:txBody>
      </p:sp>
      <p:cxnSp>
        <p:nvCxnSpPr>
          <p:cNvPr id="31" name="直接箭头连接符 30">
            <a:extLst>
              <a:ext uri="{FF2B5EF4-FFF2-40B4-BE49-F238E27FC236}">
                <a16:creationId xmlns:a16="http://schemas.microsoft.com/office/drawing/2014/main" id="{65AC191A-0DD4-4B58-AB02-EC0A93FEFEB6}"/>
              </a:ext>
            </a:extLst>
          </p:cNvPr>
          <p:cNvCxnSpPr/>
          <p:nvPr/>
        </p:nvCxnSpPr>
        <p:spPr>
          <a:xfrm flipH="1">
            <a:off x="2771800" y="3863522"/>
            <a:ext cx="1260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ACDDFAF3-6349-4B7D-A11A-B64A3D4A9ED9}"/>
              </a:ext>
            </a:extLst>
          </p:cNvPr>
          <p:cNvCxnSpPr>
            <a:cxnSpLocks/>
          </p:cNvCxnSpPr>
          <p:nvPr/>
        </p:nvCxnSpPr>
        <p:spPr>
          <a:xfrm>
            <a:off x="2771800" y="4304985"/>
            <a:ext cx="1260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2E102F8C-09D1-40DF-B000-786D952F1C3D}"/>
              </a:ext>
            </a:extLst>
          </p:cNvPr>
          <p:cNvSpPr txBox="1"/>
          <p:nvPr/>
        </p:nvSpPr>
        <p:spPr>
          <a:xfrm>
            <a:off x="2927959" y="3565258"/>
            <a:ext cx="990977" cy="338554"/>
          </a:xfrm>
          <a:prstGeom prst="rect">
            <a:avLst/>
          </a:prstGeom>
          <a:noFill/>
        </p:spPr>
        <p:txBody>
          <a:bodyPr wrap="none" rtlCol="0">
            <a:spAutoFit/>
          </a:bodyPr>
          <a:lstStyle/>
          <a:p>
            <a:pPr algn="ct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H(</a:t>
            </a:r>
            <a:r>
              <a:rPr lang="en-US" altLang="zh-CN" sz="1600" dirty="0" err="1">
                <a:latin typeface="华文楷体" panose="02010600040101010101" pitchFamily="2" charset="-122"/>
                <a:ea typeface="华文楷体" panose="02010600040101010101" pitchFamily="2" charset="-122"/>
                <a:cs typeface="Times New Roman" panose="02020603050405020304" pitchFamily="18" charset="0"/>
              </a:rPr>
              <a:t>TagID</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sz="16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34" name="文本框 33">
            <a:extLst>
              <a:ext uri="{FF2B5EF4-FFF2-40B4-BE49-F238E27FC236}">
                <a16:creationId xmlns:a16="http://schemas.microsoft.com/office/drawing/2014/main" id="{9EFF097F-3536-4237-9C99-7977D1D470AC}"/>
              </a:ext>
            </a:extLst>
          </p:cNvPr>
          <p:cNvSpPr txBox="1"/>
          <p:nvPr/>
        </p:nvSpPr>
        <p:spPr>
          <a:xfrm>
            <a:off x="3045343" y="3980667"/>
            <a:ext cx="705771" cy="338554"/>
          </a:xfrm>
          <a:prstGeom prst="rect">
            <a:avLst/>
          </a:prstGeom>
          <a:noFill/>
        </p:spPr>
        <p:txBody>
          <a:bodyPr wrap="none" rtlCol="0">
            <a:spAutoFit/>
          </a:bodyPr>
          <a:lstStyle/>
          <a:p>
            <a:r>
              <a:rPr lang="en-US" altLang="zh-CN" sz="1600" dirty="0" err="1">
                <a:latin typeface="Times New Roman" panose="02020603050405020304" pitchFamily="18" charset="0"/>
                <a:cs typeface="Times New Roman" panose="02020603050405020304" pitchFamily="18" charset="0"/>
              </a:rPr>
              <a:t>TagID</a:t>
            </a:r>
            <a:endParaRPr lang="zh-CN" altLang="en-US" sz="1600" dirty="0">
              <a:latin typeface="Times New Roman" panose="02020603050405020304" pitchFamily="18" charset="0"/>
              <a:cs typeface="Times New Roman" panose="02020603050405020304" pitchFamily="18" charset="0"/>
            </a:endParaRPr>
          </a:p>
        </p:txBody>
      </p:sp>
      <p:cxnSp>
        <p:nvCxnSpPr>
          <p:cNvPr id="35" name="直接箭头连接符 34">
            <a:extLst>
              <a:ext uri="{FF2B5EF4-FFF2-40B4-BE49-F238E27FC236}">
                <a16:creationId xmlns:a16="http://schemas.microsoft.com/office/drawing/2014/main" id="{5C7A1E5A-64C6-46F7-90DC-A4DA62B0548C}"/>
              </a:ext>
            </a:extLst>
          </p:cNvPr>
          <p:cNvCxnSpPr>
            <a:cxnSpLocks/>
          </p:cNvCxnSpPr>
          <p:nvPr/>
        </p:nvCxnSpPr>
        <p:spPr>
          <a:xfrm flipH="1">
            <a:off x="5068111" y="4041819"/>
            <a:ext cx="1520113"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4D0DB91F-F3CC-41F4-9B6F-015794A8A11B}"/>
              </a:ext>
            </a:extLst>
          </p:cNvPr>
          <p:cNvSpPr txBox="1"/>
          <p:nvPr/>
        </p:nvSpPr>
        <p:spPr>
          <a:xfrm>
            <a:off x="5381223" y="3749139"/>
            <a:ext cx="990977" cy="338554"/>
          </a:xfrm>
          <a:prstGeom prst="rect">
            <a:avLst/>
          </a:prstGeom>
          <a:noFill/>
        </p:spPr>
        <p:txBody>
          <a:bodyPr wrap="none" rtlCol="0">
            <a:spAutoFit/>
          </a:bodyPr>
          <a:lstStyle/>
          <a:p>
            <a:pPr algn="ct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H(</a:t>
            </a:r>
            <a:r>
              <a:rPr lang="en-US" altLang="zh-CN" sz="1600" dirty="0" err="1">
                <a:latin typeface="华文楷体" panose="02010600040101010101" pitchFamily="2" charset="-122"/>
                <a:ea typeface="华文楷体" panose="02010600040101010101" pitchFamily="2" charset="-122"/>
                <a:cs typeface="Times New Roman" panose="02020603050405020304" pitchFamily="18" charset="0"/>
              </a:rPr>
              <a:t>TagID</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sz="1600" dirty="0">
              <a:latin typeface="华文楷体" panose="02010600040101010101" pitchFamily="2" charset="-122"/>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70328319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13761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LCAP</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LCAP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协议也是询问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应答协议，但是与前面的同类其他协议不同，它每次执行之后都要动态刷新标签的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安全访问方法</a:t>
            </a:r>
          </a:p>
        </p:txBody>
      </p:sp>
      <p:sp>
        <p:nvSpPr>
          <p:cNvPr id="6" name="矩形 5">
            <a:extLst>
              <a:ext uri="{FF2B5EF4-FFF2-40B4-BE49-F238E27FC236}">
                <a16:creationId xmlns:a16="http://schemas.microsoft.com/office/drawing/2014/main" id="{FD26745A-414E-4B3C-8FF6-AF7DA3A4EA9E}"/>
              </a:ext>
            </a:extLst>
          </p:cNvPr>
          <p:cNvSpPr/>
          <p:nvPr/>
        </p:nvSpPr>
        <p:spPr>
          <a:xfrm>
            <a:off x="1259632" y="2369059"/>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数据库</a:t>
            </a:r>
          </a:p>
        </p:txBody>
      </p:sp>
      <p:sp>
        <p:nvSpPr>
          <p:cNvPr id="8" name="矩形 7">
            <a:extLst>
              <a:ext uri="{FF2B5EF4-FFF2-40B4-BE49-F238E27FC236}">
                <a16:creationId xmlns:a16="http://schemas.microsoft.com/office/drawing/2014/main" id="{983A2B50-6D0A-4DA1-B908-F5F9CE1CC591}"/>
              </a:ext>
            </a:extLst>
          </p:cNvPr>
          <p:cNvSpPr/>
          <p:nvPr/>
        </p:nvSpPr>
        <p:spPr>
          <a:xfrm>
            <a:off x="4067547" y="2369059"/>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阅读器</a:t>
            </a:r>
          </a:p>
        </p:txBody>
      </p:sp>
      <p:sp>
        <p:nvSpPr>
          <p:cNvPr id="9" name="矩形 8">
            <a:extLst>
              <a:ext uri="{FF2B5EF4-FFF2-40B4-BE49-F238E27FC236}">
                <a16:creationId xmlns:a16="http://schemas.microsoft.com/office/drawing/2014/main" id="{008CCA4A-531B-420E-BE71-A7A52B910D6B}"/>
              </a:ext>
            </a:extLst>
          </p:cNvPr>
          <p:cNvSpPr/>
          <p:nvPr/>
        </p:nvSpPr>
        <p:spPr>
          <a:xfrm>
            <a:off x="6588224" y="2376784"/>
            <a:ext cx="1008112" cy="21469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89B4"/>
                </a:solidFill>
                <a:latin typeface="华文楷体" panose="02010600040101010101" pitchFamily="2" charset="-122"/>
                <a:ea typeface="华文楷体" panose="02010600040101010101" pitchFamily="2" charset="-122"/>
              </a:rPr>
              <a:t>电子</a:t>
            </a:r>
            <a:endParaRPr lang="en-US" altLang="zh-CN" dirty="0">
              <a:solidFill>
                <a:srgbClr val="1889B4"/>
              </a:solidFill>
              <a:latin typeface="华文楷体" panose="02010600040101010101" pitchFamily="2" charset="-122"/>
              <a:ea typeface="华文楷体" panose="02010600040101010101" pitchFamily="2" charset="-122"/>
            </a:endParaRPr>
          </a:p>
          <a:p>
            <a:pPr algn="ctr"/>
            <a:r>
              <a:rPr lang="zh-CN" altLang="en-US" dirty="0">
                <a:solidFill>
                  <a:srgbClr val="1889B4"/>
                </a:solidFill>
                <a:latin typeface="华文楷体" panose="02010600040101010101" pitchFamily="2" charset="-122"/>
                <a:ea typeface="华文楷体" panose="02010600040101010101" pitchFamily="2" charset="-122"/>
              </a:rPr>
              <a:t>标签</a:t>
            </a:r>
          </a:p>
        </p:txBody>
      </p:sp>
      <p:cxnSp>
        <p:nvCxnSpPr>
          <p:cNvPr id="10" name="直接箭头连接符 9">
            <a:extLst>
              <a:ext uri="{FF2B5EF4-FFF2-40B4-BE49-F238E27FC236}">
                <a16:creationId xmlns:a16="http://schemas.microsoft.com/office/drawing/2014/main" id="{1724CA42-69D5-4453-A362-00A099658E8A}"/>
              </a:ext>
            </a:extLst>
          </p:cNvPr>
          <p:cNvCxnSpPr/>
          <p:nvPr/>
        </p:nvCxnSpPr>
        <p:spPr>
          <a:xfrm flipH="1">
            <a:off x="2267744" y="3173327"/>
            <a:ext cx="1800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627F7E0-CF94-4131-8760-17D2F559B6C1}"/>
              </a:ext>
            </a:extLst>
          </p:cNvPr>
          <p:cNvCxnSpPr>
            <a:cxnSpLocks/>
          </p:cNvCxnSpPr>
          <p:nvPr/>
        </p:nvCxnSpPr>
        <p:spPr>
          <a:xfrm flipH="1">
            <a:off x="5075659" y="3551137"/>
            <a:ext cx="151256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C250EAB9-2CFF-470F-8708-BE8FF3A8267A}"/>
              </a:ext>
            </a:extLst>
          </p:cNvPr>
          <p:cNvCxnSpPr>
            <a:cxnSpLocks/>
          </p:cNvCxnSpPr>
          <p:nvPr/>
        </p:nvCxnSpPr>
        <p:spPr>
          <a:xfrm>
            <a:off x="5075659" y="3977714"/>
            <a:ext cx="151256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0E513A4-CF6F-4A98-B78D-1B6745C5A52F}"/>
              </a:ext>
            </a:extLst>
          </p:cNvPr>
          <p:cNvCxnSpPr>
            <a:cxnSpLocks/>
          </p:cNvCxnSpPr>
          <p:nvPr/>
        </p:nvCxnSpPr>
        <p:spPr>
          <a:xfrm>
            <a:off x="5075659" y="3041610"/>
            <a:ext cx="151256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3F9F6649-3D67-41CA-9CF4-9EA4E77F887E}"/>
              </a:ext>
            </a:extLst>
          </p:cNvPr>
          <p:cNvCxnSpPr>
            <a:cxnSpLocks/>
          </p:cNvCxnSpPr>
          <p:nvPr/>
        </p:nvCxnSpPr>
        <p:spPr>
          <a:xfrm>
            <a:off x="2267744" y="3982420"/>
            <a:ext cx="1800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0DE77DAF-EF51-4F6B-AFBF-E7A6E4A4A78E}"/>
              </a:ext>
            </a:extLst>
          </p:cNvPr>
          <p:cNvSpPr txBox="1"/>
          <p:nvPr/>
        </p:nvSpPr>
        <p:spPr>
          <a:xfrm>
            <a:off x="2267744" y="2881268"/>
            <a:ext cx="1863011" cy="338554"/>
          </a:xfrm>
          <a:prstGeom prst="rect">
            <a:avLst/>
          </a:prstGeom>
          <a:noFill/>
        </p:spPr>
        <p:txBody>
          <a:bodyPr wrap="none" rtlCol="0">
            <a:spAutoFit/>
          </a:bodyPr>
          <a:lstStyle/>
          <a:p>
            <a:pPr algn="ctr"/>
            <a:r>
              <a:rPr lang="en-US" altLang="zh-CN" sz="1600" i="1" dirty="0">
                <a:latin typeface="华文楷体" panose="02010600040101010101" pitchFamily="2" charset="-122"/>
                <a:ea typeface="华文楷体" panose="02010600040101010101" pitchFamily="2" charset="-122"/>
                <a:cs typeface="Times New Roman" panose="02020603050405020304" pitchFamily="18" charset="0"/>
              </a:rPr>
              <a:t>H</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(ID),</a:t>
            </a:r>
            <a:r>
              <a:rPr lang="en-US" altLang="zh-CN" sz="1600" i="1" dirty="0">
                <a:latin typeface="华文楷体" panose="02010600040101010101" pitchFamily="2" charset="-122"/>
                <a:ea typeface="华文楷体" panose="02010600040101010101" pitchFamily="2" charset="-122"/>
                <a:cs typeface="Times New Roman" panose="02020603050405020304" pitchFamily="18" charset="0"/>
              </a:rPr>
              <a:t>R</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i="1" dirty="0">
                <a:latin typeface="华文楷体" panose="02010600040101010101" pitchFamily="2" charset="-122"/>
                <a:ea typeface="华文楷体" panose="02010600040101010101" pitchFamily="2" charset="-122"/>
                <a:cs typeface="Times New Roman" panose="02020603050405020304" pitchFamily="18" charset="0"/>
              </a:rPr>
              <a:t>H</a:t>
            </a:r>
            <a:r>
              <a:rPr lang="en-US" altLang="zh-CN" sz="1600" baseline="-25000" dirty="0">
                <a:latin typeface="华文楷体" panose="02010600040101010101" pitchFamily="2" charset="-122"/>
                <a:ea typeface="华文楷体" panose="02010600040101010101" pitchFamily="2" charset="-122"/>
                <a:cs typeface="Times New Roman" panose="02020603050405020304" pitchFamily="18" charset="0"/>
              </a:rPr>
              <a:t>L</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(ID||</a:t>
            </a:r>
            <a:r>
              <a:rPr lang="en-US" altLang="zh-CN" sz="1600" i="1" dirty="0">
                <a:latin typeface="华文楷体" panose="02010600040101010101" pitchFamily="2" charset="-122"/>
                <a:ea typeface="华文楷体" panose="02010600040101010101" pitchFamily="2" charset="-122"/>
                <a:cs typeface="Times New Roman" panose="02020603050405020304" pitchFamily="18" charset="0"/>
              </a:rPr>
              <a:t>R</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sz="16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20" name="文本框 19">
            <a:extLst>
              <a:ext uri="{FF2B5EF4-FFF2-40B4-BE49-F238E27FC236}">
                <a16:creationId xmlns:a16="http://schemas.microsoft.com/office/drawing/2014/main" id="{7F5FBB7A-BD44-456B-8EFF-C7B9CF42D6AB}"/>
              </a:ext>
            </a:extLst>
          </p:cNvPr>
          <p:cNvSpPr txBox="1"/>
          <p:nvPr/>
        </p:nvSpPr>
        <p:spPr>
          <a:xfrm>
            <a:off x="2627784" y="3673356"/>
            <a:ext cx="1151276" cy="338554"/>
          </a:xfrm>
          <a:prstGeom prst="rect">
            <a:avLst/>
          </a:prstGeom>
          <a:noFill/>
        </p:spPr>
        <p:txBody>
          <a:bodyPr wrap="none" rtlCol="0">
            <a:spAutoFit/>
          </a:bodyPr>
          <a:lstStyle/>
          <a:p>
            <a:pPr algn="ctr"/>
            <a:r>
              <a:rPr lang="en-US" altLang="zh-CN" sz="1600" i="1" dirty="0">
                <a:latin typeface="华文楷体" panose="02010600040101010101" pitchFamily="2" charset="-122"/>
                <a:ea typeface="华文楷体" panose="02010600040101010101" pitchFamily="2" charset="-122"/>
                <a:cs typeface="Times New Roman" panose="02020603050405020304" pitchFamily="18" charset="0"/>
              </a:rPr>
              <a:t>H</a:t>
            </a:r>
            <a:r>
              <a:rPr lang="en-US" altLang="zh-CN" sz="1600" baseline="-25000" dirty="0">
                <a:latin typeface="华文楷体" panose="02010600040101010101" pitchFamily="2" charset="-122"/>
                <a:ea typeface="华文楷体" panose="02010600040101010101" pitchFamily="2" charset="-122"/>
                <a:cs typeface="Times New Roman" panose="02020603050405020304" pitchFamily="18" charset="0"/>
              </a:rPr>
              <a:t>R</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(ID||</a:t>
            </a:r>
            <a:r>
              <a:rPr lang="en-US" altLang="zh-CN" sz="1600" i="1" dirty="0">
                <a:latin typeface="华文楷体" panose="02010600040101010101" pitchFamily="2" charset="-122"/>
                <a:ea typeface="华文楷体" panose="02010600040101010101" pitchFamily="2" charset="-122"/>
                <a:cs typeface="Times New Roman" panose="02020603050405020304" pitchFamily="18" charset="0"/>
              </a:rPr>
              <a:t>R</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sz="16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B9724E4A-FDF3-4E06-A61D-07113E8764AF}"/>
              </a:ext>
            </a:extLst>
          </p:cNvPr>
          <p:cNvSpPr txBox="1"/>
          <p:nvPr/>
        </p:nvSpPr>
        <p:spPr>
          <a:xfrm>
            <a:off x="5458549" y="2743422"/>
            <a:ext cx="871842" cy="338554"/>
          </a:xfrm>
          <a:prstGeom prst="rect">
            <a:avLst/>
          </a:prstGeom>
          <a:noFill/>
        </p:spPr>
        <p:txBody>
          <a:bodyPr wrap="none" rtlCol="0">
            <a:spAutoFit/>
          </a:bodyPr>
          <a:lstStyle/>
          <a:p>
            <a:r>
              <a:rPr lang="en-US" altLang="zh-CN" sz="1600" dirty="0" err="1">
                <a:latin typeface="Times New Roman" panose="02020603050405020304" pitchFamily="18" charset="0"/>
                <a:cs typeface="Times New Roman" panose="02020603050405020304" pitchFamily="18" charset="0"/>
              </a:rPr>
              <a:t>Query,</a:t>
            </a:r>
            <a:r>
              <a:rPr lang="en-US" altLang="zh-CN" sz="1600" i="1" dirty="0" err="1">
                <a:latin typeface="Times New Roman" panose="02020603050405020304" pitchFamily="18" charset="0"/>
                <a:cs typeface="Times New Roman" panose="02020603050405020304" pitchFamily="18" charset="0"/>
              </a:rPr>
              <a:t>R</a:t>
            </a:r>
            <a:endParaRPr lang="zh-CN" altLang="en-US" sz="1600" i="1"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19FF6B6B-4800-42B7-8BB6-D9F38F21E3AA}"/>
              </a:ext>
            </a:extLst>
          </p:cNvPr>
          <p:cNvSpPr txBox="1"/>
          <p:nvPr/>
        </p:nvSpPr>
        <p:spPr>
          <a:xfrm>
            <a:off x="5292080" y="3673356"/>
            <a:ext cx="997389" cy="338554"/>
          </a:xfrm>
          <a:prstGeom prst="rect">
            <a:avLst/>
          </a:prstGeom>
          <a:noFill/>
        </p:spPr>
        <p:txBody>
          <a:bodyPr wrap="none" rtlCol="0">
            <a:spAutoFit/>
          </a:bodyPr>
          <a:lstStyle/>
          <a:p>
            <a:r>
              <a:rPr lang="en-US" altLang="zh-CN" sz="1600" i="1" dirty="0">
                <a:latin typeface="Times New Roman" panose="02020603050405020304" pitchFamily="18" charset="0"/>
                <a:cs typeface="Times New Roman" panose="02020603050405020304" pitchFamily="18" charset="0"/>
              </a:rPr>
              <a:t>H</a:t>
            </a:r>
            <a:r>
              <a:rPr lang="en-US" altLang="zh-CN" sz="1600" baseline="-25000" dirty="0">
                <a:latin typeface="Times New Roman" panose="02020603050405020304" pitchFamily="18" charset="0"/>
                <a:cs typeface="Times New Roman" panose="02020603050405020304" pitchFamily="18" charset="0"/>
              </a:rPr>
              <a:t>R</a:t>
            </a:r>
            <a:r>
              <a:rPr lang="en-US" altLang="zh-CN" sz="1600" dirty="0">
                <a:latin typeface="Times New Roman" panose="02020603050405020304" pitchFamily="18" charset="0"/>
                <a:cs typeface="Times New Roman" panose="02020603050405020304" pitchFamily="18" charset="0"/>
              </a:rPr>
              <a:t>(ID||</a:t>
            </a:r>
            <a:r>
              <a:rPr lang="en-US" altLang="zh-CN" sz="1600" i="1" dirty="0">
                <a:latin typeface="Times New Roman" panose="02020603050405020304" pitchFamily="18" charset="0"/>
                <a:cs typeface="Times New Roman" panose="02020603050405020304" pitchFamily="18" charset="0"/>
              </a:rPr>
              <a:t>R</a:t>
            </a:r>
            <a:r>
              <a:rPr lang="en-US"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95FB110E-BFCC-423B-A68B-11AF73CBBF42}"/>
              </a:ext>
            </a:extLst>
          </p:cNvPr>
          <p:cNvSpPr txBox="1"/>
          <p:nvPr/>
        </p:nvSpPr>
        <p:spPr>
          <a:xfrm>
            <a:off x="5076056" y="3242459"/>
            <a:ext cx="1584088" cy="338554"/>
          </a:xfrm>
          <a:prstGeom prst="rect">
            <a:avLst/>
          </a:prstGeom>
          <a:noFill/>
        </p:spPr>
        <p:txBody>
          <a:bodyPr wrap="none" rtlCol="0">
            <a:spAutoFit/>
          </a:bodyPr>
          <a:lstStyle/>
          <a:p>
            <a:r>
              <a:rPr lang="en-US" altLang="zh-CN" sz="1600" i="1" dirty="0">
                <a:latin typeface="Times New Roman" panose="02020603050405020304" pitchFamily="18" charset="0"/>
                <a:cs typeface="Times New Roman" panose="02020603050405020304" pitchFamily="18" charset="0"/>
              </a:rPr>
              <a:t>H</a:t>
            </a:r>
            <a:r>
              <a:rPr lang="en-US" altLang="zh-CN" sz="1600" dirty="0">
                <a:latin typeface="Times New Roman" panose="02020603050405020304" pitchFamily="18" charset="0"/>
                <a:cs typeface="Times New Roman" panose="02020603050405020304" pitchFamily="18" charset="0"/>
              </a:rPr>
              <a:t>(ID),</a:t>
            </a:r>
            <a:r>
              <a:rPr lang="en-US" altLang="zh-CN" sz="1600" i="1" dirty="0">
                <a:latin typeface="Times New Roman" panose="02020603050405020304" pitchFamily="18" charset="0"/>
                <a:cs typeface="Times New Roman" panose="02020603050405020304" pitchFamily="18" charset="0"/>
              </a:rPr>
              <a:t>H</a:t>
            </a:r>
            <a:r>
              <a:rPr lang="en-US" altLang="zh-CN" sz="1600" baseline="-25000" dirty="0">
                <a:latin typeface="Times New Roman" panose="02020603050405020304" pitchFamily="18" charset="0"/>
                <a:cs typeface="Times New Roman" panose="02020603050405020304" pitchFamily="18" charset="0"/>
              </a:rPr>
              <a:t>L</a:t>
            </a:r>
            <a:r>
              <a:rPr lang="en-US" altLang="zh-CN" sz="1600" dirty="0">
                <a:latin typeface="Times New Roman" panose="02020603050405020304" pitchFamily="18" charset="0"/>
                <a:cs typeface="Times New Roman" panose="02020603050405020304" pitchFamily="18" charset="0"/>
              </a:rPr>
              <a:t>(ID||</a:t>
            </a:r>
            <a:r>
              <a:rPr lang="en-US" altLang="zh-CN" sz="1600" i="1" dirty="0">
                <a:latin typeface="Times New Roman" panose="02020603050405020304" pitchFamily="18" charset="0"/>
                <a:cs typeface="Times New Roman" panose="02020603050405020304" pitchFamily="18" charset="0"/>
              </a:rPr>
              <a:t>R</a:t>
            </a:r>
            <a:r>
              <a:rPr lang="en-US"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374953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2976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临时</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temporary change of ID</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）安全协议</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这个解决方案是让顾客可以暂时更改标签</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当标签处于公共状态时，存储在芯片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ROM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里的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可以被阅读器读取</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当顾客想要隐藏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信息时，可以在芯片的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RAM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中输入一个临时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RAM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中有临时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时，标签会利用这个临时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回复阅读器的询问</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只有把</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RAM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重置，标签才显示它的真实</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这个方法给顾客使用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标签带来额外的负担。同时，临时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的更改也存在潜在的安全问题。</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安全访问方法</a:t>
            </a:r>
          </a:p>
        </p:txBody>
      </p:sp>
    </p:spTree>
    <p:extLst>
      <p:ext uri="{BB962C8B-B14F-4D97-AF65-F5344CB8AC3E}">
        <p14:creationId xmlns:p14="http://schemas.microsoft.com/office/powerpoint/2010/main" val="284801746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1902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重加密（</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re-encryption</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）安全通信协议</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为了防止</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标签与阅读器之间的通信被非法监听，重加密方法通过公钥密码体制实现重加密（即对已加密的信息进行周期性再加密）。这样，由于标签和阅读器间传递的加密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信息变化很快，使得标签电子编码信息很难被盗取，非法跟踪也很难实现。</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使用公钥加密的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安全机制非常少见，典型的有两个：</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Juels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等人提出的用于欧元钞票上的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标识建议方案和</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Golle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等人提出的实现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标签匿名功能的方案</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重加密方法优点是对标签要求低，缺点是：需要较多的重加密阅读器，系统成本高；需要引入复杂的密钥管理机制；标签可写且无认证，易受篡改攻击；阅读器易受重放和哄骗攻击。系统实用性不强。</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安全访问方法</a:t>
            </a:r>
          </a:p>
        </p:txBody>
      </p:sp>
    </p:spTree>
    <p:extLst>
      <p:ext uri="{BB962C8B-B14F-4D97-AF65-F5344CB8AC3E}">
        <p14:creationId xmlns:p14="http://schemas.microsoft.com/office/powerpoint/2010/main" val="425740389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441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Mifare</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One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芯片方案</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安全访问方法</a:t>
            </a:r>
          </a:p>
        </p:txBody>
      </p:sp>
      <p:graphicFrame>
        <p:nvGraphicFramePr>
          <p:cNvPr id="4" name="对象 2">
            <a:extLst>
              <a:ext uri="{FF2B5EF4-FFF2-40B4-BE49-F238E27FC236}">
                <a16:creationId xmlns:a16="http://schemas.microsoft.com/office/drawing/2014/main" id="{CDEF0019-D879-4020-9679-38C138C98484}"/>
              </a:ext>
            </a:extLst>
          </p:cNvPr>
          <p:cNvGraphicFramePr>
            <a:graphicFrameLocks noChangeAspect="1"/>
          </p:cNvGraphicFramePr>
          <p:nvPr>
            <p:extLst>
              <p:ext uri="{D42A27DB-BD31-4B8C-83A1-F6EECF244321}">
                <p14:modId xmlns:p14="http://schemas.microsoft.com/office/powerpoint/2010/main" val="3150164554"/>
              </p:ext>
            </p:extLst>
          </p:nvPr>
        </p:nvGraphicFramePr>
        <p:xfrm>
          <a:off x="827584" y="1347614"/>
          <a:ext cx="6807200" cy="3382963"/>
        </p:xfrm>
        <a:graphic>
          <a:graphicData uri="http://schemas.openxmlformats.org/presentationml/2006/ole">
            <mc:AlternateContent xmlns:mc="http://schemas.openxmlformats.org/markup-compatibility/2006">
              <mc:Choice xmlns:v="urn:schemas-microsoft-com:vml" Requires="v">
                <p:oleObj r:id="rId3" imgW="5415480" imgH="3035520" progId="Visio.Drawing.11">
                  <p:embed/>
                </p:oleObj>
              </mc:Choice>
              <mc:Fallback>
                <p:oleObj r:id="rId3" imgW="5415480" imgH="3035520" progId="Visio.Drawing.11">
                  <p:embed/>
                  <p:pic>
                    <p:nvPicPr>
                      <p:cNvPr id="62468" name="对象 2">
                        <a:extLst>
                          <a:ext uri="{FF2B5EF4-FFF2-40B4-BE49-F238E27FC236}">
                            <a16:creationId xmlns:a16="http://schemas.microsoft.com/office/drawing/2014/main" id="{8A247176-BE5D-498D-9936-352F22AC10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1347614"/>
                        <a:ext cx="6807200" cy="338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5467100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0803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ISO/IEC1 8000</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是目前世界上应用最具影响力的空中接口协议，包括</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-7</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共六个部分，覆盖低频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(&lt;135 kHz)</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、高频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(13.56 MHz)</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、超高频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(433 MHz</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860</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960 MHz)</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和微波</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(2.45 GHz)</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四个频段</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其中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ISO/IEC 18000-2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分别针对低频和高频，通信原理采用电感耦合方式，读写距离较近，一般在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 m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以下，这使得许多安全威胁如恶意搜集信息式威胁、拒绝服务威胁无法发挥作用，其安全需求不是很迫切，目前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ISO/IEC 18000-2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没有考虑安全机制</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ISO/IEC 18000-4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-7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由于针对有源标签，标签的处理能力和内存容量相对较高，这允许协议中采用一些复杂的安全机制</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空中接口安全标准</a:t>
            </a:r>
          </a:p>
        </p:txBody>
      </p:sp>
    </p:spTree>
    <p:extLst>
      <p:ext uri="{BB962C8B-B14F-4D97-AF65-F5344CB8AC3E}">
        <p14:creationId xmlns:p14="http://schemas.microsoft.com/office/powerpoint/2010/main" val="106898591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13084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相比之下，</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ISO/IEC18000-6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超高频段空中接口协议一方面由于无源标签的限制，无法采用复杂的安全机制，另一方面其读写距离较远</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可达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10 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，面临的安全威胁很大。因此，</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ISO/IEC18000-6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空中接口安全方面的需求最为迫切</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ISO/IEC 18000-6</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安全机制面临的挑战</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空中接口安全标准</a:t>
            </a:r>
          </a:p>
        </p:txBody>
      </p:sp>
      <p:graphicFrame>
        <p:nvGraphicFramePr>
          <p:cNvPr id="2" name="表格 4">
            <a:extLst>
              <a:ext uri="{FF2B5EF4-FFF2-40B4-BE49-F238E27FC236}">
                <a16:creationId xmlns:a16="http://schemas.microsoft.com/office/drawing/2014/main" id="{DDA8FFEB-C199-4D91-9F07-3B6DF313179B}"/>
              </a:ext>
            </a:extLst>
          </p:cNvPr>
          <p:cNvGraphicFramePr>
            <a:graphicFrameLocks noGrp="1"/>
          </p:cNvGraphicFramePr>
          <p:nvPr>
            <p:extLst>
              <p:ext uri="{D42A27DB-BD31-4B8C-83A1-F6EECF244321}">
                <p14:modId xmlns:p14="http://schemas.microsoft.com/office/powerpoint/2010/main" val="2006698398"/>
              </p:ext>
            </p:extLst>
          </p:nvPr>
        </p:nvGraphicFramePr>
        <p:xfrm>
          <a:off x="215516" y="2890191"/>
          <a:ext cx="8712968" cy="2042160"/>
        </p:xfrm>
        <a:graphic>
          <a:graphicData uri="http://schemas.openxmlformats.org/drawingml/2006/table">
            <a:tbl>
              <a:tblPr firstRow="1" bandRow="1">
                <a:tableStyleId>{5C22544A-7EE6-4342-B048-85BDC9FD1C3A}</a:tableStyleId>
              </a:tblPr>
              <a:tblGrid>
                <a:gridCol w="1118305">
                  <a:extLst>
                    <a:ext uri="{9D8B030D-6E8A-4147-A177-3AD203B41FA5}">
                      <a16:colId xmlns:a16="http://schemas.microsoft.com/office/drawing/2014/main" val="3867631663"/>
                    </a:ext>
                  </a:extLst>
                </a:gridCol>
                <a:gridCol w="559154">
                  <a:extLst>
                    <a:ext uri="{9D8B030D-6E8A-4147-A177-3AD203B41FA5}">
                      <a16:colId xmlns:a16="http://schemas.microsoft.com/office/drawing/2014/main" val="542184311"/>
                    </a:ext>
                  </a:extLst>
                </a:gridCol>
                <a:gridCol w="939377">
                  <a:extLst>
                    <a:ext uri="{9D8B030D-6E8A-4147-A177-3AD203B41FA5}">
                      <a16:colId xmlns:a16="http://schemas.microsoft.com/office/drawing/2014/main" val="4233909346"/>
                    </a:ext>
                  </a:extLst>
                </a:gridCol>
                <a:gridCol w="1006476">
                  <a:extLst>
                    <a:ext uri="{9D8B030D-6E8A-4147-A177-3AD203B41FA5}">
                      <a16:colId xmlns:a16="http://schemas.microsoft.com/office/drawing/2014/main" val="2192480714"/>
                    </a:ext>
                  </a:extLst>
                </a:gridCol>
                <a:gridCol w="1006476">
                  <a:extLst>
                    <a:ext uri="{9D8B030D-6E8A-4147-A177-3AD203B41FA5}">
                      <a16:colId xmlns:a16="http://schemas.microsoft.com/office/drawing/2014/main" val="1705817953"/>
                    </a:ext>
                  </a:extLst>
                </a:gridCol>
                <a:gridCol w="1073574">
                  <a:extLst>
                    <a:ext uri="{9D8B030D-6E8A-4147-A177-3AD203B41FA5}">
                      <a16:colId xmlns:a16="http://schemas.microsoft.com/office/drawing/2014/main" val="1085662536"/>
                    </a:ext>
                  </a:extLst>
                </a:gridCol>
                <a:gridCol w="1006476">
                  <a:extLst>
                    <a:ext uri="{9D8B030D-6E8A-4147-A177-3AD203B41FA5}">
                      <a16:colId xmlns:a16="http://schemas.microsoft.com/office/drawing/2014/main" val="4119516466"/>
                    </a:ext>
                  </a:extLst>
                </a:gridCol>
                <a:gridCol w="1006476">
                  <a:extLst>
                    <a:ext uri="{9D8B030D-6E8A-4147-A177-3AD203B41FA5}">
                      <a16:colId xmlns:a16="http://schemas.microsoft.com/office/drawing/2014/main" val="1791573343"/>
                    </a:ext>
                  </a:extLst>
                </a:gridCol>
                <a:gridCol w="996654">
                  <a:extLst>
                    <a:ext uri="{9D8B030D-6E8A-4147-A177-3AD203B41FA5}">
                      <a16:colId xmlns:a16="http://schemas.microsoft.com/office/drawing/2014/main" val="2189514313"/>
                    </a:ext>
                  </a:extLst>
                </a:gridCol>
              </a:tblGrid>
              <a:tr h="138649">
                <a:tc>
                  <a:txBody>
                    <a:bodyPr/>
                    <a:lstStyle/>
                    <a:p>
                      <a:pPr algn="r"/>
                      <a:r>
                        <a:rPr lang="zh-CN" altLang="en-US" sz="1200" dirty="0">
                          <a:latin typeface="华文楷体" panose="02010600040101010101" pitchFamily="2" charset="-122"/>
                          <a:ea typeface="华文楷体" panose="02010600040101010101" pitchFamily="2" charset="-122"/>
                        </a:rPr>
                        <a:t>主要威胁</a:t>
                      </a:r>
                      <a:endParaRPr lang="en-US" altLang="zh-CN" sz="1200" dirty="0">
                        <a:latin typeface="华文楷体" panose="02010600040101010101" pitchFamily="2" charset="-122"/>
                        <a:ea typeface="华文楷体" panose="02010600040101010101" pitchFamily="2" charset="-122"/>
                      </a:endParaRPr>
                    </a:p>
                    <a:p>
                      <a:pPr algn="l"/>
                      <a:r>
                        <a:rPr lang="zh-CN" altLang="en-US" sz="1200" dirty="0">
                          <a:latin typeface="华文楷体" panose="02010600040101010101" pitchFamily="2" charset="-122"/>
                          <a:ea typeface="华文楷体" panose="02010600040101010101" pitchFamily="2" charset="-122"/>
                        </a:rPr>
                        <a:t>解决方案</a:t>
                      </a:r>
                    </a:p>
                  </a:txBody>
                  <a:tcPr anchor="ctr">
                    <a:lnTlToBr w="12700" cap="flat" cmpd="sng" algn="ctr">
                      <a:solidFill>
                        <a:schemeClr val="tx1"/>
                      </a:solidFill>
                      <a:prstDash val="solid"/>
                      <a:round/>
                      <a:headEnd type="none" w="med" len="med"/>
                      <a:tailEnd type="none" w="med" len="med"/>
                    </a:lnTlToBr>
                  </a:tcPr>
                </a:tc>
                <a:tc gridSpan="2">
                  <a:txBody>
                    <a:bodyPr/>
                    <a:lstStyle/>
                    <a:p>
                      <a:pPr algn="ctr"/>
                      <a:r>
                        <a:rPr lang="zh-CN" altLang="en-US" dirty="0">
                          <a:latin typeface="华文楷体" panose="02010600040101010101" pitchFamily="2" charset="-122"/>
                          <a:ea typeface="华文楷体" panose="02010600040101010101" pitchFamily="2" charset="-122"/>
                        </a:rPr>
                        <a:t>搜集式威胁</a:t>
                      </a:r>
                    </a:p>
                  </a:txBody>
                  <a:tcPr anchor="ctr"/>
                </a:tc>
                <a:tc hMerge="1">
                  <a:txBody>
                    <a:bodyPr/>
                    <a:lstStyle/>
                    <a:p>
                      <a:endParaRPr lang="zh-CN" altLang="en-US" dirty="0"/>
                    </a:p>
                  </a:txBody>
                  <a:tcPr/>
                </a:tc>
                <a:tc gridSpan="3">
                  <a:txBody>
                    <a:bodyPr/>
                    <a:lstStyle/>
                    <a:p>
                      <a:pPr algn="ctr"/>
                      <a:r>
                        <a:rPr lang="zh-CN" altLang="en-US" dirty="0">
                          <a:latin typeface="华文楷体" panose="02010600040101010101" pitchFamily="2" charset="-122"/>
                          <a:ea typeface="华文楷体" panose="02010600040101010101" pitchFamily="2" charset="-122"/>
                        </a:rPr>
                        <a:t>伪装式威胁</a:t>
                      </a:r>
                    </a:p>
                  </a:txBody>
                  <a:tcPr anchor="ctr"/>
                </a:tc>
                <a:tc hMerge="1">
                  <a:txBody>
                    <a:bodyPr/>
                    <a:lstStyle/>
                    <a:p>
                      <a:endParaRPr lang="zh-CN" altLang="en-US" dirty="0"/>
                    </a:p>
                  </a:txBody>
                  <a:tcPr/>
                </a:tc>
                <a:tc hMerge="1">
                  <a:txBody>
                    <a:bodyPr/>
                    <a:lstStyle/>
                    <a:p>
                      <a:endParaRPr lang="zh-CN" altLang="en-US" dirty="0"/>
                    </a:p>
                  </a:txBody>
                  <a:tcPr/>
                </a:tc>
                <a:tc gridSpan="3">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zh-CN" altLang="en-US" dirty="0">
                          <a:latin typeface="华文楷体" panose="02010600040101010101" pitchFamily="2" charset="-122"/>
                          <a:ea typeface="华文楷体" panose="02010600040101010101" pitchFamily="2" charset="-122"/>
                        </a:rPr>
                        <a:t>拒绝服务威胁</a:t>
                      </a:r>
                    </a:p>
                  </a:txBody>
                  <a:tcPr anchor="ct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96057638"/>
                  </a:ext>
                </a:extLst>
              </a:tr>
              <a:tr h="239312">
                <a:tc>
                  <a:txBody>
                    <a:bodyPr/>
                    <a:lstStyle/>
                    <a:p>
                      <a:pPr algn="ct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窃听</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数据篡改</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电子欺骗</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标签克隆</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恶意代码</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杀死标签</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干扰标签</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屏蔽标签</a:t>
                      </a:r>
                    </a:p>
                  </a:txBody>
                  <a:tcPr anchor="ctr"/>
                </a:tc>
                <a:extLst>
                  <a:ext uri="{0D108BD9-81ED-4DB2-BD59-A6C34878D82A}">
                    <a16:rowId xmlns:a16="http://schemas.microsoft.com/office/drawing/2014/main" val="2471566502"/>
                  </a:ext>
                </a:extLst>
              </a:tr>
              <a:tr h="239312">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Lock</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命令</a:t>
                      </a: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高</a:t>
                      </a: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高</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高</a:t>
                      </a: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965965822"/>
                  </a:ext>
                </a:extLst>
              </a:tr>
              <a:tr h="239312">
                <a:tc>
                  <a:txBody>
                    <a:bodyPr/>
                    <a:lstStyle/>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安全状态</a:t>
                      </a: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低</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低</a:t>
                      </a: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低</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低</a:t>
                      </a: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2409069734"/>
                  </a:ext>
                </a:extLst>
              </a:tr>
              <a:tr h="239312">
                <a:tc>
                  <a:txBody>
                    <a:bodyPr/>
                    <a:lstStyle/>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口令保护</a:t>
                      </a: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中</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高</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中</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中</a:t>
                      </a:r>
                    </a:p>
                  </a:txBody>
                  <a:tcPr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中</a:t>
                      </a: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1231858832"/>
                  </a:ext>
                </a:extLst>
              </a:tr>
            </a:tbl>
          </a:graphicData>
        </a:graphic>
      </p:graphicFrame>
    </p:spTree>
    <p:extLst>
      <p:ext uri="{BB962C8B-B14F-4D97-AF65-F5344CB8AC3E}">
        <p14:creationId xmlns:p14="http://schemas.microsoft.com/office/powerpoint/2010/main" val="319016447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4403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ISO/IEC 29167</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标准解析</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29167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SC31/WG7</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制定和完善的空中接口安全标准，由六个部分组成，分别对应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ISO/IEC18000-1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29167-1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空中接口提供可选的信息安全和隐私保护功能，在标签中分别规定了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S-flag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U-flag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。阅读器可以根据这两个标志位，判断标签是否支持具有安全和隐私保护功能的空中接口协议，进而选择合适的方式访问标签，保证标准具有良好的后向兼容性</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空中接口安全标准</a:t>
            </a:r>
          </a:p>
        </p:txBody>
      </p:sp>
    </p:spTree>
    <p:extLst>
      <p:ext uri="{BB962C8B-B14F-4D97-AF65-F5344CB8AC3E}">
        <p14:creationId xmlns:p14="http://schemas.microsoft.com/office/powerpoint/2010/main" val="160657182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53097"/>
          </a:xfrm>
          <a:prstGeom prst="rect">
            <a:avLst/>
          </a:prstGeom>
          <a:noFill/>
        </p:spPr>
        <p:txBody>
          <a:bodyPr wrap="square" rtlCol="0">
            <a:spAutoFit/>
          </a:bodyPr>
          <a:lstStyle/>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在空中接口的信息安全方面，</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29167-1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引入三个命令来保证阅读器与标签间的可靠通信：</a:t>
            </a:r>
          </a:p>
          <a:p>
            <a:pPr marL="342900" indent="-34290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阅读器通过</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VerifyAuthentication</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命令，能够鉴别与其通信的标签是否可信，防止非法用户通过未经授权的标签获取阅读器的敏感信息</a:t>
            </a:r>
          </a:p>
          <a:p>
            <a:pPr marL="342900" indent="-34290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EstablishSecureChannel</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命令，能够建立安全的通信信道，保证通信过程中数据的完整性</a:t>
            </a:r>
          </a:p>
          <a:p>
            <a:pPr marL="342900" indent="-34290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SecureChannelWrapper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命令，阅读器对其发出的所有命令进行加密处理，使得非法用户即使窃听到阅读器命令，也无法从中获取有用的信息</a:t>
            </a:r>
          </a:p>
          <a:p>
            <a:pPr marL="342900" indent="-342900">
              <a:lnSpc>
                <a:spcPct val="110000"/>
              </a:lnSpc>
              <a:spcBef>
                <a:spcPts val="300"/>
              </a:spcBef>
              <a:spcAft>
                <a:spcPts val="300"/>
              </a:spcAft>
              <a:buFont typeface="Wingdings" panose="05000000000000000000" pitchFamily="2" charset="2"/>
              <a:buChar char="ü"/>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29167-1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中仅仅规定了以上三个命令的基本格式及功能，命令的具体内容则由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29167-2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根据对应的空中接口协议进行规定</a:t>
            </a:r>
          </a:p>
          <a:p>
            <a:pPr marL="342900" indent="-342900">
              <a:lnSpc>
                <a:spcPct val="11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除了安全命令外，</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29167-1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中提供了两种加密机制：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和口令保护，用于对阅读器命令及标签响应信息进行加密，并规定了</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SuiteNegotiation</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命令，使得阅读器能够根据实际情况，选择合适的加密机制。</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空中接口安全标准</a:t>
            </a:r>
          </a:p>
        </p:txBody>
      </p:sp>
    </p:spTree>
    <p:extLst>
      <p:ext uri="{BB962C8B-B14F-4D97-AF65-F5344CB8AC3E}">
        <p14:creationId xmlns:p14="http://schemas.microsoft.com/office/powerpoint/2010/main" val="25850385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67491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在隐私保护方面，</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29167-1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引入不可跟踪模式，并用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U-flag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来进行标识，阅读器可以通过</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ToggleUntraceabilityMode</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命令来设定标签中的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U-flag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标识符</a:t>
            </a: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29167-1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规定了三种方式来实现不可跟踪模式：</a:t>
            </a:r>
          </a:p>
          <a:p>
            <a:pPr marL="719138"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标签不再响应任何阅读器命令</a:t>
            </a:r>
          </a:p>
          <a:p>
            <a:pPr marL="719138"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所有标签发送相同的响应信息</a:t>
            </a:r>
          </a:p>
          <a:p>
            <a:pPr marL="719138"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所有标签发送随机但不具有任何意义的信息</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29167-2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根据对应空中接口协议的特点选择合适的实现方式</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空中接口安全标准</a:t>
            </a:r>
          </a:p>
        </p:txBody>
      </p:sp>
    </p:spTree>
    <p:extLst>
      <p:ext uri="{BB962C8B-B14F-4D97-AF65-F5344CB8AC3E}">
        <p14:creationId xmlns:p14="http://schemas.microsoft.com/office/powerpoint/2010/main" val="39764511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6194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我国在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空中接口信息安全方面的标准制定工作起步较早，国家“</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863”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计划在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2008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年设立了“超高频</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空中接口安全机制及其应用”科研专项，研究超高频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标签读写过程的数据安全关键技术难题，并制定有自主知识产权的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空中接口协议安全传输方法</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国家标准草案</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2012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年</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月，发布国家标准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GB/T 28925-2012《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信息技术 射频识别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2.45GHz</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空中接口协议</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GB/T 28926-2012《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信息技术 射频识别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2.45GHz</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空中接口符合性测试方法</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空中接口安全标准</a:t>
            </a:r>
          </a:p>
        </p:txBody>
      </p:sp>
    </p:spTree>
    <p:extLst>
      <p:ext uri="{BB962C8B-B14F-4D97-AF65-F5344CB8AC3E}">
        <p14:creationId xmlns:p14="http://schemas.microsoft.com/office/powerpoint/2010/main" val="105968990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9899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2015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年，我国制定的物联网安全关键技术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射频识别空中接口安全协议（</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TRAIS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）被国际标准采纳，并正式发布国际标准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 29167-16:2015</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描述了一个基于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的加密套件，规范了用于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空中接口的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ECDH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密钥协议在安全通道建立中的应用和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ECDSA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在认证机制中的应用；该标准能够提供实体鉴别、保密通信、访问控制等空中接口安全服务，可抵抗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产品所面临的标签伪造、通信数据被窃听、篡改等安全威胁</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这是中国物联网安全关键技术首次纳入国际标准，标志着我国正在深度参与全球产业核心技术活动</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RFID</a:t>
            </a:r>
            <a:r>
              <a:rPr lang="zh-CN" altLang="en-US" sz="2000" b="1" dirty="0">
                <a:solidFill>
                  <a:schemeClr val="tx1">
                    <a:lumMod val="50000"/>
                    <a:lumOff val="50000"/>
                  </a:schemeClr>
                </a:solidFill>
                <a:latin typeface="微软雅黑" pitchFamily="34" charset="-122"/>
                <a:ea typeface="微软雅黑" pitchFamily="34" charset="-122"/>
              </a:rPr>
              <a:t>空中接口安全标准</a:t>
            </a:r>
          </a:p>
        </p:txBody>
      </p:sp>
    </p:spTree>
    <p:extLst>
      <p:ext uri="{BB962C8B-B14F-4D97-AF65-F5344CB8AC3E}">
        <p14:creationId xmlns:p14="http://schemas.microsoft.com/office/powerpoint/2010/main" val="40182963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779912" y="1923678"/>
            <a:ext cx="5134457"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dist"/>
            <a:r>
              <a:rPr lang="zh-CN" altLang="en-US" sz="4799" b="1" dirty="0">
                <a:solidFill>
                  <a:schemeClr val="bg1"/>
                </a:solidFill>
                <a:latin typeface="微软雅黑" panose="020B0503020204020204" pitchFamily="34" charset="-122"/>
                <a:ea typeface="微软雅黑" panose="020B0503020204020204" pitchFamily="34" charset="-122"/>
              </a:rPr>
              <a:t>谢谢大家</a:t>
            </a:r>
          </a:p>
        </p:txBody>
      </p:sp>
    </p:spTree>
    <p:extLst>
      <p:ext uri="{BB962C8B-B14F-4D97-AF65-F5344CB8AC3E}">
        <p14:creationId xmlns:p14="http://schemas.microsoft.com/office/powerpoint/2010/main" val="1557010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互联网通信计算机工程网络安全第一ppt模版"/>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9.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heme/theme1.xml><?xml version="1.0" encoding="utf-8"?>
<a:theme xmlns:a="http://schemas.openxmlformats.org/drawingml/2006/main" name="第一PPT，www.1ppt.com​">
  <a:themeElements>
    <a:clrScheme name="自定义 921">
      <a:dk1>
        <a:sysClr val="windowText" lastClr="000000"/>
      </a:dk1>
      <a:lt1>
        <a:sysClr val="window" lastClr="FFFFFF"/>
      </a:lt1>
      <a:dk2>
        <a:srgbClr val="04617B"/>
      </a:dk2>
      <a:lt2>
        <a:srgbClr val="DBF5F9"/>
      </a:lt2>
      <a:accent1>
        <a:srgbClr val="20A9DD"/>
      </a:accent1>
      <a:accent2>
        <a:srgbClr val="52B98C"/>
      </a:accent2>
      <a:accent3>
        <a:srgbClr val="20A9DD"/>
      </a:accent3>
      <a:accent4>
        <a:srgbClr val="52B98C"/>
      </a:accent4>
      <a:accent5>
        <a:srgbClr val="20A9DD"/>
      </a:accent5>
      <a:accent6>
        <a:srgbClr val="52B98C"/>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40263</TotalTime>
  <Words>5925</Words>
  <Application>Microsoft Office PowerPoint</Application>
  <PresentationFormat>全屏显示(16:9)</PresentationFormat>
  <Paragraphs>792</Paragraphs>
  <Slides>73</Slides>
  <Notes>73</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73</vt:i4>
      </vt:variant>
    </vt:vector>
  </HeadingPairs>
  <TitlesOfParts>
    <vt:vector size="84" baseType="lpstr">
      <vt:lpstr>Arial</vt:lpstr>
      <vt:lpstr>Calibri</vt:lpstr>
      <vt:lpstr>Cambria Math</vt:lpstr>
      <vt:lpstr>宋体</vt:lpstr>
      <vt:lpstr>微软雅黑</vt:lpstr>
      <vt:lpstr>Times New Roman</vt:lpstr>
      <vt:lpstr>Wingdings</vt:lpstr>
      <vt:lpstr>华文楷体</vt:lpstr>
      <vt:lpstr>第一PPT，www.1ppt.com​</vt:lpstr>
      <vt:lpstr>Visio</vt:lpstr>
      <vt:lpstr>Microsoft Visio 2003-2010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互联网通信计算机</dc:title>
  <dc:creator>第一PPT</dc:creator>
  <cp:keywords>www.1ppt.com</cp:keywords>
  <dc:description>www.1ppt.com</dc:description>
  <cp:lastModifiedBy>Liu Minghao</cp:lastModifiedBy>
  <cp:revision>451</cp:revision>
  <dcterms:created xsi:type="dcterms:W3CDTF">2014-11-09T01:07:25Z</dcterms:created>
  <dcterms:modified xsi:type="dcterms:W3CDTF">2023-04-07T14:45:09Z</dcterms:modified>
</cp:coreProperties>
</file>