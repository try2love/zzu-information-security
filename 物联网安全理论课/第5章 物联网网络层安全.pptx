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4.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3"/>
  </p:notesMasterIdLst>
  <p:sldIdLst>
    <p:sldId id="836" r:id="rId2"/>
    <p:sldId id="911" r:id="rId3"/>
    <p:sldId id="1050" r:id="rId4"/>
    <p:sldId id="885" r:id="rId5"/>
    <p:sldId id="890" r:id="rId6"/>
    <p:sldId id="1256" r:id="rId7"/>
    <p:sldId id="1257" r:id="rId8"/>
    <p:sldId id="1258" r:id="rId9"/>
    <p:sldId id="1259" r:id="rId10"/>
    <p:sldId id="1260" r:id="rId11"/>
    <p:sldId id="1261" r:id="rId12"/>
    <p:sldId id="941" r:id="rId13"/>
    <p:sldId id="1251" r:id="rId14"/>
    <p:sldId id="1262" r:id="rId15"/>
    <p:sldId id="1263" r:id="rId16"/>
    <p:sldId id="1264" r:id="rId17"/>
    <p:sldId id="1265" r:id="rId18"/>
    <p:sldId id="1266" r:id="rId19"/>
    <p:sldId id="1267" r:id="rId20"/>
    <p:sldId id="1268" r:id="rId21"/>
    <p:sldId id="1269" r:id="rId22"/>
    <p:sldId id="1270" r:id="rId23"/>
    <p:sldId id="1359" r:id="rId24"/>
    <p:sldId id="1273" r:id="rId25"/>
    <p:sldId id="1274" r:id="rId26"/>
    <p:sldId id="1275" r:id="rId27"/>
    <p:sldId id="1360" r:id="rId28"/>
    <p:sldId id="1280" r:id="rId29"/>
    <p:sldId id="1361" r:id="rId30"/>
    <p:sldId id="1362" r:id="rId31"/>
    <p:sldId id="1363" r:id="rId32"/>
    <p:sldId id="1364" r:id="rId33"/>
    <p:sldId id="1365" r:id="rId34"/>
    <p:sldId id="1278" r:id="rId35"/>
    <p:sldId id="1279" r:id="rId36"/>
    <p:sldId id="1276" r:id="rId37"/>
    <p:sldId id="1366" r:id="rId38"/>
    <p:sldId id="1367" r:id="rId39"/>
    <p:sldId id="1281" r:id="rId40"/>
    <p:sldId id="1282" r:id="rId41"/>
    <p:sldId id="1283" r:id="rId42"/>
    <p:sldId id="1284" r:id="rId43"/>
    <p:sldId id="1285" r:id="rId44"/>
    <p:sldId id="1286" r:id="rId45"/>
    <p:sldId id="1287" r:id="rId46"/>
    <p:sldId id="1288" r:id="rId47"/>
    <p:sldId id="1289" r:id="rId48"/>
    <p:sldId id="1291" r:id="rId49"/>
    <p:sldId id="1292" r:id="rId50"/>
    <p:sldId id="1297" r:id="rId51"/>
    <p:sldId id="1293" r:id="rId52"/>
    <p:sldId id="1294" r:id="rId53"/>
    <p:sldId id="1295" r:id="rId54"/>
    <p:sldId id="1296" r:id="rId55"/>
    <p:sldId id="1298" r:id="rId56"/>
    <p:sldId id="1299" r:id="rId57"/>
    <p:sldId id="1300" r:id="rId58"/>
    <p:sldId id="1290" r:id="rId59"/>
    <p:sldId id="1301" r:id="rId60"/>
    <p:sldId id="1302" r:id="rId61"/>
    <p:sldId id="1304" r:id="rId62"/>
    <p:sldId id="1305" r:id="rId63"/>
    <p:sldId id="1307" r:id="rId64"/>
    <p:sldId id="1306" r:id="rId65"/>
    <p:sldId id="1308" r:id="rId66"/>
    <p:sldId id="1309" r:id="rId67"/>
    <p:sldId id="1310" r:id="rId68"/>
    <p:sldId id="946" r:id="rId69"/>
    <p:sldId id="947" r:id="rId70"/>
    <p:sldId id="1312" r:id="rId71"/>
    <p:sldId id="1313" r:id="rId72"/>
    <p:sldId id="1314" r:id="rId73"/>
    <p:sldId id="1316" r:id="rId74"/>
    <p:sldId id="1315" r:id="rId75"/>
    <p:sldId id="1311" r:id="rId76"/>
    <p:sldId id="1317" r:id="rId77"/>
    <p:sldId id="1318" r:id="rId78"/>
    <p:sldId id="1319" r:id="rId79"/>
    <p:sldId id="1320" r:id="rId80"/>
    <p:sldId id="1321" r:id="rId81"/>
    <p:sldId id="1322" r:id="rId82"/>
    <p:sldId id="1323" r:id="rId83"/>
    <p:sldId id="1324" r:id="rId84"/>
    <p:sldId id="1325" r:id="rId85"/>
    <p:sldId id="1327" r:id="rId86"/>
    <p:sldId id="1328" r:id="rId87"/>
    <p:sldId id="1329" r:id="rId88"/>
    <p:sldId id="1330" r:id="rId89"/>
    <p:sldId id="1331" r:id="rId90"/>
    <p:sldId id="1332" r:id="rId91"/>
    <p:sldId id="1333" r:id="rId92"/>
    <p:sldId id="1334" r:id="rId93"/>
    <p:sldId id="1335" r:id="rId94"/>
    <p:sldId id="1336" r:id="rId95"/>
    <p:sldId id="1337" r:id="rId96"/>
    <p:sldId id="1338" r:id="rId97"/>
    <p:sldId id="1339" r:id="rId98"/>
    <p:sldId id="1340" r:id="rId99"/>
    <p:sldId id="1341" r:id="rId100"/>
    <p:sldId id="1342" r:id="rId101"/>
    <p:sldId id="1343" r:id="rId102"/>
    <p:sldId id="1344" r:id="rId103"/>
    <p:sldId id="1345" r:id="rId104"/>
    <p:sldId id="1346" r:id="rId105"/>
    <p:sldId id="1347" r:id="rId106"/>
    <p:sldId id="1348" r:id="rId107"/>
    <p:sldId id="1349" r:id="rId108"/>
    <p:sldId id="1350" r:id="rId109"/>
    <p:sldId id="1351" r:id="rId110"/>
    <p:sldId id="1252" r:id="rId111"/>
    <p:sldId id="1255" r:id="rId112"/>
    <p:sldId id="1352" r:id="rId113"/>
    <p:sldId id="1353" r:id="rId114"/>
    <p:sldId id="1254" r:id="rId115"/>
    <p:sldId id="1253" r:id="rId116"/>
    <p:sldId id="1354" r:id="rId117"/>
    <p:sldId id="1355" r:id="rId118"/>
    <p:sldId id="1356" r:id="rId119"/>
    <p:sldId id="1357" r:id="rId120"/>
    <p:sldId id="1358" r:id="rId121"/>
    <p:sldId id="910" r:id="rId122"/>
  </p:sldIdLst>
  <p:sldSz cx="9144000" cy="5143500" type="screen16x9"/>
  <p:notesSz cx="6858000" cy="9144000"/>
  <p:embeddedFontLst>
    <p:embeddedFont>
      <p:font typeface="华文楷体" panose="02010600040101010101" pitchFamily="2" charset="-122"/>
      <p:regular r:id="rId124"/>
    </p:embeddedFont>
    <p:embeddedFont>
      <p:font typeface="微软雅黑" panose="020B0503020204020204" pitchFamily="34" charset="-122"/>
      <p:regular r:id="rId125"/>
      <p:bold r:id="rId126"/>
    </p:embeddedFont>
    <p:embeddedFont>
      <p:font typeface="Calibri" panose="020F0502020204030204" pitchFamily="34" charset="0"/>
      <p:regular r:id="rId127"/>
      <p:bold r:id="rId128"/>
      <p:italic r:id="rId129"/>
      <p:boldItalic r:id="rId130"/>
    </p:embeddedFont>
  </p:embeddedFontLst>
  <p:custDataLst>
    <p:tags r:id="rId131"/>
  </p:custDataLst>
  <p:defaultText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0" userDrawn="1">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861A"/>
    <a:srgbClr val="C8071D"/>
    <a:srgbClr val="FFC000"/>
    <a:srgbClr val="FEE599"/>
    <a:srgbClr val="92CDDC"/>
    <a:srgbClr val="1889B4"/>
    <a:srgbClr val="CCFFCC"/>
    <a:srgbClr val="FF9899"/>
    <a:srgbClr val="F2F2F2"/>
    <a:srgbClr val="147B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97" autoAdjust="0"/>
  </p:normalViewPr>
  <p:slideViewPr>
    <p:cSldViewPr>
      <p:cViewPr varScale="1">
        <p:scale>
          <a:sx n="100" d="100"/>
          <a:sy n="100" d="100"/>
        </p:scale>
        <p:origin x="68" y="352"/>
      </p:cViewPr>
      <p:guideLst>
        <p:guide orient="horz" pos="2210"/>
        <p:guide pos="2880"/>
      </p:guideLst>
    </p:cSldViewPr>
  </p:slideViewPr>
  <p:notesTextViewPr>
    <p:cViewPr>
      <p:scale>
        <a:sx n="1" d="1"/>
        <a:sy n="1" d="1"/>
      </p:scale>
      <p:origin x="0" y="0"/>
    </p:cViewPr>
  </p:notesTextViewPr>
  <p:sorterViewPr>
    <p:cViewPr>
      <p:scale>
        <a:sx n="186" d="100"/>
        <a:sy n="186" d="100"/>
      </p:scale>
      <p:origin x="0" y="0"/>
    </p:cViewPr>
  </p:sorterViewPr>
  <p:notesViewPr>
    <p:cSldViewPr>
      <p:cViewPr varScale="1">
        <p:scale>
          <a:sx n="65" d="100"/>
          <a:sy n="65" d="100"/>
        </p:scale>
        <p:origin x="-336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font" Target="fonts/font5.fntdata"/><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font" Target="fonts/font1.fntdata"/><Relationship Id="rId129" Type="http://schemas.openxmlformats.org/officeDocument/2006/relationships/font" Target="fonts/font6.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7.fntdata"/><Relationship Id="rId135"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tags" Target="tags/tag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82A5992-9D73-4015-9385-ABE035416B29}" type="datetimeFigureOut">
              <a:rPr lang="zh-CN" altLang="en-US" smtClean="0"/>
              <a:pPr/>
              <a:t>2023/4/15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95A699-AB68-4A20-99FB-6F69DC266D45}" type="slidenum">
              <a:rPr lang="zh-CN" altLang="en-US" smtClean="0"/>
              <a:pPr/>
              <a:t>‹#›</a:t>
            </a:fld>
            <a:endParaRPr lang="zh-CN" altLang="en-US"/>
          </a:p>
        </p:txBody>
      </p:sp>
    </p:spTree>
    <p:extLst>
      <p:ext uri="{BB962C8B-B14F-4D97-AF65-F5344CB8AC3E}">
        <p14:creationId xmlns:p14="http://schemas.microsoft.com/office/powerpoint/2010/main" val="48234476"/>
      </p:ext>
    </p:extLst>
  </p:cSld>
  <p:clrMap bg1="lt1" tx1="dk1" bg2="lt2" tx2="dk2" accent1="accent1" accent2="accent2" accent3="accent3" accent4="accent4" accent5="accent5" accent6="accent6" hlink="hlink" folHlink="folHlink"/>
  <p:notesStyle>
    <a:lvl1pPr marL="0" algn="l" defTabSz="914282" rtl="0" eaLnBrk="1" latinLnBrk="0" hangingPunct="1">
      <a:defRPr sz="1200" kern="1200">
        <a:solidFill>
          <a:schemeClr val="tx1"/>
        </a:solidFill>
        <a:latin typeface="+mn-lt"/>
        <a:ea typeface="+mn-ea"/>
        <a:cs typeface="+mn-cs"/>
      </a:defRPr>
    </a:lvl1pPr>
    <a:lvl2pPr marL="457140" algn="l" defTabSz="914282" rtl="0" eaLnBrk="1" latinLnBrk="0" hangingPunct="1">
      <a:defRPr sz="1200" kern="1200">
        <a:solidFill>
          <a:schemeClr val="tx1"/>
        </a:solidFill>
        <a:latin typeface="+mn-lt"/>
        <a:ea typeface="+mn-ea"/>
        <a:cs typeface="+mn-cs"/>
      </a:defRPr>
    </a:lvl2pPr>
    <a:lvl3pPr marL="914282" algn="l" defTabSz="914282" rtl="0" eaLnBrk="1" latinLnBrk="0" hangingPunct="1">
      <a:defRPr sz="1200" kern="1200">
        <a:solidFill>
          <a:schemeClr val="tx1"/>
        </a:solidFill>
        <a:latin typeface="+mn-lt"/>
        <a:ea typeface="+mn-ea"/>
        <a:cs typeface="+mn-cs"/>
      </a:defRPr>
    </a:lvl3pPr>
    <a:lvl4pPr marL="1371422" algn="l" defTabSz="914282" rtl="0" eaLnBrk="1" latinLnBrk="0" hangingPunct="1">
      <a:defRPr sz="1200" kern="1200">
        <a:solidFill>
          <a:schemeClr val="tx1"/>
        </a:solidFill>
        <a:latin typeface="+mn-lt"/>
        <a:ea typeface="+mn-ea"/>
        <a:cs typeface="+mn-cs"/>
      </a:defRPr>
    </a:lvl4pPr>
    <a:lvl5pPr marL="1828563" algn="l" defTabSz="914282" rtl="0" eaLnBrk="1" latinLnBrk="0" hangingPunct="1">
      <a:defRPr sz="1200" kern="1200">
        <a:solidFill>
          <a:schemeClr val="tx1"/>
        </a:solidFill>
        <a:latin typeface="+mn-lt"/>
        <a:ea typeface="+mn-ea"/>
        <a:cs typeface="+mn-cs"/>
      </a:defRPr>
    </a:lvl5pPr>
    <a:lvl6pPr marL="2285704" algn="l" defTabSz="914282" rtl="0" eaLnBrk="1" latinLnBrk="0" hangingPunct="1">
      <a:defRPr sz="1200" kern="1200">
        <a:solidFill>
          <a:schemeClr val="tx1"/>
        </a:solidFill>
        <a:latin typeface="+mn-lt"/>
        <a:ea typeface="+mn-ea"/>
        <a:cs typeface="+mn-cs"/>
      </a:defRPr>
    </a:lvl6pPr>
    <a:lvl7pPr marL="2742845" algn="l" defTabSz="914282" rtl="0" eaLnBrk="1" latinLnBrk="0" hangingPunct="1">
      <a:defRPr sz="1200" kern="1200">
        <a:solidFill>
          <a:schemeClr val="tx1"/>
        </a:solidFill>
        <a:latin typeface="+mn-lt"/>
        <a:ea typeface="+mn-ea"/>
        <a:cs typeface="+mn-cs"/>
      </a:defRPr>
    </a:lvl7pPr>
    <a:lvl8pPr marL="3199985" algn="l" defTabSz="914282" rtl="0" eaLnBrk="1" latinLnBrk="0" hangingPunct="1">
      <a:defRPr sz="1200" kern="1200">
        <a:solidFill>
          <a:schemeClr val="tx1"/>
        </a:solidFill>
        <a:latin typeface="+mn-lt"/>
        <a:ea typeface="+mn-ea"/>
        <a:cs typeface="+mn-cs"/>
      </a:defRPr>
    </a:lvl8pPr>
    <a:lvl9pPr marL="3657126" algn="l" defTabSz="91428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1</a:t>
            </a:fld>
            <a:endParaRPr lang="zh-CN" altLang="en-US"/>
          </a:p>
        </p:txBody>
      </p:sp>
    </p:spTree>
    <p:extLst>
      <p:ext uri="{BB962C8B-B14F-4D97-AF65-F5344CB8AC3E}">
        <p14:creationId xmlns:p14="http://schemas.microsoft.com/office/powerpoint/2010/main" val="170076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927DC7C-EA85-41EA-BE8E-3BC04B9579CE}" type="slidenum">
              <a:rPr lang="zh-CN" altLang="en-US" smtClean="0"/>
              <a:pPr/>
              <a:t>2</a:t>
            </a:fld>
            <a:endParaRPr lang="zh-CN" altLang="en-US"/>
          </a:p>
        </p:txBody>
      </p:sp>
    </p:spTree>
    <p:extLst>
      <p:ext uri="{BB962C8B-B14F-4D97-AF65-F5344CB8AC3E}">
        <p14:creationId xmlns:p14="http://schemas.microsoft.com/office/powerpoint/2010/main" val="92971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a:t>
            </a:fld>
            <a:endParaRPr lang="en-GB"/>
          </a:p>
        </p:txBody>
      </p:sp>
    </p:spTree>
    <p:extLst>
      <p:ext uri="{BB962C8B-B14F-4D97-AF65-F5344CB8AC3E}">
        <p14:creationId xmlns:p14="http://schemas.microsoft.com/office/powerpoint/2010/main" val="3022032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4</a:t>
            </a:fld>
            <a:endParaRPr lang="zh-CN" altLang="en-US"/>
          </a:p>
        </p:txBody>
      </p:sp>
    </p:spTree>
    <p:extLst>
      <p:ext uri="{BB962C8B-B14F-4D97-AF65-F5344CB8AC3E}">
        <p14:creationId xmlns:p14="http://schemas.microsoft.com/office/powerpoint/2010/main" val="3255464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a:t>
            </a:fld>
            <a:endParaRPr lang="en-GB"/>
          </a:p>
        </p:txBody>
      </p:sp>
    </p:spTree>
    <p:extLst>
      <p:ext uri="{BB962C8B-B14F-4D97-AF65-F5344CB8AC3E}">
        <p14:creationId xmlns:p14="http://schemas.microsoft.com/office/powerpoint/2010/main" val="559393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a:t>
            </a:fld>
            <a:endParaRPr lang="en-GB"/>
          </a:p>
        </p:txBody>
      </p:sp>
    </p:spTree>
    <p:extLst>
      <p:ext uri="{BB962C8B-B14F-4D97-AF65-F5344CB8AC3E}">
        <p14:creationId xmlns:p14="http://schemas.microsoft.com/office/powerpoint/2010/main" val="86567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a:t>
            </a:fld>
            <a:endParaRPr lang="en-GB"/>
          </a:p>
        </p:txBody>
      </p:sp>
    </p:spTree>
    <p:extLst>
      <p:ext uri="{BB962C8B-B14F-4D97-AF65-F5344CB8AC3E}">
        <p14:creationId xmlns:p14="http://schemas.microsoft.com/office/powerpoint/2010/main" val="288317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a:t>
            </a:fld>
            <a:endParaRPr lang="en-GB"/>
          </a:p>
        </p:txBody>
      </p:sp>
    </p:spTree>
    <p:extLst>
      <p:ext uri="{BB962C8B-B14F-4D97-AF65-F5344CB8AC3E}">
        <p14:creationId xmlns:p14="http://schemas.microsoft.com/office/powerpoint/2010/main" val="35508710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a:t>
            </a:fld>
            <a:endParaRPr lang="en-GB"/>
          </a:p>
        </p:txBody>
      </p:sp>
    </p:spTree>
    <p:extLst>
      <p:ext uri="{BB962C8B-B14F-4D97-AF65-F5344CB8AC3E}">
        <p14:creationId xmlns:p14="http://schemas.microsoft.com/office/powerpoint/2010/main" val="1173491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a:t>
            </a:fld>
            <a:endParaRPr lang="en-GB"/>
          </a:p>
        </p:txBody>
      </p:sp>
    </p:spTree>
    <p:extLst>
      <p:ext uri="{BB962C8B-B14F-4D97-AF65-F5344CB8AC3E}">
        <p14:creationId xmlns:p14="http://schemas.microsoft.com/office/powerpoint/2010/main" val="101944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a:t>
            </a:fld>
            <a:endParaRPr lang="en-GB"/>
          </a:p>
        </p:txBody>
      </p:sp>
    </p:spTree>
    <p:extLst>
      <p:ext uri="{BB962C8B-B14F-4D97-AF65-F5344CB8AC3E}">
        <p14:creationId xmlns:p14="http://schemas.microsoft.com/office/powerpoint/2010/main" val="3744411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12</a:t>
            </a:fld>
            <a:endParaRPr lang="zh-CN" altLang="en-US"/>
          </a:p>
        </p:txBody>
      </p:sp>
    </p:spTree>
    <p:extLst>
      <p:ext uri="{BB962C8B-B14F-4D97-AF65-F5344CB8AC3E}">
        <p14:creationId xmlns:p14="http://schemas.microsoft.com/office/powerpoint/2010/main" val="3692650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13</a:t>
            </a:fld>
            <a:endParaRPr lang="en-GB"/>
          </a:p>
        </p:txBody>
      </p:sp>
    </p:spTree>
    <p:extLst>
      <p:ext uri="{BB962C8B-B14F-4D97-AF65-F5344CB8AC3E}">
        <p14:creationId xmlns:p14="http://schemas.microsoft.com/office/powerpoint/2010/main" val="2829696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14</a:t>
            </a:fld>
            <a:endParaRPr lang="en-GB"/>
          </a:p>
        </p:txBody>
      </p:sp>
    </p:spTree>
    <p:extLst>
      <p:ext uri="{BB962C8B-B14F-4D97-AF65-F5344CB8AC3E}">
        <p14:creationId xmlns:p14="http://schemas.microsoft.com/office/powerpoint/2010/main" val="2745016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15</a:t>
            </a:fld>
            <a:endParaRPr lang="en-GB"/>
          </a:p>
        </p:txBody>
      </p:sp>
    </p:spTree>
    <p:extLst>
      <p:ext uri="{BB962C8B-B14F-4D97-AF65-F5344CB8AC3E}">
        <p14:creationId xmlns:p14="http://schemas.microsoft.com/office/powerpoint/2010/main" val="3699968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16</a:t>
            </a:fld>
            <a:endParaRPr lang="en-GB"/>
          </a:p>
        </p:txBody>
      </p:sp>
    </p:spTree>
    <p:extLst>
      <p:ext uri="{BB962C8B-B14F-4D97-AF65-F5344CB8AC3E}">
        <p14:creationId xmlns:p14="http://schemas.microsoft.com/office/powerpoint/2010/main" val="1554250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17</a:t>
            </a:fld>
            <a:endParaRPr lang="en-GB"/>
          </a:p>
        </p:txBody>
      </p:sp>
    </p:spTree>
    <p:extLst>
      <p:ext uri="{BB962C8B-B14F-4D97-AF65-F5344CB8AC3E}">
        <p14:creationId xmlns:p14="http://schemas.microsoft.com/office/powerpoint/2010/main" val="29065637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18</a:t>
            </a:fld>
            <a:endParaRPr lang="en-GB"/>
          </a:p>
        </p:txBody>
      </p:sp>
    </p:spTree>
    <p:extLst>
      <p:ext uri="{BB962C8B-B14F-4D97-AF65-F5344CB8AC3E}">
        <p14:creationId xmlns:p14="http://schemas.microsoft.com/office/powerpoint/2010/main" val="16157716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19</a:t>
            </a:fld>
            <a:endParaRPr lang="en-GB"/>
          </a:p>
        </p:txBody>
      </p:sp>
    </p:spTree>
    <p:extLst>
      <p:ext uri="{BB962C8B-B14F-4D97-AF65-F5344CB8AC3E}">
        <p14:creationId xmlns:p14="http://schemas.microsoft.com/office/powerpoint/2010/main" val="18956195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20</a:t>
            </a:fld>
            <a:endParaRPr lang="en-GB"/>
          </a:p>
        </p:txBody>
      </p:sp>
    </p:spTree>
    <p:extLst>
      <p:ext uri="{BB962C8B-B14F-4D97-AF65-F5344CB8AC3E}">
        <p14:creationId xmlns:p14="http://schemas.microsoft.com/office/powerpoint/2010/main" val="35152675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21</a:t>
            </a:fld>
            <a:endParaRPr lang="en-GB"/>
          </a:p>
        </p:txBody>
      </p:sp>
    </p:spTree>
    <p:extLst>
      <p:ext uri="{BB962C8B-B14F-4D97-AF65-F5344CB8AC3E}">
        <p14:creationId xmlns:p14="http://schemas.microsoft.com/office/powerpoint/2010/main" val="26569075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22</a:t>
            </a:fld>
            <a:endParaRPr lang="en-GB"/>
          </a:p>
        </p:txBody>
      </p:sp>
    </p:spTree>
    <p:extLst>
      <p:ext uri="{BB962C8B-B14F-4D97-AF65-F5344CB8AC3E}">
        <p14:creationId xmlns:p14="http://schemas.microsoft.com/office/powerpoint/2010/main" val="10188381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23</a:t>
            </a:fld>
            <a:endParaRPr lang="en-GB"/>
          </a:p>
        </p:txBody>
      </p:sp>
    </p:spTree>
    <p:extLst>
      <p:ext uri="{BB962C8B-B14F-4D97-AF65-F5344CB8AC3E}">
        <p14:creationId xmlns:p14="http://schemas.microsoft.com/office/powerpoint/2010/main" val="27206723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24</a:t>
            </a:fld>
            <a:endParaRPr lang="en-GB"/>
          </a:p>
        </p:txBody>
      </p:sp>
    </p:spTree>
    <p:extLst>
      <p:ext uri="{BB962C8B-B14F-4D97-AF65-F5344CB8AC3E}">
        <p14:creationId xmlns:p14="http://schemas.microsoft.com/office/powerpoint/2010/main" val="16107880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25</a:t>
            </a:fld>
            <a:endParaRPr lang="en-GB"/>
          </a:p>
        </p:txBody>
      </p:sp>
    </p:spTree>
    <p:extLst>
      <p:ext uri="{BB962C8B-B14F-4D97-AF65-F5344CB8AC3E}">
        <p14:creationId xmlns:p14="http://schemas.microsoft.com/office/powerpoint/2010/main" val="14108385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26</a:t>
            </a:fld>
            <a:endParaRPr lang="en-GB"/>
          </a:p>
        </p:txBody>
      </p:sp>
    </p:spTree>
    <p:extLst>
      <p:ext uri="{BB962C8B-B14F-4D97-AF65-F5344CB8AC3E}">
        <p14:creationId xmlns:p14="http://schemas.microsoft.com/office/powerpoint/2010/main" val="34707520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27</a:t>
            </a:fld>
            <a:endParaRPr lang="en-GB"/>
          </a:p>
        </p:txBody>
      </p:sp>
    </p:spTree>
    <p:extLst>
      <p:ext uri="{BB962C8B-B14F-4D97-AF65-F5344CB8AC3E}">
        <p14:creationId xmlns:p14="http://schemas.microsoft.com/office/powerpoint/2010/main" val="25171535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28</a:t>
            </a:fld>
            <a:endParaRPr lang="en-GB"/>
          </a:p>
        </p:txBody>
      </p:sp>
    </p:spTree>
    <p:extLst>
      <p:ext uri="{BB962C8B-B14F-4D97-AF65-F5344CB8AC3E}">
        <p14:creationId xmlns:p14="http://schemas.microsoft.com/office/powerpoint/2010/main" val="21343558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29</a:t>
            </a:fld>
            <a:endParaRPr lang="en-GB"/>
          </a:p>
        </p:txBody>
      </p:sp>
    </p:spTree>
    <p:extLst>
      <p:ext uri="{BB962C8B-B14F-4D97-AF65-F5344CB8AC3E}">
        <p14:creationId xmlns:p14="http://schemas.microsoft.com/office/powerpoint/2010/main" val="23617407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30</a:t>
            </a:fld>
            <a:endParaRPr lang="en-GB"/>
          </a:p>
        </p:txBody>
      </p:sp>
    </p:spTree>
    <p:extLst>
      <p:ext uri="{BB962C8B-B14F-4D97-AF65-F5344CB8AC3E}">
        <p14:creationId xmlns:p14="http://schemas.microsoft.com/office/powerpoint/2010/main" val="15983923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31</a:t>
            </a:fld>
            <a:endParaRPr lang="en-GB"/>
          </a:p>
        </p:txBody>
      </p:sp>
    </p:spTree>
    <p:extLst>
      <p:ext uri="{BB962C8B-B14F-4D97-AF65-F5344CB8AC3E}">
        <p14:creationId xmlns:p14="http://schemas.microsoft.com/office/powerpoint/2010/main" val="2715591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32</a:t>
            </a:fld>
            <a:endParaRPr lang="en-GB"/>
          </a:p>
        </p:txBody>
      </p:sp>
    </p:spTree>
    <p:extLst>
      <p:ext uri="{BB962C8B-B14F-4D97-AF65-F5344CB8AC3E}">
        <p14:creationId xmlns:p14="http://schemas.microsoft.com/office/powerpoint/2010/main" val="27631519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33</a:t>
            </a:fld>
            <a:endParaRPr lang="en-GB"/>
          </a:p>
        </p:txBody>
      </p:sp>
    </p:spTree>
    <p:extLst>
      <p:ext uri="{BB962C8B-B14F-4D97-AF65-F5344CB8AC3E}">
        <p14:creationId xmlns:p14="http://schemas.microsoft.com/office/powerpoint/2010/main" val="23115223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34</a:t>
            </a:fld>
            <a:endParaRPr lang="en-GB"/>
          </a:p>
        </p:txBody>
      </p:sp>
    </p:spTree>
    <p:extLst>
      <p:ext uri="{BB962C8B-B14F-4D97-AF65-F5344CB8AC3E}">
        <p14:creationId xmlns:p14="http://schemas.microsoft.com/office/powerpoint/2010/main" val="41050923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35</a:t>
            </a:fld>
            <a:endParaRPr lang="en-GB"/>
          </a:p>
        </p:txBody>
      </p:sp>
    </p:spTree>
    <p:extLst>
      <p:ext uri="{BB962C8B-B14F-4D97-AF65-F5344CB8AC3E}">
        <p14:creationId xmlns:p14="http://schemas.microsoft.com/office/powerpoint/2010/main" val="4933311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36</a:t>
            </a:fld>
            <a:endParaRPr lang="en-GB"/>
          </a:p>
        </p:txBody>
      </p:sp>
    </p:spTree>
    <p:extLst>
      <p:ext uri="{BB962C8B-B14F-4D97-AF65-F5344CB8AC3E}">
        <p14:creationId xmlns:p14="http://schemas.microsoft.com/office/powerpoint/2010/main" val="20225046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37</a:t>
            </a:fld>
            <a:endParaRPr lang="en-GB"/>
          </a:p>
        </p:txBody>
      </p:sp>
    </p:spTree>
    <p:extLst>
      <p:ext uri="{BB962C8B-B14F-4D97-AF65-F5344CB8AC3E}">
        <p14:creationId xmlns:p14="http://schemas.microsoft.com/office/powerpoint/2010/main" val="14272804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38</a:t>
            </a:fld>
            <a:endParaRPr lang="en-GB"/>
          </a:p>
        </p:txBody>
      </p:sp>
    </p:spTree>
    <p:extLst>
      <p:ext uri="{BB962C8B-B14F-4D97-AF65-F5344CB8AC3E}">
        <p14:creationId xmlns:p14="http://schemas.microsoft.com/office/powerpoint/2010/main" val="60350669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39</a:t>
            </a:fld>
            <a:endParaRPr lang="en-GB"/>
          </a:p>
        </p:txBody>
      </p:sp>
    </p:spTree>
    <p:extLst>
      <p:ext uri="{BB962C8B-B14F-4D97-AF65-F5344CB8AC3E}">
        <p14:creationId xmlns:p14="http://schemas.microsoft.com/office/powerpoint/2010/main" val="15826489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40</a:t>
            </a:fld>
            <a:endParaRPr lang="en-GB"/>
          </a:p>
        </p:txBody>
      </p:sp>
    </p:spTree>
    <p:extLst>
      <p:ext uri="{BB962C8B-B14F-4D97-AF65-F5344CB8AC3E}">
        <p14:creationId xmlns:p14="http://schemas.microsoft.com/office/powerpoint/2010/main" val="41599737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41</a:t>
            </a:fld>
            <a:endParaRPr lang="en-GB"/>
          </a:p>
        </p:txBody>
      </p:sp>
    </p:spTree>
    <p:extLst>
      <p:ext uri="{BB962C8B-B14F-4D97-AF65-F5344CB8AC3E}">
        <p14:creationId xmlns:p14="http://schemas.microsoft.com/office/powerpoint/2010/main" val="32689330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42</a:t>
            </a:fld>
            <a:endParaRPr lang="en-GB"/>
          </a:p>
        </p:txBody>
      </p:sp>
    </p:spTree>
    <p:extLst>
      <p:ext uri="{BB962C8B-B14F-4D97-AF65-F5344CB8AC3E}">
        <p14:creationId xmlns:p14="http://schemas.microsoft.com/office/powerpoint/2010/main" val="28866730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43</a:t>
            </a:fld>
            <a:endParaRPr lang="en-GB"/>
          </a:p>
        </p:txBody>
      </p:sp>
    </p:spTree>
    <p:extLst>
      <p:ext uri="{BB962C8B-B14F-4D97-AF65-F5344CB8AC3E}">
        <p14:creationId xmlns:p14="http://schemas.microsoft.com/office/powerpoint/2010/main" val="34943567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44</a:t>
            </a:fld>
            <a:endParaRPr lang="en-GB"/>
          </a:p>
        </p:txBody>
      </p:sp>
    </p:spTree>
    <p:extLst>
      <p:ext uri="{BB962C8B-B14F-4D97-AF65-F5344CB8AC3E}">
        <p14:creationId xmlns:p14="http://schemas.microsoft.com/office/powerpoint/2010/main" val="201504449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45</a:t>
            </a:fld>
            <a:endParaRPr lang="en-GB"/>
          </a:p>
        </p:txBody>
      </p:sp>
    </p:spTree>
    <p:extLst>
      <p:ext uri="{BB962C8B-B14F-4D97-AF65-F5344CB8AC3E}">
        <p14:creationId xmlns:p14="http://schemas.microsoft.com/office/powerpoint/2010/main" val="293319199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46</a:t>
            </a:fld>
            <a:endParaRPr lang="en-GB"/>
          </a:p>
        </p:txBody>
      </p:sp>
    </p:spTree>
    <p:extLst>
      <p:ext uri="{BB962C8B-B14F-4D97-AF65-F5344CB8AC3E}">
        <p14:creationId xmlns:p14="http://schemas.microsoft.com/office/powerpoint/2010/main" val="9528242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47</a:t>
            </a:fld>
            <a:endParaRPr lang="en-GB"/>
          </a:p>
        </p:txBody>
      </p:sp>
    </p:spTree>
    <p:extLst>
      <p:ext uri="{BB962C8B-B14F-4D97-AF65-F5344CB8AC3E}">
        <p14:creationId xmlns:p14="http://schemas.microsoft.com/office/powerpoint/2010/main" val="42656244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48</a:t>
            </a:fld>
            <a:endParaRPr lang="en-GB"/>
          </a:p>
        </p:txBody>
      </p:sp>
    </p:spTree>
    <p:extLst>
      <p:ext uri="{BB962C8B-B14F-4D97-AF65-F5344CB8AC3E}">
        <p14:creationId xmlns:p14="http://schemas.microsoft.com/office/powerpoint/2010/main" val="4932431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49</a:t>
            </a:fld>
            <a:endParaRPr lang="en-GB"/>
          </a:p>
        </p:txBody>
      </p:sp>
    </p:spTree>
    <p:extLst>
      <p:ext uri="{BB962C8B-B14F-4D97-AF65-F5344CB8AC3E}">
        <p14:creationId xmlns:p14="http://schemas.microsoft.com/office/powerpoint/2010/main" val="300170072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50</a:t>
            </a:fld>
            <a:endParaRPr lang="en-GB"/>
          </a:p>
        </p:txBody>
      </p:sp>
    </p:spTree>
    <p:extLst>
      <p:ext uri="{BB962C8B-B14F-4D97-AF65-F5344CB8AC3E}">
        <p14:creationId xmlns:p14="http://schemas.microsoft.com/office/powerpoint/2010/main" val="11480067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51</a:t>
            </a:fld>
            <a:endParaRPr lang="en-GB"/>
          </a:p>
        </p:txBody>
      </p:sp>
    </p:spTree>
    <p:extLst>
      <p:ext uri="{BB962C8B-B14F-4D97-AF65-F5344CB8AC3E}">
        <p14:creationId xmlns:p14="http://schemas.microsoft.com/office/powerpoint/2010/main" val="34760262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52</a:t>
            </a:fld>
            <a:endParaRPr lang="en-GB"/>
          </a:p>
        </p:txBody>
      </p:sp>
    </p:spTree>
    <p:extLst>
      <p:ext uri="{BB962C8B-B14F-4D97-AF65-F5344CB8AC3E}">
        <p14:creationId xmlns:p14="http://schemas.microsoft.com/office/powerpoint/2010/main" val="1927241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53</a:t>
            </a:fld>
            <a:endParaRPr lang="en-GB"/>
          </a:p>
        </p:txBody>
      </p:sp>
    </p:spTree>
    <p:extLst>
      <p:ext uri="{BB962C8B-B14F-4D97-AF65-F5344CB8AC3E}">
        <p14:creationId xmlns:p14="http://schemas.microsoft.com/office/powerpoint/2010/main" val="51525265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54</a:t>
            </a:fld>
            <a:endParaRPr lang="en-GB"/>
          </a:p>
        </p:txBody>
      </p:sp>
    </p:spTree>
    <p:extLst>
      <p:ext uri="{BB962C8B-B14F-4D97-AF65-F5344CB8AC3E}">
        <p14:creationId xmlns:p14="http://schemas.microsoft.com/office/powerpoint/2010/main" val="351013727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55</a:t>
            </a:fld>
            <a:endParaRPr lang="en-GB"/>
          </a:p>
        </p:txBody>
      </p:sp>
    </p:spTree>
    <p:extLst>
      <p:ext uri="{BB962C8B-B14F-4D97-AF65-F5344CB8AC3E}">
        <p14:creationId xmlns:p14="http://schemas.microsoft.com/office/powerpoint/2010/main" val="27824397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56</a:t>
            </a:fld>
            <a:endParaRPr lang="en-GB"/>
          </a:p>
        </p:txBody>
      </p:sp>
    </p:spTree>
    <p:extLst>
      <p:ext uri="{BB962C8B-B14F-4D97-AF65-F5344CB8AC3E}">
        <p14:creationId xmlns:p14="http://schemas.microsoft.com/office/powerpoint/2010/main" val="31648371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57</a:t>
            </a:fld>
            <a:endParaRPr lang="en-GB"/>
          </a:p>
        </p:txBody>
      </p:sp>
    </p:spTree>
    <p:extLst>
      <p:ext uri="{BB962C8B-B14F-4D97-AF65-F5344CB8AC3E}">
        <p14:creationId xmlns:p14="http://schemas.microsoft.com/office/powerpoint/2010/main" val="269706891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58</a:t>
            </a:fld>
            <a:endParaRPr lang="en-GB"/>
          </a:p>
        </p:txBody>
      </p:sp>
    </p:spTree>
    <p:extLst>
      <p:ext uri="{BB962C8B-B14F-4D97-AF65-F5344CB8AC3E}">
        <p14:creationId xmlns:p14="http://schemas.microsoft.com/office/powerpoint/2010/main" val="152030705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59</a:t>
            </a:fld>
            <a:endParaRPr lang="en-GB"/>
          </a:p>
        </p:txBody>
      </p:sp>
    </p:spTree>
    <p:extLst>
      <p:ext uri="{BB962C8B-B14F-4D97-AF65-F5344CB8AC3E}">
        <p14:creationId xmlns:p14="http://schemas.microsoft.com/office/powerpoint/2010/main" val="18358131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60</a:t>
            </a:fld>
            <a:endParaRPr lang="en-GB"/>
          </a:p>
        </p:txBody>
      </p:sp>
    </p:spTree>
    <p:extLst>
      <p:ext uri="{BB962C8B-B14F-4D97-AF65-F5344CB8AC3E}">
        <p14:creationId xmlns:p14="http://schemas.microsoft.com/office/powerpoint/2010/main" val="19523864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61</a:t>
            </a:fld>
            <a:endParaRPr lang="en-GB"/>
          </a:p>
        </p:txBody>
      </p:sp>
    </p:spTree>
    <p:extLst>
      <p:ext uri="{BB962C8B-B14F-4D97-AF65-F5344CB8AC3E}">
        <p14:creationId xmlns:p14="http://schemas.microsoft.com/office/powerpoint/2010/main" val="376862971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62</a:t>
            </a:fld>
            <a:endParaRPr lang="en-GB"/>
          </a:p>
        </p:txBody>
      </p:sp>
    </p:spTree>
    <p:extLst>
      <p:ext uri="{BB962C8B-B14F-4D97-AF65-F5344CB8AC3E}">
        <p14:creationId xmlns:p14="http://schemas.microsoft.com/office/powerpoint/2010/main" val="26303093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63</a:t>
            </a:fld>
            <a:endParaRPr lang="en-GB"/>
          </a:p>
        </p:txBody>
      </p:sp>
    </p:spTree>
    <p:extLst>
      <p:ext uri="{BB962C8B-B14F-4D97-AF65-F5344CB8AC3E}">
        <p14:creationId xmlns:p14="http://schemas.microsoft.com/office/powerpoint/2010/main" val="27579569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64</a:t>
            </a:fld>
            <a:endParaRPr lang="en-GB"/>
          </a:p>
        </p:txBody>
      </p:sp>
    </p:spTree>
    <p:extLst>
      <p:ext uri="{BB962C8B-B14F-4D97-AF65-F5344CB8AC3E}">
        <p14:creationId xmlns:p14="http://schemas.microsoft.com/office/powerpoint/2010/main" val="178102537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65</a:t>
            </a:fld>
            <a:endParaRPr lang="en-GB"/>
          </a:p>
        </p:txBody>
      </p:sp>
    </p:spTree>
    <p:extLst>
      <p:ext uri="{BB962C8B-B14F-4D97-AF65-F5344CB8AC3E}">
        <p14:creationId xmlns:p14="http://schemas.microsoft.com/office/powerpoint/2010/main" val="280440851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66</a:t>
            </a:fld>
            <a:endParaRPr lang="en-GB"/>
          </a:p>
        </p:txBody>
      </p:sp>
    </p:spTree>
    <p:extLst>
      <p:ext uri="{BB962C8B-B14F-4D97-AF65-F5344CB8AC3E}">
        <p14:creationId xmlns:p14="http://schemas.microsoft.com/office/powerpoint/2010/main" val="129317477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67</a:t>
            </a:fld>
            <a:endParaRPr lang="en-GB"/>
          </a:p>
        </p:txBody>
      </p:sp>
    </p:spTree>
    <p:extLst>
      <p:ext uri="{BB962C8B-B14F-4D97-AF65-F5344CB8AC3E}">
        <p14:creationId xmlns:p14="http://schemas.microsoft.com/office/powerpoint/2010/main" val="302637352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68</a:t>
            </a:fld>
            <a:endParaRPr lang="zh-CN" altLang="en-US"/>
          </a:p>
        </p:txBody>
      </p:sp>
    </p:spTree>
    <p:extLst>
      <p:ext uri="{BB962C8B-B14F-4D97-AF65-F5344CB8AC3E}">
        <p14:creationId xmlns:p14="http://schemas.microsoft.com/office/powerpoint/2010/main" val="2973467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69</a:t>
            </a:fld>
            <a:endParaRPr lang="en-GB"/>
          </a:p>
        </p:txBody>
      </p:sp>
    </p:spTree>
    <p:extLst>
      <p:ext uri="{BB962C8B-B14F-4D97-AF65-F5344CB8AC3E}">
        <p14:creationId xmlns:p14="http://schemas.microsoft.com/office/powerpoint/2010/main" val="286678477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70</a:t>
            </a:fld>
            <a:endParaRPr lang="en-GB"/>
          </a:p>
        </p:txBody>
      </p:sp>
    </p:spTree>
    <p:extLst>
      <p:ext uri="{BB962C8B-B14F-4D97-AF65-F5344CB8AC3E}">
        <p14:creationId xmlns:p14="http://schemas.microsoft.com/office/powerpoint/2010/main" val="335824975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71</a:t>
            </a:fld>
            <a:endParaRPr lang="en-GB"/>
          </a:p>
        </p:txBody>
      </p:sp>
    </p:spTree>
    <p:extLst>
      <p:ext uri="{BB962C8B-B14F-4D97-AF65-F5344CB8AC3E}">
        <p14:creationId xmlns:p14="http://schemas.microsoft.com/office/powerpoint/2010/main" val="188245985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72</a:t>
            </a:fld>
            <a:endParaRPr lang="en-GB"/>
          </a:p>
        </p:txBody>
      </p:sp>
    </p:spTree>
    <p:extLst>
      <p:ext uri="{BB962C8B-B14F-4D97-AF65-F5344CB8AC3E}">
        <p14:creationId xmlns:p14="http://schemas.microsoft.com/office/powerpoint/2010/main" val="65832476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73</a:t>
            </a:fld>
            <a:endParaRPr lang="en-GB"/>
          </a:p>
        </p:txBody>
      </p:sp>
    </p:spTree>
    <p:extLst>
      <p:ext uri="{BB962C8B-B14F-4D97-AF65-F5344CB8AC3E}">
        <p14:creationId xmlns:p14="http://schemas.microsoft.com/office/powerpoint/2010/main" val="256867858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74</a:t>
            </a:fld>
            <a:endParaRPr lang="en-GB"/>
          </a:p>
        </p:txBody>
      </p:sp>
    </p:spTree>
    <p:extLst>
      <p:ext uri="{BB962C8B-B14F-4D97-AF65-F5344CB8AC3E}">
        <p14:creationId xmlns:p14="http://schemas.microsoft.com/office/powerpoint/2010/main" val="109692245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75</a:t>
            </a:fld>
            <a:endParaRPr lang="en-GB"/>
          </a:p>
        </p:txBody>
      </p:sp>
    </p:spTree>
    <p:extLst>
      <p:ext uri="{BB962C8B-B14F-4D97-AF65-F5344CB8AC3E}">
        <p14:creationId xmlns:p14="http://schemas.microsoft.com/office/powerpoint/2010/main" val="193964040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76</a:t>
            </a:fld>
            <a:endParaRPr lang="en-GB"/>
          </a:p>
        </p:txBody>
      </p:sp>
    </p:spTree>
    <p:extLst>
      <p:ext uri="{BB962C8B-B14F-4D97-AF65-F5344CB8AC3E}">
        <p14:creationId xmlns:p14="http://schemas.microsoft.com/office/powerpoint/2010/main" val="1642201763"/>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77</a:t>
            </a:fld>
            <a:endParaRPr lang="en-GB"/>
          </a:p>
        </p:txBody>
      </p:sp>
    </p:spTree>
    <p:extLst>
      <p:ext uri="{BB962C8B-B14F-4D97-AF65-F5344CB8AC3E}">
        <p14:creationId xmlns:p14="http://schemas.microsoft.com/office/powerpoint/2010/main" val="199201211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78</a:t>
            </a:fld>
            <a:endParaRPr lang="en-GB"/>
          </a:p>
        </p:txBody>
      </p:sp>
    </p:spTree>
    <p:extLst>
      <p:ext uri="{BB962C8B-B14F-4D97-AF65-F5344CB8AC3E}">
        <p14:creationId xmlns:p14="http://schemas.microsoft.com/office/powerpoint/2010/main" val="16545965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79</a:t>
            </a:fld>
            <a:endParaRPr lang="en-GB"/>
          </a:p>
        </p:txBody>
      </p:sp>
    </p:spTree>
    <p:extLst>
      <p:ext uri="{BB962C8B-B14F-4D97-AF65-F5344CB8AC3E}">
        <p14:creationId xmlns:p14="http://schemas.microsoft.com/office/powerpoint/2010/main" val="293094516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80</a:t>
            </a:fld>
            <a:endParaRPr lang="en-GB"/>
          </a:p>
        </p:txBody>
      </p:sp>
    </p:spTree>
    <p:extLst>
      <p:ext uri="{BB962C8B-B14F-4D97-AF65-F5344CB8AC3E}">
        <p14:creationId xmlns:p14="http://schemas.microsoft.com/office/powerpoint/2010/main" val="178772933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81</a:t>
            </a:fld>
            <a:endParaRPr lang="en-GB"/>
          </a:p>
        </p:txBody>
      </p:sp>
    </p:spTree>
    <p:extLst>
      <p:ext uri="{BB962C8B-B14F-4D97-AF65-F5344CB8AC3E}">
        <p14:creationId xmlns:p14="http://schemas.microsoft.com/office/powerpoint/2010/main" val="108398202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82</a:t>
            </a:fld>
            <a:endParaRPr lang="en-GB"/>
          </a:p>
        </p:txBody>
      </p:sp>
    </p:spTree>
    <p:extLst>
      <p:ext uri="{BB962C8B-B14F-4D97-AF65-F5344CB8AC3E}">
        <p14:creationId xmlns:p14="http://schemas.microsoft.com/office/powerpoint/2010/main" val="316940301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83</a:t>
            </a:fld>
            <a:endParaRPr lang="en-GB"/>
          </a:p>
        </p:txBody>
      </p:sp>
    </p:spTree>
    <p:extLst>
      <p:ext uri="{BB962C8B-B14F-4D97-AF65-F5344CB8AC3E}">
        <p14:creationId xmlns:p14="http://schemas.microsoft.com/office/powerpoint/2010/main" val="215201213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84</a:t>
            </a:fld>
            <a:endParaRPr lang="en-GB"/>
          </a:p>
        </p:txBody>
      </p:sp>
    </p:spTree>
    <p:extLst>
      <p:ext uri="{BB962C8B-B14F-4D97-AF65-F5344CB8AC3E}">
        <p14:creationId xmlns:p14="http://schemas.microsoft.com/office/powerpoint/2010/main" val="255497738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85</a:t>
            </a:fld>
            <a:endParaRPr lang="en-GB"/>
          </a:p>
        </p:txBody>
      </p:sp>
    </p:spTree>
    <p:extLst>
      <p:ext uri="{BB962C8B-B14F-4D97-AF65-F5344CB8AC3E}">
        <p14:creationId xmlns:p14="http://schemas.microsoft.com/office/powerpoint/2010/main" val="318566470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86</a:t>
            </a:fld>
            <a:endParaRPr lang="en-GB"/>
          </a:p>
        </p:txBody>
      </p:sp>
    </p:spTree>
    <p:extLst>
      <p:ext uri="{BB962C8B-B14F-4D97-AF65-F5344CB8AC3E}">
        <p14:creationId xmlns:p14="http://schemas.microsoft.com/office/powerpoint/2010/main" val="335946671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87</a:t>
            </a:fld>
            <a:endParaRPr lang="en-GB"/>
          </a:p>
        </p:txBody>
      </p:sp>
    </p:spTree>
    <p:extLst>
      <p:ext uri="{BB962C8B-B14F-4D97-AF65-F5344CB8AC3E}">
        <p14:creationId xmlns:p14="http://schemas.microsoft.com/office/powerpoint/2010/main" val="211995525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88</a:t>
            </a:fld>
            <a:endParaRPr lang="en-GB"/>
          </a:p>
        </p:txBody>
      </p:sp>
    </p:spTree>
    <p:extLst>
      <p:ext uri="{BB962C8B-B14F-4D97-AF65-F5344CB8AC3E}">
        <p14:creationId xmlns:p14="http://schemas.microsoft.com/office/powerpoint/2010/main" val="124772382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89</a:t>
            </a:fld>
            <a:endParaRPr lang="en-GB"/>
          </a:p>
        </p:txBody>
      </p:sp>
    </p:spTree>
    <p:extLst>
      <p:ext uri="{BB962C8B-B14F-4D97-AF65-F5344CB8AC3E}">
        <p14:creationId xmlns:p14="http://schemas.microsoft.com/office/powerpoint/2010/main" val="424491297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90</a:t>
            </a:fld>
            <a:endParaRPr lang="en-GB"/>
          </a:p>
        </p:txBody>
      </p:sp>
    </p:spTree>
    <p:extLst>
      <p:ext uri="{BB962C8B-B14F-4D97-AF65-F5344CB8AC3E}">
        <p14:creationId xmlns:p14="http://schemas.microsoft.com/office/powerpoint/2010/main" val="1345456009"/>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91</a:t>
            </a:fld>
            <a:endParaRPr lang="en-GB"/>
          </a:p>
        </p:txBody>
      </p:sp>
    </p:spTree>
    <p:extLst>
      <p:ext uri="{BB962C8B-B14F-4D97-AF65-F5344CB8AC3E}">
        <p14:creationId xmlns:p14="http://schemas.microsoft.com/office/powerpoint/2010/main" val="236281943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92</a:t>
            </a:fld>
            <a:endParaRPr lang="en-GB"/>
          </a:p>
        </p:txBody>
      </p:sp>
    </p:spTree>
    <p:extLst>
      <p:ext uri="{BB962C8B-B14F-4D97-AF65-F5344CB8AC3E}">
        <p14:creationId xmlns:p14="http://schemas.microsoft.com/office/powerpoint/2010/main" val="284647994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93</a:t>
            </a:fld>
            <a:endParaRPr lang="en-GB"/>
          </a:p>
        </p:txBody>
      </p:sp>
    </p:spTree>
    <p:extLst>
      <p:ext uri="{BB962C8B-B14F-4D97-AF65-F5344CB8AC3E}">
        <p14:creationId xmlns:p14="http://schemas.microsoft.com/office/powerpoint/2010/main" val="367566719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94</a:t>
            </a:fld>
            <a:endParaRPr lang="en-GB"/>
          </a:p>
        </p:txBody>
      </p:sp>
    </p:spTree>
    <p:extLst>
      <p:ext uri="{BB962C8B-B14F-4D97-AF65-F5344CB8AC3E}">
        <p14:creationId xmlns:p14="http://schemas.microsoft.com/office/powerpoint/2010/main" val="351374184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95</a:t>
            </a:fld>
            <a:endParaRPr lang="en-GB"/>
          </a:p>
        </p:txBody>
      </p:sp>
    </p:spTree>
    <p:extLst>
      <p:ext uri="{BB962C8B-B14F-4D97-AF65-F5344CB8AC3E}">
        <p14:creationId xmlns:p14="http://schemas.microsoft.com/office/powerpoint/2010/main" val="326796611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96</a:t>
            </a:fld>
            <a:endParaRPr lang="en-GB"/>
          </a:p>
        </p:txBody>
      </p:sp>
    </p:spTree>
    <p:extLst>
      <p:ext uri="{BB962C8B-B14F-4D97-AF65-F5344CB8AC3E}">
        <p14:creationId xmlns:p14="http://schemas.microsoft.com/office/powerpoint/2010/main" val="382687259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97</a:t>
            </a:fld>
            <a:endParaRPr lang="en-GB"/>
          </a:p>
        </p:txBody>
      </p:sp>
    </p:spTree>
    <p:extLst>
      <p:ext uri="{BB962C8B-B14F-4D97-AF65-F5344CB8AC3E}">
        <p14:creationId xmlns:p14="http://schemas.microsoft.com/office/powerpoint/2010/main" val="54443390"/>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98</a:t>
            </a:fld>
            <a:endParaRPr lang="en-GB"/>
          </a:p>
        </p:txBody>
      </p:sp>
    </p:spTree>
    <p:extLst>
      <p:ext uri="{BB962C8B-B14F-4D97-AF65-F5344CB8AC3E}">
        <p14:creationId xmlns:p14="http://schemas.microsoft.com/office/powerpoint/2010/main" val="326718203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99</a:t>
            </a:fld>
            <a:endParaRPr lang="en-GB"/>
          </a:p>
        </p:txBody>
      </p:sp>
    </p:spTree>
    <p:extLst>
      <p:ext uri="{BB962C8B-B14F-4D97-AF65-F5344CB8AC3E}">
        <p14:creationId xmlns:p14="http://schemas.microsoft.com/office/powerpoint/2010/main" val="3156316708"/>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100</a:t>
            </a:fld>
            <a:endParaRPr lang="en-GB"/>
          </a:p>
        </p:txBody>
      </p:sp>
    </p:spTree>
    <p:extLst>
      <p:ext uri="{BB962C8B-B14F-4D97-AF65-F5344CB8AC3E}">
        <p14:creationId xmlns:p14="http://schemas.microsoft.com/office/powerpoint/2010/main" val="223629489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101</a:t>
            </a:fld>
            <a:endParaRPr lang="en-GB"/>
          </a:p>
        </p:txBody>
      </p:sp>
    </p:spTree>
    <p:extLst>
      <p:ext uri="{BB962C8B-B14F-4D97-AF65-F5344CB8AC3E}">
        <p14:creationId xmlns:p14="http://schemas.microsoft.com/office/powerpoint/2010/main" val="3281784254"/>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102</a:t>
            </a:fld>
            <a:endParaRPr lang="en-GB"/>
          </a:p>
        </p:txBody>
      </p:sp>
    </p:spTree>
    <p:extLst>
      <p:ext uri="{BB962C8B-B14F-4D97-AF65-F5344CB8AC3E}">
        <p14:creationId xmlns:p14="http://schemas.microsoft.com/office/powerpoint/2010/main" val="259179922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103</a:t>
            </a:fld>
            <a:endParaRPr lang="en-GB"/>
          </a:p>
        </p:txBody>
      </p:sp>
    </p:spTree>
    <p:extLst>
      <p:ext uri="{BB962C8B-B14F-4D97-AF65-F5344CB8AC3E}">
        <p14:creationId xmlns:p14="http://schemas.microsoft.com/office/powerpoint/2010/main" val="138087389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104</a:t>
            </a:fld>
            <a:endParaRPr lang="en-GB"/>
          </a:p>
        </p:txBody>
      </p:sp>
    </p:spTree>
    <p:extLst>
      <p:ext uri="{BB962C8B-B14F-4D97-AF65-F5344CB8AC3E}">
        <p14:creationId xmlns:p14="http://schemas.microsoft.com/office/powerpoint/2010/main" val="2452479065"/>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105</a:t>
            </a:fld>
            <a:endParaRPr lang="en-GB"/>
          </a:p>
        </p:txBody>
      </p:sp>
    </p:spTree>
    <p:extLst>
      <p:ext uri="{BB962C8B-B14F-4D97-AF65-F5344CB8AC3E}">
        <p14:creationId xmlns:p14="http://schemas.microsoft.com/office/powerpoint/2010/main" val="213161357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106</a:t>
            </a:fld>
            <a:endParaRPr lang="en-GB"/>
          </a:p>
        </p:txBody>
      </p:sp>
    </p:spTree>
    <p:extLst>
      <p:ext uri="{BB962C8B-B14F-4D97-AF65-F5344CB8AC3E}">
        <p14:creationId xmlns:p14="http://schemas.microsoft.com/office/powerpoint/2010/main" val="535820226"/>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107</a:t>
            </a:fld>
            <a:endParaRPr lang="en-GB"/>
          </a:p>
        </p:txBody>
      </p:sp>
    </p:spTree>
    <p:extLst>
      <p:ext uri="{BB962C8B-B14F-4D97-AF65-F5344CB8AC3E}">
        <p14:creationId xmlns:p14="http://schemas.microsoft.com/office/powerpoint/2010/main" val="4046549153"/>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108</a:t>
            </a:fld>
            <a:endParaRPr lang="en-GB"/>
          </a:p>
        </p:txBody>
      </p:sp>
    </p:spTree>
    <p:extLst>
      <p:ext uri="{BB962C8B-B14F-4D97-AF65-F5344CB8AC3E}">
        <p14:creationId xmlns:p14="http://schemas.microsoft.com/office/powerpoint/2010/main" val="169967070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109</a:t>
            </a:fld>
            <a:endParaRPr lang="en-GB"/>
          </a:p>
        </p:txBody>
      </p:sp>
    </p:spTree>
    <p:extLst>
      <p:ext uri="{BB962C8B-B14F-4D97-AF65-F5344CB8AC3E}">
        <p14:creationId xmlns:p14="http://schemas.microsoft.com/office/powerpoint/2010/main" val="151635173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110</a:t>
            </a:fld>
            <a:endParaRPr lang="zh-CN" altLang="en-US"/>
          </a:p>
        </p:txBody>
      </p:sp>
    </p:spTree>
    <p:extLst>
      <p:ext uri="{BB962C8B-B14F-4D97-AF65-F5344CB8AC3E}">
        <p14:creationId xmlns:p14="http://schemas.microsoft.com/office/powerpoint/2010/main" val="251968287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111</a:t>
            </a:fld>
            <a:endParaRPr lang="en-GB"/>
          </a:p>
        </p:txBody>
      </p:sp>
    </p:spTree>
    <p:extLst>
      <p:ext uri="{BB962C8B-B14F-4D97-AF65-F5344CB8AC3E}">
        <p14:creationId xmlns:p14="http://schemas.microsoft.com/office/powerpoint/2010/main" val="1645127850"/>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112</a:t>
            </a:fld>
            <a:endParaRPr lang="en-GB"/>
          </a:p>
        </p:txBody>
      </p:sp>
    </p:spTree>
    <p:extLst>
      <p:ext uri="{BB962C8B-B14F-4D97-AF65-F5344CB8AC3E}">
        <p14:creationId xmlns:p14="http://schemas.microsoft.com/office/powerpoint/2010/main" val="2808600354"/>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113</a:t>
            </a:fld>
            <a:endParaRPr lang="en-GB"/>
          </a:p>
        </p:txBody>
      </p:sp>
    </p:spTree>
    <p:extLst>
      <p:ext uri="{BB962C8B-B14F-4D97-AF65-F5344CB8AC3E}">
        <p14:creationId xmlns:p14="http://schemas.microsoft.com/office/powerpoint/2010/main" val="96991839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00B313C-6B84-469A-A8BF-E1E0C9F599AB}" type="slidenum">
              <a:rPr lang="zh-CN" altLang="en-US" smtClean="0"/>
              <a:pPr/>
              <a:t>114</a:t>
            </a:fld>
            <a:endParaRPr lang="zh-CN" altLang="en-US"/>
          </a:p>
        </p:txBody>
      </p:sp>
    </p:spTree>
    <p:extLst>
      <p:ext uri="{BB962C8B-B14F-4D97-AF65-F5344CB8AC3E}">
        <p14:creationId xmlns:p14="http://schemas.microsoft.com/office/powerpoint/2010/main" val="23049279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115</a:t>
            </a:fld>
            <a:endParaRPr lang="en-GB"/>
          </a:p>
        </p:txBody>
      </p:sp>
    </p:spTree>
    <p:extLst>
      <p:ext uri="{BB962C8B-B14F-4D97-AF65-F5344CB8AC3E}">
        <p14:creationId xmlns:p14="http://schemas.microsoft.com/office/powerpoint/2010/main" val="24868731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116</a:t>
            </a:fld>
            <a:endParaRPr lang="en-GB"/>
          </a:p>
        </p:txBody>
      </p:sp>
    </p:spTree>
    <p:extLst>
      <p:ext uri="{BB962C8B-B14F-4D97-AF65-F5344CB8AC3E}">
        <p14:creationId xmlns:p14="http://schemas.microsoft.com/office/powerpoint/2010/main" val="17527512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117</a:t>
            </a:fld>
            <a:endParaRPr lang="en-GB"/>
          </a:p>
        </p:txBody>
      </p:sp>
    </p:spTree>
    <p:extLst>
      <p:ext uri="{BB962C8B-B14F-4D97-AF65-F5344CB8AC3E}">
        <p14:creationId xmlns:p14="http://schemas.microsoft.com/office/powerpoint/2010/main" val="323328176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118</a:t>
            </a:fld>
            <a:endParaRPr lang="en-GB"/>
          </a:p>
        </p:txBody>
      </p:sp>
    </p:spTree>
    <p:extLst>
      <p:ext uri="{BB962C8B-B14F-4D97-AF65-F5344CB8AC3E}">
        <p14:creationId xmlns:p14="http://schemas.microsoft.com/office/powerpoint/2010/main" val="110024810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119</a:t>
            </a:fld>
            <a:endParaRPr lang="en-GB"/>
          </a:p>
        </p:txBody>
      </p:sp>
    </p:spTree>
    <p:extLst>
      <p:ext uri="{BB962C8B-B14F-4D97-AF65-F5344CB8AC3E}">
        <p14:creationId xmlns:p14="http://schemas.microsoft.com/office/powerpoint/2010/main" val="287887482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120</a:t>
            </a:fld>
            <a:endParaRPr lang="en-GB"/>
          </a:p>
        </p:txBody>
      </p:sp>
    </p:spTree>
    <p:extLst>
      <p:ext uri="{BB962C8B-B14F-4D97-AF65-F5344CB8AC3E}">
        <p14:creationId xmlns:p14="http://schemas.microsoft.com/office/powerpoint/2010/main" val="58199116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795A699-AB68-4A20-99FB-6F69DC266D45}" type="slidenum">
              <a:rPr lang="zh-CN" altLang="en-US" smtClean="0"/>
              <a:pPr/>
              <a:t>121</a:t>
            </a:fld>
            <a:endParaRPr lang="zh-CN" altLang="en-US"/>
          </a:p>
        </p:txBody>
      </p:sp>
    </p:spTree>
    <p:extLst>
      <p:ext uri="{BB962C8B-B14F-4D97-AF65-F5344CB8AC3E}">
        <p14:creationId xmlns:p14="http://schemas.microsoft.com/office/powerpoint/2010/main" val="2397702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2854A03-91AF-448A-9954-517C0577E5F0}" type="datetimeFigureOut">
              <a:rPr lang="zh-CN" altLang="en-US" smtClean="0"/>
              <a:pPr/>
              <a:t>2023/4/15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EFC946-6D13-4F8C-9740-992A906A613E}" type="slidenum">
              <a:rPr lang="zh-CN" altLang="en-US" smtClean="0"/>
              <a:pPr/>
              <a:t>‹#›</a:t>
            </a:fld>
            <a:endParaRPr lang="zh-CN" altLang="en-US"/>
          </a:p>
        </p:txBody>
      </p:sp>
      <p:cxnSp>
        <p:nvCxnSpPr>
          <p:cNvPr id="8" name="直接连接符 7"/>
          <p:cNvCxnSpPr/>
          <p:nvPr userDrawn="1"/>
        </p:nvCxnSpPr>
        <p:spPr>
          <a:xfrm flipV="1">
            <a:off x="435749" y="579644"/>
            <a:ext cx="8026659" cy="3402"/>
          </a:xfrm>
          <a:prstGeom prst="line">
            <a:avLst/>
          </a:prstGeom>
          <a:ln w="31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Freeform 6"/>
          <p:cNvSpPr>
            <a:spLocks noEditPoints="1"/>
          </p:cNvSpPr>
          <p:nvPr userDrawn="1"/>
        </p:nvSpPr>
        <p:spPr bwMode="auto">
          <a:xfrm>
            <a:off x="8462408" y="262311"/>
            <a:ext cx="319526" cy="320735"/>
          </a:xfrm>
          <a:custGeom>
            <a:avLst/>
            <a:gdLst>
              <a:gd name="T0" fmla="*/ 760 w 1905"/>
              <a:gd name="T1" fmla="*/ 1455 h 1912"/>
              <a:gd name="T2" fmla="*/ 448 w 1905"/>
              <a:gd name="T3" fmla="*/ 1143 h 1912"/>
              <a:gd name="T4" fmla="*/ 529 w 1905"/>
              <a:gd name="T5" fmla="*/ 1061 h 1912"/>
              <a:gd name="T6" fmla="*/ 841 w 1905"/>
              <a:gd name="T7" fmla="*/ 1374 h 1912"/>
              <a:gd name="T8" fmla="*/ 1802 w 1905"/>
              <a:gd name="T9" fmla="*/ 108 h 1912"/>
              <a:gd name="T10" fmla="*/ 748 w 1905"/>
              <a:gd name="T11" fmla="*/ 785 h 1912"/>
              <a:gd name="T12" fmla="*/ 55 w 1905"/>
              <a:gd name="T13" fmla="*/ 1737 h 1912"/>
              <a:gd name="T14" fmla="*/ 173 w 1905"/>
              <a:gd name="T15" fmla="*/ 1854 h 1912"/>
              <a:gd name="T16" fmla="*/ 1124 w 1905"/>
              <a:gd name="T17" fmla="*/ 1161 h 1912"/>
              <a:gd name="T18" fmla="*/ 1802 w 1905"/>
              <a:gd name="T19" fmla="*/ 108 h 1912"/>
              <a:gd name="T20" fmla="*/ 110 w 1905"/>
              <a:gd name="T21" fmla="*/ 1803 h 1912"/>
              <a:gd name="T22" fmla="*/ 0 w 1905"/>
              <a:gd name="T23" fmla="*/ 1912 h 1912"/>
              <a:gd name="T24" fmla="*/ 1758 w 1905"/>
              <a:gd name="T25" fmla="*/ 368 h 1912"/>
              <a:gd name="T26" fmla="*/ 1544 w 1905"/>
              <a:gd name="T27" fmla="*/ 153 h 1912"/>
              <a:gd name="T28" fmla="*/ 786 w 1905"/>
              <a:gd name="T29" fmla="*/ 513 h 1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05" h="1912">
                <a:moveTo>
                  <a:pt x="760" y="1455"/>
                </a:moveTo>
                <a:cubicBezTo>
                  <a:pt x="448" y="1143"/>
                  <a:pt x="448" y="1143"/>
                  <a:pt x="448" y="1143"/>
                </a:cubicBezTo>
                <a:moveTo>
                  <a:pt x="529" y="1061"/>
                </a:moveTo>
                <a:cubicBezTo>
                  <a:pt x="841" y="1374"/>
                  <a:pt x="841" y="1374"/>
                  <a:pt x="841" y="1374"/>
                </a:cubicBezTo>
                <a:moveTo>
                  <a:pt x="1802" y="108"/>
                </a:moveTo>
                <a:cubicBezTo>
                  <a:pt x="1698" y="4"/>
                  <a:pt x="1226" y="307"/>
                  <a:pt x="748" y="785"/>
                </a:cubicBezTo>
                <a:cubicBezTo>
                  <a:pt x="364" y="1169"/>
                  <a:pt x="94" y="1548"/>
                  <a:pt x="55" y="1737"/>
                </a:cubicBezTo>
                <a:cubicBezTo>
                  <a:pt x="173" y="1854"/>
                  <a:pt x="173" y="1854"/>
                  <a:pt x="173" y="1854"/>
                </a:cubicBezTo>
                <a:cubicBezTo>
                  <a:pt x="361" y="1815"/>
                  <a:pt x="740" y="1545"/>
                  <a:pt x="1124" y="1161"/>
                </a:cubicBezTo>
                <a:cubicBezTo>
                  <a:pt x="1602" y="683"/>
                  <a:pt x="1905" y="212"/>
                  <a:pt x="1802" y="108"/>
                </a:cubicBezTo>
                <a:close/>
                <a:moveTo>
                  <a:pt x="110" y="1803"/>
                </a:moveTo>
                <a:cubicBezTo>
                  <a:pt x="0" y="1912"/>
                  <a:pt x="0" y="1912"/>
                  <a:pt x="0" y="1912"/>
                </a:cubicBezTo>
                <a:moveTo>
                  <a:pt x="1758" y="368"/>
                </a:moveTo>
                <a:cubicBezTo>
                  <a:pt x="1758" y="368"/>
                  <a:pt x="1643" y="253"/>
                  <a:pt x="1544" y="153"/>
                </a:cubicBezTo>
                <a:cubicBezTo>
                  <a:pt x="1544" y="153"/>
                  <a:pt x="1319" y="0"/>
                  <a:pt x="786" y="513"/>
                </a:cubicBezTo>
              </a:path>
            </a:pathLst>
          </a:custGeom>
          <a:noFill/>
          <a:ln w="12700" cap="rnd">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endParaRPr lang="zh-CN" altLang="en-US"/>
          </a:p>
        </p:txBody>
      </p:sp>
      <p:sp>
        <p:nvSpPr>
          <p:cNvPr id="11" name="Oval 15"/>
          <p:cNvSpPr/>
          <p:nvPr userDrawn="1"/>
        </p:nvSpPr>
        <p:spPr>
          <a:xfrm>
            <a:off x="578057" y="195486"/>
            <a:ext cx="256073" cy="256122"/>
          </a:xfrm>
          <a:prstGeom prst="ellipse">
            <a:avLst/>
          </a:prstGeom>
          <a:solidFill>
            <a:schemeClr val="accent1"/>
          </a:solidFill>
          <a:ln>
            <a:noFill/>
          </a:ln>
          <a:effectLst>
            <a:outerShdw blurRad="228600" dist="139700" dir="678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5032" tIns="32516" rIns="65032" bIns="32516" rtlCol="0" anchor="ctr"/>
          <a:lstStyle/>
          <a:p>
            <a:pPr algn="ctr">
              <a:lnSpc>
                <a:spcPct val="120000"/>
              </a:lnSpc>
            </a:pPr>
            <a:endParaRPr lang="en-GB" sz="1000" dirty="0">
              <a:solidFill>
                <a:schemeClr val="bg1">
                  <a:lumMod val="6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Tree>
    <p:extLst>
      <p:ext uri="{BB962C8B-B14F-4D97-AF65-F5344CB8AC3E}">
        <p14:creationId xmlns:p14="http://schemas.microsoft.com/office/powerpoint/2010/main" val="2932135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0-#ppt_w/2"/>
                                          </p:val>
                                        </p:tav>
                                        <p:tav tm="100000">
                                          <p:val>
                                            <p:strVal val="#ppt_x"/>
                                          </p:val>
                                        </p:tav>
                                      </p:tavLst>
                                    </p:anim>
                                    <p:anim calcmode="lin" valueType="num">
                                      <p:cBhvr additive="base">
                                        <p:cTn id="8" dur="1000" fill="hold"/>
                                        <p:tgtEl>
                                          <p:spTgt spid="9"/>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10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1000"/>
                                        <p:tgtEl>
                                          <p:spTgt spid="8"/>
                                        </p:tgtEl>
                                      </p:cBhvr>
                                    </p:animEffect>
                                  </p:childTnLst>
                                </p:cTn>
                              </p:par>
                            </p:childTnLst>
                          </p:cTn>
                        </p:par>
                        <p:par>
                          <p:cTn id="12" fill="hold">
                            <p:stCondLst>
                              <p:cond delay="11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F61BD0C8-D35A-439E-96FB-C8D4A6430554}" type="datetimeFigureOut">
              <a:rPr lang="zh-CN" altLang="en-US" smtClean="0"/>
              <a:pPr/>
              <a:t>2023/4/15</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670F15A6-E82C-4E1E-834E-C415C51F7DF3}" type="slidenum">
              <a:rPr lang="zh-CN" altLang="en-US" smtClean="0"/>
              <a:pPr/>
              <a:t>‹#›</a:t>
            </a:fld>
            <a:endParaRPr lang="zh-CN" altLang="en-US"/>
          </a:p>
        </p:txBody>
      </p:sp>
    </p:spTree>
    <p:extLst>
      <p:ext uri="{BB962C8B-B14F-4D97-AF65-F5344CB8AC3E}">
        <p14:creationId xmlns:p14="http://schemas.microsoft.com/office/powerpoint/2010/main" val="416459998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2854A03-91AF-448A-9954-517C0577E5F0}" type="datetimeFigureOut">
              <a:rPr lang="zh-CN" altLang="en-US" smtClean="0"/>
              <a:pPr/>
              <a:t>2023/4/15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EFC946-6D13-4F8C-9740-992A906A613E}" type="slidenum">
              <a:rPr lang="zh-CN" altLang="en-US" smtClean="0"/>
              <a:pPr/>
              <a:t>‹#›</a:t>
            </a:fld>
            <a:endParaRPr lang="zh-CN" altLang="en-US"/>
          </a:p>
        </p:txBody>
      </p:sp>
      <p:sp>
        <p:nvSpPr>
          <p:cNvPr id="7" name="矩形 6"/>
          <p:cNvSpPr/>
          <p:nvPr userDrawn="1"/>
        </p:nvSpPr>
        <p:spPr>
          <a:xfrm>
            <a:off x="6948264" y="4773801"/>
            <a:ext cx="775136" cy="246221"/>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模板下载：</a:t>
            </a:r>
            <a:r>
              <a:rPr kumimoji="0" lang="en-US" altLang="zh-CN" sz="100" b="0" i="0" u="none" strike="noStrike" kern="0" cap="none" spc="0" normalizeH="0" baseline="0" noProof="0" dirty="0">
                <a:ln>
                  <a:noFill/>
                </a:ln>
                <a:solidFill>
                  <a:prstClr val="white"/>
                </a:solidFill>
                <a:effectLst/>
                <a:uLnTx/>
                <a:uFillTx/>
              </a:rPr>
              <a:t>www.1ppt.com/moban/     </a:t>
            </a:r>
            <a:r>
              <a:rPr kumimoji="0" lang="zh-CN" altLang="en-US" sz="100" b="0" i="0" u="none" strike="noStrike" kern="0" cap="none" spc="0" normalizeH="0" baseline="0" noProof="0" dirty="0">
                <a:ln>
                  <a:noFill/>
                </a:ln>
                <a:solidFill>
                  <a:prstClr val="white"/>
                </a:solidFill>
                <a:effectLst/>
                <a:uLnTx/>
                <a:uFillTx/>
              </a:rPr>
              <a:t>行业</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www.1ppt.com/hangye/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节日</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模板：</a:t>
            </a:r>
            <a:r>
              <a:rPr kumimoji="0" lang="en-US" altLang="zh-CN" sz="100" b="0" i="0" u="none" strike="noStrike" kern="0" cap="none" spc="0" normalizeH="0" baseline="0" noProof="0" dirty="0">
                <a:ln>
                  <a:noFill/>
                </a:ln>
                <a:solidFill>
                  <a:prstClr val="white"/>
                </a:solidFill>
                <a:effectLst/>
                <a:uLnTx/>
                <a:uFillTx/>
              </a:rPr>
              <a:t>www.1ppt.com/jieri/           PPT</a:t>
            </a:r>
            <a:r>
              <a:rPr kumimoji="0" lang="zh-CN" altLang="en-US" sz="100" b="0" i="0" u="none" strike="noStrike" kern="0" cap="none" spc="0" normalizeH="0" baseline="0" noProof="0" dirty="0">
                <a:ln>
                  <a:noFill/>
                </a:ln>
                <a:solidFill>
                  <a:prstClr val="white"/>
                </a:solidFill>
                <a:effectLst/>
                <a:uLnTx/>
                <a:uFillTx/>
              </a:rPr>
              <a:t>素材下载：</a:t>
            </a:r>
            <a:r>
              <a:rPr kumimoji="0" lang="en-US" altLang="zh-CN" sz="100" b="0" i="0" u="none" strike="noStrike" kern="0" cap="none" spc="0" normalizeH="0" baseline="0" noProof="0" dirty="0">
                <a:ln>
                  <a:noFill/>
                </a:ln>
                <a:solidFill>
                  <a:prstClr val="white"/>
                </a:solidFill>
                <a:effectLst/>
                <a:uLnTx/>
                <a:uFillTx/>
              </a:rPr>
              <a:t>www.1ppt.com/sucai/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背景图片：</a:t>
            </a:r>
            <a:r>
              <a:rPr kumimoji="0" lang="en-US" altLang="zh-CN" sz="100" b="0" i="0" u="none" strike="noStrike" kern="0" cap="none" spc="0" normalizeH="0" baseline="0" noProof="0" dirty="0">
                <a:ln>
                  <a:noFill/>
                </a:ln>
                <a:solidFill>
                  <a:prstClr val="white"/>
                </a:solidFill>
                <a:effectLst/>
                <a:uLnTx/>
                <a:uFillTx/>
              </a:rPr>
              <a:t>www.1ppt.com/beijing/      PPT</a:t>
            </a:r>
            <a:r>
              <a:rPr kumimoji="0" lang="zh-CN" altLang="en-US" sz="100" b="0" i="0" u="none" strike="noStrike" kern="0" cap="none" spc="0" normalizeH="0" baseline="0" noProof="0" dirty="0">
                <a:ln>
                  <a:noFill/>
                </a:ln>
                <a:solidFill>
                  <a:prstClr val="white"/>
                </a:solidFill>
                <a:effectLst/>
                <a:uLnTx/>
                <a:uFillTx/>
              </a:rPr>
              <a:t>图表下载：</a:t>
            </a:r>
            <a:r>
              <a:rPr kumimoji="0" lang="en-US" altLang="zh-CN" sz="100" b="0" i="0" u="none" strike="noStrike" kern="0" cap="none" spc="0" normalizeH="0" baseline="0" noProof="0" dirty="0">
                <a:ln>
                  <a:noFill/>
                </a:ln>
                <a:solidFill>
                  <a:prstClr val="white"/>
                </a:solidFill>
                <a:effectLst/>
                <a:uLnTx/>
                <a:uFillTx/>
              </a:rPr>
              <a:t>www.1ppt.com/tubiao/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优秀</a:t>
            </a:r>
            <a:r>
              <a:rPr kumimoji="0" lang="en-US" altLang="zh-CN" sz="100" b="0" i="0" u="none" strike="noStrike" kern="0" cap="none" spc="0" normalizeH="0" baseline="0" noProof="0" dirty="0">
                <a:ln>
                  <a:noFill/>
                </a:ln>
                <a:solidFill>
                  <a:prstClr val="white"/>
                </a:solidFill>
                <a:effectLst/>
                <a:uLnTx/>
                <a:uFillTx/>
              </a:rPr>
              <a:t>PPT</a:t>
            </a:r>
            <a:r>
              <a:rPr kumimoji="0" lang="zh-CN" altLang="en-US" sz="100" b="0" i="0" u="none" strike="noStrike" kern="0" cap="none" spc="0" normalizeH="0" baseline="0" noProof="0" dirty="0">
                <a:ln>
                  <a:noFill/>
                </a:ln>
                <a:solidFill>
                  <a:prstClr val="white"/>
                </a:solidFill>
                <a:effectLst/>
                <a:uLnTx/>
                <a:uFillTx/>
              </a:rPr>
              <a:t>下载：</a:t>
            </a:r>
            <a:r>
              <a:rPr kumimoji="0" lang="en-US" altLang="zh-CN" sz="100" b="0" i="0" u="none" strike="noStrike" kern="0" cap="none" spc="0" normalizeH="0" baseline="0" noProof="0" dirty="0">
                <a:ln>
                  <a:noFill/>
                </a:ln>
                <a:solidFill>
                  <a:prstClr val="white"/>
                </a:solidFill>
                <a:effectLst/>
                <a:uLnTx/>
                <a:uFillTx/>
              </a:rPr>
              <a:t>www.1ppt.com/xiazai/        PPT</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www.1ppt.com/powerpoint/      </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Word</a:t>
            </a:r>
            <a:r>
              <a:rPr kumimoji="0" lang="zh-CN" altLang="en-US" sz="100" b="0" i="0" u="none" strike="noStrike" kern="0" cap="none" spc="0" normalizeH="0" baseline="0" noProof="0" dirty="0">
                <a:ln>
                  <a:noFill/>
                </a:ln>
                <a:solidFill>
                  <a:prstClr val="white"/>
                </a:solidFill>
                <a:effectLst/>
                <a:uLnTx/>
                <a:uFillTx/>
              </a:rPr>
              <a:t>教程： </a:t>
            </a:r>
            <a:r>
              <a:rPr kumimoji="0" lang="en-US" altLang="zh-CN" sz="100" b="0" i="0" u="none" strike="noStrike" kern="0" cap="none" spc="0" normalizeH="0" baseline="0" noProof="0" dirty="0">
                <a:ln>
                  <a:noFill/>
                </a:ln>
                <a:solidFill>
                  <a:prstClr val="white"/>
                </a:solidFill>
                <a:effectLst/>
                <a:uLnTx/>
                <a:uFillTx/>
              </a:rPr>
              <a:t>www.1ppt.com/word/              Excel</a:t>
            </a:r>
            <a:r>
              <a:rPr kumimoji="0" lang="zh-CN" altLang="en-US" sz="100" b="0" i="0" u="none" strike="noStrike" kern="0" cap="none" spc="0" normalizeH="0" baseline="0" noProof="0" dirty="0">
                <a:ln>
                  <a:noFill/>
                </a:ln>
                <a:solidFill>
                  <a:prstClr val="white"/>
                </a:solidFill>
                <a:effectLst/>
                <a:uLnTx/>
                <a:uFillTx/>
              </a:rPr>
              <a:t>教程：</a:t>
            </a:r>
            <a:r>
              <a:rPr kumimoji="0" lang="en-US" altLang="zh-CN" sz="100" b="0" i="0" u="none" strike="noStrike" kern="0" cap="none" spc="0" normalizeH="0" baseline="0" noProof="0" dirty="0">
                <a:ln>
                  <a:noFill/>
                </a:ln>
                <a:solidFill>
                  <a:prstClr val="white"/>
                </a:solidFill>
                <a:effectLst/>
                <a:uLnTx/>
                <a:uFillTx/>
              </a:rPr>
              <a:t>www.1ppt.com/excel/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资料下载：</a:t>
            </a:r>
            <a:r>
              <a:rPr kumimoji="0" lang="en-US" altLang="zh-CN" sz="100" b="0" i="0" u="none" strike="noStrike" kern="0" cap="none" spc="0" normalizeH="0" baseline="0" noProof="0" dirty="0">
                <a:ln>
                  <a:noFill/>
                </a:ln>
                <a:solidFill>
                  <a:prstClr val="white"/>
                </a:solidFill>
                <a:effectLst/>
                <a:uLnTx/>
                <a:uFillTx/>
              </a:rPr>
              <a:t>www.1ppt.com/ziliao/                PPT</a:t>
            </a:r>
            <a:r>
              <a:rPr kumimoji="0" lang="zh-CN" altLang="en-US" sz="100" b="0" i="0" u="none" strike="noStrike" kern="0" cap="none" spc="0" normalizeH="0" baseline="0" noProof="0" dirty="0">
                <a:ln>
                  <a:noFill/>
                </a:ln>
                <a:solidFill>
                  <a:prstClr val="white"/>
                </a:solidFill>
                <a:effectLst/>
                <a:uLnTx/>
                <a:uFillTx/>
              </a:rPr>
              <a:t>课件下载：</a:t>
            </a:r>
            <a:r>
              <a:rPr kumimoji="0" lang="en-US" altLang="zh-CN" sz="100" b="0" i="0" u="none" strike="noStrike" kern="0" cap="none" spc="0" normalizeH="0" baseline="0" noProof="0" dirty="0">
                <a:ln>
                  <a:noFill/>
                </a:ln>
                <a:solidFill>
                  <a:prstClr val="white"/>
                </a:solidFill>
                <a:effectLst/>
                <a:uLnTx/>
                <a:uFillTx/>
              </a:rPr>
              <a:t>www.1ppt.com/kejian/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范文下载：</a:t>
            </a:r>
            <a:r>
              <a:rPr kumimoji="0" lang="en-US" altLang="zh-CN" sz="100" b="0" i="0" u="none" strike="noStrike" kern="0" cap="none" spc="0" normalizeH="0" baseline="0" noProof="0" dirty="0">
                <a:ln>
                  <a:noFill/>
                </a:ln>
                <a:solidFill>
                  <a:prstClr val="white"/>
                </a:solidFill>
                <a:effectLst/>
                <a:uLnTx/>
                <a:uFillTx/>
              </a:rPr>
              <a:t>www.1ppt.com/fanwen/             </a:t>
            </a:r>
            <a:r>
              <a:rPr kumimoji="0" lang="zh-CN" altLang="en-US" sz="100" b="0" i="0" u="none" strike="noStrike" kern="0" cap="none" spc="0" normalizeH="0" baseline="0" noProof="0" dirty="0">
                <a:ln>
                  <a:noFill/>
                </a:ln>
                <a:solidFill>
                  <a:prstClr val="white"/>
                </a:solidFill>
                <a:effectLst/>
                <a:uLnTx/>
                <a:uFillTx/>
              </a:rPr>
              <a:t>试卷下载：</a:t>
            </a:r>
            <a:r>
              <a:rPr kumimoji="0" lang="en-US" altLang="zh-CN" sz="100" b="0" i="0" u="none" strike="noStrike" kern="0" cap="none" spc="0" normalizeH="0" baseline="0" noProof="0" dirty="0">
                <a:ln>
                  <a:noFill/>
                </a:ln>
                <a:solidFill>
                  <a:prstClr val="white"/>
                </a:solidFill>
                <a:effectLst/>
                <a:uLnTx/>
                <a:uFillTx/>
              </a:rPr>
              <a:t>www.1ppt.com/shiti/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教案下载：</a:t>
            </a:r>
            <a:r>
              <a:rPr kumimoji="0" lang="en-US" altLang="zh-CN" sz="100" b="0" i="0" u="none" strike="noStrike" kern="0" cap="none" spc="0" normalizeH="0" baseline="0" noProof="0" dirty="0">
                <a:ln>
                  <a:noFill/>
                </a:ln>
                <a:solidFill>
                  <a:prstClr val="white"/>
                </a:solidFill>
                <a:effectLst/>
                <a:uLnTx/>
                <a:uFillTx/>
              </a:rPr>
              <a:t>www.1ppt.com/jiaoan/        </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00" b="0" i="0" u="none" strike="noStrike" kern="0" cap="none" spc="0" normalizeH="0" baseline="0" noProof="0" dirty="0">
                <a:ln>
                  <a:noFill/>
                </a:ln>
                <a:solidFill>
                  <a:prstClr val="white"/>
                </a:solidFill>
                <a:effectLst/>
                <a:uLnTx/>
                <a:uFillTx/>
              </a:rPr>
              <a:t>字体下载：</a:t>
            </a:r>
            <a:r>
              <a:rPr kumimoji="0" lang="en-US" altLang="zh-CN" sz="100" b="0" i="0" u="none" strike="noStrike" kern="0" cap="none" spc="0" normalizeH="0" baseline="0" noProof="0" dirty="0">
                <a:ln>
                  <a:noFill/>
                </a:ln>
                <a:solidFill>
                  <a:prstClr val="white"/>
                </a:solidFill>
                <a:effectLst/>
                <a:uLnTx/>
                <a:uFillTx/>
              </a:rPr>
              <a:t>www.1ppt.com/ziti/</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00" b="0" i="0" u="none" strike="noStrike" kern="0" cap="none" spc="0" normalizeH="0" baseline="0" noProof="0" dirty="0">
                <a:ln>
                  <a:noFill/>
                </a:ln>
                <a:solidFill>
                  <a:prstClr val="white"/>
                </a:solidFill>
                <a:effectLst/>
                <a:uLnTx/>
                <a:uFillTx/>
              </a:rPr>
              <a:t> </a:t>
            </a:r>
            <a:endParaRPr kumimoji="0" lang="zh-CN" altLang="en-US" sz="100" b="0" i="0" u="none" strike="noStrike" kern="0" cap="none" spc="0" normalizeH="0" baseline="0" noProof="0" dirty="0">
              <a:ln>
                <a:noFill/>
              </a:ln>
              <a:solidFill>
                <a:prstClr val="white"/>
              </a:solidFill>
              <a:effectLst/>
              <a:uLnTx/>
              <a:uFillTx/>
            </a:endParaRPr>
          </a:p>
        </p:txBody>
      </p:sp>
    </p:spTree>
    <p:extLst>
      <p:ext uri="{BB962C8B-B14F-4D97-AF65-F5344CB8AC3E}">
        <p14:creationId xmlns:p14="http://schemas.microsoft.com/office/powerpoint/2010/main" val="24347741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空白页">
    <p:spTree>
      <p:nvGrpSpPr>
        <p:cNvPr id="1" name=""/>
        <p:cNvGrpSpPr/>
        <p:nvPr/>
      </p:nvGrpSpPr>
      <p:grpSpPr>
        <a:xfrm>
          <a:off x="0" y="0"/>
          <a:ext cx="0" cy="0"/>
          <a:chOff x="0" y="0"/>
          <a:chExt cx="0" cy="0"/>
        </a:xfrm>
      </p:grpSpPr>
      <p:pic>
        <p:nvPicPr>
          <p:cNvPr id="5" name="图片 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1" y="0"/>
            <a:ext cx="9143499" cy="5143500"/>
          </a:xfrm>
          <a:prstGeom prst="rect">
            <a:avLst/>
          </a:prstGeom>
        </p:spPr>
      </p:pic>
    </p:spTree>
    <p:extLst>
      <p:ext uri="{BB962C8B-B14F-4D97-AF65-F5344CB8AC3E}">
        <p14:creationId xmlns:p14="http://schemas.microsoft.com/office/powerpoint/2010/main" val="21168080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1" y="205979"/>
            <a:ext cx="8229600" cy="857250"/>
          </a:xfrm>
          <a:prstGeom prst="rect">
            <a:avLst/>
          </a:prstGeom>
        </p:spPr>
        <p:txBody>
          <a:bodyPr vert="horz" lIns="91428" tIns="45714" rIns="91428" bIns="45714"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1" y="1200151"/>
            <a:ext cx="8229600" cy="3394472"/>
          </a:xfrm>
          <a:prstGeom prst="rect">
            <a:avLst/>
          </a:prstGeom>
        </p:spPr>
        <p:txBody>
          <a:bodyPr vert="horz" lIns="91428" tIns="45714" rIns="91428" bIns="45714"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1" y="4767264"/>
            <a:ext cx="2133600" cy="273844"/>
          </a:xfrm>
          <a:prstGeom prst="rect">
            <a:avLst/>
          </a:prstGeom>
        </p:spPr>
        <p:txBody>
          <a:bodyPr vert="horz" lIns="91428" tIns="45714" rIns="91428" bIns="45714" rtlCol="0" anchor="ctr"/>
          <a:lstStyle>
            <a:lvl1pPr algn="l">
              <a:defRPr sz="1200">
                <a:solidFill>
                  <a:schemeClr val="tx1">
                    <a:tint val="75000"/>
                  </a:schemeClr>
                </a:solidFill>
              </a:defRPr>
            </a:lvl1pPr>
          </a:lstStyle>
          <a:p>
            <a:fld id="{02854A03-91AF-448A-9954-517C0577E5F0}" type="datetimeFigureOut">
              <a:rPr lang="zh-CN" altLang="en-US" smtClean="0"/>
              <a:pPr/>
              <a:t>2023/4/15</a:t>
            </a:fld>
            <a:endParaRPr lang="zh-CN" altLang="en-US"/>
          </a:p>
        </p:txBody>
      </p:sp>
      <p:sp>
        <p:nvSpPr>
          <p:cNvPr id="5" name="页脚占位符 4"/>
          <p:cNvSpPr>
            <a:spLocks noGrp="1"/>
          </p:cNvSpPr>
          <p:nvPr>
            <p:ph type="ftr" sz="quarter" idx="3"/>
          </p:nvPr>
        </p:nvSpPr>
        <p:spPr>
          <a:xfrm>
            <a:off x="3124201" y="4767264"/>
            <a:ext cx="2895600" cy="273844"/>
          </a:xfrm>
          <a:prstGeom prst="rect">
            <a:avLst/>
          </a:prstGeom>
        </p:spPr>
        <p:txBody>
          <a:bodyPr vert="horz" lIns="91428" tIns="45714" rIns="91428" bIns="45714"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1" y="4767264"/>
            <a:ext cx="2133600" cy="273844"/>
          </a:xfrm>
          <a:prstGeom prst="rect">
            <a:avLst/>
          </a:prstGeom>
        </p:spPr>
        <p:txBody>
          <a:bodyPr vert="horz" lIns="91428" tIns="45714" rIns="91428" bIns="45714" rtlCol="0" anchor="ctr"/>
          <a:lstStyle>
            <a:lvl1pPr algn="r">
              <a:defRPr sz="1200">
                <a:solidFill>
                  <a:schemeClr val="tx1">
                    <a:tint val="75000"/>
                  </a:schemeClr>
                </a:solidFill>
              </a:defRPr>
            </a:lvl1pPr>
          </a:lstStyle>
          <a:p>
            <a:fld id="{2EEFC946-6D13-4F8C-9740-992A906A613E}" type="slidenum">
              <a:rPr lang="zh-CN" altLang="en-US" smtClean="0"/>
              <a:pPr/>
              <a:t>‹#›</a:t>
            </a:fld>
            <a:endParaRPr lang="zh-CN" altLang="en-US"/>
          </a:p>
        </p:txBody>
      </p:sp>
    </p:spTree>
    <p:extLst>
      <p:ext uri="{BB962C8B-B14F-4D97-AF65-F5344CB8AC3E}">
        <p14:creationId xmlns:p14="http://schemas.microsoft.com/office/powerpoint/2010/main" val="3795072685"/>
      </p:ext>
    </p:extLst>
  </p:cSld>
  <p:clrMap bg1="lt1" tx1="dk1" bg2="lt2" tx2="dk2" accent1="accent1" accent2="accent2" accent3="accent3" accent4="accent4" accent5="accent5" accent6="accent6" hlink="hlink" folHlink="folHlink"/>
  <p:sldLayoutIdLst>
    <p:sldLayoutId id="2147483655" r:id="rId1"/>
    <p:sldLayoutId id="2147483665" r:id="rId2"/>
    <p:sldLayoutId id="2147483668" r:id="rId3"/>
    <p:sldLayoutId id="2147483667" r:id="rId4"/>
  </p:sldLayoutIdLst>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xStyles>
    <p:titleStyle>
      <a:lvl1pPr algn="ctr" defTabSz="914282" rtl="0" eaLnBrk="1" latinLnBrk="0" hangingPunct="1">
        <a:spcBef>
          <a:spcPct val="0"/>
        </a:spcBef>
        <a:buNone/>
        <a:defRPr sz="4400" kern="1200">
          <a:solidFill>
            <a:schemeClr val="tx1"/>
          </a:solidFill>
          <a:latin typeface="+mj-lt"/>
          <a:ea typeface="+mj-ea"/>
          <a:cs typeface="+mj-cs"/>
        </a:defRPr>
      </a:lvl1pPr>
    </p:titleStyle>
    <p:bodyStyle>
      <a:lvl1pPr marL="342855" indent="-342855" algn="l" defTabSz="91428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54" indent="-285713" algn="l" defTabSz="91428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852" indent="-228570" algn="l" defTabSz="91428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59999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133"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27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15"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556"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697" indent="-228570" algn="l" defTabSz="91428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282" rtl="0" eaLnBrk="1" latinLnBrk="0" hangingPunct="1">
        <a:defRPr sz="1800" kern="1200">
          <a:solidFill>
            <a:schemeClr val="tx1"/>
          </a:solidFill>
          <a:latin typeface="+mn-lt"/>
          <a:ea typeface="+mn-ea"/>
          <a:cs typeface="+mn-cs"/>
        </a:defRPr>
      </a:lvl1pPr>
      <a:lvl2pPr marL="457140" algn="l" defTabSz="914282" rtl="0" eaLnBrk="1" latinLnBrk="0" hangingPunct="1">
        <a:defRPr sz="1800" kern="1200">
          <a:solidFill>
            <a:schemeClr val="tx1"/>
          </a:solidFill>
          <a:latin typeface="+mn-lt"/>
          <a:ea typeface="+mn-ea"/>
          <a:cs typeface="+mn-cs"/>
        </a:defRPr>
      </a:lvl2pPr>
      <a:lvl3pPr marL="914282" algn="l" defTabSz="914282" rtl="0" eaLnBrk="1" latinLnBrk="0" hangingPunct="1">
        <a:defRPr sz="1800" kern="1200">
          <a:solidFill>
            <a:schemeClr val="tx1"/>
          </a:solidFill>
          <a:latin typeface="+mn-lt"/>
          <a:ea typeface="+mn-ea"/>
          <a:cs typeface="+mn-cs"/>
        </a:defRPr>
      </a:lvl3pPr>
      <a:lvl4pPr marL="1371422" algn="l" defTabSz="914282" rtl="0" eaLnBrk="1" latinLnBrk="0" hangingPunct="1">
        <a:defRPr sz="1800" kern="1200">
          <a:solidFill>
            <a:schemeClr val="tx1"/>
          </a:solidFill>
          <a:latin typeface="+mn-lt"/>
          <a:ea typeface="+mn-ea"/>
          <a:cs typeface="+mn-cs"/>
        </a:defRPr>
      </a:lvl4pPr>
      <a:lvl5pPr marL="1828563" algn="l" defTabSz="914282" rtl="0" eaLnBrk="1" latinLnBrk="0" hangingPunct="1">
        <a:defRPr sz="1800" kern="1200">
          <a:solidFill>
            <a:schemeClr val="tx1"/>
          </a:solidFill>
          <a:latin typeface="+mn-lt"/>
          <a:ea typeface="+mn-ea"/>
          <a:cs typeface="+mn-cs"/>
        </a:defRPr>
      </a:lvl5pPr>
      <a:lvl6pPr marL="2285704" algn="l" defTabSz="914282" rtl="0" eaLnBrk="1" latinLnBrk="0" hangingPunct="1">
        <a:defRPr sz="1800" kern="1200">
          <a:solidFill>
            <a:schemeClr val="tx1"/>
          </a:solidFill>
          <a:latin typeface="+mn-lt"/>
          <a:ea typeface="+mn-ea"/>
          <a:cs typeface="+mn-cs"/>
        </a:defRPr>
      </a:lvl6pPr>
      <a:lvl7pPr marL="2742845" algn="l" defTabSz="914282" rtl="0" eaLnBrk="1" latinLnBrk="0" hangingPunct="1">
        <a:defRPr sz="1800" kern="1200">
          <a:solidFill>
            <a:schemeClr val="tx1"/>
          </a:solidFill>
          <a:latin typeface="+mn-lt"/>
          <a:ea typeface="+mn-ea"/>
          <a:cs typeface="+mn-cs"/>
        </a:defRPr>
      </a:lvl7pPr>
      <a:lvl8pPr marL="3199985" algn="l" defTabSz="914282" rtl="0" eaLnBrk="1" latinLnBrk="0" hangingPunct="1">
        <a:defRPr sz="1800" kern="1200">
          <a:solidFill>
            <a:schemeClr val="tx1"/>
          </a:solidFill>
          <a:latin typeface="+mn-lt"/>
          <a:ea typeface="+mn-ea"/>
          <a:cs typeface="+mn-cs"/>
        </a:defRPr>
      </a:lvl8pPr>
      <a:lvl9pPr marL="3657126" algn="l" defTabSz="91428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4.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8.emf"/><Relationship Id="rId5" Type="http://schemas.openxmlformats.org/officeDocument/2006/relationships/oleObject" Target="../embeddings/oleObject2.bin"/><Relationship Id="rId4" Type="http://schemas.openxmlformats.org/officeDocument/2006/relationships/image" Target="../media/image7.emf"/></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9.e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0.emf"/></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72.xml"/><Relationship Id="rId1" Type="http://schemas.openxmlformats.org/officeDocument/2006/relationships/slideLayout" Target="../slideLayouts/slideLayout1.xml"/><Relationship Id="rId4" Type="http://schemas.openxmlformats.org/officeDocument/2006/relationships/image" Target="../media/image14.emf"/></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0.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4.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545872" y="1753712"/>
            <a:ext cx="5994680"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r>
              <a:rPr lang="zh-CN" altLang="en-US" sz="4000" b="1" kern="2000" spc="200" dirty="0">
                <a:solidFill>
                  <a:schemeClr val="bg1"/>
                </a:solidFill>
                <a:latin typeface="微软雅黑" panose="020B0503020204020204" pitchFamily="34" charset="-122"/>
                <a:ea typeface="微软雅黑" panose="020B0503020204020204" pitchFamily="34" charset="-122"/>
              </a:rPr>
              <a:t>物联网网络层安全</a:t>
            </a:r>
          </a:p>
        </p:txBody>
      </p:sp>
      <p:sp>
        <p:nvSpPr>
          <p:cNvPr id="25" name="Rectangle 4"/>
          <p:cNvSpPr txBox="1">
            <a:spLocks noChangeArrowheads="1"/>
          </p:cNvSpPr>
          <p:nvPr/>
        </p:nvSpPr>
        <p:spPr bwMode="auto">
          <a:xfrm>
            <a:off x="3570041" y="1437919"/>
            <a:ext cx="4139879" cy="415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algn="l"/>
            <a:r>
              <a:rPr lang="zh-CN" altLang="en-US" sz="2800" b="0" dirty="0">
                <a:latin typeface="微软雅黑" panose="020B0503020204020204" pitchFamily="34" charset="-122"/>
                <a:ea typeface="微软雅黑" panose="020B0503020204020204" pitchFamily="34" charset="-122"/>
              </a:rPr>
              <a:t>第五章</a:t>
            </a:r>
            <a:endParaRPr lang="zh-CN" altLang="zh-CN" sz="2800" b="0" dirty="0">
              <a:latin typeface="微软雅黑" panose="020B0503020204020204" pitchFamily="34" charset="-122"/>
              <a:ea typeface="微软雅黑" panose="020B0503020204020204" pitchFamily="34" charset="-122"/>
            </a:endParaRPr>
          </a:p>
        </p:txBody>
      </p:sp>
      <p:sp>
        <p:nvSpPr>
          <p:cNvPr id="26" name="六边形 25"/>
          <p:cNvSpPr/>
          <p:nvPr/>
        </p:nvSpPr>
        <p:spPr>
          <a:xfrm flipH="1">
            <a:off x="3651705" y="2663476"/>
            <a:ext cx="1511774" cy="323952"/>
          </a:xfrm>
          <a:prstGeom prst="hexagon">
            <a:avLst/>
          </a:prstGeom>
          <a:solidFill>
            <a:schemeClr val="accent1"/>
          </a:solidFill>
          <a:ln w="19050">
            <a:gradFill>
              <a:gsLst>
                <a:gs pos="0">
                  <a:schemeClr val="bg1"/>
                </a:gs>
                <a:gs pos="100000">
                  <a:srgbClr val="CBCBCB"/>
                </a:gs>
              </a:gsLst>
              <a:lin ang="5400000" scaled="0"/>
            </a:gradFill>
          </a:ln>
          <a:effectLst>
            <a:outerShdw blurRad="1905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2">
              <a:solidFill>
                <a:schemeClr val="bg1"/>
              </a:solidFill>
            </a:endParaRPr>
          </a:p>
        </p:txBody>
      </p:sp>
      <p:sp>
        <p:nvSpPr>
          <p:cNvPr id="27" name="Rectangle 4"/>
          <p:cNvSpPr txBox="1">
            <a:spLocks noChangeArrowheads="1"/>
          </p:cNvSpPr>
          <p:nvPr/>
        </p:nvSpPr>
        <p:spPr bwMode="auto">
          <a:xfrm>
            <a:off x="3597713" y="2644579"/>
            <a:ext cx="1619758" cy="3617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49"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r>
              <a:rPr lang="zh-CN" altLang="en-US" sz="1350" b="0" dirty="0">
                <a:latin typeface="微软雅黑" panose="020B0503020204020204" pitchFamily="34" charset="-122"/>
                <a:ea typeface="微软雅黑" panose="020B0503020204020204" pitchFamily="34" charset="-122"/>
              </a:rPr>
              <a:t>刘铭皓</a:t>
            </a:r>
            <a:endParaRPr lang="zh-CN" altLang="zh-CN" sz="1350" b="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57010203"/>
      </p:ext>
    </p:extLst>
  </p:cSld>
  <p:clrMapOvr>
    <a:masterClrMapping/>
  </p:clrMapOvr>
  <mc:AlternateContent xmlns:mc="http://schemas.openxmlformats.org/markup-compatibility/2006" xmlns:p14="http://schemas.microsoft.com/office/powerpoint/2010/main">
    <mc:Choice Requires="p14">
      <p:transition spd="slow" p14:dur="999"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par>
                          <p:cTn id="15" fill="hold">
                            <p:stCondLst>
                              <p:cond delay="2200"/>
                            </p:stCondLst>
                            <p:childTnLst>
                              <p:par>
                                <p:cTn id="16" presetID="22" presetClass="entr" presetSubtype="8" fill="hold" grpId="0" nodeType="after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childTnLst>
                          </p:cTn>
                        </p:par>
                        <p:par>
                          <p:cTn id="19" fill="hold">
                            <p:stCondLst>
                              <p:cond delay="2700"/>
                            </p:stCondLst>
                            <p:childTnLst>
                              <p:par>
                                <p:cTn id="20" presetID="10" presetClass="entr" presetSubtype="0"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par>
                          <p:cTn id="23" fill="hold">
                            <p:stCondLst>
                              <p:cond delay="3200"/>
                            </p:stCondLst>
                            <p:childTnLst>
                              <p:par>
                                <p:cTn id="24" presetID="22" presetClass="entr" presetSubtype="8" fill="hold" grpId="0" nodeType="after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26" grpId="0" animBg="1"/>
      <p:bldP spid="2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任意多边形 14"/>
          <p:cNvSpPr>
            <a:spLocks/>
          </p:cNvSpPr>
          <p:nvPr/>
        </p:nvSpPr>
        <p:spPr bwMode="auto">
          <a:xfrm>
            <a:off x="-20311" y="1056553"/>
            <a:ext cx="4358700"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2"/>
          </a:solidFill>
          <a:ln w="0">
            <a:noFill/>
            <a:prstDash val="solid"/>
            <a:round/>
            <a:headEnd/>
            <a:tailEnd/>
          </a:ln>
        </p:spPr>
        <p:txBody>
          <a:bodyPr vert="horz" wrap="square" lIns="91433" tIns="45717" rIns="91433" bIns="45717" numCol="1" anchor="t" anchorCtr="0" compatLnSpc="1">
            <a:prstTxWarp prst="textNoShape">
              <a:avLst/>
            </a:prstTxWarp>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0" name="MH_Number_1"/>
          <p:cNvSpPr/>
          <p:nvPr>
            <p:custDataLst>
              <p:tags r:id="rId1"/>
            </p:custDataLst>
          </p:nvPr>
        </p:nvSpPr>
        <p:spPr>
          <a:xfrm>
            <a:off x="4732780" y="1358647"/>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1</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1" name="MH_Entry_1"/>
          <p:cNvSpPr/>
          <p:nvPr>
            <p:custDataLst>
              <p:tags r:id="rId2"/>
            </p:custDataLst>
          </p:nvPr>
        </p:nvSpPr>
        <p:spPr>
          <a:xfrm>
            <a:off x="5234111" y="1358647"/>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概述</a:t>
            </a:r>
          </a:p>
        </p:txBody>
      </p:sp>
      <p:sp>
        <p:nvSpPr>
          <p:cNvPr id="22" name="MH_Number_2"/>
          <p:cNvSpPr/>
          <p:nvPr>
            <p:custDataLst>
              <p:tags r:id="rId3"/>
            </p:custDataLst>
          </p:nvPr>
        </p:nvSpPr>
        <p:spPr>
          <a:xfrm>
            <a:off x="4732780" y="1905688"/>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2</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3" name="MH_Entry_2"/>
          <p:cNvSpPr/>
          <p:nvPr>
            <p:custDataLst>
              <p:tags r:id="rId4"/>
            </p:custDataLst>
          </p:nvPr>
        </p:nvSpPr>
        <p:spPr>
          <a:xfrm>
            <a:off x="5234111" y="1908253"/>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核心网安全</a:t>
            </a:r>
          </a:p>
        </p:txBody>
      </p:sp>
      <p:sp>
        <p:nvSpPr>
          <p:cNvPr id="24" name="MH_Number_3"/>
          <p:cNvSpPr/>
          <p:nvPr>
            <p:custDataLst>
              <p:tags r:id="rId5"/>
            </p:custDataLst>
          </p:nvPr>
        </p:nvSpPr>
        <p:spPr>
          <a:xfrm>
            <a:off x="4732780" y="2452729"/>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3</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25" name="MH_Entry_3"/>
          <p:cNvSpPr/>
          <p:nvPr>
            <p:custDataLst>
              <p:tags r:id="rId6"/>
            </p:custDataLst>
          </p:nvPr>
        </p:nvSpPr>
        <p:spPr>
          <a:xfrm>
            <a:off x="5234111" y="2457859"/>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泛在接入安全</a:t>
            </a:r>
          </a:p>
        </p:txBody>
      </p:sp>
      <p:sp>
        <p:nvSpPr>
          <p:cNvPr id="18" name="MH_Others_1"/>
          <p:cNvSpPr txBox="1"/>
          <p:nvPr>
            <p:custDataLst>
              <p:tags r:id="rId7"/>
            </p:custDataLst>
          </p:nvPr>
        </p:nvSpPr>
        <p:spPr>
          <a:xfrm>
            <a:off x="1927685" y="1222488"/>
            <a:ext cx="1261884" cy="2698525"/>
          </a:xfrm>
          <a:prstGeom prst="rect">
            <a:avLst/>
          </a:prstGeom>
          <a:noFill/>
        </p:spPr>
        <p:txBody>
          <a:bodyPr vert="eaVert" wrap="square" lIns="0" tIns="0" rIns="0" bIns="0" rtlCol="0" anchor="ctr" anchorCtr="0">
            <a:spAutoFit/>
          </a:bodyPr>
          <a:lstStyle/>
          <a:p>
            <a:pPr algn="ctr"/>
            <a:r>
              <a:rPr lang="zh-CN" altLang="en-US" sz="8200" b="1" dirty="0">
                <a:solidFill>
                  <a:schemeClr val="bg1"/>
                </a:solidFill>
                <a:latin typeface="Arial" panose="020B0604020202020204" pitchFamily="34" charset="0"/>
                <a:ea typeface="微软雅黑" panose="020B0503020204020204" pitchFamily="34" charset="-122"/>
                <a:sym typeface="Arial" panose="020B0604020202020204" pitchFamily="34" charset="0"/>
              </a:rPr>
              <a:t>目录</a:t>
            </a:r>
          </a:p>
        </p:txBody>
      </p:sp>
      <p:sp>
        <p:nvSpPr>
          <p:cNvPr id="19" name="MH_Others_2"/>
          <p:cNvSpPr txBox="1"/>
          <p:nvPr>
            <p:custDataLst>
              <p:tags r:id="rId8"/>
            </p:custDataLst>
          </p:nvPr>
        </p:nvSpPr>
        <p:spPr>
          <a:xfrm rot="5400000">
            <a:off x="615352" y="2331001"/>
            <a:ext cx="2346295" cy="481499"/>
          </a:xfrm>
          <a:prstGeom prst="rect">
            <a:avLst/>
          </a:prstGeom>
          <a:noFill/>
        </p:spPr>
        <p:txBody>
          <a:bodyPr wrap="square" lIns="0" tIns="0" rIns="0" bIns="0">
            <a:spAutoFit/>
          </a:bodyPr>
          <a:lstStyle/>
          <a:p>
            <a:pPr algn="ctr">
              <a:defRPr/>
            </a:pPr>
            <a:r>
              <a:rPr lang="en-US" altLang="zh-CN" sz="3100" b="1"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3100"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任意多边形 15"/>
          <p:cNvSpPr>
            <a:spLocks/>
          </p:cNvSpPr>
          <p:nvPr/>
        </p:nvSpPr>
        <p:spPr bwMode="auto">
          <a:xfrm>
            <a:off x="7593135" y="1056553"/>
            <a:ext cx="1565286" cy="3030395"/>
          </a:xfrm>
          <a:custGeom>
            <a:avLst/>
            <a:gdLst>
              <a:gd name="connsiteX0" fmla="*/ 0 w 4511489"/>
              <a:gd name="connsiteY0" fmla="*/ 0 h 4261259"/>
              <a:gd name="connsiteX1" fmla="*/ 4511489 w 4511489"/>
              <a:gd name="connsiteY1" fmla="*/ 0 h 4261259"/>
              <a:gd name="connsiteX2" fmla="*/ 4511489 w 4511489"/>
              <a:gd name="connsiteY2" fmla="*/ 4261259 h 4261259"/>
              <a:gd name="connsiteX3" fmla="*/ 0 w 4511489"/>
              <a:gd name="connsiteY3" fmla="*/ 4261259 h 4261259"/>
            </a:gdLst>
            <a:ahLst/>
            <a:cxnLst>
              <a:cxn ang="0">
                <a:pos x="connsiteX0" y="connsiteY0"/>
              </a:cxn>
              <a:cxn ang="0">
                <a:pos x="connsiteX1" y="connsiteY1"/>
              </a:cxn>
              <a:cxn ang="0">
                <a:pos x="connsiteX2" y="connsiteY2"/>
              </a:cxn>
              <a:cxn ang="0">
                <a:pos x="connsiteX3" y="connsiteY3"/>
              </a:cxn>
            </a:cxnLst>
            <a:rect l="l" t="t" r="r" b="b"/>
            <a:pathLst>
              <a:path w="4511489" h="4261259">
                <a:moveTo>
                  <a:pt x="0" y="0"/>
                </a:moveTo>
                <a:lnTo>
                  <a:pt x="4511489" y="0"/>
                </a:lnTo>
                <a:lnTo>
                  <a:pt x="4511489" y="4261259"/>
                </a:lnTo>
                <a:lnTo>
                  <a:pt x="0" y="4261259"/>
                </a:lnTo>
                <a:close/>
              </a:path>
            </a:pathLst>
          </a:custGeom>
          <a:solidFill>
            <a:schemeClr val="accent1"/>
          </a:solidFill>
          <a:ln w="0">
            <a:noFill/>
            <a:prstDash val="solid"/>
            <a:round/>
            <a:headEnd/>
            <a:tailEnd/>
          </a:ln>
        </p:spPr>
        <p:txBody>
          <a:bodyPr vert="horz" wrap="square" lIns="91433" tIns="45717" rIns="91433" bIns="45717" numCol="1" anchor="t" anchorCtr="0" compatLnSpc="1">
            <a:prstTxWarp prst="textNoShape">
              <a:avLst/>
            </a:prstTxWarp>
            <a:noAutofit/>
          </a:bodyP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MH_Number_2">
            <a:extLst>
              <a:ext uri="{FF2B5EF4-FFF2-40B4-BE49-F238E27FC236}">
                <a16:creationId xmlns:a16="http://schemas.microsoft.com/office/drawing/2014/main" id="{A5ACC046-1F15-4FA4-A0F7-849580B043E7}"/>
              </a:ext>
            </a:extLst>
          </p:cNvPr>
          <p:cNvSpPr/>
          <p:nvPr>
            <p:custDataLst>
              <p:tags r:id="rId9"/>
            </p:custDataLst>
          </p:nvPr>
        </p:nvSpPr>
        <p:spPr>
          <a:xfrm>
            <a:off x="4732780" y="2999771"/>
            <a:ext cx="269985" cy="270000"/>
          </a:xfrm>
          <a:prstGeom prst="ellipse">
            <a:avLst/>
          </a:prstGeom>
          <a:solidFill>
            <a:schemeClr val="accent2"/>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4</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3" name="MH_Entry_2">
            <a:extLst>
              <a:ext uri="{FF2B5EF4-FFF2-40B4-BE49-F238E27FC236}">
                <a16:creationId xmlns:a16="http://schemas.microsoft.com/office/drawing/2014/main" id="{00B88931-3D0B-42FA-943C-C0AE3D7079CC}"/>
              </a:ext>
            </a:extLst>
          </p:cNvPr>
          <p:cNvSpPr/>
          <p:nvPr>
            <p:custDataLst>
              <p:tags r:id="rId10"/>
            </p:custDataLst>
          </p:nvPr>
        </p:nvSpPr>
        <p:spPr>
          <a:xfrm>
            <a:off x="5234111" y="3007466"/>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2"/>
                </a:solidFill>
                <a:latin typeface="Arial" panose="020B0604020202020204" pitchFamily="34" charset="0"/>
                <a:ea typeface="微软雅黑" panose="020B0503020204020204" pitchFamily="34" charset="-122"/>
                <a:sym typeface="Arial" panose="020B0604020202020204" pitchFamily="34" charset="0"/>
              </a:rPr>
              <a:t>异构网络安全</a:t>
            </a:r>
          </a:p>
        </p:txBody>
      </p:sp>
      <p:sp>
        <p:nvSpPr>
          <p:cNvPr id="14" name="MH_Number_3">
            <a:extLst>
              <a:ext uri="{FF2B5EF4-FFF2-40B4-BE49-F238E27FC236}">
                <a16:creationId xmlns:a16="http://schemas.microsoft.com/office/drawing/2014/main" id="{714E689D-F175-47F2-AF50-0E34792AEDB6}"/>
              </a:ext>
            </a:extLst>
          </p:cNvPr>
          <p:cNvSpPr/>
          <p:nvPr>
            <p:custDataLst>
              <p:tags r:id="rId11"/>
            </p:custDataLst>
          </p:nvPr>
        </p:nvSpPr>
        <p:spPr>
          <a:xfrm>
            <a:off x="4732780" y="3546813"/>
            <a:ext cx="269985" cy="270000"/>
          </a:xfrm>
          <a:prstGeom prst="ellipse">
            <a:avLst/>
          </a:prstGeom>
          <a:solidFill>
            <a:schemeClr val="accent1"/>
          </a:solidFill>
          <a:ln w="28575">
            <a:solidFill>
              <a:schemeClr val="bg1"/>
            </a:solidFill>
          </a:ln>
          <a:effectLst>
            <a:outerShdw blurRad="203200" dist="1143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rPr>
              <a:t>5</a:t>
            </a:r>
            <a:endParaRPr lang="zh-CN" altLang="en-US" sz="1500" b="1" dirty="0">
              <a:solidFill>
                <a:schemeClr val="bg1"/>
              </a:solidFill>
              <a:latin typeface="Arial" panose="020B0604020202020204" pitchFamily="34"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17" name="MH_Entry_3">
            <a:extLst>
              <a:ext uri="{FF2B5EF4-FFF2-40B4-BE49-F238E27FC236}">
                <a16:creationId xmlns:a16="http://schemas.microsoft.com/office/drawing/2014/main" id="{1290A011-A6E1-4EF8-BBCE-DC0536DC3C25}"/>
              </a:ext>
            </a:extLst>
          </p:cNvPr>
          <p:cNvSpPr/>
          <p:nvPr>
            <p:custDataLst>
              <p:tags r:id="rId12"/>
            </p:custDataLst>
          </p:nvPr>
        </p:nvSpPr>
        <p:spPr>
          <a:xfrm>
            <a:off x="5234111" y="3557073"/>
            <a:ext cx="2359024" cy="276999"/>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0 w 2520280"/>
              <a:gd name="connsiteY7" fmla="*/ 0 h 1872208"/>
              <a:gd name="connsiteX0" fmla="*/ 0 w 2520280"/>
              <a:gd name="connsiteY0" fmla="*/ 1872208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0 h 1872208"/>
              <a:gd name="connsiteX5" fmla="*/ 2520280 w 2520280"/>
              <a:gd name="connsiteY5" fmla="*/ 0 h 1872208"/>
              <a:gd name="connsiteX6" fmla="*/ 0 w 2520280"/>
              <a:gd name="connsiteY6"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2520280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34255 w 2520280"/>
              <a:gd name="connsiteY4" fmla="*/ 0 h 1872208"/>
              <a:gd name="connsiteX5" fmla="*/ 0 w 2520280"/>
              <a:gd name="connsiteY5" fmla="*/ 0 h 1872208"/>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7 w 2520280"/>
              <a:gd name="connsiteY4" fmla="*/ 6036 h 1872208"/>
              <a:gd name="connsiteX5" fmla="*/ 0 w 2520280"/>
              <a:gd name="connsiteY5" fmla="*/ 0 h 1872208"/>
              <a:gd name="connsiteX0" fmla="*/ 0 w 2520280"/>
              <a:gd name="connsiteY0" fmla="*/ 1890314 h 1890314"/>
              <a:gd name="connsiteX1" fmla="*/ 2520280 w 2520280"/>
              <a:gd name="connsiteY1" fmla="*/ 1890314 h 1890314"/>
              <a:gd name="connsiteX2" fmla="*/ 0 w 2520280"/>
              <a:gd name="connsiteY2" fmla="*/ 1890314 h 1890314"/>
              <a:gd name="connsiteX3" fmla="*/ 0 w 2520280"/>
              <a:gd name="connsiteY3" fmla="*/ 18106 h 1890314"/>
              <a:gd name="connsiteX4" fmla="*/ 53304 w 2520280"/>
              <a:gd name="connsiteY4" fmla="*/ 0 h 1890314"/>
              <a:gd name="connsiteX5" fmla="*/ 0 w 2520280"/>
              <a:gd name="connsiteY5" fmla="*/ 18106 h 1890314"/>
              <a:gd name="connsiteX0" fmla="*/ 0 w 2520280"/>
              <a:gd name="connsiteY0" fmla="*/ 1872208 h 1872208"/>
              <a:gd name="connsiteX1" fmla="*/ 2520280 w 2520280"/>
              <a:gd name="connsiteY1" fmla="*/ 1872208 h 1872208"/>
              <a:gd name="connsiteX2" fmla="*/ 0 w 2520280"/>
              <a:gd name="connsiteY2" fmla="*/ 1872208 h 1872208"/>
              <a:gd name="connsiteX3" fmla="*/ 0 w 2520280"/>
              <a:gd name="connsiteY3" fmla="*/ 0 h 1872208"/>
              <a:gd name="connsiteX4" fmla="*/ 916 w 2520280"/>
              <a:gd name="connsiteY4" fmla="*/ 0 h 1872208"/>
              <a:gd name="connsiteX5" fmla="*/ 0 w 2520280"/>
              <a:gd name="connsiteY5" fmla="*/ 0 h 1872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20280" h="1872208">
                <a:moveTo>
                  <a:pt x="0" y="1872208"/>
                </a:moveTo>
                <a:lnTo>
                  <a:pt x="2520280" y="1872208"/>
                </a:lnTo>
                <a:lnTo>
                  <a:pt x="0" y="1872208"/>
                </a:lnTo>
                <a:close/>
                <a:moveTo>
                  <a:pt x="0" y="0"/>
                </a:moveTo>
                <a:lnTo>
                  <a:pt x="916" y="0"/>
                </a:lnTo>
                <a:lnTo>
                  <a:pt x="0" y="0"/>
                </a:lnTo>
                <a:close/>
              </a:path>
            </a:pathLst>
          </a:custGeom>
          <a:noFill/>
          <a:ln w="3175" cap="sq">
            <a:noFill/>
            <a:beve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lvl="0"/>
            <a:r>
              <a:rPr lang="zh-CN" altLang="en-US" dirty="0">
                <a:solidFill>
                  <a:schemeClr val="accent1"/>
                </a:solidFill>
                <a:latin typeface="Arial" panose="020B0604020202020204" pitchFamily="34" charset="0"/>
                <a:ea typeface="微软雅黑" panose="020B0503020204020204" pitchFamily="34" charset="-122"/>
                <a:sym typeface="Arial" panose="020B0604020202020204" pitchFamily="34" charset="0"/>
              </a:rPr>
              <a:t>路由安全</a:t>
            </a:r>
          </a:p>
        </p:txBody>
      </p:sp>
    </p:spTree>
    <p:extLst>
      <p:ext uri="{BB962C8B-B14F-4D97-AF65-F5344CB8AC3E}">
        <p14:creationId xmlns:p14="http://schemas.microsoft.com/office/powerpoint/2010/main" val="19477337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1+#ppt_w/2"/>
                                          </p:val>
                                        </p:tav>
                                        <p:tav tm="100000">
                                          <p:val>
                                            <p:strVal val="#ppt_x"/>
                                          </p:val>
                                        </p:tav>
                                      </p:tavLst>
                                    </p:anim>
                                    <p:anim calcmode="lin" valueType="num">
                                      <p:cBhvr additive="base">
                                        <p:cTn id="14"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6" presetClass="entr" presetSubtype="0" fill="hold" grpId="0" nodeType="clickEffect">
                                  <p:stCondLst>
                                    <p:cond delay="0"/>
                                  </p:stCondLst>
                                  <p:iterate type="lt">
                                    <p:tmPct val="10000"/>
                                  </p:iterate>
                                  <p:childTnLst>
                                    <p:set>
                                      <p:cBhvr>
                                        <p:cTn id="18" dur="1" fill="hold">
                                          <p:stCondLst>
                                            <p:cond delay="0"/>
                                          </p:stCondLst>
                                        </p:cTn>
                                        <p:tgtEl>
                                          <p:spTgt spid="18"/>
                                        </p:tgtEl>
                                        <p:attrNameLst>
                                          <p:attrName>style.visibility</p:attrName>
                                        </p:attrNameLst>
                                      </p:cBhvr>
                                      <p:to>
                                        <p:strVal val="visible"/>
                                      </p:to>
                                    </p:set>
                                    <p:anim by="(-#ppt_w*2)" calcmode="lin" valueType="num">
                                      <p:cBhvr rctx="PPT">
                                        <p:cTn id="19" dur="500" autoRev="1" fill="hold">
                                          <p:stCondLst>
                                            <p:cond delay="0"/>
                                          </p:stCondLst>
                                        </p:cTn>
                                        <p:tgtEl>
                                          <p:spTgt spid="18"/>
                                        </p:tgtEl>
                                        <p:attrNameLst>
                                          <p:attrName>ppt_w</p:attrName>
                                        </p:attrNameLst>
                                      </p:cBhvr>
                                    </p:anim>
                                    <p:anim by="(#ppt_w*0.50)" calcmode="lin" valueType="num">
                                      <p:cBhvr>
                                        <p:cTn id="20" dur="500" decel="50000" autoRev="1" fill="hold">
                                          <p:stCondLst>
                                            <p:cond delay="0"/>
                                          </p:stCondLst>
                                        </p:cTn>
                                        <p:tgtEl>
                                          <p:spTgt spid="18"/>
                                        </p:tgtEl>
                                        <p:attrNameLst>
                                          <p:attrName>ppt_x</p:attrName>
                                        </p:attrNameLst>
                                      </p:cBhvr>
                                    </p:anim>
                                    <p:anim from="(-#ppt_h/2)" to="(#ppt_y)" calcmode="lin" valueType="num">
                                      <p:cBhvr>
                                        <p:cTn id="21" dur="1000" fill="hold">
                                          <p:stCondLst>
                                            <p:cond delay="0"/>
                                          </p:stCondLst>
                                        </p:cTn>
                                        <p:tgtEl>
                                          <p:spTgt spid="18"/>
                                        </p:tgtEl>
                                        <p:attrNameLst>
                                          <p:attrName>ppt_y</p:attrName>
                                        </p:attrNameLst>
                                      </p:cBhvr>
                                    </p:anim>
                                    <p:animRot by="21600000">
                                      <p:cBhvr>
                                        <p:cTn id="22" dur="1000" fill="hold">
                                          <p:stCondLst>
                                            <p:cond delay="0"/>
                                          </p:stCondLst>
                                        </p:cTn>
                                        <p:tgtEl>
                                          <p:spTgt spid="18"/>
                                        </p:tgtEl>
                                        <p:attrNameLst>
                                          <p:attrName>r</p:attrName>
                                        </p:attrNameLst>
                                      </p:cBhvr>
                                    </p:animRot>
                                  </p:childTnLst>
                                </p:cTn>
                              </p:par>
                              <p:par>
                                <p:cTn id="23" presetID="56" presetClass="entr" presetSubtype="0" fill="hold" grpId="0" nodeType="withEffect">
                                  <p:stCondLst>
                                    <p:cond delay="0"/>
                                  </p:stCondLst>
                                  <p:iterate type="lt">
                                    <p:tmPct val="10000"/>
                                  </p:iterate>
                                  <p:childTnLst>
                                    <p:set>
                                      <p:cBhvr>
                                        <p:cTn id="24" dur="1" fill="hold">
                                          <p:stCondLst>
                                            <p:cond delay="0"/>
                                          </p:stCondLst>
                                        </p:cTn>
                                        <p:tgtEl>
                                          <p:spTgt spid="19"/>
                                        </p:tgtEl>
                                        <p:attrNameLst>
                                          <p:attrName>style.visibility</p:attrName>
                                        </p:attrNameLst>
                                      </p:cBhvr>
                                      <p:to>
                                        <p:strVal val="visible"/>
                                      </p:to>
                                    </p:set>
                                    <p:anim by="(-#ppt_w*2)" calcmode="lin" valueType="num">
                                      <p:cBhvr rctx="PPT">
                                        <p:cTn id="25" dur="500" autoRev="1" fill="hold">
                                          <p:stCondLst>
                                            <p:cond delay="0"/>
                                          </p:stCondLst>
                                        </p:cTn>
                                        <p:tgtEl>
                                          <p:spTgt spid="19"/>
                                        </p:tgtEl>
                                        <p:attrNameLst>
                                          <p:attrName>ppt_w</p:attrName>
                                        </p:attrNameLst>
                                      </p:cBhvr>
                                    </p:anim>
                                    <p:anim by="(#ppt_w*0.50)" calcmode="lin" valueType="num">
                                      <p:cBhvr>
                                        <p:cTn id="26" dur="500" decel="50000" autoRev="1" fill="hold">
                                          <p:stCondLst>
                                            <p:cond delay="0"/>
                                          </p:stCondLst>
                                        </p:cTn>
                                        <p:tgtEl>
                                          <p:spTgt spid="19"/>
                                        </p:tgtEl>
                                        <p:attrNameLst>
                                          <p:attrName>ppt_x</p:attrName>
                                        </p:attrNameLst>
                                      </p:cBhvr>
                                    </p:anim>
                                    <p:anim from="(-#ppt_h/2)" to="(#ppt_y)" calcmode="lin" valueType="num">
                                      <p:cBhvr>
                                        <p:cTn id="27" dur="1000" fill="hold">
                                          <p:stCondLst>
                                            <p:cond delay="0"/>
                                          </p:stCondLst>
                                        </p:cTn>
                                        <p:tgtEl>
                                          <p:spTgt spid="19"/>
                                        </p:tgtEl>
                                        <p:attrNameLst>
                                          <p:attrName>ppt_y</p:attrName>
                                        </p:attrNameLst>
                                      </p:cBhvr>
                                    </p:anim>
                                    <p:animRot by="21600000">
                                      <p:cBhvr>
                                        <p:cTn id="28" dur="1000" fill="hold">
                                          <p:stCondLst>
                                            <p:cond delay="0"/>
                                          </p:stCondLst>
                                        </p:cTn>
                                        <p:tgtEl>
                                          <p:spTgt spid="19"/>
                                        </p:tgtEl>
                                        <p:attrNameLst>
                                          <p:attrName>r</p:attrName>
                                        </p:attrNameLst>
                                      </p:cBhvr>
                                    </p:animRo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 calcmode="lin" valueType="num">
                                      <p:cBhvr>
                                        <p:cTn id="33" dur="500" fill="hold"/>
                                        <p:tgtEl>
                                          <p:spTgt spid="20"/>
                                        </p:tgtEl>
                                        <p:attrNameLst>
                                          <p:attrName>ppt_w</p:attrName>
                                        </p:attrNameLst>
                                      </p:cBhvr>
                                      <p:tavLst>
                                        <p:tav tm="0">
                                          <p:val>
                                            <p:fltVal val="0"/>
                                          </p:val>
                                        </p:tav>
                                        <p:tav tm="100000">
                                          <p:val>
                                            <p:strVal val="#ppt_w"/>
                                          </p:val>
                                        </p:tav>
                                      </p:tavLst>
                                    </p:anim>
                                    <p:anim calcmode="lin" valueType="num">
                                      <p:cBhvr>
                                        <p:cTn id="34" dur="500" fill="hold"/>
                                        <p:tgtEl>
                                          <p:spTgt spid="20"/>
                                        </p:tgtEl>
                                        <p:attrNameLst>
                                          <p:attrName>ppt_h</p:attrName>
                                        </p:attrNameLst>
                                      </p:cBhvr>
                                      <p:tavLst>
                                        <p:tav tm="0">
                                          <p:val>
                                            <p:fltVal val="0"/>
                                          </p:val>
                                        </p:tav>
                                        <p:tav tm="100000">
                                          <p:val>
                                            <p:strVal val="#ppt_h"/>
                                          </p:val>
                                        </p:tav>
                                      </p:tavLst>
                                    </p:anim>
                                    <p:animEffect transition="in" filter="fade">
                                      <p:cBhvr>
                                        <p:cTn id="35" dur="500"/>
                                        <p:tgtEl>
                                          <p:spTgt spid="20"/>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 calcmode="lin" valueType="num">
                                      <p:cBhvr>
                                        <p:cTn id="38" dur="500" fill="hold"/>
                                        <p:tgtEl>
                                          <p:spTgt spid="22"/>
                                        </p:tgtEl>
                                        <p:attrNameLst>
                                          <p:attrName>ppt_w</p:attrName>
                                        </p:attrNameLst>
                                      </p:cBhvr>
                                      <p:tavLst>
                                        <p:tav tm="0">
                                          <p:val>
                                            <p:fltVal val="0"/>
                                          </p:val>
                                        </p:tav>
                                        <p:tav tm="100000">
                                          <p:val>
                                            <p:strVal val="#ppt_w"/>
                                          </p:val>
                                        </p:tav>
                                      </p:tavLst>
                                    </p:anim>
                                    <p:anim calcmode="lin" valueType="num">
                                      <p:cBhvr>
                                        <p:cTn id="39" dur="500" fill="hold"/>
                                        <p:tgtEl>
                                          <p:spTgt spid="22"/>
                                        </p:tgtEl>
                                        <p:attrNameLst>
                                          <p:attrName>ppt_h</p:attrName>
                                        </p:attrNameLst>
                                      </p:cBhvr>
                                      <p:tavLst>
                                        <p:tav tm="0">
                                          <p:val>
                                            <p:fltVal val="0"/>
                                          </p:val>
                                        </p:tav>
                                        <p:tav tm="100000">
                                          <p:val>
                                            <p:strVal val="#ppt_h"/>
                                          </p:val>
                                        </p:tav>
                                      </p:tavLst>
                                    </p:anim>
                                    <p:animEffect transition="in" filter="fade">
                                      <p:cBhvr>
                                        <p:cTn id="40" dur="500"/>
                                        <p:tgtEl>
                                          <p:spTgt spid="22"/>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 calcmode="lin" valueType="num">
                                      <p:cBhvr>
                                        <p:cTn id="43" dur="500" fill="hold"/>
                                        <p:tgtEl>
                                          <p:spTgt spid="24"/>
                                        </p:tgtEl>
                                        <p:attrNameLst>
                                          <p:attrName>ppt_w</p:attrName>
                                        </p:attrNameLst>
                                      </p:cBhvr>
                                      <p:tavLst>
                                        <p:tav tm="0">
                                          <p:val>
                                            <p:fltVal val="0"/>
                                          </p:val>
                                        </p:tav>
                                        <p:tav tm="100000">
                                          <p:val>
                                            <p:strVal val="#ppt_w"/>
                                          </p:val>
                                        </p:tav>
                                      </p:tavLst>
                                    </p:anim>
                                    <p:anim calcmode="lin" valueType="num">
                                      <p:cBhvr>
                                        <p:cTn id="44" dur="500" fill="hold"/>
                                        <p:tgtEl>
                                          <p:spTgt spid="24"/>
                                        </p:tgtEl>
                                        <p:attrNameLst>
                                          <p:attrName>ppt_h</p:attrName>
                                        </p:attrNameLst>
                                      </p:cBhvr>
                                      <p:tavLst>
                                        <p:tav tm="0">
                                          <p:val>
                                            <p:fltVal val="0"/>
                                          </p:val>
                                        </p:tav>
                                        <p:tav tm="100000">
                                          <p:val>
                                            <p:strVal val="#ppt_h"/>
                                          </p:val>
                                        </p:tav>
                                      </p:tavLst>
                                    </p:anim>
                                    <p:animEffect transition="in" filter="fade">
                                      <p:cBhvr>
                                        <p:cTn id="45" dur="500"/>
                                        <p:tgtEl>
                                          <p:spTgt spid="2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down)">
                                      <p:cBhvr>
                                        <p:cTn id="50" dur="500"/>
                                        <p:tgtEl>
                                          <p:spTgt spid="21"/>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wipe(down)">
                                      <p:cBhvr>
                                        <p:cTn id="53" dur="500"/>
                                        <p:tgtEl>
                                          <p:spTgt spid="23"/>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25"/>
                                        </p:tgtEl>
                                        <p:attrNameLst>
                                          <p:attrName>style.visibility</p:attrName>
                                        </p:attrNameLst>
                                      </p:cBhvr>
                                      <p:to>
                                        <p:strVal val="visible"/>
                                      </p:to>
                                    </p:set>
                                    <p:animEffect transition="in" filter="wipe(down)">
                                      <p:cBhvr>
                                        <p:cTn id="56" dur="500"/>
                                        <p:tgtEl>
                                          <p:spTgt spid="25"/>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12"/>
                                        </p:tgtEl>
                                        <p:attrNameLst>
                                          <p:attrName>style.visibility</p:attrName>
                                        </p:attrNameLst>
                                      </p:cBhvr>
                                      <p:to>
                                        <p:strVal val="visible"/>
                                      </p:to>
                                    </p:set>
                                    <p:anim calcmode="lin" valueType="num">
                                      <p:cBhvr>
                                        <p:cTn id="59" dur="500" fill="hold"/>
                                        <p:tgtEl>
                                          <p:spTgt spid="12"/>
                                        </p:tgtEl>
                                        <p:attrNameLst>
                                          <p:attrName>ppt_w</p:attrName>
                                        </p:attrNameLst>
                                      </p:cBhvr>
                                      <p:tavLst>
                                        <p:tav tm="0">
                                          <p:val>
                                            <p:fltVal val="0"/>
                                          </p:val>
                                        </p:tav>
                                        <p:tav tm="100000">
                                          <p:val>
                                            <p:strVal val="#ppt_w"/>
                                          </p:val>
                                        </p:tav>
                                      </p:tavLst>
                                    </p:anim>
                                    <p:anim calcmode="lin" valueType="num">
                                      <p:cBhvr>
                                        <p:cTn id="60" dur="500" fill="hold"/>
                                        <p:tgtEl>
                                          <p:spTgt spid="12"/>
                                        </p:tgtEl>
                                        <p:attrNameLst>
                                          <p:attrName>ppt_h</p:attrName>
                                        </p:attrNameLst>
                                      </p:cBhvr>
                                      <p:tavLst>
                                        <p:tav tm="0">
                                          <p:val>
                                            <p:fltVal val="0"/>
                                          </p:val>
                                        </p:tav>
                                        <p:tav tm="100000">
                                          <p:val>
                                            <p:strVal val="#ppt_h"/>
                                          </p:val>
                                        </p:tav>
                                      </p:tavLst>
                                    </p:anim>
                                    <p:animEffect transition="in" filter="fade">
                                      <p:cBhvr>
                                        <p:cTn id="61" dur="500"/>
                                        <p:tgtEl>
                                          <p:spTgt spid="12"/>
                                        </p:tgtEl>
                                      </p:cBhvr>
                                    </p:animEffect>
                                  </p:childTnLst>
                                </p:cTn>
                              </p:par>
                              <p:par>
                                <p:cTn id="62" presetID="53" presetClass="entr" presetSubtype="16"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 calcmode="lin" valueType="num">
                                      <p:cBhvr>
                                        <p:cTn id="64" dur="500" fill="hold"/>
                                        <p:tgtEl>
                                          <p:spTgt spid="14"/>
                                        </p:tgtEl>
                                        <p:attrNameLst>
                                          <p:attrName>ppt_w</p:attrName>
                                        </p:attrNameLst>
                                      </p:cBhvr>
                                      <p:tavLst>
                                        <p:tav tm="0">
                                          <p:val>
                                            <p:fltVal val="0"/>
                                          </p:val>
                                        </p:tav>
                                        <p:tav tm="100000">
                                          <p:val>
                                            <p:strVal val="#ppt_w"/>
                                          </p:val>
                                        </p:tav>
                                      </p:tavLst>
                                    </p:anim>
                                    <p:anim calcmode="lin" valueType="num">
                                      <p:cBhvr>
                                        <p:cTn id="65" dur="500" fill="hold"/>
                                        <p:tgtEl>
                                          <p:spTgt spid="14"/>
                                        </p:tgtEl>
                                        <p:attrNameLst>
                                          <p:attrName>ppt_h</p:attrName>
                                        </p:attrNameLst>
                                      </p:cBhvr>
                                      <p:tavLst>
                                        <p:tav tm="0">
                                          <p:val>
                                            <p:fltVal val="0"/>
                                          </p:val>
                                        </p:tav>
                                        <p:tav tm="100000">
                                          <p:val>
                                            <p:strVal val="#ppt_h"/>
                                          </p:val>
                                        </p:tav>
                                      </p:tavLst>
                                    </p:anim>
                                    <p:animEffect transition="in" filter="fade">
                                      <p:cBhvr>
                                        <p:cTn id="66" dur="500"/>
                                        <p:tgtEl>
                                          <p:spTgt spid="14"/>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wipe(down)">
                                      <p:cBhvr>
                                        <p:cTn id="69" dur="500"/>
                                        <p:tgtEl>
                                          <p:spTgt spid="13"/>
                                        </p:tgtEl>
                                      </p:cBhvr>
                                    </p:animEffect>
                                  </p:childTnLst>
                                </p:cTn>
                              </p:par>
                              <p:par>
                                <p:cTn id="70" presetID="22" presetClass="entr" presetSubtype="4" fill="hold" grpId="0" nodeType="with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down)">
                                      <p:cBhvr>
                                        <p:cTn id="7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0" grpId="0" animBg="1"/>
      <p:bldP spid="21" grpId="0"/>
      <p:bldP spid="22" grpId="0" animBg="1"/>
      <p:bldP spid="23" grpId="0"/>
      <p:bldP spid="24" grpId="0" animBg="1"/>
      <p:bldP spid="25" grpId="0"/>
      <p:bldP spid="18" grpId="0"/>
      <p:bldP spid="19" grpId="0"/>
      <p:bldP spid="16" grpId="0" animBg="1"/>
      <p:bldP spid="12" grpId="0" animBg="1"/>
      <p:bldP spid="13" grpId="0"/>
      <p:bldP spid="14" grpId="0" animBg="1"/>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学习导引</a:t>
            </a:r>
          </a:p>
        </p:txBody>
      </p:sp>
      <p:graphicFrame>
        <p:nvGraphicFramePr>
          <p:cNvPr id="4" name="内容占位符 1">
            <a:extLst>
              <a:ext uri="{FF2B5EF4-FFF2-40B4-BE49-F238E27FC236}">
                <a16:creationId xmlns:a16="http://schemas.microsoft.com/office/drawing/2014/main" id="{DB1F3D57-CE80-4623-9D0B-60A57A9ED33F}"/>
              </a:ext>
            </a:extLst>
          </p:cNvPr>
          <p:cNvGraphicFramePr>
            <a:graphicFrameLocks/>
          </p:cNvGraphicFramePr>
          <p:nvPr>
            <p:extLst>
              <p:ext uri="{D42A27DB-BD31-4B8C-83A1-F6EECF244321}">
                <p14:modId xmlns:p14="http://schemas.microsoft.com/office/powerpoint/2010/main" val="3021849770"/>
              </p:ext>
            </p:extLst>
          </p:nvPr>
        </p:nvGraphicFramePr>
        <p:xfrm>
          <a:off x="0" y="1796"/>
          <a:ext cx="9144000" cy="5141703"/>
        </p:xfrm>
        <a:graphic>
          <a:graphicData uri="http://schemas.openxmlformats.org/drawingml/2006/table">
            <a:tbl>
              <a:tblPr/>
              <a:tblGrid>
                <a:gridCol w="884904">
                  <a:extLst>
                    <a:ext uri="{9D8B030D-6E8A-4147-A177-3AD203B41FA5}">
                      <a16:colId xmlns:a16="http://schemas.microsoft.com/office/drawing/2014/main" val="20000"/>
                    </a:ext>
                  </a:extLst>
                </a:gridCol>
                <a:gridCol w="8259096">
                  <a:extLst>
                    <a:ext uri="{9D8B030D-6E8A-4147-A177-3AD203B41FA5}">
                      <a16:colId xmlns:a16="http://schemas.microsoft.com/office/drawing/2014/main" val="20001"/>
                    </a:ext>
                  </a:extLst>
                </a:gridCol>
              </a:tblGrid>
              <a:tr h="1168569">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知识单元与知识点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网络层面临的安全形势、网络层安全需求、网络层安全机制</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核心网安全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核心网的典型安全架构、</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IPSec</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安全协议与</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VPN</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6LoWPAN</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SSL/TLS</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、防火墙</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泛在接入安全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远距离无线接入安全、近距离无线接入安全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异构网络安全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异构网络的安全新问题、异构网络的安全原则、异构网络的安全机制</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路由安全</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r>
                        <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路由面临的安全威胁、路由安全防御对策、路由安全协议</a:t>
                      </a:r>
                      <a:r>
                        <a:rPr kumimoji="0" lang="en-US" altLang="zh-CN"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rPr>
                        <a:t>)</a:t>
                      </a:r>
                      <a:endParaRPr kumimoji="0" lang="zh-CN" altLang="en-US" sz="1400" b="0" i="0" u="none" strike="noStrike" cap="none" normalizeH="0" baseline="0" dirty="0">
                        <a:ln>
                          <a:noFill/>
                        </a:ln>
                        <a:solidFill>
                          <a:schemeClr val="bg1"/>
                        </a:solidFill>
                        <a:effectLst/>
                        <a:latin typeface="华文楷体" panose="02010600040101010101" pitchFamily="2" charset="-122"/>
                        <a:ea typeface="华文楷体" panose="02010600040101010101" pitchFamily="2" charset="-122"/>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1869710">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能力点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基于对物联网网络层安全概念的建立、对物联网网络层面临的安全形势、网络层安全需求、网络层安全机制的理解，形成知识应用能力</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基于对物联网核心网和泛在接入安全基本内容的理解、对异构网络安全基本含义的了解，形成问题分析能力和工程研究与创新能力</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基于对物联网网络层安全中路由安全基本内容的了解，形成问题分析能力 </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基于交流与微思考，形成沟通表达能力、问题分析能力，并强化职业道德规范</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基于学习拓展与探究式研讨，形成知识应用能力、问题分析能力、终身学习能力</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基于复杂工程问题实践，形成问题分析能力、设计开发能力、工程研究与创新能力</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1"/>
                  </a:ext>
                </a:extLst>
              </a:tr>
              <a:tr h="701141">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重难点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重点：物联网网络层安全的相关概念；物联网核心网安全的基本内容；物联网泛在接入网的基本内容。</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难点：异构网络安全的基本含义；物联网网络层的路由安全。</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AF4F6"/>
                    </a:solidFill>
                  </a:tcPr>
                </a:tc>
                <a:extLst>
                  <a:ext uri="{0D108BD9-81ED-4DB2-BD59-A6C34878D82A}">
                    <a16:rowId xmlns:a16="http://schemas.microsoft.com/office/drawing/2014/main" val="10002"/>
                  </a:ext>
                </a:extLst>
              </a:tr>
              <a:tr h="1402283">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400" b="1" i="0" u="none" strike="noStrike" cap="none" normalizeH="0" baseline="0" dirty="0">
                          <a:ln>
                            <a:noFill/>
                          </a:ln>
                          <a:solidFill>
                            <a:schemeClr val="bg1"/>
                          </a:solidFill>
                          <a:effectLst/>
                          <a:latin typeface="微软雅黑" panose="020B0503020204020204" pitchFamily="34" charset="-122"/>
                          <a:ea typeface="微软雅黑" panose="020B0503020204020204" pitchFamily="34" charset="-122"/>
                        </a:rPr>
                        <a:t>学习要求</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marL="342900" indent="-342900">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掌握物联网网络层安全的相关概念；</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掌握物联网核心网安全的基本内容，包括核心网的典型安全架构、</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IPSec</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安全协议与</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VPN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6LoWPAN</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安全、</a:t>
                      </a:r>
                      <a:r>
                        <a:rPr kumimoji="0" lang="en-US" altLang="zh-CN"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SSL/TLS</a:t>
                      </a: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、防火墙等</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掌握物联网泛在接入安全的基本内容，包括远距离无线接入安全、近距离无线接入安全</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了解异构网络的含义及其安全机制</a:t>
                      </a:r>
                    </a:p>
                    <a:p>
                      <a:pPr marL="342900" marR="0" lvl="0" indent="-342900" algn="l" defTabSz="914400" rtl="0" eaLnBrk="1" fontAlgn="base" latinLnBrk="0" hangingPunct="1">
                        <a:lnSpc>
                          <a:spcPct val="100000"/>
                        </a:lnSpc>
                        <a:spcBef>
                          <a:spcPct val="0"/>
                        </a:spcBef>
                        <a:spcAft>
                          <a:spcPct val="0"/>
                        </a:spcAft>
                        <a:buClrTx/>
                        <a:buSzTx/>
                        <a:buFont typeface="Wingdings" panose="05000000000000000000" pitchFamily="2" charset="2"/>
                        <a:buChar char=""/>
                      </a:pPr>
                      <a:r>
                        <a:rPr kumimoji="0" lang="zh-CN" altLang="en-US" sz="1400" b="0" i="0" u="none" strike="noStrike" cap="none" normalizeH="0" baseline="0" dirty="0">
                          <a:ln>
                            <a:noFill/>
                          </a:ln>
                          <a:solidFill>
                            <a:schemeClr val="accent2"/>
                          </a:solidFill>
                          <a:effectLst/>
                          <a:latin typeface="华文楷体" panose="02010600040101010101" pitchFamily="2" charset="-122"/>
                          <a:ea typeface="华文楷体" panose="02010600040101010101" pitchFamily="2" charset="-122"/>
                        </a:rPr>
                        <a:t>了解路由安全在物联网网络层安全中的重要性，以及路由安全的基本内容</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1E8EC"/>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9984099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210137"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第一部分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概述</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01</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01</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314059758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238206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网络层是实现万物互连的核心，网络终端通过各种网络接入设备与互联网、移动通信网等广域网连接</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基本功能：</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依托网络实现端到端或节点到节点的信息转发和传输，从而将物联网感知层获取的信息及时、准确、可靠、安全地传输给目标用户或汇聚节点，或者将控制中心的检测命令等传输给感知层节点，为基于数据的分析、处理、决策与应用提供支持</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概述</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21100489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345524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核心网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是物联网数据传输的主要载体， 是物联网网络层的骨干和核心，通常由互联网、移动通信网、卫星通信网或某些专用网络充当，一般采用光纤结构，具有传输速度快、传播距离远等特点</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接入网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则是骨干网络到用户终端之间的通信网络，其长度一般在几千米范围以内，俗称“最后一公里”。分为：</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无线近距离接入网（如无线局域网、</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ZigBee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、蓝牙）</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无线远距离接入网（如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移动通信）</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其他有线接入方式（如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PSTN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ADSL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、宽带、有线电视、现场总线）</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概述</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55165960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4608249"/>
          </a:xfrm>
          <a:prstGeom prst="rect">
            <a:avLst/>
          </a:prstGeom>
          <a:noFill/>
        </p:spPr>
        <p:txBody>
          <a:bodyPr wrap="square" rtlCol="0">
            <a:spAutoFit/>
          </a:bodyPr>
          <a:lstStyle/>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）物联网是一个与应用紧密相关的网络，不同应用领域的物联网具有完全不同的网络安全和服务质量要求，无法完全复制互联网的技术模式，必需结合自身新的网络特点和应用需求，探索新的网络安全解决方案</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）物联网以互联网为基础，因此物联网网络层将面临现有</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TCP/IP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网络的所有安全问题；物联网新增了感知层（节点多、种类多、资源差异大、数据格式不统一，数据海量和多源异构），网络安全问题将更加复杂，极容易导致核心网络的拥塞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(DDoS)</a:t>
            </a: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）物联网相对于互联网有更多参与实体、更复杂技术内涵、更加开放和更难控制的分布特征，面临着更高的物理实体保护、安全实时通信和网络可用性等要求</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网络层面临的安全形势</a:t>
            </a:r>
          </a:p>
        </p:txBody>
      </p:sp>
    </p:spTree>
    <p:extLst>
      <p:ext uri="{BB962C8B-B14F-4D97-AF65-F5344CB8AC3E}">
        <p14:creationId xmlns:p14="http://schemas.microsoft.com/office/powerpoint/2010/main" val="22211093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2530757"/>
          </a:xfrm>
          <a:prstGeom prst="rect">
            <a:avLst/>
          </a:prstGeom>
          <a:noFill/>
        </p:spPr>
        <p:txBody>
          <a:bodyPr wrap="square" rtlCol="0">
            <a:spAutoFit/>
          </a:bodyPr>
          <a:lstStyle/>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）物联网直接物理和逻辑地将人、物、环境关联起来，给个人隐私和人身安全、企业机密与财产安全、国家安全等带来了前所未有的安全挑战</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）物联网不仅要面对互联网、移动通信网等核心网络的传统网络安全问题，还要面对这些网络互联互通带来的新网络安全问题，包括物联网终端、网络通信、网络融合、网络管理等方面的安全挑战</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网络层面临的安全形势</a:t>
            </a:r>
          </a:p>
        </p:txBody>
      </p:sp>
    </p:spTree>
    <p:extLst>
      <p:ext uri="{BB962C8B-B14F-4D97-AF65-F5344CB8AC3E}">
        <p14:creationId xmlns:p14="http://schemas.microsoft.com/office/powerpoint/2010/main" val="362072577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2838534"/>
          </a:xfrm>
          <a:prstGeom prst="rect">
            <a:avLst/>
          </a:prstGeom>
          <a:noFill/>
        </p:spPr>
        <p:txBody>
          <a:bodyPr wrap="square" rtlCol="0">
            <a:spAutoFit/>
          </a:bodyPr>
          <a:lstStyle/>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）业务数据在承载网络中的传输安全</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）承载网络的安全防护</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）终端及异构网络的鉴权认证</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）异构网络下终端的安全接入</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）物联网应用网络统一协议栈需求</a:t>
            </a:r>
          </a:p>
          <a:p>
            <a:pPr>
              <a:lnSpc>
                <a:spcPct val="130000"/>
              </a:lnSpc>
              <a:spcBef>
                <a:spcPts val="300"/>
              </a:spcBef>
              <a:spcAft>
                <a:spcPts val="300"/>
              </a:spcAft>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 （</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6</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）大规模终端分布式安全管控</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网络层安全需求</a:t>
            </a:r>
          </a:p>
        </p:txBody>
      </p:sp>
    </p:spTree>
    <p:extLst>
      <p:ext uri="{BB962C8B-B14F-4D97-AF65-F5344CB8AC3E}">
        <p14:creationId xmlns:p14="http://schemas.microsoft.com/office/powerpoint/2010/main" val="32031193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93031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物联网的网络层可分为</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核心网</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接入网</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物联网网络层安全体系结构</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网络层安全机制</a:t>
            </a:r>
          </a:p>
        </p:txBody>
      </p:sp>
      <p:pic>
        <p:nvPicPr>
          <p:cNvPr id="4" name="Picture 2" descr="5-2">
            <a:extLst>
              <a:ext uri="{FF2B5EF4-FFF2-40B4-BE49-F238E27FC236}">
                <a16:creationId xmlns:a16="http://schemas.microsoft.com/office/drawing/2014/main" id="{DFC4F372-AA0F-490E-B8D9-227138CC7D15}"/>
              </a:ext>
            </a:extLst>
          </p:cNvPr>
          <p:cNvPicPr>
            <a:picLocks noChangeAspect="1"/>
          </p:cNvPicPr>
          <p:nvPr/>
        </p:nvPicPr>
        <p:blipFill>
          <a:blip r:embed="rId3"/>
          <a:stretch>
            <a:fillRect/>
          </a:stretch>
        </p:blipFill>
        <p:spPr>
          <a:xfrm>
            <a:off x="899592" y="1635646"/>
            <a:ext cx="6821488" cy="3168650"/>
          </a:xfrm>
          <a:prstGeom prst="rect">
            <a:avLst/>
          </a:prstGeom>
          <a:noFill/>
          <a:ln w="9525">
            <a:noFill/>
          </a:ln>
        </p:spPr>
      </p:pic>
    </p:spTree>
    <p:extLst>
      <p:ext uri="{BB962C8B-B14F-4D97-AF65-F5344CB8AC3E}">
        <p14:creationId xmlns:p14="http://schemas.microsoft.com/office/powerpoint/2010/main" val="169303270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555526"/>
            <a:ext cx="8208912" cy="2205347"/>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网络层安全机制应包括以下四方面内容</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）构建物联网与互联网、移动通信网络等相融合的网络安全体系结构</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）建设物联网网络安全统一防护平台</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）提高物联网系统各应用层次之间的安全应用与保障措施</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）建立全面的物联网网络安全接入与应用访问控制机制</a:t>
            </a:r>
          </a:p>
        </p:txBody>
      </p:sp>
      <p:sp>
        <p:nvSpPr>
          <p:cNvPr id="47" name="TextBox 46"/>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网络层安全机制</a:t>
            </a:r>
          </a:p>
        </p:txBody>
      </p:sp>
    </p:spTree>
    <p:extLst>
      <p:ext uri="{BB962C8B-B14F-4D97-AF65-F5344CB8AC3E}">
        <p14:creationId xmlns:p14="http://schemas.microsoft.com/office/powerpoint/2010/main" val="145474221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strVal val="#ppt_w"/>
                                          </p:val>
                                        </p:tav>
                                        <p:tav tm="100000">
                                          <p:val>
                                            <p:strVal val="#ppt_w"/>
                                          </p:val>
                                        </p:tav>
                                      </p:tavLst>
                                    </p:anim>
                                    <p:anim calcmode="lin" valueType="num">
                                      <p:cBhvr>
                                        <p:cTn id="8" dur="500" fill="hold"/>
                                        <p:tgtEl>
                                          <p:spTgt spid="47"/>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926679"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第二部分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核心网安全</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02</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02</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177259344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8597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核心网需要避免出现非授权用户访问网络设备上的资源，限制网络拓扑结构可视范围，保证网络上传输的信息的机密性和完整性，监督网络流量并对异常流量进行管控</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核心网面临的安全威胁：</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）核心网要接收来自海量、集群方式存在的物联网节点的传输信息，很容易导致网络拥塞，极易受到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DDoS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攻击，这是物联网网络层最常见的攻击手段</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）网络层存在不同架构的网络互联互通问题，核心网将面临异构网络跨网认证等安全问题。涉及密钥和认证机制的一致性和兼容性，能抵抗</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DoS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攻击、中间人攻击、异步攻击、合谋攻击等</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）物联网中一些节点不固定，与邻近节点的通信关系会发生改变，很难为节点建立信任关系，面临着虚拟节点、虚假路由等攻击</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核心网安全</a:t>
            </a:r>
          </a:p>
        </p:txBody>
      </p:sp>
    </p:spTree>
    <p:extLst>
      <p:ext uri="{BB962C8B-B14F-4D97-AF65-F5344CB8AC3E}">
        <p14:creationId xmlns:p14="http://schemas.microsoft.com/office/powerpoint/2010/main" val="35158727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核心网的典型安全架构</a:t>
            </a:r>
          </a:p>
        </p:txBody>
      </p:sp>
      <p:pic>
        <p:nvPicPr>
          <p:cNvPr id="4" name="Picture 2" descr="5-3">
            <a:extLst>
              <a:ext uri="{FF2B5EF4-FFF2-40B4-BE49-F238E27FC236}">
                <a16:creationId xmlns:a16="http://schemas.microsoft.com/office/drawing/2014/main" id="{E7CD8C1F-E966-4769-B244-76B3D2B6A23D}"/>
              </a:ext>
            </a:extLst>
          </p:cNvPr>
          <p:cNvPicPr>
            <a:picLocks noChangeAspect="1"/>
          </p:cNvPicPr>
          <p:nvPr/>
        </p:nvPicPr>
        <p:blipFill>
          <a:blip r:embed="rId3"/>
          <a:stretch>
            <a:fillRect/>
          </a:stretch>
        </p:blipFill>
        <p:spPr>
          <a:xfrm>
            <a:off x="899592" y="771550"/>
            <a:ext cx="6839595" cy="4106343"/>
          </a:xfrm>
          <a:prstGeom prst="rect">
            <a:avLst/>
          </a:prstGeom>
          <a:noFill/>
          <a:ln w="9525">
            <a:noFill/>
          </a:ln>
        </p:spPr>
      </p:pic>
    </p:spTree>
    <p:extLst>
      <p:ext uri="{BB962C8B-B14F-4D97-AF65-F5344CB8AC3E}">
        <p14:creationId xmlns:p14="http://schemas.microsoft.com/office/powerpoint/2010/main" val="14620644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36202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物联网的核心网以</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TCP/IP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协议为基础</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在</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TCP/IP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协议中，网络层协议</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提供了互连跨越多个网络终端系统</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即跨网互联</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的能力，</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是实现整个网际互联的核心，在该层加入安全机制是保证整个网络安全通信的重要手段</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层的安全机制称为</a:t>
            </a:r>
            <a:r>
              <a:rPr lang="en-US" altLang="zh-CN" sz="20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，包括了三个功能域：鉴别、机密性和密钥管理。鉴别机制保证收到的分组确实是由分组首部的源站地址字段声明的实体传输过来的，该机制还能保证分组在传输过程中没有被篡改</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机密性机制使得通信节点可以对报文加密</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密钥管理机制主要完成密钥的安全交换</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9306929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5238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 Security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IETF</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1998</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年</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月公布的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安全标准，目标是为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IPv4</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IPv6</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提供透明的安全服务。 </a:t>
            </a: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协议的分组进行加密和认证来保护</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协议的网络传输协议族，用于保证数据的机密性、来源可靠性、无连接的完整性并提供抗重播服务。</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89594768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77785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提供</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认证（</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authentication</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确保收到的数据报是从报头中的源端发出的</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机密性（</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confidentiality</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防止第三方窃听</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密钥协商（</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key management</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53352253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1215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的应用</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的主要特征是可以支持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层所有流量的加密和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或鉴别。因此可以增强所有分布式应用的安全性。</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的应用方式</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端到端（</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end-end):</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主机到主机的安全通信</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端到路由（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end-router):</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主机到路由设备之间的安全通信</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路由到路由（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router-router):</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路由设备之间的安全通信，常用于在两个网络之间建立虚拟私有网（</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VPN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39191753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1539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的优点</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由于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位于传输层</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(TCP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UDP)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之下，因此对于应用是透明的。所以当在防火墙、路由器或用户终端系统上实现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时，并不会对应用程序带来任何的改变</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可以对个人用户提供安全性。这对于不在本地的工作者</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如出差</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，或者对于一个组织内部，为敏感的应用建立只有少数人才能使用的虚拟子网是必要的</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为穿越局域网边界的通信量提供安全保障，但对于局域网内部的通信，它不会带来任何与安全有关的处理负荷</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对终端用户是透明的</a:t>
            </a:r>
            <a:endPar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28678803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4199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的组成</a:t>
            </a:r>
          </a:p>
          <a:p>
            <a:pPr marL="342900" indent="-342900">
              <a:lnSpc>
                <a:spcPct val="11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Authentication Header</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，验证报头）协议</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，定义了认证的应用方法，提供数据源认证和完整性保证</a:t>
            </a:r>
          </a:p>
          <a:p>
            <a:pPr marL="342900" indent="-342900">
              <a:lnSpc>
                <a:spcPct val="11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Encapsulating Security Payload</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，封装安全有效负载）协议</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，定义了加密和可选认证的应用方法，提供可靠性保证</a:t>
            </a:r>
          </a:p>
          <a:p>
            <a:pPr marL="342900" indent="-342900">
              <a:lnSpc>
                <a:spcPct val="11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Internet Key Exchange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，密钥的交换标准）协议</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，完成</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通信对等体间的安全联盟</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Security Association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）协商，协商出对等体间数据安全传输需要的认证算法、加密算法和对应的秘钥。</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sp>
        <p:nvSpPr>
          <p:cNvPr id="6" name="文本框 5">
            <a:extLst>
              <a:ext uri="{FF2B5EF4-FFF2-40B4-BE49-F238E27FC236}">
                <a16:creationId xmlns:a16="http://schemas.microsoft.com/office/drawing/2014/main" id="{FC4CBD67-C5C3-C966-18E5-2A6438863FF0}"/>
              </a:ext>
            </a:extLst>
          </p:cNvPr>
          <p:cNvSpPr txBox="1"/>
          <p:nvPr/>
        </p:nvSpPr>
        <p:spPr>
          <a:xfrm>
            <a:off x="611560" y="3795886"/>
            <a:ext cx="8136904" cy="1424685"/>
          </a:xfrm>
          <a:prstGeom prst="rect">
            <a:avLst/>
          </a:prstGeom>
          <a:noFill/>
        </p:spPr>
        <p:txBody>
          <a:bodyPr wrap="square">
            <a:spAutoFit/>
          </a:bodyPr>
          <a:lstStyle/>
          <a:p>
            <a:pPr marL="342900" indent="-342900">
              <a:lnSpc>
                <a:spcPct val="130000"/>
              </a:lnSpc>
              <a:spcBef>
                <a:spcPts val="300"/>
              </a:spcBef>
              <a:spcAft>
                <a:spcPts val="300"/>
              </a:spcAft>
              <a:buFont typeface="+mj-lt"/>
              <a:buAutoNum type="arabicPeriod"/>
            </a:pP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AH</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可以单独使用，也可同时使用。</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AH</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同时使用时，报文在</a:t>
            </a:r>
            <a:r>
              <a:rPr lang="en-US" altLang="zh-CN" sz="16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安全转换时，先进行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封装，再进行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AH</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封装；</a:t>
            </a:r>
            <a:r>
              <a:rPr lang="en-US" altLang="zh-CN" sz="16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解封装时，先进行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AH</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解封装，再进行</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解封装。</a:t>
            </a:r>
          </a:p>
          <a:p>
            <a:pPr marL="342900" indent="-342900">
              <a:lnSpc>
                <a:spcPct val="130000"/>
              </a:lnSpc>
              <a:spcBef>
                <a:spcPts val="300"/>
              </a:spcBef>
              <a:spcAft>
                <a:spcPts val="300"/>
              </a:spcAft>
              <a:buFont typeface="+mj-lt"/>
              <a:buAutoNum type="arabicPeriod"/>
            </a:pP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IKE</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秘钥交换协商不是必须的，</a:t>
            </a:r>
            <a:r>
              <a:rPr lang="en-US" altLang="zh-CN" sz="1600" b="1"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使用的策略和算法也可直接手工配置。</a:t>
            </a:r>
          </a:p>
        </p:txBody>
      </p:sp>
    </p:spTree>
    <p:extLst>
      <p:ext uri="{BB962C8B-B14F-4D97-AF65-F5344CB8AC3E}">
        <p14:creationId xmlns:p14="http://schemas.microsoft.com/office/powerpoint/2010/main" val="140572298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326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的体系结构</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grpSp>
        <p:nvGrpSpPr>
          <p:cNvPr id="37" name="组合 36">
            <a:extLst>
              <a:ext uri="{FF2B5EF4-FFF2-40B4-BE49-F238E27FC236}">
                <a16:creationId xmlns:a16="http://schemas.microsoft.com/office/drawing/2014/main" id="{2842D74F-AD1B-41E1-9DE0-6462A2843774}"/>
              </a:ext>
            </a:extLst>
          </p:cNvPr>
          <p:cNvGrpSpPr/>
          <p:nvPr/>
        </p:nvGrpSpPr>
        <p:grpSpPr>
          <a:xfrm>
            <a:off x="2555776" y="1419622"/>
            <a:ext cx="4519310" cy="3295277"/>
            <a:chOff x="3471454" y="1008087"/>
            <a:chExt cx="4519310" cy="3295277"/>
          </a:xfrm>
        </p:grpSpPr>
        <p:sp>
          <p:nvSpPr>
            <p:cNvPr id="2" name="矩形 1">
              <a:extLst>
                <a:ext uri="{FF2B5EF4-FFF2-40B4-BE49-F238E27FC236}">
                  <a16:creationId xmlns:a16="http://schemas.microsoft.com/office/drawing/2014/main" id="{72E1D63D-D30E-4764-8A2E-CBAF0F862927}"/>
                </a:ext>
              </a:extLst>
            </p:cNvPr>
            <p:cNvSpPr/>
            <p:nvPr/>
          </p:nvSpPr>
          <p:spPr>
            <a:xfrm>
              <a:off x="4301162" y="1008087"/>
              <a:ext cx="2664296" cy="331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体系结构</a:t>
              </a:r>
            </a:p>
          </p:txBody>
        </p:sp>
        <p:sp>
          <p:nvSpPr>
            <p:cNvPr id="6" name="矩形 5">
              <a:extLst>
                <a:ext uri="{FF2B5EF4-FFF2-40B4-BE49-F238E27FC236}">
                  <a16:creationId xmlns:a16="http://schemas.microsoft.com/office/drawing/2014/main" id="{BE2A65D5-97F1-40C6-B6DF-93E3FF3B2283}"/>
                </a:ext>
              </a:extLst>
            </p:cNvPr>
            <p:cNvSpPr/>
            <p:nvPr/>
          </p:nvSpPr>
          <p:spPr>
            <a:xfrm>
              <a:off x="3473070" y="1635646"/>
              <a:ext cx="1656184" cy="53685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封装安全有效负载</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7" name="矩形 6">
              <a:extLst>
                <a:ext uri="{FF2B5EF4-FFF2-40B4-BE49-F238E27FC236}">
                  <a16:creationId xmlns:a16="http://schemas.microsoft.com/office/drawing/2014/main" id="{4C53F073-86BC-4C1F-A55D-12FE8026C4FA}"/>
                </a:ext>
              </a:extLst>
            </p:cNvPr>
            <p:cNvSpPr/>
            <p:nvPr/>
          </p:nvSpPr>
          <p:spPr>
            <a:xfrm>
              <a:off x="6010544" y="1635646"/>
              <a:ext cx="1098930" cy="536854"/>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验证头</a:t>
              </a:r>
              <a:endParaRPr lang="en-US" altLang="zh-CN" sz="1600" b="1" dirty="0">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AH</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8" name="矩形 7">
              <a:extLst>
                <a:ext uri="{FF2B5EF4-FFF2-40B4-BE49-F238E27FC236}">
                  <a16:creationId xmlns:a16="http://schemas.microsoft.com/office/drawing/2014/main" id="{04F7FAA1-21DF-422B-A567-0F107A18D550}"/>
                </a:ext>
              </a:extLst>
            </p:cNvPr>
            <p:cNvSpPr/>
            <p:nvPr/>
          </p:nvSpPr>
          <p:spPr>
            <a:xfrm>
              <a:off x="3994320" y="2639696"/>
              <a:ext cx="1134934" cy="331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加密算法</a:t>
              </a:r>
            </a:p>
          </p:txBody>
        </p:sp>
        <p:sp>
          <p:nvSpPr>
            <p:cNvPr id="9" name="矩形 8">
              <a:extLst>
                <a:ext uri="{FF2B5EF4-FFF2-40B4-BE49-F238E27FC236}">
                  <a16:creationId xmlns:a16="http://schemas.microsoft.com/office/drawing/2014/main" id="{A51D449D-83C8-4318-BE81-0C0722F84B8B}"/>
                </a:ext>
              </a:extLst>
            </p:cNvPr>
            <p:cNvSpPr/>
            <p:nvPr/>
          </p:nvSpPr>
          <p:spPr>
            <a:xfrm>
              <a:off x="5822783" y="2639059"/>
              <a:ext cx="1134934" cy="331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验证算法</a:t>
              </a:r>
            </a:p>
          </p:txBody>
        </p:sp>
        <p:sp>
          <p:nvSpPr>
            <p:cNvPr id="10" name="矩形 9">
              <a:extLst>
                <a:ext uri="{FF2B5EF4-FFF2-40B4-BE49-F238E27FC236}">
                  <a16:creationId xmlns:a16="http://schemas.microsoft.com/office/drawing/2014/main" id="{AE40827B-F2D7-4250-AB31-ACEEBA525F5D}"/>
                </a:ext>
              </a:extLst>
            </p:cNvPr>
            <p:cNvSpPr/>
            <p:nvPr/>
          </p:nvSpPr>
          <p:spPr>
            <a:xfrm>
              <a:off x="4350140" y="3305559"/>
              <a:ext cx="2310091" cy="33194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解释域（</a:t>
              </a: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DOI</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a:t>
              </a:r>
            </a:p>
          </p:txBody>
        </p:sp>
        <p:sp>
          <p:nvSpPr>
            <p:cNvPr id="11" name="矩形 10">
              <a:extLst>
                <a:ext uri="{FF2B5EF4-FFF2-40B4-BE49-F238E27FC236}">
                  <a16:creationId xmlns:a16="http://schemas.microsoft.com/office/drawing/2014/main" id="{BEF8A468-AB4C-44F6-AD3A-93697D62500C}"/>
                </a:ext>
              </a:extLst>
            </p:cNvPr>
            <p:cNvSpPr/>
            <p:nvPr/>
          </p:nvSpPr>
          <p:spPr>
            <a:xfrm>
              <a:off x="4918257" y="3971422"/>
              <a:ext cx="1165911" cy="331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密钥管理</a:t>
              </a:r>
            </a:p>
          </p:txBody>
        </p:sp>
        <p:sp>
          <p:nvSpPr>
            <p:cNvPr id="12" name="矩形 11">
              <a:extLst>
                <a:ext uri="{FF2B5EF4-FFF2-40B4-BE49-F238E27FC236}">
                  <a16:creationId xmlns:a16="http://schemas.microsoft.com/office/drawing/2014/main" id="{40808436-45DD-4A58-9FC3-FADDC6CAE091}"/>
                </a:ext>
              </a:extLst>
            </p:cNvPr>
            <p:cNvSpPr/>
            <p:nvPr/>
          </p:nvSpPr>
          <p:spPr>
            <a:xfrm>
              <a:off x="7294521" y="3966698"/>
              <a:ext cx="696243" cy="3319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Times New Roman" panose="02020603050405020304" pitchFamily="18" charset="0"/>
                  <a:ea typeface="华文楷体" panose="02010600040101010101" pitchFamily="2" charset="-122"/>
                  <a:cs typeface="Times New Roman" panose="02020603050405020304" pitchFamily="18" charset="0"/>
                </a:rPr>
                <a:t>策略</a:t>
              </a:r>
            </a:p>
          </p:txBody>
        </p:sp>
        <p:cxnSp>
          <p:nvCxnSpPr>
            <p:cNvPr id="13" name="直接箭头连接符 12">
              <a:extLst>
                <a:ext uri="{FF2B5EF4-FFF2-40B4-BE49-F238E27FC236}">
                  <a16:creationId xmlns:a16="http://schemas.microsoft.com/office/drawing/2014/main" id="{509DBE41-4001-435B-A21F-255797F3BE80}"/>
                </a:ext>
              </a:extLst>
            </p:cNvPr>
            <p:cNvCxnSpPr/>
            <p:nvPr/>
          </p:nvCxnSpPr>
          <p:spPr>
            <a:xfrm>
              <a:off x="4644008" y="1340029"/>
              <a:ext cx="0" cy="2956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C70D8E9A-141F-4287-A340-AB4A92D3575C}"/>
                </a:ext>
              </a:extLst>
            </p:cNvPr>
            <p:cNvCxnSpPr/>
            <p:nvPr/>
          </p:nvCxnSpPr>
          <p:spPr>
            <a:xfrm>
              <a:off x="6516216" y="1340029"/>
              <a:ext cx="0" cy="2956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46609626-0B28-4209-B7A7-1061A5EF440B}"/>
                </a:ext>
              </a:extLst>
            </p:cNvPr>
            <p:cNvCxnSpPr/>
            <p:nvPr/>
          </p:nvCxnSpPr>
          <p:spPr>
            <a:xfrm>
              <a:off x="4301162" y="2172499"/>
              <a:ext cx="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BE548AD1-412D-4AE8-A646-11CB7CB252B6}"/>
                </a:ext>
              </a:extLst>
            </p:cNvPr>
            <p:cNvCxnSpPr/>
            <p:nvPr/>
          </p:nvCxnSpPr>
          <p:spPr>
            <a:xfrm>
              <a:off x="6516216" y="2172499"/>
              <a:ext cx="0" cy="468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3996410C-DCC1-4BCD-8918-CB296728A18A}"/>
                </a:ext>
              </a:extLst>
            </p:cNvPr>
            <p:cNvCxnSpPr>
              <a:endCxn id="9" idx="0"/>
            </p:cNvCxnSpPr>
            <p:nvPr/>
          </p:nvCxnSpPr>
          <p:spPr>
            <a:xfrm>
              <a:off x="4301162" y="2283718"/>
              <a:ext cx="1836000" cy="355341"/>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ABA4A2A5-0C88-43BB-BA1F-F3C7C93824FD}"/>
                </a:ext>
              </a:extLst>
            </p:cNvPr>
            <p:cNvCxnSpPr>
              <a:endCxn id="10" idx="1"/>
            </p:cNvCxnSpPr>
            <p:nvPr/>
          </p:nvCxnSpPr>
          <p:spPr>
            <a:xfrm rot="16200000" flipH="1">
              <a:off x="3438370" y="2559759"/>
              <a:ext cx="1300471" cy="523069"/>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86CB7257-6AD4-4475-8E3D-3247361599D7}"/>
                </a:ext>
              </a:extLst>
            </p:cNvPr>
            <p:cNvCxnSpPr>
              <a:endCxn id="12" idx="2"/>
            </p:cNvCxnSpPr>
            <p:nvPr/>
          </p:nvCxnSpPr>
          <p:spPr>
            <a:xfrm>
              <a:off x="3471454" y="1837941"/>
              <a:ext cx="4171189" cy="2460699"/>
            </a:xfrm>
            <a:prstGeom prst="bentConnector4">
              <a:avLst>
                <a:gd name="adj1" fmla="val -2472"/>
                <a:gd name="adj2" fmla="val 10929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ED38802A-2DD6-4C66-B29C-EFA414FD2884}"/>
                </a:ext>
              </a:extLst>
            </p:cNvPr>
            <p:cNvCxnSpPr>
              <a:endCxn id="12" idx="0"/>
            </p:cNvCxnSpPr>
            <p:nvPr/>
          </p:nvCxnSpPr>
          <p:spPr>
            <a:xfrm rot="16200000" flipH="1">
              <a:off x="6318544" y="2642599"/>
              <a:ext cx="2115028" cy="533169"/>
            </a:xfrm>
            <a:prstGeom prst="bentConnector3">
              <a:avLst>
                <a:gd name="adj1" fmla="val -966"/>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9" name="连接符: 肘形 28">
              <a:extLst>
                <a:ext uri="{FF2B5EF4-FFF2-40B4-BE49-F238E27FC236}">
                  <a16:creationId xmlns:a16="http://schemas.microsoft.com/office/drawing/2014/main" id="{5174A5EB-DC0E-4FF0-997E-A18F12CB683A}"/>
                </a:ext>
              </a:extLst>
            </p:cNvPr>
            <p:cNvCxnSpPr>
              <a:cxnSpLocks/>
              <a:endCxn id="10" idx="3"/>
            </p:cNvCxnSpPr>
            <p:nvPr/>
          </p:nvCxnSpPr>
          <p:spPr>
            <a:xfrm rot="5400000">
              <a:off x="6186806" y="2541120"/>
              <a:ext cx="1403836" cy="456985"/>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859389F7-BF6F-4AE0-99AA-6E6C95495C67}"/>
                </a:ext>
              </a:extLst>
            </p:cNvPr>
            <p:cNvCxnSpPr/>
            <p:nvPr/>
          </p:nvCxnSpPr>
          <p:spPr>
            <a:xfrm>
              <a:off x="6300192" y="2971001"/>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3330BF46-52F1-4AAC-8740-E5CC0B4AA781}"/>
                </a:ext>
              </a:extLst>
            </p:cNvPr>
            <p:cNvCxnSpPr/>
            <p:nvPr/>
          </p:nvCxnSpPr>
          <p:spPr>
            <a:xfrm>
              <a:off x="4685362" y="2981559"/>
              <a:ext cx="0" cy="32400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C200F622-AFC5-487E-ACF6-8658A9118B5C}"/>
                </a:ext>
              </a:extLst>
            </p:cNvPr>
            <p:cNvCxnSpPr>
              <a:cxnSpLocks/>
            </p:cNvCxnSpPr>
            <p:nvPr/>
          </p:nvCxnSpPr>
          <p:spPr>
            <a:xfrm flipV="1">
              <a:off x="5513211" y="3603616"/>
              <a:ext cx="0" cy="3630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3084B00E-2982-40F9-96A0-7D791508E5D6}"/>
                </a:ext>
              </a:extLst>
            </p:cNvPr>
            <p:cNvCxnSpPr>
              <a:stCxn id="12" idx="1"/>
              <a:endCxn id="11" idx="3"/>
            </p:cNvCxnSpPr>
            <p:nvPr/>
          </p:nvCxnSpPr>
          <p:spPr>
            <a:xfrm flipH="1">
              <a:off x="6084168" y="4132669"/>
              <a:ext cx="1210353" cy="47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677657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1572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的工作模式</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传输模式（</a:t>
            </a: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Transport Mode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传输模式适用于主机间的通信</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传输模式中仅对上层协议的报文提供安全服务，而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报头是不受保护的</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封装方式：不改变原有的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报头，在原数据报头后面插入</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报头，将原来的数据封装成被保护的数据</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graphicFrame>
        <p:nvGraphicFramePr>
          <p:cNvPr id="2" name="表格 4">
            <a:extLst>
              <a:ext uri="{FF2B5EF4-FFF2-40B4-BE49-F238E27FC236}">
                <a16:creationId xmlns:a16="http://schemas.microsoft.com/office/drawing/2014/main" id="{6B50EF29-5529-2D08-D6A1-43FEE25E7597}"/>
              </a:ext>
            </a:extLst>
          </p:cNvPr>
          <p:cNvGraphicFramePr>
            <a:graphicFrameLocks noGrp="1"/>
          </p:cNvGraphicFramePr>
          <p:nvPr>
            <p:extLst>
              <p:ext uri="{D42A27DB-BD31-4B8C-83A1-F6EECF244321}">
                <p14:modId xmlns:p14="http://schemas.microsoft.com/office/powerpoint/2010/main" val="1446327136"/>
              </p:ext>
            </p:extLst>
          </p:nvPr>
        </p:nvGraphicFramePr>
        <p:xfrm>
          <a:off x="3275856" y="3451714"/>
          <a:ext cx="3600399" cy="370840"/>
        </p:xfrm>
        <a:graphic>
          <a:graphicData uri="http://schemas.openxmlformats.org/drawingml/2006/table">
            <a:tbl>
              <a:tblPr firstRow="1" bandRow="1">
                <a:tableStyleId>{5C22544A-7EE6-4342-B048-85BDC9FD1C3A}</a:tableStyleId>
              </a:tblPr>
              <a:tblGrid>
                <a:gridCol w="1200133">
                  <a:extLst>
                    <a:ext uri="{9D8B030D-6E8A-4147-A177-3AD203B41FA5}">
                      <a16:colId xmlns:a16="http://schemas.microsoft.com/office/drawing/2014/main" val="2327432108"/>
                    </a:ext>
                  </a:extLst>
                </a:gridCol>
                <a:gridCol w="1200133">
                  <a:extLst>
                    <a:ext uri="{9D8B030D-6E8A-4147-A177-3AD203B41FA5}">
                      <a16:colId xmlns:a16="http://schemas.microsoft.com/office/drawing/2014/main" val="1368599666"/>
                    </a:ext>
                  </a:extLst>
                </a:gridCol>
                <a:gridCol w="1200133">
                  <a:extLst>
                    <a:ext uri="{9D8B030D-6E8A-4147-A177-3AD203B41FA5}">
                      <a16:colId xmlns:a16="http://schemas.microsoft.com/office/drawing/2014/main" val="363915792"/>
                    </a:ext>
                  </a:extLst>
                </a:gridCol>
              </a:tblGrid>
              <a:tr h="370840">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p>
                  </a:txBody>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TCP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p>
                  </a:txBody>
                  <a:tcPr/>
                </a:tc>
                <a:tc>
                  <a:txBody>
                    <a:bodyPr/>
                    <a:lstStyle/>
                    <a:p>
                      <a:pPr algn="ct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数据</a:t>
                      </a:r>
                    </a:p>
                  </a:txBody>
                  <a:tcPr/>
                </a:tc>
                <a:extLst>
                  <a:ext uri="{0D108BD9-81ED-4DB2-BD59-A6C34878D82A}">
                    <a16:rowId xmlns:a16="http://schemas.microsoft.com/office/drawing/2014/main" val="135370449"/>
                  </a:ext>
                </a:extLst>
              </a:tr>
            </a:tbl>
          </a:graphicData>
        </a:graphic>
      </p:graphicFrame>
      <p:graphicFrame>
        <p:nvGraphicFramePr>
          <p:cNvPr id="4" name="表格 4">
            <a:extLst>
              <a:ext uri="{FF2B5EF4-FFF2-40B4-BE49-F238E27FC236}">
                <a16:creationId xmlns:a16="http://schemas.microsoft.com/office/drawing/2014/main" id="{51F133BE-4689-5C06-1DDA-95C956AA06F0}"/>
              </a:ext>
            </a:extLst>
          </p:cNvPr>
          <p:cNvGraphicFramePr>
            <a:graphicFrameLocks noGrp="1"/>
          </p:cNvGraphicFramePr>
          <p:nvPr>
            <p:extLst>
              <p:ext uri="{D42A27DB-BD31-4B8C-83A1-F6EECF244321}">
                <p14:modId xmlns:p14="http://schemas.microsoft.com/office/powerpoint/2010/main" val="58380846"/>
              </p:ext>
            </p:extLst>
          </p:nvPr>
        </p:nvGraphicFramePr>
        <p:xfrm>
          <a:off x="3275856" y="4126165"/>
          <a:ext cx="4752528" cy="370840"/>
        </p:xfrm>
        <a:graphic>
          <a:graphicData uri="http://schemas.openxmlformats.org/drawingml/2006/table">
            <a:tbl>
              <a:tblPr firstRow="1" bandRow="1">
                <a:tableStyleId>{5C22544A-7EE6-4342-B048-85BDC9FD1C3A}</a:tableStyleId>
              </a:tblPr>
              <a:tblGrid>
                <a:gridCol w="1188132">
                  <a:extLst>
                    <a:ext uri="{9D8B030D-6E8A-4147-A177-3AD203B41FA5}">
                      <a16:colId xmlns:a16="http://schemas.microsoft.com/office/drawing/2014/main" val="2327432108"/>
                    </a:ext>
                  </a:extLst>
                </a:gridCol>
                <a:gridCol w="1188132">
                  <a:extLst>
                    <a:ext uri="{9D8B030D-6E8A-4147-A177-3AD203B41FA5}">
                      <a16:colId xmlns:a16="http://schemas.microsoft.com/office/drawing/2014/main" val="1368599666"/>
                    </a:ext>
                  </a:extLst>
                </a:gridCol>
                <a:gridCol w="1188132">
                  <a:extLst>
                    <a:ext uri="{9D8B030D-6E8A-4147-A177-3AD203B41FA5}">
                      <a16:colId xmlns:a16="http://schemas.microsoft.com/office/drawing/2014/main" val="363915792"/>
                    </a:ext>
                  </a:extLst>
                </a:gridCol>
                <a:gridCol w="1188132">
                  <a:extLst>
                    <a:ext uri="{9D8B030D-6E8A-4147-A177-3AD203B41FA5}">
                      <a16:colId xmlns:a16="http://schemas.microsoft.com/office/drawing/2014/main" val="2981950157"/>
                    </a:ext>
                  </a:extLst>
                </a:gridCol>
              </a:tblGrid>
              <a:tr h="370840">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p>
                  </a:txBody>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p>
                  </a:txBody>
                  <a:tcPr>
                    <a:solidFill>
                      <a:srgbClr val="FF9899"/>
                    </a:solidFill>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TCP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p>
                  </a:txBody>
                  <a:tcPr/>
                </a:tc>
                <a:tc>
                  <a:txBody>
                    <a:bodyPr/>
                    <a:lstStyle/>
                    <a:p>
                      <a:pPr algn="ct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数据</a:t>
                      </a:r>
                    </a:p>
                  </a:txBody>
                  <a:tcPr/>
                </a:tc>
                <a:extLst>
                  <a:ext uri="{0D108BD9-81ED-4DB2-BD59-A6C34878D82A}">
                    <a16:rowId xmlns:a16="http://schemas.microsoft.com/office/drawing/2014/main" val="135370449"/>
                  </a:ext>
                </a:extLst>
              </a:tr>
            </a:tbl>
          </a:graphicData>
        </a:graphic>
      </p:graphicFrame>
      <p:sp>
        <p:nvSpPr>
          <p:cNvPr id="5" name="文本框 4">
            <a:extLst>
              <a:ext uri="{FF2B5EF4-FFF2-40B4-BE49-F238E27FC236}">
                <a16:creationId xmlns:a16="http://schemas.microsoft.com/office/drawing/2014/main" id="{2716CA97-E07D-4146-2013-8A2E30AFA512}"/>
              </a:ext>
            </a:extLst>
          </p:cNvPr>
          <p:cNvSpPr txBox="1"/>
          <p:nvPr/>
        </p:nvSpPr>
        <p:spPr>
          <a:xfrm>
            <a:off x="1403648" y="3452468"/>
            <a:ext cx="1512166" cy="369332"/>
          </a:xfrm>
          <a:prstGeom prst="rect">
            <a:avLst/>
          </a:prstGeom>
          <a:noFill/>
        </p:spPr>
        <p:txBody>
          <a:bodyPr wrap="square" rtlCol="0">
            <a:spAutoFit/>
          </a:bodyPr>
          <a:lstStyle/>
          <a:p>
            <a:r>
              <a:rPr lang="zh-CN" altLang="en-US" b="1" dirty="0">
                <a:solidFill>
                  <a:srgbClr val="2FA2A4"/>
                </a:solidFill>
                <a:latin typeface="Times New Roman" panose="02020603050405020304" pitchFamily="18" charset="0"/>
                <a:ea typeface="华文楷体" panose="02010600040101010101" pitchFamily="2" charset="-122"/>
                <a:cs typeface="Times New Roman" panose="02020603050405020304" pitchFamily="18" charset="0"/>
              </a:rPr>
              <a:t>原始</a:t>
            </a:r>
            <a:r>
              <a:rPr lang="en-US" altLang="zh-CN" b="1" dirty="0">
                <a:solidFill>
                  <a:srgbClr val="2FA2A4"/>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b="1" dirty="0">
                <a:solidFill>
                  <a:srgbClr val="2FA2A4"/>
                </a:solidFill>
                <a:latin typeface="Times New Roman" panose="02020603050405020304" pitchFamily="18" charset="0"/>
                <a:ea typeface="华文楷体" panose="02010600040101010101" pitchFamily="2" charset="-122"/>
                <a:cs typeface="Times New Roman" panose="02020603050405020304" pitchFamily="18" charset="0"/>
              </a:rPr>
              <a:t>包</a:t>
            </a:r>
          </a:p>
        </p:txBody>
      </p:sp>
      <p:sp>
        <p:nvSpPr>
          <p:cNvPr id="6" name="文本框 5">
            <a:extLst>
              <a:ext uri="{FF2B5EF4-FFF2-40B4-BE49-F238E27FC236}">
                <a16:creationId xmlns:a16="http://schemas.microsoft.com/office/drawing/2014/main" id="{048FB248-D462-9726-4A10-084D3D3280C8}"/>
              </a:ext>
            </a:extLst>
          </p:cNvPr>
          <p:cNvSpPr txBox="1"/>
          <p:nvPr/>
        </p:nvSpPr>
        <p:spPr>
          <a:xfrm>
            <a:off x="1403648" y="4079827"/>
            <a:ext cx="1512166" cy="369332"/>
          </a:xfrm>
          <a:prstGeom prst="rect">
            <a:avLst/>
          </a:prstGeom>
          <a:noFill/>
        </p:spPr>
        <p:txBody>
          <a:bodyPr wrap="square" rtlCol="0">
            <a:spAutoFit/>
          </a:bodyPr>
          <a:lstStyle/>
          <a:p>
            <a:r>
              <a:rPr lang="zh-CN" altLang="en-US" b="1" dirty="0">
                <a:solidFill>
                  <a:srgbClr val="2FA2A4"/>
                </a:solidFill>
                <a:latin typeface="华文楷体" panose="02010600040101010101" pitchFamily="2" charset="-122"/>
                <a:ea typeface="华文楷体" panose="02010600040101010101" pitchFamily="2" charset="-122"/>
              </a:rPr>
              <a:t>传输模式</a:t>
            </a:r>
          </a:p>
        </p:txBody>
      </p:sp>
    </p:spTree>
    <p:extLst>
      <p:ext uri="{BB962C8B-B14F-4D97-AF65-F5344CB8AC3E}">
        <p14:creationId xmlns:p14="http://schemas.microsoft.com/office/powerpoint/2010/main" val="194900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2871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隧道模式</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隧道模式是对上层协议和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报头都提供安全服务</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隧道模式适合于路由到路由或端到路由的安全通信</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封装方式：增加新的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（外网</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）头，其后是</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报头，之后再将原来的整个数据包封装</a:t>
            </a:r>
          </a:p>
          <a:p>
            <a:pPr marL="285750" indent="-285750">
              <a:lnSpc>
                <a:spcPct val="130000"/>
              </a:lnSpc>
              <a:spcBef>
                <a:spcPts val="300"/>
              </a:spcBef>
              <a:spcAft>
                <a:spcPts val="300"/>
              </a:spcAft>
              <a:buFont typeface="Wingdings" panose="05000000000000000000" pitchFamily="2" charset="2"/>
              <a:buChar char="ü"/>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graphicFrame>
        <p:nvGraphicFramePr>
          <p:cNvPr id="2" name="表格 4">
            <a:extLst>
              <a:ext uri="{FF2B5EF4-FFF2-40B4-BE49-F238E27FC236}">
                <a16:creationId xmlns:a16="http://schemas.microsoft.com/office/drawing/2014/main" id="{6B50EF29-5529-2D08-D6A1-43FEE25E7597}"/>
              </a:ext>
            </a:extLst>
          </p:cNvPr>
          <p:cNvGraphicFramePr>
            <a:graphicFrameLocks noGrp="1"/>
          </p:cNvGraphicFramePr>
          <p:nvPr>
            <p:extLst>
              <p:ext uri="{D42A27DB-BD31-4B8C-83A1-F6EECF244321}">
                <p14:modId xmlns:p14="http://schemas.microsoft.com/office/powerpoint/2010/main" val="225364413"/>
              </p:ext>
            </p:extLst>
          </p:nvPr>
        </p:nvGraphicFramePr>
        <p:xfrm>
          <a:off x="2915816" y="3130134"/>
          <a:ext cx="3600399" cy="370840"/>
        </p:xfrm>
        <a:graphic>
          <a:graphicData uri="http://schemas.openxmlformats.org/drawingml/2006/table">
            <a:tbl>
              <a:tblPr firstRow="1" bandRow="1">
                <a:tableStyleId>{5C22544A-7EE6-4342-B048-85BDC9FD1C3A}</a:tableStyleId>
              </a:tblPr>
              <a:tblGrid>
                <a:gridCol w="1200133">
                  <a:extLst>
                    <a:ext uri="{9D8B030D-6E8A-4147-A177-3AD203B41FA5}">
                      <a16:colId xmlns:a16="http://schemas.microsoft.com/office/drawing/2014/main" val="2327432108"/>
                    </a:ext>
                  </a:extLst>
                </a:gridCol>
                <a:gridCol w="1200133">
                  <a:extLst>
                    <a:ext uri="{9D8B030D-6E8A-4147-A177-3AD203B41FA5}">
                      <a16:colId xmlns:a16="http://schemas.microsoft.com/office/drawing/2014/main" val="1368599666"/>
                    </a:ext>
                  </a:extLst>
                </a:gridCol>
                <a:gridCol w="1200133">
                  <a:extLst>
                    <a:ext uri="{9D8B030D-6E8A-4147-A177-3AD203B41FA5}">
                      <a16:colId xmlns:a16="http://schemas.microsoft.com/office/drawing/2014/main" val="363915792"/>
                    </a:ext>
                  </a:extLst>
                </a:gridCol>
              </a:tblGrid>
              <a:tr h="370840">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p>
                  </a:txBody>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TCP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p>
                  </a:txBody>
                  <a:tcPr/>
                </a:tc>
                <a:tc>
                  <a:txBody>
                    <a:bodyPr/>
                    <a:lstStyle/>
                    <a:p>
                      <a:pPr algn="ct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数据</a:t>
                      </a:r>
                    </a:p>
                  </a:txBody>
                  <a:tcPr/>
                </a:tc>
                <a:extLst>
                  <a:ext uri="{0D108BD9-81ED-4DB2-BD59-A6C34878D82A}">
                    <a16:rowId xmlns:a16="http://schemas.microsoft.com/office/drawing/2014/main" val="135370449"/>
                  </a:ext>
                </a:extLst>
              </a:tr>
            </a:tbl>
          </a:graphicData>
        </a:graphic>
      </p:graphicFrame>
      <p:sp>
        <p:nvSpPr>
          <p:cNvPr id="5" name="文本框 4">
            <a:extLst>
              <a:ext uri="{FF2B5EF4-FFF2-40B4-BE49-F238E27FC236}">
                <a16:creationId xmlns:a16="http://schemas.microsoft.com/office/drawing/2014/main" id="{2716CA97-E07D-4146-2013-8A2E30AFA512}"/>
              </a:ext>
            </a:extLst>
          </p:cNvPr>
          <p:cNvSpPr txBox="1"/>
          <p:nvPr/>
        </p:nvSpPr>
        <p:spPr>
          <a:xfrm>
            <a:off x="1043608" y="3130888"/>
            <a:ext cx="1512166" cy="400110"/>
          </a:xfrm>
          <a:prstGeom prst="rect">
            <a:avLst/>
          </a:prstGeom>
          <a:noFill/>
        </p:spPr>
        <p:txBody>
          <a:bodyPr wrap="square" rtlCol="0">
            <a:spAutoFit/>
          </a:bodyPr>
          <a:lstStyle/>
          <a:p>
            <a:r>
              <a:rPr lang="zh-CN" altLang="en-US" sz="2000" b="1" dirty="0">
                <a:solidFill>
                  <a:srgbClr val="2FA2A4"/>
                </a:solidFill>
                <a:latin typeface="华文楷体" panose="02010600040101010101" pitchFamily="2" charset="-122"/>
                <a:ea typeface="华文楷体" panose="02010600040101010101" pitchFamily="2" charset="-122"/>
              </a:rPr>
              <a:t>原始</a:t>
            </a:r>
            <a:r>
              <a:rPr lang="en-US" altLang="zh-CN" sz="2000" b="1" dirty="0">
                <a:solidFill>
                  <a:srgbClr val="2FA2A4"/>
                </a:solidFill>
                <a:latin typeface="华文楷体" panose="02010600040101010101" pitchFamily="2" charset="-122"/>
                <a:ea typeface="华文楷体" panose="02010600040101010101" pitchFamily="2" charset="-122"/>
              </a:rPr>
              <a:t>IP</a:t>
            </a:r>
            <a:r>
              <a:rPr lang="zh-CN" altLang="en-US" sz="2000" b="1" dirty="0">
                <a:solidFill>
                  <a:srgbClr val="2FA2A4"/>
                </a:solidFill>
                <a:latin typeface="华文楷体" panose="02010600040101010101" pitchFamily="2" charset="-122"/>
                <a:ea typeface="华文楷体" panose="02010600040101010101" pitchFamily="2" charset="-122"/>
              </a:rPr>
              <a:t>包</a:t>
            </a:r>
          </a:p>
        </p:txBody>
      </p:sp>
      <p:sp>
        <p:nvSpPr>
          <p:cNvPr id="6" name="文本框 5">
            <a:extLst>
              <a:ext uri="{FF2B5EF4-FFF2-40B4-BE49-F238E27FC236}">
                <a16:creationId xmlns:a16="http://schemas.microsoft.com/office/drawing/2014/main" id="{048FB248-D462-9726-4A10-084D3D3280C8}"/>
              </a:ext>
            </a:extLst>
          </p:cNvPr>
          <p:cNvSpPr txBox="1"/>
          <p:nvPr/>
        </p:nvSpPr>
        <p:spPr>
          <a:xfrm>
            <a:off x="1043608" y="3758247"/>
            <a:ext cx="1512166" cy="400110"/>
          </a:xfrm>
          <a:prstGeom prst="rect">
            <a:avLst/>
          </a:prstGeom>
          <a:noFill/>
        </p:spPr>
        <p:txBody>
          <a:bodyPr wrap="square" rtlCol="0">
            <a:spAutoFit/>
          </a:bodyPr>
          <a:lstStyle/>
          <a:p>
            <a:r>
              <a:rPr lang="zh-CN" altLang="en-US" sz="2000" b="1" dirty="0">
                <a:solidFill>
                  <a:srgbClr val="2FA2A4"/>
                </a:solidFill>
                <a:latin typeface="华文楷体" panose="02010600040101010101" pitchFamily="2" charset="-122"/>
                <a:ea typeface="华文楷体" panose="02010600040101010101" pitchFamily="2" charset="-122"/>
              </a:rPr>
              <a:t>隧道模式</a:t>
            </a:r>
          </a:p>
        </p:txBody>
      </p:sp>
      <p:graphicFrame>
        <p:nvGraphicFramePr>
          <p:cNvPr id="7" name="表格 4">
            <a:extLst>
              <a:ext uri="{FF2B5EF4-FFF2-40B4-BE49-F238E27FC236}">
                <a16:creationId xmlns:a16="http://schemas.microsoft.com/office/drawing/2014/main" id="{6B44A748-E945-C241-555F-088B6305AEC2}"/>
              </a:ext>
            </a:extLst>
          </p:cNvPr>
          <p:cNvGraphicFramePr>
            <a:graphicFrameLocks noGrp="1"/>
          </p:cNvGraphicFramePr>
          <p:nvPr>
            <p:extLst>
              <p:ext uri="{D42A27DB-BD31-4B8C-83A1-F6EECF244321}">
                <p14:modId xmlns:p14="http://schemas.microsoft.com/office/powerpoint/2010/main" val="1720467651"/>
              </p:ext>
            </p:extLst>
          </p:nvPr>
        </p:nvGraphicFramePr>
        <p:xfrm>
          <a:off x="2915816" y="3795886"/>
          <a:ext cx="5832500" cy="370840"/>
        </p:xfrm>
        <a:graphic>
          <a:graphicData uri="http://schemas.openxmlformats.org/drawingml/2006/table">
            <a:tbl>
              <a:tblPr firstRow="1" bandRow="1">
                <a:tableStyleId>{5C22544A-7EE6-4342-B048-85BDC9FD1C3A}</a:tableStyleId>
              </a:tblPr>
              <a:tblGrid>
                <a:gridCol w="1166500">
                  <a:extLst>
                    <a:ext uri="{9D8B030D-6E8A-4147-A177-3AD203B41FA5}">
                      <a16:colId xmlns:a16="http://schemas.microsoft.com/office/drawing/2014/main" val="2327432108"/>
                    </a:ext>
                  </a:extLst>
                </a:gridCol>
                <a:gridCol w="1166500">
                  <a:extLst>
                    <a:ext uri="{9D8B030D-6E8A-4147-A177-3AD203B41FA5}">
                      <a16:colId xmlns:a16="http://schemas.microsoft.com/office/drawing/2014/main" val="1368599666"/>
                    </a:ext>
                  </a:extLst>
                </a:gridCol>
                <a:gridCol w="1166500">
                  <a:extLst>
                    <a:ext uri="{9D8B030D-6E8A-4147-A177-3AD203B41FA5}">
                      <a16:colId xmlns:a16="http://schemas.microsoft.com/office/drawing/2014/main" val="363915792"/>
                    </a:ext>
                  </a:extLst>
                </a:gridCol>
                <a:gridCol w="1166500">
                  <a:extLst>
                    <a:ext uri="{9D8B030D-6E8A-4147-A177-3AD203B41FA5}">
                      <a16:colId xmlns:a16="http://schemas.microsoft.com/office/drawing/2014/main" val="2981950157"/>
                    </a:ext>
                  </a:extLst>
                </a:gridCol>
                <a:gridCol w="1166500">
                  <a:extLst>
                    <a:ext uri="{9D8B030D-6E8A-4147-A177-3AD203B41FA5}">
                      <a16:colId xmlns:a16="http://schemas.microsoft.com/office/drawing/2014/main" val="2565688947"/>
                    </a:ext>
                  </a:extLst>
                </a:gridCol>
              </a:tblGrid>
              <a:tr h="370840">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p>
                  </a:txBody>
                  <a:tcPr>
                    <a:solidFill>
                      <a:srgbClr val="00B050"/>
                    </a:solidFill>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p>
                  </a:txBody>
                  <a:tcPr>
                    <a:solidFill>
                      <a:srgbClr val="FF9899"/>
                    </a:solidFill>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p>
                  </a:txBody>
                  <a:tcPr/>
                </a:tc>
                <a:tc>
                  <a:txBody>
                    <a:bodyPr/>
                    <a:lstStyle/>
                    <a:p>
                      <a:pPr algn="ct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TCP</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头</a:t>
                      </a:r>
                    </a:p>
                  </a:txBody>
                  <a:tcPr/>
                </a:tc>
                <a:tc>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数据</a:t>
                      </a:r>
                    </a:p>
                  </a:txBody>
                  <a:tcPr/>
                </a:tc>
                <a:extLst>
                  <a:ext uri="{0D108BD9-81ED-4DB2-BD59-A6C34878D82A}">
                    <a16:rowId xmlns:a16="http://schemas.microsoft.com/office/drawing/2014/main" val="135370449"/>
                  </a:ext>
                </a:extLst>
              </a:tr>
            </a:tbl>
          </a:graphicData>
        </a:graphic>
      </p:graphicFrame>
    </p:spTree>
    <p:extLst>
      <p:ext uri="{BB962C8B-B14F-4D97-AF65-F5344CB8AC3E}">
        <p14:creationId xmlns:p14="http://schemas.microsoft.com/office/powerpoint/2010/main" val="17174468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5754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IPSec</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工作模式比较</a:t>
            </a:r>
          </a:p>
          <a:p>
            <a:pPr marL="285750" indent="-285750">
              <a:lnSpc>
                <a:spcPct val="130000"/>
              </a:lnSpc>
              <a:spcBef>
                <a:spcPts val="300"/>
              </a:spcBef>
              <a:spcAft>
                <a:spcPts val="300"/>
              </a:spcAft>
              <a:buFont typeface="Wingdings" panose="05000000000000000000" pitchFamily="2" charset="2"/>
              <a:buChar char="ü"/>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graphicFrame>
        <p:nvGraphicFramePr>
          <p:cNvPr id="4" name="表格 3">
            <a:extLst>
              <a:ext uri="{FF2B5EF4-FFF2-40B4-BE49-F238E27FC236}">
                <a16:creationId xmlns:a16="http://schemas.microsoft.com/office/drawing/2014/main" id="{867D2EF2-F8AB-4AFD-9FC4-A7A944734EB4}"/>
              </a:ext>
            </a:extLst>
          </p:cNvPr>
          <p:cNvGraphicFramePr>
            <a:graphicFrameLocks noGrp="1"/>
          </p:cNvGraphicFramePr>
          <p:nvPr>
            <p:custDataLst>
              <p:tags r:id="rId1"/>
            </p:custDataLst>
            <p:extLst>
              <p:ext uri="{D42A27DB-BD31-4B8C-83A1-F6EECF244321}">
                <p14:modId xmlns:p14="http://schemas.microsoft.com/office/powerpoint/2010/main" val="3413637821"/>
              </p:ext>
            </p:extLst>
          </p:nvPr>
        </p:nvGraphicFramePr>
        <p:xfrm>
          <a:off x="719571" y="1563638"/>
          <a:ext cx="7704857" cy="2732999"/>
        </p:xfrm>
        <a:graphic>
          <a:graphicData uri="http://schemas.openxmlformats.org/drawingml/2006/table">
            <a:tbl>
              <a:tblPr>
                <a:tableStyleId>{69C7853C-536D-4A76-A0AE-DD22124D55A5}</a:tableStyleId>
              </a:tblPr>
              <a:tblGrid>
                <a:gridCol w="1152128">
                  <a:extLst>
                    <a:ext uri="{9D8B030D-6E8A-4147-A177-3AD203B41FA5}">
                      <a16:colId xmlns:a16="http://schemas.microsoft.com/office/drawing/2014/main" val="20000"/>
                    </a:ext>
                  </a:extLst>
                </a:gridCol>
                <a:gridCol w="3168352">
                  <a:extLst>
                    <a:ext uri="{9D8B030D-6E8A-4147-A177-3AD203B41FA5}">
                      <a16:colId xmlns:a16="http://schemas.microsoft.com/office/drawing/2014/main" val="20001"/>
                    </a:ext>
                  </a:extLst>
                </a:gridCol>
                <a:gridCol w="3384377">
                  <a:extLst>
                    <a:ext uri="{9D8B030D-6E8A-4147-A177-3AD203B41FA5}">
                      <a16:colId xmlns:a16="http://schemas.microsoft.com/office/drawing/2014/main" val="20002"/>
                    </a:ext>
                  </a:extLst>
                </a:gridCol>
              </a:tblGrid>
              <a:tr h="500380">
                <a:tc>
                  <a:txBody>
                    <a:bodyPr/>
                    <a:lstStyle/>
                    <a:p>
                      <a:pPr marL="0" marR="0" indent="269875" algn="l">
                        <a:spcBef>
                          <a:spcPts val="0"/>
                        </a:spcBef>
                        <a:spcAft>
                          <a:spcPts val="0"/>
                        </a:spcAft>
                      </a:pPr>
                      <a:endParaRPr lang="zh-CN" altLang="en-US" sz="1800" b="1" dirty="0">
                        <a:solidFill>
                          <a:schemeClr val="tx2"/>
                        </a:solidFill>
                        <a:latin typeface="华文楷体" panose="02010600040101010101" pitchFamily="2" charset="-122"/>
                        <a:ea typeface="华文楷体" panose="02010600040101010101" pitchFamily="2" charset="-122"/>
                      </a:endParaRPr>
                    </a:p>
                  </a:txBody>
                  <a:tcPr marL="68580" marR="68580" anchor="ctr"/>
                </a:tc>
                <a:tc>
                  <a:txBody>
                    <a:bodyPr/>
                    <a:lstStyle/>
                    <a:p>
                      <a:pPr marL="266700" marR="0" indent="266700" algn="ctr">
                        <a:spcBef>
                          <a:spcPts val="0"/>
                        </a:spcBef>
                        <a:spcAft>
                          <a:spcPts val="0"/>
                        </a:spcAft>
                      </a:pPr>
                      <a:r>
                        <a:rPr lang="zh-CN" altLang="en-US" sz="1800" b="1" dirty="0">
                          <a:solidFill>
                            <a:schemeClr val="tx2"/>
                          </a:solidFill>
                          <a:latin typeface="华文楷体" panose="02010600040101010101" pitchFamily="2" charset="-122"/>
                          <a:ea typeface="华文楷体" panose="02010600040101010101" pitchFamily="2" charset="-122"/>
                        </a:rPr>
                        <a:t>传输模式</a:t>
                      </a:r>
                    </a:p>
                  </a:txBody>
                  <a:tcPr marL="68580" marR="68580" anchor="ctr"/>
                </a:tc>
                <a:tc>
                  <a:txBody>
                    <a:bodyPr/>
                    <a:lstStyle/>
                    <a:p>
                      <a:pPr marL="266700" marR="0" indent="266700" algn="ctr">
                        <a:spcBef>
                          <a:spcPts val="0"/>
                        </a:spcBef>
                        <a:spcAft>
                          <a:spcPts val="0"/>
                        </a:spcAft>
                      </a:pPr>
                      <a:r>
                        <a:rPr lang="zh-CN" altLang="en-US" sz="1800" b="1" dirty="0">
                          <a:solidFill>
                            <a:schemeClr val="tx2"/>
                          </a:solidFill>
                          <a:latin typeface="华文楷体" panose="02010600040101010101" pitchFamily="2" charset="-122"/>
                          <a:ea typeface="华文楷体" panose="02010600040101010101" pitchFamily="2" charset="-122"/>
                        </a:rPr>
                        <a:t>隧道模式</a:t>
                      </a:r>
                    </a:p>
                  </a:txBody>
                  <a:tcPr marL="68580" marR="68580" anchor="ctr"/>
                </a:tc>
                <a:extLst>
                  <a:ext uri="{0D108BD9-81ED-4DB2-BD59-A6C34878D82A}">
                    <a16:rowId xmlns:a16="http://schemas.microsoft.com/office/drawing/2014/main" val="10000"/>
                  </a:ext>
                </a:extLst>
              </a:tr>
              <a:tr h="398666">
                <a:tc>
                  <a:txBody>
                    <a:bodyPr/>
                    <a:lstStyle/>
                    <a:p>
                      <a:pPr marL="0" marR="0" indent="269875" algn="l">
                        <a:spcBef>
                          <a:spcPts val="0"/>
                        </a:spcBef>
                        <a:spcAft>
                          <a:spcPts val="0"/>
                        </a:spcAft>
                      </a:pPr>
                      <a:r>
                        <a:rPr lang="en-US" sz="16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AH</a:t>
                      </a: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验证</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有效载荷和</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报头及</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IPv6</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扩展报头的选择部分</a:t>
                      </a: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验证各个内部的</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包（内部报头加上</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有效载荷），加上外部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报头和外部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IPv6</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扩展报头的选择部分</a:t>
                      </a:r>
                    </a:p>
                  </a:txBody>
                  <a:tcPr marL="68580" marR="68580" anchor="ctr" anchorCtr="1"/>
                </a:tc>
                <a:extLst>
                  <a:ext uri="{0D108BD9-81ED-4DB2-BD59-A6C34878D82A}">
                    <a16:rowId xmlns:a16="http://schemas.microsoft.com/office/drawing/2014/main" val="10001"/>
                  </a:ext>
                </a:extLst>
              </a:tr>
              <a:tr h="431109">
                <a:tc>
                  <a:txBody>
                    <a:bodyPr/>
                    <a:lstStyle/>
                    <a:p>
                      <a:pPr marL="0" marR="0" indent="269875" algn="l">
                        <a:spcBef>
                          <a:spcPts val="0"/>
                        </a:spcBef>
                        <a:spcAft>
                          <a:spcPts val="0"/>
                        </a:spcAft>
                      </a:pPr>
                      <a:r>
                        <a:rPr lang="en-US" sz="16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ESP</a:t>
                      </a: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加密</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有效载荷和跟在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报头后面的任何</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IPv6</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扩展</a:t>
                      </a: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加密内部</a:t>
                      </a:r>
                      <a:r>
                        <a:rPr 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包</a:t>
                      </a:r>
                    </a:p>
                  </a:txBody>
                  <a:tcPr marL="68580" marR="68580" anchor="ctr" anchorCtr="1"/>
                </a:tc>
                <a:extLst>
                  <a:ext uri="{0D108BD9-81ED-4DB2-BD59-A6C34878D82A}">
                    <a16:rowId xmlns:a16="http://schemas.microsoft.com/office/drawing/2014/main" val="10002"/>
                  </a:ext>
                </a:extLst>
              </a:tr>
              <a:tr h="830539">
                <a:tc>
                  <a:txBody>
                    <a:bodyPr/>
                    <a:lstStyle/>
                    <a:p>
                      <a:pPr marL="0" marR="0" indent="0" algn="l">
                        <a:spcBef>
                          <a:spcPts val="0"/>
                        </a:spcBef>
                        <a:spcAft>
                          <a:spcPts val="0"/>
                        </a:spcAft>
                      </a:pPr>
                      <a:r>
                        <a:rPr lang="zh-CN" altLang="en-US" sz="16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具有身份验证的</a:t>
                      </a:r>
                      <a:r>
                        <a:rPr lang="en-US" altLang="zh-CN" sz="1600" b="1"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ESP</a:t>
                      </a: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加密</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有效载荷和跟在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ESP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报头后面的任何</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IPv6</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扩展；验证</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有效载荷，但没有</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报头</a:t>
                      </a:r>
                    </a:p>
                  </a:txBody>
                  <a:tcPr marL="68580" marR="68580" anchor="ctr" anchorCtr="1"/>
                </a:tc>
                <a:tc>
                  <a:txBody>
                    <a:bodyPr/>
                    <a:lstStyle/>
                    <a:p>
                      <a:pPr marL="0" marR="0" indent="0" algn="l">
                        <a:spcBef>
                          <a:spcPts val="0"/>
                        </a:spcBef>
                        <a:spcAft>
                          <a:spcPts val="0"/>
                        </a:spcAft>
                      </a:pP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加密内部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包和验证内部</a:t>
                      </a:r>
                      <a:r>
                        <a:rPr lang="en-US" altLang="zh-CN"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IP</a:t>
                      </a:r>
                      <a:r>
                        <a:rPr lang="zh-CN" altLang="en-US" sz="1600" b="0" dirty="0">
                          <a:solidFill>
                            <a:schemeClr val="tx2"/>
                          </a:solidFill>
                          <a:latin typeface="Times New Roman" panose="02020603050405020304" pitchFamily="18" charset="0"/>
                          <a:ea typeface="华文楷体" panose="02010600040101010101" pitchFamily="2" charset="-122"/>
                          <a:cs typeface="Times New Roman" panose="02020603050405020304" pitchFamily="18" charset="0"/>
                        </a:rPr>
                        <a:t>包</a:t>
                      </a:r>
                    </a:p>
                  </a:txBody>
                  <a:tcPr marL="68580" marR="68580" anchor="ctr" anchorCtr="1"/>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2838217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4157420"/>
          </a:xfrm>
          <a:prstGeom prst="rect">
            <a:avLst/>
          </a:prstGeom>
          <a:noFill/>
        </p:spPr>
        <p:txBody>
          <a:bodyPr wrap="square" rtlCol="0">
            <a:spAutoFit/>
          </a:bodyPr>
          <a:lstStyle/>
          <a:p>
            <a:pPr marL="342900" indent="-342900">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安全关联</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SA</a:t>
            </a: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的概念是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的基础。</a:t>
            </a: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是发送与接收者之间对某些要素的一种协定，如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协议的使用、协议的操作模式、密码算法、密钥、用于保护它们之间数据流的主密钥的生存期等。</a:t>
            </a: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安全关联是策略和密钥的结合，定义了保护端到端通信的安全服务、机制和密钥。</a:t>
            </a: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可以看成是两个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对等端之间的一条隧道，可以为不同类型的流量创建独立的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。比如为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创建独立的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，也可以为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UDP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创建独立的</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是单向的，如果需要一个对等关系，即双向安全交换，则需要两个</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2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提供的具体安全服务取决于所选的安全协议（</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或</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）、模式、</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作用的两端点和安全协议所需的服务。</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38567034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9499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每个</a:t>
            </a:r>
            <a:r>
              <a:rPr lang="en-US" altLang="zh-CN"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SA</a:t>
            </a: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通过三个参数来唯一标识   </a:t>
            </a: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安全参数索引 </a:t>
            </a: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Security Parameters Index)</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一个</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位位串，由</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AH</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ESP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携带，使得接收系统能选择合适的</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处理接收数据报。</a:t>
            </a:r>
          </a:p>
          <a:p>
            <a:pPr marL="800040" lvl="1" indent="-342900">
              <a:lnSpc>
                <a:spcPct val="130000"/>
              </a:lnSpc>
              <a:spcBef>
                <a:spcPts val="300"/>
              </a:spcBef>
              <a:spcAft>
                <a:spcPts val="300"/>
              </a:spcAft>
              <a:buFont typeface="Arial" panose="020B0604020202020204" pitchFamily="34" charset="0"/>
              <a:buChar char="•"/>
            </a:pP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对一个单播的</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来说，</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本身就可确定一个</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，或与</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协议类型一起来确定</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，这是因为</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的值是由接收端产生的，这时</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是必需的字段；</a:t>
            </a:r>
          </a:p>
          <a:p>
            <a:pPr marL="800040" lvl="1" indent="-342900">
              <a:lnSpc>
                <a:spcPct val="130000"/>
              </a:lnSpc>
              <a:spcBef>
                <a:spcPts val="300"/>
              </a:spcBef>
              <a:spcAft>
                <a:spcPts val="300"/>
              </a:spcAft>
              <a:buFont typeface="Arial" panose="020B0604020202020204" pitchFamily="34" charset="0"/>
              <a:buChar char="•"/>
            </a:pP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对多播的</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束来说，</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和可选的</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协议号加上目的地址一起指定一个</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，因为多播的</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束是由一个多播控制器产生而不是</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IPSec</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接收者产生，其中</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1-255</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之间的</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值被</a:t>
            </a:r>
            <a:r>
              <a:rPr lang="en-US" altLang="zh-CN"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IANA</a:t>
            </a:r>
            <a:r>
              <a:rPr lang="zh-CN" altLang="en-US" sz="14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保留将来使用。</a:t>
            </a:r>
          </a:p>
          <a:p>
            <a:pPr marL="342900" indent="-342900">
              <a:lnSpc>
                <a:spcPct val="130000"/>
              </a:lnSpc>
              <a:spcBef>
                <a:spcPts val="300"/>
              </a:spcBef>
              <a:spcAft>
                <a:spcPts val="300"/>
              </a:spcAft>
              <a:buFont typeface="Wingdings" panose="05000000000000000000" pitchFamily="2" charset="2"/>
              <a:buChar char="ü"/>
            </a:pP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目的地址：</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表示</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SA</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的目的地址，可以是用户终端系统、防火墙或路由器。</a:t>
            </a: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安全协议标识：</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表示该关联是一个</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AH</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安全关联或</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ESP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安全关联。</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87925983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67183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安全联盟生成方式</a:t>
            </a:r>
          </a:p>
          <a:p>
            <a:pPr marL="342900" indent="-34290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手工方式（</a:t>
            </a:r>
            <a:r>
              <a:rPr lang="pt-B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manual</a:t>
            </a:r>
            <a:r>
              <a:rPr lang="zh-CN" altLang="pt-BR"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pt-B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动态协商（</a:t>
            </a:r>
            <a:r>
              <a:rPr lang="pt-BR"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pt-BR"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动态协商只需要通信对端体间配置好</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协商参数，由</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协议自动协商来创建和维护</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协商建立的安全联盟具有生存周期：</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基于时间的生存周期</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基于流量的生存周期</a:t>
            </a:r>
          </a:p>
          <a:p>
            <a:pPr marL="342900" indent="-342900">
              <a:lnSpc>
                <a:spcPct val="130000"/>
              </a:lnSpc>
              <a:spcBef>
                <a:spcPts val="300"/>
              </a:spcBef>
              <a:spcAft>
                <a:spcPts val="300"/>
              </a:spcAft>
              <a:buFont typeface="Wingdings" panose="05000000000000000000" pitchFamily="2" charset="2"/>
              <a:buChar char="ü"/>
            </a:pPr>
            <a:endParaRPr lang="zh-CN" altLang="en-US" sz="20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29981741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523995"/>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IKE</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协议是</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目前正式确定的密钥交换协议</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是一种混合型协议，由</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Oakley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SKEME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组成，沿用了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的基础，</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Oakley</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的模式以及</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SKEME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的共享和密钥更新技术</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允许四种认证方法，分别是基于数字签名的认证、基于公钥加密的认证、基于修订的公钥加密的认证和基于预共享密钥的认证</a:t>
            </a:r>
          </a:p>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支持如下安全机制：</a:t>
            </a:r>
          </a:p>
          <a:p>
            <a:pPr marL="342900" indent="-342900">
              <a:lnSpc>
                <a:spcPct val="130000"/>
              </a:lnSpc>
              <a:spcBef>
                <a:spcPts val="300"/>
              </a:spcBef>
              <a:spcAft>
                <a:spcPts val="300"/>
              </a:spcAft>
              <a:buFont typeface="Wingdings" panose="05000000000000000000" pitchFamily="2" charset="2"/>
              <a:buChar char="ü"/>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Diffie-Hellman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）交换及秘钥分发</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完善的向前安全向</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FPS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Perfect Forward Secrecy</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身份验证</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身份保护</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spTree>
    <p:extLst>
      <p:ext uri="{BB962C8B-B14F-4D97-AF65-F5344CB8AC3E}">
        <p14:creationId xmlns:p14="http://schemas.microsoft.com/office/powerpoint/2010/main" val="261534610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6771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工作过程</a:t>
            </a:r>
          </a:p>
          <a:p>
            <a:pPr>
              <a:lnSpc>
                <a:spcPct val="130000"/>
              </a:lnSpc>
              <a:spcBef>
                <a:spcPts val="300"/>
              </a:spcBef>
              <a:spcAft>
                <a:spcPts val="300"/>
              </a:spcAft>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经过两个阶段为</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进行密钥协商并建立</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第一阶段交换：</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通信各方彼此间建立了一个已通过身份验证和安全保护的通道，此阶段的交换建立了一个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（也可称为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 SA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第一阶段交换有两种协商模式（</a:t>
            </a:r>
            <a:r>
              <a:rPr lang="zh-CN" altLang="en-US" sz="1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主模式协商</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zh-CN" altLang="en-US" sz="1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野蛮模式协商</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spTree>
    <p:extLst>
      <p:ext uri="{BB962C8B-B14F-4D97-AF65-F5344CB8AC3E}">
        <p14:creationId xmlns:p14="http://schemas.microsoft.com/office/powerpoint/2010/main" val="22843612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478"/>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主模式协商</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sp>
        <p:nvSpPr>
          <p:cNvPr id="4" name="矩形: 圆角 3">
            <a:extLst>
              <a:ext uri="{FF2B5EF4-FFF2-40B4-BE49-F238E27FC236}">
                <a16:creationId xmlns:a16="http://schemas.microsoft.com/office/drawing/2014/main" id="{0C6EE632-FF4D-02FD-4E7F-5855357B9D01}"/>
              </a:ext>
            </a:extLst>
          </p:cNvPr>
          <p:cNvSpPr/>
          <p:nvPr/>
        </p:nvSpPr>
        <p:spPr>
          <a:xfrm>
            <a:off x="2555776" y="1267097"/>
            <a:ext cx="936104" cy="38747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lIns="36000" rIns="36000" rtlCol="0" anchor="ctr"/>
          <a:lstStyle/>
          <a:p>
            <a:pPr algn="ctr"/>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SA</a:t>
            </a: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交换</a:t>
            </a:r>
          </a:p>
        </p:txBody>
      </p:sp>
      <p:sp>
        <p:nvSpPr>
          <p:cNvPr id="5" name="矩形: 圆角 4">
            <a:extLst>
              <a:ext uri="{FF2B5EF4-FFF2-40B4-BE49-F238E27FC236}">
                <a16:creationId xmlns:a16="http://schemas.microsoft.com/office/drawing/2014/main" id="{63EF7631-FCDC-5906-69BA-C07D5FD6BA4D}"/>
              </a:ext>
            </a:extLst>
          </p:cNvPr>
          <p:cNvSpPr/>
          <p:nvPr/>
        </p:nvSpPr>
        <p:spPr>
          <a:xfrm>
            <a:off x="2555776" y="2327788"/>
            <a:ext cx="936104" cy="38747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lIns="36000" rIns="36000" rtlCol="0" anchor="ctr"/>
          <a:lstStyle/>
          <a:p>
            <a:pPr algn="ctr"/>
            <a:r>
              <a:rPr lang="zh-CN" altLang="en-US" sz="1600" b="1" dirty="0">
                <a:latin typeface="Times New Roman" panose="02020603050405020304" pitchFamily="18" charset="0"/>
                <a:ea typeface="华文楷体" panose="02010600040101010101" pitchFamily="2" charset="-122"/>
                <a:cs typeface="Times New Roman" panose="02020603050405020304" pitchFamily="18" charset="0"/>
              </a:rPr>
              <a:t>密钥交换</a:t>
            </a:r>
          </a:p>
        </p:txBody>
      </p:sp>
      <p:sp>
        <p:nvSpPr>
          <p:cNvPr id="6" name="矩形: 圆角 5">
            <a:extLst>
              <a:ext uri="{FF2B5EF4-FFF2-40B4-BE49-F238E27FC236}">
                <a16:creationId xmlns:a16="http://schemas.microsoft.com/office/drawing/2014/main" id="{AADA5455-D99F-5F0A-2CEA-90BCA9E71326}"/>
              </a:ext>
            </a:extLst>
          </p:cNvPr>
          <p:cNvSpPr/>
          <p:nvPr/>
        </p:nvSpPr>
        <p:spPr>
          <a:xfrm>
            <a:off x="2555776" y="3264392"/>
            <a:ext cx="936104" cy="387478"/>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lIns="36000" rIns="36000" rtlCol="0" anchor="ctr"/>
          <a:lstStyle/>
          <a:p>
            <a:pPr algn="ctr"/>
            <a:r>
              <a:rPr lang="en-US" altLang="zh-CN" sz="1400" b="1" dirty="0">
                <a:latin typeface="Times New Roman" panose="02020603050405020304" pitchFamily="18" charset="0"/>
                <a:ea typeface="华文楷体" panose="02010600040101010101" pitchFamily="2" charset="-122"/>
                <a:cs typeface="Times New Roman" panose="02020603050405020304" pitchFamily="18" charset="0"/>
              </a:rPr>
              <a:t>ID</a:t>
            </a:r>
            <a:r>
              <a:rPr lang="zh-CN" altLang="en-US" sz="1400" b="1" dirty="0">
                <a:latin typeface="Times New Roman" panose="02020603050405020304" pitchFamily="18" charset="0"/>
                <a:ea typeface="华文楷体" panose="02010600040101010101" pitchFamily="2" charset="-122"/>
                <a:cs typeface="Times New Roman" panose="02020603050405020304" pitchFamily="18" charset="0"/>
              </a:rPr>
              <a:t>交换及验证</a:t>
            </a:r>
          </a:p>
        </p:txBody>
      </p:sp>
      <p:sp>
        <p:nvSpPr>
          <p:cNvPr id="9" name="矩形: 圆角 8">
            <a:extLst>
              <a:ext uri="{FF2B5EF4-FFF2-40B4-BE49-F238E27FC236}">
                <a16:creationId xmlns:a16="http://schemas.microsoft.com/office/drawing/2014/main" id="{A6FA27CB-F3C8-E35E-871A-63F406069EA7}"/>
              </a:ext>
            </a:extLst>
          </p:cNvPr>
          <p:cNvSpPr/>
          <p:nvPr/>
        </p:nvSpPr>
        <p:spPr>
          <a:xfrm>
            <a:off x="3744652" y="1021314"/>
            <a:ext cx="972000" cy="387478"/>
          </a:xfrm>
          <a:prstGeom prst="roundRect">
            <a:avLst/>
          </a:prstGeom>
          <a:solidFill>
            <a:srgbClr val="CCFFC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发送本端的</a:t>
            </a:r>
            <a:r>
              <a:rPr lang="en-US" altLang="zh-CN"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IKE</a:t>
            </a: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策略信息</a:t>
            </a:r>
          </a:p>
        </p:txBody>
      </p:sp>
      <p:sp>
        <p:nvSpPr>
          <p:cNvPr id="10" name="矩形: 圆角 9">
            <a:extLst>
              <a:ext uri="{FF2B5EF4-FFF2-40B4-BE49-F238E27FC236}">
                <a16:creationId xmlns:a16="http://schemas.microsoft.com/office/drawing/2014/main" id="{81B244CB-D6B3-533B-5F41-E86335D4CEF5}"/>
              </a:ext>
            </a:extLst>
          </p:cNvPr>
          <p:cNvSpPr/>
          <p:nvPr/>
        </p:nvSpPr>
        <p:spPr>
          <a:xfrm>
            <a:off x="3744652" y="1533325"/>
            <a:ext cx="972000" cy="387478"/>
          </a:xfrm>
          <a:prstGeom prst="roundRect">
            <a:avLst/>
          </a:prstGeom>
          <a:solidFill>
            <a:srgbClr val="CCFFC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接收对端确认的策略</a:t>
            </a:r>
          </a:p>
        </p:txBody>
      </p:sp>
      <p:sp>
        <p:nvSpPr>
          <p:cNvPr id="11" name="矩形: 圆角 10">
            <a:extLst>
              <a:ext uri="{FF2B5EF4-FFF2-40B4-BE49-F238E27FC236}">
                <a16:creationId xmlns:a16="http://schemas.microsoft.com/office/drawing/2014/main" id="{85F47074-4970-533E-4D31-4A614C5676C7}"/>
              </a:ext>
            </a:extLst>
          </p:cNvPr>
          <p:cNvSpPr/>
          <p:nvPr/>
        </p:nvSpPr>
        <p:spPr>
          <a:xfrm>
            <a:off x="3744652" y="2057939"/>
            <a:ext cx="972000" cy="387478"/>
          </a:xfrm>
          <a:prstGeom prst="roundRect">
            <a:avLst/>
          </a:prstGeom>
          <a:solidFill>
            <a:srgbClr val="FFC000"/>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发送本端密钥生成信息</a:t>
            </a:r>
          </a:p>
        </p:txBody>
      </p:sp>
      <p:sp>
        <p:nvSpPr>
          <p:cNvPr id="12" name="矩形: 圆角 11">
            <a:extLst>
              <a:ext uri="{FF2B5EF4-FFF2-40B4-BE49-F238E27FC236}">
                <a16:creationId xmlns:a16="http://schemas.microsoft.com/office/drawing/2014/main" id="{9A30262E-018B-DAB1-82FC-48DC764507A0}"/>
              </a:ext>
            </a:extLst>
          </p:cNvPr>
          <p:cNvSpPr/>
          <p:nvPr/>
        </p:nvSpPr>
        <p:spPr>
          <a:xfrm>
            <a:off x="3744652" y="2739857"/>
            <a:ext cx="972000" cy="214753"/>
          </a:xfrm>
          <a:prstGeom prst="roundRect">
            <a:avLst/>
          </a:prstGeom>
          <a:solidFill>
            <a:srgbClr val="FFC000"/>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密钥生成</a:t>
            </a:r>
          </a:p>
        </p:txBody>
      </p:sp>
      <p:sp>
        <p:nvSpPr>
          <p:cNvPr id="13" name="矩形: 圆角 12">
            <a:extLst>
              <a:ext uri="{FF2B5EF4-FFF2-40B4-BE49-F238E27FC236}">
                <a16:creationId xmlns:a16="http://schemas.microsoft.com/office/drawing/2014/main" id="{EDB85702-FC04-B9E7-090B-6F61C448DA0F}"/>
              </a:ext>
            </a:extLst>
          </p:cNvPr>
          <p:cNvSpPr/>
          <p:nvPr/>
        </p:nvSpPr>
        <p:spPr>
          <a:xfrm>
            <a:off x="7164288" y="2230664"/>
            <a:ext cx="1224000" cy="214753"/>
          </a:xfrm>
          <a:prstGeom prst="roundRect">
            <a:avLst/>
          </a:prstGeom>
          <a:solidFill>
            <a:srgbClr val="FFC000"/>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密钥生成</a:t>
            </a:r>
          </a:p>
        </p:txBody>
      </p:sp>
      <p:sp>
        <p:nvSpPr>
          <p:cNvPr id="14" name="矩形: 圆角 13">
            <a:extLst>
              <a:ext uri="{FF2B5EF4-FFF2-40B4-BE49-F238E27FC236}">
                <a16:creationId xmlns:a16="http://schemas.microsoft.com/office/drawing/2014/main" id="{59611A80-725F-6B44-F8D5-9852E49A82E9}"/>
              </a:ext>
            </a:extLst>
          </p:cNvPr>
          <p:cNvSpPr/>
          <p:nvPr/>
        </p:nvSpPr>
        <p:spPr>
          <a:xfrm>
            <a:off x="3744652" y="3016227"/>
            <a:ext cx="972000"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发送本端身份和验证信息</a:t>
            </a:r>
          </a:p>
        </p:txBody>
      </p:sp>
      <p:sp>
        <p:nvSpPr>
          <p:cNvPr id="15" name="矩形: 圆角 14">
            <a:extLst>
              <a:ext uri="{FF2B5EF4-FFF2-40B4-BE49-F238E27FC236}">
                <a16:creationId xmlns:a16="http://schemas.microsoft.com/office/drawing/2014/main" id="{6A70C586-0631-E561-23E7-5193C3DAB405}"/>
              </a:ext>
            </a:extLst>
          </p:cNvPr>
          <p:cNvSpPr/>
          <p:nvPr/>
        </p:nvSpPr>
        <p:spPr>
          <a:xfrm>
            <a:off x="3744652" y="3581346"/>
            <a:ext cx="972000"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身份验证和交换过程验证</a:t>
            </a:r>
          </a:p>
        </p:txBody>
      </p:sp>
      <p:sp>
        <p:nvSpPr>
          <p:cNvPr id="16" name="矩形: 圆角 15">
            <a:extLst>
              <a:ext uri="{FF2B5EF4-FFF2-40B4-BE49-F238E27FC236}">
                <a16:creationId xmlns:a16="http://schemas.microsoft.com/office/drawing/2014/main" id="{82987CB4-4F1F-E824-F856-BC4D92DB9C44}"/>
              </a:ext>
            </a:extLst>
          </p:cNvPr>
          <p:cNvSpPr/>
          <p:nvPr/>
        </p:nvSpPr>
        <p:spPr>
          <a:xfrm>
            <a:off x="7164288" y="2546118"/>
            <a:ext cx="1224000" cy="387478"/>
          </a:xfrm>
          <a:prstGeom prst="roundRect">
            <a:avLst/>
          </a:prstGeom>
          <a:solidFill>
            <a:srgbClr val="FFC000"/>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发送本端密钥生成信息</a:t>
            </a:r>
          </a:p>
        </p:txBody>
      </p:sp>
      <p:sp>
        <p:nvSpPr>
          <p:cNvPr id="17" name="矩形: 圆角 16">
            <a:extLst>
              <a:ext uri="{FF2B5EF4-FFF2-40B4-BE49-F238E27FC236}">
                <a16:creationId xmlns:a16="http://schemas.microsoft.com/office/drawing/2014/main" id="{1B2B5530-6191-4984-5F9D-07752586F19D}"/>
              </a:ext>
            </a:extLst>
          </p:cNvPr>
          <p:cNvSpPr/>
          <p:nvPr/>
        </p:nvSpPr>
        <p:spPr>
          <a:xfrm>
            <a:off x="7164288" y="3016227"/>
            <a:ext cx="1224000"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身份验证和交换过程验证</a:t>
            </a:r>
          </a:p>
        </p:txBody>
      </p:sp>
      <p:sp>
        <p:nvSpPr>
          <p:cNvPr id="18" name="矩形: 圆角 17">
            <a:extLst>
              <a:ext uri="{FF2B5EF4-FFF2-40B4-BE49-F238E27FC236}">
                <a16:creationId xmlns:a16="http://schemas.microsoft.com/office/drawing/2014/main" id="{20A6BAE8-74A1-6BC2-9DCB-1208190D8353}"/>
              </a:ext>
            </a:extLst>
          </p:cNvPr>
          <p:cNvSpPr/>
          <p:nvPr/>
        </p:nvSpPr>
        <p:spPr>
          <a:xfrm>
            <a:off x="7164288" y="3499564"/>
            <a:ext cx="1224000"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发送本端身份和验证信息</a:t>
            </a:r>
          </a:p>
        </p:txBody>
      </p:sp>
      <p:sp>
        <p:nvSpPr>
          <p:cNvPr id="20" name="矩形: 圆角 19">
            <a:extLst>
              <a:ext uri="{FF2B5EF4-FFF2-40B4-BE49-F238E27FC236}">
                <a16:creationId xmlns:a16="http://schemas.microsoft.com/office/drawing/2014/main" id="{EBC70B41-7CC0-1E11-64CC-541C202C0A2C}"/>
              </a:ext>
            </a:extLst>
          </p:cNvPr>
          <p:cNvSpPr/>
          <p:nvPr/>
        </p:nvSpPr>
        <p:spPr>
          <a:xfrm>
            <a:off x="7164288" y="1298232"/>
            <a:ext cx="1224000" cy="387478"/>
          </a:xfrm>
          <a:prstGeom prst="roundRect">
            <a:avLst/>
          </a:prstGeom>
          <a:solidFill>
            <a:srgbClr val="CCFFC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确认对方使用的算法等策略信息</a:t>
            </a:r>
          </a:p>
        </p:txBody>
      </p:sp>
      <p:sp>
        <p:nvSpPr>
          <p:cNvPr id="21" name="左大括号 20">
            <a:extLst>
              <a:ext uri="{FF2B5EF4-FFF2-40B4-BE49-F238E27FC236}">
                <a16:creationId xmlns:a16="http://schemas.microsoft.com/office/drawing/2014/main" id="{4CE460A4-E142-324C-329D-C056AC68F01D}"/>
              </a:ext>
            </a:extLst>
          </p:cNvPr>
          <p:cNvSpPr/>
          <p:nvPr/>
        </p:nvSpPr>
        <p:spPr>
          <a:xfrm>
            <a:off x="3537682" y="1199021"/>
            <a:ext cx="216024" cy="542776"/>
          </a:xfrm>
          <a:prstGeom prst="leftBrace">
            <a:avLst>
              <a:gd name="adj1" fmla="val 28910"/>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左大括号 21">
            <a:extLst>
              <a:ext uri="{FF2B5EF4-FFF2-40B4-BE49-F238E27FC236}">
                <a16:creationId xmlns:a16="http://schemas.microsoft.com/office/drawing/2014/main" id="{184D6331-A53D-3115-5072-9B56A29D90FB}"/>
              </a:ext>
            </a:extLst>
          </p:cNvPr>
          <p:cNvSpPr/>
          <p:nvPr/>
        </p:nvSpPr>
        <p:spPr>
          <a:xfrm>
            <a:off x="3537682" y="2245382"/>
            <a:ext cx="216024" cy="542776"/>
          </a:xfrm>
          <a:prstGeom prst="leftBrace">
            <a:avLst>
              <a:gd name="adj1" fmla="val 28910"/>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左大括号 22">
            <a:extLst>
              <a:ext uri="{FF2B5EF4-FFF2-40B4-BE49-F238E27FC236}">
                <a16:creationId xmlns:a16="http://schemas.microsoft.com/office/drawing/2014/main" id="{F1C54279-C6C8-99A6-AD7E-AF7ABEC1A8EB}"/>
              </a:ext>
            </a:extLst>
          </p:cNvPr>
          <p:cNvSpPr/>
          <p:nvPr/>
        </p:nvSpPr>
        <p:spPr>
          <a:xfrm>
            <a:off x="3525776" y="3189983"/>
            <a:ext cx="216024" cy="542776"/>
          </a:xfrm>
          <a:prstGeom prst="leftBrace">
            <a:avLst>
              <a:gd name="adj1" fmla="val 28910"/>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E85EAAF9-941A-A098-B366-15BD5CE1D375}"/>
              </a:ext>
            </a:extLst>
          </p:cNvPr>
          <p:cNvCxnSpPr/>
          <p:nvPr/>
        </p:nvCxnSpPr>
        <p:spPr>
          <a:xfrm>
            <a:off x="4788024" y="1055021"/>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9ED89EE6-8868-0E40-FBB0-C25C8AE7C097}"/>
              </a:ext>
            </a:extLst>
          </p:cNvPr>
          <p:cNvCxnSpPr/>
          <p:nvPr/>
        </p:nvCxnSpPr>
        <p:spPr>
          <a:xfrm>
            <a:off x="7092280" y="1058745"/>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DA8C55D3-0EDF-7B0D-E9C1-492B6F8CD4F4}"/>
              </a:ext>
            </a:extLst>
          </p:cNvPr>
          <p:cNvCxnSpPr>
            <a:cxnSpLocks/>
          </p:cNvCxnSpPr>
          <p:nvPr/>
        </p:nvCxnSpPr>
        <p:spPr>
          <a:xfrm>
            <a:off x="4775402" y="1177473"/>
            <a:ext cx="2316877" cy="201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694529B4-4BAE-1B9D-A678-6DE687BE3AC3}"/>
              </a:ext>
            </a:extLst>
          </p:cNvPr>
          <p:cNvCxnSpPr/>
          <p:nvPr/>
        </p:nvCxnSpPr>
        <p:spPr>
          <a:xfrm flipH="1">
            <a:off x="4788024" y="1408792"/>
            <a:ext cx="2304256" cy="333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420CCB0A-2BB0-D979-FD32-07EF030D214A}"/>
              </a:ext>
            </a:extLst>
          </p:cNvPr>
          <p:cNvCxnSpPr>
            <a:cxnSpLocks/>
          </p:cNvCxnSpPr>
          <p:nvPr/>
        </p:nvCxnSpPr>
        <p:spPr>
          <a:xfrm>
            <a:off x="4788024" y="2156871"/>
            <a:ext cx="2316877" cy="201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A7DB37D9-2B94-0FAC-B105-5E756E12B3CE}"/>
              </a:ext>
            </a:extLst>
          </p:cNvPr>
          <p:cNvCxnSpPr/>
          <p:nvPr/>
        </p:nvCxnSpPr>
        <p:spPr>
          <a:xfrm flipH="1">
            <a:off x="4824029" y="2583573"/>
            <a:ext cx="2304256" cy="333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D9B4A7A7-BE99-5B97-6597-23A6ABD08C96}"/>
              </a:ext>
            </a:extLst>
          </p:cNvPr>
          <p:cNvCxnSpPr>
            <a:cxnSpLocks/>
          </p:cNvCxnSpPr>
          <p:nvPr/>
        </p:nvCxnSpPr>
        <p:spPr>
          <a:xfrm>
            <a:off x="4795964" y="3109144"/>
            <a:ext cx="2316877" cy="2016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3D61CC1F-1F4E-F07C-F706-A8159EE3FC3E}"/>
              </a:ext>
            </a:extLst>
          </p:cNvPr>
          <p:cNvCxnSpPr/>
          <p:nvPr/>
        </p:nvCxnSpPr>
        <p:spPr>
          <a:xfrm flipH="1">
            <a:off x="4800645" y="3554037"/>
            <a:ext cx="2304256" cy="33300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F66E7FE9-54A3-3F64-1570-2AE6ECDA4407}"/>
              </a:ext>
            </a:extLst>
          </p:cNvPr>
          <p:cNvSpPr txBox="1"/>
          <p:nvPr/>
        </p:nvSpPr>
        <p:spPr>
          <a:xfrm rot="300000">
            <a:off x="5468617" y="1011654"/>
            <a:ext cx="929485" cy="307777"/>
          </a:xfrm>
          <a:prstGeom prst="rect">
            <a:avLst/>
          </a:prstGeom>
          <a:noFill/>
        </p:spPr>
        <p:txBody>
          <a:bodyPr wrap="none" rtlCol="0">
            <a:spAutoFit/>
          </a:bodyPr>
          <a:lstStyle/>
          <a:p>
            <a:r>
              <a:rPr lang="zh-CN" altLang="en-US" sz="1400" b="1" dirty="0"/>
              <a:t>① </a:t>
            </a:r>
            <a:r>
              <a:rPr lang="en-US" altLang="zh-CN" sz="1400" b="1" dirty="0"/>
              <a:t>C</a:t>
            </a:r>
            <a:r>
              <a:rPr lang="en-US" altLang="zh-CN" sz="1400" b="1" baseline="-25000" dirty="0"/>
              <a:t>i  </a:t>
            </a:r>
            <a:r>
              <a:rPr lang="en-US" altLang="zh-CN" sz="1400" b="1" dirty="0"/>
              <a:t>,  </a:t>
            </a:r>
            <a:r>
              <a:rPr lang="en-US" altLang="zh-CN" sz="1400" b="1" dirty="0" err="1"/>
              <a:t>SA</a:t>
            </a:r>
            <a:r>
              <a:rPr lang="en-US" altLang="zh-CN" sz="1400" b="1" baseline="-25000" dirty="0" err="1"/>
              <a:t>i</a:t>
            </a:r>
            <a:endParaRPr lang="zh-CN" altLang="en-US" sz="1400" b="1" baseline="-25000" dirty="0"/>
          </a:p>
        </p:txBody>
      </p:sp>
      <p:sp>
        <p:nvSpPr>
          <p:cNvPr id="38" name="文本框 37">
            <a:extLst>
              <a:ext uri="{FF2B5EF4-FFF2-40B4-BE49-F238E27FC236}">
                <a16:creationId xmlns:a16="http://schemas.microsoft.com/office/drawing/2014/main" id="{212B0C8F-97D3-A11D-437F-EE560F32676B}"/>
              </a:ext>
            </a:extLst>
          </p:cNvPr>
          <p:cNvSpPr txBox="1"/>
          <p:nvPr/>
        </p:nvSpPr>
        <p:spPr>
          <a:xfrm rot="300000">
            <a:off x="5279975" y="1991588"/>
            <a:ext cx="1306768" cy="307777"/>
          </a:xfrm>
          <a:prstGeom prst="rect">
            <a:avLst/>
          </a:prstGeom>
          <a:noFill/>
        </p:spPr>
        <p:txBody>
          <a:bodyPr wrap="none" rtlCol="0">
            <a:spAutoFit/>
          </a:bodyPr>
          <a:lstStyle/>
          <a:p>
            <a:r>
              <a:rPr lang="zh-CN" altLang="en-US" sz="1400" b="1" dirty="0"/>
              <a:t>③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X , N</a:t>
            </a:r>
            <a:r>
              <a:rPr lang="en-US" altLang="zh-CN" sz="1400" b="1" baseline="-25000" dirty="0"/>
              <a:t>i</a:t>
            </a:r>
            <a:endParaRPr lang="zh-CN" altLang="en-US" sz="1400" b="1" baseline="-25000" dirty="0"/>
          </a:p>
        </p:txBody>
      </p:sp>
      <p:sp>
        <p:nvSpPr>
          <p:cNvPr id="39" name="文本框 38">
            <a:extLst>
              <a:ext uri="{FF2B5EF4-FFF2-40B4-BE49-F238E27FC236}">
                <a16:creationId xmlns:a16="http://schemas.microsoft.com/office/drawing/2014/main" id="{2E710F46-77A5-8164-43B0-6A3249BA4926}"/>
              </a:ext>
            </a:extLst>
          </p:cNvPr>
          <p:cNvSpPr txBox="1"/>
          <p:nvPr/>
        </p:nvSpPr>
        <p:spPr>
          <a:xfrm rot="300000">
            <a:off x="5108454" y="2925360"/>
            <a:ext cx="1649811" cy="307777"/>
          </a:xfrm>
          <a:prstGeom prst="rect">
            <a:avLst/>
          </a:prstGeom>
          <a:noFill/>
        </p:spPr>
        <p:txBody>
          <a:bodyPr wrap="none" rtlCol="0">
            <a:spAutoFit/>
          </a:bodyPr>
          <a:lstStyle/>
          <a:p>
            <a:r>
              <a:rPr lang="zh-CN" altLang="en-US" sz="1400" b="1" dirty="0"/>
              <a:t>⑤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ID</a:t>
            </a:r>
            <a:r>
              <a:rPr lang="en-US" altLang="zh-CN" sz="1400" b="1" baseline="-25000" dirty="0"/>
              <a:t>i</a:t>
            </a:r>
            <a:r>
              <a:rPr lang="en-US" altLang="zh-CN" sz="1400" b="1" dirty="0"/>
              <a:t> , </a:t>
            </a:r>
            <a:r>
              <a:rPr lang="en-US" altLang="zh-CN" sz="1400" b="1" dirty="0" err="1"/>
              <a:t>Hash</a:t>
            </a:r>
            <a:r>
              <a:rPr lang="en-US" altLang="zh-CN" sz="1400" b="1" baseline="-25000" dirty="0" err="1"/>
              <a:t>i</a:t>
            </a:r>
            <a:endParaRPr lang="zh-CN" altLang="en-US" sz="1400" b="1" baseline="-25000" dirty="0"/>
          </a:p>
        </p:txBody>
      </p:sp>
      <p:sp>
        <p:nvSpPr>
          <p:cNvPr id="40" name="文本框 39">
            <a:extLst>
              <a:ext uri="{FF2B5EF4-FFF2-40B4-BE49-F238E27FC236}">
                <a16:creationId xmlns:a16="http://schemas.microsoft.com/office/drawing/2014/main" id="{32CCE721-6FD0-EC85-B738-C08DDD24974B}"/>
              </a:ext>
            </a:extLst>
          </p:cNvPr>
          <p:cNvSpPr txBox="1"/>
          <p:nvPr/>
        </p:nvSpPr>
        <p:spPr>
          <a:xfrm rot="-540000">
            <a:off x="5079600" y="3427458"/>
            <a:ext cx="1707519" cy="307777"/>
          </a:xfrm>
          <a:prstGeom prst="rect">
            <a:avLst/>
          </a:prstGeom>
          <a:noFill/>
        </p:spPr>
        <p:txBody>
          <a:bodyPr wrap="none" rtlCol="0">
            <a:spAutoFit/>
          </a:bodyPr>
          <a:lstStyle/>
          <a:p>
            <a:r>
              <a:rPr lang="zh-CN" altLang="en-US" sz="1400" b="1" dirty="0"/>
              <a:t>⑥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ID</a:t>
            </a:r>
            <a:r>
              <a:rPr lang="en-US" altLang="zh-CN" sz="1400" b="1" baseline="-25000" dirty="0"/>
              <a:t>r</a:t>
            </a:r>
            <a:r>
              <a:rPr lang="en-US" altLang="zh-CN" sz="1400" b="1" dirty="0"/>
              <a:t> , Hash</a:t>
            </a:r>
            <a:r>
              <a:rPr lang="en-US" altLang="zh-CN" sz="1400" b="1" baseline="-25000" dirty="0"/>
              <a:t>r</a:t>
            </a:r>
            <a:endParaRPr lang="zh-CN" altLang="en-US" sz="1400" b="1" baseline="-25000" dirty="0"/>
          </a:p>
        </p:txBody>
      </p:sp>
      <p:sp>
        <p:nvSpPr>
          <p:cNvPr id="41" name="文本框 40">
            <a:extLst>
              <a:ext uri="{FF2B5EF4-FFF2-40B4-BE49-F238E27FC236}">
                <a16:creationId xmlns:a16="http://schemas.microsoft.com/office/drawing/2014/main" id="{25B099DB-680A-62D5-B7CD-27A245FFCE14}"/>
              </a:ext>
            </a:extLst>
          </p:cNvPr>
          <p:cNvSpPr txBox="1"/>
          <p:nvPr/>
        </p:nvSpPr>
        <p:spPr>
          <a:xfrm rot="-540000">
            <a:off x="5275967" y="2449180"/>
            <a:ext cx="1314784" cy="307777"/>
          </a:xfrm>
          <a:prstGeom prst="rect">
            <a:avLst/>
          </a:prstGeom>
          <a:noFill/>
        </p:spPr>
        <p:txBody>
          <a:bodyPr wrap="none" rtlCol="0">
            <a:spAutoFit/>
          </a:bodyPr>
          <a:lstStyle/>
          <a:p>
            <a:r>
              <a:rPr lang="zh-CN" altLang="en-US" sz="1400" b="1" dirty="0"/>
              <a:t>④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Y , N</a:t>
            </a:r>
            <a:r>
              <a:rPr lang="en-US" altLang="zh-CN" sz="1400" b="1" baseline="-25000" dirty="0"/>
              <a:t>r</a:t>
            </a:r>
            <a:endParaRPr lang="zh-CN" altLang="en-US" sz="1400" b="1" baseline="-25000" dirty="0"/>
          </a:p>
        </p:txBody>
      </p:sp>
      <p:sp>
        <p:nvSpPr>
          <p:cNvPr id="42" name="文本框 41">
            <a:extLst>
              <a:ext uri="{FF2B5EF4-FFF2-40B4-BE49-F238E27FC236}">
                <a16:creationId xmlns:a16="http://schemas.microsoft.com/office/drawing/2014/main" id="{579821E3-D1AA-D19B-7F0A-189A960F6D5D}"/>
              </a:ext>
            </a:extLst>
          </p:cNvPr>
          <p:cNvSpPr txBox="1"/>
          <p:nvPr/>
        </p:nvSpPr>
        <p:spPr>
          <a:xfrm rot="-540000">
            <a:off x="5329155" y="1283880"/>
            <a:ext cx="1208408" cy="307777"/>
          </a:xfrm>
          <a:prstGeom prst="rect">
            <a:avLst/>
          </a:prstGeom>
          <a:noFill/>
        </p:spPr>
        <p:txBody>
          <a:bodyPr wrap="none" rtlCol="0">
            <a:spAutoFit/>
          </a:bodyPr>
          <a:lstStyle/>
          <a:p>
            <a:r>
              <a:rPr lang="zh-CN" altLang="en-US" sz="1400" b="1" dirty="0"/>
              <a:t>②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a:t>
            </a:r>
            <a:r>
              <a:rPr lang="en-US" altLang="zh-CN" sz="1400" b="1" dirty="0" err="1"/>
              <a:t>SA</a:t>
            </a:r>
            <a:r>
              <a:rPr lang="en-US" altLang="zh-CN" sz="1400" b="1" baseline="-25000" dirty="0" err="1"/>
              <a:t>r</a:t>
            </a:r>
            <a:endParaRPr lang="zh-CN" altLang="en-US" sz="1400" b="1" baseline="-25000" dirty="0"/>
          </a:p>
        </p:txBody>
      </p:sp>
      <p:sp>
        <p:nvSpPr>
          <p:cNvPr id="45" name="文本框 44">
            <a:extLst>
              <a:ext uri="{FF2B5EF4-FFF2-40B4-BE49-F238E27FC236}">
                <a16:creationId xmlns:a16="http://schemas.microsoft.com/office/drawing/2014/main" id="{93056AA0-7256-E9D0-0A16-579A78BB5D9C}"/>
              </a:ext>
            </a:extLst>
          </p:cNvPr>
          <p:cNvSpPr txBox="1"/>
          <p:nvPr/>
        </p:nvSpPr>
        <p:spPr>
          <a:xfrm>
            <a:off x="2634841" y="2682051"/>
            <a:ext cx="771365" cy="307777"/>
          </a:xfrm>
          <a:prstGeom prst="rect">
            <a:avLst/>
          </a:prstGeom>
          <a:noFill/>
        </p:spPr>
        <p:txBody>
          <a:bodyPr wrap="none" rtlCol="0">
            <a:spAutoFit/>
          </a:bodyPr>
          <a:lstStyle/>
          <a:p>
            <a:r>
              <a:rPr lang="en-US" altLang="zh-CN" sz="1400" b="1" dirty="0"/>
              <a:t>DH</a:t>
            </a:r>
            <a:r>
              <a:rPr lang="zh-CN" altLang="en-US" sz="1400" b="1" dirty="0"/>
              <a:t>交换</a:t>
            </a:r>
            <a:endParaRPr lang="zh-CN" altLang="en-US" sz="1400" b="1" baseline="-25000" dirty="0"/>
          </a:p>
        </p:txBody>
      </p:sp>
      <p:sp>
        <p:nvSpPr>
          <p:cNvPr id="46" name="文本框 45">
            <a:extLst>
              <a:ext uri="{FF2B5EF4-FFF2-40B4-BE49-F238E27FC236}">
                <a16:creationId xmlns:a16="http://schemas.microsoft.com/office/drawing/2014/main" id="{49474B10-9B56-9E9A-98ED-26AA00B6B2C1}"/>
              </a:ext>
            </a:extLst>
          </p:cNvPr>
          <p:cNvSpPr txBox="1"/>
          <p:nvPr/>
        </p:nvSpPr>
        <p:spPr>
          <a:xfrm>
            <a:off x="2470148" y="3644905"/>
            <a:ext cx="1261884" cy="523220"/>
          </a:xfrm>
          <a:prstGeom prst="rect">
            <a:avLst/>
          </a:prstGeom>
          <a:noFill/>
        </p:spPr>
        <p:txBody>
          <a:bodyPr wrap="none" rtlCol="0">
            <a:spAutoFit/>
          </a:bodyPr>
          <a:lstStyle/>
          <a:p>
            <a:r>
              <a:rPr lang="zh-CN" altLang="en-US" sz="1400" b="1" dirty="0"/>
              <a:t>通信双方身份</a:t>
            </a:r>
            <a:endParaRPr lang="en-US" altLang="zh-CN" sz="1400" b="1" dirty="0"/>
          </a:p>
          <a:p>
            <a:r>
              <a:rPr lang="zh-CN" altLang="en-US" sz="1400" b="1" dirty="0"/>
              <a:t>交换和验证</a:t>
            </a:r>
            <a:endParaRPr lang="zh-CN" altLang="en-US" sz="1400" b="1" baseline="-25000" dirty="0"/>
          </a:p>
        </p:txBody>
      </p:sp>
      <p:sp>
        <p:nvSpPr>
          <p:cNvPr id="47" name="矩形: 圆角 46">
            <a:extLst>
              <a:ext uri="{FF2B5EF4-FFF2-40B4-BE49-F238E27FC236}">
                <a16:creationId xmlns:a16="http://schemas.microsoft.com/office/drawing/2014/main" id="{70C0F1C6-A3A8-05AA-7D6C-CAEE9BCABFDD}"/>
              </a:ext>
            </a:extLst>
          </p:cNvPr>
          <p:cNvSpPr/>
          <p:nvPr/>
        </p:nvSpPr>
        <p:spPr>
          <a:xfrm>
            <a:off x="4489034" y="4392976"/>
            <a:ext cx="3683365"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三次交换过程     </a:t>
            </a: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6</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个消息交互</a:t>
            </a:r>
          </a:p>
        </p:txBody>
      </p:sp>
      <p:sp>
        <p:nvSpPr>
          <p:cNvPr id="48" name="文本框 47">
            <a:extLst>
              <a:ext uri="{FF2B5EF4-FFF2-40B4-BE49-F238E27FC236}">
                <a16:creationId xmlns:a16="http://schemas.microsoft.com/office/drawing/2014/main" id="{52180B60-DF85-DB96-C1CB-E9B8BF007E07}"/>
              </a:ext>
            </a:extLst>
          </p:cNvPr>
          <p:cNvSpPr txBox="1"/>
          <p:nvPr/>
        </p:nvSpPr>
        <p:spPr>
          <a:xfrm>
            <a:off x="4410281" y="656664"/>
            <a:ext cx="612988" cy="307777"/>
          </a:xfrm>
          <a:prstGeom prst="rect">
            <a:avLst/>
          </a:prstGeom>
          <a:noFill/>
        </p:spPr>
        <p:txBody>
          <a:bodyPr wrap="none" rtlCol="0">
            <a:spAutoFit/>
          </a:bodyPr>
          <a:lstStyle/>
          <a:p>
            <a:r>
              <a:rPr lang="en-US" altLang="zh-CN" sz="1400" b="1" dirty="0"/>
              <a:t>Peer1</a:t>
            </a:r>
            <a:endParaRPr lang="zh-CN" altLang="en-US" sz="1400" b="1" baseline="-25000" dirty="0"/>
          </a:p>
        </p:txBody>
      </p:sp>
      <p:sp>
        <p:nvSpPr>
          <p:cNvPr id="49" name="文本框 48">
            <a:extLst>
              <a:ext uri="{FF2B5EF4-FFF2-40B4-BE49-F238E27FC236}">
                <a16:creationId xmlns:a16="http://schemas.microsoft.com/office/drawing/2014/main" id="{BA6565B3-4AE5-CA2D-CB28-8DE755BCA128}"/>
              </a:ext>
            </a:extLst>
          </p:cNvPr>
          <p:cNvSpPr txBox="1"/>
          <p:nvPr/>
        </p:nvSpPr>
        <p:spPr>
          <a:xfrm>
            <a:off x="6766961" y="650267"/>
            <a:ext cx="612988" cy="307777"/>
          </a:xfrm>
          <a:prstGeom prst="rect">
            <a:avLst/>
          </a:prstGeom>
          <a:noFill/>
        </p:spPr>
        <p:txBody>
          <a:bodyPr wrap="none" rtlCol="0">
            <a:spAutoFit/>
          </a:bodyPr>
          <a:lstStyle/>
          <a:p>
            <a:r>
              <a:rPr lang="en-US" altLang="zh-CN" sz="1400" b="1" dirty="0"/>
              <a:t>Peer2</a:t>
            </a:r>
            <a:endParaRPr lang="zh-CN" altLang="en-US" sz="1400" b="1" baseline="-25000" dirty="0"/>
          </a:p>
        </p:txBody>
      </p:sp>
    </p:spTree>
    <p:extLst>
      <p:ext uri="{BB962C8B-B14F-4D97-AF65-F5344CB8AC3E}">
        <p14:creationId xmlns:p14="http://schemas.microsoft.com/office/powerpoint/2010/main" val="103991527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478"/>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野蛮模式</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sp>
        <p:nvSpPr>
          <p:cNvPr id="9" name="矩形: 圆角 8">
            <a:extLst>
              <a:ext uri="{FF2B5EF4-FFF2-40B4-BE49-F238E27FC236}">
                <a16:creationId xmlns:a16="http://schemas.microsoft.com/office/drawing/2014/main" id="{A6FA27CB-F3C8-E35E-871A-63F406069EA7}"/>
              </a:ext>
            </a:extLst>
          </p:cNvPr>
          <p:cNvSpPr/>
          <p:nvPr/>
        </p:nvSpPr>
        <p:spPr>
          <a:xfrm>
            <a:off x="3491884" y="937551"/>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a:t>
            </a:r>
            <a:r>
              <a:rPr lang="en-US" altLang="zh-CN"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IKE</a:t>
            </a: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安全提议、密钥生成信息和身份信息</a:t>
            </a:r>
          </a:p>
        </p:txBody>
      </p:sp>
      <p:cxnSp>
        <p:nvCxnSpPr>
          <p:cNvPr id="25" name="直接连接符 24">
            <a:extLst>
              <a:ext uri="{FF2B5EF4-FFF2-40B4-BE49-F238E27FC236}">
                <a16:creationId xmlns:a16="http://schemas.microsoft.com/office/drawing/2014/main" id="{E85EAAF9-941A-A098-B366-15BD5CE1D375}"/>
              </a:ext>
            </a:extLst>
          </p:cNvPr>
          <p:cNvCxnSpPr/>
          <p:nvPr/>
        </p:nvCxnSpPr>
        <p:spPr>
          <a:xfrm>
            <a:off x="4788024" y="1055021"/>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9ED89EE6-8868-0E40-FBB0-C25C8AE7C097}"/>
              </a:ext>
            </a:extLst>
          </p:cNvPr>
          <p:cNvCxnSpPr/>
          <p:nvPr/>
        </p:nvCxnSpPr>
        <p:spPr>
          <a:xfrm>
            <a:off x="7092280" y="1058745"/>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DA8C55D3-0EDF-7B0D-E9C1-492B6F8CD4F4}"/>
              </a:ext>
            </a:extLst>
          </p:cNvPr>
          <p:cNvCxnSpPr>
            <a:cxnSpLocks/>
          </p:cNvCxnSpPr>
          <p:nvPr/>
        </p:nvCxnSpPr>
        <p:spPr>
          <a:xfrm>
            <a:off x="4775402" y="1177473"/>
            <a:ext cx="2316877" cy="2016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A7DB37D9-2B94-0FAC-B105-5E756E12B3CE}"/>
              </a:ext>
            </a:extLst>
          </p:cNvPr>
          <p:cNvCxnSpPr/>
          <p:nvPr/>
        </p:nvCxnSpPr>
        <p:spPr>
          <a:xfrm flipH="1">
            <a:off x="4775402" y="2094312"/>
            <a:ext cx="2304256" cy="3330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D9B4A7A7-BE99-5B97-6597-23A6ABD08C96}"/>
              </a:ext>
            </a:extLst>
          </p:cNvPr>
          <p:cNvCxnSpPr>
            <a:cxnSpLocks/>
          </p:cNvCxnSpPr>
          <p:nvPr/>
        </p:nvCxnSpPr>
        <p:spPr>
          <a:xfrm>
            <a:off x="4791957" y="3350576"/>
            <a:ext cx="2316877" cy="2016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F66E7FE9-54A3-3F64-1570-2AE6ECDA4407}"/>
              </a:ext>
            </a:extLst>
          </p:cNvPr>
          <p:cNvSpPr txBox="1"/>
          <p:nvPr/>
        </p:nvSpPr>
        <p:spPr>
          <a:xfrm rot="300000">
            <a:off x="5231890" y="1011654"/>
            <a:ext cx="1402948" cy="307777"/>
          </a:xfrm>
          <a:prstGeom prst="rect">
            <a:avLst/>
          </a:prstGeom>
          <a:noFill/>
        </p:spPr>
        <p:txBody>
          <a:bodyPr wrap="none" rtlCol="0">
            <a:spAutoFit/>
          </a:bodyPr>
          <a:lstStyle/>
          <a:p>
            <a:r>
              <a:rPr lang="zh-CN" altLang="en-US" sz="1400" b="1" dirty="0"/>
              <a:t>① </a:t>
            </a:r>
            <a:r>
              <a:rPr lang="en-US" altLang="zh-CN" sz="1400" b="1" dirty="0"/>
              <a:t>C</a:t>
            </a:r>
            <a:r>
              <a:rPr lang="en-US" altLang="zh-CN" sz="1400" b="1" baseline="-25000" dirty="0"/>
              <a:t>i  </a:t>
            </a:r>
            <a:r>
              <a:rPr lang="en-US" altLang="zh-CN" sz="1400" b="1" dirty="0"/>
              <a:t>,  X , N</a:t>
            </a:r>
            <a:r>
              <a:rPr lang="en-US" altLang="zh-CN" sz="1400" b="1" baseline="-25000" dirty="0"/>
              <a:t>i </a:t>
            </a:r>
            <a:r>
              <a:rPr lang="en-US" altLang="zh-CN" sz="1400" b="1" dirty="0"/>
              <a:t>, ID</a:t>
            </a:r>
            <a:r>
              <a:rPr lang="en-US" altLang="zh-CN" sz="1400" b="1" baseline="-25000" dirty="0"/>
              <a:t>i</a:t>
            </a:r>
            <a:endParaRPr lang="zh-CN" altLang="en-US" sz="1400" b="1" baseline="-25000" dirty="0"/>
          </a:p>
        </p:txBody>
      </p:sp>
      <p:sp>
        <p:nvSpPr>
          <p:cNvPr id="39" name="文本框 38">
            <a:extLst>
              <a:ext uri="{FF2B5EF4-FFF2-40B4-BE49-F238E27FC236}">
                <a16:creationId xmlns:a16="http://schemas.microsoft.com/office/drawing/2014/main" id="{2E710F46-77A5-8164-43B0-6A3249BA4926}"/>
              </a:ext>
            </a:extLst>
          </p:cNvPr>
          <p:cNvSpPr txBox="1"/>
          <p:nvPr/>
        </p:nvSpPr>
        <p:spPr>
          <a:xfrm rot="300000">
            <a:off x="5237276" y="3173134"/>
            <a:ext cx="1380506" cy="307777"/>
          </a:xfrm>
          <a:prstGeom prst="rect">
            <a:avLst/>
          </a:prstGeom>
          <a:noFill/>
        </p:spPr>
        <p:txBody>
          <a:bodyPr wrap="none" rtlCol="0">
            <a:spAutoFit/>
          </a:bodyPr>
          <a:lstStyle/>
          <a:p>
            <a:r>
              <a:rPr lang="zh-CN" altLang="en-US" sz="1400" b="1" dirty="0"/>
              <a:t>③ </a:t>
            </a:r>
            <a:r>
              <a:rPr lang="en-US" altLang="zh-CN" sz="1400" b="1" dirty="0"/>
              <a:t>C</a:t>
            </a:r>
            <a:r>
              <a:rPr lang="en-US" altLang="zh-CN" sz="1400" b="1" baseline="-25000" dirty="0"/>
              <a:t>i  </a:t>
            </a:r>
            <a:r>
              <a:rPr lang="en-US" altLang="zh-CN" sz="1400" b="1" dirty="0"/>
              <a:t>, C</a:t>
            </a:r>
            <a:r>
              <a:rPr lang="en-US" altLang="zh-CN" sz="1400" b="1" baseline="-25000" dirty="0"/>
              <a:t>r</a:t>
            </a:r>
            <a:r>
              <a:rPr lang="en-US" altLang="zh-CN" sz="1400" b="1" dirty="0"/>
              <a:t> , </a:t>
            </a:r>
            <a:r>
              <a:rPr lang="en-US" altLang="zh-CN" sz="1400" b="1" dirty="0" err="1"/>
              <a:t>Hash</a:t>
            </a:r>
            <a:r>
              <a:rPr lang="en-US" altLang="zh-CN" sz="1400" b="1" baseline="-25000" dirty="0" err="1"/>
              <a:t>i</a:t>
            </a:r>
            <a:endParaRPr lang="zh-CN" altLang="en-US" sz="1400" b="1" baseline="-25000" dirty="0"/>
          </a:p>
        </p:txBody>
      </p:sp>
      <p:sp>
        <p:nvSpPr>
          <p:cNvPr id="41" name="文本框 40">
            <a:extLst>
              <a:ext uri="{FF2B5EF4-FFF2-40B4-BE49-F238E27FC236}">
                <a16:creationId xmlns:a16="http://schemas.microsoft.com/office/drawing/2014/main" id="{25B099DB-680A-62D5-B7CD-27A245FFCE14}"/>
              </a:ext>
            </a:extLst>
          </p:cNvPr>
          <p:cNvSpPr txBox="1"/>
          <p:nvPr/>
        </p:nvSpPr>
        <p:spPr>
          <a:xfrm rot="-540000">
            <a:off x="4830716" y="1957274"/>
            <a:ext cx="2218877" cy="307777"/>
          </a:xfrm>
          <a:prstGeom prst="rect">
            <a:avLst/>
          </a:prstGeom>
          <a:noFill/>
        </p:spPr>
        <p:txBody>
          <a:bodyPr wrap="none" rtlCol="0">
            <a:spAutoFit/>
          </a:bodyPr>
          <a:lstStyle/>
          <a:p>
            <a:r>
              <a:rPr lang="zh-CN" altLang="en-US" sz="1400" b="1" dirty="0"/>
              <a:t>② </a:t>
            </a:r>
            <a:r>
              <a:rPr lang="en-US" altLang="zh-CN" sz="1400" b="1" dirty="0"/>
              <a:t>C</a:t>
            </a:r>
            <a:r>
              <a:rPr lang="en-US" altLang="zh-CN" sz="1400" b="1" baseline="-25000" dirty="0"/>
              <a:t>i  </a:t>
            </a:r>
            <a:r>
              <a:rPr lang="en-US" altLang="zh-CN" sz="1400" b="1" dirty="0"/>
              <a:t>, C</a:t>
            </a:r>
            <a:r>
              <a:rPr lang="en-US" altLang="zh-CN" sz="1400" b="1" baseline="-25000" dirty="0"/>
              <a:t>r  </a:t>
            </a:r>
            <a:r>
              <a:rPr lang="en-US" altLang="zh-CN" sz="1400" b="1" dirty="0"/>
              <a:t>, Y , N</a:t>
            </a:r>
            <a:r>
              <a:rPr lang="en-US" altLang="zh-CN" sz="1400" b="1" baseline="-25000" dirty="0"/>
              <a:t>r </a:t>
            </a:r>
            <a:r>
              <a:rPr lang="en-US" altLang="zh-CN" sz="1400" b="1" dirty="0"/>
              <a:t>, Id</a:t>
            </a:r>
            <a:r>
              <a:rPr lang="en-US" altLang="zh-CN" sz="1400" b="1" baseline="-25000" dirty="0"/>
              <a:t>r </a:t>
            </a:r>
            <a:r>
              <a:rPr lang="en-US" altLang="zh-CN" sz="1400" b="1" dirty="0"/>
              <a:t> , Hash</a:t>
            </a:r>
            <a:r>
              <a:rPr lang="en-US" altLang="zh-CN" sz="1400" b="1" baseline="-25000" dirty="0"/>
              <a:t>r</a:t>
            </a:r>
            <a:endParaRPr lang="zh-CN" altLang="en-US" sz="1400" b="1" baseline="-25000" dirty="0"/>
          </a:p>
        </p:txBody>
      </p:sp>
      <p:sp>
        <p:nvSpPr>
          <p:cNvPr id="47" name="矩形: 圆角 46">
            <a:extLst>
              <a:ext uri="{FF2B5EF4-FFF2-40B4-BE49-F238E27FC236}">
                <a16:creationId xmlns:a16="http://schemas.microsoft.com/office/drawing/2014/main" id="{70C0F1C6-A3A8-05AA-7D6C-CAEE9BCABFDD}"/>
              </a:ext>
            </a:extLst>
          </p:cNvPr>
          <p:cNvSpPr/>
          <p:nvPr/>
        </p:nvSpPr>
        <p:spPr>
          <a:xfrm>
            <a:off x="4489034" y="4392976"/>
            <a:ext cx="3683365" cy="387478"/>
          </a:xfrm>
          <a:prstGeom prst="roundRect">
            <a:avLst/>
          </a:prstGeom>
          <a:solidFill>
            <a:srgbClr val="92CDDC"/>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个消息交互</a:t>
            </a:r>
          </a:p>
        </p:txBody>
      </p:sp>
      <p:sp>
        <p:nvSpPr>
          <p:cNvPr id="48" name="文本框 47">
            <a:extLst>
              <a:ext uri="{FF2B5EF4-FFF2-40B4-BE49-F238E27FC236}">
                <a16:creationId xmlns:a16="http://schemas.microsoft.com/office/drawing/2014/main" id="{52180B60-DF85-DB96-C1CB-E9B8BF007E07}"/>
              </a:ext>
            </a:extLst>
          </p:cNvPr>
          <p:cNvSpPr txBox="1"/>
          <p:nvPr/>
        </p:nvSpPr>
        <p:spPr>
          <a:xfrm>
            <a:off x="4410281" y="656664"/>
            <a:ext cx="612988" cy="307777"/>
          </a:xfrm>
          <a:prstGeom prst="rect">
            <a:avLst/>
          </a:prstGeom>
          <a:noFill/>
        </p:spPr>
        <p:txBody>
          <a:bodyPr wrap="none" rtlCol="0">
            <a:spAutoFit/>
          </a:bodyPr>
          <a:lstStyle/>
          <a:p>
            <a:r>
              <a:rPr lang="en-US" altLang="zh-CN" sz="1400" b="1" dirty="0"/>
              <a:t>Peer1</a:t>
            </a:r>
            <a:endParaRPr lang="zh-CN" altLang="en-US" sz="1400" b="1" baseline="-25000" dirty="0"/>
          </a:p>
        </p:txBody>
      </p:sp>
      <p:sp>
        <p:nvSpPr>
          <p:cNvPr id="49" name="文本框 48">
            <a:extLst>
              <a:ext uri="{FF2B5EF4-FFF2-40B4-BE49-F238E27FC236}">
                <a16:creationId xmlns:a16="http://schemas.microsoft.com/office/drawing/2014/main" id="{BA6565B3-4AE5-CA2D-CB28-8DE755BCA128}"/>
              </a:ext>
            </a:extLst>
          </p:cNvPr>
          <p:cNvSpPr txBox="1"/>
          <p:nvPr/>
        </p:nvSpPr>
        <p:spPr>
          <a:xfrm>
            <a:off x="6766961" y="650267"/>
            <a:ext cx="612988" cy="307777"/>
          </a:xfrm>
          <a:prstGeom prst="rect">
            <a:avLst/>
          </a:prstGeom>
          <a:noFill/>
        </p:spPr>
        <p:txBody>
          <a:bodyPr wrap="none" rtlCol="0">
            <a:spAutoFit/>
          </a:bodyPr>
          <a:lstStyle/>
          <a:p>
            <a:r>
              <a:rPr lang="en-US" altLang="zh-CN" sz="1400" b="1" dirty="0"/>
              <a:t>Peer2</a:t>
            </a:r>
            <a:endParaRPr lang="zh-CN" altLang="en-US" sz="1400" b="1" baseline="-25000" dirty="0"/>
          </a:p>
        </p:txBody>
      </p:sp>
      <p:sp>
        <p:nvSpPr>
          <p:cNvPr id="24" name="矩形: 圆角 23">
            <a:extLst>
              <a:ext uri="{FF2B5EF4-FFF2-40B4-BE49-F238E27FC236}">
                <a16:creationId xmlns:a16="http://schemas.microsoft.com/office/drawing/2014/main" id="{77A3DEA0-A401-7137-C3C6-9B5364EEEC76}"/>
              </a:ext>
            </a:extLst>
          </p:cNvPr>
          <p:cNvSpPr/>
          <p:nvPr/>
        </p:nvSpPr>
        <p:spPr>
          <a:xfrm>
            <a:off x="3455244" y="1991680"/>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接收提议和生成密钥</a:t>
            </a:r>
          </a:p>
        </p:txBody>
      </p:sp>
      <p:sp>
        <p:nvSpPr>
          <p:cNvPr id="27" name="矩形: 圆角 26">
            <a:extLst>
              <a:ext uri="{FF2B5EF4-FFF2-40B4-BE49-F238E27FC236}">
                <a16:creationId xmlns:a16="http://schemas.microsoft.com/office/drawing/2014/main" id="{CF9AC771-AE94-646C-8E35-7C81769F35E6}"/>
              </a:ext>
            </a:extLst>
          </p:cNvPr>
          <p:cNvSpPr/>
          <p:nvPr/>
        </p:nvSpPr>
        <p:spPr>
          <a:xfrm>
            <a:off x="3436871" y="3045809"/>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发送验证数据</a:t>
            </a:r>
          </a:p>
        </p:txBody>
      </p:sp>
      <p:sp>
        <p:nvSpPr>
          <p:cNvPr id="29" name="矩形: 圆角 28">
            <a:extLst>
              <a:ext uri="{FF2B5EF4-FFF2-40B4-BE49-F238E27FC236}">
                <a16:creationId xmlns:a16="http://schemas.microsoft.com/office/drawing/2014/main" id="{5967681F-B6E9-A7D5-C088-0AA149F88C36}"/>
              </a:ext>
            </a:extLst>
          </p:cNvPr>
          <p:cNvSpPr/>
          <p:nvPr/>
        </p:nvSpPr>
        <p:spPr>
          <a:xfrm>
            <a:off x="7279611" y="937551"/>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查找匹配的提议算法，生成密钥和身份验证</a:t>
            </a:r>
          </a:p>
        </p:txBody>
      </p:sp>
      <p:sp>
        <p:nvSpPr>
          <p:cNvPr id="30" name="矩形: 圆角 29">
            <a:extLst>
              <a:ext uri="{FF2B5EF4-FFF2-40B4-BE49-F238E27FC236}">
                <a16:creationId xmlns:a16="http://schemas.microsoft.com/office/drawing/2014/main" id="{4F903EC1-47D0-00D8-DC3F-ACC541BDF6B9}"/>
              </a:ext>
            </a:extLst>
          </p:cNvPr>
          <p:cNvSpPr/>
          <p:nvPr/>
        </p:nvSpPr>
        <p:spPr>
          <a:xfrm>
            <a:off x="7279611" y="1991680"/>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发送密钥生成信息、身份信息和验证数据</a:t>
            </a:r>
          </a:p>
        </p:txBody>
      </p:sp>
      <p:sp>
        <p:nvSpPr>
          <p:cNvPr id="32" name="矩形: 圆角 31">
            <a:extLst>
              <a:ext uri="{FF2B5EF4-FFF2-40B4-BE49-F238E27FC236}">
                <a16:creationId xmlns:a16="http://schemas.microsoft.com/office/drawing/2014/main" id="{B9CA1547-1B05-E460-EF43-DD987801AD25}"/>
              </a:ext>
            </a:extLst>
          </p:cNvPr>
          <p:cNvSpPr/>
          <p:nvPr/>
        </p:nvSpPr>
        <p:spPr>
          <a:xfrm>
            <a:off x="7279611" y="3045809"/>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交换过程验证</a:t>
            </a:r>
          </a:p>
        </p:txBody>
      </p:sp>
    </p:spTree>
    <p:extLst>
      <p:ext uri="{BB962C8B-B14F-4D97-AF65-F5344CB8AC3E}">
        <p14:creationId xmlns:p14="http://schemas.microsoft.com/office/powerpoint/2010/main" val="32585647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7478"/>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ü"/>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阶段</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两种模式对比：</a:t>
            </a:r>
            <a:endPar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pic>
        <p:nvPicPr>
          <p:cNvPr id="2" name="图片 1" descr="在这里插入图片描述">
            <a:extLst>
              <a:ext uri="{FF2B5EF4-FFF2-40B4-BE49-F238E27FC236}">
                <a16:creationId xmlns:a16="http://schemas.microsoft.com/office/drawing/2014/main" id="{7EE617D8-0A7F-EC7E-A0A2-79745D18B64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7584" y="1251941"/>
            <a:ext cx="6192688" cy="3793729"/>
          </a:xfrm>
          <a:prstGeom prst="rect">
            <a:avLst/>
          </a:prstGeom>
          <a:noFill/>
          <a:ln>
            <a:noFill/>
          </a:ln>
        </p:spPr>
      </p:pic>
    </p:spTree>
    <p:extLst>
      <p:ext uri="{BB962C8B-B14F-4D97-AF65-F5344CB8AC3E}">
        <p14:creationId xmlns:p14="http://schemas.microsoft.com/office/powerpoint/2010/main" val="84339372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027654"/>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ü"/>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第二阶段交换：</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建立用来安全传输数据的</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IPSec</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SA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，并为数据传输衍生出密钥。这一阶段采用快速模式（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Quick Mode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）。该模式使用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IKEv1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协商阶段</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中生成的密钥对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消息的完整性和身份进行验证，并对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ISAKMP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消息进行加密，故保证了交换的安全性。</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sp>
        <p:nvSpPr>
          <p:cNvPr id="4" name="矩形: 圆角 3">
            <a:extLst>
              <a:ext uri="{FF2B5EF4-FFF2-40B4-BE49-F238E27FC236}">
                <a16:creationId xmlns:a16="http://schemas.microsoft.com/office/drawing/2014/main" id="{F100A38C-5D59-CBF4-603B-B026947385AB}"/>
              </a:ext>
            </a:extLst>
          </p:cNvPr>
          <p:cNvSpPr/>
          <p:nvPr/>
        </p:nvSpPr>
        <p:spPr>
          <a:xfrm>
            <a:off x="3275860" y="2112227"/>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a:t>
            </a:r>
            <a:r>
              <a:rPr lang="en-US" altLang="zh-CN" sz="1200" dirty="0" err="1">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IPSec</a:t>
            </a: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安全提议、身份和验证数据</a:t>
            </a:r>
          </a:p>
        </p:txBody>
      </p:sp>
      <p:cxnSp>
        <p:nvCxnSpPr>
          <p:cNvPr id="5" name="直接连接符 4">
            <a:extLst>
              <a:ext uri="{FF2B5EF4-FFF2-40B4-BE49-F238E27FC236}">
                <a16:creationId xmlns:a16="http://schemas.microsoft.com/office/drawing/2014/main" id="{408C9C20-E526-EFCB-4602-4B6F82DE3CA7}"/>
              </a:ext>
            </a:extLst>
          </p:cNvPr>
          <p:cNvCxnSpPr/>
          <p:nvPr/>
        </p:nvCxnSpPr>
        <p:spPr>
          <a:xfrm>
            <a:off x="4572000" y="2229697"/>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2F13F4A0-DB52-A989-0864-68823B529D81}"/>
              </a:ext>
            </a:extLst>
          </p:cNvPr>
          <p:cNvCxnSpPr/>
          <p:nvPr/>
        </p:nvCxnSpPr>
        <p:spPr>
          <a:xfrm>
            <a:off x="6876256" y="2233421"/>
            <a:ext cx="0" cy="291380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95518367-8B54-1ADD-D4F4-D760C7F94288}"/>
              </a:ext>
            </a:extLst>
          </p:cNvPr>
          <p:cNvCxnSpPr>
            <a:cxnSpLocks/>
          </p:cNvCxnSpPr>
          <p:nvPr/>
        </p:nvCxnSpPr>
        <p:spPr>
          <a:xfrm>
            <a:off x="4559378" y="2352149"/>
            <a:ext cx="2316877" cy="2016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7356EFD7-32FB-48D3-79AE-0360F9B898B8}"/>
              </a:ext>
            </a:extLst>
          </p:cNvPr>
          <p:cNvCxnSpPr/>
          <p:nvPr/>
        </p:nvCxnSpPr>
        <p:spPr>
          <a:xfrm flipH="1">
            <a:off x="4559378" y="3268988"/>
            <a:ext cx="2304256" cy="33300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E91A4D14-5844-B01B-999F-94F0BCD6E1B6}"/>
              </a:ext>
            </a:extLst>
          </p:cNvPr>
          <p:cNvCxnSpPr>
            <a:cxnSpLocks/>
          </p:cNvCxnSpPr>
          <p:nvPr/>
        </p:nvCxnSpPr>
        <p:spPr>
          <a:xfrm>
            <a:off x="4575933" y="4525252"/>
            <a:ext cx="2316877" cy="20164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4FDD34C9-D2A9-6952-073D-E04792A07FBD}"/>
              </a:ext>
            </a:extLst>
          </p:cNvPr>
          <p:cNvSpPr txBox="1"/>
          <p:nvPr/>
        </p:nvSpPr>
        <p:spPr>
          <a:xfrm>
            <a:off x="4194257" y="1831340"/>
            <a:ext cx="612988" cy="307777"/>
          </a:xfrm>
          <a:prstGeom prst="rect">
            <a:avLst/>
          </a:prstGeom>
          <a:noFill/>
        </p:spPr>
        <p:txBody>
          <a:bodyPr wrap="none" rtlCol="0">
            <a:spAutoFit/>
          </a:bodyPr>
          <a:lstStyle/>
          <a:p>
            <a:r>
              <a:rPr lang="en-US" altLang="zh-CN" sz="1400" b="1" dirty="0"/>
              <a:t>Peer1</a:t>
            </a:r>
            <a:endParaRPr lang="zh-CN" altLang="en-US" sz="1400" b="1" baseline="-25000" dirty="0"/>
          </a:p>
        </p:txBody>
      </p:sp>
      <p:sp>
        <p:nvSpPr>
          <p:cNvPr id="14" name="文本框 13">
            <a:extLst>
              <a:ext uri="{FF2B5EF4-FFF2-40B4-BE49-F238E27FC236}">
                <a16:creationId xmlns:a16="http://schemas.microsoft.com/office/drawing/2014/main" id="{86615973-6D23-B08D-1C55-8E87DA35255C}"/>
              </a:ext>
            </a:extLst>
          </p:cNvPr>
          <p:cNvSpPr txBox="1"/>
          <p:nvPr/>
        </p:nvSpPr>
        <p:spPr>
          <a:xfrm>
            <a:off x="6550937" y="1824943"/>
            <a:ext cx="612988" cy="307777"/>
          </a:xfrm>
          <a:prstGeom prst="rect">
            <a:avLst/>
          </a:prstGeom>
          <a:noFill/>
        </p:spPr>
        <p:txBody>
          <a:bodyPr wrap="none" rtlCol="0">
            <a:spAutoFit/>
          </a:bodyPr>
          <a:lstStyle/>
          <a:p>
            <a:r>
              <a:rPr lang="en-US" altLang="zh-CN" sz="1400" b="1" dirty="0"/>
              <a:t>Peer2</a:t>
            </a:r>
            <a:endParaRPr lang="zh-CN" altLang="en-US" sz="1400" b="1" baseline="-25000" dirty="0"/>
          </a:p>
        </p:txBody>
      </p:sp>
      <p:sp>
        <p:nvSpPr>
          <p:cNvPr id="15" name="矩形: 圆角 14">
            <a:extLst>
              <a:ext uri="{FF2B5EF4-FFF2-40B4-BE49-F238E27FC236}">
                <a16:creationId xmlns:a16="http://schemas.microsoft.com/office/drawing/2014/main" id="{40C69A4F-7684-27B8-583A-EA42A684163E}"/>
              </a:ext>
            </a:extLst>
          </p:cNvPr>
          <p:cNvSpPr/>
          <p:nvPr/>
        </p:nvSpPr>
        <p:spPr>
          <a:xfrm>
            <a:off x="3239220" y="3166356"/>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接收安全提议和生成密钥</a:t>
            </a:r>
          </a:p>
        </p:txBody>
      </p:sp>
      <p:sp>
        <p:nvSpPr>
          <p:cNvPr id="16" name="矩形: 圆角 15">
            <a:extLst>
              <a:ext uri="{FF2B5EF4-FFF2-40B4-BE49-F238E27FC236}">
                <a16:creationId xmlns:a16="http://schemas.microsoft.com/office/drawing/2014/main" id="{10306E59-B973-52BC-2BE9-380C6F245A4F}"/>
              </a:ext>
            </a:extLst>
          </p:cNvPr>
          <p:cNvSpPr/>
          <p:nvPr/>
        </p:nvSpPr>
        <p:spPr>
          <a:xfrm>
            <a:off x="3220847" y="4220485"/>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发送确认信息</a:t>
            </a:r>
          </a:p>
        </p:txBody>
      </p:sp>
      <p:sp>
        <p:nvSpPr>
          <p:cNvPr id="17" name="矩形: 圆角 16">
            <a:extLst>
              <a:ext uri="{FF2B5EF4-FFF2-40B4-BE49-F238E27FC236}">
                <a16:creationId xmlns:a16="http://schemas.microsoft.com/office/drawing/2014/main" id="{D8C3EE59-61A2-AD5E-CCDF-A3F07D9E7A93}"/>
              </a:ext>
            </a:extLst>
          </p:cNvPr>
          <p:cNvSpPr/>
          <p:nvPr/>
        </p:nvSpPr>
        <p:spPr>
          <a:xfrm>
            <a:off x="7063587" y="2112227"/>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查找匹配的安全提议，生成密钥</a:t>
            </a:r>
          </a:p>
        </p:txBody>
      </p:sp>
      <p:sp>
        <p:nvSpPr>
          <p:cNvPr id="18" name="矩形: 圆角 17">
            <a:extLst>
              <a:ext uri="{FF2B5EF4-FFF2-40B4-BE49-F238E27FC236}">
                <a16:creationId xmlns:a16="http://schemas.microsoft.com/office/drawing/2014/main" id="{F0C71ED6-4916-BA01-459B-F58A4585D809}"/>
              </a:ext>
            </a:extLst>
          </p:cNvPr>
          <p:cNvSpPr/>
          <p:nvPr/>
        </p:nvSpPr>
        <p:spPr>
          <a:xfrm>
            <a:off x="7063587" y="3166356"/>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发送确认的安全提议、身份和验证数据</a:t>
            </a:r>
          </a:p>
        </p:txBody>
      </p:sp>
      <p:sp>
        <p:nvSpPr>
          <p:cNvPr id="20" name="矩形: 圆角 19">
            <a:extLst>
              <a:ext uri="{FF2B5EF4-FFF2-40B4-BE49-F238E27FC236}">
                <a16:creationId xmlns:a16="http://schemas.microsoft.com/office/drawing/2014/main" id="{8C943410-0AF4-25B6-312D-F9D95FD1762B}"/>
              </a:ext>
            </a:extLst>
          </p:cNvPr>
          <p:cNvSpPr/>
          <p:nvPr/>
        </p:nvSpPr>
        <p:spPr>
          <a:xfrm>
            <a:off x="7063587" y="4220485"/>
            <a:ext cx="1224768" cy="641949"/>
          </a:xfrm>
          <a:prstGeom prst="roundRect">
            <a:avLst/>
          </a:prstGeom>
          <a:solidFill>
            <a:srgbClr val="FEE599"/>
          </a:solidFill>
          <a:ln>
            <a:noFill/>
          </a:ln>
        </p:spPr>
        <p:style>
          <a:lnRef idx="2">
            <a:schemeClr val="accent6">
              <a:shade val="50000"/>
            </a:schemeClr>
          </a:lnRef>
          <a:fillRef idx="1">
            <a:schemeClr val="accent6"/>
          </a:fillRef>
          <a:effectRef idx="0">
            <a:schemeClr val="accent6"/>
          </a:effectRef>
          <a:fontRef idx="minor">
            <a:schemeClr val="lt1"/>
          </a:fontRef>
        </p:style>
        <p:txBody>
          <a:bodyPr lIns="0" tIns="0" rIns="0" bIns="0" rtlCol="0" anchor="ctr"/>
          <a:lstStyle/>
          <a:p>
            <a:pPr algn="ctr"/>
            <a:r>
              <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接受信息</a:t>
            </a:r>
          </a:p>
        </p:txBody>
      </p:sp>
    </p:spTree>
    <p:extLst>
      <p:ext uri="{BB962C8B-B14F-4D97-AF65-F5344CB8AC3E}">
        <p14:creationId xmlns:p14="http://schemas.microsoft.com/office/powerpoint/2010/main" val="42828459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93306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AH</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协议用于为</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数据包提供</a:t>
            </a:r>
            <a:r>
              <a:rPr lang="zh-CN" altLang="en-US" b="1" dirty="0">
                <a:solidFill>
                  <a:srgbClr val="C8071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数据完整性</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C8071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数据包源地址验证</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和一些有限的</a:t>
            </a:r>
            <a:r>
              <a:rPr lang="zh-CN" altLang="en-US" b="1" dirty="0">
                <a:solidFill>
                  <a:srgbClr val="C8071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抗重播服务</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协议相比，</a:t>
            </a:r>
            <a:r>
              <a:rPr lang="en-US" altLang="zh-CN" dirty="0">
                <a:solidFill>
                  <a:srgbClr val="C8071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dirty="0">
                <a:solidFill>
                  <a:srgbClr val="C8071D"/>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不提供对通信数据的加密服务</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，但能比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提供更加广的数据验证服务</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工作原理</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在每一个数据包上添加一个身份验证报头。此报头包含一个被加密的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值（可以将其当作数字签名，只是它不使用证书），此</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值在整个数据包中计算，因此对数据的任何更改将导致</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hash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值无效，这样就提供了完整性保护。</a:t>
            </a:r>
          </a:p>
          <a:p>
            <a:pPr marL="342900" indent="-342900">
              <a:lnSpc>
                <a:spcPct val="130000"/>
              </a:lnSpc>
              <a:spcBef>
                <a:spcPts val="300"/>
              </a:spcBef>
              <a:spcAft>
                <a:spcPts val="300"/>
              </a:spcAft>
              <a:buFont typeface="Wingdings" panose="05000000000000000000" pitchFamily="2" charset="2"/>
              <a:buChar char="ü"/>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报头位置在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报头和传输层协议头之间。</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由协议号“</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51”</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标识 </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spTree>
    <p:extLst>
      <p:ext uri="{BB962C8B-B14F-4D97-AF65-F5344CB8AC3E}">
        <p14:creationId xmlns:p14="http://schemas.microsoft.com/office/powerpoint/2010/main" val="220219792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graphicFrame>
        <p:nvGraphicFramePr>
          <p:cNvPr id="2" name="表格 9">
            <a:extLst>
              <a:ext uri="{FF2B5EF4-FFF2-40B4-BE49-F238E27FC236}">
                <a16:creationId xmlns:a16="http://schemas.microsoft.com/office/drawing/2014/main" id="{E27A740D-1F0D-7A75-F5AE-77E504EB83DA}"/>
              </a:ext>
            </a:extLst>
          </p:cNvPr>
          <p:cNvGraphicFramePr>
            <a:graphicFrameLocks noGrp="1"/>
          </p:cNvGraphicFramePr>
          <p:nvPr>
            <p:extLst>
              <p:ext uri="{D42A27DB-BD31-4B8C-83A1-F6EECF244321}">
                <p14:modId xmlns:p14="http://schemas.microsoft.com/office/powerpoint/2010/main" val="2655320693"/>
              </p:ext>
            </p:extLst>
          </p:nvPr>
        </p:nvGraphicFramePr>
        <p:xfrm>
          <a:off x="-10510" y="2454846"/>
          <a:ext cx="2902902" cy="1554480"/>
        </p:xfrm>
        <a:graphic>
          <a:graphicData uri="http://schemas.openxmlformats.org/drawingml/2006/table">
            <a:tbl>
              <a:tblPr firstRow="1" bandRow="1">
                <a:tableStyleId>{5940675A-B579-460E-94D1-54222C63F5DA}</a:tableStyleId>
              </a:tblPr>
              <a:tblGrid>
                <a:gridCol w="1056005">
                  <a:extLst>
                    <a:ext uri="{9D8B030D-6E8A-4147-A177-3AD203B41FA5}">
                      <a16:colId xmlns:a16="http://schemas.microsoft.com/office/drawing/2014/main" val="3076137312"/>
                    </a:ext>
                  </a:extLst>
                </a:gridCol>
                <a:gridCol w="1056005">
                  <a:extLst>
                    <a:ext uri="{9D8B030D-6E8A-4147-A177-3AD203B41FA5}">
                      <a16:colId xmlns:a16="http://schemas.microsoft.com/office/drawing/2014/main" val="4171729965"/>
                    </a:ext>
                  </a:extLst>
                </a:gridCol>
                <a:gridCol w="790892">
                  <a:extLst>
                    <a:ext uri="{9D8B030D-6E8A-4147-A177-3AD203B41FA5}">
                      <a16:colId xmlns:a16="http://schemas.microsoft.com/office/drawing/2014/main" val="3376760152"/>
                    </a:ext>
                  </a:extLst>
                </a:gridCol>
              </a:tblGrid>
              <a:tr h="140429">
                <a:tc>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下一个头</a:t>
                      </a:r>
                      <a:endParaRPr lang="en-US" altLang="zh-CN" sz="1600" b="1" dirty="0">
                        <a:solidFill>
                          <a:schemeClr val="tx2">
                            <a:lumMod val="50000"/>
                          </a:schemeClr>
                        </a:solidFill>
                        <a:latin typeface="微软雅黑" panose="020B0503020204020204" pitchFamily="34" charset="-122"/>
                        <a:ea typeface="微软雅黑" panose="020B0503020204020204" pitchFamily="34" charset="-122"/>
                      </a:endParaRPr>
                    </a:p>
                    <a:p>
                      <a:pPr algn="ctr"/>
                      <a:r>
                        <a:rPr lang="en-US" altLang="zh-CN" sz="1400" b="0" dirty="0">
                          <a:solidFill>
                            <a:srgbClr val="F2861A"/>
                          </a:solidFill>
                          <a:latin typeface="微软雅黑" panose="020B0503020204020204" pitchFamily="34" charset="-122"/>
                          <a:ea typeface="微软雅黑" panose="020B0503020204020204" pitchFamily="34" charset="-122"/>
                        </a:rPr>
                        <a:t>(8bit)</a:t>
                      </a:r>
                      <a:endParaRPr lang="zh-CN" altLang="en-US" sz="1600" b="0" dirty="0">
                        <a:solidFill>
                          <a:srgbClr val="F2861A"/>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载荷长度</a:t>
                      </a:r>
                      <a:endParaRPr lang="en-US" altLang="zh-CN" sz="1600" b="1" dirty="0">
                        <a:solidFill>
                          <a:schemeClr val="tx2">
                            <a:lumMod val="50000"/>
                          </a:schemeClr>
                        </a:solidFill>
                        <a:latin typeface="微软雅黑" panose="020B0503020204020204" pitchFamily="34" charset="-122"/>
                        <a:ea typeface="微软雅黑" panose="020B0503020204020204" pitchFamily="34" charset="-122"/>
                      </a:endParaRPr>
                    </a:p>
                    <a:p>
                      <a:pPr algn="ctr"/>
                      <a:r>
                        <a:rPr lang="en-US" altLang="zh-CN" sz="1400" b="0" dirty="0">
                          <a:solidFill>
                            <a:srgbClr val="F2861A"/>
                          </a:solidFill>
                          <a:latin typeface="微软雅黑" panose="020B0503020204020204" pitchFamily="34" charset="-122"/>
                          <a:ea typeface="微软雅黑" panose="020B0503020204020204" pitchFamily="34" charset="-122"/>
                        </a:rPr>
                        <a:t>(8bit)</a:t>
                      </a:r>
                      <a:endParaRPr lang="zh-CN" altLang="en-US" sz="1600" b="0" dirty="0">
                        <a:solidFill>
                          <a:srgbClr val="F2861A"/>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保留</a:t>
                      </a:r>
                      <a:endParaRPr lang="en-US" altLang="zh-CN" sz="1600" b="1" dirty="0">
                        <a:solidFill>
                          <a:schemeClr val="tx2">
                            <a:lumMod val="50000"/>
                          </a:schemeClr>
                        </a:solidFill>
                        <a:latin typeface="微软雅黑" panose="020B0503020204020204" pitchFamily="34" charset="-122"/>
                        <a:ea typeface="微软雅黑" panose="020B0503020204020204" pitchFamily="34" charset="-122"/>
                      </a:endParaRPr>
                    </a:p>
                    <a:p>
                      <a:pPr algn="ctr"/>
                      <a:r>
                        <a:rPr lang="en-US" altLang="zh-CN" sz="1400" b="0" dirty="0">
                          <a:solidFill>
                            <a:srgbClr val="F2861A"/>
                          </a:solidFill>
                          <a:latin typeface="微软雅黑" panose="020B0503020204020204" pitchFamily="34" charset="-122"/>
                          <a:ea typeface="微软雅黑" panose="020B0503020204020204" pitchFamily="34" charset="-122"/>
                        </a:rPr>
                        <a:t>(16bit)</a:t>
                      </a:r>
                      <a:endParaRPr lang="zh-CN" altLang="en-US" sz="1600" b="0" dirty="0">
                        <a:solidFill>
                          <a:srgbClr val="F2861A"/>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503894422"/>
                  </a:ext>
                </a:extLst>
              </a:tr>
              <a:tr h="242560">
                <a:tc gridSpan="3">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安全参数索引</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65547257"/>
                  </a:ext>
                </a:extLst>
              </a:tr>
              <a:tr h="140429">
                <a:tc gridSpan="3">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序列号</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92879063"/>
                  </a:ext>
                </a:extLst>
              </a:tr>
              <a:tr h="140429">
                <a:tc gridSpan="3">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验证数据</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ct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27702733"/>
                  </a:ext>
                </a:extLst>
              </a:tr>
            </a:tbl>
          </a:graphicData>
        </a:graphic>
      </p:graphicFrame>
      <p:sp>
        <p:nvSpPr>
          <p:cNvPr id="10" name="矩形 9">
            <a:extLst>
              <a:ext uri="{FF2B5EF4-FFF2-40B4-BE49-F238E27FC236}">
                <a16:creationId xmlns:a16="http://schemas.microsoft.com/office/drawing/2014/main" id="{D6508D94-FDEA-7BCB-140D-0E546487DD8C}"/>
              </a:ext>
            </a:extLst>
          </p:cNvPr>
          <p:cNvSpPr/>
          <p:nvPr/>
        </p:nvSpPr>
        <p:spPr>
          <a:xfrm>
            <a:off x="510670" y="4299976"/>
            <a:ext cx="1701107" cy="369332"/>
          </a:xfrm>
          <a:prstGeom prst="rect">
            <a:avLst/>
          </a:prstGeom>
        </p:spPr>
        <p:txBody>
          <a:bodyPr wrap="none">
            <a:spAutoFit/>
          </a:bodyPr>
          <a:lstStyle/>
          <a:p>
            <a:pPr lvl="0"/>
            <a:r>
              <a:rPr lang="en-US" altLang="zh-CN" sz="1800" b="1" dirty="0">
                <a:solidFill>
                  <a:srgbClr val="00B0F0"/>
                </a:solidFill>
                <a:latin typeface="微软雅黑" panose="020B0503020204020204" charset="-122"/>
                <a:ea typeface="微软雅黑" panose="020B0503020204020204" charset="-122"/>
              </a:rPr>
              <a:t>AH</a:t>
            </a:r>
            <a:r>
              <a:rPr lang="zh-CN" altLang="en-US" sz="1800" b="1" dirty="0">
                <a:solidFill>
                  <a:srgbClr val="00B0F0"/>
                </a:solidFill>
                <a:latin typeface="微软雅黑" panose="020B0503020204020204" charset="-122"/>
                <a:ea typeface="微软雅黑" panose="020B0503020204020204" charset="-122"/>
              </a:rPr>
              <a:t>的报头格式</a:t>
            </a:r>
          </a:p>
        </p:txBody>
      </p:sp>
      <p:graphicFrame>
        <p:nvGraphicFramePr>
          <p:cNvPr id="11" name="表格 11">
            <a:extLst>
              <a:ext uri="{FF2B5EF4-FFF2-40B4-BE49-F238E27FC236}">
                <a16:creationId xmlns:a16="http://schemas.microsoft.com/office/drawing/2014/main" id="{73AB1406-DE33-6383-0A6C-4FE94F800F9D}"/>
              </a:ext>
            </a:extLst>
          </p:cNvPr>
          <p:cNvGraphicFramePr>
            <a:graphicFrameLocks noGrp="1"/>
          </p:cNvGraphicFramePr>
          <p:nvPr>
            <p:extLst>
              <p:ext uri="{D42A27DB-BD31-4B8C-83A1-F6EECF244321}">
                <p14:modId xmlns:p14="http://schemas.microsoft.com/office/powerpoint/2010/main" val="2908811086"/>
              </p:ext>
            </p:extLst>
          </p:nvPr>
        </p:nvGraphicFramePr>
        <p:xfrm>
          <a:off x="6861810" y="632130"/>
          <a:ext cx="2282190" cy="370840"/>
        </p:xfrm>
        <a:graphic>
          <a:graphicData uri="http://schemas.openxmlformats.org/drawingml/2006/table">
            <a:tbl>
              <a:tblPr firstRow="1" bandRow="1">
                <a:tableStyleId>{5C22544A-7EE6-4342-B048-85BDC9FD1C3A}</a:tableStyleId>
              </a:tblPr>
              <a:tblGrid>
                <a:gridCol w="1116330">
                  <a:extLst>
                    <a:ext uri="{9D8B030D-6E8A-4147-A177-3AD203B41FA5}">
                      <a16:colId xmlns:a16="http://schemas.microsoft.com/office/drawing/2014/main" val="4041218918"/>
                    </a:ext>
                  </a:extLst>
                </a:gridCol>
                <a:gridCol w="582930">
                  <a:extLst>
                    <a:ext uri="{9D8B030D-6E8A-4147-A177-3AD203B41FA5}">
                      <a16:colId xmlns:a16="http://schemas.microsoft.com/office/drawing/2014/main" val="2282775867"/>
                    </a:ext>
                  </a:extLst>
                </a:gridCol>
                <a:gridCol w="582930">
                  <a:extLst>
                    <a:ext uri="{9D8B030D-6E8A-4147-A177-3AD203B41FA5}">
                      <a16:colId xmlns:a16="http://schemas.microsoft.com/office/drawing/2014/main" val="1909783261"/>
                    </a:ext>
                  </a:extLst>
                </a:gridCol>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tc>
                <a:extLst>
                  <a:ext uri="{0D108BD9-81ED-4DB2-BD59-A6C34878D82A}">
                    <a16:rowId xmlns:a16="http://schemas.microsoft.com/office/drawing/2014/main" val="737510437"/>
                  </a:ext>
                </a:extLst>
              </a:tr>
            </a:tbl>
          </a:graphicData>
        </a:graphic>
      </p:graphicFrame>
      <p:graphicFrame>
        <p:nvGraphicFramePr>
          <p:cNvPr id="12" name="表格 11">
            <a:extLst>
              <a:ext uri="{FF2B5EF4-FFF2-40B4-BE49-F238E27FC236}">
                <a16:creationId xmlns:a16="http://schemas.microsoft.com/office/drawing/2014/main" id="{82183642-20BE-9A40-4B0B-0468460A7575}"/>
              </a:ext>
            </a:extLst>
          </p:cNvPr>
          <p:cNvGraphicFramePr>
            <a:graphicFrameLocks noGrp="1"/>
          </p:cNvGraphicFramePr>
          <p:nvPr>
            <p:extLst>
              <p:ext uri="{D42A27DB-BD31-4B8C-83A1-F6EECF244321}">
                <p14:modId xmlns:p14="http://schemas.microsoft.com/office/powerpoint/2010/main" val="2332913993"/>
              </p:ext>
            </p:extLst>
          </p:nvPr>
        </p:nvGraphicFramePr>
        <p:xfrm>
          <a:off x="5034280" y="1122454"/>
          <a:ext cx="4109720" cy="370840"/>
        </p:xfrm>
        <a:graphic>
          <a:graphicData uri="http://schemas.openxmlformats.org/drawingml/2006/table">
            <a:tbl>
              <a:tblPr firstRow="1" bandRow="1">
                <a:tableStyleId>{5C22544A-7EE6-4342-B048-85BDC9FD1C3A}</a:tableStyleId>
              </a:tblPr>
              <a:tblGrid>
                <a:gridCol w="1116330">
                  <a:extLst>
                    <a:ext uri="{9D8B030D-6E8A-4147-A177-3AD203B41FA5}">
                      <a16:colId xmlns:a16="http://schemas.microsoft.com/office/drawing/2014/main" val="4041218918"/>
                    </a:ext>
                  </a:extLst>
                </a:gridCol>
                <a:gridCol w="1827530">
                  <a:extLst>
                    <a:ext uri="{9D8B030D-6E8A-4147-A177-3AD203B41FA5}">
                      <a16:colId xmlns:a16="http://schemas.microsoft.com/office/drawing/2014/main" val="1473407067"/>
                    </a:ext>
                  </a:extLst>
                </a:gridCol>
                <a:gridCol w="582930">
                  <a:extLst>
                    <a:ext uri="{9D8B030D-6E8A-4147-A177-3AD203B41FA5}">
                      <a16:colId xmlns:a16="http://schemas.microsoft.com/office/drawing/2014/main" val="2282775867"/>
                    </a:ext>
                  </a:extLst>
                </a:gridCol>
                <a:gridCol w="582930">
                  <a:extLst>
                    <a:ext uri="{9D8B030D-6E8A-4147-A177-3AD203B41FA5}">
                      <a16:colId xmlns:a16="http://schemas.microsoft.com/office/drawing/2014/main" val="1909783261"/>
                    </a:ext>
                  </a:extLst>
                </a:gridCol>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扩展报头（如存在）</a:t>
                      </a: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tc>
                <a:extLst>
                  <a:ext uri="{0D108BD9-81ED-4DB2-BD59-A6C34878D82A}">
                    <a16:rowId xmlns:a16="http://schemas.microsoft.com/office/drawing/2014/main" val="737510437"/>
                  </a:ext>
                </a:extLst>
              </a:tr>
            </a:tbl>
          </a:graphicData>
        </a:graphic>
      </p:graphicFrame>
      <p:graphicFrame>
        <p:nvGraphicFramePr>
          <p:cNvPr id="13" name="表格 11">
            <a:extLst>
              <a:ext uri="{FF2B5EF4-FFF2-40B4-BE49-F238E27FC236}">
                <a16:creationId xmlns:a16="http://schemas.microsoft.com/office/drawing/2014/main" id="{98BE8655-632C-D75D-7AD0-F048F5A1B37F}"/>
              </a:ext>
            </a:extLst>
          </p:cNvPr>
          <p:cNvGraphicFramePr>
            <a:graphicFrameLocks noGrp="1"/>
          </p:cNvGraphicFramePr>
          <p:nvPr>
            <p:extLst>
              <p:ext uri="{D42A27DB-BD31-4B8C-83A1-F6EECF244321}">
                <p14:modId xmlns:p14="http://schemas.microsoft.com/office/powerpoint/2010/main" val="3177280729"/>
              </p:ext>
            </p:extLst>
          </p:nvPr>
        </p:nvGraphicFramePr>
        <p:xfrm>
          <a:off x="6397481" y="1767046"/>
          <a:ext cx="2746519" cy="370840"/>
        </p:xfrm>
        <a:graphic>
          <a:graphicData uri="http://schemas.openxmlformats.org/drawingml/2006/table">
            <a:tbl>
              <a:tblPr firstRow="1" bandRow="1">
                <a:tableStyleId>{5C22544A-7EE6-4342-B048-85BDC9FD1C3A}</a:tableStyleId>
              </a:tblPr>
              <a:tblGrid>
                <a:gridCol w="1116330">
                  <a:extLst>
                    <a:ext uri="{9D8B030D-6E8A-4147-A177-3AD203B41FA5}">
                      <a16:colId xmlns:a16="http://schemas.microsoft.com/office/drawing/2014/main" val="4041218918"/>
                    </a:ext>
                  </a:extLst>
                </a:gridCol>
                <a:gridCol w="464329">
                  <a:extLst>
                    <a:ext uri="{9D8B030D-6E8A-4147-A177-3AD203B41FA5}">
                      <a16:colId xmlns:a16="http://schemas.microsoft.com/office/drawing/2014/main" val="3584281342"/>
                    </a:ext>
                  </a:extLst>
                </a:gridCol>
                <a:gridCol w="582930">
                  <a:extLst>
                    <a:ext uri="{9D8B030D-6E8A-4147-A177-3AD203B41FA5}">
                      <a16:colId xmlns:a16="http://schemas.microsoft.com/office/drawing/2014/main" val="2282775867"/>
                    </a:ext>
                  </a:extLst>
                </a:gridCol>
                <a:gridCol w="582930">
                  <a:extLst>
                    <a:ext uri="{9D8B030D-6E8A-4147-A177-3AD203B41FA5}">
                      <a16:colId xmlns:a16="http://schemas.microsoft.com/office/drawing/2014/main" val="1909783261"/>
                    </a:ext>
                  </a:extLst>
                </a:gridCol>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AH</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tc>
                <a:extLst>
                  <a:ext uri="{0D108BD9-81ED-4DB2-BD59-A6C34878D82A}">
                    <a16:rowId xmlns:a16="http://schemas.microsoft.com/office/drawing/2014/main" val="737510437"/>
                  </a:ext>
                </a:extLst>
              </a:tr>
            </a:tbl>
          </a:graphicData>
        </a:graphic>
      </p:graphicFrame>
      <p:graphicFrame>
        <p:nvGraphicFramePr>
          <p:cNvPr id="14" name="表格 13">
            <a:extLst>
              <a:ext uri="{FF2B5EF4-FFF2-40B4-BE49-F238E27FC236}">
                <a16:creationId xmlns:a16="http://schemas.microsoft.com/office/drawing/2014/main" id="{0F8B9CB8-1134-B645-D6E9-A05C9EF7FA2E}"/>
              </a:ext>
            </a:extLst>
          </p:cNvPr>
          <p:cNvGraphicFramePr>
            <a:graphicFrameLocks noGrp="1"/>
          </p:cNvGraphicFramePr>
          <p:nvPr>
            <p:extLst>
              <p:ext uri="{D42A27DB-BD31-4B8C-83A1-F6EECF244321}">
                <p14:modId xmlns:p14="http://schemas.microsoft.com/office/powerpoint/2010/main" val="2519080409"/>
              </p:ext>
            </p:extLst>
          </p:nvPr>
        </p:nvGraphicFramePr>
        <p:xfrm>
          <a:off x="4135120" y="2224999"/>
          <a:ext cx="5008880" cy="518160"/>
        </p:xfrm>
        <a:graphic>
          <a:graphicData uri="http://schemas.openxmlformats.org/drawingml/2006/table">
            <a:tbl>
              <a:tblPr firstRow="1" bandRow="1">
                <a:tableStyleId>{5C22544A-7EE6-4342-B048-85BDC9FD1C3A}</a:tableStyleId>
              </a:tblPr>
              <a:tblGrid>
                <a:gridCol w="1116330">
                  <a:extLst>
                    <a:ext uri="{9D8B030D-6E8A-4147-A177-3AD203B41FA5}">
                      <a16:colId xmlns:a16="http://schemas.microsoft.com/office/drawing/2014/main" val="4041218918"/>
                    </a:ext>
                  </a:extLst>
                </a:gridCol>
                <a:gridCol w="1649730">
                  <a:extLst>
                    <a:ext uri="{9D8B030D-6E8A-4147-A177-3AD203B41FA5}">
                      <a16:colId xmlns:a16="http://schemas.microsoft.com/office/drawing/2014/main" val="1473407067"/>
                    </a:ext>
                  </a:extLst>
                </a:gridCol>
                <a:gridCol w="494030">
                  <a:extLst>
                    <a:ext uri="{9D8B030D-6E8A-4147-A177-3AD203B41FA5}">
                      <a16:colId xmlns:a16="http://schemas.microsoft.com/office/drawing/2014/main" val="2402525791"/>
                    </a:ext>
                  </a:extLst>
                </a:gridCol>
                <a:gridCol w="582930">
                  <a:extLst>
                    <a:ext uri="{9D8B030D-6E8A-4147-A177-3AD203B41FA5}">
                      <a16:colId xmlns:a16="http://schemas.microsoft.com/office/drawing/2014/main" val="804523899"/>
                    </a:ext>
                  </a:extLst>
                </a:gridCol>
                <a:gridCol w="582930">
                  <a:extLst>
                    <a:ext uri="{9D8B030D-6E8A-4147-A177-3AD203B41FA5}">
                      <a16:colId xmlns:a16="http://schemas.microsoft.com/office/drawing/2014/main" val="2282775867"/>
                    </a:ext>
                  </a:extLst>
                </a:gridCol>
                <a:gridCol w="582930">
                  <a:extLst>
                    <a:ext uri="{9D8B030D-6E8A-4147-A177-3AD203B41FA5}">
                      <a16:colId xmlns:a16="http://schemas.microsoft.com/office/drawing/2014/main" val="1909783261"/>
                    </a:ext>
                  </a:extLst>
                </a:gridCol>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nchor="ct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逐个跃点、目标、</a:t>
                      </a:r>
                      <a:endParaRPr lang="en-US" altLang="zh-CN" sz="1400" dirty="0">
                        <a:latin typeface="Times New Roman" panose="02020603050405020304" pitchFamily="18" charset="0"/>
                        <a:ea typeface="微软雅黑" panose="020B0503020204020204" pitchFamily="34" charset="-122"/>
                        <a:cs typeface="Times New Roman" panose="02020603050405020304" pitchFamily="18" charset="0"/>
                      </a:endParaRPr>
                    </a:p>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路由、分段</a:t>
                      </a:r>
                    </a:p>
                  </a:txBody>
                  <a:tcPr anchor="ct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AH</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861A"/>
                    </a:solidFill>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目标</a:t>
                      </a:r>
                    </a:p>
                  </a:txBody>
                  <a:tcPr anchor="ct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nchor="ctr"/>
                </a:tc>
                <a:extLst>
                  <a:ext uri="{0D108BD9-81ED-4DB2-BD59-A6C34878D82A}">
                    <a16:rowId xmlns:a16="http://schemas.microsoft.com/office/drawing/2014/main" val="737510437"/>
                  </a:ext>
                </a:extLst>
              </a:tr>
            </a:tbl>
          </a:graphicData>
        </a:graphic>
      </p:graphicFrame>
      <p:graphicFrame>
        <p:nvGraphicFramePr>
          <p:cNvPr id="15" name="表格 11">
            <a:extLst>
              <a:ext uri="{FF2B5EF4-FFF2-40B4-BE49-F238E27FC236}">
                <a16:creationId xmlns:a16="http://schemas.microsoft.com/office/drawing/2014/main" id="{077F3E0B-1EAD-429B-2233-10E3F50924E9}"/>
              </a:ext>
            </a:extLst>
          </p:cNvPr>
          <p:cNvGraphicFramePr>
            <a:graphicFrameLocks noGrp="1"/>
          </p:cNvGraphicFramePr>
          <p:nvPr>
            <p:extLst>
              <p:ext uri="{D42A27DB-BD31-4B8C-83A1-F6EECF244321}">
                <p14:modId xmlns:p14="http://schemas.microsoft.com/office/powerpoint/2010/main" val="167006286"/>
              </p:ext>
            </p:extLst>
          </p:nvPr>
        </p:nvGraphicFramePr>
        <p:xfrm>
          <a:off x="5251450" y="3088859"/>
          <a:ext cx="3892550" cy="370840"/>
        </p:xfrm>
        <a:graphic>
          <a:graphicData uri="http://schemas.openxmlformats.org/drawingml/2006/table">
            <a:tbl>
              <a:tblPr firstRow="1" bandRow="1">
                <a:tableStyleId>{5C22544A-7EE6-4342-B048-85BDC9FD1C3A}</a:tableStyleId>
              </a:tblPr>
              <a:tblGrid>
                <a:gridCol w="1116330">
                  <a:extLst>
                    <a:ext uri="{9D8B030D-6E8A-4147-A177-3AD203B41FA5}">
                      <a16:colId xmlns:a16="http://schemas.microsoft.com/office/drawing/2014/main" val="539854762"/>
                    </a:ext>
                  </a:extLst>
                </a:gridCol>
                <a:gridCol w="494030">
                  <a:extLst>
                    <a:ext uri="{9D8B030D-6E8A-4147-A177-3AD203B41FA5}">
                      <a16:colId xmlns:a16="http://schemas.microsoft.com/office/drawing/2014/main" val="785963017"/>
                    </a:ext>
                  </a:extLst>
                </a:gridCol>
                <a:gridCol w="1116330">
                  <a:extLst>
                    <a:ext uri="{9D8B030D-6E8A-4147-A177-3AD203B41FA5}">
                      <a16:colId xmlns:a16="http://schemas.microsoft.com/office/drawing/2014/main" val="4041218918"/>
                    </a:ext>
                  </a:extLst>
                </a:gridCol>
                <a:gridCol w="582930">
                  <a:extLst>
                    <a:ext uri="{9D8B030D-6E8A-4147-A177-3AD203B41FA5}">
                      <a16:colId xmlns:a16="http://schemas.microsoft.com/office/drawing/2014/main" val="2282775867"/>
                    </a:ext>
                  </a:extLst>
                </a:gridCol>
                <a:gridCol w="582930">
                  <a:extLst>
                    <a:ext uri="{9D8B030D-6E8A-4147-A177-3AD203B41FA5}">
                      <a16:colId xmlns:a16="http://schemas.microsoft.com/office/drawing/2014/main" val="1909783261"/>
                    </a:ext>
                  </a:extLst>
                </a:gridCol>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新的</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AH</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tc>
                <a:extLst>
                  <a:ext uri="{0D108BD9-81ED-4DB2-BD59-A6C34878D82A}">
                    <a16:rowId xmlns:a16="http://schemas.microsoft.com/office/drawing/2014/main" val="737510437"/>
                  </a:ext>
                </a:extLst>
              </a:tr>
            </a:tbl>
          </a:graphicData>
        </a:graphic>
      </p:graphicFrame>
      <p:graphicFrame>
        <p:nvGraphicFramePr>
          <p:cNvPr id="16" name="表格 11">
            <a:extLst>
              <a:ext uri="{FF2B5EF4-FFF2-40B4-BE49-F238E27FC236}">
                <a16:creationId xmlns:a16="http://schemas.microsoft.com/office/drawing/2014/main" id="{00817B4A-FABF-AEEF-19F8-030ED219414D}"/>
              </a:ext>
            </a:extLst>
          </p:cNvPr>
          <p:cNvGraphicFramePr>
            <a:graphicFrameLocks noGrp="1"/>
          </p:cNvGraphicFramePr>
          <p:nvPr>
            <p:extLst>
              <p:ext uri="{D42A27DB-BD31-4B8C-83A1-F6EECF244321}">
                <p14:modId xmlns:p14="http://schemas.microsoft.com/office/powerpoint/2010/main" val="2380335584"/>
              </p:ext>
            </p:extLst>
          </p:nvPr>
        </p:nvGraphicFramePr>
        <p:xfrm>
          <a:off x="3374390" y="3560514"/>
          <a:ext cx="5769610" cy="370840"/>
        </p:xfrm>
        <a:graphic>
          <a:graphicData uri="http://schemas.openxmlformats.org/drawingml/2006/table">
            <a:tbl>
              <a:tblPr firstRow="1" bandRow="1">
                <a:tableStyleId>{5C22544A-7EE6-4342-B048-85BDC9FD1C3A}</a:tableStyleId>
              </a:tblPr>
              <a:tblGrid>
                <a:gridCol w="1116330">
                  <a:extLst>
                    <a:ext uri="{9D8B030D-6E8A-4147-A177-3AD203B41FA5}">
                      <a16:colId xmlns:a16="http://schemas.microsoft.com/office/drawing/2014/main" val="539854762"/>
                    </a:ext>
                  </a:extLst>
                </a:gridCol>
                <a:gridCol w="938530">
                  <a:extLst>
                    <a:ext uri="{9D8B030D-6E8A-4147-A177-3AD203B41FA5}">
                      <a16:colId xmlns:a16="http://schemas.microsoft.com/office/drawing/2014/main" val="1570624074"/>
                    </a:ext>
                  </a:extLst>
                </a:gridCol>
                <a:gridCol w="494030">
                  <a:extLst>
                    <a:ext uri="{9D8B030D-6E8A-4147-A177-3AD203B41FA5}">
                      <a16:colId xmlns:a16="http://schemas.microsoft.com/office/drawing/2014/main" val="785963017"/>
                    </a:ext>
                  </a:extLst>
                </a:gridCol>
                <a:gridCol w="1116330">
                  <a:extLst>
                    <a:ext uri="{9D8B030D-6E8A-4147-A177-3AD203B41FA5}">
                      <a16:colId xmlns:a16="http://schemas.microsoft.com/office/drawing/2014/main" val="4041218918"/>
                    </a:ext>
                  </a:extLst>
                </a:gridCol>
                <a:gridCol w="938530">
                  <a:extLst>
                    <a:ext uri="{9D8B030D-6E8A-4147-A177-3AD203B41FA5}">
                      <a16:colId xmlns:a16="http://schemas.microsoft.com/office/drawing/2014/main" val="1204753630"/>
                    </a:ext>
                  </a:extLst>
                </a:gridCol>
                <a:gridCol w="582930">
                  <a:extLst>
                    <a:ext uri="{9D8B030D-6E8A-4147-A177-3AD203B41FA5}">
                      <a16:colId xmlns:a16="http://schemas.microsoft.com/office/drawing/2014/main" val="2282775867"/>
                    </a:ext>
                  </a:extLst>
                </a:gridCol>
                <a:gridCol w="582930">
                  <a:extLst>
                    <a:ext uri="{9D8B030D-6E8A-4147-A177-3AD203B41FA5}">
                      <a16:colId xmlns:a16="http://schemas.microsoft.com/office/drawing/2014/main" val="1909783261"/>
                    </a:ext>
                  </a:extLst>
                </a:gridCol>
              </a:tblGrid>
              <a:tr h="370840">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新的</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扩展报头</a:t>
                      </a: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AH</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solidFill>
                      <a:srgbClr val="F2861A"/>
                    </a:solidFill>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扩展报头</a:t>
                      </a:r>
                    </a:p>
                  </a:txBody>
                  <a:tcPr/>
                </a:tc>
                <a:tc>
                  <a:txBody>
                    <a:bodyPr/>
                    <a:lstStyle/>
                    <a:p>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tc>
                <a:extLst>
                  <a:ext uri="{0D108BD9-81ED-4DB2-BD59-A6C34878D82A}">
                    <a16:rowId xmlns:a16="http://schemas.microsoft.com/office/drawing/2014/main" val="737510437"/>
                  </a:ext>
                </a:extLst>
              </a:tr>
            </a:tbl>
          </a:graphicData>
        </a:graphic>
      </p:graphicFrame>
      <p:sp>
        <p:nvSpPr>
          <p:cNvPr id="17" name="矩形 16">
            <a:extLst>
              <a:ext uri="{FF2B5EF4-FFF2-40B4-BE49-F238E27FC236}">
                <a16:creationId xmlns:a16="http://schemas.microsoft.com/office/drawing/2014/main" id="{8B64758C-4301-EB30-E6B2-44390F23A326}"/>
              </a:ext>
            </a:extLst>
          </p:cNvPr>
          <p:cNvSpPr/>
          <p:nvPr/>
        </p:nvSpPr>
        <p:spPr>
          <a:xfrm>
            <a:off x="4291110" y="4299976"/>
            <a:ext cx="4469493" cy="369332"/>
          </a:xfrm>
          <a:prstGeom prst="rect">
            <a:avLst/>
          </a:prstGeom>
        </p:spPr>
        <p:txBody>
          <a:bodyPr wrap="none">
            <a:spAutoFit/>
          </a:bodyPr>
          <a:lstStyle/>
          <a:p>
            <a:r>
              <a:rPr lang="en-US" altLang="zh-CN" b="1" dirty="0">
                <a:solidFill>
                  <a:srgbClr val="00B0F0"/>
                </a:solidFill>
                <a:latin typeface="微软雅黑" panose="020B0503020204020204" charset="-122"/>
                <a:ea typeface="微软雅黑" panose="020B0503020204020204" charset="-122"/>
              </a:rPr>
              <a:t>IP</a:t>
            </a:r>
            <a:r>
              <a:rPr lang="zh-CN" altLang="en-US" b="1" dirty="0">
                <a:solidFill>
                  <a:srgbClr val="00B0F0"/>
                </a:solidFill>
                <a:latin typeface="微软雅黑" panose="020B0503020204020204" charset="-122"/>
                <a:ea typeface="微软雅黑" panose="020B0503020204020204" charset="-122"/>
              </a:rPr>
              <a:t>包在两种模式下增加</a:t>
            </a:r>
            <a:r>
              <a:rPr lang="en-US" altLang="zh-CN" b="1" dirty="0">
                <a:solidFill>
                  <a:srgbClr val="00B0F0"/>
                </a:solidFill>
                <a:latin typeface="微软雅黑" panose="020B0503020204020204" charset="-122"/>
                <a:ea typeface="微软雅黑" panose="020B0503020204020204" charset="-122"/>
              </a:rPr>
              <a:t>AH</a:t>
            </a:r>
            <a:r>
              <a:rPr lang="zh-CN" altLang="en-US" b="1" dirty="0">
                <a:solidFill>
                  <a:srgbClr val="00B0F0"/>
                </a:solidFill>
                <a:latin typeface="微软雅黑" panose="020B0503020204020204" charset="-122"/>
                <a:ea typeface="微软雅黑" panose="020B0503020204020204" charset="-122"/>
              </a:rPr>
              <a:t>的位置和效果图</a:t>
            </a:r>
          </a:p>
        </p:txBody>
      </p:sp>
      <p:sp>
        <p:nvSpPr>
          <p:cNvPr id="18" name="矩形 17">
            <a:extLst>
              <a:ext uri="{FF2B5EF4-FFF2-40B4-BE49-F238E27FC236}">
                <a16:creationId xmlns:a16="http://schemas.microsoft.com/office/drawing/2014/main" id="{DDED4089-6A51-6BA0-4DFD-19B3C43273BA}"/>
              </a:ext>
            </a:extLst>
          </p:cNvPr>
          <p:cNvSpPr/>
          <p:nvPr/>
        </p:nvSpPr>
        <p:spPr>
          <a:xfrm>
            <a:off x="6732240" y="1485274"/>
            <a:ext cx="2325226" cy="307777"/>
          </a:xfrm>
          <a:prstGeom prst="rect">
            <a:avLst/>
          </a:prstGeom>
        </p:spPr>
        <p:txBody>
          <a:bodyPr wrap="square">
            <a:spAutoFit/>
          </a:bodyPr>
          <a:lstStyle/>
          <a:p>
            <a:pPr marL="0" marR="0" indent="269875" algn="r"/>
            <a:r>
              <a:rPr lang="zh-CN" altLang="en-US" sz="1400" dirty="0">
                <a:solidFill>
                  <a:srgbClr val="000000"/>
                </a:solidFill>
                <a:latin typeface="微软雅黑" panose="020B0503020204020204" charset="-122"/>
                <a:ea typeface="微软雅黑" panose="020B0503020204020204" charset="-122"/>
              </a:rPr>
              <a:t>（</a:t>
            </a:r>
            <a:r>
              <a:rPr lang="en-US" altLang="zh-CN" sz="1400" dirty="0">
                <a:solidFill>
                  <a:srgbClr val="000000"/>
                </a:solidFill>
                <a:latin typeface="微软雅黑" panose="020B0503020204020204" charset="-122"/>
                <a:ea typeface="微软雅黑" panose="020B0503020204020204" charset="-122"/>
              </a:rPr>
              <a:t>a</a:t>
            </a:r>
            <a:r>
              <a:rPr lang="zh-CN" altLang="en-US" sz="1400" dirty="0">
                <a:solidFill>
                  <a:srgbClr val="000000"/>
                </a:solidFill>
                <a:latin typeface="微软雅黑" panose="020B0503020204020204" charset="-122"/>
                <a:ea typeface="微软雅黑" panose="020B0503020204020204" charset="-122"/>
              </a:rPr>
              <a:t>）在应用</a:t>
            </a:r>
            <a:r>
              <a:rPr lang="en-US" altLang="zh-CN" sz="1400" dirty="0">
                <a:solidFill>
                  <a:srgbClr val="000000"/>
                </a:solidFill>
                <a:latin typeface="微软雅黑" panose="020B0503020204020204" charset="-122"/>
                <a:ea typeface="微软雅黑" panose="020B0503020204020204" charset="-122"/>
              </a:rPr>
              <a:t>AH</a:t>
            </a:r>
            <a:r>
              <a:rPr lang="zh-CN" altLang="en-US" sz="1400" dirty="0">
                <a:solidFill>
                  <a:srgbClr val="000000"/>
                </a:solidFill>
                <a:latin typeface="微软雅黑" panose="020B0503020204020204" charset="-122"/>
                <a:ea typeface="微软雅黑" panose="020B0503020204020204" charset="-122"/>
              </a:rPr>
              <a:t>之前</a:t>
            </a:r>
          </a:p>
        </p:txBody>
      </p:sp>
      <p:sp>
        <p:nvSpPr>
          <p:cNvPr id="19" name="矩形 18">
            <a:extLst>
              <a:ext uri="{FF2B5EF4-FFF2-40B4-BE49-F238E27FC236}">
                <a16:creationId xmlns:a16="http://schemas.microsoft.com/office/drawing/2014/main" id="{BBD6FBF1-2165-C702-BAB6-76BE91469754}"/>
              </a:ext>
            </a:extLst>
          </p:cNvPr>
          <p:cNvSpPr/>
          <p:nvPr/>
        </p:nvSpPr>
        <p:spPr>
          <a:xfrm>
            <a:off x="5421379" y="2730879"/>
            <a:ext cx="4698722" cy="307777"/>
          </a:xfrm>
          <a:prstGeom prst="rect">
            <a:avLst/>
          </a:prstGeom>
        </p:spPr>
        <p:txBody>
          <a:bodyPr wrap="square">
            <a:spAutoFit/>
          </a:bodyPr>
          <a:lstStyle/>
          <a:p>
            <a:pPr marL="0" marR="0" indent="269875" algn="ctr"/>
            <a:r>
              <a:rPr lang="zh-CN" altLang="en-US" sz="1400" dirty="0">
                <a:solidFill>
                  <a:srgbClr val="000000"/>
                </a:solidFill>
                <a:latin typeface="微软雅黑" panose="020B0503020204020204" charset="-122"/>
                <a:ea typeface="微软雅黑" panose="020B0503020204020204" charset="-122"/>
              </a:rPr>
              <a:t>（</a:t>
            </a:r>
            <a:r>
              <a:rPr lang="en-US" altLang="zh-CN" sz="1400" dirty="0">
                <a:solidFill>
                  <a:srgbClr val="000000"/>
                </a:solidFill>
                <a:latin typeface="微软雅黑" panose="020B0503020204020204" charset="-122"/>
                <a:ea typeface="微软雅黑" panose="020B0503020204020204" charset="-122"/>
              </a:rPr>
              <a:t>b</a:t>
            </a:r>
            <a:r>
              <a:rPr lang="zh-CN" altLang="en-US" sz="1400" dirty="0">
                <a:solidFill>
                  <a:srgbClr val="000000"/>
                </a:solidFill>
                <a:latin typeface="微软雅黑" panose="020B0503020204020204" charset="-122"/>
                <a:ea typeface="微软雅黑" panose="020B0503020204020204" charset="-122"/>
              </a:rPr>
              <a:t>）传输模式</a:t>
            </a:r>
          </a:p>
        </p:txBody>
      </p:sp>
      <p:sp>
        <p:nvSpPr>
          <p:cNvPr id="20" name="矩形 19">
            <a:extLst>
              <a:ext uri="{FF2B5EF4-FFF2-40B4-BE49-F238E27FC236}">
                <a16:creationId xmlns:a16="http://schemas.microsoft.com/office/drawing/2014/main" id="{D4BAD976-AEEC-BB78-CF0F-A71904C55124}"/>
              </a:ext>
            </a:extLst>
          </p:cNvPr>
          <p:cNvSpPr/>
          <p:nvPr/>
        </p:nvSpPr>
        <p:spPr>
          <a:xfrm>
            <a:off x="5419295" y="3931354"/>
            <a:ext cx="4698722" cy="307777"/>
          </a:xfrm>
          <a:prstGeom prst="rect">
            <a:avLst/>
          </a:prstGeom>
        </p:spPr>
        <p:txBody>
          <a:bodyPr wrap="square">
            <a:spAutoFit/>
          </a:bodyPr>
          <a:lstStyle/>
          <a:p>
            <a:pPr marL="0" marR="0" indent="269875" algn="ctr"/>
            <a:r>
              <a:rPr lang="zh-CN" altLang="en-US" sz="1400" dirty="0">
                <a:solidFill>
                  <a:srgbClr val="000000"/>
                </a:solidFill>
                <a:latin typeface="微软雅黑" panose="020B0503020204020204" charset="-122"/>
                <a:ea typeface="微软雅黑" panose="020B0503020204020204" charset="-122"/>
              </a:rPr>
              <a:t>（</a:t>
            </a:r>
            <a:r>
              <a:rPr lang="en-US" altLang="zh-CN" sz="1400" dirty="0">
                <a:solidFill>
                  <a:srgbClr val="000000"/>
                </a:solidFill>
                <a:latin typeface="微软雅黑" panose="020B0503020204020204" charset="-122"/>
                <a:ea typeface="微软雅黑" panose="020B0503020204020204" charset="-122"/>
              </a:rPr>
              <a:t>c</a:t>
            </a:r>
            <a:r>
              <a:rPr lang="zh-CN" altLang="en-US" sz="1400" dirty="0">
                <a:solidFill>
                  <a:srgbClr val="000000"/>
                </a:solidFill>
                <a:latin typeface="微软雅黑" panose="020B0503020204020204" charset="-122"/>
                <a:ea typeface="微软雅黑" panose="020B0503020204020204" charset="-122"/>
              </a:rPr>
              <a:t>）隧道模式</a:t>
            </a:r>
          </a:p>
        </p:txBody>
      </p:sp>
      <p:sp>
        <p:nvSpPr>
          <p:cNvPr id="21" name="矩形 20">
            <a:extLst>
              <a:ext uri="{FF2B5EF4-FFF2-40B4-BE49-F238E27FC236}">
                <a16:creationId xmlns:a16="http://schemas.microsoft.com/office/drawing/2014/main" id="{F09484A5-3CEB-A438-00BC-19FB5A5F1F44}"/>
              </a:ext>
            </a:extLst>
          </p:cNvPr>
          <p:cNvSpPr/>
          <p:nvPr/>
        </p:nvSpPr>
        <p:spPr>
          <a:xfrm>
            <a:off x="4525081" y="651217"/>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charset="-122"/>
                <a:ea typeface="微软雅黑" panose="020B0503020204020204" charset="-122"/>
              </a:rPr>
              <a:t>IPv4</a:t>
            </a:r>
            <a:endParaRPr lang="zh-CN" altLang="en-US" sz="1400" dirty="0">
              <a:solidFill>
                <a:srgbClr val="000000"/>
              </a:solidFill>
              <a:latin typeface="微软雅黑" panose="020B0503020204020204" charset="-122"/>
              <a:ea typeface="微软雅黑" panose="020B0503020204020204" charset="-122"/>
            </a:endParaRPr>
          </a:p>
        </p:txBody>
      </p:sp>
      <p:sp>
        <p:nvSpPr>
          <p:cNvPr id="22" name="矩形 21">
            <a:extLst>
              <a:ext uri="{FF2B5EF4-FFF2-40B4-BE49-F238E27FC236}">
                <a16:creationId xmlns:a16="http://schemas.microsoft.com/office/drawing/2014/main" id="{EFAAF785-334E-1C33-9D7F-2545D1697D4E}"/>
              </a:ext>
            </a:extLst>
          </p:cNvPr>
          <p:cNvSpPr/>
          <p:nvPr/>
        </p:nvSpPr>
        <p:spPr>
          <a:xfrm>
            <a:off x="2705735" y="1128674"/>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charset="-122"/>
                <a:ea typeface="微软雅黑" panose="020B0503020204020204" charset="-122"/>
              </a:rPr>
              <a:t>IPv6</a:t>
            </a:r>
            <a:endParaRPr lang="zh-CN" altLang="en-US" sz="1400" dirty="0">
              <a:solidFill>
                <a:srgbClr val="000000"/>
              </a:solidFill>
              <a:latin typeface="微软雅黑" panose="020B0503020204020204" charset="-122"/>
              <a:ea typeface="微软雅黑" panose="020B0503020204020204" charset="-122"/>
            </a:endParaRPr>
          </a:p>
        </p:txBody>
      </p:sp>
      <p:sp>
        <p:nvSpPr>
          <p:cNvPr id="23" name="矩形 22">
            <a:extLst>
              <a:ext uri="{FF2B5EF4-FFF2-40B4-BE49-F238E27FC236}">
                <a16:creationId xmlns:a16="http://schemas.microsoft.com/office/drawing/2014/main" id="{6400D5BD-CC5D-56E1-C59C-07D8EC74F3C4}"/>
              </a:ext>
            </a:extLst>
          </p:cNvPr>
          <p:cNvSpPr/>
          <p:nvPr/>
        </p:nvSpPr>
        <p:spPr>
          <a:xfrm>
            <a:off x="4072255" y="1774614"/>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charset="-122"/>
                <a:ea typeface="微软雅黑" panose="020B0503020204020204" charset="-122"/>
              </a:rPr>
              <a:t>IPv4</a:t>
            </a:r>
            <a:endParaRPr lang="zh-CN" altLang="en-US" sz="1400" dirty="0">
              <a:solidFill>
                <a:srgbClr val="000000"/>
              </a:solidFill>
              <a:latin typeface="微软雅黑" panose="020B0503020204020204" charset="-122"/>
              <a:ea typeface="微软雅黑" panose="020B0503020204020204" charset="-122"/>
            </a:endParaRPr>
          </a:p>
        </p:txBody>
      </p:sp>
      <p:sp>
        <p:nvSpPr>
          <p:cNvPr id="24" name="矩形 23">
            <a:extLst>
              <a:ext uri="{FF2B5EF4-FFF2-40B4-BE49-F238E27FC236}">
                <a16:creationId xmlns:a16="http://schemas.microsoft.com/office/drawing/2014/main" id="{9E06BED1-6F1E-36B2-6AB3-5DB93443B373}"/>
              </a:ext>
            </a:extLst>
          </p:cNvPr>
          <p:cNvSpPr/>
          <p:nvPr/>
        </p:nvSpPr>
        <p:spPr>
          <a:xfrm>
            <a:off x="1809894" y="2308281"/>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charset="-122"/>
                <a:ea typeface="微软雅黑" panose="020B0503020204020204" charset="-122"/>
              </a:rPr>
              <a:t>IPv6</a:t>
            </a:r>
            <a:endParaRPr lang="zh-CN" altLang="en-US" sz="1400" dirty="0">
              <a:solidFill>
                <a:srgbClr val="000000"/>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B01B4F15-0DD4-48AF-66B2-7E5AD5710756}"/>
              </a:ext>
            </a:extLst>
          </p:cNvPr>
          <p:cNvSpPr/>
          <p:nvPr/>
        </p:nvSpPr>
        <p:spPr>
          <a:xfrm>
            <a:off x="2926224" y="3114181"/>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charset="-122"/>
                <a:ea typeface="微软雅黑" panose="020B0503020204020204" charset="-122"/>
              </a:rPr>
              <a:t>IPv4</a:t>
            </a:r>
            <a:endParaRPr lang="zh-CN" altLang="en-US" sz="1400" dirty="0">
              <a:solidFill>
                <a:srgbClr val="000000"/>
              </a:solidFill>
              <a:latin typeface="微软雅黑" panose="020B0503020204020204" charset="-122"/>
              <a:ea typeface="微软雅黑" panose="020B0503020204020204" charset="-122"/>
            </a:endParaRPr>
          </a:p>
        </p:txBody>
      </p:sp>
      <p:sp>
        <p:nvSpPr>
          <p:cNvPr id="26" name="矩形 25">
            <a:extLst>
              <a:ext uri="{FF2B5EF4-FFF2-40B4-BE49-F238E27FC236}">
                <a16:creationId xmlns:a16="http://schemas.microsoft.com/office/drawing/2014/main" id="{22049B0C-5394-A027-5908-482AE861A3BC}"/>
              </a:ext>
            </a:extLst>
          </p:cNvPr>
          <p:cNvSpPr/>
          <p:nvPr/>
        </p:nvSpPr>
        <p:spPr>
          <a:xfrm>
            <a:off x="1049164" y="3612304"/>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charset="-122"/>
                <a:ea typeface="微软雅黑" panose="020B0503020204020204" charset="-122"/>
              </a:rPr>
              <a:t>IPv6</a:t>
            </a:r>
            <a:endParaRPr lang="zh-CN" altLang="en-US" sz="1400" dirty="0">
              <a:solidFill>
                <a:srgbClr val="0000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8017385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28500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ESP</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协议</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的作用是提供机密性保护、有限的流机密性保护、无连接的完整性保护、数据源认证和抗重放攻击等安全服务</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支持传输模式和隧道模式</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可以单独使用，也可以和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AH</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结合使用。一般</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不对整个数据包加密，而是只加密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包的有效载荷部分，不包括</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头。但在端对端的隧道通信中，</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需要对整个数据包加密</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ESP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的加密采用的是</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对称密钥加密算法</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spTree>
    <p:extLst>
      <p:ext uri="{BB962C8B-B14F-4D97-AF65-F5344CB8AC3E}">
        <p14:creationId xmlns:p14="http://schemas.microsoft.com/office/powerpoint/2010/main" val="9788670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graphicFrame>
        <p:nvGraphicFramePr>
          <p:cNvPr id="2" name="表格 9">
            <a:extLst>
              <a:ext uri="{FF2B5EF4-FFF2-40B4-BE49-F238E27FC236}">
                <a16:creationId xmlns:a16="http://schemas.microsoft.com/office/drawing/2014/main" id="{E27A740D-1F0D-7A75-F5AE-77E504EB83DA}"/>
              </a:ext>
            </a:extLst>
          </p:cNvPr>
          <p:cNvGraphicFramePr>
            <a:graphicFrameLocks noGrp="1"/>
          </p:cNvGraphicFramePr>
          <p:nvPr>
            <p:extLst>
              <p:ext uri="{D42A27DB-BD31-4B8C-83A1-F6EECF244321}">
                <p14:modId xmlns:p14="http://schemas.microsoft.com/office/powerpoint/2010/main" val="54586799"/>
              </p:ext>
            </p:extLst>
          </p:nvPr>
        </p:nvGraphicFramePr>
        <p:xfrm>
          <a:off x="2843808" y="1851670"/>
          <a:ext cx="3224216" cy="2164080"/>
        </p:xfrm>
        <a:graphic>
          <a:graphicData uri="http://schemas.openxmlformats.org/drawingml/2006/table">
            <a:tbl>
              <a:tblPr firstRow="1" bandRow="1">
                <a:tableStyleId>{5940675A-B579-460E-94D1-54222C63F5DA}</a:tableStyleId>
              </a:tblPr>
              <a:tblGrid>
                <a:gridCol w="477206">
                  <a:extLst>
                    <a:ext uri="{9D8B030D-6E8A-4147-A177-3AD203B41FA5}">
                      <a16:colId xmlns:a16="http://schemas.microsoft.com/office/drawing/2014/main" val="3076137312"/>
                    </a:ext>
                  </a:extLst>
                </a:gridCol>
                <a:gridCol w="635000">
                  <a:extLst>
                    <a:ext uri="{9D8B030D-6E8A-4147-A177-3AD203B41FA5}">
                      <a16:colId xmlns:a16="http://schemas.microsoft.com/office/drawing/2014/main" val="2748354094"/>
                    </a:ext>
                  </a:extLst>
                </a:gridCol>
                <a:gridCol w="1056005">
                  <a:extLst>
                    <a:ext uri="{9D8B030D-6E8A-4147-A177-3AD203B41FA5}">
                      <a16:colId xmlns:a16="http://schemas.microsoft.com/office/drawing/2014/main" val="3838028635"/>
                    </a:ext>
                  </a:extLst>
                </a:gridCol>
                <a:gridCol w="1056005">
                  <a:extLst>
                    <a:ext uri="{9D8B030D-6E8A-4147-A177-3AD203B41FA5}">
                      <a16:colId xmlns:a16="http://schemas.microsoft.com/office/drawing/2014/main" val="1768302723"/>
                    </a:ext>
                  </a:extLst>
                </a:gridCol>
              </a:tblGrid>
              <a:tr h="140429">
                <a:tc gridSpan="4">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安全参数索引</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122779"/>
                  </a:ext>
                </a:extLst>
              </a:tr>
              <a:tr h="140429">
                <a:tc gridSpan="4">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序列号</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42871856"/>
                  </a:ext>
                </a:extLst>
              </a:tr>
              <a:tr h="140429">
                <a:tc gridSpan="4">
                  <a:txBody>
                    <a:bodyPr/>
                    <a:lstStyle/>
                    <a:p>
                      <a:pPr marL="0" marR="0" lvl="0" indent="0" algn="ctr" defTabSz="914282" rtl="0" eaLnBrk="1" fontAlgn="auto" latinLnBrk="0" hangingPunct="1">
                        <a:lnSpc>
                          <a:spcPct val="100000"/>
                        </a:lnSpc>
                        <a:spcBef>
                          <a:spcPts val="0"/>
                        </a:spcBef>
                        <a:spcAft>
                          <a:spcPts val="0"/>
                        </a:spcAft>
                        <a:buClrTx/>
                        <a:buSzTx/>
                        <a:buFontTx/>
                        <a:buNone/>
                        <a:tabLst/>
                        <a:defRPr/>
                      </a:pP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负载数据</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60777504"/>
                  </a:ext>
                </a:extLst>
              </a:tr>
              <a:tr h="296687">
                <a:tc>
                  <a:txBody>
                    <a:bodyPr/>
                    <a:lstStyle/>
                    <a:p>
                      <a:pPr algn="ct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gridSpan="3">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填充</a:t>
                      </a:r>
                      <a:r>
                        <a:rPr lang="zh-CN" altLang="en-US" sz="1600" b="0" dirty="0">
                          <a:solidFill>
                            <a:schemeClr val="tx2">
                              <a:lumMod val="50000"/>
                            </a:schemeClr>
                          </a:solidFill>
                          <a:latin typeface="微软雅黑" panose="020B0503020204020204" pitchFamily="34" charset="-122"/>
                          <a:ea typeface="微软雅黑" panose="020B0503020204020204" pitchFamily="34" charset="-122"/>
                        </a:rPr>
                        <a:t>（</a:t>
                      </a:r>
                      <a:r>
                        <a:rPr lang="en-US" altLang="zh-CN" sz="1600" b="0" dirty="0">
                          <a:solidFill>
                            <a:schemeClr val="tx2">
                              <a:lumMod val="50000"/>
                            </a:schemeClr>
                          </a:solidFill>
                          <a:latin typeface="微软雅黑" panose="020B0503020204020204" pitchFamily="34" charset="-122"/>
                          <a:ea typeface="微软雅黑" panose="020B0503020204020204" pitchFamily="34" charset="-122"/>
                        </a:rPr>
                        <a:t>0~255</a:t>
                      </a:r>
                      <a:r>
                        <a:rPr lang="zh-CN" altLang="en-US" sz="1600" b="0" dirty="0">
                          <a:solidFill>
                            <a:schemeClr val="tx2">
                              <a:lumMod val="50000"/>
                            </a:schemeClr>
                          </a:solidFill>
                          <a:latin typeface="微软雅黑" panose="020B0503020204020204" pitchFamily="34" charset="-122"/>
                          <a:ea typeface="微软雅黑" panose="020B0503020204020204" pitchFamily="34" charset="-122"/>
                        </a:rPr>
                        <a:t>字节）</a:t>
                      </a: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456756212"/>
                  </a:ext>
                </a:extLst>
              </a:tr>
              <a:tr h="140429">
                <a:tc gridSpan="2">
                  <a:txBody>
                    <a:bodyPr/>
                    <a:lstStyle/>
                    <a:p>
                      <a:pPr algn="ct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hMerge="1">
                  <a:txBody>
                    <a:bodyPr/>
                    <a:lstStyle/>
                    <a:p>
                      <a:endParaRPr lang="zh-CN" altLang="en-US"/>
                    </a:p>
                  </a:txBody>
                  <a:tcPr/>
                </a:tc>
                <a:tc>
                  <a:txBody>
                    <a:bodyPr/>
                    <a:lstStyle/>
                    <a:p>
                      <a:pPr algn="ctr"/>
                      <a:r>
                        <a:rPr lang="zh-CN" altLang="en-US" sz="1400" b="1" dirty="0">
                          <a:solidFill>
                            <a:schemeClr val="tx2">
                              <a:lumMod val="50000"/>
                            </a:schemeClr>
                          </a:solidFill>
                          <a:latin typeface="微软雅黑" panose="020B0503020204020204" pitchFamily="34" charset="-122"/>
                          <a:ea typeface="微软雅黑" panose="020B0503020204020204" pitchFamily="34" charset="-122"/>
                        </a:rPr>
                        <a:t>填充头部</a:t>
                      </a:r>
                      <a:r>
                        <a:rPr lang="en-US" altLang="zh-CN" sz="1200" b="0" dirty="0">
                          <a:solidFill>
                            <a:srgbClr val="F2861A"/>
                          </a:solidFill>
                          <a:latin typeface="微软雅黑" panose="020B0503020204020204" pitchFamily="34" charset="-122"/>
                          <a:ea typeface="微软雅黑" panose="020B0503020204020204" pitchFamily="34" charset="-122"/>
                        </a:rPr>
                        <a:t>(8bit)</a:t>
                      </a:r>
                      <a:endParaRPr lang="zh-CN" altLang="en-US" sz="14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a:r>
                        <a:rPr lang="zh-CN" altLang="en-US" sz="1400" b="1" dirty="0">
                          <a:solidFill>
                            <a:schemeClr val="tx2">
                              <a:lumMod val="50000"/>
                            </a:schemeClr>
                          </a:solidFill>
                          <a:latin typeface="微软雅黑" panose="020B0503020204020204" pitchFamily="34" charset="-122"/>
                          <a:ea typeface="微软雅黑" panose="020B0503020204020204" pitchFamily="34" charset="-122"/>
                        </a:rPr>
                        <a:t>下一头部</a:t>
                      </a:r>
                      <a:r>
                        <a:rPr lang="en-US" altLang="zh-CN" sz="1200" b="0" dirty="0">
                          <a:solidFill>
                            <a:srgbClr val="F2861A"/>
                          </a:solidFill>
                          <a:latin typeface="微软雅黑" panose="020B0503020204020204" pitchFamily="34" charset="-122"/>
                          <a:ea typeface="微软雅黑" panose="020B0503020204020204" pitchFamily="34" charset="-122"/>
                        </a:rPr>
                        <a:t>(8bit)</a:t>
                      </a:r>
                      <a:endParaRPr lang="zh-CN" altLang="en-US" sz="14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732294010"/>
                  </a:ext>
                </a:extLst>
              </a:tr>
              <a:tr h="140429">
                <a:tc gridSpan="4">
                  <a:txBody>
                    <a:bodyPr/>
                    <a:lstStyle/>
                    <a:p>
                      <a:pPr algn="ctr"/>
                      <a:r>
                        <a:rPr lang="zh-CN" altLang="en-US" sz="1600" b="1" dirty="0">
                          <a:solidFill>
                            <a:schemeClr val="tx2">
                              <a:lumMod val="50000"/>
                            </a:schemeClr>
                          </a:solidFill>
                          <a:latin typeface="微软雅黑" panose="020B0503020204020204" pitchFamily="34" charset="-122"/>
                          <a:ea typeface="微软雅黑" panose="020B0503020204020204" pitchFamily="34" charset="-122"/>
                        </a:rPr>
                        <a:t>变长的验证数据</a:t>
                      </a:r>
                      <a:r>
                        <a:rPr lang="en-US" altLang="zh-CN" sz="1400" b="0" dirty="0">
                          <a:solidFill>
                            <a:srgbClr val="F2861A"/>
                          </a:solidFill>
                          <a:latin typeface="微软雅黑" panose="020B0503020204020204" pitchFamily="34" charset="-122"/>
                          <a:ea typeface="微软雅黑" panose="020B0503020204020204" pitchFamily="34" charset="-122"/>
                        </a:rPr>
                        <a:t>(32bit)</a:t>
                      </a:r>
                      <a:endParaRPr lang="zh-CN" altLang="en-US" sz="1600" b="1" dirty="0">
                        <a:solidFill>
                          <a:schemeClr val="tx2">
                            <a:lumMod val="50000"/>
                          </a:schemeClr>
                        </a:solidFill>
                        <a:latin typeface="微软雅黑" panose="020B0503020204020204" pitchFamily="34" charset="-122"/>
                        <a:ea typeface="微软雅黑" panose="020B0503020204020204" pitchFamily="34" charset="-122"/>
                      </a:endParaRPr>
                    </a:p>
                  </a:txBody>
                  <a:tcP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227702733"/>
                  </a:ext>
                </a:extLst>
              </a:tr>
            </a:tbl>
          </a:graphicData>
        </a:graphic>
      </p:graphicFrame>
      <p:sp>
        <p:nvSpPr>
          <p:cNvPr id="10" name="矩形 9">
            <a:extLst>
              <a:ext uri="{FF2B5EF4-FFF2-40B4-BE49-F238E27FC236}">
                <a16:creationId xmlns:a16="http://schemas.microsoft.com/office/drawing/2014/main" id="{D6508D94-FDEA-7BCB-140D-0E546487DD8C}"/>
              </a:ext>
            </a:extLst>
          </p:cNvPr>
          <p:cNvSpPr/>
          <p:nvPr/>
        </p:nvSpPr>
        <p:spPr>
          <a:xfrm>
            <a:off x="3316936" y="4180426"/>
            <a:ext cx="1762021" cy="369332"/>
          </a:xfrm>
          <a:prstGeom prst="rect">
            <a:avLst/>
          </a:prstGeom>
        </p:spPr>
        <p:txBody>
          <a:bodyPr wrap="none">
            <a:spAutoFit/>
          </a:bodyPr>
          <a:lstStyle/>
          <a:p>
            <a:pPr lvl="0"/>
            <a:r>
              <a:rPr lang="en-US" altLang="zh-CN" sz="1800" b="1" dirty="0">
                <a:solidFill>
                  <a:srgbClr val="00B0F0"/>
                </a:solidFill>
                <a:latin typeface="微软雅黑" panose="020B0503020204020204" charset="-122"/>
                <a:ea typeface="微软雅黑" panose="020B0503020204020204" charset="-122"/>
              </a:rPr>
              <a:t>ESP</a:t>
            </a:r>
            <a:r>
              <a:rPr lang="zh-CN" altLang="en-US" sz="1800" b="1" dirty="0">
                <a:solidFill>
                  <a:srgbClr val="00B0F0"/>
                </a:solidFill>
                <a:latin typeface="微软雅黑" panose="020B0503020204020204" charset="-122"/>
                <a:ea typeface="微软雅黑" panose="020B0503020204020204" charset="-122"/>
              </a:rPr>
              <a:t>的报头格式</a:t>
            </a:r>
          </a:p>
        </p:txBody>
      </p:sp>
    </p:spTree>
    <p:extLst>
      <p:ext uri="{BB962C8B-B14F-4D97-AF65-F5344CB8AC3E}">
        <p14:creationId xmlns:p14="http://schemas.microsoft.com/office/powerpoint/2010/main" val="32754550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graphicFrame>
        <p:nvGraphicFramePr>
          <p:cNvPr id="11" name="表格 11">
            <a:extLst>
              <a:ext uri="{FF2B5EF4-FFF2-40B4-BE49-F238E27FC236}">
                <a16:creationId xmlns:a16="http://schemas.microsoft.com/office/drawing/2014/main" id="{73AB1406-DE33-6383-0A6C-4FE94F800F9D}"/>
              </a:ext>
            </a:extLst>
          </p:cNvPr>
          <p:cNvGraphicFramePr>
            <a:graphicFrameLocks noGrp="1"/>
          </p:cNvGraphicFramePr>
          <p:nvPr/>
        </p:nvGraphicFramePr>
        <p:xfrm>
          <a:off x="7026797" y="643173"/>
          <a:ext cx="2030669" cy="307777"/>
        </p:xfrm>
        <a:graphic>
          <a:graphicData uri="http://schemas.openxmlformats.org/drawingml/2006/table">
            <a:tbl>
              <a:tblPr firstRow="1" bandRow="1">
                <a:tableStyleId>{5C22544A-7EE6-4342-B048-85BDC9FD1C3A}</a:tableStyleId>
              </a:tblPr>
              <a:tblGrid>
                <a:gridCol w="993299">
                  <a:extLst>
                    <a:ext uri="{9D8B030D-6E8A-4147-A177-3AD203B41FA5}">
                      <a16:colId xmlns:a16="http://schemas.microsoft.com/office/drawing/2014/main" val="4041218918"/>
                    </a:ext>
                  </a:extLst>
                </a:gridCol>
                <a:gridCol w="518685">
                  <a:extLst>
                    <a:ext uri="{9D8B030D-6E8A-4147-A177-3AD203B41FA5}">
                      <a16:colId xmlns:a16="http://schemas.microsoft.com/office/drawing/2014/main" val="2282775867"/>
                    </a:ext>
                  </a:extLst>
                </a:gridCol>
                <a:gridCol w="518685">
                  <a:extLst>
                    <a:ext uri="{9D8B030D-6E8A-4147-A177-3AD203B41FA5}">
                      <a16:colId xmlns:a16="http://schemas.microsoft.com/office/drawing/2014/main" val="1909783261"/>
                    </a:ext>
                  </a:extLst>
                </a:gridCol>
              </a:tblGrid>
              <a:tr h="307777">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nchor="ct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nchor="ctr"/>
                </a:tc>
                <a:extLst>
                  <a:ext uri="{0D108BD9-81ED-4DB2-BD59-A6C34878D82A}">
                    <a16:rowId xmlns:a16="http://schemas.microsoft.com/office/drawing/2014/main" val="737510437"/>
                  </a:ext>
                </a:extLst>
              </a:tr>
            </a:tbl>
          </a:graphicData>
        </a:graphic>
      </p:graphicFrame>
      <p:graphicFrame>
        <p:nvGraphicFramePr>
          <p:cNvPr id="12" name="表格 11">
            <a:extLst>
              <a:ext uri="{FF2B5EF4-FFF2-40B4-BE49-F238E27FC236}">
                <a16:creationId xmlns:a16="http://schemas.microsoft.com/office/drawing/2014/main" id="{82183642-20BE-9A40-4B0B-0468460A7575}"/>
              </a:ext>
            </a:extLst>
          </p:cNvPr>
          <p:cNvGraphicFramePr>
            <a:graphicFrameLocks noGrp="1"/>
          </p:cNvGraphicFramePr>
          <p:nvPr/>
        </p:nvGraphicFramePr>
        <p:xfrm>
          <a:off x="5427578" y="1018015"/>
          <a:ext cx="3629888" cy="274320"/>
        </p:xfrm>
        <a:graphic>
          <a:graphicData uri="http://schemas.openxmlformats.org/drawingml/2006/table">
            <a:tbl>
              <a:tblPr firstRow="1" bandRow="1">
                <a:tableStyleId>{5C22544A-7EE6-4342-B048-85BDC9FD1C3A}</a:tableStyleId>
              </a:tblPr>
              <a:tblGrid>
                <a:gridCol w="982980">
                  <a:extLst>
                    <a:ext uri="{9D8B030D-6E8A-4147-A177-3AD203B41FA5}">
                      <a16:colId xmlns:a16="http://schemas.microsoft.com/office/drawing/2014/main" val="4041218918"/>
                    </a:ext>
                  </a:extLst>
                </a:gridCol>
                <a:gridCol w="1592580">
                  <a:extLst>
                    <a:ext uri="{9D8B030D-6E8A-4147-A177-3AD203B41FA5}">
                      <a16:colId xmlns:a16="http://schemas.microsoft.com/office/drawing/2014/main" val="1473407067"/>
                    </a:ext>
                  </a:extLst>
                </a:gridCol>
                <a:gridCol w="525780">
                  <a:extLst>
                    <a:ext uri="{9D8B030D-6E8A-4147-A177-3AD203B41FA5}">
                      <a16:colId xmlns:a16="http://schemas.microsoft.com/office/drawing/2014/main" val="2282775867"/>
                    </a:ext>
                  </a:extLst>
                </a:gridCol>
                <a:gridCol w="528548">
                  <a:extLst>
                    <a:ext uri="{9D8B030D-6E8A-4147-A177-3AD203B41FA5}">
                      <a16:colId xmlns:a16="http://schemas.microsoft.com/office/drawing/2014/main" val="1909783261"/>
                    </a:ext>
                  </a:extLst>
                </a:gridCol>
              </a:tblGrid>
              <a:tr h="260444">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nchor="ct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扩展报头（如存在）</a:t>
                      </a:r>
                    </a:p>
                  </a:txBody>
                  <a:tcPr anchor="ct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nchor="ctr"/>
                </a:tc>
                <a:extLst>
                  <a:ext uri="{0D108BD9-81ED-4DB2-BD59-A6C34878D82A}">
                    <a16:rowId xmlns:a16="http://schemas.microsoft.com/office/drawing/2014/main" val="737510437"/>
                  </a:ext>
                </a:extLst>
              </a:tr>
            </a:tbl>
          </a:graphicData>
        </a:graphic>
      </p:graphicFrame>
      <p:graphicFrame>
        <p:nvGraphicFramePr>
          <p:cNvPr id="13" name="表格 11">
            <a:extLst>
              <a:ext uri="{FF2B5EF4-FFF2-40B4-BE49-F238E27FC236}">
                <a16:creationId xmlns:a16="http://schemas.microsoft.com/office/drawing/2014/main" id="{98BE8655-632C-D75D-7AD0-F048F5A1B37F}"/>
              </a:ext>
            </a:extLst>
          </p:cNvPr>
          <p:cNvGraphicFramePr>
            <a:graphicFrameLocks noGrp="1"/>
          </p:cNvGraphicFramePr>
          <p:nvPr/>
        </p:nvGraphicFramePr>
        <p:xfrm>
          <a:off x="4594388" y="1676842"/>
          <a:ext cx="4450080" cy="370840"/>
        </p:xfrm>
        <a:graphic>
          <a:graphicData uri="http://schemas.openxmlformats.org/drawingml/2006/table">
            <a:tbl>
              <a:tblPr firstRow="1" bandRow="1">
                <a:tableStyleId>{5C22544A-7EE6-4342-B048-85BDC9FD1C3A}</a:tableStyleId>
              </a:tblPr>
              <a:tblGrid>
                <a:gridCol w="982980">
                  <a:extLst>
                    <a:ext uri="{9D8B030D-6E8A-4147-A177-3AD203B41FA5}">
                      <a16:colId xmlns:a16="http://schemas.microsoft.com/office/drawing/2014/main" val="4041218918"/>
                    </a:ext>
                  </a:extLst>
                </a:gridCol>
                <a:gridCol w="805180">
                  <a:extLst>
                    <a:ext uri="{9D8B030D-6E8A-4147-A177-3AD203B41FA5}">
                      <a16:colId xmlns:a16="http://schemas.microsoft.com/office/drawing/2014/main" val="3584281342"/>
                    </a:ext>
                  </a:extLst>
                </a:gridCol>
                <a:gridCol w="525780">
                  <a:extLst>
                    <a:ext uri="{9D8B030D-6E8A-4147-A177-3AD203B41FA5}">
                      <a16:colId xmlns:a16="http://schemas.microsoft.com/office/drawing/2014/main" val="2282775867"/>
                    </a:ext>
                  </a:extLst>
                </a:gridCol>
                <a:gridCol w="525780">
                  <a:extLst>
                    <a:ext uri="{9D8B030D-6E8A-4147-A177-3AD203B41FA5}">
                      <a16:colId xmlns:a16="http://schemas.microsoft.com/office/drawing/2014/main" val="1909783261"/>
                    </a:ext>
                  </a:extLst>
                </a:gridCol>
                <a:gridCol w="805180">
                  <a:extLst>
                    <a:ext uri="{9D8B030D-6E8A-4147-A177-3AD203B41FA5}">
                      <a16:colId xmlns:a16="http://schemas.microsoft.com/office/drawing/2014/main" val="2012676782"/>
                    </a:ext>
                  </a:extLst>
                </a:gridCol>
                <a:gridCol w="805180">
                  <a:extLst>
                    <a:ext uri="{9D8B030D-6E8A-4147-A177-3AD203B41FA5}">
                      <a16:colId xmlns:a16="http://schemas.microsoft.com/office/drawing/2014/main" val="2914688819"/>
                    </a:ext>
                  </a:extLst>
                </a:gridCol>
              </a:tblGrid>
              <a:tr h="370840">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nchor="ct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nchor="ctr">
                    <a:solidFill>
                      <a:srgbClr val="F2861A"/>
                    </a:solidFill>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nchor="ct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报尾</a:t>
                      </a:r>
                    </a:p>
                  </a:txBody>
                  <a:tcPr anchor="ctr">
                    <a:solidFill>
                      <a:srgbClr val="F2861A"/>
                    </a:solidFill>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验证</a:t>
                      </a:r>
                    </a:p>
                  </a:txBody>
                  <a:tcPr anchor="ctr">
                    <a:solidFill>
                      <a:srgbClr val="F2861A"/>
                    </a:solidFill>
                  </a:tcPr>
                </a:tc>
                <a:extLst>
                  <a:ext uri="{0D108BD9-81ED-4DB2-BD59-A6C34878D82A}">
                    <a16:rowId xmlns:a16="http://schemas.microsoft.com/office/drawing/2014/main" val="737510437"/>
                  </a:ext>
                </a:extLst>
              </a:tr>
            </a:tbl>
          </a:graphicData>
        </a:graphic>
      </p:graphicFrame>
      <p:graphicFrame>
        <p:nvGraphicFramePr>
          <p:cNvPr id="14" name="表格 13">
            <a:extLst>
              <a:ext uri="{FF2B5EF4-FFF2-40B4-BE49-F238E27FC236}">
                <a16:creationId xmlns:a16="http://schemas.microsoft.com/office/drawing/2014/main" id="{0F8B9CB8-1134-B645-D6E9-A05C9EF7FA2E}"/>
              </a:ext>
            </a:extLst>
          </p:cNvPr>
          <p:cNvGraphicFramePr>
            <a:graphicFrameLocks noGrp="1"/>
          </p:cNvGraphicFramePr>
          <p:nvPr/>
        </p:nvGraphicFramePr>
        <p:xfrm>
          <a:off x="2625583" y="2109003"/>
          <a:ext cx="6416040" cy="457200"/>
        </p:xfrm>
        <a:graphic>
          <a:graphicData uri="http://schemas.openxmlformats.org/drawingml/2006/table">
            <a:tbl>
              <a:tblPr firstRow="1" bandRow="1">
                <a:tableStyleId>{5C22544A-7EE6-4342-B048-85BDC9FD1C3A}</a:tableStyleId>
              </a:tblPr>
              <a:tblGrid>
                <a:gridCol w="982980">
                  <a:extLst>
                    <a:ext uri="{9D8B030D-6E8A-4147-A177-3AD203B41FA5}">
                      <a16:colId xmlns:a16="http://schemas.microsoft.com/office/drawing/2014/main" val="4041218918"/>
                    </a:ext>
                  </a:extLst>
                </a:gridCol>
                <a:gridCol w="1440180">
                  <a:extLst>
                    <a:ext uri="{9D8B030D-6E8A-4147-A177-3AD203B41FA5}">
                      <a16:colId xmlns:a16="http://schemas.microsoft.com/office/drawing/2014/main" val="1473407067"/>
                    </a:ext>
                  </a:extLst>
                </a:gridCol>
                <a:gridCol w="805180">
                  <a:extLst>
                    <a:ext uri="{9D8B030D-6E8A-4147-A177-3AD203B41FA5}">
                      <a16:colId xmlns:a16="http://schemas.microsoft.com/office/drawing/2014/main" val="2402525791"/>
                    </a:ext>
                  </a:extLst>
                </a:gridCol>
                <a:gridCol w="525780">
                  <a:extLst>
                    <a:ext uri="{9D8B030D-6E8A-4147-A177-3AD203B41FA5}">
                      <a16:colId xmlns:a16="http://schemas.microsoft.com/office/drawing/2014/main" val="804523899"/>
                    </a:ext>
                  </a:extLst>
                </a:gridCol>
                <a:gridCol w="525780">
                  <a:extLst>
                    <a:ext uri="{9D8B030D-6E8A-4147-A177-3AD203B41FA5}">
                      <a16:colId xmlns:a16="http://schemas.microsoft.com/office/drawing/2014/main" val="2282775867"/>
                    </a:ext>
                  </a:extLst>
                </a:gridCol>
                <a:gridCol w="525780">
                  <a:extLst>
                    <a:ext uri="{9D8B030D-6E8A-4147-A177-3AD203B41FA5}">
                      <a16:colId xmlns:a16="http://schemas.microsoft.com/office/drawing/2014/main" val="1909783261"/>
                    </a:ext>
                  </a:extLst>
                </a:gridCol>
                <a:gridCol w="805180">
                  <a:extLst>
                    <a:ext uri="{9D8B030D-6E8A-4147-A177-3AD203B41FA5}">
                      <a16:colId xmlns:a16="http://schemas.microsoft.com/office/drawing/2014/main" val="284041690"/>
                    </a:ext>
                  </a:extLst>
                </a:gridCol>
                <a:gridCol w="805180">
                  <a:extLst>
                    <a:ext uri="{9D8B030D-6E8A-4147-A177-3AD203B41FA5}">
                      <a16:colId xmlns:a16="http://schemas.microsoft.com/office/drawing/2014/main" val="1587164020"/>
                    </a:ext>
                  </a:extLst>
                </a:gridCol>
              </a:tblGrid>
              <a:tr h="321548">
                <a:tc>
                  <a:txBody>
                    <a:bodyP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nchor="ctr"/>
                </a:tc>
                <a:tc>
                  <a:txBody>
                    <a:bodyP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逐个跃点、</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目标、路由、分段</a:t>
                      </a:r>
                    </a:p>
                  </a:txBody>
                  <a:tcPr anchor="ctr"/>
                </a:tc>
                <a:tc>
                  <a:txBody>
                    <a:bodyP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nchor="ctr">
                    <a:solidFill>
                      <a:srgbClr val="F2861A"/>
                    </a:solidFill>
                  </a:tcPr>
                </a:tc>
                <a:tc>
                  <a:txBody>
                    <a:bodyP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目标</a:t>
                      </a:r>
                    </a:p>
                  </a:txBody>
                  <a:tcPr anchor="ctr"/>
                </a:tc>
                <a:tc>
                  <a:txBody>
                    <a:bodyP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nchor="ctr"/>
                </a:tc>
                <a:tc>
                  <a:txBody>
                    <a:bodyP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报尾</a:t>
                      </a:r>
                    </a:p>
                  </a:txBody>
                  <a:tcPr anchor="ctr">
                    <a:solidFill>
                      <a:srgbClr val="F2861A"/>
                    </a:solidFill>
                  </a:tcPr>
                </a:tc>
                <a:tc>
                  <a:txBody>
                    <a:bodyPr/>
                    <a:lstStyle/>
                    <a:p>
                      <a:pPr algn="ct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验证</a:t>
                      </a:r>
                    </a:p>
                  </a:txBody>
                  <a:tcPr anchor="ctr">
                    <a:solidFill>
                      <a:srgbClr val="F2861A"/>
                    </a:solidFill>
                  </a:tcPr>
                </a:tc>
                <a:extLst>
                  <a:ext uri="{0D108BD9-81ED-4DB2-BD59-A6C34878D82A}">
                    <a16:rowId xmlns:a16="http://schemas.microsoft.com/office/drawing/2014/main" val="737510437"/>
                  </a:ext>
                </a:extLst>
              </a:tr>
            </a:tbl>
          </a:graphicData>
        </a:graphic>
      </p:graphicFrame>
      <p:graphicFrame>
        <p:nvGraphicFramePr>
          <p:cNvPr id="15" name="表格 11">
            <a:extLst>
              <a:ext uri="{FF2B5EF4-FFF2-40B4-BE49-F238E27FC236}">
                <a16:creationId xmlns:a16="http://schemas.microsoft.com/office/drawing/2014/main" id="{077F3E0B-1EAD-429B-2233-10E3F50924E9}"/>
              </a:ext>
            </a:extLst>
          </p:cNvPr>
          <p:cNvGraphicFramePr>
            <a:graphicFrameLocks noGrp="1"/>
          </p:cNvGraphicFramePr>
          <p:nvPr/>
        </p:nvGraphicFramePr>
        <p:xfrm>
          <a:off x="2917999" y="2924968"/>
          <a:ext cx="6123624" cy="370840"/>
        </p:xfrm>
        <a:graphic>
          <a:graphicData uri="http://schemas.openxmlformats.org/drawingml/2006/table">
            <a:tbl>
              <a:tblPr firstRow="1" bandRow="1">
                <a:tableStyleId>{5C22544A-7EE6-4342-B048-85BDC9FD1C3A}</a:tableStyleId>
              </a:tblPr>
              <a:tblGrid>
                <a:gridCol w="1116330">
                  <a:extLst>
                    <a:ext uri="{9D8B030D-6E8A-4147-A177-3AD203B41FA5}">
                      <a16:colId xmlns:a16="http://schemas.microsoft.com/office/drawing/2014/main" val="539854762"/>
                    </a:ext>
                  </a:extLst>
                </a:gridCol>
                <a:gridCol w="908368">
                  <a:extLst>
                    <a:ext uri="{9D8B030D-6E8A-4147-A177-3AD203B41FA5}">
                      <a16:colId xmlns:a16="http://schemas.microsoft.com/office/drawing/2014/main" val="785963017"/>
                    </a:ext>
                  </a:extLst>
                </a:gridCol>
                <a:gridCol w="1116330">
                  <a:extLst>
                    <a:ext uri="{9D8B030D-6E8A-4147-A177-3AD203B41FA5}">
                      <a16:colId xmlns:a16="http://schemas.microsoft.com/office/drawing/2014/main" val="4041218918"/>
                    </a:ext>
                  </a:extLst>
                </a:gridCol>
                <a:gridCol w="582930">
                  <a:extLst>
                    <a:ext uri="{9D8B030D-6E8A-4147-A177-3AD203B41FA5}">
                      <a16:colId xmlns:a16="http://schemas.microsoft.com/office/drawing/2014/main" val="2282775867"/>
                    </a:ext>
                  </a:extLst>
                </a:gridCol>
                <a:gridCol w="582930">
                  <a:extLst>
                    <a:ext uri="{9D8B030D-6E8A-4147-A177-3AD203B41FA5}">
                      <a16:colId xmlns:a16="http://schemas.microsoft.com/office/drawing/2014/main" val="1909783261"/>
                    </a:ext>
                  </a:extLst>
                </a:gridCol>
                <a:gridCol w="908368">
                  <a:extLst>
                    <a:ext uri="{9D8B030D-6E8A-4147-A177-3AD203B41FA5}">
                      <a16:colId xmlns:a16="http://schemas.microsoft.com/office/drawing/2014/main" val="2597621349"/>
                    </a:ext>
                  </a:extLst>
                </a:gridCol>
                <a:gridCol w="908368">
                  <a:extLst>
                    <a:ext uri="{9D8B030D-6E8A-4147-A177-3AD203B41FA5}">
                      <a16:colId xmlns:a16="http://schemas.microsoft.com/office/drawing/2014/main" val="3384299465"/>
                    </a:ext>
                  </a:extLst>
                </a:gridCol>
              </a:tblGrid>
              <a:tr h="370840">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新的</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solidFill>
                      <a:srgbClr val="F2861A"/>
                    </a:solidFill>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报尾</a:t>
                      </a:r>
                    </a:p>
                  </a:txBody>
                  <a:tcPr>
                    <a:solidFill>
                      <a:srgbClr val="F2861A"/>
                    </a:solidFill>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验证</a:t>
                      </a:r>
                    </a:p>
                  </a:txBody>
                  <a:tcPr>
                    <a:solidFill>
                      <a:srgbClr val="F2861A"/>
                    </a:solidFill>
                  </a:tcPr>
                </a:tc>
                <a:extLst>
                  <a:ext uri="{0D108BD9-81ED-4DB2-BD59-A6C34878D82A}">
                    <a16:rowId xmlns:a16="http://schemas.microsoft.com/office/drawing/2014/main" val="737510437"/>
                  </a:ext>
                </a:extLst>
              </a:tr>
            </a:tbl>
          </a:graphicData>
        </a:graphic>
      </p:graphicFrame>
      <p:graphicFrame>
        <p:nvGraphicFramePr>
          <p:cNvPr id="16" name="表格 11">
            <a:extLst>
              <a:ext uri="{FF2B5EF4-FFF2-40B4-BE49-F238E27FC236}">
                <a16:creationId xmlns:a16="http://schemas.microsoft.com/office/drawing/2014/main" id="{00817B4A-FABF-AEEF-19F8-030ED219414D}"/>
              </a:ext>
            </a:extLst>
          </p:cNvPr>
          <p:cNvGraphicFramePr>
            <a:graphicFrameLocks noGrp="1"/>
          </p:cNvGraphicFramePr>
          <p:nvPr/>
        </p:nvGraphicFramePr>
        <p:xfrm>
          <a:off x="1040939" y="3339026"/>
          <a:ext cx="8000684" cy="370840"/>
        </p:xfrm>
        <a:graphic>
          <a:graphicData uri="http://schemas.openxmlformats.org/drawingml/2006/table">
            <a:tbl>
              <a:tblPr firstRow="1" bandRow="1">
                <a:tableStyleId>{5C22544A-7EE6-4342-B048-85BDC9FD1C3A}</a:tableStyleId>
              </a:tblPr>
              <a:tblGrid>
                <a:gridCol w="1116330">
                  <a:extLst>
                    <a:ext uri="{9D8B030D-6E8A-4147-A177-3AD203B41FA5}">
                      <a16:colId xmlns:a16="http://schemas.microsoft.com/office/drawing/2014/main" val="539854762"/>
                    </a:ext>
                  </a:extLst>
                </a:gridCol>
                <a:gridCol w="938530">
                  <a:extLst>
                    <a:ext uri="{9D8B030D-6E8A-4147-A177-3AD203B41FA5}">
                      <a16:colId xmlns:a16="http://schemas.microsoft.com/office/drawing/2014/main" val="1570624074"/>
                    </a:ext>
                  </a:extLst>
                </a:gridCol>
                <a:gridCol w="908368">
                  <a:extLst>
                    <a:ext uri="{9D8B030D-6E8A-4147-A177-3AD203B41FA5}">
                      <a16:colId xmlns:a16="http://schemas.microsoft.com/office/drawing/2014/main" val="785963017"/>
                    </a:ext>
                  </a:extLst>
                </a:gridCol>
                <a:gridCol w="1116330">
                  <a:extLst>
                    <a:ext uri="{9D8B030D-6E8A-4147-A177-3AD203B41FA5}">
                      <a16:colId xmlns:a16="http://schemas.microsoft.com/office/drawing/2014/main" val="4041218918"/>
                    </a:ext>
                  </a:extLst>
                </a:gridCol>
                <a:gridCol w="938530">
                  <a:extLst>
                    <a:ext uri="{9D8B030D-6E8A-4147-A177-3AD203B41FA5}">
                      <a16:colId xmlns:a16="http://schemas.microsoft.com/office/drawing/2014/main" val="1204753630"/>
                    </a:ext>
                  </a:extLst>
                </a:gridCol>
                <a:gridCol w="582930">
                  <a:extLst>
                    <a:ext uri="{9D8B030D-6E8A-4147-A177-3AD203B41FA5}">
                      <a16:colId xmlns:a16="http://schemas.microsoft.com/office/drawing/2014/main" val="2282775867"/>
                    </a:ext>
                  </a:extLst>
                </a:gridCol>
                <a:gridCol w="582930">
                  <a:extLst>
                    <a:ext uri="{9D8B030D-6E8A-4147-A177-3AD203B41FA5}">
                      <a16:colId xmlns:a16="http://schemas.microsoft.com/office/drawing/2014/main" val="1909783261"/>
                    </a:ext>
                  </a:extLst>
                </a:gridCol>
                <a:gridCol w="908368">
                  <a:extLst>
                    <a:ext uri="{9D8B030D-6E8A-4147-A177-3AD203B41FA5}">
                      <a16:colId xmlns:a16="http://schemas.microsoft.com/office/drawing/2014/main" val="3914098783"/>
                    </a:ext>
                  </a:extLst>
                </a:gridCol>
                <a:gridCol w="908368">
                  <a:extLst>
                    <a:ext uri="{9D8B030D-6E8A-4147-A177-3AD203B41FA5}">
                      <a16:colId xmlns:a16="http://schemas.microsoft.com/office/drawing/2014/main" val="1181616019"/>
                    </a:ext>
                  </a:extLst>
                </a:gridCol>
              </a:tblGrid>
              <a:tr h="370840">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新的</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扩展报头</a:t>
                      </a: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solidFill>
                      <a:srgbClr val="F2861A"/>
                    </a:solidFill>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初始</a:t>
                      </a: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IP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报头</a:t>
                      </a:r>
                    </a:p>
                  </a:txBody>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扩展报头</a:t>
                      </a: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TCP</a:t>
                      </a:r>
                      <a:endParaRPr lang="zh-CN" altLang="en-US" sz="1200" dirty="0">
                        <a:latin typeface="Times New Roman" panose="02020603050405020304" pitchFamily="18" charset="0"/>
                        <a:ea typeface="微软雅黑" panose="020B0503020204020204" pitchFamily="34" charset="-122"/>
                        <a:cs typeface="Times New Roman" panose="02020603050405020304" pitchFamily="18" charset="0"/>
                      </a:endParaRPr>
                    </a:p>
                  </a:txBody>
                  <a:tcPr/>
                </a:tc>
                <a:tc>
                  <a:txBody>
                    <a:bodyPr/>
                    <a:lstStyle/>
                    <a:p>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数据</a:t>
                      </a:r>
                    </a:p>
                  </a:txBody>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报尾</a:t>
                      </a:r>
                    </a:p>
                  </a:txBody>
                  <a:tcPr>
                    <a:solidFill>
                      <a:srgbClr val="F2861A"/>
                    </a:solidFill>
                  </a:tcPr>
                </a:tc>
                <a:tc>
                  <a:txBody>
                    <a:bodyPr/>
                    <a:lstStyle/>
                    <a:p>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ESP</a:t>
                      </a:r>
                      <a:r>
                        <a:rPr lang="zh-CN" altLang="en-US" sz="1200" dirty="0">
                          <a:latin typeface="Times New Roman" panose="02020603050405020304" pitchFamily="18" charset="0"/>
                          <a:ea typeface="微软雅黑" panose="020B0503020204020204" pitchFamily="34" charset="-122"/>
                          <a:cs typeface="Times New Roman" panose="02020603050405020304" pitchFamily="18" charset="0"/>
                        </a:rPr>
                        <a:t>验证</a:t>
                      </a:r>
                    </a:p>
                  </a:txBody>
                  <a:tcPr>
                    <a:solidFill>
                      <a:srgbClr val="F2861A"/>
                    </a:solidFill>
                  </a:tcPr>
                </a:tc>
                <a:extLst>
                  <a:ext uri="{0D108BD9-81ED-4DB2-BD59-A6C34878D82A}">
                    <a16:rowId xmlns:a16="http://schemas.microsoft.com/office/drawing/2014/main" val="737510437"/>
                  </a:ext>
                </a:extLst>
              </a:tr>
            </a:tbl>
          </a:graphicData>
        </a:graphic>
      </p:graphicFrame>
      <p:sp>
        <p:nvSpPr>
          <p:cNvPr id="17" name="矩形 16">
            <a:extLst>
              <a:ext uri="{FF2B5EF4-FFF2-40B4-BE49-F238E27FC236}">
                <a16:creationId xmlns:a16="http://schemas.microsoft.com/office/drawing/2014/main" id="{8B64758C-4301-EB30-E6B2-44390F23A326}"/>
              </a:ext>
            </a:extLst>
          </p:cNvPr>
          <p:cNvSpPr/>
          <p:nvPr/>
        </p:nvSpPr>
        <p:spPr>
          <a:xfrm>
            <a:off x="2416055" y="4306869"/>
            <a:ext cx="4469493" cy="369332"/>
          </a:xfrm>
          <a:prstGeom prst="rect">
            <a:avLst/>
          </a:prstGeom>
        </p:spPr>
        <p:txBody>
          <a:bodyPr wrap="none">
            <a:spAutoFit/>
          </a:bodyPr>
          <a:lstStyle/>
          <a:p>
            <a:r>
              <a:rPr lang="en-US" altLang="zh-CN" b="1" dirty="0">
                <a:solidFill>
                  <a:srgbClr val="00B0F0"/>
                </a:solidFill>
                <a:latin typeface="微软雅黑" panose="020B0503020204020204" charset="-122"/>
                <a:ea typeface="微软雅黑" panose="020B0503020204020204" charset="-122"/>
              </a:rPr>
              <a:t>IP</a:t>
            </a:r>
            <a:r>
              <a:rPr lang="zh-CN" altLang="en-US" b="1" dirty="0">
                <a:solidFill>
                  <a:srgbClr val="00B0F0"/>
                </a:solidFill>
                <a:latin typeface="微软雅黑" panose="020B0503020204020204" charset="-122"/>
                <a:ea typeface="微软雅黑" panose="020B0503020204020204" charset="-122"/>
              </a:rPr>
              <a:t>包在两种模式下增加</a:t>
            </a:r>
            <a:r>
              <a:rPr lang="en-US" altLang="zh-CN" b="1" dirty="0">
                <a:solidFill>
                  <a:srgbClr val="00B0F0"/>
                </a:solidFill>
                <a:latin typeface="微软雅黑" panose="020B0503020204020204" charset="-122"/>
                <a:ea typeface="微软雅黑" panose="020B0503020204020204" charset="-122"/>
              </a:rPr>
              <a:t>AH</a:t>
            </a:r>
            <a:r>
              <a:rPr lang="zh-CN" altLang="en-US" b="1" dirty="0">
                <a:solidFill>
                  <a:srgbClr val="00B0F0"/>
                </a:solidFill>
                <a:latin typeface="微软雅黑" panose="020B0503020204020204" charset="-122"/>
                <a:ea typeface="微软雅黑" panose="020B0503020204020204" charset="-122"/>
              </a:rPr>
              <a:t>的位置和效果图</a:t>
            </a:r>
          </a:p>
        </p:txBody>
      </p:sp>
      <p:sp>
        <p:nvSpPr>
          <p:cNvPr id="18" name="矩形 17">
            <a:extLst>
              <a:ext uri="{FF2B5EF4-FFF2-40B4-BE49-F238E27FC236}">
                <a16:creationId xmlns:a16="http://schemas.microsoft.com/office/drawing/2014/main" id="{DDED4089-6A51-6BA0-4DFD-19B3C43273BA}"/>
              </a:ext>
            </a:extLst>
          </p:cNvPr>
          <p:cNvSpPr/>
          <p:nvPr/>
        </p:nvSpPr>
        <p:spPr>
          <a:xfrm>
            <a:off x="6747296" y="1276155"/>
            <a:ext cx="2325226" cy="307777"/>
          </a:xfrm>
          <a:prstGeom prst="rect">
            <a:avLst/>
          </a:prstGeom>
        </p:spPr>
        <p:txBody>
          <a:bodyPr wrap="square">
            <a:spAutoFit/>
          </a:bodyPr>
          <a:lstStyle/>
          <a:p>
            <a:pPr marL="0" marR="0" indent="269875" algn="r"/>
            <a:r>
              <a:rPr lang="zh-CN" altLang="en-US" sz="1400" dirty="0">
                <a:solidFill>
                  <a:srgbClr val="000000"/>
                </a:solidFill>
                <a:latin typeface="微软雅黑" panose="020B0503020204020204" charset="-122"/>
                <a:ea typeface="微软雅黑" panose="020B0503020204020204" charset="-122"/>
              </a:rPr>
              <a:t>（</a:t>
            </a:r>
            <a:r>
              <a:rPr lang="en-US" altLang="zh-CN" sz="1400" dirty="0">
                <a:solidFill>
                  <a:srgbClr val="000000"/>
                </a:solidFill>
                <a:latin typeface="微软雅黑" panose="020B0503020204020204" charset="-122"/>
                <a:ea typeface="微软雅黑" panose="020B0503020204020204" charset="-122"/>
              </a:rPr>
              <a:t>a</a:t>
            </a:r>
            <a:r>
              <a:rPr lang="zh-CN" altLang="en-US" sz="1400" dirty="0">
                <a:solidFill>
                  <a:srgbClr val="000000"/>
                </a:solidFill>
                <a:latin typeface="微软雅黑" panose="020B0503020204020204" charset="-122"/>
                <a:ea typeface="微软雅黑" panose="020B0503020204020204" charset="-122"/>
              </a:rPr>
              <a:t>）在应用</a:t>
            </a:r>
            <a:r>
              <a:rPr lang="en-US" altLang="zh-CN" sz="1400" dirty="0">
                <a:solidFill>
                  <a:srgbClr val="000000"/>
                </a:solidFill>
                <a:latin typeface="微软雅黑" panose="020B0503020204020204" charset="-122"/>
                <a:ea typeface="微软雅黑" panose="020B0503020204020204" charset="-122"/>
              </a:rPr>
              <a:t>ESP</a:t>
            </a:r>
            <a:r>
              <a:rPr lang="zh-CN" altLang="en-US" sz="1400" dirty="0">
                <a:solidFill>
                  <a:srgbClr val="000000"/>
                </a:solidFill>
                <a:latin typeface="微软雅黑" panose="020B0503020204020204" charset="-122"/>
                <a:ea typeface="微软雅黑" panose="020B0503020204020204" charset="-122"/>
              </a:rPr>
              <a:t>之前</a:t>
            </a:r>
          </a:p>
        </p:txBody>
      </p:sp>
      <p:sp>
        <p:nvSpPr>
          <p:cNvPr id="19" name="矩形 18">
            <a:extLst>
              <a:ext uri="{FF2B5EF4-FFF2-40B4-BE49-F238E27FC236}">
                <a16:creationId xmlns:a16="http://schemas.microsoft.com/office/drawing/2014/main" id="{BBD6FBF1-2165-C702-BAB6-76BE91469754}"/>
              </a:ext>
            </a:extLst>
          </p:cNvPr>
          <p:cNvSpPr/>
          <p:nvPr/>
        </p:nvSpPr>
        <p:spPr>
          <a:xfrm>
            <a:off x="5392509" y="2554372"/>
            <a:ext cx="4698722" cy="307777"/>
          </a:xfrm>
          <a:prstGeom prst="rect">
            <a:avLst/>
          </a:prstGeom>
        </p:spPr>
        <p:txBody>
          <a:bodyPr wrap="square">
            <a:spAutoFit/>
          </a:bodyPr>
          <a:lstStyle/>
          <a:p>
            <a:pPr marL="0" marR="0" indent="269875" algn="ctr"/>
            <a:r>
              <a:rPr lang="zh-CN" altLang="en-US" sz="1400" dirty="0">
                <a:solidFill>
                  <a:srgbClr val="000000"/>
                </a:solidFill>
                <a:latin typeface="微软雅黑" panose="020B0503020204020204" charset="-122"/>
                <a:ea typeface="微软雅黑" panose="020B0503020204020204" charset="-122"/>
              </a:rPr>
              <a:t>（</a:t>
            </a:r>
            <a:r>
              <a:rPr lang="en-US" altLang="zh-CN" sz="1400" dirty="0">
                <a:solidFill>
                  <a:srgbClr val="000000"/>
                </a:solidFill>
                <a:latin typeface="微软雅黑" panose="020B0503020204020204" charset="-122"/>
                <a:ea typeface="微软雅黑" panose="020B0503020204020204" charset="-122"/>
              </a:rPr>
              <a:t>b</a:t>
            </a:r>
            <a:r>
              <a:rPr lang="zh-CN" altLang="en-US" sz="1400" dirty="0">
                <a:solidFill>
                  <a:srgbClr val="000000"/>
                </a:solidFill>
                <a:latin typeface="微软雅黑" panose="020B0503020204020204" charset="-122"/>
                <a:ea typeface="微软雅黑" panose="020B0503020204020204" charset="-122"/>
              </a:rPr>
              <a:t>）传输模式</a:t>
            </a:r>
          </a:p>
        </p:txBody>
      </p:sp>
      <p:sp>
        <p:nvSpPr>
          <p:cNvPr id="20" name="矩形 19">
            <a:extLst>
              <a:ext uri="{FF2B5EF4-FFF2-40B4-BE49-F238E27FC236}">
                <a16:creationId xmlns:a16="http://schemas.microsoft.com/office/drawing/2014/main" id="{D4BAD976-AEEC-BB78-CF0F-A71904C55124}"/>
              </a:ext>
            </a:extLst>
          </p:cNvPr>
          <p:cNvSpPr/>
          <p:nvPr/>
        </p:nvSpPr>
        <p:spPr>
          <a:xfrm>
            <a:off x="5392509" y="3753084"/>
            <a:ext cx="4698722" cy="307777"/>
          </a:xfrm>
          <a:prstGeom prst="rect">
            <a:avLst/>
          </a:prstGeom>
        </p:spPr>
        <p:txBody>
          <a:bodyPr wrap="square">
            <a:spAutoFit/>
          </a:bodyPr>
          <a:lstStyle/>
          <a:p>
            <a:pPr marL="0" marR="0" indent="269875" algn="ctr"/>
            <a:r>
              <a:rPr lang="zh-CN" altLang="en-US" sz="1400" dirty="0">
                <a:solidFill>
                  <a:srgbClr val="000000"/>
                </a:solidFill>
                <a:latin typeface="微软雅黑" panose="020B0503020204020204" charset="-122"/>
                <a:ea typeface="微软雅黑" panose="020B0503020204020204" charset="-122"/>
              </a:rPr>
              <a:t>（</a:t>
            </a:r>
            <a:r>
              <a:rPr lang="en-US" altLang="zh-CN" sz="1400" dirty="0">
                <a:solidFill>
                  <a:srgbClr val="000000"/>
                </a:solidFill>
                <a:latin typeface="微软雅黑" panose="020B0503020204020204" charset="-122"/>
                <a:ea typeface="微软雅黑" panose="020B0503020204020204" charset="-122"/>
              </a:rPr>
              <a:t>c</a:t>
            </a:r>
            <a:r>
              <a:rPr lang="zh-CN" altLang="en-US" sz="1400" dirty="0">
                <a:solidFill>
                  <a:srgbClr val="000000"/>
                </a:solidFill>
                <a:latin typeface="微软雅黑" panose="020B0503020204020204" charset="-122"/>
                <a:ea typeface="微软雅黑" panose="020B0503020204020204" charset="-122"/>
              </a:rPr>
              <a:t>）隧道模式</a:t>
            </a:r>
          </a:p>
        </p:txBody>
      </p:sp>
      <p:sp>
        <p:nvSpPr>
          <p:cNvPr id="21" name="矩形 20">
            <a:extLst>
              <a:ext uri="{FF2B5EF4-FFF2-40B4-BE49-F238E27FC236}">
                <a16:creationId xmlns:a16="http://schemas.microsoft.com/office/drawing/2014/main" id="{F09484A5-3CEB-A438-00BC-19FB5A5F1F44}"/>
              </a:ext>
            </a:extLst>
          </p:cNvPr>
          <p:cNvSpPr/>
          <p:nvPr/>
        </p:nvSpPr>
        <p:spPr>
          <a:xfrm>
            <a:off x="6259195" y="626343"/>
            <a:ext cx="858153" cy="307777"/>
          </a:xfrm>
          <a:prstGeom prst="rect">
            <a:avLst/>
          </a:prstGeom>
        </p:spPr>
        <p:txBody>
          <a:bodyPr wrap="square">
            <a:spAutoFit/>
          </a:bodyPr>
          <a:lstStyle/>
          <a:p>
            <a:pPr marL="0" marR="0" indent="269875"/>
            <a:r>
              <a:rPr lang="en-US" altLang="zh-CN" sz="1400" dirty="0">
                <a:solidFill>
                  <a:srgbClr val="000000"/>
                </a:solidFill>
                <a:latin typeface="微软雅黑" panose="020B0503020204020204" charset="-122"/>
                <a:ea typeface="微软雅黑" panose="020B0503020204020204" charset="-122"/>
              </a:rPr>
              <a:t>IPv4</a:t>
            </a:r>
            <a:endParaRPr lang="zh-CN" altLang="en-US" sz="1400" dirty="0">
              <a:solidFill>
                <a:srgbClr val="000000"/>
              </a:solidFill>
              <a:latin typeface="微软雅黑" panose="020B0503020204020204" charset="-122"/>
              <a:ea typeface="微软雅黑" panose="020B0503020204020204" charset="-122"/>
            </a:endParaRPr>
          </a:p>
        </p:txBody>
      </p:sp>
      <p:sp>
        <p:nvSpPr>
          <p:cNvPr id="22" name="矩形 21">
            <a:extLst>
              <a:ext uri="{FF2B5EF4-FFF2-40B4-BE49-F238E27FC236}">
                <a16:creationId xmlns:a16="http://schemas.microsoft.com/office/drawing/2014/main" id="{EFAAF785-334E-1C33-9D7F-2545D1697D4E}"/>
              </a:ext>
            </a:extLst>
          </p:cNvPr>
          <p:cNvSpPr/>
          <p:nvPr/>
        </p:nvSpPr>
        <p:spPr>
          <a:xfrm>
            <a:off x="4650802" y="983701"/>
            <a:ext cx="858153" cy="307777"/>
          </a:xfrm>
          <a:prstGeom prst="rect">
            <a:avLst/>
          </a:prstGeom>
        </p:spPr>
        <p:txBody>
          <a:bodyPr wrap="square">
            <a:spAutoFit/>
          </a:bodyPr>
          <a:lstStyle/>
          <a:p>
            <a:pPr marL="0" marR="0" indent="269875"/>
            <a:r>
              <a:rPr lang="en-US" altLang="zh-CN" sz="1400" dirty="0">
                <a:solidFill>
                  <a:srgbClr val="000000"/>
                </a:solidFill>
                <a:latin typeface="微软雅黑" panose="020B0503020204020204" charset="-122"/>
                <a:ea typeface="微软雅黑" panose="020B0503020204020204" charset="-122"/>
              </a:rPr>
              <a:t>IPv6</a:t>
            </a:r>
            <a:endParaRPr lang="zh-CN" altLang="en-US" sz="1400" dirty="0">
              <a:solidFill>
                <a:srgbClr val="000000"/>
              </a:solidFill>
              <a:latin typeface="微软雅黑" panose="020B0503020204020204" charset="-122"/>
              <a:ea typeface="微软雅黑" panose="020B0503020204020204" charset="-122"/>
            </a:endParaRPr>
          </a:p>
        </p:txBody>
      </p:sp>
      <p:sp>
        <p:nvSpPr>
          <p:cNvPr id="23" name="矩形 22">
            <a:extLst>
              <a:ext uri="{FF2B5EF4-FFF2-40B4-BE49-F238E27FC236}">
                <a16:creationId xmlns:a16="http://schemas.microsoft.com/office/drawing/2014/main" id="{6400D5BD-CC5D-56E1-C59C-07D8EC74F3C4}"/>
              </a:ext>
            </a:extLst>
          </p:cNvPr>
          <p:cNvSpPr/>
          <p:nvPr/>
        </p:nvSpPr>
        <p:spPr>
          <a:xfrm>
            <a:off x="3807044" y="1685317"/>
            <a:ext cx="864096" cy="307777"/>
          </a:xfrm>
          <a:prstGeom prst="rect">
            <a:avLst/>
          </a:prstGeom>
        </p:spPr>
        <p:txBody>
          <a:bodyPr wrap="square">
            <a:spAutoFit/>
          </a:bodyPr>
          <a:lstStyle/>
          <a:p>
            <a:pPr marL="0" marR="0" indent="269875"/>
            <a:r>
              <a:rPr lang="en-US" altLang="zh-CN" sz="1400" dirty="0">
                <a:solidFill>
                  <a:srgbClr val="000000"/>
                </a:solidFill>
                <a:latin typeface="微软雅黑" panose="020B0503020204020204" charset="-122"/>
                <a:ea typeface="微软雅黑" panose="020B0503020204020204" charset="-122"/>
              </a:rPr>
              <a:t>IPv4</a:t>
            </a:r>
            <a:endParaRPr lang="zh-CN" altLang="en-US" sz="1400" dirty="0">
              <a:solidFill>
                <a:srgbClr val="000000"/>
              </a:solidFill>
              <a:latin typeface="微软雅黑" panose="020B0503020204020204" charset="-122"/>
              <a:ea typeface="微软雅黑" panose="020B0503020204020204" charset="-122"/>
            </a:endParaRPr>
          </a:p>
        </p:txBody>
      </p:sp>
      <p:sp>
        <p:nvSpPr>
          <p:cNvPr id="24" name="矩形 23">
            <a:extLst>
              <a:ext uri="{FF2B5EF4-FFF2-40B4-BE49-F238E27FC236}">
                <a16:creationId xmlns:a16="http://schemas.microsoft.com/office/drawing/2014/main" id="{9E06BED1-6F1E-36B2-6AB3-5DB93443B373}"/>
              </a:ext>
            </a:extLst>
          </p:cNvPr>
          <p:cNvSpPr/>
          <p:nvPr/>
        </p:nvSpPr>
        <p:spPr>
          <a:xfrm>
            <a:off x="1835696" y="2183714"/>
            <a:ext cx="815689" cy="307777"/>
          </a:xfrm>
          <a:prstGeom prst="rect">
            <a:avLst/>
          </a:prstGeom>
        </p:spPr>
        <p:txBody>
          <a:bodyPr wrap="square">
            <a:spAutoFit/>
          </a:bodyPr>
          <a:lstStyle/>
          <a:p>
            <a:pPr marL="0" marR="0" indent="269875"/>
            <a:r>
              <a:rPr lang="en-US" altLang="zh-CN" sz="1400" dirty="0">
                <a:solidFill>
                  <a:srgbClr val="000000"/>
                </a:solidFill>
                <a:latin typeface="微软雅黑" panose="020B0503020204020204" charset="-122"/>
                <a:ea typeface="微软雅黑" panose="020B0503020204020204" charset="-122"/>
              </a:rPr>
              <a:t>IPv6</a:t>
            </a:r>
            <a:endParaRPr lang="zh-CN" altLang="en-US" sz="1400" dirty="0">
              <a:solidFill>
                <a:srgbClr val="000000"/>
              </a:solidFill>
              <a:latin typeface="微软雅黑" panose="020B0503020204020204" charset="-122"/>
              <a:ea typeface="微软雅黑" panose="020B0503020204020204" charset="-122"/>
            </a:endParaRPr>
          </a:p>
        </p:txBody>
      </p:sp>
      <p:sp>
        <p:nvSpPr>
          <p:cNvPr id="25" name="矩形 24">
            <a:extLst>
              <a:ext uri="{FF2B5EF4-FFF2-40B4-BE49-F238E27FC236}">
                <a16:creationId xmlns:a16="http://schemas.microsoft.com/office/drawing/2014/main" id="{B01B4F15-0DD4-48AF-66B2-7E5AD5710756}"/>
              </a:ext>
            </a:extLst>
          </p:cNvPr>
          <p:cNvSpPr/>
          <p:nvPr/>
        </p:nvSpPr>
        <p:spPr>
          <a:xfrm>
            <a:off x="592773" y="2956499"/>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charset="-122"/>
                <a:ea typeface="微软雅黑" panose="020B0503020204020204" charset="-122"/>
              </a:rPr>
              <a:t>IPv4</a:t>
            </a:r>
            <a:endParaRPr lang="zh-CN" altLang="en-US" sz="1400" dirty="0">
              <a:solidFill>
                <a:srgbClr val="000000"/>
              </a:solidFill>
              <a:latin typeface="微软雅黑" panose="020B0503020204020204" charset="-122"/>
              <a:ea typeface="微软雅黑" panose="020B0503020204020204" charset="-122"/>
            </a:endParaRPr>
          </a:p>
        </p:txBody>
      </p:sp>
      <p:sp>
        <p:nvSpPr>
          <p:cNvPr id="26" name="矩形 25">
            <a:extLst>
              <a:ext uri="{FF2B5EF4-FFF2-40B4-BE49-F238E27FC236}">
                <a16:creationId xmlns:a16="http://schemas.microsoft.com/office/drawing/2014/main" id="{22049B0C-5394-A027-5908-482AE861A3BC}"/>
              </a:ext>
            </a:extLst>
          </p:cNvPr>
          <p:cNvSpPr/>
          <p:nvPr/>
        </p:nvSpPr>
        <p:spPr>
          <a:xfrm>
            <a:off x="-1261595" y="3370557"/>
            <a:ext cx="2325226" cy="307777"/>
          </a:xfrm>
          <a:prstGeom prst="rect">
            <a:avLst/>
          </a:prstGeom>
        </p:spPr>
        <p:txBody>
          <a:bodyPr wrap="square">
            <a:spAutoFit/>
          </a:bodyPr>
          <a:lstStyle/>
          <a:p>
            <a:pPr marL="0" marR="0" indent="269875" algn="r"/>
            <a:r>
              <a:rPr lang="en-US" altLang="zh-CN" sz="1400" dirty="0">
                <a:solidFill>
                  <a:srgbClr val="000000"/>
                </a:solidFill>
                <a:latin typeface="微软雅黑" panose="020B0503020204020204" charset="-122"/>
                <a:ea typeface="微软雅黑" panose="020B0503020204020204" charset="-122"/>
              </a:rPr>
              <a:t>IPv6</a:t>
            </a:r>
            <a:endParaRPr lang="zh-CN" altLang="en-US" sz="1400" dirty="0">
              <a:solidFill>
                <a:srgbClr val="0000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95043502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1091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VPN</a:t>
            </a:r>
            <a:endPar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VPN(Virtual Private Network</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，虚拟专用网络</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种确保远程网络之间能够安全通信的技术。其实质是利用共享的互联网络设施，实现“专用”广域网络，最终以极低的费用为远程用户提供能和专用网络比美的保密通信服务。与一般专网相比，其突出的优势表现为低廉的费用和良好的可扩展性</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VPN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主要有三个应用领域：远程接入网、内联网和外联网</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graphicFrame>
        <p:nvGraphicFramePr>
          <p:cNvPr id="4" name="对象 5">
            <a:extLst>
              <a:ext uri="{FF2B5EF4-FFF2-40B4-BE49-F238E27FC236}">
                <a16:creationId xmlns:a16="http://schemas.microsoft.com/office/drawing/2014/main" id="{8B76FDF8-65DE-4649-A162-190D7602DBBA}"/>
              </a:ext>
            </a:extLst>
          </p:cNvPr>
          <p:cNvGraphicFramePr>
            <a:graphicFrameLocks noChangeAspect="1"/>
          </p:cNvGraphicFramePr>
          <p:nvPr>
            <p:extLst>
              <p:ext uri="{D42A27DB-BD31-4B8C-83A1-F6EECF244321}">
                <p14:modId xmlns:p14="http://schemas.microsoft.com/office/powerpoint/2010/main" val="4094545211"/>
              </p:ext>
            </p:extLst>
          </p:nvPr>
        </p:nvGraphicFramePr>
        <p:xfrm>
          <a:off x="971600" y="3476348"/>
          <a:ext cx="3000375" cy="1390650"/>
        </p:xfrm>
        <a:graphic>
          <a:graphicData uri="http://schemas.openxmlformats.org/presentationml/2006/ole">
            <mc:AlternateContent xmlns:mc="http://schemas.openxmlformats.org/markup-compatibility/2006">
              <mc:Choice xmlns:v="urn:schemas-microsoft-com:vml" Requires="v">
                <p:oleObj r:id="rId3" imgW="3399155" imgH="1581150" progId="Visio.Drawing.15">
                  <p:embed/>
                </p:oleObj>
              </mc:Choice>
              <mc:Fallback>
                <p:oleObj r:id="rId3" imgW="3399155" imgH="1581150" progId="Visio.Drawing.15">
                  <p:embed/>
                  <p:pic>
                    <p:nvPicPr>
                      <p:cNvPr id="4" name="对象 5">
                        <a:extLst>
                          <a:ext uri="{FF2B5EF4-FFF2-40B4-BE49-F238E27FC236}">
                            <a16:creationId xmlns:a16="http://schemas.microsoft.com/office/drawing/2014/main" id="{8B76FDF8-65DE-4649-A162-190D7602DBBA}"/>
                          </a:ext>
                        </a:extLst>
                      </p:cNvPr>
                      <p:cNvPicPr/>
                      <p:nvPr/>
                    </p:nvPicPr>
                    <p:blipFill>
                      <a:blip r:embed="rId4"/>
                      <a:stretch>
                        <a:fillRect/>
                      </a:stretch>
                    </p:blipFill>
                    <p:spPr>
                      <a:xfrm>
                        <a:off x="971600" y="3476348"/>
                        <a:ext cx="3000375" cy="1390650"/>
                      </a:xfrm>
                      <a:prstGeom prst="rect">
                        <a:avLst/>
                      </a:prstGeom>
                      <a:noFill/>
                      <a:ln w="38100">
                        <a:noFill/>
                        <a:miter/>
                      </a:ln>
                    </p:spPr>
                  </p:pic>
                </p:oleObj>
              </mc:Fallback>
            </mc:AlternateContent>
          </a:graphicData>
        </a:graphic>
      </p:graphicFrame>
      <p:graphicFrame>
        <p:nvGraphicFramePr>
          <p:cNvPr id="5" name="对象 7">
            <a:extLst>
              <a:ext uri="{FF2B5EF4-FFF2-40B4-BE49-F238E27FC236}">
                <a16:creationId xmlns:a16="http://schemas.microsoft.com/office/drawing/2014/main" id="{BC85845E-3B06-40A9-B13F-95CAE469F114}"/>
              </a:ext>
            </a:extLst>
          </p:cNvPr>
          <p:cNvGraphicFramePr>
            <a:graphicFrameLocks noChangeAspect="1"/>
          </p:cNvGraphicFramePr>
          <p:nvPr>
            <p:extLst>
              <p:ext uri="{D42A27DB-BD31-4B8C-83A1-F6EECF244321}">
                <p14:modId xmlns:p14="http://schemas.microsoft.com/office/powerpoint/2010/main" val="2014332889"/>
              </p:ext>
            </p:extLst>
          </p:nvPr>
        </p:nvGraphicFramePr>
        <p:xfrm>
          <a:off x="5153075" y="3285848"/>
          <a:ext cx="3371850" cy="1581150"/>
        </p:xfrm>
        <a:graphic>
          <a:graphicData uri="http://schemas.openxmlformats.org/presentationml/2006/ole">
            <mc:AlternateContent xmlns:mc="http://schemas.openxmlformats.org/markup-compatibility/2006">
              <mc:Choice xmlns:v="urn:schemas-microsoft-com:vml" Requires="v">
                <p:oleObj r:id="rId5" imgW="3657600" imgH="1721485" progId="Visio.Drawing.15">
                  <p:embed/>
                </p:oleObj>
              </mc:Choice>
              <mc:Fallback>
                <p:oleObj r:id="rId5" imgW="3657600" imgH="1721485" progId="Visio.Drawing.15">
                  <p:embed/>
                  <p:pic>
                    <p:nvPicPr>
                      <p:cNvPr id="5" name="对象 7">
                        <a:extLst>
                          <a:ext uri="{FF2B5EF4-FFF2-40B4-BE49-F238E27FC236}">
                            <a16:creationId xmlns:a16="http://schemas.microsoft.com/office/drawing/2014/main" id="{BC85845E-3B06-40A9-B13F-95CAE469F114}"/>
                          </a:ext>
                        </a:extLst>
                      </p:cNvPr>
                      <p:cNvPicPr/>
                      <p:nvPr/>
                    </p:nvPicPr>
                    <p:blipFill>
                      <a:blip r:embed="rId6"/>
                      <a:stretch>
                        <a:fillRect/>
                      </a:stretch>
                    </p:blipFill>
                    <p:spPr>
                      <a:xfrm>
                        <a:off x="5153075" y="3285848"/>
                        <a:ext cx="3371850" cy="1581150"/>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56486624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63278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VPN</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的基本功能</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加密数据</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信息验证和身份识别</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地址管理</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密钥管理</a:t>
            </a:r>
          </a:p>
          <a:p>
            <a:pPr marL="342900" indent="-342900">
              <a:lnSpc>
                <a:spcPct val="130000"/>
              </a:lnSpc>
              <a:spcBef>
                <a:spcPts val="300"/>
              </a:spcBef>
              <a:spcAft>
                <a:spcPts val="300"/>
              </a:spcAft>
              <a:buFont typeface="Wingdings" panose="05000000000000000000" pitchFamily="2" charset="2"/>
              <a:buChar char="ü"/>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多协议支持</a:t>
            </a:r>
          </a:p>
          <a:p>
            <a:pPr marL="342900" indent="-342900">
              <a:lnSpc>
                <a:spcPct val="130000"/>
              </a:lnSpc>
              <a:spcBef>
                <a:spcPts val="300"/>
              </a:spcBef>
              <a:spcAft>
                <a:spcPts val="300"/>
              </a:spcAft>
              <a:buFont typeface="Wingdings" panose="05000000000000000000" pitchFamily="2" charset="2"/>
              <a:buChar char="ü"/>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spTree>
    <p:extLst>
      <p:ext uri="{BB962C8B-B14F-4D97-AF65-F5344CB8AC3E}">
        <p14:creationId xmlns:p14="http://schemas.microsoft.com/office/powerpoint/2010/main" val="274667781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2982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VPN</a:t>
            </a: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采用的安全技术</a:t>
            </a:r>
          </a:p>
          <a:p>
            <a:pPr marL="342900" indent="-342900">
              <a:lnSpc>
                <a:spcPct val="130000"/>
              </a:lnSpc>
              <a:spcBef>
                <a:spcPts val="300"/>
              </a:spcBef>
              <a:spcAft>
                <a:spcPts val="300"/>
              </a:spcAft>
              <a:buFont typeface="+mj-lt"/>
              <a:buAutoNum type="arabicPeriod"/>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隧道技术</a:t>
            </a: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点到点隧道协议（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PPTP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第二层隧道协议（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L2TP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p>
          <a:p>
            <a:pPr marL="342900" indent="-342900">
              <a:lnSpc>
                <a:spcPct val="130000"/>
              </a:lnSpc>
              <a:spcBef>
                <a:spcPts val="300"/>
              </a:spcBef>
              <a:spcAft>
                <a:spcPts val="300"/>
              </a:spcAft>
              <a:buFont typeface="+mj-lt"/>
              <a:buAutoNum type="arabicPeriod" startAt="2"/>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加解密技术</a:t>
            </a:r>
          </a:p>
          <a:p>
            <a:pPr marL="342900" indent="-342900">
              <a:lnSpc>
                <a:spcPct val="130000"/>
              </a:lnSpc>
              <a:spcBef>
                <a:spcPts val="300"/>
              </a:spcBef>
              <a:spcAft>
                <a:spcPts val="300"/>
              </a:spcAft>
              <a:buFont typeface="+mj-lt"/>
              <a:buAutoNum type="arabicPeriod" startAt="2"/>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密钥管理技术</a:t>
            </a:r>
          </a:p>
          <a:p>
            <a:pPr marL="342900" indent="-342900">
              <a:lnSpc>
                <a:spcPct val="130000"/>
              </a:lnSpc>
              <a:spcBef>
                <a:spcPts val="300"/>
              </a:spcBef>
              <a:spcAft>
                <a:spcPts val="300"/>
              </a:spcAft>
              <a:buFont typeface="+mj-lt"/>
              <a:buAutoNum type="arabicPeriod" startAt="2"/>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使用者与设备身份认证技术</a:t>
            </a:r>
          </a:p>
          <a:p>
            <a:pPr marL="342900" indent="-342900">
              <a:lnSpc>
                <a:spcPct val="130000"/>
              </a:lnSpc>
              <a:spcBef>
                <a:spcPts val="300"/>
              </a:spcBef>
              <a:spcAft>
                <a:spcPts val="300"/>
              </a:spcAft>
              <a:buFont typeface="+mj-lt"/>
              <a:buAutoNum type="arabicPeriod" startAt="2"/>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访问控制技术</a:t>
            </a:r>
          </a:p>
          <a:p>
            <a:pPr marL="342900" indent="-342900">
              <a:lnSpc>
                <a:spcPct val="130000"/>
              </a:lnSpc>
              <a:spcBef>
                <a:spcPts val="300"/>
              </a:spcBef>
              <a:spcAft>
                <a:spcPts val="300"/>
              </a:spcAft>
              <a:buFont typeface="Wingdings" panose="05000000000000000000" pitchFamily="2" charset="2"/>
              <a:buChar char="ü"/>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IPSec</a:t>
            </a:r>
            <a:r>
              <a:rPr lang="zh-CN" altLang="en-US" sz="2000" b="1" dirty="0">
                <a:solidFill>
                  <a:schemeClr val="tx1">
                    <a:lumMod val="50000"/>
                    <a:lumOff val="50000"/>
                  </a:schemeClr>
                </a:solidFill>
                <a:latin typeface="微软雅黑" pitchFamily="34" charset="-122"/>
                <a:ea typeface="微软雅黑" pitchFamily="34" charset="-122"/>
              </a:rPr>
              <a:t>安全协议与</a:t>
            </a:r>
            <a:r>
              <a:rPr lang="en-US" altLang="zh-CN" sz="2000" b="1" dirty="0">
                <a:solidFill>
                  <a:schemeClr val="tx1">
                    <a:lumMod val="50000"/>
                    <a:lumOff val="50000"/>
                  </a:schemeClr>
                </a:solidFill>
                <a:latin typeface="微软雅黑" pitchFamily="34" charset="-122"/>
                <a:ea typeface="微软雅黑" pitchFamily="34" charset="-122"/>
              </a:rPr>
              <a:t>VPN</a:t>
            </a:r>
          </a:p>
        </p:txBody>
      </p:sp>
    </p:spTree>
    <p:extLst>
      <p:ext uri="{BB962C8B-B14F-4D97-AF65-F5344CB8AC3E}">
        <p14:creationId xmlns:p14="http://schemas.microsoft.com/office/powerpoint/2010/main" val="29947314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0833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物联网感知层节点使用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协议等，为了能够与其他</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设备互操作，物联网网关需要使用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协议作为网络层协议</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包头比</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 MAC</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的净荷（</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127Byte</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）要大，需要对</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包头进行压缩，且</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数据包的最小字节数（</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1280Byte</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）远大于</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帧所能包含的字节数（</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127Byte</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），必须进行拆包分片重装进</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帧中</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为了让</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协议之上工作，实现 </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MAC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层和网络层之间的无缝连接</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提出一个网络适配层</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-6LoWPAN</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 over low-power wireless personal area network</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），用来完成包头压缩、分片、重组和网状路由转发等</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6LoWPAN</a:t>
            </a:r>
            <a:r>
              <a:rPr lang="zh-CN" altLang="en-US" sz="2000" b="1" dirty="0">
                <a:solidFill>
                  <a:schemeClr val="tx1">
                    <a:lumMod val="50000"/>
                    <a:lumOff val="50000"/>
                  </a:schemeClr>
                </a:solidFill>
                <a:latin typeface="微软雅黑" pitchFamily="34" charset="-122"/>
                <a:ea typeface="微软雅黑" pitchFamily="34" charset="-122"/>
              </a:rPr>
              <a:t>安全</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23966569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378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6LoWPAN</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的目标就是在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 MAC</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层上构建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协议栈，使物联网能够连接到运行</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Internet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。中间采用双协议栈网关，一边是</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网络，另一边是物联网感知节点组成的网络，通过网关实现这两种网络的相互通信</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6LoWPAN</a:t>
            </a:r>
            <a:r>
              <a:rPr lang="zh-CN" altLang="en-US" sz="2000" b="1" dirty="0">
                <a:solidFill>
                  <a:schemeClr val="tx1">
                    <a:lumMod val="50000"/>
                    <a:lumOff val="50000"/>
                  </a:schemeClr>
                </a:solidFill>
                <a:latin typeface="微软雅黑" pitchFamily="34" charset="-122"/>
                <a:ea typeface="微软雅黑" pitchFamily="34" charset="-122"/>
              </a:rPr>
              <a:t>安全</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66004914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2880320" cy="365433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为了在基于</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IEEE 802.15.4</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协议中实现</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数据的有效传输，解决两种技术的差异性，</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6LoWPAN</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适配层协议主要定义了分片重组、</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IPv6</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报头压缩以及路由转发三种机制</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6LoWPAN</a:t>
            </a:r>
            <a:r>
              <a:rPr lang="zh-CN" altLang="en-US" sz="2000" b="1" dirty="0">
                <a:solidFill>
                  <a:schemeClr val="tx1">
                    <a:lumMod val="50000"/>
                    <a:lumOff val="50000"/>
                  </a:schemeClr>
                </a:solidFill>
                <a:latin typeface="微软雅黑" pitchFamily="34" charset="-122"/>
                <a:ea typeface="微软雅黑" pitchFamily="34" charset="-122"/>
              </a:rPr>
              <a:t>安全</a:t>
            </a:r>
            <a:endParaRPr lang="en-US" altLang="zh-CN" sz="2000" b="1" dirty="0">
              <a:solidFill>
                <a:schemeClr val="tx1">
                  <a:lumMod val="50000"/>
                  <a:lumOff val="50000"/>
                </a:schemeClr>
              </a:solidFill>
              <a:latin typeface="微软雅黑" pitchFamily="34" charset="-122"/>
              <a:ea typeface="微软雅黑" pitchFamily="34" charset="-122"/>
            </a:endParaRPr>
          </a:p>
        </p:txBody>
      </p:sp>
      <p:graphicFrame>
        <p:nvGraphicFramePr>
          <p:cNvPr id="6" name="对象 2">
            <a:extLst>
              <a:ext uri="{FF2B5EF4-FFF2-40B4-BE49-F238E27FC236}">
                <a16:creationId xmlns:a16="http://schemas.microsoft.com/office/drawing/2014/main" id="{222ADE5F-A12E-4D50-8D6A-3AC190E0C8EE}"/>
              </a:ext>
            </a:extLst>
          </p:cNvPr>
          <p:cNvGraphicFramePr>
            <a:graphicFrameLocks noChangeAspect="1"/>
          </p:cNvGraphicFramePr>
          <p:nvPr>
            <p:extLst>
              <p:ext uri="{D42A27DB-BD31-4B8C-83A1-F6EECF244321}">
                <p14:modId xmlns:p14="http://schemas.microsoft.com/office/powerpoint/2010/main" val="2892008549"/>
              </p:ext>
            </p:extLst>
          </p:nvPr>
        </p:nvGraphicFramePr>
        <p:xfrm>
          <a:off x="3450134" y="915566"/>
          <a:ext cx="5693866" cy="3613443"/>
        </p:xfrm>
        <a:graphic>
          <a:graphicData uri="http://schemas.openxmlformats.org/presentationml/2006/ole">
            <mc:AlternateContent xmlns:mc="http://schemas.openxmlformats.org/markup-compatibility/2006">
              <mc:Choice xmlns:v="urn:schemas-microsoft-com:vml" Requires="v">
                <p:oleObj r:id="rId3" imgW="6723380" imgH="4271010" progId="Visio.Drawing.15">
                  <p:embed/>
                </p:oleObj>
              </mc:Choice>
              <mc:Fallback>
                <p:oleObj r:id="rId3" imgW="6723380" imgH="4271010" progId="Visio.Drawing.15">
                  <p:embed/>
                  <p:pic>
                    <p:nvPicPr>
                      <p:cNvPr id="6" name="对象 2">
                        <a:extLst>
                          <a:ext uri="{FF2B5EF4-FFF2-40B4-BE49-F238E27FC236}">
                            <a16:creationId xmlns:a16="http://schemas.microsoft.com/office/drawing/2014/main" id="{222ADE5F-A12E-4D50-8D6A-3AC190E0C8EE}"/>
                          </a:ext>
                        </a:extLst>
                      </p:cNvPr>
                      <p:cNvPicPr/>
                      <p:nvPr/>
                    </p:nvPicPr>
                    <p:blipFill>
                      <a:blip r:embed="rId4"/>
                      <a:stretch>
                        <a:fillRect/>
                      </a:stretch>
                    </p:blipFill>
                    <p:spPr>
                      <a:xfrm>
                        <a:off x="3450134" y="915566"/>
                        <a:ext cx="5693866" cy="3613443"/>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12958177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9187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6LoWPAN</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安全</a:t>
            </a:r>
            <a:endPar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层安全</a:t>
            </a:r>
          </a:p>
          <a:p>
            <a:pPr>
              <a:lnSpc>
                <a:spcPct val="11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必须提供终端节点和数据汇聚点间的安全保证。在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层可以引入访问控制、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帧加密与解密、帧完整性验证、身份认证等安全机制</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提供点到点的安全通信</a:t>
            </a: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）适配层安全     </a:t>
            </a:r>
          </a:p>
          <a:p>
            <a:pPr>
              <a:lnSpc>
                <a:spcPct val="11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可能存在的安全问题：分片与重组攻击，报头压缩攻击（如错误的压缩、拒绝服务攻击），轻量级组播安全和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Mesh</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路由安全等。目前针对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6LoWPAN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适配层安全的研究还较少</a:t>
            </a:r>
          </a:p>
          <a:p>
            <a:pPr>
              <a:lnSpc>
                <a:spcPct val="11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分片与重组可能出现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包碎片攻击，进而可能引起</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DoS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攻击和重播攻击。应对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包碎片攻击的一种方法是：在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6LoWPAN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适配层增加时间戳（</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Timestamp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）和现时（</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Nonce</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）选项来保证收到的数据包是最新的</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6LoWPAN</a:t>
            </a:r>
            <a:r>
              <a:rPr lang="zh-CN" altLang="en-US" sz="2000" b="1" dirty="0">
                <a:solidFill>
                  <a:schemeClr val="tx1">
                    <a:lumMod val="50000"/>
                    <a:lumOff val="50000"/>
                  </a:schemeClr>
                </a:solidFill>
                <a:latin typeface="微软雅黑" pitchFamily="34" charset="-122"/>
                <a:ea typeface="微软雅黑" pitchFamily="34" charset="-122"/>
              </a:rPr>
              <a:t>安全</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59142912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21826"/>
          </a:xfrm>
          <a:prstGeom prst="rect">
            <a:avLst/>
          </a:prstGeom>
          <a:noFill/>
        </p:spPr>
        <p:txBody>
          <a:bodyPr wrap="square" rtlCol="0">
            <a:spAutoFit/>
          </a:bodyPr>
          <a:lstStyle/>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）网络层安全    </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在网络层采用高级加密标准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(AES)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CTR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模式加密及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CBC-MAC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验证等对称加密算法对大容量数据进行加密</a:t>
            </a:r>
          </a:p>
          <a:p>
            <a:pPr>
              <a:lnSpc>
                <a:spcPct val="130000"/>
              </a:lnSpc>
              <a:spcBef>
                <a:spcPts val="300"/>
              </a:spcBef>
              <a:spcAft>
                <a:spcPts val="300"/>
              </a:spcAft>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）应用层安全   </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应用层的安全主要集中在为整个</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6LoWPAN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网络提供安全支持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即密钥建立、密钥传输和密钥管理等；而且应用层要能够控制下层安全服务的某些参数</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6LoWPAN</a:t>
            </a:r>
            <a:r>
              <a:rPr lang="zh-CN" altLang="en-US" sz="2000" b="1" dirty="0">
                <a:solidFill>
                  <a:schemeClr val="tx1">
                    <a:lumMod val="50000"/>
                    <a:lumOff val="50000"/>
                  </a:schemeClr>
                </a:solidFill>
                <a:latin typeface="微软雅黑" pitchFamily="34" charset="-122"/>
                <a:ea typeface="微软雅黑" pitchFamily="34" charset="-122"/>
              </a:rPr>
              <a:t>安全</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95206512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40811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安全套接字层协议（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Secure Socket </a:t>
            </a:r>
            <a:r>
              <a:rPr lang="en-US" altLang="zh-CN" sz="2000" dirty="0" err="1">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Layer,SSL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）被设计成使用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TCP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在传输层提供一种可靠的端到端的安全服务，是一种用于基于会话的加密和认证的</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Internet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协议，它在客户和服务器之间提供一个安全的管道</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为了防止客户</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服务器应用中的监听、篡改、消息伪造等，</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提供了服务器认证和可选的客户端认证</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通过在两个实体间建立一个共享的秘密，</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提供通信的机密性、认证和完整性</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spTree>
    <p:extLst>
      <p:ext uri="{BB962C8B-B14F-4D97-AF65-F5344CB8AC3E}">
        <p14:creationId xmlns:p14="http://schemas.microsoft.com/office/powerpoint/2010/main" val="378089995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0789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工作在传输层和应用层之间，与应用层协议无关，应用层数据（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HTTP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FTP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TELNET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等）可以透明地置于</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之上</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不是单个的协议，而是两层协议</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记录协议为不同的更高层协议提供基本的安全服务。</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个高层协议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握手协议、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修改密文规程协议、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告警协议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用于管理</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交换</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spTree>
    <p:extLst>
      <p:ext uri="{BB962C8B-B14F-4D97-AF65-F5344CB8AC3E}">
        <p14:creationId xmlns:p14="http://schemas.microsoft.com/office/powerpoint/2010/main" val="193235958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0789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工作在传输层和应用层之间，与应用层协议无关，应用层数据（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HTTP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FTP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TELNET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等）可以透明地置于</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之上</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不是单个的协议，而是两层协议</a:t>
            </a:r>
          </a:p>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的体系结构中包含两个协议子层，其中底层是</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记录协议层（</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 Record Protocol Layer</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）；高层是</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握手协议层（</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 </a:t>
            </a:r>
            <a:r>
              <a:rPr lang="en-US" altLang="zh-CN" sz="2000" dirty="0" err="1">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HandShake</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Protocol Layer</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endPar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graphicFrame>
        <p:nvGraphicFramePr>
          <p:cNvPr id="4" name="对象 2">
            <a:extLst>
              <a:ext uri="{FF2B5EF4-FFF2-40B4-BE49-F238E27FC236}">
                <a16:creationId xmlns:a16="http://schemas.microsoft.com/office/drawing/2014/main" id="{4681F1D4-F0F3-455C-9E6C-1370C3E9F9E4}"/>
              </a:ext>
            </a:extLst>
          </p:cNvPr>
          <p:cNvGraphicFramePr>
            <a:graphicFrameLocks noChangeAspect="1"/>
          </p:cNvGraphicFramePr>
          <p:nvPr>
            <p:extLst>
              <p:ext uri="{D42A27DB-BD31-4B8C-83A1-F6EECF244321}">
                <p14:modId xmlns:p14="http://schemas.microsoft.com/office/powerpoint/2010/main" val="2601750718"/>
              </p:ext>
            </p:extLst>
          </p:nvPr>
        </p:nvGraphicFramePr>
        <p:xfrm>
          <a:off x="4680012" y="2965911"/>
          <a:ext cx="4248472" cy="2073317"/>
        </p:xfrm>
        <a:graphic>
          <a:graphicData uri="http://schemas.openxmlformats.org/presentationml/2006/ole">
            <mc:AlternateContent xmlns:mc="http://schemas.openxmlformats.org/markup-compatibility/2006">
              <mc:Choice xmlns:v="urn:schemas-microsoft-com:vml" Requires="v">
                <p:oleObj name="Visio" r:id="rId3" imgW="3169778" imgH="1546656" progId="Visio.Drawing.15">
                  <p:embed/>
                </p:oleObj>
              </mc:Choice>
              <mc:Fallback>
                <p:oleObj name="Visio" r:id="rId3" imgW="3169778" imgH="1546656" progId="Visio.Drawing.15">
                  <p:embed/>
                  <p:pic>
                    <p:nvPicPr>
                      <p:cNvPr id="4" name="对象 2">
                        <a:extLst>
                          <a:ext uri="{FF2B5EF4-FFF2-40B4-BE49-F238E27FC236}">
                            <a16:creationId xmlns:a16="http://schemas.microsoft.com/office/drawing/2014/main" id="{4681F1D4-F0F3-455C-9E6C-1370C3E9F9E4}"/>
                          </a:ext>
                        </a:extLst>
                      </p:cNvPr>
                      <p:cNvPicPr/>
                      <p:nvPr/>
                    </p:nvPicPr>
                    <p:blipFill>
                      <a:blip r:embed="rId4"/>
                      <a:stretch>
                        <a:fillRect/>
                      </a:stretch>
                    </p:blipFill>
                    <p:spPr>
                      <a:xfrm>
                        <a:off x="4680012" y="2965911"/>
                        <a:ext cx="4248472" cy="2073317"/>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31930600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98440"/>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记录协议层</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的作用是为高层协议提供基本的安全服务。</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纪录协议针对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HTTP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协议进行了特别的设计，使得超文本的传输协议</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HTTP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能够在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运行。纪录封装各种高层协议，具体实施压缩解压缩、加密解密、计算和校验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等与安全有关的操作。</a:t>
            </a:r>
          </a:p>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握手协议层</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包括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握手协议（</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 </a:t>
            </a:r>
            <a:r>
              <a:rPr lang="en-US" altLang="zh-CN"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HandShake</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Protocol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密码参数修改协议（</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 Change Cipher Spec Protocol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告警协议（</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 Alert Protocol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）。握手层的这些协议用于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管理信息的交换，允许应用协议传送数据之间相互验证，协商加密算法和生成密钥等。</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握手协议的作用是协调客户和服务器的状态，使双方能够达到状态的同步。</a:t>
            </a: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spTree>
    <p:extLst>
      <p:ext uri="{BB962C8B-B14F-4D97-AF65-F5344CB8AC3E}">
        <p14:creationId xmlns:p14="http://schemas.microsoft.com/office/powerpoint/2010/main" val="144965676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3509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握手协议</a:t>
            </a:r>
            <a:endPar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握手协议是客户机和服务器用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连接通信时使用的第一个子协议，握手协议包括客户机与服务器之间的一系列消息。</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中最复杂的协议就是握手协议。</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该协议允许服务器和客户机相互验证，协商加密和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算法以及保密密钥，用来保护在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记录中发送的数据。</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握手协议是在应用程序的数据传输之前使用的。</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spTree>
    <p:extLst>
      <p:ext uri="{BB962C8B-B14F-4D97-AF65-F5344CB8AC3E}">
        <p14:creationId xmlns:p14="http://schemas.microsoft.com/office/powerpoint/2010/main" val="91312445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65782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每一个握手协议都含有以下三个字段</a:t>
            </a: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类型</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(Type)</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个字节：表示消息的类型，总共有十种。</a:t>
            </a: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长度</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(Length)</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个字节：消息的位组长度。</a:t>
            </a: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内容</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(Content)</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，大于或等于</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个字节，与此消息有关的参数。</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 </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spTree>
    <p:extLst>
      <p:ext uri="{BB962C8B-B14F-4D97-AF65-F5344CB8AC3E}">
        <p14:creationId xmlns:p14="http://schemas.microsoft.com/office/powerpoint/2010/main" val="266336149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86376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握手协议的消息类型</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graphicFrame>
        <p:nvGraphicFramePr>
          <p:cNvPr id="4" name="Group 33">
            <a:extLst>
              <a:ext uri="{FF2B5EF4-FFF2-40B4-BE49-F238E27FC236}">
                <a16:creationId xmlns:a16="http://schemas.microsoft.com/office/drawing/2014/main" id="{2F6C204E-44F0-4457-A895-B79D01E60081}"/>
              </a:ext>
            </a:extLst>
          </p:cNvPr>
          <p:cNvGraphicFramePr/>
          <p:nvPr>
            <p:extLst>
              <p:ext uri="{D42A27DB-BD31-4B8C-83A1-F6EECF244321}">
                <p14:modId xmlns:p14="http://schemas.microsoft.com/office/powerpoint/2010/main" val="1779484431"/>
              </p:ext>
            </p:extLst>
          </p:nvPr>
        </p:nvGraphicFramePr>
        <p:xfrm>
          <a:off x="683568" y="1365479"/>
          <a:ext cx="8540750" cy="2966443"/>
        </p:xfrm>
        <a:graphic>
          <a:graphicData uri="http://schemas.openxmlformats.org/drawingml/2006/table">
            <a:tbl>
              <a:tblPr/>
              <a:tblGrid>
                <a:gridCol w="2284413">
                  <a:extLst>
                    <a:ext uri="{9D8B030D-6E8A-4147-A177-3AD203B41FA5}">
                      <a16:colId xmlns:a16="http://schemas.microsoft.com/office/drawing/2014/main" val="20000"/>
                    </a:ext>
                  </a:extLst>
                </a:gridCol>
                <a:gridCol w="6256337">
                  <a:extLst>
                    <a:ext uri="{9D8B030D-6E8A-4147-A177-3AD203B41FA5}">
                      <a16:colId xmlns:a16="http://schemas.microsoft.com/office/drawing/2014/main" val="20001"/>
                    </a:ext>
                  </a:extLst>
                </a:gridCol>
              </a:tblGrid>
              <a:tr h="436603">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消息种类</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pPr>
                      <a:r>
                        <a:rPr kumimoji="0" lang="zh-CN" altLang="en-US" sz="1800" b="0" i="0" u="none" strike="noStrike" cap="none" normalizeH="0" baseline="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参   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25852">
                <a:tc>
                  <a:txBody>
                    <a:bodyPr/>
                    <a:lstStyle/>
                    <a:p>
                      <a:pPr marL="342900" marR="0" lvl="0" indent="-342900"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hello_request</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client_hello</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server_hello</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certificate</a:t>
                      </a: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server_key_exchange</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certificate_request</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server_done</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certificate_verify</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err="1">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client_key_exchange</a:t>
                      </a:r>
                      <a:endPar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finished</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276225" algn="l" defTabSz="914400" rtl="0" eaLnBrk="1" fontAlgn="base" latinLnBrk="0" hangingPunct="1">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Null </a:t>
                      </a: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Version, random, session id, cipher suite, compression method </a:t>
                      </a: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Version, random, session id, cipher suite, compression method </a:t>
                      </a:r>
                    </a:p>
                    <a:p>
                      <a:pPr marL="342900" marR="0" lvl="0" indent="-276225" algn="l" defTabSz="914400" rtl="0" eaLnBrk="0" fontAlgn="base" latinLnBrk="0" hangingPunct="0">
                        <a:lnSpc>
                          <a:spcPct val="100000"/>
                        </a:lnSpc>
                        <a:spcBef>
                          <a:spcPct val="0"/>
                        </a:spcBef>
                        <a:spcAft>
                          <a:spcPct val="0"/>
                        </a:spcAft>
                        <a:buClrTx/>
                        <a:buSzTx/>
                        <a:buFontTx/>
                        <a:buNone/>
                      </a:pPr>
                      <a:r>
                        <a:rPr kumimoji="0" lang="zh-CN" altLang="en-US"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一连串的</a:t>
                      </a: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X.509 v3</a:t>
                      </a:r>
                      <a:r>
                        <a:rPr kumimoji="0" lang="zh-CN" altLang="en-US"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的证书 </a:t>
                      </a: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Parameters, signature </a:t>
                      </a: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Type, authorities </a:t>
                      </a: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Null </a:t>
                      </a: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Signature </a:t>
                      </a: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Parameters, signature </a:t>
                      </a:r>
                    </a:p>
                    <a:p>
                      <a:pPr marL="342900" marR="0" lvl="0" indent="-276225" algn="l" defTabSz="914400" rtl="0" eaLnBrk="0" fontAlgn="base" latinLnBrk="0" hangingPunct="0">
                        <a:lnSpc>
                          <a:spcPct val="100000"/>
                        </a:lnSpc>
                        <a:spcBef>
                          <a:spcPct val="0"/>
                        </a:spcBef>
                        <a:spcAft>
                          <a:spcPct val="0"/>
                        </a:spcAft>
                        <a:buClrTx/>
                        <a:buSzTx/>
                        <a:buFontTx/>
                        <a:buNone/>
                      </a:pPr>
                      <a:r>
                        <a:rPr kumimoji="0" lang="en-US" altLang="zh-CN" sz="1600" b="0" i="0" u="none" strike="noStrike" cap="none" normalizeH="0" baseline="0" dirty="0">
                          <a:ln>
                            <a:noFill/>
                          </a:ln>
                          <a:solidFill>
                            <a:schemeClr val="tx2"/>
                          </a:solidFill>
                          <a:effectLst/>
                          <a:latin typeface="Times New Roman" panose="02020603050405020304" pitchFamily="18" charset="0"/>
                          <a:ea typeface="华文楷体" panose="02010600040101010101" pitchFamily="2" charset="-122"/>
                          <a:cs typeface="Times New Roman" panose="02020603050405020304" pitchFamily="18" charset="0"/>
                        </a:rPr>
                        <a:t>Hash value </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90212881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59" y="789039"/>
            <a:ext cx="5652849" cy="297793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握手协议的</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个阶段</a:t>
            </a:r>
            <a:endPar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建立第一阶段：客户端首先发送</a:t>
            </a:r>
            <a:r>
              <a:rPr lang="en-US" altLang="zh-CN" sz="1600"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ClientHello</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消息到服务端，服务端收到</a:t>
            </a:r>
            <a:r>
              <a:rPr lang="en-US" altLang="zh-CN" sz="1600"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ClientHello</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消息后，再发送</a:t>
            </a:r>
            <a:r>
              <a:rPr lang="en-US" altLang="zh-CN" sz="1600" dirty="0" err="1">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ServerHello</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消息回应客户端。</a:t>
            </a:r>
            <a:endPar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建立第二阶段：服务器向客户端发送消息。</a:t>
            </a:r>
            <a:endPar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建立第三阶段：客户端收到服务器发送的一系列消息并解析后，将本端相应的消息发送给服务器。</a:t>
            </a:r>
            <a:endPar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建立第四阶段：完成握手协议，建立</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连接。</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cxnSp>
        <p:nvCxnSpPr>
          <p:cNvPr id="6" name="直接连接符 5">
            <a:extLst>
              <a:ext uri="{FF2B5EF4-FFF2-40B4-BE49-F238E27FC236}">
                <a16:creationId xmlns:a16="http://schemas.microsoft.com/office/drawing/2014/main" id="{4B69605F-F4BB-40BB-8ED4-D22D9271191D}"/>
              </a:ext>
            </a:extLst>
          </p:cNvPr>
          <p:cNvCxnSpPr/>
          <p:nvPr/>
        </p:nvCxnSpPr>
        <p:spPr>
          <a:xfrm>
            <a:off x="6480432" y="771550"/>
            <a:ext cx="1980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 name="直接连接符 7">
            <a:extLst>
              <a:ext uri="{FF2B5EF4-FFF2-40B4-BE49-F238E27FC236}">
                <a16:creationId xmlns:a16="http://schemas.microsoft.com/office/drawing/2014/main" id="{EA628B2B-C39C-47E5-B8CF-CD1CE7362EF3}"/>
              </a:ext>
            </a:extLst>
          </p:cNvPr>
          <p:cNvCxnSpPr/>
          <p:nvPr/>
        </p:nvCxnSpPr>
        <p:spPr>
          <a:xfrm>
            <a:off x="6480432" y="1491630"/>
            <a:ext cx="1980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47F5CF5D-FF50-47E1-9FAE-BAB032E5090E}"/>
              </a:ext>
            </a:extLst>
          </p:cNvPr>
          <p:cNvCxnSpPr/>
          <p:nvPr/>
        </p:nvCxnSpPr>
        <p:spPr>
          <a:xfrm>
            <a:off x="6516216" y="2643758"/>
            <a:ext cx="1980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14585B20-D4B0-45A9-BA87-FAB92469A330}"/>
              </a:ext>
            </a:extLst>
          </p:cNvPr>
          <p:cNvCxnSpPr/>
          <p:nvPr/>
        </p:nvCxnSpPr>
        <p:spPr>
          <a:xfrm>
            <a:off x="6480432" y="3507854"/>
            <a:ext cx="1980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2B0343E7-EAC1-460B-B49D-88C1486A9DF3}"/>
              </a:ext>
            </a:extLst>
          </p:cNvPr>
          <p:cNvCxnSpPr/>
          <p:nvPr/>
        </p:nvCxnSpPr>
        <p:spPr>
          <a:xfrm>
            <a:off x="6516216" y="4731990"/>
            <a:ext cx="1980000"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39639F8B-888B-4702-912C-6B953401DBBE}"/>
              </a:ext>
            </a:extLst>
          </p:cNvPr>
          <p:cNvCxnSpPr/>
          <p:nvPr/>
        </p:nvCxnSpPr>
        <p:spPr>
          <a:xfrm>
            <a:off x="6732240" y="771550"/>
            <a:ext cx="0" cy="4320480"/>
          </a:xfrm>
          <a:prstGeom prst="line">
            <a:avLst/>
          </a:prstGeom>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217AF02D-0609-423F-A965-AEA9CBEA38DD}"/>
              </a:ext>
            </a:extLst>
          </p:cNvPr>
          <p:cNvCxnSpPr/>
          <p:nvPr/>
        </p:nvCxnSpPr>
        <p:spPr>
          <a:xfrm>
            <a:off x="8244408" y="771550"/>
            <a:ext cx="0" cy="4320480"/>
          </a:xfrm>
          <a:prstGeom prst="line">
            <a:avLst/>
          </a:prstGeom>
        </p:spPr>
        <p:style>
          <a:lnRef idx="1">
            <a:schemeClr val="dk1"/>
          </a:lnRef>
          <a:fillRef idx="0">
            <a:schemeClr val="dk1"/>
          </a:fillRef>
          <a:effectRef idx="0">
            <a:schemeClr val="dk1"/>
          </a:effectRef>
          <a:fontRef idx="minor">
            <a:schemeClr val="tx1"/>
          </a:fontRef>
        </p:style>
      </p:cxnSp>
      <p:cxnSp>
        <p:nvCxnSpPr>
          <p:cNvPr id="15" name="直接箭头连接符 14">
            <a:extLst>
              <a:ext uri="{FF2B5EF4-FFF2-40B4-BE49-F238E27FC236}">
                <a16:creationId xmlns:a16="http://schemas.microsoft.com/office/drawing/2014/main" id="{477170E3-1CE8-4151-844C-0DEB43ABFF74}"/>
              </a:ext>
            </a:extLst>
          </p:cNvPr>
          <p:cNvCxnSpPr>
            <a:cxnSpLocks/>
          </p:cNvCxnSpPr>
          <p:nvPr/>
        </p:nvCxnSpPr>
        <p:spPr>
          <a:xfrm>
            <a:off x="6732240" y="843558"/>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1179F2D7-766E-4C9A-B47C-609F20384B24}"/>
              </a:ext>
            </a:extLst>
          </p:cNvPr>
          <p:cNvCxnSpPr>
            <a:cxnSpLocks/>
          </p:cNvCxnSpPr>
          <p:nvPr/>
        </p:nvCxnSpPr>
        <p:spPr>
          <a:xfrm flipH="1">
            <a:off x="6732240" y="1163221"/>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直接箭头连接符 20">
            <a:extLst>
              <a:ext uri="{FF2B5EF4-FFF2-40B4-BE49-F238E27FC236}">
                <a16:creationId xmlns:a16="http://schemas.microsoft.com/office/drawing/2014/main" id="{08BCAD6E-334D-49B5-94E3-274F5C46C333}"/>
              </a:ext>
            </a:extLst>
          </p:cNvPr>
          <p:cNvCxnSpPr>
            <a:cxnSpLocks/>
          </p:cNvCxnSpPr>
          <p:nvPr/>
        </p:nvCxnSpPr>
        <p:spPr>
          <a:xfrm flipH="1">
            <a:off x="6732240" y="1567293"/>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直接箭头连接符 21">
            <a:extLst>
              <a:ext uri="{FF2B5EF4-FFF2-40B4-BE49-F238E27FC236}">
                <a16:creationId xmlns:a16="http://schemas.microsoft.com/office/drawing/2014/main" id="{0FC1DC6F-68C7-4A1F-AD28-303C273B4958}"/>
              </a:ext>
            </a:extLst>
          </p:cNvPr>
          <p:cNvCxnSpPr>
            <a:cxnSpLocks/>
          </p:cNvCxnSpPr>
          <p:nvPr/>
        </p:nvCxnSpPr>
        <p:spPr>
          <a:xfrm flipH="1">
            <a:off x="6732240" y="1789397"/>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DEFCBEDE-5313-458A-9C03-8C5ECA03F12F}"/>
              </a:ext>
            </a:extLst>
          </p:cNvPr>
          <p:cNvCxnSpPr>
            <a:cxnSpLocks/>
          </p:cNvCxnSpPr>
          <p:nvPr/>
        </p:nvCxnSpPr>
        <p:spPr>
          <a:xfrm flipH="1">
            <a:off x="6732240" y="2052578"/>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直接箭头连接符 23">
            <a:extLst>
              <a:ext uri="{FF2B5EF4-FFF2-40B4-BE49-F238E27FC236}">
                <a16:creationId xmlns:a16="http://schemas.microsoft.com/office/drawing/2014/main" id="{D92151DC-9500-4AA8-BA74-7097AF836BEC}"/>
              </a:ext>
            </a:extLst>
          </p:cNvPr>
          <p:cNvCxnSpPr>
            <a:cxnSpLocks/>
          </p:cNvCxnSpPr>
          <p:nvPr/>
        </p:nvCxnSpPr>
        <p:spPr>
          <a:xfrm flipH="1">
            <a:off x="6732240" y="2307561"/>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直接箭头连接符 24">
            <a:extLst>
              <a:ext uri="{FF2B5EF4-FFF2-40B4-BE49-F238E27FC236}">
                <a16:creationId xmlns:a16="http://schemas.microsoft.com/office/drawing/2014/main" id="{20D360D7-AA0D-499B-AA76-62E5AD63C3E8}"/>
              </a:ext>
            </a:extLst>
          </p:cNvPr>
          <p:cNvCxnSpPr>
            <a:cxnSpLocks/>
          </p:cNvCxnSpPr>
          <p:nvPr/>
        </p:nvCxnSpPr>
        <p:spPr>
          <a:xfrm>
            <a:off x="6732240" y="2696278"/>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a:extLst>
              <a:ext uri="{FF2B5EF4-FFF2-40B4-BE49-F238E27FC236}">
                <a16:creationId xmlns:a16="http://schemas.microsoft.com/office/drawing/2014/main" id="{1D3ECE56-24DD-4FA6-9EB4-13233AD53AAE}"/>
              </a:ext>
            </a:extLst>
          </p:cNvPr>
          <p:cNvCxnSpPr>
            <a:cxnSpLocks/>
          </p:cNvCxnSpPr>
          <p:nvPr/>
        </p:nvCxnSpPr>
        <p:spPr>
          <a:xfrm>
            <a:off x="6723294" y="2951261"/>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直接箭头连接符 26">
            <a:extLst>
              <a:ext uri="{FF2B5EF4-FFF2-40B4-BE49-F238E27FC236}">
                <a16:creationId xmlns:a16="http://schemas.microsoft.com/office/drawing/2014/main" id="{146355AA-6368-42B0-8C32-58B28197F583}"/>
              </a:ext>
            </a:extLst>
          </p:cNvPr>
          <p:cNvCxnSpPr>
            <a:cxnSpLocks/>
          </p:cNvCxnSpPr>
          <p:nvPr/>
        </p:nvCxnSpPr>
        <p:spPr>
          <a:xfrm>
            <a:off x="6723294" y="3211077"/>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直接箭头连接符 27">
            <a:extLst>
              <a:ext uri="{FF2B5EF4-FFF2-40B4-BE49-F238E27FC236}">
                <a16:creationId xmlns:a16="http://schemas.microsoft.com/office/drawing/2014/main" id="{88744233-9DA3-4C62-9B14-1DA5070F4BF8}"/>
              </a:ext>
            </a:extLst>
          </p:cNvPr>
          <p:cNvCxnSpPr>
            <a:cxnSpLocks/>
          </p:cNvCxnSpPr>
          <p:nvPr/>
        </p:nvCxnSpPr>
        <p:spPr>
          <a:xfrm>
            <a:off x="6732240" y="3560373"/>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直接箭头连接符 28">
            <a:extLst>
              <a:ext uri="{FF2B5EF4-FFF2-40B4-BE49-F238E27FC236}">
                <a16:creationId xmlns:a16="http://schemas.microsoft.com/office/drawing/2014/main" id="{045FFDF3-3678-471D-A65E-96148A29E50B}"/>
              </a:ext>
            </a:extLst>
          </p:cNvPr>
          <p:cNvCxnSpPr>
            <a:cxnSpLocks/>
          </p:cNvCxnSpPr>
          <p:nvPr/>
        </p:nvCxnSpPr>
        <p:spPr>
          <a:xfrm>
            <a:off x="6727768" y="3815356"/>
            <a:ext cx="1512168" cy="2247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直接箭头连接符 29">
            <a:extLst>
              <a:ext uri="{FF2B5EF4-FFF2-40B4-BE49-F238E27FC236}">
                <a16:creationId xmlns:a16="http://schemas.microsoft.com/office/drawing/2014/main" id="{BD12FA71-83FE-4FE2-8559-5BFE4626B311}"/>
              </a:ext>
            </a:extLst>
          </p:cNvPr>
          <p:cNvCxnSpPr>
            <a:cxnSpLocks/>
          </p:cNvCxnSpPr>
          <p:nvPr/>
        </p:nvCxnSpPr>
        <p:spPr>
          <a:xfrm flipH="1">
            <a:off x="6732240" y="4171740"/>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C6CCC8E0-5417-42F5-ACB6-C62B0B3187CE}"/>
              </a:ext>
            </a:extLst>
          </p:cNvPr>
          <p:cNvCxnSpPr>
            <a:cxnSpLocks/>
          </p:cNvCxnSpPr>
          <p:nvPr/>
        </p:nvCxnSpPr>
        <p:spPr>
          <a:xfrm flipH="1">
            <a:off x="6723294" y="4425820"/>
            <a:ext cx="1512168" cy="25640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文本框 31">
            <a:extLst>
              <a:ext uri="{FF2B5EF4-FFF2-40B4-BE49-F238E27FC236}">
                <a16:creationId xmlns:a16="http://schemas.microsoft.com/office/drawing/2014/main" id="{ECA8A521-E5DA-4A62-9FD3-B6797ED9E58F}"/>
              </a:ext>
            </a:extLst>
          </p:cNvPr>
          <p:cNvSpPr txBox="1"/>
          <p:nvPr/>
        </p:nvSpPr>
        <p:spPr>
          <a:xfrm>
            <a:off x="6480432" y="526070"/>
            <a:ext cx="2124163" cy="276999"/>
          </a:xfrm>
          <a:prstGeom prst="rect">
            <a:avLst/>
          </a:prstGeom>
          <a:noFill/>
        </p:spPr>
        <p:txBody>
          <a:bodyPr wrap="square" rtlCol="0">
            <a:spAutoFit/>
          </a:bodyPr>
          <a:lstStyle/>
          <a:p>
            <a:r>
              <a:rPr lang="en-US" altLang="zh-CN" sz="1200" b="1" dirty="0">
                <a:latin typeface="Times New Roman" panose="02020603050405020304" pitchFamily="18" charset="0"/>
                <a:cs typeface="Times New Roman" panose="02020603050405020304" pitchFamily="18" charset="0"/>
              </a:rPr>
              <a:t>Client                            Server</a:t>
            </a:r>
            <a:endParaRPr lang="zh-CN" altLang="en-US" sz="1200" b="1" dirty="0">
              <a:latin typeface="Times New Roman" panose="02020603050405020304" pitchFamily="18" charset="0"/>
              <a:cs typeface="Times New Roman" panose="02020603050405020304" pitchFamily="18" charset="0"/>
            </a:endParaRPr>
          </a:p>
        </p:txBody>
      </p:sp>
      <p:sp>
        <p:nvSpPr>
          <p:cNvPr id="33" name="文本框 32">
            <a:extLst>
              <a:ext uri="{FF2B5EF4-FFF2-40B4-BE49-F238E27FC236}">
                <a16:creationId xmlns:a16="http://schemas.microsoft.com/office/drawing/2014/main" id="{CA315D21-C705-4C77-A67B-9E18B2475ED6}"/>
              </a:ext>
            </a:extLst>
          </p:cNvPr>
          <p:cNvSpPr txBox="1"/>
          <p:nvPr/>
        </p:nvSpPr>
        <p:spPr>
          <a:xfrm rot="504337">
            <a:off x="7177617" y="800252"/>
            <a:ext cx="1078491"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client_hello</a:t>
            </a:r>
            <a:endParaRPr lang="zh-CN" altLang="en-US" sz="1000" b="1" dirty="0">
              <a:latin typeface="Times New Roman" panose="02020603050405020304" pitchFamily="18" charset="0"/>
              <a:cs typeface="Times New Roman" panose="02020603050405020304" pitchFamily="18" charset="0"/>
            </a:endParaRPr>
          </a:p>
        </p:txBody>
      </p:sp>
      <p:sp>
        <p:nvSpPr>
          <p:cNvPr id="34" name="文本框 33">
            <a:extLst>
              <a:ext uri="{FF2B5EF4-FFF2-40B4-BE49-F238E27FC236}">
                <a16:creationId xmlns:a16="http://schemas.microsoft.com/office/drawing/2014/main" id="{F116E5A3-67CA-437C-ACAE-A7EEB6BB0351}"/>
              </a:ext>
            </a:extLst>
          </p:cNvPr>
          <p:cNvSpPr txBox="1"/>
          <p:nvPr/>
        </p:nvSpPr>
        <p:spPr>
          <a:xfrm rot="504337">
            <a:off x="7177618" y="2647433"/>
            <a:ext cx="1078491" cy="246221"/>
          </a:xfrm>
          <a:prstGeom prst="rect">
            <a:avLst/>
          </a:prstGeom>
          <a:noFill/>
        </p:spPr>
        <p:txBody>
          <a:bodyPr wrap="square" rtlCol="0">
            <a:spAutoFit/>
          </a:bodyPr>
          <a:lstStyle/>
          <a:p>
            <a:r>
              <a:rPr lang="en-US" altLang="zh-CN" sz="1000" b="1" dirty="0">
                <a:latin typeface="Times New Roman" panose="02020603050405020304" pitchFamily="18" charset="0"/>
                <a:cs typeface="Times New Roman" panose="02020603050405020304" pitchFamily="18" charset="0"/>
              </a:rPr>
              <a:t>certificate</a:t>
            </a:r>
            <a:r>
              <a:rPr lang="en-US" altLang="zh-CN" sz="1000" b="1" dirty="0">
                <a:solidFill>
                  <a:srgbClr val="FF0000"/>
                </a:solidFill>
                <a:latin typeface="Times New Roman" panose="02020603050405020304" pitchFamily="18" charset="0"/>
                <a:cs typeface="Times New Roman" panose="02020603050405020304" pitchFamily="18" charset="0"/>
              </a:rPr>
              <a:t>*</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35" name="文本框 34">
            <a:extLst>
              <a:ext uri="{FF2B5EF4-FFF2-40B4-BE49-F238E27FC236}">
                <a16:creationId xmlns:a16="http://schemas.microsoft.com/office/drawing/2014/main" id="{280F3FAF-52FE-4288-BD86-AB497F0E547C}"/>
              </a:ext>
            </a:extLst>
          </p:cNvPr>
          <p:cNvSpPr txBox="1"/>
          <p:nvPr/>
        </p:nvSpPr>
        <p:spPr>
          <a:xfrm rot="504337">
            <a:off x="6886510" y="2891817"/>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client_key_exchange</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36" name="文本框 35">
            <a:extLst>
              <a:ext uri="{FF2B5EF4-FFF2-40B4-BE49-F238E27FC236}">
                <a16:creationId xmlns:a16="http://schemas.microsoft.com/office/drawing/2014/main" id="{F0F6BC11-A35A-40AC-A383-2C01124C83BE}"/>
              </a:ext>
            </a:extLst>
          </p:cNvPr>
          <p:cNvSpPr txBox="1"/>
          <p:nvPr/>
        </p:nvSpPr>
        <p:spPr>
          <a:xfrm rot="504337">
            <a:off x="6936598" y="3157590"/>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certificate_verify</a:t>
            </a:r>
            <a:r>
              <a:rPr lang="en-US" altLang="zh-CN" sz="1000" b="1" dirty="0">
                <a:solidFill>
                  <a:srgbClr val="FF0000"/>
                </a:solidFill>
                <a:latin typeface="Times New Roman" panose="02020603050405020304" pitchFamily="18" charset="0"/>
                <a:cs typeface="Times New Roman" panose="02020603050405020304" pitchFamily="18" charset="0"/>
              </a:rPr>
              <a:t>*</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37" name="文本框 36">
            <a:extLst>
              <a:ext uri="{FF2B5EF4-FFF2-40B4-BE49-F238E27FC236}">
                <a16:creationId xmlns:a16="http://schemas.microsoft.com/office/drawing/2014/main" id="{4F269375-B544-4298-9656-207A66A55A52}"/>
              </a:ext>
            </a:extLst>
          </p:cNvPr>
          <p:cNvSpPr txBox="1"/>
          <p:nvPr/>
        </p:nvSpPr>
        <p:spPr>
          <a:xfrm rot="504337">
            <a:off x="6958518" y="3517630"/>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change_cipher_spec</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38" name="文本框 37">
            <a:extLst>
              <a:ext uri="{FF2B5EF4-FFF2-40B4-BE49-F238E27FC236}">
                <a16:creationId xmlns:a16="http://schemas.microsoft.com/office/drawing/2014/main" id="{77746A05-1ACF-44A5-8999-FC7D15315FC2}"/>
              </a:ext>
            </a:extLst>
          </p:cNvPr>
          <p:cNvSpPr txBox="1"/>
          <p:nvPr/>
        </p:nvSpPr>
        <p:spPr>
          <a:xfrm rot="504337">
            <a:off x="7161404" y="3715207"/>
            <a:ext cx="708775" cy="246221"/>
          </a:xfrm>
          <a:prstGeom prst="rect">
            <a:avLst/>
          </a:prstGeom>
          <a:noFill/>
        </p:spPr>
        <p:txBody>
          <a:bodyPr wrap="square" rtlCol="0">
            <a:spAutoFit/>
          </a:bodyPr>
          <a:lstStyle/>
          <a:p>
            <a:r>
              <a:rPr lang="en-US" altLang="zh-CN" sz="1000" b="1" dirty="0">
                <a:latin typeface="Times New Roman" panose="02020603050405020304" pitchFamily="18" charset="0"/>
                <a:cs typeface="Times New Roman" panose="02020603050405020304" pitchFamily="18" charset="0"/>
              </a:rPr>
              <a:t>finished</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39" name="文本框 38">
            <a:extLst>
              <a:ext uri="{FF2B5EF4-FFF2-40B4-BE49-F238E27FC236}">
                <a16:creationId xmlns:a16="http://schemas.microsoft.com/office/drawing/2014/main" id="{D963E53F-763B-4276-9E1A-2D8E3E10F8C5}"/>
              </a:ext>
            </a:extLst>
          </p:cNvPr>
          <p:cNvSpPr txBox="1"/>
          <p:nvPr/>
        </p:nvSpPr>
        <p:spPr>
          <a:xfrm rot="20944681">
            <a:off x="7152358" y="1073458"/>
            <a:ext cx="1078491"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server_hello</a:t>
            </a:r>
            <a:endParaRPr lang="zh-CN" altLang="en-US" sz="1000" b="1" dirty="0">
              <a:latin typeface="Times New Roman" panose="02020603050405020304" pitchFamily="18" charset="0"/>
              <a:cs typeface="Times New Roman" panose="02020603050405020304" pitchFamily="18" charset="0"/>
            </a:endParaRPr>
          </a:p>
        </p:txBody>
      </p:sp>
      <p:sp>
        <p:nvSpPr>
          <p:cNvPr id="40" name="文本框 39">
            <a:extLst>
              <a:ext uri="{FF2B5EF4-FFF2-40B4-BE49-F238E27FC236}">
                <a16:creationId xmlns:a16="http://schemas.microsoft.com/office/drawing/2014/main" id="{E988200B-1137-43E4-AE54-B0B086A41FB8}"/>
              </a:ext>
            </a:extLst>
          </p:cNvPr>
          <p:cNvSpPr txBox="1"/>
          <p:nvPr/>
        </p:nvSpPr>
        <p:spPr>
          <a:xfrm rot="-600000">
            <a:off x="7224739" y="1452688"/>
            <a:ext cx="1078491" cy="246221"/>
          </a:xfrm>
          <a:prstGeom prst="rect">
            <a:avLst/>
          </a:prstGeom>
          <a:noFill/>
        </p:spPr>
        <p:txBody>
          <a:bodyPr wrap="square" rtlCol="0">
            <a:spAutoFit/>
          </a:bodyPr>
          <a:lstStyle/>
          <a:p>
            <a:r>
              <a:rPr lang="en-US" altLang="zh-CN" sz="1000" b="1" dirty="0">
                <a:latin typeface="Times New Roman" panose="02020603050405020304" pitchFamily="18" charset="0"/>
                <a:cs typeface="Times New Roman" panose="02020603050405020304" pitchFamily="18" charset="0"/>
              </a:rPr>
              <a:t>certificate</a:t>
            </a:r>
            <a:r>
              <a:rPr lang="en-US" altLang="zh-CN" sz="1000" b="1" dirty="0">
                <a:solidFill>
                  <a:srgbClr val="FF0000"/>
                </a:solidFill>
                <a:latin typeface="Times New Roman" panose="02020603050405020304" pitchFamily="18" charset="0"/>
                <a:cs typeface="Times New Roman" panose="02020603050405020304" pitchFamily="18" charset="0"/>
              </a:rPr>
              <a:t>*</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42" name="文本框 41">
            <a:extLst>
              <a:ext uri="{FF2B5EF4-FFF2-40B4-BE49-F238E27FC236}">
                <a16:creationId xmlns:a16="http://schemas.microsoft.com/office/drawing/2014/main" id="{10DCEA46-ECBE-4014-989C-663D71775E37}"/>
              </a:ext>
            </a:extLst>
          </p:cNvPr>
          <p:cNvSpPr txBox="1"/>
          <p:nvPr/>
        </p:nvSpPr>
        <p:spPr>
          <a:xfrm rot="-600000">
            <a:off x="6886684" y="1686931"/>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server_key_exchange</a:t>
            </a:r>
            <a:r>
              <a:rPr lang="en-US" altLang="zh-CN" sz="1000" b="1" dirty="0">
                <a:solidFill>
                  <a:srgbClr val="FF0000"/>
                </a:solidFill>
                <a:latin typeface="Times New Roman" panose="02020603050405020304" pitchFamily="18" charset="0"/>
                <a:cs typeface="Times New Roman" panose="02020603050405020304" pitchFamily="18" charset="0"/>
              </a:rPr>
              <a:t>*</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43" name="文本框 42">
            <a:extLst>
              <a:ext uri="{FF2B5EF4-FFF2-40B4-BE49-F238E27FC236}">
                <a16:creationId xmlns:a16="http://schemas.microsoft.com/office/drawing/2014/main" id="{7B39DD9B-57F5-492A-BB17-E5D4B42ED555}"/>
              </a:ext>
            </a:extLst>
          </p:cNvPr>
          <p:cNvSpPr txBox="1"/>
          <p:nvPr/>
        </p:nvSpPr>
        <p:spPr>
          <a:xfrm rot="21000000">
            <a:off x="6958692" y="1974963"/>
            <a:ext cx="1441572" cy="246221"/>
          </a:xfrm>
          <a:prstGeom prst="rect">
            <a:avLst/>
          </a:prstGeom>
          <a:noFill/>
        </p:spPr>
        <p:txBody>
          <a:bodyPr wrap="square" rtlCol="0">
            <a:spAutoFit/>
          </a:bodyPr>
          <a:lstStyle/>
          <a:p>
            <a:r>
              <a:rPr lang="en-US" altLang="zh-CN" sz="1000" b="1">
                <a:latin typeface="Times New Roman" panose="02020603050405020304" pitchFamily="18" charset="0"/>
                <a:cs typeface="Times New Roman" panose="02020603050405020304" pitchFamily="18" charset="0"/>
              </a:rPr>
              <a:t>cretificate_</a:t>
            </a:r>
            <a:r>
              <a:rPr lang="en-US" altLang="zh-CN" sz="1000" b="1" dirty="0" err="1">
                <a:latin typeface="Times New Roman" panose="02020603050405020304" pitchFamily="18" charset="0"/>
                <a:cs typeface="Times New Roman" panose="02020603050405020304" pitchFamily="18" charset="0"/>
              </a:rPr>
              <a:t>request</a:t>
            </a:r>
            <a:r>
              <a:rPr lang="en-US" altLang="zh-CN" sz="1000" b="1" dirty="0">
                <a:solidFill>
                  <a:srgbClr val="FF0000"/>
                </a:solidFill>
                <a:latin typeface="Times New Roman" panose="02020603050405020304" pitchFamily="18" charset="0"/>
                <a:cs typeface="Times New Roman" panose="02020603050405020304" pitchFamily="18" charset="0"/>
              </a:rPr>
              <a:t>*</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44" name="文本框 43">
            <a:extLst>
              <a:ext uri="{FF2B5EF4-FFF2-40B4-BE49-F238E27FC236}">
                <a16:creationId xmlns:a16="http://schemas.microsoft.com/office/drawing/2014/main" id="{27077E00-99E1-42E8-86E7-B6CA9D26B39C}"/>
              </a:ext>
            </a:extLst>
          </p:cNvPr>
          <p:cNvSpPr txBox="1"/>
          <p:nvPr/>
        </p:nvSpPr>
        <p:spPr>
          <a:xfrm rot="21000000">
            <a:off x="7030700" y="2202236"/>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server_hello_done</a:t>
            </a:r>
            <a:endParaRPr lang="zh-CN" altLang="en-US" sz="1000" b="1" dirty="0">
              <a:solidFill>
                <a:srgbClr val="FF0000"/>
              </a:solidFill>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19A9F27E-BD54-4A16-A5A4-8042A8D02BDB}"/>
              </a:ext>
            </a:extLst>
          </p:cNvPr>
          <p:cNvSpPr txBox="1"/>
          <p:nvPr/>
        </p:nvSpPr>
        <p:spPr>
          <a:xfrm rot="21000000">
            <a:off x="6936424" y="4063195"/>
            <a:ext cx="1441572" cy="246221"/>
          </a:xfrm>
          <a:prstGeom prst="rect">
            <a:avLst/>
          </a:prstGeom>
          <a:noFill/>
        </p:spPr>
        <p:txBody>
          <a:bodyPr wrap="square" rtlCol="0">
            <a:spAutoFit/>
          </a:bodyPr>
          <a:lstStyle/>
          <a:p>
            <a:r>
              <a:rPr lang="en-US" altLang="zh-CN" sz="1000" b="1" dirty="0" err="1">
                <a:latin typeface="Times New Roman" panose="02020603050405020304" pitchFamily="18" charset="0"/>
                <a:cs typeface="Times New Roman" panose="02020603050405020304" pitchFamily="18" charset="0"/>
              </a:rPr>
              <a:t>change_cipher_spec</a:t>
            </a:r>
            <a:endParaRPr lang="zh-CN" altLang="en-US" sz="1000" b="1" dirty="0">
              <a:latin typeface="Times New Roman" panose="02020603050405020304" pitchFamily="18" charset="0"/>
              <a:cs typeface="Times New Roman" panose="02020603050405020304" pitchFamily="18" charset="0"/>
            </a:endParaRPr>
          </a:p>
        </p:txBody>
      </p:sp>
      <p:sp>
        <p:nvSpPr>
          <p:cNvPr id="47" name="文本框 46">
            <a:extLst>
              <a:ext uri="{FF2B5EF4-FFF2-40B4-BE49-F238E27FC236}">
                <a16:creationId xmlns:a16="http://schemas.microsoft.com/office/drawing/2014/main" id="{3EF6437A-96D1-43D5-9C5D-074C4869A254}"/>
              </a:ext>
            </a:extLst>
          </p:cNvPr>
          <p:cNvSpPr txBox="1"/>
          <p:nvPr/>
        </p:nvSpPr>
        <p:spPr>
          <a:xfrm rot="21000000">
            <a:off x="7296464" y="4279219"/>
            <a:ext cx="1441572" cy="246221"/>
          </a:xfrm>
          <a:prstGeom prst="rect">
            <a:avLst/>
          </a:prstGeom>
          <a:noFill/>
        </p:spPr>
        <p:txBody>
          <a:bodyPr wrap="square" rtlCol="0">
            <a:spAutoFit/>
          </a:bodyPr>
          <a:lstStyle/>
          <a:p>
            <a:r>
              <a:rPr lang="en-US" altLang="zh-CN" sz="1000" b="1" dirty="0">
                <a:latin typeface="Times New Roman" panose="02020603050405020304" pitchFamily="18" charset="0"/>
                <a:cs typeface="Times New Roman" panose="02020603050405020304" pitchFamily="18" charset="0"/>
              </a:rPr>
              <a:t>finished</a:t>
            </a:r>
            <a:endParaRPr lang="zh-CN" altLang="en-US" sz="1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728576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49805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a:t>
            </a:r>
            <a:endPar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记录协议在客户机和服务器握手成功后使用，即客户机和服务器鉴别对方和确定安全信息交换使用的算法后，进入</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记录协议，记录协议向</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连接提供两个服务：</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）保密性：使用握手协议定义的秘密密钥实现</a:t>
            </a:r>
          </a:p>
          <a:p>
            <a:pPr>
              <a:lnSpc>
                <a:spcPct val="13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）完整性：握手协议定义了</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，用于保证消息完整性</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spTree>
    <p:extLst>
      <p:ext uri="{BB962C8B-B14F-4D97-AF65-F5344CB8AC3E}">
        <p14:creationId xmlns:p14="http://schemas.microsoft.com/office/powerpoint/2010/main" val="79799243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6720"/>
          </a:xfrm>
          <a:prstGeom prst="rect">
            <a:avLst/>
          </a:prstGeom>
          <a:noFill/>
        </p:spPr>
        <p:txBody>
          <a:bodyPr wrap="square" rtlCol="0">
            <a:spAutoFit/>
          </a:bodyPr>
          <a:lstStyle/>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记录协议的过程</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sp>
        <p:nvSpPr>
          <p:cNvPr id="5" name="矩形 4">
            <a:extLst>
              <a:ext uri="{FF2B5EF4-FFF2-40B4-BE49-F238E27FC236}">
                <a16:creationId xmlns:a16="http://schemas.microsoft.com/office/drawing/2014/main" id="{1E2AF67B-7CB5-4536-BF95-8763C272EF9B}"/>
              </a:ext>
            </a:extLst>
          </p:cNvPr>
          <p:cNvSpPr/>
          <p:nvPr/>
        </p:nvSpPr>
        <p:spPr>
          <a:xfrm>
            <a:off x="3275856" y="1563638"/>
            <a:ext cx="3672408"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abcdefghi</a:t>
            </a:r>
            <a:endParaRPr lang="zh-CN" altLang="en-US" dirty="0"/>
          </a:p>
        </p:txBody>
      </p:sp>
      <p:sp>
        <p:nvSpPr>
          <p:cNvPr id="9" name="矩形 8">
            <a:extLst>
              <a:ext uri="{FF2B5EF4-FFF2-40B4-BE49-F238E27FC236}">
                <a16:creationId xmlns:a16="http://schemas.microsoft.com/office/drawing/2014/main" id="{BEA0928C-37EF-4F46-AF19-E0C688A6720A}"/>
              </a:ext>
            </a:extLst>
          </p:cNvPr>
          <p:cNvSpPr/>
          <p:nvPr/>
        </p:nvSpPr>
        <p:spPr>
          <a:xfrm>
            <a:off x="2843808" y="2139702"/>
            <a:ext cx="1152128"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abc</a:t>
            </a:r>
            <a:endParaRPr lang="zh-CN" altLang="en-US" dirty="0"/>
          </a:p>
        </p:txBody>
      </p:sp>
      <p:sp>
        <p:nvSpPr>
          <p:cNvPr id="10" name="矩形 9">
            <a:extLst>
              <a:ext uri="{FF2B5EF4-FFF2-40B4-BE49-F238E27FC236}">
                <a16:creationId xmlns:a16="http://schemas.microsoft.com/office/drawing/2014/main" id="{7EEB5BB0-C049-4B8C-B25B-C2BC0BA9A194}"/>
              </a:ext>
            </a:extLst>
          </p:cNvPr>
          <p:cNvSpPr/>
          <p:nvPr/>
        </p:nvSpPr>
        <p:spPr>
          <a:xfrm>
            <a:off x="4427984" y="2139702"/>
            <a:ext cx="1152128"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def</a:t>
            </a:r>
            <a:endParaRPr lang="zh-CN" altLang="en-US" dirty="0"/>
          </a:p>
        </p:txBody>
      </p:sp>
      <p:sp>
        <p:nvSpPr>
          <p:cNvPr id="11" name="矩形 10">
            <a:extLst>
              <a:ext uri="{FF2B5EF4-FFF2-40B4-BE49-F238E27FC236}">
                <a16:creationId xmlns:a16="http://schemas.microsoft.com/office/drawing/2014/main" id="{3DE2B049-4307-4A19-8F2E-EA9DAEE7F221}"/>
              </a:ext>
            </a:extLst>
          </p:cNvPr>
          <p:cNvSpPr/>
          <p:nvPr/>
        </p:nvSpPr>
        <p:spPr>
          <a:xfrm>
            <a:off x="5966217" y="2139702"/>
            <a:ext cx="1152128"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ghi</a:t>
            </a:r>
            <a:endParaRPr lang="zh-CN" altLang="en-US" dirty="0"/>
          </a:p>
        </p:txBody>
      </p:sp>
      <p:sp>
        <p:nvSpPr>
          <p:cNvPr id="12" name="矩形 11">
            <a:extLst>
              <a:ext uri="{FF2B5EF4-FFF2-40B4-BE49-F238E27FC236}">
                <a16:creationId xmlns:a16="http://schemas.microsoft.com/office/drawing/2014/main" id="{9B5972B8-0227-4715-923B-1E7C5276344D}"/>
              </a:ext>
            </a:extLst>
          </p:cNvPr>
          <p:cNvSpPr/>
          <p:nvPr/>
        </p:nvSpPr>
        <p:spPr>
          <a:xfrm>
            <a:off x="2843808" y="2571751"/>
            <a:ext cx="936104" cy="2160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abc</a:t>
            </a:r>
            <a:endParaRPr lang="zh-CN" altLang="en-US" dirty="0"/>
          </a:p>
        </p:txBody>
      </p:sp>
      <p:sp>
        <p:nvSpPr>
          <p:cNvPr id="13" name="矩形 12">
            <a:extLst>
              <a:ext uri="{FF2B5EF4-FFF2-40B4-BE49-F238E27FC236}">
                <a16:creationId xmlns:a16="http://schemas.microsoft.com/office/drawing/2014/main" id="{3A61DE73-4613-416C-8AAA-037B5EDA8501}"/>
              </a:ext>
            </a:extLst>
          </p:cNvPr>
          <p:cNvSpPr/>
          <p:nvPr/>
        </p:nvSpPr>
        <p:spPr>
          <a:xfrm>
            <a:off x="2843808" y="3066081"/>
            <a:ext cx="936104" cy="2160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abc</a:t>
            </a:r>
            <a:endParaRPr lang="zh-CN" altLang="en-US" dirty="0"/>
          </a:p>
        </p:txBody>
      </p:sp>
      <p:sp>
        <p:nvSpPr>
          <p:cNvPr id="14" name="矩形 13">
            <a:extLst>
              <a:ext uri="{FF2B5EF4-FFF2-40B4-BE49-F238E27FC236}">
                <a16:creationId xmlns:a16="http://schemas.microsoft.com/office/drawing/2014/main" id="{594A4734-3FC1-4FB0-A37F-FEA8581F51C8}"/>
              </a:ext>
            </a:extLst>
          </p:cNvPr>
          <p:cNvSpPr/>
          <p:nvPr/>
        </p:nvSpPr>
        <p:spPr>
          <a:xfrm>
            <a:off x="2843808" y="3547653"/>
            <a:ext cx="936104" cy="2160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abc</a:t>
            </a:r>
            <a:endParaRPr lang="zh-CN" altLang="en-US" dirty="0"/>
          </a:p>
        </p:txBody>
      </p:sp>
      <p:sp>
        <p:nvSpPr>
          <p:cNvPr id="15" name="矩形 14">
            <a:extLst>
              <a:ext uri="{FF2B5EF4-FFF2-40B4-BE49-F238E27FC236}">
                <a16:creationId xmlns:a16="http://schemas.microsoft.com/office/drawing/2014/main" id="{11044096-8E40-4842-8202-B20F7ED9EC59}"/>
              </a:ext>
            </a:extLst>
          </p:cNvPr>
          <p:cNvSpPr/>
          <p:nvPr/>
        </p:nvSpPr>
        <p:spPr>
          <a:xfrm>
            <a:off x="2844775" y="4246449"/>
            <a:ext cx="936104" cy="2160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dirty="0" err="1"/>
              <a:t>abc</a:t>
            </a:r>
            <a:endParaRPr lang="zh-CN" altLang="en-US" dirty="0"/>
          </a:p>
        </p:txBody>
      </p:sp>
      <p:sp>
        <p:nvSpPr>
          <p:cNvPr id="8" name="等腰三角形 7">
            <a:extLst>
              <a:ext uri="{FF2B5EF4-FFF2-40B4-BE49-F238E27FC236}">
                <a16:creationId xmlns:a16="http://schemas.microsoft.com/office/drawing/2014/main" id="{C10162CB-EEC6-4284-A643-E69CFAD27732}"/>
              </a:ext>
            </a:extLst>
          </p:cNvPr>
          <p:cNvSpPr/>
          <p:nvPr/>
        </p:nvSpPr>
        <p:spPr>
          <a:xfrm>
            <a:off x="3995936" y="3000894"/>
            <a:ext cx="360040" cy="300193"/>
          </a:xfrm>
          <a:prstGeom prst="triangle">
            <a:avLst/>
          </a:prstGeom>
          <a:solidFill>
            <a:srgbClr val="FFC000"/>
          </a:solidFill>
          <a:ln>
            <a:solidFill>
              <a:srgbClr val="C807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Times New Roman" panose="02020603050405020304" pitchFamily="18" charset="0"/>
                <a:cs typeface="Times New Roman" panose="02020603050405020304" pitchFamily="18" charset="0"/>
              </a:rPr>
              <a:t>M</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sp>
        <p:nvSpPr>
          <p:cNvPr id="17" name="等腰三角形 16">
            <a:extLst>
              <a:ext uri="{FF2B5EF4-FFF2-40B4-BE49-F238E27FC236}">
                <a16:creationId xmlns:a16="http://schemas.microsoft.com/office/drawing/2014/main" id="{3375DB28-6293-4D74-80A8-88B81E6D1B32}"/>
              </a:ext>
            </a:extLst>
          </p:cNvPr>
          <p:cNvSpPr/>
          <p:nvPr/>
        </p:nvSpPr>
        <p:spPr>
          <a:xfrm>
            <a:off x="3995936" y="3508375"/>
            <a:ext cx="360040" cy="300193"/>
          </a:xfrm>
          <a:prstGeom prst="triangle">
            <a:avLst/>
          </a:prstGeom>
          <a:solidFill>
            <a:srgbClr val="FFC000"/>
          </a:solidFill>
          <a:ln>
            <a:solidFill>
              <a:srgbClr val="C807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Times New Roman" panose="02020603050405020304" pitchFamily="18" charset="0"/>
                <a:cs typeface="Times New Roman" panose="02020603050405020304" pitchFamily="18" charset="0"/>
              </a:rPr>
              <a:t>M</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sp>
        <p:nvSpPr>
          <p:cNvPr id="18" name="等腰三角形 17">
            <a:extLst>
              <a:ext uri="{FF2B5EF4-FFF2-40B4-BE49-F238E27FC236}">
                <a16:creationId xmlns:a16="http://schemas.microsoft.com/office/drawing/2014/main" id="{F72F1FB8-5014-413D-B67F-E77346D93F29}"/>
              </a:ext>
            </a:extLst>
          </p:cNvPr>
          <p:cNvSpPr/>
          <p:nvPr/>
        </p:nvSpPr>
        <p:spPr>
          <a:xfrm>
            <a:off x="3995936" y="4182466"/>
            <a:ext cx="360040" cy="300193"/>
          </a:xfrm>
          <a:prstGeom prst="triangle">
            <a:avLst/>
          </a:prstGeom>
          <a:solidFill>
            <a:srgbClr val="FFC000"/>
          </a:solidFill>
          <a:ln>
            <a:solidFill>
              <a:srgbClr val="C8071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a:solidFill>
                  <a:schemeClr val="tx1"/>
                </a:solidFill>
                <a:latin typeface="Times New Roman" panose="02020603050405020304" pitchFamily="18" charset="0"/>
                <a:cs typeface="Times New Roman" panose="02020603050405020304" pitchFamily="18" charset="0"/>
              </a:rPr>
              <a:t>M</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sp>
        <p:nvSpPr>
          <p:cNvPr id="16" name="矩形 15">
            <a:extLst>
              <a:ext uri="{FF2B5EF4-FFF2-40B4-BE49-F238E27FC236}">
                <a16:creationId xmlns:a16="http://schemas.microsoft.com/office/drawing/2014/main" id="{5F9025A0-324E-428B-85DB-85322CFC0F45}"/>
              </a:ext>
            </a:extLst>
          </p:cNvPr>
          <p:cNvSpPr/>
          <p:nvPr/>
        </p:nvSpPr>
        <p:spPr>
          <a:xfrm>
            <a:off x="2771800" y="3486934"/>
            <a:ext cx="1656184" cy="3809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id="{06B8D0F1-7F95-4BD5-9583-CEF1E5342CDF}"/>
              </a:ext>
            </a:extLst>
          </p:cNvPr>
          <p:cNvSpPr/>
          <p:nvPr/>
        </p:nvSpPr>
        <p:spPr>
          <a:xfrm>
            <a:off x="2447764" y="4139067"/>
            <a:ext cx="1980220" cy="3809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858F6068-D60F-4291-B873-65286D6437DF}"/>
              </a:ext>
            </a:extLst>
          </p:cNvPr>
          <p:cNvSpPr/>
          <p:nvPr/>
        </p:nvSpPr>
        <p:spPr>
          <a:xfrm>
            <a:off x="2447764" y="4149527"/>
            <a:ext cx="324036" cy="360040"/>
          </a:xfrm>
          <a:prstGeom prst="rect">
            <a:avLst/>
          </a:prstGeom>
          <a:solidFill>
            <a:srgbClr val="FF98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H</a:t>
            </a:r>
            <a:endParaRPr lang="zh-CN" altLang="en-US" dirty="0">
              <a:solidFill>
                <a:schemeClr val="tx1"/>
              </a:solidFill>
            </a:endParaRPr>
          </a:p>
        </p:txBody>
      </p:sp>
      <p:cxnSp>
        <p:nvCxnSpPr>
          <p:cNvPr id="23" name="直接箭头连接符 22">
            <a:extLst>
              <a:ext uri="{FF2B5EF4-FFF2-40B4-BE49-F238E27FC236}">
                <a16:creationId xmlns:a16="http://schemas.microsoft.com/office/drawing/2014/main" id="{BC94AB4E-0FD6-4F23-9596-1A61BCA8E642}"/>
              </a:ext>
            </a:extLst>
          </p:cNvPr>
          <p:cNvCxnSpPr/>
          <p:nvPr/>
        </p:nvCxnSpPr>
        <p:spPr>
          <a:xfrm flipH="1">
            <a:off x="3491880" y="1851670"/>
            <a:ext cx="216024" cy="21602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E5336742-BC87-4E00-AD5E-D04941727759}"/>
              </a:ext>
            </a:extLst>
          </p:cNvPr>
          <p:cNvCxnSpPr>
            <a:cxnSpLocks/>
          </p:cNvCxnSpPr>
          <p:nvPr/>
        </p:nvCxnSpPr>
        <p:spPr>
          <a:xfrm>
            <a:off x="4932040" y="1835070"/>
            <a:ext cx="0" cy="23262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a:extLst>
              <a:ext uri="{FF2B5EF4-FFF2-40B4-BE49-F238E27FC236}">
                <a16:creationId xmlns:a16="http://schemas.microsoft.com/office/drawing/2014/main" id="{DAD0857A-7B65-4540-85A2-AAC67CACBB20}"/>
              </a:ext>
            </a:extLst>
          </p:cNvPr>
          <p:cNvCxnSpPr>
            <a:cxnSpLocks/>
          </p:cNvCxnSpPr>
          <p:nvPr/>
        </p:nvCxnSpPr>
        <p:spPr>
          <a:xfrm>
            <a:off x="6293662" y="1843370"/>
            <a:ext cx="216024" cy="23262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37AE97F5-683E-4B05-8028-4208C14FD47D}"/>
              </a:ext>
            </a:extLst>
          </p:cNvPr>
          <p:cNvCxnSpPr>
            <a:cxnSpLocks/>
          </p:cNvCxnSpPr>
          <p:nvPr/>
        </p:nvCxnSpPr>
        <p:spPr>
          <a:xfrm flipH="1">
            <a:off x="2843808" y="1779662"/>
            <a:ext cx="432048" cy="36004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4C9661A8-3099-48FA-B379-620836DE4E13}"/>
              </a:ext>
            </a:extLst>
          </p:cNvPr>
          <p:cNvCxnSpPr>
            <a:cxnSpLocks/>
          </p:cNvCxnSpPr>
          <p:nvPr/>
        </p:nvCxnSpPr>
        <p:spPr>
          <a:xfrm flipH="1">
            <a:off x="4448920" y="1782119"/>
            <a:ext cx="432048" cy="36004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03AAEB29-D9D6-49F3-8C3F-1BA7604E0317}"/>
              </a:ext>
            </a:extLst>
          </p:cNvPr>
          <p:cNvCxnSpPr>
            <a:cxnSpLocks/>
          </p:cNvCxnSpPr>
          <p:nvPr/>
        </p:nvCxnSpPr>
        <p:spPr>
          <a:xfrm flipH="1">
            <a:off x="5571583" y="1794280"/>
            <a:ext cx="156209" cy="34296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97AED1FD-164B-4B09-9685-EFB7E8A6D7DA}"/>
              </a:ext>
            </a:extLst>
          </p:cNvPr>
          <p:cNvCxnSpPr>
            <a:cxnSpLocks/>
          </p:cNvCxnSpPr>
          <p:nvPr/>
        </p:nvCxnSpPr>
        <p:spPr>
          <a:xfrm flipH="1">
            <a:off x="3995936" y="1788199"/>
            <a:ext cx="880768" cy="339342"/>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418036B8-0B63-420D-AE3D-F31F21DD22D8}"/>
              </a:ext>
            </a:extLst>
          </p:cNvPr>
          <p:cNvCxnSpPr>
            <a:cxnSpLocks/>
          </p:cNvCxnSpPr>
          <p:nvPr/>
        </p:nvCxnSpPr>
        <p:spPr>
          <a:xfrm>
            <a:off x="5727792" y="1782193"/>
            <a:ext cx="234161" cy="34534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7CAFA28A-D0E7-4A5E-A532-1818E6462F94}"/>
              </a:ext>
            </a:extLst>
          </p:cNvPr>
          <p:cNvCxnSpPr>
            <a:cxnSpLocks/>
          </p:cNvCxnSpPr>
          <p:nvPr/>
        </p:nvCxnSpPr>
        <p:spPr>
          <a:xfrm>
            <a:off x="6949515" y="1782193"/>
            <a:ext cx="168830" cy="34534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DE2FB6F3-1C6F-47C4-9BB4-6FE0032AB83C}"/>
              </a:ext>
            </a:extLst>
          </p:cNvPr>
          <p:cNvCxnSpPr>
            <a:cxnSpLocks/>
          </p:cNvCxnSpPr>
          <p:nvPr/>
        </p:nvCxnSpPr>
        <p:spPr>
          <a:xfrm flipH="1">
            <a:off x="3777929" y="2377167"/>
            <a:ext cx="218007" cy="183388"/>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1996F7E8-7A9C-4E0D-89E2-A82493B672F4}"/>
              </a:ext>
            </a:extLst>
          </p:cNvPr>
          <p:cNvCxnSpPr>
            <a:cxnSpLocks/>
            <a:endCxn id="15" idx="1"/>
          </p:cNvCxnSpPr>
          <p:nvPr/>
        </p:nvCxnSpPr>
        <p:spPr>
          <a:xfrm>
            <a:off x="2843808" y="2362796"/>
            <a:ext cx="967" cy="1991665"/>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552EBEF8-5CE7-4D69-BD17-DB30B917C65A}"/>
              </a:ext>
            </a:extLst>
          </p:cNvPr>
          <p:cNvCxnSpPr>
            <a:cxnSpLocks/>
          </p:cNvCxnSpPr>
          <p:nvPr/>
        </p:nvCxnSpPr>
        <p:spPr>
          <a:xfrm>
            <a:off x="3395763" y="2355726"/>
            <a:ext cx="0" cy="216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B820175F-A8FD-4BCC-9BFD-13A3195178BA}"/>
              </a:ext>
            </a:extLst>
          </p:cNvPr>
          <p:cNvCxnSpPr>
            <a:cxnSpLocks/>
          </p:cNvCxnSpPr>
          <p:nvPr/>
        </p:nvCxnSpPr>
        <p:spPr>
          <a:xfrm>
            <a:off x="3395763" y="2784894"/>
            <a:ext cx="0" cy="288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1360FAB4-B921-430D-B323-D27501378D7C}"/>
              </a:ext>
            </a:extLst>
          </p:cNvPr>
          <p:cNvCxnSpPr>
            <a:cxnSpLocks/>
          </p:cNvCxnSpPr>
          <p:nvPr/>
        </p:nvCxnSpPr>
        <p:spPr>
          <a:xfrm>
            <a:off x="3384567" y="3259653"/>
            <a:ext cx="0" cy="28800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箭头连接符 50">
            <a:extLst>
              <a:ext uri="{FF2B5EF4-FFF2-40B4-BE49-F238E27FC236}">
                <a16:creationId xmlns:a16="http://schemas.microsoft.com/office/drawing/2014/main" id="{A4CE9946-52A5-43F8-8E41-67D16AB87D82}"/>
              </a:ext>
            </a:extLst>
          </p:cNvPr>
          <p:cNvCxnSpPr>
            <a:cxnSpLocks/>
          </p:cNvCxnSpPr>
          <p:nvPr/>
        </p:nvCxnSpPr>
        <p:spPr>
          <a:xfrm>
            <a:off x="3377112" y="3884166"/>
            <a:ext cx="0" cy="265361"/>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087FB08B-FA5A-4D6D-B506-E1121A8A4543}"/>
              </a:ext>
            </a:extLst>
          </p:cNvPr>
          <p:cNvCxnSpPr>
            <a:cxnSpLocks/>
          </p:cNvCxnSpPr>
          <p:nvPr/>
        </p:nvCxnSpPr>
        <p:spPr>
          <a:xfrm>
            <a:off x="3785275" y="2795788"/>
            <a:ext cx="390681" cy="18487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8366EFBF-DB83-4AC9-B8BB-B0B5A54775B9}"/>
              </a:ext>
            </a:extLst>
          </p:cNvPr>
          <p:cNvCxnSpPr>
            <a:cxnSpLocks/>
          </p:cNvCxnSpPr>
          <p:nvPr/>
        </p:nvCxnSpPr>
        <p:spPr>
          <a:xfrm>
            <a:off x="3780879" y="2679763"/>
            <a:ext cx="967" cy="43200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445155A9-B3B0-4D87-A206-BF6584FEEC4C}"/>
              </a:ext>
            </a:extLst>
          </p:cNvPr>
          <p:cNvSpPr txBox="1"/>
          <p:nvPr/>
        </p:nvSpPr>
        <p:spPr>
          <a:xfrm>
            <a:off x="899592" y="1374896"/>
            <a:ext cx="1005403" cy="338554"/>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应用数据</a:t>
            </a:r>
          </a:p>
        </p:txBody>
      </p:sp>
      <p:sp>
        <p:nvSpPr>
          <p:cNvPr id="58" name="文本框 57">
            <a:extLst>
              <a:ext uri="{FF2B5EF4-FFF2-40B4-BE49-F238E27FC236}">
                <a16:creationId xmlns:a16="http://schemas.microsoft.com/office/drawing/2014/main" id="{D4EB4EE6-8B46-4B7E-AB56-0C31934B5429}"/>
              </a:ext>
            </a:extLst>
          </p:cNvPr>
          <p:cNvSpPr txBox="1"/>
          <p:nvPr/>
        </p:nvSpPr>
        <p:spPr>
          <a:xfrm>
            <a:off x="901668" y="2017172"/>
            <a:ext cx="595035" cy="338554"/>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分段</a:t>
            </a:r>
          </a:p>
        </p:txBody>
      </p:sp>
      <p:sp>
        <p:nvSpPr>
          <p:cNvPr id="59" name="文本框 58">
            <a:extLst>
              <a:ext uri="{FF2B5EF4-FFF2-40B4-BE49-F238E27FC236}">
                <a16:creationId xmlns:a16="http://schemas.microsoft.com/office/drawing/2014/main" id="{127F8E28-1879-493C-92C7-0FA34449892A}"/>
              </a:ext>
            </a:extLst>
          </p:cNvPr>
          <p:cNvSpPr txBox="1"/>
          <p:nvPr/>
        </p:nvSpPr>
        <p:spPr>
          <a:xfrm>
            <a:off x="899068" y="2532172"/>
            <a:ext cx="595035" cy="338554"/>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压缩</a:t>
            </a:r>
          </a:p>
        </p:txBody>
      </p:sp>
      <p:sp>
        <p:nvSpPr>
          <p:cNvPr id="60" name="文本框 59">
            <a:extLst>
              <a:ext uri="{FF2B5EF4-FFF2-40B4-BE49-F238E27FC236}">
                <a16:creationId xmlns:a16="http://schemas.microsoft.com/office/drawing/2014/main" id="{8AE7C7FA-DC4E-4B29-91B4-1BBEEBAE90BA}"/>
              </a:ext>
            </a:extLst>
          </p:cNvPr>
          <p:cNvSpPr txBox="1"/>
          <p:nvPr/>
        </p:nvSpPr>
        <p:spPr>
          <a:xfrm>
            <a:off x="899068" y="3047172"/>
            <a:ext cx="1035861" cy="338554"/>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添加</a:t>
            </a:r>
            <a:r>
              <a:rPr lang="en-US" altLang="zh-CN" sz="1600" dirty="0">
                <a:solidFill>
                  <a:srgbClr val="2FA2A4"/>
                </a:solidFill>
                <a:latin typeface="华文楷体" panose="02010600040101010101" pitchFamily="2" charset="-122"/>
                <a:ea typeface="华文楷体" panose="02010600040101010101" pitchFamily="2" charset="-122"/>
              </a:rPr>
              <a:t>MAC</a:t>
            </a:r>
            <a:endParaRPr lang="zh-CN" altLang="en-US" sz="1600" dirty="0">
              <a:solidFill>
                <a:srgbClr val="2FA2A4"/>
              </a:solidFill>
              <a:latin typeface="华文楷体" panose="02010600040101010101" pitchFamily="2" charset="-122"/>
              <a:ea typeface="华文楷体" panose="02010600040101010101" pitchFamily="2" charset="-122"/>
            </a:endParaRPr>
          </a:p>
        </p:txBody>
      </p:sp>
      <p:sp>
        <p:nvSpPr>
          <p:cNvPr id="61" name="文本框 60">
            <a:extLst>
              <a:ext uri="{FF2B5EF4-FFF2-40B4-BE49-F238E27FC236}">
                <a16:creationId xmlns:a16="http://schemas.microsoft.com/office/drawing/2014/main" id="{0DD0AD96-D5D4-42C8-A619-0C901460E31D}"/>
              </a:ext>
            </a:extLst>
          </p:cNvPr>
          <p:cNvSpPr txBox="1"/>
          <p:nvPr/>
        </p:nvSpPr>
        <p:spPr>
          <a:xfrm>
            <a:off x="899068" y="3562172"/>
            <a:ext cx="603050" cy="338554"/>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加密</a:t>
            </a:r>
          </a:p>
        </p:txBody>
      </p:sp>
      <p:sp>
        <p:nvSpPr>
          <p:cNvPr id="62" name="文本框 61">
            <a:extLst>
              <a:ext uri="{FF2B5EF4-FFF2-40B4-BE49-F238E27FC236}">
                <a16:creationId xmlns:a16="http://schemas.microsoft.com/office/drawing/2014/main" id="{3C2D35F9-A89C-4285-B0CB-BAAEDFB1C6A1}"/>
              </a:ext>
            </a:extLst>
          </p:cNvPr>
          <p:cNvSpPr txBox="1"/>
          <p:nvPr/>
        </p:nvSpPr>
        <p:spPr>
          <a:xfrm>
            <a:off x="895060" y="4077172"/>
            <a:ext cx="1005403" cy="584775"/>
          </a:xfrm>
          <a:prstGeom prst="rect">
            <a:avLst/>
          </a:prstGeom>
          <a:noFill/>
        </p:spPr>
        <p:txBody>
          <a:bodyPr wrap="none" rtlCol="0">
            <a:spAutoFit/>
          </a:bodyPr>
          <a:lstStyle/>
          <a:p>
            <a:r>
              <a:rPr lang="zh-CN" altLang="en-US" sz="1600" dirty="0">
                <a:solidFill>
                  <a:srgbClr val="2FA2A4"/>
                </a:solidFill>
                <a:latin typeface="华文楷体" panose="02010600040101010101" pitchFamily="2" charset="-122"/>
                <a:ea typeface="华文楷体" panose="02010600040101010101" pitchFamily="2" charset="-122"/>
              </a:rPr>
              <a:t>附加</a:t>
            </a:r>
            <a:r>
              <a:rPr lang="en-US" altLang="zh-CN" sz="1600" dirty="0">
                <a:solidFill>
                  <a:srgbClr val="2FA2A4"/>
                </a:solidFill>
                <a:latin typeface="华文楷体" panose="02010600040101010101" pitchFamily="2" charset="-122"/>
                <a:ea typeface="华文楷体" panose="02010600040101010101" pitchFamily="2" charset="-122"/>
              </a:rPr>
              <a:t>SSL</a:t>
            </a:r>
          </a:p>
          <a:p>
            <a:r>
              <a:rPr lang="zh-CN" altLang="en-US" sz="1600" dirty="0">
                <a:solidFill>
                  <a:srgbClr val="2FA2A4"/>
                </a:solidFill>
                <a:latin typeface="华文楷体" panose="02010600040101010101" pitchFamily="2" charset="-122"/>
                <a:ea typeface="华文楷体" panose="02010600040101010101" pitchFamily="2" charset="-122"/>
              </a:rPr>
              <a:t>记录报头</a:t>
            </a:r>
          </a:p>
        </p:txBody>
      </p:sp>
      <p:cxnSp>
        <p:nvCxnSpPr>
          <p:cNvPr id="63" name="直接连接符 62">
            <a:extLst>
              <a:ext uri="{FF2B5EF4-FFF2-40B4-BE49-F238E27FC236}">
                <a16:creationId xmlns:a16="http://schemas.microsoft.com/office/drawing/2014/main" id="{55D74A5E-6DE2-42BC-B490-B2CCCB44FFAE}"/>
              </a:ext>
            </a:extLst>
          </p:cNvPr>
          <p:cNvCxnSpPr>
            <a:cxnSpLocks/>
          </p:cNvCxnSpPr>
          <p:nvPr/>
        </p:nvCxnSpPr>
        <p:spPr>
          <a:xfrm>
            <a:off x="4436320" y="3030241"/>
            <a:ext cx="967" cy="1116000"/>
          </a:xfrm>
          <a:prstGeom prst="lin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03582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84069"/>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警报协议</a:t>
            </a:r>
            <a:endPar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客户机和服务器发现错误时，向对方发送一个警报消息。如果是致命错误，则算法立即关闭</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SSL</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连接，双方还会先删除相关的会话号，秘密和密钥。每个警报消息共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个字节，第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个字节表示错误类型，如果是警报，则值为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，如果是致命错误，则值为</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个字节制定实际错误类型。</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spTree>
    <p:extLst>
      <p:ext uri="{BB962C8B-B14F-4D97-AF65-F5344CB8AC3E}">
        <p14:creationId xmlns:p14="http://schemas.microsoft.com/office/powerpoint/2010/main" val="110288948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8527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传输层安全协议（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Transport Layer </a:t>
            </a:r>
            <a:r>
              <a:rPr lang="en-US" altLang="zh-CN" sz="2000" dirty="0" err="1">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Security,TLS</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）是</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的升级版本，</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IETF</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将</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SSL3.0</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定义为</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　　</a:t>
            </a:r>
            <a:endPar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安全传输层协议（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）用于在两个通信应用程序之间提供保密性和数据完整性。</a:t>
            </a:r>
            <a:endPar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在无线环境下，由于手机等手持设备的处理和存储能力有限，故在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简化基础上还提出了</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WTLS</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协议（</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Wireless Transport Layer Security</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），以适应无线网络的特殊环境</a:t>
            </a:r>
            <a:endPar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该协议由两层组成： </a:t>
            </a: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a:t>
            </a: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Record</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和 </a:t>
            </a: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握手协议（</a:t>
            </a:r>
            <a:r>
              <a:rPr lang="en-US" altLang="zh-CN"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Handshake</a:t>
            </a: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。较低的层为 </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记录协议，位于某个可靠的传输协议（例如 </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TCP</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）上面</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spTree>
    <p:extLst>
      <p:ext uri="{BB962C8B-B14F-4D97-AF65-F5344CB8AC3E}">
        <p14:creationId xmlns:p14="http://schemas.microsoft.com/office/powerpoint/2010/main" val="393758971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28918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记录协议提供的连接安全性具有两个基本特性：   </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私有</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对称加密用以数据加密（</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DES </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RC4 </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。对称加密所产生的密钥对每个连接都是唯一的，且此密钥基于另一个协议（如握手协议）协商。记录协议也可以不加密使用。   </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可靠</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信息传输包括使用密钥的</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进行信息完整性检查</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。安全哈希功能（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SHA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MD5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等）用于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计算。记录协议在没有 </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 </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的情况下也能操作，但一般只能用于这种模式，即有另一个协议正在使用记录协议传输协商安全参数。 </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TLS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记录协议用于封装各种高层协议。作为这种封装协议之一的握手协议允许服务器与客户机在应用程序协议传输和接收其第一个数据字节前彼此之间相互认证，协商加密算法和加密密钥。</a:t>
            </a:r>
            <a:endParaRPr lang="en-US" altLang="zh-CN"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spTree>
    <p:extLst>
      <p:ext uri="{BB962C8B-B14F-4D97-AF65-F5344CB8AC3E}">
        <p14:creationId xmlns:p14="http://schemas.microsoft.com/office/powerpoint/2010/main" val="143803475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33232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TLS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握手协议提供的连接安全具有三个基本属性：</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可以使用非对称的，或公共密钥的密码术来认证对等方的身份。</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该认证是可选的，但至少需要一个结点方。</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共享加密密钥的协商是安全的。</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对偷窃者来说协商加密是难以获得的。此外经过认证过的连接不能获得加密，即使是进入连接中间的攻击者也不能。</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协商是可靠的。</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没有经过通信方成员的检测，任何攻击者都不能修改通信协商。 </a:t>
            </a:r>
          </a:p>
          <a:p>
            <a:pPr marL="342900" indent="-342900">
              <a:lnSpc>
                <a:spcPct val="130000"/>
              </a:lnSpc>
              <a:spcBef>
                <a:spcPts val="300"/>
              </a:spcBef>
              <a:spcAft>
                <a:spcPts val="300"/>
              </a:spcAft>
              <a:buFont typeface="Wingdings" panose="05000000000000000000" pitchFamily="2" charset="2"/>
              <a:buChar char="n"/>
            </a:pPr>
            <a:endParaRPr lang="en-US" altLang="zh-CN"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en-US" altLang="zh-CN" sz="2000" b="1" dirty="0">
                <a:solidFill>
                  <a:schemeClr val="tx1">
                    <a:lumMod val="50000"/>
                    <a:lumOff val="50000"/>
                  </a:schemeClr>
                </a:solidFill>
                <a:latin typeface="微软雅黑" pitchFamily="34" charset="-122"/>
                <a:ea typeface="微软雅黑" pitchFamily="34" charset="-122"/>
              </a:rPr>
              <a:t>SSL/TLS</a:t>
            </a:r>
          </a:p>
        </p:txBody>
      </p:sp>
    </p:spTree>
    <p:extLst>
      <p:ext uri="{BB962C8B-B14F-4D97-AF65-F5344CB8AC3E}">
        <p14:creationId xmlns:p14="http://schemas.microsoft.com/office/powerpoint/2010/main" val="206045185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4354525"/>
          </a:xfrm>
          <a:prstGeom prst="rect">
            <a:avLst/>
          </a:prstGeom>
          <a:noFill/>
        </p:spPr>
        <p:txBody>
          <a:bodyPr wrap="square" rtlCol="0">
            <a:spAutoFit/>
          </a:bodyPr>
          <a:lstStyle/>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防火墙是设置在不同网络（典型地，可信任的企业内部网络和不可信的因特网）间的一系列安全部件的组合</a:t>
            </a:r>
          </a:p>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这组部件具有性质：</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(1)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双向通信必须通过防火墙；</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(2)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防火墙本身不会影响信息的流通；</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 </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只允许本身安全策略授权的通信信息通过。</a:t>
            </a:r>
          </a:p>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防火墙是一种访问控制机制，用于确定哪些内部服务对外开放，以及允许哪些外部服务对内部开放</a:t>
            </a:r>
          </a:p>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是不同网络或网络安全域之间信息的唯一出入口，通过监测、限制、更改跨越防火墙的数据流，尽可能地对外部屏蔽网络内部的信息、结构和运行状况，有选择地接受外部访问，对内部强化设备监管、控制对服务器与外部网的访问，在被保护网络和外部网络之间架起一道屏障，以防止发生不可预测的、潜在的破坏性侵入</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防火墙</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88396821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467544" y="699542"/>
            <a:ext cx="8352928" cy="4444743"/>
          </a:xfrm>
          <a:prstGeom prst="rect">
            <a:avLst/>
          </a:prstGeom>
          <a:noFill/>
        </p:spPr>
        <p:txBody>
          <a:bodyPr wrap="square" rtlCol="0">
            <a:spAutoFit/>
          </a:bodyPr>
          <a:lstStyle/>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是一种保护本地系统或网络免于来自网络的安全威胁，同时提供通过广域网或因特网对外界进行访问的有效方式。目标：建立起可控的连接；保护前置网络免于基于因特网的攻击；提供了单个的阻塞点得以应用安全和审计策略</a:t>
            </a:r>
          </a:p>
          <a:p>
            <a:pPr marL="342900" indent="-342900">
              <a:lnSpc>
                <a:spcPct val="12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防火墙提供四种控制服务：</a:t>
            </a: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服务控制：</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确定可以访问的因特网服务的类型，包括入站的和出站的。这是因为防火墙可以基于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地址和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TCP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端口号对通信量进行过滤</a:t>
            </a: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方向控制：</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确定特定的服务请求被允许流动的方向，即特定服务的方向流控制</a:t>
            </a: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用户控制：</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内部用户、外部用户所需的某种形式的认证机制。根据用户试图访问的服务来控制对服务的访问。典型地用户控制防火墙以内的用户（本地用户）</a:t>
            </a:r>
          </a:p>
          <a:p>
            <a:pPr marL="342900" indent="-342900">
              <a:lnSpc>
                <a:spcPct val="110000"/>
              </a:lnSpc>
              <a:spcBef>
                <a:spcPts val="300"/>
              </a:spcBef>
              <a:spcAft>
                <a:spcPts val="300"/>
              </a:spcAft>
              <a:buFont typeface="Wingdings" panose="05000000000000000000" pitchFamily="2" charset="2"/>
              <a:buChar char="n"/>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行为控制：</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对特定服务的使用方式进行控制。如防火墙可以过滤电子邮件来消除垃圾邮件</a:t>
            </a: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防火墙</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49099148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4484176"/>
          </a:xfrm>
          <a:prstGeom prst="rect">
            <a:avLst/>
          </a:prstGeom>
          <a:noFill/>
        </p:spPr>
        <p:txBody>
          <a:bodyPr wrap="square" rtlCol="0">
            <a:spAutoFit/>
          </a:bodyPr>
          <a:lstStyle/>
          <a:p>
            <a:pPr marL="342900" indent="-342900">
              <a:lnSpc>
                <a:spcPct val="120000"/>
              </a:lnSpc>
              <a:spcBef>
                <a:spcPts val="300"/>
              </a:spcBef>
              <a:spcAft>
                <a:spcPts val="300"/>
              </a:spcAft>
              <a:buFont typeface="Wingdings" panose="05000000000000000000" pitchFamily="2" charset="2"/>
              <a:buChar char="Ø"/>
            </a:pP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防火墙有</a:t>
            </a:r>
            <a:r>
              <a:rPr lang="en-US" altLang="zh-CN"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种主要类型；不同类型的防火墙工作于网络的不同层次，以工作于网络层的分组过滤器和工作于应用层的应用级网关为常见</a:t>
            </a:r>
          </a:p>
          <a:p>
            <a:pPr>
              <a:lnSpc>
                <a:spcPct val="12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）分组（或包）过滤器</a:t>
            </a:r>
          </a:p>
          <a:p>
            <a:pPr marL="285750" indent="-285750">
              <a:lnSpc>
                <a:spcPct val="12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工作于网络层。 “分组过滤”通过将每一输入或输出</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分组同访问控制规则相比较来决定阻塞或放行，通过检查数据流中每一个数据分组的源地址、目的地址、所用端口、协议状态等因素，或它们的组合来确定是否允许该数据分组通过</a:t>
            </a:r>
          </a:p>
          <a:p>
            <a:pPr marL="285750" indent="-285750">
              <a:lnSpc>
                <a:spcPct val="12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分组过滤器典型地建立一组基于匹配</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或</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TCP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首部字段的规则列表（如果存在一个规则的匹配，那条规则就会被调用来决定转发还是被丢弃，如果没有任何规则与之相匹配，就采取一个默认的动作－可能是丢弃或转发）。默认的动作有两个：丢弃（没有明确允许的就被禁止）或转发（没能明确禁止的就被允许）</a:t>
            </a:r>
          </a:p>
          <a:p>
            <a:pPr marL="285750" indent="-285750">
              <a:lnSpc>
                <a:spcPct val="120000"/>
              </a:lnSpc>
              <a:spcBef>
                <a:spcPts val="300"/>
              </a:spcBef>
              <a:spcAft>
                <a:spcPts val="300"/>
              </a:spcAft>
              <a:buFont typeface="Arial" panose="020B0604020202020204" pitchFamily="34" charset="0"/>
              <a:buChar char="•"/>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优点：</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价格低，对应用透明和高的处理速度</a:t>
            </a:r>
          </a:p>
          <a:p>
            <a:pPr marL="285750" indent="-285750">
              <a:lnSpc>
                <a:spcPct val="120000"/>
              </a:lnSpc>
              <a:spcBef>
                <a:spcPts val="300"/>
              </a:spcBef>
              <a:spcAft>
                <a:spcPts val="300"/>
              </a:spcAft>
              <a:buFont typeface="Arial" panose="020B0604020202020204" pitchFamily="34" charset="0"/>
              <a:buChar char="•"/>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缺点：</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正确建立分组过滤规则是一件困难的事（分组过滤配置较复杂）；无用户使用记录，不利于分析攻击行为；攻击相对容易实施</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防火墙</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8264166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4333366"/>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）应用级网关（也叫代理服务器）</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工作于应用层。用户通过应用程序</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如</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TELNET</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FTP)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首先与应用级网关通信，网关与相应的主机上的应用程序相联系，在两者间转送应用数据</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应用级网关通常与具体的应用相联系，否则服务将不被支持</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应用级网关能很容易看见每一个连接的细节从而实现各种安全策略，例如：很容易识别重要的应用程序命令，像</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FTP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put”</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上传请求和“</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get”</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下载请求</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优点：</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一般认为比分组过滤器更安全，因为它只对少数几个支持的应用进行检查，从外面只看到代理服务器，而看不到任何内部资源，而且代理服务器只允许被代理的服务通过</a:t>
            </a: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缺点：</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网关处于两个串接用户的中间点，必须在两个方向上检查和转发所有通信量，对每个连接都需要有额外的处理负载，使访问速度变慢；需要针对每一个特定的</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Internet</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服务安装相应的代理服务器软件，这会带来兼容性问题</a:t>
            </a:r>
            <a:endParaRPr lang="zh-CN" altLang="en-US" sz="2000"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防火墙</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414757040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4092339"/>
          </a:xfrm>
          <a:prstGeom prst="rect">
            <a:avLst/>
          </a:prstGeom>
          <a:noFill/>
        </p:spPr>
        <p:txBody>
          <a:bodyPr wrap="square" rtlCol="0">
            <a:spAutoFit/>
          </a:bodyPr>
          <a:lstStyle/>
          <a:p>
            <a:pPr>
              <a:lnSpc>
                <a:spcPct val="130000"/>
              </a:lnSpc>
              <a:spcBef>
                <a:spcPts val="300"/>
              </a:spcBef>
              <a:spcAft>
                <a:spcPts val="300"/>
              </a:spcAft>
            </a:pP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）电路级网关</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工作于传输层，监视两台主机建立连接时的握手信息，从而判断该会话请求是否合法，一旦会话连接有效，该网关仅复制、传递数据</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不允许端到端的</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TCP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连接，而是建立两个</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TCP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连接，一个在网关和内部主机间，一个在网关和外部主机间。当两个连接建立起来后，网关典型地从一个连接向另一个连接转发</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TCP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报文，而不检查其内容。它的安全功能的实现体现在决定哪些连接是允许的</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电路级网关和分组过滤器都是依靠特定的逻辑来判断是否允许数据包通过，但分组过滤器允许内外计算机系统建立直接联系，而电路级网关无法</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直达</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优点：基于</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TCP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连接代理各种高层会话，具有隐藏内部网络信息的能力，透明性高</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缺点：像电路交换，其对会话建立后所传输的具体内容不作进一步分析，存在一定安全隐患</a:t>
            </a: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防火墙</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92385093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防火墙</a:t>
            </a:r>
            <a:endParaRPr lang="en-US" altLang="zh-CN" sz="2000" b="1" dirty="0">
              <a:solidFill>
                <a:schemeClr val="tx1">
                  <a:lumMod val="50000"/>
                  <a:lumOff val="50000"/>
                </a:schemeClr>
              </a:solidFill>
              <a:latin typeface="微软雅黑" pitchFamily="34" charset="-122"/>
              <a:ea typeface="微软雅黑" pitchFamily="34" charset="-122"/>
            </a:endParaRPr>
          </a:p>
        </p:txBody>
      </p:sp>
      <p:pic>
        <p:nvPicPr>
          <p:cNvPr id="6" name="图片 5">
            <a:extLst>
              <a:ext uri="{FF2B5EF4-FFF2-40B4-BE49-F238E27FC236}">
                <a16:creationId xmlns:a16="http://schemas.microsoft.com/office/drawing/2014/main" id="{9216A73F-5EE7-43BB-92BF-6FA7B4B68B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1" y="843558"/>
            <a:ext cx="4320480" cy="1486451"/>
          </a:xfrm>
          <a:prstGeom prst="rect">
            <a:avLst/>
          </a:prstGeom>
        </p:spPr>
      </p:pic>
      <p:pic>
        <p:nvPicPr>
          <p:cNvPr id="9" name="图片 8">
            <a:extLst>
              <a:ext uri="{FF2B5EF4-FFF2-40B4-BE49-F238E27FC236}">
                <a16:creationId xmlns:a16="http://schemas.microsoft.com/office/drawing/2014/main" id="{840DE61B-1DA6-49ED-A8BF-C2DD3C7B8B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0032" y="915566"/>
            <a:ext cx="3890074" cy="1501526"/>
          </a:xfrm>
          <a:prstGeom prst="rect">
            <a:avLst/>
          </a:prstGeom>
        </p:spPr>
      </p:pic>
      <p:sp>
        <p:nvSpPr>
          <p:cNvPr id="13" name="文本框 12">
            <a:extLst>
              <a:ext uri="{FF2B5EF4-FFF2-40B4-BE49-F238E27FC236}">
                <a16:creationId xmlns:a16="http://schemas.microsoft.com/office/drawing/2014/main" id="{DA22C5CD-D486-4C12-9EFE-82265A7371CB}"/>
              </a:ext>
            </a:extLst>
          </p:cNvPr>
          <p:cNvSpPr txBox="1"/>
          <p:nvPr/>
        </p:nvSpPr>
        <p:spPr>
          <a:xfrm>
            <a:off x="1547664" y="2402473"/>
            <a:ext cx="2031325" cy="338554"/>
          </a:xfrm>
          <a:prstGeom prst="rect">
            <a:avLst/>
          </a:prstGeom>
          <a:noFill/>
        </p:spPr>
        <p:txBody>
          <a:bodyPr wrap="none" rtlCol="0">
            <a:spAutoFit/>
          </a:bodyPr>
          <a:lstStyle/>
          <a:p>
            <a:r>
              <a:rPr lang="zh-CN" altLang="en-US" sz="1600" b="1" dirty="0">
                <a:solidFill>
                  <a:srgbClr val="2FA2A4"/>
                </a:solidFill>
                <a:latin typeface="华文楷体" panose="02010600040101010101" pitchFamily="2" charset="-122"/>
                <a:ea typeface="华文楷体" panose="02010600040101010101" pitchFamily="2" charset="-122"/>
              </a:rPr>
              <a:t>分组（或包）过滤器</a:t>
            </a:r>
          </a:p>
        </p:txBody>
      </p:sp>
      <p:sp>
        <p:nvSpPr>
          <p:cNvPr id="15" name="文本框 14">
            <a:extLst>
              <a:ext uri="{FF2B5EF4-FFF2-40B4-BE49-F238E27FC236}">
                <a16:creationId xmlns:a16="http://schemas.microsoft.com/office/drawing/2014/main" id="{A5D293FE-0C2F-410B-8238-47EF5DD8756F}"/>
              </a:ext>
            </a:extLst>
          </p:cNvPr>
          <p:cNvSpPr txBox="1"/>
          <p:nvPr/>
        </p:nvSpPr>
        <p:spPr>
          <a:xfrm>
            <a:off x="6313740" y="2427734"/>
            <a:ext cx="1210588" cy="338554"/>
          </a:xfrm>
          <a:prstGeom prst="rect">
            <a:avLst/>
          </a:prstGeom>
          <a:noFill/>
        </p:spPr>
        <p:txBody>
          <a:bodyPr wrap="none" rtlCol="0">
            <a:spAutoFit/>
          </a:bodyPr>
          <a:lstStyle/>
          <a:p>
            <a:r>
              <a:rPr lang="zh-CN" altLang="en-US" sz="1600" b="1" dirty="0">
                <a:solidFill>
                  <a:srgbClr val="2FA2A4"/>
                </a:solidFill>
                <a:latin typeface="华文楷体" panose="02010600040101010101" pitchFamily="2" charset="-122"/>
                <a:ea typeface="华文楷体" panose="02010600040101010101" pitchFamily="2" charset="-122"/>
              </a:rPr>
              <a:t>应用级网关</a:t>
            </a:r>
          </a:p>
        </p:txBody>
      </p:sp>
      <p:sp>
        <p:nvSpPr>
          <p:cNvPr id="16" name="文本框 15">
            <a:extLst>
              <a:ext uri="{FF2B5EF4-FFF2-40B4-BE49-F238E27FC236}">
                <a16:creationId xmlns:a16="http://schemas.microsoft.com/office/drawing/2014/main" id="{B5DCB13D-D446-4279-80D7-9292A756C00A}"/>
              </a:ext>
            </a:extLst>
          </p:cNvPr>
          <p:cNvSpPr txBox="1"/>
          <p:nvPr/>
        </p:nvSpPr>
        <p:spPr>
          <a:xfrm>
            <a:off x="4067944" y="4681468"/>
            <a:ext cx="1210588" cy="338554"/>
          </a:xfrm>
          <a:prstGeom prst="rect">
            <a:avLst/>
          </a:prstGeom>
          <a:noFill/>
        </p:spPr>
        <p:txBody>
          <a:bodyPr wrap="none" rtlCol="0">
            <a:spAutoFit/>
          </a:bodyPr>
          <a:lstStyle/>
          <a:p>
            <a:r>
              <a:rPr lang="zh-CN" altLang="en-US" sz="1600" b="1" dirty="0">
                <a:solidFill>
                  <a:srgbClr val="2FA2A4"/>
                </a:solidFill>
                <a:latin typeface="华文楷体" panose="02010600040101010101" pitchFamily="2" charset="-122"/>
                <a:ea typeface="华文楷体" panose="02010600040101010101" pitchFamily="2" charset="-122"/>
              </a:rPr>
              <a:t>电路级网关</a:t>
            </a:r>
          </a:p>
        </p:txBody>
      </p:sp>
      <p:pic>
        <p:nvPicPr>
          <p:cNvPr id="17" name="图片 16">
            <a:extLst>
              <a:ext uri="{FF2B5EF4-FFF2-40B4-BE49-F238E27FC236}">
                <a16:creationId xmlns:a16="http://schemas.microsoft.com/office/drawing/2014/main" id="{0B348045-1E73-41CA-8D53-CDDB835054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96957" y="2866034"/>
            <a:ext cx="4750085" cy="2019093"/>
          </a:xfrm>
          <a:prstGeom prst="rect">
            <a:avLst/>
          </a:prstGeom>
        </p:spPr>
      </p:pic>
    </p:spTree>
    <p:extLst>
      <p:ext uri="{BB962C8B-B14F-4D97-AF65-F5344CB8AC3E}">
        <p14:creationId xmlns:p14="http://schemas.microsoft.com/office/powerpoint/2010/main" val="370378881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99542"/>
            <a:ext cx="8208912" cy="2403287"/>
          </a:xfrm>
          <a:prstGeom prst="rect">
            <a:avLst/>
          </a:prstGeom>
          <a:noFill/>
        </p:spPr>
        <p:txBody>
          <a:bodyPr wrap="square" rtlCol="0">
            <a:spAutoFit/>
          </a:bodyPr>
          <a:lstStyle/>
          <a:p>
            <a:pPr marL="342900" indent="-342900">
              <a:lnSpc>
                <a:spcPct val="120000"/>
              </a:lnSpc>
              <a:spcBef>
                <a:spcPts val="300"/>
              </a:spcBef>
              <a:spcAft>
                <a:spcPts val="300"/>
              </a:spcAft>
              <a:buFont typeface="Wingdings" panose="05000000000000000000" pitchFamily="2" charset="2"/>
              <a:buChar char="Ø"/>
            </a:pPr>
            <a:r>
              <a:rPr lang="zh-CN" altLang="en-US" sz="2000" b="1" dirty="0">
                <a:solidFill>
                  <a:srgbClr val="008F92"/>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防火墙的局限性：</a:t>
            </a:r>
          </a:p>
          <a:p>
            <a:pPr>
              <a:lnSpc>
                <a:spcPct val="12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1</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）防火墙不能对绕过它的攻击进行保护（越窗而不逾门</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p>
          <a:p>
            <a:pPr>
              <a:lnSpc>
                <a:spcPct val="12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）防火墙不能对内部的威胁提供支持（“家贼难防”）</a:t>
            </a:r>
          </a:p>
          <a:p>
            <a:pPr>
              <a:lnSpc>
                <a:spcPct val="12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）防火墙不能对病毒感染的程序或文件的传输提供保护（不对报文内容进行检查）</a:t>
            </a:r>
          </a:p>
          <a:p>
            <a:pPr>
              <a:lnSpc>
                <a:spcPct val="120000"/>
              </a:lnSpc>
              <a:spcBef>
                <a:spcPts val="300"/>
              </a:spcBef>
              <a:spcAft>
                <a:spcPts val="300"/>
              </a:spcAft>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4</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）防火墙机制难以应用于物联网感知层（物联网感知层网络边界模糊性）</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0B8D56E6-AD8B-4117-A3E2-215EE634328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防火墙</a:t>
            </a:r>
            <a:endParaRPr lang="en-US" altLang="zh-CN"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4623635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285752"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第三部分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泛在接入安全</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03</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03</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2388755165"/>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08278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移动通信系统面临的安全威胁</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对敏感数据的非授权访问（违反机密性）。包括：窃听、伪装、流量分析、浏览、泄漏和推论</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对敏感数据的非授权操作（违反完整性）。包括消息被入侵者故意篡改、插入、删除或重放</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滥用网络服务（导致拒绝服务或可用性降低）。包括干涉、资源耗尽、优先权的误用和服务的滥用</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否认。用户或网络拒绝承认已执行过的行为或动作。</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非授权接入服务。包括入侵者伪装成合法用户或网络实体来访问服务；用户或网络实体能滥用它们的访问权限来获得非授权的访问</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远距离无线接入安全</a:t>
            </a:r>
          </a:p>
        </p:txBody>
      </p:sp>
    </p:spTree>
    <p:extLst>
      <p:ext uri="{BB962C8B-B14F-4D97-AF65-F5344CB8AC3E}">
        <p14:creationId xmlns:p14="http://schemas.microsoft.com/office/powerpoint/2010/main" val="103513013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519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移动通信系统的安全特性要求</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提供用户身份机密性</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实体认证</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数据传输机密性</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数据完整性</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安全的能见度和可配置性</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远距离无线接入安全</a:t>
            </a:r>
          </a:p>
        </p:txBody>
      </p:sp>
    </p:spTree>
    <p:extLst>
      <p:ext uri="{BB962C8B-B14F-4D97-AF65-F5344CB8AC3E}">
        <p14:creationId xmlns:p14="http://schemas.microsoft.com/office/powerpoint/2010/main" val="211175965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519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移动通信系统的安全架构</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提供用户身份机密性</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实体认证</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数据传输机密性</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数据完整性</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安全的能见度和可配置性</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远距离无线接入安全</a:t>
            </a:r>
          </a:p>
        </p:txBody>
      </p:sp>
    </p:spTree>
    <p:extLst>
      <p:ext uri="{BB962C8B-B14F-4D97-AF65-F5344CB8AC3E}">
        <p14:creationId xmlns:p14="http://schemas.microsoft.com/office/powerpoint/2010/main" val="368616314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651944"/>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移动通信系统的安全架构</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网络接入安全</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网络域安全</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用户域安全</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应用域安全</a:t>
            </a:r>
          </a:p>
          <a:p>
            <a:pPr marL="342900" indent="-342900">
              <a:lnSpc>
                <a:spcPct val="130000"/>
              </a:lnSpc>
              <a:spcBef>
                <a:spcPts val="300"/>
              </a:spcBef>
              <a:spcAft>
                <a:spcPts val="300"/>
              </a:spcAft>
              <a:buFont typeface="+mj-lt"/>
              <a:buAutoNum type="arabicPeriod"/>
            </a:pP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安全服务的可视性和可配置性</a:t>
            </a: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远距离无线接入安全</a:t>
            </a:r>
          </a:p>
        </p:txBody>
      </p:sp>
      <p:graphicFrame>
        <p:nvGraphicFramePr>
          <p:cNvPr id="4" name="对象 3">
            <a:extLst>
              <a:ext uri="{FF2B5EF4-FFF2-40B4-BE49-F238E27FC236}">
                <a16:creationId xmlns:a16="http://schemas.microsoft.com/office/drawing/2014/main" id="{257B9CC3-7CA6-46DD-B958-48EDA5E93E3D}"/>
              </a:ext>
            </a:extLst>
          </p:cNvPr>
          <p:cNvGraphicFramePr>
            <a:graphicFrameLocks noChangeAspect="1"/>
          </p:cNvGraphicFramePr>
          <p:nvPr>
            <p:extLst>
              <p:ext uri="{D42A27DB-BD31-4B8C-83A1-F6EECF244321}">
                <p14:modId xmlns:p14="http://schemas.microsoft.com/office/powerpoint/2010/main" val="3738195977"/>
              </p:ext>
            </p:extLst>
          </p:nvPr>
        </p:nvGraphicFramePr>
        <p:xfrm>
          <a:off x="4139952" y="953755"/>
          <a:ext cx="4738687" cy="2322512"/>
        </p:xfrm>
        <a:graphic>
          <a:graphicData uri="http://schemas.openxmlformats.org/presentationml/2006/ole">
            <mc:AlternateContent xmlns:mc="http://schemas.openxmlformats.org/markup-compatibility/2006">
              <mc:Choice xmlns:v="urn:schemas-microsoft-com:vml" Requires="v">
                <p:oleObj r:id="rId3" imgW="2919730" imgH="1435735" progId="Visio.Drawing.11">
                  <p:embed/>
                </p:oleObj>
              </mc:Choice>
              <mc:Fallback>
                <p:oleObj r:id="rId3" imgW="2919730" imgH="1435735" progId="Visio.Drawing.11">
                  <p:embed/>
                  <p:pic>
                    <p:nvPicPr>
                      <p:cNvPr id="4" name="对象 3">
                        <a:extLst>
                          <a:ext uri="{FF2B5EF4-FFF2-40B4-BE49-F238E27FC236}">
                            <a16:creationId xmlns:a16="http://schemas.microsoft.com/office/drawing/2014/main" id="{257B9CC3-7CA6-46DD-B958-48EDA5E93E3D}"/>
                          </a:ext>
                        </a:extLst>
                      </p:cNvPr>
                      <p:cNvPicPr/>
                      <p:nvPr/>
                    </p:nvPicPr>
                    <p:blipFill>
                      <a:blip r:embed="rId4"/>
                      <a:stretch>
                        <a:fillRect/>
                      </a:stretch>
                    </p:blipFill>
                    <p:spPr>
                      <a:xfrm>
                        <a:off x="4139952" y="953755"/>
                        <a:ext cx="4738687" cy="2322512"/>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319952590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1833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认证与密钥协商（</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AKA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AKA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协议是国际移动电信组织</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3GPP(The Third Generation Partnership Project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）在研究</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安全脆弱性的基础上</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针对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3G</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接入域安全需求提出的安全规范。</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AKA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使用挑战应答机制，完成用户和网络间的身份认证，同时基于身份认证对通信加密密钥进行协商。通过认证和加密手段更好的预防攻击行为，保护移动通信网络资源的安全。</a:t>
            </a:r>
          </a:p>
          <a:p>
            <a:pPr marL="342900" indent="-342900">
              <a:lnSpc>
                <a:spcPct val="130000"/>
              </a:lnSpc>
              <a:spcBef>
                <a:spcPts val="300"/>
              </a:spcBef>
              <a:spcAft>
                <a:spcPts val="300"/>
              </a:spcAft>
              <a:buFont typeface="+mj-lt"/>
              <a:buAutoNum type="arabicPeriod"/>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远距离无线接入安全</a:t>
            </a:r>
          </a:p>
        </p:txBody>
      </p:sp>
      <p:sp>
        <p:nvSpPr>
          <p:cNvPr id="2" name="矩形 1">
            <a:extLst>
              <a:ext uri="{FF2B5EF4-FFF2-40B4-BE49-F238E27FC236}">
                <a16:creationId xmlns:a16="http://schemas.microsoft.com/office/drawing/2014/main" id="{FDDD3D89-CB05-48BD-9E95-FD1D84DEE8B9}"/>
              </a:ext>
            </a:extLst>
          </p:cNvPr>
          <p:cNvSpPr/>
          <p:nvPr/>
        </p:nvSpPr>
        <p:spPr>
          <a:xfrm>
            <a:off x="2411760" y="2986208"/>
            <a:ext cx="1224136" cy="3875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UE</a:t>
            </a:r>
            <a:endParaRPr lang="zh-CN" altLang="en-US" dirty="0"/>
          </a:p>
        </p:txBody>
      </p:sp>
      <p:sp>
        <p:nvSpPr>
          <p:cNvPr id="7" name="矩形 6">
            <a:extLst>
              <a:ext uri="{FF2B5EF4-FFF2-40B4-BE49-F238E27FC236}">
                <a16:creationId xmlns:a16="http://schemas.microsoft.com/office/drawing/2014/main" id="{872C5AD9-22AF-4117-A867-346CED902923}"/>
              </a:ext>
            </a:extLst>
          </p:cNvPr>
          <p:cNvSpPr/>
          <p:nvPr/>
        </p:nvSpPr>
        <p:spPr>
          <a:xfrm>
            <a:off x="5364088" y="2976285"/>
            <a:ext cx="1224136" cy="3875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MME-HSS</a:t>
            </a:r>
            <a:endParaRPr lang="zh-CN" altLang="en-US" dirty="0"/>
          </a:p>
        </p:txBody>
      </p:sp>
      <p:cxnSp>
        <p:nvCxnSpPr>
          <p:cNvPr id="8" name="直接连接符 7">
            <a:extLst>
              <a:ext uri="{FF2B5EF4-FFF2-40B4-BE49-F238E27FC236}">
                <a16:creationId xmlns:a16="http://schemas.microsoft.com/office/drawing/2014/main" id="{8522F919-B532-4B17-9799-B1C49A3D425F}"/>
              </a:ext>
            </a:extLst>
          </p:cNvPr>
          <p:cNvCxnSpPr>
            <a:cxnSpLocks/>
          </p:cNvCxnSpPr>
          <p:nvPr/>
        </p:nvCxnSpPr>
        <p:spPr>
          <a:xfrm>
            <a:off x="2987824" y="3373761"/>
            <a:ext cx="0" cy="1646261"/>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A2E3DD1F-06C8-467F-AFE6-57DDBD4FFD2D}"/>
              </a:ext>
            </a:extLst>
          </p:cNvPr>
          <p:cNvCxnSpPr>
            <a:cxnSpLocks/>
          </p:cNvCxnSpPr>
          <p:nvPr/>
        </p:nvCxnSpPr>
        <p:spPr>
          <a:xfrm>
            <a:off x="5940152" y="3363838"/>
            <a:ext cx="0" cy="1646261"/>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直接箭头连接符 11">
            <a:extLst>
              <a:ext uri="{FF2B5EF4-FFF2-40B4-BE49-F238E27FC236}">
                <a16:creationId xmlns:a16="http://schemas.microsoft.com/office/drawing/2014/main" id="{CCE9AA24-A3A7-46ED-8219-997D0D504FA7}"/>
              </a:ext>
            </a:extLst>
          </p:cNvPr>
          <p:cNvCxnSpPr>
            <a:cxnSpLocks/>
          </p:cNvCxnSpPr>
          <p:nvPr/>
        </p:nvCxnSpPr>
        <p:spPr>
          <a:xfrm>
            <a:off x="2987824" y="3651870"/>
            <a:ext cx="2952328"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506CD0DB-C54A-4153-AB45-B78A93DA3F06}"/>
              </a:ext>
            </a:extLst>
          </p:cNvPr>
          <p:cNvCxnSpPr>
            <a:cxnSpLocks/>
          </p:cNvCxnSpPr>
          <p:nvPr/>
        </p:nvCxnSpPr>
        <p:spPr>
          <a:xfrm flipH="1">
            <a:off x="2987824" y="4443958"/>
            <a:ext cx="2952328" cy="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7" name="直接箭头连接符 16">
            <a:extLst>
              <a:ext uri="{FF2B5EF4-FFF2-40B4-BE49-F238E27FC236}">
                <a16:creationId xmlns:a16="http://schemas.microsoft.com/office/drawing/2014/main" id="{E4C95BC5-09B7-4C3D-A13C-E45B4AEE970C}"/>
              </a:ext>
            </a:extLst>
          </p:cNvPr>
          <p:cNvCxnSpPr>
            <a:cxnSpLocks/>
          </p:cNvCxnSpPr>
          <p:nvPr/>
        </p:nvCxnSpPr>
        <p:spPr>
          <a:xfrm flipH="1">
            <a:off x="2987824" y="4876006"/>
            <a:ext cx="2952328" cy="0"/>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15" name="矩形 14">
            <a:extLst>
              <a:ext uri="{FF2B5EF4-FFF2-40B4-BE49-F238E27FC236}">
                <a16:creationId xmlns:a16="http://schemas.microsoft.com/office/drawing/2014/main" id="{0FFFBAA1-CD56-473B-95F2-C354B7D2C5A7}"/>
              </a:ext>
            </a:extLst>
          </p:cNvPr>
          <p:cNvSpPr/>
          <p:nvPr/>
        </p:nvSpPr>
        <p:spPr>
          <a:xfrm>
            <a:off x="2335249" y="3729624"/>
            <a:ext cx="4210049" cy="436224"/>
          </a:xfrm>
          <a:prstGeom prst="rect">
            <a:avLst/>
          </a:prstGeom>
          <a:no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411CB7D3-BDDB-4611-AAAA-22B8367DB063}"/>
              </a:ext>
            </a:extLst>
          </p:cNvPr>
          <p:cNvSpPr txBox="1"/>
          <p:nvPr/>
        </p:nvSpPr>
        <p:spPr>
          <a:xfrm>
            <a:off x="3881219" y="3335571"/>
            <a:ext cx="1005403"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用户接入</a:t>
            </a:r>
          </a:p>
        </p:txBody>
      </p:sp>
      <p:sp>
        <p:nvSpPr>
          <p:cNvPr id="21" name="文本框 20">
            <a:extLst>
              <a:ext uri="{FF2B5EF4-FFF2-40B4-BE49-F238E27FC236}">
                <a16:creationId xmlns:a16="http://schemas.microsoft.com/office/drawing/2014/main" id="{DC5DFED7-CA4F-4B6D-ABA6-F602AD142DB9}"/>
              </a:ext>
            </a:extLst>
          </p:cNvPr>
          <p:cNvSpPr txBox="1"/>
          <p:nvPr/>
        </p:nvSpPr>
        <p:spPr>
          <a:xfrm>
            <a:off x="3635896" y="3795886"/>
            <a:ext cx="1620957" cy="338554"/>
          </a:xfrm>
          <a:prstGeom prst="rect">
            <a:avLst/>
          </a:prstGeom>
          <a:noFill/>
        </p:spPr>
        <p:txBody>
          <a:bodyPr wrap="none" rtlCol="0">
            <a:spAutoFit/>
          </a:bodyPr>
          <a:lstStyle/>
          <a:p>
            <a:r>
              <a:rPr lang="zh-CN" altLang="en-US" sz="1600" b="1" dirty="0">
                <a:solidFill>
                  <a:srgbClr val="1889B4"/>
                </a:solidFill>
                <a:latin typeface="华文楷体" panose="02010600040101010101" pitchFamily="2" charset="-122"/>
                <a:ea typeface="华文楷体" panose="02010600040101010101" pitchFamily="2" charset="-122"/>
              </a:rPr>
              <a:t>认证与密钥协商</a:t>
            </a:r>
          </a:p>
        </p:txBody>
      </p:sp>
      <p:sp>
        <p:nvSpPr>
          <p:cNvPr id="22" name="文本框 21">
            <a:extLst>
              <a:ext uri="{FF2B5EF4-FFF2-40B4-BE49-F238E27FC236}">
                <a16:creationId xmlns:a16="http://schemas.microsoft.com/office/drawing/2014/main" id="{D07D0ADF-F260-4B5C-8A62-06844C736B94}"/>
              </a:ext>
            </a:extLst>
          </p:cNvPr>
          <p:cNvSpPr txBox="1"/>
          <p:nvPr/>
        </p:nvSpPr>
        <p:spPr>
          <a:xfrm>
            <a:off x="3836614" y="4177412"/>
            <a:ext cx="1239442"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安全性激活</a:t>
            </a:r>
          </a:p>
        </p:txBody>
      </p:sp>
      <p:sp>
        <p:nvSpPr>
          <p:cNvPr id="23" name="文本框 22">
            <a:extLst>
              <a:ext uri="{FF2B5EF4-FFF2-40B4-BE49-F238E27FC236}">
                <a16:creationId xmlns:a16="http://schemas.microsoft.com/office/drawing/2014/main" id="{6A74755A-1814-4203-83D5-196CD0050F10}"/>
              </a:ext>
            </a:extLst>
          </p:cNvPr>
          <p:cNvSpPr txBox="1"/>
          <p:nvPr/>
        </p:nvSpPr>
        <p:spPr>
          <a:xfrm>
            <a:off x="3419872" y="4609460"/>
            <a:ext cx="2236510" cy="338554"/>
          </a:xfrm>
          <a:prstGeom prst="rect">
            <a:avLst/>
          </a:prstGeom>
          <a:noFill/>
        </p:spPr>
        <p:txBody>
          <a:bodyPr wrap="none" rtlCol="0">
            <a:spAutoFit/>
          </a:bodyPr>
          <a:lstStyle/>
          <a:p>
            <a:r>
              <a:rPr lang="zh-CN" altLang="en-US" sz="1600" dirty="0">
                <a:latin typeface="华文楷体" panose="02010600040101010101" pitchFamily="2" charset="-122"/>
                <a:ea typeface="华文楷体" panose="02010600040101010101" pitchFamily="2" charset="-122"/>
              </a:rPr>
              <a:t>安全性保护数据的传输</a:t>
            </a:r>
          </a:p>
        </p:txBody>
      </p:sp>
    </p:spTree>
    <p:extLst>
      <p:ext uri="{BB962C8B-B14F-4D97-AF65-F5344CB8AC3E}">
        <p14:creationId xmlns:p14="http://schemas.microsoft.com/office/powerpoint/2010/main" val="4123303764"/>
      </p:ext>
    </p:extLst>
  </p:cSld>
  <p:clrMapOvr>
    <a:masterClrMapping/>
  </p:clrMapOvr>
  <mc:AlternateContent xmlns:mc="http://schemas.openxmlformats.org/markup-compatibility/2006" xmlns:p14="http://schemas.microsoft.com/office/powerpoint/2010/main">
    <mc:Choice Requires="p14">
      <p:transition spd="slow" p14:dur="999"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37794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认证与密钥协商（</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AKA</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mj-lt"/>
              <a:buAutoNum type="arabicPeriod"/>
            </a:pPr>
            <a:endParaRPr lang="zh-CN" altLang="en-US" sz="20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远距离无线接入安全</a:t>
            </a:r>
          </a:p>
        </p:txBody>
      </p:sp>
      <p:sp>
        <p:nvSpPr>
          <p:cNvPr id="25" name="文本框 24">
            <a:extLst>
              <a:ext uri="{FF2B5EF4-FFF2-40B4-BE49-F238E27FC236}">
                <a16:creationId xmlns:a16="http://schemas.microsoft.com/office/drawing/2014/main" id="{8453C465-04FE-4FE4-8AA2-EFC30FCA3E6A}"/>
              </a:ext>
            </a:extLst>
          </p:cNvPr>
          <p:cNvSpPr txBox="1"/>
          <p:nvPr/>
        </p:nvSpPr>
        <p:spPr>
          <a:xfrm>
            <a:off x="755576" y="1780835"/>
            <a:ext cx="7748724" cy="338554"/>
          </a:xfrm>
          <a:prstGeom prst="rect">
            <a:avLst/>
          </a:prstGeom>
          <a:noFill/>
        </p:spPr>
        <p:txBody>
          <a:bodyPr wrap="none" rtlCol="0">
            <a:spAutoFit/>
          </a:bodyPr>
          <a:lstStyle/>
          <a:p>
            <a:r>
              <a:rPr lang="en-US" altLang="zh-CN" sz="1600" b="1" dirty="0">
                <a:latin typeface="Times New Roman" panose="02020603050405020304" pitchFamily="18" charset="0"/>
                <a:ea typeface="华文楷体" panose="02010600040101010101" pitchFamily="2" charset="-122"/>
                <a:cs typeface="Times New Roman" panose="02020603050405020304" pitchFamily="18" charset="0"/>
              </a:rPr>
              <a:t>MS                                               VLR/SGSN                                                           HE/HLR</a:t>
            </a:r>
            <a:endParaRPr lang="zh-CN" altLang="en-US" sz="1600" b="1" dirty="0">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FE7A3DF8-65BF-42B2-A33B-6C91E19A415F}"/>
              </a:ext>
            </a:extLst>
          </p:cNvPr>
          <p:cNvCxnSpPr/>
          <p:nvPr/>
        </p:nvCxnSpPr>
        <p:spPr>
          <a:xfrm>
            <a:off x="1115616" y="2621849"/>
            <a:ext cx="2376264" cy="0"/>
          </a:xfrm>
          <a:prstGeom prst="straightConnector1">
            <a:avLst/>
          </a:prstGeom>
          <a:ln w="12700">
            <a:solidFill>
              <a:schemeClr val="accent1"/>
            </a:solidFill>
            <a:prstDash val="dashDot"/>
            <a:tailEnd type="triangle"/>
          </a:ln>
        </p:spPr>
        <p:style>
          <a:lnRef idx="1">
            <a:schemeClr val="dk1"/>
          </a:lnRef>
          <a:fillRef idx="0">
            <a:schemeClr val="dk1"/>
          </a:fillRef>
          <a:effectRef idx="0">
            <a:schemeClr val="dk1"/>
          </a:effectRef>
          <a:fontRef idx="minor">
            <a:schemeClr val="tx1"/>
          </a:fontRef>
        </p:style>
      </p:cxnSp>
      <p:sp>
        <p:nvSpPr>
          <p:cNvPr id="28" name="文本框 27">
            <a:extLst>
              <a:ext uri="{FF2B5EF4-FFF2-40B4-BE49-F238E27FC236}">
                <a16:creationId xmlns:a16="http://schemas.microsoft.com/office/drawing/2014/main" id="{9A5428A9-46D7-40B0-A07E-647E9388D680}"/>
              </a:ext>
            </a:extLst>
          </p:cNvPr>
          <p:cNvSpPr txBox="1"/>
          <p:nvPr/>
        </p:nvSpPr>
        <p:spPr>
          <a:xfrm>
            <a:off x="1670401" y="2301578"/>
            <a:ext cx="1266693" cy="307777"/>
          </a:xfrm>
          <a:prstGeom prst="rect">
            <a:avLst/>
          </a:prstGeom>
          <a:noFill/>
        </p:spPr>
        <p:txBody>
          <a:bodyPr wrap="none" rtlCol="0">
            <a:spAutoFit/>
          </a:bodyPr>
          <a:lstStyle/>
          <a:p>
            <a:r>
              <a:rPr lang="zh-CN" altLang="en-US" sz="1400" dirty="0">
                <a:solidFill>
                  <a:srgbClr val="1889B4"/>
                </a:solidFill>
                <a:latin typeface="华文楷体" panose="02010600040101010101" pitchFamily="2" charset="-122"/>
                <a:ea typeface="华文楷体" panose="02010600040101010101" pitchFamily="2" charset="-122"/>
              </a:rPr>
              <a:t>注册请求</a:t>
            </a:r>
            <a:r>
              <a:rPr lang="en-US" altLang="zh-CN" sz="1400" dirty="0">
                <a:solidFill>
                  <a:srgbClr val="1889B4"/>
                </a:solidFill>
                <a:latin typeface="华文楷体" panose="02010600040101010101" pitchFamily="2" charset="-122"/>
                <a:ea typeface="华文楷体" panose="02010600040101010101" pitchFamily="2" charset="-122"/>
              </a:rPr>
              <a:t>IMSI</a:t>
            </a:r>
            <a:endParaRPr lang="zh-CN" altLang="en-US" sz="1400" dirty="0">
              <a:solidFill>
                <a:srgbClr val="1889B4"/>
              </a:solidFill>
              <a:latin typeface="华文楷体" panose="02010600040101010101" pitchFamily="2" charset="-122"/>
              <a:ea typeface="华文楷体" panose="02010600040101010101" pitchFamily="2" charset="-122"/>
            </a:endParaRPr>
          </a:p>
        </p:txBody>
      </p:sp>
      <p:sp>
        <p:nvSpPr>
          <p:cNvPr id="29" name="文本框 28">
            <a:extLst>
              <a:ext uri="{FF2B5EF4-FFF2-40B4-BE49-F238E27FC236}">
                <a16:creationId xmlns:a16="http://schemas.microsoft.com/office/drawing/2014/main" id="{30D22CFB-FCDA-45C0-8D13-56AD909BA1FC}"/>
              </a:ext>
            </a:extLst>
          </p:cNvPr>
          <p:cNvSpPr txBox="1"/>
          <p:nvPr/>
        </p:nvSpPr>
        <p:spPr>
          <a:xfrm>
            <a:off x="5076056" y="2301578"/>
            <a:ext cx="1625766" cy="307777"/>
          </a:xfrm>
          <a:prstGeom prst="rect">
            <a:avLst/>
          </a:prstGeom>
          <a:noFill/>
        </p:spPr>
        <p:txBody>
          <a:bodyPr wrap="none" rtlCol="0">
            <a:spAutoFit/>
          </a:bodyPr>
          <a:lstStyle/>
          <a:p>
            <a:r>
              <a:rPr lang="zh-CN" altLang="en-US" sz="1400" dirty="0">
                <a:solidFill>
                  <a:srgbClr val="1889B4"/>
                </a:solidFill>
                <a:latin typeface="华文楷体" panose="02010600040101010101" pitchFamily="2" charset="-122"/>
                <a:ea typeface="华文楷体" panose="02010600040101010101" pitchFamily="2" charset="-122"/>
              </a:rPr>
              <a:t>认证数据请求</a:t>
            </a:r>
            <a:r>
              <a:rPr lang="en-US" altLang="zh-CN" sz="1400" dirty="0">
                <a:solidFill>
                  <a:srgbClr val="1889B4"/>
                </a:solidFill>
                <a:latin typeface="华文楷体" panose="02010600040101010101" pitchFamily="2" charset="-122"/>
                <a:ea typeface="华文楷体" panose="02010600040101010101" pitchFamily="2" charset="-122"/>
              </a:rPr>
              <a:t>IMSI</a:t>
            </a:r>
            <a:endParaRPr lang="zh-CN" altLang="en-US" sz="1400" dirty="0">
              <a:solidFill>
                <a:srgbClr val="1889B4"/>
              </a:solidFill>
              <a:latin typeface="华文楷体" panose="02010600040101010101" pitchFamily="2" charset="-122"/>
              <a:ea typeface="华文楷体" panose="02010600040101010101" pitchFamily="2" charset="-122"/>
            </a:endParaRPr>
          </a:p>
        </p:txBody>
      </p:sp>
      <p:cxnSp>
        <p:nvCxnSpPr>
          <p:cNvPr id="30" name="直接箭头连接符 29">
            <a:extLst>
              <a:ext uri="{FF2B5EF4-FFF2-40B4-BE49-F238E27FC236}">
                <a16:creationId xmlns:a16="http://schemas.microsoft.com/office/drawing/2014/main" id="{3A36E39E-D6DD-40D6-8245-F9871EAE7646}"/>
              </a:ext>
            </a:extLst>
          </p:cNvPr>
          <p:cNvCxnSpPr/>
          <p:nvPr/>
        </p:nvCxnSpPr>
        <p:spPr>
          <a:xfrm>
            <a:off x="4499992" y="2621849"/>
            <a:ext cx="2988000" cy="0"/>
          </a:xfrm>
          <a:prstGeom prst="straightConnector1">
            <a:avLst/>
          </a:prstGeom>
          <a:ln w="12700">
            <a:solidFill>
              <a:schemeClr val="accent1"/>
            </a:solidFill>
            <a:prstDash val="solid"/>
            <a:tailEnd type="triangle"/>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B0E2C0A6-7441-4E4A-A343-0F0C2DD8DF54}"/>
              </a:ext>
            </a:extLst>
          </p:cNvPr>
          <p:cNvCxnSpPr>
            <a:cxnSpLocks/>
          </p:cNvCxnSpPr>
          <p:nvPr/>
        </p:nvCxnSpPr>
        <p:spPr>
          <a:xfrm flipH="1">
            <a:off x="4499992" y="3341929"/>
            <a:ext cx="2988000" cy="0"/>
          </a:xfrm>
          <a:prstGeom prst="straightConnector1">
            <a:avLst/>
          </a:prstGeom>
          <a:ln w="12700">
            <a:solidFill>
              <a:schemeClr val="accent1"/>
            </a:solidFill>
            <a:prstDash val="solid"/>
            <a:tailEnd type="triangle"/>
          </a:ln>
        </p:spPr>
        <p:style>
          <a:lnRef idx="1">
            <a:schemeClr val="dk1"/>
          </a:lnRef>
          <a:fillRef idx="0">
            <a:schemeClr val="dk1"/>
          </a:fillRef>
          <a:effectRef idx="0">
            <a:schemeClr val="dk1"/>
          </a:effectRef>
          <a:fontRef idx="minor">
            <a:schemeClr val="tx1"/>
          </a:fontRef>
        </p:style>
      </p:cxnSp>
      <p:sp>
        <p:nvSpPr>
          <p:cNvPr id="32" name="文本框 31">
            <a:extLst>
              <a:ext uri="{FF2B5EF4-FFF2-40B4-BE49-F238E27FC236}">
                <a16:creationId xmlns:a16="http://schemas.microsoft.com/office/drawing/2014/main" id="{173BAAAD-CF0D-4804-B07F-6B4E40BEBF6A}"/>
              </a:ext>
            </a:extLst>
          </p:cNvPr>
          <p:cNvSpPr txBox="1"/>
          <p:nvPr/>
        </p:nvSpPr>
        <p:spPr>
          <a:xfrm>
            <a:off x="5364088" y="3034152"/>
            <a:ext cx="1261884" cy="307777"/>
          </a:xfrm>
          <a:prstGeom prst="rect">
            <a:avLst/>
          </a:prstGeom>
          <a:noFill/>
        </p:spPr>
        <p:txBody>
          <a:bodyPr wrap="none" rtlCol="0">
            <a:spAutoFit/>
          </a:bodyPr>
          <a:lstStyle/>
          <a:p>
            <a:r>
              <a:rPr lang="zh-CN" altLang="en-US" sz="1400" dirty="0">
                <a:solidFill>
                  <a:srgbClr val="1889B4"/>
                </a:solidFill>
                <a:latin typeface="华文楷体" panose="02010600040101010101" pitchFamily="2" charset="-122"/>
                <a:ea typeface="华文楷体" panose="02010600040101010101" pitchFamily="2" charset="-122"/>
              </a:rPr>
              <a:t>认证数据响应</a:t>
            </a:r>
          </a:p>
        </p:txBody>
      </p:sp>
      <p:sp>
        <p:nvSpPr>
          <p:cNvPr id="33" name="文本框 32">
            <a:extLst>
              <a:ext uri="{FF2B5EF4-FFF2-40B4-BE49-F238E27FC236}">
                <a16:creationId xmlns:a16="http://schemas.microsoft.com/office/drawing/2014/main" id="{E0A7BB59-40E8-46B7-B67B-0939FF428137}"/>
              </a:ext>
            </a:extLst>
          </p:cNvPr>
          <p:cNvSpPr txBox="1"/>
          <p:nvPr/>
        </p:nvSpPr>
        <p:spPr>
          <a:xfrm>
            <a:off x="4644008" y="3341929"/>
            <a:ext cx="2973314" cy="276999"/>
          </a:xfrm>
          <a:prstGeom prst="rect">
            <a:avLst/>
          </a:prstGeom>
          <a:noFill/>
        </p:spPr>
        <p:txBody>
          <a:bodyPr wrap="none" rtlCol="0">
            <a:spAutoFit/>
          </a:bodyPr>
          <a:lstStyle/>
          <a:p>
            <a:r>
              <a:rPr lang="en-US" altLang="zh-CN"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AV(1...n) = (RAND||XRES||CK||IK||AUTN)n</a:t>
            </a:r>
            <a:endParaRPr lang="zh-CN" altLang="en-US" sz="12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34" name="直接箭头连接符 33">
            <a:extLst>
              <a:ext uri="{FF2B5EF4-FFF2-40B4-BE49-F238E27FC236}">
                <a16:creationId xmlns:a16="http://schemas.microsoft.com/office/drawing/2014/main" id="{E82B5559-13C4-40C0-ACC4-D360961756AF}"/>
              </a:ext>
            </a:extLst>
          </p:cNvPr>
          <p:cNvCxnSpPr>
            <a:cxnSpLocks/>
          </p:cNvCxnSpPr>
          <p:nvPr/>
        </p:nvCxnSpPr>
        <p:spPr>
          <a:xfrm flipH="1">
            <a:off x="1115616" y="3341929"/>
            <a:ext cx="2304000" cy="0"/>
          </a:xfrm>
          <a:prstGeom prst="straightConnector1">
            <a:avLst/>
          </a:prstGeom>
          <a:ln w="12700">
            <a:solidFill>
              <a:schemeClr val="accent1"/>
            </a:solidFill>
            <a:prstDash val="solid"/>
            <a:tailEnd type="triangle"/>
          </a:ln>
        </p:spPr>
        <p:style>
          <a:lnRef idx="1">
            <a:schemeClr val="dk1"/>
          </a:lnRef>
          <a:fillRef idx="0">
            <a:schemeClr val="dk1"/>
          </a:fillRef>
          <a:effectRef idx="0">
            <a:schemeClr val="dk1"/>
          </a:effectRef>
          <a:fontRef idx="minor">
            <a:schemeClr val="tx1"/>
          </a:fontRef>
        </p:style>
      </p:cxnSp>
      <p:sp>
        <p:nvSpPr>
          <p:cNvPr id="35" name="文本框 34">
            <a:extLst>
              <a:ext uri="{FF2B5EF4-FFF2-40B4-BE49-F238E27FC236}">
                <a16:creationId xmlns:a16="http://schemas.microsoft.com/office/drawing/2014/main" id="{7AF15FA3-982D-4B95-9214-38AB0A33AEB8}"/>
              </a:ext>
            </a:extLst>
          </p:cNvPr>
          <p:cNvSpPr txBox="1"/>
          <p:nvPr/>
        </p:nvSpPr>
        <p:spPr>
          <a:xfrm>
            <a:off x="1115616" y="3034152"/>
            <a:ext cx="2340705" cy="307777"/>
          </a:xfrm>
          <a:prstGeom prst="rect">
            <a:avLst/>
          </a:prstGeom>
          <a:noFill/>
        </p:spPr>
        <p:txBody>
          <a:bodyPr wrap="none" rtlCol="0">
            <a:spAutoFit/>
          </a:bodyPr>
          <a:lstStyle/>
          <a:p>
            <a:r>
              <a:rPr lang="zh-CN" altLang="en-US" sz="14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用户认证请求</a:t>
            </a:r>
            <a:r>
              <a:rPr lang="en-US" altLang="zh-CN" sz="14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RAND||AUTN</a:t>
            </a:r>
            <a:endParaRPr lang="zh-CN" altLang="en-US" sz="14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cxnSp>
        <p:nvCxnSpPr>
          <p:cNvPr id="36" name="直接箭头连接符 35">
            <a:extLst>
              <a:ext uri="{FF2B5EF4-FFF2-40B4-BE49-F238E27FC236}">
                <a16:creationId xmlns:a16="http://schemas.microsoft.com/office/drawing/2014/main" id="{8E207382-4A3F-403D-95CA-9D1E38246969}"/>
              </a:ext>
            </a:extLst>
          </p:cNvPr>
          <p:cNvCxnSpPr>
            <a:cxnSpLocks/>
          </p:cNvCxnSpPr>
          <p:nvPr/>
        </p:nvCxnSpPr>
        <p:spPr>
          <a:xfrm>
            <a:off x="1115616" y="4062009"/>
            <a:ext cx="2304000" cy="0"/>
          </a:xfrm>
          <a:prstGeom prst="straightConnector1">
            <a:avLst/>
          </a:prstGeom>
          <a:ln w="12700">
            <a:solidFill>
              <a:schemeClr val="accent1"/>
            </a:solidFill>
            <a:prstDash val="solid"/>
            <a:tailEnd type="triangle"/>
          </a:ln>
        </p:spPr>
        <p:style>
          <a:lnRef idx="1">
            <a:schemeClr val="dk1"/>
          </a:lnRef>
          <a:fillRef idx="0">
            <a:schemeClr val="dk1"/>
          </a:fillRef>
          <a:effectRef idx="0">
            <a:schemeClr val="dk1"/>
          </a:effectRef>
          <a:fontRef idx="minor">
            <a:schemeClr val="tx1"/>
          </a:fontRef>
        </p:style>
      </p:cxnSp>
      <p:sp>
        <p:nvSpPr>
          <p:cNvPr id="37" name="文本框 36">
            <a:extLst>
              <a:ext uri="{FF2B5EF4-FFF2-40B4-BE49-F238E27FC236}">
                <a16:creationId xmlns:a16="http://schemas.microsoft.com/office/drawing/2014/main" id="{1C7BEDF6-0354-4456-99F0-7C45F2B27EF9}"/>
              </a:ext>
            </a:extLst>
          </p:cNvPr>
          <p:cNvSpPr txBox="1"/>
          <p:nvPr/>
        </p:nvSpPr>
        <p:spPr>
          <a:xfrm>
            <a:off x="1424448" y="3754232"/>
            <a:ext cx="1635384" cy="307777"/>
          </a:xfrm>
          <a:prstGeom prst="rect">
            <a:avLst/>
          </a:prstGeom>
          <a:noFill/>
        </p:spPr>
        <p:txBody>
          <a:bodyPr wrap="none" rtlCol="0">
            <a:spAutoFit/>
          </a:bodyPr>
          <a:lstStyle/>
          <a:p>
            <a:r>
              <a:rPr lang="zh-CN" altLang="en-US" sz="14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用户认证响应 </a:t>
            </a:r>
            <a:r>
              <a:rPr lang="en-US" altLang="zh-CN" sz="14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rPr>
              <a:t>RES</a:t>
            </a:r>
            <a:endParaRPr lang="zh-CN" altLang="en-US" sz="1400" dirty="0">
              <a:solidFill>
                <a:srgbClr val="1889B4"/>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8" name="文本框 37">
            <a:extLst>
              <a:ext uri="{FF2B5EF4-FFF2-40B4-BE49-F238E27FC236}">
                <a16:creationId xmlns:a16="http://schemas.microsoft.com/office/drawing/2014/main" id="{72A96712-9472-4DD3-83B6-EB6883233F62}"/>
              </a:ext>
            </a:extLst>
          </p:cNvPr>
          <p:cNvSpPr txBox="1"/>
          <p:nvPr/>
        </p:nvSpPr>
        <p:spPr>
          <a:xfrm>
            <a:off x="683568" y="2409300"/>
            <a:ext cx="4035079" cy="307777"/>
          </a:xfrm>
          <a:prstGeom prst="rect">
            <a:avLst/>
          </a:prstGeom>
          <a:noFill/>
        </p:spPr>
        <p:txBody>
          <a:bodyPr wrap="none" rtlCol="0">
            <a:spAutoFit/>
          </a:bodyPr>
          <a:lstStyle/>
          <a:p>
            <a:r>
              <a:rPr lang="zh-CN" altLang="en-US" sz="1400" dirty="0">
                <a:latin typeface="华文楷体" panose="02010600040101010101" pitchFamily="2" charset="-122"/>
                <a:ea typeface="华文楷体" panose="02010600040101010101" pitchFamily="2" charset="-122"/>
              </a:rPr>
              <a:t>（</a:t>
            </a:r>
            <a:r>
              <a:rPr lang="en-US" altLang="zh-CN" sz="1400" dirty="0">
                <a:latin typeface="华文楷体" panose="02010600040101010101" pitchFamily="2" charset="-122"/>
                <a:ea typeface="华文楷体" panose="02010600040101010101" pitchFamily="2" charset="-122"/>
              </a:rPr>
              <a:t>1</a:t>
            </a:r>
            <a:r>
              <a:rPr lang="zh-CN" altLang="en-US" sz="1400" dirty="0">
                <a:latin typeface="华文楷体" panose="02010600040101010101" pitchFamily="2" charset="-122"/>
                <a:ea typeface="华文楷体" panose="02010600040101010101" pitchFamily="2" charset="-122"/>
              </a:rPr>
              <a:t>）                                                                  （</a:t>
            </a:r>
            <a:r>
              <a:rPr lang="en-US" altLang="zh-CN" sz="1400" dirty="0">
                <a:latin typeface="华文楷体" panose="02010600040101010101" pitchFamily="2" charset="-122"/>
                <a:ea typeface="华文楷体" panose="02010600040101010101" pitchFamily="2" charset="-122"/>
              </a:rPr>
              <a:t>2</a:t>
            </a:r>
            <a:r>
              <a:rPr lang="zh-CN" altLang="en-US" sz="1400" dirty="0">
                <a:latin typeface="华文楷体" panose="02010600040101010101" pitchFamily="2" charset="-122"/>
                <a:ea typeface="华文楷体" panose="02010600040101010101" pitchFamily="2" charset="-122"/>
              </a:rPr>
              <a:t>）</a:t>
            </a:r>
          </a:p>
        </p:txBody>
      </p:sp>
      <p:sp>
        <p:nvSpPr>
          <p:cNvPr id="39" name="文本框 38">
            <a:extLst>
              <a:ext uri="{FF2B5EF4-FFF2-40B4-BE49-F238E27FC236}">
                <a16:creationId xmlns:a16="http://schemas.microsoft.com/office/drawing/2014/main" id="{E34CA96A-A25E-4FE5-93E5-813BB715CE75}"/>
              </a:ext>
            </a:extLst>
          </p:cNvPr>
          <p:cNvSpPr txBox="1"/>
          <p:nvPr/>
        </p:nvSpPr>
        <p:spPr>
          <a:xfrm>
            <a:off x="3273225" y="3125905"/>
            <a:ext cx="4708340" cy="307777"/>
          </a:xfrm>
          <a:prstGeom prst="rect">
            <a:avLst/>
          </a:prstGeom>
          <a:noFill/>
        </p:spPr>
        <p:txBody>
          <a:bodyPr wrap="none" rtlCol="0">
            <a:spAutoFit/>
          </a:bodyPr>
          <a:lstStyle/>
          <a:p>
            <a:r>
              <a:rPr lang="zh-CN" altLang="en-US" sz="1400" dirty="0">
                <a:latin typeface="华文楷体" panose="02010600040101010101" pitchFamily="2" charset="-122"/>
                <a:ea typeface="华文楷体" panose="02010600040101010101" pitchFamily="2" charset="-122"/>
              </a:rPr>
              <a:t>（</a:t>
            </a:r>
            <a:r>
              <a:rPr lang="en-US" altLang="zh-CN" sz="1400" dirty="0">
                <a:latin typeface="华文楷体" panose="02010600040101010101" pitchFamily="2" charset="-122"/>
                <a:ea typeface="华文楷体" panose="02010600040101010101" pitchFamily="2" charset="-122"/>
              </a:rPr>
              <a:t>4</a:t>
            </a:r>
            <a:r>
              <a:rPr lang="zh-CN" altLang="en-US" sz="1400" dirty="0">
                <a:latin typeface="华文楷体" panose="02010600040101010101" pitchFamily="2" charset="-122"/>
                <a:ea typeface="华文楷体" panose="02010600040101010101" pitchFamily="2" charset="-122"/>
              </a:rPr>
              <a:t>）                                                                                 （</a:t>
            </a:r>
            <a:r>
              <a:rPr lang="en-US" altLang="zh-CN" sz="1400" dirty="0">
                <a:latin typeface="华文楷体" panose="02010600040101010101" pitchFamily="2" charset="-122"/>
                <a:ea typeface="华文楷体" panose="02010600040101010101" pitchFamily="2" charset="-122"/>
              </a:rPr>
              <a:t>3</a:t>
            </a:r>
            <a:r>
              <a:rPr lang="zh-CN" altLang="en-US" sz="1400" dirty="0">
                <a:latin typeface="华文楷体" panose="02010600040101010101" pitchFamily="2" charset="-122"/>
                <a:ea typeface="华文楷体" panose="02010600040101010101" pitchFamily="2" charset="-122"/>
              </a:rPr>
              <a:t>）</a:t>
            </a:r>
          </a:p>
        </p:txBody>
      </p:sp>
      <p:sp>
        <p:nvSpPr>
          <p:cNvPr id="40" name="文本框 39">
            <a:extLst>
              <a:ext uri="{FF2B5EF4-FFF2-40B4-BE49-F238E27FC236}">
                <a16:creationId xmlns:a16="http://schemas.microsoft.com/office/drawing/2014/main" id="{71046A7F-6226-4A12-B498-62C928A0D876}"/>
              </a:ext>
            </a:extLst>
          </p:cNvPr>
          <p:cNvSpPr txBox="1"/>
          <p:nvPr/>
        </p:nvSpPr>
        <p:spPr>
          <a:xfrm>
            <a:off x="683568" y="3848149"/>
            <a:ext cx="3591048" cy="307777"/>
          </a:xfrm>
          <a:prstGeom prst="rect">
            <a:avLst/>
          </a:prstGeom>
          <a:noFill/>
        </p:spPr>
        <p:txBody>
          <a:bodyPr wrap="none" rtlCol="0">
            <a:spAutoFit/>
          </a:bodyPr>
          <a:lstStyle/>
          <a:p>
            <a:r>
              <a:rPr lang="zh-CN" altLang="en-US" sz="1400" dirty="0">
                <a:latin typeface="华文楷体" panose="02010600040101010101" pitchFamily="2" charset="-122"/>
                <a:ea typeface="华文楷体" panose="02010600040101010101" pitchFamily="2" charset="-122"/>
              </a:rPr>
              <a:t>（</a:t>
            </a:r>
            <a:r>
              <a:rPr lang="en-US" altLang="zh-CN" sz="1400" dirty="0">
                <a:latin typeface="华文楷体" panose="02010600040101010101" pitchFamily="2" charset="-122"/>
                <a:ea typeface="华文楷体" panose="02010600040101010101" pitchFamily="2" charset="-122"/>
              </a:rPr>
              <a:t>5</a:t>
            </a:r>
            <a:r>
              <a:rPr lang="zh-CN" altLang="en-US" sz="1400" dirty="0">
                <a:latin typeface="华文楷体" panose="02010600040101010101" pitchFamily="2" charset="-122"/>
                <a:ea typeface="华文楷体" panose="02010600040101010101" pitchFamily="2" charset="-122"/>
              </a:rPr>
              <a:t>）                                                                  </a:t>
            </a:r>
          </a:p>
        </p:txBody>
      </p:sp>
    </p:spTree>
    <p:extLst>
      <p:ext uri="{BB962C8B-B14F-4D97-AF65-F5344CB8AC3E}">
        <p14:creationId xmlns:p14="http://schemas.microsoft.com/office/powerpoint/2010/main" val="130039016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175182"/>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无线局域网安全</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无线局域网信道开放的特点潜藏着窃听、未经授权使用网络服务、地址欺骗和会话拦截等多种信息安全风险</a:t>
            </a:r>
          </a:p>
          <a:p>
            <a:pPr marL="342900" indent="-342900">
              <a:lnSpc>
                <a:spcPct val="130000"/>
              </a:lnSpc>
              <a:spcBef>
                <a:spcPts val="300"/>
              </a:spcBef>
              <a:spcAft>
                <a:spcPts val="300"/>
              </a:spcAft>
              <a:buFont typeface="Wingdings" panose="05000000000000000000" pitchFamily="2" charset="2"/>
              <a:buChar char="n"/>
            </a:pPr>
            <a:r>
              <a:rPr lang="zh-CN" altLang="en-US"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到目前为止，无线局域网可用的安全技术：</a:t>
            </a:r>
            <a:endParaRPr lang="en-US" altLang="zh-CN"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）物理地址（</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）过滤</a:t>
            </a: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每个无线客户端网卡都有唯一的一个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48</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位的物理地址（</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）标识，可在无线局域网的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Access Point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）中手工维护一组允许访问的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地址列表，实现基于物理地址的过滤</a:t>
            </a:r>
          </a:p>
          <a:p>
            <a:pPr marL="342900" indent="-34290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这种方法的效率会随着终端数量的增加而降低，而且非法用户可以通过网络侦听取得合法的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地址表，而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址不难修改，因此，非法用户可能盗用合法用户的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地址来达到非法接入的目的</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近距离无线接入安全</a:t>
            </a:r>
          </a:p>
        </p:txBody>
      </p:sp>
    </p:spTree>
    <p:extLst>
      <p:ext uri="{BB962C8B-B14F-4D97-AF65-F5344CB8AC3E}">
        <p14:creationId xmlns:p14="http://schemas.microsoft.com/office/powerpoint/2010/main" val="43192136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1900713"/>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2</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）服务区标识符（</a:t>
            </a:r>
            <a:r>
              <a:rPr lang="en-US" altLang="zh-CN"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SSID</a:t>
            </a:r>
            <a:r>
              <a:rPr lang="zh-CN" altLang="en-US" sz="1600" b="1"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）匹配</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无线客户端必需设置与无线访问点</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相同的服务区标识符</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SSID</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，才能访问</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AP</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利用</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SSID</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设置，可以实现用户群体分组，避免任意漫游带来的安全和访问性能问题</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可以通过设置隐藏接入点（</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AP</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）及</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SSID</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区域的划分和权限控制来达到保密的目的，</a:t>
            </a:r>
            <a:r>
              <a:rPr lang="en-US" altLang="zh-CN"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SSID</a:t>
            </a:r>
            <a:r>
              <a:rPr lang="zh-CN" altLang="en-US" sz="1600"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相当于一个口令，通过提供口令认证机制来实现一定的安全</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9595862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4293163"/>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）有线对等保密（</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机制对客户和访问点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间无线传输的数据进行加密和认证。认证被用于代替有线媒体的物理连接；保密被用于提供封闭式有线媒体的机密性</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它使用了对称密钥加密算法和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RC4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序列密码体制手段用来加密位于移动单元和基站之间的无线网络连接通信</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加密过程中，所使用的密钥（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40</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位）与一个初始矢量（</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IV</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位）联结在一起成为一个</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位的密钥（种子）。</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位的密钥作为伪随机数发生器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PRNG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的输入，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PRNG</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RC4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生成）输出一个伪随机密钥序列，该序列通过按位异或来加密数据</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要阻止非授权的数据篡改，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的完整性校验基于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CRC32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校验和，即</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CRC32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作用于明文以产生完整性校验值</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ICV</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。最终得到的加密字节的长度等于被传输的数据字节的长度再加上</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个字节，这是因为密钥序列不仅保护明文数据，也保护完整性校验值</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ICV</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解密过程相反</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48400963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
        <p:nvSpPr>
          <p:cNvPr id="6" name="矩形 5">
            <a:extLst>
              <a:ext uri="{FF2B5EF4-FFF2-40B4-BE49-F238E27FC236}">
                <a16:creationId xmlns:a16="http://schemas.microsoft.com/office/drawing/2014/main" id="{CBB37D2C-6495-4257-A1A4-1DEEF87DD8C5}"/>
              </a:ext>
            </a:extLst>
          </p:cNvPr>
          <p:cNvSpPr/>
          <p:nvPr/>
        </p:nvSpPr>
        <p:spPr>
          <a:xfrm>
            <a:off x="973606" y="2056958"/>
            <a:ext cx="360040" cy="5040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Times New Roman" panose="02020603050405020304" pitchFamily="18" charset="0"/>
                <a:cs typeface="Times New Roman" panose="02020603050405020304" pitchFamily="18" charset="0"/>
              </a:rPr>
              <a:t>||</a:t>
            </a:r>
            <a:endParaRPr lang="zh-CN" altLang="en-US" dirty="0">
              <a:solidFill>
                <a:schemeClr val="tx1"/>
              </a:solidFill>
              <a:latin typeface="Times New Roman" panose="02020603050405020304" pitchFamily="18" charset="0"/>
              <a:cs typeface="Times New Roman" panose="02020603050405020304" pitchFamily="18" charset="0"/>
            </a:endParaRPr>
          </a:p>
        </p:txBody>
      </p:sp>
      <p:sp>
        <p:nvSpPr>
          <p:cNvPr id="7" name="矩形 6">
            <a:extLst>
              <a:ext uri="{FF2B5EF4-FFF2-40B4-BE49-F238E27FC236}">
                <a16:creationId xmlns:a16="http://schemas.microsoft.com/office/drawing/2014/main" id="{4FEFA35E-B030-4AA7-AEA2-429CD7E6671E}"/>
              </a:ext>
            </a:extLst>
          </p:cNvPr>
          <p:cNvSpPr/>
          <p:nvPr/>
        </p:nvSpPr>
        <p:spPr>
          <a:xfrm>
            <a:off x="1835696" y="2056958"/>
            <a:ext cx="499058" cy="5040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WEP</a:t>
            </a:r>
          </a:p>
          <a:p>
            <a:pPr algn="ctr"/>
            <a:r>
              <a:rPr lang="en-US" altLang="zh-CN" sz="1200" b="1" dirty="0">
                <a:solidFill>
                  <a:schemeClr val="tx1"/>
                </a:solidFill>
                <a:latin typeface="Times New Roman" panose="02020603050405020304" pitchFamily="18" charset="0"/>
                <a:cs typeface="Times New Roman" panose="02020603050405020304" pitchFamily="18" charset="0"/>
              </a:rPr>
              <a:t>PRNG</a:t>
            </a:r>
            <a:endParaRPr lang="zh-CN" altLang="en-US" sz="1200" b="1" dirty="0">
              <a:solidFill>
                <a:schemeClr val="tx1"/>
              </a:solidFill>
              <a:latin typeface="Times New Roman" panose="02020603050405020304" pitchFamily="18" charset="0"/>
              <a:cs typeface="Times New Roman" panose="02020603050405020304" pitchFamily="18" charset="0"/>
            </a:endParaRPr>
          </a:p>
        </p:txBody>
      </p:sp>
      <p:sp>
        <p:nvSpPr>
          <p:cNvPr id="8" name="矩形 7">
            <a:extLst>
              <a:ext uri="{FF2B5EF4-FFF2-40B4-BE49-F238E27FC236}">
                <a16:creationId xmlns:a16="http://schemas.microsoft.com/office/drawing/2014/main" id="{172CFBC0-7A4A-4210-97BC-4F23BEED4D76}"/>
              </a:ext>
            </a:extLst>
          </p:cNvPr>
          <p:cNvSpPr/>
          <p:nvPr/>
        </p:nvSpPr>
        <p:spPr>
          <a:xfrm>
            <a:off x="3131840" y="2139702"/>
            <a:ext cx="432000" cy="540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XOR</a:t>
            </a:r>
            <a:endParaRPr lang="zh-CN" altLang="en-US" sz="1200" b="1" dirty="0">
              <a:solidFill>
                <a:schemeClr val="tx1"/>
              </a:solidFill>
              <a:latin typeface="Times New Roman" panose="02020603050405020304" pitchFamily="18" charset="0"/>
              <a:cs typeface="Times New Roman" panose="02020603050405020304" pitchFamily="18" charset="0"/>
            </a:endParaRPr>
          </a:p>
        </p:txBody>
      </p:sp>
      <p:sp>
        <p:nvSpPr>
          <p:cNvPr id="9" name="矩形 8">
            <a:extLst>
              <a:ext uri="{FF2B5EF4-FFF2-40B4-BE49-F238E27FC236}">
                <a16:creationId xmlns:a16="http://schemas.microsoft.com/office/drawing/2014/main" id="{C7C10E43-C36C-4F4A-A1D4-D59E683A16E7}"/>
              </a:ext>
            </a:extLst>
          </p:cNvPr>
          <p:cNvSpPr/>
          <p:nvPr/>
        </p:nvSpPr>
        <p:spPr>
          <a:xfrm>
            <a:off x="2411760" y="2715766"/>
            <a:ext cx="338412" cy="576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a:t>
            </a:r>
            <a:endParaRPr lang="zh-CN" altLang="en-US" sz="1200" b="1" dirty="0">
              <a:solidFill>
                <a:schemeClr val="tx1"/>
              </a:solidFill>
              <a:latin typeface="Times New Roman" panose="02020603050405020304" pitchFamily="18" charset="0"/>
              <a:cs typeface="Times New Roman" panose="02020603050405020304" pitchFamily="18" charset="0"/>
            </a:endParaRPr>
          </a:p>
        </p:txBody>
      </p:sp>
      <p:sp>
        <p:nvSpPr>
          <p:cNvPr id="10" name="矩形 9">
            <a:extLst>
              <a:ext uri="{FF2B5EF4-FFF2-40B4-BE49-F238E27FC236}">
                <a16:creationId xmlns:a16="http://schemas.microsoft.com/office/drawing/2014/main" id="{7E930168-1217-444A-AEDF-67D121E0AFA0}"/>
              </a:ext>
            </a:extLst>
          </p:cNvPr>
          <p:cNvSpPr/>
          <p:nvPr/>
        </p:nvSpPr>
        <p:spPr>
          <a:xfrm>
            <a:off x="971407" y="3024072"/>
            <a:ext cx="936297" cy="26775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完整性算法</a:t>
            </a:r>
          </a:p>
        </p:txBody>
      </p:sp>
      <p:cxnSp>
        <p:nvCxnSpPr>
          <p:cNvPr id="12" name="直接箭头连接符 11">
            <a:extLst>
              <a:ext uri="{FF2B5EF4-FFF2-40B4-BE49-F238E27FC236}">
                <a16:creationId xmlns:a16="http://schemas.microsoft.com/office/drawing/2014/main" id="{9F15356C-B6D2-4B91-B03D-1D156DAEE2AD}"/>
              </a:ext>
            </a:extLst>
          </p:cNvPr>
          <p:cNvCxnSpPr>
            <a:stCxn id="6" idx="3"/>
            <a:endCxn id="7" idx="1"/>
          </p:cNvCxnSpPr>
          <p:nvPr/>
        </p:nvCxnSpPr>
        <p:spPr>
          <a:xfrm>
            <a:off x="1333646" y="2308986"/>
            <a:ext cx="50205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8695405D-E92F-4CD7-B4EA-4262639C17AE}"/>
              </a:ext>
            </a:extLst>
          </p:cNvPr>
          <p:cNvSpPr/>
          <p:nvPr/>
        </p:nvSpPr>
        <p:spPr>
          <a:xfrm>
            <a:off x="3851920" y="2074811"/>
            <a:ext cx="504000" cy="504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密文</a:t>
            </a:r>
          </a:p>
        </p:txBody>
      </p:sp>
      <p:sp>
        <p:nvSpPr>
          <p:cNvPr id="15" name="矩形 14">
            <a:extLst>
              <a:ext uri="{FF2B5EF4-FFF2-40B4-BE49-F238E27FC236}">
                <a16:creationId xmlns:a16="http://schemas.microsoft.com/office/drawing/2014/main" id="{85D918F7-37CD-40B4-BB12-D777ECCB928C}"/>
              </a:ext>
            </a:extLst>
          </p:cNvPr>
          <p:cNvSpPr/>
          <p:nvPr/>
        </p:nvSpPr>
        <p:spPr>
          <a:xfrm>
            <a:off x="3851920" y="1815694"/>
            <a:ext cx="504000" cy="25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IV</a:t>
            </a:r>
            <a:endParaRPr lang="zh-CN" altLang="en-US" sz="12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endParaRPr>
          </a:p>
        </p:txBody>
      </p:sp>
      <p:cxnSp>
        <p:nvCxnSpPr>
          <p:cNvPr id="16" name="直接箭头连接符 15">
            <a:extLst>
              <a:ext uri="{FF2B5EF4-FFF2-40B4-BE49-F238E27FC236}">
                <a16:creationId xmlns:a16="http://schemas.microsoft.com/office/drawing/2014/main" id="{1BBB907E-0DEC-4398-BAF3-0274011FE16D}"/>
              </a:ext>
            </a:extLst>
          </p:cNvPr>
          <p:cNvCxnSpPr/>
          <p:nvPr/>
        </p:nvCxnSpPr>
        <p:spPr>
          <a:xfrm>
            <a:off x="2334754" y="2308986"/>
            <a:ext cx="792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855D57A-32F4-4C27-A8F2-B5EB18A0CDE8}"/>
              </a:ext>
            </a:extLst>
          </p:cNvPr>
          <p:cNvCxnSpPr/>
          <p:nvPr/>
        </p:nvCxnSpPr>
        <p:spPr>
          <a:xfrm>
            <a:off x="503592" y="2787774"/>
            <a:ext cx="1908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E7F9F0F5-FB0B-4A10-AECD-AFCDBE603FFC}"/>
              </a:ext>
            </a:extLst>
          </p:cNvPr>
          <p:cNvCxnSpPr/>
          <p:nvPr/>
        </p:nvCxnSpPr>
        <p:spPr>
          <a:xfrm>
            <a:off x="1909710" y="3147814"/>
            <a:ext cx="50205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C91F3BEC-FDF1-410E-91D3-E2CFE7E293E1}"/>
              </a:ext>
            </a:extLst>
          </p:cNvPr>
          <p:cNvCxnSpPr/>
          <p:nvPr/>
        </p:nvCxnSpPr>
        <p:spPr>
          <a:xfrm>
            <a:off x="3565894" y="2427734"/>
            <a:ext cx="288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BDE1D4BC-F1EB-4754-94B0-FCF4203234C5}"/>
              </a:ext>
            </a:extLst>
          </p:cNvPr>
          <p:cNvCxnSpPr/>
          <p:nvPr/>
        </p:nvCxnSpPr>
        <p:spPr>
          <a:xfrm>
            <a:off x="467544" y="2499742"/>
            <a:ext cx="504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D8164112-A65A-40DD-B256-F6BECF79481E}"/>
              </a:ext>
            </a:extLst>
          </p:cNvPr>
          <p:cNvCxnSpPr/>
          <p:nvPr/>
        </p:nvCxnSpPr>
        <p:spPr>
          <a:xfrm>
            <a:off x="467544" y="2211710"/>
            <a:ext cx="504000" cy="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2A0DB5E6-911A-4E37-8CC9-E521454CAF90}"/>
              </a:ext>
            </a:extLst>
          </p:cNvPr>
          <p:cNvCxnSpPr>
            <a:endCxn id="15" idx="1"/>
          </p:cNvCxnSpPr>
          <p:nvPr/>
        </p:nvCxnSpPr>
        <p:spPr>
          <a:xfrm flipV="1">
            <a:off x="719544" y="1941694"/>
            <a:ext cx="3132376" cy="270016"/>
          </a:xfrm>
          <a:prstGeom prst="bentConnector3">
            <a:avLst>
              <a:gd name="adj1" fmla="val 164"/>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3" name="连接符: 肘形 32">
            <a:extLst>
              <a:ext uri="{FF2B5EF4-FFF2-40B4-BE49-F238E27FC236}">
                <a16:creationId xmlns:a16="http://schemas.microsoft.com/office/drawing/2014/main" id="{A478DA06-3828-4200-B27C-042012972CF4}"/>
              </a:ext>
            </a:extLst>
          </p:cNvPr>
          <p:cNvCxnSpPr>
            <a:cxnSpLocks/>
          </p:cNvCxnSpPr>
          <p:nvPr/>
        </p:nvCxnSpPr>
        <p:spPr>
          <a:xfrm flipV="1">
            <a:off x="2750172" y="2571750"/>
            <a:ext cx="381668" cy="468000"/>
          </a:xfrm>
          <a:prstGeom prst="bentConnector3">
            <a:avLst>
              <a:gd name="adj1" fmla="val 60327"/>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9" name="连接符: 肘形 38">
            <a:extLst>
              <a:ext uri="{FF2B5EF4-FFF2-40B4-BE49-F238E27FC236}">
                <a16:creationId xmlns:a16="http://schemas.microsoft.com/office/drawing/2014/main" id="{F05B13E7-8198-4223-B75B-CF1964C382A8}"/>
              </a:ext>
            </a:extLst>
          </p:cNvPr>
          <p:cNvCxnSpPr>
            <a:endCxn id="10" idx="1"/>
          </p:cNvCxnSpPr>
          <p:nvPr/>
        </p:nvCxnSpPr>
        <p:spPr>
          <a:xfrm rot="16200000" flipH="1">
            <a:off x="690860" y="2877403"/>
            <a:ext cx="370177" cy="190918"/>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717B3BC3-F87C-497E-BE67-C44D8CC2B594}"/>
              </a:ext>
            </a:extLst>
          </p:cNvPr>
          <p:cNvSpPr txBox="1"/>
          <p:nvPr/>
        </p:nvSpPr>
        <p:spPr>
          <a:xfrm>
            <a:off x="2293117" y="2086253"/>
            <a:ext cx="800219" cy="276999"/>
          </a:xfrm>
          <a:prstGeom prst="rect">
            <a:avLst/>
          </a:prstGeom>
          <a:noFill/>
        </p:spPr>
        <p:txBody>
          <a:bodyPr wrap="none" rtlCol="0">
            <a:spAutoFit/>
          </a:bodyPr>
          <a:lstStyle/>
          <a:p>
            <a:r>
              <a:rPr lang="zh-CN" altLang="en-US" sz="1200" dirty="0">
                <a:latin typeface="华文楷体" panose="02010600040101010101" pitchFamily="2" charset="-122"/>
                <a:ea typeface="华文楷体" panose="02010600040101010101" pitchFamily="2" charset="-122"/>
              </a:rPr>
              <a:t>密钥序列</a:t>
            </a:r>
          </a:p>
        </p:txBody>
      </p:sp>
      <p:sp>
        <p:nvSpPr>
          <p:cNvPr id="41" name="文本框 40">
            <a:extLst>
              <a:ext uri="{FF2B5EF4-FFF2-40B4-BE49-F238E27FC236}">
                <a16:creationId xmlns:a16="http://schemas.microsoft.com/office/drawing/2014/main" id="{484A0A53-DC6F-402B-A16A-BB935563D32B}"/>
              </a:ext>
            </a:extLst>
          </p:cNvPr>
          <p:cNvSpPr txBox="1"/>
          <p:nvPr/>
        </p:nvSpPr>
        <p:spPr>
          <a:xfrm>
            <a:off x="1343253" y="2073210"/>
            <a:ext cx="492443" cy="276999"/>
          </a:xfrm>
          <a:prstGeom prst="rect">
            <a:avLst/>
          </a:prstGeom>
          <a:noFill/>
        </p:spPr>
        <p:txBody>
          <a:bodyPr wrap="none" rtlCol="0">
            <a:spAutoFit/>
          </a:bodyPr>
          <a:lstStyle/>
          <a:p>
            <a:r>
              <a:rPr lang="zh-CN" altLang="en-US" sz="1200" dirty="0">
                <a:latin typeface="华文楷体" panose="02010600040101010101" pitchFamily="2" charset="-122"/>
                <a:ea typeface="华文楷体" panose="02010600040101010101" pitchFamily="2" charset="-122"/>
              </a:rPr>
              <a:t>种子</a:t>
            </a:r>
          </a:p>
        </p:txBody>
      </p:sp>
      <p:sp>
        <p:nvSpPr>
          <p:cNvPr id="42" name="文本框 41">
            <a:extLst>
              <a:ext uri="{FF2B5EF4-FFF2-40B4-BE49-F238E27FC236}">
                <a16:creationId xmlns:a16="http://schemas.microsoft.com/office/drawing/2014/main" id="{560B4984-2328-427A-A45C-27FFB85A9E7D}"/>
              </a:ext>
            </a:extLst>
          </p:cNvPr>
          <p:cNvSpPr txBox="1"/>
          <p:nvPr/>
        </p:nvSpPr>
        <p:spPr>
          <a:xfrm>
            <a:off x="1930783" y="2913528"/>
            <a:ext cx="449162" cy="276999"/>
          </a:xfrm>
          <a:prstGeom prst="rect">
            <a:avLst/>
          </a:prstGeom>
          <a:noFill/>
        </p:spPr>
        <p:txBody>
          <a:bodyPr wrap="none" rtlCol="0">
            <a:spAutoFit/>
          </a:bodyPr>
          <a:lstStyle/>
          <a:p>
            <a:r>
              <a:rPr lang="en-US" altLang="zh-CN" sz="1200" dirty="0">
                <a:latin typeface="Times New Roman" panose="02020603050405020304" pitchFamily="18" charset="0"/>
                <a:ea typeface="华文楷体" panose="02010600040101010101" pitchFamily="2" charset="-122"/>
                <a:cs typeface="Times New Roman" panose="02020603050405020304" pitchFamily="18" charset="0"/>
              </a:rPr>
              <a:t>ICV</a:t>
            </a:r>
            <a:endParaRPr lang="zh-CN" altLang="en-US" sz="1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3" name="文本框 42">
            <a:extLst>
              <a:ext uri="{FF2B5EF4-FFF2-40B4-BE49-F238E27FC236}">
                <a16:creationId xmlns:a16="http://schemas.microsoft.com/office/drawing/2014/main" id="{496A3315-7479-4856-9B59-CA695B17CC26}"/>
              </a:ext>
            </a:extLst>
          </p:cNvPr>
          <p:cNvSpPr txBox="1"/>
          <p:nvPr/>
        </p:nvSpPr>
        <p:spPr>
          <a:xfrm>
            <a:off x="365158" y="2747073"/>
            <a:ext cx="492443" cy="276999"/>
          </a:xfrm>
          <a:prstGeom prst="rect">
            <a:avLst/>
          </a:prstGeom>
          <a:noFill/>
        </p:spPr>
        <p:txBody>
          <a:bodyPr wrap="none" rtlCol="0">
            <a:spAutoFit/>
          </a:bodyPr>
          <a:lstStyle/>
          <a:p>
            <a:r>
              <a:rPr lang="zh-CN" altLang="en-US" sz="1200" dirty="0">
                <a:latin typeface="Times New Roman" panose="02020603050405020304" pitchFamily="18" charset="0"/>
                <a:ea typeface="华文楷体" panose="02010600040101010101" pitchFamily="2" charset="-122"/>
                <a:cs typeface="Times New Roman" panose="02020603050405020304" pitchFamily="18" charset="0"/>
              </a:rPr>
              <a:t>明文</a:t>
            </a:r>
          </a:p>
        </p:txBody>
      </p:sp>
      <p:sp>
        <p:nvSpPr>
          <p:cNvPr id="44" name="文本框 43">
            <a:extLst>
              <a:ext uri="{FF2B5EF4-FFF2-40B4-BE49-F238E27FC236}">
                <a16:creationId xmlns:a16="http://schemas.microsoft.com/office/drawing/2014/main" id="{26574AF1-2C88-40E4-8CEE-55A122FEAB1A}"/>
              </a:ext>
            </a:extLst>
          </p:cNvPr>
          <p:cNvSpPr txBox="1"/>
          <p:nvPr/>
        </p:nvSpPr>
        <p:spPr>
          <a:xfrm>
            <a:off x="3851920" y="2577266"/>
            <a:ext cx="504000" cy="276999"/>
          </a:xfrm>
          <a:prstGeom prst="rect">
            <a:avLst/>
          </a:prstGeom>
          <a:noFill/>
        </p:spPr>
        <p:txBody>
          <a:bodyPr wrap="square" rtlCol="0">
            <a:spAutoFit/>
          </a:bodyPr>
          <a:lstStyle/>
          <a:p>
            <a:r>
              <a:rPr lang="zh-CN" altLang="en-US" sz="1200" dirty="0">
                <a:latin typeface="Times New Roman" panose="02020603050405020304" pitchFamily="18" charset="0"/>
                <a:ea typeface="华文楷体" panose="02010600040101010101" pitchFamily="2" charset="-122"/>
                <a:cs typeface="Times New Roman" panose="02020603050405020304" pitchFamily="18" charset="0"/>
              </a:rPr>
              <a:t>消息</a:t>
            </a:r>
          </a:p>
        </p:txBody>
      </p:sp>
      <p:sp>
        <p:nvSpPr>
          <p:cNvPr id="45" name="文本框 44">
            <a:extLst>
              <a:ext uri="{FF2B5EF4-FFF2-40B4-BE49-F238E27FC236}">
                <a16:creationId xmlns:a16="http://schemas.microsoft.com/office/drawing/2014/main" id="{6CFC9705-2D1C-4350-8839-6C85D1F55122}"/>
              </a:ext>
            </a:extLst>
          </p:cNvPr>
          <p:cNvSpPr txBox="1"/>
          <p:nvPr/>
        </p:nvSpPr>
        <p:spPr>
          <a:xfrm>
            <a:off x="371948" y="2256180"/>
            <a:ext cx="504000" cy="276999"/>
          </a:xfrm>
          <a:prstGeom prst="rect">
            <a:avLst/>
          </a:prstGeom>
          <a:noFill/>
        </p:spPr>
        <p:txBody>
          <a:bodyPr wrap="square" rtlCol="0">
            <a:spAutoFit/>
          </a:bodyPr>
          <a:lstStyle/>
          <a:p>
            <a:r>
              <a:rPr lang="zh-CN" altLang="en-US" sz="1200" dirty="0">
                <a:latin typeface="Times New Roman" panose="02020603050405020304" pitchFamily="18" charset="0"/>
                <a:ea typeface="华文楷体" panose="02010600040101010101" pitchFamily="2" charset="-122"/>
                <a:cs typeface="Times New Roman" panose="02020603050405020304" pitchFamily="18" charset="0"/>
              </a:rPr>
              <a:t>密钥</a:t>
            </a:r>
          </a:p>
        </p:txBody>
      </p:sp>
      <p:sp>
        <p:nvSpPr>
          <p:cNvPr id="46" name="文本框 45">
            <a:extLst>
              <a:ext uri="{FF2B5EF4-FFF2-40B4-BE49-F238E27FC236}">
                <a16:creationId xmlns:a16="http://schemas.microsoft.com/office/drawing/2014/main" id="{203347BC-4A96-41A8-8787-688904723600}"/>
              </a:ext>
            </a:extLst>
          </p:cNvPr>
          <p:cNvSpPr txBox="1"/>
          <p:nvPr/>
        </p:nvSpPr>
        <p:spPr>
          <a:xfrm>
            <a:off x="434126" y="1958830"/>
            <a:ext cx="348646" cy="276999"/>
          </a:xfrm>
          <a:prstGeom prst="rect">
            <a:avLst/>
          </a:prstGeom>
          <a:noFill/>
        </p:spPr>
        <p:txBody>
          <a:bodyPr wrap="square" rtlCol="0">
            <a:spAutoFit/>
          </a:bodyPr>
          <a:lstStyle/>
          <a:p>
            <a:r>
              <a:rPr lang="en-US" altLang="zh-CN" sz="1200" dirty="0">
                <a:latin typeface="Times New Roman" panose="02020603050405020304" pitchFamily="18" charset="0"/>
                <a:ea typeface="华文楷体" panose="02010600040101010101" pitchFamily="2" charset="-122"/>
                <a:cs typeface="Times New Roman" panose="02020603050405020304" pitchFamily="18" charset="0"/>
              </a:rPr>
              <a:t>IV</a:t>
            </a:r>
            <a:endParaRPr lang="zh-CN" altLang="en-US" sz="12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7" name="椭圆 46">
            <a:extLst>
              <a:ext uri="{FF2B5EF4-FFF2-40B4-BE49-F238E27FC236}">
                <a16:creationId xmlns:a16="http://schemas.microsoft.com/office/drawing/2014/main" id="{FFB16614-D26F-4457-940A-7E7A60095F9F}"/>
              </a:ext>
            </a:extLst>
          </p:cNvPr>
          <p:cNvSpPr/>
          <p:nvPr/>
        </p:nvSpPr>
        <p:spPr>
          <a:xfrm>
            <a:off x="712376" y="2178000"/>
            <a:ext cx="43200" cy="4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3F0EE307-3CF8-41DC-874D-7B25DA3AF0D3}"/>
              </a:ext>
            </a:extLst>
          </p:cNvPr>
          <p:cNvSpPr/>
          <p:nvPr/>
        </p:nvSpPr>
        <p:spPr>
          <a:xfrm>
            <a:off x="758721" y="2755141"/>
            <a:ext cx="43200" cy="43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a:extLst>
              <a:ext uri="{FF2B5EF4-FFF2-40B4-BE49-F238E27FC236}">
                <a16:creationId xmlns:a16="http://schemas.microsoft.com/office/drawing/2014/main" id="{9FB43FCE-9ECF-4AD6-B986-7505BE3B8A7B}"/>
              </a:ext>
            </a:extLst>
          </p:cNvPr>
          <p:cNvSpPr/>
          <p:nvPr/>
        </p:nvSpPr>
        <p:spPr>
          <a:xfrm>
            <a:off x="5250594" y="1930958"/>
            <a:ext cx="1008536" cy="4967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IV</a:t>
            </a:r>
          </a:p>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个字节）</a:t>
            </a:r>
          </a:p>
        </p:txBody>
      </p:sp>
      <p:sp>
        <p:nvSpPr>
          <p:cNvPr id="51" name="矩形 50">
            <a:extLst>
              <a:ext uri="{FF2B5EF4-FFF2-40B4-BE49-F238E27FC236}">
                <a16:creationId xmlns:a16="http://schemas.microsoft.com/office/drawing/2014/main" id="{1B7AEA0B-48F8-4AAA-9A6C-9F5BBAA8DFED}"/>
              </a:ext>
            </a:extLst>
          </p:cNvPr>
          <p:cNvSpPr/>
          <p:nvPr/>
        </p:nvSpPr>
        <p:spPr>
          <a:xfrm>
            <a:off x="6259130" y="1930958"/>
            <a:ext cx="1008536" cy="4967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数据（</a:t>
            </a: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PDU)</a:t>
            </a:r>
          </a:p>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&gt;=1</a:t>
            </a: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个字节</a:t>
            </a:r>
          </a:p>
        </p:txBody>
      </p:sp>
      <p:sp>
        <p:nvSpPr>
          <p:cNvPr id="52" name="矩形 51">
            <a:extLst>
              <a:ext uri="{FF2B5EF4-FFF2-40B4-BE49-F238E27FC236}">
                <a16:creationId xmlns:a16="http://schemas.microsoft.com/office/drawing/2014/main" id="{8667E50E-3697-450E-B0C1-BC28D238D0F5}"/>
              </a:ext>
            </a:extLst>
          </p:cNvPr>
          <p:cNvSpPr/>
          <p:nvPr/>
        </p:nvSpPr>
        <p:spPr>
          <a:xfrm>
            <a:off x="7267666" y="1930958"/>
            <a:ext cx="1008536" cy="4967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ICV</a:t>
            </a:r>
          </a:p>
          <a:p>
            <a:pPr algn="ct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个字节</a:t>
            </a: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3" name="矩形 52">
            <a:extLst>
              <a:ext uri="{FF2B5EF4-FFF2-40B4-BE49-F238E27FC236}">
                <a16:creationId xmlns:a16="http://schemas.microsoft.com/office/drawing/2014/main" id="{D96B80CF-E7B0-48B1-A5C6-F9ECA142DF1D}"/>
              </a:ext>
            </a:extLst>
          </p:cNvPr>
          <p:cNvSpPr/>
          <p:nvPr/>
        </p:nvSpPr>
        <p:spPr>
          <a:xfrm>
            <a:off x="5724128" y="2854265"/>
            <a:ext cx="535002" cy="5846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初始矢量（</a:t>
            </a:r>
            <a:r>
              <a:rPr lang="en-US" altLang="zh-CN"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1200" b="1"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字节）</a:t>
            </a:r>
          </a:p>
        </p:txBody>
      </p:sp>
      <p:sp>
        <p:nvSpPr>
          <p:cNvPr id="54" name="矩形 53">
            <a:extLst>
              <a:ext uri="{FF2B5EF4-FFF2-40B4-BE49-F238E27FC236}">
                <a16:creationId xmlns:a16="http://schemas.microsoft.com/office/drawing/2014/main" id="{893FCFF5-E335-4805-B6B6-85B2B7EA1D2C}"/>
              </a:ext>
            </a:extLst>
          </p:cNvPr>
          <p:cNvSpPr/>
          <p:nvPr/>
        </p:nvSpPr>
        <p:spPr>
          <a:xfrm>
            <a:off x="6255460" y="2851415"/>
            <a:ext cx="1484892" cy="216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个字节</a:t>
            </a:r>
          </a:p>
        </p:txBody>
      </p:sp>
      <p:sp>
        <p:nvSpPr>
          <p:cNvPr id="55" name="矩形 54">
            <a:extLst>
              <a:ext uri="{FF2B5EF4-FFF2-40B4-BE49-F238E27FC236}">
                <a16:creationId xmlns:a16="http://schemas.microsoft.com/office/drawing/2014/main" id="{B53F7560-E58E-4AF8-91EB-A1E59E830FD1}"/>
              </a:ext>
            </a:extLst>
          </p:cNvPr>
          <p:cNvSpPr/>
          <p:nvPr/>
        </p:nvSpPr>
        <p:spPr>
          <a:xfrm>
            <a:off x="6255460" y="3067415"/>
            <a:ext cx="657719" cy="371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填充</a:t>
            </a:r>
            <a:endParaRPr lang="en-US" altLang="zh-CN"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endParaRPr>
          </a:p>
          <a:p>
            <a:pPr algn="ct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6</a:t>
            </a: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位）</a:t>
            </a:r>
          </a:p>
        </p:txBody>
      </p:sp>
      <p:sp>
        <p:nvSpPr>
          <p:cNvPr id="56" name="矩形 55">
            <a:extLst>
              <a:ext uri="{FF2B5EF4-FFF2-40B4-BE49-F238E27FC236}">
                <a16:creationId xmlns:a16="http://schemas.microsoft.com/office/drawing/2014/main" id="{8650FE3D-8715-4BFD-B2FE-16B657A1030C}"/>
              </a:ext>
            </a:extLst>
          </p:cNvPr>
          <p:cNvSpPr/>
          <p:nvPr/>
        </p:nvSpPr>
        <p:spPr>
          <a:xfrm>
            <a:off x="6913179" y="3067415"/>
            <a:ext cx="827173" cy="371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密钥</a:t>
            </a:r>
            <a:r>
              <a:rPr lang="en-US" altLang="zh-CN"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ID</a:t>
            </a:r>
          </a:p>
          <a:p>
            <a:pPr algn="ct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1200" dirty="0">
                <a:solidFill>
                  <a:schemeClr val="tx1"/>
                </a:solidFill>
                <a:latin typeface="Times New Roman" panose="02020603050405020304" pitchFamily="18" charset="0"/>
                <a:ea typeface="华文楷体" panose="02010600040101010101" pitchFamily="2" charset="-122"/>
                <a:cs typeface="Times New Roman" panose="02020603050405020304" pitchFamily="18" charset="0"/>
              </a:rPr>
              <a:t>位）</a:t>
            </a:r>
          </a:p>
        </p:txBody>
      </p:sp>
      <p:cxnSp>
        <p:nvCxnSpPr>
          <p:cNvPr id="58" name="直接连接符 57">
            <a:extLst>
              <a:ext uri="{FF2B5EF4-FFF2-40B4-BE49-F238E27FC236}">
                <a16:creationId xmlns:a16="http://schemas.microsoft.com/office/drawing/2014/main" id="{0B975907-D6EA-4297-8971-C75E16B64617}"/>
              </a:ext>
            </a:extLst>
          </p:cNvPr>
          <p:cNvCxnSpPr/>
          <p:nvPr/>
        </p:nvCxnSpPr>
        <p:spPr>
          <a:xfrm>
            <a:off x="5250594" y="2427734"/>
            <a:ext cx="473534" cy="423681"/>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E16656A1-44FB-4A56-8C57-17D108C3ACDA}"/>
              </a:ext>
            </a:extLst>
          </p:cNvPr>
          <p:cNvCxnSpPr>
            <a:cxnSpLocks/>
          </p:cNvCxnSpPr>
          <p:nvPr/>
        </p:nvCxnSpPr>
        <p:spPr>
          <a:xfrm>
            <a:off x="6254135" y="2409702"/>
            <a:ext cx="1464265" cy="412698"/>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9E876F0A-A378-45BF-AD10-6D94B5DBC704}"/>
              </a:ext>
            </a:extLst>
          </p:cNvPr>
          <p:cNvCxnSpPr/>
          <p:nvPr/>
        </p:nvCxnSpPr>
        <p:spPr>
          <a:xfrm flipV="1">
            <a:off x="6259870" y="1751790"/>
            <a:ext cx="0" cy="179168"/>
          </a:xfrm>
          <a:prstGeom prst="line">
            <a:avLst/>
          </a:prstGeom>
          <a:ln w="28575">
            <a:solidFill>
              <a:srgbClr val="147BA2"/>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12660BA7-954E-443C-B8C8-5C461D997ECF}"/>
              </a:ext>
            </a:extLst>
          </p:cNvPr>
          <p:cNvCxnSpPr/>
          <p:nvPr/>
        </p:nvCxnSpPr>
        <p:spPr>
          <a:xfrm flipV="1">
            <a:off x="8276202" y="1762526"/>
            <a:ext cx="0" cy="179168"/>
          </a:xfrm>
          <a:prstGeom prst="line">
            <a:avLst/>
          </a:prstGeom>
          <a:ln w="28575">
            <a:solidFill>
              <a:srgbClr val="147BA2"/>
            </a:solidFill>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6EC4032F-BF3B-4D7D-9458-DEBD105785DB}"/>
              </a:ext>
            </a:extLst>
          </p:cNvPr>
          <p:cNvCxnSpPr>
            <a:cxnSpLocks/>
          </p:cNvCxnSpPr>
          <p:nvPr/>
        </p:nvCxnSpPr>
        <p:spPr>
          <a:xfrm>
            <a:off x="6254135" y="1851670"/>
            <a:ext cx="202206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文本框 67">
            <a:extLst>
              <a:ext uri="{FF2B5EF4-FFF2-40B4-BE49-F238E27FC236}">
                <a16:creationId xmlns:a16="http://schemas.microsoft.com/office/drawing/2014/main" id="{CFB5E7B8-7A71-4875-B3AD-15A9391646FD}"/>
              </a:ext>
            </a:extLst>
          </p:cNvPr>
          <p:cNvSpPr txBox="1"/>
          <p:nvPr/>
        </p:nvSpPr>
        <p:spPr>
          <a:xfrm>
            <a:off x="6857585" y="1635646"/>
            <a:ext cx="800219" cy="276999"/>
          </a:xfrm>
          <a:prstGeom prst="rect">
            <a:avLst/>
          </a:prstGeom>
          <a:solidFill>
            <a:srgbClr val="F2F2F2"/>
          </a:solidFill>
        </p:spPr>
        <p:txBody>
          <a:bodyPr wrap="none" rtlCol="0">
            <a:spAutoFit/>
          </a:bodyPr>
          <a:lstStyle/>
          <a:p>
            <a:r>
              <a:rPr lang="zh-CN" altLang="en-US" sz="1200" dirty="0">
                <a:latin typeface="华文楷体" panose="02010600040101010101" pitchFamily="2" charset="-122"/>
                <a:ea typeface="华文楷体" panose="02010600040101010101" pitchFamily="2" charset="-122"/>
              </a:rPr>
              <a:t>加密保护</a:t>
            </a:r>
          </a:p>
        </p:txBody>
      </p:sp>
    </p:spTree>
    <p:extLst>
      <p:ext uri="{BB962C8B-B14F-4D97-AF65-F5344CB8AC3E}">
        <p14:creationId xmlns:p14="http://schemas.microsoft.com/office/powerpoint/2010/main" val="84224383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4293163"/>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WAPI</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安全机制</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WAPI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是我国自主研发的无线局域网安全机制，它由</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WLAN Authentication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Infrustruture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WPI(WLAN Privacy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Infrustructure</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两部分组成，分别实现对用户身份的鉴别和传输数据的加密</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WAI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采用公钥密码体制，利用证书对客户端和接入点进行认证，能提供可靠的链路层以下安全系统。其认证机制包括：完整的无线用户和无线接入点的双向认证，身份凭证为基于公钥密码体制的公钥数字证书；采用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192/224/256</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椭圆曲线签名算法；集中式或分布式认证管理，灵活多样的证书管理与分发体制，认证过程简单；客户端可以支持多证书，方便用户多处使用，充分保证其漫游功能；认证服务单元易于扩充，支持用户异地接入</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WPI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采用分组密码算法</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SM4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实现数据的传输机密性保护，对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层数据进行加、解密处理</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693614575"/>
      </p:ext>
    </p:extLst>
  </p:cSld>
  <p:clrMapOvr>
    <a:masterClrMapping/>
  </p:clrMapOvr>
  <mc:AlternateContent xmlns:mc="http://schemas.openxmlformats.org/markup-compatibility/2006" xmlns:p14="http://schemas.microsoft.com/office/powerpoint/2010/main">
    <mc:Choice Requires="p14">
      <p:transition spd="slow" p14:dur="999" advTm="0"/>
    </mc:Choice>
    <mc:Fallback xmlns="">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27534"/>
            <a:ext cx="8640960" cy="4513287"/>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802.1X EAP</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认证机制</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是为有线网络提供的一种基于接口的访问控制协议，它的架构同样适用无线网络，采用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IETF</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制定的可扩展认证协议（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）作为核心协议</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的认证过程定义了如下参与者：</a:t>
            </a:r>
          </a:p>
          <a:p>
            <a:pPr marL="625475" indent="-342900">
              <a:lnSpc>
                <a:spcPct val="11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接口接入实体</a:t>
            </a:r>
          </a:p>
          <a:p>
            <a:pPr marL="625475" indent="-342900">
              <a:lnSpc>
                <a:spcPct val="11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申请者</a:t>
            </a:r>
          </a:p>
          <a:p>
            <a:pPr marL="625475" indent="-342900">
              <a:lnSpc>
                <a:spcPct val="11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认证代理</a:t>
            </a:r>
          </a:p>
          <a:p>
            <a:pPr marL="625475" indent="-342900">
              <a:lnSpc>
                <a:spcPct val="11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认证服务器</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不是真正的认证协议，只是一种认证协议的封装格式，通过使用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封装，客户端和认证服务器能够实现对具体认证转文的动态协商</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消息利用两种</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方式传输：</a:t>
            </a:r>
          </a:p>
          <a:p>
            <a:pPr marL="625475" indent="-342900">
              <a:lnSpc>
                <a:spcPct val="11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一是在基站和接入点间的链路上运行时间</a:t>
            </a:r>
            <a:r>
              <a:rPr lang="en-US" altLang="zh-CN" sz="14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EAPoL</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 over Lan)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a:t>
            </a:r>
          </a:p>
          <a:p>
            <a:pPr marL="625475" indent="-342900">
              <a:lnSpc>
                <a:spcPct val="11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二是在接入点和认证服务器间将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协议封装到高层协议中，如采用较广泛的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EAP over RADIUS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91933206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973075"/>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802.11i</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安全机制</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工作组于</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2004</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年初发布了新一代安全标准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802.11i</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该协议将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802.1X</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协议引入到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WLAN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安全机制中，增强了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WLAN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中身份认证和接入控制的能力；同时，增加了密钥管理机制，可以实现密钥的导出及动态协商和更新等，大大增强了安全性</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提出了两种加密机制：</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TKIP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协议：是一种临时过渡性可选方案，兼容</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设备，可在不更新硬件设备的情况下升级至</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802.11i</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CCMP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机制：完全废除了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WEP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加密算法来保障数据的安全传输，但</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对硬件要求较高，</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CCMP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无法在现有设备基础上通过直接升级来实现（需要更换硬件设备），它是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802.11i</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机制的关键技术，新的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WLAN</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产品必须采用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CCMP</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来保证网络的安全</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06609460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375989"/>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7</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802.16d</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安全机制</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802.16d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网络主要有用户站（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）和基站（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）两种网络元素</a:t>
            </a:r>
          </a:p>
          <a:p>
            <a:pPr marL="742890" lvl="1"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是网络的核心控制单元，起到传统移动通信中基站的作用；它通常由一组设备组成，负责为申请连接的用户站建立连接，并负责现有连接的管理和控制（包括用户站的认证、密钥的生成和分发等）</a:t>
            </a:r>
          </a:p>
          <a:p>
            <a:pPr marL="742890" lvl="1"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相当于用户终端，通常由一组设备构成，负责在用户设备和基站间建立连接；一幢大楼安装一个</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，可以起到固定无线宽带接入的作用</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802.16d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标准定义了一套完整的安全机制来保证</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间数据的可用性、完整性和机密性，包括宽带无线接入系统空中接口物理层（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PHY</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）和媒体接入控制层（</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）的技术规范</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3776543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1744773"/>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802.16d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的安全机制具体可分为密钥管理协议（</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Privacy and Key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Management,PKM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）、安全关联（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Security </a:t>
            </a:r>
            <a:r>
              <a:rPr lang="en-US" altLang="zh-CN" sz="16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Association,SA</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）和加密算法等</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安全机制存在单向认证、认证机制缺乏扩展性、缺乏组播密钥协商、密码算法缺乏保护、</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可能带来</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DoS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攻击隐患、重认证不够有效等问题。为此，新的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标准进行了全面改进，</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协议升级为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PKMv2</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变为移动站（</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MS</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07729286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855846"/>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无线个域网安全</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无线个域网（</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Wireless Personal Area </a:t>
            </a:r>
            <a:r>
              <a:rPr lang="en-US" altLang="zh-CN"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Network,WPAN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）是在个人活动范围把属于个人使用的电子设备用无线技术连接起来自组网络，不需要使用接入点（</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p>
          <a:p>
            <a:pPr marL="342900" indent="-342900">
              <a:lnSpc>
                <a:spcPct val="130000"/>
              </a:lnSpc>
              <a:spcBef>
                <a:spcPts val="300"/>
              </a:spcBef>
              <a:spcAft>
                <a:spcPts val="300"/>
              </a:spcAft>
              <a:buFont typeface="Wingdings" panose="05000000000000000000" pitchFamily="2" charset="2"/>
              <a:buChar char="n"/>
            </a:pP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WPAN</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是以个人为中心的无线个人区域网，实际上是一个小范围、低功率、低速率、低价格的电缆替代技术</a:t>
            </a:r>
          </a:p>
          <a:p>
            <a:pPr marL="342900" indent="-34290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无线个域网目前包括的主流技术有蓝牙、</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、超宽带（</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）等</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5167002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896131"/>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）蓝牙技术</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作为一种短距离无线通信技术，提供低成本、低功耗、近距离的无线通信，构成固定与移动设备通信环境中的个人网络</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蓝牙设备的传输距离为</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10 cm-10m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，如果增加功率或是加上某些外设可达到</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100m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传输距离，它采用</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2.4GHz</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ISM</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频段和调频、跳频技术，使用权向纠错编码、</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ARQ</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TDD</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和基带协议，并使用全球统一的</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48 bit</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的设备识别码</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蓝牙技术提供点对点和点对多点的无中心网络，具有自然灵活的组网方式</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出现可以将家中的所有电子信息设备甚至电气设备构成无线网络，实现网络随身携带，形成以人为核心的网络，它可以最大限度地利用功能强大的固定网络，采用小功率的无线接入技术将人们所携带的便携式设备和庞大的固定网络相连接，这就是“无线个域网”的概念，并且逐步发展成为物联网应用的一种基本形式</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406818887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765757"/>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蓝牙面临的安全威胁</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蓝牙采用跳频扩频工作方式，本身具有一定的通信隐蔽性</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ISM 2.4GHz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的频段发送信息，这与许多同类协议如</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IEEE 802.11b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、家用设备等产生频段冲突，容易对蓝牙通信产生干扰，或者通过某些手段使合法用户无法获得网络服务，造成拒绝服务攻击，或者通过能源消耗攻击的方式耗尽蓝牙设备的电波能量，使通信服务失去可用性</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电磁信号在发送过程中容易被截取、分析，失去通信信息的保密性</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通信实体身份容易受到冒充，网络资源容易受到非法访问，使通信失去可靠性</a:t>
            </a:r>
          </a:p>
          <a:p>
            <a:pPr marL="285750" indent="-285750">
              <a:lnSpc>
                <a:spcPct val="130000"/>
              </a:lnSpc>
              <a:spcBef>
                <a:spcPts val="300"/>
              </a:spcBef>
              <a:spcAft>
                <a:spcPts val="300"/>
              </a:spcAft>
              <a:buFont typeface="Arial" panose="020B0604020202020204" pitchFamily="34" charset="0"/>
              <a:buChar char="•"/>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9024575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759875"/>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蓝牙的安全模式</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313">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蓝牙规定了三种网络安全模式：非安全模式、业务层安全模式和链路层模式</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非安全模式：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无须任何安全服务和机制的保护</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业务层安全模式：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服务级安全机制对系统的各个应用和服务需要进行分别的安全保护，包括授权访问、身份鉴别或加密传输</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链路层安全模式：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链路级安全机制对所有的应用和服务的访问都需要实行访问授权、身份鉴别和加密传输</a:t>
            </a:r>
          </a:p>
          <a:p>
            <a:pPr marL="341313">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二者的本质区别：业务层安全模式下蓝牙设备在信道建立以后启动安全性过程，即在较高层协议。而链路层安全模式下蓝牙设备是在信道建立以前启动安全性过程，即在低层协议完成其安全性过程</a:t>
            </a:r>
          </a:p>
          <a:p>
            <a:pPr marL="341313">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蓝牙的链路层安全是通过匹配、鉴权和加密完成的，密钥的建立是通过双向的链接来实现的</a:t>
            </a:r>
          </a:p>
          <a:p>
            <a:pPr marL="285750" indent="-285750">
              <a:lnSpc>
                <a:spcPct val="130000"/>
              </a:lnSpc>
              <a:spcBef>
                <a:spcPts val="300"/>
              </a:spcBef>
              <a:spcAft>
                <a:spcPts val="300"/>
              </a:spcAft>
              <a:buFont typeface="Arial" panose="020B0604020202020204" pitchFamily="34" charset="0"/>
              <a:buChar char="•"/>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5189175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412986"/>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蓝牙的信任模式</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313">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蓝牙设备的信任方式分为二个级别：可信和不可信。其描述如下：</a:t>
            </a:r>
          </a:p>
          <a:p>
            <a:pPr marL="627063"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、受信任：</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设备已与另一设备建立固定关系，且对所有服务的访问不受限制。</a:t>
            </a:r>
          </a:p>
          <a:p>
            <a:pPr marL="627063"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、不受信任：</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虽然已成功通过身份验证，但设备只能访问一组受限制的服务。</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设备的可发现性</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蓝牙设备的可发现模式也会影响设备的安全。处于可发现模式的设备更容易受到攻击。设备名称、类别、服务列表和技术信息均可以在约</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米的范围内被获取。此外，每个蓝牙设备都有一个</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位的唯一识别码，称为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BD_ADDR</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。该地址与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地址类似，</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BD_ADD</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地址是制造商为硬件分配的地址，用作唯一的设备标识。</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22438532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505045"/>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蓝牙的安全服务</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313">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二台设备第一次尝试连接时，需要通过身份验证建立一个受信任关系。基于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BD_ADDR</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地址和一个链接密钥这两组数据， 基于挑战</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应答</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(Challenge/Response)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方式执行身份验证。链接一旦建立，就会被保存下来以用于将来的配对。在较旧的蓝牙版本中（</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v2.0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及更早版本），首次蓝牙连接使用了常见的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码由两个设备通用，由</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到</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个字符组成。</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码专门用于链接密钥生成。在某些情况下，一旦设置了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码，就无法更改。同样重要的是如果两个设备具有同样的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码，则他们无法通信或配对。</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313">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蓝牙的较新版本（</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v2.1</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及更高版本）使用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SSP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进行配对，该过程使用公钥密码学而不是</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406840485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939010"/>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蓝牙的密钥管理</a:t>
            </a:r>
          </a:p>
          <a:p>
            <a:pPr marL="341313">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蓝牙安全体系中主要用到</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码、链路密钥和加密密钥</a:t>
            </a:r>
          </a:p>
          <a:p>
            <a:pPr marL="627063"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1-16</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字节的字符串。在蓝牙规范中将其缺省长度定义为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字节，这是一个可以固定或者由用户选择的字符串</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链路密钥：</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主要用于验证并生成加密密钥。链路密钥（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Klink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）可以是合成密钥、设备密钥、主控设备密钥和初始密钥（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Kinit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），具体要依赖于当前应用的类型</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加密密钥：</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用符号</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KC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表示，它由当前链路密钥导出。当链路状态变为加密模式时，会通过当前正在使用的链路密钥产生一个加密密钥，加密密钥的长度为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位（ </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bits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。当收到结束加密状态的指令后，再写入原链路密钥。设备间所有安全问题都要由链路密钥来处理</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53164908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722942"/>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技术</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技术是一种应用于短距离范围内、低传输数据速率下的无线传感器网络无线通信技术标准</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它是在传统无线协议无法适应无线传感器网络低成本、低能量、高容错性等要求情况下产生的</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与其他物联网信息传输技术相比，</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的标准化、产业化进程顺利，具有应用优势</a:t>
            </a:r>
          </a:p>
          <a:p>
            <a:pPr marL="285750" indent="-285750">
              <a:lnSpc>
                <a:spcPct val="130000"/>
              </a:lnSpc>
              <a:spcBef>
                <a:spcPts val="300"/>
              </a:spcBef>
              <a:spcAft>
                <a:spcPts val="300"/>
              </a:spcAft>
              <a:buFont typeface="Arial" panose="020B0604020202020204" pitchFamily="34" charset="0"/>
              <a:buChar char="•"/>
            </a:pP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技术可以广泛应用于智能家居、网络监控、工业自动化控制、远程医疗护理、环境监测、物流管理等领域</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技术的主要优点：</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功耗低、数据传输可靠、网络容量大、兼容性好</a:t>
            </a:r>
          </a:p>
          <a:p>
            <a:pPr marL="285750" indent="-285750">
              <a:lnSpc>
                <a:spcPct val="130000"/>
              </a:lnSpc>
              <a:spcBef>
                <a:spcPts val="300"/>
              </a:spcBef>
              <a:spcAft>
                <a:spcPts val="300"/>
              </a:spcAft>
              <a:buFont typeface="Arial" panose="020B0604020202020204" pitchFamily="34" charset="0"/>
              <a:buChar char="•"/>
            </a:pP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60660893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622000"/>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安全模型</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标准支持两种类型的安全模型集中安全模型和分布式安全模型</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集中安全模型：</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是一个复杂但应该是最安全的模型，涉及第三个逻辑设备和信任中心（网络协调员）。</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分布式安全模型：</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简单但安全性较低。此模型仅支持路由器和终端设备。路由器构成分布式网络，负责注册其他路由器和终端设备。路由器向新加入的路由器和终端设备发布网络密钥（用于加密消息）。网络中的所有节点使用相同的网络密钥来加密消息。此外，所有节点在注册到网络之前预先配置有链接密钥（用于加密网络密钥）。</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92398304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624532"/>
            <a:ext cx="8280920" cy="4263988"/>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安全密钥</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1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标准中使用三种类型的对称密钥（每个长度为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a:t>
            </a:r>
          </a:p>
          <a:p>
            <a:pPr marL="627063" indent="-285750">
              <a:lnSpc>
                <a:spcPct val="11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网络密钥：</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用于广播通信，由</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NWK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APL</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用该密钥。每个节点都需要网络密钥才能与网络上的其他设备安全通信。信任中心生成网络密钥并将其分发给网络上的所有设备。网络上的设备通过密钥传输（用于保护传输的网络密钥）或预安装来获取网络密钥。有两种不同类型的网络密钥：标准（在开放时发送网络密钥）和高安全性（已加密的网络密钥）。网络密钥的类型控制网络密钥的分发方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并可以控制网络帧计数器的初始化方式。但是，该类型不会影响消息的安全性。</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1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链接密钥：</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用于单播通信，由</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协议栈的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应用。设备通过密钥传输（密钥加载密钥用于保护传输的链路密钥），密钥建立（基于“主”密钥和其他网络参数）或预安装（例如，在工厂出厂安装）。通常，使用带外方法（例如，产品包装中的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QR</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码）预先配置与信任中心相关的链接密钥，而节点之间的链接密钥由信任中心生成并使用网络密钥加密。将其发送到节点。</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a:lnSpc>
                <a:spcPct val="110000"/>
              </a:lnSpc>
              <a:spcBef>
                <a:spcPts val="300"/>
              </a:spcBef>
              <a:spcAft>
                <a:spcPts val="300"/>
              </a:spcAft>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定义了两种类型的链接密钥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全局和唯一（可以依次为两种类型 </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第一种是信任中心链接密钥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密钥在信任中心和设备之间建立，第二种是在信任中心以外的网络中的两个设备之间建立的应用程序链接密钥）。链接密钥的类型决定了设备如何处理各种信任中心消息（</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命令），包括是否应用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加密。</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14562385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910762"/>
          </a:xfrm>
          <a:prstGeom prst="rect">
            <a:avLst/>
          </a:prstGeom>
          <a:noFill/>
        </p:spPr>
        <p:txBody>
          <a:bodyPr wrap="square" rtlCol="0">
            <a:spAutoFit/>
          </a:bodyPr>
          <a:lstStyle/>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主密钥：</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构成两个设备之间长期安全性的基础，仅由</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使用。其功能是保持对称密钥建立协议（</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SKKE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）中两个节点之间的链路密钥交换机密。设备通过密钥传输（密钥加载密钥用于保护传输的主密钥），预安装或用户输入的数据（如</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PIN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或密码）获取主密钥。</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56216775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779240"/>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密钥管理</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66700">
              <a:lnSpc>
                <a:spcPct val="130000"/>
              </a:lnSpc>
              <a:spcBef>
                <a:spcPts val="300"/>
              </a:spcBef>
              <a:spcAft>
                <a:spcPts val="300"/>
              </a:spcAft>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的一个特征是，它具有多种密钥管理机制</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预安装：</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制造商将密钥安装到设备本身。用户可以使用设备中的一系列跳线（在预先安装了多个密钥的设备中）选择一个已安装的密钥。</a:t>
            </a:r>
            <a:endPar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密钥建立：</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这是一种基于主密钥生成链接密钥的本地方法。</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网络的不同安全服务使用从单向函数（使用链接密钥作为输入）派生的密钥，以避免由于服务之间的不需要的交互而导致的安全漏洞。使用不相关的密钥可确保不同安全协议的执行的逻辑分离。该密钥建立基于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SKKE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（对称密钥建立） 协议。通信中涉及的设备必须拥有主密钥，该密钥可能是通过预安装或密钥传输或用户输入获得的。</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密钥传输：</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网络设备向信任中心发出请求，要求将密钥发送给它。此方法适用于在商业模式下请求任何三种类型的密钥，而在住宅模式下，信任中心仅保留网络密钥。信任中心使用密钥加载密钥来保护主密钥的传输。</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3959767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653051"/>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的协议栈结构</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协议扩展定义了网络层和应用层规范</a:t>
            </a:r>
          </a:p>
          <a:p>
            <a:pPr marL="627063"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兼容的产品工作在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802.15.4</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PHY</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上，可以在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2.4 GHz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上提供</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250 kbit/s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个信道）、在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915 MHz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40 kbit/s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个信道）和在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868 MHz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上提供</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20 kbit/s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个信道）的传输速率</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传输范围依赖于输出功率和信道环境，介于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10-100 m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之间，一般是</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30 m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左右</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为避免被干扰，各个频段均采用直接序列扩频技术</a:t>
            </a:r>
          </a:p>
          <a:p>
            <a:pPr marL="627063"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个不同频段都采用相位调制技术，</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2.4 GHz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QPSK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调制技术以达到</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250 kbit/s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的速率，并降低工作时间，以减少功率消耗。在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915 MHz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868 MHz</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方面则采用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BPSK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调制技术，且作为低频频段，无线传播的损失较少，传输距离较长</a:t>
            </a:r>
          </a:p>
          <a:p>
            <a:pPr marL="627063"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协议模块紧凑且简单，对硬件需求很低，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位微处理器即可满足要求，全功能协议软件需要</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32 KB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ROM</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，最小功能协议软件需求大约</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4 KB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ROM</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64166242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301912"/>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协议栈安全措施</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313">
              <a:lnSpc>
                <a:spcPct val="130000"/>
              </a:lnSpc>
              <a:spcBef>
                <a:spcPts val="300"/>
              </a:spcBef>
              <a:spcAft>
                <a:spcPts val="300"/>
              </a:spcAft>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802.15.4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提供了抵御来自其他网络的干扰的鲁棒性，并使用具有</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位密钥长度（</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16</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字节）的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（高级加密标准）来 实现：</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数据安全性</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通过加密数据有效负载和执行</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数据完整性</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 消息完整性代码（</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MIC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）或消息验证代码（</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）实现 ，该代码附加到要发送的消息中。此代码可确保附加的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头和有效负载数据的完整性。</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它是通过使用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位密钥加密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帧的部分而创建的）</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99974413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1944891"/>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协议栈安全措施</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313">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IEEE 802.15.4 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帧中，仅当帧控制字段的安全启用子字段打开时，才启用辅助安全头。这个特殊的头有</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个字段：</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安全控制指定了网络提供的保护类型。它是设置全局安全策略的地方。安全级别的选择决定了密钥的长度和要加密的内容。即，每个安全级别提供一定程度的帧加密和完整性检查。</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NWK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APS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层定义了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种不同的安全级别</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graphicFrame>
        <p:nvGraphicFramePr>
          <p:cNvPr id="4" name="表格 3">
            <a:extLst>
              <a:ext uri="{FF2B5EF4-FFF2-40B4-BE49-F238E27FC236}">
                <a16:creationId xmlns:a16="http://schemas.microsoft.com/office/drawing/2014/main" id="{D0734F78-60EE-4703-9CFD-0255F324171C}"/>
              </a:ext>
            </a:extLst>
          </p:cNvPr>
          <p:cNvGraphicFramePr>
            <a:graphicFrameLocks noGrp="1"/>
          </p:cNvGraphicFramePr>
          <p:nvPr>
            <p:extLst>
              <p:ext uri="{D42A27DB-BD31-4B8C-83A1-F6EECF244321}">
                <p14:modId xmlns:p14="http://schemas.microsoft.com/office/powerpoint/2010/main" val="1749637104"/>
              </p:ext>
            </p:extLst>
          </p:nvPr>
        </p:nvGraphicFramePr>
        <p:xfrm>
          <a:off x="1331640" y="2793898"/>
          <a:ext cx="6192166" cy="2220282"/>
        </p:xfrm>
        <a:graphic>
          <a:graphicData uri="http://schemas.openxmlformats.org/drawingml/2006/table">
            <a:tbl>
              <a:tblPr>
                <a:tableStyleId>{69CF1AB2-1976-4502-BF36-3FF5EA218861}</a:tableStyleId>
              </a:tblPr>
              <a:tblGrid>
                <a:gridCol w="1237913">
                  <a:extLst>
                    <a:ext uri="{9D8B030D-6E8A-4147-A177-3AD203B41FA5}">
                      <a16:colId xmlns:a16="http://schemas.microsoft.com/office/drawing/2014/main" val="20000"/>
                    </a:ext>
                  </a:extLst>
                </a:gridCol>
                <a:gridCol w="1237913">
                  <a:extLst>
                    <a:ext uri="{9D8B030D-6E8A-4147-A177-3AD203B41FA5}">
                      <a16:colId xmlns:a16="http://schemas.microsoft.com/office/drawing/2014/main" val="20001"/>
                    </a:ext>
                  </a:extLst>
                </a:gridCol>
                <a:gridCol w="1239213">
                  <a:extLst>
                    <a:ext uri="{9D8B030D-6E8A-4147-A177-3AD203B41FA5}">
                      <a16:colId xmlns:a16="http://schemas.microsoft.com/office/drawing/2014/main" val="20002"/>
                    </a:ext>
                  </a:extLst>
                </a:gridCol>
                <a:gridCol w="1239214">
                  <a:extLst>
                    <a:ext uri="{9D8B030D-6E8A-4147-A177-3AD203B41FA5}">
                      <a16:colId xmlns:a16="http://schemas.microsoft.com/office/drawing/2014/main" val="20003"/>
                    </a:ext>
                  </a:extLst>
                </a:gridCol>
                <a:gridCol w="1237913">
                  <a:extLst>
                    <a:ext uri="{9D8B030D-6E8A-4147-A177-3AD203B41FA5}">
                      <a16:colId xmlns:a16="http://schemas.microsoft.com/office/drawing/2014/main" val="20004"/>
                    </a:ext>
                  </a:extLst>
                </a:gridCol>
              </a:tblGrid>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安全级别</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1" u="none" strike="noStrike" cap="none" normalizeH="0" baseline="0" dirty="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安全属性</a:t>
                      </a:r>
                      <a:endParaRPr kumimoji="0" lang="zh-CN" altLang="zh-CN" sz="1200" b="1" i="0" u="none" strike="noStrike" cap="none" normalizeH="0" baseline="0" dirty="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数据加密</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帧完整性</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完整性代码</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extLst>
                  <a:ext uri="{0D108BD9-81ED-4DB2-BD59-A6C34878D82A}">
                    <a16:rowId xmlns:a16="http://schemas.microsoft.com/office/drawing/2014/main" val="10000"/>
                  </a:ext>
                </a:extLst>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0</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0bit</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extLst>
                  <a:ext uri="{0D108BD9-81ED-4DB2-BD59-A6C34878D82A}">
                    <a16:rowId xmlns:a16="http://schemas.microsoft.com/office/drawing/2014/main" val="10001"/>
                  </a:ext>
                </a:extLst>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1</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MIC-32</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32 bits</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extLst>
                  <a:ext uri="{0D108BD9-81ED-4DB2-BD59-A6C34878D82A}">
                    <a16:rowId xmlns:a16="http://schemas.microsoft.com/office/drawing/2014/main" val="10002"/>
                  </a:ext>
                </a:extLst>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2</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MIC-64</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64 bits</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extLst>
                  <a:ext uri="{0D108BD9-81ED-4DB2-BD59-A6C34878D82A}">
                    <a16:rowId xmlns:a16="http://schemas.microsoft.com/office/drawing/2014/main" val="10003"/>
                  </a:ext>
                </a:extLst>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3</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MIC-128</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128 bits</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extLst>
                  <a:ext uri="{0D108BD9-81ED-4DB2-BD59-A6C34878D82A}">
                    <a16:rowId xmlns:a16="http://schemas.microsoft.com/office/drawing/2014/main" val="10004"/>
                  </a:ext>
                </a:extLst>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4</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ENC</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没有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0 bit</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extLst>
                  <a:ext uri="{0D108BD9-81ED-4DB2-BD59-A6C34878D82A}">
                    <a16:rowId xmlns:a16="http://schemas.microsoft.com/office/drawing/2014/main" val="10005"/>
                  </a:ext>
                </a:extLst>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5</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ENC+MIC-32</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32 bits</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extLst>
                  <a:ext uri="{0D108BD9-81ED-4DB2-BD59-A6C34878D82A}">
                    <a16:rowId xmlns:a16="http://schemas.microsoft.com/office/drawing/2014/main" val="10006"/>
                  </a:ext>
                </a:extLst>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6</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ENC+MIC-64</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64 bits</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extLst>
                  <a:ext uri="{0D108BD9-81ED-4DB2-BD59-A6C34878D82A}">
                    <a16:rowId xmlns:a16="http://schemas.microsoft.com/office/drawing/2014/main" val="10007"/>
                  </a:ext>
                </a:extLst>
              </a:tr>
              <a:tr h="160787">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1"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7</a:t>
                      </a:r>
                      <a:endParaRPr kumimoji="0" lang="zh-CN" altLang="zh-CN" sz="1200" b="1"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ENC+MIC-128</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zh-CN" altLang="zh-CN" sz="1200" b="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有</a:t>
                      </a:r>
                      <a:endParaRPr kumimoji="0" lang="zh-CN" altLang="zh-CN" sz="1200" b="0" i="0" u="none" strike="noStrike" cap="none" normalizeH="0" baseline="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tc>
                  <a:txBody>
                    <a:bodyPr/>
                    <a:lstStyle>
                      <a:lvl1pPr>
                        <a:spcBef>
                          <a:spcPct val="20000"/>
                        </a:spcBef>
                        <a:defRPr sz="2800">
                          <a:solidFill>
                            <a:srgbClr val="000000"/>
                          </a:solidFill>
                          <a:latin typeface="Arial" panose="020B0604020202020204" pitchFamily="34" charset="0"/>
                        </a:defRPr>
                      </a:lvl1pPr>
                      <a:lvl2pPr marL="742950" indent="-285750">
                        <a:spcBef>
                          <a:spcPct val="20000"/>
                        </a:spcBef>
                        <a:defRPr sz="2400">
                          <a:solidFill>
                            <a:srgbClr val="000000"/>
                          </a:solidFill>
                          <a:latin typeface="Arial" panose="020B0604020202020204" pitchFamily="34" charset="0"/>
                        </a:defRPr>
                      </a:lvl2pPr>
                      <a:lvl3pPr marL="1143000" indent="-228600">
                        <a:spcBef>
                          <a:spcPct val="20000"/>
                        </a:spcBef>
                        <a:defRPr sz="2000">
                          <a:solidFill>
                            <a:srgbClr val="000000"/>
                          </a:solidFill>
                          <a:latin typeface="Arial" panose="020B0604020202020204" pitchFamily="34" charset="0"/>
                        </a:defRPr>
                      </a:lvl3pPr>
                      <a:lvl4pPr marL="1600200" indent="-228600">
                        <a:spcBef>
                          <a:spcPct val="20000"/>
                        </a:spcBef>
                        <a:defRPr>
                          <a:solidFill>
                            <a:srgbClr val="000000"/>
                          </a:solidFill>
                          <a:latin typeface="Arial" panose="020B0604020202020204" pitchFamily="34" charset="0"/>
                        </a:defRPr>
                      </a:lvl4pPr>
                      <a:lvl5pPr marL="2057400" indent="-228600">
                        <a:spcBef>
                          <a:spcPct val="20000"/>
                        </a:spcBef>
                        <a:defRPr>
                          <a:solidFill>
                            <a:srgbClr val="000000"/>
                          </a:solidFill>
                          <a:latin typeface="Arial" panose="020B0604020202020204" pitchFamily="34" charset="0"/>
                        </a:defRPr>
                      </a:lvl5pPr>
                      <a:lvl6pPr marL="2514600" indent="-228600" eaLnBrk="0" fontAlgn="base" hangingPunct="0">
                        <a:spcBef>
                          <a:spcPct val="20000"/>
                        </a:spcBef>
                        <a:spcAft>
                          <a:spcPct val="0"/>
                        </a:spcAft>
                        <a:defRPr>
                          <a:solidFill>
                            <a:srgbClr val="000000"/>
                          </a:solidFill>
                          <a:latin typeface="Arial" panose="020B0604020202020204" pitchFamily="34" charset="0"/>
                        </a:defRPr>
                      </a:lvl6pPr>
                      <a:lvl7pPr marL="2971800" indent="-228600" eaLnBrk="0" fontAlgn="base" hangingPunct="0">
                        <a:spcBef>
                          <a:spcPct val="20000"/>
                        </a:spcBef>
                        <a:spcAft>
                          <a:spcPct val="0"/>
                        </a:spcAft>
                        <a:defRPr>
                          <a:solidFill>
                            <a:srgbClr val="000000"/>
                          </a:solidFill>
                          <a:latin typeface="Arial" panose="020B0604020202020204" pitchFamily="34" charset="0"/>
                        </a:defRPr>
                      </a:lvl7pPr>
                      <a:lvl8pPr marL="3429000" indent="-228600" eaLnBrk="0" fontAlgn="base" hangingPunct="0">
                        <a:spcBef>
                          <a:spcPct val="20000"/>
                        </a:spcBef>
                        <a:spcAft>
                          <a:spcPct val="0"/>
                        </a:spcAft>
                        <a:defRPr>
                          <a:solidFill>
                            <a:srgbClr val="000000"/>
                          </a:solidFill>
                          <a:latin typeface="Arial" panose="020B0604020202020204" pitchFamily="34" charset="0"/>
                        </a:defRPr>
                      </a:lvl8pPr>
                      <a:lvl9pPr marL="3886200" indent="-228600" eaLnBrk="0" fontAlgn="base" hangingPunct="0">
                        <a:spcBef>
                          <a:spcPct val="20000"/>
                        </a:spcBef>
                        <a:spcAft>
                          <a:spcPct val="0"/>
                        </a:spcAft>
                        <a:defRPr>
                          <a:solidFill>
                            <a:srgbClr val="000000"/>
                          </a:solidFill>
                          <a:latin typeface="Arial" panose="020B0604020202020204" pitchFamily="34" charset="0"/>
                        </a:defRPr>
                      </a:lvl9pPr>
                    </a:lstStyle>
                    <a:p>
                      <a:pPr marL="0" marR="0" lvl="0" indent="0" algn="ctr" defTabSz="914400" rtl="0" eaLnBrk="1" fontAlgn="base" latinLnBrk="0" hangingPunct="1">
                        <a:lnSpc>
                          <a:spcPct val="150000"/>
                        </a:lnSpc>
                        <a:spcBef>
                          <a:spcPct val="0"/>
                        </a:spcBef>
                        <a:spcAft>
                          <a:spcPct val="0"/>
                        </a:spcAft>
                        <a:buClrTx/>
                        <a:buSzTx/>
                        <a:buFontTx/>
                        <a:buNone/>
                      </a:pPr>
                      <a:r>
                        <a:rPr kumimoji="0" lang="en-US" altLang="zh-CN" sz="1200" b="0" u="none" strike="noStrike" cap="none" normalizeH="0" baseline="0" dirty="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rPr>
                        <a:t>128 bits</a:t>
                      </a:r>
                      <a:endParaRPr kumimoji="0" lang="zh-CN" altLang="zh-CN" sz="1200" b="0" i="0" u="none" strike="noStrike" cap="none" normalizeH="0" baseline="0" dirty="0">
                        <a:ln>
                          <a:noFill/>
                        </a:ln>
                        <a:solidFill>
                          <a:schemeClr val="accent1"/>
                        </a:solidFill>
                        <a:effectLst/>
                        <a:latin typeface="Times New Roman" panose="02020603050405020304" pitchFamily="18" charset="0"/>
                        <a:ea typeface="华文楷体" panose="02010600040101010101" pitchFamily="2" charset="-122"/>
                        <a:cs typeface="Times New Roman" panose="02020603050405020304" pitchFamily="18" charset="0"/>
                      </a:endParaRPr>
                    </a:p>
                  </a:txBody>
                  <a:tcPr marL="68580" marR="68580" marT="0" marB="0" anchor="ctr" horzOverflow="overflow"/>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79135813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707630"/>
          </a:xfrm>
          <a:prstGeom prst="rect">
            <a:avLst/>
          </a:prstGeom>
          <a:noFill/>
        </p:spPr>
        <p:txBody>
          <a:bodyPr wrap="square" rtlCol="0">
            <a:spAutoFit/>
          </a:bodyPr>
          <a:lstStyle/>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帧计数器是由当前帧的源给出的计数器，以保护消息不被重放攻击。</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密钥标识符指定了用于需要了解的节点通信的密钥类型所需的信息。</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65512328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378856"/>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安全服务的内容</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设备在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ACL</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中维护一个设备列表，表明它愿意接收来自这些设备发来的数据</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数据加密：</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使用一组设备共享的（通常作为</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default key</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存储），或者两两共享的（通常存于单独的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ACL entry</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中）密钥。数据加密服务于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Beacon</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command</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以及数据载荷</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数据完整性：</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利用消息完整性校验码（</a:t>
            </a:r>
            <a:r>
              <a:rPr lang="en-US" altLang="zh-CN" sz="14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rvnc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）保证没有密钥的节点不会修改传输中的消息，进一步确认消息来自一个知道密钥的节点</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序列抗重播保护：</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利用一个序列号来拒绝重播的报文（</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Freshness</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值）</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427759600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021836"/>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安全服务的模式</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非安全模式：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为默认安全模式，即不采取任何安全服务，因此可能被窃听；</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访问控制模式：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通过访问控制列表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(Access Control List, ACL</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，包含有允许接入的硬件设备</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地址</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限制非法节点获取数据；</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AES 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位加密算法进行通讯加密，同时提供有</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32</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64</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128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位的完整性校验，该模式又分为标准安全模式（明文传输密钥）和高级安全模式（禁止传输密钥）。</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9488749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301912"/>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313">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的攻击分为两种，一种是窃听攻击，另一种是密钥攻击。</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窃听攻击：</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当</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ZigBee</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采用非安全模式时，对传输数据将不作加密处理，因此可能被外部窃取到通讯数据</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密钥攻击：</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由于在密钥传输过程中，可能会以明文形式传输网络</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链接密钥，因此可能被窃取到密钥，从而解密出通讯数据，或者伪造合法设备。也有可能通过逆向一些智能设备固件，从中获取密钥进行通讯命令解密，然后伪造命令进行攻击。</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60700363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252942"/>
          </a:xfrm>
          <a:prstGeom prst="rect">
            <a:avLst/>
          </a:prstGeom>
          <a:noFill/>
        </p:spPr>
        <p:txBody>
          <a:bodyPr wrap="square" rtlCol="0">
            <a:spAutoFit/>
          </a:bodyPr>
          <a:lstStyle/>
          <a:p>
            <a:pPr>
              <a:lnSpc>
                <a:spcPct val="130000"/>
              </a:lnSpc>
              <a:spcBef>
                <a:spcPts val="300"/>
              </a:spcBef>
              <a:spcAft>
                <a:spcPts val="300"/>
              </a:spcAft>
            </a:pP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技术</a:t>
            </a:r>
          </a:p>
          <a:p>
            <a:pPr marL="285750" indent="-285750">
              <a:lnSpc>
                <a:spcPct val="130000"/>
              </a:lnSpc>
              <a:spcBef>
                <a:spcPts val="300"/>
              </a:spcBef>
              <a:spcAft>
                <a:spcPts val="300"/>
              </a:spcAft>
              <a:buFont typeface="Arial" panose="020B0604020202020204" pitchFamily="34" charset="0"/>
              <a:buChar char="•"/>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超宽带（ </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Ultra Wide-Band </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）无线技术，不同于传统的窄带通信技术，</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通过发送和接收具有纳秒或微秒级以下的极窄脉冲来实现无线传输技术，可实现超宽带频谱（</a:t>
            </a:r>
            <a:r>
              <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500MHz</a:t>
            </a: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以上）的应用</a:t>
            </a:r>
            <a:endParaRPr lang="en-US" altLang="zh-CN"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的技术特点</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低成本</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传输速率高</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空间容量大</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低功耗</a:t>
            </a:r>
            <a:endPar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802244906"/>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1818703"/>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系统的安全威胁</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拒绝服务攻击</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秘钥泄露</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假冒攻击</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路由攻击</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56085583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301912"/>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安全性规范 </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28440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针对</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应用过程中容易发生的信息安全问题，国际标准化组织（</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）接受了由</a:t>
            </a:r>
            <a:r>
              <a:rPr lang="en-US" altLang="zh-CN" sz="1400" dirty="0" err="1">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WiMedia</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联盟提出的“高速率超宽带通信的物里层和媒体接入控制标准”，即</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ECMA-368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ISO/IEC26907</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），规范了相应的安全性要求。</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313">
              <a:lnSpc>
                <a:spcPct val="130000"/>
              </a:lnSpc>
              <a:spcBef>
                <a:spcPts val="300"/>
              </a:spcBef>
              <a:spcAft>
                <a:spcPts val="300"/>
              </a:spcAft>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）安全级别</a:t>
            </a:r>
          </a:p>
          <a:p>
            <a:pPr marL="627063"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ECMA-368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ISO/IEC26907</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）标准定义了两种安全级别</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无安全</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和</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强安全保护</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。安全保护包括数据加密，消息认证和重播攻击防护；安全帧提供对数据帧，选择帧和控制帧的保护。 </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602207249"/>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459152"/>
          </a:xfrm>
          <a:prstGeom prst="rect">
            <a:avLst/>
          </a:prstGeom>
          <a:noFill/>
        </p:spPr>
        <p:txBody>
          <a:bodyPr wrap="square" rtlCol="0">
            <a:spAutoFit/>
          </a:bodyPr>
          <a:lstStyle/>
          <a:p>
            <a:pPr marL="341313">
              <a:lnSpc>
                <a:spcPct val="130000"/>
              </a:lnSpc>
              <a:spcBef>
                <a:spcPts val="300"/>
              </a:spcBef>
              <a:spcAft>
                <a:spcPts val="300"/>
              </a:spcAft>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安全模式指是否一个设备被允许或者被需要建立与其他设备进行数据通信的安全关系。</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ECMA-368</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ISO/IEC26907</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标准定义了三种安全模式，用于控制设备间的通信。两台设备通过四次握手协议来建立安全关系，一旦两台设备建立了安全关系，它们将使用安全帧来作为帧传输，如果接受方需要接受安全帧，而发送方无安全帧，那么接受方将丢弃该帧。</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定义了数据传输时使用无安全帧的通信方式，并且与其它设备建立无安全关系的通信方式。在该模式下，如果接受到安全帧，</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层将直接丢弃该帧。</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定义了数据传输时与安全模式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0</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下的设备进行数据通信，或者与未建立安全关系的处于安全模式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下的设备进行数据通信，或者在特定帧的控制下与处于安全模式</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1</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下并建立安全关系的设备进行通信。否则将丢弃数据。</a:t>
            </a:r>
          </a:p>
          <a:p>
            <a:pPr marL="627063" indent="-285750">
              <a:lnSpc>
                <a:spcPct val="130000"/>
              </a:lnSpc>
              <a:spcBef>
                <a:spcPts val="300"/>
              </a:spcBef>
              <a:spcAft>
                <a:spcPts val="300"/>
              </a:spcAft>
              <a:buFont typeface="Times New Roman" panose="02020603050405020304" pitchFamily="18" charset="0"/>
              <a:buChar char="‣"/>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安全模式</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2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不与其它安全模式的设备进行通信，将通过四次握手协议建立安全关系</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414639018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618922"/>
          </a:xfrm>
          <a:prstGeom prst="rect">
            <a:avLst/>
          </a:prstGeom>
          <a:noFill/>
        </p:spPr>
        <p:txBody>
          <a:bodyPr wrap="square" rtlCol="0">
            <a:spAutoFit/>
          </a:bodyPr>
          <a:lstStyle/>
          <a:p>
            <a:pPr marL="341313">
              <a:lnSpc>
                <a:spcPct val="130000"/>
              </a:lnSpc>
              <a:spcBef>
                <a:spcPts val="300"/>
              </a:spcBef>
              <a:spcAft>
                <a:spcPts val="300"/>
              </a:spcAft>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3</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）握手协议</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四次握手协议使得两台具有共享主密钥的设备进行相互认证，同时产生</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PTK(Pair-wise Transient Key)</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来加密特定的帧。 </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313">
              <a:lnSpc>
                <a:spcPct val="130000"/>
              </a:lnSpc>
              <a:spcBef>
                <a:spcPts val="300"/>
              </a:spcBef>
              <a:spcAft>
                <a:spcPts val="300"/>
              </a:spcAft>
            </a:pP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341313">
              <a:lnSpc>
                <a:spcPct val="130000"/>
              </a:lnSpc>
              <a:spcBef>
                <a:spcPts val="300"/>
              </a:spcBef>
              <a:spcAft>
                <a:spcPts val="300"/>
              </a:spcAft>
            </a:pP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4</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）密钥传输</a:t>
            </a:r>
          </a:p>
          <a:p>
            <a:pPr marL="627063" indent="-285750">
              <a:lnSpc>
                <a:spcPct val="130000"/>
              </a:lnSpc>
              <a:spcBef>
                <a:spcPts val="300"/>
              </a:spcBef>
              <a:spcAft>
                <a:spcPts val="300"/>
              </a:spcAft>
              <a:buFont typeface="Times New Roman" panose="02020603050405020304" pitchFamily="18" charset="0"/>
              <a:buChar char="‣"/>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在成功地四次握手并建立安全关系后，两台设备开始分发各自的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GTKs( Group Transient Key )</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GTK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用于组播通信时，对传输数据的加密。每个</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GTK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的分发是通过四次握手中产生的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PTK</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进行加密后再传送。 </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16581889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2735877"/>
          </a:xfrm>
          <a:prstGeom prst="rect">
            <a:avLst/>
          </a:prstGeom>
          <a:noFill/>
        </p:spPr>
        <p:txBody>
          <a:bodyPr wrap="square" rtlCol="0">
            <a:spAutoFit/>
          </a:bodyPr>
          <a:lstStyle/>
          <a:p>
            <a:pPr marL="285750" indent="-285750">
              <a:lnSpc>
                <a:spcPct val="130000"/>
              </a:lnSpc>
              <a:spcBef>
                <a:spcPts val="300"/>
              </a:spcBef>
              <a:spcAft>
                <a:spcPts val="300"/>
              </a:spcAft>
              <a:buFont typeface="Arial" panose="020B0604020202020204" pitchFamily="34" charset="0"/>
              <a:buChar char="•"/>
            </a:pPr>
            <a:r>
              <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网络拒绝服务攻击防御</a:t>
            </a:r>
            <a:endParaRPr lang="en-US" altLang="zh-CN" sz="16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570150"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是一种开放的分布式网络，没有中央控制，所以基于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的物联网在运营过程中受到拒绝服务攻击的概率大大增加</a:t>
            </a:r>
          </a:p>
          <a:p>
            <a:pPr marL="570150" indent="-285750">
              <a:lnSpc>
                <a:spcPct val="130000"/>
              </a:lnSpc>
              <a:spcBef>
                <a:spcPts val="300"/>
              </a:spcBef>
              <a:spcAft>
                <a:spcPts val="300"/>
              </a:spcAft>
              <a:buFont typeface="Times New Roman" panose="02020603050405020304" pitchFamily="18" charset="0"/>
              <a:buChar char="‣"/>
            </a:pP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网络中拒绝服务攻击类型：</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层攻击和网络层攻击</a:t>
            </a:r>
          </a:p>
          <a:p>
            <a:pPr marL="570150"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MAC</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层拒绝服务攻击主要有两种方法：</a:t>
            </a:r>
            <a:endPar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0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拥塞</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网络中的目标节点设备用的无线信道，使目标节点设备不可用</a:t>
            </a:r>
            <a:endPar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marL="62730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将</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网络中的目标节点设备作为网桥，不断中继转发无效的数据帧，以耗尽目标节点的可用资源</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102905468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80920" cy="3332964"/>
          </a:xfrm>
          <a:prstGeom prst="rect">
            <a:avLst/>
          </a:prstGeom>
          <a:noFill/>
        </p:spPr>
        <p:txBody>
          <a:bodyPr wrap="square" rtlCol="0">
            <a:spAutoFit/>
          </a:bodyPr>
          <a:lstStyle/>
          <a:p>
            <a:pPr marL="570150"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 网络拒绝服务攻击方法有：</a:t>
            </a:r>
          </a:p>
          <a:p>
            <a:pPr marL="62730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与</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网络中的被攻击目标节点设备建立大量的无效</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连接来消耗目标节点设备的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TCP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资源，致使正常的连接不能进入</a:t>
            </a:r>
          </a:p>
          <a:p>
            <a:pPr marL="62730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同时向</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网络中的目标节点设备发送大量的伪造的路由更新数据包，致使目标节点设备忙于频繁的无效路由更新</a:t>
            </a:r>
          </a:p>
          <a:p>
            <a:pPr marL="62730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攻击节点通过向路由器的广播地址发送虚假信息，使得路由器所在网络上的每台设备向</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网络中的目标节点设备回应该讯息，从而降低系统的性能</a:t>
            </a:r>
          </a:p>
          <a:p>
            <a:pPr marL="627300" indent="-342900">
              <a:lnSpc>
                <a:spcPct val="130000"/>
              </a:lnSpc>
              <a:spcBef>
                <a:spcPts val="300"/>
              </a:spcBef>
              <a:spcAft>
                <a:spcPts val="300"/>
              </a:spcAft>
              <a:buFont typeface="+mj-ea"/>
              <a:buAutoNum type="circleNumDbPlain"/>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修改</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IP</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数据包头部的</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TTL</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域，使得数据包无法到达</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网络中的目标节点设备</a:t>
            </a:r>
          </a:p>
          <a:p>
            <a:pPr marL="570150" indent="-285750">
              <a:lnSpc>
                <a:spcPct val="130000"/>
              </a:lnSpc>
              <a:spcBef>
                <a:spcPts val="300"/>
              </a:spcBef>
              <a:spcAft>
                <a:spcPts val="300"/>
              </a:spcAft>
              <a:buFont typeface="Times New Roman" panose="02020603050405020304" pitchFamily="18" charset="0"/>
              <a:buChar char="‣"/>
            </a:pPr>
            <a:r>
              <a:rPr lang="en-US" altLang="zh-CN"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b="1"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网络中拒绝服务攻击防御措施</a:t>
            </a:r>
          </a:p>
          <a:p>
            <a:pPr marL="284400">
              <a:lnSpc>
                <a:spcPct val="130000"/>
              </a:lnSpc>
              <a:spcBef>
                <a:spcPts val="300"/>
              </a:spcBef>
              <a:spcAft>
                <a:spcPts val="300"/>
              </a:spcAft>
            </a:pP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可以采用路由路径删除措施来防止</a:t>
            </a:r>
            <a:r>
              <a:rPr lang="en-US" altLang="zh-CN"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UWB</a:t>
            </a:r>
            <a:r>
              <a:rPr lang="zh-CN" altLang="en-US" sz="14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洪水拒绝服务攻击</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a:solidFill>
                  <a:schemeClr val="tx1">
                    <a:lumMod val="50000"/>
                    <a:lumOff val="50000"/>
                  </a:schemeClr>
                </a:solidFill>
                <a:latin typeface="微软雅黑" pitchFamily="34" charset="-122"/>
                <a:ea typeface="微软雅黑" pitchFamily="34" charset="-122"/>
              </a:rPr>
              <a:t>近距离无线接入安全</a:t>
            </a:r>
            <a:endParaRPr lang="zh-CN" altLang="en-US" sz="2000" b="1" dirty="0">
              <a:solidFill>
                <a:schemeClr val="tx1">
                  <a:lumMod val="50000"/>
                  <a:lumOff val="50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302064056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2285752"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第四部分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异构网络安全</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04</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04</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779462862"/>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761368"/>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异构网络融合是个崭新的概念</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尽可能将各种类型的网络融合起来，在一个通用的网络平台上提供多种业务</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物联网的强大包容能力将层出不穷的各种无线通信技术（如</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4G</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等公众移动通信、</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WiMAX</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无线城域网、</a:t>
            </a:r>
            <a:r>
              <a:rPr lang="en-US" altLang="zh-CN" sz="2000" dirty="0" err="1">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WiFi</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无线局域网、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Bluetooth</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等无线个域网、卫星通信网、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Ad Hoc</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WSN</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等）融合在一起，表现出明显的异构网络特征</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面临着异构网络的融合与安全问题，即异构网络除存在各自网络固有的安全需求外</a:t>
            </a:r>
          </a:p>
          <a:p>
            <a:pPr marL="342900" indent="-342900">
              <a:lnSpc>
                <a:spcPct val="130000"/>
              </a:lnSpc>
              <a:spcBef>
                <a:spcPts val="300"/>
              </a:spcBef>
              <a:spcAft>
                <a:spcPts val="300"/>
              </a:spcAft>
              <a:buFont typeface="Wingdings" panose="05000000000000000000" pitchFamily="2" charset="2"/>
              <a:buChar char="Ø"/>
            </a:pP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还面临着网间安全、安全协议的无缝衔接，以及提供多样化新业务带来的新的安全需求等问题</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异构网络的安全新问题</a:t>
            </a:r>
          </a:p>
        </p:txBody>
      </p:sp>
    </p:spTree>
    <p:extLst>
      <p:ext uri="{BB962C8B-B14F-4D97-AF65-F5344CB8AC3E}">
        <p14:creationId xmlns:p14="http://schemas.microsoft.com/office/powerpoint/2010/main" val="319399037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441665"/>
          </a:xfrm>
          <a:prstGeom prst="rect">
            <a:avLst/>
          </a:prstGeom>
          <a:noFill/>
        </p:spPr>
        <p:txBody>
          <a:bodyPr wrap="square" rtlCol="0">
            <a:spAutoFit/>
          </a:bodyPr>
          <a:lstStyle/>
          <a:p>
            <a:pPr marL="342900" indent="-342900">
              <a:lnSpc>
                <a:spcPct val="12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构建一个完善的无线异构网络的安全体系，一般应遵循下列</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个基本原则：</a:t>
            </a:r>
            <a:endPar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a:p>
            <a:pPr marL="342900" marR="0" lvl="0" indent="-342900" fontAlgn="base">
              <a:lnSpc>
                <a:spcPct val="120000"/>
              </a:lnSpc>
              <a:spcBef>
                <a:spcPts val="300"/>
              </a:spcBef>
              <a:spcAft>
                <a:spcPts val="300"/>
              </a:spcAft>
              <a:buClrTx/>
              <a:buSzTx/>
              <a:buFont typeface="+mj-ea"/>
              <a:buAutoNum type="circleNumDbPlain"/>
              <a:defRPr/>
            </a:pP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无线异构网络协议结构符合开放系统互联（</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OSI</a:t>
            </a: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）协议体系，使其安全问题可以从每个层次入手，采用</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分而治之</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的策略将复杂问题分解为若干个子问题而简单化且易于解决</a:t>
            </a:r>
          </a:p>
          <a:p>
            <a:pPr marL="342900" marR="0" lvl="0" indent="-342900" fontAlgn="base">
              <a:lnSpc>
                <a:spcPct val="120000"/>
              </a:lnSpc>
              <a:spcBef>
                <a:spcPts val="300"/>
              </a:spcBef>
              <a:spcAft>
                <a:spcPts val="300"/>
              </a:spcAft>
              <a:buClrTx/>
              <a:buSzTx/>
              <a:buFont typeface="+mj-ea"/>
              <a:buAutoNum type="circleNumDbPlain"/>
              <a:defRPr/>
            </a:pP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各个无线接入子网提供了</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MAC</a:t>
            </a: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层的安全解决方案，整个安全体系可以此为基础构建统一的安全框架，实现安全协议的无缝连接</a:t>
            </a:r>
          </a:p>
          <a:p>
            <a:pPr marL="342900" marR="0" lvl="0" indent="-342900" fontAlgn="base">
              <a:lnSpc>
                <a:spcPct val="120000"/>
              </a:lnSpc>
              <a:spcBef>
                <a:spcPts val="300"/>
              </a:spcBef>
              <a:spcAft>
                <a:spcPts val="300"/>
              </a:spcAft>
              <a:buClrTx/>
              <a:buSzTx/>
              <a:buFont typeface="+mj-ea"/>
              <a:buAutoNum type="circleNumDbPlain"/>
              <a:defRPr/>
            </a:pP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构建的安全体系应符合无线异构网络的业务特点、技术特征和发展趋势，实现安全解决方案的无缝过渡和可扩展性</a:t>
            </a:r>
          </a:p>
          <a:p>
            <a:pPr marR="0" lvl="0" fontAlgn="base">
              <a:lnSpc>
                <a:spcPct val="120000"/>
              </a:lnSpc>
              <a:spcBef>
                <a:spcPts val="300"/>
              </a:spcBef>
              <a:spcAft>
                <a:spcPts val="300"/>
              </a:spcAft>
              <a:buClrTx/>
              <a:buSzTx/>
              <a:defRPr/>
            </a:pPr>
            <a:r>
              <a:rPr lang="zh-CN"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rPr>
              <a:t>基于上述原则，可以采用中心控制式和分布代理式结合的安全管理体系，设置安全代理，对分布式网络在接入认证、访问控制、密钥分发与更新、路由安全、入侵检测、恶意节点发现等方面进行集中式控制</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异构网络的安全原则</a:t>
            </a:r>
          </a:p>
        </p:txBody>
      </p:sp>
    </p:spTree>
    <p:extLst>
      <p:ext uri="{BB962C8B-B14F-4D97-AF65-F5344CB8AC3E}">
        <p14:creationId xmlns:p14="http://schemas.microsoft.com/office/powerpoint/2010/main" val="1704859571"/>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360711"/>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异构网络的路由安全</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异构网络的接入认证机制</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异构网络的入侵检测机制</a:t>
            </a:r>
          </a:p>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异构网络的节点信息传输安全</a:t>
            </a:r>
          </a:p>
          <a:p>
            <a:pPr marL="342900" indent="-342900">
              <a:lnSpc>
                <a:spcPct val="130000"/>
              </a:lnSpc>
              <a:spcBef>
                <a:spcPts val="300"/>
              </a:spcBef>
              <a:spcAft>
                <a:spcPts val="300"/>
              </a:spcAft>
              <a:buFont typeface="Wingdings" panose="05000000000000000000" pitchFamily="2" charset="2"/>
              <a:buChar char="Ø"/>
            </a:pPr>
            <a:endPar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异构网络的安全机制</a:t>
            </a:r>
          </a:p>
        </p:txBody>
      </p:sp>
    </p:spTree>
    <p:extLst>
      <p:ext uri="{BB962C8B-B14F-4D97-AF65-F5344CB8AC3E}">
        <p14:creationId xmlns:p14="http://schemas.microsoft.com/office/powerpoint/2010/main" val="22962417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Administrator\Desktop\58c5f3977fb45副本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18" name="TextBox 11"/>
          <p:cNvSpPr txBox="1"/>
          <p:nvPr/>
        </p:nvSpPr>
        <p:spPr>
          <a:xfrm>
            <a:off x="3443699" y="1906205"/>
            <a:ext cx="1672572" cy="958209"/>
          </a:xfrm>
          <a:prstGeom prst="rect">
            <a:avLst/>
          </a:prstGeom>
          <a:noFill/>
        </p:spPr>
        <p:txBody>
          <a:bodyPr wrap="none" lIns="65023" tIns="32511" rIns="65023" bIns="32511" rtlCol="0">
            <a:spAutoFit/>
          </a:bodyPr>
          <a:lstStyle/>
          <a:p>
            <a:pPr marL="0" lvl="1">
              <a:spcBef>
                <a:spcPts val="600"/>
              </a:spcBef>
              <a:spcAft>
                <a:spcPts val="600"/>
              </a:spcAft>
            </a:pPr>
            <a:r>
              <a:rPr lang="zh-CN" altLang="en-US" sz="1400" b="1" dirty="0">
                <a:solidFill>
                  <a:schemeClr val="bg1"/>
                </a:solidFill>
                <a:latin typeface="微软雅黑" panose="020B0503020204020204" pitchFamily="34" charset="-122"/>
                <a:ea typeface="微软雅黑" panose="020B0503020204020204" pitchFamily="34" charset="-122"/>
              </a:rPr>
              <a:t> </a:t>
            </a:r>
            <a:r>
              <a:rPr lang="zh-CN" altLang="en-US" sz="2000" b="1" dirty="0">
                <a:solidFill>
                  <a:schemeClr val="bg1"/>
                </a:solidFill>
                <a:latin typeface="微软雅黑" panose="020B0503020204020204" pitchFamily="34" charset="-122"/>
                <a:ea typeface="微软雅黑" panose="020B0503020204020204" pitchFamily="34" charset="-122"/>
              </a:rPr>
              <a:t>第五部分</a:t>
            </a:r>
            <a:endParaRPr lang="en-US" altLang="zh-CN" sz="2000" b="1" dirty="0">
              <a:solidFill>
                <a:schemeClr val="bg1"/>
              </a:solidFill>
              <a:latin typeface="微软雅黑" panose="020B0503020204020204" pitchFamily="34" charset="-122"/>
              <a:ea typeface="微软雅黑" panose="020B0503020204020204" pitchFamily="34" charset="-122"/>
            </a:endParaRPr>
          </a:p>
          <a:p>
            <a:pPr marL="0" lvl="1" algn="ctr">
              <a:spcBef>
                <a:spcPts val="600"/>
              </a:spcBef>
              <a:spcAft>
                <a:spcPts val="600"/>
              </a:spcAft>
            </a:pPr>
            <a:r>
              <a:rPr lang="zh-CN" altLang="en-US" sz="2800" b="1" dirty="0">
                <a:latin typeface="微软雅黑" panose="020B0503020204020204" pitchFamily="34" charset="-122"/>
                <a:ea typeface="微软雅黑" panose="020B0503020204020204" pitchFamily="34" charset="-122"/>
              </a:rPr>
              <a:t>路由安全</a:t>
            </a:r>
          </a:p>
        </p:txBody>
      </p:sp>
      <p:cxnSp>
        <p:nvCxnSpPr>
          <p:cNvPr id="19" name="直接连接符 18"/>
          <p:cNvCxnSpPr/>
          <p:nvPr/>
        </p:nvCxnSpPr>
        <p:spPr>
          <a:xfrm flipV="1">
            <a:off x="3308973" y="1808090"/>
            <a:ext cx="0" cy="1420419"/>
          </a:xfrm>
          <a:prstGeom prst="line">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20" name="TextBox 13"/>
          <p:cNvSpPr txBox="1"/>
          <p:nvPr/>
        </p:nvSpPr>
        <p:spPr>
          <a:xfrm>
            <a:off x="2055189" y="2982336"/>
            <a:ext cx="902574" cy="246174"/>
          </a:xfrm>
          <a:prstGeom prst="rect">
            <a:avLst/>
          </a:prstGeom>
          <a:noFill/>
        </p:spPr>
        <p:txBody>
          <a:bodyPr wrap="square" lIns="0" tIns="0" rIns="0" bIns="0" rtlCol="0">
            <a:spAutoFit/>
          </a:bodyPr>
          <a:lstStyle/>
          <a:p>
            <a:r>
              <a:rPr lang="en-US" altLang="zh-CN" sz="1600" dirty="0">
                <a:solidFill>
                  <a:schemeClr val="tx1">
                    <a:lumMod val="65000"/>
                    <a:lumOff val="35000"/>
                  </a:schemeClr>
                </a:solidFill>
                <a:latin typeface="Arial" panose="020B0604020202020204" pitchFamily="34" charset="0"/>
                <a:ea typeface="+mj-ea"/>
                <a:cs typeface="Arial" panose="020B0604020202020204" pitchFamily="34" charset="0"/>
              </a:rPr>
              <a:t>PART 05</a:t>
            </a:r>
            <a:endParaRPr lang="zh-CN" altLang="en-US" sz="1600" dirty="0">
              <a:solidFill>
                <a:schemeClr val="tx1">
                  <a:lumMod val="65000"/>
                  <a:lumOff val="35000"/>
                </a:schemeClr>
              </a:solidFill>
              <a:latin typeface="Arial" panose="020B0604020202020204" pitchFamily="34" charset="0"/>
              <a:ea typeface="+mj-ea"/>
              <a:cs typeface="Arial" panose="020B0604020202020204" pitchFamily="34" charset="0"/>
            </a:endParaRPr>
          </a:p>
        </p:txBody>
      </p:sp>
      <p:grpSp>
        <p:nvGrpSpPr>
          <p:cNvPr id="21" name="组合 25"/>
          <p:cNvGrpSpPr/>
          <p:nvPr/>
        </p:nvGrpSpPr>
        <p:grpSpPr>
          <a:xfrm>
            <a:off x="1907704" y="1781931"/>
            <a:ext cx="1050058" cy="1050116"/>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80808"/>
                </a:solidFill>
                <a:latin typeface="+mj-ea"/>
                <a:ea typeface="+mj-ea"/>
              </a:endParaRPr>
            </a:p>
          </p:txBody>
        </p:sp>
      </p:grpSp>
      <p:sp>
        <p:nvSpPr>
          <p:cNvPr id="26" name="TextBox 13"/>
          <p:cNvSpPr txBox="1"/>
          <p:nvPr/>
        </p:nvSpPr>
        <p:spPr>
          <a:xfrm>
            <a:off x="2122551" y="1923472"/>
            <a:ext cx="902574" cy="769248"/>
          </a:xfrm>
          <a:prstGeom prst="rect">
            <a:avLst/>
          </a:prstGeom>
          <a:noFill/>
        </p:spPr>
        <p:txBody>
          <a:bodyPr wrap="square" lIns="0" tIns="0" rIns="0" bIns="0" rtlCol="0">
            <a:spAutoFit/>
          </a:bodyPr>
          <a:lstStyle/>
          <a:p>
            <a:r>
              <a:rPr lang="en-US" altLang="zh-CN" sz="5000" b="1" dirty="0">
                <a:solidFill>
                  <a:schemeClr val="accent1"/>
                </a:solidFill>
                <a:latin typeface="Arial" panose="020B0604020202020204" pitchFamily="34" charset="0"/>
                <a:ea typeface="+mj-ea"/>
                <a:cs typeface="Arial" panose="020B0604020202020204" pitchFamily="34" charset="0"/>
              </a:rPr>
              <a:t>05</a:t>
            </a:r>
            <a:endParaRPr lang="zh-CN" altLang="en-US" sz="5000" b="1" dirty="0">
              <a:solidFill>
                <a:schemeClr val="accent1"/>
              </a:solidFill>
              <a:latin typeface="Arial" panose="020B0604020202020204" pitchFamily="34" charset="0"/>
              <a:ea typeface="+mj-ea"/>
              <a:cs typeface="Arial" panose="020B0604020202020204" pitchFamily="34" charset="0"/>
            </a:endParaRPr>
          </a:p>
        </p:txBody>
      </p:sp>
    </p:spTree>
    <p:extLst>
      <p:ext uri="{BB962C8B-B14F-4D97-AF65-F5344CB8AC3E}">
        <p14:creationId xmlns:p14="http://schemas.microsoft.com/office/powerpoint/2010/main" val="70824444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randombar(horizontal)">
                                      <p:cBhvr>
                                        <p:cTn id="7" dur="500"/>
                                        <p:tgtEl>
                                          <p:spTgt spid="409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down)">
                                      <p:cBhvr>
                                        <p:cTn id="11" dur="500"/>
                                        <p:tgtEl>
                                          <p:spTgt spid="1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par>
                          <p:cTn id="16" fill="hold">
                            <p:stCondLst>
                              <p:cond delay="1500"/>
                            </p:stCondLst>
                            <p:childTnLst>
                              <p:par>
                                <p:cTn id="17" presetID="47"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anim calcmode="lin" valueType="num">
                                      <p:cBhvr>
                                        <p:cTn id="20" dur="500" fill="hold"/>
                                        <p:tgtEl>
                                          <p:spTgt spid="26"/>
                                        </p:tgtEl>
                                        <p:attrNameLst>
                                          <p:attrName>ppt_x</p:attrName>
                                        </p:attrNameLst>
                                      </p:cBhvr>
                                      <p:tavLst>
                                        <p:tav tm="0">
                                          <p:val>
                                            <p:strVal val="#ppt_x"/>
                                          </p:val>
                                        </p:tav>
                                        <p:tav tm="100000">
                                          <p:val>
                                            <p:strVal val="#ppt_x"/>
                                          </p:val>
                                        </p:tav>
                                      </p:tavLst>
                                    </p:anim>
                                    <p:anim calcmode="lin" valueType="num">
                                      <p:cBhvr>
                                        <p:cTn id="21" dur="500" fill="hold"/>
                                        <p:tgtEl>
                                          <p:spTgt spid="26"/>
                                        </p:tgtEl>
                                        <p:attrNameLst>
                                          <p:attrName>ppt_y</p:attrName>
                                        </p:attrNameLst>
                                      </p:cBhvr>
                                      <p:tavLst>
                                        <p:tav tm="0">
                                          <p:val>
                                            <p:strVal val="#ppt_y-.1"/>
                                          </p:val>
                                        </p:tav>
                                        <p:tav tm="100000">
                                          <p:val>
                                            <p:strVal val="#ppt_y"/>
                                          </p:val>
                                        </p:tav>
                                      </p:tavLst>
                                    </p:anim>
                                  </p:childTnLst>
                                </p:cTn>
                              </p:par>
                            </p:childTnLst>
                          </p:cTn>
                        </p:par>
                        <p:par>
                          <p:cTn id="22" fill="hold">
                            <p:stCondLst>
                              <p:cond delay="2000"/>
                            </p:stCondLst>
                            <p:childTnLst>
                              <p:par>
                                <p:cTn id="23" presetID="12" presetClass="entr" presetSubtype="8" fill="hold" grpId="0" nodeType="afterEffect">
                                  <p:stCondLst>
                                    <p:cond delay="0"/>
                                  </p:stCondLst>
                                  <p:childTnLst>
                                    <p:set>
                                      <p:cBhvr>
                                        <p:cTn id="24" dur="1" fill="hold">
                                          <p:stCondLst>
                                            <p:cond delay="0"/>
                                          </p:stCondLst>
                                        </p:cTn>
                                        <p:tgtEl>
                                          <p:spTgt spid="18"/>
                                        </p:tgtEl>
                                        <p:attrNameLst>
                                          <p:attrName>style.visibility</p:attrName>
                                        </p:attrNameLst>
                                      </p:cBhvr>
                                      <p:to>
                                        <p:strVal val="visible"/>
                                      </p:to>
                                    </p:set>
                                    <p:anim calcmode="lin" valueType="num">
                                      <p:cBhvr additive="base">
                                        <p:cTn id="25" dur="500"/>
                                        <p:tgtEl>
                                          <p:spTgt spid="18"/>
                                        </p:tgtEl>
                                        <p:attrNameLst>
                                          <p:attrName>ppt_x</p:attrName>
                                        </p:attrNameLst>
                                      </p:cBhvr>
                                      <p:tavLst>
                                        <p:tav tm="0">
                                          <p:val>
                                            <p:strVal val="#ppt_x-#ppt_w*1.125000"/>
                                          </p:val>
                                        </p:tav>
                                        <p:tav tm="100000">
                                          <p:val>
                                            <p:strVal val="#ppt_x"/>
                                          </p:val>
                                        </p:tav>
                                      </p:tavLst>
                                    </p:anim>
                                    <p:animEffect transition="in" filter="wipe(right)">
                                      <p:cBhvr>
                                        <p:cTn id="26" dur="500"/>
                                        <p:tgtEl>
                                          <p:spTgt spid="18"/>
                                        </p:tgtEl>
                                      </p:cBhvr>
                                    </p:animEffect>
                                  </p:childTnLst>
                                </p:cTn>
                              </p:par>
                            </p:childTnLst>
                          </p:cTn>
                        </p:par>
                        <p:par>
                          <p:cTn id="27" fill="hold">
                            <p:stCondLst>
                              <p:cond delay="2500"/>
                            </p:stCondLst>
                            <p:childTnLst>
                              <p:par>
                                <p:cTn id="28" presetID="47" presetClass="entr" presetSubtype="0" fill="hold" grpId="0"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0" grpId="0"/>
      <p:bldP spid="26"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792641"/>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路由是网络层的核心功能。路由面临的安全威胁主要有：</a:t>
            </a: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哄骗、篡改或重放路由信息</a:t>
            </a: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选择性转发（</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selective forwarding</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污水池（</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sinkhole</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）攻击</a:t>
            </a: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女巫（</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sybil</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）攻击</a:t>
            </a: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(5)</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虫洞（</a:t>
            </a: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wormhole</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）攻击</a:t>
            </a: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(6) Hello</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洪泛攻击</a:t>
            </a:r>
          </a:p>
          <a:p>
            <a:pPr>
              <a:lnSpc>
                <a:spcPct val="130000"/>
              </a:lnSpc>
              <a:spcBef>
                <a:spcPts val="300"/>
              </a:spcBef>
              <a:spcAft>
                <a:spcPts val="300"/>
              </a:spcAft>
            </a:pPr>
            <a:r>
              <a:rPr lang="en-US" altLang="zh-CN"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(7)</a:t>
            </a:r>
            <a:r>
              <a:rPr lang="zh-CN" altLang="en-US" sz="2000"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应答欺骗</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路由面临的安全威胁</a:t>
            </a:r>
          </a:p>
        </p:txBody>
      </p:sp>
    </p:spTree>
    <p:extLst>
      <p:ext uri="{BB962C8B-B14F-4D97-AF65-F5344CB8AC3E}">
        <p14:creationId xmlns:p14="http://schemas.microsoft.com/office/powerpoint/2010/main" val="387852734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212593"/>
          </a:xfrm>
          <a:prstGeom prst="rect">
            <a:avLst/>
          </a:prstGeom>
          <a:noFill/>
        </p:spPr>
        <p:txBody>
          <a:bodyPr wrap="square" rtlCol="0">
            <a:spAutoFit/>
          </a:bodyPr>
          <a:lstStyle/>
          <a:p>
            <a:pPr marL="342900" indent="-342900">
              <a:lnSpc>
                <a:spcPct val="130000"/>
              </a:lnSpc>
              <a:spcBef>
                <a:spcPts val="300"/>
              </a:spcBef>
              <a:spcAft>
                <a:spcPts val="300"/>
              </a:spcAft>
              <a:buFont typeface="Wingdings" panose="05000000000000000000" pitchFamily="2" charset="2"/>
              <a:buChar char="Ø"/>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路由安全需要解决以下问题：</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建立低计算、低通信开销的认证机制以阻止攻击者基于洪泛节点执行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DoS</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安全路由发现</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路由维护</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避免路由误操作</a:t>
            </a: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路由安全的防御对策</a:t>
            </a:r>
          </a:p>
        </p:txBody>
      </p:sp>
    </p:spTree>
    <p:extLst>
      <p:ext uri="{BB962C8B-B14F-4D97-AF65-F5344CB8AC3E}">
        <p14:creationId xmlns:p14="http://schemas.microsoft.com/office/powerpoint/2010/main" val="3853679967"/>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2924903"/>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）针对外部攻击的防御对策</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由于外部攻击者不在网络拓扑中，因此可通过链路层数据加密和认证实现有效防护</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如</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sybil</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攻击，它所发布的虚假位置信息在密钥认证下不再起作用</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选择性转发攻击和</a:t>
            </a:r>
            <a:r>
              <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sinkhole</a:t>
            </a: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攻击在无法取得密钥时不能进入网络拓扑，也起不了作用</a:t>
            </a:r>
          </a:p>
          <a:p>
            <a:pPr marL="285750" indent="-28575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路由安全的防御对策</a:t>
            </a:r>
          </a:p>
        </p:txBody>
      </p:sp>
    </p:spTree>
    <p:extLst>
      <p:ext uri="{BB962C8B-B14F-4D97-AF65-F5344CB8AC3E}">
        <p14:creationId xmlns:p14="http://schemas.microsoft.com/office/powerpoint/2010/main" val="3189113658"/>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4756174"/>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）针对内部攻击的防御对策</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首先加强来自网络外部的攻击防御，使攻击者难以对网内节点攻击成功并转换为内部攻击</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其次，加强对内部节点行为的检测和攻击行为发现，以便及时将其从网络中剔除</a:t>
            </a:r>
          </a:p>
          <a:p>
            <a:pPr marL="285750" indent="-285750">
              <a:lnSpc>
                <a:spcPct val="130000"/>
              </a:lnSpc>
              <a:spcBef>
                <a:spcPts val="300"/>
              </a:spcBef>
              <a:spcAft>
                <a:spcPts val="300"/>
              </a:spcAft>
              <a:buFont typeface="Wingdings" panose="05000000000000000000" pitchFamily="2" charset="2"/>
              <a:buChar char="n"/>
            </a:pPr>
            <a:r>
              <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必须对节点身份进行验证。可使用的方法包括：</a:t>
            </a:r>
            <a:endParaRPr lang="en-US" altLang="zh-CN"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①使每个节点与可信任的基站共享唯一的对称密钥，两个节点间使用协议相互验证身份，并建立共享密钥</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②使用密钥预分布模型，即将节点身份与其对应密钥结合</a:t>
            </a:r>
          </a:p>
          <a:p>
            <a:pPr>
              <a:lnSpc>
                <a:spcPct val="130000"/>
              </a:lnSpc>
              <a:spcBef>
                <a:spcPts val="300"/>
              </a:spcBef>
              <a:spcAft>
                <a:spcPts val="300"/>
              </a:spcAft>
            </a:pPr>
            <a:r>
              <a:rPr lang="zh-CN" altLang="en-US" sz="1600"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rPr>
              <a:t>③安全定位，即一个节点在攻击者存在的环境中能准确确定其地理位置，而且攻击者无法对基础设施宣称拥有虚假位置</a:t>
            </a:r>
          </a:p>
          <a:p>
            <a:pPr marL="285750" indent="-28575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路由安全的防御对策</a:t>
            </a:r>
          </a:p>
        </p:txBody>
      </p:sp>
    </p:spTree>
    <p:extLst>
      <p:ext uri="{BB962C8B-B14F-4D97-AF65-F5344CB8AC3E}">
        <p14:creationId xmlns:p14="http://schemas.microsoft.com/office/powerpoint/2010/main" val="152206247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899209"/>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1</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INTRSN</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入侵容忍路由是在动态源路由中加入安全机制形成的，目的是阻止入侵者阻塞传感器采集的正确数据的发送。它的一个重要特点是允许恶意节点威胁它周围的少量节点，但是威胁被限制在一定范围内，单个被俘节点只能破坏网络的局部区域，不能使整个网络崩溃。即</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INTRSN</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安全路由协议是综合利用冗余路由及认证机制来化解入侵的危害</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2</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TRANS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位置敏感的传感器网络可信路由是一个建立在地理路由（</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GPSR</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）基础上的安全路由协议，为物联网中隔离恶意节点和建立信任路由提出了一个以位置为中心的体系结构。</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TRANS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的主要思想是使用信任概念来选择安全路径和避免不安全位置</a:t>
            </a: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路由安全协议</a:t>
            </a:r>
          </a:p>
        </p:txBody>
      </p:sp>
    </p:spTree>
    <p:extLst>
      <p:ext uri="{BB962C8B-B14F-4D97-AF65-F5344CB8AC3E}">
        <p14:creationId xmlns:p14="http://schemas.microsoft.com/office/powerpoint/2010/main" val="2925727190"/>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611560" y="789039"/>
            <a:ext cx="8208912" cy="3968266"/>
          </a:xfrm>
          <a:prstGeom prst="rect">
            <a:avLst/>
          </a:prstGeom>
          <a:noFill/>
        </p:spPr>
        <p:txBody>
          <a:bodyPr wrap="square" rtlCol="0">
            <a:spAutoFit/>
          </a:bodyPr>
          <a:lstStyle/>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3</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SPINS</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是专为资源有限的传感器网络优化设计的一套安全模块，包括</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SNEP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µTESLA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两部分，其提供的路由安全性取决于密钥系统的安全性。</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SNEP</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提供数据机密性（加密）、完整性（</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）、双方通信数据认证（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MAC</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）和数据新鲜性；</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µTESLA</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提供广播认证</a:t>
            </a:r>
            <a:endPar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endPar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endParaRPr>
          </a:p>
          <a:p>
            <a:pPr>
              <a:lnSpc>
                <a:spcPct val="130000"/>
              </a:lnSpc>
              <a:spcBef>
                <a:spcPts val="300"/>
              </a:spcBef>
              <a:spcAft>
                <a:spcPts val="300"/>
              </a:spcAft>
            </a:pP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4</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en-US" altLang="zh-CN"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SLEACH</a:t>
            </a:r>
            <a:r>
              <a:rPr lang="zh-CN" altLang="en-US" sz="2000" b="1" dirty="0">
                <a:solidFill>
                  <a:srgbClr val="008F92"/>
                </a:solidFill>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安全的低能量自适应成簇层次式路由协议的安全机制与</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SPINS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大致相同，只是针对</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SPINS</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的安全机制、协议框架作简单修改后应用到</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LEACH</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路由协议中，主要从加密的角度保证</a:t>
            </a:r>
            <a:r>
              <a:rPr lang="en-US" altLang="zh-CN"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LEACH</a:t>
            </a:r>
            <a:r>
              <a:rPr lang="zh-CN" altLang="en-US" dirty="0">
                <a:solidFill>
                  <a:srgbClr val="008F92"/>
                </a:solidFill>
                <a:latin typeface="华文楷体" panose="02010600040101010101" pitchFamily="2" charset="-122"/>
                <a:ea typeface="华文楷体" panose="02010600040101010101" pitchFamily="2" charset="-122"/>
                <a:cs typeface="Times New Roman" panose="02020603050405020304" pitchFamily="18" charset="0"/>
                <a:sym typeface="Arial" panose="020B0604020202020204" pitchFamily="34" charset="0"/>
              </a:rPr>
              <a:t>协议的安全性；该协议假设网络中每个节点与基站有一个唯一的共享密钥</a:t>
            </a:r>
          </a:p>
          <a:p>
            <a:pPr marL="285750" indent="-285750">
              <a:lnSpc>
                <a:spcPct val="130000"/>
              </a:lnSpc>
              <a:spcBef>
                <a:spcPts val="300"/>
              </a:spcBef>
              <a:spcAft>
                <a:spcPts val="300"/>
              </a:spcAft>
              <a:buFont typeface="Wingdings" panose="05000000000000000000" pitchFamily="2" charset="2"/>
              <a:buChar char="n"/>
            </a:pPr>
            <a:endParaRPr lang="zh-CN" altLang="en-US" dirty="0">
              <a:solidFill>
                <a:srgbClr val="008F92"/>
              </a:solidFill>
              <a:latin typeface="Times New Roman" panose="02020603050405020304" pitchFamily="18" charset="0"/>
              <a:ea typeface="华文楷体" panose="02010600040101010101" pitchFamily="2" charset="-122"/>
              <a:cs typeface="Times New Roman" panose="02020603050405020304" pitchFamily="18" charset="0"/>
              <a:sym typeface="Arial" panose="020B0604020202020204" pitchFamily="34" charset="0"/>
            </a:endParaRPr>
          </a:p>
        </p:txBody>
      </p:sp>
      <p:sp>
        <p:nvSpPr>
          <p:cNvPr id="3" name="TextBox 46">
            <a:extLst>
              <a:ext uri="{FF2B5EF4-FFF2-40B4-BE49-F238E27FC236}">
                <a16:creationId xmlns:a16="http://schemas.microsoft.com/office/drawing/2014/main" id="{DA5EA6A5-6E00-4FFF-A2BA-8E47063733E7}"/>
              </a:ext>
            </a:extLst>
          </p:cNvPr>
          <p:cNvSpPr txBox="1"/>
          <p:nvPr/>
        </p:nvSpPr>
        <p:spPr>
          <a:xfrm>
            <a:off x="899592" y="123478"/>
            <a:ext cx="7560840" cy="389168"/>
          </a:xfrm>
          <a:prstGeom prst="rect">
            <a:avLst/>
          </a:prstGeom>
          <a:noFill/>
        </p:spPr>
        <p:txBody>
          <a:bodyPr wrap="square" lIns="80605" tIns="40302" rIns="80605" bIns="40302" rtlCol="0">
            <a:spAutoFit/>
          </a:bodyPr>
          <a:lstStyle/>
          <a:p>
            <a:r>
              <a:rPr lang="zh-CN" altLang="en-US" sz="2000" b="1" dirty="0">
                <a:solidFill>
                  <a:schemeClr val="tx1">
                    <a:lumMod val="50000"/>
                    <a:lumOff val="50000"/>
                  </a:schemeClr>
                </a:solidFill>
                <a:latin typeface="微软雅黑" pitchFamily="34" charset="-122"/>
                <a:ea typeface="微软雅黑" pitchFamily="34" charset="-122"/>
              </a:rPr>
              <a:t>路由安全协议</a:t>
            </a:r>
          </a:p>
        </p:txBody>
      </p:sp>
    </p:spTree>
    <p:extLst>
      <p:ext uri="{BB962C8B-B14F-4D97-AF65-F5344CB8AC3E}">
        <p14:creationId xmlns:p14="http://schemas.microsoft.com/office/powerpoint/2010/main" val="3772554454"/>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5" fill="hold" grpId="0" nodeType="withEffect">
                                  <p:stCondLst>
                                    <p:cond delay="10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
                                          </p:val>
                                        </p:tav>
                                        <p:tav tm="100000">
                                          <p:val>
                                            <p:strVal val="#ppt_w"/>
                                          </p:val>
                                        </p:tav>
                                      </p:tavLst>
                                    </p:anim>
                                    <p:anim calcmode="lin" valueType="num">
                                      <p:cBhvr>
                                        <p:cTn id="8" dur="500" fill="hold"/>
                                        <p:tgtEl>
                                          <p:spTgt spid="3"/>
                                        </p:tgtEl>
                                        <p:attrNameLst>
                                          <p:attrName>ppt_h</p:attrName>
                                        </p:attrNameLst>
                                      </p:cBhvr>
                                      <p:tavLst>
                                        <p:tav tm="0" fmla="#ppt_h*sin(2.5*pi*$)">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Administrator\Desktop\58c5f3977fb45副本.jpg"/>
          <p:cNvPicPr>
            <a:picLocks noChangeAspect="1" noChangeArrowheads="1"/>
          </p:cNvPicPr>
          <p:nvPr/>
        </p:nvPicPr>
        <p:blipFill>
          <a:blip r:embed="rId3" cstate="print"/>
          <a:srcRect/>
          <a:stretch>
            <a:fillRect/>
          </a:stretch>
        </p:blipFill>
        <p:spPr bwMode="auto">
          <a:xfrm>
            <a:off x="0" y="0"/>
            <a:ext cx="9144000" cy="5148262"/>
          </a:xfrm>
          <a:prstGeom prst="rect">
            <a:avLst/>
          </a:prstGeom>
          <a:noFill/>
        </p:spPr>
      </p:pic>
      <p:sp>
        <p:nvSpPr>
          <p:cNvPr id="23" name="Rectangle 3"/>
          <p:cNvSpPr txBox="1">
            <a:spLocks noChangeArrowheads="1"/>
          </p:cNvSpPr>
          <p:nvPr/>
        </p:nvSpPr>
        <p:spPr bwMode="auto">
          <a:xfrm>
            <a:off x="3779912" y="1923678"/>
            <a:ext cx="5134457" cy="890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62" tIns="34281" rIns="68562" bIns="34281" numCol="1" anchor="ctr" anchorCtr="0" compatLnSpc="1"/>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a:lstStyle>
          <a:p>
            <a:pPr algn="dist"/>
            <a:r>
              <a:rPr lang="zh-CN" altLang="en-US" sz="4799" b="1" dirty="0">
                <a:solidFill>
                  <a:schemeClr val="bg1"/>
                </a:solidFill>
                <a:latin typeface="微软雅黑" panose="020B0503020204020204" pitchFamily="34" charset="-122"/>
                <a:ea typeface="微软雅黑" panose="020B0503020204020204" pitchFamily="34" charset="-122"/>
              </a:rPr>
              <a:t>谢谢大家</a:t>
            </a:r>
          </a:p>
        </p:txBody>
      </p:sp>
    </p:spTree>
    <p:extLst>
      <p:ext uri="{BB962C8B-B14F-4D97-AF65-F5344CB8AC3E}">
        <p14:creationId xmlns:p14="http://schemas.microsoft.com/office/powerpoint/2010/main" val="1557010203"/>
      </p:ext>
    </p:extLst>
  </p:cSld>
  <p:clrMapOvr>
    <a:masterClrMapping/>
  </p:clrMapOvr>
  <mc:AlternateContent xmlns:mc="http://schemas.openxmlformats.org/markup-compatibility/2006" xmlns:p14="http://schemas.microsoft.com/office/powerpoint/2010/main">
    <mc:Choice Requires="p14">
      <p:transition spd="slow" p14:dur="225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randombar(horizontal)">
                                      <p:cBhvr>
                                        <p:cTn id="7" dur="500"/>
                                        <p:tgtEl>
                                          <p:spTgt spid="1028"/>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23"/>
                                        </p:tgtEl>
                                        <p:attrNameLst>
                                          <p:attrName>style.visibility</p:attrName>
                                        </p:attrNameLst>
                                      </p:cBhvr>
                                      <p:to>
                                        <p:strVal val="visible"/>
                                      </p:to>
                                    </p:set>
                                    <p:anim by="(-#ppt_w*2)" calcmode="lin" valueType="num">
                                      <p:cBhvr rctx="PPT">
                                        <p:cTn id="11" dur="500" autoRev="1" fill="hold">
                                          <p:stCondLst>
                                            <p:cond delay="0"/>
                                          </p:stCondLst>
                                        </p:cTn>
                                        <p:tgtEl>
                                          <p:spTgt spid="23"/>
                                        </p:tgtEl>
                                        <p:attrNameLst>
                                          <p:attrName>ppt_w</p:attrName>
                                        </p:attrNameLst>
                                      </p:cBhvr>
                                    </p:anim>
                                    <p:anim by="(#ppt_w*0.50)" calcmode="lin" valueType="num">
                                      <p:cBhvr>
                                        <p:cTn id="12" dur="500" decel="50000" autoRev="1" fill="hold">
                                          <p:stCondLst>
                                            <p:cond delay="0"/>
                                          </p:stCondLst>
                                        </p:cTn>
                                        <p:tgtEl>
                                          <p:spTgt spid="23"/>
                                        </p:tgtEl>
                                        <p:attrNameLst>
                                          <p:attrName>ppt_x</p:attrName>
                                        </p:attrNameLst>
                                      </p:cBhvr>
                                    </p:anim>
                                    <p:anim from="(-#ppt_h/2)" to="(#ppt_y)" calcmode="lin" valueType="num">
                                      <p:cBhvr>
                                        <p:cTn id="13" dur="1000" fill="hold">
                                          <p:stCondLst>
                                            <p:cond delay="0"/>
                                          </p:stCondLst>
                                        </p:cTn>
                                        <p:tgtEl>
                                          <p:spTgt spid="23"/>
                                        </p:tgtEl>
                                        <p:attrNameLst>
                                          <p:attrName>ppt_y</p:attrName>
                                        </p:attrNameLst>
                                      </p:cBhvr>
                                    </p:anim>
                                    <p:animRot by="21600000">
                                      <p:cBhvr>
                                        <p:cTn id="14" dur="1000" fill="hold">
                                          <p:stCondLst>
                                            <p:cond delay="0"/>
                                          </p:stCondLst>
                                        </p:cTn>
                                        <p:tgtEl>
                                          <p:spTgt spid="2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互联网通信计算机工程网络安全第一ppt模版"/>
</p:tagLst>
</file>

<file path=ppt/tags/tag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6.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7.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3"/>
</p:tagLst>
</file>

<file path=ppt/tags/tag8.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9.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OTHERS"/>
  <p:tag name="ID" val="553512"/>
</p:tagLst>
</file>

<file path=ppt/tags/tag10.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2"/>
</p:tagLst>
</file>

<file path=ppt/tags/tag11.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2"/>
</p:tagLst>
</file>

<file path=ppt/tags/tag12.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NUMBER"/>
  <p:tag name="ID" val="553512"/>
  <p:tag name="MH_ORDER" val="3"/>
</p:tagLst>
</file>

<file path=ppt/tags/tag13.xml><?xml version="1.0" encoding="utf-8"?>
<p:tagLst xmlns:a="http://schemas.openxmlformats.org/drawingml/2006/main" xmlns:r="http://schemas.openxmlformats.org/officeDocument/2006/relationships" xmlns:p="http://schemas.openxmlformats.org/presentationml/2006/main">
  <p:tag name="MH" val="20160830110146"/>
  <p:tag name="MH_LIBRARY" val="CONTENTS"/>
  <p:tag name="MH_TYPE" val="ENTRY"/>
  <p:tag name="ID" val="553512"/>
  <p:tag name="MH_ORDER" val="3"/>
</p:tagLst>
</file>

<file path=ppt/tags/tag14.xml><?xml version="1.0" encoding="utf-8"?>
<p:tagLst xmlns:a="http://schemas.openxmlformats.org/drawingml/2006/main" xmlns:r="http://schemas.openxmlformats.org/officeDocument/2006/relationships" xmlns:p="http://schemas.openxmlformats.org/presentationml/2006/main">
  <p:tag name="KSO_WM_UNIT_TABLE_BEAUTIFY" val="smartTable{d2281ddc-7f88-4d8e-97b6-c9c2b421ac4e}"/>
</p:tagLst>
</file>

<file path=ppt/theme/theme1.xml><?xml version="1.0" encoding="utf-8"?>
<a:theme xmlns:a="http://schemas.openxmlformats.org/drawingml/2006/main" name="第一PPT，www.1ppt.com​">
  <a:themeElements>
    <a:clrScheme name="自定义 921">
      <a:dk1>
        <a:sysClr val="windowText" lastClr="000000"/>
      </a:dk1>
      <a:lt1>
        <a:sysClr val="window" lastClr="FFFFFF"/>
      </a:lt1>
      <a:dk2>
        <a:srgbClr val="04617B"/>
      </a:dk2>
      <a:lt2>
        <a:srgbClr val="DBF5F9"/>
      </a:lt2>
      <a:accent1>
        <a:srgbClr val="20A9DD"/>
      </a:accent1>
      <a:accent2>
        <a:srgbClr val="52B98C"/>
      </a:accent2>
      <a:accent3>
        <a:srgbClr val="20A9DD"/>
      </a:accent3>
      <a:accent4>
        <a:srgbClr val="52B98C"/>
      </a:accent4>
      <a:accent5>
        <a:srgbClr val="20A9DD"/>
      </a:accent5>
      <a:accent6>
        <a:srgbClr val="52B98C"/>
      </a:accent6>
      <a:hlink>
        <a:srgbClr val="E2D700"/>
      </a:hlink>
      <a:folHlink>
        <a:srgbClr val="85DFD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58120</TotalTime>
  <Words>13390</Words>
  <Application>Microsoft Office PowerPoint</Application>
  <PresentationFormat>全屏显示(16:9)</PresentationFormat>
  <Paragraphs>1100</Paragraphs>
  <Slides>121</Slides>
  <Notes>121</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3</vt:i4>
      </vt:variant>
      <vt:variant>
        <vt:lpstr>幻灯片标题</vt:lpstr>
      </vt:variant>
      <vt:variant>
        <vt:i4>121</vt:i4>
      </vt:variant>
    </vt:vector>
  </HeadingPairs>
  <TitlesOfParts>
    <vt:vector size="132" baseType="lpstr">
      <vt:lpstr>Arial</vt:lpstr>
      <vt:lpstr>Calibri</vt:lpstr>
      <vt:lpstr>宋体</vt:lpstr>
      <vt:lpstr>微软雅黑</vt:lpstr>
      <vt:lpstr>Times New Roman</vt:lpstr>
      <vt:lpstr>Wingdings</vt:lpstr>
      <vt:lpstr>华文楷体</vt:lpstr>
      <vt:lpstr>第一PPT，www.1ppt.com​</vt:lpstr>
      <vt:lpstr>Microsoft Visio Drawing</vt:lpstr>
      <vt:lpstr>Visio</vt:lpstr>
      <vt:lpstr>Microsoft Visio 2003-2010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互联网通信计算机</dc:title>
  <dc:creator>第一PPT</dc:creator>
  <cp:keywords>www.1ppt.com</cp:keywords>
  <dc:description>www.1ppt.com</dc:description>
  <cp:lastModifiedBy>Liu Minghao</cp:lastModifiedBy>
  <cp:revision>464</cp:revision>
  <dcterms:created xsi:type="dcterms:W3CDTF">2014-11-09T01:07:25Z</dcterms:created>
  <dcterms:modified xsi:type="dcterms:W3CDTF">2023-04-15T14:53:18Z</dcterms:modified>
</cp:coreProperties>
</file>