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19"/>
  </p:notesMasterIdLst>
  <p:handoutMasterIdLst>
    <p:handoutMasterId r:id="rId42"/>
  </p:handoutMasterIdLst>
  <p:sldIdLst>
    <p:sldId id="801" r:id="rId5"/>
    <p:sldId id="918" r:id="rId6"/>
    <p:sldId id="1068" r:id="rId7"/>
    <p:sldId id="1132" r:id="rId8"/>
    <p:sldId id="1133" r:id="rId9"/>
    <p:sldId id="1134" r:id="rId10"/>
    <p:sldId id="1135" r:id="rId11"/>
    <p:sldId id="1136" r:id="rId12"/>
    <p:sldId id="1137" r:id="rId13"/>
    <p:sldId id="1138" r:id="rId14"/>
    <p:sldId id="1139" r:id="rId15"/>
    <p:sldId id="1140" r:id="rId16"/>
    <p:sldId id="1141" r:id="rId17"/>
    <p:sldId id="1143" r:id="rId18"/>
    <p:sldId id="1142" r:id="rId20"/>
    <p:sldId id="1144" r:id="rId21"/>
    <p:sldId id="1145" r:id="rId22"/>
    <p:sldId id="1146" r:id="rId23"/>
    <p:sldId id="1147" r:id="rId24"/>
    <p:sldId id="1148" r:id="rId25"/>
    <p:sldId id="1149" r:id="rId26"/>
    <p:sldId id="1150" r:id="rId27"/>
    <p:sldId id="1151" r:id="rId28"/>
    <p:sldId id="1157" r:id="rId29"/>
    <p:sldId id="1158" r:id="rId30"/>
    <p:sldId id="1152" r:id="rId31"/>
    <p:sldId id="1153" r:id="rId32"/>
    <p:sldId id="1154" r:id="rId33"/>
    <p:sldId id="1155" r:id="rId34"/>
    <p:sldId id="1156" r:id="rId35"/>
    <p:sldId id="1159" r:id="rId36"/>
    <p:sldId id="1160" r:id="rId37"/>
    <p:sldId id="1161" r:id="rId38"/>
    <p:sldId id="1162" r:id="rId39"/>
    <p:sldId id="457" r:id="rId40"/>
    <p:sldId id="341" r:id="rId41"/>
  </p:sldIdLst>
  <p:sldSz cx="9144000" cy="51435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1pPr>
    <a:lvl2pPr marL="285750" lvl="1" indent="1714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2pPr>
    <a:lvl3pPr marL="573405" lvl="2" indent="34099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3pPr>
    <a:lvl4pPr marL="860425" lvl="3" indent="51117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4pPr>
    <a:lvl5pPr marL="1148080" lvl="4" indent="68072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5pPr>
    <a:lvl6pPr marL="2286000" lvl="5" indent="68072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6pPr>
    <a:lvl7pPr marL="2743200" lvl="6" indent="68072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7pPr>
    <a:lvl8pPr marL="3200400" lvl="7" indent="68072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8pPr>
    <a:lvl9pPr marL="3657600" lvl="8" indent="68072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600" b="0" i="0" u="none" kern="1200" baseline="0">
        <a:solidFill>
          <a:srgbClr val="FFFFFF"/>
        </a:solidFill>
        <a:latin typeface="Helvetica Neue Light" charset="0"/>
        <a:ea typeface="+mn-ea"/>
        <a:cs typeface="+mn-cs"/>
        <a:sym typeface="Helvetica Neue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4000"/>
  </p:normalViewPr>
  <p:slideViewPr>
    <p:cSldViewPr showGuides="1">
      <p:cViewPr varScale="1">
        <p:scale>
          <a:sx n="70" d="100"/>
          <a:sy n="70" d="100"/>
        </p:scale>
        <p:origin x="1108" y="56"/>
      </p:cViewPr>
      <p:guideLst>
        <p:guide orient="horz" pos="1598"/>
        <p:guide pos="2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Light" charset="0"/>
              <a:ea typeface="+mn-ea"/>
              <a:cs typeface="+mn-cs"/>
              <a:sym typeface="Helvetica Neue Light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9B84EA-7D68-4D60-9CB1-D50884785D1C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Light" charset="0"/>
                <a:ea typeface="+mn-ea"/>
                <a:cs typeface="+mn-cs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Light" charset="0"/>
              <a:ea typeface="+mn-ea"/>
              <a:cs typeface="+mn-cs"/>
              <a:sym typeface="Helvetica Neue Light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Light" charset="0"/>
              <a:ea typeface="+mn-ea"/>
              <a:cs typeface="+mn-cs"/>
              <a:sym typeface="Helvetica Neue Light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794096-0327-4F6D-B1AB-CD88B8EBDB9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4100" name="幻灯片图像占位符 3"/>
          <p:cNvSpPr>
            <a:spLocks noGrp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512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285750" indent="171450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573405" indent="341630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860425" indent="511175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148080" indent="681355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4038600" cy="368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368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368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368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4300"/>
            <a:ext cx="2057400" cy="4483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"/>
            <a:ext cx="6019800" cy="4483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767263"/>
            <a:ext cx="21336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Straight Connector 27"/>
          <p:cNvSpPr>
            <a:spLocks noChangeShapeType="1"/>
          </p:cNvSpPr>
          <p:nvPr/>
        </p:nvSpPr>
        <p:spPr bwMode="auto">
          <a:xfrm>
            <a:off x="457200" y="4764088"/>
            <a:ext cx="8229600" cy="0"/>
          </a:xfrm>
          <a:prstGeom prst="line">
            <a:avLst/>
          </a:prstGeom>
          <a:noFill/>
          <a:ln w="9525" cmpd="sng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+mn-cs"/>
              <a:sym typeface="Helvetica Neue Light" charset="0"/>
            </a:endParaRPr>
          </a:p>
        </p:txBody>
      </p:sp>
      <p:sp>
        <p:nvSpPr>
          <p:cNvPr id="2051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mpd="sng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+mn-cs"/>
              <a:sym typeface="Helvetica Neue Light" charset="0"/>
            </a:endParaRPr>
          </a:p>
        </p:txBody>
      </p:sp>
      <p:sp>
        <p:nvSpPr>
          <p:cNvPr id="2052" name="Isosceles Triangle 9"/>
          <p:cNvSpPr>
            <a:spLocks noChangeAspect="1" noChangeArrowheads="1"/>
          </p:cNvSpPr>
          <p:nvPr/>
        </p:nvSpPr>
        <p:spPr bwMode="auto">
          <a:xfrm rot="5400000">
            <a:off x="442913" y="4835525"/>
            <a:ext cx="142875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1pPr>
            <a:lvl2pPr marL="742950" indent="-28575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2pPr>
            <a:lvl3pPr marL="11430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3pPr>
            <a:lvl4pPr marL="16002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4pPr>
            <a:lvl5pPr marL="20574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 MT" panose="020B0502020104020203" pitchFamily="34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2053" name="TextBox 10"/>
          <p:cNvSpPr txBox="1">
            <a:spLocks noChangeArrowheads="1"/>
          </p:cNvSpPr>
          <p:nvPr/>
        </p:nvSpPr>
        <p:spPr bwMode="auto">
          <a:xfrm>
            <a:off x="2143125" y="4773613"/>
            <a:ext cx="4429125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1pPr>
            <a:lvl2pPr marL="742950" indent="-28575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2pPr>
            <a:lvl3pPr marL="11430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3pPr>
            <a:lvl4pPr marL="16002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4pPr>
            <a:lvl5pPr marL="20574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  <a:t>郑州大学软件学院    薛均晓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2054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5" name="Text Placeholder 12"/>
          <p:cNvSpPr>
            <a:spLocks noGrp="1"/>
          </p:cNvSpPr>
          <p:nvPr>
            <p:ph type="body"/>
          </p:nvPr>
        </p:nvSpPr>
        <p:spPr>
          <a:xfrm>
            <a:off x="457200" y="914400"/>
            <a:ext cx="8229600" cy="368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6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00800" y="4767263"/>
            <a:ext cx="2289175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E396F2-6327-4AA2-9D33-6B945323594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2057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8775" y="4767263"/>
            <a:ext cx="35052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2058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12775" y="4767263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2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 3" panose="05040102010807070707" pitchFamily="18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 3" panose="05040102010807070707" pitchFamily="18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E92CA-4340-42CC-BE4F-5B5D6597D7A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Heiti TC Light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767263"/>
            <a:ext cx="2133600" cy="274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body"/>
          </p:nvPr>
        </p:nvSpPr>
        <p:spPr>
          <a:xfrm>
            <a:off x="555625" y="1633538"/>
            <a:ext cx="7947025" cy="2522537"/>
          </a:xfrm>
        </p:spPr>
        <p:txBody>
          <a:bodyPr vert="horz" wrap="square" lIns="31887" tIns="31887" rIns="31887" bIns="31887" anchor="t" anchorCtr="0"/>
          <a:p>
            <a:pPr marL="0" indent="0" algn="ctr" eaLnBrk="1" hangingPunct="1">
              <a:lnSpc>
                <a:spcPct val="80000"/>
              </a:lnSpc>
              <a:buNone/>
            </a:pPr>
            <a:r>
              <a:rPr lang="zh-CN" altLang="en-US" sz="4500" b="1" dirty="0">
                <a:latin typeface="Helvetica" pitchFamily="2" charset="0"/>
                <a:ea typeface="宋体" panose="02010600030101010101" pitchFamily="2" charset="-122"/>
              </a:rPr>
              <a:t>信息安全数学基础</a:t>
            </a:r>
            <a:endParaRPr lang="zh-CN" altLang="en-US" sz="4500" b="1" dirty="0">
              <a:latin typeface="Helvetica" pitchFamily="2" charset="0"/>
              <a:ea typeface="宋体" panose="02010600030101010101" pitchFamily="2" charset="-122"/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Microsoft JhengHei" panose="020B0604030504040204" pitchFamily="34" charset="-120"/>
              </a:rPr>
              <a:t>Mathematic Foundation of Information Security</a:t>
            </a:r>
            <a:endParaRPr lang="zh-CN" altLang="en-US" sz="4500" b="1" dirty="0">
              <a:latin typeface="Times New Roman" panose="02020603050405020304" pitchFamily="18" charset="0"/>
              <a:ea typeface="Microsoft JhengHei" panose="020B0604030504040204" pitchFamily="34" charset="-120"/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endParaRPr lang="zh-TW" altLang="en-US" sz="2800" dirty="0">
              <a:latin typeface="Helvetica" pitchFamily="2" charset="0"/>
              <a:ea typeface="Microsoft JhengHei" panose="020B0604030504040204" pitchFamily="34" charset="-120"/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郑州大学软件学院</a:t>
            </a:r>
            <a:r>
              <a:rPr lang="zh-TW" altLang="en-US" sz="20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薛均晓</a:t>
            </a:r>
            <a:endParaRPr lang="zh-CN" altLang="en-US" sz="2000" b="1" dirty="0">
              <a:solidFill>
                <a:srgbClr val="FF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eaLnBrk="1" hangingPunct="1">
              <a:lnSpc>
                <a:spcPct val="80000"/>
              </a:lnSpc>
              <a:buNone/>
            </a:pPr>
            <a:r>
              <a:rPr lang="zh-CN" altLang="en-US" sz="20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xuejx@zzu.edu.cn</a:t>
            </a:r>
            <a:endParaRPr lang="zh-TW" altLang="en-US" sz="2000" b="1" dirty="0">
              <a:solidFill>
                <a:srgbClr val="FF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body"/>
          </p:nvPr>
        </p:nvSpPr>
        <p:spPr>
          <a:xfrm>
            <a:off x="555625" y="1203325"/>
            <a:ext cx="7947025" cy="2522538"/>
          </a:xfrm>
        </p:spPr>
        <p:txBody>
          <a:bodyPr vert="horz" wrap="square" lIns="31887" tIns="31887" rIns="31887" bIns="31887" anchor="t" anchorCtr="0"/>
          <a:p>
            <a:pPr marL="0" indent="0" algn="ctr" eaLnBrk="1" hangingPunct="1">
              <a:lnSpc>
                <a:spcPct val="150000"/>
              </a:lnSpc>
              <a:buNone/>
            </a:pPr>
            <a:r>
              <a:rPr lang="zh-CN" altLang="en-US" sz="4500" b="1" dirty="0">
                <a:latin typeface="Helvetica" pitchFamily="2" charset="0"/>
                <a:ea typeface="宋体" panose="02010600030101010101" pitchFamily="2" charset="-122"/>
              </a:rPr>
              <a:t>第 </a:t>
            </a:r>
            <a:r>
              <a:rPr lang="en-US" altLang="zh-CN" sz="4500" b="1" dirty="0">
                <a:latin typeface="Helvetica" pitchFamily="2" charset="0"/>
                <a:ea typeface="宋体" panose="02010600030101010101" pitchFamily="2" charset="-122"/>
              </a:rPr>
              <a:t>6 </a:t>
            </a:r>
            <a:r>
              <a:rPr lang="zh-CN" altLang="en-US" sz="4500" b="1" dirty="0">
                <a:latin typeface="Helvetica" pitchFamily="2" charset="0"/>
                <a:ea typeface="宋体" panose="02010600030101010101" pitchFamily="2" charset="-122"/>
              </a:rPr>
              <a:t>章</a:t>
            </a:r>
            <a:endParaRPr lang="zh-CN" altLang="en-US" sz="4500" b="1" dirty="0">
              <a:latin typeface="Helvetica" pitchFamily="2" charset="0"/>
              <a:ea typeface="宋体" panose="02010600030101010101" pitchFamily="2" charset="-122"/>
            </a:endParaRPr>
          </a:p>
          <a:p>
            <a:pPr marL="0" indent="0" algn="ctr" eaLnBrk="1" hangingPunct="1">
              <a:lnSpc>
                <a:spcPct val="150000"/>
              </a:lnSpc>
              <a:buNone/>
            </a:pPr>
            <a:r>
              <a:rPr lang="zh-CN" altLang="en-US" sz="4500" b="1" dirty="0">
                <a:latin typeface="Helvetica" pitchFamily="2" charset="0"/>
                <a:ea typeface="宋体" panose="02010600030101010101" pitchFamily="2" charset="-122"/>
              </a:rPr>
              <a:t>环和域</a:t>
            </a:r>
            <a:endParaRPr lang="zh-CN" altLang="en-US" sz="4500" b="1" dirty="0">
              <a:latin typeface="Helvetica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329613" cy="3941763"/>
          </a:xfrm>
        </p:spPr>
        <p:txBody>
          <a:bodyPr vert="horz" wrap="square" lIns="31887" tIns="31887" rIns="31887" bIns="31887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Review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 Neue Light" charset="0"/>
                <a:ea typeface="宋体" panose="02010600030101010101" pitchFamily="2" charset="-122"/>
                <a:cs typeface="Heiti TC Light" charset="0"/>
                <a:sym typeface="Helvetica Neue Light" charset="0"/>
              </a:rPr>
              <a:t> 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Ø 群的概念、性质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Ø 子群、循环群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Ø 陪集和拉格朗日定理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Ø 正规子群和商群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charRg st="7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2">
                                            <p:txEl>
                                              <p:charRg st="7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charRg st="3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2">
                                            <p:txEl>
                                              <p:charRg st="39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charRg st="71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2">
                                            <p:txEl>
                                              <p:charRg st="71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charRg st="81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2">
                                            <p:txEl>
                                              <p:charRg st="81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charRg st="131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22">
                                            <p:txEl>
                                              <p:charRg st="131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环和域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Ø 环和域的基本概念及性质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Ø 理想和商环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Ø 多项式环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zh-CN" sz="17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环和域的基本概念及性质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Heiti TC Light" charset="0"/>
                <a:sym typeface="Helvetica Neue Light" charset="0"/>
              </a:rPr>
              <a:t>群：具有一种运算的代数结构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Heiti TC Light" charset="0"/>
                <a:sym typeface="Helvetica Neue Light" charset="0"/>
              </a:rPr>
              <a:t>环和域：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具有两种运算的代数结构 </a:t>
            </a:r>
            <a:b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zh-CN" sz="17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6.1.1</a:t>
            </a:r>
            <a:r>
              <a:rPr lang="zh-CN" altLang="en-US" sz="1800" dirty="0">
                <a:solidFill>
                  <a:srgbClr val="00CC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（环）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为某种元素组成的一个非空集合，若在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内定义两种运算（通常表示为加法“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+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”和乘法“</a:t>
            </a:r>
            <a:r>
              <a:rPr lang="zh-CN" altLang="en-US" sz="1800" dirty="0">
                <a:solidFill>
                  <a:srgbClr val="000000"/>
                </a:solidFill>
                <a:latin typeface="SymbolMT"/>
              </a:rPr>
              <a:t>⋅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”），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中所有元素满足以下条件：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则称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关于“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+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”和“</a:t>
            </a:r>
            <a:r>
              <a:rPr lang="zh-CN" altLang="en-US" sz="1800" dirty="0">
                <a:solidFill>
                  <a:srgbClr val="000000"/>
                </a:solidFill>
                <a:latin typeface="SymbolMT"/>
              </a:rPr>
              <a:t>⋅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”形成一个环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(Ring)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，记作</a:t>
            </a:r>
            <a:r>
              <a:rPr lang="en-US" altLang="zh-CN" sz="1800" dirty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  <a:sym typeface="+mn-ea"/>
              </a:rPr>
              <a:t>R</a:t>
            </a:r>
            <a:r>
              <a:rPr lang="en-US" altLang="zh-CN" sz="1800" dirty="0">
                <a:solidFill>
                  <a:srgbClr val="000000"/>
                </a:solidFill>
                <a:latin typeface="TimesNewRomanPSMT"/>
              </a:rPr>
              <a:t> ,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  <a:sym typeface="+mn-ea"/>
              </a:rPr>
              <a:t>+</a:t>
            </a:r>
            <a:r>
              <a:rPr lang="en-US" altLang="zh-CN" sz="1800" dirty="0">
                <a:solidFill>
                  <a:srgbClr val="000000"/>
                </a:solidFill>
                <a:latin typeface="TimesNewRomanPSMT"/>
              </a:rPr>
              <a:t>,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  <a:sym typeface="+mn-ea"/>
              </a:rPr>
              <a:t> ⋅</a:t>
            </a:r>
            <a:r>
              <a:rPr lang="en-US" altLang="zh-CN" sz="1800" dirty="0">
                <a:solidFill>
                  <a:srgbClr val="000000"/>
                </a:solidFill>
                <a:latin typeface="TimesNewRomanPSMT"/>
              </a:rPr>
              <a:t>)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，通常在不混淆的情况下省略“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+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”和“</a:t>
            </a:r>
            <a:r>
              <a:rPr lang="zh-CN" altLang="en-US" sz="1800" dirty="0">
                <a:solidFill>
                  <a:srgbClr val="000000"/>
                </a:solidFill>
                <a:latin typeface="SymbolMT"/>
              </a:rPr>
              <a:t>⋅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”，用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来表示一个环。</a:t>
            </a:r>
            <a:r>
              <a:rPr lang="zh-CN" altLang="en-US" sz="900" dirty="0"/>
              <a:t> </a:t>
            </a:r>
            <a:br>
              <a:rPr lang="zh-CN" altLang="en-US" sz="900" dirty="0"/>
            </a:br>
            <a:r>
              <a:rPr lang="zh-CN" altLang="en-US" sz="1200" dirty="0"/>
              <a:t> </a:t>
            </a:r>
            <a:br>
              <a:rPr lang="zh-CN" altLang="en-US" sz="1200" dirty="0"/>
            </a:br>
            <a:br>
              <a:rPr lang="zh-CN" altLang="en-US" sz="1200" dirty="0"/>
            </a:br>
            <a:endParaRPr lang="zh-CN" altLang="x-none" sz="2000" b="1"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1126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4088" y="1851025"/>
            <a:ext cx="3579812" cy="1098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关于环的概念我们需要注意以下几点：</a:t>
            </a:r>
            <a:br>
              <a:rPr lang="zh-CN" altLang="en-US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（一）环的定义中的运算“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+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”与“</a:t>
            </a:r>
            <a:r>
              <a:rPr lang="zh-CN" altLang="en-US" sz="1800" dirty="0">
                <a:solidFill>
                  <a:srgbClr val="000000"/>
                </a:solidFill>
                <a:latin typeface="SymbolMT"/>
              </a:rPr>
              <a:t>⋅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”是抽象运算，不一定是我们通常在整数中定义的加法和乘法。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（二）当环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中的运算“</a:t>
            </a:r>
            <a:r>
              <a:rPr lang="zh-CN" altLang="en-US" sz="1800" dirty="0">
                <a:solidFill>
                  <a:srgbClr val="000000"/>
                </a:solidFill>
                <a:latin typeface="SymbolMT"/>
              </a:rPr>
              <a:t>⋅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”满足交换律时，我们称环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1800" dirty="0">
                <a:solidFill>
                  <a:srgbClr val="FF65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交换环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（三）当环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中存在元素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e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，使得对环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中任意一个元素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都有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e</a:t>
            </a:r>
            <a:r>
              <a:rPr lang="zh-CN" altLang="en-US" sz="1800" dirty="0">
                <a:solidFill>
                  <a:srgbClr val="000000"/>
                </a:solidFill>
                <a:latin typeface="SymbolMT"/>
              </a:rPr>
              <a:t> ⋅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 a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=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 ⋅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 e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=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时，我们称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e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为环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800" dirty="0">
                <a:solidFill>
                  <a:srgbClr val="FF65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单位元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，并且称环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1800" dirty="0">
                <a:solidFill>
                  <a:srgbClr val="FF65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含单位元的环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（四）通常在不会混淆时，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</a:t>
            </a:r>
            <a:r>
              <a:rPr lang="zh-CN" altLang="en-US" sz="1800" dirty="0">
                <a:solidFill>
                  <a:srgbClr val="000000"/>
                </a:solidFill>
                <a:latin typeface="SymbolMT"/>
              </a:rPr>
              <a:t> ⋅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 b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简记为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ab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加法单位元一般记作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，称为零元；乘法单位元一般记作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同样这里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1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也是抽象元，不同于整数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和整数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1100" dirty="0"/>
              <a:t> </a:t>
            </a:r>
            <a:br>
              <a:rPr lang="zh-CN" altLang="en-US" sz="900" dirty="0"/>
            </a:br>
            <a:r>
              <a:rPr lang="zh-CN" altLang="en-US" sz="1200" dirty="0"/>
              <a:t> </a:t>
            </a:r>
            <a:br>
              <a:rPr lang="zh-CN" altLang="en-US" sz="1200" dirty="0"/>
            </a:br>
            <a:br>
              <a:rPr lang="zh-CN" altLang="en-US" sz="1200" dirty="0"/>
            </a:br>
            <a:endParaRPr lang="zh-CN" altLang="x-none" sz="2000" b="1"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x-none" sz="17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关于环的概念我们需要注意以下几点：</a:t>
            </a:r>
            <a:br>
              <a:rPr lang="zh-CN" altLang="en-US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（五）由环的定义及群的幂运算，易得环的如下性质：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900" dirty="0"/>
            </a:br>
            <a:r>
              <a:rPr lang="zh-CN" altLang="en-US" sz="1200" dirty="0"/>
              <a:t> </a:t>
            </a:r>
            <a:br>
              <a:rPr lang="zh-CN" altLang="en-US" sz="1200" dirty="0"/>
            </a:br>
            <a:br>
              <a:rPr lang="zh-CN" altLang="en-US" sz="1200" dirty="0"/>
            </a:br>
            <a:endParaRPr lang="zh-CN" altLang="x-none" sz="2000" b="1"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1331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803400"/>
            <a:ext cx="6838950" cy="1536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环和域的基本概念及性质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关于环的概念我们需要注意以下几点：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（六）设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是有单位元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1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的环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中的任意一个元素，如果存在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b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MT"/>
                <a:ea typeface="+mn-ea"/>
                <a:cs typeface="+mn-cs"/>
              </a:rPr>
              <a:t> ∈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 R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，使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ab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MT"/>
                <a:ea typeface="+mn-ea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 </a:t>
            </a: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ba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MT"/>
                <a:ea typeface="+mn-ea"/>
                <a:cs typeface="+mn-cs"/>
              </a:rPr>
              <a:t>=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）， 则称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的一个右逆元（左逆元）。如果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既有，又有左逆元，则它们一定相等，此时称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有逆元，记为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a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MT"/>
                <a:ea typeface="+mn-ea"/>
                <a:cs typeface="+mn-cs"/>
              </a:rPr>
              <a:t>-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sz="17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环和域的基本概念及性质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关于环的概念我们需要注意以下几点：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（七） 设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是一个具有单位元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1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的交换环， 定义其中的素元或不可约元：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sz="17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36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779588"/>
            <a:ext cx="7127875" cy="3086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环和域的基本概念及性质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关于环的概念我们需要注意以下几点：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（八）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sz="17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638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1419225"/>
            <a:ext cx="5005387" cy="777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环和域的基本概念及性质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关于环的实例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在通常意义的加法、乘法运算下，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Z </a:t>
            </a: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，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Q </a:t>
            </a: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，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R </a:t>
            </a: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，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均构成环，且是交换环，加法单位元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0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即为数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，乘法单位元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1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即为数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对任意正整数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，在模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加法和模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乘法运算下，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Zn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是一个交换环，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其加法单位元为数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，乘法单位元为数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6080" y="357505"/>
            <a:ext cx="8357235" cy="3942080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6.1.2  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</a:t>
            </a:r>
            <a:r>
              <a:rPr lang="zh-CN" altLang="en-US" sz="1800" b="1" dirty="0">
                <a:solidFill>
                  <a:srgbClr val="000000"/>
                </a:solidFill>
                <a:latin typeface="TimesNewRomanPS-BoldMT"/>
              </a:rPr>
              <a:t>，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b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为环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中两个非零元，如果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ab 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= </a:t>
            </a:r>
            <a:r>
              <a:rPr lang="en-US" altLang="zh-CN" sz="1800" dirty="0">
                <a:solidFill>
                  <a:srgbClr val="000000"/>
                </a:solidFill>
                <a:latin typeface="TimesNewRomanPSMT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，则称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a</a:t>
            </a:r>
            <a:r>
              <a:rPr lang="zh-CN" altLang="en-US" sz="1800" b="1" dirty="0">
                <a:solidFill>
                  <a:srgbClr val="000000"/>
                </a:solidFill>
                <a:latin typeface="TimesNewRomanPS-BoldMT"/>
              </a:rPr>
              <a:t>，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b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1800" dirty="0">
                <a:solidFill>
                  <a:srgbClr val="FF65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零因子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6.1.3 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含有单位元的交换环，若没有零因子，则称之为</a:t>
            </a:r>
            <a:r>
              <a:rPr lang="zh-CN" altLang="en-US" sz="1800" dirty="0">
                <a:solidFill>
                  <a:srgbClr val="FF65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整环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1100" dirty="0"/>
              <a:t> </a:t>
            </a:r>
            <a:endParaRPr lang="en-US" altLang="zh-CN" sz="1100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zh-CN" altLang="en-US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83565" indent="-55880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 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Z</a:t>
            </a:r>
            <a:r>
              <a:rPr lang="zh-CN" altLang="en-US" sz="1800" i="1" dirty="0">
                <a:solidFill>
                  <a:srgbClr val="000000"/>
                </a:solidFill>
                <a:latin typeface="TimesNewRomanPS-ItalicMT"/>
              </a:rPr>
              <a:t>，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Q</a:t>
            </a:r>
            <a:r>
              <a:rPr lang="zh-CN" altLang="en-US" sz="1800" i="1" dirty="0">
                <a:solidFill>
                  <a:srgbClr val="000000"/>
                </a:solidFill>
                <a:latin typeface="TimesNewRomanPS-ItalicMT"/>
              </a:rPr>
              <a:t>，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i="1" dirty="0">
                <a:solidFill>
                  <a:srgbClr val="000000"/>
                </a:solidFill>
                <a:latin typeface="TimesNewRomanPS-ItalicMT"/>
              </a:rPr>
              <a:t>，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C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均为整环。</a:t>
            </a:r>
            <a:r>
              <a:rPr lang="zh-CN" altLang="en-US" sz="800" dirty="0"/>
              <a:t> </a:t>
            </a:r>
            <a:r>
              <a:rPr lang="zh-CN" altLang="en-US" sz="1800" dirty="0">
                <a:solidFill>
                  <a:srgbClr val="FF0000"/>
                </a:solidFill>
              </a:rPr>
              <a:t>当</a:t>
            </a:r>
            <a:r>
              <a:rPr lang="en-US" altLang="zh-CN" sz="1800" dirty="0">
                <a:solidFill>
                  <a:srgbClr val="FF0000"/>
                </a:solidFill>
              </a:rPr>
              <a:t>n</a:t>
            </a:r>
            <a:r>
              <a:rPr lang="zh-CN" altLang="en-US" sz="1800" dirty="0">
                <a:solidFill>
                  <a:srgbClr val="FF0000"/>
                </a:solidFill>
              </a:rPr>
              <a:t>是合数时，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Zn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不是整环。</a:t>
            </a:r>
            <a:r>
              <a:rPr lang="pt-BR" altLang="zh-CN" sz="1800" i="1" dirty="0">
                <a:solidFill>
                  <a:srgbClr val="000000"/>
                </a:solidFill>
                <a:latin typeface="TimesNewRomanPS-ItalicMT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NewRomanPS-ItalicMT"/>
              </a:rPr>
              <a:t>存在</a:t>
            </a:r>
            <a:r>
              <a:rPr lang="pt-BR" altLang="zh-CN" sz="1800" i="1" dirty="0">
                <a:solidFill>
                  <a:srgbClr val="000000"/>
                </a:solidFill>
                <a:latin typeface="TimesNewRomanPS-ItalicMT"/>
              </a:rPr>
              <a:t>a </a:t>
            </a:r>
            <a:r>
              <a:rPr lang="pt-BR" altLang="zh-CN" sz="1800" dirty="0">
                <a:solidFill>
                  <a:srgbClr val="000000"/>
                </a:solidFill>
                <a:latin typeface="SymbolMT"/>
              </a:rPr>
              <a:t>≠ </a:t>
            </a:r>
            <a:r>
              <a:rPr lang="pt-BR" altLang="zh-CN" sz="1800" dirty="0">
                <a:solidFill>
                  <a:srgbClr val="000000"/>
                </a:solidFill>
                <a:latin typeface="TimesNewRomanPSMT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TimesNewRomanPSMT"/>
              </a:rPr>
              <a:t>，</a:t>
            </a:r>
            <a:r>
              <a:rPr lang="pt-BR" altLang="zh-CN" sz="1800" i="1" dirty="0">
                <a:solidFill>
                  <a:srgbClr val="000000"/>
                </a:solidFill>
                <a:latin typeface="TimesNewRomanPS-ItalicMT"/>
              </a:rPr>
              <a:t>b</a:t>
            </a:r>
            <a:r>
              <a:rPr lang="pt-BR" altLang="zh-CN" sz="1800" dirty="0">
                <a:solidFill>
                  <a:srgbClr val="000000"/>
                </a:solidFill>
                <a:latin typeface="SymbolMT"/>
              </a:rPr>
              <a:t>≠ </a:t>
            </a:r>
            <a:r>
              <a:rPr lang="pt-BR" altLang="zh-CN" sz="1800" dirty="0">
                <a:solidFill>
                  <a:srgbClr val="000000"/>
                </a:solidFill>
                <a:latin typeface="TimesNewRomanPSMT"/>
              </a:rPr>
              <a:t>0, </a:t>
            </a:r>
            <a:r>
              <a:rPr lang="en-US" altLang="pt-BR" sz="1800" dirty="0">
                <a:solidFill>
                  <a:srgbClr val="000000"/>
                </a:solidFill>
                <a:latin typeface="TimesNewRomanPSMT"/>
              </a:rPr>
              <a:t>        </a:t>
            </a:r>
            <a:r>
              <a:rPr lang="zh-CN" altLang="pt-BR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lang="pt-BR" altLang="zh-CN" sz="1800" i="1" dirty="0">
                <a:solidFill>
                  <a:srgbClr val="000000"/>
                </a:solidFill>
                <a:latin typeface="TimesNewRomanPS-ItalicMT"/>
              </a:rPr>
              <a:t>a </a:t>
            </a:r>
            <a:r>
              <a:rPr lang="pt-BR" altLang="zh-CN" sz="1800" dirty="0">
                <a:solidFill>
                  <a:srgbClr val="000000"/>
                </a:solidFill>
                <a:latin typeface="SymbolMT"/>
              </a:rPr>
              <a:t>⋅ </a:t>
            </a:r>
            <a:r>
              <a:rPr lang="pt-BR" altLang="zh-CN" sz="1800" i="1" dirty="0">
                <a:solidFill>
                  <a:srgbClr val="000000"/>
                </a:solidFill>
                <a:latin typeface="TimesNewRomanPS-ItalicMT"/>
              </a:rPr>
              <a:t>b </a:t>
            </a:r>
            <a:r>
              <a:rPr lang="pt-BR" altLang="zh-CN" sz="1800" dirty="0">
                <a:solidFill>
                  <a:srgbClr val="000000"/>
                </a:solidFill>
                <a:latin typeface="SymbolMT"/>
              </a:rPr>
              <a:t>= </a:t>
            </a:r>
            <a:r>
              <a:rPr lang="pt-BR" altLang="zh-CN" sz="1800" i="1" dirty="0">
                <a:solidFill>
                  <a:srgbClr val="000000"/>
                </a:solidFill>
                <a:latin typeface="TimesNewRomanPS-ItalicMT"/>
              </a:rPr>
              <a:t>n </a:t>
            </a:r>
            <a:r>
              <a:rPr lang="pt-BR" altLang="zh-CN" sz="1800" dirty="0">
                <a:solidFill>
                  <a:srgbClr val="000000"/>
                </a:solidFill>
                <a:latin typeface="TimesNewRomanPSMT"/>
              </a:rPr>
              <a:t>mod </a:t>
            </a:r>
            <a:r>
              <a:rPr lang="pt-BR" altLang="zh-CN" sz="1800" i="1" dirty="0">
                <a:solidFill>
                  <a:srgbClr val="000000"/>
                </a:solidFill>
                <a:latin typeface="TimesNewRomanPS-ItalicMT"/>
              </a:rPr>
              <a:t>n </a:t>
            </a:r>
            <a:r>
              <a:rPr lang="pt-BR" altLang="zh-CN" sz="1800" dirty="0">
                <a:solidFill>
                  <a:srgbClr val="000000"/>
                </a:solidFill>
                <a:latin typeface="SymbolMT"/>
              </a:rPr>
              <a:t>= </a:t>
            </a:r>
            <a:r>
              <a:rPr lang="pt-BR" altLang="zh-CN" sz="1800" dirty="0">
                <a:solidFill>
                  <a:srgbClr val="000000"/>
                </a:solidFill>
                <a:latin typeface="TimesNewRomanPSMT"/>
              </a:rPr>
              <a:t>0</a:t>
            </a:r>
            <a:r>
              <a:rPr lang="zh-CN" altLang="pt-BR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pt-BR" altLang="zh-CN" sz="800" dirty="0"/>
              <a:t> </a:t>
            </a: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环和域的基本概念及性质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定义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6.1.4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如果一个环中的非零元全体在乘法运算“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MT"/>
                <a:ea typeface="+mn-ea"/>
                <a:cs typeface="+mn-cs"/>
              </a:rPr>
              <a:t>⋅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”下构成群，则称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该环为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除环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（或斜域）。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定义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6.1.5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（域）可交换的除环称为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域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pt-BR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sz="17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3" y="2549525"/>
            <a:ext cx="9007475" cy="111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Helvetica Neue Light" charset="0"/>
              </a:rPr>
              <a:t>6.1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环和域的基本概念及性质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Helvetica Neue Light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4 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Q</a:t>
            </a: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，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R</a:t>
            </a: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，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C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均为域，而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Z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不是域。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5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任一整环至少含有两个元素：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ItalicMT"/>
                <a:ea typeface="+mn-ea"/>
                <a:cs typeface="+mn-cs"/>
              </a:rPr>
              <a:t>F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MT"/>
                <a:ea typeface="+mn-ea"/>
                <a:cs typeface="+mn-cs"/>
              </a:rPr>
              <a:t>=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MT"/>
                <a:ea typeface="+mn-ea"/>
                <a:cs typeface="+mn-cs"/>
              </a:rPr>
              <a:t>{0,1}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关于模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NewRomanPS-BoldMT"/>
                <a:ea typeface="+mn-ea"/>
                <a:cs typeface="+mn-cs"/>
              </a:rPr>
              <a:t>2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加法及乘</a:t>
            </a:r>
            <a:b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法运算即构成二元域。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pt-BR" altLang="zh-CN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sz="17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由环， 除环， 域的定义易知， 它们具有如下的包含关系：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2253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1635125"/>
            <a:ext cx="5200650" cy="2185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域一定是整环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事实上</a:t>
            </a:r>
            <a:r>
              <a:rPr lang="zh-CN" altLang="en-US" sz="1100" dirty="0"/>
              <a:t> </a:t>
            </a:r>
            <a:endParaRPr lang="en-US" altLang="zh-CN" sz="1100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100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100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100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100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100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反过来，整环却不一定是域</a:t>
            </a:r>
            <a:r>
              <a:rPr lang="zh-CN" altLang="en-US" sz="1800" dirty="0"/>
              <a:t> ，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但对于有限整环我们有以下结论。</a:t>
            </a:r>
            <a:r>
              <a:rPr lang="zh-CN" altLang="en-US" sz="800" dirty="0"/>
              <a:t> </a:t>
            </a:r>
            <a:br>
              <a:rPr lang="zh-CN" altLang="en-US" sz="800" dirty="0"/>
            </a:br>
            <a:br>
              <a:rPr lang="zh-CN" altLang="en-US" sz="800" dirty="0"/>
            </a:b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2355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1851025"/>
            <a:ext cx="4367212" cy="966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6.1.1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有限整环一定是域。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证明：利用有限性证明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中的每个非零元都有逆元。</a:t>
            </a:r>
            <a:r>
              <a:rPr lang="zh-CN" altLang="en-US" sz="800" dirty="0"/>
              <a:t> </a:t>
            </a: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7A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有限群，子群以及群的阶的概念均可以直接推广到环和域。</a:t>
            </a:r>
            <a:endParaRPr lang="en-US" altLang="zh-CN" sz="1800" dirty="0">
              <a:solidFill>
                <a:srgbClr val="007A7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6.1.6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一个环（域）如果包含有限个元素，则称其为有限环（有限域）。元素的个数称为该环（域）的阶。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7A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有限群，子群以及群的阶的概念均可以直接推广到环和域。</a:t>
            </a:r>
            <a:endParaRPr lang="en-US" altLang="zh-CN" sz="1800" dirty="0">
              <a:solidFill>
                <a:srgbClr val="007A7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6.1.7</a:t>
            </a: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zh-CN" sz="1700" b="1" dirty="0">
              <a:ea typeface="宋体" panose="02010600030101010101" pitchFamily="2" charset="-122"/>
            </a:endParaRPr>
          </a:p>
        </p:txBody>
      </p:sp>
      <p:pic>
        <p:nvPicPr>
          <p:cNvPr id="2662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1924050"/>
            <a:ext cx="5495925" cy="1465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</a:t>
            </a:r>
            <a:r>
              <a:rPr lang="en-US" altLang="zh-CN" sz="1800" i="1" dirty="0">
                <a:solidFill>
                  <a:srgbClr val="FF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及其子环</a:t>
            </a:r>
            <a:r>
              <a:rPr lang="en-US" altLang="zh-CN" sz="1800" i="1" dirty="0">
                <a:solidFill>
                  <a:srgbClr val="FF0000"/>
                </a:solidFill>
                <a:latin typeface="TimesNewRomanPS-ItalicMT"/>
              </a:rPr>
              <a:t>R</a:t>
            </a:r>
            <a:r>
              <a:rPr lang="en-US" altLang="zh-CN" sz="1800" dirty="0">
                <a:solidFill>
                  <a:srgbClr val="FF0000"/>
                </a:solidFill>
                <a:latin typeface="SymbolMT"/>
              </a:rPr>
              <a:t>′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而言，它们的零元是同一个元素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，而乘法单位元则不同，它们的乘法单位元不一定是同一个，甚至还可以没有。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6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zh-CN" sz="1700" b="1" dirty="0">
              <a:ea typeface="宋体" panose="02010600030101010101" pitchFamily="2" charset="-122"/>
            </a:endParaRPr>
          </a:p>
        </p:txBody>
      </p:sp>
      <p:pic>
        <p:nvPicPr>
          <p:cNvPr id="2765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2236788"/>
            <a:ext cx="6588125" cy="220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对于环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及其子环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′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而言，它们的零元是同一个元素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，而乘法单位元则不同，它们的乘法单位元不一定是同一个，甚至还可以没有。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7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zh-CN" sz="1700" b="1" dirty="0">
              <a:ea typeface="宋体" panose="02010600030101010101" pitchFamily="2" charset="-122"/>
            </a:endParaRPr>
          </a:p>
        </p:txBody>
      </p:sp>
      <p:pic>
        <p:nvPicPr>
          <p:cNvPr id="2867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0" y="2211388"/>
            <a:ext cx="6235700" cy="2312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zh-CN" altLang="en-US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域</a:t>
            </a:r>
            <a:r>
              <a:rPr lang="en-US" altLang="zh-CN" sz="1800" i="1" dirty="0">
                <a:solidFill>
                  <a:srgbClr val="0070C0"/>
                </a:solidFill>
                <a:latin typeface="TimesNewRomanPS-ItalicMT"/>
              </a:rPr>
              <a:t>F </a:t>
            </a:r>
            <a:r>
              <a:rPr lang="zh-CN" altLang="en-US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及其子域</a:t>
            </a:r>
            <a:r>
              <a:rPr lang="en-US" altLang="zh-CN" sz="1800" i="1" dirty="0">
                <a:solidFill>
                  <a:srgbClr val="0070C0"/>
                </a:solidFill>
                <a:latin typeface="TimesNewRomanPS-ItalicMT"/>
              </a:rPr>
              <a:t>F </a:t>
            </a:r>
            <a:r>
              <a:rPr lang="en-US" altLang="zh-CN" sz="1800" dirty="0">
                <a:solidFill>
                  <a:srgbClr val="0070C0"/>
                </a:solidFill>
                <a:latin typeface="SymbolMT"/>
              </a:rPr>
              <a:t>′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而言，它们具有相同的加法单位元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和乘法单位元 </a:t>
            </a: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子环判定方法</a:t>
            </a: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3072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275" y="1619250"/>
            <a:ext cx="5221288" cy="158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子环实例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3174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1393825"/>
            <a:ext cx="5608638" cy="2914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6.1.8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zh-CN" sz="1700" b="1" dirty="0">
              <a:ea typeface="宋体" panose="02010600030101010101" pitchFamily="2" charset="-122"/>
            </a:endParaRPr>
          </a:p>
        </p:txBody>
      </p:sp>
      <p:pic>
        <p:nvPicPr>
          <p:cNvPr id="327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1131888"/>
            <a:ext cx="5013325" cy="1279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6.1.2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zh-CN" sz="1700" b="1" dirty="0">
              <a:ea typeface="宋体" panose="02010600030101010101" pitchFamily="2" charset="-122"/>
            </a:endParaRPr>
          </a:p>
        </p:txBody>
      </p:sp>
      <p:pic>
        <p:nvPicPr>
          <p:cNvPr id="3379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438" y="1635125"/>
            <a:ext cx="4683125" cy="669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(1)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整环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的加法群中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每一非零元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的阶或都为无穷，或都为一素数；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TimesNewRomanPS-BoldMT"/>
              </a:rPr>
              <a:t>(2)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整环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的特征即为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单位元“</a:t>
            </a:r>
            <a:r>
              <a:rPr lang="en-US" altLang="zh-CN" sz="1800" b="1" dirty="0">
                <a:solidFill>
                  <a:srgbClr val="FF0000"/>
                </a:solidFill>
                <a:latin typeface="TimesNewRomanPS-BoldMT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800" i="1" dirty="0">
                <a:solidFill>
                  <a:srgbClr val="000000"/>
                </a:solidFill>
                <a:latin typeface="TimesNewRomanPS-ItalicMT"/>
              </a:rPr>
              <a:t>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加法群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中的阶。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推论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6.1.2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域的特征不为零，则为素数。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推论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6.1.2</a:t>
            </a:r>
            <a:r>
              <a:rPr lang="en-US" altLang="zh-CN" sz="1800" dirty="0">
                <a:solidFill>
                  <a:srgbClr val="000000"/>
                </a:solidFill>
                <a:latin typeface="SymbolMT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有限域的特征必为一素数。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 </a:t>
            </a:r>
            <a:r>
              <a:rPr lang="en-US" altLang="zh-CN" sz="1800" b="1" dirty="0">
                <a:solidFill>
                  <a:srgbClr val="0000FF"/>
                </a:solidFill>
                <a:latin typeface="TimesNewRomanPS-BoldMT"/>
              </a:rPr>
              <a:t>6.1.3</a:t>
            </a: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zh-CN" sz="1700" b="1" dirty="0">
              <a:ea typeface="宋体" panose="02010600030101010101" pitchFamily="2" charset="-122"/>
            </a:endParaRPr>
          </a:p>
        </p:txBody>
      </p:sp>
      <p:pic>
        <p:nvPicPr>
          <p:cNvPr id="3686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708150"/>
            <a:ext cx="5673725" cy="1108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3789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413" y="1276350"/>
            <a:ext cx="3841750" cy="3527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</a:t>
            </a:r>
            <a:endParaRPr lang="en-US" altLang="zh-CN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在前面群和半群的定义基础上，环还可以如下定义：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3891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13" y="2097088"/>
            <a:ext cx="6099175" cy="949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域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3993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313" y="1177925"/>
            <a:ext cx="3960812" cy="3697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85763" y="357188"/>
            <a:ext cx="8223250" cy="3941763"/>
          </a:xfrm>
        </p:spPr>
        <p:txBody>
          <a:bodyPr vert="horz" wrap="square" lIns="31887" tIns="31887" rIns="31887" bIns="31887" numCol="1" anchor="t" anchorCtr="0" compatLnSpc="1"/>
          <a:p>
            <a:pPr marL="0" indent="0" algn="ctr">
              <a:lnSpc>
                <a:spcPct val="8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6.1 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环和域的基本概念及性质</a:t>
            </a:r>
            <a:endParaRPr lang="zh-CN" altLang="en-US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域</a:t>
            </a:r>
            <a:endParaRPr lang="en-US" altLang="zh-CN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在前面群和半群的定义基础上，域还可以如下定义：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r>
              <a:rPr lang="zh-CN" altLang="en-US" sz="1100" dirty="0"/>
              <a:t>  </a:t>
            </a:r>
            <a:br>
              <a:rPr lang="zh-CN" altLang="en-US" sz="11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br>
              <a:rPr lang="zh-CN" altLang="en-US" sz="1100" dirty="0"/>
            </a:br>
            <a:br>
              <a:rPr lang="zh-CN" altLang="en-US" sz="1100" dirty="0"/>
            </a:br>
            <a:br>
              <a:rPr lang="pt-BR" altLang="zh-CN" sz="800" dirty="0"/>
            </a:br>
            <a:br>
              <a:rPr lang="zh-CN" altLang="en-US" sz="800" dirty="0"/>
            </a:br>
            <a:r>
              <a:rPr lang="zh-CN" altLang="en-US" sz="1100" dirty="0"/>
              <a:t> </a:t>
            </a:r>
            <a:br>
              <a:rPr lang="zh-CN" altLang="en-US" sz="1100" dirty="0"/>
            </a:br>
            <a:endParaRPr lang="zh-CN" altLang="x-none" sz="1700" b="1" dirty="0">
              <a:ea typeface="宋体" panose="02010600030101010101" pitchFamily="2" charset="-122"/>
            </a:endParaRPr>
          </a:p>
        </p:txBody>
      </p:sp>
      <p:pic>
        <p:nvPicPr>
          <p:cNvPr id="4096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0" y="2135188"/>
            <a:ext cx="6235700" cy="87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作业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41" name="灯片编号占位符 4"/>
          <p:cNvSpPr txBox="1">
            <a:spLocks noGrp="1" noChangeArrowheads="1"/>
          </p:cNvSpPr>
          <p:nvPr/>
        </p:nvSpPr>
        <p:spPr bwMode="auto">
          <a:xfrm>
            <a:off x="612775" y="4767263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eaLnBrk="1" hangingPunct="1"/>
            <a:fld id="{9A0DB2DC-4C9A-4742-B13C-FB6460FD3503}" type="slidenum">
              <a:rPr lang="zh-CN" altLang="en-US" sz="1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  <a:ea typeface="宋体" panose="02010600030101010101" pitchFamily="2" charset="-122"/>
              </a:rPr>
            </a:fld>
            <a:endParaRPr lang="zh-CN" altLang="en-US" sz="1400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  <a:ea typeface="宋体" panose="02010600030101010101" pitchFamily="2" charset="-122"/>
            </a:endParaRPr>
          </a:p>
        </p:txBody>
      </p:sp>
      <p:sp>
        <p:nvSpPr>
          <p:cNvPr id="14342" name="AutoShape 2" descr="https://upload-images.jianshu.io/upload_images/11354300-2c7fe91b48d47286.png?imageMogr2/auto-orient/strip|imageView2/2/w/801/format/webp"/>
          <p:cNvSpPr>
            <a:spLocks noChangeAspect="1" noChangeArrowheads="1"/>
          </p:cNvSpPr>
          <p:nvPr/>
        </p:nvSpPr>
        <p:spPr bwMode="auto">
          <a:xfrm>
            <a:off x="4538663" y="-196850"/>
            <a:ext cx="304800" cy="3032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1pPr>
            <a:lvl2pPr marL="742950" indent="-28575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2pPr>
            <a:lvl3pPr marL="11430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3pPr>
            <a:lvl4pPr marL="16002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4pPr>
            <a:lvl5pPr marL="20574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14343" name="AutoShape 4" descr="https://upload-images.jianshu.io/upload_images/11354300-2c7fe91b48d47286.png?imageMogr2/auto-orient/strip|imageView2/2/w/801/format/webp"/>
          <p:cNvSpPr>
            <a:spLocks noChangeAspect="1" noChangeArrowheads="1"/>
          </p:cNvSpPr>
          <p:nvPr/>
        </p:nvSpPr>
        <p:spPr bwMode="auto">
          <a:xfrm>
            <a:off x="4538663" y="-196850"/>
            <a:ext cx="304800" cy="3032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1pPr>
            <a:lvl2pPr marL="742950" indent="-28575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2pPr>
            <a:lvl3pPr marL="11430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3pPr>
            <a:lvl4pPr marL="16002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4pPr>
            <a:lvl5pPr marL="20574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14344" name="AutoShape 6" descr="https://upload-images.jianshu.io/upload_images/11354300-2c7fe91b48d47286.png?imageMogr2/auto-orient/strip|imageView2/2/w/801/format/webp"/>
          <p:cNvSpPr>
            <a:spLocks noChangeAspect="1" noChangeArrowheads="1"/>
          </p:cNvSpPr>
          <p:nvPr/>
        </p:nvSpPr>
        <p:spPr bwMode="auto">
          <a:xfrm>
            <a:off x="4538663" y="-196850"/>
            <a:ext cx="304800" cy="3032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1pPr>
            <a:lvl2pPr marL="742950" indent="-28575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2pPr>
            <a:lvl3pPr marL="11430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3pPr>
            <a:lvl4pPr marL="16002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4pPr>
            <a:lvl5pPr marL="2057400" indent="-228600" eaLnBrk="0" hangingPunct="0"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600">
                <a:solidFill>
                  <a:srgbClr val="FFFFFF"/>
                </a:solidFill>
                <a:latin typeface="Helvetica Neue Light" charset="0"/>
                <a:ea typeface="Heiti TC Light" charset="0"/>
                <a:cs typeface="Heiti TC Light" charset="0"/>
                <a:sym typeface="Helvetica Neue Light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 Neue Light" charset="0"/>
              <a:ea typeface="宋体" panose="02010600030101010101" pitchFamily="2" charset="-122"/>
              <a:cs typeface="Heiti TC Light" charset="0"/>
              <a:sym typeface="Helvetica Neue Light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/>
        </p:nvSpPr>
        <p:spPr>
          <a:xfrm>
            <a:off x="385763" y="858838"/>
            <a:ext cx="8223250" cy="3941763"/>
          </a:xfrm>
          <a:prstGeom prst="rect">
            <a:avLst/>
          </a:prstGeom>
          <a:noFill/>
          <a:ln w="9525">
            <a:noFill/>
          </a:ln>
        </p:spPr>
        <p:txBody>
          <a:bodyPr lIns="31887" tIns="31887" rIns="31887" bIns="31887"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 3" panose="05040102010807070707" pitchFamily="18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3" panose="05040102010807070707" pitchFamily="18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8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lvl="0" indent="0" algn="ctr">
              <a:lnSpc>
                <a:spcPct val="8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lvl="0" indent="0" algn="ctr">
              <a:lnSpc>
                <a:spcPct val="8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lvl="0" indent="0" algn="ctr">
              <a:lnSpc>
                <a:spcPct val="8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3600" b="1" dirty="0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Helvetica Neue Light" charset="0"/>
            </a:endParaRPr>
          </a:p>
          <a:p>
            <a:pPr marL="0" lvl="0" indent="0" algn="ctr">
              <a:lnSpc>
                <a:spcPct val="8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Helvetica Neue Light" charset="0"/>
              </a:rPr>
              <a:t> </a:t>
            </a:r>
            <a:endParaRPr lang="zh-CN" altLang="en-US" sz="1200" b="1" dirty="0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  <a:sym typeface="Helvetica Neue Light" charset="0"/>
            </a:endParaRPr>
          </a:p>
          <a:p>
            <a:pPr marL="0" lvl="1" indent="0">
              <a:lnSpc>
                <a:spcPct val="125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4D4D4D"/>
                </a:solidFill>
                <a:latin typeface="-apple-system"/>
                <a:sym typeface="Helvetica Neue Light" charset="0"/>
              </a:rPr>
              <a:t>在信息安全中比较有用的是</a:t>
            </a:r>
            <a:r>
              <a:rPr lang="zh-CN" altLang="en-US" sz="1400" b="1" dirty="0">
                <a:solidFill>
                  <a:srgbClr val="4D4D4D"/>
                </a:solidFill>
                <a:latin typeface="-apple-system"/>
                <a:sym typeface="Helvetica Neue Light" charset="0"/>
              </a:rPr>
              <a:t>有限域</a:t>
            </a:r>
            <a:r>
              <a:rPr lang="zh-CN" altLang="en-US" sz="1400" dirty="0">
                <a:solidFill>
                  <a:srgbClr val="4D4D4D"/>
                </a:solidFill>
                <a:latin typeface="-apple-system"/>
                <a:sym typeface="Helvetica Neue Light" charset="0"/>
              </a:rPr>
              <a:t>，主要有</a:t>
            </a:r>
            <a:r>
              <a:rPr lang="zh-CN" altLang="en-US" sz="1400" b="1" dirty="0">
                <a:solidFill>
                  <a:srgbClr val="4D4D4D"/>
                </a:solidFill>
                <a:latin typeface="-apple-system"/>
                <a:sym typeface="Helvetica Neue Light" charset="0"/>
              </a:rPr>
              <a:t>素域、二进制</a:t>
            </a:r>
            <a:r>
              <a:rPr lang="zh-CN" altLang="en-US" sz="1400" dirty="0">
                <a:solidFill>
                  <a:srgbClr val="4D4D4D"/>
                </a:solidFill>
                <a:latin typeface="-apple-system"/>
                <a:sym typeface="Helvetica Neue Light" charset="0"/>
              </a:rPr>
              <a:t>域等，通过查资料，写一篇关于“有限域在信息安全中的应用”的论文。（所有同学全交，</a:t>
            </a:r>
            <a:r>
              <a:rPr lang="zh-CN" altLang="en-US" sz="1400" dirty="0">
                <a:solidFill>
                  <a:srgbClr val="FF0000"/>
                </a:solidFill>
                <a:latin typeface="-apple-system"/>
                <a:sym typeface="Helvetica Neue Light" charset="0"/>
              </a:rPr>
              <a:t>交电子版</a:t>
            </a:r>
            <a:r>
              <a:rPr lang="zh-CN" altLang="en-US" sz="1400" dirty="0">
                <a:solidFill>
                  <a:srgbClr val="4D4D4D"/>
                </a:solidFill>
                <a:latin typeface="-apple-system"/>
                <a:sym typeface="Helvetica Neue Light" charset="0"/>
              </a:rPr>
              <a:t>）</a:t>
            </a:r>
            <a:endParaRPr lang="en-US" altLang="zh-CN" sz="1400" dirty="0">
              <a:solidFill>
                <a:srgbClr val="4D4D4D"/>
              </a:solidFill>
              <a:latin typeface="-apple-system"/>
              <a:sym typeface="Helvetica Neue Light" charset="0"/>
            </a:endParaRPr>
          </a:p>
          <a:p>
            <a:pPr marL="0" lvl="1" indent="0">
              <a:lnSpc>
                <a:spcPct val="125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199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1276350"/>
            <a:ext cx="5873750" cy="1871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sz="quarter" idx="4294967295"/>
          </p:nvPr>
        </p:nvSpPr>
        <p:spPr>
          <a:xfrm>
            <a:off x="319088" y="1571625"/>
            <a:ext cx="5011737" cy="2357438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accent1"/>
              </a:buClr>
              <a:buSzPct val="76000"/>
              <a:buFont typeface="Wingdings 3" panose="05040102010807070707" pitchFamily="18" charset="2"/>
              <a:defRPr sz="2000"/>
            </a:lvl1pPr>
            <a:lvl2pPr lvl="1">
              <a:buClr>
                <a:schemeClr val="accent2"/>
              </a:buClr>
              <a:buSzPct val="76000"/>
              <a:buFont typeface="Wingdings 3" panose="05040102010807070707" pitchFamily="18" charset="2"/>
              <a:defRPr sz="1800"/>
            </a:lvl2pPr>
            <a:lvl3pPr lvl="2">
              <a:buClr>
                <a:srgbClr val="BCBCBC"/>
              </a:buClr>
              <a:buSzPct val="76000"/>
              <a:buFont typeface="Wingdings 3" panose="05040102010807070707" pitchFamily="18" charset="2"/>
              <a:defRPr sz="1600"/>
            </a:lvl3pPr>
            <a:lvl4pPr lvl="3">
              <a:buClr>
                <a:srgbClr val="8BA2B4"/>
              </a:buClr>
              <a:buSzPct val="70000"/>
              <a:buFont typeface="Wingdings 3" panose="05040102010807070707" pitchFamily="18" charset="2"/>
              <a:defRPr sz="1600"/>
            </a:lvl4pPr>
            <a:lvl5pPr lvl="4">
              <a:buClr>
                <a:schemeClr val="accent2"/>
              </a:buClr>
              <a:buSzPct val="70000"/>
              <a:buFont typeface="Wingdings 3" panose="05040102010807070707" pitchFamily="18" charset="2"/>
              <a:defRPr sz="1200"/>
            </a:lvl5pPr>
          </a:lstStyle>
          <a:p>
            <a:pPr lvl="0" algn="ctr" eaLnBrk="1" hangingPunct="1">
              <a:lnSpc>
                <a:spcPct val="80000"/>
              </a:lnSpc>
              <a:spcBef>
                <a:spcPts val="750"/>
              </a:spcBef>
              <a:buNone/>
            </a:pPr>
            <a:r>
              <a:rPr lang="en-US" altLang="zh-CN" sz="3400" dirty="0">
                <a:solidFill>
                  <a:srgbClr val="FFC000"/>
                </a:solidFill>
                <a:latin typeface="Helvetica" pitchFamily="2" charset="0"/>
                <a:ea typeface="Microsoft JhengHei" panose="020B0604030504040204" pitchFamily="34" charset="-120"/>
              </a:rPr>
              <a:t>Thanks for your attention!</a:t>
            </a:r>
            <a:endParaRPr lang="en-US" altLang="zh-CN" sz="3400" dirty="0">
              <a:solidFill>
                <a:srgbClr val="FFC000"/>
              </a:solidFill>
              <a:latin typeface="Helvetica" pitchFamily="2" charset="0"/>
              <a:ea typeface="Microsoft JhengHei" panose="020B0604030504040204" pitchFamily="34" charset="-120"/>
            </a:endParaRPr>
          </a:p>
          <a:p>
            <a:pPr lvl="0" algn="ctr" eaLnBrk="1" hangingPunct="1">
              <a:lnSpc>
                <a:spcPct val="80000"/>
              </a:lnSpc>
              <a:spcBef>
                <a:spcPts val="750"/>
              </a:spcBef>
              <a:buNone/>
            </a:pPr>
            <a:endParaRPr lang="en-US" altLang="zh-CN" sz="3400" dirty="0">
              <a:solidFill>
                <a:srgbClr val="FFC000"/>
              </a:solidFill>
              <a:latin typeface="Helvetica" pitchFamily="2" charset="0"/>
              <a:ea typeface="Microsoft JhengHei" panose="020B0604030504040204" pitchFamily="34" charset="-120"/>
            </a:endParaRPr>
          </a:p>
          <a:p>
            <a:pPr lvl="0" algn="ctr" eaLnBrk="1" hangingPunct="1">
              <a:lnSpc>
                <a:spcPct val="80000"/>
              </a:lnSpc>
              <a:spcBef>
                <a:spcPts val="750"/>
              </a:spcBef>
              <a:buNone/>
            </a:pPr>
            <a:r>
              <a:rPr lang="en-US" altLang="zh-CN" sz="4200" dirty="0">
                <a:latin typeface="Helvetica" pitchFamily="2" charset="0"/>
                <a:ea typeface="Microsoft JhengHei" panose="020B0604030504040204" pitchFamily="34" charset="-120"/>
              </a:rPr>
              <a:t>Q&amp;A</a:t>
            </a:r>
            <a:br>
              <a:rPr lang="en-US" altLang="zh-CN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lang="en-US" altLang="zh-CN" sz="1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3011" name="Picture 2" descr="C:\Documents and Settings\ISAO\My Documents\My Pictures\MAR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0" y="1212850"/>
            <a:ext cx="4059238" cy="2878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4" name="灯片编号占位符 3"/>
          <p:cNvSpPr txBox="1">
            <a:spLocks noGrp="1" noChangeArrowheads="1"/>
          </p:cNvSpPr>
          <p:nvPr/>
        </p:nvSpPr>
        <p:spPr bwMode="auto">
          <a:xfrm>
            <a:off x="612775" y="4767263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eaLnBrk="1" hangingPunct="1"/>
            <a:fld id="{9A0DB2DC-4C9A-4742-B13C-FB6460FD3503}" type="slidenum">
              <a:rPr lang="zh-CN" altLang="en-US" sz="1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 Neue Light" charset="0"/>
                <a:ea typeface="宋体" panose="02010600030101010101" pitchFamily="2" charset="-122"/>
              </a:rPr>
            </a:fld>
            <a:endParaRPr lang="zh-CN" altLang="en-US" sz="1400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Helvetica Neue Ligh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82E5">
                <a:alpha val="75000"/>
              </a:srgbClr>
            </a:gs>
            <a:gs pos="100000">
              <a:srgbClr val="0057E5">
                <a:alpha val="64999"/>
              </a:srgbClr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6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 Neue Light" charset="0"/>
            <a:ea typeface="Heiti TC Light" charset="0"/>
            <a:cs typeface="Heiti TC Light" charset="0"/>
            <a:sym typeface="Helvetica Neue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82E5">
                <a:alpha val="75000"/>
              </a:srgbClr>
            </a:gs>
            <a:gs pos="100000">
              <a:srgbClr val="0057E5">
                <a:alpha val="64999"/>
              </a:srgbClr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6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 Neue Light" charset="0"/>
            <a:ea typeface="Heiti TC Light" charset="0"/>
            <a:cs typeface="Heiti TC Light" charset="0"/>
            <a:sym typeface="Helvetica Neue Light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质朴">
  <a:themeElements>
    <a:clrScheme name="2_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2_质朴">
      <a:majorFont>
        <a:latin typeface="Bookman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82E5">
                <a:alpha val="75000"/>
              </a:srgbClr>
            </a:gs>
            <a:gs pos="100000">
              <a:srgbClr val="0057E5">
                <a:alpha val="64999"/>
              </a:srgbClr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6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 Neue Light" charset="0"/>
            <a:ea typeface="Heiti TC Light" charset="0"/>
            <a:cs typeface="Heiti TC Light" charset="0"/>
            <a:sym typeface="Helvetica Neue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82E5">
                <a:alpha val="75000"/>
              </a:srgbClr>
            </a:gs>
            <a:gs pos="100000">
              <a:srgbClr val="0057E5">
                <a:alpha val="64999"/>
              </a:srgbClr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6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 Neue Light" charset="0"/>
            <a:ea typeface="Heiti TC Light" charset="0"/>
            <a:cs typeface="Heiti TC Light" charset="0"/>
            <a:sym typeface="Helvetica Neue Light" charset="0"/>
          </a:defRPr>
        </a:defPPr>
      </a:lstStyle>
    </a:lnDef>
  </a:objectDefaults>
  <a:extraClrSchemeLst>
    <a:extraClrScheme>
      <a:clrScheme name="2_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82E5">
                <a:alpha val="75000"/>
              </a:srgbClr>
            </a:gs>
            <a:gs pos="100000">
              <a:srgbClr val="0057E5">
                <a:alpha val="64999"/>
              </a:srgbClr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6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 Neue Light" charset="0"/>
            <a:ea typeface="Heiti TC Light" charset="0"/>
            <a:cs typeface="Heiti TC Light" charset="0"/>
            <a:sym typeface="Helvetica Neue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82E5">
                <a:alpha val="75000"/>
              </a:srgbClr>
            </a:gs>
            <a:gs pos="100000">
              <a:srgbClr val="0057E5">
                <a:alpha val="64999"/>
              </a:srgbClr>
            </a:gs>
          </a:gsLst>
          <a:lin ang="5400000" scaled="1"/>
        </a:gra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600" b="0" i="0" u="none" strike="noStrike" cap="none" normalizeH="0" baseline="0" smtClean="0">
            <a:ln>
              <a:noFill/>
            </a:ln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elvetica Neue Light" charset="0"/>
            <a:ea typeface="Heiti TC Light" charset="0"/>
            <a:cs typeface="Heiti TC Light" charset="0"/>
            <a:sym typeface="Helvetica Neue Light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2870</Words>
  <Application>WPS 演示</Application>
  <PresentationFormat>全屏显示(16:9)</PresentationFormat>
  <Paragraphs>195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60" baseType="lpstr">
      <vt:lpstr>Arial</vt:lpstr>
      <vt:lpstr>宋体</vt:lpstr>
      <vt:lpstr>Wingdings</vt:lpstr>
      <vt:lpstr>Helvetica Neue Light</vt:lpstr>
      <vt:lpstr>Heiti TC Light</vt:lpstr>
      <vt:lpstr>Segoe Print</vt:lpstr>
      <vt:lpstr>Calibri</vt:lpstr>
      <vt:lpstr>Gill Sans MT</vt:lpstr>
      <vt:lpstr>Bookman Old Style</vt:lpstr>
      <vt:lpstr>Wingdings 3</vt:lpstr>
      <vt:lpstr>Helvetica</vt:lpstr>
      <vt:lpstr>Times New Roman</vt:lpstr>
      <vt:lpstr>Microsoft JhengHei</vt:lpstr>
      <vt:lpstr>TimesNewRomanPS-BoldMT</vt:lpstr>
      <vt:lpstr>TimesNewRomanPS-ItalicMT</vt:lpstr>
      <vt:lpstr>SymbolMT</vt:lpstr>
      <vt:lpstr>TimesNewRomanPSMT</vt:lpstr>
      <vt:lpstr>微软雅黑</vt:lpstr>
      <vt:lpstr>Arial Unicode MS</vt:lpstr>
      <vt:lpstr>等线</vt:lpstr>
      <vt:lpstr>-apple-system</vt:lpstr>
      <vt:lpstr>Office 主题</vt:lpstr>
      <vt:lpstr>2_质朴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</dc:title>
  <dc:creator>Junxiao Xue</dc:creator>
  <cp:lastModifiedBy>xuejx</cp:lastModifiedBy>
  <cp:revision>637</cp:revision>
  <dcterms:created xsi:type="dcterms:W3CDTF">2020-02-05T02:52:00Z</dcterms:created>
  <dcterms:modified xsi:type="dcterms:W3CDTF">2021-11-23T05:00:30Z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1FB16A73157F44CFB3B1B05050DC4FA6</vt:lpwstr>
  </property>
</Properties>
</file>