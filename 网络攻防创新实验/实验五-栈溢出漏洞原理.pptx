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9"/>
  </p:notesMasterIdLst>
  <p:handoutMasterIdLst>
    <p:handoutMasterId r:id="rId20"/>
  </p:handoutMasterIdLst>
  <p:sldIdLst>
    <p:sldId id="260" r:id="rId2"/>
    <p:sldId id="270" r:id="rId3"/>
    <p:sldId id="373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374" r:id="rId13"/>
    <p:sldId id="375" r:id="rId14"/>
    <p:sldId id="376" r:id="rId15"/>
    <p:sldId id="377" r:id="rId16"/>
    <p:sldId id="378" r:id="rId17"/>
    <p:sldId id="379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3B3BB3"/>
    <a:srgbClr val="6E4A4A"/>
    <a:srgbClr val="B7C5E1"/>
    <a:srgbClr val="66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112FC-7679-417A-89A8-5F7CDED389B8}" v="2" dt="2023-05-07T15:17:15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031" autoAdjust="0"/>
  </p:normalViewPr>
  <p:slideViewPr>
    <p:cSldViewPr>
      <p:cViewPr varScale="1">
        <p:scale>
          <a:sx n="89" d="100"/>
          <a:sy n="89" d="100"/>
        </p:scale>
        <p:origin x="17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96"/>
    </p:cViewPr>
  </p:sorterViewPr>
  <p:notesViewPr>
    <p:cSldViewPr>
      <p:cViewPr varScale="1">
        <p:scale>
          <a:sx n="67" d="100"/>
          <a:sy n="67" d="100"/>
        </p:scale>
        <p:origin x="-336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10" Type="http://schemas.openxmlformats.org/officeDocument/2006/relationships/slide" Target="slides/slide11.xml"/><Relationship Id="rId4" Type="http://schemas.openxmlformats.org/officeDocument/2006/relationships/slide" Target="slides/slide4.xml"/><Relationship Id="rId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琰" userId="27cee28f-e211-4f09-bcc3-f54e9e2c5611" providerId="ADAL" clId="{EC8112FC-7679-417A-89A8-5F7CDED389B8}"/>
    <pc:docChg chg="undo custSel addSld delSld modSld">
      <pc:chgData name="曹琰" userId="27cee28f-e211-4f09-bcc3-f54e9e2c5611" providerId="ADAL" clId="{EC8112FC-7679-417A-89A8-5F7CDED389B8}" dt="2023-05-07T15:18:02.450" v="10" actId="47"/>
      <pc:docMkLst>
        <pc:docMk/>
      </pc:docMkLst>
      <pc:sldChg chg="modSp mod">
        <pc:chgData name="曹琰" userId="27cee28f-e211-4f09-bcc3-f54e9e2c5611" providerId="ADAL" clId="{EC8112FC-7679-417A-89A8-5F7CDED389B8}" dt="2023-05-07T15:17:15.280" v="2"/>
        <pc:sldMkLst>
          <pc:docMk/>
          <pc:sldMk cId="0" sldId="260"/>
        </pc:sldMkLst>
        <pc:spChg chg="mod">
          <ac:chgData name="曹琰" userId="27cee28f-e211-4f09-bcc3-f54e9e2c5611" providerId="ADAL" clId="{EC8112FC-7679-417A-89A8-5F7CDED389B8}" dt="2023-05-07T15:17:15.280" v="2"/>
          <ac:spMkLst>
            <pc:docMk/>
            <pc:sldMk cId="0" sldId="260"/>
            <ac:spMk id="126978" creationId="{00000000-0000-0000-0000-000000000000}"/>
          </ac:spMkLst>
        </pc:spChg>
      </pc:sldChg>
      <pc:sldChg chg="del">
        <pc:chgData name="曹琰" userId="27cee28f-e211-4f09-bcc3-f54e9e2c5611" providerId="ADAL" clId="{EC8112FC-7679-417A-89A8-5F7CDED389B8}" dt="2023-05-07T15:17:19.085" v="3" actId="47"/>
        <pc:sldMkLst>
          <pc:docMk/>
          <pc:sldMk cId="0" sldId="263"/>
        </pc:sldMkLst>
      </pc:sldChg>
      <pc:sldChg chg="del">
        <pc:chgData name="曹琰" userId="27cee28f-e211-4f09-bcc3-f54e9e2c5611" providerId="ADAL" clId="{EC8112FC-7679-417A-89A8-5F7CDED389B8}" dt="2023-05-07T15:17:20.153" v="5" actId="47"/>
        <pc:sldMkLst>
          <pc:docMk/>
          <pc:sldMk cId="0" sldId="265"/>
        </pc:sldMkLst>
      </pc:sldChg>
      <pc:sldChg chg="del">
        <pc:chgData name="曹琰" userId="27cee28f-e211-4f09-bcc3-f54e9e2c5611" providerId="ADAL" clId="{EC8112FC-7679-417A-89A8-5F7CDED389B8}" dt="2023-05-07T15:17:20.585" v="6" actId="47"/>
        <pc:sldMkLst>
          <pc:docMk/>
          <pc:sldMk cId="0" sldId="268"/>
        </pc:sldMkLst>
      </pc:sldChg>
      <pc:sldChg chg="del">
        <pc:chgData name="曹琰" userId="27cee28f-e211-4f09-bcc3-f54e9e2c5611" providerId="ADAL" clId="{EC8112FC-7679-417A-89A8-5F7CDED389B8}" dt="2023-05-07T15:17:21.033" v="7" actId="47"/>
        <pc:sldMkLst>
          <pc:docMk/>
          <pc:sldMk cId="0" sldId="269"/>
        </pc:sldMkLst>
      </pc:sldChg>
      <pc:sldChg chg="add del">
        <pc:chgData name="曹琰" userId="27cee28f-e211-4f09-bcc3-f54e9e2c5611" providerId="ADAL" clId="{EC8112FC-7679-417A-89A8-5F7CDED389B8}" dt="2023-05-07T15:17:23.217" v="9" actId="47"/>
        <pc:sldMkLst>
          <pc:docMk/>
          <pc:sldMk cId="0" sldId="270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259754172" sldId="382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654343397" sldId="383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696819059" sldId="384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742786432" sldId="385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943221540" sldId="387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513218616" sldId="388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622208937" sldId="389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642084838" sldId="390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059600226" sldId="391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880702218" sldId="405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713639805" sldId="406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486555992" sldId="410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544635790" sldId="411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283972746" sldId="412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521265748" sldId="413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4252855220" sldId="414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117006725" sldId="415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505513030" sldId="416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905790204" sldId="417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448232197" sldId="418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536038563" sldId="422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222769085" sldId="423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545974989" sldId="424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669877159" sldId="425"/>
        </pc:sldMkLst>
      </pc:sldChg>
      <pc:sldChg chg="del">
        <pc:chgData name="曹琰" userId="27cee28f-e211-4f09-bcc3-f54e9e2c5611" providerId="ADAL" clId="{EC8112FC-7679-417A-89A8-5F7CDED389B8}" dt="2023-05-07T15:17:19.784" v="4" actId="47"/>
        <pc:sldMkLst>
          <pc:docMk/>
          <pc:sldMk cId="3172049477" sldId="426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64335605" sldId="427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693981033" sldId="428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504630836" sldId="429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825823189" sldId="430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2350542507" sldId="431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069002972" sldId="432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161592303" sldId="433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1478279575" sldId="434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598197263" sldId="435"/>
        </pc:sldMkLst>
      </pc:sldChg>
      <pc:sldChg chg="del">
        <pc:chgData name="曹琰" userId="27cee28f-e211-4f09-bcc3-f54e9e2c5611" providerId="ADAL" clId="{EC8112FC-7679-417A-89A8-5F7CDED389B8}" dt="2023-05-07T15:18:02.450" v="10" actId="47"/>
        <pc:sldMkLst>
          <pc:docMk/>
          <pc:sldMk cId="372339627" sldId="4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0715C-3F7A-4FBF-9379-4A520C4656F3}" type="datetimeFigureOut">
              <a:rPr lang="zh-CN" altLang="en-US" smtClean="0"/>
              <a:t>2023/5/7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726EC-0FA4-40EB-BD2B-9FBFAE264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26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B395955-F1D0-4823-93B0-9645F3713D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2051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76CB5E9-BD76-44FE-A68C-8FB1826B7171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1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55EF682-7FB1-4E8E-A461-BC0C7E15E03A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99010FE-5108-473E-918F-8F73C6A43130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4FE9429-97DF-4890-AF7F-C31DE078B1E3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A11A4AC-CB3E-4CB0-A98C-669289568972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5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6602315-C6D8-49C4-8830-A7D342CFB385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6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5A9CCE8-F00A-4097-A2BD-F365278FA744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7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数据段：存放全局和静态数据</a:t>
            </a:r>
            <a:endParaRPr lang="en-US" altLang="zh-CN" dirty="0"/>
          </a:p>
          <a:p>
            <a:r>
              <a:rPr lang="zh-CN" altLang="en-US" dirty="0"/>
              <a:t>栈：局部变量、函数参数等</a:t>
            </a:r>
            <a:endParaRPr lang="en-US" altLang="zh-CN" dirty="0"/>
          </a:p>
          <a:p>
            <a:r>
              <a:rPr lang="zh-CN" altLang="en-US" dirty="0"/>
              <a:t>堆：</a:t>
            </a:r>
            <a:r>
              <a:rPr lang="en-US" altLang="zh-CN" dirty="0" err="1"/>
              <a:t>malloc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395955-F1D0-4823-93B0-9645F3713DF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60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9E4E163-A46A-4F0D-8F2A-353A54EFD56D}" type="slidenum">
              <a:rPr lang="zh-CN" altLang="en-US" smtClean="0">
                <a:solidFill>
                  <a:schemeClr val="bg1"/>
                </a:solidFill>
                <a:latin typeface="Times New Roman" pitchFamily="18" charset="0"/>
              </a:rPr>
              <a:pPr eaLnBrk="1" hangingPunct="1"/>
              <a:t>9</a:t>
            </a:fld>
            <a:endParaRPr lang="en-US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在一次函数调用中实际会保存在栈中的数据包括：调用者参数、</a:t>
            </a:r>
            <a:r>
              <a:rPr lang="en-US" altLang="zh-CN" i="1" dirty="0">
                <a:solidFill>
                  <a:srgbClr val="FF0000"/>
                </a:solidFill>
              </a:rPr>
              <a:t>EIP</a:t>
            </a:r>
            <a:r>
              <a:rPr lang="zh-CN" altLang="en-US" i="1" dirty="0">
                <a:solidFill>
                  <a:srgbClr val="FF0000"/>
                </a:solidFill>
              </a:rPr>
              <a:t>的值</a:t>
            </a:r>
            <a:r>
              <a:rPr lang="zh-CN" altLang="en-US" dirty="0"/>
              <a:t>（返回地址）、</a:t>
            </a:r>
            <a:r>
              <a:rPr lang="en-US" altLang="zh-CN" dirty="0"/>
              <a:t>EBP</a:t>
            </a:r>
            <a:r>
              <a:rPr lang="zh-CN" altLang="en-US" dirty="0"/>
              <a:t>的值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395955-F1D0-4823-93B0-9645F3713DF9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608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在一次函数调用中实际会保存在栈中的数据包括：调用者参数、</a:t>
            </a:r>
            <a:r>
              <a:rPr lang="en-US" altLang="zh-CN" i="1" dirty="0">
                <a:solidFill>
                  <a:srgbClr val="FF0000"/>
                </a:solidFill>
              </a:rPr>
              <a:t>EIP</a:t>
            </a:r>
            <a:r>
              <a:rPr lang="zh-CN" altLang="en-US" i="1" dirty="0">
                <a:solidFill>
                  <a:srgbClr val="FF0000"/>
                </a:solidFill>
              </a:rPr>
              <a:t>的值</a:t>
            </a:r>
            <a:r>
              <a:rPr lang="zh-CN" altLang="en-US" dirty="0"/>
              <a:t>（返回地址）、</a:t>
            </a:r>
            <a:r>
              <a:rPr lang="en-US" altLang="zh-CN" dirty="0"/>
              <a:t>EBP</a:t>
            </a:r>
            <a:r>
              <a:rPr lang="zh-CN" altLang="en-US" dirty="0"/>
              <a:t>的值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395955-F1D0-4823-93B0-9645F3713DF9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608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395955-F1D0-4823-93B0-9645F3713DF9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60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latin typeface="Times New Roman" pitchFamily="18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58436 w 4917"/>
                <a:gd name="T3" fmla="*/ 0 h 1000"/>
                <a:gd name="T4" fmla="*/ 65067 w 4917"/>
                <a:gd name="T5" fmla="*/ 1347 h 1000"/>
                <a:gd name="T6" fmla="*/ 58450 w 4917"/>
                <a:gd name="T7" fmla="*/ 2692 h 1000"/>
                <a:gd name="T8" fmla="*/ 0 w 4917"/>
                <a:gd name="T9" fmla="*/ 2692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635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5636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6E79-4020-450F-BFEB-B55D365F72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835636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33A2C-176C-4D2F-941E-39B2D1D866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857232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8E586-1FDB-431C-B94C-B07C5D8A79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91561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68249-7C03-4318-8033-5ECB1CBF1F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54460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9B8A7-00EC-4681-928F-5F44E96AA8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6895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AF9B8-BD53-482C-AC19-32041EC818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8518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EEF58-1547-494B-8784-29835186C7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2445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209EF-2823-4D91-A553-F023DBAF0D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44949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8E646-117D-4AFC-9471-569EB7A191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02461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A59BF-F391-4EAC-8E09-E15AED3321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225587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28600"/>
            <a:ext cx="19812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912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5134E-DB05-4638-862C-B8116C54E5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360640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28600"/>
            <a:ext cx="70231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7924800" cy="4419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3D699-D76A-49F2-BBC0-FF3A00B43A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403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28600"/>
            <a:ext cx="70231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8B2C7-0209-46E0-90AC-570484F944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22353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latin typeface="Times New Roman" pitchFamily="18" charset="0"/>
              </a:endParaRPr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7169 w 7000"/>
                <a:gd name="T3" fmla="*/ 0 h 1000"/>
                <a:gd name="T4" fmla="*/ 7722 w 7000"/>
                <a:gd name="T5" fmla="*/ 79 h 1000"/>
                <a:gd name="T6" fmla="*/ 7171 w 7000"/>
                <a:gd name="T7" fmla="*/ 157 h 1000"/>
                <a:gd name="T8" fmla="*/ 0 w 7000"/>
                <a:gd name="T9" fmla="*/ 157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533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228600"/>
            <a:ext cx="7023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5533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533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533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533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latin typeface="Arial Black" pitchFamily="34" charset="0"/>
              </a:defRPr>
            </a:lvl1pPr>
          </a:lstStyle>
          <a:p>
            <a:pPr>
              <a:defRPr/>
            </a:pPr>
            <a:fld id="{F9682B7A-5AB2-45CC-9135-C6E62D87AF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5" r:id="rId2"/>
    <p:sldLayoutId id="2147483764" r:id="rId3"/>
    <p:sldLayoutId id="2147483763" r:id="rId4"/>
    <p:sldLayoutId id="2147483762" r:id="rId5"/>
    <p:sldLayoutId id="2147483761" r:id="rId6"/>
    <p:sldLayoutId id="2147483760" r:id="rId7"/>
    <p:sldLayoutId id="2147483759" r:id="rId8"/>
    <p:sldLayoutId id="2147483758" r:id="rId9"/>
    <p:sldLayoutId id="2147483757" r:id="rId10"/>
    <p:sldLayoutId id="2147483756" r:id="rId11"/>
    <p:sldLayoutId id="2147483755" r:id="rId12"/>
    <p:sldLayoutId id="2147483754" r:id="rId13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02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5400" dirty="0"/>
              <a:t>栈溢出漏洞原理</a:t>
            </a:r>
          </a:p>
        </p:txBody>
      </p:sp>
      <p:pic>
        <p:nvPicPr>
          <p:cNvPr id="3075" name="Picture 1029" descr="j01152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762000"/>
            <a:ext cx="16652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2" name="Rectangle 1030"/>
          <p:cNvSpPr>
            <a:spLocks noChangeArrowheads="1"/>
          </p:cNvSpPr>
          <p:nvPr/>
        </p:nvSpPr>
        <p:spPr bwMode="auto">
          <a:xfrm>
            <a:off x="1331913" y="3213100"/>
            <a:ext cx="6400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20000"/>
              </a:spcBef>
              <a:buClr>
                <a:srgbClr val="FFFF66"/>
              </a:buClr>
              <a:buSzPct val="60000"/>
              <a:buFont typeface="Wingdings" pitchFamily="2" charset="2"/>
              <a:buNone/>
              <a:defRPr/>
            </a:pPr>
            <a:endParaRPr kumimoji="1" lang="zh-CN" altLang="en-US" sz="4000" b="1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华文新魏" pitchFamily="2" charset="-122"/>
            </a:endParaRPr>
          </a:p>
        </p:txBody>
      </p:sp>
      <p:sp>
        <p:nvSpPr>
          <p:cNvPr id="126983" name="Rectangle 103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缓冲区溢出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latin typeface="宋体" pitchFamily="2" charset="-122"/>
              </a:rPr>
              <a:t>如果用户输入的数据长度</a:t>
            </a:r>
            <a:r>
              <a:rPr lang="zh-CN" altLang="en-US" i="1">
                <a:solidFill>
                  <a:srgbClr val="FF0000"/>
                </a:solidFill>
                <a:latin typeface="宋体" pitchFamily="2" charset="-122"/>
              </a:rPr>
              <a:t>超出</a:t>
            </a:r>
            <a:r>
              <a:rPr lang="zh-CN" altLang="en-US">
                <a:latin typeface="宋体" pitchFamily="2" charset="-122"/>
              </a:rPr>
              <a:t>了程序为其分配的内存空间，这些数据就会</a:t>
            </a:r>
            <a:r>
              <a:rPr lang="zh-CN" altLang="en-US" i="1">
                <a:solidFill>
                  <a:srgbClr val="FF0000"/>
                </a:solidFill>
                <a:latin typeface="宋体" pitchFamily="2" charset="-122"/>
              </a:rPr>
              <a:t>覆盖</a:t>
            </a:r>
            <a:r>
              <a:rPr lang="zh-CN" altLang="en-US">
                <a:latin typeface="宋体" pitchFamily="2" charset="-122"/>
              </a:rPr>
              <a:t>程序为</a:t>
            </a:r>
            <a:r>
              <a:rPr lang="zh-CN" altLang="en-US" i="1">
                <a:solidFill>
                  <a:srgbClr val="FF0000"/>
                </a:solidFill>
                <a:latin typeface="宋体" pitchFamily="2" charset="-122"/>
              </a:rPr>
              <a:t>其它数据</a:t>
            </a:r>
            <a:r>
              <a:rPr lang="zh-CN" altLang="en-US">
                <a:latin typeface="宋体" pitchFamily="2" charset="-122"/>
              </a:rPr>
              <a:t>分配的内存空间，形成所谓的缓冲区溢出。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溢出示例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862376"/>
            <a:ext cx="7924800" cy="44196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func</a:t>
            </a:r>
            <a:r>
              <a:rPr lang="en-US" altLang="zh-CN" dirty="0"/>
              <a:t>(char  *</a:t>
            </a:r>
            <a:r>
              <a:rPr lang="en-US" altLang="zh-CN" dirty="0" err="1"/>
              <a:t>str</a:t>
            </a:r>
            <a:r>
              <a:rPr lang="en-US" altLang="zh-CN" dirty="0"/>
              <a:t>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	 char </a:t>
            </a:r>
            <a:r>
              <a:rPr lang="en-US" altLang="zh-CN" dirty="0" err="1"/>
              <a:t>buf</a:t>
            </a:r>
            <a:r>
              <a:rPr lang="en-US" altLang="zh-CN" dirty="0"/>
              <a:t>[4];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buf,str</a:t>
            </a:r>
            <a:r>
              <a:rPr lang="en-US" altLang="zh-CN" dirty="0"/>
              <a:t>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}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如果</a:t>
            </a:r>
            <a:r>
              <a:rPr lang="en-US" altLang="zh-CN" dirty="0" err="1"/>
              <a:t>str</a:t>
            </a:r>
            <a:r>
              <a:rPr lang="zh-CN" altLang="en-US" dirty="0"/>
              <a:t>的内容多于</a:t>
            </a:r>
            <a:r>
              <a:rPr lang="en-US" altLang="zh-CN" dirty="0"/>
              <a:t>4</a:t>
            </a:r>
            <a:r>
              <a:rPr lang="zh-CN" altLang="en-US" dirty="0"/>
              <a:t>个非0字符，就会造成</a:t>
            </a:r>
            <a:r>
              <a:rPr lang="en-US" altLang="zh-CN" dirty="0" err="1"/>
              <a:t>buf</a:t>
            </a:r>
            <a:r>
              <a:rPr lang="zh-CN" altLang="en-US" dirty="0"/>
              <a:t>的溢出，使程序出错。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1751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46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缓冲区溢出的危害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应用程序异常</a:t>
            </a:r>
          </a:p>
          <a:p>
            <a:pPr eaLnBrk="1" hangingPunct="1">
              <a:defRPr/>
            </a:pPr>
            <a:endParaRPr lang="zh-CN" altLang="en-US"/>
          </a:p>
          <a:p>
            <a:pPr eaLnBrk="1" hangingPunct="1">
              <a:defRPr/>
            </a:pPr>
            <a:r>
              <a:rPr lang="zh-CN" altLang="en-US"/>
              <a:t>系统不稳定甚至崩溃</a:t>
            </a:r>
          </a:p>
          <a:p>
            <a:pPr eaLnBrk="1" hangingPunct="1">
              <a:defRPr/>
            </a:pPr>
            <a:endParaRPr lang="zh-CN" altLang="en-US"/>
          </a:p>
          <a:p>
            <a:pPr eaLnBrk="1" hangingPunct="1">
              <a:defRPr/>
            </a:pPr>
            <a:r>
              <a:rPr lang="zh-CN" altLang="en-US"/>
              <a:t>程序跳转到恶意代码，控制权被窃。</a:t>
            </a:r>
          </a:p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缓冲区溢出的攻击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/>
              <a:t>Q：</a:t>
            </a:r>
            <a:r>
              <a:rPr lang="zh-CN" altLang="en-US"/>
              <a:t>攻击者如何做到</a:t>
            </a:r>
            <a:r>
              <a:rPr lang="zh-CN" altLang="en-US">
                <a:latin typeface="宋体" pitchFamily="2" charset="-122"/>
              </a:rPr>
              <a:t>不仅仅让程序出错，而且让程序改变其原有的逻辑，转而去执行一些攻击者所期望的功能</a:t>
            </a:r>
            <a:r>
              <a:rPr lang="zh-CN" altLang="en-US"/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关于程序运行</a:t>
            </a:r>
          </a:p>
        </p:txBody>
      </p:sp>
      <p:sp>
        <p:nvSpPr>
          <p:cNvPr id="552963" name="Rectangle 3"/>
          <p:cNvSpPr>
            <a:spLocks noChangeArrowheads="1"/>
          </p:cNvSpPr>
          <p:nvPr/>
        </p:nvSpPr>
        <p:spPr bwMode="auto">
          <a:xfrm>
            <a:off x="1066800" y="2133600"/>
            <a:ext cx="7772400" cy="14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程序所使用的内存空间</a:t>
            </a:r>
          </a:p>
          <a:p>
            <a:pPr marL="342900" indent="-342900">
              <a:spcBef>
                <a:spcPct val="20000"/>
              </a:spcBef>
              <a:buClr>
                <a:srgbClr val="FFFF66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程序的内存空间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5410200"/>
            <a:ext cx="7772400" cy="10271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程序在运行时，代码和数据是分开存放的</a:t>
            </a:r>
          </a:p>
        </p:txBody>
      </p:sp>
      <p:sp>
        <p:nvSpPr>
          <p:cNvPr id="555012" name="Rectangle 4"/>
          <p:cNvSpPr>
            <a:spLocks noChangeArrowheads="1"/>
          </p:cNvSpPr>
          <p:nvPr/>
        </p:nvSpPr>
        <p:spPr bwMode="auto">
          <a:xfrm>
            <a:off x="1371600" y="2286000"/>
            <a:ext cx="2667000" cy="2286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ahoma" pitchFamily="34" charset="0"/>
              </a:rPr>
              <a:t>CPU</a:t>
            </a:r>
          </a:p>
        </p:txBody>
      </p:sp>
      <p:grpSp>
        <p:nvGrpSpPr>
          <p:cNvPr id="555013" name="Group 5"/>
          <p:cNvGrpSpPr>
            <a:grpSpLocks/>
          </p:cNvGrpSpPr>
          <p:nvPr/>
        </p:nvGrpSpPr>
        <p:grpSpPr bwMode="auto">
          <a:xfrm>
            <a:off x="5486400" y="1752600"/>
            <a:ext cx="2667000" cy="3581400"/>
            <a:chOff x="3456" y="1104"/>
            <a:chExt cx="1680" cy="2256"/>
          </a:xfrm>
        </p:grpSpPr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3456" y="1296"/>
              <a:ext cx="1680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latin typeface="Tahoma" pitchFamily="34" charset="0"/>
                </a:rPr>
                <a:t>数据</a:t>
              </a: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3456" y="2400"/>
              <a:ext cx="1680" cy="62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chemeClr val="bg1"/>
                  </a:solidFill>
                  <a:latin typeface="Tahoma" pitchFamily="34" charset="0"/>
                </a:rPr>
                <a:t>代码</a:t>
              </a:r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3456" y="1104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>
              <a:off x="5136" y="1104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5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5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1" grpId="0" build="p" autoUpdateAnimBg="0"/>
      <p:bldP spid="555012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程序在内存中的映像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4498975" y="1339850"/>
            <a:ext cx="2449513" cy="1871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b="1"/>
              <a:t>……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547813" y="4005263"/>
            <a:ext cx="1655762" cy="790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文本（代码）段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549400" y="3211513"/>
            <a:ext cx="1655763" cy="790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数据段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1547813" y="2420938"/>
            <a:ext cx="1655762" cy="790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堆栈段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468313" y="2065338"/>
            <a:ext cx="1336675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Times New Roman" pitchFamily="18" charset="0"/>
              </a:rPr>
              <a:t>内存低地址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68313" y="4873625"/>
            <a:ext cx="1336675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Times New Roman" pitchFamily="18" charset="0"/>
              </a:rPr>
              <a:t>内存高地址</a:t>
            </a:r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1189038" y="2563813"/>
            <a:ext cx="0" cy="2160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61975" y="2871788"/>
            <a:ext cx="482600" cy="1781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1" lang="zh-CN" altLang="en-US" sz="1600" b="1">
                <a:latin typeface="Times New Roman" pitchFamily="18" charset="0"/>
              </a:rPr>
              <a:t>内存递增方向</a:t>
            </a: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4498975" y="3716338"/>
            <a:ext cx="2449513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初始化数据段</a:t>
            </a: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498975" y="3211513"/>
            <a:ext cx="244951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非初始化数据段</a:t>
            </a:r>
            <a:r>
              <a:rPr kumimoji="1" lang="en-US" altLang="zh-CN" b="1"/>
              <a:t>(BSS)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4498975" y="1268413"/>
            <a:ext cx="237648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栈</a:t>
            </a:r>
            <a:r>
              <a:rPr kumimoji="1" lang="en-US" altLang="zh-CN" b="1"/>
              <a:t>(stack)</a:t>
            </a: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4427538" y="2636838"/>
            <a:ext cx="244951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堆</a:t>
            </a:r>
            <a:r>
              <a:rPr kumimoji="1" lang="en-US" altLang="zh-CN" b="1"/>
              <a:t>(heap)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4500563" y="2708275"/>
            <a:ext cx="244792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4498975" y="1843088"/>
            <a:ext cx="244951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7289800" y="1484313"/>
            <a:ext cx="1458913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1" lang="zh-CN" altLang="en-US" sz="1600" b="1">
                <a:latin typeface="Times New Roman" pitchFamily="18" charset="0"/>
              </a:rPr>
              <a:t>栈的增长方向</a:t>
            </a:r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6931025" y="3211513"/>
            <a:ext cx="4857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5" name="Line 19"/>
          <p:cNvSpPr>
            <a:spLocks noChangeShapeType="1"/>
          </p:cNvSpPr>
          <p:nvPr/>
        </p:nvSpPr>
        <p:spPr bwMode="auto">
          <a:xfrm>
            <a:off x="6931025" y="1339850"/>
            <a:ext cx="4857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7308850" y="2784475"/>
            <a:ext cx="145732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1" lang="zh-CN" altLang="en-US" sz="1600" b="1">
                <a:latin typeface="Times New Roman" pitchFamily="18" charset="0"/>
              </a:rPr>
              <a:t>堆的增长方向</a:t>
            </a:r>
          </a:p>
        </p:txBody>
      </p:sp>
      <p:sp>
        <p:nvSpPr>
          <p:cNvPr id="19477" name="Line 21"/>
          <p:cNvSpPr>
            <a:spLocks noChangeShapeType="1"/>
          </p:cNvSpPr>
          <p:nvPr/>
        </p:nvSpPr>
        <p:spPr bwMode="auto">
          <a:xfrm flipV="1">
            <a:off x="7146925" y="1339850"/>
            <a:ext cx="0" cy="7127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8" name="Line 22"/>
          <p:cNvSpPr>
            <a:spLocks noChangeShapeType="1"/>
          </p:cNvSpPr>
          <p:nvPr/>
        </p:nvSpPr>
        <p:spPr bwMode="auto">
          <a:xfrm>
            <a:off x="7146925" y="2262188"/>
            <a:ext cx="0" cy="9493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>
            <a:off x="3203575" y="32131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3203575" y="1341438"/>
            <a:ext cx="1296988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3203575" y="4005263"/>
            <a:ext cx="1296988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2" name="Rectangle 26"/>
          <p:cNvSpPr>
            <a:spLocks noChangeArrowheads="1"/>
          </p:cNvSpPr>
          <p:nvPr/>
        </p:nvSpPr>
        <p:spPr bwMode="auto">
          <a:xfrm>
            <a:off x="4498975" y="5732463"/>
            <a:ext cx="2449513" cy="503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内核数据代码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6804025" y="5732463"/>
            <a:ext cx="1800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0x80000000</a:t>
            </a: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732588" y="5372100"/>
            <a:ext cx="1944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0x</a:t>
            </a:r>
            <a:r>
              <a:rPr lang="en-US" altLang="zh-CN" sz="1600" b="1"/>
              <a:t>7FFFFFFF</a:t>
            </a:r>
          </a:p>
        </p:txBody>
      </p:sp>
      <p:sp>
        <p:nvSpPr>
          <p:cNvPr id="19485" name="Line 29"/>
          <p:cNvSpPr>
            <a:spLocks noChangeShapeType="1"/>
          </p:cNvSpPr>
          <p:nvPr/>
        </p:nvSpPr>
        <p:spPr bwMode="auto">
          <a:xfrm flipH="1" flipV="1">
            <a:off x="4498975" y="5732463"/>
            <a:ext cx="3960813" cy="0"/>
          </a:xfrm>
          <a:prstGeom prst="line">
            <a:avLst/>
          </a:prstGeom>
          <a:noFill/>
          <a:ln w="38100" cap="sq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9486" name="Rectangle 30"/>
          <p:cNvSpPr>
            <a:spLocks noChangeArrowheads="1"/>
          </p:cNvSpPr>
          <p:nvPr/>
        </p:nvSpPr>
        <p:spPr bwMode="auto">
          <a:xfrm>
            <a:off x="4498975" y="5227638"/>
            <a:ext cx="244951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b="1"/>
              <a:t>PEB&amp;TEB</a:t>
            </a:r>
          </a:p>
        </p:txBody>
      </p:sp>
      <p:sp>
        <p:nvSpPr>
          <p:cNvPr id="19487" name="Rectangle 31"/>
          <p:cNvSpPr>
            <a:spLocks noChangeArrowheads="1"/>
          </p:cNvSpPr>
          <p:nvPr/>
        </p:nvSpPr>
        <p:spPr bwMode="auto">
          <a:xfrm>
            <a:off x="4498975" y="4724400"/>
            <a:ext cx="2449513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b="1"/>
              <a:t>系统</a:t>
            </a:r>
            <a:r>
              <a:rPr kumimoji="1" lang="en-US" altLang="zh-CN" b="1"/>
              <a:t>DLL</a:t>
            </a:r>
          </a:p>
        </p:txBody>
      </p:sp>
      <p:sp>
        <p:nvSpPr>
          <p:cNvPr id="19488" name="Rectangle 32"/>
          <p:cNvSpPr>
            <a:spLocks noChangeArrowheads="1"/>
          </p:cNvSpPr>
          <p:nvPr/>
        </p:nvSpPr>
        <p:spPr bwMode="auto">
          <a:xfrm>
            <a:off x="4498975" y="4219575"/>
            <a:ext cx="244951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代码段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关于程序运行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3352800"/>
            <a:ext cx="7772400" cy="14112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程序中顺序流程的执行</a:t>
            </a:r>
          </a:p>
        </p:txBody>
      </p:sp>
      <p:sp>
        <p:nvSpPr>
          <p:cNvPr id="558084" name="Rectangle 4"/>
          <p:cNvSpPr>
            <a:spLocks noChangeArrowheads="1"/>
          </p:cNvSpPr>
          <p:nvPr/>
        </p:nvSpPr>
        <p:spPr bwMode="auto">
          <a:xfrm>
            <a:off x="1066800" y="2133600"/>
            <a:ext cx="7772400" cy="14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程序所使用的内存空间</a:t>
            </a:r>
          </a:p>
          <a:p>
            <a:pPr marL="342900" indent="-342900">
              <a:spcBef>
                <a:spcPct val="20000"/>
              </a:spcBef>
              <a:buClr>
                <a:srgbClr val="FFFF66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8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顺序流程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5588000"/>
            <a:ext cx="7772400" cy="6461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rgbClr val="FF0000"/>
                </a:solidFill>
              </a:rPr>
              <a:t>EIP</a:t>
            </a:r>
            <a:r>
              <a:rPr lang="zh-CN" altLang="en-US">
                <a:solidFill>
                  <a:srgbClr val="FF0000"/>
                </a:solidFill>
              </a:rPr>
              <a:t>指针</a:t>
            </a:r>
            <a:r>
              <a:rPr lang="zh-CN" altLang="en-US"/>
              <a:t>指向内存中一条待执行的指令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5076825" y="2492375"/>
            <a:ext cx="26670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ahoma" pitchFamily="34" charset="0"/>
              </a:rPr>
              <a:t>数据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076825" y="3716338"/>
            <a:ext cx="2667000" cy="1539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5076825" y="4678363"/>
            <a:ext cx="26670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bg1"/>
                </a:solidFill>
                <a:latin typeface="Tahoma" pitchFamily="34" charset="0"/>
              </a:rPr>
              <a:t>ADD A，B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533400" y="1616075"/>
            <a:ext cx="3505200" cy="2819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ahoma" pitchFamily="34" charset="0"/>
              </a:rPr>
              <a:t>CPU</a:t>
            </a: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  <a:p>
            <a:pPr algn="ctr" eaLnBrk="1" hangingPunct="1"/>
            <a:endParaRPr kumimoji="1" lang="en-US" altLang="zh-CN" sz="2400">
              <a:latin typeface="Tahoma" pitchFamily="34" charset="0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2438400" y="4054475"/>
            <a:ext cx="16002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ahoma" pitchFamily="34" charset="0"/>
              </a:rPr>
              <a:t>EIP</a:t>
            </a:r>
            <a:r>
              <a:rPr kumimoji="1" lang="zh-CN" altLang="en-US" sz="2400">
                <a:latin typeface="Tahoma" pitchFamily="34" charset="0"/>
              </a:rPr>
              <a:t>寄存器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762000" y="2149475"/>
            <a:ext cx="3048000" cy="685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ahoma" pitchFamily="34" charset="0"/>
              </a:rPr>
              <a:t>指令译码器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762000" y="3140075"/>
            <a:ext cx="3048000" cy="685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ahoma" pitchFamily="34" charset="0"/>
              </a:rPr>
              <a:t>运算器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5076825" y="4340225"/>
            <a:ext cx="26670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bg1"/>
                </a:solidFill>
                <a:latin typeface="Tahoma" pitchFamily="34" charset="0"/>
              </a:rPr>
              <a:t>MOV EAX，05H</a:t>
            </a:r>
          </a:p>
        </p:txBody>
      </p:sp>
      <p:sp>
        <p:nvSpPr>
          <p:cNvPr id="560140" name="Rectangle 12"/>
          <p:cNvSpPr>
            <a:spLocks noChangeArrowheads="1"/>
          </p:cNvSpPr>
          <p:nvPr/>
        </p:nvSpPr>
        <p:spPr bwMode="auto">
          <a:xfrm>
            <a:off x="900113" y="2276475"/>
            <a:ext cx="26670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ahoma" pitchFamily="34" charset="0"/>
              </a:rPr>
              <a:t>MOV EAX，05H</a:t>
            </a:r>
          </a:p>
        </p:txBody>
      </p:sp>
      <p:sp>
        <p:nvSpPr>
          <p:cNvPr id="560141" name="Line 13"/>
          <p:cNvSpPr>
            <a:spLocks noChangeShapeType="1"/>
          </p:cNvSpPr>
          <p:nvPr/>
        </p:nvSpPr>
        <p:spPr bwMode="auto">
          <a:xfrm>
            <a:off x="3995738" y="4868863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0142" name="Rectangle 14"/>
          <p:cNvSpPr>
            <a:spLocks noChangeArrowheads="1"/>
          </p:cNvSpPr>
          <p:nvPr/>
        </p:nvSpPr>
        <p:spPr bwMode="auto">
          <a:xfrm>
            <a:off x="1116013" y="2276475"/>
            <a:ext cx="2449512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latin typeface="Tahoma" pitchFamily="34" charset="0"/>
              </a:rPr>
              <a:t>ADD A，B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7740650" y="1557338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ahoma" pitchFamily="34" charset="0"/>
              </a:rPr>
              <a:t>内存低端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7740650" y="5157788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ahoma" pitchFamily="34" charset="0"/>
              </a:rPr>
              <a:t>内存高端</a:t>
            </a: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5076825" y="3840163"/>
            <a:ext cx="2667000" cy="3810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代     码</a:t>
            </a: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5076825" y="5038725"/>
            <a:ext cx="26670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en-US" altLang="zh-CN" sz="2400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en-US" altLang="zh-CN" sz="240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60147" name="Line 19"/>
          <p:cNvSpPr>
            <a:spLocks noChangeShapeType="1"/>
          </p:cNvSpPr>
          <p:nvPr/>
        </p:nvSpPr>
        <p:spPr bwMode="auto">
          <a:xfrm>
            <a:off x="3995738" y="5249863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5076825" y="1700213"/>
            <a:ext cx="26670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ahoma" pitchFamily="34" charset="0"/>
              </a:rPr>
              <a:t>栈数据</a:t>
            </a:r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5076825" y="1484313"/>
            <a:ext cx="0" cy="41036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 flipH="1">
            <a:off x="7740650" y="1484313"/>
            <a:ext cx="3175" cy="41036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0151" name="Line 23"/>
          <p:cNvSpPr>
            <a:spLocks noChangeShapeType="1"/>
          </p:cNvSpPr>
          <p:nvPr/>
        </p:nvSpPr>
        <p:spPr bwMode="auto">
          <a:xfrm>
            <a:off x="3987800" y="4510088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build="p" autoUpdateAnimBg="0"/>
      <p:bldP spid="560140" grpId="0" animBg="1" autoUpdateAnimBg="0"/>
      <p:bldP spid="560141" grpId="0" animBg="1"/>
      <p:bldP spid="560141" grpId="1" animBg="1"/>
      <p:bldP spid="560142" grpId="0" animBg="1" autoUpdateAnimBg="0"/>
      <p:bldP spid="560147" grpId="0" animBg="1"/>
      <p:bldP spid="560151" grpId="0" animBg="1"/>
      <p:bldP spid="56015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关于程序运行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3349625"/>
            <a:ext cx="7772400" cy="14112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程序中顺序流程的执行</a:t>
            </a:r>
          </a:p>
        </p:txBody>
      </p:sp>
      <p:sp>
        <p:nvSpPr>
          <p:cNvPr id="561156" name="Rectangle 4"/>
          <p:cNvSpPr>
            <a:spLocks noChangeArrowheads="1"/>
          </p:cNvSpPr>
          <p:nvPr/>
        </p:nvSpPr>
        <p:spPr bwMode="auto">
          <a:xfrm>
            <a:off x="1143000" y="4608513"/>
            <a:ext cx="7772400" cy="141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函数调用及返回时的堆栈操作</a:t>
            </a:r>
          </a:p>
        </p:txBody>
      </p:sp>
      <p:sp>
        <p:nvSpPr>
          <p:cNvPr id="561157" name="Rectangle 5"/>
          <p:cNvSpPr>
            <a:spLocks noChangeArrowheads="1"/>
          </p:cNvSpPr>
          <p:nvPr/>
        </p:nvSpPr>
        <p:spPr bwMode="auto">
          <a:xfrm>
            <a:off x="1143000" y="2170113"/>
            <a:ext cx="7772400" cy="141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程序所使用的内存空间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3816350" cy="8112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800" dirty="0"/>
              <a:t>函数调用与栈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721225" y="3708400"/>
            <a:ext cx="2819400" cy="14398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730750" y="5437188"/>
            <a:ext cx="2819400" cy="1087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4716463" y="1341438"/>
            <a:ext cx="7937" cy="53641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7524750" y="1412875"/>
            <a:ext cx="19050" cy="5292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716463" y="370205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main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787900" y="1341438"/>
            <a:ext cx="2819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ahoma" pitchFamily="34" charset="0"/>
              </a:rPr>
              <a:t>栈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524750" y="623728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内存高端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7482780" y="131603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Tahoma" pitchFamily="34" charset="0"/>
              </a:rPr>
              <a:t>内存低端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716463" y="2959100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ahoma" pitchFamily="34" charset="0"/>
              </a:rPr>
              <a:t>main</a:t>
            </a:r>
            <a:r>
              <a:rPr kumimoji="1" lang="zh-CN" altLang="en-US" sz="2400" b="1">
                <a:latin typeface="Tahoma" pitchFamily="34" charset="0"/>
              </a:rPr>
              <a:t>函数的数据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721225" y="44338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call func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990600" y="5562600"/>
            <a:ext cx="19812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bg1"/>
                </a:solidFill>
                <a:latin typeface="Tahoma" pitchFamily="34" charset="0"/>
              </a:rPr>
              <a:t>EIP</a:t>
            </a:r>
            <a:r>
              <a:rPr kumimoji="1" lang="zh-CN" altLang="en-US" sz="2400">
                <a:solidFill>
                  <a:schemeClr val="bg1"/>
                </a:solidFill>
                <a:latin typeface="Tahoma" pitchFamily="34" charset="0"/>
              </a:rPr>
              <a:t>寄存器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730750" y="543560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func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4721225" y="4873625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721225" y="4094163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62193" name="Rectangle 17"/>
          <p:cNvSpPr>
            <a:spLocks noChangeArrowheads="1"/>
          </p:cNvSpPr>
          <p:nvPr/>
        </p:nvSpPr>
        <p:spPr bwMode="auto">
          <a:xfrm>
            <a:off x="1258888" y="5661025"/>
            <a:ext cx="1471612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C4</a:t>
            </a:r>
            <a:endParaRPr kumimoji="1" lang="zh-CN" altLang="en-US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62194" name="Rectangle 18"/>
          <p:cNvSpPr>
            <a:spLocks noChangeArrowheads="1"/>
          </p:cNvSpPr>
          <p:nvPr/>
        </p:nvSpPr>
        <p:spPr bwMode="auto">
          <a:xfrm>
            <a:off x="1194594" y="5661025"/>
            <a:ext cx="1600200" cy="4572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CC</a:t>
            </a:r>
          </a:p>
        </p:txBody>
      </p:sp>
      <p:sp>
        <p:nvSpPr>
          <p:cNvPr id="562195" name="Rectangle 19"/>
          <p:cNvSpPr>
            <a:spLocks noChangeArrowheads="1"/>
          </p:cNvSpPr>
          <p:nvPr/>
        </p:nvSpPr>
        <p:spPr bwMode="auto">
          <a:xfrm>
            <a:off x="1129903" y="5661025"/>
            <a:ext cx="1702593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D1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730750" y="61356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return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4716463" y="5856288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62198" name="Rectangle 22"/>
          <p:cNvSpPr>
            <a:spLocks noChangeArrowheads="1"/>
          </p:cNvSpPr>
          <p:nvPr/>
        </p:nvSpPr>
        <p:spPr bwMode="auto">
          <a:xfrm>
            <a:off x="4716463" y="2598738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Tahoma" pitchFamily="34" charset="0"/>
              </a:rPr>
              <a:t>参数</a:t>
            </a:r>
          </a:p>
        </p:txBody>
      </p:sp>
      <p:sp>
        <p:nvSpPr>
          <p:cNvPr id="562199" name="Rectangle 23"/>
          <p:cNvSpPr>
            <a:spLocks noChangeArrowheads="1"/>
          </p:cNvSpPr>
          <p:nvPr/>
        </p:nvSpPr>
        <p:spPr bwMode="auto">
          <a:xfrm>
            <a:off x="4716463" y="2239963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latin typeface="Times New Roman" pitchFamily="18" charset="0"/>
              </a:rPr>
              <a:t>D1</a:t>
            </a:r>
          </a:p>
        </p:txBody>
      </p:sp>
      <p:sp>
        <p:nvSpPr>
          <p:cNvPr id="562200" name="Rectangle 24"/>
          <p:cNvSpPr>
            <a:spLocks noChangeArrowheads="1"/>
          </p:cNvSpPr>
          <p:nvPr/>
        </p:nvSpPr>
        <p:spPr bwMode="auto">
          <a:xfrm>
            <a:off x="4716463" y="1306091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 dirty="0">
                <a:latin typeface="宋体" pitchFamily="2" charset="-122"/>
              </a:rPr>
              <a:t>buff</a:t>
            </a:r>
            <a:endParaRPr kumimoji="1" lang="zh-CN" altLang="en-US" sz="2400" b="1" i="1" dirty="0">
              <a:latin typeface="宋体" pitchFamily="2" charset="-122"/>
            </a:endParaRPr>
          </a:p>
        </p:txBody>
      </p:sp>
      <p:sp>
        <p:nvSpPr>
          <p:cNvPr id="562201" name="Rectangle 25"/>
          <p:cNvSpPr>
            <a:spLocks noChangeArrowheads="1"/>
          </p:cNvSpPr>
          <p:nvPr/>
        </p:nvSpPr>
        <p:spPr bwMode="auto">
          <a:xfrm>
            <a:off x="1181100" y="5640877"/>
            <a:ext cx="1600200" cy="4572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00401210</a:t>
            </a:r>
            <a:endParaRPr kumimoji="1" lang="en-US" altLang="zh-CN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62202" name="Rectangle 26"/>
          <p:cNvSpPr>
            <a:spLocks noChangeArrowheads="1"/>
          </p:cNvSpPr>
          <p:nvPr/>
        </p:nvSpPr>
        <p:spPr bwMode="auto">
          <a:xfrm>
            <a:off x="1165290" y="5626100"/>
            <a:ext cx="1595438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D1</a:t>
            </a:r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3492500" y="32131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栈底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3490913" y="155733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栈顶</a:t>
            </a:r>
          </a:p>
        </p:txBody>
      </p:sp>
      <p:sp>
        <p:nvSpPr>
          <p:cNvPr id="562205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250825" y="4292600"/>
            <a:ext cx="4248150" cy="1081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内存方向：由低到高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   栈方向：由高到低</a:t>
            </a:r>
          </a:p>
        </p:txBody>
      </p:sp>
      <p:sp>
        <p:nvSpPr>
          <p:cNvPr id="562206" name="Line 30"/>
          <p:cNvSpPr>
            <a:spLocks noChangeShapeType="1"/>
          </p:cNvSpPr>
          <p:nvPr/>
        </p:nvSpPr>
        <p:spPr bwMode="auto">
          <a:xfrm>
            <a:off x="3357563" y="3949700"/>
            <a:ext cx="1447800" cy="1588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2207" name="Line 31"/>
          <p:cNvSpPr>
            <a:spLocks noChangeShapeType="1"/>
          </p:cNvSpPr>
          <p:nvPr/>
        </p:nvSpPr>
        <p:spPr bwMode="auto">
          <a:xfrm>
            <a:off x="3357563" y="4686300"/>
            <a:ext cx="1447800" cy="1588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2208" name="Line 32"/>
          <p:cNvSpPr>
            <a:spLocks noChangeShapeType="1"/>
          </p:cNvSpPr>
          <p:nvPr/>
        </p:nvSpPr>
        <p:spPr bwMode="auto">
          <a:xfrm>
            <a:off x="3357563" y="5070475"/>
            <a:ext cx="1447800" cy="1588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2209" name="Line 33"/>
          <p:cNvSpPr>
            <a:spLocks noChangeShapeType="1"/>
          </p:cNvSpPr>
          <p:nvPr/>
        </p:nvSpPr>
        <p:spPr bwMode="auto">
          <a:xfrm>
            <a:off x="3340100" y="5578475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2210" name="Line 34"/>
          <p:cNvSpPr>
            <a:spLocks noChangeShapeType="1"/>
          </p:cNvSpPr>
          <p:nvPr/>
        </p:nvSpPr>
        <p:spPr bwMode="auto">
          <a:xfrm>
            <a:off x="3348038" y="6350000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2211" name="Line 35"/>
          <p:cNvSpPr>
            <a:spLocks noChangeShapeType="1"/>
          </p:cNvSpPr>
          <p:nvPr/>
        </p:nvSpPr>
        <p:spPr bwMode="auto">
          <a:xfrm>
            <a:off x="3357563" y="5070475"/>
            <a:ext cx="1447800" cy="1588"/>
          </a:xfrm>
          <a:prstGeom prst="line">
            <a:avLst/>
          </a:prstGeom>
          <a:noFill/>
          <a:ln w="508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4704928" y="1759684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dirty="0">
                <a:latin typeface="宋体" pitchFamily="2" charset="-122"/>
              </a:rPr>
              <a:t>Main</a:t>
            </a:r>
            <a:r>
              <a:rPr kumimoji="1" lang="zh-CN" altLang="en-US" sz="2400" b="1" dirty="0">
                <a:latin typeface="宋体" pitchFamily="2" charset="-122"/>
              </a:rPr>
              <a:t>函数栈底</a:t>
            </a:r>
            <a:r>
              <a:rPr kumimoji="1" lang="en-US" altLang="zh-CN" sz="2400" b="1" dirty="0">
                <a:latin typeface="宋体" pitchFamily="2" charset="-122"/>
              </a:rPr>
              <a:t>EBP</a:t>
            </a:r>
            <a:endParaRPr kumimoji="1" lang="zh-CN" altLang="en-US" sz="2400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45512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93" grpId="0" animBg="1" autoUpdateAnimBg="0"/>
      <p:bldP spid="562194" grpId="0" animBg="1" autoUpdateAnimBg="0"/>
      <p:bldP spid="562195" grpId="0" animBg="1" autoUpdateAnimBg="0"/>
      <p:bldP spid="562198" grpId="0" animBg="1" autoUpdateAnimBg="0"/>
      <p:bldP spid="562199" grpId="0" animBg="1" autoUpdateAnimBg="0"/>
      <p:bldP spid="562200" grpId="0" animBg="1" autoUpdateAnimBg="0"/>
      <p:bldP spid="562201" grpId="0" animBg="1" autoUpdateAnimBg="0"/>
      <p:bldP spid="562202" grpId="0" animBg="1" autoUpdateAnimBg="0"/>
      <p:bldP spid="562206" grpId="0" animBg="1"/>
      <p:bldP spid="562206" grpId="1" animBg="1"/>
      <p:bldP spid="562207" grpId="0" animBg="1"/>
      <p:bldP spid="562207" grpId="1" animBg="1"/>
      <p:bldP spid="562208" grpId="0" animBg="1"/>
      <p:bldP spid="562208" grpId="1" animBg="1"/>
      <p:bldP spid="562209" grpId="0" animBg="1"/>
      <p:bldP spid="562209" grpId="1" animBg="1"/>
      <p:bldP spid="562210" grpId="0" animBg="1"/>
      <p:bldP spid="562210" grpId="1" animBg="1"/>
      <p:bldP spid="562211" grpId="0" animBg="1"/>
      <p:bldP spid="3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3816350" cy="8112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800" dirty="0"/>
              <a:t>函数调用与栈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721225" y="3708400"/>
            <a:ext cx="2819400" cy="14398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730750" y="5437188"/>
            <a:ext cx="2819400" cy="1087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4716463" y="1341438"/>
            <a:ext cx="7937" cy="53641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7524750" y="1412875"/>
            <a:ext cx="19050" cy="5292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716463" y="370205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main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787900" y="1341438"/>
            <a:ext cx="2819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ahoma" pitchFamily="34" charset="0"/>
              </a:rPr>
              <a:t>栈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524750" y="623728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内存高端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7524750" y="131603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内存低端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716463" y="2959100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ahoma" pitchFamily="34" charset="0"/>
              </a:rPr>
              <a:t>main</a:t>
            </a:r>
            <a:r>
              <a:rPr kumimoji="1" lang="zh-CN" altLang="en-US" sz="2400" b="1">
                <a:latin typeface="Tahoma" pitchFamily="34" charset="0"/>
              </a:rPr>
              <a:t>函数的数据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721225" y="44338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call func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730750" y="543560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func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4721225" y="4873625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721225" y="4094163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730750" y="61356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return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4716463" y="5856288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62198" name="Rectangle 22"/>
          <p:cNvSpPr>
            <a:spLocks noChangeArrowheads="1"/>
          </p:cNvSpPr>
          <p:nvPr/>
        </p:nvSpPr>
        <p:spPr bwMode="auto">
          <a:xfrm>
            <a:off x="4716463" y="2598738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Tahoma" pitchFamily="34" charset="0"/>
              </a:rPr>
              <a:t>参数</a:t>
            </a:r>
          </a:p>
        </p:txBody>
      </p:sp>
      <p:sp>
        <p:nvSpPr>
          <p:cNvPr id="562199" name="Rectangle 23"/>
          <p:cNvSpPr>
            <a:spLocks noChangeArrowheads="1"/>
          </p:cNvSpPr>
          <p:nvPr/>
        </p:nvSpPr>
        <p:spPr bwMode="auto">
          <a:xfrm>
            <a:off x="4716463" y="2239963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latin typeface="Times New Roman" pitchFamily="18" charset="0"/>
              </a:rPr>
              <a:t>D1</a:t>
            </a:r>
          </a:p>
        </p:txBody>
      </p:sp>
      <p:sp>
        <p:nvSpPr>
          <p:cNvPr id="562200" name="Rectangle 24"/>
          <p:cNvSpPr>
            <a:spLocks noChangeArrowheads="1"/>
          </p:cNvSpPr>
          <p:nvPr/>
        </p:nvSpPr>
        <p:spPr bwMode="auto">
          <a:xfrm>
            <a:off x="4716463" y="1306091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 dirty="0">
                <a:latin typeface="宋体" pitchFamily="2" charset="-122"/>
              </a:rPr>
              <a:t>buff</a:t>
            </a:r>
            <a:endParaRPr kumimoji="1" lang="zh-CN" altLang="en-US" sz="2400" b="1" i="1" dirty="0">
              <a:latin typeface="宋体" pitchFamily="2" charset="-122"/>
            </a:endParaRP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4704928" y="1759684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dirty="0">
                <a:latin typeface="宋体" pitchFamily="2" charset="-122"/>
              </a:rPr>
              <a:t>Main</a:t>
            </a:r>
            <a:r>
              <a:rPr kumimoji="1" lang="zh-CN" altLang="en-US" sz="2400" b="1" dirty="0">
                <a:latin typeface="宋体" pitchFamily="2" charset="-122"/>
              </a:rPr>
              <a:t>函数栈底</a:t>
            </a:r>
            <a:r>
              <a:rPr kumimoji="1" lang="en-US" altLang="zh-CN" sz="2400" b="1" dirty="0">
                <a:latin typeface="宋体" pitchFamily="2" charset="-122"/>
              </a:rPr>
              <a:t>EBP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611560" y="1801837"/>
            <a:ext cx="3818384" cy="31860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dirty="0"/>
              <a:t>在一次函数调用中实际会保存在栈中的数据包括：</a:t>
            </a:r>
            <a:endParaRPr lang="en-US" altLang="zh-CN" dirty="0"/>
          </a:p>
          <a:p>
            <a:pPr marL="0" indent="0" eaLnBrk="1" hangingPunct="1">
              <a:buNone/>
              <a:defRPr/>
            </a:pPr>
            <a:r>
              <a:rPr lang="zh-CN" altLang="en-US" i="1" kern="0" dirty="0"/>
              <a:t>调用者参数、</a:t>
            </a:r>
            <a:r>
              <a:rPr lang="en-US" altLang="zh-CN" i="1" kern="0" dirty="0">
                <a:solidFill>
                  <a:srgbClr val="FF0000"/>
                </a:solidFill>
              </a:rPr>
              <a:t>EIP</a:t>
            </a:r>
            <a:r>
              <a:rPr lang="zh-CN" altLang="en-US" i="1" kern="0" dirty="0">
                <a:solidFill>
                  <a:srgbClr val="FF0000"/>
                </a:solidFill>
              </a:rPr>
              <a:t>的值</a:t>
            </a:r>
            <a:r>
              <a:rPr lang="zh-CN" altLang="en-US" i="1" kern="0" dirty="0"/>
              <a:t>（返回地址）、</a:t>
            </a:r>
            <a:r>
              <a:rPr lang="en-US" altLang="zh-CN" i="1" kern="0" dirty="0"/>
              <a:t>EBP</a:t>
            </a:r>
            <a:r>
              <a:rPr lang="zh-CN" altLang="en-US" i="1" kern="0" dirty="0"/>
              <a:t>的值</a:t>
            </a:r>
          </a:p>
          <a:p>
            <a:pPr lvl="1" eaLnBrk="1" hangingPunct="1">
              <a:defRPr/>
            </a:pP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4274570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3816350" cy="8112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800" dirty="0"/>
              <a:t>函数调用与栈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721225" y="3708400"/>
            <a:ext cx="2819400" cy="14398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730750" y="5437188"/>
            <a:ext cx="2819400" cy="1087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4716463" y="1341438"/>
            <a:ext cx="7937" cy="53641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7524750" y="1412875"/>
            <a:ext cx="19050" cy="5292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716463" y="370205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main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787900" y="1341438"/>
            <a:ext cx="2819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ahoma" pitchFamily="34" charset="0"/>
              </a:rPr>
              <a:t>栈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524750" y="623728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内存高端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7524750" y="131603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ahoma" pitchFamily="34" charset="0"/>
              </a:rPr>
              <a:t>内存低端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716463" y="2959100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ahoma" pitchFamily="34" charset="0"/>
              </a:rPr>
              <a:t>main</a:t>
            </a:r>
            <a:r>
              <a:rPr kumimoji="1" lang="zh-CN" altLang="en-US" sz="2400" b="1">
                <a:latin typeface="Tahoma" pitchFamily="34" charset="0"/>
              </a:rPr>
              <a:t>函数的数据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721225" y="44338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call func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730750" y="5435600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func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函数入口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4721225" y="4873625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721225" y="4094163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730750" y="6135688"/>
            <a:ext cx="2819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ahoma" pitchFamily="34" charset="0"/>
              </a:rPr>
              <a:t>return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4716463" y="5856288"/>
            <a:ext cx="2819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r>
              <a:rPr kumimoji="1" lang="zh-CN" altLang="en-US" sz="2400" b="1">
                <a:solidFill>
                  <a:schemeClr val="bg1"/>
                </a:solidFill>
                <a:latin typeface="Tahoma" pitchFamily="34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…</a:t>
            </a:r>
            <a:endParaRPr kumimoji="1" lang="zh-CN" altLang="en-US" sz="2400" b="1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62198" name="Rectangle 22"/>
          <p:cNvSpPr>
            <a:spLocks noChangeArrowheads="1"/>
          </p:cNvSpPr>
          <p:nvPr/>
        </p:nvSpPr>
        <p:spPr bwMode="auto">
          <a:xfrm>
            <a:off x="4716463" y="2598738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Tahoma" pitchFamily="34" charset="0"/>
              </a:rPr>
              <a:t>参数</a:t>
            </a:r>
          </a:p>
        </p:txBody>
      </p:sp>
      <p:sp>
        <p:nvSpPr>
          <p:cNvPr id="562199" name="Rectangle 23"/>
          <p:cNvSpPr>
            <a:spLocks noChangeArrowheads="1"/>
          </p:cNvSpPr>
          <p:nvPr/>
        </p:nvSpPr>
        <p:spPr bwMode="auto">
          <a:xfrm>
            <a:off x="4716463" y="2239963"/>
            <a:ext cx="2819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latin typeface="Times New Roman" pitchFamily="18" charset="0"/>
              </a:rPr>
              <a:t>004011</a:t>
            </a:r>
            <a:r>
              <a:rPr kumimoji="1" lang="en-US" altLang="zh-CN" sz="2400" b="1" dirty="0">
                <a:latin typeface="Times New Roman" pitchFamily="18" charset="0"/>
              </a:rPr>
              <a:t>D1</a:t>
            </a:r>
          </a:p>
        </p:txBody>
      </p:sp>
      <p:sp>
        <p:nvSpPr>
          <p:cNvPr id="562200" name="Rectangle 24"/>
          <p:cNvSpPr>
            <a:spLocks noChangeArrowheads="1"/>
          </p:cNvSpPr>
          <p:nvPr/>
        </p:nvSpPr>
        <p:spPr bwMode="auto">
          <a:xfrm>
            <a:off x="4716463" y="1306091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 dirty="0">
                <a:latin typeface="宋体" pitchFamily="2" charset="-122"/>
              </a:rPr>
              <a:t>buff</a:t>
            </a:r>
            <a:endParaRPr kumimoji="1" lang="zh-CN" altLang="en-US" sz="2400" b="1" i="1" dirty="0">
              <a:latin typeface="宋体" pitchFamily="2" charset="-122"/>
            </a:endParaRP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4704928" y="1759684"/>
            <a:ext cx="28194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dirty="0">
                <a:latin typeface="宋体" pitchFamily="2" charset="-122"/>
              </a:rPr>
              <a:t>Main</a:t>
            </a:r>
            <a:r>
              <a:rPr kumimoji="1" lang="zh-CN" altLang="en-US" sz="2400" b="1" dirty="0">
                <a:latin typeface="宋体" pitchFamily="2" charset="-122"/>
              </a:rPr>
              <a:t>函数栈底</a:t>
            </a:r>
            <a:r>
              <a:rPr kumimoji="1" lang="en-US" altLang="zh-CN" sz="2400" b="1" dirty="0">
                <a:latin typeface="宋体" pitchFamily="2" charset="-122"/>
              </a:rPr>
              <a:t>EBP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611560" y="1801837"/>
            <a:ext cx="3818384" cy="31860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如果在栈中发生缓冲区溢出，极可能使的栈所保存的</a:t>
            </a:r>
            <a:r>
              <a:rPr lang="en-US" altLang="zh-CN" i="1" dirty="0">
                <a:solidFill>
                  <a:srgbClr val="FF0000"/>
                </a:solidFill>
              </a:rPr>
              <a:t>EIP</a:t>
            </a:r>
            <a:r>
              <a:rPr lang="zh-CN" altLang="en-US" i="1" dirty="0">
                <a:solidFill>
                  <a:srgbClr val="FF0000"/>
                </a:solidFill>
              </a:rPr>
              <a:t>指针值</a:t>
            </a:r>
            <a:r>
              <a:rPr lang="zh-CN" altLang="en-US" dirty="0"/>
              <a:t>被改变。也即程序原有流程被改变。</a:t>
            </a:r>
          </a:p>
          <a:p>
            <a:pPr lvl="1" eaLnBrk="1" hangingPunct="1">
              <a:defRPr/>
            </a:pP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6477253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6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56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F29EEEF-E233-4E13-B162-03CAD57AC58E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 dirty="0"/>
              <a:t>函数调用时栈的变化</a:t>
            </a:r>
            <a:endParaRPr lang="zh-CN" altLang="en-US" dirty="0">
              <a:latin typeface="Comic Sans MS" pitchFamily="66" charset="0"/>
            </a:endParaRP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0" y="2564904"/>
            <a:ext cx="3656013" cy="4104456"/>
          </a:xfrm>
        </p:spPr>
        <p:txBody>
          <a:bodyPr/>
          <a:lstStyle/>
          <a:p>
            <a:r>
              <a:rPr lang="zh-CN" altLang="en-US" b="1" dirty="0"/>
              <a:t>   </a:t>
            </a:r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US" altLang="zh-C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/>
              <a:t>   </a:t>
            </a:r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…  </a:t>
            </a:r>
          </a:p>
          <a:p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call </a:t>
            </a:r>
            <a:r>
              <a:rPr lang="en-US" altLang="zh-C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…</a:t>
            </a:r>
          </a:p>
          <a:p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3381375" y="242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914400" y="5327971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前栈帧</a:t>
            </a:r>
            <a:r>
              <a:rPr lang="en-US" altLang="zh-CN" dirty="0"/>
              <a:t>EBP</a:t>
            </a: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914400" y="3955504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/>
              <a:t>main</a:t>
            </a:r>
            <a:r>
              <a:rPr lang="zh-CN" altLang="en-US" dirty="0">
                <a:solidFill>
                  <a:schemeClr val="tx1"/>
                </a:solidFill>
              </a:rPr>
              <a:t>栈帧的</a:t>
            </a:r>
            <a:r>
              <a:rPr lang="en-US" altLang="zh-CN" dirty="0">
                <a:solidFill>
                  <a:schemeClr val="tx1"/>
                </a:solidFill>
              </a:rPr>
              <a:t>EBP</a:t>
            </a:r>
          </a:p>
        </p:txBody>
      </p:sp>
      <p:sp>
        <p:nvSpPr>
          <p:cNvPr id="234504" name="Line 8"/>
          <p:cNvSpPr>
            <a:spLocks noChangeShapeType="1"/>
          </p:cNvSpPr>
          <p:nvPr/>
        </p:nvSpPr>
        <p:spPr bwMode="auto">
          <a:xfrm>
            <a:off x="3886200" y="282465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4505" name="Line 9"/>
          <p:cNvSpPr>
            <a:spLocks noChangeShapeType="1"/>
          </p:cNvSpPr>
          <p:nvPr/>
        </p:nvSpPr>
        <p:spPr bwMode="auto">
          <a:xfrm>
            <a:off x="3886200" y="566124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914400" y="4985320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/>
              <a:t>main</a:t>
            </a:r>
            <a:r>
              <a:rPr lang="zh-CN" altLang="en-US" dirty="0"/>
              <a:t>的局部变量</a:t>
            </a:r>
            <a:endParaRPr lang="en-US" altLang="zh-CN" dirty="0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914420" y="4652043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 err="1"/>
              <a:t>func</a:t>
            </a:r>
            <a:r>
              <a:rPr lang="zh-CN" altLang="en-US" dirty="0"/>
              <a:t>的参数</a:t>
            </a:r>
            <a:endParaRPr lang="en-US" altLang="zh-CN" dirty="0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908462" y="4307449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返回地址</a:t>
            </a:r>
            <a:endParaRPr lang="en-US" altLang="zh-CN" dirty="0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917177" y="3595464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 err="1"/>
              <a:t>func</a:t>
            </a:r>
            <a:r>
              <a:rPr lang="zh-CN" altLang="en-US" dirty="0">
                <a:solidFill>
                  <a:schemeClr val="tx1"/>
                </a:solidFill>
              </a:rPr>
              <a:t>的局部变量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914420" y="3213720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914420" y="2831976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>
            <a:off x="3895823" y="4305581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3940109" y="4818681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/>
              <a:t>main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3959932" y="3387322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 err="1"/>
              <a:t>func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</p:spTree>
    <p:extLst>
      <p:ext uri="{BB962C8B-B14F-4D97-AF65-F5344CB8AC3E}">
        <p14:creationId xmlns:p14="http://schemas.microsoft.com/office/powerpoint/2010/main" val="365891818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F29EEEF-E233-4E13-B162-03CAD57AC58E}" type="slidenum">
              <a:rPr lang="zh-CN" altLang="en-US"/>
              <a:pPr/>
              <a:t>16</a:t>
            </a:fld>
            <a:endParaRPr lang="zh-CN" alt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函数栈帧的变化</a:t>
            </a:r>
            <a:endParaRPr lang="zh-CN" altLang="en-US" dirty="0">
              <a:latin typeface="Comic Sans MS" pitchFamily="66" charset="0"/>
            </a:endParaRP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0" y="1772816"/>
            <a:ext cx="3656013" cy="5472608"/>
          </a:xfrm>
        </p:spPr>
        <p:txBody>
          <a:bodyPr/>
          <a:lstStyle/>
          <a:p>
            <a:r>
              <a:rPr lang="zh-CN" altLang="en-US" sz="1800" b="1" dirty="0"/>
              <a:t>  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… 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[12]=“A……A”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call 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…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char 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[4];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cpy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endParaRPr lang="zh-CN" altLang="en-US" b="1" dirty="0"/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3381375" y="242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914400" y="5327971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前栈帧</a:t>
            </a:r>
            <a:r>
              <a:rPr lang="en-US" altLang="zh-CN" dirty="0"/>
              <a:t>EBP</a:t>
            </a: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914400" y="3955504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/>
              <a:t>main</a:t>
            </a:r>
            <a:r>
              <a:rPr lang="zh-CN" altLang="en-US" dirty="0">
                <a:solidFill>
                  <a:schemeClr val="tx1"/>
                </a:solidFill>
              </a:rPr>
              <a:t>栈帧的</a:t>
            </a:r>
            <a:r>
              <a:rPr lang="en-US" altLang="zh-CN" dirty="0">
                <a:solidFill>
                  <a:schemeClr val="tx1"/>
                </a:solidFill>
              </a:rPr>
              <a:t>EBP</a:t>
            </a:r>
          </a:p>
        </p:txBody>
      </p:sp>
      <p:sp>
        <p:nvSpPr>
          <p:cNvPr id="234504" name="Line 8"/>
          <p:cNvSpPr>
            <a:spLocks noChangeShapeType="1"/>
          </p:cNvSpPr>
          <p:nvPr/>
        </p:nvSpPr>
        <p:spPr bwMode="auto">
          <a:xfrm>
            <a:off x="3886200" y="282465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4505" name="Line 9"/>
          <p:cNvSpPr>
            <a:spLocks noChangeShapeType="1"/>
          </p:cNvSpPr>
          <p:nvPr/>
        </p:nvSpPr>
        <p:spPr bwMode="auto">
          <a:xfrm>
            <a:off x="3886200" y="566124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914400" y="4985320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/>
              <a:t>main</a:t>
            </a:r>
            <a:r>
              <a:rPr lang="zh-CN" altLang="en-US" dirty="0"/>
              <a:t>的局部变量</a:t>
            </a:r>
            <a:endParaRPr lang="en-US" altLang="zh-CN" dirty="0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914420" y="4652043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 err="1"/>
              <a:t>func</a:t>
            </a:r>
            <a:r>
              <a:rPr lang="zh-CN" altLang="en-US" dirty="0"/>
              <a:t>的参数</a:t>
            </a:r>
            <a:endParaRPr lang="en-US" altLang="zh-CN" dirty="0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908462" y="4307449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返回地址</a:t>
            </a:r>
            <a:endParaRPr lang="en-US" altLang="zh-CN" dirty="0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917889" y="3595464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buf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914420" y="3213720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914420" y="2831976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>
            <a:off x="3895823" y="4305581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3940109" y="4818681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/>
              <a:t>main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3959932" y="3387322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 err="1"/>
              <a:t>func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</p:spTree>
    <p:extLst>
      <p:ext uri="{BB962C8B-B14F-4D97-AF65-F5344CB8AC3E}">
        <p14:creationId xmlns:p14="http://schemas.microsoft.com/office/powerpoint/2010/main" val="36431054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F29EEEF-E233-4E13-B162-03CAD57AC58E}" type="slidenum">
              <a:rPr lang="zh-CN" altLang="en-US"/>
              <a:pPr/>
              <a:t>17</a:t>
            </a:fld>
            <a:endParaRPr lang="zh-CN" alt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函数栈帧的变化</a:t>
            </a:r>
            <a:endParaRPr lang="zh-CN" altLang="en-US" dirty="0">
              <a:latin typeface="Comic Sans MS" pitchFamily="66" charset="0"/>
            </a:endParaRP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0" y="1700808"/>
            <a:ext cx="3656013" cy="5472608"/>
          </a:xfrm>
        </p:spPr>
        <p:txBody>
          <a:bodyPr/>
          <a:lstStyle/>
          <a:p>
            <a:r>
              <a:rPr lang="zh-CN" altLang="en-US" sz="1800" dirty="0"/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… 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[12]=“A……A”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call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…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char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endParaRPr lang="zh-CN" altLang="en-US" b="1" dirty="0"/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3381375" y="242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914400" y="5327971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前栈帧</a:t>
            </a:r>
            <a:r>
              <a:rPr lang="en-US" altLang="zh-CN" dirty="0"/>
              <a:t>EBP</a:t>
            </a: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914400" y="3955504"/>
            <a:ext cx="2971800" cy="38174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AAAA</a:t>
            </a:r>
            <a:r>
              <a:rPr lang="zh-CN" altLang="en-US" b="1" dirty="0">
                <a:solidFill>
                  <a:schemeClr val="bg1"/>
                </a:solidFill>
              </a:rPr>
              <a:t>（</a:t>
            </a:r>
            <a:r>
              <a:rPr lang="en-US" altLang="zh-CN" b="1" dirty="0" err="1">
                <a:solidFill>
                  <a:schemeClr val="bg1"/>
                </a:solidFill>
              </a:rPr>
              <a:t>mian</a:t>
            </a:r>
            <a:r>
              <a:rPr lang="zh-CN" altLang="en-US" b="1" dirty="0">
                <a:solidFill>
                  <a:schemeClr val="bg1"/>
                </a:solidFill>
              </a:rPr>
              <a:t>栈帧的</a:t>
            </a:r>
            <a:r>
              <a:rPr lang="en-US" altLang="zh-CN" b="1" dirty="0">
                <a:solidFill>
                  <a:schemeClr val="bg1"/>
                </a:solidFill>
              </a:rPr>
              <a:t>EBP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34504" name="Line 8"/>
          <p:cNvSpPr>
            <a:spLocks noChangeShapeType="1"/>
          </p:cNvSpPr>
          <p:nvPr/>
        </p:nvSpPr>
        <p:spPr bwMode="auto">
          <a:xfrm>
            <a:off x="3886200" y="282465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4505" name="Line 9"/>
          <p:cNvSpPr>
            <a:spLocks noChangeShapeType="1"/>
          </p:cNvSpPr>
          <p:nvPr/>
        </p:nvSpPr>
        <p:spPr bwMode="auto">
          <a:xfrm>
            <a:off x="3886200" y="566124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914400" y="4985320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/>
              <a:t>main</a:t>
            </a:r>
            <a:r>
              <a:rPr lang="zh-CN" altLang="en-US" dirty="0"/>
              <a:t>的局部变量</a:t>
            </a:r>
            <a:endParaRPr lang="en-US" altLang="zh-CN" dirty="0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914420" y="4652043"/>
            <a:ext cx="2971800" cy="33327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 err="1"/>
              <a:t>func</a:t>
            </a:r>
            <a:r>
              <a:rPr lang="zh-CN" altLang="en-US" dirty="0"/>
              <a:t>的参数</a:t>
            </a:r>
            <a:endParaRPr lang="en-US" altLang="zh-CN" dirty="0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908462" y="4307449"/>
            <a:ext cx="2971800" cy="33327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AAAA</a:t>
            </a:r>
            <a:r>
              <a:rPr lang="zh-CN" altLang="en-US" b="1" dirty="0">
                <a:solidFill>
                  <a:schemeClr val="bg1"/>
                </a:solidFill>
              </a:rPr>
              <a:t>（返回地址）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917889" y="3595464"/>
            <a:ext cx="2971800" cy="38174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AAAA</a:t>
            </a:r>
            <a:r>
              <a:rPr lang="zh-CN" altLang="en-US" b="1" dirty="0">
                <a:solidFill>
                  <a:schemeClr val="bg1"/>
                </a:solidFill>
              </a:rPr>
              <a:t>（</a:t>
            </a:r>
            <a:r>
              <a:rPr lang="en-US" altLang="zh-CN" b="1" dirty="0" err="1">
                <a:solidFill>
                  <a:schemeClr val="bg1"/>
                </a:solidFill>
              </a:rPr>
              <a:t>buf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914420" y="3213720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914420" y="2831976"/>
            <a:ext cx="2971800" cy="381744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dirty="0"/>
              <a:t>。。。。。。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>
            <a:off x="3895823" y="4305581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3940109" y="4818681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/>
              <a:t>main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3959932" y="3387322"/>
            <a:ext cx="1224136" cy="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7000"/>
              </a:lnSpc>
              <a:spcBef>
                <a:spcPts val="600"/>
              </a:spcBef>
              <a:spcAft>
                <a:spcPts val="600"/>
              </a:spcAft>
              <a:buClrTx/>
            </a:pPr>
            <a:r>
              <a:rPr lang="en-US" altLang="zh-CN" b="1" dirty="0" err="1"/>
              <a:t>func</a:t>
            </a:r>
            <a:r>
              <a:rPr lang="zh-CN" altLang="en-US" b="1" dirty="0">
                <a:solidFill>
                  <a:schemeClr val="tx1"/>
                </a:solidFill>
              </a:rPr>
              <a:t>的栈帧</a:t>
            </a:r>
          </a:p>
        </p:txBody>
      </p:sp>
    </p:spTree>
    <p:extLst>
      <p:ext uri="{BB962C8B-B14F-4D97-AF65-F5344CB8AC3E}">
        <p14:creationId xmlns:p14="http://schemas.microsoft.com/office/powerpoint/2010/main" val="21067790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24705</TotalTime>
  <Words>863</Words>
  <Application>Microsoft Office PowerPoint</Application>
  <PresentationFormat>全屏显示(4:3)</PresentationFormat>
  <Paragraphs>220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Arial</vt:lpstr>
      <vt:lpstr>Arial Black</vt:lpstr>
      <vt:lpstr>Comic Sans MS</vt:lpstr>
      <vt:lpstr>Tahoma</vt:lpstr>
      <vt:lpstr>Times New Roman</vt:lpstr>
      <vt:lpstr>Wingdings</vt:lpstr>
      <vt:lpstr>Radial</vt:lpstr>
      <vt:lpstr>栈溢出漏洞原理</vt:lpstr>
      <vt:lpstr>缓冲区溢出</vt:lpstr>
      <vt:lpstr>溢出示例</vt:lpstr>
      <vt:lpstr>缓冲区溢出的危害</vt:lpstr>
      <vt:lpstr>缓冲区溢出的攻击</vt:lpstr>
      <vt:lpstr>关于程序运行</vt:lpstr>
      <vt:lpstr>程序的内存空间</vt:lpstr>
      <vt:lpstr>程序在内存中的映像</vt:lpstr>
      <vt:lpstr>关于程序运行</vt:lpstr>
      <vt:lpstr>顺序流程</vt:lpstr>
      <vt:lpstr>关于程序运行</vt:lpstr>
      <vt:lpstr>函数调用与栈</vt:lpstr>
      <vt:lpstr>函数调用与栈</vt:lpstr>
      <vt:lpstr>函数调用与栈</vt:lpstr>
      <vt:lpstr>函数调用时栈的变化</vt:lpstr>
      <vt:lpstr>函数栈帧的变化</vt:lpstr>
      <vt:lpstr>函数栈帧的变化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曹琰</cp:lastModifiedBy>
  <cp:revision>688</cp:revision>
  <dcterms:created xsi:type="dcterms:W3CDTF">1601-01-01T00:00:00Z</dcterms:created>
  <dcterms:modified xsi:type="dcterms:W3CDTF">2023-05-07T15:18:13Z</dcterms:modified>
</cp:coreProperties>
</file>