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heme/theme2.xml" ContentType="application/vnd.openxmlformats-officedocument.them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.xml" ContentType="application/vnd.openxmlformats-officedocument.presentationml.notesSlide+xml"/>
  <Override PartName="/ppt/tags/tag128.xml" ContentType="application/vnd.openxmlformats-officedocument.presentationml.tags+xml"/>
  <Override PartName="/ppt/notesSlides/notesSlide2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420" r:id="rId2"/>
    <p:sldId id="472" r:id="rId3"/>
    <p:sldId id="473" r:id="rId4"/>
    <p:sldId id="474" r:id="rId5"/>
    <p:sldId id="409" r:id="rId6"/>
    <p:sldId id="446" r:id="rId7"/>
    <p:sldId id="471" r:id="rId8"/>
    <p:sldId id="447" r:id="rId9"/>
    <p:sldId id="448" r:id="rId10"/>
    <p:sldId id="449" r:id="rId11"/>
    <p:sldId id="450" r:id="rId12"/>
    <p:sldId id="461" r:id="rId13"/>
    <p:sldId id="463" r:id="rId14"/>
    <p:sldId id="462" r:id="rId15"/>
    <p:sldId id="464" r:id="rId16"/>
    <p:sldId id="465" r:id="rId17"/>
    <p:sldId id="466" r:id="rId18"/>
    <p:sldId id="467" r:id="rId19"/>
    <p:sldId id="470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77E"/>
    <a:srgbClr val="2A65A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>
        <p:scale>
          <a:sx n="125" d="100"/>
          <a:sy n="125" d="100"/>
        </p:scale>
        <p:origin x="-644" y="-576"/>
      </p:cViewPr>
      <p:guideLst>
        <p:guide orient="horz" pos="219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实操讲解</a:t>
            </a:r>
            <a:r>
              <a:rPr lang="en-US" altLang="zh-CN"/>
              <a:t>PPT</a:t>
            </a:r>
            <a:r>
              <a:rPr lang="zh-CN" altLang="en-US"/>
              <a:t>封面</a:t>
            </a:r>
          </a:p>
        </p:txBody>
      </p:sp>
    </p:spTree>
    <p:extLst>
      <p:ext uri="{BB962C8B-B14F-4D97-AF65-F5344CB8AC3E}">
        <p14:creationId xmlns:p14="http://schemas.microsoft.com/office/powerpoint/2010/main" val="373800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第二页，此页为必备页，请各位教员梳理本节课的知识点。（重要）！！！！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2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7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10" Type="http://schemas.openxmlformats.org/officeDocument/2006/relationships/image" Target="../media/image4.png"/><Relationship Id="rId4" Type="http://schemas.openxmlformats.org/officeDocument/2006/relationships/tags" Target="../tags/tag80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image" Target="../media/image6.png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10" Type="http://schemas.openxmlformats.org/officeDocument/2006/relationships/image" Target="../media/image4.png"/><Relationship Id="rId4" Type="http://schemas.openxmlformats.org/officeDocument/2006/relationships/tags" Target="../tags/tag118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99302" y="2333875"/>
            <a:ext cx="6878595" cy="1200329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99301" y="3588632"/>
            <a:ext cx="6878595" cy="5377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8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10998806" y="3417746"/>
            <a:ext cx="709987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610865" y="3469804"/>
            <a:ext cx="5233855" cy="833178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10865" y="4354684"/>
            <a:ext cx="5233855" cy="463846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41729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9788" y="17827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9788" y="26066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782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6066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dpi="0" rotWithShape="1">
          <a:blip r:embed="rId6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7" y="6477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184000" y="6477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7" y="22479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2023/3/12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280822" y="365125"/>
            <a:ext cx="1072978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838200" y="365125"/>
            <a:ext cx="9356124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838200" y="75608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38114" y="2713200"/>
            <a:ext cx="6823075" cy="1202510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j-ea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5"/>
            </p:custDataLst>
          </p:nvPr>
        </p:nvSpPr>
        <p:spPr>
          <a:xfrm>
            <a:off x="838114" y="3958938"/>
            <a:ext cx="6823075" cy="538163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48275" y="0"/>
            <a:ext cx="6943725" cy="20288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4829175"/>
            <a:ext cx="6943725" cy="20288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43725" cy="20288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4" name="组合 13"/>
          <p:cNvGrpSpPr/>
          <p:nvPr>
            <p:custDataLst>
              <p:tags r:id="rId8"/>
            </p:custDataLst>
          </p:nvPr>
        </p:nvGrpSpPr>
        <p:grpSpPr>
          <a:xfrm>
            <a:off x="11460527" y="196932"/>
            <a:ext cx="611024" cy="305512"/>
            <a:chOff x="2711624" y="-459432"/>
            <a:chExt cx="288032" cy="144016"/>
          </a:xfrm>
        </p:grpSpPr>
        <p:cxnSp>
          <p:nvCxnSpPr>
            <p:cNvPr id="15" name="直接连接符 14"/>
            <p:cNvCxnSpPr/>
            <p:nvPr userDrawn="1">
              <p:custDataLst>
                <p:tags r:id="rId9"/>
              </p:custDataLst>
            </p:nvPr>
          </p:nvCxnSpPr>
          <p:spPr>
            <a:xfrm>
              <a:off x="2711624" y="-459432"/>
              <a:ext cx="288032" cy="0"/>
            </a:xfrm>
            <a:prstGeom prst="line">
              <a:avLst/>
            </a:prstGeom>
            <a:ln w="476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 userDrawn="1">
              <p:custDataLst>
                <p:tags r:id="rId10"/>
              </p:custDataLst>
            </p:nvPr>
          </p:nvCxnSpPr>
          <p:spPr>
            <a:xfrm>
              <a:off x="2711624" y="-387424"/>
              <a:ext cx="288032" cy="0"/>
            </a:xfrm>
            <a:prstGeom prst="line">
              <a:avLst/>
            </a:prstGeom>
            <a:ln w="476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>
              <p:custDataLst>
                <p:tags r:id="rId11"/>
              </p:custDataLst>
            </p:nvPr>
          </p:nvCxnSpPr>
          <p:spPr>
            <a:xfrm>
              <a:off x="2711624" y="-315416"/>
              <a:ext cx="288032" cy="0"/>
            </a:xfrm>
            <a:prstGeom prst="line">
              <a:avLst/>
            </a:prstGeom>
            <a:ln w="476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 flipH="1" flipV="1">
            <a:off x="5846528" y="5002731"/>
            <a:ext cx="6349725" cy="18552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MH_Other_2"/>
          <p:cNvSpPr/>
          <p:nvPr>
            <p:custDataLst>
              <p:tags r:id="rId10"/>
            </p:custDataLst>
          </p:nvPr>
        </p:nvSpPr>
        <p:spPr>
          <a:xfrm flipH="1">
            <a:off x="11887200" y="0"/>
            <a:ext cx="304800" cy="304800"/>
          </a:xfrm>
          <a:custGeom>
            <a:avLst/>
            <a:gdLst>
              <a:gd name="connsiteX0" fmla="*/ 0 w 495300"/>
              <a:gd name="connsiteY0" fmla="*/ 0 h 495300"/>
              <a:gd name="connsiteX1" fmla="*/ 495300 w 495300"/>
              <a:gd name="connsiteY1" fmla="*/ 0 h 495300"/>
              <a:gd name="connsiteX2" fmla="*/ 495300 w 495300"/>
              <a:gd name="connsiteY2" fmla="*/ 85725 h 495300"/>
              <a:gd name="connsiteX3" fmla="*/ 85725 w 495300"/>
              <a:gd name="connsiteY3" fmla="*/ 85725 h 495300"/>
              <a:gd name="connsiteX4" fmla="*/ 85725 w 495300"/>
              <a:gd name="connsiteY4" fmla="*/ 495300 h 495300"/>
              <a:gd name="connsiteX5" fmla="*/ 0 w 49530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85725"/>
                </a:lnTo>
                <a:lnTo>
                  <a:pt x="85725" y="85725"/>
                </a:lnTo>
                <a:lnTo>
                  <a:pt x="85725" y="495300"/>
                </a:lnTo>
                <a:lnTo>
                  <a:pt x="0" y="4953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14" name="MH_Other_2"/>
          <p:cNvSpPr/>
          <p:nvPr>
            <p:custDataLst>
              <p:tags r:id="rId11"/>
            </p:custDataLst>
          </p:nvPr>
        </p:nvSpPr>
        <p:spPr>
          <a:xfrm flipV="1">
            <a:off x="-4253" y="609600"/>
            <a:ext cx="304800" cy="304800"/>
          </a:xfrm>
          <a:custGeom>
            <a:avLst/>
            <a:gdLst>
              <a:gd name="connsiteX0" fmla="*/ 0 w 495300"/>
              <a:gd name="connsiteY0" fmla="*/ 0 h 495300"/>
              <a:gd name="connsiteX1" fmla="*/ 495300 w 495300"/>
              <a:gd name="connsiteY1" fmla="*/ 0 h 495300"/>
              <a:gd name="connsiteX2" fmla="*/ 495300 w 495300"/>
              <a:gd name="connsiteY2" fmla="*/ 85725 h 495300"/>
              <a:gd name="connsiteX3" fmla="*/ 85725 w 495300"/>
              <a:gd name="connsiteY3" fmla="*/ 85725 h 495300"/>
              <a:gd name="connsiteX4" fmla="*/ 85725 w 495300"/>
              <a:gd name="connsiteY4" fmla="*/ 495300 h 495300"/>
              <a:gd name="connsiteX5" fmla="*/ 0 w 49530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85725"/>
                </a:lnTo>
                <a:lnTo>
                  <a:pt x="85725" y="85725"/>
                </a:lnTo>
                <a:lnTo>
                  <a:pt x="85725" y="495300"/>
                </a:lnTo>
                <a:lnTo>
                  <a:pt x="0" y="4953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5248275" y="4829175"/>
            <a:ext cx="6943725" cy="20288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0" y="0"/>
            <a:ext cx="6943725" cy="20288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838200" y="428625"/>
            <a:ext cx="10515600" cy="1325563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838200" y="18891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D6BFFAB9-B0CE-4568-BB33-D09C48035AD9}" type="datetimeFigureOut">
              <a:rPr lang="zh-CN" altLang="en-US" smtClean="0"/>
              <a:t>2023/3/12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1CB36C4-C9C5-46A1-956B-17812172D97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9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课程介绍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4357104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验证类实验结合探索分析，考察网路攻防知识综合运用能力</a:t>
            </a:r>
            <a:endParaRPr lang="zh-CN" altLang="en-US" sz="3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9876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课程介绍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4357104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课程内容安排：</a:t>
            </a:r>
            <a:r>
              <a:rPr lang="en-US" altLang="zh-CN" sz="32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2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个单元</a:t>
            </a:r>
            <a:endParaRPr lang="en-US" altLang="zh-CN" sz="32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综合扫描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、入侵检测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、网页挂马</a:t>
            </a: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、计算机系统加固</a:t>
            </a: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、栈溢出原理</a:t>
            </a: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CTF</a:t>
            </a:r>
            <a:r>
              <a:rPr lang="zh-CN" altLang="en-US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题目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986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课程介绍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4357104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学时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24    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周学时：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24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课程安排：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5-16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</a:t>
            </a:r>
            <a:endParaRPr lang="en-US" altLang="zh-CN" sz="24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每个单元对应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学时，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周完成</a:t>
            </a:r>
            <a:endParaRPr lang="en-US" altLang="zh-CN" sz="24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周的周一上午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9:20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布置任务</a:t>
            </a:r>
            <a:endParaRPr lang="en-US" altLang="zh-CN" sz="24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周的周日晚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24:00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前提交本单元实验报告</a:t>
            </a:r>
            <a:endParaRPr lang="en-US" altLang="zh-CN" sz="24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endParaRPr lang="zh-CN" altLang="en-US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900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课程介绍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4357104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考核方式：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个单元的实验报告总评成绩</a:t>
            </a:r>
            <a:endParaRPr lang="zh-CN" altLang="en-US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975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57744" y="2967990"/>
            <a:ext cx="10876512" cy="9220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l"/>
            <a:r>
              <a:rPr lang="en-US" altLang="zh-CN" sz="5400" dirty="0">
                <a:solidFill>
                  <a:srgbClr val="2A65A1"/>
                </a:solidFill>
              </a:rPr>
              <a:t>  </a:t>
            </a:r>
            <a:r>
              <a:rPr lang="en-US" altLang="zh-CN" sz="5400" dirty="0" err="1">
                <a:solidFill>
                  <a:srgbClr val="2A65A1"/>
                </a:solidFill>
              </a:rPr>
              <a:t>fscan</a:t>
            </a:r>
            <a:r>
              <a:rPr lang="zh-CN" altLang="en-US" sz="5400" dirty="0">
                <a:solidFill>
                  <a:srgbClr val="2A65A1"/>
                </a:solidFill>
              </a:rPr>
              <a:t>综合扫描实验实操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57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71805" y="2599690"/>
            <a:ext cx="3956685" cy="1429385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5400">
                <a:solidFill>
                  <a:srgbClr val="1A477E"/>
                </a:solidFill>
              </a:rPr>
              <a:t>知识点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4"/>
          </p:nvPr>
        </p:nvSpPr>
        <p:spPr>
          <a:xfrm>
            <a:off x="5009760" y="1450472"/>
            <a:ext cx="6480000" cy="3957056"/>
          </a:xfrm>
        </p:spPr>
        <p:txBody>
          <a:bodyPr>
            <a:noAutofit/>
          </a:bodyPr>
          <a:lstStyle/>
          <a:p>
            <a:r>
              <a:rPr lang="zh-CN" altLang="en-US" dirty="0">
                <a:solidFill>
                  <a:srgbClr val="1A477E"/>
                </a:solidFill>
              </a:rPr>
              <a:t>一、知识介绍</a:t>
            </a:r>
          </a:p>
          <a:p>
            <a:r>
              <a:rPr lang="zh-CN" altLang="en-US" dirty="0">
                <a:solidFill>
                  <a:srgbClr val="1A477E"/>
                </a:solidFill>
              </a:rPr>
              <a:t>二、实验环境</a:t>
            </a:r>
            <a:endParaRPr lang="en-US" altLang="zh-CN" dirty="0">
              <a:solidFill>
                <a:srgbClr val="1A477E"/>
              </a:solidFill>
            </a:endParaRPr>
          </a:p>
          <a:p>
            <a:r>
              <a:rPr lang="zh-CN" altLang="en-US" dirty="0">
                <a:solidFill>
                  <a:srgbClr val="1A477E"/>
                </a:solidFill>
              </a:rPr>
              <a:t>三、实验目的</a:t>
            </a:r>
          </a:p>
          <a:p>
            <a:r>
              <a:rPr lang="zh-CN" altLang="en-US" dirty="0">
                <a:solidFill>
                  <a:srgbClr val="1A477E"/>
                </a:solidFill>
              </a:rPr>
              <a:t>四、实验内容</a:t>
            </a:r>
            <a:endParaRPr lang="en-US" altLang="zh-CN" dirty="0">
              <a:solidFill>
                <a:srgbClr val="1A477E"/>
              </a:solidFill>
            </a:endParaRPr>
          </a:p>
          <a:p>
            <a:r>
              <a:rPr lang="zh-CN" altLang="en-US" dirty="0">
                <a:solidFill>
                  <a:srgbClr val="1A477E"/>
                </a:solidFill>
              </a:rPr>
              <a:t>五、考核目标</a:t>
            </a:r>
            <a:endParaRPr lang="en-US" altLang="zh-CN" dirty="0">
              <a:solidFill>
                <a:srgbClr val="1A477E"/>
              </a:solidFill>
            </a:endParaRPr>
          </a:p>
          <a:p>
            <a:r>
              <a:rPr lang="zh-CN" altLang="en-US" dirty="0">
                <a:solidFill>
                  <a:srgbClr val="1A477E"/>
                </a:solidFill>
              </a:rPr>
              <a:t>六、实验步骤</a:t>
            </a:r>
            <a:endParaRPr lang="en-US" altLang="zh-CN" dirty="0">
              <a:solidFill>
                <a:srgbClr val="1A477E"/>
              </a:solidFill>
            </a:endParaRPr>
          </a:p>
          <a:p>
            <a:r>
              <a:rPr lang="zh-CN" altLang="en-US" dirty="0">
                <a:solidFill>
                  <a:srgbClr val="1A477E"/>
                </a:solidFill>
              </a:rPr>
              <a:t>七、分析实验原理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知识介绍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4357104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是一款内网综合扫描工具，方便一键自动化、全方位漏扫扫描。支持主机存活探测、端口扫描、常见服务的爆破、</a:t>
            </a:r>
            <a:r>
              <a:rPr lang="en-US" altLang="zh-CN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ms17010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redis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批量写公钥、计划任务反弹</a:t>
            </a:r>
            <a:r>
              <a:rPr lang="en-US" altLang="zh-CN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shell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、读取</a:t>
            </a:r>
            <a:r>
              <a:rPr lang="en-US" altLang="zh-CN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win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网卡信息、</a:t>
            </a:r>
            <a:r>
              <a:rPr lang="en-US" altLang="zh-CN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指纹识别、</a:t>
            </a:r>
            <a:r>
              <a:rPr lang="en-US" altLang="zh-CN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3200" b="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漏洞扫描、域控识别等功能。</a:t>
            </a:r>
            <a:endParaRPr lang="zh-CN" altLang="en-US" sz="3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69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实验环境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64150" y="2419332"/>
            <a:ext cx="8324802" cy="118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工具：</a:t>
            </a:r>
            <a:r>
              <a:rPr lang="en-US" altLang="zh-CN" sz="32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1.8.1</a:t>
            </a: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Vmware</a:t>
            </a:r>
            <a:r>
              <a:rPr lang="zh-CN" altLang="en-US" sz="32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实现虚拟节点的搭建和网络构建</a:t>
            </a:r>
            <a:endParaRPr lang="en-US" altLang="zh-CN" sz="32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操作系统可用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endParaRPr lang="en-US" altLang="zh-CN" sz="32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实验目的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4357104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本实验具有明显的针对性和实用性，目的在于使学生通过对本实验执行过程的理解，了解一些网络扫描工具的使用，加强在网络安全领域中的防范意识。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实验内容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889910"/>
            <a:ext cx="9614780" cy="3122665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本实验主要使用</a:t>
            </a:r>
            <a:r>
              <a:rPr lang="en-US" altLang="zh-CN" sz="32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工具，对指定的域名或者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进行多类型的扫描，包含了密码爆破，网段批量扫描和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POC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检测等内容。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4800" dirty="0"/>
              <a:t>考核目标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761062"/>
            <a:ext cx="9614780" cy="4485952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40%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：完成网段批量部分内容 </a:t>
            </a: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60%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：完成</a:t>
            </a:r>
            <a:r>
              <a:rPr lang="en-US" altLang="zh-CN" sz="32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命令执行部分内容</a:t>
            </a: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80%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：完成扫描指定域名部分内容</a:t>
            </a:r>
          </a:p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100%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：结合抓包工具和网络协议知识分析至少一种扫描的原理。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662" y="477695"/>
            <a:ext cx="2614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实验步骤</a:t>
            </a:r>
            <a:endParaRPr lang="en-US" altLang="zh-CN" sz="4400" dirty="0"/>
          </a:p>
        </p:txBody>
      </p:sp>
      <p:sp>
        <p:nvSpPr>
          <p:cNvPr id="6" name="文本框 5"/>
          <p:cNvSpPr txBox="1"/>
          <p:nvPr/>
        </p:nvSpPr>
        <p:spPr>
          <a:xfrm>
            <a:off x="1128532" y="1655537"/>
            <a:ext cx="10446152" cy="1495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26797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6.1 </a:t>
            </a:r>
            <a:r>
              <a:rPr lang="zh-CN" altLang="en-US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批量扫描网络信息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带有批量扫描的功能，主要就是为了查看网段内部主机的基本网络信息，其使用方式也很简单，就是在扫描的时候在参数“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”的后面加上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CIDR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形式的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地址，现在直接在命令窗口执行“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-h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192.168.122.0/24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”，扫描的就是网络号为“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192.168.122.0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段地址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71" y="4253696"/>
            <a:ext cx="6929489" cy="79865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662" y="477695"/>
            <a:ext cx="2614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实验步骤</a:t>
            </a:r>
            <a:endParaRPr lang="en-US" altLang="zh-CN" sz="4400" dirty="0"/>
          </a:p>
        </p:txBody>
      </p:sp>
      <p:sp>
        <p:nvSpPr>
          <p:cNvPr id="7" name="文本框 6"/>
          <p:cNvSpPr txBox="1"/>
          <p:nvPr/>
        </p:nvSpPr>
        <p:spPr>
          <a:xfrm>
            <a:off x="1009650" y="1857894"/>
            <a:ext cx="4724400" cy="29360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 algn="just">
              <a:lnSpc>
                <a:spcPts val="2770"/>
              </a:lnSpc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执行结果为：可以看到，不加扫描模块参数执行的话，会扫描该网络的存活主机，检测每台存活主机的一些常用端口是否开启，除此之外还有显示主机的网卡信息，一些常见漏洞，在显示信息的最下面，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还尝试通过自带的字典对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端口开启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服务的主机进行爆破。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13" y="1857894"/>
            <a:ext cx="6111430" cy="30557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662" y="477695"/>
            <a:ext cx="2614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实验步骤</a:t>
            </a:r>
            <a:endParaRPr lang="en-US" altLang="zh-CN" sz="4400" dirty="0"/>
          </a:p>
        </p:txBody>
      </p:sp>
      <p:sp>
        <p:nvSpPr>
          <p:cNvPr id="7" name="文本框 6"/>
          <p:cNvSpPr txBox="1"/>
          <p:nvPr/>
        </p:nvSpPr>
        <p:spPr>
          <a:xfrm>
            <a:off x="1105381" y="1567272"/>
            <a:ext cx="10706583" cy="1495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6.2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攻击执行命令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可以对开启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服务的目标主机实施弱口令爆破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为了测试，可以创建一台靶机，并把其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密码改为弱口令（即很常用或者很简单的字符组合），假设现在已经有这么一台测试机，我们可以执行命令“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-h 192.168.157.0/24 -m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22 -c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whoami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4525394"/>
            <a:ext cx="9604178" cy="51133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662" y="477695"/>
            <a:ext cx="2614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实验步骤</a:t>
            </a:r>
            <a:endParaRPr lang="en-US" altLang="zh-CN" sz="4400" dirty="0"/>
          </a:p>
        </p:txBody>
      </p:sp>
      <p:sp>
        <p:nvSpPr>
          <p:cNvPr id="7" name="文本框 6"/>
          <p:cNvSpPr txBox="1"/>
          <p:nvPr/>
        </p:nvSpPr>
        <p:spPr>
          <a:xfrm>
            <a:off x="904875" y="2241771"/>
            <a:ext cx="6096000" cy="257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”参数选择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模块，“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”参数表示端口号，“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”表示在爆破成功后执行的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命令，这条命令会在网络中搜索所有符合条件的主机，执行结果为：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右图</a:t>
            </a:r>
            <a:endParaRPr lang="en-US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2770"/>
              </a:lnSpc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可以看到已经开启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192.168.157.130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这台主机的“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”用户的密码（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123456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）已经被破解，并且在下面一行也显示除了“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whoami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”命令的执行结果为“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”用户。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780" y="1714500"/>
            <a:ext cx="4562930" cy="32429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662" y="477695"/>
            <a:ext cx="2614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实验步骤</a:t>
            </a:r>
            <a:endParaRPr lang="en-US" altLang="zh-CN" sz="4400" dirty="0"/>
          </a:p>
        </p:txBody>
      </p:sp>
      <p:sp>
        <p:nvSpPr>
          <p:cNvPr id="7" name="文本框 6"/>
          <p:cNvSpPr txBox="1"/>
          <p:nvPr/>
        </p:nvSpPr>
        <p:spPr>
          <a:xfrm>
            <a:off x="904875" y="2241771"/>
            <a:ext cx="6096000" cy="22134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7970" algn="just">
              <a:lnSpc>
                <a:spcPts val="2770"/>
              </a:lnSpc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6.3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指定域名的网站漏洞检测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除了扫描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之外，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还可以自动探测出指定域名的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并且扫描一些基本信息，还可基于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PoC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检测一些可能出现的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漏洞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同时扫描多个域名，就可以新建一个文本文件，然后将所有域名添加进去，例如在软件的同目录下创建一个文本文件“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url.txt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”，然后在里面加入一些测试域名：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02121" y="918214"/>
            <a:ext cx="3281879" cy="40392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6662" y="477695"/>
            <a:ext cx="2614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实验步骤</a:t>
            </a:r>
            <a:endParaRPr lang="en-US" altLang="zh-CN" sz="4400" dirty="0"/>
          </a:p>
        </p:txBody>
      </p:sp>
      <p:sp>
        <p:nvSpPr>
          <p:cNvPr id="6" name="文本框 5"/>
          <p:cNvSpPr txBox="1"/>
          <p:nvPr/>
        </p:nvSpPr>
        <p:spPr>
          <a:xfrm>
            <a:off x="695325" y="1686444"/>
            <a:ext cx="6096000" cy="41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然后就可以执行命令“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uf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url.txt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24" y="1043325"/>
            <a:ext cx="5909063" cy="73290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6662" y="2629419"/>
            <a:ext cx="6096000" cy="41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即可看到扫描结果：</a:t>
            </a: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522" y="2000769"/>
            <a:ext cx="5845953" cy="18097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26662" y="3886875"/>
            <a:ext cx="6096000" cy="1495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66700" algn="just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在这里的执行结果中，除了网站的标题，状态码和相应数据长度之外，还可看到检测到了两个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POC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所对应的漏洞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，分别是“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poc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yaml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-backup-file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poc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yaml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phpstudy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nginx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-wrong-resolve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53195" y="610986"/>
            <a:ext cx="6085610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4800" dirty="0"/>
              <a:t>6.4 </a:t>
            </a:r>
            <a:r>
              <a:rPr lang="zh-CN" altLang="en-US" sz="4800" dirty="0"/>
              <a:t>分析实验原理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288610" y="1761062"/>
            <a:ext cx="9614780" cy="4485952"/>
          </a:xfrm>
          <a:prstGeom prst="roundRect">
            <a:avLst>
              <a:gd name="adj" fmla="val 9638"/>
            </a:avLst>
          </a:prstGeom>
          <a:solidFill>
            <a:srgbClr val="1E50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2667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实验的基本内容如上述所示，介绍了几种简单的</a:t>
            </a:r>
            <a:r>
              <a:rPr lang="en-US" altLang="zh-CN" sz="32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fscan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的功能和操作方式。在实验的最后，有能力的</a:t>
            </a:r>
            <a:r>
              <a:rPr lang="zh-CN" altLang="en-US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同学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可以尝试着自己去安装一些数据包分析软件（如</a:t>
            </a:r>
            <a:r>
              <a:rPr lang="en-US" altLang="zh-CN" sz="32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wireshark</a:t>
            </a:r>
            <a:r>
              <a:rPr lang="zh-CN" altLang="en-US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等）将抓包过程记录下来，分析一下软件探测扫描功能的原理。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Autofit/>
          </a:bodyPr>
          <a:lstStyle/>
          <a:p>
            <a:r>
              <a:rPr lang="zh-CN" altLang="en-US" sz="4800" dirty="0"/>
              <a:t>感谢聆听</a:t>
            </a:r>
            <a:br>
              <a:rPr lang="en-US" altLang="zh-CN" sz="4800" dirty="0"/>
            </a:br>
            <a:r>
              <a:rPr lang="en-US" altLang="zh-CN" sz="4800" dirty="0"/>
              <a:t>       Thanks</a:t>
            </a:r>
            <a:endParaRPr lang="zh-CN" altLang="en-US" sz="48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kzYmY1ZDllNDRjOTJhZjYzNzM3MDI1YjRlZGUzMzgifQ=="/>
  <p:tag name="KSO_WPP_MARK_KEY" val="e1cfe6bc-dc65-4c11-a6cb-044ffe6764b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6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6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、12、16、19、22、23"/>
  <p:tag name="KSO_WM_TEMPLATE_SUBCATEGORY" val="0"/>
  <p:tag name="KSO_WM_TAG_VERSION" val="1.0"/>
  <p:tag name="KSO_WM_BEAUTIFY_FLAG" val="#wm#"/>
  <p:tag name="KSO_WM_TEMPLATE_CATEGORY" val="custom"/>
  <p:tag name="KSO_WM_TEMPLATE_INDEX" val="20184636"/>
  <p:tag name="KSO_WM_TEMPLATE_MASTER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6164042"/>
  <p:tag name="MH_LIBRARY" val="GRAPHIC"/>
  <p:tag name="MH_TYPE" val="Other"/>
  <p:tag name="MH_ORDER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0"/>
  <p:tag name="KSO_WM_UNIT_ID" val="_17*i*0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26164042"/>
  <p:tag name="MH_LIBRARY" val="GRAPHIC"/>
  <p:tag name="MH_TYPE" val="Other"/>
  <p:tag name="MH_ORDER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0"/>
  <p:tag name="KSO_WM_UNIT_ID" val="_17*i*0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84636_1"/>
  <p:tag name="KSO_WM_TEMPLATE_SUBCATEGORY" val="0"/>
  <p:tag name="KSO_WM_TEMPLATE_MASTER_TYPE" val="1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4636"/>
  <p:tag name="KSO_WM_SLIDE_LAYOUT" val="a_b"/>
  <p:tag name="KSO_WM_SLIDE_LAYOUT_CNT" val="1_1"/>
  <p:tag name="KSO_WM_UNIT_SHOW_EDIT_AREA_INDICATION" val="1"/>
  <p:tag name="KSO_WM_TEMPLATE_THUMBS_INDEX" val="1、9、12、16、19、22、2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636"/>
</p:tagLst>
</file>

<file path=ppt/theme/theme1.xml><?xml version="1.0" encoding="utf-8"?>
<a:theme xmlns:a="http://schemas.openxmlformats.org/drawingml/2006/main" name="26_Office 主题​​">
  <a:themeElements>
    <a:clrScheme name="20184636">
      <a:dk1>
        <a:srgbClr val="000000"/>
      </a:dk1>
      <a:lt1>
        <a:srgbClr val="FFFFFF"/>
      </a:lt1>
      <a:dk2>
        <a:srgbClr val="C6E0EC"/>
      </a:dk2>
      <a:lt2>
        <a:srgbClr val="EDF4F7"/>
      </a:lt2>
      <a:accent1>
        <a:srgbClr val="3E5788"/>
      </a:accent1>
      <a:accent2>
        <a:srgbClr val="D53A3A"/>
      </a:accent2>
      <a:accent3>
        <a:srgbClr val="ED7D31"/>
      </a:accent3>
      <a:accent4>
        <a:srgbClr val="FFC000"/>
      </a:accent4>
      <a:accent5>
        <a:srgbClr val="61779E"/>
      </a:accent5>
      <a:accent6>
        <a:srgbClr val="A5A5A5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970</Words>
  <Application>Microsoft Office PowerPoint</Application>
  <PresentationFormat>宽屏</PresentationFormat>
  <Paragraphs>65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黑体</vt:lpstr>
      <vt:lpstr>宋体</vt:lpstr>
      <vt:lpstr>微软雅黑</vt:lpstr>
      <vt:lpstr>Arial</vt:lpstr>
      <vt:lpstr>Calibri</vt:lpstr>
      <vt:lpstr>Times New Roman</vt:lpstr>
      <vt:lpstr>26_Office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        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cao yan</cp:lastModifiedBy>
  <cp:revision>225</cp:revision>
  <dcterms:created xsi:type="dcterms:W3CDTF">2019-06-19T02:08:00Z</dcterms:created>
  <dcterms:modified xsi:type="dcterms:W3CDTF">2023-03-12T14:17:33Z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F3429670AE4744DAB7826A132AEE481B</vt:lpwstr>
  </property>
</Properties>
</file>