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8"/>
  </p:notesMasterIdLst>
  <p:handoutMasterIdLst>
    <p:handoutMasterId r:id="rId69"/>
  </p:handoutMasterIdLst>
  <p:sldIdLst>
    <p:sldId id="1061" r:id="rId2"/>
    <p:sldId id="1192" r:id="rId3"/>
    <p:sldId id="1174" r:id="rId4"/>
    <p:sldId id="1132" r:id="rId5"/>
    <p:sldId id="1147" r:id="rId6"/>
    <p:sldId id="1107" r:id="rId7"/>
    <p:sldId id="1131" r:id="rId8"/>
    <p:sldId id="1062" r:id="rId9"/>
    <p:sldId id="1175" r:id="rId10"/>
    <p:sldId id="994" r:id="rId11"/>
    <p:sldId id="1177" r:id="rId12"/>
    <p:sldId id="1199" r:id="rId13"/>
    <p:sldId id="1178" r:id="rId14"/>
    <p:sldId id="966" r:id="rId15"/>
    <p:sldId id="967" r:id="rId16"/>
    <p:sldId id="968" r:id="rId17"/>
    <p:sldId id="969" r:id="rId18"/>
    <p:sldId id="970" r:id="rId19"/>
    <p:sldId id="971" r:id="rId20"/>
    <p:sldId id="972" r:id="rId21"/>
    <p:sldId id="1191" r:id="rId22"/>
    <p:sldId id="1146" r:id="rId23"/>
    <p:sldId id="1179" r:id="rId24"/>
    <p:sldId id="1180" r:id="rId25"/>
    <p:sldId id="1181" r:id="rId26"/>
    <p:sldId id="1167" r:id="rId27"/>
    <p:sldId id="1168" r:id="rId28"/>
    <p:sldId id="1169" r:id="rId29"/>
    <p:sldId id="1182" r:id="rId30"/>
    <p:sldId id="827" r:id="rId31"/>
    <p:sldId id="1186" r:id="rId32"/>
    <p:sldId id="828" r:id="rId33"/>
    <p:sldId id="854" r:id="rId34"/>
    <p:sldId id="855" r:id="rId35"/>
    <p:sldId id="857" r:id="rId36"/>
    <p:sldId id="889" r:id="rId37"/>
    <p:sldId id="939" r:id="rId38"/>
    <p:sldId id="858" r:id="rId39"/>
    <p:sldId id="859" r:id="rId40"/>
    <p:sldId id="860" r:id="rId41"/>
    <p:sldId id="863" r:id="rId42"/>
    <p:sldId id="864" r:id="rId43"/>
    <p:sldId id="866" r:id="rId44"/>
    <p:sldId id="1183" r:id="rId45"/>
    <p:sldId id="1184" r:id="rId46"/>
    <p:sldId id="1185" r:id="rId47"/>
    <p:sldId id="1155" r:id="rId48"/>
    <p:sldId id="1156" r:id="rId49"/>
    <p:sldId id="1157" r:id="rId50"/>
    <p:sldId id="1200" r:id="rId51"/>
    <p:sldId id="1201" r:id="rId52"/>
    <p:sldId id="1202" r:id="rId53"/>
    <p:sldId id="1203" r:id="rId54"/>
    <p:sldId id="1188" r:id="rId55"/>
    <p:sldId id="1159" r:id="rId56"/>
    <p:sldId id="1160" r:id="rId57"/>
    <p:sldId id="1161" r:id="rId58"/>
    <p:sldId id="1162" r:id="rId59"/>
    <p:sldId id="1163" r:id="rId60"/>
    <p:sldId id="1164" r:id="rId61"/>
    <p:sldId id="1189" r:id="rId62"/>
    <p:sldId id="1190" r:id="rId63"/>
    <p:sldId id="1122" r:id="rId64"/>
    <p:sldId id="1123" r:id="rId65"/>
    <p:sldId id="1130" r:id="rId66"/>
    <p:sldId id="1088" r:id="rId67"/>
  </p:sldIdLst>
  <p:sldSz cx="9144000" cy="6858000" type="screen4x3"/>
  <p:notesSz cx="6858000" cy="9144000"/>
  <p:defaultTextStyle>
    <a:defPPr>
      <a:defRPr lang="zh-CN"/>
    </a:defPPr>
    <a:lvl1pPr algn="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006600"/>
    <a:srgbClr val="0000FF"/>
    <a:srgbClr val="00FFFF"/>
    <a:srgbClr val="33CCFF"/>
    <a:srgbClr val="000099"/>
    <a:srgbClr val="003300"/>
    <a:srgbClr val="FFCCCC"/>
    <a:srgbClr val="FF0000"/>
    <a:srgbClr val="5F5F5F"/>
    <a:srgbClr val="FFCC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4" autoAdjust="0"/>
    <p:restoredTop sz="99837" autoAdjust="0"/>
  </p:normalViewPr>
  <p:slideViewPr>
    <p:cSldViewPr>
      <p:cViewPr>
        <p:scale>
          <a:sx n="80" d="100"/>
          <a:sy n="80" d="100"/>
        </p:scale>
        <p:origin x="-269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6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6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6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fld id="{5DA30199-5840-47C1-8178-EE762BAC5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fld id="{D88882C3-1A89-4EB7-99E8-4008F4AE7F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8E8384-5969-4124-90E5-B3F949BC5E1B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E4767A-EA22-431E-9CAB-D26B6C3BFA65}" type="slidenum">
              <a:rPr lang="en-US" altLang="zh-CN" smtClean="0"/>
              <a:pPr/>
              <a:t>37</a:t>
            </a:fld>
            <a:endParaRPr lang="en-US" altLang="zh-CN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8882C3-1A89-4EB7-99E8-4008F4AE7F06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oleObject" Target="../embeddings/oleObject5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.bin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6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60350" y="177800"/>
          <a:ext cx="519113" cy="381000"/>
        </p:xfrm>
        <a:graphic>
          <a:graphicData uri="http://schemas.openxmlformats.org/presentationml/2006/ole">
            <p:oleObj spid="_x0000_s1026" name="Clip" r:id="rId14" imgW="285488" imgH="475939" progId="">
              <p:embed/>
            </p:oleObj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865188" y="863600"/>
          <a:ext cx="8043862" cy="76200"/>
        </p:xfrm>
        <a:graphic>
          <a:graphicData uri="http://schemas.openxmlformats.org/presentationml/2006/ole">
            <p:oleObj spid="_x0000_s1027" name="Clip" r:id="rId15" imgW="5571429" imgH="380852" progId="">
              <p:embed/>
            </p:oleObj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260350" y="573088"/>
          <a:ext cx="519113" cy="366712"/>
        </p:xfrm>
        <a:graphic>
          <a:graphicData uri="http://schemas.openxmlformats.org/presentationml/2006/ole">
            <p:oleObj spid="_x0000_s1028" name="Clip" r:id="rId16" imgW="1714286" imgH="1714286" progId="">
              <p:embed/>
            </p:oleObj>
          </a:graphicData>
        </a:graphic>
      </p:graphicFrame>
      <p:grpSp>
        <p:nvGrpSpPr>
          <p:cNvPr id="1033" name="Group 6"/>
          <p:cNvGrpSpPr>
            <a:grpSpLocks/>
          </p:cNvGrpSpPr>
          <p:nvPr/>
        </p:nvGrpSpPr>
        <p:grpSpPr bwMode="auto">
          <a:xfrm>
            <a:off x="260350" y="177800"/>
            <a:ext cx="8648700" cy="1073150"/>
            <a:chOff x="480" y="432"/>
            <a:chExt cx="4800" cy="676"/>
          </a:xfrm>
        </p:grpSpPr>
        <p:graphicFrame>
          <p:nvGraphicFramePr>
            <p:cNvPr id="1029" name="Object 7"/>
            <p:cNvGraphicFramePr>
              <a:graphicFrameLocks noChangeAspect="1"/>
            </p:cNvGraphicFramePr>
            <p:nvPr/>
          </p:nvGraphicFramePr>
          <p:xfrm>
            <a:off x="480" y="432"/>
            <a:ext cx="288" cy="240"/>
          </p:xfrm>
          <a:graphic>
            <a:graphicData uri="http://schemas.openxmlformats.org/presentationml/2006/ole">
              <p:oleObj spid="_x0000_s1029" name="Clip" r:id="rId17" imgW="285488" imgH="475939" progId="">
                <p:embed/>
              </p:oleObj>
            </a:graphicData>
          </a:graphic>
        </p:graphicFrame>
        <p:graphicFrame>
          <p:nvGraphicFramePr>
            <p:cNvPr id="1030" name="Object 8"/>
            <p:cNvGraphicFramePr>
              <a:graphicFrameLocks noChangeAspect="1"/>
            </p:cNvGraphicFramePr>
            <p:nvPr/>
          </p:nvGraphicFramePr>
          <p:xfrm>
            <a:off x="816" y="864"/>
            <a:ext cx="4464" cy="48"/>
          </p:xfrm>
          <a:graphic>
            <a:graphicData uri="http://schemas.openxmlformats.org/presentationml/2006/ole">
              <p:oleObj spid="_x0000_s1030" name="Clip" r:id="rId18" imgW="5571429" imgH="380852" progId="">
                <p:embed/>
              </p:oleObj>
            </a:graphicData>
          </a:graphic>
        </p:graphicFrame>
        <p:graphicFrame>
          <p:nvGraphicFramePr>
            <p:cNvPr id="1031" name="Object 9"/>
            <p:cNvGraphicFramePr>
              <a:graphicFrameLocks noChangeAspect="1"/>
            </p:cNvGraphicFramePr>
            <p:nvPr/>
          </p:nvGraphicFramePr>
          <p:xfrm>
            <a:off x="480" y="681"/>
            <a:ext cx="288" cy="231"/>
          </p:xfrm>
          <a:graphic>
            <a:graphicData uri="http://schemas.openxmlformats.org/presentationml/2006/ole">
              <p:oleObj spid="_x0000_s1031" name="Clip" r:id="rId19" imgW="1714286" imgH="1714286" progId="">
                <p:embed/>
              </p:oleObj>
            </a:graphicData>
          </a:graphic>
        </p:graphicFrame>
        <p:pic>
          <p:nvPicPr>
            <p:cNvPr id="1034" name="Picture 10" descr="HLPGLOBE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4272" y="528"/>
              <a:ext cx="624" cy="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7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1196975"/>
            <a:ext cx="9144000" cy="5661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4275138" y="4251325"/>
            <a:ext cx="4716462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林楠</a:t>
            </a:r>
          </a:p>
          <a:p>
            <a:pPr eaLnBrk="0" hangingPunct="0"/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办公室：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228</a:t>
            </a:r>
            <a:endParaRPr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endParaRPr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办公电话：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0371-63888959</a:t>
            </a:r>
          </a:p>
          <a:p>
            <a:pPr eaLnBrk="0" hangingPunct="0"/>
            <a:endParaRPr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电子邮件：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linnan@zzu.edu.cn</a:t>
            </a:r>
          </a:p>
          <a:p>
            <a:pPr eaLnBrk="0" hangingPunct="0"/>
            <a:endParaRPr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6" name="Picture 4" descr="dblu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539750" y="211138"/>
            <a:ext cx="6983413" cy="914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5400">
                <a:solidFill>
                  <a:srgbClr val="CCECFF"/>
                </a:solidFill>
                <a:latin typeface="微软雅黑" pitchFamily="34" charset="-122"/>
                <a:ea typeface="微软雅黑" pitchFamily="34" charset="-122"/>
              </a:rPr>
              <a:t>《 </a:t>
            </a:r>
            <a:r>
              <a:rPr lang="zh-CN" altLang="en-US" sz="5400">
                <a:solidFill>
                  <a:srgbClr val="CCECFF"/>
                </a:solidFill>
                <a:latin typeface="微软雅黑" pitchFamily="34" charset="-122"/>
                <a:ea typeface="微软雅黑" pitchFamily="34" charset="-122"/>
              </a:rPr>
              <a:t>计算机组成原理 </a:t>
            </a:r>
            <a:r>
              <a:rPr lang="en-US" altLang="zh-CN" sz="5400">
                <a:solidFill>
                  <a:srgbClr val="CCECFF"/>
                </a:solidFill>
                <a:latin typeface="微软雅黑" pitchFamily="34" charset="-122"/>
                <a:ea typeface="微软雅黑" pitchFamily="34" charset="-122"/>
              </a:rPr>
              <a:t>》</a:t>
            </a:r>
          </a:p>
        </p:txBody>
      </p:sp>
      <p:pic>
        <p:nvPicPr>
          <p:cNvPr id="3078" name="Picture 6" descr="电脑_0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2950" y="0"/>
            <a:ext cx="2051050" cy="125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457200" y="3032125"/>
            <a:ext cx="431800" cy="3444875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altLang="zh-CN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</a:t>
            </a: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统</a:t>
            </a: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</a:t>
            </a: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线</a:t>
            </a:r>
          </a:p>
          <a:p>
            <a:pPr algn="ctr"/>
            <a:endParaRPr lang="zh-CN" altLang="en-US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zh-CN" altLang="en-US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zh-CN" altLang="en-US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2046288" y="4414838"/>
            <a:ext cx="1877437" cy="40011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存储器            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2000538" y="3046413"/>
            <a:ext cx="1877437" cy="40011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运算器            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1999745" y="3729038"/>
            <a:ext cx="1877437" cy="40011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控制器            </a:t>
            </a: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2012569" y="5133975"/>
            <a:ext cx="1851789" cy="40011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接口与通信     </a:t>
            </a:r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2022475" y="6019800"/>
            <a:ext cx="1845377" cy="40011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输出设备</a:t>
            </a:r>
          </a:p>
        </p:txBody>
      </p:sp>
      <p:sp>
        <p:nvSpPr>
          <p:cNvPr id="3085" name="AutoShape 13"/>
          <p:cNvSpPr>
            <a:spLocks noChangeArrowheads="1"/>
          </p:cNvSpPr>
          <p:nvPr/>
        </p:nvSpPr>
        <p:spPr bwMode="auto">
          <a:xfrm>
            <a:off x="890588" y="3176588"/>
            <a:ext cx="1079500" cy="142875"/>
          </a:xfrm>
          <a:prstGeom prst="leftRightArrow">
            <a:avLst>
              <a:gd name="adj1" fmla="val 50000"/>
              <a:gd name="adj2" fmla="val 151111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86" name="AutoShape 14"/>
          <p:cNvSpPr>
            <a:spLocks noChangeArrowheads="1"/>
          </p:cNvSpPr>
          <p:nvPr/>
        </p:nvSpPr>
        <p:spPr bwMode="auto">
          <a:xfrm>
            <a:off x="890588" y="3825875"/>
            <a:ext cx="1079500" cy="142875"/>
          </a:xfrm>
          <a:prstGeom prst="leftRightArrow">
            <a:avLst>
              <a:gd name="adj1" fmla="val 50000"/>
              <a:gd name="adj2" fmla="val 151111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87" name="AutoShape 15"/>
          <p:cNvSpPr>
            <a:spLocks noChangeArrowheads="1"/>
          </p:cNvSpPr>
          <p:nvPr/>
        </p:nvSpPr>
        <p:spPr bwMode="auto">
          <a:xfrm>
            <a:off x="2476500" y="5553075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88" name="AutoShape 16"/>
          <p:cNvSpPr>
            <a:spLocks noChangeArrowheads="1"/>
          </p:cNvSpPr>
          <p:nvPr/>
        </p:nvSpPr>
        <p:spPr bwMode="auto">
          <a:xfrm>
            <a:off x="2909888" y="5553075"/>
            <a:ext cx="215900" cy="431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89" name="AutoShape 17"/>
          <p:cNvSpPr>
            <a:spLocks noChangeArrowheads="1"/>
          </p:cNvSpPr>
          <p:nvPr/>
        </p:nvSpPr>
        <p:spPr bwMode="auto">
          <a:xfrm>
            <a:off x="890588" y="4545013"/>
            <a:ext cx="1079500" cy="142875"/>
          </a:xfrm>
          <a:prstGeom prst="leftRightArrow">
            <a:avLst>
              <a:gd name="adj1" fmla="val 50000"/>
              <a:gd name="adj2" fmla="val 151111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90" name="AutoShape 18"/>
          <p:cNvSpPr>
            <a:spLocks noChangeArrowheads="1"/>
          </p:cNvSpPr>
          <p:nvPr/>
        </p:nvSpPr>
        <p:spPr bwMode="auto">
          <a:xfrm>
            <a:off x="890588" y="5264150"/>
            <a:ext cx="1079500" cy="142875"/>
          </a:xfrm>
          <a:prstGeom prst="leftRightArrow">
            <a:avLst>
              <a:gd name="adj1" fmla="val 50000"/>
              <a:gd name="adj2" fmla="val 151111"/>
            </a:avLst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92" name="Text Box 20"/>
          <p:cNvSpPr txBox="1">
            <a:spLocks noChangeArrowheads="1"/>
          </p:cNvSpPr>
          <p:nvPr/>
        </p:nvSpPr>
        <p:spPr bwMode="auto">
          <a:xfrm>
            <a:off x="4006850" y="3048000"/>
            <a:ext cx="1250950" cy="39687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Cache            </a:t>
            </a:r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1676400" y="1524000"/>
            <a:ext cx="647700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第八章 </a:t>
            </a:r>
            <a:r>
              <a:rPr lang="en-US" altLang="zh-CN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的结构与功能（</a:t>
            </a:r>
            <a:r>
              <a:rPr lang="zh-CN" altLang="en-US" sz="32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最难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algn="ctr" eaLnBrk="0" hangingPunct="0"/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（含 第八章</a:t>
            </a:r>
            <a:r>
              <a:rPr lang="en-US" altLang="zh-CN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第四篇）</a:t>
            </a:r>
          </a:p>
          <a:p>
            <a:pPr algn="ctr" eaLnBrk="0" hangingPunct="0"/>
            <a:endParaRPr lang="en-US" altLang="zh-CN" sz="3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905000" y="2895600"/>
            <a:ext cx="3657600" cy="1371600"/>
          </a:xfrm>
          <a:prstGeom prst="rect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6"/>
          <p:cNvSpPr>
            <a:spLocks noChangeArrowheads="1"/>
          </p:cNvSpPr>
          <p:nvPr/>
        </p:nvSpPr>
        <p:spPr bwMode="auto">
          <a:xfrm>
            <a:off x="838200" y="395288"/>
            <a:ext cx="64770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Review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：组合逻辑控制器结构</a:t>
            </a:r>
          </a:p>
        </p:txBody>
      </p:sp>
      <p:sp>
        <p:nvSpPr>
          <p:cNvPr id="11267" name="Rectangle 51"/>
          <p:cNvSpPr>
            <a:spLocks noChangeArrowheads="1"/>
          </p:cNvSpPr>
          <p:nvPr/>
        </p:nvSpPr>
        <p:spPr bwMode="auto">
          <a:xfrm>
            <a:off x="3290888" y="5889625"/>
            <a:ext cx="3352800" cy="533400"/>
          </a:xfrm>
          <a:prstGeom prst="rect">
            <a:avLst/>
          </a:prstGeom>
          <a:solidFill>
            <a:srgbClr val="003300"/>
          </a:solidFill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68" name="Line 52"/>
          <p:cNvSpPr>
            <a:spLocks noChangeShapeType="1"/>
          </p:cNvSpPr>
          <p:nvPr/>
        </p:nvSpPr>
        <p:spPr bwMode="auto">
          <a:xfrm flipV="1">
            <a:off x="5576888" y="5349875"/>
            <a:ext cx="0" cy="593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69" name="Line 53"/>
          <p:cNvSpPr>
            <a:spLocks noChangeShapeType="1"/>
          </p:cNvSpPr>
          <p:nvPr/>
        </p:nvSpPr>
        <p:spPr bwMode="auto">
          <a:xfrm>
            <a:off x="1385888" y="3886200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70" name="Rectangle 54"/>
          <p:cNvSpPr>
            <a:spLocks noChangeArrowheads="1"/>
          </p:cNvSpPr>
          <p:nvPr/>
        </p:nvSpPr>
        <p:spPr bwMode="auto">
          <a:xfrm>
            <a:off x="76200" y="1216223"/>
            <a:ext cx="9067800" cy="6155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tIns="0" bIns="0" anchor="ctr">
            <a:spAutoFit/>
          </a:bodyPr>
          <a:lstStyle/>
          <a:p>
            <a:pPr marL="342900" indent="-342900" algn="l" eaLnBrk="0" hangingPunct="0"/>
            <a:r>
              <a:rPr lang="zh-CN" altLang="en-US" sz="20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         优点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所有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控制信号（微操作命令）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全部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由硬件电路产生，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速度快。</a:t>
            </a:r>
          </a:p>
          <a:p>
            <a:pPr marL="342900" indent="-342900" algn="l" eaLnBrk="0" hangingPunct="0"/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缺点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但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指令系统修改</a:t>
            </a:r>
            <a:r>
              <a:rPr lang="zh-CN" altLang="en-US" sz="2000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不灵活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修改一处，影响一大片。</a:t>
            </a:r>
          </a:p>
        </p:txBody>
      </p:sp>
      <p:sp>
        <p:nvSpPr>
          <p:cNvPr id="11271" name="Rectangle 55"/>
          <p:cNvSpPr>
            <a:spLocks noChangeArrowheads="1"/>
          </p:cNvSpPr>
          <p:nvPr/>
        </p:nvSpPr>
        <p:spPr bwMode="auto">
          <a:xfrm>
            <a:off x="4967288" y="3794125"/>
            <a:ext cx="1676400" cy="366713"/>
          </a:xfrm>
          <a:prstGeom prst="rect">
            <a:avLst/>
          </a:prstGeom>
          <a:solidFill>
            <a:srgbClr val="003300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程序计数器</a:t>
            </a:r>
          </a:p>
        </p:txBody>
      </p:sp>
      <p:sp>
        <p:nvSpPr>
          <p:cNvPr id="11272" name="Rectangle 56"/>
          <p:cNvSpPr>
            <a:spLocks noChangeArrowheads="1"/>
          </p:cNvSpPr>
          <p:nvPr/>
        </p:nvSpPr>
        <p:spPr bwMode="auto">
          <a:xfrm>
            <a:off x="3367088" y="4664075"/>
            <a:ext cx="990600" cy="641350"/>
          </a:xfrm>
          <a:prstGeom prst="rect">
            <a:avLst/>
          </a:prstGeom>
          <a:solidFill>
            <a:srgbClr val="003300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操作码译码器</a:t>
            </a:r>
          </a:p>
        </p:txBody>
      </p:sp>
      <p:sp>
        <p:nvSpPr>
          <p:cNvPr id="11273" name="Rectangle 57"/>
          <p:cNvSpPr>
            <a:spLocks noChangeArrowheads="1"/>
          </p:cNvSpPr>
          <p:nvPr/>
        </p:nvSpPr>
        <p:spPr bwMode="auto">
          <a:xfrm>
            <a:off x="5043488" y="4664075"/>
            <a:ext cx="1066800" cy="650875"/>
          </a:xfrm>
          <a:prstGeom prst="rect">
            <a:avLst/>
          </a:prstGeom>
          <a:solidFill>
            <a:srgbClr val="003300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地址形</a:t>
            </a: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成部件</a:t>
            </a:r>
          </a:p>
        </p:txBody>
      </p:sp>
      <p:sp>
        <p:nvSpPr>
          <p:cNvPr id="11274" name="Text Box 58"/>
          <p:cNvSpPr txBox="1">
            <a:spLocks noChangeArrowheads="1"/>
          </p:cNvSpPr>
          <p:nvPr/>
        </p:nvSpPr>
        <p:spPr bwMode="auto">
          <a:xfrm>
            <a:off x="4013201" y="6392863"/>
            <a:ext cx="17922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800" dirty="0">
                <a:solidFill>
                  <a:srgbClr val="003300"/>
                </a:solidFill>
                <a:latin typeface="微软雅黑" pitchFamily="34" charset="-122"/>
                <a:ea typeface="微软雅黑" pitchFamily="34" charset="-122"/>
              </a:rPr>
              <a:t>IR</a:t>
            </a:r>
            <a:r>
              <a:rPr lang="zh-CN" altLang="en-US" sz="1800" dirty="0">
                <a:solidFill>
                  <a:srgbClr val="003300"/>
                </a:solidFill>
                <a:latin typeface="微软雅黑" pitchFamily="34" charset="-122"/>
                <a:ea typeface="微软雅黑" pitchFamily="34" charset="-122"/>
              </a:rPr>
              <a:t>指令寄存器</a:t>
            </a:r>
          </a:p>
        </p:txBody>
      </p:sp>
      <p:sp>
        <p:nvSpPr>
          <p:cNvPr id="11275" name="Text Box 59"/>
          <p:cNvSpPr txBox="1">
            <a:spLocks noChangeArrowheads="1"/>
          </p:cNvSpPr>
          <p:nvPr/>
        </p:nvSpPr>
        <p:spPr bwMode="auto">
          <a:xfrm>
            <a:off x="6796088" y="4786313"/>
            <a:ext cx="14351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003300"/>
                </a:solidFill>
                <a:latin typeface="微软雅黑" pitchFamily="34" charset="-122"/>
                <a:ea typeface="微软雅黑" pitchFamily="34" charset="-122"/>
              </a:rPr>
              <a:t>按地址访存</a:t>
            </a:r>
          </a:p>
        </p:txBody>
      </p:sp>
      <p:sp>
        <p:nvSpPr>
          <p:cNvPr id="11277" name="Text Box 61"/>
          <p:cNvSpPr txBox="1">
            <a:spLocks noChangeArrowheads="1"/>
          </p:cNvSpPr>
          <p:nvPr/>
        </p:nvSpPr>
        <p:spPr bwMode="auto">
          <a:xfrm>
            <a:off x="6872288" y="5980113"/>
            <a:ext cx="14351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003300"/>
                </a:solidFill>
                <a:latin typeface="微软雅黑" pitchFamily="34" charset="-122"/>
                <a:ea typeface="微软雅黑" pitchFamily="34" charset="-122"/>
              </a:rPr>
              <a:t>从主存取指令</a:t>
            </a:r>
          </a:p>
        </p:txBody>
      </p:sp>
      <p:sp>
        <p:nvSpPr>
          <p:cNvPr id="11279" name="Text Box 63"/>
          <p:cNvSpPr txBox="1">
            <a:spLocks noChangeArrowheads="1"/>
          </p:cNvSpPr>
          <p:nvPr/>
        </p:nvSpPr>
        <p:spPr bwMode="auto">
          <a:xfrm>
            <a:off x="-228600" y="3124200"/>
            <a:ext cx="1614488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</a:t>
            </a:r>
            <a:endParaRPr lang="en-US" altLang="zh-CN" sz="18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反馈</a:t>
            </a:r>
            <a:endParaRPr lang="en-US" altLang="zh-CN" sz="18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信号</a:t>
            </a:r>
            <a:endParaRPr lang="zh-CN" altLang="en-US" sz="1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1" name="Text Box 65"/>
          <p:cNvSpPr txBox="1">
            <a:spLocks noChangeArrowheads="1"/>
          </p:cNvSpPr>
          <p:nvPr/>
        </p:nvSpPr>
        <p:spPr bwMode="auto">
          <a:xfrm>
            <a:off x="1979613" y="4757738"/>
            <a:ext cx="1841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zh-CN" altLang="zh-CN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2" name="Text Box 66"/>
          <p:cNvSpPr txBox="1">
            <a:spLocks noChangeArrowheads="1"/>
          </p:cNvSpPr>
          <p:nvPr/>
        </p:nvSpPr>
        <p:spPr bwMode="auto">
          <a:xfrm>
            <a:off x="1995488" y="2117725"/>
            <a:ext cx="63246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控制信号序列（通过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控制总线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传到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各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部件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3" name="Line 67"/>
          <p:cNvSpPr>
            <a:spLocks noChangeShapeType="1"/>
          </p:cNvSpPr>
          <p:nvPr/>
        </p:nvSpPr>
        <p:spPr bwMode="auto">
          <a:xfrm flipV="1">
            <a:off x="22240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4" name="Line 68"/>
          <p:cNvSpPr>
            <a:spLocks noChangeShapeType="1"/>
          </p:cNvSpPr>
          <p:nvPr/>
        </p:nvSpPr>
        <p:spPr bwMode="auto">
          <a:xfrm>
            <a:off x="1385888" y="3581400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5" name="Line 69"/>
          <p:cNvSpPr>
            <a:spLocks noChangeShapeType="1"/>
          </p:cNvSpPr>
          <p:nvPr/>
        </p:nvSpPr>
        <p:spPr bwMode="auto">
          <a:xfrm flipV="1">
            <a:off x="3519488" y="4038600"/>
            <a:ext cx="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6" name="Line 70"/>
          <p:cNvSpPr>
            <a:spLocks noChangeShapeType="1"/>
          </p:cNvSpPr>
          <p:nvPr/>
        </p:nvSpPr>
        <p:spPr bwMode="auto">
          <a:xfrm flipV="1">
            <a:off x="3900488" y="5349875"/>
            <a:ext cx="0" cy="5175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7" name="Line 71"/>
          <p:cNvSpPr>
            <a:spLocks noChangeShapeType="1"/>
          </p:cNvSpPr>
          <p:nvPr/>
        </p:nvSpPr>
        <p:spPr bwMode="auto">
          <a:xfrm>
            <a:off x="5576888" y="4176713"/>
            <a:ext cx="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8" name="Line 72"/>
          <p:cNvSpPr>
            <a:spLocks noChangeShapeType="1"/>
          </p:cNvSpPr>
          <p:nvPr/>
        </p:nvSpPr>
        <p:spPr bwMode="auto">
          <a:xfrm flipH="1">
            <a:off x="6643688" y="6164263"/>
            <a:ext cx="304800" cy="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89" name="Line 73"/>
          <p:cNvSpPr>
            <a:spLocks noChangeShapeType="1"/>
          </p:cNvSpPr>
          <p:nvPr/>
        </p:nvSpPr>
        <p:spPr bwMode="auto">
          <a:xfrm flipV="1">
            <a:off x="3671888" y="4038600"/>
            <a:ext cx="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0" name="Line 74"/>
          <p:cNvSpPr>
            <a:spLocks noChangeShapeType="1"/>
          </p:cNvSpPr>
          <p:nvPr/>
        </p:nvSpPr>
        <p:spPr bwMode="auto">
          <a:xfrm flipV="1">
            <a:off x="3824288" y="4038600"/>
            <a:ext cx="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1" name="Line 75"/>
          <p:cNvSpPr>
            <a:spLocks noChangeShapeType="1"/>
          </p:cNvSpPr>
          <p:nvPr/>
        </p:nvSpPr>
        <p:spPr bwMode="auto">
          <a:xfrm flipV="1">
            <a:off x="3976688" y="4038600"/>
            <a:ext cx="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2" name="Line 76"/>
          <p:cNvSpPr>
            <a:spLocks noChangeShapeType="1"/>
          </p:cNvSpPr>
          <p:nvPr/>
        </p:nvSpPr>
        <p:spPr bwMode="auto">
          <a:xfrm flipV="1">
            <a:off x="4129088" y="4038600"/>
            <a:ext cx="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3" name="Line 77"/>
          <p:cNvSpPr>
            <a:spLocks noChangeShapeType="1"/>
          </p:cNvSpPr>
          <p:nvPr/>
        </p:nvSpPr>
        <p:spPr bwMode="auto">
          <a:xfrm flipV="1">
            <a:off x="2681288" y="4038600"/>
            <a:ext cx="0" cy="609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4" name="Line 78"/>
          <p:cNvSpPr>
            <a:spLocks noChangeShapeType="1"/>
          </p:cNvSpPr>
          <p:nvPr/>
        </p:nvSpPr>
        <p:spPr bwMode="auto">
          <a:xfrm>
            <a:off x="1385888" y="3276600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5" name="Line 79"/>
          <p:cNvSpPr>
            <a:spLocks noChangeShapeType="1"/>
          </p:cNvSpPr>
          <p:nvPr/>
        </p:nvSpPr>
        <p:spPr bwMode="auto">
          <a:xfrm flipV="1">
            <a:off x="23764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6" name="Line 80"/>
          <p:cNvSpPr>
            <a:spLocks noChangeShapeType="1"/>
          </p:cNvSpPr>
          <p:nvPr/>
        </p:nvSpPr>
        <p:spPr bwMode="auto">
          <a:xfrm flipV="1">
            <a:off x="25288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7" name="Line 81"/>
          <p:cNvSpPr>
            <a:spLocks noChangeShapeType="1"/>
          </p:cNvSpPr>
          <p:nvPr/>
        </p:nvSpPr>
        <p:spPr bwMode="auto">
          <a:xfrm flipV="1">
            <a:off x="26812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8" name="Line 82"/>
          <p:cNvSpPr>
            <a:spLocks noChangeShapeType="1"/>
          </p:cNvSpPr>
          <p:nvPr/>
        </p:nvSpPr>
        <p:spPr bwMode="auto">
          <a:xfrm flipV="1">
            <a:off x="28336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99" name="Line 83"/>
          <p:cNvSpPr>
            <a:spLocks noChangeShapeType="1"/>
          </p:cNvSpPr>
          <p:nvPr/>
        </p:nvSpPr>
        <p:spPr bwMode="auto">
          <a:xfrm flipV="1">
            <a:off x="29860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0" name="Line 84"/>
          <p:cNvSpPr>
            <a:spLocks noChangeShapeType="1"/>
          </p:cNvSpPr>
          <p:nvPr/>
        </p:nvSpPr>
        <p:spPr bwMode="auto">
          <a:xfrm flipV="1">
            <a:off x="31384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1" name="Line 85"/>
          <p:cNvSpPr>
            <a:spLocks noChangeShapeType="1"/>
          </p:cNvSpPr>
          <p:nvPr/>
        </p:nvSpPr>
        <p:spPr bwMode="auto">
          <a:xfrm flipV="1">
            <a:off x="32908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2" name="Line 86"/>
          <p:cNvSpPr>
            <a:spLocks noChangeShapeType="1"/>
          </p:cNvSpPr>
          <p:nvPr/>
        </p:nvSpPr>
        <p:spPr bwMode="auto">
          <a:xfrm flipV="1">
            <a:off x="34432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3" name="Line 87"/>
          <p:cNvSpPr>
            <a:spLocks noChangeShapeType="1"/>
          </p:cNvSpPr>
          <p:nvPr/>
        </p:nvSpPr>
        <p:spPr bwMode="auto">
          <a:xfrm flipV="1">
            <a:off x="35956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4" name="Line 88"/>
          <p:cNvSpPr>
            <a:spLocks noChangeShapeType="1"/>
          </p:cNvSpPr>
          <p:nvPr/>
        </p:nvSpPr>
        <p:spPr bwMode="auto">
          <a:xfrm flipV="1">
            <a:off x="37480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5" name="Line 89"/>
          <p:cNvSpPr>
            <a:spLocks noChangeShapeType="1"/>
          </p:cNvSpPr>
          <p:nvPr/>
        </p:nvSpPr>
        <p:spPr bwMode="auto">
          <a:xfrm flipV="1">
            <a:off x="39004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6" name="Line 90"/>
          <p:cNvSpPr>
            <a:spLocks noChangeShapeType="1"/>
          </p:cNvSpPr>
          <p:nvPr/>
        </p:nvSpPr>
        <p:spPr bwMode="auto">
          <a:xfrm flipV="1">
            <a:off x="40528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7" name="Line 91"/>
          <p:cNvSpPr>
            <a:spLocks noChangeShapeType="1"/>
          </p:cNvSpPr>
          <p:nvPr/>
        </p:nvSpPr>
        <p:spPr bwMode="auto">
          <a:xfrm flipV="1">
            <a:off x="4205288" y="2590800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8" name="Rectangle 92"/>
          <p:cNvSpPr>
            <a:spLocks noChangeArrowheads="1"/>
          </p:cNvSpPr>
          <p:nvPr/>
        </p:nvSpPr>
        <p:spPr bwMode="auto">
          <a:xfrm>
            <a:off x="1995488" y="3022769"/>
            <a:ext cx="2362200" cy="1015663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US" altLang="zh-CN" sz="20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控制信号产生器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09" name="Text Box 93"/>
          <p:cNvSpPr txBox="1">
            <a:spLocks noChangeArrowheads="1"/>
          </p:cNvSpPr>
          <p:nvPr/>
        </p:nvSpPr>
        <p:spPr bwMode="auto">
          <a:xfrm>
            <a:off x="6643688" y="3686175"/>
            <a:ext cx="18288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自动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+1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JMP 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新地址送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PC</a:t>
            </a:r>
          </a:p>
        </p:txBody>
      </p:sp>
      <p:sp>
        <p:nvSpPr>
          <p:cNvPr id="11310" name="Rectangle 94"/>
          <p:cNvSpPr>
            <a:spLocks noChangeArrowheads="1"/>
          </p:cNvSpPr>
          <p:nvPr/>
        </p:nvSpPr>
        <p:spPr bwMode="auto">
          <a:xfrm>
            <a:off x="1995488" y="4664075"/>
            <a:ext cx="1295400" cy="641350"/>
          </a:xfrm>
          <a:prstGeom prst="rect">
            <a:avLst/>
          </a:prstGeom>
          <a:solidFill>
            <a:srgbClr val="003300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时序信号产生器</a:t>
            </a:r>
          </a:p>
        </p:txBody>
      </p:sp>
      <p:sp>
        <p:nvSpPr>
          <p:cNvPr id="11311" name="Line 95"/>
          <p:cNvSpPr>
            <a:spLocks noChangeShapeType="1"/>
          </p:cNvSpPr>
          <p:nvPr/>
        </p:nvSpPr>
        <p:spPr bwMode="auto">
          <a:xfrm>
            <a:off x="6110288" y="4968875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0544" name="Oval 96"/>
          <p:cNvSpPr>
            <a:spLocks noChangeArrowheads="1"/>
          </p:cNvSpPr>
          <p:nvPr/>
        </p:nvSpPr>
        <p:spPr bwMode="auto">
          <a:xfrm>
            <a:off x="6640595" y="61100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1000545" name="Oval 97"/>
          <p:cNvSpPr>
            <a:spLocks noChangeArrowheads="1"/>
          </p:cNvSpPr>
          <p:nvPr/>
        </p:nvSpPr>
        <p:spPr bwMode="auto">
          <a:xfrm>
            <a:off x="5251451" y="4148019"/>
            <a:ext cx="325437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1000546" name="Oval 98"/>
          <p:cNvSpPr>
            <a:spLocks noChangeArrowheads="1"/>
          </p:cNvSpPr>
          <p:nvPr/>
        </p:nvSpPr>
        <p:spPr bwMode="auto">
          <a:xfrm>
            <a:off x="6304004" y="45098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1315" name="Rectangle 99"/>
          <p:cNvSpPr>
            <a:spLocks noChangeArrowheads="1"/>
          </p:cNvSpPr>
          <p:nvPr/>
        </p:nvSpPr>
        <p:spPr bwMode="auto">
          <a:xfrm>
            <a:off x="3367088" y="5975350"/>
            <a:ext cx="1295400" cy="37623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操作码</a:t>
            </a:r>
          </a:p>
        </p:txBody>
      </p:sp>
      <p:sp>
        <p:nvSpPr>
          <p:cNvPr id="11316" name="Rectangle 100"/>
          <p:cNvSpPr>
            <a:spLocks noChangeArrowheads="1"/>
          </p:cNvSpPr>
          <p:nvPr/>
        </p:nvSpPr>
        <p:spPr bwMode="auto">
          <a:xfrm>
            <a:off x="4738688" y="5975350"/>
            <a:ext cx="1828800" cy="376238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地址码</a:t>
            </a:r>
          </a:p>
        </p:txBody>
      </p:sp>
      <p:sp>
        <p:nvSpPr>
          <p:cNvPr id="1000549" name="Oval 101"/>
          <p:cNvSpPr>
            <a:spLocks noChangeArrowheads="1"/>
          </p:cNvSpPr>
          <p:nvPr/>
        </p:nvSpPr>
        <p:spPr bwMode="auto">
          <a:xfrm>
            <a:off x="4129088" y="26048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</p:txBody>
      </p:sp>
      <p:sp>
        <p:nvSpPr>
          <p:cNvPr id="1000550" name="Oval 102"/>
          <p:cNvSpPr>
            <a:spLocks noChangeArrowheads="1"/>
          </p:cNvSpPr>
          <p:nvPr/>
        </p:nvSpPr>
        <p:spPr bwMode="auto">
          <a:xfrm>
            <a:off x="3516395" y="536721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1000551" name="Oval 103"/>
          <p:cNvSpPr>
            <a:spLocks noChangeArrowheads="1"/>
          </p:cNvSpPr>
          <p:nvPr/>
        </p:nvSpPr>
        <p:spPr bwMode="auto">
          <a:xfrm>
            <a:off x="5192795" y="536721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1000552" name="Oval 104"/>
          <p:cNvSpPr>
            <a:spLocks noChangeArrowheads="1"/>
          </p:cNvSpPr>
          <p:nvPr/>
        </p:nvSpPr>
        <p:spPr bwMode="auto">
          <a:xfrm>
            <a:off x="4052888" y="42050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</p:txBody>
      </p:sp>
      <p:sp>
        <p:nvSpPr>
          <p:cNvPr id="1000553" name="Oval 105"/>
          <p:cNvSpPr>
            <a:spLocks noChangeArrowheads="1"/>
          </p:cNvSpPr>
          <p:nvPr/>
        </p:nvSpPr>
        <p:spPr bwMode="auto">
          <a:xfrm>
            <a:off x="2297195" y="42050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</p:txBody>
      </p:sp>
      <p:sp>
        <p:nvSpPr>
          <p:cNvPr id="1000554" name="Oval 106"/>
          <p:cNvSpPr>
            <a:spLocks noChangeArrowheads="1"/>
          </p:cNvSpPr>
          <p:nvPr/>
        </p:nvSpPr>
        <p:spPr bwMode="auto">
          <a:xfrm>
            <a:off x="1427204" y="3886200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0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0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0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0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0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0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544" grpId="0"/>
      <p:bldP spid="1000545" grpId="0"/>
      <p:bldP spid="1000546" grpId="0"/>
      <p:bldP spid="1000549" grpId="0"/>
      <p:bldP spid="1000550" grpId="0"/>
      <p:bldP spid="1000551" grpId="0"/>
      <p:bldP spid="1000552" grpId="0"/>
      <p:bldP spid="1000553" grpId="0"/>
      <p:bldP spid="10005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ChangeArrowheads="1"/>
          </p:cNvSpPr>
          <p:nvPr/>
        </p:nvSpPr>
        <p:spPr bwMode="auto">
          <a:xfrm>
            <a:off x="762000" y="1100138"/>
            <a:ext cx="8382000" cy="5632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组合逻辑控制器的设计步骤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（前三步骤非常重要！）</a:t>
            </a: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步骤一  拟定指令系统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逻辑依据：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给出控制器设计的总体需求）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步骤二  确定总体结构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空间安排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：给出控制器组成部件及通路）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步骤三  拟定时序系统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时间安排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：给出控制信号发送时间依据）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步骤四  拟定指令流程图（合并了步骤一、三）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分析每条指令的执行步骤，按时间顺序，画出指令流程图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（即：一条指令执行过程中，什么时间发出什么微操作命令）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步骤五  编制微操作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命令信号时间表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（合并了步骤一、二、三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P402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将指令流程中微操命令作落实到由哪个部件完成，给出时间表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步骤六  微操作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命令信号的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组合与化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简（看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P402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真值表，写逻辑表达式）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根据微操作时间表，给出</a:t>
            </a:r>
            <a:r>
              <a:rPr lang="zh-CN" altLang="en-US" sz="2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输入和输出信号的逻辑表达式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并化简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步骤七  设计逻辑电路图</a:t>
            </a:r>
            <a:endParaRPr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根据最简逻辑表达式，结合现有的元件</a:t>
            </a:r>
            <a:r>
              <a:rPr lang="zh-CN" altLang="en-US" sz="2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设计电路</a:t>
            </a:r>
          </a:p>
        </p:txBody>
      </p:sp>
      <p:sp>
        <p:nvSpPr>
          <p:cNvPr id="50179" name="Rectangle 5"/>
          <p:cNvSpPr>
            <a:spLocks noChangeArrowheads="1"/>
          </p:cNvSpPr>
          <p:nvPr/>
        </p:nvSpPr>
        <p:spPr bwMode="auto">
          <a:xfrm>
            <a:off x="838200" y="395288"/>
            <a:ext cx="6477000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Review: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</a:t>
            </a:r>
            <a:r>
              <a:rPr lang="zh-CN" altLang="en-US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设计思想（全部讲完）</a:t>
            </a:r>
          </a:p>
        </p:txBody>
      </p:sp>
      <p:sp>
        <p:nvSpPr>
          <p:cNvPr id="50180" name="Line 6"/>
          <p:cNvSpPr>
            <a:spLocks noChangeShapeType="1"/>
          </p:cNvSpPr>
          <p:nvPr/>
        </p:nvSpPr>
        <p:spPr bwMode="auto">
          <a:xfrm>
            <a:off x="304800" y="2895600"/>
            <a:ext cx="86868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2" name="Line 8"/>
          <p:cNvSpPr>
            <a:spLocks noChangeShapeType="1"/>
          </p:cNvSpPr>
          <p:nvPr/>
        </p:nvSpPr>
        <p:spPr bwMode="auto">
          <a:xfrm>
            <a:off x="457200" y="19050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3" name="Line 9"/>
          <p:cNvSpPr>
            <a:spLocks noChangeShapeType="1"/>
          </p:cNvSpPr>
          <p:nvPr/>
        </p:nvSpPr>
        <p:spPr bwMode="auto">
          <a:xfrm>
            <a:off x="457200" y="22098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4" name="Line 10"/>
          <p:cNvSpPr>
            <a:spLocks noChangeShapeType="1"/>
          </p:cNvSpPr>
          <p:nvPr/>
        </p:nvSpPr>
        <p:spPr bwMode="auto">
          <a:xfrm>
            <a:off x="457200" y="25146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5" name="Line 10"/>
          <p:cNvSpPr>
            <a:spLocks noChangeShapeType="1"/>
          </p:cNvSpPr>
          <p:nvPr/>
        </p:nvSpPr>
        <p:spPr bwMode="auto">
          <a:xfrm>
            <a:off x="457200" y="31242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457200" y="43434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7" name="Line 10"/>
          <p:cNvSpPr>
            <a:spLocks noChangeShapeType="1"/>
          </p:cNvSpPr>
          <p:nvPr/>
        </p:nvSpPr>
        <p:spPr bwMode="auto">
          <a:xfrm>
            <a:off x="457200" y="53340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8" name="Line 10"/>
          <p:cNvSpPr>
            <a:spLocks noChangeShapeType="1"/>
          </p:cNvSpPr>
          <p:nvPr/>
        </p:nvSpPr>
        <p:spPr bwMode="auto">
          <a:xfrm>
            <a:off x="457200" y="62484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>
            <a:off x="304800" y="5029200"/>
            <a:ext cx="86868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676400"/>
            <a:ext cx="8077200" cy="4876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990600" y="1889125"/>
            <a:ext cx="3114675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方框图语言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来表示</a:t>
            </a:r>
          </a:p>
          <a:p>
            <a:pPr algn="l"/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一条指令的指令周期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838200" y="381000"/>
            <a:ext cx="6096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Review: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</a:p>
        </p:txBody>
      </p:sp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752356" y="1066800"/>
            <a:ext cx="572464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步骤四  拟定指令流程图（微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操作命令信号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流程）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4"/>
          <p:cNvSpPr txBox="1">
            <a:spLocks noChangeArrowheads="1"/>
          </p:cNvSpPr>
          <p:nvPr/>
        </p:nvSpPr>
        <p:spPr bwMode="auto">
          <a:xfrm>
            <a:off x="838200" y="1174750"/>
            <a:ext cx="8382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000">
                <a:latin typeface="微软雅黑" pitchFamily="34" charset="-122"/>
                <a:ea typeface="微软雅黑" pitchFamily="34" charset="-122"/>
              </a:rPr>
              <a:t>确定一个指令系统的对应的全部微操作命令的节拍安排，首先要明确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kumimoji="1"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的控制方式（同步或异步）</a:t>
            </a:r>
            <a:r>
              <a:rPr kumimoji="1" lang="zh-CN" altLang="en-US" sz="2000">
                <a:latin typeface="微软雅黑" pitchFamily="34" charset="-122"/>
                <a:ea typeface="微软雅黑" pitchFamily="34" charset="-122"/>
              </a:rPr>
              <a:t>和</a:t>
            </a:r>
            <a:r>
              <a:rPr kumimoji="1"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内部结构（总线或非总线）</a:t>
            </a:r>
            <a:r>
              <a:rPr kumimoji="1" lang="zh-CN" altLang="en-US" sz="200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例如：</a:t>
            </a:r>
            <a:r>
              <a:rPr kumimoji="1" lang="zh-CN" altLang="en-US" sz="2000">
                <a:latin typeface="微软雅黑" pitchFamily="34" charset="-122"/>
                <a:ea typeface="微软雅黑" pitchFamily="34" charset="-122"/>
              </a:rPr>
              <a:t>采用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同步控制方式，非总线结构的</a:t>
            </a: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，每个</a:t>
            </a: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周期有</a:t>
            </a: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拍。</a:t>
            </a:r>
          </a:p>
        </p:txBody>
      </p:sp>
      <p:grpSp>
        <p:nvGrpSpPr>
          <p:cNvPr id="6148" name="Group 9"/>
          <p:cNvGrpSpPr>
            <a:grpSpLocks/>
          </p:cNvGrpSpPr>
          <p:nvPr/>
        </p:nvGrpSpPr>
        <p:grpSpPr bwMode="auto">
          <a:xfrm>
            <a:off x="1143000" y="2286000"/>
            <a:ext cx="7324725" cy="4572000"/>
            <a:chOff x="810" y="1440"/>
            <a:chExt cx="4614" cy="2880"/>
          </a:xfrm>
        </p:grpSpPr>
        <p:grpSp>
          <p:nvGrpSpPr>
            <p:cNvPr id="6151" name="Group 10"/>
            <p:cNvGrpSpPr>
              <a:grpSpLocks/>
            </p:cNvGrpSpPr>
            <p:nvPr/>
          </p:nvGrpSpPr>
          <p:grpSpPr bwMode="auto">
            <a:xfrm>
              <a:off x="810" y="1440"/>
              <a:ext cx="4614" cy="2880"/>
              <a:chOff x="810" y="1440"/>
              <a:chExt cx="4614" cy="2880"/>
            </a:xfrm>
          </p:grpSpPr>
          <p:sp>
            <p:nvSpPr>
              <p:cNvPr id="6154" name="Rectangle 11"/>
              <p:cNvSpPr>
                <a:spLocks noChangeArrowheads="1"/>
              </p:cNvSpPr>
              <p:nvPr/>
            </p:nvSpPr>
            <p:spPr bwMode="auto">
              <a:xfrm rot="5400000">
                <a:off x="2058" y="2448"/>
                <a:ext cx="288" cy="672"/>
              </a:xfrm>
              <a:prstGeom prst="rect">
                <a:avLst/>
              </a:prstGeom>
              <a:solidFill>
                <a:srgbClr val="000066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PC</a:t>
                </a:r>
              </a:p>
            </p:txBody>
          </p:sp>
          <p:sp>
            <p:nvSpPr>
              <p:cNvPr id="6155" name="Rectangle 12"/>
              <p:cNvSpPr>
                <a:spLocks noChangeArrowheads="1"/>
              </p:cNvSpPr>
              <p:nvPr/>
            </p:nvSpPr>
            <p:spPr bwMode="auto">
              <a:xfrm rot="5400000">
                <a:off x="3066" y="2448"/>
                <a:ext cx="288" cy="672"/>
              </a:xfrm>
              <a:prstGeom prst="rect">
                <a:avLst/>
              </a:prstGeom>
              <a:solidFill>
                <a:srgbClr val="000066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IR</a:t>
                </a:r>
              </a:p>
            </p:txBody>
          </p:sp>
          <p:sp>
            <p:nvSpPr>
              <p:cNvPr id="6156" name="Rectangle 13"/>
              <p:cNvSpPr>
                <a:spLocks noChangeArrowheads="1"/>
              </p:cNvSpPr>
              <p:nvPr/>
            </p:nvSpPr>
            <p:spPr bwMode="auto">
              <a:xfrm rot="5400000">
                <a:off x="4314" y="2112"/>
                <a:ext cx="288" cy="672"/>
              </a:xfrm>
              <a:prstGeom prst="rect">
                <a:avLst/>
              </a:prstGeom>
              <a:solidFill>
                <a:srgbClr val="000066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AC</a:t>
                </a:r>
              </a:p>
            </p:txBody>
          </p:sp>
          <p:sp>
            <p:nvSpPr>
              <p:cNvPr id="6157" name="Oval 14"/>
              <p:cNvSpPr>
                <a:spLocks noChangeArrowheads="1"/>
              </p:cNvSpPr>
              <p:nvPr/>
            </p:nvSpPr>
            <p:spPr bwMode="auto">
              <a:xfrm>
                <a:off x="1697" y="2496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58" name="Freeform 15"/>
              <p:cNvSpPr>
                <a:spLocks/>
              </p:cNvSpPr>
              <p:nvPr/>
            </p:nvSpPr>
            <p:spPr bwMode="auto">
              <a:xfrm>
                <a:off x="1530" y="1917"/>
                <a:ext cx="2880" cy="4"/>
              </a:xfrm>
              <a:custGeom>
                <a:avLst/>
                <a:gdLst>
                  <a:gd name="T0" fmla="*/ 2880 w 2880"/>
                  <a:gd name="T1" fmla="*/ 0 h 4"/>
                  <a:gd name="T2" fmla="*/ 0 w 2880"/>
                  <a:gd name="T3" fmla="*/ 4 h 4"/>
                  <a:gd name="T4" fmla="*/ 0 60000 65536"/>
                  <a:gd name="T5" fmla="*/ 0 60000 65536"/>
                  <a:gd name="T6" fmla="*/ 0 w 2880"/>
                  <a:gd name="T7" fmla="*/ 0 h 4"/>
                  <a:gd name="T8" fmla="*/ 2880 w 2880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880" h="4">
                    <a:moveTo>
                      <a:pt x="2880" y="0"/>
                    </a:moveTo>
                    <a:lnTo>
                      <a:pt x="0" y="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59" name="Line 16"/>
              <p:cNvSpPr>
                <a:spLocks noChangeShapeType="1"/>
              </p:cNvSpPr>
              <p:nvPr/>
            </p:nvSpPr>
            <p:spPr bwMode="auto">
              <a:xfrm>
                <a:off x="1530" y="2208"/>
                <a:ext cx="21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0" name="Freeform 17"/>
              <p:cNvSpPr>
                <a:spLocks/>
              </p:cNvSpPr>
              <p:nvPr/>
            </p:nvSpPr>
            <p:spPr bwMode="auto">
              <a:xfrm>
                <a:off x="1722" y="2208"/>
                <a:ext cx="1" cy="294"/>
              </a:xfrm>
              <a:custGeom>
                <a:avLst/>
                <a:gdLst>
                  <a:gd name="T0" fmla="*/ 0 w 1"/>
                  <a:gd name="T1" fmla="*/ 0 h 294"/>
                  <a:gd name="T2" fmla="*/ 0 w 1"/>
                  <a:gd name="T3" fmla="*/ 294 h 294"/>
                  <a:gd name="T4" fmla="*/ 0 60000 65536"/>
                  <a:gd name="T5" fmla="*/ 0 60000 65536"/>
                  <a:gd name="T6" fmla="*/ 0 w 1"/>
                  <a:gd name="T7" fmla="*/ 0 h 294"/>
                  <a:gd name="T8" fmla="*/ 1 w 1"/>
                  <a:gd name="T9" fmla="*/ 294 h 2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1" name="Freeform 18"/>
              <p:cNvSpPr>
                <a:spLocks/>
              </p:cNvSpPr>
              <p:nvPr/>
            </p:nvSpPr>
            <p:spPr bwMode="auto">
              <a:xfrm>
                <a:off x="1530" y="2544"/>
                <a:ext cx="192" cy="1008"/>
              </a:xfrm>
              <a:custGeom>
                <a:avLst/>
                <a:gdLst>
                  <a:gd name="T0" fmla="*/ 192 w 192"/>
                  <a:gd name="T1" fmla="*/ 0 h 1008"/>
                  <a:gd name="T2" fmla="*/ 192 w 192"/>
                  <a:gd name="T3" fmla="*/ 1008 h 1008"/>
                  <a:gd name="T4" fmla="*/ 0 w 192"/>
                  <a:gd name="T5" fmla="*/ 1008 h 1008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008"/>
                  <a:gd name="T11" fmla="*/ 192 w 192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008">
                    <a:moveTo>
                      <a:pt x="192" y="0"/>
                    </a:moveTo>
                    <a:lnTo>
                      <a:pt x="192" y="1008"/>
                    </a:lnTo>
                    <a:lnTo>
                      <a:pt x="0" y="100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2" name="Line 19"/>
              <p:cNvSpPr>
                <a:spLocks noChangeShapeType="1"/>
              </p:cNvSpPr>
              <p:nvPr/>
            </p:nvSpPr>
            <p:spPr bwMode="auto">
              <a:xfrm flipV="1">
                <a:off x="2058" y="240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3" name="Freeform 20"/>
              <p:cNvSpPr>
                <a:spLocks/>
              </p:cNvSpPr>
              <p:nvPr/>
            </p:nvSpPr>
            <p:spPr bwMode="auto">
              <a:xfrm>
                <a:off x="2058" y="1920"/>
                <a:ext cx="1" cy="435"/>
              </a:xfrm>
              <a:custGeom>
                <a:avLst/>
                <a:gdLst>
                  <a:gd name="T0" fmla="*/ 0 w 1"/>
                  <a:gd name="T1" fmla="*/ 435 h 435"/>
                  <a:gd name="T2" fmla="*/ 1 w 1"/>
                  <a:gd name="T3" fmla="*/ 0 h 435"/>
                  <a:gd name="T4" fmla="*/ 0 60000 65536"/>
                  <a:gd name="T5" fmla="*/ 0 60000 65536"/>
                  <a:gd name="T6" fmla="*/ 0 w 1"/>
                  <a:gd name="T7" fmla="*/ 0 h 435"/>
                  <a:gd name="T8" fmla="*/ 1 w 1"/>
                  <a:gd name="T9" fmla="*/ 435 h 4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5">
                    <a:moveTo>
                      <a:pt x="0" y="435"/>
                    </a:moveTo>
                    <a:lnTo>
                      <a:pt x="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4" name="Oval 21"/>
              <p:cNvSpPr>
                <a:spLocks noChangeArrowheads="1"/>
              </p:cNvSpPr>
              <p:nvPr/>
            </p:nvSpPr>
            <p:spPr bwMode="auto">
              <a:xfrm>
                <a:off x="2033" y="235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5" name="Oval 22"/>
              <p:cNvSpPr>
                <a:spLocks noChangeArrowheads="1"/>
              </p:cNvSpPr>
              <p:nvPr/>
            </p:nvSpPr>
            <p:spPr bwMode="auto">
              <a:xfrm>
                <a:off x="2273" y="244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6" name="Line 23"/>
              <p:cNvSpPr>
                <a:spLocks noChangeShapeType="1"/>
              </p:cNvSpPr>
              <p:nvPr/>
            </p:nvSpPr>
            <p:spPr bwMode="auto">
              <a:xfrm>
                <a:off x="2298" y="220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7" name="Line 24"/>
              <p:cNvSpPr>
                <a:spLocks noChangeShapeType="1"/>
              </p:cNvSpPr>
              <p:nvPr/>
            </p:nvSpPr>
            <p:spPr bwMode="auto">
              <a:xfrm>
                <a:off x="2298" y="249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8" name="Line 25"/>
              <p:cNvSpPr>
                <a:spLocks noChangeShapeType="1"/>
              </p:cNvSpPr>
              <p:nvPr/>
            </p:nvSpPr>
            <p:spPr bwMode="auto">
              <a:xfrm>
                <a:off x="2202" y="292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69" name="Freeform 26"/>
              <p:cNvSpPr>
                <a:spLocks/>
              </p:cNvSpPr>
              <p:nvPr/>
            </p:nvSpPr>
            <p:spPr bwMode="auto">
              <a:xfrm>
                <a:off x="1530" y="3312"/>
                <a:ext cx="672" cy="576"/>
              </a:xfrm>
              <a:custGeom>
                <a:avLst/>
                <a:gdLst>
                  <a:gd name="T0" fmla="*/ 672 w 672"/>
                  <a:gd name="T1" fmla="*/ 0 h 576"/>
                  <a:gd name="T2" fmla="*/ 672 w 672"/>
                  <a:gd name="T3" fmla="*/ 576 h 576"/>
                  <a:gd name="T4" fmla="*/ 0 w 672"/>
                  <a:gd name="T5" fmla="*/ 576 h 576"/>
                  <a:gd name="T6" fmla="*/ 0 60000 65536"/>
                  <a:gd name="T7" fmla="*/ 0 60000 65536"/>
                  <a:gd name="T8" fmla="*/ 0 60000 65536"/>
                  <a:gd name="T9" fmla="*/ 0 w 672"/>
                  <a:gd name="T10" fmla="*/ 0 h 576"/>
                  <a:gd name="T11" fmla="*/ 672 w 672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2" h="576">
                    <a:moveTo>
                      <a:pt x="672" y="0"/>
                    </a:moveTo>
                    <a:lnTo>
                      <a:pt x="672" y="576"/>
                    </a:lnTo>
                    <a:lnTo>
                      <a:pt x="0" y="57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0" name="Oval 27"/>
              <p:cNvSpPr>
                <a:spLocks noChangeArrowheads="1"/>
              </p:cNvSpPr>
              <p:nvPr/>
            </p:nvSpPr>
            <p:spPr bwMode="auto">
              <a:xfrm>
                <a:off x="2180" y="326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1" name="Oval 28"/>
              <p:cNvSpPr>
                <a:spLocks noChangeArrowheads="1"/>
              </p:cNvSpPr>
              <p:nvPr/>
            </p:nvSpPr>
            <p:spPr bwMode="auto">
              <a:xfrm>
                <a:off x="3137" y="244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2" name="Line 29"/>
              <p:cNvSpPr>
                <a:spLocks noChangeShapeType="1"/>
              </p:cNvSpPr>
              <p:nvPr/>
            </p:nvSpPr>
            <p:spPr bwMode="auto">
              <a:xfrm>
                <a:off x="3162" y="220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3" name="Line 30"/>
              <p:cNvSpPr>
                <a:spLocks noChangeShapeType="1"/>
              </p:cNvSpPr>
              <p:nvPr/>
            </p:nvSpPr>
            <p:spPr bwMode="auto">
              <a:xfrm>
                <a:off x="3162" y="249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4" name="Line 31"/>
              <p:cNvSpPr>
                <a:spLocks noChangeShapeType="1"/>
              </p:cNvSpPr>
              <p:nvPr/>
            </p:nvSpPr>
            <p:spPr bwMode="auto">
              <a:xfrm>
                <a:off x="3210" y="292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5" name="Oval 32"/>
              <p:cNvSpPr>
                <a:spLocks noChangeArrowheads="1"/>
              </p:cNvSpPr>
              <p:nvPr/>
            </p:nvSpPr>
            <p:spPr bwMode="auto">
              <a:xfrm>
                <a:off x="3186" y="326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6" name="Line 33"/>
              <p:cNvSpPr>
                <a:spLocks noChangeShapeType="1"/>
              </p:cNvSpPr>
              <p:nvPr/>
            </p:nvSpPr>
            <p:spPr bwMode="auto">
              <a:xfrm>
                <a:off x="3210" y="33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7" name="Rectangle 34"/>
              <p:cNvSpPr>
                <a:spLocks noChangeArrowheads="1"/>
              </p:cNvSpPr>
              <p:nvPr/>
            </p:nvSpPr>
            <p:spPr bwMode="auto">
              <a:xfrm>
                <a:off x="2922" y="3552"/>
                <a:ext cx="576" cy="336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CU</a:t>
                </a:r>
              </a:p>
            </p:txBody>
          </p:sp>
          <p:sp>
            <p:nvSpPr>
              <p:cNvPr id="6178" name="Rectangle 35"/>
              <p:cNvSpPr>
                <a:spLocks noChangeArrowheads="1"/>
              </p:cNvSpPr>
              <p:nvPr/>
            </p:nvSpPr>
            <p:spPr bwMode="auto">
              <a:xfrm rot="5400000">
                <a:off x="2418" y="3864"/>
                <a:ext cx="240" cy="576"/>
              </a:xfrm>
              <a:prstGeom prst="rect">
                <a:avLst/>
              </a:prstGeom>
              <a:solidFill>
                <a:srgbClr val="0000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zh-CN" altLang="en-US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时钟</a:t>
                </a:r>
              </a:p>
            </p:txBody>
          </p:sp>
          <p:sp>
            <p:nvSpPr>
              <p:cNvPr id="6179" name="Freeform 36"/>
              <p:cNvSpPr>
                <a:spLocks/>
              </p:cNvSpPr>
              <p:nvPr/>
            </p:nvSpPr>
            <p:spPr bwMode="auto">
              <a:xfrm>
                <a:off x="2538" y="3696"/>
                <a:ext cx="384" cy="336"/>
              </a:xfrm>
              <a:custGeom>
                <a:avLst/>
                <a:gdLst>
                  <a:gd name="T0" fmla="*/ 0 w 384"/>
                  <a:gd name="T1" fmla="*/ 1289 h 240"/>
                  <a:gd name="T2" fmla="*/ 0 w 384"/>
                  <a:gd name="T3" fmla="*/ 0 h 240"/>
                  <a:gd name="T4" fmla="*/ 384 w 384"/>
                  <a:gd name="T5" fmla="*/ 0 h 240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240"/>
                  <a:gd name="T11" fmla="*/ 384 w 384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240">
                    <a:moveTo>
                      <a:pt x="0" y="240"/>
                    </a:moveTo>
                    <a:lnTo>
                      <a:pt x="0" y="0"/>
                    </a:lnTo>
                    <a:lnTo>
                      <a:pt x="384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0" name="Freeform 37"/>
              <p:cNvSpPr>
                <a:spLocks/>
              </p:cNvSpPr>
              <p:nvPr/>
            </p:nvSpPr>
            <p:spPr bwMode="auto">
              <a:xfrm>
                <a:off x="3690" y="2208"/>
                <a:ext cx="1" cy="819"/>
              </a:xfrm>
              <a:custGeom>
                <a:avLst/>
                <a:gdLst>
                  <a:gd name="T0" fmla="*/ 0 w 1"/>
                  <a:gd name="T1" fmla="*/ 0 h 819"/>
                  <a:gd name="T2" fmla="*/ 0 w 1"/>
                  <a:gd name="T3" fmla="*/ 819 h 819"/>
                  <a:gd name="T4" fmla="*/ 0 60000 65536"/>
                  <a:gd name="T5" fmla="*/ 0 60000 65536"/>
                  <a:gd name="T6" fmla="*/ 0 w 1"/>
                  <a:gd name="T7" fmla="*/ 0 h 819"/>
                  <a:gd name="T8" fmla="*/ 1 w 1"/>
                  <a:gd name="T9" fmla="*/ 819 h 81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19">
                    <a:moveTo>
                      <a:pt x="0" y="0"/>
                    </a:moveTo>
                    <a:lnTo>
                      <a:pt x="0" y="819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1" name="Oval 38"/>
              <p:cNvSpPr>
                <a:spLocks noChangeArrowheads="1"/>
              </p:cNvSpPr>
              <p:nvPr/>
            </p:nvSpPr>
            <p:spPr bwMode="auto">
              <a:xfrm>
                <a:off x="3665" y="302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2" name="Freeform 39"/>
              <p:cNvSpPr>
                <a:spLocks/>
              </p:cNvSpPr>
              <p:nvPr/>
            </p:nvSpPr>
            <p:spPr bwMode="auto">
              <a:xfrm>
                <a:off x="3690" y="3072"/>
                <a:ext cx="507" cy="192"/>
              </a:xfrm>
              <a:custGeom>
                <a:avLst/>
                <a:gdLst>
                  <a:gd name="T0" fmla="*/ 0 w 507"/>
                  <a:gd name="T1" fmla="*/ 0 h 192"/>
                  <a:gd name="T2" fmla="*/ 0 w 507"/>
                  <a:gd name="T3" fmla="*/ 192 h 192"/>
                  <a:gd name="T4" fmla="*/ 507 w 507"/>
                  <a:gd name="T5" fmla="*/ 192 h 192"/>
                  <a:gd name="T6" fmla="*/ 0 60000 65536"/>
                  <a:gd name="T7" fmla="*/ 0 60000 65536"/>
                  <a:gd name="T8" fmla="*/ 0 60000 65536"/>
                  <a:gd name="T9" fmla="*/ 0 w 507"/>
                  <a:gd name="T10" fmla="*/ 0 h 192"/>
                  <a:gd name="T11" fmla="*/ 507 w 507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7" h="192">
                    <a:moveTo>
                      <a:pt x="0" y="0"/>
                    </a:moveTo>
                    <a:lnTo>
                      <a:pt x="0" y="192"/>
                    </a:lnTo>
                    <a:lnTo>
                      <a:pt x="507" y="192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3" name="Rectangle 40"/>
              <p:cNvSpPr>
                <a:spLocks noChangeArrowheads="1"/>
              </p:cNvSpPr>
              <p:nvPr/>
            </p:nvSpPr>
            <p:spPr bwMode="auto">
              <a:xfrm>
                <a:off x="4198" y="3168"/>
                <a:ext cx="576" cy="336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ALU</a:t>
                </a:r>
              </a:p>
            </p:txBody>
          </p:sp>
          <p:sp>
            <p:nvSpPr>
              <p:cNvPr id="6184" name="Line 41"/>
              <p:cNvSpPr>
                <a:spLocks noChangeShapeType="1"/>
              </p:cNvSpPr>
              <p:nvPr/>
            </p:nvSpPr>
            <p:spPr bwMode="auto">
              <a:xfrm flipH="1">
                <a:off x="3498" y="360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5" name="Line 42"/>
              <p:cNvSpPr>
                <a:spLocks noChangeShapeType="1"/>
              </p:cNvSpPr>
              <p:nvPr/>
            </p:nvSpPr>
            <p:spPr bwMode="auto">
              <a:xfrm flipH="1">
                <a:off x="3498" y="384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6" name="Line 43"/>
              <p:cNvSpPr>
                <a:spLocks noChangeShapeType="1"/>
              </p:cNvSpPr>
              <p:nvPr/>
            </p:nvSpPr>
            <p:spPr bwMode="auto">
              <a:xfrm rot="16200000" flipH="1">
                <a:off x="2970" y="39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7" name="Line 44"/>
              <p:cNvSpPr>
                <a:spLocks noChangeShapeType="1"/>
              </p:cNvSpPr>
              <p:nvPr/>
            </p:nvSpPr>
            <p:spPr bwMode="auto">
              <a:xfrm rot="16200000" flipH="1">
                <a:off x="3306" y="39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88" name="Text Box 45"/>
              <p:cNvSpPr txBox="1">
                <a:spLocks noChangeArrowheads="1"/>
              </p:cNvSpPr>
              <p:nvPr/>
            </p:nvSpPr>
            <p:spPr bwMode="auto">
              <a:xfrm>
                <a:off x="3098" y="3830"/>
                <a:ext cx="27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6189" name="Text Box 46"/>
              <p:cNvSpPr txBox="1">
                <a:spLocks noChangeArrowheads="1"/>
              </p:cNvSpPr>
              <p:nvPr/>
            </p:nvSpPr>
            <p:spPr bwMode="auto">
              <a:xfrm>
                <a:off x="3509" y="3619"/>
                <a:ext cx="310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6190" name="Line 47"/>
              <p:cNvSpPr>
                <a:spLocks noChangeShapeType="1"/>
              </p:cNvSpPr>
              <p:nvPr/>
            </p:nvSpPr>
            <p:spPr bwMode="auto">
              <a:xfrm flipH="1">
                <a:off x="4774" y="321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1" name="Line 48"/>
              <p:cNvSpPr>
                <a:spLocks noChangeShapeType="1"/>
              </p:cNvSpPr>
              <p:nvPr/>
            </p:nvSpPr>
            <p:spPr bwMode="auto">
              <a:xfrm flipH="1">
                <a:off x="4774" y="345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2" name="Text Box 49"/>
              <p:cNvSpPr txBox="1">
                <a:spLocks noChangeArrowheads="1"/>
              </p:cNvSpPr>
              <p:nvPr/>
            </p:nvSpPr>
            <p:spPr bwMode="auto">
              <a:xfrm>
                <a:off x="4799" y="3235"/>
                <a:ext cx="310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6193" name="Oval 50"/>
              <p:cNvSpPr>
                <a:spLocks noChangeArrowheads="1"/>
              </p:cNvSpPr>
              <p:nvPr/>
            </p:nvSpPr>
            <p:spPr bwMode="auto">
              <a:xfrm rot="5400000">
                <a:off x="3930" y="242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4" name="Freeform 51"/>
              <p:cNvSpPr>
                <a:spLocks/>
              </p:cNvSpPr>
              <p:nvPr/>
            </p:nvSpPr>
            <p:spPr bwMode="auto">
              <a:xfrm>
                <a:off x="3687" y="2451"/>
                <a:ext cx="243" cy="3"/>
              </a:xfrm>
              <a:custGeom>
                <a:avLst/>
                <a:gdLst>
                  <a:gd name="T0" fmla="*/ 243 w 243"/>
                  <a:gd name="T1" fmla="*/ 0 h 3"/>
                  <a:gd name="T2" fmla="*/ 0 w 243"/>
                  <a:gd name="T3" fmla="*/ 3 h 3"/>
                  <a:gd name="T4" fmla="*/ 0 60000 65536"/>
                  <a:gd name="T5" fmla="*/ 0 60000 65536"/>
                  <a:gd name="T6" fmla="*/ 0 w 243"/>
                  <a:gd name="T7" fmla="*/ 0 h 3"/>
                  <a:gd name="T8" fmla="*/ 243 w 24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oval" w="sm" len="sm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5" name="Line 52"/>
              <p:cNvSpPr>
                <a:spLocks noChangeShapeType="1"/>
              </p:cNvSpPr>
              <p:nvPr/>
            </p:nvSpPr>
            <p:spPr bwMode="auto">
              <a:xfrm rot="-5400000">
                <a:off x="4050" y="2376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6" name="Oval 53"/>
              <p:cNvSpPr>
                <a:spLocks noChangeArrowheads="1"/>
              </p:cNvSpPr>
              <p:nvPr/>
            </p:nvSpPr>
            <p:spPr bwMode="auto">
              <a:xfrm>
                <a:off x="4288" y="283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7" name="Line 54"/>
              <p:cNvSpPr>
                <a:spLocks noChangeShapeType="1"/>
              </p:cNvSpPr>
              <p:nvPr/>
            </p:nvSpPr>
            <p:spPr bwMode="auto">
              <a:xfrm>
                <a:off x="4314" y="259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8" name="Freeform 55"/>
              <p:cNvSpPr>
                <a:spLocks/>
              </p:cNvSpPr>
              <p:nvPr/>
            </p:nvSpPr>
            <p:spPr bwMode="auto">
              <a:xfrm>
                <a:off x="4311" y="2886"/>
                <a:ext cx="3" cy="282"/>
              </a:xfrm>
              <a:custGeom>
                <a:avLst/>
                <a:gdLst>
                  <a:gd name="T0" fmla="*/ 3 w 3"/>
                  <a:gd name="T1" fmla="*/ 0 h 282"/>
                  <a:gd name="T2" fmla="*/ 0 w 3"/>
                  <a:gd name="T3" fmla="*/ 282 h 282"/>
                  <a:gd name="T4" fmla="*/ 0 60000 65536"/>
                  <a:gd name="T5" fmla="*/ 0 60000 65536"/>
                  <a:gd name="T6" fmla="*/ 0 w 3"/>
                  <a:gd name="T7" fmla="*/ 0 h 282"/>
                  <a:gd name="T8" fmla="*/ 3 w 3"/>
                  <a:gd name="T9" fmla="*/ 282 h 28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282">
                    <a:moveTo>
                      <a:pt x="3" y="0"/>
                    </a:moveTo>
                    <a:lnTo>
                      <a:pt x="0" y="282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99" name="Oval 56"/>
              <p:cNvSpPr>
                <a:spLocks noChangeArrowheads="1"/>
              </p:cNvSpPr>
              <p:nvPr/>
            </p:nvSpPr>
            <p:spPr bwMode="auto">
              <a:xfrm>
                <a:off x="4528" y="283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0" name="Line 57"/>
              <p:cNvSpPr>
                <a:spLocks noChangeShapeType="1"/>
              </p:cNvSpPr>
              <p:nvPr/>
            </p:nvSpPr>
            <p:spPr bwMode="auto">
              <a:xfrm>
                <a:off x="4554" y="259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1" name="Freeform 58"/>
              <p:cNvSpPr>
                <a:spLocks/>
              </p:cNvSpPr>
              <p:nvPr/>
            </p:nvSpPr>
            <p:spPr bwMode="auto">
              <a:xfrm>
                <a:off x="4551" y="2886"/>
                <a:ext cx="3" cy="279"/>
              </a:xfrm>
              <a:custGeom>
                <a:avLst/>
                <a:gdLst>
                  <a:gd name="T0" fmla="*/ 3 w 3"/>
                  <a:gd name="T1" fmla="*/ 0 h 279"/>
                  <a:gd name="T2" fmla="*/ 0 w 3"/>
                  <a:gd name="T3" fmla="*/ 279 h 279"/>
                  <a:gd name="T4" fmla="*/ 0 60000 65536"/>
                  <a:gd name="T5" fmla="*/ 0 60000 65536"/>
                  <a:gd name="T6" fmla="*/ 0 w 3"/>
                  <a:gd name="T7" fmla="*/ 0 h 279"/>
                  <a:gd name="T8" fmla="*/ 3 w 3"/>
                  <a:gd name="T9" fmla="*/ 279 h 27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279">
                    <a:moveTo>
                      <a:pt x="3" y="0"/>
                    </a:moveTo>
                    <a:lnTo>
                      <a:pt x="0" y="279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2" name="Oval 59"/>
              <p:cNvSpPr>
                <a:spLocks noChangeArrowheads="1"/>
              </p:cNvSpPr>
              <p:nvPr/>
            </p:nvSpPr>
            <p:spPr bwMode="auto">
              <a:xfrm rot="5400000">
                <a:off x="4410" y="189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3" name="Freeform 60"/>
              <p:cNvSpPr>
                <a:spLocks/>
              </p:cNvSpPr>
              <p:nvPr/>
            </p:nvSpPr>
            <p:spPr bwMode="auto">
              <a:xfrm>
                <a:off x="4443" y="1941"/>
                <a:ext cx="1" cy="351"/>
              </a:xfrm>
              <a:custGeom>
                <a:avLst/>
                <a:gdLst>
                  <a:gd name="T0" fmla="*/ 0 w 1"/>
                  <a:gd name="T1" fmla="*/ 0 h 351"/>
                  <a:gd name="T2" fmla="*/ 0 w 1"/>
                  <a:gd name="T3" fmla="*/ 351 h 351"/>
                  <a:gd name="T4" fmla="*/ 0 60000 65536"/>
                  <a:gd name="T5" fmla="*/ 0 60000 65536"/>
                  <a:gd name="T6" fmla="*/ 0 w 1"/>
                  <a:gd name="T7" fmla="*/ 0 h 351"/>
                  <a:gd name="T8" fmla="*/ 1 w 1"/>
                  <a:gd name="T9" fmla="*/ 351 h 3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351">
                    <a:moveTo>
                      <a:pt x="0" y="0"/>
                    </a:moveTo>
                    <a:lnTo>
                      <a:pt x="0" y="351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4" name="Oval 61"/>
              <p:cNvSpPr>
                <a:spLocks noChangeArrowheads="1"/>
              </p:cNvSpPr>
              <p:nvPr/>
            </p:nvSpPr>
            <p:spPr bwMode="auto">
              <a:xfrm rot="5400000">
                <a:off x="1053" y="187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5" name="Freeform 62"/>
              <p:cNvSpPr>
                <a:spLocks/>
              </p:cNvSpPr>
              <p:nvPr/>
            </p:nvSpPr>
            <p:spPr bwMode="auto">
              <a:xfrm>
                <a:off x="810" y="1899"/>
                <a:ext cx="243" cy="1"/>
              </a:xfrm>
              <a:custGeom>
                <a:avLst/>
                <a:gdLst>
                  <a:gd name="T0" fmla="*/ 243 w 243"/>
                  <a:gd name="T1" fmla="*/ 0 h 1"/>
                  <a:gd name="T2" fmla="*/ 0 w 243"/>
                  <a:gd name="T3" fmla="*/ 0 h 1"/>
                  <a:gd name="T4" fmla="*/ 0 60000 65536"/>
                  <a:gd name="T5" fmla="*/ 0 60000 65536"/>
                  <a:gd name="T6" fmla="*/ 0 w 243"/>
                  <a:gd name="T7" fmla="*/ 0 h 1"/>
                  <a:gd name="T8" fmla="*/ 243 w 24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1">
                    <a:moveTo>
                      <a:pt x="243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6" name="Line 63"/>
              <p:cNvSpPr>
                <a:spLocks noChangeShapeType="1"/>
              </p:cNvSpPr>
              <p:nvPr/>
            </p:nvSpPr>
            <p:spPr bwMode="auto">
              <a:xfrm rot="-5400000">
                <a:off x="1173" y="1824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7" name="Oval 64"/>
              <p:cNvSpPr>
                <a:spLocks noChangeArrowheads="1"/>
              </p:cNvSpPr>
              <p:nvPr/>
            </p:nvSpPr>
            <p:spPr bwMode="auto">
              <a:xfrm rot="5400000">
                <a:off x="1053" y="220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8" name="Freeform 65"/>
              <p:cNvSpPr>
                <a:spLocks/>
              </p:cNvSpPr>
              <p:nvPr/>
            </p:nvSpPr>
            <p:spPr bwMode="auto">
              <a:xfrm>
                <a:off x="810" y="2235"/>
                <a:ext cx="243" cy="3"/>
              </a:xfrm>
              <a:custGeom>
                <a:avLst/>
                <a:gdLst>
                  <a:gd name="T0" fmla="*/ 243 w 243"/>
                  <a:gd name="T1" fmla="*/ 0 h 3"/>
                  <a:gd name="T2" fmla="*/ 0 w 243"/>
                  <a:gd name="T3" fmla="*/ 3 h 3"/>
                  <a:gd name="T4" fmla="*/ 0 60000 65536"/>
                  <a:gd name="T5" fmla="*/ 0 60000 65536"/>
                  <a:gd name="T6" fmla="*/ 0 w 243"/>
                  <a:gd name="T7" fmla="*/ 0 h 3"/>
                  <a:gd name="T8" fmla="*/ 243 w 24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09" name="Line 66"/>
              <p:cNvSpPr>
                <a:spLocks noChangeShapeType="1"/>
              </p:cNvSpPr>
              <p:nvPr/>
            </p:nvSpPr>
            <p:spPr bwMode="auto">
              <a:xfrm rot="-5400000">
                <a:off x="1173" y="216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0" name="Oval 67"/>
              <p:cNvSpPr>
                <a:spLocks noChangeArrowheads="1"/>
              </p:cNvSpPr>
              <p:nvPr/>
            </p:nvSpPr>
            <p:spPr bwMode="auto">
              <a:xfrm rot="5400000">
                <a:off x="1053" y="3696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1" name="Freeform 68"/>
              <p:cNvSpPr>
                <a:spLocks/>
              </p:cNvSpPr>
              <p:nvPr/>
            </p:nvSpPr>
            <p:spPr bwMode="auto">
              <a:xfrm>
                <a:off x="810" y="3723"/>
                <a:ext cx="243" cy="3"/>
              </a:xfrm>
              <a:custGeom>
                <a:avLst/>
                <a:gdLst>
                  <a:gd name="T0" fmla="*/ 243 w 243"/>
                  <a:gd name="T1" fmla="*/ 0 h 3"/>
                  <a:gd name="T2" fmla="*/ 0 w 243"/>
                  <a:gd name="T3" fmla="*/ 3 h 3"/>
                  <a:gd name="T4" fmla="*/ 0 60000 65536"/>
                  <a:gd name="T5" fmla="*/ 0 60000 65536"/>
                  <a:gd name="T6" fmla="*/ 0 w 243"/>
                  <a:gd name="T7" fmla="*/ 0 h 3"/>
                  <a:gd name="T8" fmla="*/ 243 w 24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2" name="Line 69"/>
              <p:cNvSpPr>
                <a:spLocks noChangeShapeType="1"/>
              </p:cNvSpPr>
              <p:nvPr/>
            </p:nvSpPr>
            <p:spPr bwMode="auto">
              <a:xfrm rot="-5400000">
                <a:off x="1173" y="36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3" name="Freeform 70"/>
              <p:cNvSpPr>
                <a:spLocks/>
              </p:cNvSpPr>
              <p:nvPr/>
            </p:nvSpPr>
            <p:spPr bwMode="auto">
              <a:xfrm>
                <a:off x="1077" y="3498"/>
                <a:ext cx="1" cy="195"/>
              </a:xfrm>
              <a:custGeom>
                <a:avLst/>
                <a:gdLst>
                  <a:gd name="T0" fmla="*/ 0 w 1"/>
                  <a:gd name="T1" fmla="*/ 0 h 195"/>
                  <a:gd name="T2" fmla="*/ 0 w 1"/>
                  <a:gd name="T3" fmla="*/ 195 h 195"/>
                  <a:gd name="T4" fmla="*/ 0 60000 65536"/>
                  <a:gd name="T5" fmla="*/ 0 60000 65536"/>
                  <a:gd name="T6" fmla="*/ 0 w 1"/>
                  <a:gd name="T7" fmla="*/ 0 h 195"/>
                  <a:gd name="T8" fmla="*/ 1 w 1"/>
                  <a:gd name="T9" fmla="*/ 195 h 1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5">
                    <a:moveTo>
                      <a:pt x="0" y="0"/>
                    </a:moveTo>
                    <a:lnTo>
                      <a:pt x="0" y="195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4" name="Freeform 71"/>
              <p:cNvSpPr>
                <a:spLocks/>
              </p:cNvSpPr>
              <p:nvPr/>
            </p:nvSpPr>
            <p:spPr bwMode="auto">
              <a:xfrm>
                <a:off x="1077" y="1674"/>
                <a:ext cx="1" cy="198"/>
              </a:xfrm>
              <a:custGeom>
                <a:avLst/>
                <a:gdLst>
                  <a:gd name="T0" fmla="*/ 0 w 1"/>
                  <a:gd name="T1" fmla="*/ 0 h 198"/>
                  <a:gd name="T2" fmla="*/ 0 w 1"/>
                  <a:gd name="T3" fmla="*/ 198 h 198"/>
                  <a:gd name="T4" fmla="*/ 0 60000 65536"/>
                  <a:gd name="T5" fmla="*/ 0 60000 65536"/>
                  <a:gd name="T6" fmla="*/ 0 w 1"/>
                  <a:gd name="T7" fmla="*/ 0 h 198"/>
                  <a:gd name="T8" fmla="*/ 1 w 1"/>
                  <a:gd name="T9" fmla="*/ 198 h 19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8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5" name="Freeform 72"/>
              <p:cNvSpPr>
                <a:spLocks/>
              </p:cNvSpPr>
              <p:nvPr/>
            </p:nvSpPr>
            <p:spPr bwMode="auto">
              <a:xfrm>
                <a:off x="1524" y="2523"/>
                <a:ext cx="177" cy="1"/>
              </a:xfrm>
              <a:custGeom>
                <a:avLst/>
                <a:gdLst>
                  <a:gd name="T0" fmla="*/ 0 w 177"/>
                  <a:gd name="T1" fmla="*/ 0 h 1"/>
                  <a:gd name="T2" fmla="*/ 177 w 177"/>
                  <a:gd name="T3" fmla="*/ 0 h 1"/>
                  <a:gd name="T4" fmla="*/ 0 60000 65536"/>
                  <a:gd name="T5" fmla="*/ 0 60000 65536"/>
                  <a:gd name="T6" fmla="*/ 0 w 177"/>
                  <a:gd name="T7" fmla="*/ 0 h 1"/>
                  <a:gd name="T8" fmla="*/ 177 w 17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7" h="1">
                    <a:moveTo>
                      <a:pt x="0" y="0"/>
                    </a:moveTo>
                    <a:lnTo>
                      <a:pt x="177" y="0"/>
                    </a:lnTo>
                  </a:path>
                </a:pathLst>
              </a:custGeom>
              <a:noFill/>
              <a:ln w="28575">
                <a:solidFill>
                  <a:schemeClr val="folHlink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6" name="Freeform 73"/>
              <p:cNvSpPr>
                <a:spLocks/>
              </p:cNvSpPr>
              <p:nvPr/>
            </p:nvSpPr>
            <p:spPr bwMode="auto">
              <a:xfrm>
                <a:off x="1860" y="2379"/>
                <a:ext cx="168" cy="6"/>
              </a:xfrm>
              <a:custGeom>
                <a:avLst/>
                <a:gdLst>
                  <a:gd name="T0" fmla="*/ 0 w 168"/>
                  <a:gd name="T1" fmla="*/ 6 h 6"/>
                  <a:gd name="T2" fmla="*/ 168 w 168"/>
                  <a:gd name="T3" fmla="*/ 0 h 6"/>
                  <a:gd name="T4" fmla="*/ 0 60000 65536"/>
                  <a:gd name="T5" fmla="*/ 0 60000 65536"/>
                  <a:gd name="T6" fmla="*/ 0 w 168"/>
                  <a:gd name="T7" fmla="*/ 0 h 6"/>
                  <a:gd name="T8" fmla="*/ 168 w 16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8" h="6">
                    <a:moveTo>
                      <a:pt x="0" y="6"/>
                    </a:moveTo>
                    <a:lnTo>
                      <a:pt x="168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7" name="Freeform 74"/>
              <p:cNvSpPr>
                <a:spLocks/>
              </p:cNvSpPr>
              <p:nvPr/>
            </p:nvSpPr>
            <p:spPr bwMode="auto">
              <a:xfrm>
                <a:off x="2322" y="2478"/>
                <a:ext cx="204" cy="1"/>
              </a:xfrm>
              <a:custGeom>
                <a:avLst/>
                <a:gdLst>
                  <a:gd name="T0" fmla="*/ 204 w 204"/>
                  <a:gd name="T1" fmla="*/ 0 h 1"/>
                  <a:gd name="T2" fmla="*/ 0 w 204"/>
                  <a:gd name="T3" fmla="*/ 0 h 1"/>
                  <a:gd name="T4" fmla="*/ 0 60000 65536"/>
                  <a:gd name="T5" fmla="*/ 0 60000 65536"/>
                  <a:gd name="T6" fmla="*/ 0 w 204"/>
                  <a:gd name="T7" fmla="*/ 0 h 1"/>
                  <a:gd name="T8" fmla="*/ 204 w 204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4" h="1">
                    <a:moveTo>
                      <a:pt x="204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8" name="Freeform 75"/>
              <p:cNvSpPr>
                <a:spLocks/>
              </p:cNvSpPr>
              <p:nvPr/>
            </p:nvSpPr>
            <p:spPr bwMode="auto">
              <a:xfrm>
                <a:off x="2232" y="3288"/>
                <a:ext cx="201" cy="3"/>
              </a:xfrm>
              <a:custGeom>
                <a:avLst/>
                <a:gdLst>
                  <a:gd name="T0" fmla="*/ 201 w 201"/>
                  <a:gd name="T1" fmla="*/ 3 h 3"/>
                  <a:gd name="T2" fmla="*/ 0 w 201"/>
                  <a:gd name="T3" fmla="*/ 0 h 3"/>
                  <a:gd name="T4" fmla="*/ 0 60000 65536"/>
                  <a:gd name="T5" fmla="*/ 0 60000 65536"/>
                  <a:gd name="T6" fmla="*/ 0 w 201"/>
                  <a:gd name="T7" fmla="*/ 0 h 3"/>
                  <a:gd name="T8" fmla="*/ 201 w 201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1" h="3">
                    <a:moveTo>
                      <a:pt x="201" y="3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19" name="Freeform 76"/>
              <p:cNvSpPr>
                <a:spLocks/>
              </p:cNvSpPr>
              <p:nvPr/>
            </p:nvSpPr>
            <p:spPr bwMode="auto">
              <a:xfrm>
                <a:off x="3240" y="3294"/>
                <a:ext cx="198" cy="1"/>
              </a:xfrm>
              <a:custGeom>
                <a:avLst/>
                <a:gdLst>
                  <a:gd name="T0" fmla="*/ 198 w 198"/>
                  <a:gd name="T1" fmla="*/ 0 h 1"/>
                  <a:gd name="T2" fmla="*/ 0 w 198"/>
                  <a:gd name="T3" fmla="*/ 0 h 1"/>
                  <a:gd name="T4" fmla="*/ 0 60000 65536"/>
                  <a:gd name="T5" fmla="*/ 0 60000 65536"/>
                  <a:gd name="T6" fmla="*/ 0 w 198"/>
                  <a:gd name="T7" fmla="*/ 0 h 1"/>
                  <a:gd name="T8" fmla="*/ 198 w 19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8" h="1">
                    <a:moveTo>
                      <a:pt x="1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0" name="Freeform 77"/>
              <p:cNvSpPr>
                <a:spLocks/>
              </p:cNvSpPr>
              <p:nvPr/>
            </p:nvSpPr>
            <p:spPr bwMode="auto">
              <a:xfrm>
                <a:off x="3186" y="2475"/>
                <a:ext cx="195" cy="1"/>
              </a:xfrm>
              <a:custGeom>
                <a:avLst/>
                <a:gdLst>
                  <a:gd name="T0" fmla="*/ 195 w 195"/>
                  <a:gd name="T1" fmla="*/ 0 h 1"/>
                  <a:gd name="T2" fmla="*/ 0 w 195"/>
                  <a:gd name="T3" fmla="*/ 0 h 1"/>
                  <a:gd name="T4" fmla="*/ 0 60000 65536"/>
                  <a:gd name="T5" fmla="*/ 0 60000 65536"/>
                  <a:gd name="T6" fmla="*/ 0 w 195"/>
                  <a:gd name="T7" fmla="*/ 0 h 1"/>
                  <a:gd name="T8" fmla="*/ 195 w 195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5" h="1">
                    <a:moveTo>
                      <a:pt x="195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1" name="Freeform 78"/>
              <p:cNvSpPr>
                <a:spLocks/>
              </p:cNvSpPr>
              <p:nvPr/>
            </p:nvSpPr>
            <p:spPr bwMode="auto">
              <a:xfrm>
                <a:off x="4575" y="2859"/>
                <a:ext cx="198" cy="6"/>
              </a:xfrm>
              <a:custGeom>
                <a:avLst/>
                <a:gdLst>
                  <a:gd name="T0" fmla="*/ 198 w 198"/>
                  <a:gd name="T1" fmla="*/ 6 h 6"/>
                  <a:gd name="T2" fmla="*/ 0 w 198"/>
                  <a:gd name="T3" fmla="*/ 0 h 6"/>
                  <a:gd name="T4" fmla="*/ 0 60000 65536"/>
                  <a:gd name="T5" fmla="*/ 0 60000 65536"/>
                  <a:gd name="T6" fmla="*/ 0 w 198"/>
                  <a:gd name="T7" fmla="*/ 0 h 6"/>
                  <a:gd name="T8" fmla="*/ 198 w 19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8" h="6">
                    <a:moveTo>
                      <a:pt x="198" y="6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2" name="Freeform 79"/>
              <p:cNvSpPr>
                <a:spLocks/>
              </p:cNvSpPr>
              <p:nvPr/>
            </p:nvSpPr>
            <p:spPr bwMode="auto">
              <a:xfrm>
                <a:off x="4113" y="2859"/>
                <a:ext cx="174" cy="1"/>
              </a:xfrm>
              <a:custGeom>
                <a:avLst/>
                <a:gdLst>
                  <a:gd name="T0" fmla="*/ 0 w 174"/>
                  <a:gd name="T1" fmla="*/ 0 h 1"/>
                  <a:gd name="T2" fmla="*/ 174 w 174"/>
                  <a:gd name="T3" fmla="*/ 0 h 1"/>
                  <a:gd name="T4" fmla="*/ 0 60000 65536"/>
                  <a:gd name="T5" fmla="*/ 0 60000 65536"/>
                  <a:gd name="T6" fmla="*/ 0 w 174"/>
                  <a:gd name="T7" fmla="*/ 0 h 1"/>
                  <a:gd name="T8" fmla="*/ 174 w 174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4" h="1">
                    <a:moveTo>
                      <a:pt x="0" y="0"/>
                    </a:moveTo>
                    <a:lnTo>
                      <a:pt x="174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3" name="Freeform 80"/>
              <p:cNvSpPr>
                <a:spLocks/>
              </p:cNvSpPr>
              <p:nvPr/>
            </p:nvSpPr>
            <p:spPr bwMode="auto">
              <a:xfrm>
                <a:off x="3480" y="3054"/>
                <a:ext cx="186" cy="3"/>
              </a:xfrm>
              <a:custGeom>
                <a:avLst/>
                <a:gdLst>
                  <a:gd name="T0" fmla="*/ 0 w 186"/>
                  <a:gd name="T1" fmla="*/ 3 h 3"/>
                  <a:gd name="T2" fmla="*/ 186 w 186"/>
                  <a:gd name="T3" fmla="*/ 0 h 3"/>
                  <a:gd name="T4" fmla="*/ 0 60000 65536"/>
                  <a:gd name="T5" fmla="*/ 0 60000 65536"/>
                  <a:gd name="T6" fmla="*/ 0 w 186"/>
                  <a:gd name="T7" fmla="*/ 0 h 3"/>
                  <a:gd name="T8" fmla="*/ 186 w 186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6" h="3">
                    <a:moveTo>
                      <a:pt x="0" y="3"/>
                    </a:moveTo>
                    <a:lnTo>
                      <a:pt x="186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4" name="Freeform 81"/>
              <p:cNvSpPr>
                <a:spLocks/>
              </p:cNvSpPr>
              <p:nvPr/>
            </p:nvSpPr>
            <p:spPr bwMode="auto">
              <a:xfrm>
                <a:off x="3957" y="2238"/>
                <a:ext cx="1" cy="186"/>
              </a:xfrm>
              <a:custGeom>
                <a:avLst/>
                <a:gdLst>
                  <a:gd name="T0" fmla="*/ 0 w 1"/>
                  <a:gd name="T1" fmla="*/ 0 h 186"/>
                  <a:gd name="T2" fmla="*/ 0 w 1"/>
                  <a:gd name="T3" fmla="*/ 186 h 186"/>
                  <a:gd name="T4" fmla="*/ 0 60000 65536"/>
                  <a:gd name="T5" fmla="*/ 0 60000 65536"/>
                  <a:gd name="T6" fmla="*/ 0 w 1"/>
                  <a:gd name="T7" fmla="*/ 0 h 186"/>
                  <a:gd name="T8" fmla="*/ 1 w 1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6">
                    <a:moveTo>
                      <a:pt x="0" y="0"/>
                    </a:moveTo>
                    <a:lnTo>
                      <a:pt x="0" y="186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5" name="Line 82"/>
              <p:cNvSpPr>
                <a:spLocks noChangeShapeType="1"/>
              </p:cNvSpPr>
              <p:nvPr/>
            </p:nvSpPr>
            <p:spPr bwMode="auto">
              <a:xfrm flipH="1">
                <a:off x="4458" y="192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6" name="Text Box 83"/>
              <p:cNvSpPr txBox="1">
                <a:spLocks noChangeArrowheads="1"/>
              </p:cNvSpPr>
              <p:nvPr/>
            </p:nvSpPr>
            <p:spPr bwMode="auto">
              <a:xfrm>
                <a:off x="962" y="3264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227" name="Text Box 84"/>
              <p:cNvSpPr txBox="1">
                <a:spLocks noChangeArrowheads="1"/>
              </p:cNvSpPr>
              <p:nvPr/>
            </p:nvSpPr>
            <p:spPr bwMode="auto">
              <a:xfrm>
                <a:off x="954" y="1440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6228" name="Freeform 85"/>
              <p:cNvSpPr>
                <a:spLocks/>
              </p:cNvSpPr>
              <p:nvPr/>
            </p:nvSpPr>
            <p:spPr bwMode="auto">
              <a:xfrm>
                <a:off x="1077" y="2259"/>
                <a:ext cx="3" cy="195"/>
              </a:xfrm>
              <a:custGeom>
                <a:avLst/>
                <a:gdLst>
                  <a:gd name="T0" fmla="*/ 3 w 3"/>
                  <a:gd name="T1" fmla="*/ 195 h 195"/>
                  <a:gd name="T2" fmla="*/ 0 w 3"/>
                  <a:gd name="T3" fmla="*/ 0 h 195"/>
                  <a:gd name="T4" fmla="*/ 0 60000 65536"/>
                  <a:gd name="T5" fmla="*/ 0 60000 65536"/>
                  <a:gd name="T6" fmla="*/ 0 w 3"/>
                  <a:gd name="T7" fmla="*/ 0 h 195"/>
                  <a:gd name="T8" fmla="*/ 3 w 3"/>
                  <a:gd name="T9" fmla="*/ 195 h 1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95">
                    <a:moveTo>
                      <a:pt x="3" y="19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29" name="Text Box 86"/>
              <p:cNvSpPr txBox="1">
                <a:spLocks noChangeArrowheads="1"/>
              </p:cNvSpPr>
              <p:nvPr/>
            </p:nvSpPr>
            <p:spPr bwMode="auto">
              <a:xfrm>
                <a:off x="1338" y="2438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</a:p>
            </p:txBody>
          </p:sp>
          <p:sp>
            <p:nvSpPr>
              <p:cNvPr id="6230" name="Text Box 87"/>
              <p:cNvSpPr txBox="1">
                <a:spLocks noChangeArrowheads="1"/>
              </p:cNvSpPr>
              <p:nvPr/>
            </p:nvSpPr>
            <p:spPr bwMode="auto">
              <a:xfrm>
                <a:off x="1682" y="2294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</a:t>
                </a:r>
              </a:p>
            </p:txBody>
          </p:sp>
          <p:sp>
            <p:nvSpPr>
              <p:cNvPr id="6231" name="Text Box 88"/>
              <p:cNvSpPr txBox="1">
                <a:spLocks noChangeArrowheads="1"/>
              </p:cNvSpPr>
              <p:nvPr/>
            </p:nvSpPr>
            <p:spPr bwMode="auto">
              <a:xfrm>
                <a:off x="2402" y="320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6232" name="Text Box 89"/>
              <p:cNvSpPr txBox="1">
                <a:spLocks noChangeArrowheads="1"/>
              </p:cNvSpPr>
              <p:nvPr/>
            </p:nvSpPr>
            <p:spPr bwMode="auto">
              <a:xfrm>
                <a:off x="2498" y="2390"/>
                <a:ext cx="34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10</a:t>
                </a:r>
              </a:p>
            </p:txBody>
          </p:sp>
          <p:sp>
            <p:nvSpPr>
              <p:cNvPr id="6233" name="Text Box 90"/>
              <p:cNvSpPr txBox="1">
                <a:spLocks noChangeArrowheads="1"/>
              </p:cNvSpPr>
              <p:nvPr/>
            </p:nvSpPr>
            <p:spPr bwMode="auto">
              <a:xfrm>
                <a:off x="3354" y="2352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</a:p>
            </p:txBody>
          </p:sp>
          <p:sp>
            <p:nvSpPr>
              <p:cNvPr id="6234" name="Text Box 91"/>
              <p:cNvSpPr txBox="1">
                <a:spLocks noChangeArrowheads="1"/>
              </p:cNvSpPr>
              <p:nvPr/>
            </p:nvSpPr>
            <p:spPr bwMode="auto">
              <a:xfrm>
                <a:off x="3258" y="296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7</a:t>
                </a:r>
              </a:p>
            </p:txBody>
          </p:sp>
          <p:sp>
            <p:nvSpPr>
              <p:cNvPr id="6235" name="Text Box 92"/>
              <p:cNvSpPr txBox="1">
                <a:spLocks noChangeArrowheads="1"/>
              </p:cNvSpPr>
              <p:nvPr/>
            </p:nvSpPr>
            <p:spPr bwMode="auto">
              <a:xfrm>
                <a:off x="3410" y="320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</a:p>
            </p:txBody>
          </p:sp>
          <p:sp>
            <p:nvSpPr>
              <p:cNvPr id="6236" name="Text Box 93"/>
              <p:cNvSpPr txBox="1">
                <a:spLocks noChangeArrowheads="1"/>
              </p:cNvSpPr>
              <p:nvPr/>
            </p:nvSpPr>
            <p:spPr bwMode="auto">
              <a:xfrm>
                <a:off x="3890" y="273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6</a:t>
                </a:r>
              </a:p>
            </p:txBody>
          </p:sp>
          <p:sp>
            <p:nvSpPr>
              <p:cNvPr id="6237" name="Text Box 94"/>
              <p:cNvSpPr txBox="1">
                <a:spLocks noChangeArrowheads="1"/>
              </p:cNvSpPr>
              <p:nvPr/>
            </p:nvSpPr>
            <p:spPr bwMode="auto">
              <a:xfrm>
                <a:off x="3794" y="2016"/>
                <a:ext cx="34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12</a:t>
                </a:r>
              </a:p>
            </p:txBody>
          </p:sp>
          <p:sp>
            <p:nvSpPr>
              <p:cNvPr id="6238" name="Text Box 95"/>
              <p:cNvSpPr txBox="1">
                <a:spLocks noChangeArrowheads="1"/>
              </p:cNvSpPr>
              <p:nvPr/>
            </p:nvSpPr>
            <p:spPr bwMode="auto">
              <a:xfrm>
                <a:off x="4610" y="1824"/>
                <a:ext cx="34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11</a:t>
                </a:r>
              </a:p>
            </p:txBody>
          </p:sp>
          <p:sp>
            <p:nvSpPr>
              <p:cNvPr id="6239" name="Text Box 96"/>
              <p:cNvSpPr txBox="1">
                <a:spLocks noChangeArrowheads="1"/>
              </p:cNvSpPr>
              <p:nvPr/>
            </p:nvSpPr>
            <p:spPr bwMode="auto">
              <a:xfrm>
                <a:off x="4754" y="2774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8</a:t>
                </a:r>
              </a:p>
            </p:txBody>
          </p:sp>
          <p:sp>
            <p:nvSpPr>
              <p:cNvPr id="6240" name="Text Box 97"/>
              <p:cNvSpPr txBox="1">
                <a:spLocks noChangeArrowheads="1"/>
              </p:cNvSpPr>
              <p:nvPr/>
            </p:nvSpPr>
            <p:spPr bwMode="auto">
              <a:xfrm>
                <a:off x="2874" y="4070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控制信号</a:t>
                </a:r>
              </a:p>
            </p:txBody>
          </p:sp>
          <p:sp>
            <p:nvSpPr>
              <p:cNvPr id="6241" name="Text Box 98"/>
              <p:cNvSpPr txBox="1">
                <a:spLocks noChangeArrowheads="1"/>
              </p:cNvSpPr>
              <p:nvPr/>
            </p:nvSpPr>
            <p:spPr bwMode="auto">
              <a:xfrm>
                <a:off x="3642" y="3598"/>
                <a:ext cx="101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标志</a:t>
                </a:r>
              </a:p>
            </p:txBody>
          </p:sp>
          <p:sp>
            <p:nvSpPr>
              <p:cNvPr id="6242" name="Text Box 99"/>
              <p:cNvSpPr txBox="1">
                <a:spLocks noChangeArrowheads="1"/>
              </p:cNvSpPr>
              <p:nvPr/>
            </p:nvSpPr>
            <p:spPr bwMode="auto">
              <a:xfrm>
                <a:off x="4986" y="3118"/>
                <a:ext cx="438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控制</a:t>
                </a:r>
              </a:p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信号</a:t>
                </a:r>
              </a:p>
            </p:txBody>
          </p:sp>
        </p:grpSp>
        <p:sp>
          <p:nvSpPr>
            <p:cNvPr id="6152" name="Text Box 100"/>
            <p:cNvSpPr txBox="1">
              <a:spLocks noChangeArrowheads="1"/>
            </p:cNvSpPr>
            <p:nvPr/>
          </p:nvSpPr>
          <p:spPr bwMode="auto">
            <a:xfrm>
              <a:off x="1240" y="1743"/>
              <a:ext cx="297" cy="671"/>
            </a:xfrm>
            <a:prstGeom prst="rect">
              <a:avLst/>
            </a:prstGeom>
            <a:solidFill>
              <a:srgbClr val="0000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lIns="414000"/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kumimoji="1"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M D R</a:t>
              </a:r>
            </a:p>
          </p:txBody>
        </p:sp>
        <p:sp>
          <p:nvSpPr>
            <p:cNvPr id="6153" name="Text Box 101"/>
            <p:cNvSpPr txBox="1">
              <a:spLocks noChangeArrowheads="1"/>
            </p:cNvSpPr>
            <p:nvPr/>
          </p:nvSpPr>
          <p:spPr bwMode="auto">
            <a:xfrm>
              <a:off x="1238" y="3375"/>
              <a:ext cx="297" cy="671"/>
            </a:xfrm>
            <a:prstGeom prst="rect">
              <a:avLst/>
            </a:prstGeom>
            <a:solidFill>
              <a:srgbClr val="0000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lIns="414000"/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kumimoji="1"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M A R</a:t>
              </a:r>
            </a:p>
          </p:txBody>
        </p:sp>
      </p:grpSp>
      <p:sp>
        <p:nvSpPr>
          <p:cNvPr id="6149" name="Rectangle 102"/>
          <p:cNvSpPr>
            <a:spLocks noChangeArrowheads="1"/>
          </p:cNvSpPr>
          <p:nvPr/>
        </p:nvSpPr>
        <p:spPr bwMode="auto">
          <a:xfrm>
            <a:off x="838200" y="395288"/>
            <a:ext cx="64770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8.3 </a:t>
            </a:r>
            <a:r>
              <a:rPr lang="zh-CN" altLang="en-US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组合逻辑设计 </a:t>
            </a:r>
            <a:r>
              <a:rPr lang="en-US" altLang="zh-CN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微操作的节拍安排</a:t>
            </a:r>
          </a:p>
        </p:txBody>
      </p:sp>
      <p:sp>
        <p:nvSpPr>
          <p:cNvPr id="98" name="矩形 97"/>
          <p:cNvSpPr/>
          <p:nvPr/>
        </p:nvSpPr>
        <p:spPr>
          <a:xfrm>
            <a:off x="0" y="150813"/>
            <a:ext cx="9144000" cy="17541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ADD   @ X   </a:t>
            </a:r>
          </a:p>
          <a:p>
            <a:pPr algn="l">
              <a:defRPr/>
            </a:pP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defRPr/>
            </a:pP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取指周期的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发送顺序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C0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、读、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C3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C4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defRPr/>
            </a:pPr>
            <a:r>
              <a:rPr kumimoji="1"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间址周期的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发送顺序：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C5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、读、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C3</a:t>
            </a:r>
          </a:p>
          <a:p>
            <a:pPr algn="l">
              <a:defRPr/>
            </a:pPr>
            <a:r>
              <a:rPr kumimoji="1"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执行周期的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发送顺序：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C5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、读、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C67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、加、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C8</a:t>
            </a:r>
          </a:p>
          <a:p>
            <a:pPr algn="l">
              <a:defRPr/>
            </a:pP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8"/>
          <p:cNvSpPr>
            <a:spLocks noChangeArrowheads="1"/>
          </p:cNvSpPr>
          <p:nvPr/>
        </p:nvSpPr>
        <p:spPr bwMode="auto">
          <a:xfrm>
            <a:off x="838200" y="381000"/>
            <a:ext cx="6096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Review: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</a:p>
        </p:txBody>
      </p:sp>
      <p:grpSp>
        <p:nvGrpSpPr>
          <p:cNvPr id="7171" name="Group 90"/>
          <p:cNvGrpSpPr>
            <a:grpSpLocks/>
          </p:cNvGrpSpPr>
          <p:nvPr/>
        </p:nvGrpSpPr>
        <p:grpSpPr bwMode="auto">
          <a:xfrm>
            <a:off x="152400" y="1828800"/>
            <a:ext cx="8915400" cy="4286250"/>
            <a:chOff x="288" y="1200"/>
            <a:chExt cx="5328" cy="2700"/>
          </a:xfrm>
        </p:grpSpPr>
        <p:sp>
          <p:nvSpPr>
            <p:cNvPr id="7227" name="Rectangle 91"/>
            <p:cNvSpPr>
              <a:spLocks noChangeArrowheads="1"/>
            </p:cNvSpPr>
            <p:nvPr/>
          </p:nvSpPr>
          <p:spPr bwMode="auto">
            <a:xfrm>
              <a:off x="1176" y="2841"/>
              <a:ext cx="444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endParaRPr lang="zh-CN" altLang="zh-CN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28" name="Rectangle 92"/>
            <p:cNvSpPr>
              <a:spLocks noChangeArrowheads="1"/>
            </p:cNvSpPr>
            <p:nvPr/>
          </p:nvSpPr>
          <p:spPr bwMode="auto">
            <a:xfrm>
              <a:off x="742" y="2841"/>
              <a:ext cx="434" cy="1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  <a:r>
                <a:rPr lang="en-US" altLang="zh-CN" sz="2000" baseline="-250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7229" name="Rectangle 93"/>
            <p:cNvSpPr>
              <a:spLocks noChangeArrowheads="1"/>
            </p:cNvSpPr>
            <p:nvPr/>
          </p:nvSpPr>
          <p:spPr bwMode="auto">
            <a:xfrm>
              <a:off x="742" y="2331"/>
              <a:ext cx="434" cy="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  <a:r>
                <a:rPr lang="en-US" altLang="zh-CN" sz="2000" baseline="-250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30" name="Rectangle 94"/>
            <p:cNvSpPr>
              <a:spLocks noChangeArrowheads="1"/>
            </p:cNvSpPr>
            <p:nvPr/>
          </p:nvSpPr>
          <p:spPr bwMode="auto">
            <a:xfrm>
              <a:off x="742" y="1833"/>
              <a:ext cx="434" cy="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  <a:r>
                <a:rPr lang="en-US" altLang="zh-CN" sz="2000" baseline="-250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7231" name="Rectangle 95"/>
            <p:cNvSpPr>
              <a:spLocks noChangeArrowheads="1"/>
            </p:cNvSpPr>
            <p:nvPr/>
          </p:nvSpPr>
          <p:spPr bwMode="auto">
            <a:xfrm>
              <a:off x="288" y="1833"/>
              <a:ext cx="454" cy="2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FE</a:t>
              </a:r>
            </a:p>
            <a:p>
              <a:pPr algn="l">
                <a:spcBef>
                  <a:spcPct val="2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取指 </a:t>
              </a:r>
            </a:p>
          </p:txBody>
        </p:sp>
        <p:sp>
          <p:nvSpPr>
            <p:cNvPr id="7232" name="Rectangle 96"/>
            <p:cNvSpPr>
              <a:spLocks noChangeArrowheads="1"/>
            </p:cNvSpPr>
            <p:nvPr/>
          </p:nvSpPr>
          <p:spPr bwMode="auto">
            <a:xfrm>
              <a:off x="5172" y="1200"/>
              <a:ext cx="444" cy="633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JMP</a:t>
              </a:r>
            </a:p>
          </p:txBody>
        </p:sp>
        <p:sp>
          <p:nvSpPr>
            <p:cNvPr id="7233" name="Rectangle 97"/>
            <p:cNvSpPr>
              <a:spLocks noChangeArrowheads="1"/>
            </p:cNvSpPr>
            <p:nvPr/>
          </p:nvSpPr>
          <p:spPr bwMode="auto">
            <a:xfrm>
              <a:off x="4728" y="1200"/>
              <a:ext cx="444" cy="633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LDA</a:t>
              </a:r>
            </a:p>
          </p:txBody>
        </p:sp>
        <p:sp>
          <p:nvSpPr>
            <p:cNvPr id="7234" name="Rectangle 98"/>
            <p:cNvSpPr>
              <a:spLocks noChangeArrowheads="1"/>
            </p:cNvSpPr>
            <p:nvPr/>
          </p:nvSpPr>
          <p:spPr bwMode="auto">
            <a:xfrm>
              <a:off x="4284" y="1200"/>
              <a:ext cx="444" cy="633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STA</a:t>
              </a:r>
            </a:p>
          </p:txBody>
        </p:sp>
        <p:sp>
          <p:nvSpPr>
            <p:cNvPr id="7235" name="Rectangle 99"/>
            <p:cNvSpPr>
              <a:spLocks noChangeArrowheads="1"/>
            </p:cNvSpPr>
            <p:nvPr/>
          </p:nvSpPr>
          <p:spPr bwMode="auto">
            <a:xfrm>
              <a:off x="3840" y="1200"/>
              <a:ext cx="444" cy="633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ADD</a:t>
              </a:r>
            </a:p>
          </p:txBody>
        </p:sp>
        <p:sp>
          <p:nvSpPr>
            <p:cNvPr id="7236" name="Rectangle 100"/>
            <p:cNvSpPr>
              <a:spLocks noChangeArrowheads="1"/>
            </p:cNvSpPr>
            <p:nvPr/>
          </p:nvSpPr>
          <p:spPr bwMode="auto">
            <a:xfrm>
              <a:off x="3396" y="1200"/>
              <a:ext cx="444" cy="633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COM</a:t>
              </a:r>
            </a:p>
          </p:txBody>
        </p:sp>
        <p:sp>
          <p:nvSpPr>
            <p:cNvPr id="7237" name="Rectangle 101"/>
            <p:cNvSpPr>
              <a:spLocks noChangeArrowheads="1"/>
            </p:cNvSpPr>
            <p:nvPr/>
          </p:nvSpPr>
          <p:spPr bwMode="auto">
            <a:xfrm>
              <a:off x="2952" y="1200"/>
              <a:ext cx="444" cy="633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CLA</a:t>
              </a:r>
            </a:p>
          </p:txBody>
        </p:sp>
        <p:sp>
          <p:nvSpPr>
            <p:cNvPr id="7238" name="Rectangle 102"/>
            <p:cNvSpPr>
              <a:spLocks noChangeArrowheads="1"/>
            </p:cNvSpPr>
            <p:nvPr/>
          </p:nvSpPr>
          <p:spPr bwMode="auto">
            <a:xfrm>
              <a:off x="1620" y="1200"/>
              <a:ext cx="1332" cy="633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微操作命令信号</a:t>
              </a:r>
            </a:p>
          </p:txBody>
        </p:sp>
        <p:sp>
          <p:nvSpPr>
            <p:cNvPr id="7239" name="Rectangle 103"/>
            <p:cNvSpPr>
              <a:spLocks noChangeArrowheads="1"/>
            </p:cNvSpPr>
            <p:nvPr/>
          </p:nvSpPr>
          <p:spPr bwMode="auto">
            <a:xfrm>
              <a:off x="1176" y="1200"/>
              <a:ext cx="444" cy="633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状态条件</a:t>
              </a:r>
            </a:p>
          </p:txBody>
        </p:sp>
        <p:sp>
          <p:nvSpPr>
            <p:cNvPr id="7240" name="Rectangle 104"/>
            <p:cNvSpPr>
              <a:spLocks noChangeArrowheads="1"/>
            </p:cNvSpPr>
            <p:nvPr/>
          </p:nvSpPr>
          <p:spPr bwMode="auto">
            <a:xfrm>
              <a:off x="742" y="1200"/>
              <a:ext cx="434" cy="633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节拍</a:t>
              </a:r>
            </a:p>
          </p:txBody>
        </p:sp>
        <p:sp>
          <p:nvSpPr>
            <p:cNvPr id="7241" name="Rectangle 105"/>
            <p:cNvSpPr>
              <a:spLocks noChangeArrowheads="1"/>
            </p:cNvSpPr>
            <p:nvPr/>
          </p:nvSpPr>
          <p:spPr bwMode="auto">
            <a:xfrm>
              <a:off x="288" y="1200"/>
              <a:ext cx="454" cy="633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</p:spPr>
          <p:txBody>
            <a:bodyPr lIns="19050" rIns="19050" anchor="ctr" anchorCtr="1"/>
            <a:lstStyle/>
            <a:p>
              <a:pPr algn="l">
                <a:spcBef>
                  <a:spcPct val="2000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工作周期标记</a:t>
              </a:r>
            </a:p>
          </p:txBody>
        </p:sp>
        <p:grpSp>
          <p:nvGrpSpPr>
            <p:cNvPr id="7242" name="Group 106"/>
            <p:cNvGrpSpPr>
              <a:grpSpLocks/>
            </p:cNvGrpSpPr>
            <p:nvPr/>
          </p:nvGrpSpPr>
          <p:grpSpPr bwMode="auto">
            <a:xfrm>
              <a:off x="288" y="1200"/>
              <a:ext cx="5328" cy="2679"/>
              <a:chOff x="288" y="1440"/>
              <a:chExt cx="5328" cy="2679"/>
            </a:xfrm>
          </p:grpSpPr>
          <p:sp>
            <p:nvSpPr>
              <p:cNvPr id="7280" name="Line 107"/>
              <p:cNvSpPr>
                <a:spLocks noChangeShapeType="1"/>
              </p:cNvSpPr>
              <p:nvPr/>
            </p:nvSpPr>
            <p:spPr bwMode="auto">
              <a:xfrm>
                <a:off x="3840" y="1440"/>
                <a:ext cx="4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19050" rIns="19050" anchor="ctr" anchorCtr="1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7281" name="Group 108"/>
              <p:cNvGrpSpPr>
                <a:grpSpLocks/>
              </p:cNvGrpSpPr>
              <p:nvPr/>
            </p:nvGrpSpPr>
            <p:grpSpPr bwMode="auto">
              <a:xfrm>
                <a:off x="288" y="1440"/>
                <a:ext cx="5328" cy="2679"/>
                <a:chOff x="288" y="1440"/>
                <a:chExt cx="5328" cy="2679"/>
              </a:xfrm>
            </p:grpSpPr>
            <p:sp>
              <p:nvSpPr>
                <p:cNvPr id="7282" name="Line 109"/>
                <p:cNvSpPr>
                  <a:spLocks noChangeShapeType="1"/>
                </p:cNvSpPr>
                <p:nvPr/>
              </p:nvSpPr>
              <p:spPr bwMode="auto">
                <a:xfrm>
                  <a:off x="288" y="2073"/>
                  <a:ext cx="532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83" name="Line 110"/>
                <p:cNvSpPr>
                  <a:spLocks noChangeShapeType="1"/>
                </p:cNvSpPr>
                <p:nvPr/>
              </p:nvSpPr>
              <p:spPr bwMode="auto">
                <a:xfrm>
                  <a:off x="288" y="4119"/>
                  <a:ext cx="532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84" name="Line 111"/>
                <p:cNvSpPr>
                  <a:spLocks noChangeShapeType="1"/>
                </p:cNvSpPr>
                <p:nvPr/>
              </p:nvSpPr>
              <p:spPr bwMode="auto">
                <a:xfrm>
                  <a:off x="288" y="1440"/>
                  <a:ext cx="0" cy="267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85" name="Line 112"/>
                <p:cNvSpPr>
                  <a:spLocks noChangeShapeType="1"/>
                </p:cNvSpPr>
                <p:nvPr/>
              </p:nvSpPr>
              <p:spPr bwMode="auto">
                <a:xfrm>
                  <a:off x="742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86" name="Line 113"/>
                <p:cNvSpPr>
                  <a:spLocks noChangeShapeType="1"/>
                </p:cNvSpPr>
                <p:nvPr/>
              </p:nvSpPr>
              <p:spPr bwMode="auto">
                <a:xfrm>
                  <a:off x="1176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87" name="Line 114"/>
                <p:cNvSpPr>
                  <a:spLocks noChangeShapeType="1"/>
                </p:cNvSpPr>
                <p:nvPr/>
              </p:nvSpPr>
              <p:spPr bwMode="auto">
                <a:xfrm>
                  <a:off x="1620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88" name="Line 115"/>
                <p:cNvSpPr>
                  <a:spLocks noChangeShapeType="1"/>
                </p:cNvSpPr>
                <p:nvPr/>
              </p:nvSpPr>
              <p:spPr bwMode="auto">
                <a:xfrm>
                  <a:off x="2952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89" name="Line 116"/>
                <p:cNvSpPr>
                  <a:spLocks noChangeShapeType="1"/>
                </p:cNvSpPr>
                <p:nvPr/>
              </p:nvSpPr>
              <p:spPr bwMode="auto">
                <a:xfrm>
                  <a:off x="3396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90" name="Line 117"/>
                <p:cNvSpPr>
                  <a:spLocks noChangeShapeType="1"/>
                </p:cNvSpPr>
                <p:nvPr/>
              </p:nvSpPr>
              <p:spPr bwMode="auto">
                <a:xfrm>
                  <a:off x="3840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91" name="Line 118"/>
                <p:cNvSpPr>
                  <a:spLocks noChangeShapeType="1"/>
                </p:cNvSpPr>
                <p:nvPr/>
              </p:nvSpPr>
              <p:spPr bwMode="auto">
                <a:xfrm>
                  <a:off x="4284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92" name="Line 119"/>
                <p:cNvSpPr>
                  <a:spLocks noChangeShapeType="1"/>
                </p:cNvSpPr>
                <p:nvPr/>
              </p:nvSpPr>
              <p:spPr bwMode="auto">
                <a:xfrm>
                  <a:off x="4728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93" name="Line 120"/>
                <p:cNvSpPr>
                  <a:spLocks noChangeShapeType="1"/>
                </p:cNvSpPr>
                <p:nvPr/>
              </p:nvSpPr>
              <p:spPr bwMode="auto">
                <a:xfrm>
                  <a:off x="5172" y="1440"/>
                  <a:ext cx="0" cy="267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94" name="Line 121"/>
                <p:cNvSpPr>
                  <a:spLocks noChangeShapeType="1"/>
                </p:cNvSpPr>
                <p:nvPr/>
              </p:nvSpPr>
              <p:spPr bwMode="auto">
                <a:xfrm>
                  <a:off x="5616" y="1440"/>
                  <a:ext cx="0" cy="2679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lIns="19050" rIns="19050" anchor="ctr" anchorCtr="1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7295" name="Group 122"/>
                <p:cNvGrpSpPr>
                  <a:grpSpLocks/>
                </p:cNvGrpSpPr>
                <p:nvPr/>
              </p:nvGrpSpPr>
              <p:grpSpPr bwMode="auto">
                <a:xfrm>
                  <a:off x="288" y="1440"/>
                  <a:ext cx="5328" cy="0"/>
                  <a:chOff x="288" y="1440"/>
                  <a:chExt cx="5328" cy="0"/>
                </a:xfrm>
              </p:grpSpPr>
              <p:sp>
                <p:nvSpPr>
                  <p:cNvPr id="7296" name="Line 12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440"/>
                    <a:ext cx="3552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lIns="19050" rIns="19050" anchor="ctr" anchorCtr="1"/>
                  <a:lstStyle/>
                  <a:p>
                    <a:endParaRPr lang="zh-CN" altLang="en-US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7297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4284" y="1440"/>
                    <a:ext cx="1332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lIns="19050" rIns="19050" anchor="ctr" anchorCtr="1"/>
                  <a:lstStyle/>
                  <a:p>
                    <a:endParaRPr lang="zh-CN" altLang="en-US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</p:grpSp>
        </p:grpSp>
        <p:sp>
          <p:nvSpPr>
            <p:cNvPr id="7243" name="Line 125"/>
            <p:cNvSpPr>
              <a:spLocks noChangeShapeType="1"/>
            </p:cNvSpPr>
            <p:nvPr/>
          </p:nvSpPr>
          <p:spPr bwMode="auto">
            <a:xfrm>
              <a:off x="1620" y="2082"/>
              <a:ext cx="39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9050" rIns="19050" anchor="ctr" anchorCtr="1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4" name="Line 126"/>
            <p:cNvSpPr>
              <a:spLocks noChangeShapeType="1"/>
            </p:cNvSpPr>
            <p:nvPr/>
          </p:nvSpPr>
          <p:spPr bwMode="auto">
            <a:xfrm>
              <a:off x="1620" y="2592"/>
              <a:ext cx="39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9050" rIns="19050" anchor="ctr" anchorCtr="1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5" name="Line 127"/>
            <p:cNvSpPr>
              <a:spLocks noChangeShapeType="1"/>
            </p:cNvSpPr>
            <p:nvPr/>
          </p:nvSpPr>
          <p:spPr bwMode="auto">
            <a:xfrm>
              <a:off x="1620" y="3120"/>
              <a:ext cx="39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9050" rIns="19050" anchor="ctr" anchorCtr="1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6" name="Line 128"/>
            <p:cNvSpPr>
              <a:spLocks noChangeShapeType="1"/>
            </p:cNvSpPr>
            <p:nvPr/>
          </p:nvSpPr>
          <p:spPr bwMode="auto">
            <a:xfrm>
              <a:off x="1176" y="3381"/>
              <a:ext cx="4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9050" rIns="19050" anchor="ctr" anchorCtr="1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7" name="Line 129"/>
            <p:cNvSpPr>
              <a:spLocks noChangeShapeType="1"/>
            </p:cNvSpPr>
            <p:nvPr/>
          </p:nvSpPr>
          <p:spPr bwMode="auto">
            <a:xfrm>
              <a:off x="742" y="2841"/>
              <a:ext cx="48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9050" rIns="19050" anchor="ctr" anchorCtr="1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8" name="Line 130"/>
            <p:cNvSpPr>
              <a:spLocks noChangeShapeType="1"/>
            </p:cNvSpPr>
            <p:nvPr/>
          </p:nvSpPr>
          <p:spPr bwMode="auto">
            <a:xfrm>
              <a:off x="742" y="2331"/>
              <a:ext cx="48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19050" rIns="19050" anchor="ctr" anchorCtr="1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249" name="Group 131"/>
            <p:cNvGrpSpPr>
              <a:grpSpLocks/>
            </p:cNvGrpSpPr>
            <p:nvPr/>
          </p:nvGrpSpPr>
          <p:grpSpPr bwMode="auto">
            <a:xfrm>
              <a:off x="1620" y="1833"/>
              <a:ext cx="1332" cy="249"/>
              <a:chOff x="1620" y="2073"/>
              <a:chExt cx="1332" cy="249"/>
            </a:xfrm>
          </p:grpSpPr>
          <p:sp>
            <p:nvSpPr>
              <p:cNvPr id="7278" name="Rectangle 132"/>
              <p:cNvSpPr>
                <a:spLocks noChangeArrowheads="1"/>
              </p:cNvSpPr>
              <p:nvPr/>
            </p:nvSpPr>
            <p:spPr bwMode="auto">
              <a:xfrm>
                <a:off x="1620" y="2073"/>
                <a:ext cx="133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PC      MAR</a:t>
                </a:r>
              </a:p>
            </p:txBody>
          </p:sp>
          <p:sp>
            <p:nvSpPr>
              <p:cNvPr id="7279" name="Line 133"/>
              <p:cNvSpPr>
                <a:spLocks noChangeShapeType="1"/>
              </p:cNvSpPr>
              <p:nvPr/>
            </p:nvSpPr>
            <p:spPr bwMode="auto">
              <a:xfrm>
                <a:off x="2112" y="2208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0" name="Group 134"/>
            <p:cNvGrpSpPr>
              <a:grpSpLocks/>
            </p:cNvGrpSpPr>
            <p:nvPr/>
          </p:nvGrpSpPr>
          <p:grpSpPr bwMode="auto">
            <a:xfrm>
              <a:off x="1620" y="2082"/>
              <a:ext cx="1332" cy="249"/>
              <a:chOff x="1620" y="2322"/>
              <a:chExt cx="1332" cy="249"/>
            </a:xfrm>
          </p:grpSpPr>
          <p:sp>
            <p:nvSpPr>
              <p:cNvPr id="7276" name="Rectangle 135"/>
              <p:cNvSpPr>
                <a:spLocks noChangeArrowheads="1"/>
              </p:cNvSpPr>
              <p:nvPr/>
            </p:nvSpPr>
            <p:spPr bwMode="auto"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      R</a:t>
                </a:r>
              </a:p>
            </p:txBody>
          </p:sp>
          <p:sp>
            <p:nvSpPr>
              <p:cNvPr id="7277" name="Line 136"/>
              <p:cNvSpPr>
                <a:spLocks noChangeShapeType="1"/>
              </p:cNvSpPr>
              <p:nvPr/>
            </p:nvSpPr>
            <p:spPr bwMode="auto">
              <a:xfrm>
                <a:off x="2160" y="2448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1" name="Group 137"/>
            <p:cNvGrpSpPr>
              <a:grpSpLocks/>
            </p:cNvGrpSpPr>
            <p:nvPr/>
          </p:nvGrpSpPr>
          <p:grpSpPr bwMode="auto">
            <a:xfrm>
              <a:off x="1620" y="2331"/>
              <a:ext cx="1332" cy="261"/>
              <a:chOff x="1620" y="2571"/>
              <a:chExt cx="1332" cy="261"/>
            </a:xfrm>
          </p:grpSpPr>
          <p:sp>
            <p:nvSpPr>
              <p:cNvPr id="7274" name="Rectangle 138"/>
              <p:cNvSpPr>
                <a:spLocks noChangeArrowheads="1"/>
              </p:cNvSpPr>
              <p:nvPr/>
            </p:nvSpPr>
            <p:spPr bwMode="auto">
              <a:xfrm>
                <a:off x="1620" y="2571"/>
                <a:ext cx="1332" cy="2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M(MAR)      MDR</a:t>
                </a: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</a:t>
                </a:r>
              </a:p>
            </p:txBody>
          </p:sp>
          <p:sp>
            <p:nvSpPr>
              <p:cNvPr id="7275" name="Line 139"/>
              <p:cNvSpPr>
                <a:spLocks noChangeShapeType="1"/>
              </p:cNvSpPr>
              <p:nvPr/>
            </p:nvSpPr>
            <p:spPr bwMode="auto">
              <a:xfrm>
                <a:off x="2304" y="2713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2" name="Group 140"/>
            <p:cNvGrpSpPr>
              <a:grpSpLocks/>
            </p:cNvGrpSpPr>
            <p:nvPr/>
          </p:nvGrpSpPr>
          <p:grpSpPr bwMode="auto">
            <a:xfrm>
              <a:off x="1620" y="2592"/>
              <a:ext cx="1332" cy="249"/>
              <a:chOff x="1620" y="2832"/>
              <a:chExt cx="1332" cy="249"/>
            </a:xfrm>
          </p:grpSpPr>
          <p:sp>
            <p:nvSpPr>
              <p:cNvPr id="7272" name="Rectangle 141"/>
              <p:cNvSpPr>
                <a:spLocks noChangeArrowheads="1"/>
              </p:cNvSpPr>
              <p:nvPr/>
            </p:nvSpPr>
            <p:spPr bwMode="auto">
              <a:xfrm>
                <a:off x="1620" y="2832"/>
                <a:ext cx="133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( PC ) +1      PC</a:t>
                </a:r>
              </a:p>
            </p:txBody>
          </p:sp>
          <p:sp>
            <p:nvSpPr>
              <p:cNvPr id="7273" name="Line 142"/>
              <p:cNvSpPr>
                <a:spLocks noChangeShapeType="1"/>
              </p:cNvSpPr>
              <p:nvPr/>
            </p:nvSpPr>
            <p:spPr bwMode="auto">
              <a:xfrm>
                <a:off x="2354" y="2951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3" name="Group 143"/>
            <p:cNvGrpSpPr>
              <a:grpSpLocks/>
            </p:cNvGrpSpPr>
            <p:nvPr/>
          </p:nvGrpSpPr>
          <p:grpSpPr bwMode="auto">
            <a:xfrm>
              <a:off x="1620" y="2841"/>
              <a:ext cx="1332" cy="291"/>
              <a:chOff x="1620" y="3081"/>
              <a:chExt cx="1332" cy="291"/>
            </a:xfrm>
          </p:grpSpPr>
          <p:sp>
            <p:nvSpPr>
              <p:cNvPr id="7270" name="Rectangle 144"/>
              <p:cNvSpPr>
                <a:spLocks noChangeArrowheads="1"/>
              </p:cNvSpPr>
              <p:nvPr/>
            </p:nvSpPr>
            <p:spPr bwMode="auto">
              <a:xfrm>
                <a:off x="1620" y="3081"/>
                <a:ext cx="133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MDR      IR</a:t>
                </a:r>
              </a:p>
            </p:txBody>
          </p:sp>
          <p:sp>
            <p:nvSpPr>
              <p:cNvPr id="7271" name="Line 145"/>
              <p:cNvSpPr>
                <a:spLocks noChangeShapeType="1"/>
              </p:cNvSpPr>
              <p:nvPr/>
            </p:nvSpPr>
            <p:spPr bwMode="auto">
              <a:xfrm>
                <a:off x="2278" y="3239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4" name="Group 146"/>
            <p:cNvGrpSpPr>
              <a:grpSpLocks/>
            </p:cNvGrpSpPr>
            <p:nvPr/>
          </p:nvGrpSpPr>
          <p:grpSpPr bwMode="auto">
            <a:xfrm>
              <a:off x="1620" y="3132"/>
              <a:ext cx="1332" cy="249"/>
              <a:chOff x="1620" y="3372"/>
              <a:chExt cx="1332" cy="249"/>
            </a:xfrm>
          </p:grpSpPr>
          <p:sp>
            <p:nvSpPr>
              <p:cNvPr id="7268" name="Rectangle 147"/>
              <p:cNvSpPr>
                <a:spLocks noChangeArrowheads="1"/>
              </p:cNvSpPr>
              <p:nvPr/>
            </p:nvSpPr>
            <p:spPr bwMode="auto">
              <a:xfrm>
                <a:off x="1620" y="3372"/>
                <a:ext cx="133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OP( IR )      ID</a:t>
                </a:r>
              </a:p>
            </p:txBody>
          </p:sp>
          <p:sp>
            <p:nvSpPr>
              <p:cNvPr id="7269" name="Line 148"/>
              <p:cNvSpPr>
                <a:spLocks noChangeShapeType="1"/>
              </p:cNvSpPr>
              <p:nvPr/>
            </p:nvSpPr>
            <p:spPr bwMode="auto">
              <a:xfrm>
                <a:off x="2375" y="3504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5" name="Group 149"/>
            <p:cNvGrpSpPr>
              <a:grpSpLocks/>
            </p:cNvGrpSpPr>
            <p:nvPr/>
          </p:nvGrpSpPr>
          <p:grpSpPr bwMode="auto">
            <a:xfrm>
              <a:off x="1620" y="3381"/>
              <a:ext cx="1332" cy="249"/>
              <a:chOff x="1620" y="3621"/>
              <a:chExt cx="1332" cy="249"/>
            </a:xfrm>
          </p:grpSpPr>
          <p:sp>
            <p:nvSpPr>
              <p:cNvPr id="7266" name="Rectangle 150"/>
              <p:cNvSpPr>
                <a:spLocks noChangeArrowheads="1"/>
              </p:cNvSpPr>
              <p:nvPr/>
            </p:nvSpPr>
            <p:spPr bwMode="auto">
              <a:xfrm>
                <a:off x="1620" y="3621"/>
                <a:ext cx="133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008000"/>
                    </a:solidFill>
                    <a:latin typeface="微软雅黑" pitchFamily="34" charset="-122"/>
                    <a:ea typeface="微软雅黑" pitchFamily="34" charset="-122"/>
                  </a:rPr>
                  <a:t>1      IND</a:t>
                </a:r>
              </a:p>
            </p:txBody>
          </p:sp>
          <p:sp>
            <p:nvSpPr>
              <p:cNvPr id="7267" name="Line 151"/>
              <p:cNvSpPr>
                <a:spLocks noChangeShapeType="1"/>
              </p:cNvSpPr>
              <p:nvPr/>
            </p:nvSpPr>
            <p:spPr bwMode="auto">
              <a:xfrm>
                <a:off x="2064" y="3744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6" name="Group 152"/>
            <p:cNvGrpSpPr>
              <a:grpSpLocks/>
            </p:cNvGrpSpPr>
            <p:nvPr/>
          </p:nvGrpSpPr>
          <p:grpSpPr bwMode="auto">
            <a:xfrm>
              <a:off x="1620" y="3630"/>
              <a:ext cx="1332" cy="249"/>
              <a:chOff x="1620" y="3870"/>
              <a:chExt cx="1332" cy="249"/>
            </a:xfrm>
          </p:grpSpPr>
          <p:sp>
            <p:nvSpPr>
              <p:cNvPr id="7264" name="Rectangle 153"/>
              <p:cNvSpPr>
                <a:spLocks noChangeArrowheads="1"/>
              </p:cNvSpPr>
              <p:nvPr/>
            </p:nvSpPr>
            <p:spPr bwMode="auto">
              <a:xfrm>
                <a:off x="1620" y="3870"/>
                <a:ext cx="133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9050" rIns="19050" anchor="ctr" anchorCtr="1"/>
              <a:lstStyle/>
              <a:p>
                <a:pPr algn="l">
                  <a:spcBef>
                    <a:spcPct val="20000"/>
                  </a:spcBef>
                </a:pPr>
                <a:r>
                  <a:rPr lang="en-US" altLang="zh-CN" sz="2000">
                    <a:solidFill>
                      <a:srgbClr val="008000"/>
                    </a:solidFill>
                    <a:latin typeface="微软雅黑" pitchFamily="34" charset="-122"/>
                    <a:ea typeface="微软雅黑" pitchFamily="34" charset="-122"/>
                  </a:rPr>
                  <a:t>1      EX</a:t>
                </a:r>
              </a:p>
            </p:txBody>
          </p:sp>
          <p:sp>
            <p:nvSpPr>
              <p:cNvPr id="7265" name="Line 154"/>
              <p:cNvSpPr>
                <a:spLocks noChangeShapeType="1"/>
              </p:cNvSpPr>
              <p:nvPr/>
            </p:nvSpPr>
            <p:spPr bwMode="auto">
              <a:xfrm>
                <a:off x="2112" y="4005"/>
                <a:ext cx="1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257" name="Group 155"/>
            <p:cNvGrpSpPr>
              <a:grpSpLocks/>
            </p:cNvGrpSpPr>
            <p:nvPr/>
          </p:nvGrpSpPr>
          <p:grpSpPr bwMode="auto">
            <a:xfrm>
              <a:off x="1176" y="3630"/>
              <a:ext cx="4440" cy="0"/>
              <a:chOff x="1176" y="3870"/>
              <a:chExt cx="4440" cy="0"/>
            </a:xfrm>
          </p:grpSpPr>
          <p:sp>
            <p:nvSpPr>
              <p:cNvPr id="7262" name="Line 156"/>
              <p:cNvSpPr>
                <a:spLocks noChangeShapeType="1"/>
              </p:cNvSpPr>
              <p:nvPr/>
            </p:nvSpPr>
            <p:spPr bwMode="auto">
              <a:xfrm>
                <a:off x="1620" y="3870"/>
                <a:ext cx="39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19050" rIns="19050" anchor="ctr" anchorCtr="1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263" name="Line 157"/>
              <p:cNvSpPr>
                <a:spLocks noChangeShapeType="1"/>
              </p:cNvSpPr>
              <p:nvPr/>
            </p:nvSpPr>
            <p:spPr bwMode="auto">
              <a:xfrm flipH="1">
                <a:off x="1176" y="3870"/>
                <a:ext cx="4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7258" name="Text Box 158"/>
            <p:cNvSpPr txBox="1">
              <a:spLocks noChangeArrowheads="1"/>
            </p:cNvSpPr>
            <p:nvPr/>
          </p:nvSpPr>
          <p:spPr bwMode="auto">
            <a:xfrm>
              <a:off x="1310" y="3398"/>
              <a:ext cx="1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solidFill>
                    <a:srgbClr val="008000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</a:p>
          </p:txBody>
        </p:sp>
        <p:grpSp>
          <p:nvGrpSpPr>
            <p:cNvPr id="7259" name="Group 159"/>
            <p:cNvGrpSpPr>
              <a:grpSpLocks/>
            </p:cNvGrpSpPr>
            <p:nvPr/>
          </p:nvGrpSpPr>
          <p:grpSpPr bwMode="auto">
            <a:xfrm>
              <a:off x="1310" y="3648"/>
              <a:ext cx="162" cy="252"/>
              <a:chOff x="1310" y="3888"/>
              <a:chExt cx="162" cy="252"/>
            </a:xfrm>
          </p:grpSpPr>
          <p:sp>
            <p:nvSpPr>
              <p:cNvPr id="7260" name="Text Box 160"/>
              <p:cNvSpPr txBox="1">
                <a:spLocks noChangeArrowheads="1"/>
              </p:cNvSpPr>
              <p:nvPr/>
            </p:nvSpPr>
            <p:spPr bwMode="auto">
              <a:xfrm>
                <a:off x="1310" y="3888"/>
                <a:ext cx="16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8000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</a:p>
            </p:txBody>
          </p:sp>
          <p:sp>
            <p:nvSpPr>
              <p:cNvPr id="7261" name="Freeform 161"/>
              <p:cNvSpPr>
                <a:spLocks/>
              </p:cNvSpPr>
              <p:nvPr/>
            </p:nvSpPr>
            <p:spPr bwMode="auto">
              <a:xfrm>
                <a:off x="1362" y="3933"/>
                <a:ext cx="78" cy="4"/>
              </a:xfrm>
              <a:custGeom>
                <a:avLst/>
                <a:gdLst>
                  <a:gd name="T0" fmla="*/ 0 w 78"/>
                  <a:gd name="T1" fmla="*/ 0 h 4"/>
                  <a:gd name="T2" fmla="*/ 78 w 78"/>
                  <a:gd name="T3" fmla="*/ 4 h 4"/>
                  <a:gd name="T4" fmla="*/ 0 60000 65536"/>
                  <a:gd name="T5" fmla="*/ 0 60000 65536"/>
                  <a:gd name="T6" fmla="*/ 0 w 78"/>
                  <a:gd name="T7" fmla="*/ 0 h 4"/>
                  <a:gd name="T8" fmla="*/ 78 w 78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8" h="4">
                    <a:moveTo>
                      <a:pt x="0" y="0"/>
                    </a:moveTo>
                    <a:lnTo>
                      <a:pt x="78" y="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965794" name="Text Box 162"/>
          <p:cNvSpPr txBox="1">
            <a:spLocks noChangeArrowheads="1"/>
          </p:cNvSpPr>
          <p:nvPr/>
        </p:nvSpPr>
        <p:spPr bwMode="auto">
          <a:xfrm>
            <a:off x="4953000" y="2895600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795" name="Text Box 163"/>
          <p:cNvSpPr txBox="1">
            <a:spLocks noChangeArrowheads="1"/>
          </p:cNvSpPr>
          <p:nvPr/>
        </p:nvSpPr>
        <p:spPr bwMode="auto">
          <a:xfrm>
            <a:off x="5622925" y="28797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796" name="Text Box 164"/>
          <p:cNvSpPr txBox="1">
            <a:spLocks noChangeArrowheads="1"/>
          </p:cNvSpPr>
          <p:nvPr/>
        </p:nvSpPr>
        <p:spPr bwMode="auto">
          <a:xfrm>
            <a:off x="6394450" y="28797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797" name="Text Box 165"/>
          <p:cNvSpPr txBox="1">
            <a:spLocks noChangeArrowheads="1"/>
          </p:cNvSpPr>
          <p:nvPr/>
        </p:nvSpPr>
        <p:spPr bwMode="auto">
          <a:xfrm>
            <a:off x="7080250" y="28797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798" name="Text Box 166"/>
          <p:cNvSpPr txBox="1">
            <a:spLocks noChangeArrowheads="1"/>
          </p:cNvSpPr>
          <p:nvPr/>
        </p:nvSpPr>
        <p:spPr bwMode="auto">
          <a:xfrm>
            <a:off x="7756525" y="28797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799" name="Text Box 167"/>
          <p:cNvSpPr txBox="1">
            <a:spLocks noChangeArrowheads="1"/>
          </p:cNvSpPr>
          <p:nvPr/>
        </p:nvSpPr>
        <p:spPr bwMode="auto">
          <a:xfrm>
            <a:off x="8458200" y="28797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grpSp>
        <p:nvGrpSpPr>
          <p:cNvPr id="16" name="Group 168"/>
          <p:cNvGrpSpPr>
            <a:grpSpLocks/>
          </p:cNvGrpSpPr>
          <p:nvPr/>
        </p:nvGrpSpPr>
        <p:grpSpPr bwMode="auto">
          <a:xfrm>
            <a:off x="4953000" y="3260725"/>
            <a:ext cx="3863975" cy="400050"/>
            <a:chOff x="3072" y="2102"/>
            <a:chExt cx="2434" cy="252"/>
          </a:xfrm>
        </p:grpSpPr>
        <p:sp>
          <p:nvSpPr>
            <p:cNvPr id="7221" name="Text Box 169"/>
            <p:cNvSpPr txBox="1">
              <a:spLocks noChangeArrowheads="1"/>
            </p:cNvSpPr>
            <p:nvPr/>
          </p:nvSpPr>
          <p:spPr bwMode="auto">
            <a:xfrm>
              <a:off x="307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22" name="Text Box 170"/>
            <p:cNvSpPr txBox="1">
              <a:spLocks noChangeArrowheads="1"/>
            </p:cNvSpPr>
            <p:nvPr/>
          </p:nvSpPr>
          <p:spPr bwMode="auto">
            <a:xfrm>
              <a:off x="3504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23" name="Text Box 171"/>
            <p:cNvSpPr txBox="1">
              <a:spLocks noChangeArrowheads="1"/>
            </p:cNvSpPr>
            <p:nvPr/>
          </p:nvSpPr>
          <p:spPr bwMode="auto">
            <a:xfrm>
              <a:off x="39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24" name="Text Box 172"/>
            <p:cNvSpPr txBox="1">
              <a:spLocks noChangeArrowheads="1"/>
            </p:cNvSpPr>
            <p:nvPr/>
          </p:nvSpPr>
          <p:spPr bwMode="auto">
            <a:xfrm>
              <a:off x="442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25" name="Text Box 173"/>
            <p:cNvSpPr txBox="1">
              <a:spLocks noChangeArrowheads="1"/>
            </p:cNvSpPr>
            <p:nvPr/>
          </p:nvSpPr>
          <p:spPr bwMode="auto">
            <a:xfrm>
              <a:off x="4848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26" name="Text Box 174"/>
            <p:cNvSpPr txBox="1">
              <a:spLocks noChangeArrowheads="1"/>
            </p:cNvSpPr>
            <p:nvPr/>
          </p:nvSpPr>
          <p:spPr bwMode="auto">
            <a:xfrm>
              <a:off x="52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17" name="Group 175"/>
          <p:cNvGrpSpPr>
            <a:grpSpLocks/>
          </p:cNvGrpSpPr>
          <p:nvPr/>
        </p:nvGrpSpPr>
        <p:grpSpPr bwMode="auto">
          <a:xfrm>
            <a:off x="4953000" y="3657600"/>
            <a:ext cx="3863975" cy="400050"/>
            <a:chOff x="3072" y="2102"/>
            <a:chExt cx="2434" cy="252"/>
          </a:xfrm>
        </p:grpSpPr>
        <p:sp>
          <p:nvSpPr>
            <p:cNvPr id="7215" name="Text Box 176"/>
            <p:cNvSpPr txBox="1">
              <a:spLocks noChangeArrowheads="1"/>
            </p:cNvSpPr>
            <p:nvPr/>
          </p:nvSpPr>
          <p:spPr bwMode="auto">
            <a:xfrm>
              <a:off x="307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6" name="Text Box 177"/>
            <p:cNvSpPr txBox="1">
              <a:spLocks noChangeArrowheads="1"/>
            </p:cNvSpPr>
            <p:nvPr/>
          </p:nvSpPr>
          <p:spPr bwMode="auto">
            <a:xfrm>
              <a:off x="3504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7" name="Text Box 178"/>
            <p:cNvSpPr txBox="1">
              <a:spLocks noChangeArrowheads="1"/>
            </p:cNvSpPr>
            <p:nvPr/>
          </p:nvSpPr>
          <p:spPr bwMode="auto">
            <a:xfrm>
              <a:off x="39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8" name="Text Box 179"/>
            <p:cNvSpPr txBox="1">
              <a:spLocks noChangeArrowheads="1"/>
            </p:cNvSpPr>
            <p:nvPr/>
          </p:nvSpPr>
          <p:spPr bwMode="auto">
            <a:xfrm>
              <a:off x="442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9" name="Text Box 180"/>
            <p:cNvSpPr txBox="1">
              <a:spLocks noChangeArrowheads="1"/>
            </p:cNvSpPr>
            <p:nvPr/>
          </p:nvSpPr>
          <p:spPr bwMode="auto">
            <a:xfrm>
              <a:off x="4848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20" name="Text Box 181"/>
            <p:cNvSpPr txBox="1">
              <a:spLocks noChangeArrowheads="1"/>
            </p:cNvSpPr>
            <p:nvPr/>
          </p:nvSpPr>
          <p:spPr bwMode="auto">
            <a:xfrm>
              <a:off x="52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18" name="Group 182"/>
          <p:cNvGrpSpPr>
            <a:grpSpLocks/>
          </p:cNvGrpSpPr>
          <p:nvPr/>
        </p:nvGrpSpPr>
        <p:grpSpPr bwMode="auto">
          <a:xfrm>
            <a:off x="4953000" y="4038600"/>
            <a:ext cx="3863975" cy="400050"/>
            <a:chOff x="3072" y="2102"/>
            <a:chExt cx="2434" cy="252"/>
          </a:xfrm>
        </p:grpSpPr>
        <p:sp>
          <p:nvSpPr>
            <p:cNvPr id="7209" name="Text Box 183"/>
            <p:cNvSpPr txBox="1">
              <a:spLocks noChangeArrowheads="1"/>
            </p:cNvSpPr>
            <p:nvPr/>
          </p:nvSpPr>
          <p:spPr bwMode="auto">
            <a:xfrm>
              <a:off x="307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0" name="Text Box 184"/>
            <p:cNvSpPr txBox="1">
              <a:spLocks noChangeArrowheads="1"/>
            </p:cNvSpPr>
            <p:nvPr/>
          </p:nvSpPr>
          <p:spPr bwMode="auto">
            <a:xfrm>
              <a:off x="3504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1" name="Text Box 185"/>
            <p:cNvSpPr txBox="1">
              <a:spLocks noChangeArrowheads="1"/>
            </p:cNvSpPr>
            <p:nvPr/>
          </p:nvSpPr>
          <p:spPr bwMode="auto">
            <a:xfrm>
              <a:off x="39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2" name="Text Box 186"/>
            <p:cNvSpPr txBox="1">
              <a:spLocks noChangeArrowheads="1"/>
            </p:cNvSpPr>
            <p:nvPr/>
          </p:nvSpPr>
          <p:spPr bwMode="auto">
            <a:xfrm>
              <a:off x="442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3" name="Text Box 187"/>
            <p:cNvSpPr txBox="1">
              <a:spLocks noChangeArrowheads="1"/>
            </p:cNvSpPr>
            <p:nvPr/>
          </p:nvSpPr>
          <p:spPr bwMode="auto">
            <a:xfrm>
              <a:off x="4848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14" name="Text Box 188"/>
            <p:cNvSpPr txBox="1">
              <a:spLocks noChangeArrowheads="1"/>
            </p:cNvSpPr>
            <p:nvPr/>
          </p:nvSpPr>
          <p:spPr bwMode="auto">
            <a:xfrm>
              <a:off x="52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19" name="Group 189"/>
          <p:cNvGrpSpPr>
            <a:grpSpLocks/>
          </p:cNvGrpSpPr>
          <p:nvPr/>
        </p:nvGrpSpPr>
        <p:grpSpPr bwMode="auto">
          <a:xfrm>
            <a:off x="4953000" y="4495800"/>
            <a:ext cx="3863975" cy="400050"/>
            <a:chOff x="3072" y="2102"/>
            <a:chExt cx="2434" cy="252"/>
          </a:xfrm>
        </p:grpSpPr>
        <p:sp>
          <p:nvSpPr>
            <p:cNvPr id="7203" name="Text Box 190"/>
            <p:cNvSpPr txBox="1">
              <a:spLocks noChangeArrowheads="1"/>
            </p:cNvSpPr>
            <p:nvPr/>
          </p:nvSpPr>
          <p:spPr bwMode="auto">
            <a:xfrm>
              <a:off x="307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4" name="Text Box 191"/>
            <p:cNvSpPr txBox="1">
              <a:spLocks noChangeArrowheads="1"/>
            </p:cNvSpPr>
            <p:nvPr/>
          </p:nvSpPr>
          <p:spPr bwMode="auto">
            <a:xfrm>
              <a:off x="3504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5" name="Text Box 192"/>
            <p:cNvSpPr txBox="1">
              <a:spLocks noChangeArrowheads="1"/>
            </p:cNvSpPr>
            <p:nvPr/>
          </p:nvSpPr>
          <p:spPr bwMode="auto">
            <a:xfrm>
              <a:off x="39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6" name="Text Box 193"/>
            <p:cNvSpPr txBox="1">
              <a:spLocks noChangeArrowheads="1"/>
            </p:cNvSpPr>
            <p:nvPr/>
          </p:nvSpPr>
          <p:spPr bwMode="auto">
            <a:xfrm>
              <a:off x="442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7" name="Text Box 194"/>
            <p:cNvSpPr txBox="1">
              <a:spLocks noChangeArrowheads="1"/>
            </p:cNvSpPr>
            <p:nvPr/>
          </p:nvSpPr>
          <p:spPr bwMode="auto">
            <a:xfrm>
              <a:off x="4848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8" name="Text Box 195"/>
            <p:cNvSpPr txBox="1">
              <a:spLocks noChangeArrowheads="1"/>
            </p:cNvSpPr>
            <p:nvPr/>
          </p:nvSpPr>
          <p:spPr bwMode="auto">
            <a:xfrm>
              <a:off x="52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sp>
        <p:nvSpPr>
          <p:cNvPr id="965828" name="Text Box 196"/>
          <p:cNvSpPr txBox="1">
            <a:spLocks noChangeArrowheads="1"/>
          </p:cNvSpPr>
          <p:nvPr/>
        </p:nvSpPr>
        <p:spPr bwMode="auto">
          <a:xfrm>
            <a:off x="6400800" y="53181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829" name="Text Box 197"/>
          <p:cNvSpPr txBox="1">
            <a:spLocks noChangeArrowheads="1"/>
          </p:cNvSpPr>
          <p:nvPr/>
        </p:nvSpPr>
        <p:spPr bwMode="auto">
          <a:xfrm>
            <a:off x="7086600" y="53181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830" name="Text Box 198"/>
          <p:cNvSpPr txBox="1">
            <a:spLocks noChangeArrowheads="1"/>
          </p:cNvSpPr>
          <p:nvPr/>
        </p:nvSpPr>
        <p:spPr bwMode="auto">
          <a:xfrm>
            <a:off x="7762875" y="53181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65831" name="Text Box 199"/>
          <p:cNvSpPr txBox="1">
            <a:spLocks noChangeArrowheads="1"/>
          </p:cNvSpPr>
          <p:nvPr/>
        </p:nvSpPr>
        <p:spPr bwMode="auto">
          <a:xfrm>
            <a:off x="8464550" y="5318125"/>
            <a:ext cx="3433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grpSp>
        <p:nvGrpSpPr>
          <p:cNvPr id="20" name="Group 200"/>
          <p:cNvGrpSpPr>
            <a:grpSpLocks/>
          </p:cNvGrpSpPr>
          <p:nvPr/>
        </p:nvGrpSpPr>
        <p:grpSpPr bwMode="auto">
          <a:xfrm>
            <a:off x="4953000" y="4876800"/>
            <a:ext cx="3863975" cy="400050"/>
            <a:chOff x="3072" y="2102"/>
            <a:chExt cx="2434" cy="252"/>
          </a:xfrm>
        </p:grpSpPr>
        <p:sp>
          <p:nvSpPr>
            <p:cNvPr id="7197" name="Text Box 201"/>
            <p:cNvSpPr txBox="1">
              <a:spLocks noChangeArrowheads="1"/>
            </p:cNvSpPr>
            <p:nvPr/>
          </p:nvSpPr>
          <p:spPr bwMode="auto">
            <a:xfrm>
              <a:off x="307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198" name="Text Box 202"/>
            <p:cNvSpPr txBox="1">
              <a:spLocks noChangeArrowheads="1"/>
            </p:cNvSpPr>
            <p:nvPr/>
          </p:nvSpPr>
          <p:spPr bwMode="auto">
            <a:xfrm>
              <a:off x="3504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199" name="Text Box 203"/>
            <p:cNvSpPr txBox="1">
              <a:spLocks noChangeArrowheads="1"/>
            </p:cNvSpPr>
            <p:nvPr/>
          </p:nvSpPr>
          <p:spPr bwMode="auto">
            <a:xfrm>
              <a:off x="39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0" name="Text Box 204"/>
            <p:cNvSpPr txBox="1">
              <a:spLocks noChangeArrowheads="1"/>
            </p:cNvSpPr>
            <p:nvPr/>
          </p:nvSpPr>
          <p:spPr bwMode="auto">
            <a:xfrm>
              <a:off x="442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1" name="Text Box 205"/>
            <p:cNvSpPr txBox="1">
              <a:spLocks noChangeArrowheads="1"/>
            </p:cNvSpPr>
            <p:nvPr/>
          </p:nvSpPr>
          <p:spPr bwMode="auto">
            <a:xfrm>
              <a:off x="4848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202" name="Text Box 206"/>
            <p:cNvSpPr txBox="1">
              <a:spLocks noChangeArrowheads="1"/>
            </p:cNvSpPr>
            <p:nvPr/>
          </p:nvSpPr>
          <p:spPr bwMode="auto">
            <a:xfrm>
              <a:off x="5290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1" name="Group 207"/>
          <p:cNvGrpSpPr>
            <a:grpSpLocks/>
          </p:cNvGrpSpPr>
          <p:nvPr/>
        </p:nvGrpSpPr>
        <p:grpSpPr bwMode="auto">
          <a:xfrm>
            <a:off x="4953000" y="5681663"/>
            <a:ext cx="3705225" cy="417512"/>
            <a:chOff x="3072" y="2091"/>
            <a:chExt cx="2334" cy="263"/>
          </a:xfrm>
        </p:grpSpPr>
        <p:sp>
          <p:nvSpPr>
            <p:cNvPr id="7191" name="Text Box 208"/>
            <p:cNvSpPr txBox="1">
              <a:spLocks noChangeArrowheads="1"/>
            </p:cNvSpPr>
            <p:nvPr/>
          </p:nvSpPr>
          <p:spPr bwMode="auto">
            <a:xfrm>
              <a:off x="3072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192" name="Text Box 209"/>
            <p:cNvSpPr txBox="1">
              <a:spLocks noChangeArrowheads="1"/>
            </p:cNvSpPr>
            <p:nvPr/>
          </p:nvSpPr>
          <p:spPr bwMode="auto">
            <a:xfrm>
              <a:off x="3504" y="2102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7193" name="Text Box 210"/>
            <p:cNvSpPr txBox="1">
              <a:spLocks noChangeArrowheads="1"/>
            </p:cNvSpPr>
            <p:nvPr/>
          </p:nvSpPr>
          <p:spPr bwMode="auto">
            <a:xfrm>
              <a:off x="3990" y="2091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94" name="Text Box 211"/>
            <p:cNvSpPr txBox="1">
              <a:spLocks noChangeArrowheads="1"/>
            </p:cNvSpPr>
            <p:nvPr/>
          </p:nvSpPr>
          <p:spPr bwMode="auto">
            <a:xfrm>
              <a:off x="4422" y="2091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95" name="Text Box 212"/>
            <p:cNvSpPr txBox="1">
              <a:spLocks noChangeArrowheads="1"/>
            </p:cNvSpPr>
            <p:nvPr/>
          </p:nvSpPr>
          <p:spPr bwMode="auto">
            <a:xfrm>
              <a:off x="4848" y="2091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96" name="Text Box 213"/>
            <p:cNvSpPr txBox="1">
              <a:spLocks noChangeArrowheads="1"/>
            </p:cNvSpPr>
            <p:nvPr/>
          </p:nvSpPr>
          <p:spPr bwMode="auto">
            <a:xfrm>
              <a:off x="5290" y="2091"/>
              <a:ext cx="11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kumimoji="1" lang="zh-CN" altLang="zh-CN" sz="20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65846" name="AutoShape 214"/>
          <p:cNvSpPr>
            <a:spLocks noChangeArrowheads="1"/>
          </p:cNvSpPr>
          <p:nvPr/>
        </p:nvSpPr>
        <p:spPr bwMode="auto">
          <a:xfrm>
            <a:off x="457200" y="6172200"/>
            <a:ext cx="1371600" cy="381000"/>
          </a:xfrm>
          <a:prstGeom prst="wedgeRoundRectCallout">
            <a:avLst>
              <a:gd name="adj1" fmla="val 56481"/>
              <a:gd name="adj2" fmla="val -205833"/>
              <a:gd name="adj3" fmla="val 16667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tIns="18000"/>
          <a:lstStyle/>
          <a:p>
            <a:pPr algn="ctr"/>
            <a:r>
              <a:rPr kumimoji="1"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间址特征</a:t>
            </a:r>
          </a:p>
        </p:txBody>
      </p:sp>
      <p:sp>
        <p:nvSpPr>
          <p:cNvPr id="7189" name="Rectangle 215"/>
          <p:cNvSpPr>
            <a:spLocks noChangeArrowheads="1"/>
          </p:cNvSpPr>
          <p:nvPr/>
        </p:nvSpPr>
        <p:spPr bwMode="auto">
          <a:xfrm>
            <a:off x="3495675" y="6310313"/>
            <a:ext cx="184150" cy="76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en-US" altLang="zh-CN" sz="200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20000"/>
              </a:spcBef>
            </a:pPr>
            <a:endParaRPr lang="en-US" altLang="zh-CN" sz="200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90" name="Rectangle 216"/>
          <p:cNvSpPr>
            <a:spLocks noChangeArrowheads="1"/>
          </p:cNvSpPr>
          <p:nvPr/>
        </p:nvSpPr>
        <p:spPr bwMode="auto">
          <a:xfrm>
            <a:off x="800100" y="1200090"/>
            <a:ext cx="83439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步骤五 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编制微操作命令时间表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（控制信号产生器输入输出信号真值表！）</a:t>
            </a:r>
            <a:endParaRPr lang="zh-CN" altLang="en-US" sz="20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6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6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6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6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6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6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6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96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794" grpId="0" autoUpdateAnimBg="0"/>
      <p:bldP spid="965795" grpId="0" autoUpdateAnimBg="0"/>
      <p:bldP spid="965796" grpId="0" autoUpdateAnimBg="0"/>
      <p:bldP spid="965797" grpId="0" autoUpdateAnimBg="0"/>
      <p:bldP spid="965798" grpId="0" autoUpdateAnimBg="0"/>
      <p:bldP spid="965799" grpId="0" autoUpdateAnimBg="0"/>
      <p:bldP spid="965828" grpId="0" autoUpdateAnimBg="0"/>
      <p:bldP spid="965829" grpId="0" autoUpdateAnimBg="0"/>
      <p:bldP spid="965830" grpId="0" autoUpdateAnimBg="0"/>
      <p:bldP spid="965831" grpId="0" autoUpdateAnimBg="0"/>
      <p:bldP spid="965846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Text Box 2"/>
          <p:cNvSpPr txBox="1">
            <a:spLocks noChangeArrowheads="1"/>
          </p:cNvSpPr>
          <p:nvPr/>
        </p:nvSpPr>
        <p:spPr bwMode="auto">
          <a:xfrm>
            <a:off x="927100" y="2089150"/>
            <a:ext cx="7406515" cy="143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45000"/>
              </a:lnSpc>
            </a:pP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=   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FE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· </a:t>
            </a:r>
            <a:r>
              <a:rPr kumimoji="1" lang="en-US" altLang="zh-CN" sz="2000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 </a:t>
            </a:r>
            <a:r>
              <a:rPr lang="en-US" altLang="zh-CN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CLA + COM + ADD + STA + LDA + JMP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 </a:t>
            </a:r>
          </a:p>
          <a:p>
            <a:pPr algn="l">
              <a:lnSpc>
                <a:spcPct val="145000"/>
              </a:lnSpc>
            </a:pP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IND ·</a:t>
            </a:r>
            <a:r>
              <a:rPr kumimoji="1" lang="en-US" altLang="zh-CN" sz="2000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en-US" altLang="zh-CN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ADD + STA + LDA + JMP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） </a:t>
            </a:r>
          </a:p>
          <a:p>
            <a:pPr algn="l">
              <a:lnSpc>
                <a:spcPct val="145000"/>
              </a:lnSpc>
            </a:pP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EX ·</a:t>
            </a:r>
            <a:r>
              <a:rPr kumimoji="1" lang="en-US" altLang="zh-CN" sz="2000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zh-CN" altLang="en-US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ADD + LDA </a:t>
            </a:r>
            <a:endParaRPr kumimoji="1" lang="en-US" altLang="zh-CN" sz="20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62000" y="1736725"/>
            <a:ext cx="868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例如某一微操作 </a:t>
            </a:r>
            <a:r>
              <a:rPr kumimoji="1" lang="en-US" altLang="zh-CN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2000" baseline="-25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kumimoji="1" lang="en-US" altLang="zh-CN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 ( MAR )        MDR</a:t>
            </a: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的逻辑表达式如下：</a:t>
            </a:r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>
            <a:off x="4572000" y="1905000"/>
            <a:ext cx="304800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914400" y="4394200"/>
            <a:ext cx="7848600" cy="1938992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输出信号：</a:t>
            </a:r>
            <a:r>
              <a:rPr kumimoji="1"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某一微操作的控制信号。</a:t>
            </a:r>
            <a:r>
              <a:rPr kumimoji="1"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2000" baseline="-25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kumimoji="1" lang="en-US" altLang="zh-CN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 (MAR) </a:t>
            </a:r>
            <a:r>
              <a:rPr kumimoji="1"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送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MDR</a:t>
            </a:r>
          </a:p>
          <a:p>
            <a:pPr algn="l"/>
            <a:endParaRPr kumimoji="1"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kumimoji="1"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输入信号：</a:t>
            </a:r>
            <a:r>
              <a:rPr kumimoji="1"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指令信号。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CLA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COM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STA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LDA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JMP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等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      均来自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操作码译码器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的输出端。</a:t>
            </a: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输入信号：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时序信号。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FE · T1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 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IND ·T1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 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EX ·T1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等，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      均来自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时序信号产生器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的输出端。</a:t>
            </a:r>
          </a:p>
        </p:txBody>
      </p:sp>
      <p:sp>
        <p:nvSpPr>
          <p:cNvPr id="8198" name="Text Box 8"/>
          <p:cNvSpPr txBox="1">
            <a:spLocks noChangeArrowheads="1"/>
          </p:cNvSpPr>
          <p:nvPr/>
        </p:nvSpPr>
        <p:spPr bwMode="auto">
          <a:xfrm>
            <a:off x="914400" y="3937000"/>
            <a:ext cx="7848600" cy="400110"/>
          </a:xfrm>
          <a:prstGeom prst="rect">
            <a:avLst/>
          </a:prstGeom>
          <a:solidFill>
            <a:srgbClr val="FF0000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逻辑表达式 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给出 控制器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 与 输出信号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之间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逻辑关系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8199" name="Rectangle 9"/>
          <p:cNvSpPr>
            <a:spLocks noChangeArrowheads="1"/>
          </p:cNvSpPr>
          <p:nvPr/>
        </p:nvSpPr>
        <p:spPr bwMode="auto">
          <a:xfrm>
            <a:off x="838200" y="381000"/>
            <a:ext cx="6096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Review: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</a:p>
        </p:txBody>
      </p:sp>
      <p:sp>
        <p:nvSpPr>
          <p:cNvPr id="8200" name="Rectangle 10"/>
          <p:cNvSpPr>
            <a:spLocks noChangeArrowheads="1"/>
          </p:cNvSpPr>
          <p:nvPr/>
        </p:nvSpPr>
        <p:spPr bwMode="auto">
          <a:xfrm>
            <a:off x="800100" y="1123890"/>
            <a:ext cx="81153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步骤六 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控制信号逻辑表达式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（看真值表写输入输出信号逻辑表达式）</a:t>
            </a:r>
            <a:endParaRPr lang="zh-CN" altLang="en-US" sz="20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28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Text Box 2"/>
          <p:cNvSpPr txBox="1">
            <a:spLocks noChangeArrowheads="1"/>
          </p:cNvSpPr>
          <p:nvPr/>
        </p:nvSpPr>
        <p:spPr bwMode="auto">
          <a:xfrm>
            <a:off x="993775" y="5715000"/>
            <a:ext cx="2968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组合逻辑控制器的特点</a:t>
            </a:r>
          </a:p>
        </p:txBody>
      </p:sp>
      <p:sp>
        <p:nvSpPr>
          <p:cNvPr id="915459" name="Text Box 3"/>
          <p:cNvSpPr txBox="1">
            <a:spLocks noChangeArrowheads="1"/>
          </p:cNvSpPr>
          <p:nvPr/>
        </p:nvSpPr>
        <p:spPr bwMode="auto">
          <a:xfrm>
            <a:off x="3641725" y="5741988"/>
            <a:ext cx="4968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SzPct val="85000"/>
              <a:buFont typeface="Wingdings" pitchFamily="2" charset="2"/>
              <a:buChar char="Ø"/>
            </a:pP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思路清晰，简单明了</a:t>
            </a:r>
          </a:p>
        </p:txBody>
      </p:sp>
      <p:sp>
        <p:nvSpPr>
          <p:cNvPr id="915460" name="Text Box 4"/>
          <p:cNvSpPr txBox="1">
            <a:spLocks noChangeArrowheads="1"/>
          </p:cNvSpPr>
          <p:nvPr/>
        </p:nvSpPr>
        <p:spPr bwMode="auto">
          <a:xfrm>
            <a:off x="3641725" y="6096000"/>
            <a:ext cx="5502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SzPct val="85000"/>
              <a:buFont typeface="Wingdings" pitchFamily="2" charset="2"/>
              <a:buChar char="Ø"/>
            </a:pP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庞杂，调试困难，修改困难</a:t>
            </a:r>
          </a:p>
        </p:txBody>
      </p:sp>
      <p:sp>
        <p:nvSpPr>
          <p:cNvPr id="915461" name="Text Box 5"/>
          <p:cNvSpPr txBox="1">
            <a:spLocks noChangeArrowheads="1"/>
          </p:cNvSpPr>
          <p:nvPr/>
        </p:nvSpPr>
        <p:spPr bwMode="auto">
          <a:xfrm>
            <a:off x="3641725" y="6461125"/>
            <a:ext cx="1463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SzPct val="85000"/>
              <a:buFont typeface="Wingdings" pitchFamily="2" charset="2"/>
              <a:buChar char="Ø"/>
            </a:pP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速度快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027113" y="1905000"/>
            <a:ext cx="420687" cy="2819400"/>
            <a:chOff x="695" y="816"/>
            <a:chExt cx="265" cy="1776"/>
          </a:xfrm>
        </p:grpSpPr>
        <p:grpSp>
          <p:nvGrpSpPr>
            <p:cNvPr id="9328" name="Group 7"/>
            <p:cNvGrpSpPr>
              <a:grpSpLocks/>
            </p:cNvGrpSpPr>
            <p:nvPr/>
          </p:nvGrpSpPr>
          <p:grpSpPr bwMode="auto">
            <a:xfrm>
              <a:off x="695" y="816"/>
              <a:ext cx="265" cy="336"/>
              <a:chOff x="695" y="816"/>
              <a:chExt cx="265" cy="336"/>
            </a:xfrm>
          </p:grpSpPr>
          <p:sp>
            <p:nvSpPr>
              <p:cNvPr id="9337" name="Text Box 8"/>
              <p:cNvSpPr txBox="1">
                <a:spLocks noChangeArrowheads="1"/>
              </p:cNvSpPr>
              <p:nvPr/>
            </p:nvSpPr>
            <p:spPr bwMode="auto">
              <a:xfrm>
                <a:off x="695" y="841"/>
                <a:ext cx="26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&amp;</a:t>
                </a:r>
              </a:p>
            </p:txBody>
          </p:sp>
          <p:sp>
            <p:nvSpPr>
              <p:cNvPr id="9338" name="Rectangle 9"/>
              <p:cNvSpPr>
                <a:spLocks noChangeArrowheads="1"/>
              </p:cNvSpPr>
              <p:nvPr/>
            </p:nvSpPr>
            <p:spPr bwMode="auto">
              <a:xfrm>
                <a:off x="720" y="816"/>
                <a:ext cx="192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39" name="Oval 10"/>
              <p:cNvSpPr>
                <a:spLocks noChangeArrowheads="1"/>
              </p:cNvSpPr>
              <p:nvPr/>
            </p:nvSpPr>
            <p:spPr bwMode="auto">
              <a:xfrm>
                <a:off x="912" y="960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9329" name="Group 11"/>
            <p:cNvGrpSpPr>
              <a:grpSpLocks/>
            </p:cNvGrpSpPr>
            <p:nvPr/>
          </p:nvGrpSpPr>
          <p:grpSpPr bwMode="auto">
            <a:xfrm>
              <a:off x="695" y="1560"/>
              <a:ext cx="265" cy="336"/>
              <a:chOff x="695" y="1560"/>
              <a:chExt cx="265" cy="336"/>
            </a:xfrm>
          </p:grpSpPr>
          <p:sp>
            <p:nvSpPr>
              <p:cNvPr id="9334" name="Text Box 12"/>
              <p:cNvSpPr txBox="1">
                <a:spLocks noChangeArrowheads="1"/>
              </p:cNvSpPr>
              <p:nvPr/>
            </p:nvSpPr>
            <p:spPr bwMode="auto">
              <a:xfrm>
                <a:off x="695" y="1584"/>
                <a:ext cx="26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&amp;</a:t>
                </a:r>
              </a:p>
            </p:txBody>
          </p:sp>
          <p:sp>
            <p:nvSpPr>
              <p:cNvPr id="9335" name="Rectangle 13"/>
              <p:cNvSpPr>
                <a:spLocks noChangeArrowheads="1"/>
              </p:cNvSpPr>
              <p:nvPr/>
            </p:nvSpPr>
            <p:spPr bwMode="auto">
              <a:xfrm>
                <a:off x="720" y="1560"/>
                <a:ext cx="192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36" name="Oval 14"/>
              <p:cNvSpPr>
                <a:spLocks noChangeArrowheads="1"/>
              </p:cNvSpPr>
              <p:nvPr/>
            </p:nvSpPr>
            <p:spPr bwMode="auto">
              <a:xfrm>
                <a:off x="912" y="170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9330" name="Group 15"/>
            <p:cNvGrpSpPr>
              <a:grpSpLocks/>
            </p:cNvGrpSpPr>
            <p:nvPr/>
          </p:nvGrpSpPr>
          <p:grpSpPr bwMode="auto">
            <a:xfrm>
              <a:off x="695" y="2256"/>
              <a:ext cx="265" cy="336"/>
              <a:chOff x="695" y="2256"/>
              <a:chExt cx="265" cy="336"/>
            </a:xfrm>
          </p:grpSpPr>
          <p:sp>
            <p:nvSpPr>
              <p:cNvPr id="9331" name="Text Box 16"/>
              <p:cNvSpPr txBox="1">
                <a:spLocks noChangeArrowheads="1"/>
              </p:cNvSpPr>
              <p:nvPr/>
            </p:nvSpPr>
            <p:spPr bwMode="auto">
              <a:xfrm>
                <a:off x="695" y="2294"/>
                <a:ext cx="26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&amp;</a:t>
                </a:r>
              </a:p>
            </p:txBody>
          </p:sp>
          <p:sp>
            <p:nvSpPr>
              <p:cNvPr id="9332" name="Rectangle 17"/>
              <p:cNvSpPr>
                <a:spLocks noChangeArrowheads="1"/>
              </p:cNvSpPr>
              <p:nvPr/>
            </p:nvSpPr>
            <p:spPr bwMode="auto">
              <a:xfrm>
                <a:off x="720" y="2256"/>
                <a:ext cx="192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33" name="Oval 18"/>
              <p:cNvSpPr>
                <a:spLocks noChangeArrowheads="1"/>
              </p:cNvSpPr>
              <p:nvPr/>
            </p:nvSpPr>
            <p:spPr bwMode="auto">
              <a:xfrm>
                <a:off x="912" y="2400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1920875" y="4191000"/>
            <a:ext cx="381000" cy="533400"/>
            <a:chOff x="1258" y="2256"/>
            <a:chExt cx="240" cy="336"/>
          </a:xfrm>
        </p:grpSpPr>
        <p:sp>
          <p:nvSpPr>
            <p:cNvPr id="9325" name="Text Box 20"/>
            <p:cNvSpPr txBox="1">
              <a:spLocks noChangeArrowheads="1"/>
            </p:cNvSpPr>
            <p:nvPr/>
          </p:nvSpPr>
          <p:spPr bwMode="auto">
            <a:xfrm>
              <a:off x="1258" y="2294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9326" name="Rectangle 21"/>
            <p:cNvSpPr>
              <a:spLocks noChangeArrowheads="1"/>
            </p:cNvSpPr>
            <p:nvPr/>
          </p:nvSpPr>
          <p:spPr bwMode="auto">
            <a:xfrm>
              <a:off x="1258" y="2256"/>
              <a:ext cx="192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27" name="Oval 22"/>
            <p:cNvSpPr>
              <a:spLocks noChangeArrowheads="1"/>
            </p:cNvSpPr>
            <p:nvPr/>
          </p:nvSpPr>
          <p:spPr bwMode="auto">
            <a:xfrm>
              <a:off x="1450" y="240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1920875" y="3086100"/>
            <a:ext cx="381000" cy="533400"/>
            <a:chOff x="1258" y="1560"/>
            <a:chExt cx="240" cy="336"/>
          </a:xfrm>
        </p:grpSpPr>
        <p:sp>
          <p:nvSpPr>
            <p:cNvPr id="9322" name="Text Box 24"/>
            <p:cNvSpPr txBox="1">
              <a:spLocks noChangeArrowheads="1"/>
            </p:cNvSpPr>
            <p:nvPr/>
          </p:nvSpPr>
          <p:spPr bwMode="auto">
            <a:xfrm>
              <a:off x="1258" y="1591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9323" name="Rectangle 25"/>
            <p:cNvSpPr>
              <a:spLocks noChangeArrowheads="1"/>
            </p:cNvSpPr>
            <p:nvPr/>
          </p:nvSpPr>
          <p:spPr bwMode="auto">
            <a:xfrm>
              <a:off x="1258" y="1560"/>
              <a:ext cx="192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24" name="Oval 26"/>
            <p:cNvSpPr>
              <a:spLocks noChangeArrowheads="1"/>
            </p:cNvSpPr>
            <p:nvPr/>
          </p:nvSpPr>
          <p:spPr bwMode="auto">
            <a:xfrm>
              <a:off x="1450" y="170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3165475" y="4800600"/>
            <a:ext cx="419100" cy="533400"/>
            <a:chOff x="2042" y="2640"/>
            <a:chExt cx="264" cy="336"/>
          </a:xfrm>
        </p:grpSpPr>
        <p:sp>
          <p:nvSpPr>
            <p:cNvPr id="9319" name="Text Box 28"/>
            <p:cNvSpPr txBox="1">
              <a:spLocks noChangeArrowheads="1"/>
            </p:cNvSpPr>
            <p:nvPr/>
          </p:nvSpPr>
          <p:spPr bwMode="auto">
            <a:xfrm>
              <a:off x="2042" y="2672"/>
              <a:ext cx="2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&amp;</a:t>
              </a:r>
            </a:p>
          </p:txBody>
        </p:sp>
        <p:sp>
          <p:nvSpPr>
            <p:cNvPr id="9320" name="Rectangle 29"/>
            <p:cNvSpPr>
              <a:spLocks noChangeArrowheads="1"/>
            </p:cNvSpPr>
            <p:nvPr/>
          </p:nvSpPr>
          <p:spPr bwMode="auto">
            <a:xfrm>
              <a:off x="2064" y="2640"/>
              <a:ext cx="192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21" name="Oval 30"/>
            <p:cNvSpPr>
              <a:spLocks noChangeArrowheads="1"/>
            </p:cNvSpPr>
            <p:nvPr/>
          </p:nvSpPr>
          <p:spPr bwMode="auto">
            <a:xfrm>
              <a:off x="2256" y="278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533900" y="4800600"/>
            <a:ext cx="419100" cy="533400"/>
            <a:chOff x="2904" y="2640"/>
            <a:chExt cx="264" cy="336"/>
          </a:xfrm>
        </p:grpSpPr>
        <p:sp>
          <p:nvSpPr>
            <p:cNvPr id="9316" name="Text Box 32"/>
            <p:cNvSpPr txBox="1">
              <a:spLocks noChangeArrowheads="1"/>
            </p:cNvSpPr>
            <p:nvPr/>
          </p:nvSpPr>
          <p:spPr bwMode="auto">
            <a:xfrm>
              <a:off x="2904" y="2678"/>
              <a:ext cx="2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&amp;</a:t>
              </a:r>
            </a:p>
          </p:txBody>
        </p:sp>
        <p:sp>
          <p:nvSpPr>
            <p:cNvPr id="9317" name="Rectangle 33"/>
            <p:cNvSpPr>
              <a:spLocks noChangeArrowheads="1"/>
            </p:cNvSpPr>
            <p:nvPr/>
          </p:nvSpPr>
          <p:spPr bwMode="auto">
            <a:xfrm>
              <a:off x="2928" y="2640"/>
              <a:ext cx="192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18" name="Oval 34"/>
            <p:cNvSpPr>
              <a:spLocks noChangeArrowheads="1"/>
            </p:cNvSpPr>
            <p:nvPr/>
          </p:nvSpPr>
          <p:spPr bwMode="auto">
            <a:xfrm>
              <a:off x="3120" y="278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533900" y="2514600"/>
            <a:ext cx="419100" cy="533400"/>
            <a:chOff x="2904" y="1200"/>
            <a:chExt cx="264" cy="336"/>
          </a:xfrm>
        </p:grpSpPr>
        <p:sp>
          <p:nvSpPr>
            <p:cNvPr id="9313" name="Text Box 36"/>
            <p:cNvSpPr txBox="1">
              <a:spLocks noChangeArrowheads="1"/>
            </p:cNvSpPr>
            <p:nvPr/>
          </p:nvSpPr>
          <p:spPr bwMode="auto">
            <a:xfrm>
              <a:off x="2904" y="1238"/>
              <a:ext cx="2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&amp;</a:t>
              </a:r>
            </a:p>
          </p:txBody>
        </p:sp>
        <p:sp>
          <p:nvSpPr>
            <p:cNvPr id="9314" name="Rectangle 37"/>
            <p:cNvSpPr>
              <a:spLocks noChangeArrowheads="1"/>
            </p:cNvSpPr>
            <p:nvPr/>
          </p:nvSpPr>
          <p:spPr bwMode="auto">
            <a:xfrm>
              <a:off x="2928" y="1200"/>
              <a:ext cx="192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15" name="Oval 38"/>
            <p:cNvSpPr>
              <a:spLocks noChangeArrowheads="1"/>
            </p:cNvSpPr>
            <p:nvPr/>
          </p:nvSpPr>
          <p:spPr bwMode="auto">
            <a:xfrm>
              <a:off x="3120" y="134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6134100" y="2514600"/>
            <a:ext cx="419100" cy="533400"/>
            <a:chOff x="3912" y="1200"/>
            <a:chExt cx="264" cy="336"/>
          </a:xfrm>
        </p:grpSpPr>
        <p:sp>
          <p:nvSpPr>
            <p:cNvPr id="9310" name="Text Box 40"/>
            <p:cNvSpPr txBox="1">
              <a:spLocks noChangeArrowheads="1"/>
            </p:cNvSpPr>
            <p:nvPr/>
          </p:nvSpPr>
          <p:spPr bwMode="auto">
            <a:xfrm>
              <a:off x="3912" y="1238"/>
              <a:ext cx="2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&amp;</a:t>
              </a:r>
            </a:p>
          </p:txBody>
        </p:sp>
        <p:sp>
          <p:nvSpPr>
            <p:cNvPr id="9311" name="Rectangle 41"/>
            <p:cNvSpPr>
              <a:spLocks noChangeArrowheads="1"/>
            </p:cNvSpPr>
            <p:nvPr/>
          </p:nvSpPr>
          <p:spPr bwMode="auto">
            <a:xfrm>
              <a:off x="3936" y="1200"/>
              <a:ext cx="192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12" name="Oval 42"/>
            <p:cNvSpPr>
              <a:spLocks noChangeArrowheads="1"/>
            </p:cNvSpPr>
            <p:nvPr/>
          </p:nvSpPr>
          <p:spPr bwMode="auto">
            <a:xfrm>
              <a:off x="4128" y="134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2" name="Group 43"/>
          <p:cNvGrpSpPr>
            <a:grpSpLocks/>
          </p:cNvGrpSpPr>
          <p:nvPr/>
        </p:nvGrpSpPr>
        <p:grpSpPr bwMode="auto">
          <a:xfrm>
            <a:off x="6134100" y="3692525"/>
            <a:ext cx="419100" cy="533400"/>
            <a:chOff x="3912" y="1942"/>
            <a:chExt cx="264" cy="336"/>
          </a:xfrm>
        </p:grpSpPr>
        <p:sp>
          <p:nvSpPr>
            <p:cNvPr id="9307" name="Text Box 44"/>
            <p:cNvSpPr txBox="1">
              <a:spLocks noChangeArrowheads="1"/>
            </p:cNvSpPr>
            <p:nvPr/>
          </p:nvSpPr>
          <p:spPr bwMode="auto">
            <a:xfrm>
              <a:off x="3912" y="1974"/>
              <a:ext cx="2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&amp;</a:t>
              </a:r>
            </a:p>
          </p:txBody>
        </p:sp>
        <p:sp>
          <p:nvSpPr>
            <p:cNvPr id="9308" name="Rectangle 45"/>
            <p:cNvSpPr>
              <a:spLocks noChangeArrowheads="1"/>
            </p:cNvSpPr>
            <p:nvPr/>
          </p:nvSpPr>
          <p:spPr bwMode="auto">
            <a:xfrm>
              <a:off x="3936" y="1942"/>
              <a:ext cx="192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09" name="Oval 46"/>
            <p:cNvSpPr>
              <a:spLocks noChangeArrowheads="1"/>
            </p:cNvSpPr>
            <p:nvPr/>
          </p:nvSpPr>
          <p:spPr bwMode="auto">
            <a:xfrm>
              <a:off x="4128" y="208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15503" name="Freeform 47"/>
          <p:cNvSpPr>
            <a:spLocks/>
          </p:cNvSpPr>
          <p:nvPr/>
        </p:nvSpPr>
        <p:spPr bwMode="auto">
          <a:xfrm>
            <a:off x="300038" y="2057400"/>
            <a:ext cx="771525" cy="1588"/>
          </a:xfrm>
          <a:custGeom>
            <a:avLst/>
            <a:gdLst>
              <a:gd name="T0" fmla="*/ 2147483647 w 486"/>
              <a:gd name="T1" fmla="*/ 0 h 1"/>
              <a:gd name="T2" fmla="*/ 0 w 486"/>
              <a:gd name="T3" fmla="*/ 0 h 1"/>
              <a:gd name="T4" fmla="*/ 0 60000 65536"/>
              <a:gd name="T5" fmla="*/ 0 60000 65536"/>
              <a:gd name="T6" fmla="*/ 0 w 486"/>
              <a:gd name="T7" fmla="*/ 0 h 1"/>
              <a:gd name="T8" fmla="*/ 486 w 48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86" h="1">
                <a:moveTo>
                  <a:pt x="486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Group 48"/>
          <p:cNvGrpSpPr>
            <a:grpSpLocks/>
          </p:cNvGrpSpPr>
          <p:nvPr/>
        </p:nvGrpSpPr>
        <p:grpSpPr bwMode="auto">
          <a:xfrm>
            <a:off x="533400" y="2286000"/>
            <a:ext cx="538163" cy="2286000"/>
            <a:chOff x="384" y="1056"/>
            <a:chExt cx="339" cy="1440"/>
          </a:xfrm>
        </p:grpSpPr>
        <p:sp>
          <p:nvSpPr>
            <p:cNvPr id="9304" name="Line 49"/>
            <p:cNvSpPr>
              <a:spLocks noChangeShapeType="1"/>
            </p:cNvSpPr>
            <p:nvPr/>
          </p:nvSpPr>
          <p:spPr bwMode="auto">
            <a:xfrm flipH="1">
              <a:off x="384" y="1056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05" name="Freeform 50"/>
            <p:cNvSpPr>
              <a:spLocks/>
            </p:cNvSpPr>
            <p:nvPr/>
          </p:nvSpPr>
          <p:spPr bwMode="auto">
            <a:xfrm>
              <a:off x="525" y="1056"/>
              <a:ext cx="195" cy="1440"/>
            </a:xfrm>
            <a:custGeom>
              <a:avLst/>
              <a:gdLst>
                <a:gd name="T0" fmla="*/ 3 w 195"/>
                <a:gd name="T1" fmla="*/ 0 h 1440"/>
                <a:gd name="T2" fmla="*/ 0 w 195"/>
                <a:gd name="T3" fmla="*/ 1440 h 1440"/>
                <a:gd name="T4" fmla="*/ 195 w 195"/>
                <a:gd name="T5" fmla="*/ 1440 h 1440"/>
                <a:gd name="T6" fmla="*/ 0 60000 65536"/>
                <a:gd name="T7" fmla="*/ 0 60000 65536"/>
                <a:gd name="T8" fmla="*/ 0 60000 65536"/>
                <a:gd name="T9" fmla="*/ 0 w 195"/>
                <a:gd name="T10" fmla="*/ 0 h 1440"/>
                <a:gd name="T11" fmla="*/ 195 w 195"/>
                <a:gd name="T12" fmla="*/ 1440 h 14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" h="1440">
                  <a:moveTo>
                    <a:pt x="3" y="0"/>
                  </a:moveTo>
                  <a:lnTo>
                    <a:pt x="0" y="1440"/>
                  </a:lnTo>
                  <a:lnTo>
                    <a:pt x="195" y="144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oval" w="sm" len="sm"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06" name="Freeform 51"/>
            <p:cNvSpPr>
              <a:spLocks/>
            </p:cNvSpPr>
            <p:nvPr/>
          </p:nvSpPr>
          <p:spPr bwMode="auto">
            <a:xfrm>
              <a:off x="528" y="1794"/>
              <a:ext cx="195" cy="1"/>
            </a:xfrm>
            <a:custGeom>
              <a:avLst/>
              <a:gdLst>
                <a:gd name="T0" fmla="*/ 0 w 195"/>
                <a:gd name="T1" fmla="*/ 0 h 1"/>
                <a:gd name="T2" fmla="*/ 195 w 195"/>
                <a:gd name="T3" fmla="*/ 0 h 1"/>
                <a:gd name="T4" fmla="*/ 0 60000 65536"/>
                <a:gd name="T5" fmla="*/ 0 60000 65536"/>
                <a:gd name="T6" fmla="*/ 0 w 195"/>
                <a:gd name="T7" fmla="*/ 0 h 1"/>
                <a:gd name="T8" fmla="*/ 195 w 1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5" h="1">
                  <a:moveTo>
                    <a:pt x="0" y="0"/>
                  </a:moveTo>
                  <a:lnTo>
                    <a:pt x="195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oval" w="sm" len="sm"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15508" name="Freeform 52"/>
          <p:cNvSpPr>
            <a:spLocks/>
          </p:cNvSpPr>
          <p:nvPr/>
        </p:nvSpPr>
        <p:spPr bwMode="auto">
          <a:xfrm>
            <a:off x="285750" y="3243263"/>
            <a:ext cx="781050" cy="1587"/>
          </a:xfrm>
          <a:custGeom>
            <a:avLst/>
            <a:gdLst>
              <a:gd name="T0" fmla="*/ 2147483647 w 492"/>
              <a:gd name="T1" fmla="*/ 0 h 1"/>
              <a:gd name="T2" fmla="*/ 0 w 492"/>
              <a:gd name="T3" fmla="*/ 0 h 1"/>
              <a:gd name="T4" fmla="*/ 0 60000 65536"/>
              <a:gd name="T5" fmla="*/ 0 60000 65536"/>
              <a:gd name="T6" fmla="*/ 0 w 492"/>
              <a:gd name="T7" fmla="*/ 0 h 1"/>
              <a:gd name="T8" fmla="*/ 492 w 49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92" h="1">
                <a:moveTo>
                  <a:pt x="492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09" name="Line 53"/>
          <p:cNvSpPr>
            <a:spLocks noChangeShapeType="1"/>
          </p:cNvSpPr>
          <p:nvPr/>
        </p:nvSpPr>
        <p:spPr bwMode="auto">
          <a:xfrm flipH="1">
            <a:off x="304800" y="4343400"/>
            <a:ext cx="7620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0" name="Freeform 54"/>
          <p:cNvSpPr>
            <a:spLocks/>
          </p:cNvSpPr>
          <p:nvPr/>
        </p:nvSpPr>
        <p:spPr bwMode="auto">
          <a:xfrm>
            <a:off x="1443038" y="4467225"/>
            <a:ext cx="476250" cy="1588"/>
          </a:xfrm>
          <a:custGeom>
            <a:avLst/>
            <a:gdLst>
              <a:gd name="T0" fmla="*/ 0 w 300"/>
              <a:gd name="T1" fmla="*/ 0 h 1"/>
              <a:gd name="T2" fmla="*/ 2147483647 w 300"/>
              <a:gd name="T3" fmla="*/ 0 h 1"/>
              <a:gd name="T4" fmla="*/ 0 60000 65536"/>
              <a:gd name="T5" fmla="*/ 0 60000 65536"/>
              <a:gd name="T6" fmla="*/ 0 w 300"/>
              <a:gd name="T7" fmla="*/ 0 h 1"/>
              <a:gd name="T8" fmla="*/ 300 w 30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0" h="1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1" name="Freeform 55"/>
          <p:cNvSpPr>
            <a:spLocks/>
          </p:cNvSpPr>
          <p:nvPr/>
        </p:nvSpPr>
        <p:spPr bwMode="auto">
          <a:xfrm>
            <a:off x="1447800" y="3352800"/>
            <a:ext cx="476250" cy="1588"/>
          </a:xfrm>
          <a:custGeom>
            <a:avLst/>
            <a:gdLst>
              <a:gd name="T0" fmla="*/ 0 w 300"/>
              <a:gd name="T1" fmla="*/ 0 h 1"/>
              <a:gd name="T2" fmla="*/ 2147483647 w 300"/>
              <a:gd name="T3" fmla="*/ 0 h 1"/>
              <a:gd name="T4" fmla="*/ 0 60000 65536"/>
              <a:gd name="T5" fmla="*/ 0 60000 65536"/>
              <a:gd name="T6" fmla="*/ 0 w 300"/>
              <a:gd name="T7" fmla="*/ 0 h 1"/>
              <a:gd name="T8" fmla="*/ 300 w 30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0" h="1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2" name="Line 56"/>
          <p:cNvSpPr>
            <a:spLocks noChangeShapeType="1"/>
          </p:cNvSpPr>
          <p:nvPr/>
        </p:nvSpPr>
        <p:spPr bwMode="auto">
          <a:xfrm flipH="1">
            <a:off x="4038600" y="2667000"/>
            <a:ext cx="5334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3" name="Freeform 57"/>
          <p:cNvSpPr>
            <a:spLocks/>
          </p:cNvSpPr>
          <p:nvPr/>
        </p:nvSpPr>
        <p:spPr bwMode="auto">
          <a:xfrm>
            <a:off x="4038600" y="4110038"/>
            <a:ext cx="481013" cy="6350"/>
          </a:xfrm>
          <a:custGeom>
            <a:avLst/>
            <a:gdLst>
              <a:gd name="T0" fmla="*/ 2147483647 w 303"/>
              <a:gd name="T1" fmla="*/ 0 h 4"/>
              <a:gd name="T2" fmla="*/ 0 w 303"/>
              <a:gd name="T3" fmla="*/ 2147483647 h 4"/>
              <a:gd name="T4" fmla="*/ 0 60000 65536"/>
              <a:gd name="T5" fmla="*/ 0 60000 65536"/>
              <a:gd name="T6" fmla="*/ 0 w 303"/>
              <a:gd name="T7" fmla="*/ 0 h 4"/>
              <a:gd name="T8" fmla="*/ 303 w 303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3" h="4">
                <a:moveTo>
                  <a:pt x="303" y="0"/>
                </a:moveTo>
                <a:lnTo>
                  <a:pt x="0" y="4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4" name="Freeform 58"/>
          <p:cNvSpPr>
            <a:spLocks/>
          </p:cNvSpPr>
          <p:nvPr/>
        </p:nvSpPr>
        <p:spPr bwMode="auto">
          <a:xfrm>
            <a:off x="4343400" y="4114800"/>
            <a:ext cx="228600" cy="838200"/>
          </a:xfrm>
          <a:custGeom>
            <a:avLst/>
            <a:gdLst>
              <a:gd name="T0" fmla="*/ 0 w 144"/>
              <a:gd name="T1" fmla="*/ 0 h 432"/>
              <a:gd name="T2" fmla="*/ 0 w 144"/>
              <a:gd name="T3" fmla="*/ 2147483647 h 432"/>
              <a:gd name="T4" fmla="*/ 2147483647 w 144"/>
              <a:gd name="T5" fmla="*/ 2147483647 h 432"/>
              <a:gd name="T6" fmla="*/ 0 60000 65536"/>
              <a:gd name="T7" fmla="*/ 0 60000 65536"/>
              <a:gd name="T8" fmla="*/ 0 60000 65536"/>
              <a:gd name="T9" fmla="*/ 0 w 144"/>
              <a:gd name="T10" fmla="*/ 0 h 432"/>
              <a:gd name="T11" fmla="*/ 144 w 144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432">
                <a:moveTo>
                  <a:pt x="0" y="0"/>
                </a:move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oval" w="sm" len="sm"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5" name="Freeform 59"/>
          <p:cNvSpPr>
            <a:spLocks/>
          </p:cNvSpPr>
          <p:nvPr/>
        </p:nvSpPr>
        <p:spPr bwMode="auto">
          <a:xfrm>
            <a:off x="2536825" y="4452938"/>
            <a:ext cx="2035175" cy="728662"/>
          </a:xfrm>
          <a:custGeom>
            <a:avLst/>
            <a:gdLst>
              <a:gd name="T0" fmla="*/ 0 w 1282"/>
              <a:gd name="T1" fmla="*/ 2147483647 h 459"/>
              <a:gd name="T2" fmla="*/ 2147483647 w 1282"/>
              <a:gd name="T3" fmla="*/ 0 h 459"/>
              <a:gd name="T4" fmla="*/ 2147483647 w 1282"/>
              <a:gd name="T5" fmla="*/ 2147483647 h 459"/>
              <a:gd name="T6" fmla="*/ 2147483647 w 1282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1282"/>
              <a:gd name="T13" fmla="*/ 0 h 459"/>
              <a:gd name="T14" fmla="*/ 1282 w 1282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2" h="459">
                <a:moveTo>
                  <a:pt x="0" y="1"/>
                </a:moveTo>
                <a:lnTo>
                  <a:pt x="1042" y="0"/>
                </a:lnTo>
                <a:lnTo>
                  <a:pt x="1042" y="459"/>
                </a:lnTo>
                <a:lnTo>
                  <a:pt x="1282" y="459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oval" w="sm" len="sm"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6" name="Freeform 60"/>
          <p:cNvSpPr>
            <a:spLocks/>
          </p:cNvSpPr>
          <p:nvPr/>
        </p:nvSpPr>
        <p:spPr bwMode="auto">
          <a:xfrm>
            <a:off x="2667000" y="4114800"/>
            <a:ext cx="481013" cy="1588"/>
          </a:xfrm>
          <a:custGeom>
            <a:avLst/>
            <a:gdLst>
              <a:gd name="T0" fmla="*/ 2147483647 w 303"/>
              <a:gd name="T1" fmla="*/ 0 h 1"/>
              <a:gd name="T2" fmla="*/ 0 w 303"/>
              <a:gd name="T3" fmla="*/ 2147483647 h 1"/>
              <a:gd name="T4" fmla="*/ 0 60000 65536"/>
              <a:gd name="T5" fmla="*/ 0 60000 65536"/>
              <a:gd name="T6" fmla="*/ 0 w 303"/>
              <a:gd name="T7" fmla="*/ 0 h 1"/>
              <a:gd name="T8" fmla="*/ 303 w 30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3" h="1">
                <a:moveTo>
                  <a:pt x="303" y="0"/>
                </a:moveTo>
                <a:lnTo>
                  <a:pt x="0" y="1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17" name="Freeform 61"/>
          <p:cNvSpPr>
            <a:spLocks/>
          </p:cNvSpPr>
          <p:nvPr/>
        </p:nvSpPr>
        <p:spPr bwMode="auto">
          <a:xfrm>
            <a:off x="4337050" y="2886075"/>
            <a:ext cx="234950" cy="466725"/>
          </a:xfrm>
          <a:custGeom>
            <a:avLst/>
            <a:gdLst>
              <a:gd name="T0" fmla="*/ 2147483647 w 148"/>
              <a:gd name="T1" fmla="*/ 0 h 294"/>
              <a:gd name="T2" fmla="*/ 2147483647 w 148"/>
              <a:gd name="T3" fmla="*/ 0 h 294"/>
              <a:gd name="T4" fmla="*/ 0 w 148"/>
              <a:gd name="T5" fmla="*/ 2147483647 h 294"/>
              <a:gd name="T6" fmla="*/ 0 60000 65536"/>
              <a:gd name="T7" fmla="*/ 0 60000 65536"/>
              <a:gd name="T8" fmla="*/ 0 60000 65536"/>
              <a:gd name="T9" fmla="*/ 0 w 148"/>
              <a:gd name="T10" fmla="*/ 0 h 294"/>
              <a:gd name="T11" fmla="*/ 148 w 148"/>
              <a:gd name="T12" fmla="*/ 294 h 2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" h="294">
                <a:moveTo>
                  <a:pt x="148" y="0"/>
                </a:moveTo>
                <a:lnTo>
                  <a:pt x="1" y="0"/>
                </a:lnTo>
                <a:lnTo>
                  <a:pt x="0" y="29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oval" w="sm" len="sm"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Group 62"/>
          <p:cNvGrpSpPr>
            <a:grpSpLocks/>
          </p:cNvGrpSpPr>
          <p:nvPr/>
        </p:nvGrpSpPr>
        <p:grpSpPr bwMode="auto">
          <a:xfrm>
            <a:off x="2286000" y="3352800"/>
            <a:ext cx="866775" cy="542925"/>
            <a:chOff x="1488" y="1728"/>
            <a:chExt cx="546" cy="342"/>
          </a:xfrm>
        </p:grpSpPr>
        <p:sp>
          <p:nvSpPr>
            <p:cNvPr id="9302" name="Freeform 63"/>
            <p:cNvSpPr>
              <a:spLocks/>
            </p:cNvSpPr>
            <p:nvPr/>
          </p:nvSpPr>
          <p:spPr bwMode="auto">
            <a:xfrm>
              <a:off x="1488" y="1728"/>
              <a:ext cx="408" cy="1"/>
            </a:xfrm>
            <a:custGeom>
              <a:avLst/>
              <a:gdLst>
                <a:gd name="T0" fmla="*/ 0 w 408"/>
                <a:gd name="T1" fmla="*/ 0 h 1"/>
                <a:gd name="T2" fmla="*/ 408 w 408"/>
                <a:gd name="T3" fmla="*/ 0 h 1"/>
                <a:gd name="T4" fmla="*/ 0 60000 65536"/>
                <a:gd name="T5" fmla="*/ 0 60000 65536"/>
                <a:gd name="T6" fmla="*/ 0 w 408"/>
                <a:gd name="T7" fmla="*/ 0 h 1"/>
                <a:gd name="T8" fmla="*/ 408 w 40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8" h="1">
                  <a:moveTo>
                    <a:pt x="0" y="0"/>
                  </a:moveTo>
                  <a:lnTo>
                    <a:pt x="408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sm"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03" name="Freeform 64"/>
            <p:cNvSpPr>
              <a:spLocks/>
            </p:cNvSpPr>
            <p:nvPr/>
          </p:nvSpPr>
          <p:spPr bwMode="auto">
            <a:xfrm>
              <a:off x="1884" y="1731"/>
              <a:ext cx="150" cy="339"/>
            </a:xfrm>
            <a:custGeom>
              <a:avLst/>
              <a:gdLst>
                <a:gd name="T0" fmla="*/ 0 w 150"/>
                <a:gd name="T1" fmla="*/ 0 h 339"/>
                <a:gd name="T2" fmla="*/ 0 w 150"/>
                <a:gd name="T3" fmla="*/ 339 h 339"/>
                <a:gd name="T4" fmla="*/ 150 w 150"/>
                <a:gd name="T5" fmla="*/ 339 h 339"/>
                <a:gd name="T6" fmla="*/ 0 60000 65536"/>
                <a:gd name="T7" fmla="*/ 0 60000 65536"/>
                <a:gd name="T8" fmla="*/ 0 60000 65536"/>
                <a:gd name="T9" fmla="*/ 0 w 150"/>
                <a:gd name="T10" fmla="*/ 0 h 339"/>
                <a:gd name="T11" fmla="*/ 150 w 150"/>
                <a:gd name="T12" fmla="*/ 339 h 3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" h="339">
                  <a:moveTo>
                    <a:pt x="0" y="0"/>
                  </a:moveTo>
                  <a:lnTo>
                    <a:pt x="0" y="339"/>
                  </a:lnTo>
                  <a:lnTo>
                    <a:pt x="150" y="339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sm"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15521" name="Freeform 65"/>
          <p:cNvSpPr>
            <a:spLocks/>
          </p:cNvSpPr>
          <p:nvPr/>
        </p:nvSpPr>
        <p:spPr bwMode="auto">
          <a:xfrm>
            <a:off x="2895600" y="4114800"/>
            <a:ext cx="300038" cy="857250"/>
          </a:xfrm>
          <a:custGeom>
            <a:avLst/>
            <a:gdLst>
              <a:gd name="T0" fmla="*/ 0 w 189"/>
              <a:gd name="T1" fmla="*/ 0 h 540"/>
              <a:gd name="T2" fmla="*/ 0 w 189"/>
              <a:gd name="T3" fmla="*/ 2147483647 h 540"/>
              <a:gd name="T4" fmla="*/ 2147483647 w 189"/>
              <a:gd name="T5" fmla="*/ 2147483647 h 540"/>
              <a:gd name="T6" fmla="*/ 0 60000 65536"/>
              <a:gd name="T7" fmla="*/ 0 60000 65536"/>
              <a:gd name="T8" fmla="*/ 0 60000 65536"/>
              <a:gd name="T9" fmla="*/ 0 w 189"/>
              <a:gd name="T10" fmla="*/ 0 h 540"/>
              <a:gd name="T11" fmla="*/ 189 w 189"/>
              <a:gd name="T12" fmla="*/ 540 h 5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9" h="540">
                <a:moveTo>
                  <a:pt x="0" y="0"/>
                </a:moveTo>
                <a:lnTo>
                  <a:pt x="0" y="537"/>
                </a:lnTo>
                <a:lnTo>
                  <a:pt x="189" y="54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oval" w="sm" len="sm"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2" name="Freeform 66"/>
          <p:cNvSpPr>
            <a:spLocks/>
          </p:cNvSpPr>
          <p:nvPr/>
        </p:nvSpPr>
        <p:spPr bwMode="auto">
          <a:xfrm>
            <a:off x="5634038" y="2686050"/>
            <a:ext cx="533400" cy="1588"/>
          </a:xfrm>
          <a:custGeom>
            <a:avLst/>
            <a:gdLst>
              <a:gd name="T0" fmla="*/ 2147483647 w 336"/>
              <a:gd name="T1" fmla="*/ 0 h 1"/>
              <a:gd name="T2" fmla="*/ 0 w 336"/>
              <a:gd name="T3" fmla="*/ 0 h 1"/>
              <a:gd name="T4" fmla="*/ 0 60000 65536"/>
              <a:gd name="T5" fmla="*/ 0 60000 65536"/>
              <a:gd name="T6" fmla="*/ 0 w 336"/>
              <a:gd name="T7" fmla="*/ 0 h 1"/>
              <a:gd name="T8" fmla="*/ 336 w 33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6" h="1">
                <a:moveTo>
                  <a:pt x="336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3" name="Freeform 67"/>
          <p:cNvSpPr>
            <a:spLocks/>
          </p:cNvSpPr>
          <p:nvPr/>
        </p:nvSpPr>
        <p:spPr bwMode="auto">
          <a:xfrm>
            <a:off x="6553200" y="3957638"/>
            <a:ext cx="838200" cy="6350"/>
          </a:xfrm>
          <a:custGeom>
            <a:avLst/>
            <a:gdLst>
              <a:gd name="T0" fmla="*/ 0 w 528"/>
              <a:gd name="T1" fmla="*/ 0 h 4"/>
              <a:gd name="T2" fmla="*/ 2147483647 w 528"/>
              <a:gd name="T3" fmla="*/ 2147483647 h 4"/>
              <a:gd name="T4" fmla="*/ 0 60000 65536"/>
              <a:gd name="T5" fmla="*/ 0 60000 65536"/>
              <a:gd name="T6" fmla="*/ 0 w 528"/>
              <a:gd name="T7" fmla="*/ 0 h 4"/>
              <a:gd name="T8" fmla="*/ 528 w 528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28" h="4">
                <a:moveTo>
                  <a:pt x="0" y="0"/>
                </a:moveTo>
                <a:lnTo>
                  <a:pt x="528" y="4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4" name="Freeform 68"/>
          <p:cNvSpPr>
            <a:spLocks/>
          </p:cNvSpPr>
          <p:nvPr/>
        </p:nvSpPr>
        <p:spPr bwMode="auto">
          <a:xfrm>
            <a:off x="6548438" y="2786063"/>
            <a:ext cx="847725" cy="1004887"/>
          </a:xfrm>
          <a:custGeom>
            <a:avLst/>
            <a:gdLst>
              <a:gd name="T0" fmla="*/ 0 w 534"/>
              <a:gd name="T1" fmla="*/ 0 h 633"/>
              <a:gd name="T2" fmla="*/ 2147483647 w 534"/>
              <a:gd name="T3" fmla="*/ 2147483647 h 633"/>
              <a:gd name="T4" fmla="*/ 2147483647 w 534"/>
              <a:gd name="T5" fmla="*/ 2147483647 h 633"/>
              <a:gd name="T6" fmla="*/ 2147483647 w 534"/>
              <a:gd name="T7" fmla="*/ 2147483647 h 633"/>
              <a:gd name="T8" fmla="*/ 0 60000 65536"/>
              <a:gd name="T9" fmla="*/ 0 60000 65536"/>
              <a:gd name="T10" fmla="*/ 0 60000 65536"/>
              <a:gd name="T11" fmla="*/ 0 60000 65536"/>
              <a:gd name="T12" fmla="*/ 0 w 534"/>
              <a:gd name="T13" fmla="*/ 0 h 633"/>
              <a:gd name="T14" fmla="*/ 534 w 534"/>
              <a:gd name="T15" fmla="*/ 633 h 6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34" h="633">
                <a:moveTo>
                  <a:pt x="0" y="0"/>
                </a:moveTo>
                <a:lnTo>
                  <a:pt x="93" y="3"/>
                </a:lnTo>
                <a:lnTo>
                  <a:pt x="90" y="633"/>
                </a:lnTo>
                <a:lnTo>
                  <a:pt x="534" y="63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5" name="Freeform 69"/>
          <p:cNvSpPr>
            <a:spLocks/>
          </p:cNvSpPr>
          <p:nvPr/>
        </p:nvSpPr>
        <p:spPr bwMode="auto">
          <a:xfrm>
            <a:off x="4953000" y="2438400"/>
            <a:ext cx="2443163" cy="1190625"/>
          </a:xfrm>
          <a:custGeom>
            <a:avLst/>
            <a:gdLst>
              <a:gd name="T0" fmla="*/ 0 w 1539"/>
              <a:gd name="T1" fmla="*/ 2147483647 h 750"/>
              <a:gd name="T2" fmla="*/ 2147483647 w 1539"/>
              <a:gd name="T3" fmla="*/ 2147483647 h 750"/>
              <a:gd name="T4" fmla="*/ 2147483647 w 1539"/>
              <a:gd name="T5" fmla="*/ 0 h 750"/>
              <a:gd name="T6" fmla="*/ 2147483647 w 1539"/>
              <a:gd name="T7" fmla="*/ 0 h 750"/>
              <a:gd name="T8" fmla="*/ 2147483647 w 1539"/>
              <a:gd name="T9" fmla="*/ 2147483647 h 750"/>
              <a:gd name="T10" fmla="*/ 2147483647 w 1539"/>
              <a:gd name="T11" fmla="*/ 2147483647 h 7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39"/>
              <a:gd name="T19" fmla="*/ 0 h 750"/>
              <a:gd name="T20" fmla="*/ 1539 w 1539"/>
              <a:gd name="T21" fmla="*/ 750 h 7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39" h="750">
                <a:moveTo>
                  <a:pt x="0" y="216"/>
                </a:moveTo>
                <a:lnTo>
                  <a:pt x="144" y="219"/>
                </a:lnTo>
                <a:lnTo>
                  <a:pt x="144" y="0"/>
                </a:lnTo>
                <a:lnTo>
                  <a:pt x="1221" y="0"/>
                </a:lnTo>
                <a:lnTo>
                  <a:pt x="1221" y="750"/>
                </a:lnTo>
                <a:lnTo>
                  <a:pt x="1539" y="75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6" name="Freeform 70"/>
          <p:cNvSpPr>
            <a:spLocks/>
          </p:cNvSpPr>
          <p:nvPr/>
        </p:nvSpPr>
        <p:spPr bwMode="auto">
          <a:xfrm>
            <a:off x="1443038" y="2166938"/>
            <a:ext cx="5953125" cy="1295400"/>
          </a:xfrm>
          <a:custGeom>
            <a:avLst/>
            <a:gdLst>
              <a:gd name="T0" fmla="*/ 0 w 3750"/>
              <a:gd name="T1" fmla="*/ 0 h 816"/>
              <a:gd name="T2" fmla="*/ 2147483647 w 3750"/>
              <a:gd name="T3" fmla="*/ 2147483647 h 816"/>
              <a:gd name="T4" fmla="*/ 2147483647 w 3750"/>
              <a:gd name="T5" fmla="*/ 2147483647 h 816"/>
              <a:gd name="T6" fmla="*/ 2147483647 w 3750"/>
              <a:gd name="T7" fmla="*/ 2147483647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3750"/>
              <a:gd name="T13" fmla="*/ 0 h 816"/>
              <a:gd name="T14" fmla="*/ 3750 w 3750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50" h="816">
                <a:moveTo>
                  <a:pt x="0" y="0"/>
                </a:moveTo>
                <a:lnTo>
                  <a:pt x="3551" y="3"/>
                </a:lnTo>
                <a:lnTo>
                  <a:pt x="3551" y="815"/>
                </a:lnTo>
                <a:lnTo>
                  <a:pt x="3750" y="81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7" name="Freeform 71"/>
          <p:cNvSpPr>
            <a:spLocks/>
          </p:cNvSpPr>
          <p:nvPr/>
        </p:nvSpPr>
        <p:spPr bwMode="auto">
          <a:xfrm>
            <a:off x="4900613" y="3995738"/>
            <a:ext cx="2495550" cy="500062"/>
          </a:xfrm>
          <a:custGeom>
            <a:avLst/>
            <a:gdLst>
              <a:gd name="T0" fmla="*/ 0 w 1572"/>
              <a:gd name="T1" fmla="*/ 0 h 315"/>
              <a:gd name="T2" fmla="*/ 2147483647 w 1572"/>
              <a:gd name="T3" fmla="*/ 0 h 315"/>
              <a:gd name="T4" fmla="*/ 2147483647 w 1572"/>
              <a:gd name="T5" fmla="*/ 2147483647 h 315"/>
              <a:gd name="T6" fmla="*/ 2147483647 w 1572"/>
              <a:gd name="T7" fmla="*/ 2147483647 h 315"/>
              <a:gd name="T8" fmla="*/ 2147483647 w 1572"/>
              <a:gd name="T9" fmla="*/ 2147483647 h 315"/>
              <a:gd name="T10" fmla="*/ 2147483647 w 1572"/>
              <a:gd name="T11" fmla="*/ 2147483647 h 3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72"/>
              <a:gd name="T19" fmla="*/ 0 h 315"/>
              <a:gd name="T20" fmla="*/ 1572 w 1572"/>
              <a:gd name="T21" fmla="*/ 315 h 3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72" h="315">
                <a:moveTo>
                  <a:pt x="0" y="0"/>
                </a:moveTo>
                <a:lnTo>
                  <a:pt x="174" y="0"/>
                </a:lnTo>
                <a:lnTo>
                  <a:pt x="174" y="315"/>
                </a:lnTo>
                <a:lnTo>
                  <a:pt x="1131" y="315"/>
                </a:lnTo>
                <a:lnTo>
                  <a:pt x="1131" y="75"/>
                </a:lnTo>
                <a:lnTo>
                  <a:pt x="1572" y="7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8" name="Freeform 72"/>
          <p:cNvSpPr>
            <a:spLocks/>
          </p:cNvSpPr>
          <p:nvPr/>
        </p:nvSpPr>
        <p:spPr bwMode="auto">
          <a:xfrm>
            <a:off x="3805238" y="4286250"/>
            <a:ext cx="3590925" cy="361950"/>
          </a:xfrm>
          <a:custGeom>
            <a:avLst/>
            <a:gdLst>
              <a:gd name="T0" fmla="*/ 0 w 2262"/>
              <a:gd name="T1" fmla="*/ 2147483647 h 228"/>
              <a:gd name="T2" fmla="*/ 0 w 2262"/>
              <a:gd name="T3" fmla="*/ 2147483647 h 228"/>
              <a:gd name="T4" fmla="*/ 2147483647 w 2262"/>
              <a:gd name="T5" fmla="*/ 2147483647 h 228"/>
              <a:gd name="T6" fmla="*/ 2147483647 w 2262"/>
              <a:gd name="T7" fmla="*/ 2147483647 h 228"/>
              <a:gd name="T8" fmla="*/ 2147483647 w 2262"/>
              <a:gd name="T9" fmla="*/ 0 h 228"/>
              <a:gd name="T10" fmla="*/ 2147483647 w 2262"/>
              <a:gd name="T11" fmla="*/ 0 h 2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62"/>
              <a:gd name="T19" fmla="*/ 0 h 228"/>
              <a:gd name="T20" fmla="*/ 2262 w 2262"/>
              <a:gd name="T21" fmla="*/ 228 h 2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62" h="228">
                <a:moveTo>
                  <a:pt x="0" y="223"/>
                </a:moveTo>
                <a:lnTo>
                  <a:pt x="0" y="223"/>
                </a:lnTo>
                <a:lnTo>
                  <a:pt x="3" y="228"/>
                </a:lnTo>
                <a:lnTo>
                  <a:pt x="1950" y="228"/>
                </a:lnTo>
                <a:lnTo>
                  <a:pt x="1950" y="0"/>
                </a:lnTo>
                <a:lnTo>
                  <a:pt x="2262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29" name="Freeform 73"/>
          <p:cNvSpPr>
            <a:spLocks/>
          </p:cNvSpPr>
          <p:nvPr/>
        </p:nvSpPr>
        <p:spPr bwMode="auto">
          <a:xfrm>
            <a:off x="4948238" y="4443413"/>
            <a:ext cx="2447925" cy="623887"/>
          </a:xfrm>
          <a:custGeom>
            <a:avLst/>
            <a:gdLst>
              <a:gd name="T0" fmla="*/ 0 w 1542"/>
              <a:gd name="T1" fmla="*/ 2147483647 h 393"/>
              <a:gd name="T2" fmla="*/ 2147483647 w 1542"/>
              <a:gd name="T3" fmla="*/ 2147483647 h 393"/>
              <a:gd name="T4" fmla="*/ 2147483647 w 1542"/>
              <a:gd name="T5" fmla="*/ 2147483647 h 393"/>
              <a:gd name="T6" fmla="*/ 2147483647 w 1542"/>
              <a:gd name="T7" fmla="*/ 0 h 393"/>
              <a:gd name="T8" fmla="*/ 0 60000 65536"/>
              <a:gd name="T9" fmla="*/ 0 60000 65536"/>
              <a:gd name="T10" fmla="*/ 0 60000 65536"/>
              <a:gd name="T11" fmla="*/ 0 60000 65536"/>
              <a:gd name="T12" fmla="*/ 0 w 1542"/>
              <a:gd name="T13" fmla="*/ 0 h 393"/>
              <a:gd name="T14" fmla="*/ 1542 w 1542"/>
              <a:gd name="T15" fmla="*/ 393 h 39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2" h="393">
                <a:moveTo>
                  <a:pt x="0" y="393"/>
                </a:moveTo>
                <a:lnTo>
                  <a:pt x="1353" y="393"/>
                </a:lnTo>
                <a:lnTo>
                  <a:pt x="1353" y="3"/>
                </a:lnTo>
                <a:lnTo>
                  <a:pt x="1542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30" name="Freeform 74"/>
          <p:cNvSpPr>
            <a:spLocks/>
          </p:cNvSpPr>
          <p:nvPr/>
        </p:nvSpPr>
        <p:spPr bwMode="auto">
          <a:xfrm>
            <a:off x="3581400" y="4610100"/>
            <a:ext cx="3819525" cy="952500"/>
          </a:xfrm>
          <a:custGeom>
            <a:avLst/>
            <a:gdLst>
              <a:gd name="T0" fmla="*/ 0 w 2406"/>
              <a:gd name="T1" fmla="*/ 2147483647 h 600"/>
              <a:gd name="T2" fmla="*/ 2147483647 w 2406"/>
              <a:gd name="T3" fmla="*/ 2147483647 h 600"/>
              <a:gd name="T4" fmla="*/ 2147483647 w 2406"/>
              <a:gd name="T5" fmla="*/ 2147483647 h 600"/>
              <a:gd name="T6" fmla="*/ 2147483647 w 2406"/>
              <a:gd name="T7" fmla="*/ 2147483647 h 600"/>
              <a:gd name="T8" fmla="*/ 2147483647 w 2406"/>
              <a:gd name="T9" fmla="*/ 0 h 600"/>
              <a:gd name="T10" fmla="*/ 2147483647 w 2406"/>
              <a:gd name="T11" fmla="*/ 0 h 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06"/>
              <a:gd name="T19" fmla="*/ 0 h 600"/>
              <a:gd name="T20" fmla="*/ 2406 w 2406"/>
              <a:gd name="T21" fmla="*/ 600 h 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06" h="600">
                <a:moveTo>
                  <a:pt x="0" y="291"/>
                </a:moveTo>
                <a:lnTo>
                  <a:pt x="240" y="288"/>
                </a:lnTo>
                <a:lnTo>
                  <a:pt x="240" y="600"/>
                </a:lnTo>
                <a:lnTo>
                  <a:pt x="2332" y="596"/>
                </a:lnTo>
                <a:lnTo>
                  <a:pt x="2331" y="0"/>
                </a:lnTo>
                <a:lnTo>
                  <a:pt x="240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Group 75"/>
          <p:cNvGrpSpPr>
            <a:grpSpLocks/>
          </p:cNvGrpSpPr>
          <p:nvPr/>
        </p:nvGrpSpPr>
        <p:grpSpPr bwMode="auto">
          <a:xfrm>
            <a:off x="7391407" y="3352800"/>
            <a:ext cx="509588" cy="1371600"/>
            <a:chOff x="4704" y="1728"/>
            <a:chExt cx="321" cy="864"/>
          </a:xfrm>
        </p:grpSpPr>
        <p:sp>
          <p:nvSpPr>
            <p:cNvPr id="9292" name="Rectangle 76"/>
            <p:cNvSpPr>
              <a:spLocks noChangeArrowheads="1"/>
            </p:cNvSpPr>
            <p:nvPr/>
          </p:nvSpPr>
          <p:spPr bwMode="auto">
            <a:xfrm>
              <a:off x="4752" y="1728"/>
              <a:ext cx="260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93" name="Oval 77"/>
            <p:cNvSpPr>
              <a:spLocks noChangeArrowheads="1"/>
            </p:cNvSpPr>
            <p:nvPr/>
          </p:nvSpPr>
          <p:spPr bwMode="auto">
            <a:xfrm>
              <a:off x="4704" y="249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94" name="Oval 78"/>
            <p:cNvSpPr>
              <a:spLocks noChangeArrowheads="1"/>
            </p:cNvSpPr>
            <p:nvPr/>
          </p:nvSpPr>
          <p:spPr bwMode="auto">
            <a:xfrm>
              <a:off x="4704" y="2393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95" name="Oval 79"/>
            <p:cNvSpPr>
              <a:spLocks noChangeArrowheads="1"/>
            </p:cNvSpPr>
            <p:nvPr/>
          </p:nvSpPr>
          <p:spPr bwMode="auto">
            <a:xfrm>
              <a:off x="4704" y="229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96" name="Oval 80"/>
            <p:cNvSpPr>
              <a:spLocks noChangeArrowheads="1"/>
            </p:cNvSpPr>
            <p:nvPr/>
          </p:nvSpPr>
          <p:spPr bwMode="auto">
            <a:xfrm>
              <a:off x="4704" y="218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97" name="Oval 81"/>
            <p:cNvSpPr>
              <a:spLocks noChangeArrowheads="1"/>
            </p:cNvSpPr>
            <p:nvPr/>
          </p:nvSpPr>
          <p:spPr bwMode="auto">
            <a:xfrm>
              <a:off x="4704" y="208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98" name="Oval 82"/>
            <p:cNvSpPr>
              <a:spLocks noChangeArrowheads="1"/>
            </p:cNvSpPr>
            <p:nvPr/>
          </p:nvSpPr>
          <p:spPr bwMode="auto">
            <a:xfrm>
              <a:off x="4704" y="1981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99" name="Oval 83"/>
            <p:cNvSpPr>
              <a:spLocks noChangeArrowheads="1"/>
            </p:cNvSpPr>
            <p:nvPr/>
          </p:nvSpPr>
          <p:spPr bwMode="auto">
            <a:xfrm>
              <a:off x="4704" y="1878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00" name="Oval 84"/>
            <p:cNvSpPr>
              <a:spLocks noChangeArrowheads="1"/>
            </p:cNvSpPr>
            <p:nvPr/>
          </p:nvSpPr>
          <p:spPr bwMode="auto">
            <a:xfrm>
              <a:off x="4704" y="177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01" name="Text Box 85"/>
            <p:cNvSpPr txBox="1">
              <a:spLocks noChangeArrowheads="1"/>
            </p:cNvSpPr>
            <p:nvPr/>
          </p:nvSpPr>
          <p:spPr bwMode="auto">
            <a:xfrm>
              <a:off x="4766" y="2047"/>
              <a:ext cx="25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>
              <a:spAutoFit/>
            </a:bodyPr>
            <a:lstStyle/>
            <a:p>
              <a:pPr algn="l"/>
              <a:r>
                <a:rPr kumimoji="1" lang="en-US" altLang="zh-CN" sz="1800">
                  <a:latin typeface="微软雅黑" pitchFamily="34" charset="-122"/>
                  <a:ea typeface="微软雅黑" pitchFamily="34" charset="-122"/>
                </a:rPr>
                <a:t>≥1</a:t>
              </a:r>
            </a:p>
          </p:txBody>
        </p:sp>
      </p:grpSp>
      <p:sp>
        <p:nvSpPr>
          <p:cNvPr id="915542" name="Text Box 86"/>
          <p:cNvSpPr txBox="1">
            <a:spLocks noChangeArrowheads="1"/>
          </p:cNvSpPr>
          <p:nvPr/>
        </p:nvSpPr>
        <p:spPr bwMode="auto">
          <a:xfrm>
            <a:off x="228600" y="1752600"/>
            <a:ext cx="4443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FE</a:t>
            </a:r>
          </a:p>
        </p:txBody>
      </p:sp>
      <p:sp>
        <p:nvSpPr>
          <p:cNvPr id="915543" name="Text Box 87"/>
          <p:cNvSpPr txBox="1">
            <a:spLocks noChangeArrowheads="1"/>
          </p:cNvSpPr>
          <p:nvPr/>
        </p:nvSpPr>
        <p:spPr bwMode="auto">
          <a:xfrm>
            <a:off x="228600" y="2909888"/>
            <a:ext cx="6399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IND</a:t>
            </a:r>
          </a:p>
        </p:txBody>
      </p:sp>
      <p:sp>
        <p:nvSpPr>
          <p:cNvPr id="915544" name="Text Box 88"/>
          <p:cNvSpPr txBox="1">
            <a:spLocks noChangeArrowheads="1"/>
          </p:cNvSpPr>
          <p:nvPr/>
        </p:nvSpPr>
        <p:spPr bwMode="auto">
          <a:xfrm>
            <a:off x="228600" y="4038600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EX</a:t>
            </a:r>
          </a:p>
        </p:txBody>
      </p:sp>
      <p:sp>
        <p:nvSpPr>
          <p:cNvPr id="915545" name="Text Box 89"/>
          <p:cNvSpPr txBox="1">
            <a:spLocks noChangeArrowheads="1"/>
          </p:cNvSpPr>
          <p:nvPr/>
        </p:nvSpPr>
        <p:spPr bwMode="auto">
          <a:xfrm>
            <a:off x="2381250" y="3810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LDA</a:t>
            </a:r>
          </a:p>
        </p:txBody>
      </p:sp>
      <p:sp>
        <p:nvSpPr>
          <p:cNvPr id="915546" name="Text Box 90"/>
          <p:cNvSpPr txBox="1">
            <a:spLocks noChangeArrowheads="1"/>
          </p:cNvSpPr>
          <p:nvPr/>
        </p:nvSpPr>
        <p:spPr bwMode="auto">
          <a:xfrm>
            <a:off x="3810000" y="3810000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ADD</a:t>
            </a:r>
          </a:p>
        </p:txBody>
      </p:sp>
      <p:sp>
        <p:nvSpPr>
          <p:cNvPr id="915547" name="Text Box 91"/>
          <p:cNvSpPr txBox="1">
            <a:spLocks noChangeArrowheads="1"/>
          </p:cNvSpPr>
          <p:nvPr/>
        </p:nvSpPr>
        <p:spPr bwMode="auto">
          <a:xfrm>
            <a:off x="3810000" y="2362200"/>
            <a:ext cx="683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JMP</a:t>
            </a:r>
          </a:p>
        </p:txBody>
      </p:sp>
      <p:sp>
        <p:nvSpPr>
          <p:cNvPr id="915548" name="Text Box 92"/>
          <p:cNvSpPr txBox="1">
            <a:spLocks noChangeArrowheads="1"/>
          </p:cNvSpPr>
          <p:nvPr/>
        </p:nvSpPr>
        <p:spPr bwMode="auto">
          <a:xfrm>
            <a:off x="5429250" y="2376488"/>
            <a:ext cx="7104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BAN</a:t>
            </a:r>
          </a:p>
        </p:txBody>
      </p:sp>
      <p:sp>
        <p:nvSpPr>
          <p:cNvPr id="915549" name="Text Box 93"/>
          <p:cNvSpPr txBox="1">
            <a:spLocks noChangeArrowheads="1"/>
          </p:cNvSpPr>
          <p:nvPr/>
        </p:nvSpPr>
        <p:spPr bwMode="auto">
          <a:xfrm>
            <a:off x="5429250" y="3748088"/>
            <a:ext cx="62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STA</a:t>
            </a:r>
          </a:p>
        </p:txBody>
      </p:sp>
      <p:sp>
        <p:nvSpPr>
          <p:cNvPr id="915550" name="Freeform 94"/>
          <p:cNvSpPr>
            <a:spLocks/>
          </p:cNvSpPr>
          <p:nvPr/>
        </p:nvSpPr>
        <p:spPr bwMode="auto">
          <a:xfrm>
            <a:off x="5629275" y="4071938"/>
            <a:ext cx="542925" cy="1587"/>
          </a:xfrm>
          <a:custGeom>
            <a:avLst/>
            <a:gdLst>
              <a:gd name="T0" fmla="*/ 2147483647 w 342"/>
              <a:gd name="T1" fmla="*/ 0 h 1"/>
              <a:gd name="T2" fmla="*/ 0 w 342"/>
              <a:gd name="T3" fmla="*/ 0 h 1"/>
              <a:gd name="T4" fmla="*/ 0 60000 65536"/>
              <a:gd name="T5" fmla="*/ 0 60000 65536"/>
              <a:gd name="T6" fmla="*/ 0 w 342"/>
              <a:gd name="T7" fmla="*/ 0 h 1"/>
              <a:gd name="T8" fmla="*/ 342 w 34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">
                <a:moveTo>
                  <a:pt x="342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51" name="Text Box 95"/>
          <p:cNvSpPr txBox="1">
            <a:spLocks noChangeArrowheads="1"/>
          </p:cNvSpPr>
          <p:nvPr/>
        </p:nvSpPr>
        <p:spPr bwMode="auto">
          <a:xfrm>
            <a:off x="228600" y="2117725"/>
            <a:ext cx="45076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i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2000" baseline="-25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15552" name="Line 96"/>
          <p:cNvSpPr>
            <a:spLocks noChangeShapeType="1"/>
          </p:cNvSpPr>
          <p:nvPr/>
        </p:nvSpPr>
        <p:spPr bwMode="auto">
          <a:xfrm>
            <a:off x="7885113" y="4038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" name="Group 97"/>
          <p:cNvGrpSpPr>
            <a:grpSpLocks/>
          </p:cNvGrpSpPr>
          <p:nvPr/>
        </p:nvGrpSpPr>
        <p:grpSpPr bwMode="auto">
          <a:xfrm>
            <a:off x="7886700" y="4110041"/>
            <a:ext cx="1587500" cy="646113"/>
            <a:chOff x="4992" y="2160"/>
            <a:chExt cx="1000" cy="407"/>
          </a:xfrm>
        </p:grpSpPr>
        <p:sp>
          <p:nvSpPr>
            <p:cNvPr id="9290" name="Text Box 98"/>
            <p:cNvSpPr txBox="1">
              <a:spLocks noChangeArrowheads="1"/>
            </p:cNvSpPr>
            <p:nvPr/>
          </p:nvSpPr>
          <p:spPr bwMode="auto">
            <a:xfrm>
              <a:off x="4992" y="2160"/>
              <a:ext cx="1000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M ( MAR)    </a:t>
              </a:r>
            </a:p>
            <a:p>
              <a:pPr algn="l"/>
              <a:r>
                <a:rPr kumimoji="1" lang="en-US" altLang="zh-CN" sz="18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      MDR</a:t>
              </a:r>
            </a:p>
          </p:txBody>
        </p:sp>
        <p:sp>
          <p:nvSpPr>
            <p:cNvPr id="9291" name="Line 99"/>
            <p:cNvSpPr>
              <a:spLocks noChangeShapeType="1"/>
            </p:cNvSpPr>
            <p:nvPr/>
          </p:nvSpPr>
          <p:spPr bwMode="auto">
            <a:xfrm>
              <a:off x="5040" y="2448"/>
              <a:ext cx="240" cy="0"/>
            </a:xfrm>
            <a:prstGeom prst="line">
              <a:avLst/>
            </a:prstGeom>
            <a:noFill/>
            <a:ln w="28575">
              <a:noFill/>
              <a:round/>
              <a:headE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Group 100"/>
          <p:cNvGrpSpPr>
            <a:grpSpLocks/>
          </p:cNvGrpSpPr>
          <p:nvPr/>
        </p:nvGrpSpPr>
        <p:grpSpPr bwMode="auto">
          <a:xfrm>
            <a:off x="2919413" y="3352800"/>
            <a:ext cx="1600200" cy="533400"/>
            <a:chOff x="1887" y="1728"/>
            <a:chExt cx="1008" cy="336"/>
          </a:xfrm>
        </p:grpSpPr>
        <p:sp>
          <p:nvSpPr>
            <p:cNvPr id="9288" name="Freeform 101"/>
            <p:cNvSpPr>
              <a:spLocks/>
            </p:cNvSpPr>
            <p:nvPr/>
          </p:nvSpPr>
          <p:spPr bwMode="auto">
            <a:xfrm>
              <a:off x="2784" y="1728"/>
              <a:ext cx="111" cy="336"/>
            </a:xfrm>
            <a:custGeom>
              <a:avLst/>
              <a:gdLst>
                <a:gd name="T0" fmla="*/ 0 w 111"/>
                <a:gd name="T1" fmla="*/ 0 h 336"/>
                <a:gd name="T2" fmla="*/ 0 w 111"/>
                <a:gd name="T3" fmla="*/ 336 h 336"/>
                <a:gd name="T4" fmla="*/ 111 w 111"/>
                <a:gd name="T5" fmla="*/ 336 h 336"/>
                <a:gd name="T6" fmla="*/ 0 60000 65536"/>
                <a:gd name="T7" fmla="*/ 0 60000 65536"/>
                <a:gd name="T8" fmla="*/ 0 60000 65536"/>
                <a:gd name="T9" fmla="*/ 0 w 111"/>
                <a:gd name="T10" fmla="*/ 0 h 336"/>
                <a:gd name="T11" fmla="*/ 111 w 111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336">
                  <a:moveTo>
                    <a:pt x="0" y="0"/>
                  </a:moveTo>
                  <a:lnTo>
                    <a:pt x="0" y="336"/>
                  </a:lnTo>
                  <a:lnTo>
                    <a:pt x="111" y="33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89" name="Freeform 102"/>
            <p:cNvSpPr>
              <a:spLocks/>
            </p:cNvSpPr>
            <p:nvPr/>
          </p:nvSpPr>
          <p:spPr bwMode="auto">
            <a:xfrm>
              <a:off x="1887" y="1728"/>
              <a:ext cx="897" cy="1"/>
            </a:xfrm>
            <a:custGeom>
              <a:avLst/>
              <a:gdLst>
                <a:gd name="T0" fmla="*/ 0 w 897"/>
                <a:gd name="T1" fmla="*/ 0 h 1"/>
                <a:gd name="T2" fmla="*/ 897 w 897"/>
                <a:gd name="T3" fmla="*/ 0 h 1"/>
                <a:gd name="T4" fmla="*/ 0 60000 65536"/>
                <a:gd name="T5" fmla="*/ 0 60000 65536"/>
                <a:gd name="T6" fmla="*/ 0 w 897"/>
                <a:gd name="T7" fmla="*/ 0 h 1"/>
                <a:gd name="T8" fmla="*/ 897 w 89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7" h="1">
                  <a:moveTo>
                    <a:pt x="0" y="0"/>
                  </a:moveTo>
                  <a:lnTo>
                    <a:pt x="897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oval" w="sm" len="sm"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15559" name="Freeform 103"/>
          <p:cNvSpPr>
            <a:spLocks/>
          </p:cNvSpPr>
          <p:nvPr/>
        </p:nvSpPr>
        <p:spPr bwMode="auto">
          <a:xfrm>
            <a:off x="5943600" y="2895600"/>
            <a:ext cx="228600" cy="457200"/>
          </a:xfrm>
          <a:custGeom>
            <a:avLst/>
            <a:gdLst>
              <a:gd name="T0" fmla="*/ 2147483647 w 144"/>
              <a:gd name="T1" fmla="*/ 0 h 288"/>
              <a:gd name="T2" fmla="*/ 0 w 144"/>
              <a:gd name="T3" fmla="*/ 0 h 288"/>
              <a:gd name="T4" fmla="*/ 0 w 144"/>
              <a:gd name="T5" fmla="*/ 2147483647 h 288"/>
              <a:gd name="T6" fmla="*/ 0 60000 65536"/>
              <a:gd name="T7" fmla="*/ 0 60000 65536"/>
              <a:gd name="T8" fmla="*/ 0 60000 65536"/>
              <a:gd name="T9" fmla="*/ 0 w 144"/>
              <a:gd name="T10" fmla="*/ 0 h 288"/>
              <a:gd name="T11" fmla="*/ 144 w 144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288">
                <a:moveTo>
                  <a:pt x="144" y="0"/>
                </a:moveTo>
                <a:lnTo>
                  <a:pt x="0" y="0"/>
                </a:lnTo>
                <a:lnTo>
                  <a:pt x="0" y="288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none" w="sm" len="sm"/>
            <a:tailEnd type="oval" w="sm" len="sm"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Group 104"/>
          <p:cNvGrpSpPr>
            <a:grpSpLocks/>
          </p:cNvGrpSpPr>
          <p:nvPr/>
        </p:nvGrpSpPr>
        <p:grpSpPr bwMode="auto">
          <a:xfrm>
            <a:off x="4348163" y="3352800"/>
            <a:ext cx="1824037" cy="457200"/>
            <a:chOff x="2787" y="1728"/>
            <a:chExt cx="1149" cy="288"/>
          </a:xfrm>
        </p:grpSpPr>
        <p:sp>
          <p:nvSpPr>
            <p:cNvPr id="9286" name="Freeform 105"/>
            <p:cNvSpPr>
              <a:spLocks/>
            </p:cNvSpPr>
            <p:nvPr/>
          </p:nvSpPr>
          <p:spPr bwMode="auto">
            <a:xfrm>
              <a:off x="2787" y="1728"/>
              <a:ext cx="1005" cy="3"/>
            </a:xfrm>
            <a:custGeom>
              <a:avLst/>
              <a:gdLst>
                <a:gd name="T0" fmla="*/ 0 w 1005"/>
                <a:gd name="T1" fmla="*/ 3 h 3"/>
                <a:gd name="T2" fmla="*/ 1005 w 1005"/>
                <a:gd name="T3" fmla="*/ 0 h 3"/>
                <a:gd name="T4" fmla="*/ 0 60000 65536"/>
                <a:gd name="T5" fmla="*/ 0 60000 65536"/>
                <a:gd name="T6" fmla="*/ 0 w 1005"/>
                <a:gd name="T7" fmla="*/ 0 h 3"/>
                <a:gd name="T8" fmla="*/ 1005 w 100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5" h="3">
                  <a:moveTo>
                    <a:pt x="0" y="3"/>
                  </a:moveTo>
                  <a:lnTo>
                    <a:pt x="1005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87" name="Freeform 106"/>
            <p:cNvSpPr>
              <a:spLocks/>
            </p:cNvSpPr>
            <p:nvPr/>
          </p:nvSpPr>
          <p:spPr bwMode="auto">
            <a:xfrm>
              <a:off x="3792" y="1728"/>
              <a:ext cx="144" cy="288"/>
            </a:xfrm>
            <a:custGeom>
              <a:avLst/>
              <a:gdLst>
                <a:gd name="T0" fmla="*/ 0 w 144"/>
                <a:gd name="T1" fmla="*/ 0 h 288"/>
                <a:gd name="T2" fmla="*/ 0 w 144"/>
                <a:gd name="T3" fmla="*/ 288 h 288"/>
                <a:gd name="T4" fmla="*/ 144 w 144"/>
                <a:gd name="T5" fmla="*/ 288 h 288"/>
                <a:gd name="T6" fmla="*/ 0 60000 65536"/>
                <a:gd name="T7" fmla="*/ 0 60000 65536"/>
                <a:gd name="T8" fmla="*/ 0 60000 65536"/>
                <a:gd name="T9" fmla="*/ 0 w 144"/>
                <a:gd name="T10" fmla="*/ 0 h 288"/>
                <a:gd name="T11" fmla="*/ 144 w 14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288">
                  <a:moveTo>
                    <a:pt x="0" y="0"/>
                  </a:move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sm"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Group 107"/>
          <p:cNvGrpSpPr>
            <a:grpSpLocks/>
          </p:cNvGrpSpPr>
          <p:nvPr/>
        </p:nvGrpSpPr>
        <p:grpSpPr bwMode="auto">
          <a:xfrm>
            <a:off x="2305050" y="4462463"/>
            <a:ext cx="895350" cy="719137"/>
            <a:chOff x="1500" y="2427"/>
            <a:chExt cx="564" cy="453"/>
          </a:xfrm>
        </p:grpSpPr>
        <p:sp>
          <p:nvSpPr>
            <p:cNvPr id="9284" name="Freeform 108"/>
            <p:cNvSpPr>
              <a:spLocks/>
            </p:cNvSpPr>
            <p:nvPr/>
          </p:nvSpPr>
          <p:spPr bwMode="auto">
            <a:xfrm>
              <a:off x="1647" y="2427"/>
              <a:ext cx="417" cy="453"/>
            </a:xfrm>
            <a:custGeom>
              <a:avLst/>
              <a:gdLst>
                <a:gd name="T0" fmla="*/ 0 w 417"/>
                <a:gd name="T1" fmla="*/ 0 h 453"/>
                <a:gd name="T2" fmla="*/ 3 w 417"/>
                <a:gd name="T3" fmla="*/ 453 h 453"/>
                <a:gd name="T4" fmla="*/ 417 w 417"/>
                <a:gd name="T5" fmla="*/ 444 h 453"/>
                <a:gd name="T6" fmla="*/ 0 60000 65536"/>
                <a:gd name="T7" fmla="*/ 0 60000 65536"/>
                <a:gd name="T8" fmla="*/ 0 60000 65536"/>
                <a:gd name="T9" fmla="*/ 0 w 417"/>
                <a:gd name="T10" fmla="*/ 0 h 453"/>
                <a:gd name="T11" fmla="*/ 417 w 417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" h="453">
                  <a:moveTo>
                    <a:pt x="0" y="0"/>
                  </a:moveTo>
                  <a:lnTo>
                    <a:pt x="3" y="453"/>
                  </a:lnTo>
                  <a:lnTo>
                    <a:pt x="417" y="44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none" w="sm" len="sm"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85" name="Freeform 109"/>
            <p:cNvSpPr>
              <a:spLocks/>
            </p:cNvSpPr>
            <p:nvPr/>
          </p:nvSpPr>
          <p:spPr bwMode="auto">
            <a:xfrm>
              <a:off x="1500" y="2427"/>
              <a:ext cx="153" cy="1"/>
            </a:xfrm>
            <a:custGeom>
              <a:avLst/>
              <a:gdLst>
                <a:gd name="T0" fmla="*/ 0 w 153"/>
                <a:gd name="T1" fmla="*/ 0 h 1"/>
                <a:gd name="T2" fmla="*/ 153 w 153"/>
                <a:gd name="T3" fmla="*/ 0 h 1"/>
                <a:gd name="T4" fmla="*/ 0 60000 65536"/>
                <a:gd name="T5" fmla="*/ 0 60000 65536"/>
                <a:gd name="T6" fmla="*/ 0 w 153"/>
                <a:gd name="T7" fmla="*/ 0 h 1"/>
                <a:gd name="T8" fmla="*/ 153 w 15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3" h="1">
                  <a:moveTo>
                    <a:pt x="0" y="0"/>
                  </a:moveTo>
                  <a:lnTo>
                    <a:pt x="153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15566" name="Freeform 110"/>
          <p:cNvSpPr>
            <a:spLocks/>
          </p:cNvSpPr>
          <p:nvPr/>
        </p:nvSpPr>
        <p:spPr bwMode="auto">
          <a:xfrm>
            <a:off x="3529013" y="4005263"/>
            <a:ext cx="280987" cy="642937"/>
          </a:xfrm>
          <a:custGeom>
            <a:avLst/>
            <a:gdLst>
              <a:gd name="T0" fmla="*/ 0 w 177"/>
              <a:gd name="T1" fmla="*/ 2147483647 h 405"/>
              <a:gd name="T2" fmla="*/ 2147483647 w 177"/>
              <a:gd name="T3" fmla="*/ 0 h 405"/>
              <a:gd name="T4" fmla="*/ 2147483647 w 177"/>
              <a:gd name="T5" fmla="*/ 2147483647 h 405"/>
              <a:gd name="T6" fmla="*/ 0 60000 65536"/>
              <a:gd name="T7" fmla="*/ 0 60000 65536"/>
              <a:gd name="T8" fmla="*/ 0 60000 65536"/>
              <a:gd name="T9" fmla="*/ 0 w 177"/>
              <a:gd name="T10" fmla="*/ 0 h 405"/>
              <a:gd name="T11" fmla="*/ 177 w 177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" h="405">
                <a:moveTo>
                  <a:pt x="0" y="3"/>
                </a:moveTo>
                <a:lnTo>
                  <a:pt x="177" y="0"/>
                </a:lnTo>
                <a:lnTo>
                  <a:pt x="177" y="405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5567" name="Text Box 111"/>
          <p:cNvSpPr txBox="1">
            <a:spLocks noChangeArrowheads="1"/>
          </p:cNvSpPr>
          <p:nvPr/>
        </p:nvSpPr>
        <p:spPr bwMode="auto">
          <a:xfrm>
            <a:off x="4648200" y="6461125"/>
            <a:ext cx="3048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1"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RISC</a:t>
            </a:r>
            <a:r>
              <a:rPr kumimoji="1"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grpSp>
        <p:nvGrpSpPr>
          <p:cNvPr id="20" name="Group 112"/>
          <p:cNvGrpSpPr>
            <a:grpSpLocks/>
          </p:cNvGrpSpPr>
          <p:nvPr/>
        </p:nvGrpSpPr>
        <p:grpSpPr bwMode="auto">
          <a:xfrm>
            <a:off x="3114679" y="3733800"/>
            <a:ext cx="419101" cy="533400"/>
            <a:chOff x="2010" y="1968"/>
            <a:chExt cx="264" cy="336"/>
          </a:xfrm>
        </p:grpSpPr>
        <p:sp>
          <p:nvSpPr>
            <p:cNvPr id="9280" name="Text Box 113"/>
            <p:cNvSpPr txBox="1">
              <a:spLocks noChangeArrowheads="1"/>
            </p:cNvSpPr>
            <p:nvPr/>
          </p:nvSpPr>
          <p:spPr bwMode="auto">
            <a:xfrm>
              <a:off x="2010" y="1999"/>
              <a:ext cx="2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&amp;</a:t>
              </a:r>
            </a:p>
          </p:txBody>
        </p:sp>
        <p:grpSp>
          <p:nvGrpSpPr>
            <p:cNvPr id="9281" name="Group 114"/>
            <p:cNvGrpSpPr>
              <a:grpSpLocks/>
            </p:cNvGrpSpPr>
            <p:nvPr/>
          </p:nvGrpSpPr>
          <p:grpSpPr bwMode="auto">
            <a:xfrm>
              <a:off x="2031" y="1968"/>
              <a:ext cx="240" cy="336"/>
              <a:chOff x="2064" y="2064"/>
              <a:chExt cx="240" cy="336"/>
            </a:xfrm>
          </p:grpSpPr>
          <p:sp>
            <p:nvSpPr>
              <p:cNvPr id="9282" name="Rectangle 115"/>
              <p:cNvSpPr>
                <a:spLocks noChangeArrowheads="1"/>
              </p:cNvSpPr>
              <p:nvPr/>
            </p:nvSpPr>
            <p:spPr bwMode="auto">
              <a:xfrm>
                <a:off x="2064" y="2064"/>
                <a:ext cx="192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83" name="Oval 116"/>
              <p:cNvSpPr>
                <a:spLocks noChangeArrowheads="1"/>
              </p:cNvSpPr>
              <p:nvPr/>
            </p:nvSpPr>
            <p:spPr bwMode="auto">
              <a:xfrm>
                <a:off x="2256" y="220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22" name="Group 117"/>
          <p:cNvGrpSpPr>
            <a:grpSpLocks/>
          </p:cNvGrpSpPr>
          <p:nvPr/>
        </p:nvGrpSpPr>
        <p:grpSpPr bwMode="auto">
          <a:xfrm>
            <a:off x="4481513" y="3733800"/>
            <a:ext cx="422275" cy="533400"/>
            <a:chOff x="2871" y="1968"/>
            <a:chExt cx="266" cy="336"/>
          </a:xfrm>
        </p:grpSpPr>
        <p:grpSp>
          <p:nvGrpSpPr>
            <p:cNvPr id="9276" name="Group 118"/>
            <p:cNvGrpSpPr>
              <a:grpSpLocks/>
            </p:cNvGrpSpPr>
            <p:nvPr/>
          </p:nvGrpSpPr>
          <p:grpSpPr bwMode="auto">
            <a:xfrm>
              <a:off x="2897" y="1968"/>
              <a:ext cx="240" cy="336"/>
              <a:chOff x="2976" y="2064"/>
              <a:chExt cx="240" cy="336"/>
            </a:xfrm>
          </p:grpSpPr>
          <p:sp>
            <p:nvSpPr>
              <p:cNvPr id="9278" name="Rectangle 119"/>
              <p:cNvSpPr>
                <a:spLocks noChangeArrowheads="1"/>
              </p:cNvSpPr>
              <p:nvPr/>
            </p:nvSpPr>
            <p:spPr bwMode="auto">
              <a:xfrm>
                <a:off x="2976" y="2064"/>
                <a:ext cx="192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79" name="Oval 120"/>
              <p:cNvSpPr>
                <a:spLocks noChangeArrowheads="1"/>
              </p:cNvSpPr>
              <p:nvPr/>
            </p:nvSpPr>
            <p:spPr bwMode="auto">
              <a:xfrm>
                <a:off x="3168" y="220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9277" name="Text Box 121"/>
            <p:cNvSpPr txBox="1">
              <a:spLocks noChangeArrowheads="1"/>
            </p:cNvSpPr>
            <p:nvPr/>
          </p:nvSpPr>
          <p:spPr bwMode="auto">
            <a:xfrm>
              <a:off x="2871" y="2006"/>
              <a:ext cx="26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>
                  <a:latin typeface="微软雅黑" pitchFamily="34" charset="-122"/>
                  <a:ea typeface="微软雅黑" pitchFamily="34" charset="-122"/>
                </a:rPr>
                <a:t>&amp;</a:t>
              </a:r>
            </a:p>
          </p:txBody>
        </p:sp>
      </p:grpSp>
      <p:sp>
        <p:nvSpPr>
          <p:cNvPr id="9274" name="Rectangle 124"/>
          <p:cNvSpPr>
            <a:spLocks noChangeArrowheads="1"/>
          </p:cNvSpPr>
          <p:nvPr/>
        </p:nvSpPr>
        <p:spPr bwMode="auto">
          <a:xfrm>
            <a:off x="838200" y="381000"/>
            <a:ext cx="6096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Review: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</a:p>
        </p:txBody>
      </p:sp>
      <p:sp>
        <p:nvSpPr>
          <p:cNvPr id="9275" name="Rectangle 125"/>
          <p:cNvSpPr>
            <a:spLocks noChangeArrowheads="1"/>
          </p:cNvSpPr>
          <p:nvPr/>
        </p:nvSpPr>
        <p:spPr bwMode="auto">
          <a:xfrm>
            <a:off x="838200" y="1200090"/>
            <a:ext cx="80010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步骤七 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控制信号产生电路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（看输入输出信号逻辑表达式画电路图）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91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1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91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1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91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1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1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91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915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91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91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91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91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91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91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91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9" dur="500"/>
                                        <p:tgtEl>
                                          <p:spTgt spid="91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91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8" dur="500"/>
                                        <p:tgtEl>
                                          <p:spTgt spid="91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91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7" dur="500"/>
                                        <p:tgtEl>
                                          <p:spTgt spid="91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5" dur="500"/>
                                        <p:tgtEl>
                                          <p:spTgt spid="91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4" dur="500"/>
                                        <p:tgtEl>
                                          <p:spTgt spid="91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9" dur="500"/>
                                        <p:tgtEl>
                                          <p:spTgt spid="91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9" dur="500"/>
                                        <p:tgtEl>
                                          <p:spTgt spid="91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4" dur="500"/>
                                        <p:tgtEl>
                                          <p:spTgt spid="91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9" dur="500"/>
                                        <p:tgtEl>
                                          <p:spTgt spid="91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4" dur="500"/>
                                        <p:tgtEl>
                                          <p:spTgt spid="91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9" dur="500"/>
                                        <p:tgtEl>
                                          <p:spTgt spid="91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4" dur="500"/>
                                        <p:tgtEl>
                                          <p:spTgt spid="91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8" dur="500"/>
                                        <p:tgtEl>
                                          <p:spTgt spid="91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3" dur="500"/>
                                        <p:tgtEl>
                                          <p:spTgt spid="91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8" dur="500"/>
                                        <p:tgtEl>
                                          <p:spTgt spid="91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3" dur="500"/>
                                        <p:tgtEl>
                                          <p:spTgt spid="91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3" dur="500"/>
                                        <p:tgtEl>
                                          <p:spTgt spid="91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8" dur="500"/>
                                        <p:tgtEl>
                                          <p:spTgt spid="91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3" dur="500"/>
                                        <p:tgtEl>
                                          <p:spTgt spid="91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8" dur="500"/>
                                        <p:tgtEl>
                                          <p:spTgt spid="91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3" dur="500"/>
                                        <p:tgtEl>
                                          <p:spTgt spid="91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458" grpId="0" autoUpdateAnimBg="0"/>
      <p:bldP spid="915459" grpId="0" autoUpdateAnimBg="0"/>
      <p:bldP spid="915460" grpId="0" autoUpdateAnimBg="0"/>
      <p:bldP spid="915461" grpId="0" autoUpdateAnimBg="0"/>
      <p:bldP spid="915503" grpId="0" animBg="1"/>
      <p:bldP spid="915508" grpId="0" animBg="1"/>
      <p:bldP spid="915509" grpId="0" animBg="1"/>
      <p:bldP spid="915510" grpId="0" animBg="1"/>
      <p:bldP spid="915511" grpId="0" animBg="1"/>
      <p:bldP spid="915512" grpId="0" animBg="1"/>
      <p:bldP spid="915513" grpId="0" animBg="1"/>
      <p:bldP spid="915514" grpId="0" animBg="1"/>
      <p:bldP spid="915515" grpId="0" animBg="1"/>
      <p:bldP spid="915516" grpId="0" animBg="1"/>
      <p:bldP spid="915517" grpId="0" animBg="1"/>
      <p:bldP spid="915521" grpId="0" animBg="1"/>
      <p:bldP spid="915522" grpId="0" animBg="1"/>
      <p:bldP spid="915523" grpId="0" animBg="1"/>
      <p:bldP spid="915524" grpId="0" animBg="1"/>
      <p:bldP spid="915525" grpId="0" animBg="1"/>
      <p:bldP spid="915526" grpId="0" animBg="1"/>
      <p:bldP spid="915527" grpId="0" animBg="1"/>
      <p:bldP spid="915528" grpId="0" animBg="1"/>
      <p:bldP spid="915529" grpId="0" animBg="1"/>
      <p:bldP spid="915530" grpId="0" animBg="1"/>
      <p:bldP spid="915542" grpId="0" autoUpdateAnimBg="0"/>
      <p:bldP spid="915543" grpId="0" autoUpdateAnimBg="0"/>
      <p:bldP spid="915544" grpId="0" autoUpdateAnimBg="0"/>
      <p:bldP spid="915545" grpId="0" autoUpdateAnimBg="0"/>
      <p:bldP spid="915546" grpId="0" autoUpdateAnimBg="0"/>
      <p:bldP spid="915547" grpId="0" autoUpdateAnimBg="0"/>
      <p:bldP spid="915548" grpId="0" autoUpdateAnimBg="0"/>
      <p:bldP spid="915550" grpId="0" animBg="1"/>
      <p:bldP spid="915551" grpId="0" autoUpdateAnimBg="0"/>
      <p:bldP spid="915552" grpId="0" animBg="1"/>
      <p:bldP spid="915559" grpId="0" animBg="1"/>
      <p:bldP spid="915566" grpId="0" animBg="1"/>
      <p:bldP spid="91556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92" name="Line 44"/>
          <p:cNvSpPr>
            <a:spLocks noChangeShapeType="1"/>
          </p:cNvSpPr>
          <p:nvPr/>
        </p:nvSpPr>
        <p:spPr bwMode="auto">
          <a:xfrm>
            <a:off x="3446463" y="5454650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49293" name="Line 45"/>
          <p:cNvSpPr>
            <a:spLocks noChangeShapeType="1"/>
          </p:cNvSpPr>
          <p:nvPr/>
        </p:nvSpPr>
        <p:spPr bwMode="auto">
          <a:xfrm>
            <a:off x="3751263" y="5454650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49294" name="Line 46"/>
          <p:cNvSpPr>
            <a:spLocks noChangeShapeType="1"/>
          </p:cNvSpPr>
          <p:nvPr/>
        </p:nvSpPr>
        <p:spPr bwMode="auto">
          <a:xfrm>
            <a:off x="5961063" y="5454650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49295" name="Text Box 47"/>
          <p:cNvSpPr txBox="1">
            <a:spLocks noChangeArrowheads="1"/>
          </p:cNvSpPr>
          <p:nvPr/>
        </p:nvSpPr>
        <p:spPr bwMode="auto">
          <a:xfrm>
            <a:off x="3179763" y="5783263"/>
            <a:ext cx="434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1800" baseline="-25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949296" name="Text Box 48"/>
          <p:cNvSpPr txBox="1">
            <a:spLocks noChangeArrowheads="1"/>
          </p:cNvSpPr>
          <p:nvPr/>
        </p:nvSpPr>
        <p:spPr bwMode="auto">
          <a:xfrm>
            <a:off x="3529013" y="5783263"/>
            <a:ext cx="434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1800" baseline="-25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49297" name="Text Box 49"/>
          <p:cNvSpPr txBox="1">
            <a:spLocks noChangeArrowheads="1"/>
          </p:cNvSpPr>
          <p:nvPr/>
        </p:nvSpPr>
        <p:spPr bwMode="auto">
          <a:xfrm>
            <a:off x="5738813" y="5783263"/>
            <a:ext cx="439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1800" i="1" baseline="-25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949309" name="Rectangle 61"/>
          <p:cNvSpPr>
            <a:spLocks noChangeArrowheads="1"/>
          </p:cNvSpPr>
          <p:nvPr/>
        </p:nvSpPr>
        <p:spPr bwMode="auto">
          <a:xfrm>
            <a:off x="4784035" y="5638800"/>
            <a:ext cx="53091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949310" name="Line 62"/>
          <p:cNvSpPr>
            <a:spLocks noChangeShapeType="1"/>
          </p:cNvSpPr>
          <p:nvPr/>
        </p:nvSpPr>
        <p:spPr bwMode="auto">
          <a:xfrm>
            <a:off x="4076700" y="5454650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49311" name="Line 63"/>
          <p:cNvSpPr>
            <a:spLocks noChangeShapeType="1"/>
          </p:cNvSpPr>
          <p:nvPr/>
        </p:nvSpPr>
        <p:spPr bwMode="auto">
          <a:xfrm>
            <a:off x="4381500" y="5454650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49312" name="Text Box 64"/>
          <p:cNvSpPr txBox="1">
            <a:spLocks noChangeArrowheads="1"/>
          </p:cNvSpPr>
          <p:nvPr/>
        </p:nvSpPr>
        <p:spPr bwMode="auto">
          <a:xfrm>
            <a:off x="3810000" y="5783263"/>
            <a:ext cx="434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1800" baseline="-25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949313" name="Text Box 65"/>
          <p:cNvSpPr txBox="1">
            <a:spLocks noChangeArrowheads="1"/>
          </p:cNvSpPr>
          <p:nvPr/>
        </p:nvSpPr>
        <p:spPr bwMode="auto">
          <a:xfrm>
            <a:off x="4159250" y="5783263"/>
            <a:ext cx="434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1800" baseline="-25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949305" name="Text Box 57"/>
          <p:cNvSpPr txBox="1">
            <a:spLocks noChangeArrowheads="1"/>
          </p:cNvSpPr>
          <p:nvPr/>
        </p:nvSpPr>
        <p:spPr bwMode="auto">
          <a:xfrm>
            <a:off x="6172200" y="3011269"/>
            <a:ext cx="1107996" cy="64633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endParaRPr kumimoji="1" lang="en-US" altLang="zh-CN" sz="18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指令信号</a:t>
            </a:r>
            <a:endParaRPr kumimoji="1" lang="zh-CN" altLang="en-US" sz="1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9284" name="Line 36"/>
          <p:cNvSpPr>
            <a:spLocks noChangeShapeType="1"/>
          </p:cNvSpPr>
          <p:nvPr/>
        </p:nvSpPr>
        <p:spPr bwMode="auto">
          <a:xfrm>
            <a:off x="3641725" y="3092450"/>
            <a:ext cx="0" cy="5334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>
              <a:solidFill>
                <a:srgbClr val="006600"/>
              </a:solidFill>
            </a:endParaRPr>
          </a:p>
        </p:txBody>
      </p:sp>
      <p:sp>
        <p:nvSpPr>
          <p:cNvPr id="949285" name="Line 37"/>
          <p:cNvSpPr>
            <a:spLocks noChangeShapeType="1"/>
          </p:cNvSpPr>
          <p:nvPr/>
        </p:nvSpPr>
        <p:spPr bwMode="auto">
          <a:xfrm>
            <a:off x="3946525" y="3092450"/>
            <a:ext cx="0" cy="5334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>
              <a:solidFill>
                <a:srgbClr val="006600"/>
              </a:solidFill>
            </a:endParaRPr>
          </a:p>
        </p:txBody>
      </p:sp>
      <p:sp>
        <p:nvSpPr>
          <p:cNvPr id="949286" name="Line 38"/>
          <p:cNvSpPr>
            <a:spLocks noChangeShapeType="1"/>
          </p:cNvSpPr>
          <p:nvPr/>
        </p:nvSpPr>
        <p:spPr bwMode="auto">
          <a:xfrm>
            <a:off x="5662613" y="3092450"/>
            <a:ext cx="0" cy="5334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>
              <a:solidFill>
                <a:srgbClr val="006600"/>
              </a:solidFill>
            </a:endParaRPr>
          </a:p>
        </p:txBody>
      </p:sp>
      <p:sp>
        <p:nvSpPr>
          <p:cNvPr id="949287" name="Text Box 39"/>
          <p:cNvSpPr txBox="1">
            <a:spLocks noChangeArrowheads="1"/>
          </p:cNvSpPr>
          <p:nvPr/>
        </p:nvSpPr>
        <p:spPr bwMode="auto">
          <a:xfrm>
            <a:off x="3352800" y="3192463"/>
            <a:ext cx="327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949288" name="Text Box 40"/>
          <p:cNvSpPr txBox="1">
            <a:spLocks noChangeArrowheads="1"/>
          </p:cNvSpPr>
          <p:nvPr/>
        </p:nvSpPr>
        <p:spPr bwMode="auto">
          <a:xfrm>
            <a:off x="3657600" y="3206750"/>
            <a:ext cx="32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49289" name="Text Box 41"/>
          <p:cNvSpPr txBox="1">
            <a:spLocks noChangeArrowheads="1"/>
          </p:cNvSpPr>
          <p:nvPr/>
        </p:nvSpPr>
        <p:spPr bwMode="auto">
          <a:xfrm>
            <a:off x="5662613" y="3206750"/>
            <a:ext cx="5889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en-US" altLang="zh-CN" sz="1800" i="1" baseline="40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kumimoji="1" lang="en-US" altLang="zh-CN" sz="1800" baseline="40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-1</a:t>
            </a:r>
          </a:p>
        </p:txBody>
      </p:sp>
      <p:sp>
        <p:nvSpPr>
          <p:cNvPr id="949290" name="Text Box 42"/>
          <p:cNvSpPr txBox="1">
            <a:spLocks noChangeArrowheads="1"/>
          </p:cNvSpPr>
          <p:nvPr/>
        </p:nvSpPr>
        <p:spPr bwMode="auto">
          <a:xfrm>
            <a:off x="4083050" y="316547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949264" name="Line 16"/>
          <p:cNvSpPr>
            <a:spLocks noChangeShapeType="1"/>
          </p:cNvSpPr>
          <p:nvPr/>
        </p:nvSpPr>
        <p:spPr bwMode="auto">
          <a:xfrm>
            <a:off x="2590800" y="4464050"/>
            <a:ext cx="685800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>
              <a:solidFill>
                <a:srgbClr val="006600"/>
              </a:solidFill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590800" y="3729038"/>
            <a:ext cx="749300" cy="1420812"/>
            <a:chOff x="2304" y="2753"/>
            <a:chExt cx="472" cy="895"/>
          </a:xfrm>
        </p:grpSpPr>
        <p:sp>
          <p:nvSpPr>
            <p:cNvPr id="49206" name="Line 19"/>
            <p:cNvSpPr>
              <a:spLocks noChangeShapeType="1"/>
            </p:cNvSpPr>
            <p:nvPr/>
          </p:nvSpPr>
          <p:spPr bwMode="auto">
            <a:xfrm>
              <a:off x="2304" y="3648"/>
              <a:ext cx="432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med" len="med"/>
            </a:ln>
          </p:spPr>
          <p:txBody>
            <a:bodyPr wrap="none"/>
            <a:lstStyle/>
            <a:p>
              <a:endParaRPr lang="zh-CN" altLang="en-US">
                <a:solidFill>
                  <a:srgbClr val="006600"/>
                </a:solidFill>
              </a:endParaRPr>
            </a:p>
          </p:txBody>
        </p:sp>
        <p:sp>
          <p:nvSpPr>
            <p:cNvPr id="49207" name="Text Box 20"/>
            <p:cNvSpPr txBox="1">
              <a:spLocks noChangeArrowheads="1"/>
            </p:cNvSpPr>
            <p:nvPr/>
          </p:nvSpPr>
          <p:spPr bwMode="auto">
            <a:xfrm>
              <a:off x="2304" y="2753"/>
              <a:ext cx="47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 dirty="0">
                  <a:solidFill>
                    <a:srgbClr val="006600"/>
                  </a:solidFill>
                  <a:latin typeface="微软雅黑" pitchFamily="34" charset="-122"/>
                  <a:ea typeface="微软雅黑" pitchFamily="34" charset="-122"/>
                </a:rPr>
                <a:t>FE.T</a:t>
              </a:r>
              <a:r>
                <a:rPr kumimoji="1" lang="en-US" altLang="zh-CN" sz="1800" baseline="-25000" dirty="0">
                  <a:solidFill>
                    <a:srgbClr val="006600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</p:grpSp>
      <p:sp>
        <p:nvSpPr>
          <p:cNvPr id="949270" name="Line 22"/>
          <p:cNvSpPr>
            <a:spLocks noChangeShapeType="1"/>
          </p:cNvSpPr>
          <p:nvPr/>
        </p:nvSpPr>
        <p:spPr bwMode="auto">
          <a:xfrm>
            <a:off x="2590800" y="4083050"/>
            <a:ext cx="685800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>
              <a:solidFill>
                <a:srgbClr val="006600"/>
              </a:solidFill>
            </a:endParaRPr>
          </a:p>
        </p:txBody>
      </p:sp>
      <p:sp>
        <p:nvSpPr>
          <p:cNvPr id="949271" name="Text Box 23"/>
          <p:cNvSpPr txBox="1">
            <a:spLocks noChangeArrowheads="1"/>
          </p:cNvSpPr>
          <p:nvPr/>
        </p:nvSpPr>
        <p:spPr bwMode="auto">
          <a:xfrm>
            <a:off x="2590800" y="4106863"/>
            <a:ext cx="7493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FE.T</a:t>
            </a:r>
            <a:r>
              <a:rPr kumimoji="1" lang="en-US" altLang="zh-CN" sz="1800" baseline="-25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949272" name="Text Box 24"/>
          <p:cNvSpPr txBox="1">
            <a:spLocks noChangeArrowheads="1"/>
          </p:cNvSpPr>
          <p:nvPr/>
        </p:nvSpPr>
        <p:spPr bwMode="auto">
          <a:xfrm>
            <a:off x="2743200" y="4792663"/>
            <a:ext cx="4111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 i="1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800" i="1" baseline="-25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n</a:t>
            </a:r>
          </a:p>
        </p:txBody>
      </p:sp>
      <p:sp>
        <p:nvSpPr>
          <p:cNvPr id="949273" name="Text Box 25"/>
          <p:cNvSpPr txBox="1">
            <a:spLocks noChangeArrowheads="1"/>
          </p:cNvSpPr>
          <p:nvPr/>
        </p:nvSpPr>
        <p:spPr bwMode="auto">
          <a:xfrm>
            <a:off x="2741910" y="4494213"/>
            <a:ext cx="461665" cy="315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pPr algn="l"/>
            <a:r>
              <a:rPr kumimoji="1" lang="en-US" altLang="zh-CN" sz="18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949259" name="Rectangle 11"/>
          <p:cNvSpPr>
            <a:spLocks noChangeArrowheads="1"/>
          </p:cNvSpPr>
          <p:nvPr/>
        </p:nvSpPr>
        <p:spPr bwMode="auto">
          <a:xfrm>
            <a:off x="1981200" y="3657600"/>
            <a:ext cx="609600" cy="1828800"/>
          </a:xfrm>
          <a:prstGeom prst="rect">
            <a:avLst/>
          </a:prstGeom>
          <a:solidFill>
            <a:srgbClr val="0000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80" name="Rectangle 6"/>
          <p:cNvSpPr>
            <a:spLocks noChangeArrowheads="1"/>
          </p:cNvSpPr>
          <p:nvPr/>
        </p:nvSpPr>
        <p:spPr bwMode="auto">
          <a:xfrm>
            <a:off x="838200" y="395288"/>
            <a:ext cx="75438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8.3 </a:t>
            </a:r>
            <a:r>
              <a:rPr lang="zh-CN" altLang="en-US" sz="2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组合逻辑设计 </a:t>
            </a:r>
            <a:r>
              <a:rPr lang="en-US" altLang="zh-CN" sz="2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2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  <a:endParaRPr lang="zh-CN" altLang="en-US" sz="200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9256" name="Rectangle 8"/>
          <p:cNvSpPr>
            <a:spLocks noChangeArrowheads="1"/>
          </p:cNvSpPr>
          <p:nvPr/>
        </p:nvSpPr>
        <p:spPr bwMode="auto">
          <a:xfrm>
            <a:off x="3276600" y="1873250"/>
            <a:ext cx="2743200" cy="381000"/>
          </a:xfrm>
          <a:prstGeom prst="rect">
            <a:avLst/>
          </a:prstGeom>
          <a:solidFill>
            <a:srgbClr val="0000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IR </a:t>
            </a:r>
            <a:r>
              <a:rPr kumimoji="1"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指令寄存器</a:t>
            </a:r>
            <a:endParaRPr kumimoji="1" lang="en-US" altLang="zh-CN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82" name="Rectangle 13"/>
          <p:cNvSpPr>
            <a:spLocks noChangeArrowheads="1"/>
          </p:cNvSpPr>
          <p:nvPr/>
        </p:nvSpPr>
        <p:spPr bwMode="auto">
          <a:xfrm>
            <a:off x="3276600" y="3625850"/>
            <a:ext cx="2819400" cy="1828800"/>
          </a:xfrm>
          <a:prstGeom prst="rect">
            <a:avLst/>
          </a:prstGeom>
          <a:solidFill>
            <a:srgbClr val="660033"/>
          </a:solidFill>
          <a:ln w="28575">
            <a:solidFill>
              <a:srgbClr val="660033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83" name="Text Box 14"/>
          <p:cNvSpPr txBox="1">
            <a:spLocks noChangeArrowheads="1"/>
          </p:cNvSpPr>
          <p:nvPr/>
        </p:nvSpPr>
        <p:spPr bwMode="auto">
          <a:xfrm>
            <a:off x="3604498" y="4038600"/>
            <a:ext cx="2339102" cy="830997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CU</a:t>
            </a:r>
          </a:p>
          <a:p>
            <a:pPr algn="ctr"/>
            <a:r>
              <a:rPr kumimoji="1" lang="zh-CN" altLang="en-US" sz="2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控制信号产生器</a:t>
            </a:r>
            <a:endParaRPr kumimoji="1"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838200" y="4232275"/>
            <a:ext cx="1143000" cy="692150"/>
            <a:chOff x="1398" y="3125"/>
            <a:chExt cx="720" cy="436"/>
          </a:xfrm>
        </p:grpSpPr>
        <p:sp>
          <p:nvSpPr>
            <p:cNvPr id="49203" name="Line 27"/>
            <p:cNvSpPr>
              <a:spLocks noChangeShapeType="1"/>
            </p:cNvSpPr>
            <p:nvPr/>
          </p:nvSpPr>
          <p:spPr bwMode="auto">
            <a:xfrm>
              <a:off x="1686" y="331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204" name="Text Box 28"/>
            <p:cNvSpPr txBox="1">
              <a:spLocks noChangeArrowheads="1"/>
            </p:cNvSpPr>
            <p:nvPr/>
          </p:nvSpPr>
          <p:spPr bwMode="auto">
            <a:xfrm>
              <a:off x="1686" y="3125"/>
              <a:ext cx="4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 dirty="0">
                  <a:latin typeface="微软雅黑" pitchFamily="34" charset="-122"/>
                  <a:ea typeface="微软雅黑" pitchFamily="34" charset="-122"/>
                </a:rPr>
                <a:t>CLK</a:t>
              </a:r>
            </a:p>
          </p:txBody>
        </p:sp>
        <p:sp>
          <p:nvSpPr>
            <p:cNvPr id="49205" name="Text Box 29"/>
            <p:cNvSpPr txBox="1">
              <a:spLocks noChangeArrowheads="1"/>
            </p:cNvSpPr>
            <p:nvPr/>
          </p:nvSpPr>
          <p:spPr bwMode="auto">
            <a:xfrm>
              <a:off x="1398" y="3328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800" dirty="0" smtClean="0">
                  <a:latin typeface="微软雅黑" pitchFamily="34" charset="-122"/>
                  <a:ea typeface="微软雅黑" pitchFamily="34" charset="-122"/>
                </a:rPr>
                <a:t>机器主频</a:t>
              </a:r>
              <a:endParaRPr kumimoji="1" lang="zh-CN" altLang="en-US" sz="18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49278" name="Line 30"/>
          <p:cNvSpPr>
            <a:spLocks noChangeShapeType="1"/>
          </p:cNvSpPr>
          <p:nvPr/>
        </p:nvSpPr>
        <p:spPr bwMode="auto">
          <a:xfrm flipH="1">
            <a:off x="6096000" y="4159250"/>
            <a:ext cx="609600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49279" name="Line 31"/>
          <p:cNvSpPr>
            <a:spLocks noChangeShapeType="1"/>
          </p:cNvSpPr>
          <p:nvPr/>
        </p:nvSpPr>
        <p:spPr bwMode="auto">
          <a:xfrm flipH="1">
            <a:off x="6096000" y="4997450"/>
            <a:ext cx="609600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stealth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949280" name="Text Box 32"/>
          <p:cNvSpPr txBox="1">
            <a:spLocks noChangeArrowheads="1"/>
          </p:cNvSpPr>
          <p:nvPr/>
        </p:nvSpPr>
        <p:spPr bwMode="auto">
          <a:xfrm>
            <a:off x="6092825" y="4311650"/>
            <a:ext cx="461963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pPr algn="l"/>
            <a:r>
              <a:rPr kumimoji="1" lang="en-US" altLang="zh-CN" sz="1800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949298" name="Rectangle 50"/>
          <p:cNvSpPr>
            <a:spLocks noChangeArrowheads="1"/>
          </p:cNvSpPr>
          <p:nvPr/>
        </p:nvSpPr>
        <p:spPr bwMode="auto">
          <a:xfrm>
            <a:off x="3276600" y="2635250"/>
            <a:ext cx="2743200" cy="457200"/>
          </a:xfrm>
          <a:prstGeom prst="rect">
            <a:avLst/>
          </a:prstGeom>
          <a:solidFill>
            <a:srgbClr val="0000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1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操作码译码</a:t>
            </a:r>
          </a:p>
        </p:txBody>
      </p: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3679825" y="2254250"/>
            <a:ext cx="1531938" cy="407988"/>
            <a:chOff x="3366" y="1968"/>
            <a:chExt cx="965" cy="257"/>
          </a:xfrm>
        </p:grpSpPr>
        <p:sp>
          <p:nvSpPr>
            <p:cNvPr id="49201" name="AutoShape 52"/>
            <p:cNvSpPr>
              <a:spLocks noChangeArrowheads="1"/>
            </p:cNvSpPr>
            <p:nvPr/>
          </p:nvSpPr>
          <p:spPr bwMode="auto">
            <a:xfrm>
              <a:off x="3366" y="1968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202" name="Text Box 53"/>
            <p:cNvSpPr txBox="1">
              <a:spLocks noChangeArrowheads="1"/>
            </p:cNvSpPr>
            <p:nvPr/>
          </p:nvSpPr>
          <p:spPr bwMode="auto">
            <a:xfrm>
              <a:off x="3496" y="1992"/>
              <a:ext cx="83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 i="1" dirty="0">
                  <a:solidFill>
                    <a:srgbClr val="003300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kumimoji="1" lang="en-US" altLang="zh-CN" sz="1800" dirty="0">
                  <a:solidFill>
                    <a:srgbClr val="003300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800" dirty="0">
                  <a:solidFill>
                    <a:srgbClr val="003300"/>
                  </a:solidFill>
                  <a:latin typeface="微软雅黑" pitchFamily="34" charset="-122"/>
                  <a:ea typeface="微软雅黑" pitchFamily="34" charset="-122"/>
                </a:rPr>
                <a:t>位操作码</a:t>
              </a:r>
            </a:p>
          </p:txBody>
        </p:sp>
      </p:grpSp>
      <p:sp>
        <p:nvSpPr>
          <p:cNvPr id="949306" name="Text Box 58"/>
          <p:cNvSpPr txBox="1">
            <a:spLocks noChangeArrowheads="1"/>
          </p:cNvSpPr>
          <p:nvPr/>
        </p:nvSpPr>
        <p:spPr bwMode="auto">
          <a:xfrm>
            <a:off x="404812" y="3048000"/>
            <a:ext cx="2871788" cy="64633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endParaRPr kumimoji="1" lang="en-US" altLang="zh-CN" sz="18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时序信号</a:t>
            </a:r>
            <a:endParaRPr kumimoji="1" lang="en-US" altLang="zh-CN" sz="18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9258" name="Text Box 10"/>
          <p:cNvSpPr txBox="1">
            <a:spLocks noChangeArrowheads="1"/>
          </p:cNvSpPr>
          <p:nvPr/>
        </p:nvSpPr>
        <p:spPr bwMode="auto">
          <a:xfrm>
            <a:off x="2057400" y="3733800"/>
            <a:ext cx="461665" cy="170816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 vert="eaVert" wrap="none">
            <a:spAutoFit/>
          </a:bodyPr>
          <a:lstStyle/>
          <a:p>
            <a:pPr algn="l"/>
            <a:r>
              <a:rPr kumimoji="1"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时序信号产生器</a:t>
            </a:r>
            <a:endParaRPr kumimoji="1"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9307" name="Text Box 59"/>
          <p:cNvSpPr txBox="1">
            <a:spLocks noChangeArrowheads="1"/>
          </p:cNvSpPr>
          <p:nvPr/>
        </p:nvSpPr>
        <p:spPr bwMode="auto">
          <a:xfrm>
            <a:off x="6705600" y="4105870"/>
            <a:ext cx="646331" cy="92333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endParaRPr kumimoji="1" lang="en-US" altLang="zh-CN" sz="18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反馈</a:t>
            </a:r>
            <a:endParaRPr kumimoji="1" lang="en-US" altLang="zh-CN" sz="18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信号</a:t>
            </a:r>
            <a:endParaRPr kumimoji="1" lang="zh-CN" altLang="en-US" sz="1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9308" name="Text Box 60"/>
          <p:cNvSpPr txBox="1">
            <a:spLocks noChangeArrowheads="1"/>
          </p:cNvSpPr>
          <p:nvPr/>
        </p:nvSpPr>
        <p:spPr bwMode="auto">
          <a:xfrm>
            <a:off x="3276600" y="6096000"/>
            <a:ext cx="4800600" cy="369332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1"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输出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各控制信号（微操作命令信号）</a:t>
            </a:r>
            <a:endParaRPr kumimoji="1" lang="zh-CN" altLang="en-US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9319" name="Text Box 71"/>
          <p:cNvSpPr txBox="1">
            <a:spLocks noChangeArrowheads="1"/>
          </p:cNvSpPr>
          <p:nvPr/>
        </p:nvSpPr>
        <p:spPr bwMode="auto">
          <a:xfrm>
            <a:off x="0" y="0"/>
            <a:ext cx="9144000" cy="1609671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kumimoji="1"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kumimoji="1" lang="en-US" altLang="zh-CN" sz="2000" baseline="-25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1" lang="en-US" altLang="zh-CN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=   </a:t>
            </a:r>
            <a:r>
              <a:rPr kumimoji="1" lang="en-US" altLang="zh-CN" sz="2000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aseline="-25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 {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FE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en-US" altLang="zh-CN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CLA + COM + ADD + STA + LDA + JMP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） </a:t>
            </a:r>
          </a:p>
          <a:p>
            <a:pPr algn="l">
              <a:lnSpc>
                <a:spcPct val="145000"/>
              </a:lnSpc>
            </a:pP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IND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en-US" altLang="zh-CN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ADD + STA + LDA + JMP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） </a:t>
            </a:r>
          </a:p>
          <a:p>
            <a:pPr algn="l">
              <a:lnSpc>
                <a:spcPct val="145000"/>
              </a:lnSpc>
            </a:pP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EX 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zh-CN" altLang="en-US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ADD + LDA </a:t>
            </a:r>
            <a:r>
              <a:rPr kumimoji="1" lang="zh-CN" altLang="en-US" sz="2000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kumimoji="1" lang="en-US" altLang="zh-CN" sz="2000" dirty="0">
                <a:latin typeface="微软雅黑" pitchFamily="34" charset="-122"/>
                <a:ea typeface="微软雅黑" pitchFamily="34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4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4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4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49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4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49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4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4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4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4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4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4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4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4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94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94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4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94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949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94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94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94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94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94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94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94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94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94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94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94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949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94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92" grpId="0" animBg="1"/>
      <p:bldP spid="949293" grpId="0" animBg="1"/>
      <p:bldP spid="949294" grpId="0" animBg="1"/>
      <p:bldP spid="949295" grpId="0"/>
      <p:bldP spid="949296" grpId="0"/>
      <p:bldP spid="949297" grpId="0"/>
      <p:bldP spid="949309" grpId="0"/>
      <p:bldP spid="949310" grpId="0" animBg="1"/>
      <p:bldP spid="949311" grpId="0" animBg="1"/>
      <p:bldP spid="949312" grpId="0"/>
      <p:bldP spid="949313" grpId="0"/>
      <p:bldP spid="949305" grpId="0"/>
      <p:bldP spid="949284" grpId="0" animBg="1"/>
      <p:bldP spid="949285" grpId="0" animBg="1"/>
      <p:bldP spid="949286" grpId="0" animBg="1"/>
      <p:bldP spid="949287" grpId="0"/>
      <p:bldP spid="949288" grpId="0"/>
      <p:bldP spid="949289" grpId="0"/>
      <p:bldP spid="949290" grpId="0"/>
      <p:bldP spid="949264" grpId="0" animBg="1"/>
      <p:bldP spid="949270" grpId="0" animBg="1"/>
      <p:bldP spid="949271" grpId="0"/>
      <p:bldP spid="949272" grpId="0"/>
      <p:bldP spid="949273" grpId="0"/>
      <p:bldP spid="949259" grpId="0" animBg="1"/>
      <p:bldP spid="949256" grpId="0" animBg="1"/>
      <p:bldP spid="949278" grpId="0" animBg="1"/>
      <p:bldP spid="949279" grpId="0" animBg="1"/>
      <p:bldP spid="949280" grpId="0"/>
      <p:bldP spid="949298" grpId="0" animBg="1"/>
      <p:bldP spid="949306" grpId="0"/>
      <p:bldP spid="949258" grpId="0" animBg="1"/>
      <p:bldP spid="949307" grpId="0"/>
      <p:bldP spid="949308" grpId="0"/>
      <p:bldP spid="949319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914400" y="2743200"/>
            <a:ext cx="8153400" cy="762000"/>
            <a:chOff x="816" y="1200"/>
            <a:chExt cx="2256" cy="672"/>
          </a:xfrm>
        </p:grpSpPr>
        <p:sp>
          <p:nvSpPr>
            <p:cNvPr id="12294" name="Rectangle 3"/>
            <p:cNvSpPr>
              <a:spLocks noChangeArrowheads="1"/>
            </p:cNvSpPr>
            <p:nvPr/>
          </p:nvSpPr>
          <p:spPr bwMode="auto">
            <a:xfrm>
              <a:off x="816" y="1200"/>
              <a:ext cx="2064" cy="432"/>
            </a:xfrm>
            <a:prstGeom prst="rect">
              <a:avLst/>
            </a:prstGeom>
            <a:gradFill rotWithShape="0">
              <a:gsLst>
                <a:gs pos="0">
                  <a:srgbClr val="9BB4C2"/>
                </a:gs>
                <a:gs pos="50000">
                  <a:srgbClr val="CCECFF"/>
                </a:gs>
                <a:gs pos="100000">
                  <a:srgbClr val="9BB4C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844804" name="Picture 4" descr="cursor"/>
            <p:cNvPicPr>
              <a:picLocks noChangeAspect="1" noChangeArrowheads="1"/>
            </p:cNvPicPr>
            <p:nvPr/>
          </p:nvPicPr>
          <p:blipFill>
            <a:blip r:embed="rId3" cstate="print">
              <a:lum bright="-40000" contrast="-66000"/>
            </a:blip>
            <a:srcRect/>
            <a:stretch>
              <a:fillRect/>
            </a:stretch>
          </p:blipFill>
          <p:spPr bwMode="auto">
            <a:xfrm>
              <a:off x="2688" y="1493"/>
              <a:ext cx="384" cy="379"/>
            </a:xfrm>
            <a:prstGeom prst="rect">
              <a:avLst/>
            </a:prstGeom>
            <a:noFill/>
            <a:effectLst>
              <a:outerShdw dist="107763" dir="18900000" algn="ctr" rotWithShape="0">
                <a:srgbClr val="808080"/>
              </a:outerShdw>
            </a:effectLst>
          </p:spPr>
        </p:pic>
      </p:grpSp>
      <p:sp>
        <p:nvSpPr>
          <p:cNvPr id="12291" name="Rectangle 5"/>
          <p:cNvSpPr>
            <a:spLocks noChangeArrowheads="1"/>
          </p:cNvSpPr>
          <p:nvPr/>
        </p:nvSpPr>
        <p:spPr bwMode="auto">
          <a:xfrm>
            <a:off x="914400" y="1447800"/>
            <a:ext cx="8229600" cy="2246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8.1 	CPU</a:t>
            </a:r>
            <a:r>
              <a:rPr lang="zh-CN" altLang="en-US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的基本功能与组成（</a:t>
            </a:r>
            <a:r>
              <a:rPr lang="en-US" altLang="zh-CN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8.1</a:t>
            </a:r>
            <a:r>
              <a:rPr lang="zh-CN" altLang="en-US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8.2 	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时序系统和控制方式（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8.2 8.3 9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8.3 	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控制器：组合逻辑设计（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8.4   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控制器：微程序设计（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92" name="Rectangle 6"/>
          <p:cNvSpPr>
            <a:spLocks noChangeArrowheads="1"/>
          </p:cNvSpPr>
          <p:nvPr/>
        </p:nvSpPr>
        <p:spPr bwMode="auto">
          <a:xfrm>
            <a:off x="838200" y="381000"/>
            <a:ext cx="6096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第八章 </a:t>
            </a:r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的结构与功能</a:t>
            </a:r>
          </a:p>
        </p:txBody>
      </p:sp>
      <p:sp>
        <p:nvSpPr>
          <p:cNvPr id="12293" name="Text Box 7"/>
          <p:cNvSpPr txBox="1">
            <a:spLocks noChangeArrowheads="1"/>
          </p:cNvSpPr>
          <p:nvPr/>
        </p:nvSpPr>
        <p:spPr bwMode="auto">
          <a:xfrm>
            <a:off x="990600" y="3962400"/>
            <a:ext cx="7487947" cy="707886"/>
          </a:xfrm>
          <a:prstGeom prst="rect">
            <a:avLst/>
          </a:prstGeom>
          <a:noFill/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微程序的概念，由英国剑桥大学，威尔克斯教授，</a:t>
            </a:r>
            <a:r>
              <a:rPr lang="en-US" altLang="zh-CN" sz="2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1951</a:t>
            </a:r>
            <a:r>
              <a:rPr lang="zh-CN" altLang="en-US" sz="2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年提出。</a:t>
            </a:r>
          </a:p>
          <a:p>
            <a:pPr algn="l"/>
            <a:r>
              <a:rPr lang="zh-CN" altLang="en-US" sz="2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他将存储逻辑引入</a:t>
            </a:r>
            <a:r>
              <a:rPr lang="en-US" altLang="zh-CN" sz="2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，代替组合逻辑控制信号的形成线路。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838200" y="1073219"/>
            <a:ext cx="8153400" cy="56323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微程序控制器的设计步骤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（前五步骤与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相同！）</a:t>
            </a: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步骤一  拟定指令系统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逻辑依据：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给出控制器设计的总体需求）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步骤二  确定总体结构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空间安排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：给出控制器组成部件及通路）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步骤三  拟定时序系统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时间安排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：给出控制信号发送时间依据）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步骤四  拟定指令流程图（合并了步骤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一、三）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分析每条指令的执行步骤，按时间顺序，画出指令流程图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（即：一条指令执行过程中，什么时间完成什么操作。）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步骤五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编制微操作命令时间表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（合并了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步骤一、二、三）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P402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将指令流程中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的微操作落实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到由哪个部件完成，给出时间表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步骤五  确定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格式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设置微指令编码方式，后继微指令地址的形成方式等。</a:t>
            </a: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步骤六  为每条指令编写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微程序（看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P402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表，写每一指令的微程序）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根据微操作命令时间表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微程序，存入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控制存储器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228600" y="2819400"/>
            <a:ext cx="8686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457200" y="19050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457200" y="22098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457200" y="25146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304800" y="4953000"/>
            <a:ext cx="8686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57200" y="30480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457200" y="43434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51"/>
          <p:cNvSpPr>
            <a:spLocks noChangeArrowheads="1"/>
          </p:cNvSpPr>
          <p:nvPr/>
        </p:nvSpPr>
        <p:spPr bwMode="auto">
          <a:xfrm>
            <a:off x="152400" y="1828800"/>
            <a:ext cx="8991600" cy="609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0" bIns="0" anchor="ctr">
            <a:spAutoFit/>
          </a:bodyPr>
          <a:lstStyle/>
          <a:p>
            <a:pPr marL="342900" indent="-342900" algn="l" eaLnBrk="0" hangingPunct="0"/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l" eaLnBrk="0" hangingPunct="0"/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         </a:t>
            </a:r>
            <a:endParaRPr lang="en-US" altLang="zh-CN" sz="20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84" name="Rectangle 95"/>
          <p:cNvSpPr>
            <a:spLocks noChangeArrowheads="1"/>
          </p:cNvSpPr>
          <p:nvPr/>
        </p:nvSpPr>
        <p:spPr bwMode="auto">
          <a:xfrm>
            <a:off x="0" y="1066800"/>
            <a:ext cx="8853488" cy="1311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微程序控制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器</a:t>
            </a: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电路设计规整、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便于扩充与修改指令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，一条指令变动，只需修改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对应的微程序即可，无需修改控制器电路。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缺点：执行速度慢！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Line 72"/>
          <p:cNvSpPr>
            <a:spLocks noChangeShapeType="1"/>
          </p:cNvSpPr>
          <p:nvPr/>
        </p:nvSpPr>
        <p:spPr bwMode="auto">
          <a:xfrm flipH="1" flipV="1">
            <a:off x="304800" y="3429000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64"/>
          <p:cNvSpPr>
            <a:spLocks noChangeShapeType="1"/>
          </p:cNvSpPr>
          <p:nvPr/>
        </p:nvSpPr>
        <p:spPr bwMode="auto">
          <a:xfrm flipV="1">
            <a:off x="5334000" y="4205049"/>
            <a:ext cx="0" cy="50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Line 75"/>
          <p:cNvSpPr>
            <a:spLocks noChangeShapeType="1"/>
          </p:cNvSpPr>
          <p:nvPr/>
        </p:nvSpPr>
        <p:spPr bwMode="auto">
          <a:xfrm flipV="1">
            <a:off x="6553200" y="4205049"/>
            <a:ext cx="0" cy="50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Rectangle 50"/>
          <p:cNvSpPr>
            <a:spLocks noChangeArrowheads="1"/>
          </p:cNvSpPr>
          <p:nvPr/>
        </p:nvSpPr>
        <p:spPr bwMode="auto">
          <a:xfrm>
            <a:off x="4800600" y="4662249"/>
            <a:ext cx="4191000" cy="533400"/>
          </a:xfrm>
          <a:prstGeom prst="rect">
            <a:avLst/>
          </a:prstGeom>
          <a:solidFill>
            <a:srgbClr val="000099"/>
          </a:solidFill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Rectangle 52"/>
          <p:cNvSpPr>
            <a:spLocks noChangeArrowheads="1"/>
          </p:cNvSpPr>
          <p:nvPr/>
        </p:nvSpPr>
        <p:spPr bwMode="auto">
          <a:xfrm>
            <a:off x="4953000" y="5627449"/>
            <a:ext cx="3962400" cy="71120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控制存储器 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ROM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（存放微程序）</a:t>
            </a:r>
          </a:p>
        </p:txBody>
      </p:sp>
      <p:sp>
        <p:nvSpPr>
          <p:cNvPr id="50" name="Rectangle 54"/>
          <p:cNvSpPr>
            <a:spLocks noChangeArrowheads="1"/>
          </p:cNvSpPr>
          <p:nvPr/>
        </p:nvSpPr>
        <p:spPr bwMode="auto">
          <a:xfrm>
            <a:off x="2590800" y="5678269"/>
            <a:ext cx="1828800" cy="646331"/>
          </a:xfrm>
          <a:prstGeom prst="rect">
            <a:avLst/>
          </a:prstGeom>
          <a:solidFill>
            <a:srgbClr val="000099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控存地址寄存器</a:t>
            </a:r>
            <a:endParaRPr lang="en-US" altLang="zh-CN" sz="1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CMAR</a:t>
            </a:r>
            <a:endParaRPr lang="zh-CN" altLang="en-US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Rectangle 55"/>
          <p:cNvSpPr>
            <a:spLocks noChangeArrowheads="1"/>
          </p:cNvSpPr>
          <p:nvPr/>
        </p:nvSpPr>
        <p:spPr bwMode="auto">
          <a:xfrm>
            <a:off x="4876800" y="4752221"/>
            <a:ext cx="2133600" cy="36933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</a:t>
            </a:r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字段</a:t>
            </a:r>
          </a:p>
        </p:txBody>
      </p:sp>
      <p:sp>
        <p:nvSpPr>
          <p:cNvPr id="52" name="Rectangle 56"/>
          <p:cNvSpPr>
            <a:spLocks noChangeArrowheads="1"/>
          </p:cNvSpPr>
          <p:nvPr/>
        </p:nvSpPr>
        <p:spPr bwMode="auto">
          <a:xfrm>
            <a:off x="7086600" y="4752221"/>
            <a:ext cx="1828800" cy="36933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顺序控制字段</a:t>
            </a:r>
          </a:p>
        </p:txBody>
      </p:sp>
      <p:sp>
        <p:nvSpPr>
          <p:cNvPr id="53" name="Text Box 57"/>
          <p:cNvSpPr txBox="1">
            <a:spLocks noChangeArrowheads="1"/>
          </p:cNvSpPr>
          <p:nvPr/>
        </p:nvSpPr>
        <p:spPr bwMode="auto">
          <a:xfrm>
            <a:off x="5638800" y="5181600"/>
            <a:ext cx="253787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控存数据寄存器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CMDR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61"/>
          <p:cNvSpPr txBox="1">
            <a:spLocks noChangeArrowheads="1"/>
          </p:cNvSpPr>
          <p:nvPr/>
        </p:nvSpPr>
        <p:spPr bwMode="auto">
          <a:xfrm>
            <a:off x="4953000" y="4038600"/>
            <a:ext cx="19812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endParaRPr lang="zh-CN" altLang="en-US" sz="1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62"/>
          <p:cNvSpPr>
            <a:spLocks noChangeShapeType="1"/>
          </p:cNvSpPr>
          <p:nvPr/>
        </p:nvSpPr>
        <p:spPr bwMode="auto">
          <a:xfrm>
            <a:off x="4419600" y="6019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Line 65"/>
          <p:cNvSpPr>
            <a:spLocks noChangeShapeType="1"/>
          </p:cNvSpPr>
          <p:nvPr/>
        </p:nvSpPr>
        <p:spPr bwMode="auto">
          <a:xfrm flipV="1">
            <a:off x="8534400" y="2604849"/>
            <a:ext cx="0" cy="2057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Line 70"/>
          <p:cNvSpPr>
            <a:spLocks noChangeShapeType="1"/>
          </p:cNvSpPr>
          <p:nvPr/>
        </p:nvSpPr>
        <p:spPr bwMode="auto">
          <a:xfrm flipV="1">
            <a:off x="8153400" y="2757249"/>
            <a:ext cx="0" cy="1905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Line 71"/>
          <p:cNvSpPr>
            <a:spLocks noChangeShapeType="1"/>
          </p:cNvSpPr>
          <p:nvPr/>
        </p:nvSpPr>
        <p:spPr bwMode="auto">
          <a:xfrm>
            <a:off x="1828800" y="4205049"/>
            <a:ext cx="76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Line 72"/>
          <p:cNvSpPr>
            <a:spLocks noChangeShapeType="1"/>
          </p:cNvSpPr>
          <p:nvPr/>
        </p:nvSpPr>
        <p:spPr bwMode="auto">
          <a:xfrm flipV="1">
            <a:off x="5337093" y="5195649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Line 73"/>
          <p:cNvSpPr>
            <a:spLocks noChangeShapeType="1"/>
          </p:cNvSpPr>
          <p:nvPr/>
        </p:nvSpPr>
        <p:spPr bwMode="auto">
          <a:xfrm flipV="1">
            <a:off x="8229600" y="5195649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Line 85"/>
          <p:cNvSpPr>
            <a:spLocks noChangeShapeType="1"/>
          </p:cNvSpPr>
          <p:nvPr/>
        </p:nvSpPr>
        <p:spPr bwMode="auto">
          <a:xfrm flipH="1">
            <a:off x="4038600" y="2757249"/>
            <a:ext cx="411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Line 86"/>
          <p:cNvSpPr>
            <a:spLocks noChangeShapeType="1"/>
          </p:cNvSpPr>
          <p:nvPr/>
        </p:nvSpPr>
        <p:spPr bwMode="auto">
          <a:xfrm flipH="1" flipV="1">
            <a:off x="3124200" y="2604849"/>
            <a:ext cx="5410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 Box 87"/>
          <p:cNvSpPr txBox="1">
            <a:spLocks noChangeArrowheads="1"/>
          </p:cNvSpPr>
          <p:nvPr/>
        </p:nvSpPr>
        <p:spPr bwMode="auto">
          <a:xfrm>
            <a:off x="8153400" y="3034605"/>
            <a:ext cx="457200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顺序</a:t>
            </a:r>
          </a:p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</a:t>
            </a:r>
          </a:p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</a:p>
        </p:txBody>
      </p:sp>
      <p:sp>
        <p:nvSpPr>
          <p:cNvPr id="71" name="Text Box 88"/>
          <p:cNvSpPr txBox="1">
            <a:spLocks noChangeArrowheads="1"/>
          </p:cNvSpPr>
          <p:nvPr/>
        </p:nvSpPr>
        <p:spPr bwMode="auto">
          <a:xfrm>
            <a:off x="8534400" y="2895600"/>
            <a:ext cx="533400" cy="1600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微地址给定方式</a:t>
            </a:r>
          </a:p>
        </p:txBody>
      </p:sp>
      <p:sp>
        <p:nvSpPr>
          <p:cNvPr id="72" name="Line 89"/>
          <p:cNvSpPr>
            <a:spLocks noChangeShapeType="1"/>
          </p:cNvSpPr>
          <p:nvPr/>
        </p:nvSpPr>
        <p:spPr bwMode="auto">
          <a:xfrm>
            <a:off x="1828800" y="4419600"/>
            <a:ext cx="76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Line 90"/>
          <p:cNvSpPr>
            <a:spLocks noChangeShapeType="1"/>
          </p:cNvSpPr>
          <p:nvPr/>
        </p:nvSpPr>
        <p:spPr bwMode="auto">
          <a:xfrm>
            <a:off x="3124200" y="2604849"/>
            <a:ext cx="0" cy="1143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Line 91"/>
          <p:cNvSpPr>
            <a:spLocks noChangeShapeType="1"/>
          </p:cNvSpPr>
          <p:nvPr/>
        </p:nvSpPr>
        <p:spPr bwMode="auto">
          <a:xfrm>
            <a:off x="4038600" y="2757249"/>
            <a:ext cx="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Line 94"/>
          <p:cNvSpPr>
            <a:spLocks noChangeShapeType="1"/>
          </p:cNvSpPr>
          <p:nvPr/>
        </p:nvSpPr>
        <p:spPr bwMode="auto">
          <a:xfrm>
            <a:off x="3505200" y="5105400"/>
            <a:ext cx="0" cy="584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Oval 97"/>
          <p:cNvSpPr>
            <a:spLocks noChangeArrowheads="1"/>
          </p:cNvSpPr>
          <p:nvPr/>
        </p:nvSpPr>
        <p:spPr bwMode="auto">
          <a:xfrm>
            <a:off x="2057400" y="3733800"/>
            <a:ext cx="325437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77" name="Oval 98"/>
          <p:cNvSpPr>
            <a:spLocks noChangeArrowheads="1"/>
          </p:cNvSpPr>
          <p:nvPr/>
        </p:nvSpPr>
        <p:spPr bwMode="auto">
          <a:xfrm>
            <a:off x="3121107" y="5257800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78" name="Oval 99"/>
          <p:cNvSpPr>
            <a:spLocks noChangeArrowheads="1"/>
          </p:cNvSpPr>
          <p:nvPr/>
        </p:nvSpPr>
        <p:spPr bwMode="auto">
          <a:xfrm>
            <a:off x="4492707" y="59576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79" name="Oval 100"/>
          <p:cNvSpPr>
            <a:spLocks noChangeArrowheads="1"/>
          </p:cNvSpPr>
          <p:nvPr/>
        </p:nvSpPr>
        <p:spPr bwMode="auto">
          <a:xfrm>
            <a:off x="4953000" y="51956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80" name="Oval 101"/>
          <p:cNvSpPr>
            <a:spLocks noChangeArrowheads="1"/>
          </p:cNvSpPr>
          <p:nvPr/>
        </p:nvSpPr>
        <p:spPr bwMode="auto">
          <a:xfrm>
            <a:off x="5257800" y="4219098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</p:txBody>
      </p:sp>
      <p:sp>
        <p:nvSpPr>
          <p:cNvPr id="81" name="Oval 102"/>
          <p:cNvSpPr>
            <a:spLocks noChangeArrowheads="1"/>
          </p:cNvSpPr>
          <p:nvPr/>
        </p:nvSpPr>
        <p:spPr bwMode="auto">
          <a:xfrm>
            <a:off x="8455107" y="25286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</p:txBody>
      </p:sp>
      <p:sp>
        <p:nvSpPr>
          <p:cNvPr id="82" name="Text Box 103"/>
          <p:cNvSpPr txBox="1">
            <a:spLocks noChangeArrowheads="1"/>
          </p:cNvSpPr>
          <p:nvPr/>
        </p:nvSpPr>
        <p:spPr bwMode="auto">
          <a:xfrm>
            <a:off x="4343400" y="5638800"/>
            <a:ext cx="762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访存</a:t>
            </a:r>
          </a:p>
        </p:txBody>
      </p:sp>
      <p:sp>
        <p:nvSpPr>
          <p:cNvPr id="83" name="Rectangle 55"/>
          <p:cNvSpPr>
            <a:spLocks noChangeArrowheads="1"/>
          </p:cNvSpPr>
          <p:nvPr/>
        </p:nvSpPr>
        <p:spPr bwMode="auto">
          <a:xfrm>
            <a:off x="609600" y="3276600"/>
            <a:ext cx="1752600" cy="366713"/>
          </a:xfrm>
          <a:prstGeom prst="rect">
            <a:avLst/>
          </a:prstGeom>
          <a:solidFill>
            <a:srgbClr val="006600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程序计数器</a:t>
            </a:r>
          </a:p>
        </p:txBody>
      </p:sp>
      <p:sp>
        <p:nvSpPr>
          <p:cNvPr id="84" name="Line 72"/>
          <p:cNvSpPr>
            <a:spLocks noChangeShapeType="1"/>
          </p:cNvSpPr>
          <p:nvPr/>
        </p:nvSpPr>
        <p:spPr bwMode="auto">
          <a:xfrm flipV="1">
            <a:off x="609600" y="4334491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Line 72"/>
          <p:cNvSpPr>
            <a:spLocks noChangeShapeType="1"/>
          </p:cNvSpPr>
          <p:nvPr/>
        </p:nvSpPr>
        <p:spPr bwMode="auto">
          <a:xfrm flipV="1">
            <a:off x="609600" y="5172691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Rectangle 58"/>
          <p:cNvSpPr>
            <a:spLocks noChangeArrowheads="1"/>
          </p:cNvSpPr>
          <p:nvPr/>
        </p:nvSpPr>
        <p:spPr bwMode="auto">
          <a:xfrm>
            <a:off x="2590800" y="3786445"/>
            <a:ext cx="1828800" cy="1538883"/>
          </a:xfrm>
          <a:prstGeom prst="rect">
            <a:avLst/>
          </a:prstGeom>
          <a:solidFill>
            <a:srgbClr val="000099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微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en-US" altLang="zh-CN" sz="1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形成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Rectangle 92"/>
          <p:cNvSpPr>
            <a:spLocks noChangeArrowheads="1"/>
          </p:cNvSpPr>
          <p:nvPr/>
        </p:nvSpPr>
        <p:spPr bwMode="auto">
          <a:xfrm>
            <a:off x="990600" y="3892578"/>
            <a:ext cx="457200" cy="1852880"/>
          </a:xfrm>
          <a:prstGeom prst="rect">
            <a:avLst/>
          </a:prstGeom>
          <a:solidFill>
            <a:srgbClr val="006600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endParaRPr lang="en-US" altLang="zh-CN" sz="1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ts val="2800"/>
              </a:lnSpc>
            </a:pP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寄存器</a:t>
            </a:r>
            <a:endParaRPr lang="en-US" altLang="zh-CN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Rectangle 92"/>
          <p:cNvSpPr>
            <a:spLocks noChangeArrowheads="1"/>
          </p:cNvSpPr>
          <p:nvPr/>
        </p:nvSpPr>
        <p:spPr bwMode="auto">
          <a:xfrm>
            <a:off x="1447800" y="3886200"/>
            <a:ext cx="457200" cy="92333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操作码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Line 72"/>
          <p:cNvSpPr>
            <a:spLocks noChangeShapeType="1"/>
          </p:cNvSpPr>
          <p:nvPr/>
        </p:nvSpPr>
        <p:spPr bwMode="auto">
          <a:xfrm flipH="1" flipV="1">
            <a:off x="304800" y="6108978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Rectangle 55"/>
          <p:cNvSpPr>
            <a:spLocks noChangeArrowheads="1"/>
          </p:cNvSpPr>
          <p:nvPr/>
        </p:nvSpPr>
        <p:spPr bwMode="auto">
          <a:xfrm>
            <a:off x="685800" y="5955268"/>
            <a:ext cx="1752600" cy="369332"/>
          </a:xfrm>
          <a:prstGeom prst="rect">
            <a:avLst/>
          </a:prstGeom>
          <a:solidFill>
            <a:srgbClr val="006600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地址形成部件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Rectangle 92"/>
          <p:cNvSpPr>
            <a:spLocks noChangeArrowheads="1"/>
          </p:cNvSpPr>
          <p:nvPr/>
        </p:nvSpPr>
        <p:spPr bwMode="auto">
          <a:xfrm>
            <a:off x="1447800" y="4800600"/>
            <a:ext cx="457200" cy="92333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地址码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Line 72"/>
          <p:cNvSpPr>
            <a:spLocks noChangeShapeType="1"/>
          </p:cNvSpPr>
          <p:nvPr/>
        </p:nvSpPr>
        <p:spPr bwMode="auto">
          <a:xfrm>
            <a:off x="1600200" y="5715000"/>
            <a:ext cx="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8" grpId="0"/>
      <p:bldP spid="79" grpId="0"/>
      <p:bldP spid="80" grpId="0"/>
      <p:bldP spid="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1295400"/>
            <a:ext cx="8153400" cy="762000"/>
            <a:chOff x="816" y="1200"/>
            <a:chExt cx="2256" cy="672"/>
          </a:xfrm>
        </p:grpSpPr>
        <p:sp>
          <p:nvSpPr>
            <p:cNvPr id="43013" name="Rectangle 3"/>
            <p:cNvSpPr>
              <a:spLocks noChangeArrowheads="1"/>
            </p:cNvSpPr>
            <p:nvPr/>
          </p:nvSpPr>
          <p:spPr bwMode="auto">
            <a:xfrm>
              <a:off x="816" y="1200"/>
              <a:ext cx="2064" cy="432"/>
            </a:xfrm>
            <a:prstGeom prst="rect">
              <a:avLst/>
            </a:prstGeom>
            <a:gradFill rotWithShape="0">
              <a:gsLst>
                <a:gs pos="0">
                  <a:srgbClr val="9BB4C2"/>
                </a:gs>
                <a:gs pos="50000">
                  <a:srgbClr val="CCECFF"/>
                </a:gs>
                <a:gs pos="100000">
                  <a:srgbClr val="9BB4C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86116" name="Picture 4" descr="cursor"/>
            <p:cNvPicPr>
              <a:picLocks noChangeAspect="1" noChangeArrowheads="1"/>
            </p:cNvPicPr>
            <p:nvPr/>
          </p:nvPicPr>
          <p:blipFill>
            <a:blip r:embed="rId3" cstate="print">
              <a:lum bright="-40000" contrast="-66000"/>
            </a:blip>
            <a:srcRect/>
            <a:stretch>
              <a:fillRect/>
            </a:stretch>
          </p:blipFill>
          <p:spPr bwMode="auto">
            <a:xfrm>
              <a:off x="2688" y="1493"/>
              <a:ext cx="384" cy="379"/>
            </a:xfrm>
            <a:prstGeom prst="rect">
              <a:avLst/>
            </a:prstGeom>
            <a:noFill/>
            <a:effectLst>
              <a:outerShdw dist="107763" dir="18900000" algn="ctr" rotWithShape="0">
                <a:srgbClr val="808080"/>
              </a:outerShdw>
            </a:effectLst>
          </p:spPr>
        </p:pic>
      </p:grp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935038" y="1295400"/>
            <a:ext cx="5110694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8.4.1 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微程序举例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8.4.2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控制信号（互斥、相容）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微指令格式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微程序设计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微程序控制器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990600" y="4114800"/>
            <a:ext cx="7391400" cy="461665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目的：理解一条指令是怎么变成一段微程序的。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914400" y="381000"/>
            <a:ext cx="40386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8.4.1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微程序举例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411288" y="2230438"/>
            <a:ext cx="2362200" cy="4064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+ 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→ 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379538" y="3098800"/>
            <a:ext cx="2420937" cy="4064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+ 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）→ 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447800" y="5080000"/>
            <a:ext cx="2374900" cy="4064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– 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）→ </a:t>
            </a:r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000" baseline="-25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1487488" y="5918200"/>
            <a:ext cx="2286000" cy="4064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STOP</a:t>
            </a:r>
            <a:endParaRPr lang="en-US" altLang="zh-CN" sz="2000" baseline="-250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2562225" y="1752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2562225" y="2667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2562225" y="3429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2562225" y="4648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2562225" y="5486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 flipH="1">
            <a:off x="1038225" y="4267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1038225" y="4267200"/>
            <a:ext cx="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1038225" y="5715000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99" name="AutoShape 15"/>
          <p:cNvSpPr>
            <a:spLocks noChangeArrowheads="1"/>
          </p:cNvSpPr>
          <p:nvPr/>
        </p:nvSpPr>
        <p:spPr bwMode="auto">
          <a:xfrm>
            <a:off x="1676400" y="3899962"/>
            <a:ext cx="1781175" cy="794802"/>
          </a:xfrm>
          <a:prstGeom prst="diamond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Cy=0?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818879" y="3886200"/>
            <a:ext cx="1172117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有进位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2590800" y="4708525"/>
            <a:ext cx="12700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Y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无进位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838200" y="1066800"/>
            <a:ext cx="8001000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码十进制加法指令  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ADD R2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R1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的指令流程图：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4476750" y="1954213"/>
            <a:ext cx="2533650" cy="4492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                </a:t>
            </a:r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BCD         H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0	0000	0000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1	0001	0001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2	0010	0010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3	0011	0011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4	0100	0100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5	0101	0101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6	0110	0110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7	0111	0111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8	1000	1000</a:t>
            </a:r>
          </a:p>
          <a:p>
            <a:pPr algn="l"/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9	1001	1001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10          </a:t>
            </a:r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0000	1010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11          </a:t>
            </a:r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0001	1011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12          </a:t>
            </a:r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0010	1100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13          </a:t>
            </a:r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0011	1101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14          </a:t>
            </a:r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0100	1110</a:t>
            </a:r>
          </a:p>
          <a:p>
            <a:pPr algn="l"/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15          </a:t>
            </a:r>
            <a:r>
              <a:rPr lang="en-US" altLang="zh-CN" sz="16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0101	1111</a:t>
            </a:r>
          </a:p>
          <a:p>
            <a:pPr algn="l"/>
            <a:endParaRPr lang="en-US" altLang="zh-CN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>
            <a:off x="4419600" y="4648200"/>
            <a:ext cx="4572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7058025" y="4729163"/>
            <a:ext cx="1065213" cy="915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1010</a:t>
            </a:r>
          </a:p>
          <a:p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＋ 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0110</a:t>
            </a:r>
          </a:p>
          <a:p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10000</a:t>
            </a:r>
          </a:p>
        </p:txBody>
      </p:sp>
      <p:sp>
        <p:nvSpPr>
          <p:cNvPr id="16407" name="Line 23"/>
          <p:cNvSpPr>
            <a:spLocks noChangeShapeType="1"/>
          </p:cNvSpPr>
          <p:nvPr/>
        </p:nvSpPr>
        <p:spPr bwMode="auto">
          <a:xfrm>
            <a:off x="7227888" y="5286375"/>
            <a:ext cx="8382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7021513" y="3709988"/>
            <a:ext cx="1065212" cy="915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1001</a:t>
            </a:r>
          </a:p>
          <a:p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＋ 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0110</a:t>
            </a:r>
          </a:p>
          <a:p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1111</a:t>
            </a:r>
          </a:p>
        </p:txBody>
      </p:sp>
      <p:sp>
        <p:nvSpPr>
          <p:cNvPr id="16409" name="Line 25"/>
          <p:cNvSpPr>
            <a:spLocks noChangeShapeType="1"/>
          </p:cNvSpPr>
          <p:nvPr/>
        </p:nvSpPr>
        <p:spPr bwMode="auto">
          <a:xfrm>
            <a:off x="7191375" y="4267200"/>
            <a:ext cx="8382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10" name="Text Box 26"/>
          <p:cNvSpPr txBox="1">
            <a:spLocks noChangeArrowheads="1"/>
          </p:cNvSpPr>
          <p:nvPr/>
        </p:nvSpPr>
        <p:spPr bwMode="auto">
          <a:xfrm>
            <a:off x="8040688" y="3962400"/>
            <a:ext cx="874712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Cy=0</a:t>
            </a:r>
          </a:p>
          <a:p>
            <a:r>
              <a:rPr lang="zh-CN" altLang="en-US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无进位</a:t>
            </a:r>
          </a:p>
        </p:txBody>
      </p:sp>
      <p:sp>
        <p:nvSpPr>
          <p:cNvPr id="16411" name="Text Box 27"/>
          <p:cNvSpPr txBox="1">
            <a:spLocks noChangeArrowheads="1"/>
          </p:cNvSpPr>
          <p:nvPr/>
        </p:nvSpPr>
        <p:spPr bwMode="auto">
          <a:xfrm>
            <a:off x="8040688" y="4981575"/>
            <a:ext cx="874712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Cy=1</a:t>
            </a:r>
          </a:p>
          <a:p>
            <a:r>
              <a:rPr lang="zh-CN" altLang="en-US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有进位</a:t>
            </a:r>
          </a:p>
        </p:txBody>
      </p:sp>
      <p:sp>
        <p:nvSpPr>
          <p:cNvPr id="16412" name="AutoShape 28"/>
          <p:cNvSpPr>
            <a:spLocks noChangeArrowheads="1"/>
          </p:cNvSpPr>
          <p:nvPr/>
        </p:nvSpPr>
        <p:spPr bwMode="auto">
          <a:xfrm flipH="1">
            <a:off x="5562600" y="6182380"/>
            <a:ext cx="1219200" cy="523220"/>
          </a:xfrm>
          <a:prstGeom prst="curvedUpArrow">
            <a:avLst>
              <a:gd name="adj1" fmla="val 64000"/>
              <a:gd name="adj2" fmla="val 128000"/>
              <a:gd name="adj3" fmla="val 30954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7162800" y="2209800"/>
            <a:ext cx="1676400" cy="1200150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二进制拿来就先加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校正，如果是无进位再减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" y="23878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6200" y="60325"/>
            <a:ext cx="3581400" cy="396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第一条微指令：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取指令</a:t>
            </a:r>
          </a:p>
        </p:txBody>
      </p:sp>
      <p:graphicFrame>
        <p:nvGraphicFramePr>
          <p:cNvPr id="817157" name="Group 5"/>
          <p:cNvGraphicFramePr>
            <a:graphicFrameLocks noGrp="1"/>
          </p:cNvGraphicFramePr>
          <p:nvPr/>
        </p:nvGraphicFramePr>
        <p:xfrm>
          <a:off x="2895600" y="76200"/>
          <a:ext cx="4267200" cy="381000"/>
        </p:xfrm>
        <a:graphic>
          <a:graphicData uri="http://schemas.openxmlformats.org/drawingml/2006/table">
            <a:tbl>
              <a:tblPr/>
              <a:tblGrid>
                <a:gridCol w="3048000"/>
                <a:gridCol w="514350"/>
                <a:gridCol w="70485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000 000 000 000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11111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0000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7239000" y="24825"/>
            <a:ext cx="1790700" cy="646331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同时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进行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判别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测试：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P1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533400" y="6273225"/>
            <a:ext cx="5791200" cy="58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一条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微指令包含： 一时钟周期中发出的所有控制信号。</a:t>
            </a:r>
            <a:endParaRPr lang="en-US" altLang="zh-CN" sz="16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此题假设： 一个机器周期一个时钟周期</a:t>
            </a:r>
            <a:endParaRPr lang="zh-CN" altLang="en-US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" y="135895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09600"/>
            <a:ext cx="9144000" cy="6248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7901" y="76200"/>
            <a:ext cx="4472699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第二条微指令：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完成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R1+R2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送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R2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运算</a:t>
            </a:r>
          </a:p>
        </p:txBody>
      </p:sp>
      <p:graphicFrame>
        <p:nvGraphicFramePr>
          <p:cNvPr id="818181" name="Group 5"/>
          <p:cNvGraphicFramePr>
            <a:graphicFrameLocks noGrp="1"/>
          </p:cNvGraphicFramePr>
          <p:nvPr/>
        </p:nvGraphicFramePr>
        <p:xfrm>
          <a:off x="4648200" y="76200"/>
          <a:ext cx="4114801" cy="381000"/>
        </p:xfrm>
        <a:graphic>
          <a:graphicData uri="http://schemas.openxmlformats.org/drawingml/2006/table">
            <a:tbl>
              <a:tblPr/>
              <a:tblGrid>
                <a:gridCol w="2624959"/>
                <a:gridCol w="567559"/>
                <a:gridCol w="922283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00 00000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1001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533400" y="6273225"/>
            <a:ext cx="5791200" cy="58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一条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微指令包含： 一时钟周期中发出的所有控制信号。</a:t>
            </a:r>
            <a:endParaRPr lang="en-US" altLang="zh-CN" sz="16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此题假设： 一个机器周期一个时钟周期</a:t>
            </a:r>
            <a:endParaRPr lang="zh-CN" altLang="en-US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" y="23878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" y="102885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76200" y="153030"/>
            <a:ext cx="906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第三条微指令：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完成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R2+R3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）运算，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            </a:t>
            </a:r>
            <a:endParaRPr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19205" name="Group 5"/>
          <p:cNvGraphicFramePr>
            <a:graphicFrameLocks noGrp="1"/>
          </p:cNvGraphicFramePr>
          <p:nvPr/>
        </p:nvGraphicFramePr>
        <p:xfrm>
          <a:off x="4800600" y="168905"/>
          <a:ext cx="4267200" cy="381000"/>
        </p:xfrm>
        <a:graphic>
          <a:graphicData uri="http://schemas.openxmlformats.org/drawingml/2006/table">
            <a:tbl>
              <a:tblPr/>
              <a:tblGrid>
                <a:gridCol w="2820691"/>
                <a:gridCol w="506278"/>
                <a:gridCol w="940231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0 00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00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00 00000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0000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153400" y="3276600"/>
            <a:ext cx="100540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同时进行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判别测试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6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P2</a:t>
            </a:r>
            <a:endParaRPr lang="zh-CN" altLang="en-US" sz="1600" dirty="0"/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533400" y="6273225"/>
            <a:ext cx="5791200" cy="58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一条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微指令包含： 一时钟周期中发出的所有控制信号。</a:t>
            </a:r>
            <a:endParaRPr lang="en-US" altLang="zh-CN" sz="16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此题假设： 一个机器周期一个时钟周期</a:t>
            </a:r>
            <a:endParaRPr lang="zh-CN" altLang="en-US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" y="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33400"/>
            <a:ext cx="9144000" cy="63246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6200" y="76200"/>
            <a:ext cx="9059863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如果判别</a:t>
            </a:r>
            <a:r>
              <a:rPr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P2: Cy</a:t>
            </a:r>
            <a:r>
              <a:rPr lang="en-US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≠</a:t>
            </a:r>
            <a:r>
              <a:rPr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 </a:t>
            </a:r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有进位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，由第三条微指令转向公操作结束。（没有微指令）</a:t>
            </a: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533400" y="6273225"/>
            <a:ext cx="5791200" cy="58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一条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微指令包含： 一时钟周期中发出的所有控制信号。</a:t>
            </a:r>
            <a:endParaRPr lang="en-US" altLang="zh-CN" sz="16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此题假设： 一个机器周期一个时钟周期</a:t>
            </a:r>
            <a:endParaRPr lang="zh-CN" altLang="en-US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38100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76200" y="76200"/>
            <a:ext cx="9067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第四条微指令：如果判别</a:t>
            </a:r>
            <a:r>
              <a:rPr lang="en-US" altLang="zh-CN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P2: Cy=0 </a:t>
            </a:r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无进位，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完成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R2 - R3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）运算</a:t>
            </a:r>
          </a:p>
        </p:txBody>
      </p:sp>
      <p:graphicFrame>
        <p:nvGraphicFramePr>
          <p:cNvPr id="821252" name="Group 4"/>
          <p:cNvGraphicFramePr>
            <a:graphicFrameLocks noGrp="1"/>
          </p:cNvGraphicFramePr>
          <p:nvPr/>
        </p:nvGraphicFramePr>
        <p:xfrm>
          <a:off x="1981200" y="473075"/>
          <a:ext cx="4648200" cy="365760"/>
        </p:xfrm>
        <a:graphic>
          <a:graphicData uri="http://schemas.openxmlformats.org/drawingml/2006/table">
            <a:tbl>
              <a:tblPr/>
              <a:tblGrid>
                <a:gridCol w="3354388"/>
                <a:gridCol w="544512"/>
                <a:gridCol w="749300"/>
              </a:tblGrid>
              <a:tr h="212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0 00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00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00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00000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0000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1518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14400"/>
            <a:ext cx="9144000" cy="59436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533400" y="6273225"/>
            <a:ext cx="5791200" cy="58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一条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微指令包含： 一时钟周期中发出的所有控制信号。</a:t>
            </a:r>
            <a:endParaRPr lang="en-US" altLang="zh-CN" sz="16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此题假设： 一个机器周期一个时钟周期</a:t>
            </a:r>
            <a:endParaRPr lang="zh-CN" altLang="en-US" sz="16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657725"/>
            <a:ext cx="8001000" cy="204787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914400" y="4114800"/>
            <a:ext cx="52959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编写微指令之前，必须先确定微指令的格式：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914400" y="381000"/>
            <a:ext cx="40386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8.4.1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微程序举例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685800" y="1219200"/>
            <a:ext cx="798512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一条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码十进制加法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ADD R1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R2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对应的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如下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539" name="Text Box 52"/>
          <p:cNvSpPr txBox="1">
            <a:spLocks noChangeArrowheads="1"/>
          </p:cNvSpPr>
          <p:nvPr/>
        </p:nvSpPr>
        <p:spPr bwMode="auto">
          <a:xfrm>
            <a:off x="1295400" y="6059269"/>
            <a:ext cx="4800600" cy="64633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endParaRPr lang="en-US" altLang="zh-CN" sz="18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控制器</a:t>
            </a: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发出的</a:t>
            </a:r>
            <a:r>
              <a:rPr lang="zh-CN" altLang="en-US" sz="18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所有控制信号，按序排列。</a:t>
            </a:r>
            <a:endParaRPr lang="zh-CN" altLang="en-US" sz="18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990600" y="1828800"/>
          <a:ext cx="777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579"/>
                <a:gridCol w="3652092"/>
                <a:gridCol w="1030077"/>
                <a:gridCol w="1404652"/>
              </a:tblGrid>
              <a:tr h="370840">
                <a:tc gridSpan="4">
                  <a:txBody>
                    <a:bodyPr/>
                    <a:lstStyle/>
                    <a:p>
                      <a:pPr algn="l"/>
                      <a:r>
                        <a:rPr lang="zh-CN" altLang="en-US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该微程序 预先 存放在 </a:t>
                      </a:r>
                      <a:r>
                        <a:rPr lang="zh-CN" altLang="en-US" sz="1800" dirty="0" smtClean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控制存储器</a:t>
                      </a:r>
                      <a:r>
                        <a:rPr lang="en-US" altLang="zh-CN" sz="1800" dirty="0" smtClean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ROM </a:t>
                      </a:r>
                      <a:r>
                        <a:rPr lang="zh-CN" altLang="en-US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中</a:t>
                      </a:r>
                      <a:endParaRPr lang="zh-CN" altLang="en-US" sz="1800" dirty="0">
                        <a:solidFill>
                          <a:srgbClr val="0066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dirty="0" smtClean="0">
                        <a:solidFill>
                          <a:srgbClr val="0066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dirty="0" smtClean="0">
                        <a:solidFill>
                          <a:srgbClr val="0066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微指令</a:t>
                      </a:r>
                      <a:r>
                        <a:rPr lang="en-US" altLang="zh-CN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000 000 000 000 11111</a:t>
                      </a:r>
                      <a:endParaRPr lang="zh-CN" altLang="en-US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微指令</a:t>
                      </a:r>
                      <a:r>
                        <a:rPr lang="en-US" altLang="zh-CN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010 100 100 100 00000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1001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微指令</a:t>
                      </a:r>
                      <a:r>
                        <a:rPr lang="en-US" altLang="zh-CN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010 001 001 100 00000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微指令</a:t>
                      </a:r>
                      <a:r>
                        <a:rPr lang="en-US" altLang="zh-CN" sz="1800" dirty="0" smtClean="0">
                          <a:solidFill>
                            <a:srgbClr val="0066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4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010 001 001 001 00000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>
                          <a:solidFill>
                            <a:srgbClr val="00206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1314450" y="-914396"/>
            <a:ext cx="6515100" cy="8686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 bwMode="auto">
          <a:xfrm>
            <a:off x="533400" y="1676400"/>
            <a:ext cx="8382000" cy="381000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609600" y="3733800"/>
            <a:ext cx="457200" cy="1384995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 smtClean="0"/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6483" y="3257490"/>
            <a:ext cx="3201517" cy="40011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微操作命令信号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2" name="Rectangle 215"/>
          <p:cNvSpPr>
            <a:spLocks noChangeArrowheads="1"/>
          </p:cNvSpPr>
          <p:nvPr/>
        </p:nvSpPr>
        <p:spPr bwMode="auto">
          <a:xfrm>
            <a:off x="3495675" y="6310313"/>
            <a:ext cx="184150" cy="76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endParaRPr lang="en-US" altLang="zh-CN" sz="200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20000"/>
              </a:spcBef>
            </a:pPr>
            <a:endParaRPr lang="en-US" altLang="zh-CN" sz="2000">
              <a:solidFill>
                <a:schemeClr val="tx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573" name="TextBox 129"/>
          <p:cNvSpPr txBox="1">
            <a:spLocks noChangeArrowheads="1"/>
          </p:cNvSpPr>
          <p:nvPr/>
        </p:nvSpPr>
        <p:spPr bwMode="auto">
          <a:xfrm>
            <a:off x="0" y="3733800"/>
            <a:ext cx="8839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举例：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指令的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微程序（仅为举例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，格式不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精确，有重复控制信号）</a:t>
            </a:r>
            <a:endParaRPr lang="en-US" altLang="zh-CN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取指周期 微指令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000000   000000   000000000000000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  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0000   000000   000000000000000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  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1111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000000   000000000000000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间址周期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00000000 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0000   000000000000000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  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00000000   00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000   000000000000000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  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00000000   0000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000000000000000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执行周期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00000000 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000000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0000000000000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  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00000000   000000   000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00000000000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  微指令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00000000   000000   00000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000000000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0" y="0"/>
            <a:ext cx="9144000" cy="3657600"/>
            <a:chOff x="838200" y="1219200"/>
            <a:chExt cx="8077200" cy="3990622"/>
          </a:xfrm>
        </p:grpSpPr>
        <p:pic>
          <p:nvPicPr>
            <p:cNvPr id="18433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8200" y="1219200"/>
              <a:ext cx="8077200" cy="3990622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</p:pic>
        <p:sp>
          <p:nvSpPr>
            <p:cNvPr id="128" name="TextBox 127"/>
            <p:cNvSpPr txBox="1"/>
            <p:nvPr/>
          </p:nvSpPr>
          <p:spPr>
            <a:xfrm rot="16200000">
              <a:off x="3979678" y="1236478"/>
              <a:ext cx="3273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/>
                <a:t>1</a:t>
              </a:r>
              <a:endParaRPr lang="zh-CN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838200" y="1073219"/>
            <a:ext cx="8153400" cy="56323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微程序控制器的设计步骤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（前五步骤与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相同！）</a:t>
            </a: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步骤一  拟定指令系统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逻辑依据：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给出控制器设计的总体需求）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步骤二  确定总体结构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空间安排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：给出控制器组成部件及通路）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步骤三  拟定时序系统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时间安排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：给出控制信号发送时间依据）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步骤四  拟定指令流程图（合并了步骤一、步骤三）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分析每条指令的执行步骤，按时间顺序，画出指令流程图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（即：一条指令执行过程中，什么时间完成什么操作。）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步骤五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编制微操作命令时间表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（合并了步骤二、步骤四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P402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将指令流程中的操作落实到由哪个部件完成，给出时间表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步骤六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确定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格式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设置微指令编码方式，后继微指令地址的形成方式等。</a:t>
            </a: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步骤七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为每条指令编写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根据微操作命令时间表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微程序，存入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控制存储器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228600" y="2819400"/>
            <a:ext cx="8686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457200" y="19050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457200" y="22098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457200" y="25146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304800" y="4953000"/>
            <a:ext cx="8686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57200" y="31242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457200" y="43434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457200" y="52578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1752600"/>
            <a:ext cx="8153400" cy="762000"/>
            <a:chOff x="816" y="1200"/>
            <a:chExt cx="2256" cy="672"/>
          </a:xfrm>
        </p:grpSpPr>
        <p:sp>
          <p:nvSpPr>
            <p:cNvPr id="43013" name="Rectangle 3"/>
            <p:cNvSpPr>
              <a:spLocks noChangeArrowheads="1"/>
            </p:cNvSpPr>
            <p:nvPr/>
          </p:nvSpPr>
          <p:spPr bwMode="auto">
            <a:xfrm>
              <a:off x="816" y="1200"/>
              <a:ext cx="2064" cy="432"/>
            </a:xfrm>
            <a:prstGeom prst="rect">
              <a:avLst/>
            </a:prstGeom>
            <a:gradFill rotWithShape="0">
              <a:gsLst>
                <a:gs pos="0">
                  <a:srgbClr val="9BB4C2"/>
                </a:gs>
                <a:gs pos="50000">
                  <a:srgbClr val="CCECFF"/>
                </a:gs>
                <a:gs pos="100000">
                  <a:srgbClr val="9BB4C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86116" name="Picture 4" descr="cursor"/>
            <p:cNvPicPr>
              <a:picLocks noChangeAspect="1" noChangeArrowheads="1"/>
            </p:cNvPicPr>
            <p:nvPr/>
          </p:nvPicPr>
          <p:blipFill>
            <a:blip r:embed="rId3" cstate="print">
              <a:lum bright="-40000" contrast="-66000"/>
            </a:blip>
            <a:srcRect/>
            <a:stretch>
              <a:fillRect/>
            </a:stretch>
          </p:blipFill>
          <p:spPr bwMode="auto">
            <a:xfrm>
              <a:off x="2688" y="1493"/>
              <a:ext cx="384" cy="379"/>
            </a:xfrm>
            <a:prstGeom prst="rect">
              <a:avLst/>
            </a:prstGeom>
            <a:noFill/>
            <a:effectLst>
              <a:outerShdw dist="107763" dir="18900000" algn="ctr" rotWithShape="0">
                <a:srgbClr val="808080"/>
              </a:outerShdw>
            </a:effectLst>
          </p:spPr>
        </p:pic>
      </p:grp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935038" y="1295400"/>
            <a:ext cx="5110694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8.4.1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微程序举例</a:t>
            </a:r>
          </a:p>
          <a:p>
            <a:pPr algn="l"/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8.4.2 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（互斥、相容）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微指令格式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微程序设计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微程序控制器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981200" y="4038600"/>
            <a:ext cx="6477000" cy="461665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控制信号（微操作命令）：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互斥 、相容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38200" y="381000"/>
            <a:ext cx="5791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8.4.2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控制信号（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互斥、相容）</a:t>
            </a:r>
          </a:p>
        </p:txBody>
      </p: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1143000" y="2286000"/>
            <a:ext cx="7324725" cy="4572000"/>
            <a:chOff x="810" y="1440"/>
            <a:chExt cx="4614" cy="2880"/>
          </a:xfrm>
        </p:grpSpPr>
        <p:grpSp>
          <p:nvGrpSpPr>
            <p:cNvPr id="7" name="Group 10"/>
            <p:cNvGrpSpPr>
              <a:grpSpLocks/>
            </p:cNvGrpSpPr>
            <p:nvPr/>
          </p:nvGrpSpPr>
          <p:grpSpPr bwMode="auto">
            <a:xfrm>
              <a:off x="810" y="1440"/>
              <a:ext cx="4614" cy="2880"/>
              <a:chOff x="810" y="1440"/>
              <a:chExt cx="4614" cy="2880"/>
            </a:xfrm>
          </p:grpSpPr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 rot="5400000">
                <a:off x="2058" y="2448"/>
                <a:ext cx="288" cy="672"/>
              </a:xfrm>
              <a:prstGeom prst="rect">
                <a:avLst/>
              </a:prstGeom>
              <a:solidFill>
                <a:srgbClr val="000066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PC</a:t>
                </a:r>
              </a:p>
            </p:txBody>
          </p:sp>
          <p:sp>
            <p:nvSpPr>
              <p:cNvPr id="11" name="Rectangle 12"/>
              <p:cNvSpPr>
                <a:spLocks noChangeArrowheads="1"/>
              </p:cNvSpPr>
              <p:nvPr/>
            </p:nvSpPr>
            <p:spPr bwMode="auto">
              <a:xfrm rot="5400000">
                <a:off x="3066" y="2448"/>
                <a:ext cx="288" cy="672"/>
              </a:xfrm>
              <a:prstGeom prst="rect">
                <a:avLst/>
              </a:prstGeom>
              <a:solidFill>
                <a:srgbClr val="000066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IR</a:t>
                </a:r>
              </a:p>
            </p:txBody>
          </p:sp>
          <p:sp>
            <p:nvSpPr>
              <p:cNvPr id="12" name="Rectangle 13"/>
              <p:cNvSpPr>
                <a:spLocks noChangeArrowheads="1"/>
              </p:cNvSpPr>
              <p:nvPr/>
            </p:nvSpPr>
            <p:spPr bwMode="auto">
              <a:xfrm rot="5400000">
                <a:off x="4314" y="2112"/>
                <a:ext cx="288" cy="672"/>
              </a:xfrm>
              <a:prstGeom prst="rect">
                <a:avLst/>
              </a:prstGeom>
              <a:solidFill>
                <a:srgbClr val="000066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AC</a:t>
                </a:r>
              </a:p>
            </p:txBody>
          </p:sp>
          <p:sp>
            <p:nvSpPr>
              <p:cNvPr id="13" name="Oval 14"/>
              <p:cNvSpPr>
                <a:spLocks noChangeArrowheads="1"/>
              </p:cNvSpPr>
              <p:nvPr/>
            </p:nvSpPr>
            <p:spPr bwMode="auto">
              <a:xfrm>
                <a:off x="1697" y="2496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Freeform 15"/>
              <p:cNvSpPr>
                <a:spLocks/>
              </p:cNvSpPr>
              <p:nvPr/>
            </p:nvSpPr>
            <p:spPr bwMode="auto">
              <a:xfrm>
                <a:off x="1530" y="1917"/>
                <a:ext cx="2880" cy="4"/>
              </a:xfrm>
              <a:custGeom>
                <a:avLst/>
                <a:gdLst>
                  <a:gd name="T0" fmla="*/ 2880 w 2880"/>
                  <a:gd name="T1" fmla="*/ 0 h 4"/>
                  <a:gd name="T2" fmla="*/ 0 w 2880"/>
                  <a:gd name="T3" fmla="*/ 4 h 4"/>
                  <a:gd name="T4" fmla="*/ 0 60000 65536"/>
                  <a:gd name="T5" fmla="*/ 0 60000 65536"/>
                  <a:gd name="T6" fmla="*/ 0 w 2880"/>
                  <a:gd name="T7" fmla="*/ 0 h 4"/>
                  <a:gd name="T8" fmla="*/ 2880 w 2880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880" h="4">
                    <a:moveTo>
                      <a:pt x="2880" y="0"/>
                    </a:moveTo>
                    <a:lnTo>
                      <a:pt x="0" y="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Line 16"/>
              <p:cNvSpPr>
                <a:spLocks noChangeShapeType="1"/>
              </p:cNvSpPr>
              <p:nvPr/>
            </p:nvSpPr>
            <p:spPr bwMode="auto">
              <a:xfrm>
                <a:off x="1530" y="2208"/>
                <a:ext cx="21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Freeform 17"/>
              <p:cNvSpPr>
                <a:spLocks/>
              </p:cNvSpPr>
              <p:nvPr/>
            </p:nvSpPr>
            <p:spPr bwMode="auto">
              <a:xfrm>
                <a:off x="1722" y="2208"/>
                <a:ext cx="1" cy="294"/>
              </a:xfrm>
              <a:custGeom>
                <a:avLst/>
                <a:gdLst>
                  <a:gd name="T0" fmla="*/ 0 w 1"/>
                  <a:gd name="T1" fmla="*/ 0 h 294"/>
                  <a:gd name="T2" fmla="*/ 0 w 1"/>
                  <a:gd name="T3" fmla="*/ 294 h 294"/>
                  <a:gd name="T4" fmla="*/ 0 60000 65536"/>
                  <a:gd name="T5" fmla="*/ 0 60000 65536"/>
                  <a:gd name="T6" fmla="*/ 0 w 1"/>
                  <a:gd name="T7" fmla="*/ 0 h 294"/>
                  <a:gd name="T8" fmla="*/ 1 w 1"/>
                  <a:gd name="T9" fmla="*/ 294 h 2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Freeform 18"/>
              <p:cNvSpPr>
                <a:spLocks/>
              </p:cNvSpPr>
              <p:nvPr/>
            </p:nvSpPr>
            <p:spPr bwMode="auto">
              <a:xfrm>
                <a:off x="1530" y="2544"/>
                <a:ext cx="192" cy="1008"/>
              </a:xfrm>
              <a:custGeom>
                <a:avLst/>
                <a:gdLst>
                  <a:gd name="T0" fmla="*/ 192 w 192"/>
                  <a:gd name="T1" fmla="*/ 0 h 1008"/>
                  <a:gd name="T2" fmla="*/ 192 w 192"/>
                  <a:gd name="T3" fmla="*/ 1008 h 1008"/>
                  <a:gd name="T4" fmla="*/ 0 w 192"/>
                  <a:gd name="T5" fmla="*/ 1008 h 1008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008"/>
                  <a:gd name="T11" fmla="*/ 192 w 192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008">
                    <a:moveTo>
                      <a:pt x="192" y="0"/>
                    </a:moveTo>
                    <a:lnTo>
                      <a:pt x="192" y="1008"/>
                    </a:lnTo>
                    <a:lnTo>
                      <a:pt x="0" y="100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9"/>
              <p:cNvSpPr>
                <a:spLocks noChangeShapeType="1"/>
              </p:cNvSpPr>
              <p:nvPr/>
            </p:nvSpPr>
            <p:spPr bwMode="auto">
              <a:xfrm flipV="1">
                <a:off x="2058" y="240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Freeform 20"/>
              <p:cNvSpPr>
                <a:spLocks/>
              </p:cNvSpPr>
              <p:nvPr/>
            </p:nvSpPr>
            <p:spPr bwMode="auto">
              <a:xfrm>
                <a:off x="2058" y="1920"/>
                <a:ext cx="1" cy="435"/>
              </a:xfrm>
              <a:custGeom>
                <a:avLst/>
                <a:gdLst>
                  <a:gd name="T0" fmla="*/ 0 w 1"/>
                  <a:gd name="T1" fmla="*/ 435 h 435"/>
                  <a:gd name="T2" fmla="*/ 1 w 1"/>
                  <a:gd name="T3" fmla="*/ 0 h 435"/>
                  <a:gd name="T4" fmla="*/ 0 60000 65536"/>
                  <a:gd name="T5" fmla="*/ 0 60000 65536"/>
                  <a:gd name="T6" fmla="*/ 0 w 1"/>
                  <a:gd name="T7" fmla="*/ 0 h 435"/>
                  <a:gd name="T8" fmla="*/ 1 w 1"/>
                  <a:gd name="T9" fmla="*/ 435 h 4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5">
                    <a:moveTo>
                      <a:pt x="0" y="435"/>
                    </a:moveTo>
                    <a:lnTo>
                      <a:pt x="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Oval 21"/>
              <p:cNvSpPr>
                <a:spLocks noChangeArrowheads="1"/>
              </p:cNvSpPr>
              <p:nvPr/>
            </p:nvSpPr>
            <p:spPr bwMode="auto">
              <a:xfrm>
                <a:off x="2033" y="235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Oval 22"/>
              <p:cNvSpPr>
                <a:spLocks noChangeArrowheads="1"/>
              </p:cNvSpPr>
              <p:nvPr/>
            </p:nvSpPr>
            <p:spPr bwMode="auto">
              <a:xfrm>
                <a:off x="2273" y="244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Line 23"/>
              <p:cNvSpPr>
                <a:spLocks noChangeShapeType="1"/>
              </p:cNvSpPr>
              <p:nvPr/>
            </p:nvSpPr>
            <p:spPr bwMode="auto">
              <a:xfrm>
                <a:off x="2298" y="220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Line 24"/>
              <p:cNvSpPr>
                <a:spLocks noChangeShapeType="1"/>
              </p:cNvSpPr>
              <p:nvPr/>
            </p:nvSpPr>
            <p:spPr bwMode="auto">
              <a:xfrm>
                <a:off x="2298" y="249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25"/>
              <p:cNvSpPr>
                <a:spLocks noChangeShapeType="1"/>
              </p:cNvSpPr>
              <p:nvPr/>
            </p:nvSpPr>
            <p:spPr bwMode="auto">
              <a:xfrm>
                <a:off x="2202" y="292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Freeform 26"/>
              <p:cNvSpPr>
                <a:spLocks/>
              </p:cNvSpPr>
              <p:nvPr/>
            </p:nvSpPr>
            <p:spPr bwMode="auto">
              <a:xfrm>
                <a:off x="1530" y="3312"/>
                <a:ext cx="672" cy="576"/>
              </a:xfrm>
              <a:custGeom>
                <a:avLst/>
                <a:gdLst>
                  <a:gd name="T0" fmla="*/ 672 w 672"/>
                  <a:gd name="T1" fmla="*/ 0 h 576"/>
                  <a:gd name="T2" fmla="*/ 672 w 672"/>
                  <a:gd name="T3" fmla="*/ 576 h 576"/>
                  <a:gd name="T4" fmla="*/ 0 w 672"/>
                  <a:gd name="T5" fmla="*/ 576 h 576"/>
                  <a:gd name="T6" fmla="*/ 0 60000 65536"/>
                  <a:gd name="T7" fmla="*/ 0 60000 65536"/>
                  <a:gd name="T8" fmla="*/ 0 60000 65536"/>
                  <a:gd name="T9" fmla="*/ 0 w 672"/>
                  <a:gd name="T10" fmla="*/ 0 h 576"/>
                  <a:gd name="T11" fmla="*/ 672 w 672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2" h="576">
                    <a:moveTo>
                      <a:pt x="672" y="0"/>
                    </a:moveTo>
                    <a:lnTo>
                      <a:pt x="672" y="576"/>
                    </a:lnTo>
                    <a:lnTo>
                      <a:pt x="0" y="57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" name="Oval 27"/>
              <p:cNvSpPr>
                <a:spLocks noChangeArrowheads="1"/>
              </p:cNvSpPr>
              <p:nvPr/>
            </p:nvSpPr>
            <p:spPr bwMode="auto">
              <a:xfrm>
                <a:off x="2180" y="326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Oval 28"/>
              <p:cNvSpPr>
                <a:spLocks noChangeArrowheads="1"/>
              </p:cNvSpPr>
              <p:nvPr/>
            </p:nvSpPr>
            <p:spPr bwMode="auto">
              <a:xfrm>
                <a:off x="3137" y="244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" name="Line 29"/>
              <p:cNvSpPr>
                <a:spLocks noChangeShapeType="1"/>
              </p:cNvSpPr>
              <p:nvPr/>
            </p:nvSpPr>
            <p:spPr bwMode="auto">
              <a:xfrm>
                <a:off x="3162" y="2208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" name="Line 30"/>
              <p:cNvSpPr>
                <a:spLocks noChangeShapeType="1"/>
              </p:cNvSpPr>
              <p:nvPr/>
            </p:nvSpPr>
            <p:spPr bwMode="auto">
              <a:xfrm>
                <a:off x="3162" y="249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" name="Line 31"/>
              <p:cNvSpPr>
                <a:spLocks noChangeShapeType="1"/>
              </p:cNvSpPr>
              <p:nvPr/>
            </p:nvSpPr>
            <p:spPr bwMode="auto">
              <a:xfrm>
                <a:off x="3210" y="292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" name="Oval 32"/>
              <p:cNvSpPr>
                <a:spLocks noChangeArrowheads="1"/>
              </p:cNvSpPr>
              <p:nvPr/>
            </p:nvSpPr>
            <p:spPr bwMode="auto">
              <a:xfrm>
                <a:off x="3186" y="326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Line 33"/>
              <p:cNvSpPr>
                <a:spLocks noChangeShapeType="1"/>
              </p:cNvSpPr>
              <p:nvPr/>
            </p:nvSpPr>
            <p:spPr bwMode="auto">
              <a:xfrm>
                <a:off x="3210" y="33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" name="Rectangle 34"/>
              <p:cNvSpPr>
                <a:spLocks noChangeArrowheads="1"/>
              </p:cNvSpPr>
              <p:nvPr/>
            </p:nvSpPr>
            <p:spPr bwMode="auto">
              <a:xfrm>
                <a:off x="2922" y="3552"/>
                <a:ext cx="576" cy="336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CU</a:t>
                </a:r>
              </a:p>
            </p:txBody>
          </p:sp>
          <p:sp>
            <p:nvSpPr>
              <p:cNvPr id="34" name="Rectangle 35"/>
              <p:cNvSpPr>
                <a:spLocks noChangeArrowheads="1"/>
              </p:cNvSpPr>
              <p:nvPr/>
            </p:nvSpPr>
            <p:spPr bwMode="auto">
              <a:xfrm rot="5400000">
                <a:off x="2418" y="3864"/>
                <a:ext cx="240" cy="576"/>
              </a:xfrm>
              <a:prstGeom prst="rect">
                <a:avLst/>
              </a:prstGeom>
              <a:solidFill>
                <a:srgbClr val="0000F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r>
                  <a:rPr kumimoji="1" lang="zh-CN" altLang="en-US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时钟</a:t>
                </a:r>
              </a:p>
            </p:txBody>
          </p:sp>
          <p:sp>
            <p:nvSpPr>
              <p:cNvPr id="35" name="Freeform 36"/>
              <p:cNvSpPr>
                <a:spLocks/>
              </p:cNvSpPr>
              <p:nvPr/>
            </p:nvSpPr>
            <p:spPr bwMode="auto">
              <a:xfrm>
                <a:off x="2538" y="3696"/>
                <a:ext cx="384" cy="336"/>
              </a:xfrm>
              <a:custGeom>
                <a:avLst/>
                <a:gdLst>
                  <a:gd name="T0" fmla="*/ 0 w 384"/>
                  <a:gd name="T1" fmla="*/ 1289 h 240"/>
                  <a:gd name="T2" fmla="*/ 0 w 384"/>
                  <a:gd name="T3" fmla="*/ 0 h 240"/>
                  <a:gd name="T4" fmla="*/ 384 w 384"/>
                  <a:gd name="T5" fmla="*/ 0 h 240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240"/>
                  <a:gd name="T11" fmla="*/ 384 w 384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240">
                    <a:moveTo>
                      <a:pt x="0" y="240"/>
                    </a:moveTo>
                    <a:lnTo>
                      <a:pt x="0" y="0"/>
                    </a:lnTo>
                    <a:lnTo>
                      <a:pt x="384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6" name="Freeform 37"/>
              <p:cNvSpPr>
                <a:spLocks/>
              </p:cNvSpPr>
              <p:nvPr/>
            </p:nvSpPr>
            <p:spPr bwMode="auto">
              <a:xfrm>
                <a:off x="3690" y="2208"/>
                <a:ext cx="1" cy="819"/>
              </a:xfrm>
              <a:custGeom>
                <a:avLst/>
                <a:gdLst>
                  <a:gd name="T0" fmla="*/ 0 w 1"/>
                  <a:gd name="T1" fmla="*/ 0 h 819"/>
                  <a:gd name="T2" fmla="*/ 0 w 1"/>
                  <a:gd name="T3" fmla="*/ 819 h 819"/>
                  <a:gd name="T4" fmla="*/ 0 60000 65536"/>
                  <a:gd name="T5" fmla="*/ 0 60000 65536"/>
                  <a:gd name="T6" fmla="*/ 0 w 1"/>
                  <a:gd name="T7" fmla="*/ 0 h 819"/>
                  <a:gd name="T8" fmla="*/ 1 w 1"/>
                  <a:gd name="T9" fmla="*/ 819 h 81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19">
                    <a:moveTo>
                      <a:pt x="0" y="0"/>
                    </a:moveTo>
                    <a:lnTo>
                      <a:pt x="0" y="819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7" name="Oval 38"/>
              <p:cNvSpPr>
                <a:spLocks noChangeArrowheads="1"/>
              </p:cNvSpPr>
              <p:nvPr/>
            </p:nvSpPr>
            <p:spPr bwMode="auto">
              <a:xfrm>
                <a:off x="3665" y="302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" name="Freeform 39"/>
              <p:cNvSpPr>
                <a:spLocks/>
              </p:cNvSpPr>
              <p:nvPr/>
            </p:nvSpPr>
            <p:spPr bwMode="auto">
              <a:xfrm>
                <a:off x="3690" y="3072"/>
                <a:ext cx="507" cy="192"/>
              </a:xfrm>
              <a:custGeom>
                <a:avLst/>
                <a:gdLst>
                  <a:gd name="T0" fmla="*/ 0 w 507"/>
                  <a:gd name="T1" fmla="*/ 0 h 192"/>
                  <a:gd name="T2" fmla="*/ 0 w 507"/>
                  <a:gd name="T3" fmla="*/ 192 h 192"/>
                  <a:gd name="T4" fmla="*/ 507 w 507"/>
                  <a:gd name="T5" fmla="*/ 192 h 192"/>
                  <a:gd name="T6" fmla="*/ 0 60000 65536"/>
                  <a:gd name="T7" fmla="*/ 0 60000 65536"/>
                  <a:gd name="T8" fmla="*/ 0 60000 65536"/>
                  <a:gd name="T9" fmla="*/ 0 w 507"/>
                  <a:gd name="T10" fmla="*/ 0 h 192"/>
                  <a:gd name="T11" fmla="*/ 507 w 507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7" h="192">
                    <a:moveTo>
                      <a:pt x="0" y="0"/>
                    </a:moveTo>
                    <a:lnTo>
                      <a:pt x="0" y="192"/>
                    </a:lnTo>
                    <a:lnTo>
                      <a:pt x="507" y="192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" name="Rectangle 40"/>
              <p:cNvSpPr>
                <a:spLocks noChangeArrowheads="1"/>
              </p:cNvSpPr>
              <p:nvPr/>
            </p:nvSpPr>
            <p:spPr bwMode="auto">
              <a:xfrm>
                <a:off x="4198" y="3168"/>
                <a:ext cx="576" cy="336"/>
              </a:xfrm>
              <a:prstGeom prst="rect">
                <a:avLst/>
              </a:prstGeom>
              <a:solidFill>
                <a:srgbClr val="FF00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ALU</a:t>
                </a:r>
              </a:p>
            </p:txBody>
          </p:sp>
          <p:sp>
            <p:nvSpPr>
              <p:cNvPr id="40" name="Line 41"/>
              <p:cNvSpPr>
                <a:spLocks noChangeShapeType="1"/>
              </p:cNvSpPr>
              <p:nvPr/>
            </p:nvSpPr>
            <p:spPr bwMode="auto">
              <a:xfrm flipH="1">
                <a:off x="3498" y="360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Line 42"/>
              <p:cNvSpPr>
                <a:spLocks noChangeShapeType="1"/>
              </p:cNvSpPr>
              <p:nvPr/>
            </p:nvSpPr>
            <p:spPr bwMode="auto">
              <a:xfrm flipH="1">
                <a:off x="3498" y="3840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Line 43"/>
              <p:cNvSpPr>
                <a:spLocks noChangeShapeType="1"/>
              </p:cNvSpPr>
              <p:nvPr/>
            </p:nvSpPr>
            <p:spPr bwMode="auto">
              <a:xfrm rot="16200000" flipH="1">
                <a:off x="2970" y="39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Line 44"/>
              <p:cNvSpPr>
                <a:spLocks noChangeShapeType="1"/>
              </p:cNvSpPr>
              <p:nvPr/>
            </p:nvSpPr>
            <p:spPr bwMode="auto">
              <a:xfrm rot="16200000" flipH="1">
                <a:off x="3306" y="39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Text Box 45"/>
              <p:cNvSpPr txBox="1">
                <a:spLocks noChangeArrowheads="1"/>
              </p:cNvSpPr>
              <p:nvPr/>
            </p:nvSpPr>
            <p:spPr bwMode="auto">
              <a:xfrm>
                <a:off x="3098" y="3830"/>
                <a:ext cx="27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45" name="Text Box 46"/>
              <p:cNvSpPr txBox="1">
                <a:spLocks noChangeArrowheads="1"/>
              </p:cNvSpPr>
              <p:nvPr/>
            </p:nvSpPr>
            <p:spPr bwMode="auto">
              <a:xfrm>
                <a:off x="3509" y="3619"/>
                <a:ext cx="310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46" name="Line 47"/>
              <p:cNvSpPr>
                <a:spLocks noChangeShapeType="1"/>
              </p:cNvSpPr>
              <p:nvPr/>
            </p:nvSpPr>
            <p:spPr bwMode="auto">
              <a:xfrm flipH="1">
                <a:off x="4774" y="321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7" name="Line 48"/>
              <p:cNvSpPr>
                <a:spLocks noChangeShapeType="1"/>
              </p:cNvSpPr>
              <p:nvPr/>
            </p:nvSpPr>
            <p:spPr bwMode="auto">
              <a:xfrm flipH="1">
                <a:off x="4774" y="345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Text Box 49"/>
              <p:cNvSpPr txBox="1">
                <a:spLocks noChangeArrowheads="1"/>
              </p:cNvSpPr>
              <p:nvPr/>
            </p:nvSpPr>
            <p:spPr bwMode="auto">
              <a:xfrm>
                <a:off x="4799" y="3235"/>
                <a:ext cx="310" cy="2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20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49" name="Oval 50"/>
              <p:cNvSpPr>
                <a:spLocks noChangeArrowheads="1"/>
              </p:cNvSpPr>
              <p:nvPr/>
            </p:nvSpPr>
            <p:spPr bwMode="auto">
              <a:xfrm rot="5400000">
                <a:off x="3930" y="242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0" name="Freeform 51"/>
              <p:cNvSpPr>
                <a:spLocks/>
              </p:cNvSpPr>
              <p:nvPr/>
            </p:nvSpPr>
            <p:spPr bwMode="auto">
              <a:xfrm>
                <a:off x="3687" y="2451"/>
                <a:ext cx="243" cy="3"/>
              </a:xfrm>
              <a:custGeom>
                <a:avLst/>
                <a:gdLst>
                  <a:gd name="T0" fmla="*/ 243 w 243"/>
                  <a:gd name="T1" fmla="*/ 0 h 3"/>
                  <a:gd name="T2" fmla="*/ 0 w 243"/>
                  <a:gd name="T3" fmla="*/ 3 h 3"/>
                  <a:gd name="T4" fmla="*/ 0 60000 65536"/>
                  <a:gd name="T5" fmla="*/ 0 60000 65536"/>
                  <a:gd name="T6" fmla="*/ 0 w 243"/>
                  <a:gd name="T7" fmla="*/ 0 h 3"/>
                  <a:gd name="T8" fmla="*/ 243 w 24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oval" w="sm" len="sm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1" name="Line 52"/>
              <p:cNvSpPr>
                <a:spLocks noChangeShapeType="1"/>
              </p:cNvSpPr>
              <p:nvPr/>
            </p:nvSpPr>
            <p:spPr bwMode="auto">
              <a:xfrm rot="-5400000">
                <a:off x="4050" y="2376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2" name="Oval 53"/>
              <p:cNvSpPr>
                <a:spLocks noChangeArrowheads="1"/>
              </p:cNvSpPr>
              <p:nvPr/>
            </p:nvSpPr>
            <p:spPr bwMode="auto">
              <a:xfrm>
                <a:off x="4288" y="283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3" name="Line 54"/>
              <p:cNvSpPr>
                <a:spLocks noChangeShapeType="1"/>
              </p:cNvSpPr>
              <p:nvPr/>
            </p:nvSpPr>
            <p:spPr bwMode="auto">
              <a:xfrm>
                <a:off x="4314" y="259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4" name="Freeform 55"/>
              <p:cNvSpPr>
                <a:spLocks/>
              </p:cNvSpPr>
              <p:nvPr/>
            </p:nvSpPr>
            <p:spPr bwMode="auto">
              <a:xfrm>
                <a:off x="4311" y="2886"/>
                <a:ext cx="3" cy="282"/>
              </a:xfrm>
              <a:custGeom>
                <a:avLst/>
                <a:gdLst>
                  <a:gd name="T0" fmla="*/ 3 w 3"/>
                  <a:gd name="T1" fmla="*/ 0 h 282"/>
                  <a:gd name="T2" fmla="*/ 0 w 3"/>
                  <a:gd name="T3" fmla="*/ 282 h 282"/>
                  <a:gd name="T4" fmla="*/ 0 60000 65536"/>
                  <a:gd name="T5" fmla="*/ 0 60000 65536"/>
                  <a:gd name="T6" fmla="*/ 0 w 3"/>
                  <a:gd name="T7" fmla="*/ 0 h 282"/>
                  <a:gd name="T8" fmla="*/ 3 w 3"/>
                  <a:gd name="T9" fmla="*/ 282 h 28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282">
                    <a:moveTo>
                      <a:pt x="3" y="0"/>
                    </a:moveTo>
                    <a:lnTo>
                      <a:pt x="0" y="282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5" name="Oval 56"/>
              <p:cNvSpPr>
                <a:spLocks noChangeArrowheads="1"/>
              </p:cNvSpPr>
              <p:nvPr/>
            </p:nvSpPr>
            <p:spPr bwMode="auto">
              <a:xfrm>
                <a:off x="4528" y="283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" name="Line 57"/>
              <p:cNvSpPr>
                <a:spLocks noChangeShapeType="1"/>
              </p:cNvSpPr>
              <p:nvPr/>
            </p:nvSpPr>
            <p:spPr bwMode="auto">
              <a:xfrm>
                <a:off x="4554" y="259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" name="Freeform 58"/>
              <p:cNvSpPr>
                <a:spLocks/>
              </p:cNvSpPr>
              <p:nvPr/>
            </p:nvSpPr>
            <p:spPr bwMode="auto">
              <a:xfrm>
                <a:off x="4551" y="2886"/>
                <a:ext cx="3" cy="279"/>
              </a:xfrm>
              <a:custGeom>
                <a:avLst/>
                <a:gdLst>
                  <a:gd name="T0" fmla="*/ 3 w 3"/>
                  <a:gd name="T1" fmla="*/ 0 h 279"/>
                  <a:gd name="T2" fmla="*/ 0 w 3"/>
                  <a:gd name="T3" fmla="*/ 279 h 279"/>
                  <a:gd name="T4" fmla="*/ 0 60000 65536"/>
                  <a:gd name="T5" fmla="*/ 0 60000 65536"/>
                  <a:gd name="T6" fmla="*/ 0 w 3"/>
                  <a:gd name="T7" fmla="*/ 0 h 279"/>
                  <a:gd name="T8" fmla="*/ 3 w 3"/>
                  <a:gd name="T9" fmla="*/ 279 h 27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279">
                    <a:moveTo>
                      <a:pt x="3" y="0"/>
                    </a:moveTo>
                    <a:lnTo>
                      <a:pt x="0" y="279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8" name="Oval 59"/>
              <p:cNvSpPr>
                <a:spLocks noChangeArrowheads="1"/>
              </p:cNvSpPr>
              <p:nvPr/>
            </p:nvSpPr>
            <p:spPr bwMode="auto">
              <a:xfrm rot="5400000">
                <a:off x="4410" y="1894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Freeform 60"/>
              <p:cNvSpPr>
                <a:spLocks/>
              </p:cNvSpPr>
              <p:nvPr/>
            </p:nvSpPr>
            <p:spPr bwMode="auto">
              <a:xfrm>
                <a:off x="4443" y="1941"/>
                <a:ext cx="1" cy="351"/>
              </a:xfrm>
              <a:custGeom>
                <a:avLst/>
                <a:gdLst>
                  <a:gd name="T0" fmla="*/ 0 w 1"/>
                  <a:gd name="T1" fmla="*/ 0 h 351"/>
                  <a:gd name="T2" fmla="*/ 0 w 1"/>
                  <a:gd name="T3" fmla="*/ 351 h 351"/>
                  <a:gd name="T4" fmla="*/ 0 60000 65536"/>
                  <a:gd name="T5" fmla="*/ 0 60000 65536"/>
                  <a:gd name="T6" fmla="*/ 0 w 1"/>
                  <a:gd name="T7" fmla="*/ 0 h 351"/>
                  <a:gd name="T8" fmla="*/ 1 w 1"/>
                  <a:gd name="T9" fmla="*/ 351 h 3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351">
                    <a:moveTo>
                      <a:pt x="0" y="0"/>
                    </a:moveTo>
                    <a:lnTo>
                      <a:pt x="0" y="351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0" name="Oval 61"/>
              <p:cNvSpPr>
                <a:spLocks noChangeArrowheads="1"/>
              </p:cNvSpPr>
              <p:nvPr/>
            </p:nvSpPr>
            <p:spPr bwMode="auto">
              <a:xfrm rot="5400000">
                <a:off x="1053" y="187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" name="Freeform 62"/>
              <p:cNvSpPr>
                <a:spLocks/>
              </p:cNvSpPr>
              <p:nvPr/>
            </p:nvSpPr>
            <p:spPr bwMode="auto">
              <a:xfrm>
                <a:off x="810" y="1899"/>
                <a:ext cx="243" cy="1"/>
              </a:xfrm>
              <a:custGeom>
                <a:avLst/>
                <a:gdLst>
                  <a:gd name="T0" fmla="*/ 243 w 243"/>
                  <a:gd name="T1" fmla="*/ 0 h 1"/>
                  <a:gd name="T2" fmla="*/ 0 w 243"/>
                  <a:gd name="T3" fmla="*/ 0 h 1"/>
                  <a:gd name="T4" fmla="*/ 0 60000 65536"/>
                  <a:gd name="T5" fmla="*/ 0 60000 65536"/>
                  <a:gd name="T6" fmla="*/ 0 w 243"/>
                  <a:gd name="T7" fmla="*/ 0 h 1"/>
                  <a:gd name="T8" fmla="*/ 243 w 24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1">
                    <a:moveTo>
                      <a:pt x="243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" name="Line 63"/>
              <p:cNvSpPr>
                <a:spLocks noChangeShapeType="1"/>
              </p:cNvSpPr>
              <p:nvPr/>
            </p:nvSpPr>
            <p:spPr bwMode="auto">
              <a:xfrm rot="-5400000">
                <a:off x="1173" y="1824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3" name="Oval 64"/>
              <p:cNvSpPr>
                <a:spLocks noChangeArrowheads="1"/>
              </p:cNvSpPr>
              <p:nvPr/>
            </p:nvSpPr>
            <p:spPr bwMode="auto">
              <a:xfrm rot="5400000">
                <a:off x="1053" y="2208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4" name="Freeform 65"/>
              <p:cNvSpPr>
                <a:spLocks/>
              </p:cNvSpPr>
              <p:nvPr/>
            </p:nvSpPr>
            <p:spPr bwMode="auto">
              <a:xfrm>
                <a:off x="810" y="2235"/>
                <a:ext cx="243" cy="3"/>
              </a:xfrm>
              <a:custGeom>
                <a:avLst/>
                <a:gdLst>
                  <a:gd name="T0" fmla="*/ 243 w 243"/>
                  <a:gd name="T1" fmla="*/ 0 h 3"/>
                  <a:gd name="T2" fmla="*/ 0 w 243"/>
                  <a:gd name="T3" fmla="*/ 3 h 3"/>
                  <a:gd name="T4" fmla="*/ 0 60000 65536"/>
                  <a:gd name="T5" fmla="*/ 0 60000 65536"/>
                  <a:gd name="T6" fmla="*/ 0 w 243"/>
                  <a:gd name="T7" fmla="*/ 0 h 3"/>
                  <a:gd name="T8" fmla="*/ 243 w 24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5" name="Line 66"/>
              <p:cNvSpPr>
                <a:spLocks noChangeShapeType="1"/>
              </p:cNvSpPr>
              <p:nvPr/>
            </p:nvSpPr>
            <p:spPr bwMode="auto">
              <a:xfrm rot="-5400000">
                <a:off x="1173" y="216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6" name="Oval 67"/>
              <p:cNvSpPr>
                <a:spLocks noChangeArrowheads="1"/>
              </p:cNvSpPr>
              <p:nvPr/>
            </p:nvSpPr>
            <p:spPr bwMode="auto">
              <a:xfrm rot="5400000">
                <a:off x="1053" y="3696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7" name="Freeform 68"/>
              <p:cNvSpPr>
                <a:spLocks/>
              </p:cNvSpPr>
              <p:nvPr/>
            </p:nvSpPr>
            <p:spPr bwMode="auto">
              <a:xfrm>
                <a:off x="810" y="3723"/>
                <a:ext cx="243" cy="3"/>
              </a:xfrm>
              <a:custGeom>
                <a:avLst/>
                <a:gdLst>
                  <a:gd name="T0" fmla="*/ 243 w 243"/>
                  <a:gd name="T1" fmla="*/ 0 h 3"/>
                  <a:gd name="T2" fmla="*/ 0 w 243"/>
                  <a:gd name="T3" fmla="*/ 3 h 3"/>
                  <a:gd name="T4" fmla="*/ 0 60000 65536"/>
                  <a:gd name="T5" fmla="*/ 0 60000 65536"/>
                  <a:gd name="T6" fmla="*/ 0 w 243"/>
                  <a:gd name="T7" fmla="*/ 0 h 3"/>
                  <a:gd name="T8" fmla="*/ 243 w 24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8" name="Line 69"/>
              <p:cNvSpPr>
                <a:spLocks noChangeShapeType="1"/>
              </p:cNvSpPr>
              <p:nvPr/>
            </p:nvSpPr>
            <p:spPr bwMode="auto">
              <a:xfrm rot="-5400000">
                <a:off x="1173" y="3648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9" name="Freeform 70"/>
              <p:cNvSpPr>
                <a:spLocks/>
              </p:cNvSpPr>
              <p:nvPr/>
            </p:nvSpPr>
            <p:spPr bwMode="auto">
              <a:xfrm>
                <a:off x="1077" y="3498"/>
                <a:ext cx="1" cy="195"/>
              </a:xfrm>
              <a:custGeom>
                <a:avLst/>
                <a:gdLst>
                  <a:gd name="T0" fmla="*/ 0 w 1"/>
                  <a:gd name="T1" fmla="*/ 0 h 195"/>
                  <a:gd name="T2" fmla="*/ 0 w 1"/>
                  <a:gd name="T3" fmla="*/ 195 h 195"/>
                  <a:gd name="T4" fmla="*/ 0 60000 65536"/>
                  <a:gd name="T5" fmla="*/ 0 60000 65536"/>
                  <a:gd name="T6" fmla="*/ 0 w 1"/>
                  <a:gd name="T7" fmla="*/ 0 h 195"/>
                  <a:gd name="T8" fmla="*/ 1 w 1"/>
                  <a:gd name="T9" fmla="*/ 195 h 1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5">
                    <a:moveTo>
                      <a:pt x="0" y="0"/>
                    </a:moveTo>
                    <a:lnTo>
                      <a:pt x="0" y="195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0" name="Freeform 71"/>
              <p:cNvSpPr>
                <a:spLocks/>
              </p:cNvSpPr>
              <p:nvPr/>
            </p:nvSpPr>
            <p:spPr bwMode="auto">
              <a:xfrm>
                <a:off x="1077" y="1674"/>
                <a:ext cx="1" cy="198"/>
              </a:xfrm>
              <a:custGeom>
                <a:avLst/>
                <a:gdLst>
                  <a:gd name="T0" fmla="*/ 0 w 1"/>
                  <a:gd name="T1" fmla="*/ 0 h 198"/>
                  <a:gd name="T2" fmla="*/ 0 w 1"/>
                  <a:gd name="T3" fmla="*/ 198 h 198"/>
                  <a:gd name="T4" fmla="*/ 0 60000 65536"/>
                  <a:gd name="T5" fmla="*/ 0 60000 65536"/>
                  <a:gd name="T6" fmla="*/ 0 w 1"/>
                  <a:gd name="T7" fmla="*/ 0 h 198"/>
                  <a:gd name="T8" fmla="*/ 1 w 1"/>
                  <a:gd name="T9" fmla="*/ 198 h 19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98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1" name="Freeform 72"/>
              <p:cNvSpPr>
                <a:spLocks/>
              </p:cNvSpPr>
              <p:nvPr/>
            </p:nvSpPr>
            <p:spPr bwMode="auto">
              <a:xfrm>
                <a:off x="1524" y="2523"/>
                <a:ext cx="177" cy="1"/>
              </a:xfrm>
              <a:custGeom>
                <a:avLst/>
                <a:gdLst>
                  <a:gd name="T0" fmla="*/ 0 w 177"/>
                  <a:gd name="T1" fmla="*/ 0 h 1"/>
                  <a:gd name="T2" fmla="*/ 177 w 177"/>
                  <a:gd name="T3" fmla="*/ 0 h 1"/>
                  <a:gd name="T4" fmla="*/ 0 60000 65536"/>
                  <a:gd name="T5" fmla="*/ 0 60000 65536"/>
                  <a:gd name="T6" fmla="*/ 0 w 177"/>
                  <a:gd name="T7" fmla="*/ 0 h 1"/>
                  <a:gd name="T8" fmla="*/ 177 w 17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7" h="1">
                    <a:moveTo>
                      <a:pt x="0" y="0"/>
                    </a:moveTo>
                    <a:lnTo>
                      <a:pt x="177" y="0"/>
                    </a:lnTo>
                  </a:path>
                </a:pathLst>
              </a:custGeom>
              <a:noFill/>
              <a:ln w="28575">
                <a:solidFill>
                  <a:schemeClr val="folHlink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2" name="Freeform 73"/>
              <p:cNvSpPr>
                <a:spLocks/>
              </p:cNvSpPr>
              <p:nvPr/>
            </p:nvSpPr>
            <p:spPr bwMode="auto">
              <a:xfrm>
                <a:off x="1860" y="2379"/>
                <a:ext cx="168" cy="6"/>
              </a:xfrm>
              <a:custGeom>
                <a:avLst/>
                <a:gdLst>
                  <a:gd name="T0" fmla="*/ 0 w 168"/>
                  <a:gd name="T1" fmla="*/ 6 h 6"/>
                  <a:gd name="T2" fmla="*/ 168 w 168"/>
                  <a:gd name="T3" fmla="*/ 0 h 6"/>
                  <a:gd name="T4" fmla="*/ 0 60000 65536"/>
                  <a:gd name="T5" fmla="*/ 0 60000 65536"/>
                  <a:gd name="T6" fmla="*/ 0 w 168"/>
                  <a:gd name="T7" fmla="*/ 0 h 6"/>
                  <a:gd name="T8" fmla="*/ 168 w 16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8" h="6">
                    <a:moveTo>
                      <a:pt x="0" y="6"/>
                    </a:moveTo>
                    <a:lnTo>
                      <a:pt x="168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3" name="Freeform 74"/>
              <p:cNvSpPr>
                <a:spLocks/>
              </p:cNvSpPr>
              <p:nvPr/>
            </p:nvSpPr>
            <p:spPr bwMode="auto">
              <a:xfrm>
                <a:off x="2322" y="2478"/>
                <a:ext cx="204" cy="1"/>
              </a:xfrm>
              <a:custGeom>
                <a:avLst/>
                <a:gdLst>
                  <a:gd name="T0" fmla="*/ 204 w 204"/>
                  <a:gd name="T1" fmla="*/ 0 h 1"/>
                  <a:gd name="T2" fmla="*/ 0 w 204"/>
                  <a:gd name="T3" fmla="*/ 0 h 1"/>
                  <a:gd name="T4" fmla="*/ 0 60000 65536"/>
                  <a:gd name="T5" fmla="*/ 0 60000 65536"/>
                  <a:gd name="T6" fmla="*/ 0 w 204"/>
                  <a:gd name="T7" fmla="*/ 0 h 1"/>
                  <a:gd name="T8" fmla="*/ 204 w 204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4" h="1">
                    <a:moveTo>
                      <a:pt x="204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4" name="Freeform 75"/>
              <p:cNvSpPr>
                <a:spLocks/>
              </p:cNvSpPr>
              <p:nvPr/>
            </p:nvSpPr>
            <p:spPr bwMode="auto">
              <a:xfrm>
                <a:off x="2232" y="3288"/>
                <a:ext cx="201" cy="3"/>
              </a:xfrm>
              <a:custGeom>
                <a:avLst/>
                <a:gdLst>
                  <a:gd name="T0" fmla="*/ 201 w 201"/>
                  <a:gd name="T1" fmla="*/ 3 h 3"/>
                  <a:gd name="T2" fmla="*/ 0 w 201"/>
                  <a:gd name="T3" fmla="*/ 0 h 3"/>
                  <a:gd name="T4" fmla="*/ 0 60000 65536"/>
                  <a:gd name="T5" fmla="*/ 0 60000 65536"/>
                  <a:gd name="T6" fmla="*/ 0 w 201"/>
                  <a:gd name="T7" fmla="*/ 0 h 3"/>
                  <a:gd name="T8" fmla="*/ 201 w 201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1" h="3">
                    <a:moveTo>
                      <a:pt x="201" y="3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5" name="Freeform 76"/>
              <p:cNvSpPr>
                <a:spLocks/>
              </p:cNvSpPr>
              <p:nvPr/>
            </p:nvSpPr>
            <p:spPr bwMode="auto">
              <a:xfrm>
                <a:off x="3240" y="3294"/>
                <a:ext cx="198" cy="1"/>
              </a:xfrm>
              <a:custGeom>
                <a:avLst/>
                <a:gdLst>
                  <a:gd name="T0" fmla="*/ 198 w 198"/>
                  <a:gd name="T1" fmla="*/ 0 h 1"/>
                  <a:gd name="T2" fmla="*/ 0 w 198"/>
                  <a:gd name="T3" fmla="*/ 0 h 1"/>
                  <a:gd name="T4" fmla="*/ 0 60000 65536"/>
                  <a:gd name="T5" fmla="*/ 0 60000 65536"/>
                  <a:gd name="T6" fmla="*/ 0 w 198"/>
                  <a:gd name="T7" fmla="*/ 0 h 1"/>
                  <a:gd name="T8" fmla="*/ 198 w 19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8" h="1">
                    <a:moveTo>
                      <a:pt x="1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6" name="Freeform 77"/>
              <p:cNvSpPr>
                <a:spLocks/>
              </p:cNvSpPr>
              <p:nvPr/>
            </p:nvSpPr>
            <p:spPr bwMode="auto">
              <a:xfrm>
                <a:off x="3186" y="2475"/>
                <a:ext cx="195" cy="1"/>
              </a:xfrm>
              <a:custGeom>
                <a:avLst/>
                <a:gdLst>
                  <a:gd name="T0" fmla="*/ 195 w 195"/>
                  <a:gd name="T1" fmla="*/ 0 h 1"/>
                  <a:gd name="T2" fmla="*/ 0 w 195"/>
                  <a:gd name="T3" fmla="*/ 0 h 1"/>
                  <a:gd name="T4" fmla="*/ 0 60000 65536"/>
                  <a:gd name="T5" fmla="*/ 0 60000 65536"/>
                  <a:gd name="T6" fmla="*/ 0 w 195"/>
                  <a:gd name="T7" fmla="*/ 0 h 1"/>
                  <a:gd name="T8" fmla="*/ 195 w 195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5" h="1">
                    <a:moveTo>
                      <a:pt x="195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7" name="Freeform 78"/>
              <p:cNvSpPr>
                <a:spLocks/>
              </p:cNvSpPr>
              <p:nvPr/>
            </p:nvSpPr>
            <p:spPr bwMode="auto">
              <a:xfrm>
                <a:off x="4575" y="2859"/>
                <a:ext cx="198" cy="6"/>
              </a:xfrm>
              <a:custGeom>
                <a:avLst/>
                <a:gdLst>
                  <a:gd name="T0" fmla="*/ 198 w 198"/>
                  <a:gd name="T1" fmla="*/ 6 h 6"/>
                  <a:gd name="T2" fmla="*/ 0 w 198"/>
                  <a:gd name="T3" fmla="*/ 0 h 6"/>
                  <a:gd name="T4" fmla="*/ 0 60000 65536"/>
                  <a:gd name="T5" fmla="*/ 0 60000 65536"/>
                  <a:gd name="T6" fmla="*/ 0 w 198"/>
                  <a:gd name="T7" fmla="*/ 0 h 6"/>
                  <a:gd name="T8" fmla="*/ 198 w 19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8" h="6">
                    <a:moveTo>
                      <a:pt x="198" y="6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8" name="Freeform 79"/>
              <p:cNvSpPr>
                <a:spLocks/>
              </p:cNvSpPr>
              <p:nvPr/>
            </p:nvSpPr>
            <p:spPr bwMode="auto">
              <a:xfrm>
                <a:off x="4113" y="2859"/>
                <a:ext cx="174" cy="1"/>
              </a:xfrm>
              <a:custGeom>
                <a:avLst/>
                <a:gdLst>
                  <a:gd name="T0" fmla="*/ 0 w 174"/>
                  <a:gd name="T1" fmla="*/ 0 h 1"/>
                  <a:gd name="T2" fmla="*/ 174 w 174"/>
                  <a:gd name="T3" fmla="*/ 0 h 1"/>
                  <a:gd name="T4" fmla="*/ 0 60000 65536"/>
                  <a:gd name="T5" fmla="*/ 0 60000 65536"/>
                  <a:gd name="T6" fmla="*/ 0 w 174"/>
                  <a:gd name="T7" fmla="*/ 0 h 1"/>
                  <a:gd name="T8" fmla="*/ 174 w 174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4" h="1">
                    <a:moveTo>
                      <a:pt x="0" y="0"/>
                    </a:moveTo>
                    <a:lnTo>
                      <a:pt x="174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9" name="Freeform 80"/>
              <p:cNvSpPr>
                <a:spLocks/>
              </p:cNvSpPr>
              <p:nvPr/>
            </p:nvSpPr>
            <p:spPr bwMode="auto">
              <a:xfrm>
                <a:off x="3480" y="3054"/>
                <a:ext cx="186" cy="3"/>
              </a:xfrm>
              <a:custGeom>
                <a:avLst/>
                <a:gdLst>
                  <a:gd name="T0" fmla="*/ 0 w 186"/>
                  <a:gd name="T1" fmla="*/ 3 h 3"/>
                  <a:gd name="T2" fmla="*/ 186 w 186"/>
                  <a:gd name="T3" fmla="*/ 0 h 3"/>
                  <a:gd name="T4" fmla="*/ 0 60000 65536"/>
                  <a:gd name="T5" fmla="*/ 0 60000 65536"/>
                  <a:gd name="T6" fmla="*/ 0 w 186"/>
                  <a:gd name="T7" fmla="*/ 0 h 3"/>
                  <a:gd name="T8" fmla="*/ 186 w 186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6" h="3">
                    <a:moveTo>
                      <a:pt x="0" y="3"/>
                    </a:moveTo>
                    <a:lnTo>
                      <a:pt x="186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0" name="Freeform 81"/>
              <p:cNvSpPr>
                <a:spLocks/>
              </p:cNvSpPr>
              <p:nvPr/>
            </p:nvSpPr>
            <p:spPr bwMode="auto">
              <a:xfrm>
                <a:off x="3957" y="2238"/>
                <a:ext cx="1" cy="186"/>
              </a:xfrm>
              <a:custGeom>
                <a:avLst/>
                <a:gdLst>
                  <a:gd name="T0" fmla="*/ 0 w 1"/>
                  <a:gd name="T1" fmla="*/ 0 h 186"/>
                  <a:gd name="T2" fmla="*/ 0 w 1"/>
                  <a:gd name="T3" fmla="*/ 186 h 186"/>
                  <a:gd name="T4" fmla="*/ 0 60000 65536"/>
                  <a:gd name="T5" fmla="*/ 0 60000 65536"/>
                  <a:gd name="T6" fmla="*/ 0 w 1"/>
                  <a:gd name="T7" fmla="*/ 0 h 186"/>
                  <a:gd name="T8" fmla="*/ 1 w 1"/>
                  <a:gd name="T9" fmla="*/ 186 h 18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6">
                    <a:moveTo>
                      <a:pt x="0" y="0"/>
                    </a:moveTo>
                    <a:lnTo>
                      <a:pt x="0" y="186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1" name="Line 82"/>
              <p:cNvSpPr>
                <a:spLocks noChangeShapeType="1"/>
              </p:cNvSpPr>
              <p:nvPr/>
            </p:nvSpPr>
            <p:spPr bwMode="auto">
              <a:xfrm flipH="1">
                <a:off x="4458" y="1920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2" name="Text Box 83"/>
              <p:cNvSpPr txBox="1">
                <a:spLocks noChangeArrowheads="1"/>
              </p:cNvSpPr>
              <p:nvPr/>
            </p:nvSpPr>
            <p:spPr bwMode="auto">
              <a:xfrm>
                <a:off x="962" y="3264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83" name="Text Box 84"/>
              <p:cNvSpPr txBox="1">
                <a:spLocks noChangeArrowheads="1"/>
              </p:cNvSpPr>
              <p:nvPr/>
            </p:nvSpPr>
            <p:spPr bwMode="auto">
              <a:xfrm>
                <a:off x="954" y="1440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84" name="Freeform 85"/>
              <p:cNvSpPr>
                <a:spLocks/>
              </p:cNvSpPr>
              <p:nvPr/>
            </p:nvSpPr>
            <p:spPr bwMode="auto">
              <a:xfrm>
                <a:off x="1077" y="2259"/>
                <a:ext cx="3" cy="195"/>
              </a:xfrm>
              <a:custGeom>
                <a:avLst/>
                <a:gdLst>
                  <a:gd name="T0" fmla="*/ 3 w 3"/>
                  <a:gd name="T1" fmla="*/ 195 h 195"/>
                  <a:gd name="T2" fmla="*/ 0 w 3"/>
                  <a:gd name="T3" fmla="*/ 0 h 195"/>
                  <a:gd name="T4" fmla="*/ 0 60000 65536"/>
                  <a:gd name="T5" fmla="*/ 0 60000 65536"/>
                  <a:gd name="T6" fmla="*/ 0 w 3"/>
                  <a:gd name="T7" fmla="*/ 0 h 195"/>
                  <a:gd name="T8" fmla="*/ 3 w 3"/>
                  <a:gd name="T9" fmla="*/ 195 h 1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95">
                    <a:moveTo>
                      <a:pt x="3" y="19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med"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5" name="Text Box 86"/>
              <p:cNvSpPr txBox="1">
                <a:spLocks noChangeArrowheads="1"/>
              </p:cNvSpPr>
              <p:nvPr/>
            </p:nvSpPr>
            <p:spPr bwMode="auto">
              <a:xfrm>
                <a:off x="1338" y="2438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</a:p>
            </p:txBody>
          </p:sp>
          <p:sp>
            <p:nvSpPr>
              <p:cNvPr id="86" name="Text Box 87"/>
              <p:cNvSpPr txBox="1">
                <a:spLocks noChangeArrowheads="1"/>
              </p:cNvSpPr>
              <p:nvPr/>
            </p:nvSpPr>
            <p:spPr bwMode="auto">
              <a:xfrm>
                <a:off x="1682" y="2294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</a:t>
                </a:r>
              </a:p>
            </p:txBody>
          </p:sp>
          <p:sp>
            <p:nvSpPr>
              <p:cNvPr id="87" name="Text Box 88"/>
              <p:cNvSpPr txBox="1">
                <a:spLocks noChangeArrowheads="1"/>
              </p:cNvSpPr>
              <p:nvPr/>
            </p:nvSpPr>
            <p:spPr bwMode="auto">
              <a:xfrm>
                <a:off x="2402" y="320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88" name="Text Box 89"/>
              <p:cNvSpPr txBox="1">
                <a:spLocks noChangeArrowheads="1"/>
              </p:cNvSpPr>
              <p:nvPr/>
            </p:nvSpPr>
            <p:spPr bwMode="auto">
              <a:xfrm>
                <a:off x="2498" y="2390"/>
                <a:ext cx="34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10</a:t>
                </a:r>
              </a:p>
            </p:txBody>
          </p:sp>
          <p:sp>
            <p:nvSpPr>
              <p:cNvPr id="89" name="Text Box 90"/>
              <p:cNvSpPr txBox="1">
                <a:spLocks noChangeArrowheads="1"/>
              </p:cNvSpPr>
              <p:nvPr/>
            </p:nvSpPr>
            <p:spPr bwMode="auto">
              <a:xfrm>
                <a:off x="3354" y="2352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</a:p>
            </p:txBody>
          </p:sp>
          <p:sp>
            <p:nvSpPr>
              <p:cNvPr id="90" name="Text Box 91"/>
              <p:cNvSpPr txBox="1">
                <a:spLocks noChangeArrowheads="1"/>
              </p:cNvSpPr>
              <p:nvPr/>
            </p:nvSpPr>
            <p:spPr bwMode="auto">
              <a:xfrm>
                <a:off x="3258" y="296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7</a:t>
                </a:r>
              </a:p>
            </p:txBody>
          </p:sp>
          <p:sp>
            <p:nvSpPr>
              <p:cNvPr id="91" name="Text Box 92"/>
              <p:cNvSpPr txBox="1">
                <a:spLocks noChangeArrowheads="1"/>
              </p:cNvSpPr>
              <p:nvPr/>
            </p:nvSpPr>
            <p:spPr bwMode="auto">
              <a:xfrm>
                <a:off x="3410" y="320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</a:p>
            </p:txBody>
          </p:sp>
          <p:sp>
            <p:nvSpPr>
              <p:cNvPr id="92" name="Text Box 93"/>
              <p:cNvSpPr txBox="1">
                <a:spLocks noChangeArrowheads="1"/>
              </p:cNvSpPr>
              <p:nvPr/>
            </p:nvSpPr>
            <p:spPr bwMode="auto">
              <a:xfrm>
                <a:off x="3890" y="2736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6</a:t>
                </a:r>
              </a:p>
            </p:txBody>
          </p:sp>
          <p:sp>
            <p:nvSpPr>
              <p:cNvPr id="93" name="Text Box 94"/>
              <p:cNvSpPr txBox="1">
                <a:spLocks noChangeArrowheads="1"/>
              </p:cNvSpPr>
              <p:nvPr/>
            </p:nvSpPr>
            <p:spPr bwMode="auto">
              <a:xfrm>
                <a:off x="3794" y="2016"/>
                <a:ext cx="34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12</a:t>
                </a:r>
              </a:p>
            </p:txBody>
          </p:sp>
          <p:sp>
            <p:nvSpPr>
              <p:cNvPr id="94" name="Text Box 95"/>
              <p:cNvSpPr txBox="1">
                <a:spLocks noChangeArrowheads="1"/>
              </p:cNvSpPr>
              <p:nvPr/>
            </p:nvSpPr>
            <p:spPr bwMode="auto">
              <a:xfrm>
                <a:off x="4610" y="1824"/>
                <a:ext cx="34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11</a:t>
                </a:r>
              </a:p>
            </p:txBody>
          </p:sp>
          <p:sp>
            <p:nvSpPr>
              <p:cNvPr id="95" name="Text Box 96"/>
              <p:cNvSpPr txBox="1">
                <a:spLocks noChangeArrowheads="1"/>
              </p:cNvSpPr>
              <p:nvPr/>
            </p:nvSpPr>
            <p:spPr bwMode="auto">
              <a:xfrm>
                <a:off x="4754" y="2774"/>
                <a:ext cx="2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C</a:t>
                </a:r>
                <a:r>
                  <a:rPr kumimoji="1" lang="en-US" altLang="zh-CN" sz="1800" baseline="-15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8</a:t>
                </a:r>
              </a:p>
            </p:txBody>
          </p:sp>
          <p:sp>
            <p:nvSpPr>
              <p:cNvPr id="96" name="Text Box 97"/>
              <p:cNvSpPr txBox="1">
                <a:spLocks noChangeArrowheads="1"/>
              </p:cNvSpPr>
              <p:nvPr/>
            </p:nvSpPr>
            <p:spPr bwMode="auto">
              <a:xfrm>
                <a:off x="2874" y="4070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控制信号</a:t>
                </a:r>
              </a:p>
            </p:txBody>
          </p:sp>
          <p:sp>
            <p:nvSpPr>
              <p:cNvPr id="97" name="Text Box 98"/>
              <p:cNvSpPr txBox="1">
                <a:spLocks noChangeArrowheads="1"/>
              </p:cNvSpPr>
              <p:nvPr/>
            </p:nvSpPr>
            <p:spPr bwMode="auto">
              <a:xfrm>
                <a:off x="3642" y="3598"/>
                <a:ext cx="101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标志</a:t>
                </a:r>
              </a:p>
            </p:txBody>
          </p:sp>
          <p:sp>
            <p:nvSpPr>
              <p:cNvPr id="98" name="Text Box 99"/>
              <p:cNvSpPr txBox="1">
                <a:spLocks noChangeArrowheads="1"/>
              </p:cNvSpPr>
              <p:nvPr/>
            </p:nvSpPr>
            <p:spPr bwMode="auto">
              <a:xfrm>
                <a:off x="4986" y="3118"/>
                <a:ext cx="438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控制</a:t>
                </a:r>
              </a:p>
              <a:p>
                <a:pPr algn="l"/>
                <a:r>
                  <a:rPr kumimoji="1" lang="zh-CN" altLang="en-US" sz="20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信号</a:t>
                </a:r>
              </a:p>
            </p:txBody>
          </p:sp>
        </p:grpSp>
        <p:sp>
          <p:nvSpPr>
            <p:cNvPr id="8" name="Text Box 100"/>
            <p:cNvSpPr txBox="1">
              <a:spLocks noChangeArrowheads="1"/>
            </p:cNvSpPr>
            <p:nvPr/>
          </p:nvSpPr>
          <p:spPr bwMode="auto">
            <a:xfrm>
              <a:off x="1240" y="1743"/>
              <a:ext cx="297" cy="671"/>
            </a:xfrm>
            <a:prstGeom prst="rect">
              <a:avLst/>
            </a:prstGeom>
            <a:solidFill>
              <a:srgbClr val="0000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lIns="414000"/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kumimoji="1"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M D R</a:t>
              </a:r>
            </a:p>
          </p:txBody>
        </p:sp>
        <p:sp>
          <p:nvSpPr>
            <p:cNvPr id="9" name="Text Box 101"/>
            <p:cNvSpPr txBox="1">
              <a:spLocks noChangeArrowheads="1"/>
            </p:cNvSpPr>
            <p:nvPr/>
          </p:nvSpPr>
          <p:spPr bwMode="auto">
            <a:xfrm>
              <a:off x="1238" y="3375"/>
              <a:ext cx="297" cy="671"/>
            </a:xfrm>
            <a:prstGeom prst="rect">
              <a:avLst/>
            </a:prstGeom>
            <a:solidFill>
              <a:srgbClr val="0000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lIns="414000"/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kumimoji="1"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M A R</a:t>
              </a:r>
            </a:p>
          </p:txBody>
        </p:sp>
      </p:grpSp>
      <p:sp>
        <p:nvSpPr>
          <p:cNvPr id="100" name="矩形 99"/>
          <p:cNvSpPr/>
          <p:nvPr/>
        </p:nvSpPr>
        <p:spPr>
          <a:xfrm>
            <a:off x="0" y="1009471"/>
            <a:ext cx="914400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	ADD   </a:t>
            </a:r>
            <a:r>
              <a:rPr kumimoji="1"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@ X   </a:t>
            </a:r>
          </a:p>
          <a:p>
            <a:pPr algn="l">
              <a:defRPr/>
            </a:pP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取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指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周期 </a:t>
            </a:r>
            <a:r>
              <a:rPr lang="zh-CN" altLang="en-US" sz="18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C0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、读、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C3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C4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defRPr/>
            </a:pPr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en-US" altLang="zh-CN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间</a:t>
            </a:r>
            <a:r>
              <a:rPr kumimoji="1"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址</a:t>
            </a:r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周期 </a:t>
            </a:r>
            <a:r>
              <a:rPr lang="zh-CN" altLang="en-US" sz="18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C5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、读、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C3</a:t>
            </a:r>
          </a:p>
          <a:p>
            <a:pPr algn="l">
              <a:defRPr/>
            </a:pPr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kumimoji="1" lang="en-US" altLang="zh-CN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kumimoji="1"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执行周期 </a:t>
            </a:r>
            <a:r>
              <a:rPr lang="zh-CN" altLang="en-US" sz="18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C5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、读、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C67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、加、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C8</a:t>
            </a:r>
            <a:endParaRPr kumimoji="1"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838200" y="5105400"/>
            <a:ext cx="7848600" cy="144780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838200" y="1271459"/>
            <a:ext cx="8305800" cy="50167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控制线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向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执行部件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发出的各种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例如：老师向学生发出“微命令”：把门关上。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控制部件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执行部件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控制线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反馈线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进行联系。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控制部件与执行部件之间有一种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反馈信号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执行部件通过反馈线向控制部件反映操作情况，以便控制部件根据执行部件的状态，下达新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的控制信号，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这叫做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状态测试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例如：学生说“门坏了，关不上。”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控制信号可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分两种：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相容性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相斥性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相容性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同一时钟周期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内，可以并行执行的操作。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相斥性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同一时钟周期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内，不可以并行执行的操作。</a:t>
            </a: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838200" y="381000"/>
            <a:ext cx="5791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8.4.2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控制信号（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互斥、相容）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438400"/>
            <a:ext cx="6248400" cy="432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838200" y="1066800"/>
            <a:ext cx="8305800" cy="132343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ALU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的控制信号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加，减，传送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，在同一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个时钟周期，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       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只能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选择一种，不能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同时，是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相斥的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 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多路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开关控制信号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相斥的；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相斥的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6223000" y="2540000"/>
            <a:ext cx="24860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简单运算器数据通路图</a:t>
            </a:r>
          </a:p>
        </p:txBody>
      </p:sp>
      <p:sp>
        <p:nvSpPr>
          <p:cNvPr id="46085" name="Rectangle 6"/>
          <p:cNvSpPr>
            <a:spLocks noChangeArrowheads="1"/>
          </p:cNvSpPr>
          <p:nvPr/>
        </p:nvSpPr>
        <p:spPr bwMode="auto">
          <a:xfrm>
            <a:off x="2811268" y="3352800"/>
            <a:ext cx="148470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有进位</a:t>
            </a:r>
            <a:r>
              <a:rPr lang="en-US" altLang="zh-CN" sz="18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Cy=1</a:t>
            </a:r>
          </a:p>
        </p:txBody>
      </p:sp>
      <p:sp>
        <p:nvSpPr>
          <p:cNvPr id="46086" name="Rectangle 7"/>
          <p:cNvSpPr>
            <a:spLocks noChangeArrowheads="1"/>
          </p:cNvSpPr>
          <p:nvPr/>
        </p:nvSpPr>
        <p:spPr bwMode="auto">
          <a:xfrm>
            <a:off x="152400" y="4800600"/>
            <a:ext cx="2514600" cy="16312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“X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输入控制信号：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 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endParaRPr lang="en-US" altLang="zh-CN" sz="20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Y”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输入控制信号：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的任意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一对是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相容的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6087" name="Rectangle 8"/>
          <p:cNvSpPr>
            <a:spLocks noChangeArrowheads="1"/>
          </p:cNvSpPr>
          <p:nvPr/>
        </p:nvSpPr>
        <p:spPr bwMode="auto">
          <a:xfrm>
            <a:off x="381000" y="2870200"/>
            <a:ext cx="2438400" cy="162560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图中运算器有三条指令的操作：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加、减、传送；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三个寄存器；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两个多路选择器。</a:t>
            </a: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838200" y="381000"/>
            <a:ext cx="5791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8.4.2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控制信号（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互斥、相容）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1113" y="1933575"/>
            <a:ext cx="6288087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838200" y="1143000"/>
            <a:ext cx="8001000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寄存器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R1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R2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R3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的控制信号：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用来控制寄存器接收来自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ALU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的运算结果信号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可同时进行，是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相容的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6030913" y="2035175"/>
            <a:ext cx="248602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简单运算器数据通路图</a:t>
            </a:r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228600" y="4267200"/>
            <a:ext cx="2438400" cy="162560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图中运算器有三条指令的操作：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加、减、传送；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三个寄存器；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两个多路选择器。</a:t>
            </a: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838200" y="381000"/>
            <a:ext cx="5791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8.4.2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控制信号（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互斥、相容）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2209800"/>
            <a:ext cx="8153400" cy="762000"/>
            <a:chOff x="816" y="1200"/>
            <a:chExt cx="2256" cy="672"/>
          </a:xfrm>
        </p:grpSpPr>
        <p:sp>
          <p:nvSpPr>
            <p:cNvPr id="43013" name="Rectangle 3"/>
            <p:cNvSpPr>
              <a:spLocks noChangeArrowheads="1"/>
            </p:cNvSpPr>
            <p:nvPr/>
          </p:nvSpPr>
          <p:spPr bwMode="auto">
            <a:xfrm>
              <a:off x="816" y="1200"/>
              <a:ext cx="2064" cy="432"/>
            </a:xfrm>
            <a:prstGeom prst="rect">
              <a:avLst/>
            </a:prstGeom>
            <a:gradFill rotWithShape="0">
              <a:gsLst>
                <a:gs pos="0">
                  <a:srgbClr val="9BB4C2"/>
                </a:gs>
                <a:gs pos="50000">
                  <a:srgbClr val="CCECFF"/>
                </a:gs>
                <a:gs pos="100000">
                  <a:srgbClr val="9BB4C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86116" name="Picture 4" descr="cursor"/>
            <p:cNvPicPr>
              <a:picLocks noChangeAspect="1" noChangeArrowheads="1"/>
            </p:cNvPicPr>
            <p:nvPr/>
          </p:nvPicPr>
          <p:blipFill>
            <a:blip r:embed="rId3" cstate="print">
              <a:lum bright="-40000" contrast="-66000"/>
            </a:blip>
            <a:srcRect/>
            <a:stretch>
              <a:fillRect/>
            </a:stretch>
          </p:blipFill>
          <p:spPr bwMode="auto">
            <a:xfrm>
              <a:off x="2688" y="1493"/>
              <a:ext cx="384" cy="379"/>
            </a:xfrm>
            <a:prstGeom prst="rect">
              <a:avLst/>
            </a:prstGeom>
            <a:noFill/>
            <a:effectLst>
              <a:outerShdw dist="107763" dir="18900000" algn="ctr" rotWithShape="0">
                <a:srgbClr val="808080"/>
              </a:outerShdw>
            </a:effectLst>
          </p:spPr>
        </p:pic>
      </p:grp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935038" y="1295400"/>
            <a:ext cx="599916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8.4.1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微程序举例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8.4.2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控制信号（互斥、相容）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微程序设计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微程序控制器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1066800" y="4264025"/>
            <a:ext cx="4079875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操作控制字段（控制信号）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5181600" y="4267200"/>
            <a:ext cx="16002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6858000" y="4267200"/>
            <a:ext cx="16002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962400"/>
            <a:ext cx="8839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809625" y="1295400"/>
            <a:ext cx="8334375" cy="1006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 eaLnBrk="0" hangingPunct="0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个时钟周期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内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控制信号的组合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 eaLnBrk="0" hangingPunct="0"/>
            <a:endParaRPr lang="zh-CN" altLang="en-US" sz="2000" dirty="0">
              <a:solidFill>
                <a:srgbClr val="808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eaLnBrk="0" hangingPunct="0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 </a:t>
            </a:r>
            <a:r>
              <a:rPr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实现一条机器指令功能的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所有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、控制信号序列</a:t>
            </a:r>
            <a:r>
              <a:rPr lang="zh-CN" altLang="en-US" sz="2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838200" y="395288"/>
            <a:ext cx="46482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29" name="Line 6"/>
          <p:cNvSpPr>
            <a:spLocks noChangeShapeType="1"/>
          </p:cNvSpPr>
          <p:nvPr/>
        </p:nvSpPr>
        <p:spPr bwMode="auto">
          <a:xfrm flipV="1">
            <a:off x="457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0" name="Line 7"/>
          <p:cNvSpPr>
            <a:spLocks noChangeShapeType="1"/>
          </p:cNvSpPr>
          <p:nvPr/>
        </p:nvSpPr>
        <p:spPr bwMode="auto">
          <a:xfrm flipV="1">
            <a:off x="1219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1" name="Line 8"/>
          <p:cNvSpPr>
            <a:spLocks noChangeShapeType="1"/>
          </p:cNvSpPr>
          <p:nvPr/>
        </p:nvSpPr>
        <p:spPr bwMode="auto">
          <a:xfrm flipV="1">
            <a:off x="1981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 flipV="1">
            <a:off x="2743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3" name="Line 10"/>
          <p:cNvSpPr>
            <a:spLocks noChangeShapeType="1"/>
          </p:cNvSpPr>
          <p:nvPr/>
        </p:nvSpPr>
        <p:spPr bwMode="auto">
          <a:xfrm flipV="1">
            <a:off x="3505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4" name="Line 11"/>
          <p:cNvSpPr>
            <a:spLocks noChangeShapeType="1"/>
          </p:cNvSpPr>
          <p:nvPr/>
        </p:nvSpPr>
        <p:spPr bwMode="auto">
          <a:xfrm flipV="1">
            <a:off x="4267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5" name="Line 12"/>
          <p:cNvSpPr>
            <a:spLocks noChangeShapeType="1"/>
          </p:cNvSpPr>
          <p:nvPr/>
        </p:nvSpPr>
        <p:spPr bwMode="auto">
          <a:xfrm flipV="1">
            <a:off x="5029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6" name="Line 13"/>
          <p:cNvSpPr>
            <a:spLocks noChangeShapeType="1"/>
          </p:cNvSpPr>
          <p:nvPr/>
        </p:nvSpPr>
        <p:spPr bwMode="auto">
          <a:xfrm flipV="1">
            <a:off x="5791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7" name="Line 14"/>
          <p:cNvSpPr>
            <a:spLocks noChangeShapeType="1"/>
          </p:cNvSpPr>
          <p:nvPr/>
        </p:nvSpPr>
        <p:spPr bwMode="auto">
          <a:xfrm flipV="1">
            <a:off x="6553200" y="42672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8" name="Line 15"/>
          <p:cNvSpPr>
            <a:spLocks noChangeShapeType="1"/>
          </p:cNvSpPr>
          <p:nvPr/>
        </p:nvSpPr>
        <p:spPr bwMode="auto">
          <a:xfrm flipV="1">
            <a:off x="6172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39" name="Line 16"/>
          <p:cNvSpPr>
            <a:spLocks noChangeShapeType="1"/>
          </p:cNvSpPr>
          <p:nvPr/>
        </p:nvSpPr>
        <p:spPr bwMode="auto">
          <a:xfrm flipV="1">
            <a:off x="5410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0" name="Line 17"/>
          <p:cNvSpPr>
            <a:spLocks noChangeShapeType="1"/>
          </p:cNvSpPr>
          <p:nvPr/>
        </p:nvSpPr>
        <p:spPr bwMode="auto">
          <a:xfrm flipV="1">
            <a:off x="4648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1" name="Line 18"/>
          <p:cNvSpPr>
            <a:spLocks noChangeShapeType="1"/>
          </p:cNvSpPr>
          <p:nvPr/>
        </p:nvSpPr>
        <p:spPr bwMode="auto">
          <a:xfrm flipV="1">
            <a:off x="3886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2" name="Line 19"/>
          <p:cNvSpPr>
            <a:spLocks noChangeShapeType="1"/>
          </p:cNvSpPr>
          <p:nvPr/>
        </p:nvSpPr>
        <p:spPr bwMode="auto">
          <a:xfrm flipV="1">
            <a:off x="3124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3" name="Line 20"/>
          <p:cNvSpPr>
            <a:spLocks noChangeShapeType="1"/>
          </p:cNvSpPr>
          <p:nvPr/>
        </p:nvSpPr>
        <p:spPr bwMode="auto">
          <a:xfrm flipV="1">
            <a:off x="2362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4" name="Line 21"/>
          <p:cNvSpPr>
            <a:spLocks noChangeShapeType="1"/>
          </p:cNvSpPr>
          <p:nvPr/>
        </p:nvSpPr>
        <p:spPr bwMode="auto">
          <a:xfrm flipV="1">
            <a:off x="1600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5" name="Line 22"/>
          <p:cNvSpPr>
            <a:spLocks noChangeShapeType="1"/>
          </p:cNvSpPr>
          <p:nvPr/>
        </p:nvSpPr>
        <p:spPr bwMode="auto">
          <a:xfrm flipV="1">
            <a:off x="838200" y="45720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6" name="Rectangle 23"/>
          <p:cNvSpPr>
            <a:spLocks noChangeArrowheads="1"/>
          </p:cNvSpPr>
          <p:nvPr/>
        </p:nvSpPr>
        <p:spPr bwMode="auto">
          <a:xfrm>
            <a:off x="304800" y="4996190"/>
            <a:ext cx="8686800" cy="523220"/>
          </a:xfrm>
          <a:prstGeom prst="rect">
            <a:avLst/>
          </a:prstGeom>
          <a:noFill/>
          <a:ln w="7620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7" name="Line 24"/>
          <p:cNvSpPr>
            <a:spLocks noChangeShapeType="1"/>
          </p:cNvSpPr>
          <p:nvPr/>
        </p:nvSpPr>
        <p:spPr bwMode="auto">
          <a:xfrm>
            <a:off x="6781800" y="5029200"/>
            <a:ext cx="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49" name="Line 26"/>
          <p:cNvSpPr>
            <a:spLocks noChangeShapeType="1"/>
          </p:cNvSpPr>
          <p:nvPr/>
        </p:nvSpPr>
        <p:spPr bwMode="auto">
          <a:xfrm flipH="1">
            <a:off x="6629400" y="3352800"/>
            <a:ext cx="6858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50" name="Rectangle 27"/>
          <p:cNvSpPr>
            <a:spLocks noChangeArrowheads="1"/>
          </p:cNvSpPr>
          <p:nvPr/>
        </p:nvSpPr>
        <p:spPr bwMode="auto">
          <a:xfrm>
            <a:off x="6781800" y="2667000"/>
            <a:ext cx="1981200" cy="923330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个控制信号</a:t>
            </a:r>
            <a:endParaRPr lang="en-US" altLang="zh-CN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发送给</a:t>
            </a:r>
          </a:p>
          <a:p>
            <a:pPr algn="l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一执行部件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838200" y="1219200"/>
            <a:ext cx="8077200" cy="25545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在串行执行方式的微程序控制器中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l"/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微指令周期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读出一条微指令的时间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执行该条微指令的时间</a:t>
            </a:r>
          </a:p>
          <a:p>
            <a:pPr algn="l"/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微指令周期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≈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个时钟周期</a:t>
            </a:r>
            <a:endParaRPr lang="en-US" altLang="zh-CN" sz="20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838200" y="395288"/>
            <a:ext cx="46482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38200" y="3048000"/>
            <a:ext cx="85344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zh-CN" altLang="en-US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微指令不是“最基本操作”（被称为微操作），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微指令包含了可以并行的“最基本操作”。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正因为并行，所以微指令和微操作的执行时间均为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时钟周期。</a:t>
            </a: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（这是不那么严格来讲，而事实是微指令也会有多个时钟周期才能执行完的情况，但对于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RICS/ARM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芯片，大多微指令都是一个时钟周期执行完）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838200" y="1143000"/>
            <a:ext cx="8001000" cy="2844800"/>
          </a:xfrm>
          <a:prstGeom prst="rect">
            <a:avLst/>
          </a:prstGeom>
          <a:noFill/>
          <a:ln w="9525" algn="ctr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微指令基本格式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操作控制字段：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所有按顺序排列的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某位为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“ 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”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发出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该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某位为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“ 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 ”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发出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转移方式部分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决定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下一条微指令地址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的产生；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20~23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位：直接给出下一条微指令的地址，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18~19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位：作为程序转移的判别测试标志。</a:t>
            </a: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229100"/>
            <a:ext cx="91440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Line 5"/>
          <p:cNvSpPr>
            <a:spLocks noChangeShapeType="1"/>
          </p:cNvSpPr>
          <p:nvPr/>
        </p:nvSpPr>
        <p:spPr bwMode="auto">
          <a:xfrm flipV="1">
            <a:off x="1219200" y="4457700"/>
            <a:ext cx="0" cy="762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654" name="Line 7"/>
          <p:cNvSpPr>
            <a:spLocks noChangeShapeType="1"/>
          </p:cNvSpPr>
          <p:nvPr/>
        </p:nvSpPr>
        <p:spPr bwMode="auto">
          <a:xfrm>
            <a:off x="6705600" y="5181600"/>
            <a:ext cx="0" cy="4572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655" name="Line 8"/>
          <p:cNvSpPr>
            <a:spLocks noChangeShapeType="1"/>
          </p:cNvSpPr>
          <p:nvPr/>
        </p:nvSpPr>
        <p:spPr bwMode="auto">
          <a:xfrm flipV="1">
            <a:off x="2362200" y="4724400"/>
            <a:ext cx="0" cy="45720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38200" y="395288"/>
            <a:ext cx="46482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26"/>
          <p:cNvSpPr txBox="1">
            <a:spLocks noChangeArrowheads="1"/>
          </p:cNvSpPr>
          <p:nvPr/>
        </p:nvSpPr>
        <p:spPr bwMode="auto">
          <a:xfrm>
            <a:off x="3048000" y="1216025"/>
            <a:ext cx="2971799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6096000" y="1219200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7467600" y="1219200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191000"/>
            <a:ext cx="8839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Line 5"/>
          <p:cNvSpPr>
            <a:spLocks noChangeShapeType="1"/>
          </p:cNvSpPr>
          <p:nvPr/>
        </p:nvSpPr>
        <p:spPr bwMode="auto">
          <a:xfrm flipV="1">
            <a:off x="457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57" name="Line 6"/>
          <p:cNvSpPr>
            <a:spLocks noChangeShapeType="1"/>
          </p:cNvSpPr>
          <p:nvPr/>
        </p:nvSpPr>
        <p:spPr bwMode="auto">
          <a:xfrm flipV="1">
            <a:off x="1219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58" name="Line 7"/>
          <p:cNvSpPr>
            <a:spLocks noChangeShapeType="1"/>
          </p:cNvSpPr>
          <p:nvPr/>
        </p:nvSpPr>
        <p:spPr bwMode="auto">
          <a:xfrm flipV="1">
            <a:off x="1981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59" name="Line 8"/>
          <p:cNvSpPr>
            <a:spLocks noChangeShapeType="1"/>
          </p:cNvSpPr>
          <p:nvPr/>
        </p:nvSpPr>
        <p:spPr bwMode="auto">
          <a:xfrm flipV="1">
            <a:off x="2743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0" name="Line 9"/>
          <p:cNvSpPr>
            <a:spLocks noChangeShapeType="1"/>
          </p:cNvSpPr>
          <p:nvPr/>
        </p:nvSpPr>
        <p:spPr bwMode="auto">
          <a:xfrm flipV="1">
            <a:off x="3505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1" name="Line 10"/>
          <p:cNvSpPr>
            <a:spLocks noChangeShapeType="1"/>
          </p:cNvSpPr>
          <p:nvPr/>
        </p:nvSpPr>
        <p:spPr bwMode="auto">
          <a:xfrm flipV="1">
            <a:off x="4267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2" name="Line 11"/>
          <p:cNvSpPr>
            <a:spLocks noChangeShapeType="1"/>
          </p:cNvSpPr>
          <p:nvPr/>
        </p:nvSpPr>
        <p:spPr bwMode="auto">
          <a:xfrm flipV="1">
            <a:off x="5029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3" name="Line 12"/>
          <p:cNvSpPr>
            <a:spLocks noChangeShapeType="1"/>
          </p:cNvSpPr>
          <p:nvPr/>
        </p:nvSpPr>
        <p:spPr bwMode="auto">
          <a:xfrm flipV="1">
            <a:off x="5791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4" name="Line 13"/>
          <p:cNvSpPr>
            <a:spLocks noChangeShapeType="1"/>
          </p:cNvSpPr>
          <p:nvPr/>
        </p:nvSpPr>
        <p:spPr bwMode="auto">
          <a:xfrm flipV="1">
            <a:off x="6553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5" name="Line 14"/>
          <p:cNvSpPr>
            <a:spLocks noChangeShapeType="1"/>
          </p:cNvSpPr>
          <p:nvPr/>
        </p:nvSpPr>
        <p:spPr bwMode="auto">
          <a:xfrm flipV="1">
            <a:off x="6172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6" name="Line 15"/>
          <p:cNvSpPr>
            <a:spLocks noChangeShapeType="1"/>
          </p:cNvSpPr>
          <p:nvPr/>
        </p:nvSpPr>
        <p:spPr bwMode="auto">
          <a:xfrm flipV="1">
            <a:off x="5410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7" name="Line 16"/>
          <p:cNvSpPr>
            <a:spLocks noChangeShapeType="1"/>
          </p:cNvSpPr>
          <p:nvPr/>
        </p:nvSpPr>
        <p:spPr bwMode="auto">
          <a:xfrm flipV="1">
            <a:off x="4648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8" name="Line 17"/>
          <p:cNvSpPr>
            <a:spLocks noChangeShapeType="1"/>
          </p:cNvSpPr>
          <p:nvPr/>
        </p:nvSpPr>
        <p:spPr bwMode="auto">
          <a:xfrm flipV="1">
            <a:off x="3886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69" name="Line 18"/>
          <p:cNvSpPr>
            <a:spLocks noChangeShapeType="1"/>
          </p:cNvSpPr>
          <p:nvPr/>
        </p:nvSpPr>
        <p:spPr bwMode="auto">
          <a:xfrm flipV="1">
            <a:off x="3124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70" name="Line 19"/>
          <p:cNvSpPr>
            <a:spLocks noChangeShapeType="1"/>
          </p:cNvSpPr>
          <p:nvPr/>
        </p:nvSpPr>
        <p:spPr bwMode="auto">
          <a:xfrm flipV="1">
            <a:off x="2362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71" name="Line 20"/>
          <p:cNvSpPr>
            <a:spLocks noChangeShapeType="1"/>
          </p:cNvSpPr>
          <p:nvPr/>
        </p:nvSpPr>
        <p:spPr bwMode="auto">
          <a:xfrm flipV="1">
            <a:off x="1600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72" name="Line 21"/>
          <p:cNvSpPr>
            <a:spLocks noChangeShapeType="1"/>
          </p:cNvSpPr>
          <p:nvPr/>
        </p:nvSpPr>
        <p:spPr bwMode="auto">
          <a:xfrm flipV="1">
            <a:off x="838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73" name="Rectangle 22"/>
          <p:cNvSpPr>
            <a:spLocks noChangeArrowheads="1"/>
          </p:cNvSpPr>
          <p:nvPr/>
        </p:nvSpPr>
        <p:spPr bwMode="auto">
          <a:xfrm>
            <a:off x="304800" y="5224790"/>
            <a:ext cx="8686800" cy="523220"/>
          </a:xfrm>
          <a:prstGeom prst="rect">
            <a:avLst/>
          </a:prstGeom>
          <a:noFill/>
          <a:ln w="7620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74" name="Line 23"/>
          <p:cNvSpPr>
            <a:spLocks noChangeShapeType="1"/>
          </p:cNvSpPr>
          <p:nvPr/>
        </p:nvSpPr>
        <p:spPr bwMode="auto">
          <a:xfrm>
            <a:off x="6781800" y="5257800"/>
            <a:ext cx="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77" name="Rectangle 28"/>
          <p:cNvSpPr>
            <a:spLocks noChangeArrowheads="1"/>
          </p:cNvSpPr>
          <p:nvPr/>
        </p:nvSpPr>
        <p:spPr bwMode="auto">
          <a:xfrm>
            <a:off x="914400" y="1219200"/>
            <a:ext cx="19812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微指令的格式</a:t>
            </a:r>
          </a:p>
        </p:txBody>
      </p:sp>
      <p:sp>
        <p:nvSpPr>
          <p:cNvPr id="49178" name="Text Box 29"/>
          <p:cNvSpPr txBox="1">
            <a:spLocks noChangeArrowheads="1"/>
          </p:cNvSpPr>
          <p:nvPr/>
        </p:nvSpPr>
        <p:spPr bwMode="auto">
          <a:xfrm>
            <a:off x="914400" y="1828800"/>
            <a:ext cx="7848600" cy="163121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一台计算机的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全部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都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安排在一个操作控制字段中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那么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这个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字段就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很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长。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因此，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如何设计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的格式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，是微程序设计的关键。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838200" y="395288"/>
            <a:ext cx="46482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3048000" y="1216025"/>
            <a:ext cx="2971799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6096000" y="1219200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27"/>
          <p:cNvSpPr txBox="1">
            <a:spLocks noChangeArrowheads="1"/>
          </p:cNvSpPr>
          <p:nvPr/>
        </p:nvSpPr>
        <p:spPr bwMode="auto">
          <a:xfrm>
            <a:off x="7467600" y="1219200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914400" y="1143000"/>
            <a:ext cx="7543800" cy="2540000"/>
          </a:xfrm>
          <a:prstGeom prst="rect">
            <a:avLst/>
          </a:prstGeom>
          <a:noFill/>
          <a:ln w="9525" algn="ctr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设计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微指令的格式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应该从以下几个方面考虑：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）、怎样有利于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缩短微指令长度</a:t>
            </a: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）、怎样有利于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减少控制存储器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容量</a:t>
            </a: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）、怎样有利于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提高微程序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执行速度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）、怎样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有利于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对微指令的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修改</a:t>
            </a: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）、怎样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有利于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设计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的灵活性</a:t>
            </a:r>
          </a:p>
        </p:txBody>
      </p:sp>
      <p:pic>
        <p:nvPicPr>
          <p:cNvPr id="50179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191000"/>
            <a:ext cx="8839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0" name="Line 14"/>
          <p:cNvSpPr>
            <a:spLocks noChangeShapeType="1"/>
          </p:cNvSpPr>
          <p:nvPr/>
        </p:nvSpPr>
        <p:spPr bwMode="auto">
          <a:xfrm flipV="1">
            <a:off x="457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1" name="Line 15"/>
          <p:cNvSpPr>
            <a:spLocks noChangeShapeType="1"/>
          </p:cNvSpPr>
          <p:nvPr/>
        </p:nvSpPr>
        <p:spPr bwMode="auto">
          <a:xfrm flipV="1">
            <a:off x="1219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2" name="Line 16"/>
          <p:cNvSpPr>
            <a:spLocks noChangeShapeType="1"/>
          </p:cNvSpPr>
          <p:nvPr/>
        </p:nvSpPr>
        <p:spPr bwMode="auto">
          <a:xfrm flipV="1">
            <a:off x="1981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3" name="Line 17"/>
          <p:cNvSpPr>
            <a:spLocks noChangeShapeType="1"/>
          </p:cNvSpPr>
          <p:nvPr/>
        </p:nvSpPr>
        <p:spPr bwMode="auto">
          <a:xfrm flipV="1">
            <a:off x="2743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4" name="Line 18"/>
          <p:cNvSpPr>
            <a:spLocks noChangeShapeType="1"/>
          </p:cNvSpPr>
          <p:nvPr/>
        </p:nvSpPr>
        <p:spPr bwMode="auto">
          <a:xfrm flipV="1">
            <a:off x="3505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5" name="Line 19"/>
          <p:cNvSpPr>
            <a:spLocks noChangeShapeType="1"/>
          </p:cNvSpPr>
          <p:nvPr/>
        </p:nvSpPr>
        <p:spPr bwMode="auto">
          <a:xfrm flipV="1">
            <a:off x="4267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6" name="Line 20"/>
          <p:cNvSpPr>
            <a:spLocks noChangeShapeType="1"/>
          </p:cNvSpPr>
          <p:nvPr/>
        </p:nvSpPr>
        <p:spPr bwMode="auto">
          <a:xfrm flipV="1">
            <a:off x="5029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7" name="Line 21"/>
          <p:cNvSpPr>
            <a:spLocks noChangeShapeType="1"/>
          </p:cNvSpPr>
          <p:nvPr/>
        </p:nvSpPr>
        <p:spPr bwMode="auto">
          <a:xfrm flipV="1">
            <a:off x="5791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8" name="Line 22"/>
          <p:cNvSpPr>
            <a:spLocks noChangeShapeType="1"/>
          </p:cNvSpPr>
          <p:nvPr/>
        </p:nvSpPr>
        <p:spPr bwMode="auto">
          <a:xfrm flipV="1">
            <a:off x="6553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89" name="Line 23"/>
          <p:cNvSpPr>
            <a:spLocks noChangeShapeType="1"/>
          </p:cNvSpPr>
          <p:nvPr/>
        </p:nvSpPr>
        <p:spPr bwMode="auto">
          <a:xfrm flipV="1">
            <a:off x="6172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0" name="Line 24"/>
          <p:cNvSpPr>
            <a:spLocks noChangeShapeType="1"/>
          </p:cNvSpPr>
          <p:nvPr/>
        </p:nvSpPr>
        <p:spPr bwMode="auto">
          <a:xfrm flipV="1">
            <a:off x="5410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1" name="Line 25"/>
          <p:cNvSpPr>
            <a:spLocks noChangeShapeType="1"/>
          </p:cNvSpPr>
          <p:nvPr/>
        </p:nvSpPr>
        <p:spPr bwMode="auto">
          <a:xfrm flipV="1">
            <a:off x="4648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2" name="Line 26"/>
          <p:cNvSpPr>
            <a:spLocks noChangeShapeType="1"/>
          </p:cNvSpPr>
          <p:nvPr/>
        </p:nvSpPr>
        <p:spPr bwMode="auto">
          <a:xfrm flipV="1">
            <a:off x="3886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3" name="Line 27"/>
          <p:cNvSpPr>
            <a:spLocks noChangeShapeType="1"/>
          </p:cNvSpPr>
          <p:nvPr/>
        </p:nvSpPr>
        <p:spPr bwMode="auto">
          <a:xfrm flipV="1">
            <a:off x="3124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4" name="Line 28"/>
          <p:cNvSpPr>
            <a:spLocks noChangeShapeType="1"/>
          </p:cNvSpPr>
          <p:nvPr/>
        </p:nvSpPr>
        <p:spPr bwMode="auto">
          <a:xfrm flipV="1">
            <a:off x="2362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5" name="Line 29"/>
          <p:cNvSpPr>
            <a:spLocks noChangeShapeType="1"/>
          </p:cNvSpPr>
          <p:nvPr/>
        </p:nvSpPr>
        <p:spPr bwMode="auto">
          <a:xfrm flipV="1">
            <a:off x="1600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6" name="Line 30"/>
          <p:cNvSpPr>
            <a:spLocks noChangeShapeType="1"/>
          </p:cNvSpPr>
          <p:nvPr/>
        </p:nvSpPr>
        <p:spPr bwMode="auto">
          <a:xfrm flipV="1">
            <a:off x="838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197" name="Rectangle 31"/>
          <p:cNvSpPr>
            <a:spLocks noChangeArrowheads="1"/>
          </p:cNvSpPr>
          <p:nvPr/>
        </p:nvSpPr>
        <p:spPr bwMode="auto">
          <a:xfrm>
            <a:off x="304800" y="5257800"/>
            <a:ext cx="8686800" cy="457200"/>
          </a:xfrm>
          <a:prstGeom prst="rect">
            <a:avLst/>
          </a:prstGeom>
          <a:noFill/>
          <a:ln w="7620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0198" name="Line 32"/>
          <p:cNvSpPr>
            <a:spLocks noChangeShapeType="1"/>
          </p:cNvSpPr>
          <p:nvPr/>
        </p:nvSpPr>
        <p:spPr bwMode="auto">
          <a:xfrm>
            <a:off x="6781800" y="5257800"/>
            <a:ext cx="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838200" y="395288"/>
            <a:ext cx="46482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838200" y="912912"/>
            <a:ext cx="8305800" cy="286232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控制信号编码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方式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、直接编码方式（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不译码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　  操作控制字段中的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每一位代表一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个控制信号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直接送执行部件。</a:t>
            </a:r>
          </a:p>
          <a:p>
            <a:pPr algn="l"/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优点：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简单直观，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速度最快，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其输出直接用于控制。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适用于巨型机，特别要求高速的场合。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微指令字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太长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，因而使控制存储器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容量太大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5120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267200"/>
            <a:ext cx="8839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Line 6"/>
          <p:cNvSpPr>
            <a:spLocks noChangeShapeType="1"/>
          </p:cNvSpPr>
          <p:nvPr/>
        </p:nvSpPr>
        <p:spPr bwMode="auto">
          <a:xfrm flipV="1">
            <a:off x="457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05" name="Line 7"/>
          <p:cNvSpPr>
            <a:spLocks noChangeShapeType="1"/>
          </p:cNvSpPr>
          <p:nvPr/>
        </p:nvSpPr>
        <p:spPr bwMode="auto">
          <a:xfrm flipV="1">
            <a:off x="1219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06" name="Line 8"/>
          <p:cNvSpPr>
            <a:spLocks noChangeShapeType="1"/>
          </p:cNvSpPr>
          <p:nvPr/>
        </p:nvSpPr>
        <p:spPr bwMode="auto">
          <a:xfrm flipV="1">
            <a:off x="1981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07" name="Line 9"/>
          <p:cNvSpPr>
            <a:spLocks noChangeShapeType="1"/>
          </p:cNvSpPr>
          <p:nvPr/>
        </p:nvSpPr>
        <p:spPr bwMode="auto">
          <a:xfrm flipV="1">
            <a:off x="2743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08" name="Line 10"/>
          <p:cNvSpPr>
            <a:spLocks noChangeShapeType="1"/>
          </p:cNvSpPr>
          <p:nvPr/>
        </p:nvSpPr>
        <p:spPr bwMode="auto">
          <a:xfrm flipV="1">
            <a:off x="3505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09" name="Line 11"/>
          <p:cNvSpPr>
            <a:spLocks noChangeShapeType="1"/>
          </p:cNvSpPr>
          <p:nvPr/>
        </p:nvSpPr>
        <p:spPr bwMode="auto">
          <a:xfrm flipV="1">
            <a:off x="4267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0" name="Line 12"/>
          <p:cNvSpPr>
            <a:spLocks noChangeShapeType="1"/>
          </p:cNvSpPr>
          <p:nvPr/>
        </p:nvSpPr>
        <p:spPr bwMode="auto">
          <a:xfrm flipV="1">
            <a:off x="5029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1" name="Line 13"/>
          <p:cNvSpPr>
            <a:spLocks noChangeShapeType="1"/>
          </p:cNvSpPr>
          <p:nvPr/>
        </p:nvSpPr>
        <p:spPr bwMode="auto">
          <a:xfrm flipV="1">
            <a:off x="5791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2" name="Line 14"/>
          <p:cNvSpPr>
            <a:spLocks noChangeShapeType="1"/>
          </p:cNvSpPr>
          <p:nvPr/>
        </p:nvSpPr>
        <p:spPr bwMode="auto">
          <a:xfrm flipV="1">
            <a:off x="6553200" y="44958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3" name="Line 15"/>
          <p:cNvSpPr>
            <a:spLocks noChangeShapeType="1"/>
          </p:cNvSpPr>
          <p:nvPr/>
        </p:nvSpPr>
        <p:spPr bwMode="auto">
          <a:xfrm flipV="1">
            <a:off x="6172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4" name="Line 16"/>
          <p:cNvSpPr>
            <a:spLocks noChangeShapeType="1"/>
          </p:cNvSpPr>
          <p:nvPr/>
        </p:nvSpPr>
        <p:spPr bwMode="auto">
          <a:xfrm flipV="1">
            <a:off x="5410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5" name="Line 17"/>
          <p:cNvSpPr>
            <a:spLocks noChangeShapeType="1"/>
          </p:cNvSpPr>
          <p:nvPr/>
        </p:nvSpPr>
        <p:spPr bwMode="auto">
          <a:xfrm flipV="1">
            <a:off x="4648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6" name="Line 18"/>
          <p:cNvSpPr>
            <a:spLocks noChangeShapeType="1"/>
          </p:cNvSpPr>
          <p:nvPr/>
        </p:nvSpPr>
        <p:spPr bwMode="auto">
          <a:xfrm flipV="1">
            <a:off x="3886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7" name="Line 19"/>
          <p:cNvSpPr>
            <a:spLocks noChangeShapeType="1"/>
          </p:cNvSpPr>
          <p:nvPr/>
        </p:nvSpPr>
        <p:spPr bwMode="auto">
          <a:xfrm flipV="1">
            <a:off x="3124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8" name="Line 20"/>
          <p:cNvSpPr>
            <a:spLocks noChangeShapeType="1"/>
          </p:cNvSpPr>
          <p:nvPr/>
        </p:nvSpPr>
        <p:spPr bwMode="auto">
          <a:xfrm flipV="1">
            <a:off x="2362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19" name="Line 21"/>
          <p:cNvSpPr>
            <a:spLocks noChangeShapeType="1"/>
          </p:cNvSpPr>
          <p:nvPr/>
        </p:nvSpPr>
        <p:spPr bwMode="auto">
          <a:xfrm flipV="1">
            <a:off x="1600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20" name="Line 22"/>
          <p:cNvSpPr>
            <a:spLocks noChangeShapeType="1"/>
          </p:cNvSpPr>
          <p:nvPr/>
        </p:nvSpPr>
        <p:spPr bwMode="auto">
          <a:xfrm flipV="1">
            <a:off x="838200" y="48006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21" name="Rectangle 23"/>
          <p:cNvSpPr>
            <a:spLocks noChangeArrowheads="1"/>
          </p:cNvSpPr>
          <p:nvPr/>
        </p:nvSpPr>
        <p:spPr bwMode="auto">
          <a:xfrm>
            <a:off x="304800" y="5257800"/>
            <a:ext cx="8686800" cy="457200"/>
          </a:xfrm>
          <a:prstGeom prst="rect">
            <a:avLst/>
          </a:prstGeom>
          <a:noFill/>
          <a:ln w="7620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222" name="Line 24"/>
          <p:cNvSpPr>
            <a:spLocks noChangeShapeType="1"/>
          </p:cNvSpPr>
          <p:nvPr/>
        </p:nvSpPr>
        <p:spPr bwMode="auto">
          <a:xfrm>
            <a:off x="6781800" y="5257800"/>
            <a:ext cx="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838200" y="395288"/>
            <a:ext cx="5791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429000" y="0"/>
            <a:ext cx="2971799" cy="40011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64770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78486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762000" y="878920"/>
            <a:ext cx="8305800" cy="224676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控制信号编码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方式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、字段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直接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编码方式（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译码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把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一组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相斥性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组成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一段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               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相容性的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分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在不同段中，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然后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，通过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字段译码器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进行译码，译码输出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作为控制信号。  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</a:t>
            </a:r>
          </a:p>
        </p:txBody>
      </p:sp>
      <p:sp>
        <p:nvSpPr>
          <p:cNvPr id="52227" name="Rectangle 5"/>
          <p:cNvSpPr>
            <a:spLocks noChangeArrowheads="1"/>
          </p:cNvSpPr>
          <p:nvPr/>
        </p:nvSpPr>
        <p:spPr bwMode="auto">
          <a:xfrm>
            <a:off x="1676400" y="5534561"/>
            <a:ext cx="7162800" cy="1323439"/>
          </a:xfrm>
          <a:prstGeom prst="rect">
            <a:avLst/>
          </a:prstGeom>
          <a:noFill/>
          <a:ln w="9525" algn="ctr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目前在微程序控制器设计中，字段直接编码法使用较普遍。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优点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用较少的二进制位表示较多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的控制信号。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与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直接控制法相比，可使微指令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字大大缩短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缺点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由于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增加译码电路，使微程序的执行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速度慢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。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228" name="Text Box 6"/>
          <p:cNvSpPr txBox="1">
            <a:spLocks noChangeArrowheads="1"/>
          </p:cNvSpPr>
          <p:nvPr/>
        </p:nvSpPr>
        <p:spPr bwMode="auto">
          <a:xfrm>
            <a:off x="228600" y="3798431"/>
            <a:ext cx="1371600" cy="92333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译码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本身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就具有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相斥性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222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816761"/>
            <a:ext cx="7162800" cy="25908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38200" y="395288"/>
            <a:ext cx="5791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26"/>
          <p:cNvSpPr txBox="1">
            <a:spLocks noChangeArrowheads="1"/>
          </p:cNvSpPr>
          <p:nvPr/>
        </p:nvSpPr>
        <p:spPr bwMode="auto">
          <a:xfrm>
            <a:off x="3429000" y="0"/>
            <a:ext cx="2971799" cy="40011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64770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78486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912912"/>
            <a:ext cx="8153400" cy="2246769"/>
          </a:xfrm>
          <a:solidFill>
            <a:schemeClr val="bg1"/>
          </a:solidFill>
          <a:ln algn="ctr"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altLang="zh-CN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控制信号编码</a:t>
            </a:r>
            <a:endParaRPr lang="en-US" altLang="zh-CN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eaLnBrk="1" hangingPunct="1">
              <a:spcBef>
                <a:spcPct val="0"/>
              </a:spcBef>
            </a:pPr>
            <a:endParaRPr lang="en-US" altLang="zh-CN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方式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、字段间接编码方式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eaLnBrk="1" hangingPunct="1">
              <a:spcBef>
                <a:spcPct val="0"/>
              </a:spcBef>
            </a:pPr>
            <a:endParaRPr lang="zh-CN" altLang="en-US" sz="2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        在字段直接编码方式的基础上，规定一个字段的某些控制信号</a:t>
            </a:r>
          </a:p>
          <a:p>
            <a:pPr algn="l" eaLnBrk="1" hangingPunct="1">
              <a:spcBef>
                <a:spcPct val="0"/>
              </a:spcBef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        要兼由另一字段中的某些控制信号来解释，称字段间接编码。</a:t>
            </a:r>
          </a:p>
          <a:p>
            <a:pPr algn="l" eaLnBrk="1" hangingPunct="1">
              <a:spcBef>
                <a:spcPct val="0"/>
              </a:spcBef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进一步减少了指令长度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但削弱微指令的并行控制能力。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617663" y="3276600"/>
          <a:ext cx="6840537" cy="3505200"/>
        </p:xfrm>
        <a:graphic>
          <a:graphicData uri="http://schemas.openxmlformats.org/presentationml/2006/ole">
            <p:oleObj spid="_x0000_s2050" name="位图图像" r:id="rId4" imgW="6133333" imgH="3933333" progId="PBrush">
              <p:embed/>
            </p:oleObj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38200" y="395288"/>
            <a:ext cx="5791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3429000" y="0"/>
            <a:ext cx="2971799" cy="40011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64770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78486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395288"/>
            <a:ext cx="5791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838200" y="1066800"/>
            <a:ext cx="8001000" cy="44012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控制信号编码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方式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、混合编码</a:t>
            </a: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　这种方法是把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直接编码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字段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编码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混合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综合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考虑指令字长、灵活性、执行微程序速度等方面的要求。</a:t>
            </a: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另外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，在微指令中还可附设一个常数字段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常数可作为操作数送入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ALU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可作为计数器初值用来控制微程序循环次数。</a:t>
            </a:r>
          </a:p>
        </p:txBody>
      </p: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3429000" y="0"/>
            <a:ext cx="2971799" cy="40011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64770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7848600" y="3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228600" y="3581400"/>
            <a:ext cx="8458200" cy="76200"/>
          </a:xfrm>
          <a:prstGeom prst="lin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矩形 15"/>
          <p:cNvSpPr/>
          <p:nvPr/>
        </p:nvSpPr>
        <p:spPr bwMode="auto">
          <a:xfrm>
            <a:off x="609600" y="3657600"/>
            <a:ext cx="8153400" cy="1905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838200" y="1295400"/>
            <a:ext cx="8001000" cy="470898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微指令执行顺序的控制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，就是如何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确定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下一条微指令地址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的问题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直接由微指令的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下一地址字段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指出</a:t>
            </a:r>
            <a:endParaRPr lang="en-US" altLang="zh-CN" sz="2000" dirty="0" smtClean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含有下一条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地址，速度快，浪费存储空间。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根据机器指令的操作码形成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形成首地址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操作码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微地址形成部件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微程序首地址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增量计数器法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默认微程序顺序执行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微程序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计数器（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类似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程序计数器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默认顺序执行，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下一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微指令地址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当前微指令地址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；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38200" y="395288"/>
            <a:ext cx="6172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3429000" y="0"/>
            <a:ext cx="2971799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6477000" y="3175"/>
            <a:ext cx="1295400" cy="400110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7848600" y="3175"/>
            <a:ext cx="1295400" cy="400110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838200" y="1309330"/>
            <a:ext cx="8001000" cy="470898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分支转移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微程序非顺序执行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　一条微指令具有多个转移分支的能力称为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多路转移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当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微程序不产生分支时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下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微指令地址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直接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转移地址字段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给出；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当微程序出现分支时，即有若干“后选”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微指令地址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可供选择：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则按顺序控制字段的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判别条件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”来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选择其中一个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微指令地址。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位标志，可实现微程序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次方条路的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转移。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特点：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能以较短的顺序控制字段配合，实现多路并行转移，灵活性好，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速度较快，但转移地址逻辑需要用组合逻辑方法设计。 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38200" y="395288"/>
            <a:ext cx="6172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3429000" y="0"/>
            <a:ext cx="2971799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6477000" y="3175"/>
            <a:ext cx="1295400" cy="400110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7848600" y="3175"/>
            <a:ext cx="1295400" cy="400110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838200" y="1143000"/>
            <a:ext cx="8077200" cy="22256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微指令的编码方式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是决定微指令格式的主要因素。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微指令的格式大体分成两类：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水平型微指令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垂直型微指令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    水平型微指令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（常考）</a:t>
            </a:r>
            <a:endParaRPr lang="zh-CN" altLang="en-US" sz="20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一条微指令一次能定义、执行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多个并行微操作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 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格式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如下： </a:t>
            </a:r>
          </a:p>
        </p:txBody>
      </p:sp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1600200" y="3966240"/>
            <a:ext cx="7239000" cy="255454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按照控制字段的编码方法不同，水平型微指令又分为三种：</a:t>
            </a: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直接编码微指令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字段直接编码微指令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字段间接编码微指令，</a:t>
            </a:r>
            <a:endParaRPr lang="en-US" altLang="zh-CN" sz="2000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直接和字段混合编码微指令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一条微指令包含的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微命令较多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，相应的位数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较多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（水平方向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长），微程序较短（垂直方向短）。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395288"/>
            <a:ext cx="6172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微指令格式（水平型微指令）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1676400" y="3429000"/>
            <a:ext cx="2971799" cy="40011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4724400" y="3432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6096000" y="34321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762000" y="1237595"/>
            <a:ext cx="8305800" cy="440120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   垂直型微指令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（不常考）</a:t>
            </a:r>
            <a:endParaRPr lang="zh-CN" altLang="en-US" sz="20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采用类似机器指令操作码的方式，与机器指令类似。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一条微指令中只有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1~2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个微操作命令，每条微指令的功能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简单，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因此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，实现一条机器指令的微程序要比水平型微指令编写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的微程序长得多。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它是采用较长的微程序结构去换取较短的微指令结构。 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微指令短（位数少），简单规整，易于编程与调试；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执行效率低。</a:t>
            </a:r>
          </a:p>
          <a:p>
            <a:pPr algn="l"/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38200" y="395288"/>
            <a:ext cx="6172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微指令格式（垂直型微指令）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838200" y="1295400"/>
            <a:ext cx="7804150" cy="40544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水平型微指令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垂直型微指令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比较</a:t>
            </a:r>
          </a:p>
          <a:p>
            <a:pPr marL="342900" indent="-342900"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l">
              <a:buFontTx/>
              <a:buAutoNum type="arabicParenBoth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水平型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微指令：并行操作能力强，效率高，灵活性强，</a:t>
            </a:r>
          </a:p>
          <a:p>
            <a:pPr marL="342900" indent="-3429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垂直型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微指令：较差。</a:t>
            </a:r>
          </a:p>
          <a:p>
            <a:pPr marL="342900" indent="-342900"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水平型微指令：执行一条指令的时间短，</a:t>
            </a:r>
          </a:p>
          <a:p>
            <a:pPr marL="342900" indent="-3429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垂直型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微指令：执行时间长。</a:t>
            </a:r>
          </a:p>
          <a:p>
            <a:pPr marL="342900" indent="-342900"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(3)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水平型微指令：解释指令的微程序，微指令字较长而微程序短，</a:t>
            </a:r>
          </a:p>
          <a:p>
            <a:pPr marL="342900" indent="-3429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垂直型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微指令：则相反。</a:t>
            </a:r>
          </a:p>
          <a:p>
            <a:pPr marL="342900" indent="-342900"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(4)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水平型微指令：用户难以掌握，</a:t>
            </a:r>
          </a:p>
          <a:p>
            <a:pPr marL="342900" indent="-3429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垂直型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微指令：相对来说，比较容易掌握。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38200" y="395288"/>
            <a:ext cx="6172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微指令格式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4"/>
          <p:cNvSpPr txBox="1">
            <a:spLocks noChangeArrowheads="1"/>
          </p:cNvSpPr>
          <p:nvPr/>
        </p:nvSpPr>
        <p:spPr bwMode="auto">
          <a:xfrm>
            <a:off x="762000" y="1143000"/>
            <a:ext cx="8305800" cy="1311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例如：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某微程序控制器中，采用水平型直接编码方式微指令格式，</a:t>
            </a:r>
          </a:p>
          <a:p>
            <a:pPr algn="l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           后继指令地址由微指令的下地址字段给出。</a:t>
            </a:r>
          </a:p>
          <a:p>
            <a:pPr algn="l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           已知机器共有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22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个微命令、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个互斥的可判定的外部条件，</a:t>
            </a:r>
          </a:p>
          <a:p>
            <a:pPr algn="l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           控制存储器的容量为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128*32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位。试设计微指令格式。</a:t>
            </a:r>
          </a:p>
        </p:txBody>
      </p:sp>
      <p:sp>
        <p:nvSpPr>
          <p:cNvPr id="59395" name="Text Box 5"/>
          <p:cNvSpPr txBox="1">
            <a:spLocks noChangeArrowheads="1"/>
          </p:cNvSpPr>
          <p:nvPr/>
        </p:nvSpPr>
        <p:spPr bwMode="auto">
          <a:xfrm>
            <a:off x="1066800" y="3078301"/>
            <a:ext cx="8077200" cy="31700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解：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水平型微指令分三部分：操作控制字段，判别测试字段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、地址字段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直接编码方式，所以其操作控制字段的位数等于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微操作命令数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22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当微程序顺序执行时，后继指令地址由微指令的下地址字段给出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故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下地址字段位数由控制器的容量而定，为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当微程序出现分支时，后继指令地址的形成取决于状态条件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互斥的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可判断条件，可以编码成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位状态位。</a:t>
            </a:r>
          </a:p>
        </p:txBody>
      </p:sp>
      <p:sp>
        <p:nvSpPr>
          <p:cNvPr id="59396" name="Rectangle 6"/>
          <p:cNvSpPr>
            <a:spLocks noChangeArrowheads="1"/>
          </p:cNvSpPr>
          <p:nvPr/>
        </p:nvSpPr>
        <p:spPr bwMode="auto">
          <a:xfrm>
            <a:off x="914400" y="381000"/>
            <a:ext cx="64008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考研例题精选</a:t>
            </a:r>
          </a:p>
        </p:txBody>
      </p:sp>
      <p:graphicFrame>
        <p:nvGraphicFramePr>
          <p:cNvPr id="925715" name="Group 19"/>
          <p:cNvGraphicFramePr>
            <a:graphicFrameLocks noGrp="1"/>
          </p:cNvGraphicFramePr>
          <p:nvPr/>
        </p:nvGraphicFramePr>
        <p:xfrm>
          <a:off x="1219200" y="6248400"/>
          <a:ext cx="7772400" cy="381000"/>
        </p:xfrm>
        <a:graphic>
          <a:graphicData uri="http://schemas.openxmlformats.org/drawingml/2006/table">
            <a:tbl>
              <a:tblPr/>
              <a:tblGrid>
                <a:gridCol w="2893979"/>
                <a:gridCol w="2363821"/>
                <a:gridCol w="25146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操作控制字段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判别测试字段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下一微指令地址字段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00"/>
                    </a:solidFill>
                  </a:tcPr>
                </a:tc>
              </a:tr>
            </a:tbl>
          </a:graphicData>
        </a:graphic>
      </p:graphicFrame>
      <p:sp>
        <p:nvSpPr>
          <p:cNvPr id="8" name="Text Box 26"/>
          <p:cNvSpPr txBox="1">
            <a:spLocks noChangeArrowheads="1"/>
          </p:cNvSpPr>
          <p:nvPr/>
        </p:nvSpPr>
        <p:spPr bwMode="auto">
          <a:xfrm>
            <a:off x="1676400" y="2590800"/>
            <a:ext cx="2971799" cy="40011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4724400" y="25939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6096000" y="2593975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762000" y="1066800"/>
            <a:ext cx="8305800" cy="1616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例如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某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微程序控制器中，采用水平型微指令格式，后继指令地址由微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指令的下地址字段给出。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已知机器共有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52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个微命令，构成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个互斥类的微命令组，各组分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别包含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个微命令；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个可判定的外部条件；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微指令字长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28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位。试设计微指令格式，并给出控制存储器容量。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914400" y="3157478"/>
            <a:ext cx="8305800" cy="28623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解：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水平型微指令分三部分：操作控制字段，判别测试字段、下地址字段。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个互斥的微命令组，每组必须增加一种不发命令的情况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则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种状态，对应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位二进制编码。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个可判定条件，增加一个不转移的情况，则对应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位二进制编码。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下地址字段为 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28-18-2=8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位，控制存储器容量为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000" baseline="300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*28</a:t>
            </a:r>
          </a:p>
          <a:p>
            <a:pPr algn="l"/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914400" y="381000"/>
            <a:ext cx="64008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考研例题精选</a:t>
            </a:r>
          </a:p>
        </p:txBody>
      </p:sp>
      <p:graphicFrame>
        <p:nvGraphicFramePr>
          <p:cNvPr id="953404" name="Group 60"/>
          <p:cNvGraphicFramePr>
            <a:graphicFrameLocks noGrp="1"/>
          </p:cNvGraphicFramePr>
          <p:nvPr/>
        </p:nvGraphicFramePr>
        <p:xfrm>
          <a:off x="1595234" y="5802868"/>
          <a:ext cx="7162800" cy="640080"/>
        </p:xfrm>
        <a:graphic>
          <a:graphicData uri="http://schemas.openxmlformats.org/drawingml/2006/table">
            <a:tbl>
              <a:tblPr/>
              <a:tblGrid>
                <a:gridCol w="1039813"/>
                <a:gridCol w="1038225"/>
                <a:gridCol w="1038225"/>
                <a:gridCol w="1039812"/>
                <a:gridCol w="1039813"/>
                <a:gridCol w="1212850"/>
                <a:gridCol w="754062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个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微命令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个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微命令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个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微命令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16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个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微命令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23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个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微命令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个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判别测试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下一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地址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00"/>
                    </a:solidFill>
                  </a:tcPr>
                </a:tc>
              </a:tr>
            </a:tbl>
          </a:graphicData>
        </a:graphic>
      </p:graphicFrame>
      <p:sp>
        <p:nvSpPr>
          <p:cNvPr id="60449" name="Text Box 57"/>
          <p:cNvSpPr txBox="1">
            <a:spLocks noChangeArrowheads="1"/>
          </p:cNvSpPr>
          <p:nvPr/>
        </p:nvSpPr>
        <p:spPr bwMode="auto">
          <a:xfrm>
            <a:off x="1857172" y="6412468"/>
            <a:ext cx="686598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位          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位       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位          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位       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位     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位          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sp>
        <p:nvSpPr>
          <p:cNvPr id="8" name="Text Box 26"/>
          <p:cNvSpPr txBox="1">
            <a:spLocks noChangeArrowheads="1"/>
          </p:cNvSpPr>
          <p:nvPr/>
        </p:nvSpPr>
        <p:spPr bwMode="auto">
          <a:xfrm>
            <a:off x="1676400" y="2797115"/>
            <a:ext cx="2971799" cy="40011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操作控制字段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4724400" y="2800290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转移方式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6096000" y="2800290"/>
            <a:ext cx="1295400" cy="400110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转移地址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2590800"/>
            <a:ext cx="8153400" cy="762000"/>
            <a:chOff x="816" y="1200"/>
            <a:chExt cx="2256" cy="672"/>
          </a:xfrm>
        </p:grpSpPr>
        <p:sp>
          <p:nvSpPr>
            <p:cNvPr id="43013" name="Rectangle 3"/>
            <p:cNvSpPr>
              <a:spLocks noChangeArrowheads="1"/>
            </p:cNvSpPr>
            <p:nvPr/>
          </p:nvSpPr>
          <p:spPr bwMode="auto">
            <a:xfrm>
              <a:off x="816" y="1200"/>
              <a:ext cx="2064" cy="432"/>
            </a:xfrm>
            <a:prstGeom prst="rect">
              <a:avLst/>
            </a:prstGeom>
            <a:gradFill rotWithShape="0">
              <a:gsLst>
                <a:gs pos="0">
                  <a:srgbClr val="9BB4C2"/>
                </a:gs>
                <a:gs pos="50000">
                  <a:srgbClr val="CCECFF"/>
                </a:gs>
                <a:gs pos="100000">
                  <a:srgbClr val="9BB4C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86116" name="Picture 4" descr="cursor"/>
            <p:cNvPicPr>
              <a:picLocks noChangeAspect="1" noChangeArrowheads="1"/>
            </p:cNvPicPr>
            <p:nvPr/>
          </p:nvPicPr>
          <p:blipFill>
            <a:blip r:embed="rId3" cstate="print">
              <a:lum bright="-40000" contrast="-66000"/>
            </a:blip>
            <a:srcRect/>
            <a:stretch>
              <a:fillRect/>
            </a:stretch>
          </p:blipFill>
          <p:spPr bwMode="auto">
            <a:xfrm>
              <a:off x="2688" y="1493"/>
              <a:ext cx="384" cy="379"/>
            </a:xfrm>
            <a:prstGeom prst="rect">
              <a:avLst/>
            </a:prstGeom>
            <a:noFill/>
            <a:effectLst>
              <a:outerShdw dist="107763" dir="18900000" algn="ctr" rotWithShape="0">
                <a:srgbClr val="808080"/>
              </a:outerShdw>
            </a:effectLst>
          </p:spPr>
        </p:pic>
      </p:grp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935038" y="1295400"/>
            <a:ext cx="331533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8.4.1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微程序举例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8.4.2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微操作命令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微指令格式</a:t>
            </a:r>
          </a:p>
          <a:p>
            <a:pPr algn="l"/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微程序控制器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0600" y="4267200"/>
            <a:ext cx="7734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一条指令对应一段微程序，存放在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控制存储器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中。</a:t>
            </a: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838200" y="1304865"/>
            <a:ext cx="8229600" cy="53245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问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指令，微指令，程序、微程序，它们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之间到底是什么关系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?</a:t>
            </a:r>
          </a:p>
          <a:p>
            <a:pPr algn="l"/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答：</a:t>
            </a: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条指令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对应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一段微程序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一段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是由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若干条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组成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因此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，一条指令完成的操作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可分成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若干条微指令来完成。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  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指令与微指令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程序与微程序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地址与微地址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的关系来看，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前者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主存储器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RAM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有关，后者与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控制存储器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有关。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）   我们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曾讲述了指令与机器周期概念，并归纳了五条典型指令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指令周期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，并演示了这五条指令的微程序流程图，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1591300" y="5638800"/>
            <a:ext cx="5647700" cy="400110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一条指令的每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个时钟周期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就对应一条微指令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 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848380"/>
            <a:ext cx="9144000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52400"/>
            <a:ext cx="3657600" cy="650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6" name="Line 4"/>
          <p:cNvSpPr>
            <a:spLocks noChangeShapeType="1"/>
          </p:cNvSpPr>
          <p:nvPr/>
        </p:nvSpPr>
        <p:spPr bwMode="auto">
          <a:xfrm>
            <a:off x="1600200" y="3429000"/>
            <a:ext cx="167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04800" y="3200400"/>
            <a:ext cx="16383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一条指令</a:t>
            </a:r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1905000" y="1066800"/>
            <a:ext cx="167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493712" y="928687"/>
            <a:ext cx="1639888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一条微指令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7239000" y="4114800"/>
            <a:ext cx="1752600" cy="16312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的地址、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主存储器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有关。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7239000" y="1066800"/>
            <a:ext cx="2286000" cy="16312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的微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存储器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有关。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0" y="-28039"/>
            <a:ext cx="3505200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指令与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程序与微程序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地址与位地址</a:t>
            </a: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805" name="AutoShape 13"/>
          <p:cNvSpPr>
            <a:spLocks noChangeArrowheads="1"/>
          </p:cNvSpPr>
          <p:nvPr/>
        </p:nvSpPr>
        <p:spPr bwMode="auto">
          <a:xfrm>
            <a:off x="-76200" y="1356045"/>
            <a:ext cx="2667000" cy="1677353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algn="ctr">
            <a:solidFill>
              <a:srgbClr val="00B0F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一条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endParaRPr lang="en-US" altLang="zh-CN" sz="1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按不同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时钟周期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分为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若干条</a:t>
            </a:r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完成。</a:t>
            </a:r>
          </a:p>
        </p:txBody>
      </p:sp>
      <p:sp>
        <p:nvSpPr>
          <p:cNvPr id="16" name="右大括号 15"/>
          <p:cNvSpPr/>
          <p:nvPr/>
        </p:nvSpPr>
        <p:spPr bwMode="auto">
          <a:xfrm>
            <a:off x="6858000" y="762000"/>
            <a:ext cx="381000" cy="2819400"/>
          </a:xfrm>
          <a:prstGeom prst="rightBrac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17" name="右大括号 16"/>
          <p:cNvSpPr/>
          <p:nvPr/>
        </p:nvSpPr>
        <p:spPr bwMode="auto">
          <a:xfrm>
            <a:off x="6858000" y="3810000"/>
            <a:ext cx="381000" cy="2819400"/>
          </a:xfrm>
          <a:prstGeom prst="rightBrac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76200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18228" y="762000"/>
            <a:ext cx="1415772" cy="338554"/>
          </a:xfrm>
          <a:prstGeom prst="rect">
            <a:avLst/>
          </a:prstGeom>
          <a:solidFill>
            <a:srgbClr val="00FFFF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微数据寄存器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10000" y="1642646"/>
            <a:ext cx="1676400" cy="338554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控制存储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ROM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62400" y="2557046"/>
            <a:ext cx="1415772" cy="338554"/>
          </a:xfrm>
          <a:prstGeom prst="rect">
            <a:avLst/>
          </a:prstGeom>
          <a:solidFill>
            <a:srgbClr val="00FFFF"/>
          </a:solidFill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微地址寄存器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743200" y="685800"/>
            <a:ext cx="922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CMDR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43200" y="2602468"/>
            <a:ext cx="912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CMAR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517692" y="3810000"/>
            <a:ext cx="766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MDR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524217" y="5638800"/>
            <a:ext cx="756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MAR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 bwMode="auto">
          <a:xfrm>
            <a:off x="0" y="0"/>
            <a:ext cx="9144000" cy="1905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8806869" y="3167390"/>
            <a:ext cx="184731" cy="52322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0225" y="1152525"/>
            <a:ext cx="2208213" cy="5248275"/>
            <a:chOff x="433" y="774"/>
            <a:chExt cx="1391" cy="3306"/>
          </a:xfrm>
        </p:grpSpPr>
        <p:sp>
          <p:nvSpPr>
            <p:cNvPr id="34883" name="Rectangle 4"/>
            <p:cNvSpPr>
              <a:spLocks noChangeArrowheads="1"/>
            </p:cNvSpPr>
            <p:nvPr/>
          </p:nvSpPr>
          <p:spPr bwMode="auto">
            <a:xfrm>
              <a:off x="720" y="1008"/>
              <a:ext cx="1104" cy="30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884" name="Text Box 5"/>
            <p:cNvSpPr txBox="1">
              <a:spLocks noChangeArrowheads="1"/>
            </p:cNvSpPr>
            <p:nvPr/>
          </p:nvSpPr>
          <p:spPr bwMode="auto">
            <a:xfrm>
              <a:off x="816" y="1983"/>
              <a:ext cx="73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LDA</a:t>
              </a:r>
              <a:r>
                <a:rPr kumimoji="1" lang="en-US" altLang="zh-CN" sz="1800">
                  <a:latin typeface="微软雅黑" pitchFamily="34" charset="-122"/>
                  <a:ea typeface="微软雅黑" pitchFamily="34" charset="-122"/>
                </a:rPr>
                <a:t>     X</a:t>
              </a:r>
            </a:p>
          </p:txBody>
        </p:sp>
        <p:sp>
          <p:nvSpPr>
            <p:cNvPr id="34885" name="Text Box 6"/>
            <p:cNvSpPr txBox="1">
              <a:spLocks noChangeArrowheads="1"/>
            </p:cNvSpPr>
            <p:nvPr/>
          </p:nvSpPr>
          <p:spPr bwMode="auto">
            <a:xfrm>
              <a:off x="816" y="2220"/>
              <a:ext cx="76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ADD</a:t>
              </a:r>
              <a:r>
                <a:rPr kumimoji="1" lang="en-US" altLang="zh-CN" sz="1800">
                  <a:latin typeface="微软雅黑" pitchFamily="34" charset="-122"/>
                  <a:ea typeface="微软雅黑" pitchFamily="34" charset="-122"/>
                </a:rPr>
                <a:t>     Y</a:t>
              </a:r>
            </a:p>
          </p:txBody>
        </p:sp>
        <p:sp>
          <p:nvSpPr>
            <p:cNvPr id="34886" name="Text Box 7"/>
            <p:cNvSpPr txBox="1">
              <a:spLocks noChangeArrowheads="1"/>
            </p:cNvSpPr>
            <p:nvPr/>
          </p:nvSpPr>
          <p:spPr bwMode="auto">
            <a:xfrm>
              <a:off x="816" y="2457"/>
              <a:ext cx="7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STA</a:t>
              </a:r>
              <a:r>
                <a:rPr kumimoji="1" lang="en-US" altLang="zh-CN" sz="1800">
                  <a:latin typeface="微软雅黑" pitchFamily="34" charset="-122"/>
                  <a:ea typeface="微软雅黑" pitchFamily="34" charset="-122"/>
                </a:rPr>
                <a:t>      Z</a:t>
              </a:r>
            </a:p>
          </p:txBody>
        </p:sp>
        <p:sp>
          <p:nvSpPr>
            <p:cNvPr id="34887" name="Text Box 8"/>
            <p:cNvSpPr txBox="1">
              <a:spLocks noChangeArrowheads="1"/>
            </p:cNvSpPr>
            <p:nvPr/>
          </p:nvSpPr>
          <p:spPr bwMode="auto">
            <a:xfrm>
              <a:off x="998" y="774"/>
              <a:ext cx="40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8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主存</a:t>
              </a:r>
            </a:p>
          </p:txBody>
        </p:sp>
        <p:sp>
          <p:nvSpPr>
            <p:cNvPr id="34888" name="Text Box 9"/>
            <p:cNvSpPr txBox="1">
              <a:spLocks noChangeArrowheads="1"/>
            </p:cNvSpPr>
            <p:nvPr/>
          </p:nvSpPr>
          <p:spPr bwMode="auto">
            <a:xfrm>
              <a:off x="816" y="2693"/>
              <a:ext cx="3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STP</a:t>
              </a:r>
            </a:p>
          </p:txBody>
        </p:sp>
        <p:sp>
          <p:nvSpPr>
            <p:cNvPr id="34889" name="Text Box 10"/>
            <p:cNvSpPr txBox="1">
              <a:spLocks noChangeArrowheads="1"/>
            </p:cNvSpPr>
            <p:nvPr/>
          </p:nvSpPr>
          <p:spPr bwMode="auto">
            <a:xfrm>
              <a:off x="433" y="2082"/>
              <a:ext cx="291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pPr algn="l"/>
              <a:r>
                <a:rPr kumimoji="1" lang="zh-CN" altLang="en-US" sz="18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用户程序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500438" y="152400"/>
            <a:ext cx="5219701" cy="6400800"/>
            <a:chOff x="2304" y="144"/>
            <a:chExt cx="3288" cy="4032"/>
          </a:xfrm>
        </p:grpSpPr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2304" y="144"/>
              <a:ext cx="3288" cy="4032"/>
              <a:chOff x="2304" y="144"/>
              <a:chExt cx="3288" cy="4032"/>
            </a:xfrm>
          </p:grpSpPr>
          <p:sp>
            <p:nvSpPr>
              <p:cNvPr id="34825" name="Text Box 13"/>
              <p:cNvSpPr txBox="1">
                <a:spLocks noChangeArrowheads="1"/>
              </p:cNvSpPr>
              <p:nvPr/>
            </p:nvSpPr>
            <p:spPr bwMode="auto">
              <a:xfrm>
                <a:off x="2691" y="144"/>
                <a:ext cx="2085" cy="233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8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控制存储器</a:t>
                </a:r>
                <a:r>
                  <a:rPr kumimoji="1" lang="en-US" altLang="zh-CN" sz="18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ROM</a:t>
                </a:r>
                <a:r>
                  <a:rPr kumimoji="1" lang="zh-CN" altLang="en-US" sz="18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：在控制器中</a:t>
                </a:r>
              </a:p>
            </p:txBody>
          </p:sp>
          <p:sp>
            <p:nvSpPr>
              <p:cNvPr id="34826" name="Text Box 14"/>
              <p:cNvSpPr txBox="1">
                <a:spLocks noChangeArrowheads="1"/>
              </p:cNvSpPr>
              <p:nvPr/>
            </p:nvSpPr>
            <p:spPr bwMode="auto">
              <a:xfrm>
                <a:off x="2304" y="661"/>
                <a:ext cx="46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M+1</a:t>
                </a:r>
              </a:p>
            </p:txBody>
          </p:sp>
          <p:sp>
            <p:nvSpPr>
              <p:cNvPr id="34827" name="Text Box 15"/>
              <p:cNvSpPr txBox="1">
                <a:spLocks noChangeArrowheads="1"/>
              </p:cNvSpPr>
              <p:nvPr/>
            </p:nvSpPr>
            <p:spPr bwMode="auto">
              <a:xfrm>
                <a:off x="2394" y="439"/>
                <a:ext cx="26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</a:t>
                </a:r>
              </a:p>
            </p:txBody>
          </p:sp>
          <p:sp>
            <p:nvSpPr>
              <p:cNvPr id="34828" name="Text Box 16"/>
              <p:cNvSpPr txBox="1">
                <a:spLocks noChangeArrowheads="1"/>
              </p:cNvSpPr>
              <p:nvPr/>
            </p:nvSpPr>
            <p:spPr bwMode="auto">
              <a:xfrm>
                <a:off x="2304" y="882"/>
                <a:ext cx="46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M+2</a:t>
                </a:r>
              </a:p>
            </p:txBody>
          </p:sp>
          <p:sp>
            <p:nvSpPr>
              <p:cNvPr id="34829" name="Text Box 17"/>
              <p:cNvSpPr txBox="1">
                <a:spLocks noChangeArrowheads="1"/>
              </p:cNvSpPr>
              <p:nvPr/>
            </p:nvSpPr>
            <p:spPr bwMode="auto">
              <a:xfrm>
                <a:off x="2304" y="1645"/>
                <a:ext cx="41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P+1</a:t>
                </a:r>
              </a:p>
            </p:txBody>
          </p:sp>
          <p:sp>
            <p:nvSpPr>
              <p:cNvPr id="34830" name="Text Box 18"/>
              <p:cNvSpPr txBox="1">
                <a:spLocks noChangeArrowheads="1"/>
              </p:cNvSpPr>
              <p:nvPr/>
            </p:nvSpPr>
            <p:spPr bwMode="auto">
              <a:xfrm>
                <a:off x="2383" y="2397"/>
                <a:ext cx="235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Q</a:t>
                </a:r>
              </a:p>
            </p:txBody>
          </p:sp>
          <p:sp>
            <p:nvSpPr>
              <p:cNvPr id="34831" name="Text Box 19"/>
              <p:cNvSpPr txBox="1">
                <a:spLocks noChangeArrowheads="1"/>
              </p:cNvSpPr>
              <p:nvPr/>
            </p:nvSpPr>
            <p:spPr bwMode="auto">
              <a:xfrm>
                <a:off x="2304" y="2841"/>
                <a:ext cx="43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Q+2</a:t>
                </a:r>
              </a:p>
            </p:txBody>
          </p:sp>
          <p:sp>
            <p:nvSpPr>
              <p:cNvPr id="34832" name="Text Box 20"/>
              <p:cNvSpPr txBox="1">
                <a:spLocks noChangeArrowheads="1"/>
              </p:cNvSpPr>
              <p:nvPr/>
            </p:nvSpPr>
            <p:spPr bwMode="auto">
              <a:xfrm>
                <a:off x="2399" y="1424"/>
                <a:ext cx="212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P</a:t>
                </a:r>
              </a:p>
            </p:txBody>
          </p:sp>
          <p:sp>
            <p:nvSpPr>
              <p:cNvPr id="34833" name="Text Box 21"/>
              <p:cNvSpPr txBox="1">
                <a:spLocks noChangeArrowheads="1"/>
              </p:cNvSpPr>
              <p:nvPr/>
            </p:nvSpPr>
            <p:spPr bwMode="auto">
              <a:xfrm>
                <a:off x="2304" y="1858"/>
                <a:ext cx="41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P+2</a:t>
                </a:r>
              </a:p>
            </p:txBody>
          </p:sp>
          <p:sp>
            <p:nvSpPr>
              <p:cNvPr id="34834" name="Text Box 22"/>
              <p:cNvSpPr txBox="1">
                <a:spLocks noChangeArrowheads="1"/>
              </p:cNvSpPr>
              <p:nvPr/>
            </p:nvSpPr>
            <p:spPr bwMode="auto">
              <a:xfrm>
                <a:off x="2304" y="2619"/>
                <a:ext cx="43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Q+1</a:t>
                </a:r>
              </a:p>
            </p:txBody>
          </p:sp>
          <p:sp>
            <p:nvSpPr>
              <p:cNvPr id="34835" name="Text Box 23"/>
              <p:cNvSpPr txBox="1">
                <a:spLocks noChangeArrowheads="1"/>
              </p:cNvSpPr>
              <p:nvPr/>
            </p:nvSpPr>
            <p:spPr bwMode="auto">
              <a:xfrm>
                <a:off x="3554" y="3070"/>
                <a:ext cx="291" cy="1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34836" name="AutoShape 24"/>
              <p:cNvSpPr>
                <a:spLocks/>
              </p:cNvSpPr>
              <p:nvPr/>
            </p:nvSpPr>
            <p:spPr bwMode="auto">
              <a:xfrm>
                <a:off x="4608" y="463"/>
                <a:ext cx="96" cy="621"/>
              </a:xfrm>
              <a:prstGeom prst="rightBrace">
                <a:avLst>
                  <a:gd name="adj1" fmla="val 53906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37" name="Text Box 25"/>
              <p:cNvSpPr txBox="1">
                <a:spLocks noChangeArrowheads="1"/>
              </p:cNvSpPr>
              <p:nvPr/>
            </p:nvSpPr>
            <p:spPr bwMode="auto">
              <a:xfrm>
                <a:off x="4705" y="652"/>
                <a:ext cx="887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8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 取</a:t>
                </a:r>
                <a:r>
                  <a:rPr kumimoji="1" lang="zh-CN" altLang="en-US" sz="180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指周期</a:t>
                </a:r>
              </a:p>
              <a:p>
                <a:pPr algn="l"/>
                <a:r>
                  <a:rPr kumimoji="1" lang="zh-CN" altLang="en-US" sz="1800" dirty="0">
                    <a:solidFill>
                      <a:schemeClr val="folHlink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kumimoji="1" lang="zh-CN" altLang="en-US" sz="1800" dirty="0" smtClean="0">
                    <a:latin typeface="微软雅黑" pitchFamily="34" charset="-122"/>
                    <a:ea typeface="微软雅黑" pitchFamily="34" charset="-122"/>
                  </a:rPr>
                  <a:t>通用微指令</a:t>
                </a:r>
                <a:endParaRPr kumimoji="1" lang="zh-CN" altLang="en-US" sz="18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38" name="AutoShape 26"/>
              <p:cNvSpPr>
                <a:spLocks/>
              </p:cNvSpPr>
              <p:nvPr/>
            </p:nvSpPr>
            <p:spPr bwMode="auto">
              <a:xfrm>
                <a:off x="4608" y="1444"/>
                <a:ext cx="96" cy="621"/>
              </a:xfrm>
              <a:prstGeom prst="rightBrace">
                <a:avLst>
                  <a:gd name="adj1" fmla="val 53906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39" name="Text Box 27"/>
              <p:cNvSpPr txBox="1">
                <a:spLocks noChangeArrowheads="1"/>
              </p:cNvSpPr>
              <p:nvPr/>
            </p:nvSpPr>
            <p:spPr bwMode="auto">
              <a:xfrm>
                <a:off x="4705" y="1681"/>
                <a:ext cx="709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LDA</a:t>
                </a:r>
                <a:r>
                  <a:rPr kumimoji="1" lang="zh-CN" altLang="en-US" sz="18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指令</a:t>
                </a:r>
                <a:endParaRPr kumimoji="1"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l"/>
                <a:r>
                  <a:rPr kumimoji="1" lang="zh-CN" altLang="en-US" sz="1800" dirty="0" smtClean="0">
                    <a:latin typeface="微软雅黑" pitchFamily="34" charset="-122"/>
                    <a:ea typeface="微软雅黑" pitchFamily="34" charset="-122"/>
                  </a:rPr>
                  <a:t>的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微程序</a:t>
                </a:r>
              </a:p>
            </p:txBody>
          </p:sp>
          <p:sp>
            <p:nvSpPr>
              <p:cNvPr id="34840" name="AutoShape 28"/>
              <p:cNvSpPr>
                <a:spLocks/>
              </p:cNvSpPr>
              <p:nvPr/>
            </p:nvSpPr>
            <p:spPr bwMode="auto">
              <a:xfrm>
                <a:off x="4608" y="2405"/>
                <a:ext cx="96" cy="620"/>
              </a:xfrm>
              <a:prstGeom prst="rightBrace">
                <a:avLst>
                  <a:gd name="adj1" fmla="val 53819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1" name="Text Box 29"/>
              <p:cNvSpPr txBox="1">
                <a:spLocks noChangeArrowheads="1"/>
              </p:cNvSpPr>
              <p:nvPr/>
            </p:nvSpPr>
            <p:spPr bwMode="auto">
              <a:xfrm>
                <a:off x="4705" y="2567"/>
                <a:ext cx="790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 ADD</a:t>
                </a:r>
                <a:r>
                  <a:rPr kumimoji="1" lang="zh-CN" altLang="en-US" sz="18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指令</a:t>
                </a:r>
                <a:endParaRPr kumimoji="1"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l"/>
                <a:r>
                  <a:rPr kumimoji="1" lang="zh-CN" altLang="en-US" sz="1800" dirty="0" smtClean="0">
                    <a:latin typeface="微软雅黑" pitchFamily="34" charset="-122"/>
                    <a:ea typeface="微软雅黑" pitchFamily="34" charset="-122"/>
                  </a:rPr>
                  <a:t> 的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微程序</a:t>
                </a:r>
              </a:p>
            </p:txBody>
          </p:sp>
          <p:sp>
            <p:nvSpPr>
              <p:cNvPr id="34842" name="Rectangle 30"/>
              <p:cNvSpPr>
                <a:spLocks noChangeArrowheads="1"/>
              </p:cNvSpPr>
              <p:nvPr/>
            </p:nvSpPr>
            <p:spPr bwMode="auto">
              <a:xfrm>
                <a:off x="2832" y="2394"/>
                <a:ext cx="1728" cy="2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3" name="Rectangle 31"/>
              <p:cNvSpPr>
                <a:spLocks noChangeArrowheads="1"/>
              </p:cNvSpPr>
              <p:nvPr/>
            </p:nvSpPr>
            <p:spPr bwMode="auto">
              <a:xfrm>
                <a:off x="2832" y="2837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4" name="Rectangle 32"/>
              <p:cNvSpPr>
                <a:spLocks noChangeArrowheads="1"/>
              </p:cNvSpPr>
              <p:nvPr/>
            </p:nvSpPr>
            <p:spPr bwMode="auto">
              <a:xfrm>
                <a:off x="2832" y="1409"/>
                <a:ext cx="1728" cy="2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5" name="Rectangle 33"/>
              <p:cNvSpPr>
                <a:spLocks noChangeArrowheads="1"/>
              </p:cNvSpPr>
              <p:nvPr/>
            </p:nvSpPr>
            <p:spPr bwMode="auto">
              <a:xfrm>
                <a:off x="2832" y="1852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6" name="Rectangle 34"/>
              <p:cNvSpPr>
                <a:spLocks noChangeArrowheads="1"/>
              </p:cNvSpPr>
              <p:nvPr/>
            </p:nvSpPr>
            <p:spPr bwMode="auto">
              <a:xfrm>
                <a:off x="2832" y="2615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7" name="Rectangle 35"/>
              <p:cNvSpPr>
                <a:spLocks noChangeArrowheads="1"/>
              </p:cNvSpPr>
              <p:nvPr/>
            </p:nvSpPr>
            <p:spPr bwMode="auto">
              <a:xfrm>
                <a:off x="2832" y="433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8" name="Rectangle 36"/>
              <p:cNvSpPr>
                <a:spLocks noChangeArrowheads="1"/>
              </p:cNvSpPr>
              <p:nvPr/>
            </p:nvSpPr>
            <p:spPr bwMode="auto">
              <a:xfrm>
                <a:off x="2832" y="877"/>
                <a:ext cx="1728" cy="2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49" name="Freeform 37"/>
              <p:cNvSpPr>
                <a:spLocks/>
              </p:cNvSpPr>
              <p:nvPr/>
            </p:nvSpPr>
            <p:spPr bwMode="auto">
              <a:xfrm>
                <a:off x="2832" y="1098"/>
                <a:ext cx="1" cy="884"/>
              </a:xfrm>
              <a:custGeom>
                <a:avLst/>
                <a:gdLst>
                  <a:gd name="T0" fmla="*/ 0 w 1"/>
                  <a:gd name="T1" fmla="*/ 0 h 956"/>
                  <a:gd name="T2" fmla="*/ 0 w 1"/>
                  <a:gd name="T3" fmla="*/ 755 h 956"/>
                  <a:gd name="T4" fmla="*/ 0 60000 65536"/>
                  <a:gd name="T5" fmla="*/ 0 60000 65536"/>
                  <a:gd name="T6" fmla="*/ 0 w 1"/>
                  <a:gd name="T7" fmla="*/ 0 h 956"/>
                  <a:gd name="T8" fmla="*/ 1 w 1"/>
                  <a:gd name="T9" fmla="*/ 956 h 9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56">
                    <a:moveTo>
                      <a:pt x="0" y="0"/>
                    </a:moveTo>
                    <a:lnTo>
                      <a:pt x="0" y="9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50" name="Freeform 38"/>
              <p:cNvSpPr>
                <a:spLocks/>
              </p:cNvSpPr>
              <p:nvPr/>
            </p:nvSpPr>
            <p:spPr bwMode="auto">
              <a:xfrm>
                <a:off x="4559" y="1098"/>
                <a:ext cx="1" cy="884"/>
              </a:xfrm>
              <a:custGeom>
                <a:avLst/>
                <a:gdLst>
                  <a:gd name="T0" fmla="*/ 0 w 1"/>
                  <a:gd name="T1" fmla="*/ 0 h 956"/>
                  <a:gd name="T2" fmla="*/ 0 w 1"/>
                  <a:gd name="T3" fmla="*/ 755 h 956"/>
                  <a:gd name="T4" fmla="*/ 0 60000 65536"/>
                  <a:gd name="T5" fmla="*/ 0 60000 65536"/>
                  <a:gd name="T6" fmla="*/ 0 w 1"/>
                  <a:gd name="T7" fmla="*/ 0 h 956"/>
                  <a:gd name="T8" fmla="*/ 1 w 1"/>
                  <a:gd name="T9" fmla="*/ 956 h 9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56">
                    <a:moveTo>
                      <a:pt x="0" y="0"/>
                    </a:moveTo>
                    <a:lnTo>
                      <a:pt x="0" y="95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51" name="Rectangle 39"/>
              <p:cNvSpPr>
                <a:spLocks noChangeArrowheads="1"/>
              </p:cNvSpPr>
              <p:nvPr/>
            </p:nvSpPr>
            <p:spPr bwMode="auto">
              <a:xfrm>
                <a:off x="2832" y="3061"/>
                <a:ext cx="1728" cy="2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52" name="Rectangle 40"/>
              <p:cNvSpPr>
                <a:spLocks noChangeArrowheads="1"/>
              </p:cNvSpPr>
              <p:nvPr/>
            </p:nvSpPr>
            <p:spPr bwMode="auto">
              <a:xfrm>
                <a:off x="2832" y="1630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53" name="Rectangle 41"/>
              <p:cNvSpPr>
                <a:spLocks noChangeArrowheads="1"/>
              </p:cNvSpPr>
              <p:nvPr/>
            </p:nvSpPr>
            <p:spPr bwMode="auto">
              <a:xfrm>
                <a:off x="2832" y="655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54" name="Line 42"/>
              <p:cNvSpPr>
                <a:spLocks noChangeShapeType="1"/>
              </p:cNvSpPr>
              <p:nvPr/>
            </p:nvSpPr>
            <p:spPr bwMode="auto">
              <a:xfrm>
                <a:off x="3984" y="427"/>
                <a:ext cx="0" cy="6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55" name="Text Box 43"/>
              <p:cNvSpPr txBox="1">
                <a:spLocks noChangeArrowheads="1"/>
              </p:cNvSpPr>
              <p:nvPr/>
            </p:nvSpPr>
            <p:spPr bwMode="auto">
              <a:xfrm>
                <a:off x="4074" y="2390"/>
                <a:ext cx="43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Q+1</a:t>
                </a:r>
              </a:p>
            </p:txBody>
          </p:sp>
          <p:sp>
            <p:nvSpPr>
              <p:cNvPr id="34856" name="Text Box 44"/>
              <p:cNvSpPr txBox="1">
                <a:spLocks noChangeArrowheads="1"/>
              </p:cNvSpPr>
              <p:nvPr/>
            </p:nvSpPr>
            <p:spPr bwMode="auto">
              <a:xfrm>
                <a:off x="4074" y="2612"/>
                <a:ext cx="43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Q+2</a:t>
                </a:r>
              </a:p>
            </p:txBody>
          </p:sp>
          <p:sp>
            <p:nvSpPr>
              <p:cNvPr id="34857" name="Text Box 45"/>
              <p:cNvSpPr txBox="1">
                <a:spLocks noChangeArrowheads="1"/>
              </p:cNvSpPr>
              <p:nvPr/>
            </p:nvSpPr>
            <p:spPr bwMode="auto">
              <a:xfrm>
                <a:off x="4128" y="2833"/>
                <a:ext cx="26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</a:t>
                </a:r>
              </a:p>
            </p:txBody>
          </p:sp>
          <p:sp>
            <p:nvSpPr>
              <p:cNvPr id="34858" name="Text Box 46"/>
              <p:cNvSpPr txBox="1">
                <a:spLocks noChangeArrowheads="1"/>
              </p:cNvSpPr>
              <p:nvPr/>
            </p:nvSpPr>
            <p:spPr bwMode="auto">
              <a:xfrm>
                <a:off x="4074" y="439"/>
                <a:ext cx="46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M+1</a:t>
                </a:r>
              </a:p>
            </p:txBody>
          </p:sp>
          <p:sp>
            <p:nvSpPr>
              <p:cNvPr id="34859" name="Text Box 47"/>
              <p:cNvSpPr txBox="1">
                <a:spLocks noChangeArrowheads="1"/>
              </p:cNvSpPr>
              <p:nvPr/>
            </p:nvSpPr>
            <p:spPr bwMode="auto">
              <a:xfrm>
                <a:off x="4074" y="661"/>
                <a:ext cx="46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M+2</a:t>
                </a:r>
              </a:p>
            </p:txBody>
          </p:sp>
          <p:sp>
            <p:nvSpPr>
              <p:cNvPr id="34860" name="Text Box 48"/>
              <p:cNvSpPr txBox="1">
                <a:spLocks noChangeArrowheads="1"/>
              </p:cNvSpPr>
              <p:nvPr/>
            </p:nvSpPr>
            <p:spPr bwMode="auto">
              <a:xfrm>
                <a:off x="4074" y="1415"/>
                <a:ext cx="41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P+1</a:t>
                </a:r>
              </a:p>
            </p:txBody>
          </p:sp>
          <p:sp>
            <p:nvSpPr>
              <p:cNvPr id="34861" name="Text Box 49"/>
              <p:cNvSpPr txBox="1">
                <a:spLocks noChangeArrowheads="1"/>
              </p:cNvSpPr>
              <p:nvPr/>
            </p:nvSpPr>
            <p:spPr bwMode="auto">
              <a:xfrm>
                <a:off x="4074" y="1627"/>
                <a:ext cx="41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P+2</a:t>
                </a:r>
              </a:p>
            </p:txBody>
          </p:sp>
          <p:sp>
            <p:nvSpPr>
              <p:cNvPr id="34862" name="Text Box 50"/>
              <p:cNvSpPr txBox="1">
                <a:spLocks noChangeArrowheads="1"/>
              </p:cNvSpPr>
              <p:nvPr/>
            </p:nvSpPr>
            <p:spPr bwMode="auto">
              <a:xfrm>
                <a:off x="4149" y="1858"/>
                <a:ext cx="26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</a:t>
                </a:r>
              </a:p>
            </p:txBody>
          </p:sp>
          <p:sp>
            <p:nvSpPr>
              <p:cNvPr id="34863" name="Text Box 51"/>
              <p:cNvSpPr txBox="1">
                <a:spLocks noChangeArrowheads="1"/>
              </p:cNvSpPr>
              <p:nvPr/>
            </p:nvSpPr>
            <p:spPr bwMode="auto">
              <a:xfrm>
                <a:off x="3534" y="1154"/>
                <a:ext cx="291" cy="1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34864" name="Text Box 52"/>
              <p:cNvSpPr txBox="1">
                <a:spLocks noChangeArrowheads="1"/>
              </p:cNvSpPr>
              <p:nvPr/>
            </p:nvSpPr>
            <p:spPr bwMode="auto">
              <a:xfrm>
                <a:off x="3534" y="2129"/>
                <a:ext cx="291" cy="1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34865" name="Line 53"/>
              <p:cNvSpPr>
                <a:spLocks noChangeShapeType="1"/>
              </p:cNvSpPr>
              <p:nvPr/>
            </p:nvSpPr>
            <p:spPr bwMode="auto">
              <a:xfrm>
                <a:off x="3984" y="1400"/>
                <a:ext cx="0" cy="6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66" name="Line 54"/>
              <p:cNvSpPr>
                <a:spLocks noChangeShapeType="1"/>
              </p:cNvSpPr>
              <p:nvPr/>
            </p:nvSpPr>
            <p:spPr bwMode="auto">
              <a:xfrm>
                <a:off x="3984" y="2397"/>
                <a:ext cx="0" cy="6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67" name="Line 55"/>
              <p:cNvSpPr>
                <a:spLocks noChangeShapeType="1"/>
              </p:cNvSpPr>
              <p:nvPr/>
            </p:nvSpPr>
            <p:spPr bwMode="auto">
              <a:xfrm>
                <a:off x="2832" y="2065"/>
                <a:ext cx="0" cy="3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68" name="Line 56"/>
              <p:cNvSpPr>
                <a:spLocks noChangeShapeType="1"/>
              </p:cNvSpPr>
              <p:nvPr/>
            </p:nvSpPr>
            <p:spPr bwMode="auto">
              <a:xfrm>
                <a:off x="4560" y="2065"/>
                <a:ext cx="0" cy="3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69" name="Text Box 57"/>
              <p:cNvSpPr txBox="1">
                <a:spLocks noChangeArrowheads="1"/>
              </p:cNvSpPr>
              <p:nvPr/>
            </p:nvSpPr>
            <p:spPr bwMode="auto">
              <a:xfrm>
                <a:off x="3554" y="3964"/>
                <a:ext cx="291" cy="1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…</a:t>
                </a:r>
              </a:p>
            </p:txBody>
          </p:sp>
          <p:sp>
            <p:nvSpPr>
              <p:cNvPr id="34870" name="AutoShape 58"/>
              <p:cNvSpPr>
                <a:spLocks/>
              </p:cNvSpPr>
              <p:nvPr/>
            </p:nvSpPr>
            <p:spPr bwMode="auto">
              <a:xfrm>
                <a:off x="4608" y="3299"/>
                <a:ext cx="96" cy="621"/>
              </a:xfrm>
              <a:prstGeom prst="rightBrace">
                <a:avLst>
                  <a:gd name="adj1" fmla="val 53906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71" name="Text Box 59"/>
              <p:cNvSpPr txBox="1">
                <a:spLocks noChangeArrowheads="1"/>
              </p:cNvSpPr>
              <p:nvPr/>
            </p:nvSpPr>
            <p:spPr bwMode="auto">
              <a:xfrm>
                <a:off x="4705" y="3462"/>
                <a:ext cx="698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STA</a:t>
                </a:r>
                <a:r>
                  <a:rPr kumimoji="1" lang="zh-CN" altLang="en-US" sz="1800" dirty="0" smtClean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指令</a:t>
                </a:r>
                <a:endParaRPr kumimoji="1"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l"/>
                <a:r>
                  <a:rPr kumimoji="1" lang="zh-CN" altLang="en-US" sz="1800" dirty="0" smtClean="0">
                    <a:latin typeface="微软雅黑" pitchFamily="34" charset="-122"/>
                    <a:ea typeface="微软雅黑" pitchFamily="34" charset="-122"/>
                  </a:rPr>
                  <a:t>的</a:t>
                </a:r>
                <a:r>
                  <a:rPr kumimoji="1" lang="zh-CN" altLang="en-US" sz="1800" dirty="0">
                    <a:latin typeface="微软雅黑" pitchFamily="34" charset="-122"/>
                    <a:ea typeface="微软雅黑" pitchFamily="34" charset="-122"/>
                  </a:rPr>
                  <a:t>微程序</a:t>
                </a:r>
              </a:p>
            </p:txBody>
          </p:sp>
          <p:sp>
            <p:nvSpPr>
              <p:cNvPr id="34872" name="Rectangle 60"/>
              <p:cNvSpPr>
                <a:spLocks noChangeArrowheads="1"/>
              </p:cNvSpPr>
              <p:nvPr/>
            </p:nvSpPr>
            <p:spPr bwMode="auto">
              <a:xfrm>
                <a:off x="2832" y="3288"/>
                <a:ext cx="1728" cy="2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73" name="Rectangle 61"/>
              <p:cNvSpPr>
                <a:spLocks noChangeArrowheads="1"/>
              </p:cNvSpPr>
              <p:nvPr/>
            </p:nvSpPr>
            <p:spPr bwMode="auto">
              <a:xfrm>
                <a:off x="2832" y="3731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74" name="Rectangle 62"/>
              <p:cNvSpPr>
                <a:spLocks noChangeArrowheads="1"/>
              </p:cNvSpPr>
              <p:nvPr/>
            </p:nvSpPr>
            <p:spPr bwMode="auto">
              <a:xfrm>
                <a:off x="2832" y="3509"/>
                <a:ext cx="1728" cy="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75" name="Rectangle 63"/>
              <p:cNvSpPr>
                <a:spLocks noChangeArrowheads="1"/>
              </p:cNvSpPr>
              <p:nvPr/>
            </p:nvSpPr>
            <p:spPr bwMode="auto">
              <a:xfrm>
                <a:off x="2832" y="3955"/>
                <a:ext cx="1728" cy="2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76" name="Text Box 64"/>
              <p:cNvSpPr txBox="1">
                <a:spLocks noChangeArrowheads="1"/>
              </p:cNvSpPr>
              <p:nvPr/>
            </p:nvSpPr>
            <p:spPr bwMode="auto">
              <a:xfrm>
                <a:off x="4074" y="3284"/>
                <a:ext cx="41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K+1</a:t>
                </a:r>
              </a:p>
            </p:txBody>
          </p:sp>
          <p:sp>
            <p:nvSpPr>
              <p:cNvPr id="34877" name="Text Box 65"/>
              <p:cNvSpPr txBox="1">
                <a:spLocks noChangeArrowheads="1"/>
              </p:cNvSpPr>
              <p:nvPr/>
            </p:nvSpPr>
            <p:spPr bwMode="auto">
              <a:xfrm>
                <a:off x="4074" y="3506"/>
                <a:ext cx="41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K+2</a:t>
                </a:r>
              </a:p>
            </p:txBody>
          </p:sp>
          <p:sp>
            <p:nvSpPr>
              <p:cNvPr id="34878" name="Text Box 66"/>
              <p:cNvSpPr txBox="1">
                <a:spLocks noChangeArrowheads="1"/>
              </p:cNvSpPr>
              <p:nvPr/>
            </p:nvSpPr>
            <p:spPr bwMode="auto">
              <a:xfrm>
                <a:off x="4128" y="3728"/>
                <a:ext cx="26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M</a:t>
                </a:r>
              </a:p>
            </p:txBody>
          </p:sp>
          <p:sp>
            <p:nvSpPr>
              <p:cNvPr id="34879" name="Line 67"/>
              <p:cNvSpPr>
                <a:spLocks noChangeShapeType="1"/>
              </p:cNvSpPr>
              <p:nvPr/>
            </p:nvSpPr>
            <p:spPr bwMode="auto">
              <a:xfrm>
                <a:off x="3984" y="3291"/>
                <a:ext cx="0" cy="6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880" name="Text Box 68"/>
              <p:cNvSpPr txBox="1">
                <a:spLocks noChangeArrowheads="1"/>
              </p:cNvSpPr>
              <p:nvPr/>
            </p:nvSpPr>
            <p:spPr bwMode="auto">
              <a:xfrm>
                <a:off x="2383" y="3305"/>
                <a:ext cx="2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K</a:t>
                </a:r>
              </a:p>
            </p:txBody>
          </p:sp>
          <p:sp>
            <p:nvSpPr>
              <p:cNvPr id="34881" name="Text Box 69"/>
              <p:cNvSpPr txBox="1">
                <a:spLocks noChangeArrowheads="1"/>
              </p:cNvSpPr>
              <p:nvPr/>
            </p:nvSpPr>
            <p:spPr bwMode="auto">
              <a:xfrm>
                <a:off x="2304" y="3749"/>
                <a:ext cx="41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K+2</a:t>
                </a:r>
              </a:p>
            </p:txBody>
          </p:sp>
          <p:sp>
            <p:nvSpPr>
              <p:cNvPr id="34882" name="Text Box 70"/>
              <p:cNvSpPr txBox="1">
                <a:spLocks noChangeArrowheads="1"/>
              </p:cNvSpPr>
              <p:nvPr/>
            </p:nvSpPr>
            <p:spPr bwMode="auto">
              <a:xfrm>
                <a:off x="2304" y="3527"/>
                <a:ext cx="41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800">
                    <a:latin typeface="微软雅黑" pitchFamily="34" charset="-122"/>
                    <a:ea typeface="微软雅黑" pitchFamily="34" charset="-122"/>
                  </a:rPr>
                  <a:t>K+1</a:t>
                </a:r>
              </a:p>
            </p:txBody>
          </p:sp>
        </p:grpSp>
        <p:sp>
          <p:nvSpPr>
            <p:cNvPr id="34824" name="Text Box 71"/>
            <p:cNvSpPr txBox="1">
              <a:spLocks noChangeArrowheads="1"/>
            </p:cNvSpPr>
            <p:nvPr/>
          </p:nvSpPr>
          <p:spPr bwMode="auto">
            <a:xfrm>
              <a:off x="3974" y="873"/>
              <a:ext cx="4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800">
                  <a:latin typeface="微软雅黑" pitchFamily="34" charset="-122"/>
                  <a:ea typeface="微软雅黑" pitchFamily="34" charset="-122"/>
                </a:rPr>
                <a:t>×××</a:t>
              </a:r>
            </a:p>
          </p:txBody>
        </p:sp>
      </p:grpSp>
      <p:sp>
        <p:nvSpPr>
          <p:cNvPr id="34821" name="Rectangle 72"/>
          <p:cNvSpPr>
            <a:spLocks noChangeArrowheads="1"/>
          </p:cNvSpPr>
          <p:nvPr/>
        </p:nvSpPr>
        <p:spPr bwMode="auto">
          <a:xfrm>
            <a:off x="152400" y="152400"/>
            <a:ext cx="3200400" cy="923330"/>
          </a:xfrm>
          <a:prstGeom prst="rect">
            <a:avLst/>
          </a:prstGeom>
          <a:noFill/>
          <a:ln w="9525" algn="ctr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中操作码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，通过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微地址形成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电路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（硬件）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，找到该指令对应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微程序入口地址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34822" name="Line 74"/>
          <p:cNvSpPr>
            <a:spLocks noChangeShapeType="1"/>
          </p:cNvSpPr>
          <p:nvPr/>
        </p:nvSpPr>
        <p:spPr bwMode="auto">
          <a:xfrm flipV="1">
            <a:off x="2209800" y="838200"/>
            <a:ext cx="1447800" cy="2362200"/>
          </a:xfrm>
          <a:prstGeom prst="line">
            <a:avLst/>
          </a:prstGeom>
          <a:noFill/>
          <a:ln w="9525">
            <a:solidFill>
              <a:srgbClr val="006600"/>
            </a:solidFill>
            <a:prstDash val="dash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7" name="Text Box 5"/>
          <p:cNvSpPr txBox="1">
            <a:spLocks noChangeArrowheads="1"/>
          </p:cNvSpPr>
          <p:nvPr/>
        </p:nvSpPr>
        <p:spPr bwMode="auto">
          <a:xfrm>
            <a:off x="914400" y="1667470"/>
            <a:ext cx="6248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 CMAR ) → CMDR</a:t>
            </a:r>
          </a:p>
          <a:p>
            <a:pPr algn="l"/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2842" name="Text Box 10"/>
          <p:cNvSpPr txBox="1">
            <a:spLocks noChangeArrowheads="1"/>
          </p:cNvSpPr>
          <p:nvPr/>
        </p:nvSpPr>
        <p:spPr bwMode="auto">
          <a:xfrm>
            <a:off x="914400" y="2133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PC→MAR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1→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读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2845" name="Text Box 13"/>
          <p:cNvSpPr txBox="1">
            <a:spLocks noChangeArrowheads="1"/>
          </p:cNvSpPr>
          <p:nvPr/>
        </p:nvSpPr>
        <p:spPr bwMode="auto">
          <a:xfrm>
            <a:off x="914400" y="25908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6096000" y="2133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914400" y="32120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M(MAR)→MDR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(PC)1→PC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6096000" y="32120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914400" y="42788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MDR→IR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OP(IR)→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微地址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 Box 10"/>
          <p:cNvSpPr txBox="1">
            <a:spLocks noChangeArrowheads="1"/>
          </p:cNvSpPr>
          <p:nvPr/>
        </p:nvSpPr>
        <p:spPr bwMode="auto">
          <a:xfrm>
            <a:off x="6096000" y="42788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 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P415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914400" y="36692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914400" y="47360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执行微地址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→ CMAR,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838200" y="990600"/>
            <a:ext cx="624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取值周期的微程序（都相同）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42" grpId="0" animBg="1" autoUpdateAnimBg="0"/>
      <p:bldP spid="77" grpId="0" animBg="1" autoUpdateAnimBg="0"/>
      <p:bldP spid="78" grpId="0" animBg="1" autoUpdateAnimBg="0"/>
      <p:bldP spid="79" grpId="0" animBg="1" autoUpdateAnimBg="0"/>
      <p:bldP spid="81" grpId="0" animBg="1" autoUpdateAnimBg="0"/>
      <p:bldP spid="82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914400" y="1752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0→AC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6096000" y="1752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914400" y="26786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/AC→AC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 Box 10"/>
          <p:cNvSpPr txBox="1">
            <a:spLocks noChangeArrowheads="1"/>
          </p:cNvSpPr>
          <p:nvPr/>
        </p:nvSpPr>
        <p:spPr bwMode="auto">
          <a:xfrm>
            <a:off x="6096000" y="26786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 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P415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914400" y="21336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838200" y="990600"/>
            <a:ext cx="624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执行周期的微程序（不相同）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0" y="17526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CLA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0" y="26786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COM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914400" y="30596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914400" y="36692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L(AC)→R(AC), (AC</a:t>
            </a:r>
            <a:r>
              <a:rPr lang="en-US" altLang="zh-CN" sz="18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) → (AC</a:t>
            </a:r>
            <a:r>
              <a:rPr lang="en-US" altLang="zh-CN" sz="18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6096000" y="36692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0" y="36692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SHR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914400" y="40502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914400" y="46598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R(AC)→L(AC), (AC</a:t>
            </a:r>
            <a:r>
              <a:rPr lang="en-US" altLang="zh-CN" sz="18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) → (</a:t>
            </a:r>
            <a:r>
              <a:rPr lang="en-US" altLang="zh-CN" sz="1800" dirty="0" err="1" smtClean="0">
                <a:latin typeface="微软雅黑" pitchFamily="34" charset="-122"/>
                <a:ea typeface="微软雅黑" pitchFamily="34" charset="-122"/>
              </a:rPr>
              <a:t>AC</a:t>
            </a:r>
            <a:r>
              <a:rPr lang="en-US" altLang="zh-CN" sz="1800" baseline="-25000" dirty="0" err="1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096000" y="46598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0" y="46598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CSL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914400" y="50408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914400" y="56504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0→G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6096000" y="56504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 Box 13"/>
          <p:cNvSpPr txBox="1">
            <a:spLocks noChangeArrowheads="1"/>
          </p:cNvSpPr>
          <p:nvPr/>
        </p:nvSpPr>
        <p:spPr bwMode="auto">
          <a:xfrm>
            <a:off x="0" y="56504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STP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914400" y="60314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 autoUpdateAnimBg="0"/>
      <p:bldP spid="79" grpId="0" animBg="1" autoUpdateAnimBg="0"/>
      <p:bldP spid="81" grpId="0" animBg="1" autoUpdateAnimBg="0"/>
      <p:bldP spid="82" grpId="0" animBg="1" autoUpdateAnimBg="0"/>
      <p:bldP spid="20" grpId="0" animBg="1" autoUpdateAnimBg="0"/>
      <p:bldP spid="21" grpId="0" animBg="1" autoUpdateAnimBg="0"/>
      <p:bldP spid="24" grpId="0" animBg="1" autoUpdateAnimBg="0"/>
      <p:bldP spid="25" grpId="0" animBg="1" autoUpdateAnimBg="0"/>
      <p:bldP spid="28" grpId="0" animBg="1" autoUpdateAnimBg="0"/>
      <p:bldP spid="29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914400" y="1752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Ad(IR)→MAR, 1→R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6096000" y="1752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914400" y="2514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M(MAR)→MDR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 Box 10"/>
          <p:cNvSpPr txBox="1">
            <a:spLocks noChangeArrowheads="1"/>
          </p:cNvSpPr>
          <p:nvPr/>
        </p:nvSpPr>
        <p:spPr bwMode="auto">
          <a:xfrm>
            <a:off x="6096000" y="2514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 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P415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838200" y="990600"/>
            <a:ext cx="624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执行周期的微程序（不相同）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0" y="17526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914400" y="3341132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(MDR)→AC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6096000" y="3341132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914400" y="37338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914400" y="4419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Ad(IR)→PC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096000" y="4419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0" y="44312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914400" y="53456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8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*Ad(IR)+/A</a:t>
            </a:r>
            <a:r>
              <a:rPr lang="en-US" altLang="zh-CN" sz="1800" baseline="-25000" dirty="0" smtClean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*(PC)→PC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6096000" y="53456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914400" y="21452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914400" y="28956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914400" y="57266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13"/>
          <p:cNvSpPr txBox="1">
            <a:spLocks noChangeArrowheads="1"/>
          </p:cNvSpPr>
          <p:nvPr/>
        </p:nvSpPr>
        <p:spPr bwMode="auto">
          <a:xfrm>
            <a:off x="914400" y="47360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0" y="5357336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BAN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 autoUpdateAnimBg="0"/>
      <p:bldP spid="79" grpId="0" animBg="1" autoUpdateAnimBg="0"/>
      <p:bldP spid="81" grpId="0" animBg="1" autoUpdateAnimBg="0"/>
      <p:bldP spid="82" grpId="0" animBg="1" autoUpdateAnimBg="0"/>
      <p:bldP spid="20" grpId="0" animBg="1" autoUpdateAnimBg="0"/>
      <p:bldP spid="21" grpId="0" animBg="1" autoUpdateAnimBg="0"/>
      <p:bldP spid="24" grpId="0" animBg="1" autoUpdateAnimBg="0"/>
      <p:bldP spid="25" grpId="0" animBg="1" autoUpdateAnimBg="0"/>
      <p:bldP spid="28" grpId="0" animBg="1" autoUpdateAnimBg="0"/>
      <p:bldP spid="29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914400" y="1752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Ad(IR)→MAR, 1→R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6096000" y="1752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914400" y="2514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M(MAR)→MDR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 Box 10"/>
          <p:cNvSpPr txBox="1">
            <a:spLocks noChangeArrowheads="1"/>
          </p:cNvSpPr>
          <p:nvPr/>
        </p:nvSpPr>
        <p:spPr bwMode="auto">
          <a:xfrm>
            <a:off x="6096000" y="2514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 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P415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838200" y="990600"/>
            <a:ext cx="624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执行周期的微程序（不相同）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0" y="17526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LDA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914400" y="3341132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(AC)+(MDR)→AC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6096000" y="3341132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914400" y="37338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914400" y="4419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Ad(IR)→MAR, 1→W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096000" y="4419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0" y="44312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STA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914400" y="5181600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AC→MDR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6096000" y="5181600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914400" y="2145268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914400" y="28956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914400" y="4788932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914400" y="54864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Ad (CMDR 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)  → CMAR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 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914400" y="5879068"/>
            <a:ext cx="51816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CMDR 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发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命令： 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MDR →M(MAR)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 Box 10"/>
          <p:cNvSpPr txBox="1">
            <a:spLocks noChangeArrowheads="1"/>
          </p:cNvSpPr>
          <p:nvPr/>
        </p:nvSpPr>
        <p:spPr bwMode="auto">
          <a:xfrm>
            <a:off x="6096000" y="5879068"/>
            <a:ext cx="2819400" cy="36933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形成下一条微指令地址</a:t>
            </a:r>
            <a:endParaRPr lang="zh-CN" altLang="en-US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914400" y="6248400"/>
            <a:ext cx="800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取指首地址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M → CMAR </a:t>
            </a:r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，读，</a:t>
            </a:r>
            <a:r>
              <a:rPr lang="en-US" altLang="zh-CN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CM (CMAR ) → CMDR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 autoUpdateAnimBg="0"/>
      <p:bldP spid="79" grpId="0" animBg="1" autoUpdateAnimBg="0"/>
      <p:bldP spid="81" grpId="0" animBg="1" autoUpdateAnimBg="0"/>
      <p:bldP spid="82" grpId="0" animBg="1" autoUpdateAnimBg="0"/>
      <p:bldP spid="20" grpId="0" animBg="1" autoUpdateAnimBg="0"/>
      <p:bldP spid="21" grpId="0" animBg="1" autoUpdateAnimBg="0"/>
      <p:bldP spid="24" grpId="0" animBg="1" autoUpdateAnimBg="0"/>
      <p:bldP spid="25" grpId="0" animBg="1" autoUpdateAnimBg="0"/>
      <p:bldP spid="28" grpId="0" animBg="1" autoUpdateAnimBg="0"/>
      <p:bldP spid="29" grpId="0" animBg="1" autoUpdateAnimBg="0"/>
      <p:bldP spid="36" grpId="0" animBg="1" autoUpdateAnimBg="0"/>
      <p:bldP spid="37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838200" y="1073219"/>
            <a:ext cx="8153400" cy="56323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微程序控制器的设计步骤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（前五步骤与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相同！）</a:t>
            </a: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步骤一  拟定指令系统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逻辑依据：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给出控制器设计的总体需求）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步骤二  确定总体结构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空间安排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：给出控制器组成部件及通路）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步骤三  拟定时序系统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>
                <a:solidFill>
                  <a:srgbClr val="990033"/>
                </a:solidFill>
                <a:latin typeface="微软雅黑" pitchFamily="34" charset="-122"/>
                <a:ea typeface="微软雅黑" pitchFamily="34" charset="-122"/>
              </a:rPr>
              <a:t>时间安排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：给出控制信号发送时间依据）            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步骤四  拟定指令流程图（合并了步骤一、步骤三）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分析每条指令的执行步骤，按时间顺序，画出指令流程图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（即：一条指令执行过程中，什么时间完成什么操作。）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步骤五  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编制微操作命令时间表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（合并了步骤二、步骤四）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将指令流程中的操作落实到由哪个部件完成，给出时间表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步骤五  确定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微指令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格式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设置微指令编码方式，后继微指令地址的形成方式等。</a:t>
            </a:r>
          </a:p>
          <a:p>
            <a:pPr algn="l">
              <a:tabLst>
                <a:tab pos="228600" algn="l"/>
              </a:tabLst>
            </a:pP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步骤六  为每条指令编写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</a:p>
          <a:p>
            <a:pPr algn="l">
              <a:tabLst>
                <a:tab pos="228600" algn="l"/>
              </a:tabLst>
            </a:pP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根据微操作命令时间表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编写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微程序，存入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控制存储器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228600" y="2819400"/>
            <a:ext cx="8686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457200" y="19050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457200" y="22098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457200" y="25146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304800" y="4953000"/>
            <a:ext cx="8686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57200" y="31242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457200" y="43434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457200" y="52578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57200" y="6172200"/>
            <a:ext cx="304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4419600"/>
            <a:ext cx="8458200" cy="2209800"/>
            <a:chOff x="480" y="2784"/>
            <a:chExt cx="4992" cy="1392"/>
          </a:xfrm>
        </p:grpSpPr>
        <p:sp>
          <p:nvSpPr>
            <p:cNvPr id="36869" name="Rectangle 3"/>
            <p:cNvSpPr>
              <a:spLocks noChangeArrowheads="1"/>
            </p:cNvSpPr>
            <p:nvPr/>
          </p:nvSpPr>
          <p:spPr bwMode="auto">
            <a:xfrm>
              <a:off x="3005" y="2784"/>
              <a:ext cx="2443" cy="177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　　　　　</a:t>
              </a: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写控制</a:t>
              </a:r>
            </a:p>
          </p:txBody>
        </p:sp>
        <p:sp>
          <p:nvSpPr>
            <p:cNvPr id="36870" name="Rectangle 4"/>
            <p:cNvSpPr>
              <a:spLocks noChangeArrowheads="1"/>
            </p:cNvSpPr>
            <p:nvPr/>
          </p:nvSpPr>
          <p:spPr bwMode="auto">
            <a:xfrm>
              <a:off x="480" y="2784"/>
              <a:ext cx="2525" cy="177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　　　　　</a:t>
              </a: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读控制</a:t>
              </a:r>
            </a:p>
          </p:txBody>
        </p:sp>
        <p:sp>
          <p:nvSpPr>
            <p:cNvPr id="36871" name="Line 5"/>
            <p:cNvSpPr>
              <a:spLocks noChangeShapeType="1"/>
            </p:cNvSpPr>
            <p:nvPr/>
          </p:nvSpPr>
          <p:spPr bwMode="auto">
            <a:xfrm>
              <a:off x="504" y="2784"/>
              <a:ext cx="4968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72" name="Line 6"/>
            <p:cNvSpPr>
              <a:spLocks noChangeShapeType="1"/>
            </p:cNvSpPr>
            <p:nvPr/>
          </p:nvSpPr>
          <p:spPr bwMode="auto">
            <a:xfrm>
              <a:off x="480" y="2961"/>
              <a:ext cx="4968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73" name="Line 7"/>
            <p:cNvSpPr>
              <a:spLocks noChangeShapeType="1"/>
            </p:cNvSpPr>
            <p:nvPr/>
          </p:nvSpPr>
          <p:spPr bwMode="auto">
            <a:xfrm>
              <a:off x="480" y="2784"/>
              <a:ext cx="0" cy="17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74" name="Line 8"/>
            <p:cNvSpPr>
              <a:spLocks noChangeShapeType="1"/>
            </p:cNvSpPr>
            <p:nvPr/>
          </p:nvSpPr>
          <p:spPr bwMode="auto">
            <a:xfrm>
              <a:off x="5472" y="2784"/>
              <a:ext cx="0" cy="17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75" name="Line 9"/>
            <p:cNvSpPr>
              <a:spLocks noChangeShapeType="1"/>
            </p:cNvSpPr>
            <p:nvPr/>
          </p:nvSpPr>
          <p:spPr bwMode="auto">
            <a:xfrm>
              <a:off x="3005" y="2784"/>
              <a:ext cx="0" cy="17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76" name="Rectangle 10"/>
            <p:cNvSpPr>
              <a:spLocks noChangeArrowheads="1"/>
            </p:cNvSpPr>
            <p:nvPr/>
          </p:nvSpPr>
          <p:spPr bwMode="auto">
            <a:xfrm>
              <a:off x="4851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选择</a:t>
              </a:r>
            </a:p>
          </p:txBody>
        </p:sp>
        <p:sp>
          <p:nvSpPr>
            <p:cNvPr id="36877" name="Rectangle 11"/>
            <p:cNvSpPr>
              <a:spLocks noChangeArrowheads="1"/>
            </p:cNvSpPr>
            <p:nvPr/>
          </p:nvSpPr>
          <p:spPr bwMode="auto">
            <a:xfrm>
              <a:off x="4230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WA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878" name="Rectangle 12"/>
            <p:cNvSpPr>
              <a:spLocks noChangeArrowheads="1"/>
            </p:cNvSpPr>
            <p:nvPr/>
          </p:nvSpPr>
          <p:spPr bwMode="auto">
            <a:xfrm>
              <a:off x="3609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WA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879" name="Rectangle 13"/>
            <p:cNvSpPr>
              <a:spLocks noChangeArrowheads="1"/>
            </p:cNvSpPr>
            <p:nvPr/>
          </p:nvSpPr>
          <p:spPr bwMode="auto">
            <a:xfrm>
              <a:off x="2988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W</a:t>
              </a:r>
            </a:p>
          </p:txBody>
        </p:sp>
        <p:sp>
          <p:nvSpPr>
            <p:cNvPr id="36880" name="Rectangle 14"/>
            <p:cNvSpPr>
              <a:spLocks noChangeArrowheads="1"/>
            </p:cNvSpPr>
            <p:nvPr/>
          </p:nvSpPr>
          <p:spPr bwMode="auto">
            <a:xfrm>
              <a:off x="2367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选择</a:t>
              </a:r>
            </a:p>
          </p:txBody>
        </p:sp>
        <p:sp>
          <p:nvSpPr>
            <p:cNvPr id="36881" name="Rectangle 15"/>
            <p:cNvSpPr>
              <a:spLocks noChangeArrowheads="1"/>
            </p:cNvSpPr>
            <p:nvPr/>
          </p:nvSpPr>
          <p:spPr bwMode="auto">
            <a:xfrm>
              <a:off x="1746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882" name="Rectangle 16"/>
            <p:cNvSpPr>
              <a:spLocks noChangeArrowheads="1"/>
            </p:cNvSpPr>
            <p:nvPr/>
          </p:nvSpPr>
          <p:spPr bwMode="auto">
            <a:xfrm>
              <a:off x="1125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883" name="Rectangle 17"/>
            <p:cNvSpPr>
              <a:spLocks noChangeArrowheads="1"/>
            </p:cNvSpPr>
            <p:nvPr/>
          </p:nvSpPr>
          <p:spPr bwMode="auto">
            <a:xfrm>
              <a:off x="504" y="2961"/>
              <a:ext cx="621" cy="25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</a:p>
          </p:txBody>
        </p:sp>
        <p:sp>
          <p:nvSpPr>
            <p:cNvPr id="36884" name="Line 18"/>
            <p:cNvSpPr>
              <a:spLocks noChangeShapeType="1"/>
            </p:cNvSpPr>
            <p:nvPr/>
          </p:nvSpPr>
          <p:spPr bwMode="auto">
            <a:xfrm>
              <a:off x="504" y="2961"/>
              <a:ext cx="4968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85" name="Line 19"/>
            <p:cNvSpPr>
              <a:spLocks noChangeShapeType="1"/>
            </p:cNvSpPr>
            <p:nvPr/>
          </p:nvSpPr>
          <p:spPr bwMode="auto">
            <a:xfrm>
              <a:off x="504" y="3214"/>
              <a:ext cx="4968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86" name="Line 20"/>
            <p:cNvSpPr>
              <a:spLocks noChangeShapeType="1"/>
            </p:cNvSpPr>
            <p:nvPr/>
          </p:nvSpPr>
          <p:spPr bwMode="auto">
            <a:xfrm>
              <a:off x="504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87" name="Line 21"/>
            <p:cNvSpPr>
              <a:spLocks noChangeShapeType="1"/>
            </p:cNvSpPr>
            <p:nvPr/>
          </p:nvSpPr>
          <p:spPr bwMode="auto">
            <a:xfrm>
              <a:off x="5472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88" name="Line 22"/>
            <p:cNvSpPr>
              <a:spLocks noChangeShapeType="1"/>
            </p:cNvSpPr>
            <p:nvPr/>
          </p:nvSpPr>
          <p:spPr bwMode="auto">
            <a:xfrm>
              <a:off x="1125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89" name="Line 23"/>
            <p:cNvSpPr>
              <a:spLocks noChangeShapeType="1"/>
            </p:cNvSpPr>
            <p:nvPr/>
          </p:nvSpPr>
          <p:spPr bwMode="auto">
            <a:xfrm>
              <a:off x="1746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90" name="Line 24"/>
            <p:cNvSpPr>
              <a:spLocks noChangeShapeType="1"/>
            </p:cNvSpPr>
            <p:nvPr/>
          </p:nvSpPr>
          <p:spPr bwMode="auto">
            <a:xfrm>
              <a:off x="2367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91" name="Line 25"/>
            <p:cNvSpPr>
              <a:spLocks noChangeShapeType="1"/>
            </p:cNvSpPr>
            <p:nvPr/>
          </p:nvSpPr>
          <p:spPr bwMode="auto">
            <a:xfrm>
              <a:off x="2988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92" name="Line 26"/>
            <p:cNvSpPr>
              <a:spLocks noChangeShapeType="1"/>
            </p:cNvSpPr>
            <p:nvPr/>
          </p:nvSpPr>
          <p:spPr bwMode="auto">
            <a:xfrm>
              <a:off x="3609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93" name="Line 27"/>
            <p:cNvSpPr>
              <a:spLocks noChangeShapeType="1"/>
            </p:cNvSpPr>
            <p:nvPr/>
          </p:nvSpPr>
          <p:spPr bwMode="auto">
            <a:xfrm>
              <a:off x="4230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94" name="Line 28"/>
            <p:cNvSpPr>
              <a:spLocks noChangeShapeType="1"/>
            </p:cNvSpPr>
            <p:nvPr/>
          </p:nvSpPr>
          <p:spPr bwMode="auto">
            <a:xfrm>
              <a:off x="4851" y="2961"/>
              <a:ext cx="0" cy="25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895" name="Rectangle 29"/>
            <p:cNvSpPr>
              <a:spLocks noChangeArrowheads="1"/>
            </p:cNvSpPr>
            <p:nvPr/>
          </p:nvSpPr>
          <p:spPr bwMode="auto">
            <a:xfrm>
              <a:off x="4849" y="3923"/>
              <a:ext cx="621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不写入</a:t>
              </a:r>
            </a:p>
          </p:txBody>
        </p:sp>
        <p:sp>
          <p:nvSpPr>
            <p:cNvPr id="36896" name="Rectangle 30"/>
            <p:cNvSpPr>
              <a:spLocks noChangeArrowheads="1"/>
            </p:cNvSpPr>
            <p:nvPr/>
          </p:nvSpPr>
          <p:spPr bwMode="auto">
            <a:xfrm>
              <a:off x="4228" y="3923"/>
              <a:ext cx="621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36897" name="Rectangle 31"/>
            <p:cNvSpPr>
              <a:spLocks noChangeArrowheads="1"/>
            </p:cNvSpPr>
            <p:nvPr/>
          </p:nvSpPr>
          <p:spPr bwMode="auto">
            <a:xfrm>
              <a:off x="3607" y="3923"/>
              <a:ext cx="621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36898" name="Rectangle 32"/>
            <p:cNvSpPr>
              <a:spLocks noChangeArrowheads="1"/>
            </p:cNvSpPr>
            <p:nvPr/>
          </p:nvSpPr>
          <p:spPr bwMode="auto">
            <a:xfrm>
              <a:off x="2986" y="3923"/>
              <a:ext cx="621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899" name="Rectangle 33"/>
            <p:cNvSpPr>
              <a:spLocks noChangeArrowheads="1"/>
            </p:cNvSpPr>
            <p:nvPr/>
          </p:nvSpPr>
          <p:spPr bwMode="auto">
            <a:xfrm>
              <a:off x="2376" y="3923"/>
              <a:ext cx="610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不读出</a:t>
              </a:r>
            </a:p>
          </p:txBody>
        </p:sp>
        <p:sp>
          <p:nvSpPr>
            <p:cNvPr id="36900" name="Rectangle 34"/>
            <p:cNvSpPr>
              <a:spLocks noChangeArrowheads="1"/>
            </p:cNvSpPr>
            <p:nvPr/>
          </p:nvSpPr>
          <p:spPr bwMode="auto">
            <a:xfrm>
              <a:off x="1736" y="3923"/>
              <a:ext cx="640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36901" name="Rectangle 35"/>
            <p:cNvSpPr>
              <a:spLocks noChangeArrowheads="1"/>
            </p:cNvSpPr>
            <p:nvPr/>
          </p:nvSpPr>
          <p:spPr bwMode="auto">
            <a:xfrm>
              <a:off x="1125" y="3923"/>
              <a:ext cx="611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36902" name="Rectangle 36"/>
            <p:cNvSpPr>
              <a:spLocks noChangeArrowheads="1"/>
            </p:cNvSpPr>
            <p:nvPr/>
          </p:nvSpPr>
          <p:spPr bwMode="auto">
            <a:xfrm>
              <a:off x="504" y="3923"/>
              <a:ext cx="621" cy="25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03" name="Rectangle 37"/>
            <p:cNvSpPr>
              <a:spLocks noChangeArrowheads="1"/>
            </p:cNvSpPr>
            <p:nvPr/>
          </p:nvSpPr>
          <p:spPr bwMode="auto">
            <a:xfrm>
              <a:off x="4849" y="3746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36904" name="Rectangle 38"/>
            <p:cNvSpPr>
              <a:spLocks noChangeArrowheads="1"/>
            </p:cNvSpPr>
            <p:nvPr/>
          </p:nvSpPr>
          <p:spPr bwMode="auto">
            <a:xfrm>
              <a:off x="4228" y="3746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05" name="Rectangle 39"/>
            <p:cNvSpPr>
              <a:spLocks noChangeArrowheads="1"/>
            </p:cNvSpPr>
            <p:nvPr/>
          </p:nvSpPr>
          <p:spPr bwMode="auto">
            <a:xfrm>
              <a:off x="3607" y="3746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06" name="Rectangle 40"/>
            <p:cNvSpPr>
              <a:spLocks noChangeArrowheads="1"/>
            </p:cNvSpPr>
            <p:nvPr/>
          </p:nvSpPr>
          <p:spPr bwMode="auto">
            <a:xfrm>
              <a:off x="2986" y="3746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07" name="Rectangle 41"/>
            <p:cNvSpPr>
              <a:spLocks noChangeArrowheads="1"/>
            </p:cNvSpPr>
            <p:nvPr/>
          </p:nvSpPr>
          <p:spPr bwMode="auto">
            <a:xfrm>
              <a:off x="2376" y="3746"/>
              <a:ext cx="610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36908" name="Rectangle 42"/>
            <p:cNvSpPr>
              <a:spLocks noChangeArrowheads="1"/>
            </p:cNvSpPr>
            <p:nvPr/>
          </p:nvSpPr>
          <p:spPr bwMode="auto">
            <a:xfrm>
              <a:off x="1736" y="3746"/>
              <a:ext cx="640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09" name="Rectangle 43"/>
            <p:cNvSpPr>
              <a:spLocks noChangeArrowheads="1"/>
            </p:cNvSpPr>
            <p:nvPr/>
          </p:nvSpPr>
          <p:spPr bwMode="auto">
            <a:xfrm>
              <a:off x="1125" y="3746"/>
              <a:ext cx="61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10" name="Rectangle 44"/>
            <p:cNvSpPr>
              <a:spLocks noChangeArrowheads="1"/>
            </p:cNvSpPr>
            <p:nvPr/>
          </p:nvSpPr>
          <p:spPr bwMode="auto">
            <a:xfrm>
              <a:off x="504" y="3746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11" name="Rectangle 45"/>
            <p:cNvSpPr>
              <a:spLocks noChangeArrowheads="1"/>
            </p:cNvSpPr>
            <p:nvPr/>
          </p:nvSpPr>
          <p:spPr bwMode="auto">
            <a:xfrm>
              <a:off x="4849" y="3569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36912" name="Rectangle 46"/>
            <p:cNvSpPr>
              <a:spLocks noChangeArrowheads="1"/>
            </p:cNvSpPr>
            <p:nvPr/>
          </p:nvSpPr>
          <p:spPr bwMode="auto">
            <a:xfrm>
              <a:off x="4228" y="3569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13" name="Rectangle 47"/>
            <p:cNvSpPr>
              <a:spLocks noChangeArrowheads="1"/>
            </p:cNvSpPr>
            <p:nvPr/>
          </p:nvSpPr>
          <p:spPr bwMode="auto">
            <a:xfrm>
              <a:off x="3607" y="3569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14" name="Rectangle 48"/>
            <p:cNvSpPr>
              <a:spLocks noChangeArrowheads="1"/>
            </p:cNvSpPr>
            <p:nvPr/>
          </p:nvSpPr>
          <p:spPr bwMode="auto">
            <a:xfrm>
              <a:off x="2986" y="3569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15" name="Rectangle 49"/>
            <p:cNvSpPr>
              <a:spLocks noChangeArrowheads="1"/>
            </p:cNvSpPr>
            <p:nvPr/>
          </p:nvSpPr>
          <p:spPr bwMode="auto">
            <a:xfrm>
              <a:off x="2376" y="3569"/>
              <a:ext cx="610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36916" name="Rectangle 50"/>
            <p:cNvSpPr>
              <a:spLocks noChangeArrowheads="1"/>
            </p:cNvSpPr>
            <p:nvPr/>
          </p:nvSpPr>
          <p:spPr bwMode="auto">
            <a:xfrm>
              <a:off x="1736" y="3569"/>
              <a:ext cx="640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17" name="Rectangle 51"/>
            <p:cNvSpPr>
              <a:spLocks noChangeArrowheads="1"/>
            </p:cNvSpPr>
            <p:nvPr/>
          </p:nvSpPr>
          <p:spPr bwMode="auto">
            <a:xfrm>
              <a:off x="1125" y="3569"/>
              <a:ext cx="61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18" name="Rectangle 52"/>
            <p:cNvSpPr>
              <a:spLocks noChangeArrowheads="1"/>
            </p:cNvSpPr>
            <p:nvPr/>
          </p:nvSpPr>
          <p:spPr bwMode="auto">
            <a:xfrm>
              <a:off x="504" y="3569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19" name="Rectangle 53"/>
            <p:cNvSpPr>
              <a:spLocks noChangeArrowheads="1"/>
            </p:cNvSpPr>
            <p:nvPr/>
          </p:nvSpPr>
          <p:spPr bwMode="auto">
            <a:xfrm>
              <a:off x="4849" y="3391"/>
              <a:ext cx="621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20" name="Rectangle 54"/>
            <p:cNvSpPr>
              <a:spLocks noChangeArrowheads="1"/>
            </p:cNvSpPr>
            <p:nvPr/>
          </p:nvSpPr>
          <p:spPr bwMode="auto">
            <a:xfrm>
              <a:off x="4228" y="3391"/>
              <a:ext cx="621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21" name="Rectangle 55"/>
            <p:cNvSpPr>
              <a:spLocks noChangeArrowheads="1"/>
            </p:cNvSpPr>
            <p:nvPr/>
          </p:nvSpPr>
          <p:spPr bwMode="auto">
            <a:xfrm>
              <a:off x="3607" y="3391"/>
              <a:ext cx="621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22" name="Rectangle 56"/>
            <p:cNvSpPr>
              <a:spLocks noChangeArrowheads="1"/>
            </p:cNvSpPr>
            <p:nvPr/>
          </p:nvSpPr>
          <p:spPr bwMode="auto">
            <a:xfrm>
              <a:off x="2986" y="3391"/>
              <a:ext cx="621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</a:p>
          </p:txBody>
        </p:sp>
        <p:sp>
          <p:nvSpPr>
            <p:cNvPr id="36923" name="Rectangle 57"/>
            <p:cNvSpPr>
              <a:spLocks noChangeArrowheads="1"/>
            </p:cNvSpPr>
            <p:nvPr/>
          </p:nvSpPr>
          <p:spPr bwMode="auto">
            <a:xfrm>
              <a:off x="2376" y="3391"/>
              <a:ext cx="610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24" name="Rectangle 58"/>
            <p:cNvSpPr>
              <a:spLocks noChangeArrowheads="1"/>
            </p:cNvSpPr>
            <p:nvPr/>
          </p:nvSpPr>
          <p:spPr bwMode="auto">
            <a:xfrm>
              <a:off x="1736" y="3391"/>
              <a:ext cx="640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25" name="Rectangle 59"/>
            <p:cNvSpPr>
              <a:spLocks noChangeArrowheads="1"/>
            </p:cNvSpPr>
            <p:nvPr/>
          </p:nvSpPr>
          <p:spPr bwMode="auto">
            <a:xfrm>
              <a:off x="1125" y="3391"/>
              <a:ext cx="611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26" name="Rectangle 60"/>
            <p:cNvSpPr>
              <a:spLocks noChangeArrowheads="1"/>
            </p:cNvSpPr>
            <p:nvPr/>
          </p:nvSpPr>
          <p:spPr bwMode="auto">
            <a:xfrm>
              <a:off x="504" y="3391"/>
              <a:ext cx="621" cy="178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27" name="Rectangle 61"/>
            <p:cNvSpPr>
              <a:spLocks noChangeArrowheads="1"/>
            </p:cNvSpPr>
            <p:nvPr/>
          </p:nvSpPr>
          <p:spPr bwMode="auto">
            <a:xfrm>
              <a:off x="4849" y="3214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28" name="Rectangle 62"/>
            <p:cNvSpPr>
              <a:spLocks noChangeArrowheads="1"/>
            </p:cNvSpPr>
            <p:nvPr/>
          </p:nvSpPr>
          <p:spPr bwMode="auto">
            <a:xfrm>
              <a:off x="4228" y="3214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29" name="Rectangle 63"/>
            <p:cNvSpPr>
              <a:spLocks noChangeArrowheads="1"/>
            </p:cNvSpPr>
            <p:nvPr/>
          </p:nvSpPr>
          <p:spPr bwMode="auto">
            <a:xfrm>
              <a:off x="3607" y="3214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30" name="Rectangle 64"/>
            <p:cNvSpPr>
              <a:spLocks noChangeArrowheads="1"/>
            </p:cNvSpPr>
            <p:nvPr/>
          </p:nvSpPr>
          <p:spPr bwMode="auto">
            <a:xfrm>
              <a:off x="2986" y="3214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31" name="Rectangle 65"/>
            <p:cNvSpPr>
              <a:spLocks noChangeArrowheads="1"/>
            </p:cNvSpPr>
            <p:nvPr/>
          </p:nvSpPr>
          <p:spPr bwMode="auto">
            <a:xfrm>
              <a:off x="2376" y="3214"/>
              <a:ext cx="610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32" name="Rectangle 66"/>
            <p:cNvSpPr>
              <a:spLocks noChangeArrowheads="1"/>
            </p:cNvSpPr>
            <p:nvPr/>
          </p:nvSpPr>
          <p:spPr bwMode="auto">
            <a:xfrm>
              <a:off x="1736" y="3214"/>
              <a:ext cx="640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33" name="Rectangle 67"/>
            <p:cNvSpPr>
              <a:spLocks noChangeArrowheads="1"/>
            </p:cNvSpPr>
            <p:nvPr/>
          </p:nvSpPr>
          <p:spPr bwMode="auto">
            <a:xfrm>
              <a:off x="1125" y="3214"/>
              <a:ext cx="61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6934" name="Rectangle 68"/>
            <p:cNvSpPr>
              <a:spLocks noChangeArrowheads="1"/>
            </p:cNvSpPr>
            <p:nvPr/>
          </p:nvSpPr>
          <p:spPr bwMode="auto">
            <a:xfrm>
              <a:off x="504" y="3214"/>
              <a:ext cx="621" cy="177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6935" name="Line 69"/>
            <p:cNvSpPr>
              <a:spLocks noChangeShapeType="1"/>
            </p:cNvSpPr>
            <p:nvPr/>
          </p:nvSpPr>
          <p:spPr bwMode="auto">
            <a:xfrm>
              <a:off x="504" y="3214"/>
              <a:ext cx="4966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36" name="Line 70"/>
            <p:cNvSpPr>
              <a:spLocks noChangeShapeType="1"/>
            </p:cNvSpPr>
            <p:nvPr/>
          </p:nvSpPr>
          <p:spPr bwMode="auto">
            <a:xfrm>
              <a:off x="504" y="4176"/>
              <a:ext cx="4966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37" name="Line 71"/>
            <p:cNvSpPr>
              <a:spLocks noChangeShapeType="1"/>
            </p:cNvSpPr>
            <p:nvPr/>
          </p:nvSpPr>
          <p:spPr bwMode="auto">
            <a:xfrm>
              <a:off x="504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38" name="Line 72"/>
            <p:cNvSpPr>
              <a:spLocks noChangeShapeType="1"/>
            </p:cNvSpPr>
            <p:nvPr/>
          </p:nvSpPr>
          <p:spPr bwMode="auto">
            <a:xfrm>
              <a:off x="5470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39" name="Line 73"/>
            <p:cNvSpPr>
              <a:spLocks noChangeShapeType="1"/>
            </p:cNvSpPr>
            <p:nvPr/>
          </p:nvSpPr>
          <p:spPr bwMode="auto">
            <a:xfrm>
              <a:off x="504" y="3391"/>
              <a:ext cx="4966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0" name="Line 74"/>
            <p:cNvSpPr>
              <a:spLocks noChangeShapeType="1"/>
            </p:cNvSpPr>
            <p:nvPr/>
          </p:nvSpPr>
          <p:spPr bwMode="auto">
            <a:xfrm>
              <a:off x="1125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1" name="Line 75"/>
            <p:cNvSpPr>
              <a:spLocks noChangeShapeType="1"/>
            </p:cNvSpPr>
            <p:nvPr/>
          </p:nvSpPr>
          <p:spPr bwMode="auto">
            <a:xfrm>
              <a:off x="1736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2" name="Line 76"/>
            <p:cNvSpPr>
              <a:spLocks noChangeShapeType="1"/>
            </p:cNvSpPr>
            <p:nvPr/>
          </p:nvSpPr>
          <p:spPr bwMode="auto">
            <a:xfrm>
              <a:off x="2376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3" name="Line 77"/>
            <p:cNvSpPr>
              <a:spLocks noChangeShapeType="1"/>
            </p:cNvSpPr>
            <p:nvPr/>
          </p:nvSpPr>
          <p:spPr bwMode="auto">
            <a:xfrm>
              <a:off x="2986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4" name="Line 78"/>
            <p:cNvSpPr>
              <a:spLocks noChangeShapeType="1"/>
            </p:cNvSpPr>
            <p:nvPr/>
          </p:nvSpPr>
          <p:spPr bwMode="auto">
            <a:xfrm>
              <a:off x="3607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5" name="Line 79"/>
            <p:cNvSpPr>
              <a:spLocks noChangeShapeType="1"/>
            </p:cNvSpPr>
            <p:nvPr/>
          </p:nvSpPr>
          <p:spPr bwMode="auto">
            <a:xfrm>
              <a:off x="4228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6" name="Line 80"/>
            <p:cNvSpPr>
              <a:spLocks noChangeShapeType="1"/>
            </p:cNvSpPr>
            <p:nvPr/>
          </p:nvSpPr>
          <p:spPr bwMode="auto">
            <a:xfrm>
              <a:off x="4849" y="3214"/>
              <a:ext cx="0" cy="96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7" name="Line 81"/>
            <p:cNvSpPr>
              <a:spLocks noChangeShapeType="1"/>
            </p:cNvSpPr>
            <p:nvPr/>
          </p:nvSpPr>
          <p:spPr bwMode="auto">
            <a:xfrm>
              <a:off x="504" y="3569"/>
              <a:ext cx="4966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8" name="Line 82"/>
            <p:cNvSpPr>
              <a:spLocks noChangeShapeType="1"/>
            </p:cNvSpPr>
            <p:nvPr/>
          </p:nvSpPr>
          <p:spPr bwMode="auto">
            <a:xfrm>
              <a:off x="504" y="3746"/>
              <a:ext cx="4966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949" name="Line 83"/>
            <p:cNvSpPr>
              <a:spLocks noChangeShapeType="1"/>
            </p:cNvSpPr>
            <p:nvPr/>
          </p:nvSpPr>
          <p:spPr bwMode="auto">
            <a:xfrm>
              <a:off x="504" y="3923"/>
              <a:ext cx="4966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36867" name="Picture 84" descr="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76200"/>
            <a:ext cx="5867400" cy="431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36868" name="Rectangle 85"/>
          <p:cNvSpPr>
            <a:spLocks noChangeArrowheads="1"/>
          </p:cNvSpPr>
          <p:nvPr/>
        </p:nvSpPr>
        <p:spPr bwMode="auto">
          <a:xfrm>
            <a:off x="152400" y="152400"/>
            <a:ext cx="3429000" cy="163121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某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计算机运算器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框图，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其中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ALU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位的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加法器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2000" baseline="-25000" dirty="0" smtClean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,S</a:t>
            </a:r>
            <a:r>
              <a:rPr lang="en-US" altLang="zh-CN" sz="2000" baseline="-25000" dirty="0" smtClean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位暂存器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通用寄存器，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其读写控制见功能表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4" name="Rectangle 26"/>
          <p:cNvSpPr>
            <a:spLocks noChangeArrowheads="1"/>
          </p:cNvSpPr>
          <p:nvPr/>
        </p:nvSpPr>
        <p:spPr bwMode="auto">
          <a:xfrm>
            <a:off x="838200" y="2208213"/>
            <a:ext cx="8153400" cy="4211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RA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RA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读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-R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选择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 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WA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WA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写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-R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选择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寄存器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读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  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W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寄存器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写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</a:t>
            </a:r>
          </a:p>
          <a:p>
            <a:pPr algn="l"/>
            <a:r>
              <a:rPr lang="en-US" altLang="zh-CN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LDS</a:t>
            </a:r>
            <a:r>
              <a:rPr lang="en-US" altLang="zh-CN" sz="1800" b="0" baseline="-30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打入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800" b="0" baseline="-30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 </a:t>
            </a:r>
          </a:p>
          <a:p>
            <a:pPr algn="l"/>
            <a:r>
              <a:rPr lang="en-US" altLang="zh-CN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LDS</a:t>
            </a:r>
            <a:r>
              <a:rPr lang="en-US" altLang="zh-CN" sz="1800" b="0" baseline="-30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打入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 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-ALU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传送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 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/S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-ALU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传送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/S</a:t>
            </a:r>
            <a:r>
              <a:rPr lang="en-US" altLang="zh-CN" sz="1800" b="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,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并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使加法器最低位加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1. 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Reset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              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暂存器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800" b="0" baseline="-30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清零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控制信号 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~</a:t>
            </a:r>
            <a:r>
              <a:rPr lang="zh-CN" altLang="en-US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：		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一段微程序</a:t>
            </a:r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，转入取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指的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控制信号</a:t>
            </a:r>
          </a:p>
          <a:p>
            <a:pPr algn="l"/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求：用二进制代码写出如下指令的微程序：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algn="l"/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(1)  ADD 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 即 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(R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)+(R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)→R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pPr algn="l"/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           (2)  SUB 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 即 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(R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)-(R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)→R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  <a:p>
            <a:pPr algn="l"/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           (3)  MOV 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， 即 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(R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)→(R</a:t>
            </a:r>
            <a:r>
              <a:rPr lang="en-US" altLang="zh-CN" sz="1800" baseline="-30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800" dirty="0"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822325" y="1050925"/>
            <a:ext cx="5578475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例（续）：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微指令字长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位，微指令格式如下：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</a:p>
        </p:txBody>
      </p:sp>
      <p:graphicFrame>
        <p:nvGraphicFramePr>
          <p:cNvPr id="7" name="Group 2"/>
          <p:cNvGraphicFramePr>
            <a:graphicFrameLocks noGrp="1"/>
          </p:cNvGraphicFramePr>
          <p:nvPr/>
        </p:nvGraphicFramePr>
        <p:xfrm>
          <a:off x="76201" y="1600200"/>
          <a:ext cx="8991599" cy="381000"/>
        </p:xfrm>
        <a:graphic>
          <a:graphicData uri="http://schemas.openxmlformats.org/drawingml/2006/table">
            <a:tbl>
              <a:tblPr/>
              <a:tblGrid>
                <a:gridCol w="1165394"/>
                <a:gridCol w="1196805"/>
                <a:gridCol w="457200"/>
                <a:gridCol w="383361"/>
                <a:gridCol w="1140639"/>
                <a:gridCol w="990600"/>
                <a:gridCol w="781416"/>
                <a:gridCol w="818784"/>
                <a:gridCol w="990600"/>
                <a:gridCol w="10668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RA</a:t>
                      </a:r>
                      <a:r>
                        <a:rPr kumimoji="0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RA</a:t>
                      </a:r>
                      <a:r>
                        <a:rPr kumimoji="0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WA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WA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LDS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LDS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加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减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Reset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结束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838200" y="1066800"/>
            <a:ext cx="8077200" cy="2835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解：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画出三条指令的微程序流程图，如下图所示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                                                                                                  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其中未考虑“取指周期”和顺序控制问题，也即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微程序仅考虑“执行周期”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，微指令序列的顺序用数字标号标在每条微指令的右上角。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用二进制代码写出的三条指令的微程序列于下表中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其中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表示代码随意设置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(0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均可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 </a:t>
            </a:r>
          </a:p>
          <a:p>
            <a:pPr algn="l"/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891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568700"/>
            <a:ext cx="7696200" cy="32893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1462088" y="2422525"/>
            <a:ext cx="7300912" cy="396875"/>
          </a:xfrm>
          <a:prstGeom prst="rect">
            <a:avLst/>
          </a:prstGeom>
          <a:solidFill>
            <a:srgbClr val="FF0000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假设：每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一方框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，占用一个时钟周期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，编写一条微指令。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9145" name="Group 137"/>
          <p:cNvGraphicFramePr>
            <a:graphicFrameLocks noGrp="1"/>
          </p:cNvGraphicFramePr>
          <p:nvPr/>
        </p:nvGraphicFramePr>
        <p:xfrm>
          <a:off x="5867400" y="3048000"/>
          <a:ext cx="3124200" cy="3657602"/>
        </p:xfrm>
        <a:graphic>
          <a:graphicData uri="http://schemas.openxmlformats.org/drawingml/2006/table">
            <a:tbl>
              <a:tblPr/>
              <a:tblGrid>
                <a:gridCol w="838200"/>
                <a:gridCol w="2286000"/>
              </a:tblGrid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指令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微程序代码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1192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ADD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00**10100000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01**10010000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**0101001001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1176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SUB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11**10100000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10**10010000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**1101000101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849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MOV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10**10100000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  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**1101001011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152400" y="76200"/>
            <a:ext cx="8763000" cy="2209800"/>
            <a:chOff x="1824" y="1095"/>
            <a:chExt cx="2894" cy="3167"/>
          </a:xfrm>
        </p:grpSpPr>
        <p:sp>
          <p:nvSpPr>
            <p:cNvPr id="39981" name="Rectangle 44"/>
            <p:cNvSpPr>
              <a:spLocks noChangeArrowheads="1"/>
            </p:cNvSpPr>
            <p:nvPr/>
          </p:nvSpPr>
          <p:spPr bwMode="auto">
            <a:xfrm>
              <a:off x="3288" y="1095"/>
              <a:ext cx="1416" cy="40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　　　　　</a:t>
              </a: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写控制</a:t>
              </a:r>
            </a:p>
          </p:txBody>
        </p:sp>
        <p:sp>
          <p:nvSpPr>
            <p:cNvPr id="39982" name="Rectangle 45"/>
            <p:cNvSpPr>
              <a:spLocks noChangeArrowheads="1"/>
            </p:cNvSpPr>
            <p:nvPr/>
          </p:nvSpPr>
          <p:spPr bwMode="auto">
            <a:xfrm>
              <a:off x="1824" y="1095"/>
              <a:ext cx="1464" cy="403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 dirty="0">
                  <a:latin typeface="微软雅黑" pitchFamily="34" charset="-122"/>
                  <a:ea typeface="微软雅黑" pitchFamily="34" charset="-122"/>
                </a:rPr>
                <a:t>　　　　　　　</a:t>
              </a:r>
              <a:r>
                <a:rPr lang="zh-CN" altLang="en-US" sz="1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读控制</a:t>
              </a:r>
            </a:p>
          </p:txBody>
        </p:sp>
        <p:sp>
          <p:nvSpPr>
            <p:cNvPr id="39983" name="Line 46"/>
            <p:cNvSpPr>
              <a:spLocks noChangeShapeType="1"/>
            </p:cNvSpPr>
            <p:nvPr/>
          </p:nvSpPr>
          <p:spPr bwMode="auto">
            <a:xfrm>
              <a:off x="1824" y="1095"/>
              <a:ext cx="288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84" name="Line 47"/>
            <p:cNvSpPr>
              <a:spLocks noChangeShapeType="1"/>
            </p:cNvSpPr>
            <p:nvPr/>
          </p:nvSpPr>
          <p:spPr bwMode="auto">
            <a:xfrm>
              <a:off x="1824" y="1498"/>
              <a:ext cx="288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85" name="Line 48"/>
            <p:cNvSpPr>
              <a:spLocks noChangeShapeType="1"/>
            </p:cNvSpPr>
            <p:nvPr/>
          </p:nvSpPr>
          <p:spPr bwMode="auto">
            <a:xfrm>
              <a:off x="1824" y="1095"/>
              <a:ext cx="0" cy="40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86" name="Line 49"/>
            <p:cNvSpPr>
              <a:spLocks noChangeShapeType="1"/>
            </p:cNvSpPr>
            <p:nvPr/>
          </p:nvSpPr>
          <p:spPr bwMode="auto">
            <a:xfrm>
              <a:off x="4704" y="1095"/>
              <a:ext cx="0" cy="40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87" name="Line 50"/>
            <p:cNvSpPr>
              <a:spLocks noChangeShapeType="1"/>
            </p:cNvSpPr>
            <p:nvPr/>
          </p:nvSpPr>
          <p:spPr bwMode="auto">
            <a:xfrm>
              <a:off x="3288" y="1095"/>
              <a:ext cx="0" cy="403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88" name="Rectangle 51"/>
            <p:cNvSpPr>
              <a:spLocks noChangeArrowheads="1"/>
            </p:cNvSpPr>
            <p:nvPr/>
          </p:nvSpPr>
          <p:spPr bwMode="auto">
            <a:xfrm>
              <a:off x="435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选择</a:t>
              </a:r>
            </a:p>
          </p:txBody>
        </p:sp>
        <p:sp>
          <p:nvSpPr>
            <p:cNvPr id="39989" name="Rectangle 52"/>
            <p:cNvSpPr>
              <a:spLocks noChangeArrowheads="1"/>
            </p:cNvSpPr>
            <p:nvPr/>
          </p:nvSpPr>
          <p:spPr bwMode="auto">
            <a:xfrm>
              <a:off x="399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WA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9990" name="Rectangle 53"/>
            <p:cNvSpPr>
              <a:spLocks noChangeArrowheads="1"/>
            </p:cNvSpPr>
            <p:nvPr/>
          </p:nvSpPr>
          <p:spPr bwMode="auto">
            <a:xfrm>
              <a:off x="363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WA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9991" name="Rectangle 54"/>
            <p:cNvSpPr>
              <a:spLocks noChangeArrowheads="1"/>
            </p:cNvSpPr>
            <p:nvPr/>
          </p:nvSpPr>
          <p:spPr bwMode="auto">
            <a:xfrm>
              <a:off x="327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W</a:t>
              </a:r>
            </a:p>
          </p:txBody>
        </p:sp>
        <p:sp>
          <p:nvSpPr>
            <p:cNvPr id="39992" name="Rectangle 55"/>
            <p:cNvSpPr>
              <a:spLocks noChangeArrowheads="1"/>
            </p:cNvSpPr>
            <p:nvPr/>
          </p:nvSpPr>
          <p:spPr bwMode="auto">
            <a:xfrm>
              <a:off x="291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选择</a:t>
              </a:r>
            </a:p>
          </p:txBody>
        </p:sp>
        <p:sp>
          <p:nvSpPr>
            <p:cNvPr id="39993" name="Rectangle 56"/>
            <p:cNvSpPr>
              <a:spLocks noChangeArrowheads="1"/>
            </p:cNvSpPr>
            <p:nvPr/>
          </p:nvSpPr>
          <p:spPr bwMode="auto">
            <a:xfrm>
              <a:off x="255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9994" name="Rectangle 57"/>
            <p:cNvSpPr>
              <a:spLocks noChangeArrowheads="1"/>
            </p:cNvSpPr>
            <p:nvPr/>
          </p:nvSpPr>
          <p:spPr bwMode="auto">
            <a:xfrm>
              <a:off x="219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RA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39995" name="Rectangle 58"/>
            <p:cNvSpPr>
              <a:spLocks noChangeArrowheads="1"/>
            </p:cNvSpPr>
            <p:nvPr/>
          </p:nvSpPr>
          <p:spPr bwMode="auto">
            <a:xfrm>
              <a:off x="1838" y="1498"/>
              <a:ext cx="360" cy="576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</a:p>
          </p:txBody>
        </p:sp>
        <p:sp>
          <p:nvSpPr>
            <p:cNvPr id="39996" name="Line 59"/>
            <p:cNvSpPr>
              <a:spLocks noChangeShapeType="1"/>
            </p:cNvSpPr>
            <p:nvPr/>
          </p:nvSpPr>
          <p:spPr bwMode="auto">
            <a:xfrm>
              <a:off x="1838" y="1498"/>
              <a:ext cx="288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97" name="Line 60"/>
            <p:cNvSpPr>
              <a:spLocks noChangeShapeType="1"/>
            </p:cNvSpPr>
            <p:nvPr/>
          </p:nvSpPr>
          <p:spPr bwMode="auto">
            <a:xfrm>
              <a:off x="1838" y="2074"/>
              <a:ext cx="2880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98" name="Line 61"/>
            <p:cNvSpPr>
              <a:spLocks noChangeShapeType="1"/>
            </p:cNvSpPr>
            <p:nvPr/>
          </p:nvSpPr>
          <p:spPr bwMode="auto">
            <a:xfrm>
              <a:off x="183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999" name="Line 62"/>
            <p:cNvSpPr>
              <a:spLocks noChangeShapeType="1"/>
            </p:cNvSpPr>
            <p:nvPr/>
          </p:nvSpPr>
          <p:spPr bwMode="auto">
            <a:xfrm>
              <a:off x="471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0" name="Line 63"/>
            <p:cNvSpPr>
              <a:spLocks noChangeShapeType="1"/>
            </p:cNvSpPr>
            <p:nvPr/>
          </p:nvSpPr>
          <p:spPr bwMode="auto">
            <a:xfrm>
              <a:off x="219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1" name="Line 64"/>
            <p:cNvSpPr>
              <a:spLocks noChangeShapeType="1"/>
            </p:cNvSpPr>
            <p:nvPr/>
          </p:nvSpPr>
          <p:spPr bwMode="auto">
            <a:xfrm>
              <a:off x="255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2" name="Line 65"/>
            <p:cNvSpPr>
              <a:spLocks noChangeShapeType="1"/>
            </p:cNvSpPr>
            <p:nvPr/>
          </p:nvSpPr>
          <p:spPr bwMode="auto">
            <a:xfrm>
              <a:off x="291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3" name="Line 66"/>
            <p:cNvSpPr>
              <a:spLocks noChangeShapeType="1"/>
            </p:cNvSpPr>
            <p:nvPr/>
          </p:nvSpPr>
          <p:spPr bwMode="auto">
            <a:xfrm>
              <a:off x="327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4" name="Line 67"/>
            <p:cNvSpPr>
              <a:spLocks noChangeShapeType="1"/>
            </p:cNvSpPr>
            <p:nvPr/>
          </p:nvSpPr>
          <p:spPr bwMode="auto">
            <a:xfrm>
              <a:off x="363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5" name="Line 68"/>
            <p:cNvSpPr>
              <a:spLocks noChangeShapeType="1"/>
            </p:cNvSpPr>
            <p:nvPr/>
          </p:nvSpPr>
          <p:spPr bwMode="auto">
            <a:xfrm>
              <a:off x="399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6" name="Line 69"/>
            <p:cNvSpPr>
              <a:spLocks noChangeShapeType="1"/>
            </p:cNvSpPr>
            <p:nvPr/>
          </p:nvSpPr>
          <p:spPr bwMode="auto">
            <a:xfrm>
              <a:off x="4358" y="1498"/>
              <a:ext cx="0" cy="57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07" name="Rectangle 70"/>
            <p:cNvSpPr>
              <a:spLocks noChangeArrowheads="1"/>
            </p:cNvSpPr>
            <p:nvPr/>
          </p:nvSpPr>
          <p:spPr bwMode="auto">
            <a:xfrm>
              <a:off x="4357" y="3686"/>
              <a:ext cx="360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不写入</a:t>
              </a:r>
            </a:p>
          </p:txBody>
        </p:sp>
        <p:sp>
          <p:nvSpPr>
            <p:cNvPr id="40008" name="Rectangle 71"/>
            <p:cNvSpPr>
              <a:spLocks noChangeArrowheads="1"/>
            </p:cNvSpPr>
            <p:nvPr/>
          </p:nvSpPr>
          <p:spPr bwMode="auto">
            <a:xfrm>
              <a:off x="3997" y="3686"/>
              <a:ext cx="360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40009" name="Rectangle 72"/>
            <p:cNvSpPr>
              <a:spLocks noChangeArrowheads="1"/>
            </p:cNvSpPr>
            <p:nvPr/>
          </p:nvSpPr>
          <p:spPr bwMode="auto">
            <a:xfrm>
              <a:off x="3637" y="3686"/>
              <a:ext cx="360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40010" name="Rectangle 73"/>
            <p:cNvSpPr>
              <a:spLocks noChangeArrowheads="1"/>
            </p:cNvSpPr>
            <p:nvPr/>
          </p:nvSpPr>
          <p:spPr bwMode="auto">
            <a:xfrm>
              <a:off x="3277" y="3686"/>
              <a:ext cx="360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11" name="Rectangle 74"/>
            <p:cNvSpPr>
              <a:spLocks noChangeArrowheads="1"/>
            </p:cNvSpPr>
            <p:nvPr/>
          </p:nvSpPr>
          <p:spPr bwMode="auto">
            <a:xfrm>
              <a:off x="2923" y="3686"/>
              <a:ext cx="354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不读出</a:t>
              </a:r>
            </a:p>
          </p:txBody>
        </p:sp>
        <p:sp>
          <p:nvSpPr>
            <p:cNvPr id="40012" name="Rectangle 75"/>
            <p:cNvSpPr>
              <a:spLocks noChangeArrowheads="1"/>
            </p:cNvSpPr>
            <p:nvPr/>
          </p:nvSpPr>
          <p:spPr bwMode="auto">
            <a:xfrm>
              <a:off x="2552" y="3686"/>
              <a:ext cx="371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40013" name="Rectangle 76"/>
            <p:cNvSpPr>
              <a:spLocks noChangeArrowheads="1"/>
            </p:cNvSpPr>
            <p:nvPr/>
          </p:nvSpPr>
          <p:spPr bwMode="auto">
            <a:xfrm>
              <a:off x="2198" y="3686"/>
              <a:ext cx="354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*</a:t>
              </a:r>
            </a:p>
          </p:txBody>
        </p:sp>
        <p:sp>
          <p:nvSpPr>
            <p:cNvPr id="40014" name="Rectangle 77"/>
            <p:cNvSpPr>
              <a:spLocks noChangeArrowheads="1"/>
            </p:cNvSpPr>
            <p:nvPr/>
          </p:nvSpPr>
          <p:spPr bwMode="auto">
            <a:xfrm>
              <a:off x="1838" y="3686"/>
              <a:ext cx="360" cy="576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15" name="Rectangle 78"/>
            <p:cNvSpPr>
              <a:spLocks noChangeArrowheads="1"/>
            </p:cNvSpPr>
            <p:nvPr/>
          </p:nvSpPr>
          <p:spPr bwMode="auto">
            <a:xfrm>
              <a:off x="4357" y="3283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40016" name="Rectangle 79"/>
            <p:cNvSpPr>
              <a:spLocks noChangeArrowheads="1"/>
            </p:cNvSpPr>
            <p:nvPr/>
          </p:nvSpPr>
          <p:spPr bwMode="auto">
            <a:xfrm>
              <a:off x="3997" y="3283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17" name="Rectangle 80"/>
            <p:cNvSpPr>
              <a:spLocks noChangeArrowheads="1"/>
            </p:cNvSpPr>
            <p:nvPr/>
          </p:nvSpPr>
          <p:spPr bwMode="auto">
            <a:xfrm>
              <a:off x="3637" y="3283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18" name="Rectangle 81"/>
            <p:cNvSpPr>
              <a:spLocks noChangeArrowheads="1"/>
            </p:cNvSpPr>
            <p:nvPr/>
          </p:nvSpPr>
          <p:spPr bwMode="auto">
            <a:xfrm>
              <a:off x="3277" y="3283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19" name="Rectangle 82"/>
            <p:cNvSpPr>
              <a:spLocks noChangeArrowheads="1"/>
            </p:cNvSpPr>
            <p:nvPr/>
          </p:nvSpPr>
          <p:spPr bwMode="auto">
            <a:xfrm>
              <a:off x="2923" y="3283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40020" name="Rectangle 83"/>
            <p:cNvSpPr>
              <a:spLocks noChangeArrowheads="1"/>
            </p:cNvSpPr>
            <p:nvPr/>
          </p:nvSpPr>
          <p:spPr bwMode="auto">
            <a:xfrm>
              <a:off x="2552" y="3283"/>
              <a:ext cx="371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21" name="Rectangle 84"/>
            <p:cNvSpPr>
              <a:spLocks noChangeArrowheads="1"/>
            </p:cNvSpPr>
            <p:nvPr/>
          </p:nvSpPr>
          <p:spPr bwMode="auto">
            <a:xfrm>
              <a:off x="2198" y="3283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22" name="Rectangle 85"/>
            <p:cNvSpPr>
              <a:spLocks noChangeArrowheads="1"/>
            </p:cNvSpPr>
            <p:nvPr/>
          </p:nvSpPr>
          <p:spPr bwMode="auto">
            <a:xfrm>
              <a:off x="1838" y="3283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23" name="Rectangle 86"/>
            <p:cNvSpPr>
              <a:spLocks noChangeArrowheads="1"/>
            </p:cNvSpPr>
            <p:nvPr/>
          </p:nvSpPr>
          <p:spPr bwMode="auto">
            <a:xfrm>
              <a:off x="4357" y="2880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0024" name="Rectangle 87"/>
            <p:cNvSpPr>
              <a:spLocks noChangeArrowheads="1"/>
            </p:cNvSpPr>
            <p:nvPr/>
          </p:nvSpPr>
          <p:spPr bwMode="auto">
            <a:xfrm>
              <a:off x="3997" y="2880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25" name="Rectangle 88"/>
            <p:cNvSpPr>
              <a:spLocks noChangeArrowheads="1"/>
            </p:cNvSpPr>
            <p:nvPr/>
          </p:nvSpPr>
          <p:spPr bwMode="auto">
            <a:xfrm>
              <a:off x="3637" y="2880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26" name="Rectangle 89"/>
            <p:cNvSpPr>
              <a:spLocks noChangeArrowheads="1"/>
            </p:cNvSpPr>
            <p:nvPr/>
          </p:nvSpPr>
          <p:spPr bwMode="auto">
            <a:xfrm>
              <a:off x="3277" y="2880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27" name="Rectangle 90"/>
            <p:cNvSpPr>
              <a:spLocks noChangeArrowheads="1"/>
            </p:cNvSpPr>
            <p:nvPr/>
          </p:nvSpPr>
          <p:spPr bwMode="auto">
            <a:xfrm>
              <a:off x="2923" y="2880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0028" name="Rectangle 91"/>
            <p:cNvSpPr>
              <a:spLocks noChangeArrowheads="1"/>
            </p:cNvSpPr>
            <p:nvPr/>
          </p:nvSpPr>
          <p:spPr bwMode="auto">
            <a:xfrm>
              <a:off x="2552" y="2880"/>
              <a:ext cx="371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29" name="Rectangle 92"/>
            <p:cNvSpPr>
              <a:spLocks noChangeArrowheads="1"/>
            </p:cNvSpPr>
            <p:nvPr/>
          </p:nvSpPr>
          <p:spPr bwMode="auto">
            <a:xfrm>
              <a:off x="2198" y="2880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30" name="Rectangle 93"/>
            <p:cNvSpPr>
              <a:spLocks noChangeArrowheads="1"/>
            </p:cNvSpPr>
            <p:nvPr/>
          </p:nvSpPr>
          <p:spPr bwMode="auto">
            <a:xfrm>
              <a:off x="1838" y="2880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31" name="Rectangle 94"/>
            <p:cNvSpPr>
              <a:spLocks noChangeArrowheads="1"/>
            </p:cNvSpPr>
            <p:nvPr/>
          </p:nvSpPr>
          <p:spPr bwMode="auto">
            <a:xfrm>
              <a:off x="4357" y="2477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32" name="Rectangle 95"/>
            <p:cNvSpPr>
              <a:spLocks noChangeArrowheads="1"/>
            </p:cNvSpPr>
            <p:nvPr/>
          </p:nvSpPr>
          <p:spPr bwMode="auto">
            <a:xfrm>
              <a:off x="3997" y="2477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33" name="Rectangle 96"/>
            <p:cNvSpPr>
              <a:spLocks noChangeArrowheads="1"/>
            </p:cNvSpPr>
            <p:nvPr/>
          </p:nvSpPr>
          <p:spPr bwMode="auto">
            <a:xfrm>
              <a:off x="3637" y="2477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34" name="Rectangle 97"/>
            <p:cNvSpPr>
              <a:spLocks noChangeArrowheads="1"/>
            </p:cNvSpPr>
            <p:nvPr/>
          </p:nvSpPr>
          <p:spPr bwMode="auto">
            <a:xfrm>
              <a:off x="3277" y="2477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</a:p>
          </p:txBody>
        </p:sp>
        <p:sp>
          <p:nvSpPr>
            <p:cNvPr id="40035" name="Rectangle 98"/>
            <p:cNvSpPr>
              <a:spLocks noChangeArrowheads="1"/>
            </p:cNvSpPr>
            <p:nvPr/>
          </p:nvSpPr>
          <p:spPr bwMode="auto">
            <a:xfrm>
              <a:off x="2923" y="2477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36" name="Rectangle 99"/>
            <p:cNvSpPr>
              <a:spLocks noChangeArrowheads="1"/>
            </p:cNvSpPr>
            <p:nvPr/>
          </p:nvSpPr>
          <p:spPr bwMode="auto">
            <a:xfrm>
              <a:off x="2552" y="2477"/>
              <a:ext cx="371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37" name="Rectangle 100"/>
            <p:cNvSpPr>
              <a:spLocks noChangeArrowheads="1"/>
            </p:cNvSpPr>
            <p:nvPr/>
          </p:nvSpPr>
          <p:spPr bwMode="auto">
            <a:xfrm>
              <a:off x="2198" y="2477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38" name="Rectangle 101"/>
            <p:cNvSpPr>
              <a:spLocks noChangeArrowheads="1"/>
            </p:cNvSpPr>
            <p:nvPr/>
          </p:nvSpPr>
          <p:spPr bwMode="auto">
            <a:xfrm>
              <a:off x="1838" y="2477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39" name="Rectangle 102"/>
            <p:cNvSpPr>
              <a:spLocks noChangeArrowheads="1"/>
            </p:cNvSpPr>
            <p:nvPr/>
          </p:nvSpPr>
          <p:spPr bwMode="auto">
            <a:xfrm>
              <a:off x="4357" y="2074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40" name="Rectangle 103"/>
            <p:cNvSpPr>
              <a:spLocks noChangeArrowheads="1"/>
            </p:cNvSpPr>
            <p:nvPr/>
          </p:nvSpPr>
          <p:spPr bwMode="auto">
            <a:xfrm>
              <a:off x="3997" y="2074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41" name="Rectangle 104"/>
            <p:cNvSpPr>
              <a:spLocks noChangeArrowheads="1"/>
            </p:cNvSpPr>
            <p:nvPr/>
          </p:nvSpPr>
          <p:spPr bwMode="auto">
            <a:xfrm>
              <a:off x="3637" y="2074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42" name="Rectangle 105"/>
            <p:cNvSpPr>
              <a:spLocks noChangeArrowheads="1"/>
            </p:cNvSpPr>
            <p:nvPr/>
          </p:nvSpPr>
          <p:spPr bwMode="auto">
            <a:xfrm>
              <a:off x="3277" y="2074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43" name="Rectangle 106"/>
            <p:cNvSpPr>
              <a:spLocks noChangeArrowheads="1"/>
            </p:cNvSpPr>
            <p:nvPr/>
          </p:nvSpPr>
          <p:spPr bwMode="auto">
            <a:xfrm>
              <a:off x="2923" y="2074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00" baseline="-250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44" name="Rectangle 107"/>
            <p:cNvSpPr>
              <a:spLocks noChangeArrowheads="1"/>
            </p:cNvSpPr>
            <p:nvPr/>
          </p:nvSpPr>
          <p:spPr bwMode="auto">
            <a:xfrm>
              <a:off x="2552" y="2074"/>
              <a:ext cx="371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45" name="Rectangle 108"/>
            <p:cNvSpPr>
              <a:spLocks noChangeArrowheads="1"/>
            </p:cNvSpPr>
            <p:nvPr/>
          </p:nvSpPr>
          <p:spPr bwMode="auto">
            <a:xfrm>
              <a:off x="2198" y="2074"/>
              <a:ext cx="354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40046" name="Rectangle 109"/>
            <p:cNvSpPr>
              <a:spLocks noChangeArrowheads="1"/>
            </p:cNvSpPr>
            <p:nvPr/>
          </p:nvSpPr>
          <p:spPr bwMode="auto">
            <a:xfrm>
              <a:off x="1838" y="2074"/>
              <a:ext cx="360" cy="40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l"/>
              <a:r>
                <a:rPr lang="zh-CN" altLang="en-US" sz="1800">
                  <a:latin typeface="微软雅黑" pitchFamily="34" charset="-122"/>
                  <a:ea typeface="微软雅黑" pitchFamily="34" charset="-122"/>
                </a:rPr>
                <a:t>　　</a:t>
              </a:r>
              <a:r>
                <a:rPr lang="en-US" altLang="zh-CN" sz="18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047" name="Line 110"/>
            <p:cNvSpPr>
              <a:spLocks noChangeShapeType="1"/>
            </p:cNvSpPr>
            <p:nvPr/>
          </p:nvSpPr>
          <p:spPr bwMode="auto">
            <a:xfrm>
              <a:off x="1838" y="2074"/>
              <a:ext cx="2879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48" name="Line 111"/>
            <p:cNvSpPr>
              <a:spLocks noChangeShapeType="1"/>
            </p:cNvSpPr>
            <p:nvPr/>
          </p:nvSpPr>
          <p:spPr bwMode="auto">
            <a:xfrm>
              <a:off x="1838" y="4262"/>
              <a:ext cx="2879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49" name="Line 112"/>
            <p:cNvSpPr>
              <a:spLocks noChangeShapeType="1"/>
            </p:cNvSpPr>
            <p:nvPr/>
          </p:nvSpPr>
          <p:spPr bwMode="auto">
            <a:xfrm>
              <a:off x="1838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0" name="Line 113"/>
            <p:cNvSpPr>
              <a:spLocks noChangeShapeType="1"/>
            </p:cNvSpPr>
            <p:nvPr/>
          </p:nvSpPr>
          <p:spPr bwMode="auto">
            <a:xfrm>
              <a:off x="4717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1" name="Line 114"/>
            <p:cNvSpPr>
              <a:spLocks noChangeShapeType="1"/>
            </p:cNvSpPr>
            <p:nvPr/>
          </p:nvSpPr>
          <p:spPr bwMode="auto">
            <a:xfrm>
              <a:off x="1838" y="2477"/>
              <a:ext cx="2879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2" name="Line 115"/>
            <p:cNvSpPr>
              <a:spLocks noChangeShapeType="1"/>
            </p:cNvSpPr>
            <p:nvPr/>
          </p:nvSpPr>
          <p:spPr bwMode="auto">
            <a:xfrm>
              <a:off x="2198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3" name="Line 116"/>
            <p:cNvSpPr>
              <a:spLocks noChangeShapeType="1"/>
            </p:cNvSpPr>
            <p:nvPr/>
          </p:nvSpPr>
          <p:spPr bwMode="auto">
            <a:xfrm>
              <a:off x="2552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4" name="Line 117"/>
            <p:cNvSpPr>
              <a:spLocks noChangeShapeType="1"/>
            </p:cNvSpPr>
            <p:nvPr/>
          </p:nvSpPr>
          <p:spPr bwMode="auto">
            <a:xfrm>
              <a:off x="2923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5" name="Line 118"/>
            <p:cNvSpPr>
              <a:spLocks noChangeShapeType="1"/>
            </p:cNvSpPr>
            <p:nvPr/>
          </p:nvSpPr>
          <p:spPr bwMode="auto">
            <a:xfrm>
              <a:off x="3277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6" name="Line 119"/>
            <p:cNvSpPr>
              <a:spLocks noChangeShapeType="1"/>
            </p:cNvSpPr>
            <p:nvPr/>
          </p:nvSpPr>
          <p:spPr bwMode="auto">
            <a:xfrm>
              <a:off x="3637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7" name="Line 120"/>
            <p:cNvSpPr>
              <a:spLocks noChangeShapeType="1"/>
            </p:cNvSpPr>
            <p:nvPr/>
          </p:nvSpPr>
          <p:spPr bwMode="auto">
            <a:xfrm>
              <a:off x="3997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8" name="Line 121"/>
            <p:cNvSpPr>
              <a:spLocks noChangeShapeType="1"/>
            </p:cNvSpPr>
            <p:nvPr/>
          </p:nvSpPr>
          <p:spPr bwMode="auto">
            <a:xfrm>
              <a:off x="4357" y="2074"/>
              <a:ext cx="0" cy="21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59" name="Line 122"/>
            <p:cNvSpPr>
              <a:spLocks noChangeShapeType="1"/>
            </p:cNvSpPr>
            <p:nvPr/>
          </p:nvSpPr>
          <p:spPr bwMode="auto">
            <a:xfrm>
              <a:off x="1838" y="2880"/>
              <a:ext cx="2879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60" name="Line 123"/>
            <p:cNvSpPr>
              <a:spLocks noChangeShapeType="1"/>
            </p:cNvSpPr>
            <p:nvPr/>
          </p:nvSpPr>
          <p:spPr bwMode="auto">
            <a:xfrm>
              <a:off x="1838" y="3283"/>
              <a:ext cx="2879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061" name="Line 124"/>
            <p:cNvSpPr>
              <a:spLocks noChangeShapeType="1"/>
            </p:cNvSpPr>
            <p:nvPr/>
          </p:nvSpPr>
          <p:spPr bwMode="auto">
            <a:xfrm>
              <a:off x="1838" y="3686"/>
              <a:ext cx="2879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39980" name="Picture 1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048000"/>
            <a:ext cx="5562600" cy="36576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</p:pic>
      <p:graphicFrame>
        <p:nvGraphicFramePr>
          <p:cNvPr id="87" name="Group 2"/>
          <p:cNvGraphicFramePr>
            <a:graphicFrameLocks noGrp="1"/>
          </p:cNvGraphicFramePr>
          <p:nvPr/>
        </p:nvGraphicFramePr>
        <p:xfrm>
          <a:off x="76201" y="2514600"/>
          <a:ext cx="8991599" cy="381000"/>
        </p:xfrm>
        <a:graphic>
          <a:graphicData uri="http://schemas.openxmlformats.org/drawingml/2006/table">
            <a:tbl>
              <a:tblPr/>
              <a:tblGrid>
                <a:gridCol w="1165394"/>
                <a:gridCol w="1196805"/>
                <a:gridCol w="457200"/>
                <a:gridCol w="383361"/>
                <a:gridCol w="1140639"/>
                <a:gridCol w="990600"/>
                <a:gridCol w="781416"/>
                <a:gridCol w="818784"/>
                <a:gridCol w="990600"/>
                <a:gridCol w="10668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RA</a:t>
                      </a:r>
                      <a:r>
                        <a:rPr kumimoji="0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RA</a:t>
                      </a:r>
                      <a:r>
                        <a:rPr kumimoji="0" lang="en-US" altLang="zh-CN" sz="18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WA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WA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W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LDS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LDS</a:t>
                      </a:r>
                      <a:r>
                        <a:rPr kumimoji="0" lang="en-US" altLang="zh-CN" sz="18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加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减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Reset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结束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838200" y="1295400"/>
            <a:ext cx="8032750" cy="46640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微程序设计技术有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静态微程序设计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动态微程序设计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之分。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  静态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对应于一台计算机的所有机器指令，设计一组微程序，一般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无须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 改变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而且也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不好改变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，这种微程序设计技术称为静态微程序设计。 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  动态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当采用</a:t>
            </a:r>
            <a:r>
              <a:rPr lang="en-US" altLang="zh-CN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EPROM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作为控制存储器时，可通过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改变微程序来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改变指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令系统，这种微程序设计技术称为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动态微程序设计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采用动态微程序设计时，微程序可以根据需要加以改变，因而可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在一台机器上实现不同类型的指令系统。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这种技术又称为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仿真其他机器指令系统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，以便扩大机器的功能。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25500" y="2141537"/>
            <a:ext cx="8256588" cy="457200"/>
            <a:chOff x="320" y="1456"/>
            <a:chExt cx="5201" cy="288"/>
          </a:xfrm>
        </p:grpSpPr>
        <p:sp>
          <p:nvSpPr>
            <p:cNvPr id="42006" name="Text Box 3"/>
            <p:cNvSpPr txBox="1">
              <a:spLocks noChangeArrowheads="1"/>
            </p:cNvSpPr>
            <p:nvPr/>
          </p:nvSpPr>
          <p:spPr bwMode="auto">
            <a:xfrm>
              <a:off x="2972" y="1480"/>
              <a:ext cx="118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取第 </a:t>
              </a:r>
              <a:r>
                <a:rPr kumimoji="1" lang="en-US" altLang="zh-CN" sz="1600" i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kumimoji="1" lang="en-US" altLang="zh-CN" sz="16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+1</a:t>
              </a:r>
              <a:r>
                <a:rPr kumimoji="1" lang="en-US" altLang="zh-CN" sz="16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条微指令</a:t>
              </a:r>
            </a:p>
          </p:txBody>
        </p:sp>
        <p:sp>
          <p:nvSpPr>
            <p:cNvPr id="42007" name="Rectangle 4"/>
            <p:cNvSpPr>
              <a:spLocks noChangeArrowheads="1"/>
            </p:cNvSpPr>
            <p:nvPr/>
          </p:nvSpPr>
          <p:spPr bwMode="auto">
            <a:xfrm>
              <a:off x="2920" y="1456"/>
              <a:ext cx="1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008" name="Text Box 5"/>
            <p:cNvSpPr txBox="1">
              <a:spLocks noChangeArrowheads="1"/>
            </p:cNvSpPr>
            <p:nvPr/>
          </p:nvSpPr>
          <p:spPr bwMode="auto">
            <a:xfrm>
              <a:off x="1677" y="1480"/>
              <a:ext cx="113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执行第</a:t>
              </a:r>
              <a:r>
                <a:rPr kumimoji="1" lang="zh-CN" altLang="en-US" sz="160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en-US" altLang="zh-CN" sz="1600" i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kumimoji="1" lang="en-US" altLang="zh-CN" sz="16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条微指令</a:t>
              </a:r>
            </a:p>
          </p:txBody>
        </p:sp>
        <p:sp>
          <p:nvSpPr>
            <p:cNvPr id="42009" name="Rectangle 6"/>
            <p:cNvSpPr>
              <a:spLocks noChangeArrowheads="1"/>
            </p:cNvSpPr>
            <p:nvPr/>
          </p:nvSpPr>
          <p:spPr bwMode="auto">
            <a:xfrm>
              <a:off x="1624" y="1456"/>
              <a:ext cx="1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010" name="Rectangle 7"/>
            <p:cNvSpPr>
              <a:spLocks noChangeArrowheads="1"/>
            </p:cNvSpPr>
            <p:nvPr/>
          </p:nvSpPr>
          <p:spPr bwMode="auto">
            <a:xfrm>
              <a:off x="320" y="1456"/>
              <a:ext cx="1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011" name="Text Box 8"/>
            <p:cNvSpPr txBox="1">
              <a:spLocks noChangeArrowheads="1"/>
            </p:cNvSpPr>
            <p:nvPr/>
          </p:nvSpPr>
          <p:spPr bwMode="auto">
            <a:xfrm>
              <a:off x="430" y="1480"/>
              <a:ext cx="100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取第</a:t>
              </a:r>
              <a:r>
                <a:rPr kumimoji="1" lang="zh-CN" altLang="en-US" sz="1600" i="1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en-US" altLang="zh-CN" sz="1600" i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kumimoji="1" lang="en-US" altLang="zh-CN" sz="16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条微指令</a:t>
              </a:r>
            </a:p>
          </p:txBody>
        </p:sp>
        <p:sp>
          <p:nvSpPr>
            <p:cNvPr id="42012" name="Rectangle 9"/>
            <p:cNvSpPr>
              <a:spLocks noChangeArrowheads="1"/>
            </p:cNvSpPr>
            <p:nvPr/>
          </p:nvSpPr>
          <p:spPr bwMode="auto">
            <a:xfrm>
              <a:off x="4216" y="1456"/>
              <a:ext cx="1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013" name="Text Box 10"/>
            <p:cNvSpPr txBox="1">
              <a:spLocks noChangeArrowheads="1"/>
            </p:cNvSpPr>
            <p:nvPr/>
          </p:nvSpPr>
          <p:spPr bwMode="auto">
            <a:xfrm>
              <a:off x="4207" y="1480"/>
              <a:ext cx="131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执行第 </a:t>
              </a:r>
              <a:r>
                <a:rPr kumimoji="1" lang="en-US" altLang="zh-CN" sz="1600" i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kumimoji="1" lang="en-US" altLang="zh-CN" sz="160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+1 </a:t>
              </a:r>
              <a:r>
                <a:rPr kumimoji="1" lang="zh-CN" altLang="en-US" sz="1600">
                  <a:latin typeface="微软雅黑" pitchFamily="34" charset="-122"/>
                  <a:ea typeface="微软雅黑" pitchFamily="34" charset="-122"/>
                </a:rPr>
                <a:t>条微指令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838200" y="4173537"/>
            <a:ext cx="8304213" cy="1371600"/>
            <a:chOff x="328" y="2736"/>
            <a:chExt cx="5231" cy="864"/>
          </a:xfrm>
        </p:grpSpPr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632" y="2736"/>
              <a:ext cx="1304" cy="288"/>
              <a:chOff x="1584" y="1392"/>
              <a:chExt cx="1304" cy="288"/>
            </a:xfrm>
          </p:grpSpPr>
          <p:sp>
            <p:nvSpPr>
              <p:cNvPr id="42004" name="Text Box 13"/>
              <p:cNvSpPr txBox="1">
                <a:spLocks noChangeArrowheads="1"/>
              </p:cNvSpPr>
              <p:nvPr/>
            </p:nvSpPr>
            <p:spPr bwMode="auto">
              <a:xfrm>
                <a:off x="1637" y="1416"/>
                <a:ext cx="113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600">
                    <a:latin typeface="微软雅黑" pitchFamily="34" charset="-122"/>
                    <a:ea typeface="微软雅黑" pitchFamily="34" charset="-122"/>
                  </a:rPr>
                  <a:t>执行第 </a:t>
                </a:r>
                <a:r>
                  <a:rPr kumimoji="1" lang="en-US" altLang="zh-CN" sz="1600" i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  <a:r>
                  <a:rPr kumimoji="1" lang="en-US" altLang="zh-CN" sz="16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kumimoji="1" lang="zh-CN" altLang="en-US" sz="1600">
                    <a:latin typeface="微软雅黑" pitchFamily="34" charset="-122"/>
                    <a:ea typeface="微软雅黑" pitchFamily="34" charset="-122"/>
                  </a:rPr>
                  <a:t>条微指令</a:t>
                </a:r>
              </a:p>
            </p:txBody>
          </p:sp>
          <p:sp>
            <p:nvSpPr>
              <p:cNvPr id="42005" name="Rectangle 14"/>
              <p:cNvSpPr>
                <a:spLocks noChangeArrowheads="1"/>
              </p:cNvSpPr>
              <p:nvPr/>
            </p:nvSpPr>
            <p:spPr bwMode="auto">
              <a:xfrm>
                <a:off x="1584" y="1392"/>
                <a:ext cx="130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328" y="2736"/>
              <a:ext cx="1304" cy="288"/>
              <a:chOff x="280" y="1392"/>
              <a:chExt cx="1304" cy="288"/>
            </a:xfrm>
          </p:grpSpPr>
          <p:sp>
            <p:nvSpPr>
              <p:cNvPr id="42002" name="Rectangle 16"/>
              <p:cNvSpPr>
                <a:spLocks noChangeArrowheads="1"/>
              </p:cNvSpPr>
              <p:nvPr/>
            </p:nvSpPr>
            <p:spPr bwMode="auto">
              <a:xfrm>
                <a:off x="280" y="1392"/>
                <a:ext cx="130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003" name="Text Box 17"/>
              <p:cNvSpPr txBox="1">
                <a:spLocks noChangeArrowheads="1"/>
              </p:cNvSpPr>
              <p:nvPr/>
            </p:nvSpPr>
            <p:spPr bwMode="auto">
              <a:xfrm>
                <a:off x="390" y="1416"/>
                <a:ext cx="1007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600">
                    <a:latin typeface="微软雅黑" pitchFamily="34" charset="-122"/>
                    <a:ea typeface="微软雅黑" pitchFamily="34" charset="-122"/>
                  </a:rPr>
                  <a:t>取第 </a:t>
                </a:r>
                <a:r>
                  <a:rPr kumimoji="1" lang="en-US" altLang="zh-CN" sz="1600" i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  <a:r>
                  <a:rPr kumimoji="1" lang="en-US" altLang="zh-CN" sz="16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kumimoji="1" lang="zh-CN" altLang="en-US" sz="1600">
                    <a:latin typeface="微软雅黑" pitchFamily="34" charset="-122"/>
                    <a:ea typeface="微软雅黑" pitchFamily="34" charset="-122"/>
                  </a:rPr>
                  <a:t>条微指令</a:t>
                </a:r>
              </a:p>
            </p:txBody>
          </p:sp>
        </p:grpSp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1632" y="3024"/>
              <a:ext cx="1304" cy="288"/>
              <a:chOff x="2880" y="1392"/>
              <a:chExt cx="1304" cy="288"/>
            </a:xfrm>
          </p:grpSpPr>
          <p:sp>
            <p:nvSpPr>
              <p:cNvPr id="42000" name="Text Box 19"/>
              <p:cNvSpPr txBox="1">
                <a:spLocks noChangeArrowheads="1"/>
              </p:cNvSpPr>
              <p:nvPr/>
            </p:nvSpPr>
            <p:spPr bwMode="auto">
              <a:xfrm>
                <a:off x="2948" y="1416"/>
                <a:ext cx="1185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600">
                    <a:latin typeface="微软雅黑" pitchFamily="34" charset="-122"/>
                    <a:ea typeface="微软雅黑" pitchFamily="34" charset="-122"/>
                  </a:rPr>
                  <a:t>取第 </a:t>
                </a:r>
                <a:r>
                  <a:rPr kumimoji="1" lang="en-US" altLang="zh-CN" sz="1600" i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  <a:r>
                  <a:rPr kumimoji="1" lang="en-US" altLang="zh-CN" sz="160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+1</a:t>
                </a:r>
                <a:r>
                  <a:rPr kumimoji="1" lang="en-US" altLang="zh-CN" sz="1600"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kumimoji="1" lang="zh-CN" altLang="en-US" sz="1600">
                    <a:latin typeface="微软雅黑" pitchFamily="34" charset="-122"/>
                    <a:ea typeface="微软雅黑" pitchFamily="34" charset="-122"/>
                  </a:rPr>
                  <a:t>条微指令</a:t>
                </a:r>
              </a:p>
            </p:txBody>
          </p:sp>
          <p:sp>
            <p:nvSpPr>
              <p:cNvPr id="42001" name="Rectangle 20"/>
              <p:cNvSpPr>
                <a:spLocks noChangeArrowheads="1"/>
              </p:cNvSpPr>
              <p:nvPr/>
            </p:nvSpPr>
            <p:spPr bwMode="auto">
              <a:xfrm>
                <a:off x="2880" y="1392"/>
                <a:ext cx="1304" cy="2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41994" name="Rectangle 21"/>
            <p:cNvSpPr>
              <a:spLocks noChangeArrowheads="1"/>
            </p:cNvSpPr>
            <p:nvPr/>
          </p:nvSpPr>
          <p:spPr bwMode="auto">
            <a:xfrm>
              <a:off x="2928" y="3024"/>
              <a:ext cx="1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995" name="Text Box 22"/>
            <p:cNvSpPr txBox="1">
              <a:spLocks noChangeArrowheads="1"/>
            </p:cNvSpPr>
            <p:nvPr/>
          </p:nvSpPr>
          <p:spPr bwMode="auto">
            <a:xfrm>
              <a:off x="2911" y="3048"/>
              <a:ext cx="135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600" dirty="0" smtClean="0">
                  <a:latin typeface="微软雅黑" pitchFamily="34" charset="-122"/>
                  <a:ea typeface="微软雅黑" pitchFamily="34" charset="-122"/>
                </a:rPr>
                <a:t> 执行</a:t>
              </a:r>
              <a:r>
                <a:rPr kumimoji="1" lang="zh-CN" altLang="en-US" sz="1600" dirty="0">
                  <a:latin typeface="微软雅黑" pitchFamily="34" charset="-122"/>
                  <a:ea typeface="微软雅黑" pitchFamily="34" charset="-122"/>
                </a:rPr>
                <a:t>第 </a:t>
              </a:r>
              <a:r>
                <a:rPr kumimoji="1" lang="en-US" altLang="zh-CN" sz="1600" i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kumimoji="1" lang="en-US" altLang="zh-CN" sz="160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+1</a:t>
              </a:r>
              <a:r>
                <a:rPr kumimoji="1" lang="en-US" altLang="zh-CN" sz="1600" dirty="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600" dirty="0">
                  <a:latin typeface="微软雅黑" pitchFamily="34" charset="-122"/>
                  <a:ea typeface="微软雅黑" pitchFamily="34" charset="-122"/>
                </a:rPr>
                <a:t>条微指令</a:t>
              </a:r>
            </a:p>
          </p:txBody>
        </p:sp>
        <p:sp>
          <p:nvSpPr>
            <p:cNvPr id="41996" name="Text Box 23"/>
            <p:cNvSpPr txBox="1">
              <a:spLocks noChangeArrowheads="1"/>
            </p:cNvSpPr>
            <p:nvPr/>
          </p:nvSpPr>
          <p:spPr bwMode="auto">
            <a:xfrm>
              <a:off x="2972" y="3336"/>
              <a:ext cx="118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600" dirty="0">
                  <a:latin typeface="微软雅黑" pitchFamily="34" charset="-122"/>
                  <a:ea typeface="微软雅黑" pitchFamily="34" charset="-122"/>
                </a:rPr>
                <a:t>取第 </a:t>
              </a:r>
              <a:r>
                <a:rPr kumimoji="1" lang="en-US" altLang="zh-CN" sz="1600" i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kumimoji="1" lang="en-US" altLang="zh-CN" sz="160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+2</a:t>
              </a:r>
              <a:r>
                <a:rPr kumimoji="1" lang="en-US" altLang="zh-CN" sz="16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600" dirty="0">
                  <a:latin typeface="微软雅黑" pitchFamily="34" charset="-122"/>
                  <a:ea typeface="微软雅黑" pitchFamily="34" charset="-122"/>
                </a:rPr>
                <a:t>条微指令</a:t>
              </a:r>
            </a:p>
          </p:txBody>
        </p:sp>
        <p:sp>
          <p:nvSpPr>
            <p:cNvPr id="41997" name="Rectangle 24"/>
            <p:cNvSpPr>
              <a:spLocks noChangeArrowheads="1"/>
            </p:cNvSpPr>
            <p:nvPr/>
          </p:nvSpPr>
          <p:spPr bwMode="auto">
            <a:xfrm>
              <a:off x="2928" y="3312"/>
              <a:ext cx="1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998" name="Rectangle 25"/>
            <p:cNvSpPr>
              <a:spLocks noChangeArrowheads="1"/>
            </p:cNvSpPr>
            <p:nvPr/>
          </p:nvSpPr>
          <p:spPr bwMode="auto">
            <a:xfrm>
              <a:off x="4224" y="3312"/>
              <a:ext cx="130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999" name="Text Box 26"/>
            <p:cNvSpPr txBox="1">
              <a:spLocks noChangeArrowheads="1"/>
            </p:cNvSpPr>
            <p:nvPr/>
          </p:nvSpPr>
          <p:spPr bwMode="auto">
            <a:xfrm>
              <a:off x="4207" y="3336"/>
              <a:ext cx="135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600" dirty="0" smtClean="0">
                  <a:latin typeface="微软雅黑" pitchFamily="34" charset="-122"/>
                  <a:ea typeface="微软雅黑" pitchFamily="34" charset="-122"/>
                </a:rPr>
                <a:t> 执行</a:t>
              </a:r>
              <a:r>
                <a:rPr kumimoji="1" lang="zh-CN" altLang="en-US" sz="1600" dirty="0"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kumimoji="1" lang="zh-CN" altLang="en-US" sz="160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en-US" altLang="zh-CN" sz="1600" i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kumimoji="1" lang="en-US" altLang="zh-CN" sz="160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+2</a:t>
              </a:r>
              <a:r>
                <a:rPr kumimoji="1" lang="en-US" altLang="zh-CN" sz="1600" dirty="0">
                  <a:solidFill>
                    <a:schemeClr val="folHlin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600" dirty="0">
                  <a:latin typeface="微软雅黑" pitchFamily="34" charset="-122"/>
                  <a:ea typeface="微软雅黑" pitchFamily="34" charset="-122"/>
                </a:rPr>
                <a:t>条微指令</a:t>
              </a:r>
            </a:p>
          </p:txBody>
        </p:sp>
      </p:grpSp>
      <p:sp>
        <p:nvSpPr>
          <p:cNvPr id="1008667" name="Text Box 27"/>
          <p:cNvSpPr txBox="1">
            <a:spLocks noChangeArrowheads="1"/>
          </p:cNvSpPr>
          <p:nvPr/>
        </p:nvSpPr>
        <p:spPr bwMode="auto">
          <a:xfrm>
            <a:off x="822325" y="1524000"/>
            <a:ext cx="22383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串行 微程序控制</a:t>
            </a:r>
          </a:p>
        </p:txBody>
      </p:sp>
      <p:sp>
        <p:nvSpPr>
          <p:cNvPr id="1008668" name="Text Box 28"/>
          <p:cNvSpPr txBox="1">
            <a:spLocks noChangeArrowheads="1"/>
          </p:cNvSpPr>
          <p:nvPr/>
        </p:nvSpPr>
        <p:spPr bwMode="auto">
          <a:xfrm>
            <a:off x="762000" y="3560762"/>
            <a:ext cx="2451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1" lang="zh-CN" altLang="en-US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并行 微程序控制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914400" y="381000"/>
            <a:ext cx="7391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8667" grpId="0" autoUpdateAnimBg="0"/>
      <p:bldP spid="100866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3048000"/>
            <a:ext cx="8153400" cy="762000"/>
            <a:chOff x="816" y="1200"/>
            <a:chExt cx="2256" cy="672"/>
          </a:xfrm>
        </p:grpSpPr>
        <p:sp>
          <p:nvSpPr>
            <p:cNvPr id="43013" name="Rectangle 3"/>
            <p:cNvSpPr>
              <a:spLocks noChangeArrowheads="1"/>
            </p:cNvSpPr>
            <p:nvPr/>
          </p:nvSpPr>
          <p:spPr bwMode="auto">
            <a:xfrm>
              <a:off x="816" y="1200"/>
              <a:ext cx="2064" cy="432"/>
            </a:xfrm>
            <a:prstGeom prst="rect">
              <a:avLst/>
            </a:prstGeom>
            <a:gradFill rotWithShape="0">
              <a:gsLst>
                <a:gs pos="0">
                  <a:srgbClr val="9BB4C2"/>
                </a:gs>
                <a:gs pos="50000">
                  <a:srgbClr val="CCECFF"/>
                </a:gs>
                <a:gs pos="100000">
                  <a:srgbClr val="9BB4C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86116" name="Picture 4" descr="cursor"/>
            <p:cNvPicPr>
              <a:picLocks noChangeAspect="1" noChangeArrowheads="1"/>
            </p:cNvPicPr>
            <p:nvPr/>
          </p:nvPicPr>
          <p:blipFill>
            <a:blip r:embed="rId3" cstate="print">
              <a:lum bright="-40000" contrast="-66000"/>
            </a:blip>
            <a:srcRect/>
            <a:stretch>
              <a:fillRect/>
            </a:stretch>
          </p:blipFill>
          <p:spPr bwMode="auto">
            <a:xfrm>
              <a:off x="2688" y="1493"/>
              <a:ext cx="384" cy="379"/>
            </a:xfrm>
            <a:prstGeom prst="rect">
              <a:avLst/>
            </a:prstGeom>
            <a:noFill/>
            <a:effectLst>
              <a:outerShdw dist="107763" dir="18900000" algn="ctr" rotWithShape="0">
                <a:srgbClr val="808080"/>
              </a:outerShdw>
            </a:effectLst>
          </p:spPr>
        </p:pic>
      </p:grp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935038" y="1295400"/>
            <a:ext cx="331533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8.4.1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微程序举例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8.4.2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微操作命令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8.4.3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微指令格式</a:t>
            </a:r>
          </a:p>
          <a:p>
            <a:pPr algn="l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8.4.4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微程序设计</a:t>
            </a:r>
          </a:p>
          <a:p>
            <a:pPr algn="l"/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微程序控制器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14400" y="38100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控制器：微程序设计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51"/>
          <p:cNvSpPr>
            <a:spLocks noChangeArrowheads="1"/>
          </p:cNvSpPr>
          <p:nvPr/>
        </p:nvSpPr>
        <p:spPr bwMode="auto">
          <a:xfrm>
            <a:off x="152400" y="1828800"/>
            <a:ext cx="8991600" cy="609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tIns="0" bIns="0" anchor="ctr">
            <a:spAutoFit/>
          </a:bodyPr>
          <a:lstStyle/>
          <a:p>
            <a:pPr marL="342900" indent="-342900" algn="l" eaLnBrk="0" hangingPunct="0"/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marL="342900" indent="-342900" algn="l" eaLnBrk="0" hangingPunct="0"/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         </a:t>
            </a:r>
            <a:endParaRPr lang="en-US" altLang="zh-CN" sz="20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384" name="Rectangle 95"/>
          <p:cNvSpPr>
            <a:spLocks noChangeArrowheads="1"/>
          </p:cNvSpPr>
          <p:nvPr/>
        </p:nvSpPr>
        <p:spPr bwMode="auto">
          <a:xfrm>
            <a:off x="0" y="1066800"/>
            <a:ext cx="8853488" cy="1311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微程序控制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器</a:t>
            </a:r>
          </a:p>
          <a:p>
            <a:pPr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电路设计规整、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便于扩充与修改指令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，一条指令变动，只需修改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  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对应的微程序即可，无需修改控制器电路。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zh-CN" altLang="en-US" sz="2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缺点：执行速度慢！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Rectangle 5"/>
          <p:cNvSpPr>
            <a:spLocks noChangeArrowheads="1"/>
          </p:cNvSpPr>
          <p:nvPr/>
        </p:nvSpPr>
        <p:spPr bwMode="auto">
          <a:xfrm>
            <a:off x="914400" y="39118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Line 72"/>
          <p:cNvSpPr>
            <a:spLocks noChangeShapeType="1"/>
          </p:cNvSpPr>
          <p:nvPr/>
        </p:nvSpPr>
        <p:spPr bwMode="auto">
          <a:xfrm flipH="1" flipV="1">
            <a:off x="304800" y="3429000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Line 64"/>
          <p:cNvSpPr>
            <a:spLocks noChangeShapeType="1"/>
          </p:cNvSpPr>
          <p:nvPr/>
        </p:nvSpPr>
        <p:spPr bwMode="auto">
          <a:xfrm flipV="1">
            <a:off x="5334000" y="4205049"/>
            <a:ext cx="0" cy="50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75"/>
          <p:cNvSpPr>
            <a:spLocks noChangeShapeType="1"/>
          </p:cNvSpPr>
          <p:nvPr/>
        </p:nvSpPr>
        <p:spPr bwMode="auto">
          <a:xfrm flipV="1">
            <a:off x="6553200" y="4205049"/>
            <a:ext cx="0" cy="508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Rectangle 50"/>
          <p:cNvSpPr>
            <a:spLocks noChangeArrowheads="1"/>
          </p:cNvSpPr>
          <p:nvPr/>
        </p:nvSpPr>
        <p:spPr bwMode="auto">
          <a:xfrm>
            <a:off x="4800600" y="4662249"/>
            <a:ext cx="4191000" cy="533400"/>
          </a:xfrm>
          <a:prstGeom prst="rect">
            <a:avLst/>
          </a:prstGeom>
          <a:solidFill>
            <a:srgbClr val="000099"/>
          </a:solidFill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Rectangle 52"/>
          <p:cNvSpPr>
            <a:spLocks noChangeArrowheads="1"/>
          </p:cNvSpPr>
          <p:nvPr/>
        </p:nvSpPr>
        <p:spPr bwMode="auto">
          <a:xfrm>
            <a:off x="4953000" y="5627449"/>
            <a:ext cx="3962400" cy="71120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控制存储器 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ROM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（存放微程序）</a:t>
            </a:r>
          </a:p>
        </p:txBody>
      </p:sp>
      <p:sp>
        <p:nvSpPr>
          <p:cNvPr id="49" name="Rectangle 54"/>
          <p:cNvSpPr>
            <a:spLocks noChangeArrowheads="1"/>
          </p:cNvSpPr>
          <p:nvPr/>
        </p:nvSpPr>
        <p:spPr bwMode="auto">
          <a:xfrm>
            <a:off x="2590800" y="5678269"/>
            <a:ext cx="1828800" cy="646331"/>
          </a:xfrm>
          <a:prstGeom prst="rect">
            <a:avLst/>
          </a:prstGeom>
          <a:solidFill>
            <a:srgbClr val="000099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控存地址寄存器</a:t>
            </a:r>
            <a:endParaRPr lang="en-US" altLang="zh-CN" sz="1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CMAR</a:t>
            </a:r>
            <a:endParaRPr lang="zh-CN" altLang="en-US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Rectangle 55"/>
          <p:cNvSpPr>
            <a:spLocks noChangeArrowheads="1"/>
          </p:cNvSpPr>
          <p:nvPr/>
        </p:nvSpPr>
        <p:spPr bwMode="auto">
          <a:xfrm>
            <a:off x="4876800" y="4752221"/>
            <a:ext cx="2133600" cy="36933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操作控制</a:t>
            </a:r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字段</a:t>
            </a:r>
          </a:p>
        </p:txBody>
      </p:sp>
      <p:sp>
        <p:nvSpPr>
          <p:cNvPr id="51" name="Rectangle 56"/>
          <p:cNvSpPr>
            <a:spLocks noChangeArrowheads="1"/>
          </p:cNvSpPr>
          <p:nvPr/>
        </p:nvSpPr>
        <p:spPr bwMode="auto">
          <a:xfrm>
            <a:off x="7086600" y="4752221"/>
            <a:ext cx="1828800" cy="36933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顺序控制字段</a:t>
            </a:r>
          </a:p>
        </p:txBody>
      </p:sp>
      <p:sp>
        <p:nvSpPr>
          <p:cNvPr id="52" name="Text Box 57"/>
          <p:cNvSpPr txBox="1">
            <a:spLocks noChangeArrowheads="1"/>
          </p:cNvSpPr>
          <p:nvPr/>
        </p:nvSpPr>
        <p:spPr bwMode="auto">
          <a:xfrm>
            <a:off x="5638800" y="5181600"/>
            <a:ext cx="253787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控存数据寄存器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CMDR</a:t>
            </a:r>
            <a:endParaRPr lang="en-US" altLang="zh-CN" sz="1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61"/>
          <p:cNvSpPr txBox="1">
            <a:spLocks noChangeArrowheads="1"/>
          </p:cNvSpPr>
          <p:nvPr/>
        </p:nvSpPr>
        <p:spPr bwMode="auto">
          <a:xfrm>
            <a:off x="4953000" y="4038600"/>
            <a:ext cx="19812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控制信号</a:t>
            </a:r>
            <a:endParaRPr lang="zh-CN" altLang="en-US" sz="1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Line 62"/>
          <p:cNvSpPr>
            <a:spLocks noChangeShapeType="1"/>
          </p:cNvSpPr>
          <p:nvPr/>
        </p:nvSpPr>
        <p:spPr bwMode="auto">
          <a:xfrm>
            <a:off x="4419600" y="6019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65"/>
          <p:cNvSpPr>
            <a:spLocks noChangeShapeType="1"/>
          </p:cNvSpPr>
          <p:nvPr/>
        </p:nvSpPr>
        <p:spPr bwMode="auto">
          <a:xfrm flipV="1">
            <a:off x="8534400" y="2604849"/>
            <a:ext cx="0" cy="2057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Line 70"/>
          <p:cNvSpPr>
            <a:spLocks noChangeShapeType="1"/>
          </p:cNvSpPr>
          <p:nvPr/>
        </p:nvSpPr>
        <p:spPr bwMode="auto">
          <a:xfrm flipV="1">
            <a:off x="8153400" y="2757249"/>
            <a:ext cx="0" cy="1905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Line 71"/>
          <p:cNvSpPr>
            <a:spLocks noChangeShapeType="1"/>
          </p:cNvSpPr>
          <p:nvPr/>
        </p:nvSpPr>
        <p:spPr bwMode="auto">
          <a:xfrm>
            <a:off x="1828800" y="4205049"/>
            <a:ext cx="76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Line 72"/>
          <p:cNvSpPr>
            <a:spLocks noChangeShapeType="1"/>
          </p:cNvSpPr>
          <p:nvPr/>
        </p:nvSpPr>
        <p:spPr bwMode="auto">
          <a:xfrm flipV="1">
            <a:off x="5337093" y="5195649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Line 73"/>
          <p:cNvSpPr>
            <a:spLocks noChangeShapeType="1"/>
          </p:cNvSpPr>
          <p:nvPr/>
        </p:nvSpPr>
        <p:spPr bwMode="auto">
          <a:xfrm flipV="1">
            <a:off x="8229600" y="5195649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Line 85"/>
          <p:cNvSpPr>
            <a:spLocks noChangeShapeType="1"/>
          </p:cNvSpPr>
          <p:nvPr/>
        </p:nvSpPr>
        <p:spPr bwMode="auto">
          <a:xfrm flipH="1">
            <a:off x="4038600" y="2757249"/>
            <a:ext cx="4114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Line 86"/>
          <p:cNvSpPr>
            <a:spLocks noChangeShapeType="1"/>
          </p:cNvSpPr>
          <p:nvPr/>
        </p:nvSpPr>
        <p:spPr bwMode="auto">
          <a:xfrm flipH="1" flipV="1">
            <a:off x="3124200" y="2604849"/>
            <a:ext cx="5410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 Box 87"/>
          <p:cNvSpPr txBox="1">
            <a:spLocks noChangeArrowheads="1"/>
          </p:cNvSpPr>
          <p:nvPr/>
        </p:nvSpPr>
        <p:spPr bwMode="auto">
          <a:xfrm>
            <a:off x="8153400" y="3034605"/>
            <a:ext cx="457200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顺序</a:t>
            </a:r>
          </a:p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</a:t>
            </a:r>
          </a:p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</a:p>
        </p:txBody>
      </p:sp>
      <p:sp>
        <p:nvSpPr>
          <p:cNvPr id="71" name="Text Box 88"/>
          <p:cNvSpPr txBox="1">
            <a:spLocks noChangeArrowheads="1"/>
          </p:cNvSpPr>
          <p:nvPr/>
        </p:nvSpPr>
        <p:spPr bwMode="auto">
          <a:xfrm>
            <a:off x="8534400" y="2895600"/>
            <a:ext cx="533400" cy="1600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微地址给定方式</a:t>
            </a:r>
          </a:p>
        </p:txBody>
      </p:sp>
      <p:sp>
        <p:nvSpPr>
          <p:cNvPr id="72" name="Line 89"/>
          <p:cNvSpPr>
            <a:spLocks noChangeShapeType="1"/>
          </p:cNvSpPr>
          <p:nvPr/>
        </p:nvSpPr>
        <p:spPr bwMode="auto">
          <a:xfrm>
            <a:off x="1828800" y="4419600"/>
            <a:ext cx="762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Line 90"/>
          <p:cNvSpPr>
            <a:spLocks noChangeShapeType="1"/>
          </p:cNvSpPr>
          <p:nvPr/>
        </p:nvSpPr>
        <p:spPr bwMode="auto">
          <a:xfrm>
            <a:off x="3124200" y="2604849"/>
            <a:ext cx="0" cy="1143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Line 91"/>
          <p:cNvSpPr>
            <a:spLocks noChangeShapeType="1"/>
          </p:cNvSpPr>
          <p:nvPr/>
        </p:nvSpPr>
        <p:spPr bwMode="auto">
          <a:xfrm>
            <a:off x="4038600" y="2757249"/>
            <a:ext cx="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Line 94"/>
          <p:cNvSpPr>
            <a:spLocks noChangeShapeType="1"/>
          </p:cNvSpPr>
          <p:nvPr/>
        </p:nvSpPr>
        <p:spPr bwMode="auto">
          <a:xfrm>
            <a:off x="3505200" y="5105400"/>
            <a:ext cx="0" cy="584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Oval 97"/>
          <p:cNvSpPr>
            <a:spLocks noChangeArrowheads="1"/>
          </p:cNvSpPr>
          <p:nvPr/>
        </p:nvSpPr>
        <p:spPr bwMode="auto">
          <a:xfrm>
            <a:off x="2057400" y="3733800"/>
            <a:ext cx="325437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78" name="Oval 98"/>
          <p:cNvSpPr>
            <a:spLocks noChangeArrowheads="1"/>
          </p:cNvSpPr>
          <p:nvPr/>
        </p:nvSpPr>
        <p:spPr bwMode="auto">
          <a:xfrm>
            <a:off x="3121107" y="5257800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79" name="Oval 99"/>
          <p:cNvSpPr>
            <a:spLocks noChangeArrowheads="1"/>
          </p:cNvSpPr>
          <p:nvPr/>
        </p:nvSpPr>
        <p:spPr bwMode="auto">
          <a:xfrm>
            <a:off x="4492707" y="59576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80" name="Oval 100"/>
          <p:cNvSpPr>
            <a:spLocks noChangeArrowheads="1"/>
          </p:cNvSpPr>
          <p:nvPr/>
        </p:nvSpPr>
        <p:spPr bwMode="auto">
          <a:xfrm>
            <a:off x="4953000" y="51956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81" name="Oval 101"/>
          <p:cNvSpPr>
            <a:spLocks noChangeArrowheads="1"/>
          </p:cNvSpPr>
          <p:nvPr/>
        </p:nvSpPr>
        <p:spPr bwMode="auto">
          <a:xfrm>
            <a:off x="5257800" y="4219098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</p:txBody>
      </p:sp>
      <p:sp>
        <p:nvSpPr>
          <p:cNvPr id="82" name="Oval 102"/>
          <p:cNvSpPr>
            <a:spLocks noChangeArrowheads="1"/>
          </p:cNvSpPr>
          <p:nvPr/>
        </p:nvSpPr>
        <p:spPr bwMode="auto">
          <a:xfrm>
            <a:off x="8455107" y="2528649"/>
            <a:ext cx="460293" cy="519351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</p:txBody>
      </p:sp>
      <p:sp>
        <p:nvSpPr>
          <p:cNvPr id="83" name="Text Box 103"/>
          <p:cNvSpPr txBox="1">
            <a:spLocks noChangeArrowheads="1"/>
          </p:cNvSpPr>
          <p:nvPr/>
        </p:nvSpPr>
        <p:spPr bwMode="auto">
          <a:xfrm>
            <a:off x="4343400" y="5638800"/>
            <a:ext cx="762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访存</a:t>
            </a:r>
          </a:p>
        </p:txBody>
      </p:sp>
      <p:sp>
        <p:nvSpPr>
          <p:cNvPr id="84" name="Rectangle 55"/>
          <p:cNvSpPr>
            <a:spLocks noChangeArrowheads="1"/>
          </p:cNvSpPr>
          <p:nvPr/>
        </p:nvSpPr>
        <p:spPr bwMode="auto">
          <a:xfrm>
            <a:off x="609600" y="3276600"/>
            <a:ext cx="1752600" cy="366713"/>
          </a:xfrm>
          <a:prstGeom prst="rect">
            <a:avLst/>
          </a:prstGeom>
          <a:solidFill>
            <a:srgbClr val="006600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程序计数器</a:t>
            </a:r>
          </a:p>
        </p:txBody>
      </p:sp>
      <p:sp>
        <p:nvSpPr>
          <p:cNvPr id="86" name="Line 72"/>
          <p:cNvSpPr>
            <a:spLocks noChangeShapeType="1"/>
          </p:cNvSpPr>
          <p:nvPr/>
        </p:nvSpPr>
        <p:spPr bwMode="auto">
          <a:xfrm flipV="1">
            <a:off x="609600" y="4334491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Line 72"/>
          <p:cNvSpPr>
            <a:spLocks noChangeShapeType="1"/>
          </p:cNvSpPr>
          <p:nvPr/>
        </p:nvSpPr>
        <p:spPr bwMode="auto">
          <a:xfrm flipV="1">
            <a:off x="609600" y="5172691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Rectangle 58"/>
          <p:cNvSpPr>
            <a:spLocks noChangeArrowheads="1"/>
          </p:cNvSpPr>
          <p:nvPr/>
        </p:nvSpPr>
        <p:spPr bwMode="auto">
          <a:xfrm>
            <a:off x="2590800" y="3786445"/>
            <a:ext cx="1828800" cy="1538883"/>
          </a:xfrm>
          <a:prstGeom prst="rect">
            <a:avLst/>
          </a:prstGeom>
          <a:solidFill>
            <a:srgbClr val="000099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微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en-US" altLang="zh-CN" sz="1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形成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Rectangle 92"/>
          <p:cNvSpPr>
            <a:spLocks noChangeArrowheads="1"/>
          </p:cNvSpPr>
          <p:nvPr/>
        </p:nvSpPr>
        <p:spPr bwMode="auto">
          <a:xfrm>
            <a:off x="990600" y="3892578"/>
            <a:ext cx="457200" cy="1852880"/>
          </a:xfrm>
          <a:prstGeom prst="rect">
            <a:avLst/>
          </a:prstGeom>
          <a:solidFill>
            <a:srgbClr val="006600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lnSpc>
                <a:spcPts val="2800"/>
              </a:lnSpc>
            </a:pP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endParaRPr lang="en-US" altLang="zh-CN" sz="18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ts val="2800"/>
              </a:lnSpc>
            </a:pP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寄存器</a:t>
            </a:r>
            <a:endParaRPr lang="en-US" altLang="zh-CN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Rectangle 92"/>
          <p:cNvSpPr>
            <a:spLocks noChangeArrowheads="1"/>
          </p:cNvSpPr>
          <p:nvPr/>
        </p:nvSpPr>
        <p:spPr bwMode="auto">
          <a:xfrm>
            <a:off x="1447800" y="3886200"/>
            <a:ext cx="457200" cy="92333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操作码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Line 72"/>
          <p:cNvSpPr>
            <a:spLocks noChangeShapeType="1"/>
          </p:cNvSpPr>
          <p:nvPr/>
        </p:nvSpPr>
        <p:spPr bwMode="auto">
          <a:xfrm flipH="1" flipV="1">
            <a:off x="304800" y="6108978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Rectangle 55"/>
          <p:cNvSpPr>
            <a:spLocks noChangeArrowheads="1"/>
          </p:cNvSpPr>
          <p:nvPr/>
        </p:nvSpPr>
        <p:spPr bwMode="auto">
          <a:xfrm>
            <a:off x="685800" y="5955268"/>
            <a:ext cx="1752600" cy="369332"/>
          </a:xfrm>
          <a:prstGeom prst="rect">
            <a:avLst/>
          </a:prstGeom>
          <a:solidFill>
            <a:srgbClr val="006600"/>
          </a:solidFill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地址形成部件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Rectangle 92"/>
          <p:cNvSpPr>
            <a:spLocks noChangeArrowheads="1"/>
          </p:cNvSpPr>
          <p:nvPr/>
        </p:nvSpPr>
        <p:spPr bwMode="auto">
          <a:xfrm>
            <a:off x="1447800" y="4800600"/>
            <a:ext cx="457200" cy="92333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66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8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地址码</a:t>
            </a:r>
            <a:endParaRPr lang="en-US" altLang="zh-CN" sz="18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6" name="直接箭头连接符 95"/>
          <p:cNvCxnSpPr/>
          <p:nvPr/>
        </p:nvCxnSpPr>
        <p:spPr bwMode="auto">
          <a:xfrm>
            <a:off x="-1143000" y="4876800"/>
            <a:ext cx="914400" cy="914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7" name="Line 72"/>
          <p:cNvSpPr>
            <a:spLocks noChangeShapeType="1"/>
          </p:cNvSpPr>
          <p:nvPr/>
        </p:nvSpPr>
        <p:spPr bwMode="auto">
          <a:xfrm>
            <a:off x="1600200" y="5715000"/>
            <a:ext cx="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79" grpId="0"/>
      <p:bldP spid="80" grpId="0"/>
      <p:bldP spid="81" grpId="0"/>
      <p:bldP spid="8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838200" y="1234619"/>
            <a:ext cx="8001000" cy="4708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 控制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存储器（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　控制存储器用来存放全部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指令对应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它是一种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只读存储器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。一旦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微程序固化，机器运行时只读不写。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工作过程：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读出一条微指令，执行一条微指令；</a:t>
            </a:r>
          </a:p>
          <a:p>
            <a:pPr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                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接着又读出下一条微指令，又执行一条微指令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……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控制存储器的字长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就是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微指令字长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</a:t>
            </a: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存储容量视机器的指令系统而定，即取决于微程序的数量。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对控制存储器的要求是速度快，读出周期要短。 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14400" y="39118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838200" y="1193770"/>
            <a:ext cx="8001000" cy="53245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 微数据寄存器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、微地址寄存器</a:t>
            </a:r>
          </a:p>
          <a:p>
            <a:pPr algn="l"/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　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微数据寄存器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存放从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控制存储器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读出的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一条微指令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   微地址寄存器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存放将要访问的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下一条微指令的地址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 地址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转移逻辑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　　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一般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情况下，微指令由控制存储器读出后直接给出下一条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微指令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地址，简称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微地址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，这个微地址就存放在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微地址寄存器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中。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当微程序出现分支时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，意味着微程序出现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条件转移：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通过判别测试字段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和执行部件的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“判别条件”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反馈信息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去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修改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微地址寄存器内容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并新地址读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下一条微指令。</a:t>
            </a:r>
          </a:p>
          <a:p>
            <a:pPr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地址转移逻辑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承担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自动完成修改微地址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的任务。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14400" y="391180"/>
            <a:ext cx="50292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8.4.5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</a:t>
            </a:r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控制器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4"/>
          <p:cNvSpPr>
            <a:spLocks noChangeArrowheads="1"/>
          </p:cNvSpPr>
          <p:nvPr/>
        </p:nvSpPr>
        <p:spPr bwMode="auto">
          <a:xfrm>
            <a:off x="381000" y="1228665"/>
            <a:ext cx="8763000" cy="53245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381000"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控制器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两种设计方法：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组合逻辑设计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微程序设计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381000"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组合逻辑控制器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的设计思想是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采用硬布线逻辑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3810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首先根据指令系统，写出对应所有机器指令的全部微操作及其节拍安排；</a:t>
            </a:r>
          </a:p>
          <a:p>
            <a:pPr indent="381000" algn="l"/>
            <a:r>
              <a:rPr lang="zh-CN" altLang="en-US" sz="2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然后列出操作控制信号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时间表（即输入输出信号的真值表）；</a:t>
            </a:r>
            <a:endParaRPr lang="en-US" altLang="zh-CN" sz="2000" dirty="0" smtClean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endParaRPr lang="zh-CN" altLang="en-US" sz="20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再写出</a:t>
            </a:r>
            <a:r>
              <a:rPr lang="zh-CN" altLang="en-US" sz="2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每一种操作控制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信号与输入信号的逻辑表达式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indent="3810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化简后画出相应的逻辑</a:t>
            </a:r>
            <a:r>
              <a:rPr lang="zh-CN" altLang="en-US" sz="2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电路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微程序控制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器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的设计思想是</a:t>
            </a:r>
            <a:r>
              <a:rPr lang="zh-CN" altLang="en-US" sz="20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采用存储逻辑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3810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首先根据指令系统，写出对应所有机器指令的全部微操作及其节拍安排；</a:t>
            </a:r>
          </a:p>
          <a:p>
            <a:pPr indent="381000" algn="l"/>
            <a:r>
              <a:rPr lang="zh-CN" altLang="en-US" sz="2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然后列出操作控制信号时间表</a:t>
            </a:r>
            <a:r>
              <a:rPr lang="zh-CN" altLang="en-US" sz="2000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000" dirty="0" smtClean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endParaRPr lang="zh-CN" altLang="en-US" sz="2000" dirty="0">
              <a:solidFill>
                <a:srgbClr val="0066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810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再根据微操作的数目，经压缩确定微指令的控制方式、下一地址形成方式、</a:t>
            </a:r>
          </a:p>
          <a:p>
            <a:pPr indent="381000" algn="l"/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微指令格式及微指令字长，</a:t>
            </a:r>
            <a:r>
              <a:rPr lang="zh-CN" altLang="en-US" sz="2000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编写出全部微指令代码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indent="381000" algn="l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完成每条指令的微程序设计后，所有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微程序预存到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中。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563" name="Rectangle 5"/>
          <p:cNvSpPr>
            <a:spLocks noChangeArrowheads="1"/>
          </p:cNvSpPr>
          <p:nvPr/>
        </p:nvSpPr>
        <p:spPr bwMode="auto">
          <a:xfrm>
            <a:off x="838200" y="381000"/>
            <a:ext cx="59436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组合逻辑控制器 与 微程序控制器</a:t>
            </a:r>
          </a:p>
        </p:txBody>
      </p:sp>
      <p:cxnSp>
        <p:nvCxnSpPr>
          <p:cNvPr id="5" name="直接连接符 4"/>
          <p:cNvCxnSpPr/>
          <p:nvPr/>
        </p:nvCxnSpPr>
        <p:spPr bwMode="auto">
          <a:xfrm flipV="1">
            <a:off x="0" y="4038599"/>
            <a:ext cx="9144000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814387" y="333375"/>
            <a:ext cx="482441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复习与作业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827088" y="1203325"/>
            <a:ext cx="801211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复习章节：</a:t>
            </a:r>
          </a:p>
          <a:p>
            <a:pPr algn="l"/>
            <a:endParaRPr lang="zh-CN" altLang="en-US" sz="20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章  控制单元的设计</a:t>
            </a:r>
          </a:p>
          <a:p>
            <a:pPr algn="l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10.2 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微程序设计</a:t>
            </a:r>
          </a:p>
          <a:p>
            <a:pPr algn="l"/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作业：</a:t>
            </a:r>
          </a:p>
          <a:p>
            <a:pPr algn="l"/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P420    9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15</a:t>
            </a:r>
          </a:p>
          <a:p>
            <a:pPr algn="l"/>
            <a:r>
              <a:rPr lang="en-US" altLang="zh-CN" sz="2000"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 algn="l"/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  <a:p>
            <a:pPr algn="l"/>
            <a:endParaRPr lang="en-US" altLang="zh-CN" sz="20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588" name="Picture 4" descr="j02341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45313" y="0"/>
            <a:ext cx="1665287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9997</TotalTime>
  <Words>5729</Words>
  <Application>Microsoft Office PowerPoint</Application>
  <PresentationFormat>全屏显示(4:3)</PresentationFormat>
  <Paragraphs>1344</Paragraphs>
  <Slides>66</Slides>
  <Notes>62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66</vt:i4>
      </vt:variant>
    </vt:vector>
  </HeadingPairs>
  <TitlesOfParts>
    <vt:vector size="69" baseType="lpstr">
      <vt:lpstr>1_默认设计模板</vt:lpstr>
      <vt:lpstr>Clip</vt:lpstr>
      <vt:lpstr>位图图像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wzq</dc:creator>
  <cp:lastModifiedBy>lin</cp:lastModifiedBy>
  <cp:revision>1279</cp:revision>
  <cp:lastPrinted>1601-01-01T00:00:00Z</cp:lastPrinted>
  <dcterms:created xsi:type="dcterms:W3CDTF">1601-01-01T00:00:00Z</dcterms:created>
  <dcterms:modified xsi:type="dcterms:W3CDTF">2021-12-01T00:36:08Z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