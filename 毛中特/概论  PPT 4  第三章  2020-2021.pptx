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4.xml" ContentType="application/vnd.openxmlformats-officedocument.presentationml.slideLayout+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20.xml" ContentType="application/vnd.openxmlformats-officedocument.presentationml.slideLayout+xml"/>
  <Override PartName="/ppt/slides/slide79.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slides/slide7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75.xml" ContentType="application/vnd.openxmlformats-officedocument.presentationml.slide+xml"/>
  <Override PartName="/ppt/slideLayouts/slideLayout7.xml" ContentType="application/vnd.openxmlformats-officedocument.presentationml.slideLayout+xml"/>
  <Default Extension="png" ContentType="image/png"/>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Layouts/slideLayout3.xml" ContentType="application/vnd.openxmlformats-officedocument.presentationml.slideLayout+xml"/>
  <Default Extension="jpeg" ContentType="image/jpeg"/>
  <Override PartName="/ppt/slideLayouts/slideLayout16.xml" ContentType="application/vnd.openxmlformats-officedocument.presentationml.slideLayout+xml"/>
  <Override PartName="/ppt/slideLayouts/slideLayout25.xml" ContentType="application/vnd.openxmlformats-officedocument.presentationml.slideLayout+xml"/>
  <Default Extension="emf" ContentType="image/x-emf"/>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10.xml" ContentType="application/vnd.openxmlformats-officedocument.presentationml.slideLayout+xml"/>
  <Default Extension="gif" ContentType="image/gif"/>
  <Default Extension="vml" ContentType="application/vnd.openxmlformats-officedocument.vmlDrawing"/>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Layouts/slideLayout15.xml" ContentType="application/vnd.openxmlformats-officedocument.presentationml.slideLayout+xml"/>
  <Override PartName="/ppt/slideLayouts/slideLayout26.xml" ContentType="application/vnd.openxmlformats-officedocument.presentationml.slideLayout+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Layouts/slideLayout22.xml" ContentType="application/vnd.openxmlformats-officedocument.presentationml.slideLayout+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1"/>
    <p:sldMasterId id="2147483727" r:id="rId2"/>
  </p:sldMasterIdLst>
  <p:notesMasterIdLst>
    <p:notesMasterId r:id="rId82"/>
  </p:notesMasterIdLst>
  <p:sldIdLst>
    <p:sldId id="370" r:id="rId3"/>
    <p:sldId id="373" r:id="rId4"/>
    <p:sldId id="490" r:id="rId5"/>
    <p:sldId id="374" r:id="rId6"/>
    <p:sldId id="372" r:id="rId7"/>
    <p:sldId id="375" r:id="rId8"/>
    <p:sldId id="462" r:id="rId9"/>
    <p:sldId id="376" r:id="rId10"/>
    <p:sldId id="377" r:id="rId11"/>
    <p:sldId id="378" r:id="rId12"/>
    <p:sldId id="379" r:id="rId13"/>
    <p:sldId id="380" r:id="rId14"/>
    <p:sldId id="487" r:id="rId15"/>
    <p:sldId id="488" r:id="rId16"/>
    <p:sldId id="384" r:id="rId17"/>
    <p:sldId id="460" r:id="rId18"/>
    <p:sldId id="491" r:id="rId19"/>
    <p:sldId id="497" r:id="rId20"/>
    <p:sldId id="496" r:id="rId21"/>
    <p:sldId id="493" r:id="rId22"/>
    <p:sldId id="389" r:id="rId23"/>
    <p:sldId id="390" r:id="rId24"/>
    <p:sldId id="392" r:id="rId25"/>
    <p:sldId id="393" r:id="rId26"/>
    <p:sldId id="470" r:id="rId27"/>
    <p:sldId id="396" r:id="rId28"/>
    <p:sldId id="395" r:id="rId29"/>
    <p:sldId id="398" r:id="rId30"/>
    <p:sldId id="400" r:id="rId31"/>
    <p:sldId id="401" r:id="rId32"/>
    <p:sldId id="472" r:id="rId33"/>
    <p:sldId id="402" r:id="rId34"/>
    <p:sldId id="404" r:id="rId35"/>
    <p:sldId id="406" r:id="rId36"/>
    <p:sldId id="468" r:id="rId37"/>
    <p:sldId id="408" r:id="rId38"/>
    <p:sldId id="411" r:id="rId39"/>
    <p:sldId id="489" r:id="rId40"/>
    <p:sldId id="413" r:id="rId41"/>
    <p:sldId id="414" r:id="rId42"/>
    <p:sldId id="415" r:id="rId43"/>
    <p:sldId id="498" r:id="rId44"/>
    <p:sldId id="416" r:id="rId45"/>
    <p:sldId id="417" r:id="rId46"/>
    <p:sldId id="418" r:id="rId47"/>
    <p:sldId id="419" r:id="rId48"/>
    <p:sldId id="420" r:id="rId49"/>
    <p:sldId id="423" r:id="rId50"/>
    <p:sldId id="424" r:id="rId51"/>
    <p:sldId id="474" r:id="rId52"/>
    <p:sldId id="473" r:id="rId53"/>
    <p:sldId id="475" r:id="rId54"/>
    <p:sldId id="427" r:id="rId55"/>
    <p:sldId id="429" r:id="rId56"/>
    <p:sldId id="428" r:id="rId57"/>
    <p:sldId id="430" r:id="rId58"/>
    <p:sldId id="477" r:id="rId59"/>
    <p:sldId id="431" r:id="rId60"/>
    <p:sldId id="432" r:id="rId61"/>
    <p:sldId id="494" r:id="rId62"/>
    <p:sldId id="481" r:id="rId63"/>
    <p:sldId id="435" r:id="rId64"/>
    <p:sldId id="437" r:id="rId65"/>
    <p:sldId id="438" r:id="rId66"/>
    <p:sldId id="441" r:id="rId67"/>
    <p:sldId id="442" r:id="rId68"/>
    <p:sldId id="443" r:id="rId69"/>
    <p:sldId id="445" r:id="rId70"/>
    <p:sldId id="446" r:id="rId71"/>
    <p:sldId id="447" r:id="rId72"/>
    <p:sldId id="484" r:id="rId73"/>
    <p:sldId id="485" r:id="rId74"/>
    <p:sldId id="495" r:id="rId75"/>
    <p:sldId id="449" r:id="rId76"/>
    <p:sldId id="451" r:id="rId77"/>
    <p:sldId id="453" r:id="rId78"/>
    <p:sldId id="310" r:id="rId79"/>
    <p:sldId id="457" r:id="rId80"/>
    <p:sldId id="458" r:id="rId81"/>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0000"/>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2" d="100"/>
          <a:sy n="82" d="100"/>
        </p:scale>
        <p:origin x="-1474" y="-8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slide" Target="slides/slide61.xml"/><Relationship Id="rId68" Type="http://schemas.openxmlformats.org/officeDocument/2006/relationships/slide" Target="slides/slide66.xml"/><Relationship Id="rId76" Type="http://schemas.openxmlformats.org/officeDocument/2006/relationships/slide" Target="slides/slide74.xml"/><Relationship Id="rId84" Type="http://schemas.openxmlformats.org/officeDocument/2006/relationships/viewProps" Target="viewProps.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notesMaster" Target="notesMasters/notesMaster1.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9.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9966155-C72A-4D11-9BF5-9914E8C4A536}" type="datetimeFigureOut">
              <a:rPr lang="zh-CN" altLang="en-US" smtClean="0"/>
              <a:pPr/>
              <a:t>2021/11/14</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934A6CD-0AFA-461F-A609-FEF3E48BF327}" type="slidenum">
              <a:rPr lang="zh-CN" altLang="en-US" smtClean="0"/>
              <a:pPr/>
              <a:t>‹#›</a:t>
            </a:fld>
            <a:endParaRPr lang="zh-CN" altLang="en-US"/>
          </a:p>
        </p:txBody>
      </p:sp>
    </p:spTree>
    <p:extLst>
      <p:ext uri="{BB962C8B-B14F-4D97-AF65-F5344CB8AC3E}">
        <p14:creationId xmlns:p14="http://schemas.microsoft.com/office/powerpoint/2010/main" xmlns="" val="22524944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smtClean="0"/>
              <a:t>单击此处编辑母版副标题样式</a:t>
            </a:r>
            <a:endParaRPr lang="zh-CN" altLang="en-US" strike="noStrike" noProof="1"/>
          </a:p>
        </p:txBody>
      </p:sp>
    </p:spTree>
    <p:extLst>
      <p:ext uri="{BB962C8B-B14F-4D97-AF65-F5344CB8AC3E}">
        <p14:creationId xmlns:p14="http://schemas.microsoft.com/office/powerpoint/2010/main" xmlns="" val="1916942944"/>
      </p:ext>
    </p:extLst>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457200" y="1600200"/>
            <a:ext cx="8229600" cy="4525963"/>
          </a:xfrm>
          <a:prstGeom prst="rect">
            <a:avLst/>
          </a:prstGeom>
        </p:spPr>
        <p:txBody>
          <a:body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Tree>
    <p:extLst>
      <p:ext uri="{BB962C8B-B14F-4D97-AF65-F5344CB8AC3E}">
        <p14:creationId xmlns:p14="http://schemas.microsoft.com/office/powerpoint/2010/main" xmlns="" val="134452696"/>
      </p:ext>
    </p:extLst>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p>
        </p:txBody>
      </p:sp>
    </p:spTree>
    <p:extLst>
      <p:ext uri="{BB962C8B-B14F-4D97-AF65-F5344CB8AC3E}">
        <p14:creationId xmlns:p14="http://schemas.microsoft.com/office/powerpoint/2010/main" xmlns="" val="2108726699"/>
      </p:ext>
    </p:extLst>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Tree>
    <p:extLst>
      <p:ext uri="{BB962C8B-B14F-4D97-AF65-F5344CB8AC3E}">
        <p14:creationId xmlns:p14="http://schemas.microsoft.com/office/powerpoint/2010/main" xmlns="" val="3146224737"/>
      </p:ext>
    </p:extLst>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Tree>
    <p:extLst>
      <p:ext uri="{BB962C8B-B14F-4D97-AF65-F5344CB8AC3E}">
        <p14:creationId xmlns:p14="http://schemas.microsoft.com/office/powerpoint/2010/main" xmlns="" val="2370988731"/>
      </p:ext>
    </p:extLst>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smtClean="0"/>
              <a:t>单击此处编辑母版标题样式</a:t>
            </a:r>
            <a:endParaRPr lang="zh-CN" altLang="en-US" strike="noStrike" noProof="1"/>
          </a:p>
        </p:txBody>
      </p:sp>
    </p:spTree>
    <p:extLst>
      <p:ext uri="{BB962C8B-B14F-4D97-AF65-F5344CB8AC3E}">
        <p14:creationId xmlns:p14="http://schemas.microsoft.com/office/powerpoint/2010/main" xmlns="" val="200659871"/>
      </p:ext>
    </p:extLst>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1247782941"/>
      </p:ext>
    </p:extLst>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p>
        </p:txBody>
      </p:sp>
    </p:spTree>
    <p:extLst>
      <p:ext uri="{BB962C8B-B14F-4D97-AF65-F5344CB8AC3E}">
        <p14:creationId xmlns:p14="http://schemas.microsoft.com/office/powerpoint/2010/main" xmlns="" val="2187429794"/>
      </p:ext>
    </p:extLst>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p>
        </p:txBody>
      </p:sp>
    </p:spTree>
    <p:extLst>
      <p:ext uri="{BB962C8B-B14F-4D97-AF65-F5344CB8AC3E}">
        <p14:creationId xmlns:p14="http://schemas.microsoft.com/office/powerpoint/2010/main" xmlns="" val="1314630960"/>
      </p:ext>
    </p:extLst>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Tree>
    <p:extLst>
      <p:ext uri="{BB962C8B-B14F-4D97-AF65-F5344CB8AC3E}">
        <p14:creationId xmlns:p14="http://schemas.microsoft.com/office/powerpoint/2010/main" xmlns="" val="3675192751"/>
      </p:ext>
    </p:extLst>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Tree>
    <p:extLst>
      <p:ext uri="{BB962C8B-B14F-4D97-AF65-F5344CB8AC3E}">
        <p14:creationId xmlns:p14="http://schemas.microsoft.com/office/powerpoint/2010/main" xmlns="" val="621509313"/>
      </p:ext>
    </p:extLst>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chart" preserve="1">
  <p:cSld name="标题和图表">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图表占位符 2"/>
          <p:cNvSpPr>
            <a:spLocks noGrp="1"/>
          </p:cNvSpPr>
          <p:nvPr>
            <p:ph type="chart" idx="1"/>
          </p:nvPr>
        </p:nvSpPr>
        <p:spPr>
          <a:xfrm>
            <a:off x="457200" y="1600200"/>
            <a:ext cx="8229600" cy="4525963"/>
          </a:xfrm>
          <a:prstGeom prst="rect">
            <a:avLst/>
          </a:prstGeom>
        </p:spPr>
        <p:txBody>
          <a:bodyPr/>
          <a:lstStyle/>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xmlns="" val="3376705520"/>
      </p:ext>
    </p:extLst>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a:xfrm>
            <a:off x="457200" y="1600200"/>
            <a:ext cx="8229600" cy="4525963"/>
          </a:xfrm>
          <a:prstGeom prst="rect">
            <a:avLst/>
          </a:prstGeom>
        </p:spPr>
        <p:txBody>
          <a:bodyPr/>
          <a:lstStyle/>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xmlns="" val="290110838"/>
      </p:ext>
    </p:extLst>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Ref idx="1003">
        <a:schemeClr val="bg2"/>
      </p:bgRef>
    </p:bg>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173157"/>
            <a:ext cx="7772400" cy="1470025"/>
          </a:xfrm>
        </p:spPr>
        <p:txBody>
          <a:bodyPr anchor="b"/>
          <a:lstStyle>
            <a:lvl1pPr algn="l">
              <a:defRPr sz="4800"/>
            </a:lvl1pPr>
          </a:lstStyle>
          <a:p>
            <a:r>
              <a:rPr kumimoji="0" lang="zh-CN" altLang="en-US" smtClean="0"/>
              <a:t>单击此处编辑母版标题样式</a:t>
            </a:r>
            <a:endParaRPr kumimoji="0" lang="en-US"/>
          </a:p>
        </p:txBody>
      </p:sp>
      <p:sp>
        <p:nvSpPr>
          <p:cNvPr id="3" name="副标题 2"/>
          <p:cNvSpPr>
            <a:spLocks noGrp="1"/>
          </p:cNvSpPr>
          <p:nvPr>
            <p:ph type="subTitle" idx="1"/>
          </p:nvPr>
        </p:nvSpPr>
        <p:spPr>
          <a:xfrm>
            <a:off x="687716" y="2643182"/>
            <a:ext cx="6670366" cy="1752600"/>
          </a:xfrm>
        </p:spPr>
        <p:txBody>
          <a:bodyPr/>
          <a:lstStyle>
            <a:lvl1pPr marL="0" indent="0" algn="l">
              <a:buNone/>
              <a:defRPr sz="28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0" lang="zh-CN" altLang="en-US" smtClean="0"/>
              <a:t>单击此处编辑母版副标题样式</a:t>
            </a:r>
            <a:endParaRPr kumimoji="0" lang="en-US"/>
          </a:p>
        </p:txBody>
      </p:sp>
      <p:sp>
        <p:nvSpPr>
          <p:cNvPr id="4" name="日期占位符 3"/>
          <p:cNvSpPr>
            <a:spLocks noGrp="1"/>
          </p:cNvSpPr>
          <p:nvPr>
            <p:ph type="dt" sz="half" idx="10"/>
          </p:nvPr>
        </p:nvSpPr>
        <p:spPr/>
        <p:txBody>
          <a:bodyPr/>
          <a:lstStyle/>
          <a:p>
            <a:pPr eaLnBrk="1" latinLnBrk="0" hangingPunct="1"/>
            <a:fld id="{11DF6C85-580E-49AA-8C0F-7282E851D184}" type="datetimeFigureOut">
              <a:rPr lang="en-US" smtClean="0"/>
              <a:pPr eaLnBrk="1" latinLnBrk="0" hangingPunct="1"/>
              <a:t>11/14/2021</a:t>
            </a:fld>
            <a:endParaRPr lang="en-US"/>
          </a:p>
        </p:txBody>
      </p:sp>
      <p:sp>
        <p:nvSpPr>
          <p:cNvPr id="5" name="页脚占位符 4"/>
          <p:cNvSpPr>
            <a:spLocks noGrp="1"/>
          </p:cNvSpPr>
          <p:nvPr>
            <p:ph type="ftr" sz="quarter" idx="11"/>
          </p:nvPr>
        </p:nvSpPr>
        <p:spPr/>
        <p:txBody>
          <a:bodyPr/>
          <a:lstStyle/>
          <a:p>
            <a:endParaRPr kumimoji="0" lang="zh-CN" altLang="en-US"/>
          </a:p>
        </p:txBody>
      </p:sp>
      <p:sp>
        <p:nvSpPr>
          <p:cNvPr id="6" name="灯片编号占位符 5"/>
          <p:cNvSpPr>
            <a:spLocks noGrp="1"/>
          </p:cNvSpPr>
          <p:nvPr>
            <p:ph type="sldNum" sz="quarter" idx="12"/>
          </p:nvPr>
        </p:nvSpPr>
        <p:spPr/>
        <p:txBody>
          <a:bodyPr/>
          <a:lstStyle/>
          <a:p>
            <a:fld id="{6D95434A-1094-4C26-ADA4-1AB6210859AE}" type="slidenum">
              <a:rPr kumimoji="0" lang="en-US" smtClean="0"/>
              <a:pPr/>
              <a:t>‹#›</a:t>
            </a:fld>
            <a:endParaRPr kumimoji="0" lang="zh-CN" altLang="en-US"/>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内容占位符 2"/>
          <p:cNvSpPr>
            <a:spLocks noGrp="1"/>
          </p:cNvSpPr>
          <p:nvPr>
            <p:ph idx="1"/>
          </p:nvPr>
        </p:nvSpPr>
        <p:spPr/>
        <p:txBody>
          <a:body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pPr eaLnBrk="1" latinLnBrk="0" hangingPunct="1"/>
            <a:fld id="{11DF6C85-580E-49AA-8C0F-7282E851D184}" type="datetimeFigureOut">
              <a:rPr lang="en-US" smtClean="0"/>
              <a:pPr eaLnBrk="1" latinLnBrk="0" hangingPunct="1"/>
              <a:t>11/14/2021</a:t>
            </a:fld>
            <a:endParaRPr lang="en-US"/>
          </a:p>
        </p:txBody>
      </p:sp>
      <p:sp>
        <p:nvSpPr>
          <p:cNvPr id="5" name="页脚占位符 4"/>
          <p:cNvSpPr>
            <a:spLocks noGrp="1"/>
          </p:cNvSpPr>
          <p:nvPr>
            <p:ph type="ftr" sz="quarter" idx="11"/>
          </p:nvPr>
        </p:nvSpPr>
        <p:spPr/>
        <p:txBody>
          <a:bodyPr/>
          <a:lstStyle/>
          <a:p>
            <a:endParaRPr kumimoji="0" lang="zh-CN" altLang="en-US" dirty="0"/>
          </a:p>
        </p:txBody>
      </p:sp>
      <p:sp>
        <p:nvSpPr>
          <p:cNvPr id="6" name="灯片编号占位符 5"/>
          <p:cNvSpPr>
            <a:spLocks noGrp="1"/>
          </p:cNvSpPr>
          <p:nvPr>
            <p:ph type="sldNum" sz="quarter" idx="12"/>
          </p:nvPr>
        </p:nvSpPr>
        <p:spPr/>
        <p:txBody>
          <a:bodyPr/>
          <a:lstStyle/>
          <a:p>
            <a:fld id="{6D95434A-1094-4C26-ADA4-1AB6210859AE}" type="slidenum">
              <a:rPr kumimoji="0" lang="en-US" smtClean="0"/>
              <a:pPr/>
              <a:t>‹#›</a:t>
            </a:fld>
            <a:endParaRPr kumimoji="0" lang="zh-CN" altLang="en-US"/>
          </a:p>
        </p:txBody>
      </p:sp>
    </p:spTree>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secHead" preserve="1">
  <p:cSld name="节标题">
    <p:bg>
      <p:bgRef idx="1003">
        <a:schemeClr val="bg2"/>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685800" y="2924181"/>
            <a:ext cx="7772400" cy="1362075"/>
          </a:xfrm>
        </p:spPr>
        <p:txBody>
          <a:bodyPr anchor="t"/>
          <a:lstStyle>
            <a:lvl1pPr algn="l">
              <a:defRPr sz="4400" b="0" cap="all"/>
            </a:lvl1p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685800" y="1428747"/>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pPr eaLnBrk="1" latinLnBrk="0" hangingPunct="1"/>
            <a:fld id="{11DF6C85-580E-49AA-8C0F-7282E851D184}" type="datetimeFigureOut">
              <a:rPr lang="en-US" smtClean="0"/>
              <a:pPr eaLnBrk="1" latinLnBrk="0" hangingPunct="1"/>
              <a:t>11/14/2021</a:t>
            </a:fld>
            <a:endParaRPr lang="en-US"/>
          </a:p>
        </p:txBody>
      </p:sp>
      <p:sp>
        <p:nvSpPr>
          <p:cNvPr id="5" name="页脚占位符 4"/>
          <p:cNvSpPr>
            <a:spLocks noGrp="1"/>
          </p:cNvSpPr>
          <p:nvPr>
            <p:ph type="ftr" sz="quarter" idx="11"/>
          </p:nvPr>
        </p:nvSpPr>
        <p:spPr/>
        <p:txBody>
          <a:bodyPr/>
          <a:lstStyle/>
          <a:p>
            <a:endParaRPr kumimoji="0" lang="zh-CN" altLang="en-US"/>
          </a:p>
        </p:txBody>
      </p:sp>
      <p:sp>
        <p:nvSpPr>
          <p:cNvPr id="6" name="灯片编号占位符 5"/>
          <p:cNvSpPr>
            <a:spLocks noGrp="1"/>
          </p:cNvSpPr>
          <p:nvPr>
            <p:ph type="sldNum" sz="quarter" idx="12"/>
          </p:nvPr>
        </p:nvSpPr>
        <p:spPr/>
        <p:txBody>
          <a:bodyPr/>
          <a:lstStyle/>
          <a:p>
            <a:fld id="{6D95434A-1094-4C26-ADA4-1AB6210859AE}" type="slidenum">
              <a:rPr kumimoji="0" lang="en-US" smtClean="0"/>
              <a:pPr/>
              <a:t>‹#›</a:t>
            </a:fld>
            <a:endParaRPr kumimoji="0" lang="zh-CN" altLang="en-US"/>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pPr eaLnBrk="1" latinLnBrk="0" hangingPunct="1"/>
            <a:fld id="{11DF6C85-580E-49AA-8C0F-7282E851D184}" type="datetimeFigureOut">
              <a:rPr lang="en-US" smtClean="0"/>
              <a:pPr eaLnBrk="1" latinLnBrk="0" hangingPunct="1"/>
              <a:t>11/14/2021</a:t>
            </a:fld>
            <a:endParaRPr lang="en-US"/>
          </a:p>
        </p:txBody>
      </p:sp>
      <p:sp>
        <p:nvSpPr>
          <p:cNvPr id="6" name="页脚占位符 5"/>
          <p:cNvSpPr>
            <a:spLocks noGrp="1"/>
          </p:cNvSpPr>
          <p:nvPr>
            <p:ph type="ftr" sz="quarter" idx="11"/>
          </p:nvPr>
        </p:nvSpPr>
        <p:spPr/>
        <p:txBody>
          <a:bodyPr/>
          <a:lstStyle/>
          <a:p>
            <a:endParaRPr kumimoji="0" lang="zh-CN" altLang="en-US"/>
          </a:p>
        </p:txBody>
      </p:sp>
      <p:sp>
        <p:nvSpPr>
          <p:cNvPr id="7" name="灯片编号占位符 6"/>
          <p:cNvSpPr>
            <a:spLocks noGrp="1"/>
          </p:cNvSpPr>
          <p:nvPr>
            <p:ph type="sldNum" sz="quarter" idx="12"/>
          </p:nvPr>
        </p:nvSpPr>
        <p:spPr/>
        <p:txBody>
          <a:bodyPr/>
          <a:lstStyle/>
          <a:p>
            <a:fld id="{6D95434A-1094-4C26-ADA4-1AB6210859AE}" type="slidenum">
              <a:rPr kumimoji="0" lang="en-US" smtClean="0"/>
              <a:pPr/>
              <a:t>‹#›</a:t>
            </a:fld>
            <a:endParaRPr kumimoji="0" lang="zh-CN" altLang="en-US"/>
          </a:p>
        </p:txBody>
      </p:sp>
    </p:spTree>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7" name="日期占位符 6"/>
          <p:cNvSpPr>
            <a:spLocks noGrp="1"/>
          </p:cNvSpPr>
          <p:nvPr>
            <p:ph type="dt" sz="half" idx="10"/>
          </p:nvPr>
        </p:nvSpPr>
        <p:spPr/>
        <p:txBody>
          <a:bodyPr/>
          <a:lstStyle/>
          <a:p>
            <a:pPr eaLnBrk="1" latinLnBrk="0" hangingPunct="1"/>
            <a:fld id="{11DF6C85-580E-49AA-8C0F-7282E851D184}" type="datetimeFigureOut">
              <a:rPr lang="en-US" smtClean="0"/>
              <a:pPr eaLnBrk="1" latinLnBrk="0" hangingPunct="1"/>
              <a:t>11/14/2021</a:t>
            </a:fld>
            <a:endParaRPr lang="en-US"/>
          </a:p>
        </p:txBody>
      </p:sp>
      <p:sp>
        <p:nvSpPr>
          <p:cNvPr id="8" name="页脚占位符 7"/>
          <p:cNvSpPr>
            <a:spLocks noGrp="1"/>
          </p:cNvSpPr>
          <p:nvPr>
            <p:ph type="ftr" sz="quarter" idx="11"/>
          </p:nvPr>
        </p:nvSpPr>
        <p:spPr/>
        <p:txBody>
          <a:bodyPr/>
          <a:lstStyle/>
          <a:p>
            <a:endParaRPr kumimoji="0" lang="zh-CN" altLang="en-US"/>
          </a:p>
        </p:txBody>
      </p:sp>
      <p:sp>
        <p:nvSpPr>
          <p:cNvPr id="9" name="灯片编号占位符 8"/>
          <p:cNvSpPr>
            <a:spLocks noGrp="1"/>
          </p:cNvSpPr>
          <p:nvPr>
            <p:ph type="sldNum" sz="quarter" idx="12"/>
          </p:nvPr>
        </p:nvSpPr>
        <p:spPr/>
        <p:txBody>
          <a:bodyPr/>
          <a:lstStyle/>
          <a:p>
            <a:fld id="{6D95434A-1094-4C26-ADA4-1AB6210859AE}" type="slidenum">
              <a:rPr kumimoji="0" lang="en-US" smtClean="0"/>
              <a:pPr/>
              <a:t>‹#›</a:t>
            </a:fld>
            <a:endParaRPr kumimoji="0" lang="zh-CN" altLang="en-US"/>
          </a:p>
        </p:txBody>
      </p:sp>
    </p:spTree>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日期占位符 2"/>
          <p:cNvSpPr>
            <a:spLocks noGrp="1"/>
          </p:cNvSpPr>
          <p:nvPr>
            <p:ph type="dt" sz="half" idx="10"/>
          </p:nvPr>
        </p:nvSpPr>
        <p:spPr/>
        <p:txBody>
          <a:bodyPr/>
          <a:lstStyle/>
          <a:p>
            <a:pPr eaLnBrk="1" latinLnBrk="0" hangingPunct="1"/>
            <a:fld id="{11DF6C85-580E-49AA-8C0F-7282E851D184}" type="datetimeFigureOut">
              <a:rPr lang="en-US" smtClean="0"/>
              <a:pPr eaLnBrk="1" latinLnBrk="0" hangingPunct="1"/>
              <a:t>11/14/2021</a:t>
            </a:fld>
            <a:endParaRPr lang="en-US"/>
          </a:p>
        </p:txBody>
      </p:sp>
      <p:sp>
        <p:nvSpPr>
          <p:cNvPr id="4" name="页脚占位符 3"/>
          <p:cNvSpPr>
            <a:spLocks noGrp="1"/>
          </p:cNvSpPr>
          <p:nvPr>
            <p:ph type="ftr" sz="quarter" idx="11"/>
          </p:nvPr>
        </p:nvSpPr>
        <p:spPr/>
        <p:txBody>
          <a:bodyPr/>
          <a:lstStyle/>
          <a:p>
            <a:endParaRPr kumimoji="0" lang="zh-CN" altLang="en-US"/>
          </a:p>
        </p:txBody>
      </p:sp>
      <p:sp>
        <p:nvSpPr>
          <p:cNvPr id="5" name="灯片编号占位符 4"/>
          <p:cNvSpPr>
            <a:spLocks noGrp="1"/>
          </p:cNvSpPr>
          <p:nvPr>
            <p:ph type="sldNum" sz="quarter" idx="12"/>
          </p:nvPr>
        </p:nvSpPr>
        <p:spPr/>
        <p:txBody>
          <a:bodyPr/>
          <a:lstStyle/>
          <a:p>
            <a:fld id="{6D95434A-1094-4C26-ADA4-1AB6210859AE}" type="slidenum">
              <a:rPr kumimoji="0" lang="en-US" smtClean="0"/>
              <a:pPr/>
              <a:t>‹#›</a:t>
            </a:fld>
            <a:endParaRPr kumimoji="0" lang="zh-CN" altLang="en-US"/>
          </a:p>
        </p:txBody>
      </p:sp>
    </p:spTree>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eaLnBrk="1" latinLnBrk="0" hangingPunct="1"/>
            <a:fld id="{11DF6C85-580E-49AA-8C0F-7282E851D184}" type="datetimeFigureOut">
              <a:rPr lang="en-US" smtClean="0"/>
              <a:pPr eaLnBrk="1" latinLnBrk="0" hangingPunct="1"/>
              <a:t>11/14/2021</a:t>
            </a:fld>
            <a:endParaRPr lang="en-US"/>
          </a:p>
        </p:txBody>
      </p:sp>
      <p:sp>
        <p:nvSpPr>
          <p:cNvPr id="3" name="页脚占位符 2"/>
          <p:cNvSpPr>
            <a:spLocks noGrp="1"/>
          </p:cNvSpPr>
          <p:nvPr>
            <p:ph type="ftr" sz="quarter" idx="11"/>
          </p:nvPr>
        </p:nvSpPr>
        <p:spPr/>
        <p:txBody>
          <a:bodyPr/>
          <a:lstStyle/>
          <a:p>
            <a:endParaRPr kumimoji="0" lang="zh-CN" altLang="en-US"/>
          </a:p>
        </p:txBody>
      </p:sp>
      <p:sp>
        <p:nvSpPr>
          <p:cNvPr id="4" name="灯片编号占位符 3"/>
          <p:cNvSpPr>
            <a:spLocks noGrp="1"/>
          </p:cNvSpPr>
          <p:nvPr>
            <p:ph type="sldNum" sz="quarter" idx="12"/>
          </p:nvPr>
        </p:nvSpPr>
        <p:spPr/>
        <p:txBody>
          <a:bodyPr/>
          <a:lstStyle/>
          <a:p>
            <a:fld id="{6D95434A-1094-4C26-ADA4-1AB6210859AE}" type="slidenum">
              <a:rPr kumimoji="0" lang="en-US" smtClean="0"/>
              <a:pPr/>
              <a:t>‹#›</a:t>
            </a:fld>
            <a:endParaRPr kumimoji="0" lang="zh-CN" altLang="en-US"/>
          </a:p>
        </p:txBody>
      </p:sp>
    </p:spTree>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3" name="内容占位符 2"/>
          <p:cNvSpPr>
            <a:spLocks noGrp="1"/>
          </p:cNvSpPr>
          <p:nvPr>
            <p:ph idx="1"/>
          </p:nvPr>
        </p:nvSpPr>
        <p:spPr>
          <a:xfrm>
            <a:off x="460382" y="1071546"/>
            <a:ext cx="5111750" cy="504976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文本占位符 3"/>
          <p:cNvSpPr>
            <a:spLocks noGrp="1"/>
          </p:cNvSpPr>
          <p:nvPr>
            <p:ph type="body" sz="half" idx="2"/>
          </p:nvPr>
        </p:nvSpPr>
        <p:spPr>
          <a:xfrm>
            <a:off x="5679083" y="1071546"/>
            <a:ext cx="3008313" cy="34290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pPr eaLnBrk="1" latinLnBrk="0" hangingPunct="1"/>
            <a:fld id="{11DF6C85-580E-49AA-8C0F-7282E851D184}" type="datetimeFigureOut">
              <a:rPr lang="en-US" smtClean="0"/>
              <a:pPr eaLnBrk="1" latinLnBrk="0" hangingPunct="1"/>
              <a:t>11/14/2021</a:t>
            </a:fld>
            <a:endParaRPr lang="en-US"/>
          </a:p>
        </p:txBody>
      </p:sp>
      <p:sp>
        <p:nvSpPr>
          <p:cNvPr id="6" name="页脚占位符 5"/>
          <p:cNvSpPr>
            <a:spLocks noGrp="1"/>
          </p:cNvSpPr>
          <p:nvPr>
            <p:ph type="ftr" sz="quarter" idx="11"/>
          </p:nvPr>
        </p:nvSpPr>
        <p:spPr/>
        <p:txBody>
          <a:bodyPr/>
          <a:lstStyle/>
          <a:p>
            <a:endParaRPr kumimoji="0" lang="zh-CN" altLang="en-US"/>
          </a:p>
        </p:txBody>
      </p:sp>
      <p:sp>
        <p:nvSpPr>
          <p:cNvPr id="7" name="灯片编号占位符 6"/>
          <p:cNvSpPr>
            <a:spLocks noGrp="1"/>
          </p:cNvSpPr>
          <p:nvPr>
            <p:ph type="sldNum" sz="quarter" idx="12"/>
          </p:nvPr>
        </p:nvSpPr>
        <p:spPr/>
        <p:txBody>
          <a:bodyPr/>
          <a:lstStyle/>
          <a:p>
            <a:fld id="{6D95434A-1094-4C26-ADA4-1AB6210859AE}" type="slidenum">
              <a:rPr kumimoji="0" lang="en-US" smtClean="0"/>
              <a:pPr/>
              <a:t>‹#›</a:t>
            </a:fld>
            <a:endParaRPr kumimoji="0" lang="zh-CN" altLang="en-US"/>
          </a:p>
        </p:txBody>
      </p:sp>
      <p:sp>
        <p:nvSpPr>
          <p:cNvPr id="2" name="标题 1"/>
          <p:cNvSpPr>
            <a:spLocks noGrp="1"/>
          </p:cNvSpPr>
          <p:nvPr>
            <p:ph type="title"/>
          </p:nvPr>
        </p:nvSpPr>
        <p:spPr>
          <a:xfrm>
            <a:off x="457205" y="285728"/>
            <a:ext cx="8230993" cy="696626"/>
          </a:xfrm>
        </p:spPr>
        <p:txBody>
          <a:bodyPr anchor="ctr"/>
          <a:lstStyle>
            <a:lvl1pPr algn="ctr">
              <a:defRPr sz="3600" b="0"/>
            </a:lvl1pPr>
          </a:lstStyle>
          <a:p>
            <a:r>
              <a:rPr kumimoji="0" lang="zh-CN" altLang="en-US" smtClean="0"/>
              <a:t>单击此处编辑母版标题样式</a:t>
            </a:r>
            <a:endParaRPr kumimoji="0" lang="en-US"/>
          </a:p>
        </p:txBody>
      </p:sp>
    </p:spTree>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001024" y="642918"/>
            <a:ext cx="785818" cy="4572032"/>
          </a:xfrm>
        </p:spPr>
        <p:txBody>
          <a:bodyPr vert="eaVert" anchor="ctr"/>
          <a:lstStyle>
            <a:lvl1pPr algn="l">
              <a:defRPr sz="2400" b="0"/>
            </a:lvl1pPr>
          </a:lstStyle>
          <a:p>
            <a:r>
              <a:rPr kumimoji="0" lang="zh-CN" altLang="en-US" smtClean="0"/>
              <a:t>单击此处编辑母版标题样式</a:t>
            </a:r>
            <a:endParaRPr kumimoji="0" lang="en-US"/>
          </a:p>
        </p:txBody>
      </p:sp>
      <p:sp>
        <p:nvSpPr>
          <p:cNvPr id="3" name="图片占位符 2"/>
          <p:cNvSpPr>
            <a:spLocks noGrp="1"/>
          </p:cNvSpPr>
          <p:nvPr>
            <p:ph type="pic" idx="1"/>
          </p:nvPr>
        </p:nvSpPr>
        <p:spPr>
          <a:xfrm>
            <a:off x="442922" y="541340"/>
            <a:ext cx="6415094" cy="5459428"/>
          </a:xfrm>
          <a:prstGeom prst="roundRect">
            <a:avLst>
              <a:gd name="adj" fmla="val 4800"/>
            </a:avLst>
          </a:prstGeom>
          <a:solidFill>
            <a:schemeClr val="accent1">
              <a:tint val="20000"/>
            </a:schemeClr>
          </a:solidFill>
          <a:ln w="38100">
            <a:gradFill flip="none" rotWithShape="1">
              <a:gsLst>
                <a:gs pos="0">
                  <a:schemeClr val="accent1">
                    <a:alpha val="50000"/>
                  </a:schemeClr>
                </a:gs>
                <a:gs pos="100000">
                  <a:schemeClr val="accent1">
                    <a:tint val="20000"/>
                  </a:schemeClr>
                </a:gs>
              </a:gsLst>
              <a:lin ang="16200000" scaled="1"/>
              <a:tileRect/>
            </a:gradFill>
          </a:ln>
          <a:effectLst>
            <a:outerShdw blurRad="76200" dist="38100" dir="5400000" sx="100500" sy="100500" algn="tl" rotWithShape="0">
              <a:srgbClr val="000000">
                <a:alpha val="50000"/>
              </a:srgb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0" lang="zh-CN" altLang="en-US" smtClean="0"/>
              <a:t>单击图标添加图片</a:t>
            </a:r>
            <a:endParaRPr kumimoji="0" lang="en-US"/>
          </a:p>
        </p:txBody>
      </p:sp>
      <p:sp>
        <p:nvSpPr>
          <p:cNvPr id="4" name="文本占位符 3"/>
          <p:cNvSpPr>
            <a:spLocks noGrp="1"/>
          </p:cNvSpPr>
          <p:nvPr>
            <p:ph type="body" sz="half" idx="2"/>
          </p:nvPr>
        </p:nvSpPr>
        <p:spPr>
          <a:xfrm>
            <a:off x="7072330" y="1000108"/>
            <a:ext cx="914368" cy="4214842"/>
          </a:xfrm>
        </p:spPr>
        <p:txBody>
          <a:bodyPr vert="eaVert" anchor="ctr"/>
          <a:lstStyle>
            <a:lvl1pPr marL="0" indent="0" algn="ctr">
              <a:buNone/>
              <a:defRPr sz="1400"/>
            </a:lvl1pPr>
            <a:lvl2pPr marL="457200" indent="0" algn="ctr">
              <a:buNone/>
              <a:defRPr sz="1200"/>
            </a:lvl2pPr>
            <a:lvl3pPr marL="914400" indent="0" algn="ctr">
              <a:buNone/>
              <a:defRPr sz="1000"/>
            </a:lvl3pPr>
            <a:lvl4pPr marL="1371600" indent="0" algn="ctr">
              <a:buNone/>
              <a:defRPr sz="900"/>
            </a:lvl4pPr>
            <a:lvl5pPr marL="1828800" indent="0" algn="ctr">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pPr eaLnBrk="1" latinLnBrk="0" hangingPunct="1"/>
            <a:fld id="{11DF6C85-580E-49AA-8C0F-7282E851D184}" type="datetimeFigureOut">
              <a:rPr lang="en-US" smtClean="0"/>
              <a:pPr eaLnBrk="1" latinLnBrk="0" hangingPunct="1"/>
              <a:t>11/14/2021</a:t>
            </a:fld>
            <a:endParaRPr lang="en-US"/>
          </a:p>
        </p:txBody>
      </p:sp>
      <p:sp>
        <p:nvSpPr>
          <p:cNvPr id="6" name="页脚占位符 5"/>
          <p:cNvSpPr>
            <a:spLocks noGrp="1"/>
          </p:cNvSpPr>
          <p:nvPr>
            <p:ph type="ftr" sz="quarter" idx="11"/>
          </p:nvPr>
        </p:nvSpPr>
        <p:spPr/>
        <p:txBody>
          <a:bodyPr/>
          <a:lstStyle/>
          <a:p>
            <a:endParaRPr kumimoji="0" lang="zh-CN" altLang="en-US"/>
          </a:p>
        </p:txBody>
      </p:sp>
      <p:sp>
        <p:nvSpPr>
          <p:cNvPr id="7" name="灯片编号占位符 6"/>
          <p:cNvSpPr>
            <a:spLocks noGrp="1"/>
          </p:cNvSpPr>
          <p:nvPr>
            <p:ph type="sldNum" sz="quarter" idx="12"/>
          </p:nvPr>
        </p:nvSpPr>
        <p:spPr/>
        <p:txBody>
          <a:bodyPr/>
          <a:lstStyle/>
          <a:p>
            <a:fld id="{6D95434A-1094-4C26-ADA4-1AB6210859AE}" type="slidenum">
              <a:rPr kumimoji="0" lang="en-US" smtClean="0"/>
              <a:pPr/>
              <a:t>‹#›</a:t>
            </a:fld>
            <a:endParaRPr kumimoji="0" lang="zh-CN" altLang="en-US"/>
          </a:p>
        </p:txBody>
      </p:sp>
    </p:spTree>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pPr eaLnBrk="1" latinLnBrk="0" hangingPunct="1"/>
            <a:fld id="{11DF6C85-580E-49AA-8C0F-7282E851D184}" type="datetimeFigureOut">
              <a:rPr lang="en-US" smtClean="0"/>
              <a:pPr eaLnBrk="1" latinLnBrk="0" hangingPunct="1"/>
              <a:t>11/14/2021</a:t>
            </a:fld>
            <a:endParaRPr lang="en-US"/>
          </a:p>
        </p:txBody>
      </p:sp>
      <p:sp>
        <p:nvSpPr>
          <p:cNvPr id="5" name="页脚占位符 4"/>
          <p:cNvSpPr>
            <a:spLocks noGrp="1"/>
          </p:cNvSpPr>
          <p:nvPr>
            <p:ph type="ftr" sz="quarter" idx="11"/>
          </p:nvPr>
        </p:nvSpPr>
        <p:spPr/>
        <p:txBody>
          <a:bodyPr/>
          <a:lstStyle/>
          <a:p>
            <a:endParaRPr kumimoji="0" lang="zh-CN" altLang="en-US"/>
          </a:p>
        </p:txBody>
      </p:sp>
      <p:sp>
        <p:nvSpPr>
          <p:cNvPr id="6" name="灯片编号占位符 5"/>
          <p:cNvSpPr>
            <a:spLocks noGrp="1"/>
          </p:cNvSpPr>
          <p:nvPr>
            <p:ph type="sldNum" sz="quarter" idx="12"/>
          </p:nvPr>
        </p:nvSpPr>
        <p:spPr/>
        <p:txBody>
          <a:bodyPr/>
          <a:lstStyle/>
          <a:p>
            <a:fld id="{6D95434A-1094-4C26-ADA4-1AB6210859AE}" type="slidenum">
              <a:rPr kumimoji="0" lang="en-US" smtClean="0"/>
              <a:pPr/>
              <a:t>‹#›</a:t>
            </a:fld>
            <a:endParaRPr kumimoji="0" lang="zh-CN" altLang="en-US"/>
          </a:p>
        </p:txBody>
      </p:sp>
    </p:spTree>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143768" y="274639"/>
            <a:ext cx="1543032" cy="5851525"/>
          </a:xfrm>
        </p:spPr>
        <p:txBody>
          <a:bodyPr vert="eaVert"/>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a:xfrm>
            <a:off x="457200" y="274639"/>
            <a:ext cx="6615130" cy="5851525"/>
          </a:xfrm>
        </p:spPr>
        <p:txBody>
          <a:bodyPr vert="eaVer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pPr eaLnBrk="1" latinLnBrk="0" hangingPunct="1"/>
            <a:fld id="{11DF6C85-580E-49AA-8C0F-7282E851D184}" type="datetimeFigureOut">
              <a:rPr lang="en-US" smtClean="0"/>
              <a:pPr eaLnBrk="1" latinLnBrk="0" hangingPunct="1"/>
              <a:t>11/14/2021</a:t>
            </a:fld>
            <a:endParaRPr lang="en-US"/>
          </a:p>
        </p:txBody>
      </p:sp>
      <p:sp>
        <p:nvSpPr>
          <p:cNvPr id="5" name="页脚占位符 4"/>
          <p:cNvSpPr>
            <a:spLocks noGrp="1"/>
          </p:cNvSpPr>
          <p:nvPr>
            <p:ph type="ftr" sz="quarter" idx="11"/>
          </p:nvPr>
        </p:nvSpPr>
        <p:spPr/>
        <p:txBody>
          <a:bodyPr/>
          <a:lstStyle/>
          <a:p>
            <a:endParaRPr kumimoji="0" lang="zh-CN" altLang="en-US"/>
          </a:p>
        </p:txBody>
      </p:sp>
      <p:sp>
        <p:nvSpPr>
          <p:cNvPr id="6" name="灯片编号占位符 5"/>
          <p:cNvSpPr>
            <a:spLocks noGrp="1"/>
          </p:cNvSpPr>
          <p:nvPr>
            <p:ph type="sldNum" sz="quarter" idx="12"/>
          </p:nvPr>
        </p:nvSpPr>
        <p:spPr/>
        <p:txBody>
          <a:bodyPr/>
          <a:lstStyle/>
          <a:p>
            <a:fld id="{6D95434A-1094-4C26-ADA4-1AB6210859AE}" type="slidenum">
              <a:rPr kumimoji="0" lang="en-US" smtClean="0"/>
              <a:pPr/>
              <a:t>‹#›</a:t>
            </a:fld>
            <a:endParaRPr kumimoji="0" lang="zh-CN" altLang="en-US"/>
          </a:p>
        </p:txBody>
      </p:sp>
    </p:spTree>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type="chart">
  <p:cSld name="标题和图表">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图表占位符 2"/>
          <p:cNvSpPr>
            <a:spLocks noGrp="1"/>
          </p:cNvSpPr>
          <p:nvPr>
            <p:ph type="chart" idx="1"/>
          </p:nvPr>
        </p:nvSpPr>
        <p:spPr>
          <a:xfrm>
            <a:off x="457200" y="1600200"/>
            <a:ext cx="8229600" cy="4525963"/>
          </a:xfrm>
          <a:prstGeom prst="rect">
            <a:avLst/>
          </a:prstGeom>
        </p:spPr>
        <p:txBody>
          <a:bodyPr/>
          <a:lstStyle/>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xmlns="" val="3376705520"/>
      </p:ext>
    </p:extLst>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a:xfrm>
            <a:off x="457200" y="1600200"/>
            <a:ext cx="8229600" cy="4525963"/>
          </a:xfrm>
          <a:prstGeom prst="rect">
            <a:avLst/>
          </a:prstGeom>
        </p:spPr>
        <p:txBody>
          <a:bodyPr/>
          <a:lstStyle/>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xmlns="" val="290110838"/>
      </p:ext>
    </p:extLst>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jpeg"/><Relationship Id="rId2" Type="http://schemas.openxmlformats.org/officeDocument/2006/relationships/slideLayout" Target="../slideLayouts/slideLayout2.xml"/><Relationship Id="rId16" Type="http://schemas.openxmlformats.org/officeDocument/2006/relationships/hyperlink" Target="http://baike.baidu.com/image/d57e99945712b42ed31b7026" TargetMode="Externa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gi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18" Type="http://schemas.openxmlformats.org/officeDocument/2006/relationships/hyperlink" Target="http://baike.baidu.com/image/d57e99945712b42ed31b7026" TargetMode="Externa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image" Target="../media/image1.gif"/><Relationship Id="rId2" Type="http://schemas.openxmlformats.org/officeDocument/2006/relationships/slideLayout" Target="../slideLayouts/slideLayout15.xml"/><Relationship Id="rId16" Type="http://schemas.openxmlformats.org/officeDocument/2006/relationships/image" Target="../media/image6.png"/><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image" Target="../media/image5.png"/><Relationship Id="rId10" Type="http://schemas.openxmlformats.org/officeDocument/2006/relationships/slideLayout" Target="../slideLayouts/slideLayout23.xml"/><Relationship Id="rId19" Type="http://schemas.openxmlformats.org/officeDocument/2006/relationships/image" Target="../media/image2.jpeg"/><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rgbClr val="6699FF"/>
            </a:gs>
            <a:gs pos="100000">
              <a:srgbClr val="CEDFFF"/>
            </a:gs>
          </a:gsLst>
          <a:lin ang="5400000" scaled="1"/>
          <a:tileRect/>
        </a:gradFill>
        <a:effectLst/>
      </p:bgPr>
    </p:bg>
    <p:spTree>
      <p:nvGrpSpPr>
        <p:cNvPr id="1" name=""/>
        <p:cNvGrpSpPr/>
        <p:nvPr/>
      </p:nvGrpSpPr>
      <p:grpSpPr>
        <a:xfrm>
          <a:off x="0" y="0"/>
          <a:ext cx="0" cy="0"/>
          <a:chOff x="0" y="0"/>
          <a:chExt cx="0" cy="0"/>
        </a:xfrm>
      </p:grpSpPr>
      <p:sp>
        <p:nvSpPr>
          <p:cNvPr id="86019" name="Text Box 3"/>
          <p:cNvSpPr txBox="1">
            <a:spLocks noChangeArrowheads="1"/>
          </p:cNvSpPr>
          <p:nvPr/>
        </p:nvSpPr>
        <p:spPr bwMode="auto">
          <a:xfrm>
            <a:off x="6445250" y="142875"/>
            <a:ext cx="2232025" cy="581025"/>
          </a:xfrm>
          <a:prstGeom prst="rect">
            <a:avLst/>
          </a:prstGeom>
          <a:noFill/>
          <a:ln w="9525">
            <a:noFill/>
            <a:miter lim="800000"/>
          </a:ln>
          <a:effectLst/>
        </p:spPr>
        <p:txBody>
          <a:bodyPr wrap="none">
            <a:spAutoFit/>
          </a:bodyPr>
          <a:lstStyle/>
          <a:p>
            <a:pPr fontAlgn="base">
              <a:spcBef>
                <a:spcPct val="0"/>
              </a:spcBef>
              <a:spcAft>
                <a:spcPct val="0"/>
              </a:spcAft>
              <a:defRPr/>
            </a:pPr>
            <a:r>
              <a:rPr lang="zh-CN" altLang="en-US" sz="1600" b="1">
                <a:solidFill>
                  <a:srgbClr val="FFFF00"/>
                </a:solidFill>
                <a:effectLst>
                  <a:outerShdw blurRad="38100" dist="38100" dir="2700000" algn="tl">
                    <a:srgbClr val="000000"/>
                  </a:outerShdw>
                </a:effectLst>
              </a:rPr>
              <a:t>毛泽东思想和中国特色</a:t>
            </a:r>
          </a:p>
          <a:p>
            <a:pPr fontAlgn="base">
              <a:spcBef>
                <a:spcPct val="0"/>
              </a:spcBef>
              <a:spcAft>
                <a:spcPct val="0"/>
              </a:spcAft>
              <a:defRPr/>
            </a:pPr>
            <a:r>
              <a:rPr lang="zh-CN" altLang="en-US" sz="1600" b="1">
                <a:solidFill>
                  <a:srgbClr val="FFFF00"/>
                </a:solidFill>
                <a:effectLst>
                  <a:outerShdw blurRad="38100" dist="38100" dir="2700000" algn="tl">
                    <a:srgbClr val="000000"/>
                  </a:outerShdw>
                </a:effectLst>
              </a:rPr>
              <a:t>社会主义理论体系概论</a:t>
            </a:r>
          </a:p>
        </p:txBody>
      </p:sp>
      <p:pic>
        <p:nvPicPr>
          <p:cNvPr id="1027" name="Picture 4" descr="20042291743154609"/>
          <p:cNvPicPr>
            <a:picLocks noChangeAspect="1"/>
          </p:cNvPicPr>
          <p:nvPr userDrawn="1"/>
        </p:nvPicPr>
        <p:blipFill>
          <a:blip r:embed="rId15" cstate="print"/>
          <a:stretch>
            <a:fillRect/>
          </a:stretch>
        </p:blipFill>
        <p:spPr>
          <a:xfrm rot="10800000">
            <a:off x="0" y="4652963"/>
            <a:ext cx="2071688" cy="2205037"/>
          </a:xfrm>
          <a:prstGeom prst="rect">
            <a:avLst/>
          </a:prstGeom>
          <a:noFill/>
          <a:ln w="9525">
            <a:noFill/>
          </a:ln>
        </p:spPr>
      </p:pic>
      <p:pic>
        <p:nvPicPr>
          <p:cNvPr id="1028" name="Picture 5" descr="d57e99945712b42ed31b7026">
            <a:hlinkClick r:id="rId16"/>
          </p:cNvPr>
          <p:cNvPicPr>
            <a:picLocks noChangeAspect="1"/>
          </p:cNvPicPr>
          <p:nvPr userDrawn="1"/>
        </p:nvPicPr>
        <p:blipFill>
          <a:blip r:embed="rId17" cstate="print"/>
          <a:stretch>
            <a:fillRect/>
          </a:stretch>
        </p:blipFill>
        <p:spPr>
          <a:xfrm>
            <a:off x="8172450" y="5876925"/>
            <a:ext cx="719138" cy="720725"/>
          </a:xfrm>
          <a:prstGeom prst="rect">
            <a:avLst/>
          </a:prstGeom>
          <a:noFill/>
          <a:ln w="9525">
            <a:noFill/>
          </a:ln>
        </p:spPr>
      </p:pic>
    </p:spTree>
    <p:extLst>
      <p:ext uri="{BB962C8B-B14F-4D97-AF65-F5344CB8AC3E}">
        <p14:creationId xmlns:p14="http://schemas.microsoft.com/office/powerpoint/2010/main" xmlns="" val="311053386"/>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Lst>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hf sldNum="0"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pic>
        <p:nvPicPr>
          <p:cNvPr id="8" name="图片 7"/>
          <p:cNvPicPr>
            <a:picLocks noChangeAspect="1"/>
          </p:cNvPicPr>
          <p:nvPr/>
        </p:nvPicPr>
        <p:blipFill>
          <a:blip r:embed="rId15" cstate="print">
            <a:duotone>
              <a:schemeClr val="accent1"/>
              <a:srgbClr val="FFFFFF"/>
            </a:duotone>
            <a:lum bright="12000" contrast="40000"/>
          </a:blip>
          <a:stretch>
            <a:fillRect/>
          </a:stretch>
        </p:blipFill>
        <p:spPr>
          <a:xfrm>
            <a:off x="6667809" y="4915143"/>
            <a:ext cx="2476191" cy="1942857"/>
          </a:xfrm>
          <a:prstGeom prst="rect">
            <a:avLst/>
          </a:prstGeom>
          <a:noFill/>
          <a:ln>
            <a:noFill/>
          </a:ln>
        </p:spPr>
      </p:pic>
      <p:sp>
        <p:nvSpPr>
          <p:cNvPr id="10" name="矩形 9"/>
          <p:cNvSpPr/>
          <p:nvPr/>
        </p:nvSpPr>
        <p:spPr>
          <a:xfrm>
            <a:off x="0" y="0"/>
            <a:ext cx="9144000" cy="71438"/>
          </a:xfrm>
          <a:prstGeom prst="rect">
            <a:avLst/>
          </a:prstGeom>
          <a:gradFill flip="none" rotWithShape="1">
            <a:gsLst>
              <a:gs pos="0">
                <a:schemeClr val="accent1">
                  <a:tint val="100000"/>
                  <a:shade val="50000"/>
                  <a:hueMod val="100000"/>
                  <a:satMod val="250000"/>
                  <a:alpha val="0"/>
                </a:schemeClr>
              </a:gs>
              <a:gs pos="75000">
                <a:schemeClr val="accent1">
                  <a:tint val="80000"/>
                  <a:shade val="100000"/>
                  <a:hueMod val="100000"/>
                  <a:satMod val="375000"/>
                  <a:alpha val="20000"/>
                </a:schemeClr>
              </a:gs>
              <a:gs pos="100000">
                <a:schemeClr val="accent1">
                  <a:tint val="50000"/>
                  <a:shade val="100000"/>
                  <a:hueMod val="100000"/>
                  <a:satMod val="500000"/>
                </a:schemeClr>
              </a:gs>
            </a:gsLst>
            <a:lin ang="18900000" scaled="1"/>
            <a:tileRect/>
          </a:gradFill>
          <a:ln w="12700" cap="rnd" cmpd="sng" algn="ctr">
            <a:noFill/>
            <a:prstDash val="solid"/>
          </a:ln>
        </p:spPr>
        <p:style>
          <a:lnRef idx="1">
            <a:schemeClr val="accent1"/>
          </a:lnRef>
          <a:fillRef idx="2">
            <a:schemeClr val="accent1"/>
          </a:fillRef>
          <a:effectRef idx="1">
            <a:schemeClr val="accent1"/>
          </a:effectRef>
          <a:fontRef idx="minor">
            <a:schemeClr val="dk1"/>
          </a:fontRef>
        </p:style>
        <p:txBody>
          <a:bodyPr rtlCol="0" anchor="ctr"/>
          <a:lstStyle/>
          <a:p>
            <a:pPr algn="ctr" eaLnBrk="1" latinLnBrk="0" hangingPunct="1"/>
            <a:endParaRPr kumimoji="0" lang="zh-CN" altLang="en-US"/>
          </a:p>
        </p:txBody>
      </p:sp>
      <p:sp>
        <p:nvSpPr>
          <p:cNvPr id="11" name="矩形 10"/>
          <p:cNvSpPr/>
          <p:nvPr/>
        </p:nvSpPr>
        <p:spPr>
          <a:xfrm>
            <a:off x="0" y="40951"/>
            <a:ext cx="4572000" cy="71438"/>
          </a:xfrm>
          <a:prstGeom prst="rect">
            <a:avLst/>
          </a:prstGeom>
          <a:gradFill flip="none" rotWithShape="1">
            <a:gsLst>
              <a:gs pos="0">
                <a:schemeClr val="accent1">
                  <a:tint val="100000"/>
                  <a:shade val="50000"/>
                  <a:hueMod val="100000"/>
                  <a:satMod val="250000"/>
                  <a:alpha val="0"/>
                </a:schemeClr>
              </a:gs>
              <a:gs pos="75000">
                <a:schemeClr val="accent1">
                  <a:tint val="80000"/>
                  <a:shade val="100000"/>
                  <a:hueMod val="100000"/>
                  <a:satMod val="375000"/>
                  <a:alpha val="5000"/>
                </a:schemeClr>
              </a:gs>
              <a:gs pos="100000">
                <a:schemeClr val="accent1">
                  <a:tint val="50000"/>
                  <a:shade val="100000"/>
                  <a:hueMod val="100000"/>
                  <a:satMod val="500000"/>
                  <a:alpha val="60000"/>
                </a:schemeClr>
              </a:gs>
            </a:gsLst>
            <a:lin ang="8100000" scaled="1"/>
            <a:tileRect/>
          </a:gradFill>
          <a:ln w="12700" cap="rnd" cmpd="sng" algn="ctr">
            <a:noFill/>
            <a:prstDash val="solid"/>
          </a:ln>
          <a:effectLst>
            <a:glow>
              <a:schemeClr val="accent1">
                <a:tint val="100000"/>
                <a:shade val="100000"/>
                <a:hueMod val="100000"/>
                <a:satMod val="100000"/>
              </a:schemeClr>
            </a:glow>
            <a:softEdge rad="12700"/>
          </a:effectLst>
        </p:spPr>
        <p:style>
          <a:lnRef idx="1">
            <a:schemeClr val="accent1"/>
          </a:lnRef>
          <a:fillRef idx="2">
            <a:schemeClr val="accent1"/>
          </a:fillRef>
          <a:effectRef idx="1">
            <a:schemeClr val="accent1"/>
          </a:effectRef>
          <a:fontRef idx="minor">
            <a:schemeClr val="dk1"/>
          </a:fontRef>
        </p:style>
        <p:txBody>
          <a:bodyPr rtlCol="0" anchor="ctr"/>
          <a:lstStyle/>
          <a:p>
            <a:pPr algn="ctr" eaLnBrk="1" latinLnBrk="0" hangingPunct="1"/>
            <a:endParaRPr kumimoji="0" lang="zh-CN" altLang="en-US"/>
          </a:p>
        </p:txBody>
      </p:sp>
      <p:pic>
        <p:nvPicPr>
          <p:cNvPr id="9" name="图片 8"/>
          <p:cNvPicPr>
            <a:picLocks noChangeAspect="1"/>
          </p:cNvPicPr>
          <p:nvPr/>
        </p:nvPicPr>
        <p:blipFill>
          <a:blip r:embed="rId16" cstate="print">
            <a:duotone>
              <a:schemeClr val="accent1"/>
              <a:srgbClr val="FFFFFF"/>
            </a:duotone>
            <a:lum bright="35000" contrast="40000"/>
          </a:blip>
          <a:stretch>
            <a:fillRect/>
          </a:stretch>
        </p:blipFill>
        <p:spPr>
          <a:xfrm>
            <a:off x="0" y="6420445"/>
            <a:ext cx="9144000" cy="437555"/>
          </a:xfrm>
          <a:prstGeom prst="rect">
            <a:avLst/>
          </a:prstGeom>
          <a:noFill/>
          <a:ln>
            <a:noFill/>
          </a:ln>
          <a:effectLst/>
        </p:spPr>
      </p:pic>
      <p:sp>
        <p:nvSpPr>
          <p:cNvPr id="2" name="标题占位符 1"/>
          <p:cNvSpPr>
            <a:spLocks noGrp="1"/>
          </p:cNvSpPr>
          <p:nvPr>
            <p:ph type="title"/>
          </p:nvPr>
        </p:nvSpPr>
        <p:spPr>
          <a:xfrm>
            <a:off x="457200" y="274638"/>
            <a:ext cx="8229600" cy="1143000"/>
          </a:xfrm>
          <a:prstGeom prst="rect">
            <a:avLst/>
          </a:prstGeom>
        </p:spPr>
        <p:txBody>
          <a:bodyPr vert="horz" rtlCol="0" anchor="ctr">
            <a:normAutofit/>
          </a:body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457200" y="1600200"/>
            <a:ext cx="8229600" cy="4525963"/>
          </a:xfrm>
          <a:prstGeom prst="rect">
            <a:avLst/>
          </a:prstGeom>
        </p:spPr>
        <p:txBody>
          <a:bodyPr vert="horz" rtlCol="0">
            <a:normAutofit/>
          </a:bodyPr>
          <a:lstStyle/>
          <a:p>
            <a:pPr lvl="0" eaLnBrk="1" latinLnBrk="0" hangingPunct="1"/>
            <a:r>
              <a:rPr kumimoji="0" lang="zh-CN" altLang="en-US" smtClean="0"/>
              <a:t>单击此处编辑母版文本样式</a:t>
            </a:r>
          </a:p>
          <a:p>
            <a:pPr lvl="1" eaLnBrk="1" latinLnBrk="0" hangingPunct="1"/>
            <a:r>
              <a:rPr kumimoji="0" lang="zh-CN" altLang="en-US" smtClean="0"/>
              <a:t>第二级</a:t>
            </a:r>
          </a:p>
          <a:p>
            <a:pPr lvl="2" eaLnBrk="1" latinLnBrk="0" hangingPunct="1"/>
            <a:r>
              <a:rPr kumimoji="0" lang="zh-CN" altLang="en-US" smtClean="0"/>
              <a:t>第三级</a:t>
            </a:r>
          </a:p>
          <a:p>
            <a:pPr lvl="3" eaLnBrk="1" latinLnBrk="0" hangingPunct="1"/>
            <a:r>
              <a:rPr kumimoji="0" lang="zh-CN" altLang="en-US" smtClean="0"/>
              <a:t>第四级</a:t>
            </a:r>
          </a:p>
          <a:p>
            <a:pPr lvl="4" eaLnBrk="1" latinLnBrk="0" hangingPunct="1"/>
            <a:r>
              <a:rPr kumimoji="0" lang="zh-CN" altLang="en-US" smtClean="0"/>
              <a:t>第五级</a:t>
            </a:r>
            <a:endParaRPr kumimoji="0" lang="en-US"/>
          </a:p>
        </p:txBody>
      </p:sp>
      <p:sp>
        <p:nvSpPr>
          <p:cNvPr id="4" name="日期占位符 3"/>
          <p:cNvSpPr>
            <a:spLocks noGrp="1"/>
          </p:cNvSpPr>
          <p:nvPr>
            <p:ph type="dt" sz="half" idx="2"/>
          </p:nvPr>
        </p:nvSpPr>
        <p:spPr>
          <a:xfrm>
            <a:off x="457200" y="6356350"/>
            <a:ext cx="2133600" cy="365125"/>
          </a:xfrm>
          <a:prstGeom prst="rect">
            <a:avLst/>
          </a:prstGeom>
        </p:spPr>
        <p:txBody>
          <a:bodyPr vert="horz" rtlCol="0" anchor="ctr"/>
          <a:lstStyle>
            <a:lvl1pPr algn="l" eaLnBrk="1" latinLnBrk="0" hangingPunct="1">
              <a:defRPr kumimoji="0" sz="1200">
                <a:solidFill>
                  <a:schemeClr val="tx1">
                    <a:tint val="75000"/>
                  </a:schemeClr>
                </a:solidFill>
              </a:defRPr>
            </a:lvl1pPr>
          </a:lstStyle>
          <a:p>
            <a:pPr eaLnBrk="1" latinLnBrk="0" hangingPunct="1"/>
            <a:fld id="{54122987-CD27-4AB6-B5EE-BBB2825D6C9B}" type="datetimeFigureOut">
              <a:rPr lang="en-US" smtClean="0"/>
              <a:pPr eaLnBrk="1" latinLnBrk="0" hangingPunct="1"/>
              <a:t>11/14/2021</a:t>
            </a:fld>
            <a:endParaRPr 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rtlCol="0" anchor="ctr"/>
          <a:lstStyle>
            <a:lvl1pPr algn="ctr" eaLnBrk="1" latinLnBrk="0" hangingPunct="1">
              <a:defRPr kumimoji="0" sz="1200">
                <a:solidFill>
                  <a:schemeClr val="tx1">
                    <a:tint val="75000"/>
                  </a:schemeClr>
                </a:solidFill>
              </a:defRPr>
            </a:lvl1pPr>
          </a:lstStyle>
          <a:p>
            <a:endParaRPr kumimoji="0"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rtlCol="0" anchor="ctr"/>
          <a:lstStyle>
            <a:lvl1pPr algn="r" eaLnBrk="1" latinLnBrk="0" hangingPunct="1">
              <a:defRPr kumimoji="0" sz="1200">
                <a:solidFill>
                  <a:schemeClr val="tx1">
                    <a:tint val="75000"/>
                  </a:schemeClr>
                </a:solidFill>
              </a:defRPr>
            </a:lvl1pPr>
          </a:lstStyle>
          <a:p>
            <a:fld id="{3236937C-4296-4F09-BFBF-208432D16C49}" type="slidenum">
              <a:rPr kumimoji="0" lang="en-US" smtClean="0"/>
              <a:pPr/>
              <a:t>‹#›</a:t>
            </a:fld>
            <a:endParaRPr kumimoji="0" lang="zh-CN" altLang="en-US"/>
          </a:p>
        </p:txBody>
      </p:sp>
      <p:pic>
        <p:nvPicPr>
          <p:cNvPr id="12" name="Picture 4" descr="20042291743154609"/>
          <p:cNvPicPr>
            <a:picLocks noChangeAspect="1"/>
          </p:cNvPicPr>
          <p:nvPr userDrawn="1"/>
        </p:nvPicPr>
        <p:blipFill>
          <a:blip r:embed="rId17" cstate="print"/>
          <a:stretch>
            <a:fillRect/>
          </a:stretch>
        </p:blipFill>
        <p:spPr>
          <a:xfrm rot="10800000">
            <a:off x="0" y="4652963"/>
            <a:ext cx="2071688" cy="2205037"/>
          </a:xfrm>
          <a:prstGeom prst="rect">
            <a:avLst/>
          </a:prstGeom>
          <a:noFill/>
          <a:ln w="9525">
            <a:noFill/>
          </a:ln>
        </p:spPr>
      </p:pic>
      <p:pic>
        <p:nvPicPr>
          <p:cNvPr id="13" name="Picture 5" descr="d57e99945712b42ed31b7026">
            <a:hlinkClick r:id="rId18"/>
          </p:cNvPr>
          <p:cNvPicPr>
            <a:picLocks noChangeAspect="1"/>
          </p:cNvPicPr>
          <p:nvPr userDrawn="1"/>
        </p:nvPicPr>
        <p:blipFill>
          <a:blip r:embed="rId19" cstate="print"/>
          <a:stretch>
            <a:fillRect/>
          </a:stretch>
        </p:blipFill>
        <p:spPr>
          <a:xfrm>
            <a:off x="8172450" y="5876925"/>
            <a:ext cx="719138" cy="720725"/>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28" r:id="rId1"/>
    <p:sldLayoutId id="2147483729" r:id="rId2"/>
    <p:sldLayoutId id="2147483730" r:id="rId3"/>
    <p:sldLayoutId id="2147483731" r:id="rId4"/>
    <p:sldLayoutId id="2147483732" r:id="rId5"/>
    <p:sldLayoutId id="2147483733" r:id="rId6"/>
    <p:sldLayoutId id="2147483734" r:id="rId7"/>
    <p:sldLayoutId id="2147483735" r:id="rId8"/>
    <p:sldLayoutId id="2147483736" r:id="rId9"/>
    <p:sldLayoutId id="2147483737" r:id="rId10"/>
    <p:sldLayoutId id="2147483738" r:id="rId11"/>
    <p:sldLayoutId id="2147483739" r:id="rId12"/>
    <p:sldLayoutId id="2147483740" r:id="rId13"/>
  </p:sldLayoutIdLst>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timing>
    <p:tnLst>
      <p:par>
        <p:cTn id="1" dur="indefinite" restart="never" nodeType="tmRoot"/>
      </p:par>
    </p:tnLst>
  </p:timing>
  <p:hf sldNum="0" hdr="0" ftr="0" dt="0"/>
  <p:txStyles>
    <p:titleStyle>
      <a:lvl1pPr algn="ctr" rtl="0" eaLnBrk="1" latinLnBrk="0" hangingPunct="1">
        <a:spcBef>
          <a:spcPct val="0"/>
        </a:spcBef>
        <a:buNone/>
        <a:defRPr kumimoji="0" sz="4400" kern="1200">
          <a:solidFill>
            <a:schemeClr val="tx2"/>
          </a:solidFill>
          <a:latin typeface="+mj-lt"/>
          <a:ea typeface="+mj-ea"/>
          <a:cs typeface="+mj-cs"/>
        </a:defRPr>
      </a:lvl1pPr>
      <a:lvl2pPr eaLnBrk="1" latinLnBrk="0" hangingPunct="1">
        <a:defRPr kumimoji="0">
          <a:solidFill>
            <a:schemeClr val="tx2"/>
          </a:solidFill>
        </a:defRPr>
      </a:lvl2pPr>
      <a:lvl3pPr eaLnBrk="1" latinLnBrk="0" hangingPunct="1">
        <a:defRPr kumimoji="0">
          <a:solidFill>
            <a:schemeClr val="tx2"/>
          </a:solidFill>
        </a:defRPr>
      </a:lvl3pPr>
      <a:lvl4pPr eaLnBrk="1" latinLnBrk="0" hangingPunct="1">
        <a:defRPr kumimoji="0">
          <a:solidFill>
            <a:schemeClr val="tx2"/>
          </a:solidFill>
        </a:defRPr>
      </a:lvl4pPr>
      <a:lvl5pPr eaLnBrk="1" latinLnBrk="0" hangingPunct="1">
        <a:defRPr kumimoji="0">
          <a:solidFill>
            <a:schemeClr val="tx2"/>
          </a:solidFill>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p:titleStyle>
    <p:bodyStyle>
      <a:lvl1pPr marL="342900" indent="-342900" algn="l" rtl="0" eaLnBrk="1" latinLnBrk="0" hangingPunct="1">
        <a:spcBef>
          <a:spcPct val="20000"/>
        </a:spcBef>
        <a:buClr>
          <a:schemeClr val="accent1"/>
        </a:buClr>
        <a:buSzPct val="50000"/>
        <a:buFont typeface="Wingdings 2"/>
        <a:buChar char=""/>
        <a:defRPr kumimoji="0" sz="3200" kern="1200">
          <a:solidFill>
            <a:schemeClr val="tx1"/>
          </a:solidFill>
          <a:latin typeface="+mn-lt"/>
          <a:ea typeface="+mn-ea"/>
          <a:cs typeface="+mn-cs"/>
        </a:defRPr>
      </a:lvl1pPr>
      <a:lvl2pPr marL="742950" indent="-285750" algn="l" rtl="0" eaLnBrk="1" latinLnBrk="0" hangingPunct="1">
        <a:spcBef>
          <a:spcPct val="20000"/>
        </a:spcBef>
        <a:buClr>
          <a:schemeClr val="accent2"/>
        </a:buClr>
        <a:buSzPct val="50000"/>
        <a:buFont typeface="Wingdings 2"/>
        <a:buChar char="³"/>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accent3"/>
        </a:buClr>
        <a:buSzPct val="60000"/>
        <a:buFont typeface="Wingdings 2"/>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accent5"/>
        </a:buClr>
        <a:buSzPct val="45000"/>
        <a:buFont typeface="Wingdings 2"/>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accent6"/>
        </a:buClr>
        <a:buFont typeface="Wingdings 2"/>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5.xml"/><Relationship Id="rId1" Type="http://schemas.openxmlformats.org/officeDocument/2006/relationships/vmlDrawing" Target="../drawings/vmlDrawing1.vml"/></Relationships>
</file>

<file path=ppt/slides/_rels/slide4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5.xml"/></Relationships>
</file>

<file path=ppt/slides/_rels/slide4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5.xml"/></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5.xml"/><Relationship Id="rId1" Type="http://schemas.openxmlformats.org/officeDocument/2006/relationships/vmlDrawing" Target="../drawings/vmlDrawing2.v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2.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1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4.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5.xml"/></Relationships>
</file>

<file path=ppt/slides/_rels/slide55.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15.xml"/></Relationships>
</file>

<file path=ppt/slides/_rels/slide5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Layout" Target="../slideLayouts/slideLayout15.xml"/><Relationship Id="rId1" Type="http://schemas.openxmlformats.org/officeDocument/2006/relationships/video" Target="file:///F:\05&#24180;&#27611;&#27010;&#26032;&#35838;&#20214;\&#31532;10&#35762;\&#25913;&#36896;&#32988;&#21033;.mpg"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0"/>
          <p:cNvSpPr/>
          <p:nvPr/>
        </p:nvSpPr>
        <p:spPr>
          <a:xfrm>
            <a:off x="971600" y="1412776"/>
            <a:ext cx="6552728" cy="707886"/>
          </a:xfrm>
          <a:prstGeom prst="rect">
            <a:avLst/>
          </a:prstGeom>
          <a:solidFill>
            <a:schemeClr val="bg1"/>
          </a:solidFill>
          <a:ln w="12700" cap="flat" cmpd="sng">
            <a:solidFill>
              <a:srgbClr val="FF0000"/>
            </a:solidFill>
            <a:prstDash val="solid"/>
            <a:miter/>
            <a:headEnd type="none" w="med" len="med"/>
            <a:tailEnd type="none" w="med" len="med"/>
          </a:ln>
        </p:spPr>
        <p:txBody>
          <a:bodyPr wrap="square" anchor="t">
            <a:spAutoFit/>
          </a:bodyPr>
          <a:lstStyle/>
          <a:p>
            <a:pPr lvl="0"/>
            <a:r>
              <a:rPr lang="zh-CN" altLang="en-US" sz="4000" b="1" dirty="0" smtClean="0">
                <a:solidFill>
                  <a:srgbClr val="FF0000"/>
                </a:solidFill>
                <a:latin typeface="华文琥珀" pitchFamily="2" charset="-122"/>
                <a:ea typeface="华文琥珀" pitchFamily="2" charset="-122"/>
              </a:rPr>
              <a:t>第三章     社会主义改造理论</a:t>
            </a:r>
            <a:endParaRPr lang="en-US" altLang="zh-CN" sz="4000" b="1" dirty="0">
              <a:solidFill>
                <a:srgbClr val="FF0000"/>
              </a:solidFill>
              <a:latin typeface="华文琥珀" pitchFamily="2" charset="-122"/>
              <a:ea typeface="华文琥珀" pitchFamily="2" charset="-122"/>
            </a:endParaRPr>
          </a:p>
        </p:txBody>
      </p:sp>
      <p:sp>
        <p:nvSpPr>
          <p:cNvPr id="6" name="Rectangle 10"/>
          <p:cNvSpPr/>
          <p:nvPr/>
        </p:nvSpPr>
        <p:spPr>
          <a:xfrm>
            <a:off x="3131840" y="4149080"/>
            <a:ext cx="2773114" cy="549381"/>
          </a:xfrm>
          <a:prstGeom prst="rect">
            <a:avLst/>
          </a:prstGeom>
          <a:solidFill>
            <a:schemeClr val="bg1"/>
          </a:solidFill>
          <a:ln w="12700" cap="flat" cmpd="sng">
            <a:solidFill>
              <a:srgbClr val="FF0000"/>
            </a:solidFill>
            <a:prstDash val="solid"/>
            <a:miter/>
            <a:headEnd type="none" w="med" len="med"/>
            <a:tailEnd type="none" w="med" len="med"/>
          </a:ln>
        </p:spPr>
        <p:txBody>
          <a:bodyPr wrap="square" anchor="t">
            <a:spAutoFit/>
          </a:bodyPr>
          <a:lstStyle/>
          <a:p>
            <a:pPr lvl="0">
              <a:lnSpc>
                <a:spcPct val="105000"/>
              </a:lnSpc>
              <a:spcBef>
                <a:spcPct val="50000"/>
              </a:spcBef>
            </a:pPr>
            <a:r>
              <a:rPr lang="zh-CN" altLang="en-US" sz="3200" b="1" dirty="0" smtClean="0">
                <a:solidFill>
                  <a:srgbClr val="0000FF"/>
                </a:solidFill>
                <a:latin typeface="+mj-ea"/>
                <a:ea typeface="+mj-ea"/>
              </a:rPr>
              <a:t>  宋艳萍</a:t>
            </a:r>
            <a:endParaRPr lang="en-US" altLang="zh-CN" sz="3200" b="1" dirty="0">
              <a:solidFill>
                <a:srgbClr val="0000FF"/>
              </a:solidFill>
              <a:latin typeface="+mj-ea"/>
              <a:ea typeface="+mj-ea"/>
            </a:endParaRPr>
          </a:p>
        </p:txBody>
      </p:sp>
    </p:spTree>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p:cNvSpPr>
            <a:spLocks noGrp="1"/>
          </p:cNvSpPr>
          <p:nvPr>
            <p:ph idx="1"/>
          </p:nvPr>
        </p:nvSpPr>
        <p:spPr>
          <a:xfrm>
            <a:off x="151114" y="2132856"/>
            <a:ext cx="8712968" cy="3237809"/>
          </a:xfrm>
          <a:solidFill>
            <a:schemeClr val="bg1"/>
          </a:solidFill>
          <a:ln w="12700">
            <a:solidFill>
              <a:srgbClr val="FF0000"/>
            </a:solidFill>
            <a:miter/>
          </a:ln>
        </p:spPr>
        <p:txBody>
          <a:bodyPr wrap="square" anchor="t">
            <a:spAutoFit/>
          </a:bodyPr>
          <a:lstStyle/>
          <a:p>
            <a:pPr marL="0" indent="0">
              <a:lnSpc>
                <a:spcPct val="105000"/>
              </a:lnSpc>
              <a:spcBef>
                <a:spcPct val="50000"/>
              </a:spcBef>
              <a:buNone/>
            </a:pPr>
            <a:r>
              <a:rPr lang="en-US" altLang="zh-CN" sz="2800" b="1" dirty="0" smtClean="0">
                <a:solidFill>
                  <a:srgbClr val="0000FF"/>
                </a:solidFill>
                <a:latin typeface="Times New Roman" panose="02020603050405020304" pitchFamily="18" charset="0"/>
                <a:ea typeface="黑体" panose="02010609060101010101" pitchFamily="49" charset="-122"/>
              </a:rPr>
              <a:t>1</a:t>
            </a:r>
            <a:r>
              <a:rPr lang="zh-CN" altLang="en-US" sz="2800" b="1" dirty="0" smtClean="0">
                <a:solidFill>
                  <a:srgbClr val="0000FF"/>
                </a:solidFill>
                <a:latin typeface="Times New Roman" panose="02020603050405020304" pitchFamily="18" charset="0"/>
                <a:ea typeface="黑体" panose="02010609060101010101" pitchFamily="49" charset="-122"/>
              </a:rPr>
              <a:t>、</a:t>
            </a:r>
            <a:r>
              <a:rPr lang="en-US" altLang="zh-CN" sz="2800" b="1" dirty="0" smtClean="0">
                <a:solidFill>
                  <a:srgbClr val="0000FF"/>
                </a:solidFill>
                <a:latin typeface="Times New Roman" panose="02020603050405020304" pitchFamily="18" charset="0"/>
                <a:ea typeface="黑体" panose="02010609060101010101" pitchFamily="49" charset="-122"/>
              </a:rPr>
              <a:t> </a:t>
            </a:r>
            <a:r>
              <a:rPr lang="zh-CN" altLang="en-US" sz="2800" b="1" dirty="0">
                <a:solidFill>
                  <a:srgbClr val="0000FF"/>
                </a:solidFill>
                <a:latin typeface="Times New Roman" panose="02020603050405020304" pitchFamily="18" charset="0"/>
                <a:ea typeface="黑体" panose="02010609060101010101" pitchFamily="49" charset="-122"/>
              </a:rPr>
              <a:t>了解</a:t>
            </a:r>
            <a:r>
              <a:rPr lang="zh-CN" altLang="en-US" sz="2800" b="1" dirty="0" smtClean="0">
                <a:solidFill>
                  <a:srgbClr val="0000FF"/>
                </a:solidFill>
                <a:latin typeface="Times New Roman" panose="02020603050405020304" pitchFamily="18" charset="0"/>
                <a:ea typeface="黑体" panose="02010609060101010101" pitchFamily="49" charset="-122"/>
              </a:rPr>
              <a:t>新民主主义社会的性质，认识从新民主主义社会主义转变是历史的必然。</a:t>
            </a:r>
            <a:r>
              <a:rPr lang="en-US" altLang="zh-CN" sz="2800" b="1" dirty="0" smtClean="0">
                <a:solidFill>
                  <a:srgbClr val="0000FF"/>
                </a:solidFill>
                <a:latin typeface="Times New Roman" panose="02020603050405020304" pitchFamily="18" charset="0"/>
                <a:ea typeface="黑体" panose="02010609060101010101" pitchFamily="49" charset="-122"/>
              </a:rPr>
              <a:t>            </a:t>
            </a:r>
          </a:p>
          <a:p>
            <a:pPr marL="0" indent="0">
              <a:lnSpc>
                <a:spcPct val="105000"/>
              </a:lnSpc>
              <a:spcBef>
                <a:spcPct val="50000"/>
              </a:spcBef>
              <a:buNone/>
            </a:pPr>
            <a:r>
              <a:rPr lang="zh-CN" altLang="en-US" sz="2800" b="1" dirty="0" smtClean="0">
                <a:solidFill>
                  <a:srgbClr val="0000FF"/>
                </a:solidFill>
                <a:latin typeface="Times New Roman" panose="02020603050405020304" pitchFamily="18" charset="0"/>
                <a:ea typeface="黑体" panose="02010609060101010101" pitchFamily="49" charset="-122"/>
              </a:rPr>
              <a:t> </a:t>
            </a:r>
            <a:r>
              <a:rPr lang="en-US" altLang="zh-CN" sz="2800" b="1" dirty="0" smtClean="0">
                <a:solidFill>
                  <a:srgbClr val="0000FF"/>
                </a:solidFill>
                <a:latin typeface="Times New Roman" panose="02020603050405020304" pitchFamily="18" charset="0"/>
                <a:ea typeface="黑体" panose="02010609060101010101" pitchFamily="49" charset="-122"/>
              </a:rPr>
              <a:t>2</a:t>
            </a:r>
            <a:r>
              <a:rPr lang="zh-CN" altLang="en-US" sz="2800" b="1" dirty="0" smtClean="0">
                <a:solidFill>
                  <a:srgbClr val="0000FF"/>
                </a:solidFill>
                <a:latin typeface="Times New Roman" panose="02020603050405020304" pitchFamily="18" charset="0"/>
                <a:ea typeface="黑体" panose="02010609060101010101" pitchFamily="49" charset="-122"/>
              </a:rPr>
              <a:t>、掌握社会主义改造的道路和历史经验</a:t>
            </a:r>
            <a:endParaRPr lang="en-US" altLang="zh-CN" sz="2800" b="1" dirty="0" smtClean="0">
              <a:solidFill>
                <a:srgbClr val="0000FF"/>
              </a:solidFill>
              <a:latin typeface="Times New Roman" panose="02020603050405020304" pitchFamily="18" charset="0"/>
              <a:ea typeface="黑体" panose="02010609060101010101" pitchFamily="49" charset="-122"/>
            </a:endParaRPr>
          </a:p>
          <a:p>
            <a:pPr marL="0" indent="0">
              <a:lnSpc>
                <a:spcPct val="105000"/>
              </a:lnSpc>
              <a:spcBef>
                <a:spcPct val="50000"/>
              </a:spcBef>
              <a:buNone/>
            </a:pPr>
            <a:r>
              <a:rPr lang="en-US" altLang="zh-CN" sz="2800" b="1" dirty="0">
                <a:solidFill>
                  <a:srgbClr val="0000FF"/>
                </a:solidFill>
                <a:latin typeface="Times New Roman" panose="02020603050405020304" pitchFamily="18" charset="0"/>
                <a:ea typeface="黑体" panose="02010609060101010101" pitchFamily="49" charset="-122"/>
              </a:rPr>
              <a:t> </a:t>
            </a:r>
            <a:r>
              <a:rPr lang="en-US" altLang="zh-CN" sz="2800" b="1" dirty="0" smtClean="0">
                <a:solidFill>
                  <a:srgbClr val="0000FF"/>
                </a:solidFill>
                <a:latin typeface="Times New Roman" panose="02020603050405020304" pitchFamily="18" charset="0"/>
                <a:ea typeface="黑体" panose="02010609060101010101" pitchFamily="49" charset="-122"/>
              </a:rPr>
              <a:t>3</a:t>
            </a:r>
            <a:r>
              <a:rPr lang="zh-CN" altLang="en-US" sz="2800" b="1" dirty="0" smtClean="0">
                <a:solidFill>
                  <a:srgbClr val="0000FF"/>
                </a:solidFill>
                <a:latin typeface="Times New Roman" panose="02020603050405020304" pitchFamily="18" charset="0"/>
                <a:ea typeface="黑体" panose="02010609060101010101" pitchFamily="49" charset="-122"/>
              </a:rPr>
              <a:t>、认识社会主义改造的基本完成，标志着社会主义制度在中国的确立。社会主义制度的确立，为中国社会的进步和发展创造了基本前提。</a:t>
            </a:r>
            <a:endParaRPr lang="zh-CN" altLang="en-US" sz="2800" b="1" dirty="0">
              <a:solidFill>
                <a:srgbClr val="0000FF"/>
              </a:solidFill>
              <a:latin typeface="Times New Roman" panose="02020603050405020304" pitchFamily="18" charset="0"/>
              <a:ea typeface="黑体" panose="02010609060101010101" pitchFamily="49" charset="-122"/>
            </a:endParaRPr>
          </a:p>
        </p:txBody>
      </p:sp>
      <p:sp>
        <p:nvSpPr>
          <p:cNvPr id="3" name="矩形 2"/>
          <p:cNvSpPr/>
          <p:nvPr/>
        </p:nvSpPr>
        <p:spPr>
          <a:xfrm>
            <a:off x="179512" y="188640"/>
            <a:ext cx="3262432" cy="707886"/>
          </a:xfrm>
          <a:prstGeom prst="rect">
            <a:avLst/>
          </a:prstGeom>
          <a:solidFill>
            <a:schemeClr val="bg1"/>
          </a:solidFill>
          <a:ln>
            <a:solidFill>
              <a:srgbClr val="FF0000"/>
            </a:solidFill>
          </a:ln>
        </p:spPr>
        <p:txBody>
          <a:bodyPr wrap="none">
            <a:spAutoFit/>
          </a:bodyPr>
          <a:lstStyle/>
          <a:p>
            <a:r>
              <a:rPr lang="zh-CN" altLang="en-US" sz="4000" b="1" dirty="0" smtClean="0">
                <a:solidFill>
                  <a:srgbClr val="FF0000"/>
                </a:solidFill>
                <a:latin typeface="华文琥珀" pitchFamily="2" charset="-122"/>
                <a:ea typeface="华文琥珀" pitchFamily="2" charset="-122"/>
              </a:rPr>
              <a:t>本章教学目的</a:t>
            </a:r>
            <a:endParaRPr lang="zh-CN" altLang="en-US" sz="4000" dirty="0">
              <a:solidFill>
                <a:srgbClr val="FF0000"/>
              </a:solidFill>
              <a:latin typeface="华文琥珀" pitchFamily="2" charset="-122"/>
              <a:ea typeface="华文琥珀" pitchFamily="2" charset="-122"/>
            </a:endParaRPr>
          </a:p>
        </p:txBody>
      </p:sp>
    </p:spTree>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2"/>
          <p:cNvSpPr>
            <a:spLocks noGrp="1"/>
          </p:cNvSpPr>
          <p:nvPr>
            <p:ph idx="1"/>
          </p:nvPr>
        </p:nvSpPr>
        <p:spPr>
          <a:xfrm>
            <a:off x="683568" y="2780928"/>
            <a:ext cx="7010400" cy="2135969"/>
          </a:xfrm>
          <a:solidFill>
            <a:schemeClr val="bg1"/>
          </a:solidFill>
          <a:ln w="12700">
            <a:solidFill>
              <a:srgbClr val="FF0000"/>
            </a:solidFill>
            <a:miter/>
          </a:ln>
        </p:spPr>
        <p:txBody>
          <a:bodyPr anchor="t">
            <a:spAutoFit/>
          </a:bodyPr>
          <a:lstStyle/>
          <a:p>
            <a:pPr marL="0" indent="0">
              <a:lnSpc>
                <a:spcPct val="105000"/>
              </a:lnSpc>
              <a:spcBef>
                <a:spcPct val="50000"/>
              </a:spcBef>
              <a:buNone/>
            </a:pPr>
            <a:r>
              <a:rPr lang="zh-CN" altLang="en-US" b="1" dirty="0" smtClean="0">
                <a:solidFill>
                  <a:srgbClr val="0000FF"/>
                </a:solidFill>
                <a:latin typeface="Times New Roman" panose="02020603050405020304" pitchFamily="18" charset="0"/>
                <a:ea typeface="黑体" panose="02010609060101010101" pitchFamily="49" charset="-122"/>
              </a:rPr>
              <a:t>新民主主义社会的性质</a:t>
            </a:r>
          </a:p>
          <a:p>
            <a:pPr marL="0" indent="0">
              <a:lnSpc>
                <a:spcPct val="105000"/>
              </a:lnSpc>
              <a:spcBef>
                <a:spcPct val="50000"/>
              </a:spcBef>
              <a:buNone/>
            </a:pPr>
            <a:r>
              <a:rPr lang="zh-CN" altLang="en-US" b="1" dirty="0" smtClean="0">
                <a:solidFill>
                  <a:srgbClr val="0000FF"/>
                </a:solidFill>
                <a:latin typeface="Times New Roman" panose="02020603050405020304" pitchFamily="18" charset="0"/>
                <a:ea typeface="黑体" panose="02010609060101010101" pitchFamily="49" charset="-122"/>
              </a:rPr>
              <a:t>过渡时期</a:t>
            </a:r>
            <a:r>
              <a:rPr lang="zh-CN" altLang="en-US" b="1" dirty="0">
                <a:solidFill>
                  <a:srgbClr val="0000FF"/>
                </a:solidFill>
                <a:latin typeface="Times New Roman" panose="02020603050405020304" pitchFamily="18" charset="0"/>
                <a:ea typeface="黑体" panose="02010609060101010101" pitchFamily="49" charset="-122"/>
              </a:rPr>
              <a:t>总路线提出的历史必然性</a:t>
            </a:r>
          </a:p>
          <a:p>
            <a:pPr marL="0" indent="0">
              <a:lnSpc>
                <a:spcPct val="105000"/>
              </a:lnSpc>
              <a:spcBef>
                <a:spcPct val="50000"/>
              </a:spcBef>
              <a:buNone/>
            </a:pPr>
            <a:r>
              <a:rPr lang="zh-CN" altLang="en-US" b="1" dirty="0" smtClean="0">
                <a:solidFill>
                  <a:srgbClr val="0000FF"/>
                </a:solidFill>
                <a:latin typeface="Times New Roman" panose="02020603050405020304" pitchFamily="18" charset="0"/>
                <a:ea typeface="黑体" panose="02010609060101010101" pitchFamily="49" charset="-122"/>
              </a:rPr>
              <a:t>社会主义改造</a:t>
            </a:r>
            <a:r>
              <a:rPr lang="zh-CN" altLang="en-US" b="1" dirty="0">
                <a:solidFill>
                  <a:srgbClr val="0000FF"/>
                </a:solidFill>
                <a:latin typeface="Times New Roman" panose="02020603050405020304" pitchFamily="18" charset="0"/>
                <a:ea typeface="黑体" panose="02010609060101010101" pitchFamily="49" charset="-122"/>
              </a:rPr>
              <a:t>的</a:t>
            </a:r>
            <a:r>
              <a:rPr lang="zh-CN" altLang="en-US" b="1" dirty="0" smtClean="0">
                <a:solidFill>
                  <a:srgbClr val="0000FF"/>
                </a:solidFill>
                <a:latin typeface="Times New Roman" panose="02020603050405020304" pitchFamily="18" charset="0"/>
                <a:ea typeface="黑体" panose="02010609060101010101" pitchFamily="49" charset="-122"/>
              </a:rPr>
              <a:t>经验</a:t>
            </a:r>
            <a:endParaRPr lang="zh-CN" altLang="en-US" b="1" dirty="0">
              <a:solidFill>
                <a:srgbClr val="0000FF"/>
              </a:solidFill>
              <a:latin typeface="Times New Roman" panose="02020603050405020304" pitchFamily="18" charset="0"/>
              <a:ea typeface="黑体" panose="02010609060101010101" pitchFamily="49" charset="-122"/>
            </a:endParaRPr>
          </a:p>
        </p:txBody>
      </p:sp>
      <p:sp>
        <p:nvSpPr>
          <p:cNvPr id="2" name="矩形 1"/>
          <p:cNvSpPr/>
          <p:nvPr/>
        </p:nvSpPr>
        <p:spPr>
          <a:xfrm>
            <a:off x="539552" y="764704"/>
            <a:ext cx="3416320" cy="674031"/>
          </a:xfrm>
          <a:prstGeom prst="rect">
            <a:avLst/>
          </a:prstGeom>
          <a:ln>
            <a:solidFill>
              <a:schemeClr val="accent1"/>
            </a:solidFill>
          </a:ln>
        </p:spPr>
        <p:txBody>
          <a:bodyPr wrap="none">
            <a:spAutoFit/>
          </a:bodyPr>
          <a:lstStyle/>
          <a:p>
            <a:pPr lvl="0">
              <a:lnSpc>
                <a:spcPct val="105000"/>
              </a:lnSpc>
              <a:spcBef>
                <a:spcPct val="50000"/>
              </a:spcBef>
              <a:buClr>
                <a:srgbClr val="477AB1"/>
              </a:buClr>
              <a:buSzPct val="50000"/>
            </a:pPr>
            <a:r>
              <a:rPr lang="zh-CN" altLang="en-US" sz="3600" b="1" dirty="0">
                <a:solidFill>
                  <a:srgbClr val="FF0000"/>
                </a:solidFill>
                <a:latin typeface="华文琥珀" pitchFamily="2" charset="-122"/>
                <a:ea typeface="华文琥珀" pitchFamily="2" charset="-122"/>
              </a:rPr>
              <a:t>本章重点、难点</a:t>
            </a:r>
          </a:p>
        </p:txBody>
      </p:sp>
    </p:spTree>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79513" y="2492896"/>
            <a:ext cx="1008111" cy="1902059"/>
          </a:xfrm>
          <a:prstGeom prst="rect">
            <a:avLst/>
          </a:prstGeom>
          <a:ln>
            <a:solidFill>
              <a:schemeClr val="accent1"/>
            </a:solidFill>
          </a:ln>
        </p:spPr>
        <p:txBody>
          <a:bodyPr wrap="square">
            <a:spAutoFit/>
          </a:bodyPr>
          <a:lstStyle/>
          <a:p>
            <a:pPr lvl="0">
              <a:lnSpc>
                <a:spcPct val="105000"/>
              </a:lnSpc>
              <a:spcBef>
                <a:spcPct val="50000"/>
              </a:spcBef>
              <a:buClr>
                <a:srgbClr val="477AB1"/>
              </a:buClr>
              <a:buSzPct val="50000"/>
            </a:pPr>
            <a:r>
              <a:rPr lang="zh-CN" altLang="en-US" sz="2800" b="1" dirty="0" smtClean="0">
                <a:solidFill>
                  <a:srgbClr val="FF0000"/>
                </a:solidFill>
                <a:latin typeface="黑体" pitchFamily="49" charset="-122"/>
                <a:ea typeface="黑体" pitchFamily="49" charset="-122"/>
              </a:rPr>
              <a:t>社会主义改造理论</a:t>
            </a:r>
            <a:endParaRPr lang="zh-CN" altLang="en-US" sz="2800" b="1" dirty="0">
              <a:solidFill>
                <a:srgbClr val="FF0000"/>
              </a:solidFill>
              <a:latin typeface="黑体" pitchFamily="49" charset="-122"/>
              <a:ea typeface="黑体" pitchFamily="49" charset="-122"/>
            </a:endParaRPr>
          </a:p>
        </p:txBody>
      </p:sp>
      <p:sp>
        <p:nvSpPr>
          <p:cNvPr id="5" name="矩形 4"/>
          <p:cNvSpPr/>
          <p:nvPr/>
        </p:nvSpPr>
        <p:spPr>
          <a:xfrm>
            <a:off x="1763688" y="1484784"/>
            <a:ext cx="3587842" cy="435119"/>
          </a:xfrm>
          <a:prstGeom prst="rect">
            <a:avLst/>
          </a:prstGeom>
          <a:ln>
            <a:solidFill>
              <a:schemeClr val="accent1"/>
            </a:solidFill>
          </a:ln>
        </p:spPr>
        <p:txBody>
          <a:bodyPr wrap="none">
            <a:spAutoFit/>
          </a:bodyPr>
          <a:lstStyle/>
          <a:p>
            <a:pPr lvl="0">
              <a:lnSpc>
                <a:spcPct val="105000"/>
              </a:lnSpc>
              <a:spcBef>
                <a:spcPct val="50000"/>
              </a:spcBef>
              <a:buClr>
                <a:srgbClr val="477AB1"/>
              </a:buClr>
              <a:buSzPct val="50000"/>
            </a:pPr>
            <a:r>
              <a:rPr lang="zh-CN" altLang="en-US" sz="2400" b="1" dirty="0" smtClean="0">
                <a:solidFill>
                  <a:srgbClr val="FF0000"/>
                </a:solidFill>
                <a:latin typeface="黑体" pitchFamily="49" charset="-122"/>
                <a:ea typeface="黑体" pitchFamily="49" charset="-122"/>
              </a:rPr>
              <a:t>为什么要向社会主义过渡</a:t>
            </a:r>
            <a:endParaRPr lang="zh-CN" altLang="en-US" sz="2400" b="1" dirty="0">
              <a:solidFill>
                <a:srgbClr val="FF0000"/>
              </a:solidFill>
              <a:latin typeface="黑体" pitchFamily="49" charset="-122"/>
              <a:ea typeface="黑体" pitchFamily="49" charset="-122"/>
            </a:endParaRPr>
          </a:p>
        </p:txBody>
      </p:sp>
      <p:sp>
        <p:nvSpPr>
          <p:cNvPr id="6" name="矩形 5"/>
          <p:cNvSpPr/>
          <p:nvPr/>
        </p:nvSpPr>
        <p:spPr>
          <a:xfrm>
            <a:off x="1763688" y="3140968"/>
            <a:ext cx="5134739" cy="435119"/>
          </a:xfrm>
          <a:prstGeom prst="rect">
            <a:avLst/>
          </a:prstGeom>
          <a:ln>
            <a:solidFill>
              <a:schemeClr val="accent1"/>
            </a:solidFill>
          </a:ln>
        </p:spPr>
        <p:txBody>
          <a:bodyPr wrap="none">
            <a:spAutoFit/>
          </a:bodyPr>
          <a:lstStyle/>
          <a:p>
            <a:pPr lvl="0">
              <a:lnSpc>
                <a:spcPct val="105000"/>
              </a:lnSpc>
              <a:spcBef>
                <a:spcPct val="50000"/>
              </a:spcBef>
              <a:buClr>
                <a:srgbClr val="477AB1"/>
              </a:buClr>
              <a:buSzPct val="50000"/>
            </a:pPr>
            <a:r>
              <a:rPr lang="zh-CN" altLang="en-US" sz="2400" b="1" dirty="0" smtClean="0">
                <a:solidFill>
                  <a:srgbClr val="FF0000"/>
                </a:solidFill>
                <a:latin typeface="黑体" pitchFamily="49" charset="-122"/>
                <a:ea typeface="黑体" pitchFamily="49" charset="-122"/>
              </a:rPr>
              <a:t>新民主主义社会如何向社会主义过渡</a:t>
            </a:r>
            <a:endParaRPr lang="zh-CN" altLang="en-US" sz="2400" b="1" dirty="0">
              <a:solidFill>
                <a:srgbClr val="FF0000"/>
              </a:solidFill>
              <a:latin typeface="黑体" pitchFamily="49" charset="-122"/>
              <a:ea typeface="黑体" pitchFamily="49" charset="-122"/>
            </a:endParaRPr>
          </a:p>
        </p:txBody>
      </p:sp>
      <p:sp>
        <p:nvSpPr>
          <p:cNvPr id="7" name="矩形 6"/>
          <p:cNvSpPr/>
          <p:nvPr/>
        </p:nvSpPr>
        <p:spPr>
          <a:xfrm>
            <a:off x="1691680" y="4725144"/>
            <a:ext cx="5444119" cy="435119"/>
          </a:xfrm>
          <a:prstGeom prst="rect">
            <a:avLst/>
          </a:prstGeom>
          <a:ln>
            <a:solidFill>
              <a:schemeClr val="accent1"/>
            </a:solidFill>
          </a:ln>
        </p:spPr>
        <p:txBody>
          <a:bodyPr wrap="none">
            <a:spAutoFit/>
          </a:bodyPr>
          <a:lstStyle/>
          <a:p>
            <a:pPr lvl="0">
              <a:lnSpc>
                <a:spcPct val="105000"/>
              </a:lnSpc>
              <a:spcBef>
                <a:spcPct val="50000"/>
              </a:spcBef>
              <a:buClr>
                <a:srgbClr val="477AB1"/>
              </a:buClr>
              <a:buSzPct val="50000"/>
            </a:pPr>
            <a:r>
              <a:rPr lang="zh-CN" altLang="en-US" sz="2400" b="1" dirty="0" smtClean="0">
                <a:solidFill>
                  <a:srgbClr val="FF0000"/>
                </a:solidFill>
                <a:latin typeface="黑体" pitchFamily="49" charset="-122"/>
                <a:ea typeface="黑体" pitchFamily="49" charset="-122"/>
              </a:rPr>
              <a:t>社会主义基本制度的确立及其重大意义</a:t>
            </a:r>
            <a:endParaRPr lang="zh-CN" altLang="en-US" sz="2400" b="1" dirty="0">
              <a:solidFill>
                <a:srgbClr val="FF0000"/>
              </a:solidFill>
              <a:latin typeface="黑体" pitchFamily="49" charset="-122"/>
              <a:ea typeface="黑体" pitchFamily="49" charset="-122"/>
            </a:endParaRPr>
          </a:p>
        </p:txBody>
      </p:sp>
      <p:sp>
        <p:nvSpPr>
          <p:cNvPr id="8" name="左大括号 7"/>
          <p:cNvSpPr/>
          <p:nvPr/>
        </p:nvSpPr>
        <p:spPr>
          <a:xfrm>
            <a:off x="1187624" y="1844824"/>
            <a:ext cx="504056" cy="3096344"/>
          </a:xfrm>
          <a:prstGeom prst="leftBrace">
            <a:avLst/>
          </a:prstGeom>
          <a:solidFill>
            <a:schemeClr val="accent2"/>
          </a:solidFill>
          <a:ln>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2"/>
          <p:cNvSpPr>
            <a:spLocks noGrp="1"/>
          </p:cNvSpPr>
          <p:nvPr>
            <p:ph idx="1"/>
          </p:nvPr>
        </p:nvSpPr>
        <p:spPr>
          <a:xfrm>
            <a:off x="1187624" y="2348880"/>
            <a:ext cx="7010400" cy="1384995"/>
          </a:xfrm>
          <a:solidFill>
            <a:schemeClr val="bg1"/>
          </a:solidFill>
          <a:ln w="12700">
            <a:solidFill>
              <a:srgbClr val="FF3300"/>
            </a:solidFill>
            <a:miter/>
          </a:ln>
        </p:spPr>
        <p:txBody>
          <a:bodyPr anchor="t">
            <a:spAutoFit/>
          </a:bodyPr>
          <a:lstStyle/>
          <a:p>
            <a:pPr marL="0" indent="0">
              <a:lnSpc>
                <a:spcPct val="105000"/>
              </a:lnSpc>
              <a:spcBef>
                <a:spcPct val="50000"/>
              </a:spcBef>
              <a:buNone/>
            </a:pPr>
            <a:r>
              <a:rPr lang="zh-CN" altLang="en-US" sz="4000" b="1" kern="1200" dirty="0" smtClean="0">
                <a:ln w="18000">
                  <a:solidFill>
                    <a:schemeClr val="accent2">
                      <a:satMod val="140000"/>
                    </a:schemeClr>
                  </a:solidFill>
                  <a:prstDash val="solid"/>
                  <a:miter lim="800000"/>
                </a:ln>
                <a:solidFill>
                  <a:srgbClr val="FF0000"/>
                </a:solidFill>
                <a:effectLst>
                  <a:outerShdw blurRad="25500" dist="23000" dir="7020000" algn="tl">
                    <a:srgbClr val="000000">
                      <a:alpha val="50000"/>
                    </a:srgbClr>
                  </a:outerShdw>
                </a:effectLst>
                <a:latin typeface="+mj-ea"/>
                <a:ea typeface="+mj-ea"/>
              </a:rPr>
              <a:t>    如何</a:t>
            </a:r>
            <a:r>
              <a:rPr lang="zh-CN" altLang="en-US" sz="4000" b="1" kern="1200" dirty="0">
                <a:ln w="18000">
                  <a:solidFill>
                    <a:schemeClr val="accent2">
                      <a:satMod val="140000"/>
                    </a:schemeClr>
                  </a:solidFill>
                  <a:prstDash val="solid"/>
                  <a:miter lim="800000"/>
                </a:ln>
                <a:solidFill>
                  <a:srgbClr val="FF0000"/>
                </a:solidFill>
                <a:effectLst>
                  <a:outerShdw blurRad="25500" dist="23000" dir="7020000" algn="tl">
                    <a:srgbClr val="000000">
                      <a:alpha val="50000"/>
                    </a:srgbClr>
                  </a:outerShdw>
                </a:effectLst>
                <a:latin typeface="+mj-ea"/>
                <a:ea typeface="+mj-ea"/>
              </a:rPr>
              <a:t>认识社会主义改造与社会主义改革的关系？</a:t>
            </a:r>
          </a:p>
        </p:txBody>
      </p:sp>
      <p:sp>
        <p:nvSpPr>
          <p:cNvPr id="2" name="矩形 1"/>
          <p:cNvSpPr/>
          <p:nvPr/>
        </p:nvSpPr>
        <p:spPr>
          <a:xfrm>
            <a:off x="1403648" y="754068"/>
            <a:ext cx="2271776" cy="964880"/>
          </a:xfrm>
          <a:prstGeom prst="rect">
            <a:avLst/>
          </a:prstGeom>
          <a:solidFill>
            <a:schemeClr val="bg1"/>
          </a:solidFill>
          <a:ln>
            <a:solidFill>
              <a:schemeClr val="accent1"/>
            </a:solidFill>
          </a:ln>
        </p:spPr>
        <p:txBody>
          <a:bodyPr wrap="none">
            <a:spAutoFit/>
          </a:bodyPr>
          <a:lstStyle/>
          <a:p>
            <a:pPr lvl="0">
              <a:lnSpc>
                <a:spcPct val="105000"/>
              </a:lnSpc>
              <a:spcBef>
                <a:spcPct val="50000"/>
              </a:spcBef>
              <a:buClr>
                <a:srgbClr val="477AB1"/>
              </a:buClr>
              <a:buSzPct val="50000"/>
            </a:pPr>
            <a:r>
              <a:rPr lang="zh-CN" altLang="en-US" sz="5400" b="1" dirty="0">
                <a:solidFill>
                  <a:srgbClr val="FF0000"/>
                </a:solidFill>
                <a:latin typeface="隶书"/>
                <a:ea typeface="隶书"/>
              </a:rPr>
              <a:t>讨论：</a:t>
            </a:r>
            <a:endParaRPr lang="en-US" altLang="zh-CN" sz="5400" b="1" dirty="0">
              <a:solidFill>
                <a:srgbClr val="FF0000"/>
              </a:solidFill>
              <a:latin typeface="隶书"/>
              <a:ea typeface="隶书"/>
            </a:endParaRPr>
          </a:p>
        </p:txBody>
      </p:sp>
      <p:sp>
        <p:nvSpPr>
          <p:cNvPr id="6" name="Rectangle 10"/>
          <p:cNvSpPr/>
          <p:nvPr/>
        </p:nvSpPr>
        <p:spPr>
          <a:xfrm>
            <a:off x="2195736" y="4581128"/>
            <a:ext cx="5544616" cy="1889748"/>
          </a:xfrm>
          <a:prstGeom prst="rect">
            <a:avLst/>
          </a:prstGeom>
          <a:solidFill>
            <a:schemeClr val="bg1"/>
          </a:solidFill>
          <a:ln w="12700" cap="flat" cmpd="sng">
            <a:solidFill>
              <a:srgbClr val="FF0000"/>
            </a:solidFill>
            <a:prstDash val="solid"/>
            <a:miter/>
            <a:headEnd type="none" w="med" len="med"/>
            <a:tailEnd type="none" w="med" len="med"/>
          </a:ln>
        </p:spPr>
        <p:txBody>
          <a:bodyPr wrap="square" anchor="t">
            <a:spAutoFit/>
          </a:bodyPr>
          <a:lstStyle/>
          <a:p>
            <a:pPr lvl="0">
              <a:lnSpc>
                <a:spcPct val="105000"/>
              </a:lnSpc>
              <a:spcBef>
                <a:spcPct val="50000"/>
              </a:spcBef>
            </a:pPr>
            <a:r>
              <a:rPr lang="zh-CN" altLang="en-US" sz="3200" b="1" dirty="0" smtClean="0">
                <a:solidFill>
                  <a:srgbClr val="0000FF"/>
                </a:solidFill>
                <a:latin typeface="+mj-ea"/>
                <a:ea typeface="+mj-ea"/>
              </a:rPr>
              <a:t> </a:t>
            </a:r>
            <a:r>
              <a:rPr lang="en-US" altLang="zh-CN" sz="3200" b="1" dirty="0" smtClean="0">
                <a:solidFill>
                  <a:srgbClr val="0000FF"/>
                </a:solidFill>
                <a:latin typeface="+mj-ea"/>
                <a:ea typeface="+mj-ea"/>
              </a:rPr>
              <a:t>70</a:t>
            </a:r>
            <a:r>
              <a:rPr lang="zh-CN" altLang="en-US" sz="3200" b="1" dirty="0" smtClean="0">
                <a:solidFill>
                  <a:srgbClr val="0000FF"/>
                </a:solidFill>
                <a:latin typeface="+mj-ea"/>
                <a:ea typeface="+mj-ea"/>
              </a:rPr>
              <a:t>年代以来的改革是对</a:t>
            </a:r>
            <a:r>
              <a:rPr lang="en-US" altLang="zh-CN" sz="3200" b="1" dirty="0" smtClean="0">
                <a:solidFill>
                  <a:srgbClr val="0000FF"/>
                </a:solidFill>
                <a:latin typeface="+mj-ea"/>
                <a:ea typeface="+mj-ea"/>
              </a:rPr>
              <a:t>50</a:t>
            </a:r>
            <a:r>
              <a:rPr lang="zh-CN" altLang="en-US" sz="3200" b="1" dirty="0" smtClean="0">
                <a:solidFill>
                  <a:srgbClr val="0000FF"/>
                </a:solidFill>
                <a:latin typeface="+mj-ea"/>
                <a:ea typeface="+mj-ea"/>
              </a:rPr>
              <a:t>年代社会主义改造的否定吗？</a:t>
            </a:r>
            <a:endParaRPr lang="en-US" altLang="zh-CN" sz="3200" b="1" dirty="0" smtClean="0">
              <a:solidFill>
                <a:srgbClr val="0000FF"/>
              </a:solidFill>
              <a:latin typeface="+mj-ea"/>
              <a:ea typeface="+mj-ea"/>
            </a:endParaRPr>
          </a:p>
          <a:p>
            <a:pPr lvl="0">
              <a:lnSpc>
                <a:spcPct val="105000"/>
              </a:lnSpc>
              <a:spcBef>
                <a:spcPct val="50000"/>
              </a:spcBef>
            </a:pPr>
            <a:r>
              <a:rPr lang="zh-CN" altLang="en-US" sz="3200" b="1" dirty="0" smtClean="0">
                <a:solidFill>
                  <a:srgbClr val="0000FF"/>
                </a:solidFill>
                <a:latin typeface="+mj-ea"/>
                <a:ea typeface="+mj-ea"/>
              </a:rPr>
              <a:t>     如何认识？</a:t>
            </a:r>
            <a:endParaRPr lang="en-US" altLang="zh-CN" sz="3200" b="1" dirty="0">
              <a:solidFill>
                <a:srgbClr val="0000FF"/>
              </a:solidFill>
              <a:latin typeface="+mj-ea"/>
              <a:ea typeface="+mj-ea"/>
            </a:endParaRPr>
          </a:p>
        </p:txBody>
      </p:sp>
    </p:spTree>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p:cNvSpPr>
          <p:nvPr>
            <p:ph type="title"/>
          </p:nvPr>
        </p:nvSpPr>
        <p:spPr>
          <a:xfrm>
            <a:off x="683568" y="2054368"/>
            <a:ext cx="7704138" cy="544765"/>
          </a:xfrm>
          <a:solidFill>
            <a:schemeClr val="bg1"/>
          </a:solidFill>
          <a:ln w="12700">
            <a:solidFill>
              <a:srgbClr val="FF0000"/>
            </a:solidFill>
            <a:miter/>
          </a:ln>
        </p:spPr>
        <p:txBody>
          <a:bodyPr>
            <a:spAutoFit/>
          </a:bodyPr>
          <a:lstStyle/>
          <a:p>
            <a:pPr algn="l" fontAlgn="base">
              <a:lnSpc>
                <a:spcPct val="105000"/>
              </a:lnSpc>
              <a:spcBef>
                <a:spcPct val="50000"/>
              </a:spcBef>
            </a:pPr>
            <a:r>
              <a:rPr lang="zh-CN" altLang="en-US" sz="2800" b="1" dirty="0" smtClean="0">
                <a:solidFill>
                  <a:srgbClr val="0000FF"/>
                </a:solidFill>
                <a:latin typeface="Times New Roman" panose="02020603050405020304" pitchFamily="18" charset="0"/>
                <a:ea typeface="黑体" panose="02010609060101010101" pitchFamily="49" charset="-122"/>
              </a:rPr>
              <a:t>一</a:t>
            </a:r>
            <a:r>
              <a:rPr lang="zh-CN" altLang="en-US" sz="2800" b="1" dirty="0">
                <a:solidFill>
                  <a:srgbClr val="0000FF"/>
                </a:solidFill>
                <a:latin typeface="Times New Roman" panose="02020603050405020304" pitchFamily="18" charset="0"/>
                <a:ea typeface="黑体" panose="02010609060101010101" pitchFamily="49" charset="-122"/>
              </a:rPr>
              <a:t>、新民主主义社会是过渡性的社会 </a:t>
            </a:r>
            <a:endParaRPr lang="zh-CN" altLang="en-US" sz="2800" b="1" strike="noStrike" noProof="1">
              <a:solidFill>
                <a:srgbClr val="0000FF"/>
              </a:solidFill>
              <a:latin typeface="Times New Roman" panose="02020603050405020304" pitchFamily="18" charset="0"/>
              <a:ea typeface="黑体" panose="02010609060101010101" pitchFamily="49" charset="-122"/>
            </a:endParaRPr>
          </a:p>
        </p:txBody>
      </p:sp>
      <p:pic>
        <p:nvPicPr>
          <p:cNvPr id="9218" name="图片 2" descr="2f738bd4b31c870155eb9cc9237f9e2f0708ff44"/>
          <p:cNvPicPr>
            <a:picLocks noChangeAspect="1"/>
          </p:cNvPicPr>
          <p:nvPr/>
        </p:nvPicPr>
        <p:blipFill>
          <a:blip r:embed="rId2" cstate="print"/>
          <a:stretch>
            <a:fillRect/>
          </a:stretch>
        </p:blipFill>
        <p:spPr>
          <a:xfrm>
            <a:off x="1691680" y="2852936"/>
            <a:ext cx="6094413" cy="4103688"/>
          </a:xfrm>
          <a:prstGeom prst="rect">
            <a:avLst/>
          </a:prstGeom>
          <a:noFill/>
          <a:ln w="9525">
            <a:noFill/>
          </a:ln>
        </p:spPr>
      </p:pic>
      <p:sp>
        <p:nvSpPr>
          <p:cNvPr id="4" name="矩形 3"/>
          <p:cNvSpPr/>
          <p:nvPr/>
        </p:nvSpPr>
        <p:spPr>
          <a:xfrm>
            <a:off x="539552" y="764704"/>
            <a:ext cx="8260595" cy="674031"/>
          </a:xfrm>
          <a:prstGeom prst="rect">
            <a:avLst/>
          </a:prstGeom>
          <a:ln>
            <a:solidFill>
              <a:schemeClr val="accent1"/>
            </a:solidFill>
          </a:ln>
        </p:spPr>
        <p:txBody>
          <a:bodyPr wrap="none">
            <a:spAutoFit/>
          </a:bodyPr>
          <a:lstStyle/>
          <a:p>
            <a:pPr lvl="0">
              <a:lnSpc>
                <a:spcPct val="105000"/>
              </a:lnSpc>
              <a:spcBef>
                <a:spcPct val="50000"/>
              </a:spcBef>
              <a:buClr>
                <a:srgbClr val="477AB1"/>
              </a:buClr>
              <a:buSzPct val="50000"/>
            </a:pPr>
            <a:r>
              <a:rPr lang="zh-CN" altLang="en-US" sz="3600" b="1" dirty="0" smtClean="0">
                <a:solidFill>
                  <a:srgbClr val="FF0000"/>
                </a:solidFill>
                <a:latin typeface="华文琥珀" pitchFamily="2" charset="-122"/>
                <a:ea typeface="华文琥珀" pitchFamily="2" charset="-122"/>
              </a:rPr>
              <a:t>专题 一 从新民主主义到社会主义的转变</a:t>
            </a:r>
            <a:endParaRPr lang="zh-CN" altLang="en-US" sz="3600" b="1" dirty="0">
              <a:solidFill>
                <a:srgbClr val="FF0000"/>
              </a:solidFill>
              <a:latin typeface="华文琥珀" pitchFamily="2" charset="-122"/>
              <a:ea typeface="华文琥珀" pitchFamily="2" charset="-122"/>
            </a:endParaRPr>
          </a:p>
        </p:txBody>
      </p:sp>
    </p:spTree>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p:cNvSpPr>
            <a:spLocks noGrp="1"/>
          </p:cNvSpPr>
          <p:nvPr>
            <p:ph type="title"/>
          </p:nvPr>
        </p:nvSpPr>
        <p:spPr>
          <a:xfrm>
            <a:off x="827584" y="1772816"/>
            <a:ext cx="6891655" cy="2936188"/>
          </a:xfrm>
          <a:solidFill>
            <a:schemeClr val="bg1"/>
          </a:solidFill>
          <a:ln w="12700">
            <a:solidFill>
              <a:srgbClr val="FF3300"/>
            </a:solidFill>
            <a:miter/>
          </a:ln>
        </p:spPr>
        <p:txBody>
          <a:bodyPr wrap="square" anchor="t">
            <a:spAutoFit/>
          </a:bodyPr>
          <a:lstStyle/>
          <a:p>
            <a:pPr algn="l">
              <a:lnSpc>
                <a:spcPct val="105000"/>
              </a:lnSpc>
              <a:spcBef>
                <a:spcPct val="50000"/>
              </a:spcBef>
            </a:pPr>
            <a:r>
              <a:rPr lang="zh-CN" altLang="en-US" sz="3600" b="1" dirty="0">
                <a:ln w="6600">
                  <a:solidFill>
                    <a:srgbClr val="0000FF"/>
                  </a:solidFill>
                  <a:prstDash val="solid"/>
                </a:ln>
                <a:solidFill>
                  <a:srgbClr val="FF3300"/>
                </a:solidFill>
                <a:effectLst>
                  <a:outerShdw dist="38100" dir="2700000" algn="tl" rotWithShape="0">
                    <a:schemeClr val="accent2"/>
                  </a:outerShdw>
                </a:effectLst>
                <a:latin typeface="Times New Roman" panose="02020603050405020304" pitchFamily="18" charset="0"/>
                <a:ea typeface="黑体" panose="02010609060101010101" pitchFamily="49" charset="-122"/>
              </a:rPr>
              <a:t> </a:t>
            </a:r>
            <a:r>
              <a:rPr lang="zh-CN" altLang="en-US" sz="3600" b="1" dirty="0" smtClean="0">
                <a:ln w="6600">
                  <a:solidFill>
                    <a:srgbClr val="0000FF"/>
                  </a:solidFill>
                  <a:prstDash val="solid"/>
                </a:ln>
                <a:solidFill>
                  <a:srgbClr val="FF3300"/>
                </a:solidFill>
                <a:effectLst>
                  <a:outerShdw dist="38100" dir="2700000" algn="tl" rotWithShape="0">
                    <a:schemeClr val="accent2"/>
                  </a:outerShdw>
                </a:effectLst>
                <a:latin typeface="Times New Roman" panose="02020603050405020304" pitchFamily="18" charset="0"/>
                <a:ea typeface="黑体" panose="02010609060101010101" pitchFamily="49" charset="-122"/>
              </a:rPr>
              <a:t>       </a:t>
            </a:r>
            <a:r>
              <a:rPr lang="zh-CN" altLang="en-US" sz="2800" b="1" dirty="0" smtClean="0">
                <a:solidFill>
                  <a:srgbClr val="0000FF"/>
                </a:solidFill>
                <a:latin typeface="Times New Roman" panose="02020603050405020304" pitchFamily="18" charset="0"/>
                <a:ea typeface="黑体" panose="02010609060101010101" pitchFamily="49" charset="-122"/>
              </a:rPr>
              <a:t>新中国</a:t>
            </a:r>
            <a:r>
              <a:rPr lang="zh-CN" altLang="en-US" sz="2800" b="1" dirty="0">
                <a:solidFill>
                  <a:srgbClr val="0000FF"/>
                </a:solidFill>
                <a:latin typeface="Times New Roman" panose="02020603050405020304" pitchFamily="18" charset="0"/>
                <a:ea typeface="黑体" panose="02010609060101010101" pitchFamily="49" charset="-122"/>
              </a:rPr>
              <a:t>的成立，标志着我国新民主主义革命阶段的基本结束和社会主义革命阶段的开始。</a:t>
            </a:r>
            <a:br>
              <a:rPr lang="zh-CN" altLang="en-US" sz="2800" b="1" dirty="0">
                <a:solidFill>
                  <a:srgbClr val="0000FF"/>
                </a:solidFill>
                <a:latin typeface="Times New Roman" panose="02020603050405020304" pitchFamily="18" charset="0"/>
                <a:ea typeface="黑体" panose="02010609060101010101" pitchFamily="49" charset="-122"/>
              </a:rPr>
            </a:br>
            <a:r>
              <a:rPr lang="zh-CN" altLang="en-US" sz="2800" b="1" dirty="0">
                <a:solidFill>
                  <a:srgbClr val="0000FF"/>
                </a:solidFill>
                <a:latin typeface="Times New Roman" panose="02020603050405020304" pitchFamily="18" charset="0"/>
                <a:ea typeface="黑体" panose="02010609060101010101" pitchFamily="49" charset="-122"/>
              </a:rPr>
              <a:t>       从中华人民共和国成立到社会主义改造基本完成，是我国从新民主主义到社会主义过渡的时期</a:t>
            </a:r>
            <a:r>
              <a:rPr lang="zh-CN" altLang="en-US" sz="2800" b="1" dirty="0" smtClean="0">
                <a:solidFill>
                  <a:srgbClr val="0000FF"/>
                </a:solidFill>
                <a:latin typeface="Times New Roman" panose="02020603050405020304" pitchFamily="18" charset="0"/>
                <a:ea typeface="黑体" panose="02010609060101010101" pitchFamily="49" charset="-122"/>
              </a:rPr>
              <a:t>。</a:t>
            </a:r>
            <a:endParaRPr lang="zh-CN" altLang="en-US" sz="3200" dirty="0">
              <a:solidFill>
                <a:srgbClr val="0000FF"/>
              </a:solidFill>
              <a:latin typeface="Times New Roman" panose="02020603050405020304" pitchFamily="18" charset="0"/>
              <a:ea typeface="华文新魏" panose="02010800040101010101" pitchFamily="2" charset="-122"/>
            </a:endParaRPr>
          </a:p>
        </p:txBody>
      </p:sp>
      <p:sp>
        <p:nvSpPr>
          <p:cNvPr id="3" name="矩形 2"/>
          <p:cNvSpPr/>
          <p:nvPr/>
        </p:nvSpPr>
        <p:spPr>
          <a:xfrm>
            <a:off x="251520" y="764704"/>
            <a:ext cx="8084264" cy="523220"/>
          </a:xfrm>
          <a:prstGeom prst="rect">
            <a:avLst/>
          </a:prstGeom>
          <a:solidFill>
            <a:schemeClr val="bg1"/>
          </a:solidFill>
          <a:ln>
            <a:solidFill>
              <a:schemeClr val="accent1"/>
            </a:solidFill>
          </a:ln>
        </p:spPr>
        <p:txBody>
          <a:bodyPr wrap="none">
            <a:spAutoFit/>
          </a:bodyPr>
          <a:lstStyle/>
          <a:p>
            <a:r>
              <a:rPr lang="zh-CN" altLang="en-US" sz="2800" dirty="0" smtClean="0">
                <a:solidFill>
                  <a:srgbClr val="FF0000"/>
                </a:solidFill>
                <a:latin typeface="华文琥珀" pitchFamily="2" charset="-122"/>
                <a:ea typeface="华文琥珀" pitchFamily="2" charset="-122"/>
              </a:rPr>
              <a:t>一、新民主主义社会向社会主义过渡的历史必然性</a:t>
            </a:r>
            <a:endParaRPr lang="zh-CN" altLang="en-US" sz="2800" dirty="0">
              <a:solidFill>
                <a:srgbClr val="FF0000"/>
              </a:solidFill>
              <a:latin typeface="华文琥珀" pitchFamily="2" charset="-122"/>
              <a:ea typeface="华文琥珀" pitchFamily="2" charset="-122"/>
            </a:endParaRPr>
          </a:p>
        </p:txBody>
      </p:sp>
      <p:sp>
        <p:nvSpPr>
          <p:cNvPr id="2" name="矩形 1"/>
          <p:cNvSpPr/>
          <p:nvPr/>
        </p:nvSpPr>
        <p:spPr>
          <a:xfrm>
            <a:off x="1187624" y="5229199"/>
            <a:ext cx="6552728" cy="954107"/>
          </a:xfrm>
          <a:prstGeom prst="rect">
            <a:avLst/>
          </a:prstGeom>
          <a:solidFill>
            <a:schemeClr val="bg1"/>
          </a:solidFill>
          <a:ln>
            <a:solidFill>
              <a:schemeClr val="accent1"/>
            </a:solidFill>
          </a:ln>
        </p:spPr>
        <p:txBody>
          <a:bodyPr wrap="square">
            <a:spAutoFit/>
          </a:bodyPr>
          <a:lstStyle/>
          <a:p>
            <a:r>
              <a:rPr lang="zh-CN" altLang="en-US" sz="2800" b="1" dirty="0">
                <a:solidFill>
                  <a:srgbClr val="FF0000"/>
                </a:solidFill>
                <a:latin typeface="Times New Roman" panose="02020603050405020304" pitchFamily="18" charset="0"/>
                <a:ea typeface="黑体" panose="02010609060101010101" pitchFamily="49" charset="-122"/>
                <a:cs typeface="+mj-cs"/>
              </a:rPr>
              <a:t>这一时期，我国社会的性质是新民主主义</a:t>
            </a:r>
            <a:r>
              <a:rPr lang="zh-CN" altLang="en-US" sz="2800" b="1" dirty="0" smtClean="0">
                <a:solidFill>
                  <a:srgbClr val="FF0000"/>
                </a:solidFill>
                <a:latin typeface="Times New Roman" panose="02020603050405020304" pitchFamily="18" charset="0"/>
                <a:ea typeface="黑体" panose="02010609060101010101" pitchFamily="49" charset="-122"/>
                <a:cs typeface="+mj-cs"/>
              </a:rPr>
              <a:t>社会。</a:t>
            </a:r>
            <a:endParaRPr lang="zh-CN" altLang="en-US" dirty="0"/>
          </a:p>
        </p:txBody>
      </p:sp>
    </p:spTree>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p:cNvSpPr>
          <p:nvPr>
            <p:ph type="title"/>
          </p:nvPr>
        </p:nvSpPr>
        <p:spPr>
          <a:xfrm>
            <a:off x="2195736" y="2708920"/>
            <a:ext cx="3528392" cy="544765"/>
          </a:xfrm>
          <a:solidFill>
            <a:schemeClr val="bg1"/>
          </a:solidFill>
          <a:ln w="12700">
            <a:solidFill>
              <a:srgbClr val="FF3300"/>
            </a:solidFill>
            <a:miter/>
          </a:ln>
        </p:spPr>
        <p:txBody>
          <a:bodyPr wrap="square" anchor="t">
            <a:spAutoFit/>
          </a:bodyPr>
          <a:lstStyle/>
          <a:p>
            <a:pPr algn="l">
              <a:lnSpc>
                <a:spcPct val="105000"/>
              </a:lnSpc>
              <a:spcBef>
                <a:spcPct val="50000"/>
              </a:spcBef>
            </a:pPr>
            <a:r>
              <a:rPr lang="zh-CN" altLang="en-US" sz="2800" b="1" dirty="0" smtClean="0">
                <a:solidFill>
                  <a:srgbClr val="FF0000"/>
                </a:solidFill>
                <a:latin typeface="Times New Roman" panose="02020603050405020304" pitchFamily="18" charset="0"/>
                <a:ea typeface="黑体" panose="02010609060101010101" pitchFamily="49" charset="-122"/>
              </a:rPr>
              <a:t>新民主主义社会</a:t>
            </a:r>
            <a:endParaRPr lang="zh-CN" altLang="en-US" sz="3200" dirty="0">
              <a:solidFill>
                <a:srgbClr val="0000FF"/>
              </a:solidFill>
              <a:latin typeface="Times New Roman" panose="02020603050405020304" pitchFamily="18" charset="0"/>
              <a:ea typeface="华文新魏" panose="02010800040101010101" pitchFamily="2" charset="-122"/>
            </a:endParaRPr>
          </a:p>
        </p:txBody>
      </p:sp>
      <p:sp>
        <p:nvSpPr>
          <p:cNvPr id="7" name="Rectangle 2"/>
          <p:cNvSpPr txBox="1">
            <a:spLocks/>
          </p:cNvSpPr>
          <p:nvPr/>
        </p:nvSpPr>
        <p:spPr>
          <a:xfrm>
            <a:off x="2195736" y="4005064"/>
            <a:ext cx="3456384" cy="511422"/>
          </a:xfrm>
          <a:prstGeom prst="rect">
            <a:avLst/>
          </a:prstGeom>
          <a:solidFill>
            <a:schemeClr val="bg1"/>
          </a:solidFill>
          <a:ln w="12700">
            <a:solidFill>
              <a:srgbClr val="FF3300"/>
            </a:solidFill>
            <a:miter/>
          </a:ln>
        </p:spPr>
        <p:txBody>
          <a:bodyPr vert="horz" wrap="square" rtlCol="0" anchor="t">
            <a:spAutoFit/>
          </a:bodyPr>
          <a:lstStyle/>
          <a:p>
            <a:pPr marL="0" marR="0" lvl="0" indent="0" algn="l" defTabSz="914400" rtl="0" eaLnBrk="1" fontAlgn="auto" latinLnBrk="0" hangingPunct="1">
              <a:lnSpc>
                <a:spcPct val="105000"/>
              </a:lnSpc>
              <a:spcBef>
                <a:spcPct val="50000"/>
              </a:spcBef>
              <a:spcAft>
                <a:spcPts val="0"/>
              </a:spcAft>
              <a:buClrTx/>
              <a:buSzTx/>
              <a:buFontTx/>
              <a:buNone/>
              <a:tabLst/>
              <a:defRPr/>
            </a:pPr>
            <a:r>
              <a:rPr kumimoji="0" lang="zh-CN" altLang="en-US" sz="2800" b="1" i="0" u="none" strike="noStrike" kern="1200" cap="none" spc="0" normalizeH="0" baseline="0" noProof="0" dirty="0" smtClean="0">
                <a:ln>
                  <a:noFill/>
                </a:ln>
                <a:solidFill>
                  <a:srgbClr val="FF0000"/>
                </a:solidFill>
                <a:effectLst/>
                <a:uLnTx/>
                <a:uFillTx/>
                <a:latin typeface="Times New Roman" panose="02020603050405020304" pitchFamily="18" charset="0"/>
                <a:ea typeface="黑体" panose="02010609060101010101" pitchFamily="49" charset="-122"/>
                <a:cs typeface="+mj-cs"/>
              </a:rPr>
              <a:t>社会主义社会</a:t>
            </a:r>
            <a:endParaRPr kumimoji="0" lang="zh-CN" altLang="en-US" sz="3200" b="0" i="0" u="none" strike="noStrike" kern="1200" cap="none" spc="0" normalizeH="0" baseline="0" noProof="0" dirty="0">
              <a:ln>
                <a:noFill/>
              </a:ln>
              <a:solidFill>
                <a:srgbClr val="0000FF"/>
              </a:solidFill>
              <a:effectLst/>
              <a:uLnTx/>
              <a:uFillTx/>
              <a:latin typeface="Times New Roman" panose="02020603050405020304" pitchFamily="18" charset="0"/>
              <a:ea typeface="华文新魏" panose="02010800040101010101" pitchFamily="2" charset="-122"/>
              <a:cs typeface="+mj-cs"/>
            </a:endParaRPr>
          </a:p>
        </p:txBody>
      </p:sp>
      <p:sp>
        <p:nvSpPr>
          <p:cNvPr id="8" name="Rectangle 2"/>
          <p:cNvSpPr txBox="1">
            <a:spLocks/>
          </p:cNvSpPr>
          <p:nvPr/>
        </p:nvSpPr>
        <p:spPr>
          <a:xfrm>
            <a:off x="2195736" y="1412776"/>
            <a:ext cx="3456384" cy="544765"/>
          </a:xfrm>
          <a:prstGeom prst="rect">
            <a:avLst/>
          </a:prstGeom>
          <a:solidFill>
            <a:schemeClr val="bg1"/>
          </a:solidFill>
          <a:ln w="12700">
            <a:solidFill>
              <a:srgbClr val="FF3300"/>
            </a:solidFill>
            <a:miter/>
          </a:ln>
        </p:spPr>
        <p:txBody>
          <a:bodyPr vert="horz" wrap="square" rtlCol="0" anchor="t">
            <a:spAutoFit/>
          </a:bodyPr>
          <a:lstStyle/>
          <a:p>
            <a:pPr marL="0" marR="0" lvl="0" indent="0" algn="l" defTabSz="914400" rtl="0" eaLnBrk="1" fontAlgn="auto" latinLnBrk="0" hangingPunct="1">
              <a:lnSpc>
                <a:spcPct val="105000"/>
              </a:lnSpc>
              <a:spcBef>
                <a:spcPct val="50000"/>
              </a:spcBef>
              <a:spcAft>
                <a:spcPts val="0"/>
              </a:spcAft>
              <a:buClrTx/>
              <a:buSzTx/>
              <a:buFontTx/>
              <a:buNone/>
              <a:tabLst/>
              <a:defRPr/>
            </a:pPr>
            <a:r>
              <a:rPr lang="zh-CN" altLang="en-US" sz="2800" b="1" dirty="0" smtClean="0">
                <a:solidFill>
                  <a:srgbClr val="FF0000"/>
                </a:solidFill>
                <a:latin typeface="Times New Roman" panose="02020603050405020304" pitchFamily="18" charset="0"/>
                <a:ea typeface="黑体" panose="02010609060101010101" pitchFamily="49" charset="-122"/>
                <a:cs typeface="+mj-cs"/>
              </a:rPr>
              <a:t>半殖民地半封建社会</a:t>
            </a:r>
            <a:endParaRPr lang="zh-CN" altLang="en-US" sz="2800" b="1" dirty="0">
              <a:solidFill>
                <a:srgbClr val="FF0000"/>
              </a:solidFill>
              <a:latin typeface="Times New Roman" panose="02020603050405020304" pitchFamily="18" charset="0"/>
              <a:ea typeface="黑体" panose="02010609060101010101" pitchFamily="49" charset="-122"/>
              <a:cs typeface="+mj-cs"/>
            </a:endParaRPr>
          </a:p>
        </p:txBody>
      </p:sp>
      <p:sp>
        <p:nvSpPr>
          <p:cNvPr id="9" name="下箭头 8"/>
          <p:cNvSpPr/>
          <p:nvPr/>
        </p:nvSpPr>
        <p:spPr>
          <a:xfrm>
            <a:off x="3923928" y="1988840"/>
            <a:ext cx="216024" cy="64807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下箭头 9"/>
          <p:cNvSpPr/>
          <p:nvPr/>
        </p:nvSpPr>
        <p:spPr>
          <a:xfrm>
            <a:off x="3923928" y="3284984"/>
            <a:ext cx="216024" cy="64807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p:cNvSpPr>
          <p:nvPr>
            <p:ph type="title"/>
          </p:nvPr>
        </p:nvSpPr>
        <p:spPr>
          <a:xfrm>
            <a:off x="683568" y="2420888"/>
            <a:ext cx="2880320" cy="3323987"/>
          </a:xfrm>
          <a:solidFill>
            <a:schemeClr val="bg1"/>
          </a:solidFill>
          <a:ln w="12700">
            <a:solidFill>
              <a:srgbClr val="FF3300"/>
            </a:solidFill>
            <a:miter/>
          </a:ln>
        </p:spPr>
        <p:txBody>
          <a:bodyPr wrap="square">
            <a:spAutoFit/>
          </a:bodyPr>
          <a:lstStyle/>
          <a:p>
            <a:pPr algn="l" fontAlgn="base">
              <a:lnSpc>
                <a:spcPct val="150000"/>
              </a:lnSpc>
              <a:spcBef>
                <a:spcPct val="50000"/>
              </a:spcBef>
            </a:pPr>
            <a:r>
              <a:rPr lang="zh-CN" altLang="en-US" sz="2800" b="1" dirty="0" smtClean="0">
                <a:solidFill>
                  <a:srgbClr val="0000FF"/>
                </a:solidFill>
                <a:latin typeface="Times New Roman" panose="02020603050405020304" pitchFamily="18" charset="0"/>
                <a:ea typeface="黑体" panose="02010609060101010101" pitchFamily="49" charset="-122"/>
              </a:rPr>
              <a:t>新民主主义</a:t>
            </a:r>
            <a:r>
              <a:rPr lang="zh-CN" altLang="en-US" sz="2800" b="1" dirty="0">
                <a:solidFill>
                  <a:srgbClr val="0000FF"/>
                </a:solidFill>
                <a:latin typeface="Times New Roman" panose="02020603050405020304" pitchFamily="18" charset="0"/>
                <a:ea typeface="黑体" panose="02010609060101010101" pitchFamily="49" charset="-122"/>
              </a:rPr>
              <a:t>社会的过渡性质是</a:t>
            </a:r>
            <a:r>
              <a:rPr lang="zh-CN" altLang="en-US" sz="2800" b="1" dirty="0">
                <a:solidFill>
                  <a:srgbClr val="FF0000"/>
                </a:solidFill>
                <a:latin typeface="Times New Roman" panose="02020603050405020304" pitchFamily="18" charset="0"/>
                <a:ea typeface="黑体" panose="02010609060101010101" pitchFamily="49" charset="-122"/>
              </a:rPr>
              <a:t>从半封建半殖民地过渡到社会主义社会 </a:t>
            </a:r>
            <a:endParaRPr lang="zh-CN" altLang="en-US" sz="3600" b="1" strike="noStrike" noProof="1">
              <a:solidFill>
                <a:srgbClr val="0000FF"/>
              </a:solidFill>
              <a:latin typeface="Times New Roman" panose="02020603050405020304" pitchFamily="18" charset="0"/>
              <a:ea typeface="黑体" panose="02010609060101010101" pitchFamily="49" charset="-122"/>
            </a:endParaRPr>
          </a:p>
        </p:txBody>
      </p:sp>
      <p:sp>
        <p:nvSpPr>
          <p:cNvPr id="3" name="矩形 2"/>
          <p:cNvSpPr/>
          <p:nvPr/>
        </p:nvSpPr>
        <p:spPr>
          <a:xfrm>
            <a:off x="539552" y="692696"/>
            <a:ext cx="6048672" cy="584775"/>
          </a:xfrm>
          <a:prstGeom prst="rect">
            <a:avLst/>
          </a:prstGeom>
          <a:solidFill>
            <a:schemeClr val="bg1"/>
          </a:solidFill>
          <a:ln>
            <a:solidFill>
              <a:srgbClr val="FF0000"/>
            </a:solidFill>
          </a:ln>
        </p:spPr>
        <p:txBody>
          <a:bodyPr wrap="square">
            <a:spAutoFit/>
          </a:bodyPr>
          <a:lstStyle/>
          <a:p>
            <a:r>
              <a:rPr lang="zh-CN" altLang="en-US" sz="3200" b="1" noProof="1" smtClean="0">
                <a:solidFill>
                  <a:srgbClr val="00B050"/>
                </a:solidFill>
                <a:latin typeface="华文琥珀" pitchFamily="2" charset="-122"/>
                <a:ea typeface="华文琥珀" pitchFamily="2" charset="-122"/>
              </a:rPr>
              <a:t>（一）新民主主义社会的特征</a:t>
            </a:r>
            <a:endParaRPr lang="zh-CN" altLang="en-US" sz="3200" dirty="0">
              <a:latin typeface="华文琥珀" pitchFamily="2" charset="-122"/>
              <a:ea typeface="华文琥珀" pitchFamily="2" charset="-122"/>
            </a:endParaRPr>
          </a:p>
        </p:txBody>
      </p:sp>
      <p:sp>
        <p:nvSpPr>
          <p:cNvPr id="4" name="矩形 3"/>
          <p:cNvSpPr/>
          <p:nvPr/>
        </p:nvSpPr>
        <p:spPr>
          <a:xfrm>
            <a:off x="4644008" y="1988840"/>
            <a:ext cx="2606804" cy="646331"/>
          </a:xfrm>
          <a:prstGeom prst="rect">
            <a:avLst/>
          </a:prstGeom>
          <a:solidFill>
            <a:schemeClr val="bg1"/>
          </a:solidFill>
          <a:ln>
            <a:solidFill>
              <a:schemeClr val="accent1"/>
            </a:solidFill>
          </a:ln>
        </p:spPr>
        <p:txBody>
          <a:bodyPr wrap="none">
            <a:spAutoFit/>
          </a:bodyPr>
          <a:lstStyle/>
          <a:p>
            <a:r>
              <a:rPr lang="zh-CN" altLang="en-US" sz="3600" b="1" dirty="0" smtClean="0">
                <a:solidFill>
                  <a:srgbClr val="0000FF"/>
                </a:solidFill>
                <a:latin typeface="华文琥珀" pitchFamily="2" charset="-122"/>
                <a:ea typeface="华文琥珀" pitchFamily="2" charset="-122"/>
              </a:rPr>
              <a:t> </a:t>
            </a:r>
            <a:r>
              <a:rPr lang="zh-CN" altLang="en-US" sz="3600" b="1" dirty="0" smtClean="0">
                <a:solidFill>
                  <a:srgbClr val="FF0000"/>
                </a:solidFill>
                <a:latin typeface="华文琥珀" pitchFamily="2" charset="-122"/>
                <a:ea typeface="华文琥珀" pitchFamily="2" charset="-122"/>
              </a:rPr>
              <a:t>经济方面：</a:t>
            </a:r>
            <a:endParaRPr lang="zh-CN" altLang="en-US" sz="3600" dirty="0">
              <a:latin typeface="华文琥珀" pitchFamily="2" charset="-122"/>
              <a:ea typeface="华文琥珀" pitchFamily="2" charset="-122"/>
            </a:endParaRPr>
          </a:p>
        </p:txBody>
      </p:sp>
      <p:sp>
        <p:nvSpPr>
          <p:cNvPr id="6" name="矩形 5"/>
          <p:cNvSpPr/>
          <p:nvPr/>
        </p:nvSpPr>
        <p:spPr>
          <a:xfrm>
            <a:off x="4646239" y="3573016"/>
            <a:ext cx="2604573" cy="646331"/>
          </a:xfrm>
          <a:prstGeom prst="rect">
            <a:avLst/>
          </a:prstGeom>
          <a:solidFill>
            <a:schemeClr val="bg1"/>
          </a:solidFill>
          <a:ln>
            <a:solidFill>
              <a:srgbClr val="FF0000"/>
            </a:solidFill>
          </a:ln>
        </p:spPr>
        <p:txBody>
          <a:bodyPr wrap="square">
            <a:spAutoFit/>
          </a:bodyPr>
          <a:lstStyle/>
          <a:p>
            <a:r>
              <a:rPr lang="zh-CN" altLang="en-US" sz="3600" b="1" dirty="0" smtClean="0">
                <a:solidFill>
                  <a:srgbClr val="FF0000"/>
                </a:solidFill>
                <a:latin typeface="华文琥珀" pitchFamily="2" charset="-122"/>
                <a:ea typeface="华文琥珀" pitchFamily="2" charset="-122"/>
              </a:rPr>
              <a:t>阶级构成</a:t>
            </a:r>
          </a:p>
        </p:txBody>
      </p:sp>
      <p:sp>
        <p:nvSpPr>
          <p:cNvPr id="8" name="矩形 7"/>
          <p:cNvSpPr/>
          <p:nvPr/>
        </p:nvSpPr>
        <p:spPr>
          <a:xfrm>
            <a:off x="4649282" y="4906034"/>
            <a:ext cx="2606804" cy="646331"/>
          </a:xfrm>
          <a:prstGeom prst="rect">
            <a:avLst/>
          </a:prstGeom>
          <a:solidFill>
            <a:schemeClr val="bg1"/>
          </a:solidFill>
          <a:ln>
            <a:solidFill>
              <a:srgbClr val="FF0000"/>
            </a:solidFill>
          </a:ln>
        </p:spPr>
        <p:txBody>
          <a:bodyPr wrap="square">
            <a:spAutoFit/>
          </a:bodyPr>
          <a:lstStyle/>
          <a:p>
            <a:r>
              <a:rPr lang="zh-CN" altLang="en-US" sz="3600" b="1" dirty="0" smtClean="0">
                <a:solidFill>
                  <a:srgbClr val="FF0000"/>
                </a:solidFill>
                <a:latin typeface="华文琥珀" pitchFamily="2" charset="-122"/>
                <a:ea typeface="华文琥珀" pitchFamily="2" charset="-122"/>
              </a:rPr>
              <a:t>主要矛盾</a:t>
            </a:r>
          </a:p>
        </p:txBody>
      </p:sp>
      <p:sp>
        <p:nvSpPr>
          <p:cNvPr id="2" name="左大括号 1"/>
          <p:cNvSpPr/>
          <p:nvPr/>
        </p:nvSpPr>
        <p:spPr>
          <a:xfrm>
            <a:off x="3491880" y="2023973"/>
            <a:ext cx="936104" cy="3997315"/>
          </a:xfrm>
          <a:prstGeom prst="leftBrace">
            <a:avLst/>
          </a:prstGeom>
          <a:solidFill>
            <a:schemeClr val="accent3"/>
          </a:solidFill>
          <a:ln>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p:cNvSpPr>
          <p:nvPr>
            <p:ph type="title"/>
          </p:nvPr>
        </p:nvSpPr>
        <p:spPr>
          <a:xfrm>
            <a:off x="395604" y="620395"/>
            <a:ext cx="3907790" cy="5338445"/>
          </a:xfrm>
          <a:solidFill>
            <a:schemeClr val="bg1"/>
          </a:solidFill>
          <a:ln w="12700">
            <a:solidFill>
              <a:srgbClr val="FF3300"/>
            </a:solidFill>
            <a:miter/>
          </a:ln>
        </p:spPr>
        <p:txBody>
          <a:bodyPr wrap="square">
            <a:spAutoFit/>
          </a:bodyPr>
          <a:lstStyle/>
          <a:p>
            <a:pPr algn="l" fontAlgn="base">
              <a:lnSpc>
                <a:spcPct val="105000"/>
              </a:lnSpc>
              <a:spcBef>
                <a:spcPct val="50000"/>
              </a:spcBef>
            </a:pPr>
            <a:r>
              <a:rPr lang="en-US" altLang="zh-CN" sz="4000" strike="noStrike" noProof="1">
                <a:solidFill>
                  <a:srgbClr val="0000FF"/>
                </a:solidFill>
                <a:latin typeface="Times New Roman" panose="02020603050405020304" pitchFamily="18" charset="0"/>
                <a:ea typeface="华文新魏" panose="02010800040101010101" pitchFamily="2" charset="-122"/>
              </a:rPr>
              <a:t>  </a:t>
            </a:r>
            <a:r>
              <a:rPr lang="zh-CN" altLang="en-US" sz="4000" b="1" strike="noStrike" noProof="1">
                <a:ln w="6600">
                  <a:solidFill>
                    <a:srgbClr val="0000FF"/>
                  </a:solidFill>
                  <a:prstDash val="solid"/>
                </a:ln>
                <a:solidFill>
                  <a:srgbClr val="FF3300"/>
                </a:solidFill>
                <a:effectLst>
                  <a:outerShdw dist="38100" dir="2700000" algn="tl" rotWithShape="0">
                    <a:schemeClr val="accent2"/>
                  </a:outerShdw>
                </a:effectLst>
                <a:latin typeface="黑体" panose="02010609060101010101" pitchFamily="49" charset="-122"/>
                <a:ea typeface="黑体" panose="02010609060101010101" pitchFamily="49" charset="-122"/>
              </a:rPr>
              <a:t>（一）</a:t>
            </a:r>
            <a:r>
              <a:rPr lang="zh-CN" altLang="en-US" sz="3600" b="1" strike="noStrike" noProof="1">
                <a:ln w="6600">
                  <a:solidFill>
                    <a:srgbClr val="0000FF"/>
                  </a:solidFill>
                  <a:prstDash val="solid"/>
                </a:ln>
                <a:solidFill>
                  <a:srgbClr val="FF3300"/>
                </a:solidFill>
                <a:effectLst>
                  <a:outerShdw dist="38100" dir="2700000" algn="tl" rotWithShape="0">
                    <a:schemeClr val="accent2"/>
                  </a:outerShdw>
                </a:effectLst>
                <a:latin typeface="Times New Roman" panose="02020603050405020304" pitchFamily="18" charset="0"/>
                <a:ea typeface="黑体" panose="02010609060101010101" pitchFamily="49" charset="-122"/>
              </a:rPr>
              <a:t>新民主主义社会的过渡性质和主要矛盾</a:t>
            </a:r>
            <a:r>
              <a:rPr lang="zh-CN" altLang="en-US" sz="3600" b="1" dirty="0">
                <a:solidFill>
                  <a:srgbClr val="0000FF"/>
                </a:solidFill>
                <a:latin typeface="Times New Roman" panose="02020603050405020304" pitchFamily="18" charset="0"/>
                <a:ea typeface="黑体" panose="02010609060101010101" pitchFamily="49" charset="-122"/>
              </a:rPr>
              <a:t/>
            </a:r>
            <a:br>
              <a:rPr lang="zh-CN" altLang="en-US" sz="3600" b="1" dirty="0">
                <a:solidFill>
                  <a:srgbClr val="0000FF"/>
                </a:solidFill>
                <a:latin typeface="Times New Roman" panose="02020603050405020304" pitchFamily="18" charset="0"/>
                <a:ea typeface="黑体" panose="02010609060101010101" pitchFamily="49" charset="-122"/>
              </a:rPr>
            </a:br>
            <a:r>
              <a:rPr lang="zh-CN" altLang="en-US" sz="3600" b="1" dirty="0">
                <a:solidFill>
                  <a:srgbClr val="0000FF"/>
                </a:solidFill>
                <a:latin typeface="Times New Roman" panose="02020603050405020304" pitchFamily="18" charset="0"/>
                <a:ea typeface="黑体" panose="02010609060101010101" pitchFamily="49" charset="-122"/>
              </a:rPr>
              <a:t>   新民主主义社会的过渡性质是从半封建半殖民地过渡到社会主义社会 </a:t>
            </a:r>
            <a:br>
              <a:rPr lang="zh-CN" altLang="en-US" sz="3600" b="1" dirty="0">
                <a:solidFill>
                  <a:srgbClr val="0000FF"/>
                </a:solidFill>
                <a:latin typeface="Times New Roman" panose="02020603050405020304" pitchFamily="18" charset="0"/>
                <a:ea typeface="黑体" panose="02010609060101010101" pitchFamily="49" charset="-122"/>
              </a:rPr>
            </a:br>
            <a:r>
              <a:rPr lang="zh-CN" altLang="en-US" sz="3600" b="1" dirty="0">
                <a:solidFill>
                  <a:srgbClr val="0000FF"/>
                </a:solidFill>
                <a:latin typeface="Times New Roman" panose="02020603050405020304" pitchFamily="18" charset="0"/>
                <a:ea typeface="黑体" panose="02010609060101010101" pitchFamily="49" charset="-122"/>
              </a:rPr>
              <a:t>   </a:t>
            </a:r>
            <a:br>
              <a:rPr lang="zh-CN" altLang="en-US" sz="3600" b="1" dirty="0">
                <a:solidFill>
                  <a:srgbClr val="0000FF"/>
                </a:solidFill>
                <a:latin typeface="Times New Roman" panose="02020603050405020304" pitchFamily="18" charset="0"/>
                <a:ea typeface="黑体" panose="02010609060101010101" pitchFamily="49" charset="-122"/>
              </a:rPr>
            </a:br>
            <a:endParaRPr lang="zh-CN" altLang="en-US" sz="3600" b="1" strike="noStrike" noProof="1">
              <a:solidFill>
                <a:srgbClr val="0000FF"/>
              </a:solidFill>
              <a:latin typeface="Times New Roman" panose="02020603050405020304" pitchFamily="18" charset="0"/>
              <a:ea typeface="黑体" panose="02010609060101010101" pitchFamily="49" charset="-122"/>
            </a:endParaRPr>
          </a:p>
        </p:txBody>
      </p:sp>
      <p:pic>
        <p:nvPicPr>
          <p:cNvPr id="2" name="图片 3" descr="7d4cb4b1b6df286ff5c853b52401320f"/>
          <p:cNvPicPr>
            <a:picLocks noChangeAspect="1"/>
          </p:cNvPicPr>
          <p:nvPr/>
        </p:nvPicPr>
        <p:blipFill>
          <a:blip r:embed="rId2" cstate="print"/>
          <a:stretch>
            <a:fillRect/>
          </a:stretch>
        </p:blipFill>
        <p:spPr>
          <a:xfrm>
            <a:off x="-457200" y="76200"/>
            <a:ext cx="10058400" cy="67056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p:cNvSpPr>
          <p:nvPr>
            <p:ph type="title"/>
          </p:nvPr>
        </p:nvSpPr>
        <p:spPr>
          <a:xfrm>
            <a:off x="2725670" y="1932481"/>
            <a:ext cx="4870665" cy="544765"/>
          </a:xfrm>
          <a:solidFill>
            <a:schemeClr val="bg1"/>
          </a:solidFill>
          <a:ln w="12700">
            <a:solidFill>
              <a:srgbClr val="FF3300"/>
            </a:solidFill>
            <a:miter/>
          </a:ln>
        </p:spPr>
        <p:txBody>
          <a:bodyPr wrap="square" anchor="t">
            <a:spAutoFit/>
          </a:bodyPr>
          <a:lstStyle/>
          <a:p>
            <a:pPr algn="l">
              <a:lnSpc>
                <a:spcPct val="105000"/>
              </a:lnSpc>
              <a:spcBef>
                <a:spcPct val="50000"/>
              </a:spcBef>
            </a:pPr>
            <a:r>
              <a:rPr lang="zh-CN" altLang="en-US" sz="2800" b="1" dirty="0" smtClean="0">
                <a:solidFill>
                  <a:srgbClr val="0000FF"/>
                </a:solidFill>
                <a:latin typeface="黑体" panose="02010609060101010101" pitchFamily="49" charset="-122"/>
                <a:ea typeface="黑体" panose="02010609060101010101" pitchFamily="49" charset="-122"/>
              </a:rPr>
              <a:t>社会主义</a:t>
            </a:r>
            <a:r>
              <a:rPr lang="zh-CN" altLang="en-US" sz="2800" b="1" dirty="0">
                <a:solidFill>
                  <a:srgbClr val="0000FF"/>
                </a:solidFill>
                <a:latin typeface="黑体" panose="02010609060101010101" pitchFamily="49" charset="-122"/>
                <a:ea typeface="黑体" panose="02010609060101010101" pitchFamily="49" charset="-122"/>
              </a:rPr>
              <a:t>性质的国营</a:t>
            </a:r>
            <a:r>
              <a:rPr lang="zh-CN" altLang="en-US" sz="2800" b="1" dirty="0" smtClean="0">
                <a:solidFill>
                  <a:srgbClr val="0000FF"/>
                </a:solidFill>
                <a:latin typeface="黑体" panose="02010609060101010101" pitchFamily="49" charset="-122"/>
                <a:ea typeface="黑体" panose="02010609060101010101" pitchFamily="49" charset="-122"/>
              </a:rPr>
              <a:t>经济</a:t>
            </a:r>
            <a:endParaRPr lang="zh-CN" altLang="en-US" sz="2800" b="1" dirty="0">
              <a:solidFill>
                <a:srgbClr val="FF0000"/>
              </a:solidFill>
              <a:latin typeface="Times New Roman" panose="02020603050405020304" pitchFamily="18" charset="0"/>
              <a:ea typeface="黑体" panose="02010609060101010101" pitchFamily="49" charset="-122"/>
            </a:endParaRPr>
          </a:p>
        </p:txBody>
      </p:sp>
      <p:sp>
        <p:nvSpPr>
          <p:cNvPr id="3" name="矩形 2"/>
          <p:cNvSpPr/>
          <p:nvPr/>
        </p:nvSpPr>
        <p:spPr>
          <a:xfrm>
            <a:off x="539552" y="260648"/>
            <a:ext cx="3530134" cy="646331"/>
          </a:xfrm>
          <a:prstGeom prst="rect">
            <a:avLst/>
          </a:prstGeom>
          <a:solidFill>
            <a:schemeClr val="bg1"/>
          </a:solidFill>
          <a:ln>
            <a:solidFill>
              <a:schemeClr val="accent1"/>
            </a:solidFill>
          </a:ln>
        </p:spPr>
        <p:txBody>
          <a:bodyPr wrap="none">
            <a:spAutoFit/>
          </a:bodyPr>
          <a:lstStyle/>
          <a:p>
            <a:r>
              <a:rPr lang="zh-CN" altLang="en-US" sz="3600" b="1" dirty="0" smtClean="0">
                <a:solidFill>
                  <a:srgbClr val="0000FF"/>
                </a:solidFill>
                <a:latin typeface="华文琥珀" pitchFamily="2" charset="-122"/>
                <a:ea typeface="华文琥珀" pitchFamily="2" charset="-122"/>
              </a:rPr>
              <a:t> </a:t>
            </a:r>
            <a:r>
              <a:rPr lang="zh-CN" altLang="en-US" sz="3600" b="1" dirty="0" smtClean="0">
                <a:solidFill>
                  <a:srgbClr val="FF0000"/>
                </a:solidFill>
                <a:latin typeface="华文琥珀" pitchFamily="2" charset="-122"/>
                <a:ea typeface="华文琥珀" pitchFamily="2" charset="-122"/>
              </a:rPr>
              <a:t>经济结构方面：</a:t>
            </a:r>
            <a:endParaRPr lang="zh-CN" altLang="en-US" sz="3600" dirty="0">
              <a:latin typeface="华文琥珀" pitchFamily="2" charset="-122"/>
              <a:ea typeface="华文琥珀" pitchFamily="2" charset="-122"/>
            </a:endParaRPr>
          </a:p>
        </p:txBody>
      </p:sp>
      <p:sp>
        <p:nvSpPr>
          <p:cNvPr id="2" name="矩形 1"/>
          <p:cNvSpPr/>
          <p:nvPr/>
        </p:nvSpPr>
        <p:spPr>
          <a:xfrm>
            <a:off x="827584" y="2276872"/>
            <a:ext cx="1008112" cy="2677656"/>
          </a:xfrm>
          <a:prstGeom prst="rect">
            <a:avLst/>
          </a:prstGeom>
          <a:solidFill>
            <a:schemeClr val="accent6">
              <a:lumMod val="20000"/>
              <a:lumOff val="80000"/>
            </a:schemeClr>
          </a:solidFill>
          <a:ln>
            <a:solidFill>
              <a:schemeClr val="accent1"/>
            </a:solidFill>
          </a:ln>
        </p:spPr>
        <p:txBody>
          <a:bodyPr wrap="square">
            <a:spAutoFit/>
          </a:bodyPr>
          <a:lstStyle/>
          <a:p>
            <a:r>
              <a:rPr lang="zh-CN" altLang="en-US" sz="2400" b="1" dirty="0">
                <a:solidFill>
                  <a:srgbClr val="0000FF"/>
                </a:solidFill>
                <a:latin typeface="黑体" panose="02010609060101010101" pitchFamily="49" charset="-122"/>
                <a:ea typeface="黑体" panose="02010609060101010101" pitchFamily="49" charset="-122"/>
                <a:cs typeface="+mj-cs"/>
              </a:rPr>
              <a:t>新民主主义</a:t>
            </a:r>
            <a:r>
              <a:rPr lang="zh-CN" altLang="en-US" sz="2400" b="1" dirty="0" smtClean="0">
                <a:solidFill>
                  <a:srgbClr val="0000FF"/>
                </a:solidFill>
                <a:latin typeface="黑体" panose="02010609060101010101" pitchFamily="49" charset="-122"/>
                <a:ea typeface="黑体" panose="02010609060101010101" pitchFamily="49" charset="-122"/>
                <a:cs typeface="+mj-cs"/>
              </a:rPr>
              <a:t>社会</a:t>
            </a:r>
            <a:r>
              <a:rPr lang="zh-CN" altLang="en-US" sz="2400" b="1" dirty="0" smtClean="0">
                <a:solidFill>
                  <a:srgbClr val="FF0000"/>
                </a:solidFill>
                <a:latin typeface="黑体" panose="02010609060101010101" pitchFamily="49" charset="-122"/>
                <a:ea typeface="黑体" panose="02010609060101010101" pitchFamily="49" charset="-122"/>
                <a:cs typeface="+mj-cs"/>
              </a:rPr>
              <a:t>五</a:t>
            </a:r>
            <a:r>
              <a:rPr lang="zh-CN" altLang="en-US" sz="2400" b="1" dirty="0">
                <a:solidFill>
                  <a:srgbClr val="FF0000"/>
                </a:solidFill>
                <a:latin typeface="黑体" panose="02010609060101010101" pitchFamily="49" charset="-122"/>
                <a:ea typeface="黑体" panose="02010609060101010101" pitchFamily="49" charset="-122"/>
                <a:cs typeface="+mj-cs"/>
              </a:rPr>
              <a:t>种经济</a:t>
            </a:r>
            <a:r>
              <a:rPr lang="zh-CN" altLang="en-US" sz="2400" b="1" dirty="0" smtClean="0">
                <a:solidFill>
                  <a:srgbClr val="FF0000"/>
                </a:solidFill>
                <a:latin typeface="黑体" panose="02010609060101010101" pitchFamily="49" charset="-122"/>
                <a:ea typeface="黑体" panose="02010609060101010101" pitchFamily="49" charset="-122"/>
                <a:cs typeface="+mj-cs"/>
              </a:rPr>
              <a:t>成分</a:t>
            </a:r>
            <a:endParaRPr lang="zh-CN" altLang="en-US" sz="2400" dirty="0"/>
          </a:p>
        </p:txBody>
      </p:sp>
      <p:sp>
        <p:nvSpPr>
          <p:cNvPr id="5" name="Rectangle 2"/>
          <p:cNvSpPr txBox="1">
            <a:spLocks/>
          </p:cNvSpPr>
          <p:nvPr/>
        </p:nvSpPr>
        <p:spPr>
          <a:xfrm>
            <a:off x="2627784" y="3022050"/>
            <a:ext cx="4968552" cy="544765"/>
          </a:xfrm>
          <a:prstGeom prst="rect">
            <a:avLst/>
          </a:prstGeom>
          <a:solidFill>
            <a:schemeClr val="bg1"/>
          </a:solidFill>
          <a:ln w="12700">
            <a:solidFill>
              <a:srgbClr val="FF3300"/>
            </a:solidFill>
            <a:miter/>
          </a:ln>
        </p:spPr>
        <p:txBody>
          <a:bodyPr vert="horz" wrap="square" rtlCol="0" anchor="t">
            <a:spAutoFit/>
          </a:bodyPr>
          <a:lstStyle>
            <a:lvl1pPr algn="ctr" rtl="0" eaLnBrk="1" latinLnBrk="0" hangingPunct="1">
              <a:spcBef>
                <a:spcPct val="0"/>
              </a:spcBef>
              <a:buNone/>
              <a:defRPr kumimoji="0" sz="4400" kern="1200">
                <a:solidFill>
                  <a:schemeClr val="tx2"/>
                </a:solidFill>
                <a:latin typeface="+mj-lt"/>
                <a:ea typeface="+mj-ea"/>
                <a:cs typeface="+mj-cs"/>
              </a:defRPr>
            </a:lvl1pPr>
            <a:lvl2pPr eaLnBrk="1" latinLnBrk="0" hangingPunct="1">
              <a:defRPr kumimoji="0">
                <a:solidFill>
                  <a:schemeClr val="tx2"/>
                </a:solidFill>
              </a:defRPr>
            </a:lvl2pPr>
            <a:lvl3pPr eaLnBrk="1" latinLnBrk="0" hangingPunct="1">
              <a:defRPr kumimoji="0">
                <a:solidFill>
                  <a:schemeClr val="tx2"/>
                </a:solidFill>
              </a:defRPr>
            </a:lvl3pPr>
            <a:lvl4pPr eaLnBrk="1" latinLnBrk="0" hangingPunct="1">
              <a:defRPr kumimoji="0">
                <a:solidFill>
                  <a:schemeClr val="tx2"/>
                </a:solidFill>
              </a:defRPr>
            </a:lvl4pPr>
            <a:lvl5pPr eaLnBrk="1" latinLnBrk="0" hangingPunct="1">
              <a:defRPr kumimoji="0">
                <a:solidFill>
                  <a:schemeClr val="tx2"/>
                </a:solidFill>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a:lstStyle>
          <a:p>
            <a:pPr algn="l">
              <a:lnSpc>
                <a:spcPct val="105000"/>
              </a:lnSpc>
              <a:spcBef>
                <a:spcPct val="50000"/>
              </a:spcBef>
            </a:pPr>
            <a:r>
              <a:rPr lang="zh-CN" altLang="en-US" sz="2800" b="1" dirty="0" smtClean="0">
                <a:solidFill>
                  <a:srgbClr val="0000FF"/>
                </a:solidFill>
                <a:latin typeface="黑体" panose="02010609060101010101" pitchFamily="49" charset="-122"/>
                <a:ea typeface="黑体" panose="02010609060101010101" pitchFamily="49" charset="-122"/>
              </a:rPr>
              <a:t>半社会主义性质的合作社经济</a:t>
            </a:r>
            <a:endParaRPr lang="zh-CN" altLang="en-US" sz="2800" b="1" dirty="0">
              <a:solidFill>
                <a:srgbClr val="FF0000"/>
              </a:solidFill>
              <a:latin typeface="Times New Roman" panose="02020603050405020304" pitchFamily="18" charset="0"/>
              <a:ea typeface="黑体" panose="02010609060101010101" pitchFamily="49" charset="-122"/>
            </a:endParaRPr>
          </a:p>
        </p:txBody>
      </p:sp>
      <p:sp>
        <p:nvSpPr>
          <p:cNvPr id="6" name="Rectangle 2"/>
          <p:cNvSpPr txBox="1">
            <a:spLocks/>
          </p:cNvSpPr>
          <p:nvPr/>
        </p:nvSpPr>
        <p:spPr>
          <a:xfrm>
            <a:off x="2627784" y="5445224"/>
            <a:ext cx="4958205" cy="544765"/>
          </a:xfrm>
          <a:prstGeom prst="rect">
            <a:avLst/>
          </a:prstGeom>
          <a:solidFill>
            <a:schemeClr val="bg1"/>
          </a:solidFill>
          <a:ln w="12700">
            <a:solidFill>
              <a:srgbClr val="FF3300"/>
            </a:solidFill>
            <a:miter/>
          </a:ln>
        </p:spPr>
        <p:txBody>
          <a:bodyPr vert="horz" wrap="square" rtlCol="0" anchor="t">
            <a:spAutoFit/>
          </a:bodyPr>
          <a:lstStyle>
            <a:lvl1pPr algn="ctr" rtl="0" eaLnBrk="1" latinLnBrk="0" hangingPunct="1">
              <a:spcBef>
                <a:spcPct val="0"/>
              </a:spcBef>
              <a:buNone/>
              <a:defRPr kumimoji="0" sz="4400" kern="1200">
                <a:solidFill>
                  <a:schemeClr val="tx2"/>
                </a:solidFill>
                <a:latin typeface="+mj-lt"/>
                <a:ea typeface="+mj-ea"/>
                <a:cs typeface="+mj-cs"/>
              </a:defRPr>
            </a:lvl1pPr>
            <a:lvl2pPr eaLnBrk="1" latinLnBrk="0" hangingPunct="1">
              <a:defRPr kumimoji="0">
                <a:solidFill>
                  <a:schemeClr val="tx2"/>
                </a:solidFill>
              </a:defRPr>
            </a:lvl2pPr>
            <a:lvl3pPr eaLnBrk="1" latinLnBrk="0" hangingPunct="1">
              <a:defRPr kumimoji="0">
                <a:solidFill>
                  <a:schemeClr val="tx2"/>
                </a:solidFill>
              </a:defRPr>
            </a:lvl3pPr>
            <a:lvl4pPr eaLnBrk="1" latinLnBrk="0" hangingPunct="1">
              <a:defRPr kumimoji="0">
                <a:solidFill>
                  <a:schemeClr val="tx2"/>
                </a:solidFill>
              </a:defRPr>
            </a:lvl4pPr>
            <a:lvl5pPr eaLnBrk="1" latinLnBrk="0" hangingPunct="1">
              <a:defRPr kumimoji="0">
                <a:solidFill>
                  <a:schemeClr val="tx2"/>
                </a:solidFill>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a:lstStyle>
          <a:p>
            <a:pPr algn="l">
              <a:lnSpc>
                <a:spcPct val="105000"/>
              </a:lnSpc>
              <a:spcBef>
                <a:spcPct val="50000"/>
              </a:spcBef>
            </a:pPr>
            <a:r>
              <a:rPr lang="zh-CN" altLang="en-US" sz="2800" b="1" dirty="0" smtClean="0">
                <a:solidFill>
                  <a:srgbClr val="0000FF"/>
                </a:solidFill>
                <a:latin typeface="黑体" panose="02010609060101010101" pitchFamily="49" charset="-122"/>
                <a:ea typeface="黑体" panose="02010609060101010101" pitchFamily="49" charset="-122"/>
              </a:rPr>
              <a:t>国家资本主义经济</a:t>
            </a:r>
            <a:endParaRPr lang="zh-CN" altLang="en-US" sz="2800" b="1" dirty="0">
              <a:solidFill>
                <a:srgbClr val="FF0000"/>
              </a:solidFill>
              <a:latin typeface="Times New Roman" panose="02020603050405020304" pitchFamily="18" charset="0"/>
              <a:ea typeface="黑体" panose="02010609060101010101" pitchFamily="49" charset="-122"/>
            </a:endParaRPr>
          </a:p>
        </p:txBody>
      </p:sp>
      <p:sp>
        <p:nvSpPr>
          <p:cNvPr id="7" name="Rectangle 2"/>
          <p:cNvSpPr txBox="1">
            <a:spLocks/>
          </p:cNvSpPr>
          <p:nvPr/>
        </p:nvSpPr>
        <p:spPr>
          <a:xfrm>
            <a:off x="2638131" y="4797152"/>
            <a:ext cx="4958205" cy="544765"/>
          </a:xfrm>
          <a:prstGeom prst="rect">
            <a:avLst/>
          </a:prstGeom>
          <a:solidFill>
            <a:schemeClr val="bg1"/>
          </a:solidFill>
          <a:ln w="12700">
            <a:solidFill>
              <a:srgbClr val="FF3300"/>
            </a:solidFill>
            <a:miter/>
          </a:ln>
        </p:spPr>
        <p:txBody>
          <a:bodyPr vert="horz" wrap="square" rtlCol="0" anchor="t">
            <a:spAutoFit/>
          </a:bodyPr>
          <a:lstStyle>
            <a:lvl1pPr algn="ctr" rtl="0" eaLnBrk="1" latinLnBrk="0" hangingPunct="1">
              <a:spcBef>
                <a:spcPct val="0"/>
              </a:spcBef>
              <a:buNone/>
              <a:defRPr kumimoji="0" sz="4400" kern="1200">
                <a:solidFill>
                  <a:schemeClr val="tx2"/>
                </a:solidFill>
                <a:latin typeface="+mj-lt"/>
                <a:ea typeface="+mj-ea"/>
                <a:cs typeface="+mj-cs"/>
              </a:defRPr>
            </a:lvl1pPr>
            <a:lvl2pPr eaLnBrk="1" latinLnBrk="0" hangingPunct="1">
              <a:defRPr kumimoji="0">
                <a:solidFill>
                  <a:schemeClr val="tx2"/>
                </a:solidFill>
              </a:defRPr>
            </a:lvl2pPr>
            <a:lvl3pPr eaLnBrk="1" latinLnBrk="0" hangingPunct="1">
              <a:defRPr kumimoji="0">
                <a:solidFill>
                  <a:schemeClr val="tx2"/>
                </a:solidFill>
              </a:defRPr>
            </a:lvl3pPr>
            <a:lvl4pPr eaLnBrk="1" latinLnBrk="0" hangingPunct="1">
              <a:defRPr kumimoji="0">
                <a:solidFill>
                  <a:schemeClr val="tx2"/>
                </a:solidFill>
              </a:defRPr>
            </a:lvl4pPr>
            <a:lvl5pPr eaLnBrk="1" latinLnBrk="0" hangingPunct="1">
              <a:defRPr kumimoji="0">
                <a:solidFill>
                  <a:schemeClr val="tx2"/>
                </a:solidFill>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a:lstStyle>
          <a:p>
            <a:pPr algn="l">
              <a:lnSpc>
                <a:spcPct val="105000"/>
              </a:lnSpc>
              <a:spcBef>
                <a:spcPct val="50000"/>
              </a:spcBef>
            </a:pPr>
            <a:r>
              <a:rPr lang="zh-CN" altLang="en-US" sz="2800" b="1" dirty="0" smtClean="0">
                <a:solidFill>
                  <a:srgbClr val="0000FF"/>
                </a:solidFill>
                <a:latin typeface="黑体" panose="02010609060101010101" pitchFamily="49" charset="-122"/>
                <a:ea typeface="黑体" panose="02010609060101010101" pitchFamily="49" charset="-122"/>
              </a:rPr>
              <a:t>私人资本主义经济</a:t>
            </a:r>
            <a:endParaRPr lang="zh-CN" altLang="en-US" sz="2800" b="1" dirty="0">
              <a:solidFill>
                <a:srgbClr val="FF0000"/>
              </a:solidFill>
              <a:latin typeface="Times New Roman" panose="02020603050405020304" pitchFamily="18" charset="0"/>
              <a:ea typeface="黑体" panose="02010609060101010101" pitchFamily="49" charset="-122"/>
            </a:endParaRPr>
          </a:p>
        </p:txBody>
      </p:sp>
      <p:sp>
        <p:nvSpPr>
          <p:cNvPr id="8" name="Rectangle 2"/>
          <p:cNvSpPr txBox="1">
            <a:spLocks/>
          </p:cNvSpPr>
          <p:nvPr/>
        </p:nvSpPr>
        <p:spPr>
          <a:xfrm>
            <a:off x="2668961" y="3964699"/>
            <a:ext cx="4896544" cy="544765"/>
          </a:xfrm>
          <a:prstGeom prst="rect">
            <a:avLst/>
          </a:prstGeom>
          <a:solidFill>
            <a:schemeClr val="bg1"/>
          </a:solidFill>
          <a:ln w="12700">
            <a:solidFill>
              <a:srgbClr val="FF3300"/>
            </a:solidFill>
            <a:miter/>
          </a:ln>
        </p:spPr>
        <p:txBody>
          <a:bodyPr vert="horz" wrap="square" rtlCol="0" anchor="t">
            <a:spAutoFit/>
          </a:bodyPr>
          <a:lstStyle>
            <a:lvl1pPr algn="ctr" rtl="0" eaLnBrk="1" latinLnBrk="0" hangingPunct="1">
              <a:spcBef>
                <a:spcPct val="0"/>
              </a:spcBef>
              <a:buNone/>
              <a:defRPr kumimoji="0" sz="4400" kern="1200">
                <a:solidFill>
                  <a:schemeClr val="tx2"/>
                </a:solidFill>
                <a:latin typeface="+mj-lt"/>
                <a:ea typeface="+mj-ea"/>
                <a:cs typeface="+mj-cs"/>
              </a:defRPr>
            </a:lvl1pPr>
            <a:lvl2pPr eaLnBrk="1" latinLnBrk="0" hangingPunct="1">
              <a:defRPr kumimoji="0">
                <a:solidFill>
                  <a:schemeClr val="tx2"/>
                </a:solidFill>
              </a:defRPr>
            </a:lvl2pPr>
            <a:lvl3pPr eaLnBrk="1" latinLnBrk="0" hangingPunct="1">
              <a:defRPr kumimoji="0">
                <a:solidFill>
                  <a:schemeClr val="tx2"/>
                </a:solidFill>
              </a:defRPr>
            </a:lvl3pPr>
            <a:lvl4pPr eaLnBrk="1" latinLnBrk="0" hangingPunct="1">
              <a:defRPr kumimoji="0">
                <a:solidFill>
                  <a:schemeClr val="tx2"/>
                </a:solidFill>
              </a:defRPr>
            </a:lvl4pPr>
            <a:lvl5pPr eaLnBrk="1" latinLnBrk="0" hangingPunct="1">
              <a:defRPr kumimoji="0">
                <a:solidFill>
                  <a:schemeClr val="tx2"/>
                </a:solidFill>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a:lstStyle>
          <a:p>
            <a:pPr algn="l">
              <a:lnSpc>
                <a:spcPct val="105000"/>
              </a:lnSpc>
              <a:spcBef>
                <a:spcPct val="50000"/>
              </a:spcBef>
            </a:pPr>
            <a:r>
              <a:rPr lang="zh-CN" altLang="en-US" sz="2800" b="1" dirty="0" smtClean="0">
                <a:solidFill>
                  <a:srgbClr val="0000FF"/>
                </a:solidFill>
                <a:latin typeface="黑体" panose="02010609060101010101" pitchFamily="49" charset="-122"/>
                <a:ea typeface="黑体" panose="02010609060101010101" pitchFamily="49" charset="-122"/>
              </a:rPr>
              <a:t>农民和手工业者的个体经济</a:t>
            </a:r>
            <a:r>
              <a:rPr lang="en-US" altLang="zh-CN" sz="2800" b="1" dirty="0" smtClean="0">
                <a:solidFill>
                  <a:srgbClr val="0000FF"/>
                </a:solidFill>
                <a:latin typeface="黑体" panose="02010609060101010101" pitchFamily="49" charset="-122"/>
                <a:ea typeface="黑体" panose="02010609060101010101" pitchFamily="49" charset="-122"/>
              </a:rPr>
              <a:t>  </a:t>
            </a:r>
            <a:endParaRPr lang="zh-CN" altLang="en-US" sz="2800" b="1" dirty="0">
              <a:solidFill>
                <a:srgbClr val="FF0000"/>
              </a:solidFill>
              <a:latin typeface="Times New Roman" panose="02020603050405020304" pitchFamily="18" charset="0"/>
              <a:ea typeface="黑体" panose="02010609060101010101" pitchFamily="49" charset="-122"/>
            </a:endParaRPr>
          </a:p>
        </p:txBody>
      </p:sp>
      <p:sp>
        <p:nvSpPr>
          <p:cNvPr id="9" name="左大括号 8"/>
          <p:cNvSpPr/>
          <p:nvPr/>
        </p:nvSpPr>
        <p:spPr>
          <a:xfrm>
            <a:off x="1763688" y="2348880"/>
            <a:ext cx="936104" cy="2880320"/>
          </a:xfrm>
          <a:prstGeom prst="leftBrace">
            <a:avLst/>
          </a:prstGeom>
          <a:solidFill>
            <a:schemeClr val="accent2"/>
          </a:solidFill>
          <a:ln>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2"/>
          <p:cNvSpPr>
            <a:spLocks noGrp="1"/>
          </p:cNvSpPr>
          <p:nvPr>
            <p:ph type="title"/>
          </p:nvPr>
        </p:nvSpPr>
        <p:spPr>
          <a:xfrm>
            <a:off x="2383904" y="1556792"/>
            <a:ext cx="6781800" cy="1416285"/>
          </a:xfrm>
          <a:solidFill>
            <a:schemeClr val="bg1"/>
          </a:solidFill>
          <a:ln w="12700">
            <a:solidFill>
              <a:srgbClr val="FF3300"/>
            </a:solidFill>
            <a:miter/>
          </a:ln>
        </p:spPr>
        <p:txBody>
          <a:bodyPr anchor="t">
            <a:spAutoFit/>
          </a:bodyPr>
          <a:lstStyle/>
          <a:p>
            <a:pPr algn="l">
              <a:lnSpc>
                <a:spcPct val="105000"/>
              </a:lnSpc>
              <a:spcBef>
                <a:spcPct val="50000"/>
              </a:spcBef>
            </a:pPr>
            <a:r>
              <a:rPr lang="en-US" altLang="zh-CN" sz="2800" b="1" dirty="0" smtClean="0">
                <a:solidFill>
                  <a:srgbClr val="0000FF"/>
                </a:solidFill>
                <a:latin typeface="Times New Roman" panose="02020603050405020304" pitchFamily="18" charset="0"/>
                <a:ea typeface="黑体" panose="02010609060101010101" pitchFamily="49" charset="-122"/>
              </a:rPr>
              <a:t>       </a:t>
            </a:r>
            <a:r>
              <a:rPr lang="zh-CN" altLang="en-US" sz="2800" b="1" dirty="0">
                <a:solidFill>
                  <a:srgbClr val="FF0000"/>
                </a:solidFill>
                <a:latin typeface="Times New Roman" panose="02020603050405020304" pitchFamily="18" charset="0"/>
                <a:ea typeface="黑体" panose="02010609060101010101" pitchFamily="49" charset="-122"/>
              </a:rPr>
              <a:t>社会主义经济</a:t>
            </a:r>
            <a:r>
              <a:rPr lang="zh-CN" altLang="en-US" sz="2800" b="1" dirty="0" smtClean="0">
                <a:solidFill>
                  <a:srgbClr val="0000FF"/>
                </a:solidFill>
                <a:latin typeface="Times New Roman" panose="02020603050405020304" pitchFamily="18" charset="0"/>
                <a:ea typeface="黑体" panose="02010609060101010101" pitchFamily="49" charset="-122"/>
              </a:rPr>
              <a:t>：到</a:t>
            </a:r>
            <a:r>
              <a:rPr lang="en-US" altLang="zh-CN" sz="2800" b="1" dirty="0">
                <a:solidFill>
                  <a:srgbClr val="0000FF"/>
                </a:solidFill>
                <a:latin typeface="Times New Roman" panose="02020603050405020304" pitchFamily="18" charset="0"/>
                <a:ea typeface="黑体" panose="02010609060101010101" pitchFamily="49" charset="-122"/>
              </a:rPr>
              <a:t>1952</a:t>
            </a:r>
            <a:r>
              <a:rPr lang="zh-CN" altLang="en-US" sz="2800" b="1" dirty="0">
                <a:solidFill>
                  <a:srgbClr val="0000FF"/>
                </a:solidFill>
                <a:latin typeface="Times New Roman" panose="02020603050405020304" pitchFamily="18" charset="0"/>
                <a:ea typeface="黑体" panose="02010609060101010101" pitchFamily="49" charset="-122"/>
              </a:rPr>
              <a:t>年，国营工业总产值占工业总产值的</a:t>
            </a:r>
            <a:r>
              <a:rPr lang="en-US" altLang="zh-CN" sz="2800" b="1" dirty="0">
                <a:solidFill>
                  <a:srgbClr val="0000FF"/>
                </a:solidFill>
                <a:latin typeface="Times New Roman" panose="02020603050405020304" pitchFamily="18" charset="0"/>
                <a:ea typeface="黑体" panose="02010609060101010101" pitchFamily="49" charset="-122"/>
              </a:rPr>
              <a:t>52.8% </a:t>
            </a:r>
            <a:r>
              <a:rPr lang="zh-CN" altLang="en-US" sz="2800" b="1" dirty="0">
                <a:solidFill>
                  <a:srgbClr val="0000FF"/>
                </a:solidFill>
                <a:latin typeface="Times New Roman" panose="02020603050405020304" pitchFamily="18" charset="0"/>
                <a:ea typeface="黑体" panose="02010609060101010101" pitchFamily="49" charset="-122"/>
              </a:rPr>
              <a:t>，成为国民经济的领导力量</a:t>
            </a:r>
            <a:r>
              <a:rPr lang="zh-CN" altLang="en-US" sz="2800" b="1" dirty="0" smtClean="0">
                <a:solidFill>
                  <a:srgbClr val="0000FF"/>
                </a:solidFill>
                <a:latin typeface="Times New Roman" panose="02020603050405020304" pitchFamily="18" charset="0"/>
                <a:ea typeface="黑体" panose="02010609060101010101" pitchFamily="49" charset="-122"/>
              </a:rPr>
              <a:t>。</a:t>
            </a:r>
            <a:endParaRPr lang="zh-CN" altLang="en-US" sz="2800" b="1" dirty="0">
              <a:solidFill>
                <a:srgbClr val="0000FF"/>
              </a:solidFill>
              <a:latin typeface="Times New Roman" panose="02020603050405020304" pitchFamily="18" charset="0"/>
              <a:ea typeface="黑体" panose="02010609060101010101" pitchFamily="49" charset="-122"/>
            </a:endParaRPr>
          </a:p>
        </p:txBody>
      </p:sp>
      <p:sp>
        <p:nvSpPr>
          <p:cNvPr id="2" name="矩形 1"/>
          <p:cNvSpPr/>
          <p:nvPr/>
        </p:nvSpPr>
        <p:spPr>
          <a:xfrm>
            <a:off x="1199895" y="2354909"/>
            <a:ext cx="504056" cy="2677656"/>
          </a:xfrm>
          <a:prstGeom prst="rect">
            <a:avLst/>
          </a:prstGeom>
          <a:solidFill>
            <a:schemeClr val="bg1"/>
          </a:solidFill>
          <a:ln>
            <a:solidFill>
              <a:schemeClr val="accent1"/>
            </a:solidFill>
          </a:ln>
        </p:spPr>
        <p:txBody>
          <a:bodyPr wrap="square">
            <a:spAutoFit/>
          </a:bodyPr>
          <a:lstStyle/>
          <a:p>
            <a:r>
              <a:rPr lang="zh-CN" altLang="en-US" sz="2800" b="1" dirty="0">
                <a:solidFill>
                  <a:srgbClr val="0000FF"/>
                </a:solidFill>
                <a:latin typeface="Times New Roman" panose="02020603050405020304" pitchFamily="18" charset="0"/>
                <a:ea typeface="黑体" panose="02010609060101010101" pitchFamily="49" charset="-122"/>
                <a:cs typeface="+mj-cs"/>
              </a:rPr>
              <a:t>主要经济</a:t>
            </a:r>
            <a:r>
              <a:rPr lang="zh-CN" altLang="en-US" sz="2800" b="1" dirty="0" smtClean="0">
                <a:solidFill>
                  <a:srgbClr val="0000FF"/>
                </a:solidFill>
                <a:latin typeface="Times New Roman" panose="02020603050405020304" pitchFamily="18" charset="0"/>
                <a:ea typeface="黑体" panose="02010609060101010101" pitchFamily="49" charset="-122"/>
                <a:cs typeface="+mj-cs"/>
              </a:rPr>
              <a:t>成分</a:t>
            </a:r>
            <a:endParaRPr lang="zh-CN" altLang="en-US" dirty="0"/>
          </a:p>
        </p:txBody>
      </p:sp>
      <p:sp>
        <p:nvSpPr>
          <p:cNvPr id="4" name="Rectangle 2"/>
          <p:cNvSpPr txBox="1">
            <a:spLocks/>
          </p:cNvSpPr>
          <p:nvPr/>
        </p:nvSpPr>
        <p:spPr>
          <a:xfrm>
            <a:off x="2362200" y="3429000"/>
            <a:ext cx="6781800" cy="997196"/>
          </a:xfrm>
          <a:prstGeom prst="rect">
            <a:avLst/>
          </a:prstGeom>
          <a:solidFill>
            <a:schemeClr val="bg1"/>
          </a:solidFill>
          <a:ln w="12700">
            <a:solidFill>
              <a:srgbClr val="FF3300"/>
            </a:solidFill>
            <a:miter/>
          </a:ln>
        </p:spPr>
        <p:txBody>
          <a:bodyPr vert="horz" rtlCol="0" anchor="t">
            <a:spAutoFit/>
          </a:bodyPr>
          <a:lstStyle>
            <a:lvl1pPr algn="ctr" rtl="0" eaLnBrk="1" latinLnBrk="0" hangingPunct="1">
              <a:spcBef>
                <a:spcPct val="0"/>
              </a:spcBef>
              <a:buNone/>
              <a:defRPr kumimoji="0" sz="4400" kern="1200">
                <a:solidFill>
                  <a:schemeClr val="tx2"/>
                </a:solidFill>
                <a:latin typeface="+mj-lt"/>
                <a:ea typeface="+mj-ea"/>
                <a:cs typeface="+mj-cs"/>
              </a:defRPr>
            </a:lvl1pPr>
            <a:lvl2pPr eaLnBrk="1" latinLnBrk="0" hangingPunct="1">
              <a:defRPr kumimoji="0">
                <a:solidFill>
                  <a:schemeClr val="tx2"/>
                </a:solidFill>
              </a:defRPr>
            </a:lvl2pPr>
            <a:lvl3pPr eaLnBrk="1" latinLnBrk="0" hangingPunct="1">
              <a:defRPr kumimoji="0">
                <a:solidFill>
                  <a:schemeClr val="tx2"/>
                </a:solidFill>
              </a:defRPr>
            </a:lvl3pPr>
            <a:lvl4pPr eaLnBrk="1" latinLnBrk="0" hangingPunct="1">
              <a:defRPr kumimoji="0">
                <a:solidFill>
                  <a:schemeClr val="tx2"/>
                </a:solidFill>
              </a:defRPr>
            </a:lvl4pPr>
            <a:lvl5pPr eaLnBrk="1" latinLnBrk="0" hangingPunct="1">
              <a:defRPr kumimoji="0">
                <a:solidFill>
                  <a:schemeClr val="tx2"/>
                </a:solidFill>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a:lstStyle>
          <a:p>
            <a:pPr algn="l">
              <a:lnSpc>
                <a:spcPct val="105000"/>
              </a:lnSpc>
              <a:spcBef>
                <a:spcPct val="50000"/>
              </a:spcBef>
            </a:pPr>
            <a:r>
              <a:rPr lang="en-US" altLang="zh-CN" sz="2800" b="1" dirty="0" smtClean="0">
                <a:solidFill>
                  <a:srgbClr val="0000FF"/>
                </a:solidFill>
                <a:latin typeface="Times New Roman" panose="02020603050405020304" pitchFamily="18" charset="0"/>
                <a:ea typeface="黑体" panose="02010609060101010101" pitchFamily="49" charset="-122"/>
              </a:rPr>
              <a:t>      </a:t>
            </a:r>
            <a:r>
              <a:rPr lang="zh-CN" altLang="en-US" sz="2800" b="1" dirty="0" smtClean="0">
                <a:solidFill>
                  <a:srgbClr val="FF0000"/>
                </a:solidFill>
                <a:latin typeface="Times New Roman" panose="02020603050405020304" pitchFamily="18" charset="0"/>
                <a:ea typeface="黑体" panose="02010609060101010101" pitchFamily="49" charset="-122"/>
              </a:rPr>
              <a:t>个体经济</a:t>
            </a:r>
            <a:r>
              <a:rPr lang="en-US" altLang="zh-CN" sz="2800" b="1" dirty="0" smtClean="0">
                <a:solidFill>
                  <a:srgbClr val="0000FF"/>
                </a:solidFill>
                <a:latin typeface="Times New Roman" panose="02020603050405020304" pitchFamily="18" charset="0"/>
                <a:ea typeface="黑体" panose="02010609060101010101" pitchFamily="49" charset="-122"/>
              </a:rPr>
              <a:t>:</a:t>
            </a:r>
            <a:r>
              <a:rPr lang="zh-CN" altLang="en-US" sz="2800" b="1" dirty="0" smtClean="0">
                <a:solidFill>
                  <a:srgbClr val="0000FF"/>
                </a:solidFill>
                <a:latin typeface="Times New Roman" panose="02020603050405020304" pitchFamily="18" charset="0"/>
                <a:ea typeface="黑体" panose="02010609060101010101" pitchFamily="49" charset="-122"/>
              </a:rPr>
              <a:t>农业和手工业为主体，在国民经济中占绝对优势。         </a:t>
            </a:r>
            <a:endParaRPr lang="zh-CN" altLang="en-US" sz="2800" b="1" dirty="0">
              <a:solidFill>
                <a:srgbClr val="0000FF"/>
              </a:solidFill>
              <a:latin typeface="Times New Roman" panose="02020603050405020304" pitchFamily="18" charset="0"/>
              <a:ea typeface="黑体" panose="02010609060101010101" pitchFamily="49" charset="-122"/>
            </a:endParaRPr>
          </a:p>
        </p:txBody>
      </p:sp>
      <p:sp>
        <p:nvSpPr>
          <p:cNvPr id="5" name="Rectangle 2"/>
          <p:cNvSpPr txBox="1">
            <a:spLocks/>
          </p:cNvSpPr>
          <p:nvPr/>
        </p:nvSpPr>
        <p:spPr>
          <a:xfrm>
            <a:off x="2383904" y="4760183"/>
            <a:ext cx="4636368" cy="544765"/>
          </a:xfrm>
          <a:prstGeom prst="rect">
            <a:avLst/>
          </a:prstGeom>
          <a:solidFill>
            <a:schemeClr val="bg1"/>
          </a:solidFill>
          <a:ln w="12700">
            <a:solidFill>
              <a:srgbClr val="FF3300"/>
            </a:solidFill>
            <a:miter/>
          </a:ln>
        </p:spPr>
        <p:txBody>
          <a:bodyPr vert="horz" wrap="square" rtlCol="0" anchor="t">
            <a:spAutoFit/>
          </a:bodyPr>
          <a:lstStyle>
            <a:lvl1pPr algn="ctr" rtl="0" eaLnBrk="1" latinLnBrk="0" hangingPunct="1">
              <a:spcBef>
                <a:spcPct val="0"/>
              </a:spcBef>
              <a:buNone/>
              <a:defRPr kumimoji="0" sz="4400" kern="1200">
                <a:solidFill>
                  <a:schemeClr val="tx2"/>
                </a:solidFill>
                <a:latin typeface="+mj-lt"/>
                <a:ea typeface="+mj-ea"/>
                <a:cs typeface="+mj-cs"/>
              </a:defRPr>
            </a:lvl1pPr>
            <a:lvl2pPr eaLnBrk="1" latinLnBrk="0" hangingPunct="1">
              <a:defRPr kumimoji="0">
                <a:solidFill>
                  <a:schemeClr val="tx2"/>
                </a:solidFill>
              </a:defRPr>
            </a:lvl2pPr>
            <a:lvl3pPr eaLnBrk="1" latinLnBrk="0" hangingPunct="1">
              <a:defRPr kumimoji="0">
                <a:solidFill>
                  <a:schemeClr val="tx2"/>
                </a:solidFill>
              </a:defRPr>
            </a:lvl3pPr>
            <a:lvl4pPr eaLnBrk="1" latinLnBrk="0" hangingPunct="1">
              <a:defRPr kumimoji="0">
                <a:solidFill>
                  <a:schemeClr val="tx2"/>
                </a:solidFill>
              </a:defRPr>
            </a:lvl4pPr>
            <a:lvl5pPr eaLnBrk="1" latinLnBrk="0" hangingPunct="1">
              <a:defRPr kumimoji="0">
                <a:solidFill>
                  <a:schemeClr val="tx2"/>
                </a:solidFill>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a:lstStyle>
          <a:p>
            <a:pPr algn="l">
              <a:lnSpc>
                <a:spcPct val="105000"/>
              </a:lnSpc>
              <a:spcBef>
                <a:spcPct val="50000"/>
              </a:spcBef>
            </a:pPr>
            <a:r>
              <a:rPr lang="en-US" altLang="zh-CN" sz="2800" b="1" dirty="0" smtClean="0">
                <a:solidFill>
                  <a:srgbClr val="0000FF"/>
                </a:solidFill>
                <a:latin typeface="Times New Roman" panose="02020603050405020304" pitchFamily="18" charset="0"/>
                <a:ea typeface="黑体" panose="02010609060101010101" pitchFamily="49" charset="-122"/>
              </a:rPr>
              <a:t>   </a:t>
            </a:r>
            <a:r>
              <a:rPr lang="zh-CN" altLang="en-US" sz="2800" b="1" dirty="0" smtClean="0">
                <a:solidFill>
                  <a:srgbClr val="FF0000"/>
                </a:solidFill>
                <a:latin typeface="Times New Roman" panose="02020603050405020304" pitchFamily="18" charset="0"/>
                <a:ea typeface="黑体" panose="02010609060101010101" pitchFamily="49" charset="-122"/>
              </a:rPr>
              <a:t>私人资本主义经济</a:t>
            </a:r>
            <a:r>
              <a:rPr lang="zh-CN" altLang="en-US" sz="2800" b="1" dirty="0" smtClean="0">
                <a:solidFill>
                  <a:srgbClr val="0000FF"/>
                </a:solidFill>
                <a:latin typeface="Times New Roman" panose="02020603050405020304" pitchFamily="18" charset="0"/>
                <a:ea typeface="黑体" panose="02010609060101010101" pitchFamily="49" charset="-122"/>
              </a:rPr>
              <a:t>。</a:t>
            </a:r>
            <a:endParaRPr lang="zh-CN" altLang="en-US" sz="2800" b="1" dirty="0">
              <a:solidFill>
                <a:srgbClr val="0000FF"/>
              </a:solidFill>
              <a:latin typeface="Times New Roman" panose="02020603050405020304" pitchFamily="18" charset="0"/>
              <a:ea typeface="黑体" panose="02010609060101010101" pitchFamily="49" charset="-122"/>
            </a:endParaRPr>
          </a:p>
        </p:txBody>
      </p:sp>
      <p:sp>
        <p:nvSpPr>
          <p:cNvPr id="3" name="左大括号 2"/>
          <p:cNvSpPr/>
          <p:nvPr/>
        </p:nvSpPr>
        <p:spPr>
          <a:xfrm>
            <a:off x="1835696" y="2354909"/>
            <a:ext cx="432048" cy="2677656"/>
          </a:xfrm>
          <a:prstGeom prst="leftBrace">
            <a:avLst/>
          </a:prstGeom>
          <a:solidFill>
            <a:srgbClr val="FFC000"/>
          </a:solidFill>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611560" y="1700808"/>
            <a:ext cx="2031325" cy="646331"/>
          </a:xfrm>
          <a:prstGeom prst="rect">
            <a:avLst/>
          </a:prstGeom>
          <a:solidFill>
            <a:schemeClr val="bg1"/>
          </a:solidFill>
          <a:ln>
            <a:solidFill>
              <a:srgbClr val="FF0000"/>
            </a:solidFill>
          </a:ln>
        </p:spPr>
        <p:txBody>
          <a:bodyPr wrap="none">
            <a:spAutoFit/>
          </a:bodyPr>
          <a:lstStyle/>
          <a:p>
            <a:r>
              <a:rPr lang="zh-CN" altLang="en-US" sz="3600" b="1" dirty="0" smtClean="0">
                <a:solidFill>
                  <a:srgbClr val="FF0000"/>
                </a:solidFill>
                <a:latin typeface="华文琥珀" pitchFamily="2" charset="-122"/>
                <a:ea typeface="华文琥珀" pitchFamily="2" charset="-122"/>
              </a:rPr>
              <a:t>阶级构成</a:t>
            </a:r>
          </a:p>
        </p:txBody>
      </p:sp>
      <p:sp>
        <p:nvSpPr>
          <p:cNvPr id="9" name="Rectangle 2"/>
          <p:cNvSpPr txBox="1">
            <a:spLocks/>
          </p:cNvSpPr>
          <p:nvPr/>
        </p:nvSpPr>
        <p:spPr>
          <a:xfrm>
            <a:off x="251520" y="3861048"/>
            <a:ext cx="8064896" cy="1449628"/>
          </a:xfrm>
          <a:prstGeom prst="rect">
            <a:avLst/>
          </a:prstGeom>
          <a:solidFill>
            <a:schemeClr val="bg1"/>
          </a:solidFill>
          <a:ln w="12700">
            <a:solidFill>
              <a:srgbClr val="FF0000"/>
            </a:solidFill>
            <a:miter/>
          </a:ln>
        </p:spPr>
        <p:txBody>
          <a:bodyPr vert="horz" wrap="square" rtlCol="0" anchor="t">
            <a:spAutoFit/>
          </a:bodyPr>
          <a:lstStyle>
            <a:lvl1pPr algn="ctr" rtl="0" eaLnBrk="1" latinLnBrk="0" hangingPunct="1">
              <a:spcBef>
                <a:spcPct val="0"/>
              </a:spcBef>
              <a:buNone/>
              <a:defRPr kumimoji="0" sz="4400" kern="1200">
                <a:solidFill>
                  <a:schemeClr val="tx2"/>
                </a:solidFill>
                <a:latin typeface="+mj-lt"/>
                <a:ea typeface="+mj-ea"/>
                <a:cs typeface="+mj-cs"/>
              </a:defRPr>
            </a:lvl1pPr>
            <a:lvl2pPr eaLnBrk="1" latinLnBrk="0" hangingPunct="1">
              <a:defRPr kumimoji="0">
                <a:solidFill>
                  <a:schemeClr val="tx2"/>
                </a:solidFill>
              </a:defRPr>
            </a:lvl2pPr>
            <a:lvl3pPr eaLnBrk="1" latinLnBrk="0" hangingPunct="1">
              <a:defRPr kumimoji="0">
                <a:solidFill>
                  <a:schemeClr val="tx2"/>
                </a:solidFill>
              </a:defRPr>
            </a:lvl3pPr>
            <a:lvl4pPr eaLnBrk="1" latinLnBrk="0" hangingPunct="1">
              <a:defRPr kumimoji="0">
                <a:solidFill>
                  <a:schemeClr val="tx2"/>
                </a:solidFill>
              </a:defRPr>
            </a:lvl4pPr>
            <a:lvl5pPr eaLnBrk="1" latinLnBrk="0" hangingPunct="1">
              <a:defRPr kumimoji="0">
                <a:solidFill>
                  <a:schemeClr val="tx2"/>
                </a:solidFill>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a:lstStyle>
          <a:p>
            <a:pPr algn="l">
              <a:lnSpc>
                <a:spcPct val="105000"/>
              </a:lnSpc>
              <a:spcBef>
                <a:spcPct val="50000"/>
              </a:spcBef>
            </a:pPr>
            <a:r>
              <a:rPr lang="zh-CN" altLang="en-US" sz="2800" b="1" dirty="0" smtClean="0">
                <a:solidFill>
                  <a:srgbClr val="0000FF"/>
                </a:solidFill>
                <a:latin typeface="Times New Roman" panose="02020603050405020304" pitchFamily="18" charset="0"/>
                <a:ea typeface="黑体" panose="02010609060101010101" pitchFamily="49" charset="-122"/>
              </a:rPr>
              <a:t>       工人阶级的领导和工农联盟的基础是新民主主义社会政治方面的社会主义因素，从政治上保障了新民主主义向社会主义的转变。</a:t>
            </a:r>
            <a:endParaRPr lang="zh-CN" altLang="en-US" sz="2800" b="1" dirty="0">
              <a:solidFill>
                <a:srgbClr val="0000FF"/>
              </a:solidFill>
              <a:latin typeface="Times New Roman" panose="02020603050405020304" pitchFamily="18" charset="0"/>
              <a:ea typeface="黑体" panose="02010609060101010101" pitchFamily="49" charset="-122"/>
            </a:endParaRPr>
          </a:p>
        </p:txBody>
      </p:sp>
      <p:sp>
        <p:nvSpPr>
          <p:cNvPr id="7" name="左大括号 6"/>
          <p:cNvSpPr/>
          <p:nvPr/>
        </p:nvSpPr>
        <p:spPr>
          <a:xfrm>
            <a:off x="2699792" y="908720"/>
            <a:ext cx="1224136" cy="2160240"/>
          </a:xfrm>
          <a:prstGeom prst="leftBrace">
            <a:avLst/>
          </a:prstGeom>
          <a:solidFill>
            <a:schemeClr val="accent2"/>
          </a:solidFill>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 name="Rectangle 2"/>
          <p:cNvSpPr txBox="1">
            <a:spLocks/>
          </p:cNvSpPr>
          <p:nvPr/>
        </p:nvSpPr>
        <p:spPr>
          <a:xfrm>
            <a:off x="4211960" y="188640"/>
            <a:ext cx="4392488" cy="544765"/>
          </a:xfrm>
          <a:prstGeom prst="rect">
            <a:avLst/>
          </a:prstGeom>
          <a:solidFill>
            <a:schemeClr val="bg1"/>
          </a:solidFill>
          <a:ln w="12700">
            <a:solidFill>
              <a:srgbClr val="FF0000"/>
            </a:solidFill>
            <a:miter/>
          </a:ln>
        </p:spPr>
        <p:txBody>
          <a:bodyPr vert="horz" wrap="square" rtlCol="0" anchor="t">
            <a:spAutoFit/>
          </a:bodyPr>
          <a:lstStyle>
            <a:lvl1pPr algn="ctr" rtl="0" eaLnBrk="1" latinLnBrk="0" hangingPunct="1">
              <a:spcBef>
                <a:spcPct val="0"/>
              </a:spcBef>
              <a:buNone/>
              <a:defRPr kumimoji="0" sz="4400" kern="1200">
                <a:solidFill>
                  <a:schemeClr val="tx2"/>
                </a:solidFill>
                <a:latin typeface="+mj-lt"/>
                <a:ea typeface="+mj-ea"/>
                <a:cs typeface="+mj-cs"/>
              </a:defRPr>
            </a:lvl1pPr>
            <a:lvl2pPr eaLnBrk="1" latinLnBrk="0" hangingPunct="1">
              <a:defRPr kumimoji="0">
                <a:solidFill>
                  <a:schemeClr val="tx2"/>
                </a:solidFill>
              </a:defRPr>
            </a:lvl2pPr>
            <a:lvl3pPr eaLnBrk="1" latinLnBrk="0" hangingPunct="1">
              <a:defRPr kumimoji="0">
                <a:solidFill>
                  <a:schemeClr val="tx2"/>
                </a:solidFill>
              </a:defRPr>
            </a:lvl3pPr>
            <a:lvl4pPr eaLnBrk="1" latinLnBrk="0" hangingPunct="1">
              <a:defRPr kumimoji="0">
                <a:solidFill>
                  <a:schemeClr val="tx2"/>
                </a:solidFill>
              </a:defRPr>
            </a:lvl4pPr>
            <a:lvl5pPr eaLnBrk="1" latinLnBrk="0" hangingPunct="1">
              <a:defRPr kumimoji="0">
                <a:solidFill>
                  <a:schemeClr val="tx2"/>
                </a:solidFill>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a:lstStyle>
          <a:p>
            <a:pPr algn="l">
              <a:lnSpc>
                <a:spcPct val="105000"/>
              </a:lnSpc>
              <a:spcBef>
                <a:spcPct val="50000"/>
              </a:spcBef>
            </a:pPr>
            <a:r>
              <a:rPr lang="zh-CN" altLang="en-US" sz="2800" b="1" dirty="0" smtClean="0">
                <a:solidFill>
                  <a:srgbClr val="0000FF"/>
                </a:solidFill>
                <a:latin typeface="Times New Roman" panose="02020603050405020304" pitchFamily="18" charset="0"/>
                <a:ea typeface="黑体" panose="02010609060101010101" pitchFamily="49" charset="-122"/>
              </a:rPr>
              <a:t>工人阶级    处于领导地位</a:t>
            </a:r>
            <a:endParaRPr lang="en-US" altLang="zh-CN" sz="2800" b="1" dirty="0">
              <a:solidFill>
                <a:srgbClr val="0000FF"/>
              </a:solidFill>
              <a:latin typeface="Times New Roman" panose="02020603050405020304" pitchFamily="18" charset="0"/>
              <a:ea typeface="黑体" panose="02010609060101010101" pitchFamily="49" charset="-122"/>
            </a:endParaRPr>
          </a:p>
        </p:txBody>
      </p:sp>
      <p:sp>
        <p:nvSpPr>
          <p:cNvPr id="11" name="Rectangle 2"/>
          <p:cNvSpPr txBox="1">
            <a:spLocks/>
          </p:cNvSpPr>
          <p:nvPr/>
        </p:nvSpPr>
        <p:spPr>
          <a:xfrm>
            <a:off x="4211960" y="908720"/>
            <a:ext cx="1944216" cy="511422"/>
          </a:xfrm>
          <a:prstGeom prst="rect">
            <a:avLst/>
          </a:prstGeom>
          <a:solidFill>
            <a:schemeClr val="bg1"/>
          </a:solidFill>
          <a:ln w="12700">
            <a:solidFill>
              <a:srgbClr val="FF0000"/>
            </a:solidFill>
            <a:miter/>
          </a:ln>
        </p:spPr>
        <p:txBody>
          <a:bodyPr vert="horz" wrap="square" rtlCol="0" anchor="t">
            <a:spAutoFit/>
          </a:bodyPr>
          <a:lstStyle>
            <a:lvl1pPr algn="ctr" rtl="0" eaLnBrk="1" latinLnBrk="0" hangingPunct="1">
              <a:spcBef>
                <a:spcPct val="0"/>
              </a:spcBef>
              <a:buNone/>
              <a:defRPr kumimoji="0" sz="4400" kern="1200">
                <a:solidFill>
                  <a:schemeClr val="tx2"/>
                </a:solidFill>
                <a:latin typeface="+mj-lt"/>
                <a:ea typeface="+mj-ea"/>
                <a:cs typeface="+mj-cs"/>
              </a:defRPr>
            </a:lvl1pPr>
            <a:lvl2pPr eaLnBrk="1" latinLnBrk="0" hangingPunct="1">
              <a:defRPr kumimoji="0">
                <a:solidFill>
                  <a:schemeClr val="tx2"/>
                </a:solidFill>
              </a:defRPr>
            </a:lvl2pPr>
            <a:lvl3pPr eaLnBrk="1" latinLnBrk="0" hangingPunct="1">
              <a:defRPr kumimoji="0">
                <a:solidFill>
                  <a:schemeClr val="tx2"/>
                </a:solidFill>
              </a:defRPr>
            </a:lvl3pPr>
            <a:lvl4pPr eaLnBrk="1" latinLnBrk="0" hangingPunct="1">
              <a:defRPr kumimoji="0">
                <a:solidFill>
                  <a:schemeClr val="tx2"/>
                </a:solidFill>
              </a:defRPr>
            </a:lvl4pPr>
            <a:lvl5pPr eaLnBrk="1" latinLnBrk="0" hangingPunct="1">
              <a:defRPr kumimoji="0">
                <a:solidFill>
                  <a:schemeClr val="tx2"/>
                </a:solidFill>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a:lstStyle>
          <a:p>
            <a:pPr algn="l">
              <a:lnSpc>
                <a:spcPct val="105000"/>
              </a:lnSpc>
              <a:spcBef>
                <a:spcPct val="50000"/>
              </a:spcBef>
            </a:pPr>
            <a:r>
              <a:rPr lang="zh-CN" altLang="en-US" sz="2800" b="1" dirty="0" smtClean="0">
                <a:solidFill>
                  <a:srgbClr val="0000FF"/>
                </a:solidFill>
                <a:latin typeface="Times New Roman" panose="02020603050405020304" pitchFamily="18" charset="0"/>
                <a:ea typeface="黑体" panose="02010609060101010101" pitchFamily="49" charset="-122"/>
              </a:rPr>
              <a:t>农民阶级</a:t>
            </a:r>
            <a:endParaRPr lang="en-US" altLang="zh-CN" sz="2800" b="1" dirty="0">
              <a:solidFill>
                <a:srgbClr val="0000FF"/>
              </a:solidFill>
              <a:latin typeface="Times New Roman" panose="02020603050405020304" pitchFamily="18" charset="0"/>
              <a:ea typeface="黑体" panose="02010609060101010101" pitchFamily="49" charset="-122"/>
            </a:endParaRPr>
          </a:p>
        </p:txBody>
      </p:sp>
      <p:sp>
        <p:nvSpPr>
          <p:cNvPr id="12" name="Rectangle 2"/>
          <p:cNvSpPr txBox="1">
            <a:spLocks/>
          </p:cNvSpPr>
          <p:nvPr/>
        </p:nvSpPr>
        <p:spPr>
          <a:xfrm>
            <a:off x="4211960" y="1556792"/>
            <a:ext cx="2160240" cy="544765"/>
          </a:xfrm>
          <a:prstGeom prst="rect">
            <a:avLst/>
          </a:prstGeom>
          <a:solidFill>
            <a:schemeClr val="bg1"/>
          </a:solidFill>
          <a:ln w="12700">
            <a:solidFill>
              <a:srgbClr val="FF0000"/>
            </a:solidFill>
            <a:miter/>
          </a:ln>
        </p:spPr>
        <p:txBody>
          <a:bodyPr vert="horz" wrap="square" rtlCol="0" anchor="t">
            <a:spAutoFit/>
          </a:bodyPr>
          <a:lstStyle>
            <a:lvl1pPr algn="ctr" rtl="0" eaLnBrk="1" latinLnBrk="0" hangingPunct="1">
              <a:spcBef>
                <a:spcPct val="0"/>
              </a:spcBef>
              <a:buNone/>
              <a:defRPr kumimoji="0" sz="4400" kern="1200">
                <a:solidFill>
                  <a:schemeClr val="tx2"/>
                </a:solidFill>
                <a:latin typeface="+mj-lt"/>
                <a:ea typeface="+mj-ea"/>
                <a:cs typeface="+mj-cs"/>
              </a:defRPr>
            </a:lvl1pPr>
            <a:lvl2pPr eaLnBrk="1" latinLnBrk="0" hangingPunct="1">
              <a:defRPr kumimoji="0">
                <a:solidFill>
                  <a:schemeClr val="tx2"/>
                </a:solidFill>
              </a:defRPr>
            </a:lvl2pPr>
            <a:lvl3pPr eaLnBrk="1" latinLnBrk="0" hangingPunct="1">
              <a:defRPr kumimoji="0">
                <a:solidFill>
                  <a:schemeClr val="tx2"/>
                </a:solidFill>
              </a:defRPr>
            </a:lvl3pPr>
            <a:lvl4pPr eaLnBrk="1" latinLnBrk="0" hangingPunct="1">
              <a:defRPr kumimoji="0">
                <a:solidFill>
                  <a:schemeClr val="tx2"/>
                </a:solidFill>
              </a:defRPr>
            </a:lvl4pPr>
            <a:lvl5pPr eaLnBrk="1" latinLnBrk="0" hangingPunct="1">
              <a:defRPr kumimoji="0">
                <a:solidFill>
                  <a:schemeClr val="tx2"/>
                </a:solidFill>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a:lstStyle>
          <a:p>
            <a:pPr algn="l">
              <a:lnSpc>
                <a:spcPct val="105000"/>
              </a:lnSpc>
              <a:spcBef>
                <a:spcPct val="50000"/>
              </a:spcBef>
            </a:pPr>
            <a:r>
              <a:rPr lang="zh-CN" altLang="en-US" sz="2800" b="1" dirty="0" smtClean="0">
                <a:solidFill>
                  <a:srgbClr val="0000FF"/>
                </a:solidFill>
                <a:latin typeface="Times New Roman" panose="02020603050405020304" pitchFamily="18" charset="0"/>
                <a:ea typeface="黑体" panose="02010609060101010101" pitchFamily="49" charset="-122"/>
              </a:rPr>
              <a:t>小资产阶级</a:t>
            </a:r>
            <a:endParaRPr lang="en-US" altLang="zh-CN" sz="2800" b="1" dirty="0">
              <a:solidFill>
                <a:srgbClr val="0000FF"/>
              </a:solidFill>
              <a:latin typeface="Times New Roman" panose="02020603050405020304" pitchFamily="18" charset="0"/>
              <a:ea typeface="黑体" panose="02010609060101010101" pitchFamily="49" charset="-122"/>
            </a:endParaRPr>
          </a:p>
        </p:txBody>
      </p:sp>
      <p:sp>
        <p:nvSpPr>
          <p:cNvPr id="13" name="Rectangle 2"/>
          <p:cNvSpPr txBox="1">
            <a:spLocks/>
          </p:cNvSpPr>
          <p:nvPr/>
        </p:nvSpPr>
        <p:spPr>
          <a:xfrm>
            <a:off x="4211960" y="2276872"/>
            <a:ext cx="2592288" cy="544765"/>
          </a:xfrm>
          <a:prstGeom prst="rect">
            <a:avLst/>
          </a:prstGeom>
          <a:solidFill>
            <a:schemeClr val="bg1"/>
          </a:solidFill>
          <a:ln w="12700">
            <a:solidFill>
              <a:srgbClr val="FF0000"/>
            </a:solidFill>
            <a:miter/>
          </a:ln>
        </p:spPr>
        <p:txBody>
          <a:bodyPr vert="horz" wrap="square" rtlCol="0" anchor="t">
            <a:spAutoFit/>
          </a:bodyPr>
          <a:lstStyle>
            <a:lvl1pPr algn="ctr" rtl="0" eaLnBrk="1" latinLnBrk="0" hangingPunct="1">
              <a:spcBef>
                <a:spcPct val="0"/>
              </a:spcBef>
              <a:buNone/>
              <a:defRPr kumimoji="0" sz="4400" kern="1200">
                <a:solidFill>
                  <a:schemeClr val="tx2"/>
                </a:solidFill>
                <a:latin typeface="+mj-lt"/>
                <a:ea typeface="+mj-ea"/>
                <a:cs typeface="+mj-cs"/>
              </a:defRPr>
            </a:lvl1pPr>
            <a:lvl2pPr eaLnBrk="1" latinLnBrk="0" hangingPunct="1">
              <a:defRPr kumimoji="0">
                <a:solidFill>
                  <a:schemeClr val="tx2"/>
                </a:solidFill>
              </a:defRPr>
            </a:lvl2pPr>
            <a:lvl3pPr eaLnBrk="1" latinLnBrk="0" hangingPunct="1">
              <a:defRPr kumimoji="0">
                <a:solidFill>
                  <a:schemeClr val="tx2"/>
                </a:solidFill>
              </a:defRPr>
            </a:lvl3pPr>
            <a:lvl4pPr eaLnBrk="1" latinLnBrk="0" hangingPunct="1">
              <a:defRPr kumimoji="0">
                <a:solidFill>
                  <a:schemeClr val="tx2"/>
                </a:solidFill>
              </a:defRPr>
            </a:lvl4pPr>
            <a:lvl5pPr eaLnBrk="1" latinLnBrk="0" hangingPunct="1">
              <a:defRPr kumimoji="0">
                <a:solidFill>
                  <a:schemeClr val="tx2"/>
                </a:solidFill>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a:lstStyle>
          <a:p>
            <a:pPr algn="l">
              <a:lnSpc>
                <a:spcPct val="105000"/>
              </a:lnSpc>
              <a:spcBef>
                <a:spcPct val="50000"/>
              </a:spcBef>
            </a:pPr>
            <a:r>
              <a:rPr lang="zh-CN" altLang="en-US" sz="2800" b="1" dirty="0" smtClean="0">
                <a:solidFill>
                  <a:srgbClr val="0000FF"/>
                </a:solidFill>
                <a:latin typeface="Times New Roman" panose="02020603050405020304" pitchFamily="18" charset="0"/>
                <a:ea typeface="黑体" panose="02010609060101010101" pitchFamily="49" charset="-122"/>
              </a:rPr>
              <a:t>民族资产阶级</a:t>
            </a:r>
            <a:endParaRPr lang="en-US" altLang="zh-CN" sz="2800" b="1" dirty="0">
              <a:solidFill>
                <a:srgbClr val="0000FF"/>
              </a:solidFill>
              <a:latin typeface="Times New Roman" panose="02020603050405020304" pitchFamily="18" charset="0"/>
              <a:ea typeface="黑体" panose="02010609060101010101" pitchFamily="49" charset="-122"/>
            </a:endParaRPr>
          </a:p>
        </p:txBody>
      </p:sp>
    </p:spTree>
    <p:extLst>
      <p:ext uri="{BB962C8B-B14F-4D97-AF65-F5344CB8AC3E}">
        <p14:creationId xmlns:p14="http://schemas.microsoft.com/office/powerpoint/2010/main" xmlns="" val="2420908290"/>
      </p:ext>
    </p:extLst>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a:spLocks noGrp="1"/>
          </p:cNvSpPr>
          <p:nvPr>
            <p:ph idx="1"/>
          </p:nvPr>
        </p:nvSpPr>
        <p:spPr>
          <a:xfrm>
            <a:off x="971600" y="2708920"/>
            <a:ext cx="7200800" cy="1772793"/>
          </a:xfrm>
          <a:solidFill>
            <a:schemeClr val="bg1"/>
          </a:solidFill>
          <a:ln w="12700">
            <a:solidFill>
              <a:srgbClr val="FF3300"/>
            </a:solidFill>
            <a:miter/>
          </a:ln>
        </p:spPr>
        <p:txBody>
          <a:bodyPr wrap="square" anchor="t">
            <a:spAutoFit/>
          </a:bodyPr>
          <a:lstStyle/>
          <a:p>
            <a:pPr marL="0" indent="0">
              <a:lnSpc>
                <a:spcPct val="105000"/>
              </a:lnSpc>
              <a:spcBef>
                <a:spcPct val="50000"/>
              </a:spcBef>
              <a:buNone/>
            </a:pPr>
            <a:r>
              <a:rPr lang="zh-CN" altLang="en-US" sz="2800" b="1" dirty="0">
                <a:solidFill>
                  <a:srgbClr val="0000FF"/>
                </a:solidFill>
                <a:latin typeface="Times New Roman" panose="02020603050405020304" pitchFamily="18" charset="0"/>
                <a:ea typeface="黑体" panose="02010609060101010101" pitchFamily="49" charset="-122"/>
              </a:rPr>
              <a:t> </a:t>
            </a:r>
            <a:r>
              <a:rPr lang="zh-CN" altLang="en-US" sz="2800" b="1" dirty="0" smtClean="0">
                <a:solidFill>
                  <a:srgbClr val="0000FF"/>
                </a:solidFill>
                <a:latin typeface="Times New Roman" panose="02020603050405020304" pitchFamily="18" charset="0"/>
                <a:ea typeface="黑体" panose="02010609060101010101" pitchFamily="49" charset="-122"/>
              </a:rPr>
              <a:t>      </a:t>
            </a:r>
            <a:r>
              <a:rPr lang="zh-CN" altLang="en-US" sz="2400" b="1" dirty="0" smtClean="0">
                <a:solidFill>
                  <a:srgbClr val="0000FF"/>
                </a:solidFill>
                <a:latin typeface="Times New Roman" panose="02020603050405020304" pitchFamily="18" charset="0"/>
                <a:ea typeface="黑体" panose="02010609060101010101" pitchFamily="49" charset="-122"/>
              </a:rPr>
              <a:t>对于</a:t>
            </a:r>
            <a:r>
              <a:rPr lang="zh-CN" altLang="en-US" sz="2400" b="1" dirty="0">
                <a:solidFill>
                  <a:srgbClr val="0000FF"/>
                </a:solidFill>
                <a:latin typeface="Times New Roman" panose="02020603050405020304" pitchFamily="18" charset="0"/>
                <a:ea typeface="黑体" panose="02010609060101010101" pitchFamily="49" charset="-122"/>
              </a:rPr>
              <a:t>工人阶级和社会主义革命来说，民族资产阶级作为一个剥削阶级，是被消灭的对象；作为一种可以接受共产党和工人阶级领导的社会力量，又是团结和改造的对象</a:t>
            </a:r>
            <a:r>
              <a:rPr lang="zh-CN" altLang="en-US" sz="2800" b="1" dirty="0">
                <a:solidFill>
                  <a:srgbClr val="0000FF"/>
                </a:solidFill>
                <a:latin typeface="Times New Roman" panose="02020603050405020304" pitchFamily="18" charset="0"/>
                <a:ea typeface="黑体" panose="02010609060101010101" pitchFamily="49" charset="-122"/>
              </a:rPr>
              <a:t>。</a:t>
            </a:r>
          </a:p>
        </p:txBody>
      </p:sp>
      <p:sp>
        <p:nvSpPr>
          <p:cNvPr id="4" name="矩形 3"/>
          <p:cNvSpPr/>
          <p:nvPr/>
        </p:nvSpPr>
        <p:spPr>
          <a:xfrm>
            <a:off x="899592" y="620688"/>
            <a:ext cx="7272808" cy="1200329"/>
          </a:xfrm>
          <a:prstGeom prst="rect">
            <a:avLst/>
          </a:prstGeom>
          <a:solidFill>
            <a:schemeClr val="bg1"/>
          </a:solidFill>
          <a:ln>
            <a:solidFill>
              <a:schemeClr val="accent1"/>
            </a:solidFill>
          </a:ln>
        </p:spPr>
        <p:txBody>
          <a:bodyPr wrap="square">
            <a:spAutoFit/>
          </a:bodyPr>
          <a:lstStyle/>
          <a:p>
            <a:r>
              <a:rPr lang="zh-CN" altLang="en-US" sz="2400" b="1" dirty="0" smtClean="0">
                <a:solidFill>
                  <a:srgbClr val="0000FF"/>
                </a:solidFill>
                <a:latin typeface="Times New Roman" panose="02020603050405020304" pitchFamily="18" charset="0"/>
                <a:ea typeface="黑体" panose="02010609060101010101" pitchFamily="49" charset="-122"/>
              </a:rPr>
              <a:t>民族资产阶级仍然是一个具有</a:t>
            </a:r>
            <a:r>
              <a:rPr lang="zh-CN" altLang="en-US" sz="2400" b="1" dirty="0" smtClean="0">
                <a:solidFill>
                  <a:srgbClr val="FF0000"/>
                </a:solidFill>
                <a:latin typeface="Times New Roman" panose="02020603050405020304" pitchFamily="18" charset="0"/>
                <a:ea typeface="黑体" panose="02010609060101010101" pitchFamily="49" charset="-122"/>
              </a:rPr>
              <a:t>两面性的阶级</a:t>
            </a:r>
            <a:r>
              <a:rPr lang="zh-CN" altLang="en-US" sz="2400" b="1" dirty="0" smtClean="0">
                <a:solidFill>
                  <a:srgbClr val="0000FF"/>
                </a:solidFill>
                <a:latin typeface="Times New Roman" panose="02020603050405020304" pitchFamily="18" charset="0"/>
                <a:ea typeface="黑体" panose="02010609060101010101" pitchFamily="49" charset="-122"/>
              </a:rPr>
              <a:t>。</a:t>
            </a:r>
            <a:r>
              <a:rPr lang="en-US" altLang="zh-CN" sz="2400" b="1" dirty="0" smtClean="0">
                <a:solidFill>
                  <a:srgbClr val="0000FF"/>
                </a:solidFill>
                <a:latin typeface="Times New Roman" panose="02020603050405020304" pitchFamily="18" charset="0"/>
                <a:ea typeface="黑体" panose="02010609060101010101" pitchFamily="49" charset="-122"/>
              </a:rPr>
              <a:t> </a:t>
            </a:r>
            <a:r>
              <a:rPr lang="zh-CN" altLang="en-US" sz="2400" b="1" dirty="0" smtClean="0">
                <a:solidFill>
                  <a:srgbClr val="0000FF"/>
                </a:solidFill>
                <a:latin typeface="Times New Roman" panose="02020603050405020304" pitchFamily="18" charset="0"/>
                <a:ea typeface="黑体" panose="02010609060101010101" pitchFamily="49" charset="-122"/>
              </a:rPr>
              <a:t>既有剥削工人的一面，又有接受共产党和工人阶级领导的一面。</a:t>
            </a:r>
            <a:endParaRPr lang="zh-CN" altLang="en-US" sz="2400" dirty="0"/>
          </a:p>
        </p:txBody>
      </p:sp>
    </p:spTree>
    <p:extLst>
      <p:ext uri="{BB962C8B-B14F-4D97-AF65-F5344CB8AC3E}">
        <p14:creationId xmlns:p14="http://schemas.microsoft.com/office/powerpoint/2010/main" xmlns="" val="1406156110"/>
      </p:ext>
    </p:extLst>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97062" y="332656"/>
            <a:ext cx="6596678" cy="707886"/>
          </a:xfrm>
          <a:prstGeom prst="rect">
            <a:avLst/>
          </a:prstGeom>
          <a:solidFill>
            <a:schemeClr val="bg1"/>
          </a:solidFill>
          <a:ln>
            <a:solidFill>
              <a:srgbClr val="FF0000"/>
            </a:solidFill>
          </a:ln>
        </p:spPr>
        <p:txBody>
          <a:bodyPr wrap="none">
            <a:spAutoFit/>
          </a:bodyPr>
          <a:lstStyle/>
          <a:p>
            <a:r>
              <a:rPr lang="en-US" altLang="zh-CN" sz="4000" dirty="0" smtClean="0">
                <a:solidFill>
                  <a:srgbClr val="FF0000"/>
                </a:solidFill>
                <a:latin typeface="+mj-ea"/>
                <a:ea typeface="+mj-ea"/>
              </a:rPr>
              <a:t> </a:t>
            </a:r>
            <a:r>
              <a:rPr lang="zh-CN" altLang="en-US" sz="4000" b="1" dirty="0" smtClean="0">
                <a:solidFill>
                  <a:srgbClr val="FF0000"/>
                </a:solidFill>
                <a:latin typeface="华文琥珀" pitchFamily="2" charset="-122"/>
                <a:ea typeface="华文琥珀" pitchFamily="2" charset="-122"/>
              </a:rPr>
              <a:t>新民主主义社会的主要矛盾</a:t>
            </a:r>
            <a:endParaRPr lang="zh-CN" altLang="en-US" sz="4000" b="1" dirty="0">
              <a:solidFill>
                <a:srgbClr val="FF0000"/>
              </a:solidFill>
              <a:latin typeface="+mj-ea"/>
              <a:ea typeface="+mj-ea"/>
            </a:endParaRPr>
          </a:p>
        </p:txBody>
      </p:sp>
      <p:sp>
        <p:nvSpPr>
          <p:cNvPr id="5" name="Rectangle 2"/>
          <p:cNvSpPr>
            <a:spLocks noGrp="1"/>
          </p:cNvSpPr>
          <p:nvPr>
            <p:ph type="title"/>
          </p:nvPr>
        </p:nvSpPr>
        <p:spPr>
          <a:xfrm>
            <a:off x="251520" y="1772816"/>
            <a:ext cx="2632720" cy="515782"/>
          </a:xfrm>
          <a:solidFill>
            <a:srgbClr val="FF0000"/>
          </a:solidFill>
          <a:ln w="12700">
            <a:solidFill>
              <a:srgbClr val="FF0000"/>
            </a:solidFill>
            <a:miter/>
          </a:ln>
        </p:spPr>
        <p:txBody>
          <a:bodyPr wrap="square" anchor="t">
            <a:spAutoFit/>
          </a:bodyPr>
          <a:lstStyle/>
          <a:p>
            <a:pPr algn="l">
              <a:lnSpc>
                <a:spcPct val="105000"/>
              </a:lnSpc>
              <a:spcBef>
                <a:spcPct val="50000"/>
              </a:spcBef>
            </a:pPr>
            <a:r>
              <a:rPr lang="zh-CN" altLang="en-US" sz="2800" b="1" dirty="0" smtClean="0">
                <a:solidFill>
                  <a:srgbClr val="0000FF"/>
                </a:solidFill>
                <a:latin typeface="Times New Roman" panose="02020603050405020304" pitchFamily="18" charset="0"/>
                <a:ea typeface="黑体" panose="02010609060101010101" pitchFamily="49" charset="-122"/>
              </a:rPr>
              <a:t>社会主义经济</a:t>
            </a:r>
            <a:endParaRPr lang="zh-CN" altLang="en-US" sz="2800" b="1" dirty="0">
              <a:solidFill>
                <a:srgbClr val="0000FF"/>
              </a:solidFill>
              <a:latin typeface="Times New Roman" panose="02020603050405020304" pitchFamily="18" charset="0"/>
              <a:ea typeface="黑体" panose="02010609060101010101" pitchFamily="49" charset="-122"/>
            </a:endParaRPr>
          </a:p>
        </p:txBody>
      </p:sp>
      <p:sp>
        <p:nvSpPr>
          <p:cNvPr id="6" name="Rectangle 2"/>
          <p:cNvSpPr txBox="1">
            <a:spLocks/>
          </p:cNvSpPr>
          <p:nvPr/>
        </p:nvSpPr>
        <p:spPr>
          <a:xfrm>
            <a:off x="179512" y="3717032"/>
            <a:ext cx="2632720" cy="511422"/>
          </a:xfrm>
          <a:prstGeom prst="rect">
            <a:avLst/>
          </a:prstGeom>
          <a:solidFill>
            <a:schemeClr val="bg2">
              <a:lumMod val="50000"/>
            </a:schemeClr>
          </a:solidFill>
          <a:ln w="12700">
            <a:solidFill>
              <a:schemeClr val="bg2">
                <a:lumMod val="75000"/>
              </a:schemeClr>
            </a:solidFill>
            <a:miter/>
          </a:ln>
        </p:spPr>
        <p:txBody>
          <a:bodyPr vert="horz" wrap="square" rtlCol="0" anchor="t">
            <a:spAutoFit/>
          </a:bodyPr>
          <a:lstStyle/>
          <a:p>
            <a:pPr marL="0" marR="0" lvl="0" indent="0" algn="l" defTabSz="914400" rtl="0" eaLnBrk="1" fontAlgn="auto" latinLnBrk="0" hangingPunct="1">
              <a:lnSpc>
                <a:spcPct val="105000"/>
              </a:lnSpc>
              <a:spcBef>
                <a:spcPct val="50000"/>
              </a:spcBef>
              <a:spcAft>
                <a:spcPts val="0"/>
              </a:spcAft>
              <a:buClrTx/>
              <a:buSzTx/>
              <a:buFontTx/>
              <a:buNone/>
              <a:tabLst/>
              <a:defRPr/>
            </a:pPr>
            <a:r>
              <a:rPr kumimoji="0" lang="zh-CN" altLang="en-US" sz="2800" b="1" i="0" u="none" strike="noStrike" kern="1200" cap="none" spc="0" normalizeH="0" baseline="0" noProof="0" dirty="0" smtClean="0">
                <a:ln>
                  <a:noFill/>
                </a:ln>
                <a:solidFill>
                  <a:srgbClr val="0000FF"/>
                </a:solidFill>
                <a:effectLst/>
                <a:uLnTx/>
                <a:uFillTx/>
                <a:latin typeface="Times New Roman" panose="02020603050405020304" pitchFamily="18" charset="0"/>
                <a:ea typeface="黑体" panose="02010609060101010101" pitchFamily="49" charset="-122"/>
                <a:cs typeface="+mj-cs"/>
              </a:rPr>
              <a:t>个体经济</a:t>
            </a:r>
            <a:endParaRPr kumimoji="0" lang="zh-CN" altLang="en-US" sz="2800" b="1" i="0" u="none" strike="noStrike" kern="1200" cap="none" spc="0" normalizeH="0" baseline="0" noProof="0" dirty="0">
              <a:ln>
                <a:noFill/>
              </a:ln>
              <a:solidFill>
                <a:srgbClr val="0000FF"/>
              </a:solidFill>
              <a:effectLst/>
              <a:uLnTx/>
              <a:uFillTx/>
              <a:latin typeface="Times New Roman" panose="02020603050405020304" pitchFamily="18" charset="0"/>
              <a:ea typeface="黑体" panose="02010609060101010101" pitchFamily="49" charset="-122"/>
              <a:cs typeface="+mj-cs"/>
            </a:endParaRPr>
          </a:p>
        </p:txBody>
      </p:sp>
      <p:sp>
        <p:nvSpPr>
          <p:cNvPr id="7" name="Rectangle 2"/>
          <p:cNvSpPr txBox="1">
            <a:spLocks/>
          </p:cNvSpPr>
          <p:nvPr/>
        </p:nvSpPr>
        <p:spPr>
          <a:xfrm>
            <a:off x="323528" y="5157192"/>
            <a:ext cx="2632720" cy="511422"/>
          </a:xfrm>
          <a:prstGeom prst="rect">
            <a:avLst/>
          </a:prstGeom>
          <a:solidFill>
            <a:schemeClr val="tx2">
              <a:lumMod val="10000"/>
              <a:lumOff val="90000"/>
            </a:schemeClr>
          </a:solidFill>
          <a:ln w="12700">
            <a:solidFill>
              <a:srgbClr val="FF0000"/>
            </a:solidFill>
            <a:miter/>
          </a:ln>
        </p:spPr>
        <p:txBody>
          <a:bodyPr vert="horz" wrap="square" rtlCol="0" anchor="t">
            <a:spAutoFit/>
          </a:bodyPr>
          <a:lstStyle/>
          <a:p>
            <a:pPr marL="0" marR="0" lvl="0" indent="0" algn="l" defTabSz="914400" rtl="0" eaLnBrk="1" fontAlgn="auto" latinLnBrk="0" hangingPunct="1">
              <a:lnSpc>
                <a:spcPct val="105000"/>
              </a:lnSpc>
              <a:spcBef>
                <a:spcPct val="50000"/>
              </a:spcBef>
              <a:spcAft>
                <a:spcPts val="0"/>
              </a:spcAft>
              <a:buClrTx/>
              <a:buSzTx/>
              <a:buFontTx/>
              <a:buNone/>
              <a:tabLst/>
              <a:defRPr/>
            </a:pPr>
            <a:r>
              <a:rPr kumimoji="0" lang="zh-CN" altLang="en-US" sz="2800" b="1" i="0" u="none" strike="noStrike" kern="1200" cap="none" spc="0" normalizeH="0" baseline="0" noProof="0" dirty="0" smtClean="0">
                <a:ln>
                  <a:noFill/>
                </a:ln>
                <a:solidFill>
                  <a:srgbClr val="002060"/>
                </a:solidFill>
                <a:effectLst/>
                <a:uLnTx/>
                <a:uFillTx/>
                <a:latin typeface="Times New Roman" panose="02020603050405020304" pitchFamily="18" charset="0"/>
                <a:ea typeface="黑体" panose="02010609060101010101" pitchFamily="49" charset="-122"/>
                <a:cs typeface="+mj-cs"/>
              </a:rPr>
              <a:t>资本主义经济</a:t>
            </a:r>
            <a:endParaRPr kumimoji="0" lang="zh-CN" altLang="en-US" sz="2800" b="1" i="0" u="none" strike="noStrike" kern="1200" cap="none" spc="0" normalizeH="0" baseline="0" noProof="0" dirty="0">
              <a:ln>
                <a:noFill/>
              </a:ln>
              <a:solidFill>
                <a:srgbClr val="002060"/>
              </a:solidFill>
              <a:effectLst/>
              <a:uLnTx/>
              <a:uFillTx/>
              <a:latin typeface="Times New Roman" panose="02020603050405020304" pitchFamily="18" charset="0"/>
              <a:ea typeface="黑体" panose="02010609060101010101" pitchFamily="49" charset="-122"/>
              <a:cs typeface="+mj-cs"/>
            </a:endParaRPr>
          </a:p>
        </p:txBody>
      </p:sp>
      <p:sp>
        <p:nvSpPr>
          <p:cNvPr id="8" name="流程图: 过程 7"/>
          <p:cNvSpPr/>
          <p:nvPr/>
        </p:nvSpPr>
        <p:spPr>
          <a:xfrm>
            <a:off x="3419872" y="1268760"/>
            <a:ext cx="792088" cy="4968552"/>
          </a:xfrm>
          <a:prstGeom prst="flowChartProcess">
            <a:avLst/>
          </a:prstGeom>
          <a:solidFill>
            <a:schemeClr val="tx2">
              <a:lumMod val="10000"/>
              <a:lumOff val="90000"/>
            </a:schemeClr>
          </a:solidFill>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just"/>
            <a:r>
              <a:rPr lang="zh-CN" altLang="en-US" sz="2800" dirty="0" smtClean="0">
                <a:solidFill>
                  <a:srgbClr val="FF0000"/>
                </a:solidFill>
              </a:rPr>
              <a:t>社会主义与资本主义两条道路的矛盾</a:t>
            </a:r>
            <a:endParaRPr lang="zh-CN" altLang="en-US" sz="2800" dirty="0">
              <a:solidFill>
                <a:srgbClr val="FF0000"/>
              </a:solidFill>
            </a:endParaRPr>
          </a:p>
        </p:txBody>
      </p:sp>
      <p:sp>
        <p:nvSpPr>
          <p:cNvPr id="9" name="流程图: 过程 8"/>
          <p:cNvSpPr/>
          <p:nvPr/>
        </p:nvSpPr>
        <p:spPr>
          <a:xfrm>
            <a:off x="4932040" y="1268760"/>
            <a:ext cx="792088" cy="4968552"/>
          </a:xfrm>
          <a:prstGeom prst="flowChartProcess">
            <a:avLst/>
          </a:prstGeom>
          <a:solidFill>
            <a:schemeClr val="tx2">
              <a:lumMod val="10000"/>
              <a:lumOff val="90000"/>
            </a:schemeClr>
          </a:solidFill>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r>
              <a:rPr lang="zh-CN" altLang="en-US" sz="2800" dirty="0" smtClean="0">
                <a:solidFill>
                  <a:srgbClr val="FF0000"/>
                </a:solidFill>
              </a:rPr>
              <a:t>无产阶级与资产阶级两个阶级的矛盾</a:t>
            </a:r>
            <a:endParaRPr lang="zh-CN" altLang="en-US" sz="2800" dirty="0">
              <a:solidFill>
                <a:srgbClr val="FF0000"/>
              </a:solidFill>
            </a:endParaRPr>
          </a:p>
        </p:txBody>
      </p:sp>
      <p:sp>
        <p:nvSpPr>
          <p:cNvPr id="10" name="Rectangle 2"/>
          <p:cNvSpPr txBox="1">
            <a:spLocks/>
          </p:cNvSpPr>
          <p:nvPr/>
        </p:nvSpPr>
        <p:spPr>
          <a:xfrm>
            <a:off x="6300192" y="1844824"/>
            <a:ext cx="2632720" cy="511422"/>
          </a:xfrm>
          <a:prstGeom prst="rect">
            <a:avLst/>
          </a:prstGeom>
          <a:solidFill>
            <a:srgbClr val="FF0000"/>
          </a:solidFill>
          <a:ln w="12700">
            <a:solidFill>
              <a:srgbClr val="FF0000"/>
            </a:solidFill>
            <a:miter/>
          </a:ln>
        </p:spPr>
        <p:txBody>
          <a:bodyPr vert="horz" wrap="square" rtlCol="0" anchor="t">
            <a:spAutoFit/>
          </a:bodyPr>
          <a:lstStyle/>
          <a:p>
            <a:pPr marL="0" marR="0" lvl="0" indent="0" algn="l" defTabSz="914400" rtl="0" eaLnBrk="1" fontAlgn="auto" latinLnBrk="0" hangingPunct="1">
              <a:lnSpc>
                <a:spcPct val="105000"/>
              </a:lnSpc>
              <a:spcBef>
                <a:spcPct val="50000"/>
              </a:spcBef>
              <a:spcAft>
                <a:spcPts val="0"/>
              </a:spcAft>
              <a:buClrTx/>
              <a:buSzTx/>
              <a:buFontTx/>
              <a:buNone/>
              <a:tabLst/>
              <a:defRPr/>
            </a:pPr>
            <a:r>
              <a:rPr kumimoji="0" lang="zh-CN" altLang="en-US" sz="2800" b="1" i="0" u="none" strike="noStrike" kern="1200" cap="none" spc="0" normalizeH="0" baseline="0" noProof="0" dirty="0" smtClean="0">
                <a:ln>
                  <a:noFill/>
                </a:ln>
                <a:solidFill>
                  <a:srgbClr val="0000FF"/>
                </a:solidFill>
                <a:effectLst/>
                <a:uLnTx/>
                <a:uFillTx/>
                <a:latin typeface="Times New Roman" panose="02020603050405020304" pitchFamily="18" charset="0"/>
                <a:ea typeface="黑体" panose="02010609060101010101" pitchFamily="49" charset="-122"/>
                <a:cs typeface="+mj-cs"/>
              </a:rPr>
              <a:t>工人阶级</a:t>
            </a:r>
            <a:endParaRPr kumimoji="0" lang="zh-CN" altLang="en-US" sz="2800" b="1" i="0" u="none" strike="noStrike" kern="1200" cap="none" spc="0" normalizeH="0" baseline="0" noProof="0" dirty="0">
              <a:ln>
                <a:noFill/>
              </a:ln>
              <a:solidFill>
                <a:srgbClr val="0000FF"/>
              </a:solidFill>
              <a:effectLst/>
              <a:uLnTx/>
              <a:uFillTx/>
              <a:latin typeface="Times New Roman" panose="02020603050405020304" pitchFamily="18" charset="0"/>
              <a:ea typeface="黑体" panose="02010609060101010101" pitchFamily="49" charset="-122"/>
              <a:cs typeface="+mj-cs"/>
            </a:endParaRPr>
          </a:p>
        </p:txBody>
      </p:sp>
      <p:sp>
        <p:nvSpPr>
          <p:cNvPr id="11" name="Rectangle 2"/>
          <p:cNvSpPr txBox="1">
            <a:spLocks/>
          </p:cNvSpPr>
          <p:nvPr/>
        </p:nvSpPr>
        <p:spPr>
          <a:xfrm>
            <a:off x="6228184" y="3284984"/>
            <a:ext cx="2632720" cy="997196"/>
          </a:xfrm>
          <a:prstGeom prst="rect">
            <a:avLst/>
          </a:prstGeom>
          <a:solidFill>
            <a:schemeClr val="bg2">
              <a:lumMod val="50000"/>
            </a:schemeClr>
          </a:solidFill>
          <a:ln w="12700">
            <a:solidFill>
              <a:schemeClr val="bg2">
                <a:lumMod val="75000"/>
              </a:schemeClr>
            </a:solidFill>
            <a:miter/>
          </a:ln>
        </p:spPr>
        <p:txBody>
          <a:bodyPr vert="horz" wrap="square" rtlCol="0" anchor="t">
            <a:spAutoFit/>
          </a:bodyPr>
          <a:lstStyle/>
          <a:p>
            <a:pPr marL="0" marR="0" lvl="0" indent="0" algn="l" defTabSz="914400" rtl="0" eaLnBrk="1" fontAlgn="auto" latinLnBrk="0" hangingPunct="1">
              <a:lnSpc>
                <a:spcPct val="105000"/>
              </a:lnSpc>
              <a:spcBef>
                <a:spcPct val="50000"/>
              </a:spcBef>
              <a:spcAft>
                <a:spcPts val="0"/>
              </a:spcAft>
              <a:buClrTx/>
              <a:buSzTx/>
              <a:buFontTx/>
              <a:buNone/>
              <a:tabLst/>
              <a:defRPr/>
            </a:pPr>
            <a:r>
              <a:rPr kumimoji="0" lang="zh-CN" altLang="en-US" sz="2800" b="1" i="0" u="none" strike="noStrike" kern="1200" cap="none" spc="0" normalizeH="0" baseline="0" noProof="0" dirty="0" smtClean="0">
                <a:ln>
                  <a:noFill/>
                </a:ln>
                <a:solidFill>
                  <a:srgbClr val="0000FF"/>
                </a:solidFill>
                <a:effectLst/>
                <a:uLnTx/>
                <a:uFillTx/>
                <a:latin typeface="Times New Roman" panose="02020603050405020304" pitchFamily="18" charset="0"/>
                <a:ea typeface="黑体" panose="02010609060101010101" pitchFamily="49" charset="-122"/>
                <a:cs typeface="+mj-cs"/>
              </a:rPr>
              <a:t>农民阶级和其他小资产阶级</a:t>
            </a:r>
            <a:endParaRPr kumimoji="0" lang="zh-CN" altLang="en-US" sz="2800" b="1" i="0" u="none" strike="noStrike" kern="1200" cap="none" spc="0" normalizeH="0" baseline="0" noProof="0" dirty="0">
              <a:ln>
                <a:noFill/>
              </a:ln>
              <a:solidFill>
                <a:srgbClr val="0000FF"/>
              </a:solidFill>
              <a:effectLst/>
              <a:uLnTx/>
              <a:uFillTx/>
              <a:latin typeface="Times New Roman" panose="02020603050405020304" pitchFamily="18" charset="0"/>
              <a:ea typeface="黑体" panose="02010609060101010101" pitchFamily="49" charset="-122"/>
              <a:cs typeface="+mj-cs"/>
            </a:endParaRPr>
          </a:p>
        </p:txBody>
      </p:sp>
      <p:sp>
        <p:nvSpPr>
          <p:cNvPr id="12" name="Rectangle 2"/>
          <p:cNvSpPr txBox="1">
            <a:spLocks/>
          </p:cNvSpPr>
          <p:nvPr/>
        </p:nvSpPr>
        <p:spPr>
          <a:xfrm>
            <a:off x="6300192" y="5301208"/>
            <a:ext cx="2632720" cy="511422"/>
          </a:xfrm>
          <a:prstGeom prst="rect">
            <a:avLst/>
          </a:prstGeom>
          <a:solidFill>
            <a:schemeClr val="tx2">
              <a:lumMod val="10000"/>
              <a:lumOff val="90000"/>
            </a:schemeClr>
          </a:solidFill>
          <a:ln w="12700">
            <a:solidFill>
              <a:srgbClr val="FF0000"/>
            </a:solidFill>
            <a:miter/>
          </a:ln>
        </p:spPr>
        <p:txBody>
          <a:bodyPr vert="horz" wrap="square" rtlCol="0" anchor="t">
            <a:spAutoFit/>
          </a:bodyPr>
          <a:lstStyle/>
          <a:p>
            <a:pPr marL="0" marR="0" lvl="0" indent="0" algn="l" defTabSz="914400" rtl="0" eaLnBrk="1" fontAlgn="auto" latinLnBrk="0" hangingPunct="1">
              <a:lnSpc>
                <a:spcPct val="105000"/>
              </a:lnSpc>
              <a:spcBef>
                <a:spcPct val="50000"/>
              </a:spcBef>
              <a:spcAft>
                <a:spcPts val="0"/>
              </a:spcAft>
              <a:buClrTx/>
              <a:buSzTx/>
              <a:buFontTx/>
              <a:buNone/>
              <a:tabLst/>
              <a:defRPr/>
            </a:pPr>
            <a:r>
              <a:rPr kumimoji="0" lang="zh-CN" altLang="en-US" sz="2800" b="1" i="0" u="none" strike="noStrike" kern="1200" cap="none" spc="0" normalizeH="0" baseline="0" noProof="0" dirty="0" smtClean="0">
                <a:ln>
                  <a:noFill/>
                </a:ln>
                <a:solidFill>
                  <a:srgbClr val="002060"/>
                </a:solidFill>
                <a:effectLst/>
                <a:uLnTx/>
                <a:uFillTx/>
                <a:latin typeface="Times New Roman" panose="02020603050405020304" pitchFamily="18" charset="0"/>
                <a:ea typeface="黑体" panose="02010609060101010101" pitchFamily="49" charset="-122"/>
                <a:cs typeface="+mj-cs"/>
              </a:rPr>
              <a:t>资产阶级</a:t>
            </a:r>
            <a:endParaRPr kumimoji="0" lang="zh-CN" altLang="en-US" sz="2800" b="1" i="0" u="none" strike="noStrike" kern="1200" cap="none" spc="0" normalizeH="0" baseline="0" noProof="0" dirty="0">
              <a:ln>
                <a:noFill/>
              </a:ln>
              <a:solidFill>
                <a:srgbClr val="002060"/>
              </a:solidFill>
              <a:effectLst/>
              <a:uLnTx/>
              <a:uFillTx/>
              <a:latin typeface="Times New Roman" panose="02020603050405020304" pitchFamily="18" charset="0"/>
              <a:ea typeface="黑体" panose="02010609060101010101" pitchFamily="49" charset="-122"/>
              <a:cs typeface="+mj-cs"/>
            </a:endParaRPr>
          </a:p>
        </p:txBody>
      </p:sp>
      <p:sp>
        <p:nvSpPr>
          <p:cNvPr id="13" name="上箭头 12"/>
          <p:cNvSpPr/>
          <p:nvPr/>
        </p:nvSpPr>
        <p:spPr>
          <a:xfrm>
            <a:off x="1259632" y="2348880"/>
            <a:ext cx="288032" cy="864096"/>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下箭头 13"/>
          <p:cNvSpPr/>
          <p:nvPr/>
        </p:nvSpPr>
        <p:spPr>
          <a:xfrm>
            <a:off x="1259632" y="4221088"/>
            <a:ext cx="288032" cy="79208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上箭头 14"/>
          <p:cNvSpPr/>
          <p:nvPr/>
        </p:nvSpPr>
        <p:spPr>
          <a:xfrm>
            <a:off x="7236296" y="2348880"/>
            <a:ext cx="288032" cy="864096"/>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下箭头 15"/>
          <p:cNvSpPr/>
          <p:nvPr/>
        </p:nvSpPr>
        <p:spPr>
          <a:xfrm>
            <a:off x="7308304" y="4365104"/>
            <a:ext cx="288032" cy="79208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0" name="直接连接符 19"/>
          <p:cNvCxnSpPr/>
          <p:nvPr/>
        </p:nvCxnSpPr>
        <p:spPr>
          <a:xfrm>
            <a:off x="2915816" y="1988840"/>
            <a:ext cx="432048" cy="0"/>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2915816" y="1916832"/>
            <a:ext cx="432048"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2843808" y="3933056"/>
            <a:ext cx="432048"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2987824" y="5445224"/>
            <a:ext cx="432048"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p:cNvSpPr/>
          <p:nvPr/>
        </p:nvSpPr>
        <p:spPr>
          <a:xfrm>
            <a:off x="3347864" y="1916832"/>
            <a:ext cx="72008" cy="38884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p:nvSpPr>
        <p:spPr>
          <a:xfrm>
            <a:off x="5868144" y="1988840"/>
            <a:ext cx="72008" cy="38884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5868144" y="2060848"/>
            <a:ext cx="432048"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p:cNvSpPr/>
          <p:nvPr/>
        </p:nvSpPr>
        <p:spPr>
          <a:xfrm>
            <a:off x="5868144" y="3717032"/>
            <a:ext cx="432048"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p:cNvSpPr/>
          <p:nvPr/>
        </p:nvSpPr>
        <p:spPr>
          <a:xfrm>
            <a:off x="5868144" y="5661248"/>
            <a:ext cx="432048"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7884368" y="260648"/>
            <a:ext cx="976536" cy="1200329"/>
          </a:xfrm>
          <a:prstGeom prst="rect">
            <a:avLst/>
          </a:prstGeom>
        </p:spPr>
        <p:txBody>
          <a:bodyPr wrap="square">
            <a:spAutoFit/>
          </a:bodyPr>
          <a:lstStyle/>
          <a:p>
            <a:r>
              <a:rPr lang="en-US" altLang="zh-CN" b="1" dirty="0">
                <a:solidFill>
                  <a:srgbClr val="0000FF"/>
                </a:solidFill>
                <a:latin typeface="隶书" pitchFamily="49" charset="-122"/>
                <a:ea typeface="隶书" pitchFamily="49" charset="-122"/>
              </a:rPr>
              <a:t>1952</a:t>
            </a:r>
            <a:r>
              <a:rPr lang="zh-CN" altLang="zh-CN" b="1" dirty="0">
                <a:solidFill>
                  <a:srgbClr val="0000FF"/>
                </a:solidFill>
                <a:latin typeface="隶书" pitchFamily="49" charset="-122"/>
                <a:ea typeface="隶书" pitchFamily="49" charset="-122"/>
              </a:rPr>
              <a:t>年土地改革完成</a:t>
            </a:r>
            <a:r>
              <a:rPr lang="zh-CN" altLang="zh-CN" b="1" dirty="0" smtClean="0">
                <a:solidFill>
                  <a:srgbClr val="0000FF"/>
                </a:solidFill>
                <a:latin typeface="隶书" pitchFamily="49" charset="-122"/>
                <a:ea typeface="隶书" pitchFamily="49" charset="-122"/>
              </a:rPr>
              <a:t>后</a:t>
            </a:r>
            <a:endParaRPr lang="zh-CN" altLang="en-US" dirty="0"/>
          </a:p>
        </p:txBody>
      </p:sp>
    </p:spTree>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txBox="1">
            <a:spLocks/>
          </p:cNvSpPr>
          <p:nvPr/>
        </p:nvSpPr>
        <p:spPr>
          <a:xfrm>
            <a:off x="586610" y="978987"/>
            <a:ext cx="7239000" cy="2333011"/>
          </a:xfrm>
          <a:prstGeom prst="rect">
            <a:avLst/>
          </a:prstGeom>
          <a:solidFill>
            <a:schemeClr val="bg1"/>
          </a:solidFill>
          <a:ln w="12700">
            <a:solidFill>
              <a:srgbClr val="FF3300"/>
            </a:solidFill>
            <a:miter/>
          </a:ln>
        </p:spPr>
        <p:txBody>
          <a:bodyPr vert="horz" rtlCol="0" anchor="t">
            <a:spAutoFit/>
          </a:bodyPr>
          <a:lstStyle>
            <a:lvl1pPr marL="342900" indent="-342900" algn="l" rtl="0" eaLnBrk="1" latinLnBrk="0" hangingPunct="1">
              <a:spcBef>
                <a:spcPct val="20000"/>
              </a:spcBef>
              <a:buClr>
                <a:schemeClr val="accent1"/>
              </a:buClr>
              <a:buSzPct val="50000"/>
              <a:buFont typeface="Wingdings 2"/>
              <a:buChar char=""/>
              <a:defRPr kumimoji="0" sz="3200" kern="1200">
                <a:solidFill>
                  <a:schemeClr val="tx1"/>
                </a:solidFill>
                <a:latin typeface="+mn-lt"/>
                <a:ea typeface="+mn-ea"/>
                <a:cs typeface="+mn-cs"/>
              </a:defRPr>
            </a:lvl1pPr>
            <a:lvl2pPr marL="742950" indent="-285750" algn="l" rtl="0" eaLnBrk="1" latinLnBrk="0" hangingPunct="1">
              <a:spcBef>
                <a:spcPct val="20000"/>
              </a:spcBef>
              <a:buClr>
                <a:schemeClr val="accent2"/>
              </a:buClr>
              <a:buSzPct val="50000"/>
              <a:buFont typeface="Wingdings 2"/>
              <a:buChar char="³"/>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accent3"/>
              </a:buClr>
              <a:buSzPct val="60000"/>
              <a:buFont typeface="Wingdings 2"/>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accent5"/>
              </a:buClr>
              <a:buSzPct val="45000"/>
              <a:buFont typeface="Wingdings 2"/>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accent6"/>
              </a:buClr>
              <a:buFont typeface="Wingdings 2"/>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a:buChar char="•"/>
              <a:defRPr kumimoji="0" sz="2000" kern="1200">
                <a:solidFill>
                  <a:schemeClr val="tx1"/>
                </a:solidFill>
                <a:latin typeface="+mn-lt"/>
                <a:ea typeface="+mn-ea"/>
                <a:cs typeface="+mn-cs"/>
              </a:defRPr>
            </a:lvl9pPr>
          </a:lstStyle>
          <a:p>
            <a:pPr marL="0" indent="0">
              <a:lnSpc>
                <a:spcPct val="105000"/>
              </a:lnSpc>
              <a:spcBef>
                <a:spcPct val="50000"/>
              </a:spcBef>
              <a:buFont typeface="Wingdings 2"/>
              <a:buNone/>
            </a:pPr>
            <a:r>
              <a:rPr lang="en-US" altLang="zh-CN" sz="2800" b="1" dirty="0" smtClean="0">
                <a:solidFill>
                  <a:srgbClr val="0000FF"/>
                </a:solidFill>
                <a:latin typeface="隶书" pitchFamily="49" charset="-122"/>
                <a:ea typeface="隶书" pitchFamily="49" charset="-122"/>
              </a:rPr>
              <a:t>     </a:t>
            </a:r>
            <a:r>
              <a:rPr lang="zh-CN" altLang="en-US" sz="2800" b="1" dirty="0" smtClean="0">
                <a:solidFill>
                  <a:srgbClr val="0000FF"/>
                </a:solidFill>
                <a:latin typeface="隶书" pitchFamily="49" charset="-122"/>
                <a:ea typeface="隶书" pitchFamily="49" charset="-122"/>
              </a:rPr>
              <a:t>在新民主主义社会中，既有社会主义因素，又有资本主义因素，由于社会主义因素在政治、经济、文化上都处于领导地位和起决定作用，这就决定了新民主主义社会必将适时地过渡到社会主义社会。。</a:t>
            </a:r>
            <a:endParaRPr lang="zh-CN" altLang="en-US" sz="2800" b="1" dirty="0">
              <a:solidFill>
                <a:srgbClr val="0000FF"/>
              </a:solidFill>
              <a:latin typeface="隶书" pitchFamily="49" charset="-122"/>
              <a:ea typeface="隶书" pitchFamily="49" charset="-122"/>
            </a:endParaRPr>
          </a:p>
        </p:txBody>
      </p:sp>
      <p:sp>
        <p:nvSpPr>
          <p:cNvPr id="7" name="矩形 6"/>
          <p:cNvSpPr/>
          <p:nvPr/>
        </p:nvSpPr>
        <p:spPr>
          <a:xfrm>
            <a:off x="539552" y="332656"/>
            <a:ext cx="1107996" cy="646331"/>
          </a:xfrm>
          <a:prstGeom prst="rect">
            <a:avLst/>
          </a:prstGeom>
          <a:solidFill>
            <a:schemeClr val="bg1"/>
          </a:solidFill>
          <a:ln>
            <a:solidFill>
              <a:srgbClr val="FF0000"/>
            </a:solidFill>
          </a:ln>
        </p:spPr>
        <p:txBody>
          <a:bodyPr wrap="none">
            <a:spAutoFit/>
          </a:bodyPr>
          <a:lstStyle/>
          <a:p>
            <a:r>
              <a:rPr lang="zh-CN" altLang="en-US" sz="3600" b="1" dirty="0" smtClean="0">
                <a:solidFill>
                  <a:srgbClr val="FF0000"/>
                </a:solidFill>
                <a:latin typeface="华文琥珀" pitchFamily="2" charset="-122"/>
                <a:ea typeface="华文琥珀" pitchFamily="2" charset="-122"/>
              </a:rPr>
              <a:t>结论</a:t>
            </a:r>
          </a:p>
        </p:txBody>
      </p:sp>
      <p:sp>
        <p:nvSpPr>
          <p:cNvPr id="5" name="矩形 4"/>
          <p:cNvSpPr/>
          <p:nvPr/>
        </p:nvSpPr>
        <p:spPr>
          <a:xfrm>
            <a:off x="586610" y="3311998"/>
            <a:ext cx="7262529" cy="1514261"/>
          </a:xfrm>
          <a:prstGeom prst="rect">
            <a:avLst/>
          </a:prstGeom>
          <a:solidFill>
            <a:schemeClr val="bg1"/>
          </a:solidFill>
          <a:ln>
            <a:solidFill>
              <a:schemeClr val="accent1"/>
            </a:solidFill>
          </a:ln>
        </p:spPr>
        <p:txBody>
          <a:bodyPr wrap="square">
            <a:spAutoFit/>
          </a:bodyPr>
          <a:lstStyle/>
          <a:p>
            <a:pPr lvl="0">
              <a:lnSpc>
                <a:spcPct val="105000"/>
              </a:lnSpc>
              <a:spcBef>
                <a:spcPct val="50000"/>
              </a:spcBef>
              <a:buClr>
                <a:srgbClr val="477AB1"/>
              </a:buClr>
              <a:buSzPct val="50000"/>
            </a:pPr>
            <a:r>
              <a:rPr lang="zh-CN" altLang="en-US" sz="2800" b="1" dirty="0">
                <a:solidFill>
                  <a:srgbClr val="0000FF"/>
                </a:solidFill>
                <a:latin typeface="隶书" pitchFamily="49" charset="-122"/>
                <a:ea typeface="隶书" pitchFamily="49" charset="-122"/>
              </a:rPr>
              <a:t>我国新民主主义社会不是一个独立的社会形态</a:t>
            </a:r>
            <a:r>
              <a:rPr lang="zh-CN" altLang="en-US" sz="2800" b="1" dirty="0">
                <a:solidFill>
                  <a:srgbClr val="FF0000"/>
                </a:solidFill>
                <a:latin typeface="隶书" pitchFamily="49" charset="-122"/>
                <a:ea typeface="隶书" pitchFamily="49" charset="-122"/>
              </a:rPr>
              <a:t>，而是一个由新民主主义到社会主义转变的过渡性的社会形态</a:t>
            </a:r>
            <a:r>
              <a:rPr lang="zh-CN" altLang="en-US" sz="3200" b="1" dirty="0">
                <a:solidFill>
                  <a:srgbClr val="FF0000"/>
                </a:solidFill>
                <a:latin typeface="Times New Roman" panose="02020603050405020304" pitchFamily="18" charset="0"/>
                <a:ea typeface="黑体" panose="02010609060101010101" pitchFamily="49" charset="-122"/>
              </a:rPr>
              <a:t>。</a:t>
            </a:r>
          </a:p>
        </p:txBody>
      </p:sp>
      <p:sp>
        <p:nvSpPr>
          <p:cNvPr id="8" name="矩形 7"/>
          <p:cNvSpPr/>
          <p:nvPr/>
        </p:nvSpPr>
        <p:spPr>
          <a:xfrm>
            <a:off x="586610" y="4797152"/>
            <a:ext cx="7262529" cy="1729704"/>
          </a:xfrm>
          <a:prstGeom prst="rect">
            <a:avLst/>
          </a:prstGeom>
          <a:solidFill>
            <a:schemeClr val="bg1"/>
          </a:solidFill>
          <a:ln>
            <a:solidFill>
              <a:schemeClr val="accent1"/>
            </a:solidFill>
          </a:ln>
        </p:spPr>
        <p:txBody>
          <a:bodyPr wrap="square">
            <a:spAutoFit/>
          </a:bodyPr>
          <a:lstStyle/>
          <a:p>
            <a:pPr lvl="0">
              <a:lnSpc>
                <a:spcPct val="105000"/>
              </a:lnSpc>
              <a:spcBef>
                <a:spcPct val="50000"/>
              </a:spcBef>
              <a:buClr>
                <a:srgbClr val="477AB1"/>
              </a:buClr>
              <a:buSzPct val="50000"/>
            </a:pPr>
            <a:r>
              <a:rPr lang="zh-CN" altLang="en-US" sz="2800" b="1" dirty="0">
                <a:solidFill>
                  <a:srgbClr val="FF0000"/>
                </a:solidFill>
                <a:latin typeface="隶书" pitchFamily="49" charset="-122"/>
                <a:ea typeface="隶书" pitchFamily="49" charset="-122"/>
              </a:rPr>
              <a:t>新民主主义社会的历史</a:t>
            </a:r>
            <a:r>
              <a:rPr lang="zh-CN" altLang="en-US" sz="2800" b="1" dirty="0" smtClean="0">
                <a:solidFill>
                  <a:srgbClr val="FF0000"/>
                </a:solidFill>
                <a:latin typeface="隶书" pitchFamily="49" charset="-122"/>
                <a:ea typeface="隶书" pitchFamily="49" charset="-122"/>
              </a:rPr>
              <a:t>任务：</a:t>
            </a:r>
            <a:endParaRPr lang="en-US" altLang="zh-CN" sz="2800" b="1" dirty="0" smtClean="0">
              <a:solidFill>
                <a:srgbClr val="FF0000"/>
              </a:solidFill>
              <a:latin typeface="隶书" pitchFamily="49" charset="-122"/>
              <a:ea typeface="隶书" pitchFamily="49" charset="-122"/>
            </a:endParaRPr>
          </a:p>
          <a:p>
            <a:pPr lvl="0">
              <a:lnSpc>
                <a:spcPct val="105000"/>
              </a:lnSpc>
              <a:spcBef>
                <a:spcPct val="50000"/>
              </a:spcBef>
              <a:buClr>
                <a:srgbClr val="477AB1"/>
              </a:buClr>
              <a:buSzPct val="50000"/>
            </a:pPr>
            <a:r>
              <a:rPr lang="zh-CN" altLang="zh-CN" sz="2800" b="1" dirty="0" smtClean="0">
                <a:solidFill>
                  <a:srgbClr val="0000FF"/>
                </a:solidFill>
                <a:latin typeface="隶书" pitchFamily="49" charset="-122"/>
                <a:ea typeface="隶书" pitchFamily="49" charset="-122"/>
              </a:rPr>
              <a:t>变</a:t>
            </a:r>
            <a:r>
              <a:rPr lang="zh-CN" altLang="zh-CN" sz="2800" b="1" dirty="0">
                <a:solidFill>
                  <a:srgbClr val="0000FF"/>
                </a:solidFill>
                <a:latin typeface="隶书" pitchFamily="49" charset="-122"/>
                <a:ea typeface="隶书" pitchFamily="49" charset="-122"/>
              </a:rPr>
              <a:t>新民主主义国家为社会主义国家</a:t>
            </a:r>
          </a:p>
          <a:p>
            <a:pPr marL="342900" lvl="0" indent="-342900">
              <a:spcBef>
                <a:spcPct val="20000"/>
              </a:spcBef>
              <a:buClr>
                <a:srgbClr val="477AB1"/>
              </a:buClr>
              <a:buSzPct val="50000"/>
            </a:pPr>
            <a:r>
              <a:rPr lang="zh-CN" altLang="zh-CN" sz="2800" b="1" dirty="0">
                <a:solidFill>
                  <a:srgbClr val="0000FF"/>
                </a:solidFill>
                <a:latin typeface="隶书" pitchFamily="49" charset="-122"/>
                <a:ea typeface="隶书" pitchFamily="49" charset="-122"/>
              </a:rPr>
              <a:t>变落后的农业国为先进的工业国</a:t>
            </a:r>
            <a:endParaRPr lang="zh-CN" altLang="en-US" sz="2800" b="1" dirty="0">
              <a:solidFill>
                <a:srgbClr val="0000FF"/>
              </a:solidFill>
              <a:latin typeface="隶书" pitchFamily="49" charset="-122"/>
              <a:ea typeface="隶书" pitchFamily="49" charset="-122"/>
            </a:endParaRPr>
          </a:p>
        </p:txBody>
      </p:sp>
    </p:spTree>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07504" y="260648"/>
            <a:ext cx="8662949" cy="523220"/>
          </a:xfrm>
          <a:prstGeom prst="rect">
            <a:avLst/>
          </a:prstGeom>
          <a:solidFill>
            <a:schemeClr val="bg1"/>
          </a:solidFill>
          <a:ln>
            <a:solidFill>
              <a:schemeClr val="accent1"/>
            </a:solidFill>
          </a:ln>
        </p:spPr>
        <p:txBody>
          <a:bodyPr wrap="none">
            <a:spAutoFit/>
          </a:bodyPr>
          <a:lstStyle/>
          <a:p>
            <a:r>
              <a:rPr lang="en-US" altLang="zh-CN" sz="2800" dirty="0" smtClean="0">
                <a:solidFill>
                  <a:srgbClr val="0000FF"/>
                </a:solidFill>
                <a:latin typeface="华文琥珀" pitchFamily="2" charset="-122"/>
                <a:ea typeface="华文琥珀" pitchFamily="2" charset="-122"/>
              </a:rPr>
              <a:t> </a:t>
            </a:r>
            <a:r>
              <a:rPr lang="en-US" altLang="zh-CN" sz="2800" b="1" noProof="1" smtClean="0">
                <a:solidFill>
                  <a:srgbClr val="00B050"/>
                </a:solidFill>
                <a:latin typeface="华文琥珀" pitchFamily="2" charset="-122"/>
                <a:ea typeface="华文琥珀" pitchFamily="2" charset="-122"/>
              </a:rPr>
              <a:t>(</a:t>
            </a:r>
            <a:r>
              <a:rPr lang="zh-CN" altLang="en-US" sz="2800" b="1" noProof="1" smtClean="0">
                <a:solidFill>
                  <a:srgbClr val="00B050"/>
                </a:solidFill>
                <a:latin typeface="华文琥珀" pitchFamily="2" charset="-122"/>
                <a:ea typeface="华文琥珀" pitchFamily="2" charset="-122"/>
              </a:rPr>
              <a:t>二）新民主主义社会向社会主义社会过渡的理论依据</a:t>
            </a:r>
            <a:endParaRPr lang="zh-CN" altLang="en-US" sz="2800" dirty="0">
              <a:solidFill>
                <a:srgbClr val="FF0000"/>
              </a:solidFill>
              <a:latin typeface="华文琥珀" pitchFamily="2" charset="-122"/>
              <a:ea typeface="华文琥珀" pitchFamily="2" charset="-122"/>
            </a:endParaRPr>
          </a:p>
        </p:txBody>
      </p:sp>
      <p:sp>
        <p:nvSpPr>
          <p:cNvPr id="7" name="矩形 6"/>
          <p:cNvSpPr/>
          <p:nvPr/>
        </p:nvSpPr>
        <p:spPr>
          <a:xfrm>
            <a:off x="395536" y="1668021"/>
            <a:ext cx="4248472" cy="1815882"/>
          </a:xfrm>
          <a:prstGeom prst="rect">
            <a:avLst/>
          </a:prstGeom>
          <a:ln>
            <a:solidFill>
              <a:schemeClr val="accent1"/>
            </a:solidFill>
          </a:ln>
        </p:spPr>
        <p:txBody>
          <a:bodyPr wrap="square">
            <a:spAutoFit/>
          </a:bodyPr>
          <a:lstStyle/>
          <a:p>
            <a:pPr fontAlgn="base">
              <a:spcBef>
                <a:spcPct val="0"/>
              </a:spcBef>
              <a:spcAft>
                <a:spcPct val="0"/>
              </a:spcAft>
            </a:pPr>
            <a:r>
              <a:rPr lang="en-US" altLang="zh-CN" sz="2800" b="1" dirty="0" smtClean="0">
                <a:solidFill>
                  <a:srgbClr val="0000FF"/>
                </a:solidFill>
                <a:latin typeface="+mj-ea"/>
                <a:ea typeface="+mj-ea"/>
              </a:rPr>
              <a:t>1</a:t>
            </a:r>
            <a:r>
              <a:rPr lang="en-US" altLang="zh-CN" sz="2800" b="1" dirty="0">
                <a:solidFill>
                  <a:srgbClr val="0000FF"/>
                </a:solidFill>
                <a:latin typeface="+mj-ea"/>
                <a:ea typeface="+mj-ea"/>
                <a:cs typeface="Arial" pitchFamily="34" charset="0"/>
              </a:rPr>
              <a:t>.</a:t>
            </a:r>
            <a:r>
              <a:rPr lang="zh-CN" altLang="zh-CN" sz="2800" b="1" dirty="0">
                <a:solidFill>
                  <a:srgbClr val="0000FF"/>
                </a:solidFill>
                <a:latin typeface="+mj-ea"/>
                <a:ea typeface="+mj-ea"/>
                <a:cs typeface="Arial" pitchFamily="34" charset="0"/>
              </a:rPr>
              <a:t>马克思、恩格斯在创立科学社会主义理论时，就提出了从资本主义向社会主义社会过渡的问题。</a:t>
            </a:r>
            <a:endParaRPr lang="zh-CN" altLang="en-US" sz="2800" b="1" dirty="0">
              <a:solidFill>
                <a:srgbClr val="0000FF"/>
              </a:solidFill>
              <a:latin typeface="+mj-ea"/>
              <a:ea typeface="+mj-ea"/>
              <a:cs typeface="Arial" pitchFamily="34" charset="0"/>
            </a:endParaRPr>
          </a:p>
        </p:txBody>
      </p:sp>
      <p:pic>
        <p:nvPicPr>
          <p:cNvPr id="5122" name="Picture 2" descr="https://ss3.bdstatic.com/70cFv8Sh_Q1YnxGkpoWK1HF6hhy/it/u=3051908606,945199555&amp;fm=26&amp;gp=0.jp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788024" y="1052736"/>
            <a:ext cx="4762500" cy="3019425"/>
          </a:xfrm>
          <a:prstGeom prst="rect">
            <a:avLst/>
          </a:prstGeom>
          <a:noFill/>
          <a:extLst>
            <a:ext uri="{909E8E84-426E-40DD-AFC4-6F175D3DCCD1}">
              <a14:hiddenFill xmlns:a14="http://schemas.microsoft.com/office/drawing/2010/main" xmlns="">
                <a:solidFill>
                  <a:srgbClr val="FFFFFF"/>
                </a:solidFill>
              </a14:hiddenFill>
            </a:ext>
          </a:extLst>
        </p:spPr>
      </p:pic>
      <p:sp>
        <p:nvSpPr>
          <p:cNvPr id="6" name="矩形 5"/>
          <p:cNvSpPr/>
          <p:nvPr/>
        </p:nvSpPr>
        <p:spPr>
          <a:xfrm>
            <a:off x="395536" y="4077072"/>
            <a:ext cx="4572000" cy="2308324"/>
          </a:xfrm>
          <a:prstGeom prst="rect">
            <a:avLst/>
          </a:prstGeom>
          <a:ln>
            <a:solidFill>
              <a:schemeClr val="accent1"/>
            </a:solidFill>
          </a:ln>
        </p:spPr>
        <p:txBody>
          <a:bodyPr>
            <a:spAutoFit/>
          </a:bodyPr>
          <a:lstStyle/>
          <a:p>
            <a:r>
              <a:rPr lang="zh-CN" altLang="zh-CN" sz="2400" dirty="0" smtClean="0">
                <a:latin typeface="+mj-ea"/>
                <a:ea typeface="+mj-ea"/>
              </a:rPr>
              <a:t>无产阶级将利用自己的政治统治，一步一步地夺取资产阶级的全部资本，把一切生产工具集中在国家即组织成为统治阶级的无产阶级手里，并且尽可能快地增加生产力的总量。</a:t>
            </a:r>
            <a:endParaRPr lang="zh-CN" altLang="en-US" sz="2400" dirty="0">
              <a:latin typeface="+mj-ea"/>
              <a:ea typeface="+mj-ea"/>
            </a:endParaRPr>
          </a:p>
        </p:txBody>
      </p:sp>
    </p:spTree>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467544" y="764704"/>
            <a:ext cx="7056784" cy="1938992"/>
          </a:xfrm>
          <a:prstGeom prst="rect">
            <a:avLst/>
          </a:prstGeom>
          <a:ln>
            <a:solidFill>
              <a:schemeClr val="accent1"/>
            </a:solidFill>
          </a:ln>
        </p:spPr>
        <p:txBody>
          <a:bodyPr wrap="square">
            <a:spAutoFit/>
          </a:bodyPr>
          <a:lstStyle/>
          <a:p>
            <a:r>
              <a:rPr lang="en-US" altLang="zh-CN" sz="2400" dirty="0" smtClean="0">
                <a:latin typeface="+mj-ea"/>
                <a:ea typeface="+mj-ea"/>
              </a:rPr>
              <a:t>    </a:t>
            </a:r>
            <a:r>
              <a:rPr lang="zh-CN" altLang="zh-CN" sz="2400" dirty="0" smtClean="0">
                <a:latin typeface="+mj-ea"/>
                <a:ea typeface="+mj-ea"/>
              </a:rPr>
              <a:t>从资本主义社会到社会主义社会，需要经历一个从无产阶级夺取政权到利用国家政权对旧的生产关系进行革命性的改造，逐步消灭私有制、确立公有制并大力发展生产力的过渡时期，这是一切走向共产主义的国家不可逾越的发展阶段</a:t>
            </a:r>
            <a:endParaRPr lang="zh-CN" altLang="en-US" sz="2400" dirty="0">
              <a:latin typeface="+mj-ea"/>
              <a:ea typeface="+mj-ea"/>
            </a:endParaRPr>
          </a:p>
        </p:txBody>
      </p:sp>
      <p:sp>
        <p:nvSpPr>
          <p:cNvPr id="6" name="矩形 5"/>
          <p:cNvSpPr/>
          <p:nvPr/>
        </p:nvSpPr>
        <p:spPr>
          <a:xfrm>
            <a:off x="755576" y="3789040"/>
            <a:ext cx="5544616" cy="1569660"/>
          </a:xfrm>
          <a:prstGeom prst="rect">
            <a:avLst/>
          </a:prstGeom>
          <a:ln>
            <a:solidFill>
              <a:schemeClr val="accent1"/>
            </a:solidFill>
          </a:ln>
        </p:spPr>
        <p:txBody>
          <a:bodyPr wrap="square">
            <a:spAutoFit/>
          </a:bodyPr>
          <a:lstStyle/>
          <a:p>
            <a:r>
              <a:rPr lang="zh-CN" altLang="zh-CN" sz="2400" b="1" dirty="0" smtClean="0">
                <a:latin typeface="+mj-ea"/>
                <a:ea typeface="+mj-ea"/>
              </a:rPr>
              <a:t>马克思、恩格斯还曾设想用暴力</a:t>
            </a:r>
            <a:r>
              <a:rPr lang="zh-CN" altLang="zh-CN" sz="2400" b="1" dirty="0" smtClean="0">
                <a:solidFill>
                  <a:srgbClr val="FF0000"/>
                </a:solidFill>
                <a:latin typeface="+mj-ea"/>
                <a:ea typeface="+mj-ea"/>
              </a:rPr>
              <a:t>没收与和平赎买</a:t>
            </a:r>
            <a:r>
              <a:rPr lang="zh-CN" altLang="zh-CN" sz="2400" b="1" dirty="0" smtClean="0">
                <a:latin typeface="+mj-ea"/>
                <a:ea typeface="+mj-ea"/>
              </a:rPr>
              <a:t>这两种方式来变革所有制</a:t>
            </a:r>
            <a:r>
              <a:rPr lang="zh-CN" altLang="en-US" sz="2400" b="1" dirty="0" smtClean="0">
                <a:latin typeface="+mj-ea"/>
                <a:ea typeface="+mj-ea"/>
              </a:rPr>
              <a:t>。</a:t>
            </a:r>
            <a:r>
              <a:rPr lang="zh-CN" altLang="zh-CN" sz="2400" b="1" dirty="0" smtClean="0">
                <a:latin typeface="+mj-ea"/>
                <a:ea typeface="+mj-ea"/>
              </a:rPr>
              <a:t>并认为如果能用赎买的办法变革所有制，将是“最便宜不过了</a:t>
            </a:r>
            <a:endParaRPr lang="zh-CN" altLang="en-US" sz="2400" b="1" dirty="0" smtClean="0">
              <a:latin typeface="+mj-ea"/>
              <a:ea typeface="+mj-ea"/>
            </a:endParaRPr>
          </a:p>
        </p:txBody>
      </p:sp>
    </p:spTree>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p:cNvSpPr>
            <a:spLocks noChangeArrowheads="1"/>
          </p:cNvSpPr>
          <p:nvPr/>
        </p:nvSpPr>
        <p:spPr bwMode="auto">
          <a:xfrm>
            <a:off x="323528" y="404664"/>
            <a:ext cx="3672408" cy="2246769"/>
          </a:xfrm>
          <a:prstGeom prst="rect">
            <a:avLst/>
          </a:prstGeom>
          <a:solidFill>
            <a:schemeClr val="bg1"/>
          </a:solidFill>
          <a:ln w="9525">
            <a:solidFill>
              <a:schemeClr val="accent1"/>
            </a:solid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defTabSz="914400" rtl="0" eaLnBrk="1" fontAlgn="base" latinLnBrk="0" hangingPunct="1">
              <a:lnSpc>
                <a:spcPct val="100000"/>
              </a:lnSpc>
              <a:spcBef>
                <a:spcPct val="0"/>
              </a:spcBef>
              <a:spcAft>
                <a:spcPct val="0"/>
              </a:spcAft>
              <a:buClrTx/>
              <a:buSzTx/>
              <a:buFontTx/>
              <a:buNone/>
              <a:tabLst/>
            </a:pPr>
            <a:r>
              <a:rPr lang="en-US" altLang="zh-CN" sz="2800" b="1" dirty="0" smtClean="0">
                <a:solidFill>
                  <a:srgbClr val="0000FF"/>
                </a:solidFill>
                <a:latin typeface="+mj-ea"/>
                <a:ea typeface="+mj-ea"/>
                <a:cs typeface="Arial" pitchFamily="34" charset="0"/>
              </a:rPr>
              <a:t>2</a:t>
            </a:r>
            <a:r>
              <a:rPr lang="zh-CN" altLang="en-US" sz="2800" b="1" dirty="0" smtClean="0">
                <a:solidFill>
                  <a:srgbClr val="0000FF"/>
                </a:solidFill>
                <a:latin typeface="+mj-ea"/>
                <a:ea typeface="+mj-ea"/>
                <a:cs typeface="Arial" pitchFamily="34" charset="0"/>
              </a:rPr>
              <a:t>、列宁：可以不经过资本主义发展阶段而过渡到苏维埃制度，然后经过一定的发展阶段过渡到共产主义。</a:t>
            </a:r>
            <a:endParaRPr lang="zh-CN" altLang="en-US" sz="2800" b="1" dirty="0">
              <a:solidFill>
                <a:srgbClr val="0000FF"/>
              </a:solidFill>
              <a:latin typeface="+mj-ea"/>
              <a:ea typeface="+mj-ea"/>
              <a:cs typeface="Arial" pitchFamily="34" charset="0"/>
            </a:endParaRPr>
          </a:p>
        </p:txBody>
      </p:sp>
      <p:pic>
        <p:nvPicPr>
          <p:cNvPr id="4098" name="Picture 2" descr="https://timgsa.baidu.com/timg?image&amp;quality=80&amp;size=b9999_10000&amp;sec=1605241121169&amp;di=c994a4d9c36470e5c44daa24f309837c&amp;imgtype=0&amp;src=http%3A%2F%2Fpic1.16pic.com%2F00%2F26%2F28%2F16pic_2628072_b.jp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932040" y="426570"/>
            <a:ext cx="3959560" cy="6408712"/>
          </a:xfrm>
          <a:prstGeom prst="rect">
            <a:avLst/>
          </a:prstGeom>
          <a:noFill/>
          <a:extLst>
            <a:ext uri="{909E8E84-426E-40DD-AFC4-6F175D3DCCD1}">
              <a14:hiddenFill xmlns:a14="http://schemas.microsoft.com/office/drawing/2010/main" xmlns="">
                <a:solidFill>
                  <a:srgbClr val="FFFFFF"/>
                </a:solidFill>
              </a14:hiddenFill>
            </a:ext>
          </a:extLst>
        </p:spPr>
      </p:pic>
      <p:sp>
        <p:nvSpPr>
          <p:cNvPr id="4" name="矩形 3"/>
          <p:cNvSpPr/>
          <p:nvPr/>
        </p:nvSpPr>
        <p:spPr>
          <a:xfrm>
            <a:off x="107504" y="3429000"/>
            <a:ext cx="4572000" cy="2677656"/>
          </a:xfrm>
          <a:prstGeom prst="rect">
            <a:avLst/>
          </a:prstGeom>
          <a:ln>
            <a:solidFill>
              <a:schemeClr val="accent1"/>
            </a:solidFill>
          </a:ln>
        </p:spPr>
        <p:txBody>
          <a:bodyPr>
            <a:spAutoFit/>
          </a:bodyPr>
          <a:lstStyle/>
          <a:p>
            <a:r>
              <a:rPr lang="zh-CN" altLang="zh-CN" sz="2400" b="1" dirty="0" smtClean="0">
                <a:latin typeface="+mj-ea"/>
                <a:ea typeface="+mj-ea"/>
              </a:rPr>
              <a:t>过渡时期的根本任务是把剥削阶级的生产资料转化为公有财产，同时，通过合作社的形式使农民走上集体化道路，并把创造高于资本主义的劳动生产率的根本任务提到首位，以建立和发展社会主义的经济基础。</a:t>
            </a:r>
            <a:endParaRPr lang="zh-CN" altLang="en-US" sz="2400" b="1" dirty="0">
              <a:latin typeface="+mj-ea"/>
              <a:ea typeface="+mj-ea"/>
            </a:endParaRPr>
          </a:p>
        </p:txBody>
      </p:sp>
    </p:spTree>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1259632" y="1628800"/>
            <a:ext cx="6264696" cy="1384995"/>
          </a:xfrm>
          <a:prstGeom prst="rect">
            <a:avLst/>
          </a:prstGeom>
          <a:solidFill>
            <a:schemeClr val="bg1"/>
          </a:solidFill>
          <a:ln>
            <a:solidFill>
              <a:schemeClr val="accent1"/>
            </a:solidFill>
          </a:ln>
        </p:spPr>
        <p:txBody>
          <a:bodyPr wrap="square">
            <a:spAutoFit/>
          </a:bodyPr>
          <a:lstStyle/>
          <a:p>
            <a:pPr fontAlgn="base">
              <a:spcBef>
                <a:spcPct val="0"/>
              </a:spcBef>
              <a:spcAft>
                <a:spcPct val="0"/>
              </a:spcAft>
            </a:pPr>
            <a:r>
              <a:rPr lang="zh-CN" altLang="en-US" sz="2800" b="1" dirty="0" smtClean="0">
                <a:solidFill>
                  <a:srgbClr val="0000FF"/>
                </a:solidFill>
                <a:latin typeface="+mj-ea"/>
                <a:ea typeface="+mj-ea"/>
                <a:cs typeface="Arial" pitchFamily="34" charset="0"/>
              </a:rPr>
              <a:t>    按照中国革命分</a:t>
            </a:r>
            <a:r>
              <a:rPr lang="zh-CN" altLang="en-US" sz="2800" b="1" dirty="0" smtClean="0">
                <a:solidFill>
                  <a:srgbClr val="FF0000"/>
                </a:solidFill>
                <a:latin typeface="+mj-ea"/>
                <a:ea typeface="+mj-ea"/>
                <a:cs typeface="Arial" pitchFamily="34" charset="0"/>
              </a:rPr>
              <a:t>“两步走” 的理论，</a:t>
            </a:r>
            <a:r>
              <a:rPr lang="zh-CN" altLang="en-US" sz="2800" b="1" dirty="0" smtClean="0">
                <a:solidFill>
                  <a:srgbClr val="0000FF"/>
                </a:solidFill>
                <a:latin typeface="+mj-ea"/>
                <a:ea typeface="+mj-ea"/>
                <a:cs typeface="Arial" pitchFamily="34" charset="0"/>
              </a:rPr>
              <a:t>新民主主义革命胜利后，必须进行社会主义革命，确立社会主义社会制度。</a:t>
            </a:r>
            <a:endParaRPr lang="en-US" altLang="zh-CN" sz="2800" b="1" dirty="0" smtClean="0">
              <a:solidFill>
                <a:srgbClr val="0000FF"/>
              </a:solidFill>
              <a:latin typeface="+mj-ea"/>
              <a:ea typeface="+mj-ea"/>
              <a:cs typeface="Arial" pitchFamily="34" charset="0"/>
            </a:endParaRPr>
          </a:p>
        </p:txBody>
      </p:sp>
      <p:sp>
        <p:nvSpPr>
          <p:cNvPr id="130049" name="Rectangle 1"/>
          <p:cNvSpPr>
            <a:spLocks noChangeArrowheads="1"/>
          </p:cNvSpPr>
          <p:nvPr/>
        </p:nvSpPr>
        <p:spPr bwMode="auto">
          <a:xfrm>
            <a:off x="1187624" y="3212976"/>
            <a:ext cx="6408712" cy="2677656"/>
          </a:xfrm>
          <a:prstGeom prst="rect">
            <a:avLst/>
          </a:prstGeom>
          <a:solidFill>
            <a:schemeClr val="bg1"/>
          </a:solidFill>
          <a:ln w="9525">
            <a:solidFill>
              <a:schemeClr val="accent1"/>
            </a:solidFill>
            <a:miter lim="800000"/>
            <a:headEnd/>
            <a:tailEnd/>
          </a:ln>
          <a:effectLst/>
        </p:spPr>
        <p:txBody>
          <a:bodyPr vert="horz" wrap="square" lIns="91440" tIns="45720" rIns="91440" bIns="45720" numCol="1" anchor="ctr" anchorCtr="0" compatLnSpc="1">
            <a:prstTxWarp prst="textNoShape">
              <a:avLst/>
            </a:prstTxWarp>
            <a:spAutoFit/>
          </a:bodyPr>
          <a:lstStyle/>
          <a:p>
            <a:pPr marR="0" lvl="0" fontAlgn="base">
              <a:lnSpc>
                <a:spcPct val="100000"/>
              </a:lnSpc>
              <a:spcBef>
                <a:spcPct val="0"/>
              </a:spcBef>
              <a:spcAft>
                <a:spcPct val="0"/>
              </a:spcAft>
              <a:buClrTx/>
              <a:buSzTx/>
              <a:buFontTx/>
              <a:buNone/>
              <a:tabLst/>
            </a:pPr>
            <a:r>
              <a:rPr lang="zh-CN" altLang="en-US" sz="2800" b="1" dirty="0" smtClean="0">
                <a:solidFill>
                  <a:srgbClr val="0000FF"/>
                </a:solidFill>
                <a:latin typeface="+mj-ea"/>
                <a:ea typeface="+mj-ea"/>
                <a:cs typeface="Arial" pitchFamily="34" charset="0"/>
              </a:rPr>
              <a:t>    新中国成立后，中国共产党一方面恢复国民经济，同时在马克思列宁主义关于</a:t>
            </a:r>
            <a:r>
              <a:rPr lang="zh-CN" altLang="en-US" sz="2800" b="1" dirty="0">
                <a:solidFill>
                  <a:srgbClr val="0000FF"/>
                </a:solidFill>
                <a:latin typeface="+mj-ea"/>
                <a:ea typeface="+mj-ea"/>
                <a:cs typeface="Arial" pitchFamily="34" charset="0"/>
              </a:rPr>
              <a:t>过渡时期理论的指导下，依据中国</a:t>
            </a:r>
            <a:r>
              <a:rPr lang="zh-CN" altLang="en-US" sz="2800" b="1" dirty="0" smtClean="0">
                <a:solidFill>
                  <a:srgbClr val="0000FF"/>
                </a:solidFill>
                <a:latin typeface="+mj-ea"/>
                <a:ea typeface="+mj-ea"/>
                <a:cs typeface="Arial" pitchFamily="34" charset="0"/>
              </a:rPr>
              <a:t>的具体</a:t>
            </a:r>
            <a:r>
              <a:rPr lang="zh-CN" altLang="en-US" sz="2800" b="1" dirty="0">
                <a:solidFill>
                  <a:srgbClr val="0000FF"/>
                </a:solidFill>
                <a:latin typeface="+mj-ea"/>
                <a:ea typeface="+mj-ea"/>
                <a:cs typeface="Arial" pitchFamily="34" charset="0"/>
              </a:rPr>
              <a:t>情况</a:t>
            </a:r>
            <a:r>
              <a:rPr lang="zh-CN" altLang="en-US" sz="2800" b="1" dirty="0" smtClean="0">
                <a:solidFill>
                  <a:srgbClr val="0000FF"/>
                </a:solidFill>
                <a:latin typeface="+mj-ea"/>
                <a:ea typeface="+mj-ea"/>
                <a:cs typeface="Arial" pitchFamily="34" charset="0"/>
              </a:rPr>
              <a:t>，开始探索如何向社会主义社会的过渡问题，并且适时提出了过渡时期的总路线</a:t>
            </a:r>
            <a:r>
              <a:rPr kumimoji="0" lang="zh-CN" altLang="en-US" sz="2400" b="0" i="0" u="none" strike="noStrike" cap="none" normalizeH="0" baseline="0" dirty="0" smtClean="0">
                <a:ln>
                  <a:noFill/>
                </a:ln>
                <a:solidFill>
                  <a:srgbClr val="0000FF"/>
                </a:solidFill>
                <a:effectLst/>
                <a:latin typeface="黑体" pitchFamily="49" charset="-122"/>
                <a:ea typeface="黑体" pitchFamily="49" charset="-122"/>
                <a:cs typeface="Arial" pitchFamily="34" charset="0"/>
              </a:rPr>
              <a:t>。</a:t>
            </a:r>
            <a:endParaRPr kumimoji="0" lang="zh-CN" altLang="en-US" sz="1800" b="0" i="0" u="none" strike="noStrike" cap="none" normalizeH="0" baseline="0" dirty="0" smtClean="0">
              <a:ln>
                <a:noFill/>
              </a:ln>
              <a:solidFill>
                <a:srgbClr val="0000FF"/>
              </a:solidFill>
              <a:effectLst/>
              <a:latin typeface="Arial" pitchFamily="34" charset="0"/>
              <a:ea typeface="宋体" pitchFamily="2" charset="-122"/>
              <a:cs typeface="宋体" pitchFamily="2" charset="-122"/>
            </a:endParaRPr>
          </a:p>
        </p:txBody>
      </p:sp>
      <p:sp>
        <p:nvSpPr>
          <p:cNvPr id="4" name="矩形 3"/>
          <p:cNvSpPr/>
          <p:nvPr/>
        </p:nvSpPr>
        <p:spPr>
          <a:xfrm>
            <a:off x="1115616" y="476672"/>
            <a:ext cx="6264696" cy="954107"/>
          </a:xfrm>
          <a:prstGeom prst="rect">
            <a:avLst/>
          </a:prstGeom>
          <a:solidFill>
            <a:schemeClr val="bg1"/>
          </a:solidFill>
          <a:ln>
            <a:solidFill>
              <a:schemeClr val="accent1"/>
            </a:solidFill>
          </a:ln>
        </p:spPr>
        <p:txBody>
          <a:bodyPr wrap="square">
            <a:spAutoFit/>
          </a:bodyPr>
          <a:lstStyle/>
          <a:p>
            <a:pPr fontAlgn="base">
              <a:spcBef>
                <a:spcPct val="0"/>
              </a:spcBef>
              <a:spcAft>
                <a:spcPct val="0"/>
              </a:spcAft>
            </a:pPr>
            <a:r>
              <a:rPr lang="en-US" altLang="zh-CN" sz="2400" dirty="0" smtClean="0">
                <a:solidFill>
                  <a:srgbClr val="0000FF"/>
                </a:solidFill>
                <a:latin typeface="黑体" pitchFamily="49" charset="-122"/>
                <a:ea typeface="黑体" pitchFamily="49" charset="-122"/>
                <a:cs typeface="Arial" pitchFamily="34" charset="0"/>
              </a:rPr>
              <a:t>3</a:t>
            </a:r>
            <a:r>
              <a:rPr lang="en-US" altLang="zh-CN" sz="2800" b="1" dirty="0">
                <a:solidFill>
                  <a:srgbClr val="0000FF"/>
                </a:solidFill>
                <a:latin typeface="+mj-ea"/>
                <a:ea typeface="+mj-ea"/>
                <a:cs typeface="Arial" pitchFamily="34" charset="0"/>
              </a:rPr>
              <a:t>.</a:t>
            </a:r>
            <a:r>
              <a:rPr lang="zh-CN" altLang="zh-CN" sz="2800" b="1" dirty="0">
                <a:solidFill>
                  <a:srgbClr val="0000FF"/>
                </a:solidFill>
                <a:latin typeface="+mj-ea"/>
                <a:ea typeface="+mj-ea"/>
                <a:cs typeface="Arial" pitchFamily="34" charset="0"/>
              </a:rPr>
              <a:t>以毛泽东为主要代表的中国共产党</a:t>
            </a:r>
            <a:r>
              <a:rPr lang="zh-CN" altLang="zh-CN" sz="2800" b="1" dirty="0" smtClean="0">
                <a:solidFill>
                  <a:srgbClr val="0000FF"/>
                </a:solidFill>
                <a:latin typeface="+mj-ea"/>
                <a:ea typeface="+mj-ea"/>
                <a:cs typeface="Arial" pitchFamily="34" charset="0"/>
              </a:rPr>
              <a:t>人</a:t>
            </a:r>
            <a:r>
              <a:rPr lang="zh-CN" altLang="en-US" sz="2800" b="1" dirty="0" smtClean="0">
                <a:solidFill>
                  <a:srgbClr val="0000FF"/>
                </a:solidFill>
                <a:latin typeface="+mj-ea"/>
                <a:ea typeface="+mj-ea"/>
                <a:cs typeface="Arial" pitchFamily="34" charset="0"/>
              </a:rPr>
              <a:t>的探索</a:t>
            </a:r>
            <a:endParaRPr lang="zh-CN" altLang="en-US" sz="2800" b="1" dirty="0">
              <a:solidFill>
                <a:srgbClr val="0000FF"/>
              </a:solidFill>
              <a:latin typeface="+mj-ea"/>
              <a:ea typeface="+mj-ea"/>
              <a:cs typeface="Arial" pitchFamily="34" charset="0"/>
            </a:endParaRPr>
          </a:p>
        </p:txBody>
      </p:sp>
    </p:spTree>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p:cNvSpPr>
            <a:spLocks noGrp="1"/>
          </p:cNvSpPr>
          <p:nvPr>
            <p:ph type="title"/>
          </p:nvPr>
        </p:nvSpPr>
        <p:spPr>
          <a:xfrm>
            <a:off x="755576" y="2204864"/>
            <a:ext cx="7610131" cy="2308324"/>
          </a:xfrm>
          <a:solidFill>
            <a:schemeClr val="bg1"/>
          </a:solidFill>
          <a:ln w="12700">
            <a:solidFill>
              <a:srgbClr val="FF3300"/>
            </a:solidFill>
            <a:miter/>
          </a:ln>
        </p:spPr>
        <p:txBody>
          <a:bodyPr wrap="square" anchor="t">
            <a:spAutoFit/>
          </a:bodyPr>
          <a:lstStyle/>
          <a:p>
            <a:pPr algn="l">
              <a:lnSpc>
                <a:spcPct val="150000"/>
              </a:lnSpc>
              <a:spcBef>
                <a:spcPct val="50000"/>
              </a:spcBef>
            </a:pPr>
            <a:r>
              <a:rPr lang="en-US" altLang="zh-CN" sz="3200" b="1" dirty="0" smtClean="0">
                <a:solidFill>
                  <a:srgbClr val="FF0000"/>
                </a:solidFill>
                <a:latin typeface="Times New Roman" panose="02020603050405020304" pitchFamily="18" charset="0"/>
                <a:ea typeface="黑体" panose="02010609060101010101" pitchFamily="49" charset="-122"/>
              </a:rPr>
              <a:t>1</a:t>
            </a:r>
            <a:r>
              <a:rPr lang="zh-CN" altLang="en-US" sz="3200" b="1" dirty="0" smtClean="0">
                <a:solidFill>
                  <a:srgbClr val="FF0000"/>
                </a:solidFill>
                <a:latin typeface="Times New Roman" panose="02020603050405020304" pitchFamily="18" charset="0"/>
                <a:ea typeface="黑体" panose="02010609060101010101" pitchFamily="49" charset="-122"/>
              </a:rPr>
              <a:t>、过渡时期</a:t>
            </a:r>
            <a:r>
              <a:rPr lang="zh-CN" altLang="en-US" sz="3200" b="1" dirty="0">
                <a:solidFill>
                  <a:srgbClr val="FF0000"/>
                </a:solidFill>
                <a:latin typeface="Times New Roman" panose="02020603050405020304" pitchFamily="18" charset="0"/>
                <a:ea typeface="黑体" panose="02010609060101010101" pitchFamily="49" charset="-122"/>
              </a:rPr>
              <a:t>总路线的提出 </a:t>
            </a:r>
            <a:br>
              <a:rPr lang="zh-CN" altLang="en-US" sz="3200" b="1" dirty="0">
                <a:solidFill>
                  <a:srgbClr val="FF0000"/>
                </a:solidFill>
                <a:latin typeface="Times New Roman" panose="02020603050405020304" pitchFamily="18" charset="0"/>
                <a:ea typeface="黑体" panose="02010609060101010101" pitchFamily="49" charset="-122"/>
              </a:rPr>
            </a:br>
            <a:r>
              <a:rPr lang="en-US" altLang="zh-CN" sz="3200" b="1" dirty="0" smtClean="0">
                <a:solidFill>
                  <a:srgbClr val="FF0000"/>
                </a:solidFill>
                <a:latin typeface="Times New Roman" panose="02020603050405020304" pitchFamily="18" charset="0"/>
                <a:ea typeface="黑体" panose="02010609060101010101" pitchFamily="49" charset="-122"/>
              </a:rPr>
              <a:t>2</a:t>
            </a:r>
            <a:r>
              <a:rPr lang="zh-CN" altLang="en-US" sz="3200" b="1" dirty="0" smtClean="0">
                <a:solidFill>
                  <a:srgbClr val="FF0000"/>
                </a:solidFill>
                <a:latin typeface="Times New Roman" panose="02020603050405020304" pitchFamily="18" charset="0"/>
                <a:ea typeface="黑体" panose="02010609060101010101" pitchFamily="49" charset="-122"/>
              </a:rPr>
              <a:t>、过渡时期</a:t>
            </a:r>
            <a:r>
              <a:rPr lang="zh-CN" altLang="en-US" sz="3200" b="1" dirty="0">
                <a:solidFill>
                  <a:srgbClr val="FF0000"/>
                </a:solidFill>
                <a:latin typeface="Times New Roman" panose="02020603050405020304" pitchFamily="18" charset="0"/>
                <a:ea typeface="黑体" panose="02010609060101010101" pitchFamily="49" charset="-122"/>
              </a:rPr>
              <a:t>总路线的主要内容 </a:t>
            </a:r>
            <a:br>
              <a:rPr lang="zh-CN" altLang="en-US" sz="3200" b="1" dirty="0">
                <a:solidFill>
                  <a:srgbClr val="FF0000"/>
                </a:solidFill>
                <a:latin typeface="Times New Roman" panose="02020603050405020304" pitchFamily="18" charset="0"/>
                <a:ea typeface="黑体" panose="02010609060101010101" pitchFamily="49" charset="-122"/>
              </a:rPr>
            </a:br>
            <a:r>
              <a:rPr lang="en-US" altLang="zh-CN" sz="3200" b="1" dirty="0" smtClean="0">
                <a:solidFill>
                  <a:srgbClr val="FF0000"/>
                </a:solidFill>
                <a:latin typeface="Times New Roman" panose="02020603050405020304" pitchFamily="18" charset="0"/>
                <a:ea typeface="黑体" panose="02010609060101010101" pitchFamily="49" charset="-122"/>
              </a:rPr>
              <a:t>3</a:t>
            </a:r>
            <a:r>
              <a:rPr lang="zh-CN" altLang="en-US" sz="3200" b="1" dirty="0" smtClean="0">
                <a:solidFill>
                  <a:srgbClr val="FF0000"/>
                </a:solidFill>
                <a:latin typeface="Times New Roman" panose="02020603050405020304" pitchFamily="18" charset="0"/>
                <a:ea typeface="黑体" panose="02010609060101010101" pitchFamily="49" charset="-122"/>
              </a:rPr>
              <a:t>、过渡时期</a:t>
            </a:r>
            <a:r>
              <a:rPr lang="zh-CN" altLang="en-US" sz="3200" b="1" dirty="0">
                <a:solidFill>
                  <a:srgbClr val="FF0000"/>
                </a:solidFill>
                <a:latin typeface="Times New Roman" panose="02020603050405020304" pitchFamily="18" charset="0"/>
                <a:ea typeface="黑体" panose="02010609060101010101" pitchFamily="49" charset="-122"/>
              </a:rPr>
              <a:t>总路线</a:t>
            </a:r>
            <a:r>
              <a:rPr lang="zh-CN" altLang="en-US" sz="3200" b="1" dirty="0" smtClean="0">
                <a:solidFill>
                  <a:srgbClr val="FF0000"/>
                </a:solidFill>
                <a:latin typeface="Times New Roman" panose="02020603050405020304" pitchFamily="18" charset="0"/>
                <a:ea typeface="黑体" panose="02010609060101010101" pitchFamily="49" charset="-122"/>
              </a:rPr>
              <a:t>的理论依据</a:t>
            </a:r>
            <a:endParaRPr lang="zh-CN" altLang="en-US" sz="3200" b="1" dirty="0">
              <a:solidFill>
                <a:srgbClr val="FF0000"/>
              </a:solidFill>
              <a:latin typeface="Times New Roman" panose="02020603050405020304" pitchFamily="18" charset="0"/>
              <a:ea typeface="黑体" panose="02010609060101010101" pitchFamily="49" charset="-122"/>
            </a:endParaRPr>
          </a:p>
        </p:txBody>
      </p:sp>
      <p:sp>
        <p:nvSpPr>
          <p:cNvPr id="4" name="矩形 3"/>
          <p:cNvSpPr/>
          <p:nvPr/>
        </p:nvSpPr>
        <p:spPr>
          <a:xfrm>
            <a:off x="251520" y="764704"/>
            <a:ext cx="5724644" cy="584775"/>
          </a:xfrm>
          <a:prstGeom prst="rect">
            <a:avLst/>
          </a:prstGeom>
          <a:solidFill>
            <a:schemeClr val="bg1"/>
          </a:solidFill>
          <a:ln>
            <a:solidFill>
              <a:srgbClr val="FF0000"/>
            </a:solidFill>
          </a:ln>
        </p:spPr>
        <p:txBody>
          <a:bodyPr wrap="none">
            <a:spAutoFit/>
          </a:bodyPr>
          <a:lstStyle/>
          <a:p>
            <a:r>
              <a:rPr lang="en-US" altLang="zh-CN" sz="3200" dirty="0" smtClean="0">
                <a:solidFill>
                  <a:srgbClr val="00B050"/>
                </a:solidFill>
                <a:latin typeface="+mj-ea"/>
                <a:ea typeface="+mj-ea"/>
              </a:rPr>
              <a:t> </a:t>
            </a:r>
            <a:r>
              <a:rPr lang="zh-CN" altLang="en-US" sz="3200" dirty="0" smtClean="0">
                <a:solidFill>
                  <a:srgbClr val="00B050"/>
                </a:solidFill>
                <a:latin typeface="华文琥珀" pitchFamily="2" charset="-122"/>
                <a:ea typeface="华文琥珀" pitchFamily="2" charset="-122"/>
              </a:rPr>
              <a:t>（三）</a:t>
            </a:r>
            <a:r>
              <a:rPr lang="zh-CN" altLang="en-US" sz="3200" b="1" dirty="0" smtClean="0">
                <a:solidFill>
                  <a:srgbClr val="00B050"/>
                </a:solidFill>
                <a:latin typeface="华文琥珀" pitchFamily="2" charset="-122"/>
                <a:ea typeface="华文琥珀" pitchFamily="2" charset="-122"/>
              </a:rPr>
              <a:t>党</a:t>
            </a:r>
            <a:r>
              <a:rPr lang="zh-CN" altLang="en-US" sz="3200" b="1" dirty="0">
                <a:solidFill>
                  <a:srgbClr val="00B050"/>
                </a:solidFill>
                <a:latin typeface="华文琥珀" pitchFamily="2" charset="-122"/>
                <a:ea typeface="华文琥珀" pitchFamily="2" charset="-122"/>
              </a:rPr>
              <a:t>在过渡时期的</a:t>
            </a:r>
            <a:r>
              <a:rPr lang="zh-CN" altLang="en-US" sz="3200" b="1" dirty="0" smtClean="0">
                <a:solidFill>
                  <a:srgbClr val="00B050"/>
                </a:solidFill>
                <a:latin typeface="华文琥珀" pitchFamily="2" charset="-122"/>
                <a:ea typeface="华文琥珀" pitchFamily="2" charset="-122"/>
              </a:rPr>
              <a:t>总路线</a:t>
            </a:r>
            <a:endParaRPr lang="zh-CN" altLang="en-US" sz="3200" b="1" dirty="0">
              <a:solidFill>
                <a:srgbClr val="00B050"/>
              </a:solidFill>
              <a:latin typeface="+mj-ea"/>
              <a:ea typeface="+mj-ea"/>
            </a:endParaRPr>
          </a:p>
        </p:txBody>
      </p:sp>
    </p:spTree>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p:cNvSpPr>
            <a:spLocks noGrp="1"/>
          </p:cNvSpPr>
          <p:nvPr>
            <p:ph idx="1"/>
          </p:nvPr>
        </p:nvSpPr>
        <p:spPr>
          <a:xfrm>
            <a:off x="1187624" y="4149080"/>
            <a:ext cx="6858000" cy="461665"/>
          </a:xfrm>
          <a:solidFill>
            <a:schemeClr val="bg1"/>
          </a:solidFill>
          <a:ln w="12700">
            <a:solidFill>
              <a:schemeClr val="accent1"/>
            </a:solidFill>
            <a:miter/>
          </a:ln>
        </p:spPr>
        <p:txBody>
          <a:bodyPr anchor="t">
            <a:spAutoFit/>
          </a:bodyPr>
          <a:lstStyle/>
          <a:p>
            <a:pPr>
              <a:buNone/>
            </a:pPr>
            <a:r>
              <a:rPr lang="en-US" altLang="zh-CN" sz="2400" b="1" dirty="0" smtClean="0">
                <a:solidFill>
                  <a:srgbClr val="FF0000"/>
                </a:solidFill>
                <a:latin typeface="+mj-ea"/>
                <a:ea typeface="+mj-ea"/>
              </a:rPr>
              <a:t>♂ </a:t>
            </a:r>
            <a:r>
              <a:rPr lang="zh-CN" altLang="zh-CN" sz="2400" b="1" dirty="0" smtClean="0">
                <a:solidFill>
                  <a:srgbClr val="FF0000"/>
                </a:solidFill>
                <a:latin typeface="+mj-ea"/>
                <a:ea typeface="+mj-ea"/>
              </a:rPr>
              <a:t>转变条件上：先发展生产力，后变革生产关系</a:t>
            </a:r>
            <a:endParaRPr lang="zh-CN" altLang="en-US" sz="2400" b="1" noProof="1" smtClean="0">
              <a:solidFill>
                <a:srgbClr val="FF0000"/>
              </a:solidFill>
              <a:latin typeface="+mj-ea"/>
              <a:ea typeface="+mj-ea"/>
            </a:endParaRPr>
          </a:p>
        </p:txBody>
      </p:sp>
      <p:sp>
        <p:nvSpPr>
          <p:cNvPr id="4" name="矩形 3"/>
          <p:cNvSpPr/>
          <p:nvPr/>
        </p:nvSpPr>
        <p:spPr>
          <a:xfrm>
            <a:off x="1115616" y="1412776"/>
            <a:ext cx="6840760" cy="1077218"/>
          </a:xfrm>
          <a:prstGeom prst="rect">
            <a:avLst/>
          </a:prstGeom>
          <a:solidFill>
            <a:schemeClr val="bg1"/>
          </a:solidFill>
          <a:ln>
            <a:solidFill>
              <a:schemeClr val="bg2">
                <a:lumMod val="75000"/>
              </a:schemeClr>
            </a:solidFill>
          </a:ln>
        </p:spPr>
        <p:txBody>
          <a:bodyPr wrap="square">
            <a:spAutoFit/>
          </a:bodyPr>
          <a:lstStyle/>
          <a:p>
            <a:pPr>
              <a:buNone/>
            </a:pPr>
            <a:r>
              <a:rPr lang="zh-CN" altLang="en-US" sz="3200" b="1" dirty="0" smtClean="0">
                <a:solidFill>
                  <a:srgbClr val="0000FF"/>
                </a:solidFill>
                <a:latin typeface="隶书" pitchFamily="49" charset="-122"/>
                <a:ea typeface="隶书" pitchFamily="49" charset="-122"/>
              </a:rPr>
              <a:t>（</a:t>
            </a:r>
            <a:r>
              <a:rPr lang="en-US" altLang="zh-CN" sz="3200" b="1" dirty="0" smtClean="0">
                <a:solidFill>
                  <a:srgbClr val="0000FF"/>
                </a:solidFill>
                <a:latin typeface="隶书" pitchFamily="49" charset="-122"/>
                <a:ea typeface="隶书" pitchFamily="49" charset="-122"/>
              </a:rPr>
              <a:t>1</a:t>
            </a:r>
            <a:r>
              <a:rPr lang="zh-CN" altLang="en-US" sz="3200" b="1" dirty="0" smtClean="0">
                <a:solidFill>
                  <a:srgbClr val="0000FF"/>
                </a:solidFill>
                <a:latin typeface="隶书" pitchFamily="49" charset="-122"/>
                <a:ea typeface="隶书" pitchFamily="49" charset="-122"/>
              </a:rPr>
              <a:t>）</a:t>
            </a:r>
            <a:r>
              <a:rPr lang="zh-CN" altLang="zh-CN" sz="3200" b="1" dirty="0" smtClean="0">
                <a:solidFill>
                  <a:srgbClr val="0000FF"/>
                </a:solidFill>
                <a:latin typeface="隶书" pitchFamily="49" charset="-122"/>
                <a:ea typeface="隶书" pitchFamily="49" charset="-122"/>
              </a:rPr>
              <a:t>关于新民主主义向社会主义过渡的最初构想</a:t>
            </a:r>
          </a:p>
        </p:txBody>
      </p:sp>
      <p:sp>
        <p:nvSpPr>
          <p:cNvPr id="5" name="矩形 4"/>
          <p:cNvSpPr/>
          <p:nvPr/>
        </p:nvSpPr>
        <p:spPr>
          <a:xfrm>
            <a:off x="1115616" y="3068960"/>
            <a:ext cx="6884964" cy="830997"/>
          </a:xfrm>
          <a:prstGeom prst="rect">
            <a:avLst/>
          </a:prstGeom>
          <a:solidFill>
            <a:schemeClr val="bg1"/>
          </a:solidFill>
          <a:ln>
            <a:solidFill>
              <a:schemeClr val="accent1"/>
            </a:solidFill>
          </a:ln>
        </p:spPr>
        <p:txBody>
          <a:bodyPr wrap="square">
            <a:spAutoFit/>
          </a:bodyPr>
          <a:lstStyle/>
          <a:p>
            <a:pPr>
              <a:buNone/>
            </a:pPr>
            <a:r>
              <a:rPr lang="en-US" altLang="zh-CN" sz="2400" b="1" dirty="0" smtClean="0">
                <a:solidFill>
                  <a:srgbClr val="FF0000"/>
                </a:solidFill>
                <a:latin typeface="+mj-ea"/>
              </a:rPr>
              <a:t>♂</a:t>
            </a:r>
            <a:r>
              <a:rPr lang="zh-CN" altLang="zh-CN" sz="2400" b="1" dirty="0" smtClean="0">
                <a:solidFill>
                  <a:srgbClr val="FF0000"/>
                </a:solidFill>
                <a:latin typeface="+mj-ea"/>
                <a:ea typeface="+mj-ea"/>
              </a:rPr>
              <a:t>过渡时间上：三年准备，十年建设，然后再开始向社会主义过渡。</a:t>
            </a:r>
            <a:r>
              <a:rPr lang="en-US" altLang="zh-CN" sz="2400" b="1" dirty="0" smtClean="0">
                <a:solidFill>
                  <a:srgbClr val="FF0000"/>
                </a:solidFill>
                <a:latin typeface="+mj-ea"/>
                <a:ea typeface="+mj-ea"/>
              </a:rPr>
              <a:t> </a:t>
            </a:r>
            <a:endParaRPr lang="zh-CN" altLang="zh-CN" sz="2400" b="1" dirty="0" smtClean="0">
              <a:solidFill>
                <a:srgbClr val="FF0000"/>
              </a:solidFill>
              <a:latin typeface="+mj-ea"/>
              <a:ea typeface="+mj-ea"/>
            </a:endParaRPr>
          </a:p>
        </p:txBody>
      </p:sp>
      <p:sp>
        <p:nvSpPr>
          <p:cNvPr id="6" name="矩形 5"/>
          <p:cNvSpPr/>
          <p:nvPr/>
        </p:nvSpPr>
        <p:spPr>
          <a:xfrm>
            <a:off x="1187624" y="5085184"/>
            <a:ext cx="6884964" cy="830997"/>
          </a:xfrm>
          <a:prstGeom prst="rect">
            <a:avLst/>
          </a:prstGeom>
          <a:solidFill>
            <a:schemeClr val="bg1"/>
          </a:solidFill>
          <a:ln>
            <a:solidFill>
              <a:schemeClr val="accent1"/>
            </a:solidFill>
          </a:ln>
        </p:spPr>
        <p:txBody>
          <a:bodyPr wrap="square">
            <a:spAutoFit/>
          </a:bodyPr>
          <a:lstStyle/>
          <a:p>
            <a:pPr marL="342900" indent="-342900">
              <a:spcBef>
                <a:spcPct val="20000"/>
              </a:spcBef>
              <a:buClr>
                <a:schemeClr val="tx2"/>
              </a:buClr>
              <a:buSzPct val="50000"/>
            </a:pPr>
            <a:r>
              <a:rPr lang="en-US" altLang="zh-CN" sz="2400" b="1" dirty="0" smtClean="0">
                <a:solidFill>
                  <a:srgbClr val="FF0000"/>
                </a:solidFill>
                <a:latin typeface="+mj-ea"/>
                <a:ea typeface="+mj-ea"/>
              </a:rPr>
              <a:t>♂ </a:t>
            </a:r>
            <a:r>
              <a:rPr lang="zh-CN" altLang="en-US" sz="2400" b="1" dirty="0" smtClean="0">
                <a:solidFill>
                  <a:srgbClr val="FF0000"/>
                </a:solidFill>
                <a:latin typeface="+mj-ea"/>
                <a:ea typeface="+mj-ea"/>
              </a:rPr>
              <a:t>关于过渡的步骤和方式，毛泽东的提法是“全线进攻”，一举完成向社会主义过渡</a:t>
            </a:r>
          </a:p>
        </p:txBody>
      </p:sp>
      <p:sp>
        <p:nvSpPr>
          <p:cNvPr id="7" name="矩形 6"/>
          <p:cNvSpPr/>
          <p:nvPr/>
        </p:nvSpPr>
        <p:spPr>
          <a:xfrm>
            <a:off x="1043608" y="476672"/>
            <a:ext cx="4421403" cy="523220"/>
          </a:xfrm>
          <a:prstGeom prst="rect">
            <a:avLst/>
          </a:prstGeom>
          <a:ln>
            <a:solidFill>
              <a:schemeClr val="accent1"/>
            </a:solidFill>
          </a:ln>
        </p:spPr>
        <p:txBody>
          <a:bodyPr wrap="none">
            <a:spAutoFit/>
          </a:bodyPr>
          <a:lstStyle/>
          <a:p>
            <a:r>
              <a:rPr lang="en-US" altLang="zh-CN" sz="2800" b="1" dirty="0" smtClean="0">
                <a:solidFill>
                  <a:srgbClr val="FF0000"/>
                </a:solidFill>
                <a:latin typeface="Times New Roman" panose="02020603050405020304" pitchFamily="18" charset="0"/>
                <a:ea typeface="黑体" panose="02010609060101010101" pitchFamily="49" charset="-122"/>
              </a:rPr>
              <a:t>1</a:t>
            </a:r>
            <a:r>
              <a:rPr lang="zh-CN" altLang="en-US" sz="2800" b="1" dirty="0" smtClean="0">
                <a:solidFill>
                  <a:srgbClr val="FF0000"/>
                </a:solidFill>
                <a:latin typeface="Times New Roman" panose="02020603050405020304" pitchFamily="18" charset="0"/>
                <a:ea typeface="黑体" panose="02010609060101010101" pitchFamily="49" charset="-122"/>
              </a:rPr>
              <a:t>、过渡时期总路线的提出 </a:t>
            </a:r>
            <a:endParaRPr lang="zh-CN" altLang="en-US" sz="2800" dirty="0"/>
          </a:p>
        </p:txBody>
      </p:sp>
    </p:spTree>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p:cNvSpPr>
            <a:spLocks noGrp="1"/>
          </p:cNvSpPr>
          <p:nvPr>
            <p:ph type="title"/>
          </p:nvPr>
        </p:nvSpPr>
        <p:spPr>
          <a:xfrm>
            <a:off x="323528" y="476672"/>
            <a:ext cx="3888432" cy="4524315"/>
          </a:xfrm>
          <a:solidFill>
            <a:schemeClr val="bg1"/>
          </a:solidFill>
          <a:ln w="12700">
            <a:solidFill>
              <a:srgbClr val="FF3300"/>
            </a:solidFill>
            <a:miter/>
          </a:ln>
        </p:spPr>
        <p:txBody>
          <a:bodyPr wrap="square" anchor="t">
            <a:spAutoFit/>
          </a:bodyPr>
          <a:lstStyle/>
          <a:p>
            <a:pPr algn="l">
              <a:lnSpc>
                <a:spcPct val="150000"/>
              </a:lnSpc>
              <a:spcBef>
                <a:spcPct val="50000"/>
              </a:spcBef>
            </a:pPr>
            <a:r>
              <a:rPr lang="en-US" altLang="zh-CN" sz="2400" b="1" dirty="0">
                <a:solidFill>
                  <a:srgbClr val="0000FF"/>
                </a:solidFill>
                <a:latin typeface="Times New Roman" panose="02020603050405020304" pitchFamily="18" charset="0"/>
                <a:ea typeface="黑体" panose="02010609060101010101" pitchFamily="49" charset="-122"/>
              </a:rPr>
              <a:t> </a:t>
            </a:r>
            <a:r>
              <a:rPr lang="en-US" altLang="zh-CN" sz="2400" b="1" dirty="0" smtClean="0">
                <a:solidFill>
                  <a:srgbClr val="0000FF"/>
                </a:solidFill>
                <a:latin typeface="Times New Roman" panose="02020603050405020304" pitchFamily="18" charset="0"/>
                <a:ea typeface="黑体" panose="02010609060101010101" pitchFamily="49" charset="-122"/>
              </a:rPr>
              <a:t>        1953</a:t>
            </a:r>
            <a:r>
              <a:rPr lang="zh-CN" altLang="en-US" sz="2400" b="1" dirty="0">
                <a:solidFill>
                  <a:srgbClr val="0000FF"/>
                </a:solidFill>
                <a:latin typeface="Times New Roman" panose="02020603050405020304" pitchFamily="18" charset="0"/>
                <a:ea typeface="黑体" panose="02010609060101010101" pitchFamily="49" charset="-122"/>
              </a:rPr>
              <a:t>年</a:t>
            </a:r>
            <a:r>
              <a:rPr lang="en-US" altLang="zh-CN" sz="2400" b="1" dirty="0">
                <a:solidFill>
                  <a:srgbClr val="0000FF"/>
                </a:solidFill>
                <a:latin typeface="Times New Roman" panose="02020603050405020304" pitchFamily="18" charset="0"/>
                <a:ea typeface="黑体" panose="02010609060101010101" pitchFamily="49" charset="-122"/>
              </a:rPr>
              <a:t>,</a:t>
            </a:r>
            <a:r>
              <a:rPr lang="zh-CN" altLang="en-US" sz="2400" b="1" dirty="0">
                <a:solidFill>
                  <a:srgbClr val="0000FF"/>
                </a:solidFill>
                <a:latin typeface="Times New Roman" panose="02020603050405020304" pitchFamily="18" charset="0"/>
                <a:ea typeface="黑体" panose="02010609060101010101" pitchFamily="49" charset="-122"/>
              </a:rPr>
              <a:t>土地改革、抗美援朝和镇压反革命三大政治运动取得胜利，新中国政权的得到巩固；</a:t>
            </a:r>
            <a:br>
              <a:rPr lang="zh-CN" altLang="en-US" sz="2400" b="1" dirty="0">
                <a:solidFill>
                  <a:srgbClr val="0000FF"/>
                </a:solidFill>
                <a:latin typeface="Times New Roman" panose="02020603050405020304" pitchFamily="18" charset="0"/>
                <a:ea typeface="黑体" panose="02010609060101010101" pitchFamily="49" charset="-122"/>
              </a:rPr>
            </a:br>
            <a:r>
              <a:rPr lang="zh-CN" altLang="en-US" sz="2400" b="1" dirty="0">
                <a:solidFill>
                  <a:srgbClr val="0000FF"/>
                </a:solidFill>
                <a:latin typeface="Times New Roman" panose="02020603050405020304" pitchFamily="18" charset="0"/>
                <a:ea typeface="黑体" panose="02010609060101010101" pitchFamily="49" charset="-122"/>
              </a:rPr>
              <a:t>        通过平抑物价（银元之战、粮棉之战），财政经济状况逐渐好转，国民经济得到恢复</a:t>
            </a:r>
            <a:r>
              <a:rPr lang="zh-CN" altLang="en-US" sz="2400" b="1" dirty="0" smtClean="0">
                <a:solidFill>
                  <a:srgbClr val="0000FF"/>
                </a:solidFill>
                <a:latin typeface="Times New Roman" panose="02020603050405020304" pitchFamily="18" charset="0"/>
                <a:ea typeface="黑体" panose="02010609060101010101" pitchFamily="49" charset="-122"/>
              </a:rPr>
              <a:t>。</a:t>
            </a:r>
            <a:endParaRPr lang="en-US" altLang="zh-CN" sz="2400" b="1" dirty="0">
              <a:solidFill>
                <a:srgbClr val="0000FF"/>
              </a:solidFill>
              <a:latin typeface="Times New Roman" panose="02020603050405020304" pitchFamily="18" charset="0"/>
              <a:ea typeface="黑体" panose="02010609060101010101" pitchFamily="49" charset="-122"/>
            </a:endParaRPr>
          </a:p>
        </p:txBody>
      </p:sp>
      <p:pic>
        <p:nvPicPr>
          <p:cNvPr id="3074" name="Picture 2" descr="http://www.globalview.cn/d/file/image/20190603/1559528445172989.jp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607496" y="476672"/>
            <a:ext cx="4536504" cy="3960440"/>
          </a:xfrm>
          <a:prstGeom prst="rect">
            <a:avLst/>
          </a:prstGeom>
          <a:noFill/>
          <a:extLst>
            <a:ext uri="{909E8E84-426E-40DD-AFC4-6F175D3DCCD1}">
              <a14:hiddenFill xmlns:a14="http://schemas.microsoft.com/office/drawing/2010/main" xmlns="">
                <a:solidFill>
                  <a:srgbClr val="FFFFFF"/>
                </a:solidFill>
              </a14:hiddenFill>
            </a:ext>
          </a:extLst>
        </p:spPr>
      </p:pic>
    </p:spTree>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p:cNvSpPr>
            <a:spLocks noGrp="1"/>
          </p:cNvSpPr>
          <p:nvPr>
            <p:ph type="title"/>
          </p:nvPr>
        </p:nvSpPr>
        <p:spPr>
          <a:xfrm>
            <a:off x="683568" y="980728"/>
            <a:ext cx="7777162" cy="5262979"/>
          </a:xfrm>
          <a:solidFill>
            <a:schemeClr val="bg1"/>
          </a:solidFill>
          <a:ln w="12700">
            <a:solidFill>
              <a:srgbClr val="FF3300"/>
            </a:solidFill>
            <a:miter/>
          </a:ln>
        </p:spPr>
        <p:txBody>
          <a:bodyPr anchor="t">
            <a:spAutoFit/>
          </a:bodyPr>
          <a:lstStyle/>
          <a:p>
            <a:pPr algn="l">
              <a:lnSpc>
                <a:spcPct val="150000"/>
              </a:lnSpc>
              <a:spcBef>
                <a:spcPct val="50000"/>
              </a:spcBef>
            </a:pPr>
            <a:r>
              <a:rPr lang="en-US" altLang="zh-CN" sz="2800" dirty="0">
                <a:solidFill>
                  <a:srgbClr val="0000FF"/>
                </a:solidFill>
                <a:latin typeface="Times New Roman" panose="02020603050405020304" pitchFamily="18" charset="0"/>
                <a:ea typeface="华文新魏" panose="02010800040101010101" pitchFamily="2" charset="-122"/>
              </a:rPr>
              <a:t>         </a:t>
            </a:r>
            <a:r>
              <a:rPr lang="en-US" altLang="zh-CN" sz="2800" b="1" dirty="0">
                <a:solidFill>
                  <a:srgbClr val="0000FF"/>
                </a:solidFill>
                <a:latin typeface="Times New Roman" panose="02020603050405020304" pitchFamily="18" charset="0"/>
                <a:ea typeface="黑体" panose="02010609060101010101" pitchFamily="49" charset="-122"/>
              </a:rPr>
              <a:t>1952</a:t>
            </a:r>
            <a:r>
              <a:rPr lang="zh-CN" altLang="en-US" sz="2800" b="1" dirty="0">
                <a:solidFill>
                  <a:srgbClr val="0000FF"/>
                </a:solidFill>
                <a:latin typeface="Times New Roman" panose="02020603050405020304" pitchFamily="18" charset="0"/>
                <a:ea typeface="黑体" panose="02010609060101010101" pitchFamily="49" charset="-122"/>
              </a:rPr>
              <a:t>年国营工业总产值占到</a:t>
            </a:r>
            <a:r>
              <a:rPr lang="en-US" altLang="zh-CN" sz="2800" b="1" dirty="0">
                <a:solidFill>
                  <a:srgbClr val="0000FF"/>
                </a:solidFill>
                <a:latin typeface="Times New Roman" panose="02020603050405020304" pitchFamily="18" charset="0"/>
                <a:ea typeface="黑体" panose="02010609060101010101" pitchFamily="49" charset="-122"/>
              </a:rPr>
              <a:t>52.8%</a:t>
            </a:r>
            <a:r>
              <a:rPr lang="zh-CN" altLang="en-US" sz="2800" b="1" dirty="0">
                <a:solidFill>
                  <a:srgbClr val="0000FF"/>
                </a:solidFill>
                <a:latin typeface="Times New Roman" panose="02020603050405020304" pitchFamily="18" charset="0"/>
                <a:ea typeface="黑体" panose="02010609060101010101" pitchFamily="49" charset="-122"/>
              </a:rPr>
              <a:t>，私营工业由</a:t>
            </a:r>
            <a:r>
              <a:rPr lang="en-US" altLang="zh-CN" sz="2800" b="1" dirty="0">
                <a:solidFill>
                  <a:srgbClr val="0000FF"/>
                </a:solidFill>
                <a:latin typeface="Times New Roman" panose="02020603050405020304" pitchFamily="18" charset="0"/>
                <a:ea typeface="黑体" panose="02010609060101010101" pitchFamily="49" charset="-122"/>
              </a:rPr>
              <a:t>63.3%</a:t>
            </a:r>
            <a:r>
              <a:rPr lang="zh-CN" altLang="en-US" sz="2800" b="1" dirty="0">
                <a:solidFill>
                  <a:srgbClr val="0000FF"/>
                </a:solidFill>
                <a:latin typeface="Times New Roman" panose="02020603050405020304" pitchFamily="18" charset="0"/>
                <a:ea typeface="黑体" panose="02010609060101010101" pitchFamily="49" charset="-122"/>
              </a:rPr>
              <a:t>下降到</a:t>
            </a:r>
            <a:r>
              <a:rPr lang="en-US" altLang="zh-CN" sz="2800" b="1" dirty="0">
                <a:solidFill>
                  <a:srgbClr val="0000FF"/>
                </a:solidFill>
                <a:latin typeface="Times New Roman" panose="02020603050405020304" pitchFamily="18" charset="0"/>
                <a:ea typeface="黑体" panose="02010609060101010101" pitchFamily="49" charset="-122"/>
              </a:rPr>
              <a:t>39%</a:t>
            </a:r>
            <a:r>
              <a:rPr lang="zh-CN" altLang="en-US" sz="2800" b="1" dirty="0">
                <a:solidFill>
                  <a:srgbClr val="0000FF"/>
                </a:solidFill>
                <a:latin typeface="Times New Roman" panose="02020603050405020304" pitchFamily="18" charset="0"/>
                <a:ea typeface="黑体" panose="02010609060101010101" pitchFamily="49" charset="-122"/>
              </a:rPr>
              <a:t>。</a:t>
            </a:r>
            <a:br>
              <a:rPr lang="zh-CN" altLang="en-US" sz="2800" b="1" dirty="0">
                <a:solidFill>
                  <a:srgbClr val="0000FF"/>
                </a:solidFill>
                <a:latin typeface="Times New Roman" panose="02020603050405020304" pitchFamily="18" charset="0"/>
                <a:ea typeface="黑体" panose="02010609060101010101" pitchFamily="49" charset="-122"/>
              </a:rPr>
            </a:br>
            <a:r>
              <a:rPr lang="zh-CN" altLang="en-US" sz="2800" b="1" dirty="0">
                <a:solidFill>
                  <a:srgbClr val="0000FF"/>
                </a:solidFill>
                <a:latin typeface="Times New Roman" panose="02020603050405020304" pitchFamily="18" charset="0"/>
                <a:ea typeface="黑体" panose="02010609060101010101" pitchFamily="49" charset="-122"/>
              </a:rPr>
              <a:t>        在社会商品批发总额中，国营商业从</a:t>
            </a:r>
            <a:r>
              <a:rPr lang="en-US" altLang="zh-CN" sz="2800" b="1" dirty="0">
                <a:solidFill>
                  <a:srgbClr val="0000FF"/>
                </a:solidFill>
                <a:latin typeface="Times New Roman" panose="02020603050405020304" pitchFamily="18" charset="0"/>
                <a:ea typeface="黑体" panose="02010609060101010101" pitchFamily="49" charset="-122"/>
              </a:rPr>
              <a:t>1950</a:t>
            </a:r>
            <a:r>
              <a:rPr lang="zh-CN" altLang="en-US" sz="2800" b="1" dirty="0">
                <a:solidFill>
                  <a:srgbClr val="0000FF"/>
                </a:solidFill>
                <a:latin typeface="Times New Roman" panose="02020603050405020304" pitchFamily="18" charset="0"/>
                <a:ea typeface="黑体" panose="02010609060101010101" pitchFamily="49" charset="-122"/>
              </a:rPr>
              <a:t>年的</a:t>
            </a:r>
            <a:r>
              <a:rPr lang="en-US" altLang="zh-CN" sz="2800" b="1" dirty="0">
                <a:solidFill>
                  <a:srgbClr val="0000FF"/>
                </a:solidFill>
                <a:latin typeface="Times New Roman" panose="02020603050405020304" pitchFamily="18" charset="0"/>
                <a:ea typeface="黑体" panose="02010609060101010101" pitchFamily="49" charset="-122"/>
              </a:rPr>
              <a:t>23.2%</a:t>
            </a:r>
            <a:r>
              <a:rPr lang="zh-CN" altLang="en-US" sz="2800" b="1" dirty="0">
                <a:solidFill>
                  <a:srgbClr val="0000FF"/>
                </a:solidFill>
                <a:latin typeface="Times New Roman" panose="02020603050405020304" pitchFamily="18" charset="0"/>
                <a:ea typeface="黑体" panose="02010609060101010101" pitchFamily="49" charset="-122"/>
              </a:rPr>
              <a:t>上升到</a:t>
            </a:r>
            <a:r>
              <a:rPr lang="en-US" altLang="zh-CN" sz="2800" b="1" dirty="0">
                <a:solidFill>
                  <a:srgbClr val="0000FF"/>
                </a:solidFill>
                <a:latin typeface="Times New Roman" panose="02020603050405020304" pitchFamily="18" charset="0"/>
                <a:ea typeface="黑体" panose="02010609060101010101" pitchFamily="49" charset="-122"/>
              </a:rPr>
              <a:t>1952</a:t>
            </a:r>
            <a:r>
              <a:rPr lang="zh-CN" altLang="en-US" sz="2800" b="1" dirty="0">
                <a:solidFill>
                  <a:srgbClr val="0000FF"/>
                </a:solidFill>
                <a:latin typeface="Times New Roman" panose="02020603050405020304" pitchFamily="18" charset="0"/>
                <a:ea typeface="黑体" panose="02010609060101010101" pitchFamily="49" charset="-122"/>
              </a:rPr>
              <a:t>年的</a:t>
            </a:r>
            <a:r>
              <a:rPr lang="en-US" altLang="zh-CN" sz="2800" b="1" dirty="0">
                <a:solidFill>
                  <a:srgbClr val="0000FF"/>
                </a:solidFill>
                <a:latin typeface="Times New Roman" panose="02020603050405020304" pitchFamily="18" charset="0"/>
                <a:ea typeface="黑体" panose="02010609060101010101" pitchFamily="49" charset="-122"/>
              </a:rPr>
              <a:t>60.5%</a:t>
            </a:r>
            <a:r>
              <a:rPr lang="zh-CN" altLang="en-US" sz="2800" b="1" dirty="0">
                <a:solidFill>
                  <a:srgbClr val="0000FF"/>
                </a:solidFill>
                <a:latin typeface="Times New Roman" panose="02020603050405020304" pitchFamily="18" charset="0"/>
                <a:ea typeface="黑体" panose="02010609060101010101" pitchFamily="49" charset="-122"/>
              </a:rPr>
              <a:t>，私营商业则下降到</a:t>
            </a:r>
            <a:r>
              <a:rPr lang="en-US" altLang="zh-CN" sz="2800" b="1" dirty="0">
                <a:solidFill>
                  <a:srgbClr val="0000FF"/>
                </a:solidFill>
                <a:latin typeface="Times New Roman" panose="02020603050405020304" pitchFamily="18" charset="0"/>
                <a:ea typeface="黑体" panose="02010609060101010101" pitchFamily="49" charset="-122"/>
              </a:rPr>
              <a:t>36.3%</a:t>
            </a:r>
            <a:r>
              <a:rPr lang="zh-CN" altLang="en-US" sz="2800" b="1" dirty="0">
                <a:solidFill>
                  <a:srgbClr val="0000FF"/>
                </a:solidFill>
                <a:latin typeface="Times New Roman" panose="02020603050405020304" pitchFamily="18" charset="0"/>
                <a:ea typeface="黑体" panose="02010609060101010101" pitchFamily="49" charset="-122"/>
              </a:rPr>
              <a:t>。</a:t>
            </a:r>
            <a:br>
              <a:rPr lang="zh-CN" altLang="en-US" sz="2800" b="1" dirty="0">
                <a:solidFill>
                  <a:srgbClr val="0000FF"/>
                </a:solidFill>
                <a:latin typeface="Times New Roman" panose="02020603050405020304" pitchFamily="18" charset="0"/>
                <a:ea typeface="黑体" panose="02010609060101010101" pitchFamily="49" charset="-122"/>
              </a:rPr>
            </a:br>
            <a:r>
              <a:rPr lang="zh-CN" altLang="en-US" sz="2800" b="1" dirty="0">
                <a:solidFill>
                  <a:srgbClr val="0000FF"/>
                </a:solidFill>
                <a:latin typeface="Times New Roman" panose="02020603050405020304" pitchFamily="18" charset="0"/>
                <a:ea typeface="黑体" panose="02010609060101010101" pitchFamily="49" charset="-122"/>
              </a:rPr>
              <a:t>        国营经济上升到</a:t>
            </a:r>
            <a:r>
              <a:rPr lang="en-US" altLang="zh-CN" sz="2800" b="1" dirty="0">
                <a:solidFill>
                  <a:srgbClr val="0000FF"/>
                </a:solidFill>
                <a:latin typeface="Times New Roman" panose="02020603050405020304" pitchFamily="18" charset="0"/>
                <a:ea typeface="黑体" panose="02010609060101010101" pitchFamily="49" charset="-122"/>
              </a:rPr>
              <a:t>67%.3,</a:t>
            </a:r>
            <a:r>
              <a:rPr lang="zh-CN" altLang="en-US" sz="2800" b="1" dirty="0">
                <a:solidFill>
                  <a:srgbClr val="0000FF"/>
                </a:solidFill>
                <a:latin typeface="Times New Roman" panose="02020603050405020304" pitchFamily="18" charset="0"/>
                <a:ea typeface="黑体" panose="02010609060101010101" pitchFamily="49" charset="-122"/>
              </a:rPr>
              <a:t>私营经济下降到</a:t>
            </a:r>
            <a:r>
              <a:rPr lang="en-US" altLang="zh-CN" sz="2800" b="1" dirty="0">
                <a:solidFill>
                  <a:srgbClr val="0000FF"/>
                </a:solidFill>
                <a:latin typeface="Times New Roman" panose="02020603050405020304" pitchFamily="18" charset="0"/>
                <a:ea typeface="黑体" panose="02010609060101010101" pitchFamily="49" charset="-122"/>
              </a:rPr>
              <a:t>32.7</a:t>
            </a:r>
            <a:r>
              <a:rPr lang="en-US" altLang="zh-CN" sz="2800" b="1" dirty="0" smtClean="0">
                <a:solidFill>
                  <a:srgbClr val="0000FF"/>
                </a:solidFill>
                <a:latin typeface="Times New Roman" panose="02020603050405020304" pitchFamily="18" charset="0"/>
                <a:ea typeface="黑体" panose="02010609060101010101" pitchFamily="49" charset="-122"/>
              </a:rPr>
              <a:t>%</a:t>
            </a:r>
            <a:r>
              <a:rPr lang="zh-CN" altLang="en-US" sz="2800" b="1" dirty="0" smtClean="0">
                <a:solidFill>
                  <a:srgbClr val="0000FF"/>
                </a:solidFill>
                <a:latin typeface="Times New Roman" panose="02020603050405020304" pitchFamily="18" charset="0"/>
                <a:ea typeface="黑体" panose="02010609060101010101" pitchFamily="49" charset="-122"/>
              </a:rPr>
              <a:t>。</a:t>
            </a:r>
            <a:r>
              <a:rPr lang="en-US" altLang="zh-CN" sz="2800" b="1" dirty="0" smtClean="0">
                <a:solidFill>
                  <a:srgbClr val="0000FF"/>
                </a:solidFill>
                <a:latin typeface="Times New Roman" panose="02020603050405020304" pitchFamily="18" charset="0"/>
                <a:ea typeface="黑体" panose="02010609060101010101" pitchFamily="49" charset="-122"/>
              </a:rPr>
              <a:t/>
            </a:r>
            <a:br>
              <a:rPr lang="en-US" altLang="zh-CN" sz="2800" b="1" dirty="0" smtClean="0">
                <a:solidFill>
                  <a:srgbClr val="0000FF"/>
                </a:solidFill>
                <a:latin typeface="Times New Roman" panose="02020603050405020304" pitchFamily="18" charset="0"/>
                <a:ea typeface="黑体" panose="02010609060101010101" pitchFamily="49" charset="-122"/>
              </a:rPr>
            </a:br>
            <a:r>
              <a:rPr lang="en-US" altLang="zh-CN" sz="2800" b="1" dirty="0" smtClean="0">
                <a:solidFill>
                  <a:srgbClr val="0000FF"/>
                </a:solidFill>
                <a:latin typeface="Times New Roman" panose="02020603050405020304" pitchFamily="18" charset="0"/>
                <a:ea typeface="黑体" panose="02010609060101010101" pitchFamily="49" charset="-122"/>
              </a:rPr>
              <a:t>        </a:t>
            </a:r>
            <a:r>
              <a:rPr lang="zh-CN" altLang="en-US" sz="2800" b="1" dirty="0" smtClean="0">
                <a:solidFill>
                  <a:srgbClr val="FF0000"/>
                </a:solidFill>
                <a:latin typeface="Times New Roman" panose="02020603050405020304" pitchFamily="18" charset="0"/>
                <a:ea typeface="黑体" panose="02010609060101010101" pitchFamily="49" charset="-122"/>
              </a:rPr>
              <a:t>过渡条件日渐成熟</a:t>
            </a:r>
            <a:endParaRPr lang="en-US" altLang="zh-CN" sz="2800" b="1" dirty="0">
              <a:solidFill>
                <a:srgbClr val="FF0000"/>
              </a:solidFill>
              <a:latin typeface="Times New Roman" panose="02020603050405020304" pitchFamily="18" charset="0"/>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p:nvPr/>
        </p:nvSpPr>
        <p:spPr>
          <a:xfrm>
            <a:off x="1043608" y="2204864"/>
            <a:ext cx="6985000" cy="954107"/>
          </a:xfrm>
          <a:prstGeom prst="rect">
            <a:avLst/>
          </a:prstGeom>
          <a:noFill/>
          <a:ln w="9525" cap="flat" cmpd="sng">
            <a:solidFill>
              <a:srgbClr val="FF0000"/>
            </a:solidFill>
            <a:prstDash val="solid"/>
            <a:miter/>
            <a:headEnd type="none" w="med" len="med"/>
            <a:tailEnd type="none" w="med" len="med"/>
          </a:ln>
        </p:spPr>
        <p:txBody>
          <a:bodyPr anchor="t">
            <a:spAutoFit/>
          </a:bodyPr>
          <a:lstStyle/>
          <a:p>
            <a:pPr lvl="0"/>
            <a:r>
              <a:rPr lang="en-US" altLang="zh-CN" sz="2800" b="1" dirty="0">
                <a:solidFill>
                  <a:srgbClr val="FF0000"/>
                </a:solidFill>
                <a:latin typeface="+mj-ea"/>
                <a:ea typeface="+mj-ea"/>
              </a:rPr>
              <a:t> </a:t>
            </a:r>
            <a:r>
              <a:rPr lang="en-US" altLang="zh-CN" sz="2800" b="1" dirty="0" smtClean="0">
                <a:solidFill>
                  <a:srgbClr val="FF0000"/>
                </a:solidFill>
                <a:latin typeface="+mj-ea"/>
                <a:ea typeface="+mj-ea"/>
              </a:rPr>
              <a:t>♂ 1953</a:t>
            </a:r>
            <a:r>
              <a:rPr lang="zh-CN" altLang="en-US" sz="2800" b="1" dirty="0" smtClean="0">
                <a:solidFill>
                  <a:srgbClr val="FF0000"/>
                </a:solidFill>
                <a:latin typeface="+mj-ea"/>
                <a:ea typeface="+mj-ea"/>
              </a:rPr>
              <a:t>年</a:t>
            </a:r>
            <a:r>
              <a:rPr lang="en-US" altLang="zh-CN" sz="2800" b="1" dirty="0" smtClean="0">
                <a:solidFill>
                  <a:srgbClr val="FF0000"/>
                </a:solidFill>
                <a:latin typeface="+mj-ea"/>
                <a:ea typeface="+mj-ea"/>
              </a:rPr>
              <a:t>6</a:t>
            </a:r>
            <a:r>
              <a:rPr lang="zh-CN" altLang="en-US" sz="2800" b="1" dirty="0" smtClean="0">
                <a:solidFill>
                  <a:srgbClr val="FF0000"/>
                </a:solidFill>
                <a:latin typeface="+mj-ea"/>
                <a:ea typeface="+mj-ea"/>
              </a:rPr>
              <a:t>月，在政治局会议上正式提出过渡时期的总路线和总任务。</a:t>
            </a:r>
            <a:r>
              <a:rPr lang="en-US" altLang="zh-CN" sz="2800" b="1" dirty="0" smtClean="0">
                <a:solidFill>
                  <a:srgbClr val="FF0000"/>
                </a:solidFill>
                <a:latin typeface="+mj-ea"/>
                <a:ea typeface="+mj-ea"/>
              </a:rPr>
              <a:t> </a:t>
            </a:r>
          </a:p>
        </p:txBody>
      </p:sp>
      <p:sp>
        <p:nvSpPr>
          <p:cNvPr id="3" name="Rectangle 2"/>
          <p:cNvSpPr/>
          <p:nvPr/>
        </p:nvSpPr>
        <p:spPr>
          <a:xfrm>
            <a:off x="1187624" y="3645024"/>
            <a:ext cx="6985000" cy="523220"/>
          </a:xfrm>
          <a:prstGeom prst="rect">
            <a:avLst/>
          </a:prstGeom>
          <a:noFill/>
          <a:ln w="9525" cap="flat" cmpd="sng">
            <a:solidFill>
              <a:srgbClr val="FF0000"/>
            </a:solidFill>
            <a:prstDash val="solid"/>
            <a:miter/>
            <a:headEnd type="none" w="med" len="med"/>
            <a:tailEnd type="none" w="med" len="med"/>
          </a:ln>
        </p:spPr>
        <p:txBody>
          <a:bodyPr anchor="t">
            <a:spAutoFit/>
          </a:bodyPr>
          <a:lstStyle/>
          <a:p>
            <a:pPr lvl="0"/>
            <a:r>
              <a:rPr lang="en-US" altLang="zh-CN" sz="2800" b="1" dirty="0" smtClean="0">
                <a:solidFill>
                  <a:srgbClr val="FF0000"/>
                </a:solidFill>
                <a:latin typeface="+mn-ea"/>
              </a:rPr>
              <a:t> </a:t>
            </a:r>
            <a:r>
              <a:rPr lang="en-US" altLang="zh-CN" sz="2800" b="1" dirty="0" smtClean="0">
                <a:solidFill>
                  <a:srgbClr val="FF0000"/>
                </a:solidFill>
                <a:latin typeface="+mj-ea"/>
                <a:ea typeface="+mj-ea"/>
              </a:rPr>
              <a:t>♂ 1953</a:t>
            </a:r>
            <a:r>
              <a:rPr lang="zh-CN" altLang="en-US" sz="2800" b="1" dirty="0" smtClean="0">
                <a:solidFill>
                  <a:srgbClr val="FF0000"/>
                </a:solidFill>
                <a:latin typeface="+mj-ea"/>
                <a:ea typeface="+mj-ea"/>
              </a:rPr>
              <a:t>年</a:t>
            </a:r>
            <a:r>
              <a:rPr lang="en-US" altLang="zh-CN" sz="2800" b="1" dirty="0" smtClean="0">
                <a:solidFill>
                  <a:srgbClr val="FF0000"/>
                </a:solidFill>
                <a:latin typeface="+mj-ea"/>
                <a:ea typeface="+mj-ea"/>
              </a:rPr>
              <a:t>12</a:t>
            </a:r>
            <a:r>
              <a:rPr lang="zh-CN" altLang="en-US" sz="2800" b="1" dirty="0" smtClean="0">
                <a:solidFill>
                  <a:srgbClr val="FF0000"/>
                </a:solidFill>
                <a:latin typeface="+mj-ea"/>
                <a:ea typeface="+mj-ea"/>
              </a:rPr>
              <a:t>月完整表述</a:t>
            </a:r>
            <a:endParaRPr lang="zh-CN" altLang="en-US" sz="2800" b="1" dirty="0">
              <a:solidFill>
                <a:srgbClr val="FF0000"/>
              </a:solidFill>
              <a:latin typeface="+mj-ea"/>
              <a:ea typeface="+mj-ea"/>
            </a:endParaRPr>
          </a:p>
        </p:txBody>
      </p:sp>
      <p:sp>
        <p:nvSpPr>
          <p:cNvPr id="4" name="矩形 3"/>
          <p:cNvSpPr/>
          <p:nvPr/>
        </p:nvSpPr>
        <p:spPr>
          <a:xfrm>
            <a:off x="1115616" y="620688"/>
            <a:ext cx="6696744" cy="1077218"/>
          </a:xfrm>
          <a:prstGeom prst="rect">
            <a:avLst/>
          </a:prstGeom>
          <a:solidFill>
            <a:schemeClr val="bg1"/>
          </a:solidFill>
          <a:ln>
            <a:solidFill>
              <a:schemeClr val="accent1"/>
            </a:solidFill>
          </a:ln>
        </p:spPr>
        <p:txBody>
          <a:bodyPr wrap="square">
            <a:spAutoFit/>
          </a:bodyPr>
          <a:lstStyle/>
          <a:p>
            <a:pPr lvl="0" fontAlgn="base">
              <a:spcBef>
                <a:spcPct val="0"/>
              </a:spcBef>
              <a:spcAft>
                <a:spcPct val="0"/>
              </a:spcAft>
              <a:tabLst>
                <a:tab pos="422275" algn="l"/>
              </a:tabLst>
            </a:pPr>
            <a:r>
              <a:rPr lang="zh-CN" altLang="en-US" sz="3200" b="1" dirty="0" smtClean="0">
                <a:solidFill>
                  <a:srgbClr val="0000FF"/>
                </a:solidFill>
                <a:latin typeface="隶书" pitchFamily="49" charset="-122"/>
                <a:ea typeface="隶书" pitchFamily="49" charset="-122"/>
              </a:rPr>
              <a:t>（</a:t>
            </a:r>
            <a:r>
              <a:rPr lang="en-US" altLang="zh-CN" sz="3200" b="1" dirty="0" smtClean="0">
                <a:solidFill>
                  <a:srgbClr val="0000FF"/>
                </a:solidFill>
                <a:latin typeface="隶书" pitchFamily="49" charset="-122"/>
                <a:ea typeface="隶书" pitchFamily="49" charset="-122"/>
              </a:rPr>
              <a:t>2</a:t>
            </a:r>
            <a:r>
              <a:rPr lang="zh-CN" altLang="en-US" sz="3200" b="1" dirty="0" smtClean="0">
                <a:solidFill>
                  <a:srgbClr val="0000FF"/>
                </a:solidFill>
                <a:latin typeface="隶书" pitchFamily="49" charset="-122"/>
                <a:ea typeface="隶书" pitchFamily="49" charset="-122"/>
              </a:rPr>
              <a:t>）在</a:t>
            </a:r>
            <a:r>
              <a:rPr lang="zh-CN" altLang="en-US" sz="3200" b="1" dirty="0">
                <a:solidFill>
                  <a:srgbClr val="0000FF"/>
                </a:solidFill>
                <a:latin typeface="隶书" pitchFamily="49" charset="-122"/>
                <a:ea typeface="隶书" pitchFamily="49" charset="-122"/>
              </a:rPr>
              <a:t>实践中，党逐步改变了原来设想，提出了过渡时期总路线</a:t>
            </a:r>
          </a:p>
        </p:txBody>
      </p:sp>
      <p:sp>
        <p:nvSpPr>
          <p:cNvPr id="5" name="Rectangle 2"/>
          <p:cNvSpPr/>
          <p:nvPr/>
        </p:nvSpPr>
        <p:spPr>
          <a:xfrm>
            <a:off x="1259632" y="4581128"/>
            <a:ext cx="6985000" cy="523220"/>
          </a:xfrm>
          <a:prstGeom prst="rect">
            <a:avLst/>
          </a:prstGeom>
          <a:solidFill>
            <a:schemeClr val="bg1"/>
          </a:solidFill>
          <a:ln w="9525" cap="flat" cmpd="sng">
            <a:solidFill>
              <a:schemeClr val="accent1"/>
            </a:solidFill>
            <a:prstDash val="solid"/>
            <a:miter/>
            <a:headEnd type="none" w="med" len="med"/>
            <a:tailEnd type="none" w="med" len="med"/>
          </a:ln>
        </p:spPr>
        <p:txBody>
          <a:bodyPr anchor="t">
            <a:spAutoFit/>
          </a:bodyPr>
          <a:lstStyle/>
          <a:p>
            <a:pPr lvl="0"/>
            <a:r>
              <a:rPr lang="en-US" altLang="zh-CN" sz="2800" b="1" dirty="0" smtClean="0">
                <a:solidFill>
                  <a:srgbClr val="FF0000"/>
                </a:solidFill>
                <a:latin typeface="+mn-ea"/>
              </a:rPr>
              <a:t> </a:t>
            </a:r>
            <a:r>
              <a:rPr lang="en-US" altLang="zh-CN" sz="2800" b="1" dirty="0" smtClean="0">
                <a:solidFill>
                  <a:srgbClr val="FF0000"/>
                </a:solidFill>
                <a:latin typeface="+mj-ea"/>
                <a:ea typeface="+mj-ea"/>
              </a:rPr>
              <a:t>♂ 1954</a:t>
            </a:r>
            <a:r>
              <a:rPr lang="zh-CN" altLang="en-US" sz="2800" b="1" dirty="0" smtClean="0">
                <a:solidFill>
                  <a:srgbClr val="FF0000"/>
                </a:solidFill>
                <a:latin typeface="+mj-ea"/>
                <a:ea typeface="+mj-ea"/>
              </a:rPr>
              <a:t>年写进了宪法</a:t>
            </a:r>
            <a:r>
              <a:rPr lang="en-US" altLang="zh-CN" sz="2800" b="1" dirty="0" smtClean="0">
                <a:solidFill>
                  <a:srgbClr val="FF0000"/>
                </a:solidFill>
                <a:latin typeface="+mj-ea"/>
                <a:ea typeface="+mj-ea"/>
              </a:rPr>
              <a:t>         </a:t>
            </a:r>
            <a:endParaRPr lang="zh-CN" altLang="en-US" sz="2800" b="1" dirty="0">
              <a:solidFill>
                <a:srgbClr val="FF0000"/>
              </a:solidFill>
              <a:latin typeface="+mj-ea"/>
              <a:ea typeface="+mj-ea"/>
            </a:endParaRPr>
          </a:p>
        </p:txBody>
      </p:sp>
    </p:spTree>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3"/>
          <p:cNvSpPr/>
          <p:nvPr/>
        </p:nvSpPr>
        <p:spPr>
          <a:xfrm>
            <a:off x="486813" y="1484784"/>
            <a:ext cx="7993062" cy="4585871"/>
          </a:xfrm>
          <a:prstGeom prst="rect">
            <a:avLst/>
          </a:prstGeom>
          <a:solidFill>
            <a:schemeClr val="bg1"/>
          </a:solidFill>
          <a:ln w="9525" cap="flat" cmpd="sng">
            <a:solidFill>
              <a:srgbClr val="FF0000"/>
            </a:solidFill>
            <a:prstDash val="solid"/>
            <a:miter/>
            <a:headEnd type="none" w="med" len="med"/>
            <a:tailEnd type="none" w="med" len="med"/>
          </a:ln>
        </p:spPr>
        <p:txBody>
          <a:bodyPr>
            <a:spAutoFit/>
          </a:bodyPr>
          <a:lstStyle/>
          <a:p>
            <a:pPr lvl="0" eaLnBrk="1" fontAlgn="base" hangingPunct="1"/>
            <a:r>
              <a:rPr lang="zh-CN" altLang="en-US" sz="2800" b="1" strike="noStrike" noProof="1" smtClean="0">
                <a:solidFill>
                  <a:srgbClr val="0000FF"/>
                </a:solidFill>
                <a:latin typeface="Arial" panose="020B0604020202020204" pitchFamily="34" charset="0"/>
                <a:ea typeface="黑体" panose="02010609060101010101" pitchFamily="49" charset="-122"/>
                <a:cs typeface="+mn-ea"/>
              </a:rPr>
              <a:t>        </a:t>
            </a:r>
            <a:r>
              <a:rPr lang="en-US" altLang="zh-CN" sz="2400" b="1" noProof="1">
                <a:solidFill>
                  <a:srgbClr val="0000FF"/>
                </a:solidFill>
                <a:latin typeface="隶书" pitchFamily="49" charset="-122"/>
                <a:ea typeface="隶书" pitchFamily="49" charset="-122"/>
                <a:cs typeface="+mn-ea"/>
              </a:rPr>
              <a:t>1952</a:t>
            </a:r>
            <a:r>
              <a:rPr lang="zh-CN" altLang="en-US" sz="2400" b="1" noProof="1">
                <a:solidFill>
                  <a:srgbClr val="0000FF"/>
                </a:solidFill>
                <a:latin typeface="隶书" pitchFamily="49" charset="-122"/>
                <a:ea typeface="隶书" pitchFamily="49" charset="-122"/>
                <a:cs typeface="+mn-ea"/>
              </a:rPr>
              <a:t>年</a:t>
            </a:r>
            <a:r>
              <a:rPr lang="en-US" altLang="zh-CN" sz="2400" b="1" noProof="1">
                <a:solidFill>
                  <a:srgbClr val="0000FF"/>
                </a:solidFill>
                <a:latin typeface="隶书" pitchFamily="49" charset="-122"/>
                <a:ea typeface="隶书" pitchFamily="49" charset="-122"/>
                <a:cs typeface="+mn-ea"/>
              </a:rPr>
              <a:t>9</a:t>
            </a:r>
            <a:r>
              <a:rPr lang="zh-CN" altLang="en-US" sz="2400" b="1" noProof="1">
                <a:solidFill>
                  <a:srgbClr val="0000FF"/>
                </a:solidFill>
                <a:latin typeface="隶书" pitchFamily="49" charset="-122"/>
                <a:ea typeface="隶书" pitchFamily="49" charset="-122"/>
                <a:cs typeface="+mn-ea"/>
              </a:rPr>
              <a:t>月，毛泽东在中央书记处的会议上提出“中国怎样从现在逐步过渡到社会主义去”的指导思想和大致设想。我们现在就要用</a:t>
            </a:r>
            <a:r>
              <a:rPr lang="en-US" altLang="zh-CN" sz="2400" b="1" noProof="1">
                <a:solidFill>
                  <a:srgbClr val="0000FF"/>
                </a:solidFill>
                <a:latin typeface="隶书" pitchFamily="49" charset="-122"/>
                <a:ea typeface="隶书" pitchFamily="49" charset="-122"/>
                <a:cs typeface="+mn-ea"/>
              </a:rPr>
              <a:t>10</a:t>
            </a:r>
            <a:r>
              <a:rPr lang="zh-CN" altLang="en-US" sz="2400" b="1" noProof="1">
                <a:solidFill>
                  <a:srgbClr val="0000FF"/>
                </a:solidFill>
                <a:latin typeface="隶书" pitchFamily="49" charset="-122"/>
                <a:ea typeface="隶书" pitchFamily="49" charset="-122"/>
                <a:cs typeface="+mn-ea"/>
              </a:rPr>
              <a:t>年到</a:t>
            </a:r>
            <a:r>
              <a:rPr lang="en-US" altLang="zh-CN" sz="2400" b="1" noProof="1">
                <a:solidFill>
                  <a:srgbClr val="0000FF"/>
                </a:solidFill>
                <a:latin typeface="隶书" pitchFamily="49" charset="-122"/>
                <a:ea typeface="隶书" pitchFamily="49" charset="-122"/>
                <a:cs typeface="+mn-ea"/>
              </a:rPr>
              <a:t>15</a:t>
            </a:r>
            <a:r>
              <a:rPr lang="zh-CN" altLang="en-US" sz="2400" b="1" noProof="1">
                <a:solidFill>
                  <a:srgbClr val="0000FF"/>
                </a:solidFill>
                <a:latin typeface="隶书" pitchFamily="49" charset="-122"/>
                <a:ea typeface="隶书" pitchFamily="49" charset="-122"/>
                <a:cs typeface="+mn-ea"/>
              </a:rPr>
              <a:t>年的时间完成向社会主义过渡</a:t>
            </a:r>
            <a:r>
              <a:rPr lang="zh-CN" altLang="en-US" sz="2400" b="1" noProof="1" smtClean="0">
                <a:solidFill>
                  <a:srgbClr val="0000FF"/>
                </a:solidFill>
                <a:latin typeface="隶书" pitchFamily="49" charset="-122"/>
                <a:ea typeface="隶书" pitchFamily="49" charset="-122"/>
                <a:cs typeface="+mn-ea"/>
              </a:rPr>
              <a:t>，而不是</a:t>
            </a:r>
            <a:r>
              <a:rPr lang="en-US" altLang="zh-CN" sz="2400" b="1" noProof="1">
                <a:solidFill>
                  <a:srgbClr val="0000FF"/>
                </a:solidFill>
                <a:latin typeface="隶书" pitchFamily="49" charset="-122"/>
                <a:ea typeface="隶书" pitchFamily="49" charset="-122"/>
                <a:cs typeface="+mn-ea"/>
              </a:rPr>
              <a:t>10</a:t>
            </a:r>
            <a:r>
              <a:rPr lang="zh-CN" altLang="en-US" sz="2400" b="1" noProof="1">
                <a:solidFill>
                  <a:srgbClr val="0000FF"/>
                </a:solidFill>
                <a:latin typeface="隶书" pitchFamily="49" charset="-122"/>
                <a:ea typeface="隶书" pitchFamily="49" charset="-122"/>
                <a:cs typeface="+mn-ea"/>
              </a:rPr>
              <a:t>年以后才开始过渡。</a:t>
            </a:r>
          </a:p>
          <a:p>
            <a:pPr lvl="0" eaLnBrk="1" fontAlgn="base" hangingPunct="1"/>
            <a:r>
              <a:rPr lang="zh-CN" altLang="en-US" sz="2400" b="1" noProof="1">
                <a:solidFill>
                  <a:srgbClr val="0000FF"/>
                </a:solidFill>
                <a:latin typeface="隶书" pitchFamily="49" charset="-122"/>
                <a:ea typeface="隶书" pitchFamily="49" charset="-122"/>
                <a:cs typeface="+mn-ea"/>
              </a:rPr>
              <a:t>     </a:t>
            </a:r>
            <a:r>
              <a:rPr lang="en-US" altLang="zh-CN" sz="2400" b="1" noProof="1" smtClean="0">
                <a:solidFill>
                  <a:srgbClr val="0000FF"/>
                </a:solidFill>
                <a:latin typeface="隶书" pitchFamily="49" charset="-122"/>
                <a:ea typeface="隶书" pitchFamily="49" charset="-122"/>
                <a:cs typeface="+mn-ea"/>
              </a:rPr>
              <a:t>1953</a:t>
            </a:r>
            <a:r>
              <a:rPr lang="zh-CN" altLang="en-US" sz="2400" b="1" noProof="1">
                <a:solidFill>
                  <a:srgbClr val="0000FF"/>
                </a:solidFill>
                <a:latin typeface="隶书" pitchFamily="49" charset="-122"/>
                <a:ea typeface="隶书" pitchFamily="49" charset="-122"/>
                <a:cs typeface="+mn-ea"/>
              </a:rPr>
              <a:t>年</a:t>
            </a:r>
            <a:r>
              <a:rPr lang="en-US" altLang="zh-CN" sz="2400" b="1" noProof="1">
                <a:solidFill>
                  <a:srgbClr val="0000FF"/>
                </a:solidFill>
                <a:latin typeface="隶书" pitchFamily="49" charset="-122"/>
                <a:ea typeface="隶书" pitchFamily="49" charset="-122"/>
                <a:cs typeface="+mn-ea"/>
              </a:rPr>
              <a:t>2</a:t>
            </a:r>
            <a:r>
              <a:rPr lang="zh-CN" altLang="en-US" sz="2400" b="1" noProof="1">
                <a:solidFill>
                  <a:srgbClr val="0000FF"/>
                </a:solidFill>
                <a:latin typeface="隶书" pitchFamily="49" charset="-122"/>
                <a:ea typeface="隶书" pitchFamily="49" charset="-122"/>
                <a:cs typeface="+mn-ea"/>
              </a:rPr>
              <a:t>月，毛泽东在中央政治局会议上说，“什么叫过渡时期？过渡时期的步骤是走向社会主义。我给他们用扳指头的办法解释，类似过桥，走一步算是过渡了一年，两步两年，三步三年，四步四年，五步五年，六步六年，</a:t>
            </a:r>
            <a:r>
              <a:rPr lang="en-US" altLang="zh-CN" sz="2400" b="1" noProof="1">
                <a:solidFill>
                  <a:srgbClr val="0000FF"/>
                </a:solidFill>
                <a:latin typeface="隶书" pitchFamily="49" charset="-122"/>
                <a:ea typeface="隶书" pitchFamily="49" charset="-122"/>
                <a:cs typeface="+mn-ea"/>
              </a:rPr>
              <a:t>……</a:t>
            </a:r>
            <a:r>
              <a:rPr lang="zh-CN" altLang="en-US" sz="2400" b="1" noProof="1">
                <a:solidFill>
                  <a:srgbClr val="0000FF"/>
                </a:solidFill>
                <a:latin typeface="隶书" pitchFamily="49" charset="-122"/>
                <a:ea typeface="隶书" pitchFamily="49" charset="-122"/>
                <a:cs typeface="+mn-ea"/>
              </a:rPr>
              <a:t>十到十五年走完了。我让他们把这话传到县委书记、县长。在十年到十五年或者还多一些的时间内，基本上完成国家工业化及对农业、手工业、资本主义工商业的社会主义改造。要防止急躁情绪。”        </a:t>
            </a:r>
          </a:p>
        </p:txBody>
      </p:sp>
    </p:spTree>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p:cNvSpPr>
          <p:nvPr>
            <p:ph idx="1"/>
          </p:nvPr>
        </p:nvSpPr>
        <p:spPr>
          <a:xfrm>
            <a:off x="251520" y="1124744"/>
            <a:ext cx="8604448" cy="3976088"/>
          </a:xfrm>
          <a:solidFill>
            <a:schemeClr val="bg1"/>
          </a:solidFill>
          <a:ln w="12700">
            <a:solidFill>
              <a:srgbClr val="FF3300"/>
            </a:solidFill>
            <a:miter/>
          </a:ln>
        </p:spPr>
        <p:txBody>
          <a:bodyPr wrap="square" anchor="t">
            <a:spAutoFit/>
          </a:bodyPr>
          <a:lstStyle/>
          <a:p>
            <a:pPr marL="0" indent="0">
              <a:lnSpc>
                <a:spcPct val="150000"/>
              </a:lnSpc>
              <a:spcBef>
                <a:spcPct val="50000"/>
              </a:spcBef>
              <a:buNone/>
            </a:pPr>
            <a:r>
              <a:rPr lang="en-US" altLang="zh-CN" sz="2800" dirty="0">
                <a:solidFill>
                  <a:srgbClr val="0000FF"/>
                </a:solidFill>
                <a:latin typeface="Times New Roman" panose="02020603050405020304" pitchFamily="18" charset="0"/>
                <a:ea typeface="华文新魏" panose="02010800040101010101" pitchFamily="2" charset="-122"/>
              </a:rPr>
              <a:t>        </a:t>
            </a:r>
            <a:r>
              <a:rPr lang="zh-CN" altLang="en-US" sz="2400" b="1" noProof="1">
                <a:solidFill>
                  <a:srgbClr val="0000FF"/>
                </a:solidFill>
                <a:latin typeface="隶书" pitchFamily="49" charset="-122"/>
                <a:ea typeface="隶书" pitchFamily="49" charset="-122"/>
                <a:cs typeface="+mn-ea"/>
              </a:rPr>
              <a:t>我们的新民主主义的制度是一个过渡的制度，这个社会是一个过渡的社会。这个过渡时期每时每刻都在增长社会主义成分：国家经济的发展就是增加社会主义成分；半社会主义合作社的增长也在增加社会主义成分；公私合营企业的发展也是增加社会主义成分；农业里边的互助合作的增加也是增加社会主义成分；经济集体主义已有了雏形，有了胚胎。最后走完了这个过渡阶段，就到达了社会主义社会。 </a:t>
            </a:r>
            <a:r>
              <a:rPr lang="en-US" altLang="zh-CN" sz="2400" b="1" dirty="0">
                <a:solidFill>
                  <a:srgbClr val="0000FF"/>
                </a:solidFill>
                <a:latin typeface="隶书" pitchFamily="49" charset="-122"/>
                <a:ea typeface="隶书" pitchFamily="49" charset="-122"/>
                <a:cs typeface="+mn-ea"/>
              </a:rPr>
              <a:t>------</a:t>
            </a:r>
            <a:r>
              <a:rPr lang="zh-CN" altLang="en-US" sz="2400" b="1" dirty="0">
                <a:solidFill>
                  <a:srgbClr val="0000FF"/>
                </a:solidFill>
                <a:latin typeface="隶书" pitchFamily="49" charset="-122"/>
                <a:ea typeface="隶书" pitchFamily="49" charset="-122"/>
                <a:cs typeface="+mn-ea"/>
              </a:rPr>
              <a:t>周恩来</a:t>
            </a:r>
          </a:p>
        </p:txBody>
      </p:sp>
    </p:spTree>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p:cNvSpPr>
            <a:spLocks noGrp="1"/>
          </p:cNvSpPr>
          <p:nvPr>
            <p:ph type="title"/>
          </p:nvPr>
        </p:nvSpPr>
        <p:spPr>
          <a:xfrm>
            <a:off x="1258888" y="4076700"/>
            <a:ext cx="6781800" cy="1643527"/>
          </a:xfrm>
          <a:solidFill>
            <a:schemeClr val="bg1"/>
          </a:solidFill>
          <a:ln w="12700">
            <a:solidFill>
              <a:srgbClr val="FF3300"/>
            </a:solidFill>
            <a:miter/>
          </a:ln>
        </p:spPr>
        <p:txBody>
          <a:bodyPr anchor="t">
            <a:spAutoFit/>
          </a:bodyPr>
          <a:lstStyle/>
          <a:p>
            <a:pPr algn="l">
              <a:lnSpc>
                <a:spcPct val="105000"/>
              </a:lnSpc>
              <a:spcBef>
                <a:spcPct val="50000"/>
              </a:spcBef>
            </a:pPr>
            <a:r>
              <a:rPr lang="zh-CN" altLang="en-US" sz="3600" dirty="0">
                <a:solidFill>
                  <a:srgbClr val="0000FF"/>
                </a:solidFill>
                <a:latin typeface="Times New Roman" panose="02020603050405020304" pitchFamily="18" charset="0"/>
                <a:ea typeface="华文新魏" panose="02010800040101010101" pitchFamily="2" charset="-122"/>
              </a:rPr>
              <a:t>　</a:t>
            </a:r>
            <a:r>
              <a:rPr lang="en-US" altLang="zh-CN" sz="2000" b="1" dirty="0">
                <a:solidFill>
                  <a:srgbClr val="0000FF"/>
                </a:solidFill>
                <a:latin typeface="Times New Roman" panose="02020603050405020304" pitchFamily="18" charset="0"/>
                <a:ea typeface="黑体" panose="02010609060101010101" pitchFamily="49" charset="-122"/>
              </a:rPr>
              <a:t>1954</a:t>
            </a:r>
            <a:r>
              <a:rPr lang="zh-CN" altLang="en-US" sz="2000" b="1" dirty="0">
                <a:solidFill>
                  <a:srgbClr val="0000FF"/>
                </a:solidFill>
                <a:latin typeface="Times New Roman" panose="02020603050405020304" pitchFamily="18" charset="0"/>
                <a:ea typeface="黑体" panose="02010609060101010101" pitchFamily="49" charset="-122"/>
              </a:rPr>
              <a:t>年</a:t>
            </a:r>
            <a:r>
              <a:rPr lang="en-US" altLang="zh-CN" sz="2000" b="1" dirty="0">
                <a:solidFill>
                  <a:srgbClr val="0000FF"/>
                </a:solidFill>
                <a:latin typeface="Times New Roman" panose="02020603050405020304" pitchFamily="18" charset="0"/>
                <a:ea typeface="黑体" panose="02010609060101010101" pitchFamily="49" charset="-122"/>
              </a:rPr>
              <a:t>9</a:t>
            </a:r>
            <a:r>
              <a:rPr lang="zh-CN" altLang="en-US" sz="2000" b="1" dirty="0">
                <a:solidFill>
                  <a:srgbClr val="0000FF"/>
                </a:solidFill>
                <a:latin typeface="Times New Roman" panose="02020603050405020304" pitchFamily="18" charset="0"/>
                <a:ea typeface="黑体" panose="02010609060101010101" pitchFamily="49" charset="-122"/>
              </a:rPr>
              <a:t>月，中华人民共和国第一届全国人民代表大会第一次会议在北京举行。这次大会通过了中华人民共和国的第一部宪法，它对我国社会主义的国家制度和社会制度作了明确的</a:t>
            </a:r>
            <a:r>
              <a:rPr lang="zh-CN" altLang="en-US" sz="2000" b="1" dirty="0" smtClean="0">
                <a:solidFill>
                  <a:srgbClr val="0000FF"/>
                </a:solidFill>
                <a:latin typeface="Times New Roman" panose="02020603050405020304" pitchFamily="18" charset="0"/>
                <a:ea typeface="黑体" panose="02010609060101010101" pitchFamily="49" charset="-122"/>
              </a:rPr>
              <a:t>规定</a:t>
            </a:r>
            <a:endParaRPr lang="zh-CN" altLang="en-US" sz="3600" dirty="0">
              <a:solidFill>
                <a:srgbClr val="0000FF"/>
              </a:solidFill>
              <a:latin typeface="Times New Roman" panose="02020603050405020304" pitchFamily="18" charset="0"/>
              <a:ea typeface="华文新魏" panose="02010800040101010101" pitchFamily="2" charset="-122"/>
            </a:endParaRPr>
          </a:p>
        </p:txBody>
      </p:sp>
      <p:pic>
        <p:nvPicPr>
          <p:cNvPr id="31746" name="Picture 3" descr="228338"/>
          <p:cNvPicPr>
            <a:picLocks noChangeAspect="1"/>
          </p:cNvPicPr>
          <p:nvPr/>
        </p:nvPicPr>
        <p:blipFill>
          <a:blip r:embed="rId2" cstate="print"/>
          <a:stretch>
            <a:fillRect/>
          </a:stretch>
        </p:blipFill>
        <p:spPr>
          <a:xfrm>
            <a:off x="1447800" y="762000"/>
            <a:ext cx="6400800" cy="32004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p:cNvSpPr>
            <a:spLocks noGrp="1"/>
          </p:cNvSpPr>
          <p:nvPr>
            <p:ph type="title"/>
          </p:nvPr>
        </p:nvSpPr>
        <p:spPr>
          <a:xfrm>
            <a:off x="1259632" y="3068960"/>
            <a:ext cx="7056784" cy="2677656"/>
          </a:xfrm>
          <a:solidFill>
            <a:schemeClr val="bg1"/>
          </a:solidFill>
          <a:ln w="12700">
            <a:solidFill>
              <a:srgbClr val="FF3300"/>
            </a:solidFill>
            <a:miter/>
          </a:ln>
        </p:spPr>
        <p:txBody>
          <a:bodyPr wrap="square" anchor="t">
            <a:spAutoFit/>
          </a:bodyPr>
          <a:lstStyle/>
          <a:p>
            <a:pPr algn="l">
              <a:lnSpc>
                <a:spcPct val="105000"/>
              </a:lnSpc>
              <a:spcBef>
                <a:spcPct val="50000"/>
              </a:spcBef>
            </a:pPr>
            <a:r>
              <a:rPr lang="zh-CN" altLang="en-US" sz="3200" b="1" dirty="0" smtClean="0">
                <a:solidFill>
                  <a:srgbClr val="FF0000"/>
                </a:solidFill>
                <a:latin typeface="隶书" pitchFamily="49" charset="-122"/>
                <a:ea typeface="隶书" pitchFamily="49" charset="-122"/>
              </a:rPr>
              <a:t>    党</a:t>
            </a:r>
            <a:r>
              <a:rPr lang="zh-CN" altLang="en-US" sz="3200" b="1" dirty="0">
                <a:solidFill>
                  <a:srgbClr val="FF0000"/>
                </a:solidFill>
                <a:latin typeface="隶书" pitchFamily="49" charset="-122"/>
                <a:ea typeface="隶书" pitchFamily="49" charset="-122"/>
              </a:rPr>
              <a:t>在这个过渡时期的总路线和总任务，是要在一个相当长的时期内，逐步实现国家的社会主义工业化，并逐步实现国家对农业、对手工业和对资本主义工商业的社会主义改造。</a:t>
            </a:r>
          </a:p>
        </p:txBody>
      </p:sp>
      <p:sp>
        <p:nvSpPr>
          <p:cNvPr id="2" name="矩形 1"/>
          <p:cNvSpPr/>
          <p:nvPr/>
        </p:nvSpPr>
        <p:spPr>
          <a:xfrm>
            <a:off x="1331640" y="1772816"/>
            <a:ext cx="6840760" cy="1077218"/>
          </a:xfrm>
          <a:prstGeom prst="rect">
            <a:avLst/>
          </a:prstGeom>
          <a:solidFill>
            <a:schemeClr val="bg2"/>
          </a:solidFill>
          <a:ln>
            <a:solidFill>
              <a:schemeClr val="accent1"/>
            </a:solidFill>
          </a:ln>
        </p:spPr>
        <p:txBody>
          <a:bodyPr wrap="square">
            <a:spAutoFit/>
          </a:bodyPr>
          <a:lstStyle/>
          <a:p>
            <a:r>
              <a:rPr lang="zh-CN" altLang="en-US" sz="3200" b="1" dirty="0">
                <a:solidFill>
                  <a:srgbClr val="0000FF"/>
                </a:solidFill>
                <a:latin typeface="隶书" pitchFamily="49" charset="-122"/>
                <a:ea typeface="隶书" pitchFamily="49" charset="-122"/>
                <a:cs typeface="+mj-cs"/>
              </a:rPr>
              <a:t>从中华人民共和国成立，到社会主义改造基本完成，这是一个</a:t>
            </a:r>
            <a:r>
              <a:rPr lang="zh-CN" altLang="en-US" sz="3200" b="1" dirty="0">
                <a:solidFill>
                  <a:srgbClr val="FF0000"/>
                </a:solidFill>
                <a:latin typeface="隶书" pitchFamily="49" charset="-122"/>
                <a:ea typeface="隶书" pitchFamily="49" charset="-122"/>
                <a:cs typeface="+mj-cs"/>
              </a:rPr>
              <a:t>过渡时期</a:t>
            </a:r>
          </a:p>
        </p:txBody>
      </p:sp>
      <p:sp>
        <p:nvSpPr>
          <p:cNvPr id="4" name="矩形 3"/>
          <p:cNvSpPr/>
          <p:nvPr/>
        </p:nvSpPr>
        <p:spPr>
          <a:xfrm>
            <a:off x="683568" y="332656"/>
            <a:ext cx="6480720" cy="584775"/>
          </a:xfrm>
          <a:prstGeom prst="rect">
            <a:avLst/>
          </a:prstGeom>
          <a:solidFill>
            <a:schemeClr val="bg2"/>
          </a:solidFill>
          <a:ln>
            <a:solidFill>
              <a:srgbClr val="FF0000"/>
            </a:solidFill>
          </a:ln>
        </p:spPr>
        <p:txBody>
          <a:bodyPr wrap="square">
            <a:spAutoFit/>
          </a:bodyPr>
          <a:lstStyle/>
          <a:p>
            <a:r>
              <a:rPr lang="en-US" altLang="zh-CN" sz="3200" b="1" noProof="1" smtClean="0">
                <a:solidFill>
                  <a:srgbClr val="FF0000"/>
                </a:solidFill>
                <a:latin typeface="黑体" pitchFamily="49" charset="-122"/>
                <a:ea typeface="黑体" pitchFamily="49" charset="-122"/>
              </a:rPr>
              <a:t>2</a:t>
            </a:r>
            <a:r>
              <a:rPr lang="zh-CN" altLang="en-US" sz="3200" b="1" noProof="1" smtClean="0">
                <a:solidFill>
                  <a:srgbClr val="FF0000"/>
                </a:solidFill>
                <a:latin typeface="黑体" pitchFamily="49" charset="-122"/>
                <a:ea typeface="黑体" pitchFamily="49" charset="-122"/>
              </a:rPr>
              <a:t>、过渡时期总路线的主要内容</a:t>
            </a:r>
            <a:endParaRPr lang="zh-CN" altLang="en-US" sz="3200" dirty="0">
              <a:solidFill>
                <a:srgbClr val="FF0000"/>
              </a:solidFill>
              <a:latin typeface="黑体" pitchFamily="49" charset="-122"/>
              <a:ea typeface="黑体" pitchFamily="49" charset="-122"/>
            </a:endParaRPr>
          </a:p>
        </p:txBody>
      </p:sp>
    </p:spTree>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p:cNvSpPr>
            <a:spLocks noGrp="1"/>
          </p:cNvSpPr>
          <p:nvPr>
            <p:ph type="title"/>
          </p:nvPr>
        </p:nvSpPr>
        <p:spPr>
          <a:xfrm>
            <a:off x="1219200" y="5486400"/>
            <a:ext cx="6400800" cy="685800"/>
          </a:xfrm>
          <a:solidFill>
            <a:srgbClr val="FFFFFF"/>
          </a:solidFill>
          <a:ln>
            <a:solidFill>
              <a:srgbClr val="000000"/>
            </a:solidFill>
            <a:miter/>
          </a:ln>
        </p:spPr>
        <p:txBody>
          <a:bodyPr anchor="t"/>
          <a:lstStyle/>
          <a:p>
            <a:pPr eaLnBrk="1" hangingPunct="1"/>
            <a:r>
              <a:rPr lang="zh-CN" altLang="en-US" sz="2800" b="1" dirty="0">
                <a:ea typeface="楷体_GB2312" pitchFamily="49" charset="-122"/>
              </a:rPr>
              <a:t>毛泽东修改过的文件</a:t>
            </a:r>
          </a:p>
        </p:txBody>
      </p:sp>
      <p:grpSp>
        <p:nvGrpSpPr>
          <p:cNvPr id="2" name="Group 3"/>
          <p:cNvGrpSpPr/>
          <p:nvPr/>
        </p:nvGrpSpPr>
        <p:grpSpPr>
          <a:xfrm>
            <a:off x="1219200" y="609600"/>
            <a:ext cx="6705600" cy="4648200"/>
            <a:chOff x="960" y="1200"/>
            <a:chExt cx="2640" cy="2688"/>
          </a:xfrm>
        </p:grpSpPr>
        <p:sp>
          <p:nvSpPr>
            <p:cNvPr id="26628" name="Rectangle 4"/>
            <p:cNvSpPr>
              <a:spLocks noChangeArrowheads="1"/>
            </p:cNvSpPr>
            <p:nvPr/>
          </p:nvSpPr>
          <p:spPr bwMode="auto">
            <a:xfrm>
              <a:off x="960" y="1200"/>
              <a:ext cx="2640" cy="2688"/>
            </a:xfrm>
            <a:prstGeom prst="rect">
              <a:avLst/>
            </a:prstGeom>
            <a:solidFill>
              <a:srgbClr val="FFFFFF"/>
            </a:solidFill>
            <a:ln w="9525">
              <a:noFill/>
              <a:miter lim="800000"/>
            </a:ln>
            <a:effectLst>
              <a:outerShdw dist="71842" dir="2700000" algn="ctr" rotWithShape="0">
                <a:schemeClr val="tx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pic>
          <p:nvPicPr>
            <p:cNvPr id="33796" name="Picture 5" descr="两次修改总路线学习提纲2"/>
            <p:cNvPicPr>
              <a:picLocks noChangeAspect="1"/>
            </p:cNvPicPr>
            <p:nvPr/>
          </p:nvPicPr>
          <p:blipFill>
            <a:blip r:embed="rId2" cstate="print"/>
            <a:stretch>
              <a:fillRect/>
            </a:stretch>
          </p:blipFill>
          <p:spPr>
            <a:xfrm>
              <a:off x="1008" y="1248"/>
              <a:ext cx="2544" cy="2592"/>
            </a:xfrm>
            <a:prstGeom prst="rect">
              <a:avLst/>
            </a:prstGeom>
            <a:noFill/>
            <a:ln w="9525">
              <a:noFill/>
            </a:ln>
          </p:spPr>
        </p:pic>
      </p:grpSp>
    </p:spTree>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p:nvPr/>
        </p:nvSpPr>
        <p:spPr>
          <a:xfrm>
            <a:off x="1187624" y="3429000"/>
            <a:ext cx="5688632" cy="523220"/>
          </a:xfrm>
          <a:prstGeom prst="rect">
            <a:avLst/>
          </a:prstGeom>
          <a:solidFill>
            <a:schemeClr val="bg1"/>
          </a:solidFill>
          <a:ln w="9525" cap="flat" cmpd="sng">
            <a:solidFill>
              <a:srgbClr val="FF0000"/>
            </a:solidFill>
            <a:prstDash val="solid"/>
            <a:miter/>
            <a:headEnd type="none" w="med" len="med"/>
            <a:tailEnd type="none" w="med" len="med"/>
          </a:ln>
        </p:spPr>
        <p:txBody>
          <a:bodyPr wrap="square" anchor="t">
            <a:spAutoFit/>
          </a:bodyPr>
          <a:lstStyle/>
          <a:p>
            <a:pPr lvl="0"/>
            <a:r>
              <a:rPr lang="zh-CN" altLang="en-US" sz="2800" b="1" dirty="0" smtClean="0">
                <a:solidFill>
                  <a:srgbClr val="FF0000"/>
                </a:solidFill>
                <a:latin typeface="Arial" panose="020B0604020202020204" pitchFamily="34" charset="0"/>
                <a:ea typeface="黑体" panose="02010609060101010101" pitchFamily="49" charset="-122"/>
              </a:rPr>
              <a:t>总任务</a:t>
            </a:r>
            <a:r>
              <a:rPr lang="en-US" altLang="zh-CN" sz="2800" b="1" dirty="0" smtClean="0">
                <a:solidFill>
                  <a:srgbClr val="FF0000"/>
                </a:solidFill>
                <a:latin typeface="Arial" panose="020B0604020202020204" pitchFamily="34" charset="0"/>
                <a:ea typeface="黑体" panose="02010609060101010101" pitchFamily="49" charset="-122"/>
              </a:rPr>
              <a:t>:</a:t>
            </a:r>
            <a:r>
              <a:rPr lang="zh-CN" altLang="en-US" sz="2800" b="1" dirty="0" smtClean="0">
                <a:solidFill>
                  <a:srgbClr val="0000FF"/>
                </a:solidFill>
                <a:latin typeface="Arial" panose="020B0604020202020204" pitchFamily="34" charset="0"/>
                <a:ea typeface="黑体" panose="02010609060101010101" pitchFamily="49" charset="-122"/>
              </a:rPr>
              <a:t>实现工业化</a:t>
            </a:r>
            <a:r>
              <a:rPr lang="zh-CN" altLang="en-US" sz="2800" b="1" dirty="0">
                <a:solidFill>
                  <a:srgbClr val="0000FF"/>
                </a:solidFill>
                <a:latin typeface="Arial" panose="020B0604020202020204" pitchFamily="34" charset="0"/>
                <a:ea typeface="黑体" panose="02010609060101010101" pitchFamily="49" charset="-122"/>
              </a:rPr>
              <a:t>和</a:t>
            </a:r>
            <a:r>
              <a:rPr lang="zh-CN" altLang="en-US" sz="2800" b="1" dirty="0" smtClean="0">
                <a:solidFill>
                  <a:srgbClr val="0000FF"/>
                </a:solidFill>
                <a:latin typeface="Arial" panose="020B0604020202020204" pitchFamily="34" charset="0"/>
                <a:ea typeface="黑体" panose="02010609060101010101" pitchFamily="49" charset="-122"/>
              </a:rPr>
              <a:t>社会主义改造</a:t>
            </a:r>
            <a:endParaRPr lang="zh-CN" altLang="en-US" sz="2800" b="1" dirty="0">
              <a:solidFill>
                <a:srgbClr val="0000FF"/>
              </a:solidFill>
              <a:latin typeface="Arial" panose="020B0604020202020204" pitchFamily="34" charset="0"/>
              <a:ea typeface="黑体" panose="02010609060101010101" pitchFamily="49" charset="-122"/>
            </a:endParaRPr>
          </a:p>
        </p:txBody>
      </p:sp>
      <p:sp>
        <p:nvSpPr>
          <p:cNvPr id="3" name="矩形 2"/>
          <p:cNvSpPr/>
          <p:nvPr/>
        </p:nvSpPr>
        <p:spPr>
          <a:xfrm>
            <a:off x="1115616" y="764704"/>
            <a:ext cx="6364243" cy="584775"/>
          </a:xfrm>
          <a:prstGeom prst="rect">
            <a:avLst/>
          </a:prstGeom>
          <a:ln>
            <a:solidFill>
              <a:schemeClr val="accent1"/>
            </a:solidFill>
          </a:ln>
        </p:spPr>
        <p:txBody>
          <a:bodyPr wrap="none">
            <a:spAutoFit/>
          </a:bodyPr>
          <a:lstStyle/>
          <a:p>
            <a:r>
              <a:rPr lang="zh-CN" altLang="en-US" sz="3200" b="1" dirty="0" smtClean="0">
                <a:solidFill>
                  <a:srgbClr val="FF0000"/>
                </a:solidFill>
                <a:latin typeface="Arial" panose="020B0604020202020204" pitchFamily="34" charset="0"/>
                <a:ea typeface="黑体" panose="02010609060101010101" pitchFamily="49" charset="-122"/>
              </a:rPr>
              <a:t>过渡时期的起点、时限和总任务。</a:t>
            </a:r>
            <a:endParaRPr lang="zh-CN" altLang="en-US" sz="3200" dirty="0">
              <a:solidFill>
                <a:srgbClr val="FF0000"/>
              </a:solidFill>
            </a:endParaRPr>
          </a:p>
        </p:txBody>
      </p:sp>
      <p:sp>
        <p:nvSpPr>
          <p:cNvPr id="4" name="Rectangle 2"/>
          <p:cNvSpPr/>
          <p:nvPr/>
        </p:nvSpPr>
        <p:spPr>
          <a:xfrm>
            <a:off x="1187624" y="2564904"/>
            <a:ext cx="5904656" cy="523220"/>
          </a:xfrm>
          <a:prstGeom prst="rect">
            <a:avLst/>
          </a:prstGeom>
          <a:solidFill>
            <a:schemeClr val="bg1"/>
          </a:solidFill>
          <a:ln w="9525" cap="flat" cmpd="sng">
            <a:solidFill>
              <a:srgbClr val="FF0000"/>
            </a:solidFill>
            <a:prstDash val="solid"/>
            <a:miter/>
            <a:headEnd type="none" w="med" len="med"/>
            <a:tailEnd type="none" w="med" len="med"/>
          </a:ln>
        </p:spPr>
        <p:txBody>
          <a:bodyPr wrap="square" anchor="t">
            <a:spAutoFit/>
          </a:bodyPr>
          <a:lstStyle/>
          <a:p>
            <a:pPr lvl="0"/>
            <a:r>
              <a:rPr lang="en-US" altLang="zh-CN" sz="2800" b="1" dirty="0" smtClean="0">
                <a:solidFill>
                  <a:srgbClr val="0000FF"/>
                </a:solidFill>
                <a:latin typeface="Arial" panose="020B0604020202020204" pitchFamily="34" charset="0"/>
                <a:ea typeface="黑体" panose="02010609060101010101" pitchFamily="49" charset="-122"/>
              </a:rPr>
              <a:t> </a:t>
            </a:r>
            <a:r>
              <a:rPr lang="zh-CN" altLang="en-US" sz="2800" b="1" dirty="0">
                <a:solidFill>
                  <a:srgbClr val="FF0000"/>
                </a:solidFill>
                <a:latin typeface="Arial" panose="020B0604020202020204" pitchFamily="34" charset="0"/>
                <a:ea typeface="黑体" panose="02010609060101010101" pitchFamily="49" charset="-122"/>
              </a:rPr>
              <a:t>时限</a:t>
            </a:r>
            <a:r>
              <a:rPr lang="en-US" altLang="zh-CN" sz="2800" b="1" dirty="0">
                <a:solidFill>
                  <a:srgbClr val="FF0000"/>
                </a:solidFill>
                <a:latin typeface="Arial" panose="020B0604020202020204" pitchFamily="34" charset="0"/>
                <a:ea typeface="黑体" panose="02010609060101010101" pitchFamily="49" charset="-122"/>
              </a:rPr>
              <a:t>:</a:t>
            </a:r>
            <a:r>
              <a:rPr lang="zh-CN" altLang="en-US" sz="2800" b="1" dirty="0">
                <a:solidFill>
                  <a:srgbClr val="0000FF"/>
                </a:solidFill>
                <a:latin typeface="Arial" panose="020B0604020202020204" pitchFamily="34" charset="0"/>
                <a:ea typeface="黑体" panose="02010609060101010101" pitchFamily="49" charset="-122"/>
              </a:rPr>
              <a:t>十年到十五年或者更多的</a:t>
            </a:r>
            <a:r>
              <a:rPr lang="zh-CN" altLang="en-US" sz="2800" b="1" dirty="0" smtClean="0">
                <a:solidFill>
                  <a:srgbClr val="0000FF"/>
                </a:solidFill>
                <a:latin typeface="Arial" panose="020B0604020202020204" pitchFamily="34" charset="0"/>
                <a:ea typeface="黑体" panose="02010609060101010101" pitchFamily="49" charset="-122"/>
              </a:rPr>
              <a:t>时间</a:t>
            </a:r>
            <a:endParaRPr lang="zh-CN" altLang="en-US" sz="2800" b="1" dirty="0">
              <a:solidFill>
                <a:srgbClr val="0000FF"/>
              </a:solidFill>
              <a:latin typeface="Arial" panose="020B0604020202020204" pitchFamily="34" charset="0"/>
              <a:ea typeface="黑体" panose="02010609060101010101" pitchFamily="49" charset="-122"/>
            </a:endParaRPr>
          </a:p>
        </p:txBody>
      </p:sp>
      <p:sp>
        <p:nvSpPr>
          <p:cNvPr id="5" name="Rectangle 2"/>
          <p:cNvSpPr/>
          <p:nvPr/>
        </p:nvSpPr>
        <p:spPr>
          <a:xfrm>
            <a:off x="1187624" y="1916832"/>
            <a:ext cx="4608512" cy="523220"/>
          </a:xfrm>
          <a:prstGeom prst="rect">
            <a:avLst/>
          </a:prstGeom>
          <a:solidFill>
            <a:schemeClr val="bg1"/>
          </a:solidFill>
          <a:ln w="9525" cap="flat" cmpd="sng">
            <a:solidFill>
              <a:srgbClr val="FF0000"/>
            </a:solidFill>
            <a:prstDash val="solid"/>
            <a:miter/>
            <a:headEnd type="none" w="med" len="med"/>
            <a:tailEnd type="none" w="med" len="med"/>
          </a:ln>
        </p:spPr>
        <p:txBody>
          <a:bodyPr wrap="square" anchor="t">
            <a:spAutoFit/>
          </a:bodyPr>
          <a:lstStyle/>
          <a:p>
            <a:pPr lvl="0"/>
            <a:r>
              <a:rPr lang="zh-CN" altLang="en-US" sz="2800" b="1" dirty="0" smtClean="0">
                <a:solidFill>
                  <a:srgbClr val="FF0000"/>
                </a:solidFill>
                <a:latin typeface="Arial" panose="020B0604020202020204" pitchFamily="34" charset="0"/>
                <a:ea typeface="黑体" panose="02010609060101010101" pitchFamily="49" charset="-122"/>
              </a:rPr>
              <a:t>起点</a:t>
            </a:r>
            <a:r>
              <a:rPr lang="zh-CN" altLang="en-US" sz="2800" b="1" dirty="0">
                <a:solidFill>
                  <a:srgbClr val="FF0000"/>
                </a:solidFill>
                <a:latin typeface="Arial" panose="020B0604020202020204" pitchFamily="34" charset="0"/>
                <a:ea typeface="黑体" panose="02010609060101010101" pitchFamily="49" charset="-122"/>
              </a:rPr>
              <a:t>：</a:t>
            </a:r>
            <a:r>
              <a:rPr lang="zh-CN" altLang="en-US" sz="2800" b="1" dirty="0">
                <a:solidFill>
                  <a:srgbClr val="0000FF"/>
                </a:solidFill>
                <a:latin typeface="Arial" panose="020B0604020202020204" pitchFamily="34" charset="0"/>
                <a:ea typeface="黑体" panose="02010609060101010101" pitchFamily="49" charset="-122"/>
              </a:rPr>
              <a:t>中华人民共和国</a:t>
            </a:r>
            <a:r>
              <a:rPr lang="zh-CN" altLang="en-US" sz="2800" b="1" dirty="0" smtClean="0">
                <a:solidFill>
                  <a:srgbClr val="0000FF"/>
                </a:solidFill>
                <a:latin typeface="Arial" panose="020B0604020202020204" pitchFamily="34" charset="0"/>
                <a:ea typeface="黑体" panose="02010609060101010101" pitchFamily="49" charset="-122"/>
              </a:rPr>
              <a:t>成立</a:t>
            </a:r>
            <a:endParaRPr lang="en-US" altLang="zh-CN" sz="2800" b="1" dirty="0">
              <a:solidFill>
                <a:srgbClr val="0000FF"/>
              </a:solidFill>
              <a:latin typeface="Arial" panose="020B0604020202020204" pitchFamily="34" charset="0"/>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圆角矩形 3"/>
          <p:cNvSpPr/>
          <p:nvPr/>
        </p:nvSpPr>
        <p:spPr>
          <a:xfrm>
            <a:off x="1187624" y="2204864"/>
            <a:ext cx="1080120" cy="1872208"/>
          </a:xfrm>
          <a:prstGeom prst="round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dirty="0" smtClean="0">
                <a:solidFill>
                  <a:srgbClr val="FF0000"/>
                </a:solidFill>
              </a:rPr>
              <a:t>过渡时期总路线</a:t>
            </a:r>
            <a:endParaRPr lang="zh-CN" altLang="en-US" sz="2800" dirty="0">
              <a:solidFill>
                <a:srgbClr val="FF0000"/>
              </a:solidFill>
            </a:endParaRPr>
          </a:p>
        </p:txBody>
      </p:sp>
      <p:sp>
        <p:nvSpPr>
          <p:cNvPr id="5" name="矩形 4"/>
          <p:cNvSpPr/>
          <p:nvPr/>
        </p:nvSpPr>
        <p:spPr>
          <a:xfrm>
            <a:off x="4211960" y="1736812"/>
            <a:ext cx="1224136" cy="504056"/>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rgbClr val="FF0000"/>
                </a:solidFill>
              </a:rPr>
              <a:t>两翼</a:t>
            </a:r>
            <a:endParaRPr lang="zh-CN" altLang="en-US" dirty="0">
              <a:solidFill>
                <a:srgbClr val="FF0000"/>
              </a:solidFill>
            </a:endParaRPr>
          </a:p>
        </p:txBody>
      </p:sp>
      <p:sp>
        <p:nvSpPr>
          <p:cNvPr id="6" name="矩形 5"/>
          <p:cNvSpPr/>
          <p:nvPr/>
        </p:nvSpPr>
        <p:spPr>
          <a:xfrm>
            <a:off x="2843808" y="2852936"/>
            <a:ext cx="1224136" cy="504056"/>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rgbClr val="FF0000"/>
                </a:solidFill>
              </a:rPr>
              <a:t>一体 （主体）</a:t>
            </a:r>
            <a:endParaRPr lang="zh-CN" altLang="en-US" dirty="0">
              <a:solidFill>
                <a:srgbClr val="FF0000"/>
              </a:solidFill>
            </a:endParaRPr>
          </a:p>
        </p:txBody>
      </p:sp>
      <p:sp>
        <p:nvSpPr>
          <p:cNvPr id="7" name="矩形 6"/>
          <p:cNvSpPr/>
          <p:nvPr/>
        </p:nvSpPr>
        <p:spPr>
          <a:xfrm>
            <a:off x="4211960" y="4329100"/>
            <a:ext cx="1224136" cy="504056"/>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rgbClr val="FF0000"/>
                </a:solidFill>
              </a:rPr>
              <a:t>两翼</a:t>
            </a:r>
            <a:endParaRPr lang="zh-CN" altLang="en-US" dirty="0">
              <a:solidFill>
                <a:srgbClr val="FF0000"/>
              </a:solidFill>
            </a:endParaRPr>
          </a:p>
        </p:txBody>
      </p:sp>
      <p:sp>
        <p:nvSpPr>
          <p:cNvPr id="8" name="右箭头 7"/>
          <p:cNvSpPr/>
          <p:nvPr/>
        </p:nvSpPr>
        <p:spPr>
          <a:xfrm>
            <a:off x="5652120" y="1880929"/>
            <a:ext cx="720080" cy="14401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右箭头 9"/>
          <p:cNvSpPr/>
          <p:nvPr/>
        </p:nvSpPr>
        <p:spPr>
          <a:xfrm>
            <a:off x="4211960" y="2996952"/>
            <a:ext cx="1872208" cy="21602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右箭头 10"/>
          <p:cNvSpPr/>
          <p:nvPr/>
        </p:nvSpPr>
        <p:spPr>
          <a:xfrm>
            <a:off x="5652120" y="4581128"/>
            <a:ext cx="720080" cy="14401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6372200" y="1664804"/>
            <a:ext cx="2483768" cy="504056"/>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rgbClr val="FF0000"/>
                </a:solidFill>
              </a:rPr>
              <a:t>个体农业、手工业的社会主义改造</a:t>
            </a:r>
            <a:endParaRPr lang="zh-CN" altLang="en-US" dirty="0">
              <a:solidFill>
                <a:srgbClr val="FF0000"/>
              </a:solidFill>
            </a:endParaRPr>
          </a:p>
        </p:txBody>
      </p:sp>
      <p:sp>
        <p:nvSpPr>
          <p:cNvPr id="13" name="矩形 12"/>
          <p:cNvSpPr/>
          <p:nvPr/>
        </p:nvSpPr>
        <p:spPr>
          <a:xfrm>
            <a:off x="6228184" y="2852936"/>
            <a:ext cx="2555776" cy="504056"/>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rgbClr val="FF0000"/>
                </a:solidFill>
              </a:rPr>
              <a:t>国家的社会主义工业化</a:t>
            </a:r>
            <a:endParaRPr lang="zh-CN" altLang="en-US" dirty="0">
              <a:solidFill>
                <a:srgbClr val="FF0000"/>
              </a:solidFill>
            </a:endParaRPr>
          </a:p>
        </p:txBody>
      </p:sp>
      <p:sp>
        <p:nvSpPr>
          <p:cNvPr id="14" name="矩形 13"/>
          <p:cNvSpPr/>
          <p:nvPr/>
        </p:nvSpPr>
        <p:spPr>
          <a:xfrm>
            <a:off x="6444208" y="4437112"/>
            <a:ext cx="2376264" cy="504056"/>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rgbClr val="FF0000"/>
                </a:solidFill>
              </a:rPr>
              <a:t>资本主义工商业的社会主义改造</a:t>
            </a:r>
            <a:endParaRPr lang="zh-CN" altLang="en-US" dirty="0">
              <a:solidFill>
                <a:srgbClr val="FF0000"/>
              </a:solidFill>
            </a:endParaRPr>
          </a:p>
        </p:txBody>
      </p:sp>
      <p:sp>
        <p:nvSpPr>
          <p:cNvPr id="15" name="左大括号 14"/>
          <p:cNvSpPr/>
          <p:nvPr/>
        </p:nvSpPr>
        <p:spPr>
          <a:xfrm>
            <a:off x="2339752" y="1412776"/>
            <a:ext cx="432048" cy="3672408"/>
          </a:xfrm>
          <a:prstGeom prst="leftBrace">
            <a:avLst/>
          </a:prstGeom>
          <a:solidFill>
            <a:srgbClr val="FF0000"/>
          </a:solidFill>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6" name="Rectangle 27"/>
          <p:cNvSpPr/>
          <p:nvPr/>
        </p:nvSpPr>
        <p:spPr>
          <a:xfrm>
            <a:off x="611560" y="332656"/>
            <a:ext cx="4104456" cy="1323439"/>
          </a:xfrm>
          <a:prstGeom prst="rect">
            <a:avLst/>
          </a:prstGeom>
          <a:solidFill>
            <a:schemeClr val="bg2"/>
          </a:solidFill>
          <a:ln w="9525" cap="flat" cmpd="sng">
            <a:solidFill>
              <a:srgbClr val="FF0000"/>
            </a:solidFill>
            <a:prstDash val="solid"/>
            <a:miter/>
            <a:headEnd type="none" w="med" len="med"/>
            <a:tailEnd type="none" w="med" len="med"/>
          </a:ln>
        </p:spPr>
        <p:txBody>
          <a:bodyPr wrap="square" anchor="t">
            <a:spAutoFit/>
          </a:bodyPr>
          <a:lstStyle/>
          <a:p>
            <a:pPr>
              <a:spcBef>
                <a:spcPct val="50000"/>
              </a:spcBef>
            </a:pPr>
            <a:r>
              <a:rPr lang="zh-CN" altLang="en-US" sz="3200" b="1" dirty="0" smtClean="0">
                <a:solidFill>
                  <a:srgbClr val="FF0000"/>
                </a:solidFill>
                <a:latin typeface="+mj-ea"/>
                <a:ea typeface="+mj-ea"/>
              </a:rPr>
              <a:t>总路线的核心内容</a:t>
            </a:r>
            <a:endParaRPr lang="en-US" altLang="zh-CN" sz="3200" b="1" dirty="0" smtClean="0">
              <a:solidFill>
                <a:srgbClr val="FF0000"/>
              </a:solidFill>
              <a:latin typeface="+mj-ea"/>
              <a:ea typeface="+mj-ea"/>
            </a:endParaRPr>
          </a:p>
          <a:p>
            <a:pPr>
              <a:spcBef>
                <a:spcPct val="50000"/>
              </a:spcBef>
            </a:pPr>
            <a:r>
              <a:rPr lang="zh-CN" altLang="en-US" sz="3200" b="1" dirty="0" smtClean="0">
                <a:solidFill>
                  <a:srgbClr val="FF0000"/>
                </a:solidFill>
                <a:latin typeface="+mj-ea"/>
                <a:ea typeface="+mj-ea"/>
              </a:rPr>
              <a:t>“一化三改”</a:t>
            </a:r>
            <a:endParaRPr lang="zh-CN" altLang="en-US" sz="3200" b="1" dirty="0">
              <a:solidFill>
                <a:srgbClr val="FF3300"/>
              </a:solidFill>
              <a:latin typeface="+mj-ea"/>
              <a:ea typeface="+mj-ea"/>
            </a:endParaRPr>
          </a:p>
        </p:txBody>
      </p:sp>
    </p:spTree>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835150" y="2349500"/>
            <a:ext cx="838200" cy="1676400"/>
            <a:chOff x="1392" y="1488"/>
            <a:chExt cx="624" cy="1056"/>
          </a:xfrm>
        </p:grpSpPr>
        <p:sp>
          <p:nvSpPr>
            <p:cNvPr id="36866" name="Line 3"/>
            <p:cNvSpPr/>
            <p:nvPr/>
          </p:nvSpPr>
          <p:spPr>
            <a:xfrm>
              <a:off x="1392" y="2016"/>
              <a:ext cx="336" cy="0"/>
            </a:xfrm>
            <a:prstGeom prst="line">
              <a:avLst/>
            </a:prstGeom>
            <a:ln w="28575" cap="flat" cmpd="sng">
              <a:solidFill>
                <a:schemeClr val="bg1"/>
              </a:solidFill>
              <a:prstDash val="solid"/>
              <a:round/>
              <a:headEnd type="none" w="med" len="med"/>
              <a:tailEnd type="none" w="med" len="med"/>
            </a:ln>
          </p:spPr>
          <p:txBody>
            <a:bodyPr anchor="t"/>
            <a:lstStyle/>
            <a:p>
              <a:pPr lvl="0"/>
              <a:endParaRPr lang="zh-CN" altLang="en-US">
                <a:latin typeface="Arial" panose="020B0604020202020204" pitchFamily="34" charset="0"/>
                <a:ea typeface="宋体" panose="02010600030101010101" pitchFamily="2" charset="-122"/>
              </a:endParaRPr>
            </a:p>
          </p:txBody>
        </p:sp>
        <p:sp>
          <p:nvSpPr>
            <p:cNvPr id="36867" name="Line 4"/>
            <p:cNvSpPr/>
            <p:nvPr/>
          </p:nvSpPr>
          <p:spPr>
            <a:xfrm>
              <a:off x="1728" y="1488"/>
              <a:ext cx="288" cy="0"/>
            </a:xfrm>
            <a:prstGeom prst="line">
              <a:avLst/>
            </a:prstGeom>
            <a:ln w="28575" cap="flat" cmpd="sng">
              <a:solidFill>
                <a:schemeClr val="bg1"/>
              </a:solidFill>
              <a:prstDash val="solid"/>
              <a:round/>
              <a:headEnd type="none" w="med" len="med"/>
              <a:tailEnd type="none" w="med" len="med"/>
            </a:ln>
          </p:spPr>
          <p:txBody>
            <a:bodyPr anchor="t"/>
            <a:lstStyle/>
            <a:p>
              <a:pPr lvl="0"/>
              <a:endParaRPr lang="zh-CN" altLang="en-US">
                <a:latin typeface="Arial" panose="020B0604020202020204" pitchFamily="34" charset="0"/>
                <a:ea typeface="宋体" panose="02010600030101010101" pitchFamily="2" charset="-122"/>
              </a:endParaRPr>
            </a:p>
          </p:txBody>
        </p:sp>
        <p:grpSp>
          <p:nvGrpSpPr>
            <p:cNvPr id="3" name="Group 5"/>
            <p:cNvGrpSpPr/>
            <p:nvPr/>
          </p:nvGrpSpPr>
          <p:grpSpPr>
            <a:xfrm>
              <a:off x="1728" y="1488"/>
              <a:ext cx="0" cy="1056"/>
              <a:chOff x="1728" y="1488"/>
              <a:chExt cx="0" cy="1056"/>
            </a:xfrm>
          </p:grpSpPr>
          <p:sp>
            <p:nvSpPr>
              <p:cNvPr id="36869" name="Line 6"/>
              <p:cNvSpPr/>
              <p:nvPr/>
            </p:nvSpPr>
            <p:spPr>
              <a:xfrm flipV="1">
                <a:off x="1728" y="1488"/>
                <a:ext cx="0" cy="528"/>
              </a:xfrm>
              <a:prstGeom prst="line">
                <a:avLst/>
              </a:prstGeom>
              <a:ln w="28575" cap="flat" cmpd="sng">
                <a:solidFill>
                  <a:schemeClr val="bg1"/>
                </a:solidFill>
                <a:prstDash val="solid"/>
                <a:round/>
                <a:headEnd type="none" w="med" len="med"/>
                <a:tailEnd type="none" w="med" len="med"/>
              </a:ln>
            </p:spPr>
            <p:txBody>
              <a:bodyPr anchor="t"/>
              <a:lstStyle/>
              <a:p>
                <a:pPr lvl="0"/>
                <a:endParaRPr lang="zh-CN" altLang="en-US">
                  <a:latin typeface="Arial" panose="020B0604020202020204" pitchFamily="34" charset="0"/>
                  <a:ea typeface="宋体" panose="02010600030101010101" pitchFamily="2" charset="-122"/>
                </a:endParaRPr>
              </a:p>
            </p:txBody>
          </p:sp>
          <p:sp>
            <p:nvSpPr>
              <p:cNvPr id="36870" name="Line 7"/>
              <p:cNvSpPr/>
              <p:nvPr/>
            </p:nvSpPr>
            <p:spPr>
              <a:xfrm flipV="1">
                <a:off x="1728" y="2016"/>
                <a:ext cx="0" cy="528"/>
              </a:xfrm>
              <a:prstGeom prst="line">
                <a:avLst/>
              </a:prstGeom>
              <a:ln w="28575" cap="flat" cmpd="sng">
                <a:solidFill>
                  <a:schemeClr val="bg1"/>
                </a:solidFill>
                <a:prstDash val="solid"/>
                <a:round/>
                <a:headEnd type="none" w="med" len="med"/>
                <a:tailEnd type="none" w="med" len="med"/>
              </a:ln>
            </p:spPr>
            <p:txBody>
              <a:bodyPr anchor="t"/>
              <a:lstStyle/>
              <a:p>
                <a:pPr lvl="0"/>
                <a:endParaRPr lang="zh-CN" altLang="en-US">
                  <a:latin typeface="Arial" panose="020B0604020202020204" pitchFamily="34" charset="0"/>
                  <a:ea typeface="宋体" panose="02010600030101010101" pitchFamily="2" charset="-122"/>
                </a:endParaRPr>
              </a:p>
            </p:txBody>
          </p:sp>
        </p:grpSp>
        <p:sp>
          <p:nvSpPr>
            <p:cNvPr id="36871" name="Line 8"/>
            <p:cNvSpPr/>
            <p:nvPr/>
          </p:nvSpPr>
          <p:spPr>
            <a:xfrm>
              <a:off x="1728" y="2544"/>
              <a:ext cx="288" cy="0"/>
            </a:xfrm>
            <a:prstGeom prst="line">
              <a:avLst/>
            </a:prstGeom>
            <a:ln w="28575" cap="flat" cmpd="sng">
              <a:solidFill>
                <a:schemeClr val="bg1"/>
              </a:solidFill>
              <a:prstDash val="solid"/>
              <a:round/>
              <a:headEnd type="none" w="med" len="med"/>
              <a:tailEnd type="none" w="med" len="med"/>
            </a:ln>
          </p:spPr>
          <p:txBody>
            <a:bodyPr anchor="t"/>
            <a:lstStyle/>
            <a:p>
              <a:pPr lvl="0"/>
              <a:endParaRPr lang="zh-CN" altLang="en-US">
                <a:latin typeface="Arial" panose="020B0604020202020204" pitchFamily="34" charset="0"/>
                <a:ea typeface="宋体" panose="02010600030101010101" pitchFamily="2" charset="-122"/>
              </a:endParaRPr>
            </a:p>
          </p:txBody>
        </p:sp>
      </p:grpSp>
      <p:sp>
        <p:nvSpPr>
          <p:cNvPr id="29705" name="Line 9"/>
          <p:cNvSpPr>
            <a:spLocks noChangeShapeType="1"/>
          </p:cNvSpPr>
          <p:nvPr/>
        </p:nvSpPr>
        <p:spPr bwMode="auto">
          <a:xfrm>
            <a:off x="4211638" y="4005263"/>
            <a:ext cx="522288" cy="0"/>
          </a:xfrm>
          <a:prstGeom prst="line">
            <a:avLst/>
          </a:prstGeom>
          <a:noFill/>
          <a:ln w="19050">
            <a:solidFill>
              <a:schemeClr val="bg1"/>
            </a:solidFill>
            <a:round/>
          </a:ln>
          <a:effectLst>
            <a:outerShdw dist="17961" dir="2700000" algn="ctr" rotWithShape="0">
              <a:schemeClr val="tx2"/>
            </a:outerShdw>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9706" name="Line 10"/>
          <p:cNvSpPr>
            <a:spLocks noChangeShapeType="1"/>
          </p:cNvSpPr>
          <p:nvPr/>
        </p:nvSpPr>
        <p:spPr bwMode="auto">
          <a:xfrm>
            <a:off x="4716463" y="2997200"/>
            <a:ext cx="0" cy="1066800"/>
          </a:xfrm>
          <a:prstGeom prst="line">
            <a:avLst/>
          </a:prstGeom>
          <a:noFill/>
          <a:ln w="19050">
            <a:solidFill>
              <a:schemeClr val="bg1"/>
            </a:solidFill>
            <a:round/>
          </a:ln>
          <a:effectLst>
            <a:outerShdw dist="17961" dir="2700000" algn="ctr" rotWithShape="0">
              <a:schemeClr val="tx2"/>
            </a:outerShdw>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9707" name="Line 11"/>
          <p:cNvSpPr>
            <a:spLocks noChangeShapeType="1"/>
          </p:cNvSpPr>
          <p:nvPr/>
        </p:nvSpPr>
        <p:spPr bwMode="auto">
          <a:xfrm>
            <a:off x="4716463" y="4005263"/>
            <a:ext cx="392113" cy="0"/>
          </a:xfrm>
          <a:prstGeom prst="line">
            <a:avLst/>
          </a:prstGeom>
          <a:noFill/>
          <a:ln w="19050">
            <a:solidFill>
              <a:schemeClr val="bg1"/>
            </a:solidFill>
            <a:round/>
          </a:ln>
          <a:effectLst>
            <a:outerShdw dist="17961" dir="2700000" algn="ctr" rotWithShape="0">
              <a:schemeClr val="tx2"/>
            </a:outerShdw>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9708" name="Line 12"/>
          <p:cNvSpPr>
            <a:spLocks noChangeShapeType="1"/>
          </p:cNvSpPr>
          <p:nvPr/>
        </p:nvSpPr>
        <p:spPr bwMode="auto">
          <a:xfrm>
            <a:off x="4716463" y="2997200"/>
            <a:ext cx="392113" cy="0"/>
          </a:xfrm>
          <a:prstGeom prst="line">
            <a:avLst/>
          </a:prstGeom>
          <a:noFill/>
          <a:ln w="19050">
            <a:solidFill>
              <a:schemeClr val="bg1"/>
            </a:solidFill>
            <a:round/>
          </a:ln>
          <a:effectLst>
            <a:outerShdw dist="17961" dir="2700000" algn="ctr" rotWithShape="0">
              <a:schemeClr val="tx2"/>
            </a:outerShdw>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9709" name="Line 13"/>
          <p:cNvSpPr>
            <a:spLocks noChangeShapeType="1"/>
          </p:cNvSpPr>
          <p:nvPr/>
        </p:nvSpPr>
        <p:spPr bwMode="auto">
          <a:xfrm>
            <a:off x="4716463" y="4076700"/>
            <a:ext cx="0" cy="1066800"/>
          </a:xfrm>
          <a:prstGeom prst="line">
            <a:avLst/>
          </a:prstGeom>
          <a:noFill/>
          <a:ln w="19050">
            <a:solidFill>
              <a:schemeClr val="bg1"/>
            </a:solidFill>
            <a:round/>
          </a:ln>
          <a:effectLst>
            <a:outerShdw dist="17961" dir="2700000" algn="ctr" rotWithShape="0">
              <a:schemeClr val="tx2"/>
            </a:outerShdw>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9710" name="Line 14"/>
          <p:cNvSpPr/>
          <p:nvPr/>
        </p:nvSpPr>
        <p:spPr>
          <a:xfrm>
            <a:off x="4716463" y="5084763"/>
            <a:ext cx="392112" cy="0"/>
          </a:xfrm>
          <a:prstGeom prst="line">
            <a:avLst/>
          </a:prstGeom>
          <a:ln w="28575" cap="flat" cmpd="sng">
            <a:solidFill>
              <a:schemeClr val="bg1"/>
            </a:solidFill>
            <a:prstDash val="solid"/>
            <a:round/>
            <a:headEnd type="none" w="med" len="med"/>
            <a:tailEnd type="none" w="med" len="med"/>
          </a:ln>
        </p:spPr>
        <p:txBody>
          <a:bodyPr anchor="t"/>
          <a:lstStyle/>
          <a:p>
            <a:pPr lvl="0"/>
            <a:endParaRPr lang="zh-CN" altLang="en-US">
              <a:latin typeface="Arial" panose="020B0604020202020204" pitchFamily="34" charset="0"/>
              <a:ea typeface="宋体" panose="02010600030101010101" pitchFamily="2" charset="-122"/>
            </a:endParaRPr>
          </a:p>
        </p:txBody>
      </p:sp>
      <p:sp>
        <p:nvSpPr>
          <p:cNvPr id="36879" name="Text Box 16"/>
          <p:cNvSpPr txBox="1"/>
          <p:nvPr/>
        </p:nvSpPr>
        <p:spPr>
          <a:xfrm>
            <a:off x="899592" y="2924944"/>
            <a:ext cx="1371600" cy="519112"/>
          </a:xfrm>
          <a:prstGeom prst="rect">
            <a:avLst/>
          </a:prstGeom>
          <a:solidFill>
            <a:schemeClr val="bg1"/>
          </a:solidFill>
          <a:ln w="9525">
            <a:solidFill>
              <a:srgbClr val="FF0000"/>
            </a:solidFill>
          </a:ln>
        </p:spPr>
        <p:txBody>
          <a:bodyPr anchor="t">
            <a:spAutoFit/>
          </a:bodyPr>
          <a:lstStyle/>
          <a:p>
            <a:pPr lvl="0">
              <a:spcBef>
                <a:spcPct val="50000"/>
              </a:spcBef>
            </a:pPr>
            <a:r>
              <a:rPr lang="zh-CN" altLang="en-US" sz="2800" b="1" dirty="0">
                <a:solidFill>
                  <a:srgbClr val="FF0000"/>
                </a:solidFill>
                <a:latin typeface="宋体" panose="02010600030101010101" pitchFamily="2" charset="-122"/>
                <a:ea typeface="宋体" panose="02010600030101010101" pitchFamily="2" charset="-122"/>
              </a:rPr>
              <a:t>总路线</a:t>
            </a:r>
          </a:p>
        </p:txBody>
      </p:sp>
      <p:sp>
        <p:nvSpPr>
          <p:cNvPr id="29713" name="Rectangle 17"/>
          <p:cNvSpPr>
            <a:spLocks noChangeArrowheads="1"/>
          </p:cNvSpPr>
          <p:nvPr/>
        </p:nvSpPr>
        <p:spPr bwMode="auto">
          <a:xfrm>
            <a:off x="2627313" y="2291834"/>
            <a:ext cx="1676400" cy="369332"/>
          </a:xfrm>
          <a:prstGeom prst="rect">
            <a:avLst/>
          </a:prstGeom>
          <a:solidFill>
            <a:schemeClr val="bg1"/>
          </a:solidFill>
          <a:ln w="9525">
            <a:solidFill>
              <a:srgbClr val="FF0000"/>
            </a:solidFill>
            <a:miter lim="800000"/>
          </a:ln>
          <a:effectLst>
            <a:prstShdw prst="shdw17" dist="17961" dir="2700000">
              <a:schemeClr val="hlink">
                <a:gamma/>
                <a:shade val="60000"/>
                <a:invGamma/>
              </a:schemeClr>
            </a:prstShdw>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endParaRPr>
          </a:p>
        </p:txBody>
      </p:sp>
      <p:sp>
        <p:nvSpPr>
          <p:cNvPr id="29714" name="Rectangle 18"/>
          <p:cNvSpPr>
            <a:spLocks noChangeArrowheads="1"/>
          </p:cNvSpPr>
          <p:nvPr/>
        </p:nvSpPr>
        <p:spPr bwMode="auto">
          <a:xfrm>
            <a:off x="2627313" y="3644900"/>
            <a:ext cx="1600200" cy="685800"/>
          </a:xfrm>
          <a:prstGeom prst="rect">
            <a:avLst/>
          </a:prstGeom>
          <a:solidFill>
            <a:schemeClr val="bg1"/>
          </a:solidFill>
          <a:ln w="9525">
            <a:solidFill>
              <a:schemeClr val="bg1"/>
            </a:solidFill>
            <a:miter lim="800000"/>
          </a:ln>
          <a:effectLst>
            <a:prstShdw prst="shdw17" dist="17961" dir="2700000">
              <a:schemeClr val="hlink">
                <a:gamma/>
                <a:shade val="60000"/>
                <a:invGamma/>
              </a:schemeClr>
            </a:prstShdw>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6882" name="Text Box 19"/>
          <p:cNvSpPr txBox="1"/>
          <p:nvPr/>
        </p:nvSpPr>
        <p:spPr>
          <a:xfrm>
            <a:off x="2699792" y="2204864"/>
            <a:ext cx="1447800" cy="457200"/>
          </a:xfrm>
          <a:prstGeom prst="rect">
            <a:avLst/>
          </a:prstGeom>
          <a:noFill/>
          <a:ln w="9525" cap="flat" cmpd="sng">
            <a:solidFill>
              <a:schemeClr val="bg1"/>
            </a:solidFill>
            <a:prstDash val="solid"/>
            <a:miter/>
            <a:headEnd type="none" w="med" len="med"/>
            <a:tailEnd type="none" w="med" len="med"/>
          </a:ln>
        </p:spPr>
        <p:txBody>
          <a:bodyPr anchor="t">
            <a:spAutoFit/>
          </a:bodyPr>
          <a:lstStyle/>
          <a:p>
            <a:pPr lvl="0" algn="ctr">
              <a:spcBef>
                <a:spcPct val="50000"/>
              </a:spcBef>
            </a:pPr>
            <a:r>
              <a:rPr lang="zh-CN" altLang="en-US" sz="2400" b="1" dirty="0">
                <a:solidFill>
                  <a:srgbClr val="FF0000"/>
                </a:solidFill>
                <a:latin typeface="宋体" panose="02010600030101010101" pitchFamily="2" charset="-122"/>
                <a:ea typeface="宋体" panose="02010600030101010101" pitchFamily="2" charset="-122"/>
              </a:rPr>
              <a:t>工业化</a:t>
            </a:r>
          </a:p>
        </p:txBody>
      </p:sp>
      <p:sp>
        <p:nvSpPr>
          <p:cNvPr id="36883" name="Text Box 20"/>
          <p:cNvSpPr txBox="1"/>
          <p:nvPr/>
        </p:nvSpPr>
        <p:spPr>
          <a:xfrm>
            <a:off x="2700338" y="3716338"/>
            <a:ext cx="1600200" cy="457200"/>
          </a:xfrm>
          <a:prstGeom prst="rect">
            <a:avLst/>
          </a:prstGeom>
          <a:noFill/>
          <a:ln w="9525" cap="flat" cmpd="sng">
            <a:solidFill>
              <a:schemeClr val="bg1"/>
            </a:solidFill>
            <a:prstDash val="solid"/>
            <a:miter/>
            <a:headEnd type="none" w="med" len="med"/>
            <a:tailEnd type="none" w="med" len="med"/>
          </a:ln>
        </p:spPr>
        <p:txBody>
          <a:bodyPr anchor="t">
            <a:spAutoFit/>
          </a:bodyPr>
          <a:lstStyle/>
          <a:p>
            <a:pPr algn="ctr">
              <a:spcBef>
                <a:spcPct val="50000"/>
              </a:spcBef>
            </a:pPr>
            <a:r>
              <a:rPr lang="zh-CN" altLang="en-US" sz="2400" b="1" dirty="0">
                <a:solidFill>
                  <a:srgbClr val="FF0000"/>
                </a:solidFill>
                <a:latin typeface="宋体" panose="02010600030101010101" pitchFamily="2" charset="-122"/>
                <a:ea typeface="宋体" panose="02010600030101010101" pitchFamily="2" charset="-122"/>
              </a:rPr>
              <a:t>三大改造</a:t>
            </a:r>
          </a:p>
        </p:txBody>
      </p:sp>
      <p:sp>
        <p:nvSpPr>
          <p:cNvPr id="36885" name="Rectangle 22"/>
          <p:cNvSpPr/>
          <p:nvPr/>
        </p:nvSpPr>
        <p:spPr>
          <a:xfrm>
            <a:off x="5148263" y="3716338"/>
            <a:ext cx="1905000" cy="641350"/>
          </a:xfrm>
          <a:prstGeom prst="rect">
            <a:avLst/>
          </a:prstGeom>
          <a:solidFill>
            <a:schemeClr val="bg1"/>
          </a:solidFill>
          <a:ln w="9525" cap="flat" cmpd="sng">
            <a:solidFill>
              <a:schemeClr val="bg1"/>
            </a:solidFill>
            <a:prstDash val="solid"/>
            <a:miter/>
            <a:headEnd type="none" w="med" len="med"/>
            <a:tailEnd type="none" w="med" len="med"/>
          </a:ln>
          <a:effectLst>
            <a:prstShdw prst="shdw17" dist="17961" dir="2699999">
              <a:srgbClr val="005C5C"/>
            </a:prstShdw>
          </a:effectLst>
        </p:spPr>
        <p:txBody>
          <a:bodyPr anchor="ctr">
            <a:spAutoFit/>
          </a:bodyPr>
          <a:lstStyle/>
          <a:p>
            <a:pPr lvl="0" algn="ctr"/>
            <a:endParaRPr lang="zh-CN" altLang="zh-CN" sz="3600" dirty="0">
              <a:solidFill>
                <a:srgbClr val="CC0000"/>
              </a:solidFill>
              <a:latin typeface="Times New Roman" panose="02020603050405020304" pitchFamily="18" charset="0"/>
              <a:ea typeface="方正魏碑简体" pitchFamily="2" charset="-122"/>
            </a:endParaRPr>
          </a:p>
        </p:txBody>
      </p:sp>
      <p:sp>
        <p:nvSpPr>
          <p:cNvPr id="36887" name="Text Box 24"/>
          <p:cNvSpPr txBox="1"/>
          <p:nvPr/>
        </p:nvSpPr>
        <p:spPr>
          <a:xfrm>
            <a:off x="5148263" y="2781300"/>
            <a:ext cx="1728787" cy="457200"/>
          </a:xfrm>
          <a:prstGeom prst="rect">
            <a:avLst/>
          </a:prstGeom>
          <a:solidFill>
            <a:schemeClr val="bg1"/>
          </a:solidFill>
          <a:ln w="9525" cap="flat" cmpd="sng">
            <a:solidFill>
              <a:srgbClr val="FF0000"/>
            </a:solidFill>
            <a:prstDash val="solid"/>
            <a:miter/>
            <a:headEnd type="none" w="med" len="med"/>
            <a:tailEnd type="none" w="med" len="med"/>
          </a:ln>
        </p:spPr>
        <p:txBody>
          <a:bodyPr anchor="t">
            <a:spAutoFit/>
          </a:bodyPr>
          <a:lstStyle/>
          <a:p>
            <a:pPr lvl="0" algn="ctr">
              <a:spcBef>
                <a:spcPct val="50000"/>
              </a:spcBef>
            </a:pPr>
            <a:r>
              <a:rPr lang="zh-CN" altLang="en-US" sz="2400" b="1" dirty="0">
                <a:solidFill>
                  <a:srgbClr val="FF0000"/>
                </a:solidFill>
                <a:latin typeface="宋体" panose="02010600030101010101" pitchFamily="2" charset="-122"/>
                <a:ea typeface="宋体" panose="02010600030101010101" pitchFamily="2" charset="-122"/>
              </a:rPr>
              <a:t>农  业</a:t>
            </a:r>
          </a:p>
        </p:txBody>
      </p:sp>
      <p:sp>
        <p:nvSpPr>
          <p:cNvPr id="36888" name="Text Box 25"/>
          <p:cNvSpPr txBox="1"/>
          <p:nvPr/>
        </p:nvSpPr>
        <p:spPr>
          <a:xfrm>
            <a:off x="5148263" y="3789363"/>
            <a:ext cx="1752600" cy="457200"/>
          </a:xfrm>
          <a:prstGeom prst="rect">
            <a:avLst/>
          </a:prstGeom>
          <a:noFill/>
          <a:ln w="9525" cap="flat" cmpd="sng">
            <a:solidFill>
              <a:schemeClr val="bg1"/>
            </a:solidFill>
            <a:prstDash val="solid"/>
            <a:miter/>
            <a:headEnd type="none" w="med" len="med"/>
            <a:tailEnd type="none" w="med" len="med"/>
          </a:ln>
        </p:spPr>
        <p:txBody>
          <a:bodyPr anchor="t">
            <a:spAutoFit/>
          </a:bodyPr>
          <a:lstStyle/>
          <a:p>
            <a:pPr algn="ctr">
              <a:spcBef>
                <a:spcPct val="50000"/>
              </a:spcBef>
            </a:pPr>
            <a:r>
              <a:rPr lang="zh-CN" altLang="en-US" sz="2400" b="1" dirty="0">
                <a:solidFill>
                  <a:srgbClr val="FF0000"/>
                </a:solidFill>
                <a:latin typeface="宋体" panose="02010600030101010101" pitchFamily="2" charset="-122"/>
                <a:ea typeface="宋体" panose="02010600030101010101" pitchFamily="2" charset="-122"/>
              </a:rPr>
              <a:t>手 工 业</a:t>
            </a:r>
          </a:p>
        </p:txBody>
      </p:sp>
      <p:sp>
        <p:nvSpPr>
          <p:cNvPr id="36889" name="Text Box 26"/>
          <p:cNvSpPr txBox="1"/>
          <p:nvPr/>
        </p:nvSpPr>
        <p:spPr>
          <a:xfrm>
            <a:off x="5076825" y="4868863"/>
            <a:ext cx="2381250" cy="457200"/>
          </a:xfrm>
          <a:prstGeom prst="rect">
            <a:avLst/>
          </a:prstGeom>
          <a:solidFill>
            <a:schemeClr val="bg1"/>
          </a:solidFill>
          <a:ln w="9525" cap="flat" cmpd="sng">
            <a:solidFill>
              <a:srgbClr val="FF0000"/>
            </a:solidFill>
            <a:prstDash val="solid"/>
            <a:miter/>
            <a:headEnd type="none" w="med" len="med"/>
            <a:tailEnd type="none" w="med" len="med"/>
          </a:ln>
        </p:spPr>
        <p:txBody>
          <a:bodyPr anchor="t">
            <a:spAutoFit/>
          </a:bodyPr>
          <a:lstStyle/>
          <a:p>
            <a:pPr algn="ctr">
              <a:spcBef>
                <a:spcPct val="50000"/>
              </a:spcBef>
            </a:pPr>
            <a:r>
              <a:rPr lang="zh-CN" altLang="en-US" sz="2400" b="1" dirty="0">
                <a:solidFill>
                  <a:srgbClr val="FF0000"/>
                </a:solidFill>
                <a:latin typeface="宋体" panose="02010600030101010101" pitchFamily="2" charset="-122"/>
                <a:ea typeface="宋体" panose="02010600030101010101" pitchFamily="2" charset="-122"/>
              </a:rPr>
              <a:t>资本主义工商业</a:t>
            </a:r>
          </a:p>
        </p:txBody>
      </p:sp>
      <p:sp>
        <p:nvSpPr>
          <p:cNvPr id="36890" name="Rectangle 27"/>
          <p:cNvSpPr/>
          <p:nvPr/>
        </p:nvSpPr>
        <p:spPr>
          <a:xfrm>
            <a:off x="2195736" y="980728"/>
            <a:ext cx="4104456" cy="584775"/>
          </a:xfrm>
          <a:prstGeom prst="rect">
            <a:avLst/>
          </a:prstGeom>
          <a:solidFill>
            <a:schemeClr val="bg2"/>
          </a:solidFill>
          <a:ln w="9525" cap="flat" cmpd="sng">
            <a:solidFill>
              <a:srgbClr val="FF0000"/>
            </a:solidFill>
            <a:prstDash val="solid"/>
            <a:miter/>
            <a:headEnd type="none" w="med" len="med"/>
            <a:tailEnd type="none" w="med" len="med"/>
          </a:ln>
        </p:spPr>
        <p:txBody>
          <a:bodyPr wrap="square" anchor="t">
            <a:spAutoFit/>
          </a:bodyPr>
          <a:lstStyle/>
          <a:p>
            <a:pPr>
              <a:spcBef>
                <a:spcPct val="50000"/>
              </a:spcBef>
            </a:pPr>
            <a:r>
              <a:rPr lang="zh-CN" altLang="en-US" sz="3200" b="1" dirty="0" smtClean="0">
                <a:solidFill>
                  <a:srgbClr val="FF0000"/>
                </a:solidFill>
                <a:latin typeface="+mj-ea"/>
                <a:ea typeface="+mj-ea"/>
              </a:rPr>
              <a:t>特点</a:t>
            </a:r>
            <a:r>
              <a:rPr lang="en-US" altLang="zh-CN" sz="3200" b="1" dirty="0">
                <a:solidFill>
                  <a:srgbClr val="FF0000"/>
                </a:solidFill>
                <a:latin typeface="+mj-ea"/>
                <a:ea typeface="+mj-ea"/>
              </a:rPr>
              <a:t>:</a:t>
            </a:r>
            <a:r>
              <a:rPr lang="zh-CN" altLang="en-US" sz="3200" b="1" dirty="0" smtClean="0">
                <a:solidFill>
                  <a:srgbClr val="FF0000"/>
                </a:solidFill>
                <a:latin typeface="+mj-ea"/>
                <a:ea typeface="+mj-ea"/>
              </a:rPr>
              <a:t>建设与改造并举</a:t>
            </a:r>
            <a:endParaRPr lang="zh-CN" altLang="en-US" sz="3200" b="1" dirty="0">
              <a:solidFill>
                <a:srgbClr val="FF3300"/>
              </a:solidFill>
              <a:latin typeface="+mj-ea"/>
              <a:ea typeface="+mj-ea"/>
            </a:endParaRPr>
          </a:p>
        </p:txBody>
      </p:sp>
      <p:sp>
        <p:nvSpPr>
          <p:cNvPr id="36891" name="Text Box 28"/>
          <p:cNvSpPr txBox="1"/>
          <p:nvPr/>
        </p:nvSpPr>
        <p:spPr>
          <a:xfrm>
            <a:off x="4427538" y="2060575"/>
            <a:ext cx="3816350" cy="457200"/>
          </a:xfrm>
          <a:prstGeom prst="rect">
            <a:avLst/>
          </a:prstGeom>
          <a:noFill/>
          <a:ln w="9525" cap="flat" cmpd="sng">
            <a:solidFill>
              <a:schemeClr val="bg1"/>
            </a:solidFill>
            <a:prstDash val="solid"/>
            <a:miter/>
            <a:headEnd type="none" w="med" len="med"/>
            <a:tailEnd type="none" w="med" len="med"/>
          </a:ln>
        </p:spPr>
        <p:txBody>
          <a:bodyPr anchor="t">
            <a:spAutoFit/>
          </a:bodyPr>
          <a:lstStyle/>
          <a:p>
            <a:pPr lvl="0" algn="ctr">
              <a:spcBef>
                <a:spcPct val="50000"/>
              </a:spcBef>
            </a:pPr>
            <a:r>
              <a:rPr lang="zh-CN" altLang="en-US" sz="2400" b="1" dirty="0">
                <a:solidFill>
                  <a:srgbClr val="0000FF"/>
                </a:solidFill>
                <a:latin typeface="黑体" panose="02010609060101010101" pitchFamily="49" charset="-122"/>
                <a:ea typeface="黑体" panose="02010609060101010101" pitchFamily="49" charset="-122"/>
              </a:rPr>
              <a:t>（解放和发展生产力）</a:t>
            </a:r>
          </a:p>
        </p:txBody>
      </p:sp>
      <p:sp>
        <p:nvSpPr>
          <p:cNvPr id="36892" name="Rectangle 30"/>
          <p:cNvSpPr/>
          <p:nvPr/>
        </p:nvSpPr>
        <p:spPr>
          <a:xfrm>
            <a:off x="7164388" y="3573463"/>
            <a:ext cx="1800225" cy="822325"/>
          </a:xfrm>
          <a:prstGeom prst="rect">
            <a:avLst/>
          </a:prstGeom>
          <a:noFill/>
          <a:ln w="9525" cap="flat" cmpd="sng">
            <a:solidFill>
              <a:schemeClr val="bg1"/>
            </a:solidFill>
            <a:prstDash val="solid"/>
            <a:miter/>
            <a:headEnd type="none" w="med" len="med"/>
            <a:tailEnd type="none" w="med" len="med"/>
          </a:ln>
        </p:spPr>
        <p:txBody>
          <a:bodyPr anchor="t">
            <a:spAutoFit/>
          </a:bodyPr>
          <a:lstStyle/>
          <a:p>
            <a:pPr lvl="0"/>
            <a:r>
              <a:rPr lang="zh-CN" altLang="en-US" sz="2400" b="1" dirty="0">
                <a:solidFill>
                  <a:srgbClr val="0000FF"/>
                </a:solidFill>
                <a:latin typeface="Arial" panose="020B0604020202020204" pitchFamily="34" charset="0"/>
                <a:ea typeface="黑体" panose="02010609060101010101" pitchFamily="49" charset="-122"/>
              </a:rPr>
              <a:t>（变革生产关系）</a:t>
            </a:r>
          </a:p>
        </p:txBody>
      </p:sp>
      <p:cxnSp>
        <p:nvCxnSpPr>
          <p:cNvPr id="31" name="直接连接符 30"/>
          <p:cNvCxnSpPr>
            <a:stCxn id="36866" idx="1"/>
          </p:cNvCxnSpPr>
          <p:nvPr/>
        </p:nvCxnSpPr>
        <p:spPr>
          <a:xfrm flipV="1">
            <a:off x="2286488" y="2636912"/>
            <a:ext cx="485312" cy="550788"/>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直接连接符 32"/>
          <p:cNvCxnSpPr>
            <a:endCxn id="36883" idx="1"/>
          </p:cNvCxnSpPr>
          <p:nvPr/>
        </p:nvCxnSpPr>
        <p:spPr>
          <a:xfrm>
            <a:off x="2339752" y="3212976"/>
            <a:ext cx="360586" cy="731962"/>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29705"/>
                                        </p:tgtEl>
                                        <p:attrNameLst>
                                          <p:attrName>style.visibility</p:attrName>
                                        </p:attrNameLst>
                                      </p:cBhvr>
                                      <p:to>
                                        <p:strVal val="visible"/>
                                      </p:to>
                                    </p:set>
                                    <p:animEffect transition="in" filter="dissolve">
                                      <p:cBhvr>
                                        <p:cTn id="11" dur="500"/>
                                        <p:tgtEl>
                                          <p:spTgt spid="29705"/>
                                        </p:tgtEl>
                                      </p:cBhvr>
                                    </p:animEffect>
                                  </p:childTnLst>
                                </p:cTn>
                              </p:par>
                            </p:childTnLst>
                          </p:cTn>
                        </p:par>
                        <p:par>
                          <p:cTn id="12" fill="hold">
                            <p:stCondLst>
                              <p:cond delay="1000"/>
                            </p:stCondLst>
                            <p:childTnLst>
                              <p:par>
                                <p:cTn id="13" presetID="9" presetClass="entr" presetSubtype="0" fill="hold" nodeType="afterEffect">
                                  <p:stCondLst>
                                    <p:cond delay="0"/>
                                  </p:stCondLst>
                                  <p:childTnLst>
                                    <p:set>
                                      <p:cBhvr>
                                        <p:cTn id="14" dur="1" fill="hold">
                                          <p:stCondLst>
                                            <p:cond delay="0"/>
                                          </p:stCondLst>
                                        </p:cTn>
                                        <p:tgtEl>
                                          <p:spTgt spid="29706"/>
                                        </p:tgtEl>
                                        <p:attrNameLst>
                                          <p:attrName>style.visibility</p:attrName>
                                        </p:attrNameLst>
                                      </p:cBhvr>
                                      <p:to>
                                        <p:strVal val="visible"/>
                                      </p:to>
                                    </p:set>
                                    <p:animEffect transition="in" filter="dissolve">
                                      <p:cBhvr>
                                        <p:cTn id="15" dur="500"/>
                                        <p:tgtEl>
                                          <p:spTgt spid="29706"/>
                                        </p:tgtEl>
                                      </p:cBhvr>
                                    </p:animEffect>
                                  </p:childTnLst>
                                </p:cTn>
                              </p:par>
                            </p:childTnLst>
                          </p:cTn>
                        </p:par>
                        <p:par>
                          <p:cTn id="16" fill="hold">
                            <p:stCondLst>
                              <p:cond delay="1500"/>
                            </p:stCondLst>
                            <p:childTnLst>
                              <p:par>
                                <p:cTn id="17" presetID="9" presetClass="entr" presetSubtype="0" fill="hold" nodeType="afterEffect">
                                  <p:stCondLst>
                                    <p:cond delay="0"/>
                                  </p:stCondLst>
                                  <p:childTnLst>
                                    <p:set>
                                      <p:cBhvr>
                                        <p:cTn id="18" dur="1" fill="hold">
                                          <p:stCondLst>
                                            <p:cond delay="0"/>
                                          </p:stCondLst>
                                        </p:cTn>
                                        <p:tgtEl>
                                          <p:spTgt spid="29707"/>
                                        </p:tgtEl>
                                        <p:attrNameLst>
                                          <p:attrName>style.visibility</p:attrName>
                                        </p:attrNameLst>
                                      </p:cBhvr>
                                      <p:to>
                                        <p:strVal val="visible"/>
                                      </p:to>
                                    </p:set>
                                    <p:animEffect transition="in" filter="dissolve">
                                      <p:cBhvr>
                                        <p:cTn id="19" dur="500"/>
                                        <p:tgtEl>
                                          <p:spTgt spid="29707"/>
                                        </p:tgtEl>
                                      </p:cBhvr>
                                    </p:animEffect>
                                  </p:childTnLst>
                                </p:cTn>
                              </p:par>
                            </p:childTnLst>
                          </p:cTn>
                        </p:par>
                        <p:par>
                          <p:cTn id="20" fill="hold">
                            <p:stCondLst>
                              <p:cond delay="2000"/>
                            </p:stCondLst>
                            <p:childTnLst>
                              <p:par>
                                <p:cTn id="21" presetID="9" presetClass="entr" presetSubtype="0" fill="hold" nodeType="afterEffect">
                                  <p:stCondLst>
                                    <p:cond delay="0"/>
                                  </p:stCondLst>
                                  <p:childTnLst>
                                    <p:set>
                                      <p:cBhvr>
                                        <p:cTn id="22" dur="1" fill="hold">
                                          <p:stCondLst>
                                            <p:cond delay="0"/>
                                          </p:stCondLst>
                                        </p:cTn>
                                        <p:tgtEl>
                                          <p:spTgt spid="29708"/>
                                        </p:tgtEl>
                                        <p:attrNameLst>
                                          <p:attrName>style.visibility</p:attrName>
                                        </p:attrNameLst>
                                      </p:cBhvr>
                                      <p:to>
                                        <p:strVal val="visible"/>
                                      </p:to>
                                    </p:set>
                                    <p:animEffect transition="in" filter="dissolve">
                                      <p:cBhvr>
                                        <p:cTn id="23" dur="500"/>
                                        <p:tgtEl>
                                          <p:spTgt spid="29708"/>
                                        </p:tgtEl>
                                      </p:cBhvr>
                                    </p:animEffect>
                                  </p:childTnLst>
                                </p:cTn>
                              </p:par>
                            </p:childTnLst>
                          </p:cTn>
                        </p:par>
                        <p:par>
                          <p:cTn id="24" fill="hold">
                            <p:stCondLst>
                              <p:cond delay="2500"/>
                            </p:stCondLst>
                            <p:childTnLst>
                              <p:par>
                                <p:cTn id="25" presetID="9" presetClass="entr" presetSubtype="0" fill="hold" nodeType="afterEffect">
                                  <p:stCondLst>
                                    <p:cond delay="0"/>
                                  </p:stCondLst>
                                  <p:childTnLst>
                                    <p:set>
                                      <p:cBhvr>
                                        <p:cTn id="26" dur="1" fill="hold">
                                          <p:stCondLst>
                                            <p:cond delay="0"/>
                                          </p:stCondLst>
                                        </p:cTn>
                                        <p:tgtEl>
                                          <p:spTgt spid="29709"/>
                                        </p:tgtEl>
                                        <p:attrNameLst>
                                          <p:attrName>style.visibility</p:attrName>
                                        </p:attrNameLst>
                                      </p:cBhvr>
                                      <p:to>
                                        <p:strVal val="visible"/>
                                      </p:to>
                                    </p:set>
                                    <p:animEffect transition="in" filter="dissolve">
                                      <p:cBhvr>
                                        <p:cTn id="27" dur="500"/>
                                        <p:tgtEl>
                                          <p:spTgt spid="29709"/>
                                        </p:tgtEl>
                                      </p:cBhvr>
                                    </p:animEffect>
                                  </p:childTnLst>
                                </p:cTn>
                              </p:par>
                            </p:childTnLst>
                          </p:cTn>
                        </p:par>
                        <p:par>
                          <p:cTn id="28" fill="hold">
                            <p:stCondLst>
                              <p:cond delay="3000"/>
                            </p:stCondLst>
                            <p:childTnLst>
                              <p:par>
                                <p:cTn id="29" presetID="9" presetClass="entr" presetSubtype="0" fill="hold" nodeType="afterEffect">
                                  <p:stCondLst>
                                    <p:cond delay="0"/>
                                  </p:stCondLst>
                                  <p:childTnLst>
                                    <p:set>
                                      <p:cBhvr>
                                        <p:cTn id="30" dur="1" fill="hold">
                                          <p:stCondLst>
                                            <p:cond delay="0"/>
                                          </p:stCondLst>
                                        </p:cTn>
                                        <p:tgtEl>
                                          <p:spTgt spid="29710"/>
                                        </p:tgtEl>
                                        <p:attrNameLst>
                                          <p:attrName>style.visibility</p:attrName>
                                        </p:attrNameLst>
                                      </p:cBhvr>
                                      <p:to>
                                        <p:strVal val="visible"/>
                                      </p:to>
                                    </p:set>
                                    <p:animEffect transition="in" filter="dissolve">
                                      <p:cBhvr>
                                        <p:cTn id="31" dur="500"/>
                                        <p:tgtEl>
                                          <p:spTgt spid="297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3"/>
          <p:cNvSpPr/>
          <p:nvPr/>
        </p:nvSpPr>
        <p:spPr>
          <a:xfrm>
            <a:off x="1116013" y="396875"/>
            <a:ext cx="4741862" cy="6696075"/>
          </a:xfrm>
          <a:prstGeom prst="rect">
            <a:avLst/>
          </a:prstGeom>
          <a:solidFill>
            <a:schemeClr val="bg1"/>
          </a:solidFill>
          <a:ln w="12700" cap="flat" cmpd="sng">
            <a:solidFill>
              <a:srgbClr val="FF3300"/>
            </a:solidFill>
            <a:prstDash val="solid"/>
            <a:miter/>
            <a:headEnd type="none" w="med" len="med"/>
            <a:tailEnd type="none" w="med" len="med"/>
          </a:ln>
        </p:spPr>
        <p:txBody>
          <a:bodyPr wrap="square" anchor="t">
            <a:spAutoFit/>
          </a:bodyPr>
          <a:lstStyle/>
          <a:p>
            <a:pPr lvl="0" eaLnBrk="0" hangingPunct="0">
              <a:lnSpc>
                <a:spcPct val="105000"/>
              </a:lnSpc>
              <a:spcBef>
                <a:spcPct val="50000"/>
              </a:spcBef>
            </a:pPr>
            <a:r>
              <a:rPr lang="en-US" altLang="zh-CN" sz="2400" dirty="0">
                <a:solidFill>
                  <a:srgbClr val="0000FF"/>
                </a:solidFill>
                <a:latin typeface="Times New Roman" panose="02020603050405020304" pitchFamily="18" charset="0"/>
                <a:ea typeface="华文新魏" panose="02010800040101010101" pitchFamily="2" charset="-122"/>
              </a:rPr>
              <a:t>  </a:t>
            </a:r>
            <a:r>
              <a:rPr lang="en-US" altLang="zh-CN" sz="3200" b="1" dirty="0">
                <a:solidFill>
                  <a:srgbClr val="0000FF"/>
                </a:solidFill>
                <a:latin typeface="Times New Roman" panose="02020603050405020304" pitchFamily="18" charset="0"/>
                <a:ea typeface="黑体" panose="02010609060101010101" pitchFamily="49" charset="-122"/>
              </a:rPr>
              <a:t>(</a:t>
            </a:r>
            <a:r>
              <a:rPr lang="zh-CN" altLang="en-US" sz="3200" b="1" dirty="0">
                <a:solidFill>
                  <a:srgbClr val="0000FF"/>
                </a:solidFill>
                <a:latin typeface="Times New Roman" panose="02020603050405020304" pitchFamily="18" charset="0"/>
                <a:ea typeface="黑体" panose="02010609060101010101" pitchFamily="49" charset="-122"/>
              </a:rPr>
              <a:t>三</a:t>
            </a:r>
            <a:r>
              <a:rPr lang="en-US" altLang="zh-CN" sz="3200" b="1" dirty="0">
                <a:solidFill>
                  <a:srgbClr val="0000FF"/>
                </a:solidFill>
                <a:latin typeface="Times New Roman" panose="02020603050405020304" pitchFamily="18" charset="0"/>
                <a:ea typeface="黑体" panose="02010609060101010101" pitchFamily="49" charset="-122"/>
              </a:rPr>
              <a:t>)</a:t>
            </a:r>
            <a:r>
              <a:rPr lang="zh-CN" altLang="en-US" sz="3200" b="1" dirty="0">
                <a:solidFill>
                  <a:srgbClr val="0000FF"/>
                </a:solidFill>
                <a:latin typeface="Times New Roman" panose="02020603050405020304" pitchFamily="18" charset="0"/>
                <a:ea typeface="黑体" panose="02010609060101010101" pitchFamily="49" charset="-122"/>
              </a:rPr>
              <a:t>过渡时期总路线的特点</a:t>
            </a:r>
          </a:p>
          <a:p>
            <a:pPr lvl="0" eaLnBrk="0" hangingPunct="0">
              <a:lnSpc>
                <a:spcPct val="105000"/>
              </a:lnSpc>
              <a:spcBef>
                <a:spcPct val="50000"/>
              </a:spcBef>
            </a:pPr>
            <a:r>
              <a:rPr lang="zh-CN" altLang="en-US" sz="3200" b="1" dirty="0">
                <a:solidFill>
                  <a:srgbClr val="0000FF"/>
                </a:solidFill>
                <a:latin typeface="Times New Roman" panose="02020603050405020304" pitchFamily="18" charset="0"/>
                <a:ea typeface="黑体" panose="02010609060101010101" pitchFamily="49" charset="-122"/>
              </a:rPr>
              <a:t>    </a:t>
            </a:r>
          </a:p>
          <a:p>
            <a:pPr lvl="0" eaLnBrk="0" hangingPunct="0">
              <a:lnSpc>
                <a:spcPct val="105000"/>
              </a:lnSpc>
              <a:spcBef>
                <a:spcPct val="50000"/>
              </a:spcBef>
            </a:pPr>
            <a:r>
              <a:rPr lang="zh-CN" altLang="en-US" sz="3200" b="1" dirty="0">
                <a:solidFill>
                  <a:srgbClr val="0000FF"/>
                </a:solidFill>
                <a:latin typeface="Times New Roman" panose="02020603050405020304" pitchFamily="18" charset="0"/>
                <a:ea typeface="黑体" panose="02010609060101010101" pitchFamily="49" charset="-122"/>
              </a:rPr>
              <a:t>     </a:t>
            </a:r>
            <a:r>
              <a:rPr lang="zh-CN" altLang="en-US" sz="3200" b="1" dirty="0">
                <a:solidFill>
                  <a:srgbClr val="FF0000"/>
                </a:solidFill>
                <a:latin typeface="Times New Roman" panose="02020603050405020304" pitchFamily="18" charset="0"/>
                <a:ea typeface="黑体" panose="02010609060101010101" pitchFamily="49" charset="-122"/>
              </a:rPr>
              <a:t>建设与改造并举</a:t>
            </a:r>
          </a:p>
          <a:p>
            <a:pPr lvl="0" eaLnBrk="0" hangingPunct="0">
              <a:lnSpc>
                <a:spcPct val="105000"/>
              </a:lnSpc>
              <a:spcBef>
                <a:spcPct val="50000"/>
              </a:spcBef>
            </a:pPr>
            <a:r>
              <a:rPr lang="zh-CN" altLang="en-US" sz="3200" b="1" dirty="0">
                <a:solidFill>
                  <a:srgbClr val="FF0000"/>
                </a:solidFill>
                <a:latin typeface="Times New Roman" panose="02020603050405020304" pitchFamily="18" charset="0"/>
                <a:ea typeface="黑体" panose="02010609060101010101" pitchFamily="49" charset="-122"/>
              </a:rPr>
              <a:t>        把国家工业化和社会主义三大改造紧密地结合起来</a:t>
            </a:r>
            <a:r>
              <a:rPr lang="zh-CN" altLang="en-US" sz="3200" b="1" dirty="0">
                <a:solidFill>
                  <a:srgbClr val="0000FF"/>
                </a:solidFill>
                <a:latin typeface="Times New Roman" panose="02020603050405020304" pitchFamily="18" charset="0"/>
                <a:ea typeface="黑体" panose="02010609060101010101" pitchFamily="49" charset="-122"/>
              </a:rPr>
              <a:t>，在社会改革中保持生产力的同步发展。</a:t>
            </a:r>
          </a:p>
          <a:p>
            <a:pPr lvl="0" eaLnBrk="0" hangingPunct="0">
              <a:lnSpc>
                <a:spcPct val="105000"/>
              </a:lnSpc>
              <a:spcBef>
                <a:spcPct val="50000"/>
              </a:spcBef>
            </a:pPr>
            <a:r>
              <a:rPr lang="zh-CN" altLang="en-US" sz="3200" b="1" dirty="0">
                <a:solidFill>
                  <a:srgbClr val="0000FF"/>
                </a:solidFill>
                <a:latin typeface="Times New Roman" panose="02020603050405020304" pitchFamily="18" charset="0"/>
                <a:ea typeface="黑体" panose="02010609060101010101" pitchFamily="49" charset="-122"/>
              </a:rPr>
              <a:t>      其实质是在生产力发展的基础上改变所有制的问题。</a:t>
            </a:r>
          </a:p>
        </p:txBody>
      </p:sp>
      <p:pic>
        <p:nvPicPr>
          <p:cNvPr id="38914" name="图片 1" descr="se15766074e"/>
          <p:cNvPicPr>
            <a:picLocks noChangeAspect="1"/>
          </p:cNvPicPr>
          <p:nvPr/>
        </p:nvPicPr>
        <p:blipFill>
          <a:blip r:embed="rId2" cstate="print"/>
          <a:stretch>
            <a:fillRect/>
          </a:stretch>
        </p:blipFill>
        <p:spPr>
          <a:xfrm>
            <a:off x="-457200" y="-334962"/>
            <a:ext cx="10058400" cy="7527925"/>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p:cNvSpPr/>
          <p:nvPr/>
        </p:nvSpPr>
        <p:spPr>
          <a:xfrm>
            <a:off x="467544" y="1881791"/>
            <a:ext cx="7848600" cy="2862322"/>
          </a:xfrm>
          <a:prstGeom prst="rect">
            <a:avLst/>
          </a:prstGeom>
          <a:solidFill>
            <a:schemeClr val="bg1"/>
          </a:solidFill>
          <a:ln w="9525" cap="flat" cmpd="sng">
            <a:solidFill>
              <a:srgbClr val="FF0000"/>
            </a:solidFill>
            <a:prstDash val="solid"/>
            <a:miter/>
            <a:headEnd type="none" w="med" len="med"/>
            <a:tailEnd type="none" w="med" len="med"/>
          </a:ln>
        </p:spPr>
        <p:txBody>
          <a:bodyPr anchor="ctr">
            <a:spAutoFit/>
          </a:bodyPr>
          <a:lstStyle/>
          <a:p>
            <a:pPr lvl="0">
              <a:lnSpc>
                <a:spcPct val="150000"/>
              </a:lnSpc>
            </a:pPr>
            <a:r>
              <a:rPr lang="zh-CN" altLang="zh-CN" sz="2400" b="1" dirty="0" smtClean="0">
                <a:solidFill>
                  <a:srgbClr val="FF0000"/>
                </a:solidFill>
                <a:latin typeface="隶书" pitchFamily="49" charset="-122"/>
                <a:ea typeface="隶书" pitchFamily="49" charset="-122"/>
              </a:rPr>
              <a:t>首先，</a:t>
            </a:r>
            <a:r>
              <a:rPr lang="zh-CN" altLang="zh-CN" sz="2400" b="1" dirty="0" smtClean="0">
                <a:latin typeface="隶书" pitchFamily="49" charset="-122"/>
                <a:ea typeface="隶书" pitchFamily="49" charset="-122"/>
              </a:rPr>
              <a:t>从根本上改变中国贫穷落后的面貌，把中国从一个落后的农业国转变为先进的工业国，就必须实现国家的工业化。而在中国具体条件下，就必须实行社会主义工业化。实现社会主义工业化，是国家独立和富强的必然要求和必要条件。</a:t>
            </a:r>
            <a:endParaRPr lang="zh-CN" altLang="en-US" sz="2400" b="1" dirty="0">
              <a:solidFill>
                <a:srgbClr val="0000FF"/>
              </a:solidFill>
              <a:latin typeface="隶书" pitchFamily="49" charset="-122"/>
              <a:ea typeface="隶书" pitchFamily="49" charset="-122"/>
            </a:endParaRPr>
          </a:p>
        </p:txBody>
      </p:sp>
      <p:sp>
        <p:nvSpPr>
          <p:cNvPr id="3" name="矩形 2"/>
          <p:cNvSpPr/>
          <p:nvPr/>
        </p:nvSpPr>
        <p:spPr>
          <a:xfrm>
            <a:off x="611560" y="692696"/>
            <a:ext cx="7920880" cy="646331"/>
          </a:xfrm>
          <a:prstGeom prst="rect">
            <a:avLst/>
          </a:prstGeom>
          <a:solidFill>
            <a:schemeClr val="bg1"/>
          </a:solidFill>
          <a:ln>
            <a:solidFill>
              <a:srgbClr val="FF0000"/>
            </a:solidFill>
          </a:ln>
        </p:spPr>
        <p:txBody>
          <a:bodyPr wrap="square">
            <a:spAutoFit/>
          </a:bodyPr>
          <a:lstStyle/>
          <a:p>
            <a:r>
              <a:rPr lang="en-US" altLang="zh-CN" b="1" dirty="0" smtClean="0">
                <a:solidFill>
                  <a:srgbClr val="FF0000"/>
                </a:solidFill>
                <a:latin typeface="Times New Roman" panose="02020603050405020304" pitchFamily="18" charset="0"/>
                <a:ea typeface="黑体" panose="02010609060101010101" pitchFamily="49" charset="-122"/>
              </a:rPr>
              <a:t> </a:t>
            </a:r>
            <a:r>
              <a:rPr lang="zh-CN" altLang="en-US" sz="3600" b="1" dirty="0" smtClean="0">
                <a:solidFill>
                  <a:srgbClr val="FF0000"/>
                </a:solidFill>
                <a:latin typeface="华文琥珀" pitchFamily="2" charset="-122"/>
                <a:ea typeface="华文琥珀" pitchFamily="2" charset="-122"/>
                <a:cs typeface="+mn-cs"/>
              </a:rPr>
              <a:t>为什么要同时并举</a:t>
            </a:r>
          </a:p>
        </p:txBody>
      </p:sp>
    </p:spTree>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p:cNvSpPr/>
          <p:nvPr/>
        </p:nvSpPr>
        <p:spPr>
          <a:xfrm>
            <a:off x="611560" y="1737775"/>
            <a:ext cx="7848600" cy="2862322"/>
          </a:xfrm>
          <a:prstGeom prst="rect">
            <a:avLst/>
          </a:prstGeom>
          <a:solidFill>
            <a:schemeClr val="bg1"/>
          </a:solidFill>
          <a:ln w="9525" cap="flat" cmpd="sng">
            <a:solidFill>
              <a:srgbClr val="FF0000"/>
            </a:solidFill>
            <a:prstDash val="solid"/>
            <a:miter/>
            <a:headEnd type="none" w="med" len="med"/>
            <a:tailEnd type="none" w="med" len="med"/>
          </a:ln>
        </p:spPr>
        <p:txBody>
          <a:bodyPr anchor="ctr">
            <a:spAutoFit/>
          </a:bodyPr>
          <a:lstStyle/>
          <a:p>
            <a:pPr lvl="0">
              <a:lnSpc>
                <a:spcPct val="150000"/>
              </a:lnSpc>
            </a:pPr>
            <a:r>
              <a:rPr lang="zh-CN" altLang="zh-CN" sz="2400" b="1" dirty="0" smtClean="0">
                <a:solidFill>
                  <a:srgbClr val="FF0000"/>
                </a:solidFill>
                <a:latin typeface="隶书" pitchFamily="49" charset="-122"/>
                <a:ea typeface="隶书" pitchFamily="49" charset="-122"/>
              </a:rPr>
              <a:t>其次，</a:t>
            </a:r>
            <a:r>
              <a:rPr lang="zh-CN" altLang="zh-CN" sz="2400" b="1" dirty="0">
                <a:latin typeface="隶书" pitchFamily="49" charset="-122"/>
                <a:ea typeface="隶书" pitchFamily="49" charset="-122"/>
              </a:rPr>
              <a:t>为了实现社会主义工业化，在充分利用原有工业潜力和进行新的工业建设的同时，必须对个体经济和私人资本主义工商业进行社会主义改造。因为随着大规模经济建设的开展，个体经济和私营资本主义工商业越来越不适应国家工业化建设的需要。</a:t>
            </a:r>
            <a:endParaRPr lang="zh-CN" altLang="en-US" sz="2400" b="1" dirty="0">
              <a:latin typeface="隶书" pitchFamily="49" charset="-122"/>
              <a:ea typeface="隶书" pitchFamily="49" charset="-122"/>
            </a:endParaRPr>
          </a:p>
        </p:txBody>
      </p:sp>
    </p:spTree>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827584" y="620688"/>
            <a:ext cx="5415265" cy="523220"/>
          </a:xfrm>
          <a:prstGeom prst="rect">
            <a:avLst/>
          </a:prstGeom>
          <a:solidFill>
            <a:schemeClr val="bg2"/>
          </a:solidFill>
          <a:ln>
            <a:solidFill>
              <a:schemeClr val="accent1"/>
            </a:solidFill>
          </a:ln>
        </p:spPr>
        <p:txBody>
          <a:bodyPr wrap="none">
            <a:spAutoFit/>
          </a:bodyPr>
          <a:lstStyle/>
          <a:p>
            <a:r>
              <a:rPr lang="en-US" altLang="zh-CN" sz="2800" b="1" dirty="0" smtClean="0">
                <a:solidFill>
                  <a:srgbClr val="FF0000"/>
                </a:solidFill>
                <a:latin typeface="黑体" pitchFamily="49" charset="-122"/>
                <a:ea typeface="黑体" pitchFamily="49" charset="-122"/>
              </a:rPr>
              <a:t>3</a:t>
            </a:r>
            <a:r>
              <a:rPr lang="zh-CN" altLang="en-US" sz="2800" b="1" dirty="0" smtClean="0">
                <a:solidFill>
                  <a:srgbClr val="FF0000"/>
                </a:solidFill>
                <a:latin typeface="黑体" pitchFamily="49" charset="-122"/>
                <a:ea typeface="黑体" pitchFamily="49" charset="-122"/>
              </a:rPr>
              <a:t>、过渡时期</a:t>
            </a:r>
            <a:r>
              <a:rPr lang="zh-CN" altLang="en-US" sz="2800" b="1" dirty="0">
                <a:solidFill>
                  <a:srgbClr val="FF0000"/>
                </a:solidFill>
                <a:latin typeface="黑体" pitchFamily="49" charset="-122"/>
                <a:ea typeface="黑体" pitchFamily="49" charset="-122"/>
              </a:rPr>
              <a:t>总路线提出的必然性</a:t>
            </a:r>
          </a:p>
        </p:txBody>
      </p:sp>
      <p:sp>
        <p:nvSpPr>
          <p:cNvPr id="2" name="矩形 1"/>
          <p:cNvSpPr/>
          <p:nvPr/>
        </p:nvSpPr>
        <p:spPr>
          <a:xfrm>
            <a:off x="755576" y="1556792"/>
            <a:ext cx="6890456" cy="1384995"/>
          </a:xfrm>
          <a:prstGeom prst="rect">
            <a:avLst/>
          </a:prstGeom>
          <a:solidFill>
            <a:schemeClr val="bg1"/>
          </a:solidFill>
          <a:ln>
            <a:solidFill>
              <a:schemeClr val="accent1"/>
            </a:solidFill>
          </a:ln>
        </p:spPr>
        <p:txBody>
          <a:bodyPr wrap="square">
            <a:spAutoFit/>
          </a:bodyPr>
          <a:lstStyle/>
          <a:p>
            <a:pPr indent="314960" algn="just">
              <a:lnSpc>
                <a:spcPct val="150000"/>
              </a:lnSpc>
              <a:spcAft>
                <a:spcPts val="0"/>
              </a:spcAft>
            </a:pPr>
            <a:r>
              <a:rPr lang="zh-CN" altLang="en-US" sz="2800" b="1" dirty="0" smtClean="0">
                <a:solidFill>
                  <a:srgbClr val="0000FF"/>
                </a:solidFill>
                <a:latin typeface="Times New Roman" panose="02020603050405020304" pitchFamily="18" charset="0"/>
                <a:ea typeface="黑体" panose="02010609060101010101" pitchFamily="49" charset="-122"/>
                <a:cs typeface="+mj-cs"/>
              </a:rPr>
              <a:t>第一，</a:t>
            </a:r>
            <a:r>
              <a:rPr lang="zh-CN" altLang="zh-CN" sz="2800" b="1" dirty="0" smtClean="0">
                <a:solidFill>
                  <a:srgbClr val="0000FF"/>
                </a:solidFill>
                <a:latin typeface="Times New Roman" panose="02020603050405020304" pitchFamily="18" charset="0"/>
                <a:ea typeface="黑体" panose="02010609060101010101" pitchFamily="49" charset="-122"/>
                <a:cs typeface="+mj-cs"/>
              </a:rPr>
              <a:t>实现</a:t>
            </a:r>
            <a:r>
              <a:rPr lang="zh-CN" altLang="zh-CN" sz="2800" b="1" dirty="0">
                <a:solidFill>
                  <a:srgbClr val="0000FF"/>
                </a:solidFill>
                <a:latin typeface="Times New Roman" panose="02020603050405020304" pitchFamily="18" charset="0"/>
                <a:ea typeface="黑体" panose="02010609060101010101" pitchFamily="49" charset="-122"/>
                <a:cs typeface="+mj-cs"/>
              </a:rPr>
              <a:t>社会主义工业化，是国家独立和富强的必然要求和必要条件。</a:t>
            </a:r>
          </a:p>
        </p:txBody>
      </p:sp>
      <p:sp>
        <p:nvSpPr>
          <p:cNvPr id="7" name="Rectangle 2"/>
          <p:cNvSpPr/>
          <p:nvPr/>
        </p:nvSpPr>
        <p:spPr>
          <a:xfrm>
            <a:off x="755576" y="3284984"/>
            <a:ext cx="7201098" cy="2803909"/>
          </a:xfrm>
          <a:prstGeom prst="rect">
            <a:avLst/>
          </a:prstGeom>
          <a:solidFill>
            <a:schemeClr val="bg1"/>
          </a:solidFill>
          <a:ln w="9525" cap="flat" cmpd="sng">
            <a:solidFill>
              <a:srgbClr val="FF0000"/>
            </a:solidFill>
            <a:prstDash val="solid"/>
            <a:miter/>
            <a:headEnd type="none" w="med" len="med"/>
            <a:tailEnd type="none" w="med" len="med"/>
          </a:ln>
        </p:spPr>
        <p:txBody>
          <a:bodyPr wrap="square" anchor="ctr">
            <a:spAutoFit/>
          </a:bodyPr>
          <a:lstStyle/>
          <a:p>
            <a:pPr lvl="0">
              <a:lnSpc>
                <a:spcPct val="150000"/>
              </a:lnSpc>
            </a:pPr>
            <a:r>
              <a:rPr lang="zh-CN" altLang="en-US" sz="2000" b="1" dirty="0" smtClean="0">
                <a:latin typeface="Times New Roman" panose="02020603050405020304" pitchFamily="18" charset="0"/>
                <a:ea typeface="黑体" panose="02010609060101010101" pitchFamily="49" charset="-122"/>
              </a:rPr>
              <a:t>        一</a:t>
            </a:r>
            <a:r>
              <a:rPr lang="zh-CN" altLang="en-US" sz="2000" b="1" dirty="0">
                <a:latin typeface="Times New Roman" panose="02020603050405020304" pitchFamily="18" charset="0"/>
                <a:ea typeface="黑体" panose="02010609060101010101" pitchFamily="49" charset="-122"/>
              </a:rPr>
              <a:t>种是西方资本主义国家走过的路，从发展轻工业开始，一般用五十年到一百年的时间才</a:t>
            </a:r>
            <a:r>
              <a:rPr lang="zh-CN" altLang="en-US" sz="2000" b="1" dirty="0" smtClean="0">
                <a:latin typeface="Times New Roman" panose="02020603050405020304" pitchFamily="18" charset="0"/>
                <a:ea typeface="黑体" panose="02010609060101010101" pitchFamily="49" charset="-122"/>
              </a:rPr>
              <a:t>实现。时间长，而且很痛苦。近代历史证明，我国已经丧失了机遇。</a:t>
            </a:r>
            <a:endParaRPr lang="en-US" altLang="zh-CN" sz="2000" b="1" dirty="0" smtClean="0">
              <a:latin typeface="Times New Roman" panose="02020603050405020304" pitchFamily="18" charset="0"/>
              <a:ea typeface="黑体" panose="02010609060101010101" pitchFamily="49" charset="-122"/>
            </a:endParaRPr>
          </a:p>
          <a:p>
            <a:pPr lvl="0">
              <a:lnSpc>
                <a:spcPct val="150000"/>
              </a:lnSpc>
            </a:pPr>
            <a:r>
              <a:rPr lang="zh-CN" altLang="en-US" sz="2000" b="1" dirty="0" smtClean="0">
                <a:latin typeface="Times New Roman" panose="02020603050405020304" pitchFamily="18" charset="0"/>
                <a:ea typeface="黑体" panose="02010609060101010101" pitchFamily="49" charset="-122"/>
              </a:rPr>
              <a:t>     一种是</a:t>
            </a:r>
            <a:r>
              <a:rPr lang="zh-CN" altLang="en-US" sz="2000" b="1" dirty="0">
                <a:latin typeface="Times New Roman" panose="02020603050405020304" pitchFamily="18" charset="0"/>
                <a:ea typeface="黑体" panose="02010609060101010101" pitchFamily="49" charset="-122"/>
              </a:rPr>
              <a:t>社会主义国家苏联走过的路，从重工业建设开始，只用十几年就实现了工业化</a:t>
            </a:r>
            <a:r>
              <a:rPr lang="zh-CN" altLang="en-US" sz="2000" b="1" dirty="0" smtClean="0">
                <a:latin typeface="Times New Roman" panose="02020603050405020304" pitchFamily="18" charset="0"/>
                <a:ea typeface="黑体" panose="02010609060101010101" pitchFamily="49" charset="-122"/>
              </a:rPr>
              <a:t>。</a:t>
            </a:r>
            <a:endParaRPr lang="en-US" altLang="zh-CN" sz="2000" b="1" dirty="0" smtClean="0">
              <a:latin typeface="Times New Roman" panose="02020603050405020304" pitchFamily="18" charset="0"/>
              <a:ea typeface="黑体" panose="02010609060101010101" pitchFamily="49" charset="-122"/>
            </a:endParaRPr>
          </a:p>
          <a:p>
            <a:pPr lvl="0">
              <a:lnSpc>
                <a:spcPct val="150000"/>
              </a:lnSpc>
            </a:pPr>
            <a:r>
              <a:rPr lang="en-US" altLang="zh-CN" sz="2000" b="1" dirty="0">
                <a:latin typeface="Times New Roman" panose="02020603050405020304" pitchFamily="18" charset="0"/>
                <a:ea typeface="黑体" panose="02010609060101010101" pitchFamily="49" charset="-122"/>
              </a:rPr>
              <a:t> </a:t>
            </a:r>
            <a:r>
              <a:rPr lang="en-US" altLang="zh-CN" sz="2000" b="1" dirty="0" smtClean="0">
                <a:latin typeface="Times New Roman" panose="02020603050405020304" pitchFamily="18" charset="0"/>
                <a:ea typeface="黑体" panose="02010609060101010101" pitchFamily="49" charset="-122"/>
              </a:rPr>
              <a:t>   </a:t>
            </a:r>
            <a:r>
              <a:rPr lang="zh-CN" altLang="en-US" sz="2000" b="1" dirty="0" smtClean="0">
                <a:latin typeface="Times New Roman" panose="02020603050405020304" pitchFamily="18" charset="0"/>
                <a:ea typeface="黑体" panose="02010609060101010101" pitchFamily="49" charset="-122"/>
              </a:rPr>
              <a:t>社会主义制度可以集中力量办大事。</a:t>
            </a:r>
            <a:endParaRPr lang="en-US" altLang="zh-CN" sz="2000" b="1" dirty="0">
              <a:latin typeface="Times New Roman" panose="02020603050405020304" pitchFamily="18" charset="0"/>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p:cNvSpPr>
            <a:spLocks noGrp="1"/>
          </p:cNvSpPr>
          <p:nvPr>
            <p:ph type="title"/>
          </p:nvPr>
        </p:nvSpPr>
        <p:spPr>
          <a:xfrm>
            <a:off x="755576" y="2204864"/>
            <a:ext cx="6890456" cy="1902059"/>
          </a:xfrm>
          <a:solidFill>
            <a:schemeClr val="bg1"/>
          </a:solidFill>
          <a:ln w="12700">
            <a:solidFill>
              <a:srgbClr val="FF3300"/>
            </a:solidFill>
            <a:miter/>
          </a:ln>
        </p:spPr>
        <p:txBody>
          <a:bodyPr wrap="square" anchor="t">
            <a:spAutoFit/>
          </a:bodyPr>
          <a:lstStyle/>
          <a:p>
            <a:pPr algn="l">
              <a:lnSpc>
                <a:spcPct val="105000"/>
              </a:lnSpc>
              <a:spcBef>
                <a:spcPct val="50000"/>
              </a:spcBef>
            </a:pPr>
            <a:r>
              <a:rPr lang="en-US" altLang="zh-CN" sz="2800" b="1" dirty="0">
                <a:solidFill>
                  <a:srgbClr val="0000FF"/>
                </a:solidFill>
                <a:latin typeface="Times New Roman" panose="02020603050405020304" pitchFamily="18" charset="0"/>
                <a:ea typeface="黑体" panose="02010609060101010101" pitchFamily="49" charset="-122"/>
                <a:cs typeface="+mn-cs"/>
              </a:rPr>
              <a:t>    </a:t>
            </a:r>
            <a:r>
              <a:rPr lang="zh-CN" altLang="en-US" sz="2800" b="1" dirty="0">
                <a:solidFill>
                  <a:srgbClr val="0000FF"/>
                </a:solidFill>
                <a:latin typeface="Times New Roman" panose="02020603050405020304" pitchFamily="18" charset="0"/>
                <a:ea typeface="黑体" panose="02010609060101010101" pitchFamily="49" charset="-122"/>
                <a:cs typeface="+mn-cs"/>
              </a:rPr>
              <a:t>第三，对资本主义归属于进行社会主义改造，是实现社会主义工业化，建设社会主义强大国家的迫切需要，也是由当时主要矛盾决定的。        </a:t>
            </a:r>
          </a:p>
        </p:txBody>
      </p:sp>
      <p:sp>
        <p:nvSpPr>
          <p:cNvPr id="2" name="矩形 1"/>
          <p:cNvSpPr/>
          <p:nvPr/>
        </p:nvSpPr>
        <p:spPr>
          <a:xfrm>
            <a:off x="755576" y="620688"/>
            <a:ext cx="6890456" cy="1384995"/>
          </a:xfrm>
          <a:prstGeom prst="rect">
            <a:avLst/>
          </a:prstGeom>
          <a:solidFill>
            <a:schemeClr val="bg1"/>
          </a:solidFill>
          <a:ln>
            <a:solidFill>
              <a:schemeClr val="accent1"/>
            </a:solidFill>
          </a:ln>
        </p:spPr>
        <p:txBody>
          <a:bodyPr wrap="square">
            <a:spAutoFit/>
          </a:bodyPr>
          <a:lstStyle/>
          <a:p>
            <a:pPr indent="314960" algn="just">
              <a:lnSpc>
                <a:spcPct val="150000"/>
              </a:lnSpc>
            </a:pPr>
            <a:r>
              <a:rPr lang="zh-CN" altLang="en-US" sz="2800" b="1" dirty="0" smtClean="0">
                <a:solidFill>
                  <a:srgbClr val="0000FF"/>
                </a:solidFill>
                <a:latin typeface="Times New Roman" panose="02020603050405020304" pitchFamily="18" charset="0"/>
                <a:ea typeface="黑体" panose="02010609060101010101" pitchFamily="49" charset="-122"/>
              </a:rPr>
              <a:t> 第二，对个体农业和手工业的社会主义改造是发展社会生产力的需要</a:t>
            </a:r>
            <a:r>
              <a:rPr lang="zh-CN" altLang="zh-CN" sz="2800" b="1" dirty="0" smtClean="0">
                <a:solidFill>
                  <a:srgbClr val="0000FF"/>
                </a:solidFill>
                <a:latin typeface="Times New Roman" panose="02020603050405020304" pitchFamily="18" charset="0"/>
                <a:ea typeface="黑体" panose="02010609060101010101" pitchFamily="49" charset="-122"/>
              </a:rPr>
              <a:t>。</a:t>
            </a:r>
            <a:r>
              <a:rPr lang="en-US" altLang="zh-CN" sz="2800" b="1" dirty="0" smtClean="0">
                <a:solidFill>
                  <a:srgbClr val="0000FF"/>
                </a:solidFill>
                <a:latin typeface="Times New Roman" panose="02020603050405020304" pitchFamily="18" charset="0"/>
                <a:ea typeface="黑体" panose="02010609060101010101" pitchFamily="49" charset="-122"/>
              </a:rPr>
              <a:t>            </a:t>
            </a:r>
            <a:endParaRPr lang="zh-CN" altLang="zh-CN" sz="2800" b="1" dirty="0">
              <a:solidFill>
                <a:srgbClr val="0000FF"/>
              </a:solidFill>
              <a:latin typeface="Times New Roman" panose="02020603050405020304" pitchFamily="18" charset="0"/>
              <a:ea typeface="黑体" panose="02010609060101010101" pitchFamily="49" charset="-122"/>
            </a:endParaRPr>
          </a:p>
        </p:txBody>
      </p:sp>
      <p:sp>
        <p:nvSpPr>
          <p:cNvPr id="5" name="矩形 4"/>
          <p:cNvSpPr/>
          <p:nvPr/>
        </p:nvSpPr>
        <p:spPr>
          <a:xfrm>
            <a:off x="755576" y="4293096"/>
            <a:ext cx="6890456" cy="1384995"/>
          </a:xfrm>
          <a:prstGeom prst="rect">
            <a:avLst/>
          </a:prstGeom>
          <a:solidFill>
            <a:schemeClr val="bg1"/>
          </a:solidFill>
          <a:ln>
            <a:solidFill>
              <a:schemeClr val="accent1"/>
            </a:solidFill>
          </a:ln>
        </p:spPr>
        <p:txBody>
          <a:bodyPr wrap="square">
            <a:spAutoFit/>
          </a:bodyPr>
          <a:lstStyle/>
          <a:p>
            <a:pPr indent="314960" algn="just">
              <a:lnSpc>
                <a:spcPct val="150000"/>
              </a:lnSpc>
            </a:pPr>
            <a:r>
              <a:rPr lang="zh-CN" altLang="en-US" sz="2800" b="1" dirty="0" smtClean="0">
                <a:solidFill>
                  <a:srgbClr val="0000FF"/>
                </a:solidFill>
                <a:latin typeface="Times New Roman" panose="02020603050405020304" pitchFamily="18" charset="0"/>
                <a:ea typeface="黑体" panose="02010609060101010101" pitchFamily="49" charset="-122"/>
              </a:rPr>
              <a:t> 第四，当时的国际环境也促使中国选择社会主义</a:t>
            </a:r>
            <a:r>
              <a:rPr lang="zh-CN" altLang="zh-CN" sz="2800" b="1" dirty="0" smtClean="0">
                <a:solidFill>
                  <a:srgbClr val="0000FF"/>
                </a:solidFill>
                <a:latin typeface="Times New Roman" panose="02020603050405020304" pitchFamily="18" charset="0"/>
                <a:ea typeface="黑体" panose="02010609060101010101" pitchFamily="49" charset="-122"/>
              </a:rPr>
              <a:t>。</a:t>
            </a:r>
            <a:r>
              <a:rPr lang="en-US" altLang="zh-CN" sz="2800" b="1" dirty="0" smtClean="0">
                <a:solidFill>
                  <a:srgbClr val="0000FF"/>
                </a:solidFill>
                <a:latin typeface="Times New Roman" panose="02020603050405020304" pitchFamily="18" charset="0"/>
                <a:ea typeface="黑体" panose="02010609060101010101" pitchFamily="49" charset="-122"/>
              </a:rPr>
              <a:t>            </a:t>
            </a:r>
            <a:endParaRPr lang="zh-CN" altLang="zh-CN" sz="2800" b="1" dirty="0">
              <a:solidFill>
                <a:srgbClr val="0000FF"/>
              </a:solidFill>
              <a:latin typeface="Times New Roman" panose="02020603050405020304" pitchFamily="18" charset="0"/>
              <a:ea typeface="黑体" panose="02010609060101010101" pitchFamily="49" charset="-122"/>
            </a:endParaRPr>
          </a:p>
        </p:txBody>
      </p:sp>
    </p:spTree>
    <p:extLst>
      <p:ext uri="{BB962C8B-B14F-4D97-AF65-F5344CB8AC3E}">
        <p14:creationId xmlns:p14="http://schemas.microsoft.com/office/powerpoint/2010/main" xmlns="" val="3825376794"/>
      </p:ext>
    </p:extLst>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83568" y="1052736"/>
            <a:ext cx="7488832" cy="1077218"/>
          </a:xfrm>
          <a:prstGeom prst="rect">
            <a:avLst/>
          </a:prstGeom>
          <a:solidFill>
            <a:schemeClr val="bg2"/>
          </a:solidFill>
          <a:ln>
            <a:solidFill>
              <a:schemeClr val="accent1"/>
            </a:solidFill>
          </a:ln>
        </p:spPr>
        <p:txBody>
          <a:bodyPr wrap="square">
            <a:spAutoFit/>
          </a:bodyPr>
          <a:lstStyle/>
          <a:p>
            <a:r>
              <a:rPr lang="zh-CN" altLang="en-US" sz="3200" b="1" dirty="0" smtClean="0">
                <a:solidFill>
                  <a:srgbClr val="FF0000"/>
                </a:solidFill>
                <a:latin typeface="华文琥珀" pitchFamily="2" charset="-122"/>
                <a:ea typeface="华文琥珀" pitchFamily="2" charset="-122"/>
                <a:cs typeface="+mj-cs"/>
              </a:rPr>
              <a:t> 专题 二  </a:t>
            </a:r>
            <a:r>
              <a:rPr lang="en-US" altLang="zh-CN" sz="3200" b="1" dirty="0" smtClean="0">
                <a:solidFill>
                  <a:srgbClr val="FF0000"/>
                </a:solidFill>
                <a:latin typeface="华文琥珀" pitchFamily="2" charset="-122"/>
                <a:ea typeface="华文琥珀" pitchFamily="2" charset="-122"/>
                <a:cs typeface="+mj-cs"/>
              </a:rPr>
              <a:t>    </a:t>
            </a:r>
            <a:r>
              <a:rPr lang="zh-CN" altLang="en-US" sz="3200" b="1" dirty="0" smtClean="0">
                <a:solidFill>
                  <a:srgbClr val="FF0000"/>
                </a:solidFill>
                <a:latin typeface="华文琥珀" pitchFamily="2" charset="-122"/>
                <a:ea typeface="华文琥珀" pitchFamily="2" charset="-122"/>
                <a:cs typeface="+mj-cs"/>
              </a:rPr>
              <a:t>社会主义改造的道路和历史经验</a:t>
            </a:r>
            <a:endParaRPr lang="zh-CN" altLang="en-US" dirty="0"/>
          </a:p>
        </p:txBody>
      </p:sp>
      <p:sp>
        <p:nvSpPr>
          <p:cNvPr id="5" name="矩形 4"/>
          <p:cNvSpPr/>
          <p:nvPr/>
        </p:nvSpPr>
        <p:spPr>
          <a:xfrm>
            <a:off x="1115616" y="3356992"/>
            <a:ext cx="6840760" cy="954107"/>
          </a:xfrm>
          <a:prstGeom prst="rect">
            <a:avLst/>
          </a:prstGeom>
          <a:solidFill>
            <a:schemeClr val="bg2"/>
          </a:solidFill>
          <a:ln>
            <a:solidFill>
              <a:schemeClr val="accent1"/>
            </a:solidFill>
          </a:ln>
        </p:spPr>
        <p:txBody>
          <a:bodyPr wrap="square">
            <a:spAutoFit/>
          </a:bodyPr>
          <a:lstStyle/>
          <a:p>
            <a:r>
              <a:rPr lang="zh-CN" altLang="en-US" sz="2800" b="1" dirty="0" smtClean="0">
                <a:solidFill>
                  <a:srgbClr val="FF0000"/>
                </a:solidFill>
                <a:latin typeface="黑体" pitchFamily="49" charset="-122"/>
                <a:ea typeface="黑体" pitchFamily="49" charset="-122"/>
              </a:rPr>
              <a:t>新民主主义社会怎样向社会主义社会过渡，</a:t>
            </a:r>
            <a:endParaRPr lang="en-US" altLang="zh-CN" sz="2800" b="1" dirty="0" smtClean="0">
              <a:solidFill>
                <a:srgbClr val="FF0000"/>
              </a:solidFill>
              <a:latin typeface="黑体" pitchFamily="49" charset="-122"/>
              <a:ea typeface="黑体" pitchFamily="49" charset="-122"/>
            </a:endParaRPr>
          </a:p>
          <a:p>
            <a:r>
              <a:rPr lang="zh-CN" altLang="en-US" sz="2800" b="1" dirty="0" smtClean="0">
                <a:solidFill>
                  <a:srgbClr val="FF0000"/>
                </a:solidFill>
                <a:latin typeface="黑体" pitchFamily="49" charset="-122"/>
                <a:ea typeface="黑体" pitchFamily="49" charset="-122"/>
              </a:rPr>
              <a:t>如何看待过渡</a:t>
            </a:r>
            <a:endParaRPr lang="zh-CN" altLang="en-US" sz="2800" b="1" dirty="0">
              <a:solidFill>
                <a:srgbClr val="FF0000"/>
              </a:solidFill>
              <a:latin typeface="黑体" pitchFamily="49" charset="-122"/>
              <a:ea typeface="黑体" pitchFamily="49" charset="-122"/>
            </a:endParaRPr>
          </a:p>
        </p:txBody>
      </p:sp>
    </p:spTree>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p:cNvSpPr>
            <a:spLocks noGrp="1"/>
          </p:cNvSpPr>
          <p:nvPr>
            <p:ph type="title"/>
          </p:nvPr>
        </p:nvSpPr>
        <p:spPr>
          <a:xfrm>
            <a:off x="899592" y="2924944"/>
            <a:ext cx="6781800" cy="2677656"/>
          </a:xfrm>
          <a:solidFill>
            <a:schemeClr val="bg1"/>
          </a:solidFill>
          <a:ln w="12700">
            <a:solidFill>
              <a:srgbClr val="FF3300"/>
            </a:solidFill>
            <a:miter/>
          </a:ln>
        </p:spPr>
        <p:txBody>
          <a:bodyPr anchor="t">
            <a:spAutoFit/>
          </a:bodyPr>
          <a:lstStyle/>
          <a:p>
            <a:pPr algn="l">
              <a:lnSpc>
                <a:spcPct val="150000"/>
              </a:lnSpc>
              <a:spcBef>
                <a:spcPct val="50000"/>
              </a:spcBef>
            </a:pPr>
            <a:r>
              <a:rPr lang="zh-CN" altLang="en-US" sz="2800" b="1" dirty="0">
                <a:solidFill>
                  <a:srgbClr val="0000FF"/>
                </a:solidFill>
                <a:latin typeface="Times New Roman" panose="02020603050405020304" pitchFamily="18" charset="0"/>
                <a:ea typeface="黑体" panose="02010609060101010101" pitchFamily="49" charset="-122"/>
              </a:rPr>
              <a:t>　</a:t>
            </a:r>
            <a:r>
              <a:rPr lang="zh-CN" altLang="en-US" sz="2800" b="1" dirty="0" smtClean="0">
                <a:solidFill>
                  <a:srgbClr val="0000FF"/>
                </a:solidFill>
                <a:latin typeface="Times New Roman" panose="02020603050405020304" pitchFamily="18" charset="0"/>
                <a:ea typeface="黑体" panose="02010609060101010101" pitchFamily="49" charset="-122"/>
              </a:rPr>
              <a:t>　过渡时期</a:t>
            </a:r>
            <a:r>
              <a:rPr lang="zh-CN" altLang="en-US" sz="2800" b="1" dirty="0">
                <a:solidFill>
                  <a:srgbClr val="0000FF"/>
                </a:solidFill>
                <a:latin typeface="Times New Roman" panose="02020603050405020304" pitchFamily="18" charset="0"/>
                <a:ea typeface="黑体" panose="02010609060101010101" pitchFamily="49" charset="-122"/>
              </a:rPr>
              <a:t>总路线的宣传、粮食统购统销政策的实施和</a:t>
            </a:r>
            <a:r>
              <a:rPr lang="en-US" altLang="zh-CN" sz="2800" b="1" dirty="0">
                <a:solidFill>
                  <a:srgbClr val="0000FF"/>
                </a:solidFill>
                <a:latin typeface="Times New Roman" panose="02020603050405020304" pitchFamily="18" charset="0"/>
                <a:ea typeface="黑体" panose="02010609060101010101" pitchFamily="49" charset="-122"/>
              </a:rPr>
              <a:t>1954</a:t>
            </a:r>
            <a:r>
              <a:rPr lang="zh-CN" altLang="en-US" sz="2800" b="1" dirty="0">
                <a:solidFill>
                  <a:srgbClr val="0000FF"/>
                </a:solidFill>
                <a:latin typeface="Times New Roman" panose="02020603050405020304" pitchFamily="18" charset="0"/>
                <a:ea typeface="黑体" panose="02010609060101010101" pitchFamily="49" charset="-122"/>
              </a:rPr>
              <a:t>年</a:t>
            </a:r>
            <a:r>
              <a:rPr lang="en-US" altLang="zh-CN" sz="2800" b="1" dirty="0">
                <a:solidFill>
                  <a:srgbClr val="0000FF"/>
                </a:solidFill>
                <a:latin typeface="Times New Roman" panose="02020603050405020304" pitchFamily="18" charset="0"/>
                <a:ea typeface="黑体" panose="02010609060101010101" pitchFamily="49" charset="-122"/>
              </a:rPr>
              <a:t>1</a:t>
            </a:r>
            <a:r>
              <a:rPr lang="zh-CN" altLang="en-US" sz="2800" b="1" dirty="0">
                <a:solidFill>
                  <a:srgbClr val="0000FF"/>
                </a:solidFill>
                <a:latin typeface="Times New Roman" panose="02020603050405020304" pitchFamily="18" charset="0"/>
                <a:ea typeface="黑体" panose="02010609060101010101" pitchFamily="49" charset="-122"/>
              </a:rPr>
              <a:t>月</a:t>
            </a:r>
            <a:r>
              <a:rPr lang="en-US" altLang="zh-CN" sz="2800" b="1" dirty="0">
                <a:solidFill>
                  <a:srgbClr val="0000FF"/>
                </a:solidFill>
                <a:latin typeface="Times New Roman" panose="02020603050405020304" pitchFamily="18" charset="0"/>
                <a:ea typeface="黑体" panose="02010609060101010101" pitchFamily="49" charset="-122"/>
              </a:rPr>
              <a:t>《</a:t>
            </a:r>
            <a:r>
              <a:rPr lang="zh-CN" altLang="en-US" sz="2800" b="1" dirty="0">
                <a:solidFill>
                  <a:srgbClr val="0000FF"/>
                </a:solidFill>
                <a:latin typeface="Times New Roman" panose="02020603050405020304" pitchFamily="18" charset="0"/>
                <a:ea typeface="黑体" panose="02010609060101010101" pitchFamily="49" charset="-122"/>
              </a:rPr>
              <a:t>中共中央关于发展农业生产合作社的决议</a:t>
            </a:r>
            <a:r>
              <a:rPr lang="en-US" altLang="zh-CN" sz="2800" b="1" dirty="0">
                <a:solidFill>
                  <a:srgbClr val="0000FF"/>
                </a:solidFill>
                <a:latin typeface="Times New Roman" panose="02020603050405020304" pitchFamily="18" charset="0"/>
                <a:ea typeface="黑体" panose="02010609060101010101" pitchFamily="49" charset="-122"/>
              </a:rPr>
              <a:t>》</a:t>
            </a:r>
            <a:r>
              <a:rPr lang="zh-CN" altLang="en-US" sz="2800" b="1" dirty="0">
                <a:solidFill>
                  <a:srgbClr val="0000FF"/>
                </a:solidFill>
                <a:latin typeface="Times New Roman" panose="02020603050405020304" pitchFamily="18" charset="0"/>
                <a:ea typeface="黑体" panose="02010609060101010101" pitchFamily="49" charset="-122"/>
              </a:rPr>
              <a:t>公布，标志农业社会主义改造的全面开展。</a:t>
            </a:r>
          </a:p>
        </p:txBody>
      </p:sp>
      <p:sp>
        <p:nvSpPr>
          <p:cNvPr id="3" name="矩形 2"/>
          <p:cNvSpPr/>
          <p:nvPr/>
        </p:nvSpPr>
        <p:spPr>
          <a:xfrm>
            <a:off x="323528" y="620688"/>
            <a:ext cx="7160935" cy="584775"/>
          </a:xfrm>
          <a:prstGeom prst="rect">
            <a:avLst/>
          </a:prstGeom>
          <a:solidFill>
            <a:schemeClr val="bg2"/>
          </a:solidFill>
          <a:ln>
            <a:solidFill>
              <a:srgbClr val="FF0000"/>
            </a:solidFill>
          </a:ln>
        </p:spPr>
        <p:txBody>
          <a:bodyPr wrap="none">
            <a:spAutoFit/>
          </a:bodyPr>
          <a:lstStyle/>
          <a:p>
            <a:r>
              <a:rPr lang="zh-CN" altLang="en-US" sz="3200" b="1" dirty="0" smtClean="0">
                <a:solidFill>
                  <a:srgbClr val="FF0000"/>
                </a:solidFill>
                <a:latin typeface="华文琥珀" pitchFamily="2" charset="-122"/>
                <a:ea typeface="华文琥珀" pitchFamily="2" charset="-122"/>
              </a:rPr>
              <a:t>一、适合中国特点的社会主义改造道路</a:t>
            </a:r>
            <a:endParaRPr lang="zh-CN" altLang="en-US" sz="3200" dirty="0">
              <a:solidFill>
                <a:srgbClr val="FF0000"/>
              </a:solidFill>
              <a:latin typeface="华文琥珀" pitchFamily="2" charset="-122"/>
              <a:ea typeface="华文琥珀" pitchFamily="2" charset="-122"/>
            </a:endParaRPr>
          </a:p>
        </p:txBody>
      </p:sp>
      <p:sp>
        <p:nvSpPr>
          <p:cNvPr id="2" name="矩形 1"/>
          <p:cNvSpPr/>
          <p:nvPr/>
        </p:nvSpPr>
        <p:spPr>
          <a:xfrm>
            <a:off x="971600" y="2060848"/>
            <a:ext cx="3583032" cy="584775"/>
          </a:xfrm>
          <a:prstGeom prst="rect">
            <a:avLst/>
          </a:prstGeom>
          <a:solidFill>
            <a:schemeClr val="bg1"/>
          </a:solidFill>
          <a:ln>
            <a:solidFill>
              <a:schemeClr val="accent1"/>
            </a:solidFill>
          </a:ln>
        </p:spPr>
        <p:txBody>
          <a:bodyPr wrap="none">
            <a:spAutoFit/>
          </a:bodyPr>
          <a:lstStyle/>
          <a:p>
            <a:r>
              <a:rPr lang="zh-CN" altLang="en-US" sz="3200" b="1" dirty="0">
                <a:solidFill>
                  <a:srgbClr val="0000FF"/>
                </a:solidFill>
                <a:latin typeface="Times New Roman" panose="02020603050405020304" pitchFamily="18" charset="0"/>
                <a:ea typeface="黑体" panose="02010609060101010101" pitchFamily="49" charset="-122"/>
              </a:rPr>
              <a:t> </a:t>
            </a:r>
            <a:r>
              <a:rPr lang="zh-CN" altLang="en-US" sz="3200" b="1" dirty="0" smtClean="0">
                <a:solidFill>
                  <a:srgbClr val="FF0000"/>
                </a:solidFill>
                <a:latin typeface="Times New Roman" panose="02020603050405020304" pitchFamily="18" charset="0"/>
                <a:ea typeface="黑体" panose="02010609060101010101" pitchFamily="49" charset="-122"/>
              </a:rPr>
              <a:t>全面改造的起点</a:t>
            </a:r>
            <a:r>
              <a:rPr lang="zh-CN" altLang="en-US" sz="3200" b="1" dirty="0">
                <a:solidFill>
                  <a:srgbClr val="FF0000"/>
                </a:solidFill>
                <a:latin typeface="Times New Roman" panose="02020603050405020304" pitchFamily="18" charset="0"/>
                <a:ea typeface="黑体" panose="02010609060101010101" pitchFamily="49" charset="-122"/>
              </a:rPr>
              <a:t>：</a:t>
            </a:r>
            <a:endParaRPr lang="zh-CN" altLang="en-US" sz="3200" dirty="0"/>
          </a:p>
        </p:txBody>
      </p:sp>
    </p:spTree>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p:cNvSpPr>
          <p:nvPr>
            <p:ph type="title"/>
          </p:nvPr>
        </p:nvSpPr>
        <p:spPr>
          <a:xfrm>
            <a:off x="395536" y="1484784"/>
            <a:ext cx="5508104" cy="1384995"/>
          </a:xfrm>
          <a:solidFill>
            <a:schemeClr val="bg1"/>
          </a:solidFill>
          <a:ln w="12700">
            <a:solidFill>
              <a:srgbClr val="FF3300"/>
            </a:solidFill>
            <a:miter/>
          </a:ln>
        </p:spPr>
        <p:txBody>
          <a:bodyPr wrap="square">
            <a:spAutoFit/>
          </a:bodyPr>
          <a:lstStyle/>
          <a:p>
            <a:pPr algn="l" fontAlgn="base">
              <a:lnSpc>
                <a:spcPct val="150000"/>
              </a:lnSpc>
              <a:spcBef>
                <a:spcPct val="50000"/>
              </a:spcBef>
            </a:pPr>
            <a:r>
              <a:rPr lang="zh-CN" altLang="en-US" sz="2800" b="1" dirty="0" smtClean="0">
                <a:solidFill>
                  <a:srgbClr val="0000FF"/>
                </a:solidFill>
                <a:latin typeface="Times New Roman" panose="02020603050405020304" pitchFamily="18" charset="0"/>
                <a:ea typeface="黑体" panose="02010609060101010101" pitchFamily="49" charset="-122"/>
              </a:rPr>
              <a:t>    </a:t>
            </a:r>
            <a:r>
              <a:rPr lang="zh-CN" altLang="en-US" sz="2800" b="1" dirty="0">
                <a:solidFill>
                  <a:srgbClr val="0000FF"/>
                </a:solidFill>
                <a:latin typeface="Times New Roman" panose="02020603050405020304" pitchFamily="18" charset="0"/>
                <a:ea typeface="黑体" panose="02010609060101010101" pitchFamily="49" charset="-122"/>
              </a:rPr>
              <a:t>第一，积极引导农民组织起来，走互助合作道路</a:t>
            </a:r>
            <a:r>
              <a:rPr lang="zh-CN" altLang="en-US" sz="2800" b="1" dirty="0" smtClean="0">
                <a:solidFill>
                  <a:srgbClr val="0000FF"/>
                </a:solidFill>
                <a:latin typeface="Times New Roman" panose="02020603050405020304" pitchFamily="18" charset="0"/>
                <a:ea typeface="黑体" panose="02010609060101010101" pitchFamily="49" charset="-122"/>
              </a:rPr>
              <a:t>。</a:t>
            </a:r>
            <a:r>
              <a:rPr lang="zh-CN" altLang="en-US" sz="2800" b="1" dirty="0" smtClean="0">
                <a:solidFill>
                  <a:srgbClr val="FF0000"/>
                </a:solidFill>
                <a:latin typeface="Times New Roman" panose="02020603050405020304" pitchFamily="18" charset="0"/>
                <a:ea typeface="黑体" panose="02010609060101010101" pitchFamily="49" charset="-122"/>
              </a:rPr>
              <a:t>（途径、方法）</a:t>
            </a:r>
            <a:endParaRPr lang="zh-CN" altLang="en-US" sz="2800" b="1" noProof="1">
              <a:solidFill>
                <a:srgbClr val="FF0000"/>
              </a:solidFill>
              <a:latin typeface="Times New Roman" panose="02020603050405020304" pitchFamily="18" charset="0"/>
              <a:ea typeface="黑体" panose="02010609060101010101" pitchFamily="49" charset="-122"/>
            </a:endParaRPr>
          </a:p>
        </p:txBody>
      </p:sp>
      <p:pic>
        <p:nvPicPr>
          <p:cNvPr id="48130" name="图片 2" descr="u=1718874065,3216890568&amp;fm=21&amp;gp=0"/>
          <p:cNvPicPr>
            <a:picLocks noChangeAspect="1"/>
          </p:cNvPicPr>
          <p:nvPr/>
        </p:nvPicPr>
        <p:blipFill>
          <a:blip r:embed="rId2" cstate="print"/>
          <a:stretch>
            <a:fillRect/>
          </a:stretch>
        </p:blipFill>
        <p:spPr>
          <a:xfrm>
            <a:off x="5895975" y="3140968"/>
            <a:ext cx="3248025" cy="2095500"/>
          </a:xfrm>
          <a:prstGeom prst="rect">
            <a:avLst/>
          </a:prstGeom>
          <a:noFill/>
          <a:ln w="9525">
            <a:noFill/>
          </a:ln>
        </p:spPr>
      </p:pic>
      <p:sp>
        <p:nvSpPr>
          <p:cNvPr id="6" name="矩形 5"/>
          <p:cNvSpPr/>
          <p:nvPr/>
        </p:nvSpPr>
        <p:spPr>
          <a:xfrm>
            <a:off x="395536" y="548680"/>
            <a:ext cx="6878806" cy="584775"/>
          </a:xfrm>
          <a:prstGeom prst="rect">
            <a:avLst/>
          </a:prstGeom>
          <a:solidFill>
            <a:schemeClr val="bg1"/>
          </a:solidFill>
          <a:ln>
            <a:solidFill>
              <a:schemeClr val="accent1"/>
            </a:solidFill>
          </a:ln>
        </p:spPr>
        <p:txBody>
          <a:bodyPr wrap="none">
            <a:spAutoFit/>
          </a:bodyPr>
          <a:lstStyle/>
          <a:p>
            <a:r>
              <a:rPr lang="zh-CN" altLang="en-US" sz="3200" b="1" dirty="0">
                <a:solidFill>
                  <a:srgbClr val="FF0000"/>
                </a:solidFill>
                <a:latin typeface="Times New Roman" panose="02020603050405020304" pitchFamily="18" charset="0"/>
                <a:ea typeface="黑体" panose="02010609060101010101" pitchFamily="49" charset="-122"/>
              </a:rPr>
              <a:t> </a:t>
            </a:r>
            <a:r>
              <a:rPr lang="zh-CN" altLang="en-US" sz="3200" b="1" dirty="0" smtClean="0">
                <a:solidFill>
                  <a:srgbClr val="FF0000"/>
                </a:solidFill>
                <a:latin typeface="Times New Roman" panose="02020603050405020304" pitchFamily="18" charset="0"/>
                <a:ea typeface="黑体" panose="02010609060101010101" pitchFamily="49" charset="-122"/>
              </a:rPr>
              <a:t>（一）农业、手工业的社会主义改造</a:t>
            </a:r>
            <a:endParaRPr lang="zh-CN" altLang="en-US" sz="3200" dirty="0">
              <a:solidFill>
                <a:srgbClr val="FF0000"/>
              </a:solidFill>
            </a:endParaRPr>
          </a:p>
        </p:txBody>
      </p:sp>
      <p:sp>
        <p:nvSpPr>
          <p:cNvPr id="7" name="Rectangle 2"/>
          <p:cNvSpPr txBox="1">
            <a:spLocks/>
          </p:cNvSpPr>
          <p:nvPr/>
        </p:nvSpPr>
        <p:spPr>
          <a:xfrm>
            <a:off x="611560" y="2924944"/>
            <a:ext cx="4752528" cy="1667764"/>
          </a:xfrm>
          <a:prstGeom prst="rect">
            <a:avLst/>
          </a:prstGeom>
          <a:solidFill>
            <a:schemeClr val="bg1"/>
          </a:solidFill>
          <a:ln w="12700">
            <a:solidFill>
              <a:srgbClr val="FF0000"/>
            </a:solidFill>
            <a:miter/>
          </a:ln>
        </p:spPr>
        <p:txBody>
          <a:bodyPr vert="horz" wrap="square" rtlCol="0" anchor="t">
            <a:spAutoFit/>
          </a:bodyPr>
          <a:lstStyle/>
          <a:p>
            <a:pPr marL="0" marR="0" lvl="0" indent="0" algn="l" defTabSz="914400" rtl="0" eaLnBrk="1" fontAlgn="auto" latinLnBrk="0" hangingPunct="1">
              <a:lnSpc>
                <a:spcPct val="150000"/>
              </a:lnSpc>
              <a:spcBef>
                <a:spcPct val="50000"/>
              </a:spcBef>
              <a:spcAft>
                <a:spcPts val="0"/>
              </a:spcAft>
              <a:buClrTx/>
              <a:buSzTx/>
              <a:buFontTx/>
              <a:buNone/>
              <a:tabLst/>
              <a:defRPr/>
            </a:pPr>
            <a:r>
              <a:rPr kumimoji="0" lang="zh-CN" altLang="en-US" sz="2400" b="1" i="0" u="none" strike="noStrike" kern="1200" cap="none" spc="0" normalizeH="0" baseline="0" noProof="0" dirty="0" smtClean="0">
                <a:ln>
                  <a:noFill/>
                </a:ln>
                <a:effectLst/>
                <a:uLnTx/>
                <a:uFillTx/>
                <a:latin typeface="隶书" pitchFamily="49" charset="-122"/>
                <a:ea typeface="隶书" pitchFamily="49" charset="-122"/>
                <a:cs typeface="+mj-cs"/>
              </a:rPr>
              <a:t>    一切劳动农民，不论是哪个阶层，除了组织起来集体生产，是无法抵抗灾荒的</a:t>
            </a:r>
            <a:r>
              <a:rPr kumimoji="0" lang="en-US" altLang="zh-CN" sz="2400" b="1" i="0" u="none" strike="noStrike" kern="1200" cap="none" spc="0" normalizeH="0" baseline="0" noProof="0" dirty="0" smtClean="0">
                <a:ln>
                  <a:noFill/>
                </a:ln>
                <a:effectLst/>
                <a:uLnTx/>
                <a:uFillTx/>
                <a:latin typeface="隶书" pitchFamily="49" charset="-122"/>
                <a:ea typeface="隶书" pitchFamily="49" charset="-122"/>
                <a:cs typeface="+mj-cs"/>
              </a:rPr>
              <a:t>——</a:t>
            </a:r>
            <a:r>
              <a:rPr kumimoji="0" lang="zh-CN" altLang="en-US" sz="2400" b="1" i="0" u="none" strike="noStrike" kern="1200" cap="none" spc="0" normalizeH="0" baseline="0" noProof="0" dirty="0" smtClean="0">
                <a:ln>
                  <a:noFill/>
                </a:ln>
                <a:effectLst/>
                <a:uLnTx/>
                <a:uFillTx/>
                <a:latin typeface="隶书" pitchFamily="49" charset="-122"/>
                <a:ea typeface="隶书" pitchFamily="49" charset="-122"/>
                <a:cs typeface="+mj-cs"/>
              </a:rPr>
              <a:t>毛泽东</a:t>
            </a:r>
            <a:endParaRPr kumimoji="0" lang="zh-CN" altLang="en-US" sz="2400" b="1" i="0" u="none" strike="noStrike" kern="1200" cap="none" spc="0" normalizeH="0" baseline="0" noProof="0" dirty="0">
              <a:ln>
                <a:noFill/>
              </a:ln>
              <a:effectLst/>
              <a:uLnTx/>
              <a:uFillTx/>
              <a:latin typeface="隶书" pitchFamily="49" charset="-122"/>
              <a:ea typeface="隶书" pitchFamily="49" charset="-122"/>
              <a:cs typeface="+mj-cs"/>
            </a:endParaRPr>
          </a:p>
        </p:txBody>
      </p:sp>
    </p:spTree>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txBox="1">
            <a:spLocks/>
          </p:cNvSpPr>
          <p:nvPr/>
        </p:nvSpPr>
        <p:spPr>
          <a:xfrm>
            <a:off x="1043608" y="548680"/>
            <a:ext cx="4752528" cy="1949508"/>
          </a:xfrm>
          <a:prstGeom prst="rect">
            <a:avLst/>
          </a:prstGeom>
          <a:solidFill>
            <a:schemeClr val="bg1"/>
          </a:solidFill>
          <a:ln w="12700">
            <a:solidFill>
              <a:srgbClr val="FF0000"/>
            </a:solidFill>
            <a:miter/>
          </a:ln>
        </p:spPr>
        <p:txBody>
          <a:bodyPr vert="horz" wrap="square" rtlCol="0" anchor="t">
            <a:spAutoFit/>
          </a:bodyPr>
          <a:lstStyle/>
          <a:p>
            <a:pPr marL="0" marR="0" lvl="0" indent="0" algn="l" defTabSz="914400" rtl="0" eaLnBrk="1" fontAlgn="auto" latinLnBrk="0" hangingPunct="1">
              <a:lnSpc>
                <a:spcPct val="150000"/>
              </a:lnSpc>
              <a:spcBef>
                <a:spcPct val="50000"/>
              </a:spcBef>
              <a:spcAft>
                <a:spcPts val="0"/>
              </a:spcAft>
              <a:buClrTx/>
              <a:buSzTx/>
              <a:buFontTx/>
              <a:buNone/>
              <a:tabLst/>
              <a:defRPr/>
            </a:pPr>
            <a:r>
              <a:rPr kumimoji="0" lang="en-US" altLang="zh-CN" sz="2800" b="0" i="0" u="none" strike="noStrike" kern="1200" cap="none" spc="0" normalizeH="0" baseline="0" noProof="0" dirty="0" smtClean="0">
                <a:ln>
                  <a:noFill/>
                </a:ln>
                <a:solidFill>
                  <a:srgbClr val="0000FF"/>
                </a:solidFill>
                <a:effectLst/>
                <a:uLnTx/>
                <a:uFillTx/>
                <a:latin typeface="Times New Roman" panose="02020603050405020304" pitchFamily="18" charset="0"/>
                <a:ea typeface="华文新魏" panose="02010800040101010101" pitchFamily="2" charset="-122"/>
                <a:cs typeface="+mj-cs"/>
              </a:rPr>
              <a:t>        </a:t>
            </a:r>
            <a:r>
              <a:rPr kumimoji="0" lang="zh-CN" altLang="en-US" sz="2800" b="1" i="0" u="none" strike="noStrike" kern="1200" cap="none" spc="0" normalizeH="0" baseline="0" noProof="0" dirty="0" smtClean="0">
                <a:ln>
                  <a:noFill/>
                </a:ln>
                <a:solidFill>
                  <a:srgbClr val="0000FF"/>
                </a:solidFill>
                <a:effectLst/>
                <a:uLnTx/>
                <a:uFillTx/>
                <a:latin typeface="Times New Roman" panose="02020603050405020304" pitchFamily="18" charset="0"/>
                <a:ea typeface="黑体" panose="02010609060101010101" pitchFamily="49" charset="-122"/>
                <a:cs typeface="+mj-cs"/>
              </a:rPr>
              <a:t>第二，遵循自愿互利、典型示范和国家帮助的原则。</a:t>
            </a:r>
            <a:r>
              <a:rPr lang="zh-CN" altLang="en-US" sz="2800" b="1" dirty="0" smtClean="0">
                <a:solidFill>
                  <a:srgbClr val="FF0000"/>
                </a:solidFill>
                <a:latin typeface="Times New Roman" panose="02020603050405020304" pitchFamily="18" charset="0"/>
                <a:ea typeface="黑体" panose="02010609060101010101" pitchFamily="49" charset="-122"/>
                <a:cs typeface="+mj-cs"/>
              </a:rPr>
              <a:t>（原则）</a:t>
            </a:r>
            <a:endParaRPr lang="zh-CN" altLang="en-US" sz="2800" b="1" dirty="0">
              <a:solidFill>
                <a:srgbClr val="FF0000"/>
              </a:solidFill>
              <a:latin typeface="Times New Roman" panose="02020603050405020304" pitchFamily="18" charset="0"/>
              <a:ea typeface="黑体" panose="02010609060101010101" pitchFamily="49" charset="-122"/>
              <a:cs typeface="+mj-cs"/>
            </a:endParaRPr>
          </a:p>
        </p:txBody>
      </p:sp>
      <p:sp>
        <p:nvSpPr>
          <p:cNvPr id="11" name="Rectangle 2"/>
          <p:cNvSpPr>
            <a:spLocks noGrp="1"/>
          </p:cNvSpPr>
          <p:nvPr>
            <p:ph type="title"/>
          </p:nvPr>
        </p:nvSpPr>
        <p:spPr>
          <a:xfrm>
            <a:off x="611560" y="3068960"/>
            <a:ext cx="6858000" cy="2862322"/>
          </a:xfrm>
          <a:solidFill>
            <a:schemeClr val="bg1"/>
          </a:solidFill>
          <a:ln w="12700">
            <a:solidFill>
              <a:srgbClr val="FF0000"/>
            </a:solidFill>
            <a:miter/>
          </a:ln>
        </p:spPr>
        <p:txBody>
          <a:bodyPr anchor="t">
            <a:spAutoFit/>
          </a:bodyPr>
          <a:lstStyle/>
          <a:p>
            <a:pPr algn="l">
              <a:lnSpc>
                <a:spcPct val="150000"/>
              </a:lnSpc>
              <a:spcBef>
                <a:spcPct val="50000"/>
              </a:spcBef>
            </a:pPr>
            <a:r>
              <a:rPr lang="zh-CN" altLang="en-US" sz="3200" b="1" dirty="0" smtClean="0">
                <a:solidFill>
                  <a:srgbClr val="0000FF"/>
                </a:solidFill>
                <a:latin typeface="Times New Roman" panose="02020603050405020304" pitchFamily="18" charset="0"/>
                <a:ea typeface="黑体" panose="02010609060101010101" pitchFamily="49" charset="-122"/>
              </a:rPr>
              <a:t>    </a:t>
            </a:r>
            <a:r>
              <a:rPr lang="zh-CN" altLang="en-US" sz="2800" b="1" dirty="0">
                <a:solidFill>
                  <a:srgbClr val="0000FF"/>
                </a:solidFill>
                <a:latin typeface="Times New Roman" panose="02020603050405020304" pitchFamily="18" charset="0"/>
                <a:ea typeface="黑体" panose="02010609060101010101" pitchFamily="49" charset="-122"/>
              </a:rPr>
              <a:t>第三，正确分析农村的阶级和阶层状况，制定正确的阶级政策</a:t>
            </a:r>
            <a:r>
              <a:rPr lang="zh-CN" altLang="en-US" sz="3200" b="1" dirty="0">
                <a:solidFill>
                  <a:srgbClr val="0000FF"/>
                </a:solidFill>
                <a:latin typeface="Times New Roman" panose="02020603050405020304" pitchFamily="18" charset="0"/>
                <a:ea typeface="黑体" panose="02010609060101010101" pitchFamily="49" charset="-122"/>
              </a:rPr>
              <a:t>。</a:t>
            </a:r>
            <a:r>
              <a:rPr lang="zh-CN" altLang="en-US" sz="2800" b="1" dirty="0">
                <a:solidFill>
                  <a:srgbClr val="0000FF"/>
                </a:solidFill>
                <a:latin typeface="Times New Roman" panose="02020603050405020304" pitchFamily="18" charset="0"/>
                <a:ea typeface="黑体" panose="02010609060101010101" pitchFamily="49" charset="-122"/>
              </a:rPr>
              <a:t>“依靠贫农，</a:t>
            </a:r>
            <a:r>
              <a:rPr lang="zh-CN" altLang="en-US" sz="2800" b="1" dirty="0" smtClean="0">
                <a:solidFill>
                  <a:srgbClr val="0000FF"/>
                </a:solidFill>
                <a:latin typeface="Times New Roman" panose="02020603050405020304" pitchFamily="18" charset="0"/>
                <a:ea typeface="黑体" panose="02010609060101010101" pitchFamily="49" charset="-122"/>
              </a:rPr>
              <a:t>巩固地团结</a:t>
            </a:r>
            <a:r>
              <a:rPr lang="zh-CN" altLang="en-US" sz="2800" b="1" dirty="0">
                <a:solidFill>
                  <a:srgbClr val="0000FF"/>
                </a:solidFill>
                <a:latin typeface="Times New Roman" panose="02020603050405020304" pitchFamily="18" charset="0"/>
                <a:ea typeface="黑体" panose="02010609060101010101" pitchFamily="49" charset="-122"/>
              </a:rPr>
              <a:t>中农，限制并逐步消灭富农</a:t>
            </a:r>
            <a:r>
              <a:rPr lang="zh-CN" altLang="en-US" sz="2800" b="1" dirty="0" smtClean="0">
                <a:solidFill>
                  <a:srgbClr val="0000FF"/>
                </a:solidFill>
                <a:latin typeface="Times New Roman" panose="02020603050405020304" pitchFamily="18" charset="0"/>
                <a:ea typeface="黑体" panose="02010609060101010101" pitchFamily="49" charset="-122"/>
              </a:rPr>
              <a:t>”  </a:t>
            </a:r>
            <a:r>
              <a:rPr lang="zh-CN" altLang="en-US" sz="2800" b="1" dirty="0" smtClean="0">
                <a:solidFill>
                  <a:srgbClr val="FF0000"/>
                </a:solidFill>
                <a:latin typeface="Times New Roman" panose="02020603050405020304" pitchFamily="18" charset="0"/>
                <a:ea typeface="黑体" panose="02010609060101010101" pitchFamily="49" charset="-122"/>
              </a:rPr>
              <a:t>（政策）</a:t>
            </a:r>
            <a:endParaRPr lang="zh-CN" altLang="en-US" sz="2800" b="1" dirty="0">
              <a:solidFill>
                <a:srgbClr val="FF0000"/>
              </a:solidFill>
              <a:latin typeface="Times New Roman" panose="02020603050405020304" pitchFamily="18" charset="0"/>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p:cNvSpPr>
          <p:nvPr/>
        </p:nvSpPr>
        <p:spPr>
          <a:xfrm>
            <a:off x="899592" y="1556792"/>
            <a:ext cx="7277104" cy="1476173"/>
          </a:xfrm>
          <a:prstGeom prst="rect">
            <a:avLst/>
          </a:prstGeom>
          <a:solidFill>
            <a:schemeClr val="bg1"/>
          </a:solidFill>
          <a:ln w="12700">
            <a:solidFill>
              <a:srgbClr val="FF3300"/>
            </a:solidFill>
            <a:miter/>
          </a:ln>
        </p:spPr>
        <p:txBody>
          <a:bodyPr vert="horz" wrap="square" rtlCol="0" anchor="t">
            <a:spAutoFit/>
          </a:bodyPr>
          <a:lstStyle/>
          <a:p>
            <a:pPr marL="0" marR="0" lvl="0" indent="0" algn="l" defTabSz="914400" rtl="0" eaLnBrk="1" fontAlgn="auto" latinLnBrk="0" hangingPunct="1">
              <a:lnSpc>
                <a:spcPct val="150000"/>
              </a:lnSpc>
              <a:spcBef>
                <a:spcPct val="50000"/>
              </a:spcBef>
              <a:spcAft>
                <a:spcPts val="0"/>
              </a:spcAft>
              <a:buClrTx/>
              <a:buSzTx/>
              <a:buFontTx/>
              <a:buNone/>
              <a:tabLst/>
              <a:defRPr/>
            </a:pPr>
            <a:r>
              <a:rPr kumimoji="0" lang="en-US" altLang="zh-CN" sz="3200" b="0" i="0" u="none" strike="noStrike" kern="1200" cap="none" spc="0" normalizeH="0" baseline="0" noProof="0" dirty="0" smtClean="0">
                <a:ln>
                  <a:noFill/>
                </a:ln>
                <a:solidFill>
                  <a:srgbClr val="0000FF"/>
                </a:solidFill>
                <a:effectLst/>
                <a:uLnTx/>
                <a:uFillTx/>
                <a:latin typeface="Times New Roman" panose="02020603050405020304" pitchFamily="18" charset="0"/>
                <a:ea typeface="华文新魏" panose="02010800040101010101" pitchFamily="2" charset="-122"/>
                <a:cs typeface="+mj-cs"/>
              </a:rPr>
              <a:t>       </a:t>
            </a:r>
            <a:r>
              <a:rPr kumimoji="0" lang="zh-CN" altLang="en-US" sz="2800" b="1" i="0" u="none" strike="noStrike" kern="1200" cap="none" spc="0" normalizeH="0" baseline="0" noProof="0" dirty="0" smtClean="0">
                <a:ln>
                  <a:noFill/>
                </a:ln>
                <a:solidFill>
                  <a:srgbClr val="0000FF"/>
                </a:solidFill>
                <a:effectLst/>
                <a:uLnTx/>
                <a:uFillTx/>
                <a:latin typeface="Times New Roman" panose="02020603050405020304" pitchFamily="18" charset="0"/>
                <a:ea typeface="黑体" panose="02010609060101010101" pitchFamily="49" charset="-122"/>
                <a:cs typeface="+mj-cs"/>
              </a:rPr>
              <a:t>第四，</a:t>
            </a:r>
            <a:r>
              <a:rPr kumimoji="0" lang="zh-CN" altLang="en-US" sz="2800" b="1" i="0" u="none" strike="noStrike" kern="1200" cap="none" spc="0" normalizeH="0" baseline="0" noProof="0" dirty="0" smtClean="0">
                <a:ln>
                  <a:noFill/>
                </a:ln>
                <a:solidFill>
                  <a:srgbClr val="FF0000"/>
                </a:solidFill>
                <a:effectLst/>
                <a:uLnTx/>
                <a:uFillTx/>
                <a:latin typeface="Times New Roman" panose="02020603050405020304" pitchFamily="18" charset="0"/>
                <a:ea typeface="黑体" panose="02010609060101010101" pitchFamily="49" charset="-122"/>
                <a:cs typeface="+mj-cs"/>
              </a:rPr>
              <a:t>坚持积极领导、稳步前进的方针</a:t>
            </a:r>
            <a:r>
              <a:rPr kumimoji="0" lang="zh-CN" altLang="en-US" sz="2800" b="1" i="0" u="none" strike="noStrike" kern="1200" cap="none" spc="0" normalizeH="0" baseline="0" noProof="0" dirty="0" smtClean="0">
                <a:ln>
                  <a:noFill/>
                </a:ln>
                <a:solidFill>
                  <a:srgbClr val="0000FF"/>
                </a:solidFill>
                <a:effectLst/>
                <a:uLnTx/>
                <a:uFillTx/>
                <a:latin typeface="Times New Roman" panose="02020603050405020304" pitchFamily="18" charset="0"/>
                <a:ea typeface="黑体" panose="02010609060101010101" pitchFamily="49" charset="-122"/>
                <a:cs typeface="+mj-cs"/>
              </a:rPr>
              <a:t>，采取循序渐进的步骤</a:t>
            </a:r>
            <a:r>
              <a:rPr kumimoji="0" lang="zh-CN" altLang="en-US" sz="3200" b="1" i="0" u="none" strike="noStrike" kern="1200" cap="none" spc="0" normalizeH="0" baseline="0" noProof="0" dirty="0" smtClean="0">
                <a:ln>
                  <a:noFill/>
                </a:ln>
                <a:solidFill>
                  <a:srgbClr val="0000FF"/>
                </a:solidFill>
                <a:effectLst/>
                <a:uLnTx/>
                <a:uFillTx/>
                <a:latin typeface="Times New Roman" panose="02020603050405020304" pitchFamily="18" charset="0"/>
                <a:ea typeface="黑体" panose="02010609060101010101" pitchFamily="49" charset="-122"/>
                <a:cs typeface="+mj-cs"/>
              </a:rPr>
              <a:t>。  </a:t>
            </a:r>
            <a:r>
              <a:rPr kumimoji="0" lang="zh-CN" altLang="en-US" sz="3200" b="1" i="0" u="none" strike="noStrike" kern="1200" cap="none" spc="0" normalizeH="0" baseline="0" noProof="0" dirty="0" smtClean="0">
                <a:ln>
                  <a:noFill/>
                </a:ln>
                <a:solidFill>
                  <a:srgbClr val="FF0000"/>
                </a:solidFill>
                <a:effectLst/>
                <a:uLnTx/>
                <a:uFillTx/>
                <a:latin typeface="Times New Roman" panose="02020603050405020304" pitchFamily="18" charset="0"/>
                <a:ea typeface="黑体" panose="02010609060101010101" pitchFamily="49" charset="-122"/>
                <a:cs typeface="+mj-cs"/>
              </a:rPr>
              <a:t>（方针、步骤）</a:t>
            </a:r>
            <a:endParaRPr kumimoji="0" lang="zh-CN" altLang="en-US" sz="3200" b="1" i="0" u="none" strike="noStrike" kern="1200" cap="none" spc="0" normalizeH="0" baseline="0" noProof="0" dirty="0">
              <a:ln>
                <a:noFill/>
              </a:ln>
              <a:solidFill>
                <a:srgbClr val="FF0000"/>
              </a:solidFill>
              <a:effectLst/>
              <a:uLnTx/>
              <a:uFillTx/>
              <a:latin typeface="Times New Roman" panose="02020603050405020304" pitchFamily="18" charset="0"/>
              <a:ea typeface="黑体" panose="02010609060101010101" pitchFamily="49" charset="-122"/>
              <a:cs typeface="+mj-cs"/>
            </a:endParaRPr>
          </a:p>
        </p:txBody>
      </p:sp>
    </p:spTree>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p:cNvSpPr>
          <p:nvPr/>
        </p:nvSpPr>
        <p:spPr>
          <a:xfrm>
            <a:off x="395536" y="4077072"/>
            <a:ext cx="6624736" cy="656846"/>
          </a:xfrm>
          <a:prstGeom prst="rect">
            <a:avLst/>
          </a:prstGeom>
          <a:solidFill>
            <a:schemeClr val="bg1"/>
          </a:solidFill>
          <a:ln w="12700">
            <a:solidFill>
              <a:srgbClr val="FF3300"/>
            </a:solidFill>
            <a:miter/>
          </a:ln>
        </p:spPr>
        <p:txBody>
          <a:bodyPr vert="horz" wrap="square" rtlCol="0" anchor="t">
            <a:spAutoFit/>
          </a:bodyPr>
          <a:lstStyle/>
          <a:p>
            <a:pPr lvl="0">
              <a:lnSpc>
                <a:spcPct val="150000"/>
              </a:lnSpc>
              <a:spcBef>
                <a:spcPct val="50000"/>
              </a:spcBef>
            </a:pPr>
            <a:r>
              <a:rPr kumimoji="0" lang="zh-CN" altLang="en-US" sz="2800" b="1" i="0" u="none" strike="noStrike" kern="1200" cap="none" spc="0" normalizeH="0" baseline="0" noProof="0" dirty="0" smtClean="0">
                <a:ln>
                  <a:noFill/>
                </a:ln>
                <a:solidFill>
                  <a:srgbClr val="FF0000"/>
                </a:solidFill>
                <a:effectLst/>
                <a:uLnTx/>
                <a:uFillTx/>
                <a:latin typeface="Times New Roman" panose="02020603050405020304" pitchFamily="18" charset="0"/>
                <a:ea typeface="黑体" panose="02010609060101010101" pitchFamily="49" charset="-122"/>
                <a:cs typeface="+mj-cs"/>
              </a:rPr>
              <a:t>初级农业</a:t>
            </a:r>
            <a:r>
              <a:rPr lang="zh-CN" altLang="en-US" sz="2800" b="1" dirty="0" smtClean="0">
                <a:solidFill>
                  <a:srgbClr val="FF0000"/>
                </a:solidFill>
                <a:latin typeface="Times New Roman" panose="02020603050405020304" pitchFamily="18" charset="0"/>
                <a:ea typeface="黑体" panose="02010609060101010101" pitchFamily="49" charset="-122"/>
                <a:cs typeface="+mj-cs"/>
              </a:rPr>
              <a:t>合作社（半社会主义性质）</a:t>
            </a:r>
            <a:endParaRPr kumimoji="0" lang="zh-CN" altLang="en-US" sz="2800" b="1" i="0" u="none" strike="noStrike" kern="1200" cap="none" spc="0" normalizeH="0" baseline="0" noProof="0" dirty="0">
              <a:ln>
                <a:noFill/>
              </a:ln>
              <a:solidFill>
                <a:srgbClr val="FF0000"/>
              </a:solidFill>
              <a:effectLst/>
              <a:uLnTx/>
              <a:uFillTx/>
              <a:latin typeface="Times New Roman" panose="02020603050405020304" pitchFamily="18" charset="0"/>
              <a:ea typeface="黑体" panose="02010609060101010101" pitchFamily="49" charset="-122"/>
              <a:cs typeface="+mj-cs"/>
            </a:endParaRPr>
          </a:p>
        </p:txBody>
      </p:sp>
      <p:sp>
        <p:nvSpPr>
          <p:cNvPr id="4" name="Rectangle 2"/>
          <p:cNvSpPr txBox="1">
            <a:spLocks/>
          </p:cNvSpPr>
          <p:nvPr/>
        </p:nvSpPr>
        <p:spPr>
          <a:xfrm>
            <a:off x="251520" y="2405269"/>
            <a:ext cx="5256584" cy="737510"/>
          </a:xfrm>
          <a:prstGeom prst="rect">
            <a:avLst/>
          </a:prstGeom>
          <a:solidFill>
            <a:schemeClr val="bg1"/>
          </a:solidFill>
          <a:ln w="12700">
            <a:solidFill>
              <a:srgbClr val="FF3300"/>
            </a:solidFill>
            <a:miter/>
          </a:ln>
        </p:spPr>
        <p:txBody>
          <a:bodyPr vert="horz" wrap="square" rtlCol="0" anchor="t">
            <a:spAutoFit/>
          </a:bodyPr>
          <a:lstStyle/>
          <a:p>
            <a:pPr marL="0" marR="0" lvl="0" indent="0" algn="l" defTabSz="914400" rtl="0" eaLnBrk="1" fontAlgn="auto" latinLnBrk="0" hangingPunct="1">
              <a:lnSpc>
                <a:spcPct val="150000"/>
              </a:lnSpc>
              <a:spcBef>
                <a:spcPct val="50000"/>
              </a:spcBef>
              <a:spcAft>
                <a:spcPts val="0"/>
              </a:spcAft>
              <a:buClrTx/>
              <a:buSzTx/>
              <a:buFontTx/>
              <a:buNone/>
              <a:tabLst/>
              <a:defRPr/>
            </a:pPr>
            <a:r>
              <a:rPr kumimoji="0" lang="zh-CN" altLang="en-US" sz="2800" b="1" i="0" u="none" strike="noStrike" kern="1200" cap="none" spc="0" normalizeH="0" baseline="0" noProof="0" dirty="0" smtClean="0">
                <a:ln>
                  <a:noFill/>
                </a:ln>
                <a:solidFill>
                  <a:srgbClr val="FF0000"/>
                </a:solidFill>
                <a:effectLst/>
                <a:uLnTx/>
                <a:uFillTx/>
                <a:latin typeface="Times New Roman" panose="02020603050405020304" pitchFamily="18" charset="0"/>
                <a:ea typeface="黑体" panose="02010609060101010101" pitchFamily="49" charset="-122"/>
                <a:cs typeface="+mj-cs"/>
              </a:rPr>
              <a:t>互助组（具有社会主义萌芽</a:t>
            </a:r>
            <a:r>
              <a:rPr lang="zh-CN" altLang="en-US" sz="3200" b="1" dirty="0" smtClean="0">
                <a:solidFill>
                  <a:srgbClr val="FF0000"/>
                </a:solidFill>
                <a:latin typeface="Times New Roman" panose="02020603050405020304" pitchFamily="18" charset="0"/>
                <a:ea typeface="黑体" panose="02010609060101010101" pitchFamily="49" charset="-122"/>
                <a:cs typeface="+mj-cs"/>
              </a:rPr>
              <a:t>）</a:t>
            </a:r>
            <a:endParaRPr kumimoji="0" lang="zh-CN" altLang="en-US" sz="3200" b="1" i="0" u="none" strike="noStrike" kern="1200" cap="none" spc="0" normalizeH="0" baseline="0" noProof="0" dirty="0">
              <a:ln>
                <a:noFill/>
              </a:ln>
              <a:solidFill>
                <a:srgbClr val="FF0000"/>
              </a:solidFill>
              <a:effectLst/>
              <a:uLnTx/>
              <a:uFillTx/>
              <a:latin typeface="Times New Roman" panose="02020603050405020304" pitchFamily="18" charset="0"/>
              <a:ea typeface="黑体" panose="02010609060101010101" pitchFamily="49" charset="-122"/>
              <a:cs typeface="+mj-cs"/>
            </a:endParaRPr>
          </a:p>
        </p:txBody>
      </p:sp>
      <p:sp>
        <p:nvSpPr>
          <p:cNvPr id="5" name="下箭头 4"/>
          <p:cNvSpPr/>
          <p:nvPr/>
        </p:nvSpPr>
        <p:spPr>
          <a:xfrm>
            <a:off x="2195736" y="3429000"/>
            <a:ext cx="288032" cy="64807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Rectangle 2"/>
          <p:cNvSpPr txBox="1">
            <a:spLocks/>
          </p:cNvSpPr>
          <p:nvPr/>
        </p:nvSpPr>
        <p:spPr>
          <a:xfrm>
            <a:off x="2051720" y="5733256"/>
            <a:ext cx="5256584" cy="656846"/>
          </a:xfrm>
          <a:prstGeom prst="rect">
            <a:avLst/>
          </a:prstGeom>
          <a:solidFill>
            <a:schemeClr val="bg1"/>
          </a:solidFill>
          <a:ln w="12700">
            <a:solidFill>
              <a:srgbClr val="FF3300"/>
            </a:solidFill>
            <a:miter/>
          </a:ln>
        </p:spPr>
        <p:txBody>
          <a:bodyPr vert="horz" wrap="square" rtlCol="0" anchor="t">
            <a:spAutoFit/>
          </a:bodyPr>
          <a:lstStyle/>
          <a:p>
            <a:pPr lvl="0">
              <a:lnSpc>
                <a:spcPct val="150000"/>
              </a:lnSpc>
              <a:spcBef>
                <a:spcPct val="50000"/>
              </a:spcBef>
            </a:pPr>
            <a:r>
              <a:rPr lang="zh-CN" altLang="en-US" sz="2800" b="1" dirty="0" smtClean="0">
                <a:solidFill>
                  <a:srgbClr val="FF0000"/>
                </a:solidFill>
                <a:latin typeface="Times New Roman" panose="02020603050405020304" pitchFamily="18" charset="0"/>
                <a:ea typeface="黑体" panose="02010609060101010101" pitchFamily="49" charset="-122"/>
                <a:cs typeface="+mj-cs"/>
              </a:rPr>
              <a:t>高级社（社会主义性质）</a:t>
            </a:r>
            <a:endParaRPr kumimoji="0" lang="zh-CN" altLang="en-US" sz="2800" b="1" i="0" u="none" strike="noStrike" kern="1200" cap="none" spc="0" normalizeH="0" baseline="0" noProof="0" dirty="0">
              <a:ln>
                <a:noFill/>
              </a:ln>
              <a:solidFill>
                <a:srgbClr val="FF0000"/>
              </a:solidFill>
              <a:effectLst/>
              <a:uLnTx/>
              <a:uFillTx/>
              <a:latin typeface="Times New Roman" panose="02020603050405020304" pitchFamily="18" charset="0"/>
              <a:ea typeface="黑体" panose="02010609060101010101" pitchFamily="49" charset="-122"/>
              <a:cs typeface="+mj-cs"/>
            </a:endParaRPr>
          </a:p>
        </p:txBody>
      </p:sp>
      <p:sp>
        <p:nvSpPr>
          <p:cNvPr id="8" name="下箭头 7"/>
          <p:cNvSpPr/>
          <p:nvPr/>
        </p:nvSpPr>
        <p:spPr>
          <a:xfrm>
            <a:off x="3491880" y="5013176"/>
            <a:ext cx="288032" cy="64807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467544" y="1052736"/>
            <a:ext cx="2347117" cy="584775"/>
          </a:xfrm>
          <a:prstGeom prst="rect">
            <a:avLst/>
          </a:prstGeom>
          <a:solidFill>
            <a:schemeClr val="bg2"/>
          </a:solidFill>
          <a:ln>
            <a:solidFill>
              <a:schemeClr val="accent1"/>
            </a:solidFill>
          </a:ln>
        </p:spPr>
        <p:txBody>
          <a:bodyPr wrap="none">
            <a:spAutoFit/>
          </a:bodyPr>
          <a:lstStyle/>
          <a:p>
            <a:r>
              <a:rPr lang="zh-CN" altLang="en-US" sz="3200" b="1" dirty="0">
                <a:solidFill>
                  <a:srgbClr val="FF0000"/>
                </a:solidFill>
                <a:latin typeface="Times New Roman" panose="02020603050405020304" pitchFamily="18" charset="0"/>
                <a:ea typeface="黑体" panose="02010609060101010101" pitchFamily="49" charset="-122"/>
              </a:rPr>
              <a:t> </a:t>
            </a:r>
            <a:r>
              <a:rPr lang="zh-CN" altLang="en-US" sz="3200" b="1" dirty="0" smtClean="0">
                <a:solidFill>
                  <a:srgbClr val="FF0000"/>
                </a:solidFill>
                <a:latin typeface="Times New Roman" panose="02020603050405020304" pitchFamily="18" charset="0"/>
                <a:ea typeface="黑体" panose="02010609060101010101" pitchFamily="49" charset="-122"/>
              </a:rPr>
              <a:t>改造的步骤</a:t>
            </a:r>
            <a:endParaRPr lang="zh-CN" altLang="en-US" sz="3200" dirty="0">
              <a:solidFill>
                <a:srgbClr val="FF0000"/>
              </a:solidFill>
            </a:endParaRPr>
          </a:p>
        </p:txBody>
      </p:sp>
    </p:spTree>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p:cNvSpPr>
            <a:spLocks noGrp="1"/>
          </p:cNvSpPr>
          <p:nvPr>
            <p:ph type="title"/>
          </p:nvPr>
        </p:nvSpPr>
        <p:spPr>
          <a:xfrm>
            <a:off x="1219200" y="762000"/>
            <a:ext cx="6705600" cy="1480918"/>
          </a:xfrm>
          <a:solidFill>
            <a:schemeClr val="bg1"/>
          </a:solidFill>
          <a:ln w="12700">
            <a:solidFill>
              <a:srgbClr val="FF3300"/>
            </a:solidFill>
            <a:miter/>
          </a:ln>
        </p:spPr>
        <p:txBody>
          <a:bodyPr anchor="t">
            <a:spAutoFit/>
          </a:bodyPr>
          <a:lstStyle/>
          <a:p>
            <a:pPr algn="l">
              <a:lnSpc>
                <a:spcPct val="105000"/>
              </a:lnSpc>
              <a:spcBef>
                <a:spcPct val="50000"/>
              </a:spcBef>
            </a:pPr>
            <a:r>
              <a:rPr lang="en-US" altLang="zh-CN" sz="3200" b="1" dirty="0">
                <a:solidFill>
                  <a:srgbClr val="0000FF"/>
                </a:solidFill>
                <a:latin typeface="Times New Roman" panose="02020603050405020304" pitchFamily="18" charset="0"/>
                <a:ea typeface="黑体" panose="02010609060101010101" pitchFamily="49" charset="-122"/>
              </a:rPr>
              <a:t>     </a:t>
            </a:r>
            <a:r>
              <a:rPr lang="zh-CN" altLang="en-US" sz="2800" b="1" dirty="0">
                <a:solidFill>
                  <a:srgbClr val="0000FF"/>
                </a:solidFill>
                <a:latin typeface="Times New Roman" panose="02020603050405020304" pitchFamily="18" charset="0"/>
                <a:ea typeface="黑体" panose="02010609060101010101" pitchFamily="49" charset="-122"/>
              </a:rPr>
              <a:t>到</a:t>
            </a:r>
            <a:r>
              <a:rPr lang="en-US" altLang="zh-CN" sz="2800" b="1" dirty="0">
                <a:solidFill>
                  <a:srgbClr val="0000FF"/>
                </a:solidFill>
                <a:latin typeface="Times New Roman" panose="02020603050405020304" pitchFamily="18" charset="0"/>
                <a:ea typeface="黑体" panose="02010609060101010101" pitchFamily="49" charset="-122"/>
              </a:rPr>
              <a:t>1956</a:t>
            </a:r>
            <a:r>
              <a:rPr lang="zh-CN" altLang="en-US" sz="2800" b="1" dirty="0">
                <a:solidFill>
                  <a:srgbClr val="0000FF"/>
                </a:solidFill>
                <a:latin typeface="Times New Roman" panose="02020603050405020304" pitchFamily="18" charset="0"/>
                <a:ea typeface="黑体" panose="02010609060101010101" pitchFamily="49" charset="-122"/>
              </a:rPr>
              <a:t>年底，全国入社农户占总农户的</a:t>
            </a:r>
            <a:r>
              <a:rPr lang="en-US" altLang="zh-CN" sz="2800" b="1" dirty="0">
                <a:solidFill>
                  <a:srgbClr val="0000FF"/>
                </a:solidFill>
                <a:latin typeface="Times New Roman" panose="02020603050405020304" pitchFamily="18" charset="0"/>
                <a:ea typeface="黑体" panose="02010609060101010101" pitchFamily="49" charset="-122"/>
              </a:rPr>
              <a:t>96.3%</a:t>
            </a:r>
            <a:r>
              <a:rPr lang="zh-CN" altLang="en-US" sz="2800" b="1" dirty="0">
                <a:solidFill>
                  <a:srgbClr val="0000FF"/>
                </a:solidFill>
                <a:latin typeface="Times New Roman" panose="02020603050405020304" pitchFamily="18" charset="0"/>
                <a:ea typeface="黑体" panose="02010609060101010101" pitchFamily="49" charset="-122"/>
              </a:rPr>
              <a:t>，</a:t>
            </a:r>
            <a:r>
              <a:rPr lang="en-US" altLang="zh-CN" sz="2800" b="1" dirty="0">
                <a:solidFill>
                  <a:srgbClr val="0000FF"/>
                </a:solidFill>
                <a:latin typeface="Times New Roman" panose="02020603050405020304" pitchFamily="18" charset="0"/>
                <a:ea typeface="黑体" panose="02010609060101010101" pitchFamily="49" charset="-122"/>
              </a:rPr>
              <a:t>5</a:t>
            </a:r>
            <a:r>
              <a:rPr lang="zh-CN" altLang="en-US" sz="2800" b="1" dirty="0">
                <a:solidFill>
                  <a:srgbClr val="0000FF"/>
                </a:solidFill>
                <a:latin typeface="Times New Roman" panose="02020603050405020304" pitchFamily="18" charset="0"/>
                <a:ea typeface="黑体" panose="02010609060101010101" pitchFamily="49" charset="-122"/>
              </a:rPr>
              <a:t>亿多农民在党的领导下通过合作化，走上了社会主义道路。</a:t>
            </a:r>
          </a:p>
        </p:txBody>
      </p:sp>
      <p:graphicFrame>
        <p:nvGraphicFramePr>
          <p:cNvPr id="51202" name="Object 3"/>
          <p:cNvGraphicFramePr>
            <a:graphicFrameLocks noGrp="1"/>
          </p:cNvGraphicFramePr>
          <p:nvPr>
            <p:ph type="chart" idx="1"/>
          </p:nvPr>
        </p:nvGraphicFramePr>
        <p:xfrm>
          <a:off x="2481262" y="2277269"/>
          <a:ext cx="4181475" cy="3171825"/>
        </p:xfrm>
        <a:graphic>
          <a:graphicData uri="http://schemas.openxmlformats.org/presentationml/2006/ole">
            <p:oleObj spid="_x0000_s1103" r:id="rId3" imgW="4181475" imgH="3171825" progId="MSGraph.Chart.8">
              <p:embed/>
            </p:oleObj>
          </a:graphicData>
        </a:graphic>
      </p:graphicFrame>
    </p:spTree>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225" name="Picture 2" descr="20061202082211254"/>
          <p:cNvPicPr>
            <a:picLocks noGrp="1" noChangeAspect="1"/>
          </p:cNvPicPr>
          <p:nvPr>
            <p:ph type="title"/>
          </p:nvPr>
        </p:nvPicPr>
        <p:blipFill>
          <a:blip r:embed="rId2" cstate="print"/>
          <a:srcRect l="13898" t="18739" r="15047" b="24422"/>
          <a:stretch>
            <a:fillRect/>
          </a:stretch>
        </p:blipFill>
        <p:spPr>
          <a:xfrm>
            <a:off x="1143000" y="685800"/>
            <a:ext cx="6781800" cy="5486400"/>
          </a:xfrm>
          <a:noFill/>
          <a:ln>
            <a:noFill/>
          </a:ln>
        </p:spPr>
      </p:pic>
    </p:spTree>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p:cNvSpPr>
            <a:spLocks noGrp="1"/>
          </p:cNvSpPr>
          <p:nvPr>
            <p:ph type="title"/>
          </p:nvPr>
        </p:nvSpPr>
        <p:spPr>
          <a:xfrm>
            <a:off x="381000" y="5181600"/>
            <a:ext cx="8229600" cy="1143000"/>
          </a:xfrm>
          <a:solidFill>
            <a:srgbClr val="FFFFFF"/>
          </a:solidFill>
          <a:ln>
            <a:solidFill>
              <a:srgbClr val="000000"/>
            </a:solidFill>
            <a:miter/>
          </a:ln>
        </p:spPr>
        <p:txBody>
          <a:bodyPr anchor="t"/>
          <a:lstStyle/>
          <a:p>
            <a:pPr eaLnBrk="1" hangingPunct="1"/>
            <a:endParaRPr lang="zh-CN" altLang="zh-CN" dirty="0"/>
          </a:p>
        </p:txBody>
      </p:sp>
      <p:pic>
        <p:nvPicPr>
          <p:cNvPr id="53250" name="Picture 3" descr="118892"/>
          <p:cNvPicPr>
            <a:picLocks noGrp="1" noChangeAspect="1"/>
          </p:cNvPicPr>
          <p:nvPr>
            <p:ph idx="1"/>
          </p:nvPr>
        </p:nvPicPr>
        <p:blipFill>
          <a:blip r:embed="rId2" cstate="print"/>
          <a:srcRect l="4240" r="6714" b="19112"/>
          <a:stretch>
            <a:fillRect/>
          </a:stretch>
        </p:blipFill>
        <p:spPr>
          <a:xfrm>
            <a:off x="1219200" y="685800"/>
            <a:ext cx="6705600" cy="5410200"/>
          </a:xfrm>
          <a:noFill/>
          <a:ln>
            <a:noFill/>
          </a:ln>
        </p:spPr>
      </p:pic>
    </p:spTree>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2"/>
          <p:cNvSpPr>
            <a:spLocks noGrp="1"/>
          </p:cNvSpPr>
          <p:nvPr>
            <p:ph type="title"/>
          </p:nvPr>
        </p:nvSpPr>
        <p:spPr>
          <a:xfrm>
            <a:off x="1110343" y="980728"/>
            <a:ext cx="6934200" cy="1416285"/>
          </a:xfrm>
          <a:solidFill>
            <a:schemeClr val="bg1"/>
          </a:solidFill>
          <a:ln w="12700">
            <a:solidFill>
              <a:srgbClr val="FF3300"/>
            </a:solidFill>
            <a:miter/>
          </a:ln>
        </p:spPr>
        <p:txBody>
          <a:bodyPr anchor="t">
            <a:spAutoFit/>
          </a:bodyPr>
          <a:lstStyle/>
          <a:p>
            <a:pPr algn="l">
              <a:lnSpc>
                <a:spcPct val="105000"/>
              </a:lnSpc>
              <a:spcBef>
                <a:spcPct val="50000"/>
              </a:spcBef>
            </a:pPr>
            <a:r>
              <a:rPr lang="en-US" altLang="zh-CN" sz="2800" b="1" dirty="0">
                <a:solidFill>
                  <a:srgbClr val="0000FF"/>
                </a:solidFill>
                <a:latin typeface="Times New Roman" panose="02020603050405020304" pitchFamily="18" charset="0"/>
                <a:ea typeface="黑体" panose="02010609060101010101" pitchFamily="49" charset="-122"/>
              </a:rPr>
              <a:t>    </a:t>
            </a:r>
            <a:r>
              <a:rPr lang="zh-CN" altLang="en-US" sz="2800" b="1" dirty="0">
                <a:solidFill>
                  <a:srgbClr val="0000FF"/>
                </a:solidFill>
                <a:latin typeface="Times New Roman" panose="02020603050405020304" pitchFamily="18" charset="0"/>
                <a:ea typeface="黑体" panose="02010609060101010101" pitchFamily="49" charset="-122"/>
              </a:rPr>
              <a:t>到</a:t>
            </a:r>
            <a:r>
              <a:rPr lang="en-US" altLang="zh-CN" sz="2800" b="1" dirty="0">
                <a:solidFill>
                  <a:srgbClr val="0000FF"/>
                </a:solidFill>
                <a:latin typeface="Times New Roman" panose="02020603050405020304" pitchFamily="18" charset="0"/>
                <a:ea typeface="黑体" panose="02010609060101010101" pitchFamily="49" charset="-122"/>
              </a:rPr>
              <a:t>1956</a:t>
            </a:r>
            <a:r>
              <a:rPr lang="zh-CN" altLang="en-US" sz="2800" b="1" dirty="0">
                <a:solidFill>
                  <a:srgbClr val="0000FF"/>
                </a:solidFill>
                <a:latin typeface="Times New Roman" panose="02020603050405020304" pitchFamily="18" charset="0"/>
                <a:ea typeface="黑体" panose="02010609060101010101" pitchFamily="49" charset="-122"/>
              </a:rPr>
              <a:t>年，参加合作社的手工业已占其总数的</a:t>
            </a:r>
            <a:r>
              <a:rPr lang="en-US" altLang="zh-CN" sz="2800" b="1" dirty="0">
                <a:solidFill>
                  <a:srgbClr val="0000FF"/>
                </a:solidFill>
                <a:latin typeface="Times New Roman" panose="02020603050405020304" pitchFamily="18" charset="0"/>
                <a:ea typeface="黑体" panose="02010609060101010101" pitchFamily="49" charset="-122"/>
              </a:rPr>
              <a:t>91.7%</a:t>
            </a:r>
            <a:r>
              <a:rPr lang="zh-CN" altLang="en-US" sz="2800" b="1" dirty="0">
                <a:solidFill>
                  <a:srgbClr val="0000FF"/>
                </a:solidFill>
                <a:latin typeface="Times New Roman" panose="02020603050405020304" pitchFamily="18" charset="0"/>
                <a:ea typeface="黑体" panose="02010609060101010101" pitchFamily="49" charset="-122"/>
              </a:rPr>
              <a:t>，产值占全国手工业总产值的</a:t>
            </a:r>
            <a:r>
              <a:rPr lang="en-US" altLang="zh-CN" sz="2800" b="1" dirty="0">
                <a:solidFill>
                  <a:srgbClr val="0000FF"/>
                </a:solidFill>
                <a:latin typeface="Times New Roman" panose="02020603050405020304" pitchFamily="18" charset="0"/>
                <a:ea typeface="黑体" panose="02010609060101010101" pitchFamily="49" charset="-122"/>
              </a:rPr>
              <a:t>93%</a:t>
            </a:r>
            <a:r>
              <a:rPr lang="zh-CN" altLang="en-US" sz="2800" b="1" dirty="0">
                <a:solidFill>
                  <a:srgbClr val="0000FF"/>
                </a:solidFill>
                <a:latin typeface="Times New Roman" panose="02020603050405020304" pitchFamily="18" charset="0"/>
                <a:ea typeface="黑体" panose="02010609060101010101" pitchFamily="49" charset="-122"/>
              </a:rPr>
              <a:t>，全国基本上实现了手工业合作化。</a:t>
            </a:r>
          </a:p>
        </p:txBody>
      </p:sp>
      <p:graphicFrame>
        <p:nvGraphicFramePr>
          <p:cNvPr id="56322" name="Object 3"/>
          <p:cNvGraphicFramePr>
            <a:graphicFrameLocks noGrp="1"/>
          </p:cNvGraphicFramePr>
          <p:nvPr>
            <p:ph type="chart" idx="1"/>
          </p:nvPr>
        </p:nvGraphicFramePr>
        <p:xfrm>
          <a:off x="2519362" y="2310606"/>
          <a:ext cx="4105275" cy="3105150"/>
        </p:xfrm>
        <a:graphic>
          <a:graphicData uri="http://schemas.openxmlformats.org/presentationml/2006/ole">
            <p:oleObj spid="_x0000_s2127" r:id="rId3" imgW="4105275" imgH="3105150" progId="MSGraph.Chart.8">
              <p:embed/>
            </p:oleObj>
          </a:graphicData>
        </a:graphic>
      </p:graphicFrame>
      <p:sp>
        <p:nvSpPr>
          <p:cNvPr id="56323" name="Rectangle 4"/>
          <p:cNvSpPr/>
          <p:nvPr/>
        </p:nvSpPr>
        <p:spPr>
          <a:xfrm>
            <a:off x="1143000" y="4343400"/>
            <a:ext cx="3048000" cy="969963"/>
          </a:xfrm>
          <a:prstGeom prst="rect">
            <a:avLst/>
          </a:prstGeom>
          <a:noFill/>
          <a:ln w="9525">
            <a:noFill/>
          </a:ln>
        </p:spPr>
        <p:txBody>
          <a:bodyPr anchor="t">
            <a:spAutoFit/>
          </a:bodyPr>
          <a:lstStyle/>
          <a:p>
            <a:pPr marL="342900" lvl="0" indent="-342900" algn="ctr">
              <a:lnSpc>
                <a:spcPct val="95000"/>
              </a:lnSpc>
              <a:spcBef>
                <a:spcPct val="50000"/>
              </a:spcBef>
            </a:pPr>
            <a:r>
              <a:rPr lang="zh-CN" altLang="en-US" sz="2400" b="1" dirty="0">
                <a:latin typeface="楷体_GB2312" pitchFamily="49" charset="-122"/>
                <a:ea typeface="楷体_GB2312" pitchFamily="49" charset="-122"/>
              </a:rPr>
              <a:t>入社手工业产值</a:t>
            </a:r>
            <a:r>
              <a:rPr lang="en-US" altLang="zh-CN" sz="2400" b="1" dirty="0">
                <a:latin typeface="楷体_GB2312" pitchFamily="49" charset="-122"/>
                <a:ea typeface="楷体_GB2312" pitchFamily="49" charset="-122"/>
              </a:rPr>
              <a:t>93%</a:t>
            </a:r>
          </a:p>
          <a:p>
            <a:pPr marL="342900" lvl="0" indent="-342900" algn="ctr">
              <a:lnSpc>
                <a:spcPct val="95000"/>
              </a:lnSpc>
              <a:spcBef>
                <a:spcPct val="50000"/>
              </a:spcBef>
            </a:pPr>
            <a:r>
              <a:rPr lang="zh-CN" altLang="en-US" sz="2400" b="1" dirty="0">
                <a:latin typeface="楷体_GB2312" pitchFamily="49" charset="-122"/>
                <a:ea typeface="楷体_GB2312" pitchFamily="49" charset="-122"/>
              </a:rPr>
              <a:t>比例图</a:t>
            </a:r>
          </a:p>
        </p:txBody>
      </p:sp>
    </p:spTree>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p:cNvSpPr>
            <a:spLocks noGrp="1"/>
          </p:cNvSpPr>
          <p:nvPr>
            <p:ph type="title"/>
          </p:nvPr>
        </p:nvSpPr>
        <p:spPr>
          <a:xfrm>
            <a:off x="611560" y="2132856"/>
            <a:ext cx="6858000" cy="1384995"/>
          </a:xfrm>
          <a:solidFill>
            <a:schemeClr val="bg1"/>
          </a:solidFill>
          <a:ln w="12700">
            <a:solidFill>
              <a:srgbClr val="FF3300"/>
            </a:solidFill>
            <a:miter/>
          </a:ln>
        </p:spPr>
        <p:txBody>
          <a:bodyPr anchor="t">
            <a:spAutoFit/>
          </a:bodyPr>
          <a:lstStyle/>
          <a:p>
            <a:pPr algn="l">
              <a:lnSpc>
                <a:spcPct val="150000"/>
              </a:lnSpc>
              <a:spcBef>
                <a:spcPct val="50000"/>
              </a:spcBef>
            </a:pPr>
            <a:r>
              <a:rPr lang="zh-CN" altLang="en-US" sz="2800" b="1" dirty="0">
                <a:ln>
                  <a:solidFill>
                    <a:srgbClr val="0000FF"/>
                  </a:solidFill>
                </a:ln>
                <a:solidFill>
                  <a:srgbClr val="0000FF"/>
                </a:solidFill>
                <a:latin typeface="Times New Roman" panose="02020603050405020304" pitchFamily="18" charset="0"/>
                <a:ea typeface="黑体" panose="02010609060101010101" pitchFamily="49" charset="-122"/>
              </a:rPr>
              <a:t> </a:t>
            </a:r>
            <a:r>
              <a:rPr lang="zh-CN" altLang="en-US" sz="2800" b="1" dirty="0" smtClean="0">
                <a:ln>
                  <a:solidFill>
                    <a:srgbClr val="0000FF"/>
                  </a:solidFill>
                </a:ln>
                <a:solidFill>
                  <a:srgbClr val="0000FF"/>
                </a:solidFill>
                <a:latin typeface="Times New Roman" panose="02020603050405020304" pitchFamily="18" charset="0"/>
                <a:ea typeface="黑体" panose="02010609060101010101" pitchFamily="49" charset="-122"/>
              </a:rPr>
              <a:t>        </a:t>
            </a:r>
            <a:r>
              <a:rPr lang="zh-CN" altLang="en-US" sz="2800" b="1" dirty="0" smtClean="0">
                <a:solidFill>
                  <a:srgbClr val="0000FF"/>
                </a:solidFill>
                <a:latin typeface="Times New Roman" panose="02020603050405020304" pitchFamily="18" charset="0"/>
                <a:ea typeface="黑体" panose="02010609060101010101" pitchFamily="49" charset="-122"/>
              </a:rPr>
              <a:t>通过</a:t>
            </a:r>
            <a:r>
              <a:rPr lang="zh-CN" altLang="en-US" sz="2800" b="1" dirty="0">
                <a:solidFill>
                  <a:srgbClr val="FF0000"/>
                </a:solidFill>
                <a:latin typeface="Times New Roman" panose="02020603050405020304" pitchFamily="18" charset="0"/>
                <a:ea typeface="黑体" panose="02010609060101010101" pitchFamily="49" charset="-122"/>
              </a:rPr>
              <a:t>国家资本主义</a:t>
            </a:r>
            <a:r>
              <a:rPr lang="zh-CN" altLang="en-US" sz="2800" b="1" dirty="0" smtClean="0">
                <a:solidFill>
                  <a:srgbClr val="0000FF"/>
                </a:solidFill>
                <a:latin typeface="Times New Roman" panose="02020603050405020304" pitchFamily="18" charset="0"/>
                <a:ea typeface="黑体" panose="02010609060101010101" pitchFamily="49" charset="-122"/>
              </a:rPr>
              <a:t>的形式，</a:t>
            </a:r>
            <a:r>
              <a:rPr lang="zh-CN" altLang="en-US" sz="2800" b="1" dirty="0">
                <a:solidFill>
                  <a:srgbClr val="0000FF"/>
                </a:solidFill>
                <a:latin typeface="Times New Roman" panose="02020603050405020304" pitchFamily="18" charset="0"/>
                <a:ea typeface="黑体" panose="02010609060101010101" pitchFamily="49" charset="-122"/>
              </a:rPr>
              <a:t>把资本主义经济改造成社会主义国营经济</a:t>
            </a:r>
            <a:r>
              <a:rPr lang="zh-CN" altLang="en-US" sz="2800" dirty="0">
                <a:solidFill>
                  <a:srgbClr val="0000FF"/>
                </a:solidFill>
                <a:latin typeface="Times New Roman" panose="02020603050405020304" pitchFamily="18" charset="0"/>
                <a:ea typeface="华文新魏" panose="02010800040101010101" pitchFamily="2" charset="-122"/>
              </a:rPr>
              <a:t>       </a:t>
            </a:r>
          </a:p>
        </p:txBody>
      </p:sp>
      <p:sp>
        <p:nvSpPr>
          <p:cNvPr id="5" name="Rectangle 2"/>
          <p:cNvSpPr txBox="1">
            <a:spLocks/>
          </p:cNvSpPr>
          <p:nvPr/>
        </p:nvSpPr>
        <p:spPr>
          <a:xfrm>
            <a:off x="1115616" y="4077072"/>
            <a:ext cx="6984776" cy="2246769"/>
          </a:xfrm>
          <a:prstGeom prst="rect">
            <a:avLst/>
          </a:prstGeom>
          <a:solidFill>
            <a:schemeClr val="bg1"/>
          </a:solidFill>
          <a:ln w="12700">
            <a:solidFill>
              <a:srgbClr val="FF3300"/>
            </a:solidFill>
            <a:miter/>
          </a:ln>
        </p:spPr>
        <p:txBody>
          <a:bodyPr vert="horz" wrap="square" rtlCol="0" anchor="t">
            <a:spAutoFit/>
          </a:bodyPr>
          <a:lstStyle/>
          <a:p>
            <a:pPr marL="0" marR="0" lvl="0" indent="0" algn="l" defTabSz="914400" rtl="0" eaLnBrk="1" fontAlgn="auto" latinLnBrk="0" hangingPunct="1">
              <a:lnSpc>
                <a:spcPct val="150000"/>
              </a:lnSpc>
              <a:spcBef>
                <a:spcPct val="50000"/>
              </a:spcBef>
              <a:spcAft>
                <a:spcPts val="0"/>
              </a:spcAft>
              <a:buClrTx/>
              <a:buSzTx/>
              <a:buFontTx/>
              <a:buNone/>
              <a:tabLst/>
              <a:defRPr/>
            </a:pPr>
            <a:r>
              <a:rPr kumimoji="0" lang="zh-CN" altLang="en-US" sz="2800" b="1" i="0" u="none" strike="noStrike" kern="1200" cap="none" spc="0" normalizeH="0" baseline="0" noProof="0" dirty="0" smtClean="0">
                <a:ln>
                  <a:noFill/>
                </a:ln>
                <a:solidFill>
                  <a:srgbClr val="FF0000"/>
                </a:solidFill>
                <a:effectLst/>
                <a:uLnTx/>
                <a:uFillTx/>
                <a:latin typeface="Times New Roman" panose="02020603050405020304" pitchFamily="18" charset="0"/>
                <a:ea typeface="黑体" panose="02010609060101010101" pitchFamily="49" charset="-122"/>
                <a:cs typeface="+mj-cs"/>
              </a:rPr>
              <a:t>国家资本主义</a:t>
            </a:r>
            <a:endParaRPr kumimoji="0" lang="en-US" altLang="zh-CN" sz="2800" b="1" i="0" u="none" strike="noStrike" kern="1200" cap="none" spc="0" normalizeH="0" baseline="0" noProof="0" dirty="0" smtClean="0">
              <a:ln>
                <a:noFill/>
              </a:ln>
              <a:solidFill>
                <a:srgbClr val="FF0000"/>
              </a:solidFill>
              <a:effectLst/>
              <a:uLnTx/>
              <a:uFillTx/>
              <a:latin typeface="Times New Roman" panose="02020603050405020304" pitchFamily="18" charset="0"/>
              <a:ea typeface="黑体" panose="02010609060101010101" pitchFamily="49" charset="-122"/>
              <a:cs typeface="+mj-cs"/>
            </a:endParaRPr>
          </a:p>
          <a:p>
            <a:pPr marL="0" marR="0" lvl="0" indent="0" algn="l" defTabSz="914400" rtl="0" eaLnBrk="1" fontAlgn="auto" latinLnBrk="0" hangingPunct="1">
              <a:lnSpc>
                <a:spcPct val="150000"/>
              </a:lnSpc>
              <a:spcBef>
                <a:spcPct val="50000"/>
              </a:spcBef>
              <a:spcAft>
                <a:spcPts val="0"/>
              </a:spcAft>
              <a:buClrTx/>
              <a:buSzTx/>
              <a:buFontTx/>
              <a:buNone/>
              <a:tabLst/>
              <a:defRPr/>
            </a:pPr>
            <a:r>
              <a:rPr lang="en-US" altLang="zh-CN" sz="2800" b="1" dirty="0" smtClean="0">
                <a:solidFill>
                  <a:srgbClr val="FF0000"/>
                </a:solidFill>
                <a:latin typeface="Times New Roman" panose="02020603050405020304" pitchFamily="18" charset="0"/>
                <a:ea typeface="黑体" panose="02010609060101010101" pitchFamily="49" charset="-122"/>
                <a:cs typeface="+mj-cs"/>
              </a:rPr>
              <a:t>        </a:t>
            </a:r>
            <a:r>
              <a:rPr lang="zh-CN" altLang="en-US" sz="2800" b="1" dirty="0" smtClean="0">
                <a:solidFill>
                  <a:srgbClr val="0000FF"/>
                </a:solidFill>
                <a:latin typeface="Times New Roman" panose="02020603050405020304" pitchFamily="18" charset="0"/>
                <a:ea typeface="黑体" panose="02010609060101010101" pitchFamily="49" charset="-122"/>
                <a:cs typeface="+mj-cs"/>
              </a:rPr>
              <a:t>是国家直接控制和支配下的资本主义经济。</a:t>
            </a:r>
            <a:endParaRPr lang="zh-CN" altLang="en-US" sz="2800" b="1" dirty="0">
              <a:solidFill>
                <a:srgbClr val="0000FF"/>
              </a:solidFill>
              <a:latin typeface="Times New Roman" panose="02020603050405020304" pitchFamily="18" charset="0"/>
              <a:ea typeface="黑体" panose="02010609060101010101" pitchFamily="49" charset="-122"/>
              <a:cs typeface="+mj-cs"/>
            </a:endParaRPr>
          </a:p>
        </p:txBody>
      </p:sp>
      <p:sp>
        <p:nvSpPr>
          <p:cNvPr id="6" name="矩形 5"/>
          <p:cNvSpPr/>
          <p:nvPr/>
        </p:nvSpPr>
        <p:spPr>
          <a:xfrm>
            <a:off x="323528" y="620688"/>
            <a:ext cx="7188186" cy="584775"/>
          </a:xfrm>
          <a:prstGeom prst="rect">
            <a:avLst/>
          </a:prstGeom>
          <a:solidFill>
            <a:schemeClr val="bg2"/>
          </a:solidFill>
          <a:ln>
            <a:solidFill>
              <a:srgbClr val="FF0000"/>
            </a:solidFill>
          </a:ln>
        </p:spPr>
        <p:txBody>
          <a:bodyPr wrap="none">
            <a:spAutoFit/>
          </a:bodyPr>
          <a:lstStyle/>
          <a:p>
            <a:r>
              <a:rPr lang="zh-CN" altLang="en-US" sz="3200" b="1" dirty="0" smtClean="0">
                <a:solidFill>
                  <a:srgbClr val="FF0000"/>
                </a:solidFill>
                <a:latin typeface="Times New Roman" panose="02020603050405020304" pitchFamily="18" charset="0"/>
                <a:ea typeface="黑体" panose="02010609060101010101" pitchFamily="49" charset="-122"/>
              </a:rPr>
              <a:t>（二）资本主义工商业的社会主义改造</a:t>
            </a:r>
            <a:endParaRPr lang="zh-CN" altLang="en-US" sz="3200" b="1" dirty="0">
              <a:solidFill>
                <a:srgbClr val="FF0000"/>
              </a:solidFill>
              <a:latin typeface="Times New Roman" panose="02020603050405020304" pitchFamily="18" charset="0"/>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2"/>
          <p:cNvSpPr>
            <a:spLocks noGrp="1"/>
          </p:cNvSpPr>
          <p:nvPr>
            <p:ph type="title"/>
          </p:nvPr>
        </p:nvSpPr>
        <p:spPr>
          <a:xfrm>
            <a:off x="683568" y="620688"/>
            <a:ext cx="6858000" cy="1126462"/>
          </a:xfrm>
          <a:solidFill>
            <a:schemeClr val="bg1"/>
          </a:solidFill>
          <a:ln w="12700">
            <a:solidFill>
              <a:srgbClr val="FF3300"/>
            </a:solidFill>
            <a:miter/>
          </a:ln>
        </p:spPr>
        <p:txBody>
          <a:bodyPr anchor="t">
            <a:spAutoFit/>
          </a:bodyPr>
          <a:lstStyle/>
          <a:p>
            <a:pPr algn="l">
              <a:lnSpc>
                <a:spcPct val="105000"/>
              </a:lnSpc>
              <a:spcBef>
                <a:spcPct val="50000"/>
              </a:spcBef>
            </a:pPr>
            <a:r>
              <a:rPr lang="zh-CN" altLang="en-US" sz="3200" b="1" dirty="0" smtClean="0">
                <a:solidFill>
                  <a:srgbClr val="FF0000"/>
                </a:solidFill>
                <a:latin typeface="Times New Roman" panose="02020603050405020304" pitchFamily="18" charset="0"/>
                <a:ea typeface="黑体" panose="02010609060101010101" pitchFamily="49" charset="-122"/>
              </a:rPr>
              <a:t>改造</a:t>
            </a:r>
            <a:r>
              <a:rPr lang="zh-CN" altLang="en-US" sz="3200" b="1" dirty="0">
                <a:solidFill>
                  <a:srgbClr val="FF0000"/>
                </a:solidFill>
                <a:latin typeface="Times New Roman" panose="02020603050405020304" pitchFamily="18" charset="0"/>
                <a:ea typeface="黑体" panose="02010609060101010101" pitchFamily="49" charset="-122"/>
              </a:rPr>
              <a:t>的</a:t>
            </a:r>
            <a:r>
              <a:rPr lang="zh-CN" altLang="en-US" sz="3200" b="1" dirty="0" smtClean="0">
                <a:solidFill>
                  <a:srgbClr val="FF0000"/>
                </a:solidFill>
                <a:latin typeface="Times New Roman" panose="02020603050405020304" pitchFamily="18" charset="0"/>
                <a:ea typeface="黑体" panose="02010609060101010101" pitchFamily="49" charset="-122"/>
              </a:rPr>
              <a:t>政策         </a:t>
            </a:r>
            <a:r>
              <a:rPr lang="zh-CN" altLang="en-US" sz="3200" b="1" dirty="0" smtClean="0">
                <a:solidFill>
                  <a:srgbClr val="0000FF"/>
                </a:solidFill>
                <a:latin typeface="Times New Roman" panose="02020603050405020304" pitchFamily="18" charset="0"/>
                <a:ea typeface="黑体" panose="02010609060101010101" pitchFamily="49" charset="-122"/>
              </a:rPr>
              <a:t>和平赎买</a:t>
            </a:r>
            <a:r>
              <a:rPr lang="en-US" altLang="zh-CN" sz="3200" b="1" dirty="0" smtClean="0">
                <a:solidFill>
                  <a:srgbClr val="FF0000"/>
                </a:solidFill>
                <a:latin typeface="Times New Roman" panose="02020603050405020304" pitchFamily="18" charset="0"/>
                <a:ea typeface="黑体" panose="02010609060101010101" pitchFamily="49" charset="-122"/>
              </a:rPr>
              <a:t/>
            </a:r>
            <a:br>
              <a:rPr lang="en-US" altLang="zh-CN" sz="3200" b="1" dirty="0" smtClean="0">
                <a:solidFill>
                  <a:srgbClr val="FF0000"/>
                </a:solidFill>
                <a:latin typeface="Times New Roman" panose="02020603050405020304" pitchFamily="18" charset="0"/>
                <a:ea typeface="黑体" panose="02010609060101010101" pitchFamily="49" charset="-122"/>
              </a:rPr>
            </a:br>
            <a:r>
              <a:rPr lang="zh-CN" altLang="en-US" sz="3200" b="1" dirty="0" smtClean="0">
                <a:solidFill>
                  <a:srgbClr val="FF0000"/>
                </a:solidFill>
                <a:latin typeface="Times New Roman" panose="02020603050405020304" pitchFamily="18" charset="0"/>
                <a:ea typeface="黑体" panose="02010609060101010101" pitchFamily="49" charset="-122"/>
              </a:rPr>
              <a:t>基本形式            </a:t>
            </a:r>
            <a:r>
              <a:rPr lang="zh-CN" altLang="en-US" sz="2800" b="1" dirty="0" smtClean="0">
                <a:solidFill>
                  <a:srgbClr val="0000FF"/>
                </a:solidFill>
                <a:latin typeface="Times New Roman" panose="02020603050405020304" pitchFamily="18" charset="0"/>
                <a:ea typeface="黑体" panose="02010609060101010101" pitchFamily="49" charset="-122"/>
              </a:rPr>
              <a:t>国家资本主义</a:t>
            </a:r>
            <a:endParaRPr lang="zh-CN" altLang="en-US" sz="2800" b="1" dirty="0">
              <a:solidFill>
                <a:srgbClr val="0000FF"/>
              </a:solidFill>
              <a:latin typeface="Times New Roman" panose="02020603050405020304" pitchFamily="18" charset="0"/>
              <a:ea typeface="黑体" panose="02010609060101010101" pitchFamily="49" charset="-122"/>
            </a:endParaRPr>
          </a:p>
        </p:txBody>
      </p:sp>
      <p:sp>
        <p:nvSpPr>
          <p:cNvPr id="47107" name="Text Box 3"/>
          <p:cNvSpPr txBox="1"/>
          <p:nvPr/>
        </p:nvSpPr>
        <p:spPr>
          <a:xfrm>
            <a:off x="1219200" y="3352800"/>
            <a:ext cx="542925" cy="1800225"/>
          </a:xfrm>
          <a:prstGeom prst="rect">
            <a:avLst/>
          </a:prstGeom>
          <a:noFill/>
          <a:ln w="9525">
            <a:noFill/>
          </a:ln>
        </p:spPr>
        <p:txBody>
          <a:bodyPr wrap="none" anchor="t">
            <a:spAutoFit/>
          </a:bodyPr>
          <a:lstStyle/>
          <a:p>
            <a:pPr lvl="0" algn="ctr"/>
            <a:r>
              <a:rPr lang="zh-CN" altLang="en-US" sz="2800" b="1" dirty="0">
                <a:latin typeface="楷体_GB2312" pitchFamily="49" charset="-122"/>
                <a:ea typeface="楷体_GB2312" pitchFamily="49" charset="-122"/>
              </a:rPr>
              <a:t>改</a:t>
            </a:r>
          </a:p>
          <a:p>
            <a:pPr lvl="0" algn="ctr"/>
            <a:r>
              <a:rPr lang="zh-CN" altLang="en-US" sz="2800" b="1" dirty="0">
                <a:latin typeface="楷体_GB2312" pitchFamily="49" charset="-122"/>
                <a:ea typeface="楷体_GB2312" pitchFamily="49" charset="-122"/>
              </a:rPr>
              <a:t>造</a:t>
            </a:r>
          </a:p>
          <a:p>
            <a:pPr lvl="0" algn="ctr"/>
            <a:r>
              <a:rPr lang="zh-CN" altLang="en-US" sz="2800" b="1" dirty="0">
                <a:latin typeface="楷体_GB2312" pitchFamily="49" charset="-122"/>
                <a:ea typeface="楷体_GB2312" pitchFamily="49" charset="-122"/>
              </a:rPr>
              <a:t>形</a:t>
            </a:r>
          </a:p>
          <a:p>
            <a:pPr lvl="0" algn="ctr"/>
            <a:r>
              <a:rPr lang="zh-CN" altLang="en-US" sz="2800" b="1" dirty="0">
                <a:latin typeface="楷体_GB2312" pitchFamily="49" charset="-122"/>
                <a:ea typeface="楷体_GB2312" pitchFamily="49" charset="-122"/>
              </a:rPr>
              <a:t>式</a:t>
            </a:r>
          </a:p>
        </p:txBody>
      </p:sp>
      <p:sp>
        <p:nvSpPr>
          <p:cNvPr id="47108" name="Line 4"/>
          <p:cNvSpPr/>
          <p:nvPr/>
        </p:nvSpPr>
        <p:spPr>
          <a:xfrm>
            <a:off x="1908175" y="3357563"/>
            <a:ext cx="450850" cy="0"/>
          </a:xfrm>
          <a:prstGeom prst="line">
            <a:avLst/>
          </a:prstGeom>
          <a:ln w="38100" cap="flat" cmpd="sng">
            <a:solidFill>
              <a:srgbClr val="333399"/>
            </a:solidFill>
            <a:prstDash val="solid"/>
            <a:round/>
            <a:headEnd type="none" w="med" len="med"/>
            <a:tailEnd type="none" w="med" len="med"/>
          </a:ln>
        </p:spPr>
        <p:txBody>
          <a:bodyPr anchor="t"/>
          <a:lstStyle/>
          <a:p>
            <a:pPr lvl="0"/>
            <a:endParaRPr lang="zh-CN" altLang="en-US">
              <a:latin typeface="Arial" panose="020B0604020202020204" pitchFamily="34" charset="0"/>
              <a:ea typeface="宋体" panose="02010600030101010101" pitchFamily="2" charset="-122"/>
            </a:endParaRPr>
          </a:p>
        </p:txBody>
      </p:sp>
      <p:sp>
        <p:nvSpPr>
          <p:cNvPr id="47109" name="Line 5"/>
          <p:cNvSpPr/>
          <p:nvPr/>
        </p:nvSpPr>
        <p:spPr>
          <a:xfrm>
            <a:off x="2051050" y="5661025"/>
            <a:ext cx="442913" cy="0"/>
          </a:xfrm>
          <a:prstGeom prst="line">
            <a:avLst/>
          </a:prstGeom>
          <a:ln w="38100" cap="flat" cmpd="sng">
            <a:solidFill>
              <a:srgbClr val="333399"/>
            </a:solidFill>
            <a:prstDash val="solid"/>
            <a:round/>
            <a:headEnd type="none" w="med" len="med"/>
            <a:tailEnd type="none" w="med" len="med"/>
          </a:ln>
        </p:spPr>
        <p:txBody>
          <a:bodyPr anchor="t"/>
          <a:lstStyle/>
          <a:p>
            <a:pPr lvl="0"/>
            <a:endParaRPr lang="zh-CN" altLang="en-US">
              <a:latin typeface="Arial" panose="020B0604020202020204" pitchFamily="34" charset="0"/>
              <a:ea typeface="宋体" panose="02010600030101010101" pitchFamily="2" charset="-122"/>
            </a:endParaRPr>
          </a:p>
        </p:txBody>
      </p:sp>
      <p:sp>
        <p:nvSpPr>
          <p:cNvPr id="58373" name="Text Box 6"/>
          <p:cNvSpPr txBox="1"/>
          <p:nvPr/>
        </p:nvSpPr>
        <p:spPr>
          <a:xfrm>
            <a:off x="2484438" y="2708275"/>
            <a:ext cx="541337" cy="1631950"/>
          </a:xfrm>
          <a:prstGeom prst="rect">
            <a:avLst/>
          </a:prstGeom>
          <a:noFill/>
          <a:ln w="9525">
            <a:noFill/>
          </a:ln>
        </p:spPr>
        <p:txBody>
          <a:bodyPr wrap="square" anchor="t">
            <a:spAutoFit/>
          </a:bodyPr>
          <a:lstStyle/>
          <a:p>
            <a:pPr lvl="0" algn="ctr">
              <a:lnSpc>
                <a:spcPct val="90000"/>
              </a:lnSpc>
            </a:pPr>
            <a:r>
              <a:rPr lang="zh-CN" altLang="en-US" sz="2800" b="1" dirty="0">
                <a:latin typeface="楷体_GB2312" pitchFamily="49" charset="-122"/>
                <a:ea typeface="楷体_GB2312" pitchFamily="49" charset="-122"/>
              </a:rPr>
              <a:t>初</a:t>
            </a:r>
          </a:p>
          <a:p>
            <a:pPr lvl="0" algn="ctr">
              <a:lnSpc>
                <a:spcPct val="90000"/>
              </a:lnSpc>
            </a:pPr>
            <a:r>
              <a:rPr lang="zh-CN" altLang="en-US" sz="2800" b="1" dirty="0">
                <a:latin typeface="楷体_GB2312" pitchFamily="49" charset="-122"/>
                <a:ea typeface="楷体_GB2312" pitchFamily="49" charset="-122"/>
              </a:rPr>
              <a:t>级</a:t>
            </a:r>
          </a:p>
          <a:p>
            <a:pPr lvl="0" algn="ctr">
              <a:lnSpc>
                <a:spcPct val="90000"/>
              </a:lnSpc>
            </a:pPr>
            <a:r>
              <a:rPr lang="zh-CN" altLang="en-US" sz="2800" b="1" dirty="0">
                <a:latin typeface="楷体_GB2312" pitchFamily="49" charset="-122"/>
                <a:ea typeface="楷体_GB2312" pitchFamily="49" charset="-122"/>
              </a:rPr>
              <a:t>形</a:t>
            </a:r>
          </a:p>
          <a:p>
            <a:pPr lvl="0" algn="ctr">
              <a:lnSpc>
                <a:spcPct val="90000"/>
              </a:lnSpc>
            </a:pPr>
            <a:r>
              <a:rPr lang="zh-CN" altLang="en-US" sz="2800" b="1" dirty="0">
                <a:latin typeface="楷体_GB2312" pitchFamily="49" charset="-122"/>
                <a:ea typeface="楷体_GB2312" pitchFamily="49" charset="-122"/>
              </a:rPr>
              <a:t>式</a:t>
            </a:r>
          </a:p>
        </p:txBody>
      </p:sp>
      <p:sp>
        <p:nvSpPr>
          <p:cNvPr id="58374" name="Text Box 7"/>
          <p:cNvSpPr txBox="1"/>
          <p:nvPr/>
        </p:nvSpPr>
        <p:spPr>
          <a:xfrm>
            <a:off x="2484438" y="4868863"/>
            <a:ext cx="617537" cy="1628775"/>
          </a:xfrm>
          <a:prstGeom prst="rect">
            <a:avLst/>
          </a:prstGeom>
          <a:noFill/>
          <a:ln w="9525">
            <a:noFill/>
          </a:ln>
        </p:spPr>
        <p:txBody>
          <a:bodyPr wrap="none" anchor="t">
            <a:spAutoFit/>
          </a:bodyPr>
          <a:lstStyle/>
          <a:p>
            <a:pPr lvl="0" algn="ctr">
              <a:lnSpc>
                <a:spcPct val="90000"/>
              </a:lnSpc>
            </a:pPr>
            <a:r>
              <a:rPr lang="en-US" altLang="zh-CN" sz="2400" b="1" dirty="0">
                <a:solidFill>
                  <a:srgbClr val="FF0000"/>
                </a:solidFill>
                <a:latin typeface="Times New Roman" panose="02020603050405020304" pitchFamily="18" charset="0"/>
                <a:ea typeface="方正魏碑简体" pitchFamily="2" charset="-122"/>
              </a:rPr>
              <a:t> </a:t>
            </a:r>
            <a:r>
              <a:rPr lang="zh-CN" altLang="en-US" sz="2800" b="1" dirty="0">
                <a:latin typeface="楷体_GB2312" pitchFamily="49" charset="-122"/>
                <a:ea typeface="楷体_GB2312" pitchFamily="49" charset="-122"/>
              </a:rPr>
              <a:t>高</a:t>
            </a:r>
          </a:p>
          <a:p>
            <a:pPr lvl="0" algn="ctr">
              <a:lnSpc>
                <a:spcPct val="90000"/>
              </a:lnSpc>
            </a:pPr>
            <a:r>
              <a:rPr lang="zh-CN" altLang="en-US" sz="2800" b="1" dirty="0">
                <a:latin typeface="楷体_GB2312" pitchFamily="49" charset="-122"/>
                <a:ea typeface="楷体_GB2312" pitchFamily="49" charset="-122"/>
              </a:rPr>
              <a:t>级</a:t>
            </a:r>
          </a:p>
          <a:p>
            <a:pPr lvl="0" algn="ctr">
              <a:lnSpc>
                <a:spcPct val="90000"/>
              </a:lnSpc>
            </a:pPr>
            <a:r>
              <a:rPr lang="zh-CN" altLang="en-US" sz="2800" b="1" dirty="0">
                <a:latin typeface="楷体_GB2312" pitchFamily="49" charset="-122"/>
                <a:ea typeface="楷体_GB2312" pitchFamily="49" charset="-122"/>
              </a:rPr>
              <a:t>形</a:t>
            </a:r>
          </a:p>
          <a:p>
            <a:pPr lvl="0" algn="ctr">
              <a:lnSpc>
                <a:spcPct val="90000"/>
              </a:lnSpc>
            </a:pPr>
            <a:r>
              <a:rPr lang="zh-CN" altLang="en-US" sz="2800" b="1" dirty="0">
                <a:latin typeface="楷体_GB2312" pitchFamily="49" charset="-122"/>
                <a:ea typeface="楷体_GB2312" pitchFamily="49" charset="-122"/>
              </a:rPr>
              <a:t>式</a:t>
            </a:r>
          </a:p>
        </p:txBody>
      </p:sp>
      <p:sp>
        <p:nvSpPr>
          <p:cNvPr id="47112" name="Line 8"/>
          <p:cNvSpPr/>
          <p:nvPr/>
        </p:nvSpPr>
        <p:spPr>
          <a:xfrm>
            <a:off x="2987675" y="3429000"/>
            <a:ext cx="533400" cy="0"/>
          </a:xfrm>
          <a:prstGeom prst="line">
            <a:avLst/>
          </a:prstGeom>
          <a:ln w="38100" cap="flat" cmpd="sng">
            <a:solidFill>
              <a:srgbClr val="333399"/>
            </a:solidFill>
            <a:prstDash val="solid"/>
            <a:round/>
            <a:headEnd type="none" w="med" len="med"/>
            <a:tailEnd type="none" w="med" len="med"/>
          </a:ln>
        </p:spPr>
        <p:txBody>
          <a:bodyPr anchor="t"/>
          <a:lstStyle/>
          <a:p>
            <a:pPr lvl="0"/>
            <a:endParaRPr lang="zh-CN" altLang="en-US">
              <a:latin typeface="Arial" panose="020B0604020202020204" pitchFamily="34" charset="0"/>
              <a:ea typeface="宋体" panose="02010600030101010101" pitchFamily="2" charset="-122"/>
            </a:endParaRPr>
          </a:p>
        </p:txBody>
      </p:sp>
      <p:sp>
        <p:nvSpPr>
          <p:cNvPr id="47113" name="Line 9"/>
          <p:cNvSpPr/>
          <p:nvPr/>
        </p:nvSpPr>
        <p:spPr>
          <a:xfrm>
            <a:off x="3779838" y="2205038"/>
            <a:ext cx="0" cy="2057400"/>
          </a:xfrm>
          <a:prstGeom prst="line">
            <a:avLst/>
          </a:prstGeom>
          <a:ln w="38100" cap="flat" cmpd="sng">
            <a:solidFill>
              <a:srgbClr val="333399"/>
            </a:solidFill>
            <a:prstDash val="solid"/>
            <a:round/>
            <a:headEnd type="none" w="med" len="med"/>
            <a:tailEnd type="none" w="med" len="med"/>
          </a:ln>
        </p:spPr>
        <p:txBody>
          <a:bodyPr anchor="t"/>
          <a:lstStyle/>
          <a:p>
            <a:pPr lvl="0"/>
            <a:endParaRPr lang="zh-CN" altLang="en-US">
              <a:latin typeface="Arial" panose="020B0604020202020204" pitchFamily="34" charset="0"/>
              <a:ea typeface="宋体" panose="02010600030101010101" pitchFamily="2" charset="-122"/>
            </a:endParaRPr>
          </a:p>
        </p:txBody>
      </p:sp>
      <p:sp>
        <p:nvSpPr>
          <p:cNvPr id="47114" name="Line 10"/>
          <p:cNvSpPr/>
          <p:nvPr/>
        </p:nvSpPr>
        <p:spPr>
          <a:xfrm>
            <a:off x="3779838" y="2205038"/>
            <a:ext cx="457200" cy="0"/>
          </a:xfrm>
          <a:prstGeom prst="line">
            <a:avLst/>
          </a:prstGeom>
          <a:ln w="38100" cap="flat" cmpd="sng">
            <a:solidFill>
              <a:srgbClr val="333399"/>
            </a:solidFill>
            <a:prstDash val="solid"/>
            <a:round/>
            <a:headEnd type="none" w="med" len="med"/>
            <a:tailEnd type="none" w="med" len="med"/>
          </a:ln>
        </p:spPr>
        <p:txBody>
          <a:bodyPr anchor="t"/>
          <a:lstStyle/>
          <a:p>
            <a:pPr lvl="0"/>
            <a:endParaRPr lang="zh-CN" altLang="en-US">
              <a:latin typeface="Arial" panose="020B0604020202020204" pitchFamily="34" charset="0"/>
              <a:ea typeface="宋体" panose="02010600030101010101" pitchFamily="2" charset="-122"/>
            </a:endParaRPr>
          </a:p>
        </p:txBody>
      </p:sp>
      <p:sp>
        <p:nvSpPr>
          <p:cNvPr id="47115" name="Line 11"/>
          <p:cNvSpPr/>
          <p:nvPr/>
        </p:nvSpPr>
        <p:spPr>
          <a:xfrm>
            <a:off x="3779838" y="4221163"/>
            <a:ext cx="457200" cy="0"/>
          </a:xfrm>
          <a:prstGeom prst="line">
            <a:avLst/>
          </a:prstGeom>
          <a:ln w="38100" cap="flat" cmpd="sng">
            <a:solidFill>
              <a:srgbClr val="333399"/>
            </a:solidFill>
            <a:prstDash val="solid"/>
            <a:round/>
            <a:headEnd type="none" w="med" len="med"/>
            <a:tailEnd type="none" w="med" len="med"/>
          </a:ln>
        </p:spPr>
        <p:txBody>
          <a:bodyPr anchor="t"/>
          <a:lstStyle/>
          <a:p>
            <a:pPr lvl="0"/>
            <a:endParaRPr lang="zh-CN" altLang="en-US">
              <a:latin typeface="Arial" panose="020B0604020202020204" pitchFamily="34" charset="0"/>
              <a:ea typeface="宋体" panose="02010600030101010101" pitchFamily="2" charset="-122"/>
            </a:endParaRPr>
          </a:p>
        </p:txBody>
      </p:sp>
      <p:sp>
        <p:nvSpPr>
          <p:cNvPr id="58379" name="Text Box 12"/>
          <p:cNvSpPr txBox="1"/>
          <p:nvPr/>
        </p:nvSpPr>
        <p:spPr>
          <a:xfrm>
            <a:off x="4211638" y="2636838"/>
            <a:ext cx="1841500" cy="519112"/>
          </a:xfrm>
          <a:prstGeom prst="rect">
            <a:avLst/>
          </a:prstGeom>
          <a:noFill/>
          <a:ln w="9525">
            <a:noFill/>
          </a:ln>
        </p:spPr>
        <p:txBody>
          <a:bodyPr wrap="none" anchor="t">
            <a:spAutoFit/>
          </a:bodyPr>
          <a:lstStyle/>
          <a:p>
            <a:pPr lvl="0" algn="ctr"/>
            <a:r>
              <a:rPr lang="en-US" altLang="zh-CN" sz="2400" b="1" dirty="0">
                <a:solidFill>
                  <a:srgbClr val="FF0000"/>
                </a:solidFill>
                <a:latin typeface="Times New Roman" panose="02020603050405020304" pitchFamily="18" charset="0"/>
                <a:ea typeface="方正魏碑简体" pitchFamily="2" charset="-122"/>
              </a:rPr>
              <a:t>   </a:t>
            </a:r>
            <a:r>
              <a:rPr lang="zh-CN" altLang="en-US" sz="2800" b="1" dirty="0">
                <a:latin typeface="楷体_GB2312" pitchFamily="49" charset="-122"/>
                <a:ea typeface="楷体_GB2312" pitchFamily="49" charset="-122"/>
              </a:rPr>
              <a:t>计划订货</a:t>
            </a:r>
          </a:p>
        </p:txBody>
      </p:sp>
      <p:sp>
        <p:nvSpPr>
          <p:cNvPr id="58380" name="Text Box 13"/>
          <p:cNvSpPr txBox="1"/>
          <p:nvPr/>
        </p:nvSpPr>
        <p:spPr>
          <a:xfrm>
            <a:off x="4356100" y="3213100"/>
            <a:ext cx="1612900" cy="519113"/>
          </a:xfrm>
          <a:prstGeom prst="rect">
            <a:avLst/>
          </a:prstGeom>
          <a:noFill/>
          <a:ln w="9525">
            <a:noFill/>
          </a:ln>
        </p:spPr>
        <p:txBody>
          <a:bodyPr wrap="none" anchor="t">
            <a:spAutoFit/>
          </a:bodyPr>
          <a:lstStyle/>
          <a:p>
            <a:pPr lvl="0" algn="ctr"/>
            <a:r>
              <a:rPr lang="zh-CN" altLang="en-US" sz="2800" b="1" dirty="0">
                <a:latin typeface="楷体_GB2312" pitchFamily="49" charset="-122"/>
                <a:ea typeface="楷体_GB2312" pitchFamily="49" charset="-122"/>
              </a:rPr>
              <a:t>统购包销</a:t>
            </a:r>
          </a:p>
        </p:txBody>
      </p:sp>
      <p:sp>
        <p:nvSpPr>
          <p:cNvPr id="58381" name="Text Box 14"/>
          <p:cNvSpPr txBox="1"/>
          <p:nvPr/>
        </p:nvSpPr>
        <p:spPr>
          <a:xfrm>
            <a:off x="4211638" y="3860800"/>
            <a:ext cx="2328862" cy="519113"/>
          </a:xfrm>
          <a:prstGeom prst="rect">
            <a:avLst/>
          </a:prstGeom>
          <a:noFill/>
          <a:ln w="9525">
            <a:noFill/>
          </a:ln>
        </p:spPr>
        <p:txBody>
          <a:bodyPr wrap="none" anchor="t">
            <a:spAutoFit/>
          </a:bodyPr>
          <a:lstStyle/>
          <a:p>
            <a:pPr lvl="0" algn="ctr"/>
            <a:r>
              <a:rPr lang="zh-CN" altLang="en-US" sz="2800" b="1" dirty="0">
                <a:latin typeface="楷体_GB2312" pitchFamily="49" charset="-122"/>
                <a:ea typeface="楷体_GB2312" pitchFamily="49" charset="-122"/>
              </a:rPr>
              <a:t>委托经销代销</a:t>
            </a:r>
          </a:p>
        </p:txBody>
      </p:sp>
      <p:sp>
        <p:nvSpPr>
          <p:cNvPr id="47119" name="Line 15"/>
          <p:cNvSpPr/>
          <p:nvPr/>
        </p:nvSpPr>
        <p:spPr>
          <a:xfrm>
            <a:off x="3779838" y="3500438"/>
            <a:ext cx="457200" cy="0"/>
          </a:xfrm>
          <a:prstGeom prst="line">
            <a:avLst/>
          </a:prstGeom>
          <a:ln w="38100" cap="flat" cmpd="sng">
            <a:solidFill>
              <a:srgbClr val="333399"/>
            </a:solidFill>
            <a:prstDash val="solid"/>
            <a:round/>
            <a:headEnd type="none" w="med" len="med"/>
            <a:tailEnd type="none" w="med" len="med"/>
          </a:ln>
        </p:spPr>
        <p:txBody>
          <a:bodyPr anchor="t"/>
          <a:lstStyle/>
          <a:p>
            <a:pPr lvl="0"/>
            <a:endParaRPr lang="zh-CN" altLang="en-US">
              <a:latin typeface="Arial" panose="020B0604020202020204" pitchFamily="34" charset="0"/>
              <a:ea typeface="宋体" panose="02010600030101010101" pitchFamily="2" charset="-122"/>
            </a:endParaRPr>
          </a:p>
        </p:txBody>
      </p:sp>
      <p:sp>
        <p:nvSpPr>
          <p:cNvPr id="47120" name="Line 16"/>
          <p:cNvSpPr/>
          <p:nvPr/>
        </p:nvSpPr>
        <p:spPr>
          <a:xfrm>
            <a:off x="3779838" y="2852738"/>
            <a:ext cx="457200" cy="0"/>
          </a:xfrm>
          <a:prstGeom prst="line">
            <a:avLst/>
          </a:prstGeom>
          <a:ln w="38100" cap="flat" cmpd="sng">
            <a:solidFill>
              <a:srgbClr val="333399"/>
            </a:solidFill>
            <a:prstDash val="solid"/>
            <a:round/>
            <a:headEnd type="none" w="med" len="med"/>
            <a:tailEnd type="none" w="med" len="med"/>
          </a:ln>
        </p:spPr>
        <p:txBody>
          <a:bodyPr anchor="t"/>
          <a:lstStyle/>
          <a:p>
            <a:pPr lvl="0"/>
            <a:endParaRPr lang="zh-CN" altLang="en-US">
              <a:latin typeface="Arial" panose="020B0604020202020204" pitchFamily="34" charset="0"/>
              <a:ea typeface="宋体" panose="02010600030101010101" pitchFamily="2" charset="-122"/>
            </a:endParaRPr>
          </a:p>
        </p:txBody>
      </p:sp>
      <p:sp>
        <p:nvSpPr>
          <p:cNvPr id="47121" name="Line 17"/>
          <p:cNvSpPr/>
          <p:nvPr/>
        </p:nvSpPr>
        <p:spPr>
          <a:xfrm>
            <a:off x="3132138" y="5661025"/>
            <a:ext cx="457200" cy="0"/>
          </a:xfrm>
          <a:prstGeom prst="line">
            <a:avLst/>
          </a:prstGeom>
          <a:ln w="38100" cap="flat" cmpd="sng">
            <a:solidFill>
              <a:srgbClr val="333399"/>
            </a:solidFill>
            <a:prstDash val="solid"/>
            <a:round/>
            <a:headEnd type="none" w="med" len="med"/>
            <a:tailEnd type="none" w="med" len="med"/>
          </a:ln>
        </p:spPr>
        <p:txBody>
          <a:bodyPr anchor="t"/>
          <a:lstStyle/>
          <a:p>
            <a:pPr lvl="0"/>
            <a:endParaRPr lang="zh-CN" altLang="en-US">
              <a:latin typeface="Arial" panose="020B0604020202020204" pitchFamily="34" charset="0"/>
              <a:ea typeface="宋体" panose="02010600030101010101" pitchFamily="2" charset="-122"/>
            </a:endParaRPr>
          </a:p>
        </p:txBody>
      </p:sp>
      <p:sp>
        <p:nvSpPr>
          <p:cNvPr id="47122" name="Line 18"/>
          <p:cNvSpPr/>
          <p:nvPr/>
        </p:nvSpPr>
        <p:spPr>
          <a:xfrm>
            <a:off x="3635375" y="5229225"/>
            <a:ext cx="0" cy="1066800"/>
          </a:xfrm>
          <a:prstGeom prst="line">
            <a:avLst/>
          </a:prstGeom>
          <a:ln w="38100" cap="flat" cmpd="sng">
            <a:solidFill>
              <a:srgbClr val="333399"/>
            </a:solidFill>
            <a:prstDash val="solid"/>
            <a:round/>
            <a:headEnd type="none" w="med" len="med"/>
            <a:tailEnd type="none" w="med" len="med"/>
          </a:ln>
        </p:spPr>
        <p:txBody>
          <a:bodyPr anchor="t"/>
          <a:lstStyle/>
          <a:p>
            <a:pPr lvl="0"/>
            <a:endParaRPr lang="zh-CN" altLang="en-US">
              <a:latin typeface="Arial" panose="020B0604020202020204" pitchFamily="34" charset="0"/>
              <a:ea typeface="宋体" panose="02010600030101010101" pitchFamily="2" charset="-122"/>
            </a:endParaRPr>
          </a:p>
        </p:txBody>
      </p:sp>
      <p:sp>
        <p:nvSpPr>
          <p:cNvPr id="47123" name="Line 19"/>
          <p:cNvSpPr/>
          <p:nvPr/>
        </p:nvSpPr>
        <p:spPr>
          <a:xfrm>
            <a:off x="3635375" y="5229225"/>
            <a:ext cx="457200" cy="0"/>
          </a:xfrm>
          <a:prstGeom prst="line">
            <a:avLst/>
          </a:prstGeom>
          <a:ln w="38100" cap="flat" cmpd="sng">
            <a:solidFill>
              <a:srgbClr val="333399"/>
            </a:solidFill>
            <a:prstDash val="solid"/>
            <a:round/>
            <a:headEnd type="none" w="med" len="med"/>
            <a:tailEnd type="none" w="med" len="med"/>
          </a:ln>
        </p:spPr>
        <p:txBody>
          <a:bodyPr anchor="t"/>
          <a:lstStyle/>
          <a:p>
            <a:pPr lvl="0"/>
            <a:endParaRPr lang="zh-CN" altLang="en-US">
              <a:latin typeface="Arial" panose="020B0604020202020204" pitchFamily="34" charset="0"/>
              <a:ea typeface="宋体" panose="02010600030101010101" pitchFamily="2" charset="-122"/>
            </a:endParaRPr>
          </a:p>
        </p:txBody>
      </p:sp>
      <p:sp>
        <p:nvSpPr>
          <p:cNvPr id="47124" name="Line 20"/>
          <p:cNvSpPr/>
          <p:nvPr/>
        </p:nvSpPr>
        <p:spPr>
          <a:xfrm>
            <a:off x="3708400" y="6237288"/>
            <a:ext cx="457200" cy="0"/>
          </a:xfrm>
          <a:prstGeom prst="line">
            <a:avLst/>
          </a:prstGeom>
          <a:ln w="38100" cap="flat" cmpd="sng">
            <a:solidFill>
              <a:srgbClr val="333399"/>
            </a:solidFill>
            <a:prstDash val="solid"/>
            <a:round/>
            <a:headEnd type="none" w="med" len="med"/>
            <a:tailEnd type="none" w="med" len="med"/>
          </a:ln>
        </p:spPr>
        <p:txBody>
          <a:bodyPr anchor="t"/>
          <a:lstStyle/>
          <a:p>
            <a:pPr lvl="0"/>
            <a:endParaRPr lang="zh-CN" altLang="en-US">
              <a:latin typeface="Arial" panose="020B0604020202020204" pitchFamily="34" charset="0"/>
              <a:ea typeface="宋体" panose="02010600030101010101" pitchFamily="2" charset="-122"/>
            </a:endParaRPr>
          </a:p>
        </p:txBody>
      </p:sp>
      <p:sp>
        <p:nvSpPr>
          <p:cNvPr id="58388" name="Text Box 21"/>
          <p:cNvSpPr txBox="1"/>
          <p:nvPr/>
        </p:nvSpPr>
        <p:spPr>
          <a:xfrm>
            <a:off x="4140200" y="5805488"/>
            <a:ext cx="3381375" cy="517525"/>
          </a:xfrm>
          <a:prstGeom prst="rect">
            <a:avLst/>
          </a:prstGeom>
          <a:noFill/>
          <a:ln w="9525">
            <a:noFill/>
          </a:ln>
        </p:spPr>
        <p:txBody>
          <a:bodyPr wrap="square" anchor="t">
            <a:spAutoFit/>
          </a:bodyPr>
          <a:lstStyle/>
          <a:p>
            <a:pPr lvl="0" algn="ctr"/>
            <a:r>
              <a:rPr lang="zh-CN" altLang="en-US" sz="2800" b="1" dirty="0">
                <a:latin typeface="楷体_GB2312" pitchFamily="49" charset="-122"/>
                <a:ea typeface="楷体_GB2312" pitchFamily="49" charset="-122"/>
              </a:rPr>
              <a:t>全行业公私合营</a:t>
            </a:r>
          </a:p>
        </p:txBody>
      </p:sp>
      <p:sp>
        <p:nvSpPr>
          <p:cNvPr id="47126" name="Line 22"/>
          <p:cNvSpPr/>
          <p:nvPr/>
        </p:nvSpPr>
        <p:spPr>
          <a:xfrm>
            <a:off x="1619250" y="4652963"/>
            <a:ext cx="457200" cy="0"/>
          </a:xfrm>
          <a:prstGeom prst="line">
            <a:avLst/>
          </a:prstGeom>
          <a:ln w="38100" cap="flat" cmpd="sng">
            <a:solidFill>
              <a:srgbClr val="333399"/>
            </a:solidFill>
            <a:prstDash val="solid"/>
            <a:round/>
            <a:headEnd type="none" w="med" len="med"/>
            <a:tailEnd type="none" w="med" len="med"/>
          </a:ln>
        </p:spPr>
        <p:txBody>
          <a:bodyPr anchor="t"/>
          <a:lstStyle/>
          <a:p>
            <a:pPr lvl="0"/>
            <a:endParaRPr lang="zh-CN" altLang="en-US">
              <a:latin typeface="Arial" panose="020B0604020202020204" pitchFamily="34" charset="0"/>
              <a:ea typeface="宋体" panose="02010600030101010101" pitchFamily="2" charset="-122"/>
            </a:endParaRPr>
          </a:p>
        </p:txBody>
      </p:sp>
      <p:sp>
        <p:nvSpPr>
          <p:cNvPr id="47127" name="Line 23"/>
          <p:cNvSpPr/>
          <p:nvPr/>
        </p:nvSpPr>
        <p:spPr>
          <a:xfrm>
            <a:off x="1979613" y="3357563"/>
            <a:ext cx="0" cy="2286000"/>
          </a:xfrm>
          <a:prstGeom prst="line">
            <a:avLst/>
          </a:prstGeom>
          <a:ln w="38100" cap="flat" cmpd="sng">
            <a:solidFill>
              <a:srgbClr val="333399"/>
            </a:solidFill>
            <a:prstDash val="solid"/>
            <a:round/>
            <a:headEnd type="none" w="med" len="med"/>
            <a:tailEnd type="none" w="med" len="med"/>
          </a:ln>
        </p:spPr>
        <p:txBody>
          <a:bodyPr anchor="t"/>
          <a:lstStyle/>
          <a:p>
            <a:pPr lvl="0"/>
            <a:endParaRPr lang="zh-CN" altLang="en-US">
              <a:latin typeface="Arial" panose="020B0604020202020204" pitchFamily="34" charset="0"/>
              <a:ea typeface="宋体" panose="02010600030101010101" pitchFamily="2" charset="-122"/>
            </a:endParaRPr>
          </a:p>
        </p:txBody>
      </p:sp>
      <p:sp>
        <p:nvSpPr>
          <p:cNvPr id="58391" name="Rectangle 24"/>
          <p:cNvSpPr/>
          <p:nvPr/>
        </p:nvSpPr>
        <p:spPr>
          <a:xfrm>
            <a:off x="4284663" y="1773238"/>
            <a:ext cx="1612900" cy="711200"/>
          </a:xfrm>
          <a:prstGeom prst="rect">
            <a:avLst/>
          </a:prstGeom>
          <a:noFill/>
          <a:ln w="9525">
            <a:noFill/>
          </a:ln>
        </p:spPr>
        <p:txBody>
          <a:bodyPr anchor="t">
            <a:spAutoFit/>
          </a:bodyPr>
          <a:lstStyle/>
          <a:p>
            <a:pPr marL="342900" lvl="0" indent="-342900">
              <a:lnSpc>
                <a:spcPct val="145000"/>
              </a:lnSpc>
              <a:spcBef>
                <a:spcPct val="20000"/>
              </a:spcBef>
            </a:pPr>
            <a:r>
              <a:rPr lang="zh-CN" altLang="en-US" sz="2800" b="1" dirty="0">
                <a:latin typeface="楷体_GB2312" pitchFamily="49" charset="-122"/>
                <a:ea typeface="楷体_GB2312" pitchFamily="49" charset="-122"/>
              </a:rPr>
              <a:t>委托加工</a:t>
            </a:r>
          </a:p>
        </p:txBody>
      </p:sp>
      <p:sp>
        <p:nvSpPr>
          <p:cNvPr id="58392" name="Rectangle 25"/>
          <p:cNvSpPr/>
          <p:nvPr/>
        </p:nvSpPr>
        <p:spPr>
          <a:xfrm>
            <a:off x="4068763" y="4868863"/>
            <a:ext cx="3041650" cy="519112"/>
          </a:xfrm>
          <a:prstGeom prst="rect">
            <a:avLst/>
          </a:prstGeom>
          <a:noFill/>
          <a:ln w="9525">
            <a:noFill/>
          </a:ln>
        </p:spPr>
        <p:txBody>
          <a:bodyPr wrap="none" anchor="t">
            <a:spAutoFit/>
          </a:bodyPr>
          <a:lstStyle/>
          <a:p>
            <a:pPr marL="342900" lvl="0" indent="-342900"/>
            <a:r>
              <a:rPr lang="zh-CN" altLang="en-US" sz="2800" b="1" dirty="0">
                <a:latin typeface="楷体_GB2312" pitchFamily="49" charset="-122"/>
                <a:ea typeface="楷体_GB2312" pitchFamily="49" charset="-122"/>
              </a:rPr>
              <a:t>个别行业公私合营</a:t>
            </a:r>
          </a:p>
        </p:txBody>
      </p:sp>
      <p:sp>
        <p:nvSpPr>
          <p:cNvPr id="26" name="右箭头 25"/>
          <p:cNvSpPr/>
          <p:nvPr/>
        </p:nvSpPr>
        <p:spPr>
          <a:xfrm>
            <a:off x="2987824" y="836712"/>
            <a:ext cx="720080" cy="7200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右箭头 26"/>
          <p:cNvSpPr/>
          <p:nvPr/>
        </p:nvSpPr>
        <p:spPr>
          <a:xfrm>
            <a:off x="2915816" y="1340768"/>
            <a:ext cx="720080" cy="14401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47107"/>
                                        </p:tgtEl>
                                        <p:attrNameLst>
                                          <p:attrName>style.visibility</p:attrName>
                                        </p:attrNameLst>
                                      </p:cBhvr>
                                      <p:to>
                                        <p:strVal val="visible"/>
                                      </p:to>
                                    </p:set>
                                    <p:anim calcmode="lin" valueType="num">
                                      <p:cBhvr additive="base">
                                        <p:cTn id="7" dur="500" fill="hold"/>
                                        <p:tgtEl>
                                          <p:spTgt spid="47107"/>
                                        </p:tgtEl>
                                        <p:attrNameLst>
                                          <p:attrName>ppt_x</p:attrName>
                                        </p:attrNameLst>
                                      </p:cBhvr>
                                      <p:tavLst>
                                        <p:tav tm="0">
                                          <p:val>
                                            <p:strVal val="0-#ppt_w/2"/>
                                          </p:val>
                                        </p:tav>
                                        <p:tav tm="100000">
                                          <p:val>
                                            <p:strVal val="#ppt_x"/>
                                          </p:val>
                                        </p:tav>
                                      </p:tavLst>
                                    </p:anim>
                                    <p:anim calcmode="lin" valueType="num">
                                      <p:cBhvr additive="base">
                                        <p:cTn id="8" dur="500" fill="hold"/>
                                        <p:tgtEl>
                                          <p:spTgt spid="47107"/>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9" presetClass="entr" presetSubtype="0" fill="hold" nodeType="afterEffect">
                                  <p:stCondLst>
                                    <p:cond delay="0"/>
                                  </p:stCondLst>
                                  <p:childTnLst>
                                    <p:set>
                                      <p:cBhvr>
                                        <p:cTn id="11" dur="1" fill="hold">
                                          <p:stCondLst>
                                            <p:cond delay="0"/>
                                          </p:stCondLst>
                                        </p:cTn>
                                        <p:tgtEl>
                                          <p:spTgt spid="47126"/>
                                        </p:tgtEl>
                                        <p:attrNameLst>
                                          <p:attrName>style.visibility</p:attrName>
                                        </p:attrNameLst>
                                      </p:cBhvr>
                                      <p:to>
                                        <p:strVal val="visible"/>
                                      </p:to>
                                    </p:set>
                                    <p:animEffect transition="in" filter="dissolve">
                                      <p:cBhvr>
                                        <p:cTn id="12" dur="500"/>
                                        <p:tgtEl>
                                          <p:spTgt spid="47126"/>
                                        </p:tgtEl>
                                      </p:cBhvr>
                                    </p:animEffect>
                                  </p:childTnLst>
                                </p:cTn>
                              </p:par>
                            </p:childTnLst>
                          </p:cTn>
                        </p:par>
                        <p:par>
                          <p:cTn id="13" fill="hold">
                            <p:stCondLst>
                              <p:cond delay="1000"/>
                            </p:stCondLst>
                            <p:childTnLst>
                              <p:par>
                                <p:cTn id="14" presetID="9" presetClass="entr" presetSubtype="0" fill="hold" nodeType="afterEffect">
                                  <p:stCondLst>
                                    <p:cond delay="0"/>
                                  </p:stCondLst>
                                  <p:childTnLst>
                                    <p:set>
                                      <p:cBhvr>
                                        <p:cTn id="15" dur="1" fill="hold">
                                          <p:stCondLst>
                                            <p:cond delay="0"/>
                                          </p:stCondLst>
                                        </p:cTn>
                                        <p:tgtEl>
                                          <p:spTgt spid="47127"/>
                                        </p:tgtEl>
                                        <p:attrNameLst>
                                          <p:attrName>style.visibility</p:attrName>
                                        </p:attrNameLst>
                                      </p:cBhvr>
                                      <p:to>
                                        <p:strVal val="visible"/>
                                      </p:to>
                                    </p:set>
                                    <p:animEffect transition="in" filter="dissolve">
                                      <p:cBhvr>
                                        <p:cTn id="16" dur="500"/>
                                        <p:tgtEl>
                                          <p:spTgt spid="47127"/>
                                        </p:tgtEl>
                                      </p:cBhvr>
                                    </p:animEffect>
                                  </p:childTnLst>
                                </p:cTn>
                              </p:par>
                            </p:childTnLst>
                          </p:cTn>
                        </p:par>
                        <p:par>
                          <p:cTn id="17" fill="hold">
                            <p:stCondLst>
                              <p:cond delay="1500"/>
                            </p:stCondLst>
                            <p:childTnLst>
                              <p:par>
                                <p:cTn id="18" presetID="9" presetClass="entr" presetSubtype="0" fill="hold" nodeType="afterEffect">
                                  <p:stCondLst>
                                    <p:cond delay="0"/>
                                  </p:stCondLst>
                                  <p:childTnLst>
                                    <p:set>
                                      <p:cBhvr>
                                        <p:cTn id="19" dur="1" fill="hold">
                                          <p:stCondLst>
                                            <p:cond delay="0"/>
                                          </p:stCondLst>
                                        </p:cTn>
                                        <p:tgtEl>
                                          <p:spTgt spid="47109"/>
                                        </p:tgtEl>
                                        <p:attrNameLst>
                                          <p:attrName>style.visibility</p:attrName>
                                        </p:attrNameLst>
                                      </p:cBhvr>
                                      <p:to>
                                        <p:strVal val="visible"/>
                                      </p:to>
                                    </p:set>
                                    <p:animEffect transition="in" filter="dissolve">
                                      <p:cBhvr>
                                        <p:cTn id="20" dur="500"/>
                                        <p:tgtEl>
                                          <p:spTgt spid="47109"/>
                                        </p:tgtEl>
                                      </p:cBhvr>
                                    </p:animEffect>
                                  </p:childTnLst>
                                </p:cTn>
                              </p:par>
                            </p:childTnLst>
                          </p:cTn>
                        </p:par>
                        <p:par>
                          <p:cTn id="21" fill="hold">
                            <p:stCondLst>
                              <p:cond delay="2000"/>
                            </p:stCondLst>
                            <p:childTnLst>
                              <p:par>
                                <p:cTn id="22" presetID="9" presetClass="entr" presetSubtype="0" fill="hold" nodeType="afterEffect">
                                  <p:stCondLst>
                                    <p:cond delay="0"/>
                                  </p:stCondLst>
                                  <p:childTnLst>
                                    <p:set>
                                      <p:cBhvr>
                                        <p:cTn id="23" dur="1" fill="hold">
                                          <p:stCondLst>
                                            <p:cond delay="0"/>
                                          </p:stCondLst>
                                        </p:cTn>
                                        <p:tgtEl>
                                          <p:spTgt spid="47108"/>
                                        </p:tgtEl>
                                        <p:attrNameLst>
                                          <p:attrName>style.visibility</p:attrName>
                                        </p:attrNameLst>
                                      </p:cBhvr>
                                      <p:to>
                                        <p:strVal val="visible"/>
                                      </p:to>
                                    </p:set>
                                    <p:animEffect transition="in" filter="dissolve">
                                      <p:cBhvr>
                                        <p:cTn id="24" dur="500"/>
                                        <p:tgtEl>
                                          <p:spTgt spid="47108"/>
                                        </p:tgtEl>
                                      </p:cBhvr>
                                    </p:animEffect>
                                  </p:childTnLst>
                                </p:cTn>
                              </p:par>
                            </p:childTnLst>
                          </p:cTn>
                        </p:par>
                        <p:par>
                          <p:cTn id="25" fill="hold">
                            <p:stCondLst>
                              <p:cond delay="2500"/>
                            </p:stCondLst>
                            <p:childTnLst>
                              <p:par>
                                <p:cTn id="26" presetID="9" presetClass="entr" presetSubtype="0" fill="hold" nodeType="afterEffect">
                                  <p:stCondLst>
                                    <p:cond delay="0"/>
                                  </p:stCondLst>
                                  <p:childTnLst>
                                    <p:set>
                                      <p:cBhvr>
                                        <p:cTn id="27" dur="1" fill="hold">
                                          <p:stCondLst>
                                            <p:cond delay="0"/>
                                          </p:stCondLst>
                                        </p:cTn>
                                        <p:tgtEl>
                                          <p:spTgt spid="47112"/>
                                        </p:tgtEl>
                                        <p:attrNameLst>
                                          <p:attrName>style.visibility</p:attrName>
                                        </p:attrNameLst>
                                      </p:cBhvr>
                                      <p:to>
                                        <p:strVal val="visible"/>
                                      </p:to>
                                    </p:set>
                                    <p:animEffect transition="in" filter="dissolve">
                                      <p:cBhvr>
                                        <p:cTn id="28" dur="500"/>
                                        <p:tgtEl>
                                          <p:spTgt spid="47112"/>
                                        </p:tgtEl>
                                      </p:cBhvr>
                                    </p:animEffect>
                                  </p:childTnLst>
                                </p:cTn>
                              </p:par>
                            </p:childTnLst>
                          </p:cTn>
                        </p:par>
                        <p:par>
                          <p:cTn id="29" fill="hold">
                            <p:stCondLst>
                              <p:cond delay="3000"/>
                            </p:stCondLst>
                            <p:childTnLst>
                              <p:par>
                                <p:cTn id="30" presetID="9" presetClass="entr" presetSubtype="0" fill="hold" nodeType="afterEffect">
                                  <p:stCondLst>
                                    <p:cond delay="0"/>
                                  </p:stCondLst>
                                  <p:childTnLst>
                                    <p:set>
                                      <p:cBhvr>
                                        <p:cTn id="31" dur="1" fill="hold">
                                          <p:stCondLst>
                                            <p:cond delay="0"/>
                                          </p:stCondLst>
                                        </p:cTn>
                                        <p:tgtEl>
                                          <p:spTgt spid="47113"/>
                                        </p:tgtEl>
                                        <p:attrNameLst>
                                          <p:attrName>style.visibility</p:attrName>
                                        </p:attrNameLst>
                                      </p:cBhvr>
                                      <p:to>
                                        <p:strVal val="visible"/>
                                      </p:to>
                                    </p:set>
                                    <p:animEffect transition="in" filter="dissolve">
                                      <p:cBhvr>
                                        <p:cTn id="32" dur="500"/>
                                        <p:tgtEl>
                                          <p:spTgt spid="47113"/>
                                        </p:tgtEl>
                                      </p:cBhvr>
                                    </p:animEffect>
                                  </p:childTnLst>
                                </p:cTn>
                              </p:par>
                            </p:childTnLst>
                          </p:cTn>
                        </p:par>
                        <p:par>
                          <p:cTn id="33" fill="hold">
                            <p:stCondLst>
                              <p:cond delay="3500"/>
                            </p:stCondLst>
                            <p:childTnLst>
                              <p:par>
                                <p:cTn id="34" presetID="9" presetClass="entr" presetSubtype="0" fill="hold" nodeType="afterEffect">
                                  <p:stCondLst>
                                    <p:cond delay="0"/>
                                  </p:stCondLst>
                                  <p:childTnLst>
                                    <p:set>
                                      <p:cBhvr>
                                        <p:cTn id="35" dur="1" fill="hold">
                                          <p:stCondLst>
                                            <p:cond delay="0"/>
                                          </p:stCondLst>
                                        </p:cTn>
                                        <p:tgtEl>
                                          <p:spTgt spid="47114"/>
                                        </p:tgtEl>
                                        <p:attrNameLst>
                                          <p:attrName>style.visibility</p:attrName>
                                        </p:attrNameLst>
                                      </p:cBhvr>
                                      <p:to>
                                        <p:strVal val="visible"/>
                                      </p:to>
                                    </p:set>
                                    <p:animEffect transition="in" filter="dissolve">
                                      <p:cBhvr>
                                        <p:cTn id="36" dur="500"/>
                                        <p:tgtEl>
                                          <p:spTgt spid="47114"/>
                                        </p:tgtEl>
                                      </p:cBhvr>
                                    </p:animEffect>
                                  </p:childTnLst>
                                </p:cTn>
                              </p:par>
                            </p:childTnLst>
                          </p:cTn>
                        </p:par>
                        <p:par>
                          <p:cTn id="37" fill="hold">
                            <p:stCondLst>
                              <p:cond delay="4000"/>
                            </p:stCondLst>
                            <p:childTnLst>
                              <p:par>
                                <p:cTn id="38" presetID="9" presetClass="entr" presetSubtype="0" fill="hold" nodeType="afterEffect">
                                  <p:stCondLst>
                                    <p:cond delay="0"/>
                                  </p:stCondLst>
                                  <p:childTnLst>
                                    <p:set>
                                      <p:cBhvr>
                                        <p:cTn id="39" dur="1" fill="hold">
                                          <p:stCondLst>
                                            <p:cond delay="0"/>
                                          </p:stCondLst>
                                        </p:cTn>
                                        <p:tgtEl>
                                          <p:spTgt spid="47120"/>
                                        </p:tgtEl>
                                        <p:attrNameLst>
                                          <p:attrName>style.visibility</p:attrName>
                                        </p:attrNameLst>
                                      </p:cBhvr>
                                      <p:to>
                                        <p:strVal val="visible"/>
                                      </p:to>
                                    </p:set>
                                    <p:animEffect transition="in" filter="dissolve">
                                      <p:cBhvr>
                                        <p:cTn id="40" dur="500"/>
                                        <p:tgtEl>
                                          <p:spTgt spid="47120"/>
                                        </p:tgtEl>
                                      </p:cBhvr>
                                    </p:animEffect>
                                  </p:childTnLst>
                                </p:cTn>
                              </p:par>
                            </p:childTnLst>
                          </p:cTn>
                        </p:par>
                        <p:par>
                          <p:cTn id="41" fill="hold">
                            <p:stCondLst>
                              <p:cond delay="4500"/>
                            </p:stCondLst>
                            <p:childTnLst>
                              <p:par>
                                <p:cTn id="42" presetID="9" presetClass="entr" presetSubtype="0" fill="hold" nodeType="afterEffect">
                                  <p:stCondLst>
                                    <p:cond delay="0"/>
                                  </p:stCondLst>
                                  <p:childTnLst>
                                    <p:set>
                                      <p:cBhvr>
                                        <p:cTn id="43" dur="1" fill="hold">
                                          <p:stCondLst>
                                            <p:cond delay="0"/>
                                          </p:stCondLst>
                                        </p:cTn>
                                        <p:tgtEl>
                                          <p:spTgt spid="47119"/>
                                        </p:tgtEl>
                                        <p:attrNameLst>
                                          <p:attrName>style.visibility</p:attrName>
                                        </p:attrNameLst>
                                      </p:cBhvr>
                                      <p:to>
                                        <p:strVal val="visible"/>
                                      </p:to>
                                    </p:set>
                                    <p:animEffect transition="in" filter="dissolve">
                                      <p:cBhvr>
                                        <p:cTn id="44" dur="500"/>
                                        <p:tgtEl>
                                          <p:spTgt spid="47119"/>
                                        </p:tgtEl>
                                      </p:cBhvr>
                                    </p:animEffect>
                                  </p:childTnLst>
                                </p:cTn>
                              </p:par>
                            </p:childTnLst>
                          </p:cTn>
                        </p:par>
                        <p:par>
                          <p:cTn id="45" fill="hold">
                            <p:stCondLst>
                              <p:cond delay="5000"/>
                            </p:stCondLst>
                            <p:childTnLst>
                              <p:par>
                                <p:cTn id="46" presetID="9" presetClass="entr" presetSubtype="0" fill="hold" nodeType="afterEffect">
                                  <p:stCondLst>
                                    <p:cond delay="0"/>
                                  </p:stCondLst>
                                  <p:childTnLst>
                                    <p:set>
                                      <p:cBhvr>
                                        <p:cTn id="47" dur="1" fill="hold">
                                          <p:stCondLst>
                                            <p:cond delay="0"/>
                                          </p:stCondLst>
                                        </p:cTn>
                                        <p:tgtEl>
                                          <p:spTgt spid="47115"/>
                                        </p:tgtEl>
                                        <p:attrNameLst>
                                          <p:attrName>style.visibility</p:attrName>
                                        </p:attrNameLst>
                                      </p:cBhvr>
                                      <p:to>
                                        <p:strVal val="visible"/>
                                      </p:to>
                                    </p:set>
                                    <p:animEffect transition="in" filter="dissolve">
                                      <p:cBhvr>
                                        <p:cTn id="48" dur="500"/>
                                        <p:tgtEl>
                                          <p:spTgt spid="47115"/>
                                        </p:tgtEl>
                                      </p:cBhvr>
                                    </p:animEffect>
                                  </p:childTnLst>
                                </p:cTn>
                              </p:par>
                            </p:childTnLst>
                          </p:cTn>
                        </p:par>
                        <p:par>
                          <p:cTn id="49" fill="hold">
                            <p:stCondLst>
                              <p:cond delay="5500"/>
                            </p:stCondLst>
                            <p:childTnLst>
                              <p:par>
                                <p:cTn id="50" presetID="9" presetClass="entr" presetSubtype="0" fill="hold" nodeType="afterEffect">
                                  <p:stCondLst>
                                    <p:cond delay="0"/>
                                  </p:stCondLst>
                                  <p:childTnLst>
                                    <p:set>
                                      <p:cBhvr>
                                        <p:cTn id="51" dur="1" fill="hold">
                                          <p:stCondLst>
                                            <p:cond delay="0"/>
                                          </p:stCondLst>
                                        </p:cTn>
                                        <p:tgtEl>
                                          <p:spTgt spid="47121"/>
                                        </p:tgtEl>
                                        <p:attrNameLst>
                                          <p:attrName>style.visibility</p:attrName>
                                        </p:attrNameLst>
                                      </p:cBhvr>
                                      <p:to>
                                        <p:strVal val="visible"/>
                                      </p:to>
                                    </p:set>
                                    <p:animEffect transition="in" filter="dissolve">
                                      <p:cBhvr>
                                        <p:cTn id="52" dur="500"/>
                                        <p:tgtEl>
                                          <p:spTgt spid="47121"/>
                                        </p:tgtEl>
                                      </p:cBhvr>
                                    </p:animEffect>
                                  </p:childTnLst>
                                </p:cTn>
                              </p:par>
                            </p:childTnLst>
                          </p:cTn>
                        </p:par>
                        <p:par>
                          <p:cTn id="53" fill="hold">
                            <p:stCondLst>
                              <p:cond delay="6000"/>
                            </p:stCondLst>
                            <p:childTnLst>
                              <p:par>
                                <p:cTn id="54" presetID="9" presetClass="entr" presetSubtype="0" fill="hold" nodeType="afterEffect">
                                  <p:stCondLst>
                                    <p:cond delay="0"/>
                                  </p:stCondLst>
                                  <p:childTnLst>
                                    <p:set>
                                      <p:cBhvr>
                                        <p:cTn id="55" dur="1" fill="hold">
                                          <p:stCondLst>
                                            <p:cond delay="0"/>
                                          </p:stCondLst>
                                        </p:cTn>
                                        <p:tgtEl>
                                          <p:spTgt spid="47122"/>
                                        </p:tgtEl>
                                        <p:attrNameLst>
                                          <p:attrName>style.visibility</p:attrName>
                                        </p:attrNameLst>
                                      </p:cBhvr>
                                      <p:to>
                                        <p:strVal val="visible"/>
                                      </p:to>
                                    </p:set>
                                    <p:animEffect transition="in" filter="dissolve">
                                      <p:cBhvr>
                                        <p:cTn id="56" dur="500"/>
                                        <p:tgtEl>
                                          <p:spTgt spid="47122"/>
                                        </p:tgtEl>
                                      </p:cBhvr>
                                    </p:animEffect>
                                  </p:childTnLst>
                                </p:cTn>
                              </p:par>
                            </p:childTnLst>
                          </p:cTn>
                        </p:par>
                        <p:par>
                          <p:cTn id="57" fill="hold">
                            <p:stCondLst>
                              <p:cond delay="6500"/>
                            </p:stCondLst>
                            <p:childTnLst>
                              <p:par>
                                <p:cTn id="58" presetID="9" presetClass="entr" presetSubtype="0" fill="hold" nodeType="afterEffect">
                                  <p:stCondLst>
                                    <p:cond delay="0"/>
                                  </p:stCondLst>
                                  <p:childTnLst>
                                    <p:set>
                                      <p:cBhvr>
                                        <p:cTn id="59" dur="1" fill="hold">
                                          <p:stCondLst>
                                            <p:cond delay="0"/>
                                          </p:stCondLst>
                                        </p:cTn>
                                        <p:tgtEl>
                                          <p:spTgt spid="47123"/>
                                        </p:tgtEl>
                                        <p:attrNameLst>
                                          <p:attrName>style.visibility</p:attrName>
                                        </p:attrNameLst>
                                      </p:cBhvr>
                                      <p:to>
                                        <p:strVal val="visible"/>
                                      </p:to>
                                    </p:set>
                                    <p:animEffect transition="in" filter="dissolve">
                                      <p:cBhvr>
                                        <p:cTn id="60" dur="500"/>
                                        <p:tgtEl>
                                          <p:spTgt spid="47123"/>
                                        </p:tgtEl>
                                      </p:cBhvr>
                                    </p:animEffect>
                                  </p:childTnLst>
                                </p:cTn>
                              </p:par>
                            </p:childTnLst>
                          </p:cTn>
                        </p:par>
                        <p:par>
                          <p:cTn id="61" fill="hold">
                            <p:stCondLst>
                              <p:cond delay="7000"/>
                            </p:stCondLst>
                            <p:childTnLst>
                              <p:par>
                                <p:cTn id="62" presetID="9" presetClass="entr" presetSubtype="0" fill="hold" nodeType="afterEffect">
                                  <p:stCondLst>
                                    <p:cond delay="0"/>
                                  </p:stCondLst>
                                  <p:childTnLst>
                                    <p:set>
                                      <p:cBhvr>
                                        <p:cTn id="63" dur="1" fill="hold">
                                          <p:stCondLst>
                                            <p:cond delay="0"/>
                                          </p:stCondLst>
                                        </p:cTn>
                                        <p:tgtEl>
                                          <p:spTgt spid="47124"/>
                                        </p:tgtEl>
                                        <p:attrNameLst>
                                          <p:attrName>style.visibility</p:attrName>
                                        </p:attrNameLst>
                                      </p:cBhvr>
                                      <p:to>
                                        <p:strVal val="visible"/>
                                      </p:to>
                                    </p:set>
                                    <p:animEffect transition="in" filter="dissolve">
                                      <p:cBhvr>
                                        <p:cTn id="64" dur="500"/>
                                        <p:tgtEl>
                                          <p:spTgt spid="471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7"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p:cNvSpPr>
            <a:spLocks noGrp="1"/>
          </p:cNvSpPr>
          <p:nvPr>
            <p:ph type="title"/>
          </p:nvPr>
        </p:nvSpPr>
        <p:spPr>
          <a:xfrm>
            <a:off x="971600" y="1916832"/>
            <a:ext cx="5904656" cy="738664"/>
          </a:xfrm>
          <a:solidFill>
            <a:schemeClr val="bg1"/>
          </a:solidFill>
          <a:ln w="12700">
            <a:solidFill>
              <a:srgbClr val="FF3300"/>
            </a:solidFill>
            <a:miter/>
          </a:ln>
        </p:spPr>
        <p:txBody>
          <a:bodyPr wrap="square" anchor="t">
            <a:spAutoFit/>
          </a:bodyPr>
          <a:lstStyle/>
          <a:p>
            <a:pPr algn="l">
              <a:lnSpc>
                <a:spcPct val="150000"/>
              </a:lnSpc>
              <a:spcBef>
                <a:spcPct val="50000"/>
              </a:spcBef>
            </a:pPr>
            <a:r>
              <a:rPr lang="zh-CN" altLang="en-US" sz="2800" b="1" dirty="0" smtClean="0">
                <a:solidFill>
                  <a:srgbClr val="0000FF"/>
                </a:solidFill>
                <a:latin typeface="Times New Roman" panose="02020603050405020304" pitchFamily="18" charset="0"/>
                <a:ea typeface="黑体" panose="02010609060101010101" pitchFamily="49" charset="-122"/>
              </a:rPr>
              <a:t>       </a:t>
            </a:r>
            <a:r>
              <a:rPr lang="zh-CN" altLang="en-US" sz="2400" b="1" dirty="0" smtClean="0">
                <a:solidFill>
                  <a:srgbClr val="0000FF"/>
                </a:solidFill>
                <a:latin typeface="Times New Roman" panose="02020603050405020304" pitchFamily="18" charset="0"/>
                <a:ea typeface="黑体" panose="02010609060101010101" pitchFamily="49" charset="-122"/>
              </a:rPr>
              <a:t>公私合营是国家资本主义的高级形式</a:t>
            </a:r>
            <a:endParaRPr lang="zh-CN" altLang="en-US" sz="2400" b="1" dirty="0">
              <a:solidFill>
                <a:srgbClr val="0000FF"/>
              </a:solidFill>
              <a:latin typeface="Times New Roman" panose="02020603050405020304" pitchFamily="18" charset="0"/>
              <a:ea typeface="黑体" panose="02010609060101010101" pitchFamily="49" charset="-122"/>
            </a:endParaRPr>
          </a:p>
        </p:txBody>
      </p:sp>
      <p:sp>
        <p:nvSpPr>
          <p:cNvPr id="3" name="矩形 2"/>
          <p:cNvSpPr/>
          <p:nvPr/>
        </p:nvSpPr>
        <p:spPr>
          <a:xfrm>
            <a:off x="1115616" y="980728"/>
            <a:ext cx="4586512" cy="646331"/>
          </a:xfrm>
          <a:prstGeom prst="rect">
            <a:avLst/>
          </a:prstGeom>
          <a:solidFill>
            <a:schemeClr val="bg1"/>
          </a:solidFill>
          <a:ln>
            <a:solidFill>
              <a:srgbClr val="FF0000"/>
            </a:solidFill>
          </a:ln>
        </p:spPr>
        <p:txBody>
          <a:bodyPr wrap="none">
            <a:spAutoFit/>
          </a:bodyPr>
          <a:lstStyle/>
          <a:p>
            <a:r>
              <a:rPr lang="zh-CN" altLang="en-US" sz="3600" b="1" dirty="0" smtClean="0">
                <a:solidFill>
                  <a:srgbClr val="FF0000"/>
                </a:solidFill>
                <a:latin typeface="黑体" pitchFamily="49" charset="-122"/>
                <a:ea typeface="黑体" pitchFamily="49" charset="-122"/>
              </a:rPr>
              <a:t>第一，政策 </a:t>
            </a:r>
            <a:r>
              <a:rPr lang="zh-CN" altLang="en-US" sz="3600" b="1" dirty="0" smtClean="0">
                <a:solidFill>
                  <a:srgbClr val="0000FF"/>
                </a:solidFill>
                <a:latin typeface="黑体" pitchFamily="49" charset="-122"/>
                <a:ea typeface="黑体" pitchFamily="49" charset="-122"/>
              </a:rPr>
              <a:t>和平赎买</a:t>
            </a:r>
            <a:endParaRPr lang="zh-CN" altLang="en-US" sz="3600" dirty="0">
              <a:solidFill>
                <a:srgbClr val="0000FF"/>
              </a:solidFill>
              <a:latin typeface="黑体" pitchFamily="49" charset="-122"/>
              <a:ea typeface="黑体" pitchFamily="49" charset="-122"/>
            </a:endParaRPr>
          </a:p>
        </p:txBody>
      </p:sp>
      <p:sp>
        <p:nvSpPr>
          <p:cNvPr id="6" name="Rectangle 2"/>
          <p:cNvSpPr txBox="1">
            <a:spLocks/>
          </p:cNvSpPr>
          <p:nvPr/>
        </p:nvSpPr>
        <p:spPr>
          <a:xfrm>
            <a:off x="611560" y="2780928"/>
            <a:ext cx="7272808" cy="2031325"/>
          </a:xfrm>
          <a:prstGeom prst="rect">
            <a:avLst/>
          </a:prstGeom>
          <a:solidFill>
            <a:schemeClr val="bg1"/>
          </a:solidFill>
          <a:ln w="12700">
            <a:solidFill>
              <a:srgbClr val="FF3300"/>
            </a:solidFill>
            <a:miter/>
          </a:ln>
        </p:spPr>
        <p:txBody>
          <a:bodyPr vert="horz" wrap="square" rtlCol="0" anchor="t">
            <a:spAutoFit/>
          </a:bodyPr>
          <a:lstStyle/>
          <a:p>
            <a:pPr marL="0" marR="0" lvl="0" indent="0" algn="l" defTabSz="914400" rtl="0" eaLnBrk="1" fontAlgn="auto" latinLnBrk="0" hangingPunct="1">
              <a:lnSpc>
                <a:spcPct val="150000"/>
              </a:lnSpc>
              <a:spcBef>
                <a:spcPct val="50000"/>
              </a:spcBef>
              <a:spcAft>
                <a:spcPts val="0"/>
              </a:spcAft>
              <a:buClrTx/>
              <a:buSzTx/>
              <a:buFontTx/>
              <a:buNone/>
              <a:tabLst/>
              <a:defRPr/>
            </a:pPr>
            <a:r>
              <a:rPr lang="zh-CN" altLang="en-US" sz="2800" b="1" dirty="0" smtClean="0">
                <a:solidFill>
                  <a:srgbClr val="FF0000"/>
                </a:solidFill>
                <a:latin typeface="Times New Roman" panose="02020603050405020304" pitchFamily="18" charset="0"/>
                <a:ea typeface="黑体" panose="02010609060101010101" pitchFamily="49" charset="-122"/>
                <a:cs typeface="+mj-cs"/>
              </a:rPr>
              <a:t>特点：</a:t>
            </a:r>
            <a:r>
              <a:rPr lang="zh-CN" altLang="en-US" sz="2800" b="1" dirty="0" smtClean="0">
                <a:solidFill>
                  <a:srgbClr val="0000FF"/>
                </a:solidFill>
                <a:latin typeface="Times New Roman" panose="02020603050405020304" pitchFamily="18" charset="0"/>
                <a:ea typeface="黑体" panose="02010609060101010101" pitchFamily="49" charset="-122"/>
                <a:cs typeface="+mj-cs"/>
              </a:rPr>
              <a:t>社会主义充分同资本主义充分在企业内部的合作。公方占有相当股权，公私双方共同经营，公方</a:t>
            </a:r>
            <a:r>
              <a:rPr lang="zh-CN" altLang="en-US" sz="2800" b="1" smtClean="0">
                <a:solidFill>
                  <a:srgbClr val="0000FF"/>
                </a:solidFill>
                <a:latin typeface="Times New Roman" panose="02020603050405020304" pitchFamily="18" charset="0"/>
                <a:ea typeface="黑体" panose="02010609060101010101" pitchFamily="49" charset="-122"/>
                <a:cs typeface="+mj-cs"/>
              </a:rPr>
              <a:t>局</a:t>
            </a:r>
            <a:r>
              <a:rPr lang="zh-CN" altLang="en-US" sz="2800" b="1" smtClean="0">
                <a:solidFill>
                  <a:srgbClr val="0000FF"/>
                </a:solidFill>
                <a:latin typeface="Times New Roman" panose="02020603050405020304" pitchFamily="18" charset="0"/>
                <a:ea typeface="黑体" panose="02010609060101010101" pitchFamily="49" charset="-122"/>
                <a:cs typeface="+mj-cs"/>
              </a:rPr>
              <a:t>代表居</a:t>
            </a:r>
            <a:r>
              <a:rPr lang="zh-CN" altLang="en-US" sz="2800" b="1" dirty="0" smtClean="0">
                <a:solidFill>
                  <a:srgbClr val="0000FF"/>
                </a:solidFill>
                <a:latin typeface="Times New Roman" panose="02020603050405020304" pitchFamily="18" charset="0"/>
                <a:ea typeface="黑体" panose="02010609060101010101" pitchFamily="49" charset="-122"/>
                <a:cs typeface="+mj-cs"/>
              </a:rPr>
              <a:t>领导地位。</a:t>
            </a:r>
            <a:endParaRPr kumimoji="0" lang="zh-CN" altLang="en-US" sz="2400" b="1" i="0" u="none" strike="noStrike" kern="1200" cap="none" spc="0" normalizeH="0" baseline="0" noProof="0" dirty="0">
              <a:ln>
                <a:noFill/>
              </a:ln>
              <a:solidFill>
                <a:srgbClr val="0000FF"/>
              </a:solidFill>
              <a:effectLst/>
              <a:uLnTx/>
              <a:uFillTx/>
              <a:latin typeface="Times New Roman" panose="02020603050405020304" pitchFamily="18" charset="0"/>
              <a:ea typeface="黑体" panose="02010609060101010101" pitchFamily="49" charset="-122"/>
              <a:cs typeface="+mj-cs"/>
            </a:endParaRPr>
          </a:p>
        </p:txBody>
      </p:sp>
    </p:spTree>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p:cNvSpPr>
          <p:nvPr/>
        </p:nvSpPr>
        <p:spPr>
          <a:xfrm>
            <a:off x="611560" y="116632"/>
            <a:ext cx="3672408" cy="4616648"/>
          </a:xfrm>
          <a:prstGeom prst="rect">
            <a:avLst/>
          </a:prstGeom>
          <a:solidFill>
            <a:schemeClr val="bg1"/>
          </a:solidFill>
          <a:ln w="12700">
            <a:solidFill>
              <a:srgbClr val="FF3300"/>
            </a:solidFill>
            <a:miter/>
          </a:ln>
        </p:spPr>
        <p:txBody>
          <a:bodyPr vert="horz" wrap="square" rtlCol="0" anchor="t">
            <a:spAutoFit/>
          </a:bodyPr>
          <a:lstStyle/>
          <a:p>
            <a:pPr marL="0" marR="0" lvl="0" indent="0" algn="l" defTabSz="914400" rtl="0" eaLnBrk="1" fontAlgn="auto" latinLnBrk="0" hangingPunct="1">
              <a:lnSpc>
                <a:spcPct val="150000"/>
              </a:lnSpc>
              <a:spcBef>
                <a:spcPct val="50000"/>
              </a:spcBef>
              <a:spcAft>
                <a:spcPts val="0"/>
              </a:spcAft>
              <a:buClrTx/>
              <a:buSzTx/>
              <a:buFontTx/>
              <a:buNone/>
              <a:tabLst/>
              <a:defRPr/>
            </a:pPr>
            <a:r>
              <a:rPr kumimoji="0" lang="zh-CN" altLang="en-US" sz="2800" b="1" i="0" u="none" strike="noStrike" kern="1200" cap="none" spc="0" normalizeH="0" baseline="0" noProof="0" dirty="0" smtClean="0">
                <a:ln>
                  <a:noFill/>
                </a:ln>
                <a:solidFill>
                  <a:srgbClr val="0000FF"/>
                </a:solidFill>
                <a:effectLst/>
                <a:uLnTx/>
                <a:uFillTx/>
                <a:latin typeface="Times New Roman" panose="02020603050405020304" pitchFamily="18" charset="0"/>
                <a:ea typeface="黑体" panose="02010609060101010101" pitchFamily="49" charset="-122"/>
                <a:cs typeface="+mj-cs"/>
              </a:rPr>
              <a:t>         </a:t>
            </a:r>
            <a:r>
              <a:rPr kumimoji="0" lang="zh-CN" altLang="en-US" sz="2400" b="1" i="0" u="none" strike="noStrike" kern="1200" cap="none" spc="0" normalizeH="0" baseline="0" noProof="0" dirty="0" smtClean="0">
                <a:ln>
                  <a:noFill/>
                </a:ln>
                <a:solidFill>
                  <a:srgbClr val="0000FF"/>
                </a:solidFill>
                <a:effectLst/>
                <a:uLnTx/>
                <a:uFillTx/>
                <a:latin typeface="Times New Roman" panose="02020603050405020304" pitchFamily="18" charset="0"/>
                <a:ea typeface="黑体" panose="02010609060101010101" pitchFamily="49" charset="-122"/>
                <a:cs typeface="+mj-cs"/>
              </a:rPr>
              <a:t>在全行业公私合营前，赎买采取了“</a:t>
            </a:r>
            <a:r>
              <a:rPr kumimoji="0" lang="zh-CN" altLang="en-US" sz="2400" b="1" i="0" u="none" strike="noStrike" kern="1200" cap="none" spc="0" normalizeH="0" baseline="0" noProof="0" dirty="0" smtClean="0">
                <a:ln>
                  <a:noFill/>
                </a:ln>
                <a:solidFill>
                  <a:srgbClr val="FF0000"/>
                </a:solidFill>
                <a:effectLst/>
                <a:uLnTx/>
                <a:uFillTx/>
                <a:latin typeface="Times New Roman" panose="02020603050405020304" pitchFamily="18" charset="0"/>
                <a:ea typeface="黑体" panose="02010609060101010101" pitchFamily="49" charset="-122"/>
                <a:cs typeface="+mj-cs"/>
              </a:rPr>
              <a:t>四马分肥”</a:t>
            </a:r>
            <a:r>
              <a:rPr kumimoji="0" lang="zh-CN" altLang="en-US" sz="2400" b="1" i="0" u="none" strike="noStrike" kern="1200" cap="none" spc="0" normalizeH="0" baseline="0" noProof="0" dirty="0" smtClean="0">
                <a:ln>
                  <a:noFill/>
                </a:ln>
                <a:solidFill>
                  <a:srgbClr val="0000FF"/>
                </a:solidFill>
                <a:effectLst/>
                <a:uLnTx/>
                <a:uFillTx/>
                <a:latin typeface="Times New Roman" panose="02020603050405020304" pitchFamily="18" charset="0"/>
                <a:ea typeface="黑体" panose="02010609060101010101" pitchFamily="49" charset="-122"/>
                <a:cs typeface="+mj-cs"/>
              </a:rPr>
              <a:t>的利润分配形式，即把企业利润按</a:t>
            </a:r>
            <a:r>
              <a:rPr kumimoji="0" lang="zh-CN" altLang="en-US" sz="2400" b="1" i="0" u="none" strike="noStrike" kern="1200" cap="none" spc="0" normalizeH="0" baseline="0" noProof="0" dirty="0" smtClean="0">
                <a:ln>
                  <a:noFill/>
                </a:ln>
                <a:solidFill>
                  <a:srgbClr val="FF0000"/>
                </a:solidFill>
                <a:effectLst/>
                <a:uLnTx/>
                <a:uFillTx/>
                <a:latin typeface="Times New Roman" panose="02020603050405020304" pitchFamily="18" charset="0"/>
                <a:ea typeface="黑体" panose="02010609060101010101" pitchFamily="49" charset="-122"/>
                <a:cs typeface="+mj-cs"/>
              </a:rPr>
              <a:t>国家所得税</a:t>
            </a:r>
            <a:r>
              <a:rPr kumimoji="0" lang="en-US" altLang="zh-CN" sz="2400" b="1" i="0" u="none" strike="noStrike" kern="1200" cap="none" spc="0" normalizeH="0" baseline="0" noProof="0" dirty="0" smtClean="0">
                <a:ln>
                  <a:noFill/>
                </a:ln>
                <a:solidFill>
                  <a:srgbClr val="0000FF"/>
                </a:solidFill>
                <a:effectLst/>
                <a:uLnTx/>
                <a:uFillTx/>
                <a:latin typeface="Times New Roman" panose="02020603050405020304" pitchFamily="18" charset="0"/>
                <a:ea typeface="黑体" panose="02010609060101010101" pitchFamily="49" charset="-122"/>
                <a:cs typeface="+mj-cs"/>
              </a:rPr>
              <a:t>(34.5%)</a:t>
            </a:r>
            <a:r>
              <a:rPr kumimoji="0" lang="zh-CN" altLang="en-US" sz="2400" b="1" i="0" u="none" strike="noStrike" kern="1200" cap="none" spc="0" normalizeH="0" baseline="0" noProof="0" dirty="0" smtClean="0">
                <a:ln>
                  <a:noFill/>
                </a:ln>
                <a:solidFill>
                  <a:srgbClr val="0000FF"/>
                </a:solidFill>
                <a:effectLst/>
                <a:uLnTx/>
                <a:uFillTx/>
                <a:latin typeface="Times New Roman" panose="02020603050405020304" pitchFamily="18" charset="0"/>
                <a:ea typeface="黑体" panose="02010609060101010101" pitchFamily="49" charset="-122"/>
                <a:cs typeface="+mj-cs"/>
              </a:rPr>
              <a:t>，</a:t>
            </a:r>
            <a:r>
              <a:rPr kumimoji="0" lang="zh-CN" altLang="en-US" sz="2400" b="1" i="0" u="none" strike="noStrike" kern="1200" cap="none" spc="0" normalizeH="0" baseline="0" noProof="0" dirty="0" smtClean="0">
                <a:ln>
                  <a:noFill/>
                </a:ln>
                <a:solidFill>
                  <a:srgbClr val="FF0000"/>
                </a:solidFill>
                <a:effectLst/>
                <a:uLnTx/>
                <a:uFillTx/>
                <a:latin typeface="Times New Roman" panose="02020603050405020304" pitchFamily="18" charset="0"/>
                <a:ea typeface="黑体" panose="02010609060101010101" pitchFamily="49" charset="-122"/>
                <a:cs typeface="+mj-cs"/>
              </a:rPr>
              <a:t>企业公积金</a:t>
            </a:r>
            <a:r>
              <a:rPr kumimoji="0" lang="en-US" altLang="zh-CN" sz="2400" b="1" i="0" u="none" strike="noStrike" kern="1200" cap="none" spc="0" normalizeH="0" baseline="0" noProof="0" dirty="0" smtClean="0">
                <a:ln>
                  <a:noFill/>
                </a:ln>
                <a:solidFill>
                  <a:srgbClr val="0000FF"/>
                </a:solidFill>
                <a:effectLst/>
                <a:uLnTx/>
                <a:uFillTx/>
                <a:latin typeface="Times New Roman" panose="02020603050405020304" pitchFamily="18" charset="0"/>
                <a:ea typeface="黑体" panose="02010609060101010101" pitchFamily="49" charset="-122"/>
                <a:cs typeface="+mj-cs"/>
              </a:rPr>
              <a:t>(30%)</a:t>
            </a:r>
            <a:r>
              <a:rPr kumimoji="0" lang="zh-CN" altLang="en-US" sz="2400" b="1" i="0" u="none" strike="noStrike" kern="1200" cap="none" spc="0" normalizeH="0" baseline="0" noProof="0" dirty="0" smtClean="0">
                <a:ln>
                  <a:noFill/>
                </a:ln>
                <a:solidFill>
                  <a:srgbClr val="0000FF"/>
                </a:solidFill>
                <a:effectLst/>
                <a:uLnTx/>
                <a:uFillTx/>
                <a:latin typeface="Times New Roman" panose="02020603050405020304" pitchFamily="18" charset="0"/>
                <a:ea typeface="黑体" panose="02010609060101010101" pitchFamily="49" charset="-122"/>
                <a:cs typeface="+mj-cs"/>
              </a:rPr>
              <a:t>，</a:t>
            </a:r>
            <a:r>
              <a:rPr kumimoji="0" lang="zh-CN" altLang="en-US" sz="2400" b="1" i="0" u="none" strike="noStrike" kern="1200" cap="none" spc="0" normalizeH="0" baseline="0" noProof="0" dirty="0" smtClean="0">
                <a:ln>
                  <a:noFill/>
                </a:ln>
                <a:solidFill>
                  <a:srgbClr val="FF0000"/>
                </a:solidFill>
                <a:effectLst/>
                <a:uLnTx/>
                <a:uFillTx/>
                <a:latin typeface="Times New Roman" panose="02020603050405020304" pitchFamily="18" charset="0"/>
                <a:ea typeface="黑体" panose="02010609060101010101" pitchFamily="49" charset="-122"/>
                <a:cs typeface="+mj-cs"/>
              </a:rPr>
              <a:t>工人福利费</a:t>
            </a:r>
            <a:r>
              <a:rPr kumimoji="0" lang="en-US" altLang="zh-CN" sz="2400" b="1" i="0" u="none" strike="noStrike" kern="1200" cap="none" spc="0" normalizeH="0" baseline="0" noProof="0" dirty="0" smtClean="0">
                <a:ln>
                  <a:noFill/>
                </a:ln>
                <a:solidFill>
                  <a:srgbClr val="FF0000"/>
                </a:solidFill>
                <a:effectLst/>
                <a:uLnTx/>
                <a:uFillTx/>
                <a:latin typeface="Times New Roman" panose="02020603050405020304" pitchFamily="18" charset="0"/>
                <a:ea typeface="黑体" panose="02010609060101010101" pitchFamily="49" charset="-122"/>
                <a:cs typeface="+mj-cs"/>
              </a:rPr>
              <a:t>(</a:t>
            </a:r>
            <a:r>
              <a:rPr kumimoji="0" lang="en-US" altLang="zh-CN" sz="2400" b="1" i="0" u="none" strike="noStrike" kern="1200" cap="none" spc="0" normalizeH="0" baseline="0" noProof="0" dirty="0" smtClean="0">
                <a:ln>
                  <a:noFill/>
                </a:ln>
                <a:solidFill>
                  <a:srgbClr val="0000FF"/>
                </a:solidFill>
                <a:effectLst/>
                <a:uLnTx/>
                <a:uFillTx/>
                <a:latin typeface="Times New Roman" panose="02020603050405020304" pitchFamily="18" charset="0"/>
                <a:ea typeface="黑体" panose="02010609060101010101" pitchFamily="49" charset="-122"/>
                <a:cs typeface="+mj-cs"/>
              </a:rPr>
              <a:t>15%)</a:t>
            </a:r>
            <a:r>
              <a:rPr kumimoji="0" lang="zh-CN" altLang="en-US" sz="2400" b="1" i="0" u="none" strike="noStrike" kern="1200" cap="none" spc="0" normalizeH="0" baseline="0" noProof="0" dirty="0" smtClean="0">
                <a:ln>
                  <a:noFill/>
                </a:ln>
                <a:solidFill>
                  <a:srgbClr val="0000FF"/>
                </a:solidFill>
                <a:effectLst/>
                <a:uLnTx/>
                <a:uFillTx/>
                <a:latin typeface="Times New Roman" panose="02020603050405020304" pitchFamily="18" charset="0"/>
                <a:ea typeface="黑体" panose="02010609060101010101" pitchFamily="49" charset="-122"/>
                <a:cs typeface="+mj-cs"/>
              </a:rPr>
              <a:t>，</a:t>
            </a:r>
            <a:r>
              <a:rPr kumimoji="0" lang="zh-CN" altLang="en-US" sz="2400" b="1" i="0" u="none" strike="noStrike" kern="1200" cap="none" spc="0" normalizeH="0" baseline="0" noProof="0" dirty="0" smtClean="0">
                <a:ln>
                  <a:noFill/>
                </a:ln>
                <a:solidFill>
                  <a:srgbClr val="FF0000"/>
                </a:solidFill>
                <a:effectLst/>
                <a:uLnTx/>
                <a:uFillTx/>
                <a:latin typeface="Times New Roman" panose="02020603050405020304" pitchFamily="18" charset="0"/>
                <a:ea typeface="黑体" panose="02010609060101010101" pitchFamily="49" charset="-122"/>
                <a:cs typeface="+mj-cs"/>
              </a:rPr>
              <a:t>资方红利</a:t>
            </a:r>
            <a:r>
              <a:rPr kumimoji="0" lang="en-US" altLang="zh-CN" sz="2400" b="1" i="0" u="none" strike="noStrike" kern="1200" cap="none" spc="0" normalizeH="0" baseline="0" noProof="0" dirty="0" smtClean="0">
                <a:ln>
                  <a:noFill/>
                </a:ln>
                <a:solidFill>
                  <a:srgbClr val="FF0000"/>
                </a:solidFill>
                <a:effectLst/>
                <a:uLnTx/>
                <a:uFillTx/>
                <a:latin typeface="Times New Roman" panose="02020603050405020304" pitchFamily="18" charset="0"/>
                <a:ea typeface="黑体" panose="02010609060101010101" pitchFamily="49" charset="-122"/>
                <a:cs typeface="+mj-cs"/>
              </a:rPr>
              <a:t>(</a:t>
            </a:r>
            <a:r>
              <a:rPr kumimoji="0" lang="en-US" altLang="zh-CN" sz="2400" b="1" i="0" u="none" strike="noStrike" kern="1200" cap="none" spc="0" normalizeH="0" baseline="0" noProof="0" dirty="0" smtClean="0">
                <a:ln>
                  <a:noFill/>
                </a:ln>
                <a:solidFill>
                  <a:srgbClr val="0000FF"/>
                </a:solidFill>
                <a:effectLst/>
                <a:uLnTx/>
                <a:uFillTx/>
                <a:latin typeface="Times New Roman" panose="02020603050405020304" pitchFamily="18" charset="0"/>
                <a:ea typeface="黑体" panose="02010609060101010101" pitchFamily="49" charset="-122"/>
                <a:cs typeface="+mj-cs"/>
              </a:rPr>
              <a:t>20.5%)</a:t>
            </a:r>
            <a:r>
              <a:rPr kumimoji="0" lang="zh-CN" altLang="en-US" sz="2400" b="1" i="0" u="none" strike="noStrike" kern="1200" cap="none" spc="0" normalizeH="0" baseline="0" noProof="0" dirty="0" smtClean="0">
                <a:ln>
                  <a:noFill/>
                </a:ln>
                <a:solidFill>
                  <a:srgbClr val="0000FF"/>
                </a:solidFill>
                <a:effectLst/>
                <a:uLnTx/>
                <a:uFillTx/>
                <a:latin typeface="Times New Roman" panose="02020603050405020304" pitchFamily="18" charset="0"/>
                <a:ea typeface="黑体" panose="02010609060101010101" pitchFamily="49" charset="-122"/>
                <a:cs typeface="+mj-cs"/>
              </a:rPr>
              <a:t>四个方面进行分配；</a:t>
            </a:r>
            <a:endParaRPr kumimoji="0" lang="zh-CN" altLang="en-US" sz="2400" b="1" i="0" u="none" strike="noStrike" kern="1200" cap="none" spc="0" normalizeH="0" baseline="0" noProof="0" dirty="0">
              <a:ln>
                <a:noFill/>
              </a:ln>
              <a:solidFill>
                <a:srgbClr val="0000FF"/>
              </a:solidFill>
              <a:effectLst/>
              <a:uLnTx/>
              <a:uFillTx/>
              <a:latin typeface="Times New Roman" panose="02020603050405020304" pitchFamily="18" charset="0"/>
              <a:ea typeface="黑体" panose="02010609060101010101" pitchFamily="49" charset="-122"/>
              <a:cs typeface="+mj-cs"/>
            </a:endParaRPr>
          </a:p>
        </p:txBody>
      </p:sp>
      <p:pic>
        <p:nvPicPr>
          <p:cNvPr id="3" name="Picture 2" descr="https://ss0.bdstatic.com/70cFvHSh_Q1YnxGkpoWK1HF6hhy/it/u=331322915,3132506731&amp;fm=26&amp;gp=0.jp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381500" y="548680"/>
            <a:ext cx="4762500" cy="3571875"/>
          </a:xfrm>
          <a:prstGeom prst="rect">
            <a:avLst/>
          </a:prstGeom>
          <a:noFill/>
          <a:extLst>
            <a:ext uri="{909E8E84-426E-40DD-AFC4-6F175D3DCCD1}">
              <a14:hiddenFill xmlns:a14="http://schemas.microsoft.com/office/drawing/2010/main" xmlns="">
                <a:solidFill>
                  <a:srgbClr val="FFFFFF"/>
                </a:solidFill>
              </a14:hiddenFill>
            </a:ext>
          </a:extLst>
        </p:spPr>
      </p:pic>
      <p:sp>
        <p:nvSpPr>
          <p:cNvPr id="4" name="矩形 3"/>
          <p:cNvSpPr/>
          <p:nvPr/>
        </p:nvSpPr>
        <p:spPr>
          <a:xfrm>
            <a:off x="1187624" y="5229200"/>
            <a:ext cx="6552728" cy="461665"/>
          </a:xfrm>
          <a:prstGeom prst="rect">
            <a:avLst/>
          </a:prstGeom>
          <a:ln>
            <a:solidFill>
              <a:schemeClr val="accent1"/>
            </a:solidFill>
          </a:ln>
        </p:spPr>
        <p:txBody>
          <a:bodyPr wrap="square">
            <a:spAutoFit/>
          </a:bodyPr>
          <a:lstStyle/>
          <a:p>
            <a:r>
              <a:rPr lang="zh-CN" altLang="en-US" sz="2400" b="1" dirty="0" smtClean="0">
                <a:solidFill>
                  <a:srgbClr val="0000FF"/>
                </a:solidFill>
                <a:latin typeface="Times New Roman" panose="02020603050405020304" pitchFamily="18" charset="0"/>
                <a:ea typeface="黑体" panose="02010609060101010101" pitchFamily="49" charset="-122"/>
              </a:rPr>
              <a:t>在全行业公私合营后，赎买采取了定息的形式。</a:t>
            </a:r>
            <a:endParaRPr lang="zh-CN" altLang="en-US" sz="2400" dirty="0"/>
          </a:p>
        </p:txBody>
      </p:sp>
    </p:spTree>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2"/>
          <p:cNvSpPr>
            <a:spLocks noGrp="1"/>
          </p:cNvSpPr>
          <p:nvPr>
            <p:ph type="title"/>
          </p:nvPr>
        </p:nvSpPr>
        <p:spPr>
          <a:xfrm>
            <a:off x="899592" y="2708920"/>
            <a:ext cx="6994525" cy="1303177"/>
          </a:xfrm>
          <a:solidFill>
            <a:schemeClr val="bg2"/>
          </a:solidFill>
          <a:ln w="12700">
            <a:solidFill>
              <a:srgbClr val="FF3300"/>
            </a:solidFill>
            <a:miter/>
          </a:ln>
        </p:spPr>
        <p:txBody>
          <a:bodyPr anchor="t">
            <a:spAutoFit/>
          </a:bodyPr>
          <a:lstStyle/>
          <a:p>
            <a:pPr algn="l">
              <a:lnSpc>
                <a:spcPct val="150000"/>
              </a:lnSpc>
              <a:spcBef>
                <a:spcPct val="50000"/>
              </a:spcBef>
            </a:pPr>
            <a:r>
              <a:rPr lang="zh-CN" altLang="en-US" sz="2800" b="1" dirty="0">
                <a:solidFill>
                  <a:srgbClr val="0000FF"/>
                </a:solidFill>
                <a:latin typeface="Times New Roman" panose="02020603050405020304" pitchFamily="18" charset="0"/>
                <a:ea typeface="黑体" panose="02010609060101010101" pitchFamily="49" charset="-122"/>
                <a:cs typeface="+mn-cs"/>
              </a:rPr>
              <a:t>第三，把资本主义工商业者改造成为自食其力的社会主义劳动者。</a:t>
            </a:r>
          </a:p>
        </p:txBody>
      </p:sp>
      <p:sp>
        <p:nvSpPr>
          <p:cNvPr id="2" name="矩形 1"/>
          <p:cNvSpPr/>
          <p:nvPr/>
        </p:nvSpPr>
        <p:spPr>
          <a:xfrm>
            <a:off x="971600" y="908720"/>
            <a:ext cx="6984776" cy="1384995"/>
          </a:xfrm>
          <a:prstGeom prst="rect">
            <a:avLst/>
          </a:prstGeom>
          <a:solidFill>
            <a:schemeClr val="bg2"/>
          </a:solidFill>
          <a:ln>
            <a:solidFill>
              <a:srgbClr val="FF0000"/>
            </a:solidFill>
          </a:ln>
        </p:spPr>
        <p:txBody>
          <a:bodyPr wrap="square">
            <a:spAutoFit/>
          </a:bodyPr>
          <a:lstStyle/>
          <a:p>
            <a:pPr>
              <a:lnSpc>
                <a:spcPct val="150000"/>
              </a:lnSpc>
            </a:pPr>
            <a:r>
              <a:rPr lang="zh-CN" altLang="en-US" sz="2800" b="1" dirty="0">
                <a:solidFill>
                  <a:srgbClr val="0000FF"/>
                </a:solidFill>
                <a:latin typeface="Times New Roman" panose="02020603050405020304" pitchFamily="18" charset="0"/>
                <a:ea typeface="黑体" panose="02010609060101010101" pitchFamily="49" charset="-122"/>
              </a:rPr>
              <a:t>第二，采取从低级到高级的</a:t>
            </a:r>
            <a:r>
              <a:rPr lang="zh-CN" altLang="en-US" sz="2800" b="1" dirty="0">
                <a:solidFill>
                  <a:srgbClr val="FF0000"/>
                </a:solidFill>
                <a:latin typeface="Times New Roman" panose="02020603050405020304" pitchFamily="18" charset="0"/>
                <a:ea typeface="黑体" panose="02010609060101010101" pitchFamily="49" charset="-122"/>
              </a:rPr>
              <a:t>国家资本主义的过渡</a:t>
            </a:r>
            <a:r>
              <a:rPr lang="zh-CN" altLang="en-US" sz="2800" b="1" dirty="0" smtClean="0">
                <a:solidFill>
                  <a:srgbClr val="FF0000"/>
                </a:solidFill>
                <a:latin typeface="Times New Roman" panose="02020603050405020304" pitchFamily="18" charset="0"/>
                <a:ea typeface="黑体" panose="02010609060101010101" pitchFamily="49" charset="-122"/>
              </a:rPr>
              <a:t>形式</a:t>
            </a:r>
            <a:endParaRPr lang="zh-CN" altLang="en-US" sz="2800" dirty="0">
              <a:solidFill>
                <a:srgbClr val="FF0000"/>
              </a:solidFill>
            </a:endParaRPr>
          </a:p>
        </p:txBody>
      </p:sp>
      <p:sp>
        <p:nvSpPr>
          <p:cNvPr id="4" name="Rectangle 2"/>
          <p:cNvSpPr txBox="1">
            <a:spLocks/>
          </p:cNvSpPr>
          <p:nvPr/>
        </p:nvSpPr>
        <p:spPr>
          <a:xfrm>
            <a:off x="1115616" y="4581128"/>
            <a:ext cx="6840760" cy="1222579"/>
          </a:xfrm>
          <a:prstGeom prst="rect">
            <a:avLst/>
          </a:prstGeom>
          <a:solidFill>
            <a:schemeClr val="bg2"/>
          </a:solidFill>
          <a:ln w="12700">
            <a:solidFill>
              <a:srgbClr val="FF3300"/>
            </a:solidFill>
            <a:miter/>
          </a:ln>
        </p:spPr>
        <p:txBody>
          <a:bodyPr vert="horz" wrap="square" rtlCol="0" anchor="t">
            <a:spAutoFit/>
          </a:bodyPr>
          <a:lstStyle/>
          <a:p>
            <a:pPr marL="0" marR="0" lvl="0" indent="0" algn="l" defTabSz="914400" rtl="0" eaLnBrk="1" fontAlgn="auto" latinLnBrk="0" hangingPunct="1">
              <a:lnSpc>
                <a:spcPct val="150000"/>
              </a:lnSpc>
              <a:spcBef>
                <a:spcPct val="50000"/>
              </a:spcBef>
              <a:spcAft>
                <a:spcPts val="0"/>
              </a:spcAft>
              <a:buClrTx/>
              <a:buSzTx/>
              <a:buFontTx/>
              <a:buNone/>
              <a:tabLst/>
              <a:defRPr/>
            </a:pPr>
            <a:r>
              <a:rPr kumimoji="0" lang="zh-CN" altLang="en-US" sz="2800" b="1" i="0" u="none" strike="noStrike" kern="1200" cap="none" spc="0" normalizeH="0" baseline="0" noProof="0" dirty="0" smtClean="0">
                <a:ln>
                  <a:noFill/>
                </a:ln>
                <a:solidFill>
                  <a:srgbClr val="FF0000"/>
                </a:solidFill>
                <a:effectLst/>
                <a:uLnTx/>
                <a:uFillTx/>
                <a:latin typeface="Times New Roman" panose="02020603050405020304" pitchFamily="18" charset="0"/>
                <a:ea typeface="黑体" panose="02010609060101010101" pitchFamily="49" charset="-122"/>
                <a:cs typeface="+mj-cs"/>
              </a:rPr>
              <a:t> </a:t>
            </a:r>
            <a:r>
              <a:rPr kumimoji="0" lang="zh-CN" altLang="en-US" sz="2400" b="1" i="0" u="none" strike="noStrike" kern="1200" cap="none" spc="0" normalizeH="0" baseline="0" noProof="0" dirty="0" smtClean="0">
                <a:ln>
                  <a:noFill/>
                </a:ln>
                <a:solidFill>
                  <a:srgbClr val="FF0000"/>
                </a:solidFill>
                <a:effectLst/>
                <a:uLnTx/>
                <a:uFillTx/>
                <a:latin typeface="Times New Roman" panose="02020603050405020304" pitchFamily="18" charset="0"/>
                <a:ea typeface="黑体" panose="02010609060101010101" pitchFamily="49" charset="-122"/>
                <a:cs typeface="+mj-cs"/>
              </a:rPr>
              <a:t>把企业的改造和人的改造结合起来，“量才使用，适当照顾”。</a:t>
            </a:r>
            <a:endParaRPr kumimoji="0"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黑体" panose="02010609060101010101" pitchFamily="49" charset="-122"/>
              <a:cs typeface="+mj-cs"/>
            </a:endParaRPr>
          </a:p>
        </p:txBody>
      </p:sp>
    </p:spTree>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9026" name="Picture 2" descr="http://jrzb.zjol.com.cn/images/2006-07/12/jrzb20060712a16b010.jpg"/>
          <p:cNvPicPr>
            <a:picLocks noChangeAspect="1" noChangeArrowheads="1"/>
          </p:cNvPicPr>
          <p:nvPr/>
        </p:nvPicPr>
        <p:blipFill>
          <a:blip r:embed="rId2" cstate="print"/>
          <a:srcRect/>
          <a:stretch>
            <a:fillRect/>
          </a:stretch>
        </p:blipFill>
        <p:spPr bwMode="auto">
          <a:xfrm>
            <a:off x="1763688" y="1556792"/>
            <a:ext cx="5238750" cy="3819525"/>
          </a:xfrm>
          <a:prstGeom prst="rect">
            <a:avLst/>
          </a:prstGeom>
          <a:noFill/>
        </p:spPr>
      </p:pic>
    </p:spTree>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2"/>
          <p:cNvSpPr>
            <a:spLocks noGrp="1"/>
          </p:cNvSpPr>
          <p:nvPr>
            <p:ph type="title"/>
          </p:nvPr>
        </p:nvSpPr>
        <p:spPr>
          <a:xfrm>
            <a:off x="1066800" y="5029200"/>
            <a:ext cx="6781800" cy="1241425"/>
          </a:xfrm>
          <a:solidFill>
            <a:schemeClr val="bg1"/>
          </a:solidFill>
          <a:ln w="12700">
            <a:solidFill>
              <a:srgbClr val="FF3300"/>
            </a:solidFill>
            <a:miter/>
          </a:ln>
        </p:spPr>
        <p:txBody>
          <a:bodyPr anchor="t">
            <a:spAutoFit/>
          </a:bodyPr>
          <a:lstStyle/>
          <a:p>
            <a:pPr algn="l">
              <a:lnSpc>
                <a:spcPct val="105000"/>
              </a:lnSpc>
              <a:spcBef>
                <a:spcPct val="50000"/>
              </a:spcBef>
            </a:pPr>
            <a:r>
              <a:rPr lang="zh-CN" altLang="en-US" sz="2400" dirty="0">
                <a:solidFill>
                  <a:srgbClr val="0000FF"/>
                </a:solidFill>
                <a:latin typeface="Times New Roman" panose="02020603050405020304" pitchFamily="18" charset="0"/>
                <a:ea typeface="华文新魏" panose="02010800040101010101" pitchFamily="2" charset="-122"/>
              </a:rPr>
              <a:t>　</a:t>
            </a:r>
            <a:r>
              <a:rPr lang="en-US" altLang="zh-CN" sz="2400" b="1" dirty="0">
                <a:solidFill>
                  <a:srgbClr val="0000FF"/>
                </a:solidFill>
                <a:latin typeface="Times New Roman" panose="02020603050405020304" pitchFamily="18" charset="0"/>
                <a:ea typeface="华文新魏" panose="02010800040101010101" pitchFamily="2" charset="-122"/>
              </a:rPr>
              <a:t>1956</a:t>
            </a:r>
            <a:r>
              <a:rPr lang="zh-CN" altLang="en-US" sz="2400" b="1" dirty="0">
                <a:solidFill>
                  <a:srgbClr val="0000FF"/>
                </a:solidFill>
                <a:latin typeface="Times New Roman" panose="02020603050405020304" pitchFamily="18" charset="0"/>
                <a:ea typeface="华文新魏" panose="02010800040101010101" pitchFamily="2" charset="-122"/>
              </a:rPr>
              <a:t>年</a:t>
            </a:r>
            <a:r>
              <a:rPr lang="en-US" altLang="zh-CN" sz="2400" b="1" dirty="0">
                <a:solidFill>
                  <a:srgbClr val="0000FF"/>
                </a:solidFill>
                <a:latin typeface="Times New Roman" panose="02020603050405020304" pitchFamily="18" charset="0"/>
                <a:ea typeface="华文新魏" panose="02010800040101010101" pitchFamily="2" charset="-122"/>
              </a:rPr>
              <a:t>3</a:t>
            </a:r>
            <a:r>
              <a:rPr lang="zh-CN" altLang="en-US" sz="2400" b="1" dirty="0">
                <a:solidFill>
                  <a:srgbClr val="0000FF"/>
                </a:solidFill>
                <a:latin typeface="Times New Roman" panose="02020603050405020304" pitchFamily="18" charset="0"/>
                <a:ea typeface="华文新魏" panose="02010800040101010101" pitchFamily="2" charset="-122"/>
              </a:rPr>
              <a:t>月，全国资本主义工商业基本上实现了全行业的公私合营。这是首都各界庆祝北京市社会主义改造胜利完成 </a:t>
            </a:r>
            <a:r>
              <a:rPr lang="en-US" altLang="zh-CN" sz="2400" b="1" dirty="0">
                <a:solidFill>
                  <a:srgbClr val="0000FF"/>
                </a:solidFill>
                <a:latin typeface="Times New Roman" panose="02020603050405020304" pitchFamily="18" charset="0"/>
                <a:ea typeface="华文新魏" panose="02010800040101010101" pitchFamily="2" charset="-122"/>
              </a:rPr>
              <a:t>(</a:t>
            </a:r>
            <a:r>
              <a:rPr lang="zh-CN" altLang="en-US" sz="2400" b="1" dirty="0">
                <a:solidFill>
                  <a:srgbClr val="0000FF"/>
                </a:solidFill>
                <a:latin typeface="Times New Roman" panose="02020603050405020304" pitchFamily="18" charset="0"/>
                <a:ea typeface="华文新魏" panose="02010800040101010101" pitchFamily="2" charset="-122"/>
              </a:rPr>
              <a:t>图片摘自军事图片库</a:t>
            </a:r>
            <a:r>
              <a:rPr lang="en-US" altLang="zh-CN" sz="2400" b="1" dirty="0">
                <a:solidFill>
                  <a:srgbClr val="0000FF"/>
                </a:solidFill>
                <a:latin typeface="Times New Roman" panose="02020603050405020304" pitchFamily="18" charset="0"/>
                <a:ea typeface="华文新魏" panose="02010800040101010101" pitchFamily="2" charset="-122"/>
              </a:rPr>
              <a:t>)</a:t>
            </a:r>
          </a:p>
        </p:txBody>
      </p:sp>
      <p:pic>
        <p:nvPicPr>
          <p:cNvPr id="61442" name="Picture 3" descr="228337"/>
          <p:cNvPicPr>
            <a:picLocks noChangeAspect="1"/>
          </p:cNvPicPr>
          <p:nvPr/>
        </p:nvPicPr>
        <p:blipFill>
          <a:blip r:embed="rId2" cstate="print"/>
          <a:stretch>
            <a:fillRect/>
          </a:stretch>
        </p:blipFill>
        <p:spPr>
          <a:xfrm>
            <a:off x="1219200" y="152400"/>
            <a:ext cx="6705600" cy="47244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Text Box 3"/>
          <p:cNvSpPr txBox="1"/>
          <p:nvPr/>
        </p:nvSpPr>
        <p:spPr>
          <a:xfrm>
            <a:off x="6392863" y="3013075"/>
            <a:ext cx="1409700" cy="822325"/>
          </a:xfrm>
          <a:prstGeom prst="rect">
            <a:avLst/>
          </a:prstGeom>
          <a:noFill/>
          <a:ln w="9525">
            <a:noFill/>
          </a:ln>
        </p:spPr>
        <p:txBody>
          <a:bodyPr wrap="none" anchor="t">
            <a:spAutoFit/>
          </a:bodyPr>
          <a:lstStyle/>
          <a:p>
            <a:pPr lvl="0" algn="ctr"/>
            <a:r>
              <a:rPr lang="zh-CN" altLang="en-US" sz="2400" b="1" dirty="0">
                <a:latin typeface="楷体_GB2312" pitchFamily="49" charset="-122"/>
                <a:ea typeface="楷体_GB2312" pitchFamily="49" charset="-122"/>
              </a:rPr>
              <a:t>庆祝改造</a:t>
            </a:r>
          </a:p>
          <a:p>
            <a:pPr lvl="0" algn="ctr"/>
            <a:r>
              <a:rPr lang="zh-CN" altLang="en-US" sz="2400" b="1" dirty="0">
                <a:latin typeface="楷体_GB2312" pitchFamily="49" charset="-122"/>
                <a:ea typeface="楷体_GB2312" pitchFamily="49" charset="-122"/>
              </a:rPr>
              <a:t>胜利完成</a:t>
            </a:r>
          </a:p>
        </p:txBody>
      </p:sp>
      <p:pic>
        <p:nvPicPr>
          <p:cNvPr id="53252" name="改造胜利.mpg">
            <a:hlinkClick r:id="" action="ppaction://media"/>
          </p:cNvPr>
          <p:cNvPicPr>
            <a:picLocks noRot="1" noChangeAspect="1"/>
          </p:cNvPicPr>
          <p:nvPr>
            <a:videoFile r:link="rId1"/>
            <p:extLst/>
          </p:nvPr>
        </p:nvPicPr>
        <p:blipFill>
          <a:blip r:embed="rId3" cstate="print"/>
          <a:stretch>
            <a:fillRect/>
          </a:stretch>
        </p:blipFill>
        <p:spPr>
          <a:xfrm>
            <a:off x="1371600" y="2133600"/>
            <a:ext cx="4648200" cy="3803650"/>
          </a:xfrm>
          <a:prstGeom prst="rect">
            <a:avLst/>
          </a:prstGeom>
          <a:noFill/>
          <a:ln w="9525">
            <a:noFill/>
          </a:ln>
        </p:spPr>
      </p:pic>
      <p:sp>
        <p:nvSpPr>
          <p:cNvPr id="6" name="矩形 5"/>
          <p:cNvSpPr/>
          <p:nvPr/>
        </p:nvSpPr>
        <p:spPr>
          <a:xfrm>
            <a:off x="683568" y="188640"/>
            <a:ext cx="5904656" cy="1077218"/>
          </a:xfrm>
          <a:prstGeom prst="rect">
            <a:avLst/>
          </a:prstGeom>
          <a:solidFill>
            <a:schemeClr val="bg2"/>
          </a:solidFill>
          <a:ln>
            <a:solidFill>
              <a:schemeClr val="accent1"/>
            </a:solidFill>
          </a:ln>
        </p:spPr>
        <p:txBody>
          <a:bodyPr wrap="square">
            <a:spAutoFit/>
          </a:bodyPr>
          <a:lstStyle/>
          <a:p>
            <a:r>
              <a:rPr lang="zh-CN" altLang="en-US" sz="3200" b="1" dirty="0" smtClean="0">
                <a:solidFill>
                  <a:srgbClr val="FF0000"/>
                </a:solidFill>
                <a:latin typeface="华文琥珀" pitchFamily="2" charset="-122"/>
                <a:ea typeface="华文琥珀" pitchFamily="2" charset="-122"/>
                <a:cs typeface="+mj-cs"/>
              </a:rPr>
              <a:t>二、社会主义改造的历史经验和历史意义</a:t>
            </a:r>
            <a:endParaRPr lang="zh-CN" altLang="en-US" dirty="0"/>
          </a:p>
        </p:txBody>
      </p:sp>
    </p:spTree>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53251"/>
                                        </p:tgtEl>
                                        <p:attrNameLst>
                                          <p:attrName>style.visibility</p:attrName>
                                        </p:attrNameLst>
                                      </p:cBhvr>
                                      <p:to>
                                        <p:strVal val="visible"/>
                                      </p:to>
                                    </p:set>
                                    <p:animEffect transition="in" filter="dissolve">
                                      <p:cBhvr>
                                        <p:cTn id="7" dur="500"/>
                                        <p:tgtEl>
                                          <p:spTgt spid="53251"/>
                                        </p:tgtEl>
                                      </p:cBhvr>
                                    </p:animEffect>
                                  </p:childTnLst>
                                </p:cTn>
                              </p:par>
                            </p:childTnLst>
                          </p:cTn>
                        </p:par>
                        <p:par>
                          <p:cTn id="8" fill="hold">
                            <p:stCondLst>
                              <p:cond delay="500"/>
                            </p:stCondLst>
                            <p:childTnLst>
                              <p:par>
                                <p:cTn id="9" presetID="1" presetClass="mediacall" presetSubtype="0" fill="hold" nodeType="afterEffect">
                                  <p:stCondLst>
                                    <p:cond delay="0"/>
                                  </p:stCondLst>
                                  <p:childTnLst>
                                    <p:cmd type="call" cmd="playFrom(0.0)">
                                      <p:cBhvr>
                                        <p:cTn id="10" dur="1" fill="hold"/>
                                        <p:tgtEl>
                                          <p:spTgt spid="53252"/>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11" restart="whenNotActive" fill="hold" evtFilter="cancelBubble" nodeType="interactiveSeq">
                <p:stCondLst>
                  <p:cond evt="onClick" delay="0">
                    <p:tgtEl>
                      <p:spTgt spid="53252"/>
                    </p:tgtEl>
                  </p:cond>
                </p:stCondLst>
                <p:endSync evt="end" delay="0">
                  <p:rtn val="all"/>
                </p:endSync>
                <p:childTnLst>
                  <p:par>
                    <p:cTn id="12" fill="hold">
                      <p:stCondLst>
                        <p:cond delay="0"/>
                      </p:stCondLst>
                      <p:childTnLst>
                        <p:par>
                          <p:cTn id="13" fill="hold">
                            <p:stCondLst>
                              <p:cond delay="0"/>
                            </p:stCondLst>
                            <p:childTnLst>
                              <p:par>
                                <p:cTn id="14" presetID="2" presetClass="mediacall" presetSubtype="0" fill="hold" nodeType="clickEffect">
                                  <p:stCondLst>
                                    <p:cond delay="0"/>
                                  </p:stCondLst>
                                  <p:childTnLst>
                                    <p:cmd type="call" cmd="togglePause">
                                      <p:cBhvr>
                                        <p:cTn id="15" dur="1" fill="hold"/>
                                        <p:tgtEl>
                                          <p:spTgt spid="53252"/>
                                        </p:tgtEl>
                                      </p:cBhvr>
                                    </p:cmd>
                                  </p:childTnLst>
                                </p:cTn>
                              </p:par>
                            </p:childTnLst>
                          </p:cTn>
                        </p:par>
                      </p:childTnLst>
                    </p:cTn>
                  </p:par>
                </p:childTnLst>
              </p:cTn>
              <p:nextCondLst>
                <p:cond evt="onClick" delay="0">
                  <p:tgtEl>
                    <p:spTgt spid="53252"/>
                  </p:tgtEl>
                </p:cond>
              </p:nextCondLst>
            </p:seq>
            <p:video>
              <p:cMediaNode>
                <p:cTn id="16" fill="hold" display="0">
                  <p:stCondLst>
                    <p:cond delay="indefinite"/>
                  </p:stCondLst>
                  <p:endCondLst>
                    <p:cond evt="onNext" delay="0">
                      <p:tgtEl>
                        <p:sldTgt/>
                      </p:tgtEl>
                    </p:cond>
                    <p:cond evt="onPrev" delay="0">
                      <p:tgtEl>
                        <p:sldTgt/>
                      </p:tgtEl>
                    </p:cond>
                  </p:endCondLst>
                </p:cTn>
                <p:tgtEl>
                  <p:spTgt spid="53252"/>
                </p:tgtEl>
              </p:cMediaNode>
            </p:video>
          </p:childTnLst>
        </p:cTn>
      </p:par>
    </p:tnLst>
    <p:bldLst>
      <p:bldP spid="53251"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2"/>
          <p:cNvSpPr>
            <a:spLocks noGrp="1"/>
          </p:cNvSpPr>
          <p:nvPr>
            <p:ph type="title"/>
          </p:nvPr>
        </p:nvSpPr>
        <p:spPr>
          <a:xfrm>
            <a:off x="755576" y="3501008"/>
            <a:ext cx="7650088" cy="839397"/>
          </a:xfrm>
          <a:solidFill>
            <a:schemeClr val="bg2"/>
          </a:solidFill>
          <a:ln w="12700">
            <a:solidFill>
              <a:srgbClr val="FF3300"/>
            </a:solidFill>
            <a:miter/>
          </a:ln>
        </p:spPr>
        <p:txBody>
          <a:bodyPr wrap="square" anchor="t">
            <a:spAutoFit/>
          </a:bodyPr>
          <a:lstStyle/>
          <a:p>
            <a:pPr algn="l">
              <a:lnSpc>
                <a:spcPct val="105000"/>
              </a:lnSpc>
              <a:spcBef>
                <a:spcPct val="50000"/>
              </a:spcBef>
            </a:pPr>
            <a:r>
              <a:rPr lang="zh-CN" altLang="en-US" sz="2400" b="1" dirty="0" smtClean="0">
                <a:solidFill>
                  <a:srgbClr val="0000FF"/>
                </a:solidFill>
                <a:latin typeface="Times New Roman" panose="02020603050405020304" pitchFamily="18" charset="0"/>
                <a:ea typeface="黑体" panose="02010609060101010101" pitchFamily="49" charset="-122"/>
              </a:rPr>
              <a:t>        这</a:t>
            </a:r>
            <a:r>
              <a:rPr lang="zh-CN" altLang="en-US" sz="2400" b="1" dirty="0">
                <a:solidFill>
                  <a:srgbClr val="0000FF"/>
                </a:solidFill>
                <a:latin typeface="Times New Roman" panose="02020603050405020304" pitchFamily="18" charset="0"/>
                <a:ea typeface="黑体" panose="02010609060101010101" pitchFamily="49" charset="-122"/>
              </a:rPr>
              <a:t>是党在过渡时期总路线的明确要求。对于在社会变革中维持社会稳定，促进生产力发展有重要意义</a:t>
            </a:r>
            <a:r>
              <a:rPr lang="zh-CN" altLang="en-US" sz="2400" b="1" dirty="0" smtClean="0">
                <a:solidFill>
                  <a:srgbClr val="0000FF"/>
                </a:solidFill>
                <a:latin typeface="Times New Roman" panose="02020603050405020304" pitchFamily="18" charset="0"/>
                <a:ea typeface="黑体" panose="02010609060101010101" pitchFamily="49" charset="-122"/>
              </a:rPr>
              <a:t>。</a:t>
            </a:r>
            <a:endParaRPr lang="zh-CN" altLang="en-US" sz="2400" b="1" dirty="0">
              <a:solidFill>
                <a:srgbClr val="0000FF"/>
              </a:solidFill>
              <a:latin typeface="Times New Roman" panose="02020603050405020304" pitchFamily="18" charset="0"/>
              <a:ea typeface="黑体" panose="02010609060101010101" pitchFamily="49" charset="-122"/>
            </a:endParaRPr>
          </a:p>
        </p:txBody>
      </p:sp>
      <p:sp>
        <p:nvSpPr>
          <p:cNvPr id="3" name="矩形 2"/>
          <p:cNvSpPr/>
          <p:nvPr/>
        </p:nvSpPr>
        <p:spPr>
          <a:xfrm>
            <a:off x="1259632" y="764704"/>
            <a:ext cx="1925527" cy="584775"/>
          </a:xfrm>
          <a:prstGeom prst="rect">
            <a:avLst/>
          </a:prstGeom>
          <a:solidFill>
            <a:schemeClr val="bg2"/>
          </a:solidFill>
          <a:ln>
            <a:solidFill>
              <a:srgbClr val="FF0000"/>
            </a:solidFill>
          </a:ln>
        </p:spPr>
        <p:txBody>
          <a:bodyPr wrap="none">
            <a:spAutoFit/>
          </a:bodyPr>
          <a:lstStyle/>
          <a:p>
            <a:r>
              <a:rPr lang="en-US" altLang="zh-CN" sz="3200" dirty="0" smtClean="0">
                <a:solidFill>
                  <a:srgbClr val="0000FF"/>
                </a:solidFill>
                <a:latin typeface="华文琥珀" pitchFamily="2" charset="-122"/>
                <a:ea typeface="华文琥珀" pitchFamily="2" charset="-122"/>
              </a:rPr>
              <a:t> </a:t>
            </a:r>
            <a:r>
              <a:rPr lang="zh-CN" altLang="en-US" sz="3200" dirty="0" smtClean="0">
                <a:solidFill>
                  <a:srgbClr val="FF0000"/>
                </a:solidFill>
                <a:latin typeface="华文琥珀" pitchFamily="2" charset="-122"/>
                <a:ea typeface="华文琥珀" pitchFamily="2" charset="-122"/>
              </a:rPr>
              <a:t>历史经验</a:t>
            </a:r>
            <a:endParaRPr lang="zh-CN" altLang="en-US" sz="3200" dirty="0">
              <a:latin typeface="华文琥珀" pitchFamily="2" charset="-122"/>
              <a:ea typeface="华文琥珀" pitchFamily="2" charset="-122"/>
            </a:endParaRPr>
          </a:p>
        </p:txBody>
      </p:sp>
      <p:sp>
        <p:nvSpPr>
          <p:cNvPr id="4" name="矩形 3"/>
          <p:cNvSpPr/>
          <p:nvPr/>
        </p:nvSpPr>
        <p:spPr>
          <a:xfrm>
            <a:off x="971600" y="1844824"/>
            <a:ext cx="6480720" cy="954107"/>
          </a:xfrm>
          <a:prstGeom prst="rect">
            <a:avLst/>
          </a:prstGeom>
          <a:solidFill>
            <a:schemeClr val="bg2"/>
          </a:solidFill>
          <a:ln>
            <a:solidFill>
              <a:schemeClr val="accent1"/>
            </a:solidFill>
          </a:ln>
        </p:spPr>
        <p:txBody>
          <a:bodyPr wrap="square">
            <a:spAutoFit/>
          </a:bodyPr>
          <a:lstStyle/>
          <a:p>
            <a:r>
              <a:rPr lang="en-US" altLang="zh-CN" sz="2800" b="1" dirty="0" smtClean="0">
                <a:ln>
                  <a:solidFill>
                    <a:srgbClr val="0000FF"/>
                  </a:solidFill>
                </a:ln>
                <a:solidFill>
                  <a:srgbClr val="FF0000"/>
                </a:solidFill>
                <a:latin typeface="Times New Roman" panose="02020603050405020304" pitchFamily="18" charset="0"/>
                <a:ea typeface="黑体" panose="02010609060101010101" pitchFamily="49" charset="-122"/>
              </a:rPr>
              <a:t> </a:t>
            </a:r>
            <a:r>
              <a:rPr lang="zh-CN" altLang="en-US" sz="2800" b="1" dirty="0" smtClean="0">
                <a:solidFill>
                  <a:srgbClr val="FF0000"/>
                </a:solidFill>
                <a:latin typeface="Times New Roman" panose="02020603050405020304" pitchFamily="18" charset="0"/>
                <a:ea typeface="黑体" panose="02010609060101010101" pitchFamily="49" charset="-122"/>
              </a:rPr>
              <a:t>第一，坚持社会主义工业化建设与社会主义改造同时并举</a:t>
            </a:r>
            <a:endParaRPr lang="zh-CN" altLang="en-US" sz="2800" dirty="0"/>
          </a:p>
        </p:txBody>
      </p:sp>
    </p:spTree>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2"/>
          <p:cNvSpPr>
            <a:spLocks noGrp="1"/>
          </p:cNvSpPr>
          <p:nvPr>
            <p:ph type="title"/>
          </p:nvPr>
        </p:nvSpPr>
        <p:spPr>
          <a:xfrm>
            <a:off x="611560" y="1268761"/>
            <a:ext cx="6912768" cy="544765"/>
          </a:xfrm>
          <a:solidFill>
            <a:schemeClr val="bg2"/>
          </a:solidFill>
          <a:ln w="12700">
            <a:solidFill>
              <a:srgbClr val="FF3300"/>
            </a:solidFill>
            <a:miter/>
          </a:ln>
        </p:spPr>
        <p:txBody>
          <a:bodyPr wrap="square" anchor="t">
            <a:spAutoFit/>
          </a:bodyPr>
          <a:lstStyle/>
          <a:p>
            <a:pPr algn="l">
              <a:lnSpc>
                <a:spcPct val="105000"/>
              </a:lnSpc>
              <a:spcBef>
                <a:spcPct val="50000"/>
              </a:spcBef>
            </a:pPr>
            <a:r>
              <a:rPr lang="zh-CN" altLang="en-US" sz="2800" b="1" dirty="0" smtClean="0">
                <a:solidFill>
                  <a:srgbClr val="FF0000"/>
                </a:solidFill>
                <a:latin typeface="Times New Roman" panose="02020603050405020304" pitchFamily="18" charset="0"/>
                <a:ea typeface="黑体" panose="02010609060101010101" pitchFamily="49" charset="-122"/>
              </a:rPr>
              <a:t>二</a:t>
            </a:r>
            <a:r>
              <a:rPr lang="zh-CN" altLang="en-US" sz="2800" b="1" dirty="0">
                <a:solidFill>
                  <a:srgbClr val="FF0000"/>
                </a:solidFill>
                <a:latin typeface="Times New Roman" panose="02020603050405020304" pitchFamily="18" charset="0"/>
                <a:ea typeface="黑体" panose="02010609060101010101" pitchFamily="49" charset="-122"/>
              </a:rPr>
              <a:t>，采取积极引导、逐步过渡的方式</a:t>
            </a:r>
            <a:r>
              <a:rPr lang="zh-CN" altLang="en-US" sz="2800" b="1" dirty="0" smtClean="0">
                <a:solidFill>
                  <a:srgbClr val="0000FF"/>
                </a:solidFill>
                <a:latin typeface="Times New Roman" panose="02020603050405020304" pitchFamily="18" charset="0"/>
                <a:ea typeface="黑体" panose="02010609060101010101" pitchFamily="49" charset="-122"/>
              </a:rPr>
              <a:t>。</a:t>
            </a:r>
            <a:endParaRPr lang="zh-CN" altLang="en-US" sz="2400" b="1" dirty="0">
              <a:solidFill>
                <a:srgbClr val="0000FF"/>
              </a:solidFill>
              <a:latin typeface="Times New Roman" panose="02020603050405020304" pitchFamily="18" charset="0"/>
              <a:ea typeface="黑体" panose="02010609060101010101" pitchFamily="49" charset="-122"/>
            </a:endParaRPr>
          </a:p>
        </p:txBody>
      </p:sp>
      <p:sp>
        <p:nvSpPr>
          <p:cNvPr id="4" name="Rectangle 2"/>
          <p:cNvSpPr txBox="1">
            <a:spLocks/>
          </p:cNvSpPr>
          <p:nvPr/>
        </p:nvSpPr>
        <p:spPr>
          <a:xfrm>
            <a:off x="1187624" y="4077072"/>
            <a:ext cx="3672408" cy="480131"/>
          </a:xfrm>
          <a:prstGeom prst="rect">
            <a:avLst/>
          </a:prstGeom>
          <a:solidFill>
            <a:schemeClr val="bg2"/>
          </a:solidFill>
          <a:ln w="12700">
            <a:solidFill>
              <a:srgbClr val="FF3300"/>
            </a:solidFill>
            <a:miter/>
          </a:ln>
        </p:spPr>
        <p:txBody>
          <a:bodyPr vert="horz" wrap="square" rtlCol="0" anchor="t">
            <a:spAutoFit/>
          </a:bodyPr>
          <a:lstStyle/>
          <a:p>
            <a:pPr lvl="0">
              <a:lnSpc>
                <a:spcPct val="105000"/>
              </a:lnSpc>
              <a:spcBef>
                <a:spcPct val="50000"/>
              </a:spcBef>
            </a:pPr>
            <a:r>
              <a:rPr lang="zh-CN" altLang="en-US" sz="2400" b="1" dirty="0" smtClean="0">
                <a:solidFill>
                  <a:srgbClr val="0000FF"/>
                </a:solidFill>
                <a:latin typeface="Times New Roman" panose="02020603050405020304" pitchFamily="18" charset="0"/>
                <a:ea typeface="黑体" panose="02010609060101010101" pitchFamily="49" charset="-122"/>
              </a:rPr>
              <a:t>保证了改造的顺利进行。</a:t>
            </a:r>
            <a:endParaRPr lang="zh-CN" altLang="en-US" sz="2400" b="1" dirty="0">
              <a:solidFill>
                <a:srgbClr val="0000FF"/>
              </a:solidFill>
              <a:latin typeface="Times New Roman" panose="02020603050405020304" pitchFamily="18" charset="0"/>
              <a:ea typeface="黑体" panose="02010609060101010101" pitchFamily="49" charset="-122"/>
            </a:endParaRPr>
          </a:p>
        </p:txBody>
      </p:sp>
      <p:sp>
        <p:nvSpPr>
          <p:cNvPr id="5" name="矩形 4"/>
          <p:cNvSpPr/>
          <p:nvPr/>
        </p:nvSpPr>
        <p:spPr>
          <a:xfrm>
            <a:off x="1259632" y="1844824"/>
            <a:ext cx="6048672" cy="830997"/>
          </a:xfrm>
          <a:prstGeom prst="rect">
            <a:avLst/>
          </a:prstGeom>
          <a:solidFill>
            <a:schemeClr val="bg2"/>
          </a:solidFill>
          <a:ln>
            <a:solidFill>
              <a:schemeClr val="accent1"/>
            </a:solidFill>
          </a:ln>
        </p:spPr>
        <p:txBody>
          <a:bodyPr wrap="square">
            <a:spAutoFit/>
          </a:bodyPr>
          <a:lstStyle/>
          <a:p>
            <a:r>
              <a:rPr lang="en-US" altLang="zh-CN" sz="2400" b="1" dirty="0" smtClean="0">
                <a:solidFill>
                  <a:srgbClr val="0000FF"/>
                </a:solidFill>
                <a:latin typeface="Times New Roman" panose="02020603050405020304" pitchFamily="18" charset="0"/>
                <a:ea typeface="黑体" panose="02010609060101010101" pitchFamily="49" charset="-122"/>
              </a:rPr>
              <a:t>        </a:t>
            </a:r>
            <a:r>
              <a:rPr lang="zh-CN" altLang="en-US" sz="2400" b="1" dirty="0" smtClean="0">
                <a:solidFill>
                  <a:srgbClr val="0000FF"/>
                </a:solidFill>
                <a:latin typeface="Times New Roman" panose="02020603050405020304" pitchFamily="18" charset="0"/>
                <a:ea typeface="黑体" panose="02010609060101010101" pitchFamily="49" charset="-122"/>
              </a:rPr>
              <a:t>避免了社会震荡和经济破坏，促进了生产力的发展。</a:t>
            </a:r>
            <a:endParaRPr lang="zh-CN" altLang="en-US" sz="2400" dirty="0"/>
          </a:p>
        </p:txBody>
      </p:sp>
      <p:sp>
        <p:nvSpPr>
          <p:cNvPr id="6" name="矩形 5"/>
          <p:cNvSpPr/>
          <p:nvPr/>
        </p:nvSpPr>
        <p:spPr>
          <a:xfrm>
            <a:off x="1043608" y="3573016"/>
            <a:ext cx="4051109" cy="461665"/>
          </a:xfrm>
          <a:prstGeom prst="rect">
            <a:avLst/>
          </a:prstGeom>
          <a:solidFill>
            <a:schemeClr val="bg2"/>
          </a:solidFill>
          <a:ln>
            <a:solidFill>
              <a:schemeClr val="accent1"/>
            </a:solidFill>
          </a:ln>
        </p:spPr>
        <p:txBody>
          <a:bodyPr wrap="none">
            <a:spAutoFit/>
          </a:bodyPr>
          <a:lstStyle/>
          <a:p>
            <a:r>
              <a:rPr lang="zh-CN" altLang="en-US" sz="2400" b="1" dirty="0" smtClean="0">
                <a:solidFill>
                  <a:srgbClr val="0000FF"/>
                </a:solidFill>
                <a:latin typeface="Times New Roman" panose="02020603050405020304" pitchFamily="18" charset="0"/>
                <a:ea typeface="黑体" panose="02010609060101010101" pitchFamily="49" charset="-122"/>
              </a:rPr>
              <a:t> </a:t>
            </a:r>
            <a:r>
              <a:rPr lang="zh-CN" altLang="en-US" sz="2400" b="1" dirty="0" smtClean="0">
                <a:solidFill>
                  <a:srgbClr val="FF0000"/>
                </a:solidFill>
                <a:latin typeface="Times New Roman" panose="02020603050405020304" pitchFamily="18" charset="0"/>
                <a:ea typeface="黑体" panose="02010609060101010101" pitchFamily="49" charset="-122"/>
              </a:rPr>
              <a:t>第三，用和平方法进行改造 </a:t>
            </a:r>
            <a:endParaRPr lang="zh-CN" altLang="en-US" sz="2400" dirty="0"/>
          </a:p>
        </p:txBody>
      </p:sp>
    </p:spTree>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2"/>
          <p:cNvSpPr>
            <a:spLocks noGrp="1"/>
          </p:cNvSpPr>
          <p:nvPr>
            <p:ph type="title"/>
          </p:nvPr>
        </p:nvSpPr>
        <p:spPr>
          <a:xfrm>
            <a:off x="611560" y="692696"/>
            <a:ext cx="7061448" cy="997196"/>
          </a:xfrm>
          <a:solidFill>
            <a:schemeClr val="bg2"/>
          </a:solidFill>
          <a:ln w="12700">
            <a:solidFill>
              <a:schemeClr val="accent1"/>
            </a:solidFill>
            <a:miter/>
          </a:ln>
        </p:spPr>
        <p:txBody>
          <a:bodyPr wrap="square" anchor="t">
            <a:spAutoFit/>
          </a:bodyPr>
          <a:lstStyle/>
          <a:p>
            <a:pPr algn="l">
              <a:lnSpc>
                <a:spcPct val="105000"/>
              </a:lnSpc>
              <a:spcBef>
                <a:spcPct val="50000"/>
              </a:spcBef>
            </a:pPr>
            <a:r>
              <a:rPr lang="en-US" altLang="zh-CN" sz="2800" b="1" dirty="0" smtClean="0">
                <a:solidFill>
                  <a:srgbClr val="0000FF"/>
                </a:solidFill>
                <a:latin typeface="Times New Roman" panose="02020603050405020304" pitchFamily="18" charset="0"/>
                <a:ea typeface="黑体" panose="02010609060101010101" pitchFamily="49" charset="-122"/>
              </a:rPr>
              <a:t>    </a:t>
            </a:r>
            <a:r>
              <a:rPr lang="zh-CN" altLang="en-US" sz="2800" b="1" dirty="0">
                <a:solidFill>
                  <a:srgbClr val="0000FF"/>
                </a:solidFill>
                <a:latin typeface="Times New Roman" panose="02020603050405020304" pitchFamily="18" charset="0"/>
                <a:ea typeface="黑体" panose="02010609060101010101" pitchFamily="49" charset="-122"/>
              </a:rPr>
              <a:t>第一，社会经济结构发生根本变化，社会主义公有制的经济制度基本</a:t>
            </a:r>
            <a:r>
              <a:rPr lang="zh-CN" altLang="en-US" sz="2800" b="1" dirty="0" smtClean="0">
                <a:solidFill>
                  <a:srgbClr val="0000FF"/>
                </a:solidFill>
                <a:latin typeface="Times New Roman" panose="02020603050405020304" pitchFamily="18" charset="0"/>
                <a:ea typeface="黑体" panose="02010609060101010101" pitchFamily="49" charset="-122"/>
              </a:rPr>
              <a:t>建立。</a:t>
            </a:r>
            <a:endParaRPr lang="zh-CN" altLang="en-US" sz="2800" b="1" dirty="0">
              <a:solidFill>
                <a:srgbClr val="0000FF"/>
              </a:solidFill>
              <a:latin typeface="Times New Roman" panose="02020603050405020304" pitchFamily="18" charset="0"/>
              <a:ea typeface="黑体" panose="02010609060101010101" pitchFamily="49" charset="-122"/>
            </a:endParaRPr>
          </a:p>
        </p:txBody>
      </p:sp>
      <p:sp>
        <p:nvSpPr>
          <p:cNvPr id="3" name="矩形 2"/>
          <p:cNvSpPr/>
          <p:nvPr/>
        </p:nvSpPr>
        <p:spPr>
          <a:xfrm>
            <a:off x="467544" y="0"/>
            <a:ext cx="1981633" cy="584775"/>
          </a:xfrm>
          <a:prstGeom prst="rect">
            <a:avLst/>
          </a:prstGeom>
          <a:ln>
            <a:solidFill>
              <a:schemeClr val="accent1"/>
            </a:solidFill>
          </a:ln>
        </p:spPr>
        <p:txBody>
          <a:bodyPr wrap="none">
            <a:spAutoFit/>
          </a:bodyPr>
          <a:lstStyle/>
          <a:p>
            <a:r>
              <a:rPr lang="zh-CN" altLang="en-US" sz="3200" b="1" dirty="0" smtClean="0">
                <a:solidFill>
                  <a:srgbClr val="FF0000"/>
                </a:solidFill>
                <a:latin typeface="华文琥珀" pitchFamily="2" charset="-122"/>
                <a:ea typeface="华文琥珀" pitchFamily="2" charset="-122"/>
              </a:rPr>
              <a:t>伟大意义</a:t>
            </a:r>
            <a:r>
              <a:rPr lang="en-US" altLang="zh-CN" sz="3200" b="1" dirty="0" smtClean="0">
                <a:solidFill>
                  <a:srgbClr val="FF0000"/>
                </a:solidFill>
                <a:latin typeface="华文琥珀" pitchFamily="2" charset="-122"/>
                <a:ea typeface="华文琥珀" pitchFamily="2" charset="-122"/>
              </a:rPr>
              <a:t>:</a:t>
            </a:r>
            <a:endParaRPr lang="zh-CN" altLang="en-US" sz="3200" dirty="0">
              <a:solidFill>
                <a:srgbClr val="FF0000"/>
              </a:solidFill>
              <a:latin typeface="华文琥珀" pitchFamily="2" charset="-122"/>
              <a:ea typeface="华文琥珀" pitchFamily="2" charset="-122"/>
            </a:endParaRPr>
          </a:p>
        </p:txBody>
      </p:sp>
      <p:graphicFrame>
        <p:nvGraphicFramePr>
          <p:cNvPr id="6" name="Group 81"/>
          <p:cNvGraphicFramePr>
            <a:graphicFrameLocks/>
          </p:cNvGraphicFramePr>
          <p:nvPr/>
        </p:nvGraphicFramePr>
        <p:xfrm>
          <a:off x="395536" y="1844824"/>
          <a:ext cx="8240395" cy="4525963"/>
        </p:xfrm>
        <a:graphic>
          <a:graphicData uri="http://schemas.openxmlformats.org/drawingml/2006/table">
            <a:tbl>
              <a:tblPr/>
              <a:tblGrid>
                <a:gridCol w="2743200"/>
                <a:gridCol w="2743200"/>
                <a:gridCol w="2753995"/>
              </a:tblGrid>
              <a:tr h="755650">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rPr>
                        <a:t>1952</a:t>
                      </a:r>
                      <a:r>
                        <a:rPr kumimoji="1" lang="zh-CN" altLang="en-US"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rPr>
                        <a:t>年</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000" b="1" i="0" u="none" strike="noStrike" cap="none" normalizeH="0" baseline="0" dirty="0" smtClean="0">
                          <a:ln>
                            <a:noFill/>
                          </a:ln>
                          <a:solidFill>
                            <a:srgbClr val="0000FF"/>
                          </a:solidFill>
                          <a:effectLst/>
                          <a:latin typeface="Times New Roman" panose="02020603050405020304" pitchFamily="18" charset="0"/>
                          <a:ea typeface="黑体" panose="02010609060101010101" pitchFamily="49" charset="-122"/>
                        </a:rPr>
                        <a:t>1956</a:t>
                      </a:r>
                      <a:r>
                        <a:rPr kumimoji="1" lang="zh-CN" altLang="en-US" sz="2000" b="1" i="0" u="none" strike="noStrike" cap="none" normalizeH="0" baseline="0" dirty="0" smtClean="0">
                          <a:ln>
                            <a:noFill/>
                          </a:ln>
                          <a:solidFill>
                            <a:srgbClr val="0000FF"/>
                          </a:solidFill>
                          <a:effectLst/>
                          <a:latin typeface="Times New Roman" panose="02020603050405020304" pitchFamily="18" charset="0"/>
                          <a:ea typeface="黑体" panose="02010609060101010101" pitchFamily="49" charset="-122"/>
                        </a:rPr>
                        <a:t>年</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752475">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zh-CN" altLang="en-US"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rPr>
                        <a:t>国营经济</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rPr>
                        <a:t>19.1%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rPr>
                        <a:t>32.2%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755650">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zh-CN" altLang="en-US"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rPr>
                        <a:t>合作社经济</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rPr>
                        <a:t>32.2%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rPr>
                        <a:t>53.4%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75406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zh-CN" altLang="en-US"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rPr>
                        <a:t>公私合营经济</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rPr>
                        <a:t>0.7%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rPr>
                        <a:t>7.3%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752475">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zh-CN" altLang="en-US"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rPr>
                        <a:t>个体经济</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rPr>
                        <a:t>71.8%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rPr>
                        <a:t>7.1%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755650">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zh-CN" altLang="en-US"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rPr>
                        <a:t>资本主义经济</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000" b="1" i="0" u="none" strike="noStrike" cap="none" normalizeH="0" baseline="0" dirty="0" smtClean="0">
                          <a:ln>
                            <a:noFill/>
                          </a:ln>
                          <a:solidFill>
                            <a:srgbClr val="0000FF"/>
                          </a:solidFill>
                          <a:effectLst/>
                          <a:latin typeface="Times New Roman" panose="02020603050405020304" pitchFamily="18" charset="0"/>
                          <a:ea typeface="黑体" panose="02010609060101010101" pitchFamily="49" charset="-122"/>
                        </a:rPr>
                        <a:t>6.9%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000" b="1" i="0" u="none" strike="noStrike" cap="none" normalizeH="0" baseline="0" dirty="0" smtClean="0">
                          <a:ln>
                            <a:noFill/>
                          </a:ln>
                          <a:solidFill>
                            <a:srgbClr val="0000FF"/>
                          </a:solidFill>
                          <a:effectLst/>
                          <a:latin typeface="Times New Roman" panose="02020603050405020304" pitchFamily="18"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Tree>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p:cNvSpPr>
          <p:nvPr/>
        </p:nvSpPr>
        <p:spPr>
          <a:xfrm>
            <a:off x="683568" y="1556792"/>
            <a:ext cx="6629400" cy="1061829"/>
          </a:xfrm>
          <a:prstGeom prst="rect">
            <a:avLst/>
          </a:prstGeom>
          <a:solidFill>
            <a:schemeClr val="bg2"/>
          </a:solidFill>
          <a:ln w="12700">
            <a:solidFill>
              <a:schemeClr val="accent1"/>
            </a:solidFill>
            <a:miter/>
          </a:ln>
        </p:spPr>
        <p:txBody>
          <a:bodyPr vert="horz" rtlCol="0" anchor="t">
            <a:spAutoFit/>
          </a:bodyPr>
          <a:lstStyle/>
          <a:p>
            <a:pPr marL="0" marR="0" lvl="0" indent="0" algn="l" defTabSz="914400" rtl="0" eaLnBrk="1" fontAlgn="auto" latinLnBrk="0" hangingPunct="1">
              <a:lnSpc>
                <a:spcPct val="105000"/>
              </a:lnSpc>
              <a:spcBef>
                <a:spcPct val="50000"/>
              </a:spcBef>
              <a:spcAft>
                <a:spcPts val="0"/>
              </a:spcAft>
              <a:buClrTx/>
              <a:buSzTx/>
              <a:buFontTx/>
              <a:buNone/>
              <a:tabLst/>
              <a:defRPr/>
            </a:pPr>
            <a:r>
              <a:rPr kumimoji="0" lang="zh-CN" altLang="en-US" sz="3200" b="1" i="0" u="none" strike="noStrike" kern="1200" cap="none" spc="0" normalizeH="0" baseline="0" noProof="0" dirty="0" smtClean="0">
                <a:ln>
                  <a:noFill/>
                </a:ln>
                <a:solidFill>
                  <a:srgbClr val="0000FF"/>
                </a:solidFill>
                <a:effectLst/>
                <a:uLnTx/>
                <a:uFillTx/>
                <a:latin typeface="Times New Roman" panose="02020603050405020304" pitchFamily="18" charset="0"/>
                <a:ea typeface="黑体" panose="02010609060101010101" pitchFamily="49" charset="-122"/>
                <a:cs typeface="+mj-cs"/>
              </a:rPr>
              <a:t>    </a:t>
            </a:r>
            <a:r>
              <a:rPr lang="zh-CN" altLang="en-US" sz="2800" b="1" dirty="0" smtClean="0">
                <a:solidFill>
                  <a:srgbClr val="0000FF"/>
                </a:solidFill>
                <a:latin typeface="Times New Roman" panose="02020603050405020304" pitchFamily="18" charset="0"/>
                <a:ea typeface="黑体" panose="02010609060101010101" pitchFamily="49" charset="-122"/>
                <a:cs typeface="+mj-cs"/>
              </a:rPr>
              <a:t>第二，阶级关系发生变化，剥削阶级被消灭。 </a:t>
            </a:r>
            <a:endParaRPr lang="zh-CN" altLang="en-US" sz="2800" b="1" dirty="0">
              <a:solidFill>
                <a:srgbClr val="0000FF"/>
              </a:solidFill>
              <a:latin typeface="Times New Roman" panose="02020603050405020304" pitchFamily="18" charset="0"/>
              <a:ea typeface="黑体" panose="02010609060101010101" pitchFamily="49" charset="-122"/>
              <a:cs typeface="+mj-cs"/>
            </a:endParaRPr>
          </a:p>
        </p:txBody>
      </p:sp>
      <p:sp>
        <p:nvSpPr>
          <p:cNvPr id="6" name="Rectangle 2"/>
          <p:cNvSpPr>
            <a:spLocks noGrp="1"/>
          </p:cNvSpPr>
          <p:nvPr>
            <p:ph type="title"/>
          </p:nvPr>
        </p:nvSpPr>
        <p:spPr>
          <a:xfrm>
            <a:off x="755576" y="2924944"/>
            <a:ext cx="6629400" cy="1061829"/>
          </a:xfrm>
          <a:solidFill>
            <a:schemeClr val="bg2"/>
          </a:solidFill>
          <a:ln w="12700">
            <a:solidFill>
              <a:srgbClr val="FF3300"/>
            </a:solidFill>
            <a:miter/>
          </a:ln>
        </p:spPr>
        <p:txBody>
          <a:bodyPr anchor="t">
            <a:spAutoFit/>
          </a:bodyPr>
          <a:lstStyle/>
          <a:p>
            <a:pPr algn="l">
              <a:lnSpc>
                <a:spcPct val="105000"/>
              </a:lnSpc>
              <a:spcBef>
                <a:spcPct val="50000"/>
              </a:spcBef>
            </a:pPr>
            <a:r>
              <a:rPr lang="zh-CN" altLang="en-US" sz="3200" b="1" dirty="0" smtClean="0">
                <a:solidFill>
                  <a:srgbClr val="0000FF"/>
                </a:solidFill>
                <a:latin typeface="Times New Roman" panose="02020603050405020304" pitchFamily="18" charset="0"/>
                <a:ea typeface="黑体" panose="02010609060101010101" pitchFamily="49" charset="-122"/>
              </a:rPr>
              <a:t>    </a:t>
            </a:r>
            <a:r>
              <a:rPr lang="zh-CN" altLang="en-US" sz="2800" b="1" dirty="0">
                <a:solidFill>
                  <a:srgbClr val="0000FF"/>
                </a:solidFill>
                <a:latin typeface="Times New Roman" panose="02020603050405020304" pitchFamily="18" charset="0"/>
                <a:ea typeface="黑体" panose="02010609060101010101" pitchFamily="49" charset="-122"/>
              </a:rPr>
              <a:t>第三，解放了生产力，促进国民经济的发展 </a:t>
            </a:r>
            <a:r>
              <a:rPr lang="zh-CN" altLang="en-US" sz="2800" b="1" dirty="0" smtClean="0">
                <a:solidFill>
                  <a:srgbClr val="0000FF"/>
                </a:solidFill>
                <a:latin typeface="Times New Roman" panose="02020603050405020304" pitchFamily="18" charset="0"/>
                <a:ea typeface="黑体" panose="02010609060101010101" pitchFamily="49" charset="-122"/>
              </a:rPr>
              <a:t>；</a:t>
            </a:r>
            <a:endParaRPr lang="zh-CN" altLang="en-US" sz="2800" b="1" dirty="0">
              <a:solidFill>
                <a:srgbClr val="0000FF"/>
              </a:solidFill>
              <a:latin typeface="Times New Roman" panose="02020603050405020304" pitchFamily="18" charset="0"/>
              <a:ea typeface="黑体" panose="02010609060101010101" pitchFamily="49" charset="-122"/>
            </a:endParaRPr>
          </a:p>
        </p:txBody>
      </p:sp>
      <p:sp>
        <p:nvSpPr>
          <p:cNvPr id="7" name="Rectangle 2"/>
          <p:cNvSpPr txBox="1">
            <a:spLocks/>
          </p:cNvSpPr>
          <p:nvPr/>
        </p:nvSpPr>
        <p:spPr>
          <a:xfrm>
            <a:off x="755576" y="4509120"/>
            <a:ext cx="6629400" cy="963854"/>
          </a:xfrm>
          <a:prstGeom prst="rect">
            <a:avLst/>
          </a:prstGeom>
          <a:solidFill>
            <a:schemeClr val="bg2"/>
          </a:solidFill>
          <a:ln w="12700">
            <a:solidFill>
              <a:srgbClr val="FF3300"/>
            </a:solidFill>
            <a:miter/>
          </a:ln>
        </p:spPr>
        <p:txBody>
          <a:bodyPr vert="horz" rtlCol="0" anchor="t">
            <a:spAutoFit/>
          </a:bodyPr>
          <a:lstStyle/>
          <a:p>
            <a:pPr marL="0" marR="0" lvl="0" indent="0" algn="l" defTabSz="914400" rtl="0" eaLnBrk="1" fontAlgn="auto" latinLnBrk="0" hangingPunct="1">
              <a:lnSpc>
                <a:spcPct val="105000"/>
              </a:lnSpc>
              <a:spcBef>
                <a:spcPct val="50000"/>
              </a:spcBef>
              <a:spcAft>
                <a:spcPts val="0"/>
              </a:spcAft>
              <a:buClrTx/>
              <a:buSzTx/>
              <a:buFontTx/>
              <a:buNone/>
              <a:tabLst/>
              <a:defRPr/>
            </a:pPr>
            <a:r>
              <a:rPr lang="zh-CN" altLang="en-US" sz="2800" b="1" dirty="0" smtClean="0">
                <a:solidFill>
                  <a:srgbClr val="0000FF"/>
                </a:solidFill>
                <a:latin typeface="Times New Roman" panose="02020603050405020304" pitchFamily="18" charset="0"/>
                <a:ea typeface="黑体" panose="02010609060101010101" pitchFamily="49" charset="-122"/>
                <a:cs typeface="+mj-cs"/>
              </a:rPr>
              <a:t>第四，丰富和发展了马克思主义科学社会主义理论。</a:t>
            </a:r>
            <a:endParaRPr lang="zh-CN" altLang="en-US" sz="2800" b="1" dirty="0">
              <a:solidFill>
                <a:srgbClr val="0000FF"/>
              </a:solidFill>
              <a:latin typeface="Times New Roman" panose="02020603050405020304" pitchFamily="18" charset="0"/>
              <a:ea typeface="黑体" panose="02010609060101010101" pitchFamily="49" charset="-122"/>
              <a:cs typeface="+mj-cs"/>
            </a:endParaRPr>
          </a:p>
        </p:txBody>
      </p:sp>
    </p:spTree>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763688" y="764704"/>
            <a:ext cx="2749471" cy="707886"/>
          </a:xfrm>
          <a:prstGeom prst="rect">
            <a:avLst/>
          </a:prstGeom>
          <a:solidFill>
            <a:schemeClr val="bg2"/>
          </a:solidFill>
          <a:ln>
            <a:solidFill>
              <a:schemeClr val="accent1"/>
            </a:solidFill>
          </a:ln>
        </p:spPr>
        <p:txBody>
          <a:bodyPr wrap="none">
            <a:spAutoFit/>
          </a:bodyPr>
          <a:lstStyle/>
          <a:p>
            <a:r>
              <a:rPr lang="zh-CN" altLang="en-US" sz="4000" b="1" dirty="0" smtClean="0">
                <a:solidFill>
                  <a:srgbClr val="FF0000"/>
                </a:solidFill>
                <a:latin typeface="华文琥珀" pitchFamily="2" charset="-122"/>
                <a:ea typeface="华文琥珀" pitchFamily="2" charset="-122"/>
              </a:rPr>
              <a:t>改造的不足</a:t>
            </a:r>
            <a:endParaRPr lang="zh-CN" altLang="en-US" sz="4000" dirty="0">
              <a:solidFill>
                <a:srgbClr val="FF0000"/>
              </a:solidFill>
              <a:latin typeface="华文琥珀" pitchFamily="2" charset="-122"/>
              <a:ea typeface="华文琥珀" pitchFamily="2" charset="-122"/>
            </a:endParaRPr>
          </a:p>
        </p:txBody>
      </p:sp>
      <p:sp>
        <p:nvSpPr>
          <p:cNvPr id="9" name="Rectangle 2"/>
          <p:cNvSpPr>
            <a:spLocks noGrp="1"/>
          </p:cNvSpPr>
          <p:nvPr>
            <p:ph type="title"/>
          </p:nvPr>
        </p:nvSpPr>
        <p:spPr>
          <a:xfrm>
            <a:off x="899592" y="2132856"/>
            <a:ext cx="7495356" cy="1255728"/>
          </a:xfrm>
          <a:solidFill>
            <a:schemeClr val="bg1"/>
          </a:solidFill>
          <a:ln w="12700">
            <a:solidFill>
              <a:srgbClr val="FF3300"/>
            </a:solidFill>
            <a:miter/>
          </a:ln>
        </p:spPr>
        <p:txBody>
          <a:bodyPr wrap="square" anchor="t">
            <a:spAutoFit/>
          </a:bodyPr>
          <a:lstStyle/>
          <a:p>
            <a:pPr algn="l">
              <a:lnSpc>
                <a:spcPct val="105000"/>
              </a:lnSpc>
              <a:spcBef>
                <a:spcPct val="50000"/>
              </a:spcBef>
            </a:pPr>
            <a:r>
              <a:rPr lang="en-US" altLang="zh-CN" sz="2400" dirty="0" smtClean="0">
                <a:solidFill>
                  <a:schemeClr val="tx1"/>
                </a:solidFill>
                <a:latin typeface="Times New Roman" panose="02020603050405020304" pitchFamily="18" charset="0"/>
                <a:ea typeface="华文新魏" panose="02010800040101010101" pitchFamily="2" charset="-122"/>
              </a:rPr>
              <a:t>     </a:t>
            </a:r>
            <a:r>
              <a:rPr lang="en-US" altLang="zh-CN" sz="2400" b="1" dirty="0" smtClean="0">
                <a:solidFill>
                  <a:srgbClr val="FF0000"/>
                </a:solidFill>
                <a:latin typeface="黑体"/>
                <a:ea typeface="黑体"/>
              </a:rPr>
              <a:t>♂</a:t>
            </a:r>
            <a:r>
              <a:rPr lang="zh-CN" altLang="en-US" sz="2400" b="1" dirty="0" smtClean="0">
                <a:solidFill>
                  <a:schemeClr val="tx1"/>
                </a:solidFill>
                <a:latin typeface="Times New Roman" panose="02020603050405020304" pitchFamily="18" charset="0"/>
                <a:ea typeface="黑体" panose="02010609060101010101" pitchFamily="49" charset="-122"/>
              </a:rPr>
              <a:t>在</a:t>
            </a:r>
            <a:r>
              <a:rPr lang="zh-CN" altLang="en-US" sz="2400" b="1" dirty="0">
                <a:solidFill>
                  <a:schemeClr val="tx1"/>
                </a:solidFill>
                <a:latin typeface="Times New Roman" panose="02020603050405020304" pitchFamily="18" charset="0"/>
                <a:ea typeface="黑体" panose="02010609060101010101" pitchFamily="49" charset="-122"/>
              </a:rPr>
              <a:t>社会主义改造速度方面，</a:t>
            </a:r>
            <a:r>
              <a:rPr lang="zh-CN" altLang="en-US" sz="2400" b="1" dirty="0">
                <a:solidFill>
                  <a:srgbClr val="FF0000"/>
                </a:solidFill>
                <a:latin typeface="Times New Roman" panose="02020603050405020304" pitchFamily="18" charset="0"/>
                <a:ea typeface="黑体" panose="02010609060101010101" pitchFamily="49" charset="-122"/>
              </a:rPr>
              <a:t>急于求成</a:t>
            </a:r>
            <a:r>
              <a:rPr lang="zh-CN" altLang="en-US" sz="2400" b="1" dirty="0">
                <a:solidFill>
                  <a:schemeClr val="tx1"/>
                </a:solidFill>
                <a:latin typeface="Times New Roman" panose="02020603050405020304" pitchFamily="18" charset="0"/>
                <a:ea typeface="黑体" panose="02010609060101010101" pitchFamily="49" charset="-122"/>
              </a:rPr>
              <a:t>；社会主义改造后期工作过于急燥，初级社没有巩固就办高级社，拔苗助长</a:t>
            </a:r>
            <a:r>
              <a:rPr lang="zh-CN" altLang="en-US" sz="2400" b="1" dirty="0" smtClean="0">
                <a:solidFill>
                  <a:schemeClr val="tx1"/>
                </a:solidFill>
                <a:latin typeface="Times New Roman" panose="02020603050405020304" pitchFamily="18" charset="0"/>
                <a:ea typeface="黑体" panose="02010609060101010101" pitchFamily="49" charset="-122"/>
              </a:rPr>
              <a:t>。</a:t>
            </a:r>
            <a:r>
              <a:rPr lang="zh-CN" altLang="en-US" sz="2400" dirty="0" smtClean="0">
                <a:solidFill>
                  <a:schemeClr val="tx1"/>
                </a:solidFill>
                <a:latin typeface="Times New Roman" panose="02020603050405020304" pitchFamily="18" charset="0"/>
                <a:ea typeface="华文新魏" panose="02010800040101010101" pitchFamily="2" charset="-122"/>
              </a:rPr>
              <a:t>           </a:t>
            </a:r>
            <a:endParaRPr lang="zh-CN" altLang="en-US" sz="2400" dirty="0">
              <a:solidFill>
                <a:schemeClr val="tx1"/>
              </a:solidFill>
              <a:latin typeface="Times New Roman" panose="02020603050405020304" pitchFamily="18" charset="0"/>
              <a:ea typeface="华文新魏" panose="02010800040101010101" pitchFamily="2" charset="-122"/>
            </a:endParaRPr>
          </a:p>
        </p:txBody>
      </p:sp>
      <p:sp>
        <p:nvSpPr>
          <p:cNvPr id="12" name="Rectangle 2"/>
          <p:cNvSpPr txBox="1">
            <a:spLocks/>
          </p:cNvSpPr>
          <p:nvPr/>
        </p:nvSpPr>
        <p:spPr>
          <a:xfrm>
            <a:off x="1547664" y="3861048"/>
            <a:ext cx="6769224" cy="1772793"/>
          </a:xfrm>
          <a:prstGeom prst="rect">
            <a:avLst/>
          </a:prstGeom>
          <a:solidFill>
            <a:schemeClr val="bg1"/>
          </a:solidFill>
          <a:ln w="12700">
            <a:solidFill>
              <a:srgbClr val="FF3300"/>
            </a:solidFill>
            <a:miter/>
          </a:ln>
        </p:spPr>
        <p:txBody>
          <a:bodyPr vert="horz" wrap="square" rtlCol="0" anchor="t">
            <a:spAutoFit/>
          </a:bodyPr>
          <a:lstStyle/>
          <a:p>
            <a:pPr lvl="0">
              <a:lnSpc>
                <a:spcPct val="105000"/>
              </a:lnSpc>
              <a:spcBef>
                <a:spcPct val="50000"/>
              </a:spcBef>
            </a:pPr>
            <a:r>
              <a:rPr kumimoji="0" lang="zh-CN" altLang="en-US" sz="3200" b="1" i="0" u="none" strike="noStrike" kern="1200" cap="none" spc="0" normalizeH="0" baseline="0" noProof="0" dirty="0" smtClean="0">
                <a:ln>
                  <a:noFill/>
                </a:ln>
                <a:solidFill>
                  <a:srgbClr val="0000FF"/>
                </a:solidFill>
                <a:effectLst/>
                <a:uLnTx/>
                <a:uFillTx/>
                <a:latin typeface="Times New Roman" panose="02020603050405020304" pitchFamily="18" charset="0"/>
                <a:ea typeface="黑体" panose="02010609060101010101" pitchFamily="49" charset="-122"/>
                <a:cs typeface="+mj-cs"/>
              </a:rPr>
              <a:t>    </a:t>
            </a:r>
            <a:r>
              <a:rPr lang="en-US" altLang="zh-CN" sz="2400" dirty="0" smtClean="0">
                <a:latin typeface="Times New Roman" panose="02020603050405020304" pitchFamily="18" charset="0"/>
                <a:ea typeface="华文新魏" panose="02010800040101010101" pitchFamily="2" charset="-122"/>
              </a:rPr>
              <a:t> </a:t>
            </a:r>
            <a:r>
              <a:rPr lang="en-US" altLang="zh-CN" sz="2400" b="1" dirty="0" smtClean="0">
                <a:solidFill>
                  <a:srgbClr val="FF0000"/>
                </a:solidFill>
                <a:latin typeface="黑体"/>
              </a:rPr>
              <a:t>♂</a:t>
            </a:r>
            <a:r>
              <a:rPr kumimoji="0" lang="zh-CN" altLang="en-US" sz="2400" b="1" i="0" u="none" strike="noStrike" kern="1200" cap="none" spc="0" normalizeH="0" baseline="0" noProof="0" dirty="0" smtClean="0">
                <a:ln>
                  <a:noFill/>
                </a:ln>
                <a:effectLst/>
                <a:uLnTx/>
                <a:uFillTx/>
                <a:latin typeface="Times New Roman" panose="02020603050405020304" pitchFamily="18" charset="0"/>
                <a:ea typeface="黑体" panose="02010609060101010101" pitchFamily="49" charset="-122"/>
                <a:cs typeface="+mj-cs"/>
              </a:rPr>
              <a:t>在</a:t>
            </a:r>
            <a:r>
              <a:rPr kumimoji="0" lang="zh-CN" altLang="en-US" sz="2400" b="1" i="0" u="none" strike="noStrike" kern="1200" cap="none" spc="0" normalizeH="0" baseline="0" noProof="0" dirty="0" smtClean="0">
                <a:ln>
                  <a:noFill/>
                </a:ln>
                <a:solidFill>
                  <a:srgbClr val="FF0000"/>
                </a:solidFill>
                <a:effectLst/>
                <a:uLnTx/>
                <a:uFillTx/>
                <a:latin typeface="Times New Roman" panose="02020603050405020304" pitchFamily="18" charset="0"/>
                <a:ea typeface="黑体" panose="02010609060101010101" pitchFamily="49" charset="-122"/>
                <a:cs typeface="+mj-cs"/>
              </a:rPr>
              <a:t>管理体制上集中</a:t>
            </a:r>
            <a:r>
              <a:rPr kumimoji="0" lang="zh-CN" altLang="en-US" sz="2400" b="1" i="0" u="none" strike="noStrike" kern="1200" cap="none" spc="0" normalizeH="0" baseline="0" noProof="0" dirty="0" smtClean="0">
                <a:ln>
                  <a:noFill/>
                </a:ln>
                <a:effectLst/>
                <a:uLnTx/>
                <a:uFillTx/>
                <a:latin typeface="Times New Roman" panose="02020603050405020304" pitchFamily="18" charset="0"/>
                <a:ea typeface="黑体" panose="02010609060101010101" pitchFamily="49" charset="-122"/>
                <a:cs typeface="+mj-cs"/>
              </a:rPr>
              <a:t>过多；限制了商品经济与市场经济的正常运转。将高度集中统一的经济体制扩大到整个社会，并使之固定化模式化影响了经济发展。</a:t>
            </a:r>
            <a:endParaRPr kumimoji="0" lang="zh-CN" altLang="en-US" sz="2400" b="1" i="0" u="none" strike="noStrike" kern="1200" cap="none" spc="0" normalizeH="0" baseline="0" noProof="0" dirty="0">
              <a:ln>
                <a:noFill/>
              </a:ln>
              <a:effectLst/>
              <a:uLnTx/>
              <a:uFillTx/>
              <a:latin typeface="Times New Roman" panose="02020603050405020304" pitchFamily="18" charset="0"/>
              <a:ea typeface="黑体" panose="02010609060101010101" pitchFamily="49" charset="-122"/>
              <a:cs typeface="+mj-cs"/>
            </a:endParaRPr>
          </a:p>
        </p:txBody>
      </p:sp>
    </p:spTree>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2"/>
          <p:cNvSpPr>
            <a:spLocks noGrp="1"/>
          </p:cNvSpPr>
          <p:nvPr>
            <p:ph type="title"/>
          </p:nvPr>
        </p:nvSpPr>
        <p:spPr>
          <a:xfrm>
            <a:off x="1403648" y="1988840"/>
            <a:ext cx="6553200" cy="1643527"/>
          </a:xfrm>
          <a:solidFill>
            <a:schemeClr val="bg1"/>
          </a:solidFill>
          <a:ln w="12700">
            <a:solidFill>
              <a:srgbClr val="FF3300"/>
            </a:solidFill>
            <a:miter/>
          </a:ln>
        </p:spPr>
        <p:txBody>
          <a:bodyPr anchor="t">
            <a:spAutoFit/>
          </a:bodyPr>
          <a:lstStyle/>
          <a:p>
            <a:pPr algn="l">
              <a:lnSpc>
                <a:spcPct val="105000"/>
              </a:lnSpc>
              <a:spcBef>
                <a:spcPct val="50000"/>
              </a:spcBef>
            </a:pPr>
            <a:r>
              <a:rPr lang="zh-CN" altLang="en-US" sz="2400" b="1" dirty="0" smtClean="0">
                <a:solidFill>
                  <a:schemeClr val="tx1"/>
                </a:solidFill>
                <a:latin typeface="Times New Roman" panose="02020603050405020304" pitchFamily="18" charset="0"/>
                <a:ea typeface="黑体" panose="02010609060101010101" pitchFamily="49" charset="-122"/>
              </a:rPr>
              <a:t>        </a:t>
            </a:r>
            <a:r>
              <a:rPr lang="en-US" altLang="zh-CN" sz="2400" b="1" dirty="0" smtClean="0">
                <a:solidFill>
                  <a:srgbClr val="FF0000"/>
                </a:solidFill>
                <a:latin typeface="黑体"/>
                <a:ea typeface="黑体"/>
              </a:rPr>
              <a:t>♂</a:t>
            </a:r>
            <a:r>
              <a:rPr lang="zh-CN" altLang="en-US" sz="2400" b="1" dirty="0" smtClean="0">
                <a:solidFill>
                  <a:schemeClr val="tx1"/>
                </a:solidFill>
                <a:latin typeface="Times New Roman" panose="02020603050405020304" pitchFamily="18" charset="0"/>
                <a:ea typeface="黑体" panose="02010609060101010101" pitchFamily="49" charset="-122"/>
              </a:rPr>
              <a:t>在</a:t>
            </a:r>
            <a:r>
              <a:rPr lang="zh-CN" altLang="en-US" sz="2400" b="1" dirty="0">
                <a:solidFill>
                  <a:schemeClr val="tx1"/>
                </a:solidFill>
                <a:latin typeface="Times New Roman" panose="02020603050405020304" pitchFamily="18" charset="0"/>
                <a:ea typeface="黑体" panose="02010609060101010101" pitchFamily="49" charset="-122"/>
              </a:rPr>
              <a:t>改变生产资料所有制方面急于求纯 ；</a:t>
            </a:r>
            <a:r>
              <a:rPr lang="zh-CN" altLang="en-US" sz="2400" b="1" dirty="0">
                <a:solidFill>
                  <a:srgbClr val="FF0000"/>
                </a:solidFill>
                <a:latin typeface="Times New Roman" panose="02020603050405020304" pitchFamily="18" charset="0"/>
                <a:ea typeface="黑体" panose="02010609060101010101" pitchFamily="49" charset="-122"/>
              </a:rPr>
              <a:t>所有制结构过于单一</a:t>
            </a:r>
            <a:r>
              <a:rPr lang="zh-CN" altLang="en-US" sz="2400" b="1" dirty="0">
                <a:solidFill>
                  <a:schemeClr val="tx1"/>
                </a:solidFill>
                <a:latin typeface="Times New Roman" panose="02020603050405020304" pitchFamily="18" charset="0"/>
                <a:ea typeface="黑体" panose="02010609060101010101" pitchFamily="49" charset="-122"/>
              </a:rPr>
              <a:t>。应该是以公有制为主体，适当保留部分有益于国计民生的个体经济与私营经济</a:t>
            </a:r>
            <a:r>
              <a:rPr lang="zh-CN" altLang="en-US" sz="2400" b="1" dirty="0" smtClean="0">
                <a:solidFill>
                  <a:schemeClr val="tx1"/>
                </a:solidFill>
                <a:latin typeface="Times New Roman" panose="02020603050405020304" pitchFamily="18" charset="0"/>
                <a:ea typeface="黑体" panose="02010609060101010101" pitchFamily="49" charset="-122"/>
              </a:rPr>
              <a:t>。</a:t>
            </a:r>
            <a:endParaRPr lang="zh-CN" altLang="en-US" sz="2400" b="1" dirty="0">
              <a:solidFill>
                <a:schemeClr val="tx1"/>
              </a:solidFill>
              <a:latin typeface="Times New Roman" panose="02020603050405020304" pitchFamily="18" charset="0"/>
              <a:ea typeface="黑体" panose="02010609060101010101" pitchFamily="49" charset="-122"/>
            </a:endParaRPr>
          </a:p>
        </p:txBody>
      </p:sp>
      <p:sp>
        <p:nvSpPr>
          <p:cNvPr id="3" name="Rectangle 2"/>
          <p:cNvSpPr txBox="1">
            <a:spLocks/>
          </p:cNvSpPr>
          <p:nvPr/>
        </p:nvSpPr>
        <p:spPr>
          <a:xfrm>
            <a:off x="1547664" y="4365104"/>
            <a:ext cx="6553200" cy="1384995"/>
          </a:xfrm>
          <a:prstGeom prst="rect">
            <a:avLst/>
          </a:prstGeom>
          <a:solidFill>
            <a:schemeClr val="bg1"/>
          </a:solidFill>
          <a:ln w="12700">
            <a:solidFill>
              <a:srgbClr val="FF3300"/>
            </a:solidFill>
            <a:miter/>
          </a:ln>
        </p:spPr>
        <p:txBody>
          <a:bodyPr vert="horz" rtlCol="0" anchor="t">
            <a:spAutoFit/>
          </a:bodyPr>
          <a:lstStyle/>
          <a:p>
            <a:pPr lvl="0">
              <a:lnSpc>
                <a:spcPct val="105000"/>
              </a:lnSpc>
              <a:spcBef>
                <a:spcPct val="50000"/>
              </a:spcBef>
            </a:pPr>
            <a:r>
              <a:rPr kumimoji="0" lang="zh-CN" altLang="en-US" sz="3200" b="1" i="0" u="none" strike="noStrike" kern="1200" cap="none" spc="0" normalizeH="0" baseline="0" noProof="0" dirty="0" smtClean="0">
                <a:ln>
                  <a:noFill/>
                </a:ln>
                <a:solidFill>
                  <a:srgbClr val="0000FF"/>
                </a:solidFill>
                <a:effectLst/>
                <a:uLnTx/>
                <a:uFillTx/>
                <a:latin typeface="Times New Roman" panose="02020603050405020304" pitchFamily="18" charset="0"/>
                <a:ea typeface="黑体" panose="02010609060101010101" pitchFamily="49" charset="-122"/>
                <a:cs typeface="+mj-cs"/>
              </a:rPr>
              <a:t>      </a:t>
            </a:r>
            <a:r>
              <a:rPr lang="en-US" altLang="zh-CN" sz="2400" b="1" dirty="0" smtClean="0">
                <a:solidFill>
                  <a:srgbClr val="FF0000"/>
                </a:solidFill>
                <a:latin typeface="黑体"/>
              </a:rPr>
              <a:t>♂</a:t>
            </a:r>
            <a:r>
              <a:rPr lang="zh-CN" altLang="en-US" sz="2400" b="1" dirty="0" smtClean="0">
                <a:latin typeface="Times New Roman" panose="02020603050405020304" pitchFamily="18" charset="0"/>
                <a:ea typeface="黑体" panose="02010609060101010101" pitchFamily="49" charset="-122"/>
                <a:cs typeface="+mj-cs"/>
              </a:rPr>
              <a:t>在工作</a:t>
            </a:r>
            <a:r>
              <a:rPr lang="zh-CN" altLang="en-US" sz="2400" b="1" dirty="0" smtClean="0">
                <a:solidFill>
                  <a:srgbClr val="FF0000"/>
                </a:solidFill>
                <a:latin typeface="Times New Roman" panose="02020603050405020304" pitchFamily="18" charset="0"/>
                <a:ea typeface="黑体" panose="02010609060101010101" pitchFamily="49" charset="-122"/>
                <a:cs typeface="+mj-cs"/>
              </a:rPr>
              <a:t>方法上过粗</a:t>
            </a:r>
            <a:r>
              <a:rPr lang="en-US" altLang="zh-CN" sz="2400" b="1" dirty="0" smtClean="0">
                <a:latin typeface="Times New Roman" panose="02020603050405020304" pitchFamily="18" charset="0"/>
                <a:ea typeface="黑体" panose="02010609060101010101" pitchFamily="49" charset="-122"/>
                <a:cs typeface="+mj-cs"/>
              </a:rPr>
              <a:t>,</a:t>
            </a:r>
            <a:r>
              <a:rPr lang="zh-CN" altLang="en-US" sz="2400" b="1" dirty="0" smtClean="0">
                <a:latin typeface="Times New Roman" panose="02020603050405020304" pitchFamily="18" charset="0"/>
                <a:ea typeface="黑体" panose="02010609060101010101" pitchFamily="49" charset="-122"/>
                <a:cs typeface="+mj-cs"/>
              </a:rPr>
              <a:t>甚至某些地方采用强制手段。</a:t>
            </a:r>
            <a:br>
              <a:rPr lang="zh-CN" altLang="en-US" sz="2400" b="1" dirty="0" smtClean="0">
                <a:latin typeface="Times New Roman" panose="02020603050405020304" pitchFamily="18" charset="0"/>
                <a:ea typeface="黑体" panose="02010609060101010101" pitchFamily="49" charset="-122"/>
                <a:cs typeface="+mj-cs"/>
              </a:rPr>
            </a:br>
            <a:endParaRPr lang="zh-CN" altLang="en-US" sz="2400" b="1" dirty="0">
              <a:latin typeface="Times New Roman" panose="02020603050405020304" pitchFamily="18" charset="0"/>
              <a:ea typeface="黑体" panose="02010609060101010101" pitchFamily="49" charset="-122"/>
              <a:cs typeface="+mj-cs"/>
            </a:endParaRPr>
          </a:p>
        </p:txBody>
      </p:sp>
    </p:spTree>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2"/>
          <p:cNvSpPr>
            <a:spLocks noGrp="1"/>
          </p:cNvSpPr>
          <p:nvPr>
            <p:ph type="title"/>
          </p:nvPr>
        </p:nvSpPr>
        <p:spPr>
          <a:xfrm>
            <a:off x="1259632" y="1772816"/>
            <a:ext cx="6629400" cy="2806922"/>
          </a:xfrm>
          <a:solidFill>
            <a:schemeClr val="bg1"/>
          </a:solidFill>
          <a:ln w="12700">
            <a:solidFill>
              <a:srgbClr val="FF3300"/>
            </a:solidFill>
            <a:miter/>
          </a:ln>
        </p:spPr>
        <p:txBody>
          <a:bodyPr anchor="t">
            <a:spAutoFit/>
          </a:bodyPr>
          <a:lstStyle/>
          <a:p>
            <a:pPr algn="l">
              <a:lnSpc>
                <a:spcPct val="105000"/>
              </a:lnSpc>
              <a:spcBef>
                <a:spcPct val="50000"/>
              </a:spcBef>
            </a:pPr>
            <a:r>
              <a:rPr lang="zh-CN" altLang="en-US" sz="2800" b="1" dirty="0" smtClean="0">
                <a:solidFill>
                  <a:srgbClr val="FF0000"/>
                </a:solidFill>
                <a:latin typeface="+mj-ea"/>
              </a:rPr>
              <a:t>    就</a:t>
            </a:r>
            <a:r>
              <a:rPr lang="zh-CN" altLang="en-US" sz="2800" b="1" dirty="0">
                <a:solidFill>
                  <a:srgbClr val="FF0000"/>
                </a:solidFill>
                <a:latin typeface="+mj-ea"/>
              </a:rPr>
              <a:t>整个来说，我们应该看到</a:t>
            </a:r>
            <a:r>
              <a:rPr lang="en-US" altLang="zh-CN" sz="2800" b="1" dirty="0">
                <a:solidFill>
                  <a:srgbClr val="FF0000"/>
                </a:solidFill>
                <a:latin typeface="+mj-ea"/>
              </a:rPr>
              <a:t>,</a:t>
            </a:r>
            <a:r>
              <a:rPr lang="zh-CN" altLang="en-US" sz="2800" b="1" dirty="0">
                <a:solidFill>
                  <a:srgbClr val="FF0000"/>
                </a:solidFill>
                <a:latin typeface="+mj-ea"/>
              </a:rPr>
              <a:t>在一个几亿人口的大国中比较顺利地实现了如此复杂、困难和深刻的社会变革，促进了工农业和整个国民经济的发展，进一步解放和发展了生产力，为开展大规模的社会主义建设创造了前提</a:t>
            </a:r>
            <a:r>
              <a:rPr lang="en-US" altLang="zh-CN" sz="2800" b="1" dirty="0">
                <a:solidFill>
                  <a:srgbClr val="FF0000"/>
                </a:solidFill>
                <a:latin typeface="+mj-ea"/>
              </a:rPr>
              <a:t>,</a:t>
            </a:r>
            <a:r>
              <a:rPr lang="zh-CN" altLang="en-US" sz="2800" b="1" dirty="0">
                <a:solidFill>
                  <a:srgbClr val="FF0000"/>
                </a:solidFill>
                <a:latin typeface="+mj-ea"/>
              </a:rPr>
              <a:t>这是不容置疑的。</a:t>
            </a:r>
          </a:p>
        </p:txBody>
      </p:sp>
    </p:spTree>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2"/>
          <p:cNvSpPr>
            <a:spLocks noGrp="1"/>
          </p:cNvSpPr>
          <p:nvPr>
            <p:ph type="title"/>
          </p:nvPr>
        </p:nvSpPr>
        <p:spPr>
          <a:xfrm>
            <a:off x="1043608" y="2420888"/>
            <a:ext cx="6781800" cy="1449628"/>
          </a:xfrm>
          <a:solidFill>
            <a:schemeClr val="bg1"/>
          </a:solidFill>
          <a:ln w="12700">
            <a:solidFill>
              <a:srgbClr val="FF3300"/>
            </a:solidFill>
            <a:miter/>
          </a:ln>
        </p:spPr>
        <p:txBody>
          <a:bodyPr anchor="t">
            <a:spAutoFit/>
          </a:bodyPr>
          <a:lstStyle/>
          <a:p>
            <a:pPr algn="l">
              <a:lnSpc>
                <a:spcPct val="105000"/>
              </a:lnSpc>
              <a:spcBef>
                <a:spcPct val="50000"/>
              </a:spcBef>
            </a:pPr>
            <a:r>
              <a:rPr lang="en-US" altLang="zh-CN" sz="2800" b="1" dirty="0" smtClean="0">
                <a:solidFill>
                  <a:srgbClr val="0000FF"/>
                </a:solidFill>
                <a:latin typeface="Times New Roman" panose="02020603050405020304" pitchFamily="18" charset="0"/>
                <a:ea typeface="黑体" panose="02010609060101010101" pitchFamily="49" charset="-122"/>
              </a:rPr>
              <a:t>      </a:t>
            </a:r>
            <a:r>
              <a:rPr lang="zh-CN" altLang="en-US" sz="2800" b="1" dirty="0" smtClean="0">
                <a:solidFill>
                  <a:srgbClr val="0000FF"/>
                </a:solidFill>
                <a:latin typeface="Times New Roman" panose="02020603050405020304" pitchFamily="18" charset="0"/>
                <a:ea typeface="黑体" panose="02010609060101010101" pitchFamily="49" charset="-122"/>
              </a:rPr>
              <a:t>一些</a:t>
            </a:r>
            <a:r>
              <a:rPr lang="zh-CN" altLang="en-US" sz="2800" b="1" dirty="0">
                <a:solidFill>
                  <a:srgbClr val="0000FF"/>
                </a:solidFill>
                <a:latin typeface="Times New Roman" panose="02020603050405020304" pitchFamily="18" charset="0"/>
                <a:ea typeface="黑体" panose="02010609060101010101" pitchFamily="49" charset="-122"/>
              </a:rPr>
              <a:t>人以“重新评价”为名，歪曲近现代中国的历史，在社会上造成了很不好影响的</a:t>
            </a:r>
            <a:r>
              <a:rPr lang="zh-CN" altLang="en-US" sz="2800" b="1" dirty="0">
                <a:solidFill>
                  <a:srgbClr val="FF0000"/>
                </a:solidFill>
                <a:latin typeface="Times New Roman" panose="02020603050405020304" pitchFamily="18" charset="0"/>
                <a:ea typeface="黑体" panose="02010609060101010101" pitchFamily="49" charset="-122"/>
              </a:rPr>
              <a:t>历史虚无主义</a:t>
            </a:r>
            <a:r>
              <a:rPr lang="en-US" altLang="zh-CN" sz="2800" b="1" dirty="0">
                <a:solidFill>
                  <a:srgbClr val="0000FF"/>
                </a:solidFill>
                <a:latin typeface="Times New Roman" panose="02020603050405020304" pitchFamily="18" charset="0"/>
                <a:ea typeface="黑体" panose="02010609060101010101" pitchFamily="49" charset="-122"/>
              </a:rPr>
              <a:t>,</a:t>
            </a:r>
            <a:r>
              <a:rPr lang="zh-CN" altLang="en-US" sz="2800" b="1" dirty="0">
                <a:solidFill>
                  <a:srgbClr val="0000FF"/>
                </a:solidFill>
                <a:latin typeface="Times New Roman" panose="02020603050405020304" pitchFamily="18" charset="0"/>
                <a:ea typeface="黑体" panose="02010609060101010101" pitchFamily="49" charset="-122"/>
              </a:rPr>
              <a:t>值得警惕。</a:t>
            </a:r>
            <a:r>
              <a:rPr lang="zh-CN" altLang="en-US" sz="2800" dirty="0">
                <a:solidFill>
                  <a:srgbClr val="0000FF"/>
                </a:solidFill>
                <a:latin typeface="Times New Roman" panose="02020603050405020304" pitchFamily="18" charset="0"/>
                <a:ea typeface="华文新魏" panose="02010800040101010101" pitchFamily="2" charset="-122"/>
              </a:rPr>
              <a:t> </a:t>
            </a:r>
          </a:p>
        </p:txBody>
      </p:sp>
      <p:sp>
        <p:nvSpPr>
          <p:cNvPr id="3" name="矩形 2"/>
          <p:cNvSpPr/>
          <p:nvPr/>
        </p:nvSpPr>
        <p:spPr>
          <a:xfrm>
            <a:off x="899592" y="908720"/>
            <a:ext cx="1529586" cy="707886"/>
          </a:xfrm>
          <a:prstGeom prst="rect">
            <a:avLst/>
          </a:prstGeom>
          <a:solidFill>
            <a:schemeClr val="bg2"/>
          </a:solidFill>
          <a:ln>
            <a:solidFill>
              <a:schemeClr val="accent1"/>
            </a:solidFill>
          </a:ln>
        </p:spPr>
        <p:txBody>
          <a:bodyPr wrap="none">
            <a:spAutoFit/>
          </a:bodyPr>
          <a:lstStyle/>
          <a:p>
            <a:r>
              <a:rPr lang="en-US" altLang="zh-CN" sz="4000" dirty="0" smtClean="0">
                <a:solidFill>
                  <a:srgbClr val="FF0000"/>
                </a:solidFill>
                <a:latin typeface="华文琥珀" pitchFamily="2" charset="-122"/>
                <a:ea typeface="华文琥珀" pitchFamily="2" charset="-122"/>
              </a:rPr>
              <a:t> </a:t>
            </a:r>
            <a:r>
              <a:rPr lang="zh-CN" altLang="en-US" sz="4000" b="1" dirty="0" smtClean="0">
                <a:solidFill>
                  <a:srgbClr val="FF0000"/>
                </a:solidFill>
                <a:latin typeface="华文琥珀" pitchFamily="2" charset="-122"/>
                <a:ea typeface="华文琥珀" pitchFamily="2" charset="-122"/>
              </a:rPr>
              <a:t>注意</a:t>
            </a:r>
            <a:r>
              <a:rPr lang="en-US" altLang="zh-CN" sz="4000" b="1" dirty="0" smtClean="0">
                <a:solidFill>
                  <a:srgbClr val="FF0000"/>
                </a:solidFill>
                <a:latin typeface="华文琥珀" pitchFamily="2" charset="-122"/>
                <a:ea typeface="华文琥珀" pitchFamily="2" charset="-122"/>
              </a:rPr>
              <a:t>:</a:t>
            </a:r>
            <a:endParaRPr lang="zh-CN" altLang="en-US" sz="4000" dirty="0">
              <a:latin typeface="华文琥珀" pitchFamily="2" charset="-122"/>
              <a:ea typeface="华文琥珀" pitchFamily="2" charset="-122"/>
            </a:endParaRPr>
          </a:p>
        </p:txBody>
      </p:sp>
    </p:spTree>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2"/>
          <p:cNvSpPr>
            <a:spLocks noGrp="1"/>
          </p:cNvSpPr>
          <p:nvPr>
            <p:ph type="title"/>
          </p:nvPr>
        </p:nvSpPr>
        <p:spPr>
          <a:xfrm>
            <a:off x="971600" y="2276872"/>
            <a:ext cx="6336704" cy="492251"/>
          </a:xfrm>
          <a:solidFill>
            <a:schemeClr val="bg2"/>
          </a:solidFill>
          <a:ln w="12700">
            <a:solidFill>
              <a:srgbClr val="FF3300"/>
            </a:solidFill>
            <a:miter/>
          </a:ln>
        </p:spPr>
        <p:txBody>
          <a:bodyPr wrap="square" anchor="t">
            <a:spAutoFit/>
          </a:bodyPr>
          <a:lstStyle/>
          <a:p>
            <a:pPr algn="l">
              <a:lnSpc>
                <a:spcPct val="105000"/>
              </a:lnSpc>
              <a:spcBef>
                <a:spcPct val="50000"/>
              </a:spcBef>
            </a:pPr>
            <a:r>
              <a:rPr lang="zh-CN" altLang="en-US" sz="2800" b="1" dirty="0">
                <a:solidFill>
                  <a:srgbClr val="FF0000"/>
                </a:solidFill>
                <a:latin typeface="黑体" pitchFamily="49" charset="-122"/>
                <a:ea typeface="黑体" pitchFamily="49" charset="-122"/>
              </a:rPr>
              <a:t>一、社会主义基本制度的初步</a:t>
            </a:r>
            <a:r>
              <a:rPr lang="zh-CN" altLang="en-US" sz="2800" b="1" dirty="0" smtClean="0">
                <a:solidFill>
                  <a:srgbClr val="FF0000"/>
                </a:solidFill>
                <a:latin typeface="黑体" pitchFamily="49" charset="-122"/>
                <a:ea typeface="黑体" pitchFamily="49" charset="-122"/>
              </a:rPr>
              <a:t>确立</a:t>
            </a:r>
            <a:endParaRPr lang="zh-CN" altLang="en-US" sz="2800" b="1" dirty="0">
              <a:solidFill>
                <a:srgbClr val="FF0000"/>
              </a:solidFill>
              <a:latin typeface="黑体" pitchFamily="49" charset="-122"/>
              <a:ea typeface="黑体" pitchFamily="49" charset="-122"/>
            </a:endParaRPr>
          </a:p>
        </p:txBody>
      </p:sp>
      <p:sp>
        <p:nvSpPr>
          <p:cNvPr id="2" name="矩形 1"/>
          <p:cNvSpPr/>
          <p:nvPr/>
        </p:nvSpPr>
        <p:spPr>
          <a:xfrm>
            <a:off x="827584" y="620688"/>
            <a:ext cx="6984776" cy="584775"/>
          </a:xfrm>
          <a:prstGeom prst="rect">
            <a:avLst/>
          </a:prstGeom>
          <a:ln>
            <a:solidFill>
              <a:schemeClr val="accent1"/>
            </a:solidFill>
          </a:ln>
        </p:spPr>
        <p:txBody>
          <a:bodyPr wrap="square">
            <a:spAutoFit/>
          </a:bodyPr>
          <a:lstStyle/>
          <a:p>
            <a:r>
              <a:rPr lang="en-US" altLang="zh-CN" sz="3200" b="1" dirty="0">
                <a:solidFill>
                  <a:srgbClr val="FF0000"/>
                </a:solidFill>
                <a:latin typeface="华文琥珀" pitchFamily="2" charset="-122"/>
                <a:ea typeface="华文琥珀" pitchFamily="2" charset="-122"/>
                <a:cs typeface="+mj-cs"/>
              </a:rPr>
              <a:t> </a:t>
            </a:r>
            <a:r>
              <a:rPr lang="zh-CN" altLang="en-US" sz="3200" b="1" dirty="0" smtClean="0">
                <a:solidFill>
                  <a:srgbClr val="FF0000"/>
                </a:solidFill>
                <a:latin typeface="华文琥珀" pitchFamily="2" charset="-122"/>
                <a:ea typeface="华文琥珀" pitchFamily="2" charset="-122"/>
                <a:cs typeface="+mj-cs"/>
              </a:rPr>
              <a:t>专题三     </a:t>
            </a:r>
            <a:r>
              <a:rPr lang="zh-CN" altLang="en-US" sz="3200" b="1" dirty="0">
                <a:solidFill>
                  <a:srgbClr val="FF0000"/>
                </a:solidFill>
                <a:latin typeface="华文琥珀" pitchFamily="2" charset="-122"/>
                <a:ea typeface="华文琥珀" pitchFamily="2" charset="-122"/>
                <a:cs typeface="+mj-cs"/>
              </a:rPr>
              <a:t>社会主义制度在中国的</a:t>
            </a:r>
            <a:r>
              <a:rPr lang="zh-CN" altLang="en-US" sz="3200" b="1" dirty="0" smtClean="0">
                <a:solidFill>
                  <a:srgbClr val="FF0000"/>
                </a:solidFill>
                <a:latin typeface="华文琥珀" pitchFamily="2" charset="-122"/>
                <a:ea typeface="华文琥珀" pitchFamily="2" charset="-122"/>
                <a:cs typeface="+mj-cs"/>
              </a:rPr>
              <a:t>确立</a:t>
            </a:r>
            <a:endParaRPr lang="zh-CN" altLang="en-US" sz="3200" b="1" dirty="0">
              <a:solidFill>
                <a:srgbClr val="FF0000"/>
              </a:solidFill>
              <a:latin typeface="华文琥珀" pitchFamily="2" charset="-122"/>
              <a:ea typeface="华文琥珀" pitchFamily="2" charset="-122"/>
              <a:cs typeface="+mj-cs"/>
            </a:endParaRPr>
          </a:p>
        </p:txBody>
      </p:sp>
      <p:sp>
        <p:nvSpPr>
          <p:cNvPr id="4" name="矩形 3"/>
          <p:cNvSpPr/>
          <p:nvPr/>
        </p:nvSpPr>
        <p:spPr>
          <a:xfrm>
            <a:off x="755576" y="3573016"/>
            <a:ext cx="6316153" cy="509498"/>
          </a:xfrm>
          <a:prstGeom prst="rect">
            <a:avLst/>
          </a:prstGeom>
          <a:solidFill>
            <a:schemeClr val="bg2"/>
          </a:solidFill>
          <a:ln>
            <a:solidFill>
              <a:schemeClr val="accent1"/>
            </a:solidFill>
          </a:ln>
        </p:spPr>
        <p:txBody>
          <a:bodyPr wrap="none">
            <a:spAutoFit/>
          </a:bodyPr>
          <a:lstStyle/>
          <a:p>
            <a:pPr>
              <a:lnSpc>
                <a:spcPct val="105000"/>
              </a:lnSpc>
              <a:spcBef>
                <a:spcPct val="50000"/>
              </a:spcBef>
            </a:pPr>
            <a:r>
              <a:rPr lang="zh-CN" altLang="en-US" sz="2800" b="1" dirty="0" smtClean="0">
                <a:solidFill>
                  <a:srgbClr val="FF0000"/>
                </a:solidFill>
                <a:latin typeface="黑体" pitchFamily="49" charset="-122"/>
                <a:ea typeface="黑体" pitchFamily="49" charset="-122"/>
                <a:cs typeface="+mj-cs"/>
              </a:rPr>
              <a:t>二、确立社会主义基本制度的重大意义</a:t>
            </a:r>
            <a:endParaRPr lang="zh-CN" altLang="en-US" sz="2800" b="1" dirty="0">
              <a:solidFill>
                <a:srgbClr val="FF0000"/>
              </a:solidFill>
              <a:latin typeface="黑体" pitchFamily="49" charset="-122"/>
              <a:ea typeface="黑体" pitchFamily="49" charset="-122"/>
              <a:cs typeface="+mj-cs"/>
            </a:endParaRPr>
          </a:p>
        </p:txBody>
      </p:sp>
    </p:spTree>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2"/>
          <p:cNvSpPr>
            <a:spLocks noGrp="1"/>
          </p:cNvSpPr>
          <p:nvPr>
            <p:ph type="title"/>
          </p:nvPr>
        </p:nvSpPr>
        <p:spPr>
          <a:xfrm>
            <a:off x="899592" y="1988840"/>
            <a:ext cx="6553200" cy="3711785"/>
          </a:xfrm>
          <a:solidFill>
            <a:schemeClr val="bg1"/>
          </a:solidFill>
          <a:ln w="12700">
            <a:solidFill>
              <a:srgbClr val="FF3300"/>
            </a:solidFill>
            <a:miter/>
          </a:ln>
        </p:spPr>
        <p:txBody>
          <a:bodyPr anchor="t">
            <a:spAutoFit/>
          </a:bodyPr>
          <a:lstStyle/>
          <a:p>
            <a:pPr algn="l">
              <a:lnSpc>
                <a:spcPct val="105000"/>
              </a:lnSpc>
              <a:spcBef>
                <a:spcPct val="50000"/>
              </a:spcBef>
            </a:pPr>
            <a:r>
              <a:rPr lang="zh-CN" altLang="en-US" sz="2800" b="1" dirty="0" smtClean="0">
                <a:solidFill>
                  <a:srgbClr val="0000FF"/>
                </a:solidFill>
                <a:latin typeface="+mj-ea"/>
              </a:rPr>
              <a:t>     </a:t>
            </a:r>
            <a:r>
              <a:rPr lang="zh-CN" altLang="zh-CN" sz="2800" b="1" dirty="0" smtClean="0">
                <a:solidFill>
                  <a:srgbClr val="0000FF"/>
                </a:solidFill>
              </a:rPr>
              <a:t> </a:t>
            </a:r>
            <a:r>
              <a:rPr lang="en-US" altLang="zh-CN" sz="2800" b="1" dirty="0" smtClean="0">
                <a:solidFill>
                  <a:srgbClr val="0000FF"/>
                </a:solidFill>
              </a:rPr>
              <a:t>1956</a:t>
            </a:r>
            <a:r>
              <a:rPr lang="zh-CN" altLang="zh-CN" sz="2800" b="1" dirty="0" smtClean="0">
                <a:solidFill>
                  <a:srgbClr val="0000FF"/>
                </a:solidFill>
              </a:rPr>
              <a:t>年底，我国对农业、手工业和资本主义工商业的社会主义改造基本完成，我国社会经济结构发生了根本变化，社会主义经济成分已占绝对优势，社会主义公有制已成为我国社会的经济基础，标志着中国历史上长达数千年的阶级剥削制度的结束和社会主义基本制度的确立。</a:t>
            </a:r>
            <a:endParaRPr lang="zh-CN" altLang="en-US" sz="2800" b="1" dirty="0">
              <a:solidFill>
                <a:srgbClr val="0000FF"/>
              </a:solidFill>
              <a:latin typeface="黑体" pitchFamily="49" charset="-122"/>
              <a:ea typeface="黑体" pitchFamily="49" charset="-122"/>
            </a:endParaRPr>
          </a:p>
        </p:txBody>
      </p:sp>
      <p:sp>
        <p:nvSpPr>
          <p:cNvPr id="3" name="矩形 2"/>
          <p:cNvSpPr/>
          <p:nvPr/>
        </p:nvSpPr>
        <p:spPr>
          <a:xfrm>
            <a:off x="827584" y="620688"/>
            <a:ext cx="5710218" cy="646331"/>
          </a:xfrm>
          <a:prstGeom prst="rect">
            <a:avLst/>
          </a:prstGeom>
          <a:solidFill>
            <a:schemeClr val="bg2"/>
          </a:solidFill>
          <a:ln>
            <a:solidFill>
              <a:schemeClr val="accent1"/>
            </a:solidFill>
          </a:ln>
        </p:spPr>
        <p:txBody>
          <a:bodyPr wrap="none">
            <a:spAutoFit/>
          </a:bodyPr>
          <a:lstStyle/>
          <a:p>
            <a:r>
              <a:rPr lang="en-US" altLang="zh-CN" sz="3600" dirty="0" smtClean="0">
                <a:solidFill>
                  <a:srgbClr val="FF0000"/>
                </a:solidFill>
                <a:latin typeface="Times New Roman" panose="02020603050405020304" pitchFamily="18" charset="0"/>
                <a:ea typeface="华文新魏" panose="02010800040101010101" pitchFamily="2" charset="-122"/>
              </a:rPr>
              <a:t> </a:t>
            </a:r>
            <a:r>
              <a:rPr lang="zh-CN" altLang="en-US" sz="2800" b="1" dirty="0">
                <a:solidFill>
                  <a:srgbClr val="FF0000"/>
                </a:solidFill>
                <a:latin typeface="黑体" pitchFamily="49" charset="-122"/>
                <a:ea typeface="黑体" pitchFamily="49" charset="-122"/>
                <a:cs typeface="+mj-cs"/>
              </a:rPr>
              <a:t>一、社会主义基本制度的初步确立</a:t>
            </a:r>
          </a:p>
        </p:txBody>
      </p:sp>
    </p:spTree>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p:cNvSpPr>
            <a:spLocks noGrp="1"/>
          </p:cNvSpPr>
          <p:nvPr>
            <p:ph type="title"/>
          </p:nvPr>
        </p:nvSpPr>
        <p:spPr>
          <a:xfrm>
            <a:off x="683568" y="1700808"/>
            <a:ext cx="7277472" cy="3323987"/>
          </a:xfrm>
          <a:solidFill>
            <a:schemeClr val="bg1"/>
          </a:solidFill>
          <a:ln w="12700">
            <a:solidFill>
              <a:srgbClr val="FF3300"/>
            </a:solidFill>
            <a:miter/>
          </a:ln>
        </p:spPr>
        <p:txBody>
          <a:bodyPr wrap="square" anchor="t">
            <a:spAutoFit/>
          </a:bodyPr>
          <a:lstStyle/>
          <a:p>
            <a:pPr algn="l">
              <a:lnSpc>
                <a:spcPct val="150000"/>
              </a:lnSpc>
              <a:spcBef>
                <a:spcPts val="0"/>
              </a:spcBef>
            </a:pPr>
            <a:r>
              <a:rPr lang="en-US" altLang="zh-CN" sz="2800" b="1" dirty="0" smtClean="0">
                <a:solidFill>
                  <a:srgbClr val="0000FF"/>
                </a:solidFill>
              </a:rPr>
              <a:t>        </a:t>
            </a:r>
            <a:r>
              <a:rPr lang="zh-CN" altLang="zh-CN" sz="2800" b="1" dirty="0" smtClean="0">
                <a:solidFill>
                  <a:srgbClr val="0000FF"/>
                </a:solidFill>
              </a:rPr>
              <a:t>社会主义改造</a:t>
            </a:r>
            <a:r>
              <a:rPr lang="zh-CN" altLang="zh-CN" sz="2800" b="1" dirty="0">
                <a:solidFill>
                  <a:srgbClr val="0000FF"/>
                </a:solidFill>
              </a:rPr>
              <a:t>的基本完成，使我国社会经济结构发生了根本变化，社会主义经济成分已占绝对优势，社会主义公有制已成为我国社会的经济基础。</a:t>
            </a:r>
            <a:r>
              <a:rPr lang="zh-CN" altLang="zh-CN" sz="2800" b="1" dirty="0">
                <a:solidFill>
                  <a:srgbClr val="FF0000"/>
                </a:solidFill>
              </a:rPr>
              <a:t>生产资料公有制为基础的社会主义基本经济制度已经建立起来</a:t>
            </a:r>
            <a:r>
              <a:rPr lang="zh-CN" altLang="zh-CN" sz="2800" b="1" dirty="0">
                <a:solidFill>
                  <a:srgbClr val="0000FF"/>
                </a:solidFill>
              </a:rPr>
              <a:t>。</a:t>
            </a:r>
            <a:endParaRPr lang="zh-CN" altLang="en-US" sz="2800" b="1" dirty="0">
              <a:solidFill>
                <a:srgbClr val="0000FF"/>
              </a:solidFill>
            </a:endParaRPr>
          </a:p>
        </p:txBody>
      </p:sp>
      <p:sp>
        <p:nvSpPr>
          <p:cNvPr id="3" name="矩形 2"/>
          <p:cNvSpPr/>
          <p:nvPr/>
        </p:nvSpPr>
        <p:spPr>
          <a:xfrm>
            <a:off x="755576" y="908720"/>
            <a:ext cx="1832553" cy="584775"/>
          </a:xfrm>
          <a:prstGeom prst="rect">
            <a:avLst/>
          </a:prstGeom>
          <a:ln>
            <a:solidFill>
              <a:schemeClr val="accent1"/>
            </a:solidFill>
          </a:ln>
        </p:spPr>
        <p:txBody>
          <a:bodyPr wrap="none">
            <a:spAutoFit/>
          </a:bodyPr>
          <a:lstStyle/>
          <a:p>
            <a:r>
              <a:rPr lang="zh-CN" altLang="en-US" sz="3200" b="1" dirty="0" smtClean="0">
                <a:solidFill>
                  <a:srgbClr val="FF0000"/>
                </a:solidFill>
                <a:latin typeface="Times New Roman" panose="02020603050405020304" pitchFamily="18" charset="0"/>
                <a:ea typeface="黑体" panose="02010609060101010101" pitchFamily="49" charset="-122"/>
              </a:rPr>
              <a:t>经济方面</a:t>
            </a:r>
            <a:endParaRPr lang="zh-CN" altLang="en-US" sz="3200" dirty="0">
              <a:solidFill>
                <a:srgbClr val="FF0000"/>
              </a:solidFill>
            </a:endParaRPr>
          </a:p>
        </p:txBody>
      </p:sp>
    </p:spTree>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p:cNvSpPr>
            <a:spLocks noGrp="1"/>
          </p:cNvSpPr>
          <p:nvPr>
            <p:ph type="title"/>
          </p:nvPr>
        </p:nvSpPr>
        <p:spPr>
          <a:xfrm>
            <a:off x="395536" y="620688"/>
            <a:ext cx="8229600" cy="631198"/>
          </a:xfrm>
          <a:solidFill>
            <a:schemeClr val="bg1"/>
          </a:solidFill>
          <a:ln w="12700">
            <a:solidFill>
              <a:srgbClr val="FF3300"/>
            </a:solidFill>
            <a:miter/>
          </a:ln>
        </p:spPr>
        <p:txBody>
          <a:bodyPr anchor="t">
            <a:spAutoFit/>
          </a:bodyPr>
          <a:lstStyle/>
          <a:p>
            <a:pPr algn="l">
              <a:lnSpc>
                <a:spcPct val="105000"/>
              </a:lnSpc>
              <a:spcBef>
                <a:spcPct val="50000"/>
              </a:spcBef>
            </a:pPr>
            <a:r>
              <a:rPr lang="en-US" altLang="zh-CN" sz="3600" dirty="0">
                <a:solidFill>
                  <a:srgbClr val="FF0000"/>
                </a:solidFill>
                <a:latin typeface="Times New Roman" panose="02020603050405020304" pitchFamily="18" charset="0"/>
                <a:ea typeface="华文新魏" panose="02010800040101010101" pitchFamily="2" charset="-122"/>
              </a:rPr>
              <a:t>              </a:t>
            </a:r>
            <a:r>
              <a:rPr lang="zh-CN" altLang="en-US" sz="3600" b="1" dirty="0">
                <a:solidFill>
                  <a:srgbClr val="FF0000"/>
                </a:solidFill>
                <a:latin typeface="Times New Roman" panose="02020603050405020304" pitchFamily="18" charset="0"/>
                <a:ea typeface="黑体" panose="02010609060101010101" pitchFamily="49" charset="-122"/>
              </a:rPr>
              <a:t>国民收入结构</a:t>
            </a:r>
            <a:r>
              <a:rPr lang="zh-CN" altLang="en-US" sz="3600" b="1" dirty="0" smtClean="0">
                <a:solidFill>
                  <a:srgbClr val="FF0000"/>
                </a:solidFill>
                <a:latin typeface="Times New Roman" panose="02020603050405020304" pitchFamily="18" charset="0"/>
                <a:ea typeface="黑体" panose="02010609060101010101" pitchFamily="49" charset="-122"/>
              </a:rPr>
              <a:t>图表</a:t>
            </a:r>
            <a:endParaRPr lang="zh-CN" altLang="en-US" sz="3600" b="1" dirty="0">
              <a:solidFill>
                <a:srgbClr val="FF0000"/>
              </a:solidFill>
              <a:latin typeface="Times New Roman" panose="02020603050405020304" pitchFamily="18" charset="0"/>
              <a:ea typeface="黑体" panose="02010609060101010101" pitchFamily="49" charset="-122"/>
            </a:endParaRPr>
          </a:p>
        </p:txBody>
      </p:sp>
      <p:graphicFrame>
        <p:nvGraphicFramePr>
          <p:cNvPr id="103505" name="Group 81"/>
          <p:cNvGraphicFramePr>
            <a:graphicFrameLocks noGrp="1"/>
          </p:cNvGraphicFramePr>
          <p:nvPr>
            <p:ph type="tbl" idx="1"/>
          </p:nvPr>
        </p:nvGraphicFramePr>
        <p:xfrm>
          <a:off x="457200" y="1600200"/>
          <a:ext cx="8240395" cy="4525963"/>
        </p:xfrm>
        <a:graphic>
          <a:graphicData uri="http://schemas.openxmlformats.org/drawingml/2006/table">
            <a:tbl>
              <a:tblPr/>
              <a:tblGrid>
                <a:gridCol w="2743200"/>
                <a:gridCol w="2743200"/>
                <a:gridCol w="2753995"/>
              </a:tblGrid>
              <a:tr h="755650">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rPr>
                        <a:t>1952</a:t>
                      </a:r>
                      <a:r>
                        <a:rPr kumimoji="1" lang="zh-CN" altLang="en-US"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rPr>
                        <a:t>年</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rPr>
                        <a:t>1956</a:t>
                      </a:r>
                      <a:r>
                        <a:rPr kumimoji="1" lang="zh-CN" altLang="en-US"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rPr>
                        <a:t>年</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752475">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zh-CN" altLang="en-US"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rPr>
                        <a:t>国营经济</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rPr>
                        <a:t>19.1%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rPr>
                        <a:t>32.2%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755650">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zh-CN" altLang="en-US"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rPr>
                        <a:t>合作社经济</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rPr>
                        <a:t>32.2%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rPr>
                        <a:t>53.4%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75406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zh-CN" altLang="en-US"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rPr>
                        <a:t>公私合营经济</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rPr>
                        <a:t>0.7%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rPr>
                        <a:t>7.3%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752475">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zh-CN" altLang="en-US"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rPr>
                        <a:t>个体经济</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rPr>
                        <a:t>71.8%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rPr>
                        <a:t>7.1%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755650">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zh-CN" altLang="en-US"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rPr>
                        <a:t>资本主义经济</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rPr>
                        <a:t>6.9%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Tree>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2"/>
          <p:cNvSpPr>
            <a:spLocks noGrp="1"/>
          </p:cNvSpPr>
          <p:nvPr>
            <p:ph type="title"/>
          </p:nvPr>
        </p:nvSpPr>
        <p:spPr>
          <a:xfrm>
            <a:off x="468313" y="1412875"/>
            <a:ext cx="8229600" cy="4133850"/>
          </a:xfrm>
          <a:solidFill>
            <a:srgbClr val="CCECFF"/>
          </a:solidFill>
          <a:ln w="12700">
            <a:solidFill>
              <a:srgbClr val="FF3300"/>
            </a:solidFill>
            <a:miter/>
          </a:ln>
        </p:spPr>
        <p:txBody>
          <a:bodyPr anchor="t">
            <a:spAutoFit/>
          </a:bodyPr>
          <a:lstStyle/>
          <a:p>
            <a:pPr algn="l">
              <a:lnSpc>
                <a:spcPct val="105000"/>
              </a:lnSpc>
              <a:spcBef>
                <a:spcPct val="50000"/>
              </a:spcBef>
            </a:pPr>
            <a:r>
              <a:rPr lang="en-US" altLang="zh-CN" sz="2800" b="1" dirty="0">
                <a:solidFill>
                  <a:srgbClr val="0000FF"/>
                </a:solidFill>
                <a:latin typeface="Times New Roman" panose="02020603050405020304" pitchFamily="18" charset="0"/>
                <a:ea typeface="黑体" panose="02010609060101010101" pitchFamily="49" charset="-122"/>
              </a:rPr>
              <a:t/>
            </a:r>
            <a:br>
              <a:rPr lang="en-US" altLang="zh-CN" sz="2800" b="1" dirty="0">
                <a:solidFill>
                  <a:srgbClr val="0000FF"/>
                </a:solidFill>
                <a:latin typeface="Times New Roman" panose="02020603050405020304" pitchFamily="18" charset="0"/>
                <a:ea typeface="黑体" panose="02010609060101010101" pitchFamily="49" charset="-122"/>
              </a:rPr>
            </a:br>
            <a:r>
              <a:rPr lang="en-US" altLang="zh-CN" sz="2800" b="1" dirty="0">
                <a:solidFill>
                  <a:srgbClr val="0000FF"/>
                </a:solidFill>
                <a:latin typeface="Times New Roman" panose="02020603050405020304" pitchFamily="18" charset="0"/>
                <a:ea typeface="黑体" panose="02010609060101010101" pitchFamily="49" charset="-122"/>
              </a:rPr>
              <a:t/>
            </a:r>
            <a:br>
              <a:rPr lang="en-US" altLang="zh-CN" sz="2800" b="1" dirty="0">
                <a:solidFill>
                  <a:srgbClr val="0000FF"/>
                </a:solidFill>
                <a:latin typeface="Times New Roman" panose="02020603050405020304" pitchFamily="18" charset="0"/>
                <a:ea typeface="黑体" panose="02010609060101010101" pitchFamily="49" charset="-122"/>
              </a:rPr>
            </a:br>
            <a:r>
              <a:rPr lang="en-US" altLang="zh-CN" sz="2800" b="1" dirty="0">
                <a:solidFill>
                  <a:srgbClr val="0000FF"/>
                </a:solidFill>
                <a:latin typeface="Times New Roman" panose="02020603050405020304" pitchFamily="18" charset="0"/>
                <a:ea typeface="黑体" panose="02010609060101010101" pitchFamily="49" charset="-122"/>
              </a:rPr>
              <a:t/>
            </a:r>
            <a:br>
              <a:rPr lang="en-US" altLang="zh-CN" sz="2800" b="1" dirty="0">
                <a:solidFill>
                  <a:srgbClr val="0000FF"/>
                </a:solidFill>
                <a:latin typeface="Times New Roman" panose="02020603050405020304" pitchFamily="18" charset="0"/>
                <a:ea typeface="黑体" panose="02010609060101010101" pitchFamily="49" charset="-122"/>
              </a:rPr>
            </a:br>
            <a:r>
              <a:rPr lang="en-US" altLang="zh-CN" sz="2800" b="1" dirty="0">
                <a:solidFill>
                  <a:srgbClr val="0000FF"/>
                </a:solidFill>
                <a:latin typeface="Times New Roman" panose="02020603050405020304" pitchFamily="18" charset="0"/>
                <a:ea typeface="黑体" panose="02010609060101010101" pitchFamily="49" charset="-122"/>
              </a:rPr>
              <a:t/>
            </a:r>
            <a:br>
              <a:rPr lang="en-US" altLang="zh-CN" sz="2800" b="1" dirty="0">
                <a:solidFill>
                  <a:srgbClr val="0000FF"/>
                </a:solidFill>
                <a:latin typeface="Times New Roman" panose="02020603050405020304" pitchFamily="18" charset="0"/>
                <a:ea typeface="黑体" panose="02010609060101010101" pitchFamily="49" charset="-122"/>
              </a:rPr>
            </a:br>
            <a:r>
              <a:rPr lang="en-US" altLang="zh-CN" sz="2800" b="1" dirty="0">
                <a:solidFill>
                  <a:srgbClr val="0000FF"/>
                </a:solidFill>
                <a:latin typeface="Times New Roman" panose="02020603050405020304" pitchFamily="18" charset="0"/>
                <a:ea typeface="黑体" panose="02010609060101010101" pitchFamily="49" charset="-122"/>
              </a:rPr>
              <a:t/>
            </a:r>
            <a:br>
              <a:rPr lang="en-US" altLang="zh-CN" sz="2800" b="1" dirty="0">
                <a:solidFill>
                  <a:srgbClr val="0000FF"/>
                </a:solidFill>
                <a:latin typeface="Times New Roman" panose="02020603050405020304" pitchFamily="18" charset="0"/>
                <a:ea typeface="黑体" panose="02010609060101010101" pitchFamily="49" charset="-122"/>
              </a:rPr>
            </a:br>
            <a:r>
              <a:rPr lang="en-US" altLang="zh-CN" sz="2800" b="1" dirty="0">
                <a:solidFill>
                  <a:srgbClr val="0000FF"/>
                </a:solidFill>
                <a:latin typeface="Times New Roman" panose="02020603050405020304" pitchFamily="18" charset="0"/>
                <a:ea typeface="黑体" panose="02010609060101010101" pitchFamily="49" charset="-122"/>
              </a:rPr>
              <a:t/>
            </a:r>
            <a:br>
              <a:rPr lang="en-US" altLang="zh-CN" sz="2800" b="1" dirty="0">
                <a:solidFill>
                  <a:srgbClr val="0000FF"/>
                </a:solidFill>
                <a:latin typeface="Times New Roman" panose="02020603050405020304" pitchFamily="18" charset="0"/>
                <a:ea typeface="黑体" panose="02010609060101010101" pitchFamily="49" charset="-122"/>
              </a:rPr>
            </a:br>
            <a:r>
              <a:rPr lang="en-US" altLang="zh-CN" sz="2800" b="1" dirty="0">
                <a:solidFill>
                  <a:srgbClr val="0000FF"/>
                </a:solidFill>
                <a:latin typeface="Times New Roman" panose="02020603050405020304" pitchFamily="18" charset="0"/>
                <a:ea typeface="黑体" panose="02010609060101010101" pitchFamily="49" charset="-122"/>
              </a:rPr>
              <a:t/>
            </a:r>
            <a:br>
              <a:rPr lang="en-US" altLang="zh-CN" sz="2800" b="1" dirty="0">
                <a:solidFill>
                  <a:srgbClr val="0000FF"/>
                </a:solidFill>
                <a:latin typeface="Times New Roman" panose="02020603050405020304" pitchFamily="18" charset="0"/>
                <a:ea typeface="黑体" panose="02010609060101010101" pitchFamily="49" charset="-122"/>
              </a:rPr>
            </a:br>
            <a:r>
              <a:rPr lang="en-US" altLang="zh-CN" sz="2800" b="1" dirty="0">
                <a:solidFill>
                  <a:srgbClr val="0000FF"/>
                </a:solidFill>
                <a:latin typeface="Times New Roman" panose="02020603050405020304" pitchFamily="18" charset="0"/>
                <a:ea typeface="黑体" panose="02010609060101010101" pitchFamily="49" charset="-122"/>
              </a:rPr>
              <a:t/>
            </a:r>
            <a:br>
              <a:rPr lang="en-US" altLang="zh-CN" sz="2800" b="1" dirty="0">
                <a:solidFill>
                  <a:srgbClr val="0000FF"/>
                </a:solidFill>
                <a:latin typeface="Times New Roman" panose="02020603050405020304" pitchFamily="18" charset="0"/>
                <a:ea typeface="黑体" panose="02010609060101010101" pitchFamily="49" charset="-122"/>
              </a:rPr>
            </a:br>
            <a:endParaRPr lang="en-US" altLang="zh-CN" sz="2800" b="1" dirty="0">
              <a:solidFill>
                <a:srgbClr val="0000FF"/>
              </a:solidFill>
              <a:latin typeface="Times New Roman" panose="02020603050405020304" pitchFamily="18" charset="0"/>
              <a:ea typeface="黑体" panose="02010609060101010101" pitchFamily="49" charset="-122"/>
            </a:endParaRPr>
          </a:p>
        </p:txBody>
      </p:sp>
      <p:graphicFrame>
        <p:nvGraphicFramePr>
          <p:cNvPr id="27678" name="Group 30"/>
          <p:cNvGraphicFramePr>
            <a:graphicFrameLocks noGrp="1"/>
          </p:cNvGraphicFramePr>
          <p:nvPr>
            <p:ph type="tbl" idx="1"/>
          </p:nvPr>
        </p:nvGraphicFramePr>
        <p:xfrm>
          <a:off x="395288" y="1268413"/>
          <a:ext cx="8291512" cy="4497706"/>
        </p:xfrm>
        <a:graphic>
          <a:graphicData uri="http://schemas.openxmlformats.org/drawingml/2006/table">
            <a:tbl>
              <a:tblPr/>
              <a:tblGrid>
                <a:gridCol w="2805112"/>
                <a:gridCol w="2667000"/>
                <a:gridCol w="2819400"/>
              </a:tblGrid>
              <a:tr h="1103630">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en-US" altLang="zh-CN"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endParaRPr>
                    </a:p>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rPr>
                        <a:t>1952</a:t>
                      </a:r>
                      <a:r>
                        <a:rPr kumimoji="1" lang="zh-CN" altLang="en-US"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rPr>
                        <a:t>年</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en-US" altLang="zh-CN"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endParaRPr>
                    </a:p>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rPr>
                        <a:t>1956</a:t>
                      </a:r>
                      <a:r>
                        <a:rPr kumimoji="1" lang="zh-CN" altLang="en-US"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rPr>
                        <a:t>年</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1131888">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zh-CN" altLang="en-US"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rPr>
                        <a:t>社会主义工业</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rPr>
                        <a:t>56%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rPr>
                        <a:t>67.5%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1130300">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zh-CN" altLang="en-US"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rPr>
                        <a:t>国家资本主义工业</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rPr>
                        <a:t>26.9%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rPr>
                        <a:t>32.5%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1131888">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zh-CN" altLang="en-US"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rPr>
                        <a:t>资本主义工业</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rPr>
                        <a:t>17.1%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rPr>
                        <a:t>   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79896" name="Rectangle 31"/>
          <p:cNvSpPr/>
          <p:nvPr/>
        </p:nvSpPr>
        <p:spPr>
          <a:xfrm>
            <a:off x="2843213" y="476250"/>
            <a:ext cx="1970087" cy="519113"/>
          </a:xfrm>
          <a:prstGeom prst="rect">
            <a:avLst/>
          </a:prstGeom>
          <a:solidFill>
            <a:schemeClr val="bg1"/>
          </a:solidFill>
          <a:ln w="9525" cap="flat" cmpd="sng">
            <a:solidFill>
              <a:srgbClr val="FF0000"/>
            </a:solidFill>
            <a:prstDash val="solid"/>
            <a:miter/>
            <a:headEnd type="none" w="med" len="med"/>
            <a:tailEnd type="none" w="med" len="med"/>
          </a:ln>
        </p:spPr>
        <p:txBody>
          <a:bodyPr wrap="none" anchor="t">
            <a:spAutoFit/>
          </a:bodyPr>
          <a:lstStyle/>
          <a:p>
            <a:pPr lvl="0"/>
            <a:r>
              <a:rPr lang="zh-CN" altLang="en-US" sz="2800" b="1" dirty="0">
                <a:solidFill>
                  <a:srgbClr val="0000FF"/>
                </a:solidFill>
                <a:latin typeface="Arial" panose="020B0604020202020204" pitchFamily="34" charset="0"/>
                <a:ea typeface="黑体" panose="02010609060101010101" pitchFamily="49" charset="-122"/>
              </a:rPr>
              <a:t>工业总产值</a:t>
            </a:r>
          </a:p>
        </p:txBody>
      </p:sp>
    </p:spTree>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3"/>
          <p:cNvSpPr/>
          <p:nvPr/>
        </p:nvSpPr>
        <p:spPr>
          <a:xfrm>
            <a:off x="3348038" y="476250"/>
            <a:ext cx="2224087" cy="854075"/>
          </a:xfrm>
          <a:prstGeom prst="rect">
            <a:avLst/>
          </a:prstGeom>
          <a:solidFill>
            <a:schemeClr val="bg1"/>
          </a:solidFill>
          <a:ln w="9525" cap="flat" cmpd="sng">
            <a:solidFill>
              <a:srgbClr val="FF0000"/>
            </a:solidFill>
            <a:prstDash val="solid"/>
            <a:miter/>
            <a:headEnd type="none" w="med" len="med"/>
            <a:tailEnd type="none" w="med" len="med"/>
          </a:ln>
        </p:spPr>
        <p:txBody>
          <a:bodyPr wrap="none" anchor="t">
            <a:spAutoFit/>
          </a:bodyPr>
          <a:lstStyle/>
          <a:p>
            <a:pPr lvl="0"/>
            <a:r>
              <a:rPr lang="zh-CN" altLang="en-US" sz="3200" b="1" dirty="0">
                <a:solidFill>
                  <a:srgbClr val="0000FF"/>
                </a:solidFill>
                <a:latin typeface="Arial" panose="020B0604020202020204" pitchFamily="34" charset="0"/>
                <a:ea typeface="黑体" panose="02010609060101010101" pitchFamily="49" charset="-122"/>
              </a:rPr>
              <a:t>商品零售额</a:t>
            </a:r>
            <a:r>
              <a:rPr lang="zh-CN" altLang="en-US" b="1" dirty="0">
                <a:solidFill>
                  <a:srgbClr val="0000FF"/>
                </a:solidFill>
                <a:latin typeface="Arial" panose="020B0604020202020204" pitchFamily="34" charset="0"/>
                <a:ea typeface="宋体" panose="02010600030101010101" pitchFamily="2" charset="-122"/>
              </a:rPr>
              <a:t/>
            </a:r>
            <a:br>
              <a:rPr lang="zh-CN" altLang="en-US" b="1" dirty="0">
                <a:solidFill>
                  <a:srgbClr val="0000FF"/>
                </a:solidFill>
                <a:latin typeface="Arial" panose="020B0604020202020204" pitchFamily="34" charset="0"/>
                <a:ea typeface="宋体" panose="02010600030101010101" pitchFamily="2" charset="-122"/>
              </a:rPr>
            </a:br>
            <a:endParaRPr lang="zh-CN" altLang="en-US" b="1" dirty="0">
              <a:solidFill>
                <a:srgbClr val="0000FF"/>
              </a:solidFill>
              <a:latin typeface="Arial" panose="020B0604020202020204" pitchFamily="34" charset="0"/>
              <a:ea typeface="宋体" panose="02010600030101010101" pitchFamily="2" charset="-122"/>
            </a:endParaRPr>
          </a:p>
        </p:txBody>
      </p:sp>
      <p:graphicFrame>
        <p:nvGraphicFramePr>
          <p:cNvPr id="109594" name="Group 26"/>
          <p:cNvGraphicFramePr>
            <a:graphicFrameLocks noGrp="1"/>
          </p:cNvGraphicFramePr>
          <p:nvPr>
            <p:ph type="tbl" idx="1"/>
          </p:nvPr>
        </p:nvGraphicFramePr>
        <p:xfrm>
          <a:off x="611188" y="1268413"/>
          <a:ext cx="8229600" cy="4525964"/>
        </p:xfrm>
        <a:graphic>
          <a:graphicData uri="http://schemas.openxmlformats.org/drawingml/2006/table">
            <a:tbl>
              <a:tblPr/>
              <a:tblGrid>
                <a:gridCol w="2743200"/>
                <a:gridCol w="2743200"/>
                <a:gridCol w="2743200"/>
              </a:tblGrid>
              <a:tr h="1131888">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rPr>
                        <a:t>1956</a:t>
                      </a:r>
                      <a:r>
                        <a:rPr kumimoji="1" lang="zh-CN" altLang="en-US"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rPr>
                        <a:t>年</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rPr>
                        <a:t>1952</a:t>
                      </a:r>
                      <a:r>
                        <a:rPr kumimoji="1" lang="zh-CN" altLang="en-US"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rPr>
                        <a:t>年</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1131888">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zh-CN" altLang="en-US"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rPr>
                        <a:t>国营商业和供销合作社商业</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rPr>
                        <a:t>42.6%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rPr>
                        <a:t>68.3%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1130300">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zh-CN" altLang="en-US"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rPr>
                        <a:t>国家资本主义商业和由原来的小私商组织的合作化商业</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rPr>
                        <a:t>0.2%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rPr>
                        <a:t>27.5%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1131888">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zh-CN" altLang="en-US"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rPr>
                        <a:t>私营商业</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rPr>
                        <a:t>57.2%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49" charset="-122"/>
                        </a:rPr>
                        <a:t>4.2%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Tree>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2"/>
          <p:cNvSpPr>
            <a:spLocks noGrp="1"/>
          </p:cNvSpPr>
          <p:nvPr>
            <p:ph type="title"/>
          </p:nvPr>
        </p:nvSpPr>
        <p:spPr>
          <a:xfrm>
            <a:off x="1259632" y="1916832"/>
            <a:ext cx="6843092" cy="1449628"/>
          </a:xfrm>
          <a:solidFill>
            <a:schemeClr val="bg1"/>
          </a:solidFill>
          <a:ln w="12700">
            <a:solidFill>
              <a:srgbClr val="FF3300"/>
            </a:solidFill>
            <a:miter/>
          </a:ln>
        </p:spPr>
        <p:txBody>
          <a:bodyPr wrap="square" anchor="t">
            <a:spAutoFit/>
          </a:bodyPr>
          <a:lstStyle/>
          <a:p>
            <a:pPr algn="l">
              <a:lnSpc>
                <a:spcPct val="105000"/>
              </a:lnSpc>
              <a:spcBef>
                <a:spcPct val="50000"/>
              </a:spcBef>
            </a:pPr>
            <a:r>
              <a:rPr lang="en-US" altLang="zh-CN" sz="2800" b="1" dirty="0" smtClean="0">
                <a:solidFill>
                  <a:srgbClr val="0000FF"/>
                </a:solidFill>
              </a:rPr>
              <a:t>     1954</a:t>
            </a:r>
            <a:r>
              <a:rPr lang="zh-CN" altLang="zh-CN" sz="2800" b="1" dirty="0" smtClean="0">
                <a:solidFill>
                  <a:srgbClr val="0000FF"/>
                </a:solidFill>
              </a:rPr>
              <a:t>年</a:t>
            </a:r>
            <a:r>
              <a:rPr lang="en-US" altLang="zh-CN" sz="2800" b="1" dirty="0" smtClean="0">
                <a:solidFill>
                  <a:srgbClr val="0000FF"/>
                </a:solidFill>
              </a:rPr>
              <a:t>9</a:t>
            </a:r>
            <a:r>
              <a:rPr lang="zh-CN" altLang="zh-CN" sz="2800" b="1" dirty="0" smtClean="0">
                <a:solidFill>
                  <a:srgbClr val="0000FF"/>
                </a:solidFill>
              </a:rPr>
              <a:t>月，《中华人民共和国宪法》的制定及颁布施行，明确规定了我国人民民主专政的国体和人民代表大会的政体</a:t>
            </a:r>
            <a:endParaRPr lang="zh-CN" altLang="en-US" sz="2800" b="1" dirty="0">
              <a:solidFill>
                <a:srgbClr val="0000FF"/>
              </a:solidFill>
            </a:endParaRPr>
          </a:p>
        </p:txBody>
      </p:sp>
      <p:sp>
        <p:nvSpPr>
          <p:cNvPr id="3" name="矩形 2"/>
          <p:cNvSpPr/>
          <p:nvPr/>
        </p:nvSpPr>
        <p:spPr>
          <a:xfrm>
            <a:off x="755576" y="908720"/>
            <a:ext cx="1832553" cy="584775"/>
          </a:xfrm>
          <a:prstGeom prst="rect">
            <a:avLst/>
          </a:prstGeom>
          <a:ln>
            <a:solidFill>
              <a:schemeClr val="accent1"/>
            </a:solidFill>
          </a:ln>
        </p:spPr>
        <p:txBody>
          <a:bodyPr wrap="none">
            <a:spAutoFit/>
          </a:bodyPr>
          <a:lstStyle/>
          <a:p>
            <a:r>
              <a:rPr lang="zh-CN" altLang="en-US" sz="3200" b="1" dirty="0" smtClean="0">
                <a:solidFill>
                  <a:srgbClr val="FF0000"/>
                </a:solidFill>
                <a:latin typeface="Times New Roman" panose="02020603050405020304" pitchFamily="18" charset="0"/>
                <a:ea typeface="黑体" panose="02010609060101010101" pitchFamily="49" charset="-122"/>
              </a:rPr>
              <a:t>政治方面</a:t>
            </a:r>
            <a:endParaRPr lang="zh-CN" altLang="en-US" sz="3200" dirty="0">
              <a:solidFill>
                <a:srgbClr val="FF0000"/>
              </a:solidFill>
            </a:endParaRPr>
          </a:p>
        </p:txBody>
      </p:sp>
      <p:sp>
        <p:nvSpPr>
          <p:cNvPr id="4" name="Rectangle 2"/>
          <p:cNvSpPr txBox="1">
            <a:spLocks/>
          </p:cNvSpPr>
          <p:nvPr/>
        </p:nvSpPr>
        <p:spPr>
          <a:xfrm>
            <a:off x="1331640" y="3356992"/>
            <a:ext cx="6843092" cy="2354491"/>
          </a:xfrm>
          <a:prstGeom prst="rect">
            <a:avLst/>
          </a:prstGeom>
          <a:solidFill>
            <a:schemeClr val="bg1"/>
          </a:solidFill>
          <a:ln w="12700">
            <a:solidFill>
              <a:srgbClr val="FF3300"/>
            </a:solidFill>
            <a:miter/>
          </a:ln>
        </p:spPr>
        <p:txBody>
          <a:bodyPr vert="horz" wrap="square" rtlCol="0" anchor="t">
            <a:spAutoFit/>
          </a:bodyPr>
          <a:lstStyle/>
          <a:p>
            <a:pPr>
              <a:lnSpc>
                <a:spcPct val="105000"/>
              </a:lnSpc>
              <a:spcBef>
                <a:spcPct val="50000"/>
              </a:spcBef>
            </a:pPr>
            <a:r>
              <a:rPr kumimoji="0" lang="en-US" altLang="zh-CN" sz="2400" b="1" i="0" u="none" strike="noStrike" kern="1200" cap="none" spc="0" normalizeH="0" baseline="0" noProof="0" dirty="0" smtClean="0">
                <a:ln>
                  <a:noFill/>
                </a:ln>
                <a:solidFill>
                  <a:srgbClr val="FF0000"/>
                </a:solidFill>
                <a:effectLst/>
                <a:uLnTx/>
                <a:uFillTx/>
                <a:latin typeface="黑体" pitchFamily="49" charset="-122"/>
                <a:ea typeface="黑体" pitchFamily="49" charset="-122"/>
                <a:cs typeface="+mj-cs"/>
              </a:rPr>
              <a:t> </a:t>
            </a:r>
            <a:r>
              <a:rPr lang="en-US" altLang="zh-CN" sz="2400" noProof="0" dirty="0" smtClean="0">
                <a:solidFill>
                  <a:srgbClr val="FF0000"/>
                </a:solidFill>
              </a:rPr>
              <a:t>    </a:t>
            </a:r>
            <a:r>
              <a:rPr lang="zh-CN" altLang="zh-CN" sz="2800" b="1" dirty="0" smtClean="0">
                <a:solidFill>
                  <a:srgbClr val="FF0000"/>
                </a:solidFill>
                <a:latin typeface="+mj-lt"/>
                <a:ea typeface="+mj-ea"/>
                <a:cs typeface="+mj-cs"/>
              </a:rPr>
              <a:t>人民代表大会制度这一根本政治制度、中国共产党领导的多党合作和政治协商制度、民族区域自治制度这些基本政治制度的确立，表明我国由一个新民主主义的国家转变为社会主义国家。</a:t>
            </a:r>
          </a:p>
        </p:txBody>
      </p:sp>
    </p:spTree>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2"/>
          <p:cNvSpPr>
            <a:spLocks noGrp="1"/>
          </p:cNvSpPr>
          <p:nvPr>
            <p:ph type="title"/>
          </p:nvPr>
        </p:nvSpPr>
        <p:spPr>
          <a:xfrm>
            <a:off x="1079612" y="1700808"/>
            <a:ext cx="6843092" cy="435119"/>
          </a:xfrm>
          <a:solidFill>
            <a:schemeClr val="bg1"/>
          </a:solidFill>
          <a:ln w="12700">
            <a:solidFill>
              <a:srgbClr val="FF3300"/>
            </a:solidFill>
            <a:miter/>
          </a:ln>
        </p:spPr>
        <p:txBody>
          <a:bodyPr wrap="square" anchor="t">
            <a:spAutoFit/>
          </a:bodyPr>
          <a:lstStyle/>
          <a:p>
            <a:pPr algn="l">
              <a:lnSpc>
                <a:spcPct val="105000"/>
              </a:lnSpc>
              <a:spcBef>
                <a:spcPct val="50000"/>
              </a:spcBef>
            </a:pPr>
            <a:r>
              <a:rPr lang="en-US" altLang="zh-CN" sz="2400" b="1" dirty="0" smtClean="0">
                <a:solidFill>
                  <a:srgbClr val="FF0000"/>
                </a:solidFill>
                <a:latin typeface="+mj-ea"/>
              </a:rPr>
              <a:t>    </a:t>
            </a:r>
            <a:r>
              <a:rPr lang="zh-CN" altLang="zh-CN" sz="2400" b="1" dirty="0" smtClean="0">
                <a:solidFill>
                  <a:srgbClr val="FF0000"/>
                </a:solidFill>
                <a:latin typeface="+mj-ea"/>
              </a:rPr>
              <a:t>我国社会的阶级关系也发生了根本的变化</a:t>
            </a:r>
            <a:endParaRPr lang="zh-CN" altLang="en-US" sz="2400" b="1" dirty="0">
              <a:solidFill>
                <a:srgbClr val="FF0000"/>
              </a:solidFill>
              <a:latin typeface="+mj-ea"/>
            </a:endParaRPr>
          </a:p>
        </p:txBody>
      </p:sp>
      <p:sp>
        <p:nvSpPr>
          <p:cNvPr id="3" name="矩形 2"/>
          <p:cNvSpPr/>
          <p:nvPr/>
        </p:nvSpPr>
        <p:spPr>
          <a:xfrm>
            <a:off x="755576" y="908720"/>
            <a:ext cx="2656496" cy="584775"/>
          </a:xfrm>
          <a:prstGeom prst="rect">
            <a:avLst/>
          </a:prstGeom>
          <a:solidFill>
            <a:schemeClr val="bg1"/>
          </a:solidFill>
          <a:ln>
            <a:solidFill>
              <a:schemeClr val="accent1"/>
            </a:solidFill>
          </a:ln>
        </p:spPr>
        <p:txBody>
          <a:bodyPr wrap="none">
            <a:spAutoFit/>
          </a:bodyPr>
          <a:lstStyle/>
          <a:p>
            <a:r>
              <a:rPr lang="zh-CN" altLang="en-US" sz="3200" b="1" dirty="0" smtClean="0">
                <a:solidFill>
                  <a:srgbClr val="FF0000"/>
                </a:solidFill>
                <a:latin typeface="Times New Roman" panose="02020603050405020304" pitchFamily="18" charset="0"/>
                <a:ea typeface="黑体" panose="02010609060101010101" pitchFamily="49" charset="-122"/>
              </a:rPr>
              <a:t>阶级关系方面</a:t>
            </a:r>
            <a:endParaRPr lang="zh-CN" altLang="en-US" sz="3200" dirty="0">
              <a:solidFill>
                <a:srgbClr val="FF0000"/>
              </a:solidFill>
            </a:endParaRPr>
          </a:p>
        </p:txBody>
      </p:sp>
      <p:sp>
        <p:nvSpPr>
          <p:cNvPr id="4" name="Rectangle 2"/>
          <p:cNvSpPr txBox="1">
            <a:spLocks/>
          </p:cNvSpPr>
          <p:nvPr/>
        </p:nvSpPr>
        <p:spPr>
          <a:xfrm>
            <a:off x="899592" y="2492896"/>
            <a:ext cx="7203132" cy="2321661"/>
          </a:xfrm>
          <a:prstGeom prst="rect">
            <a:avLst/>
          </a:prstGeom>
          <a:solidFill>
            <a:schemeClr val="bg1"/>
          </a:solidFill>
          <a:ln w="12700">
            <a:solidFill>
              <a:srgbClr val="FF3300"/>
            </a:solidFill>
            <a:miter/>
          </a:ln>
        </p:spPr>
        <p:txBody>
          <a:bodyPr vert="horz" wrap="square" rtlCol="0" anchor="t">
            <a:spAutoFit/>
          </a:bodyPr>
          <a:lstStyle/>
          <a:p>
            <a:pPr>
              <a:lnSpc>
                <a:spcPct val="105000"/>
              </a:lnSpc>
              <a:spcBef>
                <a:spcPct val="50000"/>
              </a:spcBef>
            </a:pPr>
            <a:r>
              <a:rPr lang="en-US" altLang="zh-CN" sz="2400" b="1" dirty="0" smtClean="0">
                <a:solidFill>
                  <a:srgbClr val="0000FF"/>
                </a:solidFill>
              </a:rPr>
              <a:t>        </a:t>
            </a:r>
            <a:r>
              <a:rPr lang="zh-CN" altLang="zh-CN" sz="2800" b="1" dirty="0">
                <a:solidFill>
                  <a:srgbClr val="0000FF"/>
                </a:solidFill>
                <a:latin typeface="+mj-lt"/>
                <a:ea typeface="+mj-ea"/>
                <a:cs typeface="+mj-cs"/>
              </a:rPr>
              <a:t>帝国主义侵略势力已经被清除出中国大陆；官僚资产阶级已经在中国内地被消灭；原来的地主和富农正在被改造成为自食其力的劳动者；民族资产阶级分子被改造成自食其力的社会主义劳动者；</a:t>
            </a:r>
          </a:p>
        </p:txBody>
      </p:sp>
      <p:sp>
        <p:nvSpPr>
          <p:cNvPr id="5" name="Rectangle 2"/>
          <p:cNvSpPr txBox="1">
            <a:spLocks/>
          </p:cNvSpPr>
          <p:nvPr/>
        </p:nvSpPr>
        <p:spPr>
          <a:xfrm>
            <a:off x="1115616" y="5373216"/>
            <a:ext cx="6843092" cy="1449628"/>
          </a:xfrm>
          <a:prstGeom prst="rect">
            <a:avLst/>
          </a:prstGeom>
          <a:solidFill>
            <a:schemeClr val="bg1"/>
          </a:solidFill>
          <a:ln w="12700">
            <a:solidFill>
              <a:srgbClr val="FF3300"/>
            </a:solidFill>
            <a:miter/>
          </a:ln>
        </p:spPr>
        <p:txBody>
          <a:bodyPr vert="horz" wrap="square" rtlCol="0" anchor="t">
            <a:spAutoFit/>
          </a:bodyPr>
          <a:lstStyle/>
          <a:p>
            <a:pPr>
              <a:lnSpc>
                <a:spcPct val="105000"/>
              </a:lnSpc>
              <a:spcBef>
                <a:spcPct val="50000"/>
              </a:spcBef>
            </a:pPr>
            <a:r>
              <a:rPr lang="en-US" altLang="zh-CN" sz="2800" b="1" dirty="0">
                <a:solidFill>
                  <a:srgbClr val="0000FF"/>
                </a:solidFill>
                <a:latin typeface="+mj-lt"/>
                <a:ea typeface="+mj-ea"/>
                <a:cs typeface="+mj-cs"/>
              </a:rPr>
              <a:t>        </a:t>
            </a:r>
            <a:r>
              <a:rPr lang="zh-CN" altLang="zh-CN" sz="2800" b="1" dirty="0">
                <a:solidFill>
                  <a:srgbClr val="FF0000"/>
                </a:solidFill>
                <a:latin typeface="+mj-lt"/>
                <a:ea typeface="+mj-ea"/>
                <a:cs typeface="+mj-cs"/>
              </a:rPr>
              <a:t>广大劳动人民从此摆脱了被剥削被奴役的地位，成为掌握生产资料的国家和社会的主人以及掌握自己命运的主人</a:t>
            </a:r>
            <a:r>
              <a:rPr lang="zh-CN" altLang="zh-CN" sz="2800" b="1" dirty="0">
                <a:solidFill>
                  <a:srgbClr val="0000FF"/>
                </a:solidFill>
                <a:latin typeface="+mj-lt"/>
                <a:ea typeface="+mj-ea"/>
                <a:cs typeface="+mj-cs"/>
              </a:rPr>
              <a:t>。</a:t>
            </a:r>
          </a:p>
        </p:txBody>
      </p:sp>
    </p:spTree>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827584" y="1844824"/>
            <a:ext cx="7560840" cy="4893647"/>
          </a:xfrm>
          <a:prstGeom prst="rect">
            <a:avLst/>
          </a:prstGeom>
          <a:solidFill>
            <a:schemeClr val="bg2"/>
          </a:solidFill>
          <a:ln>
            <a:solidFill>
              <a:schemeClr val="accent1"/>
            </a:solidFill>
          </a:ln>
        </p:spPr>
        <p:txBody>
          <a:bodyPr wrap="square">
            <a:spAutoFit/>
          </a:bodyPr>
          <a:lstStyle/>
          <a:p>
            <a:r>
              <a:rPr lang="en-US" altLang="zh-CN" sz="2400" b="1" dirty="0" smtClean="0">
                <a:solidFill>
                  <a:srgbClr val="0000FF"/>
                </a:solidFill>
                <a:latin typeface="+mj-ea"/>
                <a:ea typeface="+mj-ea"/>
              </a:rPr>
              <a:t> </a:t>
            </a:r>
            <a:r>
              <a:rPr lang="zh-CN" altLang="zh-CN" sz="2400" b="1" dirty="0" smtClean="0">
                <a:solidFill>
                  <a:srgbClr val="0000FF"/>
                </a:solidFill>
                <a:latin typeface="+mj-ea"/>
                <a:ea typeface="+mj-ea"/>
              </a:rPr>
              <a:t>社会主义基本制度的确立是中国历史上最深刻最伟大的社会变革，为当代中国一切发展进步奠定了制度基础，也为中国特色社会主义制度的创新和发展提供了重要前提。</a:t>
            </a:r>
          </a:p>
          <a:p>
            <a:r>
              <a:rPr lang="en-US" altLang="zh-CN" sz="2400" b="1" dirty="0" smtClean="0">
                <a:solidFill>
                  <a:srgbClr val="0000FF"/>
                </a:solidFill>
                <a:latin typeface="+mj-ea"/>
                <a:ea typeface="+mj-ea"/>
              </a:rPr>
              <a:t>    </a:t>
            </a:r>
            <a:r>
              <a:rPr lang="zh-CN" altLang="zh-CN" sz="2400" b="1" dirty="0" smtClean="0">
                <a:solidFill>
                  <a:srgbClr val="0000FF"/>
                </a:solidFill>
                <a:latin typeface="+mj-ea"/>
                <a:ea typeface="+mj-ea"/>
              </a:rPr>
              <a:t>毛泽东同志毕生最突出最伟大的贡献，就是领导我们党和人民找到了新民主主义革命的正确道路，完成了反帝反封建的任务，建立了中华人民共和国，确立了社会主义基本制度，取得了社会主义建设的基础性成就，并为我们探索建设中国特色社会主义的道路积累了经验和提供了条件，为我们党和人民事业胜利发展、为中华民族阔步赶上时代发展潮流创造了根本前提，奠定了坚实的理论和实践基础。</a:t>
            </a:r>
          </a:p>
          <a:p>
            <a:r>
              <a:rPr lang="en-US" altLang="zh-CN" sz="2400" b="1" dirty="0" smtClean="0">
                <a:solidFill>
                  <a:srgbClr val="0000FF"/>
                </a:solidFill>
                <a:latin typeface="+mj-ea"/>
                <a:ea typeface="+mj-ea"/>
              </a:rPr>
              <a:t>                      </a:t>
            </a:r>
            <a:r>
              <a:rPr lang="zh-CN" altLang="zh-CN" sz="2400" b="1" dirty="0" smtClean="0">
                <a:solidFill>
                  <a:srgbClr val="0000FF"/>
                </a:solidFill>
                <a:latin typeface="+mj-ea"/>
                <a:ea typeface="+mj-ea"/>
              </a:rPr>
              <a:t>——习近平</a:t>
            </a:r>
            <a:endParaRPr lang="zh-CN" altLang="en-US" sz="2400" b="1" dirty="0">
              <a:solidFill>
                <a:srgbClr val="0000FF"/>
              </a:solidFill>
              <a:latin typeface="+mj-ea"/>
              <a:ea typeface="+mj-ea"/>
            </a:endParaRPr>
          </a:p>
        </p:txBody>
      </p:sp>
      <p:sp>
        <p:nvSpPr>
          <p:cNvPr id="3" name="矩形 2"/>
          <p:cNvSpPr/>
          <p:nvPr/>
        </p:nvSpPr>
        <p:spPr>
          <a:xfrm>
            <a:off x="539552" y="476672"/>
            <a:ext cx="7160935" cy="584775"/>
          </a:xfrm>
          <a:prstGeom prst="rect">
            <a:avLst/>
          </a:prstGeom>
          <a:solidFill>
            <a:schemeClr val="bg2"/>
          </a:solidFill>
          <a:ln>
            <a:solidFill>
              <a:schemeClr val="accent1"/>
            </a:solidFill>
          </a:ln>
        </p:spPr>
        <p:txBody>
          <a:bodyPr wrap="none">
            <a:spAutoFit/>
          </a:bodyPr>
          <a:lstStyle/>
          <a:p>
            <a:r>
              <a:rPr lang="zh-CN" altLang="en-US" sz="3200" b="1" dirty="0">
                <a:solidFill>
                  <a:srgbClr val="FF0000"/>
                </a:solidFill>
                <a:latin typeface="黑体" pitchFamily="49" charset="-122"/>
                <a:ea typeface="黑体" pitchFamily="49" charset="-122"/>
                <a:cs typeface="+mj-cs"/>
              </a:rPr>
              <a:t>二、确立社会主义基本制度的重大意义</a:t>
            </a:r>
          </a:p>
        </p:txBody>
      </p:sp>
    </p:spTree>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2"/>
          <p:cNvSpPr>
            <a:spLocks noGrp="1"/>
          </p:cNvSpPr>
          <p:nvPr>
            <p:ph type="title"/>
          </p:nvPr>
        </p:nvSpPr>
        <p:spPr>
          <a:xfrm>
            <a:off x="971600" y="908720"/>
            <a:ext cx="6705600" cy="1643527"/>
          </a:xfrm>
          <a:solidFill>
            <a:schemeClr val="bg1"/>
          </a:solidFill>
          <a:ln w="12700">
            <a:solidFill>
              <a:srgbClr val="FF3300"/>
            </a:solidFill>
            <a:miter/>
          </a:ln>
        </p:spPr>
        <p:txBody>
          <a:bodyPr anchor="t">
            <a:spAutoFit/>
          </a:bodyPr>
          <a:lstStyle/>
          <a:p>
            <a:pPr algn="l">
              <a:lnSpc>
                <a:spcPct val="105000"/>
              </a:lnSpc>
              <a:spcBef>
                <a:spcPct val="50000"/>
              </a:spcBef>
            </a:pPr>
            <a:r>
              <a:rPr lang="zh-CN" altLang="en-US" sz="2400" b="1" dirty="0">
                <a:ln>
                  <a:solidFill>
                    <a:srgbClr val="0000FF"/>
                  </a:solidFill>
                </a:ln>
                <a:solidFill>
                  <a:srgbClr val="FF0000"/>
                </a:solidFill>
                <a:latin typeface="+mj-ea"/>
              </a:rPr>
              <a:t> </a:t>
            </a:r>
            <a:r>
              <a:rPr lang="zh-CN" altLang="en-US" sz="2400" b="1" dirty="0" smtClean="0">
                <a:ln>
                  <a:solidFill>
                    <a:srgbClr val="0000FF"/>
                  </a:solidFill>
                </a:ln>
                <a:solidFill>
                  <a:srgbClr val="FF0000"/>
                </a:solidFill>
                <a:latin typeface="+mj-ea"/>
              </a:rPr>
              <a:t>    </a:t>
            </a:r>
            <a:r>
              <a:rPr lang="zh-CN" altLang="en-US" sz="2400" b="1" dirty="0" smtClean="0">
                <a:solidFill>
                  <a:srgbClr val="FF0000"/>
                </a:solidFill>
                <a:latin typeface="+mj-ea"/>
              </a:rPr>
              <a:t>第一</a:t>
            </a:r>
            <a:r>
              <a:rPr lang="zh-CN" altLang="en-US" sz="2400" b="1" dirty="0">
                <a:solidFill>
                  <a:srgbClr val="FF0000"/>
                </a:solidFill>
                <a:latin typeface="+mj-ea"/>
              </a:rPr>
              <a:t>，</a:t>
            </a:r>
            <a:r>
              <a:rPr lang="zh-CN" altLang="en-US" sz="2400" b="1" dirty="0" smtClean="0">
                <a:solidFill>
                  <a:srgbClr val="0000FF"/>
                </a:solidFill>
                <a:latin typeface="+mj-ea"/>
              </a:rPr>
              <a:t>社会主义制度的确立是中国历史上最深刻最伟大的社会变革，</a:t>
            </a:r>
            <a:r>
              <a:rPr lang="zh-CN" altLang="zh-CN" sz="2400" b="1" dirty="0" smtClean="0">
                <a:solidFill>
                  <a:srgbClr val="0000FF"/>
                </a:solidFill>
                <a:latin typeface="+mj-ea"/>
              </a:rPr>
              <a:t>为当代中国一切发展进步奠定了制度基础，也为中国特色社会主义制度的创新和发展提供了重要前提。</a:t>
            </a:r>
            <a:endParaRPr lang="zh-CN" altLang="en-US" sz="2400" b="1" dirty="0">
              <a:solidFill>
                <a:srgbClr val="0000FF"/>
              </a:solidFill>
              <a:latin typeface="+mj-ea"/>
            </a:endParaRPr>
          </a:p>
        </p:txBody>
      </p:sp>
      <p:sp>
        <p:nvSpPr>
          <p:cNvPr id="4" name="Rectangle 2"/>
          <p:cNvSpPr txBox="1">
            <a:spLocks/>
          </p:cNvSpPr>
          <p:nvPr/>
        </p:nvSpPr>
        <p:spPr>
          <a:xfrm>
            <a:off x="971600" y="2924944"/>
            <a:ext cx="6705600" cy="1772793"/>
          </a:xfrm>
          <a:prstGeom prst="rect">
            <a:avLst/>
          </a:prstGeom>
          <a:solidFill>
            <a:schemeClr val="bg1"/>
          </a:solidFill>
          <a:ln w="12700">
            <a:solidFill>
              <a:srgbClr val="FF3300"/>
            </a:solidFill>
            <a:miter/>
          </a:ln>
        </p:spPr>
        <p:txBody>
          <a:bodyPr vert="horz" rtlCol="0" anchor="t">
            <a:spAutoFit/>
          </a:bodyPr>
          <a:lstStyle/>
          <a:p>
            <a:pPr marL="0" marR="0" lvl="0" indent="0" algn="l" defTabSz="914400" rtl="0" eaLnBrk="1" fontAlgn="auto" latinLnBrk="0" hangingPunct="1">
              <a:lnSpc>
                <a:spcPct val="105000"/>
              </a:lnSpc>
              <a:spcBef>
                <a:spcPct val="50000"/>
              </a:spcBef>
              <a:spcAft>
                <a:spcPts val="0"/>
              </a:spcAft>
              <a:buClrTx/>
              <a:buSzTx/>
              <a:buFontTx/>
              <a:buNone/>
              <a:tabLst/>
              <a:defRPr/>
            </a:pPr>
            <a:r>
              <a:rPr kumimoji="0" lang="en-US" altLang="zh-CN" sz="2400" b="1" i="0" u="none" strike="noStrike" kern="1200" cap="none" spc="0" normalizeH="0" baseline="0" noProof="0" smtClean="0">
                <a:ln>
                  <a:noFill/>
                </a:ln>
                <a:solidFill>
                  <a:srgbClr val="0000FF"/>
                </a:solidFill>
                <a:effectLst/>
                <a:uLnTx/>
                <a:uFillTx/>
                <a:latin typeface="+mj-ea"/>
                <a:ea typeface="+mj-ea"/>
                <a:cs typeface="+mj-cs"/>
              </a:rPr>
              <a:t>    </a:t>
            </a:r>
            <a:r>
              <a:rPr kumimoji="0" lang="zh-CN" altLang="en-US" sz="2400" b="1" i="0" u="none" strike="noStrike" kern="1200" cap="none" spc="0" normalizeH="0" baseline="0" noProof="0" smtClean="0">
                <a:ln>
                  <a:noFill/>
                </a:ln>
                <a:solidFill>
                  <a:srgbClr val="FF0000"/>
                </a:solidFill>
                <a:effectLst/>
                <a:uLnTx/>
                <a:uFillTx/>
                <a:latin typeface="+mj-ea"/>
                <a:ea typeface="+mj-ea"/>
                <a:cs typeface="+mj-cs"/>
              </a:rPr>
              <a:t>第二，</a:t>
            </a:r>
            <a:r>
              <a:rPr kumimoji="0" lang="zh-CN" altLang="zh-CN" sz="2400" b="1" i="0" u="none" strike="noStrike" kern="1200" cap="none" spc="0" normalizeH="0" baseline="0" noProof="0" smtClean="0">
                <a:ln>
                  <a:noFill/>
                </a:ln>
                <a:solidFill>
                  <a:srgbClr val="0000FF"/>
                </a:solidFill>
                <a:effectLst/>
                <a:uLnTx/>
                <a:uFillTx/>
                <a:latin typeface="+mj-ea"/>
                <a:ea typeface="+mj-ea"/>
                <a:cs typeface="+mj-cs"/>
              </a:rPr>
              <a:t>社会主义基本制度的确立，极大地提高了工人阶级和广大劳动人民的积极性、创造性，极大地促进了我国社会生产力的发展</a:t>
            </a:r>
            <a:r>
              <a:rPr kumimoji="0" lang="zh-CN" altLang="zh-CN" sz="2800" b="0" i="0" u="none" strike="noStrike" kern="1200" cap="none" spc="0" normalizeH="0" baseline="0" noProof="0" smtClean="0">
                <a:ln>
                  <a:noFill/>
                </a:ln>
                <a:solidFill>
                  <a:schemeClr val="tx2"/>
                </a:solidFill>
                <a:effectLst/>
                <a:uLnTx/>
                <a:uFillTx/>
                <a:latin typeface="+mj-ea"/>
                <a:ea typeface="+mj-ea"/>
                <a:cs typeface="+mj-cs"/>
              </a:rPr>
              <a:t>。</a:t>
            </a:r>
            <a:r>
              <a:rPr kumimoji="0" lang="zh-CN" altLang="zh-CN" sz="2800" b="1" i="0" u="none" strike="noStrike" kern="1200" cap="none" spc="0" normalizeH="0" baseline="0" noProof="0" smtClean="0">
                <a:ln>
                  <a:noFill/>
                </a:ln>
                <a:solidFill>
                  <a:srgbClr val="0000FF"/>
                </a:solidFill>
                <a:effectLst/>
                <a:uLnTx/>
                <a:uFillTx/>
                <a:latin typeface="+mj-ea"/>
                <a:ea typeface="+mj-ea"/>
                <a:cs typeface="+mj-cs"/>
              </a:rPr>
              <a:t>初步显示了社会主义的优越性</a:t>
            </a:r>
            <a:endParaRPr kumimoji="0" lang="zh-CN" altLang="en-US" sz="2800" b="0" i="0" u="none" strike="noStrike" kern="1200" cap="none" spc="0" normalizeH="0" baseline="0" noProof="0" dirty="0">
              <a:ln>
                <a:noFill/>
              </a:ln>
              <a:solidFill>
                <a:srgbClr val="0000FF"/>
              </a:solidFill>
              <a:effectLst/>
              <a:uLnTx/>
              <a:uFillTx/>
              <a:latin typeface="+mj-ea"/>
              <a:ea typeface="+mj-ea"/>
              <a:cs typeface="+mj-cs"/>
            </a:endParaRPr>
          </a:p>
        </p:txBody>
      </p:sp>
      <p:sp>
        <p:nvSpPr>
          <p:cNvPr id="5" name="Rectangle 2"/>
          <p:cNvSpPr txBox="1">
            <a:spLocks/>
          </p:cNvSpPr>
          <p:nvPr/>
        </p:nvSpPr>
        <p:spPr>
          <a:xfrm>
            <a:off x="899592" y="5013176"/>
            <a:ext cx="6553200" cy="451598"/>
          </a:xfrm>
          <a:prstGeom prst="rect">
            <a:avLst/>
          </a:prstGeom>
          <a:solidFill>
            <a:schemeClr val="bg1"/>
          </a:solidFill>
          <a:ln w="12700">
            <a:solidFill>
              <a:srgbClr val="FF3300"/>
            </a:solidFill>
            <a:miter/>
          </a:ln>
        </p:spPr>
        <p:txBody>
          <a:bodyPr vert="horz" rtlCol="0" anchor="t">
            <a:spAutoFit/>
          </a:bodyPr>
          <a:lstStyle/>
          <a:p>
            <a:pPr marL="0" marR="0" lvl="0" indent="0" algn="l" defTabSz="914400" rtl="0" eaLnBrk="1" fontAlgn="auto" latinLnBrk="0" hangingPunct="1">
              <a:lnSpc>
                <a:spcPct val="105000"/>
              </a:lnSpc>
              <a:spcBef>
                <a:spcPct val="50000"/>
              </a:spcBef>
              <a:spcAft>
                <a:spcPts val="0"/>
              </a:spcAft>
              <a:buClrTx/>
              <a:buSzTx/>
              <a:buFontTx/>
              <a:buNone/>
              <a:tabLst/>
              <a:defRPr/>
            </a:pPr>
            <a:r>
              <a:rPr lang="en-US" altLang="zh-CN" sz="2400" b="1" dirty="0">
                <a:solidFill>
                  <a:srgbClr val="FF0000"/>
                </a:solidFill>
                <a:latin typeface="+mj-ea"/>
                <a:ea typeface="+mj-ea"/>
                <a:cs typeface="+mj-cs"/>
              </a:rPr>
              <a:t>   </a:t>
            </a:r>
            <a:r>
              <a:rPr lang="zh-CN" altLang="en-US" sz="2400" b="1" dirty="0" smtClean="0">
                <a:solidFill>
                  <a:srgbClr val="FF0000"/>
                </a:solidFill>
                <a:latin typeface="+mj-ea"/>
                <a:ea typeface="+mj-ea"/>
                <a:cs typeface="+mj-cs"/>
              </a:rPr>
              <a:t>第三</a:t>
            </a:r>
            <a:r>
              <a:rPr lang="zh-CN" altLang="en-US" sz="2400" b="1" dirty="0">
                <a:solidFill>
                  <a:srgbClr val="FF0000"/>
                </a:solidFill>
                <a:latin typeface="+mj-ea"/>
                <a:ea typeface="+mj-ea"/>
                <a:cs typeface="+mj-cs"/>
              </a:rPr>
              <a:t>，</a:t>
            </a:r>
            <a:r>
              <a:rPr kumimoji="0" lang="zh-CN" altLang="en-US" sz="2400" b="1" i="0" u="none" strike="noStrike" kern="1200" cap="none" spc="0" normalizeH="0" baseline="0" noProof="0" dirty="0" smtClean="0">
                <a:ln>
                  <a:noFill/>
                </a:ln>
                <a:solidFill>
                  <a:srgbClr val="0000FF"/>
                </a:solidFill>
                <a:effectLst/>
                <a:uLnTx/>
                <a:uFillTx/>
                <a:latin typeface="+mj-ea"/>
                <a:ea typeface="+mj-ea"/>
                <a:cs typeface="+mj-cs"/>
              </a:rPr>
              <a:t>促进了</a:t>
            </a:r>
            <a:r>
              <a:rPr kumimoji="0" lang="zh-CN" altLang="zh-CN" sz="2400" b="1" i="0" u="none" strike="noStrike" kern="1200" cap="none" spc="0" normalizeH="0" baseline="0" noProof="0" dirty="0" smtClean="0">
                <a:ln>
                  <a:noFill/>
                </a:ln>
                <a:solidFill>
                  <a:srgbClr val="0000FF"/>
                </a:solidFill>
                <a:effectLst/>
                <a:uLnTx/>
                <a:uFillTx/>
                <a:latin typeface="+mj-ea"/>
                <a:ea typeface="+mj-ea"/>
                <a:cs typeface="+mj-cs"/>
              </a:rPr>
              <a:t>我国社会生产力的发展</a:t>
            </a:r>
            <a:r>
              <a:rPr kumimoji="0" lang="zh-CN" altLang="en-US" sz="2400" b="1" i="0" u="none" strike="noStrike" kern="1200" cap="none" spc="0" normalizeH="0" baseline="0" noProof="0" dirty="0" smtClean="0">
                <a:ln>
                  <a:noFill/>
                </a:ln>
                <a:solidFill>
                  <a:srgbClr val="0000FF"/>
                </a:solidFill>
                <a:effectLst/>
                <a:uLnTx/>
                <a:uFillTx/>
                <a:latin typeface="+mj-ea"/>
                <a:ea typeface="+mj-ea"/>
                <a:cs typeface="+mj-cs"/>
              </a:rPr>
              <a:t>。</a:t>
            </a:r>
            <a:endParaRPr kumimoji="0" lang="zh-CN" altLang="en-US" sz="2400" b="1" i="0" u="none" strike="noStrike" kern="1200" cap="none" spc="0" normalizeH="0" baseline="0" noProof="0" dirty="0">
              <a:ln>
                <a:noFill/>
              </a:ln>
              <a:solidFill>
                <a:srgbClr val="0000FF"/>
              </a:solidFill>
              <a:effectLst/>
              <a:uLnTx/>
              <a:uFillTx/>
              <a:latin typeface="+mj-ea"/>
              <a:ea typeface="+mj-ea"/>
              <a:cs typeface="+mj-cs"/>
            </a:endParaRPr>
          </a:p>
        </p:txBody>
      </p:sp>
    </p:spTree>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p:cNvSpPr>
          <p:nvPr/>
        </p:nvSpPr>
        <p:spPr>
          <a:xfrm>
            <a:off x="1331640" y="2348880"/>
            <a:ext cx="6781800" cy="2390591"/>
          </a:xfrm>
          <a:prstGeom prst="rect">
            <a:avLst/>
          </a:prstGeom>
          <a:solidFill>
            <a:schemeClr val="bg1"/>
          </a:solidFill>
          <a:ln w="12700">
            <a:solidFill>
              <a:srgbClr val="FF3300"/>
            </a:solidFill>
            <a:miter/>
          </a:ln>
        </p:spPr>
        <p:txBody>
          <a:bodyPr vert="horz" rtlCol="0" anchor="t">
            <a:spAutoFit/>
          </a:bodyPr>
          <a:lstStyle/>
          <a:p>
            <a:pPr lvl="0">
              <a:lnSpc>
                <a:spcPct val="105000"/>
              </a:lnSpc>
              <a:spcBef>
                <a:spcPct val="50000"/>
              </a:spcBef>
            </a:pPr>
            <a:r>
              <a:rPr lang="en-US" altLang="zh-CN" sz="2400" b="1" dirty="0" smtClean="0">
                <a:solidFill>
                  <a:srgbClr val="0000FF"/>
                </a:solidFill>
                <a:latin typeface="+mj-ea"/>
                <a:ea typeface="+mj-ea"/>
                <a:cs typeface="+mj-cs"/>
              </a:rPr>
              <a:t>     </a:t>
            </a:r>
            <a:r>
              <a:rPr lang="zh-CN" altLang="en-US" sz="2400" b="1" dirty="0" smtClean="0">
                <a:solidFill>
                  <a:srgbClr val="0000FF"/>
                </a:solidFill>
                <a:latin typeface="+mj-ea"/>
                <a:ea typeface="+mj-ea"/>
                <a:cs typeface="+mj-cs"/>
              </a:rPr>
              <a:t>第四，</a:t>
            </a:r>
            <a:r>
              <a:rPr lang="zh-CN" altLang="zh-CN" sz="2400" b="1" dirty="0" smtClean="0">
                <a:solidFill>
                  <a:srgbClr val="0000FF"/>
                </a:solidFill>
                <a:latin typeface="+mj-ea"/>
                <a:ea typeface="+mj-ea"/>
                <a:cs typeface="+mj-cs"/>
              </a:rPr>
              <a:t>中国社会主义基本制度的确立，使占世界人口</a:t>
            </a:r>
            <a:r>
              <a:rPr lang="en-US" altLang="zh-CN" sz="2400" b="1" dirty="0" smtClean="0">
                <a:solidFill>
                  <a:srgbClr val="0000FF"/>
                </a:solidFill>
                <a:latin typeface="+mj-ea"/>
                <a:ea typeface="+mj-ea"/>
                <a:cs typeface="+mj-cs"/>
              </a:rPr>
              <a:t>1/4</a:t>
            </a:r>
            <a:r>
              <a:rPr lang="zh-CN" altLang="zh-CN" sz="2400" b="1" dirty="0" smtClean="0">
                <a:solidFill>
                  <a:srgbClr val="0000FF"/>
                </a:solidFill>
                <a:latin typeface="+mj-ea"/>
                <a:ea typeface="+mj-ea"/>
                <a:cs typeface="+mj-cs"/>
              </a:rPr>
              <a:t>的东方大国进入了社会主义社会，这是世界社会主义发展史上又一个历史性的伟大胜利。它进一步改变了世界政治经济格局，增强了社会主义的力量，对维护世界和平产生了积极影响。</a:t>
            </a:r>
            <a:endParaRPr lang="zh-CN" altLang="en-US" sz="2400" b="1" dirty="0" smtClean="0">
              <a:solidFill>
                <a:srgbClr val="0000FF"/>
              </a:solidFill>
              <a:latin typeface="+mj-ea"/>
              <a:ea typeface="+mj-ea"/>
              <a:cs typeface="+mj-cs"/>
            </a:endParaRPr>
          </a:p>
        </p:txBody>
      </p:sp>
    </p:spTree>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Rectangle 2"/>
          <p:cNvSpPr>
            <a:spLocks noGrp="1"/>
          </p:cNvSpPr>
          <p:nvPr>
            <p:ph type="title"/>
          </p:nvPr>
        </p:nvSpPr>
        <p:spPr>
          <a:xfrm>
            <a:off x="1115616" y="1844824"/>
            <a:ext cx="6781800" cy="3046988"/>
          </a:xfrm>
          <a:solidFill>
            <a:schemeClr val="bg1"/>
          </a:solidFill>
          <a:ln w="12700">
            <a:solidFill>
              <a:srgbClr val="FF3300"/>
            </a:solidFill>
            <a:miter/>
          </a:ln>
        </p:spPr>
        <p:txBody>
          <a:bodyPr anchor="t">
            <a:spAutoFit/>
          </a:bodyPr>
          <a:lstStyle/>
          <a:p>
            <a:pPr algn="l"/>
            <a:r>
              <a:rPr lang="en-US" altLang="zh-CN" sz="2400" b="1" dirty="0" smtClean="0">
                <a:solidFill>
                  <a:srgbClr val="0000FF"/>
                </a:solidFill>
                <a:latin typeface="+mj-ea"/>
              </a:rPr>
              <a:t>     </a:t>
            </a:r>
            <a:r>
              <a:rPr lang="zh-CN" altLang="zh-CN" sz="2400" b="1" dirty="0" smtClean="0">
                <a:solidFill>
                  <a:srgbClr val="0000FF"/>
                </a:solidFill>
                <a:latin typeface="+mj-ea"/>
              </a:rPr>
              <a:t>社会主义</a:t>
            </a:r>
            <a:r>
              <a:rPr lang="zh-CN" altLang="zh-CN" sz="2400" b="1" dirty="0">
                <a:solidFill>
                  <a:srgbClr val="0000FF"/>
                </a:solidFill>
                <a:latin typeface="+mj-ea"/>
              </a:rPr>
              <a:t>基本制度的确立，是以毛泽东为主要代表的中国共产党人对一个脱胎于半殖民地半封建的东方大国如何进行社会主义革命问题的系统回答和正确解决，是马克思列宁主义关于社会主义革命理论在中国的正确运用和创造性发展的结果。它不仅再次证明了马克思列宁主义的真理性，而且以其独创性的理论原则和经验总结丰富和发展了科学社会主义</a:t>
            </a:r>
            <a:endParaRPr lang="zh-CN" altLang="en-US" sz="2400" b="1" dirty="0">
              <a:solidFill>
                <a:srgbClr val="0000FF"/>
              </a:solidFill>
              <a:latin typeface="+mj-ea"/>
            </a:endParaRPr>
          </a:p>
        </p:txBody>
      </p:sp>
    </p:spTree>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11560" y="1412776"/>
            <a:ext cx="8208912" cy="4093428"/>
          </a:xfrm>
          <a:prstGeom prst="rect">
            <a:avLst/>
          </a:prstGeom>
          <a:solidFill>
            <a:schemeClr val="bg2"/>
          </a:solidFill>
          <a:ln>
            <a:solidFill>
              <a:schemeClr val="accent1"/>
            </a:solidFill>
          </a:ln>
        </p:spPr>
        <p:txBody>
          <a:bodyPr wrap="square">
            <a:spAutoFit/>
          </a:bodyPr>
          <a:lstStyle/>
          <a:p>
            <a:r>
              <a:rPr lang="en-US" altLang="zh-CN" sz="2000" b="1" dirty="0" smtClean="0">
                <a:latin typeface="+mj-ea"/>
                <a:ea typeface="+mj-ea"/>
              </a:rPr>
              <a:t>    </a:t>
            </a:r>
            <a:r>
              <a:rPr lang="zh-CN" altLang="zh-CN" sz="2000" b="1" dirty="0" smtClean="0">
                <a:latin typeface="+mj-ea"/>
                <a:ea typeface="+mj-ea"/>
              </a:rPr>
              <a:t>中华人民共和国成立后，我国开始了从新民主主义到社会主义的转变。这一时期中国社会的性质是新民主主义社会。新民主主义社会是一个过渡性的社会，通过社会主义改造转变到社会主义社会是历史发展的必然。</a:t>
            </a:r>
          </a:p>
          <a:p>
            <a:r>
              <a:rPr lang="en-US" altLang="zh-CN" sz="2000" b="1" dirty="0" smtClean="0">
                <a:latin typeface="+mj-ea"/>
                <a:ea typeface="+mj-ea"/>
              </a:rPr>
              <a:t>    </a:t>
            </a:r>
            <a:r>
              <a:rPr lang="zh-CN" altLang="zh-CN" sz="2000" b="1" dirty="0" smtClean="0">
                <a:latin typeface="+mj-ea"/>
                <a:ea typeface="+mj-ea"/>
              </a:rPr>
              <a:t>党根据马克思列宁主义基本原理，结合我国具体实际，创造性地开辟了一条适合中国特点的社会主义改造道路，成功地完成了生产资料私有制的社会主义改造，实现了中国历史上最深刻最伟大的社会变革，积累了宝贵的历史经验。</a:t>
            </a:r>
          </a:p>
          <a:p>
            <a:r>
              <a:rPr lang="en-US" altLang="zh-CN" sz="2000" b="1" dirty="0" smtClean="0">
                <a:latin typeface="+mj-ea"/>
                <a:ea typeface="+mj-ea"/>
              </a:rPr>
              <a:t>    </a:t>
            </a:r>
            <a:r>
              <a:rPr lang="zh-CN" altLang="zh-CN" sz="2000" b="1" dirty="0" smtClean="0">
                <a:latin typeface="+mj-ea"/>
                <a:ea typeface="+mj-ea"/>
              </a:rPr>
              <a:t>中华人民共和国的成立和社会主义基本制度的确立，是</a:t>
            </a:r>
            <a:r>
              <a:rPr lang="en-US" altLang="zh-CN" sz="2000" b="1" dirty="0" smtClean="0">
                <a:latin typeface="+mj-ea"/>
                <a:ea typeface="+mj-ea"/>
              </a:rPr>
              <a:t>20</a:t>
            </a:r>
            <a:r>
              <a:rPr lang="zh-CN" altLang="zh-CN" sz="2000" b="1" dirty="0" smtClean="0">
                <a:latin typeface="+mj-ea"/>
                <a:ea typeface="+mj-ea"/>
              </a:rPr>
              <a:t>世纪中国一次划时代的历史巨变，也是世界社会主义发展史上又一个历史性的伟大胜利，为当代中国一切发展进步奠定了根本的政治前提和制度基础，实现了中华民族由近代不断衰落到根本扭转命运、持续走向繁荣富强的伟大飞跃。</a:t>
            </a:r>
            <a:endParaRPr lang="zh-CN" altLang="en-US" sz="2000" b="1" dirty="0">
              <a:latin typeface="+mj-ea"/>
              <a:ea typeface="+mj-ea"/>
            </a:endParaRPr>
          </a:p>
        </p:txBody>
      </p:sp>
      <p:sp>
        <p:nvSpPr>
          <p:cNvPr id="5" name="矩形 4"/>
          <p:cNvSpPr/>
          <p:nvPr/>
        </p:nvSpPr>
        <p:spPr>
          <a:xfrm>
            <a:off x="899592" y="476672"/>
            <a:ext cx="1620957" cy="523220"/>
          </a:xfrm>
          <a:prstGeom prst="rect">
            <a:avLst/>
          </a:prstGeom>
          <a:solidFill>
            <a:schemeClr val="bg2"/>
          </a:solidFill>
          <a:ln>
            <a:solidFill>
              <a:schemeClr val="accent1"/>
            </a:solidFill>
          </a:ln>
        </p:spPr>
        <p:txBody>
          <a:bodyPr wrap="none">
            <a:spAutoFit/>
          </a:bodyPr>
          <a:lstStyle/>
          <a:p>
            <a:r>
              <a:rPr lang="zh-CN" altLang="zh-CN" sz="2800" b="1" dirty="0" smtClean="0">
                <a:solidFill>
                  <a:srgbClr val="FF0000"/>
                </a:solidFill>
                <a:latin typeface="+mj-ea"/>
                <a:ea typeface="+mj-ea"/>
              </a:rPr>
              <a:t>本章小结</a:t>
            </a:r>
          </a:p>
        </p:txBody>
      </p:sp>
    </p:spTree>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899592" y="3645024"/>
            <a:ext cx="6840760" cy="2862322"/>
          </a:xfrm>
          <a:prstGeom prst="rect">
            <a:avLst/>
          </a:prstGeom>
          <a:solidFill>
            <a:schemeClr val="bg2"/>
          </a:solidFill>
          <a:ln>
            <a:solidFill>
              <a:schemeClr val="accent1"/>
            </a:solidFill>
          </a:ln>
        </p:spPr>
        <p:txBody>
          <a:bodyPr wrap="square">
            <a:spAutoFit/>
          </a:bodyPr>
          <a:lstStyle/>
          <a:p>
            <a:r>
              <a:rPr lang="en-US" altLang="zh-CN" sz="2000" b="1" dirty="0" smtClean="0">
                <a:solidFill>
                  <a:srgbClr val="0000FF"/>
                </a:solidFill>
                <a:latin typeface="+mj-ea"/>
                <a:ea typeface="+mj-ea"/>
              </a:rPr>
              <a:t>1</a:t>
            </a:r>
            <a:r>
              <a:rPr lang="zh-CN" altLang="zh-CN" sz="2000" b="1" dirty="0" smtClean="0">
                <a:solidFill>
                  <a:srgbClr val="0000FF"/>
                </a:solidFill>
                <a:latin typeface="+mj-ea"/>
                <a:ea typeface="+mj-ea"/>
              </a:rPr>
              <a:t>．《中国人民政治协商会议共同纲领》，《建国以来重要文献选编》第一册，中央文献出版社</a:t>
            </a:r>
            <a:r>
              <a:rPr lang="en-US" altLang="zh-CN" sz="2000" b="1" dirty="0" smtClean="0">
                <a:solidFill>
                  <a:srgbClr val="0000FF"/>
                </a:solidFill>
                <a:latin typeface="+mj-ea"/>
                <a:ea typeface="+mj-ea"/>
              </a:rPr>
              <a:t>2011</a:t>
            </a:r>
            <a:r>
              <a:rPr lang="zh-CN" altLang="zh-CN" sz="2000" b="1" dirty="0" smtClean="0">
                <a:solidFill>
                  <a:srgbClr val="0000FF"/>
                </a:solidFill>
                <a:latin typeface="+mj-ea"/>
                <a:ea typeface="+mj-ea"/>
              </a:rPr>
              <a:t>年版。</a:t>
            </a:r>
          </a:p>
          <a:p>
            <a:r>
              <a:rPr lang="en-US" altLang="zh-CN" sz="2000" b="1" dirty="0" smtClean="0">
                <a:solidFill>
                  <a:srgbClr val="0000FF"/>
                </a:solidFill>
                <a:latin typeface="+mj-ea"/>
                <a:ea typeface="+mj-ea"/>
              </a:rPr>
              <a:t>    2</a:t>
            </a:r>
            <a:r>
              <a:rPr lang="zh-CN" altLang="zh-CN" sz="2000" b="1" dirty="0" smtClean="0">
                <a:solidFill>
                  <a:srgbClr val="0000FF"/>
                </a:solidFill>
                <a:latin typeface="+mj-ea"/>
                <a:ea typeface="+mj-ea"/>
              </a:rPr>
              <a:t>．毛泽东：《在中国共产党第七届中央委员会第二次全体会议上的报告》，《毛泽东选集》第四卷，人民出版社</a:t>
            </a:r>
            <a:r>
              <a:rPr lang="en-US" altLang="zh-CN" sz="2000" b="1" dirty="0" smtClean="0">
                <a:solidFill>
                  <a:srgbClr val="0000FF"/>
                </a:solidFill>
                <a:latin typeface="+mj-ea"/>
                <a:ea typeface="+mj-ea"/>
              </a:rPr>
              <a:t>1991</a:t>
            </a:r>
            <a:r>
              <a:rPr lang="zh-CN" altLang="zh-CN" sz="2000" b="1" dirty="0" smtClean="0">
                <a:solidFill>
                  <a:srgbClr val="0000FF"/>
                </a:solidFill>
                <a:latin typeface="+mj-ea"/>
                <a:ea typeface="+mj-ea"/>
              </a:rPr>
              <a:t>年版。</a:t>
            </a:r>
          </a:p>
          <a:p>
            <a:r>
              <a:rPr lang="en-US" altLang="zh-CN" sz="2000" b="1" dirty="0" smtClean="0">
                <a:solidFill>
                  <a:srgbClr val="0000FF"/>
                </a:solidFill>
                <a:latin typeface="+mj-ea"/>
                <a:ea typeface="+mj-ea"/>
              </a:rPr>
              <a:t>    3</a:t>
            </a:r>
            <a:r>
              <a:rPr lang="zh-CN" altLang="zh-CN" sz="2000" b="1" dirty="0" smtClean="0">
                <a:solidFill>
                  <a:srgbClr val="0000FF"/>
                </a:solidFill>
                <a:latin typeface="+mj-ea"/>
                <a:ea typeface="+mj-ea"/>
              </a:rPr>
              <a:t>．毛泽东：《革命的转变和党在过渡时期的总路线》，《毛泽东文集》第六卷，人民出版社</a:t>
            </a:r>
            <a:r>
              <a:rPr lang="en-US" altLang="zh-CN" sz="2000" b="1" dirty="0" smtClean="0">
                <a:solidFill>
                  <a:srgbClr val="0000FF"/>
                </a:solidFill>
                <a:latin typeface="+mj-ea"/>
                <a:ea typeface="+mj-ea"/>
              </a:rPr>
              <a:t>1999</a:t>
            </a:r>
            <a:r>
              <a:rPr lang="zh-CN" altLang="zh-CN" sz="2000" b="1" dirty="0" smtClean="0">
                <a:solidFill>
                  <a:srgbClr val="0000FF"/>
                </a:solidFill>
                <a:latin typeface="+mj-ea"/>
                <a:ea typeface="+mj-ea"/>
              </a:rPr>
              <a:t>年版。</a:t>
            </a:r>
          </a:p>
          <a:p>
            <a:r>
              <a:rPr lang="en-US" altLang="zh-CN" sz="2000" b="1" dirty="0" smtClean="0">
                <a:solidFill>
                  <a:srgbClr val="0000FF"/>
                </a:solidFill>
                <a:latin typeface="+mj-ea"/>
                <a:ea typeface="+mj-ea"/>
              </a:rPr>
              <a:t>    4</a:t>
            </a:r>
            <a:r>
              <a:rPr lang="zh-CN" altLang="zh-CN" sz="2000" b="1" dirty="0" smtClean="0">
                <a:solidFill>
                  <a:srgbClr val="0000FF"/>
                </a:solidFill>
                <a:latin typeface="+mj-ea"/>
                <a:ea typeface="+mj-ea"/>
              </a:rPr>
              <a:t>．毛泽东：《关于国家资本主义经济》，《毛泽东文集》第六卷，人民出版社</a:t>
            </a:r>
            <a:r>
              <a:rPr lang="en-US" altLang="zh-CN" sz="2000" b="1" dirty="0" smtClean="0">
                <a:solidFill>
                  <a:srgbClr val="0000FF"/>
                </a:solidFill>
                <a:latin typeface="+mj-ea"/>
                <a:ea typeface="+mj-ea"/>
              </a:rPr>
              <a:t>1999</a:t>
            </a:r>
            <a:r>
              <a:rPr lang="zh-CN" altLang="zh-CN" sz="2000" b="1" dirty="0" smtClean="0">
                <a:solidFill>
                  <a:srgbClr val="0000FF"/>
                </a:solidFill>
                <a:latin typeface="+mj-ea"/>
                <a:ea typeface="+mj-ea"/>
              </a:rPr>
              <a:t>年版。</a:t>
            </a:r>
          </a:p>
        </p:txBody>
      </p:sp>
      <p:sp>
        <p:nvSpPr>
          <p:cNvPr id="5" name="矩形 4"/>
          <p:cNvSpPr/>
          <p:nvPr/>
        </p:nvSpPr>
        <p:spPr>
          <a:xfrm>
            <a:off x="755576" y="332656"/>
            <a:ext cx="1107996" cy="461665"/>
          </a:xfrm>
          <a:prstGeom prst="rect">
            <a:avLst/>
          </a:prstGeom>
          <a:solidFill>
            <a:schemeClr val="bg2"/>
          </a:solidFill>
          <a:ln>
            <a:solidFill>
              <a:schemeClr val="accent1"/>
            </a:solidFill>
          </a:ln>
        </p:spPr>
        <p:txBody>
          <a:bodyPr wrap="none">
            <a:spAutoFit/>
          </a:bodyPr>
          <a:lstStyle/>
          <a:p>
            <a:r>
              <a:rPr lang="zh-CN" altLang="zh-CN" sz="2400" dirty="0" smtClean="0">
                <a:solidFill>
                  <a:srgbClr val="FF0000"/>
                </a:solidFill>
                <a:latin typeface="+mj-ea"/>
                <a:ea typeface="+mj-ea"/>
              </a:rPr>
              <a:t>思考题</a:t>
            </a:r>
          </a:p>
        </p:txBody>
      </p:sp>
      <p:sp>
        <p:nvSpPr>
          <p:cNvPr id="6" name="矩形 5"/>
          <p:cNvSpPr/>
          <p:nvPr/>
        </p:nvSpPr>
        <p:spPr>
          <a:xfrm>
            <a:off x="971600" y="1340768"/>
            <a:ext cx="5976664" cy="1323439"/>
          </a:xfrm>
          <a:prstGeom prst="rect">
            <a:avLst/>
          </a:prstGeom>
          <a:solidFill>
            <a:schemeClr val="bg2"/>
          </a:solidFill>
          <a:ln>
            <a:solidFill>
              <a:schemeClr val="accent1"/>
            </a:solidFill>
          </a:ln>
        </p:spPr>
        <p:txBody>
          <a:bodyPr wrap="square">
            <a:spAutoFit/>
          </a:bodyPr>
          <a:lstStyle/>
          <a:p>
            <a:r>
              <a:rPr lang="en-US" altLang="zh-CN" sz="2000" b="1" dirty="0" smtClean="0">
                <a:solidFill>
                  <a:srgbClr val="0000FF"/>
                </a:solidFill>
                <a:latin typeface="+mj-ea"/>
                <a:ea typeface="+mj-ea"/>
              </a:rPr>
              <a:t>1</a:t>
            </a:r>
            <a:r>
              <a:rPr lang="zh-CN" altLang="en-US" sz="2000" b="1" dirty="0" smtClean="0">
                <a:solidFill>
                  <a:srgbClr val="0000FF"/>
                </a:solidFill>
                <a:latin typeface="+mj-ea"/>
                <a:ea typeface="+mj-ea"/>
              </a:rPr>
              <a:t>、</a:t>
            </a:r>
            <a:r>
              <a:rPr lang="zh-CN" altLang="zh-CN" sz="2000" b="1" dirty="0" smtClean="0">
                <a:solidFill>
                  <a:srgbClr val="0000FF"/>
                </a:solidFill>
                <a:latin typeface="+mj-ea"/>
                <a:ea typeface="+mj-ea"/>
              </a:rPr>
              <a:t>为什么说新民主主义社会是一个过渡性社会？</a:t>
            </a:r>
          </a:p>
          <a:p>
            <a:r>
              <a:rPr lang="en-US" altLang="zh-CN" sz="2000" b="1" dirty="0" smtClean="0">
                <a:solidFill>
                  <a:srgbClr val="0000FF"/>
                </a:solidFill>
                <a:latin typeface="+mj-ea"/>
                <a:ea typeface="+mj-ea"/>
              </a:rPr>
              <a:t>2</a:t>
            </a:r>
            <a:r>
              <a:rPr lang="zh-CN" altLang="en-US" sz="2000" b="1" dirty="0" smtClean="0">
                <a:solidFill>
                  <a:srgbClr val="0000FF"/>
                </a:solidFill>
                <a:latin typeface="+mj-ea"/>
                <a:ea typeface="+mj-ea"/>
              </a:rPr>
              <a:t>、</a:t>
            </a:r>
            <a:r>
              <a:rPr lang="zh-CN" altLang="zh-CN" sz="2000" b="1" dirty="0" smtClean="0">
                <a:solidFill>
                  <a:srgbClr val="0000FF"/>
                </a:solidFill>
                <a:latin typeface="+mj-ea"/>
                <a:ea typeface="+mj-ea"/>
              </a:rPr>
              <a:t>怎样理解党在过渡时期的总路线？</a:t>
            </a:r>
          </a:p>
          <a:p>
            <a:r>
              <a:rPr lang="en-US" altLang="zh-CN" sz="2000" b="1" dirty="0" smtClean="0">
                <a:solidFill>
                  <a:srgbClr val="0000FF"/>
                </a:solidFill>
                <a:latin typeface="+mj-ea"/>
                <a:ea typeface="+mj-ea"/>
              </a:rPr>
              <a:t>3</a:t>
            </a:r>
            <a:r>
              <a:rPr lang="zh-CN" altLang="en-US" sz="2000" b="1" dirty="0" smtClean="0">
                <a:solidFill>
                  <a:srgbClr val="0000FF"/>
                </a:solidFill>
                <a:latin typeface="+mj-ea"/>
                <a:ea typeface="+mj-ea"/>
              </a:rPr>
              <a:t>、</a:t>
            </a:r>
            <a:r>
              <a:rPr lang="zh-CN" altLang="zh-CN" sz="2000" b="1" dirty="0" smtClean="0">
                <a:solidFill>
                  <a:srgbClr val="0000FF"/>
                </a:solidFill>
                <a:latin typeface="+mj-ea"/>
                <a:ea typeface="+mj-ea"/>
              </a:rPr>
              <a:t>如何认识我国社会主义改造的基本经验？</a:t>
            </a:r>
            <a:endParaRPr lang="en-US" altLang="zh-CN" sz="2000" b="1" dirty="0" smtClean="0">
              <a:solidFill>
                <a:srgbClr val="0000FF"/>
              </a:solidFill>
              <a:latin typeface="+mj-ea"/>
              <a:ea typeface="+mj-ea"/>
            </a:endParaRPr>
          </a:p>
          <a:p>
            <a:r>
              <a:rPr lang="en-US" altLang="zh-CN" sz="2000" b="1" dirty="0" smtClean="0">
                <a:solidFill>
                  <a:srgbClr val="0000FF"/>
                </a:solidFill>
                <a:latin typeface="+mj-ea"/>
                <a:ea typeface="+mj-ea"/>
              </a:rPr>
              <a:t>4</a:t>
            </a:r>
            <a:r>
              <a:rPr lang="zh-CN" altLang="en-US" sz="2000" b="1" dirty="0" smtClean="0">
                <a:solidFill>
                  <a:srgbClr val="0000FF"/>
                </a:solidFill>
                <a:latin typeface="+mj-ea"/>
                <a:ea typeface="+mj-ea"/>
              </a:rPr>
              <a:t>、</a:t>
            </a:r>
            <a:r>
              <a:rPr lang="zh-CN" altLang="zh-CN" sz="2000" b="1" dirty="0" smtClean="0">
                <a:solidFill>
                  <a:srgbClr val="0000FF"/>
                </a:solidFill>
                <a:latin typeface="+mj-ea"/>
                <a:ea typeface="+mj-ea"/>
              </a:rPr>
              <a:t>如何理解中国确立社会主义基本制度的重大意义？</a:t>
            </a:r>
          </a:p>
        </p:txBody>
      </p:sp>
      <p:sp>
        <p:nvSpPr>
          <p:cNvPr id="7" name="矩形 6"/>
          <p:cNvSpPr/>
          <p:nvPr/>
        </p:nvSpPr>
        <p:spPr>
          <a:xfrm>
            <a:off x="971600" y="3140968"/>
            <a:ext cx="1415772" cy="461665"/>
          </a:xfrm>
          <a:prstGeom prst="rect">
            <a:avLst/>
          </a:prstGeom>
          <a:solidFill>
            <a:schemeClr val="bg2"/>
          </a:solidFill>
          <a:ln>
            <a:solidFill>
              <a:schemeClr val="accent1"/>
            </a:solidFill>
          </a:ln>
        </p:spPr>
        <p:txBody>
          <a:bodyPr wrap="none">
            <a:spAutoFit/>
          </a:bodyPr>
          <a:lstStyle/>
          <a:p>
            <a:r>
              <a:rPr lang="zh-CN" altLang="zh-CN" sz="2400" dirty="0" smtClean="0">
                <a:solidFill>
                  <a:srgbClr val="FF0000"/>
                </a:solidFill>
                <a:latin typeface="+mj-ea"/>
                <a:ea typeface="+mj-ea"/>
              </a:rPr>
              <a:t>阅读书目</a:t>
            </a:r>
          </a:p>
        </p:txBody>
      </p:sp>
    </p:spTree>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WordArt 2"/>
          <p:cNvSpPr>
            <a:spLocks noTextEdit="1"/>
          </p:cNvSpPr>
          <p:nvPr/>
        </p:nvSpPr>
        <p:spPr>
          <a:xfrm>
            <a:off x="1600200" y="1371600"/>
            <a:ext cx="5334000" cy="3276600"/>
          </a:xfrm>
          <a:prstGeom prst="rect">
            <a:avLst/>
          </a:prstGeom>
        </p:spPr>
        <p:txBody>
          <a:bodyPr wrap="none" fromWordArt="1">
            <a:prstTxWarp prst="textCanDown">
              <a:avLst>
                <a:gd name="adj" fmla="val 14287"/>
              </a:avLst>
            </a:prstTxWarp>
            <a:normAutofit/>
            <a:scene3d>
              <a:camera prst="legacyPerspectiveFront">
                <a:rot lat="20520000" lon="1080000" rev="0"/>
              </a:camera>
              <a:lightRig rig="legacyHarsh2" dir="b"/>
            </a:scene3d>
            <a:sp3d extrusionH="430200" prstMaterial="legacyMatte">
              <a:extrusionClr>
                <a:srgbClr val="FF6600"/>
              </a:extrusionClr>
            </a:sp3d>
          </a:bodyPr>
          <a:lstStyle/>
          <a:p>
            <a:pPr algn="ctr"/>
            <a:r>
              <a:rPr lang="zh-CN" altLang="en-US" sz="3600" dirty="0" smtClean="0">
                <a:gradFill rotWithShape="0">
                  <a:gsLst>
                    <a:gs pos="0">
                      <a:srgbClr val="FFE701"/>
                    </a:gs>
                    <a:gs pos="100000">
                      <a:srgbClr val="FE3E02"/>
                    </a:gs>
                  </a:gsLst>
                  <a:lin ang="5400000" scaled="1"/>
                  <a:tileRect/>
                </a:gradFill>
                <a:latin typeface="宋体" panose="02010600030101010101" pitchFamily="2" charset="-122"/>
                <a:ea typeface="宋体" panose="02010600030101010101" pitchFamily="2" charset="-122"/>
              </a:rPr>
              <a:t>谢谢!</a:t>
            </a:r>
            <a:endParaRPr lang="zh-CN" altLang="en-US" sz="3600" dirty="0">
              <a:gradFill rotWithShape="0">
                <a:gsLst>
                  <a:gs pos="0">
                    <a:srgbClr val="FFE701"/>
                  </a:gs>
                  <a:gs pos="100000">
                    <a:srgbClr val="FE3E02"/>
                  </a:gs>
                </a:gsLst>
                <a:lin ang="5400000" scaled="1"/>
                <a:tileRect/>
              </a:gradFill>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xmlns="" Requires="p14">
      <p:transition spd="slow" p14:dur="1400">
        <p14:ripple/>
      </p:transition>
    </mc:Choice>
    <mc:Fallback>
      <p:transition spd="slow">
        <p:fade/>
      </p:transition>
    </mc:Fallback>
  </mc:AlternateContent>
</p:sld>
</file>

<file path=ppt/theme/_rels/them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image" Target="../media/image3.jpeg"/></Relationships>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龙腾四海">
  <a:themeElements>
    <a:clrScheme name="龙腾四海">
      <a:dk1>
        <a:sysClr val="windowText" lastClr="000000"/>
      </a:dk1>
      <a:lt1>
        <a:sysClr val="window" lastClr="FFFFFF"/>
      </a:lt1>
      <a:dk2>
        <a:srgbClr val="001B36"/>
      </a:dk2>
      <a:lt2>
        <a:srgbClr val="EDF8FE"/>
      </a:lt2>
      <a:accent1>
        <a:srgbClr val="477AB1"/>
      </a:accent1>
      <a:accent2>
        <a:srgbClr val="51848E"/>
      </a:accent2>
      <a:accent3>
        <a:srgbClr val="7B9B57"/>
      </a:accent3>
      <a:accent4>
        <a:srgbClr val="8B8D8C"/>
      </a:accent4>
      <a:accent5>
        <a:srgbClr val="8B7396"/>
      </a:accent5>
      <a:accent6>
        <a:srgbClr val="E89A53"/>
      </a:accent6>
      <a:hlink>
        <a:srgbClr val="0080FF"/>
      </a:hlink>
      <a:folHlink>
        <a:srgbClr val="FF00FF"/>
      </a:folHlink>
    </a:clrScheme>
    <a:fontScheme name="龙腾四海">
      <a:majorFont>
        <a:latin typeface="Maiandra GD"/>
        <a:ea typeface=""/>
        <a:cs typeface=""/>
        <a:font script="CYRL" typeface="Times New Roman"/>
        <a:font script="GREK" typeface="Times New Roman"/>
        <a:font script="Jpan" typeface="ＭＳ Ｐゴシック"/>
        <a:font script="Hang" typeface="HY중고딕"/>
        <a:font script="Hans" typeface="隶书"/>
        <a:font script="Hant" typeface="微軟正黑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mbria"/>
        <a:ea typeface=""/>
        <a:cs typeface=""/>
        <a:font script="Jpan" typeface="ＭＳ Ｐ明朝"/>
        <a:font script="Hang" typeface="HY견명조"/>
        <a:font script="Hans" typeface="华文楷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龙腾四海">
      <a:fillStyleLst>
        <a:solidFill>
          <a:schemeClr val="phClr">
            <a:tint val="100000"/>
            <a:shade val="100000"/>
            <a:hueMod val="100000"/>
            <a:satMod val="100000"/>
          </a:schemeClr>
        </a:solidFill>
        <a:gradFill rotWithShape="1">
          <a:gsLst>
            <a:gs pos="0">
              <a:schemeClr val="phClr">
                <a:tint val="100000"/>
                <a:shade val="50000"/>
                <a:hueMod val="100000"/>
                <a:satMod val="250000"/>
              </a:schemeClr>
            </a:gs>
            <a:gs pos="75000">
              <a:schemeClr val="phClr">
                <a:tint val="80000"/>
                <a:shade val="100000"/>
                <a:hueMod val="100000"/>
                <a:satMod val="375000"/>
              </a:schemeClr>
            </a:gs>
            <a:gs pos="100000">
              <a:schemeClr val="phClr">
                <a:tint val="50000"/>
                <a:shade val="100000"/>
                <a:hueMod val="100000"/>
                <a:satMod val="500000"/>
              </a:schemeClr>
            </a:gs>
          </a:gsLst>
          <a:lin ang="16200000" scaled="1"/>
        </a:gradFill>
        <a:blipFill>
          <a:blip xmlns:r="http://schemas.openxmlformats.org/officeDocument/2006/relationships" r:embed="rId1">
            <a:duotone>
              <a:schemeClr val="phClr">
                <a:tint val="100000"/>
                <a:shade val="50000"/>
                <a:hueMod val="100000"/>
                <a:satMod val="100000"/>
              </a:schemeClr>
              <a:schemeClr val="phClr">
                <a:tint val="100000"/>
                <a:shade val="75000"/>
                <a:hueMod val="100000"/>
                <a:satMod val="100000"/>
              </a:schemeClr>
            </a:duotone>
          </a:blip>
          <a:tile tx="0" ty="0" sx="50000" sy="50000" flip="none" algn="ctr"/>
        </a:blipFill>
      </a:fillStyleLst>
      <a:lnStyleLst>
        <a:ln w="12700" cap="flat" cmpd="sng" algn="ctr">
          <a:solidFill>
            <a:schemeClr val="ph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glow>
              <a:schemeClr val="phClr">
                <a:tint val="100000"/>
                <a:shade val="100000"/>
                <a:hueMod val="100000"/>
                <a:satMod val="100000"/>
              </a:schemeClr>
            </a:glow>
          </a:effectLst>
        </a:effectStyle>
        <a:effectStyle>
          <a:effectLst>
            <a:glow>
              <a:schemeClr val="phClr">
                <a:tint val="100000"/>
                <a:shade val="100000"/>
                <a:hueMod val="100000"/>
                <a:satMod val="100000"/>
              </a:schemeClr>
            </a:glow>
          </a:effectLst>
          <a:scene3d>
            <a:camera prst="orthographicFront" fov="0">
              <a:rot lat="0" lon="0" rev="0"/>
            </a:camera>
            <a:lightRig rig="threePt" dir="tl">
              <a:rot lat="0" lon="0" rev="0"/>
            </a:lightRig>
          </a:scene3d>
          <a:sp3d prstMaterial="metal">
            <a:bevelT w="12700" h="12700" prst="relaxedInset"/>
            <a:contourClr>
              <a:schemeClr val="phClr">
                <a:tint val="100000"/>
                <a:shade val="100000"/>
                <a:hueMod val="100000"/>
                <a:satMod val="100000"/>
              </a:schemeClr>
            </a:contourClr>
          </a:sp3d>
        </a:effectStyle>
        <a:effectStyle>
          <a:effectLst>
            <a:glow>
              <a:schemeClr val="phClr">
                <a:tint val="100000"/>
                <a:shade val="100000"/>
                <a:hueMod val="100000"/>
                <a:satMod val="100000"/>
              </a:schemeClr>
            </a:glow>
            <a:outerShdw blurRad="44450" dist="50800" dir="3300000" sx="99000" sy="99000" algn="tl" rotWithShape="0">
              <a:srgbClr val="000000">
                <a:alpha val="55000"/>
              </a:srgbClr>
            </a:outerShdw>
          </a:effectLst>
          <a:scene3d>
            <a:camera prst="orthographicFront">
              <a:rot lat="0" lon="0" rev="0"/>
            </a:camera>
            <a:lightRig rig="contrasting" dir="tl">
              <a:rot lat="0" lon="0" rev="14220000"/>
            </a:lightRig>
          </a:scene3d>
          <a:sp3d prstMaterial="dkEdge">
            <a:bevelT w="63500" h="63500"/>
            <a:bevelB w="0" h="0"/>
            <a:contourClr>
              <a:schemeClr val="phClr">
                <a:tint val="100000"/>
                <a:shade val="100000"/>
                <a:hueMod val="100000"/>
                <a:satMod val="100000"/>
              </a:schemeClr>
            </a:contourClr>
          </a:sp3d>
        </a:effectStyle>
      </a:effectStyleLst>
      <a:bgFillStyleLst>
        <a:solidFill>
          <a:schemeClr val="phClr">
            <a:tint val="100000"/>
            <a:shade val="100000"/>
            <a:hueMod val="100000"/>
            <a:satMod val="100000"/>
          </a:schemeClr>
        </a:solidFill>
        <a:gradFill rotWithShape="1">
          <a:gsLst>
            <a:gs pos="0">
              <a:schemeClr val="bg1">
                <a:tint val="100000"/>
                <a:shade val="100000"/>
                <a:hueMod val="100000"/>
                <a:satMod val="150000"/>
              </a:schemeClr>
            </a:gs>
            <a:gs pos="55000">
              <a:schemeClr val="bg1">
                <a:tint val="100000"/>
                <a:shade val="90000"/>
                <a:hueMod val="100000"/>
                <a:satMod val="375000"/>
              </a:schemeClr>
            </a:gs>
            <a:gs pos="100000">
              <a:schemeClr val="phClr">
                <a:tint val="88000"/>
                <a:shade val="100000"/>
                <a:hueMod val="100000"/>
                <a:satMod val="500000"/>
              </a:schemeClr>
            </a:gs>
          </a:gsLst>
          <a:lin ang="5400000" scaled="1"/>
        </a:gradFill>
        <a:blipFill>
          <a:blip xmlns:r="http://schemas.openxmlformats.org/officeDocument/2006/relationships" r:embed="rId2">
            <a:duotone>
              <a:schemeClr val="phClr">
                <a:shade val="30000"/>
                <a:satMod val="555000"/>
              </a:schemeClr>
              <a:schemeClr val="phClr">
                <a:tint val="96000"/>
                <a:satMod val="120000"/>
              </a:schemeClr>
            </a:duotone>
          </a:blip>
          <a:stretch>
            <a:fillRect/>
          </a:stretch>
        </a:blip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792</TotalTime>
  <Words>3690</Words>
  <Application>Microsoft Office PowerPoint</Application>
  <PresentationFormat>全屏显示(4:3)</PresentationFormat>
  <Paragraphs>311</Paragraphs>
  <Slides>79</Slides>
  <Notes>0</Notes>
  <HiddenSlides>0</HiddenSlides>
  <MMClips>1</MMClips>
  <ScaleCrop>false</ScaleCrop>
  <HeadingPairs>
    <vt:vector size="6" baseType="variant">
      <vt:variant>
        <vt:lpstr>主题</vt:lpstr>
      </vt:variant>
      <vt:variant>
        <vt:i4>2</vt:i4>
      </vt:variant>
      <vt:variant>
        <vt:lpstr>嵌入 OLE 服务器</vt:lpstr>
      </vt:variant>
      <vt:variant>
        <vt:i4>1</vt:i4>
      </vt:variant>
      <vt:variant>
        <vt:lpstr>幻灯片标题</vt:lpstr>
      </vt:variant>
      <vt:variant>
        <vt:i4>79</vt:i4>
      </vt:variant>
    </vt:vector>
  </HeadingPairs>
  <TitlesOfParts>
    <vt:vector size="82" baseType="lpstr">
      <vt:lpstr>默认设计模板</vt:lpstr>
      <vt:lpstr>龙腾四海</vt:lpstr>
      <vt:lpstr>Microsoft Graph 图表</vt:lpstr>
      <vt:lpstr>幻灯片 1</vt:lpstr>
      <vt:lpstr>幻灯片 2</vt:lpstr>
      <vt:lpstr>幻灯片 3</vt:lpstr>
      <vt:lpstr>幻灯片 4</vt:lpstr>
      <vt:lpstr>幻灯片 5</vt:lpstr>
      <vt:lpstr>一、新民主主义社会是过渡性的社会 </vt:lpstr>
      <vt:lpstr>        新中国的成立，标志着我国新民主主义革命阶段的基本结束和社会主义革命阶段的开始。        从中华人民共和国成立到社会主义改造基本完成，是我国从新民主主义到社会主义过渡的时期。</vt:lpstr>
      <vt:lpstr>新民主主义社会</vt:lpstr>
      <vt:lpstr>新民主主义社会的过渡性质是从半封建半殖民地过渡到社会主义社会 </vt:lpstr>
      <vt:lpstr>  （一）新民主主义社会的过渡性质和主要矛盾    新民主主义社会的过渡性质是从半封建半殖民地过渡到社会主义社会      </vt:lpstr>
      <vt:lpstr>社会主义性质的国营经济</vt:lpstr>
      <vt:lpstr>       社会主义经济：到1952年，国营工业总产值占工业总产值的52.8% ，成为国民经济的领导力量。</vt:lpstr>
      <vt:lpstr>幻灯片 13</vt:lpstr>
      <vt:lpstr>幻灯片 14</vt:lpstr>
      <vt:lpstr>社会主义经济</vt:lpstr>
      <vt:lpstr>幻灯片 16</vt:lpstr>
      <vt:lpstr>幻灯片 17</vt:lpstr>
      <vt:lpstr>幻灯片 18</vt:lpstr>
      <vt:lpstr>幻灯片 19</vt:lpstr>
      <vt:lpstr>幻灯片 20</vt:lpstr>
      <vt:lpstr>1、过渡时期总路线的提出  2、过渡时期总路线的主要内容  3、过渡时期总路线的理论依据</vt:lpstr>
      <vt:lpstr>幻灯片 22</vt:lpstr>
      <vt:lpstr>         1953年,土地改革、抗美援朝和镇压反革命三大政治运动取得胜利，新中国政权的得到巩固；         通过平抑物价（银元之战、粮棉之战），财政经济状况逐渐好转，国民经济得到恢复。</vt:lpstr>
      <vt:lpstr>         1952年国营工业总产值占到52.8%，私营工业由63.3%下降到39%。         在社会商品批发总额中，国营商业从1950年的23.2%上升到1952年的60.5%，私营商业则下降到36.3%。         国营经济上升到67%.3,私营经济下降到32.7%。         过渡条件日渐成熟</vt:lpstr>
      <vt:lpstr>幻灯片 25</vt:lpstr>
      <vt:lpstr>幻灯片 26</vt:lpstr>
      <vt:lpstr>幻灯片 27</vt:lpstr>
      <vt:lpstr>　1954年9月，中华人民共和国第一届全国人民代表大会第一次会议在北京举行。这次大会通过了中华人民共和国的第一部宪法，它对我国社会主义的国家制度和社会制度作了明确的规定</vt:lpstr>
      <vt:lpstr>    党在这个过渡时期的总路线和总任务，是要在一个相当长的时期内，逐步实现国家的社会主义工业化，并逐步实现国家对农业、对手工业和对资本主义工商业的社会主义改造。</vt:lpstr>
      <vt:lpstr>毛泽东修改过的文件</vt:lpstr>
      <vt:lpstr>幻灯片 31</vt:lpstr>
      <vt:lpstr>幻灯片 32</vt:lpstr>
      <vt:lpstr>幻灯片 33</vt:lpstr>
      <vt:lpstr>幻灯片 34</vt:lpstr>
      <vt:lpstr>幻灯片 35</vt:lpstr>
      <vt:lpstr>幻灯片 36</vt:lpstr>
      <vt:lpstr>幻灯片 37</vt:lpstr>
      <vt:lpstr>    第三，对资本主义归属于进行社会主义改造，是实现社会主义工业化，建设社会主义强大国家的迫切需要，也是由当时主要矛盾决定的。        </vt:lpstr>
      <vt:lpstr>幻灯片 39</vt:lpstr>
      <vt:lpstr>　　过渡时期总路线的宣传、粮食统购统销政策的实施和1954年1月《中共中央关于发展农业生产合作社的决议》公布，标志农业社会主义改造的全面开展。</vt:lpstr>
      <vt:lpstr>    第一，积极引导农民组织起来，走互助合作道路。（途径、方法）</vt:lpstr>
      <vt:lpstr>    第三，正确分析农村的阶级和阶层状况，制定正确的阶级政策。“依靠贫农，巩固地团结中农，限制并逐步消灭富农”  （政策）</vt:lpstr>
      <vt:lpstr>幻灯片 43</vt:lpstr>
      <vt:lpstr>幻灯片 44</vt:lpstr>
      <vt:lpstr>     到1956年底，全国入社农户占总农户的96.3%，5亿多农民在党的领导下通过合作化，走上了社会主义道路。</vt:lpstr>
      <vt:lpstr>幻灯片 46</vt:lpstr>
      <vt:lpstr>幻灯片 47</vt:lpstr>
      <vt:lpstr>    到1956年，参加合作社的手工业已占其总数的91.7%，产值占全国手工业总产值的93%，全国基本上实现了手工业合作化。</vt:lpstr>
      <vt:lpstr>         通过国家资本主义的形式，把资本主义经济改造成社会主义国营经济       </vt:lpstr>
      <vt:lpstr>改造的政策         和平赎买 基本形式            国家资本主义</vt:lpstr>
      <vt:lpstr>       公私合营是国家资本主义的高级形式</vt:lpstr>
      <vt:lpstr>幻灯片 52</vt:lpstr>
      <vt:lpstr>第三，把资本主义工商业者改造成为自食其力的社会主义劳动者。</vt:lpstr>
      <vt:lpstr>幻灯片 54</vt:lpstr>
      <vt:lpstr>　1956年3月，全国资本主义工商业基本上实现了全行业的公私合营。这是首都各界庆祝北京市社会主义改造胜利完成 (图片摘自军事图片库)</vt:lpstr>
      <vt:lpstr>幻灯片 56</vt:lpstr>
      <vt:lpstr>        这是党在过渡时期总路线的明确要求。对于在社会变革中维持社会稳定，促进生产力发展有重要意义。</vt:lpstr>
      <vt:lpstr>二，采取积极引导、逐步过渡的方式。</vt:lpstr>
      <vt:lpstr>    第一，社会经济结构发生根本变化，社会主义公有制的经济制度基本建立。</vt:lpstr>
      <vt:lpstr>    第三，解放了生产力，促进国民经济的发展 ；</vt:lpstr>
      <vt:lpstr>     ♂在社会主义改造速度方面，急于求成；社会主义改造后期工作过于急燥，初级社没有巩固就办高级社，拔苗助长。           </vt:lpstr>
      <vt:lpstr>        ♂在改变生产资料所有制方面急于求纯 ；所有制结构过于单一。应该是以公有制为主体，适当保留部分有益于国计民生的个体经济与私营经济。</vt:lpstr>
      <vt:lpstr>    就整个来说，我们应该看到,在一个几亿人口的大国中比较顺利地实现了如此复杂、困难和深刻的社会变革，促进了工农业和整个国民经济的发展，进一步解放和发展了生产力，为开展大规模的社会主义建设创造了前提,这是不容置疑的。</vt:lpstr>
      <vt:lpstr>      一些人以“重新评价”为名，歪曲近现代中国的历史，在社会上造成了很不好影响的历史虚无主义,值得警惕。 </vt:lpstr>
      <vt:lpstr>一、社会主义基本制度的初步确立</vt:lpstr>
      <vt:lpstr>      1956年底，我国对农业、手工业和资本主义工商业的社会主义改造基本完成，我国社会经济结构发生了根本变化，社会主义经济成分已占绝对优势，社会主义公有制已成为我国社会的经济基础，标志着中国历史上长达数千年的阶级剥削制度的结束和社会主义基本制度的确立。</vt:lpstr>
      <vt:lpstr>        社会主义改造的基本完成，使我国社会经济结构发生了根本变化，社会主义经济成分已占绝对优势，社会主义公有制已成为我国社会的经济基础。生产资料公有制为基础的社会主义基本经济制度已经建立起来。</vt:lpstr>
      <vt:lpstr>              国民收入结构图表</vt:lpstr>
      <vt:lpstr>        </vt:lpstr>
      <vt:lpstr>幻灯片 70</vt:lpstr>
      <vt:lpstr>     1954年9月，《中华人民共和国宪法》的制定及颁布施行，明确规定了我国人民民主专政的国体和人民代表大会的政体</vt:lpstr>
      <vt:lpstr>    我国社会的阶级关系也发生了根本的变化</vt:lpstr>
      <vt:lpstr>幻灯片 73</vt:lpstr>
      <vt:lpstr>     第一，社会主义制度的确立是中国历史上最深刻最伟大的社会变革，为当代中国一切发展进步奠定了制度基础，也为中国特色社会主义制度的创新和发展提供了重要前提。</vt:lpstr>
      <vt:lpstr>幻灯片 75</vt:lpstr>
      <vt:lpstr>     社会主义基本制度的确立，是以毛泽东为主要代表的中国共产党人对一个脱胎于半殖民地半封建的东方大国如何进行社会主义革命问题的系统回答和正确解决，是马克思列宁主义关于社会主义革命理论在中国的正确运用和创造性发展的结果。它不仅再次证明了马克思列宁主义的真理性，而且以其独创性的理论原则和经验总结丰富和发展了科学社会主义</vt:lpstr>
      <vt:lpstr>幻灯片 77</vt:lpstr>
      <vt:lpstr>幻灯片 78</vt:lpstr>
      <vt:lpstr>幻灯片 79</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第八章 习近平思想</dc:title>
  <dc:creator>Administrator</dc:creator>
  <cp:lastModifiedBy>Lenovo</cp:lastModifiedBy>
  <cp:revision>169</cp:revision>
  <dcterms:created xsi:type="dcterms:W3CDTF">2018-06-11T14:13:52Z</dcterms:created>
  <dcterms:modified xsi:type="dcterms:W3CDTF">2021-11-14T10:08:00Z</dcterms:modified>
</cp:coreProperties>
</file>