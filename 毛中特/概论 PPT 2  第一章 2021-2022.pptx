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vml" ContentType="application/vnd.openxmlformats-officedocument.vmlDrawing"/>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Default Extension="wmf" ContentType="image/x-wmf"/>
  <Default Extension="rels" ContentType="application/vnd.openxmlformats-package.relationshi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notesMasterIdLst>
    <p:notesMasterId r:id="rId87"/>
  </p:notesMasterIdLst>
  <p:sldIdLst>
    <p:sldId id="360" r:id="rId2"/>
    <p:sldId id="311" r:id="rId3"/>
    <p:sldId id="403" r:id="rId4"/>
    <p:sldId id="405" r:id="rId5"/>
    <p:sldId id="412" r:id="rId6"/>
    <p:sldId id="416" r:id="rId7"/>
    <p:sldId id="413" r:id="rId8"/>
    <p:sldId id="414" r:id="rId9"/>
    <p:sldId id="415" r:id="rId10"/>
    <p:sldId id="417" r:id="rId11"/>
    <p:sldId id="420" r:id="rId12"/>
    <p:sldId id="418" r:id="rId13"/>
    <p:sldId id="406" r:id="rId14"/>
    <p:sldId id="313" r:id="rId15"/>
    <p:sldId id="314" r:id="rId16"/>
    <p:sldId id="315" r:id="rId17"/>
    <p:sldId id="316" r:id="rId18"/>
    <p:sldId id="317" r:id="rId19"/>
    <p:sldId id="318" r:id="rId20"/>
    <p:sldId id="319" r:id="rId21"/>
    <p:sldId id="320" r:id="rId22"/>
    <p:sldId id="321" r:id="rId23"/>
    <p:sldId id="335" r:id="rId24"/>
    <p:sldId id="337" r:id="rId25"/>
    <p:sldId id="419" r:id="rId26"/>
    <p:sldId id="338" r:id="rId27"/>
    <p:sldId id="339" r:id="rId28"/>
    <p:sldId id="341" r:id="rId29"/>
    <p:sldId id="340" r:id="rId30"/>
    <p:sldId id="342" r:id="rId31"/>
    <p:sldId id="343" r:id="rId32"/>
    <p:sldId id="383" r:id="rId33"/>
    <p:sldId id="421" r:id="rId34"/>
    <p:sldId id="399" r:id="rId35"/>
    <p:sldId id="345" r:id="rId36"/>
    <p:sldId id="422" r:id="rId37"/>
    <p:sldId id="384" r:id="rId38"/>
    <p:sldId id="408" r:id="rId39"/>
    <p:sldId id="348" r:id="rId40"/>
    <p:sldId id="349" r:id="rId41"/>
    <p:sldId id="350" r:id="rId42"/>
    <p:sldId id="351" r:id="rId43"/>
    <p:sldId id="402" r:id="rId44"/>
    <p:sldId id="352" r:id="rId45"/>
    <p:sldId id="400" r:id="rId46"/>
    <p:sldId id="354" r:id="rId47"/>
    <p:sldId id="401" r:id="rId48"/>
    <p:sldId id="353" r:id="rId49"/>
    <p:sldId id="355" r:id="rId50"/>
    <p:sldId id="387" r:id="rId51"/>
    <p:sldId id="356" r:id="rId52"/>
    <p:sldId id="398" r:id="rId53"/>
    <p:sldId id="388" r:id="rId54"/>
    <p:sldId id="386" r:id="rId55"/>
    <p:sldId id="389" r:id="rId56"/>
    <p:sldId id="358" r:id="rId57"/>
    <p:sldId id="390" r:id="rId58"/>
    <p:sldId id="391" r:id="rId59"/>
    <p:sldId id="392" r:id="rId60"/>
    <p:sldId id="393" r:id="rId61"/>
    <p:sldId id="385" r:id="rId62"/>
    <p:sldId id="361" r:id="rId63"/>
    <p:sldId id="362" r:id="rId64"/>
    <p:sldId id="396" r:id="rId65"/>
    <p:sldId id="424" r:id="rId66"/>
    <p:sldId id="397" r:id="rId67"/>
    <p:sldId id="365" r:id="rId68"/>
    <p:sldId id="368" r:id="rId69"/>
    <p:sldId id="369" r:id="rId70"/>
    <p:sldId id="371" r:id="rId71"/>
    <p:sldId id="409" r:id="rId72"/>
    <p:sldId id="410" r:id="rId73"/>
    <p:sldId id="411" r:id="rId74"/>
    <p:sldId id="372" r:id="rId75"/>
    <p:sldId id="373" r:id="rId76"/>
    <p:sldId id="374" r:id="rId77"/>
    <p:sldId id="375" r:id="rId78"/>
    <p:sldId id="376" r:id="rId79"/>
    <p:sldId id="377" r:id="rId80"/>
    <p:sldId id="378" r:id="rId81"/>
    <p:sldId id="379" r:id="rId82"/>
    <p:sldId id="380" r:id="rId83"/>
    <p:sldId id="381" r:id="rId84"/>
    <p:sldId id="382" r:id="rId85"/>
    <p:sldId id="310" r:id="rId86"/>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474" y="-8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0.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9966155-C72A-4D11-9BF5-9914E8C4A536}" type="datetimeFigureOut">
              <a:rPr lang="zh-CN" altLang="en-US" smtClean="0"/>
              <a:pPr/>
              <a:t>2021/9/28</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934A6CD-0AFA-461F-A609-FEF3E48BF327}" type="slidenum">
              <a:rPr lang="zh-CN" altLang="en-US" smtClean="0"/>
              <a:pPr/>
              <a:t>‹#›</a:t>
            </a:fld>
            <a:endParaRPr lang="zh-CN" altLang="en-US"/>
          </a:p>
        </p:txBody>
      </p:sp>
    </p:spTree>
    <p:extLst>
      <p:ext uri="{BB962C8B-B14F-4D97-AF65-F5344CB8AC3E}">
        <p14:creationId xmlns="" xmlns:p14="http://schemas.microsoft.com/office/powerpoint/2010/main" val="401770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Ref idx="1003">
        <a:schemeClr val="bg2"/>
      </p:bgRef>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173157"/>
            <a:ext cx="7772400" cy="1470025"/>
          </a:xfrm>
        </p:spPr>
        <p:txBody>
          <a:bodyPr anchor="b"/>
          <a:lstStyle>
            <a:lvl1pPr algn="l">
              <a:defRPr sz="4800"/>
            </a:lvl1pPr>
          </a:lstStyle>
          <a:p>
            <a:r>
              <a:rPr kumimoji="0" lang="zh-CN" altLang="en-US" smtClean="0"/>
              <a:t>单击此处编辑母版标题样式</a:t>
            </a:r>
            <a:endParaRPr kumimoji="0" lang="en-US"/>
          </a:p>
        </p:txBody>
      </p:sp>
      <p:sp>
        <p:nvSpPr>
          <p:cNvPr id="3" name="副标题 2"/>
          <p:cNvSpPr>
            <a:spLocks noGrp="1"/>
          </p:cNvSpPr>
          <p:nvPr>
            <p:ph type="subTitle" idx="1"/>
          </p:nvPr>
        </p:nvSpPr>
        <p:spPr>
          <a:xfrm>
            <a:off x="687716" y="2643182"/>
            <a:ext cx="6670366" cy="1752600"/>
          </a:xfrm>
        </p:spPr>
        <p:txBody>
          <a:bodyPr/>
          <a:lstStyle>
            <a:lvl1pPr marL="0" indent="0" algn="l">
              <a:buNone/>
              <a:defRPr sz="2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smtClean="0"/>
              <a:t>单击此处编辑母版副标题样式</a:t>
            </a:r>
            <a:endParaRPr kumimoji="0" lang="en-US"/>
          </a:p>
        </p:txBody>
      </p:sp>
      <p:sp>
        <p:nvSpPr>
          <p:cNvPr id="4" name="日期占位符 3"/>
          <p:cNvSpPr>
            <a:spLocks noGrp="1"/>
          </p:cNvSpPr>
          <p:nvPr>
            <p:ph type="dt" sz="half" idx="10"/>
          </p:nvPr>
        </p:nvSpPr>
        <p:spPr/>
        <p:txBody>
          <a:bodyPr/>
          <a:lstStyle/>
          <a:p>
            <a:fld id="{20DDE6A5-A424-40BA-8B55-C75A359D2B07}" type="datetimeFigureOut">
              <a:rPr lang="zh-CN" altLang="en-US" smtClean="0"/>
              <a:pPr/>
              <a:t>2021/9/28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B0A5CF-BB02-4D96-B8E2-DE0A1324A60A}" type="slidenum">
              <a:rPr lang="zh-CN" altLang="en-US" smtClean="0"/>
              <a:pPr/>
              <a:t>‹#›</a:t>
            </a:fld>
            <a:endParaRPr lang="zh-CN" altLang="en-US"/>
          </a:p>
        </p:txBody>
      </p:sp>
    </p:spTree>
  </p:cSld>
  <p:clrMapOvr>
    <a:overrideClrMapping bg1="lt1" tx1="dk1" bg2="lt2" tx2="dk2" accent1="accent1" accent2="accent2" accent3="accent3" accent4="accent4" accent5="accent5" accent6="accent6" hlink="hlink" folHlink="folHlink"/>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20DDE6A5-A424-40BA-8B55-C75A359D2B07}" type="datetimeFigureOut">
              <a:rPr lang="zh-CN" altLang="en-US" smtClean="0"/>
              <a:pPr/>
              <a:t>2021/9/28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B0A5CF-BB02-4D96-B8E2-DE0A1324A60A}" type="slidenum">
              <a:rPr lang="zh-CN" altLang="en-US" smtClean="0"/>
              <a:pPr/>
              <a:t>‹#›</a:t>
            </a:fld>
            <a:endParaRPr lang="zh-CN" altLang="en-US"/>
          </a:p>
        </p:txBody>
      </p:sp>
    </p:spTree>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Ref idx="1003">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685800" y="2924181"/>
            <a:ext cx="7772400" cy="1362075"/>
          </a:xfrm>
        </p:spPr>
        <p:txBody>
          <a:bodyPr anchor="t"/>
          <a:lstStyle>
            <a:lvl1pPr algn="l">
              <a:defRPr sz="4400" b="0" cap="all"/>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685800" y="1428747"/>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20DDE6A5-A424-40BA-8B55-C75A359D2B07}" type="datetimeFigureOut">
              <a:rPr lang="zh-CN" altLang="en-US" smtClean="0"/>
              <a:pPr/>
              <a:t>2021/9/28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B0A5CF-BB02-4D96-B8E2-DE0A1324A60A}" type="slidenum">
              <a:rPr lang="zh-CN" altLang="en-US" smtClean="0"/>
              <a:pPr/>
              <a:t>‹#›</a:t>
            </a:fld>
            <a:endParaRPr lang="zh-CN" altLang="en-US"/>
          </a:p>
        </p:txBody>
      </p:sp>
    </p:spTree>
  </p:cSld>
  <p:clrMapOvr>
    <a:overrideClrMapping bg1="lt1" tx1="dk1" bg2="lt2" tx2="dk2" accent1="accent1" accent2="accent2" accent3="accent3" accent4="accent4" accent5="accent5" accent6="accent6" hlink="hlink" folHlink="folHlink"/>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20DDE6A5-A424-40BA-8B55-C75A359D2B07}" type="datetimeFigureOut">
              <a:rPr lang="zh-CN" altLang="en-US" smtClean="0"/>
              <a:pPr/>
              <a:t>2021/9/28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4B0A5CF-BB02-4D96-B8E2-DE0A1324A60A}" type="slidenum">
              <a:rPr lang="zh-CN" altLang="en-US" smtClean="0"/>
              <a:pPr/>
              <a:t>‹#›</a:t>
            </a:fld>
            <a:endParaRPr lang="zh-CN" altLang="en-US"/>
          </a:p>
        </p:txBody>
      </p:sp>
    </p:spTree>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7" name="日期占位符 6"/>
          <p:cNvSpPr>
            <a:spLocks noGrp="1"/>
          </p:cNvSpPr>
          <p:nvPr>
            <p:ph type="dt" sz="half" idx="10"/>
          </p:nvPr>
        </p:nvSpPr>
        <p:spPr/>
        <p:txBody>
          <a:bodyPr/>
          <a:lstStyle/>
          <a:p>
            <a:fld id="{20DDE6A5-A424-40BA-8B55-C75A359D2B07}" type="datetimeFigureOut">
              <a:rPr lang="zh-CN" altLang="en-US" smtClean="0"/>
              <a:pPr/>
              <a:t>2021/9/28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4B0A5CF-BB02-4D96-B8E2-DE0A1324A60A}" type="slidenum">
              <a:rPr lang="zh-CN" altLang="en-US" smtClean="0"/>
              <a:pPr/>
              <a:t>‹#›</a:t>
            </a:fld>
            <a:endParaRPr lang="zh-CN" altLang="en-US"/>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日期占位符 2"/>
          <p:cNvSpPr>
            <a:spLocks noGrp="1"/>
          </p:cNvSpPr>
          <p:nvPr>
            <p:ph type="dt" sz="half" idx="10"/>
          </p:nvPr>
        </p:nvSpPr>
        <p:spPr/>
        <p:txBody>
          <a:bodyPr/>
          <a:lstStyle/>
          <a:p>
            <a:fld id="{20DDE6A5-A424-40BA-8B55-C75A359D2B07}" type="datetimeFigureOut">
              <a:rPr lang="zh-CN" altLang="en-US" smtClean="0"/>
              <a:pPr/>
              <a:t>2021/9/28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4B0A5CF-BB02-4D96-B8E2-DE0A1324A60A}" type="slidenum">
              <a:rPr lang="zh-CN" altLang="en-US" smtClean="0"/>
              <a:pPr/>
              <a:t>‹#›</a:t>
            </a:fld>
            <a:endParaRPr lang="zh-CN" altLang="en-US"/>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0DDE6A5-A424-40BA-8B55-C75A359D2B07}" type="datetimeFigureOut">
              <a:rPr lang="zh-CN" altLang="en-US" smtClean="0"/>
              <a:pPr/>
              <a:t>2021/9/28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4B0A5CF-BB02-4D96-B8E2-DE0A1324A60A}" type="slidenum">
              <a:rPr lang="zh-CN" altLang="en-US" smtClean="0"/>
              <a:pPr/>
              <a:t>‹#›</a:t>
            </a:fld>
            <a:endParaRPr lang="zh-CN" altLang="en-US"/>
          </a:p>
        </p:txBody>
      </p:sp>
    </p:spTree>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3" name="内容占位符 2"/>
          <p:cNvSpPr>
            <a:spLocks noGrp="1"/>
          </p:cNvSpPr>
          <p:nvPr>
            <p:ph idx="1"/>
          </p:nvPr>
        </p:nvSpPr>
        <p:spPr>
          <a:xfrm>
            <a:off x="460382" y="1071546"/>
            <a:ext cx="5111750" cy="50497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文本占位符 3"/>
          <p:cNvSpPr>
            <a:spLocks noGrp="1"/>
          </p:cNvSpPr>
          <p:nvPr>
            <p:ph type="body" sz="half" idx="2"/>
          </p:nvPr>
        </p:nvSpPr>
        <p:spPr>
          <a:xfrm>
            <a:off x="5679083" y="1071546"/>
            <a:ext cx="3008313" cy="34290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20DDE6A5-A424-40BA-8B55-C75A359D2B07}" type="datetimeFigureOut">
              <a:rPr lang="zh-CN" altLang="en-US" smtClean="0"/>
              <a:pPr/>
              <a:t>2021/9/28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4B0A5CF-BB02-4D96-B8E2-DE0A1324A60A}" type="slidenum">
              <a:rPr lang="zh-CN" altLang="en-US" smtClean="0"/>
              <a:pPr/>
              <a:t>‹#›</a:t>
            </a:fld>
            <a:endParaRPr lang="zh-CN" altLang="en-US"/>
          </a:p>
        </p:txBody>
      </p:sp>
      <p:sp>
        <p:nvSpPr>
          <p:cNvPr id="2" name="标题 1"/>
          <p:cNvSpPr>
            <a:spLocks noGrp="1"/>
          </p:cNvSpPr>
          <p:nvPr>
            <p:ph type="title"/>
          </p:nvPr>
        </p:nvSpPr>
        <p:spPr>
          <a:xfrm>
            <a:off x="457205" y="285728"/>
            <a:ext cx="8230993" cy="696626"/>
          </a:xfrm>
        </p:spPr>
        <p:txBody>
          <a:bodyPr anchor="ctr"/>
          <a:lstStyle>
            <a:lvl1pPr algn="ctr">
              <a:defRPr sz="3600" b="0"/>
            </a:lvl1pPr>
          </a:lstStyle>
          <a:p>
            <a:r>
              <a:rPr kumimoji="0" lang="zh-CN" altLang="en-US" smtClean="0"/>
              <a:t>单击此处编辑母版标题样式</a:t>
            </a:r>
            <a:endParaRPr kumimoji="0" lang="en-US"/>
          </a:p>
        </p:txBody>
      </p:sp>
    </p:spTree>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001024" y="642918"/>
            <a:ext cx="785818" cy="4572032"/>
          </a:xfrm>
        </p:spPr>
        <p:txBody>
          <a:bodyPr vert="eaVert" anchor="ctr"/>
          <a:lstStyle>
            <a:lvl1pPr algn="l">
              <a:defRPr sz="2400" b="0"/>
            </a:lvl1pPr>
          </a:lstStyle>
          <a:p>
            <a:r>
              <a:rPr kumimoji="0" lang="zh-CN" altLang="en-US" smtClean="0"/>
              <a:t>单击此处编辑母版标题样式</a:t>
            </a:r>
            <a:endParaRPr kumimoji="0" lang="en-US"/>
          </a:p>
        </p:txBody>
      </p:sp>
      <p:sp>
        <p:nvSpPr>
          <p:cNvPr id="3" name="图片占位符 2"/>
          <p:cNvSpPr>
            <a:spLocks noGrp="1"/>
          </p:cNvSpPr>
          <p:nvPr>
            <p:ph type="pic" idx="1"/>
          </p:nvPr>
        </p:nvSpPr>
        <p:spPr>
          <a:xfrm>
            <a:off x="442922" y="541340"/>
            <a:ext cx="6415094" cy="5459428"/>
          </a:xfrm>
          <a:prstGeom prst="roundRect">
            <a:avLst>
              <a:gd name="adj" fmla="val 4800"/>
            </a:avLst>
          </a:prstGeom>
          <a:solidFill>
            <a:schemeClr val="accent1">
              <a:tint val="20000"/>
            </a:schemeClr>
          </a:solidFill>
          <a:ln w="38100">
            <a:gradFill flip="none" rotWithShape="1">
              <a:gsLst>
                <a:gs pos="0">
                  <a:schemeClr val="accent1">
                    <a:alpha val="50000"/>
                  </a:schemeClr>
                </a:gs>
                <a:gs pos="100000">
                  <a:schemeClr val="accent1">
                    <a:tint val="20000"/>
                  </a:schemeClr>
                </a:gs>
              </a:gsLst>
              <a:lin ang="16200000" scaled="1"/>
              <a:tileRect/>
            </a:gradFill>
          </a:ln>
          <a:effectLst>
            <a:outerShdw blurRad="76200" dist="38100" dir="5400000" sx="100500" sy="100500" algn="tl" rotWithShape="0">
              <a:srgbClr val="000000">
                <a:alpha val="50000"/>
              </a:srgb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zh-CN" altLang="en-US" smtClean="0"/>
              <a:t>单击图标添加图片</a:t>
            </a:r>
            <a:endParaRPr kumimoji="0" lang="en-US"/>
          </a:p>
        </p:txBody>
      </p:sp>
      <p:sp>
        <p:nvSpPr>
          <p:cNvPr id="4" name="文本占位符 3"/>
          <p:cNvSpPr>
            <a:spLocks noGrp="1"/>
          </p:cNvSpPr>
          <p:nvPr>
            <p:ph type="body" sz="half" idx="2"/>
          </p:nvPr>
        </p:nvSpPr>
        <p:spPr>
          <a:xfrm>
            <a:off x="7072330" y="1000108"/>
            <a:ext cx="914368" cy="4214842"/>
          </a:xfrm>
        </p:spPr>
        <p:txBody>
          <a:bodyPr vert="eaVert" anchor="ctr"/>
          <a:lstStyle>
            <a:lvl1pPr marL="0" indent="0" algn="ctr">
              <a:buNone/>
              <a:defRPr sz="1400"/>
            </a:lvl1pPr>
            <a:lvl2pPr marL="457200" indent="0" algn="ctr">
              <a:buNone/>
              <a:defRPr sz="1200"/>
            </a:lvl2pPr>
            <a:lvl3pPr marL="914400" indent="0" algn="ctr">
              <a:buNone/>
              <a:defRPr sz="1000"/>
            </a:lvl3pPr>
            <a:lvl4pPr marL="1371600" indent="0" algn="ctr">
              <a:buNone/>
              <a:defRPr sz="900"/>
            </a:lvl4pPr>
            <a:lvl5pPr marL="1828800" indent="0" algn="ctr">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20DDE6A5-A424-40BA-8B55-C75A359D2B07}" type="datetimeFigureOut">
              <a:rPr lang="zh-CN" altLang="en-US" smtClean="0"/>
              <a:pPr/>
              <a:t>2021/9/28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4B0A5CF-BB02-4D96-B8E2-DE0A1324A60A}" type="slidenum">
              <a:rPr lang="zh-CN" altLang="en-US" smtClean="0"/>
              <a:pPr/>
              <a:t>‹#›</a:t>
            </a:fld>
            <a:endParaRPr lang="zh-CN" altLang="en-US"/>
          </a:p>
        </p:txBody>
      </p:sp>
    </p:spTree>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20DDE6A5-A424-40BA-8B55-C75A359D2B07}" type="datetimeFigureOut">
              <a:rPr lang="zh-CN" altLang="en-US" smtClean="0"/>
              <a:pPr/>
              <a:t>2021/9/28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B0A5CF-BB02-4D96-B8E2-DE0A1324A60A}" type="slidenum">
              <a:rPr lang="zh-CN" altLang="en-US" smtClean="0"/>
              <a:pPr/>
              <a:t>‹#›</a:t>
            </a:fld>
            <a:endParaRPr lang="zh-CN" altLang="en-US"/>
          </a:p>
        </p:txBody>
      </p:sp>
    </p:spTree>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43768" y="274639"/>
            <a:ext cx="1543032" cy="5851525"/>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274639"/>
            <a:ext cx="6615130" cy="5851525"/>
          </a:xfrm>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20DDE6A5-A424-40BA-8B55-C75A359D2B07}" type="datetimeFigureOut">
              <a:rPr lang="zh-CN" altLang="en-US" smtClean="0"/>
              <a:pPr/>
              <a:t>2021/9/28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B0A5CF-BB02-4D96-B8E2-DE0A1324A60A}" type="slidenum">
              <a:rPr lang="zh-CN" altLang="en-US" smtClean="0"/>
              <a:pPr/>
              <a:t>‹#›</a:t>
            </a:fld>
            <a:endParaRPr lang="zh-CN" altLang="en-US"/>
          </a:p>
        </p:txBody>
      </p:sp>
    </p:spTree>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5.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hyperlink" Target="http://baike.baidu.com/image/d57e99945712b42ed31b7026" TargetMode="Externa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pic>
        <p:nvPicPr>
          <p:cNvPr id="8" name="图片 7"/>
          <p:cNvPicPr>
            <a:picLocks noChangeAspect="1"/>
          </p:cNvPicPr>
          <p:nvPr/>
        </p:nvPicPr>
        <p:blipFill>
          <a:blip r:embed="rId13" cstate="print">
            <a:duotone>
              <a:schemeClr val="accent1"/>
              <a:srgbClr val="FFFFFF"/>
            </a:duotone>
            <a:lum bright="12000" contrast="40000"/>
          </a:blip>
          <a:stretch>
            <a:fillRect/>
          </a:stretch>
        </p:blipFill>
        <p:spPr>
          <a:xfrm>
            <a:off x="6667809" y="4915143"/>
            <a:ext cx="2476191" cy="1942857"/>
          </a:xfrm>
          <a:prstGeom prst="rect">
            <a:avLst/>
          </a:prstGeom>
          <a:noFill/>
          <a:ln>
            <a:noFill/>
          </a:ln>
        </p:spPr>
      </p:pic>
      <p:sp>
        <p:nvSpPr>
          <p:cNvPr id="10" name="矩形 9"/>
          <p:cNvSpPr/>
          <p:nvPr/>
        </p:nvSpPr>
        <p:spPr>
          <a:xfrm>
            <a:off x="0" y="0"/>
            <a:ext cx="9144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20000"/>
                </a:schemeClr>
              </a:gs>
              <a:gs pos="100000">
                <a:schemeClr val="accent1">
                  <a:tint val="50000"/>
                  <a:shade val="100000"/>
                  <a:hueMod val="100000"/>
                  <a:satMod val="500000"/>
                </a:schemeClr>
              </a:gs>
            </a:gsLst>
            <a:lin ang="18900000" scaled="1"/>
            <a:tileRect/>
          </a:gradFill>
          <a:ln w="12700" cap="rnd" cmpd="sng" algn="ctr">
            <a:noFill/>
            <a:prstDash val="solid"/>
          </a:ln>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sp>
        <p:nvSpPr>
          <p:cNvPr id="11" name="矩形 10"/>
          <p:cNvSpPr/>
          <p:nvPr/>
        </p:nvSpPr>
        <p:spPr>
          <a:xfrm>
            <a:off x="0" y="40951"/>
            <a:ext cx="4572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5000"/>
                </a:schemeClr>
              </a:gs>
              <a:gs pos="100000">
                <a:schemeClr val="accent1">
                  <a:tint val="50000"/>
                  <a:shade val="100000"/>
                  <a:hueMod val="100000"/>
                  <a:satMod val="500000"/>
                  <a:alpha val="60000"/>
                </a:schemeClr>
              </a:gs>
            </a:gsLst>
            <a:lin ang="8100000" scaled="1"/>
            <a:tileRect/>
          </a:gradFill>
          <a:ln w="12700" cap="rnd" cmpd="sng" algn="ctr">
            <a:noFill/>
            <a:prstDash val="solid"/>
          </a:ln>
          <a:effectLst>
            <a:glow>
              <a:schemeClr val="accent1">
                <a:tint val="100000"/>
                <a:shade val="100000"/>
                <a:hueMod val="100000"/>
                <a:satMod val="100000"/>
              </a:schemeClr>
            </a:glow>
            <a:softEdge rad="12700"/>
          </a:effectLst>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pic>
        <p:nvPicPr>
          <p:cNvPr id="9" name="图片 8"/>
          <p:cNvPicPr>
            <a:picLocks noChangeAspect="1"/>
          </p:cNvPicPr>
          <p:nvPr/>
        </p:nvPicPr>
        <p:blipFill>
          <a:blip r:embed="rId14" cstate="print">
            <a:duotone>
              <a:schemeClr val="accent1"/>
              <a:srgbClr val="FFFFFF"/>
            </a:duotone>
            <a:lum bright="35000" contrast="40000"/>
          </a:blip>
          <a:stretch>
            <a:fillRect/>
          </a:stretch>
        </p:blipFill>
        <p:spPr>
          <a:xfrm>
            <a:off x="0" y="6420445"/>
            <a:ext cx="9144000" cy="437555"/>
          </a:xfrm>
          <a:prstGeom prst="rect">
            <a:avLst/>
          </a:prstGeom>
          <a:noFill/>
          <a:ln>
            <a:noFill/>
          </a:ln>
          <a:effectLst/>
        </p:spPr>
      </p:pic>
      <p:sp>
        <p:nvSpPr>
          <p:cNvPr id="2" name="标题占位符 1"/>
          <p:cNvSpPr>
            <a:spLocks noGrp="1"/>
          </p:cNvSpPr>
          <p:nvPr>
            <p:ph type="title"/>
          </p:nvPr>
        </p:nvSpPr>
        <p:spPr>
          <a:xfrm>
            <a:off x="457200" y="274638"/>
            <a:ext cx="8229600" cy="1143000"/>
          </a:xfrm>
          <a:prstGeom prst="rect">
            <a:avLst/>
          </a:prstGeom>
        </p:spPr>
        <p:txBody>
          <a:bodyPr vert="horz" rtlCol="0" anchor="ctr">
            <a:normAutofit/>
          </a:body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1600200"/>
            <a:ext cx="8229600" cy="4525963"/>
          </a:xfrm>
          <a:prstGeom prst="rect">
            <a:avLst/>
          </a:prstGeom>
        </p:spPr>
        <p:txBody>
          <a:bodyPr vert="horz" rtlCol="0">
            <a:normAutofit/>
          </a:bodyPr>
          <a:lstStyle/>
          <a:p>
            <a:pPr lvl="0" eaLnBrk="1" latinLnBrk="0" hangingPunct="1"/>
            <a:r>
              <a:rPr kumimoji="0" lang="zh-CN" altLang="en-US" smtClean="0"/>
              <a:t>单击此处编辑母版文本样式</a:t>
            </a:r>
          </a:p>
          <a:p>
            <a:pPr lvl="1" eaLnBrk="1" latinLnBrk="0" hangingPunct="1"/>
            <a:r>
              <a:rPr kumimoji="0" lang="zh-CN" altLang="en-US" smtClean="0"/>
              <a:t>第二级</a:t>
            </a:r>
          </a:p>
          <a:p>
            <a:pPr lvl="2" eaLnBrk="1" latinLnBrk="0" hangingPunct="1"/>
            <a:r>
              <a:rPr kumimoji="0" lang="zh-CN" altLang="en-US" smtClean="0"/>
              <a:t>第三级</a:t>
            </a:r>
          </a:p>
          <a:p>
            <a:pPr lvl="3" eaLnBrk="1" latinLnBrk="0" hangingPunct="1"/>
            <a:r>
              <a:rPr kumimoji="0" lang="zh-CN" altLang="en-US" smtClean="0"/>
              <a:t>第四级</a:t>
            </a:r>
          </a:p>
          <a:p>
            <a:pPr lvl="4" eaLnBrk="1" latinLnBrk="0" hangingPunct="1"/>
            <a:r>
              <a:rPr kumimoji="0" lang="zh-CN" altLang="en-US" smtClean="0"/>
              <a:t>第五级</a:t>
            </a:r>
            <a:endParaRPr kumimoji="0" lang="en-US"/>
          </a:p>
        </p:txBody>
      </p:sp>
      <p:sp>
        <p:nvSpPr>
          <p:cNvPr id="4" name="日期占位符 3"/>
          <p:cNvSpPr>
            <a:spLocks noGrp="1"/>
          </p:cNvSpPr>
          <p:nvPr>
            <p:ph type="dt" sz="half" idx="2"/>
          </p:nvPr>
        </p:nvSpPr>
        <p:spPr>
          <a:xfrm>
            <a:off x="457200" y="6356350"/>
            <a:ext cx="2133600" cy="365125"/>
          </a:xfrm>
          <a:prstGeom prst="rect">
            <a:avLst/>
          </a:prstGeom>
        </p:spPr>
        <p:txBody>
          <a:bodyPr vert="horz" rtlCol="0" anchor="ctr"/>
          <a:lstStyle>
            <a:lvl1pPr algn="l" eaLnBrk="1" latinLnBrk="0" hangingPunct="1">
              <a:defRPr kumimoji="0" sz="1200">
                <a:solidFill>
                  <a:schemeClr val="tx1">
                    <a:tint val="75000"/>
                  </a:schemeClr>
                </a:solidFill>
              </a:defRPr>
            </a:lvl1pPr>
          </a:lstStyle>
          <a:p>
            <a:fld id="{20DDE6A5-A424-40BA-8B55-C75A359D2B07}" type="datetimeFigureOut">
              <a:rPr lang="zh-CN" altLang="en-US" smtClean="0"/>
              <a:pPr/>
              <a:t>2021/9/28</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rtlCol="0" anchor="ctr"/>
          <a:lstStyle>
            <a:lvl1pPr algn="ctr" eaLnBrk="1" latinLnBrk="0" hangingPunct="1">
              <a:defRPr kumimoji="0"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rtlCol="0" anchor="ctr"/>
          <a:lstStyle>
            <a:lvl1pPr algn="r" eaLnBrk="1" latinLnBrk="0" hangingPunct="1">
              <a:defRPr kumimoji="0" sz="1200">
                <a:solidFill>
                  <a:schemeClr val="tx1">
                    <a:tint val="75000"/>
                  </a:schemeClr>
                </a:solidFill>
              </a:defRPr>
            </a:lvl1pPr>
          </a:lstStyle>
          <a:p>
            <a:fld id="{94B0A5CF-BB02-4D96-B8E2-DE0A1324A60A}" type="slidenum">
              <a:rPr lang="zh-CN" altLang="en-US" smtClean="0"/>
              <a:pPr/>
              <a:t>‹#›</a:t>
            </a:fld>
            <a:endParaRPr lang="zh-CN" altLang="en-US"/>
          </a:p>
        </p:txBody>
      </p:sp>
      <p:pic>
        <p:nvPicPr>
          <p:cNvPr id="12" name="Picture 5" descr="d57e99945712b42ed31b7026">
            <a:hlinkClick r:id="rId15"/>
          </p:cNvPr>
          <p:cNvPicPr>
            <a:picLocks noChangeAspect="1"/>
          </p:cNvPicPr>
          <p:nvPr userDrawn="1"/>
        </p:nvPicPr>
        <p:blipFill>
          <a:blip r:embed="rId16" cstate="print"/>
          <a:srcRect/>
          <a:stretch>
            <a:fillRect/>
          </a:stretch>
        </p:blipFill>
        <p:spPr bwMode="auto">
          <a:xfrm>
            <a:off x="7885113" y="5516563"/>
            <a:ext cx="719137" cy="720725"/>
          </a:xfrm>
          <a:prstGeom prst="rect">
            <a:avLst/>
          </a:prstGeom>
          <a:noFill/>
          <a:ln w="9525">
            <a:noFill/>
            <a:miter lim="800000"/>
            <a:headEnd/>
            <a:tailEnd/>
          </a:ln>
        </p:spPr>
      </p:pic>
      <p:sp>
        <p:nvSpPr>
          <p:cNvPr id="13" name="Text Box 3"/>
          <p:cNvSpPr txBox="1">
            <a:spLocks noChangeArrowheads="1"/>
          </p:cNvSpPr>
          <p:nvPr userDrawn="1"/>
        </p:nvSpPr>
        <p:spPr bwMode="auto">
          <a:xfrm>
            <a:off x="6660232" y="0"/>
            <a:ext cx="2232025" cy="581025"/>
          </a:xfrm>
          <a:prstGeom prst="rect">
            <a:avLst/>
          </a:prstGeom>
          <a:noFill/>
          <a:ln w="9525">
            <a:noFill/>
            <a:miter lim="800000"/>
          </a:ln>
          <a:effectLst/>
        </p:spPr>
        <p:txBody>
          <a:bodyPr wrap="none">
            <a:spAutoFit/>
          </a:bodyPr>
          <a:lstStyle/>
          <a:p>
            <a:pPr>
              <a:buFontTx/>
              <a:buNone/>
              <a:defRPr/>
            </a:pPr>
            <a:r>
              <a:rPr lang="zh-CN" altLang="en-US" sz="1600" b="1" dirty="0">
                <a:solidFill>
                  <a:srgbClr val="FFFF00"/>
                </a:solidFill>
                <a:effectLst>
                  <a:outerShdw blurRad="38100" dist="38100" dir="2700000" algn="tl">
                    <a:srgbClr val="000000"/>
                  </a:outerShdw>
                </a:effectLst>
              </a:rPr>
              <a:t>毛泽东思想和中国特色</a:t>
            </a:r>
          </a:p>
          <a:p>
            <a:pPr>
              <a:buFontTx/>
              <a:buNone/>
              <a:defRPr/>
            </a:pPr>
            <a:r>
              <a:rPr lang="zh-CN" altLang="en-US" sz="1600" b="1" dirty="0">
                <a:solidFill>
                  <a:srgbClr val="FFFF00"/>
                </a:solidFill>
                <a:effectLst>
                  <a:outerShdw blurRad="38100" dist="38100" dir="2700000" algn="tl">
                    <a:srgbClr val="000000"/>
                  </a:outerShdw>
                </a:effectLst>
              </a:rPr>
              <a:t>社会主义理论体系概论</a:t>
            </a:r>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ransition spd="med">
    <p:wipe dir="r"/>
  </p:transition>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accent1"/>
        </a:buClr>
        <a:buSzPct val="50000"/>
        <a:buFont typeface="Wingdings 2"/>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hyperlink" Target="http://image.hnol.net/go.html" TargetMode="External"/><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7.xml"/><Relationship Id="rId5" Type="http://schemas.openxmlformats.org/officeDocument/2006/relationships/image" Target="../media/image12.jpeg"/><Relationship Id="rId4" Type="http://schemas.openxmlformats.org/officeDocument/2006/relationships/image" Target="../media/image11.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7.xml"/><Relationship Id="rId1" Type="http://schemas.openxmlformats.org/officeDocument/2006/relationships/video" Target="file:///C:\Users\songyanping\Videos\Captures\&#24688;&#21516;&#23398;&#23569;&#24180;%20&#31532;23&#38598;.mp4"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7.xml"/><Relationship Id="rId1" Type="http://schemas.openxmlformats.org/officeDocument/2006/relationships/video" Target="file:///C:\Users\songyanping\Videos\Captures\&#36208;&#36817;&#27611;&#27901;&#19996;&#65288;&#19978;&#65289;.mp4"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7" Type="http://schemas.openxmlformats.org/officeDocument/2006/relationships/image" Target="../media/image19.jpeg"/><Relationship Id="rId2" Type="http://schemas.openxmlformats.org/officeDocument/2006/relationships/image" Target="../media/image14.jpeg"/><Relationship Id="rId1" Type="http://schemas.openxmlformats.org/officeDocument/2006/relationships/slideLayout" Target="../slideLayouts/slideLayout7.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6.jpeg"/></Relationships>
</file>

<file path=ppt/slides/_rels/slide1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7.xml"/><Relationship Id="rId4" Type="http://schemas.openxmlformats.org/officeDocument/2006/relationships/image" Target="../media/image29.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7.xml"/><Relationship Id="rId1" Type="http://schemas.openxmlformats.org/officeDocument/2006/relationships/video" Target="file:///C:\Users\songyanping\Videos\Captures\&#12298;&#27491;&#36947;&#27815;&#26705;&#8212;&#8212;&#31038;&#20250;&#20027;&#20041;500&#24180;&#12299;%20&#31532;&#19977;&#21313;&#20116;&#38598;%20&#21382;&#21490;&#20915;&#35758;.mp4"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s>
</file>

<file path=ppt/slides/_rels/slide40.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jpeg"/><Relationship Id="rId1" Type="http://schemas.openxmlformats.org/officeDocument/2006/relationships/slideLayout" Target="../slideLayouts/slideLayout7.xml"/><Relationship Id="rId4" Type="http://schemas.openxmlformats.org/officeDocument/2006/relationships/hyperlink" Target="http://baike.baidu.com/view/61891.htm"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7.xml"/><Relationship Id="rId1" Type="http://schemas.openxmlformats.org/officeDocument/2006/relationships/video" Target="file:///C:\Users\songyanping\Videos\Captures\&#25913;&#38761;&#24320;&#25918;&#20197;&#26469;&#25105;&#20204;&#20826;&#23545;&#27611;&#27901;&#19996;&#21516;&#24535;&#30340;&#20960;&#20010;&#37325;&#35201;&#35780;&#20215;&#65288;&#32426;&#24565;&#27611;&#27901;&#19996;&#21516;&#24535;&#35806;&#36784;120&#21608;&#24180;&#65289;--&#26102;&#25919;--&#20154;&#27665;&#32593;.mp4"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7.xml"/><Relationship Id="rId1" Type="http://schemas.openxmlformats.org/officeDocument/2006/relationships/video" Target="file:///C:\Users\songyanping\Videos\Captures\&#12298;&#30334;&#24180;&#23567;&#24179;&#12299;%20&#31532;&#20108;&#38598;%20&#20255;&#20154;&#33016;&#35167;.mp4"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ChangeArrowheads="1"/>
          </p:cNvSpPr>
          <p:nvPr/>
        </p:nvSpPr>
        <p:spPr bwMode="auto">
          <a:xfrm>
            <a:off x="642910" y="785794"/>
            <a:ext cx="7745514" cy="3009478"/>
          </a:xfrm>
          <a:prstGeom prst="rect">
            <a:avLst/>
          </a:prstGeom>
          <a:noFill/>
          <a:ln w="9525">
            <a:noFill/>
            <a:miter lim="800000"/>
            <a:headEnd/>
            <a:tailEnd/>
          </a:ln>
        </p:spPr>
        <p:txBody>
          <a:bodyPr wrap="square">
            <a:spAutoFit/>
          </a:bodyPr>
          <a:lstStyle/>
          <a:p>
            <a:pPr>
              <a:lnSpc>
                <a:spcPct val="150000"/>
              </a:lnSpc>
              <a:defRPr/>
            </a:pPr>
            <a:r>
              <a:rPr lang="zh-CN" altLang="en-US" sz="4800" spc="50" dirty="0" smtClean="0">
                <a:ln w="12700" cmpd="sng">
                  <a:solidFill>
                    <a:schemeClr val="accent6">
                      <a:satMod val="120000"/>
                      <a:shade val="80000"/>
                    </a:schemeClr>
                  </a:solidFill>
                  <a:prstDash val="solid"/>
                </a:ln>
                <a:solidFill>
                  <a:srgbClr val="FF0000"/>
                </a:solidFill>
                <a:effectLst>
                  <a:glow rad="53100">
                    <a:schemeClr val="accent6">
                      <a:satMod val="180000"/>
                      <a:alpha val="30000"/>
                    </a:schemeClr>
                  </a:glow>
                </a:effectLst>
                <a:latin typeface="华文琥珀" pitchFamily="2" charset="-122"/>
                <a:ea typeface="华文琥珀" pitchFamily="2" charset="-122"/>
              </a:rPr>
              <a:t>                 第一章   </a:t>
            </a:r>
            <a:endParaRPr lang="en-US" altLang="zh-CN" sz="4800" spc="50" dirty="0" smtClean="0">
              <a:ln w="12700" cmpd="sng">
                <a:solidFill>
                  <a:schemeClr val="accent6">
                    <a:satMod val="120000"/>
                    <a:shade val="80000"/>
                  </a:schemeClr>
                </a:solidFill>
                <a:prstDash val="solid"/>
              </a:ln>
              <a:solidFill>
                <a:srgbClr val="FF0000"/>
              </a:solidFill>
              <a:effectLst>
                <a:glow rad="53100">
                  <a:schemeClr val="accent6">
                    <a:satMod val="180000"/>
                    <a:alpha val="30000"/>
                  </a:schemeClr>
                </a:glow>
              </a:effectLst>
              <a:latin typeface="华文琥珀" pitchFamily="2" charset="-122"/>
              <a:ea typeface="华文琥珀" pitchFamily="2" charset="-122"/>
            </a:endParaRPr>
          </a:p>
          <a:p>
            <a:pPr>
              <a:lnSpc>
                <a:spcPct val="150000"/>
              </a:lnSpc>
              <a:defRPr/>
            </a:pPr>
            <a:r>
              <a:rPr lang="zh-CN" altLang="en-US" sz="4800" spc="50" dirty="0" smtClean="0">
                <a:ln w="12700" cmpd="sng">
                  <a:solidFill>
                    <a:schemeClr val="accent6">
                      <a:satMod val="120000"/>
                      <a:shade val="80000"/>
                    </a:schemeClr>
                  </a:solidFill>
                  <a:prstDash val="solid"/>
                </a:ln>
                <a:solidFill>
                  <a:srgbClr val="FF0000"/>
                </a:solidFill>
                <a:effectLst>
                  <a:glow rad="53100">
                    <a:schemeClr val="accent6">
                      <a:satMod val="180000"/>
                      <a:alpha val="30000"/>
                    </a:schemeClr>
                  </a:glow>
                </a:effectLst>
                <a:latin typeface="华文琥珀" pitchFamily="2" charset="-122"/>
                <a:ea typeface="华文琥珀" pitchFamily="2" charset="-122"/>
              </a:rPr>
              <a:t>   毛泽东思想及其历史地位</a:t>
            </a:r>
            <a:r>
              <a:rPr lang="zh-CN" altLang="en-US" sz="4800" spc="50" dirty="0">
                <a:ln w="12700" cmpd="sng">
                  <a:solidFill>
                    <a:schemeClr val="accent6">
                      <a:satMod val="120000"/>
                      <a:shade val="80000"/>
                    </a:schemeClr>
                  </a:solidFill>
                  <a:prstDash val="solid"/>
                </a:ln>
                <a:solidFill>
                  <a:srgbClr val="FF0000"/>
                </a:solidFill>
                <a:effectLst>
                  <a:glow rad="53100">
                    <a:schemeClr val="accent6">
                      <a:satMod val="180000"/>
                      <a:alpha val="30000"/>
                    </a:schemeClr>
                  </a:glow>
                </a:effectLst>
                <a:latin typeface="黑体" pitchFamily="49" charset="-122"/>
                <a:ea typeface="黑体" pitchFamily="49" charset="-122"/>
              </a:rPr>
              <a:t/>
            </a:r>
            <a:br>
              <a:rPr lang="zh-CN" altLang="en-US" sz="4800" spc="50" dirty="0">
                <a:ln w="12700" cmpd="sng">
                  <a:solidFill>
                    <a:schemeClr val="accent6">
                      <a:satMod val="120000"/>
                      <a:shade val="80000"/>
                    </a:schemeClr>
                  </a:solidFill>
                  <a:prstDash val="solid"/>
                </a:ln>
                <a:solidFill>
                  <a:srgbClr val="FF0000"/>
                </a:solidFill>
                <a:effectLst>
                  <a:glow rad="53100">
                    <a:schemeClr val="accent6">
                      <a:satMod val="180000"/>
                      <a:alpha val="30000"/>
                    </a:schemeClr>
                  </a:glow>
                </a:effectLst>
                <a:latin typeface="黑体" pitchFamily="49" charset="-122"/>
                <a:ea typeface="黑体" pitchFamily="49" charset="-122"/>
              </a:rPr>
            </a:br>
            <a:endParaRPr lang="zh-CN" altLang="en-US" sz="3600" dirty="0">
              <a:solidFill>
                <a:schemeClr val="folHlink"/>
              </a:solidFill>
              <a:latin typeface="黑体" pitchFamily="49" charset="-122"/>
              <a:ea typeface="黑体" pitchFamily="49" charset="-122"/>
            </a:endParaRPr>
          </a:p>
        </p:txBody>
      </p:sp>
      <p:sp>
        <p:nvSpPr>
          <p:cNvPr id="3" name="矩形 2"/>
          <p:cNvSpPr/>
          <p:nvPr/>
        </p:nvSpPr>
        <p:spPr>
          <a:xfrm>
            <a:off x="3563888" y="4365103"/>
            <a:ext cx="1574470" cy="646331"/>
          </a:xfrm>
          <a:prstGeom prst="rect">
            <a:avLst/>
          </a:prstGeom>
        </p:spPr>
        <p:txBody>
          <a:bodyPr wrap="none">
            <a:spAutoFit/>
          </a:bodyPr>
          <a:lstStyle/>
          <a:p>
            <a:r>
              <a:rPr lang="zh-CN" altLang="en-US" sz="3600" b="1" dirty="0">
                <a:solidFill>
                  <a:srgbClr val="0000FF"/>
                </a:solidFill>
                <a:latin typeface="黑体" pitchFamily="49" charset="-122"/>
                <a:ea typeface="黑体" pitchFamily="49" charset="-122"/>
              </a:rPr>
              <a:t>宋艳萍</a:t>
            </a:r>
            <a:endParaRPr lang="en-US" altLang="zh-CN" sz="3600" b="1" dirty="0" smtClean="0">
              <a:solidFill>
                <a:srgbClr val="0000FF"/>
              </a:solidFill>
              <a:latin typeface="黑体" pitchFamily="49" charset="-122"/>
              <a:ea typeface="黑体" pitchFamily="49" charset="-122"/>
            </a:endParaRPr>
          </a:p>
        </p:txBody>
      </p:sp>
    </p:spTree>
  </p:cSld>
  <p:clrMapOvr>
    <a:masterClrMapping/>
  </p:clrMapOvr>
  <p:transition spd="med">
    <p:wipe dir="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ChangeArrowheads="1"/>
          </p:cNvSpPr>
          <p:nvPr/>
        </p:nvSpPr>
        <p:spPr bwMode="auto">
          <a:xfrm>
            <a:off x="0" y="0"/>
            <a:ext cx="9144000" cy="6740307"/>
          </a:xfrm>
          <a:prstGeom prst="rect">
            <a:avLst/>
          </a:prstGeom>
          <a:solidFill>
            <a:schemeClr val="bg1"/>
          </a:solidFill>
          <a:ln w="9525">
            <a:solidFill>
              <a:schemeClr val="accent1"/>
            </a:solidFill>
            <a:miter lim="800000"/>
            <a:headEnd/>
            <a:tailEnd/>
          </a:ln>
        </p:spPr>
        <p:txBody>
          <a:bodyPr wrap="square">
            <a:spAutoFit/>
          </a:bodyPr>
          <a:lstStyle/>
          <a:p>
            <a:pPr>
              <a:lnSpc>
                <a:spcPct val="150000"/>
              </a:lnSpc>
              <a:defRPr/>
            </a:pPr>
            <a:r>
              <a:rPr lang="zh-CN" altLang="en-US" sz="3600" b="0" spc="50" dirty="0" smtClean="0">
                <a:ln w="12700" cmpd="sng">
                  <a:solidFill>
                    <a:schemeClr val="accent6">
                      <a:satMod val="120000"/>
                      <a:shade val="80000"/>
                    </a:schemeClr>
                  </a:solidFill>
                  <a:prstDash val="solid"/>
                </a:ln>
                <a:solidFill>
                  <a:srgbClr val="FF0000"/>
                </a:solidFill>
                <a:effectLst>
                  <a:glow rad="53100">
                    <a:schemeClr val="accent6">
                      <a:satMod val="180000"/>
                      <a:alpha val="30000"/>
                    </a:schemeClr>
                  </a:glow>
                </a:effectLst>
                <a:latin typeface="黑体" pitchFamily="49" charset="-122"/>
                <a:ea typeface="黑体" pitchFamily="49" charset="-122"/>
              </a:rPr>
              <a:t>学习目的与要求：</a:t>
            </a:r>
            <a:endParaRPr lang="en-US" altLang="zh-CN" sz="3600" b="0" spc="50" dirty="0" smtClean="0">
              <a:ln w="12700" cmpd="sng">
                <a:solidFill>
                  <a:schemeClr val="accent6">
                    <a:satMod val="120000"/>
                    <a:shade val="80000"/>
                  </a:schemeClr>
                </a:solidFill>
                <a:prstDash val="solid"/>
              </a:ln>
              <a:solidFill>
                <a:srgbClr val="FF0000"/>
              </a:solidFill>
              <a:effectLst>
                <a:glow rad="53100">
                  <a:schemeClr val="accent6">
                    <a:satMod val="180000"/>
                    <a:alpha val="30000"/>
                  </a:schemeClr>
                </a:glow>
              </a:effectLst>
              <a:latin typeface="黑体" pitchFamily="49" charset="-122"/>
              <a:ea typeface="黑体" pitchFamily="49" charset="-122"/>
            </a:endParaRPr>
          </a:p>
          <a:p>
            <a:pPr>
              <a:lnSpc>
                <a:spcPct val="150000"/>
              </a:lnSpc>
              <a:defRPr/>
            </a:pPr>
            <a:r>
              <a:rPr lang="en-US" altLang="zh-CN" sz="3600" spc="50" dirty="0" smtClean="0">
                <a:ln w="12700" cmpd="sng">
                  <a:solidFill>
                    <a:schemeClr val="accent6">
                      <a:satMod val="120000"/>
                      <a:shade val="80000"/>
                    </a:schemeClr>
                  </a:solidFill>
                  <a:prstDash val="solid"/>
                </a:ln>
                <a:solidFill>
                  <a:srgbClr val="FF0000"/>
                </a:solidFill>
                <a:effectLst>
                  <a:glow rad="53100">
                    <a:schemeClr val="accent6">
                      <a:satMod val="180000"/>
                      <a:alpha val="30000"/>
                    </a:schemeClr>
                  </a:glow>
                </a:effectLst>
                <a:latin typeface="黑体" pitchFamily="49" charset="-122"/>
                <a:ea typeface="黑体" pitchFamily="49" charset="-122"/>
              </a:rPr>
              <a:t>1</a:t>
            </a:r>
            <a:r>
              <a:rPr lang="zh-CN" altLang="en-US" sz="3600" spc="50" dirty="0" smtClean="0">
                <a:ln w="12700" cmpd="sng">
                  <a:solidFill>
                    <a:schemeClr val="accent6">
                      <a:satMod val="120000"/>
                      <a:shade val="80000"/>
                    </a:schemeClr>
                  </a:solidFill>
                  <a:prstDash val="solid"/>
                </a:ln>
                <a:solidFill>
                  <a:srgbClr val="FF0000"/>
                </a:solidFill>
                <a:effectLst>
                  <a:glow rad="53100">
                    <a:schemeClr val="accent6">
                      <a:satMod val="180000"/>
                      <a:alpha val="30000"/>
                    </a:schemeClr>
                  </a:glow>
                </a:effectLst>
                <a:latin typeface="黑体" pitchFamily="49" charset="-122"/>
                <a:ea typeface="黑体" pitchFamily="49" charset="-122"/>
              </a:rPr>
              <a:t>、了解</a:t>
            </a:r>
            <a:r>
              <a:rPr lang="zh-CN" altLang="en-US" sz="3600" b="0" spc="50" dirty="0" smtClean="0">
                <a:ln w="12700" cmpd="sng">
                  <a:solidFill>
                    <a:schemeClr val="accent6">
                      <a:satMod val="120000"/>
                      <a:shade val="80000"/>
                    </a:schemeClr>
                  </a:solidFill>
                  <a:prstDash val="solid"/>
                </a:ln>
                <a:solidFill>
                  <a:srgbClr val="FF0000"/>
                </a:solidFill>
                <a:effectLst>
                  <a:glow rad="53100">
                    <a:schemeClr val="accent6">
                      <a:satMod val="180000"/>
                      <a:alpha val="30000"/>
                    </a:schemeClr>
                  </a:glow>
                </a:effectLst>
                <a:latin typeface="黑体" pitchFamily="49" charset="-122"/>
                <a:ea typeface="黑体" pitchFamily="49" charset="-122"/>
              </a:rPr>
              <a:t>毛泽东思想</a:t>
            </a:r>
            <a:r>
              <a:rPr lang="zh-CN" altLang="en-US" sz="3600" b="0" spc="50" dirty="0">
                <a:ln w="12700" cmpd="sng">
                  <a:solidFill>
                    <a:schemeClr val="accent6">
                      <a:satMod val="120000"/>
                      <a:shade val="80000"/>
                    </a:schemeClr>
                  </a:solidFill>
                  <a:prstDash val="solid"/>
                </a:ln>
                <a:solidFill>
                  <a:srgbClr val="FF0000"/>
                </a:solidFill>
                <a:effectLst>
                  <a:glow rad="53100">
                    <a:schemeClr val="accent6">
                      <a:satMod val="180000"/>
                      <a:alpha val="30000"/>
                    </a:schemeClr>
                  </a:glow>
                </a:effectLst>
                <a:latin typeface="黑体" pitchFamily="49" charset="-122"/>
                <a:ea typeface="黑体" pitchFamily="49" charset="-122"/>
              </a:rPr>
              <a:t>形成和发展的社会历史</a:t>
            </a:r>
            <a:r>
              <a:rPr lang="zh-CN" altLang="en-US" sz="3600" b="0" spc="50" dirty="0" smtClean="0">
                <a:ln w="12700" cmpd="sng">
                  <a:solidFill>
                    <a:schemeClr val="accent6">
                      <a:satMod val="120000"/>
                      <a:shade val="80000"/>
                    </a:schemeClr>
                  </a:solidFill>
                  <a:prstDash val="solid"/>
                </a:ln>
                <a:solidFill>
                  <a:srgbClr val="FF0000"/>
                </a:solidFill>
                <a:effectLst>
                  <a:glow rad="53100">
                    <a:schemeClr val="accent6">
                      <a:satMod val="180000"/>
                      <a:alpha val="30000"/>
                    </a:schemeClr>
                  </a:glow>
                </a:effectLst>
                <a:latin typeface="黑体" pitchFamily="49" charset="-122"/>
                <a:ea typeface="黑体" pitchFamily="49" charset="-122"/>
              </a:rPr>
              <a:t>条件及过程</a:t>
            </a:r>
            <a:endParaRPr lang="en-US" altLang="zh-CN" sz="3600" b="0" spc="50" dirty="0">
              <a:ln w="12700" cmpd="sng">
                <a:solidFill>
                  <a:schemeClr val="accent6">
                    <a:satMod val="120000"/>
                    <a:shade val="80000"/>
                  </a:schemeClr>
                </a:solidFill>
                <a:prstDash val="solid"/>
              </a:ln>
              <a:solidFill>
                <a:srgbClr val="FF0000"/>
              </a:solidFill>
              <a:effectLst>
                <a:glow rad="53100">
                  <a:schemeClr val="accent6">
                    <a:satMod val="180000"/>
                    <a:alpha val="30000"/>
                  </a:schemeClr>
                </a:glow>
              </a:effectLst>
              <a:latin typeface="黑体" pitchFamily="49" charset="-122"/>
              <a:ea typeface="黑体" pitchFamily="49" charset="-122"/>
            </a:endParaRPr>
          </a:p>
          <a:p>
            <a:pPr>
              <a:lnSpc>
                <a:spcPct val="150000"/>
              </a:lnSpc>
              <a:defRPr/>
            </a:pPr>
            <a:r>
              <a:rPr lang="en-US" altLang="zh-CN" sz="3600" b="0" spc="50" dirty="0" smtClean="0">
                <a:ln w="12700" cmpd="sng">
                  <a:solidFill>
                    <a:schemeClr val="accent6">
                      <a:satMod val="120000"/>
                      <a:shade val="80000"/>
                    </a:schemeClr>
                  </a:solidFill>
                  <a:prstDash val="solid"/>
                </a:ln>
                <a:solidFill>
                  <a:srgbClr val="FF0000"/>
                </a:solidFill>
                <a:effectLst>
                  <a:glow rad="53100">
                    <a:schemeClr val="accent6">
                      <a:satMod val="180000"/>
                      <a:alpha val="30000"/>
                    </a:schemeClr>
                  </a:glow>
                </a:effectLst>
                <a:latin typeface="黑体" pitchFamily="49" charset="-122"/>
                <a:ea typeface="黑体" pitchFamily="49" charset="-122"/>
              </a:rPr>
              <a:t>2</a:t>
            </a:r>
            <a:r>
              <a:rPr lang="zh-CN" altLang="en-US" sz="3600" b="0" spc="50" dirty="0" smtClean="0">
                <a:ln w="12700" cmpd="sng">
                  <a:solidFill>
                    <a:schemeClr val="accent6">
                      <a:satMod val="120000"/>
                      <a:shade val="80000"/>
                    </a:schemeClr>
                  </a:solidFill>
                  <a:prstDash val="solid"/>
                </a:ln>
                <a:solidFill>
                  <a:srgbClr val="FF0000"/>
                </a:solidFill>
                <a:effectLst>
                  <a:glow rad="53100">
                    <a:schemeClr val="accent6">
                      <a:satMod val="180000"/>
                      <a:alpha val="30000"/>
                    </a:schemeClr>
                  </a:glow>
                </a:effectLst>
                <a:latin typeface="黑体" pitchFamily="49" charset="-122"/>
                <a:ea typeface="黑体" pitchFamily="49" charset="-122"/>
              </a:rPr>
              <a:t>、</a:t>
            </a:r>
            <a:r>
              <a:rPr lang="zh-CN" altLang="en-US" sz="3600" spc="50" dirty="0" smtClean="0">
                <a:ln w="12700" cmpd="sng">
                  <a:solidFill>
                    <a:schemeClr val="accent6">
                      <a:satMod val="120000"/>
                      <a:shade val="80000"/>
                    </a:schemeClr>
                  </a:solidFill>
                  <a:prstDash val="solid"/>
                </a:ln>
                <a:solidFill>
                  <a:srgbClr val="FF0000"/>
                </a:solidFill>
                <a:effectLst>
                  <a:glow rad="53100">
                    <a:schemeClr val="accent6">
                      <a:satMod val="180000"/>
                      <a:alpha val="30000"/>
                    </a:schemeClr>
                  </a:glow>
                </a:effectLst>
                <a:latin typeface="黑体" pitchFamily="49" charset="-122"/>
                <a:ea typeface="黑体" pitchFamily="49" charset="-122"/>
              </a:rPr>
              <a:t>掌握毛泽东思想的主要内容，把握毛泽东思想的活的灵魂</a:t>
            </a:r>
            <a:endParaRPr lang="en-US" altLang="zh-CN" sz="3600" b="0" spc="50" dirty="0" smtClean="0">
              <a:ln w="12700" cmpd="sng">
                <a:solidFill>
                  <a:schemeClr val="accent6">
                    <a:satMod val="120000"/>
                    <a:shade val="80000"/>
                  </a:schemeClr>
                </a:solidFill>
                <a:prstDash val="solid"/>
              </a:ln>
              <a:solidFill>
                <a:srgbClr val="FF0000"/>
              </a:solidFill>
              <a:effectLst>
                <a:glow rad="53100">
                  <a:schemeClr val="accent6">
                    <a:satMod val="180000"/>
                    <a:alpha val="30000"/>
                  </a:schemeClr>
                </a:glow>
              </a:effectLst>
              <a:latin typeface="黑体" pitchFamily="49" charset="-122"/>
              <a:ea typeface="黑体" pitchFamily="49" charset="-122"/>
            </a:endParaRPr>
          </a:p>
          <a:p>
            <a:pPr>
              <a:lnSpc>
                <a:spcPct val="150000"/>
              </a:lnSpc>
              <a:defRPr/>
            </a:pPr>
            <a:r>
              <a:rPr lang="en-US" altLang="zh-CN" sz="3600" spc="50" dirty="0" smtClean="0">
                <a:ln w="12700" cmpd="sng">
                  <a:solidFill>
                    <a:schemeClr val="accent6">
                      <a:satMod val="120000"/>
                      <a:shade val="80000"/>
                    </a:schemeClr>
                  </a:solidFill>
                  <a:prstDash val="solid"/>
                </a:ln>
                <a:solidFill>
                  <a:srgbClr val="FF0000"/>
                </a:solidFill>
                <a:effectLst>
                  <a:glow rad="53100">
                    <a:schemeClr val="accent6">
                      <a:satMod val="180000"/>
                      <a:alpha val="30000"/>
                    </a:schemeClr>
                  </a:glow>
                </a:effectLst>
                <a:latin typeface="黑体" pitchFamily="49" charset="-122"/>
                <a:ea typeface="黑体" pitchFamily="49" charset="-122"/>
              </a:rPr>
              <a:t>3</a:t>
            </a:r>
            <a:r>
              <a:rPr lang="zh-CN" altLang="en-US" sz="3600" spc="50" dirty="0" smtClean="0">
                <a:ln w="12700" cmpd="sng">
                  <a:solidFill>
                    <a:schemeClr val="accent6">
                      <a:satMod val="120000"/>
                      <a:shade val="80000"/>
                    </a:schemeClr>
                  </a:solidFill>
                  <a:prstDash val="solid"/>
                </a:ln>
                <a:solidFill>
                  <a:srgbClr val="FF0000"/>
                </a:solidFill>
                <a:effectLst>
                  <a:glow rad="53100">
                    <a:schemeClr val="accent6">
                      <a:satMod val="180000"/>
                      <a:alpha val="30000"/>
                    </a:schemeClr>
                  </a:glow>
                </a:effectLst>
                <a:latin typeface="黑体" pitchFamily="49" charset="-122"/>
                <a:ea typeface="黑体" pitchFamily="49" charset="-122"/>
              </a:rPr>
              <a:t>、正确认识</a:t>
            </a:r>
            <a:r>
              <a:rPr lang="zh-CN" altLang="en-US" sz="3600" b="0" spc="50" dirty="0" smtClean="0">
                <a:ln w="12700" cmpd="sng">
                  <a:solidFill>
                    <a:schemeClr val="accent6">
                      <a:satMod val="120000"/>
                      <a:shade val="80000"/>
                    </a:schemeClr>
                  </a:solidFill>
                  <a:prstDash val="solid"/>
                </a:ln>
                <a:solidFill>
                  <a:srgbClr val="FF0000"/>
                </a:solidFill>
                <a:effectLst>
                  <a:glow rad="53100">
                    <a:schemeClr val="accent6">
                      <a:satMod val="180000"/>
                      <a:alpha val="30000"/>
                    </a:schemeClr>
                  </a:glow>
                </a:effectLst>
                <a:latin typeface="黑体" pitchFamily="49" charset="-122"/>
                <a:ea typeface="黑体" pitchFamily="49" charset="-122"/>
              </a:rPr>
              <a:t>毛泽东思想的历史地位，掌握科学评价毛泽东和毛泽东思想的原则和方法，树立正确的历史观</a:t>
            </a:r>
            <a:endParaRPr lang="en-US" altLang="zh-CN" sz="3600" b="0" spc="50" dirty="0">
              <a:ln w="12700" cmpd="sng">
                <a:solidFill>
                  <a:schemeClr val="accent6">
                    <a:satMod val="120000"/>
                    <a:shade val="80000"/>
                  </a:schemeClr>
                </a:solidFill>
                <a:prstDash val="solid"/>
              </a:ln>
              <a:solidFill>
                <a:srgbClr val="FF0000"/>
              </a:solidFill>
              <a:effectLst>
                <a:glow rad="53100">
                  <a:schemeClr val="accent6">
                    <a:satMod val="180000"/>
                    <a:alpha val="30000"/>
                  </a:schemeClr>
                </a:glow>
              </a:effectLst>
              <a:latin typeface="黑体" pitchFamily="49" charset="-122"/>
              <a:ea typeface="黑体" pitchFamily="49" charset="-122"/>
            </a:endParaRPr>
          </a:p>
        </p:txBody>
      </p:sp>
    </p:spTree>
  </p:cSld>
  <p:clrMapOvr>
    <a:masterClrMapping/>
  </p:clrMapOvr>
  <p:transition spd="med">
    <p:wipe dir="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ChangeArrowheads="1"/>
          </p:cNvSpPr>
          <p:nvPr/>
        </p:nvSpPr>
        <p:spPr bwMode="auto">
          <a:xfrm>
            <a:off x="571472" y="2000240"/>
            <a:ext cx="8429684" cy="4247317"/>
          </a:xfrm>
          <a:prstGeom prst="rect">
            <a:avLst/>
          </a:prstGeom>
          <a:solidFill>
            <a:schemeClr val="bg1"/>
          </a:solidFill>
          <a:ln w="9525">
            <a:solidFill>
              <a:schemeClr val="accent1"/>
            </a:solidFill>
            <a:miter lim="800000"/>
            <a:headEnd/>
            <a:tailEnd/>
          </a:ln>
        </p:spPr>
        <p:txBody>
          <a:bodyPr wrap="square">
            <a:spAutoFit/>
          </a:bodyPr>
          <a:lstStyle/>
          <a:p>
            <a:pPr>
              <a:lnSpc>
                <a:spcPct val="150000"/>
              </a:lnSpc>
              <a:defRPr/>
            </a:pPr>
            <a:r>
              <a:rPr lang="en-US" altLang="zh-CN" sz="3600" b="0" spc="50" dirty="0" smtClean="0">
                <a:ln w="12700" cmpd="sng">
                  <a:solidFill>
                    <a:schemeClr val="accent6">
                      <a:satMod val="120000"/>
                      <a:shade val="80000"/>
                    </a:schemeClr>
                  </a:solidFill>
                  <a:prstDash val="solid"/>
                </a:ln>
                <a:solidFill>
                  <a:srgbClr val="FF0000"/>
                </a:solidFill>
                <a:effectLst>
                  <a:glow rad="53100">
                    <a:schemeClr val="accent6">
                      <a:satMod val="180000"/>
                      <a:alpha val="30000"/>
                    </a:schemeClr>
                  </a:glow>
                </a:effectLst>
                <a:latin typeface="黑体" pitchFamily="49" charset="-122"/>
                <a:ea typeface="黑体" pitchFamily="49" charset="-122"/>
              </a:rPr>
              <a:t>1</a:t>
            </a:r>
            <a:r>
              <a:rPr lang="zh-CN" altLang="en-US" sz="3600" b="0" spc="50" dirty="0" smtClean="0">
                <a:ln w="12700" cmpd="sng">
                  <a:solidFill>
                    <a:schemeClr val="accent6">
                      <a:satMod val="120000"/>
                      <a:shade val="80000"/>
                    </a:schemeClr>
                  </a:solidFill>
                  <a:prstDash val="solid"/>
                </a:ln>
                <a:solidFill>
                  <a:srgbClr val="FF0000"/>
                </a:solidFill>
                <a:effectLst>
                  <a:glow rad="53100">
                    <a:schemeClr val="accent6">
                      <a:satMod val="180000"/>
                      <a:alpha val="30000"/>
                    </a:schemeClr>
                  </a:glow>
                </a:effectLst>
                <a:latin typeface="黑体" pitchFamily="49" charset="-122"/>
                <a:ea typeface="黑体" pitchFamily="49" charset="-122"/>
              </a:rPr>
              <a:t>、毛泽东思想</a:t>
            </a:r>
            <a:r>
              <a:rPr lang="zh-CN" altLang="en-US" sz="3600" b="0" spc="50" dirty="0">
                <a:ln w="12700" cmpd="sng">
                  <a:solidFill>
                    <a:schemeClr val="accent6">
                      <a:satMod val="120000"/>
                      <a:shade val="80000"/>
                    </a:schemeClr>
                  </a:solidFill>
                  <a:prstDash val="solid"/>
                </a:ln>
                <a:solidFill>
                  <a:srgbClr val="FF0000"/>
                </a:solidFill>
                <a:effectLst>
                  <a:glow rad="53100">
                    <a:schemeClr val="accent6">
                      <a:satMod val="180000"/>
                      <a:alpha val="30000"/>
                    </a:schemeClr>
                  </a:glow>
                </a:effectLst>
                <a:latin typeface="黑体" pitchFamily="49" charset="-122"/>
                <a:ea typeface="黑体" pitchFamily="49" charset="-122"/>
              </a:rPr>
              <a:t>形成和发展的社会历史条件</a:t>
            </a:r>
            <a:endParaRPr lang="en-US" altLang="zh-CN" sz="3600" b="0" spc="50" dirty="0">
              <a:ln w="12700" cmpd="sng">
                <a:solidFill>
                  <a:schemeClr val="accent6">
                    <a:satMod val="120000"/>
                    <a:shade val="80000"/>
                  </a:schemeClr>
                </a:solidFill>
                <a:prstDash val="solid"/>
              </a:ln>
              <a:solidFill>
                <a:srgbClr val="FF0000"/>
              </a:solidFill>
              <a:effectLst>
                <a:glow rad="53100">
                  <a:schemeClr val="accent6">
                    <a:satMod val="180000"/>
                    <a:alpha val="30000"/>
                  </a:schemeClr>
                </a:glow>
              </a:effectLst>
              <a:latin typeface="黑体" pitchFamily="49" charset="-122"/>
              <a:ea typeface="黑体" pitchFamily="49" charset="-122"/>
            </a:endParaRPr>
          </a:p>
          <a:p>
            <a:pPr>
              <a:lnSpc>
                <a:spcPct val="150000"/>
              </a:lnSpc>
              <a:defRPr/>
            </a:pPr>
            <a:r>
              <a:rPr lang="en-US" altLang="zh-CN" sz="3600" b="0" spc="50" dirty="0" smtClean="0">
                <a:ln w="12700" cmpd="sng">
                  <a:solidFill>
                    <a:schemeClr val="accent6">
                      <a:satMod val="120000"/>
                      <a:shade val="80000"/>
                    </a:schemeClr>
                  </a:solidFill>
                  <a:prstDash val="solid"/>
                </a:ln>
                <a:solidFill>
                  <a:srgbClr val="FF0000"/>
                </a:solidFill>
                <a:effectLst>
                  <a:glow rad="53100">
                    <a:schemeClr val="accent6">
                      <a:satMod val="180000"/>
                      <a:alpha val="30000"/>
                    </a:schemeClr>
                  </a:glow>
                </a:effectLst>
                <a:latin typeface="黑体" pitchFamily="49" charset="-122"/>
                <a:ea typeface="黑体" pitchFamily="49" charset="-122"/>
              </a:rPr>
              <a:t>2</a:t>
            </a:r>
            <a:r>
              <a:rPr lang="zh-CN" altLang="en-US" sz="3600" b="0" spc="50" dirty="0" smtClean="0">
                <a:ln w="12700" cmpd="sng">
                  <a:solidFill>
                    <a:schemeClr val="accent6">
                      <a:satMod val="120000"/>
                      <a:shade val="80000"/>
                    </a:schemeClr>
                  </a:solidFill>
                  <a:prstDash val="solid"/>
                </a:ln>
                <a:solidFill>
                  <a:srgbClr val="FF0000"/>
                </a:solidFill>
                <a:effectLst>
                  <a:glow rad="53100">
                    <a:schemeClr val="accent6">
                      <a:satMod val="180000"/>
                      <a:alpha val="30000"/>
                    </a:schemeClr>
                  </a:glow>
                </a:effectLst>
                <a:latin typeface="黑体" pitchFamily="49" charset="-122"/>
                <a:ea typeface="黑体" pitchFamily="49" charset="-122"/>
              </a:rPr>
              <a:t>、毛泽东思想</a:t>
            </a:r>
            <a:r>
              <a:rPr lang="zh-CN" altLang="en-US" sz="3600" b="0" spc="50" dirty="0">
                <a:ln w="12700" cmpd="sng">
                  <a:solidFill>
                    <a:schemeClr val="accent6">
                      <a:satMod val="120000"/>
                      <a:shade val="80000"/>
                    </a:schemeClr>
                  </a:solidFill>
                  <a:prstDash val="solid"/>
                </a:ln>
                <a:solidFill>
                  <a:srgbClr val="FF0000"/>
                </a:solidFill>
                <a:effectLst>
                  <a:glow rad="53100">
                    <a:schemeClr val="accent6">
                      <a:satMod val="180000"/>
                      <a:alpha val="30000"/>
                    </a:schemeClr>
                  </a:glow>
                </a:effectLst>
                <a:latin typeface="黑体" pitchFamily="49" charset="-122"/>
                <a:ea typeface="黑体" pitchFamily="49" charset="-122"/>
              </a:rPr>
              <a:t>的科学体系和</a:t>
            </a:r>
            <a:r>
              <a:rPr lang="zh-CN" altLang="en-US" sz="3600" b="0" spc="50" dirty="0" smtClean="0">
                <a:ln w="12700" cmpd="sng">
                  <a:solidFill>
                    <a:schemeClr val="accent6">
                      <a:satMod val="120000"/>
                      <a:shade val="80000"/>
                    </a:schemeClr>
                  </a:solidFill>
                  <a:prstDash val="solid"/>
                </a:ln>
                <a:solidFill>
                  <a:srgbClr val="FF0000"/>
                </a:solidFill>
                <a:effectLst>
                  <a:glow rad="53100">
                    <a:schemeClr val="accent6">
                      <a:satMod val="180000"/>
                      <a:alpha val="30000"/>
                    </a:schemeClr>
                  </a:glow>
                </a:effectLst>
                <a:latin typeface="黑体" pitchFamily="49" charset="-122"/>
                <a:ea typeface="黑体" pitchFamily="49" charset="-122"/>
              </a:rPr>
              <a:t>内容</a:t>
            </a:r>
            <a:endParaRPr lang="en-US" altLang="zh-CN" sz="3600" b="0" spc="50" dirty="0" smtClean="0">
              <a:ln w="12700" cmpd="sng">
                <a:solidFill>
                  <a:schemeClr val="accent6">
                    <a:satMod val="120000"/>
                    <a:shade val="80000"/>
                  </a:schemeClr>
                </a:solidFill>
                <a:prstDash val="solid"/>
              </a:ln>
              <a:solidFill>
                <a:srgbClr val="FF0000"/>
              </a:solidFill>
              <a:effectLst>
                <a:glow rad="53100">
                  <a:schemeClr val="accent6">
                    <a:satMod val="180000"/>
                    <a:alpha val="30000"/>
                  </a:schemeClr>
                </a:glow>
              </a:effectLst>
              <a:latin typeface="黑体" pitchFamily="49" charset="-122"/>
              <a:ea typeface="黑体" pitchFamily="49" charset="-122"/>
            </a:endParaRPr>
          </a:p>
          <a:p>
            <a:pPr>
              <a:lnSpc>
                <a:spcPct val="150000"/>
              </a:lnSpc>
              <a:defRPr/>
            </a:pPr>
            <a:r>
              <a:rPr lang="en-US" altLang="zh-CN" sz="3600" spc="50" dirty="0" smtClean="0">
                <a:ln w="12700" cmpd="sng">
                  <a:solidFill>
                    <a:schemeClr val="accent6">
                      <a:satMod val="120000"/>
                      <a:shade val="80000"/>
                    </a:schemeClr>
                  </a:solidFill>
                  <a:prstDash val="solid"/>
                </a:ln>
                <a:solidFill>
                  <a:srgbClr val="FF0000"/>
                </a:solidFill>
                <a:effectLst>
                  <a:glow rad="53100">
                    <a:schemeClr val="accent6">
                      <a:satMod val="180000"/>
                      <a:alpha val="30000"/>
                    </a:schemeClr>
                  </a:glow>
                </a:effectLst>
                <a:latin typeface="黑体" pitchFamily="49" charset="-122"/>
                <a:ea typeface="黑体" pitchFamily="49" charset="-122"/>
              </a:rPr>
              <a:t>3</a:t>
            </a:r>
            <a:r>
              <a:rPr lang="zh-CN" altLang="en-US" sz="3600" spc="50" dirty="0" smtClean="0">
                <a:ln w="12700" cmpd="sng">
                  <a:solidFill>
                    <a:schemeClr val="accent6">
                      <a:satMod val="120000"/>
                      <a:shade val="80000"/>
                    </a:schemeClr>
                  </a:solidFill>
                  <a:prstDash val="solid"/>
                </a:ln>
                <a:solidFill>
                  <a:srgbClr val="FF0000"/>
                </a:solidFill>
                <a:effectLst>
                  <a:glow rad="53100">
                    <a:schemeClr val="accent6">
                      <a:satMod val="180000"/>
                      <a:alpha val="30000"/>
                    </a:schemeClr>
                  </a:glow>
                </a:effectLst>
                <a:latin typeface="黑体" pitchFamily="49" charset="-122"/>
                <a:ea typeface="黑体" pitchFamily="49" charset="-122"/>
              </a:rPr>
              <a:t>、毛泽东思想活的灵魂</a:t>
            </a:r>
            <a:endParaRPr lang="en-US" altLang="zh-CN" sz="3600" spc="50" dirty="0" smtClean="0">
              <a:ln w="12700" cmpd="sng">
                <a:solidFill>
                  <a:schemeClr val="accent6">
                    <a:satMod val="120000"/>
                    <a:shade val="80000"/>
                  </a:schemeClr>
                </a:solidFill>
                <a:prstDash val="solid"/>
              </a:ln>
              <a:solidFill>
                <a:srgbClr val="FF0000"/>
              </a:solidFill>
              <a:effectLst>
                <a:glow rad="53100">
                  <a:schemeClr val="accent6">
                    <a:satMod val="180000"/>
                    <a:alpha val="30000"/>
                  </a:schemeClr>
                </a:glow>
              </a:effectLst>
              <a:latin typeface="黑体" pitchFamily="49" charset="-122"/>
              <a:ea typeface="黑体" pitchFamily="49" charset="-122"/>
            </a:endParaRPr>
          </a:p>
          <a:p>
            <a:pPr>
              <a:lnSpc>
                <a:spcPct val="150000"/>
              </a:lnSpc>
              <a:defRPr/>
            </a:pPr>
            <a:r>
              <a:rPr lang="en-US" altLang="zh-CN" sz="3600" b="0" spc="50" dirty="0" smtClean="0">
                <a:ln w="12700" cmpd="sng">
                  <a:solidFill>
                    <a:schemeClr val="accent6">
                      <a:satMod val="120000"/>
                      <a:shade val="80000"/>
                    </a:schemeClr>
                  </a:solidFill>
                  <a:prstDash val="solid"/>
                </a:ln>
                <a:solidFill>
                  <a:srgbClr val="FF0000"/>
                </a:solidFill>
                <a:effectLst>
                  <a:glow rad="53100">
                    <a:schemeClr val="accent6">
                      <a:satMod val="180000"/>
                      <a:alpha val="30000"/>
                    </a:schemeClr>
                  </a:glow>
                </a:effectLst>
                <a:latin typeface="黑体" pitchFamily="49" charset="-122"/>
                <a:ea typeface="黑体" pitchFamily="49" charset="-122"/>
              </a:rPr>
              <a:t>4</a:t>
            </a:r>
            <a:r>
              <a:rPr lang="zh-CN" altLang="en-US" sz="3600" b="0" spc="50" dirty="0" smtClean="0">
                <a:ln w="12700" cmpd="sng">
                  <a:solidFill>
                    <a:schemeClr val="accent6">
                      <a:satMod val="120000"/>
                      <a:shade val="80000"/>
                    </a:schemeClr>
                  </a:solidFill>
                  <a:prstDash val="solid"/>
                </a:ln>
                <a:solidFill>
                  <a:srgbClr val="FF0000"/>
                </a:solidFill>
                <a:effectLst>
                  <a:glow rad="53100">
                    <a:schemeClr val="accent6">
                      <a:satMod val="180000"/>
                      <a:alpha val="30000"/>
                    </a:schemeClr>
                  </a:glow>
                </a:effectLst>
                <a:latin typeface="黑体" pitchFamily="49" charset="-122"/>
                <a:ea typeface="黑体" pitchFamily="49" charset="-122"/>
              </a:rPr>
              <a:t>、如何认识毛泽东思想的历史地位</a:t>
            </a:r>
            <a:endParaRPr lang="en-US" altLang="zh-CN" sz="3600" b="0" spc="50" dirty="0">
              <a:ln w="12700" cmpd="sng">
                <a:solidFill>
                  <a:schemeClr val="accent6">
                    <a:satMod val="120000"/>
                    <a:shade val="80000"/>
                  </a:schemeClr>
                </a:solidFill>
                <a:prstDash val="solid"/>
              </a:ln>
              <a:solidFill>
                <a:srgbClr val="FF0000"/>
              </a:solidFill>
              <a:effectLst>
                <a:glow rad="53100">
                  <a:schemeClr val="accent6">
                    <a:satMod val="180000"/>
                    <a:alpha val="30000"/>
                  </a:schemeClr>
                </a:glow>
              </a:effectLst>
              <a:latin typeface="黑体" pitchFamily="49" charset="-122"/>
              <a:ea typeface="黑体" pitchFamily="49" charset="-122"/>
            </a:endParaRPr>
          </a:p>
        </p:txBody>
      </p:sp>
      <p:sp>
        <p:nvSpPr>
          <p:cNvPr id="3" name="矩形 2"/>
          <p:cNvSpPr/>
          <p:nvPr/>
        </p:nvSpPr>
        <p:spPr>
          <a:xfrm>
            <a:off x="285720" y="428604"/>
            <a:ext cx="3038011" cy="949299"/>
          </a:xfrm>
          <a:prstGeom prst="rect">
            <a:avLst/>
          </a:prstGeom>
          <a:ln>
            <a:solidFill>
              <a:schemeClr val="accent1"/>
            </a:solidFill>
          </a:ln>
        </p:spPr>
        <p:txBody>
          <a:bodyPr wrap="none">
            <a:spAutoFit/>
          </a:bodyPr>
          <a:lstStyle/>
          <a:p>
            <a:pPr>
              <a:lnSpc>
                <a:spcPct val="150000"/>
              </a:lnSpc>
              <a:defRPr/>
            </a:pPr>
            <a:r>
              <a:rPr lang="zh-CN" altLang="en-US" sz="4400" spc="50" dirty="0" smtClean="0">
                <a:ln w="12700" cmpd="sng">
                  <a:solidFill>
                    <a:schemeClr val="accent6">
                      <a:satMod val="120000"/>
                      <a:shade val="80000"/>
                    </a:schemeClr>
                  </a:solidFill>
                  <a:prstDash val="solid"/>
                </a:ln>
                <a:solidFill>
                  <a:srgbClr val="FF0000"/>
                </a:solidFill>
                <a:effectLst>
                  <a:glow rad="53100">
                    <a:schemeClr val="accent6">
                      <a:satMod val="180000"/>
                      <a:alpha val="30000"/>
                    </a:schemeClr>
                  </a:glow>
                </a:effectLst>
                <a:latin typeface="黑体" pitchFamily="49" charset="-122"/>
                <a:ea typeface="黑体" pitchFamily="49" charset="-122"/>
              </a:rPr>
              <a:t>重点难点：</a:t>
            </a:r>
            <a:endParaRPr lang="en-US" altLang="zh-CN" sz="4400" spc="50" dirty="0" smtClean="0">
              <a:ln w="12700" cmpd="sng">
                <a:solidFill>
                  <a:schemeClr val="accent6">
                    <a:satMod val="120000"/>
                    <a:shade val="80000"/>
                  </a:schemeClr>
                </a:solidFill>
                <a:prstDash val="solid"/>
              </a:ln>
              <a:solidFill>
                <a:srgbClr val="FF0000"/>
              </a:solidFill>
              <a:effectLst>
                <a:glow rad="53100">
                  <a:schemeClr val="accent6">
                    <a:satMod val="180000"/>
                    <a:alpha val="30000"/>
                  </a:schemeClr>
                </a:glow>
              </a:effectLst>
              <a:latin typeface="黑体" pitchFamily="49" charset="-122"/>
              <a:ea typeface="黑体" pitchFamily="49" charset="-122"/>
            </a:endParaRPr>
          </a:p>
        </p:txBody>
      </p:sp>
    </p:spTree>
  </p:cSld>
  <p:clrMapOvr>
    <a:masterClrMapping/>
  </p:clrMapOvr>
  <p:transition spd="med">
    <p:wipe dir="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ChangeArrowheads="1"/>
          </p:cNvSpPr>
          <p:nvPr/>
        </p:nvSpPr>
        <p:spPr bwMode="auto">
          <a:xfrm>
            <a:off x="142812" y="571480"/>
            <a:ext cx="9001188" cy="2123658"/>
          </a:xfrm>
          <a:prstGeom prst="rect">
            <a:avLst/>
          </a:prstGeom>
          <a:noFill/>
          <a:ln w="9525">
            <a:noFill/>
            <a:miter lim="800000"/>
            <a:headEnd/>
            <a:tailEnd/>
          </a:ln>
        </p:spPr>
        <p:txBody>
          <a:bodyPr wrap="square">
            <a:spAutoFit/>
          </a:bodyPr>
          <a:lstStyle/>
          <a:p>
            <a:pPr>
              <a:lnSpc>
                <a:spcPct val="150000"/>
              </a:lnSpc>
              <a:defRPr/>
            </a:pPr>
            <a:r>
              <a:rPr lang="zh-CN" altLang="en-US" sz="4400" spc="50" dirty="0" smtClean="0">
                <a:ln w="12700" cmpd="sng">
                  <a:solidFill>
                    <a:schemeClr val="accent6">
                      <a:satMod val="120000"/>
                      <a:shade val="80000"/>
                    </a:schemeClr>
                  </a:solidFill>
                  <a:prstDash val="solid"/>
                </a:ln>
                <a:solidFill>
                  <a:srgbClr val="FF0000"/>
                </a:solidFill>
                <a:effectLst>
                  <a:glow rad="53100">
                    <a:schemeClr val="accent6">
                      <a:satMod val="180000"/>
                      <a:alpha val="30000"/>
                    </a:schemeClr>
                  </a:glow>
                </a:effectLst>
                <a:latin typeface="华文琥珀" pitchFamily="2" charset="-122"/>
                <a:ea typeface="华文琥珀" pitchFamily="2" charset="-122"/>
              </a:rPr>
              <a:t>专题一   毛泽东思想的形成和发展</a:t>
            </a:r>
            <a:r>
              <a:rPr lang="zh-CN" altLang="en-US" sz="4400" spc="50" dirty="0">
                <a:ln w="12700" cmpd="sng">
                  <a:solidFill>
                    <a:schemeClr val="accent6">
                      <a:satMod val="120000"/>
                      <a:shade val="80000"/>
                    </a:schemeClr>
                  </a:solidFill>
                  <a:prstDash val="solid"/>
                </a:ln>
                <a:solidFill>
                  <a:srgbClr val="FF0000"/>
                </a:solidFill>
                <a:effectLst>
                  <a:glow rad="53100">
                    <a:schemeClr val="accent6">
                      <a:satMod val="180000"/>
                      <a:alpha val="30000"/>
                    </a:schemeClr>
                  </a:glow>
                </a:effectLst>
                <a:latin typeface="黑体" pitchFamily="49" charset="-122"/>
                <a:ea typeface="黑体" pitchFamily="49" charset="-122"/>
              </a:rPr>
              <a:t/>
            </a:r>
            <a:br>
              <a:rPr lang="zh-CN" altLang="en-US" sz="4400" spc="50" dirty="0">
                <a:ln w="12700" cmpd="sng">
                  <a:solidFill>
                    <a:schemeClr val="accent6">
                      <a:satMod val="120000"/>
                      <a:shade val="80000"/>
                    </a:schemeClr>
                  </a:solidFill>
                  <a:prstDash val="solid"/>
                </a:ln>
                <a:solidFill>
                  <a:srgbClr val="FF0000"/>
                </a:solidFill>
                <a:effectLst>
                  <a:glow rad="53100">
                    <a:schemeClr val="accent6">
                      <a:satMod val="180000"/>
                      <a:alpha val="30000"/>
                    </a:schemeClr>
                  </a:glow>
                </a:effectLst>
                <a:latin typeface="黑体" pitchFamily="49" charset="-122"/>
                <a:ea typeface="黑体" pitchFamily="49" charset="-122"/>
              </a:rPr>
            </a:br>
            <a:endParaRPr lang="zh-CN" altLang="en-US" sz="4400" dirty="0">
              <a:solidFill>
                <a:schemeClr val="folHlink"/>
              </a:solidFill>
              <a:latin typeface="黑体" pitchFamily="49" charset="-122"/>
              <a:ea typeface="黑体" pitchFamily="49" charset="-122"/>
            </a:endParaRPr>
          </a:p>
        </p:txBody>
      </p:sp>
      <p:sp>
        <p:nvSpPr>
          <p:cNvPr id="3" name="矩形 2"/>
          <p:cNvSpPr/>
          <p:nvPr/>
        </p:nvSpPr>
        <p:spPr>
          <a:xfrm>
            <a:off x="357158" y="3357562"/>
            <a:ext cx="8523487" cy="1754326"/>
          </a:xfrm>
          <a:prstGeom prst="rect">
            <a:avLst/>
          </a:prstGeom>
        </p:spPr>
        <p:txBody>
          <a:bodyPr wrap="none">
            <a:spAutoFit/>
          </a:bodyPr>
          <a:lstStyle/>
          <a:p>
            <a:r>
              <a:rPr lang="zh-CN" altLang="en-US" sz="3600" b="1" dirty="0" smtClean="0">
                <a:solidFill>
                  <a:srgbClr val="0000FF"/>
                </a:solidFill>
                <a:latin typeface="黑体" pitchFamily="49" charset="-122"/>
                <a:ea typeface="黑体" pitchFamily="49" charset="-122"/>
              </a:rPr>
              <a:t>一、毛泽东思想的形成和发展的历史条件</a:t>
            </a:r>
            <a:endParaRPr lang="en-US" altLang="zh-CN" sz="3600" b="1" dirty="0" smtClean="0">
              <a:solidFill>
                <a:srgbClr val="0000FF"/>
              </a:solidFill>
              <a:latin typeface="黑体" pitchFamily="49" charset="-122"/>
              <a:ea typeface="黑体" pitchFamily="49" charset="-122"/>
            </a:endParaRPr>
          </a:p>
          <a:p>
            <a:endParaRPr lang="en-US" altLang="zh-CN" sz="3600" b="1" dirty="0" smtClean="0">
              <a:solidFill>
                <a:srgbClr val="0000FF"/>
              </a:solidFill>
              <a:latin typeface="黑体" pitchFamily="49" charset="-122"/>
              <a:ea typeface="黑体" pitchFamily="49" charset="-122"/>
            </a:endParaRPr>
          </a:p>
          <a:p>
            <a:r>
              <a:rPr lang="zh-CN" altLang="en-US" sz="3600" b="1" dirty="0" smtClean="0">
                <a:solidFill>
                  <a:srgbClr val="0000FF"/>
                </a:solidFill>
                <a:latin typeface="黑体" pitchFamily="49" charset="-122"/>
                <a:ea typeface="黑体" pitchFamily="49" charset="-122"/>
              </a:rPr>
              <a:t>二、毛泽东思想形成和发展的过程</a:t>
            </a:r>
            <a:endParaRPr lang="zh-CN" altLang="en-US" sz="3600" b="1" dirty="0"/>
          </a:p>
        </p:txBody>
      </p:sp>
    </p:spTree>
    <p:extLst>
      <p:ext uri="{BB962C8B-B14F-4D97-AF65-F5344CB8AC3E}">
        <p14:creationId xmlns="" xmlns:p14="http://schemas.microsoft.com/office/powerpoint/2010/main" val="2408866772"/>
      </p:ext>
    </p:extLst>
  </p:cSld>
  <p:clrMapOvr>
    <a:masterClrMapping/>
  </p:clrMapOvr>
  <p:transition spd="med">
    <p:wipe dir="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ChangeArrowheads="1"/>
          </p:cNvSpPr>
          <p:nvPr/>
        </p:nvSpPr>
        <p:spPr bwMode="auto">
          <a:xfrm>
            <a:off x="857224" y="3071810"/>
            <a:ext cx="7416800" cy="1754326"/>
          </a:xfrm>
          <a:prstGeom prst="rect">
            <a:avLst/>
          </a:prstGeom>
          <a:noFill/>
          <a:ln w="9525">
            <a:solidFill>
              <a:srgbClr val="FF0000"/>
            </a:solidFill>
            <a:miter lim="800000"/>
            <a:headEnd/>
            <a:tailEnd/>
          </a:ln>
        </p:spPr>
        <p:txBody>
          <a:bodyPr>
            <a:spAutoFit/>
          </a:bodyPr>
          <a:lstStyle/>
          <a:p>
            <a:r>
              <a:rPr lang="en-US" altLang="zh-CN" sz="3600" b="1" dirty="0" smtClean="0">
                <a:solidFill>
                  <a:srgbClr val="FF0000"/>
                </a:solidFill>
                <a:latin typeface="黑体" pitchFamily="49" charset="-122"/>
                <a:ea typeface="黑体" pitchFamily="49" charset="-122"/>
              </a:rPr>
              <a:t>    </a:t>
            </a:r>
            <a:r>
              <a:rPr lang="zh-CN" altLang="en-US" sz="3600" b="1" dirty="0" smtClean="0">
                <a:solidFill>
                  <a:srgbClr val="0000FF"/>
                </a:solidFill>
                <a:latin typeface="黑体" pitchFamily="49" charset="-122"/>
                <a:ea typeface="黑体" pitchFamily="49" charset="-122"/>
              </a:rPr>
              <a:t>世界进入帝国主义和无产阶级革命时代</a:t>
            </a:r>
            <a:endParaRPr lang="zh-CN" altLang="en-US" sz="3600" b="1" dirty="0">
              <a:solidFill>
                <a:srgbClr val="0000FF"/>
              </a:solidFill>
              <a:latin typeface="黑体" pitchFamily="49" charset="-122"/>
              <a:ea typeface="黑体" pitchFamily="49" charset="-122"/>
            </a:endParaRPr>
          </a:p>
          <a:p>
            <a:endParaRPr lang="zh-CN" altLang="en-US" sz="3600" b="1" dirty="0">
              <a:solidFill>
                <a:srgbClr val="FF0000"/>
              </a:solidFill>
              <a:latin typeface="黑体" pitchFamily="49" charset="-122"/>
              <a:ea typeface="黑体" pitchFamily="49" charset="-122"/>
            </a:endParaRPr>
          </a:p>
        </p:txBody>
      </p:sp>
      <p:sp>
        <p:nvSpPr>
          <p:cNvPr id="3" name="矩形 2"/>
          <p:cNvSpPr/>
          <p:nvPr/>
        </p:nvSpPr>
        <p:spPr>
          <a:xfrm>
            <a:off x="642910" y="857232"/>
            <a:ext cx="8060220" cy="646331"/>
          </a:xfrm>
          <a:prstGeom prst="rect">
            <a:avLst/>
          </a:prstGeom>
          <a:ln>
            <a:solidFill>
              <a:schemeClr val="accent1"/>
            </a:solidFill>
          </a:ln>
        </p:spPr>
        <p:txBody>
          <a:bodyPr wrap="none">
            <a:spAutoFit/>
          </a:bodyPr>
          <a:lstStyle/>
          <a:p>
            <a:r>
              <a:rPr lang="zh-CN" altLang="en-US" sz="3600" b="1" dirty="0" smtClean="0">
                <a:solidFill>
                  <a:srgbClr val="0000FF"/>
                </a:solidFill>
                <a:latin typeface="黑体" pitchFamily="49" charset="-122"/>
                <a:ea typeface="黑体" pitchFamily="49" charset="-122"/>
              </a:rPr>
              <a:t>一、毛泽东思想形成和发展的</a:t>
            </a:r>
            <a:r>
              <a:rPr lang="zh-CN" altLang="en-US" sz="3600" b="1" dirty="0" smtClean="0">
                <a:solidFill>
                  <a:srgbClr val="FF0000"/>
                </a:solidFill>
                <a:latin typeface="黑体" pitchFamily="49" charset="-122"/>
                <a:ea typeface="黑体" pitchFamily="49" charset="-122"/>
              </a:rPr>
              <a:t>历史条件</a:t>
            </a:r>
            <a:endParaRPr lang="zh-CN" altLang="en-US" sz="3600" b="1" dirty="0">
              <a:solidFill>
                <a:srgbClr val="FF0000"/>
              </a:solidFill>
              <a:latin typeface="黑体" pitchFamily="49" charset="-122"/>
              <a:ea typeface="黑体" pitchFamily="49" charset="-122"/>
            </a:endParaRPr>
          </a:p>
        </p:txBody>
      </p:sp>
      <p:sp>
        <p:nvSpPr>
          <p:cNvPr id="4" name="矩形 3"/>
          <p:cNvSpPr/>
          <p:nvPr/>
        </p:nvSpPr>
        <p:spPr>
          <a:xfrm>
            <a:off x="1071538" y="2143116"/>
            <a:ext cx="3663182" cy="646331"/>
          </a:xfrm>
          <a:prstGeom prst="rect">
            <a:avLst/>
          </a:prstGeom>
          <a:ln>
            <a:solidFill>
              <a:schemeClr val="accent1"/>
            </a:solidFill>
          </a:ln>
        </p:spPr>
        <p:txBody>
          <a:bodyPr wrap="none">
            <a:spAutoFit/>
          </a:bodyPr>
          <a:lstStyle/>
          <a:p>
            <a:r>
              <a:rPr lang="zh-CN" altLang="en-US" sz="3600" b="1" dirty="0" smtClean="0">
                <a:solidFill>
                  <a:srgbClr val="0000FF"/>
                </a:solidFill>
                <a:latin typeface="黑体" pitchFamily="49" charset="-122"/>
                <a:ea typeface="黑体" pitchFamily="49" charset="-122"/>
              </a:rPr>
              <a:t> </a:t>
            </a:r>
            <a:r>
              <a:rPr lang="zh-CN" altLang="en-US" sz="3600" b="1" dirty="0" smtClean="0">
                <a:solidFill>
                  <a:srgbClr val="FF0000"/>
                </a:solidFill>
                <a:latin typeface="黑体" pitchFamily="49" charset="-122"/>
                <a:ea typeface="黑体" pitchFamily="49" charset="-122"/>
              </a:rPr>
              <a:t>1、时代背景   </a:t>
            </a:r>
            <a:endParaRPr lang="zh-CN" altLang="en-US" sz="3600" dirty="0"/>
          </a:p>
        </p:txBody>
      </p:sp>
    </p:spTree>
  </p:cSld>
  <p:clrMapOvr>
    <a:masterClrMapping/>
  </p:clrMapOvr>
  <p:transition spd="med">
    <p:wipe dir="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142976" y="571480"/>
            <a:ext cx="6768752" cy="1569660"/>
          </a:xfrm>
          <a:prstGeom prst="rect">
            <a:avLst/>
          </a:prstGeom>
          <a:solidFill>
            <a:schemeClr val="bg1"/>
          </a:solidFill>
          <a:ln>
            <a:solidFill>
              <a:schemeClr val="accent1"/>
            </a:solidFill>
          </a:ln>
        </p:spPr>
        <p:txBody>
          <a:bodyPr wrap="square">
            <a:spAutoFit/>
          </a:bodyPr>
          <a:lstStyle/>
          <a:p>
            <a:r>
              <a:rPr lang="en-US" altLang="zh-CN" sz="3200" b="1" dirty="0" smtClean="0"/>
              <a:t>        1917</a:t>
            </a:r>
            <a:r>
              <a:rPr lang="zh-CN" altLang="zh-CN" sz="3200" b="1" dirty="0" smtClean="0"/>
              <a:t>年俄国十月革命的胜利</a:t>
            </a:r>
            <a:r>
              <a:rPr lang="zh-CN" altLang="zh-CN" sz="3200" b="1" dirty="0" smtClean="0">
                <a:solidFill>
                  <a:srgbClr val="FF0000"/>
                </a:solidFill>
              </a:rPr>
              <a:t>开辟了世界无产阶级社会主义革命的新时代。</a:t>
            </a:r>
            <a:r>
              <a:rPr lang="en-US" altLang="zh-CN" sz="3200" b="1" dirty="0" smtClean="0">
                <a:solidFill>
                  <a:srgbClr val="FF0000"/>
                </a:solidFill>
              </a:rPr>
              <a:t> </a:t>
            </a:r>
          </a:p>
        </p:txBody>
      </p:sp>
      <p:sp>
        <p:nvSpPr>
          <p:cNvPr id="4" name="矩形 3"/>
          <p:cNvSpPr/>
          <p:nvPr/>
        </p:nvSpPr>
        <p:spPr>
          <a:xfrm>
            <a:off x="1000100" y="2857496"/>
            <a:ext cx="6768752" cy="2062103"/>
          </a:xfrm>
          <a:prstGeom prst="rect">
            <a:avLst/>
          </a:prstGeom>
          <a:solidFill>
            <a:schemeClr val="bg1"/>
          </a:solidFill>
          <a:ln>
            <a:solidFill>
              <a:schemeClr val="accent1"/>
            </a:solidFill>
          </a:ln>
        </p:spPr>
        <p:txBody>
          <a:bodyPr wrap="square">
            <a:spAutoFit/>
          </a:bodyPr>
          <a:lstStyle/>
          <a:p>
            <a:r>
              <a:rPr lang="en-US" altLang="zh-CN" sz="3200" b="1" dirty="0" smtClean="0">
                <a:solidFill>
                  <a:srgbClr val="FF0000"/>
                </a:solidFill>
              </a:rPr>
              <a:t>        </a:t>
            </a:r>
            <a:r>
              <a:rPr lang="zh-CN" altLang="en-US" sz="3200" b="1" dirty="0" smtClean="0"/>
              <a:t>十月革命</a:t>
            </a:r>
            <a:r>
              <a:rPr lang="zh-CN" altLang="zh-CN" sz="3200" b="1" dirty="0" smtClean="0"/>
              <a:t>使中国反帝反封建的民主革命从旧的</a:t>
            </a:r>
            <a:r>
              <a:rPr lang="zh-CN" altLang="zh-CN" sz="3200" b="1" dirty="0" smtClean="0">
                <a:solidFill>
                  <a:srgbClr val="FF0000"/>
                </a:solidFill>
              </a:rPr>
              <a:t>世界资产阶级民主革命</a:t>
            </a:r>
            <a:r>
              <a:rPr lang="zh-CN" altLang="zh-CN" sz="3200" b="1" dirty="0" smtClean="0"/>
              <a:t>的一部分，转变为</a:t>
            </a:r>
            <a:r>
              <a:rPr lang="zh-CN" altLang="zh-CN" sz="3200" b="1" dirty="0" smtClean="0">
                <a:solidFill>
                  <a:srgbClr val="FF0000"/>
                </a:solidFill>
              </a:rPr>
              <a:t>新的世界无产阶级社会主义革命的一部分</a:t>
            </a:r>
            <a:r>
              <a:rPr lang="zh-CN" altLang="zh-CN" sz="3200" b="1" dirty="0" smtClean="0"/>
              <a:t>。</a:t>
            </a:r>
            <a:endParaRPr lang="zh-CN" altLang="en-US" sz="3200" b="1" dirty="0"/>
          </a:p>
        </p:txBody>
      </p:sp>
    </p:spTree>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ext Box 2"/>
          <p:cNvSpPr txBox="1">
            <a:spLocks noChangeArrowheads="1"/>
          </p:cNvSpPr>
          <p:nvPr/>
        </p:nvSpPr>
        <p:spPr bwMode="auto">
          <a:xfrm>
            <a:off x="428596" y="285728"/>
            <a:ext cx="7632700" cy="1532727"/>
          </a:xfrm>
          <a:prstGeom prst="rect">
            <a:avLst/>
          </a:prstGeom>
          <a:noFill/>
          <a:ln w="9525">
            <a:solidFill>
              <a:srgbClr val="FF0000"/>
            </a:solidFill>
            <a:miter lim="800000"/>
            <a:headEnd/>
            <a:tailEnd/>
          </a:ln>
        </p:spPr>
        <p:txBody>
          <a:bodyPr>
            <a:spAutoFit/>
          </a:bodyPr>
          <a:lstStyle/>
          <a:p>
            <a:pPr algn="just">
              <a:lnSpc>
                <a:spcPct val="130000"/>
              </a:lnSpc>
              <a:spcBef>
                <a:spcPct val="50000"/>
              </a:spcBef>
            </a:pPr>
            <a:r>
              <a:rPr lang="zh-CN" altLang="en-US" sz="2800" b="1" dirty="0">
                <a:solidFill>
                  <a:schemeClr val="folHlink"/>
                </a:solidFill>
                <a:ea typeface="黑体" pitchFamily="49" charset="-122"/>
              </a:rPr>
              <a:t>       </a:t>
            </a:r>
            <a:r>
              <a:rPr lang="en-US" altLang="zh-CN" sz="2800" b="1" dirty="0" smtClean="0">
                <a:solidFill>
                  <a:schemeClr val="folHlink"/>
                </a:solidFill>
                <a:ea typeface="黑体" pitchFamily="49" charset="-122"/>
              </a:rPr>
              <a:t>1917</a:t>
            </a:r>
            <a:r>
              <a:rPr lang="zh-CN" altLang="en-US" sz="2800" b="1" dirty="0" smtClean="0">
                <a:solidFill>
                  <a:schemeClr val="folHlink"/>
                </a:solidFill>
                <a:ea typeface="黑体" pitchFamily="49" charset="-122"/>
              </a:rPr>
              <a:t>年</a:t>
            </a:r>
            <a:r>
              <a:rPr lang="en-US" altLang="zh-CN" sz="2800" b="1" dirty="0" smtClean="0">
                <a:solidFill>
                  <a:schemeClr val="folHlink"/>
                </a:solidFill>
                <a:ea typeface="黑体" pitchFamily="49" charset="-122"/>
              </a:rPr>
              <a:t>11</a:t>
            </a:r>
            <a:r>
              <a:rPr lang="zh-CN" altLang="en-US" sz="2800" b="1" dirty="0" smtClean="0">
                <a:solidFill>
                  <a:schemeClr val="folHlink"/>
                </a:solidFill>
                <a:ea typeface="黑体" pitchFamily="49" charset="-122"/>
              </a:rPr>
              <a:t>月</a:t>
            </a:r>
            <a:r>
              <a:rPr lang="en-US" altLang="zh-CN" sz="2800" b="1" dirty="0" smtClean="0">
                <a:solidFill>
                  <a:schemeClr val="folHlink"/>
                </a:solidFill>
                <a:ea typeface="黑体" pitchFamily="49" charset="-122"/>
              </a:rPr>
              <a:t>7</a:t>
            </a:r>
            <a:r>
              <a:rPr lang="zh-CN" altLang="en-US" sz="2800" b="1" dirty="0" smtClean="0">
                <a:solidFill>
                  <a:schemeClr val="folHlink"/>
                </a:solidFill>
                <a:ea typeface="黑体" pitchFamily="49" charset="-122"/>
              </a:rPr>
              <a:t>日（俄历</a:t>
            </a:r>
            <a:r>
              <a:rPr lang="en-US" altLang="zh-CN" sz="2800" b="1" dirty="0" smtClean="0">
                <a:solidFill>
                  <a:schemeClr val="folHlink"/>
                </a:solidFill>
                <a:ea typeface="黑体" pitchFamily="49" charset="-122"/>
              </a:rPr>
              <a:t>10</a:t>
            </a:r>
            <a:r>
              <a:rPr lang="zh-CN" altLang="en-US" sz="2800" b="1" dirty="0" smtClean="0">
                <a:solidFill>
                  <a:schemeClr val="folHlink"/>
                </a:solidFill>
                <a:ea typeface="黑体" pitchFamily="49" charset="-122"/>
              </a:rPr>
              <a:t>月</a:t>
            </a:r>
            <a:r>
              <a:rPr lang="en-US" altLang="zh-CN" sz="2800" b="1" dirty="0" smtClean="0">
                <a:solidFill>
                  <a:schemeClr val="folHlink"/>
                </a:solidFill>
                <a:ea typeface="黑体" pitchFamily="49" charset="-122"/>
              </a:rPr>
              <a:t>25</a:t>
            </a:r>
            <a:r>
              <a:rPr lang="zh-CN" altLang="en-US" sz="2800" b="1" dirty="0" smtClean="0">
                <a:solidFill>
                  <a:schemeClr val="folHlink"/>
                </a:solidFill>
                <a:ea typeface="黑体" pitchFamily="49" charset="-122"/>
              </a:rPr>
              <a:t>日）</a:t>
            </a:r>
            <a:r>
              <a:rPr lang="zh-CN" altLang="en-US" sz="3600" b="1" dirty="0" smtClean="0">
                <a:solidFill>
                  <a:srgbClr val="0000FF"/>
                </a:solidFill>
                <a:latin typeface="黑体" pitchFamily="49" charset="-122"/>
                <a:ea typeface="黑体" pitchFamily="49" charset="-122"/>
              </a:rPr>
              <a:t>俄国爆发了十月革命。</a:t>
            </a:r>
            <a:endParaRPr lang="zh-CN" altLang="en-US" sz="3600" b="1" dirty="0">
              <a:solidFill>
                <a:srgbClr val="FF0000"/>
              </a:solidFill>
              <a:latin typeface="黑体" pitchFamily="49" charset="-122"/>
              <a:ea typeface="黑体" pitchFamily="49" charset="-122"/>
            </a:endParaRPr>
          </a:p>
        </p:txBody>
      </p:sp>
      <p:pic>
        <p:nvPicPr>
          <p:cNvPr id="24578" name="Picture 2" descr="https://gimg2.baidu.com/image_search/src=http%3A%2F%2F5b0988e595225.cdn.sohucs.com%2Fimages%2F20180412%2Fca9ae64b88fe4461adc0353f09197b22.jpeg&amp;refer=http%3A%2F%2F5b0988e595225.cdn.sohucs.com&amp;app=2002&amp;size=f9999,10000&amp;q=a80&amp;n=0&amp;g=0n&amp;fmt=jpeg?sec=1634180577&amp;t=3565b0a688b3ff38b8c48502546751a9"/>
          <p:cNvPicPr>
            <a:picLocks noChangeAspect="1" noChangeArrowheads="1"/>
          </p:cNvPicPr>
          <p:nvPr/>
        </p:nvPicPr>
        <p:blipFill>
          <a:blip r:embed="rId2" cstate="print"/>
          <a:srcRect/>
          <a:stretch>
            <a:fillRect/>
          </a:stretch>
        </p:blipFill>
        <p:spPr bwMode="auto">
          <a:xfrm>
            <a:off x="3048000" y="2071678"/>
            <a:ext cx="6096000" cy="4210050"/>
          </a:xfrm>
          <a:prstGeom prst="rect">
            <a:avLst/>
          </a:prstGeom>
          <a:noFill/>
        </p:spPr>
      </p:pic>
      <p:sp>
        <p:nvSpPr>
          <p:cNvPr id="5" name="矩形 4"/>
          <p:cNvSpPr/>
          <p:nvPr/>
        </p:nvSpPr>
        <p:spPr>
          <a:xfrm>
            <a:off x="642910" y="4714884"/>
            <a:ext cx="6768752" cy="1815882"/>
          </a:xfrm>
          <a:prstGeom prst="rect">
            <a:avLst/>
          </a:prstGeom>
          <a:solidFill>
            <a:schemeClr val="bg1"/>
          </a:solidFill>
          <a:ln>
            <a:solidFill>
              <a:schemeClr val="accent1"/>
            </a:solidFill>
          </a:ln>
        </p:spPr>
        <p:txBody>
          <a:bodyPr wrap="square">
            <a:spAutoFit/>
          </a:bodyPr>
          <a:lstStyle/>
          <a:p>
            <a:r>
              <a:rPr lang="en-US" altLang="zh-CN" sz="2800" b="1" dirty="0" smtClean="0"/>
              <a:t>        </a:t>
            </a:r>
            <a:r>
              <a:rPr lang="zh-CN" altLang="zh-CN" sz="2800" b="1" dirty="0" smtClean="0"/>
              <a:t>十月革命给中国送来了马克思列宁主义，帮助中国的先进分子开始用无产阶级的世界观作为观察国家命运的工具，中国革命从此有了科学的指导思想。</a:t>
            </a:r>
            <a:endParaRPr lang="zh-CN" altLang="en-US" sz="2800" b="1" dirty="0" smtClean="0"/>
          </a:p>
        </p:txBody>
      </p:sp>
    </p:spTree>
  </p:cSld>
  <p:clrMapOvr>
    <a:masterClrMapping/>
  </p:clrMapOvr>
  <p:transition spd="med">
    <p:wipe dir="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AutoShape 2" descr="华声论坛,版权所有.http://bbs.hnol.net">
            <a:hlinkClick r:id="rId2" tooltip="华声论坛,版权所有.http://bbs.hnol.net"/>
          </p:cNvPr>
          <p:cNvSpPr>
            <a:spLocks noChangeAspect="1" noChangeArrowheads="1"/>
          </p:cNvSpPr>
          <p:nvPr/>
        </p:nvSpPr>
        <p:spPr bwMode="auto">
          <a:xfrm>
            <a:off x="4419600" y="1701800"/>
            <a:ext cx="304800" cy="304800"/>
          </a:xfrm>
          <a:prstGeom prst="rect">
            <a:avLst/>
          </a:prstGeom>
          <a:noFill/>
          <a:ln w="9525">
            <a:noFill/>
            <a:miter lim="800000"/>
            <a:headEnd/>
            <a:tailEnd/>
          </a:ln>
        </p:spPr>
        <p:txBody>
          <a:bodyPr/>
          <a:lstStyle/>
          <a:p>
            <a:pPr eaLnBrk="0" hangingPunct="0"/>
            <a:endParaRPr lang="zh-CN" altLang="en-US">
              <a:latin typeface="华文行楷" pitchFamily="2" charset="-122"/>
              <a:ea typeface="华文行楷" pitchFamily="2" charset="-122"/>
            </a:endParaRPr>
          </a:p>
        </p:txBody>
      </p:sp>
      <p:sp>
        <p:nvSpPr>
          <p:cNvPr id="112643" name="AutoShape 3" descr="华声论坛,版权所有.http://bbs.hnol.net">
            <a:hlinkClick r:id="rId2"/>
          </p:cNvPr>
          <p:cNvSpPr>
            <a:spLocks noChangeAspect="1" noChangeArrowheads="1"/>
          </p:cNvSpPr>
          <p:nvPr/>
        </p:nvSpPr>
        <p:spPr bwMode="auto">
          <a:xfrm>
            <a:off x="4419600" y="1701800"/>
            <a:ext cx="304800" cy="304800"/>
          </a:xfrm>
          <a:prstGeom prst="rect">
            <a:avLst/>
          </a:prstGeom>
          <a:noFill/>
          <a:ln w="9525">
            <a:noFill/>
            <a:miter lim="800000"/>
            <a:headEnd/>
            <a:tailEnd/>
          </a:ln>
        </p:spPr>
        <p:txBody>
          <a:bodyPr/>
          <a:lstStyle/>
          <a:p>
            <a:pPr eaLnBrk="0" hangingPunct="0"/>
            <a:endParaRPr lang="zh-CN" altLang="en-US">
              <a:latin typeface="华文行楷" pitchFamily="2" charset="-122"/>
              <a:ea typeface="华文行楷" pitchFamily="2" charset="-122"/>
            </a:endParaRPr>
          </a:p>
        </p:txBody>
      </p:sp>
      <p:sp>
        <p:nvSpPr>
          <p:cNvPr id="112644" name="AutoShape 4" descr="华声论坛,版权所有.http://bbs.hnol.net">
            <a:hlinkClick r:id="rId2"/>
          </p:cNvPr>
          <p:cNvSpPr>
            <a:spLocks noChangeAspect="1" noChangeArrowheads="1"/>
          </p:cNvSpPr>
          <p:nvPr/>
        </p:nvSpPr>
        <p:spPr bwMode="auto">
          <a:xfrm>
            <a:off x="4419600" y="1701800"/>
            <a:ext cx="304800" cy="304800"/>
          </a:xfrm>
          <a:prstGeom prst="rect">
            <a:avLst/>
          </a:prstGeom>
          <a:noFill/>
          <a:ln w="9525">
            <a:noFill/>
            <a:miter lim="800000"/>
            <a:headEnd/>
            <a:tailEnd/>
          </a:ln>
        </p:spPr>
        <p:txBody>
          <a:bodyPr/>
          <a:lstStyle/>
          <a:p>
            <a:pPr eaLnBrk="0" hangingPunct="0"/>
            <a:endParaRPr lang="zh-CN" altLang="en-US">
              <a:latin typeface="华文行楷" pitchFamily="2" charset="-122"/>
              <a:ea typeface="华文行楷" pitchFamily="2" charset="-122"/>
            </a:endParaRPr>
          </a:p>
        </p:txBody>
      </p:sp>
      <p:pic>
        <p:nvPicPr>
          <p:cNvPr id="112645" name="Picture 5" descr="20059211229351070"/>
          <p:cNvPicPr>
            <a:picLocks noChangeAspect="1" noChangeArrowheads="1"/>
          </p:cNvPicPr>
          <p:nvPr/>
        </p:nvPicPr>
        <p:blipFill>
          <a:blip r:embed="rId3" cstate="print"/>
          <a:srcRect/>
          <a:stretch>
            <a:fillRect/>
          </a:stretch>
        </p:blipFill>
        <p:spPr bwMode="auto">
          <a:xfrm>
            <a:off x="900113" y="1412875"/>
            <a:ext cx="3057525" cy="3314700"/>
          </a:xfrm>
          <a:prstGeom prst="rect">
            <a:avLst/>
          </a:prstGeom>
          <a:noFill/>
          <a:ln w="9525">
            <a:noFill/>
            <a:miter lim="800000"/>
            <a:headEnd/>
            <a:tailEnd/>
          </a:ln>
        </p:spPr>
      </p:pic>
      <p:sp>
        <p:nvSpPr>
          <p:cNvPr id="112646" name="AutoShape 6" descr="华声论坛,版权所有.http://bbs.hnol.net">
            <a:hlinkClick r:id="rId2"/>
          </p:cNvPr>
          <p:cNvSpPr>
            <a:spLocks noChangeAspect="1" noChangeArrowheads="1"/>
          </p:cNvSpPr>
          <p:nvPr/>
        </p:nvSpPr>
        <p:spPr bwMode="auto">
          <a:xfrm>
            <a:off x="4419600" y="1701800"/>
            <a:ext cx="304800" cy="304800"/>
          </a:xfrm>
          <a:prstGeom prst="rect">
            <a:avLst/>
          </a:prstGeom>
          <a:noFill/>
          <a:ln w="9525">
            <a:noFill/>
            <a:miter lim="800000"/>
            <a:headEnd/>
            <a:tailEnd/>
          </a:ln>
        </p:spPr>
        <p:txBody>
          <a:bodyPr/>
          <a:lstStyle/>
          <a:p>
            <a:pPr eaLnBrk="0" hangingPunct="0"/>
            <a:endParaRPr lang="zh-CN" altLang="en-US">
              <a:latin typeface="华文行楷" pitchFamily="2" charset="-122"/>
              <a:ea typeface="华文行楷" pitchFamily="2" charset="-122"/>
            </a:endParaRPr>
          </a:p>
        </p:txBody>
      </p:sp>
      <p:pic>
        <p:nvPicPr>
          <p:cNvPr id="112647" name="Picture 7" descr="20059211230531070"/>
          <p:cNvPicPr>
            <a:picLocks noChangeAspect="1" noChangeArrowheads="1"/>
          </p:cNvPicPr>
          <p:nvPr/>
        </p:nvPicPr>
        <p:blipFill>
          <a:blip r:embed="rId4" cstate="print"/>
          <a:srcRect/>
          <a:stretch>
            <a:fillRect/>
          </a:stretch>
        </p:blipFill>
        <p:spPr bwMode="auto">
          <a:xfrm>
            <a:off x="4211638" y="1773238"/>
            <a:ext cx="4257675" cy="2543175"/>
          </a:xfrm>
          <a:prstGeom prst="rect">
            <a:avLst/>
          </a:prstGeom>
          <a:noFill/>
          <a:ln w="9525">
            <a:noFill/>
            <a:miter lim="800000"/>
            <a:headEnd/>
            <a:tailEnd/>
          </a:ln>
        </p:spPr>
      </p:pic>
    </p:spTree>
  </p:cSld>
  <p:clrMapOvr>
    <a:masterClrMapping/>
  </p:clrMapOvr>
  <p:transition spd="med">
    <p:wipe dir="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Text Box 2"/>
          <p:cNvSpPr txBox="1">
            <a:spLocks noChangeArrowheads="1"/>
          </p:cNvSpPr>
          <p:nvPr/>
        </p:nvSpPr>
        <p:spPr bwMode="auto">
          <a:xfrm>
            <a:off x="142844" y="785794"/>
            <a:ext cx="8820150" cy="5909310"/>
          </a:xfrm>
          <a:prstGeom prst="rect">
            <a:avLst/>
          </a:prstGeom>
          <a:noFill/>
          <a:ln w="9525">
            <a:solidFill>
              <a:srgbClr val="FF0000"/>
            </a:solidFill>
            <a:miter lim="800000"/>
            <a:headEnd/>
            <a:tailEnd/>
          </a:ln>
        </p:spPr>
        <p:txBody>
          <a:bodyPr>
            <a:spAutoFit/>
          </a:bodyPr>
          <a:lstStyle/>
          <a:p>
            <a:pPr>
              <a:lnSpc>
                <a:spcPct val="150000"/>
              </a:lnSpc>
            </a:pPr>
            <a:r>
              <a:rPr lang="zh-CN" altLang="en-US" sz="2800" b="1" dirty="0" smtClean="0">
                <a:solidFill>
                  <a:srgbClr val="FF0000"/>
                </a:solidFill>
                <a:latin typeface="华文隶书" pitchFamily="2" charset="-122"/>
                <a:ea typeface="华文隶书" pitchFamily="2" charset="-122"/>
              </a:rPr>
              <a:t>“</a:t>
            </a:r>
            <a:r>
              <a:rPr lang="zh-CN" altLang="en-US" sz="2800" b="1" dirty="0">
                <a:solidFill>
                  <a:srgbClr val="FF0000"/>
                </a:solidFill>
                <a:latin typeface="华文隶书" pitchFamily="2" charset="-122"/>
                <a:ea typeface="华文隶书" pitchFamily="2" charset="-122"/>
              </a:rPr>
              <a:t>第一次世界大战震动了全世界。俄国人举行了十月革命，创立了世界上第一个社会主义国家。过去蕴藏在地下为外国人所看不见的伟大的俄国无产阶级和劳动人民的革命精力，在列宁、斯大林领导之下，像火山一样爆发出来了，中国人和全人类对俄国人都另眼相看了。这时，也只有在这时，中国人从思想到生活，才出现了一个崭新的时期。中国人找到了马克思列宁主义这个放之四海而皆准的普遍真理，中国的面目就起了变化了。”</a:t>
            </a:r>
            <a:r>
              <a:rPr lang="zh-CN" altLang="en-US" sz="2800" b="1" dirty="0" smtClean="0">
                <a:solidFill>
                  <a:srgbClr val="0000FF"/>
                </a:solidFill>
                <a:latin typeface="黑体" pitchFamily="49" charset="-122"/>
                <a:ea typeface="黑体" pitchFamily="49" charset="-122"/>
              </a:rPr>
              <a:t>（《论人民民主专政》《毛泽东选集》</a:t>
            </a:r>
            <a:r>
              <a:rPr lang="zh-CN" altLang="en-US" sz="2800" b="1" dirty="0">
                <a:solidFill>
                  <a:srgbClr val="0000FF"/>
                </a:solidFill>
                <a:latin typeface="黑体" pitchFamily="49" charset="-122"/>
                <a:ea typeface="黑体" pitchFamily="49" charset="-122"/>
              </a:rPr>
              <a:t>第4</a:t>
            </a:r>
            <a:r>
              <a:rPr lang="zh-CN" altLang="en-US" sz="2800" b="1" dirty="0" smtClean="0">
                <a:solidFill>
                  <a:srgbClr val="0000FF"/>
                </a:solidFill>
                <a:latin typeface="黑体" pitchFamily="49" charset="-122"/>
                <a:ea typeface="黑体" pitchFamily="49" charset="-122"/>
              </a:rPr>
              <a:t>卷第1469页）</a:t>
            </a:r>
            <a:endParaRPr lang="zh-CN" altLang="en-US" sz="2800" b="1" dirty="0">
              <a:solidFill>
                <a:srgbClr val="0000FF"/>
              </a:solidFill>
              <a:latin typeface="黑体" pitchFamily="49" charset="-122"/>
              <a:ea typeface="黑体" pitchFamily="49" charset="-122"/>
            </a:endParaRPr>
          </a:p>
        </p:txBody>
      </p:sp>
    </p:spTree>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ChangeArrowheads="1"/>
          </p:cNvSpPr>
          <p:nvPr/>
        </p:nvSpPr>
        <p:spPr bwMode="auto">
          <a:xfrm>
            <a:off x="285720" y="357166"/>
            <a:ext cx="7451725" cy="646331"/>
          </a:xfrm>
          <a:prstGeom prst="rect">
            <a:avLst/>
          </a:prstGeom>
          <a:noFill/>
          <a:ln w="9525">
            <a:solidFill>
              <a:srgbClr val="FF0000"/>
            </a:solidFill>
            <a:miter lim="800000"/>
            <a:headEnd/>
            <a:tailEnd/>
          </a:ln>
        </p:spPr>
        <p:txBody>
          <a:bodyPr>
            <a:spAutoFit/>
          </a:bodyPr>
          <a:lstStyle/>
          <a:p>
            <a:r>
              <a:rPr lang="en-US" altLang="zh-CN" sz="3600" b="1" dirty="0" smtClean="0">
                <a:solidFill>
                  <a:srgbClr val="FF0000"/>
                </a:solidFill>
                <a:latin typeface="黑体" pitchFamily="49" charset="-122"/>
                <a:ea typeface="黑体" pitchFamily="49" charset="-122"/>
              </a:rPr>
              <a:t>2</a:t>
            </a:r>
            <a:r>
              <a:rPr lang="zh-CN" altLang="en-US" sz="3600" b="1" dirty="0" smtClean="0">
                <a:solidFill>
                  <a:srgbClr val="FF0000"/>
                </a:solidFill>
                <a:latin typeface="黑体" pitchFamily="49" charset="-122"/>
                <a:ea typeface="黑体" pitchFamily="49" charset="-122"/>
              </a:rPr>
              <a:t>、</a:t>
            </a:r>
            <a:r>
              <a:rPr lang="zh-CN" altLang="en-US" sz="3600" b="1" dirty="0">
                <a:solidFill>
                  <a:srgbClr val="FF0000"/>
                </a:solidFill>
                <a:latin typeface="黑体" pitchFamily="49" charset="-122"/>
                <a:ea typeface="黑体" pitchFamily="49" charset="-122"/>
              </a:rPr>
              <a:t>实践</a:t>
            </a:r>
            <a:r>
              <a:rPr lang="zh-CN" altLang="en-US" sz="3600" b="1" dirty="0" smtClean="0">
                <a:solidFill>
                  <a:srgbClr val="FF0000"/>
                </a:solidFill>
                <a:latin typeface="黑体" pitchFamily="49" charset="-122"/>
                <a:ea typeface="黑体" pitchFamily="49" charset="-122"/>
              </a:rPr>
              <a:t>基础</a:t>
            </a:r>
            <a:r>
              <a:rPr lang="zh-CN" altLang="en-US" sz="3600" b="1" dirty="0" smtClean="0">
                <a:solidFill>
                  <a:srgbClr val="0000FF"/>
                </a:solidFill>
                <a:latin typeface="黑体" pitchFamily="49" charset="-122"/>
                <a:ea typeface="黑体" pitchFamily="49" charset="-122"/>
              </a:rPr>
              <a:t>    </a:t>
            </a:r>
            <a:endParaRPr lang="zh-CN" altLang="en-US" sz="3600" b="1" dirty="0">
              <a:solidFill>
                <a:srgbClr val="0000FF"/>
              </a:solidFill>
              <a:latin typeface="黑体" pitchFamily="49" charset="-122"/>
              <a:ea typeface="黑体" pitchFamily="49" charset="-122"/>
            </a:endParaRPr>
          </a:p>
        </p:txBody>
      </p:sp>
      <p:sp>
        <p:nvSpPr>
          <p:cNvPr id="3" name="矩形 2"/>
          <p:cNvSpPr/>
          <p:nvPr/>
        </p:nvSpPr>
        <p:spPr>
          <a:xfrm>
            <a:off x="214282" y="1285860"/>
            <a:ext cx="2143140" cy="4524315"/>
          </a:xfrm>
          <a:prstGeom prst="rect">
            <a:avLst/>
          </a:prstGeom>
          <a:solidFill>
            <a:schemeClr val="bg1"/>
          </a:solidFill>
          <a:ln>
            <a:solidFill>
              <a:schemeClr val="accent1"/>
            </a:solidFill>
          </a:ln>
        </p:spPr>
        <p:txBody>
          <a:bodyPr wrap="square">
            <a:spAutoFit/>
          </a:bodyPr>
          <a:lstStyle/>
          <a:p>
            <a:r>
              <a:rPr lang="zh-CN" altLang="en-US" sz="3200" b="1" dirty="0" smtClean="0">
                <a:solidFill>
                  <a:srgbClr val="0000FF"/>
                </a:solidFill>
                <a:latin typeface="黑体" pitchFamily="49" charset="-122"/>
                <a:ea typeface="黑体" pitchFamily="49" charset="-122"/>
              </a:rPr>
              <a:t>    </a:t>
            </a:r>
            <a:r>
              <a:rPr lang="zh-CN" altLang="en-US" sz="3200" b="1" dirty="0" smtClean="0">
                <a:solidFill>
                  <a:srgbClr val="FF0000"/>
                </a:solidFill>
                <a:latin typeface="黑体" pitchFamily="49" charset="-122"/>
                <a:ea typeface="黑体" pitchFamily="49" charset="-122"/>
              </a:rPr>
              <a:t>中国共产党领导的革命和建设的实践</a:t>
            </a:r>
            <a:r>
              <a:rPr lang="zh-CN" altLang="en-US" sz="3200" b="1" dirty="0" smtClean="0">
                <a:solidFill>
                  <a:srgbClr val="0000FF"/>
                </a:solidFill>
                <a:latin typeface="黑体" pitchFamily="49" charset="-122"/>
                <a:ea typeface="黑体" pitchFamily="49" charset="-122"/>
              </a:rPr>
              <a:t>，是毛泽东思想形成和发展的实践基础。</a:t>
            </a:r>
            <a:endParaRPr lang="zh-CN" altLang="en-US" sz="3200" b="1" dirty="0">
              <a:solidFill>
                <a:srgbClr val="0000FF"/>
              </a:solidFill>
              <a:latin typeface="黑体" pitchFamily="49" charset="-122"/>
              <a:ea typeface="黑体" pitchFamily="49" charset="-122"/>
            </a:endParaRPr>
          </a:p>
        </p:txBody>
      </p:sp>
      <p:pic>
        <p:nvPicPr>
          <p:cNvPr id="20482" name="Picture 2" descr="https://gimg2.baidu.com/image_search/src=http%3A%2F%2Fnimg.ws.126.net%2F%3Furl%3Dhttp%253A%252F%252Fdingyue.ws.126.net%252F2021%252F0427%252Fc8042012j00qs7fkk0011c000ci0071c.jpg%26thumbnail%3D650x2147483647%26quality%3D80%26type%3Djpg&amp;refer=http%3A%2F%2Fnimg.ws.126.net&amp;app=2002&amp;size=f9999,10000&amp;q=a80&amp;n=0&amp;g=0n&amp;fmt=jpeg?sec=1634180910&amp;t=d6d6182cc979e518971124b346ba0591"/>
          <p:cNvPicPr>
            <a:picLocks noChangeAspect="1" noChangeArrowheads="1"/>
          </p:cNvPicPr>
          <p:nvPr/>
        </p:nvPicPr>
        <p:blipFill>
          <a:blip r:embed="rId2" cstate="print"/>
          <a:srcRect/>
          <a:stretch>
            <a:fillRect/>
          </a:stretch>
        </p:blipFill>
        <p:spPr bwMode="auto">
          <a:xfrm>
            <a:off x="2428860" y="785794"/>
            <a:ext cx="3143272" cy="3071834"/>
          </a:xfrm>
          <a:prstGeom prst="rect">
            <a:avLst/>
          </a:prstGeom>
          <a:noFill/>
        </p:spPr>
      </p:pic>
      <p:pic>
        <p:nvPicPr>
          <p:cNvPr id="20484" name="Picture 4" descr="https://gss0.baidu.com/70cFfyinKgQFm2e88IuM_a/baike/pic/item/6a600c338744ebf817036359d5f9d72a6059a761.jpg"/>
          <p:cNvPicPr>
            <a:picLocks noChangeAspect="1" noChangeArrowheads="1"/>
          </p:cNvPicPr>
          <p:nvPr/>
        </p:nvPicPr>
        <p:blipFill>
          <a:blip r:embed="rId3" cstate="print"/>
          <a:srcRect/>
          <a:stretch>
            <a:fillRect/>
          </a:stretch>
        </p:blipFill>
        <p:spPr bwMode="auto">
          <a:xfrm>
            <a:off x="5643570" y="857232"/>
            <a:ext cx="3643338" cy="3000396"/>
          </a:xfrm>
          <a:prstGeom prst="rect">
            <a:avLst/>
          </a:prstGeom>
          <a:noFill/>
        </p:spPr>
      </p:pic>
      <p:pic>
        <p:nvPicPr>
          <p:cNvPr id="20486" name="Picture 6" descr="https://gimg2.baidu.com/image_search/src=http%3A%2F%2Fm.wendangwang.com%2Fpic%2Fea7c1835d435b713a5ebf325%2F8-810-jpg_6-1080-0-0-1080.jpg&amp;refer=http%3A%2F%2Fm.wendangwang.com&amp;app=2002&amp;size=f9999,10000&amp;q=a80&amp;n=0&amp;g=0n&amp;fmt=jpeg?sec=1634181159&amp;t=9d7be22264f4ac71c614bb4ef0560f48"/>
          <p:cNvPicPr>
            <a:picLocks noChangeAspect="1" noChangeArrowheads="1"/>
          </p:cNvPicPr>
          <p:nvPr/>
        </p:nvPicPr>
        <p:blipFill>
          <a:blip r:embed="rId4" cstate="print"/>
          <a:srcRect/>
          <a:stretch>
            <a:fillRect/>
          </a:stretch>
        </p:blipFill>
        <p:spPr bwMode="auto">
          <a:xfrm>
            <a:off x="2357422" y="3714752"/>
            <a:ext cx="3286148" cy="2643206"/>
          </a:xfrm>
          <a:prstGeom prst="rect">
            <a:avLst/>
          </a:prstGeom>
          <a:noFill/>
        </p:spPr>
      </p:pic>
      <p:pic>
        <p:nvPicPr>
          <p:cNvPr id="20488" name="Picture 8" descr="https://gimg2.baidu.com/image_search/src=http%3A%2F%2Fsxdsw.org.cn%2Fweb.files%2Fuploadfile%2FQBBFfa%2Fue%2Fimage%2F20190618%2F1560829371788033559.jpg&amp;refer=http%3A%2F%2Fsxdsw.org.cn&amp;app=2002&amp;size=f9999,10000&amp;q=a80&amp;n=0&amp;g=0n&amp;fmt=jpeg?sec=1634181289&amp;t=078b7b8e8e198b09e9fcd3caa8e9f68e"/>
          <p:cNvPicPr>
            <a:picLocks noChangeAspect="1" noChangeArrowheads="1"/>
          </p:cNvPicPr>
          <p:nvPr/>
        </p:nvPicPr>
        <p:blipFill>
          <a:blip r:embed="rId5" cstate="print"/>
          <a:srcRect/>
          <a:stretch>
            <a:fillRect/>
          </a:stretch>
        </p:blipFill>
        <p:spPr bwMode="auto">
          <a:xfrm>
            <a:off x="5500694" y="3786190"/>
            <a:ext cx="3810000" cy="2838450"/>
          </a:xfrm>
          <a:prstGeom prst="rect">
            <a:avLst/>
          </a:prstGeom>
          <a:noFill/>
        </p:spPr>
      </p:pic>
    </p:spTree>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Text Box 2"/>
          <p:cNvSpPr txBox="1">
            <a:spLocks noChangeArrowheads="1"/>
          </p:cNvSpPr>
          <p:nvPr/>
        </p:nvSpPr>
        <p:spPr bwMode="auto">
          <a:xfrm>
            <a:off x="857224" y="1000108"/>
            <a:ext cx="7162800" cy="4745915"/>
          </a:xfrm>
          <a:prstGeom prst="rect">
            <a:avLst/>
          </a:prstGeom>
          <a:noFill/>
          <a:ln w="9525">
            <a:solidFill>
              <a:srgbClr val="FF0000"/>
            </a:solidFill>
            <a:miter lim="800000"/>
            <a:headEnd/>
            <a:tailEnd/>
          </a:ln>
        </p:spPr>
        <p:txBody>
          <a:bodyPr>
            <a:spAutoFit/>
          </a:bodyPr>
          <a:lstStyle/>
          <a:p>
            <a:pPr>
              <a:lnSpc>
                <a:spcPct val="140000"/>
              </a:lnSpc>
            </a:pPr>
            <a:r>
              <a:rPr lang="zh-CN" altLang="en-US" sz="2800" b="1" dirty="0">
                <a:solidFill>
                  <a:schemeClr val="folHlink"/>
                </a:solidFill>
                <a:latin typeface="黑体" pitchFamily="49" charset="-122"/>
                <a:ea typeface="黑体" pitchFamily="49" charset="-122"/>
              </a:rPr>
              <a:t>       </a:t>
            </a:r>
            <a:r>
              <a:rPr lang="zh-CN" altLang="en-US" sz="3600" b="1" dirty="0" smtClean="0">
                <a:solidFill>
                  <a:srgbClr val="0000FF"/>
                </a:solidFill>
                <a:latin typeface="黑体" pitchFamily="49" charset="-122"/>
                <a:ea typeface="黑体" pitchFamily="49" charset="-122"/>
              </a:rPr>
              <a:t>中国共产党成立后，在领导中国人民实现民族复兴的历程中，既有成功的宝贵经验，也有失败的惨痛教训，正是经过正反两方面实践经验的比较和总结，毛泽东思想才逐步形成和发展起来。</a:t>
            </a:r>
            <a:endParaRPr lang="zh-CN" altLang="en-US" sz="3600" b="1" dirty="0">
              <a:solidFill>
                <a:srgbClr val="0000FF"/>
              </a:solidFill>
              <a:latin typeface="楷体" pitchFamily="49" charset="-122"/>
              <a:ea typeface="楷体" pitchFamily="49" charset="-122"/>
            </a:endParaRPr>
          </a:p>
        </p:txBody>
      </p:sp>
    </p:spTree>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85720" y="1714488"/>
            <a:ext cx="571504" cy="2862322"/>
          </a:xfrm>
          <a:prstGeom prst="rect">
            <a:avLst/>
          </a:prstGeom>
          <a:solidFill>
            <a:schemeClr val="bg1"/>
          </a:solidFill>
          <a:ln>
            <a:solidFill>
              <a:schemeClr val="accent1"/>
            </a:solidFill>
          </a:ln>
        </p:spPr>
        <p:txBody>
          <a:bodyPr vert="horz" wrap="square">
            <a:spAutoFit/>
          </a:bodyPr>
          <a:lstStyle/>
          <a:p>
            <a:pPr algn="just"/>
            <a:r>
              <a:rPr lang="en-US" altLang="zh-CN" sz="3600" b="1" dirty="0" smtClean="0">
                <a:solidFill>
                  <a:srgbClr val="FF0000"/>
                </a:solidFill>
                <a:latin typeface="黑体" pitchFamily="49" charset="-122"/>
                <a:ea typeface="黑体" pitchFamily="49" charset="-122"/>
              </a:rPr>
              <a:t>3</a:t>
            </a:r>
            <a:r>
              <a:rPr lang="zh-CN" altLang="en-US" sz="3600" b="1" dirty="0" smtClean="0">
                <a:solidFill>
                  <a:srgbClr val="FF0000"/>
                </a:solidFill>
                <a:latin typeface="黑体" pitchFamily="49" charset="-122"/>
                <a:ea typeface="黑体" pitchFamily="49" charset="-122"/>
              </a:rPr>
              <a:t>主观条件</a:t>
            </a:r>
            <a:endParaRPr lang="zh-CN" altLang="en-US" sz="3600" b="1" dirty="0">
              <a:solidFill>
                <a:srgbClr val="FF0000"/>
              </a:solidFill>
              <a:latin typeface="黑体" pitchFamily="49" charset="-122"/>
              <a:ea typeface="黑体" pitchFamily="49" charset="-122"/>
            </a:endParaRPr>
          </a:p>
        </p:txBody>
      </p:sp>
      <p:sp>
        <p:nvSpPr>
          <p:cNvPr id="4" name="矩形 3"/>
          <p:cNvSpPr/>
          <p:nvPr/>
        </p:nvSpPr>
        <p:spPr>
          <a:xfrm>
            <a:off x="1785918" y="1500174"/>
            <a:ext cx="2451312" cy="584775"/>
          </a:xfrm>
          <a:prstGeom prst="rect">
            <a:avLst/>
          </a:prstGeom>
          <a:solidFill>
            <a:schemeClr val="bg1"/>
          </a:solidFill>
          <a:ln>
            <a:solidFill>
              <a:schemeClr val="accent1"/>
            </a:solidFill>
          </a:ln>
        </p:spPr>
        <p:txBody>
          <a:bodyPr wrap="none">
            <a:spAutoFit/>
          </a:bodyPr>
          <a:lstStyle/>
          <a:p>
            <a:r>
              <a:rPr lang="zh-CN" altLang="en-US" sz="3200" b="1" dirty="0" smtClean="0">
                <a:solidFill>
                  <a:srgbClr val="0000FF"/>
                </a:solidFill>
                <a:latin typeface="黑体" pitchFamily="49" charset="-122"/>
                <a:ea typeface="黑体" pitchFamily="49" charset="-122"/>
              </a:rPr>
              <a:t>优秀的天赋 </a:t>
            </a:r>
            <a:endParaRPr lang="zh-CN" altLang="en-US" sz="3200" dirty="0"/>
          </a:p>
        </p:txBody>
      </p:sp>
      <p:sp>
        <p:nvSpPr>
          <p:cNvPr id="5" name="矩形 4"/>
          <p:cNvSpPr/>
          <p:nvPr/>
        </p:nvSpPr>
        <p:spPr>
          <a:xfrm>
            <a:off x="1785918" y="2285992"/>
            <a:ext cx="2244525" cy="584775"/>
          </a:xfrm>
          <a:prstGeom prst="rect">
            <a:avLst/>
          </a:prstGeom>
          <a:solidFill>
            <a:schemeClr val="bg1"/>
          </a:solidFill>
          <a:ln>
            <a:solidFill>
              <a:schemeClr val="accent1"/>
            </a:solidFill>
          </a:ln>
        </p:spPr>
        <p:txBody>
          <a:bodyPr wrap="none">
            <a:spAutoFit/>
          </a:bodyPr>
          <a:lstStyle/>
          <a:p>
            <a:r>
              <a:rPr lang="zh-CN" altLang="en-US" sz="3200" b="1" dirty="0" smtClean="0">
                <a:solidFill>
                  <a:srgbClr val="0000FF"/>
                </a:solidFill>
                <a:latin typeface="黑体" pitchFamily="49" charset="-122"/>
                <a:ea typeface="黑体" pitchFamily="49" charset="-122"/>
              </a:rPr>
              <a:t>丰富的阅历</a:t>
            </a:r>
          </a:p>
        </p:txBody>
      </p:sp>
      <p:sp>
        <p:nvSpPr>
          <p:cNvPr id="6" name="矩形 5"/>
          <p:cNvSpPr/>
          <p:nvPr/>
        </p:nvSpPr>
        <p:spPr>
          <a:xfrm>
            <a:off x="1785918" y="3143248"/>
            <a:ext cx="2286016" cy="584775"/>
          </a:xfrm>
          <a:prstGeom prst="rect">
            <a:avLst/>
          </a:prstGeom>
          <a:solidFill>
            <a:schemeClr val="bg1"/>
          </a:solidFill>
          <a:ln>
            <a:solidFill>
              <a:schemeClr val="accent1"/>
            </a:solidFill>
          </a:ln>
        </p:spPr>
        <p:txBody>
          <a:bodyPr wrap="square">
            <a:spAutoFit/>
          </a:bodyPr>
          <a:lstStyle/>
          <a:p>
            <a:r>
              <a:rPr lang="zh-CN" altLang="en-US" sz="3200" b="1" dirty="0" smtClean="0">
                <a:solidFill>
                  <a:srgbClr val="0000FF"/>
                </a:solidFill>
                <a:latin typeface="黑体" pitchFamily="49" charset="-122"/>
                <a:ea typeface="黑体" pitchFamily="49" charset="-122"/>
              </a:rPr>
              <a:t>广博的才学        </a:t>
            </a:r>
          </a:p>
        </p:txBody>
      </p:sp>
      <p:sp>
        <p:nvSpPr>
          <p:cNvPr id="7" name="矩形 6"/>
          <p:cNvSpPr/>
          <p:nvPr/>
        </p:nvSpPr>
        <p:spPr>
          <a:xfrm>
            <a:off x="1785918" y="4071942"/>
            <a:ext cx="2244525" cy="584775"/>
          </a:xfrm>
          <a:prstGeom prst="rect">
            <a:avLst/>
          </a:prstGeom>
          <a:solidFill>
            <a:schemeClr val="bg1"/>
          </a:solidFill>
          <a:ln>
            <a:solidFill>
              <a:schemeClr val="accent1"/>
            </a:solidFill>
          </a:ln>
        </p:spPr>
        <p:txBody>
          <a:bodyPr wrap="none">
            <a:spAutoFit/>
          </a:bodyPr>
          <a:lstStyle/>
          <a:p>
            <a:r>
              <a:rPr lang="zh-CN" altLang="en-US" sz="3200" b="1" dirty="0" smtClean="0">
                <a:solidFill>
                  <a:srgbClr val="0000FF"/>
                </a:solidFill>
                <a:latin typeface="黑体" pitchFamily="49" charset="-122"/>
                <a:ea typeface="黑体" pitchFamily="49" charset="-122"/>
              </a:rPr>
              <a:t>卓越的胆识</a:t>
            </a:r>
          </a:p>
        </p:txBody>
      </p:sp>
      <p:sp>
        <p:nvSpPr>
          <p:cNvPr id="8" name="左大括号 7"/>
          <p:cNvSpPr/>
          <p:nvPr/>
        </p:nvSpPr>
        <p:spPr>
          <a:xfrm>
            <a:off x="785786" y="2000240"/>
            <a:ext cx="714380" cy="2428892"/>
          </a:xfrm>
          <a:prstGeom prst="leftBrace">
            <a:avLst/>
          </a:prstGeom>
          <a:solidFill>
            <a:schemeClr val="accent3"/>
          </a:solidFill>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 name="恰同学少年 第23集.mp4">
            <a:hlinkClick r:id="" action="ppaction://media"/>
          </p:cNvPr>
          <p:cNvPicPr>
            <a:picLocks noRot="1" noChangeAspect="1"/>
          </p:cNvPicPr>
          <p:nvPr>
            <a:videoFile r:link="rId1"/>
          </p:nvPr>
        </p:nvPicPr>
        <p:blipFill>
          <a:blip r:embed="rId3" cstate="print"/>
          <a:stretch>
            <a:fillRect/>
          </a:stretch>
        </p:blipFill>
        <p:spPr>
          <a:xfrm>
            <a:off x="4071934" y="428604"/>
            <a:ext cx="4857784" cy="4929222"/>
          </a:xfrm>
          <a:prstGeom prst="rect">
            <a:avLst/>
          </a:prstGeom>
        </p:spPr>
      </p:pic>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endCondLst>
                    <p:cond evt="onNext" delay="0">
                      <p:tgtEl>
                        <p:sldTgt/>
                      </p:tgtEl>
                    </p:cond>
                    <p:cond evt="onPrev" delay="0">
                      <p:tgtEl>
                        <p:sldTgt/>
                      </p:tgtEl>
                    </p:cond>
                  </p:end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ChangeArrowheads="1"/>
          </p:cNvSpPr>
          <p:nvPr/>
        </p:nvSpPr>
        <p:spPr bwMode="auto">
          <a:xfrm>
            <a:off x="611560" y="1196752"/>
            <a:ext cx="7745514" cy="3416320"/>
          </a:xfrm>
          <a:prstGeom prst="rect">
            <a:avLst/>
          </a:prstGeom>
          <a:noFill/>
          <a:ln w="9525">
            <a:noFill/>
            <a:miter lim="800000"/>
            <a:headEnd/>
            <a:tailEnd/>
          </a:ln>
        </p:spPr>
        <p:txBody>
          <a:bodyPr wrap="square">
            <a:spAutoFit/>
          </a:bodyPr>
          <a:lstStyle/>
          <a:p>
            <a:pPr>
              <a:lnSpc>
                <a:spcPct val="150000"/>
              </a:lnSpc>
              <a:defRPr/>
            </a:pPr>
            <a:r>
              <a:rPr lang="zh-CN" altLang="en-US" sz="4800" spc="50" dirty="0" smtClean="0">
                <a:ln w="12700" cmpd="sng">
                  <a:solidFill>
                    <a:schemeClr val="accent6">
                      <a:satMod val="120000"/>
                      <a:shade val="80000"/>
                    </a:schemeClr>
                  </a:solidFill>
                  <a:prstDash val="solid"/>
                </a:ln>
                <a:solidFill>
                  <a:srgbClr val="FF0000"/>
                </a:solidFill>
                <a:effectLst>
                  <a:glow rad="53100">
                    <a:schemeClr val="accent6">
                      <a:satMod val="180000"/>
                      <a:alpha val="30000"/>
                    </a:schemeClr>
                  </a:glow>
                </a:effectLst>
                <a:latin typeface="华文琥珀" pitchFamily="2" charset="-122"/>
                <a:ea typeface="华文琥珀" pitchFamily="2" charset="-122"/>
              </a:rPr>
              <a:t> 讨论：</a:t>
            </a:r>
            <a:endParaRPr lang="en-US" altLang="zh-CN" sz="4800" spc="50" dirty="0" smtClean="0">
              <a:ln w="12700" cmpd="sng">
                <a:solidFill>
                  <a:schemeClr val="accent6">
                    <a:satMod val="120000"/>
                    <a:shade val="80000"/>
                  </a:schemeClr>
                </a:solidFill>
                <a:prstDash val="solid"/>
              </a:ln>
              <a:solidFill>
                <a:srgbClr val="FF0000"/>
              </a:solidFill>
              <a:effectLst>
                <a:glow rad="53100">
                  <a:schemeClr val="accent6">
                    <a:satMod val="180000"/>
                    <a:alpha val="30000"/>
                  </a:schemeClr>
                </a:glow>
              </a:effectLst>
              <a:latin typeface="华文琥珀" pitchFamily="2" charset="-122"/>
              <a:ea typeface="华文琥珀" pitchFamily="2" charset="-122"/>
            </a:endParaRPr>
          </a:p>
          <a:p>
            <a:pPr>
              <a:lnSpc>
                <a:spcPct val="150000"/>
              </a:lnSpc>
              <a:defRPr/>
            </a:pPr>
            <a:r>
              <a:rPr lang="zh-CN" altLang="en-US" sz="4800" spc="50" dirty="0" smtClean="0">
                <a:ln w="12700" cmpd="sng">
                  <a:solidFill>
                    <a:schemeClr val="accent6">
                      <a:satMod val="120000"/>
                      <a:shade val="80000"/>
                    </a:schemeClr>
                  </a:solidFill>
                  <a:prstDash val="solid"/>
                </a:ln>
                <a:solidFill>
                  <a:srgbClr val="FF0000"/>
                </a:solidFill>
                <a:effectLst>
                  <a:glow rad="53100">
                    <a:schemeClr val="accent6">
                      <a:satMod val="180000"/>
                      <a:alpha val="30000"/>
                    </a:schemeClr>
                  </a:glow>
                </a:effectLst>
                <a:latin typeface="华文琥珀" pitchFamily="2" charset="-122"/>
                <a:ea typeface="华文琥珀" pitchFamily="2" charset="-122"/>
              </a:rPr>
              <a:t>我心目中的毛泽东   </a:t>
            </a:r>
            <a:endParaRPr lang="en-US" altLang="zh-CN" sz="4800" spc="50" dirty="0" smtClean="0">
              <a:ln w="12700" cmpd="sng">
                <a:solidFill>
                  <a:schemeClr val="accent6">
                    <a:satMod val="120000"/>
                    <a:shade val="80000"/>
                  </a:schemeClr>
                </a:solidFill>
                <a:prstDash val="solid"/>
              </a:ln>
              <a:solidFill>
                <a:srgbClr val="FF0000"/>
              </a:solidFill>
              <a:effectLst>
                <a:glow rad="53100">
                  <a:schemeClr val="accent6">
                    <a:satMod val="180000"/>
                    <a:alpha val="30000"/>
                  </a:schemeClr>
                </a:glow>
              </a:effectLst>
              <a:latin typeface="华文琥珀" pitchFamily="2" charset="-122"/>
              <a:ea typeface="华文琥珀" pitchFamily="2" charset="-122"/>
            </a:endParaRPr>
          </a:p>
          <a:p>
            <a:pPr>
              <a:lnSpc>
                <a:spcPct val="150000"/>
              </a:lnSpc>
              <a:defRPr/>
            </a:pPr>
            <a:r>
              <a:rPr lang="zh-CN" altLang="en-US" sz="4800" spc="50" dirty="0" smtClean="0">
                <a:ln w="12700" cmpd="sng">
                  <a:solidFill>
                    <a:schemeClr val="accent6">
                      <a:satMod val="120000"/>
                      <a:shade val="80000"/>
                    </a:schemeClr>
                  </a:solidFill>
                  <a:prstDash val="solid"/>
                </a:ln>
                <a:solidFill>
                  <a:srgbClr val="FF0000"/>
                </a:solidFill>
                <a:effectLst>
                  <a:glow rad="53100">
                    <a:schemeClr val="accent6">
                      <a:satMod val="180000"/>
                      <a:alpha val="30000"/>
                    </a:schemeClr>
                  </a:glow>
                </a:effectLst>
                <a:latin typeface="华文琥珀" pitchFamily="2" charset="-122"/>
                <a:ea typeface="华文琥珀" pitchFamily="2" charset="-122"/>
              </a:rPr>
              <a:t>   </a:t>
            </a:r>
            <a:endParaRPr lang="zh-CN" altLang="en-US" sz="3600" dirty="0">
              <a:solidFill>
                <a:schemeClr val="folHlink"/>
              </a:solidFill>
              <a:latin typeface="黑体" pitchFamily="49" charset="-122"/>
              <a:ea typeface="黑体" pitchFamily="49" charset="-122"/>
            </a:endParaRPr>
          </a:p>
        </p:txBody>
      </p:sp>
      <p:pic>
        <p:nvPicPr>
          <p:cNvPr id="4" name="走近毛泽东（上）.mp4">
            <a:hlinkClick r:id="" action="ppaction://media"/>
          </p:cNvPr>
          <p:cNvPicPr>
            <a:picLocks noRot="1" noChangeAspect="1"/>
          </p:cNvPicPr>
          <p:nvPr>
            <a:videoFile r:link="rId1"/>
          </p:nvPr>
        </p:nvPicPr>
        <p:blipFill>
          <a:blip r:embed="rId3" cstate="print"/>
          <a:stretch>
            <a:fillRect/>
          </a:stretch>
        </p:blipFill>
        <p:spPr>
          <a:xfrm>
            <a:off x="214282" y="0"/>
            <a:ext cx="8715436" cy="6715148"/>
          </a:xfrm>
          <a:prstGeom prst="rect">
            <a:avLst/>
          </a:prstGeom>
        </p:spPr>
      </p:pic>
    </p:spTree>
    <p:extLst>
      <p:ext uri="{BB962C8B-B14F-4D97-AF65-F5344CB8AC3E}">
        <p14:creationId xmlns="" xmlns:p14="http://schemas.microsoft.com/office/powerpoint/2010/main" val="1929887162"/>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endCondLst>
                    <p:cond evt="onNext" delay="0">
                      <p:tgtEl>
                        <p:sldTgt/>
                      </p:tgtEl>
                    </p:cond>
                    <p:cond evt="onPrev" delay="0">
                      <p:tgtEl>
                        <p:sldTgt/>
                      </p:tgtEl>
                    </p:cond>
                  </p:end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5234" name="Picture 2" descr="ea_2005726191822"/>
          <p:cNvPicPr>
            <a:picLocks noChangeAspect="1" noChangeArrowheads="1"/>
          </p:cNvPicPr>
          <p:nvPr/>
        </p:nvPicPr>
        <p:blipFill>
          <a:blip r:embed="rId2" cstate="print"/>
          <a:srcRect/>
          <a:stretch>
            <a:fillRect/>
          </a:stretch>
        </p:blipFill>
        <p:spPr bwMode="auto">
          <a:xfrm>
            <a:off x="5580063" y="0"/>
            <a:ext cx="2592387" cy="3068638"/>
          </a:xfrm>
          <a:prstGeom prst="rect">
            <a:avLst/>
          </a:prstGeom>
          <a:noFill/>
          <a:ln w="9525">
            <a:noFill/>
            <a:miter lim="800000"/>
            <a:headEnd/>
            <a:tailEnd/>
          </a:ln>
        </p:spPr>
      </p:pic>
      <p:pic>
        <p:nvPicPr>
          <p:cNvPr id="95235" name="Picture 2" descr="ea_2005726191835"/>
          <p:cNvPicPr>
            <a:picLocks noChangeAspect="1" noChangeArrowheads="1"/>
          </p:cNvPicPr>
          <p:nvPr/>
        </p:nvPicPr>
        <p:blipFill>
          <a:blip r:embed="rId3" cstate="print"/>
          <a:srcRect/>
          <a:stretch>
            <a:fillRect/>
          </a:stretch>
        </p:blipFill>
        <p:spPr bwMode="auto">
          <a:xfrm>
            <a:off x="2916238" y="0"/>
            <a:ext cx="2735262" cy="3068638"/>
          </a:xfrm>
          <a:prstGeom prst="rect">
            <a:avLst/>
          </a:prstGeom>
          <a:noFill/>
          <a:ln w="9525">
            <a:noFill/>
            <a:miter lim="800000"/>
            <a:headEnd/>
            <a:tailEnd/>
          </a:ln>
        </p:spPr>
      </p:pic>
      <p:pic>
        <p:nvPicPr>
          <p:cNvPr id="95236" name="Picture 2" descr="ea_2005726191829"/>
          <p:cNvPicPr>
            <a:picLocks noChangeAspect="1" noChangeArrowheads="1"/>
          </p:cNvPicPr>
          <p:nvPr/>
        </p:nvPicPr>
        <p:blipFill>
          <a:blip r:embed="rId4" cstate="print"/>
          <a:srcRect/>
          <a:stretch>
            <a:fillRect/>
          </a:stretch>
        </p:blipFill>
        <p:spPr bwMode="auto">
          <a:xfrm>
            <a:off x="2916238" y="3068638"/>
            <a:ext cx="2663825" cy="3529012"/>
          </a:xfrm>
          <a:prstGeom prst="rect">
            <a:avLst/>
          </a:prstGeom>
          <a:noFill/>
          <a:ln w="9525">
            <a:noFill/>
            <a:miter lim="800000"/>
            <a:headEnd/>
            <a:tailEnd/>
          </a:ln>
        </p:spPr>
      </p:pic>
      <p:pic>
        <p:nvPicPr>
          <p:cNvPr id="95237" name="图片 5" descr="2517793666694690464.jpg"/>
          <p:cNvPicPr>
            <a:picLocks noChangeAspect="1" noChangeArrowheads="1"/>
          </p:cNvPicPr>
          <p:nvPr/>
        </p:nvPicPr>
        <p:blipFill>
          <a:blip r:embed="rId5" cstate="print"/>
          <a:srcRect/>
          <a:stretch>
            <a:fillRect/>
          </a:stretch>
        </p:blipFill>
        <p:spPr bwMode="auto">
          <a:xfrm>
            <a:off x="0" y="0"/>
            <a:ext cx="2987675" cy="3068638"/>
          </a:xfrm>
          <a:prstGeom prst="rect">
            <a:avLst/>
          </a:prstGeom>
          <a:noFill/>
          <a:ln w="9525">
            <a:noFill/>
            <a:miter lim="800000"/>
            <a:headEnd/>
            <a:tailEnd/>
          </a:ln>
        </p:spPr>
      </p:pic>
      <p:pic>
        <p:nvPicPr>
          <p:cNvPr id="95238" name="图片 6" descr="1022880065384288508.jpg"/>
          <p:cNvPicPr>
            <a:picLocks noChangeAspect="1" noChangeArrowheads="1"/>
          </p:cNvPicPr>
          <p:nvPr/>
        </p:nvPicPr>
        <p:blipFill>
          <a:blip r:embed="rId6" cstate="print"/>
          <a:srcRect/>
          <a:stretch>
            <a:fillRect/>
          </a:stretch>
        </p:blipFill>
        <p:spPr bwMode="auto">
          <a:xfrm>
            <a:off x="0" y="3213100"/>
            <a:ext cx="2771775" cy="3644900"/>
          </a:xfrm>
          <a:prstGeom prst="rect">
            <a:avLst/>
          </a:prstGeom>
          <a:noFill/>
          <a:ln w="9525">
            <a:noFill/>
            <a:miter lim="800000"/>
            <a:headEnd/>
            <a:tailEnd/>
          </a:ln>
        </p:spPr>
      </p:pic>
      <p:pic>
        <p:nvPicPr>
          <p:cNvPr id="95239" name="图片 7" descr="1326873040231803438.jpg"/>
          <p:cNvPicPr>
            <a:picLocks noChangeAspect="1" noChangeArrowheads="1"/>
          </p:cNvPicPr>
          <p:nvPr/>
        </p:nvPicPr>
        <p:blipFill>
          <a:blip r:embed="rId7" cstate="print"/>
          <a:srcRect/>
          <a:stretch>
            <a:fillRect/>
          </a:stretch>
        </p:blipFill>
        <p:spPr bwMode="auto">
          <a:xfrm>
            <a:off x="5580063" y="3113088"/>
            <a:ext cx="2808287" cy="3744912"/>
          </a:xfrm>
          <a:prstGeom prst="rect">
            <a:avLst/>
          </a:prstGeom>
          <a:noFill/>
          <a:ln w="9525">
            <a:noFill/>
            <a:miter lim="800000"/>
            <a:headEnd/>
            <a:tailEnd/>
          </a:ln>
        </p:spPr>
      </p:pic>
    </p:spTree>
  </p:cSld>
  <p:clrMapOvr>
    <a:masterClrMapping/>
  </p:clrMapOvr>
  <p:transition spd="med">
    <p:wipe dir="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258" name="Picture 2" descr="ea_200572619652"/>
          <p:cNvPicPr>
            <a:picLocks noChangeAspect="1" noChangeArrowheads="1"/>
          </p:cNvPicPr>
          <p:nvPr/>
        </p:nvPicPr>
        <p:blipFill>
          <a:blip r:embed="rId2" cstate="print"/>
          <a:srcRect/>
          <a:stretch>
            <a:fillRect/>
          </a:stretch>
        </p:blipFill>
        <p:spPr bwMode="auto">
          <a:xfrm>
            <a:off x="395288" y="404813"/>
            <a:ext cx="3889375" cy="5616575"/>
          </a:xfrm>
          <a:prstGeom prst="rect">
            <a:avLst/>
          </a:prstGeom>
          <a:noFill/>
          <a:ln w="9525">
            <a:noFill/>
            <a:miter lim="800000"/>
            <a:headEnd/>
            <a:tailEnd/>
          </a:ln>
        </p:spPr>
      </p:pic>
      <p:pic>
        <p:nvPicPr>
          <p:cNvPr id="96259" name="图片 3" descr="86b1OOOPIC70 (1).jpg"/>
          <p:cNvPicPr>
            <a:picLocks noChangeAspect="1" noChangeArrowheads="1"/>
          </p:cNvPicPr>
          <p:nvPr/>
        </p:nvPicPr>
        <p:blipFill>
          <a:blip r:embed="rId3" cstate="print"/>
          <a:srcRect/>
          <a:stretch>
            <a:fillRect/>
          </a:stretch>
        </p:blipFill>
        <p:spPr bwMode="auto">
          <a:xfrm>
            <a:off x="4211638" y="333375"/>
            <a:ext cx="4105275" cy="5697538"/>
          </a:xfrm>
          <a:prstGeom prst="rect">
            <a:avLst/>
          </a:prstGeom>
          <a:noFill/>
          <a:ln w="9525">
            <a:noFill/>
            <a:miter lim="800000"/>
            <a:headEnd/>
            <a:tailEnd/>
          </a:ln>
        </p:spPr>
      </p:pic>
    </p:spTree>
  </p:cSld>
  <p:clrMapOvr>
    <a:masterClrMapping/>
  </p:clrMapOvr>
  <p:transition spd="med">
    <p:wipe dir="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282" name="Picture 2" descr="ea_2005726191845"/>
          <p:cNvPicPr>
            <a:picLocks noChangeAspect="1" noChangeArrowheads="1"/>
          </p:cNvPicPr>
          <p:nvPr/>
        </p:nvPicPr>
        <p:blipFill>
          <a:blip r:embed="rId2" cstate="print"/>
          <a:srcRect/>
          <a:stretch>
            <a:fillRect/>
          </a:stretch>
        </p:blipFill>
        <p:spPr bwMode="auto">
          <a:xfrm>
            <a:off x="1509713" y="1076325"/>
            <a:ext cx="6124575" cy="4705350"/>
          </a:xfrm>
          <a:prstGeom prst="rect">
            <a:avLst/>
          </a:prstGeom>
          <a:noFill/>
          <a:ln w="9525">
            <a:noFill/>
            <a:miter lim="800000"/>
            <a:headEnd/>
            <a:tailEnd/>
          </a:ln>
        </p:spPr>
      </p:pic>
    </p:spTree>
  </p:cSld>
  <p:clrMapOvr>
    <a:masterClrMapping/>
  </p:clrMapOvr>
  <p:transition spd="med">
    <p:wipe dir="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306" name="Picture 2"/>
          <p:cNvPicPr>
            <a:picLocks noChangeAspect="1" noChangeArrowheads="1"/>
          </p:cNvPicPr>
          <p:nvPr/>
        </p:nvPicPr>
        <p:blipFill>
          <a:blip r:embed="rId2" cstate="print"/>
          <a:srcRect/>
          <a:stretch>
            <a:fillRect/>
          </a:stretch>
        </p:blipFill>
        <p:spPr bwMode="auto">
          <a:xfrm>
            <a:off x="457200" y="1600200"/>
            <a:ext cx="3043238" cy="4186238"/>
          </a:xfrm>
          <a:prstGeom prst="rect">
            <a:avLst/>
          </a:prstGeom>
          <a:noFill/>
          <a:ln w="9525">
            <a:noFill/>
            <a:miter lim="800000"/>
            <a:headEnd/>
            <a:tailEnd/>
          </a:ln>
        </p:spPr>
      </p:pic>
      <p:sp>
        <p:nvSpPr>
          <p:cNvPr id="4" name="Rectangle 4"/>
          <p:cNvSpPr txBox="1">
            <a:spLocks noChangeArrowheads="1"/>
          </p:cNvSpPr>
          <p:nvPr/>
        </p:nvSpPr>
        <p:spPr bwMode="auto">
          <a:xfrm>
            <a:off x="3635896" y="260648"/>
            <a:ext cx="5508104" cy="5904656"/>
          </a:xfrm>
          <a:prstGeom prst="rect">
            <a:avLst/>
          </a:prstGeom>
          <a:noFill/>
          <a:ln>
            <a:miter lim="800000"/>
          </a:ln>
        </p:spPr>
        <p:txBody>
          <a:bodyPr/>
          <a:lstStyle/>
          <a:p>
            <a:pPr marL="342900" indent="-342900" eaLnBrk="0" hangingPunct="0">
              <a:spcBef>
                <a:spcPct val="20000"/>
              </a:spcBef>
              <a:buFontTx/>
              <a:buNone/>
              <a:defRPr/>
            </a:pPr>
            <a:r>
              <a:rPr lang="zh-CN" altLang="en-US" sz="2400" kern="0" dirty="0">
                <a:solidFill>
                  <a:srgbClr val="0000FF"/>
                </a:solidFill>
                <a:latin typeface="+mj-ea"/>
                <a:ea typeface="+mj-ea"/>
              </a:rPr>
              <a:t>毛泽东 字润之，笔名子任。</a:t>
            </a:r>
          </a:p>
          <a:p>
            <a:pPr marL="342900" indent="-342900" eaLnBrk="0" hangingPunct="0">
              <a:spcBef>
                <a:spcPct val="20000"/>
              </a:spcBef>
              <a:buFontTx/>
              <a:buNone/>
              <a:defRPr/>
            </a:pPr>
            <a:r>
              <a:rPr lang="zh-CN" altLang="en-US" sz="2400" kern="0" dirty="0">
                <a:solidFill>
                  <a:srgbClr val="0000FF"/>
                </a:solidFill>
                <a:latin typeface="+mj-ea"/>
                <a:ea typeface="+mj-ea"/>
              </a:rPr>
              <a:t>生于：1893年12月26日</a:t>
            </a:r>
          </a:p>
          <a:p>
            <a:pPr marL="342900" indent="-342900" eaLnBrk="0" hangingPunct="0">
              <a:spcBef>
                <a:spcPct val="20000"/>
              </a:spcBef>
              <a:buFontTx/>
              <a:buNone/>
              <a:defRPr/>
            </a:pPr>
            <a:r>
              <a:rPr lang="zh-CN" altLang="en-US" sz="2400" kern="0" dirty="0">
                <a:solidFill>
                  <a:srgbClr val="0000FF"/>
                </a:solidFill>
                <a:latin typeface="+mj-ea"/>
                <a:ea typeface="+mj-ea"/>
              </a:rPr>
              <a:t>卒于：1976年9月9日</a:t>
            </a:r>
          </a:p>
          <a:p>
            <a:pPr marL="342900" indent="-342900" eaLnBrk="0" hangingPunct="0">
              <a:spcBef>
                <a:spcPct val="20000"/>
              </a:spcBef>
              <a:buFontTx/>
              <a:buNone/>
              <a:defRPr/>
            </a:pPr>
            <a:r>
              <a:rPr lang="zh-CN" altLang="en-US" sz="2400" kern="0" dirty="0">
                <a:solidFill>
                  <a:srgbClr val="0000FF"/>
                </a:solidFill>
                <a:latin typeface="+mj-ea"/>
                <a:ea typeface="+mj-ea"/>
              </a:rPr>
              <a:t>属相：蛇 </a:t>
            </a:r>
          </a:p>
          <a:p>
            <a:pPr marL="342900" indent="-342900" eaLnBrk="0" hangingPunct="0">
              <a:spcBef>
                <a:spcPct val="20000"/>
              </a:spcBef>
              <a:buFontTx/>
              <a:buNone/>
              <a:defRPr/>
            </a:pPr>
            <a:r>
              <a:rPr lang="zh-CN" altLang="en-US" sz="2400" kern="0" dirty="0">
                <a:solidFill>
                  <a:srgbClr val="0000FF"/>
                </a:solidFill>
                <a:latin typeface="+mj-ea"/>
                <a:ea typeface="+mj-ea"/>
              </a:rPr>
              <a:t>简介：生于湖南湘潭韶山中一个农民家庭。1976年9月9日在北京逝世。字：润之，笔名：子任，曾用名：二十八画生、李德胜，中国人民的领袖</a:t>
            </a:r>
            <a:r>
              <a:rPr lang="zh-CN" altLang="en-US" sz="2400" kern="0" dirty="0" smtClean="0">
                <a:solidFill>
                  <a:srgbClr val="0000FF"/>
                </a:solidFill>
                <a:latin typeface="+mj-ea"/>
                <a:ea typeface="+mj-ea"/>
              </a:rPr>
              <a:t>，   </a:t>
            </a:r>
            <a:endParaRPr lang="en-US" altLang="zh-CN" sz="2400" kern="0" dirty="0" smtClean="0">
              <a:solidFill>
                <a:srgbClr val="0000FF"/>
              </a:solidFill>
              <a:latin typeface="+mj-ea"/>
              <a:ea typeface="+mj-ea"/>
            </a:endParaRPr>
          </a:p>
          <a:p>
            <a:pPr eaLnBrk="0" hangingPunct="0">
              <a:buFontTx/>
              <a:buNone/>
              <a:defRPr/>
            </a:pPr>
            <a:r>
              <a:rPr lang="en-US" altLang="zh-CN" sz="2400" kern="0" dirty="0" smtClean="0">
                <a:solidFill>
                  <a:srgbClr val="0000FF"/>
                </a:solidFill>
                <a:latin typeface="+mj-ea"/>
                <a:ea typeface="+mj-ea"/>
              </a:rPr>
              <a:t>        </a:t>
            </a:r>
            <a:r>
              <a:rPr lang="zh-CN" altLang="en-US" sz="2400" kern="0" dirty="0" smtClean="0">
                <a:solidFill>
                  <a:srgbClr val="FF0000"/>
                </a:solidFill>
                <a:latin typeface="+mj-ea"/>
                <a:ea typeface="+mj-ea"/>
              </a:rPr>
              <a:t>马克思主义</a:t>
            </a:r>
            <a:r>
              <a:rPr lang="zh-CN" altLang="en-US" sz="2400" kern="0" dirty="0">
                <a:solidFill>
                  <a:srgbClr val="FF0000"/>
                </a:solidFill>
                <a:latin typeface="+mj-ea"/>
                <a:ea typeface="+mj-ea"/>
              </a:rPr>
              <a:t>者，伟大的无产阶级革命家、战略家，</a:t>
            </a:r>
            <a:r>
              <a:rPr lang="zh-CN" altLang="en-US" sz="2400" kern="0" dirty="0" smtClean="0">
                <a:solidFill>
                  <a:srgbClr val="FF0000"/>
                </a:solidFill>
                <a:latin typeface="+mj-ea"/>
                <a:ea typeface="+mj-ea"/>
              </a:rPr>
              <a:t>理论家，</a:t>
            </a:r>
            <a:r>
              <a:rPr lang="zh-CN" altLang="en-US" sz="2400" b="1" dirty="0" smtClean="0"/>
              <a:t>是马克思主义中国化的伟大开拓者，是近代以来中国伟大的爱国者和民族英雄，是党的第一代中央领导集体的核心，是领导中国人民彻底改变自己命运和国家面貌的一代伟人</a:t>
            </a:r>
            <a:endParaRPr lang="zh-CN" altLang="en-US" sz="2400" b="0" kern="0" dirty="0">
              <a:solidFill>
                <a:schemeClr val="tx1"/>
              </a:solidFill>
              <a:latin typeface="+mn-lt"/>
              <a:ea typeface="+mn-ea"/>
            </a:endParaRPr>
          </a:p>
        </p:txBody>
      </p:sp>
    </p:spTree>
  </p:cSld>
  <p:clrMapOvr>
    <a:masterClrMapping/>
  </p:clrMapOvr>
  <p:transition spd="med">
    <p:wipe dir="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9330" name="文本框 1"/>
          <p:cNvSpPr txBox="1">
            <a:spLocks noChangeArrowheads="1"/>
          </p:cNvSpPr>
          <p:nvPr/>
        </p:nvSpPr>
        <p:spPr bwMode="auto">
          <a:xfrm>
            <a:off x="668338" y="692150"/>
            <a:ext cx="3419475" cy="612775"/>
          </a:xfrm>
          <a:prstGeom prst="rect">
            <a:avLst/>
          </a:prstGeom>
          <a:noFill/>
          <a:ln w="9525">
            <a:noFill/>
            <a:miter lim="800000"/>
            <a:headEnd/>
            <a:tailEnd/>
          </a:ln>
        </p:spPr>
        <p:txBody>
          <a:bodyPr>
            <a:spAutoFit/>
          </a:bodyPr>
          <a:lstStyle/>
          <a:p>
            <a:pPr eaLnBrk="0" hangingPunct="0"/>
            <a:r>
              <a:rPr lang="zh-CN" altLang="en-US">
                <a:solidFill>
                  <a:srgbClr val="FF0000"/>
                </a:solidFill>
                <a:latin typeface="华文行楷" pitchFamily="2" charset="-122"/>
                <a:ea typeface="华文行楷" pitchFamily="2" charset="-122"/>
              </a:rPr>
              <a:t>《念奴娇·昆仑》</a:t>
            </a:r>
          </a:p>
        </p:txBody>
      </p:sp>
      <p:sp>
        <p:nvSpPr>
          <p:cNvPr id="99331" name="文本框 2"/>
          <p:cNvSpPr txBox="1">
            <a:spLocks noChangeArrowheads="1"/>
          </p:cNvSpPr>
          <p:nvPr/>
        </p:nvSpPr>
        <p:spPr bwMode="auto">
          <a:xfrm>
            <a:off x="107950" y="1339850"/>
            <a:ext cx="4765675" cy="4873625"/>
          </a:xfrm>
          <a:prstGeom prst="rect">
            <a:avLst/>
          </a:prstGeom>
          <a:noFill/>
          <a:ln w="9525">
            <a:noFill/>
            <a:miter lim="800000"/>
            <a:headEnd/>
            <a:tailEnd/>
          </a:ln>
        </p:spPr>
        <p:txBody>
          <a:bodyPr>
            <a:spAutoFit/>
          </a:bodyPr>
          <a:lstStyle/>
          <a:p>
            <a:pPr eaLnBrk="0" hangingPunct="0"/>
            <a:r>
              <a:rPr lang="zh-CN" altLang="en-US" sz="2400">
                <a:solidFill>
                  <a:srgbClr val="0000FF"/>
                </a:solidFill>
                <a:latin typeface="华文行楷" pitchFamily="2" charset="-122"/>
                <a:ea typeface="华文行楷" pitchFamily="2" charset="-122"/>
              </a:rPr>
              <a:t>横空出世，莽昆仑，阅尽人间春色。</a:t>
            </a:r>
          </a:p>
          <a:p>
            <a:pPr eaLnBrk="0" hangingPunct="0"/>
            <a:r>
              <a:rPr lang="zh-CN" altLang="en-US" sz="2400">
                <a:solidFill>
                  <a:srgbClr val="0000FF"/>
                </a:solidFill>
                <a:latin typeface="华文行楷" pitchFamily="2" charset="-122"/>
                <a:ea typeface="华文行楷" pitchFamily="2" charset="-122"/>
              </a:rPr>
              <a:t>飞起玉龙三百万，搅得周天寒彻。</a:t>
            </a:r>
          </a:p>
          <a:p>
            <a:pPr eaLnBrk="0" hangingPunct="0"/>
            <a:r>
              <a:rPr lang="zh-CN" altLang="en-US" sz="2400">
                <a:solidFill>
                  <a:srgbClr val="0000FF"/>
                </a:solidFill>
                <a:latin typeface="华文行楷" pitchFamily="2" charset="-122"/>
                <a:ea typeface="华文行楷" pitchFamily="2" charset="-122"/>
              </a:rPr>
              <a:t>夏日消溶，江河横溢，人或为鱼鳖。</a:t>
            </a:r>
          </a:p>
          <a:p>
            <a:pPr eaLnBrk="0" hangingPunct="0"/>
            <a:r>
              <a:rPr lang="zh-CN" altLang="en-US" sz="2400">
                <a:solidFill>
                  <a:srgbClr val="0000FF"/>
                </a:solidFill>
                <a:latin typeface="华文行楷" pitchFamily="2" charset="-122"/>
                <a:ea typeface="华文行楷" pitchFamily="2" charset="-122"/>
              </a:rPr>
              <a:t>千秋功罪，谁人曾与评说？</a:t>
            </a:r>
          </a:p>
          <a:p>
            <a:pPr eaLnBrk="0" hangingPunct="0"/>
            <a:endParaRPr lang="zh-CN" altLang="en-US" sz="2400">
              <a:solidFill>
                <a:srgbClr val="0000FF"/>
              </a:solidFill>
              <a:latin typeface="华文行楷" pitchFamily="2" charset="-122"/>
              <a:ea typeface="华文行楷" pitchFamily="2" charset="-122"/>
            </a:endParaRPr>
          </a:p>
          <a:p>
            <a:pPr eaLnBrk="0" hangingPunct="0"/>
            <a:r>
              <a:rPr lang="zh-CN" altLang="en-US" sz="2400">
                <a:solidFill>
                  <a:srgbClr val="0000FF"/>
                </a:solidFill>
                <a:latin typeface="华文行楷" pitchFamily="2" charset="-122"/>
                <a:ea typeface="华文行楷" pitchFamily="2" charset="-122"/>
              </a:rPr>
              <a:t>而今我谓昆仑：不要这高，不要这多雪。</a:t>
            </a:r>
          </a:p>
          <a:p>
            <a:pPr eaLnBrk="0" hangingPunct="0"/>
            <a:r>
              <a:rPr lang="zh-CN" altLang="en-US" sz="2400">
                <a:solidFill>
                  <a:srgbClr val="0000FF"/>
                </a:solidFill>
                <a:latin typeface="华文行楷" pitchFamily="2" charset="-122"/>
                <a:ea typeface="华文行楷" pitchFamily="2" charset="-122"/>
              </a:rPr>
              <a:t>安得倚天抽宝剑，把汝裁为三截？</a:t>
            </a:r>
          </a:p>
          <a:p>
            <a:pPr eaLnBrk="0" hangingPunct="0"/>
            <a:r>
              <a:rPr lang="zh-CN" altLang="en-US" sz="2400">
                <a:solidFill>
                  <a:srgbClr val="0000FF"/>
                </a:solidFill>
                <a:latin typeface="华文行楷" pitchFamily="2" charset="-122"/>
                <a:ea typeface="华文行楷" pitchFamily="2" charset="-122"/>
              </a:rPr>
              <a:t>一截遗欧，一截赠美，一截还东国。</a:t>
            </a:r>
          </a:p>
          <a:p>
            <a:pPr eaLnBrk="0" hangingPunct="0"/>
            <a:r>
              <a:rPr lang="zh-CN" altLang="en-US" sz="2400">
                <a:solidFill>
                  <a:srgbClr val="0000FF"/>
                </a:solidFill>
                <a:latin typeface="华文行楷" pitchFamily="2" charset="-122"/>
                <a:ea typeface="华文行楷" pitchFamily="2" charset="-122"/>
              </a:rPr>
              <a:t>太平世界，环球同此凉热。</a:t>
            </a:r>
          </a:p>
        </p:txBody>
      </p:sp>
      <p:sp>
        <p:nvSpPr>
          <p:cNvPr id="99332" name="文本框 4"/>
          <p:cNvSpPr txBox="1">
            <a:spLocks noChangeArrowheads="1"/>
          </p:cNvSpPr>
          <p:nvPr/>
        </p:nvSpPr>
        <p:spPr bwMode="auto">
          <a:xfrm>
            <a:off x="5292725" y="836613"/>
            <a:ext cx="3070225" cy="3905250"/>
          </a:xfrm>
          <a:prstGeom prst="rect">
            <a:avLst/>
          </a:prstGeom>
          <a:solidFill>
            <a:schemeClr val="bg1"/>
          </a:solidFill>
          <a:ln w="9525">
            <a:noFill/>
            <a:miter lim="800000"/>
            <a:headEnd/>
            <a:tailEnd/>
          </a:ln>
        </p:spPr>
        <p:txBody>
          <a:bodyPr>
            <a:spAutoFit/>
          </a:bodyPr>
          <a:lstStyle/>
          <a:p>
            <a:pPr eaLnBrk="0" hangingPunct="0"/>
            <a:r>
              <a:rPr lang="zh-CN" altLang="en-US">
                <a:solidFill>
                  <a:srgbClr val="FF0000"/>
                </a:solidFill>
                <a:latin typeface="华文行楷" pitchFamily="2" charset="-122"/>
                <a:ea typeface="华文行楷" pitchFamily="2" charset="-122"/>
              </a:rPr>
              <a:t>《七律·长征》</a:t>
            </a:r>
          </a:p>
          <a:p>
            <a:pPr eaLnBrk="0" hangingPunct="0"/>
            <a:endParaRPr lang="zh-CN" altLang="en-US" sz="2400">
              <a:latin typeface="华文行楷" pitchFamily="2" charset="-122"/>
              <a:ea typeface="华文行楷" pitchFamily="2" charset="-122"/>
            </a:endParaRPr>
          </a:p>
          <a:p>
            <a:pPr eaLnBrk="0" hangingPunct="0"/>
            <a:r>
              <a:rPr lang="zh-CN" altLang="en-US" sz="2400">
                <a:latin typeface="华文行楷" pitchFamily="2" charset="-122"/>
                <a:ea typeface="华文行楷" pitchFamily="2" charset="-122"/>
              </a:rPr>
              <a:t>    </a:t>
            </a:r>
            <a:r>
              <a:rPr lang="zh-CN" altLang="en-US" sz="2400">
                <a:solidFill>
                  <a:srgbClr val="0000FF"/>
                </a:solidFill>
                <a:latin typeface="华文行楷" pitchFamily="2" charset="-122"/>
                <a:ea typeface="华文行楷" pitchFamily="2" charset="-122"/>
              </a:rPr>
              <a:t>红军不怕远征难，</a:t>
            </a:r>
          </a:p>
          <a:p>
            <a:pPr eaLnBrk="0" hangingPunct="0"/>
            <a:r>
              <a:rPr lang="zh-CN" altLang="en-US" sz="2400">
                <a:solidFill>
                  <a:srgbClr val="0000FF"/>
                </a:solidFill>
                <a:latin typeface="华文行楷" pitchFamily="2" charset="-122"/>
                <a:ea typeface="华文行楷" pitchFamily="2" charset="-122"/>
              </a:rPr>
              <a:t>    万水千山只等闲。</a:t>
            </a:r>
          </a:p>
          <a:p>
            <a:pPr eaLnBrk="0" hangingPunct="0"/>
            <a:r>
              <a:rPr lang="zh-CN" altLang="en-US" sz="2400">
                <a:solidFill>
                  <a:srgbClr val="0000FF"/>
                </a:solidFill>
                <a:latin typeface="华文行楷" pitchFamily="2" charset="-122"/>
                <a:ea typeface="华文行楷" pitchFamily="2" charset="-122"/>
              </a:rPr>
              <a:t>    五岭逶迤腾细浪，</a:t>
            </a:r>
          </a:p>
          <a:p>
            <a:pPr eaLnBrk="0" hangingPunct="0"/>
            <a:r>
              <a:rPr lang="zh-CN" altLang="en-US" sz="2400">
                <a:solidFill>
                  <a:srgbClr val="0000FF"/>
                </a:solidFill>
                <a:latin typeface="华文行楷" pitchFamily="2" charset="-122"/>
                <a:ea typeface="华文行楷" pitchFamily="2" charset="-122"/>
              </a:rPr>
              <a:t>    乌蒙磅礴走泥丸。</a:t>
            </a:r>
          </a:p>
          <a:p>
            <a:pPr eaLnBrk="0" hangingPunct="0"/>
            <a:r>
              <a:rPr lang="zh-CN" altLang="en-US" sz="2400">
                <a:solidFill>
                  <a:srgbClr val="0000FF"/>
                </a:solidFill>
                <a:latin typeface="华文行楷" pitchFamily="2" charset="-122"/>
                <a:ea typeface="华文行楷" pitchFamily="2" charset="-122"/>
              </a:rPr>
              <a:t>    金沙水拍云崖暖，</a:t>
            </a:r>
          </a:p>
          <a:p>
            <a:pPr eaLnBrk="0" hangingPunct="0"/>
            <a:r>
              <a:rPr lang="zh-CN" altLang="en-US" sz="2400">
                <a:solidFill>
                  <a:srgbClr val="0000FF"/>
                </a:solidFill>
                <a:latin typeface="华文行楷" pitchFamily="2" charset="-122"/>
                <a:ea typeface="华文行楷" pitchFamily="2" charset="-122"/>
              </a:rPr>
              <a:t>    大渡桥横铁索寒。</a:t>
            </a:r>
          </a:p>
          <a:p>
            <a:pPr eaLnBrk="0" hangingPunct="0"/>
            <a:r>
              <a:rPr lang="zh-CN" altLang="en-US" sz="2400">
                <a:solidFill>
                  <a:srgbClr val="0000FF"/>
                </a:solidFill>
                <a:latin typeface="华文行楷" pitchFamily="2" charset="-122"/>
                <a:ea typeface="华文行楷" pitchFamily="2" charset="-122"/>
              </a:rPr>
              <a:t>    更喜岷山千里雪，</a:t>
            </a:r>
          </a:p>
          <a:p>
            <a:pPr eaLnBrk="0" hangingPunct="0"/>
            <a:r>
              <a:rPr lang="zh-CN" altLang="en-US" sz="2400">
                <a:solidFill>
                  <a:srgbClr val="0000FF"/>
                </a:solidFill>
                <a:latin typeface="华文行楷" pitchFamily="2" charset="-122"/>
                <a:ea typeface="华文行楷" pitchFamily="2" charset="-122"/>
              </a:rPr>
              <a:t>    三军过后尽开颜</a:t>
            </a:r>
          </a:p>
        </p:txBody>
      </p:sp>
    </p:spTree>
  </p:cSld>
  <p:clrMapOvr>
    <a:masterClrMapping/>
  </p:clrMapOvr>
  <p:transition spd="med">
    <p:wipe dir="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0354" name="文本框 1"/>
          <p:cNvSpPr txBox="1">
            <a:spLocks noChangeArrowheads="1"/>
          </p:cNvSpPr>
          <p:nvPr/>
        </p:nvSpPr>
        <p:spPr bwMode="auto">
          <a:xfrm>
            <a:off x="571500" y="285750"/>
            <a:ext cx="6162675" cy="6100763"/>
          </a:xfrm>
          <a:prstGeom prst="rect">
            <a:avLst/>
          </a:prstGeom>
          <a:noFill/>
          <a:ln w="9525">
            <a:noFill/>
            <a:miter lim="800000"/>
            <a:headEnd/>
            <a:tailEnd/>
          </a:ln>
        </p:spPr>
        <p:txBody>
          <a:bodyPr>
            <a:spAutoFit/>
          </a:bodyPr>
          <a:lstStyle/>
          <a:p>
            <a:r>
              <a:rPr lang="zh-CN" altLang="en-US" sz="2800">
                <a:solidFill>
                  <a:srgbClr val="FF0000"/>
                </a:solidFill>
                <a:latin typeface="隶书" pitchFamily="49" charset="-122"/>
                <a:ea typeface="隶书" pitchFamily="49" charset="-122"/>
              </a:rPr>
              <a:t>《沁园春·长沙》</a:t>
            </a:r>
          </a:p>
          <a:p>
            <a:r>
              <a:rPr lang="zh-CN" altLang="en-US" sz="2400">
                <a:solidFill>
                  <a:srgbClr val="0000FF"/>
                </a:solidFill>
                <a:latin typeface="隶书" pitchFamily="49" charset="-122"/>
                <a:ea typeface="隶书" pitchFamily="49" charset="-122"/>
              </a:rPr>
              <a:t>年代: 现代 作者: 毛泽东</a:t>
            </a:r>
          </a:p>
          <a:p>
            <a:r>
              <a:rPr lang="zh-CN" altLang="en-US" sz="2400">
                <a:solidFill>
                  <a:srgbClr val="0000FF"/>
                </a:solidFill>
                <a:latin typeface="隶书" pitchFamily="49" charset="-122"/>
                <a:ea typeface="隶书" pitchFamily="49" charset="-122"/>
              </a:rPr>
              <a:t>独立寒秋，湘江北去，橘子洲头。</a:t>
            </a:r>
          </a:p>
          <a:p>
            <a:r>
              <a:rPr lang="zh-CN" altLang="en-US" sz="2400">
                <a:solidFill>
                  <a:srgbClr val="0000FF"/>
                </a:solidFill>
                <a:latin typeface="隶书" pitchFamily="49" charset="-122"/>
                <a:ea typeface="隶书" pitchFamily="49" charset="-122"/>
              </a:rPr>
              <a:t>看万山红遍，层林尽染；</a:t>
            </a:r>
          </a:p>
          <a:p>
            <a:r>
              <a:rPr lang="zh-CN" altLang="en-US" sz="2400">
                <a:solidFill>
                  <a:srgbClr val="0000FF"/>
                </a:solidFill>
                <a:latin typeface="隶书" pitchFamily="49" charset="-122"/>
                <a:ea typeface="隶书" pitchFamily="49" charset="-122"/>
              </a:rPr>
              <a:t>漫江碧透，百舸争流。</a:t>
            </a:r>
          </a:p>
          <a:p>
            <a:r>
              <a:rPr lang="zh-CN" altLang="en-US" sz="2400">
                <a:solidFill>
                  <a:srgbClr val="0000FF"/>
                </a:solidFill>
                <a:latin typeface="隶书" pitchFamily="49" charset="-122"/>
                <a:ea typeface="隶书" pitchFamily="49" charset="-122"/>
              </a:rPr>
              <a:t>鹰击长空，鱼翔浅底，</a:t>
            </a:r>
          </a:p>
          <a:p>
            <a:r>
              <a:rPr lang="zh-CN" altLang="en-US" sz="2400">
                <a:solidFill>
                  <a:srgbClr val="0000FF"/>
                </a:solidFill>
                <a:latin typeface="隶书" pitchFamily="49" charset="-122"/>
                <a:ea typeface="隶书" pitchFamily="49" charset="-122"/>
              </a:rPr>
              <a:t>万类霜天竞自由。</a:t>
            </a:r>
          </a:p>
          <a:p>
            <a:r>
              <a:rPr lang="zh-CN" altLang="en-US" sz="2400">
                <a:solidFill>
                  <a:srgbClr val="0000FF"/>
                </a:solidFill>
                <a:latin typeface="隶书" pitchFamily="49" charset="-122"/>
                <a:ea typeface="隶书" pitchFamily="49" charset="-122"/>
              </a:rPr>
              <a:t>怅寥廓，问苍茫大地，谁主沉浮？</a:t>
            </a:r>
          </a:p>
          <a:p>
            <a:endParaRPr lang="zh-CN" altLang="en-US" sz="2400">
              <a:solidFill>
                <a:srgbClr val="0000FF"/>
              </a:solidFill>
              <a:latin typeface="隶书" pitchFamily="49" charset="-122"/>
              <a:ea typeface="隶书" pitchFamily="49" charset="-122"/>
            </a:endParaRPr>
          </a:p>
          <a:p>
            <a:r>
              <a:rPr lang="zh-CN" altLang="en-US" sz="2400">
                <a:solidFill>
                  <a:srgbClr val="0000FF"/>
                </a:solidFill>
                <a:latin typeface="隶书" pitchFamily="49" charset="-122"/>
                <a:ea typeface="隶书" pitchFamily="49" charset="-122"/>
              </a:rPr>
              <a:t>携来百侣曾游，</a:t>
            </a:r>
          </a:p>
          <a:p>
            <a:r>
              <a:rPr lang="zh-CN" altLang="en-US" sz="2400">
                <a:solidFill>
                  <a:srgbClr val="0000FF"/>
                </a:solidFill>
                <a:latin typeface="隶书" pitchFamily="49" charset="-122"/>
                <a:ea typeface="隶书" pitchFamily="49" charset="-122"/>
              </a:rPr>
              <a:t>忆往昔峥嵘岁月稠。</a:t>
            </a:r>
          </a:p>
          <a:p>
            <a:r>
              <a:rPr lang="zh-CN" altLang="en-US" sz="2400">
                <a:solidFill>
                  <a:srgbClr val="0000FF"/>
                </a:solidFill>
                <a:latin typeface="隶书" pitchFamily="49" charset="-122"/>
                <a:ea typeface="隶书" pitchFamily="49" charset="-122"/>
              </a:rPr>
              <a:t>恰同学少年，风华正茂；</a:t>
            </a:r>
          </a:p>
          <a:p>
            <a:r>
              <a:rPr lang="zh-CN" altLang="en-US" sz="2400">
                <a:solidFill>
                  <a:srgbClr val="0000FF"/>
                </a:solidFill>
                <a:latin typeface="隶书" pitchFamily="49" charset="-122"/>
                <a:ea typeface="隶书" pitchFamily="49" charset="-122"/>
              </a:rPr>
              <a:t>书生意气，挥斥方遒。</a:t>
            </a:r>
          </a:p>
          <a:p>
            <a:r>
              <a:rPr lang="zh-CN" altLang="en-US" sz="2400">
                <a:solidFill>
                  <a:srgbClr val="0000FF"/>
                </a:solidFill>
                <a:latin typeface="隶书" pitchFamily="49" charset="-122"/>
                <a:ea typeface="隶书" pitchFamily="49" charset="-122"/>
              </a:rPr>
              <a:t>指点江山，激扬文字，</a:t>
            </a:r>
          </a:p>
          <a:p>
            <a:r>
              <a:rPr lang="zh-CN" altLang="en-US" sz="2400">
                <a:solidFill>
                  <a:srgbClr val="0000FF"/>
                </a:solidFill>
                <a:latin typeface="隶书" pitchFamily="49" charset="-122"/>
                <a:ea typeface="隶书" pitchFamily="49" charset="-122"/>
              </a:rPr>
              <a:t>粪土当年万户侯。</a:t>
            </a:r>
          </a:p>
          <a:p>
            <a:r>
              <a:rPr lang="zh-CN" altLang="en-US" sz="2400">
                <a:solidFill>
                  <a:srgbClr val="0000FF"/>
                </a:solidFill>
                <a:latin typeface="隶书" pitchFamily="49" charset="-122"/>
                <a:ea typeface="隶书" pitchFamily="49" charset="-122"/>
              </a:rPr>
              <a:t>曾记否，到中流击水，浪遏飞舟！</a:t>
            </a:r>
          </a:p>
        </p:txBody>
      </p:sp>
    </p:spTree>
  </p:cSld>
  <p:clrMapOvr>
    <a:masterClrMapping/>
  </p:clrMapOvr>
  <p:transition spd="med">
    <p:wipe dir="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01378" name="图片 1" descr="4522222_1"/>
          <p:cNvPicPr>
            <a:picLocks noChangeAspect="1" noChangeArrowheads="1"/>
          </p:cNvPicPr>
          <p:nvPr/>
        </p:nvPicPr>
        <p:blipFill>
          <a:blip r:embed="rId2" cstate="print"/>
          <a:srcRect/>
          <a:stretch>
            <a:fillRect/>
          </a:stretch>
        </p:blipFill>
        <p:spPr bwMode="auto">
          <a:xfrm>
            <a:off x="827088" y="908050"/>
            <a:ext cx="7862887" cy="2287588"/>
          </a:xfrm>
          <a:prstGeom prst="rect">
            <a:avLst/>
          </a:prstGeom>
          <a:noFill/>
          <a:ln w="9525">
            <a:noFill/>
            <a:miter lim="800000"/>
            <a:headEnd/>
            <a:tailEnd/>
          </a:ln>
        </p:spPr>
      </p:pic>
      <p:pic>
        <p:nvPicPr>
          <p:cNvPr id="101379" name="图片 2" descr="4522222_11"/>
          <p:cNvPicPr>
            <a:picLocks noChangeAspect="1" noChangeArrowheads="1"/>
          </p:cNvPicPr>
          <p:nvPr/>
        </p:nvPicPr>
        <p:blipFill>
          <a:blip r:embed="rId3" cstate="print"/>
          <a:srcRect/>
          <a:stretch>
            <a:fillRect/>
          </a:stretch>
        </p:blipFill>
        <p:spPr bwMode="auto">
          <a:xfrm>
            <a:off x="250825" y="3500438"/>
            <a:ext cx="9064625" cy="2200275"/>
          </a:xfrm>
          <a:prstGeom prst="rect">
            <a:avLst/>
          </a:prstGeom>
          <a:noFill/>
          <a:ln w="9525">
            <a:noFill/>
            <a:miter lim="800000"/>
            <a:headEnd/>
            <a:tailEnd/>
          </a:ln>
        </p:spPr>
      </p:pic>
    </p:spTree>
  </p:cSld>
  <p:clrMapOvr>
    <a:masterClrMapping/>
  </p:clrMapOvr>
  <p:transition spd="med">
    <p:wipe dir="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02402" name="图片 1" descr="4522222_12"/>
          <p:cNvPicPr>
            <a:picLocks noChangeAspect="1" noChangeArrowheads="1"/>
          </p:cNvPicPr>
          <p:nvPr/>
        </p:nvPicPr>
        <p:blipFill>
          <a:blip r:embed="rId2" cstate="print"/>
          <a:srcRect/>
          <a:stretch>
            <a:fillRect/>
          </a:stretch>
        </p:blipFill>
        <p:spPr bwMode="auto">
          <a:xfrm>
            <a:off x="827088" y="1628775"/>
            <a:ext cx="7620000" cy="3886200"/>
          </a:xfrm>
          <a:prstGeom prst="rect">
            <a:avLst/>
          </a:prstGeom>
          <a:noFill/>
          <a:ln w="9525">
            <a:noFill/>
            <a:miter lim="800000"/>
            <a:headEnd/>
            <a:tailEnd/>
          </a:ln>
        </p:spPr>
      </p:pic>
    </p:spTree>
  </p:cSld>
  <p:clrMapOvr>
    <a:masterClrMapping/>
  </p:clrMapOvr>
  <p:transition spd="med">
    <p:wipe dir="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26" name="Picture 2" descr="Img245096073"/>
          <p:cNvPicPr>
            <a:picLocks noChangeAspect="1" noChangeArrowheads="1"/>
          </p:cNvPicPr>
          <p:nvPr/>
        </p:nvPicPr>
        <p:blipFill>
          <a:blip r:embed="rId2" cstate="print"/>
          <a:srcRect/>
          <a:stretch>
            <a:fillRect/>
          </a:stretch>
        </p:blipFill>
        <p:spPr bwMode="auto">
          <a:xfrm>
            <a:off x="0" y="990600"/>
            <a:ext cx="3124200" cy="5143500"/>
          </a:xfrm>
          <a:prstGeom prst="rect">
            <a:avLst/>
          </a:prstGeom>
          <a:noFill/>
          <a:ln w="9525">
            <a:noFill/>
            <a:miter lim="800000"/>
            <a:headEnd/>
            <a:tailEnd/>
          </a:ln>
        </p:spPr>
      </p:pic>
      <p:pic>
        <p:nvPicPr>
          <p:cNvPr id="103427" name="Picture 3" descr="b_8B316B6C47E91246"/>
          <p:cNvPicPr>
            <a:picLocks noChangeAspect="1" noChangeArrowheads="1"/>
          </p:cNvPicPr>
          <p:nvPr/>
        </p:nvPicPr>
        <p:blipFill>
          <a:blip r:embed="rId3" cstate="print"/>
          <a:srcRect/>
          <a:stretch>
            <a:fillRect/>
          </a:stretch>
        </p:blipFill>
        <p:spPr bwMode="auto">
          <a:xfrm>
            <a:off x="3048000" y="990600"/>
            <a:ext cx="3276600" cy="5105400"/>
          </a:xfrm>
          <a:prstGeom prst="rect">
            <a:avLst/>
          </a:prstGeom>
          <a:noFill/>
          <a:ln w="9525">
            <a:noFill/>
            <a:miter lim="800000"/>
            <a:headEnd/>
            <a:tailEnd/>
          </a:ln>
        </p:spPr>
      </p:pic>
      <p:pic>
        <p:nvPicPr>
          <p:cNvPr id="103428" name="Picture 4" descr="200609135366405"/>
          <p:cNvPicPr>
            <a:picLocks noChangeAspect="1" noChangeArrowheads="1"/>
          </p:cNvPicPr>
          <p:nvPr/>
        </p:nvPicPr>
        <p:blipFill>
          <a:blip r:embed="rId4" cstate="print"/>
          <a:srcRect/>
          <a:stretch>
            <a:fillRect/>
          </a:stretch>
        </p:blipFill>
        <p:spPr bwMode="auto">
          <a:xfrm>
            <a:off x="6248400" y="990600"/>
            <a:ext cx="2895600" cy="5029200"/>
          </a:xfrm>
          <a:prstGeom prst="rect">
            <a:avLst/>
          </a:prstGeom>
          <a:noFill/>
          <a:ln w="9525">
            <a:noFill/>
            <a:miter lim="800000"/>
            <a:headEnd/>
            <a:tailEnd/>
          </a:ln>
        </p:spPr>
      </p:pic>
    </p:spTree>
  </p:cSld>
  <p:clrMapOvr>
    <a:masterClrMapping/>
  </p:clrMapOvr>
  <p:transition spd="med">
    <p:wipe dir="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ChangeArrowheads="1"/>
          </p:cNvSpPr>
          <p:nvPr/>
        </p:nvSpPr>
        <p:spPr bwMode="auto">
          <a:xfrm>
            <a:off x="642910" y="1214422"/>
            <a:ext cx="7200900" cy="1200329"/>
          </a:xfrm>
          <a:prstGeom prst="rect">
            <a:avLst/>
          </a:prstGeom>
          <a:noFill/>
          <a:ln w="9525">
            <a:solidFill>
              <a:srgbClr val="FF0000"/>
            </a:solidFill>
            <a:miter lim="800000"/>
            <a:headEnd/>
            <a:tailEnd/>
          </a:ln>
        </p:spPr>
        <p:txBody>
          <a:bodyPr>
            <a:spAutoFit/>
          </a:bodyPr>
          <a:lstStyle/>
          <a:p>
            <a:r>
              <a:rPr lang="zh-CN" altLang="en-US" sz="3600" b="1" dirty="0" smtClean="0">
                <a:solidFill>
                  <a:srgbClr val="0000FF"/>
                </a:solidFill>
                <a:latin typeface="黑体" pitchFamily="49" charset="-122"/>
                <a:ea typeface="黑体" pitchFamily="49" charset="-122"/>
              </a:rPr>
              <a:t> </a:t>
            </a:r>
            <a:r>
              <a:rPr lang="zh-CN" altLang="en-US" sz="3600" b="1" dirty="0" smtClean="0">
                <a:solidFill>
                  <a:srgbClr val="FF0000"/>
                </a:solidFill>
                <a:latin typeface="黑体" pitchFamily="49" charset="-122"/>
                <a:ea typeface="黑体" pitchFamily="49" charset="-122"/>
              </a:rPr>
              <a:t>￡</a:t>
            </a:r>
            <a:r>
              <a:rPr lang="zh-CN" altLang="en-US" sz="3600" b="1" dirty="0" smtClean="0">
                <a:solidFill>
                  <a:srgbClr val="0000FF"/>
                </a:solidFill>
                <a:latin typeface="黑体" pitchFamily="49" charset="-122"/>
                <a:ea typeface="黑体" pitchFamily="49" charset="-122"/>
              </a:rPr>
              <a:t> 马克思主义</a:t>
            </a:r>
            <a:r>
              <a:rPr lang="zh-CN" altLang="en-US" sz="3600" b="1" dirty="0">
                <a:solidFill>
                  <a:srgbClr val="0000FF"/>
                </a:solidFill>
                <a:latin typeface="黑体" pitchFamily="49" charset="-122"/>
                <a:ea typeface="黑体" pitchFamily="49" charset="-122"/>
              </a:rPr>
              <a:t>具有</a:t>
            </a:r>
            <a:r>
              <a:rPr lang="zh-CN" altLang="en-US" sz="3600" b="1" dirty="0">
                <a:solidFill>
                  <a:srgbClr val="FF0000"/>
                </a:solidFill>
                <a:latin typeface="黑体" pitchFamily="49" charset="-122"/>
                <a:ea typeface="黑体" pitchFamily="49" charset="-122"/>
              </a:rPr>
              <a:t>坚定的信念</a:t>
            </a:r>
            <a:r>
              <a:rPr lang="zh-CN" altLang="en-US" sz="3600" b="1" dirty="0">
                <a:solidFill>
                  <a:srgbClr val="0000FF"/>
                </a:solidFill>
                <a:latin typeface="黑体" pitchFamily="49" charset="-122"/>
                <a:ea typeface="黑体" pitchFamily="49" charset="-122"/>
              </a:rPr>
              <a:t>、刻苦的学习精神、非凡的领悟</a:t>
            </a:r>
            <a:r>
              <a:rPr lang="zh-CN" altLang="en-US" sz="3600" b="1" dirty="0" smtClean="0">
                <a:solidFill>
                  <a:srgbClr val="0000FF"/>
                </a:solidFill>
                <a:latin typeface="黑体" pitchFamily="49" charset="-122"/>
                <a:ea typeface="黑体" pitchFamily="49" charset="-122"/>
              </a:rPr>
              <a:t>能力</a:t>
            </a:r>
            <a:endParaRPr lang="zh-CN" altLang="en-US" sz="3600" b="1" dirty="0">
              <a:solidFill>
                <a:srgbClr val="0000FF"/>
              </a:solidFill>
              <a:latin typeface="楷体" pitchFamily="49" charset="-122"/>
              <a:ea typeface="楷体" pitchFamily="49" charset="-122"/>
            </a:endParaRPr>
          </a:p>
        </p:txBody>
      </p:sp>
      <p:sp>
        <p:nvSpPr>
          <p:cNvPr id="3" name="Rectangle 2"/>
          <p:cNvSpPr>
            <a:spLocks noChangeArrowheads="1"/>
          </p:cNvSpPr>
          <p:nvPr/>
        </p:nvSpPr>
        <p:spPr bwMode="auto">
          <a:xfrm>
            <a:off x="571472" y="4214818"/>
            <a:ext cx="7200900" cy="1477328"/>
          </a:xfrm>
          <a:prstGeom prst="rect">
            <a:avLst/>
          </a:prstGeom>
          <a:noFill/>
          <a:ln w="9525">
            <a:solidFill>
              <a:srgbClr val="FF0000"/>
            </a:solidFill>
            <a:miter lim="800000"/>
            <a:headEnd/>
            <a:tailEnd/>
          </a:ln>
        </p:spPr>
        <p:txBody>
          <a:bodyPr>
            <a:spAutoFit/>
          </a:bodyPr>
          <a:lstStyle/>
          <a:p>
            <a:endParaRPr lang="zh-CN" altLang="en-US" b="1" dirty="0">
              <a:solidFill>
                <a:schemeClr val="folHlink"/>
              </a:solidFill>
              <a:latin typeface="黑体" pitchFamily="49" charset="-122"/>
              <a:ea typeface="黑体" pitchFamily="49" charset="-122"/>
            </a:endParaRPr>
          </a:p>
          <a:p>
            <a:r>
              <a:rPr lang="zh-CN" altLang="en-US" sz="3600" b="1" dirty="0" smtClean="0">
                <a:solidFill>
                  <a:srgbClr val="0000FF"/>
                </a:solidFill>
                <a:latin typeface="黑体" pitchFamily="49" charset="-122"/>
                <a:ea typeface="黑体" pitchFamily="49" charset="-122"/>
              </a:rPr>
              <a:t> </a:t>
            </a:r>
            <a:r>
              <a:rPr lang="zh-CN" altLang="en-US" sz="3600" b="1" dirty="0" smtClean="0">
                <a:solidFill>
                  <a:srgbClr val="FF0000"/>
                </a:solidFill>
                <a:latin typeface="黑体" pitchFamily="49" charset="-122"/>
                <a:ea typeface="黑体" pitchFamily="49" charset="-122"/>
              </a:rPr>
              <a:t>￡</a:t>
            </a:r>
            <a:r>
              <a:rPr lang="zh-CN" altLang="en-US" sz="3600" b="1" dirty="0" smtClean="0">
                <a:solidFill>
                  <a:srgbClr val="0000FF"/>
                </a:solidFill>
                <a:latin typeface="黑体" pitchFamily="49" charset="-122"/>
                <a:ea typeface="黑体" pitchFamily="49" charset="-122"/>
              </a:rPr>
              <a:t> 真切</a:t>
            </a:r>
            <a:r>
              <a:rPr lang="zh-CN" altLang="en-US" sz="3600" b="1" dirty="0">
                <a:solidFill>
                  <a:srgbClr val="0000FF"/>
                </a:solidFill>
                <a:latin typeface="黑体" pitchFamily="49" charset="-122"/>
                <a:ea typeface="黑体" pitchFamily="49" charset="-122"/>
              </a:rPr>
              <a:t>地了解中国历史，</a:t>
            </a:r>
            <a:r>
              <a:rPr lang="zh-CN" altLang="en-US" sz="3600" b="1" dirty="0">
                <a:solidFill>
                  <a:srgbClr val="FF0000"/>
                </a:solidFill>
                <a:latin typeface="黑体" pitchFamily="49" charset="-122"/>
                <a:ea typeface="黑体" pitchFamily="49" charset="-122"/>
              </a:rPr>
              <a:t>批判地继承中国古代文化的优秀遗产</a:t>
            </a:r>
            <a:r>
              <a:rPr lang="zh-CN" altLang="en-US" sz="3600" b="1" dirty="0">
                <a:solidFill>
                  <a:srgbClr val="0000FF"/>
                </a:solidFill>
                <a:latin typeface="楷体" pitchFamily="49" charset="-122"/>
                <a:ea typeface="楷体" pitchFamily="49" charset="-122"/>
              </a:rPr>
              <a:t>。</a:t>
            </a:r>
          </a:p>
        </p:txBody>
      </p:sp>
      <p:sp>
        <p:nvSpPr>
          <p:cNvPr id="4" name="Rectangle 2"/>
          <p:cNvSpPr>
            <a:spLocks noChangeArrowheads="1"/>
          </p:cNvSpPr>
          <p:nvPr/>
        </p:nvSpPr>
        <p:spPr bwMode="auto">
          <a:xfrm>
            <a:off x="642910" y="2571744"/>
            <a:ext cx="7200900" cy="1477328"/>
          </a:xfrm>
          <a:prstGeom prst="rect">
            <a:avLst/>
          </a:prstGeom>
          <a:noFill/>
          <a:ln w="9525">
            <a:solidFill>
              <a:srgbClr val="FF0000"/>
            </a:solidFill>
            <a:miter lim="800000"/>
            <a:headEnd/>
            <a:tailEnd/>
          </a:ln>
        </p:spPr>
        <p:txBody>
          <a:bodyPr>
            <a:spAutoFit/>
          </a:bodyPr>
          <a:lstStyle/>
          <a:p>
            <a:endParaRPr lang="zh-CN" altLang="en-US" b="1" dirty="0">
              <a:solidFill>
                <a:schemeClr val="folHlink"/>
              </a:solidFill>
              <a:latin typeface="黑体" pitchFamily="49" charset="-122"/>
              <a:ea typeface="黑体" pitchFamily="49" charset="-122"/>
            </a:endParaRPr>
          </a:p>
          <a:p>
            <a:r>
              <a:rPr lang="zh-CN" altLang="en-US" sz="3600" b="1" dirty="0" smtClean="0">
                <a:solidFill>
                  <a:srgbClr val="FF0000"/>
                </a:solidFill>
                <a:latin typeface="黑体" pitchFamily="49" charset="-122"/>
                <a:ea typeface="黑体" pitchFamily="49" charset="-122"/>
              </a:rPr>
              <a:t> ￡</a:t>
            </a:r>
            <a:r>
              <a:rPr lang="zh-CN" altLang="en-US" sz="3600" b="1" dirty="0" smtClean="0">
                <a:solidFill>
                  <a:srgbClr val="0000FF"/>
                </a:solidFill>
                <a:latin typeface="黑体" pitchFamily="49" charset="-122"/>
                <a:ea typeface="黑体" pitchFamily="49" charset="-122"/>
              </a:rPr>
              <a:t> </a:t>
            </a:r>
            <a:r>
              <a:rPr lang="zh-CN" altLang="en-US" sz="3600" b="1" dirty="0" smtClean="0">
                <a:solidFill>
                  <a:srgbClr val="FF0000"/>
                </a:solidFill>
                <a:latin typeface="黑体" pitchFamily="49" charset="-122"/>
                <a:ea typeface="黑体" pitchFamily="49" charset="-122"/>
              </a:rPr>
              <a:t>深入</a:t>
            </a:r>
            <a:r>
              <a:rPr lang="zh-CN" altLang="en-US" sz="3600" b="1" dirty="0">
                <a:solidFill>
                  <a:srgbClr val="FF0000"/>
                </a:solidFill>
                <a:latin typeface="黑体" pitchFamily="49" charset="-122"/>
                <a:ea typeface="黑体" pitchFamily="49" charset="-122"/>
              </a:rPr>
              <a:t>实际斗争</a:t>
            </a:r>
            <a:r>
              <a:rPr lang="zh-CN" altLang="en-US" sz="3600" b="1" dirty="0">
                <a:solidFill>
                  <a:srgbClr val="0000FF"/>
                </a:solidFill>
                <a:latin typeface="黑体" pitchFamily="49" charset="-122"/>
                <a:ea typeface="黑体" pitchFamily="49" charset="-122"/>
              </a:rPr>
              <a:t>，密切联系群众，注重调查研究</a:t>
            </a:r>
            <a:r>
              <a:rPr lang="zh-CN" altLang="en-US" sz="3600" b="1" dirty="0" smtClean="0">
                <a:solidFill>
                  <a:srgbClr val="0000FF"/>
                </a:solidFill>
                <a:latin typeface="黑体" pitchFamily="49" charset="-122"/>
                <a:ea typeface="黑体" pitchFamily="49" charset="-122"/>
              </a:rPr>
              <a:t>。</a:t>
            </a:r>
            <a:endParaRPr lang="zh-CN" altLang="en-US" sz="3600" b="1" dirty="0">
              <a:solidFill>
                <a:srgbClr val="0000FF"/>
              </a:solidFill>
              <a:latin typeface="黑体" pitchFamily="49" charset="-122"/>
              <a:ea typeface="黑体" pitchFamily="49" charset="-122"/>
            </a:endParaRPr>
          </a:p>
        </p:txBody>
      </p:sp>
    </p:spTree>
  </p:cSld>
  <p:clrMapOvr>
    <a:masterClrMapping/>
  </p:clrMapOvr>
  <p:transition spd="med">
    <p:wipe dir="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83568" y="3645024"/>
            <a:ext cx="7416800" cy="3046988"/>
          </a:xfrm>
          <a:prstGeom prst="rect">
            <a:avLst/>
          </a:prstGeom>
          <a:ln>
            <a:solidFill>
              <a:srgbClr val="FF0000"/>
            </a:solidFill>
          </a:ln>
        </p:spPr>
        <p:txBody>
          <a:bodyPr>
            <a:spAutoFit/>
          </a:bodyPr>
          <a:lstStyle/>
          <a:p>
            <a:pPr>
              <a:defRPr/>
            </a:pPr>
            <a:r>
              <a:rPr lang="zh-CN" altLang="en-US" sz="3200" b="1" dirty="0" smtClean="0">
                <a:solidFill>
                  <a:srgbClr val="0000FF"/>
                </a:solidFill>
                <a:latin typeface="+mn-ea"/>
              </a:rPr>
              <a:t>第一次国内革命战争时期，提出了新民主主义革命的基本思想，是毛泽东思想</a:t>
            </a:r>
            <a:r>
              <a:rPr lang="zh-CN" altLang="en-US" sz="3200" b="1" dirty="0">
                <a:solidFill>
                  <a:srgbClr val="0000FF"/>
                </a:solidFill>
                <a:latin typeface="+mn-ea"/>
              </a:rPr>
              <a:t>的</a:t>
            </a:r>
            <a:r>
              <a:rPr lang="zh-CN" altLang="en-US" sz="3200" b="1" dirty="0">
                <a:solidFill>
                  <a:srgbClr val="FF0000"/>
                </a:solidFill>
                <a:latin typeface="+mn-ea"/>
              </a:rPr>
              <a:t>萌芽</a:t>
            </a:r>
            <a:r>
              <a:rPr lang="zh-CN" altLang="en-US" sz="3200" b="1" dirty="0" smtClean="0">
                <a:solidFill>
                  <a:srgbClr val="FF0000"/>
                </a:solidFill>
                <a:latin typeface="+mn-ea"/>
              </a:rPr>
              <a:t>时期       </a:t>
            </a:r>
            <a:r>
              <a:rPr lang="en-US" altLang="zh-CN" sz="3200" b="1" dirty="0" smtClean="0">
                <a:solidFill>
                  <a:srgbClr val="FF0000"/>
                </a:solidFill>
                <a:latin typeface="+mn-ea"/>
              </a:rPr>
              <a:t>1921</a:t>
            </a:r>
            <a:endParaRPr lang="en-US" altLang="zh-CN" sz="3200" b="1" dirty="0">
              <a:solidFill>
                <a:srgbClr val="FF0000"/>
              </a:solidFill>
              <a:latin typeface="+mn-ea"/>
            </a:endParaRPr>
          </a:p>
          <a:p>
            <a:pPr>
              <a:defRPr/>
            </a:pPr>
            <a:r>
              <a:rPr lang="en-US" altLang="zh-CN" sz="3200" b="1" dirty="0">
                <a:solidFill>
                  <a:srgbClr val="FF0000"/>
                </a:solidFill>
                <a:latin typeface="+mn-ea"/>
              </a:rPr>
              <a:t>      </a:t>
            </a:r>
            <a:r>
              <a:rPr lang="en-US" altLang="zh-CN" sz="3200" b="1" dirty="0" smtClean="0">
                <a:solidFill>
                  <a:srgbClr val="FF0000"/>
                </a:solidFill>
                <a:latin typeface="+mn-ea"/>
              </a:rPr>
              <a:t>  </a:t>
            </a:r>
            <a:endParaRPr lang="en-US" altLang="zh-CN" sz="3200" b="1" dirty="0">
              <a:solidFill>
                <a:srgbClr val="FF0000"/>
              </a:solidFill>
              <a:latin typeface="+mn-ea"/>
            </a:endParaRPr>
          </a:p>
          <a:p>
            <a:pPr>
              <a:defRPr/>
            </a:pPr>
            <a:endParaRPr lang="zh-CN" altLang="en-US" sz="3200" b="1" dirty="0">
              <a:solidFill>
                <a:srgbClr val="FF0000"/>
              </a:solidFill>
              <a:latin typeface="+mn-ea"/>
            </a:endParaRPr>
          </a:p>
          <a:p>
            <a:pPr>
              <a:defRPr/>
            </a:pPr>
            <a:r>
              <a:rPr lang="zh-CN" altLang="en-US" sz="3200" b="1" dirty="0">
                <a:solidFill>
                  <a:srgbClr val="0000FF"/>
                </a:solidFill>
                <a:latin typeface="+mn-ea"/>
              </a:rPr>
              <a:t>                    </a:t>
            </a:r>
            <a:r>
              <a:rPr lang="zh-CN" altLang="en-US" sz="3200" b="1" dirty="0" smtClean="0">
                <a:solidFill>
                  <a:srgbClr val="0000FF"/>
                </a:solidFill>
                <a:latin typeface="+mn-ea"/>
              </a:rPr>
              <a:t>               </a:t>
            </a:r>
            <a:r>
              <a:rPr lang="en-US" altLang="zh-CN" sz="3200" b="1" dirty="0" smtClean="0">
                <a:solidFill>
                  <a:srgbClr val="FF0000"/>
                </a:solidFill>
                <a:latin typeface="+mn-ea"/>
              </a:rPr>
              <a:t>1927</a:t>
            </a:r>
            <a:endParaRPr lang="en-US" altLang="zh-CN" sz="3200" b="1" dirty="0">
              <a:solidFill>
                <a:srgbClr val="FF0000"/>
              </a:solidFill>
              <a:latin typeface="+mn-ea"/>
            </a:endParaRPr>
          </a:p>
        </p:txBody>
      </p:sp>
      <p:sp>
        <p:nvSpPr>
          <p:cNvPr id="5" name="AutoShape 3"/>
          <p:cNvSpPr>
            <a:spLocks noChangeArrowheads="1"/>
          </p:cNvSpPr>
          <p:nvPr/>
        </p:nvSpPr>
        <p:spPr bwMode="auto">
          <a:xfrm rot="-6838932">
            <a:off x="3986991" y="5218442"/>
            <a:ext cx="1219200" cy="457200"/>
          </a:xfrm>
          <a:prstGeom prst="curvedDownArrow">
            <a:avLst>
              <a:gd name="adj1" fmla="val 53333"/>
              <a:gd name="adj2" fmla="val 106667"/>
              <a:gd name="adj3" fmla="val 33301"/>
            </a:avLst>
          </a:prstGeom>
          <a:solidFill>
            <a:srgbClr val="FF6600"/>
          </a:solidFill>
          <a:ln w="9525">
            <a:solidFill>
              <a:schemeClr val="tx1"/>
            </a:solidFill>
            <a:miter lim="800000"/>
            <a:headEnd/>
            <a:tailEnd/>
          </a:ln>
        </p:spPr>
        <p:txBody>
          <a:bodyPr wrap="none" anchor="ctr"/>
          <a:lstStyle/>
          <a:p>
            <a:pPr eaLnBrk="0" hangingPunct="0"/>
            <a:endParaRPr lang="zh-CN" altLang="en-US">
              <a:latin typeface="华文行楷" pitchFamily="2" charset="-122"/>
              <a:ea typeface="华文行楷" pitchFamily="2" charset="-122"/>
            </a:endParaRPr>
          </a:p>
        </p:txBody>
      </p:sp>
      <p:sp>
        <p:nvSpPr>
          <p:cNvPr id="6" name="矩形 5"/>
          <p:cNvSpPr/>
          <p:nvPr/>
        </p:nvSpPr>
        <p:spPr>
          <a:xfrm>
            <a:off x="467544" y="1628800"/>
            <a:ext cx="2592288" cy="1384995"/>
          </a:xfrm>
          <a:prstGeom prst="rect">
            <a:avLst/>
          </a:prstGeom>
          <a:ln>
            <a:solidFill>
              <a:schemeClr val="accent1"/>
            </a:solidFill>
          </a:ln>
        </p:spPr>
        <p:txBody>
          <a:bodyPr wrap="square">
            <a:spAutoFit/>
          </a:bodyPr>
          <a:lstStyle/>
          <a:p>
            <a:r>
              <a:rPr lang="zh-CN" altLang="en-US" sz="2800" b="1" dirty="0" smtClean="0">
                <a:solidFill>
                  <a:srgbClr val="3333FF"/>
                </a:solidFill>
                <a:latin typeface="黑体" pitchFamily="49" charset="-122"/>
                <a:ea typeface="黑体" pitchFamily="49" charset="-122"/>
              </a:rPr>
              <a:t>第一个阶段</a:t>
            </a:r>
            <a:r>
              <a:rPr lang="zh-CN" altLang="en-US" sz="2800" b="1" dirty="0" smtClean="0">
                <a:solidFill>
                  <a:srgbClr val="FF0000"/>
                </a:solidFill>
                <a:latin typeface="黑体" pitchFamily="49" charset="-122"/>
                <a:ea typeface="黑体" pitchFamily="49" charset="-122"/>
              </a:rPr>
              <a:t>：毛泽东思想的形成</a:t>
            </a:r>
            <a:endParaRPr lang="zh-CN" altLang="en-US" sz="2800" dirty="0">
              <a:solidFill>
                <a:srgbClr val="FF0000"/>
              </a:solidFill>
            </a:endParaRPr>
          </a:p>
        </p:txBody>
      </p:sp>
      <p:sp>
        <p:nvSpPr>
          <p:cNvPr id="7" name="矩形 6"/>
          <p:cNvSpPr/>
          <p:nvPr/>
        </p:nvSpPr>
        <p:spPr>
          <a:xfrm>
            <a:off x="214282" y="642918"/>
            <a:ext cx="7133684" cy="646331"/>
          </a:xfrm>
          <a:prstGeom prst="rect">
            <a:avLst/>
          </a:prstGeom>
          <a:ln>
            <a:solidFill>
              <a:schemeClr val="accent1"/>
            </a:solidFill>
          </a:ln>
        </p:spPr>
        <p:txBody>
          <a:bodyPr wrap="none">
            <a:spAutoFit/>
          </a:bodyPr>
          <a:lstStyle/>
          <a:p>
            <a:r>
              <a:rPr lang="zh-CN" altLang="en-US" sz="3600" b="1" dirty="0" smtClean="0">
                <a:solidFill>
                  <a:srgbClr val="FF0000"/>
                </a:solidFill>
                <a:latin typeface="黑体" pitchFamily="49" charset="-122"/>
                <a:ea typeface="黑体" pitchFamily="49" charset="-122"/>
              </a:rPr>
              <a:t>二、毛泽东思想形成和发展的过程</a:t>
            </a:r>
            <a:endParaRPr lang="zh-CN" altLang="en-US" sz="3600" b="1" dirty="0">
              <a:solidFill>
                <a:srgbClr val="FF0000"/>
              </a:solidFill>
              <a:latin typeface="黑体" pitchFamily="49" charset="-122"/>
              <a:ea typeface="黑体" pitchFamily="49" charset="-122"/>
            </a:endParaRPr>
          </a:p>
        </p:txBody>
      </p:sp>
      <p:sp>
        <p:nvSpPr>
          <p:cNvPr id="8" name="右箭头 7"/>
          <p:cNvSpPr/>
          <p:nvPr/>
        </p:nvSpPr>
        <p:spPr>
          <a:xfrm>
            <a:off x="3131840" y="2204864"/>
            <a:ext cx="1368152"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4932040" y="1772816"/>
            <a:ext cx="1492716" cy="461665"/>
          </a:xfrm>
          <a:prstGeom prst="rect">
            <a:avLst/>
          </a:prstGeom>
          <a:solidFill>
            <a:schemeClr val="bg1"/>
          </a:solidFill>
        </p:spPr>
        <p:txBody>
          <a:bodyPr wrap="none">
            <a:spAutoFit/>
          </a:bodyPr>
          <a:lstStyle/>
          <a:p>
            <a:r>
              <a:rPr lang="zh-CN" altLang="en-US" sz="2400" b="1" dirty="0" smtClean="0">
                <a:solidFill>
                  <a:srgbClr val="FF0000"/>
                </a:solidFill>
                <a:latin typeface="+mn-ea"/>
              </a:rPr>
              <a:t>萌芽时期 </a:t>
            </a:r>
            <a:endParaRPr lang="zh-CN" altLang="en-US" sz="2400" dirty="0"/>
          </a:p>
        </p:txBody>
      </p:sp>
      <p:sp>
        <p:nvSpPr>
          <p:cNvPr id="10" name="矩形 9"/>
          <p:cNvSpPr/>
          <p:nvPr/>
        </p:nvSpPr>
        <p:spPr>
          <a:xfrm>
            <a:off x="4932040" y="2636912"/>
            <a:ext cx="1415772" cy="461665"/>
          </a:xfrm>
          <a:prstGeom prst="rect">
            <a:avLst/>
          </a:prstGeom>
          <a:solidFill>
            <a:schemeClr val="bg1"/>
          </a:solidFill>
        </p:spPr>
        <p:txBody>
          <a:bodyPr wrap="none">
            <a:spAutoFit/>
          </a:bodyPr>
          <a:lstStyle/>
          <a:p>
            <a:r>
              <a:rPr lang="zh-CN" altLang="en-US" sz="2400" b="1" dirty="0" smtClean="0">
                <a:solidFill>
                  <a:srgbClr val="FF0000"/>
                </a:solidFill>
                <a:latin typeface="+mn-ea"/>
              </a:rPr>
              <a:t>初步形成</a:t>
            </a:r>
          </a:p>
        </p:txBody>
      </p:sp>
      <p:sp>
        <p:nvSpPr>
          <p:cNvPr id="11" name="左大括号 10"/>
          <p:cNvSpPr/>
          <p:nvPr/>
        </p:nvSpPr>
        <p:spPr>
          <a:xfrm>
            <a:off x="4499992" y="1844824"/>
            <a:ext cx="360040" cy="1080120"/>
          </a:xfrm>
          <a:prstGeom prst="leftBrace">
            <a:avLst/>
          </a:prstGeom>
          <a:solidFill>
            <a:srgbClr val="FF0000"/>
          </a:solidFill>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ChangeArrowheads="1"/>
          </p:cNvSpPr>
          <p:nvPr/>
        </p:nvSpPr>
        <p:spPr bwMode="auto">
          <a:xfrm>
            <a:off x="928662" y="2285992"/>
            <a:ext cx="7200900" cy="1675202"/>
          </a:xfrm>
          <a:prstGeom prst="rect">
            <a:avLst/>
          </a:prstGeom>
          <a:noFill/>
          <a:ln w="9525">
            <a:solidFill>
              <a:srgbClr val="FF0000"/>
            </a:solidFill>
            <a:miter lim="800000"/>
            <a:headEnd/>
            <a:tailEnd/>
          </a:ln>
        </p:spPr>
        <p:txBody>
          <a:bodyPr>
            <a:spAutoFit/>
          </a:bodyPr>
          <a:lstStyle/>
          <a:p>
            <a:pPr>
              <a:lnSpc>
                <a:spcPct val="150000"/>
              </a:lnSpc>
            </a:pPr>
            <a:r>
              <a:rPr lang="zh-CN" altLang="en-US" sz="3600" b="1" dirty="0" smtClean="0">
                <a:solidFill>
                  <a:srgbClr val="0000FF"/>
                </a:solidFill>
                <a:latin typeface="+mn-ea"/>
              </a:rPr>
              <a:t>    </a:t>
            </a:r>
            <a:r>
              <a:rPr lang="en-US" altLang="zh-CN" sz="3600" b="1" dirty="0" smtClean="0">
                <a:solidFill>
                  <a:srgbClr val="FF0000"/>
                </a:solidFill>
                <a:latin typeface="+mn-ea"/>
              </a:rPr>
              <a:t>《</a:t>
            </a:r>
            <a:r>
              <a:rPr lang="zh-CN" altLang="en-US" sz="3600" b="1" dirty="0" smtClean="0">
                <a:solidFill>
                  <a:srgbClr val="FF0000"/>
                </a:solidFill>
                <a:latin typeface="+mn-ea"/>
              </a:rPr>
              <a:t>中国社会各阶级的分析</a:t>
            </a:r>
            <a:r>
              <a:rPr lang="en-US" altLang="zh-CN" sz="3600" b="1" dirty="0" smtClean="0">
                <a:solidFill>
                  <a:srgbClr val="FF0000"/>
                </a:solidFill>
                <a:latin typeface="+mn-ea"/>
              </a:rPr>
              <a:t>》</a:t>
            </a:r>
          </a:p>
          <a:p>
            <a:pPr>
              <a:lnSpc>
                <a:spcPct val="150000"/>
              </a:lnSpc>
            </a:pPr>
            <a:r>
              <a:rPr lang="zh-CN" altLang="en-US" sz="3600" b="1" dirty="0" smtClean="0">
                <a:solidFill>
                  <a:srgbClr val="FF0000"/>
                </a:solidFill>
                <a:latin typeface="+mn-ea"/>
              </a:rPr>
              <a:t>     </a:t>
            </a:r>
            <a:r>
              <a:rPr lang="en-US" altLang="zh-CN" sz="3600" b="1" dirty="0" smtClean="0">
                <a:solidFill>
                  <a:srgbClr val="FF0000"/>
                </a:solidFill>
                <a:latin typeface="+mn-ea"/>
              </a:rPr>
              <a:t>《</a:t>
            </a:r>
            <a:r>
              <a:rPr lang="zh-CN" altLang="en-US" sz="3600" b="1" dirty="0" smtClean="0">
                <a:solidFill>
                  <a:srgbClr val="FF0000"/>
                </a:solidFill>
                <a:latin typeface="+mn-ea"/>
              </a:rPr>
              <a:t>湖南农民运动考察报告</a:t>
            </a:r>
            <a:r>
              <a:rPr lang="en-US" altLang="zh-CN" sz="3600" b="1" dirty="0" smtClean="0">
                <a:solidFill>
                  <a:srgbClr val="FF0000"/>
                </a:solidFill>
                <a:latin typeface="+mn-ea"/>
              </a:rPr>
              <a:t>》</a:t>
            </a:r>
            <a:endParaRPr lang="zh-CN" altLang="en-US" sz="3600" b="1" dirty="0">
              <a:solidFill>
                <a:srgbClr val="FF0000"/>
              </a:solidFill>
              <a:latin typeface="+mn-ea"/>
            </a:endParaRPr>
          </a:p>
        </p:txBody>
      </p:sp>
      <p:sp>
        <p:nvSpPr>
          <p:cNvPr id="3" name="矩形 2"/>
          <p:cNvSpPr/>
          <p:nvPr/>
        </p:nvSpPr>
        <p:spPr>
          <a:xfrm>
            <a:off x="1142976" y="1071546"/>
            <a:ext cx="2031325" cy="646331"/>
          </a:xfrm>
          <a:prstGeom prst="rect">
            <a:avLst/>
          </a:prstGeom>
        </p:spPr>
        <p:txBody>
          <a:bodyPr wrap="none">
            <a:spAutoFit/>
          </a:bodyPr>
          <a:lstStyle/>
          <a:p>
            <a:r>
              <a:rPr lang="zh-CN" altLang="en-US" sz="3600" b="1" dirty="0" smtClean="0">
                <a:solidFill>
                  <a:srgbClr val="0000FF"/>
                </a:solidFill>
                <a:latin typeface="华文楷体"/>
              </a:rPr>
              <a:t>主要著作</a:t>
            </a:r>
            <a:endParaRPr lang="zh-CN" altLang="en-US" dirty="0"/>
          </a:p>
        </p:txBody>
      </p:sp>
    </p:spTree>
  </p:cSld>
  <p:clrMapOvr>
    <a:masterClrMapping/>
  </p:clrMapOvr>
  <p:transition spd="med">
    <p:wipe dir="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ChangeArrowheads="1"/>
          </p:cNvSpPr>
          <p:nvPr/>
        </p:nvSpPr>
        <p:spPr bwMode="auto">
          <a:xfrm>
            <a:off x="1285852" y="1571612"/>
            <a:ext cx="7200900" cy="5078313"/>
          </a:xfrm>
          <a:prstGeom prst="rect">
            <a:avLst/>
          </a:prstGeom>
          <a:noFill/>
          <a:ln w="9525">
            <a:solidFill>
              <a:srgbClr val="FF0000"/>
            </a:solidFill>
            <a:miter lim="800000"/>
            <a:headEnd/>
            <a:tailEnd/>
          </a:ln>
        </p:spPr>
        <p:txBody>
          <a:bodyPr>
            <a:spAutoFit/>
          </a:bodyPr>
          <a:lstStyle/>
          <a:p>
            <a:pPr>
              <a:lnSpc>
                <a:spcPct val="150000"/>
              </a:lnSpc>
            </a:pPr>
            <a:r>
              <a:rPr lang="zh-CN" altLang="en-US" sz="3600" b="1" dirty="0" smtClean="0">
                <a:solidFill>
                  <a:srgbClr val="0000FF"/>
                </a:solidFill>
                <a:latin typeface="黑体" pitchFamily="49" charset="-122"/>
                <a:ea typeface="黑体" pitchFamily="49" charset="-122"/>
              </a:rPr>
              <a:t>    土地革命战争</a:t>
            </a:r>
            <a:r>
              <a:rPr lang="zh-CN" altLang="en-US" sz="3600" b="1" dirty="0">
                <a:solidFill>
                  <a:srgbClr val="0000FF"/>
                </a:solidFill>
                <a:latin typeface="黑体" pitchFamily="49" charset="-122"/>
                <a:ea typeface="黑体" pitchFamily="49" charset="-122"/>
              </a:rPr>
              <a:t>前中期</a:t>
            </a:r>
            <a:r>
              <a:rPr lang="zh-CN" altLang="en-US" sz="3600" b="1" dirty="0" smtClean="0">
                <a:solidFill>
                  <a:srgbClr val="0000FF"/>
                </a:solidFill>
                <a:latin typeface="黑体" pitchFamily="49" charset="-122"/>
                <a:ea typeface="黑体" pitchFamily="49" charset="-122"/>
              </a:rPr>
              <a:t>：中国革命新道路提出，标志着毛泽东思想的</a:t>
            </a:r>
            <a:r>
              <a:rPr lang="zh-CN" altLang="en-US" sz="3600" b="1" dirty="0" smtClean="0">
                <a:solidFill>
                  <a:srgbClr val="FF0000"/>
                </a:solidFill>
                <a:latin typeface="黑体" pitchFamily="49" charset="-122"/>
                <a:ea typeface="黑体" pitchFamily="49" charset="-122"/>
              </a:rPr>
              <a:t>初步形成。</a:t>
            </a:r>
            <a:r>
              <a:rPr lang="zh-CN" altLang="en-US" sz="3600" b="1" dirty="0" smtClean="0">
                <a:solidFill>
                  <a:srgbClr val="0000FF"/>
                </a:solidFill>
                <a:latin typeface="黑体" pitchFamily="49" charset="-122"/>
                <a:ea typeface="黑体" pitchFamily="49" charset="-122"/>
              </a:rPr>
              <a:t> </a:t>
            </a:r>
            <a:endParaRPr lang="zh-CN" altLang="en-US" sz="3600" b="1" dirty="0">
              <a:solidFill>
                <a:srgbClr val="0000FF"/>
              </a:solidFill>
              <a:latin typeface="黑体" pitchFamily="49" charset="-122"/>
              <a:ea typeface="黑体" pitchFamily="49" charset="-122"/>
            </a:endParaRPr>
          </a:p>
          <a:p>
            <a:pPr>
              <a:lnSpc>
                <a:spcPct val="150000"/>
              </a:lnSpc>
            </a:pPr>
            <a:r>
              <a:rPr lang="zh-CN" altLang="en-US" sz="3600" b="1" dirty="0">
                <a:solidFill>
                  <a:srgbClr val="0000FF"/>
                </a:solidFill>
                <a:latin typeface="黑体" pitchFamily="49" charset="-122"/>
                <a:ea typeface="黑体" pitchFamily="49" charset="-122"/>
              </a:rPr>
              <a:t>          19</a:t>
            </a:r>
            <a:r>
              <a:rPr lang="en-US" altLang="zh-CN" sz="3600" b="1" dirty="0">
                <a:solidFill>
                  <a:srgbClr val="0000FF"/>
                </a:solidFill>
                <a:latin typeface="黑体" pitchFamily="49" charset="-122"/>
                <a:ea typeface="黑体" pitchFamily="49" charset="-122"/>
              </a:rPr>
              <a:t>27</a:t>
            </a:r>
            <a:r>
              <a:rPr lang="zh-CN" altLang="en-US" sz="3600" b="1" dirty="0">
                <a:solidFill>
                  <a:srgbClr val="0000FF"/>
                </a:solidFill>
                <a:latin typeface="黑体" pitchFamily="49" charset="-122"/>
                <a:ea typeface="黑体" pitchFamily="49" charset="-122"/>
              </a:rPr>
              <a:t>年</a:t>
            </a:r>
          </a:p>
          <a:p>
            <a:pPr>
              <a:lnSpc>
                <a:spcPct val="150000"/>
              </a:lnSpc>
            </a:pPr>
            <a:r>
              <a:rPr lang="zh-CN" altLang="en-US" sz="3600" b="1" dirty="0" smtClean="0">
                <a:solidFill>
                  <a:srgbClr val="0000FF"/>
                </a:solidFill>
                <a:latin typeface="黑体" pitchFamily="49" charset="-122"/>
                <a:ea typeface="黑体" pitchFamily="49" charset="-122"/>
              </a:rPr>
              <a:t>                                </a:t>
            </a:r>
            <a:r>
              <a:rPr lang="zh-CN" altLang="en-US" sz="3600" b="1" dirty="0">
                <a:solidFill>
                  <a:srgbClr val="0000FF"/>
                </a:solidFill>
                <a:latin typeface="黑体" pitchFamily="49" charset="-122"/>
                <a:ea typeface="黑体" pitchFamily="49" charset="-122"/>
              </a:rPr>
              <a:t>					19</a:t>
            </a:r>
            <a:r>
              <a:rPr lang="en-US" altLang="zh-CN" sz="3600" b="1" dirty="0">
                <a:solidFill>
                  <a:srgbClr val="0000FF"/>
                </a:solidFill>
                <a:latin typeface="黑体" pitchFamily="49" charset="-122"/>
                <a:ea typeface="黑体" pitchFamily="49" charset="-122"/>
              </a:rPr>
              <a:t>3</a:t>
            </a:r>
            <a:r>
              <a:rPr lang="zh-CN" altLang="en-US" sz="3600" b="1" dirty="0">
                <a:solidFill>
                  <a:srgbClr val="0000FF"/>
                </a:solidFill>
                <a:latin typeface="黑体" pitchFamily="49" charset="-122"/>
                <a:ea typeface="黑体" pitchFamily="49" charset="-122"/>
              </a:rPr>
              <a:t>5年</a:t>
            </a:r>
          </a:p>
        </p:txBody>
      </p:sp>
      <p:sp>
        <p:nvSpPr>
          <p:cNvPr id="89091" name="AutoShape 3"/>
          <p:cNvSpPr>
            <a:spLocks noChangeArrowheads="1"/>
          </p:cNvSpPr>
          <p:nvPr/>
        </p:nvSpPr>
        <p:spPr bwMode="auto">
          <a:xfrm rot="-6838932">
            <a:off x="4704791" y="5136174"/>
            <a:ext cx="1219200" cy="457200"/>
          </a:xfrm>
          <a:prstGeom prst="curvedDownArrow">
            <a:avLst>
              <a:gd name="adj1" fmla="val 53333"/>
              <a:gd name="adj2" fmla="val 106667"/>
              <a:gd name="adj3" fmla="val 33301"/>
            </a:avLst>
          </a:prstGeom>
          <a:solidFill>
            <a:srgbClr val="FF6600"/>
          </a:solidFill>
          <a:ln w="9525">
            <a:solidFill>
              <a:schemeClr val="tx1"/>
            </a:solidFill>
            <a:miter lim="800000"/>
            <a:headEnd/>
            <a:tailEnd/>
          </a:ln>
        </p:spPr>
        <p:txBody>
          <a:bodyPr wrap="none" anchor="ctr"/>
          <a:lstStyle/>
          <a:p>
            <a:pPr eaLnBrk="0" hangingPunct="0"/>
            <a:endParaRPr lang="zh-CN" altLang="en-US">
              <a:latin typeface="华文行楷" pitchFamily="2" charset="-122"/>
              <a:ea typeface="华文行楷" pitchFamily="2" charset="-122"/>
            </a:endParaRPr>
          </a:p>
        </p:txBody>
      </p:sp>
      <p:sp>
        <p:nvSpPr>
          <p:cNvPr id="4" name="矩形 3"/>
          <p:cNvSpPr/>
          <p:nvPr/>
        </p:nvSpPr>
        <p:spPr>
          <a:xfrm>
            <a:off x="1142976" y="785794"/>
            <a:ext cx="2037737" cy="646331"/>
          </a:xfrm>
          <a:prstGeom prst="rect">
            <a:avLst/>
          </a:prstGeom>
          <a:ln>
            <a:solidFill>
              <a:schemeClr val="accent1"/>
            </a:solidFill>
          </a:ln>
        </p:spPr>
        <p:txBody>
          <a:bodyPr wrap="none">
            <a:spAutoFit/>
          </a:bodyPr>
          <a:lstStyle/>
          <a:p>
            <a:r>
              <a:rPr lang="zh-CN" altLang="en-US" sz="3600" b="1" dirty="0" smtClean="0">
                <a:solidFill>
                  <a:srgbClr val="0000FF"/>
                </a:solidFill>
                <a:latin typeface="黑体" pitchFamily="49" charset="-122"/>
                <a:ea typeface="黑体" pitchFamily="49" charset="-122"/>
              </a:rPr>
              <a:t>初步形成</a:t>
            </a:r>
            <a:endParaRPr lang="zh-CN" altLang="en-US" sz="3600" dirty="0"/>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89091"/>
                                        </p:tgtEl>
                                        <p:attrNameLst>
                                          <p:attrName>style.visibility</p:attrName>
                                        </p:attrNameLst>
                                      </p:cBhvr>
                                      <p:to>
                                        <p:strVal val="visible"/>
                                      </p:to>
                                    </p:set>
                                    <p:animEffect transition="in" filter="wipe(down)">
                                      <p:cBhvr>
                                        <p:cTn id="7" dur="500"/>
                                        <p:tgtEl>
                                          <p:spTgt spid="890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ChangeArrowheads="1"/>
          </p:cNvSpPr>
          <p:nvPr/>
        </p:nvSpPr>
        <p:spPr bwMode="auto">
          <a:xfrm>
            <a:off x="1042988" y="1628775"/>
            <a:ext cx="7200900" cy="3970338"/>
          </a:xfrm>
          <a:prstGeom prst="rect">
            <a:avLst/>
          </a:prstGeom>
          <a:noFill/>
          <a:ln w="9525">
            <a:solidFill>
              <a:srgbClr val="FF0000"/>
            </a:solidFill>
            <a:miter lim="800000"/>
            <a:headEnd/>
            <a:tailEnd/>
          </a:ln>
        </p:spPr>
        <p:txBody>
          <a:bodyPr>
            <a:spAutoFit/>
          </a:bodyPr>
          <a:lstStyle/>
          <a:p>
            <a:pPr>
              <a:lnSpc>
                <a:spcPct val="150000"/>
              </a:lnSpc>
            </a:pPr>
            <a:r>
              <a:rPr lang="zh-CN" altLang="en-US" sz="3600" b="1" dirty="0" smtClean="0">
                <a:solidFill>
                  <a:srgbClr val="0000FF"/>
                </a:solidFill>
                <a:latin typeface="+mn-ea"/>
              </a:rPr>
              <a:t>    主要</a:t>
            </a:r>
            <a:r>
              <a:rPr lang="zh-CN" altLang="en-US" sz="3600" b="1" dirty="0">
                <a:solidFill>
                  <a:srgbClr val="0000FF"/>
                </a:solidFill>
                <a:latin typeface="+mn-ea"/>
              </a:rPr>
              <a:t>著作</a:t>
            </a:r>
            <a:r>
              <a:rPr lang="zh-CN" altLang="en-US" sz="3600" b="1" dirty="0">
                <a:solidFill>
                  <a:srgbClr val="FF0000"/>
                </a:solidFill>
                <a:latin typeface="+mn-ea"/>
              </a:rPr>
              <a:t>《中国的红色政权为什么能够存在？》、</a:t>
            </a:r>
            <a:r>
              <a:rPr lang="zh-CN" altLang="en-US" sz="3600" b="1" dirty="0" smtClean="0">
                <a:solidFill>
                  <a:srgbClr val="FF0000"/>
                </a:solidFill>
                <a:latin typeface="+mn-ea"/>
              </a:rPr>
              <a:t>《星星之火，可以燎原》、《井冈山的斗争》、《反对本本主义》</a:t>
            </a:r>
            <a:endParaRPr lang="zh-CN" altLang="en-US" sz="3600" b="1" dirty="0">
              <a:solidFill>
                <a:srgbClr val="FF0000"/>
              </a:solidFill>
              <a:latin typeface="+mn-ea"/>
            </a:endParaRPr>
          </a:p>
          <a:p>
            <a:pPr>
              <a:buFont typeface="Arial" pitchFamily="34" charset="0"/>
              <a:buChar char="•"/>
            </a:pPr>
            <a:endParaRPr lang="zh-CN" altLang="en-US" sz="3600" b="1" dirty="0">
              <a:solidFill>
                <a:srgbClr val="FF0000"/>
              </a:solidFill>
              <a:latin typeface="+mn-ea"/>
            </a:endParaRPr>
          </a:p>
        </p:txBody>
      </p:sp>
    </p:spTree>
  </p:cSld>
  <p:clrMapOvr>
    <a:masterClrMapping/>
  </p:clrMapOvr>
  <p:transition spd="med">
    <p:wipe dir="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ChangeArrowheads="1"/>
          </p:cNvSpPr>
          <p:nvPr/>
        </p:nvSpPr>
        <p:spPr bwMode="auto">
          <a:xfrm>
            <a:off x="1357290" y="1714488"/>
            <a:ext cx="7200900" cy="3970318"/>
          </a:xfrm>
          <a:prstGeom prst="rect">
            <a:avLst/>
          </a:prstGeom>
          <a:noFill/>
          <a:ln w="9525">
            <a:solidFill>
              <a:srgbClr val="FF0000"/>
            </a:solidFill>
            <a:miter lim="800000"/>
            <a:headEnd/>
            <a:tailEnd/>
          </a:ln>
        </p:spPr>
        <p:txBody>
          <a:bodyPr>
            <a:spAutoFit/>
          </a:bodyPr>
          <a:lstStyle/>
          <a:p>
            <a:r>
              <a:rPr lang="zh-CN" altLang="en-US" sz="3600" b="1" dirty="0" smtClean="0">
                <a:solidFill>
                  <a:srgbClr val="0000FF"/>
                </a:solidFill>
                <a:latin typeface="黑体" pitchFamily="49" charset="-122"/>
                <a:ea typeface="黑体" pitchFamily="49" charset="-122"/>
              </a:rPr>
              <a:t>  土地革命战争</a:t>
            </a:r>
            <a:r>
              <a:rPr lang="zh-CN" altLang="en-US" sz="3600" b="1" dirty="0">
                <a:solidFill>
                  <a:srgbClr val="0000FF"/>
                </a:solidFill>
                <a:latin typeface="黑体" pitchFamily="49" charset="-122"/>
                <a:ea typeface="黑体" pitchFamily="49" charset="-122"/>
              </a:rPr>
              <a:t>后期和抗日战争</a:t>
            </a:r>
            <a:r>
              <a:rPr lang="zh-CN" altLang="en-US" sz="3600" b="1" dirty="0" smtClean="0">
                <a:solidFill>
                  <a:srgbClr val="0000FF"/>
                </a:solidFill>
                <a:latin typeface="黑体" pitchFamily="49" charset="-122"/>
                <a:ea typeface="黑体" pitchFamily="49" charset="-122"/>
              </a:rPr>
              <a:t>时  </a:t>
            </a:r>
            <a:endParaRPr lang="en-US" altLang="zh-CN" sz="3600" b="1" dirty="0" smtClean="0">
              <a:solidFill>
                <a:srgbClr val="0000FF"/>
              </a:solidFill>
              <a:latin typeface="黑体" pitchFamily="49" charset="-122"/>
              <a:ea typeface="黑体" pitchFamily="49" charset="-122"/>
            </a:endParaRPr>
          </a:p>
          <a:p>
            <a:endParaRPr lang="en-US" altLang="zh-CN" sz="3600" b="1" dirty="0" smtClean="0">
              <a:solidFill>
                <a:srgbClr val="0000FF"/>
              </a:solidFill>
              <a:latin typeface="黑体" pitchFamily="49" charset="-122"/>
              <a:ea typeface="黑体" pitchFamily="49" charset="-122"/>
            </a:endParaRPr>
          </a:p>
          <a:p>
            <a:r>
              <a:rPr lang="zh-CN" altLang="en-US" sz="3600" b="1" dirty="0" smtClean="0">
                <a:solidFill>
                  <a:srgbClr val="0000FF"/>
                </a:solidFill>
                <a:latin typeface="黑体" pitchFamily="49" charset="-122"/>
                <a:ea typeface="黑体" pitchFamily="49" charset="-122"/>
              </a:rPr>
              <a:t>期</a:t>
            </a:r>
            <a:r>
              <a:rPr lang="zh-CN" altLang="en-US" sz="3600" b="1" dirty="0">
                <a:solidFill>
                  <a:srgbClr val="0000FF"/>
                </a:solidFill>
                <a:latin typeface="黑体" pitchFamily="49" charset="-122"/>
                <a:ea typeface="黑体" pitchFamily="49" charset="-122"/>
              </a:rPr>
              <a:t>是毛泽东思想的</a:t>
            </a:r>
            <a:r>
              <a:rPr lang="zh-CN" altLang="en-US" sz="3600" b="1" dirty="0">
                <a:solidFill>
                  <a:srgbClr val="FF0000"/>
                </a:solidFill>
                <a:latin typeface="黑体" pitchFamily="49" charset="-122"/>
                <a:ea typeface="黑体" pitchFamily="49" charset="-122"/>
              </a:rPr>
              <a:t>成熟时期</a:t>
            </a:r>
          </a:p>
          <a:p>
            <a:r>
              <a:rPr lang="zh-CN" altLang="en-US" sz="3600" b="1" dirty="0">
                <a:solidFill>
                  <a:srgbClr val="0000FF"/>
                </a:solidFill>
                <a:latin typeface="黑体" pitchFamily="49" charset="-122"/>
                <a:ea typeface="黑体" pitchFamily="49" charset="-122"/>
              </a:rPr>
              <a:t> </a:t>
            </a:r>
          </a:p>
          <a:p>
            <a:r>
              <a:rPr lang="zh-CN" altLang="en-US" sz="3600" b="1" dirty="0">
                <a:solidFill>
                  <a:srgbClr val="0000FF"/>
                </a:solidFill>
                <a:latin typeface="黑体" pitchFamily="49" charset="-122"/>
                <a:ea typeface="黑体" pitchFamily="49" charset="-122"/>
              </a:rPr>
              <a:t>          1935年</a:t>
            </a:r>
          </a:p>
          <a:p>
            <a:endParaRPr lang="zh-CN" altLang="en-US" sz="3600" b="1" dirty="0">
              <a:solidFill>
                <a:srgbClr val="0000FF"/>
              </a:solidFill>
              <a:latin typeface="黑体" pitchFamily="49" charset="-122"/>
              <a:ea typeface="黑体" pitchFamily="49" charset="-122"/>
            </a:endParaRPr>
          </a:p>
          <a:p>
            <a:r>
              <a:rPr lang="zh-CN" altLang="en-US" sz="3600" b="1" dirty="0" smtClean="0">
                <a:solidFill>
                  <a:srgbClr val="0000FF"/>
                </a:solidFill>
                <a:latin typeface="黑体" pitchFamily="49" charset="-122"/>
                <a:ea typeface="黑体" pitchFamily="49" charset="-122"/>
              </a:rPr>
              <a:t>                  1945年</a:t>
            </a:r>
            <a:endParaRPr lang="zh-CN" altLang="en-US" sz="3600" b="1" dirty="0">
              <a:solidFill>
                <a:srgbClr val="0000FF"/>
              </a:solidFill>
              <a:latin typeface="黑体" pitchFamily="49" charset="-122"/>
              <a:ea typeface="黑体" pitchFamily="49" charset="-122"/>
            </a:endParaRPr>
          </a:p>
        </p:txBody>
      </p:sp>
      <p:sp>
        <p:nvSpPr>
          <p:cNvPr id="89091" name="AutoShape 3"/>
          <p:cNvSpPr>
            <a:spLocks noChangeArrowheads="1"/>
          </p:cNvSpPr>
          <p:nvPr/>
        </p:nvSpPr>
        <p:spPr bwMode="auto">
          <a:xfrm rot="-6838932">
            <a:off x="4551363" y="4746625"/>
            <a:ext cx="1219200" cy="457200"/>
          </a:xfrm>
          <a:prstGeom prst="curvedDownArrow">
            <a:avLst>
              <a:gd name="adj1" fmla="val 53333"/>
              <a:gd name="adj2" fmla="val 106667"/>
              <a:gd name="adj3" fmla="val 33301"/>
            </a:avLst>
          </a:prstGeom>
          <a:solidFill>
            <a:srgbClr val="FF6600"/>
          </a:solidFill>
          <a:ln w="9525">
            <a:solidFill>
              <a:schemeClr val="tx1"/>
            </a:solidFill>
            <a:miter lim="800000"/>
            <a:headEnd/>
            <a:tailEnd/>
          </a:ln>
        </p:spPr>
        <p:txBody>
          <a:bodyPr wrap="none" anchor="ctr"/>
          <a:lstStyle/>
          <a:p>
            <a:pPr eaLnBrk="0" hangingPunct="0"/>
            <a:endParaRPr lang="zh-CN" altLang="en-US">
              <a:latin typeface="华文行楷" pitchFamily="2" charset="-122"/>
              <a:ea typeface="华文行楷" pitchFamily="2" charset="-122"/>
            </a:endParaRPr>
          </a:p>
        </p:txBody>
      </p:sp>
      <p:sp>
        <p:nvSpPr>
          <p:cNvPr id="4" name="矩形 3"/>
          <p:cNvSpPr/>
          <p:nvPr/>
        </p:nvSpPr>
        <p:spPr>
          <a:xfrm>
            <a:off x="683568" y="548680"/>
            <a:ext cx="2964273" cy="646331"/>
          </a:xfrm>
          <a:prstGeom prst="rect">
            <a:avLst/>
          </a:prstGeom>
          <a:ln>
            <a:solidFill>
              <a:schemeClr val="accent1"/>
            </a:solidFill>
          </a:ln>
        </p:spPr>
        <p:txBody>
          <a:bodyPr wrap="none">
            <a:spAutoFit/>
          </a:bodyPr>
          <a:lstStyle/>
          <a:p>
            <a:r>
              <a:rPr lang="zh-CN" altLang="en-US" sz="3600" b="1" dirty="0" smtClean="0">
                <a:solidFill>
                  <a:srgbClr val="0000FF"/>
                </a:solidFill>
                <a:latin typeface="黑体" pitchFamily="49" charset="-122"/>
                <a:ea typeface="黑体" pitchFamily="49" charset="-122"/>
              </a:rPr>
              <a:t>第二个阶段：</a:t>
            </a:r>
            <a:endParaRPr lang="zh-CN" altLang="en-US" sz="3600" dirty="0"/>
          </a:p>
        </p:txBody>
      </p:sp>
      <p:sp>
        <p:nvSpPr>
          <p:cNvPr id="5" name="矩形 4"/>
          <p:cNvSpPr/>
          <p:nvPr/>
        </p:nvSpPr>
        <p:spPr>
          <a:xfrm>
            <a:off x="3923928" y="692696"/>
            <a:ext cx="4304383" cy="584775"/>
          </a:xfrm>
          <a:prstGeom prst="rect">
            <a:avLst/>
          </a:prstGeom>
          <a:ln>
            <a:solidFill>
              <a:schemeClr val="accent1"/>
            </a:solidFill>
          </a:ln>
        </p:spPr>
        <p:txBody>
          <a:bodyPr wrap="none">
            <a:spAutoFit/>
          </a:bodyPr>
          <a:lstStyle/>
          <a:p>
            <a:r>
              <a:rPr lang="zh-CN" altLang="en-US" sz="3200" b="1" dirty="0" smtClean="0">
                <a:solidFill>
                  <a:srgbClr val="FF0000"/>
                </a:solidFill>
                <a:latin typeface="黑体" pitchFamily="49" charset="-122"/>
                <a:ea typeface="黑体" pitchFamily="49" charset="-122"/>
              </a:rPr>
              <a:t>毛泽东思想的成熟时期</a:t>
            </a:r>
            <a:endParaRPr lang="zh-CN" altLang="en-US" sz="3200" dirty="0">
              <a:solidFill>
                <a:srgbClr val="FF0000"/>
              </a:solidFill>
            </a:endParaRP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89091"/>
                                        </p:tgtEl>
                                        <p:attrNameLst>
                                          <p:attrName>style.visibility</p:attrName>
                                        </p:attrNameLst>
                                      </p:cBhvr>
                                      <p:to>
                                        <p:strVal val="visible"/>
                                      </p:to>
                                    </p:set>
                                    <p:animEffect transition="in" filter="wipe(down)">
                                      <p:cBhvr>
                                        <p:cTn id="7" dur="500"/>
                                        <p:tgtEl>
                                          <p:spTgt spid="890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ChangeArrowheads="1"/>
          </p:cNvSpPr>
          <p:nvPr/>
        </p:nvSpPr>
        <p:spPr bwMode="auto">
          <a:xfrm>
            <a:off x="785786" y="1500174"/>
            <a:ext cx="7675563" cy="3286477"/>
          </a:xfrm>
          <a:prstGeom prst="rect">
            <a:avLst/>
          </a:prstGeom>
          <a:noFill/>
          <a:ln w="9525">
            <a:solidFill>
              <a:srgbClr val="FF0000"/>
            </a:solidFill>
            <a:miter lim="800000"/>
            <a:headEnd/>
            <a:tailEnd/>
          </a:ln>
        </p:spPr>
        <p:txBody>
          <a:bodyPr>
            <a:spAutoFit/>
          </a:bodyPr>
          <a:lstStyle/>
          <a:p>
            <a:pPr>
              <a:lnSpc>
                <a:spcPct val="150000"/>
              </a:lnSpc>
            </a:pPr>
            <a:r>
              <a:rPr lang="en-US" altLang="zh-CN" sz="3600" b="1" dirty="0" smtClean="0">
                <a:solidFill>
                  <a:srgbClr val="FF0000"/>
                </a:solidFill>
                <a:latin typeface="隶书" pitchFamily="49" charset="-122"/>
                <a:ea typeface="隶书" pitchFamily="49" charset="-122"/>
              </a:rPr>
              <a:t>《</a:t>
            </a:r>
            <a:r>
              <a:rPr lang="zh-CN" altLang="en-US" sz="3600" b="1" dirty="0">
                <a:solidFill>
                  <a:srgbClr val="FF0000"/>
                </a:solidFill>
                <a:latin typeface="隶书" pitchFamily="49" charset="-122"/>
                <a:ea typeface="隶书" pitchFamily="49" charset="-122"/>
              </a:rPr>
              <a:t>中国革命战争的战略问题</a:t>
            </a:r>
            <a:r>
              <a:rPr lang="en-US" altLang="zh-CN" sz="3600" b="1" dirty="0">
                <a:solidFill>
                  <a:srgbClr val="FF0000"/>
                </a:solidFill>
                <a:latin typeface="隶书" pitchFamily="49" charset="-122"/>
                <a:ea typeface="隶书" pitchFamily="49" charset="-122"/>
              </a:rPr>
              <a:t>》</a:t>
            </a:r>
            <a:r>
              <a:rPr lang="zh-CN" altLang="en-US" sz="3600" b="1" dirty="0">
                <a:solidFill>
                  <a:srgbClr val="FF0000"/>
                </a:solidFill>
                <a:latin typeface="隶书" pitchFamily="49" charset="-122"/>
                <a:ea typeface="隶书" pitchFamily="49" charset="-122"/>
              </a:rPr>
              <a:t>、</a:t>
            </a:r>
            <a:r>
              <a:rPr lang="en-US" altLang="zh-CN" sz="3600" b="1" dirty="0">
                <a:solidFill>
                  <a:srgbClr val="FF0000"/>
                </a:solidFill>
                <a:latin typeface="隶书" pitchFamily="49" charset="-122"/>
                <a:ea typeface="隶书" pitchFamily="49" charset="-122"/>
              </a:rPr>
              <a:t>《</a:t>
            </a:r>
            <a:r>
              <a:rPr lang="zh-CN" altLang="en-US" sz="3600" b="1" dirty="0">
                <a:solidFill>
                  <a:srgbClr val="FF0000"/>
                </a:solidFill>
                <a:latin typeface="隶书" pitchFamily="49" charset="-122"/>
                <a:ea typeface="隶书" pitchFamily="49" charset="-122"/>
              </a:rPr>
              <a:t>论持久战</a:t>
            </a:r>
            <a:r>
              <a:rPr lang="en-US" altLang="zh-CN" sz="3600" b="1" dirty="0">
                <a:solidFill>
                  <a:srgbClr val="FF0000"/>
                </a:solidFill>
                <a:latin typeface="隶书" pitchFamily="49" charset="-122"/>
                <a:ea typeface="隶书" pitchFamily="49" charset="-122"/>
              </a:rPr>
              <a:t>》</a:t>
            </a:r>
            <a:r>
              <a:rPr lang="zh-CN" altLang="en-US" sz="3600" b="1" dirty="0">
                <a:solidFill>
                  <a:srgbClr val="FF0000"/>
                </a:solidFill>
                <a:latin typeface="隶书" pitchFamily="49" charset="-122"/>
                <a:ea typeface="隶书" pitchFamily="49" charset="-122"/>
              </a:rPr>
              <a:t>、</a:t>
            </a:r>
            <a:r>
              <a:rPr lang="en-US" sz="3600" b="1" dirty="0">
                <a:solidFill>
                  <a:srgbClr val="FF0000"/>
                </a:solidFill>
                <a:latin typeface="隶书" pitchFamily="49" charset="-122"/>
                <a:ea typeface="隶书" pitchFamily="49" charset="-122"/>
              </a:rPr>
              <a:t> </a:t>
            </a:r>
            <a:r>
              <a:rPr lang="en-US" altLang="zh-CN" sz="3600" b="1" dirty="0">
                <a:solidFill>
                  <a:srgbClr val="FF0000"/>
                </a:solidFill>
                <a:latin typeface="隶书" pitchFamily="49" charset="-122"/>
                <a:ea typeface="隶书" pitchFamily="49" charset="-122"/>
              </a:rPr>
              <a:t>《</a:t>
            </a:r>
            <a:r>
              <a:rPr lang="zh-CN" altLang="en-US" sz="3600" b="1" dirty="0">
                <a:solidFill>
                  <a:srgbClr val="FF0000"/>
                </a:solidFill>
                <a:latin typeface="隶书" pitchFamily="49" charset="-122"/>
                <a:ea typeface="隶书" pitchFamily="49" charset="-122"/>
              </a:rPr>
              <a:t>中国革命和中国共产党</a:t>
            </a:r>
            <a:r>
              <a:rPr lang="en-US" altLang="zh-CN" sz="3600" b="1" dirty="0">
                <a:solidFill>
                  <a:srgbClr val="FF0000"/>
                </a:solidFill>
                <a:latin typeface="隶书" pitchFamily="49" charset="-122"/>
                <a:ea typeface="隶书" pitchFamily="49" charset="-122"/>
              </a:rPr>
              <a:t>》 《&lt;</a:t>
            </a:r>
            <a:r>
              <a:rPr lang="zh-CN" altLang="en-US" sz="3600" b="1" dirty="0">
                <a:solidFill>
                  <a:srgbClr val="FF0000"/>
                </a:solidFill>
                <a:latin typeface="隶书" pitchFamily="49" charset="-122"/>
                <a:ea typeface="隶书" pitchFamily="49" charset="-122"/>
              </a:rPr>
              <a:t>共产党人</a:t>
            </a:r>
            <a:r>
              <a:rPr lang="en-US" altLang="zh-CN" sz="3600" b="1" dirty="0">
                <a:solidFill>
                  <a:srgbClr val="FF0000"/>
                </a:solidFill>
                <a:latin typeface="隶书" pitchFamily="49" charset="-122"/>
                <a:ea typeface="隶书" pitchFamily="49" charset="-122"/>
              </a:rPr>
              <a:t>&gt;</a:t>
            </a:r>
            <a:r>
              <a:rPr lang="zh-CN" altLang="en-US" sz="3600" b="1" dirty="0">
                <a:solidFill>
                  <a:srgbClr val="FF0000"/>
                </a:solidFill>
                <a:latin typeface="隶书" pitchFamily="49" charset="-122"/>
                <a:ea typeface="隶书" pitchFamily="49" charset="-122"/>
              </a:rPr>
              <a:t>发刊词</a:t>
            </a:r>
            <a:r>
              <a:rPr lang="en-US" altLang="zh-CN" sz="3600" b="1" dirty="0">
                <a:solidFill>
                  <a:srgbClr val="FF0000"/>
                </a:solidFill>
                <a:latin typeface="隶书" pitchFamily="49" charset="-122"/>
                <a:ea typeface="隶书" pitchFamily="49" charset="-122"/>
              </a:rPr>
              <a:t>》</a:t>
            </a:r>
            <a:r>
              <a:rPr lang="zh-CN" altLang="en-US" sz="3600" b="1" dirty="0">
                <a:solidFill>
                  <a:srgbClr val="FF0000"/>
                </a:solidFill>
                <a:latin typeface="隶书" pitchFamily="49" charset="-122"/>
                <a:ea typeface="隶书" pitchFamily="49" charset="-122"/>
              </a:rPr>
              <a:t>、</a:t>
            </a:r>
            <a:r>
              <a:rPr lang="en-US" sz="3600" b="1" dirty="0">
                <a:solidFill>
                  <a:srgbClr val="FF0000"/>
                </a:solidFill>
                <a:latin typeface="隶书" pitchFamily="49" charset="-122"/>
                <a:ea typeface="隶书" pitchFamily="49" charset="-122"/>
              </a:rPr>
              <a:t> </a:t>
            </a:r>
            <a:r>
              <a:rPr lang="en-US" altLang="zh-CN" sz="3600" b="1" dirty="0">
                <a:solidFill>
                  <a:srgbClr val="FF0000"/>
                </a:solidFill>
                <a:latin typeface="隶书" pitchFamily="49" charset="-122"/>
                <a:ea typeface="隶书" pitchFamily="49" charset="-122"/>
              </a:rPr>
              <a:t>《</a:t>
            </a:r>
            <a:r>
              <a:rPr lang="zh-CN" altLang="en-US" sz="3600" b="1" dirty="0">
                <a:solidFill>
                  <a:srgbClr val="FF0000"/>
                </a:solidFill>
                <a:latin typeface="隶书" pitchFamily="49" charset="-122"/>
                <a:ea typeface="隶书" pitchFamily="49" charset="-122"/>
              </a:rPr>
              <a:t>新民主主义论</a:t>
            </a:r>
            <a:r>
              <a:rPr lang="en-US" altLang="zh-CN" sz="3600" b="1" dirty="0">
                <a:solidFill>
                  <a:srgbClr val="FF0000"/>
                </a:solidFill>
                <a:latin typeface="隶书" pitchFamily="49" charset="-122"/>
                <a:ea typeface="隶书" pitchFamily="49" charset="-122"/>
              </a:rPr>
              <a:t>》</a:t>
            </a:r>
            <a:r>
              <a:rPr lang="zh-CN" altLang="en-US" sz="3600" b="1" dirty="0">
                <a:solidFill>
                  <a:srgbClr val="FF0000"/>
                </a:solidFill>
                <a:latin typeface="隶书" pitchFamily="49" charset="-122"/>
                <a:ea typeface="隶书" pitchFamily="49" charset="-122"/>
              </a:rPr>
              <a:t>、</a:t>
            </a:r>
            <a:r>
              <a:rPr lang="en-US" sz="3600" b="1" dirty="0">
                <a:solidFill>
                  <a:srgbClr val="FF0000"/>
                </a:solidFill>
                <a:latin typeface="隶书" pitchFamily="49" charset="-122"/>
                <a:ea typeface="隶书" pitchFamily="49" charset="-122"/>
              </a:rPr>
              <a:t> </a:t>
            </a:r>
            <a:r>
              <a:rPr lang="en-US" altLang="zh-CN" sz="3600" b="1" dirty="0">
                <a:solidFill>
                  <a:srgbClr val="FF0000"/>
                </a:solidFill>
                <a:latin typeface="隶书" pitchFamily="49" charset="-122"/>
                <a:ea typeface="隶书" pitchFamily="49" charset="-122"/>
              </a:rPr>
              <a:t>《</a:t>
            </a:r>
            <a:r>
              <a:rPr lang="zh-CN" altLang="en-US" sz="3600" b="1" dirty="0">
                <a:solidFill>
                  <a:srgbClr val="FF0000"/>
                </a:solidFill>
                <a:latin typeface="隶书" pitchFamily="49" charset="-122"/>
                <a:ea typeface="隶书" pitchFamily="49" charset="-122"/>
              </a:rPr>
              <a:t>论联合政府</a:t>
            </a:r>
            <a:r>
              <a:rPr lang="en-US" altLang="zh-CN" sz="3600" b="1" dirty="0">
                <a:solidFill>
                  <a:srgbClr val="FF0000"/>
                </a:solidFill>
                <a:latin typeface="隶书" pitchFamily="49" charset="-122"/>
                <a:ea typeface="隶书" pitchFamily="49" charset="-122"/>
              </a:rPr>
              <a:t>》</a:t>
            </a:r>
            <a:r>
              <a:rPr lang="zh-CN" altLang="en-US" sz="3600" b="1" dirty="0">
                <a:solidFill>
                  <a:srgbClr val="0000FF"/>
                </a:solidFill>
                <a:latin typeface="楷体" pitchFamily="49" charset="-122"/>
                <a:ea typeface="楷体" pitchFamily="49" charset="-122"/>
              </a:rPr>
              <a:t>等</a:t>
            </a:r>
          </a:p>
        </p:txBody>
      </p:sp>
      <p:sp>
        <p:nvSpPr>
          <p:cNvPr id="3" name="矩形 2"/>
          <p:cNvSpPr/>
          <p:nvPr/>
        </p:nvSpPr>
        <p:spPr>
          <a:xfrm>
            <a:off x="1285852" y="642918"/>
            <a:ext cx="5128327" cy="584775"/>
          </a:xfrm>
          <a:prstGeom prst="rect">
            <a:avLst/>
          </a:prstGeom>
        </p:spPr>
        <p:txBody>
          <a:bodyPr wrap="none">
            <a:spAutoFit/>
          </a:bodyPr>
          <a:lstStyle/>
          <a:p>
            <a:r>
              <a:rPr lang="zh-CN" altLang="en-US" sz="3200" b="1" dirty="0" smtClean="0">
                <a:solidFill>
                  <a:srgbClr val="0000FF"/>
                </a:solidFill>
                <a:latin typeface="黑体" pitchFamily="49" charset="-122"/>
                <a:ea typeface="黑体" pitchFamily="49" charset="-122"/>
              </a:rPr>
              <a:t>本期毛泽东主要发表文章：</a:t>
            </a:r>
            <a:endParaRPr lang="zh-CN" altLang="en-US" sz="3200" b="1" dirty="0">
              <a:solidFill>
                <a:srgbClr val="0000FF"/>
              </a:solidFill>
              <a:latin typeface="黑体" pitchFamily="49" charset="-122"/>
              <a:ea typeface="黑体" pitchFamily="49" charset="-122"/>
            </a:endParaRPr>
          </a:p>
        </p:txBody>
      </p:sp>
    </p:spTree>
  </p:cSld>
  <p:clrMapOvr>
    <a:masterClrMapping/>
  </p:clrMapOvr>
  <p:transition spd="med">
    <p:wipe dir="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ChangeArrowheads="1"/>
          </p:cNvSpPr>
          <p:nvPr/>
        </p:nvSpPr>
        <p:spPr bwMode="auto">
          <a:xfrm>
            <a:off x="785786" y="1500174"/>
            <a:ext cx="7632700" cy="646331"/>
          </a:xfrm>
          <a:prstGeom prst="rect">
            <a:avLst/>
          </a:prstGeom>
          <a:noFill/>
          <a:ln w="9525">
            <a:solidFill>
              <a:schemeClr val="accent1"/>
            </a:solidFill>
            <a:miter lim="800000"/>
            <a:headEnd/>
            <a:tailEnd/>
          </a:ln>
        </p:spPr>
        <p:txBody>
          <a:bodyPr wrap="square">
            <a:spAutoFit/>
          </a:bodyPr>
          <a:lstStyle/>
          <a:p>
            <a:r>
              <a:rPr lang="zh-CN" altLang="en-US" sz="3600" b="1" dirty="0" smtClean="0">
                <a:solidFill>
                  <a:srgbClr val="FF0000"/>
                </a:solidFill>
                <a:latin typeface="黑体" pitchFamily="49" charset="-122"/>
                <a:ea typeface="黑体" pitchFamily="49" charset="-122"/>
              </a:rPr>
              <a:t>    解放战争时期和新中国成立后</a:t>
            </a:r>
            <a:endParaRPr lang="zh-CN" altLang="en-US" sz="3600" b="1" dirty="0">
              <a:solidFill>
                <a:srgbClr val="FF0000"/>
              </a:solidFill>
              <a:latin typeface="黑体" pitchFamily="49" charset="-122"/>
              <a:ea typeface="黑体" pitchFamily="49" charset="-122"/>
            </a:endParaRPr>
          </a:p>
        </p:txBody>
      </p:sp>
      <p:sp>
        <p:nvSpPr>
          <p:cNvPr id="91139" name="Text Box 3"/>
          <p:cNvSpPr txBox="1">
            <a:spLocks noChangeArrowheads="1"/>
          </p:cNvSpPr>
          <p:nvPr/>
        </p:nvSpPr>
        <p:spPr bwMode="auto">
          <a:xfrm>
            <a:off x="1285852" y="3286124"/>
            <a:ext cx="5761037" cy="641350"/>
          </a:xfrm>
          <a:prstGeom prst="rect">
            <a:avLst/>
          </a:prstGeom>
          <a:noFill/>
          <a:ln w="9525">
            <a:noFill/>
            <a:miter lim="800000"/>
            <a:headEnd/>
            <a:tailEnd/>
          </a:ln>
        </p:spPr>
        <p:txBody>
          <a:bodyPr>
            <a:spAutoFit/>
          </a:bodyPr>
          <a:lstStyle/>
          <a:p>
            <a:pPr>
              <a:spcBef>
                <a:spcPct val="50000"/>
              </a:spcBef>
            </a:pPr>
            <a:r>
              <a:rPr lang="zh-CN" altLang="en-US" sz="3600" b="1" dirty="0">
                <a:solidFill>
                  <a:srgbClr val="0000FF"/>
                </a:solidFill>
                <a:latin typeface="黑体" pitchFamily="49" charset="-122"/>
                <a:ea typeface="黑体" pitchFamily="49" charset="-122"/>
              </a:rPr>
              <a:t>解放战争时期</a:t>
            </a:r>
          </a:p>
        </p:txBody>
      </p:sp>
      <p:sp>
        <p:nvSpPr>
          <p:cNvPr id="91140" name="Text Box 4"/>
          <p:cNvSpPr txBox="1">
            <a:spLocks noChangeArrowheads="1"/>
          </p:cNvSpPr>
          <p:nvPr/>
        </p:nvSpPr>
        <p:spPr bwMode="auto">
          <a:xfrm>
            <a:off x="1214414" y="4429132"/>
            <a:ext cx="7200900" cy="641350"/>
          </a:xfrm>
          <a:prstGeom prst="rect">
            <a:avLst/>
          </a:prstGeom>
          <a:noFill/>
          <a:ln w="9525">
            <a:noFill/>
            <a:miter lim="800000"/>
            <a:headEnd/>
            <a:tailEnd/>
          </a:ln>
        </p:spPr>
        <p:txBody>
          <a:bodyPr>
            <a:spAutoFit/>
          </a:bodyPr>
          <a:lstStyle/>
          <a:p>
            <a:pPr>
              <a:spcBef>
                <a:spcPct val="50000"/>
              </a:spcBef>
            </a:pPr>
            <a:r>
              <a:rPr lang="zh-CN" altLang="en-US" sz="3600" b="1" dirty="0">
                <a:solidFill>
                  <a:srgbClr val="0000FF"/>
                </a:solidFill>
                <a:latin typeface="黑体" pitchFamily="49" charset="-122"/>
                <a:ea typeface="黑体" pitchFamily="49" charset="-122"/>
              </a:rPr>
              <a:t>由新民主主义向社会主义过渡时期</a:t>
            </a:r>
          </a:p>
        </p:txBody>
      </p:sp>
      <p:sp>
        <p:nvSpPr>
          <p:cNvPr id="91141" name="Text Box 5"/>
          <p:cNvSpPr txBox="1">
            <a:spLocks noChangeArrowheads="1"/>
          </p:cNvSpPr>
          <p:nvPr/>
        </p:nvSpPr>
        <p:spPr bwMode="auto">
          <a:xfrm>
            <a:off x="1214414" y="5572140"/>
            <a:ext cx="6696075" cy="641350"/>
          </a:xfrm>
          <a:prstGeom prst="rect">
            <a:avLst/>
          </a:prstGeom>
          <a:noFill/>
          <a:ln w="9525">
            <a:noFill/>
            <a:miter lim="800000"/>
            <a:headEnd/>
            <a:tailEnd/>
          </a:ln>
        </p:spPr>
        <p:txBody>
          <a:bodyPr>
            <a:spAutoFit/>
          </a:bodyPr>
          <a:lstStyle/>
          <a:p>
            <a:pPr>
              <a:spcBef>
                <a:spcPct val="50000"/>
              </a:spcBef>
            </a:pPr>
            <a:r>
              <a:rPr lang="zh-CN" altLang="en-US" sz="3600" b="1" dirty="0">
                <a:solidFill>
                  <a:srgbClr val="0000FF"/>
                </a:solidFill>
                <a:latin typeface="黑体" pitchFamily="49" charset="-122"/>
                <a:ea typeface="黑体" pitchFamily="49" charset="-122"/>
              </a:rPr>
              <a:t>社会主义建设</a:t>
            </a:r>
            <a:r>
              <a:rPr lang="zh-CN" altLang="en-US" sz="3600" dirty="0">
                <a:solidFill>
                  <a:srgbClr val="0000FF"/>
                </a:solidFill>
                <a:latin typeface="黑体" pitchFamily="49" charset="-122"/>
                <a:ea typeface="黑体" pitchFamily="49" charset="-122"/>
              </a:rPr>
              <a:t>时期</a:t>
            </a:r>
          </a:p>
        </p:txBody>
      </p:sp>
      <p:sp>
        <p:nvSpPr>
          <p:cNvPr id="91142" name="AutoShape 6"/>
          <p:cNvSpPr>
            <a:spLocks/>
          </p:cNvSpPr>
          <p:nvPr/>
        </p:nvSpPr>
        <p:spPr bwMode="auto">
          <a:xfrm>
            <a:off x="1142976" y="3286124"/>
            <a:ext cx="73025" cy="3095625"/>
          </a:xfrm>
          <a:prstGeom prst="leftBrace">
            <a:avLst>
              <a:gd name="adj1" fmla="val 351887"/>
              <a:gd name="adj2" fmla="val 50000"/>
            </a:avLst>
          </a:prstGeom>
          <a:solidFill>
            <a:schemeClr val="accent2"/>
          </a:solidFill>
          <a:ln w="9525">
            <a:solidFill>
              <a:srgbClr val="FF0000"/>
            </a:solidFill>
            <a:round/>
            <a:headEnd/>
            <a:tailEnd/>
          </a:ln>
        </p:spPr>
        <p:txBody>
          <a:bodyPr wrap="none" anchor="ctr"/>
          <a:lstStyle/>
          <a:p>
            <a:pPr algn="ctr"/>
            <a:endParaRPr lang="zh-CN" altLang="en-US" sz="2800">
              <a:solidFill>
                <a:srgbClr val="FF0000"/>
              </a:solidFill>
              <a:latin typeface="黑体" pitchFamily="49" charset="-122"/>
              <a:ea typeface="黑体" pitchFamily="49" charset="-122"/>
            </a:endParaRPr>
          </a:p>
        </p:txBody>
      </p:sp>
      <p:sp>
        <p:nvSpPr>
          <p:cNvPr id="7" name="矩形 6"/>
          <p:cNvSpPr/>
          <p:nvPr/>
        </p:nvSpPr>
        <p:spPr>
          <a:xfrm>
            <a:off x="785786" y="285728"/>
            <a:ext cx="6215106" cy="584775"/>
          </a:xfrm>
          <a:prstGeom prst="rect">
            <a:avLst/>
          </a:prstGeom>
          <a:ln>
            <a:solidFill>
              <a:schemeClr val="accent1"/>
            </a:solidFill>
          </a:ln>
        </p:spPr>
        <p:txBody>
          <a:bodyPr wrap="square">
            <a:spAutoFit/>
          </a:bodyPr>
          <a:lstStyle/>
          <a:p>
            <a:r>
              <a:rPr lang="zh-CN" altLang="en-US" sz="3200" b="1" dirty="0" smtClean="0">
                <a:solidFill>
                  <a:srgbClr val="3333FF"/>
                </a:solidFill>
                <a:latin typeface="黑体" pitchFamily="49" charset="-122"/>
                <a:ea typeface="黑体" pitchFamily="49" charset="-122"/>
              </a:rPr>
              <a:t>第三个阶段  继续发展时期</a:t>
            </a:r>
            <a:endParaRPr lang="zh-CN" altLang="en-US" sz="3200" b="1" dirty="0">
              <a:solidFill>
                <a:srgbClr val="3333FF"/>
              </a:solidFill>
              <a:latin typeface="黑体" pitchFamily="49" charset="-122"/>
              <a:ea typeface="黑体" pitchFamily="49" charset="-122"/>
            </a:endParaRP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1139"/>
                                        </p:tgtEl>
                                        <p:attrNameLst>
                                          <p:attrName>style.visibility</p:attrName>
                                        </p:attrNameLst>
                                      </p:cBhvr>
                                      <p:to>
                                        <p:strVal val="visible"/>
                                      </p:to>
                                    </p:set>
                                    <p:animEffect transition="in" filter="blinds(horizontal)">
                                      <p:cBhvr>
                                        <p:cTn id="7" dur="500"/>
                                        <p:tgtEl>
                                          <p:spTgt spid="9113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1140"/>
                                        </p:tgtEl>
                                        <p:attrNameLst>
                                          <p:attrName>style.visibility</p:attrName>
                                        </p:attrNameLst>
                                      </p:cBhvr>
                                      <p:to>
                                        <p:strVal val="visible"/>
                                      </p:to>
                                    </p:set>
                                    <p:animEffect transition="in" filter="blinds(horizontal)">
                                      <p:cBhvr>
                                        <p:cTn id="12" dur="500"/>
                                        <p:tgtEl>
                                          <p:spTgt spid="9114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1141"/>
                                        </p:tgtEl>
                                        <p:attrNameLst>
                                          <p:attrName>style.visibility</p:attrName>
                                        </p:attrNameLst>
                                      </p:cBhvr>
                                      <p:to>
                                        <p:strVal val="visible"/>
                                      </p:to>
                                    </p:set>
                                    <p:animEffect transition="in" filter="blinds(horizontal)">
                                      <p:cBhvr>
                                        <p:cTn id="17" dur="500"/>
                                        <p:tgtEl>
                                          <p:spTgt spid="91141"/>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91142"/>
                                        </p:tgtEl>
                                        <p:attrNameLst>
                                          <p:attrName>style.visibility</p:attrName>
                                        </p:attrNameLst>
                                      </p:cBhvr>
                                      <p:to>
                                        <p:strVal val="visible"/>
                                      </p:to>
                                    </p:set>
                                    <p:animEffect transition="in" filter="box(in)">
                                      <p:cBhvr>
                                        <p:cTn id="22" dur="500"/>
                                        <p:tgtEl>
                                          <p:spTgt spid="911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9" grpId="0"/>
      <p:bldP spid="91140" grpId="0"/>
      <p:bldP spid="91141" grpId="0"/>
      <p:bldP spid="9114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ChangeArrowheads="1"/>
          </p:cNvSpPr>
          <p:nvPr/>
        </p:nvSpPr>
        <p:spPr bwMode="auto">
          <a:xfrm>
            <a:off x="1116013" y="1052513"/>
            <a:ext cx="7200900" cy="6370637"/>
          </a:xfrm>
          <a:prstGeom prst="rect">
            <a:avLst/>
          </a:prstGeom>
          <a:noFill/>
          <a:ln w="9525">
            <a:noFill/>
            <a:miter lim="800000"/>
            <a:headEnd/>
            <a:tailEnd/>
          </a:ln>
        </p:spPr>
        <p:txBody>
          <a:bodyPr>
            <a:spAutoFit/>
          </a:bodyPr>
          <a:lstStyle/>
          <a:p>
            <a:pPr>
              <a:lnSpc>
                <a:spcPct val="150000"/>
              </a:lnSpc>
            </a:pPr>
            <a:r>
              <a:rPr lang="en-US" altLang="zh-CN" sz="2800" b="1" dirty="0">
                <a:solidFill>
                  <a:srgbClr val="FF0000"/>
                </a:solidFill>
                <a:latin typeface="隶书" pitchFamily="49" charset="-122"/>
                <a:ea typeface="隶书" pitchFamily="49" charset="-122"/>
              </a:rPr>
              <a:t>《</a:t>
            </a:r>
            <a:r>
              <a:rPr lang="zh-CN" altLang="en-US" sz="2800" b="1" dirty="0">
                <a:solidFill>
                  <a:srgbClr val="FF0000"/>
                </a:solidFill>
                <a:latin typeface="隶书" pitchFamily="49" charset="-122"/>
                <a:ea typeface="隶书" pitchFamily="49" charset="-122"/>
              </a:rPr>
              <a:t>以自卫战争粉碎蒋介石的进攻</a:t>
            </a:r>
            <a:r>
              <a:rPr lang="en-US" altLang="zh-CN" sz="2800" b="1" dirty="0">
                <a:solidFill>
                  <a:srgbClr val="FF0000"/>
                </a:solidFill>
                <a:latin typeface="隶书" pitchFamily="49" charset="-122"/>
                <a:ea typeface="隶书" pitchFamily="49" charset="-122"/>
              </a:rPr>
              <a:t>》</a:t>
            </a:r>
            <a:r>
              <a:rPr lang="zh-CN" altLang="en-US" sz="2800" b="1" dirty="0">
                <a:solidFill>
                  <a:srgbClr val="FF0000"/>
                </a:solidFill>
                <a:latin typeface="隶书" pitchFamily="49" charset="-122"/>
                <a:ea typeface="隶书" pitchFamily="49" charset="-122"/>
              </a:rPr>
              <a:t/>
            </a:r>
            <a:br>
              <a:rPr lang="zh-CN" altLang="en-US" sz="2800" b="1" dirty="0">
                <a:solidFill>
                  <a:srgbClr val="FF0000"/>
                </a:solidFill>
                <a:latin typeface="隶书" pitchFamily="49" charset="-122"/>
                <a:ea typeface="隶书" pitchFamily="49" charset="-122"/>
              </a:rPr>
            </a:br>
            <a:r>
              <a:rPr lang="en-US" altLang="zh-CN" sz="2800" b="1" dirty="0">
                <a:solidFill>
                  <a:srgbClr val="FF0000"/>
                </a:solidFill>
                <a:latin typeface="隶书" pitchFamily="49" charset="-122"/>
                <a:ea typeface="隶书" pitchFamily="49" charset="-122"/>
              </a:rPr>
              <a:t>《</a:t>
            </a:r>
            <a:r>
              <a:rPr lang="zh-CN" altLang="en-US" sz="2800" b="1" dirty="0">
                <a:solidFill>
                  <a:srgbClr val="FF0000"/>
                </a:solidFill>
                <a:latin typeface="隶书" pitchFamily="49" charset="-122"/>
                <a:ea typeface="隶书" pitchFamily="49" charset="-122"/>
              </a:rPr>
              <a:t>和美国记者安娜</a:t>
            </a:r>
            <a:r>
              <a:rPr lang="en-US" altLang="zh-CN" sz="2800" b="1" dirty="0">
                <a:solidFill>
                  <a:srgbClr val="FF0000"/>
                </a:solidFill>
                <a:latin typeface="隶书" pitchFamily="49" charset="-122"/>
                <a:ea typeface="隶书" pitchFamily="49" charset="-122"/>
              </a:rPr>
              <a:t>·</a:t>
            </a:r>
            <a:r>
              <a:rPr lang="zh-CN" altLang="en-US" sz="2800" b="1" dirty="0">
                <a:solidFill>
                  <a:srgbClr val="FF0000"/>
                </a:solidFill>
                <a:latin typeface="隶书" pitchFamily="49" charset="-122"/>
                <a:ea typeface="隶书" pitchFamily="49" charset="-122"/>
              </a:rPr>
              <a:t>路易斯</a:t>
            </a:r>
            <a:r>
              <a:rPr lang="en-US" altLang="zh-CN" sz="2800" b="1" dirty="0">
                <a:solidFill>
                  <a:srgbClr val="FF0000"/>
                </a:solidFill>
                <a:latin typeface="隶书" pitchFamily="49" charset="-122"/>
                <a:ea typeface="隶书" pitchFamily="49" charset="-122"/>
              </a:rPr>
              <a:t>·</a:t>
            </a:r>
            <a:r>
              <a:rPr lang="zh-CN" altLang="en-US" sz="2800" b="1" dirty="0">
                <a:solidFill>
                  <a:srgbClr val="FF0000"/>
                </a:solidFill>
                <a:latin typeface="隶书" pitchFamily="49" charset="-122"/>
                <a:ea typeface="隶书" pitchFamily="49" charset="-122"/>
              </a:rPr>
              <a:t>斯特朗的谈话</a:t>
            </a:r>
            <a:r>
              <a:rPr lang="en-US" altLang="zh-CN" sz="2800" b="1" dirty="0">
                <a:solidFill>
                  <a:srgbClr val="FF0000"/>
                </a:solidFill>
                <a:latin typeface="隶书" pitchFamily="49" charset="-122"/>
                <a:ea typeface="隶书" pitchFamily="49" charset="-122"/>
              </a:rPr>
              <a:t>》</a:t>
            </a:r>
            <a:r>
              <a:rPr lang="zh-CN" altLang="en-US" sz="2800" b="1" dirty="0">
                <a:solidFill>
                  <a:srgbClr val="FF0000"/>
                </a:solidFill>
                <a:latin typeface="隶书" pitchFamily="49" charset="-122"/>
                <a:ea typeface="隶书" pitchFamily="49" charset="-122"/>
              </a:rPr>
              <a:t/>
            </a:r>
            <a:br>
              <a:rPr lang="zh-CN" altLang="en-US" sz="2800" b="1" dirty="0">
                <a:solidFill>
                  <a:srgbClr val="FF0000"/>
                </a:solidFill>
                <a:latin typeface="隶书" pitchFamily="49" charset="-122"/>
                <a:ea typeface="隶书" pitchFamily="49" charset="-122"/>
              </a:rPr>
            </a:br>
            <a:r>
              <a:rPr lang="en-US" altLang="zh-CN" sz="2800" b="1" dirty="0">
                <a:solidFill>
                  <a:srgbClr val="FF0000"/>
                </a:solidFill>
                <a:latin typeface="隶书" pitchFamily="49" charset="-122"/>
                <a:ea typeface="隶书" pitchFamily="49" charset="-122"/>
              </a:rPr>
              <a:t>《</a:t>
            </a:r>
            <a:r>
              <a:rPr lang="zh-CN" altLang="en-US" sz="2800" b="1" dirty="0">
                <a:solidFill>
                  <a:srgbClr val="FF0000"/>
                </a:solidFill>
                <a:latin typeface="隶书" pitchFamily="49" charset="-122"/>
                <a:ea typeface="隶书" pitchFamily="49" charset="-122"/>
              </a:rPr>
              <a:t>集中优势兵力，各个歼灭敌人</a:t>
            </a:r>
            <a:r>
              <a:rPr lang="en-US" altLang="zh-CN" sz="2800" b="1" dirty="0">
                <a:solidFill>
                  <a:srgbClr val="FF0000"/>
                </a:solidFill>
                <a:latin typeface="隶书" pitchFamily="49" charset="-122"/>
                <a:ea typeface="隶书" pitchFamily="49" charset="-122"/>
              </a:rPr>
              <a:t>》《</a:t>
            </a:r>
            <a:r>
              <a:rPr lang="zh-CN" altLang="en-US" sz="2800" b="1" dirty="0">
                <a:solidFill>
                  <a:srgbClr val="FF0000"/>
                </a:solidFill>
                <a:latin typeface="隶书" pitchFamily="49" charset="-122"/>
                <a:ea typeface="隶书" pitchFamily="49" charset="-122"/>
              </a:rPr>
              <a:t>目前形势和我们的任务</a:t>
            </a:r>
            <a:r>
              <a:rPr lang="en-US" altLang="zh-CN" sz="2800" b="1" dirty="0">
                <a:solidFill>
                  <a:srgbClr val="FF0000"/>
                </a:solidFill>
                <a:latin typeface="隶书" pitchFamily="49" charset="-122"/>
                <a:ea typeface="隶书" pitchFamily="49" charset="-122"/>
              </a:rPr>
              <a:t>》</a:t>
            </a:r>
          </a:p>
          <a:p>
            <a:pPr>
              <a:lnSpc>
                <a:spcPct val="150000"/>
              </a:lnSpc>
            </a:pPr>
            <a:r>
              <a:rPr lang="en-US" altLang="zh-CN" sz="2800" b="1" dirty="0">
                <a:solidFill>
                  <a:srgbClr val="FF0000"/>
                </a:solidFill>
                <a:latin typeface="隶书" pitchFamily="49" charset="-122"/>
                <a:ea typeface="隶书" pitchFamily="49" charset="-122"/>
              </a:rPr>
              <a:t>《</a:t>
            </a:r>
            <a:r>
              <a:rPr lang="zh-CN" altLang="en-US" sz="2800" b="1" dirty="0">
                <a:solidFill>
                  <a:srgbClr val="FF0000"/>
                </a:solidFill>
                <a:latin typeface="隶书" pitchFamily="49" charset="-122"/>
                <a:ea typeface="隶书" pitchFamily="49" charset="-122"/>
              </a:rPr>
              <a:t>在晋绥干部会议上的讲话</a:t>
            </a:r>
            <a:r>
              <a:rPr lang="en-US" altLang="zh-CN" sz="2800" b="1" dirty="0">
                <a:solidFill>
                  <a:srgbClr val="FF0000"/>
                </a:solidFill>
                <a:latin typeface="隶书" pitchFamily="49" charset="-122"/>
                <a:ea typeface="隶书" pitchFamily="49" charset="-122"/>
              </a:rPr>
              <a:t>》</a:t>
            </a:r>
            <a:r>
              <a:rPr lang="zh-CN" altLang="en-US" sz="2800" b="1" dirty="0">
                <a:solidFill>
                  <a:srgbClr val="FF0000"/>
                </a:solidFill>
                <a:latin typeface="隶书" pitchFamily="49" charset="-122"/>
                <a:ea typeface="隶书" pitchFamily="49" charset="-122"/>
              </a:rPr>
              <a:t/>
            </a:r>
            <a:br>
              <a:rPr lang="zh-CN" altLang="en-US" sz="2800" b="1" dirty="0">
                <a:solidFill>
                  <a:srgbClr val="FF0000"/>
                </a:solidFill>
                <a:latin typeface="隶书" pitchFamily="49" charset="-122"/>
                <a:ea typeface="隶书" pitchFamily="49" charset="-122"/>
              </a:rPr>
            </a:br>
            <a:r>
              <a:rPr lang="en-US" altLang="zh-CN" sz="2800" b="1" dirty="0">
                <a:solidFill>
                  <a:srgbClr val="FF0000"/>
                </a:solidFill>
                <a:latin typeface="隶书" pitchFamily="49" charset="-122"/>
                <a:ea typeface="隶书" pitchFamily="49" charset="-122"/>
              </a:rPr>
              <a:t>《</a:t>
            </a:r>
            <a:r>
              <a:rPr lang="zh-CN" altLang="en-US" sz="2800" b="1" dirty="0">
                <a:solidFill>
                  <a:srgbClr val="FF0000"/>
                </a:solidFill>
                <a:latin typeface="隶书" pitchFamily="49" charset="-122"/>
                <a:ea typeface="隶书" pitchFamily="49" charset="-122"/>
              </a:rPr>
              <a:t>论人民民主专政</a:t>
            </a:r>
            <a:r>
              <a:rPr lang="en-US" altLang="zh-CN" sz="2800" b="1" dirty="0">
                <a:solidFill>
                  <a:srgbClr val="FF0000"/>
                </a:solidFill>
                <a:latin typeface="隶书" pitchFamily="49" charset="-122"/>
                <a:ea typeface="隶书" pitchFamily="49" charset="-122"/>
              </a:rPr>
              <a:t>》</a:t>
            </a:r>
          </a:p>
          <a:p>
            <a:pPr>
              <a:lnSpc>
                <a:spcPct val="150000"/>
              </a:lnSpc>
            </a:pPr>
            <a:r>
              <a:rPr lang="en-US" altLang="zh-CN" sz="2800" b="1" dirty="0">
                <a:solidFill>
                  <a:srgbClr val="FF0000"/>
                </a:solidFill>
                <a:latin typeface="隶书" pitchFamily="49" charset="-122"/>
                <a:ea typeface="隶书" pitchFamily="49" charset="-122"/>
              </a:rPr>
              <a:t>《</a:t>
            </a:r>
            <a:r>
              <a:rPr lang="zh-CN" altLang="en-US" sz="2800" b="1" dirty="0">
                <a:solidFill>
                  <a:srgbClr val="FF0000"/>
                </a:solidFill>
                <a:latin typeface="隶书" pitchFamily="49" charset="-122"/>
                <a:ea typeface="隶书" pitchFamily="49" charset="-122"/>
              </a:rPr>
              <a:t>论十大关系</a:t>
            </a:r>
            <a:r>
              <a:rPr lang="en-US" altLang="zh-CN" sz="2800" b="1" dirty="0">
                <a:solidFill>
                  <a:srgbClr val="FF0000"/>
                </a:solidFill>
                <a:latin typeface="隶书" pitchFamily="49" charset="-122"/>
                <a:ea typeface="隶书" pitchFamily="49" charset="-122"/>
              </a:rPr>
              <a:t>》</a:t>
            </a:r>
          </a:p>
          <a:p>
            <a:pPr>
              <a:lnSpc>
                <a:spcPct val="150000"/>
              </a:lnSpc>
            </a:pPr>
            <a:r>
              <a:rPr lang="en-US" altLang="zh-CN" sz="2800" b="1" dirty="0">
                <a:solidFill>
                  <a:srgbClr val="FF0000"/>
                </a:solidFill>
                <a:latin typeface="隶书" pitchFamily="49" charset="-122"/>
                <a:ea typeface="隶书" pitchFamily="49" charset="-122"/>
              </a:rPr>
              <a:t>《</a:t>
            </a:r>
            <a:r>
              <a:rPr lang="zh-CN" altLang="en-US" sz="2800" b="1" dirty="0">
                <a:solidFill>
                  <a:srgbClr val="FF0000"/>
                </a:solidFill>
                <a:latin typeface="隶书" pitchFamily="49" charset="-122"/>
                <a:ea typeface="隶书" pitchFamily="49" charset="-122"/>
              </a:rPr>
              <a:t>关于正确处理人民内部矛盾问题的讲话</a:t>
            </a:r>
            <a:r>
              <a:rPr lang="en-US" altLang="zh-CN" sz="2800" b="1" dirty="0">
                <a:solidFill>
                  <a:srgbClr val="FF0000"/>
                </a:solidFill>
                <a:latin typeface="隶书" pitchFamily="49" charset="-122"/>
                <a:ea typeface="隶书" pitchFamily="49" charset="-122"/>
              </a:rPr>
              <a:t>》</a:t>
            </a:r>
          </a:p>
          <a:p>
            <a:r>
              <a:rPr lang="zh-CN" altLang="en-US" sz="3600" b="1" dirty="0">
                <a:solidFill>
                  <a:srgbClr val="FF0000"/>
                </a:solidFill>
                <a:latin typeface="黑体" pitchFamily="49" charset="-122"/>
                <a:ea typeface="黑体" pitchFamily="49" charset="-122"/>
              </a:rPr>
              <a:t>         </a:t>
            </a:r>
          </a:p>
          <a:p>
            <a:endParaRPr lang="zh-CN" altLang="en-US" sz="3600" b="1" dirty="0">
              <a:solidFill>
                <a:srgbClr val="FF0000"/>
              </a:solidFill>
              <a:latin typeface="黑体" pitchFamily="49" charset="-122"/>
              <a:ea typeface="黑体" pitchFamily="49" charset="-122"/>
            </a:endParaRPr>
          </a:p>
        </p:txBody>
      </p:sp>
    </p:spTree>
  </p:cSld>
  <p:clrMapOvr>
    <a:masterClrMapping/>
  </p:clrMapOvr>
  <p:transition spd="med">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ChangeArrowheads="1"/>
          </p:cNvSpPr>
          <p:nvPr/>
        </p:nvSpPr>
        <p:spPr bwMode="auto">
          <a:xfrm>
            <a:off x="285720" y="3357562"/>
            <a:ext cx="8569325" cy="2308324"/>
          </a:xfrm>
          <a:prstGeom prst="rect">
            <a:avLst/>
          </a:prstGeom>
          <a:noFill/>
          <a:ln w="9525">
            <a:solidFill>
              <a:srgbClr val="FF0000"/>
            </a:solidFill>
            <a:miter lim="800000"/>
          </a:ln>
        </p:spPr>
        <p:txBody>
          <a:bodyPr>
            <a:spAutoFit/>
          </a:bodyPr>
          <a:lstStyle/>
          <a:p>
            <a:pPr>
              <a:defRPr/>
            </a:pPr>
            <a:r>
              <a:rPr lang="zh-CN" altLang="en-US" sz="3600" b="1" dirty="0" smtClean="0">
                <a:solidFill>
                  <a:srgbClr val="3333FF"/>
                </a:solidFill>
                <a:latin typeface="+mn-ea"/>
              </a:rPr>
              <a:t>毛泽东思想的内容</a:t>
            </a:r>
            <a:endParaRPr lang="en-US" altLang="zh-CN" sz="3600" b="1" dirty="0" smtClean="0">
              <a:solidFill>
                <a:srgbClr val="3333FF"/>
              </a:solidFill>
              <a:latin typeface="+mn-ea"/>
            </a:endParaRPr>
          </a:p>
          <a:p>
            <a:pPr>
              <a:defRPr/>
            </a:pPr>
            <a:endParaRPr lang="en-US" altLang="zh-CN" sz="3600" b="1" dirty="0" smtClean="0">
              <a:solidFill>
                <a:srgbClr val="3333FF"/>
              </a:solidFill>
              <a:latin typeface="+mn-ea"/>
            </a:endParaRPr>
          </a:p>
          <a:p>
            <a:pPr>
              <a:defRPr/>
            </a:pPr>
            <a:r>
              <a:rPr lang="zh-CN" altLang="en-US" sz="3600" b="1" dirty="0" smtClean="0">
                <a:solidFill>
                  <a:srgbClr val="3333FF"/>
                </a:solidFill>
                <a:latin typeface="+mn-ea"/>
              </a:rPr>
              <a:t>毛泽东思想活的灵魂     </a:t>
            </a:r>
            <a:r>
              <a:rPr lang="zh-CN" altLang="en-US" sz="3600" dirty="0" smtClean="0">
                <a:solidFill>
                  <a:srgbClr val="3333FF"/>
                </a:solidFill>
                <a:latin typeface="+mj-ea"/>
                <a:ea typeface="+mj-ea"/>
              </a:rPr>
              <a:t> </a:t>
            </a:r>
            <a:endParaRPr lang="zh-CN" altLang="en-US" sz="3600" dirty="0">
              <a:solidFill>
                <a:srgbClr val="3333FF"/>
              </a:solidFill>
              <a:latin typeface="+mj-ea"/>
              <a:ea typeface="+mj-ea"/>
            </a:endParaRPr>
          </a:p>
          <a:p>
            <a:pPr>
              <a:defRPr/>
            </a:pPr>
            <a:endParaRPr lang="zh-CN" altLang="en-US" sz="3600" dirty="0">
              <a:solidFill>
                <a:srgbClr val="3333FF"/>
              </a:solidFill>
              <a:latin typeface="楷体" panose="02010609060101010101" pitchFamily="49" charset="-122"/>
              <a:ea typeface="楷体" panose="02010609060101010101" pitchFamily="49" charset="-122"/>
            </a:endParaRPr>
          </a:p>
        </p:txBody>
      </p:sp>
      <p:sp>
        <p:nvSpPr>
          <p:cNvPr id="3" name="矩形 2"/>
          <p:cNvSpPr/>
          <p:nvPr/>
        </p:nvSpPr>
        <p:spPr>
          <a:xfrm>
            <a:off x="571472" y="571480"/>
            <a:ext cx="7929618" cy="1323439"/>
          </a:xfrm>
          <a:prstGeom prst="rect">
            <a:avLst/>
          </a:prstGeom>
          <a:ln>
            <a:solidFill>
              <a:schemeClr val="accent1"/>
            </a:solidFill>
          </a:ln>
        </p:spPr>
        <p:txBody>
          <a:bodyPr wrap="square">
            <a:spAutoFit/>
          </a:bodyPr>
          <a:lstStyle/>
          <a:p>
            <a:pPr>
              <a:defRPr/>
            </a:pPr>
            <a:r>
              <a:rPr lang="zh-CN" altLang="en-US" sz="4000" b="1" dirty="0" smtClean="0">
                <a:solidFill>
                  <a:srgbClr val="FF0000"/>
                </a:solidFill>
                <a:latin typeface="+mj-ea"/>
              </a:rPr>
              <a:t>专题二 毛泽东思想的主要内容</a:t>
            </a:r>
            <a:r>
              <a:rPr lang="en-US" altLang="zh-CN" sz="4000" b="1" dirty="0" smtClean="0">
                <a:solidFill>
                  <a:srgbClr val="FF0000"/>
                </a:solidFill>
                <a:latin typeface="+mj-ea"/>
              </a:rPr>
              <a:t>       </a:t>
            </a:r>
          </a:p>
          <a:p>
            <a:pPr>
              <a:defRPr/>
            </a:pPr>
            <a:r>
              <a:rPr lang="en-US" altLang="zh-CN" sz="4000" b="1" dirty="0" smtClean="0">
                <a:solidFill>
                  <a:srgbClr val="FF0000"/>
                </a:solidFill>
                <a:latin typeface="+mj-ea"/>
              </a:rPr>
              <a:t>                </a:t>
            </a:r>
            <a:r>
              <a:rPr lang="zh-CN" altLang="en-US" sz="4000" b="1" dirty="0" smtClean="0">
                <a:solidFill>
                  <a:srgbClr val="FF0000"/>
                </a:solidFill>
                <a:latin typeface="+mj-ea"/>
              </a:rPr>
              <a:t>和活的灵魂</a:t>
            </a:r>
            <a:endParaRPr lang="zh-CN" altLang="en-US" sz="4000" b="1" dirty="0">
              <a:solidFill>
                <a:srgbClr val="FF0000"/>
              </a:solidFill>
              <a:latin typeface="+mj-ea"/>
            </a:endParaRPr>
          </a:p>
        </p:txBody>
      </p:sp>
    </p:spTree>
  </p:cSld>
  <p:clrMapOvr>
    <a:masterClrMapping/>
  </p:clrMapOvr>
  <p:transition spd="med">
    <p:wipe dir="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28662" y="2500306"/>
            <a:ext cx="7215238" cy="523220"/>
          </a:xfrm>
          <a:prstGeom prst="rect">
            <a:avLst/>
          </a:prstGeom>
          <a:ln>
            <a:solidFill>
              <a:schemeClr val="accent1"/>
            </a:solidFill>
          </a:ln>
        </p:spPr>
        <p:txBody>
          <a:bodyPr wrap="square">
            <a:spAutoFit/>
          </a:bodyPr>
          <a:lstStyle/>
          <a:p>
            <a:r>
              <a:rPr lang="en-US" altLang="zh-CN" sz="2800" b="1" dirty="0" smtClean="0">
                <a:latin typeface="+mj-ea"/>
                <a:ea typeface="+mj-ea"/>
              </a:rPr>
              <a:t>1943</a:t>
            </a:r>
            <a:r>
              <a:rPr lang="zh-CN" altLang="en-US" sz="2800" b="1" dirty="0" smtClean="0">
                <a:latin typeface="+mj-ea"/>
                <a:ea typeface="+mj-ea"/>
              </a:rPr>
              <a:t>年</a:t>
            </a:r>
            <a:r>
              <a:rPr lang="en-US" altLang="zh-CN" sz="2800" b="1" dirty="0" smtClean="0">
                <a:latin typeface="+mj-ea"/>
                <a:ea typeface="+mj-ea"/>
              </a:rPr>
              <a:t>《</a:t>
            </a:r>
            <a:r>
              <a:rPr lang="zh-CN" altLang="en-US" sz="2800" b="1" dirty="0" smtClean="0">
                <a:latin typeface="+mj-ea"/>
                <a:ea typeface="+mj-ea"/>
              </a:rPr>
              <a:t>中国共产党与中国民族解放的道路</a:t>
            </a:r>
            <a:r>
              <a:rPr lang="en-US" altLang="zh-CN" sz="2800" b="1" dirty="0" smtClean="0">
                <a:latin typeface="+mj-ea"/>
                <a:ea typeface="+mj-ea"/>
              </a:rPr>
              <a:t>》</a:t>
            </a:r>
            <a:r>
              <a:rPr lang="zh-CN" altLang="en-US" sz="2800" b="1" dirty="0" smtClean="0">
                <a:solidFill>
                  <a:srgbClr val="0000FF"/>
                </a:solidFill>
                <a:latin typeface="+mj-ea"/>
                <a:ea typeface="+mj-ea"/>
              </a:rPr>
              <a:t>   </a:t>
            </a:r>
            <a:endParaRPr lang="zh-CN" altLang="en-US" sz="2800" b="1" dirty="0">
              <a:solidFill>
                <a:srgbClr val="0000FF"/>
              </a:solidFill>
              <a:latin typeface="+mj-ea"/>
              <a:ea typeface="+mj-ea"/>
            </a:endParaRPr>
          </a:p>
        </p:txBody>
      </p:sp>
      <p:sp>
        <p:nvSpPr>
          <p:cNvPr id="4" name="矩形 3"/>
          <p:cNvSpPr/>
          <p:nvPr/>
        </p:nvSpPr>
        <p:spPr>
          <a:xfrm>
            <a:off x="714348" y="1428736"/>
            <a:ext cx="5540299" cy="584775"/>
          </a:xfrm>
          <a:prstGeom prst="rect">
            <a:avLst/>
          </a:prstGeom>
          <a:ln>
            <a:solidFill>
              <a:schemeClr val="accent1"/>
            </a:solidFill>
          </a:ln>
        </p:spPr>
        <p:txBody>
          <a:bodyPr wrap="none">
            <a:spAutoFit/>
          </a:bodyPr>
          <a:lstStyle/>
          <a:p>
            <a:r>
              <a:rPr lang="zh-CN" altLang="en-US" sz="3200" b="1" dirty="0" smtClean="0">
                <a:solidFill>
                  <a:srgbClr val="0000FF"/>
                </a:solidFill>
                <a:latin typeface="黑体" pitchFamily="49" charset="-122"/>
                <a:ea typeface="黑体" pitchFamily="49" charset="-122"/>
              </a:rPr>
              <a:t>最早提出毛泽东思想概念的是</a:t>
            </a:r>
            <a:endParaRPr lang="zh-CN" altLang="en-US" sz="3200" b="1" dirty="0">
              <a:solidFill>
                <a:srgbClr val="0000FF"/>
              </a:solidFill>
              <a:latin typeface="黑体" pitchFamily="49" charset="-122"/>
              <a:ea typeface="黑体" pitchFamily="49" charset="-122"/>
            </a:endParaRPr>
          </a:p>
        </p:txBody>
      </p:sp>
      <p:sp>
        <p:nvSpPr>
          <p:cNvPr id="5" name="矩形 4"/>
          <p:cNvSpPr/>
          <p:nvPr/>
        </p:nvSpPr>
        <p:spPr>
          <a:xfrm>
            <a:off x="7000892" y="1428736"/>
            <a:ext cx="1420582" cy="584775"/>
          </a:xfrm>
          <a:prstGeom prst="rect">
            <a:avLst/>
          </a:prstGeom>
          <a:ln>
            <a:solidFill>
              <a:schemeClr val="accent1"/>
            </a:solidFill>
          </a:ln>
        </p:spPr>
        <p:txBody>
          <a:bodyPr wrap="none">
            <a:spAutoFit/>
          </a:bodyPr>
          <a:lstStyle/>
          <a:p>
            <a:r>
              <a:rPr lang="zh-CN" altLang="en-US" sz="3200" b="1" dirty="0" smtClean="0">
                <a:solidFill>
                  <a:srgbClr val="0000FF"/>
                </a:solidFill>
                <a:latin typeface="黑体" pitchFamily="49" charset="-122"/>
                <a:ea typeface="黑体" pitchFamily="49" charset="-122"/>
              </a:rPr>
              <a:t>王稼祥</a:t>
            </a:r>
          </a:p>
        </p:txBody>
      </p:sp>
      <p:sp>
        <p:nvSpPr>
          <p:cNvPr id="6" name="右箭头 5"/>
          <p:cNvSpPr/>
          <p:nvPr/>
        </p:nvSpPr>
        <p:spPr>
          <a:xfrm>
            <a:off x="6357950" y="1500174"/>
            <a:ext cx="571504" cy="2857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000100" y="3071810"/>
            <a:ext cx="7143800" cy="1323439"/>
          </a:xfrm>
          <a:prstGeom prst="rect">
            <a:avLst/>
          </a:prstGeom>
          <a:ln>
            <a:solidFill>
              <a:schemeClr val="accent1"/>
            </a:solidFill>
          </a:ln>
        </p:spPr>
        <p:txBody>
          <a:bodyPr wrap="square">
            <a:spAutoFit/>
          </a:bodyPr>
          <a:lstStyle/>
          <a:p>
            <a:r>
              <a:rPr lang="zh-CN" altLang="en-US" sz="2000" dirty="0" smtClean="0">
                <a:latin typeface="黑体" pitchFamily="49" charset="-122"/>
                <a:ea typeface="黑体" pitchFamily="49" charset="-122"/>
              </a:rPr>
              <a:t>“毛泽东思想与中国共产党的民族解放的正确道路是在与国外国内敌人的斗争中，同时又与共产党内部错误思想的斗争中生长、发展与成熟起来的”。毛泽东思想“是马克思列宁主义与中国革命运动实际经验相结合的结果。”</a:t>
            </a:r>
            <a:endParaRPr lang="zh-CN" altLang="en-US" sz="2000" dirty="0">
              <a:latin typeface="黑体" pitchFamily="49" charset="-122"/>
              <a:ea typeface="黑体" pitchFamily="49" charset="-122"/>
            </a:endParaRPr>
          </a:p>
        </p:txBody>
      </p:sp>
      <p:sp>
        <p:nvSpPr>
          <p:cNvPr id="8" name="矩形 7"/>
          <p:cNvSpPr/>
          <p:nvPr/>
        </p:nvSpPr>
        <p:spPr>
          <a:xfrm>
            <a:off x="1142976" y="4929198"/>
            <a:ext cx="6929486" cy="954107"/>
          </a:xfrm>
          <a:prstGeom prst="rect">
            <a:avLst/>
          </a:prstGeom>
          <a:solidFill>
            <a:schemeClr val="bg1"/>
          </a:solidFill>
          <a:ln>
            <a:solidFill>
              <a:schemeClr val="accent1"/>
            </a:solidFill>
          </a:ln>
        </p:spPr>
        <p:txBody>
          <a:bodyPr wrap="square">
            <a:spAutoFit/>
          </a:bodyPr>
          <a:lstStyle/>
          <a:p>
            <a:r>
              <a:rPr lang="en-US" altLang="zh-CN" sz="2800" b="1" dirty="0" smtClean="0">
                <a:solidFill>
                  <a:srgbClr val="FF0000"/>
                </a:solidFill>
                <a:latin typeface="黑体" pitchFamily="49" charset="-122"/>
                <a:ea typeface="黑体" pitchFamily="49" charset="-122"/>
              </a:rPr>
              <a:t>1945</a:t>
            </a:r>
            <a:r>
              <a:rPr lang="zh-CN" altLang="en-US" sz="2800" b="1" dirty="0" smtClean="0">
                <a:solidFill>
                  <a:srgbClr val="FF0000"/>
                </a:solidFill>
                <a:latin typeface="黑体" pitchFamily="49" charset="-122"/>
                <a:ea typeface="黑体" pitchFamily="49" charset="-122"/>
              </a:rPr>
              <a:t>年召开的党的七大，把毛泽东思想作为党的指导思想确定下来，并写入党章。</a:t>
            </a:r>
            <a:endParaRPr lang="zh-CN" altLang="en-US" sz="2800" b="1" dirty="0">
              <a:solidFill>
                <a:srgbClr val="FF0000"/>
              </a:solidFill>
              <a:latin typeface="黑体" pitchFamily="49" charset="-122"/>
              <a:ea typeface="黑体" pitchFamily="49" charset="-122"/>
            </a:endParaRPr>
          </a:p>
        </p:txBody>
      </p:sp>
    </p:spTree>
  </p:cSld>
  <p:clrMapOvr>
    <a:masterClrMapping/>
  </p:clrMapOvr>
  <p:transition spd="med">
    <p:wipe dir="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ChangeArrowheads="1"/>
          </p:cNvSpPr>
          <p:nvPr/>
        </p:nvSpPr>
        <p:spPr bwMode="auto">
          <a:xfrm>
            <a:off x="214282" y="2928934"/>
            <a:ext cx="8569325" cy="3231654"/>
          </a:xfrm>
          <a:prstGeom prst="rect">
            <a:avLst/>
          </a:prstGeom>
          <a:noFill/>
          <a:ln w="9525">
            <a:solidFill>
              <a:srgbClr val="FF0000"/>
            </a:solidFill>
            <a:miter lim="800000"/>
          </a:ln>
        </p:spPr>
        <p:txBody>
          <a:bodyPr>
            <a:spAutoFit/>
          </a:bodyPr>
          <a:lstStyle/>
          <a:p>
            <a:pPr>
              <a:defRPr/>
            </a:pPr>
            <a:r>
              <a:rPr lang="zh-CN" altLang="en-US" sz="3600" dirty="0">
                <a:solidFill>
                  <a:srgbClr val="0000FF"/>
                </a:solidFill>
                <a:latin typeface="+mj-ea"/>
                <a:ea typeface="+mj-ea"/>
              </a:rPr>
              <a:t> </a:t>
            </a:r>
            <a:r>
              <a:rPr lang="zh-CN" altLang="en-US" sz="3600" dirty="0" smtClean="0">
                <a:solidFill>
                  <a:srgbClr val="0000FF"/>
                </a:solidFill>
                <a:latin typeface="+mj-ea"/>
                <a:ea typeface="+mj-ea"/>
              </a:rPr>
              <a:t>   毛泽东思想</a:t>
            </a:r>
            <a:r>
              <a:rPr lang="zh-CN" altLang="en-US" sz="3600" dirty="0">
                <a:solidFill>
                  <a:srgbClr val="0000FF"/>
                </a:solidFill>
                <a:latin typeface="+mj-ea"/>
                <a:ea typeface="+mj-ea"/>
              </a:rPr>
              <a:t>是马列主义普遍原理同中国革命具体实践相结合的产物，</a:t>
            </a:r>
            <a:r>
              <a:rPr lang="zh-CN" altLang="en-US" sz="3600" dirty="0">
                <a:solidFill>
                  <a:srgbClr val="FF0000"/>
                </a:solidFill>
                <a:latin typeface="隶书" pitchFamily="49" charset="-122"/>
                <a:ea typeface="隶书" pitchFamily="49" charset="-122"/>
              </a:rPr>
              <a:t>是马列主义在中国的运用和发展，是被实践证明了的关于中国革命和建设的正确理论原则和经验总结，是中国共产党集体智慧的</a:t>
            </a:r>
            <a:r>
              <a:rPr lang="zh-CN" altLang="en-US" sz="3600" dirty="0" smtClean="0">
                <a:solidFill>
                  <a:srgbClr val="FF0000"/>
                </a:solidFill>
                <a:latin typeface="隶书" pitchFamily="49" charset="-122"/>
                <a:ea typeface="隶书" pitchFamily="49" charset="-122"/>
              </a:rPr>
              <a:t>结晶</a:t>
            </a:r>
            <a:endParaRPr lang="en-US" altLang="zh-CN" sz="3600" dirty="0" smtClean="0">
              <a:solidFill>
                <a:srgbClr val="FF0000"/>
              </a:solidFill>
              <a:latin typeface="隶书" pitchFamily="49" charset="-122"/>
              <a:ea typeface="隶书" pitchFamily="49" charset="-122"/>
            </a:endParaRPr>
          </a:p>
          <a:p>
            <a:pPr>
              <a:defRPr/>
            </a:pPr>
            <a:r>
              <a:rPr lang="en-US" altLang="zh-CN" sz="2400" dirty="0" smtClean="0">
                <a:solidFill>
                  <a:srgbClr val="FF0000"/>
                </a:solidFill>
                <a:latin typeface="隶书" pitchFamily="49" charset="-122"/>
                <a:ea typeface="隶书" pitchFamily="49" charset="-122"/>
              </a:rPr>
              <a:t>               —— 《</a:t>
            </a:r>
            <a:r>
              <a:rPr lang="zh-CN" altLang="en-US" sz="2400" dirty="0" smtClean="0">
                <a:solidFill>
                  <a:srgbClr val="FF0000"/>
                </a:solidFill>
                <a:latin typeface="隶书" pitchFamily="49" charset="-122"/>
                <a:ea typeface="隶书" pitchFamily="49" charset="-122"/>
              </a:rPr>
              <a:t>决议</a:t>
            </a:r>
            <a:r>
              <a:rPr lang="en-US" altLang="zh-CN" sz="2400" dirty="0" smtClean="0">
                <a:solidFill>
                  <a:srgbClr val="FF0000"/>
                </a:solidFill>
                <a:latin typeface="隶书" pitchFamily="49" charset="-122"/>
                <a:ea typeface="隶书" pitchFamily="49" charset="-122"/>
              </a:rPr>
              <a:t>》</a:t>
            </a:r>
            <a:r>
              <a:rPr lang="zh-CN" altLang="en-US" sz="2400" dirty="0" smtClean="0">
                <a:solidFill>
                  <a:srgbClr val="FF0000"/>
                </a:solidFill>
                <a:latin typeface="隶书" pitchFamily="49" charset="-122"/>
                <a:ea typeface="隶书" pitchFamily="49" charset="-122"/>
              </a:rPr>
              <a:t>和十二大党章</a:t>
            </a:r>
            <a:endParaRPr lang="zh-CN" altLang="en-US" sz="2400" dirty="0">
              <a:solidFill>
                <a:srgbClr val="0000FF"/>
              </a:solidFill>
              <a:latin typeface="楷体" panose="02010609060101010101" pitchFamily="49" charset="-122"/>
              <a:ea typeface="楷体" panose="02010609060101010101" pitchFamily="49" charset="-122"/>
            </a:endParaRPr>
          </a:p>
        </p:txBody>
      </p:sp>
      <p:sp>
        <p:nvSpPr>
          <p:cNvPr id="3" name="矩形 2"/>
          <p:cNvSpPr/>
          <p:nvPr/>
        </p:nvSpPr>
        <p:spPr>
          <a:xfrm>
            <a:off x="785786" y="571480"/>
            <a:ext cx="6465231" cy="707886"/>
          </a:xfrm>
          <a:prstGeom prst="rect">
            <a:avLst/>
          </a:prstGeom>
          <a:solidFill>
            <a:schemeClr val="bg1"/>
          </a:solidFill>
          <a:ln>
            <a:solidFill>
              <a:schemeClr val="accent1"/>
            </a:solidFill>
          </a:ln>
        </p:spPr>
        <p:txBody>
          <a:bodyPr wrap="none">
            <a:spAutoFit/>
          </a:bodyPr>
          <a:lstStyle/>
          <a:p>
            <a:pPr>
              <a:defRPr/>
            </a:pPr>
            <a:r>
              <a:rPr lang="zh-CN" altLang="en-US" sz="4000" b="1" dirty="0" smtClean="0">
                <a:solidFill>
                  <a:srgbClr val="FF0000"/>
                </a:solidFill>
                <a:latin typeface="华文琥珀" pitchFamily="2" charset="-122"/>
                <a:ea typeface="华文琥珀" pitchFamily="2" charset="-122"/>
              </a:rPr>
              <a:t>一 、毛泽东思想的科学含义</a:t>
            </a:r>
            <a:endParaRPr lang="zh-CN" altLang="en-US" sz="4000" b="1" dirty="0">
              <a:solidFill>
                <a:srgbClr val="FF0000"/>
              </a:solidFill>
              <a:latin typeface="华文琥珀" pitchFamily="2" charset="-122"/>
              <a:ea typeface="华文琥珀" pitchFamily="2" charset="-122"/>
            </a:endParaRPr>
          </a:p>
        </p:txBody>
      </p:sp>
      <p:sp>
        <p:nvSpPr>
          <p:cNvPr id="4" name="矩形 3"/>
          <p:cNvSpPr/>
          <p:nvPr/>
        </p:nvSpPr>
        <p:spPr>
          <a:xfrm>
            <a:off x="214282" y="1714488"/>
            <a:ext cx="8501122" cy="1200329"/>
          </a:xfrm>
          <a:prstGeom prst="rect">
            <a:avLst/>
          </a:prstGeom>
          <a:ln>
            <a:solidFill>
              <a:srgbClr val="FF0000"/>
            </a:solidFill>
          </a:ln>
        </p:spPr>
        <p:txBody>
          <a:bodyPr wrap="square">
            <a:spAutoFit/>
          </a:bodyPr>
          <a:lstStyle/>
          <a:p>
            <a:r>
              <a:rPr lang="zh-CN" altLang="en-US" sz="3600" dirty="0" smtClean="0">
                <a:latin typeface="隶书" pitchFamily="49" charset="-122"/>
                <a:ea typeface="隶书" pitchFamily="49" charset="-122"/>
              </a:rPr>
              <a:t>    毛泽东思想是马克思主义中国化第一次历史性飞跃的理论成果</a:t>
            </a:r>
            <a:endParaRPr lang="zh-CN" altLang="en-US" sz="3600" dirty="0">
              <a:latin typeface="隶书" pitchFamily="49" charset="-122"/>
              <a:ea typeface="隶书" pitchFamily="49" charset="-122"/>
            </a:endParaRPr>
          </a:p>
        </p:txBody>
      </p:sp>
    </p:spTree>
  </p:cSld>
  <p:clrMapOvr>
    <a:masterClrMapping/>
  </p:clrMapOvr>
  <p:transition spd="med">
    <p:wipe dir="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ChangeArrowheads="1"/>
          </p:cNvSpPr>
          <p:nvPr/>
        </p:nvSpPr>
        <p:spPr bwMode="auto">
          <a:xfrm>
            <a:off x="642910" y="428604"/>
            <a:ext cx="7416800" cy="2308324"/>
          </a:xfrm>
          <a:prstGeom prst="rect">
            <a:avLst/>
          </a:prstGeom>
          <a:noFill/>
          <a:ln w="9525">
            <a:solidFill>
              <a:srgbClr val="FF0000"/>
            </a:solidFill>
            <a:miter lim="800000"/>
            <a:headEnd/>
            <a:tailEnd/>
          </a:ln>
        </p:spPr>
        <p:txBody>
          <a:bodyPr>
            <a:spAutoFit/>
          </a:bodyPr>
          <a:lstStyle/>
          <a:p>
            <a:r>
              <a:rPr lang="zh-CN" altLang="en-US" sz="3600" b="1" dirty="0">
                <a:solidFill>
                  <a:srgbClr val="0000FF"/>
                </a:solidFill>
                <a:latin typeface="黑体" pitchFamily="49" charset="-122"/>
                <a:ea typeface="黑体" pitchFamily="49" charset="-122"/>
              </a:rPr>
              <a:t>    第一，是马克思列宁主义在中国的</a:t>
            </a:r>
            <a:r>
              <a:rPr lang="zh-CN" altLang="en-US" sz="3600" b="1" dirty="0">
                <a:solidFill>
                  <a:srgbClr val="FF0000"/>
                </a:solidFill>
                <a:latin typeface="黑体" pitchFamily="49" charset="-122"/>
                <a:ea typeface="黑体" pitchFamily="49" charset="-122"/>
              </a:rPr>
              <a:t>运用和发展</a:t>
            </a:r>
            <a:r>
              <a:rPr lang="zh-CN" altLang="en-US" sz="3600" b="1" dirty="0" smtClean="0">
                <a:solidFill>
                  <a:srgbClr val="0000FF"/>
                </a:solidFill>
                <a:latin typeface="黑体" pitchFamily="49" charset="-122"/>
                <a:ea typeface="黑体" pitchFamily="49" charset="-122"/>
              </a:rPr>
              <a:t>。</a:t>
            </a:r>
            <a:endParaRPr lang="en-US" altLang="zh-CN" sz="3600" b="1" dirty="0" smtClean="0">
              <a:solidFill>
                <a:srgbClr val="0000FF"/>
              </a:solidFill>
              <a:latin typeface="黑体" pitchFamily="49" charset="-122"/>
              <a:ea typeface="黑体" pitchFamily="49" charset="-122"/>
            </a:endParaRPr>
          </a:p>
          <a:p>
            <a:r>
              <a:rPr lang="en-US" altLang="zh-CN" sz="3600" b="1" dirty="0" smtClean="0">
                <a:solidFill>
                  <a:srgbClr val="0000FF"/>
                </a:solidFill>
                <a:latin typeface="黑体" pitchFamily="49" charset="-122"/>
                <a:ea typeface="黑体" pitchFamily="49" charset="-122"/>
              </a:rPr>
              <a:t>    </a:t>
            </a:r>
            <a:r>
              <a:rPr lang="zh-CN" altLang="en-US" sz="3600" b="1" dirty="0" smtClean="0">
                <a:solidFill>
                  <a:srgbClr val="0000FF"/>
                </a:solidFill>
                <a:latin typeface="黑体" pitchFamily="49" charset="-122"/>
                <a:ea typeface="黑体" pitchFamily="49" charset="-122"/>
              </a:rPr>
              <a:t>理论</a:t>
            </a:r>
            <a:r>
              <a:rPr lang="zh-CN" altLang="en-US" sz="3600" b="1" dirty="0">
                <a:solidFill>
                  <a:srgbClr val="0000FF"/>
                </a:solidFill>
                <a:latin typeface="黑体" pitchFamily="49" charset="-122"/>
                <a:ea typeface="黑体" pitchFamily="49" charset="-122"/>
              </a:rPr>
              <a:t>与本源的</a:t>
            </a:r>
            <a:r>
              <a:rPr lang="zh-CN" altLang="en-US" sz="3600" b="1" dirty="0" smtClean="0">
                <a:solidFill>
                  <a:srgbClr val="0000FF"/>
                </a:solidFill>
                <a:latin typeface="黑体" pitchFamily="49" charset="-122"/>
                <a:ea typeface="黑体" pitchFamily="49" charset="-122"/>
              </a:rPr>
              <a:t>关系是</a:t>
            </a:r>
            <a:r>
              <a:rPr lang="zh-CN" altLang="en-US" sz="3600" b="1" dirty="0" smtClean="0">
                <a:solidFill>
                  <a:srgbClr val="FF0000"/>
                </a:solidFill>
                <a:latin typeface="黑体" pitchFamily="49" charset="-122"/>
                <a:ea typeface="黑体" pitchFamily="49" charset="-122"/>
              </a:rPr>
              <a:t>一脉相承</a:t>
            </a:r>
            <a:r>
              <a:rPr lang="zh-CN" altLang="en-US" sz="3600" b="1" dirty="0" smtClean="0">
                <a:solidFill>
                  <a:srgbClr val="0000FF"/>
                </a:solidFill>
                <a:latin typeface="黑体" pitchFamily="49" charset="-122"/>
                <a:ea typeface="黑体" pitchFamily="49" charset="-122"/>
              </a:rPr>
              <a:t>的</a:t>
            </a:r>
            <a:endParaRPr lang="zh-CN" altLang="en-US" sz="3600" b="1" dirty="0">
              <a:solidFill>
                <a:srgbClr val="0000FF"/>
              </a:solidFill>
              <a:latin typeface="黑体" pitchFamily="49" charset="-122"/>
              <a:ea typeface="黑体" pitchFamily="49" charset="-122"/>
            </a:endParaRPr>
          </a:p>
        </p:txBody>
      </p:sp>
      <p:sp>
        <p:nvSpPr>
          <p:cNvPr id="4" name="Rectangle 2"/>
          <p:cNvSpPr>
            <a:spLocks noChangeArrowheads="1"/>
          </p:cNvSpPr>
          <p:nvPr/>
        </p:nvSpPr>
        <p:spPr bwMode="auto">
          <a:xfrm>
            <a:off x="714348" y="2857496"/>
            <a:ext cx="7561262" cy="1754326"/>
          </a:xfrm>
          <a:prstGeom prst="rect">
            <a:avLst/>
          </a:prstGeom>
          <a:noFill/>
          <a:ln w="9525">
            <a:solidFill>
              <a:srgbClr val="FF0000"/>
            </a:solidFill>
            <a:miter lim="800000"/>
            <a:headEnd/>
            <a:tailEnd/>
          </a:ln>
        </p:spPr>
        <p:txBody>
          <a:bodyPr>
            <a:spAutoFit/>
          </a:bodyPr>
          <a:lstStyle/>
          <a:p>
            <a:r>
              <a:rPr lang="zh-CN" altLang="en-US" sz="3600" b="1" dirty="0">
                <a:solidFill>
                  <a:srgbClr val="FF0000"/>
                </a:solidFill>
                <a:latin typeface="黑体" pitchFamily="49" charset="-122"/>
                <a:ea typeface="黑体" pitchFamily="49" charset="-122"/>
              </a:rPr>
              <a:t>     第二， </a:t>
            </a:r>
            <a:r>
              <a:rPr lang="zh-CN" altLang="en-US" sz="3600" b="1" dirty="0">
                <a:solidFill>
                  <a:srgbClr val="0000FF"/>
                </a:solidFill>
                <a:latin typeface="黑体" pitchFamily="49" charset="-122"/>
                <a:ea typeface="黑体" pitchFamily="49" charset="-122"/>
              </a:rPr>
              <a:t>是</a:t>
            </a:r>
            <a:r>
              <a:rPr lang="zh-CN" altLang="en-US" sz="3600" b="1" dirty="0">
                <a:solidFill>
                  <a:srgbClr val="FF0000"/>
                </a:solidFill>
                <a:latin typeface="黑体" pitchFamily="49" charset="-122"/>
                <a:ea typeface="黑体" pitchFamily="49" charset="-122"/>
              </a:rPr>
              <a:t>被实践证明</a:t>
            </a:r>
            <a:r>
              <a:rPr lang="zh-CN" altLang="en-US" sz="3600" b="1" dirty="0">
                <a:solidFill>
                  <a:srgbClr val="0000FF"/>
                </a:solidFill>
                <a:latin typeface="黑体" pitchFamily="49" charset="-122"/>
                <a:ea typeface="黑体" pitchFamily="49" charset="-122"/>
              </a:rPr>
              <a:t>了的关于中国革命和建设的</a:t>
            </a:r>
            <a:r>
              <a:rPr lang="zh-CN" altLang="en-US" sz="3600" b="1" dirty="0">
                <a:solidFill>
                  <a:srgbClr val="FF0000"/>
                </a:solidFill>
                <a:latin typeface="黑体" pitchFamily="49" charset="-122"/>
                <a:ea typeface="黑体" pitchFamily="49" charset="-122"/>
              </a:rPr>
              <a:t>正确的</a:t>
            </a:r>
            <a:r>
              <a:rPr lang="zh-CN" altLang="en-US" sz="3600" b="1" dirty="0">
                <a:solidFill>
                  <a:srgbClr val="0000FF"/>
                </a:solidFill>
                <a:latin typeface="黑体" pitchFamily="49" charset="-122"/>
                <a:ea typeface="黑体" pitchFamily="49" charset="-122"/>
              </a:rPr>
              <a:t>理论原则和经验总结。</a:t>
            </a:r>
            <a:r>
              <a:rPr lang="zh-CN" altLang="en-US" sz="3600" b="1" dirty="0">
                <a:solidFill>
                  <a:srgbClr val="FF0000"/>
                </a:solidFill>
                <a:latin typeface="黑体" pitchFamily="49" charset="-122"/>
                <a:ea typeface="黑体" pitchFamily="49" charset="-122"/>
              </a:rPr>
              <a:t>理论与实践的</a:t>
            </a:r>
            <a:r>
              <a:rPr lang="zh-CN" altLang="en-US" sz="3600" b="1" dirty="0" smtClean="0">
                <a:solidFill>
                  <a:srgbClr val="FF0000"/>
                </a:solidFill>
                <a:latin typeface="黑体" pitchFamily="49" charset="-122"/>
                <a:ea typeface="黑体" pitchFamily="49" charset="-122"/>
              </a:rPr>
              <a:t>关系</a:t>
            </a:r>
            <a:endParaRPr lang="zh-CN" altLang="en-US" sz="3600" b="1" dirty="0">
              <a:solidFill>
                <a:srgbClr val="FF0000"/>
              </a:solidFill>
              <a:latin typeface="黑体" pitchFamily="49" charset="-122"/>
              <a:ea typeface="黑体" pitchFamily="49" charset="-122"/>
            </a:endParaRPr>
          </a:p>
        </p:txBody>
      </p:sp>
      <p:sp>
        <p:nvSpPr>
          <p:cNvPr id="5" name="Rectangle 2"/>
          <p:cNvSpPr>
            <a:spLocks noChangeArrowheads="1"/>
          </p:cNvSpPr>
          <p:nvPr/>
        </p:nvSpPr>
        <p:spPr bwMode="auto">
          <a:xfrm>
            <a:off x="714348" y="4857760"/>
            <a:ext cx="7643866" cy="1754326"/>
          </a:xfrm>
          <a:prstGeom prst="rect">
            <a:avLst/>
          </a:prstGeom>
          <a:noFill/>
          <a:ln w="9525">
            <a:solidFill>
              <a:srgbClr val="FF0000"/>
            </a:solidFill>
            <a:miter lim="800000"/>
            <a:headEnd/>
            <a:tailEnd/>
          </a:ln>
        </p:spPr>
        <p:txBody>
          <a:bodyPr wrap="square">
            <a:spAutoFit/>
          </a:bodyPr>
          <a:lstStyle/>
          <a:p>
            <a:r>
              <a:rPr lang="zh-CN" altLang="en-US" sz="3600" b="1" dirty="0">
                <a:solidFill>
                  <a:srgbClr val="0000FF"/>
                </a:solidFill>
                <a:latin typeface="黑体" pitchFamily="49" charset="-122"/>
                <a:ea typeface="黑体" pitchFamily="49" charset="-122"/>
              </a:rPr>
              <a:t>    </a:t>
            </a:r>
            <a:r>
              <a:rPr lang="zh-CN" altLang="en-US" sz="3600" b="1" dirty="0">
                <a:solidFill>
                  <a:srgbClr val="FF0000"/>
                </a:solidFill>
                <a:latin typeface="黑体" pitchFamily="49" charset="-122"/>
                <a:ea typeface="黑体" pitchFamily="49" charset="-122"/>
              </a:rPr>
              <a:t>第三</a:t>
            </a:r>
            <a:r>
              <a:rPr lang="zh-CN" altLang="en-US" sz="3600" b="1" dirty="0">
                <a:solidFill>
                  <a:srgbClr val="0000FF"/>
                </a:solidFill>
                <a:latin typeface="黑体" pitchFamily="49" charset="-122"/>
                <a:ea typeface="黑体" pitchFamily="49" charset="-122"/>
              </a:rPr>
              <a:t>， 是中国共产党</a:t>
            </a:r>
            <a:r>
              <a:rPr lang="zh-CN" altLang="en-US" sz="3600" b="1" dirty="0">
                <a:solidFill>
                  <a:srgbClr val="FF0000"/>
                </a:solidFill>
                <a:latin typeface="黑体" pitchFamily="49" charset="-122"/>
                <a:ea typeface="黑体" pitchFamily="49" charset="-122"/>
              </a:rPr>
              <a:t>集体智慧</a:t>
            </a:r>
            <a:r>
              <a:rPr lang="zh-CN" altLang="en-US" sz="3600" b="1" dirty="0">
                <a:solidFill>
                  <a:srgbClr val="0000FF"/>
                </a:solidFill>
                <a:latin typeface="黑体" pitchFamily="49" charset="-122"/>
                <a:ea typeface="黑体" pitchFamily="49" charset="-122"/>
              </a:rPr>
              <a:t>的结晶</a:t>
            </a:r>
            <a:r>
              <a:rPr lang="zh-CN" altLang="en-US" sz="3600" b="1" dirty="0" smtClean="0">
                <a:solidFill>
                  <a:srgbClr val="0000FF"/>
                </a:solidFill>
                <a:latin typeface="黑体" pitchFamily="49" charset="-122"/>
                <a:ea typeface="黑体" pitchFamily="49" charset="-122"/>
              </a:rPr>
              <a:t>。毛泽东</a:t>
            </a:r>
            <a:r>
              <a:rPr lang="zh-CN" altLang="en-US" sz="3600" b="1" dirty="0">
                <a:solidFill>
                  <a:srgbClr val="FF0000"/>
                </a:solidFill>
                <a:latin typeface="黑体" pitchFamily="49" charset="-122"/>
                <a:ea typeface="黑体" pitchFamily="49" charset="-122"/>
              </a:rPr>
              <a:t>个人同党的领导集体</a:t>
            </a:r>
            <a:r>
              <a:rPr lang="zh-CN" altLang="en-US" sz="3600" b="1" dirty="0">
                <a:solidFill>
                  <a:srgbClr val="0000FF"/>
                </a:solidFill>
                <a:latin typeface="黑体" pitchFamily="49" charset="-122"/>
                <a:ea typeface="黑体" pitchFamily="49" charset="-122"/>
              </a:rPr>
              <a:t>的关系</a:t>
            </a:r>
            <a:r>
              <a:rPr lang="zh-CN" altLang="en-US" sz="3600" b="1" dirty="0" smtClean="0">
                <a:solidFill>
                  <a:srgbClr val="0000FF"/>
                </a:solidFill>
                <a:latin typeface="黑体" pitchFamily="49" charset="-122"/>
                <a:ea typeface="黑体" pitchFamily="49" charset="-122"/>
              </a:rPr>
              <a:t>。</a:t>
            </a:r>
            <a:r>
              <a:rPr lang="zh-CN" altLang="en-US" sz="3600" b="1" dirty="0" smtClean="0">
                <a:solidFill>
                  <a:srgbClr val="FF0000"/>
                </a:solidFill>
                <a:latin typeface="黑体" pitchFamily="49" charset="-122"/>
                <a:ea typeface="黑体" pitchFamily="49" charset="-122"/>
              </a:rPr>
              <a:t>毛泽东是主要创立者</a:t>
            </a:r>
            <a:endParaRPr lang="zh-CN" altLang="en-US" sz="3600" b="1" dirty="0">
              <a:solidFill>
                <a:srgbClr val="0000FF"/>
              </a:solidFill>
              <a:latin typeface="黑体" pitchFamily="49" charset="-122"/>
              <a:ea typeface="黑体" pitchFamily="49" charset="-122"/>
            </a:endParaRPr>
          </a:p>
        </p:txBody>
      </p:sp>
      <p:pic>
        <p:nvPicPr>
          <p:cNvPr id="6" name="《正道沧桑——社会主义500年》 第三十五集 历史决议.mp4">
            <a:hlinkClick r:id="" action="ppaction://media"/>
          </p:cNvPr>
          <p:cNvPicPr>
            <a:picLocks noRot="1" noChangeAspect="1"/>
          </p:cNvPicPr>
          <p:nvPr>
            <a:videoFile r:link="rId1"/>
          </p:nvPr>
        </p:nvPicPr>
        <p:blipFill>
          <a:blip r:embed="rId3" cstate="print"/>
          <a:stretch>
            <a:fillRect/>
          </a:stretch>
        </p:blipFill>
        <p:spPr>
          <a:xfrm>
            <a:off x="642910" y="571480"/>
            <a:ext cx="7786742" cy="6072230"/>
          </a:xfrm>
          <a:prstGeom prst="rect">
            <a:avLst/>
          </a:prstGeom>
        </p:spPr>
      </p:pic>
    </p:spTree>
  </p:cSld>
  <p:clrMapOvr>
    <a:masterClrMapping/>
  </p:clrMapOvr>
  <p:transition spd="med">
    <p:wipe dir="r"/>
  </p:transition>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6"/>
                                        </p:tgtEl>
                                      </p:cBhvr>
                                    </p:cmd>
                                  </p:childTnLst>
                                </p:cTn>
                              </p:par>
                            </p:childTnLst>
                          </p:cTn>
                        </p:par>
                      </p:childTnLst>
                    </p:cTn>
                  </p:par>
                </p:childTnLst>
              </p:cTn>
              <p:nextCondLst>
                <p:cond evt="onClick" delay="0">
                  <p:tgtEl>
                    <p:spTgt spid="6"/>
                  </p:tgtEl>
                </p:cond>
              </p:nextCondLst>
            </p:seq>
            <p:video>
              <p:cMediaNode>
                <p:cTn id="7" fill="hold" display="0">
                  <p:stCondLst>
                    <p:cond delay="indefinite"/>
                  </p:stCondLst>
                  <p:endCondLst>
                    <p:cond evt="onNext" delay="0">
                      <p:tgtEl>
                        <p:sldTgt/>
                      </p:tgtEl>
                    </p:cond>
                    <p:cond evt="onPrev" delay="0">
                      <p:tgtEl>
                        <p:sldTgt/>
                      </p:tgtEl>
                    </p:cond>
                  </p:endCondLst>
                </p:cTn>
                <p:tgtEl>
                  <p:spTgt spid="6"/>
                </p:tgtEl>
              </p:cMediaNode>
            </p:video>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ChangeArrowheads="1"/>
          </p:cNvSpPr>
          <p:nvPr/>
        </p:nvSpPr>
        <p:spPr bwMode="auto">
          <a:xfrm>
            <a:off x="642910" y="428604"/>
            <a:ext cx="7416800" cy="2308324"/>
          </a:xfrm>
          <a:prstGeom prst="rect">
            <a:avLst/>
          </a:prstGeom>
          <a:noFill/>
          <a:ln w="9525">
            <a:solidFill>
              <a:srgbClr val="FF0000"/>
            </a:solidFill>
            <a:miter lim="800000"/>
            <a:headEnd/>
            <a:tailEnd/>
          </a:ln>
        </p:spPr>
        <p:txBody>
          <a:bodyPr>
            <a:spAutoFit/>
          </a:bodyPr>
          <a:lstStyle/>
          <a:p>
            <a:r>
              <a:rPr lang="zh-CN" altLang="en-US" sz="3600" b="1" dirty="0">
                <a:solidFill>
                  <a:srgbClr val="0000FF"/>
                </a:solidFill>
                <a:latin typeface="黑体" pitchFamily="49" charset="-122"/>
                <a:ea typeface="黑体" pitchFamily="49" charset="-122"/>
              </a:rPr>
              <a:t>    第一，是马克思列宁主义在中国的</a:t>
            </a:r>
            <a:r>
              <a:rPr lang="zh-CN" altLang="en-US" sz="3600" b="1" dirty="0">
                <a:solidFill>
                  <a:srgbClr val="FF0000"/>
                </a:solidFill>
                <a:latin typeface="黑体" pitchFamily="49" charset="-122"/>
                <a:ea typeface="黑体" pitchFamily="49" charset="-122"/>
              </a:rPr>
              <a:t>运用和发展</a:t>
            </a:r>
            <a:r>
              <a:rPr lang="zh-CN" altLang="en-US" sz="3600" b="1" dirty="0" smtClean="0">
                <a:solidFill>
                  <a:srgbClr val="0000FF"/>
                </a:solidFill>
                <a:latin typeface="黑体" pitchFamily="49" charset="-122"/>
                <a:ea typeface="黑体" pitchFamily="49" charset="-122"/>
              </a:rPr>
              <a:t>。</a:t>
            </a:r>
            <a:endParaRPr lang="en-US" altLang="zh-CN" sz="3600" b="1" dirty="0" smtClean="0">
              <a:solidFill>
                <a:srgbClr val="0000FF"/>
              </a:solidFill>
              <a:latin typeface="黑体" pitchFamily="49" charset="-122"/>
              <a:ea typeface="黑体" pitchFamily="49" charset="-122"/>
            </a:endParaRPr>
          </a:p>
          <a:p>
            <a:r>
              <a:rPr lang="en-US" altLang="zh-CN" sz="3600" b="1" dirty="0" smtClean="0">
                <a:solidFill>
                  <a:srgbClr val="0000FF"/>
                </a:solidFill>
                <a:latin typeface="黑体" pitchFamily="49" charset="-122"/>
                <a:ea typeface="黑体" pitchFamily="49" charset="-122"/>
              </a:rPr>
              <a:t>    </a:t>
            </a:r>
            <a:r>
              <a:rPr lang="zh-CN" altLang="en-US" sz="3600" b="1" dirty="0" smtClean="0">
                <a:solidFill>
                  <a:srgbClr val="0000FF"/>
                </a:solidFill>
                <a:latin typeface="黑体" pitchFamily="49" charset="-122"/>
                <a:ea typeface="黑体" pitchFamily="49" charset="-122"/>
              </a:rPr>
              <a:t>理论</a:t>
            </a:r>
            <a:r>
              <a:rPr lang="zh-CN" altLang="en-US" sz="3600" b="1" dirty="0">
                <a:solidFill>
                  <a:srgbClr val="0000FF"/>
                </a:solidFill>
                <a:latin typeface="黑体" pitchFamily="49" charset="-122"/>
                <a:ea typeface="黑体" pitchFamily="49" charset="-122"/>
              </a:rPr>
              <a:t>与本源的</a:t>
            </a:r>
            <a:r>
              <a:rPr lang="zh-CN" altLang="en-US" sz="3600" b="1" dirty="0" smtClean="0">
                <a:solidFill>
                  <a:srgbClr val="0000FF"/>
                </a:solidFill>
                <a:latin typeface="黑体" pitchFamily="49" charset="-122"/>
                <a:ea typeface="黑体" pitchFamily="49" charset="-122"/>
              </a:rPr>
              <a:t>关系是</a:t>
            </a:r>
            <a:r>
              <a:rPr lang="zh-CN" altLang="en-US" sz="3600" b="1" dirty="0" smtClean="0">
                <a:solidFill>
                  <a:srgbClr val="FF0000"/>
                </a:solidFill>
                <a:latin typeface="黑体" pitchFamily="49" charset="-122"/>
                <a:ea typeface="黑体" pitchFamily="49" charset="-122"/>
              </a:rPr>
              <a:t>一脉相承</a:t>
            </a:r>
            <a:r>
              <a:rPr lang="zh-CN" altLang="en-US" sz="3600" b="1" dirty="0" smtClean="0">
                <a:solidFill>
                  <a:srgbClr val="0000FF"/>
                </a:solidFill>
                <a:latin typeface="黑体" pitchFamily="49" charset="-122"/>
                <a:ea typeface="黑体" pitchFamily="49" charset="-122"/>
              </a:rPr>
              <a:t>的</a:t>
            </a:r>
            <a:endParaRPr lang="zh-CN" altLang="en-US" sz="3600" b="1" dirty="0">
              <a:solidFill>
                <a:srgbClr val="0000FF"/>
              </a:solidFill>
              <a:latin typeface="黑体" pitchFamily="49" charset="-122"/>
              <a:ea typeface="黑体" pitchFamily="49" charset="-122"/>
            </a:endParaRPr>
          </a:p>
        </p:txBody>
      </p:sp>
      <p:sp>
        <p:nvSpPr>
          <p:cNvPr id="4" name="Rectangle 2"/>
          <p:cNvSpPr>
            <a:spLocks noChangeArrowheads="1"/>
          </p:cNvSpPr>
          <p:nvPr/>
        </p:nvSpPr>
        <p:spPr bwMode="auto">
          <a:xfrm>
            <a:off x="714348" y="2857496"/>
            <a:ext cx="7561262" cy="1754326"/>
          </a:xfrm>
          <a:prstGeom prst="rect">
            <a:avLst/>
          </a:prstGeom>
          <a:noFill/>
          <a:ln w="9525">
            <a:solidFill>
              <a:srgbClr val="FF0000"/>
            </a:solidFill>
            <a:miter lim="800000"/>
            <a:headEnd/>
            <a:tailEnd/>
          </a:ln>
        </p:spPr>
        <p:txBody>
          <a:bodyPr>
            <a:spAutoFit/>
          </a:bodyPr>
          <a:lstStyle/>
          <a:p>
            <a:r>
              <a:rPr lang="zh-CN" altLang="en-US" sz="3600" b="1" dirty="0">
                <a:solidFill>
                  <a:srgbClr val="FF0000"/>
                </a:solidFill>
                <a:latin typeface="黑体" pitchFamily="49" charset="-122"/>
                <a:ea typeface="黑体" pitchFamily="49" charset="-122"/>
              </a:rPr>
              <a:t>     第二， </a:t>
            </a:r>
            <a:r>
              <a:rPr lang="zh-CN" altLang="en-US" sz="3600" b="1" dirty="0">
                <a:solidFill>
                  <a:srgbClr val="0000FF"/>
                </a:solidFill>
                <a:latin typeface="黑体" pitchFamily="49" charset="-122"/>
                <a:ea typeface="黑体" pitchFamily="49" charset="-122"/>
              </a:rPr>
              <a:t>是</a:t>
            </a:r>
            <a:r>
              <a:rPr lang="zh-CN" altLang="en-US" sz="3600" b="1" dirty="0">
                <a:solidFill>
                  <a:srgbClr val="FF0000"/>
                </a:solidFill>
                <a:latin typeface="黑体" pitchFamily="49" charset="-122"/>
                <a:ea typeface="黑体" pitchFamily="49" charset="-122"/>
              </a:rPr>
              <a:t>被实践证明</a:t>
            </a:r>
            <a:r>
              <a:rPr lang="zh-CN" altLang="en-US" sz="3600" b="1" dirty="0">
                <a:solidFill>
                  <a:srgbClr val="0000FF"/>
                </a:solidFill>
                <a:latin typeface="黑体" pitchFamily="49" charset="-122"/>
                <a:ea typeface="黑体" pitchFamily="49" charset="-122"/>
              </a:rPr>
              <a:t>了的关于中国革命和建设的</a:t>
            </a:r>
            <a:r>
              <a:rPr lang="zh-CN" altLang="en-US" sz="3600" b="1" dirty="0">
                <a:solidFill>
                  <a:srgbClr val="FF0000"/>
                </a:solidFill>
                <a:latin typeface="黑体" pitchFamily="49" charset="-122"/>
                <a:ea typeface="黑体" pitchFamily="49" charset="-122"/>
              </a:rPr>
              <a:t>正确的</a:t>
            </a:r>
            <a:r>
              <a:rPr lang="zh-CN" altLang="en-US" sz="3600" b="1" dirty="0">
                <a:solidFill>
                  <a:srgbClr val="0000FF"/>
                </a:solidFill>
                <a:latin typeface="黑体" pitchFamily="49" charset="-122"/>
                <a:ea typeface="黑体" pitchFamily="49" charset="-122"/>
              </a:rPr>
              <a:t>理论原则和经验总结。</a:t>
            </a:r>
            <a:r>
              <a:rPr lang="zh-CN" altLang="en-US" sz="3600" b="1" dirty="0">
                <a:solidFill>
                  <a:srgbClr val="FF0000"/>
                </a:solidFill>
                <a:latin typeface="黑体" pitchFamily="49" charset="-122"/>
                <a:ea typeface="黑体" pitchFamily="49" charset="-122"/>
              </a:rPr>
              <a:t>理论与实践的</a:t>
            </a:r>
            <a:r>
              <a:rPr lang="zh-CN" altLang="en-US" sz="3600" b="1" dirty="0" smtClean="0">
                <a:solidFill>
                  <a:srgbClr val="FF0000"/>
                </a:solidFill>
                <a:latin typeface="黑体" pitchFamily="49" charset="-122"/>
                <a:ea typeface="黑体" pitchFamily="49" charset="-122"/>
              </a:rPr>
              <a:t>关系</a:t>
            </a:r>
            <a:endParaRPr lang="zh-CN" altLang="en-US" sz="3600" b="1" dirty="0">
              <a:solidFill>
                <a:srgbClr val="FF0000"/>
              </a:solidFill>
              <a:latin typeface="黑体" pitchFamily="49" charset="-122"/>
              <a:ea typeface="黑体" pitchFamily="49" charset="-122"/>
            </a:endParaRPr>
          </a:p>
        </p:txBody>
      </p:sp>
      <p:sp>
        <p:nvSpPr>
          <p:cNvPr id="5" name="Rectangle 2"/>
          <p:cNvSpPr>
            <a:spLocks noChangeArrowheads="1"/>
          </p:cNvSpPr>
          <p:nvPr/>
        </p:nvSpPr>
        <p:spPr bwMode="auto">
          <a:xfrm>
            <a:off x="714348" y="4857760"/>
            <a:ext cx="7643866" cy="1754326"/>
          </a:xfrm>
          <a:prstGeom prst="rect">
            <a:avLst/>
          </a:prstGeom>
          <a:noFill/>
          <a:ln w="9525">
            <a:solidFill>
              <a:srgbClr val="FF0000"/>
            </a:solidFill>
            <a:miter lim="800000"/>
            <a:headEnd/>
            <a:tailEnd/>
          </a:ln>
        </p:spPr>
        <p:txBody>
          <a:bodyPr wrap="square">
            <a:spAutoFit/>
          </a:bodyPr>
          <a:lstStyle/>
          <a:p>
            <a:r>
              <a:rPr lang="zh-CN" altLang="en-US" sz="3600" b="1" dirty="0">
                <a:solidFill>
                  <a:srgbClr val="0000FF"/>
                </a:solidFill>
                <a:latin typeface="黑体" pitchFamily="49" charset="-122"/>
                <a:ea typeface="黑体" pitchFamily="49" charset="-122"/>
              </a:rPr>
              <a:t>    </a:t>
            </a:r>
            <a:r>
              <a:rPr lang="zh-CN" altLang="en-US" sz="3600" b="1" dirty="0">
                <a:solidFill>
                  <a:srgbClr val="FF0000"/>
                </a:solidFill>
                <a:latin typeface="黑体" pitchFamily="49" charset="-122"/>
                <a:ea typeface="黑体" pitchFamily="49" charset="-122"/>
              </a:rPr>
              <a:t>第三</a:t>
            </a:r>
            <a:r>
              <a:rPr lang="zh-CN" altLang="en-US" sz="3600" b="1" dirty="0">
                <a:solidFill>
                  <a:srgbClr val="0000FF"/>
                </a:solidFill>
                <a:latin typeface="黑体" pitchFamily="49" charset="-122"/>
                <a:ea typeface="黑体" pitchFamily="49" charset="-122"/>
              </a:rPr>
              <a:t>， 是中国共产党</a:t>
            </a:r>
            <a:r>
              <a:rPr lang="zh-CN" altLang="en-US" sz="3600" b="1" dirty="0">
                <a:solidFill>
                  <a:srgbClr val="FF0000"/>
                </a:solidFill>
                <a:latin typeface="黑体" pitchFamily="49" charset="-122"/>
                <a:ea typeface="黑体" pitchFamily="49" charset="-122"/>
              </a:rPr>
              <a:t>集体智慧</a:t>
            </a:r>
            <a:r>
              <a:rPr lang="zh-CN" altLang="en-US" sz="3600" b="1" dirty="0">
                <a:solidFill>
                  <a:srgbClr val="0000FF"/>
                </a:solidFill>
                <a:latin typeface="黑体" pitchFamily="49" charset="-122"/>
                <a:ea typeface="黑体" pitchFamily="49" charset="-122"/>
              </a:rPr>
              <a:t>的结晶</a:t>
            </a:r>
            <a:r>
              <a:rPr lang="zh-CN" altLang="en-US" sz="3600" b="1" dirty="0" smtClean="0">
                <a:solidFill>
                  <a:srgbClr val="0000FF"/>
                </a:solidFill>
                <a:latin typeface="黑体" pitchFamily="49" charset="-122"/>
                <a:ea typeface="黑体" pitchFamily="49" charset="-122"/>
              </a:rPr>
              <a:t>。毛泽东</a:t>
            </a:r>
            <a:r>
              <a:rPr lang="zh-CN" altLang="en-US" sz="3600" b="1" dirty="0">
                <a:solidFill>
                  <a:srgbClr val="FF0000"/>
                </a:solidFill>
                <a:latin typeface="黑体" pitchFamily="49" charset="-122"/>
                <a:ea typeface="黑体" pitchFamily="49" charset="-122"/>
              </a:rPr>
              <a:t>个人同党的领导集体</a:t>
            </a:r>
            <a:r>
              <a:rPr lang="zh-CN" altLang="en-US" sz="3600" b="1" dirty="0">
                <a:solidFill>
                  <a:srgbClr val="0000FF"/>
                </a:solidFill>
                <a:latin typeface="黑体" pitchFamily="49" charset="-122"/>
                <a:ea typeface="黑体" pitchFamily="49" charset="-122"/>
              </a:rPr>
              <a:t>的关系</a:t>
            </a:r>
            <a:r>
              <a:rPr lang="zh-CN" altLang="en-US" sz="3600" b="1" dirty="0" smtClean="0">
                <a:solidFill>
                  <a:srgbClr val="0000FF"/>
                </a:solidFill>
                <a:latin typeface="黑体" pitchFamily="49" charset="-122"/>
                <a:ea typeface="黑体" pitchFamily="49" charset="-122"/>
              </a:rPr>
              <a:t>。</a:t>
            </a:r>
            <a:r>
              <a:rPr lang="zh-CN" altLang="en-US" sz="3600" b="1" dirty="0" smtClean="0">
                <a:solidFill>
                  <a:srgbClr val="FF0000"/>
                </a:solidFill>
                <a:latin typeface="黑体" pitchFamily="49" charset="-122"/>
                <a:ea typeface="黑体" pitchFamily="49" charset="-122"/>
              </a:rPr>
              <a:t>毛泽东是主要创立者</a:t>
            </a:r>
            <a:endParaRPr lang="zh-CN" altLang="en-US" sz="3600" b="1" dirty="0">
              <a:solidFill>
                <a:srgbClr val="0000FF"/>
              </a:solidFill>
              <a:latin typeface="黑体" pitchFamily="49" charset="-122"/>
              <a:ea typeface="黑体" pitchFamily="49" charset="-122"/>
            </a:endParaRPr>
          </a:p>
        </p:txBody>
      </p:sp>
    </p:spTree>
  </p:cSld>
  <p:clrMapOvr>
    <a:masterClrMapping/>
  </p:clrMapOvr>
  <p:transition spd="med">
    <p:wipe dir="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ChangeArrowheads="1"/>
          </p:cNvSpPr>
          <p:nvPr/>
        </p:nvSpPr>
        <p:spPr bwMode="auto">
          <a:xfrm>
            <a:off x="539552" y="1772816"/>
            <a:ext cx="3960440" cy="646331"/>
          </a:xfrm>
          <a:prstGeom prst="rect">
            <a:avLst/>
          </a:prstGeom>
          <a:solidFill>
            <a:schemeClr val="bg2"/>
          </a:solidFill>
          <a:ln w="9525">
            <a:solidFill>
              <a:schemeClr val="accent1"/>
            </a:solidFill>
            <a:miter lim="800000"/>
          </a:ln>
        </p:spPr>
        <p:txBody>
          <a:bodyPr wrap="square">
            <a:spAutoFit/>
          </a:bodyPr>
          <a:lstStyle/>
          <a:p>
            <a:pPr>
              <a:defRPr/>
            </a:pPr>
            <a:r>
              <a:rPr lang="zh-CN" altLang="en-US" sz="3600" b="1" dirty="0" smtClean="0">
                <a:solidFill>
                  <a:srgbClr val="FF0000"/>
                </a:solidFill>
                <a:latin typeface="+mj-ea"/>
                <a:ea typeface="+mj-ea"/>
              </a:rPr>
              <a:t>（一）主要内容</a:t>
            </a:r>
            <a:r>
              <a:rPr lang="zh-CN" altLang="en-US" sz="3600" b="1" dirty="0" smtClean="0">
                <a:solidFill>
                  <a:srgbClr val="FF0000"/>
                </a:solidFill>
                <a:latin typeface="黑体" pitchFamily="49" charset="-122"/>
                <a:ea typeface="黑体" pitchFamily="49" charset="-122"/>
              </a:rPr>
              <a:t>    </a:t>
            </a:r>
            <a:endParaRPr lang="zh-CN" altLang="en-US" sz="3600" b="1" dirty="0">
              <a:solidFill>
                <a:srgbClr val="FF0000"/>
              </a:solidFill>
              <a:latin typeface="黑体" pitchFamily="49" charset="-122"/>
              <a:ea typeface="黑体" pitchFamily="49" charset="-122"/>
            </a:endParaRPr>
          </a:p>
        </p:txBody>
      </p:sp>
      <p:sp>
        <p:nvSpPr>
          <p:cNvPr id="2" name="矩形 1"/>
          <p:cNvSpPr/>
          <p:nvPr/>
        </p:nvSpPr>
        <p:spPr>
          <a:xfrm>
            <a:off x="179512" y="116632"/>
            <a:ext cx="7920880" cy="1569660"/>
          </a:xfrm>
          <a:prstGeom prst="rect">
            <a:avLst/>
          </a:prstGeom>
          <a:solidFill>
            <a:schemeClr val="bg2"/>
          </a:solidFill>
          <a:ln>
            <a:solidFill>
              <a:schemeClr val="accent1"/>
            </a:solidFill>
          </a:ln>
        </p:spPr>
        <p:txBody>
          <a:bodyPr wrap="square">
            <a:spAutoFit/>
          </a:bodyPr>
          <a:lstStyle/>
          <a:p>
            <a:pPr lvl="0">
              <a:defRPr/>
            </a:pPr>
            <a:r>
              <a:rPr lang="zh-CN" altLang="en-US" sz="4800" b="1" dirty="0">
                <a:solidFill>
                  <a:srgbClr val="FF0000"/>
                </a:solidFill>
                <a:latin typeface="+mj-ea"/>
                <a:ea typeface="+mj-ea"/>
              </a:rPr>
              <a:t>二、毛泽东思想的主要</a:t>
            </a:r>
            <a:r>
              <a:rPr lang="zh-CN" altLang="en-US" sz="4800" b="1" dirty="0" smtClean="0">
                <a:solidFill>
                  <a:srgbClr val="FF0000"/>
                </a:solidFill>
                <a:latin typeface="+mj-ea"/>
                <a:ea typeface="+mj-ea"/>
              </a:rPr>
              <a:t>内容和活的灵魂</a:t>
            </a:r>
            <a:endParaRPr lang="en-US" altLang="zh-CN" sz="4800" dirty="0">
              <a:solidFill>
                <a:srgbClr val="FF0000"/>
              </a:solidFill>
              <a:latin typeface="+mj-ea"/>
              <a:ea typeface="+mj-ea"/>
            </a:endParaRPr>
          </a:p>
        </p:txBody>
      </p:sp>
      <p:sp>
        <p:nvSpPr>
          <p:cNvPr id="6" name="Rectangle 2"/>
          <p:cNvSpPr>
            <a:spLocks noChangeArrowheads="1"/>
          </p:cNvSpPr>
          <p:nvPr/>
        </p:nvSpPr>
        <p:spPr bwMode="auto">
          <a:xfrm>
            <a:off x="251520" y="3774348"/>
            <a:ext cx="1152128" cy="646331"/>
          </a:xfrm>
          <a:prstGeom prst="rect">
            <a:avLst/>
          </a:prstGeom>
          <a:solidFill>
            <a:schemeClr val="bg2"/>
          </a:solidFill>
          <a:ln w="9525">
            <a:solidFill>
              <a:schemeClr val="accent1"/>
            </a:solidFill>
            <a:miter lim="800000"/>
          </a:ln>
        </p:spPr>
        <p:txBody>
          <a:bodyPr wrap="square">
            <a:spAutoFit/>
          </a:bodyPr>
          <a:lstStyle/>
          <a:p>
            <a:pPr>
              <a:defRPr/>
            </a:pPr>
            <a:r>
              <a:rPr lang="zh-CN" altLang="en-US" sz="3600" b="1" dirty="0" smtClean="0">
                <a:solidFill>
                  <a:srgbClr val="FF0000"/>
                </a:solidFill>
                <a:latin typeface="+mj-ea"/>
                <a:ea typeface="+mj-ea"/>
              </a:rPr>
              <a:t>主题</a:t>
            </a:r>
            <a:r>
              <a:rPr lang="zh-CN" altLang="en-US" sz="3600" b="1" dirty="0" smtClean="0">
                <a:solidFill>
                  <a:srgbClr val="FF0000"/>
                </a:solidFill>
                <a:latin typeface="黑体" pitchFamily="49" charset="-122"/>
                <a:ea typeface="黑体" pitchFamily="49" charset="-122"/>
              </a:rPr>
              <a:t>   </a:t>
            </a:r>
            <a:endParaRPr lang="zh-CN" altLang="en-US" sz="3600" b="1" dirty="0">
              <a:solidFill>
                <a:srgbClr val="FF0000"/>
              </a:solidFill>
              <a:latin typeface="黑体" pitchFamily="49" charset="-122"/>
              <a:ea typeface="黑体" pitchFamily="49" charset="-122"/>
            </a:endParaRPr>
          </a:p>
        </p:txBody>
      </p:sp>
      <p:sp>
        <p:nvSpPr>
          <p:cNvPr id="7" name="Rectangle 2"/>
          <p:cNvSpPr>
            <a:spLocks noChangeArrowheads="1"/>
          </p:cNvSpPr>
          <p:nvPr/>
        </p:nvSpPr>
        <p:spPr bwMode="auto">
          <a:xfrm>
            <a:off x="2375756" y="2572605"/>
            <a:ext cx="648072" cy="3108543"/>
          </a:xfrm>
          <a:prstGeom prst="rect">
            <a:avLst/>
          </a:prstGeom>
          <a:solidFill>
            <a:schemeClr val="bg2"/>
          </a:solidFill>
          <a:ln w="9525">
            <a:solidFill>
              <a:schemeClr val="accent1"/>
            </a:solidFill>
            <a:miter lim="800000"/>
          </a:ln>
        </p:spPr>
        <p:txBody>
          <a:bodyPr wrap="square">
            <a:spAutoFit/>
          </a:bodyPr>
          <a:lstStyle/>
          <a:p>
            <a:pPr>
              <a:defRPr/>
            </a:pPr>
            <a:r>
              <a:rPr lang="zh-CN" altLang="en-US" sz="2800" b="1" dirty="0" smtClean="0">
                <a:solidFill>
                  <a:srgbClr val="3333FF"/>
                </a:solidFill>
                <a:latin typeface="黑体" pitchFamily="49" charset="-122"/>
                <a:ea typeface="黑体" pitchFamily="49" charset="-122"/>
              </a:rPr>
              <a:t>中国革命和建设  </a:t>
            </a:r>
            <a:endParaRPr lang="zh-CN" altLang="en-US" sz="2800" b="1" dirty="0">
              <a:solidFill>
                <a:srgbClr val="3333FF"/>
              </a:solidFill>
              <a:latin typeface="黑体" pitchFamily="49" charset="-122"/>
              <a:ea typeface="黑体" pitchFamily="49" charset="-122"/>
            </a:endParaRPr>
          </a:p>
        </p:txBody>
      </p:sp>
      <p:sp>
        <p:nvSpPr>
          <p:cNvPr id="5" name="右箭头 4"/>
          <p:cNvSpPr/>
          <p:nvPr/>
        </p:nvSpPr>
        <p:spPr>
          <a:xfrm>
            <a:off x="1403648" y="3911724"/>
            <a:ext cx="972108" cy="4303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9" name="表格 8"/>
          <p:cNvGraphicFramePr>
            <a:graphicFrameLocks noGrp="1"/>
          </p:cNvGraphicFramePr>
          <p:nvPr>
            <p:extLst>
              <p:ext uri="{D42A27DB-BD31-4B8C-83A1-F6EECF244321}">
                <p14:modId xmlns="" xmlns:p14="http://schemas.microsoft.com/office/powerpoint/2010/main" val="2680995759"/>
              </p:ext>
            </p:extLst>
          </p:nvPr>
        </p:nvGraphicFramePr>
        <p:xfrm>
          <a:off x="3923928" y="2410641"/>
          <a:ext cx="5112568" cy="3590309"/>
        </p:xfrm>
        <a:graphic>
          <a:graphicData uri="http://schemas.openxmlformats.org/drawingml/2006/table">
            <a:tbl>
              <a:tblPr firstRow="1" bandRow="1">
                <a:tableStyleId>{5C22544A-7EE6-4342-B048-85BDC9FD1C3A}</a:tableStyleId>
              </a:tblPr>
              <a:tblGrid>
                <a:gridCol w="5112568"/>
              </a:tblGrid>
              <a:tr h="7200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smtClean="0">
                          <a:ln>
                            <a:noFill/>
                          </a:ln>
                          <a:solidFill>
                            <a:srgbClr val="0000FF"/>
                          </a:solidFill>
                          <a:effectLst/>
                          <a:uLnTx/>
                          <a:uFillTx/>
                          <a:latin typeface="楷体" pitchFamily="49" charset="-122"/>
                          <a:ea typeface="楷体" pitchFamily="49" charset="-122"/>
                          <a:cs typeface="+mn-cs"/>
                        </a:rPr>
                        <a:t>新民主主义革命的理论</a:t>
                      </a:r>
                      <a:endParaRPr lang="zh-CN" altLang="en-US" sz="2400" dirty="0"/>
                    </a:p>
                  </a:txBody>
                  <a:tcPr>
                    <a:solidFill>
                      <a:schemeClr val="accent6">
                        <a:lumMod val="40000"/>
                        <a:lumOff val="60000"/>
                      </a:schemeClr>
                    </a:solidFill>
                  </a:tcPr>
                </a:tc>
              </a:tr>
              <a:tr h="57404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smtClean="0">
                          <a:ln>
                            <a:noFill/>
                          </a:ln>
                          <a:solidFill>
                            <a:srgbClr val="0000FF"/>
                          </a:solidFill>
                          <a:effectLst/>
                          <a:uLnTx/>
                          <a:uFillTx/>
                          <a:latin typeface="楷体" pitchFamily="49" charset="-122"/>
                          <a:ea typeface="楷体" pitchFamily="49" charset="-122"/>
                          <a:cs typeface="+mn-cs"/>
                        </a:rPr>
                        <a:t>社会主义革命和社会主义建设的理论 </a:t>
                      </a:r>
                      <a:endParaRPr lang="zh-CN" altLang="en-US" sz="2400" dirty="0"/>
                    </a:p>
                  </a:txBody>
                  <a:tcPr>
                    <a:solidFill>
                      <a:schemeClr val="accent6">
                        <a:lumMod val="40000"/>
                        <a:lumOff val="60000"/>
                      </a:schemeClr>
                    </a:solidFill>
                  </a:tcPr>
                </a:tc>
              </a:tr>
              <a:tr h="57404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smtClean="0">
                          <a:ln>
                            <a:noFill/>
                          </a:ln>
                          <a:solidFill>
                            <a:srgbClr val="0000FF"/>
                          </a:solidFill>
                          <a:effectLst/>
                          <a:uLnTx/>
                          <a:uFillTx/>
                          <a:latin typeface="楷体" pitchFamily="49" charset="-122"/>
                          <a:ea typeface="楷体" pitchFamily="49" charset="-122"/>
                          <a:cs typeface="+mn-cs"/>
                        </a:rPr>
                        <a:t>革命军队的建设和军事战略的理论</a:t>
                      </a:r>
                      <a:endParaRPr lang="zh-CN" altLang="en-US" sz="2400" dirty="0"/>
                    </a:p>
                  </a:txBody>
                  <a:tcPr>
                    <a:solidFill>
                      <a:schemeClr val="accent6">
                        <a:lumMod val="40000"/>
                        <a:lumOff val="60000"/>
                      </a:schemeClr>
                    </a:solidFill>
                  </a:tcPr>
                </a:tc>
              </a:tr>
              <a:tr h="57404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smtClean="0">
                          <a:ln>
                            <a:noFill/>
                          </a:ln>
                          <a:solidFill>
                            <a:srgbClr val="0000FF"/>
                          </a:solidFill>
                          <a:effectLst/>
                          <a:uLnTx/>
                          <a:uFillTx/>
                          <a:latin typeface="楷体" pitchFamily="49" charset="-122"/>
                          <a:ea typeface="楷体" pitchFamily="49" charset="-122"/>
                          <a:cs typeface="+mn-cs"/>
                        </a:rPr>
                        <a:t>政策和策略的理论</a:t>
                      </a:r>
                      <a:endParaRPr kumimoji="0" lang="zh-CN" altLang="en-US" sz="2400" b="1" i="0" u="none" strike="noStrike" kern="1200" cap="none" spc="0" normalizeH="0" baseline="0" dirty="0">
                        <a:ln>
                          <a:noFill/>
                        </a:ln>
                        <a:solidFill>
                          <a:srgbClr val="0000FF"/>
                        </a:solidFill>
                        <a:effectLst/>
                        <a:uLnTx/>
                        <a:uFillTx/>
                        <a:latin typeface="楷体" pitchFamily="49" charset="-122"/>
                        <a:ea typeface="楷体" pitchFamily="49" charset="-122"/>
                        <a:cs typeface="+mn-cs"/>
                      </a:endParaRPr>
                    </a:p>
                  </a:txBody>
                  <a:tcPr>
                    <a:solidFill>
                      <a:schemeClr val="accent6">
                        <a:lumMod val="40000"/>
                        <a:lumOff val="60000"/>
                      </a:schemeClr>
                    </a:solidFill>
                  </a:tcPr>
                </a:tc>
              </a:tr>
              <a:tr h="57404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smtClean="0">
                          <a:ln>
                            <a:noFill/>
                          </a:ln>
                          <a:solidFill>
                            <a:srgbClr val="0000FF"/>
                          </a:solidFill>
                          <a:effectLst/>
                          <a:uLnTx/>
                          <a:uFillTx/>
                          <a:latin typeface="楷体" pitchFamily="49" charset="-122"/>
                          <a:ea typeface="楷体" pitchFamily="49" charset="-122"/>
                          <a:cs typeface="+mn-cs"/>
                        </a:rPr>
                        <a:t>思想政治工作和文化工作的理论</a:t>
                      </a:r>
                      <a:endParaRPr kumimoji="0" lang="zh-CN" altLang="en-US" sz="2400" b="1" i="0" u="none" strike="noStrike" kern="1200" cap="none" spc="0" normalizeH="0" baseline="0" dirty="0">
                        <a:ln>
                          <a:noFill/>
                        </a:ln>
                        <a:solidFill>
                          <a:srgbClr val="0000FF"/>
                        </a:solidFill>
                        <a:effectLst/>
                        <a:uLnTx/>
                        <a:uFillTx/>
                        <a:latin typeface="楷体" pitchFamily="49" charset="-122"/>
                        <a:ea typeface="楷体" pitchFamily="49" charset="-122"/>
                        <a:cs typeface="+mn-cs"/>
                      </a:endParaRPr>
                    </a:p>
                  </a:txBody>
                  <a:tcPr>
                    <a:solidFill>
                      <a:schemeClr val="accent6">
                        <a:lumMod val="40000"/>
                        <a:lumOff val="60000"/>
                      </a:schemeClr>
                    </a:solidFill>
                  </a:tcPr>
                </a:tc>
              </a:tr>
              <a:tr h="57404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smtClean="0">
                          <a:ln>
                            <a:noFill/>
                          </a:ln>
                          <a:solidFill>
                            <a:srgbClr val="0000FF"/>
                          </a:solidFill>
                          <a:effectLst/>
                          <a:uLnTx/>
                          <a:uFillTx/>
                          <a:latin typeface="楷体" pitchFamily="49" charset="-122"/>
                          <a:ea typeface="楷体" pitchFamily="49" charset="-122"/>
                          <a:cs typeface="+mn-cs"/>
                        </a:rPr>
                        <a:t>党的建设的理论</a:t>
                      </a:r>
                      <a:endParaRPr lang="zh-CN" altLang="en-US" sz="2400" dirty="0"/>
                    </a:p>
                  </a:txBody>
                  <a:tcPr>
                    <a:solidFill>
                      <a:schemeClr val="accent6">
                        <a:lumMod val="40000"/>
                        <a:lumOff val="60000"/>
                      </a:schemeClr>
                    </a:solidFill>
                  </a:tcPr>
                </a:tc>
              </a:tr>
            </a:tbl>
          </a:graphicData>
        </a:graphic>
      </p:graphicFrame>
      <p:sp>
        <p:nvSpPr>
          <p:cNvPr id="10" name="左大括号 9"/>
          <p:cNvSpPr/>
          <p:nvPr/>
        </p:nvSpPr>
        <p:spPr>
          <a:xfrm>
            <a:off x="3069362" y="3051883"/>
            <a:ext cx="815416" cy="2091259"/>
          </a:xfrm>
          <a:prstGeom prst="leftBrace">
            <a:avLst/>
          </a:prstGeom>
          <a:solidFill>
            <a:schemeClr val="bg2"/>
          </a:solidFill>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prstClr val="black"/>
              </a:solidFill>
            </a:endParaRPr>
          </a:p>
        </p:txBody>
      </p:sp>
    </p:spTree>
  </p:cSld>
  <p:clrMapOvr>
    <a:masterClrMapping/>
  </p:clrMapOvr>
  <p:transition spd="med">
    <p:wipe dir="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ChangeArrowheads="1"/>
          </p:cNvSpPr>
          <p:nvPr/>
        </p:nvSpPr>
        <p:spPr bwMode="auto">
          <a:xfrm>
            <a:off x="611560" y="764704"/>
            <a:ext cx="3960440" cy="646331"/>
          </a:xfrm>
          <a:prstGeom prst="rect">
            <a:avLst/>
          </a:prstGeom>
          <a:solidFill>
            <a:schemeClr val="bg2"/>
          </a:solidFill>
          <a:ln w="9525">
            <a:solidFill>
              <a:schemeClr val="accent1"/>
            </a:solidFill>
            <a:miter lim="800000"/>
          </a:ln>
        </p:spPr>
        <p:txBody>
          <a:bodyPr wrap="square">
            <a:spAutoFit/>
          </a:bodyPr>
          <a:lstStyle/>
          <a:p>
            <a:pPr>
              <a:defRPr/>
            </a:pPr>
            <a:r>
              <a:rPr lang="zh-CN" altLang="en-US" sz="3600" b="1" dirty="0" smtClean="0">
                <a:solidFill>
                  <a:srgbClr val="FF0000"/>
                </a:solidFill>
                <a:latin typeface="隶书"/>
                <a:ea typeface="隶书"/>
              </a:rPr>
              <a:t>（二）主要内容</a:t>
            </a:r>
            <a:r>
              <a:rPr lang="zh-CN" altLang="en-US" sz="3600" b="1" dirty="0" smtClean="0">
                <a:solidFill>
                  <a:srgbClr val="FF0000"/>
                </a:solidFill>
                <a:latin typeface="黑体" pitchFamily="49" charset="-122"/>
                <a:ea typeface="黑体" pitchFamily="49" charset="-122"/>
              </a:rPr>
              <a:t>    </a:t>
            </a:r>
            <a:endParaRPr lang="zh-CN" altLang="en-US" sz="3600" b="1" dirty="0">
              <a:solidFill>
                <a:srgbClr val="FF0000"/>
              </a:solidFill>
              <a:latin typeface="黑体" pitchFamily="49" charset="-122"/>
              <a:ea typeface="黑体" pitchFamily="49" charset="-122"/>
            </a:endParaRPr>
          </a:p>
        </p:txBody>
      </p:sp>
      <p:graphicFrame>
        <p:nvGraphicFramePr>
          <p:cNvPr id="4" name="表格 3"/>
          <p:cNvGraphicFramePr>
            <a:graphicFrameLocks noGrp="1"/>
          </p:cNvGraphicFramePr>
          <p:nvPr>
            <p:extLst>
              <p:ext uri="{D42A27DB-BD31-4B8C-83A1-F6EECF244321}">
                <p14:modId xmlns="" xmlns:p14="http://schemas.microsoft.com/office/powerpoint/2010/main" val="1909295702"/>
              </p:ext>
            </p:extLst>
          </p:nvPr>
        </p:nvGraphicFramePr>
        <p:xfrm>
          <a:off x="683568" y="2132856"/>
          <a:ext cx="6912768" cy="3590309"/>
        </p:xfrm>
        <a:graphic>
          <a:graphicData uri="http://schemas.openxmlformats.org/drawingml/2006/table">
            <a:tbl>
              <a:tblPr firstRow="1" bandRow="1">
                <a:tableStyleId>{5C22544A-7EE6-4342-B048-85BDC9FD1C3A}</a:tableStyleId>
              </a:tblPr>
              <a:tblGrid>
                <a:gridCol w="6912768"/>
              </a:tblGrid>
              <a:tr h="7200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smtClean="0">
                          <a:ln>
                            <a:noFill/>
                          </a:ln>
                          <a:solidFill>
                            <a:srgbClr val="0000FF"/>
                          </a:solidFill>
                          <a:effectLst/>
                          <a:uLnTx/>
                          <a:uFillTx/>
                          <a:latin typeface="楷体" pitchFamily="49" charset="-122"/>
                          <a:ea typeface="楷体" pitchFamily="49" charset="-122"/>
                          <a:cs typeface="+mn-cs"/>
                        </a:rPr>
                        <a:t>新民主主义革命的理论</a:t>
                      </a:r>
                      <a:endParaRPr lang="zh-CN" altLang="en-US" sz="2800" dirty="0"/>
                    </a:p>
                  </a:txBody>
                  <a:tcPr>
                    <a:solidFill>
                      <a:schemeClr val="accent6">
                        <a:lumMod val="40000"/>
                        <a:lumOff val="60000"/>
                      </a:schemeClr>
                    </a:solidFill>
                  </a:tcPr>
                </a:tc>
              </a:tr>
              <a:tr h="57404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smtClean="0">
                          <a:ln>
                            <a:noFill/>
                          </a:ln>
                          <a:solidFill>
                            <a:srgbClr val="0000FF"/>
                          </a:solidFill>
                          <a:effectLst/>
                          <a:uLnTx/>
                          <a:uFillTx/>
                          <a:latin typeface="楷体" pitchFamily="49" charset="-122"/>
                          <a:ea typeface="楷体" pitchFamily="49" charset="-122"/>
                          <a:cs typeface="+mn-cs"/>
                        </a:rPr>
                        <a:t>社会主义革命和社会主义建设的理论 </a:t>
                      </a:r>
                      <a:endParaRPr lang="zh-CN" altLang="en-US" sz="2800" dirty="0"/>
                    </a:p>
                  </a:txBody>
                  <a:tcPr>
                    <a:solidFill>
                      <a:schemeClr val="accent6">
                        <a:lumMod val="40000"/>
                        <a:lumOff val="60000"/>
                      </a:schemeClr>
                    </a:solidFill>
                  </a:tcPr>
                </a:tc>
              </a:tr>
              <a:tr h="57404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smtClean="0">
                          <a:ln>
                            <a:noFill/>
                          </a:ln>
                          <a:solidFill>
                            <a:srgbClr val="0000FF"/>
                          </a:solidFill>
                          <a:effectLst/>
                          <a:uLnTx/>
                          <a:uFillTx/>
                          <a:latin typeface="楷体" pitchFamily="49" charset="-122"/>
                          <a:ea typeface="楷体" pitchFamily="49" charset="-122"/>
                          <a:cs typeface="+mn-cs"/>
                        </a:rPr>
                        <a:t>革命军队的建设和军事战略的理论</a:t>
                      </a:r>
                      <a:endParaRPr lang="zh-CN" altLang="en-US" sz="2800" dirty="0"/>
                    </a:p>
                  </a:txBody>
                  <a:tcPr>
                    <a:solidFill>
                      <a:schemeClr val="accent6">
                        <a:lumMod val="40000"/>
                        <a:lumOff val="60000"/>
                      </a:schemeClr>
                    </a:solidFill>
                  </a:tcPr>
                </a:tc>
              </a:tr>
              <a:tr h="57404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smtClean="0">
                          <a:ln>
                            <a:noFill/>
                          </a:ln>
                          <a:solidFill>
                            <a:srgbClr val="0000FF"/>
                          </a:solidFill>
                          <a:effectLst/>
                          <a:uLnTx/>
                          <a:uFillTx/>
                          <a:latin typeface="楷体" pitchFamily="49" charset="-122"/>
                          <a:ea typeface="楷体" pitchFamily="49" charset="-122"/>
                          <a:cs typeface="+mn-cs"/>
                        </a:rPr>
                        <a:t>政策和策略的理论</a:t>
                      </a:r>
                      <a:endParaRPr kumimoji="0" lang="zh-CN" altLang="en-US" sz="2800" b="1" i="0" u="none" strike="noStrike" kern="1200" cap="none" spc="0" normalizeH="0" baseline="0" dirty="0">
                        <a:ln>
                          <a:noFill/>
                        </a:ln>
                        <a:solidFill>
                          <a:srgbClr val="0000FF"/>
                        </a:solidFill>
                        <a:effectLst/>
                        <a:uLnTx/>
                        <a:uFillTx/>
                        <a:latin typeface="楷体" pitchFamily="49" charset="-122"/>
                        <a:ea typeface="楷体" pitchFamily="49" charset="-122"/>
                        <a:cs typeface="+mn-cs"/>
                      </a:endParaRPr>
                    </a:p>
                  </a:txBody>
                  <a:tcPr>
                    <a:solidFill>
                      <a:schemeClr val="accent6">
                        <a:lumMod val="40000"/>
                        <a:lumOff val="60000"/>
                      </a:schemeClr>
                    </a:solidFill>
                  </a:tcPr>
                </a:tc>
              </a:tr>
              <a:tr h="57404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smtClean="0">
                          <a:ln>
                            <a:noFill/>
                          </a:ln>
                          <a:solidFill>
                            <a:srgbClr val="0000FF"/>
                          </a:solidFill>
                          <a:effectLst/>
                          <a:uLnTx/>
                          <a:uFillTx/>
                          <a:latin typeface="楷体" pitchFamily="49" charset="-122"/>
                          <a:ea typeface="楷体" pitchFamily="49" charset="-122"/>
                          <a:cs typeface="+mn-cs"/>
                        </a:rPr>
                        <a:t>思想政治工作和文化工作的理论</a:t>
                      </a:r>
                      <a:endParaRPr kumimoji="0" lang="zh-CN" altLang="en-US" sz="2800" b="1" i="0" u="none" strike="noStrike" kern="1200" cap="none" spc="0" normalizeH="0" baseline="0" dirty="0">
                        <a:ln>
                          <a:noFill/>
                        </a:ln>
                        <a:solidFill>
                          <a:srgbClr val="0000FF"/>
                        </a:solidFill>
                        <a:effectLst/>
                        <a:uLnTx/>
                        <a:uFillTx/>
                        <a:latin typeface="楷体" pitchFamily="49" charset="-122"/>
                        <a:ea typeface="楷体" pitchFamily="49" charset="-122"/>
                        <a:cs typeface="+mn-cs"/>
                      </a:endParaRPr>
                    </a:p>
                  </a:txBody>
                  <a:tcPr>
                    <a:solidFill>
                      <a:schemeClr val="accent6">
                        <a:lumMod val="40000"/>
                        <a:lumOff val="60000"/>
                      </a:schemeClr>
                    </a:solidFill>
                  </a:tcPr>
                </a:tc>
              </a:tr>
              <a:tr h="57404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smtClean="0">
                          <a:ln>
                            <a:noFill/>
                          </a:ln>
                          <a:solidFill>
                            <a:srgbClr val="0000FF"/>
                          </a:solidFill>
                          <a:effectLst/>
                          <a:uLnTx/>
                          <a:uFillTx/>
                          <a:latin typeface="楷体" pitchFamily="49" charset="-122"/>
                          <a:ea typeface="楷体" pitchFamily="49" charset="-122"/>
                          <a:cs typeface="+mn-cs"/>
                        </a:rPr>
                        <a:t>党的建设的理论</a:t>
                      </a:r>
                      <a:endParaRPr lang="zh-CN" altLang="en-US" dirty="0"/>
                    </a:p>
                  </a:txBody>
                  <a:tcPr>
                    <a:solidFill>
                      <a:schemeClr val="accent6">
                        <a:lumMod val="40000"/>
                        <a:lumOff val="60000"/>
                      </a:schemeClr>
                    </a:solidFill>
                  </a:tcPr>
                </a:tc>
              </a:tr>
            </a:tbl>
          </a:graphicData>
        </a:graphic>
      </p:graphicFrame>
    </p:spTree>
    <p:extLst>
      <p:ext uri="{BB962C8B-B14F-4D97-AF65-F5344CB8AC3E}">
        <p14:creationId xmlns="" xmlns:p14="http://schemas.microsoft.com/office/powerpoint/2010/main" val="4184375599"/>
      </p:ext>
    </p:extLst>
  </p:cSld>
  <p:clrMapOvr>
    <a:masterClrMapping/>
  </p:clrMapOvr>
  <p:transition spd="med">
    <p:wipe dir="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2483768" y="1628800"/>
            <a:ext cx="4464050" cy="4171950"/>
            <a:chOff x="0" y="0"/>
            <a:chExt cx="2208" cy="1584"/>
          </a:xfrm>
        </p:grpSpPr>
        <p:sp>
          <p:nvSpPr>
            <p:cNvPr id="100355" name="Rectangle 3"/>
            <p:cNvSpPr>
              <a:spLocks noChangeArrowheads="1"/>
            </p:cNvSpPr>
            <p:nvPr/>
          </p:nvSpPr>
          <p:spPr bwMode="auto">
            <a:xfrm>
              <a:off x="0" y="0"/>
              <a:ext cx="2208" cy="1584"/>
            </a:xfrm>
            <a:prstGeom prst="rect">
              <a:avLst/>
            </a:prstGeom>
            <a:solidFill>
              <a:schemeClr val="bg1"/>
            </a:solidFill>
            <a:ln w="9525">
              <a:noFill/>
              <a:miter lim="800000"/>
            </a:ln>
            <a:effectLst>
              <a:outerShdw dist="35921" dir="2700000" algn="ctr" rotWithShape="0">
                <a:schemeClr val="tx2"/>
              </a:outerShdw>
            </a:effectLst>
          </p:spPr>
          <p:txBody>
            <a:bodyPr wrap="none" anchor="ctr"/>
            <a:lstStyle/>
            <a:p>
              <a:pPr eaLnBrk="0" hangingPunct="0">
                <a:defRPr/>
              </a:pPr>
              <a:endParaRPr lang="zh-CN" altLang="en-US">
                <a:latin typeface="华文行楷" panose="02010800040101010101" pitchFamily="2" charset="-122"/>
                <a:ea typeface="华文行楷" panose="02010800040101010101" pitchFamily="2" charset="-122"/>
              </a:endParaRPr>
            </a:p>
          </p:txBody>
        </p:sp>
        <p:graphicFrame>
          <p:nvGraphicFramePr>
            <p:cNvPr id="2050" name="Object 4"/>
            <p:cNvGraphicFramePr>
              <a:graphicFrameLocks noChangeAspect="1"/>
            </p:cNvGraphicFramePr>
            <p:nvPr/>
          </p:nvGraphicFramePr>
          <p:xfrm>
            <a:off x="48" y="48"/>
            <a:ext cx="2112" cy="1488"/>
          </p:xfrm>
          <a:graphic>
            <a:graphicData uri="http://schemas.openxmlformats.org/presentationml/2006/ole">
              <p:oleObj spid="_x0000_s1046" r:id="rId3" imgW="3923780" imgH="2698171" progId="">
                <p:embed/>
              </p:oleObj>
            </a:graphicData>
          </a:graphic>
        </p:graphicFrame>
      </p:gr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ChangeArrowheads="1"/>
          </p:cNvSpPr>
          <p:nvPr/>
        </p:nvSpPr>
        <p:spPr bwMode="auto">
          <a:xfrm>
            <a:off x="899592" y="876300"/>
            <a:ext cx="7010400" cy="1143000"/>
          </a:xfrm>
          <a:prstGeom prst="rect">
            <a:avLst/>
          </a:prstGeom>
          <a:solidFill>
            <a:schemeClr val="accent6">
              <a:lumMod val="40000"/>
              <a:lumOff val="60000"/>
            </a:schemeClr>
          </a:solidFill>
          <a:ln w="9525">
            <a:noFill/>
            <a:miter lim="800000"/>
          </a:ln>
          <a:effectLst>
            <a:outerShdw dist="17961" dir="2700000" algn="ctr" rotWithShape="0">
              <a:schemeClr val="bg2"/>
            </a:outerShdw>
          </a:effectLst>
        </p:spPr>
        <p:txBody>
          <a:bodyPr anchor="ctr"/>
          <a:lstStyle/>
          <a:p>
            <a:pPr>
              <a:defRPr/>
            </a:pPr>
            <a:r>
              <a:rPr lang="zh-CN" altLang="en-US" sz="3600" dirty="0">
                <a:solidFill>
                  <a:srgbClr val="0000FF"/>
                </a:solidFill>
                <a:latin typeface="华文隶书" pitchFamily="2" charset="-122"/>
                <a:ea typeface="华文隶书" pitchFamily="2" charset="-122"/>
              </a:rPr>
              <a:t>（1</a:t>
            </a:r>
            <a:r>
              <a:rPr lang="zh-CN" altLang="en-US" sz="3600" dirty="0" smtClean="0">
                <a:solidFill>
                  <a:srgbClr val="0000FF"/>
                </a:solidFill>
                <a:latin typeface="华文隶书" pitchFamily="2" charset="-122"/>
                <a:ea typeface="华文隶书" pitchFamily="2" charset="-122"/>
              </a:rPr>
              <a:t>）新民主主义革命理论</a:t>
            </a:r>
            <a:endParaRPr lang="zh-CN" altLang="en-US" sz="3600" dirty="0">
              <a:solidFill>
                <a:srgbClr val="0000FF"/>
              </a:solidFill>
              <a:latin typeface="华文隶书" pitchFamily="2" charset="-122"/>
              <a:ea typeface="华文隶书" pitchFamily="2" charset="-122"/>
            </a:endParaRPr>
          </a:p>
        </p:txBody>
      </p:sp>
      <p:grpSp>
        <p:nvGrpSpPr>
          <p:cNvPr id="2" name="Group 3"/>
          <p:cNvGrpSpPr>
            <a:grpSpLocks/>
          </p:cNvGrpSpPr>
          <p:nvPr/>
        </p:nvGrpSpPr>
        <p:grpSpPr bwMode="auto">
          <a:xfrm>
            <a:off x="1447800" y="2590800"/>
            <a:ext cx="6832600" cy="3200400"/>
            <a:chOff x="0" y="0"/>
            <a:chExt cx="4304" cy="2016"/>
          </a:xfrm>
        </p:grpSpPr>
        <p:grpSp>
          <p:nvGrpSpPr>
            <p:cNvPr id="3" name="Group 4"/>
            <p:cNvGrpSpPr>
              <a:grpSpLocks/>
            </p:cNvGrpSpPr>
            <p:nvPr/>
          </p:nvGrpSpPr>
          <p:grpSpPr bwMode="auto">
            <a:xfrm>
              <a:off x="0" y="0"/>
              <a:ext cx="2496" cy="2016"/>
              <a:chOff x="0" y="0"/>
              <a:chExt cx="2496" cy="2016"/>
            </a:xfrm>
          </p:grpSpPr>
          <p:sp>
            <p:nvSpPr>
              <p:cNvPr id="102405" name="Rectangle 5"/>
              <p:cNvSpPr>
                <a:spLocks noChangeArrowheads="1"/>
              </p:cNvSpPr>
              <p:nvPr/>
            </p:nvSpPr>
            <p:spPr bwMode="auto">
              <a:xfrm>
                <a:off x="0" y="0"/>
                <a:ext cx="2496" cy="2016"/>
              </a:xfrm>
              <a:prstGeom prst="rect">
                <a:avLst/>
              </a:prstGeom>
              <a:solidFill>
                <a:schemeClr val="bg1"/>
              </a:solidFill>
              <a:ln w="9525">
                <a:noFill/>
                <a:miter lim="800000"/>
              </a:ln>
              <a:effectLst>
                <a:outerShdw dist="35921" dir="2700000" algn="ctr" rotWithShape="0">
                  <a:schemeClr val="tx2"/>
                </a:outerShdw>
              </a:effectLst>
            </p:spPr>
            <p:txBody>
              <a:bodyPr wrap="none" anchor="ctr"/>
              <a:lstStyle/>
              <a:p>
                <a:pPr eaLnBrk="0" hangingPunct="0">
                  <a:defRPr/>
                </a:pPr>
                <a:endParaRPr lang="zh-CN" altLang="en-US">
                  <a:latin typeface="华文行楷" panose="02010800040101010101" pitchFamily="2" charset="-122"/>
                  <a:ea typeface="华文行楷" panose="02010800040101010101" pitchFamily="2" charset="-122"/>
                </a:endParaRPr>
              </a:p>
            </p:txBody>
          </p:sp>
          <p:pic>
            <p:nvPicPr>
              <p:cNvPr id="137223" name="Picture 6" descr="解放南京"/>
              <p:cNvPicPr>
                <a:picLocks noChangeAspect="1" noChangeArrowheads="1"/>
              </p:cNvPicPr>
              <p:nvPr/>
            </p:nvPicPr>
            <p:blipFill>
              <a:blip r:embed="rId2" cstate="print"/>
              <a:srcRect/>
              <a:stretch>
                <a:fillRect/>
              </a:stretch>
            </p:blipFill>
            <p:spPr bwMode="auto">
              <a:xfrm>
                <a:off x="48" y="48"/>
                <a:ext cx="2400" cy="1933"/>
              </a:xfrm>
              <a:prstGeom prst="rect">
                <a:avLst/>
              </a:prstGeom>
              <a:noFill/>
              <a:ln w="9525">
                <a:noFill/>
                <a:miter lim="800000"/>
                <a:headEnd/>
                <a:tailEnd/>
              </a:ln>
            </p:spPr>
          </p:pic>
        </p:grpSp>
        <p:sp>
          <p:nvSpPr>
            <p:cNvPr id="137221" name="Text Box 7"/>
            <p:cNvSpPr txBox="1">
              <a:spLocks noChangeArrowheads="1"/>
            </p:cNvSpPr>
            <p:nvPr/>
          </p:nvSpPr>
          <p:spPr bwMode="auto">
            <a:xfrm>
              <a:off x="2256" y="407"/>
              <a:ext cx="2048" cy="518"/>
            </a:xfrm>
            <a:prstGeom prst="rect">
              <a:avLst/>
            </a:prstGeom>
            <a:noFill/>
            <a:ln w="9525">
              <a:noFill/>
              <a:miter lim="800000"/>
              <a:headEnd/>
              <a:tailEnd/>
            </a:ln>
          </p:spPr>
          <p:txBody>
            <a:bodyPr wrap="none">
              <a:spAutoFit/>
            </a:bodyPr>
            <a:lstStyle/>
            <a:p>
              <a:pPr algn="ctr"/>
              <a:r>
                <a:rPr lang="zh-CN" altLang="en-US" sz="2400">
                  <a:solidFill>
                    <a:schemeClr val="tx1"/>
                  </a:solidFill>
                  <a:latin typeface="Times New Roman" pitchFamily="18" charset="0"/>
                  <a:ea typeface="楷体_GB2312" pitchFamily="49" charset="-122"/>
                </a:rPr>
                <a:t>                毛泽东看解放</a:t>
              </a:r>
            </a:p>
            <a:p>
              <a:pPr algn="ctr"/>
              <a:r>
                <a:rPr lang="zh-CN" altLang="en-US" sz="2400">
                  <a:solidFill>
                    <a:schemeClr val="tx1"/>
                  </a:solidFill>
                  <a:latin typeface="Times New Roman" pitchFamily="18" charset="0"/>
                  <a:ea typeface="楷体_GB2312" pitchFamily="49" charset="-122"/>
                </a:rPr>
                <a:t>南京的号外。</a:t>
              </a:r>
            </a:p>
          </p:txBody>
        </p:sp>
      </p:gr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02402"/>
                                        </p:tgtEl>
                                        <p:attrNameLst>
                                          <p:attrName>style.visibility</p:attrName>
                                        </p:attrNameLst>
                                      </p:cBhvr>
                                      <p:to>
                                        <p:strVal val="visible"/>
                                      </p:to>
                                    </p:set>
                                    <p:anim calcmode="lin" valueType="num">
                                      <p:cBhvr additive="base">
                                        <p:cTn id="7" dur="500" fill="hold"/>
                                        <p:tgtEl>
                                          <p:spTgt spid="102402"/>
                                        </p:tgtEl>
                                        <p:attrNameLst>
                                          <p:attrName>ppt_x</p:attrName>
                                        </p:attrNameLst>
                                      </p:cBhvr>
                                      <p:tavLst>
                                        <p:tav tm="0">
                                          <p:val>
                                            <p:strVal val="0-#ppt_w/2"/>
                                          </p:val>
                                        </p:tav>
                                        <p:tav tm="100000">
                                          <p:val>
                                            <p:strVal val="#ppt_x"/>
                                          </p:val>
                                        </p:tav>
                                      </p:tavLst>
                                    </p:anim>
                                    <p:anim calcmode="lin" valueType="num">
                                      <p:cBhvr additive="base">
                                        <p:cTn id="8" dur="500" fill="hold"/>
                                        <p:tgtEl>
                                          <p:spTgt spid="10240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9" presetClass="entr" presetSubtype="0"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2"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ChangeArrowheads="1"/>
          </p:cNvSpPr>
          <p:nvPr/>
        </p:nvSpPr>
        <p:spPr bwMode="auto">
          <a:xfrm>
            <a:off x="1066800" y="1447800"/>
            <a:ext cx="7010400" cy="1143000"/>
          </a:xfrm>
          <a:prstGeom prst="rect">
            <a:avLst/>
          </a:prstGeom>
          <a:noFill/>
          <a:ln w="9525">
            <a:noFill/>
            <a:miter lim="800000"/>
          </a:ln>
          <a:effectLst>
            <a:outerShdw dist="17961" dir="2700000" algn="ctr" rotWithShape="0">
              <a:schemeClr val="bg2"/>
            </a:outerShdw>
          </a:effectLst>
        </p:spPr>
        <p:txBody>
          <a:bodyPr anchor="ctr"/>
          <a:lstStyle/>
          <a:p>
            <a:pPr>
              <a:defRPr/>
            </a:pPr>
            <a:endParaRPr lang="zh-CN" altLang="en-US" sz="2800" b="0" dirty="0">
              <a:solidFill>
                <a:srgbClr val="0000CC"/>
              </a:solidFill>
              <a:latin typeface="黑体" panose="02010609060101010101" pitchFamily="49" charset="-122"/>
              <a:ea typeface="黑体" panose="02010609060101010101" pitchFamily="49" charset="-122"/>
            </a:endParaRPr>
          </a:p>
        </p:txBody>
      </p:sp>
      <p:sp>
        <p:nvSpPr>
          <p:cNvPr id="103427" name="Text Box 3"/>
          <p:cNvSpPr txBox="1">
            <a:spLocks noChangeArrowheads="1"/>
          </p:cNvSpPr>
          <p:nvPr/>
        </p:nvSpPr>
        <p:spPr bwMode="auto">
          <a:xfrm>
            <a:off x="683568" y="2636912"/>
            <a:ext cx="7391400" cy="476669"/>
          </a:xfrm>
          <a:prstGeom prst="rect">
            <a:avLst/>
          </a:prstGeom>
          <a:noFill/>
          <a:ln w="9525">
            <a:noFill/>
            <a:miter lim="800000"/>
          </a:ln>
          <a:effectLst>
            <a:outerShdw dist="17961" dir="2700000" algn="ctr" rotWithShape="0">
              <a:schemeClr val="tx2"/>
            </a:outerShdw>
          </a:effectLst>
        </p:spPr>
        <p:txBody>
          <a:bodyPr>
            <a:spAutoFit/>
          </a:bodyPr>
          <a:lstStyle/>
          <a:p>
            <a:pPr lvl="2">
              <a:lnSpc>
                <a:spcPct val="120000"/>
              </a:lnSpc>
              <a:defRPr/>
            </a:pPr>
            <a:r>
              <a:rPr lang="en-US" altLang="zh-CN" sz="2400" dirty="0" smtClean="0">
                <a:solidFill>
                  <a:srgbClr val="0000FF"/>
                </a:solidFill>
                <a:latin typeface="黑体"/>
              </a:rPr>
              <a:t>※</a:t>
            </a:r>
            <a:r>
              <a:rPr lang="zh-CN" altLang="en-US" sz="2400" dirty="0" smtClean="0">
                <a:solidFill>
                  <a:srgbClr val="0000FF"/>
                </a:solidFill>
                <a:latin typeface="黑体" panose="02010609060101010101" pitchFamily="49" charset="-122"/>
                <a:ea typeface="黑体" panose="02010609060101010101" pitchFamily="49" charset="-122"/>
              </a:rPr>
              <a:t>关于</a:t>
            </a:r>
            <a:r>
              <a:rPr lang="zh-CN" altLang="en-US" sz="2400" dirty="0">
                <a:solidFill>
                  <a:srgbClr val="0000FF"/>
                </a:solidFill>
                <a:latin typeface="黑体" panose="02010609060101010101" pitchFamily="49" charset="-122"/>
                <a:ea typeface="黑体" panose="02010609060101010101" pitchFamily="49" charset="-122"/>
              </a:rPr>
              <a:t>中国资产阶级的分析和统一战线政策</a:t>
            </a:r>
          </a:p>
        </p:txBody>
      </p:sp>
      <p:sp>
        <p:nvSpPr>
          <p:cNvPr id="103428" name="Text Box 4"/>
          <p:cNvSpPr txBox="1">
            <a:spLocks noChangeArrowheads="1"/>
          </p:cNvSpPr>
          <p:nvPr/>
        </p:nvSpPr>
        <p:spPr bwMode="auto">
          <a:xfrm>
            <a:off x="2051720" y="3501008"/>
            <a:ext cx="4801314" cy="461665"/>
          </a:xfrm>
          <a:prstGeom prst="rect">
            <a:avLst/>
          </a:prstGeom>
          <a:noFill/>
          <a:ln w="9525">
            <a:noFill/>
            <a:miter lim="800000"/>
          </a:ln>
          <a:effectLst>
            <a:outerShdw dist="17961" dir="2700000" algn="ctr" rotWithShape="0">
              <a:schemeClr val="tx2"/>
            </a:outerShdw>
          </a:effectLst>
        </p:spPr>
        <p:txBody>
          <a:bodyPr wrap="none">
            <a:spAutoFit/>
          </a:bodyPr>
          <a:lstStyle/>
          <a:p>
            <a:pPr>
              <a:defRPr/>
            </a:pPr>
            <a:r>
              <a:rPr lang="en-US" altLang="zh-CN" sz="2400" dirty="0" smtClean="0">
                <a:solidFill>
                  <a:srgbClr val="0000FF"/>
                </a:solidFill>
                <a:latin typeface="黑体"/>
              </a:rPr>
              <a:t>※</a:t>
            </a:r>
            <a:r>
              <a:rPr lang="zh-CN" altLang="en-US" sz="2400" dirty="0" smtClean="0">
                <a:solidFill>
                  <a:srgbClr val="0000FF"/>
                </a:solidFill>
                <a:latin typeface="黑体" panose="02010609060101010101" pitchFamily="49" charset="-122"/>
                <a:ea typeface="黑体" panose="02010609060101010101" pitchFamily="49" charset="-122"/>
              </a:rPr>
              <a:t>关于</a:t>
            </a:r>
            <a:r>
              <a:rPr lang="zh-CN" altLang="en-US" sz="2400" dirty="0">
                <a:solidFill>
                  <a:srgbClr val="0000FF"/>
                </a:solidFill>
                <a:latin typeface="黑体" panose="02010609060101010101" pitchFamily="49" charset="-122"/>
                <a:ea typeface="黑体" panose="02010609060101010101" pitchFamily="49" charset="-122"/>
              </a:rPr>
              <a:t>中国武装斗争的特点和作用</a:t>
            </a:r>
          </a:p>
        </p:txBody>
      </p:sp>
      <p:sp>
        <p:nvSpPr>
          <p:cNvPr id="103429" name="Text Box 5"/>
          <p:cNvSpPr txBox="1">
            <a:spLocks noChangeArrowheads="1"/>
          </p:cNvSpPr>
          <p:nvPr/>
        </p:nvSpPr>
        <p:spPr bwMode="auto">
          <a:xfrm>
            <a:off x="2627784" y="4221088"/>
            <a:ext cx="4185761" cy="461665"/>
          </a:xfrm>
          <a:prstGeom prst="rect">
            <a:avLst/>
          </a:prstGeom>
          <a:noFill/>
          <a:ln w="9525">
            <a:noFill/>
            <a:miter lim="800000"/>
          </a:ln>
          <a:effectLst>
            <a:outerShdw dist="17961" dir="2700000" algn="ctr" rotWithShape="0">
              <a:schemeClr val="tx2"/>
            </a:outerShdw>
          </a:effectLst>
        </p:spPr>
        <p:txBody>
          <a:bodyPr wrap="none">
            <a:spAutoFit/>
          </a:bodyPr>
          <a:lstStyle/>
          <a:p>
            <a:pPr>
              <a:defRPr/>
            </a:pPr>
            <a:r>
              <a:rPr lang="en-US" altLang="zh-CN" sz="2400" dirty="0" smtClean="0">
                <a:solidFill>
                  <a:srgbClr val="0000FF"/>
                </a:solidFill>
                <a:latin typeface="黑体"/>
              </a:rPr>
              <a:t>※</a:t>
            </a:r>
            <a:r>
              <a:rPr lang="zh-CN" altLang="en-US" sz="2400" smtClean="0">
                <a:solidFill>
                  <a:srgbClr val="0000FF"/>
                </a:solidFill>
                <a:latin typeface="黑体" panose="02010609060101010101" pitchFamily="49" charset="-122"/>
                <a:ea typeface="黑体" panose="02010609060101010101" pitchFamily="49" charset="-122"/>
              </a:rPr>
              <a:t>关于中国共产党自身</a:t>
            </a:r>
            <a:r>
              <a:rPr lang="zh-CN" altLang="en-US" sz="2400" dirty="0">
                <a:solidFill>
                  <a:srgbClr val="0000FF"/>
                </a:solidFill>
                <a:latin typeface="黑体" panose="02010609060101010101" pitchFamily="49" charset="-122"/>
                <a:ea typeface="黑体" panose="02010609060101010101" pitchFamily="49" charset="-122"/>
              </a:rPr>
              <a:t>的建设</a:t>
            </a:r>
          </a:p>
        </p:txBody>
      </p:sp>
      <p:sp>
        <p:nvSpPr>
          <p:cNvPr id="103430" name="Text Box 6"/>
          <p:cNvSpPr txBox="1">
            <a:spLocks noChangeArrowheads="1"/>
          </p:cNvSpPr>
          <p:nvPr/>
        </p:nvSpPr>
        <p:spPr bwMode="auto">
          <a:xfrm>
            <a:off x="1043608" y="1988840"/>
            <a:ext cx="7613650" cy="609398"/>
          </a:xfrm>
          <a:prstGeom prst="rect">
            <a:avLst/>
          </a:prstGeom>
          <a:noFill/>
          <a:ln w="9525">
            <a:noFill/>
            <a:miter lim="800000"/>
          </a:ln>
          <a:effectLst>
            <a:outerShdw dist="17961" dir="2700000" algn="ctr" rotWithShape="0">
              <a:schemeClr val="tx2"/>
            </a:outerShdw>
          </a:effectLst>
        </p:spPr>
        <p:txBody>
          <a:bodyPr>
            <a:spAutoFit/>
          </a:bodyPr>
          <a:lstStyle/>
          <a:p>
            <a:pPr>
              <a:lnSpc>
                <a:spcPct val="120000"/>
              </a:lnSpc>
              <a:defRPr/>
            </a:pPr>
            <a:r>
              <a:rPr lang="en-US" altLang="zh-CN" sz="2800" dirty="0" smtClean="0">
                <a:solidFill>
                  <a:srgbClr val="0000FF"/>
                </a:solidFill>
                <a:latin typeface="黑体"/>
              </a:rPr>
              <a:t>※</a:t>
            </a:r>
            <a:r>
              <a:rPr lang="zh-CN" altLang="en-US" sz="2400" dirty="0" smtClean="0">
                <a:solidFill>
                  <a:srgbClr val="0000FF"/>
                </a:solidFill>
                <a:latin typeface="黑体" panose="02010609060101010101" pitchFamily="49" charset="-122"/>
                <a:ea typeface="黑体" panose="02010609060101010101" pitchFamily="49" charset="-122"/>
              </a:rPr>
              <a:t>关于</a:t>
            </a:r>
            <a:r>
              <a:rPr lang="zh-CN" altLang="en-US" sz="2800" dirty="0">
                <a:solidFill>
                  <a:srgbClr val="0000FF"/>
                </a:solidFill>
                <a:latin typeface="黑体" panose="02010609060101010101" pitchFamily="49" charset="-122"/>
                <a:ea typeface="黑体" panose="02010609060101010101" pitchFamily="49" charset="-122"/>
              </a:rPr>
              <a:t>中国革命的道路理论</a:t>
            </a:r>
          </a:p>
        </p:txBody>
      </p:sp>
      <p:sp>
        <p:nvSpPr>
          <p:cNvPr id="103431" name="Text Box 7"/>
          <p:cNvSpPr txBox="1">
            <a:spLocks noChangeArrowheads="1"/>
          </p:cNvSpPr>
          <p:nvPr/>
        </p:nvSpPr>
        <p:spPr bwMode="auto">
          <a:xfrm>
            <a:off x="611560" y="1340768"/>
            <a:ext cx="6481762" cy="541337"/>
          </a:xfrm>
          <a:prstGeom prst="rect">
            <a:avLst/>
          </a:prstGeom>
          <a:noFill/>
          <a:ln w="9525">
            <a:noFill/>
            <a:miter lim="800000"/>
          </a:ln>
          <a:effectLst>
            <a:outerShdw dist="17961" dir="2700000" algn="ctr" rotWithShape="0">
              <a:schemeClr val="tx2"/>
            </a:outerShdw>
          </a:effectLst>
        </p:spPr>
        <p:txBody>
          <a:bodyPr>
            <a:spAutoFit/>
          </a:bodyPr>
          <a:lstStyle/>
          <a:p>
            <a:pPr>
              <a:lnSpc>
                <a:spcPct val="120000"/>
              </a:lnSpc>
              <a:defRPr/>
            </a:pPr>
            <a:r>
              <a:rPr lang="en-US" altLang="zh-CN" sz="2400" dirty="0" smtClean="0">
                <a:solidFill>
                  <a:srgbClr val="0000FF"/>
                </a:solidFill>
                <a:latin typeface="黑体"/>
                <a:ea typeface="黑体"/>
              </a:rPr>
              <a:t>※</a:t>
            </a:r>
            <a:r>
              <a:rPr lang="zh-CN" altLang="en-US" sz="2400" dirty="0" smtClean="0">
                <a:solidFill>
                  <a:srgbClr val="0000FF"/>
                </a:solidFill>
                <a:latin typeface="黑体" panose="02010609060101010101" pitchFamily="49" charset="-122"/>
                <a:ea typeface="黑体" panose="02010609060101010101" pitchFamily="49" charset="-122"/>
              </a:rPr>
              <a:t>新民主主义革命</a:t>
            </a:r>
            <a:r>
              <a:rPr lang="zh-CN" altLang="en-US" sz="2400" dirty="0">
                <a:solidFill>
                  <a:srgbClr val="0000FF"/>
                </a:solidFill>
                <a:latin typeface="黑体" panose="02010609060101010101" pitchFamily="49" charset="-122"/>
                <a:ea typeface="黑体" panose="02010609060101010101" pitchFamily="49" charset="-122"/>
              </a:rPr>
              <a:t>的总路线、基本纲领</a:t>
            </a:r>
          </a:p>
        </p:txBody>
      </p:sp>
      <p:sp>
        <p:nvSpPr>
          <p:cNvPr id="9" name="Text Box 7"/>
          <p:cNvSpPr txBox="1">
            <a:spLocks noChangeArrowheads="1"/>
          </p:cNvSpPr>
          <p:nvPr/>
        </p:nvSpPr>
        <p:spPr bwMode="auto">
          <a:xfrm>
            <a:off x="500034" y="285728"/>
            <a:ext cx="7358114" cy="1057790"/>
          </a:xfrm>
          <a:prstGeom prst="rect">
            <a:avLst/>
          </a:prstGeom>
          <a:noFill/>
          <a:ln w="9525">
            <a:noFill/>
            <a:miter lim="800000"/>
          </a:ln>
          <a:effectLst>
            <a:outerShdw dist="17961" dir="2700000" algn="ctr" rotWithShape="0">
              <a:schemeClr val="tx2"/>
            </a:outerShdw>
          </a:effectLst>
        </p:spPr>
        <p:txBody>
          <a:bodyPr wrap="square">
            <a:spAutoFit/>
          </a:bodyPr>
          <a:lstStyle/>
          <a:p>
            <a:pPr>
              <a:lnSpc>
                <a:spcPct val="120000"/>
              </a:lnSpc>
              <a:defRPr/>
            </a:pPr>
            <a:r>
              <a:rPr lang="zh-CN" altLang="en-US" sz="2800" dirty="0" smtClean="0">
                <a:solidFill>
                  <a:srgbClr val="FF0000"/>
                </a:solidFill>
                <a:latin typeface="黑体" panose="02010609060101010101" pitchFamily="49" charset="-122"/>
                <a:ea typeface="黑体" panose="02010609060101010101" pitchFamily="49" charset="-122"/>
              </a:rPr>
              <a:t>深入研究中国革命的特点和规律，提出了新民主主义革命理论</a:t>
            </a:r>
            <a:endParaRPr lang="zh-CN" altLang="en-US" sz="2800"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endCondLst>
                                    <p:cond delay="0"/>
                                  </p:endCondLst>
                                  <p:childTnLst>
                                    <p:set>
                                      <p:cBhvr>
                                        <p:cTn id="6" dur="1" fill="hold">
                                          <p:stCondLst>
                                            <p:cond delay="0"/>
                                          </p:stCondLst>
                                        </p:cTn>
                                        <p:tgtEl>
                                          <p:spTgt spid="103426"/>
                                        </p:tgtEl>
                                        <p:attrNameLst>
                                          <p:attrName>style.visibility</p:attrName>
                                        </p:attrNameLst>
                                      </p:cBhvr>
                                      <p:to>
                                        <p:strVal val="visible"/>
                                      </p:to>
                                    </p:set>
                                    <p:anim calcmode="lin" valueType="num">
                                      <p:cBhvr additive="base">
                                        <p:cTn id="7" dur="500" fill="hold"/>
                                        <p:tgtEl>
                                          <p:spTgt spid="103426"/>
                                        </p:tgtEl>
                                        <p:attrNameLst>
                                          <p:attrName>ppt_x</p:attrName>
                                        </p:attrNameLst>
                                      </p:cBhvr>
                                      <p:tavLst>
                                        <p:tav tm="0">
                                          <p:val>
                                            <p:strVal val="0-#ppt_w/2"/>
                                          </p:val>
                                        </p:tav>
                                        <p:tav tm="100000">
                                          <p:val>
                                            <p:strVal val="#ppt_x"/>
                                          </p:val>
                                        </p:tav>
                                      </p:tavLst>
                                    </p:anim>
                                    <p:anim calcmode="lin" valueType="num">
                                      <p:cBhvr additive="base">
                                        <p:cTn id="8" dur="500" fill="hold"/>
                                        <p:tgtEl>
                                          <p:spTgt spid="10342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103427"/>
                                        </p:tgtEl>
                                        <p:attrNameLst>
                                          <p:attrName>style.visibility</p:attrName>
                                        </p:attrNameLst>
                                      </p:cBhvr>
                                      <p:to>
                                        <p:strVal val="visible"/>
                                      </p:to>
                                    </p:set>
                                    <p:anim calcmode="lin" valueType="num">
                                      <p:cBhvr additive="base">
                                        <p:cTn id="12" dur="500" fill="hold"/>
                                        <p:tgtEl>
                                          <p:spTgt spid="103427"/>
                                        </p:tgtEl>
                                        <p:attrNameLst>
                                          <p:attrName>ppt_x</p:attrName>
                                        </p:attrNameLst>
                                      </p:cBhvr>
                                      <p:tavLst>
                                        <p:tav tm="0">
                                          <p:val>
                                            <p:strVal val="0-#ppt_w/2"/>
                                          </p:val>
                                        </p:tav>
                                        <p:tav tm="100000">
                                          <p:val>
                                            <p:strVal val="#ppt_x"/>
                                          </p:val>
                                        </p:tav>
                                      </p:tavLst>
                                    </p:anim>
                                    <p:anim calcmode="lin" valueType="num">
                                      <p:cBhvr additive="base">
                                        <p:cTn id="13" dur="500" fill="hold"/>
                                        <p:tgtEl>
                                          <p:spTgt spid="103427"/>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103428"/>
                                        </p:tgtEl>
                                        <p:attrNameLst>
                                          <p:attrName>style.visibility</p:attrName>
                                        </p:attrNameLst>
                                      </p:cBhvr>
                                      <p:to>
                                        <p:strVal val="visible"/>
                                      </p:to>
                                    </p:set>
                                    <p:anim calcmode="lin" valueType="num">
                                      <p:cBhvr additive="base">
                                        <p:cTn id="17" dur="500" fill="hold"/>
                                        <p:tgtEl>
                                          <p:spTgt spid="103428"/>
                                        </p:tgtEl>
                                        <p:attrNameLst>
                                          <p:attrName>ppt_x</p:attrName>
                                        </p:attrNameLst>
                                      </p:cBhvr>
                                      <p:tavLst>
                                        <p:tav tm="0">
                                          <p:val>
                                            <p:strVal val="0-#ppt_w/2"/>
                                          </p:val>
                                        </p:tav>
                                        <p:tav tm="100000">
                                          <p:val>
                                            <p:strVal val="#ppt_x"/>
                                          </p:val>
                                        </p:tav>
                                      </p:tavLst>
                                    </p:anim>
                                    <p:anim calcmode="lin" valueType="num">
                                      <p:cBhvr additive="base">
                                        <p:cTn id="18" dur="500" fill="hold"/>
                                        <p:tgtEl>
                                          <p:spTgt spid="103428"/>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103429"/>
                                        </p:tgtEl>
                                        <p:attrNameLst>
                                          <p:attrName>style.visibility</p:attrName>
                                        </p:attrNameLst>
                                      </p:cBhvr>
                                      <p:to>
                                        <p:strVal val="visible"/>
                                      </p:to>
                                    </p:set>
                                    <p:anim calcmode="lin" valueType="num">
                                      <p:cBhvr additive="base">
                                        <p:cTn id="22" dur="500" fill="hold"/>
                                        <p:tgtEl>
                                          <p:spTgt spid="103429"/>
                                        </p:tgtEl>
                                        <p:attrNameLst>
                                          <p:attrName>ppt_x</p:attrName>
                                        </p:attrNameLst>
                                      </p:cBhvr>
                                      <p:tavLst>
                                        <p:tav tm="0">
                                          <p:val>
                                            <p:strVal val="0-#ppt_w/2"/>
                                          </p:val>
                                        </p:tav>
                                        <p:tav tm="100000">
                                          <p:val>
                                            <p:strVal val="#ppt_x"/>
                                          </p:val>
                                        </p:tav>
                                      </p:tavLst>
                                    </p:anim>
                                    <p:anim calcmode="lin" valueType="num">
                                      <p:cBhvr additive="base">
                                        <p:cTn id="23" dur="500" fill="hold"/>
                                        <p:tgtEl>
                                          <p:spTgt spid="103429"/>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 presetClass="entr" presetSubtype="8" fill="hold" grpId="0" nodeType="afterEffect">
                                  <p:stCondLst>
                                    <p:cond delay="0"/>
                                  </p:stCondLst>
                                  <p:childTnLst>
                                    <p:set>
                                      <p:cBhvr>
                                        <p:cTn id="26" dur="1" fill="hold">
                                          <p:stCondLst>
                                            <p:cond delay="0"/>
                                          </p:stCondLst>
                                        </p:cTn>
                                        <p:tgtEl>
                                          <p:spTgt spid="103430"/>
                                        </p:tgtEl>
                                        <p:attrNameLst>
                                          <p:attrName>style.visibility</p:attrName>
                                        </p:attrNameLst>
                                      </p:cBhvr>
                                      <p:to>
                                        <p:strVal val="visible"/>
                                      </p:to>
                                    </p:set>
                                    <p:anim calcmode="lin" valueType="num">
                                      <p:cBhvr additive="base">
                                        <p:cTn id="27" dur="500" fill="hold"/>
                                        <p:tgtEl>
                                          <p:spTgt spid="103430"/>
                                        </p:tgtEl>
                                        <p:attrNameLst>
                                          <p:attrName>ppt_x</p:attrName>
                                        </p:attrNameLst>
                                      </p:cBhvr>
                                      <p:tavLst>
                                        <p:tav tm="0">
                                          <p:val>
                                            <p:strVal val="0-#ppt_w/2"/>
                                          </p:val>
                                        </p:tav>
                                        <p:tav tm="100000">
                                          <p:val>
                                            <p:strVal val="#ppt_x"/>
                                          </p:val>
                                        </p:tav>
                                      </p:tavLst>
                                    </p:anim>
                                    <p:anim calcmode="lin" valueType="num">
                                      <p:cBhvr additive="base">
                                        <p:cTn id="28" dur="500" fill="hold"/>
                                        <p:tgtEl>
                                          <p:spTgt spid="103430"/>
                                        </p:tgtEl>
                                        <p:attrNameLst>
                                          <p:attrName>ppt_y</p:attrName>
                                        </p:attrNameLst>
                                      </p:cBhvr>
                                      <p:tavLst>
                                        <p:tav tm="0">
                                          <p:val>
                                            <p:strVal val="#ppt_y"/>
                                          </p:val>
                                        </p:tav>
                                        <p:tav tm="100000">
                                          <p:val>
                                            <p:strVal val="#ppt_y"/>
                                          </p:val>
                                        </p:tav>
                                      </p:tavLst>
                                    </p:anim>
                                  </p:childTnLst>
                                </p:cTn>
                              </p:par>
                            </p:childTnLst>
                          </p:cTn>
                        </p:par>
                        <p:par>
                          <p:cTn id="29" fill="hold">
                            <p:stCondLst>
                              <p:cond delay="2500"/>
                            </p:stCondLst>
                            <p:childTnLst>
                              <p:par>
                                <p:cTn id="30" presetID="2" presetClass="entr" presetSubtype="8" fill="hold" nodeType="afterEffect">
                                  <p:stCondLst>
                                    <p:cond delay="0"/>
                                  </p:stCondLst>
                                  <p:childTnLst>
                                    <p:set>
                                      <p:cBhvr>
                                        <p:cTn id="31" dur="1" fill="hold">
                                          <p:stCondLst>
                                            <p:cond delay="0"/>
                                          </p:stCondLst>
                                        </p:cTn>
                                        <p:tgtEl>
                                          <p:spTgt spid="103431"/>
                                        </p:tgtEl>
                                        <p:attrNameLst>
                                          <p:attrName>style.visibility</p:attrName>
                                        </p:attrNameLst>
                                      </p:cBhvr>
                                      <p:to>
                                        <p:strVal val="visible"/>
                                      </p:to>
                                    </p:set>
                                    <p:anim calcmode="lin" valueType="num">
                                      <p:cBhvr additive="base">
                                        <p:cTn id="32" dur="500" fill="hold"/>
                                        <p:tgtEl>
                                          <p:spTgt spid="103431"/>
                                        </p:tgtEl>
                                        <p:attrNameLst>
                                          <p:attrName>ppt_x</p:attrName>
                                        </p:attrNameLst>
                                      </p:cBhvr>
                                      <p:tavLst>
                                        <p:tav tm="0">
                                          <p:val>
                                            <p:strVal val="0-#ppt_w/2"/>
                                          </p:val>
                                        </p:tav>
                                        <p:tav tm="100000">
                                          <p:val>
                                            <p:strVal val="#ppt_x"/>
                                          </p:val>
                                        </p:tav>
                                      </p:tavLst>
                                    </p:anim>
                                    <p:anim calcmode="lin" valueType="num">
                                      <p:cBhvr additive="base">
                                        <p:cTn id="33" dur="500" fill="hold"/>
                                        <p:tgtEl>
                                          <p:spTgt spid="103431"/>
                                        </p:tgtEl>
                                        <p:attrNameLst>
                                          <p:attrName>ppt_y</p:attrName>
                                        </p:attrNameLst>
                                      </p:cBhvr>
                                      <p:tavLst>
                                        <p:tav tm="0">
                                          <p:val>
                                            <p:strVal val="#ppt_y"/>
                                          </p:val>
                                        </p:tav>
                                        <p:tav tm="100000">
                                          <p:val>
                                            <p:strVal val="#ppt_y"/>
                                          </p:val>
                                        </p:tav>
                                      </p:tavLst>
                                    </p:anim>
                                  </p:childTnLst>
                                </p:cTn>
                              </p:par>
                            </p:childTnLst>
                          </p:cTn>
                        </p:par>
                        <p:par>
                          <p:cTn id="34" fill="hold">
                            <p:stCondLst>
                              <p:cond delay="3000"/>
                            </p:stCondLst>
                            <p:childTnLst>
                              <p:par>
                                <p:cTn id="35" presetID="2" presetClass="entr" presetSubtype="8" fill="hold" nodeType="after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0-#ppt_w/2"/>
                                          </p:val>
                                        </p:tav>
                                        <p:tav tm="100000">
                                          <p:val>
                                            <p:strVal val="#ppt_x"/>
                                          </p:val>
                                        </p:tav>
                                      </p:tavLst>
                                    </p:anim>
                                    <p:anim calcmode="lin" valueType="num">
                                      <p:cBhvr additive="base">
                                        <p:cTn id="38"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6" grpId="0"/>
      <p:bldP spid="103428" grpId="0"/>
      <p:bldP spid="103429" grpId="0"/>
      <p:bldP spid="10343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ChangeArrowheads="1"/>
          </p:cNvSpPr>
          <p:nvPr/>
        </p:nvSpPr>
        <p:spPr bwMode="auto">
          <a:xfrm>
            <a:off x="914400" y="549275"/>
            <a:ext cx="7086600" cy="1366838"/>
          </a:xfrm>
          <a:prstGeom prst="rect">
            <a:avLst/>
          </a:prstGeom>
          <a:solidFill>
            <a:schemeClr val="accent6">
              <a:lumMod val="40000"/>
              <a:lumOff val="60000"/>
            </a:schemeClr>
          </a:solidFill>
          <a:ln w="9525">
            <a:noFill/>
            <a:miter lim="800000"/>
          </a:ln>
          <a:effectLst>
            <a:outerShdw dist="17961" dir="2700000" algn="ctr" rotWithShape="0">
              <a:schemeClr val="bg2"/>
            </a:outerShdw>
          </a:effectLst>
        </p:spPr>
        <p:txBody>
          <a:bodyPr anchor="ctr"/>
          <a:lstStyle/>
          <a:p>
            <a:pPr>
              <a:defRPr/>
            </a:pPr>
            <a:r>
              <a:rPr lang="zh-CN" altLang="en-US" sz="3600" dirty="0">
                <a:solidFill>
                  <a:srgbClr val="0000FF"/>
                </a:solidFill>
                <a:latin typeface="华文隶书" pitchFamily="2" charset="-122"/>
                <a:ea typeface="华文隶书" pitchFamily="2" charset="-122"/>
              </a:rPr>
              <a:t>   （2</a:t>
            </a:r>
            <a:r>
              <a:rPr lang="zh-CN" altLang="en-US" sz="3600" dirty="0" smtClean="0">
                <a:solidFill>
                  <a:srgbClr val="0000FF"/>
                </a:solidFill>
                <a:latin typeface="华文隶书" pitchFamily="2" charset="-122"/>
                <a:ea typeface="华文隶书" pitchFamily="2" charset="-122"/>
              </a:rPr>
              <a:t>）社会主义革命</a:t>
            </a:r>
            <a:r>
              <a:rPr lang="zh-CN" altLang="en-US" sz="3600" dirty="0">
                <a:solidFill>
                  <a:srgbClr val="0000FF"/>
                </a:solidFill>
                <a:latin typeface="华文隶书" pitchFamily="2" charset="-122"/>
                <a:ea typeface="华文隶书" pitchFamily="2" charset="-122"/>
              </a:rPr>
              <a:t>和</a:t>
            </a:r>
            <a:r>
              <a:rPr lang="zh-CN" altLang="en-US" sz="3600" dirty="0" smtClean="0">
                <a:solidFill>
                  <a:srgbClr val="0000FF"/>
                </a:solidFill>
                <a:latin typeface="华文隶书" pitchFamily="2" charset="-122"/>
                <a:ea typeface="华文隶书" pitchFamily="2" charset="-122"/>
              </a:rPr>
              <a:t>社会主义建设理论</a:t>
            </a:r>
            <a:endParaRPr lang="zh-CN" altLang="en-US" sz="3600" dirty="0">
              <a:solidFill>
                <a:srgbClr val="0000FF"/>
              </a:solidFill>
              <a:latin typeface="华文隶书" pitchFamily="2" charset="-122"/>
              <a:ea typeface="华文隶书" pitchFamily="2" charset="-122"/>
            </a:endParaRPr>
          </a:p>
        </p:txBody>
      </p:sp>
      <p:pic>
        <p:nvPicPr>
          <p:cNvPr id="139267" name="Picture 3" descr="20090904112751750"/>
          <p:cNvPicPr>
            <a:picLocks noChangeAspect="1" noChangeArrowheads="1"/>
          </p:cNvPicPr>
          <p:nvPr/>
        </p:nvPicPr>
        <p:blipFill>
          <a:blip r:embed="rId2" cstate="print"/>
          <a:srcRect/>
          <a:stretch>
            <a:fillRect/>
          </a:stretch>
        </p:blipFill>
        <p:spPr bwMode="auto">
          <a:xfrm>
            <a:off x="4071934" y="2214554"/>
            <a:ext cx="4762500" cy="3905250"/>
          </a:xfrm>
          <a:prstGeom prst="rect">
            <a:avLst/>
          </a:prstGeom>
          <a:noFill/>
          <a:ln w="9525">
            <a:noFill/>
            <a:miter lim="800000"/>
            <a:headEnd/>
            <a:tailEnd/>
          </a:ln>
        </p:spPr>
      </p:pic>
      <p:sp>
        <p:nvSpPr>
          <p:cNvPr id="4" name="Text Box 4"/>
          <p:cNvSpPr txBox="1">
            <a:spLocks noChangeArrowheads="1"/>
          </p:cNvSpPr>
          <p:nvPr/>
        </p:nvSpPr>
        <p:spPr bwMode="auto">
          <a:xfrm>
            <a:off x="285720" y="2786058"/>
            <a:ext cx="3714744" cy="1938992"/>
          </a:xfrm>
          <a:prstGeom prst="rect">
            <a:avLst/>
          </a:prstGeom>
          <a:solidFill>
            <a:schemeClr val="bg2"/>
          </a:solidFill>
          <a:ln w="9525">
            <a:solidFill>
              <a:srgbClr val="FF0000"/>
            </a:solidFill>
            <a:miter lim="800000"/>
          </a:ln>
          <a:effectLst>
            <a:outerShdw dist="17961" dir="2700000" algn="ctr" rotWithShape="0">
              <a:schemeClr val="tx2"/>
            </a:outerShdw>
          </a:effectLst>
        </p:spPr>
        <p:txBody>
          <a:bodyPr wrap="square">
            <a:spAutoFit/>
          </a:bodyPr>
          <a:lstStyle/>
          <a:p>
            <a:pPr>
              <a:defRPr/>
            </a:pPr>
            <a:r>
              <a:rPr lang="zh-CN" altLang="en-US" sz="2400" b="1" dirty="0" smtClean="0">
                <a:solidFill>
                  <a:srgbClr val="0000FF"/>
                </a:solidFill>
                <a:latin typeface="黑体"/>
                <a:ea typeface="黑体" panose="02010609060101010101" pitchFamily="49" charset="-122"/>
              </a:rPr>
              <a:t>采取社会主义工业化和社会主义改造同时并举的方针， </a:t>
            </a:r>
            <a:endParaRPr lang="en-US" altLang="zh-CN" sz="2400" b="1" dirty="0" smtClean="0">
              <a:solidFill>
                <a:srgbClr val="0000FF"/>
              </a:solidFill>
              <a:latin typeface="黑体"/>
              <a:ea typeface="黑体" panose="02010609060101010101" pitchFamily="49" charset="-122"/>
            </a:endParaRPr>
          </a:p>
          <a:p>
            <a:pPr>
              <a:defRPr/>
            </a:pPr>
            <a:r>
              <a:rPr lang="zh-CN" altLang="en-US" sz="2400" b="1" dirty="0" smtClean="0">
                <a:solidFill>
                  <a:srgbClr val="0000FF"/>
                </a:solidFill>
                <a:latin typeface="黑体"/>
                <a:ea typeface="黑体" panose="02010609060101010101" pitchFamily="49" charset="-122"/>
              </a:rPr>
              <a:t>实行逐步改造生产资料私有制的政策</a:t>
            </a:r>
            <a:endParaRPr lang="zh-CN" altLang="en-US" sz="2400" b="1" dirty="0">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04450"/>
                                        </p:tgtEl>
                                        <p:attrNameLst>
                                          <p:attrName>style.visibility</p:attrName>
                                        </p:attrNameLst>
                                      </p:cBhvr>
                                      <p:to>
                                        <p:strVal val="visible"/>
                                      </p:to>
                                    </p:set>
                                    <p:anim calcmode="lin" valueType="num">
                                      <p:cBhvr additive="base">
                                        <p:cTn id="7" dur="500" fill="hold"/>
                                        <p:tgtEl>
                                          <p:spTgt spid="104450"/>
                                        </p:tgtEl>
                                        <p:attrNameLst>
                                          <p:attrName>ppt_x</p:attrName>
                                        </p:attrNameLst>
                                      </p:cBhvr>
                                      <p:tavLst>
                                        <p:tav tm="0">
                                          <p:val>
                                            <p:strVal val="0-#ppt_w/2"/>
                                          </p:val>
                                        </p:tav>
                                        <p:tav tm="100000">
                                          <p:val>
                                            <p:strVal val="#ppt_x"/>
                                          </p:val>
                                        </p:tav>
                                      </p:tavLst>
                                    </p:anim>
                                    <p:anim calcmode="lin" valueType="num">
                                      <p:cBhvr additive="base">
                                        <p:cTn id="8" dur="500" fill="hold"/>
                                        <p:tgtEl>
                                          <p:spTgt spid="10445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0" grpId="0" animBg="1"/>
      <p:bldP spid="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99592" y="908720"/>
            <a:ext cx="5472608" cy="1815882"/>
          </a:xfrm>
          <a:prstGeom prst="rect">
            <a:avLst/>
          </a:prstGeom>
          <a:solidFill>
            <a:schemeClr val="accent6">
              <a:lumMod val="40000"/>
              <a:lumOff val="60000"/>
            </a:schemeClr>
          </a:solidFill>
        </p:spPr>
        <p:txBody>
          <a:bodyPr wrap="square">
            <a:spAutoFit/>
          </a:bodyPr>
          <a:lstStyle/>
          <a:p>
            <a:r>
              <a:rPr lang="zh-CN" altLang="zh-CN" sz="2800" b="1" dirty="0" smtClean="0"/>
              <a:t>从理论和实践上解决了在中国这样一个占世界人口近</a:t>
            </a:r>
            <a:r>
              <a:rPr lang="en-US" altLang="zh-CN" sz="2800" b="1" dirty="0" smtClean="0"/>
              <a:t>1/4</a:t>
            </a:r>
            <a:r>
              <a:rPr lang="zh-CN" altLang="zh-CN" sz="2800" b="1" dirty="0" smtClean="0"/>
              <a:t>、经济文化落后的大国建立社会主义制度这一重大问题。</a:t>
            </a:r>
            <a:endParaRPr lang="zh-CN" altLang="en-US" sz="2800" b="1" dirty="0"/>
          </a:p>
        </p:txBody>
      </p:sp>
      <p:sp>
        <p:nvSpPr>
          <p:cNvPr id="5" name="矩形 4"/>
          <p:cNvSpPr/>
          <p:nvPr/>
        </p:nvSpPr>
        <p:spPr>
          <a:xfrm>
            <a:off x="2339752" y="4005064"/>
            <a:ext cx="5688632" cy="2246769"/>
          </a:xfrm>
          <a:prstGeom prst="rect">
            <a:avLst/>
          </a:prstGeom>
          <a:solidFill>
            <a:schemeClr val="accent6">
              <a:lumMod val="40000"/>
              <a:lumOff val="60000"/>
            </a:schemeClr>
          </a:solidFill>
        </p:spPr>
        <p:txBody>
          <a:bodyPr wrap="square">
            <a:spAutoFit/>
          </a:bodyPr>
          <a:lstStyle/>
          <a:p>
            <a:r>
              <a:rPr lang="zh-CN" altLang="zh-CN" sz="2800" b="1" dirty="0"/>
              <a:t>在社会主义制度建立以后，毛泽东又领导全党和全国人民积极探索适合中国国情的社会主义建设道路，提出了一系列具有战略意义的正确思想和方针</a:t>
            </a:r>
            <a:endParaRPr lang="zh-CN" altLang="en-US" sz="2800" b="1" dirty="0"/>
          </a:p>
        </p:txBody>
      </p:sp>
    </p:spTree>
  </p:cSld>
  <p:clrMapOvr>
    <a:masterClrMapping/>
  </p:clrMapOvr>
  <p:transition spd="med">
    <p:wipe dir="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ChangeArrowheads="1"/>
          </p:cNvSpPr>
          <p:nvPr/>
        </p:nvSpPr>
        <p:spPr bwMode="auto">
          <a:xfrm>
            <a:off x="1043608" y="1196752"/>
            <a:ext cx="6781800" cy="1143000"/>
          </a:xfrm>
          <a:prstGeom prst="rect">
            <a:avLst/>
          </a:prstGeom>
          <a:solidFill>
            <a:schemeClr val="accent6">
              <a:lumMod val="40000"/>
              <a:lumOff val="60000"/>
            </a:schemeClr>
          </a:solidFill>
          <a:ln w="9525">
            <a:noFill/>
            <a:miter lim="800000"/>
          </a:ln>
          <a:effectLst>
            <a:outerShdw dist="17961" dir="2700000" algn="ctr" rotWithShape="0">
              <a:schemeClr val="bg2"/>
            </a:outerShdw>
          </a:effectLst>
        </p:spPr>
        <p:txBody>
          <a:bodyPr anchor="ctr"/>
          <a:lstStyle/>
          <a:p>
            <a:pPr>
              <a:defRPr/>
            </a:pPr>
            <a:r>
              <a:rPr lang="zh-CN" altLang="en-US" sz="3600" b="1" dirty="0">
                <a:solidFill>
                  <a:srgbClr val="0000FF"/>
                </a:solidFill>
                <a:latin typeface="黑体" pitchFamily="49" charset="-122"/>
                <a:ea typeface="黑体" pitchFamily="49" charset="-122"/>
              </a:rPr>
              <a:t>（3</a:t>
            </a:r>
            <a:r>
              <a:rPr lang="zh-CN" altLang="en-US" sz="3600" b="1" dirty="0" smtClean="0">
                <a:solidFill>
                  <a:srgbClr val="0000FF"/>
                </a:solidFill>
                <a:latin typeface="黑体" pitchFamily="49" charset="-122"/>
                <a:ea typeface="黑体" pitchFamily="49" charset="-122"/>
              </a:rPr>
              <a:t>）革命</a:t>
            </a:r>
            <a:r>
              <a:rPr lang="zh-CN" altLang="en-US" sz="3600" b="1" dirty="0">
                <a:solidFill>
                  <a:srgbClr val="0000FF"/>
                </a:solidFill>
                <a:latin typeface="黑体" pitchFamily="49" charset="-122"/>
                <a:ea typeface="黑体" pitchFamily="49" charset="-122"/>
              </a:rPr>
              <a:t>军队的建设和</a:t>
            </a:r>
            <a:br>
              <a:rPr lang="zh-CN" altLang="en-US" sz="3600" b="1" dirty="0">
                <a:solidFill>
                  <a:srgbClr val="0000FF"/>
                </a:solidFill>
                <a:latin typeface="黑体" pitchFamily="49" charset="-122"/>
                <a:ea typeface="黑体" pitchFamily="49" charset="-122"/>
              </a:rPr>
            </a:br>
            <a:r>
              <a:rPr lang="zh-CN" altLang="en-US" sz="3600" b="1" dirty="0">
                <a:solidFill>
                  <a:srgbClr val="0000FF"/>
                </a:solidFill>
                <a:latin typeface="黑体" pitchFamily="49" charset="-122"/>
                <a:ea typeface="黑体" pitchFamily="49" charset="-122"/>
              </a:rPr>
              <a:t>         军事</a:t>
            </a:r>
            <a:r>
              <a:rPr lang="zh-CN" altLang="en-US" sz="3600" b="1" dirty="0" smtClean="0">
                <a:solidFill>
                  <a:srgbClr val="0000FF"/>
                </a:solidFill>
                <a:latin typeface="黑体" pitchFamily="49" charset="-122"/>
                <a:ea typeface="黑体" pitchFamily="49" charset="-122"/>
              </a:rPr>
              <a:t>战略理论 </a:t>
            </a:r>
            <a:endParaRPr lang="zh-CN" altLang="en-US" sz="3600" b="1" dirty="0">
              <a:solidFill>
                <a:srgbClr val="0000FF"/>
              </a:solidFill>
              <a:latin typeface="黑体" pitchFamily="49" charset="-122"/>
              <a:ea typeface="黑体" pitchFamily="49" charset="-122"/>
            </a:endParaRPr>
          </a:p>
        </p:txBody>
      </p:sp>
      <p:grpSp>
        <p:nvGrpSpPr>
          <p:cNvPr id="2" name="Group 3"/>
          <p:cNvGrpSpPr>
            <a:grpSpLocks/>
          </p:cNvGrpSpPr>
          <p:nvPr/>
        </p:nvGrpSpPr>
        <p:grpSpPr bwMode="auto">
          <a:xfrm>
            <a:off x="1219200" y="3352800"/>
            <a:ext cx="4419600" cy="2590800"/>
            <a:chOff x="0" y="0"/>
            <a:chExt cx="2688" cy="1632"/>
          </a:xfrm>
        </p:grpSpPr>
        <p:sp>
          <p:nvSpPr>
            <p:cNvPr id="105476" name="Rectangle 4"/>
            <p:cNvSpPr>
              <a:spLocks noChangeArrowheads="1"/>
            </p:cNvSpPr>
            <p:nvPr/>
          </p:nvSpPr>
          <p:spPr bwMode="auto">
            <a:xfrm>
              <a:off x="0" y="0"/>
              <a:ext cx="2688" cy="1632"/>
            </a:xfrm>
            <a:prstGeom prst="rect">
              <a:avLst/>
            </a:prstGeom>
            <a:solidFill>
              <a:schemeClr val="bg1"/>
            </a:solidFill>
            <a:ln w="9525">
              <a:noFill/>
              <a:miter lim="800000"/>
            </a:ln>
            <a:effectLst>
              <a:outerShdw dist="35921" dir="2700000" algn="ctr" rotWithShape="0">
                <a:schemeClr val="tx2"/>
              </a:outerShdw>
            </a:effectLst>
          </p:spPr>
          <p:txBody>
            <a:bodyPr wrap="none" anchor="ctr"/>
            <a:lstStyle/>
            <a:p>
              <a:pPr eaLnBrk="0" hangingPunct="0">
                <a:defRPr/>
              </a:pPr>
              <a:endParaRPr lang="zh-CN" altLang="en-US">
                <a:latin typeface="华文行楷" panose="02010800040101010101" pitchFamily="2" charset="-122"/>
                <a:ea typeface="华文行楷" panose="02010800040101010101" pitchFamily="2" charset="-122"/>
              </a:endParaRPr>
            </a:p>
          </p:txBody>
        </p:sp>
        <p:pic>
          <p:nvPicPr>
            <p:cNvPr id="140294" name="Picture 5" descr="井岗山手迹"/>
            <p:cNvPicPr>
              <a:picLocks noChangeAspect="1" noChangeArrowheads="1"/>
            </p:cNvPicPr>
            <p:nvPr/>
          </p:nvPicPr>
          <p:blipFill>
            <a:blip r:embed="rId2" cstate="print"/>
            <a:srcRect/>
            <a:stretch>
              <a:fillRect/>
            </a:stretch>
          </p:blipFill>
          <p:spPr bwMode="auto">
            <a:xfrm>
              <a:off x="48" y="48"/>
              <a:ext cx="2592" cy="1560"/>
            </a:xfrm>
            <a:prstGeom prst="rect">
              <a:avLst/>
            </a:prstGeom>
            <a:noFill/>
            <a:ln w="9525">
              <a:noFill/>
              <a:miter lim="800000"/>
              <a:headEnd/>
              <a:tailEnd/>
            </a:ln>
          </p:spPr>
        </p:pic>
      </p:grpSp>
      <p:sp>
        <p:nvSpPr>
          <p:cNvPr id="105478" name="Text Box 6"/>
          <p:cNvSpPr txBox="1">
            <a:spLocks noChangeArrowheads="1"/>
          </p:cNvSpPr>
          <p:nvPr/>
        </p:nvSpPr>
        <p:spPr bwMode="auto">
          <a:xfrm>
            <a:off x="5719763" y="3657600"/>
            <a:ext cx="2328862" cy="1187450"/>
          </a:xfrm>
          <a:prstGeom prst="rect">
            <a:avLst/>
          </a:prstGeom>
          <a:noFill/>
          <a:ln w="9525">
            <a:noFill/>
            <a:miter lim="800000"/>
            <a:headEnd/>
            <a:tailEnd/>
          </a:ln>
        </p:spPr>
        <p:txBody>
          <a:bodyPr wrap="none">
            <a:spAutoFit/>
          </a:bodyPr>
          <a:lstStyle/>
          <a:p>
            <a:pPr algn="ctr"/>
            <a:endParaRPr lang="zh-CN" altLang="en-US" sz="2400">
              <a:solidFill>
                <a:schemeClr val="tx1"/>
              </a:solidFill>
              <a:latin typeface="Times New Roman" pitchFamily="18" charset="0"/>
              <a:ea typeface="楷体_GB2312" pitchFamily="49" charset="-122"/>
            </a:endParaRPr>
          </a:p>
          <a:p>
            <a:pPr algn="ctr"/>
            <a:endParaRPr lang="zh-CN" altLang="en-US" sz="2400">
              <a:solidFill>
                <a:schemeClr val="tx1"/>
              </a:solidFill>
              <a:latin typeface="Times New Roman" pitchFamily="18" charset="0"/>
              <a:ea typeface="楷体_GB2312" pitchFamily="49" charset="-122"/>
            </a:endParaRPr>
          </a:p>
          <a:p>
            <a:pPr algn="ctr"/>
            <a:r>
              <a:rPr lang="zh-CN" altLang="en-US" sz="2400">
                <a:solidFill>
                  <a:schemeClr val="tx1"/>
                </a:solidFill>
                <a:latin typeface="Times New Roman" pitchFamily="18" charset="0"/>
                <a:ea typeface="楷体_GB2312" pitchFamily="49" charset="-122"/>
              </a:rPr>
              <a:t>毛泽东诗词手迹</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05474"/>
                                        </p:tgtEl>
                                        <p:attrNameLst>
                                          <p:attrName>style.visibility</p:attrName>
                                        </p:attrNameLst>
                                      </p:cBhvr>
                                      <p:to>
                                        <p:strVal val="visible"/>
                                      </p:to>
                                    </p:set>
                                    <p:anim calcmode="lin" valueType="num">
                                      <p:cBhvr additive="base">
                                        <p:cTn id="7" dur="500" fill="hold"/>
                                        <p:tgtEl>
                                          <p:spTgt spid="105474"/>
                                        </p:tgtEl>
                                        <p:attrNameLst>
                                          <p:attrName>ppt_x</p:attrName>
                                        </p:attrNameLst>
                                      </p:cBhvr>
                                      <p:tavLst>
                                        <p:tav tm="0">
                                          <p:val>
                                            <p:strVal val="0-#ppt_w/2"/>
                                          </p:val>
                                        </p:tav>
                                        <p:tav tm="100000">
                                          <p:val>
                                            <p:strVal val="#ppt_x"/>
                                          </p:val>
                                        </p:tav>
                                      </p:tavLst>
                                    </p:anim>
                                    <p:anim calcmode="lin" valueType="num">
                                      <p:cBhvr additive="base">
                                        <p:cTn id="8" dur="500" fill="hold"/>
                                        <p:tgtEl>
                                          <p:spTgt spid="10547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32"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out)">
                                      <p:cBhvr>
                                        <p:cTn id="12" dur="500"/>
                                        <p:tgtEl>
                                          <p:spTgt spid="2"/>
                                        </p:tgtEl>
                                      </p:cBhvr>
                                    </p:animEffect>
                                  </p:childTnLst>
                                </p:cTn>
                              </p:par>
                            </p:childTnLst>
                          </p:cTn>
                        </p:par>
                        <p:par>
                          <p:cTn id="13" fill="hold">
                            <p:stCondLst>
                              <p:cond delay="1000"/>
                            </p:stCondLst>
                            <p:childTnLst>
                              <p:par>
                                <p:cTn id="14" presetID="9" presetClass="entr" presetSubtype="0" fill="hold" grpId="0" nodeType="afterEffect">
                                  <p:stCondLst>
                                    <p:cond delay="0"/>
                                  </p:stCondLst>
                                  <p:childTnLst>
                                    <p:set>
                                      <p:cBhvr>
                                        <p:cTn id="15" dur="1" fill="hold">
                                          <p:stCondLst>
                                            <p:cond delay="0"/>
                                          </p:stCondLst>
                                        </p:cTn>
                                        <p:tgtEl>
                                          <p:spTgt spid="105478"/>
                                        </p:tgtEl>
                                        <p:attrNameLst>
                                          <p:attrName>style.visibility</p:attrName>
                                        </p:attrNameLst>
                                      </p:cBhvr>
                                      <p:to>
                                        <p:strVal val="visible"/>
                                      </p:to>
                                    </p:set>
                                    <p:animEffect transition="in" filter="dissolve">
                                      <p:cBhvr>
                                        <p:cTn id="16" dur="500"/>
                                        <p:tgtEl>
                                          <p:spTgt spid="1054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4" grpId="0" animBg="1"/>
      <p:bldP spid="10547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571472" y="928670"/>
            <a:ext cx="8136904" cy="1200329"/>
          </a:xfrm>
          <a:prstGeom prst="rect">
            <a:avLst/>
          </a:prstGeom>
          <a:ln>
            <a:solidFill>
              <a:srgbClr val="FFC000"/>
            </a:solidFill>
          </a:ln>
        </p:spPr>
        <p:txBody>
          <a:bodyPr wrap="square">
            <a:spAutoFit/>
          </a:bodyPr>
          <a:lstStyle/>
          <a:p>
            <a:r>
              <a:rPr lang="en-US" altLang="zh-CN" sz="2400" b="1" dirty="0" smtClean="0">
                <a:latin typeface="黑体"/>
              </a:rPr>
              <a:t>※</a:t>
            </a:r>
            <a:r>
              <a:rPr lang="zh-CN" altLang="zh-CN" sz="2400" b="1" dirty="0" smtClean="0"/>
              <a:t>解决了如何把以农民为主要成分的革命军队建设成为一支无产阶级性质的、具有严格纪律的、同人民群众保持亲密联系的新型人民军队的问题。</a:t>
            </a:r>
            <a:endParaRPr lang="zh-CN" altLang="en-US" sz="2400" b="1" dirty="0"/>
          </a:p>
        </p:txBody>
      </p:sp>
      <p:sp>
        <p:nvSpPr>
          <p:cNvPr id="8" name="矩形 7"/>
          <p:cNvSpPr/>
          <p:nvPr/>
        </p:nvSpPr>
        <p:spPr>
          <a:xfrm>
            <a:off x="571472" y="2285992"/>
            <a:ext cx="8143932" cy="1938992"/>
          </a:xfrm>
          <a:prstGeom prst="rect">
            <a:avLst/>
          </a:prstGeom>
          <a:ln>
            <a:solidFill>
              <a:srgbClr val="FFC000"/>
            </a:solidFill>
          </a:ln>
        </p:spPr>
        <p:txBody>
          <a:bodyPr wrap="square">
            <a:spAutoFit/>
          </a:bodyPr>
          <a:lstStyle/>
          <a:p>
            <a:r>
              <a:rPr lang="en-US" altLang="zh-CN" b="1" dirty="0" smtClean="0">
                <a:latin typeface="黑体"/>
              </a:rPr>
              <a:t>※</a:t>
            </a:r>
            <a:r>
              <a:rPr lang="zh-CN" altLang="zh-CN" sz="2400" b="1" dirty="0" smtClean="0"/>
              <a:t>规定了全心全意为人民服务是人民军队的唯一宗旨，规定了是党指挥枪而不是枪指挥党的原则，制定了三大纪律、八项注意，强调实行政治、经济、军事三大民主，实行官兵一致、军民一致和瓦解敌军的原则，提出和总结了一套军队政治工作的方针和方法。</a:t>
            </a:r>
            <a:endParaRPr lang="zh-CN" altLang="en-US" sz="2400" b="1" dirty="0"/>
          </a:p>
        </p:txBody>
      </p:sp>
      <p:sp>
        <p:nvSpPr>
          <p:cNvPr id="9" name="矩形 8"/>
          <p:cNvSpPr/>
          <p:nvPr/>
        </p:nvSpPr>
        <p:spPr>
          <a:xfrm>
            <a:off x="571472" y="4429132"/>
            <a:ext cx="7848872" cy="1200329"/>
          </a:xfrm>
          <a:prstGeom prst="rect">
            <a:avLst/>
          </a:prstGeom>
          <a:ln>
            <a:solidFill>
              <a:srgbClr val="FFC000"/>
            </a:solidFill>
          </a:ln>
        </p:spPr>
        <p:txBody>
          <a:bodyPr wrap="square">
            <a:spAutoFit/>
          </a:bodyPr>
          <a:lstStyle/>
          <a:p>
            <a:r>
              <a:rPr lang="en-US" altLang="zh-CN" sz="2400" b="1" dirty="0" smtClean="0"/>
              <a:t>※</a:t>
            </a:r>
            <a:r>
              <a:rPr lang="zh-CN" altLang="zh-CN" sz="2400" b="1" dirty="0" smtClean="0"/>
              <a:t>总结了中国长期革命战争的经验，系统地提出了建设人民军队的思想，提出了以人民军队为骨干，依靠广大人民群众，建立农村根据地，进行人民战争的思想。</a:t>
            </a:r>
            <a:endParaRPr lang="zh-CN" altLang="en-US" sz="2400" b="1" dirty="0"/>
          </a:p>
        </p:txBody>
      </p:sp>
      <p:sp>
        <p:nvSpPr>
          <p:cNvPr id="10" name="矩形 9"/>
          <p:cNvSpPr/>
          <p:nvPr/>
        </p:nvSpPr>
        <p:spPr>
          <a:xfrm>
            <a:off x="571472" y="5857892"/>
            <a:ext cx="6552728" cy="461665"/>
          </a:xfrm>
          <a:prstGeom prst="rect">
            <a:avLst/>
          </a:prstGeom>
          <a:ln>
            <a:solidFill>
              <a:srgbClr val="FFC000"/>
            </a:solidFill>
          </a:ln>
        </p:spPr>
        <p:txBody>
          <a:bodyPr wrap="square">
            <a:spAutoFit/>
          </a:bodyPr>
          <a:lstStyle/>
          <a:p>
            <a:r>
              <a:rPr lang="en-US" altLang="zh-CN" b="1" dirty="0" smtClean="0">
                <a:latin typeface="黑体"/>
              </a:rPr>
              <a:t>※</a:t>
            </a:r>
            <a:r>
              <a:rPr lang="zh-CN" altLang="en-US" sz="2400" b="1" dirty="0" smtClean="0"/>
              <a:t>提出了人民战争的战略战术原则</a:t>
            </a:r>
            <a:r>
              <a:rPr lang="zh-CN" altLang="zh-CN" sz="2400" b="1" dirty="0" smtClean="0"/>
              <a:t>。</a:t>
            </a:r>
            <a:endParaRPr lang="zh-CN" altLang="en-US" sz="2400" b="1" dirty="0"/>
          </a:p>
        </p:txBody>
      </p:sp>
    </p:spTree>
  </p:cSld>
  <p:clrMapOvr>
    <a:masterClrMapping/>
  </p:clrMapOvr>
  <p:transition spd="med">
    <p:wipe dir="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ChangeArrowheads="1"/>
          </p:cNvSpPr>
          <p:nvPr/>
        </p:nvSpPr>
        <p:spPr bwMode="auto">
          <a:xfrm>
            <a:off x="500034" y="428604"/>
            <a:ext cx="6629400" cy="1143000"/>
          </a:xfrm>
          <a:prstGeom prst="rect">
            <a:avLst/>
          </a:prstGeom>
          <a:solidFill>
            <a:schemeClr val="accent6">
              <a:lumMod val="40000"/>
              <a:lumOff val="60000"/>
            </a:schemeClr>
          </a:solidFill>
          <a:ln w="9525">
            <a:noFill/>
            <a:miter lim="800000"/>
          </a:ln>
          <a:effectLst>
            <a:outerShdw dist="17961" dir="2700000" algn="ctr" rotWithShape="0">
              <a:schemeClr val="bg2"/>
            </a:outerShdw>
          </a:effectLst>
        </p:spPr>
        <p:txBody>
          <a:bodyPr anchor="ctr"/>
          <a:lstStyle/>
          <a:p>
            <a:pPr>
              <a:defRPr/>
            </a:pPr>
            <a:r>
              <a:rPr lang="zh-CN" altLang="en-US" sz="3600" b="1" dirty="0">
                <a:solidFill>
                  <a:srgbClr val="0000FF"/>
                </a:solidFill>
                <a:latin typeface="黑体" pitchFamily="49" charset="-122"/>
                <a:ea typeface="黑体" pitchFamily="49" charset="-122"/>
              </a:rPr>
              <a:t>（4</a:t>
            </a:r>
            <a:r>
              <a:rPr lang="zh-CN" altLang="en-US" sz="3600" b="1" dirty="0" smtClean="0">
                <a:solidFill>
                  <a:srgbClr val="0000FF"/>
                </a:solidFill>
                <a:latin typeface="黑体" pitchFamily="49" charset="-122"/>
                <a:ea typeface="黑体" pitchFamily="49" charset="-122"/>
              </a:rPr>
              <a:t>）政策</a:t>
            </a:r>
            <a:r>
              <a:rPr lang="zh-CN" altLang="en-US" sz="3600" b="1" dirty="0">
                <a:solidFill>
                  <a:srgbClr val="0000FF"/>
                </a:solidFill>
                <a:latin typeface="黑体" pitchFamily="49" charset="-122"/>
                <a:ea typeface="黑体" pitchFamily="49" charset="-122"/>
              </a:rPr>
              <a:t>和</a:t>
            </a:r>
            <a:r>
              <a:rPr lang="zh-CN" altLang="en-US" sz="3600" b="1" dirty="0" smtClean="0">
                <a:solidFill>
                  <a:srgbClr val="0000FF"/>
                </a:solidFill>
                <a:latin typeface="黑体" pitchFamily="49" charset="-122"/>
                <a:ea typeface="黑体" pitchFamily="49" charset="-122"/>
              </a:rPr>
              <a:t>策略理论</a:t>
            </a:r>
            <a:endParaRPr lang="zh-CN" altLang="en-US" sz="3600" b="1" dirty="0">
              <a:solidFill>
                <a:srgbClr val="0000FF"/>
              </a:solidFill>
              <a:latin typeface="黑体" pitchFamily="49" charset="-122"/>
              <a:ea typeface="黑体" pitchFamily="49" charset="-122"/>
            </a:endParaRPr>
          </a:p>
        </p:txBody>
      </p:sp>
      <p:pic>
        <p:nvPicPr>
          <p:cNvPr id="2072" name="Picture 24" descr="https://gimg2.baidu.com/image_search/src=http%3A%2F%2Fimg01.e23.cn%2F2019%2F1001%2F20191001102803680.jpg&amp;refer=http%3A%2F%2Fimg01.e23.cn&amp;app=2002&amp;size=f9999,10000&amp;q=a80&amp;n=0&amp;g=0n&amp;fmt=jpeg?sec=1634390740&amp;t=a443a5847b1bba3d1af0249997b2b770"/>
          <p:cNvPicPr>
            <a:picLocks noChangeAspect="1" noChangeArrowheads="1"/>
          </p:cNvPicPr>
          <p:nvPr/>
        </p:nvPicPr>
        <p:blipFill>
          <a:blip r:embed="rId2" cstate="print"/>
          <a:srcRect/>
          <a:stretch>
            <a:fillRect/>
          </a:stretch>
        </p:blipFill>
        <p:spPr bwMode="auto">
          <a:xfrm>
            <a:off x="1714480" y="2428868"/>
            <a:ext cx="4133850" cy="2895601"/>
          </a:xfrm>
          <a:prstGeom prst="rect">
            <a:avLst/>
          </a:prstGeom>
          <a:noFill/>
        </p:spPr>
      </p:pic>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06498"/>
                                        </p:tgtEl>
                                        <p:attrNameLst>
                                          <p:attrName>style.visibility</p:attrName>
                                        </p:attrNameLst>
                                      </p:cBhvr>
                                      <p:to>
                                        <p:strVal val="visible"/>
                                      </p:to>
                                    </p:set>
                                    <p:anim calcmode="lin" valueType="num">
                                      <p:cBhvr additive="base">
                                        <p:cTn id="7" dur="500" fill="hold"/>
                                        <p:tgtEl>
                                          <p:spTgt spid="106498"/>
                                        </p:tgtEl>
                                        <p:attrNameLst>
                                          <p:attrName>ppt_x</p:attrName>
                                        </p:attrNameLst>
                                      </p:cBhvr>
                                      <p:tavLst>
                                        <p:tav tm="0">
                                          <p:val>
                                            <p:strVal val="0-#ppt_w/2"/>
                                          </p:val>
                                        </p:tav>
                                        <p:tav tm="100000">
                                          <p:val>
                                            <p:strVal val="#ppt_x"/>
                                          </p:val>
                                        </p:tav>
                                      </p:tavLst>
                                    </p:anim>
                                    <p:anim calcmode="lin" valueType="num">
                                      <p:cBhvr additive="base">
                                        <p:cTn id="8" dur="500" fill="hold"/>
                                        <p:tgtEl>
                                          <p:spTgt spid="10649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8"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428728" y="2285992"/>
            <a:ext cx="5742384" cy="2677656"/>
          </a:xfrm>
          <a:prstGeom prst="rect">
            <a:avLst/>
          </a:prstGeom>
          <a:ln>
            <a:solidFill>
              <a:srgbClr val="FFC000"/>
            </a:solidFill>
          </a:ln>
        </p:spPr>
        <p:txBody>
          <a:bodyPr wrap="square">
            <a:spAutoFit/>
          </a:bodyPr>
          <a:lstStyle/>
          <a:p>
            <a:r>
              <a:rPr lang="en-US" altLang="zh-CN" sz="2800" b="1" dirty="0" smtClean="0">
                <a:latin typeface="+mj-ea"/>
                <a:ea typeface="+mj-ea"/>
              </a:rPr>
              <a:t>     </a:t>
            </a:r>
            <a:r>
              <a:rPr lang="zh-CN" altLang="zh-CN" sz="2800" b="1" dirty="0" smtClean="0">
                <a:latin typeface="+mj-ea"/>
                <a:ea typeface="+mj-ea"/>
              </a:rPr>
              <a:t>论证了革命斗争中政策和策略问题的极端重要性，指出政策和策略是党的生命，必须根据政治形势、阶级关系和实际情况及其变化制定党的政策，把原则性和灵活性结合起来。</a:t>
            </a:r>
            <a:endParaRPr lang="zh-CN" altLang="en-US" sz="2800" b="1" dirty="0">
              <a:latin typeface="+mj-ea"/>
              <a:ea typeface="+mj-ea"/>
            </a:endParaRPr>
          </a:p>
        </p:txBody>
      </p:sp>
    </p:spTree>
  </p:cSld>
  <p:clrMapOvr>
    <a:masterClrMapping/>
  </p:clrMapOvr>
  <p:transition spd="med">
    <p:wipe dir="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ChangeArrowheads="1"/>
          </p:cNvSpPr>
          <p:nvPr/>
        </p:nvSpPr>
        <p:spPr bwMode="auto">
          <a:xfrm>
            <a:off x="395536" y="332656"/>
            <a:ext cx="8458200" cy="1143000"/>
          </a:xfrm>
          <a:prstGeom prst="rect">
            <a:avLst/>
          </a:prstGeom>
          <a:solidFill>
            <a:schemeClr val="accent6">
              <a:lumMod val="40000"/>
              <a:lumOff val="60000"/>
            </a:schemeClr>
          </a:solidFill>
          <a:ln w="9525">
            <a:noFill/>
            <a:miter lim="800000"/>
          </a:ln>
          <a:effectLst>
            <a:outerShdw dist="17961" dir="2700000" algn="ctr" rotWithShape="0">
              <a:schemeClr val="bg2"/>
            </a:outerShdw>
          </a:effectLst>
        </p:spPr>
        <p:txBody>
          <a:bodyPr anchor="ctr"/>
          <a:lstStyle/>
          <a:p>
            <a:pPr>
              <a:defRPr/>
            </a:pPr>
            <a:r>
              <a:rPr lang="zh-CN" altLang="en-US" sz="3600" b="1" dirty="0">
                <a:solidFill>
                  <a:srgbClr val="0000FF"/>
                </a:solidFill>
                <a:latin typeface="黑体" pitchFamily="49" charset="-122"/>
                <a:ea typeface="黑体" pitchFamily="49" charset="-122"/>
              </a:rPr>
              <a:t>（5</a:t>
            </a:r>
            <a:r>
              <a:rPr lang="zh-CN" altLang="en-US" sz="3600" b="1" dirty="0" smtClean="0">
                <a:solidFill>
                  <a:srgbClr val="0000FF"/>
                </a:solidFill>
                <a:latin typeface="黑体" pitchFamily="49" charset="-122"/>
                <a:ea typeface="黑体" pitchFamily="49" charset="-122"/>
              </a:rPr>
              <a:t>）思想</a:t>
            </a:r>
            <a:r>
              <a:rPr lang="zh-CN" altLang="en-US" sz="3600" b="1" dirty="0">
                <a:solidFill>
                  <a:srgbClr val="0000FF"/>
                </a:solidFill>
                <a:latin typeface="黑体" pitchFamily="49" charset="-122"/>
                <a:ea typeface="黑体" pitchFamily="49" charset="-122"/>
              </a:rPr>
              <a:t>政治工作和文化</a:t>
            </a:r>
            <a:r>
              <a:rPr lang="zh-CN" altLang="en-US" sz="3600" b="1" dirty="0" smtClean="0">
                <a:solidFill>
                  <a:srgbClr val="0000FF"/>
                </a:solidFill>
                <a:latin typeface="黑体" pitchFamily="49" charset="-122"/>
                <a:ea typeface="黑体" pitchFamily="49" charset="-122"/>
              </a:rPr>
              <a:t>工作理论</a:t>
            </a:r>
            <a:endParaRPr lang="zh-CN" altLang="en-US" sz="3600" b="1" dirty="0">
              <a:solidFill>
                <a:srgbClr val="0000FF"/>
              </a:solidFill>
              <a:latin typeface="黑体" pitchFamily="49" charset="-122"/>
              <a:ea typeface="黑体" pitchFamily="49" charset="-122"/>
            </a:endParaRPr>
          </a:p>
        </p:txBody>
      </p:sp>
      <p:grpSp>
        <p:nvGrpSpPr>
          <p:cNvPr id="2" name="Group 3"/>
          <p:cNvGrpSpPr>
            <a:grpSpLocks/>
          </p:cNvGrpSpPr>
          <p:nvPr/>
        </p:nvGrpSpPr>
        <p:grpSpPr bwMode="auto">
          <a:xfrm>
            <a:off x="611560" y="2276872"/>
            <a:ext cx="7575550" cy="4194176"/>
            <a:chOff x="0" y="0"/>
            <a:chExt cx="4772" cy="2642"/>
          </a:xfrm>
        </p:grpSpPr>
        <p:sp>
          <p:nvSpPr>
            <p:cNvPr id="141316" name="Text Box 4"/>
            <p:cNvSpPr txBox="1">
              <a:spLocks noChangeArrowheads="1"/>
            </p:cNvSpPr>
            <p:nvPr/>
          </p:nvSpPr>
          <p:spPr bwMode="auto">
            <a:xfrm>
              <a:off x="2948" y="2177"/>
              <a:ext cx="1824" cy="465"/>
            </a:xfrm>
            <a:prstGeom prst="rect">
              <a:avLst/>
            </a:prstGeom>
            <a:noFill/>
            <a:ln w="9525">
              <a:noFill/>
              <a:miter lim="800000"/>
              <a:headEnd/>
              <a:tailEnd/>
            </a:ln>
          </p:spPr>
          <p:txBody>
            <a:bodyPr wrap="square">
              <a:spAutoFit/>
            </a:bodyPr>
            <a:lstStyle/>
            <a:p>
              <a:r>
                <a:rPr lang="zh-CN" altLang="en-US" sz="2400" dirty="0">
                  <a:solidFill>
                    <a:schemeClr val="tx1"/>
                  </a:solidFill>
                  <a:latin typeface="Times New Roman" pitchFamily="18" charset="0"/>
                  <a:ea typeface="楷体_GB2312" pitchFamily="49" charset="-122"/>
                </a:rPr>
                <a:t>    </a:t>
              </a:r>
              <a:r>
                <a:rPr lang="zh-CN" altLang="en-US" b="1" dirty="0" smtClean="0">
                  <a:latin typeface="Times New Roman" pitchFamily="18" charset="0"/>
                  <a:ea typeface="楷体_GB2312" pitchFamily="49" charset="-122"/>
                </a:rPr>
                <a:t>我们</a:t>
              </a:r>
              <a:r>
                <a:rPr lang="zh-CN" altLang="en-US" b="1" dirty="0">
                  <a:latin typeface="Times New Roman" pitchFamily="18" charset="0"/>
                  <a:ea typeface="楷体_GB2312" pitchFamily="49" charset="-122"/>
                </a:rPr>
                <a:t>将以一个具有高度文化的民族出现于世界。</a:t>
              </a:r>
            </a:p>
          </p:txBody>
        </p:sp>
        <p:grpSp>
          <p:nvGrpSpPr>
            <p:cNvPr id="3" name="Group 5"/>
            <p:cNvGrpSpPr>
              <a:grpSpLocks/>
            </p:cNvGrpSpPr>
            <p:nvPr/>
          </p:nvGrpSpPr>
          <p:grpSpPr bwMode="auto">
            <a:xfrm>
              <a:off x="0" y="0"/>
              <a:ext cx="2688" cy="2496"/>
              <a:chOff x="0" y="0"/>
              <a:chExt cx="2688" cy="2496"/>
            </a:xfrm>
          </p:grpSpPr>
          <p:sp>
            <p:nvSpPr>
              <p:cNvPr id="107526" name="Rectangle 6"/>
              <p:cNvSpPr>
                <a:spLocks noChangeArrowheads="1"/>
              </p:cNvSpPr>
              <p:nvPr/>
            </p:nvSpPr>
            <p:spPr bwMode="auto">
              <a:xfrm>
                <a:off x="0" y="0"/>
                <a:ext cx="2688" cy="2496"/>
              </a:xfrm>
              <a:prstGeom prst="rect">
                <a:avLst/>
              </a:prstGeom>
              <a:solidFill>
                <a:srgbClr val="FFFFFF"/>
              </a:solidFill>
              <a:ln w="9525">
                <a:noFill/>
                <a:miter lim="800000"/>
              </a:ln>
              <a:effectLst>
                <a:outerShdw dist="53882" dir="2700000" algn="ctr" rotWithShape="0">
                  <a:schemeClr val="tx2"/>
                </a:outerShdw>
              </a:effectLst>
            </p:spPr>
            <p:txBody>
              <a:bodyPr wrap="none" anchor="ctr"/>
              <a:lstStyle/>
              <a:p>
                <a:pPr eaLnBrk="0" hangingPunct="0">
                  <a:defRPr/>
                </a:pPr>
                <a:endParaRPr lang="zh-CN" altLang="en-US">
                  <a:latin typeface="华文行楷" panose="02010800040101010101" pitchFamily="2" charset="-122"/>
                  <a:ea typeface="华文行楷" panose="02010800040101010101" pitchFamily="2" charset="-122"/>
                </a:endParaRPr>
              </a:p>
            </p:txBody>
          </p:sp>
          <p:pic>
            <p:nvPicPr>
              <p:cNvPr id="141319" name="Picture 7" descr="社建手迹"/>
              <p:cNvPicPr>
                <a:picLocks noChangeAspect="1" noChangeArrowheads="1"/>
              </p:cNvPicPr>
              <p:nvPr/>
            </p:nvPicPr>
            <p:blipFill>
              <a:blip r:embed="rId2" cstate="print"/>
              <a:srcRect/>
              <a:stretch>
                <a:fillRect/>
              </a:stretch>
            </p:blipFill>
            <p:spPr bwMode="auto">
              <a:xfrm>
                <a:off x="47" y="42"/>
                <a:ext cx="2594" cy="2362"/>
              </a:xfrm>
              <a:prstGeom prst="rect">
                <a:avLst/>
              </a:prstGeom>
              <a:noFill/>
              <a:ln w="9525">
                <a:noFill/>
                <a:miter lim="800000"/>
                <a:headEnd/>
                <a:tailEnd/>
              </a:ln>
            </p:spPr>
          </p:pic>
          <p:sp>
            <p:nvSpPr>
              <p:cNvPr id="141320" name="Rectangle 8"/>
              <p:cNvSpPr>
                <a:spLocks noChangeArrowheads="1"/>
              </p:cNvSpPr>
              <p:nvPr/>
            </p:nvSpPr>
            <p:spPr bwMode="auto">
              <a:xfrm>
                <a:off x="47" y="46"/>
                <a:ext cx="2594" cy="2358"/>
              </a:xfrm>
              <a:prstGeom prst="rect">
                <a:avLst/>
              </a:prstGeom>
              <a:noFill/>
              <a:ln w="9525">
                <a:solidFill>
                  <a:schemeClr val="tx1"/>
                </a:solidFill>
                <a:miter lim="800000"/>
                <a:headEnd/>
                <a:tailEnd/>
              </a:ln>
            </p:spPr>
            <p:txBody>
              <a:bodyPr wrap="none" anchor="ctr"/>
              <a:lstStyle/>
              <a:p>
                <a:pPr eaLnBrk="0" hangingPunct="0"/>
                <a:endParaRPr lang="zh-CN" altLang="en-US">
                  <a:latin typeface="华文行楷" pitchFamily="2" charset="-122"/>
                  <a:ea typeface="华文行楷" pitchFamily="2" charset="-122"/>
                </a:endParaRPr>
              </a:p>
            </p:txBody>
          </p:sp>
        </p:grpSp>
      </p:grpSp>
      <p:sp>
        <p:nvSpPr>
          <p:cNvPr id="9" name="矩形 8"/>
          <p:cNvSpPr/>
          <p:nvPr/>
        </p:nvSpPr>
        <p:spPr>
          <a:xfrm>
            <a:off x="5436096" y="1772816"/>
            <a:ext cx="3096344" cy="3785652"/>
          </a:xfrm>
          <a:prstGeom prst="rect">
            <a:avLst/>
          </a:prstGeom>
          <a:ln>
            <a:solidFill>
              <a:schemeClr val="accent1"/>
            </a:solidFill>
          </a:ln>
        </p:spPr>
        <p:txBody>
          <a:bodyPr wrap="square">
            <a:spAutoFit/>
          </a:bodyPr>
          <a:lstStyle/>
          <a:p>
            <a:r>
              <a:rPr lang="zh-CN" altLang="zh-CN" sz="2000" b="1" dirty="0" smtClean="0"/>
              <a:t>毛泽东根据“一定的文化（当作观念形态的文化）是一定社会的政治和经济的反映，又给予伟大影响和作用于一定社会的政治和经济；而经济是基础，政治则是经济的集中的表现”这个基本观点，提出许多具有长远意义的重要思想。 《毛泽东选集》第二卷，人民出版社</a:t>
            </a:r>
            <a:r>
              <a:rPr lang="en-US" altLang="zh-CN" sz="2000" b="1" dirty="0" smtClean="0"/>
              <a:t>1991</a:t>
            </a:r>
            <a:r>
              <a:rPr lang="zh-CN" altLang="zh-CN" sz="2000" b="1" dirty="0" smtClean="0"/>
              <a:t>年版，第</a:t>
            </a:r>
            <a:r>
              <a:rPr lang="en-US" altLang="zh-CN" sz="2000" b="1" dirty="0" smtClean="0"/>
              <a:t>663—664</a:t>
            </a:r>
            <a:r>
              <a:rPr lang="zh-CN" altLang="zh-CN" sz="2000" b="1" dirty="0" smtClean="0"/>
              <a:t>页。</a:t>
            </a:r>
            <a:endParaRPr lang="zh-CN" altLang="zh-CN" sz="2000" b="1" dirty="0"/>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07522"/>
                                        </p:tgtEl>
                                        <p:attrNameLst>
                                          <p:attrName>style.visibility</p:attrName>
                                        </p:attrNameLst>
                                      </p:cBhvr>
                                      <p:to>
                                        <p:strVal val="visible"/>
                                      </p:to>
                                    </p:set>
                                    <p:anim calcmode="lin" valueType="num">
                                      <p:cBhvr additive="base">
                                        <p:cTn id="7" dur="500" fill="hold"/>
                                        <p:tgtEl>
                                          <p:spTgt spid="107522"/>
                                        </p:tgtEl>
                                        <p:attrNameLst>
                                          <p:attrName>ppt_x</p:attrName>
                                        </p:attrNameLst>
                                      </p:cBhvr>
                                      <p:tavLst>
                                        <p:tav tm="0">
                                          <p:val>
                                            <p:strVal val="0-#ppt_w/2"/>
                                          </p:val>
                                        </p:tav>
                                        <p:tav tm="100000">
                                          <p:val>
                                            <p:strVal val="#ppt_x"/>
                                          </p:val>
                                        </p:tav>
                                      </p:tavLst>
                                    </p:anim>
                                    <p:anim calcmode="lin" valueType="num">
                                      <p:cBhvr additive="base">
                                        <p:cTn id="8" dur="500" fill="hold"/>
                                        <p:tgtEl>
                                          <p:spTgt spid="10752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2"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ChangeArrowheads="1"/>
          </p:cNvSpPr>
          <p:nvPr/>
        </p:nvSpPr>
        <p:spPr bwMode="auto">
          <a:xfrm>
            <a:off x="827584" y="332656"/>
            <a:ext cx="6248400" cy="1143000"/>
          </a:xfrm>
          <a:prstGeom prst="rect">
            <a:avLst/>
          </a:prstGeom>
          <a:solidFill>
            <a:schemeClr val="accent6">
              <a:lumMod val="40000"/>
              <a:lumOff val="60000"/>
            </a:schemeClr>
          </a:solidFill>
          <a:ln w="9525">
            <a:noFill/>
            <a:miter lim="800000"/>
          </a:ln>
          <a:effectLst>
            <a:outerShdw dist="17961" dir="2700000" algn="ctr" rotWithShape="0">
              <a:schemeClr val="bg2"/>
            </a:outerShdw>
          </a:effectLst>
        </p:spPr>
        <p:txBody>
          <a:bodyPr anchor="ctr"/>
          <a:lstStyle/>
          <a:p>
            <a:pPr>
              <a:defRPr/>
            </a:pPr>
            <a:r>
              <a:rPr lang="zh-CN" altLang="en-US" sz="3600" b="1" dirty="0">
                <a:solidFill>
                  <a:srgbClr val="0000FF"/>
                </a:solidFill>
                <a:latin typeface="黑体" pitchFamily="49" charset="-122"/>
                <a:ea typeface="黑体" pitchFamily="49" charset="-122"/>
              </a:rPr>
              <a:t>（6</a:t>
            </a:r>
            <a:r>
              <a:rPr lang="zh-CN" altLang="en-US" sz="3600" b="1" dirty="0" smtClean="0">
                <a:solidFill>
                  <a:srgbClr val="0000FF"/>
                </a:solidFill>
                <a:latin typeface="黑体" pitchFamily="49" charset="-122"/>
                <a:ea typeface="黑体" pitchFamily="49" charset="-122"/>
              </a:rPr>
              <a:t>）党</a:t>
            </a:r>
            <a:r>
              <a:rPr lang="zh-CN" altLang="en-US" sz="3600" b="1" dirty="0">
                <a:solidFill>
                  <a:srgbClr val="0000FF"/>
                </a:solidFill>
                <a:latin typeface="黑体" pitchFamily="49" charset="-122"/>
                <a:ea typeface="黑体" pitchFamily="49" charset="-122"/>
              </a:rPr>
              <a:t>的</a:t>
            </a:r>
            <a:r>
              <a:rPr lang="zh-CN" altLang="en-US" sz="3600" b="1" dirty="0" smtClean="0">
                <a:solidFill>
                  <a:srgbClr val="0000FF"/>
                </a:solidFill>
                <a:latin typeface="黑体" pitchFamily="49" charset="-122"/>
                <a:ea typeface="黑体" pitchFamily="49" charset="-122"/>
              </a:rPr>
              <a:t>建设理论</a:t>
            </a:r>
            <a:endParaRPr lang="zh-CN" altLang="en-US" sz="3600" b="1" dirty="0">
              <a:solidFill>
                <a:srgbClr val="0000FF"/>
              </a:solidFill>
              <a:latin typeface="黑体" pitchFamily="49" charset="-122"/>
              <a:ea typeface="黑体" pitchFamily="49" charset="-122"/>
            </a:endParaRPr>
          </a:p>
        </p:txBody>
      </p:sp>
      <p:grpSp>
        <p:nvGrpSpPr>
          <p:cNvPr id="2" name="Group 3"/>
          <p:cNvGrpSpPr>
            <a:grpSpLocks/>
          </p:cNvGrpSpPr>
          <p:nvPr/>
        </p:nvGrpSpPr>
        <p:grpSpPr bwMode="auto">
          <a:xfrm>
            <a:off x="395536" y="1700808"/>
            <a:ext cx="4800600" cy="3429000"/>
            <a:chOff x="0" y="0"/>
            <a:chExt cx="3024" cy="2160"/>
          </a:xfrm>
        </p:grpSpPr>
        <p:grpSp>
          <p:nvGrpSpPr>
            <p:cNvPr id="3" name="Group 4"/>
            <p:cNvGrpSpPr>
              <a:grpSpLocks/>
            </p:cNvGrpSpPr>
            <p:nvPr/>
          </p:nvGrpSpPr>
          <p:grpSpPr bwMode="auto">
            <a:xfrm>
              <a:off x="0" y="0"/>
              <a:ext cx="3024" cy="1824"/>
              <a:chOff x="0" y="0"/>
              <a:chExt cx="3024" cy="1824"/>
            </a:xfrm>
          </p:grpSpPr>
          <p:sp>
            <p:nvSpPr>
              <p:cNvPr id="108549" name="Rectangle 5"/>
              <p:cNvSpPr>
                <a:spLocks noChangeArrowheads="1"/>
              </p:cNvSpPr>
              <p:nvPr/>
            </p:nvSpPr>
            <p:spPr bwMode="auto">
              <a:xfrm>
                <a:off x="0" y="0"/>
                <a:ext cx="3024" cy="1824"/>
              </a:xfrm>
              <a:prstGeom prst="rect">
                <a:avLst/>
              </a:prstGeom>
              <a:solidFill>
                <a:schemeClr val="bg1"/>
              </a:solidFill>
              <a:ln w="9525">
                <a:noFill/>
                <a:miter lim="800000"/>
              </a:ln>
              <a:effectLst>
                <a:outerShdw dist="35921" dir="2700000" algn="ctr" rotWithShape="0">
                  <a:schemeClr val="tx2"/>
                </a:outerShdw>
              </a:effectLst>
            </p:spPr>
            <p:txBody>
              <a:bodyPr wrap="none" anchor="ctr"/>
              <a:lstStyle/>
              <a:p>
                <a:pPr eaLnBrk="0" hangingPunct="0">
                  <a:defRPr/>
                </a:pPr>
                <a:endParaRPr lang="zh-CN" altLang="en-US">
                  <a:latin typeface="华文行楷" panose="02010800040101010101" pitchFamily="2" charset="-122"/>
                  <a:ea typeface="华文行楷" panose="02010800040101010101" pitchFamily="2" charset="-122"/>
                </a:endParaRPr>
              </a:p>
            </p:txBody>
          </p:sp>
          <p:pic>
            <p:nvPicPr>
              <p:cNvPr id="142343" name="Picture 6" descr="入党誓词"/>
              <p:cNvPicPr>
                <a:picLocks noChangeAspect="1" noChangeArrowheads="1"/>
              </p:cNvPicPr>
              <p:nvPr/>
            </p:nvPicPr>
            <p:blipFill>
              <a:blip r:embed="rId2" cstate="print"/>
              <a:srcRect/>
              <a:stretch>
                <a:fillRect/>
              </a:stretch>
            </p:blipFill>
            <p:spPr bwMode="auto">
              <a:xfrm>
                <a:off x="48" y="48"/>
                <a:ext cx="2928" cy="1740"/>
              </a:xfrm>
              <a:prstGeom prst="rect">
                <a:avLst/>
              </a:prstGeom>
              <a:noFill/>
              <a:ln w="9525">
                <a:noFill/>
                <a:miter lim="800000"/>
                <a:headEnd/>
                <a:tailEnd/>
              </a:ln>
            </p:spPr>
          </p:pic>
        </p:grpSp>
        <p:sp>
          <p:nvSpPr>
            <p:cNvPr id="142341" name="Text Box 7"/>
            <p:cNvSpPr txBox="1">
              <a:spLocks noChangeArrowheads="1"/>
            </p:cNvSpPr>
            <p:nvPr/>
          </p:nvSpPr>
          <p:spPr bwMode="auto">
            <a:xfrm>
              <a:off x="556" y="1872"/>
              <a:ext cx="1660" cy="288"/>
            </a:xfrm>
            <a:prstGeom prst="rect">
              <a:avLst/>
            </a:prstGeom>
            <a:noFill/>
            <a:ln w="9525">
              <a:noFill/>
              <a:miter lim="800000"/>
              <a:headEnd/>
              <a:tailEnd/>
            </a:ln>
          </p:spPr>
          <p:txBody>
            <a:bodyPr wrap="none">
              <a:spAutoFit/>
            </a:bodyPr>
            <a:lstStyle/>
            <a:p>
              <a:r>
                <a:rPr lang="zh-CN" altLang="en-US" sz="2400">
                  <a:latin typeface="Times New Roman" pitchFamily="18" charset="0"/>
                  <a:ea typeface="楷体_GB2312" pitchFamily="49" charset="-122"/>
                </a:rPr>
                <a:t>红军时的入党誓词</a:t>
              </a:r>
            </a:p>
          </p:txBody>
        </p:sp>
      </p:grpSp>
      <p:sp>
        <p:nvSpPr>
          <p:cNvPr id="8" name="矩形 7"/>
          <p:cNvSpPr/>
          <p:nvPr/>
        </p:nvSpPr>
        <p:spPr>
          <a:xfrm>
            <a:off x="5724128" y="1988840"/>
            <a:ext cx="2843808" cy="2862322"/>
          </a:xfrm>
          <a:prstGeom prst="rect">
            <a:avLst/>
          </a:prstGeom>
          <a:ln>
            <a:solidFill>
              <a:schemeClr val="accent1"/>
            </a:solidFill>
          </a:ln>
        </p:spPr>
        <p:txBody>
          <a:bodyPr wrap="square">
            <a:spAutoFit/>
          </a:bodyPr>
          <a:lstStyle/>
          <a:p>
            <a:r>
              <a:rPr lang="zh-CN" altLang="en-US" sz="2000" b="1" dirty="0" smtClean="0"/>
              <a:t>成功解决了半殖民地半封建社会的中国，</a:t>
            </a:r>
            <a:r>
              <a:rPr lang="zh-CN" altLang="zh-CN" sz="2000" b="1" dirty="0" smtClean="0"/>
              <a:t>在无产阶级人数很少而战斗力很强、农民和其他小资产阶级占人口大多数的国家，建设一个具有广泛群众性的、马克思主义的无产阶级政党</a:t>
            </a:r>
            <a:r>
              <a:rPr lang="zh-CN" altLang="en-US" sz="2000" b="1" dirty="0" smtClean="0"/>
              <a:t>的</a:t>
            </a:r>
            <a:r>
              <a:rPr lang="zh-CN" altLang="zh-CN" sz="2000" b="1" dirty="0" smtClean="0"/>
              <a:t>问题</a:t>
            </a:r>
            <a:endParaRPr lang="zh-CN" altLang="en-US" sz="2000" b="1" dirty="0"/>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08546"/>
                                        </p:tgtEl>
                                        <p:attrNameLst>
                                          <p:attrName>style.visibility</p:attrName>
                                        </p:attrNameLst>
                                      </p:cBhvr>
                                      <p:to>
                                        <p:strVal val="visible"/>
                                      </p:to>
                                    </p:set>
                                    <p:anim calcmode="lin" valueType="num">
                                      <p:cBhvr additive="base">
                                        <p:cTn id="7" dur="500" fill="hold"/>
                                        <p:tgtEl>
                                          <p:spTgt spid="108546"/>
                                        </p:tgtEl>
                                        <p:attrNameLst>
                                          <p:attrName>ppt_x</p:attrName>
                                        </p:attrNameLst>
                                      </p:cBhvr>
                                      <p:tavLst>
                                        <p:tav tm="0">
                                          <p:val>
                                            <p:strVal val="0-#ppt_w/2"/>
                                          </p:val>
                                        </p:tav>
                                        <p:tav tm="100000">
                                          <p:val>
                                            <p:strVal val="#ppt_x"/>
                                          </p:val>
                                        </p:tav>
                                      </p:tavLst>
                                    </p:anim>
                                    <p:anim calcmode="lin" valueType="num">
                                      <p:cBhvr additive="base">
                                        <p:cTn id="8" dur="500" fill="hold"/>
                                        <p:tgtEl>
                                          <p:spTgt spid="10854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6"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ext Box 2"/>
          <p:cNvSpPr txBox="1">
            <a:spLocks noChangeArrowheads="1"/>
          </p:cNvSpPr>
          <p:nvPr/>
        </p:nvSpPr>
        <p:spPr bwMode="auto">
          <a:xfrm>
            <a:off x="899592" y="2780928"/>
            <a:ext cx="8136904" cy="3785652"/>
          </a:xfrm>
          <a:prstGeom prst="rect">
            <a:avLst/>
          </a:prstGeom>
          <a:noFill/>
          <a:ln w="9525">
            <a:solidFill>
              <a:srgbClr val="FF0000"/>
            </a:solidFill>
            <a:miter lim="800000"/>
          </a:ln>
          <a:effectLst>
            <a:outerShdw dist="17961" dir="2700000" algn="ctr" rotWithShape="0">
              <a:schemeClr val="bg2"/>
            </a:outerShdw>
          </a:effectLst>
        </p:spPr>
        <p:txBody>
          <a:bodyPr wrap="square">
            <a:spAutoFit/>
          </a:bodyPr>
          <a:lstStyle/>
          <a:p>
            <a:pPr>
              <a:lnSpc>
                <a:spcPct val="150000"/>
              </a:lnSpc>
              <a:defRPr/>
            </a:pPr>
            <a:r>
              <a:rPr lang="zh-CN" altLang="en-US" sz="3200" dirty="0" smtClean="0">
                <a:solidFill>
                  <a:srgbClr val="FF0000"/>
                </a:solidFill>
                <a:latin typeface="黑体" panose="02010609060101010101" pitchFamily="49" charset="-122"/>
                <a:ea typeface="黑体" panose="02010609060101010101" pitchFamily="49" charset="-122"/>
              </a:rPr>
              <a:t>    毛泽东思想</a:t>
            </a:r>
            <a:r>
              <a:rPr lang="zh-CN" altLang="en-US" sz="3200" dirty="0">
                <a:solidFill>
                  <a:srgbClr val="FF0000"/>
                </a:solidFill>
                <a:latin typeface="黑体" panose="02010609060101010101" pitchFamily="49" charset="-122"/>
                <a:ea typeface="黑体" panose="02010609060101010101" pitchFamily="49" charset="-122"/>
              </a:rPr>
              <a:t>的活的灵魂，是贯穿</a:t>
            </a:r>
            <a:r>
              <a:rPr lang="zh-CN" altLang="en-US" sz="3200" dirty="0" smtClean="0">
                <a:solidFill>
                  <a:srgbClr val="FF0000"/>
                </a:solidFill>
                <a:latin typeface="黑体" panose="02010609060101010101" pitchFamily="49" charset="-122"/>
                <a:ea typeface="黑体" panose="02010609060101010101" pitchFamily="49" charset="-122"/>
              </a:rPr>
              <a:t>于毛泽东思想各个组成部分的立场</a:t>
            </a:r>
            <a:r>
              <a:rPr lang="zh-CN" altLang="en-US" sz="3200" dirty="0">
                <a:solidFill>
                  <a:srgbClr val="FF0000"/>
                </a:solidFill>
                <a:latin typeface="黑体" panose="02010609060101010101" pitchFamily="49" charset="-122"/>
                <a:ea typeface="黑体" panose="02010609060101010101" pitchFamily="49" charset="-122"/>
              </a:rPr>
              <a:t>、观点和方法。即：</a:t>
            </a:r>
          </a:p>
          <a:p>
            <a:pPr>
              <a:lnSpc>
                <a:spcPct val="150000"/>
              </a:lnSpc>
              <a:defRPr/>
            </a:pPr>
            <a:r>
              <a:rPr lang="zh-CN" altLang="en-US" sz="3200" dirty="0">
                <a:solidFill>
                  <a:srgbClr val="FF0000"/>
                </a:solidFill>
                <a:latin typeface="黑体" panose="02010609060101010101" pitchFamily="49" charset="-122"/>
                <a:ea typeface="黑体" panose="02010609060101010101" pitchFamily="49" charset="-122"/>
              </a:rPr>
              <a:t>实事求是、群众路线和</a:t>
            </a:r>
            <a:r>
              <a:rPr lang="zh-CN" altLang="en-US" sz="3200" dirty="0" smtClean="0">
                <a:solidFill>
                  <a:srgbClr val="FF0000"/>
                </a:solidFill>
                <a:latin typeface="黑体" panose="02010609060101010101" pitchFamily="49" charset="-122"/>
                <a:ea typeface="黑体" panose="02010609060101010101" pitchFamily="49" charset="-122"/>
              </a:rPr>
              <a:t>独立自主</a:t>
            </a:r>
            <a:endParaRPr lang="en-US" altLang="zh-CN" sz="3200" dirty="0" smtClean="0">
              <a:solidFill>
                <a:srgbClr val="FF0000"/>
              </a:solidFill>
              <a:latin typeface="黑体" panose="02010609060101010101" pitchFamily="49" charset="-122"/>
              <a:ea typeface="黑体" panose="02010609060101010101" pitchFamily="49" charset="-122"/>
            </a:endParaRPr>
          </a:p>
          <a:p>
            <a:pPr>
              <a:lnSpc>
                <a:spcPct val="150000"/>
              </a:lnSpc>
              <a:defRPr/>
            </a:pPr>
            <a:r>
              <a:rPr lang="zh-CN" altLang="en-US" sz="3200" b="1" dirty="0" smtClean="0">
                <a:solidFill>
                  <a:srgbClr val="3333FF"/>
                </a:solidFill>
                <a:latin typeface="黑体" panose="02010609060101010101" pitchFamily="49" charset="-122"/>
                <a:ea typeface="黑体" panose="02010609060101010101" pitchFamily="49" charset="-122"/>
              </a:rPr>
              <a:t>    十一届六中全会概括</a:t>
            </a:r>
            <a:endParaRPr lang="zh-CN" altLang="en-US" sz="3200" b="1" dirty="0">
              <a:solidFill>
                <a:srgbClr val="3333FF"/>
              </a:solidFill>
              <a:latin typeface="黑体" panose="02010609060101010101" pitchFamily="49" charset="-122"/>
              <a:ea typeface="黑体" panose="02010609060101010101" pitchFamily="49" charset="-122"/>
            </a:endParaRPr>
          </a:p>
        </p:txBody>
      </p:sp>
      <p:sp>
        <p:nvSpPr>
          <p:cNvPr id="7" name="矩形 6"/>
          <p:cNvSpPr/>
          <p:nvPr/>
        </p:nvSpPr>
        <p:spPr>
          <a:xfrm>
            <a:off x="0" y="1214422"/>
            <a:ext cx="8533105" cy="923330"/>
          </a:xfrm>
          <a:prstGeom prst="rect">
            <a:avLst/>
          </a:prstGeom>
          <a:solidFill>
            <a:schemeClr val="bg2"/>
          </a:solidFill>
        </p:spPr>
        <p:txBody>
          <a:bodyPr wrap="none">
            <a:spAutoFit/>
          </a:bodyPr>
          <a:lstStyle/>
          <a:p>
            <a:pPr>
              <a:defRPr/>
            </a:pPr>
            <a:r>
              <a:rPr lang="zh-CN" altLang="en-US" sz="5400" b="1" dirty="0" smtClean="0">
                <a:solidFill>
                  <a:srgbClr val="FF0000"/>
                </a:solidFill>
                <a:latin typeface="+mj-ea"/>
                <a:ea typeface="+mj-ea"/>
              </a:rPr>
              <a:t>（二）毛泽东思想活的灵魂</a:t>
            </a:r>
            <a:endParaRPr lang="zh-CN" altLang="en-US" sz="5400" b="1" dirty="0">
              <a:solidFill>
                <a:srgbClr val="FF0000"/>
              </a:solidFill>
              <a:latin typeface="+mj-ea"/>
              <a:ea typeface="+mj-ea"/>
            </a:endParaRPr>
          </a:p>
        </p:txBody>
      </p:sp>
    </p:spTree>
  </p:cSld>
  <p:clrMapOvr>
    <a:masterClrMapping/>
  </p:clrMapOvr>
  <p:transition spd="med">
    <p:wipe dir="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Text Box 3"/>
          <p:cNvSpPr txBox="1">
            <a:spLocks noChangeArrowheads="1"/>
          </p:cNvSpPr>
          <p:nvPr/>
        </p:nvSpPr>
        <p:spPr bwMode="auto">
          <a:xfrm>
            <a:off x="1619671" y="2708920"/>
            <a:ext cx="6453187" cy="2554545"/>
          </a:xfrm>
          <a:prstGeom prst="rect">
            <a:avLst/>
          </a:prstGeom>
          <a:noFill/>
          <a:ln w="9525">
            <a:solidFill>
              <a:srgbClr val="FF0000"/>
            </a:solidFill>
            <a:miter lim="800000"/>
          </a:ln>
          <a:effectLst>
            <a:outerShdw dist="17961" dir="2700000" algn="ctr" rotWithShape="0">
              <a:schemeClr val="tx2"/>
            </a:outerShdw>
          </a:effectLst>
        </p:spPr>
        <p:txBody>
          <a:bodyPr>
            <a:spAutoFit/>
          </a:bodyPr>
          <a:lstStyle/>
          <a:p>
            <a:pPr>
              <a:buClr>
                <a:srgbClr val="FFFF00"/>
              </a:buClr>
              <a:defRPr/>
            </a:pPr>
            <a:r>
              <a:rPr lang="en-US" altLang="zh-CN" sz="3200" b="1" dirty="0" smtClean="0">
                <a:solidFill>
                  <a:srgbClr val="0000FF"/>
                </a:solidFill>
                <a:latin typeface="Times New Roman" panose="02020603050405020304" pitchFamily="18" charset="0"/>
                <a:ea typeface="黑体" panose="02010609060101010101" pitchFamily="49" charset="-122"/>
              </a:rPr>
              <a:t>——</a:t>
            </a:r>
            <a:r>
              <a:rPr lang="zh-CN" altLang="en-US" sz="3200" b="1" dirty="0">
                <a:solidFill>
                  <a:srgbClr val="0000FF"/>
                </a:solidFill>
                <a:latin typeface="Times New Roman" panose="02020603050405020304" pitchFamily="18" charset="0"/>
                <a:ea typeface="黑体" panose="02010609060101010101" pitchFamily="49" charset="-122"/>
              </a:rPr>
              <a:t>马克思主义的根本</a:t>
            </a:r>
            <a:r>
              <a:rPr lang="zh-CN" altLang="en-US" sz="3200" b="1" dirty="0" smtClean="0">
                <a:solidFill>
                  <a:srgbClr val="0000FF"/>
                </a:solidFill>
                <a:latin typeface="Times New Roman" panose="02020603050405020304" pitchFamily="18" charset="0"/>
                <a:ea typeface="黑体" panose="02010609060101010101" pitchFamily="49" charset="-122"/>
              </a:rPr>
              <a:t>观点</a:t>
            </a:r>
            <a:endParaRPr lang="en-US" altLang="zh-CN" sz="3200" b="1" dirty="0" smtClean="0">
              <a:solidFill>
                <a:srgbClr val="0000FF"/>
              </a:solidFill>
              <a:latin typeface="Times New Roman" panose="02020603050405020304" pitchFamily="18" charset="0"/>
              <a:ea typeface="黑体" panose="02010609060101010101" pitchFamily="49" charset="-122"/>
            </a:endParaRPr>
          </a:p>
          <a:p>
            <a:pPr>
              <a:buClr>
                <a:srgbClr val="FFFF00"/>
              </a:buClr>
              <a:defRPr/>
            </a:pPr>
            <a:endParaRPr lang="en-US" altLang="zh-CN" sz="3200" b="1" dirty="0">
              <a:solidFill>
                <a:srgbClr val="0000FF"/>
              </a:solidFill>
              <a:latin typeface="Times New Roman" panose="02020603050405020304" pitchFamily="18" charset="0"/>
              <a:ea typeface="黑体" panose="02010609060101010101" pitchFamily="49" charset="-122"/>
            </a:endParaRPr>
          </a:p>
          <a:p>
            <a:pPr>
              <a:lnSpc>
                <a:spcPct val="150000"/>
              </a:lnSpc>
              <a:buClr>
                <a:srgbClr val="FFFF00"/>
              </a:buClr>
              <a:defRPr/>
            </a:pPr>
            <a:r>
              <a:rPr lang="en-US" altLang="zh-CN" sz="3200" b="1" dirty="0">
                <a:solidFill>
                  <a:srgbClr val="0000FF"/>
                </a:solidFill>
                <a:latin typeface="Times New Roman" panose="02020603050405020304" pitchFamily="18" charset="0"/>
                <a:ea typeface="黑体" panose="02010609060101010101" pitchFamily="49" charset="-122"/>
              </a:rPr>
              <a:t>   </a:t>
            </a:r>
            <a:r>
              <a:rPr lang="zh-CN" altLang="en-US" sz="3200" b="1" dirty="0">
                <a:solidFill>
                  <a:srgbClr val="0000FF"/>
                </a:solidFill>
                <a:latin typeface="Times New Roman" panose="02020603050405020304" pitchFamily="18" charset="0"/>
                <a:ea typeface="黑体" panose="02010609060101010101" pitchFamily="49" charset="-122"/>
              </a:rPr>
              <a:t>是中国共产党认识世界改造世界的根本要求和思想路线的核心</a:t>
            </a:r>
          </a:p>
        </p:txBody>
      </p:sp>
      <p:sp>
        <p:nvSpPr>
          <p:cNvPr id="6" name="矩形 5"/>
          <p:cNvSpPr/>
          <p:nvPr/>
        </p:nvSpPr>
        <p:spPr>
          <a:xfrm>
            <a:off x="1763688" y="1124744"/>
            <a:ext cx="3432350" cy="830997"/>
          </a:xfrm>
          <a:prstGeom prst="rect">
            <a:avLst/>
          </a:prstGeom>
          <a:solidFill>
            <a:schemeClr val="bg2"/>
          </a:solidFill>
          <a:ln>
            <a:solidFill>
              <a:schemeClr val="accent1"/>
            </a:solidFill>
          </a:ln>
        </p:spPr>
        <p:txBody>
          <a:bodyPr wrap="none">
            <a:spAutoFit/>
          </a:bodyPr>
          <a:lstStyle/>
          <a:p>
            <a:pPr>
              <a:buClr>
                <a:srgbClr val="FFFF00"/>
              </a:buClr>
              <a:defRPr/>
            </a:pPr>
            <a:r>
              <a:rPr lang="en-US" altLang="zh-CN" sz="4000" b="1" dirty="0" smtClean="0">
                <a:solidFill>
                  <a:srgbClr val="FF0000"/>
                </a:solidFill>
                <a:latin typeface="+mj-ea"/>
                <a:ea typeface="+mj-ea"/>
              </a:rPr>
              <a:t>1</a:t>
            </a:r>
            <a:r>
              <a:rPr lang="zh-CN" altLang="en-US" sz="4000" b="1" dirty="0" smtClean="0">
                <a:solidFill>
                  <a:srgbClr val="FF0000"/>
                </a:solidFill>
                <a:latin typeface="+mj-ea"/>
                <a:ea typeface="+mj-ea"/>
              </a:rPr>
              <a:t>、</a:t>
            </a:r>
            <a:r>
              <a:rPr lang="zh-CN" altLang="en-US" sz="4800" b="1" dirty="0" smtClean="0">
                <a:solidFill>
                  <a:srgbClr val="FF0000"/>
                </a:solidFill>
                <a:latin typeface="+mj-ea"/>
                <a:ea typeface="+mj-ea"/>
              </a:rPr>
              <a:t>实事求是</a:t>
            </a:r>
            <a:endParaRPr lang="en-US" altLang="zh-CN" sz="4800" b="1" dirty="0">
              <a:solidFill>
                <a:srgbClr val="FF0000"/>
              </a:solidFill>
              <a:latin typeface="+mj-ea"/>
              <a:ea typeface="+mj-ea"/>
            </a:endParaRP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09571"/>
                                        </p:tgtEl>
                                        <p:attrNameLst>
                                          <p:attrName>style.visibility</p:attrName>
                                        </p:attrNameLst>
                                      </p:cBhvr>
                                      <p:to>
                                        <p:strVal val="visible"/>
                                      </p:to>
                                    </p:set>
                                    <p:anim calcmode="lin" valueType="num">
                                      <p:cBhvr additive="base">
                                        <p:cTn id="7" dur="500" fill="hold"/>
                                        <p:tgtEl>
                                          <p:spTgt spid="109571"/>
                                        </p:tgtEl>
                                        <p:attrNameLst>
                                          <p:attrName>ppt_x</p:attrName>
                                        </p:attrNameLst>
                                      </p:cBhvr>
                                      <p:tavLst>
                                        <p:tav tm="0">
                                          <p:val>
                                            <p:strVal val="0-#ppt_w/2"/>
                                          </p:val>
                                        </p:tav>
                                        <p:tav tm="100000">
                                          <p:val>
                                            <p:strVal val="#ppt_x"/>
                                          </p:val>
                                        </p:tav>
                                      </p:tavLst>
                                    </p:anim>
                                    <p:anim calcmode="lin" valueType="num">
                                      <p:cBhvr additive="base">
                                        <p:cTn id="8" dur="500" fill="hold"/>
                                        <p:tgtEl>
                                          <p:spTgt spid="10957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1"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63" name="Picture 4" descr="21-110526145TXG"/>
          <p:cNvPicPr>
            <a:picLocks noChangeAspect="1" noChangeArrowheads="1"/>
          </p:cNvPicPr>
          <p:nvPr/>
        </p:nvPicPr>
        <p:blipFill>
          <a:blip r:embed="rId2" cstate="print"/>
          <a:srcRect/>
          <a:stretch>
            <a:fillRect/>
          </a:stretch>
        </p:blipFill>
        <p:spPr bwMode="auto">
          <a:xfrm>
            <a:off x="1763688" y="714764"/>
            <a:ext cx="4762500" cy="1504950"/>
          </a:xfrm>
          <a:prstGeom prst="rect">
            <a:avLst/>
          </a:prstGeom>
          <a:noFill/>
          <a:ln w="9525">
            <a:noFill/>
            <a:miter lim="800000"/>
            <a:headEnd/>
            <a:tailEnd/>
          </a:ln>
        </p:spPr>
      </p:pic>
      <p:pic>
        <p:nvPicPr>
          <p:cNvPr id="245764" name="DefaultOcx"/>
          <p:cNvPicPr>
            <a:picLocks noChangeArrowheads="1"/>
          </p:cNvPicPr>
          <p:nvPr/>
        </p:nvPicPr>
        <p:blipFill>
          <a:blip r:embed="rId3" cstate="print"/>
          <a:srcRect/>
          <a:stretch>
            <a:fillRect/>
          </a:stretch>
        </p:blipFill>
        <p:spPr bwMode="auto">
          <a:xfrm>
            <a:off x="0" y="0"/>
            <a:ext cx="914400" cy="228600"/>
          </a:xfrm>
          <a:prstGeom prst="rect">
            <a:avLst/>
          </a:prstGeom>
          <a:noFill/>
          <a:ln w="9525">
            <a:noFill/>
            <a:miter lim="800000"/>
            <a:headEnd/>
            <a:tailEnd/>
          </a:ln>
        </p:spPr>
      </p:pic>
      <p:sp>
        <p:nvSpPr>
          <p:cNvPr id="245765" name="Rectangle 3"/>
          <p:cNvSpPr>
            <a:spLocks noChangeArrowheads="1"/>
          </p:cNvSpPr>
          <p:nvPr/>
        </p:nvSpPr>
        <p:spPr bwMode="auto">
          <a:xfrm>
            <a:off x="420688" y="3857628"/>
            <a:ext cx="8723312" cy="2308225"/>
          </a:xfrm>
          <a:prstGeom prst="rect">
            <a:avLst/>
          </a:prstGeom>
          <a:solidFill>
            <a:schemeClr val="bg1"/>
          </a:solidFill>
          <a:ln w="9525">
            <a:solidFill>
              <a:srgbClr val="FF0000"/>
            </a:solidFill>
            <a:miter lim="800000"/>
            <a:headEnd/>
            <a:tailEnd/>
          </a:ln>
        </p:spPr>
        <p:txBody>
          <a:bodyPr lIns="11109" rIns="85698" anchor="ctr">
            <a:spAutoFit/>
          </a:bodyPr>
          <a:lstStyle/>
          <a:p>
            <a:pPr>
              <a:spcBef>
                <a:spcPct val="50000"/>
              </a:spcBef>
            </a:pPr>
            <a:r>
              <a:rPr lang="zh-CN" altLang="en-US" sz="2400">
                <a:solidFill>
                  <a:srgbClr val="0000FF"/>
                </a:solidFill>
                <a:latin typeface="Times New Roman" pitchFamily="18" charset="0"/>
                <a:ea typeface="黑体" pitchFamily="49" charset="-122"/>
              </a:rPr>
              <a:t>    “</a:t>
            </a:r>
            <a:r>
              <a:rPr lang="zh-CN" altLang="en-US" sz="2400">
                <a:solidFill>
                  <a:srgbClr val="FF0000"/>
                </a:solidFill>
                <a:latin typeface="隶书" pitchFamily="49" charset="-122"/>
                <a:ea typeface="隶书" pitchFamily="49" charset="-122"/>
              </a:rPr>
              <a:t>修学好古，实事求是。从民得善书，必为好写与之，留其真，加金帛赐以招之。由是四方道术之人不远千里，或有先祖旧书，多奉以奏献王者，故得书多，与汉朝等。”</a:t>
            </a:r>
          </a:p>
          <a:p>
            <a:pPr>
              <a:lnSpc>
                <a:spcPct val="150000"/>
              </a:lnSpc>
            </a:pPr>
            <a:r>
              <a:rPr lang="zh-CN" altLang="en-US" sz="2400">
                <a:solidFill>
                  <a:srgbClr val="0000FF"/>
                </a:solidFill>
                <a:latin typeface="Times New Roman" pitchFamily="18" charset="0"/>
                <a:ea typeface="黑体" pitchFamily="49" charset="-122"/>
              </a:rPr>
              <a:t>        实事求是指一种严谨的治学态度和方法，，也是</a:t>
            </a:r>
            <a:r>
              <a:rPr lang="zh-CN" altLang="en-US" sz="2400">
                <a:solidFill>
                  <a:srgbClr val="0000FF"/>
                </a:solidFill>
                <a:latin typeface="Times New Roman" pitchFamily="18" charset="0"/>
                <a:ea typeface="黑体" pitchFamily="49" charset="-122"/>
                <a:hlinkClick r:id="rId4"/>
              </a:rPr>
              <a:t>中国</a:t>
            </a:r>
            <a:r>
              <a:rPr lang="zh-CN" altLang="en-US" sz="2400">
                <a:solidFill>
                  <a:srgbClr val="0000FF"/>
                </a:solidFill>
                <a:latin typeface="Times New Roman" pitchFamily="18" charset="0"/>
                <a:ea typeface="黑体" pitchFamily="49" charset="-122"/>
              </a:rPr>
              <a:t>古代学者治学治史的座右铭。</a:t>
            </a:r>
          </a:p>
        </p:txBody>
      </p:sp>
      <p:sp>
        <p:nvSpPr>
          <p:cNvPr id="2" name="矩形 1"/>
          <p:cNvSpPr/>
          <p:nvPr/>
        </p:nvSpPr>
        <p:spPr>
          <a:xfrm>
            <a:off x="1835696" y="2492896"/>
            <a:ext cx="6696744" cy="830997"/>
          </a:xfrm>
          <a:prstGeom prst="rect">
            <a:avLst/>
          </a:prstGeom>
          <a:ln>
            <a:solidFill>
              <a:schemeClr val="accent1"/>
            </a:solidFill>
          </a:ln>
        </p:spPr>
        <p:txBody>
          <a:bodyPr wrap="square">
            <a:spAutoFit/>
          </a:bodyPr>
          <a:lstStyle/>
          <a:p>
            <a:pPr lvl="0">
              <a:spcBef>
                <a:spcPct val="50000"/>
              </a:spcBef>
            </a:pPr>
            <a:r>
              <a:rPr lang="en-US" altLang="zh-CN" sz="2400" dirty="0">
                <a:solidFill>
                  <a:srgbClr val="0000FF"/>
                </a:solidFill>
                <a:latin typeface="Times New Roman" pitchFamily="18" charset="0"/>
                <a:ea typeface="黑体" pitchFamily="49" charset="-122"/>
              </a:rPr>
              <a:t>1943</a:t>
            </a:r>
            <a:r>
              <a:rPr lang="zh-CN" altLang="en-US" sz="2400" dirty="0">
                <a:solidFill>
                  <a:srgbClr val="0000FF"/>
                </a:solidFill>
                <a:latin typeface="Times New Roman" pitchFamily="18" charset="0"/>
                <a:ea typeface="黑体" pitchFamily="49" charset="-122"/>
              </a:rPr>
              <a:t>年，毛泽东为中共中央党校写下了题词 “</a:t>
            </a:r>
            <a:r>
              <a:rPr lang="zh-CN" altLang="en-US" sz="2400" dirty="0">
                <a:solidFill>
                  <a:srgbClr val="FF0000"/>
                </a:solidFill>
                <a:latin typeface="Times New Roman" pitchFamily="18" charset="0"/>
                <a:ea typeface="黑体" pitchFamily="49" charset="-122"/>
              </a:rPr>
              <a:t>实事求是”。</a:t>
            </a:r>
          </a:p>
        </p:txBody>
      </p:sp>
    </p:spTree>
  </p:cSld>
  <p:clrMapOvr>
    <a:masterClrMapping/>
  </p:clrMapOvr>
  <p:transition spd="med">
    <p:wipe dir="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1259632" y="764704"/>
            <a:ext cx="6453187" cy="2308324"/>
          </a:xfrm>
          <a:prstGeom prst="rect">
            <a:avLst/>
          </a:prstGeom>
          <a:noFill/>
          <a:ln w="9525">
            <a:solidFill>
              <a:srgbClr val="FF0000"/>
            </a:solidFill>
            <a:miter lim="800000"/>
          </a:ln>
          <a:effectLst>
            <a:outerShdw dist="17961" dir="2700000" algn="ctr" rotWithShape="0">
              <a:schemeClr val="tx2"/>
            </a:outerShdw>
          </a:effectLst>
        </p:spPr>
        <p:txBody>
          <a:bodyPr>
            <a:spAutoFit/>
          </a:bodyPr>
          <a:lstStyle/>
          <a:p>
            <a:pPr>
              <a:lnSpc>
                <a:spcPct val="150000"/>
              </a:lnSpc>
              <a:buClr>
                <a:srgbClr val="FFFF00"/>
              </a:buClr>
              <a:defRPr/>
            </a:pPr>
            <a:r>
              <a:rPr lang="zh-CN" altLang="en-US" sz="3200" b="1" dirty="0" smtClean="0">
                <a:solidFill>
                  <a:srgbClr val="FF0000"/>
                </a:solidFill>
                <a:latin typeface="Times New Roman" panose="02020603050405020304" pitchFamily="18" charset="0"/>
                <a:ea typeface="黑体" panose="02010609060101010101" pitchFamily="49" charset="-122"/>
              </a:rPr>
              <a:t>       思想路线</a:t>
            </a:r>
            <a:r>
              <a:rPr lang="zh-CN" altLang="en-US" sz="3200" b="1" dirty="0" smtClean="0">
                <a:solidFill>
                  <a:srgbClr val="0000FF"/>
                </a:solidFill>
                <a:latin typeface="Times New Roman" panose="02020603050405020304" pitchFamily="18" charset="0"/>
                <a:ea typeface="黑体" panose="02010609060101010101" pitchFamily="49" charset="-122"/>
              </a:rPr>
              <a:t>：一切从实际出发，理论联系实际，实事求是，坚持在实践中检验真理和发展真理。</a:t>
            </a:r>
            <a:endParaRPr lang="zh-CN" altLang="en-US" sz="3200" b="1" dirty="0">
              <a:solidFill>
                <a:srgbClr val="0000FF"/>
              </a:solidFill>
              <a:latin typeface="Times New Roman" panose="02020603050405020304" pitchFamily="18" charset="0"/>
              <a:ea typeface="黑体" panose="02010609060101010101" pitchFamily="49" charset="-122"/>
            </a:endParaRPr>
          </a:p>
        </p:txBody>
      </p:sp>
      <p:sp>
        <p:nvSpPr>
          <p:cNvPr id="8" name="Text Box 3"/>
          <p:cNvSpPr txBox="1">
            <a:spLocks noChangeArrowheads="1"/>
          </p:cNvSpPr>
          <p:nvPr/>
        </p:nvSpPr>
        <p:spPr bwMode="auto">
          <a:xfrm>
            <a:off x="1214414" y="3429000"/>
            <a:ext cx="6453187" cy="3046988"/>
          </a:xfrm>
          <a:prstGeom prst="rect">
            <a:avLst/>
          </a:prstGeom>
          <a:noFill/>
          <a:ln w="9525">
            <a:solidFill>
              <a:srgbClr val="FF0000"/>
            </a:solidFill>
            <a:miter lim="800000"/>
          </a:ln>
          <a:effectLst>
            <a:outerShdw dist="17961" dir="2700000" algn="ctr" rotWithShape="0">
              <a:schemeClr val="tx2"/>
            </a:outerShdw>
          </a:effectLst>
        </p:spPr>
        <p:txBody>
          <a:bodyPr>
            <a:spAutoFit/>
          </a:bodyPr>
          <a:lstStyle/>
          <a:p>
            <a:pPr>
              <a:lnSpc>
                <a:spcPct val="150000"/>
              </a:lnSpc>
              <a:buClr>
                <a:srgbClr val="FFFF00"/>
              </a:buClr>
              <a:defRPr/>
            </a:pPr>
            <a:r>
              <a:rPr lang="zh-CN" altLang="en-US" sz="3200" b="1" dirty="0" smtClean="0">
                <a:solidFill>
                  <a:srgbClr val="0000FF"/>
                </a:solidFill>
                <a:latin typeface="Times New Roman" panose="02020603050405020304" pitchFamily="18" charset="0"/>
                <a:ea typeface="黑体" panose="02010609060101010101" pitchFamily="49" charset="-122"/>
              </a:rPr>
              <a:t>        毛泽东：</a:t>
            </a:r>
            <a:r>
              <a:rPr lang="zh-CN" altLang="en-US" sz="3200" b="1" dirty="0" smtClean="0">
                <a:solidFill>
                  <a:srgbClr val="FF0000"/>
                </a:solidFill>
                <a:latin typeface="华文隶书" pitchFamily="2" charset="-122"/>
                <a:ea typeface="华文隶书" pitchFamily="2" charset="-122"/>
              </a:rPr>
              <a:t>“实事”就是客观存在的一切事物，“是” 客观事物内部的联系，即规律性。“求”就 是 我们去研究。</a:t>
            </a:r>
            <a:endParaRPr lang="zh-CN" altLang="en-US" sz="3200" b="1" dirty="0">
              <a:solidFill>
                <a:srgbClr val="FF0000"/>
              </a:solidFill>
              <a:latin typeface="华文隶书" pitchFamily="2" charset="-122"/>
              <a:ea typeface="华文隶书" pitchFamily="2" charset="-122"/>
            </a:endParaRP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0-#ppt_w/2"/>
                                          </p:val>
                                        </p:tav>
                                        <p:tav tm="100000">
                                          <p:val>
                                            <p:strVal val="#ppt_x"/>
                                          </p:val>
                                        </p:tav>
                                      </p:tavLst>
                                    </p:anim>
                                    <p:anim calcmode="lin" valueType="num">
                                      <p:cBhvr additive="base">
                                        <p:cTn id="13"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Text Box 3"/>
          <p:cNvSpPr txBox="1">
            <a:spLocks noChangeArrowheads="1"/>
          </p:cNvSpPr>
          <p:nvPr/>
        </p:nvSpPr>
        <p:spPr bwMode="auto">
          <a:xfrm>
            <a:off x="1403648" y="1196752"/>
            <a:ext cx="6453187" cy="4616648"/>
          </a:xfrm>
          <a:prstGeom prst="rect">
            <a:avLst/>
          </a:prstGeom>
          <a:noFill/>
          <a:ln w="9525">
            <a:solidFill>
              <a:srgbClr val="FF0000"/>
            </a:solidFill>
            <a:miter lim="800000"/>
          </a:ln>
          <a:effectLst>
            <a:outerShdw dist="17961" dir="2700000" algn="ctr" rotWithShape="0">
              <a:schemeClr val="tx2"/>
            </a:outerShdw>
          </a:effectLst>
        </p:spPr>
        <p:txBody>
          <a:bodyPr>
            <a:spAutoFit/>
          </a:bodyPr>
          <a:lstStyle/>
          <a:p>
            <a:pPr>
              <a:buClr>
                <a:srgbClr val="FFFF00"/>
              </a:buClr>
              <a:defRPr/>
            </a:pPr>
            <a:r>
              <a:rPr lang="zh-CN" altLang="en-US" sz="3600" dirty="0" smtClean="0">
                <a:solidFill>
                  <a:srgbClr val="FF0000"/>
                </a:solidFill>
                <a:latin typeface="Times New Roman" panose="02020603050405020304" pitchFamily="18" charset="0"/>
                <a:ea typeface="黑体" panose="02010609060101010101" pitchFamily="49" charset="-122"/>
              </a:rPr>
              <a:t>坚持实事求是要求</a:t>
            </a:r>
            <a:r>
              <a:rPr lang="zh-CN" altLang="en-US" sz="3600" dirty="0" smtClean="0">
                <a:solidFill>
                  <a:srgbClr val="0000FF"/>
                </a:solidFill>
                <a:latin typeface="Times New Roman" panose="02020603050405020304" pitchFamily="18" charset="0"/>
                <a:ea typeface="黑体" panose="02010609060101010101" pitchFamily="49" charset="-122"/>
              </a:rPr>
              <a:t>：</a:t>
            </a:r>
            <a:endParaRPr lang="en-US" altLang="zh-CN" sz="3600" dirty="0" smtClean="0">
              <a:solidFill>
                <a:srgbClr val="0000FF"/>
              </a:solidFill>
              <a:latin typeface="Times New Roman" panose="02020603050405020304" pitchFamily="18" charset="0"/>
              <a:ea typeface="黑体" panose="02010609060101010101" pitchFamily="49" charset="-122"/>
            </a:endParaRPr>
          </a:p>
          <a:p>
            <a:pPr>
              <a:buClr>
                <a:srgbClr val="FFFF00"/>
              </a:buClr>
              <a:defRPr/>
            </a:pPr>
            <a:endParaRPr lang="en-US" altLang="zh-CN" sz="3600" dirty="0" smtClean="0">
              <a:solidFill>
                <a:srgbClr val="0000FF"/>
              </a:solidFill>
              <a:latin typeface="Times New Roman" panose="02020603050405020304" pitchFamily="18" charset="0"/>
              <a:ea typeface="黑体" panose="02010609060101010101" pitchFamily="49" charset="-122"/>
            </a:endParaRPr>
          </a:p>
          <a:p>
            <a:pPr>
              <a:lnSpc>
                <a:spcPct val="150000"/>
              </a:lnSpc>
              <a:buClr>
                <a:srgbClr val="FFFF00"/>
              </a:buClr>
              <a:defRPr/>
            </a:pPr>
            <a:r>
              <a:rPr lang="zh-CN" altLang="en-US" sz="2800" dirty="0" smtClean="0">
                <a:solidFill>
                  <a:srgbClr val="0000FF"/>
                </a:solidFill>
                <a:latin typeface="Times New Roman" panose="02020603050405020304" pitchFamily="18" charset="0"/>
                <a:ea typeface="黑体" panose="02010609060101010101" pitchFamily="49" charset="-122"/>
              </a:rPr>
              <a:t>    第一，深入实际了解事物的本来面貌，把握事物的内在联系，按照客观规律办事</a:t>
            </a:r>
            <a:r>
              <a:rPr lang="zh-CN" altLang="en-US" sz="3600" dirty="0" smtClean="0">
                <a:solidFill>
                  <a:srgbClr val="0000FF"/>
                </a:solidFill>
                <a:latin typeface="Times New Roman" panose="02020603050405020304" pitchFamily="18" charset="0"/>
                <a:ea typeface="黑体" panose="02010609060101010101" pitchFamily="49" charset="-122"/>
              </a:rPr>
              <a:t>。</a:t>
            </a:r>
            <a:endParaRPr lang="en-US" altLang="zh-CN" sz="3600" dirty="0" smtClean="0">
              <a:solidFill>
                <a:srgbClr val="0000FF"/>
              </a:solidFill>
              <a:latin typeface="Times New Roman" panose="02020603050405020304" pitchFamily="18" charset="0"/>
              <a:ea typeface="黑体" panose="02010609060101010101" pitchFamily="49" charset="-122"/>
            </a:endParaRPr>
          </a:p>
          <a:p>
            <a:pPr>
              <a:lnSpc>
                <a:spcPct val="150000"/>
              </a:lnSpc>
              <a:buClr>
                <a:srgbClr val="FFFF00"/>
              </a:buClr>
              <a:defRPr/>
            </a:pPr>
            <a:r>
              <a:rPr lang="zh-CN" altLang="en-US" sz="2800" dirty="0" smtClean="0">
                <a:solidFill>
                  <a:srgbClr val="0000FF"/>
                </a:solidFill>
                <a:latin typeface="Times New Roman" panose="02020603050405020304" pitchFamily="18" charset="0"/>
                <a:ea typeface="黑体" panose="02010609060101010101" pitchFamily="49" charset="-122"/>
              </a:rPr>
              <a:t>    第二，清醒认识和正确把握基本国情。</a:t>
            </a:r>
            <a:endParaRPr lang="en-US" altLang="zh-CN" sz="2800" dirty="0" smtClean="0">
              <a:solidFill>
                <a:srgbClr val="0000FF"/>
              </a:solidFill>
              <a:latin typeface="Times New Roman" panose="02020603050405020304" pitchFamily="18" charset="0"/>
              <a:ea typeface="黑体" panose="02010609060101010101" pitchFamily="49" charset="-122"/>
            </a:endParaRPr>
          </a:p>
          <a:p>
            <a:pPr>
              <a:lnSpc>
                <a:spcPct val="150000"/>
              </a:lnSpc>
              <a:buClr>
                <a:srgbClr val="FFFF00"/>
              </a:buClr>
              <a:defRPr/>
            </a:pPr>
            <a:r>
              <a:rPr lang="en-US" altLang="zh-CN" sz="2800" dirty="0" smtClean="0">
                <a:solidFill>
                  <a:srgbClr val="0000FF"/>
                </a:solidFill>
                <a:latin typeface="Times New Roman" panose="02020603050405020304" pitchFamily="18" charset="0"/>
                <a:ea typeface="黑体" panose="02010609060101010101" pitchFamily="49" charset="-122"/>
              </a:rPr>
              <a:t>    </a:t>
            </a:r>
            <a:r>
              <a:rPr lang="zh-CN" altLang="en-US" sz="2800" dirty="0" smtClean="0">
                <a:solidFill>
                  <a:srgbClr val="0000FF"/>
                </a:solidFill>
                <a:latin typeface="Times New Roman" panose="02020603050405020304" pitchFamily="18" charset="0"/>
                <a:ea typeface="黑体" panose="02010609060101010101" pitchFamily="49" charset="-122"/>
              </a:rPr>
              <a:t>第三，不断进行理论创新。</a:t>
            </a:r>
            <a:endParaRPr lang="zh-CN" altLang="en-US" sz="2800" dirty="0">
              <a:solidFill>
                <a:srgbClr val="0000FF"/>
              </a:solidFill>
              <a:latin typeface="Times New Roman" panose="02020603050405020304" pitchFamily="18" charset="0"/>
              <a:ea typeface="黑体" panose="02010609060101010101" pitchFamily="49" charset="-122"/>
            </a:endParaRP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09571"/>
                                        </p:tgtEl>
                                        <p:attrNameLst>
                                          <p:attrName>style.visibility</p:attrName>
                                        </p:attrNameLst>
                                      </p:cBhvr>
                                      <p:to>
                                        <p:strVal val="visible"/>
                                      </p:to>
                                    </p:set>
                                    <p:anim calcmode="lin" valueType="num">
                                      <p:cBhvr additive="base">
                                        <p:cTn id="7" dur="500" fill="hold"/>
                                        <p:tgtEl>
                                          <p:spTgt spid="109571"/>
                                        </p:tgtEl>
                                        <p:attrNameLst>
                                          <p:attrName>ppt_x</p:attrName>
                                        </p:attrNameLst>
                                      </p:cBhvr>
                                      <p:tavLst>
                                        <p:tav tm="0">
                                          <p:val>
                                            <p:strVal val="0-#ppt_w/2"/>
                                          </p:val>
                                        </p:tav>
                                        <p:tav tm="100000">
                                          <p:val>
                                            <p:strVal val="#ppt_x"/>
                                          </p:val>
                                        </p:tav>
                                      </p:tavLst>
                                    </p:anim>
                                    <p:anim calcmode="lin" valueType="num">
                                      <p:cBhvr additive="base">
                                        <p:cTn id="8" dur="500" fill="hold"/>
                                        <p:tgtEl>
                                          <p:spTgt spid="10957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1"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ext Box 2"/>
          <p:cNvSpPr txBox="1">
            <a:spLocks noChangeArrowheads="1"/>
          </p:cNvSpPr>
          <p:nvPr/>
        </p:nvSpPr>
        <p:spPr bwMode="auto">
          <a:xfrm>
            <a:off x="467544" y="692696"/>
            <a:ext cx="4747397" cy="830997"/>
          </a:xfrm>
          <a:prstGeom prst="rect">
            <a:avLst/>
          </a:prstGeom>
          <a:solidFill>
            <a:schemeClr val="bg2"/>
          </a:solidFill>
          <a:ln w="9525">
            <a:noFill/>
            <a:miter lim="800000"/>
          </a:ln>
          <a:effectLst>
            <a:outerShdw dist="17961" dir="2700000" algn="ctr" rotWithShape="0">
              <a:schemeClr val="tx2"/>
            </a:outerShdw>
          </a:effectLst>
        </p:spPr>
        <p:txBody>
          <a:bodyPr wrap="square">
            <a:spAutoFit/>
          </a:bodyPr>
          <a:lstStyle/>
          <a:p>
            <a:pPr>
              <a:buClr>
                <a:srgbClr val="FFFF00"/>
              </a:buClr>
              <a:defRPr/>
            </a:pPr>
            <a:r>
              <a:rPr lang="en-US" altLang="zh-CN" sz="4800" b="1" dirty="0" smtClean="0">
                <a:solidFill>
                  <a:srgbClr val="FF0000"/>
                </a:solidFill>
                <a:latin typeface="+mj-ea"/>
                <a:ea typeface="+mj-ea"/>
              </a:rPr>
              <a:t>2</a:t>
            </a:r>
            <a:r>
              <a:rPr lang="zh-CN" altLang="en-US" sz="4800" b="1" dirty="0" smtClean="0">
                <a:solidFill>
                  <a:srgbClr val="FF0000"/>
                </a:solidFill>
                <a:latin typeface="+mj-ea"/>
                <a:ea typeface="+mj-ea"/>
              </a:rPr>
              <a:t>、群众路线</a:t>
            </a:r>
            <a:r>
              <a:rPr lang="en-US" altLang="zh-CN" sz="4800" b="1" dirty="0" smtClean="0">
                <a:solidFill>
                  <a:srgbClr val="FF0000"/>
                </a:solidFill>
                <a:latin typeface="+mj-ea"/>
                <a:ea typeface="+mj-ea"/>
              </a:rPr>
              <a:t>    </a:t>
            </a:r>
            <a:endParaRPr lang="zh-CN" altLang="en-US" sz="4800" b="1" dirty="0">
              <a:solidFill>
                <a:srgbClr val="FF0000"/>
              </a:solidFill>
              <a:latin typeface="+mj-ea"/>
              <a:ea typeface="+mj-ea"/>
            </a:endParaRPr>
          </a:p>
        </p:txBody>
      </p:sp>
      <p:grpSp>
        <p:nvGrpSpPr>
          <p:cNvPr id="2" name="Group 3"/>
          <p:cNvGrpSpPr>
            <a:grpSpLocks/>
          </p:cNvGrpSpPr>
          <p:nvPr/>
        </p:nvGrpSpPr>
        <p:grpSpPr bwMode="auto">
          <a:xfrm>
            <a:off x="611560" y="3429000"/>
            <a:ext cx="8166100" cy="3048000"/>
            <a:chOff x="0" y="0"/>
            <a:chExt cx="5144" cy="1920"/>
          </a:xfrm>
        </p:grpSpPr>
        <p:sp>
          <p:nvSpPr>
            <p:cNvPr id="139267" name="Text Box 4"/>
            <p:cNvSpPr txBox="1">
              <a:spLocks noChangeArrowheads="1"/>
            </p:cNvSpPr>
            <p:nvPr/>
          </p:nvSpPr>
          <p:spPr bwMode="auto">
            <a:xfrm>
              <a:off x="2994" y="1179"/>
              <a:ext cx="2150" cy="327"/>
            </a:xfrm>
            <a:prstGeom prst="rect">
              <a:avLst/>
            </a:prstGeom>
            <a:noFill/>
            <a:ln w="9525">
              <a:noFill/>
              <a:miter lim="800000"/>
              <a:headEnd/>
              <a:tailEnd/>
            </a:ln>
            <a:effectLst>
              <a:outerShdw dist="17961" dir="2700000" algn="ctr" rotWithShape="0">
                <a:schemeClr val="bg1"/>
              </a:outerShdw>
            </a:effectLst>
          </p:spPr>
          <p:txBody>
            <a:bodyPr wrap="none">
              <a:spAutoFit/>
            </a:bodyPr>
            <a:lstStyle/>
            <a:p>
              <a:pPr>
                <a:defRPr/>
              </a:pPr>
              <a:r>
                <a:rPr lang="zh-CN" altLang="en-US" sz="2800" dirty="0">
                  <a:latin typeface="Times New Roman" pitchFamily="18" charset="0"/>
                  <a:ea typeface="楷体_GB2312" pitchFamily="49" charset="-122"/>
                </a:rPr>
                <a:t>毛泽东与农民交谈。</a:t>
              </a:r>
            </a:p>
          </p:txBody>
        </p:sp>
        <p:grpSp>
          <p:nvGrpSpPr>
            <p:cNvPr id="3" name="Group 5"/>
            <p:cNvGrpSpPr>
              <a:grpSpLocks/>
            </p:cNvGrpSpPr>
            <p:nvPr/>
          </p:nvGrpSpPr>
          <p:grpSpPr bwMode="auto">
            <a:xfrm>
              <a:off x="0" y="0"/>
              <a:ext cx="2976" cy="1920"/>
              <a:chOff x="0" y="0"/>
              <a:chExt cx="3312" cy="2160"/>
            </a:xfrm>
          </p:grpSpPr>
          <p:sp>
            <p:nvSpPr>
              <p:cNvPr id="110598" name="Rectangle 6"/>
              <p:cNvSpPr>
                <a:spLocks noChangeArrowheads="1"/>
              </p:cNvSpPr>
              <p:nvPr/>
            </p:nvSpPr>
            <p:spPr bwMode="auto">
              <a:xfrm>
                <a:off x="0" y="0"/>
                <a:ext cx="3312" cy="2160"/>
              </a:xfrm>
              <a:prstGeom prst="rect">
                <a:avLst/>
              </a:prstGeom>
              <a:gradFill rotWithShape="0">
                <a:gsLst>
                  <a:gs pos="0">
                    <a:srgbClr val="00FFCC"/>
                  </a:gs>
                  <a:gs pos="50000">
                    <a:srgbClr val="00A27B"/>
                  </a:gs>
                  <a:gs pos="100000">
                    <a:srgbClr val="00FFCC"/>
                  </a:gs>
                </a:gsLst>
                <a:lin ang="18900000" scaled="1"/>
              </a:gradFill>
              <a:ln w="9525">
                <a:noFill/>
                <a:miter lim="800000"/>
              </a:ln>
              <a:effectLst>
                <a:outerShdw dist="53882" dir="2700000" algn="ctr" rotWithShape="0">
                  <a:schemeClr val="tx1"/>
                </a:outerShdw>
              </a:effectLst>
            </p:spPr>
            <p:txBody>
              <a:bodyPr wrap="none" anchor="ctr"/>
              <a:lstStyle/>
              <a:p>
                <a:pPr eaLnBrk="0" hangingPunct="0">
                  <a:defRPr/>
                </a:pPr>
                <a:endParaRPr lang="zh-CN" altLang="en-US">
                  <a:latin typeface="华文行楷" panose="02010800040101010101" pitchFamily="2" charset="-122"/>
                  <a:ea typeface="华文行楷" panose="02010800040101010101" pitchFamily="2" charset="-122"/>
                </a:endParaRPr>
              </a:p>
            </p:txBody>
          </p:sp>
          <p:pic>
            <p:nvPicPr>
              <p:cNvPr id="145415" name="Picture 7" descr="毛泽东与陕北老乡在一起"/>
              <p:cNvPicPr>
                <a:picLocks noChangeAspect="1" noChangeArrowheads="1"/>
              </p:cNvPicPr>
              <p:nvPr/>
            </p:nvPicPr>
            <p:blipFill>
              <a:blip r:embed="rId2" cstate="print"/>
              <a:srcRect/>
              <a:stretch>
                <a:fillRect/>
              </a:stretch>
            </p:blipFill>
            <p:spPr bwMode="auto">
              <a:xfrm>
                <a:off x="48" y="48"/>
                <a:ext cx="3216" cy="2082"/>
              </a:xfrm>
              <a:prstGeom prst="rect">
                <a:avLst/>
              </a:prstGeom>
              <a:gradFill rotWithShape="0">
                <a:gsLst>
                  <a:gs pos="0">
                    <a:srgbClr val="00FFCC"/>
                  </a:gs>
                  <a:gs pos="50000">
                    <a:srgbClr val="00A27B"/>
                  </a:gs>
                  <a:gs pos="100000">
                    <a:srgbClr val="00FFCC"/>
                  </a:gs>
                </a:gsLst>
                <a:lin ang="18900000" scaled="1"/>
              </a:gradFill>
              <a:ln w="9525">
                <a:noFill/>
                <a:miter lim="800000"/>
                <a:headEnd/>
                <a:tailEnd/>
              </a:ln>
            </p:spPr>
          </p:pic>
        </p:grpSp>
      </p:grpSp>
      <p:sp>
        <p:nvSpPr>
          <p:cNvPr id="4" name="矩形 3"/>
          <p:cNvSpPr/>
          <p:nvPr/>
        </p:nvSpPr>
        <p:spPr>
          <a:xfrm>
            <a:off x="1187624" y="1844824"/>
            <a:ext cx="6156175" cy="1200329"/>
          </a:xfrm>
          <a:prstGeom prst="rect">
            <a:avLst/>
          </a:prstGeom>
          <a:solidFill>
            <a:schemeClr val="bg2"/>
          </a:solidFill>
          <a:ln>
            <a:solidFill>
              <a:srgbClr val="FFC000"/>
            </a:solidFill>
          </a:ln>
        </p:spPr>
        <p:txBody>
          <a:bodyPr wrap="square">
            <a:spAutoFit/>
          </a:bodyPr>
          <a:lstStyle/>
          <a:p>
            <a:r>
              <a:rPr lang="zh-CN" altLang="en-US" sz="2400" dirty="0">
                <a:latin typeface="+mj-ea"/>
                <a:ea typeface="+mj-ea"/>
              </a:rPr>
              <a:t>党的生命线和根本的政治路线     </a:t>
            </a:r>
          </a:p>
          <a:p>
            <a:r>
              <a:rPr lang="zh-CN" altLang="en-US" sz="2400" dirty="0">
                <a:latin typeface="+mj-ea"/>
                <a:ea typeface="+mj-ea"/>
              </a:rPr>
              <a:t>    群众路线本质上体现的是马克思主义关于人民群众是历史的创造者这一基本原理。</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10594"/>
                                        </p:tgtEl>
                                        <p:attrNameLst>
                                          <p:attrName>style.visibility</p:attrName>
                                        </p:attrNameLst>
                                      </p:cBhvr>
                                      <p:to>
                                        <p:strVal val="visible"/>
                                      </p:to>
                                    </p:set>
                                    <p:anim calcmode="lin" valueType="num">
                                      <p:cBhvr additive="base">
                                        <p:cTn id="7" dur="500" fill="hold"/>
                                        <p:tgtEl>
                                          <p:spTgt spid="110594"/>
                                        </p:tgtEl>
                                        <p:attrNameLst>
                                          <p:attrName>ppt_x</p:attrName>
                                        </p:attrNameLst>
                                      </p:cBhvr>
                                      <p:tavLst>
                                        <p:tav tm="0">
                                          <p:val>
                                            <p:strVal val="0-#ppt_w/2"/>
                                          </p:val>
                                        </p:tav>
                                        <p:tav tm="100000">
                                          <p:val>
                                            <p:strVal val="#ppt_x"/>
                                          </p:val>
                                        </p:tav>
                                      </p:tavLst>
                                    </p:anim>
                                    <p:anim calcmode="lin" valueType="num">
                                      <p:cBhvr additive="base">
                                        <p:cTn id="8" dur="500" fill="hold"/>
                                        <p:tgtEl>
                                          <p:spTgt spid="11059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4"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ext Box 2"/>
          <p:cNvSpPr txBox="1">
            <a:spLocks noChangeArrowheads="1"/>
          </p:cNvSpPr>
          <p:nvPr/>
        </p:nvSpPr>
        <p:spPr bwMode="auto">
          <a:xfrm>
            <a:off x="1259632" y="1484784"/>
            <a:ext cx="2954655" cy="646331"/>
          </a:xfrm>
          <a:prstGeom prst="rect">
            <a:avLst/>
          </a:prstGeom>
          <a:solidFill>
            <a:schemeClr val="bg2"/>
          </a:solidFill>
          <a:ln w="9525">
            <a:solidFill>
              <a:srgbClr val="FFC000"/>
            </a:solidFill>
            <a:miter lim="800000"/>
          </a:ln>
          <a:effectLst>
            <a:outerShdw dist="17961" dir="2700000" algn="ctr" rotWithShape="0">
              <a:schemeClr val="tx2"/>
            </a:outerShdw>
          </a:effectLst>
        </p:spPr>
        <p:txBody>
          <a:bodyPr wrap="none">
            <a:spAutoFit/>
          </a:bodyPr>
          <a:lstStyle/>
          <a:p>
            <a:pPr>
              <a:buClr>
                <a:srgbClr val="FFFF00"/>
              </a:buClr>
              <a:defRPr/>
            </a:pPr>
            <a:r>
              <a:rPr lang="zh-CN" altLang="en-US" sz="3600" dirty="0" smtClean="0">
                <a:solidFill>
                  <a:srgbClr val="0000FF"/>
                </a:solidFill>
                <a:latin typeface="Times New Roman" panose="02020603050405020304" pitchFamily="18" charset="0"/>
                <a:ea typeface="黑体" panose="02010609060101010101" pitchFamily="49" charset="-122"/>
              </a:rPr>
              <a:t>群众路线含义</a:t>
            </a:r>
            <a:endParaRPr lang="en-US" altLang="zh-CN" sz="3600" dirty="0">
              <a:solidFill>
                <a:srgbClr val="0000FF"/>
              </a:solidFill>
              <a:latin typeface="Times New Roman" panose="02020603050405020304" pitchFamily="18" charset="0"/>
              <a:ea typeface="黑体" panose="02010609060101010101" pitchFamily="49" charset="-122"/>
            </a:endParaRPr>
          </a:p>
        </p:txBody>
      </p:sp>
      <p:sp>
        <p:nvSpPr>
          <p:cNvPr id="8" name="Text Box 2"/>
          <p:cNvSpPr txBox="1">
            <a:spLocks noChangeArrowheads="1"/>
          </p:cNvSpPr>
          <p:nvPr/>
        </p:nvSpPr>
        <p:spPr bwMode="auto">
          <a:xfrm>
            <a:off x="1187624" y="2780928"/>
            <a:ext cx="6773008" cy="2214837"/>
          </a:xfrm>
          <a:prstGeom prst="rect">
            <a:avLst/>
          </a:prstGeom>
          <a:noFill/>
          <a:ln w="9525">
            <a:solidFill>
              <a:srgbClr val="FFC000"/>
            </a:solidFill>
            <a:miter lim="800000"/>
          </a:ln>
          <a:effectLst>
            <a:outerShdw dist="17961" dir="2700000" algn="ctr" rotWithShape="0">
              <a:schemeClr val="tx2"/>
            </a:outerShdw>
          </a:effectLst>
        </p:spPr>
        <p:txBody>
          <a:bodyPr wrap="none">
            <a:spAutoFit/>
          </a:bodyPr>
          <a:lstStyle/>
          <a:p>
            <a:pPr>
              <a:lnSpc>
                <a:spcPct val="150000"/>
              </a:lnSpc>
              <a:buClr>
                <a:srgbClr val="FFFF00"/>
              </a:buClr>
              <a:defRPr/>
            </a:pPr>
            <a:r>
              <a:rPr lang="zh-CN" altLang="en-US" sz="3200" b="1" dirty="0" smtClean="0">
                <a:solidFill>
                  <a:srgbClr val="0000FF"/>
                </a:solidFill>
                <a:latin typeface="Times New Roman" panose="02020603050405020304" pitchFamily="18" charset="0"/>
                <a:ea typeface="黑体" panose="02010609060101010101" pitchFamily="49" charset="-122"/>
              </a:rPr>
              <a:t>        一切为了群众，一切依靠群众，</a:t>
            </a:r>
            <a:endParaRPr lang="en-US" altLang="zh-CN" sz="3200" b="1" dirty="0" smtClean="0">
              <a:solidFill>
                <a:srgbClr val="0000FF"/>
              </a:solidFill>
              <a:latin typeface="Times New Roman" panose="02020603050405020304" pitchFamily="18" charset="0"/>
              <a:ea typeface="黑体" panose="02010609060101010101" pitchFamily="49" charset="-122"/>
            </a:endParaRPr>
          </a:p>
          <a:p>
            <a:pPr>
              <a:lnSpc>
                <a:spcPct val="150000"/>
              </a:lnSpc>
              <a:buClr>
                <a:srgbClr val="FFFF00"/>
              </a:buClr>
              <a:defRPr/>
            </a:pPr>
            <a:r>
              <a:rPr lang="zh-CN" altLang="en-US" sz="3200" b="1" dirty="0" smtClean="0">
                <a:solidFill>
                  <a:srgbClr val="0000FF"/>
                </a:solidFill>
                <a:latin typeface="Times New Roman" panose="02020603050405020304" pitchFamily="18" charset="0"/>
                <a:ea typeface="黑体" panose="02010609060101010101" pitchFamily="49" charset="-122"/>
              </a:rPr>
              <a:t>从群众中来，到群众中去，把党</a:t>
            </a:r>
            <a:endParaRPr lang="en-US" altLang="zh-CN" sz="3200" b="1" dirty="0" smtClean="0">
              <a:solidFill>
                <a:srgbClr val="0000FF"/>
              </a:solidFill>
              <a:latin typeface="Times New Roman" panose="02020603050405020304" pitchFamily="18" charset="0"/>
              <a:ea typeface="黑体" panose="02010609060101010101" pitchFamily="49" charset="-122"/>
            </a:endParaRPr>
          </a:p>
          <a:p>
            <a:pPr>
              <a:lnSpc>
                <a:spcPct val="150000"/>
              </a:lnSpc>
              <a:buClr>
                <a:srgbClr val="FFFF00"/>
              </a:buClr>
              <a:defRPr/>
            </a:pPr>
            <a:r>
              <a:rPr lang="zh-CN" altLang="en-US" sz="3200" b="1" dirty="0" smtClean="0">
                <a:solidFill>
                  <a:srgbClr val="0000FF"/>
                </a:solidFill>
                <a:latin typeface="Times New Roman" panose="02020603050405020304" pitchFamily="18" charset="0"/>
                <a:ea typeface="黑体" panose="02010609060101010101" pitchFamily="49" charset="-122"/>
              </a:rPr>
              <a:t>的正确主张变为群众的自觉行动。</a:t>
            </a:r>
            <a:endParaRPr lang="zh-CN" altLang="en-US" sz="3200" b="1" dirty="0">
              <a:solidFill>
                <a:srgbClr val="0000FF"/>
              </a:solidFill>
              <a:latin typeface="Times New Roman" panose="02020603050405020304" pitchFamily="18" charset="0"/>
              <a:ea typeface="黑体" panose="02010609060101010101" pitchFamily="49" charset="-122"/>
            </a:endParaRP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10594"/>
                                        </p:tgtEl>
                                        <p:attrNameLst>
                                          <p:attrName>style.visibility</p:attrName>
                                        </p:attrNameLst>
                                      </p:cBhvr>
                                      <p:to>
                                        <p:strVal val="visible"/>
                                      </p:to>
                                    </p:set>
                                    <p:anim calcmode="lin" valueType="num">
                                      <p:cBhvr additive="base">
                                        <p:cTn id="7" dur="500" fill="hold"/>
                                        <p:tgtEl>
                                          <p:spTgt spid="110594"/>
                                        </p:tgtEl>
                                        <p:attrNameLst>
                                          <p:attrName>ppt_x</p:attrName>
                                        </p:attrNameLst>
                                      </p:cBhvr>
                                      <p:tavLst>
                                        <p:tav tm="0">
                                          <p:val>
                                            <p:strVal val="0-#ppt_w/2"/>
                                          </p:val>
                                        </p:tav>
                                        <p:tav tm="100000">
                                          <p:val>
                                            <p:strVal val="#ppt_x"/>
                                          </p:val>
                                        </p:tav>
                                      </p:tavLst>
                                    </p:anim>
                                    <p:anim calcmode="lin" valueType="num">
                                      <p:cBhvr additive="base">
                                        <p:cTn id="8" dur="500" fill="hold"/>
                                        <p:tgtEl>
                                          <p:spTgt spid="11059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0-#ppt_w/2"/>
                                          </p:val>
                                        </p:tav>
                                        <p:tav tm="100000">
                                          <p:val>
                                            <p:strVal val="#ppt_x"/>
                                          </p:val>
                                        </p:tav>
                                      </p:tavLst>
                                    </p:anim>
                                    <p:anim calcmode="lin" valueType="num">
                                      <p:cBhvr additive="base">
                                        <p:cTn id="13"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4" grpId="0" animBg="1"/>
      <p:bldP spid="8"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ext Box 2"/>
          <p:cNvSpPr txBox="1">
            <a:spLocks noChangeArrowheads="1"/>
          </p:cNvSpPr>
          <p:nvPr/>
        </p:nvSpPr>
        <p:spPr bwMode="auto">
          <a:xfrm>
            <a:off x="1259632" y="1484784"/>
            <a:ext cx="4339650" cy="646331"/>
          </a:xfrm>
          <a:prstGeom prst="rect">
            <a:avLst/>
          </a:prstGeom>
          <a:noFill/>
          <a:ln w="9525">
            <a:noFill/>
            <a:miter lim="800000"/>
          </a:ln>
          <a:effectLst>
            <a:outerShdw dist="17961" dir="2700000" algn="ctr" rotWithShape="0">
              <a:schemeClr val="tx2"/>
            </a:outerShdw>
          </a:effectLst>
        </p:spPr>
        <p:txBody>
          <a:bodyPr wrap="none">
            <a:spAutoFit/>
          </a:bodyPr>
          <a:lstStyle/>
          <a:p>
            <a:pPr>
              <a:buClr>
                <a:srgbClr val="FFFF00"/>
              </a:buClr>
              <a:defRPr/>
            </a:pPr>
            <a:r>
              <a:rPr lang="zh-CN" altLang="en-US" sz="3600" dirty="0" smtClean="0">
                <a:solidFill>
                  <a:srgbClr val="0000FF"/>
                </a:solidFill>
                <a:latin typeface="Times New Roman" panose="02020603050405020304" pitchFamily="18" charset="0"/>
                <a:ea typeface="黑体" panose="02010609060101010101" pitchFamily="49" charset="-122"/>
              </a:rPr>
              <a:t>坚持群众路线要求：</a:t>
            </a:r>
            <a:endParaRPr lang="en-US" altLang="zh-CN" sz="3600" dirty="0">
              <a:solidFill>
                <a:srgbClr val="0000FF"/>
              </a:solidFill>
              <a:latin typeface="Times New Roman" panose="02020603050405020304" pitchFamily="18" charset="0"/>
              <a:ea typeface="黑体" panose="02010609060101010101" pitchFamily="49" charset="-122"/>
            </a:endParaRPr>
          </a:p>
        </p:txBody>
      </p:sp>
      <p:sp>
        <p:nvSpPr>
          <p:cNvPr id="8" name="Text Box 2"/>
          <p:cNvSpPr txBox="1">
            <a:spLocks noChangeArrowheads="1"/>
          </p:cNvSpPr>
          <p:nvPr/>
        </p:nvSpPr>
        <p:spPr bwMode="auto">
          <a:xfrm>
            <a:off x="1331640" y="2708920"/>
            <a:ext cx="7344816" cy="830997"/>
          </a:xfrm>
          <a:prstGeom prst="rect">
            <a:avLst/>
          </a:prstGeom>
          <a:solidFill>
            <a:schemeClr val="bg1"/>
          </a:solidFill>
          <a:ln w="9525">
            <a:solidFill>
              <a:srgbClr val="FF0000"/>
            </a:solidFill>
            <a:miter lim="800000"/>
          </a:ln>
          <a:effectLst>
            <a:outerShdw dist="17961" dir="2700000" algn="ctr" rotWithShape="0">
              <a:schemeClr val="tx2"/>
            </a:outerShdw>
          </a:effectLst>
        </p:spPr>
        <p:txBody>
          <a:bodyPr wrap="square">
            <a:spAutoFit/>
          </a:bodyPr>
          <a:lstStyle/>
          <a:p>
            <a:pPr>
              <a:lnSpc>
                <a:spcPct val="150000"/>
              </a:lnSpc>
              <a:buClr>
                <a:srgbClr val="FFFF00"/>
              </a:buClr>
              <a:defRPr/>
            </a:pPr>
            <a:r>
              <a:rPr lang="en-US" altLang="zh-CN" sz="3200" b="1" dirty="0" smtClean="0">
                <a:solidFill>
                  <a:srgbClr val="0000FF"/>
                </a:solidFill>
                <a:latin typeface="黑体"/>
                <a:ea typeface="黑体"/>
              </a:rPr>
              <a:t>ⅰ</a:t>
            </a:r>
            <a:r>
              <a:rPr lang="zh-CN" altLang="zh-CN" sz="3200" b="1" dirty="0" smtClean="0">
                <a:solidFill>
                  <a:srgbClr val="0000FF"/>
                </a:solidFill>
                <a:latin typeface="Times New Roman" panose="02020603050405020304" pitchFamily="18" charset="0"/>
                <a:ea typeface="黑体" panose="02010609060101010101" pitchFamily="49" charset="-122"/>
              </a:rPr>
              <a:t>坚持人民是推动历史发展的根本力量</a:t>
            </a:r>
            <a:endParaRPr lang="zh-CN" altLang="en-US" sz="3200" b="1" dirty="0">
              <a:solidFill>
                <a:srgbClr val="0000FF"/>
              </a:solidFill>
              <a:latin typeface="Times New Roman" panose="02020603050405020304" pitchFamily="18" charset="0"/>
              <a:ea typeface="黑体" panose="02010609060101010101" pitchFamily="49" charset="-122"/>
            </a:endParaRPr>
          </a:p>
        </p:txBody>
      </p:sp>
      <p:sp>
        <p:nvSpPr>
          <p:cNvPr id="4" name="矩形 3"/>
          <p:cNvSpPr/>
          <p:nvPr/>
        </p:nvSpPr>
        <p:spPr>
          <a:xfrm>
            <a:off x="1259632" y="3861048"/>
            <a:ext cx="7188186" cy="584775"/>
          </a:xfrm>
          <a:prstGeom prst="rect">
            <a:avLst/>
          </a:prstGeom>
          <a:ln>
            <a:solidFill>
              <a:srgbClr val="FF0000"/>
            </a:solidFill>
          </a:ln>
        </p:spPr>
        <p:txBody>
          <a:bodyPr wrap="none">
            <a:spAutoFit/>
          </a:bodyPr>
          <a:lstStyle/>
          <a:p>
            <a:r>
              <a:rPr lang="en-US" altLang="zh-CN" sz="3200" b="1" dirty="0" smtClean="0">
                <a:solidFill>
                  <a:srgbClr val="0000FF"/>
                </a:solidFill>
                <a:latin typeface="黑体"/>
                <a:ea typeface="黑体"/>
              </a:rPr>
              <a:t>ⅱ</a:t>
            </a:r>
            <a:r>
              <a:rPr lang="zh-CN" altLang="zh-CN" sz="3200" b="1" dirty="0" smtClean="0">
                <a:solidFill>
                  <a:srgbClr val="0000FF"/>
                </a:solidFill>
                <a:latin typeface="Times New Roman" panose="02020603050405020304" pitchFamily="18" charset="0"/>
                <a:ea typeface="黑体" panose="02010609060101010101" pitchFamily="49" charset="-122"/>
              </a:rPr>
              <a:t>坚持全心全意为人民服务的根本宗旨</a:t>
            </a:r>
            <a:endParaRPr lang="zh-CN" altLang="en-US" sz="3200" b="1" dirty="0" smtClean="0">
              <a:solidFill>
                <a:srgbClr val="0000FF"/>
              </a:solidFill>
              <a:latin typeface="Times New Roman" panose="02020603050405020304" pitchFamily="18" charset="0"/>
              <a:ea typeface="黑体" panose="02010609060101010101" pitchFamily="49" charset="-122"/>
            </a:endParaRPr>
          </a:p>
        </p:txBody>
      </p:sp>
      <p:sp>
        <p:nvSpPr>
          <p:cNvPr id="5" name="矩形 4"/>
          <p:cNvSpPr/>
          <p:nvPr/>
        </p:nvSpPr>
        <p:spPr>
          <a:xfrm>
            <a:off x="1259632" y="4725144"/>
            <a:ext cx="5952270" cy="584775"/>
          </a:xfrm>
          <a:prstGeom prst="rect">
            <a:avLst/>
          </a:prstGeom>
          <a:ln>
            <a:solidFill>
              <a:srgbClr val="FF0000"/>
            </a:solidFill>
          </a:ln>
        </p:spPr>
        <p:txBody>
          <a:bodyPr wrap="none">
            <a:spAutoFit/>
          </a:bodyPr>
          <a:lstStyle/>
          <a:p>
            <a:r>
              <a:rPr lang="en-US" altLang="zh-CN" sz="3200" b="1" dirty="0" smtClean="0">
                <a:solidFill>
                  <a:srgbClr val="0000FF"/>
                </a:solidFill>
                <a:latin typeface="黑体"/>
                <a:ea typeface="黑体"/>
              </a:rPr>
              <a:t>ⅲ</a:t>
            </a:r>
            <a:r>
              <a:rPr lang="zh-CN" altLang="zh-CN" sz="3200" b="1" dirty="0" smtClean="0">
                <a:solidFill>
                  <a:srgbClr val="0000FF"/>
                </a:solidFill>
                <a:latin typeface="Times New Roman" panose="02020603050405020304" pitchFamily="18" charset="0"/>
                <a:ea typeface="黑体" panose="02010609060101010101" pitchFamily="49" charset="-122"/>
              </a:rPr>
              <a:t>保持党同人民群众的血肉联系</a:t>
            </a:r>
            <a:endParaRPr lang="zh-CN" altLang="en-US" sz="3200" b="1" dirty="0" smtClean="0">
              <a:solidFill>
                <a:srgbClr val="0000FF"/>
              </a:solidFill>
              <a:latin typeface="Times New Roman" panose="02020603050405020304" pitchFamily="18" charset="0"/>
              <a:ea typeface="黑体" panose="02010609060101010101" pitchFamily="49" charset="-122"/>
            </a:endParaRP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10594"/>
                                        </p:tgtEl>
                                        <p:attrNameLst>
                                          <p:attrName>style.visibility</p:attrName>
                                        </p:attrNameLst>
                                      </p:cBhvr>
                                      <p:to>
                                        <p:strVal val="visible"/>
                                      </p:to>
                                    </p:set>
                                    <p:anim calcmode="lin" valueType="num">
                                      <p:cBhvr additive="base">
                                        <p:cTn id="7" dur="500" fill="hold"/>
                                        <p:tgtEl>
                                          <p:spTgt spid="110594"/>
                                        </p:tgtEl>
                                        <p:attrNameLst>
                                          <p:attrName>ppt_x</p:attrName>
                                        </p:attrNameLst>
                                      </p:cBhvr>
                                      <p:tavLst>
                                        <p:tav tm="0">
                                          <p:val>
                                            <p:strVal val="0-#ppt_w/2"/>
                                          </p:val>
                                        </p:tav>
                                        <p:tav tm="100000">
                                          <p:val>
                                            <p:strVal val="#ppt_x"/>
                                          </p:val>
                                        </p:tav>
                                      </p:tavLst>
                                    </p:anim>
                                    <p:anim calcmode="lin" valueType="num">
                                      <p:cBhvr additive="base">
                                        <p:cTn id="8" dur="500" fill="hold"/>
                                        <p:tgtEl>
                                          <p:spTgt spid="11059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0-#ppt_w/2"/>
                                          </p:val>
                                        </p:tav>
                                        <p:tav tm="100000">
                                          <p:val>
                                            <p:strVal val="#ppt_x"/>
                                          </p:val>
                                        </p:tav>
                                      </p:tavLst>
                                    </p:anim>
                                    <p:anim calcmode="lin" valueType="num">
                                      <p:cBhvr additive="base">
                                        <p:cTn id="13"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4" grpId="0"/>
      <p:bldP spid="8"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ext Box 2"/>
          <p:cNvSpPr txBox="1">
            <a:spLocks noChangeArrowheads="1"/>
          </p:cNvSpPr>
          <p:nvPr/>
        </p:nvSpPr>
        <p:spPr bwMode="auto">
          <a:xfrm>
            <a:off x="971600" y="620688"/>
            <a:ext cx="6984776" cy="1384995"/>
          </a:xfrm>
          <a:prstGeom prst="rect">
            <a:avLst/>
          </a:prstGeom>
          <a:solidFill>
            <a:schemeClr val="bg1"/>
          </a:solidFill>
          <a:ln w="9525">
            <a:solidFill>
              <a:srgbClr val="FF0000"/>
            </a:solidFill>
            <a:miter lim="800000"/>
          </a:ln>
          <a:effectLst>
            <a:outerShdw dist="17961" dir="2700000" algn="ctr" rotWithShape="0">
              <a:schemeClr val="tx2"/>
            </a:outerShdw>
          </a:effectLst>
        </p:spPr>
        <p:txBody>
          <a:bodyPr wrap="square">
            <a:spAutoFit/>
          </a:bodyPr>
          <a:lstStyle/>
          <a:p>
            <a:pPr>
              <a:buClr>
                <a:srgbClr val="FFFF00"/>
              </a:buClr>
              <a:defRPr/>
            </a:pPr>
            <a:r>
              <a:rPr lang="zh-CN" altLang="en-US" sz="2800" b="1" dirty="0" smtClean="0">
                <a:solidFill>
                  <a:srgbClr val="FF0000"/>
                </a:solidFill>
                <a:latin typeface="华文隶书" pitchFamily="2" charset="-122"/>
                <a:ea typeface="华文隶书" pitchFamily="2" charset="-122"/>
              </a:rPr>
              <a:t>真正的铜墙铁壁是什么，是千百万拥护革命的群众，这是真正的铜墙铁壁路，什么力量也打不破的。</a:t>
            </a:r>
            <a:r>
              <a:rPr lang="en-US" altLang="zh-CN" sz="2400" b="1" dirty="0" smtClean="0">
                <a:solidFill>
                  <a:srgbClr val="3333FF"/>
                </a:solidFill>
                <a:latin typeface="华文隶书" pitchFamily="2" charset="-122"/>
                <a:ea typeface="华文隶书" pitchFamily="2" charset="-122"/>
              </a:rPr>
              <a:t>——</a:t>
            </a:r>
            <a:r>
              <a:rPr lang="zh-CN" altLang="en-US" sz="2400" b="1" dirty="0" smtClean="0">
                <a:solidFill>
                  <a:srgbClr val="3333FF"/>
                </a:solidFill>
                <a:latin typeface="华文隶书" pitchFamily="2" charset="-122"/>
                <a:ea typeface="华文隶书" pitchFamily="2" charset="-122"/>
              </a:rPr>
              <a:t>毛泽东选集第一卷 第</a:t>
            </a:r>
            <a:r>
              <a:rPr lang="en-US" altLang="zh-CN" sz="2400" b="1" dirty="0" smtClean="0">
                <a:solidFill>
                  <a:srgbClr val="3333FF"/>
                </a:solidFill>
                <a:latin typeface="华文隶书" pitchFamily="2" charset="-122"/>
                <a:ea typeface="华文隶书" pitchFamily="2" charset="-122"/>
              </a:rPr>
              <a:t>139</a:t>
            </a:r>
            <a:r>
              <a:rPr lang="zh-CN" altLang="en-US" sz="2400" b="1" dirty="0" smtClean="0">
                <a:solidFill>
                  <a:srgbClr val="3333FF"/>
                </a:solidFill>
                <a:latin typeface="华文隶书" pitchFamily="2" charset="-122"/>
                <a:ea typeface="华文隶书" pitchFamily="2" charset="-122"/>
              </a:rPr>
              <a:t>页</a:t>
            </a:r>
            <a:endParaRPr lang="en-US" altLang="zh-CN" sz="2400" b="1" dirty="0">
              <a:solidFill>
                <a:srgbClr val="3333FF"/>
              </a:solidFill>
              <a:latin typeface="华文隶书" pitchFamily="2" charset="-122"/>
              <a:ea typeface="华文隶书" pitchFamily="2" charset="-122"/>
            </a:endParaRPr>
          </a:p>
        </p:txBody>
      </p:sp>
      <p:sp>
        <p:nvSpPr>
          <p:cNvPr id="6" name="Text Box 2"/>
          <p:cNvSpPr txBox="1">
            <a:spLocks noChangeArrowheads="1"/>
          </p:cNvSpPr>
          <p:nvPr/>
        </p:nvSpPr>
        <p:spPr bwMode="auto">
          <a:xfrm>
            <a:off x="971600" y="2276872"/>
            <a:ext cx="6984776" cy="1384995"/>
          </a:xfrm>
          <a:prstGeom prst="rect">
            <a:avLst/>
          </a:prstGeom>
          <a:solidFill>
            <a:schemeClr val="bg1"/>
          </a:solidFill>
          <a:ln w="9525">
            <a:solidFill>
              <a:srgbClr val="FF0000"/>
            </a:solidFill>
            <a:miter lim="800000"/>
          </a:ln>
          <a:effectLst>
            <a:outerShdw dist="17961" dir="2700000" algn="ctr" rotWithShape="0">
              <a:schemeClr val="tx2"/>
            </a:outerShdw>
          </a:effectLst>
        </p:spPr>
        <p:txBody>
          <a:bodyPr wrap="square">
            <a:spAutoFit/>
          </a:bodyPr>
          <a:lstStyle/>
          <a:p>
            <a:pPr>
              <a:buClr>
                <a:srgbClr val="FFFF00"/>
              </a:buClr>
              <a:defRPr/>
            </a:pPr>
            <a:r>
              <a:rPr lang="zh-CN" altLang="en-US" sz="2800" b="1" dirty="0" smtClean="0">
                <a:solidFill>
                  <a:srgbClr val="FF0000"/>
                </a:solidFill>
                <a:latin typeface="华文隶书" pitchFamily="2" charset="-122"/>
                <a:ea typeface="华文隶书" pitchFamily="2" charset="-122"/>
              </a:rPr>
              <a:t>依靠群众则一切困难能够克服，任何强敌能够战胜，离开民众则将一事无成。</a:t>
            </a:r>
            <a:endParaRPr lang="en-US" altLang="zh-CN" sz="2800" b="1" dirty="0" smtClean="0">
              <a:solidFill>
                <a:srgbClr val="FF0000"/>
              </a:solidFill>
              <a:latin typeface="华文隶书" pitchFamily="2" charset="-122"/>
              <a:ea typeface="华文隶书" pitchFamily="2" charset="-122"/>
            </a:endParaRPr>
          </a:p>
          <a:p>
            <a:pPr>
              <a:buClr>
                <a:srgbClr val="FFFF00"/>
              </a:buClr>
              <a:defRPr/>
            </a:pPr>
            <a:r>
              <a:rPr lang="en-US" altLang="zh-CN" sz="2800" b="1" dirty="0" smtClean="0">
                <a:solidFill>
                  <a:srgbClr val="FF0000"/>
                </a:solidFill>
                <a:latin typeface="华文隶书" pitchFamily="2" charset="-122"/>
                <a:ea typeface="华文隶书" pitchFamily="2" charset="-122"/>
              </a:rPr>
              <a:t>      </a:t>
            </a:r>
            <a:r>
              <a:rPr lang="en-US" altLang="zh-CN" sz="2400" b="1" dirty="0" smtClean="0">
                <a:solidFill>
                  <a:srgbClr val="3333FF"/>
                </a:solidFill>
                <a:latin typeface="华文隶书" pitchFamily="2" charset="-122"/>
                <a:ea typeface="华文隶书" pitchFamily="2" charset="-122"/>
              </a:rPr>
              <a:t>——</a:t>
            </a:r>
            <a:r>
              <a:rPr lang="zh-CN" altLang="en-US" sz="2400" b="1" dirty="0" smtClean="0">
                <a:solidFill>
                  <a:srgbClr val="3333FF"/>
                </a:solidFill>
                <a:latin typeface="华文隶书" pitchFamily="2" charset="-122"/>
                <a:ea typeface="华文隶书" pitchFamily="2" charset="-122"/>
              </a:rPr>
              <a:t>毛泽东军事文集 第二卷   第</a:t>
            </a:r>
            <a:r>
              <a:rPr lang="en-US" altLang="zh-CN" sz="2400" b="1" dirty="0" smtClean="0">
                <a:solidFill>
                  <a:srgbClr val="3333FF"/>
                </a:solidFill>
                <a:latin typeface="华文隶书" pitchFamily="2" charset="-122"/>
                <a:ea typeface="华文隶书" pitchFamily="2" charset="-122"/>
              </a:rPr>
              <a:t>381</a:t>
            </a:r>
            <a:r>
              <a:rPr lang="zh-CN" altLang="en-US" sz="2400" b="1" dirty="0" smtClean="0">
                <a:solidFill>
                  <a:srgbClr val="3333FF"/>
                </a:solidFill>
                <a:latin typeface="华文隶书" pitchFamily="2" charset="-122"/>
                <a:ea typeface="华文隶书" pitchFamily="2" charset="-122"/>
              </a:rPr>
              <a:t>页</a:t>
            </a:r>
            <a:endParaRPr lang="en-US" altLang="zh-CN" sz="2400" b="1" dirty="0">
              <a:solidFill>
                <a:srgbClr val="3333FF"/>
              </a:solidFill>
              <a:latin typeface="华文隶书" pitchFamily="2" charset="-122"/>
              <a:ea typeface="华文隶书" pitchFamily="2" charset="-122"/>
            </a:endParaRPr>
          </a:p>
        </p:txBody>
      </p:sp>
      <p:sp>
        <p:nvSpPr>
          <p:cNvPr id="7" name="Text Box 2"/>
          <p:cNvSpPr txBox="1">
            <a:spLocks noChangeArrowheads="1"/>
          </p:cNvSpPr>
          <p:nvPr/>
        </p:nvSpPr>
        <p:spPr bwMode="auto">
          <a:xfrm>
            <a:off x="971600" y="3861048"/>
            <a:ext cx="6984776" cy="954107"/>
          </a:xfrm>
          <a:prstGeom prst="rect">
            <a:avLst/>
          </a:prstGeom>
          <a:solidFill>
            <a:schemeClr val="bg1"/>
          </a:solidFill>
          <a:ln w="9525">
            <a:solidFill>
              <a:srgbClr val="FF0000"/>
            </a:solidFill>
            <a:miter lim="800000"/>
          </a:ln>
          <a:effectLst>
            <a:outerShdw dist="17961" dir="2700000" algn="ctr" rotWithShape="0">
              <a:schemeClr val="tx2"/>
            </a:outerShdw>
          </a:effectLst>
        </p:spPr>
        <p:txBody>
          <a:bodyPr wrap="square">
            <a:spAutoFit/>
          </a:bodyPr>
          <a:lstStyle/>
          <a:p>
            <a:pPr>
              <a:buClr>
                <a:srgbClr val="FFFF00"/>
              </a:buClr>
              <a:defRPr/>
            </a:pPr>
            <a:r>
              <a:rPr lang="zh-CN" altLang="en-US" sz="2800" b="1" dirty="0" smtClean="0">
                <a:solidFill>
                  <a:srgbClr val="FF0000"/>
                </a:solidFill>
                <a:latin typeface="华文隶书" pitchFamily="2" charset="-122"/>
                <a:ea typeface="华文隶书" pitchFamily="2" charset="-122"/>
              </a:rPr>
              <a:t>群众是真正的英雄</a:t>
            </a:r>
            <a:endParaRPr lang="en-US" altLang="zh-CN" sz="2800" b="1" dirty="0" smtClean="0">
              <a:solidFill>
                <a:srgbClr val="FF0000"/>
              </a:solidFill>
              <a:latin typeface="华文隶书" pitchFamily="2" charset="-122"/>
              <a:ea typeface="华文隶书" pitchFamily="2" charset="-122"/>
            </a:endParaRPr>
          </a:p>
          <a:p>
            <a:pPr>
              <a:buClr>
                <a:srgbClr val="FFFF00"/>
              </a:buClr>
              <a:defRPr/>
            </a:pPr>
            <a:r>
              <a:rPr lang="en-US" altLang="zh-CN" sz="2800" b="1" dirty="0" smtClean="0">
                <a:solidFill>
                  <a:srgbClr val="FF0000"/>
                </a:solidFill>
                <a:latin typeface="华文隶书" pitchFamily="2" charset="-122"/>
                <a:ea typeface="华文隶书" pitchFamily="2" charset="-122"/>
              </a:rPr>
              <a:t>      </a:t>
            </a:r>
            <a:r>
              <a:rPr lang="en-US" altLang="zh-CN" sz="2400" b="1" dirty="0" smtClean="0">
                <a:solidFill>
                  <a:srgbClr val="3333FF"/>
                </a:solidFill>
                <a:latin typeface="华文隶书" pitchFamily="2" charset="-122"/>
                <a:ea typeface="华文隶书" pitchFamily="2" charset="-122"/>
              </a:rPr>
              <a:t>——</a:t>
            </a:r>
            <a:r>
              <a:rPr lang="zh-CN" altLang="en-US" sz="2400" b="1" dirty="0" smtClean="0">
                <a:solidFill>
                  <a:srgbClr val="3333FF"/>
                </a:solidFill>
                <a:latin typeface="华文隶书" pitchFamily="2" charset="-122"/>
                <a:ea typeface="华文隶书" pitchFamily="2" charset="-122"/>
              </a:rPr>
              <a:t>毛泽东选集 第三卷   第</a:t>
            </a:r>
            <a:r>
              <a:rPr lang="en-US" altLang="zh-CN" sz="2400" b="1" dirty="0" smtClean="0">
                <a:solidFill>
                  <a:srgbClr val="3333FF"/>
                </a:solidFill>
                <a:latin typeface="华文隶书" pitchFamily="2" charset="-122"/>
                <a:ea typeface="华文隶书" pitchFamily="2" charset="-122"/>
              </a:rPr>
              <a:t>790</a:t>
            </a:r>
            <a:r>
              <a:rPr lang="zh-CN" altLang="en-US" sz="2400" b="1" dirty="0" smtClean="0">
                <a:solidFill>
                  <a:srgbClr val="3333FF"/>
                </a:solidFill>
                <a:latin typeface="华文隶书" pitchFamily="2" charset="-122"/>
                <a:ea typeface="华文隶书" pitchFamily="2" charset="-122"/>
              </a:rPr>
              <a:t>页</a:t>
            </a:r>
            <a:endParaRPr lang="en-US" altLang="zh-CN" sz="2400" b="1" dirty="0">
              <a:solidFill>
                <a:srgbClr val="3333FF"/>
              </a:solidFill>
              <a:latin typeface="华文隶书" pitchFamily="2" charset="-122"/>
              <a:ea typeface="华文隶书" pitchFamily="2" charset="-122"/>
            </a:endParaRP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10594"/>
                                        </p:tgtEl>
                                        <p:attrNameLst>
                                          <p:attrName>style.visibility</p:attrName>
                                        </p:attrNameLst>
                                      </p:cBhvr>
                                      <p:to>
                                        <p:strVal val="visible"/>
                                      </p:to>
                                    </p:set>
                                    <p:anim calcmode="lin" valueType="num">
                                      <p:cBhvr additive="base">
                                        <p:cTn id="7" dur="500" fill="hold"/>
                                        <p:tgtEl>
                                          <p:spTgt spid="110594"/>
                                        </p:tgtEl>
                                        <p:attrNameLst>
                                          <p:attrName>ppt_x</p:attrName>
                                        </p:attrNameLst>
                                      </p:cBhvr>
                                      <p:tavLst>
                                        <p:tav tm="0">
                                          <p:val>
                                            <p:strVal val="0-#ppt_w/2"/>
                                          </p:val>
                                        </p:tav>
                                        <p:tav tm="100000">
                                          <p:val>
                                            <p:strVal val="#ppt_x"/>
                                          </p:val>
                                        </p:tav>
                                      </p:tavLst>
                                    </p:anim>
                                    <p:anim calcmode="lin" valueType="num">
                                      <p:cBhvr additive="base">
                                        <p:cTn id="8" dur="500" fill="hold"/>
                                        <p:tgtEl>
                                          <p:spTgt spid="11059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0-#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0-#ppt_w/2"/>
                                          </p:val>
                                        </p:tav>
                                        <p:tav tm="100000">
                                          <p:val>
                                            <p:strVal val="#ppt_x"/>
                                          </p:val>
                                        </p:tav>
                                      </p:tavLst>
                                    </p:anim>
                                    <p:anim calcmode="lin" valueType="num">
                                      <p:cBhvr additive="base">
                                        <p:cTn id="1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4" grpId="0" animBg="1"/>
      <p:bldP spid="6" grpId="0" animBg="1"/>
      <p:bldP spid="7"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ext Box 2"/>
          <p:cNvSpPr txBox="1">
            <a:spLocks noChangeArrowheads="1"/>
          </p:cNvSpPr>
          <p:nvPr/>
        </p:nvSpPr>
        <p:spPr bwMode="auto">
          <a:xfrm>
            <a:off x="1142976" y="1142984"/>
            <a:ext cx="3589444" cy="830997"/>
          </a:xfrm>
          <a:prstGeom prst="rect">
            <a:avLst/>
          </a:prstGeom>
          <a:solidFill>
            <a:schemeClr val="bg2"/>
          </a:solidFill>
          <a:ln w="9525">
            <a:solidFill>
              <a:srgbClr val="FF0000"/>
            </a:solidFill>
            <a:miter lim="800000"/>
          </a:ln>
          <a:effectLst>
            <a:outerShdw dist="17961" dir="2700000" algn="ctr" rotWithShape="0">
              <a:schemeClr val="tx2"/>
            </a:outerShdw>
          </a:effectLst>
        </p:spPr>
        <p:txBody>
          <a:bodyPr wrap="none">
            <a:spAutoFit/>
          </a:bodyPr>
          <a:lstStyle/>
          <a:p>
            <a:pPr>
              <a:buClr>
                <a:srgbClr val="FFFF00"/>
              </a:buClr>
              <a:defRPr/>
            </a:pPr>
            <a:r>
              <a:rPr lang="en-US" altLang="zh-CN" sz="4800" b="1" dirty="0" smtClean="0">
                <a:solidFill>
                  <a:srgbClr val="FF0000"/>
                </a:solidFill>
                <a:latin typeface="+mj-ea"/>
                <a:ea typeface="+mj-ea"/>
              </a:rPr>
              <a:t>3</a:t>
            </a:r>
            <a:r>
              <a:rPr lang="zh-CN" altLang="en-US" sz="4800" b="1" dirty="0" smtClean="0">
                <a:solidFill>
                  <a:srgbClr val="FF0000"/>
                </a:solidFill>
                <a:latin typeface="+mj-ea"/>
                <a:ea typeface="+mj-ea"/>
              </a:rPr>
              <a:t>、独立自主</a:t>
            </a:r>
            <a:endParaRPr lang="en-US" altLang="zh-CN" sz="4800" b="1" dirty="0">
              <a:solidFill>
                <a:srgbClr val="FF0000"/>
              </a:solidFill>
              <a:latin typeface="+mj-ea"/>
              <a:ea typeface="+mj-ea"/>
            </a:endParaRPr>
          </a:p>
        </p:txBody>
      </p:sp>
      <p:sp>
        <p:nvSpPr>
          <p:cNvPr id="3" name="矩形 2"/>
          <p:cNvSpPr/>
          <p:nvPr/>
        </p:nvSpPr>
        <p:spPr>
          <a:xfrm>
            <a:off x="1071538" y="2276872"/>
            <a:ext cx="7858180" cy="4524315"/>
          </a:xfrm>
          <a:prstGeom prst="rect">
            <a:avLst/>
          </a:prstGeom>
          <a:ln>
            <a:solidFill>
              <a:srgbClr val="FF0000"/>
            </a:solidFill>
          </a:ln>
        </p:spPr>
        <p:txBody>
          <a:bodyPr wrap="square">
            <a:spAutoFit/>
          </a:bodyPr>
          <a:lstStyle/>
          <a:p>
            <a:pPr>
              <a:lnSpc>
                <a:spcPct val="150000"/>
              </a:lnSpc>
            </a:pPr>
            <a:r>
              <a:rPr lang="en-US" altLang="zh-CN" sz="2800" dirty="0" smtClean="0">
                <a:solidFill>
                  <a:srgbClr val="3333FF"/>
                </a:solidFill>
              </a:rPr>
              <a:t>        </a:t>
            </a:r>
            <a:r>
              <a:rPr lang="zh-CN" altLang="zh-CN" sz="3200" b="1" dirty="0" smtClean="0">
                <a:solidFill>
                  <a:srgbClr val="0000FF"/>
                </a:solidFill>
                <a:latin typeface="Times New Roman" panose="02020603050405020304" pitchFamily="18" charset="0"/>
                <a:ea typeface="黑体" panose="02010609060101010101" pitchFamily="49" charset="-122"/>
              </a:rPr>
              <a:t>独立自主，就是坚持独立思考，走自己的路，就是坚定不移地维护民族独立、捍卫国家主权，把立足点放在依靠自己力量的基础上，同时积极争取外援，开展国际经济文化交流，学习外国一切对我们有益的先进事物</a:t>
            </a:r>
            <a:r>
              <a:rPr lang="zh-CN" altLang="zh-CN" sz="2800" dirty="0" smtClean="0">
                <a:solidFill>
                  <a:srgbClr val="3333FF"/>
                </a:solidFill>
              </a:rPr>
              <a:t>。</a:t>
            </a:r>
            <a:endParaRPr lang="zh-CN" altLang="en-US" sz="2800" dirty="0">
              <a:solidFill>
                <a:srgbClr val="3333FF"/>
              </a:solidFill>
            </a:endParaRP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10594"/>
                                        </p:tgtEl>
                                        <p:attrNameLst>
                                          <p:attrName>style.visibility</p:attrName>
                                        </p:attrNameLst>
                                      </p:cBhvr>
                                      <p:to>
                                        <p:strVal val="visible"/>
                                      </p:to>
                                    </p:set>
                                    <p:anim calcmode="lin" valueType="num">
                                      <p:cBhvr additive="base">
                                        <p:cTn id="7" dur="500" fill="hold"/>
                                        <p:tgtEl>
                                          <p:spTgt spid="110594"/>
                                        </p:tgtEl>
                                        <p:attrNameLst>
                                          <p:attrName>ppt_x</p:attrName>
                                        </p:attrNameLst>
                                      </p:cBhvr>
                                      <p:tavLst>
                                        <p:tav tm="0">
                                          <p:val>
                                            <p:strVal val="0-#ppt_w/2"/>
                                          </p:val>
                                        </p:tav>
                                        <p:tav tm="100000">
                                          <p:val>
                                            <p:strVal val="#ppt_x"/>
                                          </p:val>
                                        </p:tav>
                                      </p:tavLst>
                                    </p:anim>
                                    <p:anim calcmode="lin" valueType="num">
                                      <p:cBhvr additive="base">
                                        <p:cTn id="8" dur="500" fill="hold"/>
                                        <p:tgtEl>
                                          <p:spTgt spid="11059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4"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ext Box 2"/>
          <p:cNvSpPr txBox="1">
            <a:spLocks noChangeArrowheads="1"/>
          </p:cNvSpPr>
          <p:nvPr/>
        </p:nvSpPr>
        <p:spPr bwMode="auto">
          <a:xfrm>
            <a:off x="1259632" y="1484784"/>
            <a:ext cx="4339650" cy="646331"/>
          </a:xfrm>
          <a:prstGeom prst="rect">
            <a:avLst/>
          </a:prstGeom>
          <a:solidFill>
            <a:schemeClr val="accent6">
              <a:lumMod val="20000"/>
              <a:lumOff val="80000"/>
            </a:schemeClr>
          </a:solidFill>
          <a:ln w="9525">
            <a:noFill/>
            <a:miter lim="800000"/>
          </a:ln>
          <a:effectLst>
            <a:outerShdw dist="17961" dir="2700000" algn="ctr" rotWithShape="0">
              <a:schemeClr val="tx2"/>
            </a:outerShdw>
          </a:effectLst>
        </p:spPr>
        <p:txBody>
          <a:bodyPr wrap="none">
            <a:spAutoFit/>
          </a:bodyPr>
          <a:lstStyle/>
          <a:p>
            <a:pPr>
              <a:buClr>
                <a:srgbClr val="FFFF00"/>
              </a:buClr>
              <a:defRPr/>
            </a:pPr>
            <a:r>
              <a:rPr lang="zh-CN" altLang="en-US" sz="3600" dirty="0" smtClean="0">
                <a:solidFill>
                  <a:srgbClr val="0000FF"/>
                </a:solidFill>
                <a:latin typeface="Times New Roman" panose="02020603050405020304" pitchFamily="18" charset="0"/>
                <a:ea typeface="黑体" panose="02010609060101010101" pitchFamily="49" charset="-122"/>
              </a:rPr>
              <a:t>坚持独立自主要求：</a:t>
            </a:r>
            <a:endParaRPr lang="en-US" altLang="zh-CN" sz="3600" dirty="0">
              <a:solidFill>
                <a:srgbClr val="0000FF"/>
              </a:solidFill>
              <a:latin typeface="Times New Roman" panose="02020603050405020304" pitchFamily="18" charset="0"/>
              <a:ea typeface="黑体" panose="02010609060101010101" pitchFamily="49" charset="-122"/>
            </a:endParaRPr>
          </a:p>
        </p:txBody>
      </p:sp>
      <p:sp>
        <p:nvSpPr>
          <p:cNvPr id="3" name="矩形 2"/>
          <p:cNvSpPr/>
          <p:nvPr/>
        </p:nvSpPr>
        <p:spPr>
          <a:xfrm>
            <a:off x="1475656" y="2348880"/>
            <a:ext cx="5904656" cy="954107"/>
          </a:xfrm>
          <a:prstGeom prst="rect">
            <a:avLst/>
          </a:prstGeom>
          <a:ln>
            <a:solidFill>
              <a:srgbClr val="FF0000"/>
            </a:solidFill>
          </a:ln>
        </p:spPr>
        <p:txBody>
          <a:bodyPr wrap="square">
            <a:spAutoFit/>
          </a:bodyPr>
          <a:lstStyle/>
          <a:p>
            <a:r>
              <a:rPr lang="en-US" altLang="zh-CN" sz="2800" b="1" dirty="0" smtClean="0">
                <a:solidFill>
                  <a:srgbClr val="0000FF"/>
                </a:solidFill>
                <a:latin typeface="黑体"/>
              </a:rPr>
              <a:t>ⅰ </a:t>
            </a:r>
            <a:r>
              <a:rPr lang="zh-CN" altLang="zh-CN" sz="2800" b="1" dirty="0" smtClean="0">
                <a:solidFill>
                  <a:srgbClr val="3333FF"/>
                </a:solidFill>
              </a:rPr>
              <a:t>坚持独立自主，就要坚持中国的事情必须由中国人民自己处理。</a:t>
            </a:r>
            <a:endParaRPr lang="zh-CN" altLang="en-US" sz="2800" b="1" dirty="0">
              <a:solidFill>
                <a:srgbClr val="3333FF"/>
              </a:solidFill>
            </a:endParaRPr>
          </a:p>
        </p:txBody>
      </p:sp>
      <p:sp>
        <p:nvSpPr>
          <p:cNvPr id="4" name="矩形 3"/>
          <p:cNvSpPr/>
          <p:nvPr/>
        </p:nvSpPr>
        <p:spPr>
          <a:xfrm>
            <a:off x="1475656" y="3645024"/>
            <a:ext cx="5976664" cy="1384995"/>
          </a:xfrm>
          <a:prstGeom prst="rect">
            <a:avLst/>
          </a:prstGeom>
          <a:ln>
            <a:solidFill>
              <a:srgbClr val="FF0000"/>
            </a:solidFill>
          </a:ln>
        </p:spPr>
        <p:txBody>
          <a:bodyPr wrap="square">
            <a:spAutoFit/>
          </a:bodyPr>
          <a:lstStyle/>
          <a:p>
            <a:r>
              <a:rPr lang="en-US" altLang="zh-CN" sz="2800" b="1" dirty="0" smtClean="0">
                <a:solidFill>
                  <a:srgbClr val="0000FF"/>
                </a:solidFill>
                <a:latin typeface="黑体"/>
              </a:rPr>
              <a:t>ⅱ</a:t>
            </a:r>
            <a:r>
              <a:rPr lang="zh-CN" altLang="zh-CN" sz="2800" b="1" dirty="0" smtClean="0">
                <a:solidFill>
                  <a:srgbClr val="3333FF"/>
                </a:solidFill>
              </a:rPr>
              <a:t>坚持独立自主，就要坚持独立自主的和平外交政策，坚定不移走和平发展道路。</a:t>
            </a:r>
            <a:endParaRPr lang="zh-CN" altLang="en-US" sz="2800" b="1" dirty="0" smtClean="0">
              <a:solidFill>
                <a:srgbClr val="3333FF"/>
              </a:solidFill>
            </a:endParaRP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10594"/>
                                        </p:tgtEl>
                                        <p:attrNameLst>
                                          <p:attrName>style.visibility</p:attrName>
                                        </p:attrNameLst>
                                      </p:cBhvr>
                                      <p:to>
                                        <p:strVal val="visible"/>
                                      </p:to>
                                    </p:set>
                                    <p:anim calcmode="lin" valueType="num">
                                      <p:cBhvr additive="base">
                                        <p:cTn id="7" dur="500" fill="hold"/>
                                        <p:tgtEl>
                                          <p:spTgt spid="110594"/>
                                        </p:tgtEl>
                                        <p:attrNameLst>
                                          <p:attrName>ppt_x</p:attrName>
                                        </p:attrNameLst>
                                      </p:cBhvr>
                                      <p:tavLst>
                                        <p:tav tm="0">
                                          <p:val>
                                            <p:strVal val="0-#ppt_w/2"/>
                                          </p:val>
                                        </p:tav>
                                        <p:tav tm="100000">
                                          <p:val>
                                            <p:strVal val="#ppt_x"/>
                                          </p:val>
                                        </p:tav>
                                      </p:tavLst>
                                    </p:anim>
                                    <p:anim calcmode="lin" valueType="num">
                                      <p:cBhvr additive="base">
                                        <p:cTn id="8" dur="500" fill="hold"/>
                                        <p:tgtEl>
                                          <p:spTgt spid="11059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4"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https://img2.baidu.com/it/u=1911267263,2691613371&amp;fm=26&amp;fmt=auto"/>
          <p:cNvPicPr>
            <a:picLocks noChangeAspect="1" noChangeArrowheads="1"/>
          </p:cNvPicPr>
          <p:nvPr/>
        </p:nvPicPr>
        <p:blipFill>
          <a:blip r:embed="rId2" cstate="print"/>
          <a:srcRect/>
          <a:stretch>
            <a:fillRect/>
          </a:stretch>
        </p:blipFill>
        <p:spPr bwMode="auto">
          <a:xfrm>
            <a:off x="5429256" y="-142900"/>
            <a:ext cx="2476500" cy="2486026"/>
          </a:xfrm>
          <a:prstGeom prst="rect">
            <a:avLst/>
          </a:prstGeom>
          <a:noFill/>
        </p:spPr>
      </p:pic>
      <p:sp>
        <p:nvSpPr>
          <p:cNvPr id="4" name="Text Box 2"/>
          <p:cNvSpPr txBox="1">
            <a:spLocks noChangeArrowheads="1"/>
          </p:cNvSpPr>
          <p:nvPr/>
        </p:nvSpPr>
        <p:spPr bwMode="auto">
          <a:xfrm>
            <a:off x="1214414" y="714356"/>
            <a:ext cx="4339650" cy="646331"/>
          </a:xfrm>
          <a:prstGeom prst="rect">
            <a:avLst/>
          </a:prstGeom>
          <a:solidFill>
            <a:schemeClr val="accent6">
              <a:lumMod val="20000"/>
              <a:lumOff val="80000"/>
            </a:schemeClr>
          </a:solidFill>
          <a:ln w="9525">
            <a:noFill/>
            <a:miter lim="800000"/>
          </a:ln>
          <a:effectLst>
            <a:outerShdw dist="17961" dir="2700000" algn="ctr" rotWithShape="0">
              <a:schemeClr val="tx2"/>
            </a:outerShdw>
          </a:effectLst>
        </p:spPr>
        <p:txBody>
          <a:bodyPr wrap="none">
            <a:spAutoFit/>
          </a:bodyPr>
          <a:lstStyle/>
          <a:p>
            <a:pPr>
              <a:buClr>
                <a:srgbClr val="FFFF00"/>
              </a:buClr>
              <a:defRPr/>
            </a:pPr>
            <a:r>
              <a:rPr lang="zh-CN" altLang="en-US" sz="3600" dirty="0" smtClean="0">
                <a:solidFill>
                  <a:srgbClr val="0000FF"/>
                </a:solidFill>
                <a:latin typeface="Times New Roman" panose="02020603050405020304" pitchFamily="18" charset="0"/>
                <a:ea typeface="黑体" panose="02010609060101010101" pitchFamily="49" charset="-122"/>
              </a:rPr>
              <a:t>思考？独立自主案例</a:t>
            </a:r>
            <a:endParaRPr lang="en-US" altLang="zh-CN" sz="3600" dirty="0">
              <a:solidFill>
                <a:srgbClr val="0000FF"/>
              </a:solidFill>
              <a:latin typeface="Times New Roman" panose="02020603050405020304" pitchFamily="18" charset="0"/>
              <a:ea typeface="黑体" panose="02010609060101010101" pitchFamily="49" charset="-122"/>
            </a:endParaRPr>
          </a:p>
        </p:txBody>
      </p:sp>
      <p:pic>
        <p:nvPicPr>
          <p:cNvPr id="5128" name="Picture 8" descr="https://gimg2.baidu.com/image_search/src=http%3A%2F%2F81.cn%2Flj%2Fattachement%2Fjpg%2Fsite351%2F20160803%2F15650ef1f7571894010164.jpg&amp;refer=http%3A%2F%2F81.cn&amp;app=2002&amp;size=f9999,10000&amp;q=a80&amp;n=0&amp;g=0n&amp;fmt=jpeg?sec=1634393026&amp;t=b5c2cff5ad8ea1bcd0d9e0bade76609d"/>
          <p:cNvPicPr>
            <a:picLocks noChangeAspect="1" noChangeArrowheads="1"/>
          </p:cNvPicPr>
          <p:nvPr/>
        </p:nvPicPr>
        <p:blipFill>
          <a:blip r:embed="rId3" cstate="print"/>
          <a:srcRect/>
          <a:stretch>
            <a:fillRect/>
          </a:stretch>
        </p:blipFill>
        <p:spPr bwMode="auto">
          <a:xfrm>
            <a:off x="500034" y="2071678"/>
            <a:ext cx="7239000" cy="4152901"/>
          </a:xfrm>
          <a:prstGeom prst="rect">
            <a:avLst/>
          </a:prstGeom>
          <a:noFill/>
        </p:spPr>
      </p:pic>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ChangeArrowheads="1"/>
          </p:cNvSpPr>
          <p:nvPr/>
        </p:nvSpPr>
        <p:spPr bwMode="auto">
          <a:xfrm>
            <a:off x="714348" y="857232"/>
            <a:ext cx="8072494" cy="923330"/>
          </a:xfrm>
          <a:prstGeom prst="rect">
            <a:avLst/>
          </a:prstGeom>
          <a:solidFill>
            <a:schemeClr val="bg1"/>
          </a:solidFill>
          <a:ln w="9525">
            <a:solidFill>
              <a:srgbClr val="FF0000"/>
            </a:solidFill>
            <a:miter lim="800000"/>
            <a:headEnd/>
            <a:tailEnd/>
          </a:ln>
        </p:spPr>
        <p:txBody>
          <a:bodyPr wrap="square">
            <a:spAutoFit/>
          </a:bodyPr>
          <a:lstStyle/>
          <a:p>
            <a:pPr>
              <a:lnSpc>
                <a:spcPct val="150000"/>
              </a:lnSpc>
            </a:pPr>
            <a:r>
              <a:rPr lang="zh-CN" altLang="en-US" sz="3600" dirty="0" smtClean="0">
                <a:solidFill>
                  <a:srgbClr val="FF0000"/>
                </a:solidFill>
                <a:latin typeface="华文琥珀" pitchFamily="2" charset="-122"/>
                <a:ea typeface="华文琥珀" pitchFamily="2" charset="-122"/>
              </a:rPr>
              <a:t>专题三    毛泽东思想</a:t>
            </a:r>
            <a:r>
              <a:rPr lang="zh-CN" altLang="en-US" sz="3600" dirty="0">
                <a:solidFill>
                  <a:srgbClr val="FF0000"/>
                </a:solidFill>
                <a:latin typeface="华文琥珀" pitchFamily="2" charset="-122"/>
                <a:ea typeface="华文琥珀" pitchFamily="2" charset="-122"/>
              </a:rPr>
              <a:t>的历史</a:t>
            </a:r>
            <a:r>
              <a:rPr lang="zh-CN" altLang="en-US" sz="3600" dirty="0" smtClean="0">
                <a:solidFill>
                  <a:srgbClr val="FF0000"/>
                </a:solidFill>
                <a:latin typeface="华文琥珀" pitchFamily="2" charset="-122"/>
                <a:ea typeface="华文琥珀" pitchFamily="2" charset="-122"/>
              </a:rPr>
              <a:t>地位</a:t>
            </a:r>
            <a:r>
              <a:rPr lang="zh-CN" altLang="en-US" sz="3600" dirty="0" smtClean="0">
                <a:solidFill>
                  <a:schemeClr val="folHlink"/>
                </a:solidFill>
                <a:latin typeface="华文琥珀" pitchFamily="2" charset="-122"/>
                <a:ea typeface="华文琥珀" pitchFamily="2" charset="-122"/>
              </a:rPr>
              <a:t>   </a:t>
            </a:r>
            <a:endParaRPr lang="zh-CN" altLang="en-US" sz="3600" dirty="0">
              <a:solidFill>
                <a:srgbClr val="0000FF"/>
              </a:solidFill>
              <a:latin typeface="华文琥珀" pitchFamily="2" charset="-122"/>
              <a:ea typeface="华文琥珀" pitchFamily="2" charset="-122"/>
            </a:endParaRPr>
          </a:p>
        </p:txBody>
      </p:sp>
      <p:sp>
        <p:nvSpPr>
          <p:cNvPr id="3" name="矩形 2"/>
          <p:cNvSpPr/>
          <p:nvPr/>
        </p:nvSpPr>
        <p:spPr>
          <a:xfrm>
            <a:off x="1187624" y="2996952"/>
            <a:ext cx="7056784" cy="1754326"/>
          </a:xfrm>
          <a:prstGeom prst="rect">
            <a:avLst/>
          </a:prstGeom>
          <a:solidFill>
            <a:schemeClr val="bg1"/>
          </a:solidFill>
          <a:ln>
            <a:solidFill>
              <a:srgbClr val="FF0000"/>
            </a:solidFill>
          </a:ln>
        </p:spPr>
        <p:txBody>
          <a:bodyPr wrap="square">
            <a:spAutoFit/>
          </a:bodyPr>
          <a:lstStyle/>
          <a:p>
            <a:pPr>
              <a:lnSpc>
                <a:spcPct val="150000"/>
              </a:lnSpc>
            </a:pPr>
            <a:r>
              <a:rPr lang="zh-CN" altLang="en-US" sz="3600" b="1" dirty="0" smtClean="0">
                <a:solidFill>
                  <a:srgbClr val="FF0000"/>
                </a:solidFill>
                <a:latin typeface="黑体" pitchFamily="49" charset="-122"/>
                <a:ea typeface="黑体" pitchFamily="49" charset="-122"/>
              </a:rPr>
              <a:t>一、马克思主义中国化的第</a:t>
            </a:r>
            <a:endParaRPr lang="en-US" altLang="zh-CN" sz="3600" b="1" dirty="0" smtClean="0">
              <a:solidFill>
                <a:srgbClr val="FF0000"/>
              </a:solidFill>
              <a:latin typeface="黑体" pitchFamily="49" charset="-122"/>
              <a:ea typeface="黑体" pitchFamily="49" charset="-122"/>
            </a:endParaRPr>
          </a:p>
          <a:p>
            <a:pPr>
              <a:lnSpc>
                <a:spcPct val="150000"/>
              </a:lnSpc>
            </a:pPr>
            <a:r>
              <a:rPr lang="zh-CN" altLang="en-US" sz="3600" b="1" dirty="0" smtClean="0">
                <a:solidFill>
                  <a:srgbClr val="FF0000"/>
                </a:solidFill>
                <a:latin typeface="黑体" pitchFamily="49" charset="-122"/>
                <a:ea typeface="黑体" pitchFamily="49" charset="-122"/>
              </a:rPr>
              <a:t>一个重大理论成果</a:t>
            </a:r>
            <a:endParaRPr lang="zh-CN" altLang="en-US" sz="3600" b="1" dirty="0">
              <a:solidFill>
                <a:srgbClr val="FF0000"/>
              </a:solidFill>
            </a:endParaRPr>
          </a:p>
        </p:txBody>
      </p:sp>
    </p:spTree>
  </p:cSld>
  <p:clrMapOvr>
    <a:masterClrMapping/>
  </p:clrMapOvr>
  <p:transition spd="med">
    <p:wipe dir="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Text Box 2"/>
          <p:cNvSpPr txBox="1">
            <a:spLocks noChangeArrowheads="1"/>
          </p:cNvSpPr>
          <p:nvPr/>
        </p:nvSpPr>
        <p:spPr bwMode="auto">
          <a:xfrm>
            <a:off x="833669" y="2708920"/>
            <a:ext cx="7704138" cy="2936188"/>
          </a:xfrm>
          <a:prstGeom prst="rect">
            <a:avLst/>
          </a:prstGeom>
          <a:noFill/>
          <a:ln w="9525">
            <a:solidFill>
              <a:srgbClr val="FF0000"/>
            </a:solidFill>
            <a:miter lim="800000"/>
            <a:headEnd/>
            <a:tailEnd/>
          </a:ln>
        </p:spPr>
        <p:txBody>
          <a:bodyPr wrap="square">
            <a:spAutoFit/>
          </a:bodyPr>
          <a:lstStyle/>
          <a:p>
            <a:pPr>
              <a:lnSpc>
                <a:spcPct val="110000"/>
              </a:lnSpc>
            </a:pPr>
            <a:r>
              <a:rPr lang="zh-CN" altLang="en-US" sz="2400" b="1" dirty="0" smtClean="0">
                <a:solidFill>
                  <a:srgbClr val="0000FF"/>
                </a:solidFill>
                <a:latin typeface="+mn-ea"/>
              </a:rPr>
              <a:t>在</a:t>
            </a:r>
            <a:r>
              <a:rPr lang="zh-CN" altLang="en-US" sz="2400" b="1" dirty="0">
                <a:solidFill>
                  <a:srgbClr val="0000FF"/>
                </a:solidFill>
                <a:latin typeface="+mn-ea"/>
              </a:rPr>
              <a:t>党的历史上，毛泽东在认真总结历史经验的基础上，第一次明确提出了</a:t>
            </a:r>
            <a:r>
              <a:rPr lang="zh-CN" altLang="en-US" sz="2400" b="1" dirty="0" smtClean="0">
                <a:solidFill>
                  <a:srgbClr val="0000FF"/>
                </a:solidFill>
                <a:latin typeface="+mn-ea"/>
              </a:rPr>
              <a:t>实现“马克思主义中国化”的命题和任务</a:t>
            </a:r>
            <a:r>
              <a:rPr lang="zh-CN" altLang="en-US" sz="2400" b="1" dirty="0">
                <a:solidFill>
                  <a:srgbClr val="0000FF"/>
                </a:solidFill>
                <a:latin typeface="+mn-ea"/>
              </a:rPr>
              <a:t>，深刻论证了马克思主义中国化的必要性和重要性，系统阐述了马克思主义中国化的科学内涵和实现途径。</a:t>
            </a:r>
          </a:p>
          <a:p>
            <a:pPr>
              <a:lnSpc>
                <a:spcPct val="110000"/>
              </a:lnSpc>
            </a:pPr>
            <a:r>
              <a:rPr lang="zh-CN" altLang="en-US" sz="2400" b="1" dirty="0">
                <a:solidFill>
                  <a:srgbClr val="0000FF"/>
                </a:solidFill>
                <a:latin typeface="+mn-ea"/>
              </a:rPr>
              <a:t>   毛泽东还为实现马克思主义中国化的任务进行了艰苦的探索，使马克思列宁主义在中国深深地扎根、开花、结果。</a:t>
            </a:r>
          </a:p>
        </p:txBody>
      </p:sp>
      <p:sp>
        <p:nvSpPr>
          <p:cNvPr id="3" name="矩形 2"/>
          <p:cNvSpPr/>
          <p:nvPr/>
        </p:nvSpPr>
        <p:spPr>
          <a:xfrm>
            <a:off x="755576" y="908720"/>
            <a:ext cx="7600157" cy="584775"/>
          </a:xfrm>
          <a:prstGeom prst="rect">
            <a:avLst/>
          </a:prstGeom>
          <a:solidFill>
            <a:schemeClr val="bg2"/>
          </a:solidFill>
          <a:ln>
            <a:solidFill>
              <a:srgbClr val="FF0000"/>
            </a:solidFill>
          </a:ln>
        </p:spPr>
        <p:txBody>
          <a:bodyPr wrap="none">
            <a:spAutoFit/>
          </a:bodyPr>
          <a:lstStyle/>
          <a:p>
            <a:r>
              <a:rPr lang="zh-CN" altLang="en-US" sz="3200" b="1" dirty="0" smtClean="0">
                <a:solidFill>
                  <a:srgbClr val="00B050"/>
                </a:solidFill>
                <a:latin typeface="+mn-ea"/>
              </a:rPr>
              <a:t>毛泽东是马克思主义中国化的伟大开拓者</a:t>
            </a:r>
            <a:endParaRPr lang="zh-CN" altLang="en-US" sz="3200" dirty="0">
              <a:solidFill>
                <a:srgbClr val="00B050"/>
              </a:solidFill>
            </a:endParaRPr>
          </a:p>
        </p:txBody>
      </p:sp>
      <p:sp>
        <p:nvSpPr>
          <p:cNvPr id="2" name="矩形 1"/>
          <p:cNvSpPr/>
          <p:nvPr/>
        </p:nvSpPr>
        <p:spPr>
          <a:xfrm>
            <a:off x="1259632" y="1916832"/>
            <a:ext cx="4671472" cy="461665"/>
          </a:xfrm>
          <a:prstGeom prst="rect">
            <a:avLst/>
          </a:prstGeom>
          <a:solidFill>
            <a:schemeClr val="accent6">
              <a:lumMod val="20000"/>
              <a:lumOff val="80000"/>
            </a:schemeClr>
          </a:solidFill>
        </p:spPr>
        <p:txBody>
          <a:bodyPr wrap="none">
            <a:spAutoFit/>
          </a:bodyPr>
          <a:lstStyle/>
          <a:p>
            <a:r>
              <a:rPr lang="zh-CN" altLang="en-US" sz="2400" b="1" dirty="0">
                <a:solidFill>
                  <a:srgbClr val="FF00FF"/>
                </a:solidFill>
                <a:latin typeface="+mj-ea"/>
                <a:ea typeface="+mj-ea"/>
              </a:rPr>
              <a:t> </a:t>
            </a:r>
            <a:r>
              <a:rPr lang="zh-CN" altLang="en-US" sz="2400" b="1" dirty="0">
                <a:solidFill>
                  <a:srgbClr val="FF0000"/>
                </a:solidFill>
                <a:latin typeface="+mj-ea"/>
                <a:ea typeface="+mj-ea"/>
              </a:rPr>
              <a:t>第一，提出了任务，开辟了道路</a:t>
            </a:r>
            <a:endParaRPr lang="zh-CN" altLang="en-US" b="1" dirty="0">
              <a:latin typeface="+mj-ea"/>
              <a:ea typeface="+mj-ea"/>
            </a:endParaRPr>
          </a:p>
        </p:txBody>
      </p:sp>
    </p:spTree>
  </p:cSld>
  <p:clrMapOvr>
    <a:masterClrMapping/>
  </p:clrMapOvr>
  <p:transition spd="med">
    <p:wipe dir="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57224" y="1857364"/>
            <a:ext cx="6930008" cy="1815882"/>
          </a:xfrm>
          <a:prstGeom prst="rect">
            <a:avLst/>
          </a:prstGeom>
          <a:ln>
            <a:solidFill>
              <a:schemeClr val="accent1"/>
            </a:solidFill>
          </a:ln>
        </p:spPr>
        <p:txBody>
          <a:bodyPr wrap="square">
            <a:spAutoFit/>
          </a:bodyPr>
          <a:lstStyle/>
          <a:p>
            <a:r>
              <a:rPr lang="zh-CN" altLang="en-US" sz="2800" b="1" dirty="0">
                <a:solidFill>
                  <a:srgbClr val="FF0000"/>
                </a:solidFill>
                <a:latin typeface="+mj-ea"/>
                <a:ea typeface="+mj-ea"/>
              </a:rPr>
              <a:t>第二，形成了马克思主义中国化的第一个理论</a:t>
            </a:r>
            <a:r>
              <a:rPr lang="zh-CN" altLang="en-US" sz="2800" b="1" dirty="0" smtClean="0">
                <a:solidFill>
                  <a:srgbClr val="FF0000"/>
                </a:solidFill>
                <a:latin typeface="+mj-ea"/>
                <a:ea typeface="+mj-ea"/>
              </a:rPr>
              <a:t>成果，</a:t>
            </a:r>
            <a:r>
              <a:rPr lang="zh-CN" altLang="en-US" sz="2800" b="1" dirty="0">
                <a:solidFill>
                  <a:srgbClr val="FF0000"/>
                </a:solidFill>
                <a:latin typeface="+mj-ea"/>
                <a:ea typeface="+mj-ea"/>
              </a:rPr>
              <a:t>为马克思主义理论宝库增添了新的内容，为开创中国特色社会主义理论体系做了理论准备。 </a:t>
            </a:r>
          </a:p>
        </p:txBody>
      </p:sp>
    </p:spTree>
  </p:cSld>
  <p:clrMapOvr>
    <a:masterClrMapping/>
  </p:clrMapOvr>
  <p:transition spd="med">
    <p:wipe dir="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285852" y="500042"/>
            <a:ext cx="6930008" cy="1815882"/>
          </a:xfrm>
          <a:prstGeom prst="rect">
            <a:avLst/>
          </a:prstGeom>
          <a:ln>
            <a:solidFill>
              <a:schemeClr val="accent1"/>
            </a:solidFill>
          </a:ln>
        </p:spPr>
        <p:txBody>
          <a:bodyPr wrap="square">
            <a:spAutoFit/>
          </a:bodyPr>
          <a:lstStyle/>
          <a:p>
            <a:r>
              <a:rPr lang="zh-CN" altLang="en-US" sz="2800" b="1" dirty="0">
                <a:solidFill>
                  <a:srgbClr val="FF0000"/>
                </a:solidFill>
                <a:latin typeface="+mj-ea"/>
                <a:ea typeface="+mj-ea"/>
              </a:rPr>
              <a:t>第二，形成了马克思主义中国化的第一个理论</a:t>
            </a:r>
            <a:r>
              <a:rPr lang="zh-CN" altLang="en-US" sz="2800" b="1" dirty="0" smtClean="0">
                <a:solidFill>
                  <a:srgbClr val="FF0000"/>
                </a:solidFill>
                <a:latin typeface="+mj-ea"/>
                <a:ea typeface="+mj-ea"/>
              </a:rPr>
              <a:t>成果，</a:t>
            </a:r>
            <a:r>
              <a:rPr lang="zh-CN" altLang="en-US" sz="2800" b="1" dirty="0">
                <a:solidFill>
                  <a:srgbClr val="FF0000"/>
                </a:solidFill>
                <a:latin typeface="+mj-ea"/>
                <a:ea typeface="+mj-ea"/>
              </a:rPr>
              <a:t>为马克思主义理论宝库增添了新的内容，为开创中国特色社会主义理论体系做了理论准备。 </a:t>
            </a:r>
          </a:p>
        </p:txBody>
      </p:sp>
      <p:pic>
        <p:nvPicPr>
          <p:cNvPr id="3" name="改革开放以来我们党对毛泽东同志的几个重要评价（纪念毛泽东同志诞辰120周年）--时政--人民网.mp4">
            <a:hlinkClick r:id="" action="ppaction://media"/>
          </p:cNvPr>
          <p:cNvPicPr>
            <a:picLocks noRot="1" noChangeAspect="1"/>
          </p:cNvPicPr>
          <p:nvPr>
            <a:videoFile r:link="rId1"/>
          </p:nvPr>
        </p:nvPicPr>
        <p:blipFill>
          <a:blip r:embed="rId3" cstate="print"/>
          <a:stretch>
            <a:fillRect/>
          </a:stretch>
        </p:blipFill>
        <p:spPr>
          <a:xfrm>
            <a:off x="428596" y="714356"/>
            <a:ext cx="8215370" cy="5500726"/>
          </a:xfrm>
          <a:prstGeom prst="rect">
            <a:avLst/>
          </a:prstGeom>
        </p:spPr>
      </p:pic>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3"/>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3"/>
                                        </p:tgtEl>
                                      </p:cBhvr>
                                    </p:cmd>
                                  </p:childTnLst>
                                </p:cTn>
                              </p:par>
                            </p:childTnLst>
                          </p:cTn>
                        </p:par>
                      </p:childTnLst>
                    </p:cTn>
                  </p:par>
                </p:childTnLst>
              </p:cTn>
              <p:nextCondLst>
                <p:cond evt="onClick" delay="0">
                  <p:tgtEl>
                    <p:spTgt spid="3"/>
                  </p:tgtEl>
                </p:cond>
              </p:nextCondLst>
            </p:seq>
            <p:video>
              <p:cMediaNode>
                <p:cTn id="12" fill="hold" display="0">
                  <p:stCondLst>
                    <p:cond delay="indefinite"/>
                  </p:stCondLst>
                  <p:endCondLst>
                    <p:cond evt="onNext" delay="0">
                      <p:tgtEl>
                        <p:sldTgt/>
                      </p:tgtEl>
                    </p:cond>
                    <p:cond evt="onPrev" delay="0">
                      <p:tgtEl>
                        <p:sldTgt/>
                      </p:tgtEl>
                    </p:cond>
                  </p:endCondLst>
                </p:cTn>
                <p:tgtEl>
                  <p:spTgt spid="3"/>
                </p:tgtEl>
              </p:cMediaNode>
            </p:video>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Text Box 2"/>
          <p:cNvSpPr txBox="1">
            <a:spLocks noChangeArrowheads="1"/>
          </p:cNvSpPr>
          <p:nvPr/>
        </p:nvSpPr>
        <p:spPr bwMode="auto">
          <a:xfrm>
            <a:off x="1043608" y="620688"/>
            <a:ext cx="7386638" cy="1050096"/>
          </a:xfrm>
          <a:prstGeom prst="rect">
            <a:avLst/>
          </a:prstGeom>
          <a:solidFill>
            <a:schemeClr val="bg1"/>
          </a:solidFill>
          <a:ln w="9525">
            <a:solidFill>
              <a:srgbClr val="FF0000"/>
            </a:solidFill>
            <a:miter lim="800000"/>
            <a:headEnd/>
            <a:tailEnd/>
          </a:ln>
        </p:spPr>
        <p:txBody>
          <a:bodyPr>
            <a:spAutoFit/>
          </a:bodyPr>
          <a:lstStyle/>
          <a:p>
            <a:pPr>
              <a:lnSpc>
                <a:spcPct val="110000"/>
              </a:lnSpc>
            </a:pPr>
            <a:r>
              <a:rPr lang="zh-CN" altLang="en-US" sz="3200" b="1" dirty="0">
                <a:solidFill>
                  <a:srgbClr val="FF0000"/>
                </a:solidFill>
                <a:latin typeface="楷体_GB2312" pitchFamily="49" charset="-122"/>
                <a:ea typeface="楷体_GB2312" pitchFamily="49" charset="-122"/>
              </a:rPr>
              <a:t>  </a:t>
            </a:r>
            <a:r>
              <a:rPr lang="zh-CN" altLang="en-US" sz="2800" b="1" dirty="0">
                <a:solidFill>
                  <a:srgbClr val="FF0000"/>
                </a:solidFill>
                <a:latin typeface="+mj-ea"/>
                <a:ea typeface="+mj-ea"/>
              </a:rPr>
              <a:t>第三，奠定了马克思主义中国化的基本原则和基本方法。    </a:t>
            </a:r>
          </a:p>
        </p:txBody>
      </p:sp>
      <p:sp>
        <p:nvSpPr>
          <p:cNvPr id="3" name="矩形 2"/>
          <p:cNvSpPr/>
          <p:nvPr/>
        </p:nvSpPr>
        <p:spPr>
          <a:xfrm>
            <a:off x="1547664" y="2060848"/>
            <a:ext cx="6696744" cy="2862322"/>
          </a:xfrm>
          <a:prstGeom prst="rect">
            <a:avLst/>
          </a:prstGeom>
          <a:solidFill>
            <a:schemeClr val="bg1"/>
          </a:solidFill>
          <a:ln>
            <a:solidFill>
              <a:schemeClr val="accent1"/>
            </a:solidFill>
          </a:ln>
        </p:spPr>
        <p:txBody>
          <a:bodyPr wrap="square">
            <a:spAutoFit/>
          </a:bodyPr>
          <a:lstStyle/>
          <a:p>
            <a:pPr>
              <a:lnSpc>
                <a:spcPct val="150000"/>
              </a:lnSpc>
            </a:pPr>
            <a:r>
              <a:rPr lang="zh-CN" altLang="en-US" sz="2400" b="1" dirty="0" smtClean="0">
                <a:solidFill>
                  <a:srgbClr val="0000FF"/>
                </a:solidFill>
                <a:latin typeface="黑体" pitchFamily="49" charset="-122"/>
                <a:ea typeface="黑体" pitchFamily="49" charset="-122"/>
              </a:rPr>
              <a:t>   中国革命和建设必须坚持马克思主义的指导，同时必须把马克思主义基本理论与中国实际相结合，实事求是，用发展着的马克思主义指导新的实践。并不断以新的理论丰富和发展马克思主义理论宝库。</a:t>
            </a:r>
            <a:endParaRPr lang="zh-CN" altLang="en-US" sz="2400" b="1" dirty="0">
              <a:solidFill>
                <a:srgbClr val="0000FF"/>
              </a:solidFill>
              <a:latin typeface="黑体" pitchFamily="49" charset="-122"/>
              <a:ea typeface="黑体" pitchFamily="49" charset="-122"/>
            </a:endParaRPr>
          </a:p>
        </p:txBody>
      </p:sp>
    </p:spTree>
  </p:cSld>
  <p:clrMapOvr>
    <a:masterClrMapping/>
  </p:clrMapOvr>
  <p:transition spd="med">
    <p:wipe dir="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ChangeArrowheads="1"/>
          </p:cNvSpPr>
          <p:nvPr/>
        </p:nvSpPr>
        <p:spPr bwMode="auto">
          <a:xfrm>
            <a:off x="683568" y="1988840"/>
            <a:ext cx="8102600" cy="3970318"/>
          </a:xfrm>
          <a:prstGeom prst="rect">
            <a:avLst/>
          </a:prstGeom>
          <a:solidFill>
            <a:schemeClr val="bg1"/>
          </a:solidFill>
          <a:ln w="9525">
            <a:solidFill>
              <a:srgbClr val="FF0000"/>
            </a:solidFill>
            <a:miter lim="800000"/>
            <a:headEnd/>
            <a:tailEnd/>
          </a:ln>
        </p:spPr>
        <p:txBody>
          <a:bodyPr>
            <a:spAutoFit/>
          </a:bodyPr>
          <a:lstStyle/>
          <a:p>
            <a:pPr>
              <a:lnSpc>
                <a:spcPct val="150000"/>
              </a:lnSpc>
            </a:pPr>
            <a:r>
              <a:rPr lang="zh-CN" altLang="en-US" sz="2800" b="1" dirty="0" smtClean="0">
                <a:solidFill>
                  <a:srgbClr val="0000FF"/>
                </a:solidFill>
                <a:latin typeface="黑体" pitchFamily="49" charset="-122"/>
                <a:ea typeface="黑体" pitchFamily="49" charset="-122"/>
              </a:rPr>
              <a:t>    第一</a:t>
            </a:r>
            <a:r>
              <a:rPr lang="zh-CN" altLang="en-US" sz="2800" b="1" dirty="0">
                <a:solidFill>
                  <a:srgbClr val="0000FF"/>
                </a:solidFill>
                <a:latin typeface="黑体" pitchFamily="49" charset="-122"/>
                <a:ea typeface="黑体" pitchFamily="49" charset="-122"/>
              </a:rPr>
              <a:t>，</a:t>
            </a:r>
            <a:r>
              <a:rPr lang="zh-CN" altLang="en-US" sz="2800" b="1" dirty="0" smtClean="0">
                <a:solidFill>
                  <a:srgbClr val="0000FF"/>
                </a:solidFill>
                <a:latin typeface="黑体" pitchFamily="49" charset="-122"/>
                <a:ea typeface="黑体" pitchFamily="49" charset="-122"/>
              </a:rPr>
              <a:t>指引中国革命找到了一条新民主主义革命的正确道路，建立了中华人民共和国。找到了一条适合中国实际的社会主义改造道路，确立了社会主义制度。</a:t>
            </a:r>
            <a:endParaRPr lang="en-US" altLang="zh-CN" sz="2800" b="1" dirty="0" smtClean="0">
              <a:solidFill>
                <a:srgbClr val="0000FF"/>
              </a:solidFill>
              <a:latin typeface="黑体" pitchFamily="49" charset="-122"/>
              <a:ea typeface="黑体" pitchFamily="49" charset="-122"/>
            </a:endParaRPr>
          </a:p>
          <a:p>
            <a:pPr>
              <a:lnSpc>
                <a:spcPct val="150000"/>
              </a:lnSpc>
            </a:pPr>
            <a:r>
              <a:rPr lang="zh-CN" altLang="en-US" sz="2800" b="1" dirty="0" smtClean="0">
                <a:solidFill>
                  <a:srgbClr val="0000FF"/>
                </a:solidFill>
                <a:latin typeface="黑体" pitchFamily="49" charset="-122"/>
                <a:ea typeface="黑体" pitchFamily="49" charset="-122"/>
              </a:rPr>
              <a:t>    第二，为在东方大国进行社会主义建设积累了重要经验。</a:t>
            </a:r>
            <a:endParaRPr lang="zh-CN" altLang="en-US" sz="2800" b="1" dirty="0">
              <a:solidFill>
                <a:srgbClr val="0000FF"/>
              </a:solidFill>
              <a:latin typeface="黑体" pitchFamily="49" charset="-122"/>
              <a:ea typeface="黑体" pitchFamily="49" charset="-122"/>
            </a:endParaRPr>
          </a:p>
        </p:txBody>
      </p:sp>
      <p:sp>
        <p:nvSpPr>
          <p:cNvPr id="3" name="矩形 2"/>
          <p:cNvSpPr/>
          <p:nvPr/>
        </p:nvSpPr>
        <p:spPr>
          <a:xfrm>
            <a:off x="1115616" y="692696"/>
            <a:ext cx="5929828" cy="715581"/>
          </a:xfrm>
          <a:prstGeom prst="rect">
            <a:avLst/>
          </a:prstGeom>
          <a:solidFill>
            <a:schemeClr val="bg1"/>
          </a:solidFill>
          <a:ln>
            <a:solidFill>
              <a:srgbClr val="FF0000"/>
            </a:solidFill>
          </a:ln>
        </p:spPr>
        <p:txBody>
          <a:bodyPr wrap="none">
            <a:spAutoFit/>
          </a:bodyPr>
          <a:lstStyle/>
          <a:p>
            <a:pPr>
              <a:lnSpc>
                <a:spcPct val="150000"/>
              </a:lnSpc>
            </a:pPr>
            <a:r>
              <a:rPr lang="zh-CN" altLang="en-US" sz="3200" b="1" dirty="0" smtClean="0">
                <a:solidFill>
                  <a:srgbClr val="FF0000"/>
                </a:solidFill>
                <a:latin typeface="黑体" pitchFamily="49" charset="-122"/>
                <a:ea typeface="黑体" pitchFamily="49" charset="-122"/>
              </a:rPr>
              <a:t>二、中国革命和建设的科学指南</a:t>
            </a:r>
            <a:endParaRPr lang="zh-CN" altLang="en-US" sz="3200" b="1" dirty="0">
              <a:solidFill>
                <a:srgbClr val="FF0000"/>
              </a:solidFill>
              <a:latin typeface="黑体" pitchFamily="49" charset="-122"/>
              <a:ea typeface="黑体" pitchFamily="49" charset="-122"/>
            </a:endParaRPr>
          </a:p>
        </p:txBody>
      </p:sp>
    </p:spTree>
  </p:cSld>
  <p:clrMapOvr>
    <a:masterClrMapping/>
  </p:clrMapOvr>
  <p:transition spd="med">
    <p:wipe dir="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ChangeArrowheads="1"/>
          </p:cNvSpPr>
          <p:nvPr/>
        </p:nvSpPr>
        <p:spPr bwMode="auto">
          <a:xfrm>
            <a:off x="611560" y="2060848"/>
            <a:ext cx="7959725" cy="4515660"/>
          </a:xfrm>
          <a:prstGeom prst="rect">
            <a:avLst/>
          </a:prstGeom>
          <a:noFill/>
          <a:ln w="9525">
            <a:solidFill>
              <a:srgbClr val="FF0000"/>
            </a:solidFill>
            <a:miter lim="800000"/>
            <a:headEnd/>
            <a:tailEnd/>
          </a:ln>
        </p:spPr>
        <p:txBody>
          <a:bodyPr>
            <a:spAutoFit/>
          </a:bodyPr>
          <a:lstStyle/>
          <a:p>
            <a:pPr>
              <a:lnSpc>
                <a:spcPct val="150000"/>
              </a:lnSpc>
            </a:pPr>
            <a:r>
              <a:rPr lang="zh-CN" altLang="en-US" sz="2800" b="1" dirty="0" smtClean="0">
                <a:solidFill>
                  <a:srgbClr val="0000FF"/>
                </a:solidFill>
                <a:latin typeface="黑体" pitchFamily="49" charset="-122"/>
                <a:ea typeface="黑体" pitchFamily="49" charset="-122"/>
              </a:rPr>
              <a:t>    毛泽东思想</a:t>
            </a:r>
            <a:r>
              <a:rPr lang="zh-CN" altLang="en-US" sz="2800" b="1" dirty="0">
                <a:solidFill>
                  <a:srgbClr val="0000FF"/>
                </a:solidFill>
                <a:latin typeface="黑体" pitchFamily="49" charset="-122"/>
                <a:ea typeface="黑体" pitchFamily="49" charset="-122"/>
              </a:rPr>
              <a:t>中所倡导的中华民族重新自立于世界民族之林的远大理想；一切从实际出发、理论联系实际、实事求是、在实践中检验真理和发展真理的思想路线；为了人民、依靠人民、全心全意为人民服务的奋斗宗旨；自力更生、艰苦奋斗的革命精神，不依附于人、不怕鬼、不信邪的精神状态，等等。这是一笔宝贵的精神财富。</a:t>
            </a:r>
          </a:p>
        </p:txBody>
      </p:sp>
      <p:sp>
        <p:nvSpPr>
          <p:cNvPr id="3" name="矩形 2"/>
          <p:cNvSpPr/>
          <p:nvPr/>
        </p:nvSpPr>
        <p:spPr>
          <a:xfrm>
            <a:off x="539552" y="836712"/>
            <a:ext cx="8012130" cy="715581"/>
          </a:xfrm>
          <a:prstGeom prst="rect">
            <a:avLst/>
          </a:prstGeom>
          <a:solidFill>
            <a:schemeClr val="bg1"/>
          </a:solidFill>
          <a:ln>
            <a:solidFill>
              <a:srgbClr val="FF0000"/>
            </a:solidFill>
          </a:ln>
        </p:spPr>
        <p:txBody>
          <a:bodyPr wrap="none">
            <a:spAutoFit/>
          </a:bodyPr>
          <a:lstStyle/>
          <a:p>
            <a:pPr>
              <a:lnSpc>
                <a:spcPct val="150000"/>
              </a:lnSpc>
            </a:pPr>
            <a:r>
              <a:rPr lang="zh-CN" altLang="en-US" sz="3200" b="1" dirty="0" smtClean="0">
                <a:solidFill>
                  <a:srgbClr val="FF0000"/>
                </a:solidFill>
                <a:latin typeface="黑体" pitchFamily="49" charset="-122"/>
                <a:ea typeface="黑体" pitchFamily="49" charset="-122"/>
              </a:rPr>
              <a:t>三、中国共产党和中国人民宝贵的精神财富</a:t>
            </a:r>
            <a:endParaRPr lang="zh-CN" altLang="en-US" sz="3200" b="1" dirty="0">
              <a:solidFill>
                <a:srgbClr val="FF0000"/>
              </a:solidFill>
              <a:latin typeface="黑体" pitchFamily="49" charset="-122"/>
              <a:ea typeface="黑体" pitchFamily="49" charset="-122"/>
            </a:endParaRPr>
          </a:p>
        </p:txBody>
      </p:sp>
    </p:spTree>
  </p:cSld>
  <p:clrMapOvr>
    <a:masterClrMapping/>
  </p:clrMapOvr>
  <p:transition spd="med">
    <p:wipe dir="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ChangeArrowheads="1"/>
          </p:cNvSpPr>
          <p:nvPr/>
        </p:nvSpPr>
        <p:spPr bwMode="auto">
          <a:xfrm>
            <a:off x="0" y="0"/>
            <a:ext cx="247650" cy="366713"/>
          </a:xfrm>
          <a:prstGeom prst="rect">
            <a:avLst/>
          </a:prstGeom>
          <a:noFill/>
          <a:ln w="9525">
            <a:noFill/>
            <a:miter lim="800000"/>
            <a:headEnd/>
            <a:tailEnd/>
          </a:ln>
        </p:spPr>
        <p:txBody>
          <a:bodyPr wrap="none" anchor="ctr">
            <a:spAutoFit/>
          </a:bodyPr>
          <a:lstStyle/>
          <a:p>
            <a:r>
              <a:rPr lang="zh-CN" altLang="en-US" sz="1800" b="0">
                <a:solidFill>
                  <a:schemeClr val="tx1"/>
                </a:solidFill>
              </a:rPr>
              <a:t> </a:t>
            </a:r>
          </a:p>
        </p:txBody>
      </p:sp>
      <p:sp>
        <p:nvSpPr>
          <p:cNvPr id="155651" name="Rectangle 3"/>
          <p:cNvSpPr>
            <a:spLocks noChangeArrowheads="1"/>
          </p:cNvSpPr>
          <p:nvPr/>
        </p:nvSpPr>
        <p:spPr bwMode="auto">
          <a:xfrm>
            <a:off x="0" y="0"/>
            <a:ext cx="247650" cy="366713"/>
          </a:xfrm>
          <a:prstGeom prst="rect">
            <a:avLst/>
          </a:prstGeom>
          <a:noFill/>
          <a:ln w="9525">
            <a:noFill/>
            <a:miter lim="800000"/>
            <a:headEnd/>
            <a:tailEnd/>
          </a:ln>
        </p:spPr>
        <p:txBody>
          <a:bodyPr wrap="none" anchor="ctr">
            <a:spAutoFit/>
          </a:bodyPr>
          <a:lstStyle/>
          <a:p>
            <a:r>
              <a:rPr lang="zh-CN" altLang="en-US" sz="1800" b="0">
                <a:solidFill>
                  <a:schemeClr val="tx1"/>
                </a:solidFill>
              </a:rPr>
              <a:t> </a:t>
            </a:r>
          </a:p>
        </p:txBody>
      </p:sp>
      <p:sp>
        <p:nvSpPr>
          <p:cNvPr id="155652" name="Rectangle 4"/>
          <p:cNvSpPr>
            <a:spLocks noChangeArrowheads="1"/>
          </p:cNvSpPr>
          <p:nvPr/>
        </p:nvSpPr>
        <p:spPr bwMode="auto">
          <a:xfrm>
            <a:off x="0" y="0"/>
            <a:ext cx="247650" cy="366713"/>
          </a:xfrm>
          <a:prstGeom prst="rect">
            <a:avLst/>
          </a:prstGeom>
          <a:noFill/>
          <a:ln w="9525">
            <a:noFill/>
            <a:miter lim="800000"/>
            <a:headEnd/>
            <a:tailEnd/>
          </a:ln>
        </p:spPr>
        <p:txBody>
          <a:bodyPr wrap="none" anchor="ctr">
            <a:spAutoFit/>
          </a:bodyPr>
          <a:lstStyle/>
          <a:p>
            <a:r>
              <a:rPr lang="zh-CN" altLang="en-US" sz="1800" b="0">
                <a:solidFill>
                  <a:schemeClr val="tx1"/>
                </a:solidFill>
              </a:rPr>
              <a:t> </a:t>
            </a:r>
          </a:p>
        </p:txBody>
      </p:sp>
      <p:sp>
        <p:nvSpPr>
          <p:cNvPr id="155653" name="Rectangle 5"/>
          <p:cNvSpPr>
            <a:spLocks noChangeArrowheads="1"/>
          </p:cNvSpPr>
          <p:nvPr/>
        </p:nvSpPr>
        <p:spPr bwMode="auto">
          <a:xfrm>
            <a:off x="0" y="0"/>
            <a:ext cx="247650" cy="366713"/>
          </a:xfrm>
          <a:prstGeom prst="rect">
            <a:avLst/>
          </a:prstGeom>
          <a:noFill/>
          <a:ln w="9525">
            <a:noFill/>
            <a:miter lim="800000"/>
            <a:headEnd/>
            <a:tailEnd/>
          </a:ln>
        </p:spPr>
        <p:txBody>
          <a:bodyPr wrap="none" anchor="ctr">
            <a:spAutoFit/>
          </a:bodyPr>
          <a:lstStyle/>
          <a:p>
            <a:r>
              <a:rPr lang="zh-CN" altLang="en-US" sz="1800" b="0">
                <a:solidFill>
                  <a:schemeClr val="tx1"/>
                </a:solidFill>
              </a:rPr>
              <a:t> </a:t>
            </a:r>
          </a:p>
        </p:txBody>
      </p:sp>
      <p:sp>
        <p:nvSpPr>
          <p:cNvPr id="155654" name="Rectangle 6"/>
          <p:cNvSpPr>
            <a:spLocks noChangeArrowheads="1"/>
          </p:cNvSpPr>
          <p:nvPr/>
        </p:nvSpPr>
        <p:spPr bwMode="auto">
          <a:xfrm>
            <a:off x="0" y="0"/>
            <a:ext cx="247650" cy="366713"/>
          </a:xfrm>
          <a:prstGeom prst="rect">
            <a:avLst/>
          </a:prstGeom>
          <a:noFill/>
          <a:ln w="9525">
            <a:noFill/>
            <a:miter lim="800000"/>
            <a:headEnd/>
            <a:tailEnd/>
          </a:ln>
        </p:spPr>
        <p:txBody>
          <a:bodyPr wrap="none" anchor="ctr">
            <a:spAutoFit/>
          </a:bodyPr>
          <a:lstStyle/>
          <a:p>
            <a:r>
              <a:rPr lang="zh-CN" altLang="en-US" sz="1800" b="0">
                <a:solidFill>
                  <a:schemeClr val="tx1"/>
                </a:solidFill>
              </a:rPr>
              <a:t> </a:t>
            </a:r>
          </a:p>
        </p:txBody>
      </p:sp>
      <p:sp>
        <p:nvSpPr>
          <p:cNvPr id="155655" name="Text Box 7"/>
          <p:cNvSpPr txBox="1">
            <a:spLocks noChangeArrowheads="1"/>
          </p:cNvSpPr>
          <p:nvPr/>
        </p:nvSpPr>
        <p:spPr bwMode="auto">
          <a:xfrm>
            <a:off x="1600200" y="1752600"/>
            <a:ext cx="6172200" cy="366713"/>
          </a:xfrm>
          <a:prstGeom prst="rect">
            <a:avLst/>
          </a:prstGeom>
          <a:noFill/>
          <a:ln w="9525">
            <a:noFill/>
            <a:miter lim="800000"/>
            <a:headEnd/>
            <a:tailEnd/>
          </a:ln>
        </p:spPr>
        <p:txBody>
          <a:bodyPr>
            <a:spAutoFit/>
          </a:bodyPr>
          <a:lstStyle/>
          <a:p>
            <a:pPr>
              <a:spcBef>
                <a:spcPct val="50000"/>
              </a:spcBef>
            </a:pPr>
            <a:endParaRPr lang="zh-CN" altLang="en-US" sz="1800" b="0">
              <a:solidFill>
                <a:schemeClr val="tx1"/>
              </a:solidFill>
            </a:endParaRPr>
          </a:p>
        </p:txBody>
      </p:sp>
      <p:sp>
        <p:nvSpPr>
          <p:cNvPr id="155656" name="Rectangle 8"/>
          <p:cNvSpPr>
            <a:spLocks noChangeArrowheads="1"/>
          </p:cNvSpPr>
          <p:nvPr/>
        </p:nvSpPr>
        <p:spPr bwMode="auto">
          <a:xfrm>
            <a:off x="0" y="0"/>
            <a:ext cx="247650" cy="366713"/>
          </a:xfrm>
          <a:prstGeom prst="rect">
            <a:avLst/>
          </a:prstGeom>
          <a:noFill/>
          <a:ln w="9525">
            <a:noFill/>
            <a:miter lim="800000"/>
            <a:headEnd/>
            <a:tailEnd/>
          </a:ln>
        </p:spPr>
        <p:txBody>
          <a:bodyPr wrap="none" anchor="ctr">
            <a:spAutoFit/>
          </a:bodyPr>
          <a:lstStyle/>
          <a:p>
            <a:r>
              <a:rPr lang="zh-CN" altLang="en-US" sz="1800" b="0">
                <a:solidFill>
                  <a:schemeClr val="tx1"/>
                </a:solidFill>
              </a:rPr>
              <a:t> </a:t>
            </a:r>
          </a:p>
        </p:txBody>
      </p:sp>
      <p:sp>
        <p:nvSpPr>
          <p:cNvPr id="155657" name="Rectangle 9"/>
          <p:cNvSpPr>
            <a:spLocks noChangeArrowheads="1"/>
          </p:cNvSpPr>
          <p:nvPr/>
        </p:nvSpPr>
        <p:spPr bwMode="auto">
          <a:xfrm>
            <a:off x="4448175" y="3246438"/>
            <a:ext cx="247650" cy="366712"/>
          </a:xfrm>
          <a:prstGeom prst="rect">
            <a:avLst/>
          </a:prstGeom>
          <a:noFill/>
          <a:ln w="9525">
            <a:noFill/>
            <a:miter lim="800000"/>
            <a:headEnd/>
            <a:tailEnd/>
          </a:ln>
        </p:spPr>
        <p:txBody>
          <a:bodyPr wrap="none" anchor="ctr">
            <a:spAutoFit/>
          </a:bodyPr>
          <a:lstStyle/>
          <a:p>
            <a:r>
              <a:rPr lang="zh-CN" altLang="en-US" sz="1800" b="0">
                <a:solidFill>
                  <a:schemeClr val="tx1"/>
                </a:solidFill>
              </a:rPr>
              <a:t> </a:t>
            </a:r>
          </a:p>
        </p:txBody>
      </p:sp>
      <p:sp>
        <p:nvSpPr>
          <p:cNvPr id="155658" name="Text Box 10"/>
          <p:cNvSpPr txBox="1">
            <a:spLocks noChangeArrowheads="1"/>
          </p:cNvSpPr>
          <p:nvPr/>
        </p:nvSpPr>
        <p:spPr bwMode="auto">
          <a:xfrm>
            <a:off x="571472" y="1142984"/>
            <a:ext cx="8280400" cy="4745915"/>
          </a:xfrm>
          <a:prstGeom prst="rect">
            <a:avLst/>
          </a:prstGeom>
          <a:solidFill>
            <a:schemeClr val="bg1"/>
          </a:solidFill>
          <a:ln w="9525">
            <a:solidFill>
              <a:srgbClr val="FF0000"/>
            </a:solidFill>
            <a:miter lim="800000"/>
            <a:headEnd/>
            <a:tailEnd/>
          </a:ln>
        </p:spPr>
        <p:txBody>
          <a:bodyPr>
            <a:spAutoFit/>
          </a:bodyPr>
          <a:lstStyle/>
          <a:p>
            <a:pPr>
              <a:lnSpc>
                <a:spcPct val="135000"/>
              </a:lnSpc>
            </a:pPr>
            <a:r>
              <a:rPr lang="zh-CN" altLang="en-US" sz="2800" b="1">
                <a:latin typeface="黑体" pitchFamily="49" charset="-122"/>
                <a:ea typeface="黑体" pitchFamily="49" charset="-122"/>
              </a:rPr>
              <a:t>       </a:t>
            </a:r>
            <a:r>
              <a:rPr lang="zh-CN" altLang="en-US" sz="2800" b="1">
                <a:solidFill>
                  <a:srgbClr val="0000FF"/>
                </a:solidFill>
                <a:latin typeface="黑体" pitchFamily="49" charset="-122"/>
                <a:ea typeface="黑体" pitchFamily="49" charset="-122"/>
              </a:rPr>
              <a:t>毛泽东思想形成和发展的历史条件，与我们今天面临的形势和任务的确有很大的不同，但这并没有减弱和降低毛泽东思想的科学价值。</a:t>
            </a:r>
          </a:p>
          <a:p>
            <a:pPr>
              <a:lnSpc>
                <a:spcPct val="135000"/>
              </a:lnSpc>
            </a:pPr>
            <a:r>
              <a:rPr lang="zh-CN" altLang="en-US" sz="2800" b="1">
                <a:solidFill>
                  <a:srgbClr val="0000FF"/>
                </a:solidFill>
                <a:latin typeface="黑体" pitchFamily="49" charset="-122"/>
                <a:ea typeface="黑体" pitchFamily="49" charset="-122"/>
              </a:rPr>
              <a:t>      毛泽东思想中所包含的许多基本原理、原则和科学方法，具有普遍的意义。它依然是中国人民不断奋进的强大精神动力，将长期激励和指导我们前进</a:t>
            </a:r>
            <a:r>
              <a:rPr lang="zh-CN" altLang="en-US" sz="2800" b="1">
                <a:solidFill>
                  <a:srgbClr val="0000FF"/>
                </a:solidFill>
                <a:latin typeface="楷体" pitchFamily="49" charset="-122"/>
                <a:ea typeface="楷体" pitchFamily="49" charset="-122"/>
              </a:rPr>
              <a:t>。</a:t>
            </a:r>
          </a:p>
          <a:p>
            <a:pPr>
              <a:lnSpc>
                <a:spcPct val="135000"/>
              </a:lnSpc>
            </a:pPr>
            <a:r>
              <a:rPr lang="zh-CN" altLang="en-US" sz="2800" b="1">
                <a:solidFill>
                  <a:schemeClr val="folHlink"/>
                </a:solidFill>
                <a:latin typeface="黑体" pitchFamily="49" charset="-122"/>
                <a:ea typeface="黑体" pitchFamily="49" charset="-122"/>
              </a:rPr>
              <a:t>       </a:t>
            </a:r>
          </a:p>
        </p:txBody>
      </p:sp>
    </p:spTree>
  </p:cSld>
  <p:clrMapOvr>
    <a:masterClrMapping/>
  </p:clrMapOvr>
  <p:transition spd="med">
    <p:wipe dir="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Text Box 2"/>
          <p:cNvSpPr txBox="1">
            <a:spLocks noChangeArrowheads="1"/>
          </p:cNvSpPr>
          <p:nvPr/>
        </p:nvSpPr>
        <p:spPr bwMode="auto">
          <a:xfrm>
            <a:off x="357188" y="785794"/>
            <a:ext cx="8786812" cy="5908675"/>
          </a:xfrm>
          <a:prstGeom prst="rect">
            <a:avLst/>
          </a:prstGeom>
          <a:solidFill>
            <a:schemeClr val="bg1"/>
          </a:solidFill>
          <a:ln w="9525">
            <a:solidFill>
              <a:schemeClr val="accent1"/>
            </a:solidFill>
            <a:miter lim="800000"/>
            <a:headEnd/>
            <a:tailEnd/>
          </a:ln>
        </p:spPr>
        <p:txBody>
          <a:bodyPr>
            <a:spAutoFit/>
          </a:bodyPr>
          <a:lstStyle/>
          <a:p>
            <a:pPr>
              <a:lnSpc>
                <a:spcPct val="150000"/>
              </a:lnSpc>
            </a:pPr>
            <a:r>
              <a:rPr lang="zh-CN" altLang="en-US" sz="2800" b="1" dirty="0">
                <a:solidFill>
                  <a:schemeClr val="folHlink"/>
                </a:solidFill>
                <a:latin typeface="黑体" pitchFamily="49" charset="-122"/>
                <a:ea typeface="黑体" pitchFamily="49" charset="-122"/>
              </a:rPr>
              <a:t>     </a:t>
            </a:r>
            <a:r>
              <a:rPr lang="zh-CN" altLang="en-US" sz="2800" b="1" dirty="0" smtClean="0">
                <a:solidFill>
                  <a:srgbClr val="0000FF"/>
                </a:solidFill>
                <a:latin typeface="楷体" pitchFamily="49" charset="-122"/>
                <a:ea typeface="黑体" pitchFamily="49" charset="-122"/>
              </a:rPr>
              <a:t>“</a:t>
            </a:r>
            <a:r>
              <a:rPr lang="zh-CN" altLang="en-US" sz="2800" b="1" dirty="0" smtClean="0">
                <a:solidFill>
                  <a:srgbClr val="0000FF"/>
                </a:solidFill>
                <a:latin typeface="黑体" pitchFamily="49" charset="-122"/>
                <a:ea typeface="黑体" pitchFamily="49" charset="-122"/>
              </a:rPr>
              <a:t>文化大革命</a:t>
            </a:r>
            <a:r>
              <a:rPr lang="zh-CN" altLang="en-US" sz="2800" b="1" dirty="0" smtClean="0">
                <a:solidFill>
                  <a:srgbClr val="0000FF"/>
                </a:solidFill>
                <a:latin typeface="楷体" pitchFamily="49" charset="-122"/>
                <a:ea typeface="黑体" pitchFamily="49" charset="-122"/>
              </a:rPr>
              <a:t>”</a:t>
            </a:r>
            <a:r>
              <a:rPr lang="zh-CN" altLang="en-US" sz="2800" b="1" dirty="0">
                <a:solidFill>
                  <a:srgbClr val="0000FF"/>
                </a:solidFill>
                <a:latin typeface="黑体" pitchFamily="49" charset="-122"/>
                <a:ea typeface="黑体" pitchFamily="49" charset="-122"/>
              </a:rPr>
              <a:t>结束后，在对毛泽东和毛泽东思想的认识问题上，出现过两种错误倾向：</a:t>
            </a:r>
          </a:p>
          <a:p>
            <a:pPr>
              <a:lnSpc>
                <a:spcPct val="150000"/>
              </a:lnSpc>
            </a:pPr>
            <a:r>
              <a:rPr lang="zh-CN" altLang="en-US" sz="2800" b="1" dirty="0">
                <a:solidFill>
                  <a:srgbClr val="0000FF"/>
                </a:solidFill>
                <a:latin typeface="黑体" pitchFamily="49" charset="-122"/>
                <a:ea typeface="黑体" pitchFamily="49" charset="-122"/>
              </a:rPr>
              <a:t>    一种是认为</a:t>
            </a:r>
            <a:r>
              <a:rPr lang="zh-CN" altLang="en-US" sz="2800" b="1" dirty="0">
                <a:solidFill>
                  <a:srgbClr val="0000FF"/>
                </a:solidFill>
                <a:latin typeface="楷体" pitchFamily="49" charset="-122"/>
                <a:ea typeface="黑体" pitchFamily="49" charset="-122"/>
              </a:rPr>
              <a:t>“</a:t>
            </a:r>
            <a:r>
              <a:rPr lang="zh-CN" altLang="en-US" sz="2800" b="1" dirty="0">
                <a:solidFill>
                  <a:srgbClr val="0000FF"/>
                </a:solidFill>
                <a:latin typeface="黑体" pitchFamily="49" charset="-122"/>
                <a:ea typeface="黑体" pitchFamily="49" charset="-122"/>
              </a:rPr>
              <a:t>凡是毛泽东作出的决策，我们都坚决维护、凡是毛主席的指示，我们都始终不渝地遵循</a:t>
            </a:r>
            <a:r>
              <a:rPr lang="zh-CN" altLang="en-US" sz="2800" b="1" dirty="0">
                <a:solidFill>
                  <a:srgbClr val="0000FF"/>
                </a:solidFill>
                <a:latin typeface="楷体" pitchFamily="49" charset="-122"/>
                <a:ea typeface="黑体" pitchFamily="49" charset="-122"/>
              </a:rPr>
              <a:t>”</a:t>
            </a:r>
            <a:r>
              <a:rPr lang="zh-CN" altLang="en-US" sz="2800" b="1" dirty="0">
                <a:solidFill>
                  <a:srgbClr val="0000FF"/>
                </a:solidFill>
                <a:latin typeface="黑体" pitchFamily="49" charset="-122"/>
                <a:ea typeface="黑体" pitchFamily="49" charset="-122"/>
              </a:rPr>
              <a:t>；</a:t>
            </a:r>
          </a:p>
          <a:p>
            <a:pPr>
              <a:lnSpc>
                <a:spcPct val="150000"/>
              </a:lnSpc>
            </a:pPr>
            <a:r>
              <a:rPr lang="zh-CN" altLang="en-US" sz="2800" b="1" dirty="0">
                <a:solidFill>
                  <a:srgbClr val="0000FF"/>
                </a:solidFill>
                <a:latin typeface="黑体" pitchFamily="49" charset="-122"/>
                <a:ea typeface="黑体" pitchFamily="49" charset="-122"/>
              </a:rPr>
              <a:t>    另一种是借口毛泽东晚年犯</a:t>
            </a:r>
            <a:r>
              <a:rPr lang="zh-CN" altLang="en-US" sz="2800" b="1" dirty="0" smtClean="0">
                <a:solidFill>
                  <a:srgbClr val="0000FF"/>
                </a:solidFill>
                <a:latin typeface="黑体" pitchFamily="49" charset="-122"/>
                <a:ea typeface="黑体" pitchFamily="49" charset="-122"/>
              </a:rPr>
              <a:t>了错误</a:t>
            </a:r>
            <a:r>
              <a:rPr lang="zh-CN" altLang="en-US" sz="2800" b="1" dirty="0">
                <a:solidFill>
                  <a:srgbClr val="0000FF"/>
                </a:solidFill>
                <a:latin typeface="黑体" pitchFamily="49" charset="-122"/>
                <a:ea typeface="黑体" pitchFamily="49" charset="-122"/>
              </a:rPr>
              <a:t>，全面否定毛泽东的历史地位与毛泽东思想的科学价值和指导作用。</a:t>
            </a:r>
          </a:p>
          <a:p>
            <a:pPr>
              <a:lnSpc>
                <a:spcPct val="150000"/>
              </a:lnSpc>
            </a:pPr>
            <a:r>
              <a:rPr lang="zh-CN" altLang="en-US" sz="2800" b="1" dirty="0">
                <a:solidFill>
                  <a:srgbClr val="0000FF"/>
                </a:solidFill>
                <a:latin typeface="黑体" pitchFamily="49" charset="-122"/>
                <a:ea typeface="黑体" pitchFamily="49" charset="-122"/>
              </a:rPr>
              <a:t>     </a:t>
            </a:r>
            <a:r>
              <a:rPr lang="zh-CN" altLang="en-US" sz="2800" b="1" dirty="0" smtClean="0">
                <a:solidFill>
                  <a:srgbClr val="0000FF"/>
                </a:solidFill>
                <a:latin typeface="黑体" pitchFamily="49" charset="-122"/>
                <a:ea typeface="黑体" pitchFamily="49" charset="-122"/>
              </a:rPr>
              <a:t>这</a:t>
            </a:r>
            <a:r>
              <a:rPr lang="zh-CN" altLang="en-US" sz="2800" b="1" dirty="0">
                <a:solidFill>
                  <a:srgbClr val="0000FF"/>
                </a:solidFill>
                <a:latin typeface="黑体" pitchFamily="49" charset="-122"/>
                <a:ea typeface="黑体" pitchFamily="49" charset="-122"/>
              </a:rPr>
              <a:t>两种态度都是没有把经过长期历史考验形成为科学理论的毛泽东思想，同毛泽东晚年所犯的错误区别开来。</a:t>
            </a:r>
          </a:p>
        </p:txBody>
      </p:sp>
      <p:sp>
        <p:nvSpPr>
          <p:cNvPr id="3" name="矩形 2"/>
          <p:cNvSpPr/>
          <p:nvPr/>
        </p:nvSpPr>
        <p:spPr>
          <a:xfrm>
            <a:off x="428596" y="142852"/>
            <a:ext cx="5844870" cy="769441"/>
          </a:xfrm>
          <a:prstGeom prst="rect">
            <a:avLst/>
          </a:prstGeom>
          <a:solidFill>
            <a:schemeClr val="bg1"/>
          </a:solidFill>
          <a:ln>
            <a:solidFill>
              <a:srgbClr val="FF0000"/>
            </a:solidFill>
          </a:ln>
        </p:spPr>
        <p:txBody>
          <a:bodyPr wrap="none">
            <a:spAutoFit/>
          </a:bodyPr>
          <a:lstStyle/>
          <a:p>
            <a:r>
              <a:rPr lang="zh-CN" altLang="en-US" sz="4400" b="1" dirty="0" smtClean="0">
                <a:solidFill>
                  <a:srgbClr val="FF0000"/>
                </a:solidFill>
                <a:latin typeface="+mj-ea"/>
                <a:ea typeface="+mj-ea"/>
              </a:rPr>
              <a:t>  如何科学评价毛泽东</a:t>
            </a:r>
            <a:endParaRPr lang="zh-CN" altLang="en-US" sz="4400" b="1" dirty="0">
              <a:solidFill>
                <a:srgbClr val="FF0000"/>
              </a:solidFill>
              <a:latin typeface="+mj-ea"/>
              <a:ea typeface="+mj-ea"/>
            </a:endParaRPr>
          </a:p>
        </p:txBody>
      </p:sp>
    </p:spTree>
  </p:cSld>
  <p:clrMapOvr>
    <a:masterClrMapping/>
  </p:clrMapOvr>
  <p:transition spd="med">
    <p:wipe dir="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85786" y="714356"/>
            <a:ext cx="6312194" cy="1311128"/>
          </a:xfrm>
          <a:prstGeom prst="rect">
            <a:avLst/>
          </a:prstGeom>
          <a:solidFill>
            <a:schemeClr val="bg2"/>
          </a:solidFill>
          <a:ln>
            <a:solidFill>
              <a:schemeClr val="accent1"/>
            </a:solidFill>
          </a:ln>
        </p:spPr>
        <p:txBody>
          <a:bodyPr wrap="square">
            <a:spAutoFit/>
          </a:bodyPr>
          <a:lstStyle/>
          <a:p>
            <a:pPr lvl="0">
              <a:lnSpc>
                <a:spcPct val="110000"/>
              </a:lnSpc>
            </a:pPr>
            <a:r>
              <a:rPr lang="zh-CN" altLang="en-US" sz="3600" b="1" dirty="0" smtClean="0">
                <a:solidFill>
                  <a:srgbClr val="FF0000"/>
                </a:solidFill>
                <a:latin typeface="黑体" pitchFamily="49" charset="-122"/>
                <a:ea typeface="黑体" pitchFamily="49" charset="-122"/>
              </a:rPr>
              <a:t>（一）完整准确地理解和掌握毛泽东思想的科学体系</a:t>
            </a:r>
            <a:endParaRPr lang="zh-CN" altLang="en-US" sz="3600" b="1" dirty="0">
              <a:solidFill>
                <a:srgbClr val="FF0000"/>
              </a:solidFill>
              <a:latin typeface="黑体" pitchFamily="49" charset="-122"/>
              <a:ea typeface="黑体" pitchFamily="49" charset="-122"/>
            </a:endParaRPr>
          </a:p>
        </p:txBody>
      </p:sp>
      <p:sp>
        <p:nvSpPr>
          <p:cNvPr id="3" name="矩形 2"/>
          <p:cNvSpPr/>
          <p:nvPr/>
        </p:nvSpPr>
        <p:spPr>
          <a:xfrm>
            <a:off x="928662" y="3000372"/>
            <a:ext cx="6312194" cy="2259080"/>
          </a:xfrm>
          <a:prstGeom prst="rect">
            <a:avLst/>
          </a:prstGeom>
          <a:solidFill>
            <a:schemeClr val="bg2"/>
          </a:solidFill>
          <a:ln>
            <a:solidFill>
              <a:schemeClr val="accent1"/>
            </a:solidFill>
          </a:ln>
        </p:spPr>
        <p:txBody>
          <a:bodyPr wrap="square">
            <a:spAutoFit/>
          </a:bodyPr>
          <a:lstStyle/>
          <a:p>
            <a:pPr lvl="0">
              <a:lnSpc>
                <a:spcPct val="110000"/>
              </a:lnSpc>
            </a:pPr>
            <a:r>
              <a:rPr lang="zh-CN" altLang="en-US" sz="3200" b="1" dirty="0" smtClean="0">
                <a:solidFill>
                  <a:srgbClr val="3333FF"/>
                </a:solidFill>
                <a:latin typeface="黑体" pitchFamily="49" charset="-122"/>
                <a:ea typeface="黑体" pitchFamily="49" charset="-122"/>
              </a:rPr>
              <a:t>    把毛泽东晚年的错误和毛泽东思想的科学体系严格区别开来。既维护毛泽东思想的指导地位，又实事求是地指出毛泽东晚年的错误。</a:t>
            </a:r>
            <a:endParaRPr lang="zh-CN" altLang="en-US" sz="3200" b="1" dirty="0">
              <a:solidFill>
                <a:srgbClr val="3333FF"/>
              </a:solidFill>
              <a:latin typeface="黑体" pitchFamily="49" charset="-122"/>
              <a:ea typeface="黑体" pitchFamily="49" charset="-122"/>
            </a:endParaRPr>
          </a:p>
        </p:txBody>
      </p:sp>
      <p:pic>
        <p:nvPicPr>
          <p:cNvPr id="6" name="《百年小平》 第二集 伟人胸襟.mp4">
            <a:hlinkClick r:id="" action="ppaction://media"/>
          </p:cNvPr>
          <p:cNvPicPr>
            <a:picLocks noRot="1" noChangeAspect="1"/>
          </p:cNvPicPr>
          <p:nvPr>
            <a:videoFile r:link="rId1"/>
          </p:nvPr>
        </p:nvPicPr>
        <p:blipFill>
          <a:blip r:embed="rId3" cstate="print"/>
          <a:stretch>
            <a:fillRect/>
          </a:stretch>
        </p:blipFill>
        <p:spPr>
          <a:xfrm>
            <a:off x="571472" y="2214554"/>
            <a:ext cx="8143932" cy="4357718"/>
          </a:xfrm>
          <a:prstGeom prst="rect">
            <a:avLst/>
          </a:prstGeom>
        </p:spPr>
      </p:pic>
    </p:spTree>
  </p:cSld>
  <p:clrMapOvr>
    <a:masterClrMapping/>
  </p:clrMapOvr>
  <p:transition spd="med">
    <p:wipe dir="r"/>
  </p:transition>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6"/>
                                        </p:tgtEl>
                                      </p:cBhvr>
                                    </p:cmd>
                                  </p:childTnLst>
                                </p:cTn>
                              </p:par>
                            </p:childTnLst>
                          </p:cTn>
                        </p:par>
                      </p:childTnLst>
                    </p:cTn>
                  </p:par>
                </p:childTnLst>
              </p:cTn>
              <p:nextCondLst>
                <p:cond evt="onClick" delay="0">
                  <p:tgtEl>
                    <p:spTgt spid="6"/>
                  </p:tgtEl>
                </p:cond>
              </p:nextCondLst>
            </p:seq>
            <p:video>
              <p:cMediaNode>
                <p:cTn id="7" fill="hold" display="0">
                  <p:stCondLst>
                    <p:cond delay="indefinite"/>
                  </p:stCondLst>
                  <p:endCondLst>
                    <p:cond evt="onNext" delay="0">
                      <p:tgtEl>
                        <p:sldTgt/>
                      </p:tgtEl>
                    </p:cond>
                    <p:cond evt="onPrev" delay="0">
                      <p:tgtEl>
                        <p:sldTgt/>
                      </p:tgtEl>
                    </p:cond>
                  </p:endCondLst>
                </p:cTn>
                <p:tgtEl>
                  <p:spTgt spid="6"/>
                </p:tgtEl>
              </p:cMediaNode>
            </p:video>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14348" y="357166"/>
            <a:ext cx="6312194" cy="1311128"/>
          </a:xfrm>
          <a:prstGeom prst="rect">
            <a:avLst/>
          </a:prstGeom>
          <a:solidFill>
            <a:schemeClr val="bg2"/>
          </a:solidFill>
          <a:ln>
            <a:solidFill>
              <a:schemeClr val="accent1"/>
            </a:solidFill>
          </a:ln>
        </p:spPr>
        <p:txBody>
          <a:bodyPr wrap="square">
            <a:spAutoFit/>
          </a:bodyPr>
          <a:lstStyle/>
          <a:p>
            <a:pPr lvl="0">
              <a:lnSpc>
                <a:spcPct val="110000"/>
              </a:lnSpc>
            </a:pPr>
            <a:r>
              <a:rPr lang="zh-CN" altLang="en-US" sz="3600" b="1" dirty="0" smtClean="0">
                <a:solidFill>
                  <a:srgbClr val="FF0000"/>
                </a:solidFill>
                <a:latin typeface="黑体" pitchFamily="49" charset="-122"/>
                <a:ea typeface="黑体" pitchFamily="49" charset="-122"/>
              </a:rPr>
              <a:t>（二）坚持历史唯物主义和辩证唯物主义的原则和方法</a:t>
            </a:r>
            <a:endParaRPr lang="zh-CN" altLang="en-US" sz="3600" b="1" dirty="0">
              <a:solidFill>
                <a:srgbClr val="FF0000"/>
              </a:solidFill>
              <a:latin typeface="黑体" pitchFamily="49" charset="-122"/>
              <a:ea typeface="黑体" pitchFamily="49" charset="-122"/>
            </a:endParaRPr>
          </a:p>
        </p:txBody>
      </p:sp>
      <p:sp>
        <p:nvSpPr>
          <p:cNvPr id="5" name="矩形 4"/>
          <p:cNvSpPr/>
          <p:nvPr/>
        </p:nvSpPr>
        <p:spPr>
          <a:xfrm>
            <a:off x="642910" y="2071678"/>
            <a:ext cx="7429552" cy="3884140"/>
          </a:xfrm>
          <a:prstGeom prst="rect">
            <a:avLst/>
          </a:prstGeom>
          <a:solidFill>
            <a:schemeClr val="bg2"/>
          </a:solidFill>
          <a:ln>
            <a:solidFill>
              <a:schemeClr val="accent1"/>
            </a:solidFill>
          </a:ln>
        </p:spPr>
        <p:txBody>
          <a:bodyPr wrap="square">
            <a:spAutoFit/>
          </a:bodyPr>
          <a:lstStyle/>
          <a:p>
            <a:pPr lvl="0">
              <a:lnSpc>
                <a:spcPct val="110000"/>
              </a:lnSpc>
            </a:pPr>
            <a:r>
              <a:rPr lang="zh-CN" altLang="en-US" sz="2800" b="1" dirty="0" smtClean="0">
                <a:solidFill>
                  <a:srgbClr val="3333FF"/>
                </a:solidFill>
                <a:latin typeface="黑体" pitchFamily="49" charset="-122"/>
                <a:ea typeface="黑体" pitchFamily="49" charset="-122"/>
              </a:rPr>
              <a:t>    评价历史人物和事件要围绕历史发展的主线和主题来进行。中国共产党的历史就是带领全国人民为实现人民幸福和民族复兴而不懈奋斗的历史。</a:t>
            </a:r>
            <a:endParaRPr lang="en-US" altLang="zh-CN" sz="2800" b="1" dirty="0" smtClean="0">
              <a:solidFill>
                <a:srgbClr val="3333FF"/>
              </a:solidFill>
              <a:latin typeface="黑体" pitchFamily="49" charset="-122"/>
              <a:ea typeface="黑体" pitchFamily="49" charset="-122"/>
            </a:endParaRPr>
          </a:p>
          <a:p>
            <a:pPr lvl="0">
              <a:lnSpc>
                <a:spcPct val="110000"/>
              </a:lnSpc>
            </a:pPr>
            <a:r>
              <a:rPr lang="en-US" altLang="zh-CN" sz="2800" b="1" dirty="0" smtClean="0">
                <a:solidFill>
                  <a:srgbClr val="3333FF"/>
                </a:solidFill>
                <a:latin typeface="黑体" pitchFamily="49" charset="-122"/>
                <a:ea typeface="黑体" pitchFamily="49" charset="-122"/>
              </a:rPr>
              <a:t>    </a:t>
            </a:r>
            <a:r>
              <a:rPr lang="zh-CN" altLang="en-US" sz="2800" b="1" dirty="0" smtClean="0">
                <a:solidFill>
                  <a:srgbClr val="3333FF"/>
                </a:solidFill>
                <a:latin typeface="黑体" pitchFamily="49" charset="-122"/>
                <a:ea typeface="黑体" pitchFamily="49" charset="-122"/>
              </a:rPr>
              <a:t>对毛泽东的评价要牢记这一主题和主线，把握主流和本质。</a:t>
            </a:r>
            <a:endParaRPr lang="en-US" altLang="zh-CN" sz="2800" b="1" dirty="0" smtClean="0">
              <a:solidFill>
                <a:srgbClr val="3333FF"/>
              </a:solidFill>
              <a:latin typeface="黑体" pitchFamily="49" charset="-122"/>
              <a:ea typeface="黑体" pitchFamily="49" charset="-122"/>
            </a:endParaRPr>
          </a:p>
          <a:p>
            <a:pPr lvl="0">
              <a:lnSpc>
                <a:spcPct val="110000"/>
              </a:lnSpc>
            </a:pPr>
            <a:r>
              <a:rPr lang="en-US" altLang="zh-CN" sz="2800" b="1" dirty="0" smtClean="0">
                <a:solidFill>
                  <a:srgbClr val="3333FF"/>
                </a:solidFill>
                <a:latin typeface="黑体" pitchFamily="49" charset="-122"/>
                <a:ea typeface="黑体" pitchFamily="49" charset="-122"/>
              </a:rPr>
              <a:t>    </a:t>
            </a:r>
            <a:r>
              <a:rPr lang="zh-CN" altLang="en-US" sz="2800" b="1" dirty="0" smtClean="0">
                <a:solidFill>
                  <a:srgbClr val="3333FF"/>
                </a:solidFill>
                <a:latin typeface="黑体" pitchFamily="49" charset="-122"/>
                <a:ea typeface="黑体" pitchFamily="49" charset="-122"/>
              </a:rPr>
              <a:t>不能离开对历史条件、历史过程的全面认识和历史规律的科学把握去评价个人。</a:t>
            </a:r>
            <a:endParaRPr lang="zh-CN" altLang="en-US" sz="2800" b="1" dirty="0">
              <a:solidFill>
                <a:srgbClr val="3333FF"/>
              </a:solidFill>
              <a:latin typeface="黑体" pitchFamily="49" charset="-122"/>
              <a:ea typeface="黑体" pitchFamily="49" charset="-122"/>
            </a:endParaRPr>
          </a:p>
        </p:txBody>
      </p:sp>
    </p:spTree>
  </p:cSld>
  <p:clrMapOvr>
    <a:masterClrMapping/>
  </p:clrMapOvr>
  <p:transition spd="med">
    <p:wipe dir="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23528" y="714356"/>
            <a:ext cx="8034686" cy="701731"/>
          </a:xfrm>
          <a:prstGeom prst="rect">
            <a:avLst/>
          </a:prstGeom>
          <a:solidFill>
            <a:schemeClr val="bg2"/>
          </a:solidFill>
          <a:ln>
            <a:solidFill>
              <a:schemeClr val="accent1"/>
            </a:solidFill>
          </a:ln>
        </p:spPr>
        <p:txBody>
          <a:bodyPr wrap="square">
            <a:spAutoFit/>
          </a:bodyPr>
          <a:lstStyle/>
          <a:p>
            <a:pPr lvl="0">
              <a:lnSpc>
                <a:spcPct val="110000"/>
              </a:lnSpc>
            </a:pPr>
            <a:r>
              <a:rPr lang="zh-CN" altLang="en-US" sz="3600" b="1" dirty="0" smtClean="0">
                <a:solidFill>
                  <a:srgbClr val="FF0000"/>
                </a:solidFill>
                <a:latin typeface="黑体" pitchFamily="49" charset="-122"/>
                <a:ea typeface="黑体" pitchFamily="49" charset="-122"/>
              </a:rPr>
              <a:t>（三）在实践中坚持和发展毛泽东思想</a:t>
            </a:r>
            <a:endParaRPr lang="zh-CN" altLang="en-US" sz="3600" b="1" dirty="0">
              <a:solidFill>
                <a:srgbClr val="FF0000"/>
              </a:solidFill>
              <a:latin typeface="黑体" pitchFamily="49" charset="-122"/>
              <a:ea typeface="黑体" pitchFamily="49" charset="-122"/>
            </a:endParaRPr>
          </a:p>
        </p:txBody>
      </p:sp>
      <p:sp>
        <p:nvSpPr>
          <p:cNvPr id="3" name="矩形 2"/>
          <p:cNvSpPr/>
          <p:nvPr/>
        </p:nvSpPr>
        <p:spPr>
          <a:xfrm>
            <a:off x="785786" y="1785926"/>
            <a:ext cx="6572296" cy="2246769"/>
          </a:xfrm>
          <a:prstGeom prst="rect">
            <a:avLst/>
          </a:prstGeom>
          <a:ln>
            <a:solidFill>
              <a:schemeClr val="accent1"/>
            </a:solidFill>
          </a:ln>
        </p:spPr>
        <p:txBody>
          <a:bodyPr wrap="square">
            <a:spAutoFit/>
          </a:bodyPr>
          <a:lstStyle/>
          <a:p>
            <a:r>
              <a:rPr lang="zh-CN" altLang="en-US" sz="2000" dirty="0" smtClean="0">
                <a:latin typeface="+mj-ea"/>
                <a:ea typeface="+mj-ea"/>
              </a:rPr>
              <a:t>邓小平同志</a:t>
            </a:r>
            <a:r>
              <a:rPr lang="en-US" altLang="zh-CN" sz="2000" dirty="0" smtClean="0">
                <a:latin typeface="+mj-ea"/>
                <a:ea typeface="+mj-ea"/>
              </a:rPr>
              <a:t>1980</a:t>
            </a:r>
            <a:r>
              <a:rPr lang="zh-CN" altLang="en-US" sz="2000" dirty="0" smtClean="0">
                <a:latin typeface="+mj-ea"/>
                <a:ea typeface="+mj-ea"/>
              </a:rPr>
              <a:t>年明确表示，“三中全会以后，我们就是恢复毛泽东同志的那些正确的东西嘛”，</a:t>
            </a:r>
            <a:r>
              <a:rPr lang="zh-CN" altLang="en-US" sz="2000" dirty="0" smtClean="0">
                <a:solidFill>
                  <a:srgbClr val="FF0000"/>
                </a:solidFill>
                <a:latin typeface="+mj-ea"/>
                <a:ea typeface="+mj-ea"/>
              </a:rPr>
              <a:t>“现在我们还是把毛泽东同志已经提出、但是没有做的事情做起来，把他反对错了的改正过来，把他没有做好的事情做好。今后相当长的时候，还是做这件事。</a:t>
            </a:r>
            <a:r>
              <a:rPr lang="zh-CN" altLang="en-US" sz="2000" dirty="0" smtClean="0">
                <a:latin typeface="+mj-ea"/>
                <a:ea typeface="+mj-ea"/>
              </a:rPr>
              <a:t>当然，我们也有发展，而且还要继续发展”。这就指出了改革开放和中国特色社会主义道路是在什么样的基础上起步的。</a:t>
            </a:r>
            <a:endParaRPr lang="zh-CN" altLang="en-US" sz="2000" dirty="0">
              <a:latin typeface="+mj-ea"/>
              <a:ea typeface="+mj-ea"/>
            </a:endParaRPr>
          </a:p>
        </p:txBody>
      </p:sp>
    </p:spTree>
  </p:cSld>
  <p:clrMapOvr>
    <a:masterClrMapping/>
  </p:clrMapOvr>
  <p:transition spd="med">
    <p:wipe dir="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Text Box 2"/>
          <p:cNvSpPr txBox="1">
            <a:spLocks noChangeArrowheads="1"/>
          </p:cNvSpPr>
          <p:nvPr/>
        </p:nvSpPr>
        <p:spPr bwMode="auto">
          <a:xfrm>
            <a:off x="539552" y="548680"/>
            <a:ext cx="7992888" cy="5006179"/>
          </a:xfrm>
          <a:prstGeom prst="rect">
            <a:avLst/>
          </a:prstGeom>
          <a:solidFill>
            <a:schemeClr val="bg1"/>
          </a:solidFill>
          <a:ln w="9525">
            <a:solidFill>
              <a:srgbClr val="FF0000"/>
            </a:solidFill>
            <a:miter lim="800000"/>
            <a:headEnd/>
            <a:tailEnd/>
          </a:ln>
        </p:spPr>
        <p:txBody>
          <a:bodyPr wrap="square">
            <a:spAutoFit/>
          </a:bodyPr>
          <a:lstStyle/>
          <a:p>
            <a:pPr>
              <a:lnSpc>
                <a:spcPct val="150000"/>
              </a:lnSpc>
            </a:pPr>
            <a:r>
              <a:rPr lang="zh-CN" altLang="en-US" sz="2800" b="1" dirty="0">
                <a:solidFill>
                  <a:schemeClr val="folHlink"/>
                </a:solidFill>
                <a:latin typeface="黑体" pitchFamily="49" charset="-122"/>
                <a:ea typeface="黑体" pitchFamily="49" charset="-122"/>
              </a:rPr>
              <a:t>     </a:t>
            </a:r>
            <a:r>
              <a:rPr lang="zh-CN" altLang="en-US" sz="2800" b="1" dirty="0" smtClean="0">
                <a:solidFill>
                  <a:srgbClr val="0000FF"/>
                </a:solidFill>
                <a:latin typeface="黑体" pitchFamily="49" charset="-122"/>
                <a:ea typeface="黑体" pitchFamily="49" charset="-122"/>
              </a:rPr>
              <a:t>邓小平指出</a:t>
            </a:r>
            <a:r>
              <a:rPr lang="zh-CN" altLang="en-US" sz="2800" b="1" dirty="0" smtClean="0">
                <a:solidFill>
                  <a:srgbClr val="FF0000"/>
                </a:solidFill>
                <a:latin typeface="隶书" pitchFamily="49" charset="-122"/>
                <a:ea typeface="隶书" pitchFamily="49" charset="-122"/>
              </a:rPr>
              <a:t>：</a:t>
            </a:r>
            <a:endParaRPr lang="en-US" altLang="zh-CN" sz="2800" b="1" dirty="0" smtClean="0">
              <a:solidFill>
                <a:srgbClr val="FF0000"/>
              </a:solidFill>
              <a:latin typeface="隶书" pitchFamily="49" charset="-122"/>
              <a:ea typeface="隶书" pitchFamily="49" charset="-122"/>
            </a:endParaRPr>
          </a:p>
          <a:p>
            <a:pPr>
              <a:lnSpc>
                <a:spcPct val="150000"/>
              </a:lnSpc>
            </a:pPr>
            <a:r>
              <a:rPr lang="en-US" altLang="zh-CN" sz="2800" b="1" dirty="0" smtClean="0">
                <a:solidFill>
                  <a:srgbClr val="FF0000"/>
                </a:solidFill>
                <a:latin typeface="隶书" pitchFamily="49" charset="-122"/>
                <a:ea typeface="隶书" pitchFamily="49" charset="-122"/>
              </a:rPr>
              <a:t>    </a:t>
            </a:r>
            <a:r>
              <a:rPr lang="zh-CN" altLang="en-US" sz="2800" b="1" dirty="0" smtClean="0">
                <a:solidFill>
                  <a:srgbClr val="FF0000"/>
                </a:solidFill>
                <a:latin typeface="隶书" pitchFamily="49" charset="-122"/>
                <a:ea typeface="隶书" pitchFamily="49" charset="-122"/>
              </a:rPr>
              <a:t>“</a:t>
            </a:r>
            <a:r>
              <a:rPr lang="zh-CN" altLang="en-US" sz="2800" b="1" dirty="0">
                <a:solidFill>
                  <a:srgbClr val="FF0000"/>
                </a:solidFill>
                <a:latin typeface="隶书" pitchFamily="49" charset="-122"/>
                <a:ea typeface="隶书" pitchFamily="49" charset="-122"/>
              </a:rPr>
              <a:t>正确地评价毛泽东同志的历史功过、确立毛泽东思想的历史地位，关系到怎样看待党和国家过去几十年奋斗的成就，关系到党的团结、国家的安定，也关系到党和国家未来的发展道路。这是毛泽东同志逝世以后我们党遇到的一个全局性、紧迫的、至关重要的问题。”</a:t>
            </a:r>
            <a:r>
              <a:rPr lang="zh-CN" altLang="en-US" sz="2000" b="1" dirty="0">
                <a:solidFill>
                  <a:srgbClr val="FF0000"/>
                </a:solidFill>
                <a:latin typeface="楷体" pitchFamily="49" charset="-122"/>
                <a:ea typeface="楷体" pitchFamily="49" charset="-122"/>
              </a:rPr>
              <a:t>（</a:t>
            </a:r>
            <a:r>
              <a:rPr lang="zh-CN" altLang="en-US" sz="2000" b="1" dirty="0">
                <a:solidFill>
                  <a:srgbClr val="0000FF"/>
                </a:solidFill>
                <a:latin typeface="楷体" pitchFamily="49" charset="-122"/>
                <a:ea typeface="楷体" pitchFamily="49" charset="-122"/>
              </a:rPr>
              <a:t>《</a:t>
            </a:r>
            <a:r>
              <a:rPr lang="zh-CN" altLang="en-US" sz="2000" b="1" dirty="0">
                <a:solidFill>
                  <a:srgbClr val="0000FF"/>
                </a:solidFill>
                <a:latin typeface="黑体" pitchFamily="49" charset="-122"/>
                <a:ea typeface="黑体" pitchFamily="49" charset="-122"/>
              </a:rPr>
              <a:t>邓小平文选》第2卷第172页）</a:t>
            </a:r>
          </a:p>
        </p:txBody>
      </p:sp>
    </p:spTree>
  </p:cSld>
  <p:clrMapOvr>
    <a:masterClrMapping/>
  </p:clrMapOvr>
  <p:transition spd="med">
    <p:wipe dir="r"/>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Text Box 2"/>
          <p:cNvSpPr txBox="1">
            <a:spLocks noChangeArrowheads="1"/>
          </p:cNvSpPr>
          <p:nvPr/>
        </p:nvSpPr>
        <p:spPr bwMode="auto">
          <a:xfrm>
            <a:off x="642910" y="2214554"/>
            <a:ext cx="7858180" cy="1311128"/>
          </a:xfrm>
          <a:prstGeom prst="rect">
            <a:avLst/>
          </a:prstGeom>
          <a:solidFill>
            <a:schemeClr val="bg1"/>
          </a:solidFill>
          <a:ln w="9525">
            <a:solidFill>
              <a:srgbClr val="FF0000"/>
            </a:solidFill>
            <a:miter lim="800000"/>
            <a:headEnd/>
            <a:tailEnd/>
          </a:ln>
        </p:spPr>
        <p:txBody>
          <a:bodyPr wrap="square">
            <a:spAutoFit/>
          </a:bodyPr>
          <a:lstStyle/>
          <a:p>
            <a:pPr>
              <a:lnSpc>
                <a:spcPct val="110000"/>
              </a:lnSpc>
            </a:pPr>
            <a:r>
              <a:rPr lang="zh-CN" altLang="en-US" sz="3600" b="1" dirty="0" smtClean="0">
                <a:solidFill>
                  <a:srgbClr val="0000FF"/>
                </a:solidFill>
                <a:latin typeface="黑体" pitchFamily="49" charset="-122"/>
                <a:ea typeface="黑体" pitchFamily="49" charset="-122"/>
              </a:rPr>
              <a:t>毛泽东</a:t>
            </a:r>
            <a:r>
              <a:rPr lang="zh-CN" altLang="en-US" sz="3600" b="1" dirty="0">
                <a:solidFill>
                  <a:srgbClr val="0000FF"/>
                </a:solidFill>
                <a:latin typeface="黑体" pitchFamily="49" charset="-122"/>
                <a:ea typeface="黑体" pitchFamily="49" charset="-122"/>
              </a:rPr>
              <a:t>是伟大的</a:t>
            </a:r>
            <a:r>
              <a:rPr lang="zh-CN" altLang="en-US" sz="3600" b="1" dirty="0">
                <a:solidFill>
                  <a:srgbClr val="FF0000"/>
                </a:solidFill>
                <a:latin typeface="隶书" pitchFamily="49" charset="-122"/>
                <a:ea typeface="隶书" pitchFamily="49" charset="-122"/>
              </a:rPr>
              <a:t>马克思主义者</a:t>
            </a:r>
            <a:r>
              <a:rPr lang="zh-CN" altLang="en-US" sz="3600" b="1" dirty="0">
                <a:solidFill>
                  <a:srgbClr val="0000FF"/>
                </a:solidFill>
                <a:latin typeface="黑体" pitchFamily="49" charset="-122"/>
                <a:ea typeface="黑体" pitchFamily="49" charset="-122"/>
              </a:rPr>
              <a:t>、伟大的</a:t>
            </a:r>
            <a:r>
              <a:rPr lang="zh-CN" altLang="en-US" sz="3600" b="1" dirty="0">
                <a:solidFill>
                  <a:srgbClr val="FF0000"/>
                </a:solidFill>
                <a:latin typeface="隶书" pitchFamily="49" charset="-122"/>
                <a:ea typeface="隶书" pitchFamily="49" charset="-122"/>
              </a:rPr>
              <a:t>无产阶级革命家、战略家和理论家</a:t>
            </a:r>
            <a:r>
              <a:rPr lang="zh-CN" altLang="en-US" sz="3600" b="1" dirty="0" smtClean="0">
                <a:solidFill>
                  <a:srgbClr val="0000FF"/>
                </a:solidFill>
                <a:latin typeface="黑体" pitchFamily="49" charset="-122"/>
                <a:ea typeface="黑体" pitchFamily="49" charset="-122"/>
              </a:rPr>
              <a:t>。</a:t>
            </a:r>
            <a:r>
              <a:rPr lang="en-US" altLang="zh-CN" sz="3600" b="1" dirty="0" smtClean="0">
                <a:solidFill>
                  <a:srgbClr val="0000FF"/>
                </a:solidFill>
                <a:latin typeface="黑体" pitchFamily="49" charset="-122"/>
                <a:ea typeface="黑体" pitchFamily="49" charset="-122"/>
              </a:rPr>
              <a:t>    </a:t>
            </a:r>
            <a:endParaRPr lang="zh-CN" altLang="en-US" sz="3600" b="1" dirty="0">
              <a:solidFill>
                <a:srgbClr val="0000FF"/>
              </a:solidFill>
              <a:latin typeface="黑体" pitchFamily="49" charset="-122"/>
              <a:ea typeface="黑体" pitchFamily="49" charset="-122"/>
            </a:endParaRPr>
          </a:p>
        </p:txBody>
      </p:sp>
      <p:sp>
        <p:nvSpPr>
          <p:cNvPr id="2" name="矩形 1"/>
          <p:cNvSpPr/>
          <p:nvPr/>
        </p:nvSpPr>
        <p:spPr>
          <a:xfrm>
            <a:off x="500034" y="4000504"/>
            <a:ext cx="8208764" cy="2308324"/>
          </a:xfrm>
          <a:prstGeom prst="rect">
            <a:avLst/>
          </a:prstGeom>
          <a:solidFill>
            <a:schemeClr val="accent6">
              <a:lumMod val="20000"/>
              <a:lumOff val="80000"/>
            </a:schemeClr>
          </a:solidFill>
        </p:spPr>
        <p:txBody>
          <a:bodyPr wrap="square">
            <a:spAutoFit/>
          </a:bodyPr>
          <a:lstStyle/>
          <a:p>
            <a:pPr lvl="0">
              <a:lnSpc>
                <a:spcPct val="150000"/>
              </a:lnSpc>
            </a:pPr>
            <a:r>
              <a:rPr lang="zh-CN" altLang="en-US" sz="2400" b="1" dirty="0" smtClean="0">
                <a:solidFill>
                  <a:srgbClr val="3333FF"/>
                </a:solidFill>
                <a:latin typeface="黑体" pitchFamily="49" charset="-122"/>
                <a:ea typeface="黑体" pitchFamily="49" charset="-122"/>
              </a:rPr>
              <a:t>    他为</a:t>
            </a:r>
            <a:r>
              <a:rPr lang="zh-CN" altLang="en-US" sz="2400" b="1" dirty="0">
                <a:solidFill>
                  <a:srgbClr val="3333FF"/>
                </a:solidFill>
                <a:latin typeface="黑体" pitchFamily="49" charset="-122"/>
                <a:ea typeface="黑体" pitchFamily="49" charset="-122"/>
              </a:rPr>
              <a:t>中国共产党和中国人民解放军的创立和发展，为中国各族人民解放事业的胜利，为中华人民共和国的缔造和社会主义事业的发展，建立了不可磨灭的功勋，为世界被压迫民族的解放和人类进步事业作出了重大贡献。</a:t>
            </a:r>
          </a:p>
        </p:txBody>
      </p:sp>
      <p:sp>
        <p:nvSpPr>
          <p:cNvPr id="3" name="矩形 2"/>
          <p:cNvSpPr/>
          <p:nvPr/>
        </p:nvSpPr>
        <p:spPr>
          <a:xfrm>
            <a:off x="785786" y="571480"/>
            <a:ext cx="6715172" cy="627288"/>
          </a:xfrm>
          <a:prstGeom prst="rect">
            <a:avLst/>
          </a:prstGeom>
          <a:solidFill>
            <a:schemeClr val="bg2"/>
          </a:solidFill>
          <a:ln>
            <a:solidFill>
              <a:schemeClr val="accent1"/>
            </a:solidFill>
          </a:ln>
        </p:spPr>
        <p:txBody>
          <a:bodyPr wrap="square">
            <a:spAutoFit/>
          </a:bodyPr>
          <a:lstStyle/>
          <a:p>
            <a:pPr lvl="0">
              <a:lnSpc>
                <a:spcPct val="110000"/>
              </a:lnSpc>
            </a:pPr>
            <a:r>
              <a:rPr lang="zh-CN" altLang="en-US" sz="3600" b="1" dirty="0">
                <a:solidFill>
                  <a:srgbClr val="FF0000"/>
                </a:solidFill>
                <a:latin typeface="黑体" pitchFamily="49" charset="-122"/>
                <a:ea typeface="黑体" pitchFamily="49" charset="-122"/>
              </a:rPr>
              <a:t>党的十一届六中全会</a:t>
            </a:r>
            <a:r>
              <a:rPr lang="en-US" altLang="zh-CN" sz="3600" b="1" dirty="0">
                <a:solidFill>
                  <a:srgbClr val="FF0000"/>
                </a:solidFill>
                <a:latin typeface="黑体" pitchFamily="49" charset="-122"/>
                <a:ea typeface="黑体" pitchFamily="49" charset="-122"/>
              </a:rPr>
              <a:t>《</a:t>
            </a:r>
            <a:r>
              <a:rPr lang="zh-CN" altLang="en-US" sz="3600" b="1" dirty="0">
                <a:solidFill>
                  <a:srgbClr val="FF0000"/>
                </a:solidFill>
                <a:latin typeface="黑体" pitchFamily="49" charset="-122"/>
                <a:ea typeface="黑体" pitchFamily="49" charset="-122"/>
              </a:rPr>
              <a:t>决议</a:t>
            </a:r>
            <a:r>
              <a:rPr lang="en-US" altLang="zh-CN" sz="3600" b="1" dirty="0">
                <a:solidFill>
                  <a:srgbClr val="FF0000"/>
                </a:solidFill>
                <a:latin typeface="黑体" pitchFamily="49" charset="-122"/>
                <a:ea typeface="黑体" pitchFamily="49" charset="-122"/>
              </a:rPr>
              <a:t>》</a:t>
            </a:r>
            <a:r>
              <a:rPr lang="zh-CN" altLang="en-US" sz="3600" b="1" dirty="0">
                <a:solidFill>
                  <a:srgbClr val="FF0000"/>
                </a:solidFill>
                <a:latin typeface="黑体" pitchFamily="49" charset="-122"/>
                <a:ea typeface="黑体" pitchFamily="49" charset="-122"/>
              </a:rPr>
              <a:t>：</a:t>
            </a:r>
          </a:p>
        </p:txBody>
      </p:sp>
    </p:spTree>
  </p:cSld>
  <p:clrMapOvr>
    <a:masterClrMapping/>
  </p:clrMapOvr>
  <p:transition spd="med">
    <p:wipe dir="r"/>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Text Box 2"/>
          <p:cNvSpPr txBox="1">
            <a:spLocks noChangeArrowheads="1"/>
          </p:cNvSpPr>
          <p:nvPr/>
        </p:nvSpPr>
        <p:spPr bwMode="auto">
          <a:xfrm>
            <a:off x="971600" y="836712"/>
            <a:ext cx="7632700" cy="2677656"/>
          </a:xfrm>
          <a:prstGeom prst="rect">
            <a:avLst/>
          </a:prstGeom>
          <a:solidFill>
            <a:schemeClr val="bg1"/>
          </a:solidFill>
          <a:ln w="9525">
            <a:solidFill>
              <a:srgbClr val="FF0000"/>
            </a:solidFill>
            <a:miter lim="800000"/>
            <a:headEnd/>
            <a:tailEnd/>
          </a:ln>
        </p:spPr>
        <p:txBody>
          <a:bodyPr>
            <a:spAutoFit/>
          </a:bodyPr>
          <a:lstStyle/>
          <a:p>
            <a:r>
              <a:rPr lang="zh-CN" altLang="en-US" sz="2800" b="1" dirty="0">
                <a:solidFill>
                  <a:schemeClr val="folHlink"/>
                </a:solidFill>
                <a:latin typeface="+mn-ea"/>
              </a:rPr>
              <a:t>       </a:t>
            </a:r>
            <a:r>
              <a:rPr lang="zh-CN" altLang="en-US" sz="2800" b="1" dirty="0">
                <a:solidFill>
                  <a:srgbClr val="0000FF"/>
                </a:solidFill>
                <a:latin typeface="+mn-ea"/>
              </a:rPr>
              <a:t>由于在中国建设社会主义是一项崭新的实践，人们对如何走出一条适合中国国情的社会主义道路还缺少规律性认识，加上当时复杂严峻的国际环境的影响，我们党在社会主义建设道路的探索中发生过曲折。毛泽东晚年特别是在“文化大革命”中的确犯有严重错误</a:t>
            </a:r>
            <a:r>
              <a:rPr lang="zh-CN" altLang="en-US" sz="2800" b="1" dirty="0" smtClean="0">
                <a:solidFill>
                  <a:srgbClr val="0000FF"/>
                </a:solidFill>
                <a:latin typeface="+mn-ea"/>
              </a:rPr>
              <a:t>。     </a:t>
            </a:r>
            <a:endParaRPr lang="zh-CN" altLang="en-US" sz="2800" b="1" dirty="0">
              <a:solidFill>
                <a:srgbClr val="FF0000"/>
              </a:solidFill>
              <a:latin typeface="+mn-ea"/>
            </a:endParaRPr>
          </a:p>
        </p:txBody>
      </p:sp>
      <p:sp>
        <p:nvSpPr>
          <p:cNvPr id="2" name="矩形 1"/>
          <p:cNvSpPr/>
          <p:nvPr/>
        </p:nvSpPr>
        <p:spPr>
          <a:xfrm>
            <a:off x="995941" y="3861048"/>
            <a:ext cx="7344816" cy="1815882"/>
          </a:xfrm>
          <a:prstGeom prst="rect">
            <a:avLst/>
          </a:prstGeom>
          <a:solidFill>
            <a:schemeClr val="bg2"/>
          </a:solidFill>
          <a:ln>
            <a:solidFill>
              <a:schemeClr val="accent1"/>
            </a:solidFill>
          </a:ln>
        </p:spPr>
        <p:txBody>
          <a:bodyPr wrap="square">
            <a:spAutoFit/>
          </a:bodyPr>
          <a:lstStyle/>
          <a:p>
            <a:pPr lvl="0"/>
            <a:r>
              <a:rPr lang="zh-CN" altLang="en-US" sz="2800" b="1" dirty="0" smtClean="0">
                <a:solidFill>
                  <a:srgbClr val="0000FF"/>
                </a:solidFill>
                <a:latin typeface="华文楷体"/>
              </a:rPr>
              <a:t>        但是</a:t>
            </a:r>
            <a:r>
              <a:rPr lang="zh-CN" altLang="en-US" sz="2800" b="1" dirty="0">
                <a:solidFill>
                  <a:srgbClr val="0000FF"/>
                </a:solidFill>
                <a:latin typeface="华文楷体"/>
              </a:rPr>
              <a:t>就他的一生来看</a:t>
            </a:r>
            <a:r>
              <a:rPr lang="zh-CN" altLang="en-US" sz="2800" b="1" dirty="0">
                <a:solidFill>
                  <a:srgbClr val="FF0000"/>
                </a:solidFill>
                <a:latin typeface="华文楷体"/>
              </a:rPr>
              <a:t>，他的功绩远远大于他的过失。他的功绩是第一位的，错误是第二位的。</a:t>
            </a:r>
            <a:r>
              <a:rPr lang="zh-CN" altLang="en-US" sz="2800" b="1" dirty="0">
                <a:solidFill>
                  <a:srgbClr val="0000FF"/>
                </a:solidFill>
                <a:latin typeface="华文楷体"/>
              </a:rPr>
              <a:t>他的错误是一个</a:t>
            </a:r>
            <a:r>
              <a:rPr lang="zh-CN" altLang="en-US" sz="2800" b="1" dirty="0">
                <a:solidFill>
                  <a:srgbClr val="FF0000"/>
                </a:solidFill>
                <a:latin typeface="华文楷体"/>
              </a:rPr>
              <a:t>伟大的革命家、一个伟大的马克思主义者所犯的错误。</a:t>
            </a:r>
          </a:p>
        </p:txBody>
      </p:sp>
    </p:spTree>
  </p:cSld>
  <p:clrMapOvr>
    <a:masterClrMapping/>
  </p:clrMapOvr>
  <p:transition spd="med">
    <p:wipe dir="r"/>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Text Box 2"/>
          <p:cNvSpPr txBox="1">
            <a:spLocks noChangeArrowheads="1"/>
          </p:cNvSpPr>
          <p:nvPr/>
        </p:nvSpPr>
        <p:spPr bwMode="auto">
          <a:xfrm>
            <a:off x="1043608" y="1124744"/>
            <a:ext cx="6781800" cy="3564053"/>
          </a:xfrm>
          <a:prstGeom prst="rect">
            <a:avLst/>
          </a:prstGeom>
          <a:solidFill>
            <a:schemeClr val="bg1"/>
          </a:solidFill>
          <a:ln w="9525">
            <a:solidFill>
              <a:srgbClr val="FF0000"/>
            </a:solidFill>
            <a:miter lim="800000"/>
            <a:headEnd/>
            <a:tailEnd/>
          </a:ln>
        </p:spPr>
        <p:txBody>
          <a:bodyPr>
            <a:spAutoFit/>
          </a:bodyPr>
          <a:lstStyle/>
          <a:p>
            <a:pPr>
              <a:lnSpc>
                <a:spcPct val="120000"/>
              </a:lnSpc>
            </a:pPr>
            <a:r>
              <a:rPr lang="zh-CN" altLang="en-US" sz="2800" b="1" dirty="0">
                <a:solidFill>
                  <a:schemeClr val="folHlink"/>
                </a:solidFill>
                <a:latin typeface="黑体" pitchFamily="49" charset="-122"/>
                <a:ea typeface="黑体" pitchFamily="49" charset="-122"/>
              </a:rPr>
              <a:t>     </a:t>
            </a:r>
            <a:r>
              <a:rPr lang="zh-CN" altLang="en-US" sz="2800" b="1" dirty="0" smtClean="0">
                <a:solidFill>
                  <a:srgbClr val="0000FF"/>
                </a:solidFill>
                <a:latin typeface="黑体" pitchFamily="49" charset="-122"/>
                <a:ea typeface="黑体" pitchFamily="49" charset="-122"/>
              </a:rPr>
              <a:t>邓小平</a:t>
            </a:r>
            <a:r>
              <a:rPr lang="zh-CN" altLang="en-US" sz="2800" b="1" dirty="0">
                <a:solidFill>
                  <a:srgbClr val="0000FF"/>
                </a:solidFill>
                <a:latin typeface="黑体" pitchFamily="49" charset="-122"/>
                <a:ea typeface="黑体" pitchFamily="49" charset="-122"/>
              </a:rPr>
              <a:t>指出：</a:t>
            </a:r>
            <a:r>
              <a:rPr lang="zh-CN" altLang="en-US" sz="2800" b="1" dirty="0">
                <a:solidFill>
                  <a:srgbClr val="FF0000"/>
                </a:solidFill>
                <a:latin typeface="隶书" pitchFamily="49" charset="-122"/>
                <a:ea typeface="隶书" pitchFamily="49" charset="-122"/>
              </a:rPr>
              <a:t>“如果没有毛泽东同志的卓越领导，中国革命有极大的可能到现在还没有胜利，那样，中国各族人民就还处在帝国主义、封建主义、官僚资本主义的反动统治之下，我们党还在黑暗中苦斗。”     </a:t>
            </a:r>
            <a:r>
              <a:rPr lang="zh-CN" altLang="en-US" sz="2000" b="1" dirty="0">
                <a:solidFill>
                  <a:srgbClr val="0000FF"/>
                </a:solidFill>
                <a:latin typeface="黑体" pitchFamily="49" charset="-122"/>
                <a:ea typeface="黑体" pitchFamily="49" charset="-122"/>
              </a:rPr>
              <a:t>（转引自《十六大以来重要文献选编》上卷第642页）</a:t>
            </a:r>
          </a:p>
        </p:txBody>
      </p:sp>
    </p:spTree>
  </p:cSld>
  <p:clrMapOvr>
    <a:masterClrMapping/>
  </p:clrMapOvr>
  <p:transition spd="med">
    <p:wipe dir="r"/>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Text Box 2"/>
          <p:cNvSpPr txBox="1">
            <a:spLocks noChangeArrowheads="1"/>
          </p:cNvSpPr>
          <p:nvPr/>
        </p:nvSpPr>
        <p:spPr bwMode="auto">
          <a:xfrm>
            <a:off x="571500" y="260350"/>
            <a:ext cx="8001000" cy="6454652"/>
          </a:xfrm>
          <a:prstGeom prst="rect">
            <a:avLst/>
          </a:prstGeom>
          <a:solidFill>
            <a:schemeClr val="bg1"/>
          </a:solidFill>
          <a:ln w="9525">
            <a:solidFill>
              <a:srgbClr val="FF0000"/>
            </a:solidFill>
            <a:miter lim="800000"/>
            <a:headEnd/>
            <a:tailEnd/>
          </a:ln>
        </p:spPr>
        <p:txBody>
          <a:bodyPr>
            <a:spAutoFit/>
          </a:bodyPr>
          <a:lstStyle/>
          <a:p>
            <a:pPr>
              <a:lnSpc>
                <a:spcPct val="150000"/>
              </a:lnSpc>
            </a:pPr>
            <a:r>
              <a:rPr lang="zh-CN" altLang="en-US" sz="2800" b="1" dirty="0">
                <a:solidFill>
                  <a:schemeClr val="folHlink"/>
                </a:solidFill>
                <a:latin typeface="黑体" pitchFamily="49" charset="-122"/>
                <a:ea typeface="黑体" pitchFamily="49" charset="-122"/>
              </a:rPr>
              <a:t>       </a:t>
            </a:r>
            <a:r>
              <a:rPr lang="zh-CN" altLang="en-US" sz="2800" b="1" dirty="0">
                <a:solidFill>
                  <a:srgbClr val="FF0000"/>
                </a:solidFill>
                <a:latin typeface="黑体" pitchFamily="49" charset="-122"/>
                <a:ea typeface="黑体" pitchFamily="49" charset="-122"/>
              </a:rPr>
              <a:t>江泽民</a:t>
            </a:r>
            <a:r>
              <a:rPr lang="zh-CN" altLang="en-US" sz="2800" b="1" dirty="0">
                <a:solidFill>
                  <a:srgbClr val="0000FF"/>
                </a:solidFill>
                <a:latin typeface="黑体" pitchFamily="49" charset="-122"/>
                <a:ea typeface="黑体" pitchFamily="49" charset="-122"/>
              </a:rPr>
              <a:t>在毛泽东诞辰100周年纪念大会上的讲话中指出：</a:t>
            </a:r>
            <a:endParaRPr lang="en-US" altLang="zh-CN" sz="2800" b="1" dirty="0">
              <a:solidFill>
                <a:srgbClr val="0000FF"/>
              </a:solidFill>
              <a:latin typeface="黑体" pitchFamily="49" charset="-122"/>
              <a:ea typeface="黑体" pitchFamily="49" charset="-122"/>
            </a:endParaRPr>
          </a:p>
          <a:p>
            <a:pPr>
              <a:lnSpc>
                <a:spcPct val="150000"/>
              </a:lnSpc>
            </a:pPr>
            <a:r>
              <a:rPr lang="en-US" altLang="zh-CN" sz="2800" b="1" dirty="0">
                <a:solidFill>
                  <a:srgbClr val="0000FF"/>
                </a:solidFill>
                <a:latin typeface="黑体" pitchFamily="49" charset="-122"/>
                <a:ea typeface="黑体" pitchFamily="49" charset="-122"/>
              </a:rPr>
              <a:t>    </a:t>
            </a:r>
            <a:r>
              <a:rPr lang="zh-CN" altLang="en-US" sz="2800" b="1" dirty="0">
                <a:solidFill>
                  <a:srgbClr val="FF0000"/>
                </a:solidFill>
                <a:latin typeface="隶书" pitchFamily="49" charset="-122"/>
                <a:ea typeface="隶书" pitchFamily="49" charset="-122"/>
              </a:rPr>
              <a:t>“毛泽东同志在艰苦漫长的革命岁月中，表现出一个革命领袖高瞻远瞩的政治远见、坚定不移的革命信念、得心应手的斗争艺术和驾驭全局的领导才能。他是从人民群众中成长起来的伟大领袖，永远属于人民。毛泽东同志的革命精神具有强大的凝聚力，他的伟大品格具有动人的感染力，他的科学思想具有非凡的号召力。</a:t>
            </a:r>
            <a:r>
              <a:rPr lang="zh-CN" altLang="en-US" sz="2800" b="1" dirty="0" smtClean="0">
                <a:solidFill>
                  <a:srgbClr val="FF0000"/>
                </a:solidFill>
                <a:latin typeface="隶书" pitchFamily="49" charset="-122"/>
                <a:ea typeface="隶书" pitchFamily="49" charset="-122"/>
              </a:rPr>
              <a:t>”</a:t>
            </a:r>
            <a:endParaRPr lang="en-US" altLang="zh-CN" sz="2800" b="1" dirty="0" smtClean="0">
              <a:solidFill>
                <a:srgbClr val="FF0000"/>
              </a:solidFill>
              <a:latin typeface="隶书" pitchFamily="49" charset="-122"/>
              <a:ea typeface="隶书" pitchFamily="49" charset="-122"/>
            </a:endParaRPr>
          </a:p>
          <a:p>
            <a:pPr>
              <a:lnSpc>
                <a:spcPct val="150000"/>
              </a:lnSpc>
            </a:pPr>
            <a:r>
              <a:rPr lang="en-US" altLang="zh-CN" sz="2800" b="1" dirty="0" smtClean="0">
                <a:solidFill>
                  <a:srgbClr val="FF0000"/>
                </a:solidFill>
                <a:latin typeface="隶书" pitchFamily="49" charset="-122"/>
                <a:ea typeface="隶书" pitchFamily="49" charset="-122"/>
              </a:rPr>
              <a:t>        </a:t>
            </a:r>
            <a:r>
              <a:rPr lang="zh-CN" altLang="en-US" sz="2000" b="1" dirty="0" smtClean="0">
                <a:solidFill>
                  <a:srgbClr val="0000FF"/>
                </a:solidFill>
                <a:latin typeface="黑体" pitchFamily="49" charset="-122"/>
                <a:ea typeface="黑体" pitchFamily="49" charset="-122"/>
              </a:rPr>
              <a:t>（</a:t>
            </a:r>
            <a:r>
              <a:rPr lang="zh-CN" altLang="en-US" sz="2000" b="1" dirty="0">
                <a:solidFill>
                  <a:srgbClr val="0000FF"/>
                </a:solidFill>
                <a:latin typeface="黑体" pitchFamily="49" charset="-122"/>
                <a:ea typeface="黑体" pitchFamily="49" charset="-122"/>
              </a:rPr>
              <a:t>《江泽民文选》第1卷第347页）</a:t>
            </a:r>
          </a:p>
        </p:txBody>
      </p:sp>
    </p:spTree>
  </p:cSld>
  <p:clrMapOvr>
    <a:masterClrMapping/>
  </p:clrMapOvr>
  <p:transition spd="med">
    <p:wipe dir="r"/>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Text Box 2"/>
          <p:cNvSpPr txBox="1">
            <a:spLocks noChangeArrowheads="1"/>
          </p:cNvSpPr>
          <p:nvPr/>
        </p:nvSpPr>
        <p:spPr bwMode="auto">
          <a:xfrm>
            <a:off x="1143000" y="1071563"/>
            <a:ext cx="6934200" cy="4515660"/>
          </a:xfrm>
          <a:prstGeom prst="rect">
            <a:avLst/>
          </a:prstGeom>
          <a:solidFill>
            <a:schemeClr val="bg1"/>
          </a:solidFill>
          <a:ln w="9525">
            <a:solidFill>
              <a:srgbClr val="FF0000"/>
            </a:solidFill>
            <a:miter lim="800000"/>
            <a:headEnd/>
            <a:tailEnd/>
          </a:ln>
        </p:spPr>
        <p:txBody>
          <a:bodyPr>
            <a:spAutoFit/>
          </a:bodyPr>
          <a:lstStyle/>
          <a:p>
            <a:pPr>
              <a:lnSpc>
                <a:spcPct val="150000"/>
              </a:lnSpc>
            </a:pPr>
            <a:r>
              <a:rPr lang="zh-CN" altLang="en-US" sz="2800" b="1" dirty="0">
                <a:solidFill>
                  <a:schemeClr val="folHlink"/>
                </a:solidFill>
                <a:latin typeface="黑体" pitchFamily="49" charset="-122"/>
                <a:ea typeface="黑体" pitchFamily="49" charset="-122"/>
              </a:rPr>
              <a:t>       </a:t>
            </a:r>
            <a:r>
              <a:rPr lang="zh-CN" altLang="en-US" sz="2800" b="1" dirty="0">
                <a:solidFill>
                  <a:srgbClr val="0000FF"/>
                </a:solidFill>
                <a:latin typeface="黑体" pitchFamily="49" charset="-122"/>
                <a:ea typeface="黑体" pitchFamily="49" charset="-122"/>
              </a:rPr>
              <a:t>胡锦涛在纪念毛泽东诞辰110周年大会上的讲话中也指出：</a:t>
            </a:r>
            <a:r>
              <a:rPr lang="zh-CN" altLang="en-US" sz="2800" b="1" dirty="0">
                <a:solidFill>
                  <a:srgbClr val="FF0000"/>
                </a:solidFill>
                <a:latin typeface="隶书" pitchFamily="49" charset="-122"/>
                <a:ea typeface="隶书" pitchFamily="49" charset="-122"/>
              </a:rPr>
              <a:t>“毛泽东同志的革命实践和光辉业绩已经载入中华民族的史册。他的名字、他的思想、他的精神，将永远鼓舞着我们继续推动中国社会向前发展。”</a:t>
            </a:r>
            <a:endParaRPr lang="en-US" altLang="zh-CN" sz="2800" b="1" dirty="0">
              <a:solidFill>
                <a:srgbClr val="FF0000"/>
              </a:solidFill>
              <a:latin typeface="隶书" pitchFamily="49" charset="-122"/>
              <a:ea typeface="隶书" pitchFamily="49" charset="-122"/>
            </a:endParaRPr>
          </a:p>
          <a:p>
            <a:pPr>
              <a:lnSpc>
                <a:spcPct val="150000"/>
              </a:lnSpc>
            </a:pPr>
            <a:r>
              <a:rPr lang="en-US" altLang="zh-CN" sz="2800" b="1" dirty="0">
                <a:solidFill>
                  <a:srgbClr val="FF0000"/>
                </a:solidFill>
                <a:latin typeface="隶书" pitchFamily="49" charset="-122"/>
                <a:ea typeface="隶书" pitchFamily="49" charset="-122"/>
              </a:rPr>
              <a:t>    </a:t>
            </a:r>
            <a:r>
              <a:rPr lang="zh-CN" altLang="en-US" sz="2000" b="1" dirty="0">
                <a:solidFill>
                  <a:srgbClr val="0000FF"/>
                </a:solidFill>
                <a:latin typeface="黑体" pitchFamily="49" charset="-122"/>
                <a:ea typeface="黑体" pitchFamily="49" charset="-122"/>
              </a:rPr>
              <a:t>（《十六大以来重要文献选编》上卷第642页）</a:t>
            </a:r>
          </a:p>
        </p:txBody>
      </p:sp>
    </p:spTree>
  </p:cSld>
  <p:clrMapOvr>
    <a:masterClrMapping/>
  </p:clrMapOvr>
  <p:transition spd="med">
    <p:wipe dir="r"/>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ChangeArrowheads="1"/>
          </p:cNvSpPr>
          <p:nvPr/>
        </p:nvSpPr>
        <p:spPr bwMode="auto">
          <a:xfrm>
            <a:off x="467544" y="1916832"/>
            <a:ext cx="8101013" cy="3869329"/>
          </a:xfrm>
          <a:prstGeom prst="rect">
            <a:avLst/>
          </a:prstGeom>
          <a:solidFill>
            <a:schemeClr val="bg1"/>
          </a:solidFill>
          <a:ln w="9525">
            <a:solidFill>
              <a:srgbClr val="FF0000"/>
            </a:solidFill>
            <a:miter lim="800000"/>
            <a:headEnd/>
            <a:tailEnd/>
          </a:ln>
          <a:effectLst>
            <a:prstShdw prst="shdw13" dist="53882" dir="13500000">
              <a:schemeClr val="bg2">
                <a:alpha val="50000"/>
              </a:schemeClr>
            </a:prstShdw>
          </a:effectLst>
        </p:spPr>
        <p:txBody>
          <a:bodyPr anchor="ctr">
            <a:spAutoFit/>
          </a:bodyPr>
          <a:lstStyle/>
          <a:p>
            <a:pPr eaLnBrk="0" hangingPunct="0">
              <a:lnSpc>
                <a:spcPct val="150000"/>
              </a:lnSpc>
            </a:pPr>
            <a:r>
              <a:rPr lang="zh-CN" altLang="en-US" sz="2800" b="1" dirty="0">
                <a:solidFill>
                  <a:srgbClr val="0000FF"/>
                </a:solidFill>
                <a:latin typeface="黑体" pitchFamily="49" charset="-122"/>
                <a:ea typeface="黑体" pitchFamily="49" charset="-122"/>
              </a:rPr>
              <a:t>毛泽东同志是伟大的</a:t>
            </a:r>
            <a:r>
              <a:rPr lang="zh-CN" altLang="en-US" sz="2800" b="1" dirty="0">
                <a:solidFill>
                  <a:srgbClr val="FF0000"/>
                </a:solidFill>
                <a:latin typeface="隶书" pitchFamily="49" charset="-122"/>
                <a:ea typeface="隶书" pitchFamily="49" charset="-122"/>
              </a:rPr>
              <a:t>马克思主义者</a:t>
            </a:r>
            <a:r>
              <a:rPr lang="zh-CN" altLang="en-US" sz="2800" b="1" dirty="0">
                <a:solidFill>
                  <a:srgbClr val="0000FF"/>
                </a:solidFill>
                <a:latin typeface="隶书" pitchFamily="49" charset="-122"/>
                <a:ea typeface="隶书" pitchFamily="49" charset="-122"/>
              </a:rPr>
              <a:t>，</a:t>
            </a:r>
            <a:r>
              <a:rPr lang="zh-CN" altLang="en-US" sz="2800" b="1" dirty="0">
                <a:solidFill>
                  <a:srgbClr val="00B050"/>
                </a:solidFill>
                <a:latin typeface="隶书" pitchFamily="49" charset="-122"/>
                <a:ea typeface="隶书" pitchFamily="49" charset="-122"/>
              </a:rPr>
              <a:t>伟大的无产阶级革命家、战略家、理论家</a:t>
            </a:r>
            <a:r>
              <a:rPr lang="zh-CN" altLang="en-US" sz="2800" b="1" dirty="0">
                <a:solidFill>
                  <a:srgbClr val="FF0000"/>
                </a:solidFill>
                <a:latin typeface="隶书" pitchFamily="49" charset="-122"/>
                <a:ea typeface="隶书" pitchFamily="49" charset="-122"/>
              </a:rPr>
              <a:t>，是马克思主义中国化的伟大开拓者，是近代以来中国伟大的爱国者和</a:t>
            </a:r>
            <a:r>
              <a:rPr lang="zh-CN" altLang="en-US" sz="2800" b="1" dirty="0">
                <a:solidFill>
                  <a:srgbClr val="DE12A4"/>
                </a:solidFill>
                <a:latin typeface="隶书" pitchFamily="49" charset="-122"/>
                <a:ea typeface="隶书" pitchFamily="49" charset="-122"/>
              </a:rPr>
              <a:t>民族英雄</a:t>
            </a:r>
            <a:r>
              <a:rPr lang="zh-CN" altLang="en-US" sz="2800" b="1" dirty="0">
                <a:solidFill>
                  <a:srgbClr val="0000FF"/>
                </a:solidFill>
                <a:latin typeface="隶书" pitchFamily="49" charset="-122"/>
                <a:ea typeface="隶书" pitchFamily="49" charset="-122"/>
              </a:rPr>
              <a:t>，</a:t>
            </a:r>
            <a:r>
              <a:rPr lang="zh-CN" altLang="en-US" sz="2800" b="1" dirty="0">
                <a:solidFill>
                  <a:srgbClr val="DE12A4"/>
                </a:solidFill>
                <a:latin typeface="隶书" pitchFamily="49" charset="-122"/>
                <a:ea typeface="隶书" pitchFamily="49" charset="-122"/>
              </a:rPr>
              <a:t>是党的第一代中央领导集体的核心</a:t>
            </a:r>
            <a:r>
              <a:rPr lang="zh-CN" altLang="en-US" sz="2800" b="1" dirty="0">
                <a:solidFill>
                  <a:srgbClr val="0000FF"/>
                </a:solidFill>
                <a:latin typeface="隶书" pitchFamily="49" charset="-122"/>
                <a:ea typeface="隶书" pitchFamily="49" charset="-122"/>
              </a:rPr>
              <a:t>，是领导中国人民彻底改变自己命运和国家面貌的</a:t>
            </a:r>
            <a:r>
              <a:rPr lang="zh-CN" altLang="en-US" sz="2800" b="1" dirty="0">
                <a:solidFill>
                  <a:srgbClr val="DE12A4"/>
                </a:solidFill>
                <a:latin typeface="隶书" pitchFamily="49" charset="-122"/>
                <a:ea typeface="隶书" pitchFamily="49" charset="-122"/>
              </a:rPr>
              <a:t>一代伟人</a:t>
            </a:r>
            <a:r>
              <a:rPr lang="zh-CN" altLang="en-US" sz="2800" b="1" dirty="0">
                <a:solidFill>
                  <a:srgbClr val="FF0000"/>
                </a:solidFill>
                <a:latin typeface="隶书" pitchFamily="49" charset="-122"/>
                <a:ea typeface="隶书" pitchFamily="49" charset="-122"/>
              </a:rPr>
              <a:t>。</a:t>
            </a:r>
          </a:p>
        </p:txBody>
      </p:sp>
      <p:sp>
        <p:nvSpPr>
          <p:cNvPr id="3" name="矩形 2"/>
          <p:cNvSpPr/>
          <p:nvPr/>
        </p:nvSpPr>
        <p:spPr>
          <a:xfrm>
            <a:off x="428596" y="642918"/>
            <a:ext cx="8286808" cy="646331"/>
          </a:xfrm>
          <a:prstGeom prst="rect">
            <a:avLst/>
          </a:prstGeom>
          <a:solidFill>
            <a:schemeClr val="bg1"/>
          </a:solidFill>
          <a:ln>
            <a:solidFill>
              <a:srgbClr val="FF0000"/>
            </a:solidFill>
          </a:ln>
        </p:spPr>
        <p:txBody>
          <a:bodyPr>
            <a:spAutoFit/>
          </a:bodyPr>
          <a:lstStyle/>
          <a:p>
            <a:pPr algn="ctr">
              <a:defRPr/>
            </a:pPr>
            <a:r>
              <a:rPr lang="zh-CN" altLang="en-US" sz="3600" spc="50" dirty="0">
                <a:ln w="12700" cmpd="sng">
                  <a:solidFill>
                    <a:schemeClr val="accent6">
                      <a:satMod val="120000"/>
                      <a:shade val="80000"/>
                    </a:schemeClr>
                  </a:solidFill>
                  <a:prstDash val="solid"/>
                </a:ln>
                <a:effectLst>
                  <a:glow rad="53100">
                    <a:schemeClr val="accent6">
                      <a:satMod val="180000"/>
                      <a:alpha val="30000"/>
                    </a:schemeClr>
                  </a:glow>
                </a:effectLst>
                <a:latin typeface="+mj-ea"/>
                <a:ea typeface="+mj-ea"/>
              </a:rPr>
              <a:t>习近平：三者三家一英雄一核心一伟人</a:t>
            </a:r>
          </a:p>
        </p:txBody>
      </p:sp>
    </p:spTree>
  </p:cSld>
  <p:clrMapOvr>
    <a:masterClrMapping/>
  </p:clrMapOvr>
  <p:transition spd="med">
    <p:wipe dir="r"/>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28596" y="642918"/>
            <a:ext cx="8286808" cy="646331"/>
          </a:xfrm>
          <a:prstGeom prst="rect">
            <a:avLst/>
          </a:prstGeom>
          <a:solidFill>
            <a:schemeClr val="bg1"/>
          </a:solidFill>
          <a:ln>
            <a:solidFill>
              <a:srgbClr val="FF0000"/>
            </a:solidFill>
          </a:ln>
        </p:spPr>
        <p:txBody>
          <a:bodyPr>
            <a:spAutoFit/>
          </a:bodyPr>
          <a:lstStyle/>
          <a:p>
            <a:pPr algn="ctr">
              <a:defRPr/>
            </a:pPr>
            <a:r>
              <a:rPr lang="zh-CN" altLang="en-US" sz="3600" spc="50" dirty="0">
                <a:ln w="12700" cmpd="sng">
                  <a:solidFill>
                    <a:schemeClr val="accent6">
                      <a:satMod val="120000"/>
                      <a:shade val="80000"/>
                    </a:schemeClr>
                  </a:solidFill>
                  <a:prstDash val="solid"/>
                </a:ln>
                <a:solidFill>
                  <a:srgbClr val="00B050"/>
                </a:solidFill>
                <a:effectLst>
                  <a:glow rad="53100">
                    <a:schemeClr val="accent6">
                      <a:satMod val="180000"/>
                      <a:alpha val="30000"/>
                    </a:schemeClr>
                  </a:glow>
                </a:effectLst>
                <a:latin typeface="+mj-ea"/>
                <a:ea typeface="+mj-ea"/>
              </a:rPr>
              <a:t>习近平：三者三家一英雄一核心一伟人</a:t>
            </a:r>
          </a:p>
        </p:txBody>
      </p:sp>
      <p:sp>
        <p:nvSpPr>
          <p:cNvPr id="165891" name="矩形 3"/>
          <p:cNvSpPr>
            <a:spLocks noChangeArrowheads="1"/>
          </p:cNvSpPr>
          <p:nvPr/>
        </p:nvSpPr>
        <p:spPr bwMode="auto">
          <a:xfrm>
            <a:off x="251520" y="3212976"/>
            <a:ext cx="1891605" cy="461665"/>
          </a:xfrm>
          <a:prstGeom prst="rect">
            <a:avLst/>
          </a:prstGeom>
          <a:solidFill>
            <a:schemeClr val="bg1"/>
          </a:solidFill>
          <a:ln w="9525">
            <a:solidFill>
              <a:srgbClr val="FF0000"/>
            </a:solidFill>
            <a:miter lim="800000"/>
            <a:headEnd/>
            <a:tailEnd/>
          </a:ln>
        </p:spPr>
        <p:txBody>
          <a:bodyPr wrap="square">
            <a:spAutoFit/>
          </a:bodyPr>
          <a:lstStyle/>
          <a:p>
            <a:r>
              <a:rPr lang="zh-CN" altLang="en-US" sz="2400">
                <a:solidFill>
                  <a:srgbClr val="FF0000"/>
                </a:solidFill>
                <a:latin typeface="+mj-ea"/>
                <a:ea typeface="+mj-ea"/>
              </a:rPr>
              <a:t>毛泽东同志</a:t>
            </a:r>
          </a:p>
        </p:txBody>
      </p:sp>
      <p:sp>
        <p:nvSpPr>
          <p:cNvPr id="5" name="矩形 4"/>
          <p:cNvSpPr/>
          <p:nvPr/>
        </p:nvSpPr>
        <p:spPr bwMode="auto">
          <a:xfrm>
            <a:off x="3143250" y="1500188"/>
            <a:ext cx="1500188" cy="1214437"/>
          </a:xfrm>
          <a:prstGeom prst="rect">
            <a:avLst/>
          </a:prstGeom>
          <a:solidFill>
            <a:schemeClr val="bg1"/>
          </a:solidFill>
          <a:ln w="9525" cap="flat" cmpd="sng" algn="ctr">
            <a:solidFill>
              <a:schemeClr val="tx1"/>
            </a:solidFill>
            <a:prstDash val="solid"/>
            <a:round/>
            <a:headEnd type="none" w="med" len="med"/>
            <a:tailEnd type="none" w="med" len="med"/>
          </a:ln>
          <a:effectLst>
            <a:outerShdw dist="53882" dir="13500000" algn="ctr" rotWithShape="0">
              <a:schemeClr val="bg2">
                <a:alpha val="50000"/>
              </a:schemeClr>
            </a:outerShdw>
          </a:effectLst>
        </p:spPr>
        <p:txBody>
          <a:bodyPr/>
          <a:lstStyle/>
          <a:p>
            <a:pPr eaLnBrk="0" hangingPunct="0">
              <a:defRPr/>
            </a:pPr>
            <a:r>
              <a:rPr lang="zh-CN" altLang="en-US" sz="2400" dirty="0">
                <a:solidFill>
                  <a:srgbClr val="FF0000"/>
                </a:solidFill>
                <a:latin typeface="隶书" pitchFamily="49" charset="-122"/>
                <a:ea typeface="隶书" pitchFamily="49" charset="-122"/>
              </a:rPr>
              <a:t>伟大的马克思主义者</a:t>
            </a:r>
          </a:p>
        </p:txBody>
      </p:sp>
      <p:sp>
        <p:nvSpPr>
          <p:cNvPr id="6" name="矩形 5"/>
          <p:cNvSpPr/>
          <p:nvPr/>
        </p:nvSpPr>
        <p:spPr bwMode="auto">
          <a:xfrm>
            <a:off x="6429375" y="1500188"/>
            <a:ext cx="1643063" cy="1214437"/>
          </a:xfrm>
          <a:prstGeom prst="rect">
            <a:avLst/>
          </a:prstGeom>
          <a:solidFill>
            <a:schemeClr val="bg1"/>
          </a:solidFill>
          <a:ln w="9525" cap="flat" cmpd="sng" algn="ctr">
            <a:solidFill>
              <a:schemeClr val="tx1"/>
            </a:solidFill>
            <a:prstDash val="solid"/>
            <a:round/>
            <a:headEnd type="none" w="med" len="med"/>
            <a:tailEnd type="none" w="med" len="med"/>
          </a:ln>
          <a:effectLst>
            <a:outerShdw dist="53882" dir="13500000" algn="ctr" rotWithShape="0">
              <a:schemeClr val="bg2">
                <a:alpha val="50000"/>
              </a:schemeClr>
            </a:outerShdw>
          </a:effectLst>
        </p:spPr>
        <p:txBody>
          <a:bodyPr/>
          <a:lstStyle/>
          <a:p>
            <a:pPr eaLnBrk="0" hangingPunct="0">
              <a:defRPr/>
            </a:pPr>
            <a:r>
              <a:rPr lang="zh-CN" altLang="en-US" sz="2400" dirty="0">
                <a:solidFill>
                  <a:srgbClr val="FF0000"/>
                </a:solidFill>
                <a:latin typeface="隶书" pitchFamily="49" charset="-122"/>
                <a:ea typeface="隶书" pitchFamily="49" charset="-122"/>
              </a:rPr>
              <a:t>近代以来中国伟大的爱国者</a:t>
            </a:r>
          </a:p>
        </p:txBody>
      </p:sp>
      <p:sp>
        <p:nvSpPr>
          <p:cNvPr id="7" name="矩形 6"/>
          <p:cNvSpPr/>
          <p:nvPr/>
        </p:nvSpPr>
        <p:spPr bwMode="auto">
          <a:xfrm>
            <a:off x="4714875" y="1500188"/>
            <a:ext cx="1643063" cy="1214437"/>
          </a:xfrm>
          <a:prstGeom prst="rect">
            <a:avLst/>
          </a:prstGeom>
          <a:solidFill>
            <a:schemeClr val="bg1"/>
          </a:solidFill>
          <a:ln w="9525" cap="flat" cmpd="sng" algn="ctr">
            <a:solidFill>
              <a:schemeClr val="tx1"/>
            </a:solidFill>
            <a:prstDash val="solid"/>
            <a:round/>
            <a:headEnd type="none" w="med" len="med"/>
            <a:tailEnd type="none" w="med" len="med"/>
          </a:ln>
          <a:effectLst>
            <a:outerShdw dist="53882" dir="13500000" algn="ctr" rotWithShape="0">
              <a:schemeClr val="bg2">
                <a:alpha val="50000"/>
              </a:schemeClr>
            </a:outerShdw>
          </a:effectLst>
        </p:spPr>
        <p:txBody>
          <a:bodyPr/>
          <a:lstStyle/>
          <a:p>
            <a:pPr eaLnBrk="0" hangingPunct="0">
              <a:defRPr/>
            </a:pPr>
            <a:r>
              <a:rPr lang="zh-CN" altLang="en-US" sz="2400" dirty="0">
                <a:solidFill>
                  <a:srgbClr val="FF0000"/>
                </a:solidFill>
                <a:latin typeface="隶书" pitchFamily="49" charset="-122"/>
                <a:ea typeface="隶书" pitchFamily="49" charset="-122"/>
              </a:rPr>
              <a:t>马克思主义中国化的开拓者</a:t>
            </a:r>
          </a:p>
        </p:txBody>
      </p:sp>
      <p:sp>
        <p:nvSpPr>
          <p:cNvPr id="8" name="矩形 7"/>
          <p:cNvSpPr/>
          <p:nvPr/>
        </p:nvSpPr>
        <p:spPr bwMode="auto">
          <a:xfrm>
            <a:off x="3143250" y="2786063"/>
            <a:ext cx="1571625" cy="1143000"/>
          </a:xfrm>
          <a:prstGeom prst="rect">
            <a:avLst/>
          </a:prstGeom>
          <a:solidFill>
            <a:schemeClr val="bg1"/>
          </a:solidFill>
          <a:ln w="9525" cap="flat" cmpd="sng" algn="ctr">
            <a:solidFill>
              <a:schemeClr val="tx1"/>
            </a:solidFill>
            <a:prstDash val="solid"/>
            <a:round/>
            <a:headEnd type="none" w="med" len="med"/>
            <a:tailEnd type="none" w="med" len="med"/>
          </a:ln>
          <a:effectLst>
            <a:outerShdw dist="53882" dir="13500000" algn="ctr" rotWithShape="0">
              <a:schemeClr val="bg2">
                <a:alpha val="50000"/>
              </a:schemeClr>
            </a:outerShdw>
          </a:effectLst>
        </p:spPr>
        <p:txBody>
          <a:bodyPr/>
          <a:lstStyle/>
          <a:p>
            <a:pPr eaLnBrk="0" hangingPunct="0">
              <a:defRPr/>
            </a:pPr>
            <a:r>
              <a:rPr lang="zh-CN" altLang="en-US" sz="2400" dirty="0">
                <a:solidFill>
                  <a:srgbClr val="00B050"/>
                </a:solidFill>
                <a:latin typeface="隶书" pitchFamily="49" charset="-122"/>
                <a:ea typeface="隶书" pitchFamily="49" charset="-122"/>
              </a:rPr>
              <a:t>伟大的无产阶级革命家</a:t>
            </a:r>
            <a:endParaRPr lang="zh-CN" altLang="en-US" sz="2400" dirty="0">
              <a:latin typeface="华文行楷" panose="02010800040101010101" pitchFamily="2" charset="-122"/>
              <a:ea typeface="华文行楷" panose="02010800040101010101" pitchFamily="2" charset="-122"/>
            </a:endParaRPr>
          </a:p>
        </p:txBody>
      </p:sp>
      <p:sp>
        <p:nvSpPr>
          <p:cNvPr id="9" name="矩形 8"/>
          <p:cNvSpPr/>
          <p:nvPr/>
        </p:nvSpPr>
        <p:spPr bwMode="auto">
          <a:xfrm>
            <a:off x="4714875" y="2786063"/>
            <a:ext cx="1571625" cy="1143000"/>
          </a:xfrm>
          <a:prstGeom prst="rect">
            <a:avLst/>
          </a:prstGeom>
          <a:solidFill>
            <a:schemeClr val="bg1"/>
          </a:solidFill>
          <a:ln w="9525" cap="flat" cmpd="sng" algn="ctr">
            <a:solidFill>
              <a:schemeClr val="tx1"/>
            </a:solidFill>
            <a:prstDash val="solid"/>
            <a:round/>
            <a:headEnd type="none" w="med" len="med"/>
            <a:tailEnd type="none" w="med" len="med"/>
          </a:ln>
          <a:effectLst>
            <a:outerShdw dist="53882" dir="13500000" algn="ctr" rotWithShape="0">
              <a:schemeClr val="bg2">
                <a:alpha val="50000"/>
              </a:schemeClr>
            </a:outerShdw>
          </a:effectLst>
        </p:spPr>
        <p:txBody>
          <a:bodyPr/>
          <a:lstStyle/>
          <a:p>
            <a:pPr eaLnBrk="0" hangingPunct="0">
              <a:defRPr/>
            </a:pPr>
            <a:r>
              <a:rPr lang="zh-CN" altLang="en-US" sz="2800" dirty="0">
                <a:solidFill>
                  <a:srgbClr val="00B050"/>
                </a:solidFill>
                <a:latin typeface="隶书" pitchFamily="49" charset="-122"/>
                <a:ea typeface="隶书" pitchFamily="49" charset="-122"/>
              </a:rPr>
              <a:t>战略家</a:t>
            </a:r>
            <a:endParaRPr lang="zh-CN" altLang="en-US" sz="2800" dirty="0">
              <a:latin typeface="华文行楷" panose="02010800040101010101" pitchFamily="2" charset="-122"/>
              <a:ea typeface="华文行楷" panose="02010800040101010101" pitchFamily="2" charset="-122"/>
            </a:endParaRPr>
          </a:p>
        </p:txBody>
      </p:sp>
      <p:sp>
        <p:nvSpPr>
          <p:cNvPr id="10" name="矩形 9"/>
          <p:cNvSpPr/>
          <p:nvPr/>
        </p:nvSpPr>
        <p:spPr bwMode="auto">
          <a:xfrm>
            <a:off x="6357938" y="2786063"/>
            <a:ext cx="1571625" cy="1143000"/>
          </a:xfrm>
          <a:prstGeom prst="rect">
            <a:avLst/>
          </a:prstGeom>
          <a:solidFill>
            <a:schemeClr val="bg1"/>
          </a:solidFill>
          <a:ln w="9525" cap="flat" cmpd="sng" algn="ctr">
            <a:solidFill>
              <a:schemeClr val="tx1"/>
            </a:solidFill>
            <a:prstDash val="solid"/>
            <a:round/>
            <a:headEnd type="none" w="med" len="med"/>
            <a:tailEnd type="none" w="med" len="med"/>
          </a:ln>
          <a:effectLst>
            <a:outerShdw dist="53882" dir="13500000" algn="ctr" rotWithShape="0">
              <a:schemeClr val="bg2">
                <a:alpha val="50000"/>
              </a:schemeClr>
            </a:outerShdw>
          </a:effectLst>
        </p:spPr>
        <p:txBody>
          <a:bodyPr/>
          <a:lstStyle/>
          <a:p>
            <a:pPr eaLnBrk="0" hangingPunct="0">
              <a:defRPr/>
            </a:pPr>
            <a:r>
              <a:rPr lang="zh-CN" altLang="en-US" sz="2800" dirty="0">
                <a:solidFill>
                  <a:srgbClr val="00B050"/>
                </a:solidFill>
                <a:latin typeface="隶书" pitchFamily="49" charset="-122"/>
                <a:ea typeface="隶书" pitchFamily="49" charset="-122"/>
              </a:rPr>
              <a:t>理论家</a:t>
            </a:r>
            <a:endParaRPr lang="zh-CN" altLang="en-US" sz="2800" dirty="0">
              <a:latin typeface="华文行楷" panose="02010800040101010101" pitchFamily="2" charset="-122"/>
              <a:ea typeface="华文行楷" panose="02010800040101010101" pitchFamily="2" charset="-122"/>
            </a:endParaRPr>
          </a:p>
        </p:txBody>
      </p:sp>
      <p:sp>
        <p:nvSpPr>
          <p:cNvPr id="11" name="矩形 10"/>
          <p:cNvSpPr/>
          <p:nvPr/>
        </p:nvSpPr>
        <p:spPr bwMode="auto">
          <a:xfrm>
            <a:off x="3143250" y="4000500"/>
            <a:ext cx="1643063" cy="1428750"/>
          </a:xfrm>
          <a:prstGeom prst="rect">
            <a:avLst/>
          </a:prstGeom>
          <a:solidFill>
            <a:schemeClr val="bg1"/>
          </a:solidFill>
          <a:ln w="9525" cap="flat" cmpd="sng" algn="ctr">
            <a:solidFill>
              <a:schemeClr val="tx1"/>
            </a:solidFill>
            <a:prstDash val="solid"/>
            <a:round/>
            <a:headEnd type="none" w="med" len="med"/>
            <a:tailEnd type="none" w="med" len="med"/>
          </a:ln>
          <a:effectLst>
            <a:outerShdw dist="53882" dir="13500000" algn="ctr" rotWithShape="0">
              <a:schemeClr val="bg2">
                <a:alpha val="50000"/>
              </a:schemeClr>
            </a:outerShdw>
          </a:effectLst>
        </p:spPr>
        <p:txBody>
          <a:bodyPr/>
          <a:lstStyle/>
          <a:p>
            <a:pPr eaLnBrk="0" hangingPunct="0">
              <a:defRPr/>
            </a:pPr>
            <a:r>
              <a:rPr lang="zh-CN" altLang="en-US" sz="2400" dirty="0">
                <a:solidFill>
                  <a:srgbClr val="DE12A4"/>
                </a:solidFill>
                <a:latin typeface="隶书" pitchFamily="49" charset="-122"/>
                <a:ea typeface="隶书" pitchFamily="49" charset="-122"/>
              </a:rPr>
              <a:t>党的第一代中央领导集体的核心</a:t>
            </a:r>
            <a:endParaRPr lang="zh-CN" altLang="en-US" sz="2400" dirty="0">
              <a:latin typeface="华文行楷" panose="02010800040101010101" pitchFamily="2" charset="-122"/>
              <a:ea typeface="华文行楷" panose="02010800040101010101" pitchFamily="2" charset="-122"/>
            </a:endParaRPr>
          </a:p>
        </p:txBody>
      </p:sp>
      <p:sp>
        <p:nvSpPr>
          <p:cNvPr id="12" name="矩形 11"/>
          <p:cNvSpPr/>
          <p:nvPr/>
        </p:nvSpPr>
        <p:spPr bwMode="auto">
          <a:xfrm>
            <a:off x="4786313" y="4000500"/>
            <a:ext cx="1785937" cy="1428750"/>
          </a:xfrm>
          <a:prstGeom prst="rect">
            <a:avLst/>
          </a:prstGeom>
          <a:solidFill>
            <a:schemeClr val="bg1"/>
          </a:solidFill>
          <a:ln w="9525" cap="flat" cmpd="sng" algn="ctr">
            <a:solidFill>
              <a:schemeClr val="tx1"/>
            </a:solidFill>
            <a:prstDash val="solid"/>
            <a:round/>
            <a:headEnd type="none" w="med" len="med"/>
            <a:tailEnd type="none" w="med" len="med"/>
          </a:ln>
          <a:effectLst>
            <a:outerShdw dist="53882" dir="13500000" algn="ctr" rotWithShape="0">
              <a:schemeClr val="bg2">
                <a:alpha val="50000"/>
              </a:schemeClr>
            </a:outerShdw>
          </a:effectLst>
        </p:spPr>
        <p:txBody>
          <a:bodyPr/>
          <a:lstStyle/>
          <a:p>
            <a:pPr eaLnBrk="0" hangingPunct="0">
              <a:defRPr/>
            </a:pPr>
            <a:r>
              <a:rPr lang="zh-CN" altLang="en-US" sz="2000" dirty="0">
                <a:solidFill>
                  <a:srgbClr val="DE12A4"/>
                </a:solidFill>
                <a:latin typeface="隶书" pitchFamily="49" charset="-122"/>
                <a:ea typeface="隶书" pitchFamily="49" charset="-122"/>
              </a:rPr>
              <a:t>领导中国人民彻底改变自己命运和国家面貌的一代伟人</a:t>
            </a:r>
            <a:endParaRPr lang="zh-CN" altLang="en-US" sz="2000" dirty="0">
              <a:latin typeface="华文行楷" panose="02010800040101010101" pitchFamily="2" charset="-122"/>
              <a:ea typeface="华文行楷" panose="02010800040101010101" pitchFamily="2" charset="-122"/>
            </a:endParaRPr>
          </a:p>
        </p:txBody>
      </p:sp>
      <p:sp>
        <p:nvSpPr>
          <p:cNvPr id="13" name="矩形 12"/>
          <p:cNvSpPr/>
          <p:nvPr/>
        </p:nvSpPr>
        <p:spPr bwMode="auto">
          <a:xfrm>
            <a:off x="6572250" y="4000500"/>
            <a:ext cx="1428750" cy="1428750"/>
          </a:xfrm>
          <a:prstGeom prst="rect">
            <a:avLst/>
          </a:prstGeom>
          <a:solidFill>
            <a:schemeClr val="bg1"/>
          </a:solidFill>
          <a:ln w="9525" cap="flat" cmpd="sng" algn="ctr">
            <a:solidFill>
              <a:schemeClr val="tx1"/>
            </a:solidFill>
            <a:prstDash val="solid"/>
            <a:round/>
            <a:headEnd type="none" w="med" len="med"/>
            <a:tailEnd type="none" w="med" len="med"/>
          </a:ln>
          <a:effectLst>
            <a:outerShdw dist="53882" dir="13500000" algn="ctr" rotWithShape="0">
              <a:schemeClr val="bg2">
                <a:alpha val="50000"/>
              </a:schemeClr>
            </a:outerShdw>
          </a:effectLst>
        </p:spPr>
        <p:txBody>
          <a:bodyPr/>
          <a:lstStyle/>
          <a:p>
            <a:pPr eaLnBrk="0" hangingPunct="0">
              <a:defRPr/>
            </a:pPr>
            <a:r>
              <a:rPr lang="zh-CN" altLang="en-US" sz="2800" dirty="0">
                <a:solidFill>
                  <a:srgbClr val="DE12A4"/>
                </a:solidFill>
                <a:latin typeface="隶书" pitchFamily="49" charset="-122"/>
                <a:ea typeface="隶书" pitchFamily="49" charset="-122"/>
              </a:rPr>
              <a:t>民族英雄</a:t>
            </a:r>
          </a:p>
        </p:txBody>
      </p:sp>
      <p:sp>
        <p:nvSpPr>
          <p:cNvPr id="14" name="左大括号 13"/>
          <p:cNvSpPr/>
          <p:nvPr/>
        </p:nvSpPr>
        <p:spPr bwMode="auto">
          <a:xfrm>
            <a:off x="2071688" y="2500313"/>
            <a:ext cx="1000125" cy="2143125"/>
          </a:xfrm>
          <a:prstGeom prst="leftBrace">
            <a:avLst/>
          </a:prstGeom>
          <a:solidFill>
            <a:schemeClr val="accent1"/>
          </a:solidFill>
          <a:ln w="9525" cap="flat" cmpd="sng" algn="ctr">
            <a:solidFill>
              <a:schemeClr val="tx1"/>
            </a:solidFill>
            <a:prstDash val="solid"/>
            <a:round/>
            <a:headEnd type="none" w="med" len="med"/>
            <a:tailEnd type="none" w="med" len="med"/>
          </a:ln>
          <a:effectLst>
            <a:outerShdw dist="53882" dir="13500000" algn="ctr" rotWithShape="0">
              <a:schemeClr val="bg2">
                <a:alpha val="50000"/>
              </a:schemeClr>
            </a:outerShdw>
          </a:effectLst>
        </p:spPr>
        <p:txBody>
          <a:bodyPr/>
          <a:lstStyle/>
          <a:p>
            <a:pPr eaLnBrk="0" hangingPunct="0">
              <a:defRPr/>
            </a:pPr>
            <a:endParaRPr lang="zh-CN" altLang="en-US">
              <a:latin typeface="华文行楷" panose="02010800040101010101" pitchFamily="2" charset="-122"/>
              <a:ea typeface="华文行楷" panose="02010800040101010101" pitchFamily="2" charset="-122"/>
            </a:endParaRPr>
          </a:p>
        </p:txBody>
      </p:sp>
    </p:spTree>
  </p:cSld>
  <p:clrMapOvr>
    <a:masterClrMapping/>
  </p:clrMapOvr>
  <p:transition spd="med">
    <p:wipe dir="r"/>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ChangeArrowheads="1"/>
          </p:cNvSpPr>
          <p:nvPr/>
        </p:nvSpPr>
        <p:spPr bwMode="auto">
          <a:xfrm>
            <a:off x="1115616" y="620688"/>
            <a:ext cx="7127875" cy="5160962"/>
          </a:xfrm>
          <a:prstGeom prst="rect">
            <a:avLst/>
          </a:prstGeom>
          <a:solidFill>
            <a:schemeClr val="bg1"/>
          </a:solidFill>
          <a:ln w="9525">
            <a:solidFill>
              <a:srgbClr val="FF0000"/>
            </a:solidFill>
            <a:miter lim="800000"/>
            <a:headEnd/>
            <a:tailEnd/>
          </a:ln>
          <a:effectLst>
            <a:prstShdw prst="shdw13" dist="53882" dir="13500000">
              <a:schemeClr val="bg2">
                <a:alpha val="50000"/>
              </a:schemeClr>
            </a:prstShdw>
          </a:effectLst>
        </p:spPr>
        <p:txBody>
          <a:bodyPr anchor="ctr">
            <a:spAutoFit/>
          </a:bodyPr>
          <a:lstStyle/>
          <a:p>
            <a:pPr eaLnBrk="0" hangingPunct="0">
              <a:lnSpc>
                <a:spcPct val="150000"/>
              </a:lnSpc>
            </a:pPr>
            <a:r>
              <a:rPr lang="zh-CN" altLang="en-US" sz="2800" b="1" dirty="0" smtClean="0">
                <a:solidFill>
                  <a:srgbClr val="FF0000"/>
                </a:solidFill>
                <a:latin typeface="隶书" pitchFamily="49" charset="-122"/>
                <a:ea typeface="隶书" pitchFamily="49" charset="-122"/>
              </a:rPr>
              <a:t>    在</a:t>
            </a:r>
            <a:r>
              <a:rPr lang="zh-CN" altLang="en-US" sz="2800" b="1" dirty="0">
                <a:solidFill>
                  <a:srgbClr val="FF0000"/>
                </a:solidFill>
                <a:latin typeface="隶书" pitchFamily="49" charset="-122"/>
                <a:ea typeface="隶书" pitchFamily="49" charset="-122"/>
              </a:rPr>
              <a:t>为中国人民不懈奋斗的光辉一生中，毛泽东同志表现出一个伟大革命领袖高瞻远瞩的政治远见、坚定不移的革命信念、勇于开拓的非凡魄力、炉火纯青的斗争艺术、杰出高超的领导才能。他思想博大深邃、胸怀坦荡宽广，文韬武略兼备、领导艺术高超，心系人民群众、终生艰苦奋斗，为中华民族和中国人民建立了不朽功勋。</a:t>
            </a:r>
          </a:p>
        </p:txBody>
      </p:sp>
    </p:spTree>
  </p:cSld>
  <p:clrMapOvr>
    <a:masterClrMapping/>
  </p:clrMapOvr>
  <p:transition spd="med">
    <p:wipe dir="r"/>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ChangeArrowheads="1"/>
          </p:cNvSpPr>
          <p:nvPr/>
        </p:nvSpPr>
        <p:spPr bwMode="auto">
          <a:xfrm>
            <a:off x="467544" y="1340768"/>
            <a:ext cx="8416925" cy="3539430"/>
          </a:xfrm>
          <a:prstGeom prst="rect">
            <a:avLst/>
          </a:prstGeom>
          <a:solidFill>
            <a:schemeClr val="bg1"/>
          </a:solidFill>
          <a:ln w="9525">
            <a:solidFill>
              <a:srgbClr val="FF0000"/>
            </a:solidFill>
            <a:miter lim="800000"/>
            <a:headEnd/>
            <a:tailEnd/>
          </a:ln>
          <a:effectLst>
            <a:prstShdw prst="shdw13" dist="53882" dir="13500000">
              <a:schemeClr val="bg2">
                <a:alpha val="50000"/>
              </a:schemeClr>
            </a:prstShdw>
          </a:effectLst>
        </p:spPr>
        <p:txBody>
          <a:bodyPr anchor="ctr">
            <a:spAutoFit/>
          </a:bodyPr>
          <a:lstStyle/>
          <a:p>
            <a:pPr eaLnBrk="0" hangingPunct="0"/>
            <a:r>
              <a:rPr lang="zh-CN" altLang="en-US" sz="2800" b="1" dirty="0" smtClean="0">
                <a:solidFill>
                  <a:srgbClr val="FF0000"/>
                </a:solidFill>
                <a:latin typeface="隶书" pitchFamily="49" charset="-122"/>
                <a:ea typeface="隶书" pitchFamily="49" charset="-122"/>
              </a:rPr>
              <a:t>    “</a:t>
            </a:r>
            <a:r>
              <a:rPr lang="zh-CN" altLang="en-US" sz="2800" b="1" dirty="0">
                <a:solidFill>
                  <a:srgbClr val="FF0000"/>
                </a:solidFill>
                <a:latin typeface="隶书" pitchFamily="49" charset="-122"/>
                <a:ea typeface="隶书" pitchFamily="49" charset="-122"/>
              </a:rPr>
              <a:t>对历史人物的评价，应该放在其所处时代和社会的历史条件下去分析，不能离开对历史条件、历史过程的全面认识和对历史规律的科学把握，不能忽略历史必然性和历史偶然性的关系。不能把历史顺境中的成功简单归功于个人，也不能把历史逆境中的挫折简单归咎于个人。不能用今天的时代条件、发展水平、认识水平去衡量和要求前人，不能苛求前人干出只有后人才能干出的业绩来。 ”</a:t>
            </a:r>
          </a:p>
        </p:txBody>
      </p:sp>
    </p:spTree>
  </p:cSld>
  <p:clrMapOvr>
    <a:masterClrMapping/>
  </p:clrMapOvr>
  <p:transition spd="med">
    <p:wipe dir="r"/>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Text Box 2"/>
          <p:cNvSpPr txBox="1">
            <a:spLocks noChangeArrowheads="1"/>
          </p:cNvSpPr>
          <p:nvPr/>
        </p:nvSpPr>
        <p:spPr bwMode="auto">
          <a:xfrm>
            <a:off x="179512" y="0"/>
            <a:ext cx="8643937" cy="5755422"/>
          </a:xfrm>
          <a:prstGeom prst="rect">
            <a:avLst/>
          </a:prstGeom>
          <a:solidFill>
            <a:schemeClr val="bg1"/>
          </a:solidFill>
          <a:ln w="9525">
            <a:solidFill>
              <a:srgbClr val="FF0000"/>
            </a:solidFill>
            <a:miter lim="800000"/>
            <a:headEnd/>
            <a:tailEnd/>
          </a:ln>
        </p:spPr>
        <p:txBody>
          <a:bodyPr>
            <a:spAutoFit/>
          </a:bodyPr>
          <a:lstStyle/>
          <a:p>
            <a:r>
              <a:rPr lang="zh-CN" altLang="en-US" sz="3200" b="1" dirty="0">
                <a:solidFill>
                  <a:schemeClr val="folHlink"/>
                </a:solidFill>
                <a:latin typeface="+mn-ea"/>
              </a:rPr>
              <a:t>       </a:t>
            </a:r>
            <a:r>
              <a:rPr lang="zh-CN" altLang="en-US" sz="3200" b="1" dirty="0">
                <a:solidFill>
                  <a:srgbClr val="FF0000"/>
                </a:solidFill>
                <a:latin typeface="+mn-ea"/>
              </a:rPr>
              <a:t>参考文献</a:t>
            </a:r>
            <a:r>
              <a:rPr lang="zh-CN" altLang="en-US" sz="3200" b="1" dirty="0">
                <a:solidFill>
                  <a:srgbClr val="0000FF"/>
                </a:solidFill>
                <a:latin typeface="+mn-ea"/>
              </a:rPr>
              <a:t>：</a:t>
            </a:r>
          </a:p>
          <a:p>
            <a:endParaRPr lang="zh-CN" altLang="en-US" sz="2800" dirty="0">
              <a:solidFill>
                <a:schemeClr val="folHlink"/>
              </a:solidFill>
              <a:latin typeface="黑体" pitchFamily="49" charset="-122"/>
              <a:ea typeface="黑体" pitchFamily="49" charset="-122"/>
            </a:endParaRPr>
          </a:p>
          <a:p>
            <a:r>
              <a:rPr lang="zh-CN" altLang="en-US" sz="2800" dirty="0">
                <a:solidFill>
                  <a:srgbClr val="00B050"/>
                </a:solidFill>
                <a:latin typeface="楷体" pitchFamily="49" charset="-122"/>
                <a:ea typeface="楷体" pitchFamily="49" charset="-122"/>
              </a:rPr>
              <a:t>1</a:t>
            </a:r>
            <a:r>
              <a:rPr lang="zh-CN" altLang="en-US" sz="2400" b="1" dirty="0">
                <a:solidFill>
                  <a:srgbClr val="00B050"/>
                </a:solidFill>
                <a:latin typeface="+mn-ea"/>
              </a:rPr>
              <a:t>、《中国共产党中央委员会关于建国以来党的若干历史问题的决议》 </a:t>
            </a:r>
          </a:p>
          <a:p>
            <a:r>
              <a:rPr lang="zh-CN" altLang="en-US" sz="2400" b="1" dirty="0">
                <a:solidFill>
                  <a:srgbClr val="0000FF"/>
                </a:solidFill>
                <a:latin typeface="+mn-ea"/>
              </a:rPr>
              <a:t>        </a:t>
            </a:r>
            <a:r>
              <a:rPr lang="en-US" altLang="zh-CN" sz="2400" b="1" dirty="0" smtClean="0">
                <a:solidFill>
                  <a:srgbClr val="0000FF"/>
                </a:solidFill>
                <a:latin typeface="+mn-ea"/>
              </a:rPr>
              <a:t>——</a:t>
            </a:r>
            <a:r>
              <a:rPr lang="zh-CN" altLang="en-US" sz="2000" b="1" dirty="0" smtClean="0">
                <a:solidFill>
                  <a:srgbClr val="0000FF"/>
                </a:solidFill>
                <a:latin typeface="+mn-ea"/>
              </a:rPr>
              <a:t>《</a:t>
            </a:r>
            <a:r>
              <a:rPr lang="zh-CN" altLang="en-US" sz="2000" b="1" dirty="0">
                <a:solidFill>
                  <a:srgbClr val="0000FF"/>
                </a:solidFill>
                <a:latin typeface="+mn-ea"/>
              </a:rPr>
              <a:t>三中全会以来重要文献选编（下），</a:t>
            </a:r>
            <a:r>
              <a:rPr lang="zh-CN" altLang="en-US" sz="2000" b="1" dirty="0" smtClean="0">
                <a:solidFill>
                  <a:srgbClr val="0000FF"/>
                </a:solidFill>
                <a:latin typeface="+mn-ea"/>
              </a:rPr>
              <a:t>人民出版社</a:t>
            </a:r>
            <a:r>
              <a:rPr lang="en-US" altLang="zh-CN" sz="2000" b="1" dirty="0" smtClean="0">
                <a:solidFill>
                  <a:srgbClr val="0000FF"/>
                </a:solidFill>
                <a:latin typeface="+mn-ea"/>
              </a:rPr>
              <a:t>2011</a:t>
            </a:r>
            <a:r>
              <a:rPr lang="zh-CN" altLang="en-US" sz="2000" b="1" dirty="0" smtClean="0">
                <a:solidFill>
                  <a:srgbClr val="0000FF"/>
                </a:solidFill>
                <a:latin typeface="+mn-ea"/>
              </a:rPr>
              <a:t>年</a:t>
            </a:r>
            <a:r>
              <a:rPr lang="zh-CN" altLang="en-US" sz="2000" b="1" dirty="0">
                <a:solidFill>
                  <a:srgbClr val="0000FF"/>
                </a:solidFill>
                <a:latin typeface="+mn-ea"/>
              </a:rPr>
              <a:t>版</a:t>
            </a:r>
          </a:p>
          <a:p>
            <a:r>
              <a:rPr lang="en-US" altLang="zh-CN" sz="2400" b="1" dirty="0" smtClean="0">
                <a:solidFill>
                  <a:srgbClr val="0000FF"/>
                </a:solidFill>
                <a:latin typeface="+mn-ea"/>
              </a:rPr>
              <a:t>2</a:t>
            </a:r>
            <a:r>
              <a:rPr lang="zh-CN" altLang="en-US" sz="2400" b="1" dirty="0" smtClean="0">
                <a:solidFill>
                  <a:srgbClr val="0000FF"/>
                </a:solidFill>
                <a:latin typeface="+mn-ea"/>
              </a:rPr>
              <a:t>、  邓小平：</a:t>
            </a:r>
            <a:r>
              <a:rPr lang="en-US" altLang="zh-CN" sz="2400" b="1" dirty="0" smtClean="0">
                <a:solidFill>
                  <a:srgbClr val="0000FF"/>
                </a:solidFill>
                <a:latin typeface="+mn-ea"/>
              </a:rPr>
              <a:t>《</a:t>
            </a:r>
            <a:r>
              <a:rPr lang="zh-CN" altLang="en-US" sz="2400" b="1" dirty="0" smtClean="0">
                <a:solidFill>
                  <a:srgbClr val="0000FF"/>
                </a:solidFill>
                <a:latin typeface="+mn-ea"/>
              </a:rPr>
              <a:t>对起草</a:t>
            </a:r>
            <a:r>
              <a:rPr lang="en-US" altLang="zh-CN" sz="2400" b="1" dirty="0" smtClean="0">
                <a:solidFill>
                  <a:srgbClr val="0000FF"/>
                </a:solidFill>
                <a:latin typeface="+mn-ea"/>
              </a:rPr>
              <a:t>&lt;</a:t>
            </a:r>
            <a:r>
              <a:rPr lang="zh-CN" altLang="en-US" sz="2400" b="1" dirty="0" smtClean="0">
                <a:solidFill>
                  <a:srgbClr val="0000FF"/>
                </a:solidFill>
                <a:latin typeface="+mn-ea"/>
              </a:rPr>
              <a:t>关于建国以来党的若干历史问题的决议</a:t>
            </a:r>
            <a:r>
              <a:rPr lang="en-US" altLang="zh-CN" sz="2400" b="1" dirty="0" smtClean="0">
                <a:solidFill>
                  <a:srgbClr val="0000FF"/>
                </a:solidFill>
                <a:latin typeface="+mn-ea"/>
              </a:rPr>
              <a:t>&gt;</a:t>
            </a:r>
            <a:r>
              <a:rPr lang="zh-CN" altLang="en-US" sz="2400" b="1" dirty="0" smtClean="0">
                <a:solidFill>
                  <a:srgbClr val="0000FF"/>
                </a:solidFill>
                <a:latin typeface="+mn-ea"/>
              </a:rPr>
              <a:t>的意见</a:t>
            </a:r>
            <a:r>
              <a:rPr lang="en-US" altLang="zh-CN" sz="2400" b="1" dirty="0" smtClean="0">
                <a:solidFill>
                  <a:srgbClr val="0000FF"/>
                </a:solidFill>
                <a:latin typeface="+mn-ea"/>
              </a:rPr>
              <a:t>》</a:t>
            </a:r>
            <a:r>
              <a:rPr lang="zh-CN" altLang="en-US" sz="2400" b="1" dirty="0" smtClean="0">
                <a:solidFill>
                  <a:srgbClr val="0000FF"/>
                </a:solidFill>
                <a:latin typeface="+mn-ea"/>
              </a:rPr>
              <a:t>， </a:t>
            </a:r>
            <a:endParaRPr lang="en-US" altLang="zh-CN" sz="2400" b="1" dirty="0" smtClean="0">
              <a:solidFill>
                <a:srgbClr val="0000FF"/>
              </a:solidFill>
              <a:latin typeface="+mn-ea"/>
            </a:endParaRPr>
          </a:p>
          <a:p>
            <a:r>
              <a:rPr lang="zh-CN" altLang="en-US" sz="2400" b="1" dirty="0" smtClean="0">
                <a:solidFill>
                  <a:srgbClr val="0000FF"/>
                </a:solidFill>
                <a:latin typeface="+mn-ea"/>
              </a:rPr>
              <a:t>        </a:t>
            </a:r>
            <a:r>
              <a:rPr lang="en-US" altLang="zh-CN" sz="2000" b="1" dirty="0" smtClean="0">
                <a:solidFill>
                  <a:srgbClr val="0000FF"/>
                </a:solidFill>
                <a:latin typeface="+mn-ea"/>
              </a:rPr>
              <a:t>——</a:t>
            </a:r>
            <a:r>
              <a:rPr lang="zh-CN" altLang="en-US" sz="2000" b="1" dirty="0" smtClean="0">
                <a:solidFill>
                  <a:srgbClr val="0000FF"/>
                </a:solidFill>
                <a:latin typeface="+mn-ea"/>
              </a:rPr>
              <a:t>《三中全会以来重要文献选编（上），中央文献出版社</a:t>
            </a:r>
            <a:r>
              <a:rPr lang="en-US" altLang="zh-CN" sz="2000" b="1" dirty="0" smtClean="0">
                <a:solidFill>
                  <a:srgbClr val="0000FF"/>
                </a:solidFill>
                <a:latin typeface="+mn-ea"/>
              </a:rPr>
              <a:t>2011</a:t>
            </a:r>
            <a:r>
              <a:rPr lang="zh-CN" altLang="en-US" sz="2000" b="1" dirty="0" smtClean="0">
                <a:solidFill>
                  <a:srgbClr val="0000FF"/>
                </a:solidFill>
                <a:latin typeface="+mn-ea"/>
              </a:rPr>
              <a:t>年版</a:t>
            </a:r>
            <a:endParaRPr lang="en-US" altLang="zh-CN" sz="2000" b="1" dirty="0" smtClean="0">
              <a:solidFill>
                <a:srgbClr val="0000FF"/>
              </a:solidFill>
              <a:latin typeface="+mn-ea"/>
            </a:endParaRPr>
          </a:p>
          <a:p>
            <a:r>
              <a:rPr lang="zh-CN" altLang="en-US" sz="2400" b="1" dirty="0" smtClean="0">
                <a:solidFill>
                  <a:srgbClr val="0000FF"/>
                </a:solidFill>
                <a:latin typeface="+mn-ea"/>
              </a:rPr>
              <a:t>3</a:t>
            </a:r>
            <a:r>
              <a:rPr lang="zh-CN" altLang="en-US" sz="2400" b="1" dirty="0">
                <a:solidFill>
                  <a:srgbClr val="00B050"/>
                </a:solidFill>
                <a:latin typeface="+mn-ea"/>
              </a:rPr>
              <a:t>、习近平：</a:t>
            </a:r>
            <a:r>
              <a:rPr lang="en-US" altLang="zh-CN" sz="2400" b="1" dirty="0">
                <a:solidFill>
                  <a:srgbClr val="00B050"/>
                </a:solidFill>
                <a:latin typeface="+mn-ea"/>
              </a:rPr>
              <a:t>《</a:t>
            </a:r>
            <a:r>
              <a:rPr lang="zh-CN" altLang="en-US" sz="2400" b="1" dirty="0">
                <a:solidFill>
                  <a:srgbClr val="00B050"/>
                </a:solidFill>
                <a:latin typeface="+mn-ea"/>
              </a:rPr>
              <a:t>在纪念毛泽东同志诞辰一百二十周年座谈会上的讲话</a:t>
            </a:r>
            <a:r>
              <a:rPr lang="en-US" altLang="zh-CN" sz="2400" b="1" dirty="0" smtClean="0">
                <a:solidFill>
                  <a:srgbClr val="00B050"/>
                </a:solidFill>
                <a:latin typeface="+mn-ea"/>
              </a:rPr>
              <a:t>》  —— </a:t>
            </a:r>
            <a:r>
              <a:rPr lang="en-US" altLang="zh-CN" sz="2000" b="1" dirty="0" smtClean="0">
                <a:solidFill>
                  <a:srgbClr val="0000FF"/>
                </a:solidFill>
                <a:latin typeface="+mn-ea"/>
              </a:rPr>
              <a:t>《</a:t>
            </a:r>
            <a:r>
              <a:rPr lang="zh-CN" altLang="en-US" sz="2000" b="1" dirty="0">
                <a:solidFill>
                  <a:srgbClr val="0000FF"/>
                </a:solidFill>
                <a:latin typeface="+mn-ea"/>
              </a:rPr>
              <a:t>十八大以来主要文献选编（上），中央文献出版社</a:t>
            </a:r>
            <a:r>
              <a:rPr lang="en-US" altLang="zh-CN" sz="2000" b="1" dirty="0">
                <a:solidFill>
                  <a:srgbClr val="0000FF"/>
                </a:solidFill>
                <a:latin typeface="+mn-ea"/>
              </a:rPr>
              <a:t>2014</a:t>
            </a:r>
            <a:r>
              <a:rPr lang="zh-CN" altLang="en-US" sz="2000" b="1" dirty="0">
                <a:solidFill>
                  <a:srgbClr val="0000FF"/>
                </a:solidFill>
                <a:latin typeface="+mn-ea"/>
              </a:rPr>
              <a:t>年版</a:t>
            </a:r>
            <a:r>
              <a:rPr lang="en-US" altLang="zh-CN" sz="2000" b="1" dirty="0">
                <a:solidFill>
                  <a:srgbClr val="0000FF"/>
                </a:solidFill>
                <a:latin typeface="+mn-ea"/>
              </a:rPr>
              <a:t>》</a:t>
            </a:r>
          </a:p>
          <a:p>
            <a:r>
              <a:rPr lang="en-US" altLang="zh-CN" sz="2400" b="1" dirty="0" smtClean="0">
                <a:solidFill>
                  <a:srgbClr val="00B050"/>
                </a:solidFill>
                <a:latin typeface="+mn-ea"/>
              </a:rPr>
              <a:t>4</a:t>
            </a:r>
            <a:r>
              <a:rPr lang="zh-CN" altLang="en-US" sz="2400" b="1" dirty="0">
                <a:solidFill>
                  <a:srgbClr val="00B050"/>
                </a:solidFill>
                <a:latin typeface="+mn-ea"/>
              </a:rPr>
              <a:t>、金冲及：《毛泽东传》（上）（1893-1949</a:t>
            </a:r>
            <a:r>
              <a:rPr lang="zh-CN" altLang="en-US" sz="2000" b="1" dirty="0">
                <a:solidFill>
                  <a:srgbClr val="00B050"/>
                </a:solidFill>
                <a:latin typeface="+mn-ea"/>
              </a:rPr>
              <a:t>）   </a:t>
            </a:r>
            <a:r>
              <a:rPr lang="en-US" altLang="zh-CN" sz="2000" b="1" dirty="0" smtClean="0">
                <a:solidFill>
                  <a:srgbClr val="0000FF"/>
                </a:solidFill>
                <a:latin typeface="+mn-ea"/>
              </a:rPr>
              <a:t>——</a:t>
            </a:r>
            <a:r>
              <a:rPr lang="zh-CN" altLang="en-US" sz="2000" b="1" dirty="0" smtClean="0">
                <a:solidFill>
                  <a:srgbClr val="0000FF"/>
                </a:solidFill>
                <a:latin typeface="+mn-ea"/>
              </a:rPr>
              <a:t>   </a:t>
            </a:r>
            <a:r>
              <a:rPr lang="zh-CN" altLang="en-US" sz="2000" b="1" dirty="0">
                <a:solidFill>
                  <a:srgbClr val="0000FF"/>
                </a:solidFill>
                <a:latin typeface="+mn-ea"/>
              </a:rPr>
              <a:t>中央文献出版社1996年版</a:t>
            </a:r>
          </a:p>
          <a:p>
            <a:r>
              <a:rPr lang="en-US" altLang="zh-CN" sz="2400" b="1" dirty="0">
                <a:solidFill>
                  <a:srgbClr val="00B050"/>
                </a:solidFill>
                <a:latin typeface="+mn-ea"/>
              </a:rPr>
              <a:t>5</a:t>
            </a:r>
            <a:r>
              <a:rPr lang="zh-CN" altLang="en-US" sz="2400" b="1" dirty="0">
                <a:solidFill>
                  <a:srgbClr val="00B050"/>
                </a:solidFill>
                <a:latin typeface="+mn-ea"/>
              </a:rPr>
              <a:t>、逄先知 金冲及《毛泽东传》（1949-1976）（上、下）     </a:t>
            </a:r>
            <a:r>
              <a:rPr lang="zh-CN" altLang="en-US" sz="2400" b="1" dirty="0" smtClean="0">
                <a:solidFill>
                  <a:srgbClr val="00B050"/>
                </a:solidFill>
                <a:latin typeface="+mn-ea"/>
              </a:rPr>
              <a:t>    </a:t>
            </a:r>
            <a:endParaRPr lang="en-US" altLang="zh-CN" sz="2400" b="1" dirty="0" smtClean="0">
              <a:solidFill>
                <a:srgbClr val="00B050"/>
              </a:solidFill>
              <a:latin typeface="+mn-ea"/>
            </a:endParaRPr>
          </a:p>
          <a:p>
            <a:r>
              <a:rPr lang="en-US" altLang="zh-CN" sz="2400" b="1" smtClean="0">
                <a:solidFill>
                  <a:srgbClr val="0000FF"/>
                </a:solidFill>
                <a:latin typeface="+mn-ea"/>
              </a:rPr>
              <a:t>                   </a:t>
            </a:r>
            <a:r>
              <a:rPr lang="en-US" altLang="zh-CN" sz="2400" b="1" dirty="0" smtClean="0">
                <a:solidFill>
                  <a:srgbClr val="0000FF"/>
                </a:solidFill>
                <a:latin typeface="+mn-ea"/>
              </a:rPr>
              <a:t>—— </a:t>
            </a:r>
            <a:r>
              <a:rPr lang="zh-CN" altLang="en-US" sz="2000" b="1" dirty="0" smtClean="0">
                <a:solidFill>
                  <a:srgbClr val="0000FF"/>
                </a:solidFill>
                <a:latin typeface="+mn-ea"/>
              </a:rPr>
              <a:t>中央文献出版社2003年</a:t>
            </a:r>
            <a:endParaRPr lang="zh-CN" altLang="en-US" sz="2000" dirty="0">
              <a:solidFill>
                <a:srgbClr val="0000FF"/>
              </a:solidFill>
              <a:latin typeface="楷体" pitchFamily="49" charset="-122"/>
              <a:ea typeface="楷体" pitchFamily="49" charset="-122"/>
            </a:endParaRPr>
          </a:p>
        </p:txBody>
      </p:sp>
    </p:spTree>
  </p:cSld>
  <p:clrMapOvr>
    <a:masterClrMapping/>
  </p:clrMapOvr>
  <p:transition spd="med">
    <p:wipe dir="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pPr>
              <a:buNone/>
            </a:pPr>
            <a:r>
              <a:rPr lang="zh-CN" altLang="en-US" sz="8000" b="1" i="1" dirty="0" smtClean="0">
                <a:solidFill>
                  <a:srgbClr val="00B050"/>
                </a:solidFill>
              </a:rPr>
              <a:t>        </a:t>
            </a:r>
            <a:endParaRPr lang="en-US" altLang="zh-CN" sz="8000" b="1" i="1" dirty="0" smtClean="0">
              <a:solidFill>
                <a:srgbClr val="00B050"/>
              </a:solidFill>
            </a:endParaRPr>
          </a:p>
          <a:p>
            <a:pPr>
              <a:buNone/>
            </a:pPr>
            <a:r>
              <a:rPr lang="en-US" altLang="zh-CN" sz="8000" b="1" i="1" dirty="0" smtClean="0">
                <a:solidFill>
                  <a:srgbClr val="00B050"/>
                </a:solidFill>
              </a:rPr>
              <a:t>        </a:t>
            </a:r>
            <a:r>
              <a:rPr lang="zh-CN" altLang="en-US" sz="8000" b="1" i="1" dirty="0" smtClean="0">
                <a:solidFill>
                  <a:srgbClr val="00B050"/>
                </a:solidFill>
              </a:rPr>
              <a:t>谢谢</a:t>
            </a:r>
            <a:endParaRPr lang="zh-CN" altLang="en-US" sz="8000" b="1" i="1" dirty="0">
              <a:solidFill>
                <a:srgbClr val="00B050"/>
              </a:solidFill>
            </a:endParaRPr>
          </a:p>
        </p:txBody>
      </p:sp>
      <p:pic>
        <p:nvPicPr>
          <p:cNvPr id="81922" name="Picture 2" descr="https://timgsa.baidu.com/timg?image&amp;quality=80&amp;size=b9999_10000&amp;sec=1536155434741&amp;di=b30694f1bcf3b37da0035d034342f6f0&amp;imgtype=0&amp;src=http%3A%2F%2Fpic32.photophoto.cn%2F20140804%2F0005018649122209_b.jpg"/>
          <p:cNvPicPr>
            <a:picLocks noChangeAspect="1" noChangeArrowheads="1"/>
          </p:cNvPicPr>
          <p:nvPr/>
        </p:nvPicPr>
        <p:blipFill>
          <a:blip r:embed="rId2" cstate="print"/>
          <a:srcRect/>
          <a:stretch>
            <a:fillRect/>
          </a:stretch>
        </p:blipFill>
        <p:spPr bwMode="auto">
          <a:xfrm>
            <a:off x="251520" y="-1467544"/>
            <a:ext cx="9753600" cy="8772526"/>
          </a:xfrm>
          <a:prstGeom prst="rect">
            <a:avLst/>
          </a:prstGeom>
          <a:noFill/>
        </p:spPr>
      </p:pic>
    </p:spTree>
  </p:cSld>
  <p:clrMapOvr>
    <a:masterClrMapping/>
  </p:clrMapOvr>
  <p:transition spd="med">
    <p:wipe dir="r"/>
  </p:transition>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龙腾四海">
  <a:themeElements>
    <a:clrScheme name="龙腾四海">
      <a:dk1>
        <a:sysClr val="windowText" lastClr="000000"/>
      </a:dk1>
      <a:lt1>
        <a:sysClr val="window" lastClr="FFFFFF"/>
      </a:lt1>
      <a:dk2>
        <a:srgbClr val="001B36"/>
      </a:dk2>
      <a:lt2>
        <a:srgbClr val="EDF8FE"/>
      </a:lt2>
      <a:accent1>
        <a:srgbClr val="477AB1"/>
      </a:accent1>
      <a:accent2>
        <a:srgbClr val="51848E"/>
      </a:accent2>
      <a:accent3>
        <a:srgbClr val="7B9B57"/>
      </a:accent3>
      <a:accent4>
        <a:srgbClr val="8B8D8C"/>
      </a:accent4>
      <a:accent5>
        <a:srgbClr val="8B7396"/>
      </a:accent5>
      <a:accent6>
        <a:srgbClr val="E89A53"/>
      </a:accent6>
      <a:hlink>
        <a:srgbClr val="0080FF"/>
      </a:hlink>
      <a:folHlink>
        <a:srgbClr val="FF00FF"/>
      </a:folHlink>
    </a:clrScheme>
    <a:fontScheme name="龙腾四海">
      <a:majorFont>
        <a:latin typeface="Maiandra GD"/>
        <a:ea typeface=""/>
        <a:cs typeface=""/>
        <a:font script="CYRL" typeface="Times New Roman"/>
        <a:font script="GREK" typeface="Times New Roman"/>
        <a:font script="Jpan" typeface="ＭＳ Ｐゴシック"/>
        <a:font script="Hang" typeface="HY중고딕"/>
        <a:font script="Hans" typeface="隶书"/>
        <a:font script="Hant" typeface="微軟正黑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mbria"/>
        <a:ea typeface=""/>
        <a:cs typeface=""/>
        <a:font script="Jpan" typeface="ＭＳ Ｐ明朝"/>
        <a:font script="Hang" typeface="HY견명조"/>
        <a:font script="Hans" typeface="华文楷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龙腾四海">
      <a:fillStyleLst>
        <a:solidFill>
          <a:schemeClr val="phClr">
            <a:tint val="100000"/>
            <a:shade val="100000"/>
            <a:hueMod val="100000"/>
            <a:satMod val="100000"/>
          </a:schemeClr>
        </a:solidFill>
        <a:gradFill rotWithShape="1">
          <a:gsLst>
            <a:gs pos="0">
              <a:schemeClr val="phClr">
                <a:tint val="100000"/>
                <a:shade val="50000"/>
                <a:hueMod val="100000"/>
                <a:satMod val="250000"/>
              </a:schemeClr>
            </a:gs>
            <a:gs pos="75000">
              <a:schemeClr val="phClr">
                <a:tint val="80000"/>
                <a:shade val="100000"/>
                <a:hueMod val="100000"/>
                <a:satMod val="375000"/>
              </a:schemeClr>
            </a:gs>
            <a:gs pos="100000">
              <a:schemeClr val="phClr">
                <a:tint val="50000"/>
                <a:shade val="100000"/>
                <a:hueMod val="100000"/>
                <a:satMod val="500000"/>
              </a:schemeClr>
            </a:gs>
          </a:gsLst>
          <a:lin ang="16200000" scaled="1"/>
        </a:gradFill>
        <a:blipFill>
          <a:blip xmlns:r="http://schemas.openxmlformats.org/officeDocument/2006/relationships" r:embed="rId1">
            <a:duotone>
              <a:schemeClr val="phClr">
                <a:tint val="100000"/>
                <a:shade val="50000"/>
                <a:hueMod val="100000"/>
                <a:satMod val="100000"/>
              </a:schemeClr>
              <a:schemeClr val="phClr">
                <a:tint val="100000"/>
                <a:shade val="75000"/>
                <a:hueMod val="100000"/>
                <a:satMod val="100000"/>
              </a:schemeClr>
            </a:duotone>
          </a:blip>
          <a:tile tx="0" ty="0" sx="50000" sy="50000" flip="none" algn="ctr"/>
        </a:blipFill>
      </a:fillStyleLst>
      <a:lnStyleLst>
        <a:ln w="127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glow>
              <a:schemeClr val="phClr">
                <a:tint val="100000"/>
                <a:shade val="100000"/>
                <a:hueMod val="100000"/>
                <a:satMod val="100000"/>
              </a:schemeClr>
            </a:glow>
          </a:effectLst>
        </a:effectStyle>
        <a:effectStyle>
          <a:effectLst>
            <a:glow>
              <a:schemeClr val="phClr">
                <a:tint val="100000"/>
                <a:shade val="100000"/>
                <a:hueMod val="100000"/>
                <a:satMod val="100000"/>
              </a:schemeClr>
            </a:glow>
          </a:effectLst>
          <a:scene3d>
            <a:camera prst="orthographicFront" fov="0">
              <a:rot lat="0" lon="0" rev="0"/>
            </a:camera>
            <a:lightRig rig="threePt" dir="tl">
              <a:rot lat="0" lon="0" rev="0"/>
            </a:lightRig>
          </a:scene3d>
          <a:sp3d prstMaterial="metal">
            <a:bevelT w="12700" h="12700" prst="relaxedInset"/>
            <a:contourClr>
              <a:schemeClr val="phClr">
                <a:tint val="100000"/>
                <a:shade val="100000"/>
                <a:hueMod val="100000"/>
                <a:satMod val="100000"/>
              </a:schemeClr>
            </a:contourClr>
          </a:sp3d>
        </a:effectStyle>
        <a:effectStyle>
          <a:effectLst>
            <a:glow>
              <a:schemeClr val="phClr">
                <a:tint val="100000"/>
                <a:shade val="100000"/>
                <a:hueMod val="100000"/>
                <a:satMod val="100000"/>
              </a:schemeClr>
            </a:glow>
            <a:outerShdw blurRad="44450" dist="50800" dir="3300000" sx="99000" sy="99000" algn="tl" rotWithShape="0">
              <a:srgbClr val="000000">
                <a:alpha val="55000"/>
              </a:srgbClr>
            </a:outerShdw>
          </a:effectLst>
          <a:scene3d>
            <a:camera prst="orthographicFront">
              <a:rot lat="0" lon="0" rev="0"/>
            </a:camera>
            <a:lightRig rig="contrasting" dir="tl">
              <a:rot lat="0" lon="0" rev="14220000"/>
            </a:lightRig>
          </a:scene3d>
          <a:sp3d prstMaterial="dkEdge">
            <a:bevelT w="63500" h="63500"/>
            <a:bevelB w="0" h="0"/>
            <a:contourClr>
              <a:schemeClr val="phClr">
                <a:tint val="100000"/>
                <a:shade val="100000"/>
                <a:hueMod val="100000"/>
                <a:satMod val="100000"/>
              </a:schemeClr>
            </a:contourClr>
          </a:sp3d>
        </a:effectStyle>
      </a:effectStyleLst>
      <a:bgFillStyleLst>
        <a:solidFill>
          <a:schemeClr val="phClr">
            <a:tint val="100000"/>
            <a:shade val="100000"/>
            <a:hueMod val="100000"/>
            <a:satMod val="100000"/>
          </a:schemeClr>
        </a:solidFill>
        <a:gradFill rotWithShape="1">
          <a:gsLst>
            <a:gs pos="0">
              <a:schemeClr val="bg1">
                <a:tint val="100000"/>
                <a:shade val="100000"/>
                <a:hueMod val="100000"/>
                <a:satMod val="150000"/>
              </a:schemeClr>
            </a:gs>
            <a:gs pos="55000">
              <a:schemeClr val="bg1">
                <a:tint val="100000"/>
                <a:shade val="90000"/>
                <a:hueMod val="100000"/>
                <a:satMod val="375000"/>
              </a:schemeClr>
            </a:gs>
            <a:gs pos="100000">
              <a:schemeClr val="phClr">
                <a:tint val="88000"/>
                <a:shade val="100000"/>
                <a:hueMod val="100000"/>
                <a:satMod val="500000"/>
              </a:schemeClr>
            </a:gs>
          </a:gsLst>
          <a:lin ang="5400000" scaled="1"/>
        </a:gradFill>
        <a:blipFill>
          <a:blip xmlns:r="http://schemas.openxmlformats.org/officeDocument/2006/relationships" r:embed="rId2">
            <a:duotone>
              <a:schemeClr val="phClr">
                <a:shade val="30000"/>
                <a:satMod val="555000"/>
              </a:schemeClr>
              <a:schemeClr val="phClr">
                <a:tint val="96000"/>
                <a:satMod val="120000"/>
              </a:schemeClr>
            </a:duotone>
          </a:blip>
          <a:stretch>
            <a:fillRect/>
          </a:stretch>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Dragon</Template>
  <TotalTime>849</TotalTime>
  <Words>4283</Words>
  <Application>Microsoft Office PowerPoint</Application>
  <PresentationFormat>全屏显示(4:3)</PresentationFormat>
  <Paragraphs>308</Paragraphs>
  <Slides>85</Slides>
  <Notes>0</Notes>
  <HiddenSlides>0</HiddenSlides>
  <MMClips>5</MMClips>
  <ScaleCrop>false</ScaleCrop>
  <HeadingPairs>
    <vt:vector size="6" baseType="variant">
      <vt:variant>
        <vt:lpstr>主题</vt:lpstr>
      </vt:variant>
      <vt:variant>
        <vt:i4>1</vt:i4>
      </vt:variant>
      <vt:variant>
        <vt:lpstr>嵌入 OLE 服务器</vt:lpstr>
      </vt:variant>
      <vt:variant>
        <vt:i4>0</vt:i4>
      </vt:variant>
      <vt:variant>
        <vt:lpstr>幻灯片标题</vt:lpstr>
      </vt:variant>
      <vt:variant>
        <vt:i4>85</vt:i4>
      </vt:variant>
    </vt:vector>
  </HeadingPairs>
  <TitlesOfParts>
    <vt:vector size="86" baseType="lpstr">
      <vt:lpstr>龙腾四海</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幻灯片 33</vt:lpstr>
      <vt:lpstr>幻灯片 34</vt:lpstr>
      <vt:lpstr>幻灯片 35</vt:lpstr>
      <vt:lpstr>幻灯片 36</vt:lpstr>
      <vt:lpstr>幻灯片 37</vt:lpstr>
      <vt:lpstr>幻灯片 38</vt:lpstr>
      <vt:lpstr>幻灯片 39</vt:lpstr>
      <vt:lpstr>幻灯片 40</vt:lpstr>
      <vt:lpstr>幻灯片 41</vt:lpstr>
      <vt:lpstr>幻灯片 42</vt:lpstr>
      <vt:lpstr>幻灯片 43</vt:lpstr>
      <vt:lpstr>幻灯片 44</vt:lpstr>
      <vt:lpstr>幻灯片 45</vt:lpstr>
      <vt:lpstr>幻灯片 46</vt:lpstr>
      <vt:lpstr>幻灯片 47</vt:lpstr>
      <vt:lpstr>幻灯片 48</vt:lpstr>
      <vt:lpstr>幻灯片 49</vt:lpstr>
      <vt:lpstr>幻灯片 50</vt:lpstr>
      <vt:lpstr>幻灯片 51</vt:lpstr>
      <vt:lpstr>幻灯片 52</vt:lpstr>
      <vt:lpstr>幻灯片 53</vt:lpstr>
      <vt:lpstr>幻灯片 54</vt:lpstr>
      <vt:lpstr>幻灯片 55</vt:lpstr>
      <vt:lpstr>幻灯片 56</vt:lpstr>
      <vt:lpstr>幻灯片 57</vt:lpstr>
      <vt:lpstr>幻灯片 58</vt:lpstr>
      <vt:lpstr>幻灯片 59</vt:lpstr>
      <vt:lpstr>幻灯片 60</vt:lpstr>
      <vt:lpstr>幻灯片 61</vt:lpstr>
      <vt:lpstr>幻灯片 62</vt:lpstr>
      <vt:lpstr>幻灯片 63</vt:lpstr>
      <vt:lpstr>幻灯片 64</vt:lpstr>
      <vt:lpstr>幻灯片 65</vt:lpstr>
      <vt:lpstr>幻灯片 66</vt:lpstr>
      <vt:lpstr>幻灯片 67</vt:lpstr>
      <vt:lpstr>幻灯片 68</vt:lpstr>
      <vt:lpstr>幻灯片 69</vt:lpstr>
      <vt:lpstr>幻灯片 70</vt:lpstr>
      <vt:lpstr>幻灯片 71</vt:lpstr>
      <vt:lpstr>幻灯片 72</vt:lpstr>
      <vt:lpstr>幻灯片 73</vt:lpstr>
      <vt:lpstr>幻灯片 74</vt:lpstr>
      <vt:lpstr>幻灯片 75</vt:lpstr>
      <vt:lpstr>幻灯片 76</vt:lpstr>
      <vt:lpstr>幻灯片 77</vt:lpstr>
      <vt:lpstr>幻灯片 78</vt:lpstr>
      <vt:lpstr>幻灯片 79</vt:lpstr>
      <vt:lpstr>幻灯片 80</vt:lpstr>
      <vt:lpstr>幻灯片 81</vt:lpstr>
      <vt:lpstr>幻灯片 82</vt:lpstr>
      <vt:lpstr>幻灯片 83</vt:lpstr>
      <vt:lpstr>幻灯片 84</vt:lpstr>
      <vt:lpstr>幻灯片 85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第八章 习近平思想</dc:title>
  <dc:creator>Administrator</dc:creator>
  <cp:lastModifiedBy>Lenovo</cp:lastModifiedBy>
  <cp:revision>163</cp:revision>
  <dcterms:created xsi:type="dcterms:W3CDTF">2018-06-11T14:13:52Z</dcterms:created>
  <dcterms:modified xsi:type="dcterms:W3CDTF">2021-09-28T08:36:42Z</dcterms:modified>
</cp:coreProperties>
</file>