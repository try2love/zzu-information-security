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Layouts/slideLayout57.xml" ContentType="application/vnd.openxmlformats-officedocument.presentationml.slideLayout+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Layouts/slideLayout46.xml" ContentType="application/vnd.openxmlformats-officedocument.presentationml.slideLayout+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theme/themeOverride1.xml" ContentType="application/vnd.openxmlformats-officedocument.themeOverride+xml"/>
  <Override PartName="/ppt/tableStyles.xml" ContentType="application/vnd.openxmlformats-officedocument.presentationml.tableStyles+xml"/>
  <Override PartName="/ppt/slides/slide99.xml" ContentType="application/vnd.openxmlformats-officedocument.presentationml.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6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58.xml" ContentType="application/vnd.openxmlformats-officedocument.presentationml.slideLayout+xml"/>
  <Override PartName="/ppt/slideLayouts/slideLayout76.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72.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slideLayouts/slideLayout3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Layouts/slideLayout21.xml" ContentType="application/vnd.openxmlformats-officedocument.presentationml.slideLayout+xml"/>
  <Override PartName="/ppt/slideLayouts/slideLayout50.xml" ContentType="application/vnd.openxmlformats-officedocument.presentationml.slideLayout+xml"/>
  <Override PartName="/ppt/slides/slide119.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9.xml" ContentType="application/vnd.openxmlformats-officedocument.presentationml.slide+xml"/>
  <Override PartName="/ppt/slides/slide108.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Layouts/slideLayout59.xml" ContentType="application/vnd.openxmlformats-officedocument.presentationml.slideLayout+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6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74.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Layouts/slideLayout16.xml" ContentType="application/vnd.openxmlformats-officedocument.presentationml.slideLayout+xml"/>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81.xml" ContentType="application/vnd.openxmlformats-officedocument.presentationml.slideLayout+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70.xml" ContentType="application/vnd.openxmlformats-officedocument.presentationml.slideLayout+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slides/slide98.xml" ContentType="application/vnd.openxmlformats-officedocument.presentationml.slide+xml"/>
  <Override PartName="/ppt/slides/slide117.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Layouts/slideLayout39.xml" ContentType="application/vnd.openxmlformats-officedocument.presentationml.slideLayout+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53.xml" ContentType="application/vnd.openxmlformats-officedocument.presentationml.slideLayout+xml"/>
  <Override PartName="/ppt/slides/slide32.xml" ContentType="application/vnd.openxmlformats-officedocument.presentationml.slide+xml"/>
  <Override PartName="/ppt/slideLayouts/slideLayout42.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04" r:id="rId1"/>
  </p:sldMasterIdLst>
  <p:notesMasterIdLst>
    <p:notesMasterId r:id="rId125"/>
  </p:notesMasterIdLst>
  <p:sldIdLst>
    <p:sldId id="311" r:id="rId2"/>
    <p:sldId id="454" r:id="rId3"/>
    <p:sldId id="312" r:id="rId4"/>
    <p:sldId id="313" r:id="rId5"/>
    <p:sldId id="314" r:id="rId6"/>
    <p:sldId id="455" r:id="rId7"/>
    <p:sldId id="316" r:id="rId8"/>
    <p:sldId id="315" r:id="rId9"/>
    <p:sldId id="432" r:id="rId10"/>
    <p:sldId id="317" r:id="rId11"/>
    <p:sldId id="425" r:id="rId12"/>
    <p:sldId id="427" r:id="rId13"/>
    <p:sldId id="430" r:id="rId14"/>
    <p:sldId id="319" r:id="rId15"/>
    <p:sldId id="471" r:id="rId16"/>
    <p:sldId id="321" r:id="rId17"/>
    <p:sldId id="322" r:id="rId18"/>
    <p:sldId id="323" r:id="rId19"/>
    <p:sldId id="325" r:id="rId20"/>
    <p:sldId id="326" r:id="rId21"/>
    <p:sldId id="327" r:id="rId22"/>
    <p:sldId id="328" r:id="rId23"/>
    <p:sldId id="329" r:id="rId24"/>
    <p:sldId id="330" r:id="rId25"/>
    <p:sldId id="331" r:id="rId26"/>
    <p:sldId id="332" r:id="rId27"/>
    <p:sldId id="333" r:id="rId28"/>
    <p:sldId id="335" r:id="rId29"/>
    <p:sldId id="456" r:id="rId30"/>
    <p:sldId id="334" r:id="rId31"/>
    <p:sldId id="336" r:id="rId32"/>
    <p:sldId id="460" r:id="rId33"/>
    <p:sldId id="458" r:id="rId34"/>
    <p:sldId id="459" r:id="rId35"/>
    <p:sldId id="462" r:id="rId36"/>
    <p:sldId id="337" r:id="rId37"/>
    <p:sldId id="463" r:id="rId38"/>
    <p:sldId id="465" r:id="rId39"/>
    <p:sldId id="464" r:id="rId40"/>
    <p:sldId id="339" r:id="rId41"/>
    <p:sldId id="467" r:id="rId42"/>
    <p:sldId id="466" r:id="rId43"/>
    <p:sldId id="468" r:id="rId44"/>
    <p:sldId id="340" r:id="rId45"/>
    <p:sldId id="341" r:id="rId46"/>
    <p:sldId id="342" r:id="rId47"/>
    <p:sldId id="343" r:id="rId48"/>
    <p:sldId id="345" r:id="rId49"/>
    <p:sldId id="346" r:id="rId50"/>
    <p:sldId id="347" r:id="rId51"/>
    <p:sldId id="472" r:id="rId52"/>
    <p:sldId id="350" r:id="rId53"/>
    <p:sldId id="351" r:id="rId54"/>
    <p:sldId id="353" r:id="rId55"/>
    <p:sldId id="354" r:id="rId56"/>
    <p:sldId id="355" r:id="rId57"/>
    <p:sldId id="356" r:id="rId58"/>
    <p:sldId id="357" r:id="rId59"/>
    <p:sldId id="358" r:id="rId60"/>
    <p:sldId id="359" r:id="rId61"/>
    <p:sldId id="360" r:id="rId62"/>
    <p:sldId id="361" r:id="rId63"/>
    <p:sldId id="362" r:id="rId64"/>
    <p:sldId id="363" r:id="rId65"/>
    <p:sldId id="364" r:id="rId66"/>
    <p:sldId id="365" r:id="rId67"/>
    <p:sldId id="366" r:id="rId68"/>
    <p:sldId id="367" r:id="rId69"/>
    <p:sldId id="368" r:id="rId70"/>
    <p:sldId id="370" r:id="rId71"/>
    <p:sldId id="369" r:id="rId72"/>
    <p:sldId id="371" r:id="rId73"/>
    <p:sldId id="372" r:id="rId74"/>
    <p:sldId id="374" r:id="rId75"/>
    <p:sldId id="376" r:id="rId76"/>
    <p:sldId id="377" r:id="rId77"/>
    <p:sldId id="378" r:id="rId78"/>
    <p:sldId id="379" r:id="rId79"/>
    <p:sldId id="380" r:id="rId80"/>
    <p:sldId id="382" r:id="rId81"/>
    <p:sldId id="383" r:id="rId82"/>
    <p:sldId id="384" r:id="rId83"/>
    <p:sldId id="385" r:id="rId84"/>
    <p:sldId id="386" r:id="rId85"/>
    <p:sldId id="388" r:id="rId86"/>
    <p:sldId id="437" r:id="rId87"/>
    <p:sldId id="436" r:id="rId88"/>
    <p:sldId id="423" r:id="rId89"/>
    <p:sldId id="389" r:id="rId90"/>
    <p:sldId id="390" r:id="rId91"/>
    <p:sldId id="438" r:id="rId92"/>
    <p:sldId id="434" r:id="rId93"/>
    <p:sldId id="392" r:id="rId94"/>
    <p:sldId id="435" r:id="rId95"/>
    <p:sldId id="393" r:id="rId96"/>
    <p:sldId id="469" r:id="rId97"/>
    <p:sldId id="394" r:id="rId98"/>
    <p:sldId id="395" r:id="rId99"/>
    <p:sldId id="396" r:id="rId100"/>
    <p:sldId id="474" r:id="rId101"/>
    <p:sldId id="475" r:id="rId102"/>
    <p:sldId id="399" r:id="rId103"/>
    <p:sldId id="480" r:id="rId104"/>
    <p:sldId id="401" r:id="rId105"/>
    <p:sldId id="473" r:id="rId106"/>
    <p:sldId id="447" r:id="rId107"/>
    <p:sldId id="411" r:id="rId108"/>
    <p:sldId id="439" r:id="rId109"/>
    <p:sldId id="440" r:id="rId110"/>
    <p:sldId id="481" r:id="rId111"/>
    <p:sldId id="482" r:id="rId112"/>
    <p:sldId id="483" r:id="rId113"/>
    <p:sldId id="413" r:id="rId114"/>
    <p:sldId id="414" r:id="rId115"/>
    <p:sldId id="415" r:id="rId116"/>
    <p:sldId id="416" r:id="rId117"/>
    <p:sldId id="476" r:id="rId118"/>
    <p:sldId id="417" r:id="rId119"/>
    <p:sldId id="470" r:id="rId120"/>
    <p:sldId id="418" r:id="rId121"/>
    <p:sldId id="419" r:id="rId122"/>
    <p:sldId id="422" r:id="rId123"/>
    <p:sldId id="324" r:id="rId12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966155-C72A-4D11-9BF5-9914E8C4A536}" type="datetimeFigureOut">
              <a:rPr lang="zh-CN" altLang="en-US" smtClean="0"/>
              <a:pPr/>
              <a:t>2021/10/29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34A6CD-0AFA-461F-A609-FEF3E48BF327}" type="slidenum">
              <a:rPr lang="zh-CN" altLang="en-US" smtClean="0"/>
              <a:pPr/>
              <a:t>‹#›</a:t>
            </a:fld>
            <a:endParaRPr lang="zh-CN" altLang="en-US"/>
          </a:p>
        </p:txBody>
      </p:sp>
    </p:spTree>
    <p:extLst>
      <p:ext uri="{BB962C8B-B14F-4D97-AF65-F5344CB8AC3E}">
        <p14:creationId xmlns="" xmlns:p14="http://schemas.microsoft.com/office/powerpoint/2010/main" val="1321259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transition>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transition>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pPr/>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20DDE6A5-A424-40BA-8B55-C75A359D2B07}" type="datetimeFigureOut">
              <a:rPr lang="zh-CN" altLang="en-US" smtClean="0"/>
              <a:pPr/>
              <a:t>2021/10/29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20DDE6A5-A424-40BA-8B55-C75A359D2B07}" type="datetimeFigureOut">
              <a:rPr lang="zh-CN" altLang="en-US" smtClean="0"/>
              <a:pPr/>
              <a:t>2021/10/29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DDE6A5-A424-40BA-8B55-C75A359D2B07}" type="datetimeFigureOut">
              <a:rPr lang="zh-CN" altLang="en-US" smtClean="0"/>
              <a:pPr/>
              <a:t>2021/10/29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pPr/>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B0A5CF-BB02-4D96-B8E2-DE0A1324A60A}" type="slidenum">
              <a:rPr lang="zh-CN" altLang="en-US" smtClean="0"/>
              <a:pPr/>
              <a:t>‹#›</a:t>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transition>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pPr/>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p:wipe dir="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2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1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3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4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5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6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7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8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9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0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2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3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4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7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9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0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41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42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43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44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45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48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9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0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51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52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54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55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57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36_标题和内容">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58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59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60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61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62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63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64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65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68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70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73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80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81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82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83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84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85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86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87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90_标题和内容">
    <p:spTree>
      <p:nvGrpSpPr>
        <p:cNvPr id="1" name=""/>
        <p:cNvGrpSpPr/>
        <p:nvPr/>
      </p:nvGrpSpPr>
      <p:grpSpPr>
        <a:xfrm>
          <a:off x="0" y="0"/>
          <a:ext cx="0" cy="0"/>
          <a:chOff x="0" y="0"/>
          <a:chExt cx="0" cy="0"/>
        </a:xfrm>
      </p:grpSpPr>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6" Type="http://schemas.openxmlformats.org/officeDocument/2006/relationships/slideLayout" Target="../slideLayouts/slideLayout76.xml"/><Relationship Id="rId84" Type="http://schemas.openxmlformats.org/officeDocument/2006/relationships/image" Target="../media/image4.png"/><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theme" Target="../theme/theme1.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hyperlink" Target="http://baike.baidu.com/image/d57e99945712b42ed31b7026" TargetMode="Externa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image" Target="../media/image5.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83"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84" cstate="print">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20DDE6A5-A424-40BA-8B55-C75A359D2B07}" type="datetimeFigureOut">
              <a:rPr lang="zh-CN" altLang="en-US" smtClean="0"/>
              <a:pPr/>
              <a:t>2021/10/29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94B0A5CF-BB02-4D96-B8E2-DE0A1324A60A}" type="slidenum">
              <a:rPr lang="zh-CN" altLang="en-US" smtClean="0"/>
              <a:pPr/>
              <a:t>‹#›</a:t>
            </a:fld>
            <a:endParaRPr lang="zh-CN" altLang="en-US"/>
          </a:p>
        </p:txBody>
      </p:sp>
      <p:pic>
        <p:nvPicPr>
          <p:cNvPr id="12" name="Picture 5" descr="d57e99945712b42ed31b7026">
            <a:hlinkClick r:id="rId85"/>
          </p:cNvPr>
          <p:cNvPicPr>
            <a:picLocks noChangeAspect="1"/>
          </p:cNvPicPr>
          <p:nvPr userDrawn="1"/>
        </p:nvPicPr>
        <p:blipFill>
          <a:blip r:embed="rId86" cstate="print"/>
          <a:srcRect/>
          <a:stretch>
            <a:fillRect/>
          </a:stretch>
        </p:blipFill>
        <p:spPr bwMode="auto">
          <a:xfrm>
            <a:off x="7885113" y="5516563"/>
            <a:ext cx="719137" cy="720725"/>
          </a:xfrm>
          <a:prstGeom prst="rect">
            <a:avLst/>
          </a:prstGeom>
          <a:noFill/>
          <a:ln w="9525">
            <a:noFill/>
            <a:miter lim="800000"/>
            <a:headEnd/>
            <a:tailEnd/>
          </a:ln>
        </p:spPr>
      </p:pic>
      <p:sp>
        <p:nvSpPr>
          <p:cNvPr id="13" name="Text Box 3"/>
          <p:cNvSpPr txBox="1">
            <a:spLocks noChangeArrowheads="1"/>
          </p:cNvSpPr>
          <p:nvPr userDrawn="1"/>
        </p:nvSpPr>
        <p:spPr bwMode="auto">
          <a:xfrm>
            <a:off x="6660232" y="0"/>
            <a:ext cx="2232025" cy="581025"/>
          </a:xfrm>
          <a:prstGeom prst="rect">
            <a:avLst/>
          </a:prstGeom>
          <a:noFill/>
          <a:ln w="9525">
            <a:noFill/>
            <a:miter lim="800000"/>
          </a:ln>
          <a:effectLst/>
        </p:spPr>
        <p:txBody>
          <a:bodyPr wrap="none">
            <a:spAutoFit/>
          </a:bodyPr>
          <a:lstStyle/>
          <a:p>
            <a:pPr>
              <a:buFontTx/>
              <a:buNone/>
              <a:defRPr/>
            </a:pPr>
            <a:r>
              <a:rPr lang="zh-CN" altLang="en-US" sz="1600" b="1" dirty="0">
                <a:solidFill>
                  <a:srgbClr val="FFFF00"/>
                </a:solidFill>
                <a:effectLst>
                  <a:outerShdw blurRad="38100" dist="38100" dir="2700000" algn="tl">
                    <a:srgbClr val="000000"/>
                  </a:outerShdw>
                </a:effectLst>
              </a:rPr>
              <a:t>毛泽东思想和中国特色</a:t>
            </a:r>
          </a:p>
          <a:p>
            <a:pPr>
              <a:buFontTx/>
              <a:buNone/>
              <a:defRPr/>
            </a:pPr>
            <a:r>
              <a:rPr lang="zh-CN" altLang="en-US" sz="1600" b="1" dirty="0">
                <a:solidFill>
                  <a:srgbClr val="FFFF00"/>
                </a:solidFill>
                <a:effectLst>
                  <a:outerShdw blurRad="38100" dist="38100" dir="2700000" algn="tl">
                    <a:srgbClr val="000000"/>
                  </a:outerShdw>
                </a:effectLst>
              </a:rPr>
              <a:t>社会主义理论体系概论</a:t>
            </a:r>
          </a:p>
        </p:txBody>
      </p:sp>
    </p:spTree>
  </p:cSld>
  <p:clrMap bg1="lt1" tx1="dk1" bg2="lt2" tx2="dk2" accent1="accent1" accent2="accent2" accent3="accent3" accent4="accent4" accent5="accent5" accent6="accent6" hlink="hlink" folHlink="folHlink"/>
  <p:sldLayoutIdLst>
    <p:sldLayoutId id="2147484305" r:id="rId1"/>
    <p:sldLayoutId id="2147484306" r:id="rId2"/>
    <p:sldLayoutId id="2147484307" r:id="rId3"/>
    <p:sldLayoutId id="2147484308" r:id="rId4"/>
    <p:sldLayoutId id="2147484309" r:id="rId5"/>
    <p:sldLayoutId id="2147484310" r:id="rId6"/>
    <p:sldLayoutId id="2147484311" r:id="rId7"/>
    <p:sldLayoutId id="2147484312" r:id="rId8"/>
    <p:sldLayoutId id="2147484313" r:id="rId9"/>
    <p:sldLayoutId id="2147484314" r:id="rId10"/>
    <p:sldLayoutId id="2147484315" r:id="rId11"/>
    <p:sldLayoutId id="2147484316" r:id="rId12"/>
    <p:sldLayoutId id="2147484317" r:id="rId13"/>
    <p:sldLayoutId id="2147484318" r:id="rId14"/>
    <p:sldLayoutId id="2147484319" r:id="rId15"/>
    <p:sldLayoutId id="2147484320" r:id="rId16"/>
    <p:sldLayoutId id="2147484321" r:id="rId17"/>
    <p:sldLayoutId id="2147484322" r:id="rId18"/>
    <p:sldLayoutId id="2147484323" r:id="rId19"/>
    <p:sldLayoutId id="2147484324" r:id="rId20"/>
    <p:sldLayoutId id="2147484326" r:id="rId21"/>
    <p:sldLayoutId id="2147484327" r:id="rId22"/>
    <p:sldLayoutId id="2147484328" r:id="rId23"/>
    <p:sldLayoutId id="2147484329" r:id="rId24"/>
    <p:sldLayoutId id="2147484330" r:id="rId25"/>
    <p:sldLayoutId id="2147484331" r:id="rId26"/>
    <p:sldLayoutId id="2147484332" r:id="rId27"/>
    <p:sldLayoutId id="2147484333" r:id="rId28"/>
    <p:sldLayoutId id="2147484334" r:id="rId29"/>
    <p:sldLayoutId id="2147484335" r:id="rId30"/>
    <p:sldLayoutId id="2147484336" r:id="rId31"/>
    <p:sldLayoutId id="2147484337" r:id="rId32"/>
    <p:sldLayoutId id="2147484338" r:id="rId33"/>
    <p:sldLayoutId id="2147484339" r:id="rId34"/>
    <p:sldLayoutId id="2147484340" r:id="rId35"/>
    <p:sldLayoutId id="2147484341" r:id="rId36"/>
    <p:sldLayoutId id="2147484342" r:id="rId37"/>
    <p:sldLayoutId id="2147484343" r:id="rId38"/>
    <p:sldLayoutId id="2147484344" r:id="rId39"/>
    <p:sldLayoutId id="2147484345" r:id="rId40"/>
    <p:sldLayoutId id="2147484346" r:id="rId41"/>
    <p:sldLayoutId id="2147484347" r:id="rId42"/>
    <p:sldLayoutId id="2147484348" r:id="rId43"/>
    <p:sldLayoutId id="2147484351" r:id="rId44"/>
    <p:sldLayoutId id="2147484353" r:id="rId45"/>
    <p:sldLayoutId id="2147484354" r:id="rId46"/>
    <p:sldLayoutId id="2147484355" r:id="rId47"/>
    <p:sldLayoutId id="2147484356" r:id="rId48"/>
    <p:sldLayoutId id="2147484357" r:id="rId49"/>
    <p:sldLayoutId id="2147484358" r:id="rId50"/>
    <p:sldLayoutId id="2147484359" r:id="rId51"/>
    <p:sldLayoutId id="2147484360" r:id="rId52"/>
    <p:sldLayoutId id="2147484363" r:id="rId53"/>
    <p:sldLayoutId id="2147484364" r:id="rId54"/>
    <p:sldLayoutId id="2147484365" r:id="rId55"/>
    <p:sldLayoutId id="2147484366" r:id="rId56"/>
    <p:sldLayoutId id="2147484367" r:id="rId57"/>
    <p:sldLayoutId id="2147484369" r:id="rId58"/>
    <p:sldLayoutId id="2147484370" r:id="rId59"/>
    <p:sldLayoutId id="2147484372" r:id="rId60"/>
    <p:sldLayoutId id="2147484373" r:id="rId61"/>
    <p:sldLayoutId id="2147484374" r:id="rId62"/>
    <p:sldLayoutId id="2147484375" r:id="rId63"/>
    <p:sldLayoutId id="2147484376" r:id="rId64"/>
    <p:sldLayoutId id="2147484377" r:id="rId65"/>
    <p:sldLayoutId id="2147484378" r:id="rId66"/>
    <p:sldLayoutId id="2147484379" r:id="rId67"/>
    <p:sldLayoutId id="2147484380" r:id="rId68"/>
    <p:sldLayoutId id="2147484381" r:id="rId69"/>
    <p:sldLayoutId id="2147484384" r:id="rId70"/>
    <p:sldLayoutId id="2147484386" r:id="rId71"/>
    <p:sldLayoutId id="2147484389" r:id="rId72"/>
    <p:sldLayoutId id="2147484396" r:id="rId73"/>
    <p:sldLayoutId id="2147484397" r:id="rId74"/>
    <p:sldLayoutId id="2147484398" r:id="rId75"/>
    <p:sldLayoutId id="2147484399" r:id="rId76"/>
    <p:sldLayoutId id="2147484400" r:id="rId77"/>
    <p:sldLayoutId id="2147484401" r:id="rId78"/>
    <p:sldLayoutId id="2147484402" r:id="rId79"/>
    <p:sldLayoutId id="2147484403" r:id="rId80"/>
    <p:sldLayoutId id="2147484406" r:id="rId81"/>
  </p:sldLayoutIdLst>
  <p:transition>
    <p:wipe dir="r"/>
  </p:transition>
  <p:timing>
    <p:tnLst>
      <p:par>
        <p:cTn id="1" dur="indefinite" restart="never" nodeType="tmRoot"/>
      </p:par>
    </p:tnLst>
  </p:timing>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9.xml"/><Relationship Id="rId5" Type="http://schemas.openxmlformats.org/officeDocument/2006/relationships/image" Target="../media/image12.jpeg"/><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6.xml"/></Relationships>
</file>

<file path=ppt/slides/_rels/slide3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8.xml"/></Relationships>
</file>

<file path=ppt/slides/_rels/slide4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1.xml"/></Relationships>
</file>

<file path=ppt/slides/_rels/slide4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0.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49.xml"/></Relationships>
</file>

<file path=ppt/slides/_rels/slide69.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50.xml"/></Relationships>
</file>

<file path=ppt/slides/_rels/slide7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52.xml"/></Relationships>
</file>

<file path=ppt/slides/_rels/slide74.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5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7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5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5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8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6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9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6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2.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64.xml"/></Relationships>
</file>

<file path=ppt/slides/_rels/slide9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6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95.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66.xml"/></Relationships>
</file>

<file path=ppt/slides/_rels/slide9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6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98.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6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0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70.xml"/></Relationships>
</file>

<file path=ppt/slides/_rels/slide10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70.xml"/><Relationship Id="rId1" Type="http://schemas.openxmlformats.org/officeDocument/2006/relationships/video" Target="file:///D:\360&#23433;&#20840;&#27983;&#35272;&#22120;&#19979;&#36733;\&#24433;&#35270;&#65306;&#21476;&#30000;&#20250;&#35758;&#21484;&#24320;&#65292;&#27611;&#20027;&#24109;&#28165;&#29702;&#20826;&#20869;&#30340;&#21361;&#23475;&#65292;&#21508;&#24178;&#37096;&#30636;&#38388;&#24515;&#26381;&#21475;&#26381;,&#24433;&#35270;,&#25112;&#20105;&#29255;,&#22909;&#30475;&#35270;&#39057;.mp4"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04.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7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06.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1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70.xml"/><Relationship Id="rId1" Type="http://schemas.openxmlformats.org/officeDocument/2006/relationships/video" Target="file:///D:\360&#23433;&#20840;&#27983;&#35272;&#22120;&#19979;&#36733;\&#22830;&#35270;&#22823;&#22411;&#25991;&#29486;&#32426;&#24405;&#29255;&#12298;&#26071;&#24092;&#12299;&#31532;&#20108;&#38598;&#65306;&#12298;&#28020;&#34880;&#22859;&#26007;&#12299;1.mp4" TargetMode="External"/></Relationships>
</file>

<file path=ppt/slides/_rels/slide11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20.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63688" y="1859340"/>
            <a:ext cx="6120680" cy="1569660"/>
          </a:xfrm>
          <a:prstGeom prst="rect">
            <a:avLst/>
          </a:prstGeom>
          <a:solidFill>
            <a:schemeClr val="bg2"/>
          </a:solidFill>
        </p:spPr>
        <p:txBody>
          <a:bodyPr wrap="square">
            <a:spAutoFit/>
          </a:bodyPr>
          <a:lstStyle/>
          <a:p>
            <a:r>
              <a:rPr lang="zh-CN" altLang="en-US" sz="4800" dirty="0" smtClean="0">
                <a:solidFill>
                  <a:srgbClr val="FF0000"/>
                </a:solidFill>
                <a:latin typeface="Maiandra GD"/>
                <a:ea typeface="隶书"/>
                <a:cs typeface="+mj-cs"/>
              </a:rPr>
              <a:t>          第二章  </a:t>
            </a:r>
            <a:endParaRPr lang="en-US" altLang="zh-CN" sz="4800" dirty="0" smtClean="0">
              <a:solidFill>
                <a:srgbClr val="FF0000"/>
              </a:solidFill>
              <a:latin typeface="Maiandra GD"/>
              <a:ea typeface="隶书"/>
              <a:cs typeface="+mj-cs"/>
            </a:endParaRPr>
          </a:p>
          <a:p>
            <a:r>
              <a:rPr lang="zh-CN" altLang="en-US" sz="4800" dirty="0" smtClean="0">
                <a:solidFill>
                  <a:srgbClr val="FF0000"/>
                </a:solidFill>
                <a:latin typeface="Maiandra GD"/>
                <a:ea typeface="隶书"/>
                <a:cs typeface="+mj-cs"/>
              </a:rPr>
              <a:t> </a:t>
            </a:r>
            <a:r>
              <a:rPr lang="zh-CN" altLang="en-US" sz="4800" dirty="0">
                <a:solidFill>
                  <a:srgbClr val="FF0000"/>
                </a:solidFill>
                <a:latin typeface="Maiandra GD"/>
                <a:ea typeface="隶书"/>
                <a:cs typeface="+mj-cs"/>
              </a:rPr>
              <a:t>新民主主义革命理论</a:t>
            </a:r>
            <a:endParaRPr lang="zh-CN" altLang="en-US" dirty="0">
              <a:solidFill>
                <a:srgbClr val="FF0000"/>
              </a:solidFill>
            </a:endParaRPr>
          </a:p>
        </p:txBody>
      </p:sp>
      <p:sp>
        <p:nvSpPr>
          <p:cNvPr id="3" name="矩形 2"/>
          <p:cNvSpPr/>
          <p:nvPr/>
        </p:nvSpPr>
        <p:spPr>
          <a:xfrm>
            <a:off x="3941058" y="4077072"/>
            <a:ext cx="1261884" cy="523220"/>
          </a:xfrm>
          <a:prstGeom prst="rect">
            <a:avLst/>
          </a:prstGeom>
        </p:spPr>
        <p:txBody>
          <a:bodyPr wrap="none">
            <a:spAutoFit/>
          </a:bodyPr>
          <a:lstStyle/>
          <a:p>
            <a:pPr lvl="0">
              <a:spcBef>
                <a:spcPct val="20000"/>
              </a:spcBef>
              <a:buClr>
                <a:srgbClr val="477AB1"/>
              </a:buClr>
              <a:buSzPct val="50000"/>
            </a:pPr>
            <a:r>
              <a:rPr lang="zh-CN" altLang="en-US" sz="2800" dirty="0">
                <a:solidFill>
                  <a:srgbClr val="FF0000"/>
                </a:solidFill>
                <a:latin typeface="隶书"/>
                <a:ea typeface="隶书"/>
              </a:rPr>
              <a:t>宋艳萍</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p:nvPr/>
        </p:nvSpPr>
        <p:spPr>
          <a:xfrm>
            <a:off x="978218" y="459423"/>
            <a:ext cx="6934200" cy="5047536"/>
          </a:xfrm>
          <a:prstGeom prst="rect">
            <a:avLst/>
          </a:prstGeom>
          <a:noFill/>
          <a:ln w="12700" cap="flat" cmpd="sng">
            <a:solidFill>
              <a:srgbClr val="FF0000"/>
            </a:solidFill>
            <a:prstDash val="solid"/>
            <a:miter/>
            <a:headEnd type="none" w="med" len="med"/>
            <a:tailEnd type="none" w="med" len="med"/>
          </a:ln>
        </p:spPr>
        <p:txBody>
          <a:bodyPr anchor="t">
            <a:spAutoFit/>
          </a:bodyPr>
          <a:lstStyle/>
          <a:p>
            <a:pPr eaLnBrk="0" hangingPunct="0">
              <a:lnSpc>
                <a:spcPct val="105000"/>
              </a:lnSpc>
              <a:spcBef>
                <a:spcPct val="50000"/>
              </a:spcBef>
            </a:pPr>
            <a:r>
              <a:rPr lang="zh-CN" altLang="en-US" sz="2800" b="1" dirty="0">
                <a:solidFill>
                  <a:prstClr val="black"/>
                </a:solidFill>
                <a:latin typeface="Times New Roman" panose="02020603050405020304" pitchFamily="18" charset="0"/>
                <a:ea typeface="黑体" panose="02010609060101010101" pitchFamily="2" charset="-122"/>
              </a:rPr>
              <a:t>本章教学目的</a:t>
            </a:r>
          </a:p>
          <a:p>
            <a:pPr eaLnBrk="0" hangingPunct="0">
              <a:lnSpc>
                <a:spcPct val="105000"/>
              </a:lnSpc>
              <a:spcBef>
                <a:spcPct val="50000"/>
              </a:spcBef>
            </a:pPr>
            <a:r>
              <a:rPr lang="zh-CN" altLang="en-US" sz="2800" b="1" dirty="0">
                <a:solidFill>
                  <a:prstClr val="black"/>
                </a:solidFill>
                <a:latin typeface="Times New Roman" panose="02020603050405020304" pitchFamily="18" charset="0"/>
                <a:ea typeface="黑体" panose="02010609060101010101" pitchFamily="2" charset="-122"/>
              </a:rPr>
              <a:t>      新民主主义革命理论是中国共产党运用马克思主义基本原理，认真总结中国革命实践经验而创立的理论，是毛泽东思想的最主要内容。</a:t>
            </a:r>
            <a:endParaRPr lang="en-US" altLang="zh-CN" sz="2800" b="1" dirty="0">
              <a:solidFill>
                <a:prstClr val="black"/>
              </a:solidFill>
              <a:latin typeface="Times New Roman" panose="02020603050405020304" pitchFamily="18" charset="0"/>
              <a:ea typeface="黑体" panose="02010609060101010101" pitchFamily="2" charset="-122"/>
            </a:endParaRPr>
          </a:p>
          <a:p>
            <a:pPr eaLnBrk="0" hangingPunct="0">
              <a:lnSpc>
                <a:spcPct val="105000"/>
              </a:lnSpc>
              <a:spcBef>
                <a:spcPct val="50000"/>
              </a:spcBef>
            </a:pPr>
            <a:r>
              <a:rPr lang="en-US" altLang="zh-CN" sz="2800" b="1" dirty="0">
                <a:solidFill>
                  <a:prstClr val="black"/>
                </a:solidFill>
                <a:latin typeface="Times New Roman" panose="02020603050405020304" pitchFamily="18" charset="0"/>
                <a:ea typeface="黑体" panose="02010609060101010101" pitchFamily="2" charset="-122"/>
              </a:rPr>
              <a:t>       </a:t>
            </a:r>
            <a:r>
              <a:rPr lang="zh-CN" altLang="en-US" sz="2800" b="1" dirty="0">
                <a:solidFill>
                  <a:prstClr val="black"/>
                </a:solidFill>
                <a:latin typeface="Times New Roman" panose="02020603050405020304" pitchFamily="18" charset="0"/>
                <a:ea typeface="黑体" panose="02010609060101010101" pitchFamily="2" charset="-122"/>
              </a:rPr>
              <a:t>通过阐述新民主主义革命理论的学习，大家要掌握新民主主义理论的</a:t>
            </a:r>
            <a:r>
              <a:rPr lang="zh-CN" altLang="en-US" sz="2800" b="1" dirty="0">
                <a:solidFill>
                  <a:prstClr val="black"/>
                </a:solidFill>
                <a:latin typeface="Times New Roman" panose="02020603050405020304" pitchFamily="18" charset="0"/>
                <a:sym typeface="+mn-ea"/>
              </a:rPr>
              <a:t>形成、基本</a:t>
            </a:r>
            <a:r>
              <a:rPr lang="zh-CN" altLang="en-US" sz="2800" b="1" dirty="0">
                <a:solidFill>
                  <a:prstClr val="black"/>
                </a:solidFill>
                <a:latin typeface="Times New Roman" panose="02020603050405020304" pitchFamily="18" charset="0"/>
                <a:ea typeface="黑体" panose="02010609060101010101" pitchFamily="2" charset="-122"/>
              </a:rPr>
              <a:t>内容及意义，认识到新民主主义革命理论是中国革命经验的总结，是马克思主义中国化的重要成果，是中国革命胜利的指南</a:t>
            </a:r>
          </a:p>
        </p:txBody>
      </p:sp>
    </p:spTree>
    <p:extLst>
      <p:ext uri="{BB962C8B-B14F-4D97-AF65-F5344CB8AC3E}">
        <p14:creationId xmlns="" xmlns:p14="http://schemas.microsoft.com/office/powerpoint/2010/main" val="1296718441"/>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idx="4294967295"/>
          </p:nvPr>
        </p:nvSpPr>
        <p:spPr>
          <a:xfrm>
            <a:off x="899592" y="1340768"/>
            <a:ext cx="7343775" cy="3662362"/>
          </a:xfrm>
          <a:prstGeom prst="rect">
            <a:avLst/>
          </a:prstGeom>
          <a:noFill/>
          <a:ln w="12700">
            <a:solidFill>
              <a:srgbClr val="FF0000"/>
            </a:solidFill>
            <a:miter/>
          </a:ln>
        </p:spPr>
        <p:txBody>
          <a:bodyPr anchor="t">
            <a:spAutoFit/>
          </a:bodyPr>
          <a:lstStyle/>
          <a:p>
            <a:pPr marL="0" indent="0">
              <a:lnSpc>
                <a:spcPct val="105000"/>
              </a:lnSpc>
              <a:spcBef>
                <a:spcPct val="50000"/>
              </a:spcBef>
              <a:buNone/>
            </a:pPr>
            <a:r>
              <a:rPr lang="zh-CN" altLang="en-US" b="1" dirty="0">
                <a:latin typeface="Times New Roman" panose="02020603050405020304" pitchFamily="18" charset="0"/>
                <a:ea typeface="黑体" panose="02010609060101010101" pitchFamily="2" charset="-122"/>
              </a:rPr>
              <a:t>本章重点难点</a:t>
            </a:r>
          </a:p>
          <a:p>
            <a:pPr marL="0" indent="0">
              <a:lnSpc>
                <a:spcPct val="105000"/>
              </a:lnSpc>
              <a:spcBef>
                <a:spcPct val="50000"/>
              </a:spcBef>
              <a:buNone/>
            </a:pPr>
            <a:r>
              <a:rPr lang="en-US" altLang="zh-CN" b="1">
                <a:latin typeface="Times New Roman" panose="02020603050405020304" pitchFamily="18" charset="0"/>
                <a:ea typeface="黑体" panose="02010609060101010101" pitchFamily="2" charset="-122"/>
              </a:rPr>
              <a:t>1</a:t>
            </a:r>
            <a:r>
              <a:rPr lang="zh-CN" altLang="en-US" b="1" dirty="0">
                <a:latin typeface="Times New Roman" panose="02020603050405020304" pitchFamily="18" charset="0"/>
                <a:ea typeface="黑体" panose="02010609060101010101" pitchFamily="2" charset="-122"/>
              </a:rPr>
              <a:t>、近代中国国情和中国革命的时代特征</a:t>
            </a:r>
          </a:p>
          <a:p>
            <a:pPr marL="0" indent="0">
              <a:lnSpc>
                <a:spcPct val="105000"/>
              </a:lnSpc>
              <a:spcBef>
                <a:spcPct val="50000"/>
              </a:spcBef>
              <a:buNone/>
            </a:pPr>
            <a:r>
              <a:rPr lang="en-US" altLang="zh-CN" b="1">
                <a:latin typeface="Times New Roman" panose="02020603050405020304" pitchFamily="18" charset="0"/>
                <a:ea typeface="黑体" panose="02010609060101010101" pitchFamily="2" charset="-122"/>
              </a:rPr>
              <a:t>2</a:t>
            </a:r>
            <a:r>
              <a:rPr lang="zh-CN" altLang="en-US" b="1" dirty="0">
                <a:latin typeface="Times New Roman" panose="02020603050405020304" pitchFamily="18" charset="0"/>
                <a:ea typeface="黑体" panose="02010609060101010101" pitchFamily="2" charset="-122"/>
              </a:rPr>
              <a:t>、新民主主义革命的总路线和基本纲领</a:t>
            </a:r>
          </a:p>
          <a:p>
            <a:pPr marL="0" indent="0">
              <a:lnSpc>
                <a:spcPct val="105000"/>
              </a:lnSpc>
              <a:spcBef>
                <a:spcPct val="50000"/>
              </a:spcBef>
              <a:buNone/>
            </a:pPr>
            <a:r>
              <a:rPr lang="en-US" altLang="zh-CN" b="1">
                <a:latin typeface="Times New Roman" panose="02020603050405020304" pitchFamily="18" charset="0"/>
                <a:ea typeface="黑体" panose="02010609060101010101" pitchFamily="2" charset="-122"/>
              </a:rPr>
              <a:t>3</a:t>
            </a:r>
            <a:r>
              <a:rPr lang="zh-CN" altLang="en-US" b="1" dirty="0">
                <a:latin typeface="Times New Roman" panose="02020603050405020304" pitchFamily="18" charset="0"/>
                <a:ea typeface="黑体" panose="02010609060101010101" pitchFamily="2" charset="-122"/>
              </a:rPr>
              <a:t>、新民主主义革命的道路</a:t>
            </a:r>
          </a:p>
          <a:p>
            <a:pPr marL="0" indent="0">
              <a:lnSpc>
                <a:spcPct val="105000"/>
              </a:lnSpc>
              <a:spcBef>
                <a:spcPct val="50000"/>
              </a:spcBef>
              <a:buNone/>
            </a:pPr>
            <a:r>
              <a:rPr lang="en-US" altLang="zh-CN" b="1">
                <a:latin typeface="Times New Roman" panose="02020603050405020304" pitchFamily="18" charset="0"/>
                <a:ea typeface="黑体" panose="02010609060101010101" pitchFamily="2" charset="-122"/>
              </a:rPr>
              <a:t>4</a:t>
            </a:r>
            <a:r>
              <a:rPr lang="zh-CN" altLang="en-US" b="1" dirty="0">
                <a:latin typeface="Times New Roman" panose="02020603050405020304" pitchFamily="18" charset="0"/>
                <a:ea typeface="黑体" panose="02010609060101010101" pitchFamily="2" charset="-122"/>
              </a:rPr>
              <a:t>、新民主主义革命的经验</a:t>
            </a: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p:cNvSpPr>
          <p:nvPr>
            <p:ph idx="4294967295"/>
          </p:nvPr>
        </p:nvSpPr>
        <p:spPr>
          <a:xfrm>
            <a:off x="1331640" y="1556792"/>
            <a:ext cx="7431087" cy="3614738"/>
          </a:xfrm>
          <a:prstGeom prst="rect">
            <a:avLst/>
          </a:prstGeom>
          <a:noFill/>
          <a:ln>
            <a:solidFill>
              <a:srgbClr val="FF0000"/>
            </a:solidFill>
            <a:miter/>
          </a:ln>
        </p:spPr>
        <p:txBody>
          <a:bodyPr anchor="t"/>
          <a:lstStyle/>
          <a:p>
            <a:pPr eaLnBrk="1" hangingPunct="1">
              <a:buNone/>
            </a:pPr>
            <a:r>
              <a:rPr lang="en-US" altLang="zh-CN" b="1" dirty="0" smtClean="0">
                <a:solidFill>
                  <a:srgbClr val="0000FF"/>
                </a:solidFill>
                <a:ea typeface="黑体" panose="02010609060101010101" pitchFamily="2" charset="-122"/>
              </a:rPr>
              <a:t>1</a:t>
            </a:r>
            <a:r>
              <a:rPr lang="zh-CN" altLang="en-US" b="1" dirty="0" smtClean="0">
                <a:solidFill>
                  <a:srgbClr val="0000FF"/>
                </a:solidFill>
                <a:ea typeface="黑体" panose="02010609060101010101" pitchFamily="2" charset="-122"/>
              </a:rPr>
              <a:t>、阅读课后参考文献</a:t>
            </a:r>
            <a:endParaRPr lang="zh-CN" altLang="en-US" b="1" dirty="0">
              <a:solidFill>
                <a:srgbClr val="0000FF"/>
              </a:solidFill>
              <a:ea typeface="黑体" panose="02010609060101010101" pitchFamily="2" charset="-122"/>
            </a:endParaRPr>
          </a:p>
          <a:p>
            <a:pPr>
              <a:buNone/>
            </a:pPr>
            <a:r>
              <a:rPr lang="en-US" altLang="zh-CN" b="1" dirty="0">
                <a:solidFill>
                  <a:srgbClr val="0000FF"/>
                </a:solidFill>
                <a:ea typeface="黑体" panose="02010609060101010101" pitchFamily="2" charset="-122"/>
              </a:rPr>
              <a:t>2</a:t>
            </a:r>
            <a:r>
              <a:rPr lang="zh-CN" altLang="en-US" b="1" dirty="0" smtClean="0">
                <a:solidFill>
                  <a:srgbClr val="0000FF"/>
                </a:solidFill>
                <a:ea typeface="黑体" panose="02010609060101010101" pitchFamily="2" charset="-122"/>
              </a:rPr>
              <a:t>、收看</a:t>
            </a:r>
            <a:r>
              <a:rPr lang="zh-CN" altLang="en-US" b="1" dirty="0">
                <a:solidFill>
                  <a:srgbClr val="0000FF"/>
                </a:solidFill>
                <a:ea typeface="黑体" panose="02010609060101010101" pitchFamily="2" charset="-122"/>
              </a:rPr>
              <a:t>：</a:t>
            </a:r>
          </a:p>
          <a:p>
            <a:pPr eaLnBrk="1" hangingPunct="1">
              <a:buNone/>
            </a:pPr>
            <a:r>
              <a:rPr lang="zh-CN" altLang="en-US" b="1" dirty="0" smtClean="0">
                <a:solidFill>
                  <a:srgbClr val="0000FF"/>
                </a:solidFill>
                <a:ea typeface="黑体" panose="02010609060101010101" pitchFamily="2" charset="-122"/>
              </a:rPr>
              <a:t>         金一南</a:t>
            </a:r>
            <a:r>
              <a:rPr lang="zh-CN" altLang="en-US" b="1" dirty="0">
                <a:solidFill>
                  <a:srgbClr val="0000FF"/>
                </a:solidFill>
                <a:ea typeface="黑体" panose="02010609060101010101" pitchFamily="2" charset="-122"/>
              </a:rPr>
              <a:t>：《苦难辉煌》</a:t>
            </a:r>
          </a:p>
          <a:p>
            <a:pPr eaLnBrk="1" hangingPunct="1">
              <a:buNone/>
            </a:pPr>
            <a:r>
              <a:rPr lang="zh-CN" altLang="en-US" b="1" dirty="0" smtClean="0">
                <a:solidFill>
                  <a:srgbClr val="0000FF"/>
                </a:solidFill>
                <a:ea typeface="黑体" panose="02010609060101010101" pitchFamily="2" charset="-122"/>
              </a:rPr>
              <a:t>         文献资料片《旗帜》</a:t>
            </a:r>
            <a:endParaRPr lang="zh-CN" altLang="en-US" b="1" dirty="0">
              <a:solidFill>
                <a:srgbClr val="0000FF"/>
              </a:solidFill>
              <a:ea typeface="黑体" panose="02010609060101010101" pitchFamily="2" charset="-122"/>
            </a:endParaRPr>
          </a:p>
          <a:p>
            <a:pPr eaLnBrk="1" hangingPunct="1">
              <a:buNone/>
            </a:pPr>
            <a:r>
              <a:rPr lang="zh-CN" altLang="en-US" b="1" dirty="0" smtClean="0">
                <a:solidFill>
                  <a:srgbClr val="0000FF"/>
                </a:solidFill>
                <a:ea typeface="黑体" panose="02010609060101010101" pitchFamily="2" charset="-122"/>
              </a:rPr>
              <a:t>        《长征》</a:t>
            </a:r>
            <a:endParaRPr lang="zh-CN" altLang="en-US" b="1" dirty="0">
              <a:solidFill>
                <a:srgbClr val="0000FF"/>
              </a:solidFill>
              <a:ea typeface="黑体" panose="02010609060101010101" pitchFamily="2" charset="-122"/>
            </a:endParaRPr>
          </a:p>
          <a:p>
            <a:pPr eaLnBrk="1" hangingPunct="1">
              <a:buNone/>
            </a:pPr>
            <a:r>
              <a:rPr lang="zh-CN" altLang="en-US" b="1" dirty="0" smtClean="0">
                <a:solidFill>
                  <a:srgbClr val="0000FF"/>
                </a:solidFill>
                <a:ea typeface="黑体" panose="02010609060101010101" pitchFamily="2" charset="-122"/>
              </a:rPr>
              <a:t>        《永远在路上》</a:t>
            </a:r>
            <a:endParaRPr lang="zh-CN" altLang="en-US" b="1" dirty="0">
              <a:solidFill>
                <a:srgbClr val="0000FF"/>
              </a:solidFill>
              <a:ea typeface="黑体" panose="02010609060101010101" pitchFamily="2" charset="-122"/>
            </a:endParaRP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p:cNvSpPr>
          <p:nvPr>
            <p:ph idx="4294967295"/>
          </p:nvPr>
        </p:nvSpPr>
        <p:spPr>
          <a:xfrm>
            <a:off x="1043608" y="1556792"/>
            <a:ext cx="7488237" cy="4358116"/>
          </a:xfrm>
          <a:prstGeom prst="rect">
            <a:avLst/>
          </a:prstGeom>
          <a:solidFill>
            <a:schemeClr val="bg1"/>
          </a:solidFill>
          <a:ln w="12700">
            <a:solidFill>
              <a:srgbClr val="FF3300"/>
            </a:solidFill>
            <a:miter/>
          </a:ln>
        </p:spPr>
        <p:txBody>
          <a:bodyPr anchor="t">
            <a:spAutoFit/>
          </a:bodyPr>
          <a:lstStyle/>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认识理论和实践的关系</a:t>
            </a:r>
            <a:endParaRPr lang="en-US" altLang="zh-CN" sz="2800" b="1" dirty="0" smtClean="0">
              <a:solidFill>
                <a:srgbClr val="0000FF"/>
              </a:solidFill>
              <a:latin typeface="Times New Roman" panose="02020603050405020304" pitchFamily="18" charset="0"/>
              <a:ea typeface="黑体" panose="02010609060101010101" pitchFamily="2" charset="-122"/>
            </a:endParaRPr>
          </a:p>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 认识到新民主主义革命理论是中国革命经验的概括和总结。</a:t>
            </a:r>
            <a:endParaRPr lang="en-US" altLang="zh-CN" sz="2800" b="1" dirty="0" smtClean="0">
              <a:solidFill>
                <a:srgbClr val="0000FF"/>
              </a:solidFill>
              <a:latin typeface="Times New Roman" panose="02020603050405020304" pitchFamily="18" charset="0"/>
              <a:ea typeface="黑体" panose="02010609060101010101" pitchFamily="2" charset="-122"/>
            </a:endParaRPr>
          </a:p>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中国共产党领导的民主主义革命、社会主义革命和社会主义建设是毛泽东思想形成和</a:t>
            </a:r>
            <a:r>
              <a:rPr lang="zh-CN" altLang="en-US" sz="2800" b="1" dirty="0">
                <a:solidFill>
                  <a:srgbClr val="0000FF"/>
                </a:solidFill>
                <a:latin typeface="Times New Roman" panose="02020603050405020304" pitchFamily="18" charset="0"/>
                <a:ea typeface="黑体" panose="02010609060101010101" pitchFamily="2" charset="-122"/>
              </a:rPr>
              <a:t>发展的</a:t>
            </a:r>
            <a:r>
              <a:rPr lang="zh-CN" altLang="en-US" sz="2800" b="1" dirty="0" smtClean="0">
                <a:solidFill>
                  <a:srgbClr val="0000FF"/>
                </a:solidFill>
                <a:latin typeface="Times New Roman" panose="02020603050405020304" pitchFamily="18" charset="0"/>
                <a:ea typeface="黑体" panose="02010609060101010101" pitchFamily="2" charset="-122"/>
              </a:rPr>
              <a:t>实践基础；</a:t>
            </a:r>
            <a:endParaRPr lang="en-US" altLang="zh-CN" sz="2800" b="1" dirty="0" smtClean="0">
              <a:solidFill>
                <a:srgbClr val="0000FF"/>
              </a:solidFill>
              <a:latin typeface="Times New Roman" panose="02020603050405020304" pitchFamily="18" charset="0"/>
              <a:ea typeface="黑体" panose="02010609060101010101" pitchFamily="2" charset="-122"/>
            </a:endParaRPr>
          </a:p>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毛泽东思想又指导着中国革命、建设事业的顺利进行。</a:t>
            </a:r>
            <a:endParaRPr lang="en-US" altLang="zh-CN" sz="2800" b="1" dirty="0">
              <a:solidFill>
                <a:srgbClr val="0000FF"/>
              </a:solidFill>
              <a:latin typeface="Times New Roman" panose="02020603050405020304" pitchFamily="18" charset="0"/>
              <a:ea typeface="黑体" panose="02010609060101010101" pitchFamily="2" charset="-122"/>
            </a:endParaRPr>
          </a:p>
        </p:txBody>
      </p:sp>
      <p:sp>
        <p:nvSpPr>
          <p:cNvPr id="3" name="矩形 2"/>
          <p:cNvSpPr/>
          <p:nvPr/>
        </p:nvSpPr>
        <p:spPr>
          <a:xfrm>
            <a:off x="467544" y="764704"/>
            <a:ext cx="8146782" cy="674031"/>
          </a:xfrm>
          <a:prstGeom prst="rect">
            <a:avLst/>
          </a:prstGeom>
          <a:solidFill>
            <a:schemeClr val="bg2"/>
          </a:solidFill>
        </p:spPr>
        <p:txBody>
          <a:bodyPr wrap="none">
            <a:spAutoFit/>
          </a:bodyPr>
          <a:lstStyle/>
          <a:p>
            <a:pPr>
              <a:lnSpc>
                <a:spcPct val="105000"/>
              </a:lnSpc>
              <a:spcBef>
                <a:spcPct val="50000"/>
              </a:spcBef>
            </a:pPr>
            <a:r>
              <a:rPr lang="zh-CN" altLang="en-US" sz="3600" b="1" dirty="0" smtClean="0">
                <a:solidFill>
                  <a:srgbClr val="FF0000"/>
                </a:solidFill>
                <a:latin typeface="华文琥珀" pitchFamily="2" charset="-122"/>
                <a:ea typeface="华文琥珀" pitchFamily="2" charset="-122"/>
              </a:rPr>
              <a:t>专题一 新民主主义革命理论形成的依据</a:t>
            </a:r>
            <a:endParaRPr lang="zh-CN" altLang="en-US" sz="3600" b="1" dirty="0">
              <a:solidFill>
                <a:srgbClr val="FF0000"/>
              </a:solidFill>
              <a:latin typeface="华文琥珀" pitchFamily="2" charset="-122"/>
              <a:ea typeface="华文琥珀" pitchFamily="2" charset="-122"/>
            </a:endParaRPr>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p:cNvSpPr>
          <p:nvPr>
            <p:ph idx="4294967295"/>
          </p:nvPr>
        </p:nvSpPr>
        <p:spPr>
          <a:xfrm>
            <a:off x="2411760" y="692696"/>
            <a:ext cx="6264696" cy="1665071"/>
          </a:xfrm>
          <a:prstGeom prst="rect">
            <a:avLst/>
          </a:prstGeom>
          <a:noFill/>
          <a:ln w="12700">
            <a:solidFill>
              <a:srgbClr val="FF3300"/>
            </a:solidFill>
            <a:miter/>
          </a:ln>
        </p:spPr>
        <p:txBody>
          <a:bodyPr wrap="square" anchor="t">
            <a:spAutoFit/>
          </a:bodyPr>
          <a:lstStyle/>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产生的历史背景、时代条件与实践基础</a:t>
            </a:r>
            <a:endParaRPr lang="en-US" altLang="zh-CN" sz="2800" b="1" dirty="0" smtClean="0">
              <a:solidFill>
                <a:srgbClr val="0000FF"/>
              </a:solidFill>
              <a:latin typeface="Times New Roman" panose="02020603050405020304" pitchFamily="18" charset="0"/>
              <a:ea typeface="黑体" panose="02010609060101010101" pitchFamily="2" charset="-122"/>
            </a:endParaRPr>
          </a:p>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认识</a:t>
            </a:r>
            <a:r>
              <a:rPr lang="zh-CN" altLang="en-US" sz="2800" b="1" dirty="0">
                <a:solidFill>
                  <a:srgbClr val="0000FF"/>
                </a:solidFill>
                <a:latin typeface="Times New Roman" panose="02020603050405020304" pitchFamily="18" charset="0"/>
                <a:ea typeface="黑体" panose="02010609060101010101" pitchFamily="2" charset="-122"/>
              </a:rPr>
              <a:t>到新民主主义革命理论是中国革命经验的概括和</a:t>
            </a:r>
            <a:r>
              <a:rPr lang="zh-CN" altLang="en-US" sz="2800" b="1" dirty="0" smtClean="0">
                <a:solidFill>
                  <a:srgbClr val="0000FF"/>
                </a:solidFill>
                <a:latin typeface="Times New Roman" panose="02020603050405020304" pitchFamily="18" charset="0"/>
                <a:ea typeface="黑体" panose="02010609060101010101" pitchFamily="2" charset="-122"/>
              </a:rPr>
              <a:t>总结</a:t>
            </a:r>
            <a:endParaRPr lang="zh-CN" altLang="en-US" sz="2800" b="1" dirty="0">
              <a:solidFill>
                <a:srgbClr val="0000FF"/>
              </a:solidFill>
              <a:latin typeface="Times New Roman" panose="02020603050405020304" pitchFamily="18" charset="0"/>
              <a:ea typeface="黑体" panose="02010609060101010101" pitchFamily="2" charset="-122"/>
            </a:endParaRPr>
          </a:p>
        </p:txBody>
      </p:sp>
      <p:sp>
        <p:nvSpPr>
          <p:cNvPr id="3" name="矩形 2"/>
          <p:cNvSpPr/>
          <p:nvPr/>
        </p:nvSpPr>
        <p:spPr>
          <a:xfrm>
            <a:off x="539552" y="3356992"/>
            <a:ext cx="1826141" cy="591444"/>
          </a:xfrm>
          <a:prstGeom prst="rect">
            <a:avLst/>
          </a:prstGeom>
          <a:solidFill>
            <a:schemeClr val="bg2"/>
          </a:solidFill>
        </p:spPr>
        <p:txBody>
          <a:bodyPr wrap="none">
            <a:spAutoFit/>
          </a:bodyPr>
          <a:lstStyle/>
          <a:p>
            <a:pPr>
              <a:lnSpc>
                <a:spcPct val="105000"/>
              </a:lnSpc>
              <a:spcBef>
                <a:spcPct val="50000"/>
              </a:spcBef>
            </a:pPr>
            <a:r>
              <a:rPr lang="zh-CN" altLang="en-US" sz="3200" b="1" dirty="0" smtClean="0">
                <a:solidFill>
                  <a:srgbClr val="FF0000"/>
                </a:solidFill>
                <a:latin typeface="华文琥珀" pitchFamily="2" charset="-122"/>
                <a:ea typeface="华文琥珀" pitchFamily="2" charset="-122"/>
              </a:rPr>
              <a:t>重点把握</a:t>
            </a:r>
            <a:endParaRPr lang="zh-CN" altLang="en-US" sz="3200" b="1" dirty="0">
              <a:solidFill>
                <a:srgbClr val="FF0000"/>
              </a:solidFill>
              <a:latin typeface="华文琥珀" pitchFamily="2" charset="-122"/>
              <a:ea typeface="华文琥珀" pitchFamily="2" charset="-122"/>
            </a:endParaRPr>
          </a:p>
        </p:txBody>
      </p:sp>
      <p:sp>
        <p:nvSpPr>
          <p:cNvPr id="4" name="Rectangle 2"/>
          <p:cNvSpPr txBox="1">
            <a:spLocks/>
          </p:cNvSpPr>
          <p:nvPr/>
        </p:nvSpPr>
        <p:spPr>
          <a:xfrm>
            <a:off x="2699792" y="3429000"/>
            <a:ext cx="5189725" cy="544765"/>
          </a:xfrm>
          <a:prstGeom prst="rect">
            <a:avLst/>
          </a:prstGeom>
          <a:noFill/>
          <a:ln w="12700">
            <a:solidFill>
              <a:srgbClr val="FF3300"/>
            </a:solidFill>
            <a:miter/>
          </a:ln>
        </p:spPr>
        <p:txBody>
          <a:bodyPr vert="horz" wrap="square" rtlCol="0" anchor="t">
            <a:spAutoFit/>
          </a:bodyPr>
          <a:lstStyle/>
          <a:p>
            <a:pPr marL="0" marR="0" lvl="0" indent="0" algn="l" defTabSz="914400" rtl="0" eaLnBrk="1" fontAlgn="auto" latinLnBrk="0" hangingPunct="1">
              <a:lnSpc>
                <a:spcPct val="105000"/>
              </a:lnSpc>
              <a:spcBef>
                <a:spcPct val="50000"/>
              </a:spcBef>
              <a:spcAft>
                <a:spcPts val="0"/>
              </a:spcAft>
              <a:buClr>
                <a:schemeClr val="accent1"/>
              </a:buClr>
              <a:buSzPct val="50000"/>
              <a:buFont typeface="Wingdings 2"/>
              <a:buNone/>
              <a:tabLst/>
              <a:defRPr/>
            </a:pP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2" charset="-122"/>
                <a:cs typeface="+mn-cs"/>
              </a:rPr>
              <a:t>重点把握：近代中国国情</a:t>
            </a:r>
          </a:p>
        </p:txBody>
      </p:sp>
      <p:sp>
        <p:nvSpPr>
          <p:cNvPr id="5" name="矩形 4"/>
          <p:cNvSpPr/>
          <p:nvPr/>
        </p:nvSpPr>
        <p:spPr>
          <a:xfrm>
            <a:off x="467544" y="1124744"/>
            <a:ext cx="1826141" cy="591444"/>
          </a:xfrm>
          <a:prstGeom prst="rect">
            <a:avLst/>
          </a:prstGeom>
          <a:solidFill>
            <a:schemeClr val="bg2"/>
          </a:solidFill>
        </p:spPr>
        <p:txBody>
          <a:bodyPr wrap="none">
            <a:spAutoFit/>
          </a:bodyPr>
          <a:lstStyle/>
          <a:p>
            <a:pPr>
              <a:lnSpc>
                <a:spcPct val="105000"/>
              </a:lnSpc>
              <a:spcBef>
                <a:spcPct val="50000"/>
              </a:spcBef>
            </a:pPr>
            <a:r>
              <a:rPr lang="zh-CN" altLang="en-US" sz="3200" b="1" dirty="0" smtClean="0">
                <a:solidFill>
                  <a:srgbClr val="FF0000"/>
                </a:solidFill>
                <a:latin typeface="华文琥珀" pitchFamily="2" charset="-122"/>
                <a:ea typeface="华文琥珀" pitchFamily="2" charset="-122"/>
              </a:rPr>
              <a:t>主要内容</a:t>
            </a:r>
            <a:endParaRPr lang="zh-CN" altLang="en-US" sz="3200" b="1" dirty="0">
              <a:solidFill>
                <a:srgbClr val="FF0000"/>
              </a:solidFill>
              <a:latin typeface="华文琥珀" pitchFamily="2" charset="-122"/>
              <a:ea typeface="华文琥珀" pitchFamily="2" charset="-122"/>
            </a:endParaRPr>
          </a:p>
        </p:txBody>
      </p:sp>
      <p:sp>
        <p:nvSpPr>
          <p:cNvPr id="6" name="矩形 5"/>
          <p:cNvSpPr/>
          <p:nvPr/>
        </p:nvSpPr>
        <p:spPr>
          <a:xfrm>
            <a:off x="899592" y="5301208"/>
            <a:ext cx="1826141" cy="591444"/>
          </a:xfrm>
          <a:prstGeom prst="rect">
            <a:avLst/>
          </a:prstGeom>
          <a:solidFill>
            <a:schemeClr val="bg2"/>
          </a:solidFill>
        </p:spPr>
        <p:txBody>
          <a:bodyPr wrap="none">
            <a:spAutoFit/>
          </a:bodyPr>
          <a:lstStyle/>
          <a:p>
            <a:pPr>
              <a:lnSpc>
                <a:spcPct val="105000"/>
              </a:lnSpc>
              <a:spcBef>
                <a:spcPct val="50000"/>
              </a:spcBef>
            </a:pPr>
            <a:r>
              <a:rPr lang="zh-CN" altLang="en-US" sz="3200" b="1" dirty="0" smtClean="0">
                <a:solidFill>
                  <a:srgbClr val="FF0000"/>
                </a:solidFill>
                <a:latin typeface="华文琥珀" pitchFamily="2" charset="-122"/>
                <a:ea typeface="华文琥珀" pitchFamily="2" charset="-122"/>
              </a:rPr>
              <a:t>教学手段</a:t>
            </a:r>
            <a:endParaRPr lang="zh-CN" altLang="en-US" sz="3200" b="1" dirty="0">
              <a:solidFill>
                <a:srgbClr val="FF0000"/>
              </a:solidFill>
              <a:latin typeface="华文琥珀" pitchFamily="2" charset="-122"/>
              <a:ea typeface="华文琥珀" pitchFamily="2" charset="-122"/>
            </a:endParaRPr>
          </a:p>
        </p:txBody>
      </p:sp>
      <p:sp>
        <p:nvSpPr>
          <p:cNvPr id="7" name="矩形 6"/>
          <p:cNvSpPr/>
          <p:nvPr/>
        </p:nvSpPr>
        <p:spPr>
          <a:xfrm>
            <a:off x="2699792" y="5373216"/>
            <a:ext cx="4931158" cy="509498"/>
          </a:xfrm>
          <a:prstGeom prst="rect">
            <a:avLst/>
          </a:prstGeom>
          <a:ln>
            <a:solidFill>
              <a:schemeClr val="accent1"/>
            </a:solidFill>
          </a:ln>
        </p:spPr>
        <p:txBody>
          <a:bodyPr wrap="none">
            <a:spAutoFit/>
          </a:bodyPr>
          <a:lstStyle/>
          <a:p>
            <a:pPr>
              <a:lnSpc>
                <a:spcPct val="105000"/>
              </a:lnSpc>
              <a:spcBef>
                <a:spcPct val="50000"/>
              </a:spcBef>
              <a:buClr>
                <a:schemeClr val="accent1"/>
              </a:buClr>
              <a:buSzPct val="50000"/>
            </a:pPr>
            <a:r>
              <a:rPr lang="zh-CN" altLang="en-US" b="1" dirty="0" smtClean="0">
                <a:solidFill>
                  <a:srgbClr val="0000FF"/>
                </a:solidFill>
                <a:latin typeface="Times New Roman" panose="02020603050405020304" pitchFamily="18" charset="0"/>
                <a:ea typeface="黑体" panose="02010609060101010101" pitchFamily="2" charset="-122"/>
              </a:rPr>
              <a:t> </a:t>
            </a:r>
            <a:r>
              <a:rPr lang="zh-CN" altLang="en-US" sz="2800" b="1" dirty="0" smtClean="0">
                <a:solidFill>
                  <a:srgbClr val="0000FF"/>
                </a:solidFill>
                <a:latin typeface="Times New Roman" panose="02020603050405020304" pitchFamily="18" charset="0"/>
                <a:ea typeface="黑体" panose="02010609060101010101" pitchFamily="2" charset="-122"/>
              </a:rPr>
              <a:t>课堂讲授、视频与讨论相结合</a:t>
            </a:r>
            <a:endParaRPr lang="zh-CN" altLang="en-US" sz="2800" b="1" dirty="0">
              <a:solidFill>
                <a:srgbClr val="0000FF"/>
              </a:solidFill>
              <a:latin typeface="Times New Roman" panose="02020603050405020304" pitchFamily="18" charset="0"/>
              <a:ea typeface="黑体" panose="02010609060101010101" pitchFamily="2" charset="-122"/>
            </a:endParaRPr>
          </a:p>
        </p:txBody>
      </p:sp>
    </p:spTree>
    <p:extLst>
      <p:ext uri="{BB962C8B-B14F-4D97-AF65-F5344CB8AC3E}">
        <p14:creationId xmlns="" xmlns:p14="http://schemas.microsoft.com/office/powerpoint/2010/main" val="101772262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矩形 7"/>
          <p:cNvSpPr/>
          <p:nvPr/>
        </p:nvSpPr>
        <p:spPr>
          <a:xfrm>
            <a:off x="1259632" y="908720"/>
            <a:ext cx="5545138" cy="1077218"/>
          </a:xfrm>
          <a:prstGeom prst="rect">
            <a:avLst/>
          </a:prstGeom>
          <a:noFill/>
          <a:ln w="9525" cap="flat" cmpd="sng">
            <a:solidFill>
              <a:srgbClr val="FF0000"/>
            </a:solidFill>
            <a:prstDash val="solid"/>
            <a:miter/>
            <a:headEnd type="none" w="med" len="med"/>
            <a:tailEnd type="none" w="med" len="med"/>
          </a:ln>
        </p:spPr>
        <p:txBody>
          <a:bodyPr anchor="t">
            <a:spAutoFit/>
          </a:bodyPr>
          <a:lstStyle/>
          <a:p>
            <a:pPr lvl="0"/>
            <a:r>
              <a:rPr lang="zh-CN" altLang="en-US" sz="3200" b="1" dirty="0" smtClean="0">
                <a:solidFill>
                  <a:srgbClr val="FF0000"/>
                </a:solidFill>
                <a:latin typeface="华文琥珀" pitchFamily="2" charset="-122"/>
                <a:ea typeface="华文琥珀" pitchFamily="2" charset="-122"/>
              </a:rPr>
              <a:t>一、近代中国半殖民地半封建的性质及其特点</a:t>
            </a:r>
            <a:endParaRPr lang="en-US" altLang="zh-CN" sz="3200" b="1" dirty="0">
              <a:solidFill>
                <a:srgbClr val="FF0000"/>
              </a:solidFill>
              <a:latin typeface="华文琥珀" pitchFamily="2" charset="-122"/>
              <a:ea typeface="华文琥珀" pitchFamily="2" charset="-122"/>
            </a:endParaRPr>
          </a:p>
        </p:txBody>
      </p:sp>
      <p:sp>
        <p:nvSpPr>
          <p:cNvPr id="4" name="Text Box 4"/>
          <p:cNvSpPr txBox="1"/>
          <p:nvPr/>
        </p:nvSpPr>
        <p:spPr>
          <a:xfrm>
            <a:off x="1403648" y="2852936"/>
            <a:ext cx="5492750" cy="954107"/>
          </a:xfrm>
          <a:prstGeom prst="rect">
            <a:avLst/>
          </a:prstGeom>
          <a:solidFill>
            <a:schemeClr val="bg1"/>
          </a:solidFill>
          <a:ln w="9525" cap="flat" cmpd="sng">
            <a:solidFill>
              <a:srgbClr val="FF0000"/>
            </a:solidFill>
            <a:prstDash val="solid"/>
            <a:miter/>
            <a:headEnd type="none" w="med" len="med"/>
            <a:tailEnd type="none" w="med" len="med"/>
          </a:ln>
        </p:spPr>
        <p:txBody>
          <a:bodyPr anchor="t">
            <a:spAutoFit/>
          </a:bodyPr>
          <a:lstStyle/>
          <a:p>
            <a:pPr lvl="0"/>
            <a:r>
              <a:rPr lang="zh-CN" altLang="en-US" sz="2800" b="1" dirty="0" smtClean="0">
                <a:solidFill>
                  <a:srgbClr val="0000FF"/>
                </a:solidFill>
                <a:latin typeface="黑体" pitchFamily="49" charset="-122"/>
                <a:ea typeface="黑体" pitchFamily="49" charset="-122"/>
              </a:rPr>
              <a:t>    半殖民地半封建社就是近代中国的基本国情</a:t>
            </a:r>
            <a:endParaRPr lang="zh-CN" altLang="en-US" sz="2800" b="1" dirty="0">
              <a:solidFill>
                <a:srgbClr val="0000FF"/>
              </a:solidFill>
              <a:latin typeface="黑体" pitchFamily="49" charset="-122"/>
              <a:ea typeface="黑体"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1" name="Text Box 5"/>
          <p:cNvSpPr txBox="1"/>
          <p:nvPr/>
        </p:nvSpPr>
        <p:spPr>
          <a:xfrm>
            <a:off x="1142976" y="3000372"/>
            <a:ext cx="3143240" cy="2603790"/>
          </a:xfrm>
          <a:prstGeom prst="rect">
            <a:avLst/>
          </a:prstGeom>
          <a:solidFill>
            <a:schemeClr val="bg1"/>
          </a:solidFill>
          <a:ln w="9525" cap="flat" cmpd="sng">
            <a:solidFill>
              <a:srgbClr val="FF0000"/>
            </a:solidFill>
            <a:prstDash val="solid"/>
            <a:miter/>
            <a:headEnd type="none" w="med" len="med"/>
            <a:tailEnd type="none" w="med" len="med"/>
          </a:ln>
        </p:spPr>
        <p:txBody>
          <a:bodyPr wrap="square" anchor="t">
            <a:spAutoFit/>
          </a:bodyPr>
          <a:lstStyle/>
          <a:p>
            <a:pPr lvl="0">
              <a:lnSpc>
                <a:spcPct val="120000"/>
              </a:lnSpc>
            </a:pPr>
            <a:r>
              <a:rPr lang="zh-CN" altLang="en-US" sz="2800" dirty="0">
                <a:solidFill>
                  <a:srgbClr val="FF0000"/>
                </a:solidFill>
                <a:latin typeface="隶书" pitchFamily="49" charset="-122"/>
                <a:ea typeface="隶书" pitchFamily="49" charset="-122"/>
              </a:rPr>
              <a:t>认清中国的国情，乃是认清和解决中国革命问题的基本依据</a:t>
            </a:r>
            <a:r>
              <a:rPr lang="zh-CN" altLang="en-US" sz="2400" dirty="0">
                <a:solidFill>
                  <a:srgbClr val="FF0000"/>
                </a:solidFill>
                <a:latin typeface="黑体" panose="02010609060101010101" pitchFamily="2" charset="-122"/>
                <a:ea typeface="黑体" panose="02010609060101010101" pitchFamily="2" charset="-122"/>
              </a:rPr>
              <a:t>。</a:t>
            </a:r>
          </a:p>
          <a:p>
            <a:pPr lvl="0">
              <a:lnSpc>
                <a:spcPct val="120000"/>
              </a:lnSpc>
            </a:pPr>
            <a:r>
              <a:rPr lang="zh-CN" altLang="en-US" sz="24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毛泽东</a:t>
            </a:r>
          </a:p>
        </p:txBody>
      </p:sp>
      <p:sp>
        <p:nvSpPr>
          <p:cNvPr id="111618" name="AutoShape 2" descr="https://timgsa.baidu.com/timg?image&amp;quality=80&amp;size=b9999_10000&amp;sec=1509941538620&amp;di=460e878af05af65a30e5b6c966f6dd7c&amp;imgtype=0&amp;src=http%3A%2F%2Fimages2.china.com%2Fnews%2Fzh_cn%2Fhistory%2Fall%2F11025807%2F20140528%2F18528874_201405281114505933590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7" name="图片 6" descr="timg.jpg"/>
          <p:cNvPicPr>
            <a:picLocks noChangeAspect="1"/>
          </p:cNvPicPr>
          <p:nvPr/>
        </p:nvPicPr>
        <p:blipFill>
          <a:blip r:embed="rId2" cstate="print"/>
          <a:stretch>
            <a:fillRect/>
          </a:stretch>
        </p:blipFill>
        <p:spPr>
          <a:xfrm>
            <a:off x="4876800" y="1000108"/>
            <a:ext cx="4267200" cy="6096000"/>
          </a:xfrm>
          <a:prstGeom prst="rect">
            <a:avLst/>
          </a:prstGeom>
        </p:spPr>
      </p:pic>
      <p:sp>
        <p:nvSpPr>
          <p:cNvPr id="8" name="Text Box 5"/>
          <p:cNvSpPr txBox="1"/>
          <p:nvPr/>
        </p:nvSpPr>
        <p:spPr>
          <a:xfrm>
            <a:off x="428596" y="1571612"/>
            <a:ext cx="4429156" cy="476669"/>
          </a:xfrm>
          <a:prstGeom prst="rect">
            <a:avLst/>
          </a:prstGeom>
          <a:solidFill>
            <a:schemeClr val="bg1"/>
          </a:solidFill>
          <a:ln w="9525" cap="flat" cmpd="sng">
            <a:solidFill>
              <a:srgbClr val="FF0000"/>
            </a:solidFill>
            <a:prstDash val="solid"/>
            <a:miter/>
            <a:headEnd type="none" w="med" len="med"/>
            <a:tailEnd type="none" w="med" len="med"/>
          </a:ln>
        </p:spPr>
        <p:txBody>
          <a:bodyPr wrap="square" anchor="t">
            <a:spAutoFit/>
          </a:bodyPr>
          <a:lstStyle/>
          <a:p>
            <a:pPr lvl="0">
              <a:lnSpc>
                <a:spcPct val="120000"/>
              </a:lnSpc>
            </a:pPr>
            <a:r>
              <a:rPr lang="en-US" altLang="zh-CN" sz="2400" b="1" dirty="0" smtClean="0">
                <a:solidFill>
                  <a:srgbClr val="FF0000"/>
                </a:solidFill>
                <a:latin typeface="隶书" pitchFamily="49" charset="-122"/>
                <a:ea typeface="隶书" pitchFamily="49" charset="-122"/>
              </a:rPr>
              <a:t>——</a:t>
            </a:r>
            <a:r>
              <a:rPr lang="zh-CN" altLang="en-US" sz="2400" b="1" dirty="0" smtClean="0">
                <a:solidFill>
                  <a:srgbClr val="FF0000"/>
                </a:solidFill>
                <a:latin typeface="隶书" pitchFamily="49" charset="-122"/>
                <a:ea typeface="隶书" pitchFamily="49" charset="-122"/>
              </a:rPr>
              <a:t>中国革命发生的社会背景</a:t>
            </a:r>
            <a:r>
              <a:rPr lang="zh-CN" altLang="en-US" sz="2400" b="1" dirty="0" smtClean="0">
                <a:latin typeface="黑体" panose="02010609060101010101" pitchFamily="2" charset="-122"/>
                <a:ea typeface="黑体" panose="02010609060101010101" pitchFamily="2" charset="-122"/>
              </a:rPr>
              <a:t>       </a:t>
            </a:r>
            <a:endParaRPr lang="zh-CN" altLang="en-US" sz="2400" b="1" dirty="0">
              <a:latin typeface="黑体" panose="02010609060101010101" pitchFamily="2" charset="-122"/>
              <a:ea typeface="黑体" panose="0201060906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83301"/>
                                        </p:tgtEl>
                                        <p:attrNameLst>
                                          <p:attrName>style.visibility</p:attrName>
                                        </p:attrNameLst>
                                      </p:cBhvr>
                                      <p:to>
                                        <p:strVal val="visible"/>
                                      </p:to>
                                    </p:set>
                                    <p:animEffect transition="in" filter="dissolve">
                                      <p:cBhvr>
                                        <p:cTn id="7" dur="500"/>
                                        <p:tgtEl>
                                          <p:spTgt spid="183301"/>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1" grpId="0" bldLvl="0" animBg="1"/>
      <p:bldP spid="8"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p:cNvSpPr>
            <a:spLocks noGrp="1"/>
          </p:cNvSpPr>
          <p:nvPr>
            <p:ph type="subTitle" idx="1"/>
          </p:nvPr>
        </p:nvSpPr>
        <p:spPr/>
        <p:txBody>
          <a:bodyPr/>
          <a:lstStyle/>
          <a:p>
            <a:endParaRPr lang="zh-CN" altLang="en-US"/>
          </a:p>
        </p:txBody>
      </p:sp>
      <p:pic>
        <p:nvPicPr>
          <p:cNvPr id="1026" name="Picture 2" descr="https://timgsa.baidu.com/timg?image&amp;quality=80&amp;size=b9999_10000&amp;sec=1539065034086&amp;di=c401125dbf853bd2c8a0b2b681dbd69a&amp;imgtype=0&amp;src=http%3A%2F%2Fwww.szngw.com%2FControl%2Fueditor%2Fnet%2Fupload%2F2017-12-16-46125f3c2e-341a-4eba-81bc-0d86d38ad06c.jpg"/>
          <p:cNvPicPr>
            <a:picLocks noChangeAspect="1" noChangeArrowheads="1"/>
          </p:cNvPicPr>
          <p:nvPr/>
        </p:nvPicPr>
        <p:blipFill>
          <a:blip r:embed="rId2" cstate="print"/>
          <a:srcRect/>
          <a:stretch>
            <a:fillRect/>
          </a:stretch>
        </p:blipFill>
        <p:spPr bwMode="auto">
          <a:xfrm>
            <a:off x="395536" y="404664"/>
            <a:ext cx="8572500" cy="5648325"/>
          </a:xfrm>
          <a:prstGeom prst="rect">
            <a:avLst/>
          </a:prstGeom>
          <a:noFill/>
        </p:spPr>
      </p:pic>
    </p:spTree>
  </p:cSld>
  <p:clrMapOvr>
    <a:masterClrMapping/>
  </p:clrMapOvr>
  <p:transition>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0" name="Text Box 4"/>
          <p:cNvSpPr txBox="1"/>
          <p:nvPr/>
        </p:nvSpPr>
        <p:spPr>
          <a:xfrm>
            <a:off x="539552" y="980728"/>
            <a:ext cx="8314690" cy="4524315"/>
          </a:xfrm>
          <a:prstGeom prst="rect">
            <a:avLst/>
          </a:prstGeom>
          <a:solidFill>
            <a:schemeClr val="bg1"/>
          </a:solidFill>
          <a:ln w="9525" cap="flat" cmpd="sng">
            <a:solidFill>
              <a:srgbClr val="FF0000"/>
            </a:solidFill>
            <a:prstDash val="solid"/>
            <a:miter/>
            <a:headEnd type="none" w="med" len="med"/>
            <a:tailEnd type="none" w="med" len="med"/>
          </a:ln>
        </p:spPr>
        <p:txBody>
          <a:bodyPr wrap="square" anchor="t">
            <a:spAutoFit/>
          </a:bodyPr>
          <a:lstStyle/>
          <a:p>
            <a:pPr lvl="0"/>
            <a:r>
              <a:rPr lang="zh-CN" altLang="en-US" sz="2400" b="1" dirty="0">
                <a:latin typeface="Times New Roman" panose="02020603050405020304" pitchFamily="18" charset="0"/>
                <a:ea typeface="黑体" panose="02010609060101010101" pitchFamily="2" charset="-122"/>
              </a:rPr>
              <a:t>资料：中国共产党对近代中国国情的认识：</a:t>
            </a:r>
          </a:p>
          <a:p>
            <a:pPr lvl="0"/>
            <a:r>
              <a:rPr lang="zh-CN" altLang="en-US" sz="2400" b="1" dirty="0">
                <a:latin typeface="Times New Roman" panose="02020603050405020304" pitchFamily="18" charset="0"/>
                <a:ea typeface="黑体" panose="02010609060101010101" pitchFamily="2" charset="-122"/>
              </a:rPr>
              <a:t>    蔡和森在1926年所写的《中国共产党史的发展（提纲）》中，最早将“半封建”、“半殖民地”这两个界定标准不一和说明对象及含义不同的概念联为一个完整的新概念，用它来概括说明近代中国的社会性质，并将它同党要完成的革命使命联系起来。蔡指出：“</a:t>
            </a:r>
            <a:r>
              <a:rPr lang="zh-CN" altLang="en-US" sz="2400" b="1" dirty="0">
                <a:solidFill>
                  <a:srgbClr val="FF0000"/>
                </a:solidFill>
                <a:latin typeface="隶书" pitchFamily="49" charset="-122"/>
                <a:ea typeface="隶书" pitchFamily="49" charset="-122"/>
              </a:rPr>
              <a:t>中国共产党的政治环境……是半殖民地和半封建的中国。</a:t>
            </a:r>
          </a:p>
          <a:p>
            <a:pPr lvl="0"/>
            <a:endParaRPr lang="zh-CN" altLang="en-US" sz="2400" b="1" dirty="0">
              <a:latin typeface="Times New Roman" panose="02020603050405020304" pitchFamily="18" charset="0"/>
              <a:ea typeface="黑体" panose="02010609060101010101" pitchFamily="2" charset="-122"/>
            </a:endParaRPr>
          </a:p>
          <a:p>
            <a:pPr lvl="0"/>
            <a:r>
              <a:rPr lang="zh-CN" altLang="en-US" sz="2400" b="1" dirty="0">
                <a:latin typeface="Times New Roman" panose="02020603050405020304" pitchFamily="18" charset="0"/>
                <a:sym typeface="+mn-ea"/>
              </a:rPr>
              <a:t>    中共六大指出：“</a:t>
            </a:r>
            <a:r>
              <a:rPr lang="zh-CN" altLang="en-US" sz="2400" b="1" dirty="0">
                <a:solidFill>
                  <a:srgbClr val="FF0000"/>
                </a:solidFill>
                <a:latin typeface="隶书" pitchFamily="49" charset="-122"/>
                <a:ea typeface="隶书" pitchFamily="49" charset="-122"/>
                <a:sym typeface="+mn-ea"/>
              </a:rPr>
              <a:t>中国仍然是一个半殖民地半封建的国家，引起近代中国革命的基本矛盾一个也没有解决，因此，中国革命现阶段的性质是资产阶级性的民权主义革命’。</a:t>
            </a:r>
            <a:r>
              <a:rPr lang="zh-CN" altLang="en-US" sz="2400" b="1" dirty="0">
                <a:latin typeface="Times New Roman" panose="02020603050405020304" pitchFamily="18" charset="0"/>
                <a:sym typeface="+mn-ea"/>
              </a:rPr>
              <a:t>”明确地使用了“半殖民地半封建社会的经济关系”这一理论概括</a:t>
            </a:r>
            <a:endParaRPr lang="zh-CN" altLang="en-US" sz="2400" b="1" dirty="0">
              <a:latin typeface="Times New Roman" panose="02020603050405020304" pitchFamily="18" charset="0"/>
              <a:ea typeface="黑体" panose="0201060906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83300"/>
                                        </p:tgtEl>
                                        <p:attrNameLst>
                                          <p:attrName>style.visibility</p:attrName>
                                        </p:attrNameLst>
                                      </p:cBhvr>
                                      <p:to>
                                        <p:strVal val="visible"/>
                                      </p:to>
                                    </p:set>
                                    <p:animEffect transition="in" filter="diamond(in)">
                                      <p:cBhvr>
                                        <p:cTn id="7" dur="1000"/>
                                        <p:tgtEl>
                                          <p:spTgt spid="183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0"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Grp="1"/>
          </p:cNvSpPr>
          <p:nvPr>
            <p:ph idx="4294967295"/>
          </p:nvPr>
        </p:nvSpPr>
        <p:spPr>
          <a:xfrm>
            <a:off x="0" y="1484313"/>
            <a:ext cx="8964613" cy="4114800"/>
          </a:xfrm>
          <a:prstGeom prst="rect">
            <a:avLst/>
          </a:prstGeom>
          <a:noFill/>
          <a:ln>
            <a:solidFill>
              <a:srgbClr val="000000"/>
            </a:solidFill>
            <a:miter/>
          </a:ln>
        </p:spPr>
        <p:txBody>
          <a:bodyPr anchor="t"/>
          <a:lstStyle/>
          <a:p>
            <a:pPr eaLnBrk="1" hangingPunct="1">
              <a:buNone/>
            </a:pPr>
            <a:endParaRPr lang="en-US" altLang="zh-CN"/>
          </a:p>
          <a:p>
            <a:pPr eaLnBrk="1" hangingPunct="1">
              <a:buNone/>
            </a:pPr>
            <a:endParaRPr lang="en-US" altLang="zh-CN" sz="2800" b="1">
              <a:solidFill>
                <a:srgbClr val="0000FF"/>
              </a:solidFill>
              <a:ea typeface="黑体" panose="02010609060101010101" pitchFamily="2" charset="-122"/>
            </a:endParaRPr>
          </a:p>
          <a:p>
            <a:pPr eaLnBrk="1" hangingPunct="1"/>
            <a:endParaRPr lang="zh-CN" altLang="en-US" dirty="0"/>
          </a:p>
          <a:p>
            <a:pPr eaLnBrk="1" hangingPunct="1"/>
            <a:endParaRPr lang="zh-CN" altLang="en-US" dirty="0"/>
          </a:p>
          <a:p>
            <a:pPr eaLnBrk="1" hangingPunct="1">
              <a:buNone/>
            </a:pPr>
            <a:endParaRPr lang="zh-CN" altLang="en-US" dirty="0"/>
          </a:p>
          <a:p>
            <a:pPr eaLnBrk="1" hangingPunct="1">
              <a:buNone/>
            </a:pPr>
            <a:endParaRPr lang="zh-CN" altLang="en-US" dirty="0"/>
          </a:p>
          <a:p>
            <a:pPr eaLnBrk="1" hangingPunct="1">
              <a:buNone/>
            </a:pPr>
            <a:endParaRPr lang="en-US" altLang="zh-CN"/>
          </a:p>
        </p:txBody>
      </p:sp>
      <p:pic>
        <p:nvPicPr>
          <p:cNvPr id="12290" name="Picture 5" descr="C:\Users\Administrator\Desktop\0b55b319ebc4b745da1be69dcffc1e178b8215a9.jpg"/>
          <p:cNvPicPr>
            <a:picLocks noChangeAspect="1"/>
          </p:cNvPicPr>
          <p:nvPr/>
        </p:nvPicPr>
        <p:blipFill>
          <a:blip r:embed="rId2" cstate="print"/>
          <a:stretch>
            <a:fillRect/>
          </a:stretch>
        </p:blipFill>
        <p:spPr>
          <a:xfrm>
            <a:off x="827088" y="1844675"/>
            <a:ext cx="7705725" cy="3197225"/>
          </a:xfrm>
          <a:prstGeom prst="rect">
            <a:avLst/>
          </a:prstGeom>
          <a:noFill/>
          <a:ln w="9525">
            <a:noFill/>
          </a:ln>
        </p:spPr>
      </p:pic>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82" name="Picture 2" descr="https://timgsa.baidu.com/timg?image&amp;quality=80&amp;size=b9999_10000&amp;sec=1539064098873&amp;di=587e301577c1033ca046d28e48a4c6d8&amp;imgtype=0&amp;src=http%3A%2F%2Fimg.lztvnet.com%2F2011%2F7%2F28%2F11%2Fd4e69d665652024f9bd6da5541f8f00b.jpg"/>
          <p:cNvPicPr>
            <a:picLocks noChangeAspect="1" noChangeArrowheads="1"/>
          </p:cNvPicPr>
          <p:nvPr/>
        </p:nvPicPr>
        <p:blipFill>
          <a:blip r:embed="rId2" cstate="print"/>
          <a:srcRect/>
          <a:stretch>
            <a:fillRect/>
          </a:stretch>
        </p:blipFill>
        <p:spPr bwMode="auto">
          <a:xfrm>
            <a:off x="683568" y="188640"/>
            <a:ext cx="3816424" cy="3024336"/>
          </a:xfrm>
          <a:prstGeom prst="rect">
            <a:avLst/>
          </a:prstGeom>
          <a:noFill/>
        </p:spPr>
      </p:pic>
      <p:pic>
        <p:nvPicPr>
          <p:cNvPr id="225284" name="Picture 4" descr="https://timgsa.baidu.com/timg?image&amp;quality=80&amp;size=b9999_10000&amp;sec=1539064163556&amp;di=59265adee4c538b5180f14aaed350561&amp;imgtype=0&amp;src=http%3A%2F%2Fimgtu.lishiquwen.com%2F20160911%2Fd5b84579037f816382d1a90d19e6bb0a.jpg"/>
          <p:cNvPicPr>
            <a:picLocks noChangeAspect="1" noChangeArrowheads="1"/>
          </p:cNvPicPr>
          <p:nvPr/>
        </p:nvPicPr>
        <p:blipFill>
          <a:blip r:embed="rId3" cstate="print"/>
          <a:srcRect/>
          <a:stretch>
            <a:fillRect/>
          </a:stretch>
        </p:blipFill>
        <p:spPr bwMode="auto">
          <a:xfrm>
            <a:off x="4499992" y="188640"/>
            <a:ext cx="3962425" cy="3024336"/>
          </a:xfrm>
          <a:prstGeom prst="rect">
            <a:avLst/>
          </a:prstGeom>
          <a:noFill/>
        </p:spPr>
      </p:pic>
      <p:pic>
        <p:nvPicPr>
          <p:cNvPr id="225286" name="Picture 6" descr="https://timgsa.baidu.com/timg?image&amp;quality=80&amp;size=b9999_10000&amp;sec=1539064259090&amp;di=9435f86c920e118511b8449d4f7021be&amp;imgtype=0&amp;src=http%3A%2F%2Fa1.att.hudong.com%2F21%2F03%2F01300000092961120834031368457.jpg"/>
          <p:cNvPicPr>
            <a:picLocks noChangeAspect="1" noChangeArrowheads="1"/>
          </p:cNvPicPr>
          <p:nvPr/>
        </p:nvPicPr>
        <p:blipFill>
          <a:blip r:embed="rId4" cstate="print"/>
          <a:srcRect/>
          <a:stretch>
            <a:fillRect/>
          </a:stretch>
        </p:blipFill>
        <p:spPr bwMode="auto">
          <a:xfrm>
            <a:off x="611560" y="3276600"/>
            <a:ext cx="3886200" cy="3581400"/>
          </a:xfrm>
          <a:prstGeom prst="rect">
            <a:avLst/>
          </a:prstGeom>
          <a:noFill/>
        </p:spPr>
      </p:pic>
      <p:pic>
        <p:nvPicPr>
          <p:cNvPr id="225288" name="Picture 8" descr="https://timgsa.baidu.com/timg?image&amp;quality=80&amp;size=b9999_10000&amp;sec=1539064333747&amp;di=c32bd6f3ef7ee55f487a9c3463cb06cf&amp;imgtype=0&amp;src=http%3A%2F%2Fupload.m4.cn%2F2013%2F0129%2Fthumb_940__1359441627256.jpg"/>
          <p:cNvPicPr>
            <a:picLocks noChangeAspect="1" noChangeArrowheads="1"/>
          </p:cNvPicPr>
          <p:nvPr/>
        </p:nvPicPr>
        <p:blipFill>
          <a:blip r:embed="rId5" cstate="print"/>
          <a:srcRect/>
          <a:stretch>
            <a:fillRect/>
          </a:stretch>
        </p:blipFill>
        <p:spPr bwMode="auto">
          <a:xfrm>
            <a:off x="4427984" y="3185592"/>
            <a:ext cx="4320480" cy="3672408"/>
          </a:xfrm>
          <a:prstGeom prst="rect">
            <a:avLst/>
          </a:prstGeom>
          <a:noFill/>
        </p:spPr>
      </p:pic>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43608" y="2924944"/>
            <a:ext cx="5760640" cy="2062103"/>
          </a:xfrm>
          <a:prstGeom prst="rect">
            <a:avLst/>
          </a:prstGeom>
          <a:ln>
            <a:solidFill>
              <a:schemeClr val="accent1"/>
            </a:solidFill>
          </a:ln>
        </p:spPr>
        <p:txBody>
          <a:bodyPr wrap="square">
            <a:spAutoFit/>
          </a:bodyPr>
          <a:lstStyle/>
          <a:p>
            <a:r>
              <a:rPr lang="en-US" altLang="zh-CN" sz="3200" b="1" dirty="0" smtClean="0"/>
              <a:t>        </a:t>
            </a:r>
            <a:r>
              <a:rPr lang="zh-CN" altLang="zh-CN" sz="3200" b="1" dirty="0" smtClean="0"/>
              <a:t>半殖民地半封建社会，既不同于封建社会，也有别于资本主义社会，蕴含着特殊的社会矛盾和革命要求</a:t>
            </a:r>
            <a:endParaRPr lang="zh-CN" altLang="en-US" sz="3200" b="1" dirty="0"/>
          </a:p>
        </p:txBody>
      </p:sp>
      <p:sp>
        <p:nvSpPr>
          <p:cNvPr id="3" name="Text Box 3"/>
          <p:cNvSpPr txBox="1"/>
          <p:nvPr/>
        </p:nvSpPr>
        <p:spPr>
          <a:xfrm>
            <a:off x="899592" y="980728"/>
            <a:ext cx="6408737" cy="1200329"/>
          </a:xfrm>
          <a:prstGeom prst="rect">
            <a:avLst/>
          </a:prstGeom>
          <a:noFill/>
          <a:ln w="9525">
            <a:solidFill>
              <a:srgbClr val="FF0000"/>
            </a:solidFill>
          </a:ln>
        </p:spPr>
        <p:txBody>
          <a:bodyPr anchor="t">
            <a:spAutoFit/>
          </a:bodyPr>
          <a:lstStyle/>
          <a:p>
            <a:pPr lvl="0"/>
            <a:r>
              <a:rPr lang="en-US" altLang="zh-CN" sz="3600" b="1" dirty="0">
                <a:solidFill>
                  <a:schemeClr val="tx1"/>
                </a:solidFill>
                <a:latin typeface="+mj-ea"/>
                <a:ea typeface="+mj-ea"/>
              </a:rPr>
              <a:t>   </a:t>
            </a:r>
            <a:r>
              <a:rPr lang="en-US" altLang="zh-CN" sz="3600" b="1" dirty="0" smtClean="0">
                <a:solidFill>
                  <a:schemeClr val="tx1"/>
                </a:solidFill>
                <a:latin typeface="+mj-ea"/>
                <a:ea typeface="+mj-ea"/>
              </a:rPr>
              <a:t> </a:t>
            </a:r>
            <a:r>
              <a:rPr lang="zh-CN" altLang="en-US" sz="3600" b="1" dirty="0">
                <a:latin typeface="+mj-ea"/>
                <a:ea typeface="+mj-ea"/>
              </a:rPr>
              <a:t>近代中国半殖民地半封建社会的特征</a:t>
            </a: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3"/>
          <p:cNvSpPr txBox="1"/>
          <p:nvPr/>
        </p:nvSpPr>
        <p:spPr>
          <a:xfrm>
            <a:off x="857224" y="500042"/>
            <a:ext cx="6408737" cy="1200329"/>
          </a:xfrm>
          <a:prstGeom prst="rect">
            <a:avLst/>
          </a:prstGeom>
          <a:noFill/>
          <a:ln w="9525">
            <a:solidFill>
              <a:srgbClr val="FF0000"/>
            </a:solidFill>
          </a:ln>
        </p:spPr>
        <p:txBody>
          <a:bodyPr anchor="t">
            <a:spAutoFit/>
          </a:bodyPr>
          <a:lstStyle/>
          <a:p>
            <a:pPr lvl="0"/>
            <a:r>
              <a:rPr lang="en-US" altLang="zh-CN" sz="3600" b="1" dirty="0">
                <a:solidFill>
                  <a:srgbClr val="FF0000"/>
                </a:solidFill>
                <a:latin typeface="+mj-ea"/>
                <a:ea typeface="+mj-ea"/>
              </a:rPr>
              <a:t>    </a:t>
            </a:r>
            <a:r>
              <a:rPr lang="zh-CN" altLang="en-US" sz="3600" b="1" dirty="0" smtClean="0">
                <a:solidFill>
                  <a:srgbClr val="FF0000"/>
                </a:solidFill>
                <a:latin typeface="+mj-ea"/>
                <a:ea typeface="+mj-ea"/>
              </a:rPr>
              <a:t>近代</a:t>
            </a:r>
            <a:r>
              <a:rPr lang="zh-CN" altLang="en-US" sz="3600" b="1" dirty="0">
                <a:solidFill>
                  <a:srgbClr val="FF0000"/>
                </a:solidFill>
                <a:latin typeface="+mj-ea"/>
                <a:ea typeface="+mj-ea"/>
              </a:rPr>
              <a:t>中国半殖民地半封建社会的特征</a:t>
            </a:r>
          </a:p>
        </p:txBody>
      </p:sp>
      <p:sp>
        <p:nvSpPr>
          <p:cNvPr id="14338" name="矩形 10"/>
          <p:cNvSpPr/>
          <p:nvPr/>
        </p:nvSpPr>
        <p:spPr>
          <a:xfrm>
            <a:off x="857224" y="2071678"/>
            <a:ext cx="7489825" cy="3416320"/>
          </a:xfrm>
          <a:prstGeom prst="rect">
            <a:avLst/>
          </a:prstGeom>
          <a:noFill/>
          <a:ln w="9525" cap="flat" cmpd="sng">
            <a:solidFill>
              <a:srgbClr val="FF0000"/>
            </a:solidFill>
            <a:prstDash val="solid"/>
            <a:miter/>
            <a:headEnd type="none" w="med" len="med"/>
            <a:tailEnd type="none" w="med" len="med"/>
          </a:ln>
        </p:spPr>
        <p:txBody>
          <a:bodyPr anchor="t">
            <a:spAutoFit/>
          </a:bodyPr>
          <a:lstStyle/>
          <a:p>
            <a:pPr lvl="0"/>
            <a:r>
              <a:rPr lang="zh-CN" altLang="en-US" sz="2400" b="1" dirty="0" smtClean="0">
                <a:solidFill>
                  <a:srgbClr val="0000FF"/>
                </a:solidFill>
                <a:latin typeface="Arial" panose="020B0604020202020204" pitchFamily="34" charset="0"/>
                <a:ea typeface="黑体" panose="02010609060101010101" pitchFamily="2" charset="-122"/>
              </a:rPr>
              <a:t>）</a:t>
            </a:r>
            <a:r>
              <a:rPr lang="en-US" altLang="zh-CN" sz="2400" b="1" dirty="0" smtClean="0">
                <a:solidFill>
                  <a:srgbClr val="0000FF"/>
                </a:solidFill>
                <a:latin typeface="Arial" panose="020B0604020202020204" pitchFamily="34" charset="0"/>
                <a:ea typeface="黑体" panose="02010609060101010101" pitchFamily="2" charset="-122"/>
              </a:rPr>
              <a:t/>
            </a:r>
            <a:br>
              <a:rPr lang="en-US" altLang="zh-CN" sz="2400" b="1" dirty="0" smtClean="0">
                <a:solidFill>
                  <a:srgbClr val="0000FF"/>
                </a:solidFill>
                <a:latin typeface="Arial" panose="020B0604020202020204" pitchFamily="34" charset="0"/>
                <a:ea typeface="黑体" panose="02010609060101010101" pitchFamily="2" charset="-122"/>
              </a:rPr>
            </a:br>
            <a:r>
              <a:rPr lang="en-US" altLang="zh-CN" sz="2400" b="1" dirty="0" smtClean="0">
                <a:solidFill>
                  <a:srgbClr val="0000FF"/>
                </a:solidFill>
                <a:latin typeface="Arial" panose="020B0604020202020204" pitchFamily="34" charset="0"/>
                <a:ea typeface="黑体" panose="02010609060101010101" pitchFamily="2" charset="-122"/>
              </a:rPr>
              <a:t>⑵</a:t>
            </a:r>
            <a:r>
              <a:rPr lang="zh-CN" altLang="en-US" sz="2400" b="1" dirty="0" smtClean="0">
                <a:solidFill>
                  <a:srgbClr val="0000FF"/>
                </a:solidFill>
                <a:latin typeface="Arial" panose="020B0604020202020204" pitchFamily="34" charset="0"/>
                <a:ea typeface="黑体" panose="02010609060101010101" pitchFamily="2" charset="-122"/>
              </a:rPr>
              <a:t>民族资本主义有了一定的发展</a:t>
            </a:r>
            <a:r>
              <a:rPr lang="en-US" altLang="zh-CN" sz="2400" b="1" dirty="0" smtClean="0">
                <a:solidFill>
                  <a:srgbClr val="0000FF"/>
                </a:solidFill>
                <a:latin typeface="Arial" panose="020B0604020202020204" pitchFamily="34" charset="0"/>
                <a:ea typeface="黑体" panose="02010609060101010101" pitchFamily="2" charset="-122"/>
              </a:rPr>
              <a:t>,</a:t>
            </a:r>
            <a:r>
              <a:rPr lang="zh-CN" altLang="en-US" sz="2400" b="1" dirty="0" smtClean="0">
                <a:solidFill>
                  <a:srgbClr val="0000FF"/>
                </a:solidFill>
                <a:latin typeface="Arial" panose="020B0604020202020204" pitchFamily="34" charset="0"/>
                <a:ea typeface="黑体" panose="02010609060101010101" pitchFamily="2" charset="-122"/>
              </a:rPr>
              <a:t>但它没有成为中国社会经济的主要形式</a:t>
            </a:r>
            <a:r>
              <a:rPr lang="en-US" altLang="zh-CN" sz="2400" b="1" dirty="0" smtClean="0">
                <a:solidFill>
                  <a:srgbClr val="0000FF"/>
                </a:solidFill>
                <a:latin typeface="Arial" panose="020B0604020202020204" pitchFamily="34" charset="0"/>
                <a:ea typeface="黑体" panose="02010609060101010101" pitchFamily="2" charset="-122"/>
              </a:rPr>
              <a:t>.</a:t>
            </a:r>
            <a:br>
              <a:rPr lang="en-US" altLang="zh-CN" sz="2400" b="1" dirty="0" smtClean="0">
                <a:solidFill>
                  <a:srgbClr val="0000FF"/>
                </a:solidFill>
                <a:latin typeface="Arial" panose="020B0604020202020204" pitchFamily="34" charset="0"/>
                <a:ea typeface="黑体" panose="02010609060101010101" pitchFamily="2" charset="-122"/>
              </a:rPr>
            </a:br>
            <a:r>
              <a:rPr lang="zh-CN" altLang="en-US" sz="2400" b="1" dirty="0" smtClean="0">
                <a:solidFill>
                  <a:srgbClr val="0000FF"/>
                </a:solidFill>
                <a:latin typeface="Arial" panose="020B0604020202020204" pitchFamily="34" charset="0"/>
                <a:ea typeface="黑体" panose="02010609060101010101" pitchFamily="2" charset="-122"/>
              </a:rPr>
              <a:t> 封建的剥削关系仍然存在，并且同买办资本和高利贷资本的剥削结合在一起，在中国社会生活中占据明显优势。</a:t>
            </a:r>
            <a:endParaRPr lang="en-US" altLang="zh-CN" sz="2400" b="1" dirty="0" smtClean="0">
              <a:solidFill>
                <a:srgbClr val="0000FF"/>
              </a:solidFill>
              <a:latin typeface="Arial" panose="020B0604020202020204" pitchFamily="34" charset="0"/>
              <a:ea typeface="黑体" panose="02010609060101010101" pitchFamily="2" charset="-122"/>
            </a:endParaRPr>
          </a:p>
          <a:p>
            <a:pPr lvl="0"/>
            <a:r>
              <a:rPr lang="en-US" altLang="zh-CN" sz="2400" b="1" dirty="0" smtClean="0">
                <a:solidFill>
                  <a:srgbClr val="0000FF"/>
                </a:solidFill>
                <a:latin typeface="Arial" panose="020B0604020202020204" pitchFamily="34" charset="0"/>
                <a:ea typeface="黑体" panose="02010609060101010101" pitchFamily="2" charset="-122"/>
              </a:rPr>
              <a:t>⑶</a:t>
            </a:r>
            <a:r>
              <a:rPr lang="zh-CN" altLang="en-US" sz="2400" b="1" dirty="0" smtClean="0">
                <a:solidFill>
                  <a:srgbClr val="0000FF"/>
                </a:solidFill>
                <a:latin typeface="Arial" panose="020B0604020202020204" pitchFamily="34" charset="0"/>
                <a:ea typeface="黑体" panose="02010609060101010101" pitchFamily="2" charset="-122"/>
              </a:rPr>
              <a:t>封建专制政权被推翻了</a:t>
            </a:r>
            <a:r>
              <a:rPr lang="en-US" altLang="zh-CN" sz="2400" b="1" dirty="0" smtClean="0">
                <a:solidFill>
                  <a:srgbClr val="0000FF"/>
                </a:solidFill>
                <a:latin typeface="Arial" panose="020B0604020202020204" pitchFamily="34" charset="0"/>
                <a:ea typeface="黑体" panose="02010609060101010101" pitchFamily="2" charset="-122"/>
              </a:rPr>
              <a:t>,</a:t>
            </a:r>
            <a:r>
              <a:rPr lang="zh-CN" altLang="en-US" sz="2400" b="1" dirty="0" smtClean="0">
                <a:solidFill>
                  <a:srgbClr val="0000FF"/>
                </a:solidFill>
                <a:latin typeface="Arial" panose="020B0604020202020204" pitchFamily="34" charset="0"/>
                <a:ea typeface="黑体" panose="02010609060101010101" pitchFamily="2" charset="-122"/>
              </a:rPr>
              <a:t>代之而起的先是地主阶级的军阀官僚统治</a:t>
            </a:r>
            <a:r>
              <a:rPr lang="en-US" altLang="zh-CN" sz="2400" b="1" dirty="0" smtClean="0">
                <a:solidFill>
                  <a:srgbClr val="0000FF"/>
                </a:solidFill>
                <a:latin typeface="Arial" panose="020B0604020202020204" pitchFamily="34" charset="0"/>
                <a:ea typeface="黑体" panose="02010609060101010101" pitchFamily="2" charset="-122"/>
              </a:rPr>
              <a:t>,</a:t>
            </a:r>
            <a:r>
              <a:rPr lang="zh-CN" altLang="en-US" sz="2400" b="1" dirty="0" smtClean="0">
                <a:solidFill>
                  <a:srgbClr val="0000FF"/>
                </a:solidFill>
                <a:latin typeface="Arial" panose="020B0604020202020204" pitchFamily="34" charset="0"/>
                <a:ea typeface="黑体" panose="02010609060101010101" pitchFamily="2" charset="-122"/>
              </a:rPr>
              <a:t>接着是地主阶级和大资产阶级联盟的专政</a:t>
            </a:r>
            <a:r>
              <a:rPr lang="en-US" altLang="zh-CN" sz="2400" b="1" dirty="0" smtClean="0">
                <a:solidFill>
                  <a:srgbClr val="0000FF"/>
                </a:solidFill>
                <a:latin typeface="Arial" panose="020B0604020202020204" pitchFamily="34" charset="0"/>
                <a:ea typeface="黑体" panose="02010609060101010101" pitchFamily="2" charset="-122"/>
              </a:rPr>
              <a:t>.</a:t>
            </a:r>
            <a:endParaRPr lang="zh-CN" altLang="en-US" sz="2400" b="1" dirty="0">
              <a:solidFill>
                <a:srgbClr val="0000FF"/>
              </a:solidFill>
              <a:latin typeface="Arial" panose="020B0604020202020204" pitchFamily="34" charset="0"/>
              <a:ea typeface="黑体" panose="02010609060101010101" pitchFamily="2" charset="-122"/>
            </a:endParaRP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3"/>
          <p:cNvSpPr txBox="1"/>
          <p:nvPr/>
        </p:nvSpPr>
        <p:spPr>
          <a:xfrm>
            <a:off x="467544" y="332656"/>
            <a:ext cx="7560840" cy="646331"/>
          </a:xfrm>
          <a:prstGeom prst="rect">
            <a:avLst/>
          </a:prstGeom>
          <a:noFill/>
          <a:ln w="9525">
            <a:solidFill>
              <a:srgbClr val="FF0000"/>
            </a:solidFill>
          </a:ln>
        </p:spPr>
        <p:txBody>
          <a:bodyPr wrap="square" anchor="t">
            <a:spAutoFit/>
          </a:bodyPr>
          <a:lstStyle/>
          <a:p>
            <a:pPr lvl="0"/>
            <a:r>
              <a:rPr lang="zh-CN" altLang="en-US" sz="3600" b="1" dirty="0" smtClean="0">
                <a:solidFill>
                  <a:srgbClr val="FF0000"/>
                </a:solidFill>
                <a:latin typeface="+mj-ea"/>
                <a:ea typeface="+mj-ea"/>
              </a:rPr>
              <a:t>近代</a:t>
            </a:r>
            <a:r>
              <a:rPr lang="zh-CN" altLang="en-US" sz="3600" b="1" dirty="0">
                <a:solidFill>
                  <a:srgbClr val="FF0000"/>
                </a:solidFill>
                <a:latin typeface="+mj-ea"/>
                <a:ea typeface="+mj-ea"/>
              </a:rPr>
              <a:t>中国半殖民地半封建社会的特征</a:t>
            </a:r>
          </a:p>
        </p:txBody>
      </p:sp>
      <p:graphicFrame>
        <p:nvGraphicFramePr>
          <p:cNvPr id="4" name="表格 3"/>
          <p:cNvGraphicFramePr>
            <a:graphicFrameLocks noGrp="1"/>
          </p:cNvGraphicFramePr>
          <p:nvPr/>
        </p:nvGraphicFramePr>
        <p:xfrm>
          <a:off x="179512" y="1124744"/>
          <a:ext cx="8568952" cy="5119464"/>
        </p:xfrm>
        <a:graphic>
          <a:graphicData uri="http://schemas.openxmlformats.org/drawingml/2006/table">
            <a:tbl>
              <a:tblPr firstRow="1" bandRow="1">
                <a:tableStyleId>{5C22544A-7EE6-4342-B048-85BDC9FD1C3A}</a:tableStyleId>
              </a:tblPr>
              <a:tblGrid>
                <a:gridCol w="8568952"/>
              </a:tblGrid>
              <a:tr h="792088">
                <a:tc>
                  <a:txBody>
                    <a:bodyPr/>
                    <a:lstStyle/>
                    <a:p>
                      <a:r>
                        <a:rPr lang="zh-CN" altLang="en-US" sz="1800" b="1" dirty="0" smtClean="0">
                          <a:solidFill>
                            <a:schemeClr val="bg1"/>
                          </a:solidFill>
                          <a:latin typeface="Arial" panose="020B0604020202020204" pitchFamily="34" charset="0"/>
                          <a:ea typeface="黑体" panose="02010609060101010101" pitchFamily="2" charset="-122"/>
                        </a:rPr>
                        <a:t>⑴自给自足的自然经济被破坏了</a:t>
                      </a:r>
                      <a:r>
                        <a:rPr lang="en-US" altLang="zh-CN" sz="1800" b="1" dirty="0" smtClean="0">
                          <a:solidFill>
                            <a:schemeClr val="bg1"/>
                          </a:solidFill>
                          <a:latin typeface="Arial" panose="020B0604020202020204" pitchFamily="34" charset="0"/>
                          <a:ea typeface="黑体" panose="02010609060101010101" pitchFamily="2" charset="-122"/>
                        </a:rPr>
                        <a:t>,</a:t>
                      </a:r>
                      <a:r>
                        <a:rPr lang="zh-CN" altLang="en-US" sz="1800" b="1" dirty="0" smtClean="0">
                          <a:solidFill>
                            <a:schemeClr val="bg1"/>
                          </a:solidFill>
                          <a:latin typeface="Arial" panose="020B0604020202020204" pitchFamily="34" charset="0"/>
                          <a:ea typeface="黑体" panose="02010609060101010101" pitchFamily="2" charset="-122"/>
                        </a:rPr>
                        <a:t>但是封建剥削制度依然保持着</a:t>
                      </a:r>
                      <a:r>
                        <a:rPr lang="en-US" altLang="zh-CN" sz="1800" b="1" dirty="0" smtClean="0">
                          <a:solidFill>
                            <a:schemeClr val="bg1"/>
                          </a:solidFill>
                          <a:latin typeface="Arial" panose="020B0604020202020204" pitchFamily="34" charset="0"/>
                          <a:ea typeface="黑体" panose="02010609060101010101" pitchFamily="2" charset="-122"/>
                        </a:rPr>
                        <a:t>,</a:t>
                      </a:r>
                      <a:r>
                        <a:rPr lang="zh-CN" altLang="en-US" sz="1800" b="1" dirty="0" smtClean="0">
                          <a:solidFill>
                            <a:schemeClr val="bg1"/>
                          </a:solidFill>
                          <a:latin typeface="Arial" panose="020B0604020202020204" pitchFamily="34" charset="0"/>
                          <a:ea typeface="黑体" panose="02010609060101010101" pitchFamily="2" charset="-122"/>
                        </a:rPr>
                        <a:t>仍占着显著的优势</a:t>
                      </a:r>
                      <a:r>
                        <a:rPr lang="en-US" altLang="zh-CN" sz="1800" b="1" dirty="0" smtClean="0">
                          <a:solidFill>
                            <a:schemeClr val="bg1"/>
                          </a:solidFill>
                          <a:latin typeface="Arial" panose="020B0604020202020204" pitchFamily="34" charset="0"/>
                          <a:ea typeface="黑体" panose="02010609060101010101" pitchFamily="2" charset="-122"/>
                        </a:rPr>
                        <a:t>.</a:t>
                      </a:r>
                      <a:r>
                        <a:rPr lang="zh-CN" altLang="en-US" sz="1800" b="1" dirty="0" smtClean="0">
                          <a:solidFill>
                            <a:schemeClr val="bg1"/>
                          </a:solidFill>
                          <a:latin typeface="Arial" panose="020B0604020202020204" pitchFamily="34" charset="0"/>
                          <a:ea typeface="黑体" panose="02010609060101010101" pitchFamily="2" charset="-122"/>
                        </a:rPr>
                        <a:t>（帝国主义侵略在一定程度上加速了自然经济的解体，客观上为资本主义的发展创造了一定条件）</a:t>
                      </a:r>
                      <a:endParaRPr lang="zh-CN" altLang="en-US" dirty="0">
                        <a:solidFill>
                          <a:schemeClr val="bg1"/>
                        </a:solidFill>
                      </a:endParaRPr>
                    </a:p>
                  </a:txBody>
                  <a:tcPr/>
                </a:tc>
              </a:tr>
              <a:tr h="792088">
                <a:tc>
                  <a:txBody>
                    <a:bodyPr/>
                    <a:lstStyle/>
                    <a:p>
                      <a:r>
                        <a:rPr lang="en-US" altLang="zh-CN" sz="1800" b="1" dirty="0" smtClean="0">
                          <a:solidFill>
                            <a:srgbClr val="0000FF"/>
                          </a:solidFill>
                          <a:latin typeface="Arial" panose="020B0604020202020204" pitchFamily="34" charset="0"/>
                          <a:ea typeface="黑体" panose="02010609060101010101" pitchFamily="2" charset="-122"/>
                        </a:rPr>
                        <a:t>⑵</a:t>
                      </a:r>
                      <a:r>
                        <a:rPr lang="zh-CN" altLang="en-US" sz="1800" b="1" dirty="0" smtClean="0">
                          <a:solidFill>
                            <a:srgbClr val="0000FF"/>
                          </a:solidFill>
                          <a:latin typeface="Arial" panose="020B0604020202020204" pitchFamily="34" charset="0"/>
                          <a:ea typeface="黑体" panose="02010609060101010101" pitchFamily="2" charset="-122"/>
                        </a:rPr>
                        <a:t>民族资本主义有了一定的发展</a:t>
                      </a:r>
                      <a:r>
                        <a:rPr lang="en-US" altLang="zh-CN" sz="1800" b="1" dirty="0" smtClean="0">
                          <a:solidFill>
                            <a:srgbClr val="0000FF"/>
                          </a:solidFill>
                          <a:latin typeface="Arial" panose="020B0604020202020204" pitchFamily="34" charset="0"/>
                          <a:ea typeface="黑体" panose="02010609060101010101" pitchFamily="2" charset="-122"/>
                        </a:rPr>
                        <a:t>,</a:t>
                      </a:r>
                      <a:r>
                        <a:rPr lang="zh-CN" altLang="en-US" sz="1800" b="1" dirty="0" smtClean="0">
                          <a:solidFill>
                            <a:srgbClr val="0000FF"/>
                          </a:solidFill>
                          <a:latin typeface="Arial" panose="020B0604020202020204" pitchFamily="34" charset="0"/>
                          <a:ea typeface="黑体" panose="02010609060101010101" pitchFamily="2" charset="-122"/>
                        </a:rPr>
                        <a:t>但它没有成为中国社会经济的主要形式</a:t>
                      </a:r>
                      <a:r>
                        <a:rPr lang="en-US" altLang="zh-CN" sz="1800" b="1" dirty="0" smtClean="0">
                          <a:solidFill>
                            <a:srgbClr val="0000FF"/>
                          </a:solidFill>
                          <a:latin typeface="Arial" panose="020B0604020202020204" pitchFamily="34" charset="0"/>
                          <a:ea typeface="黑体" panose="02010609060101010101" pitchFamily="2" charset="-122"/>
                        </a:rPr>
                        <a:t>.</a:t>
                      </a:r>
                      <a:br>
                        <a:rPr lang="en-US" altLang="zh-CN" sz="1800" b="1" dirty="0" smtClean="0">
                          <a:solidFill>
                            <a:srgbClr val="0000FF"/>
                          </a:solidFill>
                          <a:latin typeface="Arial" panose="020B0604020202020204" pitchFamily="34" charset="0"/>
                          <a:ea typeface="黑体" panose="02010609060101010101" pitchFamily="2" charset="-122"/>
                        </a:rPr>
                      </a:br>
                      <a:r>
                        <a:rPr lang="zh-CN" altLang="en-US" sz="1800" b="1" dirty="0" smtClean="0">
                          <a:solidFill>
                            <a:srgbClr val="0000FF"/>
                          </a:solidFill>
                          <a:latin typeface="Arial" panose="020B0604020202020204" pitchFamily="34" charset="0"/>
                          <a:ea typeface="黑体" panose="02010609060101010101" pitchFamily="2" charset="-122"/>
                        </a:rPr>
                        <a:t> 封建的剥削关系仍然存在，并且同买办资本和高利贷资本的剥削结合在一起，在中国社会生活中占据明显优势。</a:t>
                      </a:r>
                      <a:endParaRPr lang="zh-CN" altLang="en-US" dirty="0"/>
                    </a:p>
                  </a:txBody>
                  <a:tcPr/>
                </a:tc>
              </a:tr>
              <a:tr h="792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dirty="0" smtClean="0">
                          <a:solidFill>
                            <a:srgbClr val="0000FF"/>
                          </a:solidFill>
                          <a:latin typeface="Arial" panose="020B0604020202020204" pitchFamily="34" charset="0"/>
                          <a:ea typeface="黑体" panose="02010609060101010101" pitchFamily="2" charset="-122"/>
                        </a:rPr>
                        <a:t>⑶</a:t>
                      </a:r>
                      <a:r>
                        <a:rPr lang="zh-CN" altLang="en-US" sz="1800" b="1" dirty="0" smtClean="0">
                          <a:solidFill>
                            <a:srgbClr val="0000FF"/>
                          </a:solidFill>
                          <a:latin typeface="Arial" panose="020B0604020202020204" pitchFamily="34" charset="0"/>
                          <a:ea typeface="黑体" panose="02010609060101010101" pitchFamily="2" charset="-122"/>
                        </a:rPr>
                        <a:t>封建专制政权被推翻了</a:t>
                      </a:r>
                      <a:r>
                        <a:rPr lang="en-US" altLang="zh-CN" sz="1800" b="1" dirty="0" smtClean="0">
                          <a:solidFill>
                            <a:srgbClr val="0000FF"/>
                          </a:solidFill>
                          <a:latin typeface="Arial" panose="020B0604020202020204" pitchFamily="34" charset="0"/>
                          <a:ea typeface="黑体" panose="02010609060101010101" pitchFamily="2" charset="-122"/>
                        </a:rPr>
                        <a:t>,</a:t>
                      </a:r>
                      <a:r>
                        <a:rPr lang="zh-CN" altLang="en-US" sz="1800" b="1" dirty="0" smtClean="0">
                          <a:solidFill>
                            <a:srgbClr val="0000FF"/>
                          </a:solidFill>
                          <a:latin typeface="Arial" panose="020B0604020202020204" pitchFamily="34" charset="0"/>
                          <a:ea typeface="黑体" panose="02010609060101010101" pitchFamily="2" charset="-122"/>
                        </a:rPr>
                        <a:t>代之而起的先是地主阶级的军阀官僚统治</a:t>
                      </a:r>
                      <a:r>
                        <a:rPr lang="en-US" altLang="zh-CN" sz="1800" b="1" dirty="0" smtClean="0">
                          <a:solidFill>
                            <a:srgbClr val="0000FF"/>
                          </a:solidFill>
                          <a:latin typeface="Arial" panose="020B0604020202020204" pitchFamily="34" charset="0"/>
                          <a:ea typeface="黑体" panose="02010609060101010101" pitchFamily="2" charset="-122"/>
                        </a:rPr>
                        <a:t>,</a:t>
                      </a:r>
                      <a:r>
                        <a:rPr lang="zh-CN" altLang="en-US" sz="1800" b="1" dirty="0" smtClean="0">
                          <a:solidFill>
                            <a:srgbClr val="0000FF"/>
                          </a:solidFill>
                          <a:latin typeface="Arial" panose="020B0604020202020204" pitchFamily="34" charset="0"/>
                          <a:ea typeface="黑体" panose="02010609060101010101" pitchFamily="2" charset="-122"/>
                        </a:rPr>
                        <a:t>接着是地主阶级和大资产阶级联盟的专政</a:t>
                      </a:r>
                      <a:r>
                        <a:rPr lang="en-US" altLang="zh-CN" sz="1800" b="1" dirty="0" smtClean="0">
                          <a:solidFill>
                            <a:srgbClr val="0000FF"/>
                          </a:solidFill>
                          <a:latin typeface="Arial" panose="020B0604020202020204" pitchFamily="34" charset="0"/>
                          <a:ea typeface="黑体" panose="02010609060101010101" pitchFamily="2" charset="-122"/>
                        </a:rPr>
                        <a:t>.</a:t>
                      </a:r>
                      <a:endParaRPr lang="zh-CN" altLang="en-US" dirty="0"/>
                    </a:p>
                  </a:txBody>
                  <a:tcPr>
                    <a:solidFill>
                      <a:schemeClr val="bg2"/>
                    </a:solidFill>
                  </a:tcPr>
                </a:tc>
              </a:tr>
              <a:tr h="792088">
                <a:tc>
                  <a:txBody>
                    <a:bodyPr/>
                    <a:lstStyle/>
                    <a:p>
                      <a:r>
                        <a:rPr lang="en-US" altLang="zh-CN" sz="1800" b="1" dirty="0" smtClean="0">
                          <a:solidFill>
                            <a:srgbClr val="0000FF"/>
                          </a:solidFill>
                          <a:latin typeface="Arial" panose="020B0604020202020204" pitchFamily="34" charset="0"/>
                          <a:ea typeface="黑体" panose="02010609060101010101" pitchFamily="2" charset="-122"/>
                        </a:rPr>
                        <a:t>⑷</a:t>
                      </a:r>
                      <a:r>
                        <a:rPr lang="zh-CN" altLang="en-US" sz="1800" b="1" dirty="0" smtClean="0">
                          <a:solidFill>
                            <a:srgbClr val="0000FF"/>
                          </a:solidFill>
                          <a:latin typeface="Arial" panose="020B0604020202020204" pitchFamily="34" charset="0"/>
                          <a:ea typeface="黑体" panose="02010609060101010101" pitchFamily="2" charset="-122"/>
                        </a:rPr>
                        <a:t>帝国主义列强通过政治的、经济的、文化的侵略，使中国半殖民地化。帝国主义操纵了中国的财政和经济命脉</a:t>
                      </a:r>
                      <a:r>
                        <a:rPr lang="en-US" altLang="zh-CN" sz="1800" b="1" dirty="0" smtClean="0">
                          <a:solidFill>
                            <a:srgbClr val="0000FF"/>
                          </a:solidFill>
                          <a:latin typeface="Arial" panose="020B0604020202020204" pitchFamily="34" charset="0"/>
                          <a:ea typeface="黑体" panose="02010609060101010101" pitchFamily="2" charset="-122"/>
                        </a:rPr>
                        <a:t>,</a:t>
                      </a:r>
                      <a:r>
                        <a:rPr lang="zh-CN" altLang="en-US" sz="1800" b="1" dirty="0" smtClean="0">
                          <a:solidFill>
                            <a:srgbClr val="0000FF"/>
                          </a:solidFill>
                          <a:latin typeface="Arial" panose="020B0604020202020204" pitchFamily="34" charset="0"/>
                          <a:ea typeface="黑体" panose="02010609060101010101" pitchFamily="2" charset="-122"/>
                        </a:rPr>
                        <a:t>并且操纵了中国的政治和军事力量</a:t>
                      </a:r>
                      <a:r>
                        <a:rPr lang="en-US" altLang="zh-CN" sz="1800" b="1" dirty="0" smtClean="0">
                          <a:solidFill>
                            <a:srgbClr val="0000FF"/>
                          </a:solidFill>
                          <a:latin typeface="Arial" panose="020B0604020202020204" pitchFamily="34" charset="0"/>
                          <a:ea typeface="黑体" panose="02010609060101010101" pitchFamily="2" charset="-122"/>
                        </a:rPr>
                        <a:t>,</a:t>
                      </a:r>
                      <a:r>
                        <a:rPr lang="zh-CN" altLang="en-US" sz="1800" b="1" dirty="0" smtClean="0">
                          <a:solidFill>
                            <a:srgbClr val="0000FF"/>
                          </a:solidFill>
                          <a:latin typeface="Arial" panose="020B0604020202020204" pitchFamily="34" charset="0"/>
                          <a:ea typeface="黑体" panose="02010609060101010101" pitchFamily="2" charset="-122"/>
                        </a:rPr>
                        <a:t>是近代中国一切灾难的总根源</a:t>
                      </a:r>
                      <a:r>
                        <a:rPr lang="en-US" altLang="zh-CN" sz="1800" b="1" dirty="0" smtClean="0">
                          <a:solidFill>
                            <a:srgbClr val="0000FF"/>
                          </a:solidFill>
                          <a:latin typeface="Arial" panose="020B0604020202020204" pitchFamily="34" charset="0"/>
                          <a:ea typeface="黑体" panose="02010609060101010101" pitchFamily="2" charset="-122"/>
                        </a:rPr>
                        <a:t>.</a:t>
                      </a:r>
                      <a:endParaRPr lang="zh-CN" altLang="en-US" dirty="0"/>
                    </a:p>
                  </a:txBody>
                  <a:tcPr>
                    <a:solidFill>
                      <a:schemeClr val="accent5">
                        <a:lumMod val="20000"/>
                        <a:lumOff val="80000"/>
                      </a:schemeClr>
                    </a:solidFill>
                  </a:tcPr>
                </a:tc>
              </a:tr>
              <a:tr h="792088">
                <a:tc>
                  <a:txBody>
                    <a:bodyPr/>
                    <a:lstStyle/>
                    <a:p>
                      <a:r>
                        <a:rPr lang="en-US" altLang="zh-CN" sz="1800" b="1" dirty="0" smtClean="0">
                          <a:solidFill>
                            <a:srgbClr val="0000FF"/>
                          </a:solidFill>
                          <a:latin typeface="Arial" panose="020B0604020202020204" pitchFamily="34" charset="0"/>
                          <a:ea typeface="黑体" panose="02010609060101010101" pitchFamily="2" charset="-122"/>
                        </a:rPr>
                        <a:t>⑸</a:t>
                      </a:r>
                      <a:r>
                        <a:rPr lang="zh-CN" altLang="en-US" sz="1800" b="1" dirty="0" smtClean="0">
                          <a:solidFill>
                            <a:srgbClr val="0000FF"/>
                          </a:solidFill>
                          <a:latin typeface="Arial" panose="020B0604020202020204" pitchFamily="34" charset="0"/>
                          <a:ea typeface="黑体" panose="02010609060101010101" pitchFamily="2" charset="-122"/>
                        </a:rPr>
                        <a:t>中国的经济、政治和文化的发展表现出极端的不平衡</a:t>
                      </a:r>
                      <a:r>
                        <a:rPr lang="en-US" altLang="zh-CN" sz="1800" b="1" dirty="0" smtClean="0">
                          <a:solidFill>
                            <a:srgbClr val="0000FF"/>
                          </a:solidFill>
                          <a:latin typeface="Arial" panose="020B0604020202020204" pitchFamily="34" charset="0"/>
                          <a:ea typeface="黑体" panose="02010609060101010101" pitchFamily="2" charset="-122"/>
                        </a:rPr>
                        <a:t>.</a:t>
                      </a:r>
                      <a:endParaRPr lang="zh-CN" altLang="en-US" dirty="0"/>
                    </a:p>
                  </a:txBody>
                  <a:tcPr>
                    <a:solidFill>
                      <a:schemeClr val="bg2"/>
                    </a:solidFill>
                  </a:tcPr>
                </a:tc>
              </a:tr>
              <a:tr h="792088">
                <a:tc>
                  <a:txBody>
                    <a:bodyPr/>
                    <a:lstStyle/>
                    <a:p>
                      <a:r>
                        <a:rPr lang="en-US" altLang="zh-CN" sz="1800" b="1" dirty="0" smtClean="0">
                          <a:solidFill>
                            <a:srgbClr val="0000FF"/>
                          </a:solidFill>
                          <a:latin typeface="Arial" panose="020B0604020202020204" pitchFamily="34" charset="0"/>
                          <a:ea typeface="黑体" panose="02010609060101010101" pitchFamily="2" charset="-122"/>
                        </a:rPr>
                        <a:t>⑹</a:t>
                      </a:r>
                      <a:r>
                        <a:rPr lang="zh-CN" altLang="en-US" sz="1800" b="1" dirty="0" smtClean="0">
                          <a:solidFill>
                            <a:srgbClr val="0000FF"/>
                          </a:solidFill>
                          <a:latin typeface="Arial" panose="020B0604020202020204" pitchFamily="34" charset="0"/>
                          <a:ea typeface="黑体" panose="02010609060101010101" pitchFamily="2" charset="-122"/>
                        </a:rPr>
                        <a:t>由于帝国主义和封建主义的双重压迫</a:t>
                      </a:r>
                      <a:r>
                        <a:rPr lang="en-US" altLang="zh-CN" sz="1800" b="1" dirty="0" smtClean="0">
                          <a:solidFill>
                            <a:srgbClr val="0000FF"/>
                          </a:solidFill>
                          <a:latin typeface="Arial" panose="020B0604020202020204" pitchFamily="34" charset="0"/>
                          <a:ea typeface="黑体" panose="02010609060101010101" pitchFamily="2" charset="-122"/>
                        </a:rPr>
                        <a:t>,</a:t>
                      </a:r>
                      <a:r>
                        <a:rPr lang="zh-CN" altLang="en-US" sz="1800" b="1" dirty="0" smtClean="0">
                          <a:solidFill>
                            <a:srgbClr val="0000FF"/>
                          </a:solidFill>
                          <a:latin typeface="Arial" panose="020B0604020202020204" pitchFamily="34" charset="0"/>
                          <a:ea typeface="黑体" panose="02010609060101010101" pitchFamily="2" charset="-122"/>
                        </a:rPr>
                        <a:t>中国人民的贫困和不自由的程度</a:t>
                      </a:r>
                      <a:r>
                        <a:rPr lang="en-US" altLang="zh-CN" sz="1800" b="1" dirty="0" smtClean="0">
                          <a:solidFill>
                            <a:srgbClr val="0000FF"/>
                          </a:solidFill>
                          <a:latin typeface="Arial" panose="020B0604020202020204" pitchFamily="34" charset="0"/>
                          <a:ea typeface="黑体" panose="02010609060101010101" pitchFamily="2" charset="-122"/>
                        </a:rPr>
                        <a:t>,</a:t>
                      </a:r>
                      <a:r>
                        <a:rPr lang="zh-CN" altLang="en-US" sz="1800" b="1" dirty="0" smtClean="0">
                          <a:solidFill>
                            <a:srgbClr val="0000FF"/>
                          </a:solidFill>
                          <a:latin typeface="Arial" panose="020B0604020202020204" pitchFamily="34" charset="0"/>
                          <a:ea typeface="黑体" panose="02010609060101010101" pitchFamily="2" charset="-122"/>
                        </a:rPr>
                        <a:t>是世界上所少有的</a:t>
                      </a:r>
                      <a:endParaRPr lang="zh-CN" altLang="en-US" dirty="0"/>
                    </a:p>
                  </a:txBody>
                  <a:tcPr/>
                </a:tc>
              </a:tr>
            </a:tbl>
          </a:graphicData>
        </a:graphic>
      </p:graphicFrame>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p:cNvSpPr>
          <p:nvPr>
            <p:ph type="title" idx="4294967295"/>
          </p:nvPr>
        </p:nvSpPr>
        <p:spPr>
          <a:xfrm>
            <a:off x="467544" y="404664"/>
            <a:ext cx="7489825" cy="1143000"/>
          </a:xfrm>
          <a:prstGeom prst="rect">
            <a:avLst/>
          </a:prstGeom>
          <a:solidFill>
            <a:srgbClr val="FFFFFF"/>
          </a:solidFill>
          <a:ln>
            <a:solidFill>
              <a:srgbClr val="FF0000"/>
            </a:solidFill>
            <a:miter/>
          </a:ln>
        </p:spPr>
        <p:txBody>
          <a:bodyPr anchor="t"/>
          <a:lstStyle/>
          <a:p>
            <a:pPr eaLnBrk="1" hangingPunct="1"/>
            <a:r>
              <a:rPr lang="zh-CN" altLang="en-US" sz="2800" b="1" dirty="0">
                <a:solidFill>
                  <a:srgbClr val="FF0000"/>
                </a:solidFill>
                <a:latin typeface="华文琥珀" pitchFamily="2" charset="-122"/>
                <a:ea typeface="华文琥珀" pitchFamily="2" charset="-122"/>
              </a:rPr>
              <a:t>帝国主义列强入侵是中国沦为半殖民地半封建社会的根本原因</a:t>
            </a:r>
          </a:p>
        </p:txBody>
      </p:sp>
      <p:sp>
        <p:nvSpPr>
          <p:cNvPr id="184323" name="Rectangle 3"/>
          <p:cNvSpPr>
            <a:spLocks noGrp="1"/>
          </p:cNvSpPr>
          <p:nvPr>
            <p:ph idx="4294967295"/>
          </p:nvPr>
        </p:nvSpPr>
        <p:spPr>
          <a:xfrm>
            <a:off x="647700" y="1628775"/>
            <a:ext cx="8496300" cy="614363"/>
          </a:xfrm>
          <a:prstGeom prst="rect">
            <a:avLst/>
          </a:prstGeom>
          <a:noFill/>
          <a:ln>
            <a:solidFill>
              <a:srgbClr val="FF0000"/>
            </a:solidFill>
            <a:miter/>
          </a:ln>
        </p:spPr>
        <p:txBody>
          <a:bodyPr anchor="t"/>
          <a:lstStyle/>
          <a:p>
            <a:pPr marL="0" indent="0" eaLnBrk="1" hangingPunct="1">
              <a:lnSpc>
                <a:spcPct val="130000"/>
              </a:lnSpc>
              <a:buNone/>
            </a:pPr>
            <a:r>
              <a:rPr lang="zh-CN" altLang="en-US" sz="1800" b="1" dirty="0">
                <a:solidFill>
                  <a:srgbClr val="0000FF"/>
                </a:solidFill>
                <a:latin typeface="Times New Roman" panose="02020603050405020304" pitchFamily="18" charset="0"/>
                <a:ea typeface="黑体" panose="02010609060101010101" pitchFamily="2" charset="-122"/>
              </a:rPr>
              <a:t>讨论：近代中国为何没有</a:t>
            </a:r>
            <a:r>
              <a:rPr lang="zh-CN" altLang="en-US" sz="1800" b="1" dirty="0">
                <a:solidFill>
                  <a:srgbClr val="0000FF"/>
                </a:solidFill>
                <a:latin typeface="Times New Roman" panose="02020603050405020304" pitchFamily="18" charset="0"/>
                <a:ea typeface="黑体" panose="02010609060101010101" pitchFamily="2" charset="-122"/>
                <a:sym typeface="+mn-ea"/>
              </a:rPr>
              <a:t>沦为</a:t>
            </a:r>
            <a:r>
              <a:rPr lang="zh-CN" altLang="en-US" sz="1800" b="1" dirty="0">
                <a:solidFill>
                  <a:srgbClr val="0000FF"/>
                </a:solidFill>
                <a:latin typeface="Times New Roman" panose="02020603050405020304" pitchFamily="18" charset="0"/>
                <a:ea typeface="黑体" panose="02010609060101010101" pitchFamily="2" charset="-122"/>
              </a:rPr>
              <a:t>完全殖民地？</a:t>
            </a:r>
          </a:p>
        </p:txBody>
      </p:sp>
      <p:pic>
        <p:nvPicPr>
          <p:cNvPr id="13315" name="Picture 5" descr="443886038274195238"/>
          <p:cNvPicPr>
            <a:picLocks noChangeAspect="1"/>
          </p:cNvPicPr>
          <p:nvPr/>
        </p:nvPicPr>
        <p:blipFill>
          <a:blip r:embed="rId2" cstate="print"/>
          <a:stretch>
            <a:fillRect/>
          </a:stretch>
        </p:blipFill>
        <p:spPr>
          <a:xfrm>
            <a:off x="1595755" y="2448878"/>
            <a:ext cx="6096000" cy="3200400"/>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84322"/>
                                        </p:tgtEl>
                                        <p:attrNameLst>
                                          <p:attrName>style.visibility</p:attrName>
                                        </p:attrNameLst>
                                      </p:cBhvr>
                                      <p:to>
                                        <p:strVal val="visible"/>
                                      </p:to>
                                    </p:set>
                                    <p:anim calcmode="lin" valueType="num">
                                      <p:cBhvr>
                                        <p:cTn id="7" dur="500" fill="hold"/>
                                        <p:tgtEl>
                                          <p:spTgt spid="184322"/>
                                        </p:tgtEl>
                                        <p:attrNameLst>
                                          <p:attrName>ppt_w</p:attrName>
                                        </p:attrNameLst>
                                      </p:cBhvr>
                                      <p:tavLst>
                                        <p:tav tm="0">
                                          <p:val>
                                            <p:strVal val="#ppt_w*0.70"/>
                                          </p:val>
                                        </p:tav>
                                        <p:tav tm="100000">
                                          <p:val>
                                            <p:strVal val="#ppt_w"/>
                                          </p:val>
                                        </p:tav>
                                      </p:tavLst>
                                    </p:anim>
                                    <p:anim calcmode="lin" valueType="num">
                                      <p:cBhvr>
                                        <p:cTn id="8" dur="500" fill="hold"/>
                                        <p:tgtEl>
                                          <p:spTgt spid="184322"/>
                                        </p:tgtEl>
                                        <p:attrNameLst>
                                          <p:attrName>ppt_h</p:attrName>
                                        </p:attrNameLst>
                                      </p:cBhvr>
                                      <p:tavLst>
                                        <p:tav tm="0">
                                          <p:val>
                                            <p:strVal val="#ppt_h"/>
                                          </p:val>
                                        </p:tav>
                                        <p:tav tm="100000">
                                          <p:val>
                                            <p:strVal val="#ppt_h"/>
                                          </p:val>
                                        </p:tav>
                                      </p:tavLst>
                                    </p:anim>
                                    <p:animEffect transition="in" filter="fade">
                                      <p:cBhvr>
                                        <p:cTn id="9" dur="500"/>
                                        <p:tgtEl>
                                          <p:spTgt spid="184322"/>
                                        </p:tgtEl>
                                      </p:cBhvr>
                                    </p:animEffec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grpId="0" nodeType="clickEffect">
                                  <p:stCondLst>
                                    <p:cond delay="0"/>
                                  </p:stCondLst>
                                  <p:childTnLst>
                                    <p:set>
                                      <p:cBhvr>
                                        <p:cTn id="13" dur="1" fill="hold">
                                          <p:stCondLst>
                                            <p:cond delay="0"/>
                                          </p:stCondLst>
                                        </p:cTn>
                                        <p:tgtEl>
                                          <p:spTgt spid="184323">
                                            <p:bg/>
                                          </p:spTgt>
                                        </p:tgtEl>
                                        <p:attrNameLst>
                                          <p:attrName>style.visibility</p:attrName>
                                        </p:attrNameLst>
                                      </p:cBhvr>
                                      <p:to>
                                        <p:strVal val="visible"/>
                                      </p:to>
                                    </p:set>
                                    <p:animEffect transition="in" filter="checkerboard(across)">
                                      <p:cBhvr>
                                        <p:cTn id="14" dur="500"/>
                                        <p:tgtEl>
                                          <p:spTgt spid="184323">
                                            <p:bg/>
                                          </p:spTgt>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184323">
                                            <p:txEl>
                                              <p:pRg st="0" end="0"/>
                                            </p:txEl>
                                          </p:spTgt>
                                        </p:tgtEl>
                                        <p:attrNameLst>
                                          <p:attrName>style.visibility</p:attrName>
                                        </p:attrNameLst>
                                      </p:cBhvr>
                                      <p:to>
                                        <p:strVal val="visible"/>
                                      </p:to>
                                    </p:set>
                                    <p:animEffect transition="in" filter="checkerboard(across)">
                                      <p:cBhvr>
                                        <p:cTn id="19" dur="500"/>
                                        <p:tgtEl>
                                          <p:spTgt spid="1843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2" grpId="0" bldLvl="0" animBg="1"/>
      <p:bldP spid="184323"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3"/>
          <p:cNvSpPr txBox="1"/>
          <p:nvPr/>
        </p:nvSpPr>
        <p:spPr>
          <a:xfrm>
            <a:off x="611188" y="2205038"/>
            <a:ext cx="6408737" cy="946150"/>
          </a:xfrm>
          <a:prstGeom prst="rect">
            <a:avLst/>
          </a:prstGeom>
          <a:solidFill>
            <a:schemeClr val="bg1"/>
          </a:solidFill>
          <a:ln w="9525" cap="flat" cmpd="sng">
            <a:solidFill>
              <a:srgbClr val="FF0000"/>
            </a:solidFill>
            <a:prstDash val="solid"/>
            <a:miter/>
            <a:headEnd type="none" w="med" len="med"/>
            <a:tailEnd type="none" w="med" len="med"/>
          </a:ln>
        </p:spPr>
        <p:txBody>
          <a:bodyPr anchor="t">
            <a:spAutoFit/>
          </a:bodyPr>
          <a:lstStyle/>
          <a:p>
            <a:pPr lvl="0"/>
            <a:r>
              <a:rPr lang="en-US" altLang="zh-CN" sz="2800" b="1" dirty="0">
                <a:solidFill>
                  <a:schemeClr val="tx1"/>
                </a:solidFill>
                <a:latin typeface="Arial" panose="020B0604020202020204" pitchFamily="34" charset="0"/>
                <a:ea typeface="宋体" panose="02010600030101010101" pitchFamily="2" charset="-122"/>
              </a:rPr>
              <a:t>       </a:t>
            </a:r>
            <a:r>
              <a:rPr lang="zh-CN" altLang="en-US" sz="2800" b="1" dirty="0">
                <a:solidFill>
                  <a:srgbClr val="00B050"/>
                </a:solidFill>
                <a:latin typeface="Times New Roman" panose="02020603050405020304" pitchFamily="18" charset="0"/>
                <a:ea typeface="黑体" panose="02010609060101010101" pitchFamily="2" charset="-122"/>
              </a:rPr>
              <a:t>近代中国社会的性质</a:t>
            </a:r>
            <a:r>
              <a:rPr lang="zh-CN" altLang="en-US" sz="2800" b="1" dirty="0">
                <a:latin typeface="Times New Roman" panose="02020603050405020304" pitchFamily="18" charset="0"/>
                <a:ea typeface="黑体" panose="02010609060101010101" pitchFamily="2" charset="-122"/>
              </a:rPr>
              <a:t>：半殖民地半封建社会</a:t>
            </a:r>
          </a:p>
        </p:txBody>
      </p:sp>
      <p:sp>
        <p:nvSpPr>
          <p:cNvPr id="185348" name="AutoShape 4"/>
          <p:cNvSpPr/>
          <p:nvPr/>
        </p:nvSpPr>
        <p:spPr>
          <a:xfrm>
            <a:off x="1547813" y="3068638"/>
            <a:ext cx="433387" cy="503237"/>
          </a:xfrm>
          <a:prstGeom prst="downArrow">
            <a:avLst>
              <a:gd name="adj1" fmla="val 50000"/>
              <a:gd name="adj2" fmla="val 28997"/>
            </a:avLst>
          </a:prstGeom>
          <a:solidFill>
            <a:schemeClr val="bg1"/>
          </a:solidFill>
          <a:ln w="9525" cap="flat" cmpd="sng">
            <a:solidFill>
              <a:srgbClr val="FF0000"/>
            </a:solidFill>
            <a:prstDash val="solid"/>
            <a:miter/>
            <a:headEnd type="none" w="med" len="med"/>
            <a:tailEnd type="none" w="med" len="med"/>
          </a:ln>
        </p:spPr>
        <p:txBody>
          <a:bodyPr vert="eaVert" wrap="none" anchor="ctr"/>
          <a:lstStyle/>
          <a:p>
            <a:pPr lvl="0"/>
            <a:endParaRPr lang="zh-CN" altLang="en-US" dirty="0">
              <a:latin typeface="Arial" panose="020B0604020202020204" pitchFamily="34" charset="0"/>
              <a:ea typeface="黑体" panose="02010609060101010101" pitchFamily="2" charset="-122"/>
            </a:endParaRPr>
          </a:p>
        </p:txBody>
      </p:sp>
      <p:sp>
        <p:nvSpPr>
          <p:cNvPr id="185349" name="Text Box 5"/>
          <p:cNvSpPr txBox="1"/>
          <p:nvPr/>
        </p:nvSpPr>
        <p:spPr>
          <a:xfrm>
            <a:off x="1258888" y="3573463"/>
            <a:ext cx="1112837" cy="831850"/>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pPr lvl="0"/>
            <a:r>
              <a:rPr lang="zh-CN" altLang="en-US" sz="2400" b="1" dirty="0">
                <a:solidFill>
                  <a:srgbClr val="FF0000"/>
                </a:solidFill>
                <a:latin typeface="Arial" panose="020B0604020202020204" pitchFamily="34" charset="0"/>
                <a:ea typeface="黑体" panose="02010609060101010101" pitchFamily="2" charset="-122"/>
              </a:rPr>
              <a:t>社会主</a:t>
            </a:r>
          </a:p>
          <a:p>
            <a:pPr lvl="0"/>
            <a:r>
              <a:rPr lang="zh-CN" altLang="en-US" sz="2400" b="1" dirty="0">
                <a:solidFill>
                  <a:srgbClr val="FF0000"/>
                </a:solidFill>
                <a:latin typeface="Arial" panose="020B0604020202020204" pitchFamily="34" charset="0"/>
                <a:ea typeface="黑体" panose="02010609060101010101" pitchFamily="2" charset="-122"/>
              </a:rPr>
              <a:t>要矛盾</a:t>
            </a:r>
          </a:p>
        </p:txBody>
      </p:sp>
      <p:sp>
        <p:nvSpPr>
          <p:cNvPr id="185350" name="AutoShape 6"/>
          <p:cNvSpPr/>
          <p:nvPr/>
        </p:nvSpPr>
        <p:spPr>
          <a:xfrm>
            <a:off x="2484438" y="3357563"/>
            <a:ext cx="71437" cy="1079500"/>
          </a:xfrm>
          <a:prstGeom prst="leftBrace">
            <a:avLst>
              <a:gd name="adj1" fmla="val 125507"/>
              <a:gd name="adj2" fmla="val 50000"/>
            </a:avLst>
          </a:prstGeom>
          <a:solidFill>
            <a:schemeClr val="bg1"/>
          </a:solidFill>
          <a:ln w="9525" cap="flat" cmpd="sng">
            <a:solidFill>
              <a:srgbClr val="FF0000"/>
            </a:solidFill>
            <a:prstDash val="solid"/>
            <a:round/>
            <a:headEnd type="none" w="med" len="med"/>
            <a:tailEnd type="none" w="med" len="med"/>
          </a:ln>
        </p:spPr>
        <p:txBody>
          <a:bodyPr wrap="none" anchor="ctr"/>
          <a:lstStyle/>
          <a:p>
            <a:pPr lvl="0" algn="ctr"/>
            <a:endParaRPr lang="zh-CN" altLang="zh-CN" dirty="0">
              <a:solidFill>
                <a:schemeClr val="tx1"/>
              </a:solidFill>
              <a:latin typeface="Arial" panose="020B0604020202020204" pitchFamily="34" charset="0"/>
              <a:ea typeface="宋体" panose="02010600030101010101" pitchFamily="2" charset="-122"/>
            </a:endParaRPr>
          </a:p>
        </p:txBody>
      </p:sp>
      <p:sp>
        <p:nvSpPr>
          <p:cNvPr id="185351" name="Text Box 7"/>
          <p:cNvSpPr txBox="1"/>
          <p:nvPr/>
        </p:nvSpPr>
        <p:spPr>
          <a:xfrm>
            <a:off x="2627313" y="3213100"/>
            <a:ext cx="3260725" cy="406400"/>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pPr lvl="0"/>
            <a:r>
              <a:rPr lang="zh-CN" altLang="en-US" sz="2000" b="1" dirty="0">
                <a:latin typeface="黑体" panose="02010609060101010101" pitchFamily="2" charset="-122"/>
                <a:ea typeface="黑体" panose="02010609060101010101" pitchFamily="2" charset="-122"/>
              </a:rPr>
              <a:t>帝国主义和中华民族的矛盾</a:t>
            </a:r>
          </a:p>
        </p:txBody>
      </p:sp>
      <p:sp>
        <p:nvSpPr>
          <p:cNvPr id="185352" name="Text Box 8"/>
          <p:cNvSpPr txBox="1"/>
          <p:nvPr/>
        </p:nvSpPr>
        <p:spPr>
          <a:xfrm>
            <a:off x="2627313" y="4076700"/>
            <a:ext cx="3260725" cy="406400"/>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pPr lvl="0"/>
            <a:r>
              <a:rPr lang="zh-CN" altLang="en-US" sz="2000" b="1" dirty="0">
                <a:latin typeface="黑体" panose="02010609060101010101" pitchFamily="2" charset="-122"/>
                <a:ea typeface="黑体" panose="02010609060101010101" pitchFamily="2" charset="-122"/>
              </a:rPr>
              <a:t>封建主义和人民大众的矛盾</a:t>
            </a:r>
          </a:p>
        </p:txBody>
      </p:sp>
      <p:sp>
        <p:nvSpPr>
          <p:cNvPr id="185353" name="AutoShape 9"/>
          <p:cNvSpPr/>
          <p:nvPr/>
        </p:nvSpPr>
        <p:spPr>
          <a:xfrm>
            <a:off x="1619250" y="4437063"/>
            <a:ext cx="433388" cy="503237"/>
          </a:xfrm>
          <a:prstGeom prst="downArrow">
            <a:avLst>
              <a:gd name="adj1" fmla="val 50000"/>
              <a:gd name="adj2" fmla="val 28996"/>
            </a:avLst>
          </a:prstGeom>
          <a:solidFill>
            <a:schemeClr val="bg1"/>
          </a:solidFill>
          <a:ln w="9525" cap="flat" cmpd="sng">
            <a:solidFill>
              <a:srgbClr val="FF0000"/>
            </a:solidFill>
            <a:prstDash val="solid"/>
            <a:miter/>
            <a:headEnd type="none" w="med" len="med"/>
            <a:tailEnd type="none" w="med" len="med"/>
          </a:ln>
        </p:spPr>
        <p:txBody>
          <a:bodyPr vert="eaVert" wrap="none" anchor="ctr"/>
          <a:lstStyle/>
          <a:p>
            <a:pPr lvl="0"/>
            <a:endParaRPr lang="zh-CN" altLang="en-US" dirty="0">
              <a:latin typeface="Arial" panose="020B0604020202020204" pitchFamily="34" charset="0"/>
              <a:ea typeface="黑体" panose="02010609060101010101" pitchFamily="2" charset="-122"/>
            </a:endParaRPr>
          </a:p>
        </p:txBody>
      </p:sp>
      <p:sp>
        <p:nvSpPr>
          <p:cNvPr id="185354" name="Text Box 10"/>
          <p:cNvSpPr txBox="1"/>
          <p:nvPr/>
        </p:nvSpPr>
        <p:spPr>
          <a:xfrm>
            <a:off x="684213" y="5013325"/>
            <a:ext cx="6408737" cy="833438"/>
          </a:xfrm>
          <a:prstGeom prst="rect">
            <a:avLst/>
          </a:prstGeom>
          <a:solidFill>
            <a:schemeClr val="bg1"/>
          </a:solidFill>
          <a:ln w="9525" cap="flat" cmpd="sng">
            <a:solidFill>
              <a:srgbClr val="FF0000"/>
            </a:solidFill>
            <a:prstDash val="solid"/>
            <a:miter/>
            <a:headEnd type="none" w="med" len="med"/>
            <a:tailEnd type="none" w="med" len="med"/>
          </a:ln>
        </p:spPr>
        <p:txBody>
          <a:bodyPr anchor="t">
            <a:spAutoFit/>
          </a:bodyPr>
          <a:lstStyle/>
          <a:p>
            <a:pPr lvl="0"/>
            <a:r>
              <a:rPr lang="zh-CN" altLang="en-US" sz="2800" b="1" dirty="0">
                <a:solidFill>
                  <a:srgbClr val="00B050"/>
                </a:solidFill>
                <a:latin typeface="Times New Roman" panose="02020603050405020304" pitchFamily="18" charset="0"/>
                <a:ea typeface="黑体" panose="02010609060101010101" pitchFamily="2" charset="-122"/>
              </a:rPr>
              <a:t>近代中国的革命任务</a:t>
            </a:r>
            <a:r>
              <a:rPr lang="zh-CN" altLang="en-US" sz="2800" b="1" dirty="0">
                <a:latin typeface="Times New Roman" panose="02020603050405020304" pitchFamily="18" charset="0"/>
                <a:ea typeface="黑体" panose="02010609060101010101" pitchFamily="2" charset="-122"/>
              </a:rPr>
              <a:t>：</a:t>
            </a:r>
            <a:r>
              <a:rPr lang="zh-CN" altLang="en-US" sz="2000" b="1" dirty="0">
                <a:latin typeface="黑体" panose="02010609060101010101" pitchFamily="2" charset="-122"/>
                <a:ea typeface="黑体" panose="02010609060101010101" pitchFamily="2" charset="-122"/>
              </a:rPr>
              <a:t>推翻帝国主义、封建主义和官僚资本主义的统治</a:t>
            </a:r>
          </a:p>
        </p:txBody>
      </p:sp>
      <p:sp>
        <p:nvSpPr>
          <p:cNvPr id="185355" name="AutoShape 11"/>
          <p:cNvSpPr/>
          <p:nvPr/>
        </p:nvSpPr>
        <p:spPr>
          <a:xfrm>
            <a:off x="6084888" y="2852738"/>
            <a:ext cx="1008062" cy="661987"/>
          </a:xfrm>
          <a:prstGeom prst="borderCallout2">
            <a:avLst>
              <a:gd name="adj1" fmla="val 17264"/>
              <a:gd name="adj2" fmla="val -7560"/>
              <a:gd name="adj3" fmla="val 17264"/>
              <a:gd name="adj4" fmla="val -15907"/>
              <a:gd name="adj5" fmla="val 59954"/>
              <a:gd name="adj6" fmla="val -46144"/>
            </a:avLst>
          </a:prstGeom>
          <a:solidFill>
            <a:schemeClr val="bg1"/>
          </a:solidFill>
          <a:ln w="9525" cap="flat" cmpd="sng">
            <a:solidFill>
              <a:srgbClr val="FF0000"/>
            </a:solidFill>
            <a:prstDash val="solid"/>
            <a:miter/>
            <a:headEnd type="none" w="med" len="med"/>
            <a:tailEnd type="none" w="med" len="med"/>
          </a:ln>
        </p:spPr>
        <p:txBody>
          <a:bodyPr anchor="t"/>
          <a:lstStyle/>
          <a:p>
            <a:pPr lvl="0" algn="ctr"/>
            <a:r>
              <a:rPr lang="zh-CN" altLang="en-US" sz="2000" b="1" dirty="0">
                <a:solidFill>
                  <a:srgbClr val="FF0000"/>
                </a:solidFill>
                <a:latin typeface="Arial" panose="020B0604020202020204" pitchFamily="34" charset="0"/>
                <a:ea typeface="黑体" panose="02010609060101010101" pitchFamily="2" charset="-122"/>
              </a:rPr>
              <a:t>最主要的矛盾</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5348"/>
                                        </p:tgtEl>
                                        <p:attrNameLst>
                                          <p:attrName>style.visibility</p:attrName>
                                        </p:attrNameLst>
                                      </p:cBhvr>
                                      <p:to>
                                        <p:strVal val="visible"/>
                                      </p:to>
                                    </p:set>
                                    <p:animEffect transition="in" filter="wipe(up)">
                                      <p:cBhvr>
                                        <p:cTn id="7" dur="500"/>
                                        <p:tgtEl>
                                          <p:spTgt spid="18534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85349"/>
                                        </p:tgtEl>
                                        <p:attrNameLst>
                                          <p:attrName>style.visibility</p:attrName>
                                        </p:attrNameLst>
                                      </p:cBhvr>
                                      <p:to>
                                        <p:strVal val="visible"/>
                                      </p:to>
                                    </p:set>
                                    <p:animEffect transition="in" filter="dissolve">
                                      <p:cBhvr>
                                        <p:cTn id="11" dur="500"/>
                                        <p:tgtEl>
                                          <p:spTgt spid="18534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85350"/>
                                        </p:tgtEl>
                                        <p:attrNameLst>
                                          <p:attrName>style.visibility</p:attrName>
                                        </p:attrNameLst>
                                      </p:cBhvr>
                                      <p:to>
                                        <p:strVal val="visible"/>
                                      </p:to>
                                    </p:set>
                                  </p:childTnLst>
                                </p:cTn>
                              </p:par>
                            </p:childTnLst>
                          </p:cTn>
                        </p:par>
                        <p:par>
                          <p:cTn id="16" fill="hold">
                            <p:stCondLst>
                              <p:cond delay="0"/>
                            </p:stCondLst>
                            <p:childTnLst>
                              <p:par>
                                <p:cTn id="17" presetID="22" presetClass="entr" presetSubtype="8" fill="hold" grpId="0" nodeType="afterEffect">
                                  <p:stCondLst>
                                    <p:cond delay="0"/>
                                  </p:stCondLst>
                                  <p:childTnLst>
                                    <p:set>
                                      <p:cBhvr>
                                        <p:cTn id="18" dur="1" fill="hold">
                                          <p:stCondLst>
                                            <p:cond delay="0"/>
                                          </p:stCondLst>
                                        </p:cTn>
                                        <p:tgtEl>
                                          <p:spTgt spid="185351"/>
                                        </p:tgtEl>
                                        <p:attrNameLst>
                                          <p:attrName>style.visibility</p:attrName>
                                        </p:attrNameLst>
                                      </p:cBhvr>
                                      <p:to>
                                        <p:strVal val="visible"/>
                                      </p:to>
                                    </p:set>
                                    <p:animEffect transition="in" filter="wipe(left)">
                                      <p:cBhvr>
                                        <p:cTn id="19" dur="500"/>
                                        <p:tgtEl>
                                          <p:spTgt spid="185351"/>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85352"/>
                                        </p:tgtEl>
                                        <p:attrNameLst>
                                          <p:attrName>style.visibility</p:attrName>
                                        </p:attrNameLst>
                                      </p:cBhvr>
                                      <p:to>
                                        <p:strVal val="visible"/>
                                      </p:to>
                                    </p:set>
                                    <p:animEffect transition="in" filter="wipe(left)">
                                      <p:cBhvr>
                                        <p:cTn id="23" dur="500"/>
                                        <p:tgtEl>
                                          <p:spTgt spid="185352"/>
                                        </p:tgtEl>
                                      </p:cBhvr>
                                    </p:animEffect>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grpId="0" nodeType="clickEffect">
                                  <p:stCondLst>
                                    <p:cond delay="0"/>
                                  </p:stCondLst>
                                  <p:childTnLst>
                                    <p:set>
                                      <p:cBhvr>
                                        <p:cTn id="27" dur="1" fill="hold">
                                          <p:stCondLst>
                                            <p:cond delay="0"/>
                                          </p:stCondLst>
                                        </p:cTn>
                                        <p:tgtEl>
                                          <p:spTgt spid="185355"/>
                                        </p:tgtEl>
                                        <p:attrNameLst>
                                          <p:attrName>style.visibility</p:attrName>
                                        </p:attrNameLst>
                                      </p:cBhvr>
                                      <p:to>
                                        <p:strVal val="visible"/>
                                      </p:to>
                                    </p:set>
                                    <p:animEffect transition="in" filter="diamond(in)">
                                      <p:cBhvr>
                                        <p:cTn id="28" dur="500"/>
                                        <p:tgtEl>
                                          <p:spTgt spid="18535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85353"/>
                                        </p:tgtEl>
                                        <p:attrNameLst>
                                          <p:attrName>style.visibility</p:attrName>
                                        </p:attrNameLst>
                                      </p:cBhvr>
                                      <p:to>
                                        <p:strVal val="visible"/>
                                      </p:to>
                                    </p:set>
                                    <p:animEffect transition="in" filter="wipe(up)">
                                      <p:cBhvr>
                                        <p:cTn id="33" dur="500"/>
                                        <p:tgtEl>
                                          <p:spTgt spid="185353"/>
                                        </p:tgtEl>
                                      </p:cBhvr>
                                    </p:animEffect>
                                  </p:childTnLst>
                                </p:cTn>
                              </p:par>
                            </p:childTnLst>
                          </p:cTn>
                        </p:par>
                        <p:par>
                          <p:cTn id="34" fill="hold">
                            <p:stCondLst>
                              <p:cond delay="500"/>
                            </p:stCondLst>
                            <p:childTnLst>
                              <p:par>
                                <p:cTn id="35" presetID="8" presetClass="entr" presetSubtype="32" fill="hold" grpId="0" nodeType="afterEffect">
                                  <p:stCondLst>
                                    <p:cond delay="0"/>
                                  </p:stCondLst>
                                  <p:childTnLst>
                                    <p:set>
                                      <p:cBhvr>
                                        <p:cTn id="36" dur="1" fill="hold">
                                          <p:stCondLst>
                                            <p:cond delay="0"/>
                                          </p:stCondLst>
                                        </p:cTn>
                                        <p:tgtEl>
                                          <p:spTgt spid="185354"/>
                                        </p:tgtEl>
                                        <p:attrNameLst>
                                          <p:attrName>style.visibility</p:attrName>
                                        </p:attrNameLst>
                                      </p:cBhvr>
                                      <p:to>
                                        <p:strVal val="visible"/>
                                      </p:to>
                                    </p:set>
                                    <p:animEffect transition="in" filter="diamond(out)">
                                      <p:cBhvr>
                                        <p:cTn id="37" dur="1000"/>
                                        <p:tgtEl>
                                          <p:spTgt spid="185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8" grpId="0" bldLvl="0" animBg="1"/>
      <p:bldP spid="185349" grpId="0" bldLvl="0" animBg="1"/>
      <p:bldP spid="185350" grpId="0" bldLvl="0" animBg="1"/>
      <p:bldP spid="185351" grpId="0" bldLvl="0" animBg="1"/>
      <p:bldP spid="185352" grpId="0" bldLvl="0" animBg="1"/>
      <p:bldP spid="185353" grpId="0" bldLvl="0" animBg="1"/>
      <p:bldP spid="185354" grpId="0" bldLvl="0" animBg="1"/>
      <p:bldP spid="185355"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1"/>
          <p:cNvSpPr/>
          <p:nvPr/>
        </p:nvSpPr>
        <p:spPr>
          <a:xfrm>
            <a:off x="4442460" y="513080"/>
            <a:ext cx="3975100" cy="914400"/>
          </a:xfrm>
          <a:prstGeom prst="rect">
            <a:avLst/>
          </a:prstGeom>
          <a:solidFill>
            <a:schemeClr val="bg1"/>
          </a:solidFill>
          <a:ln w="9525" cap="flat" cmpd="sng">
            <a:solidFill>
              <a:srgbClr val="FF0000"/>
            </a:solidFill>
            <a:prstDash val="solid"/>
            <a:miter/>
            <a:headEnd type="none" w="med" len="med"/>
            <a:tailEnd type="none" w="med" len="med"/>
          </a:ln>
        </p:spPr>
        <p:txBody>
          <a:bodyPr wrap="none" anchor="ctr"/>
          <a:lstStyle/>
          <a:p>
            <a:pPr lvl="0" algn="ctr"/>
            <a:r>
              <a:rPr lang="zh-CN" altLang="en-US" sz="2400" b="1" dirty="0">
                <a:latin typeface="Times New Roman" panose="02020603050405020304" pitchFamily="18" charset="0"/>
                <a:ea typeface="黑体" panose="02010609060101010101" pitchFamily="2" charset="-122"/>
              </a:rPr>
              <a:t>争取民族独立，人民解放</a:t>
            </a:r>
          </a:p>
          <a:p>
            <a:pPr lvl="0" algn="ctr"/>
            <a:r>
              <a:rPr lang="zh-CN" altLang="en-US" sz="2400" b="1" dirty="0">
                <a:latin typeface="Times New Roman" panose="02020603050405020304" pitchFamily="18" charset="0"/>
                <a:ea typeface="黑体" panose="02010609060101010101" pitchFamily="2" charset="-122"/>
              </a:rPr>
              <a:t>（革命任务，解放生产力）</a:t>
            </a:r>
            <a:endParaRPr lang="zh-CN" altLang="en-US" sz="2400" b="1" dirty="0">
              <a:latin typeface="Arial" panose="020B0604020202020204" pitchFamily="34" charset="0"/>
              <a:ea typeface="黑体" panose="02010609060101010101" pitchFamily="2" charset="-122"/>
            </a:endParaRPr>
          </a:p>
        </p:txBody>
      </p:sp>
      <p:sp>
        <p:nvSpPr>
          <p:cNvPr id="16387" name="Rectangle 12"/>
          <p:cNvSpPr/>
          <p:nvPr/>
        </p:nvSpPr>
        <p:spPr>
          <a:xfrm>
            <a:off x="4427855" y="2075815"/>
            <a:ext cx="3989070" cy="934720"/>
          </a:xfrm>
          <a:prstGeom prst="rect">
            <a:avLst/>
          </a:prstGeom>
          <a:solidFill>
            <a:schemeClr val="bg1"/>
          </a:solidFill>
          <a:ln w="9525" cap="flat" cmpd="sng">
            <a:solidFill>
              <a:srgbClr val="FF0000"/>
            </a:solidFill>
            <a:prstDash val="solid"/>
            <a:miter/>
            <a:headEnd type="none" w="med" len="med"/>
            <a:tailEnd type="none" w="med" len="med"/>
          </a:ln>
        </p:spPr>
        <p:txBody>
          <a:bodyPr wrap="none" anchor="ctr"/>
          <a:lstStyle/>
          <a:p>
            <a:pPr lvl="0" algn="ctr"/>
            <a:r>
              <a:rPr lang="zh-CN" altLang="en-US" sz="2400" b="1" dirty="0">
                <a:latin typeface="Times New Roman" panose="02020603050405020304" pitchFamily="18" charset="0"/>
                <a:ea typeface="黑体" panose="02010609060101010101" pitchFamily="2" charset="-122"/>
              </a:rPr>
              <a:t>实现国家富强，人民富裕</a:t>
            </a:r>
          </a:p>
          <a:p>
            <a:pPr lvl="0" algn="ctr"/>
            <a:r>
              <a:rPr lang="zh-CN" altLang="en-US" sz="2400" b="1" dirty="0">
                <a:latin typeface="Times New Roman" panose="02020603050405020304" pitchFamily="18" charset="0"/>
                <a:ea typeface="黑体" panose="02010609060101010101" pitchFamily="2" charset="-122"/>
              </a:rPr>
              <a:t>（发展生产力） </a:t>
            </a:r>
          </a:p>
        </p:txBody>
      </p:sp>
      <p:sp>
        <p:nvSpPr>
          <p:cNvPr id="16388" name="Line 19"/>
          <p:cNvSpPr/>
          <p:nvPr/>
        </p:nvSpPr>
        <p:spPr>
          <a:xfrm flipV="1">
            <a:off x="3348038" y="1125538"/>
            <a:ext cx="1079500" cy="431800"/>
          </a:xfrm>
          <a:prstGeom prst="line">
            <a:avLst/>
          </a:prstGeom>
          <a:ln w="9525" cap="flat" cmpd="sng">
            <a:solidFill>
              <a:schemeClr val="tx1"/>
            </a:solidFill>
            <a:prstDash val="solid"/>
            <a:round/>
            <a:headEnd type="none" w="med" len="med"/>
            <a:tailEnd type="none" w="med" len="med"/>
          </a:ln>
        </p:spPr>
        <p:txBody>
          <a:bodyPr anchor="t"/>
          <a:lstStyle/>
          <a:p>
            <a:pPr lvl="0"/>
            <a:endParaRPr lang="zh-CN" altLang="en-US">
              <a:latin typeface="Arial" panose="020B0604020202020204" pitchFamily="34" charset="0"/>
              <a:ea typeface="黑体" panose="02010609060101010101" pitchFamily="2" charset="-122"/>
            </a:endParaRPr>
          </a:p>
        </p:txBody>
      </p:sp>
      <p:sp>
        <p:nvSpPr>
          <p:cNvPr id="16389" name="Line 21"/>
          <p:cNvSpPr/>
          <p:nvPr/>
        </p:nvSpPr>
        <p:spPr>
          <a:xfrm>
            <a:off x="3348038" y="1557338"/>
            <a:ext cx="1008062" cy="863600"/>
          </a:xfrm>
          <a:prstGeom prst="line">
            <a:avLst/>
          </a:prstGeom>
          <a:ln w="9525" cap="flat" cmpd="sng">
            <a:solidFill>
              <a:schemeClr val="tx1"/>
            </a:solidFill>
            <a:prstDash val="solid"/>
            <a:round/>
            <a:headEnd type="none" w="med" len="med"/>
            <a:tailEnd type="none" w="med" len="med"/>
          </a:ln>
        </p:spPr>
        <p:txBody>
          <a:bodyPr anchor="t"/>
          <a:lstStyle/>
          <a:p>
            <a:pPr lvl="0"/>
            <a:endParaRPr lang="zh-CN" altLang="en-US">
              <a:latin typeface="Arial" panose="020B0604020202020204" pitchFamily="34" charset="0"/>
              <a:ea typeface="黑体" panose="02010609060101010101" pitchFamily="2" charset="-122"/>
            </a:endParaRPr>
          </a:p>
        </p:txBody>
      </p:sp>
      <p:sp>
        <p:nvSpPr>
          <p:cNvPr id="16390" name="Rectangle 22"/>
          <p:cNvSpPr/>
          <p:nvPr/>
        </p:nvSpPr>
        <p:spPr>
          <a:xfrm>
            <a:off x="179388" y="1052513"/>
            <a:ext cx="3168650" cy="93503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endParaRPr lang="zh-CN" altLang="en-US" dirty="0">
              <a:latin typeface="Arial" panose="020B0604020202020204" pitchFamily="34" charset="0"/>
              <a:ea typeface="黑体" panose="02010609060101010101" pitchFamily="2" charset="-122"/>
            </a:endParaRPr>
          </a:p>
        </p:txBody>
      </p:sp>
      <p:sp>
        <p:nvSpPr>
          <p:cNvPr id="16391" name="Text Box 23"/>
          <p:cNvSpPr txBox="1"/>
          <p:nvPr/>
        </p:nvSpPr>
        <p:spPr>
          <a:xfrm>
            <a:off x="0" y="1052513"/>
            <a:ext cx="3355975" cy="944880"/>
          </a:xfrm>
          <a:prstGeom prst="rect">
            <a:avLst/>
          </a:prstGeom>
          <a:solidFill>
            <a:schemeClr val="bg1"/>
          </a:solidFill>
          <a:ln w="9525">
            <a:noFill/>
          </a:ln>
        </p:spPr>
        <p:txBody>
          <a:bodyPr wrap="square" anchor="t">
            <a:spAutoFit/>
          </a:bodyPr>
          <a:lstStyle/>
          <a:p>
            <a:pPr lvl="0"/>
            <a:r>
              <a:rPr lang="en-US" altLang="zh-CN" sz="2800" b="1">
                <a:solidFill>
                  <a:schemeClr val="tx1"/>
                </a:solidFill>
                <a:latin typeface="Arial" panose="020B0604020202020204" pitchFamily="34" charset="0"/>
                <a:ea typeface="宋体" panose="02010600030101010101" pitchFamily="2" charset="-122"/>
              </a:rPr>
              <a:t>       </a:t>
            </a:r>
            <a:r>
              <a:rPr lang="zh-CN" altLang="en-US" sz="2800" b="1" dirty="0">
                <a:latin typeface="Times New Roman" panose="02020603050405020304" pitchFamily="18" charset="0"/>
                <a:ea typeface="黑体" panose="02010609060101010101" pitchFamily="2" charset="-122"/>
              </a:rPr>
              <a:t>近代中国革命的根本任务：</a:t>
            </a:r>
          </a:p>
        </p:txBody>
      </p:sp>
      <p:pic>
        <p:nvPicPr>
          <p:cNvPr id="106498" name="Picture 2" descr="https://gss3.bdstatic.com/-Po3dSag_xI4khGkpoWK1HF6hhy/baike/w%3D268%3Bg%3D0/sign=2e1c9bc5af51f3dec3b2be62acd59722/267f9e2f07082838ac3a8f1bb899a9014c08f18e.jpg"/>
          <p:cNvPicPr>
            <a:picLocks noChangeAspect="1" noChangeArrowheads="1"/>
          </p:cNvPicPr>
          <p:nvPr/>
        </p:nvPicPr>
        <p:blipFill>
          <a:blip r:embed="rId2" cstate="print"/>
          <a:srcRect/>
          <a:stretch>
            <a:fillRect/>
          </a:stretch>
        </p:blipFill>
        <p:spPr bwMode="auto">
          <a:xfrm>
            <a:off x="5436096" y="3140968"/>
            <a:ext cx="2552700" cy="3552825"/>
          </a:xfrm>
          <a:prstGeom prst="rect">
            <a:avLst/>
          </a:prstGeom>
          <a:noFill/>
        </p:spPr>
      </p:pic>
      <p:sp>
        <p:nvSpPr>
          <p:cNvPr id="10" name="矩形 9"/>
          <p:cNvSpPr/>
          <p:nvPr/>
        </p:nvSpPr>
        <p:spPr>
          <a:xfrm>
            <a:off x="755576" y="3861048"/>
            <a:ext cx="4572000" cy="1754326"/>
          </a:xfrm>
          <a:prstGeom prst="rect">
            <a:avLst/>
          </a:prstGeom>
        </p:spPr>
        <p:txBody>
          <a:bodyPr>
            <a:spAutoFit/>
          </a:bodyPr>
          <a:lstStyle/>
          <a:p>
            <a:r>
              <a:rPr lang="zh-CN" altLang="en-US" b="1" dirty="0" smtClean="0">
                <a:solidFill>
                  <a:srgbClr val="FF0000"/>
                </a:solidFill>
                <a:latin typeface="华文隶书" pitchFamily="2" charset="-122"/>
                <a:ea typeface="华文隶书" pitchFamily="2" charset="-122"/>
              </a:rPr>
              <a:t>鸦片战争后，中国成为半殖民地半封建国家。中华民族面对着两大历史任务：一个是求得民族独立和人民解放；一个是实现国家繁荣富强和人民共同富裕。前一任务是为后一任务扫清障碍，创造必要的前提</a:t>
            </a:r>
            <a:r>
              <a:rPr lang="en-US" altLang="zh-CN" b="1" dirty="0" smtClean="0">
                <a:solidFill>
                  <a:srgbClr val="FF0000"/>
                </a:solidFill>
                <a:latin typeface="华文隶书" pitchFamily="2" charset="-122"/>
                <a:ea typeface="华文隶书" pitchFamily="2" charset="-122"/>
              </a:rPr>
              <a:t>____</a:t>
            </a:r>
            <a:r>
              <a:rPr lang="zh-CN" altLang="en-US" b="1" dirty="0" smtClean="0">
                <a:solidFill>
                  <a:srgbClr val="FF0000"/>
                </a:solidFill>
                <a:latin typeface="华文隶书" pitchFamily="2" charset="-122"/>
                <a:ea typeface="华文隶书" pitchFamily="2" charset="-122"/>
              </a:rPr>
              <a:t>十五大报告</a:t>
            </a:r>
            <a:endParaRPr lang="zh-CN" altLang="en-US" b="1" dirty="0">
              <a:solidFill>
                <a:srgbClr val="FF0000"/>
              </a:solidFill>
              <a:latin typeface="华文隶书" pitchFamily="2" charset="-122"/>
              <a:ea typeface="华文隶书" pitchFamily="2" charset="-122"/>
            </a:endParaRPr>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idx="4294967295"/>
          </p:nvPr>
        </p:nvSpPr>
        <p:spPr>
          <a:xfrm>
            <a:off x="827584" y="332656"/>
            <a:ext cx="6951663" cy="1195388"/>
          </a:xfrm>
          <a:prstGeom prst="rect">
            <a:avLst/>
          </a:prstGeom>
          <a:solidFill>
            <a:schemeClr val="bg2"/>
          </a:solidFill>
          <a:ln>
            <a:solidFill>
              <a:srgbClr val="FF0000"/>
            </a:solidFill>
            <a:miter/>
          </a:ln>
        </p:spPr>
        <p:txBody>
          <a:bodyPr anchor="t"/>
          <a:lstStyle/>
          <a:p>
            <a:pPr algn="l" eaLnBrk="1" hangingPunct="1"/>
            <a:r>
              <a:rPr lang="zh-CN" altLang="en-US" sz="3200" b="1" dirty="0" smtClean="0">
                <a:solidFill>
                  <a:srgbClr val="FF0000"/>
                </a:solidFill>
                <a:latin typeface="华文琥珀" pitchFamily="2" charset="-122"/>
                <a:ea typeface="华文琥珀" pitchFamily="2" charset="-122"/>
              </a:rPr>
              <a:t>二、近代</a:t>
            </a:r>
            <a:r>
              <a:rPr lang="zh-CN" altLang="en-US" sz="3200" b="1" dirty="0">
                <a:solidFill>
                  <a:srgbClr val="FF0000"/>
                </a:solidFill>
                <a:latin typeface="华文琥珀" pitchFamily="2" charset="-122"/>
                <a:ea typeface="华文琥珀" pitchFamily="2" charset="-122"/>
              </a:rPr>
              <a:t>中国革命的时代</a:t>
            </a:r>
            <a:r>
              <a:rPr lang="zh-CN" altLang="en-US" sz="3200" b="1" dirty="0" smtClean="0">
                <a:solidFill>
                  <a:srgbClr val="FF0000"/>
                </a:solidFill>
                <a:latin typeface="华文琥珀" pitchFamily="2" charset="-122"/>
                <a:ea typeface="华文琥珀" pitchFamily="2" charset="-122"/>
              </a:rPr>
              <a:t>特征（时代背景）</a:t>
            </a:r>
            <a:endParaRPr lang="zh-CN" altLang="en-US" sz="3200" b="1" dirty="0">
              <a:solidFill>
                <a:srgbClr val="FF0000"/>
              </a:solidFill>
              <a:latin typeface="华文琥珀" pitchFamily="2" charset="-122"/>
              <a:ea typeface="华文琥珀" pitchFamily="2" charset="-122"/>
            </a:endParaRPr>
          </a:p>
        </p:txBody>
      </p:sp>
      <p:sp>
        <p:nvSpPr>
          <p:cNvPr id="227332" name="Text Box 4"/>
          <p:cNvSpPr txBox="1"/>
          <p:nvPr/>
        </p:nvSpPr>
        <p:spPr>
          <a:xfrm>
            <a:off x="755576" y="1988840"/>
            <a:ext cx="4424680" cy="3711785"/>
          </a:xfrm>
          <a:prstGeom prst="rect">
            <a:avLst/>
          </a:prstGeom>
          <a:noFill/>
          <a:ln w="9525" cap="flat" cmpd="sng">
            <a:solidFill>
              <a:srgbClr val="FF0000"/>
            </a:solidFill>
            <a:prstDash val="solid"/>
            <a:miter/>
            <a:headEnd type="none" w="med" len="med"/>
            <a:tailEnd type="none" w="med" len="med"/>
          </a:ln>
        </p:spPr>
        <p:txBody>
          <a:bodyPr wrap="square" anchor="t">
            <a:spAutoFit/>
          </a:bodyPr>
          <a:lstStyle/>
          <a:p>
            <a:pPr lvl="0">
              <a:lnSpc>
                <a:spcPct val="120000"/>
              </a:lnSpc>
            </a:pPr>
            <a:r>
              <a:rPr lang="en-US" altLang="zh-CN" sz="2400" b="1" dirty="0">
                <a:solidFill>
                  <a:schemeClr val="tx1"/>
                </a:solidFill>
                <a:latin typeface="楷体_GB2312" pitchFamily="49" charset="-122"/>
                <a:ea typeface="楷体_GB2312" pitchFamily="49" charset="-122"/>
              </a:rPr>
              <a:t>   </a:t>
            </a:r>
            <a:r>
              <a:rPr lang="zh-CN" altLang="en-US" sz="2400" b="1" dirty="0">
                <a:latin typeface="Times New Roman" panose="02020603050405020304" pitchFamily="18" charset="0"/>
                <a:ea typeface="黑体" panose="02010609060101010101" pitchFamily="2" charset="-122"/>
              </a:rPr>
              <a:t>中国革命性质仍然是</a:t>
            </a:r>
            <a:r>
              <a:rPr lang="zh-CN" altLang="en-US" sz="2400" b="1" dirty="0">
                <a:solidFill>
                  <a:srgbClr val="FF0000"/>
                </a:solidFill>
                <a:latin typeface="Times New Roman" panose="02020603050405020304" pitchFamily="18" charset="0"/>
                <a:ea typeface="黑体" panose="02010609060101010101" pitchFamily="2" charset="-122"/>
              </a:rPr>
              <a:t>资产阶级民主革命，</a:t>
            </a:r>
            <a:r>
              <a:rPr lang="zh-CN" altLang="en-US" sz="2400" b="1" dirty="0">
                <a:latin typeface="Times New Roman" panose="02020603050405020304" pitchFamily="18" charset="0"/>
                <a:ea typeface="黑体" panose="02010609060101010101" pitchFamily="2" charset="-122"/>
              </a:rPr>
              <a:t>但具有鲜明的时代特征。</a:t>
            </a:r>
          </a:p>
          <a:p>
            <a:pPr lvl="0">
              <a:lnSpc>
                <a:spcPct val="120000"/>
              </a:lnSpc>
            </a:pPr>
            <a:r>
              <a:rPr lang="zh-CN" altLang="en-US" sz="2400" b="1" dirty="0">
                <a:latin typeface="Times New Roman" panose="02020603050405020304" pitchFamily="18" charset="0"/>
                <a:ea typeface="黑体" panose="02010609060101010101" pitchFamily="2" charset="-122"/>
                <a:cs typeface="+mn-ea"/>
              </a:rPr>
              <a:t>        俄国十月革命，开辟了人类历史的新纪元，世界进入无产阶</a:t>
            </a:r>
            <a:r>
              <a:rPr lang="zh-CN" altLang="en-US" sz="2400" b="1" dirty="0">
                <a:latin typeface="Times New Roman" panose="02020603050405020304" pitchFamily="18" charset="0"/>
                <a:ea typeface="黑体" panose="02010609060101010101" pitchFamily="2" charset="-122"/>
              </a:rPr>
              <a:t>级社会主义革命的新时代，</a:t>
            </a:r>
            <a:r>
              <a:rPr lang="zh-CN" altLang="en-US" sz="2400" b="1" dirty="0">
                <a:solidFill>
                  <a:srgbClr val="FF0000"/>
                </a:solidFill>
                <a:latin typeface="Times New Roman" panose="02020603050405020304" pitchFamily="18" charset="0"/>
                <a:ea typeface="黑体" panose="02010609060101010101" pitchFamily="2" charset="-122"/>
              </a:rPr>
              <a:t>中国革命属于世界无产阶级社会主义革命的一部</a:t>
            </a:r>
            <a:r>
              <a:rPr lang="zh-CN" altLang="en-US" sz="2800" b="1" dirty="0">
                <a:solidFill>
                  <a:srgbClr val="FF0000"/>
                </a:solidFill>
                <a:latin typeface="Times New Roman" panose="02020603050405020304" pitchFamily="18" charset="0"/>
                <a:ea typeface="黑体" panose="02010609060101010101" pitchFamily="2" charset="-122"/>
              </a:rPr>
              <a:t>分</a:t>
            </a:r>
            <a:r>
              <a:rPr lang="zh-CN" altLang="en-US" sz="2800" b="1" dirty="0">
                <a:latin typeface="Times New Roman" panose="02020603050405020304" pitchFamily="18" charset="0"/>
                <a:ea typeface="黑体" panose="02010609060101010101" pitchFamily="2" charset="-122"/>
              </a:rPr>
              <a:t>。</a:t>
            </a:r>
          </a:p>
        </p:txBody>
      </p:sp>
      <p:pic>
        <p:nvPicPr>
          <p:cNvPr id="18436" name="Picture 6" descr="01300000297717122728387202830"/>
          <p:cNvPicPr>
            <a:picLocks noChangeAspect="1"/>
          </p:cNvPicPr>
          <p:nvPr/>
        </p:nvPicPr>
        <p:blipFill>
          <a:blip r:embed="rId2" cstate="print"/>
          <a:stretch>
            <a:fillRect/>
          </a:stretch>
        </p:blipFill>
        <p:spPr>
          <a:xfrm>
            <a:off x="5435600" y="2781300"/>
            <a:ext cx="3057525" cy="3114675"/>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7332"/>
                                        </p:tgtEl>
                                        <p:attrNameLst>
                                          <p:attrName>style.visibility</p:attrName>
                                        </p:attrNameLst>
                                      </p:cBhvr>
                                      <p:to>
                                        <p:strVal val="visible"/>
                                      </p:to>
                                    </p:set>
                                    <p:animEffect transition="in" filter="box(in)">
                                      <p:cBhvr>
                                        <p:cTn id="7" dur="500"/>
                                        <p:tgtEl>
                                          <p:spTgt spid="227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2"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3" name="Text Box 5"/>
          <p:cNvSpPr txBox="1"/>
          <p:nvPr/>
        </p:nvSpPr>
        <p:spPr>
          <a:xfrm>
            <a:off x="899592" y="548680"/>
            <a:ext cx="6319857" cy="1126462"/>
          </a:xfrm>
          <a:prstGeom prst="rect">
            <a:avLst/>
          </a:prstGeom>
          <a:solidFill>
            <a:schemeClr val="bg1"/>
          </a:solidFill>
          <a:ln w="9525" cap="flat" cmpd="sng">
            <a:solidFill>
              <a:srgbClr val="FF0000"/>
            </a:solidFill>
            <a:prstDash val="solid"/>
            <a:miter/>
            <a:headEnd type="none" w="med" len="med"/>
            <a:tailEnd type="none" w="med" len="med"/>
          </a:ln>
        </p:spPr>
        <p:txBody>
          <a:bodyPr wrap="square" anchor="t">
            <a:spAutoFit/>
          </a:bodyPr>
          <a:lstStyle/>
          <a:p>
            <a:pPr lvl="0">
              <a:lnSpc>
                <a:spcPct val="120000"/>
              </a:lnSpc>
              <a:spcBef>
                <a:spcPct val="20000"/>
              </a:spcBef>
            </a:pPr>
            <a:r>
              <a:rPr lang="en-US" altLang="zh-CN" sz="2800" b="1" dirty="0">
                <a:solidFill>
                  <a:srgbClr val="0000FF"/>
                </a:solidFill>
                <a:latin typeface="楷体_GB2312" pitchFamily="49" charset="-122"/>
                <a:ea typeface="楷体_GB2312" pitchFamily="49" charset="-122"/>
              </a:rPr>
              <a:t>    </a:t>
            </a:r>
            <a:r>
              <a:rPr lang="zh-CN" altLang="en-US" sz="2800" b="1" dirty="0">
                <a:solidFill>
                  <a:srgbClr val="0000FF"/>
                </a:solidFill>
                <a:latin typeface="Times New Roman" panose="02020603050405020304" pitchFamily="18" charset="0"/>
                <a:ea typeface="黑体" panose="02010609060101010101" pitchFamily="2" charset="-122"/>
                <a:cs typeface="+mn-ea"/>
              </a:rPr>
              <a:t>1919年爆发的五四运动，标志着旧民主主义革命向新民主主义革命的</a:t>
            </a:r>
            <a:r>
              <a:rPr lang="zh-CN" altLang="en-US" sz="2800" b="1" dirty="0" smtClean="0">
                <a:solidFill>
                  <a:srgbClr val="0000FF"/>
                </a:solidFill>
                <a:latin typeface="Times New Roman" panose="02020603050405020304" pitchFamily="18" charset="0"/>
                <a:ea typeface="黑体" panose="02010609060101010101" pitchFamily="2" charset="-122"/>
                <a:cs typeface="+mn-ea"/>
              </a:rPr>
              <a:t>转变</a:t>
            </a:r>
            <a:r>
              <a:rPr lang="zh-CN" altLang="en-US" sz="2800" b="1" dirty="0" smtClean="0">
                <a:solidFill>
                  <a:srgbClr val="0000FF"/>
                </a:solidFill>
                <a:latin typeface="Times New Roman" panose="02020603050405020304" pitchFamily="18" charset="0"/>
                <a:cs typeface="+mn-ea"/>
              </a:rPr>
              <a:t>  </a:t>
            </a:r>
            <a:endParaRPr lang="zh-CN" altLang="en-US" sz="2800" b="1" dirty="0">
              <a:solidFill>
                <a:srgbClr val="0000FF"/>
              </a:solidFill>
              <a:latin typeface="Times New Roman" panose="02020603050405020304" pitchFamily="18" charset="0"/>
              <a:cs typeface="+mn-ea"/>
            </a:endParaRPr>
          </a:p>
        </p:txBody>
      </p:sp>
      <p:pic>
        <p:nvPicPr>
          <p:cNvPr id="3" name="图片 2" descr="85af0aa3td81ccf1f2626&amp;690"/>
          <p:cNvPicPr>
            <a:picLocks noChangeAspect="1"/>
          </p:cNvPicPr>
          <p:nvPr/>
        </p:nvPicPr>
        <p:blipFill>
          <a:blip r:embed="rId2" cstate="print"/>
          <a:stretch>
            <a:fillRect/>
          </a:stretch>
        </p:blipFill>
        <p:spPr>
          <a:xfrm>
            <a:off x="971550" y="3805555"/>
            <a:ext cx="6572885" cy="2600960"/>
          </a:xfrm>
          <a:prstGeom prst="rect">
            <a:avLst/>
          </a:prstGeom>
        </p:spPr>
      </p:pic>
      <p:sp>
        <p:nvSpPr>
          <p:cNvPr id="4" name="矩形 3"/>
          <p:cNvSpPr/>
          <p:nvPr/>
        </p:nvSpPr>
        <p:spPr>
          <a:xfrm>
            <a:off x="1331640" y="2492896"/>
            <a:ext cx="6647974" cy="523220"/>
          </a:xfrm>
          <a:prstGeom prst="rect">
            <a:avLst/>
          </a:prstGeom>
          <a:solidFill>
            <a:schemeClr val="bg2"/>
          </a:solidFill>
          <a:ln>
            <a:solidFill>
              <a:schemeClr val="accent1"/>
            </a:solidFill>
          </a:ln>
        </p:spPr>
        <p:txBody>
          <a:bodyPr wrap="none">
            <a:spAutoFit/>
          </a:bodyPr>
          <a:lstStyle/>
          <a:p>
            <a:r>
              <a:rPr lang="zh-CN" altLang="en-US" sz="2800" b="1" dirty="0" smtClean="0">
                <a:solidFill>
                  <a:srgbClr val="FF0000"/>
                </a:solidFill>
                <a:latin typeface="Times New Roman" panose="02020603050405020304" pitchFamily="18" charset="0"/>
                <a:cs typeface="+mn-ea"/>
              </a:rPr>
              <a:t>五四运动是中国新民主主义革命的开端。</a:t>
            </a:r>
            <a:endParaRPr lang="zh-CN" altLang="en-US" sz="2800" dirty="0">
              <a:solidFill>
                <a:srgbClr val="FF000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 fill="hold">
                                          <p:stCondLst>
                                            <p:cond delay="0"/>
                                          </p:stCondLst>
                                        </p:cTn>
                                        <p:tgtEl>
                                          <p:spTgt spid="227333"/>
                                        </p:tgtEl>
                                        <p:attrNameLst>
                                          <p:attrName>style.visibility</p:attrName>
                                        </p:attrNameLst>
                                      </p:cBhvr>
                                      <p:to>
                                        <p:strVal val="visible"/>
                                      </p:to>
                                    </p:set>
                                    <p:animEffect transition="in" filter="wedge">
                                      <p:cBhvr>
                                        <p:cTn id="7" dur="500"/>
                                        <p:tgtEl>
                                          <p:spTgt spid="227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3"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p:cNvSpPr>
          <p:nvPr>
            <p:ph type="title"/>
          </p:nvPr>
        </p:nvSpPr>
        <p:spPr>
          <a:xfrm>
            <a:off x="3707904" y="1052736"/>
            <a:ext cx="4536504" cy="634082"/>
          </a:xfrm>
          <a:solidFill>
            <a:srgbClr val="FFFFFF"/>
          </a:solidFill>
          <a:ln>
            <a:solidFill>
              <a:srgbClr val="000000"/>
            </a:solidFill>
            <a:miter/>
          </a:ln>
        </p:spPr>
        <p:txBody>
          <a:bodyPr anchor="t">
            <a:normAutofit fontScale="90000"/>
          </a:bodyPr>
          <a:lstStyle/>
          <a:p>
            <a:pPr eaLnBrk="1" hangingPunct="1"/>
            <a:r>
              <a:rPr lang="zh-CN" altLang="en-US" sz="3200" b="1" dirty="0">
                <a:solidFill>
                  <a:srgbClr val="0000FF"/>
                </a:solidFill>
                <a:latin typeface="Times New Roman" panose="02020603050405020304" pitchFamily="18" charset="0"/>
                <a:ea typeface="黑体" panose="02010609060101010101" pitchFamily="2" charset="-122"/>
              </a:rPr>
              <a:t>基本观点、经典论述 </a:t>
            </a:r>
            <a:r>
              <a:rPr lang="en-US" altLang="zh-CN" sz="3200" b="1">
                <a:solidFill>
                  <a:srgbClr val="0000FF"/>
                </a:solidFill>
                <a:latin typeface="Times New Roman" panose="02020603050405020304" pitchFamily="18" charset="0"/>
                <a:ea typeface="黑体" panose="02010609060101010101" pitchFamily="2" charset="-122"/>
              </a:rPr>
              <a:t>:</a:t>
            </a:r>
            <a:br>
              <a:rPr lang="en-US" altLang="zh-CN" sz="3200" b="1">
                <a:solidFill>
                  <a:srgbClr val="0000FF"/>
                </a:solidFill>
                <a:latin typeface="Times New Roman" panose="02020603050405020304" pitchFamily="18" charset="0"/>
                <a:ea typeface="黑体" panose="02010609060101010101" pitchFamily="2" charset="-122"/>
              </a:rPr>
            </a:br>
            <a:endParaRPr lang="en-US" altLang="zh-CN" sz="3200" b="1">
              <a:solidFill>
                <a:srgbClr val="0000FF"/>
              </a:solidFill>
              <a:latin typeface="Times New Roman" panose="02020603050405020304" pitchFamily="18" charset="0"/>
              <a:ea typeface="黑体" panose="02010609060101010101" pitchFamily="2" charset="-122"/>
            </a:endParaRPr>
          </a:p>
        </p:txBody>
      </p:sp>
      <p:pic>
        <p:nvPicPr>
          <p:cNvPr id="17410" name="Picture 3" descr="200212270914_252115"/>
          <p:cNvPicPr>
            <a:picLocks noGrp="1" noChangeAspect="1"/>
          </p:cNvPicPr>
          <p:nvPr>
            <p:ph sz="half" idx="1"/>
          </p:nvPr>
        </p:nvPicPr>
        <p:blipFill>
          <a:blip r:embed="rId2" cstate="print"/>
          <a:stretch>
            <a:fillRect/>
          </a:stretch>
        </p:blipFill>
        <p:spPr>
          <a:xfrm>
            <a:off x="468313" y="1844675"/>
            <a:ext cx="3152775" cy="4095750"/>
          </a:xfrm>
          <a:noFill/>
          <a:ln>
            <a:noFill/>
          </a:ln>
        </p:spPr>
      </p:pic>
      <p:sp>
        <p:nvSpPr>
          <p:cNvPr id="17411" name="Rectangle 4"/>
          <p:cNvSpPr>
            <a:spLocks noGrp="1"/>
          </p:cNvSpPr>
          <p:nvPr>
            <p:ph sz="half" idx="2"/>
          </p:nvPr>
        </p:nvSpPr>
        <p:spPr>
          <a:xfrm>
            <a:off x="3995738" y="1844675"/>
            <a:ext cx="4248150" cy="4251325"/>
          </a:xfrm>
          <a:solidFill>
            <a:srgbClr val="FFFFFF"/>
          </a:solidFill>
          <a:ln>
            <a:solidFill>
              <a:srgbClr val="000000"/>
            </a:solidFill>
            <a:miter/>
          </a:ln>
        </p:spPr>
        <p:txBody>
          <a:bodyPr anchor="t"/>
          <a:lstStyle/>
          <a:p>
            <a:pPr eaLnBrk="1" hangingPunct="1">
              <a:lnSpc>
                <a:spcPct val="90000"/>
              </a:lnSpc>
              <a:buNone/>
            </a:pPr>
            <a:r>
              <a:rPr lang="en-US" altLang="zh-CN" sz="2400" kern="1200" dirty="0">
                <a:latin typeface="+mn-lt"/>
                <a:ea typeface="+mn-ea"/>
                <a:cs typeface="+mn-cs"/>
              </a:rPr>
              <a:t>    </a:t>
            </a:r>
            <a:r>
              <a:rPr lang="zh-CN" altLang="en-US" b="1" kern="1200" dirty="0">
                <a:solidFill>
                  <a:srgbClr val="FF0000"/>
                </a:solidFill>
                <a:latin typeface="隶书" pitchFamily="49" charset="-122"/>
                <a:ea typeface="隶书" pitchFamily="49" charset="-122"/>
              </a:rPr>
              <a:t>帝国主义和中华民族的矛盾，封建主义和人民大众的矛盾，这些就是近代中国社会的主要矛盾。为解决这两大矛盾，就要进反对帝国主义、封建主义的革命。</a:t>
            </a:r>
            <a:r>
              <a:rPr lang="zh-CN" altLang="en-US" b="1" kern="1200" dirty="0">
                <a:ln>
                  <a:solidFill>
                    <a:srgbClr val="0000FF"/>
                  </a:solidFill>
                </a:ln>
                <a:solidFill>
                  <a:srgbClr val="FF0000"/>
                </a:solidFill>
                <a:latin typeface="隶书" pitchFamily="49" charset="-122"/>
                <a:ea typeface="隶书" pitchFamily="49" charset="-122"/>
              </a:rPr>
              <a:t>这个革命的性质就是资产阶级的民主主义革命</a:t>
            </a:r>
          </a:p>
          <a:p>
            <a:pPr eaLnBrk="1" hangingPunct="1">
              <a:lnSpc>
                <a:spcPct val="90000"/>
              </a:lnSpc>
              <a:buNone/>
            </a:pPr>
            <a:r>
              <a:rPr lang="zh-CN" altLang="en-US" kern="1200" dirty="0">
                <a:latin typeface="+mn-lt"/>
                <a:ea typeface="+mn-ea"/>
                <a:cs typeface="+mn-cs"/>
              </a:rPr>
              <a:t>                </a:t>
            </a:r>
            <a:r>
              <a:rPr lang="en-US" altLang="zh-CN" sz="2400" b="1" kern="1200" dirty="0">
                <a:solidFill>
                  <a:srgbClr val="0000FF"/>
                </a:solidFill>
                <a:latin typeface="+mn-lt"/>
                <a:ea typeface="黑体" panose="02010609060101010101" pitchFamily="2" charset="-122"/>
                <a:cs typeface="+mn-cs"/>
              </a:rPr>
              <a:t>——</a:t>
            </a:r>
            <a:r>
              <a:rPr lang="zh-CN" altLang="en-US" sz="2400" b="1" kern="1200" dirty="0">
                <a:solidFill>
                  <a:srgbClr val="0000FF"/>
                </a:solidFill>
                <a:latin typeface="+mn-lt"/>
                <a:ea typeface="黑体" panose="02010609060101010101" pitchFamily="2" charset="-122"/>
                <a:cs typeface="+mn-cs"/>
              </a:rPr>
              <a:t>毛泽东</a:t>
            </a:r>
            <a:r>
              <a:rPr lang="zh-CN" altLang="en-US" sz="2400" kern="1200" dirty="0">
                <a:latin typeface="+mn-lt"/>
                <a:ea typeface="+mn-ea"/>
                <a:cs typeface="+mn-cs"/>
              </a:rPr>
              <a:t> </a:t>
            </a: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矩形 6"/>
          <p:cNvSpPr/>
          <p:nvPr/>
        </p:nvSpPr>
        <p:spPr>
          <a:xfrm>
            <a:off x="611560" y="1556792"/>
            <a:ext cx="7993063" cy="1938992"/>
          </a:xfrm>
          <a:prstGeom prst="rect">
            <a:avLst/>
          </a:prstGeom>
          <a:solidFill>
            <a:schemeClr val="bg1"/>
          </a:solidFill>
          <a:ln w="9525" cap="flat" cmpd="sng">
            <a:solidFill>
              <a:srgbClr val="FF0000"/>
            </a:solidFill>
            <a:prstDash val="solid"/>
            <a:miter/>
            <a:headEnd type="none" w="med" len="med"/>
            <a:tailEnd type="none" w="med" len="med"/>
          </a:ln>
        </p:spPr>
        <p:txBody>
          <a:bodyPr anchor="t">
            <a:spAutoFit/>
          </a:bodyPr>
          <a:lstStyle/>
          <a:p>
            <a:pPr lvl="0"/>
            <a:r>
              <a:rPr lang="zh-CN" altLang="en-US" sz="2400" b="1" dirty="0" smtClean="0">
                <a:solidFill>
                  <a:srgbClr val="FF0000"/>
                </a:solidFill>
                <a:latin typeface="黑体" panose="02010609060101010101" pitchFamily="2" charset="-122"/>
                <a:ea typeface="黑体" panose="02010609060101010101" pitchFamily="2" charset="-122"/>
              </a:rPr>
              <a:t>领导力量不同</a:t>
            </a:r>
            <a:r>
              <a:rPr lang="en-US" altLang="zh-CN" sz="2400" b="1" dirty="0" smtClean="0">
                <a:solidFill>
                  <a:srgbClr val="0000FF"/>
                </a:solidFill>
                <a:latin typeface="黑体" panose="02010609060101010101" pitchFamily="2" charset="-122"/>
                <a:ea typeface="黑体" panose="02010609060101010101" pitchFamily="2" charset="-122"/>
              </a:rPr>
              <a:t>——</a:t>
            </a:r>
            <a:r>
              <a:rPr lang="zh-CN" altLang="en-US" sz="2400" b="1" dirty="0" smtClean="0">
                <a:solidFill>
                  <a:srgbClr val="0000FF"/>
                </a:solidFill>
                <a:latin typeface="黑体" panose="02010609060101010101" pitchFamily="2" charset="-122"/>
                <a:ea typeface="黑体" panose="02010609060101010101" pitchFamily="2" charset="-122"/>
              </a:rPr>
              <a:t>资产阶级</a:t>
            </a:r>
            <a:r>
              <a:rPr lang="en-US" altLang="zh-CN" sz="2400" b="1" dirty="0" smtClean="0">
                <a:solidFill>
                  <a:srgbClr val="0000FF"/>
                </a:solidFill>
                <a:latin typeface="黑体" panose="02010609060101010101" pitchFamily="2" charset="-122"/>
                <a:ea typeface="黑体" panose="02010609060101010101" pitchFamily="2" charset="-122"/>
              </a:rPr>
              <a:t>         </a:t>
            </a:r>
            <a:r>
              <a:rPr lang="zh-CN" altLang="en-US" sz="2400" b="1" dirty="0" smtClean="0">
                <a:solidFill>
                  <a:srgbClr val="0000FF"/>
                </a:solidFill>
                <a:latin typeface="黑体" panose="02010609060101010101" pitchFamily="2" charset="-122"/>
                <a:ea typeface="黑体" panose="02010609060101010101" pitchFamily="2" charset="-122"/>
              </a:rPr>
              <a:t>无产阶级</a:t>
            </a:r>
            <a:endParaRPr lang="zh-CN" altLang="en-US" sz="2400" b="1" dirty="0">
              <a:solidFill>
                <a:srgbClr val="0000FF"/>
              </a:solidFill>
              <a:latin typeface="黑体" panose="02010609060101010101" pitchFamily="2" charset="-122"/>
              <a:ea typeface="黑体" panose="02010609060101010101" pitchFamily="2" charset="-122"/>
            </a:endParaRPr>
          </a:p>
          <a:p>
            <a:pPr lvl="0"/>
            <a:r>
              <a:rPr lang="zh-CN" altLang="en-US" sz="2400" b="1" dirty="0" smtClean="0">
                <a:solidFill>
                  <a:srgbClr val="FF0000"/>
                </a:solidFill>
                <a:latin typeface="黑体" panose="02010609060101010101" pitchFamily="2" charset="-122"/>
                <a:ea typeface="黑体" panose="02010609060101010101" pitchFamily="2" charset="-122"/>
                <a:cs typeface="+mn-ea"/>
              </a:rPr>
              <a:t>指导思想不同</a:t>
            </a:r>
            <a:r>
              <a:rPr lang="en-US" altLang="zh-CN" sz="2400" b="1" dirty="0" smtClean="0">
                <a:solidFill>
                  <a:srgbClr val="0000FF"/>
                </a:solidFill>
                <a:latin typeface="黑体" panose="02010609060101010101" pitchFamily="2" charset="-122"/>
                <a:ea typeface="黑体" panose="02010609060101010101" pitchFamily="2" charset="-122"/>
              </a:rPr>
              <a:t>——</a:t>
            </a:r>
            <a:r>
              <a:rPr lang="zh-CN" altLang="en-US" sz="2400" b="1" dirty="0" smtClean="0">
                <a:solidFill>
                  <a:srgbClr val="0000FF"/>
                </a:solidFill>
                <a:latin typeface="黑体" panose="02010609060101010101" pitchFamily="2" charset="-122"/>
                <a:ea typeface="黑体" panose="02010609060101010101" pitchFamily="2" charset="-122"/>
              </a:rPr>
              <a:t>资产阶级民主主义</a:t>
            </a:r>
            <a:r>
              <a:rPr lang="en-US" altLang="zh-CN" sz="2400" b="1" dirty="0" smtClean="0">
                <a:solidFill>
                  <a:srgbClr val="0000FF"/>
                </a:solidFill>
                <a:latin typeface="黑体" panose="02010609060101010101" pitchFamily="2" charset="-122"/>
                <a:ea typeface="黑体" panose="02010609060101010101" pitchFamily="2" charset="-122"/>
              </a:rPr>
              <a:t>      </a:t>
            </a:r>
            <a:r>
              <a:rPr lang="zh-CN" altLang="en-US" sz="2400" b="1" dirty="0" smtClean="0">
                <a:solidFill>
                  <a:srgbClr val="0000FF"/>
                </a:solidFill>
                <a:latin typeface="黑体" panose="02010609060101010101" pitchFamily="2" charset="-122"/>
                <a:ea typeface="黑体" panose="02010609060101010101" pitchFamily="2" charset="-122"/>
              </a:rPr>
              <a:t>马克思列宁主义</a:t>
            </a:r>
            <a:endParaRPr lang="zh-CN" altLang="en-US" sz="2400" b="1" dirty="0">
              <a:solidFill>
                <a:srgbClr val="0000FF"/>
              </a:solidFill>
              <a:latin typeface="黑体" panose="02010609060101010101" pitchFamily="2" charset="-122"/>
              <a:ea typeface="黑体" panose="02010609060101010101" pitchFamily="2" charset="-122"/>
            </a:endParaRPr>
          </a:p>
          <a:p>
            <a:pPr lvl="0"/>
            <a:r>
              <a:rPr lang="zh-CN" altLang="en-US" sz="2400" b="1" dirty="0" smtClean="0">
                <a:solidFill>
                  <a:srgbClr val="FF0000"/>
                </a:solidFill>
                <a:latin typeface="黑体" panose="02010609060101010101" pitchFamily="2" charset="-122"/>
                <a:ea typeface="黑体" panose="02010609060101010101" pitchFamily="2" charset="-122"/>
                <a:cs typeface="+mn-ea"/>
              </a:rPr>
              <a:t>革命前途不同</a:t>
            </a:r>
            <a:r>
              <a:rPr lang="en-US" altLang="zh-CN" sz="2400" b="1" dirty="0" smtClean="0">
                <a:solidFill>
                  <a:srgbClr val="0000FF"/>
                </a:solidFill>
                <a:latin typeface="黑体" panose="02010609060101010101" pitchFamily="2" charset="-122"/>
                <a:ea typeface="黑体" panose="02010609060101010101" pitchFamily="2" charset="-122"/>
              </a:rPr>
              <a:t>——</a:t>
            </a:r>
            <a:r>
              <a:rPr lang="zh-CN" altLang="en-US" sz="2400" b="1" dirty="0" smtClean="0">
                <a:solidFill>
                  <a:srgbClr val="0000FF"/>
                </a:solidFill>
                <a:latin typeface="黑体" panose="02010609060101010101" pitchFamily="2" charset="-122"/>
                <a:ea typeface="黑体" panose="02010609060101010101" pitchFamily="2" charset="-122"/>
              </a:rPr>
              <a:t>资产阶级共和国       各</a:t>
            </a:r>
            <a:r>
              <a:rPr lang="zh-CN" altLang="en-US" sz="2400" b="1" dirty="0">
                <a:solidFill>
                  <a:srgbClr val="0000FF"/>
                </a:solidFill>
                <a:latin typeface="黑体" panose="02010609060101010101" pitchFamily="2" charset="-122"/>
                <a:ea typeface="黑体" panose="02010609060101010101" pitchFamily="2" charset="-122"/>
              </a:rPr>
              <a:t>革命阶级联合专政的共和国，为进入社会主义做准备</a:t>
            </a:r>
            <a:r>
              <a:rPr lang="zh-CN" altLang="en-US" sz="2400" b="1" dirty="0" smtClean="0">
                <a:solidFill>
                  <a:srgbClr val="0000FF"/>
                </a:solidFill>
                <a:latin typeface="黑体" panose="02010609060101010101" pitchFamily="2" charset="-122"/>
                <a:ea typeface="黑体" panose="02010609060101010101" pitchFamily="2" charset="-122"/>
              </a:rPr>
              <a:t>。</a:t>
            </a:r>
            <a:r>
              <a:rPr lang="zh-CN" altLang="en-US" sz="2400" b="1" dirty="0" smtClean="0">
                <a:solidFill>
                  <a:srgbClr val="0000FF"/>
                </a:solidFill>
                <a:latin typeface="黑体" panose="02010609060101010101" pitchFamily="2" charset="-122"/>
                <a:sym typeface="+mn-ea"/>
              </a:rPr>
              <a:t>    </a:t>
            </a:r>
            <a:r>
              <a:rPr lang="zh-CN" altLang="en-US" sz="2400" b="1" dirty="0" smtClean="0">
                <a:solidFill>
                  <a:srgbClr val="0000FF"/>
                </a:solidFill>
                <a:latin typeface="黑体" panose="02010609060101010101" pitchFamily="2" charset="-122"/>
                <a:ea typeface="黑体" panose="02010609060101010101" pitchFamily="2" charset="-122"/>
              </a:rPr>
              <a:t>    </a:t>
            </a:r>
            <a:endParaRPr lang="en-US" altLang="zh-CN" sz="2400" b="1" dirty="0">
              <a:solidFill>
                <a:srgbClr val="0000FF"/>
              </a:solidFill>
              <a:latin typeface="Times New Roman" panose="02020603050405020304" pitchFamily="18" charset="0"/>
              <a:ea typeface="楷体_GB2312" pitchFamily="49" charset="-122"/>
            </a:endParaRPr>
          </a:p>
        </p:txBody>
      </p:sp>
      <p:sp>
        <p:nvSpPr>
          <p:cNvPr id="3" name="矩形 2"/>
          <p:cNvSpPr/>
          <p:nvPr/>
        </p:nvSpPr>
        <p:spPr>
          <a:xfrm>
            <a:off x="683568" y="764704"/>
            <a:ext cx="6857968" cy="523220"/>
          </a:xfrm>
          <a:prstGeom prst="rect">
            <a:avLst/>
          </a:prstGeom>
          <a:solidFill>
            <a:schemeClr val="bg2"/>
          </a:solidFill>
          <a:ln>
            <a:solidFill>
              <a:schemeClr val="accent1"/>
            </a:solidFill>
          </a:ln>
        </p:spPr>
        <p:txBody>
          <a:bodyPr wrap="none">
            <a:spAutoFit/>
          </a:bodyPr>
          <a:lstStyle/>
          <a:p>
            <a:r>
              <a:rPr lang="en-US" altLang="zh-CN" sz="2800" b="1" dirty="0" smtClean="0">
                <a:solidFill>
                  <a:srgbClr val="0000FF"/>
                </a:solidFill>
                <a:latin typeface="黑体" panose="02010609060101010101" pitchFamily="2" charset="-122"/>
                <a:ea typeface="黑体" panose="02010609060101010101" pitchFamily="2" charset="-122"/>
              </a:rPr>
              <a:t> </a:t>
            </a:r>
            <a:r>
              <a:rPr lang="zh-CN" altLang="en-US" sz="2800" b="1" dirty="0" smtClean="0">
                <a:solidFill>
                  <a:srgbClr val="0000FF"/>
                </a:solidFill>
                <a:latin typeface="黑体" panose="02010609060101010101" pitchFamily="2" charset="-122"/>
                <a:ea typeface="黑体" panose="02010609060101010101" pitchFamily="2" charset="-122"/>
              </a:rPr>
              <a:t>新民主主义革命与旧民主主义革命的区别</a:t>
            </a:r>
            <a:endParaRPr lang="zh-CN" altLang="en-US" sz="2800" dirty="0"/>
          </a:p>
        </p:txBody>
      </p:sp>
      <p:sp>
        <p:nvSpPr>
          <p:cNvPr id="4" name="右箭头 3"/>
          <p:cNvSpPr/>
          <p:nvPr/>
        </p:nvSpPr>
        <p:spPr>
          <a:xfrm>
            <a:off x="4499992" y="1772816"/>
            <a:ext cx="1296144"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右箭头 4"/>
          <p:cNvSpPr/>
          <p:nvPr/>
        </p:nvSpPr>
        <p:spPr>
          <a:xfrm>
            <a:off x="5652120" y="2060848"/>
            <a:ext cx="864096"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右箭头 5"/>
          <p:cNvSpPr/>
          <p:nvPr/>
        </p:nvSpPr>
        <p:spPr>
          <a:xfrm>
            <a:off x="5364088" y="2780928"/>
            <a:ext cx="864096"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572000" y="3717032"/>
            <a:ext cx="2736304" cy="369332"/>
          </a:xfrm>
          <a:prstGeom prst="rect">
            <a:avLst/>
          </a:prstGeom>
          <a:solidFill>
            <a:schemeClr val="bg2"/>
          </a:solidFill>
          <a:ln>
            <a:solidFill>
              <a:schemeClr val="accent1"/>
            </a:solidFill>
          </a:ln>
        </p:spPr>
        <p:txBody>
          <a:bodyPr wrap="square">
            <a:spAutoFit/>
          </a:bodyPr>
          <a:lstStyle/>
          <a:p>
            <a:pPr lvl="0"/>
            <a:r>
              <a:rPr lang="zh-CN" altLang="en-US" b="1" dirty="0" smtClean="0">
                <a:solidFill>
                  <a:srgbClr val="0000FF"/>
                </a:solidFill>
                <a:latin typeface="黑体" panose="02010609060101010101" pitchFamily="2" charset="-122"/>
                <a:sym typeface="+mn-ea"/>
              </a:rPr>
              <a:t>第一步是</a:t>
            </a:r>
            <a:r>
              <a:rPr lang="zh-CN" altLang="en-US" b="1" dirty="0" smtClean="0">
                <a:solidFill>
                  <a:srgbClr val="FF0000"/>
                </a:solidFill>
                <a:latin typeface="黑体" panose="02010609060101010101" pitchFamily="2" charset="-122"/>
                <a:sym typeface="+mn-ea"/>
              </a:rPr>
              <a:t>民主主义革命</a:t>
            </a:r>
            <a:endParaRPr lang="en-US" altLang="zh-CN" b="1" dirty="0" smtClean="0">
              <a:solidFill>
                <a:srgbClr val="0000FF"/>
              </a:solidFill>
              <a:latin typeface="黑体" panose="02010609060101010101" pitchFamily="2" charset="-122"/>
              <a:ea typeface="黑体" panose="02010609060101010101" pitchFamily="2" charset="-122"/>
            </a:endParaRPr>
          </a:p>
        </p:txBody>
      </p:sp>
      <p:sp>
        <p:nvSpPr>
          <p:cNvPr id="8" name="矩形 7"/>
          <p:cNvSpPr/>
          <p:nvPr/>
        </p:nvSpPr>
        <p:spPr>
          <a:xfrm>
            <a:off x="971600" y="3933056"/>
            <a:ext cx="3416320" cy="523220"/>
          </a:xfrm>
          <a:prstGeom prst="rect">
            <a:avLst/>
          </a:prstGeom>
          <a:ln>
            <a:solidFill>
              <a:schemeClr val="accent1"/>
            </a:solidFill>
          </a:ln>
        </p:spPr>
        <p:txBody>
          <a:bodyPr wrap="none">
            <a:spAutoFit/>
          </a:bodyPr>
          <a:lstStyle/>
          <a:p>
            <a:pPr lvl="0"/>
            <a:r>
              <a:rPr lang="zh-CN" altLang="en-US" sz="2800" b="1" dirty="0" smtClean="0">
                <a:ln>
                  <a:solidFill>
                    <a:srgbClr val="0000FF"/>
                  </a:solidFill>
                </a:ln>
                <a:solidFill>
                  <a:srgbClr val="FF0000"/>
                </a:solidFill>
                <a:latin typeface="华文琥珀" pitchFamily="2" charset="-122"/>
                <a:ea typeface="华文琥珀" pitchFamily="2" charset="-122"/>
                <a:sym typeface="+mn-ea"/>
              </a:rPr>
              <a:t>中国革命分两步走</a:t>
            </a:r>
            <a:r>
              <a:rPr lang="zh-CN" altLang="en-US" sz="2800" b="1" dirty="0" smtClean="0">
                <a:solidFill>
                  <a:srgbClr val="FF0000"/>
                </a:solidFill>
                <a:latin typeface="华文琥珀" pitchFamily="2" charset="-122"/>
                <a:ea typeface="华文琥珀" pitchFamily="2" charset="-122"/>
                <a:sym typeface="+mn-ea"/>
              </a:rPr>
              <a:t>：</a:t>
            </a:r>
          </a:p>
        </p:txBody>
      </p:sp>
      <p:sp>
        <p:nvSpPr>
          <p:cNvPr id="9" name="矩形 8"/>
          <p:cNvSpPr/>
          <p:nvPr/>
        </p:nvSpPr>
        <p:spPr>
          <a:xfrm>
            <a:off x="1187624" y="5013176"/>
            <a:ext cx="4572000" cy="646331"/>
          </a:xfrm>
          <a:prstGeom prst="rect">
            <a:avLst/>
          </a:prstGeom>
        </p:spPr>
        <p:txBody>
          <a:bodyPr>
            <a:spAutoFit/>
          </a:bodyPr>
          <a:lstStyle/>
          <a:p>
            <a:pPr lvl="0"/>
            <a:r>
              <a:rPr lang="zh-CN" altLang="en-US" b="1" dirty="0" smtClean="0">
                <a:solidFill>
                  <a:srgbClr val="0000FF"/>
                </a:solidFill>
                <a:latin typeface="黑体" panose="02010609060101010101" pitchFamily="2" charset="-122"/>
                <a:ea typeface="黑体" panose="02010609060101010101" pitchFamily="2" charset="-122"/>
              </a:rPr>
              <a:t> 新民主主义革命与社会主义革命的不同点：</a:t>
            </a:r>
            <a:endParaRPr lang="en-US" altLang="zh-CN" b="1" dirty="0" smtClean="0">
              <a:solidFill>
                <a:srgbClr val="0000FF"/>
              </a:solidFill>
              <a:latin typeface="黑体" panose="02010609060101010101" pitchFamily="2" charset="-122"/>
              <a:ea typeface="黑体" panose="02010609060101010101" pitchFamily="2" charset="-122"/>
            </a:endParaRPr>
          </a:p>
          <a:p>
            <a:pPr lvl="0"/>
            <a:r>
              <a:rPr lang="zh-CN" altLang="en-US" b="1" dirty="0" smtClean="0">
                <a:solidFill>
                  <a:srgbClr val="0000FF"/>
                </a:solidFill>
                <a:latin typeface="黑体" panose="02010609060101010101" pitchFamily="2" charset="-122"/>
                <a:ea typeface="黑体" panose="02010609060101010101" pitchFamily="2" charset="-122"/>
              </a:rPr>
              <a:t>对象不同、任务不同（从略  后面讲）</a:t>
            </a:r>
            <a:endParaRPr lang="zh-CN" altLang="en-US" dirty="0"/>
          </a:p>
        </p:txBody>
      </p:sp>
      <p:sp>
        <p:nvSpPr>
          <p:cNvPr id="10" name="矩形 9"/>
          <p:cNvSpPr/>
          <p:nvPr/>
        </p:nvSpPr>
        <p:spPr>
          <a:xfrm>
            <a:off x="4644008" y="4365104"/>
            <a:ext cx="2664296" cy="369332"/>
          </a:xfrm>
          <a:prstGeom prst="rect">
            <a:avLst/>
          </a:prstGeom>
          <a:solidFill>
            <a:schemeClr val="bg2"/>
          </a:solidFill>
          <a:ln>
            <a:solidFill>
              <a:schemeClr val="accent1"/>
            </a:solidFill>
          </a:ln>
        </p:spPr>
        <p:txBody>
          <a:bodyPr wrap="square">
            <a:spAutoFit/>
          </a:bodyPr>
          <a:lstStyle/>
          <a:p>
            <a:pPr lvl="0"/>
            <a:r>
              <a:rPr lang="zh-CN" altLang="en-US" b="1" dirty="0" smtClean="0">
                <a:solidFill>
                  <a:srgbClr val="0000FF"/>
                </a:solidFill>
                <a:latin typeface="黑体" panose="02010609060101010101" pitchFamily="2" charset="-122"/>
                <a:sym typeface="+mn-ea"/>
              </a:rPr>
              <a:t>第二步是</a:t>
            </a:r>
            <a:r>
              <a:rPr lang="zh-CN" altLang="en-US" b="1" dirty="0" smtClean="0">
                <a:solidFill>
                  <a:srgbClr val="FF0000"/>
                </a:solidFill>
                <a:latin typeface="黑体" panose="02010609060101010101" pitchFamily="2" charset="-122"/>
                <a:sym typeface="+mn-ea"/>
              </a:rPr>
              <a:t>社会主义革命</a:t>
            </a:r>
            <a:endParaRPr lang="en-US" altLang="zh-CN" b="1" dirty="0" smtClean="0">
              <a:solidFill>
                <a:srgbClr val="0000FF"/>
              </a:solidFill>
              <a:latin typeface="黑体" panose="02010609060101010101" pitchFamily="2" charset="-122"/>
              <a:ea typeface="黑体" panose="02010609060101010101" pitchFamily="2" charset="-122"/>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3" descr="200212240819_250643"/>
          <p:cNvPicPr>
            <a:picLocks noGrp="1" noChangeAspect="1"/>
          </p:cNvPicPr>
          <p:nvPr>
            <p:ph idx="4294967295"/>
          </p:nvPr>
        </p:nvPicPr>
        <p:blipFill>
          <a:blip r:embed="rId2" cstate="print"/>
          <a:stretch>
            <a:fillRect/>
          </a:stretch>
        </p:blipFill>
        <p:spPr>
          <a:xfrm>
            <a:off x="971600" y="2420888"/>
            <a:ext cx="7632700" cy="4692650"/>
          </a:xfrm>
          <a:prstGeom prst="rect">
            <a:avLst/>
          </a:prstGeom>
          <a:noFill/>
          <a:ln>
            <a:noFill/>
          </a:ln>
        </p:spPr>
      </p:pic>
      <p:sp>
        <p:nvSpPr>
          <p:cNvPr id="4" name="Rectangle 2"/>
          <p:cNvSpPr txBox="1">
            <a:spLocks/>
          </p:cNvSpPr>
          <p:nvPr/>
        </p:nvSpPr>
        <p:spPr>
          <a:xfrm>
            <a:off x="827584" y="404664"/>
            <a:ext cx="7200800" cy="1224136"/>
          </a:xfrm>
          <a:prstGeom prst="rect">
            <a:avLst/>
          </a:prstGeom>
          <a:solidFill>
            <a:schemeClr val="bg2"/>
          </a:solidFill>
          <a:ln>
            <a:solidFill>
              <a:srgbClr val="FF0000"/>
            </a:solidFill>
            <a:miter/>
          </a:ln>
        </p:spPr>
        <p:txBody>
          <a:bodyPr vert="horz" rtlCol="0" anchor="t">
            <a:noAutofit/>
          </a:bodyPr>
          <a:lstStyle/>
          <a:p>
            <a:pPr marL="0" marR="0" lvl="0" indent="0" algn="l" defTabSz="914400" rtl="0" eaLnBrk="1" fontAlgn="auto" latinLnBrk="0" hangingPunct="1">
              <a:lnSpc>
                <a:spcPct val="170000"/>
              </a:lnSpc>
              <a:spcBef>
                <a:spcPct val="0"/>
              </a:spcBef>
              <a:spcAft>
                <a:spcPts val="0"/>
              </a:spcAft>
              <a:buClrTx/>
              <a:buSzTx/>
              <a:buFontTx/>
              <a:buNone/>
              <a:tabLst/>
              <a:defRPr/>
            </a:pPr>
            <a:r>
              <a:rPr lang="zh-CN" altLang="en-US" sz="2400" b="1" dirty="0" smtClean="0">
                <a:solidFill>
                  <a:srgbClr val="FF0000"/>
                </a:solidFill>
                <a:latin typeface="华文琥珀" pitchFamily="2" charset="-122"/>
                <a:ea typeface="华文琥珀" pitchFamily="2" charset="-122"/>
                <a:cs typeface="+mj-cs"/>
              </a:rPr>
              <a:t>三</a:t>
            </a:r>
            <a:r>
              <a:rPr kumimoji="0" lang="zh-CN" altLang="en-US" sz="2400" b="1" i="0" u="none" strike="noStrike" kern="1200" cap="none" spc="0" normalizeH="0" baseline="0" noProof="0" dirty="0" smtClean="0">
                <a:ln>
                  <a:noFill/>
                </a:ln>
                <a:solidFill>
                  <a:srgbClr val="FF0000"/>
                </a:solidFill>
                <a:effectLst/>
                <a:uLnTx/>
                <a:uFillTx/>
                <a:latin typeface="华文琥珀" pitchFamily="2" charset="-122"/>
                <a:ea typeface="华文琥珀" pitchFamily="2" charset="-122"/>
                <a:cs typeface="+mj-cs"/>
              </a:rPr>
              <a:t>、新民主主义革命理论的实践基础：  是新民主主义革命的艰辛探索</a:t>
            </a:r>
            <a:endParaRPr kumimoji="0" lang="zh-CN" altLang="en-US" sz="2400" b="1" i="0" u="none" strike="noStrike" kern="1200" cap="none" spc="0" normalizeH="0" baseline="0" noProof="0" dirty="0">
              <a:ln>
                <a:noFill/>
              </a:ln>
              <a:solidFill>
                <a:srgbClr val="FF0000"/>
              </a:solidFill>
              <a:effectLst/>
              <a:uLnTx/>
              <a:uFillTx/>
              <a:latin typeface="华文琥珀" pitchFamily="2" charset="-122"/>
              <a:ea typeface="华文琥珀" pitchFamily="2" charset="-122"/>
              <a:cs typeface="+mj-cs"/>
            </a:endParaRPr>
          </a:p>
        </p:txBody>
      </p:sp>
      <p:sp>
        <p:nvSpPr>
          <p:cNvPr id="5" name="Rectangle 2"/>
          <p:cNvSpPr txBox="1">
            <a:spLocks/>
          </p:cNvSpPr>
          <p:nvPr/>
        </p:nvSpPr>
        <p:spPr>
          <a:xfrm>
            <a:off x="827584" y="1772816"/>
            <a:ext cx="7488832" cy="576064"/>
          </a:xfrm>
          <a:prstGeom prst="rect">
            <a:avLst/>
          </a:prstGeom>
          <a:solidFill>
            <a:schemeClr val="bg2"/>
          </a:solidFill>
          <a:ln>
            <a:solidFill>
              <a:srgbClr val="FF0000"/>
            </a:solidFill>
            <a:miter/>
          </a:ln>
        </p:spPr>
        <p:txBody>
          <a:bodyPr vert="horz" rtlCol="0" anchor="t">
            <a:normAutofit fontScale="85000" lnSpcReduction="1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dirty="0" smtClean="0">
                <a:ln>
                  <a:noFill/>
                </a:ln>
                <a:solidFill>
                  <a:srgbClr val="0000FF"/>
                </a:solidFill>
                <a:effectLst/>
                <a:uLnTx/>
                <a:uFillTx/>
                <a:latin typeface="黑体" pitchFamily="49" charset="-122"/>
                <a:ea typeface="黑体" pitchFamily="49" charset="-122"/>
                <a:cs typeface="+mj-cs"/>
              </a:rPr>
              <a:t>新民主主义革命理论是中国革命正反两方面实践经验的概括总结</a:t>
            </a:r>
            <a:endParaRPr kumimoji="0" lang="zh-CN" altLang="en-US" sz="2400" b="1" i="0" u="none" strike="noStrike" kern="1200" cap="none" spc="0" normalizeH="0" baseline="0" noProof="0" dirty="0">
              <a:ln>
                <a:noFill/>
              </a:ln>
              <a:solidFill>
                <a:srgbClr val="0000FF"/>
              </a:solidFill>
              <a:effectLst/>
              <a:uLnTx/>
              <a:uFillTx/>
              <a:latin typeface="黑体" pitchFamily="49" charset="-122"/>
              <a:ea typeface="黑体" pitchFamily="49" charset="-122"/>
              <a:cs typeface="+mj-cs"/>
            </a:endParaRP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Rectangle 3"/>
          <p:cNvSpPr>
            <a:spLocks noGrp="1"/>
          </p:cNvSpPr>
          <p:nvPr>
            <p:ph idx="4294967295"/>
          </p:nvPr>
        </p:nvSpPr>
        <p:spPr>
          <a:xfrm>
            <a:off x="395536" y="3212976"/>
            <a:ext cx="7634287" cy="2448272"/>
          </a:xfrm>
          <a:prstGeom prst="rect">
            <a:avLst/>
          </a:prstGeom>
          <a:noFill/>
          <a:ln>
            <a:solidFill>
              <a:srgbClr val="FF0000"/>
            </a:solidFill>
            <a:miter/>
          </a:ln>
        </p:spPr>
        <p:txBody>
          <a:bodyPr anchor="t">
            <a:normAutofit lnSpcReduction="10000"/>
          </a:bodyPr>
          <a:lstStyle/>
          <a:p>
            <a:pPr marL="0" indent="0" eaLnBrk="1" hangingPunct="1">
              <a:lnSpc>
                <a:spcPct val="130000"/>
              </a:lnSpc>
              <a:buNone/>
            </a:pPr>
            <a:r>
              <a:rPr lang="zh-CN" altLang="en-US" sz="2400" b="1" dirty="0" smtClean="0">
                <a:solidFill>
                  <a:srgbClr val="0000FF"/>
                </a:solidFill>
                <a:latin typeface="Times New Roman" panose="02020603050405020304" pitchFamily="18" charset="0"/>
                <a:ea typeface="黑体" panose="02010609060101010101" pitchFamily="2" charset="-122"/>
              </a:rPr>
              <a:t>旧民主主义革命失败原因之一缺少科学理论的指导</a:t>
            </a:r>
            <a:endParaRPr lang="zh-CN" altLang="en-US" sz="2400" b="1" dirty="0">
              <a:solidFill>
                <a:srgbClr val="FF0000"/>
              </a:solidFill>
              <a:latin typeface="Times New Roman" panose="02020603050405020304" pitchFamily="18" charset="0"/>
              <a:ea typeface="黑体" panose="02010609060101010101" pitchFamily="2" charset="-122"/>
            </a:endParaRPr>
          </a:p>
          <a:p>
            <a:pPr marL="0" indent="0" eaLnBrk="1" hangingPunct="1">
              <a:lnSpc>
                <a:spcPct val="130000"/>
              </a:lnSpc>
              <a:buNone/>
            </a:pPr>
            <a:r>
              <a:rPr lang="zh-CN" altLang="en-US" sz="2400" b="1" dirty="0">
                <a:solidFill>
                  <a:srgbClr val="FF0000"/>
                </a:solidFill>
                <a:latin typeface="Times New Roman" panose="02020603050405020304" pitchFamily="18" charset="0"/>
                <a:ea typeface="黑体" panose="02010609060101010101" pitchFamily="2" charset="-122"/>
              </a:rPr>
              <a:t>   </a:t>
            </a:r>
            <a:r>
              <a:rPr lang="zh-CN" altLang="en-US" sz="2400" b="1" dirty="0" smtClean="0">
                <a:solidFill>
                  <a:srgbClr val="FF0000"/>
                </a:solidFill>
                <a:latin typeface="Times New Roman" panose="02020603050405020304" pitchFamily="18" charset="0"/>
                <a:ea typeface="黑体" panose="02010609060101010101" pitchFamily="2" charset="-122"/>
              </a:rPr>
              <a:t>      </a:t>
            </a:r>
            <a:r>
              <a:rPr lang="zh-CN" altLang="en-US" sz="2400" b="1" dirty="0" smtClean="0">
                <a:solidFill>
                  <a:srgbClr val="0000FF"/>
                </a:solidFill>
                <a:latin typeface="Times New Roman" panose="02020603050405020304" pitchFamily="18" charset="0"/>
                <a:ea typeface="黑体" panose="02010609060101010101" pitchFamily="2" charset="-122"/>
              </a:rPr>
              <a:t> </a:t>
            </a:r>
            <a:r>
              <a:rPr lang="zh-CN" altLang="en-US" sz="2400" b="1" dirty="0">
                <a:solidFill>
                  <a:srgbClr val="0000FF"/>
                </a:solidFill>
                <a:latin typeface="Times New Roman" panose="02020603050405020304" pitchFamily="18" charset="0"/>
                <a:ea typeface="黑体" panose="02010609060101010101" pitchFamily="2" charset="-122"/>
              </a:rPr>
              <a:t>旧民主主义革命的</a:t>
            </a:r>
            <a:r>
              <a:rPr lang="zh-CN" altLang="en-US" sz="2400" b="1" dirty="0">
                <a:solidFill>
                  <a:srgbClr val="0000FF"/>
                </a:solidFill>
                <a:latin typeface="Times New Roman" panose="02020603050405020304" pitchFamily="18" charset="0"/>
                <a:ea typeface="黑体" panose="02010609060101010101" pitchFamily="2" charset="-122"/>
                <a:sym typeface="+mn-ea"/>
              </a:rPr>
              <a:t>理论和</a:t>
            </a:r>
            <a:r>
              <a:rPr lang="zh-CN" altLang="en-US" sz="2400" b="1" dirty="0">
                <a:solidFill>
                  <a:srgbClr val="0000FF"/>
                </a:solidFill>
                <a:latin typeface="Times New Roman" panose="02020603050405020304" pitchFamily="18" charset="0"/>
                <a:ea typeface="黑体" panose="02010609060101010101" pitchFamily="2" charset="-122"/>
              </a:rPr>
              <a:t>道路，并不适应中国革命的现实国情，无法为近代中国革命提供正确的理论指导和实践指导，中国社会和革命的发展，迫切需要新的阶级及其政党领导新的革命，呼唤新的理论产生</a:t>
            </a:r>
            <a:r>
              <a:rPr lang="zh-CN" altLang="en-US" sz="2400" b="1" dirty="0" smtClean="0">
                <a:solidFill>
                  <a:srgbClr val="0000FF"/>
                </a:solidFill>
                <a:latin typeface="Times New Roman" panose="02020603050405020304" pitchFamily="18" charset="0"/>
                <a:ea typeface="黑体" panose="02010609060101010101" pitchFamily="2" charset="-122"/>
              </a:rPr>
              <a:t>。</a:t>
            </a:r>
            <a:r>
              <a:rPr lang="zh-CN" altLang="en-US" sz="2400" b="1" dirty="0" smtClean="0">
                <a:solidFill>
                  <a:srgbClr val="FF0000"/>
                </a:solidFill>
                <a:latin typeface="Times New Roman" panose="02020603050405020304" pitchFamily="18" charset="0"/>
                <a:ea typeface="黑体" panose="02010609060101010101" pitchFamily="2" charset="-122"/>
              </a:rPr>
              <a:t> </a:t>
            </a:r>
            <a:endParaRPr lang="zh-CN" altLang="en-US" sz="2400" b="1" dirty="0">
              <a:solidFill>
                <a:srgbClr val="FF0000"/>
              </a:solidFill>
              <a:latin typeface="Times New Roman" panose="02020603050405020304" pitchFamily="18" charset="0"/>
              <a:ea typeface="黑体" panose="02010609060101010101" pitchFamily="2" charset="-122"/>
            </a:endParaRPr>
          </a:p>
          <a:p>
            <a:pPr eaLnBrk="1" hangingPunct="1">
              <a:lnSpc>
                <a:spcPct val="130000"/>
              </a:lnSpc>
            </a:pPr>
            <a:endParaRPr lang="zh-CN" altLang="en-US" sz="2400" b="1" dirty="0">
              <a:solidFill>
                <a:srgbClr val="0000FF"/>
              </a:solidFill>
              <a:latin typeface="Times New Roman" panose="02020603050405020304" pitchFamily="18" charset="0"/>
              <a:ea typeface="黑体" panose="02010609060101010101" pitchFamily="2" charset="-122"/>
            </a:endParaRPr>
          </a:p>
          <a:p>
            <a:pPr eaLnBrk="1" hangingPunct="1">
              <a:lnSpc>
                <a:spcPct val="130000"/>
              </a:lnSpc>
            </a:pPr>
            <a:endParaRPr lang="en-US" altLang="zh-CN" sz="2400" b="1" dirty="0">
              <a:solidFill>
                <a:srgbClr val="0000FF"/>
              </a:solidFill>
              <a:latin typeface="Times New Roman" panose="02020603050405020304" pitchFamily="18" charset="0"/>
              <a:ea typeface="黑体" panose="02010609060101010101" pitchFamily="2" charset="-122"/>
            </a:endParaRPr>
          </a:p>
        </p:txBody>
      </p:sp>
      <p:sp>
        <p:nvSpPr>
          <p:cNvPr id="3" name="矩形 2"/>
          <p:cNvSpPr/>
          <p:nvPr/>
        </p:nvSpPr>
        <p:spPr>
          <a:xfrm>
            <a:off x="899592" y="548680"/>
            <a:ext cx="7200800" cy="1052596"/>
          </a:xfrm>
          <a:prstGeom prst="rect">
            <a:avLst/>
          </a:prstGeom>
          <a:solidFill>
            <a:schemeClr val="bg2"/>
          </a:solidFill>
          <a:ln>
            <a:solidFill>
              <a:schemeClr val="accent1"/>
            </a:solidFill>
          </a:ln>
        </p:spPr>
        <p:txBody>
          <a:bodyPr wrap="square">
            <a:spAutoFit/>
          </a:bodyPr>
          <a:lstStyle/>
          <a:p>
            <a:pPr>
              <a:lnSpc>
                <a:spcPct val="130000"/>
              </a:lnSpc>
            </a:pPr>
            <a:r>
              <a:rPr lang="zh-CN" altLang="en-US" sz="2400" b="1" dirty="0" smtClean="0">
                <a:solidFill>
                  <a:srgbClr val="FF0000"/>
                </a:solidFill>
                <a:latin typeface="华文琥珀" pitchFamily="2" charset="-122"/>
                <a:ea typeface="华文琥珀" pitchFamily="2" charset="-122"/>
              </a:rPr>
              <a:t>（一）旧民主主义革命的失败呼唤新的革命理论的诞生</a:t>
            </a:r>
            <a:endParaRPr lang="zh-CN" altLang="en-US" sz="2400" b="1" dirty="0">
              <a:solidFill>
                <a:srgbClr val="FF0000"/>
              </a:solidFill>
              <a:latin typeface="华文琥珀" pitchFamily="2" charset="-122"/>
              <a:ea typeface="华文琥珀" pitchFamily="2" charset="-122"/>
            </a:endParaRPr>
          </a:p>
        </p:txBody>
      </p:sp>
      <p:sp>
        <p:nvSpPr>
          <p:cNvPr id="4" name="矩形 3"/>
          <p:cNvSpPr/>
          <p:nvPr/>
        </p:nvSpPr>
        <p:spPr>
          <a:xfrm>
            <a:off x="827584" y="1844824"/>
            <a:ext cx="3672408" cy="572464"/>
          </a:xfrm>
          <a:prstGeom prst="rect">
            <a:avLst/>
          </a:prstGeom>
          <a:ln>
            <a:solidFill>
              <a:schemeClr val="accent1"/>
            </a:solidFill>
          </a:ln>
        </p:spPr>
        <p:txBody>
          <a:bodyPr wrap="square">
            <a:spAutoFit/>
          </a:bodyPr>
          <a:lstStyle/>
          <a:p>
            <a:pPr>
              <a:lnSpc>
                <a:spcPct val="130000"/>
              </a:lnSpc>
              <a:spcBef>
                <a:spcPct val="20000"/>
              </a:spcBef>
              <a:buClr>
                <a:schemeClr val="accent1"/>
              </a:buClr>
              <a:buSzPct val="50000"/>
            </a:pPr>
            <a:r>
              <a:rPr lang="zh-CN" altLang="en-US" sz="2400" b="1" dirty="0" smtClean="0">
                <a:solidFill>
                  <a:srgbClr val="FF0000"/>
                </a:solidFill>
                <a:latin typeface="Times New Roman" panose="02020603050405020304" pitchFamily="18" charset="0"/>
                <a:ea typeface="黑体" panose="02010609060101010101" pitchFamily="2" charset="-122"/>
              </a:rPr>
              <a:t>回顾旧民主主义革命历程</a:t>
            </a:r>
          </a:p>
        </p:txBody>
      </p:sp>
      <p:sp>
        <p:nvSpPr>
          <p:cNvPr id="5" name="矩形 4"/>
          <p:cNvSpPr/>
          <p:nvPr/>
        </p:nvSpPr>
        <p:spPr>
          <a:xfrm>
            <a:off x="5220072" y="1988840"/>
            <a:ext cx="2286000" cy="830997"/>
          </a:xfrm>
          <a:prstGeom prst="rect">
            <a:avLst/>
          </a:prstGeom>
          <a:solidFill>
            <a:schemeClr val="bg2"/>
          </a:solidFill>
          <a:ln>
            <a:solidFill>
              <a:schemeClr val="accent1"/>
            </a:solidFill>
          </a:ln>
        </p:spPr>
        <p:txBody>
          <a:bodyPr>
            <a:spAutoFit/>
          </a:bodyPr>
          <a:lstStyle/>
          <a:p>
            <a:r>
              <a:rPr lang="zh-CN" altLang="en-US" sz="2400" b="1" dirty="0" smtClean="0">
                <a:solidFill>
                  <a:srgbClr val="0000FF"/>
                </a:solidFill>
                <a:latin typeface="Times New Roman" panose="02020603050405020304" pitchFamily="18" charset="0"/>
                <a:ea typeface="黑体" panose="02010609060101010101" pitchFamily="2" charset="-122"/>
              </a:rPr>
              <a:t>讨论：失败原因及启示</a:t>
            </a:r>
            <a:endParaRPr lang="zh-CN" alt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8419">
                                            <p:bg/>
                                          </p:spTgt>
                                        </p:tgtEl>
                                        <p:attrNameLst>
                                          <p:attrName>style.visibility</p:attrName>
                                        </p:attrNameLst>
                                      </p:cBhvr>
                                      <p:to>
                                        <p:strVal val="visible"/>
                                      </p:to>
                                    </p:set>
                                    <p:animEffect transition="in" filter="checkerboard(across)">
                                      <p:cBhvr>
                                        <p:cTn id="7" dur="500"/>
                                        <p:tgtEl>
                                          <p:spTgt spid="188419">
                                            <p:bg/>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88419">
                                            <p:txEl>
                                              <p:pRg st="0" end="0"/>
                                            </p:txEl>
                                          </p:spTgt>
                                        </p:tgtEl>
                                        <p:attrNameLst>
                                          <p:attrName>style.visibility</p:attrName>
                                        </p:attrNameLst>
                                      </p:cBhvr>
                                      <p:to>
                                        <p:strVal val="visible"/>
                                      </p:to>
                                    </p:set>
                                    <p:animEffect transition="in" filter="checkerboard(across)">
                                      <p:cBhvr>
                                        <p:cTn id="12" dur="500"/>
                                        <p:tgtEl>
                                          <p:spTgt spid="1884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88419">
                                            <p:txEl>
                                              <p:pRg st="1" end="1"/>
                                            </p:txEl>
                                          </p:spTgt>
                                        </p:tgtEl>
                                        <p:attrNameLst>
                                          <p:attrName>style.visibility</p:attrName>
                                        </p:attrNameLst>
                                      </p:cBhvr>
                                      <p:to>
                                        <p:strVal val="visible"/>
                                      </p:to>
                                    </p:set>
                                    <p:animEffect transition="in" filter="checkerboard(across)">
                                      <p:cBhvr>
                                        <p:cTn id="17" dur="500"/>
                                        <p:tgtEl>
                                          <p:spTgt spid="1884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timg"/>
          <p:cNvPicPr>
            <a:picLocks noChangeAspect="1"/>
          </p:cNvPicPr>
          <p:nvPr/>
        </p:nvPicPr>
        <p:blipFill>
          <a:blip r:embed="rId2" cstate="print"/>
          <a:stretch>
            <a:fillRect/>
          </a:stretch>
        </p:blipFill>
        <p:spPr>
          <a:xfrm>
            <a:off x="3275856" y="3645024"/>
            <a:ext cx="4277360" cy="2865120"/>
          </a:xfrm>
          <a:prstGeom prst="rect">
            <a:avLst/>
          </a:prstGeom>
        </p:spPr>
      </p:pic>
      <p:sp>
        <p:nvSpPr>
          <p:cNvPr id="4" name="矩形 3"/>
          <p:cNvSpPr/>
          <p:nvPr/>
        </p:nvSpPr>
        <p:spPr>
          <a:xfrm>
            <a:off x="251520" y="2636912"/>
            <a:ext cx="5444119" cy="519116"/>
          </a:xfrm>
          <a:prstGeom prst="rect">
            <a:avLst/>
          </a:prstGeom>
          <a:solidFill>
            <a:schemeClr val="bg2"/>
          </a:solidFill>
          <a:ln>
            <a:solidFill>
              <a:schemeClr val="accent1"/>
            </a:solidFill>
          </a:ln>
        </p:spPr>
        <p:txBody>
          <a:bodyPr wrap="none">
            <a:spAutoFit/>
          </a:bodyPr>
          <a:lstStyle/>
          <a:p>
            <a:pPr>
              <a:lnSpc>
                <a:spcPct val="130000"/>
              </a:lnSpc>
            </a:pPr>
            <a:r>
              <a:rPr lang="zh-CN" altLang="en-US" sz="2400" b="1" dirty="0" smtClean="0">
                <a:solidFill>
                  <a:srgbClr val="0000FF"/>
                </a:solidFill>
                <a:latin typeface="Times New Roman" panose="02020603050405020304" pitchFamily="18" charset="0"/>
                <a:ea typeface="黑体" panose="02010609060101010101" pitchFamily="2" charset="-122"/>
              </a:rPr>
              <a:t>中国共产党成立到遵义会议时期的探索</a:t>
            </a:r>
          </a:p>
        </p:txBody>
      </p:sp>
      <p:sp>
        <p:nvSpPr>
          <p:cNvPr id="5" name="矩形 4"/>
          <p:cNvSpPr/>
          <p:nvPr/>
        </p:nvSpPr>
        <p:spPr>
          <a:xfrm>
            <a:off x="251520" y="3429000"/>
            <a:ext cx="2329484" cy="572464"/>
          </a:xfrm>
          <a:prstGeom prst="rect">
            <a:avLst/>
          </a:prstGeom>
          <a:solidFill>
            <a:schemeClr val="bg2"/>
          </a:solidFill>
          <a:ln>
            <a:solidFill>
              <a:schemeClr val="accent1"/>
            </a:solidFill>
          </a:ln>
        </p:spPr>
        <p:txBody>
          <a:bodyPr wrap="none">
            <a:spAutoFit/>
          </a:bodyPr>
          <a:lstStyle/>
          <a:p>
            <a:pPr>
              <a:lnSpc>
                <a:spcPct val="130000"/>
              </a:lnSpc>
            </a:pPr>
            <a:r>
              <a:rPr lang="zh-CN" altLang="en-US" b="1" dirty="0" smtClean="0">
                <a:solidFill>
                  <a:srgbClr val="0000FF"/>
                </a:solidFill>
                <a:latin typeface="Times New Roman" panose="02020603050405020304" pitchFamily="18" charset="0"/>
                <a:ea typeface="黑体" panose="02010609060101010101" pitchFamily="2" charset="-122"/>
              </a:rPr>
              <a:t> </a:t>
            </a:r>
            <a:r>
              <a:rPr lang="zh-CN" altLang="en-US" sz="2400" b="1" dirty="0" smtClean="0">
                <a:solidFill>
                  <a:srgbClr val="0000FF"/>
                </a:solidFill>
                <a:latin typeface="Times New Roman" panose="02020603050405020304" pitchFamily="18" charset="0"/>
                <a:ea typeface="黑体" panose="02010609060101010101" pitchFamily="2" charset="-122"/>
              </a:rPr>
              <a:t>抗日战争时期   </a:t>
            </a:r>
          </a:p>
        </p:txBody>
      </p:sp>
      <p:sp>
        <p:nvSpPr>
          <p:cNvPr id="6" name="矩形 5"/>
          <p:cNvSpPr/>
          <p:nvPr/>
        </p:nvSpPr>
        <p:spPr>
          <a:xfrm>
            <a:off x="251521" y="4221088"/>
            <a:ext cx="2448272" cy="572464"/>
          </a:xfrm>
          <a:prstGeom prst="rect">
            <a:avLst/>
          </a:prstGeom>
          <a:solidFill>
            <a:schemeClr val="bg2"/>
          </a:solidFill>
          <a:ln>
            <a:solidFill>
              <a:schemeClr val="accent1"/>
            </a:solidFill>
          </a:ln>
        </p:spPr>
        <p:txBody>
          <a:bodyPr wrap="square">
            <a:spAutoFit/>
          </a:bodyPr>
          <a:lstStyle/>
          <a:p>
            <a:pPr>
              <a:lnSpc>
                <a:spcPct val="130000"/>
              </a:lnSpc>
            </a:pPr>
            <a:r>
              <a:rPr lang="zh-CN" altLang="en-US" sz="2400" b="1" dirty="0" smtClean="0">
                <a:solidFill>
                  <a:srgbClr val="0000FF"/>
                </a:solidFill>
                <a:latin typeface="Times New Roman" panose="02020603050405020304" pitchFamily="18" charset="0"/>
                <a:ea typeface="黑体" panose="02010609060101010101" pitchFamily="2" charset="-122"/>
              </a:rPr>
              <a:t>解放战争时期            </a:t>
            </a:r>
            <a:endParaRPr lang="zh-CN" altLang="en-US" sz="2400" b="1" dirty="0">
              <a:solidFill>
                <a:srgbClr val="0000FF"/>
              </a:solidFill>
              <a:latin typeface="Times New Roman" panose="02020603050405020304" pitchFamily="18" charset="0"/>
              <a:ea typeface="黑体" panose="02010609060101010101" pitchFamily="2" charset="-122"/>
            </a:endParaRPr>
          </a:p>
        </p:txBody>
      </p:sp>
      <p:sp>
        <p:nvSpPr>
          <p:cNvPr id="7" name="矩形 6"/>
          <p:cNvSpPr/>
          <p:nvPr/>
        </p:nvSpPr>
        <p:spPr>
          <a:xfrm>
            <a:off x="395536" y="332656"/>
            <a:ext cx="7056784" cy="1212640"/>
          </a:xfrm>
          <a:prstGeom prst="rect">
            <a:avLst/>
          </a:prstGeom>
          <a:solidFill>
            <a:schemeClr val="bg2"/>
          </a:solidFill>
          <a:ln>
            <a:solidFill>
              <a:schemeClr val="accent1"/>
            </a:solidFill>
          </a:ln>
        </p:spPr>
        <p:txBody>
          <a:bodyPr wrap="square">
            <a:spAutoFit/>
          </a:bodyPr>
          <a:lstStyle/>
          <a:p>
            <a:pPr>
              <a:lnSpc>
                <a:spcPct val="130000"/>
              </a:lnSpc>
            </a:pPr>
            <a:r>
              <a:rPr lang="zh-CN" altLang="en-US" sz="2800" b="1" dirty="0" smtClean="0">
                <a:solidFill>
                  <a:srgbClr val="FF0000"/>
                </a:solidFill>
                <a:latin typeface="华文琥珀" pitchFamily="2" charset="-122"/>
                <a:ea typeface="华文琥珀" pitchFamily="2" charset="-122"/>
              </a:rPr>
              <a:t>（二）</a:t>
            </a:r>
            <a:r>
              <a:rPr lang="zh-CN" altLang="en-US" sz="2800" dirty="0" smtClean="0">
                <a:solidFill>
                  <a:srgbClr val="FF0000"/>
                </a:solidFill>
                <a:latin typeface="华文琥珀" pitchFamily="2" charset="-122"/>
                <a:ea typeface="华文琥珀" pitchFamily="2" charset="-122"/>
              </a:rPr>
              <a:t>新民主主义革命的实践探索</a:t>
            </a:r>
          </a:p>
          <a:p>
            <a:pPr>
              <a:lnSpc>
                <a:spcPct val="130000"/>
              </a:lnSpc>
            </a:pPr>
            <a:r>
              <a:rPr lang="zh-CN" altLang="en-US" sz="2800" dirty="0" smtClean="0">
                <a:solidFill>
                  <a:srgbClr val="FF0000"/>
                </a:solidFill>
                <a:latin typeface="华文琥珀" pitchFamily="2" charset="-122"/>
                <a:ea typeface="华文琥珀" pitchFamily="2" charset="-122"/>
              </a:rPr>
              <a:t>        为</a:t>
            </a:r>
            <a:r>
              <a:rPr lang="zh-CN" altLang="en-US" sz="2800" dirty="0" smtClean="0">
                <a:solidFill>
                  <a:srgbClr val="FF0000"/>
                </a:solidFill>
                <a:latin typeface="华文琥珀" pitchFamily="2" charset="-122"/>
                <a:ea typeface="华文琥珀" pitchFamily="2" charset="-122"/>
                <a:sym typeface="+mn-ea"/>
              </a:rPr>
              <a:t>革命理论的形成奠定</a:t>
            </a:r>
            <a:r>
              <a:rPr lang="zh-CN" altLang="en-US" sz="2800" b="1" dirty="0" smtClean="0">
                <a:solidFill>
                  <a:srgbClr val="FF0000"/>
                </a:solidFill>
                <a:latin typeface="华文琥珀" pitchFamily="2" charset="-122"/>
                <a:ea typeface="华文琥珀" pitchFamily="2" charset="-122"/>
                <a:sym typeface="+mn-ea"/>
              </a:rPr>
              <a:t>了基础</a:t>
            </a:r>
            <a:endParaRPr lang="zh-CN" altLang="en-US" sz="2800" b="1" dirty="0">
              <a:solidFill>
                <a:srgbClr val="0000FF"/>
              </a:solidFill>
              <a:latin typeface="Times New Roman" panose="02020603050405020304" pitchFamily="18" charset="0"/>
              <a:ea typeface="黑体" panose="02010609060101010101" pitchFamily="2" charset="-122"/>
            </a:endParaRPr>
          </a:p>
        </p:txBody>
      </p:sp>
    </p:spTree>
  </p:cSld>
  <p:clrMapOvr>
    <a:masterClrMapping/>
  </p:clrMapOvr>
  <p:transition>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idx="4294967295"/>
          </p:nvPr>
        </p:nvSpPr>
        <p:spPr>
          <a:xfrm>
            <a:off x="467544" y="404664"/>
            <a:ext cx="7402016" cy="825500"/>
          </a:xfrm>
          <a:prstGeom prst="rect">
            <a:avLst/>
          </a:prstGeom>
          <a:noFill/>
          <a:ln>
            <a:solidFill>
              <a:srgbClr val="FF0000"/>
            </a:solidFill>
            <a:miter/>
          </a:ln>
        </p:spPr>
        <p:txBody>
          <a:bodyPr anchor="t">
            <a:normAutofit/>
          </a:bodyPr>
          <a:lstStyle/>
          <a:p>
            <a:pPr algn="l">
              <a:lnSpc>
                <a:spcPct val="130000"/>
              </a:lnSpc>
            </a:pPr>
            <a:r>
              <a:rPr lang="zh-CN" altLang="en-US" sz="2800" dirty="0">
                <a:solidFill>
                  <a:srgbClr val="FF0000"/>
                </a:solidFill>
                <a:latin typeface="华文琥珀" pitchFamily="2" charset="-122"/>
                <a:ea typeface="华文琥珀" pitchFamily="2" charset="-122"/>
                <a:cs typeface="+mn-cs"/>
              </a:rPr>
              <a:t>（三）新民主主义革命理论的形成和发展过程</a:t>
            </a:r>
          </a:p>
        </p:txBody>
      </p:sp>
      <p:sp>
        <p:nvSpPr>
          <p:cNvPr id="23554" name="Rectangle 3"/>
          <p:cNvSpPr>
            <a:spLocks noGrp="1"/>
          </p:cNvSpPr>
          <p:nvPr>
            <p:ph idx="4294967295"/>
          </p:nvPr>
        </p:nvSpPr>
        <p:spPr>
          <a:xfrm>
            <a:off x="323528" y="2681536"/>
            <a:ext cx="8001000" cy="3915816"/>
          </a:xfrm>
          <a:prstGeom prst="rect">
            <a:avLst/>
          </a:prstGeom>
          <a:solidFill>
            <a:srgbClr val="FFFFFF"/>
          </a:solidFill>
          <a:ln>
            <a:solidFill>
              <a:srgbClr val="FF0000"/>
            </a:solidFill>
            <a:miter/>
          </a:ln>
        </p:spPr>
        <p:txBody>
          <a:bodyPr anchor="t">
            <a:normAutofit fontScale="92500"/>
          </a:bodyPr>
          <a:lstStyle/>
          <a:p>
            <a:pPr eaLnBrk="1" hangingPunct="1">
              <a:lnSpc>
                <a:spcPct val="150000"/>
              </a:lnSpc>
              <a:buNone/>
            </a:pPr>
            <a:r>
              <a:rPr lang="zh-CN" altLang="en-US" sz="2800" b="1" dirty="0">
                <a:solidFill>
                  <a:srgbClr val="FF0000"/>
                </a:solidFill>
                <a:latin typeface="Times New Roman" panose="02020603050405020304" pitchFamily="18" charset="0"/>
                <a:ea typeface="黑体" panose="02010609060101010101" pitchFamily="2" charset="-122"/>
              </a:rPr>
              <a:t>初步形成</a:t>
            </a:r>
            <a:r>
              <a:rPr lang="zh-CN" altLang="en-US" sz="2400" b="1" dirty="0">
                <a:solidFill>
                  <a:srgbClr val="0000FF"/>
                </a:solidFill>
                <a:latin typeface="Times New Roman" panose="02020603050405020304" pitchFamily="18" charset="0"/>
                <a:ea typeface="黑体" panose="02010609060101010101" pitchFamily="2" charset="-122"/>
              </a:rPr>
              <a:t>（大革命和土地革命时期）</a:t>
            </a:r>
          </a:p>
          <a:p>
            <a:pPr eaLnBrk="1" hangingPunct="1">
              <a:lnSpc>
                <a:spcPct val="120000"/>
              </a:lnSpc>
              <a:buNone/>
            </a:pPr>
            <a:r>
              <a:rPr lang="zh-CN" altLang="en-US" sz="2400" b="1" dirty="0">
                <a:solidFill>
                  <a:srgbClr val="0000FF"/>
                </a:solidFill>
                <a:latin typeface="Times New Roman" panose="02020603050405020304" pitchFamily="18" charset="0"/>
                <a:ea typeface="黑体" panose="02010609060101010101" pitchFamily="2" charset="-122"/>
              </a:rPr>
              <a:t>提出党在民主革命时期的纲领以及“统一战线”、“坚持无产阶级领导权和同盟军”、“农村包围城市”等思想</a:t>
            </a:r>
          </a:p>
          <a:p>
            <a:pPr eaLnBrk="1" hangingPunct="1">
              <a:lnSpc>
                <a:spcPct val="150000"/>
              </a:lnSpc>
              <a:buNone/>
            </a:pPr>
            <a:r>
              <a:rPr lang="zh-CN" altLang="en-US" sz="2800" b="1" dirty="0">
                <a:solidFill>
                  <a:srgbClr val="FF0000"/>
                </a:solidFill>
                <a:latin typeface="Times New Roman" panose="02020603050405020304" pitchFamily="18" charset="0"/>
                <a:ea typeface="黑体" panose="02010609060101010101" pitchFamily="2" charset="-122"/>
              </a:rPr>
              <a:t>走向成熟</a:t>
            </a:r>
            <a:r>
              <a:rPr lang="zh-CN" altLang="en-US" sz="2400" b="1" dirty="0">
                <a:solidFill>
                  <a:srgbClr val="0000FF"/>
                </a:solidFill>
                <a:latin typeface="Times New Roman" panose="02020603050405020304" pitchFamily="18" charset="0"/>
                <a:ea typeface="黑体" panose="02010609060101010101" pitchFamily="2" charset="-122"/>
              </a:rPr>
              <a:t>（抗日战争时期）论述了新民主主义革命的基本问题、三大法宝、基本纲领；人民军队、革命根据地以及党的建设等多方面</a:t>
            </a:r>
          </a:p>
          <a:p>
            <a:pPr eaLnBrk="1" hangingPunct="1">
              <a:lnSpc>
                <a:spcPct val="150000"/>
              </a:lnSpc>
              <a:buNone/>
            </a:pPr>
            <a:r>
              <a:rPr lang="zh-CN" altLang="en-US" sz="2800" b="1" dirty="0">
                <a:solidFill>
                  <a:srgbClr val="FF0000"/>
                </a:solidFill>
                <a:latin typeface="Times New Roman" panose="02020603050405020304" pitchFamily="18" charset="0"/>
                <a:ea typeface="黑体" panose="02010609060101010101" pitchFamily="2" charset="-122"/>
              </a:rPr>
              <a:t>进一步发展</a:t>
            </a:r>
            <a:r>
              <a:rPr lang="zh-CN" altLang="en-US" sz="2400" b="1" dirty="0">
                <a:solidFill>
                  <a:srgbClr val="0000FF"/>
                </a:solidFill>
                <a:latin typeface="Times New Roman" panose="02020603050405020304" pitchFamily="18" charset="0"/>
                <a:ea typeface="黑体" panose="02010609060101010101" pitchFamily="2" charset="-122"/>
              </a:rPr>
              <a:t>（解放战争时期）</a:t>
            </a:r>
          </a:p>
        </p:txBody>
      </p:sp>
      <p:sp>
        <p:nvSpPr>
          <p:cNvPr id="4" name="Rectangle 2"/>
          <p:cNvSpPr txBox="1">
            <a:spLocks/>
          </p:cNvSpPr>
          <p:nvPr/>
        </p:nvSpPr>
        <p:spPr>
          <a:xfrm>
            <a:off x="395536" y="1628800"/>
            <a:ext cx="7416824" cy="792088"/>
          </a:xfrm>
          <a:prstGeom prst="rect">
            <a:avLst/>
          </a:prstGeom>
          <a:solidFill>
            <a:schemeClr val="bg2"/>
          </a:solidFill>
          <a:ln>
            <a:solidFill>
              <a:srgbClr val="FF0000"/>
            </a:solidFill>
            <a:miter/>
          </a:ln>
        </p:spPr>
        <p:txBody>
          <a:bodyPr vert="horz" rtlCol="0"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dirty="0" smtClean="0">
                <a:ln>
                  <a:noFill/>
                </a:ln>
                <a:effectLst/>
                <a:uLnTx/>
                <a:uFillTx/>
                <a:latin typeface="黑体" pitchFamily="49" charset="-122"/>
                <a:ea typeface="黑体" pitchFamily="49" charset="-122"/>
                <a:cs typeface="+mj-cs"/>
              </a:rPr>
              <a:t>    新民主主义革命理论是中国革命正反两方面实践经验的概括总结</a:t>
            </a:r>
            <a:endParaRPr kumimoji="0" lang="zh-CN" altLang="en-US" sz="2400" b="1" i="0" u="none" strike="noStrike" kern="1200" cap="none" spc="0" normalizeH="0" baseline="0" noProof="0" dirty="0">
              <a:ln>
                <a:noFill/>
              </a:ln>
              <a:effectLst/>
              <a:uLnTx/>
              <a:uFillTx/>
              <a:latin typeface="黑体" pitchFamily="49" charset="-122"/>
              <a:ea typeface="黑体" pitchFamily="49" charset="-122"/>
              <a:cs typeface="+mj-cs"/>
            </a:endParaRP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p:cNvSpPr>
          <p:nvPr>
            <p:ph idx="4294967295"/>
          </p:nvPr>
        </p:nvSpPr>
        <p:spPr>
          <a:xfrm>
            <a:off x="899592" y="1844824"/>
            <a:ext cx="792088" cy="3744416"/>
          </a:xfrm>
          <a:prstGeom prst="rect">
            <a:avLst/>
          </a:prstGeom>
          <a:noFill/>
          <a:ln>
            <a:solidFill>
              <a:srgbClr val="FF0000"/>
            </a:solidFill>
            <a:miter/>
          </a:ln>
        </p:spPr>
        <p:txBody>
          <a:bodyPr vert="eaVert" anchor="t">
            <a:noAutofit/>
          </a:bodyPr>
          <a:lstStyle/>
          <a:p>
            <a:pPr eaLnBrk="1" hangingPunct="1">
              <a:lnSpc>
                <a:spcPct val="135000"/>
              </a:lnSpc>
              <a:buNone/>
            </a:pPr>
            <a:r>
              <a:rPr lang="zh-CN" altLang="en-US" sz="2800" b="1" dirty="0" smtClean="0">
                <a:latin typeface="Times New Roman" panose="02020603050405020304" pitchFamily="18" charset="0"/>
                <a:ea typeface="黑体" panose="02010609060101010101" pitchFamily="2" charset="-122"/>
              </a:rPr>
              <a:t>新民主主义革命理论</a:t>
            </a:r>
            <a:endParaRPr lang="zh-CN" altLang="en-US" sz="2800" b="1" dirty="0">
              <a:latin typeface="Times New Roman" panose="02020603050405020304" pitchFamily="18" charset="0"/>
              <a:ea typeface="黑体" panose="02010609060101010101" pitchFamily="2" charset="-122"/>
            </a:endParaRPr>
          </a:p>
        </p:txBody>
      </p:sp>
      <p:sp>
        <p:nvSpPr>
          <p:cNvPr id="4" name="矩形 3"/>
          <p:cNvSpPr/>
          <p:nvPr/>
        </p:nvSpPr>
        <p:spPr>
          <a:xfrm>
            <a:off x="467544" y="908720"/>
            <a:ext cx="8260595" cy="674031"/>
          </a:xfrm>
          <a:prstGeom prst="rect">
            <a:avLst/>
          </a:prstGeom>
          <a:solidFill>
            <a:schemeClr val="bg2"/>
          </a:solidFill>
        </p:spPr>
        <p:txBody>
          <a:bodyPr wrap="none">
            <a:spAutoFit/>
          </a:bodyPr>
          <a:lstStyle/>
          <a:p>
            <a:pPr>
              <a:lnSpc>
                <a:spcPct val="105000"/>
              </a:lnSpc>
              <a:spcBef>
                <a:spcPct val="50000"/>
              </a:spcBef>
            </a:pPr>
            <a:r>
              <a:rPr lang="zh-CN" altLang="en-US" sz="3600" b="1" dirty="0" smtClean="0">
                <a:solidFill>
                  <a:srgbClr val="FF0000"/>
                </a:solidFill>
                <a:latin typeface="华文琥珀" pitchFamily="2" charset="-122"/>
                <a:ea typeface="华文琥珀" pitchFamily="2" charset="-122"/>
              </a:rPr>
              <a:t>专题二  新民主主义革命理论的主要内容</a:t>
            </a:r>
            <a:endParaRPr lang="zh-CN" altLang="en-US" sz="3600" b="1" dirty="0">
              <a:solidFill>
                <a:srgbClr val="FF0000"/>
              </a:solidFill>
              <a:latin typeface="华文琥珀" pitchFamily="2" charset="-122"/>
              <a:ea typeface="华文琥珀" pitchFamily="2" charset="-122"/>
            </a:endParaRPr>
          </a:p>
        </p:txBody>
      </p:sp>
      <p:sp>
        <p:nvSpPr>
          <p:cNvPr id="7" name="Rectangle 3"/>
          <p:cNvSpPr txBox="1">
            <a:spLocks/>
          </p:cNvSpPr>
          <p:nvPr/>
        </p:nvSpPr>
        <p:spPr>
          <a:xfrm>
            <a:off x="2267744" y="2348880"/>
            <a:ext cx="3456384" cy="504056"/>
          </a:xfrm>
          <a:prstGeom prst="rect">
            <a:avLst/>
          </a:prstGeom>
          <a:noFill/>
          <a:ln>
            <a:solidFill>
              <a:srgbClr val="FF0000"/>
            </a:solidFill>
            <a:miter/>
          </a:ln>
        </p:spPr>
        <p:txBody>
          <a:bodyPr vert="horz" rtlCol="0" anchor="t">
            <a:normAutofit fontScale="92500" lnSpcReduction="20000"/>
          </a:bodyPr>
          <a:lstStyle/>
          <a:p>
            <a:pPr marL="342900" marR="0" lvl="0" indent="-342900" algn="l" defTabSz="914400" rtl="0" eaLnBrk="1" fontAlgn="auto" latinLnBrk="0" hangingPunct="1">
              <a:lnSpc>
                <a:spcPct val="135000"/>
              </a:lnSpc>
              <a:spcBef>
                <a:spcPct val="20000"/>
              </a:spcBef>
              <a:spcAft>
                <a:spcPts val="0"/>
              </a:spcAft>
              <a:buClr>
                <a:schemeClr val="accent1"/>
              </a:buClr>
              <a:buSzPct val="50000"/>
              <a:buFont typeface="Wingdings 2"/>
              <a:buNone/>
              <a:tabLst/>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黑体" panose="02010609060101010101" pitchFamily="2" charset="-122"/>
                <a:cs typeface="+mn-cs"/>
              </a:rPr>
              <a:t>新民主主义革命的总路线</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黑体" panose="02010609060101010101" pitchFamily="2" charset="-122"/>
              <a:cs typeface="+mn-cs"/>
            </a:endParaRPr>
          </a:p>
        </p:txBody>
      </p:sp>
      <p:sp>
        <p:nvSpPr>
          <p:cNvPr id="8" name="Rectangle 3"/>
          <p:cNvSpPr txBox="1">
            <a:spLocks/>
          </p:cNvSpPr>
          <p:nvPr/>
        </p:nvSpPr>
        <p:spPr>
          <a:xfrm>
            <a:off x="2267744" y="4005064"/>
            <a:ext cx="3528392" cy="504056"/>
          </a:xfrm>
          <a:prstGeom prst="rect">
            <a:avLst/>
          </a:prstGeom>
          <a:noFill/>
          <a:ln>
            <a:solidFill>
              <a:srgbClr val="FF0000"/>
            </a:solidFill>
            <a:miter/>
          </a:ln>
        </p:spPr>
        <p:txBody>
          <a:bodyPr vert="horz" rtlCol="0" anchor="t">
            <a:normAutofit fontScale="92500"/>
          </a:bodyPr>
          <a:lstStyle/>
          <a:p>
            <a:pPr marL="342900" marR="0" lvl="0" indent="-342900" algn="l" defTabSz="914400" rtl="0" eaLnBrk="1" fontAlgn="auto" latinLnBrk="0" hangingPunct="1">
              <a:lnSpc>
                <a:spcPct val="135000"/>
              </a:lnSpc>
              <a:spcBef>
                <a:spcPct val="20000"/>
              </a:spcBef>
              <a:spcAft>
                <a:spcPts val="0"/>
              </a:spcAft>
              <a:buClr>
                <a:schemeClr val="accent1"/>
              </a:buClr>
              <a:buSzPct val="50000"/>
              <a:buFont typeface="Wingdings 2"/>
              <a:buNone/>
              <a:tabLst/>
              <a:defRPr/>
            </a:pPr>
            <a:r>
              <a:rPr lang="zh-CN" altLang="en-US" sz="2200" b="1" dirty="0" smtClean="0">
                <a:latin typeface="Times New Roman" panose="02020603050405020304" pitchFamily="18" charset="0"/>
                <a:ea typeface="黑体" panose="02010609060101010101" pitchFamily="2" charset="-122"/>
              </a:rPr>
              <a:t>新民主主义革命的道路</a:t>
            </a:r>
            <a:endParaRPr lang="en-US" altLang="zh-CN" sz="2200" b="1" dirty="0" smtClean="0">
              <a:latin typeface="Times New Roman" panose="02020603050405020304" pitchFamily="18" charset="0"/>
              <a:ea typeface="黑体" panose="02010609060101010101" pitchFamily="2" charset="-122"/>
            </a:endParaRPr>
          </a:p>
        </p:txBody>
      </p:sp>
      <p:sp>
        <p:nvSpPr>
          <p:cNvPr id="9" name="Rectangle 3"/>
          <p:cNvSpPr txBox="1">
            <a:spLocks/>
          </p:cNvSpPr>
          <p:nvPr/>
        </p:nvSpPr>
        <p:spPr>
          <a:xfrm>
            <a:off x="2339752" y="4797152"/>
            <a:ext cx="3528392" cy="576064"/>
          </a:xfrm>
          <a:prstGeom prst="rect">
            <a:avLst/>
          </a:prstGeom>
          <a:noFill/>
          <a:ln>
            <a:solidFill>
              <a:srgbClr val="FF0000"/>
            </a:solidFill>
            <a:miter/>
          </a:ln>
        </p:spPr>
        <p:txBody>
          <a:bodyPr vert="horz" rtlCol="0" anchor="t">
            <a:normAutofit/>
          </a:bodyPr>
          <a:lstStyle/>
          <a:p>
            <a:pPr marL="342900" marR="0" lvl="0" indent="-342900" algn="l" defTabSz="914400" rtl="0" eaLnBrk="1" fontAlgn="auto" latinLnBrk="0" hangingPunct="1">
              <a:lnSpc>
                <a:spcPct val="135000"/>
              </a:lnSpc>
              <a:spcBef>
                <a:spcPct val="20000"/>
              </a:spcBef>
              <a:spcAft>
                <a:spcPts val="0"/>
              </a:spcAft>
              <a:buClr>
                <a:schemeClr val="accent1"/>
              </a:buClr>
              <a:buSzPct val="50000"/>
              <a:buFont typeface="Wingdings 2"/>
              <a:buNone/>
              <a:tabLst/>
              <a:defRPr/>
            </a:pPr>
            <a:r>
              <a:rPr lang="zh-CN" altLang="en-US" sz="2000" b="1" dirty="0" smtClean="0">
                <a:latin typeface="Times New Roman" panose="02020603050405020304" pitchFamily="18" charset="0"/>
                <a:ea typeface="黑体" panose="02010609060101010101" pitchFamily="2" charset="-122"/>
              </a:rPr>
              <a:t>新民主主义革命的基本经验</a:t>
            </a:r>
            <a:endParaRPr lang="zh-CN" altLang="en-US" sz="2000" b="1" dirty="0">
              <a:latin typeface="Times New Roman" panose="02020603050405020304" pitchFamily="18" charset="0"/>
              <a:ea typeface="黑体" panose="02010609060101010101" pitchFamily="2" charset="-122"/>
            </a:endParaRPr>
          </a:p>
        </p:txBody>
      </p:sp>
      <p:sp>
        <p:nvSpPr>
          <p:cNvPr id="10" name="Rectangle 3"/>
          <p:cNvSpPr txBox="1">
            <a:spLocks/>
          </p:cNvSpPr>
          <p:nvPr/>
        </p:nvSpPr>
        <p:spPr>
          <a:xfrm>
            <a:off x="2267744" y="3140968"/>
            <a:ext cx="3528392" cy="504056"/>
          </a:xfrm>
          <a:prstGeom prst="rect">
            <a:avLst/>
          </a:prstGeom>
          <a:noFill/>
          <a:ln>
            <a:solidFill>
              <a:srgbClr val="FF0000"/>
            </a:solidFill>
            <a:miter/>
          </a:ln>
        </p:spPr>
        <p:txBody>
          <a:bodyPr vert="horz" rtlCol="0" anchor="t">
            <a:normAutofit fontScale="92500"/>
          </a:bodyPr>
          <a:lstStyle/>
          <a:p>
            <a:pPr marL="342900" indent="-342900">
              <a:lnSpc>
                <a:spcPct val="115000"/>
              </a:lnSpc>
              <a:spcBef>
                <a:spcPct val="20000"/>
              </a:spcBef>
              <a:buClr>
                <a:schemeClr val="accent1"/>
              </a:buClr>
              <a:buSzPct val="50000"/>
            </a:pPr>
            <a:r>
              <a:rPr lang="zh-CN" altLang="en-US" sz="2200" b="1" dirty="0" smtClean="0">
                <a:latin typeface="Times New Roman" panose="02020603050405020304" pitchFamily="18" charset="0"/>
                <a:ea typeface="黑体" panose="02010609060101010101" pitchFamily="2" charset="-122"/>
              </a:rPr>
              <a:t>新民主主义革命的基本纲领</a:t>
            </a:r>
            <a:endParaRPr lang="zh-CN" altLang="en-US" sz="2200" b="1" dirty="0">
              <a:latin typeface="Times New Roman" panose="02020603050405020304" pitchFamily="18" charset="0"/>
              <a:ea typeface="黑体" panose="02010609060101010101" pitchFamily="2" charset="-122"/>
            </a:endParaRPr>
          </a:p>
        </p:txBody>
      </p:sp>
      <p:sp>
        <p:nvSpPr>
          <p:cNvPr id="11" name="左大括号 10"/>
          <p:cNvSpPr/>
          <p:nvPr/>
        </p:nvSpPr>
        <p:spPr>
          <a:xfrm>
            <a:off x="1547664" y="2564904"/>
            <a:ext cx="720080" cy="2664296"/>
          </a:xfrm>
          <a:prstGeom prst="leftBrace">
            <a:avLst/>
          </a:prstGeom>
          <a:solidFill>
            <a:schemeClr val="accent2"/>
          </a:solidFill>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p:cNvSpPr>
            <a:spLocks noGrp="1"/>
          </p:cNvSpPr>
          <p:nvPr>
            <p:ph idx="4294967295"/>
          </p:nvPr>
        </p:nvSpPr>
        <p:spPr>
          <a:xfrm>
            <a:off x="971600" y="1772816"/>
            <a:ext cx="6912768" cy="3744416"/>
          </a:xfrm>
          <a:prstGeom prst="rect">
            <a:avLst/>
          </a:prstGeom>
          <a:solidFill>
            <a:srgbClr val="FFFFFF"/>
          </a:solidFill>
          <a:ln>
            <a:solidFill>
              <a:srgbClr val="FF0000"/>
            </a:solidFill>
            <a:miter/>
          </a:ln>
        </p:spPr>
        <p:txBody>
          <a:bodyPr anchor="t">
            <a:normAutofit fontScale="92500"/>
          </a:bodyPr>
          <a:lstStyle/>
          <a:p>
            <a:pPr marL="0" indent="0" eaLnBrk="1" hangingPunct="1">
              <a:lnSpc>
                <a:spcPct val="160000"/>
              </a:lnSpc>
              <a:spcBef>
                <a:spcPts val="0"/>
              </a:spcBef>
              <a:buNone/>
            </a:pPr>
            <a:r>
              <a:rPr lang="en-US" altLang="zh-CN" sz="2800" b="1" dirty="0">
                <a:solidFill>
                  <a:srgbClr val="0000FF"/>
                </a:solidFill>
                <a:latin typeface="黑体" panose="02010609060101010101" pitchFamily="2" charset="-122"/>
                <a:ea typeface="黑体" panose="02010609060101010101" pitchFamily="2" charset="-122"/>
              </a:rPr>
              <a:t>      </a:t>
            </a:r>
            <a:r>
              <a:rPr lang="zh-CN" altLang="en-US" sz="2800" b="1" dirty="0">
                <a:solidFill>
                  <a:srgbClr val="0000FF"/>
                </a:solidFill>
                <a:latin typeface="黑体" panose="02010609060101010101" pitchFamily="2" charset="-122"/>
                <a:ea typeface="黑体" panose="02010609060101010101" pitchFamily="2" charset="-122"/>
              </a:rPr>
              <a:t>理论、路线纲领、政策，都是认识和主张，但分别是认识和主张不同层次的概括</a:t>
            </a:r>
            <a:r>
              <a:rPr lang="zh-CN" altLang="en-US" sz="2800" b="1" dirty="0" smtClean="0">
                <a:solidFill>
                  <a:srgbClr val="0000FF"/>
                </a:solidFill>
                <a:latin typeface="黑体" panose="02010609060101010101" pitchFamily="2" charset="-122"/>
                <a:ea typeface="黑体" panose="02010609060101010101" pitchFamily="2" charset="-122"/>
              </a:rPr>
              <a:t>。</a:t>
            </a:r>
            <a:endParaRPr lang="en-US" altLang="zh-CN" sz="2800" b="1" dirty="0" smtClean="0">
              <a:solidFill>
                <a:srgbClr val="0000FF"/>
              </a:solidFill>
              <a:latin typeface="黑体" panose="02010609060101010101" pitchFamily="2" charset="-122"/>
              <a:ea typeface="黑体" panose="02010609060101010101" pitchFamily="2" charset="-122"/>
            </a:endParaRPr>
          </a:p>
          <a:p>
            <a:pPr marL="0" indent="0" eaLnBrk="1" hangingPunct="1">
              <a:lnSpc>
                <a:spcPct val="160000"/>
              </a:lnSpc>
              <a:spcBef>
                <a:spcPts val="0"/>
              </a:spcBef>
              <a:buNone/>
            </a:pPr>
            <a:r>
              <a:rPr lang="zh-CN" altLang="en-US" sz="2800" b="1" dirty="0" smtClean="0">
                <a:solidFill>
                  <a:srgbClr val="0000FF"/>
                </a:solidFill>
                <a:latin typeface="黑体" panose="02010609060101010101" pitchFamily="2" charset="-122"/>
                <a:ea typeface="黑体" panose="02010609060101010101" pitchFamily="2" charset="-122"/>
              </a:rPr>
              <a:t>    </a:t>
            </a:r>
            <a:r>
              <a:rPr lang="zh-CN" altLang="en-US" sz="2800" b="1" dirty="0" smtClean="0">
                <a:solidFill>
                  <a:srgbClr val="FF0000"/>
                </a:solidFill>
                <a:latin typeface="黑体" panose="02010609060101010101" pitchFamily="2" charset="-122"/>
                <a:ea typeface="黑体" panose="02010609060101010101" pitchFamily="2" charset="-122"/>
              </a:rPr>
              <a:t>总路线是指中国共产党在特定的历史阶段，围绕当时社会主要矛盾的解决而提出的总览全局的根本指导路线。</a:t>
            </a:r>
            <a:endParaRPr lang="zh-CN" altLang="en-US" sz="2800" b="1" dirty="0">
              <a:solidFill>
                <a:srgbClr val="FF0000"/>
              </a:solidFill>
              <a:latin typeface="黑体" panose="02010609060101010101" pitchFamily="2" charset="-122"/>
              <a:ea typeface="黑体" panose="02010609060101010101" pitchFamily="2" charset="-122"/>
            </a:endParaRPr>
          </a:p>
        </p:txBody>
      </p:sp>
      <p:sp>
        <p:nvSpPr>
          <p:cNvPr id="2" name="Rectangle 5"/>
          <p:cNvSpPr/>
          <p:nvPr/>
        </p:nvSpPr>
        <p:spPr>
          <a:xfrm>
            <a:off x="755576" y="620688"/>
            <a:ext cx="6326505" cy="700405"/>
          </a:xfrm>
          <a:prstGeom prst="rect">
            <a:avLst/>
          </a:prstGeom>
          <a:solidFill>
            <a:schemeClr val="bg1"/>
          </a:solidFill>
          <a:ln w="9525" cap="flat" cmpd="sng">
            <a:solidFill>
              <a:srgbClr val="FF0000"/>
            </a:solidFill>
            <a:prstDash val="solid"/>
            <a:miter/>
            <a:headEnd type="none" w="med" len="med"/>
            <a:tailEnd type="none" w="med" len="med"/>
          </a:ln>
        </p:spPr>
        <p:txBody>
          <a:bodyPr anchor="t"/>
          <a:lstStyle/>
          <a:p>
            <a:pPr lvl="0" algn="ctr"/>
            <a:r>
              <a:rPr lang="zh-CN" altLang="en-US" sz="3600" b="1" dirty="0">
                <a:solidFill>
                  <a:srgbClr val="FF0000"/>
                </a:solidFill>
                <a:latin typeface="华文琥珀" pitchFamily="2" charset="-122"/>
                <a:ea typeface="华文琥珀" pitchFamily="2" charset="-122"/>
              </a:rPr>
              <a:t>一、新民主主义革命的总路线</a:t>
            </a: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p:cNvSpPr>
            <a:spLocks noGrp="1"/>
          </p:cNvSpPr>
          <p:nvPr>
            <p:ph idx="4294967295"/>
          </p:nvPr>
        </p:nvSpPr>
        <p:spPr>
          <a:xfrm>
            <a:off x="1115616" y="1556792"/>
            <a:ext cx="6211888" cy="2376264"/>
          </a:xfrm>
          <a:prstGeom prst="rect">
            <a:avLst/>
          </a:prstGeom>
          <a:solidFill>
            <a:srgbClr val="FFFFFF"/>
          </a:solidFill>
          <a:ln>
            <a:solidFill>
              <a:srgbClr val="FF0000"/>
            </a:solidFill>
            <a:miter/>
          </a:ln>
        </p:spPr>
        <p:txBody>
          <a:bodyPr anchor="t"/>
          <a:lstStyle/>
          <a:p>
            <a:pPr eaLnBrk="1" hangingPunct="1">
              <a:lnSpc>
                <a:spcPct val="120000"/>
              </a:lnSpc>
              <a:buNone/>
            </a:pPr>
            <a:r>
              <a:rPr lang="zh-CN" altLang="en-US" sz="2800" b="1" dirty="0" smtClean="0">
                <a:solidFill>
                  <a:srgbClr val="0000FF"/>
                </a:solidFill>
                <a:latin typeface="黑体" panose="02010609060101010101" pitchFamily="2" charset="-122"/>
                <a:ea typeface="黑体" panose="02010609060101010101" pitchFamily="2" charset="-122"/>
              </a:rPr>
              <a:t>总路线</a:t>
            </a:r>
            <a:r>
              <a:rPr lang="zh-CN" altLang="en-US" sz="2800" b="1" dirty="0">
                <a:solidFill>
                  <a:srgbClr val="0000FF"/>
                </a:solidFill>
                <a:latin typeface="黑体" panose="02010609060101010101" pitchFamily="2" charset="-122"/>
                <a:ea typeface="黑体" panose="02010609060101010101" pitchFamily="2" charset="-122"/>
              </a:rPr>
              <a:t>，具有时间和空间的双重意义，指总体性的、全局性的路线。</a:t>
            </a:r>
          </a:p>
          <a:p>
            <a:pPr eaLnBrk="1" hangingPunct="1">
              <a:lnSpc>
                <a:spcPct val="120000"/>
              </a:lnSpc>
              <a:buNone/>
            </a:pPr>
            <a:r>
              <a:rPr lang="zh-CN" altLang="en-US" sz="2800" b="1" dirty="0">
                <a:solidFill>
                  <a:srgbClr val="0000FF"/>
                </a:solidFill>
                <a:latin typeface="黑体" panose="02010609060101010101" pitchFamily="2" charset="-122"/>
                <a:ea typeface="黑体" panose="02010609060101010101" pitchFamily="2" charset="-122"/>
              </a:rPr>
              <a:t>    </a:t>
            </a:r>
            <a:r>
              <a:rPr lang="zh-CN" altLang="en-US" sz="2800" b="1" dirty="0">
                <a:solidFill>
                  <a:srgbClr val="FF0000"/>
                </a:solidFill>
                <a:latin typeface="黑体" panose="02010609060101010101" pitchFamily="2" charset="-122"/>
                <a:ea typeface="黑体" panose="02010609060101010101" pitchFamily="2" charset="-122"/>
              </a:rPr>
              <a:t>新民主主义革命的总路线是新民主主义革命的总图样 </a:t>
            </a:r>
            <a:endParaRPr lang="en-US" altLang="zh-CN" sz="1800" b="1" dirty="0">
              <a:solidFill>
                <a:srgbClr val="FF0000"/>
              </a:solidFill>
              <a:latin typeface="黑体" panose="02010609060101010101" pitchFamily="2" charset="-122"/>
              <a:ea typeface="黑体" panose="02010609060101010101" pitchFamily="2" charset="-122"/>
            </a:endParaRPr>
          </a:p>
        </p:txBody>
      </p:sp>
    </p:spTree>
    <p:extLst>
      <p:ext uri="{BB962C8B-B14F-4D97-AF65-F5344CB8AC3E}">
        <p14:creationId xmlns="" xmlns:p14="http://schemas.microsoft.com/office/powerpoint/2010/main" val="4207150074"/>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p:cNvSpPr>
            <a:spLocks noGrp="1"/>
          </p:cNvSpPr>
          <p:nvPr>
            <p:ph idx="4294967295"/>
          </p:nvPr>
        </p:nvSpPr>
        <p:spPr>
          <a:xfrm>
            <a:off x="323528" y="1268760"/>
            <a:ext cx="5508625" cy="4508500"/>
          </a:xfrm>
          <a:prstGeom prst="rect">
            <a:avLst/>
          </a:prstGeom>
          <a:solidFill>
            <a:srgbClr val="FFFFFF"/>
          </a:solidFill>
          <a:ln>
            <a:solidFill>
              <a:srgbClr val="FF0000"/>
            </a:solidFill>
            <a:miter/>
          </a:ln>
        </p:spPr>
        <p:txBody>
          <a:bodyPr anchor="t"/>
          <a:lstStyle/>
          <a:p>
            <a:pPr eaLnBrk="1" hangingPunct="1">
              <a:lnSpc>
                <a:spcPct val="120000"/>
              </a:lnSpc>
              <a:buNone/>
            </a:pPr>
            <a:r>
              <a:rPr lang="en-US" altLang="zh-CN" sz="2400" b="1" dirty="0">
                <a:latin typeface="楷体_GB2312" pitchFamily="49" charset="-122"/>
                <a:ea typeface="楷体_GB2312" pitchFamily="49" charset="-122"/>
              </a:rPr>
              <a:t>     </a:t>
            </a:r>
            <a:r>
              <a:rPr lang="en-US" altLang="zh-CN" sz="2800" b="1" dirty="0">
                <a:solidFill>
                  <a:srgbClr val="0000FF"/>
                </a:solidFill>
                <a:latin typeface="黑体" panose="02010609060101010101" pitchFamily="2" charset="-122"/>
                <a:ea typeface="黑体" panose="02010609060101010101" pitchFamily="2" charset="-122"/>
              </a:rPr>
              <a:t>1939</a:t>
            </a:r>
            <a:r>
              <a:rPr lang="zh-CN" altLang="en-US" sz="2800" b="1" dirty="0">
                <a:solidFill>
                  <a:srgbClr val="0000FF"/>
                </a:solidFill>
                <a:latin typeface="黑体" panose="02010609060101010101" pitchFamily="2" charset="-122"/>
                <a:ea typeface="黑体" panose="02010609060101010101" pitchFamily="2" charset="-122"/>
              </a:rPr>
              <a:t>年，毛泽东在</a:t>
            </a:r>
            <a:r>
              <a:rPr lang="en-US" altLang="zh-CN" sz="2800" b="1" dirty="0">
                <a:solidFill>
                  <a:srgbClr val="FF0000"/>
                </a:solidFill>
                <a:latin typeface="黑体" panose="02010609060101010101" pitchFamily="2" charset="-122"/>
                <a:ea typeface="黑体" panose="02010609060101010101" pitchFamily="2" charset="-122"/>
              </a:rPr>
              <a:t>《</a:t>
            </a:r>
            <a:r>
              <a:rPr lang="zh-CN" altLang="en-US" sz="2800" b="1" dirty="0">
                <a:solidFill>
                  <a:srgbClr val="FF0000"/>
                </a:solidFill>
                <a:latin typeface="黑体" panose="02010609060101010101" pitchFamily="2" charset="-122"/>
                <a:ea typeface="黑体" panose="02010609060101010101" pitchFamily="2" charset="-122"/>
              </a:rPr>
              <a:t>中国</a:t>
            </a:r>
            <a:r>
              <a:rPr lang="zh-CN" altLang="en-US" sz="2800" b="1" dirty="0" smtClean="0">
                <a:solidFill>
                  <a:srgbClr val="FF0000"/>
                </a:solidFill>
                <a:latin typeface="黑体" panose="02010609060101010101" pitchFamily="2" charset="-122"/>
                <a:ea typeface="黑体" panose="02010609060101010101" pitchFamily="2" charset="-122"/>
              </a:rPr>
              <a:t>革命与中国共产党</a:t>
            </a:r>
            <a:r>
              <a:rPr lang="en-US" altLang="zh-CN" sz="2800" b="1" dirty="0">
                <a:solidFill>
                  <a:srgbClr val="FF0000"/>
                </a:solidFill>
                <a:latin typeface="黑体" panose="02010609060101010101" pitchFamily="2" charset="-122"/>
                <a:ea typeface="黑体" panose="02010609060101010101" pitchFamily="2" charset="-122"/>
              </a:rPr>
              <a:t>》</a:t>
            </a:r>
            <a:r>
              <a:rPr lang="zh-CN" altLang="en-US" sz="2800" b="1" dirty="0">
                <a:solidFill>
                  <a:srgbClr val="0000FF"/>
                </a:solidFill>
                <a:latin typeface="黑体" panose="02010609060101010101" pitchFamily="2" charset="-122"/>
                <a:ea typeface="黑体" panose="02010609060101010101" pitchFamily="2" charset="-122"/>
              </a:rPr>
              <a:t>一文中，第一次提出了新民主主义革命的</a:t>
            </a:r>
            <a:r>
              <a:rPr lang="zh-CN" altLang="en-US" sz="2800" b="1" dirty="0" smtClean="0">
                <a:solidFill>
                  <a:srgbClr val="0000FF"/>
                </a:solidFill>
                <a:latin typeface="黑体" panose="02010609060101010101" pitchFamily="2" charset="-122"/>
                <a:ea typeface="黑体" panose="02010609060101010101" pitchFamily="2" charset="-122"/>
              </a:rPr>
              <a:t>概念。</a:t>
            </a:r>
            <a:endParaRPr lang="en-US" altLang="zh-CN" sz="2800" b="1" dirty="0" smtClean="0">
              <a:solidFill>
                <a:srgbClr val="0000FF"/>
              </a:solidFill>
              <a:latin typeface="黑体" panose="02010609060101010101" pitchFamily="2" charset="-122"/>
              <a:ea typeface="黑体" panose="02010609060101010101" pitchFamily="2" charset="-122"/>
            </a:endParaRPr>
          </a:p>
          <a:p>
            <a:pPr eaLnBrk="1" hangingPunct="1">
              <a:lnSpc>
                <a:spcPct val="120000"/>
              </a:lnSpc>
              <a:buNone/>
            </a:pPr>
            <a:r>
              <a:rPr lang="en-US" altLang="zh-CN" sz="2400" b="1" dirty="0" smtClean="0">
                <a:solidFill>
                  <a:srgbClr val="0000FF"/>
                </a:solidFill>
                <a:latin typeface="Times New Roman" panose="02020603050405020304" pitchFamily="18" charset="0"/>
                <a:ea typeface="黑体" panose="02010609060101010101" pitchFamily="2" charset="-122"/>
              </a:rPr>
              <a:t>        </a:t>
            </a:r>
            <a:r>
              <a:rPr lang="en-US" altLang="zh-CN" sz="2400" b="1" dirty="0">
                <a:solidFill>
                  <a:srgbClr val="0000FF"/>
                </a:solidFill>
                <a:latin typeface="Times New Roman" panose="02020603050405020304" pitchFamily="18" charset="0"/>
                <a:ea typeface="黑体" panose="02010609060101010101" pitchFamily="2" charset="-122"/>
              </a:rPr>
              <a:t>1948</a:t>
            </a:r>
            <a:r>
              <a:rPr lang="zh-CN" altLang="en-US" sz="2400" b="1" dirty="0">
                <a:solidFill>
                  <a:srgbClr val="0000FF"/>
                </a:solidFill>
                <a:latin typeface="Times New Roman" panose="02020603050405020304" pitchFamily="18" charset="0"/>
                <a:ea typeface="黑体" panose="02010609060101010101" pitchFamily="2" charset="-122"/>
              </a:rPr>
              <a:t>年，完整</a:t>
            </a:r>
            <a:r>
              <a:rPr lang="zh-CN" altLang="en-US" sz="2400" b="1" dirty="0" smtClean="0">
                <a:solidFill>
                  <a:srgbClr val="0000FF"/>
                </a:solidFill>
                <a:latin typeface="Times New Roman" panose="02020603050405020304" pitchFamily="18" charset="0"/>
                <a:ea typeface="黑体" panose="02010609060101010101" pitchFamily="2" charset="-122"/>
              </a:rPr>
              <a:t>表述了总路线的内容。</a:t>
            </a:r>
            <a:endParaRPr lang="zh-CN" altLang="en-US" sz="2400" b="1" dirty="0">
              <a:solidFill>
                <a:srgbClr val="0000FF"/>
              </a:solidFill>
              <a:latin typeface="Times New Roman" panose="02020603050405020304" pitchFamily="18" charset="0"/>
              <a:ea typeface="黑体" panose="02010609060101010101" pitchFamily="2" charset="-122"/>
            </a:endParaRPr>
          </a:p>
          <a:p>
            <a:pPr eaLnBrk="1" hangingPunct="1">
              <a:lnSpc>
                <a:spcPct val="120000"/>
              </a:lnSpc>
              <a:buNone/>
            </a:pPr>
            <a:r>
              <a:rPr lang="zh-CN" altLang="en-US" sz="2400" b="1" dirty="0">
                <a:solidFill>
                  <a:srgbClr val="0000FF"/>
                </a:solidFill>
                <a:latin typeface="Times New Roman" panose="02020603050405020304" pitchFamily="18" charset="0"/>
                <a:ea typeface="黑体" panose="02010609060101010101" pitchFamily="2" charset="-122"/>
              </a:rPr>
              <a:t>新民主主义革命的总路线是：</a:t>
            </a:r>
            <a:r>
              <a:rPr lang="zh-CN" altLang="en-US" sz="2400" b="1" dirty="0">
                <a:solidFill>
                  <a:srgbClr val="FF0000"/>
                </a:solidFill>
                <a:latin typeface="隶书" pitchFamily="49" charset="-122"/>
                <a:ea typeface="隶书" pitchFamily="49" charset="-122"/>
              </a:rPr>
              <a:t>无产阶级领导的，人民大众的，反对帝国主义、封建主义和官僚资本主义的革命</a:t>
            </a:r>
            <a:r>
              <a:rPr lang="zh-CN" altLang="en-US" sz="2400" b="1" dirty="0">
                <a:solidFill>
                  <a:srgbClr val="0000FF"/>
                </a:solidFill>
                <a:latin typeface="Times New Roman" panose="02020603050405020304" pitchFamily="18" charset="0"/>
                <a:ea typeface="黑体" panose="02010609060101010101" pitchFamily="2" charset="-122"/>
              </a:rPr>
              <a:t>。</a:t>
            </a:r>
          </a:p>
          <a:p>
            <a:pPr eaLnBrk="1" hangingPunct="1">
              <a:lnSpc>
                <a:spcPct val="90000"/>
              </a:lnSpc>
              <a:spcBef>
                <a:spcPct val="0"/>
              </a:spcBef>
              <a:buNone/>
            </a:pPr>
            <a:endParaRPr lang="zh-CN" altLang="en-US" sz="700" b="1" dirty="0">
              <a:latin typeface="楷体_GB2312" pitchFamily="49" charset="-122"/>
              <a:ea typeface="楷体_GB2312" pitchFamily="49" charset="-122"/>
            </a:endParaRPr>
          </a:p>
          <a:p>
            <a:pPr eaLnBrk="1" hangingPunct="1">
              <a:lnSpc>
                <a:spcPct val="90000"/>
              </a:lnSpc>
              <a:buNone/>
            </a:pPr>
            <a:r>
              <a:rPr lang="en-US" altLang="zh-CN" sz="1800" b="1" dirty="0">
                <a:solidFill>
                  <a:srgbClr val="0000FF"/>
                </a:solidFill>
                <a:latin typeface="黑体" panose="02010609060101010101" pitchFamily="2" charset="-122"/>
                <a:ea typeface="黑体" panose="02010609060101010101" pitchFamily="2" charset="-122"/>
              </a:rPr>
              <a:t>——1948</a:t>
            </a:r>
            <a:r>
              <a:rPr lang="zh-CN" altLang="en-US" sz="1800" b="1" dirty="0">
                <a:solidFill>
                  <a:srgbClr val="0000FF"/>
                </a:solidFill>
                <a:latin typeface="黑体" panose="02010609060101010101" pitchFamily="2" charset="-122"/>
                <a:ea typeface="黑体" panose="02010609060101010101" pitchFamily="2" charset="-122"/>
              </a:rPr>
              <a:t>年</a:t>
            </a:r>
            <a:r>
              <a:rPr lang="en-US" altLang="zh-CN" sz="1800" b="1" dirty="0">
                <a:solidFill>
                  <a:srgbClr val="0000FF"/>
                </a:solidFill>
                <a:latin typeface="黑体" panose="02010609060101010101" pitchFamily="2" charset="-122"/>
                <a:ea typeface="黑体" panose="02010609060101010101" pitchFamily="2" charset="-122"/>
              </a:rPr>
              <a:t>《</a:t>
            </a:r>
            <a:r>
              <a:rPr lang="zh-CN" altLang="en-US" sz="1800" b="1" dirty="0">
                <a:solidFill>
                  <a:srgbClr val="0000FF"/>
                </a:solidFill>
                <a:latin typeface="黑体" panose="02010609060101010101" pitchFamily="2" charset="-122"/>
                <a:ea typeface="黑体" panose="02010609060101010101" pitchFamily="2" charset="-122"/>
              </a:rPr>
              <a:t>在晋绥干部会议上的讲话</a:t>
            </a:r>
            <a:r>
              <a:rPr lang="en-US" altLang="zh-CN" sz="1800" b="1" dirty="0">
                <a:solidFill>
                  <a:srgbClr val="0000FF"/>
                </a:solidFill>
                <a:latin typeface="黑体" panose="02010609060101010101" pitchFamily="2" charset="-122"/>
                <a:ea typeface="黑体" panose="02010609060101010101" pitchFamily="2" charset="-122"/>
              </a:rPr>
              <a:t>》</a:t>
            </a:r>
          </a:p>
        </p:txBody>
      </p:sp>
      <p:pic>
        <p:nvPicPr>
          <p:cNvPr id="25602" name="Picture 4" descr="200212270914_252115"/>
          <p:cNvPicPr>
            <a:picLocks noChangeAspect="1"/>
          </p:cNvPicPr>
          <p:nvPr/>
        </p:nvPicPr>
        <p:blipFill>
          <a:blip r:embed="rId2" cstate="print"/>
          <a:stretch>
            <a:fillRect/>
          </a:stretch>
        </p:blipFill>
        <p:spPr>
          <a:xfrm>
            <a:off x="6083935" y="1405573"/>
            <a:ext cx="2792413" cy="3662362"/>
          </a:xfrm>
          <a:prstGeom prst="rect">
            <a:avLst/>
          </a:prstGeom>
          <a:noFill/>
          <a:ln w="9525">
            <a:noFill/>
          </a:ln>
        </p:spPr>
      </p:pic>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idx="4294967295"/>
          </p:nvPr>
        </p:nvSpPr>
        <p:spPr>
          <a:xfrm>
            <a:off x="899592" y="548680"/>
            <a:ext cx="6381750" cy="754062"/>
          </a:xfrm>
          <a:prstGeom prst="rect">
            <a:avLst/>
          </a:prstGeom>
          <a:solidFill>
            <a:srgbClr val="FFFFFF"/>
          </a:solidFill>
          <a:ln>
            <a:solidFill>
              <a:srgbClr val="FF0000"/>
            </a:solidFill>
            <a:miter/>
          </a:ln>
        </p:spPr>
        <p:txBody>
          <a:bodyPr anchor="t">
            <a:normAutofit/>
          </a:bodyPr>
          <a:lstStyle/>
          <a:p>
            <a:pPr eaLnBrk="1" hangingPunct="1"/>
            <a:r>
              <a:rPr lang="zh-CN" altLang="en-US" sz="3200" b="1" dirty="0">
                <a:solidFill>
                  <a:srgbClr val="FF0000"/>
                </a:solidFill>
                <a:latin typeface="华文琥珀" pitchFamily="2" charset="-122"/>
                <a:ea typeface="华文琥珀" pitchFamily="2" charset="-122"/>
              </a:rPr>
              <a:t>（一）新民主主义革命的对象</a:t>
            </a:r>
          </a:p>
        </p:txBody>
      </p:sp>
      <p:sp>
        <p:nvSpPr>
          <p:cNvPr id="195588" name="Text Box 4"/>
          <p:cNvSpPr txBox="1"/>
          <p:nvPr/>
        </p:nvSpPr>
        <p:spPr>
          <a:xfrm>
            <a:off x="1476375" y="2416493"/>
            <a:ext cx="6192838" cy="893762"/>
          </a:xfrm>
          <a:prstGeom prst="rect">
            <a:avLst/>
          </a:prstGeom>
          <a:solidFill>
            <a:schemeClr val="bg1"/>
          </a:solidFill>
          <a:ln w="9525" cap="flat" cmpd="sng">
            <a:solidFill>
              <a:srgbClr val="FF0000"/>
            </a:solidFill>
            <a:prstDash val="solid"/>
            <a:miter/>
            <a:headEnd type="none" w="med" len="med"/>
            <a:tailEnd type="none" w="med" len="med"/>
          </a:ln>
        </p:spPr>
        <p:txBody>
          <a:bodyPr anchor="t">
            <a:spAutoFit/>
          </a:bodyPr>
          <a:lstStyle/>
          <a:p>
            <a:pPr lvl="0"/>
            <a:r>
              <a:rPr lang="zh-CN" altLang="en-US" sz="2800" b="1" dirty="0">
                <a:solidFill>
                  <a:srgbClr val="FF0000"/>
                </a:solidFill>
                <a:latin typeface="Arial" panose="020B0604020202020204" pitchFamily="34" charset="0"/>
                <a:ea typeface="黑体" panose="02010609060101010101" pitchFamily="2" charset="-122"/>
              </a:rPr>
              <a:t>近代中国社会的性质：</a:t>
            </a:r>
            <a:r>
              <a:rPr lang="zh-CN" altLang="en-US" sz="2400" b="1" dirty="0">
                <a:latin typeface="黑体" panose="02010609060101010101" pitchFamily="2" charset="-122"/>
                <a:ea typeface="黑体" panose="02010609060101010101" pitchFamily="2" charset="-122"/>
              </a:rPr>
              <a:t>半殖民地半封建社会</a:t>
            </a:r>
          </a:p>
        </p:txBody>
      </p:sp>
      <p:sp>
        <p:nvSpPr>
          <p:cNvPr id="195589" name="AutoShape 5"/>
          <p:cNvSpPr/>
          <p:nvPr/>
        </p:nvSpPr>
        <p:spPr>
          <a:xfrm>
            <a:off x="2411413" y="2924175"/>
            <a:ext cx="433387" cy="720725"/>
          </a:xfrm>
          <a:prstGeom prst="downArrow">
            <a:avLst>
              <a:gd name="adj1" fmla="val 50000"/>
              <a:gd name="adj2" fmla="val 41528"/>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lvl="0"/>
            <a:endParaRPr lang="zh-CN" altLang="en-US" dirty="0">
              <a:latin typeface="Arial" panose="020B0604020202020204" pitchFamily="34" charset="0"/>
              <a:ea typeface="黑体" panose="02010609060101010101" pitchFamily="2" charset="-122"/>
            </a:endParaRPr>
          </a:p>
        </p:txBody>
      </p:sp>
      <p:sp>
        <p:nvSpPr>
          <p:cNvPr id="195590" name="Text Box 6"/>
          <p:cNvSpPr txBox="1"/>
          <p:nvPr/>
        </p:nvSpPr>
        <p:spPr>
          <a:xfrm>
            <a:off x="1908175" y="3644900"/>
            <a:ext cx="1295400" cy="831850"/>
          </a:xfrm>
          <a:prstGeom prst="rect">
            <a:avLst/>
          </a:prstGeom>
          <a:solidFill>
            <a:schemeClr val="bg1"/>
          </a:solidFill>
          <a:ln w="9525" cap="flat" cmpd="sng">
            <a:solidFill>
              <a:srgbClr val="FF0000"/>
            </a:solidFill>
            <a:prstDash val="solid"/>
            <a:miter/>
            <a:headEnd type="none" w="med" len="med"/>
            <a:tailEnd type="none" w="med" len="med"/>
          </a:ln>
        </p:spPr>
        <p:txBody>
          <a:bodyPr anchor="t">
            <a:spAutoFit/>
          </a:bodyPr>
          <a:lstStyle/>
          <a:p>
            <a:pPr lvl="0"/>
            <a:r>
              <a:rPr lang="zh-CN" altLang="en-US" sz="2400" b="1" dirty="0">
                <a:latin typeface="黑体" panose="02010609060101010101" pitchFamily="2" charset="-122"/>
                <a:ea typeface="黑体" panose="02010609060101010101" pitchFamily="2" charset="-122"/>
              </a:rPr>
              <a:t>社会主</a:t>
            </a:r>
          </a:p>
          <a:p>
            <a:pPr lvl="0"/>
            <a:r>
              <a:rPr lang="zh-CN" altLang="en-US" sz="2400" b="1" dirty="0">
                <a:latin typeface="黑体" panose="02010609060101010101" pitchFamily="2" charset="-122"/>
                <a:ea typeface="黑体" panose="02010609060101010101" pitchFamily="2" charset="-122"/>
              </a:rPr>
              <a:t>要矛盾</a:t>
            </a:r>
          </a:p>
        </p:txBody>
      </p:sp>
      <p:sp>
        <p:nvSpPr>
          <p:cNvPr id="195591" name="AutoShape 7"/>
          <p:cNvSpPr/>
          <p:nvPr/>
        </p:nvSpPr>
        <p:spPr>
          <a:xfrm>
            <a:off x="3276600" y="3500438"/>
            <a:ext cx="71438" cy="1079500"/>
          </a:xfrm>
          <a:prstGeom prst="leftBrace">
            <a:avLst>
              <a:gd name="adj1" fmla="val 125505"/>
              <a:gd name="adj2" fmla="val 50000"/>
            </a:avLst>
          </a:prstGeom>
          <a:noFill/>
          <a:ln w="9525" cap="flat" cmpd="sng">
            <a:solidFill>
              <a:schemeClr val="tx1"/>
            </a:solidFill>
            <a:prstDash val="solid"/>
            <a:round/>
            <a:headEnd type="none" w="med" len="med"/>
            <a:tailEnd type="none" w="med" len="med"/>
          </a:ln>
        </p:spPr>
        <p:txBody>
          <a:bodyPr wrap="none" anchor="ctr"/>
          <a:lstStyle/>
          <a:p>
            <a:pPr lvl="0" algn="ctr"/>
            <a:endParaRPr lang="zh-CN" altLang="zh-CN" dirty="0">
              <a:solidFill>
                <a:schemeClr val="tx1"/>
              </a:solidFill>
              <a:latin typeface="Arial" panose="020B0604020202020204" pitchFamily="34" charset="0"/>
              <a:ea typeface="宋体" panose="02010600030101010101" pitchFamily="2" charset="-122"/>
            </a:endParaRPr>
          </a:p>
        </p:txBody>
      </p:sp>
      <p:sp>
        <p:nvSpPr>
          <p:cNvPr id="195592" name="Text Box 8"/>
          <p:cNvSpPr txBox="1"/>
          <p:nvPr/>
        </p:nvSpPr>
        <p:spPr>
          <a:xfrm>
            <a:off x="3563938" y="3448050"/>
            <a:ext cx="3870325" cy="466725"/>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pPr lvl="0"/>
            <a:r>
              <a:rPr lang="zh-CN" altLang="en-US" sz="2400" b="1" dirty="0">
                <a:latin typeface="黑体" panose="02010609060101010101" pitchFamily="2" charset="-122"/>
                <a:ea typeface="黑体" panose="02010609060101010101" pitchFamily="2" charset="-122"/>
              </a:rPr>
              <a:t>帝国主义和中华民族的矛盾</a:t>
            </a:r>
          </a:p>
        </p:txBody>
      </p:sp>
      <p:sp>
        <p:nvSpPr>
          <p:cNvPr id="195593" name="Text Box 9"/>
          <p:cNvSpPr txBox="1"/>
          <p:nvPr/>
        </p:nvSpPr>
        <p:spPr>
          <a:xfrm>
            <a:off x="3563938" y="4240213"/>
            <a:ext cx="3870325" cy="466725"/>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pPr lvl="0"/>
            <a:r>
              <a:rPr lang="zh-CN" altLang="en-US" sz="2400" b="1" dirty="0">
                <a:latin typeface="黑体" panose="02010609060101010101" pitchFamily="2" charset="-122"/>
                <a:ea typeface="黑体" panose="02010609060101010101" pitchFamily="2" charset="-122"/>
              </a:rPr>
              <a:t>封建主义和人民大众的矛盾</a:t>
            </a:r>
          </a:p>
        </p:txBody>
      </p:sp>
      <p:sp>
        <p:nvSpPr>
          <p:cNvPr id="195594" name="AutoShape 10"/>
          <p:cNvSpPr/>
          <p:nvPr/>
        </p:nvSpPr>
        <p:spPr>
          <a:xfrm>
            <a:off x="2411413" y="4508500"/>
            <a:ext cx="433387" cy="720725"/>
          </a:xfrm>
          <a:prstGeom prst="downArrow">
            <a:avLst>
              <a:gd name="adj1" fmla="val 50000"/>
              <a:gd name="adj2" fmla="val 41528"/>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lvl="0"/>
            <a:endParaRPr lang="zh-CN" altLang="en-US" dirty="0">
              <a:latin typeface="Arial" panose="020B0604020202020204" pitchFamily="34" charset="0"/>
              <a:ea typeface="黑体" panose="02010609060101010101" pitchFamily="2" charset="-122"/>
            </a:endParaRPr>
          </a:p>
        </p:txBody>
      </p:sp>
      <p:sp>
        <p:nvSpPr>
          <p:cNvPr id="195595" name="Text Box 11"/>
          <p:cNvSpPr txBox="1"/>
          <p:nvPr/>
        </p:nvSpPr>
        <p:spPr>
          <a:xfrm>
            <a:off x="1220470" y="5229225"/>
            <a:ext cx="6913563" cy="955675"/>
          </a:xfrm>
          <a:prstGeom prst="rect">
            <a:avLst/>
          </a:prstGeom>
          <a:solidFill>
            <a:schemeClr val="bg1"/>
          </a:solidFill>
          <a:ln w="9525" cap="flat" cmpd="sng">
            <a:solidFill>
              <a:srgbClr val="FF0000"/>
            </a:solidFill>
            <a:prstDash val="solid"/>
            <a:miter/>
            <a:headEnd type="none" w="med" len="med"/>
            <a:tailEnd type="none" w="med" len="med"/>
          </a:ln>
        </p:spPr>
        <p:txBody>
          <a:bodyPr anchor="t">
            <a:spAutoFit/>
          </a:bodyPr>
          <a:lstStyle/>
          <a:p>
            <a:pPr lvl="0"/>
            <a:r>
              <a:rPr lang="zh-CN" altLang="en-US" sz="2800" b="1" dirty="0">
                <a:solidFill>
                  <a:srgbClr val="FF0000"/>
                </a:solidFill>
                <a:latin typeface="Arial" panose="020B0604020202020204" pitchFamily="34" charset="0"/>
                <a:ea typeface="黑体" panose="02010609060101010101" pitchFamily="2" charset="-122"/>
              </a:rPr>
              <a:t>中国革命的主要敌人：</a:t>
            </a:r>
            <a:r>
              <a:rPr lang="zh-CN" altLang="en-US" sz="2800" b="1" dirty="0">
                <a:latin typeface="Arial" panose="020B0604020202020204" pitchFamily="34" charset="0"/>
                <a:ea typeface="黑体" panose="02010609060101010101" pitchFamily="2" charset="-122"/>
              </a:rPr>
              <a:t>帝国主义、封建主义和官僚资本主义</a:t>
            </a:r>
          </a:p>
        </p:txBody>
      </p:sp>
      <p:sp>
        <p:nvSpPr>
          <p:cNvPr id="195596" name="Text Box 12"/>
          <p:cNvSpPr txBox="1"/>
          <p:nvPr/>
        </p:nvSpPr>
        <p:spPr>
          <a:xfrm>
            <a:off x="1476375" y="1700213"/>
            <a:ext cx="5975350" cy="5791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anchor="t">
            <a:spAutoFit/>
          </a:bodyPr>
          <a:lstStyle/>
          <a:p>
            <a:pPr lvl="0"/>
            <a:r>
              <a:rPr lang="zh-CN" altLang="en-US" sz="3200" b="1" kern="0" dirty="0">
                <a:solidFill>
                  <a:srgbClr val="0000FF"/>
                </a:solidFill>
                <a:latin typeface="Times New Roman" panose="02020603050405020304" pitchFamily="18" charset="0"/>
                <a:ea typeface="黑体" panose="02010609060101010101" pitchFamily="2" charset="-122"/>
                <a:cs typeface="+mj-cs"/>
              </a:rPr>
              <a:t>分清敌友是中国革命的首要问题</a:t>
            </a:r>
            <a:endParaRPr lang="zh-CN" altLang="en-US" sz="3200" b="1" dirty="0">
              <a:latin typeface="Times New Roman" panose="02020603050405020304" pitchFamily="18" charset="0"/>
              <a:ea typeface="黑体" panose="02010609060101010101" pitchFamily="2" charset="-122"/>
            </a:endParaRPr>
          </a:p>
        </p:txBody>
      </p:sp>
      <p:pic>
        <p:nvPicPr>
          <p:cNvPr id="195597" name="Picture 13" descr="j0115834"/>
          <p:cNvPicPr>
            <a:picLocks noChangeAspect="1"/>
          </p:cNvPicPr>
          <p:nvPr/>
        </p:nvPicPr>
        <p:blipFill>
          <a:blip r:embed="rId2" cstate="print"/>
          <a:stretch>
            <a:fillRect/>
          </a:stretch>
        </p:blipFill>
        <p:spPr>
          <a:xfrm>
            <a:off x="1116013" y="1844675"/>
            <a:ext cx="287337" cy="287338"/>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597"/>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5596"/>
                                        </p:tgtEl>
                                        <p:attrNameLst>
                                          <p:attrName>style.visibility</p:attrName>
                                        </p:attrNameLst>
                                      </p:cBhvr>
                                      <p:to>
                                        <p:strVal val="visible"/>
                                      </p:to>
                                    </p:set>
                                    <p:animEffect transition="in" filter="wipe(left)">
                                      <p:cBhvr>
                                        <p:cTn id="10" dur="500"/>
                                        <p:tgtEl>
                                          <p:spTgt spid="195596"/>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32" fill="hold" grpId="0" nodeType="clickEffect">
                                  <p:stCondLst>
                                    <p:cond delay="0"/>
                                  </p:stCondLst>
                                  <p:childTnLst>
                                    <p:set>
                                      <p:cBhvr>
                                        <p:cTn id="14" dur="1" fill="hold">
                                          <p:stCondLst>
                                            <p:cond delay="0"/>
                                          </p:stCondLst>
                                        </p:cTn>
                                        <p:tgtEl>
                                          <p:spTgt spid="195588"/>
                                        </p:tgtEl>
                                        <p:attrNameLst>
                                          <p:attrName>style.visibility</p:attrName>
                                        </p:attrNameLst>
                                      </p:cBhvr>
                                      <p:to>
                                        <p:strVal val="visible"/>
                                      </p:to>
                                    </p:set>
                                    <p:animEffect transition="in" filter="diamond(out)">
                                      <p:cBhvr>
                                        <p:cTn id="15" dur="1000"/>
                                        <p:tgtEl>
                                          <p:spTgt spid="19558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95589"/>
                                        </p:tgtEl>
                                        <p:attrNameLst>
                                          <p:attrName>style.visibility</p:attrName>
                                        </p:attrNameLst>
                                      </p:cBhvr>
                                      <p:to>
                                        <p:strVal val="visible"/>
                                      </p:to>
                                    </p:set>
                                    <p:animEffect transition="in" filter="wipe(up)">
                                      <p:cBhvr>
                                        <p:cTn id="20" dur="500"/>
                                        <p:tgtEl>
                                          <p:spTgt spid="195589"/>
                                        </p:tgtEl>
                                      </p:cBhvr>
                                    </p:animEffect>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195590"/>
                                        </p:tgtEl>
                                        <p:attrNameLst>
                                          <p:attrName>style.visibility</p:attrName>
                                        </p:attrNameLst>
                                      </p:cBhvr>
                                      <p:to>
                                        <p:strVal val="visible"/>
                                      </p:to>
                                    </p:set>
                                    <p:animEffect transition="in" filter="dissolve">
                                      <p:cBhvr>
                                        <p:cTn id="24" dur="500"/>
                                        <p:tgtEl>
                                          <p:spTgt spid="19559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5591"/>
                                        </p:tgtEl>
                                        <p:attrNameLst>
                                          <p:attrName>style.visibility</p:attrName>
                                        </p:attrNameLst>
                                      </p:cBhvr>
                                      <p:to>
                                        <p:strVal val="visible"/>
                                      </p:to>
                                    </p:set>
                                  </p:childTnLst>
                                </p:cTn>
                              </p:par>
                            </p:childTnLst>
                          </p:cTn>
                        </p:par>
                        <p:par>
                          <p:cTn id="29" fill="hold">
                            <p:stCondLst>
                              <p:cond delay="0"/>
                            </p:stCondLst>
                            <p:childTnLst>
                              <p:par>
                                <p:cTn id="30" presetID="22" presetClass="entr" presetSubtype="8" fill="hold" grpId="0" nodeType="afterEffect">
                                  <p:stCondLst>
                                    <p:cond delay="0"/>
                                  </p:stCondLst>
                                  <p:childTnLst>
                                    <p:set>
                                      <p:cBhvr>
                                        <p:cTn id="31" dur="1" fill="hold">
                                          <p:stCondLst>
                                            <p:cond delay="0"/>
                                          </p:stCondLst>
                                        </p:cTn>
                                        <p:tgtEl>
                                          <p:spTgt spid="195592"/>
                                        </p:tgtEl>
                                        <p:attrNameLst>
                                          <p:attrName>style.visibility</p:attrName>
                                        </p:attrNameLst>
                                      </p:cBhvr>
                                      <p:to>
                                        <p:strVal val="visible"/>
                                      </p:to>
                                    </p:set>
                                    <p:animEffect transition="in" filter="wipe(left)">
                                      <p:cBhvr>
                                        <p:cTn id="32" dur="500"/>
                                        <p:tgtEl>
                                          <p:spTgt spid="195592"/>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95593"/>
                                        </p:tgtEl>
                                        <p:attrNameLst>
                                          <p:attrName>style.visibility</p:attrName>
                                        </p:attrNameLst>
                                      </p:cBhvr>
                                      <p:to>
                                        <p:strVal val="visible"/>
                                      </p:to>
                                    </p:set>
                                    <p:animEffect transition="in" filter="wipe(left)">
                                      <p:cBhvr>
                                        <p:cTn id="36" dur="500"/>
                                        <p:tgtEl>
                                          <p:spTgt spid="19559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95594"/>
                                        </p:tgtEl>
                                        <p:attrNameLst>
                                          <p:attrName>style.visibility</p:attrName>
                                        </p:attrNameLst>
                                      </p:cBhvr>
                                      <p:to>
                                        <p:strVal val="visible"/>
                                      </p:to>
                                    </p:set>
                                    <p:animEffect transition="in" filter="wipe(up)">
                                      <p:cBhvr>
                                        <p:cTn id="41" dur="500"/>
                                        <p:tgtEl>
                                          <p:spTgt spid="195594"/>
                                        </p:tgtEl>
                                      </p:cBhvr>
                                    </p:animEffect>
                                  </p:childTnLst>
                                </p:cTn>
                              </p:par>
                            </p:childTnLst>
                          </p:cTn>
                        </p:par>
                        <p:par>
                          <p:cTn id="42" fill="hold">
                            <p:stCondLst>
                              <p:cond delay="500"/>
                            </p:stCondLst>
                            <p:childTnLst>
                              <p:par>
                                <p:cTn id="43" presetID="8" presetClass="entr" presetSubtype="32" fill="hold" grpId="0" nodeType="afterEffect">
                                  <p:stCondLst>
                                    <p:cond delay="0"/>
                                  </p:stCondLst>
                                  <p:childTnLst>
                                    <p:set>
                                      <p:cBhvr>
                                        <p:cTn id="44" dur="1" fill="hold">
                                          <p:stCondLst>
                                            <p:cond delay="0"/>
                                          </p:stCondLst>
                                        </p:cTn>
                                        <p:tgtEl>
                                          <p:spTgt spid="195595"/>
                                        </p:tgtEl>
                                        <p:attrNameLst>
                                          <p:attrName>style.visibility</p:attrName>
                                        </p:attrNameLst>
                                      </p:cBhvr>
                                      <p:to>
                                        <p:strVal val="visible"/>
                                      </p:to>
                                    </p:set>
                                    <p:animEffect transition="in" filter="diamond(out)">
                                      <p:cBhvr>
                                        <p:cTn id="45" dur="1000"/>
                                        <p:tgtEl>
                                          <p:spTgt spid="195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8" grpId="0" bldLvl="0" animBg="1"/>
      <p:bldP spid="195589" grpId="0" animBg="1"/>
      <p:bldP spid="195590" grpId="0" bldLvl="0" animBg="1"/>
      <p:bldP spid="195591" grpId="0" animBg="1"/>
      <p:bldP spid="195592" grpId="0" bldLvl="0" animBg="1"/>
      <p:bldP spid="195593" grpId="0" bldLvl="0" animBg="1"/>
      <p:bldP spid="195594" grpId="0" animBg="1"/>
      <p:bldP spid="195595" grpId="0" bldLvl="0" animBg="1"/>
      <p:bldP spid="195596"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idx="4294967295"/>
          </p:nvPr>
        </p:nvSpPr>
        <p:spPr>
          <a:xfrm>
            <a:off x="1835696" y="692696"/>
            <a:ext cx="6381750" cy="754062"/>
          </a:xfrm>
          <a:prstGeom prst="rect">
            <a:avLst/>
          </a:prstGeom>
          <a:solidFill>
            <a:srgbClr val="FFFFFF"/>
          </a:solidFill>
          <a:ln>
            <a:solidFill>
              <a:srgbClr val="FF0000"/>
            </a:solidFill>
            <a:miter/>
          </a:ln>
        </p:spPr>
        <p:txBody>
          <a:bodyPr anchor="t"/>
          <a:lstStyle/>
          <a:p>
            <a:pPr eaLnBrk="1" hangingPunct="1"/>
            <a:r>
              <a:rPr lang="zh-CN" altLang="en-US" sz="3600" b="1" dirty="0">
                <a:solidFill>
                  <a:srgbClr val="FF0000"/>
                </a:solidFill>
                <a:latin typeface="华文琥珀" pitchFamily="2" charset="-122"/>
                <a:ea typeface="华文琥珀" pitchFamily="2" charset="-122"/>
              </a:rPr>
              <a:t>（一）新民主主义革命的对象</a:t>
            </a:r>
          </a:p>
        </p:txBody>
      </p:sp>
      <p:sp>
        <p:nvSpPr>
          <p:cNvPr id="195596" name="Text Box 12"/>
          <p:cNvSpPr txBox="1"/>
          <p:nvPr/>
        </p:nvSpPr>
        <p:spPr>
          <a:xfrm>
            <a:off x="1422530" y="1700213"/>
            <a:ext cx="5975350" cy="5791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anchor="t">
            <a:spAutoFit/>
          </a:bodyPr>
          <a:lstStyle/>
          <a:p>
            <a:r>
              <a:rPr lang="zh-CN" altLang="en-US" sz="3200" b="1" kern="0" dirty="0">
                <a:solidFill>
                  <a:srgbClr val="0000FF"/>
                </a:solidFill>
                <a:latin typeface="Times New Roman" panose="02020603050405020304" pitchFamily="18" charset="0"/>
                <a:ea typeface="黑体" panose="02010609060101010101" pitchFamily="2" charset="-122"/>
              </a:rPr>
              <a:t>分清敌友是中国革命的首要问题</a:t>
            </a:r>
            <a:endParaRPr lang="zh-CN" altLang="en-US" sz="3200" b="1" dirty="0">
              <a:solidFill>
                <a:prstClr val="black"/>
              </a:solidFill>
              <a:latin typeface="Times New Roman" panose="02020603050405020304" pitchFamily="18" charset="0"/>
              <a:ea typeface="黑体" panose="02010609060101010101" pitchFamily="2" charset="-122"/>
            </a:endParaRPr>
          </a:p>
        </p:txBody>
      </p:sp>
      <p:pic>
        <p:nvPicPr>
          <p:cNvPr id="195597" name="Picture 13" descr="j0115834"/>
          <p:cNvPicPr>
            <a:picLocks noChangeAspect="1"/>
          </p:cNvPicPr>
          <p:nvPr/>
        </p:nvPicPr>
        <p:blipFill>
          <a:blip r:embed="rId2" cstate="print"/>
          <a:stretch>
            <a:fillRect/>
          </a:stretch>
        </p:blipFill>
        <p:spPr>
          <a:xfrm>
            <a:off x="907078" y="1846104"/>
            <a:ext cx="287337" cy="287338"/>
          </a:xfrm>
          <a:prstGeom prst="rect">
            <a:avLst/>
          </a:prstGeom>
          <a:noFill/>
          <a:ln w="9525">
            <a:noFill/>
          </a:ln>
        </p:spPr>
      </p:pic>
      <p:sp>
        <p:nvSpPr>
          <p:cNvPr id="2" name="矩形 1"/>
          <p:cNvSpPr/>
          <p:nvPr/>
        </p:nvSpPr>
        <p:spPr>
          <a:xfrm>
            <a:off x="2286000" y="3105835"/>
            <a:ext cx="4572000" cy="1200329"/>
          </a:xfrm>
          <a:prstGeom prst="rect">
            <a:avLst/>
          </a:prstGeom>
          <a:solidFill>
            <a:schemeClr val="accent6">
              <a:lumMod val="20000"/>
              <a:lumOff val="80000"/>
            </a:schemeClr>
          </a:solidFill>
        </p:spPr>
        <p:txBody>
          <a:bodyPr>
            <a:spAutoFit/>
          </a:bodyPr>
          <a:lstStyle/>
          <a:p>
            <a:r>
              <a:rPr lang="zh-CN" altLang="en-US" sz="2400" dirty="0">
                <a:solidFill>
                  <a:srgbClr val="000000"/>
                </a:solidFill>
                <a:latin typeface="+mj-ea"/>
                <a:ea typeface="+mj-ea"/>
              </a:rPr>
              <a:t>“谁是我们的敌人，谁是我们的朋友？这个问题是革命的首要问题。”</a:t>
            </a:r>
            <a:endParaRPr lang="zh-CN" altLang="en-US" sz="2400" dirty="0">
              <a:latin typeface="+mj-ea"/>
              <a:ea typeface="+mj-ea"/>
            </a:endParaRPr>
          </a:p>
        </p:txBody>
      </p:sp>
      <p:sp>
        <p:nvSpPr>
          <p:cNvPr id="3" name="矩形 2"/>
          <p:cNvSpPr/>
          <p:nvPr/>
        </p:nvSpPr>
        <p:spPr>
          <a:xfrm>
            <a:off x="3779912" y="4941168"/>
            <a:ext cx="2954655" cy="369332"/>
          </a:xfrm>
          <a:prstGeom prst="rect">
            <a:avLst/>
          </a:prstGeom>
          <a:solidFill>
            <a:schemeClr val="accent6">
              <a:lumMod val="20000"/>
              <a:lumOff val="80000"/>
            </a:schemeClr>
          </a:solidFill>
        </p:spPr>
        <p:txBody>
          <a:bodyPr wrap="none">
            <a:spAutoFit/>
          </a:bodyPr>
          <a:lstStyle/>
          <a:p>
            <a:r>
              <a:rPr lang="en-US" altLang="zh-CN" dirty="0">
                <a:solidFill>
                  <a:srgbClr val="FF0000"/>
                </a:solidFill>
                <a:latin typeface="微软雅黑"/>
              </a:rPr>
              <a:t>《</a:t>
            </a:r>
            <a:r>
              <a:rPr lang="zh-CN" altLang="en-US" dirty="0">
                <a:solidFill>
                  <a:srgbClr val="FF0000"/>
                </a:solidFill>
                <a:latin typeface="微软雅黑"/>
              </a:rPr>
              <a:t>中国社会各阶级的分析</a:t>
            </a:r>
            <a:r>
              <a:rPr lang="en-US" altLang="zh-CN" dirty="0">
                <a:solidFill>
                  <a:srgbClr val="FF0000"/>
                </a:solidFill>
                <a:latin typeface="微软雅黑"/>
              </a:rPr>
              <a:t>》</a:t>
            </a:r>
            <a:endParaRPr lang="zh-CN" altLang="en-US" dirty="0">
              <a:solidFill>
                <a:srgbClr val="FF0000"/>
              </a:solidFill>
            </a:endParaRPr>
          </a:p>
        </p:txBody>
      </p:sp>
    </p:spTree>
    <p:extLst>
      <p:ext uri="{BB962C8B-B14F-4D97-AF65-F5344CB8AC3E}">
        <p14:creationId xmlns="" xmlns:p14="http://schemas.microsoft.com/office/powerpoint/2010/main" val="179491358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597"/>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5596"/>
                                        </p:tgtEl>
                                        <p:attrNameLst>
                                          <p:attrName>style.visibility</p:attrName>
                                        </p:attrNameLst>
                                      </p:cBhvr>
                                      <p:to>
                                        <p:strVal val="visible"/>
                                      </p:to>
                                    </p:set>
                                    <p:animEffect transition="in" filter="wipe(left)">
                                      <p:cBhvr>
                                        <p:cTn id="10" dur="500"/>
                                        <p:tgtEl>
                                          <p:spTgt spid="195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96"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3"/>
          <p:cNvSpPr txBox="1"/>
          <p:nvPr/>
        </p:nvSpPr>
        <p:spPr>
          <a:xfrm>
            <a:off x="1023938"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8675" name="Text Box 4"/>
          <p:cNvSpPr txBox="1"/>
          <p:nvPr/>
        </p:nvSpPr>
        <p:spPr>
          <a:xfrm>
            <a:off x="1095375" y="1706563"/>
            <a:ext cx="184150" cy="366712"/>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8676" name="Text Box 5"/>
          <p:cNvSpPr txBox="1"/>
          <p:nvPr/>
        </p:nvSpPr>
        <p:spPr>
          <a:xfrm>
            <a:off x="1239838" y="20669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8677" name="Text Box 6"/>
          <p:cNvSpPr txBox="1"/>
          <p:nvPr/>
        </p:nvSpPr>
        <p:spPr>
          <a:xfrm>
            <a:off x="1600200"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8679" name="Text Box 8"/>
          <p:cNvSpPr txBox="1"/>
          <p:nvPr/>
        </p:nvSpPr>
        <p:spPr>
          <a:xfrm>
            <a:off x="4427538" y="47974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pic>
        <p:nvPicPr>
          <p:cNvPr id="28681" name="Picture 10" descr="u=2180954370,4238991803&amp;fm=21&amp;gp=0"/>
          <p:cNvPicPr>
            <a:picLocks noChangeAspect="1"/>
          </p:cNvPicPr>
          <p:nvPr/>
        </p:nvPicPr>
        <p:blipFill>
          <a:blip r:embed="rId2" cstate="print"/>
          <a:stretch>
            <a:fillRect/>
          </a:stretch>
        </p:blipFill>
        <p:spPr>
          <a:xfrm>
            <a:off x="683568" y="1556792"/>
            <a:ext cx="4032250" cy="3744913"/>
          </a:xfrm>
          <a:prstGeom prst="rect">
            <a:avLst/>
          </a:prstGeom>
          <a:noFill/>
          <a:ln w="9525">
            <a:noFill/>
          </a:ln>
        </p:spPr>
      </p:pic>
      <p:sp>
        <p:nvSpPr>
          <p:cNvPr id="10" name="Text Box 8"/>
          <p:cNvSpPr txBox="1"/>
          <p:nvPr/>
        </p:nvSpPr>
        <p:spPr>
          <a:xfrm>
            <a:off x="827584" y="439130"/>
            <a:ext cx="6574236" cy="584775"/>
          </a:xfrm>
          <a:prstGeom prst="rect">
            <a:avLst/>
          </a:prstGeom>
          <a:solidFill>
            <a:schemeClr val="bg1"/>
          </a:solidFill>
          <a:ln w="9525">
            <a:solidFill>
              <a:srgbClr val="FF0000"/>
            </a:solidFill>
          </a:ln>
        </p:spPr>
        <p:txBody>
          <a:bodyPr wrap="none" anchor="t">
            <a:spAutoFit/>
          </a:bodyPr>
          <a:lstStyle/>
          <a:p>
            <a:r>
              <a:rPr lang="en-US" altLang="zh-CN" sz="3200" b="1" dirty="0">
                <a:solidFill>
                  <a:srgbClr val="00B050"/>
                </a:solidFill>
                <a:latin typeface="隶书"/>
                <a:ea typeface="隶书"/>
              </a:rPr>
              <a:t>1</a:t>
            </a:r>
            <a:r>
              <a:rPr lang="zh-CN" altLang="en-US" sz="3200" b="1" dirty="0">
                <a:solidFill>
                  <a:srgbClr val="00B050"/>
                </a:solidFill>
                <a:latin typeface="隶书"/>
                <a:ea typeface="隶书"/>
              </a:rPr>
              <a:t>、帝国主义是中国革命的首要对象</a:t>
            </a:r>
          </a:p>
        </p:txBody>
      </p:sp>
    </p:spTree>
    <p:extLst>
      <p:ext uri="{BB962C8B-B14F-4D97-AF65-F5344CB8AC3E}">
        <p14:creationId xmlns="" xmlns:p14="http://schemas.microsoft.com/office/powerpoint/2010/main" val="18029637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4"/>
          <p:cNvSpPr txBox="1"/>
          <p:nvPr/>
        </p:nvSpPr>
        <p:spPr>
          <a:xfrm>
            <a:off x="1023938"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7651" name="Text Box 5"/>
          <p:cNvSpPr txBox="1"/>
          <p:nvPr/>
        </p:nvSpPr>
        <p:spPr>
          <a:xfrm>
            <a:off x="1095375" y="1706563"/>
            <a:ext cx="184150" cy="366712"/>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7652" name="Text Box 6"/>
          <p:cNvSpPr txBox="1"/>
          <p:nvPr/>
        </p:nvSpPr>
        <p:spPr>
          <a:xfrm>
            <a:off x="1239838" y="20669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7653" name="Text Box 7"/>
          <p:cNvSpPr txBox="1"/>
          <p:nvPr/>
        </p:nvSpPr>
        <p:spPr>
          <a:xfrm>
            <a:off x="1600200"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7655" name="Text Box 9"/>
          <p:cNvSpPr txBox="1"/>
          <p:nvPr/>
        </p:nvSpPr>
        <p:spPr>
          <a:xfrm>
            <a:off x="4427538" y="47974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 name="矩形 1"/>
          <p:cNvSpPr/>
          <p:nvPr/>
        </p:nvSpPr>
        <p:spPr>
          <a:xfrm>
            <a:off x="683568" y="1277250"/>
            <a:ext cx="2016224" cy="3884140"/>
          </a:xfrm>
          <a:prstGeom prst="rect">
            <a:avLst/>
          </a:prstGeom>
          <a:solidFill>
            <a:schemeClr val="accent6">
              <a:lumMod val="20000"/>
              <a:lumOff val="80000"/>
            </a:schemeClr>
          </a:solidFill>
          <a:ln>
            <a:solidFill>
              <a:schemeClr val="accent1"/>
            </a:solidFill>
          </a:ln>
        </p:spPr>
        <p:txBody>
          <a:bodyPr wrap="square">
            <a:spAutoFit/>
          </a:bodyPr>
          <a:lstStyle/>
          <a:p>
            <a:pPr lvl="0">
              <a:lnSpc>
                <a:spcPct val="110000"/>
              </a:lnSpc>
              <a:spcBef>
                <a:spcPct val="20000"/>
              </a:spcBef>
              <a:buClr>
                <a:srgbClr val="477AB1"/>
              </a:buClr>
              <a:buSzPct val="50000"/>
            </a:pPr>
            <a:r>
              <a:rPr lang="zh-CN" altLang="en-US" sz="2800" b="1" dirty="0" smtClean="0">
                <a:solidFill>
                  <a:srgbClr val="FF0000"/>
                </a:solidFill>
                <a:ea typeface="黑体" panose="02010609060101010101" pitchFamily="2" charset="-122"/>
              </a:rPr>
              <a:t>    帝国主义</a:t>
            </a:r>
            <a:r>
              <a:rPr lang="zh-CN" altLang="en-US" sz="2800" b="1" dirty="0">
                <a:solidFill>
                  <a:srgbClr val="FF0000"/>
                </a:solidFill>
                <a:ea typeface="黑体" panose="02010609060101010101" pitchFamily="2" charset="-122"/>
              </a:rPr>
              <a:t>的民族压迫为最大的压迫</a:t>
            </a:r>
            <a:r>
              <a:rPr lang="zh-CN" altLang="en-US" sz="2800" b="1" dirty="0">
                <a:solidFill>
                  <a:srgbClr val="0000FF"/>
                </a:solidFill>
                <a:ea typeface="黑体" panose="02010609060101010101" pitchFamily="2" charset="-122"/>
              </a:rPr>
              <a:t>，因而帝国主义是中国人民的第一个和最凶恶的敌人</a:t>
            </a:r>
            <a:r>
              <a:rPr lang="zh-CN" altLang="en-US" sz="2800" b="1" dirty="0" smtClean="0">
                <a:solidFill>
                  <a:srgbClr val="0000FF"/>
                </a:solidFill>
                <a:ea typeface="黑体" panose="02010609060101010101" pitchFamily="2" charset="-122"/>
              </a:rPr>
              <a:t>。</a:t>
            </a:r>
            <a:endParaRPr lang="en-US" altLang="zh-CN" sz="2800" b="1" dirty="0" smtClean="0">
              <a:solidFill>
                <a:srgbClr val="0000FF"/>
              </a:solidFill>
              <a:ea typeface="黑体" panose="02010609060101010101" pitchFamily="2" charset="-122"/>
            </a:endParaRPr>
          </a:p>
        </p:txBody>
      </p:sp>
      <p:pic>
        <p:nvPicPr>
          <p:cNvPr id="11" name="Picture 10" descr="u=2180954370,4238991803&amp;fm=21&amp;gp=0"/>
          <p:cNvPicPr>
            <a:picLocks noChangeAspect="1"/>
          </p:cNvPicPr>
          <p:nvPr/>
        </p:nvPicPr>
        <p:blipFill>
          <a:blip r:embed="rId2" cstate="print"/>
          <a:stretch>
            <a:fillRect/>
          </a:stretch>
        </p:blipFill>
        <p:spPr>
          <a:xfrm>
            <a:off x="3347864" y="1889919"/>
            <a:ext cx="4032250" cy="3744913"/>
          </a:xfrm>
          <a:prstGeom prst="rect">
            <a:avLst/>
          </a:prstGeom>
          <a:noFill/>
          <a:ln w="9525">
            <a:noFill/>
          </a:ln>
        </p:spPr>
      </p:pic>
    </p:spTree>
    <p:extLst>
      <p:ext uri="{BB962C8B-B14F-4D97-AF65-F5344CB8AC3E}">
        <p14:creationId xmlns="" xmlns:p14="http://schemas.microsoft.com/office/powerpoint/2010/main" val="572877136"/>
      </p:ext>
    </p:extLst>
  </p:cSld>
  <p:clrMapOvr>
    <a:masterClrMapping/>
  </p:clrMapOvr>
  <p:transition>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4"/>
          <p:cNvSpPr txBox="1"/>
          <p:nvPr/>
        </p:nvSpPr>
        <p:spPr>
          <a:xfrm>
            <a:off x="1023938"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7651" name="Text Box 5"/>
          <p:cNvSpPr txBox="1"/>
          <p:nvPr/>
        </p:nvSpPr>
        <p:spPr>
          <a:xfrm>
            <a:off x="1095375" y="1706563"/>
            <a:ext cx="184150" cy="366712"/>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7652" name="Text Box 6"/>
          <p:cNvSpPr txBox="1"/>
          <p:nvPr/>
        </p:nvSpPr>
        <p:spPr>
          <a:xfrm>
            <a:off x="1239838" y="20669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7653" name="Text Box 7"/>
          <p:cNvSpPr txBox="1"/>
          <p:nvPr/>
        </p:nvSpPr>
        <p:spPr>
          <a:xfrm>
            <a:off x="1600200"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7655" name="Text Box 9"/>
          <p:cNvSpPr txBox="1"/>
          <p:nvPr/>
        </p:nvSpPr>
        <p:spPr>
          <a:xfrm>
            <a:off x="4427538" y="47974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 name="矩形 2"/>
          <p:cNvSpPr/>
          <p:nvPr/>
        </p:nvSpPr>
        <p:spPr>
          <a:xfrm>
            <a:off x="395536" y="188640"/>
            <a:ext cx="3116014" cy="6196120"/>
          </a:xfrm>
          <a:prstGeom prst="rect">
            <a:avLst/>
          </a:prstGeom>
          <a:solidFill>
            <a:schemeClr val="bg1"/>
          </a:solidFill>
          <a:ln>
            <a:solidFill>
              <a:schemeClr val="accent1"/>
            </a:solidFill>
          </a:ln>
        </p:spPr>
        <p:txBody>
          <a:bodyPr wrap="square">
            <a:spAutoFit/>
          </a:bodyPr>
          <a:lstStyle/>
          <a:p>
            <a:pPr>
              <a:lnSpc>
                <a:spcPct val="110000"/>
              </a:lnSpc>
              <a:spcBef>
                <a:spcPct val="20000"/>
              </a:spcBef>
              <a:buClr>
                <a:srgbClr val="477AB1"/>
              </a:buClr>
              <a:buSzPct val="50000"/>
            </a:pPr>
            <a:r>
              <a:rPr lang="en-US" altLang="zh-CN" sz="2800" b="1" kern="100" dirty="0" smtClean="0">
                <a:solidFill>
                  <a:prstClr val="black"/>
                </a:solidFill>
                <a:latin typeface="黑体" pitchFamily="49" charset="-122"/>
                <a:ea typeface="黑体" pitchFamily="49" charset="-122"/>
                <a:cs typeface="Times New Roman"/>
              </a:rPr>
              <a:t>    </a:t>
            </a:r>
            <a:r>
              <a:rPr lang="zh-CN" altLang="zh-CN" sz="2800" b="1" kern="100" dirty="0" smtClean="0">
                <a:solidFill>
                  <a:prstClr val="black"/>
                </a:solidFill>
                <a:latin typeface="黑体" pitchFamily="49" charset="-122"/>
                <a:ea typeface="黑体" pitchFamily="49" charset="-122"/>
                <a:cs typeface="Times New Roman"/>
              </a:rPr>
              <a:t>帝国主义</a:t>
            </a:r>
            <a:r>
              <a:rPr lang="zh-CN" altLang="zh-CN" sz="2800" b="1" kern="100" dirty="0">
                <a:solidFill>
                  <a:prstClr val="black"/>
                </a:solidFill>
                <a:latin typeface="黑体" pitchFamily="49" charset="-122"/>
                <a:ea typeface="黑体" pitchFamily="49" charset="-122"/>
                <a:cs typeface="Times New Roman"/>
              </a:rPr>
              <a:t>发动的一系列侵略战争，给中华民族带来了无尽的战乱和灾难，使近代中国由独立的封建社会变成半殖民地半封建的社会。帝国主义是中国社会进步和发展的最大障碍，是近代中国贫困落后和一切灾难祸害的总根源</a:t>
            </a:r>
            <a:r>
              <a:rPr lang="zh-CN" altLang="zh-CN" sz="2800" b="1" kern="100" dirty="0" smtClean="0">
                <a:solidFill>
                  <a:prstClr val="black"/>
                </a:solidFill>
                <a:latin typeface="黑体" pitchFamily="49" charset="-122"/>
                <a:ea typeface="黑体" pitchFamily="49" charset="-122"/>
                <a:cs typeface="Times New Roman"/>
              </a:rPr>
              <a:t>。</a:t>
            </a:r>
            <a:endParaRPr lang="zh-CN" altLang="en-US" sz="2800" b="1" dirty="0">
              <a:solidFill>
                <a:srgbClr val="0000FF"/>
              </a:solidFill>
              <a:latin typeface="黑体" pitchFamily="49" charset="-122"/>
              <a:ea typeface="黑体" pitchFamily="49" charset="-122"/>
            </a:endParaRPr>
          </a:p>
        </p:txBody>
      </p:sp>
      <p:pic>
        <p:nvPicPr>
          <p:cNvPr id="9" name="Picture 9" descr="u=3802774680,3512007540&amp;fm=23&amp;gp=0"/>
          <p:cNvPicPr>
            <a:picLocks noChangeAspect="1"/>
          </p:cNvPicPr>
          <p:nvPr/>
        </p:nvPicPr>
        <p:blipFill>
          <a:blip r:embed="rId2" cstate="print"/>
          <a:stretch>
            <a:fillRect/>
          </a:stretch>
        </p:blipFill>
        <p:spPr>
          <a:xfrm>
            <a:off x="4139952" y="908720"/>
            <a:ext cx="2735263" cy="3744912"/>
          </a:xfrm>
          <a:prstGeom prst="rect">
            <a:avLst/>
          </a:prstGeom>
          <a:noFill/>
          <a:ln w="9525">
            <a:noFill/>
          </a:ln>
        </p:spPr>
      </p:pic>
      <p:sp>
        <p:nvSpPr>
          <p:cNvPr id="10" name="矩形 9"/>
          <p:cNvSpPr/>
          <p:nvPr/>
        </p:nvSpPr>
        <p:spPr>
          <a:xfrm>
            <a:off x="3707904" y="5085184"/>
            <a:ext cx="4572000" cy="954107"/>
          </a:xfrm>
          <a:prstGeom prst="rect">
            <a:avLst/>
          </a:prstGeom>
        </p:spPr>
        <p:txBody>
          <a:bodyPr>
            <a:spAutoFit/>
          </a:bodyPr>
          <a:lstStyle/>
          <a:p>
            <a:r>
              <a:rPr lang="zh-CN" altLang="zh-CN" sz="2800" b="1" dirty="0">
                <a:solidFill>
                  <a:srgbClr val="FF0000"/>
                </a:solidFill>
                <a:ea typeface="黑体" panose="02010609060101010101" pitchFamily="2" charset="-122"/>
              </a:rPr>
              <a:t>推翻帝国主义的压迫是中国走向独立和富强的前提。</a:t>
            </a:r>
            <a:endParaRPr lang="zh-CN" altLang="en-US" sz="2800" b="1" dirty="0">
              <a:solidFill>
                <a:srgbClr val="FF0000"/>
              </a:solidFill>
              <a:ea typeface="黑体" panose="02010609060101010101" pitchFamily="2" charset="-122"/>
            </a:endParaRPr>
          </a:p>
        </p:txBody>
      </p:sp>
    </p:spTree>
    <p:extLst>
      <p:ext uri="{BB962C8B-B14F-4D97-AF65-F5344CB8AC3E}">
        <p14:creationId xmlns="" xmlns:p14="http://schemas.microsoft.com/office/powerpoint/2010/main" val="1979909902"/>
      </p:ext>
    </p:extLst>
  </p:cSld>
  <p:clrMapOvr>
    <a:masterClrMapping/>
  </p:clrMapOvr>
  <p:transition>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1" name="Rectangle 3"/>
          <p:cNvSpPr>
            <a:spLocks noGrp="1"/>
          </p:cNvSpPr>
          <p:nvPr>
            <p:ph idx="4294967295"/>
          </p:nvPr>
        </p:nvSpPr>
        <p:spPr>
          <a:xfrm>
            <a:off x="703263" y="1946210"/>
            <a:ext cx="2860625" cy="4435118"/>
          </a:xfrm>
          <a:prstGeom prst="rect">
            <a:avLst/>
          </a:prstGeom>
          <a:solidFill>
            <a:schemeClr val="bg1"/>
          </a:solidFill>
          <a:ln>
            <a:solidFill>
              <a:srgbClr val="FF0000"/>
            </a:solidFill>
            <a:miter/>
          </a:ln>
        </p:spPr>
        <p:txBody>
          <a:bodyPr anchor="t">
            <a:noAutofit/>
          </a:bodyPr>
          <a:lstStyle/>
          <a:p>
            <a:pPr marL="0" indent="0" eaLnBrk="1" hangingPunct="1">
              <a:lnSpc>
                <a:spcPct val="110000"/>
              </a:lnSpc>
              <a:buNone/>
            </a:pPr>
            <a:r>
              <a:rPr lang="zh-CN" altLang="en-US" sz="2800" b="1" dirty="0" smtClean="0">
                <a:solidFill>
                  <a:srgbClr val="0000FF"/>
                </a:solidFill>
                <a:latin typeface="黑体" pitchFamily="49" charset="-122"/>
                <a:ea typeface="黑体" pitchFamily="49" charset="-122"/>
              </a:rPr>
              <a:t>在</a:t>
            </a:r>
            <a:r>
              <a:rPr lang="zh-CN" altLang="en-US" sz="2800" b="1" dirty="0">
                <a:solidFill>
                  <a:srgbClr val="0000FF"/>
                </a:solidFill>
                <a:latin typeface="黑体" pitchFamily="49" charset="-122"/>
                <a:ea typeface="黑体" pitchFamily="49" charset="-122"/>
              </a:rPr>
              <a:t>整个新民主主义革命时期，反对帝国主义的斗争是贯穿始终的。其中主要包括民族解放战争和国内战争两种反帝形式。</a:t>
            </a:r>
          </a:p>
          <a:p>
            <a:pPr eaLnBrk="1" hangingPunct="1">
              <a:lnSpc>
                <a:spcPct val="110000"/>
              </a:lnSpc>
              <a:buNone/>
            </a:pPr>
            <a:r>
              <a:rPr lang="zh-CN" altLang="en-US" sz="2800" b="1" dirty="0">
                <a:latin typeface="黑体" pitchFamily="49" charset="-122"/>
                <a:ea typeface="黑体" pitchFamily="49" charset="-122"/>
              </a:rPr>
              <a:t>    </a:t>
            </a:r>
          </a:p>
        </p:txBody>
      </p:sp>
      <p:sp>
        <p:nvSpPr>
          <p:cNvPr id="27650" name="Text Box 4"/>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27652" name="Text Box 6"/>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27653" name="Text Box 7"/>
          <p:cNvSpPr txBox="1"/>
          <p:nvPr/>
        </p:nvSpPr>
        <p:spPr>
          <a:xfrm>
            <a:off x="1600200"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27655" name="Text Box 9"/>
          <p:cNvSpPr txBox="1"/>
          <p:nvPr/>
        </p:nvSpPr>
        <p:spPr>
          <a:xfrm>
            <a:off x="4427538" y="47974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pic>
        <p:nvPicPr>
          <p:cNvPr id="1026" name="Picture 2" descr="https://timgsa.baidu.com/timg?image&amp;quality=80&amp;size=b9999_10000&amp;sec=1603641371625&amp;di=f66c62ed6204426639e3cac3d436a7c0&amp;imgtype=0&amp;src=http%3A%2F%2Fwww.people.com.cn%2Fmediafile%2Fpic%2F20150827%2F77%2F16733838238086412269.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779912" y="61912"/>
            <a:ext cx="5238750" cy="2971801"/>
          </a:xfrm>
          <a:prstGeom prst="rect">
            <a:avLst/>
          </a:prstGeom>
          <a:noFill/>
          <a:extLst>
            <a:ext uri="{909E8E84-426E-40DD-AFC4-6F175D3DCCD1}">
              <a14:hiddenFill xmlns="" xmlns:a14="http://schemas.microsoft.com/office/drawing/2010/main">
                <a:solidFill>
                  <a:srgbClr val="FFFFFF"/>
                </a:solidFill>
              </a14:hiddenFill>
            </a:ext>
          </a:extLst>
        </p:spPr>
      </p:pic>
      <p:pic>
        <p:nvPicPr>
          <p:cNvPr id="1028" name="Picture 4" descr="https://ss3.bdstatic.com/70cFv8Sh_Q1YnxGkpoWK1HF6hhy/it/u=4049065591,712617486&amp;fm=26&amp;gp=0.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635896" y="3211512"/>
            <a:ext cx="4762500" cy="3171826"/>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6611">
                                            <p:bg/>
                                          </p:spTgt>
                                        </p:tgtEl>
                                        <p:attrNameLst>
                                          <p:attrName>style.visibility</p:attrName>
                                        </p:attrNameLst>
                                      </p:cBhvr>
                                      <p:to>
                                        <p:strVal val="visible"/>
                                      </p:to>
                                    </p:set>
                                    <p:animEffect transition="in" filter="dissolve">
                                      <p:cBhvr>
                                        <p:cTn id="7" dur="500"/>
                                        <p:tgtEl>
                                          <p:spTgt spid="196611">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6611">
                                            <p:txEl>
                                              <p:pRg st="0" end="0"/>
                                            </p:txEl>
                                          </p:spTgt>
                                        </p:tgtEl>
                                        <p:attrNameLst>
                                          <p:attrName>style.visibility</p:attrName>
                                        </p:attrNameLst>
                                      </p:cBhvr>
                                      <p:to>
                                        <p:strVal val="visible"/>
                                      </p:to>
                                    </p:set>
                                    <p:animEffect transition="in" filter="dissolve">
                                      <p:cBhvr>
                                        <p:cTn id="12" dur="500"/>
                                        <p:tgtEl>
                                          <p:spTgt spid="1966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6611">
                                            <p:txEl>
                                              <p:pRg st="1" end="1"/>
                                            </p:txEl>
                                          </p:spTgt>
                                        </p:tgtEl>
                                        <p:attrNameLst>
                                          <p:attrName>style.visibility</p:attrName>
                                        </p:attrNameLst>
                                      </p:cBhvr>
                                      <p:to>
                                        <p:strVal val="visible"/>
                                      </p:to>
                                    </p:set>
                                    <p:animEffect transition="in" filter="dissolve">
                                      <p:cBhvr>
                                        <p:cTn id="17" dur="500"/>
                                        <p:tgtEl>
                                          <p:spTgt spid="1966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3"/>
          <p:cNvSpPr txBox="1"/>
          <p:nvPr/>
        </p:nvSpPr>
        <p:spPr>
          <a:xfrm>
            <a:off x="1023938"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3" name="Text Box 4"/>
          <p:cNvSpPr txBox="1"/>
          <p:nvPr/>
        </p:nvSpPr>
        <p:spPr>
          <a:xfrm>
            <a:off x="5292725" y="184467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4" name="Text Box 5"/>
          <p:cNvSpPr txBox="1"/>
          <p:nvPr/>
        </p:nvSpPr>
        <p:spPr>
          <a:xfrm>
            <a:off x="1239838" y="20669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5" name="Text Box 6"/>
          <p:cNvSpPr txBox="1"/>
          <p:nvPr/>
        </p:nvSpPr>
        <p:spPr>
          <a:xfrm>
            <a:off x="1600200"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31431" name="Text Box 7"/>
          <p:cNvSpPr txBox="1"/>
          <p:nvPr/>
        </p:nvSpPr>
        <p:spPr>
          <a:xfrm>
            <a:off x="1042988" y="908050"/>
            <a:ext cx="7415813" cy="584775"/>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r>
              <a:rPr lang="en-US" altLang="zh-CN" sz="3200" b="1" dirty="0">
                <a:solidFill>
                  <a:srgbClr val="00B050"/>
                </a:solidFill>
                <a:latin typeface="隶书"/>
                <a:ea typeface="隶书"/>
              </a:rPr>
              <a:t>2</a:t>
            </a:r>
            <a:r>
              <a:rPr lang="zh-CN" altLang="en-US" sz="3200" b="1" dirty="0">
                <a:solidFill>
                  <a:srgbClr val="00B050"/>
                </a:solidFill>
                <a:latin typeface="隶书"/>
                <a:ea typeface="隶书"/>
              </a:rPr>
              <a:t>、封建主义是中国社会进步的主要障碍</a:t>
            </a:r>
          </a:p>
        </p:txBody>
      </p:sp>
      <p:sp>
        <p:nvSpPr>
          <p:cNvPr id="30727" name="Text Box 8"/>
          <p:cNvSpPr txBox="1"/>
          <p:nvPr/>
        </p:nvSpPr>
        <p:spPr>
          <a:xfrm>
            <a:off x="1455738" y="22828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pic>
        <p:nvPicPr>
          <p:cNvPr id="30728" name="Picture 9" descr="u=1939695428,2608513096&amp;fm=23&amp;gp=0"/>
          <p:cNvPicPr>
            <a:picLocks noChangeAspect="1"/>
          </p:cNvPicPr>
          <p:nvPr/>
        </p:nvPicPr>
        <p:blipFill>
          <a:blip r:embed="rId2" cstate="print"/>
          <a:stretch>
            <a:fillRect/>
          </a:stretch>
        </p:blipFill>
        <p:spPr>
          <a:xfrm>
            <a:off x="900113" y="1989138"/>
            <a:ext cx="6985000" cy="3887787"/>
          </a:xfrm>
          <a:prstGeom prst="rect">
            <a:avLst/>
          </a:prstGeom>
          <a:noFill/>
          <a:ln w="9525">
            <a:noFill/>
          </a:ln>
        </p:spPr>
      </p:pic>
    </p:spTree>
    <p:extLst>
      <p:ext uri="{BB962C8B-B14F-4D97-AF65-F5344CB8AC3E}">
        <p14:creationId xmlns="" xmlns:p14="http://schemas.microsoft.com/office/powerpoint/2010/main" val="241814136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1431"/>
                                        </p:tgtEl>
                                        <p:attrNameLst>
                                          <p:attrName>style.visibility</p:attrName>
                                        </p:attrNameLst>
                                      </p:cBhvr>
                                      <p:to>
                                        <p:strVal val="visible"/>
                                      </p:to>
                                    </p:set>
                                    <p:animEffect transition="in" filter="wipe(left)">
                                      <p:cBhvr>
                                        <p:cTn id="7" dur="500"/>
                                        <p:tgtEl>
                                          <p:spTgt spid="231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1"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3"/>
          <p:cNvSpPr txBox="1"/>
          <p:nvPr/>
        </p:nvSpPr>
        <p:spPr>
          <a:xfrm>
            <a:off x="1023938"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3" name="Text Box 4"/>
          <p:cNvSpPr txBox="1"/>
          <p:nvPr/>
        </p:nvSpPr>
        <p:spPr>
          <a:xfrm>
            <a:off x="5292725" y="184467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4" name="Text Box 5"/>
          <p:cNvSpPr txBox="1"/>
          <p:nvPr/>
        </p:nvSpPr>
        <p:spPr>
          <a:xfrm>
            <a:off x="1239838" y="20669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5" name="Text Box 6"/>
          <p:cNvSpPr txBox="1"/>
          <p:nvPr/>
        </p:nvSpPr>
        <p:spPr>
          <a:xfrm>
            <a:off x="1600200"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31431" name="Text Box 7"/>
          <p:cNvSpPr txBox="1"/>
          <p:nvPr/>
        </p:nvSpPr>
        <p:spPr>
          <a:xfrm>
            <a:off x="642606" y="323275"/>
            <a:ext cx="7415813" cy="584775"/>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r>
              <a:rPr lang="en-US" altLang="zh-CN" sz="3200" b="1" dirty="0">
                <a:solidFill>
                  <a:srgbClr val="00B050"/>
                </a:solidFill>
                <a:latin typeface="隶书"/>
                <a:ea typeface="隶书"/>
              </a:rPr>
              <a:t>2</a:t>
            </a:r>
            <a:r>
              <a:rPr lang="zh-CN" altLang="en-US" sz="3200" b="1" dirty="0">
                <a:solidFill>
                  <a:srgbClr val="00B050"/>
                </a:solidFill>
                <a:latin typeface="隶书"/>
                <a:ea typeface="隶书"/>
              </a:rPr>
              <a:t>、封建主义是中国社会进步的主要障碍</a:t>
            </a:r>
          </a:p>
        </p:txBody>
      </p:sp>
      <p:sp>
        <p:nvSpPr>
          <p:cNvPr id="30727" name="Text Box 8"/>
          <p:cNvSpPr txBox="1"/>
          <p:nvPr/>
        </p:nvSpPr>
        <p:spPr>
          <a:xfrm>
            <a:off x="1455738" y="22828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 name="矩形 1"/>
          <p:cNvSpPr/>
          <p:nvPr/>
        </p:nvSpPr>
        <p:spPr>
          <a:xfrm>
            <a:off x="642606" y="1115161"/>
            <a:ext cx="8279907" cy="1200329"/>
          </a:xfrm>
          <a:prstGeom prst="rect">
            <a:avLst/>
          </a:prstGeom>
          <a:solidFill>
            <a:schemeClr val="bg1"/>
          </a:solidFill>
          <a:ln>
            <a:solidFill>
              <a:schemeClr val="accent1"/>
            </a:solidFill>
          </a:ln>
        </p:spPr>
        <p:txBody>
          <a:bodyPr wrap="square">
            <a:spAutoFit/>
          </a:bodyPr>
          <a:lstStyle/>
          <a:p>
            <a:pPr indent="304800" algn="just">
              <a:lnSpc>
                <a:spcPct val="150000"/>
              </a:lnSpc>
            </a:pPr>
            <a:r>
              <a:rPr lang="zh-CN" altLang="zh-CN" sz="2400" b="1" kern="100" dirty="0">
                <a:solidFill>
                  <a:prstClr val="black"/>
                </a:solidFill>
                <a:latin typeface="黑体" pitchFamily="49" charset="-122"/>
                <a:ea typeface="黑体" pitchFamily="49" charset="-122"/>
                <a:cs typeface="Times New Roman"/>
              </a:rPr>
              <a:t>封建地主阶级是帝国主义统治中国和封建军阀实行专制统治的社会基础</a:t>
            </a:r>
            <a:r>
              <a:rPr lang="zh-CN" altLang="zh-CN" sz="2400" b="1" kern="100" dirty="0" smtClean="0">
                <a:solidFill>
                  <a:prstClr val="black"/>
                </a:solidFill>
                <a:latin typeface="黑体" pitchFamily="49" charset="-122"/>
                <a:ea typeface="黑体" pitchFamily="49" charset="-122"/>
                <a:cs typeface="Times New Roman"/>
              </a:rPr>
              <a:t>。</a:t>
            </a:r>
            <a:endParaRPr lang="zh-CN" altLang="zh-CN" sz="2400" b="1" kern="100" dirty="0">
              <a:solidFill>
                <a:prstClr val="black"/>
              </a:solidFill>
              <a:latin typeface="黑体" pitchFamily="49" charset="-122"/>
              <a:ea typeface="黑体" pitchFamily="49" charset="-122"/>
              <a:cs typeface="Times New Roman"/>
            </a:endParaRPr>
          </a:p>
        </p:txBody>
      </p:sp>
      <p:pic>
        <p:nvPicPr>
          <p:cNvPr id="3074" name="Picture 2" descr="https://timgsa.baidu.com/timg?image&amp;quality=80&amp;size=b9999_10000&amp;sec=1603641795101&amp;di=1fcf74ba0818a59b26f4ab81984731a2&amp;imgtype=0&amp;src=http%3A%2F%2F5b0988e595225.cdn.sohucs.com%2Fimages%2F20181219%2Fbd91f572868144c4935f6ffe88a9f956.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55576" y="2315490"/>
            <a:ext cx="7759121" cy="439652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98399052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1431"/>
                                        </p:tgtEl>
                                        <p:attrNameLst>
                                          <p:attrName>style.visibility</p:attrName>
                                        </p:attrNameLst>
                                      </p:cBhvr>
                                      <p:to>
                                        <p:strVal val="visible"/>
                                      </p:to>
                                    </p:set>
                                    <p:animEffect transition="in" filter="wipe(left)">
                                      <p:cBhvr>
                                        <p:cTn id="7" dur="500"/>
                                        <p:tgtEl>
                                          <p:spTgt spid="231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1"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3"/>
          <p:cNvSpPr txBox="1"/>
          <p:nvPr/>
        </p:nvSpPr>
        <p:spPr>
          <a:xfrm>
            <a:off x="1023938"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3" name="Text Box 4"/>
          <p:cNvSpPr txBox="1"/>
          <p:nvPr/>
        </p:nvSpPr>
        <p:spPr>
          <a:xfrm>
            <a:off x="5292725" y="184467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4" name="Text Box 5"/>
          <p:cNvSpPr txBox="1"/>
          <p:nvPr/>
        </p:nvSpPr>
        <p:spPr>
          <a:xfrm>
            <a:off x="1239838" y="20669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5" name="Text Box 6"/>
          <p:cNvSpPr txBox="1"/>
          <p:nvPr/>
        </p:nvSpPr>
        <p:spPr>
          <a:xfrm>
            <a:off x="1600200"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31431" name="Text Box 7"/>
          <p:cNvSpPr txBox="1"/>
          <p:nvPr/>
        </p:nvSpPr>
        <p:spPr>
          <a:xfrm>
            <a:off x="642606" y="323275"/>
            <a:ext cx="7415813" cy="584775"/>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r>
              <a:rPr lang="en-US" altLang="zh-CN" sz="3200" b="1" dirty="0">
                <a:solidFill>
                  <a:srgbClr val="00B050"/>
                </a:solidFill>
                <a:latin typeface="隶书"/>
                <a:ea typeface="隶书"/>
              </a:rPr>
              <a:t>2</a:t>
            </a:r>
            <a:r>
              <a:rPr lang="zh-CN" altLang="en-US" sz="3200" b="1" dirty="0">
                <a:solidFill>
                  <a:srgbClr val="00B050"/>
                </a:solidFill>
                <a:latin typeface="隶书"/>
                <a:ea typeface="隶书"/>
              </a:rPr>
              <a:t>、封建主义是中国社会进步的主要障碍</a:t>
            </a:r>
          </a:p>
        </p:txBody>
      </p:sp>
      <p:sp>
        <p:nvSpPr>
          <p:cNvPr id="30727" name="Text Box 8"/>
          <p:cNvSpPr txBox="1"/>
          <p:nvPr/>
        </p:nvSpPr>
        <p:spPr>
          <a:xfrm>
            <a:off x="1455738" y="22828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 name="矩形 1"/>
          <p:cNvSpPr/>
          <p:nvPr/>
        </p:nvSpPr>
        <p:spPr>
          <a:xfrm>
            <a:off x="642606" y="1115161"/>
            <a:ext cx="8279907" cy="1200329"/>
          </a:xfrm>
          <a:prstGeom prst="rect">
            <a:avLst/>
          </a:prstGeom>
          <a:solidFill>
            <a:schemeClr val="bg1"/>
          </a:solidFill>
          <a:ln>
            <a:solidFill>
              <a:schemeClr val="accent1"/>
            </a:solidFill>
          </a:ln>
        </p:spPr>
        <p:txBody>
          <a:bodyPr wrap="square">
            <a:spAutoFit/>
          </a:bodyPr>
          <a:lstStyle/>
          <a:p>
            <a:pPr indent="304800" algn="just">
              <a:lnSpc>
                <a:spcPct val="150000"/>
              </a:lnSpc>
            </a:pPr>
            <a:r>
              <a:rPr lang="zh-CN" altLang="zh-CN" sz="2400" b="1" kern="100" dirty="0">
                <a:solidFill>
                  <a:prstClr val="black"/>
                </a:solidFill>
                <a:latin typeface="黑体" pitchFamily="49" charset="-122"/>
                <a:ea typeface="黑体" pitchFamily="49" charset="-122"/>
                <a:cs typeface="Times New Roman"/>
              </a:rPr>
              <a:t>封建地主阶级是帝国主义统治中国和封建军阀实行专制统治的社会基础</a:t>
            </a:r>
            <a:r>
              <a:rPr lang="zh-CN" altLang="zh-CN" sz="2400" b="1" kern="100" dirty="0" smtClean="0">
                <a:solidFill>
                  <a:prstClr val="black"/>
                </a:solidFill>
                <a:latin typeface="黑体" pitchFamily="49" charset="-122"/>
                <a:ea typeface="黑体" pitchFamily="49" charset="-122"/>
                <a:cs typeface="Times New Roman"/>
              </a:rPr>
              <a:t>。</a:t>
            </a:r>
            <a:endParaRPr lang="zh-CN" altLang="zh-CN" sz="2400" b="1" kern="100" dirty="0">
              <a:solidFill>
                <a:prstClr val="black"/>
              </a:solidFill>
              <a:latin typeface="黑体" pitchFamily="49" charset="-122"/>
              <a:ea typeface="黑体" pitchFamily="49" charset="-122"/>
              <a:cs typeface="Times New Roman"/>
            </a:endParaRPr>
          </a:p>
        </p:txBody>
      </p:sp>
      <p:pic>
        <p:nvPicPr>
          <p:cNvPr id="2052" name="Picture 4" descr="https://timgsa.baidu.com/timg?image&amp;quality=80&amp;size=b9999_10000&amp;sec=1603641950066&amp;di=cea3c696e199dd6cf73666d5dde4104f&amp;imgtype=0&amp;src=http%3A%2F%2F5b0988e595225.cdn.sohucs.com%2Fimages%2F20180322%2F5ea0383cffbb4a26afb8c651be27326d.jpe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96144" y="2649538"/>
            <a:ext cx="3228975" cy="3705225"/>
          </a:xfrm>
          <a:prstGeom prst="rect">
            <a:avLst/>
          </a:prstGeom>
          <a:noFill/>
          <a:extLst>
            <a:ext uri="{909E8E84-426E-40DD-AFC4-6F175D3DCCD1}">
              <a14:hiddenFill xmlns="" xmlns:a14="http://schemas.microsoft.com/office/drawing/2010/main">
                <a:solidFill>
                  <a:srgbClr val="FFFFFF"/>
                </a:solidFill>
              </a14:hiddenFill>
            </a:ext>
          </a:extLst>
        </p:spPr>
      </p:pic>
      <p:sp>
        <p:nvSpPr>
          <p:cNvPr id="3" name="矩形 2"/>
          <p:cNvSpPr/>
          <p:nvPr/>
        </p:nvSpPr>
        <p:spPr>
          <a:xfrm>
            <a:off x="4591698" y="3933056"/>
            <a:ext cx="3647152" cy="369332"/>
          </a:xfrm>
          <a:prstGeom prst="rect">
            <a:avLst/>
          </a:prstGeom>
          <a:solidFill>
            <a:schemeClr val="bg1"/>
          </a:solidFill>
          <a:ln>
            <a:solidFill>
              <a:schemeClr val="accent1"/>
            </a:solidFill>
          </a:ln>
        </p:spPr>
        <p:txBody>
          <a:bodyPr wrap="none">
            <a:spAutoFit/>
          </a:bodyPr>
          <a:lstStyle/>
          <a:p>
            <a:r>
              <a:rPr lang="zh-CN" altLang="en-US" dirty="0"/>
              <a:t>“量中华之物力，结与国之欢心”</a:t>
            </a:r>
          </a:p>
        </p:txBody>
      </p:sp>
    </p:spTree>
    <p:extLst>
      <p:ext uri="{BB962C8B-B14F-4D97-AF65-F5344CB8AC3E}">
        <p14:creationId xmlns="" xmlns:p14="http://schemas.microsoft.com/office/powerpoint/2010/main" val="100537098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1431"/>
                                        </p:tgtEl>
                                        <p:attrNameLst>
                                          <p:attrName>style.visibility</p:attrName>
                                        </p:attrNameLst>
                                      </p:cBhvr>
                                      <p:to>
                                        <p:strVal val="visible"/>
                                      </p:to>
                                    </p:set>
                                    <p:animEffect transition="in" filter="wipe(left)">
                                      <p:cBhvr>
                                        <p:cTn id="7" dur="500"/>
                                        <p:tgtEl>
                                          <p:spTgt spid="231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1"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3"/>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0723" name="Text Box 4"/>
          <p:cNvSpPr txBox="1"/>
          <p:nvPr/>
        </p:nvSpPr>
        <p:spPr>
          <a:xfrm>
            <a:off x="5292725" y="184467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0724" name="Text Box 5"/>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0725" name="Text Box 6"/>
          <p:cNvSpPr txBox="1"/>
          <p:nvPr/>
        </p:nvSpPr>
        <p:spPr>
          <a:xfrm>
            <a:off x="1600200"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231431" name="Text Box 7"/>
          <p:cNvSpPr txBox="1"/>
          <p:nvPr/>
        </p:nvSpPr>
        <p:spPr>
          <a:xfrm>
            <a:off x="1042988" y="908050"/>
            <a:ext cx="7415813" cy="584775"/>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pPr lvl="0"/>
            <a:r>
              <a:rPr lang="en-US" altLang="zh-CN" sz="3200" b="1" dirty="0">
                <a:solidFill>
                  <a:srgbClr val="00B050"/>
                </a:solidFill>
                <a:latin typeface="+mj-ea"/>
                <a:ea typeface="+mj-ea"/>
              </a:rPr>
              <a:t>2</a:t>
            </a:r>
            <a:r>
              <a:rPr lang="zh-CN" altLang="en-US" sz="3200" b="1" dirty="0">
                <a:solidFill>
                  <a:srgbClr val="00B050"/>
                </a:solidFill>
                <a:latin typeface="+mj-ea"/>
                <a:ea typeface="+mj-ea"/>
              </a:rPr>
              <a:t>、封建主义是中国社会进步的主要障碍</a:t>
            </a:r>
          </a:p>
        </p:txBody>
      </p:sp>
      <p:sp>
        <p:nvSpPr>
          <p:cNvPr id="30727" name="Text Box 8"/>
          <p:cNvSpPr txBox="1"/>
          <p:nvPr/>
        </p:nvSpPr>
        <p:spPr>
          <a:xfrm>
            <a:off x="1455738" y="22828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11" name="矩形 10"/>
          <p:cNvSpPr/>
          <p:nvPr/>
        </p:nvSpPr>
        <p:spPr>
          <a:xfrm>
            <a:off x="706932" y="1871106"/>
            <a:ext cx="4572000" cy="3416320"/>
          </a:xfrm>
          <a:prstGeom prst="rect">
            <a:avLst/>
          </a:prstGeom>
          <a:solidFill>
            <a:schemeClr val="bg1"/>
          </a:solidFill>
          <a:ln>
            <a:solidFill>
              <a:schemeClr val="accent1"/>
            </a:solidFill>
          </a:ln>
        </p:spPr>
        <p:txBody>
          <a:bodyPr>
            <a:spAutoFit/>
          </a:bodyPr>
          <a:lstStyle/>
          <a:p>
            <a:pPr indent="304800" algn="just">
              <a:lnSpc>
                <a:spcPct val="150000"/>
              </a:lnSpc>
              <a:spcAft>
                <a:spcPts val="0"/>
              </a:spcAft>
            </a:pPr>
            <a:r>
              <a:rPr lang="en-US" altLang="zh-CN" sz="2400" b="1" kern="100" dirty="0" smtClean="0">
                <a:latin typeface="黑体" pitchFamily="49" charset="-122"/>
                <a:ea typeface="黑体" pitchFamily="49" charset="-122"/>
                <a:cs typeface="Times New Roman"/>
              </a:rPr>
              <a:t>  </a:t>
            </a:r>
            <a:r>
              <a:rPr lang="zh-CN" altLang="zh-CN" sz="2400" b="1" kern="100" dirty="0" smtClean="0">
                <a:latin typeface="黑体" pitchFamily="49" charset="-122"/>
                <a:ea typeface="黑体" pitchFamily="49" charset="-122"/>
                <a:cs typeface="Times New Roman"/>
              </a:rPr>
              <a:t>反对</a:t>
            </a:r>
            <a:r>
              <a:rPr lang="zh-CN" altLang="zh-CN" sz="2400" b="1" kern="100" dirty="0">
                <a:latin typeface="黑体" pitchFamily="49" charset="-122"/>
                <a:ea typeface="黑体" pitchFamily="49" charset="-122"/>
                <a:cs typeface="Times New Roman"/>
              </a:rPr>
              <a:t>封建主义，从根本上说，就是要在经济上消灭封建制度，在政治上消灭军阀的专制统治，消灭地主阶级，解放生产力，为中国的经济现代化和政治民主化创造条件。</a:t>
            </a:r>
            <a:endParaRPr lang="zh-CN" altLang="zh-CN" sz="2400" b="1" kern="100" dirty="0">
              <a:effectLst/>
              <a:latin typeface="黑体" pitchFamily="49" charset="-122"/>
              <a:ea typeface="黑体" pitchFamily="49" charset="-122"/>
              <a:cs typeface="Times New Roman"/>
            </a:endParaRPr>
          </a:p>
        </p:txBody>
      </p:sp>
      <p:sp>
        <p:nvSpPr>
          <p:cNvPr id="3" name="矩形 2"/>
          <p:cNvSpPr/>
          <p:nvPr/>
        </p:nvSpPr>
        <p:spPr>
          <a:xfrm>
            <a:off x="6516216" y="2217738"/>
            <a:ext cx="2195736" cy="3970318"/>
          </a:xfrm>
          <a:prstGeom prst="rect">
            <a:avLst/>
          </a:prstGeom>
        </p:spPr>
        <p:txBody>
          <a:bodyPr wrap="square">
            <a:spAutoFit/>
          </a:bodyPr>
          <a:lstStyle/>
          <a:p>
            <a:r>
              <a:rPr lang="zh-CN" altLang="zh-CN" b="1" kern="100" dirty="0">
                <a:solidFill>
                  <a:srgbClr val="0000FF"/>
                </a:solidFill>
                <a:ea typeface="宋体"/>
                <a:cs typeface="Times New Roman"/>
              </a:rPr>
              <a:t>帝国主义和封建主义相互勾结，残酷地压迫和掠夺中国人民，严重地阻碍着中国社会的发展。中国革命“主要地就是打击这两个敌人，就是对外推翻帝国主义压迫的民族革命和对内推翻封建地主压迫的民主革命，而最主要的任务是推翻帝国主义的民族革命”</a:t>
            </a:r>
            <a:endParaRPr lang="zh-CN" altLang="en-US" b="1" dirty="0">
              <a:solidFill>
                <a:srgbClr val="0000FF"/>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1431"/>
                                        </p:tgtEl>
                                        <p:attrNameLst>
                                          <p:attrName>style.visibility</p:attrName>
                                        </p:attrNameLst>
                                      </p:cBhvr>
                                      <p:to>
                                        <p:strVal val="visible"/>
                                      </p:to>
                                    </p:set>
                                    <p:animEffect transition="in" filter="wipe(left)">
                                      <p:cBhvr>
                                        <p:cTn id="7" dur="500"/>
                                        <p:tgtEl>
                                          <p:spTgt spid="231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1"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3"/>
          <p:cNvSpPr txBox="1"/>
          <p:nvPr/>
        </p:nvSpPr>
        <p:spPr>
          <a:xfrm>
            <a:off x="1023938"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3" name="Text Box 4"/>
          <p:cNvSpPr txBox="1"/>
          <p:nvPr/>
        </p:nvSpPr>
        <p:spPr>
          <a:xfrm>
            <a:off x="5292725" y="184467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4" name="Text Box 5"/>
          <p:cNvSpPr txBox="1"/>
          <p:nvPr/>
        </p:nvSpPr>
        <p:spPr>
          <a:xfrm>
            <a:off x="1239838" y="20669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0725" name="Text Box 6"/>
          <p:cNvSpPr txBox="1"/>
          <p:nvPr/>
        </p:nvSpPr>
        <p:spPr>
          <a:xfrm>
            <a:off x="1600200"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31431" name="Text Box 7"/>
          <p:cNvSpPr txBox="1"/>
          <p:nvPr/>
        </p:nvSpPr>
        <p:spPr>
          <a:xfrm>
            <a:off x="1042988" y="908050"/>
            <a:ext cx="7415813" cy="584775"/>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r>
              <a:rPr lang="en-US" altLang="zh-CN" sz="3200" b="1" dirty="0">
                <a:solidFill>
                  <a:srgbClr val="00B050"/>
                </a:solidFill>
                <a:latin typeface="隶书"/>
                <a:ea typeface="隶书"/>
              </a:rPr>
              <a:t>2</a:t>
            </a:r>
            <a:r>
              <a:rPr lang="zh-CN" altLang="en-US" sz="3200" b="1" dirty="0">
                <a:solidFill>
                  <a:srgbClr val="00B050"/>
                </a:solidFill>
                <a:latin typeface="隶书"/>
                <a:ea typeface="隶书"/>
              </a:rPr>
              <a:t>、封建主义是中国社会进步的主要障碍</a:t>
            </a:r>
          </a:p>
        </p:txBody>
      </p:sp>
      <p:sp>
        <p:nvSpPr>
          <p:cNvPr id="30727" name="Text Box 8"/>
          <p:cNvSpPr txBox="1"/>
          <p:nvPr/>
        </p:nvSpPr>
        <p:spPr>
          <a:xfrm>
            <a:off x="1455738" y="22828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2" name="矩形 1"/>
          <p:cNvSpPr/>
          <p:nvPr/>
        </p:nvSpPr>
        <p:spPr>
          <a:xfrm>
            <a:off x="1116013" y="2278160"/>
            <a:ext cx="7352592" cy="3046988"/>
          </a:xfrm>
          <a:prstGeom prst="rect">
            <a:avLst/>
          </a:prstGeom>
          <a:ln>
            <a:solidFill>
              <a:schemeClr val="accent6"/>
            </a:solidFill>
          </a:ln>
        </p:spPr>
        <p:txBody>
          <a:bodyPr wrap="square">
            <a:spAutoFit/>
          </a:bodyPr>
          <a:lstStyle/>
          <a:p>
            <a:r>
              <a:rPr lang="en-US" altLang="zh-CN" sz="2400" b="1" kern="100" dirty="0" smtClean="0">
                <a:solidFill>
                  <a:srgbClr val="0000FF"/>
                </a:solidFill>
                <a:latin typeface="黑体" pitchFamily="49" charset="-122"/>
                <a:ea typeface="黑体" pitchFamily="49" charset="-122"/>
                <a:cs typeface="Times New Roman"/>
              </a:rPr>
              <a:t>    </a:t>
            </a:r>
            <a:r>
              <a:rPr lang="zh-CN" altLang="zh-CN" sz="2400" b="1" kern="100" dirty="0" smtClean="0">
                <a:solidFill>
                  <a:srgbClr val="0000FF"/>
                </a:solidFill>
                <a:latin typeface="黑体" pitchFamily="49" charset="-122"/>
                <a:ea typeface="黑体" pitchFamily="49" charset="-122"/>
                <a:cs typeface="Times New Roman"/>
              </a:rPr>
              <a:t>民族</a:t>
            </a:r>
            <a:r>
              <a:rPr lang="zh-CN" altLang="zh-CN" sz="2400" b="1" kern="100" dirty="0">
                <a:solidFill>
                  <a:srgbClr val="0000FF"/>
                </a:solidFill>
                <a:latin typeface="黑体" pitchFamily="49" charset="-122"/>
                <a:ea typeface="黑体" pitchFamily="49" charset="-122"/>
                <a:cs typeface="Times New Roman"/>
              </a:rPr>
              <a:t>革命和民主革命两个基本任务，既相互区别，又相互统一</a:t>
            </a:r>
            <a:r>
              <a:rPr lang="zh-CN" altLang="zh-CN" sz="2400" b="1" kern="100" dirty="0" smtClean="0">
                <a:solidFill>
                  <a:srgbClr val="0000FF"/>
                </a:solidFill>
                <a:latin typeface="黑体" pitchFamily="49" charset="-122"/>
                <a:ea typeface="黑体" pitchFamily="49" charset="-122"/>
                <a:cs typeface="Times New Roman"/>
              </a:rPr>
              <a:t>。</a:t>
            </a:r>
            <a:endParaRPr lang="en-US" altLang="zh-CN" sz="2400" b="1" kern="100" dirty="0" smtClean="0">
              <a:solidFill>
                <a:srgbClr val="0000FF"/>
              </a:solidFill>
              <a:latin typeface="黑体" pitchFamily="49" charset="-122"/>
              <a:ea typeface="黑体" pitchFamily="49" charset="-122"/>
              <a:cs typeface="Times New Roman"/>
            </a:endParaRPr>
          </a:p>
          <a:p>
            <a:r>
              <a:rPr lang="en-US" altLang="zh-CN" sz="2400" b="1" kern="100" dirty="0" smtClean="0">
                <a:solidFill>
                  <a:srgbClr val="0000FF"/>
                </a:solidFill>
                <a:latin typeface="黑体" pitchFamily="49" charset="-122"/>
                <a:ea typeface="黑体" pitchFamily="49" charset="-122"/>
                <a:cs typeface="Times New Roman"/>
              </a:rPr>
              <a:t>    </a:t>
            </a:r>
            <a:r>
              <a:rPr lang="zh-CN" altLang="zh-CN" sz="2400" b="1" kern="100" dirty="0" smtClean="0">
                <a:solidFill>
                  <a:srgbClr val="0000FF"/>
                </a:solidFill>
                <a:latin typeface="黑体" pitchFamily="49" charset="-122"/>
                <a:ea typeface="黑体" pitchFamily="49" charset="-122"/>
                <a:cs typeface="Times New Roman"/>
              </a:rPr>
              <a:t>帝国主义</a:t>
            </a:r>
            <a:r>
              <a:rPr lang="zh-CN" altLang="zh-CN" sz="2400" b="1" kern="100" dirty="0">
                <a:solidFill>
                  <a:srgbClr val="0000FF"/>
                </a:solidFill>
                <a:latin typeface="黑体" pitchFamily="49" charset="-122"/>
                <a:ea typeface="黑体" pitchFamily="49" charset="-122"/>
                <a:cs typeface="Times New Roman"/>
              </a:rPr>
              <a:t>是封建地主阶级的靠山，如果不推翻帝国主义的统治，就不能消灭封建地主阶级的统治</a:t>
            </a:r>
            <a:r>
              <a:rPr lang="zh-CN" altLang="zh-CN" sz="2400" b="1" kern="100" dirty="0" smtClean="0">
                <a:solidFill>
                  <a:srgbClr val="0000FF"/>
                </a:solidFill>
                <a:latin typeface="黑体" pitchFamily="49" charset="-122"/>
                <a:ea typeface="黑体" pitchFamily="49" charset="-122"/>
                <a:cs typeface="Times New Roman"/>
              </a:rPr>
              <a:t>；</a:t>
            </a:r>
            <a:endParaRPr lang="en-US" altLang="zh-CN" sz="2400" b="1" kern="100" dirty="0" smtClean="0">
              <a:solidFill>
                <a:srgbClr val="0000FF"/>
              </a:solidFill>
              <a:latin typeface="黑体" pitchFamily="49" charset="-122"/>
              <a:ea typeface="黑体" pitchFamily="49" charset="-122"/>
              <a:cs typeface="Times New Roman"/>
            </a:endParaRPr>
          </a:p>
          <a:p>
            <a:r>
              <a:rPr lang="en-US" altLang="zh-CN" sz="2400" b="1" kern="100" dirty="0">
                <a:solidFill>
                  <a:srgbClr val="0000FF"/>
                </a:solidFill>
                <a:latin typeface="黑体" pitchFamily="49" charset="-122"/>
                <a:ea typeface="黑体" pitchFamily="49" charset="-122"/>
                <a:cs typeface="Times New Roman"/>
              </a:rPr>
              <a:t> </a:t>
            </a:r>
            <a:r>
              <a:rPr lang="en-US" altLang="zh-CN" sz="2400" b="1" kern="100" dirty="0" smtClean="0">
                <a:solidFill>
                  <a:srgbClr val="0000FF"/>
                </a:solidFill>
                <a:latin typeface="黑体" pitchFamily="49" charset="-122"/>
                <a:ea typeface="黑体" pitchFamily="49" charset="-122"/>
                <a:cs typeface="Times New Roman"/>
              </a:rPr>
              <a:t>   </a:t>
            </a:r>
            <a:r>
              <a:rPr lang="zh-CN" altLang="zh-CN" sz="2400" b="1" kern="100" dirty="0" smtClean="0">
                <a:solidFill>
                  <a:srgbClr val="0000FF"/>
                </a:solidFill>
                <a:latin typeface="黑体" pitchFamily="49" charset="-122"/>
                <a:ea typeface="黑体" pitchFamily="49" charset="-122"/>
                <a:cs typeface="Times New Roman"/>
              </a:rPr>
              <a:t>地主阶级</a:t>
            </a:r>
            <a:r>
              <a:rPr lang="zh-CN" altLang="zh-CN" sz="2400" b="1" kern="100" dirty="0">
                <a:solidFill>
                  <a:srgbClr val="0000FF"/>
                </a:solidFill>
                <a:latin typeface="黑体" pitchFamily="49" charset="-122"/>
                <a:ea typeface="黑体" pitchFamily="49" charset="-122"/>
                <a:cs typeface="Times New Roman"/>
              </a:rPr>
              <a:t>是帝国主义统治中国的主要社会基础，如果不推翻地主阶级，就不能彻底铲除封建制度的根基，组织起强大的革命队伍，就不能推翻帝国主义在中国的统治</a:t>
            </a:r>
            <a:endParaRPr lang="zh-CN" altLang="en-US" sz="2400" b="1" dirty="0">
              <a:solidFill>
                <a:srgbClr val="0000FF"/>
              </a:solidFill>
              <a:latin typeface="黑体" pitchFamily="49" charset="-122"/>
              <a:ea typeface="黑体" pitchFamily="49" charset="-122"/>
            </a:endParaRPr>
          </a:p>
        </p:txBody>
      </p:sp>
    </p:spTree>
    <p:extLst>
      <p:ext uri="{BB962C8B-B14F-4D97-AF65-F5344CB8AC3E}">
        <p14:creationId xmlns="" xmlns:p14="http://schemas.microsoft.com/office/powerpoint/2010/main" val="182813344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1431"/>
                                        </p:tgtEl>
                                        <p:attrNameLst>
                                          <p:attrName>style.visibility</p:attrName>
                                        </p:attrNameLst>
                                      </p:cBhvr>
                                      <p:to>
                                        <p:strVal val="visible"/>
                                      </p:to>
                                    </p:set>
                                    <p:animEffect transition="in" filter="wipe(left)">
                                      <p:cBhvr>
                                        <p:cTn id="7" dur="500"/>
                                        <p:tgtEl>
                                          <p:spTgt spid="231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1"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4"/>
          <p:cNvSpPr txBox="1"/>
          <p:nvPr/>
        </p:nvSpPr>
        <p:spPr>
          <a:xfrm>
            <a:off x="1023938"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1747" name="Text Box 5"/>
          <p:cNvSpPr txBox="1"/>
          <p:nvPr/>
        </p:nvSpPr>
        <p:spPr>
          <a:xfrm>
            <a:off x="1095375" y="1706563"/>
            <a:ext cx="184150" cy="366712"/>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1748" name="Text Box 6"/>
          <p:cNvSpPr txBox="1"/>
          <p:nvPr/>
        </p:nvSpPr>
        <p:spPr>
          <a:xfrm>
            <a:off x="1239838" y="20669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1749" name="Text Box 7"/>
          <p:cNvSpPr txBox="1"/>
          <p:nvPr/>
        </p:nvSpPr>
        <p:spPr>
          <a:xfrm>
            <a:off x="467544" y="1515302"/>
            <a:ext cx="3879427" cy="1643527"/>
          </a:xfrm>
          <a:prstGeom prst="rect">
            <a:avLst/>
          </a:prstGeom>
          <a:solidFill>
            <a:schemeClr val="bg1"/>
          </a:solidFill>
          <a:ln w="9525">
            <a:solidFill>
              <a:schemeClr val="accent6"/>
            </a:solidFill>
          </a:ln>
        </p:spPr>
        <p:txBody>
          <a:bodyPr wrap="square" anchor="t">
            <a:spAutoFit/>
          </a:bodyPr>
          <a:lstStyle/>
          <a:p>
            <a:pPr lvl="0">
              <a:lnSpc>
                <a:spcPct val="120000"/>
              </a:lnSpc>
              <a:spcBef>
                <a:spcPct val="20000"/>
              </a:spcBef>
              <a:buClr>
                <a:srgbClr val="477AB1"/>
              </a:buClr>
              <a:buSzPct val="50000"/>
            </a:pPr>
            <a:r>
              <a:rPr lang="zh-CN" altLang="en-US" sz="2800" b="1" dirty="0">
                <a:solidFill>
                  <a:srgbClr val="0000FF"/>
                </a:solidFill>
                <a:ea typeface="黑体" panose="02010609060101010101" pitchFamily="2" charset="-122"/>
              </a:rPr>
              <a:t>中国资本主义分为民族资本主义和官僚资本主义</a:t>
            </a:r>
          </a:p>
        </p:txBody>
      </p:sp>
      <p:sp>
        <p:nvSpPr>
          <p:cNvPr id="198664" name="Text Box 8"/>
          <p:cNvSpPr txBox="1"/>
          <p:nvPr/>
        </p:nvSpPr>
        <p:spPr>
          <a:xfrm>
            <a:off x="611560" y="692696"/>
            <a:ext cx="7003840" cy="584775"/>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r>
              <a:rPr lang="en-US" altLang="zh-CN" sz="3200" b="1" dirty="0">
                <a:solidFill>
                  <a:srgbClr val="00B050"/>
                </a:solidFill>
                <a:latin typeface="隶书"/>
                <a:ea typeface="隶书"/>
              </a:rPr>
              <a:t>3</a:t>
            </a:r>
            <a:r>
              <a:rPr lang="zh-CN" altLang="en-US" sz="3200" b="1" dirty="0">
                <a:solidFill>
                  <a:srgbClr val="00B050"/>
                </a:solidFill>
                <a:latin typeface="隶书"/>
                <a:ea typeface="隶书"/>
              </a:rPr>
              <a:t>、官僚资本主义也是中国革命的对象</a:t>
            </a:r>
          </a:p>
        </p:txBody>
      </p:sp>
      <p:sp>
        <p:nvSpPr>
          <p:cNvPr id="2" name="矩形 1"/>
          <p:cNvSpPr/>
          <p:nvPr/>
        </p:nvSpPr>
        <p:spPr>
          <a:xfrm>
            <a:off x="600607" y="3459730"/>
            <a:ext cx="3384376" cy="3108543"/>
          </a:xfrm>
          <a:prstGeom prst="rect">
            <a:avLst/>
          </a:prstGeom>
          <a:ln>
            <a:solidFill>
              <a:schemeClr val="accent6"/>
            </a:solidFill>
          </a:ln>
        </p:spPr>
        <p:txBody>
          <a:bodyPr wrap="square">
            <a:spAutoFit/>
          </a:bodyPr>
          <a:lstStyle/>
          <a:p>
            <a:r>
              <a:rPr lang="zh-CN" altLang="en-US" sz="2800" b="1" dirty="0">
                <a:solidFill>
                  <a:srgbClr val="0000FF"/>
                </a:solidFill>
                <a:ea typeface="黑体" panose="02010609060101010101" pitchFamily="2" charset="-122"/>
              </a:rPr>
              <a:t>官僚资本主义是依靠帝国主义、勾结封建势力、利用国家政权力量而发展起来的买办的、封建的国家垄断资本主义</a:t>
            </a:r>
            <a:endParaRPr lang="zh-CN" altLang="en-US" dirty="0"/>
          </a:p>
        </p:txBody>
      </p:sp>
      <p:pic>
        <p:nvPicPr>
          <p:cNvPr id="4098" name="Picture 2" descr="https://timgsa.baidu.com/timg?image&amp;quality=80&amp;size=b9999_10000&amp;sec=1603644704492&amp;di=ad0bf8e4be00012e5d78f640a3e38357&amp;imgtype=0&amp;src=http%3A%2F%2F5b0988e595225.cdn.sohucs.com%2Fimages%2F20170913%2Fd646d7f1d11e43a89cb122b7e6fec446.jpeg"/>
          <p:cNvPicPr>
            <a:picLocks noChangeAspect="1" noChangeArrowheads="1"/>
          </p:cNvPicPr>
          <p:nvPr/>
        </p:nvPicPr>
        <p:blipFill rotWithShape="1">
          <a:blip r:embed="rId2" cstate="print">
            <a:extLst>
              <a:ext uri="{28A0092B-C50C-407E-A947-70E740481C1C}">
                <a14:useLocalDpi xmlns="" xmlns:a14="http://schemas.microsoft.com/office/drawing/2010/main" val="0"/>
              </a:ext>
            </a:extLst>
          </a:blip>
          <a:srcRect l="10634" t="7418" r="12011" b="22145"/>
          <a:stretch/>
        </p:blipFill>
        <p:spPr bwMode="auto">
          <a:xfrm>
            <a:off x="4428445" y="1412776"/>
            <a:ext cx="4715555" cy="544522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07194329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8664"/>
                                        </p:tgtEl>
                                        <p:attrNameLst>
                                          <p:attrName>style.visibility</p:attrName>
                                        </p:attrNameLst>
                                      </p:cBhvr>
                                      <p:to>
                                        <p:strVal val="visible"/>
                                      </p:to>
                                    </p:set>
                                    <p:animEffect transition="in" filter="wipe(left)">
                                      <p:cBhvr>
                                        <p:cTn id="7" dur="500"/>
                                        <p:tgtEl>
                                          <p:spTgt spid="198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4"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4"/>
          <p:cNvSpPr txBox="1"/>
          <p:nvPr/>
        </p:nvSpPr>
        <p:spPr>
          <a:xfrm>
            <a:off x="1023938"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1747" name="Text Box 5"/>
          <p:cNvSpPr txBox="1"/>
          <p:nvPr/>
        </p:nvSpPr>
        <p:spPr>
          <a:xfrm>
            <a:off x="1095375" y="1706563"/>
            <a:ext cx="184150" cy="366712"/>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1748" name="Text Box 6"/>
          <p:cNvSpPr txBox="1"/>
          <p:nvPr/>
        </p:nvSpPr>
        <p:spPr>
          <a:xfrm>
            <a:off x="1239838" y="20669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31749" name="Text Box 7"/>
          <p:cNvSpPr txBox="1"/>
          <p:nvPr/>
        </p:nvSpPr>
        <p:spPr>
          <a:xfrm>
            <a:off x="1600200" y="1851025"/>
            <a:ext cx="184150" cy="366713"/>
          </a:xfrm>
          <a:prstGeom prst="rect">
            <a:avLst/>
          </a:prstGeom>
          <a:noFill/>
          <a:ln w="9525">
            <a:noFill/>
          </a:ln>
        </p:spPr>
        <p:txBody>
          <a:bodyPr wrap="none" anchor="t">
            <a:spAutoFit/>
          </a:bodyPr>
          <a:lstStyle/>
          <a:p>
            <a:endParaRPr lang="zh-CN" altLang="zh-CN" dirty="0">
              <a:solidFill>
                <a:prstClr val="black"/>
              </a:solidFill>
              <a:latin typeface="Arial" panose="020B0604020202020204" pitchFamily="34" charset="0"/>
              <a:ea typeface="宋体" panose="02010600030101010101" pitchFamily="2" charset="-122"/>
            </a:endParaRPr>
          </a:p>
        </p:txBody>
      </p:sp>
      <p:sp>
        <p:nvSpPr>
          <p:cNvPr id="198664" name="Text Box 8"/>
          <p:cNvSpPr txBox="1"/>
          <p:nvPr/>
        </p:nvSpPr>
        <p:spPr>
          <a:xfrm>
            <a:off x="611560" y="692696"/>
            <a:ext cx="7003840" cy="584775"/>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r>
              <a:rPr lang="en-US" altLang="zh-CN" sz="3200" b="1" dirty="0">
                <a:solidFill>
                  <a:srgbClr val="00B050"/>
                </a:solidFill>
                <a:latin typeface="隶书"/>
                <a:ea typeface="隶书"/>
              </a:rPr>
              <a:t>3</a:t>
            </a:r>
            <a:r>
              <a:rPr lang="zh-CN" altLang="en-US" sz="3200" b="1" dirty="0">
                <a:solidFill>
                  <a:srgbClr val="00B050"/>
                </a:solidFill>
                <a:latin typeface="隶书"/>
                <a:ea typeface="隶书"/>
              </a:rPr>
              <a:t>、官僚资本主义也是中国革命的对象</a:t>
            </a:r>
          </a:p>
        </p:txBody>
      </p:sp>
      <p:pic>
        <p:nvPicPr>
          <p:cNvPr id="5122" name="Picture 2" descr="http://5b0988e595225.cdn.sohucs.com/images/20200127/b977e3bb873e4f08bca6dfbf155f1785.jpe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283968" y="1891947"/>
            <a:ext cx="4762500" cy="3429001"/>
          </a:xfrm>
          <a:prstGeom prst="rect">
            <a:avLst/>
          </a:prstGeom>
          <a:noFill/>
          <a:extLst>
            <a:ext uri="{909E8E84-426E-40DD-AFC4-6F175D3DCCD1}">
              <a14:hiddenFill xmlns="" xmlns:a14="http://schemas.microsoft.com/office/drawing/2010/main">
                <a:solidFill>
                  <a:srgbClr val="FFFFFF"/>
                </a:solidFill>
              </a14:hiddenFill>
            </a:ext>
          </a:extLst>
        </p:spPr>
      </p:pic>
      <p:sp>
        <p:nvSpPr>
          <p:cNvPr id="2" name="矩形 1"/>
          <p:cNvSpPr/>
          <p:nvPr/>
        </p:nvSpPr>
        <p:spPr>
          <a:xfrm>
            <a:off x="827584" y="1772816"/>
            <a:ext cx="3384376" cy="2308324"/>
          </a:xfrm>
          <a:prstGeom prst="rect">
            <a:avLst/>
          </a:prstGeom>
          <a:solidFill>
            <a:schemeClr val="bg2"/>
          </a:solidFill>
          <a:ln>
            <a:solidFill>
              <a:schemeClr val="accent1"/>
            </a:solidFill>
          </a:ln>
        </p:spPr>
        <p:txBody>
          <a:bodyPr wrap="square">
            <a:spAutoFit/>
          </a:bodyPr>
          <a:lstStyle/>
          <a:p>
            <a:r>
              <a:rPr lang="en-US" altLang="zh-CN" dirty="0">
                <a:solidFill>
                  <a:srgbClr val="333333"/>
                </a:solidFill>
                <a:latin typeface="Hiragino Sans GB"/>
              </a:rPr>
              <a:t>1942</a:t>
            </a:r>
            <a:r>
              <a:rPr lang="zh-CN" altLang="en-US" dirty="0">
                <a:solidFill>
                  <a:srgbClr val="333333"/>
                </a:solidFill>
                <a:latin typeface="Hiragino Sans GB"/>
              </a:rPr>
              <a:t>年，美国政府向中国提供了</a:t>
            </a:r>
            <a:r>
              <a:rPr lang="en-US" altLang="zh-CN" dirty="0">
                <a:solidFill>
                  <a:srgbClr val="333333"/>
                </a:solidFill>
                <a:latin typeface="Hiragino Sans GB"/>
              </a:rPr>
              <a:t>5</a:t>
            </a:r>
            <a:r>
              <a:rPr lang="zh-CN" altLang="en-US" dirty="0">
                <a:solidFill>
                  <a:srgbClr val="333333"/>
                </a:solidFill>
                <a:latin typeface="Hiragino Sans GB"/>
              </a:rPr>
              <a:t>亿美元的借款，相当于</a:t>
            </a:r>
            <a:r>
              <a:rPr lang="en-US" altLang="zh-CN" dirty="0">
                <a:solidFill>
                  <a:srgbClr val="333333"/>
                </a:solidFill>
                <a:latin typeface="Hiragino Sans GB"/>
              </a:rPr>
              <a:t>100</a:t>
            </a:r>
            <a:r>
              <a:rPr lang="zh-CN" altLang="en-US" dirty="0">
                <a:solidFill>
                  <a:srgbClr val="333333"/>
                </a:solidFill>
                <a:latin typeface="Hiragino Sans GB"/>
              </a:rPr>
              <a:t>亿法币。而国民政府的年财政收入，不过</a:t>
            </a:r>
            <a:r>
              <a:rPr lang="en-US" altLang="zh-CN" dirty="0">
                <a:solidFill>
                  <a:srgbClr val="333333"/>
                </a:solidFill>
                <a:latin typeface="Hiragino Sans GB"/>
              </a:rPr>
              <a:t>13</a:t>
            </a:r>
            <a:r>
              <a:rPr lang="zh-CN" altLang="en-US" dirty="0">
                <a:solidFill>
                  <a:srgbClr val="333333"/>
                </a:solidFill>
                <a:latin typeface="Hiragino Sans GB"/>
              </a:rPr>
              <a:t>亿。可以说，这是一笔巨款。时任财政部长的孔祥熙，准备用其中</a:t>
            </a:r>
            <a:r>
              <a:rPr lang="en-US" altLang="zh-CN" dirty="0">
                <a:solidFill>
                  <a:srgbClr val="333333"/>
                </a:solidFill>
                <a:latin typeface="Hiragino Sans GB"/>
              </a:rPr>
              <a:t>3</a:t>
            </a:r>
            <a:r>
              <a:rPr lang="zh-CN" altLang="en-US" dirty="0">
                <a:solidFill>
                  <a:srgbClr val="333333"/>
                </a:solidFill>
                <a:latin typeface="Hiragino Sans GB"/>
              </a:rPr>
              <a:t>亿向美国购买黄金，</a:t>
            </a:r>
            <a:r>
              <a:rPr lang="en-US" altLang="zh-CN" dirty="0">
                <a:solidFill>
                  <a:srgbClr val="333333"/>
                </a:solidFill>
                <a:latin typeface="Hiragino Sans GB"/>
              </a:rPr>
              <a:t>1</a:t>
            </a:r>
            <a:r>
              <a:rPr lang="zh-CN" altLang="en-US" dirty="0">
                <a:solidFill>
                  <a:srgbClr val="333333"/>
                </a:solidFill>
                <a:latin typeface="Hiragino Sans GB"/>
              </a:rPr>
              <a:t>个亿发行美金储备券，剩下的 </a:t>
            </a:r>
            <a:r>
              <a:rPr lang="en-US" altLang="zh-CN" dirty="0">
                <a:solidFill>
                  <a:srgbClr val="333333"/>
                </a:solidFill>
                <a:latin typeface="Hiragino Sans GB"/>
              </a:rPr>
              <a:t>1</a:t>
            </a:r>
            <a:r>
              <a:rPr lang="zh-CN" altLang="en-US" dirty="0">
                <a:solidFill>
                  <a:srgbClr val="333333"/>
                </a:solidFill>
                <a:latin typeface="Hiragino Sans GB"/>
              </a:rPr>
              <a:t>亿美元发行美金公债。</a:t>
            </a:r>
            <a:endParaRPr lang="zh-CN" altLang="en-US" dirty="0"/>
          </a:p>
        </p:txBody>
      </p:sp>
      <p:sp>
        <p:nvSpPr>
          <p:cNvPr id="4" name="矩形 3"/>
          <p:cNvSpPr/>
          <p:nvPr/>
        </p:nvSpPr>
        <p:spPr>
          <a:xfrm>
            <a:off x="899592" y="4221088"/>
            <a:ext cx="3481951" cy="2308324"/>
          </a:xfrm>
          <a:prstGeom prst="rect">
            <a:avLst/>
          </a:prstGeom>
          <a:solidFill>
            <a:schemeClr val="bg2"/>
          </a:solidFill>
          <a:ln>
            <a:solidFill>
              <a:schemeClr val="accent1"/>
            </a:solidFill>
          </a:ln>
        </p:spPr>
        <p:txBody>
          <a:bodyPr wrap="square">
            <a:spAutoFit/>
          </a:bodyPr>
          <a:lstStyle/>
          <a:p>
            <a:r>
              <a:rPr lang="zh-CN" altLang="en-US" dirty="0">
                <a:solidFill>
                  <a:srgbClr val="333333"/>
                </a:solidFill>
                <a:latin typeface="Hiragino Sans GB"/>
              </a:rPr>
              <a:t>从</a:t>
            </a:r>
            <a:r>
              <a:rPr lang="en-US" altLang="zh-CN" dirty="0">
                <a:solidFill>
                  <a:srgbClr val="333333"/>
                </a:solidFill>
                <a:latin typeface="Hiragino Sans GB"/>
              </a:rPr>
              <a:t>1943</a:t>
            </a:r>
            <a:r>
              <a:rPr lang="zh-CN" altLang="en-US" dirty="0">
                <a:solidFill>
                  <a:srgbClr val="333333"/>
                </a:solidFill>
                <a:latin typeface="Hiragino Sans GB"/>
              </a:rPr>
              <a:t>年</a:t>
            </a:r>
            <a:r>
              <a:rPr lang="en-US" altLang="zh-CN" dirty="0">
                <a:solidFill>
                  <a:srgbClr val="333333"/>
                </a:solidFill>
                <a:latin typeface="Hiragino Sans GB"/>
              </a:rPr>
              <a:t>10</a:t>
            </a:r>
            <a:r>
              <a:rPr lang="zh-CN" altLang="en-US" dirty="0">
                <a:solidFill>
                  <a:srgbClr val="333333"/>
                </a:solidFill>
                <a:latin typeface="Hiragino Sans GB"/>
              </a:rPr>
              <a:t>月</a:t>
            </a:r>
            <a:r>
              <a:rPr lang="en-US" altLang="zh-CN" dirty="0">
                <a:solidFill>
                  <a:srgbClr val="333333"/>
                </a:solidFill>
                <a:latin typeface="Hiragino Sans GB"/>
              </a:rPr>
              <a:t>15</a:t>
            </a:r>
            <a:r>
              <a:rPr lang="zh-CN" altLang="en-US" dirty="0">
                <a:solidFill>
                  <a:srgbClr val="333333"/>
                </a:solidFill>
                <a:latin typeface="Hiragino Sans GB"/>
              </a:rPr>
              <a:t>日起，停止出售美金公债。然后，她开始用假名、假地址套购美金公债，前前后后一共</a:t>
            </a:r>
            <a:r>
              <a:rPr lang="en-US" altLang="zh-CN" dirty="0">
                <a:solidFill>
                  <a:srgbClr val="333333"/>
                </a:solidFill>
                <a:latin typeface="Hiragino Sans GB"/>
              </a:rPr>
              <a:t>5000</a:t>
            </a:r>
            <a:r>
              <a:rPr lang="zh-CN" altLang="en-US" dirty="0">
                <a:solidFill>
                  <a:srgbClr val="333333"/>
                </a:solidFill>
                <a:latin typeface="Hiragino Sans GB"/>
              </a:rPr>
              <a:t>万。那个时候，黑市上的</a:t>
            </a:r>
            <a:r>
              <a:rPr lang="en-US" altLang="zh-CN" dirty="0">
                <a:solidFill>
                  <a:srgbClr val="333333"/>
                </a:solidFill>
                <a:latin typeface="Hiragino Sans GB"/>
              </a:rPr>
              <a:t>1</a:t>
            </a:r>
            <a:r>
              <a:rPr lang="zh-CN" altLang="en-US" dirty="0">
                <a:solidFill>
                  <a:srgbClr val="333333"/>
                </a:solidFill>
                <a:latin typeface="Hiragino Sans GB"/>
              </a:rPr>
              <a:t>美元可以兑换</a:t>
            </a:r>
            <a:r>
              <a:rPr lang="en-US" altLang="zh-CN" dirty="0">
                <a:solidFill>
                  <a:srgbClr val="333333"/>
                </a:solidFill>
                <a:latin typeface="Hiragino Sans GB"/>
              </a:rPr>
              <a:t>300</a:t>
            </a:r>
            <a:r>
              <a:rPr lang="zh-CN" altLang="en-US" dirty="0">
                <a:solidFill>
                  <a:srgbClr val="333333"/>
                </a:solidFill>
                <a:latin typeface="Hiragino Sans GB"/>
              </a:rPr>
              <a:t>至</a:t>
            </a:r>
            <a:r>
              <a:rPr lang="en-US" altLang="zh-CN" dirty="0">
                <a:solidFill>
                  <a:srgbClr val="333333"/>
                </a:solidFill>
                <a:latin typeface="Hiragino Sans GB"/>
              </a:rPr>
              <a:t>400</a:t>
            </a:r>
            <a:r>
              <a:rPr lang="zh-CN" altLang="en-US" dirty="0">
                <a:solidFill>
                  <a:srgbClr val="333333"/>
                </a:solidFill>
                <a:latin typeface="Hiragino Sans GB"/>
              </a:rPr>
              <a:t>元法币，宋蔼龄又是发了一大笔财。而且，整个过程中，她还一分钱没花。</a:t>
            </a:r>
            <a:endParaRPr lang="zh-CN" altLang="en-US" dirty="0"/>
          </a:p>
        </p:txBody>
      </p:sp>
    </p:spTree>
    <p:extLst>
      <p:ext uri="{BB962C8B-B14F-4D97-AF65-F5344CB8AC3E}">
        <p14:creationId xmlns="" xmlns:p14="http://schemas.microsoft.com/office/powerpoint/2010/main" val="191864447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8664"/>
                                        </p:tgtEl>
                                        <p:attrNameLst>
                                          <p:attrName>style.visibility</p:attrName>
                                        </p:attrNameLst>
                                      </p:cBhvr>
                                      <p:to>
                                        <p:strVal val="visible"/>
                                      </p:to>
                                    </p:set>
                                    <p:animEffect transition="in" filter="wipe(left)">
                                      <p:cBhvr>
                                        <p:cTn id="7" dur="500"/>
                                        <p:tgtEl>
                                          <p:spTgt spid="198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4"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4"/>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1747" name="Text Box 5"/>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1748" name="Text Box 6"/>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1749" name="Text Box 7"/>
          <p:cNvSpPr txBox="1"/>
          <p:nvPr/>
        </p:nvSpPr>
        <p:spPr>
          <a:xfrm>
            <a:off x="1600200"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198664" name="Text Box 8"/>
          <p:cNvSpPr txBox="1"/>
          <p:nvPr/>
        </p:nvSpPr>
        <p:spPr>
          <a:xfrm>
            <a:off x="611560" y="692696"/>
            <a:ext cx="7003840" cy="584775"/>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pPr lvl="0"/>
            <a:r>
              <a:rPr lang="en-US" altLang="zh-CN" sz="3200" b="1" dirty="0">
                <a:solidFill>
                  <a:srgbClr val="00B050"/>
                </a:solidFill>
                <a:latin typeface="+mj-ea"/>
                <a:ea typeface="+mj-ea"/>
              </a:rPr>
              <a:t>3</a:t>
            </a:r>
            <a:r>
              <a:rPr lang="zh-CN" altLang="en-US" sz="3200" b="1" dirty="0">
                <a:solidFill>
                  <a:srgbClr val="00B050"/>
                </a:solidFill>
                <a:latin typeface="+mj-ea"/>
                <a:ea typeface="+mj-ea"/>
              </a:rPr>
              <a:t>、官僚资本主义也是中国革命的对象</a:t>
            </a:r>
          </a:p>
        </p:txBody>
      </p:sp>
      <p:sp>
        <p:nvSpPr>
          <p:cNvPr id="3" name="矩形 2"/>
          <p:cNvSpPr/>
          <p:nvPr/>
        </p:nvSpPr>
        <p:spPr>
          <a:xfrm>
            <a:off x="1331913" y="1772771"/>
            <a:ext cx="6840487" cy="954107"/>
          </a:xfrm>
          <a:prstGeom prst="rect">
            <a:avLst/>
          </a:prstGeom>
          <a:ln>
            <a:solidFill>
              <a:schemeClr val="accent6"/>
            </a:solidFill>
          </a:ln>
        </p:spPr>
        <p:txBody>
          <a:bodyPr wrap="square">
            <a:spAutoFit/>
          </a:bodyPr>
          <a:lstStyle/>
          <a:p>
            <a:r>
              <a:rPr lang="zh-CN" altLang="en-US" sz="2800" b="1" dirty="0" smtClean="0">
                <a:solidFill>
                  <a:srgbClr val="0000FF"/>
                </a:solidFill>
                <a:ea typeface="黑体" panose="02010609060101010101" pitchFamily="2" charset="-122"/>
              </a:rPr>
              <a:t>买办性：指官僚资本主义依靠帝国主义，直接为帝国主义国家的资本家服务。</a:t>
            </a:r>
            <a:endParaRPr lang="zh-CN" altLang="en-US" dirty="0"/>
          </a:p>
        </p:txBody>
      </p:sp>
      <p:sp>
        <p:nvSpPr>
          <p:cNvPr id="10" name="矩形 9"/>
          <p:cNvSpPr/>
          <p:nvPr/>
        </p:nvSpPr>
        <p:spPr>
          <a:xfrm>
            <a:off x="1290995" y="2826514"/>
            <a:ext cx="6953413" cy="954107"/>
          </a:xfrm>
          <a:prstGeom prst="rect">
            <a:avLst/>
          </a:prstGeom>
          <a:ln>
            <a:solidFill>
              <a:schemeClr val="accent6"/>
            </a:solidFill>
          </a:ln>
        </p:spPr>
        <p:txBody>
          <a:bodyPr wrap="square">
            <a:spAutoFit/>
          </a:bodyPr>
          <a:lstStyle/>
          <a:p>
            <a:r>
              <a:rPr lang="zh-CN" altLang="en-US" sz="2800" b="1" dirty="0" smtClean="0">
                <a:solidFill>
                  <a:srgbClr val="0000FF"/>
                </a:solidFill>
                <a:ea typeface="黑体" panose="02010609060101010101" pitchFamily="2" charset="-122"/>
              </a:rPr>
              <a:t>封建性：勾结封建势力，与农村的封建势力有着千丝万缕的联系。</a:t>
            </a:r>
            <a:endParaRPr lang="zh-CN" altLang="en-US" dirty="0"/>
          </a:p>
        </p:txBody>
      </p:sp>
      <p:sp>
        <p:nvSpPr>
          <p:cNvPr id="11" name="矩形 10"/>
          <p:cNvSpPr/>
          <p:nvPr/>
        </p:nvSpPr>
        <p:spPr>
          <a:xfrm>
            <a:off x="1331913" y="4077072"/>
            <a:ext cx="6912495" cy="954107"/>
          </a:xfrm>
          <a:prstGeom prst="rect">
            <a:avLst/>
          </a:prstGeom>
          <a:ln>
            <a:solidFill>
              <a:schemeClr val="accent6"/>
            </a:solidFill>
          </a:ln>
        </p:spPr>
        <p:txBody>
          <a:bodyPr wrap="square">
            <a:spAutoFit/>
          </a:bodyPr>
          <a:lstStyle/>
          <a:p>
            <a:r>
              <a:rPr lang="zh-CN" altLang="en-US" sz="2800" b="1" dirty="0">
                <a:solidFill>
                  <a:srgbClr val="0000FF"/>
                </a:solidFill>
                <a:ea typeface="黑体" panose="02010609060101010101" pitchFamily="2" charset="-122"/>
              </a:rPr>
              <a:t>垄断</a:t>
            </a:r>
            <a:r>
              <a:rPr lang="zh-CN" altLang="en-US" sz="2800" b="1" dirty="0" smtClean="0">
                <a:solidFill>
                  <a:srgbClr val="0000FF"/>
                </a:solidFill>
                <a:ea typeface="黑体" panose="02010609060101010101" pitchFamily="2" charset="-122"/>
              </a:rPr>
              <a:t>性：利用国家政权力量聚敛财富，并且垄断国家的经济命脉。</a:t>
            </a:r>
            <a:endParaRPr lang="zh-CN" alt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8664"/>
                                        </p:tgtEl>
                                        <p:attrNameLst>
                                          <p:attrName>style.visibility</p:attrName>
                                        </p:attrNameLst>
                                      </p:cBhvr>
                                      <p:to>
                                        <p:strVal val="visible"/>
                                      </p:to>
                                    </p:set>
                                    <p:animEffect transition="in" filter="wipe(left)">
                                      <p:cBhvr>
                                        <p:cTn id="7" dur="500"/>
                                        <p:tgtEl>
                                          <p:spTgt spid="198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4"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p:cNvSpPr>
          <p:nvPr>
            <p:ph type="title" idx="4294967295"/>
          </p:nvPr>
        </p:nvSpPr>
        <p:spPr>
          <a:xfrm>
            <a:off x="0" y="260350"/>
            <a:ext cx="6553200" cy="596900"/>
          </a:xfrm>
          <a:prstGeom prst="rect">
            <a:avLst/>
          </a:prstGeom>
          <a:solidFill>
            <a:srgbClr val="FFFFFF"/>
          </a:solidFill>
          <a:ln>
            <a:solidFill>
              <a:srgbClr val="FF0000"/>
            </a:solidFill>
            <a:miter/>
          </a:ln>
        </p:spPr>
        <p:txBody>
          <a:bodyPr anchor="t">
            <a:noAutofit/>
          </a:bodyPr>
          <a:lstStyle/>
          <a:p>
            <a:pPr algn="l" eaLnBrk="1" hangingPunct="1"/>
            <a:r>
              <a:rPr lang="zh-CN" altLang="en-US" sz="3600" b="1" dirty="0">
                <a:solidFill>
                  <a:srgbClr val="FF0000"/>
                </a:solidFill>
                <a:latin typeface="华文琥珀" pitchFamily="2" charset="-122"/>
                <a:ea typeface="华文琥珀" pitchFamily="2" charset="-122"/>
              </a:rPr>
              <a:t>（二）新民主主义革命的动力</a:t>
            </a:r>
          </a:p>
        </p:txBody>
      </p:sp>
      <p:sp>
        <p:nvSpPr>
          <p:cNvPr id="199683" name="Rectangle 3"/>
          <p:cNvSpPr>
            <a:spLocks noGrp="1"/>
          </p:cNvSpPr>
          <p:nvPr>
            <p:ph idx="4294967295"/>
          </p:nvPr>
        </p:nvSpPr>
        <p:spPr>
          <a:xfrm>
            <a:off x="467544" y="2564904"/>
            <a:ext cx="3456384" cy="2448272"/>
          </a:xfrm>
          <a:prstGeom prst="rect">
            <a:avLst/>
          </a:prstGeom>
          <a:solidFill>
            <a:srgbClr val="FFFFFF"/>
          </a:solidFill>
          <a:ln>
            <a:solidFill>
              <a:srgbClr val="FF0000"/>
            </a:solidFill>
            <a:miter/>
          </a:ln>
        </p:spPr>
        <p:txBody>
          <a:bodyPr anchor="t">
            <a:noAutofit/>
          </a:bodyPr>
          <a:lstStyle/>
          <a:p>
            <a:pPr marL="0" indent="0" eaLnBrk="1" hangingPunct="1">
              <a:lnSpc>
                <a:spcPct val="170000"/>
              </a:lnSpc>
              <a:spcBef>
                <a:spcPts val="0"/>
              </a:spcBef>
              <a:buNone/>
            </a:pPr>
            <a:r>
              <a:rPr lang="zh-CN" altLang="en-US" sz="2000" b="1" dirty="0" smtClean="0">
                <a:solidFill>
                  <a:srgbClr val="0000FF"/>
                </a:solidFill>
                <a:ea typeface="黑体" panose="02010609060101010101" pitchFamily="2" charset="-122"/>
              </a:rPr>
              <a:t>        无产阶级</a:t>
            </a:r>
            <a:r>
              <a:rPr lang="zh-CN" altLang="en-US" sz="2000" b="1" dirty="0">
                <a:solidFill>
                  <a:srgbClr val="0000FF"/>
                </a:solidFill>
                <a:ea typeface="黑体" panose="02010609060101010101" pitchFamily="2" charset="-122"/>
              </a:rPr>
              <a:t>是中国革命的基本动力，是新的社会生产力的代表，是近代中国最进步的阶级中国革命的领导</a:t>
            </a:r>
            <a:r>
              <a:rPr lang="zh-CN" altLang="en-US" sz="2000" b="1" dirty="0" smtClean="0">
                <a:solidFill>
                  <a:srgbClr val="0000FF"/>
                </a:solidFill>
                <a:ea typeface="黑体" panose="02010609060101010101" pitchFamily="2" charset="-122"/>
              </a:rPr>
              <a:t>力</a:t>
            </a:r>
            <a:endParaRPr lang="zh-CN" altLang="en-US" sz="2000" b="1" dirty="0">
              <a:solidFill>
                <a:srgbClr val="0000FF"/>
              </a:solidFill>
              <a:ea typeface="黑体" panose="02010609060101010101" pitchFamily="2" charset="-122"/>
            </a:endParaRPr>
          </a:p>
        </p:txBody>
      </p:sp>
      <p:sp>
        <p:nvSpPr>
          <p:cNvPr id="4" name="矩形 3"/>
          <p:cNvSpPr/>
          <p:nvPr/>
        </p:nvSpPr>
        <p:spPr>
          <a:xfrm>
            <a:off x="971600" y="1484784"/>
            <a:ext cx="6983002" cy="560153"/>
          </a:xfrm>
          <a:prstGeom prst="rect">
            <a:avLst/>
          </a:prstGeom>
          <a:solidFill>
            <a:schemeClr val="bg1"/>
          </a:solidFill>
          <a:ln>
            <a:solidFill>
              <a:srgbClr val="FF0000"/>
            </a:solidFill>
          </a:ln>
        </p:spPr>
        <p:txBody>
          <a:bodyPr wrap="none">
            <a:spAutoFit/>
          </a:bodyPr>
          <a:lstStyle/>
          <a:p>
            <a:pPr>
              <a:lnSpc>
                <a:spcPct val="95000"/>
              </a:lnSpc>
            </a:pPr>
            <a:r>
              <a:rPr lang="en-US" altLang="zh-CN" sz="3200" b="1" dirty="0" smtClean="0">
                <a:solidFill>
                  <a:srgbClr val="00B050"/>
                </a:solidFill>
                <a:latin typeface="华文琥珀" pitchFamily="2" charset="-122"/>
                <a:ea typeface="华文琥珀" pitchFamily="2" charset="-122"/>
              </a:rPr>
              <a:t>1</a:t>
            </a:r>
            <a:r>
              <a:rPr lang="zh-CN" altLang="en-US" sz="3200" b="1" dirty="0" smtClean="0">
                <a:solidFill>
                  <a:srgbClr val="00B050"/>
                </a:solidFill>
                <a:latin typeface="华文琥珀" pitchFamily="2" charset="-122"/>
                <a:ea typeface="华文琥珀" pitchFamily="2" charset="-122"/>
              </a:rPr>
              <a:t>、无产阶级：中国革命最基本的动力</a:t>
            </a:r>
            <a:endParaRPr lang="zh-CN" altLang="en-US" sz="3200" b="1" dirty="0">
              <a:solidFill>
                <a:srgbClr val="00B050"/>
              </a:solidFill>
              <a:latin typeface="华文琥珀" pitchFamily="2" charset="-122"/>
              <a:ea typeface="华文琥珀" pitchFamily="2" charset="-122"/>
            </a:endParaRPr>
          </a:p>
        </p:txBody>
      </p:sp>
      <p:pic>
        <p:nvPicPr>
          <p:cNvPr id="87044" name="Picture 4" descr="https://gimg2.baidu.com/image_search/src=http%3A%2F%2Fwww.kfzimg.com%2FG06%2FM00%2F1D%2F21%2Fp4YBAFrf7SqAetZbAAFr6Yd5JTs707_b.jpg&amp;refer=http%3A%2F%2Fwww.kfzimg.com&amp;app=2002&amp;size=f9999,10000&amp;q=a80&amp;n=0&amp;g=0n&amp;fmt=jpeg?sec=1635414368&amp;t=107604f04732369e82db75451f474ee1"/>
          <p:cNvPicPr>
            <a:picLocks noChangeAspect="1" noChangeArrowheads="1"/>
          </p:cNvPicPr>
          <p:nvPr/>
        </p:nvPicPr>
        <p:blipFill>
          <a:blip r:embed="rId2" cstate="print"/>
          <a:srcRect l="13289" t="10828" r="7716"/>
          <a:stretch>
            <a:fillRect/>
          </a:stretch>
        </p:blipFill>
        <p:spPr bwMode="auto">
          <a:xfrm>
            <a:off x="3995936" y="2276872"/>
            <a:ext cx="4824536" cy="4434880"/>
          </a:xfrm>
          <a:prstGeom prst="rect">
            <a:avLst/>
          </a:prstGeom>
          <a:noFill/>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9683">
                                            <p:txEl>
                                              <p:charRg st="1" end="1"/>
                                            </p:txEl>
                                          </p:spTgt>
                                        </p:tgtEl>
                                        <p:attrNameLst>
                                          <p:attrName>style.visibility</p:attrName>
                                        </p:attrNameLst>
                                      </p:cBhvr>
                                      <p:to>
                                        <p:strVal val="visible"/>
                                      </p:to>
                                    </p:set>
                                    <p:animEffect transition="in" filter="dissolve">
                                      <p:cBhvr>
                                        <p:cTn id="7" dur="500"/>
                                        <p:tgtEl>
                                          <p:spTgt spid="199683">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p:nvPr/>
        </p:nvSpPr>
        <p:spPr>
          <a:xfrm>
            <a:off x="467544" y="3140968"/>
            <a:ext cx="4002238" cy="2554545"/>
          </a:xfrm>
          <a:prstGeom prst="rect">
            <a:avLst/>
          </a:prstGeom>
          <a:noFill/>
          <a:ln w="9525" cap="flat" cmpd="sng">
            <a:solidFill>
              <a:srgbClr val="FF0000"/>
            </a:solidFill>
            <a:prstDash val="solid"/>
            <a:miter/>
            <a:headEnd type="none" w="med" len="med"/>
            <a:tailEnd type="none" w="med" len="med"/>
          </a:ln>
        </p:spPr>
        <p:txBody>
          <a:bodyPr wrap="square" anchor="t">
            <a:spAutoFit/>
          </a:bodyPr>
          <a:lstStyle/>
          <a:p>
            <a:pPr lvl="0"/>
            <a:r>
              <a:rPr lang="zh-CN" altLang="en-US" sz="2000" b="1" dirty="0" smtClean="0">
                <a:solidFill>
                  <a:srgbClr val="0000FF"/>
                </a:solidFill>
                <a:latin typeface="Times New Roman" panose="02020603050405020304" pitchFamily="18" charset="0"/>
                <a:ea typeface="黑体" panose="02010609060101010101" pitchFamily="2" charset="-122"/>
              </a:rPr>
              <a:t>         农民</a:t>
            </a:r>
            <a:r>
              <a:rPr lang="zh-CN" altLang="en-US" sz="2000" b="1" dirty="0">
                <a:solidFill>
                  <a:srgbClr val="0000FF"/>
                </a:solidFill>
                <a:latin typeface="Times New Roman" panose="02020603050405020304" pitchFamily="18" charset="0"/>
                <a:ea typeface="黑体" panose="02010609060101010101" pitchFamily="2" charset="-122"/>
              </a:rPr>
              <a:t>指的是贫雇农和中农。它们占据了全国人口的</a:t>
            </a:r>
            <a:r>
              <a:rPr lang="en-US" altLang="zh-CN" sz="2000" b="1" dirty="0">
                <a:solidFill>
                  <a:srgbClr val="0000FF"/>
                </a:solidFill>
                <a:latin typeface="Times New Roman" panose="02020603050405020304" pitchFamily="18" charset="0"/>
                <a:ea typeface="黑体" panose="02010609060101010101" pitchFamily="2" charset="-122"/>
              </a:rPr>
              <a:t>80%</a:t>
            </a:r>
            <a:r>
              <a:rPr lang="zh-CN" altLang="en-US" sz="2000" b="1" dirty="0">
                <a:solidFill>
                  <a:srgbClr val="0000FF"/>
                </a:solidFill>
                <a:latin typeface="Times New Roman" panose="02020603050405020304" pitchFamily="18" charset="0"/>
                <a:ea typeface="黑体" panose="02010609060101010101" pitchFamily="2" charset="-122"/>
              </a:rPr>
              <a:t>，承担着社会的基本生产任务；同时又处在社会的最底层，大多没有土地或土地不足，受着地主阶级的剥削和压迫</a:t>
            </a:r>
            <a:r>
              <a:rPr lang="zh-CN" altLang="en-US" sz="2000" b="1" dirty="0" smtClean="0">
                <a:solidFill>
                  <a:srgbClr val="0000FF"/>
                </a:solidFill>
                <a:latin typeface="Times New Roman" panose="02020603050405020304" pitchFamily="18" charset="0"/>
                <a:ea typeface="黑体" panose="02010609060101010101" pitchFamily="2" charset="-122"/>
              </a:rPr>
              <a:t>，具有</a:t>
            </a:r>
            <a:r>
              <a:rPr lang="zh-CN" altLang="en-US" sz="2000" b="1" dirty="0">
                <a:solidFill>
                  <a:srgbClr val="0000FF"/>
                </a:solidFill>
                <a:latin typeface="Times New Roman" panose="02020603050405020304" pitchFamily="18" charset="0"/>
                <a:ea typeface="黑体" panose="02010609060101010101" pitchFamily="2" charset="-122"/>
              </a:rPr>
              <a:t>强烈的反抗精神和反帝反封建的革命性</a:t>
            </a:r>
            <a:r>
              <a:rPr lang="zh-CN" altLang="en-US" sz="2000" b="1" dirty="0" smtClean="0">
                <a:solidFill>
                  <a:srgbClr val="0000FF"/>
                </a:solidFill>
                <a:latin typeface="Times New Roman" panose="02020603050405020304" pitchFamily="18" charset="0"/>
                <a:ea typeface="黑体" panose="02010609060101010101" pitchFamily="2" charset="-122"/>
              </a:rPr>
              <a:t>，是</a:t>
            </a:r>
            <a:r>
              <a:rPr lang="zh-CN" altLang="en-US" sz="2000" b="1" dirty="0">
                <a:solidFill>
                  <a:srgbClr val="0000FF"/>
                </a:solidFill>
                <a:latin typeface="Times New Roman" panose="02020603050405020304" pitchFamily="18" charset="0"/>
                <a:ea typeface="黑体" panose="02010609060101010101" pitchFamily="2" charset="-122"/>
              </a:rPr>
              <a:t>中国革命的</a:t>
            </a:r>
            <a:r>
              <a:rPr lang="zh-CN" altLang="en-US" sz="2000" b="1" dirty="0" smtClean="0">
                <a:solidFill>
                  <a:srgbClr val="0000FF"/>
                </a:solidFill>
                <a:latin typeface="Times New Roman" panose="02020603050405020304" pitchFamily="18" charset="0"/>
                <a:ea typeface="黑体" panose="02010609060101010101" pitchFamily="2" charset="-122"/>
              </a:rPr>
              <a:t>主力军 。       </a:t>
            </a:r>
            <a:endParaRPr lang="en-US" altLang="zh-CN" sz="2000" b="1" dirty="0">
              <a:solidFill>
                <a:srgbClr val="0000FF"/>
              </a:solidFill>
              <a:latin typeface="Times New Roman" panose="02020603050405020304" pitchFamily="18" charset="0"/>
              <a:ea typeface="黑体" panose="02010609060101010101" pitchFamily="2" charset="-122"/>
            </a:endParaRPr>
          </a:p>
        </p:txBody>
      </p:sp>
      <p:sp>
        <p:nvSpPr>
          <p:cNvPr id="3" name="矩形 2"/>
          <p:cNvSpPr/>
          <p:nvPr/>
        </p:nvSpPr>
        <p:spPr>
          <a:xfrm>
            <a:off x="714348" y="428604"/>
            <a:ext cx="6159058" cy="584775"/>
          </a:xfrm>
          <a:prstGeom prst="rect">
            <a:avLst/>
          </a:prstGeom>
          <a:solidFill>
            <a:schemeClr val="bg1"/>
          </a:solidFill>
          <a:ln>
            <a:solidFill>
              <a:srgbClr val="FF0000"/>
            </a:solidFill>
          </a:ln>
        </p:spPr>
        <p:txBody>
          <a:bodyPr wrap="none">
            <a:spAutoFit/>
          </a:bodyPr>
          <a:lstStyle/>
          <a:p>
            <a:pPr lvl="0"/>
            <a:r>
              <a:rPr lang="en-US" altLang="zh-CN" sz="3200" b="1" dirty="0" smtClean="0">
                <a:solidFill>
                  <a:srgbClr val="00B050"/>
                </a:solidFill>
                <a:latin typeface="华文琥珀" pitchFamily="2" charset="-122"/>
                <a:ea typeface="华文琥珀" pitchFamily="2" charset="-122"/>
              </a:rPr>
              <a:t>2</a:t>
            </a:r>
            <a:r>
              <a:rPr lang="zh-CN" altLang="en-US" sz="3200" b="1" dirty="0" smtClean="0">
                <a:solidFill>
                  <a:srgbClr val="00B050"/>
                </a:solidFill>
                <a:latin typeface="华文琥珀" pitchFamily="2" charset="-122"/>
                <a:ea typeface="华文琥珀" pitchFamily="2" charset="-122"/>
              </a:rPr>
              <a:t>、农民阶级：中国革命的主力军</a:t>
            </a:r>
            <a:endParaRPr lang="zh-CN" altLang="en-US" sz="3200" b="1" dirty="0">
              <a:solidFill>
                <a:srgbClr val="00B050"/>
              </a:solidFill>
              <a:latin typeface="华文琥珀" pitchFamily="2" charset="-122"/>
              <a:ea typeface="华文琥珀" pitchFamily="2" charset="-122"/>
            </a:endParaRPr>
          </a:p>
        </p:txBody>
      </p:sp>
      <p:sp>
        <p:nvSpPr>
          <p:cNvPr id="4" name="矩形 3"/>
          <p:cNvSpPr/>
          <p:nvPr/>
        </p:nvSpPr>
        <p:spPr>
          <a:xfrm>
            <a:off x="611560" y="1268760"/>
            <a:ext cx="3528392" cy="1569660"/>
          </a:xfrm>
          <a:prstGeom prst="rect">
            <a:avLst/>
          </a:prstGeom>
          <a:ln>
            <a:solidFill>
              <a:schemeClr val="accent1"/>
            </a:solidFill>
          </a:ln>
        </p:spPr>
        <p:txBody>
          <a:bodyPr wrap="square">
            <a:spAutoFit/>
          </a:bodyPr>
          <a:lstStyle/>
          <a:p>
            <a:pPr lvl="0"/>
            <a:r>
              <a:rPr lang="zh-CN" altLang="en-US" sz="2400" b="1" dirty="0" smtClean="0">
                <a:solidFill>
                  <a:srgbClr val="0000FF"/>
                </a:solidFill>
                <a:latin typeface="Times New Roman" panose="02020603050405020304" pitchFamily="18" charset="0"/>
                <a:ea typeface="黑体" panose="02010609060101010101" pitchFamily="2" charset="-122"/>
              </a:rPr>
              <a:t>农民阶级是无产阶级最可靠的同盟军，</a:t>
            </a:r>
            <a:r>
              <a:rPr lang="zh-CN" altLang="en-US" sz="2400" b="1" dirty="0" smtClean="0">
                <a:solidFill>
                  <a:srgbClr val="FF0000"/>
                </a:solidFill>
                <a:latin typeface="Times New Roman" panose="02020603050405020304" pitchFamily="18" charset="0"/>
                <a:ea typeface="黑体" panose="02010609060101010101" pitchFamily="2" charset="-122"/>
              </a:rPr>
              <a:t>新民主主义革命实质上是无产阶级领导下的农民革命</a:t>
            </a:r>
            <a:endParaRPr lang="zh-CN" altLang="en-US" sz="2400" b="1" dirty="0">
              <a:solidFill>
                <a:srgbClr val="FF0000"/>
              </a:solidFill>
              <a:latin typeface="Times New Roman" panose="02020603050405020304" pitchFamily="18" charset="0"/>
              <a:ea typeface="黑体" panose="02010609060101010101" pitchFamily="2" charset="-122"/>
            </a:endParaRPr>
          </a:p>
        </p:txBody>
      </p:sp>
      <p:pic>
        <p:nvPicPr>
          <p:cNvPr id="86018" name="Picture 2" descr="https://gimg2.baidu.com/image_search/src=http%3A%2F%2Fpic.vjshi.com%2F2020-07-03%2F0a4caf9372518e90ef2c43022c480b80%2Fonline%2Fpuzzle.jpg%3Fx-oss-process%3Dstyle%2Fresize_w_720&amp;refer=http%3A%2F%2Fpic.vjshi.com&amp;app=2002&amp;size=f9999,10000&amp;q=a80&amp;n=0&amp;g=0n&amp;fmt=jpeg?sec=1635414725&amp;t=d7831d3b79f737bd5920868ee0b8cd64"/>
          <p:cNvPicPr>
            <a:picLocks noChangeAspect="1" noChangeArrowheads="1"/>
          </p:cNvPicPr>
          <p:nvPr/>
        </p:nvPicPr>
        <p:blipFill>
          <a:blip r:embed="rId2" cstate="print"/>
          <a:srcRect/>
          <a:stretch>
            <a:fillRect/>
          </a:stretch>
        </p:blipFill>
        <p:spPr bwMode="auto">
          <a:xfrm>
            <a:off x="4716016" y="1124744"/>
            <a:ext cx="3528392" cy="2498998"/>
          </a:xfrm>
          <a:prstGeom prst="rect">
            <a:avLst/>
          </a:prstGeom>
          <a:noFill/>
        </p:spPr>
      </p:pic>
      <p:pic>
        <p:nvPicPr>
          <p:cNvPr id="86020" name="Picture 4" descr="https://gimg2.baidu.com/image_search/src=http%3A%2F%2Fnews.cnr.cn%2Fnative%2Fgd%2F20190604%2FW020190604642853152011.png&amp;refer=http%3A%2F%2Fnews.cnr.cn&amp;app=2002&amp;size=f9999,10000&amp;q=a80&amp;n=0&amp;g=0n&amp;fmt=jpeg?sec=1635414803&amp;t=ee2b1787439c0402ee77b43b94e42ad7"/>
          <p:cNvPicPr>
            <a:picLocks noChangeAspect="1" noChangeArrowheads="1"/>
          </p:cNvPicPr>
          <p:nvPr/>
        </p:nvPicPr>
        <p:blipFill>
          <a:blip r:embed="rId3" cstate="print"/>
          <a:srcRect/>
          <a:stretch>
            <a:fillRect/>
          </a:stretch>
        </p:blipFill>
        <p:spPr bwMode="auto">
          <a:xfrm>
            <a:off x="4572000" y="3645024"/>
            <a:ext cx="4052714" cy="2876179"/>
          </a:xfrm>
          <a:prstGeom prst="rect">
            <a:avLst/>
          </a:prstGeom>
          <a:noFill/>
        </p:spPr>
      </p:pic>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idx="4294967295"/>
          </p:nvPr>
        </p:nvSpPr>
        <p:spPr>
          <a:xfrm>
            <a:off x="467544" y="1217612"/>
            <a:ext cx="2232025" cy="4133850"/>
          </a:xfrm>
          <a:prstGeom prst="rect">
            <a:avLst/>
          </a:prstGeom>
          <a:solidFill>
            <a:schemeClr val="bg1"/>
          </a:solidFill>
          <a:ln w="12700">
            <a:solidFill>
              <a:srgbClr val="FF0000"/>
            </a:solidFill>
            <a:miter/>
          </a:ln>
        </p:spPr>
        <p:txBody>
          <a:bodyPr anchor="t">
            <a:spAutoFit/>
          </a:bodyPr>
          <a:lstStyle/>
          <a:p>
            <a:pPr marL="0" indent="0">
              <a:lnSpc>
                <a:spcPct val="105000"/>
              </a:lnSpc>
              <a:spcBef>
                <a:spcPct val="50000"/>
              </a:spcBef>
              <a:buNone/>
            </a:pPr>
            <a:r>
              <a:rPr lang="en-US" altLang="zh-CN" sz="2800" dirty="0">
                <a:solidFill>
                  <a:srgbClr val="0000FF"/>
                </a:solidFill>
                <a:latin typeface="Times New Roman" panose="02020603050405020304" pitchFamily="18" charset="0"/>
                <a:ea typeface="华文新魏" panose="02010800040101010101" pitchFamily="2" charset="-122"/>
              </a:rPr>
              <a:t>    </a:t>
            </a:r>
            <a:r>
              <a:rPr lang="zh-CN" altLang="en-US" sz="2800" b="1" dirty="0">
                <a:solidFill>
                  <a:srgbClr val="0000FF"/>
                </a:solidFill>
                <a:latin typeface="Times New Roman" panose="02020603050405020304" pitchFamily="18" charset="0"/>
                <a:ea typeface="黑体" panose="02010609060101010101" pitchFamily="2" charset="-122"/>
              </a:rPr>
              <a:t>农民是中国工人的</a:t>
            </a:r>
            <a:r>
              <a:rPr lang="zh-CN" altLang="en-US" sz="2800" b="1" dirty="0">
                <a:solidFill>
                  <a:srgbClr val="FF0000"/>
                </a:solidFill>
                <a:latin typeface="Times New Roman" panose="02020603050405020304" pitchFamily="18" charset="0"/>
                <a:ea typeface="黑体" panose="02010609060101010101" pitchFamily="2" charset="-122"/>
              </a:rPr>
              <a:t>前身</a:t>
            </a:r>
            <a:r>
              <a:rPr lang="zh-CN" altLang="en-US" sz="2800" b="1" dirty="0">
                <a:solidFill>
                  <a:srgbClr val="0000FF"/>
                </a:solidFill>
                <a:latin typeface="Times New Roman" panose="02020603050405020304" pitchFamily="18" charset="0"/>
                <a:ea typeface="黑体" panose="02010609060101010101" pitchFamily="2" charset="-122"/>
              </a:rPr>
              <a:t>；工业市场的</a:t>
            </a:r>
            <a:r>
              <a:rPr lang="zh-CN" altLang="en-US" sz="2800" b="1" dirty="0">
                <a:solidFill>
                  <a:srgbClr val="FF0000"/>
                </a:solidFill>
                <a:latin typeface="Times New Roman" panose="02020603050405020304" pitchFamily="18" charset="0"/>
                <a:ea typeface="黑体" panose="02010609060101010101" pitchFamily="2" charset="-122"/>
              </a:rPr>
              <a:t>主体</a:t>
            </a:r>
            <a:r>
              <a:rPr lang="zh-CN" altLang="en-US" sz="2800" b="1" dirty="0">
                <a:solidFill>
                  <a:srgbClr val="0000FF"/>
                </a:solidFill>
                <a:latin typeface="Times New Roman" panose="02020603050405020304" pitchFamily="18" charset="0"/>
                <a:ea typeface="黑体" panose="02010609060101010101" pitchFamily="2" charset="-122"/>
              </a:rPr>
              <a:t>；武装力量的</a:t>
            </a:r>
            <a:r>
              <a:rPr lang="zh-CN" altLang="en-US" sz="2800" b="1" dirty="0">
                <a:solidFill>
                  <a:srgbClr val="FF0000"/>
                </a:solidFill>
                <a:latin typeface="Times New Roman" panose="02020603050405020304" pitchFamily="18" charset="0"/>
                <a:ea typeface="黑体" panose="02010609060101010101" pitchFamily="2" charset="-122"/>
              </a:rPr>
              <a:t>源泉</a:t>
            </a:r>
            <a:r>
              <a:rPr lang="zh-CN" altLang="en-US" sz="2800" b="1" dirty="0">
                <a:solidFill>
                  <a:srgbClr val="0000FF"/>
                </a:solidFill>
                <a:latin typeface="Times New Roman" panose="02020603050405020304" pitchFamily="18" charset="0"/>
                <a:ea typeface="黑体" panose="02010609060101010101" pitchFamily="2" charset="-122"/>
              </a:rPr>
              <a:t>。</a:t>
            </a:r>
            <a:br>
              <a:rPr lang="zh-CN" altLang="en-US" sz="2800" b="1" dirty="0">
                <a:solidFill>
                  <a:srgbClr val="0000FF"/>
                </a:solidFill>
                <a:latin typeface="Times New Roman" panose="02020603050405020304" pitchFamily="18" charset="0"/>
                <a:ea typeface="黑体" panose="02010609060101010101" pitchFamily="2" charset="-122"/>
              </a:rPr>
            </a:br>
            <a:r>
              <a:rPr lang="zh-CN" altLang="en-US" sz="2800" b="1" dirty="0">
                <a:solidFill>
                  <a:srgbClr val="0000FF"/>
                </a:solidFill>
                <a:latin typeface="Times New Roman" panose="02020603050405020304" pitchFamily="18" charset="0"/>
                <a:ea typeface="黑体" panose="02010609060101010101" pitchFamily="2" charset="-122"/>
              </a:rPr>
              <a:t>    </a:t>
            </a:r>
            <a:r>
              <a:rPr lang="zh-CN" altLang="en-US" sz="2800" b="1" dirty="0">
                <a:solidFill>
                  <a:srgbClr val="FF0000"/>
                </a:solidFill>
                <a:latin typeface="Times New Roman" panose="02020603050405020304" pitchFamily="18" charset="0"/>
                <a:ea typeface="黑体" panose="02010609060101010101" pitchFamily="2" charset="-122"/>
              </a:rPr>
              <a:t>谁赢得了农民，谁就赢得了中国</a:t>
            </a:r>
          </a:p>
        </p:txBody>
      </p:sp>
      <p:pic>
        <p:nvPicPr>
          <p:cNvPr id="34818" name="图片 32771" descr="u=2320044931,1084519143&amp;fm=21&amp;gp=0"/>
          <p:cNvPicPr>
            <a:picLocks noChangeAspect="1"/>
          </p:cNvPicPr>
          <p:nvPr/>
        </p:nvPicPr>
        <p:blipFill>
          <a:blip r:embed="rId2" cstate="print"/>
          <a:stretch>
            <a:fillRect/>
          </a:stretch>
        </p:blipFill>
        <p:spPr>
          <a:xfrm>
            <a:off x="3132138" y="692150"/>
            <a:ext cx="6011862" cy="5184775"/>
          </a:xfrm>
          <a:prstGeom prst="rect">
            <a:avLst/>
          </a:prstGeom>
          <a:noFill/>
          <a:ln w="9525">
            <a:noFill/>
          </a:ln>
        </p:spPr>
      </p:pic>
    </p:spTree>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p:nvPr/>
        </p:nvSpPr>
        <p:spPr>
          <a:xfrm>
            <a:off x="642910" y="2500306"/>
            <a:ext cx="2808287" cy="2677656"/>
          </a:xfrm>
          <a:prstGeom prst="rect">
            <a:avLst/>
          </a:prstGeom>
          <a:solidFill>
            <a:schemeClr val="bg1"/>
          </a:solidFill>
          <a:ln w="9525" cap="flat" cmpd="sng">
            <a:solidFill>
              <a:srgbClr val="FF0000"/>
            </a:solidFill>
            <a:prstDash val="solid"/>
            <a:miter/>
            <a:headEnd type="none" w="med" len="med"/>
            <a:tailEnd type="none" w="med" len="med"/>
          </a:ln>
        </p:spPr>
        <p:txBody>
          <a:bodyPr anchor="t">
            <a:spAutoFit/>
          </a:bodyPr>
          <a:lstStyle/>
          <a:p>
            <a:pPr lvl="0"/>
            <a:r>
              <a:rPr lang="zh-CN" altLang="en-US" sz="2800" b="1" dirty="0" smtClean="0">
                <a:solidFill>
                  <a:srgbClr val="0000FF"/>
                </a:solidFill>
                <a:latin typeface="Times New Roman" panose="02020603050405020304" pitchFamily="18" charset="0"/>
                <a:ea typeface="黑体" panose="02010609060101010101" pitchFamily="2" charset="-122"/>
              </a:rPr>
              <a:t>包括</a:t>
            </a:r>
            <a:r>
              <a:rPr lang="zh-CN" altLang="en-US" sz="2800" b="1" dirty="0">
                <a:solidFill>
                  <a:srgbClr val="0000FF"/>
                </a:solidFill>
                <a:latin typeface="Times New Roman" panose="02020603050405020304" pitchFamily="18" charset="0"/>
                <a:ea typeface="黑体" panose="02010609060101010101" pitchFamily="2" charset="-122"/>
              </a:rPr>
              <a:t>广大的知识分子、小商人、手工业者和自由职业者，同样深受“三座大山”的压迫</a:t>
            </a:r>
          </a:p>
        </p:txBody>
      </p:sp>
      <p:pic>
        <p:nvPicPr>
          <p:cNvPr id="35842" name="图片 33795" descr="2321230079355467"/>
          <p:cNvPicPr>
            <a:picLocks noChangeAspect="1"/>
          </p:cNvPicPr>
          <p:nvPr/>
        </p:nvPicPr>
        <p:blipFill>
          <a:blip r:embed="rId2" cstate="print"/>
          <a:stretch>
            <a:fillRect/>
          </a:stretch>
        </p:blipFill>
        <p:spPr>
          <a:xfrm>
            <a:off x="3643306" y="1857364"/>
            <a:ext cx="5292725" cy="5000636"/>
          </a:xfrm>
          <a:prstGeom prst="rect">
            <a:avLst/>
          </a:prstGeom>
          <a:noFill/>
          <a:ln w="9525">
            <a:noFill/>
          </a:ln>
        </p:spPr>
      </p:pic>
      <p:sp>
        <p:nvSpPr>
          <p:cNvPr id="4" name="矩形 3"/>
          <p:cNvSpPr/>
          <p:nvPr/>
        </p:nvSpPr>
        <p:spPr>
          <a:xfrm>
            <a:off x="611560" y="548680"/>
            <a:ext cx="4320480" cy="1077218"/>
          </a:xfrm>
          <a:prstGeom prst="rect">
            <a:avLst/>
          </a:prstGeom>
          <a:solidFill>
            <a:schemeClr val="bg1"/>
          </a:solidFill>
          <a:ln>
            <a:solidFill>
              <a:srgbClr val="FF0000"/>
            </a:solidFill>
          </a:ln>
        </p:spPr>
        <p:txBody>
          <a:bodyPr wrap="square">
            <a:spAutoFit/>
          </a:bodyPr>
          <a:lstStyle/>
          <a:p>
            <a:pPr lvl="0"/>
            <a:r>
              <a:rPr lang="en-US" altLang="zh-CN" sz="3200" b="1" dirty="0" smtClean="0">
                <a:solidFill>
                  <a:srgbClr val="00B050"/>
                </a:solidFill>
                <a:latin typeface="华文琥珀" pitchFamily="2" charset="-122"/>
                <a:ea typeface="华文琥珀" pitchFamily="2" charset="-122"/>
              </a:rPr>
              <a:t>3</a:t>
            </a:r>
            <a:r>
              <a:rPr lang="zh-CN" altLang="en-US" sz="3200" b="1" dirty="0" smtClean="0">
                <a:solidFill>
                  <a:srgbClr val="00B050"/>
                </a:solidFill>
                <a:latin typeface="华文琥珀" pitchFamily="2" charset="-122"/>
                <a:ea typeface="华文琥珀" pitchFamily="2" charset="-122"/>
              </a:rPr>
              <a:t>、城市小资产阶级</a:t>
            </a:r>
            <a:endParaRPr lang="en-US" altLang="zh-CN" sz="3200" b="1" dirty="0" smtClean="0">
              <a:solidFill>
                <a:srgbClr val="00B050"/>
              </a:solidFill>
              <a:latin typeface="华文琥珀" pitchFamily="2" charset="-122"/>
              <a:ea typeface="华文琥珀" pitchFamily="2" charset="-122"/>
            </a:endParaRPr>
          </a:p>
          <a:p>
            <a:pPr lvl="0"/>
            <a:r>
              <a:rPr lang="en-US" altLang="zh-CN" sz="3200" b="1" dirty="0" smtClean="0">
                <a:solidFill>
                  <a:srgbClr val="00B050"/>
                </a:solidFill>
                <a:latin typeface="华文琥珀" pitchFamily="2" charset="-122"/>
                <a:ea typeface="华文琥珀" pitchFamily="2" charset="-122"/>
              </a:rPr>
              <a:t>    </a:t>
            </a:r>
            <a:r>
              <a:rPr lang="zh-CN" altLang="en-US" sz="3200" b="1" dirty="0" smtClean="0">
                <a:solidFill>
                  <a:srgbClr val="00B050"/>
                </a:solidFill>
                <a:latin typeface="华文琥珀" pitchFamily="2" charset="-122"/>
                <a:ea typeface="华文琥珀" pitchFamily="2" charset="-122"/>
              </a:rPr>
              <a:t>中国革命的动力之一</a:t>
            </a:r>
            <a:endParaRPr lang="zh-CN" altLang="en-US" sz="3200" b="1" dirty="0">
              <a:solidFill>
                <a:srgbClr val="00B050"/>
              </a:solidFill>
              <a:latin typeface="华文琥珀" pitchFamily="2" charset="-122"/>
              <a:ea typeface="华文琥珀" pitchFamily="2" charset="-122"/>
            </a:endParaRPr>
          </a:p>
        </p:txBody>
      </p:sp>
    </p:spTree>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3"/>
          <p:cNvSpPr/>
          <p:nvPr/>
        </p:nvSpPr>
        <p:spPr>
          <a:xfrm>
            <a:off x="642910" y="1785926"/>
            <a:ext cx="2663825" cy="3170099"/>
          </a:xfrm>
          <a:prstGeom prst="rect">
            <a:avLst/>
          </a:prstGeom>
          <a:solidFill>
            <a:schemeClr val="bg1"/>
          </a:solidFill>
          <a:ln w="9525" cap="flat" cmpd="sng">
            <a:solidFill>
              <a:srgbClr val="FF0000"/>
            </a:solidFill>
            <a:prstDash val="solid"/>
            <a:miter/>
            <a:headEnd type="none" w="med" len="med"/>
            <a:tailEnd type="none" w="med" len="med"/>
          </a:ln>
        </p:spPr>
        <p:txBody>
          <a:bodyPr wrap="square" anchor="t">
            <a:spAutoFit/>
          </a:bodyPr>
          <a:lstStyle/>
          <a:p>
            <a:pPr lvl="0"/>
            <a:r>
              <a:rPr lang="zh-CN" altLang="en-US" sz="2800" b="1" dirty="0" smtClean="0">
                <a:latin typeface="Times New Roman" panose="02020603050405020304" pitchFamily="18" charset="0"/>
                <a:ea typeface="黑体" panose="02010609060101010101" pitchFamily="2" charset="-122"/>
              </a:rPr>
              <a:t>       同</a:t>
            </a:r>
            <a:r>
              <a:rPr lang="zh-CN" altLang="en-US" sz="2800" b="1" dirty="0">
                <a:latin typeface="Times New Roman" panose="02020603050405020304" pitchFamily="18" charset="0"/>
                <a:ea typeface="黑体" panose="02010609060101010101" pitchFamily="2" charset="-122"/>
              </a:rPr>
              <a:t>帝国主义和封建主义有矛盾，具有</a:t>
            </a:r>
            <a:r>
              <a:rPr lang="zh-CN" altLang="en-US" sz="2800" b="1" dirty="0" smtClean="0">
                <a:latin typeface="Times New Roman" panose="02020603050405020304" pitchFamily="18" charset="0"/>
                <a:ea typeface="黑体" panose="02010609060101010101" pitchFamily="2" charset="-122"/>
              </a:rPr>
              <a:t>革命性。</a:t>
            </a:r>
            <a:endParaRPr lang="zh-CN" altLang="en-US" sz="2800" b="1" dirty="0">
              <a:latin typeface="Times New Roman" panose="02020603050405020304" pitchFamily="18" charset="0"/>
              <a:ea typeface="黑体" panose="02010609060101010101" pitchFamily="2" charset="-122"/>
            </a:endParaRPr>
          </a:p>
          <a:p>
            <a:pPr lvl="0"/>
            <a:r>
              <a:rPr lang="zh-CN" altLang="en-US" sz="2800" b="1" dirty="0">
                <a:latin typeface="Times New Roman" panose="02020603050405020304" pitchFamily="18" charset="0"/>
                <a:ea typeface="黑体" panose="02010609060101010101" pitchFamily="2" charset="-122"/>
              </a:rPr>
              <a:t>     同帝和封有联系，具有动摇性和</a:t>
            </a:r>
            <a:r>
              <a:rPr lang="zh-CN" altLang="en-US" sz="2800" b="1" dirty="0" smtClean="0">
                <a:latin typeface="Times New Roman" panose="02020603050405020304" pitchFamily="18" charset="0"/>
                <a:ea typeface="黑体" panose="02010609060101010101" pitchFamily="2" charset="-122"/>
              </a:rPr>
              <a:t>妥协性。</a:t>
            </a:r>
            <a:r>
              <a:rPr lang="zh-CN" altLang="en-US" sz="3200" b="1" dirty="0" smtClean="0">
                <a:latin typeface="Arial" panose="020B0604020202020204" pitchFamily="34" charset="0"/>
                <a:ea typeface="黑体" panose="02010609060101010101" pitchFamily="2" charset="-122"/>
              </a:rPr>
              <a:t> </a:t>
            </a:r>
            <a:endParaRPr lang="zh-CN" altLang="en-US" sz="3200" b="1" dirty="0">
              <a:latin typeface="Arial" panose="020B0604020202020204" pitchFamily="34" charset="0"/>
              <a:ea typeface="黑体" panose="02010609060101010101" pitchFamily="2" charset="-122"/>
            </a:endParaRPr>
          </a:p>
        </p:txBody>
      </p:sp>
      <p:pic>
        <p:nvPicPr>
          <p:cNvPr id="36866" name="图片 34819" descr="1_110902232439_1"/>
          <p:cNvPicPr>
            <a:picLocks noChangeAspect="1"/>
          </p:cNvPicPr>
          <p:nvPr/>
        </p:nvPicPr>
        <p:blipFill>
          <a:blip r:embed="rId2" cstate="print"/>
          <a:stretch>
            <a:fillRect/>
          </a:stretch>
        </p:blipFill>
        <p:spPr>
          <a:xfrm>
            <a:off x="3779838" y="1052513"/>
            <a:ext cx="4994275" cy="4279900"/>
          </a:xfrm>
          <a:prstGeom prst="rect">
            <a:avLst/>
          </a:prstGeom>
          <a:noFill/>
          <a:ln w="9525">
            <a:noFill/>
          </a:ln>
        </p:spPr>
      </p:pic>
      <p:sp>
        <p:nvSpPr>
          <p:cNvPr id="4" name="矩形 3"/>
          <p:cNvSpPr/>
          <p:nvPr/>
        </p:nvSpPr>
        <p:spPr>
          <a:xfrm>
            <a:off x="357158" y="357166"/>
            <a:ext cx="5753498" cy="584775"/>
          </a:xfrm>
          <a:prstGeom prst="rect">
            <a:avLst/>
          </a:prstGeom>
          <a:solidFill>
            <a:schemeClr val="bg1"/>
          </a:solidFill>
          <a:ln>
            <a:solidFill>
              <a:srgbClr val="FF0000"/>
            </a:solidFill>
          </a:ln>
        </p:spPr>
        <p:txBody>
          <a:bodyPr wrap="none">
            <a:spAutoFit/>
          </a:bodyPr>
          <a:lstStyle/>
          <a:p>
            <a:r>
              <a:rPr lang="en-US" altLang="zh-CN" sz="3200" b="1" dirty="0" smtClean="0">
                <a:solidFill>
                  <a:srgbClr val="00B050"/>
                </a:solidFill>
                <a:latin typeface="华文琥珀" pitchFamily="2" charset="-122"/>
                <a:ea typeface="华文琥珀" pitchFamily="2" charset="-122"/>
              </a:rPr>
              <a:t>4</a:t>
            </a:r>
            <a:r>
              <a:rPr lang="zh-CN" altLang="en-US" sz="3200" b="1" dirty="0" smtClean="0">
                <a:solidFill>
                  <a:srgbClr val="00B050"/>
                </a:solidFill>
                <a:latin typeface="华文琥珀" pitchFamily="2" charset="-122"/>
                <a:ea typeface="华文琥珀" pitchFamily="2" charset="-122"/>
              </a:rPr>
              <a:t>、民族资产阶级：具有两面性</a:t>
            </a:r>
            <a:endParaRPr lang="zh-CN" altLang="en-US" sz="3200" b="1" dirty="0">
              <a:solidFill>
                <a:srgbClr val="00B050"/>
              </a:solidFill>
              <a:latin typeface="华文琥珀" pitchFamily="2" charset="-122"/>
              <a:ea typeface="华文琥珀" pitchFamily="2" charset="-122"/>
            </a:endParaRPr>
          </a:p>
        </p:txBody>
      </p:sp>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4"/>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7892" name="Text Box 5"/>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7893" name="Text Box 6"/>
          <p:cNvSpPr txBox="1"/>
          <p:nvPr/>
        </p:nvSpPr>
        <p:spPr>
          <a:xfrm>
            <a:off x="1214414" y="928670"/>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7894" name="Text Box 7"/>
          <p:cNvSpPr txBox="1"/>
          <p:nvPr/>
        </p:nvSpPr>
        <p:spPr>
          <a:xfrm>
            <a:off x="1571604" y="928670"/>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11" name="矩形 10"/>
          <p:cNvSpPr/>
          <p:nvPr/>
        </p:nvSpPr>
        <p:spPr>
          <a:xfrm>
            <a:off x="539552" y="548680"/>
            <a:ext cx="5929828" cy="1077218"/>
          </a:xfrm>
          <a:prstGeom prst="rect">
            <a:avLst/>
          </a:prstGeom>
          <a:solidFill>
            <a:schemeClr val="bg1"/>
          </a:solidFill>
          <a:ln>
            <a:solidFill>
              <a:srgbClr val="FF0000"/>
            </a:solidFill>
          </a:ln>
        </p:spPr>
        <p:txBody>
          <a:bodyPr wrap="none">
            <a:spAutoFit/>
          </a:bodyPr>
          <a:lstStyle/>
          <a:p>
            <a:pPr lvl="0"/>
            <a:r>
              <a:rPr lang="zh-CN" altLang="en-US" sz="3200" dirty="0" smtClean="0">
                <a:solidFill>
                  <a:srgbClr val="FF0000"/>
                </a:solidFill>
                <a:latin typeface="华文琥珀" pitchFamily="2" charset="-122"/>
                <a:ea typeface="华文琥珀" pitchFamily="2" charset="-122"/>
              </a:rPr>
              <a:t>（二）民主主义革命的领导力量</a:t>
            </a:r>
            <a:endParaRPr lang="en-US" altLang="zh-CN" sz="3200" dirty="0" smtClean="0">
              <a:solidFill>
                <a:srgbClr val="FF0000"/>
              </a:solidFill>
              <a:latin typeface="华文琥珀" pitchFamily="2" charset="-122"/>
              <a:ea typeface="华文琥珀" pitchFamily="2" charset="-122"/>
            </a:endParaRPr>
          </a:p>
          <a:p>
            <a:pPr lvl="0"/>
            <a:r>
              <a:rPr lang="en-US" altLang="zh-CN" sz="3200" dirty="0" smtClean="0">
                <a:solidFill>
                  <a:srgbClr val="FF0000"/>
                </a:solidFill>
                <a:latin typeface="华文琥珀" pitchFamily="2" charset="-122"/>
                <a:ea typeface="华文琥珀" pitchFamily="2" charset="-122"/>
              </a:rPr>
              <a:t>          </a:t>
            </a:r>
            <a:r>
              <a:rPr lang="zh-CN" altLang="en-US" sz="3200" dirty="0" smtClean="0">
                <a:solidFill>
                  <a:srgbClr val="FF0000"/>
                </a:solidFill>
                <a:latin typeface="华文琥珀" pitchFamily="2" charset="-122"/>
                <a:ea typeface="华文琥珀" pitchFamily="2" charset="-122"/>
              </a:rPr>
              <a:t>无产阶级</a:t>
            </a:r>
            <a:endParaRPr lang="zh-CN" altLang="en-US" sz="3200" dirty="0">
              <a:solidFill>
                <a:srgbClr val="FF0000"/>
              </a:solidFill>
              <a:latin typeface="华文琥珀" pitchFamily="2" charset="-122"/>
              <a:ea typeface="华文琥珀" pitchFamily="2" charset="-122"/>
            </a:endParaRPr>
          </a:p>
        </p:txBody>
      </p:sp>
      <p:sp>
        <p:nvSpPr>
          <p:cNvPr id="12" name="矩形 11"/>
          <p:cNvSpPr/>
          <p:nvPr/>
        </p:nvSpPr>
        <p:spPr>
          <a:xfrm>
            <a:off x="1214414" y="2428868"/>
            <a:ext cx="6505307" cy="1977401"/>
          </a:xfrm>
          <a:prstGeom prst="rect">
            <a:avLst/>
          </a:prstGeom>
          <a:solidFill>
            <a:schemeClr val="bg1"/>
          </a:solidFill>
          <a:ln>
            <a:solidFill>
              <a:srgbClr val="FF0000"/>
            </a:solidFill>
          </a:ln>
        </p:spPr>
        <p:txBody>
          <a:bodyPr wrap="none">
            <a:spAutoFit/>
          </a:bodyPr>
          <a:lstStyle/>
          <a:p>
            <a:pPr>
              <a:lnSpc>
                <a:spcPct val="150000"/>
              </a:lnSpc>
            </a:pPr>
            <a:r>
              <a:rPr lang="en-US" altLang="zh-CN" sz="2800" b="1" dirty="0" smtClean="0">
                <a:solidFill>
                  <a:srgbClr val="0000FF"/>
                </a:solidFill>
              </a:rPr>
              <a:t>        </a:t>
            </a:r>
            <a:r>
              <a:rPr lang="zh-CN" altLang="en-US" sz="2800" b="1" dirty="0" smtClean="0">
                <a:solidFill>
                  <a:srgbClr val="0000FF"/>
                </a:solidFill>
              </a:rPr>
              <a:t>新旧民主主义革命区别的根本标志</a:t>
            </a:r>
            <a:endParaRPr lang="en-US" altLang="zh-CN" sz="2800" b="1" dirty="0" smtClean="0">
              <a:solidFill>
                <a:srgbClr val="0000FF"/>
              </a:solidFill>
            </a:endParaRPr>
          </a:p>
          <a:p>
            <a:pPr>
              <a:lnSpc>
                <a:spcPct val="150000"/>
              </a:lnSpc>
            </a:pPr>
            <a:r>
              <a:rPr lang="zh-CN" altLang="en-US" sz="2800" b="1" dirty="0" smtClean="0">
                <a:solidFill>
                  <a:srgbClr val="0000FF"/>
                </a:solidFill>
              </a:rPr>
              <a:t>是领导权的不同。</a:t>
            </a:r>
            <a:endParaRPr lang="en-US" altLang="zh-CN" sz="2800" b="1" dirty="0" smtClean="0">
              <a:solidFill>
                <a:srgbClr val="0000FF"/>
              </a:solidFill>
            </a:endParaRPr>
          </a:p>
          <a:p>
            <a:pPr>
              <a:lnSpc>
                <a:spcPct val="150000"/>
              </a:lnSpc>
            </a:pPr>
            <a:r>
              <a:rPr lang="en-US" altLang="zh-CN" sz="2800" b="1" dirty="0" smtClean="0">
                <a:solidFill>
                  <a:srgbClr val="0000FF"/>
                </a:solidFill>
              </a:rPr>
              <a:t>        </a:t>
            </a:r>
            <a:r>
              <a:rPr lang="zh-CN" altLang="en-US" sz="2800" b="1" dirty="0" smtClean="0">
                <a:solidFill>
                  <a:srgbClr val="0000FF"/>
                </a:solidFill>
              </a:rPr>
              <a:t>新民主主义革命由无产阶级领导。</a:t>
            </a:r>
            <a:endParaRPr lang="zh-CN" altLang="en-US" sz="2800" b="1" dirty="0">
              <a:solidFill>
                <a:srgbClr val="0000FF"/>
              </a:solidFill>
            </a:endParaRPr>
          </a:p>
        </p:txBody>
      </p:sp>
    </p:spTree>
  </p:cSld>
  <p:clrMapOvr>
    <a:masterClrMapping/>
  </p:clrMapOvr>
  <p:transition>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584" y="764704"/>
            <a:ext cx="5929828" cy="560153"/>
          </a:xfrm>
          <a:prstGeom prst="rect">
            <a:avLst/>
          </a:prstGeom>
          <a:solidFill>
            <a:schemeClr val="bg1"/>
          </a:solidFill>
          <a:ln>
            <a:solidFill>
              <a:srgbClr val="FF0000"/>
            </a:solidFill>
          </a:ln>
        </p:spPr>
        <p:txBody>
          <a:bodyPr wrap="none">
            <a:spAutoFit/>
          </a:bodyPr>
          <a:lstStyle/>
          <a:p>
            <a:pPr>
              <a:lnSpc>
                <a:spcPct val="95000"/>
              </a:lnSpc>
            </a:pPr>
            <a:r>
              <a:rPr lang="zh-CN" altLang="en-US" sz="3200" b="1" dirty="0" smtClean="0">
                <a:solidFill>
                  <a:srgbClr val="00B050"/>
                </a:solidFill>
                <a:latin typeface="华文琥珀" pitchFamily="2" charset="-122"/>
                <a:ea typeface="华文琥珀" pitchFamily="2" charset="-122"/>
              </a:rPr>
              <a:t>无产阶级的基本优点和特殊优点</a:t>
            </a:r>
            <a:endParaRPr lang="zh-CN" altLang="en-US" sz="3200" b="1" dirty="0">
              <a:solidFill>
                <a:srgbClr val="00B050"/>
              </a:solidFill>
              <a:latin typeface="华文琥珀" pitchFamily="2" charset="-122"/>
              <a:ea typeface="华文琥珀" pitchFamily="2" charset="-122"/>
            </a:endParaRPr>
          </a:p>
        </p:txBody>
      </p:sp>
      <p:sp>
        <p:nvSpPr>
          <p:cNvPr id="5" name="矩形 4"/>
          <p:cNvSpPr/>
          <p:nvPr/>
        </p:nvSpPr>
        <p:spPr>
          <a:xfrm>
            <a:off x="395536" y="2708920"/>
            <a:ext cx="720080" cy="3416320"/>
          </a:xfrm>
          <a:prstGeom prst="rect">
            <a:avLst/>
          </a:prstGeom>
          <a:noFill/>
          <a:ln>
            <a:solidFill>
              <a:schemeClr val="accent1"/>
            </a:solidFill>
          </a:ln>
        </p:spPr>
        <p:txBody>
          <a:bodyPr wrap="square">
            <a:spAutoFit/>
          </a:bodyPr>
          <a:lstStyle/>
          <a:p>
            <a:pPr>
              <a:lnSpc>
                <a:spcPct val="120000"/>
              </a:lnSpc>
              <a:spcBef>
                <a:spcPct val="25000"/>
              </a:spcBef>
            </a:pPr>
            <a:r>
              <a:rPr lang="zh-CN" altLang="en-US" b="1" dirty="0" smtClean="0">
                <a:solidFill>
                  <a:srgbClr val="0000FF"/>
                </a:solidFill>
                <a:ea typeface="黑体" panose="02010609060101010101" pitchFamily="2" charset="-122"/>
              </a:rPr>
              <a:t>中国无产阶级具有世界无产阶级的基本优点</a:t>
            </a:r>
            <a:endParaRPr lang="zh-CN" altLang="en-US" b="1" dirty="0">
              <a:solidFill>
                <a:srgbClr val="0000FF"/>
              </a:solidFill>
              <a:ea typeface="黑体" panose="02010609060101010101" pitchFamily="2" charset="-122"/>
            </a:endParaRPr>
          </a:p>
        </p:txBody>
      </p:sp>
      <p:sp>
        <p:nvSpPr>
          <p:cNvPr id="6" name="矩形 5"/>
          <p:cNvSpPr/>
          <p:nvPr/>
        </p:nvSpPr>
        <p:spPr>
          <a:xfrm>
            <a:off x="1259632" y="2852936"/>
            <a:ext cx="2509020" cy="369332"/>
          </a:xfrm>
          <a:prstGeom prst="rect">
            <a:avLst/>
          </a:prstGeom>
          <a:ln>
            <a:solidFill>
              <a:schemeClr val="accent1"/>
            </a:solidFill>
          </a:ln>
        </p:spPr>
        <p:txBody>
          <a:bodyPr wrap="none">
            <a:spAutoFit/>
          </a:bodyPr>
          <a:lstStyle/>
          <a:p>
            <a:r>
              <a:rPr lang="zh-CN" altLang="en-US" b="1" dirty="0" smtClean="0">
                <a:solidFill>
                  <a:srgbClr val="0000FF"/>
                </a:solidFill>
                <a:ea typeface="黑体" panose="02010609060101010101" pitchFamily="2" charset="-122"/>
              </a:rPr>
              <a:t>与先进生产方式相联系</a:t>
            </a:r>
            <a:endParaRPr lang="zh-CN" altLang="en-US" dirty="0"/>
          </a:p>
        </p:txBody>
      </p:sp>
      <p:sp>
        <p:nvSpPr>
          <p:cNvPr id="7" name="矩形 6"/>
          <p:cNvSpPr/>
          <p:nvPr/>
        </p:nvSpPr>
        <p:spPr>
          <a:xfrm>
            <a:off x="1259632" y="4077072"/>
            <a:ext cx="2509020" cy="369332"/>
          </a:xfrm>
          <a:prstGeom prst="rect">
            <a:avLst/>
          </a:prstGeom>
          <a:ln>
            <a:solidFill>
              <a:schemeClr val="accent1"/>
            </a:solidFill>
          </a:ln>
        </p:spPr>
        <p:txBody>
          <a:bodyPr wrap="none">
            <a:spAutoFit/>
          </a:bodyPr>
          <a:lstStyle/>
          <a:p>
            <a:r>
              <a:rPr lang="zh-CN" altLang="en-US" b="1" dirty="0" smtClean="0">
                <a:solidFill>
                  <a:srgbClr val="0000FF"/>
                </a:solidFill>
                <a:ea typeface="黑体" panose="02010609060101010101" pitchFamily="2" charset="-122"/>
              </a:rPr>
              <a:t>没有私人占有生产资料</a:t>
            </a:r>
            <a:endParaRPr lang="zh-CN" altLang="en-US" dirty="0"/>
          </a:p>
        </p:txBody>
      </p:sp>
      <p:sp>
        <p:nvSpPr>
          <p:cNvPr id="8" name="矩形 7"/>
          <p:cNvSpPr/>
          <p:nvPr/>
        </p:nvSpPr>
        <p:spPr>
          <a:xfrm>
            <a:off x="1259632" y="5085184"/>
            <a:ext cx="1863011" cy="369332"/>
          </a:xfrm>
          <a:prstGeom prst="rect">
            <a:avLst/>
          </a:prstGeom>
          <a:ln>
            <a:solidFill>
              <a:schemeClr val="accent1"/>
            </a:solidFill>
          </a:ln>
        </p:spPr>
        <p:txBody>
          <a:bodyPr wrap="none">
            <a:spAutoFit/>
          </a:bodyPr>
          <a:lstStyle/>
          <a:p>
            <a:r>
              <a:rPr lang="zh-CN" altLang="en-US" b="1" dirty="0" smtClean="0">
                <a:solidFill>
                  <a:srgbClr val="0000FF"/>
                </a:solidFill>
                <a:ea typeface="黑体" panose="02010609060101010101" pitchFamily="2" charset="-122"/>
              </a:rPr>
              <a:t>富有组织纪律性</a:t>
            </a:r>
            <a:r>
              <a:rPr lang="zh-CN" altLang="en-US" b="1" dirty="0" smtClean="0"/>
              <a:t> </a:t>
            </a:r>
            <a:endParaRPr lang="zh-CN" altLang="en-US" dirty="0"/>
          </a:p>
        </p:txBody>
      </p:sp>
      <p:sp>
        <p:nvSpPr>
          <p:cNvPr id="9" name="矩形 8"/>
          <p:cNvSpPr/>
          <p:nvPr/>
        </p:nvSpPr>
        <p:spPr>
          <a:xfrm>
            <a:off x="4499992" y="3140968"/>
            <a:ext cx="648072" cy="2086725"/>
          </a:xfrm>
          <a:prstGeom prst="rect">
            <a:avLst/>
          </a:prstGeom>
          <a:ln>
            <a:solidFill>
              <a:schemeClr val="accent1"/>
            </a:solidFill>
          </a:ln>
        </p:spPr>
        <p:txBody>
          <a:bodyPr wrap="square">
            <a:spAutoFit/>
          </a:bodyPr>
          <a:lstStyle/>
          <a:p>
            <a:pPr>
              <a:lnSpc>
                <a:spcPct val="120000"/>
              </a:lnSpc>
              <a:spcBef>
                <a:spcPct val="25000"/>
              </a:spcBef>
            </a:pPr>
            <a:r>
              <a:rPr lang="zh-CN" altLang="en-US" b="1" dirty="0" smtClean="0">
                <a:solidFill>
                  <a:srgbClr val="0000FF"/>
                </a:solidFill>
                <a:ea typeface="黑体" panose="02010609060101010101" pitchFamily="2" charset="-122"/>
              </a:rPr>
              <a:t>中国无产阶级具有</a:t>
            </a:r>
            <a:r>
              <a:rPr lang="zh-CN" altLang="en-US" b="1" dirty="0" smtClean="0">
                <a:solidFill>
                  <a:srgbClr val="FF0000"/>
                </a:solidFill>
                <a:ea typeface="黑体" panose="02010609060101010101" pitchFamily="2" charset="-122"/>
              </a:rPr>
              <a:t>特殊优点</a:t>
            </a:r>
            <a:endParaRPr lang="zh-CN" altLang="en-US" b="1" dirty="0">
              <a:solidFill>
                <a:srgbClr val="FF0000"/>
              </a:solidFill>
              <a:ea typeface="黑体" panose="02010609060101010101" pitchFamily="2" charset="-122"/>
            </a:endParaRPr>
          </a:p>
        </p:txBody>
      </p:sp>
      <p:sp>
        <p:nvSpPr>
          <p:cNvPr id="10" name="矩形 9"/>
          <p:cNvSpPr/>
          <p:nvPr/>
        </p:nvSpPr>
        <p:spPr>
          <a:xfrm>
            <a:off x="5292080" y="2636912"/>
            <a:ext cx="3563888" cy="923330"/>
          </a:xfrm>
          <a:prstGeom prst="rect">
            <a:avLst/>
          </a:prstGeom>
          <a:ln>
            <a:solidFill>
              <a:schemeClr val="accent1"/>
            </a:solidFill>
          </a:ln>
        </p:spPr>
        <p:txBody>
          <a:bodyPr wrap="square">
            <a:spAutoFit/>
          </a:bodyPr>
          <a:lstStyle/>
          <a:p>
            <a:r>
              <a:rPr lang="zh-CN" altLang="en-US" b="1" dirty="0" smtClean="0">
                <a:solidFill>
                  <a:srgbClr val="0000FF"/>
                </a:solidFill>
                <a:ea typeface="黑体" panose="02010609060101010101" pitchFamily="2" charset="-122"/>
              </a:rPr>
              <a:t>深受外国资本主义、本国封建势力和资产阶级的三重压迫，具有坚强的斗争性和革命的彻底性</a:t>
            </a:r>
            <a:endParaRPr lang="zh-CN" altLang="en-US" dirty="0"/>
          </a:p>
        </p:txBody>
      </p:sp>
      <p:sp>
        <p:nvSpPr>
          <p:cNvPr id="11" name="矩形 10"/>
          <p:cNvSpPr/>
          <p:nvPr/>
        </p:nvSpPr>
        <p:spPr>
          <a:xfrm>
            <a:off x="5364088" y="3789040"/>
            <a:ext cx="3456384" cy="646331"/>
          </a:xfrm>
          <a:prstGeom prst="rect">
            <a:avLst/>
          </a:prstGeom>
          <a:ln>
            <a:solidFill>
              <a:schemeClr val="accent1"/>
            </a:solidFill>
          </a:ln>
        </p:spPr>
        <p:txBody>
          <a:bodyPr wrap="square">
            <a:spAutoFit/>
          </a:bodyPr>
          <a:lstStyle/>
          <a:p>
            <a:r>
              <a:rPr lang="zh-CN" altLang="en-US" b="1" dirty="0" smtClean="0">
                <a:solidFill>
                  <a:srgbClr val="0000FF"/>
                </a:solidFill>
                <a:ea typeface="黑体" panose="02010609060101010101" pitchFamily="2" charset="-122"/>
              </a:rPr>
              <a:t>分布集中，有利于形成强大的革命力量</a:t>
            </a:r>
            <a:endParaRPr lang="zh-CN" altLang="en-US" dirty="0"/>
          </a:p>
        </p:txBody>
      </p:sp>
      <p:sp>
        <p:nvSpPr>
          <p:cNvPr id="12" name="矩形 11"/>
          <p:cNvSpPr/>
          <p:nvPr/>
        </p:nvSpPr>
        <p:spPr>
          <a:xfrm>
            <a:off x="5364088" y="4653136"/>
            <a:ext cx="3600400" cy="923330"/>
          </a:xfrm>
          <a:prstGeom prst="rect">
            <a:avLst/>
          </a:prstGeom>
          <a:ln>
            <a:solidFill>
              <a:schemeClr val="accent1"/>
            </a:solidFill>
          </a:ln>
        </p:spPr>
        <p:txBody>
          <a:bodyPr wrap="square">
            <a:spAutoFit/>
          </a:bodyPr>
          <a:lstStyle/>
          <a:p>
            <a:r>
              <a:rPr lang="zh-CN" altLang="en-US" b="1" dirty="0" smtClean="0">
                <a:solidFill>
                  <a:srgbClr val="0000FF"/>
                </a:solidFill>
                <a:ea typeface="黑体" panose="02010609060101010101" pitchFamily="2" charset="-122"/>
              </a:rPr>
              <a:t>   大多出身于破产农民，与农民有天然的联系，便于和农民结成亲密联盟</a:t>
            </a:r>
            <a:r>
              <a:rPr lang="zh-CN" altLang="en-US" dirty="0" smtClean="0"/>
              <a:t> </a:t>
            </a:r>
            <a:endParaRPr lang="zh-CN" altLang="en-US" dirty="0"/>
          </a:p>
        </p:txBody>
      </p:sp>
    </p:spTree>
  </p:cSld>
  <p:clrMapOvr>
    <a:masterClrMapping/>
  </p:clrMapOvr>
  <p:transition>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2" name="Rectangle 4"/>
          <p:cNvSpPr>
            <a:spLocks noGrp="1"/>
          </p:cNvSpPr>
          <p:nvPr>
            <p:ph sz="half" idx="2"/>
          </p:nvPr>
        </p:nvSpPr>
        <p:spPr>
          <a:xfrm>
            <a:off x="4788024" y="1124744"/>
            <a:ext cx="3811587" cy="4392613"/>
          </a:xfrm>
          <a:solidFill>
            <a:srgbClr val="FFFFFF"/>
          </a:solidFill>
          <a:ln>
            <a:solidFill>
              <a:srgbClr val="FF0000"/>
            </a:solidFill>
            <a:miter/>
          </a:ln>
        </p:spPr>
        <p:txBody>
          <a:bodyPr anchor="t">
            <a:normAutofit/>
          </a:bodyPr>
          <a:lstStyle/>
          <a:p>
            <a:pPr eaLnBrk="1" hangingPunct="1">
              <a:lnSpc>
                <a:spcPct val="110000"/>
              </a:lnSpc>
              <a:buNone/>
            </a:pPr>
            <a:r>
              <a:rPr lang="zh-CN" altLang="en-US" sz="2400" b="1" kern="1200" dirty="0">
                <a:solidFill>
                  <a:srgbClr val="FF0000"/>
                </a:solidFill>
                <a:latin typeface="隶书" pitchFamily="49" charset="-122"/>
                <a:ea typeface="隶书" pitchFamily="49" charset="-122"/>
              </a:rPr>
              <a:t>既要革命，就要有一个革命党。没有一个革命的党，没有一个按照马克思列宁主义的革命理论和革命风格建立起来的革命党，就不可能领导工人阶级和广大人民群众战胜帝国主义及其走狗。</a:t>
            </a:r>
          </a:p>
          <a:p>
            <a:pPr eaLnBrk="1" hangingPunct="1">
              <a:lnSpc>
                <a:spcPct val="110000"/>
              </a:lnSpc>
              <a:buNone/>
            </a:pPr>
            <a:r>
              <a:rPr lang="zh-CN" altLang="en-US" sz="2400" b="1" kern="1200" dirty="0">
                <a:solidFill>
                  <a:srgbClr val="0000FF"/>
                </a:solidFill>
                <a:latin typeface="+mn-lt"/>
                <a:ea typeface="黑体" panose="02010609060101010101" pitchFamily="2" charset="-122"/>
                <a:cs typeface="+mn-cs"/>
              </a:rPr>
              <a:t>             </a:t>
            </a:r>
            <a:r>
              <a:rPr lang="en-US" altLang="zh-CN" sz="2400" b="1" kern="1200" dirty="0">
                <a:solidFill>
                  <a:srgbClr val="0000FF"/>
                </a:solidFill>
                <a:latin typeface="+mn-lt"/>
                <a:ea typeface="黑体" panose="02010609060101010101" pitchFamily="2" charset="-122"/>
                <a:cs typeface="+mn-cs"/>
              </a:rPr>
              <a:t>——</a:t>
            </a:r>
            <a:r>
              <a:rPr lang="zh-CN" altLang="en-US" sz="2400" b="1" kern="1200" dirty="0">
                <a:solidFill>
                  <a:srgbClr val="0000FF"/>
                </a:solidFill>
                <a:latin typeface="+mn-lt"/>
                <a:ea typeface="黑体" panose="02010609060101010101" pitchFamily="2" charset="-122"/>
                <a:cs typeface="+mn-cs"/>
              </a:rPr>
              <a:t>毛泽东</a:t>
            </a:r>
          </a:p>
        </p:txBody>
      </p:sp>
      <p:sp>
        <p:nvSpPr>
          <p:cNvPr id="38915" name="Text Box 5"/>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8916" name="Text Box 6"/>
          <p:cNvSpPr txBox="1"/>
          <p:nvPr/>
        </p:nvSpPr>
        <p:spPr>
          <a:xfrm>
            <a:off x="1042988" y="1773238"/>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8917" name="Text Box 7"/>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8918" name="Text Box 8"/>
          <p:cNvSpPr txBox="1"/>
          <p:nvPr/>
        </p:nvSpPr>
        <p:spPr>
          <a:xfrm>
            <a:off x="1600200"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38919" name="Text Box 10"/>
          <p:cNvSpPr txBox="1"/>
          <p:nvPr/>
        </p:nvSpPr>
        <p:spPr>
          <a:xfrm>
            <a:off x="1455738" y="22828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9" name="矩形 8"/>
          <p:cNvSpPr/>
          <p:nvPr/>
        </p:nvSpPr>
        <p:spPr>
          <a:xfrm>
            <a:off x="539552" y="836712"/>
            <a:ext cx="4360489" cy="461665"/>
          </a:xfrm>
          <a:prstGeom prst="rect">
            <a:avLst/>
          </a:prstGeom>
          <a:ln>
            <a:solidFill>
              <a:schemeClr val="accent1"/>
            </a:solidFill>
          </a:ln>
        </p:spPr>
        <p:txBody>
          <a:bodyPr wrap="none">
            <a:spAutoFit/>
          </a:bodyPr>
          <a:lstStyle/>
          <a:p>
            <a:r>
              <a:rPr lang="en-US" altLang="zh-CN" sz="2400" dirty="0" smtClean="0">
                <a:solidFill>
                  <a:srgbClr val="00B050"/>
                </a:solidFill>
                <a:latin typeface="华文琥珀" pitchFamily="2" charset="-122"/>
                <a:ea typeface="华文琥珀" pitchFamily="2" charset="-122"/>
              </a:rPr>
              <a:t>2</a:t>
            </a:r>
            <a:r>
              <a:rPr lang="zh-CN" altLang="en-US" sz="2400" dirty="0" smtClean="0">
                <a:solidFill>
                  <a:srgbClr val="00B050"/>
                </a:solidFill>
                <a:latin typeface="华文琥珀" pitchFamily="2" charset="-122"/>
                <a:ea typeface="华文琥珀" pitchFamily="2" charset="-122"/>
              </a:rPr>
              <a:t>、无产阶级实现领导权的条件</a:t>
            </a:r>
            <a:endParaRPr lang="zh-CN" altLang="en-US" sz="2400" dirty="0"/>
          </a:p>
        </p:txBody>
      </p:sp>
      <p:sp>
        <p:nvSpPr>
          <p:cNvPr id="10" name="矩形 9"/>
          <p:cNvSpPr/>
          <p:nvPr/>
        </p:nvSpPr>
        <p:spPr>
          <a:xfrm>
            <a:off x="755576" y="1916832"/>
            <a:ext cx="3600400" cy="923330"/>
          </a:xfrm>
          <a:prstGeom prst="rect">
            <a:avLst/>
          </a:prstGeom>
          <a:ln>
            <a:solidFill>
              <a:schemeClr val="accent1"/>
            </a:solidFill>
          </a:ln>
        </p:spPr>
        <p:txBody>
          <a:bodyPr wrap="square">
            <a:spAutoFit/>
          </a:bodyPr>
          <a:lstStyle/>
          <a:p>
            <a:r>
              <a:rPr lang="zh-CN" altLang="en-US" b="1" dirty="0" smtClean="0">
                <a:solidFill>
                  <a:srgbClr val="0000FF"/>
                </a:solidFill>
                <a:ea typeface="黑体" panose="02010609060101010101" pitchFamily="2" charset="-122"/>
              </a:rPr>
              <a:t>第一，率领被领导者（同盟者）与共同的敌人斗争，并且取得胜利</a:t>
            </a:r>
            <a:endParaRPr lang="zh-CN" altLang="en-US" dirty="0"/>
          </a:p>
        </p:txBody>
      </p:sp>
      <p:sp>
        <p:nvSpPr>
          <p:cNvPr id="11" name="矩形 10"/>
          <p:cNvSpPr/>
          <p:nvPr/>
        </p:nvSpPr>
        <p:spPr>
          <a:xfrm>
            <a:off x="611560" y="3068960"/>
            <a:ext cx="3744416" cy="784830"/>
          </a:xfrm>
          <a:prstGeom prst="rect">
            <a:avLst/>
          </a:prstGeom>
          <a:ln>
            <a:solidFill>
              <a:schemeClr val="accent1"/>
            </a:solidFill>
          </a:ln>
        </p:spPr>
        <p:txBody>
          <a:bodyPr wrap="square">
            <a:spAutoFit/>
          </a:bodyPr>
          <a:lstStyle/>
          <a:p>
            <a:pPr>
              <a:lnSpc>
                <a:spcPct val="125000"/>
              </a:lnSpc>
            </a:pPr>
            <a:r>
              <a:rPr lang="zh-CN" altLang="en-US" b="1" dirty="0" smtClean="0">
                <a:solidFill>
                  <a:srgbClr val="0000FF"/>
                </a:solidFill>
                <a:ea typeface="黑体" panose="02010609060101010101" pitchFamily="2" charset="-122"/>
              </a:rPr>
              <a:t>第二，对被领导者给以物质利益，至少不损害其利益</a:t>
            </a:r>
            <a:endParaRPr lang="zh-CN" altLang="en-US" b="1" dirty="0">
              <a:solidFill>
                <a:srgbClr val="0000FF"/>
              </a:solidFill>
              <a:ea typeface="黑体" panose="02010609060101010101" pitchFamily="2" charset="-122"/>
            </a:endParaRPr>
          </a:p>
        </p:txBody>
      </p:sp>
      <p:sp>
        <p:nvSpPr>
          <p:cNvPr id="12" name="矩形 11"/>
          <p:cNvSpPr/>
          <p:nvPr/>
        </p:nvSpPr>
        <p:spPr>
          <a:xfrm>
            <a:off x="755576" y="4365104"/>
            <a:ext cx="3312368" cy="823302"/>
          </a:xfrm>
          <a:prstGeom prst="rect">
            <a:avLst/>
          </a:prstGeom>
          <a:ln>
            <a:solidFill>
              <a:schemeClr val="accent1"/>
            </a:solidFill>
          </a:ln>
        </p:spPr>
        <p:txBody>
          <a:bodyPr wrap="square">
            <a:spAutoFit/>
          </a:bodyPr>
          <a:lstStyle/>
          <a:p>
            <a:pPr>
              <a:lnSpc>
                <a:spcPct val="125000"/>
              </a:lnSpc>
            </a:pPr>
            <a:r>
              <a:rPr lang="zh-CN" altLang="en-US" b="1" dirty="0" smtClean="0">
                <a:solidFill>
                  <a:srgbClr val="0000FF"/>
                </a:solidFill>
                <a:ea typeface="黑体" panose="02010609060101010101" pitchFamily="2" charset="-122"/>
              </a:rPr>
              <a:t>对中国革命的领导是通过自己的政党来实现</a:t>
            </a:r>
            <a:r>
              <a:rPr lang="zh-CN" altLang="en-US" sz="2000" b="1" dirty="0" smtClean="0">
                <a:solidFill>
                  <a:srgbClr val="0000FF"/>
                </a:solidFill>
                <a:ea typeface="黑体" panose="02010609060101010101" pitchFamily="2" charset="-122"/>
              </a:rPr>
              <a:t>的</a:t>
            </a:r>
            <a:r>
              <a:rPr lang="zh-CN" altLang="en-US" dirty="0" smtClean="0"/>
              <a:t> </a:t>
            </a:r>
            <a:endParaRPr lang="zh-CN" alt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01732">
                                            <p:txEl>
                                              <p:pRg st="0" end="0"/>
                                            </p:txEl>
                                          </p:spTgt>
                                        </p:tgtEl>
                                        <p:attrNameLst>
                                          <p:attrName>style.visibility</p:attrName>
                                        </p:attrNameLst>
                                      </p:cBhvr>
                                      <p:to>
                                        <p:strVal val="visible"/>
                                      </p:to>
                                    </p:set>
                                    <p:animEffect transition="in" filter="wedge">
                                      <p:cBhvr>
                                        <p:cTn id="7" dur="1000"/>
                                        <p:tgtEl>
                                          <p:spTgt spid="2017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201732">
                                            <p:txEl>
                                              <p:pRg st="1" end="1"/>
                                            </p:txEl>
                                          </p:spTgt>
                                        </p:tgtEl>
                                        <p:attrNameLst>
                                          <p:attrName>style.visibility</p:attrName>
                                        </p:attrNameLst>
                                      </p:cBhvr>
                                      <p:to>
                                        <p:strVal val="visible"/>
                                      </p:to>
                                    </p:set>
                                    <p:animEffect transition="in" filter="wedge">
                                      <p:cBhvr>
                                        <p:cTn id="12" dur="1000"/>
                                        <p:tgtEl>
                                          <p:spTgt spid="2017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2"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196752"/>
            <a:ext cx="6984776" cy="1227195"/>
          </a:xfrm>
          <a:prstGeom prst="rect">
            <a:avLst/>
          </a:prstGeom>
          <a:ln>
            <a:solidFill>
              <a:schemeClr val="accent1"/>
            </a:solidFill>
          </a:ln>
        </p:spPr>
        <p:txBody>
          <a:bodyPr wrap="square">
            <a:spAutoFit/>
          </a:bodyPr>
          <a:lstStyle/>
          <a:p>
            <a:pPr>
              <a:lnSpc>
                <a:spcPct val="105000"/>
              </a:lnSpc>
              <a:spcBef>
                <a:spcPct val="50000"/>
              </a:spcBef>
            </a:pPr>
            <a:r>
              <a:rPr lang="zh-CN" altLang="en-US" sz="2400" b="1" dirty="0" smtClean="0">
                <a:solidFill>
                  <a:srgbClr val="FF0000"/>
                </a:solidFill>
                <a:latin typeface="Times New Roman" panose="02020603050405020304" pitchFamily="18" charset="0"/>
                <a:ea typeface="黑体" panose="02010609060101010101" pitchFamily="2" charset="-122"/>
              </a:rPr>
              <a:t>一是</a:t>
            </a:r>
            <a:r>
              <a:rPr lang="zh-CN" altLang="en-US" sz="2400" b="1" dirty="0" smtClean="0">
                <a:solidFill>
                  <a:srgbClr val="0000FF"/>
                </a:solidFill>
                <a:latin typeface="Times New Roman" panose="02020603050405020304" pitchFamily="18" charset="0"/>
                <a:ea typeface="黑体" panose="02010609060101010101" pitchFamily="2" charset="-122"/>
              </a:rPr>
              <a:t>必须建立极其广泛的统一战线，这是实现领导权的关键。在统一战线中，坚持独立自主的原则，保持党在思想上、政治上、组织上的独立性。</a:t>
            </a:r>
            <a:r>
              <a:rPr lang="zh-CN" altLang="en-US" sz="2400" b="1" dirty="0" smtClean="0">
                <a:solidFill>
                  <a:srgbClr val="FF0000"/>
                </a:solidFill>
                <a:latin typeface="Times New Roman" panose="02020603050405020304" pitchFamily="18" charset="0"/>
                <a:ea typeface="黑体" panose="02010609060101010101" pitchFamily="2" charset="-122"/>
              </a:rPr>
              <a:t> </a:t>
            </a:r>
            <a:endParaRPr lang="zh-CN" altLang="en-US" sz="2400" dirty="0"/>
          </a:p>
        </p:txBody>
      </p:sp>
      <p:sp>
        <p:nvSpPr>
          <p:cNvPr id="4" name="矩形 3"/>
          <p:cNvSpPr/>
          <p:nvPr/>
        </p:nvSpPr>
        <p:spPr>
          <a:xfrm>
            <a:off x="827584" y="332656"/>
            <a:ext cx="4206601" cy="480131"/>
          </a:xfrm>
          <a:prstGeom prst="rect">
            <a:avLst/>
          </a:prstGeom>
          <a:noFill/>
          <a:ln>
            <a:solidFill>
              <a:schemeClr val="accent1"/>
            </a:solidFill>
          </a:ln>
        </p:spPr>
        <p:txBody>
          <a:bodyPr wrap="none">
            <a:spAutoFit/>
          </a:bodyPr>
          <a:lstStyle/>
          <a:p>
            <a:pPr>
              <a:lnSpc>
                <a:spcPct val="105000"/>
              </a:lnSpc>
              <a:spcBef>
                <a:spcPct val="50000"/>
              </a:spcBef>
            </a:pPr>
            <a:r>
              <a:rPr lang="zh-CN" altLang="en-US" sz="2400" b="1" dirty="0" smtClean="0">
                <a:solidFill>
                  <a:srgbClr val="FF0000"/>
                </a:solidFill>
                <a:latin typeface="Times New Roman" panose="02020603050405020304" pitchFamily="18" charset="0"/>
                <a:ea typeface="黑体" panose="02010609060101010101" pitchFamily="2" charset="-122"/>
              </a:rPr>
              <a:t>无产阶级领导权的实现途径：</a:t>
            </a:r>
          </a:p>
        </p:txBody>
      </p:sp>
      <p:sp>
        <p:nvSpPr>
          <p:cNvPr id="5" name="矩形 4"/>
          <p:cNvSpPr/>
          <p:nvPr/>
        </p:nvSpPr>
        <p:spPr>
          <a:xfrm>
            <a:off x="827584" y="3645024"/>
            <a:ext cx="7128792" cy="837665"/>
          </a:xfrm>
          <a:prstGeom prst="rect">
            <a:avLst/>
          </a:prstGeom>
          <a:ln>
            <a:solidFill>
              <a:schemeClr val="accent1"/>
            </a:solidFill>
          </a:ln>
        </p:spPr>
        <p:txBody>
          <a:bodyPr wrap="square">
            <a:spAutoFit/>
          </a:bodyPr>
          <a:lstStyle/>
          <a:p>
            <a:pPr>
              <a:lnSpc>
                <a:spcPct val="105000"/>
              </a:lnSpc>
              <a:spcBef>
                <a:spcPct val="50000"/>
              </a:spcBef>
            </a:pPr>
            <a:r>
              <a:rPr lang="zh-CN" altLang="en-US" sz="2400" b="1" dirty="0" smtClean="0">
                <a:solidFill>
                  <a:srgbClr val="FF0000"/>
                </a:solidFill>
                <a:latin typeface="Times New Roman" panose="02020603050405020304" pitchFamily="18" charset="0"/>
                <a:ea typeface="黑体" panose="02010609060101010101" pitchFamily="2" charset="-122"/>
              </a:rPr>
              <a:t>三是</a:t>
            </a:r>
            <a:r>
              <a:rPr lang="zh-CN" altLang="en-US" sz="2400" b="1" dirty="0" smtClean="0">
                <a:solidFill>
                  <a:srgbClr val="0000FF"/>
                </a:solidFill>
                <a:latin typeface="Times New Roman" panose="02020603050405020304" pitchFamily="18" charset="0"/>
                <a:ea typeface="黑体" panose="02010609060101010101" pitchFamily="2" charset="-122"/>
              </a:rPr>
              <a:t>必须加强无产阶级政党的建设，这是实现领导权的根本保证；</a:t>
            </a:r>
            <a:endParaRPr lang="zh-CN" altLang="en-US" sz="2400" dirty="0"/>
          </a:p>
        </p:txBody>
      </p:sp>
      <p:sp>
        <p:nvSpPr>
          <p:cNvPr id="6" name="矩形 5"/>
          <p:cNvSpPr/>
          <p:nvPr/>
        </p:nvSpPr>
        <p:spPr>
          <a:xfrm>
            <a:off x="899592" y="2564904"/>
            <a:ext cx="7128792" cy="839397"/>
          </a:xfrm>
          <a:prstGeom prst="rect">
            <a:avLst/>
          </a:prstGeom>
          <a:ln>
            <a:solidFill>
              <a:schemeClr val="accent1"/>
            </a:solidFill>
          </a:ln>
        </p:spPr>
        <p:txBody>
          <a:bodyPr wrap="square">
            <a:spAutoFit/>
          </a:bodyPr>
          <a:lstStyle/>
          <a:p>
            <a:pPr>
              <a:lnSpc>
                <a:spcPct val="105000"/>
              </a:lnSpc>
              <a:spcBef>
                <a:spcPct val="50000"/>
              </a:spcBef>
            </a:pPr>
            <a:r>
              <a:rPr lang="zh-CN" altLang="en-US" sz="2400" b="1" dirty="0" smtClean="0">
                <a:solidFill>
                  <a:srgbClr val="FF0000"/>
                </a:solidFill>
                <a:latin typeface="Times New Roman" panose="02020603050405020304" pitchFamily="18" charset="0"/>
                <a:ea typeface="黑体" panose="02010609060101010101" pitchFamily="2" charset="-122"/>
              </a:rPr>
              <a:t>二是</a:t>
            </a:r>
            <a:r>
              <a:rPr lang="zh-CN" altLang="en-US" sz="2400" b="1" dirty="0" smtClean="0">
                <a:solidFill>
                  <a:srgbClr val="0000FF"/>
                </a:solidFill>
                <a:latin typeface="Times New Roman" panose="02020603050405020304" pitchFamily="18" charset="0"/>
                <a:ea typeface="黑体" panose="02010609060101010101" pitchFamily="2" charset="-122"/>
              </a:rPr>
              <a:t>必须建立一支强大的革命武装，坚持党指挥枪的原则，这是实现领导权的坚强支柱；</a:t>
            </a:r>
            <a:endParaRPr lang="en-US" altLang="zh-CN" sz="2400" b="1" dirty="0" smtClean="0">
              <a:solidFill>
                <a:srgbClr val="0000FF"/>
              </a:solidFill>
              <a:latin typeface="Times New Roman" panose="02020603050405020304" pitchFamily="18" charset="0"/>
              <a:ea typeface="黑体" panose="02010609060101010101" pitchFamily="2" charset="-122"/>
            </a:endParaRPr>
          </a:p>
        </p:txBody>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p:cNvSpPr>
          <p:nvPr>
            <p:ph idx="4294967295"/>
          </p:nvPr>
        </p:nvSpPr>
        <p:spPr>
          <a:xfrm>
            <a:off x="1115616" y="2348880"/>
            <a:ext cx="6629400" cy="2280624"/>
          </a:xfrm>
          <a:prstGeom prst="rect">
            <a:avLst/>
          </a:prstGeom>
          <a:solidFill>
            <a:schemeClr val="bg1"/>
          </a:solidFill>
          <a:ln w="12700">
            <a:solidFill>
              <a:srgbClr val="FF3300"/>
            </a:solidFill>
            <a:miter/>
          </a:ln>
        </p:spPr>
        <p:txBody>
          <a:bodyPr anchor="t">
            <a:spAutoFit/>
          </a:bodyPr>
          <a:lstStyle/>
          <a:p>
            <a:pPr marL="0" indent="0">
              <a:lnSpc>
                <a:spcPct val="105000"/>
              </a:lnSpc>
              <a:spcBef>
                <a:spcPct val="50000"/>
              </a:spcBef>
              <a:buNone/>
            </a:pPr>
            <a:r>
              <a:rPr lang="en-US" altLang="zh-CN" sz="2800" dirty="0" smtClean="0">
                <a:solidFill>
                  <a:srgbClr val="0000FF"/>
                </a:solidFill>
                <a:latin typeface="Times New Roman" panose="02020603050405020304" pitchFamily="18" charset="0"/>
                <a:ea typeface="华文新魏" panose="02010800040101010101" pitchFamily="2" charset="-122"/>
              </a:rPr>
              <a:t>    </a:t>
            </a:r>
            <a:r>
              <a:rPr lang="zh-CN" altLang="en-US" sz="2400" b="1" dirty="0" smtClean="0">
                <a:solidFill>
                  <a:srgbClr val="0000FF"/>
                </a:solidFill>
                <a:latin typeface="Times New Roman" panose="02020603050405020304" pitchFamily="18" charset="0"/>
                <a:ea typeface="黑体" panose="02010609060101010101" pitchFamily="2" charset="-122"/>
              </a:rPr>
              <a:t>右</a:t>
            </a:r>
            <a:r>
              <a:rPr lang="zh-CN" altLang="en-US" sz="2400" b="1" dirty="0">
                <a:solidFill>
                  <a:srgbClr val="0000FF"/>
                </a:solidFill>
                <a:latin typeface="Times New Roman" panose="02020603050405020304" pitchFamily="18" charset="0"/>
                <a:ea typeface="黑体" panose="02010609060101010101" pitchFamily="2" charset="-122"/>
              </a:rPr>
              <a:t>的观点是害怕统一战线的分裂而主张放弃领导权。  </a:t>
            </a:r>
          </a:p>
          <a:p>
            <a:pPr marL="0" indent="0">
              <a:lnSpc>
                <a:spcPct val="105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2" charset="-122"/>
              </a:rPr>
              <a:t>       “左”的观点虽然强调无产阶级的领导权，但把自己孤立起来，采取关门主义政策，把资产阶级排除在统一战线之外。</a:t>
            </a:r>
          </a:p>
        </p:txBody>
      </p:sp>
      <p:sp>
        <p:nvSpPr>
          <p:cNvPr id="3" name="矩形 2"/>
          <p:cNvSpPr/>
          <p:nvPr/>
        </p:nvSpPr>
        <p:spPr>
          <a:xfrm>
            <a:off x="971600" y="908720"/>
            <a:ext cx="4572000" cy="830997"/>
          </a:xfrm>
          <a:prstGeom prst="rect">
            <a:avLst/>
          </a:prstGeom>
          <a:ln>
            <a:solidFill>
              <a:schemeClr val="accent1"/>
            </a:solidFill>
          </a:ln>
        </p:spPr>
        <p:txBody>
          <a:bodyPr>
            <a:spAutoFit/>
          </a:bodyPr>
          <a:lstStyle/>
          <a:p>
            <a:r>
              <a:rPr lang="zh-CN" altLang="en-US" sz="2400" b="1" dirty="0" smtClean="0">
                <a:solidFill>
                  <a:srgbClr val="FF0000"/>
                </a:solidFill>
                <a:latin typeface="Times New Roman" panose="02020603050405020304" pitchFamily="18" charset="0"/>
                <a:ea typeface="黑体" panose="02010609060101010101" pitchFamily="2" charset="-122"/>
              </a:rPr>
              <a:t>在无产阶级领导权问题上必须反对“左”、右两种错误倾向。</a:t>
            </a:r>
            <a:endParaRPr lang="zh-CN" altLang="en-US" sz="2400" dirty="0">
              <a:solidFill>
                <a:srgbClr val="FF0000"/>
              </a:solidFill>
            </a:endParaRPr>
          </a:p>
        </p:txBody>
      </p:sp>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p:cNvSpPr>
          <p:nvPr>
            <p:ph type="title"/>
          </p:nvPr>
        </p:nvSpPr>
        <p:spPr>
          <a:xfrm>
            <a:off x="467544" y="692696"/>
            <a:ext cx="8229600" cy="694430"/>
          </a:xfrm>
          <a:solidFill>
            <a:srgbClr val="FFFFFF"/>
          </a:solidFill>
          <a:ln>
            <a:solidFill>
              <a:srgbClr val="000000"/>
            </a:solidFill>
            <a:miter/>
          </a:ln>
        </p:spPr>
        <p:txBody>
          <a:bodyPr anchor="t"/>
          <a:lstStyle/>
          <a:p>
            <a:pPr algn="l" eaLnBrk="1" hangingPunct="1"/>
            <a:r>
              <a:rPr lang="zh-CN" altLang="en-US" sz="3200" b="1" dirty="0">
                <a:solidFill>
                  <a:srgbClr val="FF0000"/>
                </a:solidFill>
                <a:latin typeface="华文琥珀" pitchFamily="2" charset="-122"/>
                <a:ea typeface="华文琥珀" pitchFamily="2" charset="-122"/>
              </a:rPr>
              <a:t>（四）新民主主义革命的性质和前途</a:t>
            </a:r>
          </a:p>
        </p:txBody>
      </p:sp>
      <p:sp>
        <p:nvSpPr>
          <p:cNvPr id="41986" name="Text Box 4"/>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1987" name="Text Box 5"/>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1988" name="Text Box 6"/>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1989" name="Text Box 7"/>
          <p:cNvSpPr txBox="1"/>
          <p:nvPr/>
        </p:nvSpPr>
        <p:spPr>
          <a:xfrm>
            <a:off x="1600200"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0968" name="Text Box 8"/>
          <p:cNvSpPr txBox="1"/>
          <p:nvPr/>
        </p:nvSpPr>
        <p:spPr>
          <a:xfrm>
            <a:off x="500034" y="2500306"/>
            <a:ext cx="7920037" cy="2031325"/>
          </a:xfrm>
          <a:prstGeom prst="rect">
            <a:avLst/>
          </a:prstGeom>
          <a:solidFill>
            <a:schemeClr val="bg1"/>
          </a:solidFill>
          <a:ln w="9525">
            <a:solidFill>
              <a:schemeClr val="accent1"/>
            </a:solidFill>
          </a:ln>
        </p:spPr>
        <p:txBody>
          <a:bodyPr anchor="t">
            <a:spAutoFit/>
          </a:bodyPr>
          <a:lstStyle/>
          <a:p>
            <a:pPr lvl="0">
              <a:lnSpc>
                <a:spcPct val="150000"/>
              </a:lnSpc>
            </a:pPr>
            <a:r>
              <a:rPr lang="zh-CN" altLang="en-US" sz="2800" b="1" dirty="0" smtClean="0">
                <a:solidFill>
                  <a:srgbClr val="FF0000"/>
                </a:solidFill>
                <a:latin typeface="Arial" panose="020B0604020202020204" pitchFamily="34" charset="0"/>
                <a:ea typeface="黑体" panose="02010609060101010101" pitchFamily="2" charset="-122"/>
              </a:rPr>
              <a:t>         新民主主义革命</a:t>
            </a:r>
            <a:r>
              <a:rPr lang="zh-CN" altLang="en-US" sz="2800" b="1" dirty="0">
                <a:solidFill>
                  <a:srgbClr val="FF0000"/>
                </a:solidFill>
                <a:latin typeface="Arial" panose="020B0604020202020204" pitchFamily="34" charset="0"/>
                <a:ea typeface="黑体" panose="02010609060101010101" pitchFamily="2" charset="-122"/>
              </a:rPr>
              <a:t>的性质</a:t>
            </a:r>
            <a:r>
              <a:rPr lang="zh-CN" altLang="en-US" sz="2800" b="1" dirty="0">
                <a:latin typeface="Arial" panose="020B0604020202020204" pitchFamily="34" charset="0"/>
                <a:ea typeface="黑体" panose="02010609060101010101" pitchFamily="2" charset="-122"/>
              </a:rPr>
              <a:t>不是无产阶级社会主义革命，而是资产阶级民主主义革命：</a:t>
            </a:r>
          </a:p>
          <a:p>
            <a:pPr lvl="0">
              <a:lnSpc>
                <a:spcPct val="150000"/>
              </a:lnSpc>
            </a:pPr>
            <a:r>
              <a:rPr lang="zh-CN" altLang="en-US" sz="2800" b="1" dirty="0">
                <a:solidFill>
                  <a:srgbClr val="FF0000"/>
                </a:solidFill>
                <a:latin typeface="Arial" panose="020B0604020202020204" pitchFamily="34" charset="0"/>
                <a:ea typeface="黑体" panose="02010609060101010101" pitchFamily="2" charset="-122"/>
              </a:rPr>
              <a:t>是（新式的特殊的）资产阶级民主革命</a:t>
            </a:r>
          </a:p>
        </p:txBody>
      </p:sp>
      <p:sp>
        <p:nvSpPr>
          <p:cNvPr id="41991" name="Text Box 9"/>
          <p:cNvSpPr txBox="1"/>
          <p:nvPr/>
        </p:nvSpPr>
        <p:spPr>
          <a:xfrm>
            <a:off x="1455738" y="22828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11" name="矩形 10"/>
          <p:cNvSpPr/>
          <p:nvPr/>
        </p:nvSpPr>
        <p:spPr>
          <a:xfrm>
            <a:off x="1428728" y="1500174"/>
            <a:ext cx="4923143" cy="584775"/>
          </a:xfrm>
          <a:prstGeom prst="rect">
            <a:avLst/>
          </a:prstGeom>
          <a:solidFill>
            <a:schemeClr val="bg1"/>
          </a:solidFill>
          <a:ln>
            <a:solidFill>
              <a:srgbClr val="FF0000"/>
            </a:solidFill>
          </a:ln>
        </p:spPr>
        <p:txBody>
          <a:bodyPr wrap="none">
            <a:spAutoFit/>
          </a:bodyPr>
          <a:lstStyle/>
          <a:p>
            <a:pPr lvl="0"/>
            <a:r>
              <a:rPr lang="en-US" altLang="zh-CN" sz="3200" dirty="0" smtClean="0">
                <a:solidFill>
                  <a:srgbClr val="00B050"/>
                </a:solidFill>
                <a:latin typeface="华文琥珀" pitchFamily="2" charset="-122"/>
                <a:ea typeface="华文琥珀" pitchFamily="2" charset="-122"/>
              </a:rPr>
              <a:t>1</a:t>
            </a:r>
            <a:r>
              <a:rPr lang="zh-CN" altLang="en-US" sz="3200" dirty="0" smtClean="0">
                <a:solidFill>
                  <a:srgbClr val="00B050"/>
                </a:solidFill>
                <a:latin typeface="华文琥珀" pitchFamily="2" charset="-122"/>
                <a:ea typeface="华文琥珀" pitchFamily="2" charset="-122"/>
              </a:rPr>
              <a:t>、新民主主义革命的性质</a:t>
            </a:r>
            <a:endParaRPr lang="zh-CN" altLang="en-US" sz="3200" dirty="0">
              <a:solidFill>
                <a:srgbClr val="00B050"/>
              </a:solidFill>
              <a:latin typeface="华文琥珀" pitchFamily="2" charset="-122"/>
              <a:ea typeface="华文琥珀"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968"/>
                                        </p:tgtEl>
                                        <p:attrNameLst>
                                          <p:attrName>style.visibility</p:attrName>
                                        </p:attrNameLst>
                                      </p:cBhvr>
                                      <p:to>
                                        <p:strVal val="visible"/>
                                      </p:to>
                                    </p:set>
                                    <p:animEffect transition="in" filter="wipe(left)">
                                      <p:cBhvr>
                                        <p:cTn id="7" dur="500"/>
                                        <p:tgtEl>
                                          <p:spTgt spid="40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8"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4"/>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1987" name="Text Box 5"/>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1988" name="Text Box 6"/>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1989" name="Text Box 7"/>
          <p:cNvSpPr txBox="1"/>
          <p:nvPr/>
        </p:nvSpPr>
        <p:spPr>
          <a:xfrm>
            <a:off x="1600200"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1991" name="Text Box 9"/>
          <p:cNvSpPr txBox="1"/>
          <p:nvPr/>
        </p:nvSpPr>
        <p:spPr>
          <a:xfrm>
            <a:off x="1455738" y="22828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graphicFrame>
        <p:nvGraphicFramePr>
          <p:cNvPr id="41003" name="内容占位符 41002"/>
          <p:cNvGraphicFramePr>
            <a:graphicFrameLocks noGrp="1"/>
          </p:cNvGraphicFramePr>
          <p:nvPr>
            <p:ph sz="half" idx="2"/>
          </p:nvPr>
        </p:nvGraphicFramePr>
        <p:xfrm>
          <a:off x="857224" y="1643050"/>
          <a:ext cx="7273925" cy="4040505"/>
        </p:xfrm>
        <a:graphic>
          <a:graphicData uri="http://schemas.openxmlformats.org/drawingml/2006/table">
            <a:tbl>
              <a:tblPr/>
              <a:tblGrid>
                <a:gridCol w="1800225"/>
                <a:gridCol w="2855913"/>
                <a:gridCol w="2617787"/>
              </a:tblGrid>
              <a:tr h="676275">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endParaRPr lang="zh-CN" altLang="zh-CN" sz="2400" b="1" dirty="0">
                        <a:solidFill>
                          <a:srgbClr val="FF0000"/>
                        </a:solidFill>
                        <a:ea typeface="黑体" panose="0201060906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00B050"/>
                          </a:solidFill>
                          <a:ea typeface="黑体" panose="02010609060101010101" pitchFamily="2" charset="-122"/>
                        </a:rPr>
                        <a:t>新民主主义革命</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00B050"/>
                          </a:solidFill>
                          <a:ea typeface="黑体" panose="02010609060101010101" pitchFamily="2" charset="-122"/>
                        </a:rPr>
                        <a:t>旧民主主义革命</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676275">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领导阶级</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无产阶级</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资产阶级</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820738">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指导思想</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马克思主义</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西方资产阶级民主主义</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185862">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时代特色</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世界社会主义革命时代，世界无产阶级革命的一部分</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世界资产阶级革命的一部分</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676275">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革命前途</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社会主义</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资本主义</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ext Box 4"/>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3010" name="Text Box 5"/>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3011" name="Text Box 6"/>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3012" name="Text Box 7"/>
          <p:cNvSpPr txBox="1"/>
          <p:nvPr/>
        </p:nvSpPr>
        <p:spPr>
          <a:xfrm>
            <a:off x="1600200"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3013" name="Text Box 9"/>
          <p:cNvSpPr txBox="1"/>
          <p:nvPr/>
        </p:nvSpPr>
        <p:spPr>
          <a:xfrm>
            <a:off x="1455738" y="22828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graphicFrame>
        <p:nvGraphicFramePr>
          <p:cNvPr id="120882" name="内容占位符 120881"/>
          <p:cNvGraphicFramePr>
            <a:graphicFrameLocks noGrp="1"/>
          </p:cNvGraphicFramePr>
          <p:nvPr>
            <p:ph sz="half" idx="4294967295"/>
          </p:nvPr>
        </p:nvGraphicFramePr>
        <p:xfrm>
          <a:off x="899592" y="836712"/>
          <a:ext cx="7273608" cy="5353397"/>
        </p:xfrm>
        <a:graphic>
          <a:graphicData uri="http://schemas.openxmlformats.org/drawingml/2006/table">
            <a:tbl>
              <a:tblPr/>
              <a:tblGrid>
                <a:gridCol w="1800225"/>
                <a:gridCol w="2855913"/>
                <a:gridCol w="2617470"/>
              </a:tblGrid>
              <a:tr h="964277">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endParaRPr lang="zh-CN" altLang="zh-CN" sz="2400" b="1" dirty="0">
                        <a:solidFill>
                          <a:srgbClr val="FF0000"/>
                        </a:solidFill>
                        <a:ea typeface="黑体" panose="0201060906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00B050"/>
                          </a:solidFill>
                          <a:ea typeface="黑体" panose="02010609060101010101" pitchFamily="2" charset="-122"/>
                        </a:rPr>
                        <a:t>新民主主义革命</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00B050"/>
                          </a:solidFill>
                          <a:ea typeface="黑体" panose="02010609060101010101" pitchFamily="2" charset="-122"/>
                        </a:rPr>
                        <a:t>无产阶级社会主义革命</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185862">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领导阶级</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无产阶级，联合资产阶级反对共同的敌人</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无产阶级</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822325">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革命对象</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帝国主义、封建主义、官僚资本主义</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资产阶级</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550988">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革命任务和经济政策</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民族民主革命，不变革生产资料所有制关系，保护私有财产</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消灭资本主义剥削制度，改造小生产者的私有制</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820737">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革命范畴</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资产阶级的民主主义革命的范畴</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rtl="0" eaLnBrk="0" fontAlgn="base" hangingPunct="0">
                        <a:spcBef>
                          <a:spcPct val="20000"/>
                        </a:spcBef>
                        <a:spcAft>
                          <a:spcPct val="0"/>
                        </a:spcAft>
                        <a:buChar char="•"/>
                        <a:defRPr sz="2800" b="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400" b="0" kern="1200">
                          <a:solidFill>
                            <a:schemeClr val="tx1"/>
                          </a:solidFill>
                          <a:latin typeface="+mn-lt"/>
                          <a:ea typeface="+mn-ea"/>
                        </a:defRPr>
                      </a:lvl2pPr>
                      <a:lvl3pPr marL="1143000" lvl="2" indent="-228600" algn="l" rtl="0" eaLnBrk="0" fontAlgn="base" hangingPunct="0">
                        <a:spcBef>
                          <a:spcPct val="20000"/>
                        </a:spcBef>
                        <a:spcAft>
                          <a:spcPct val="0"/>
                        </a:spcAft>
                        <a:buChar char="•"/>
                        <a:defRPr sz="2000" b="0" kern="1200">
                          <a:solidFill>
                            <a:schemeClr val="tx1"/>
                          </a:solidFill>
                          <a:latin typeface="+mn-lt"/>
                          <a:ea typeface="+mn-ea"/>
                        </a:defRPr>
                      </a:lvl3pPr>
                      <a:lvl4pPr marL="1600200" lvl="3" indent="-228600" algn="l" rtl="0" eaLnBrk="0" fontAlgn="base" hangingPunct="0">
                        <a:spcBef>
                          <a:spcPct val="20000"/>
                        </a:spcBef>
                        <a:spcAft>
                          <a:spcPct val="0"/>
                        </a:spcAft>
                        <a:buChar char="–"/>
                        <a:defRPr sz="1800" b="0" kern="1200">
                          <a:solidFill>
                            <a:schemeClr val="tx1"/>
                          </a:solidFill>
                          <a:latin typeface="+mn-lt"/>
                          <a:ea typeface="+mn-ea"/>
                        </a:defRPr>
                      </a:lvl4pPr>
                      <a:lvl5pPr marL="2057400" lvl="4" indent="-228600" algn="l" rtl="0" eaLnBrk="0" fontAlgn="base" hangingPunct="0">
                        <a:spcBef>
                          <a:spcPct val="20000"/>
                        </a:spcBef>
                        <a:spcAft>
                          <a:spcPct val="0"/>
                        </a:spcAft>
                        <a:buChar char="»"/>
                        <a:defRPr sz="1800" b="0" kern="1200">
                          <a:solidFill>
                            <a:schemeClr val="tx1"/>
                          </a:solidFill>
                          <a:latin typeface="+mn-lt"/>
                          <a:ea typeface="+mn-ea"/>
                        </a:defRPr>
                      </a:lvl5pPr>
                    </a:lstStyle>
                    <a:p>
                      <a:pPr marL="0" lvl="0" indent="0" eaLnBrk="1" hangingPunct="1">
                        <a:buNone/>
                      </a:pPr>
                      <a:r>
                        <a:rPr lang="zh-CN" altLang="en-US" sz="2400" b="1" dirty="0">
                          <a:solidFill>
                            <a:srgbClr val="FF0000"/>
                          </a:solidFill>
                          <a:ea typeface="黑体" panose="02010609060101010101" pitchFamily="2" charset="-122"/>
                        </a:rPr>
                        <a:t>无产阶级性质的革命</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4"/>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4035" name="Text Box 5"/>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4036" name="Text Box 6"/>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4037" name="Text Box 7"/>
          <p:cNvSpPr txBox="1"/>
          <p:nvPr/>
        </p:nvSpPr>
        <p:spPr>
          <a:xfrm>
            <a:off x="1600200"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1991" name="Text Box 8"/>
          <p:cNvSpPr txBox="1"/>
          <p:nvPr/>
        </p:nvSpPr>
        <p:spPr>
          <a:xfrm>
            <a:off x="899592" y="2708920"/>
            <a:ext cx="7416800" cy="1569660"/>
          </a:xfrm>
          <a:prstGeom prst="rect">
            <a:avLst/>
          </a:prstGeom>
          <a:solidFill>
            <a:schemeClr val="bg1"/>
          </a:solidFill>
          <a:ln w="9525">
            <a:noFill/>
          </a:ln>
        </p:spPr>
        <p:txBody>
          <a:bodyPr anchor="t">
            <a:spAutoFit/>
          </a:bodyPr>
          <a:lstStyle/>
          <a:p>
            <a:pPr lvl="0"/>
            <a:r>
              <a:rPr lang="zh-CN" altLang="en-US" sz="2400" b="1" dirty="0" smtClean="0">
                <a:solidFill>
                  <a:srgbClr val="FF0000"/>
                </a:solidFill>
                <a:latin typeface="Arial" panose="020B0604020202020204" pitchFamily="34" charset="0"/>
                <a:ea typeface="黑体" panose="02010609060101010101" pitchFamily="2" charset="-122"/>
              </a:rPr>
              <a:t>关系</a:t>
            </a:r>
            <a:r>
              <a:rPr lang="zh-CN" altLang="en-US" sz="2400" b="1" dirty="0">
                <a:solidFill>
                  <a:srgbClr val="0000FF"/>
                </a:solidFill>
                <a:latin typeface="Arial" panose="020B0604020202020204" pitchFamily="34" charset="0"/>
                <a:ea typeface="黑体" panose="02010609060101010101" pitchFamily="2" charset="-122"/>
              </a:rPr>
              <a:t>：新民主主义革命是社会主义革命的必要</a:t>
            </a:r>
            <a:r>
              <a:rPr lang="zh-CN" altLang="en-US" sz="2400" b="1" dirty="0" smtClean="0">
                <a:solidFill>
                  <a:srgbClr val="0000FF"/>
                </a:solidFill>
                <a:latin typeface="Arial" panose="020B0604020202020204" pitchFamily="34" charset="0"/>
                <a:ea typeface="黑体" panose="02010609060101010101" pitchFamily="2" charset="-122"/>
              </a:rPr>
              <a:t>准备</a:t>
            </a:r>
            <a:endParaRPr lang="en-US" altLang="zh-CN" sz="2400" b="1" dirty="0" smtClean="0">
              <a:solidFill>
                <a:srgbClr val="0000FF"/>
              </a:solidFill>
              <a:latin typeface="Arial" panose="020B0604020202020204" pitchFamily="34" charset="0"/>
              <a:ea typeface="黑体" panose="02010609060101010101" pitchFamily="2" charset="-122"/>
            </a:endParaRPr>
          </a:p>
          <a:p>
            <a:pPr lvl="0"/>
            <a:endParaRPr lang="en-US" altLang="zh-CN" sz="2400" b="1" dirty="0" smtClean="0">
              <a:solidFill>
                <a:srgbClr val="0000FF"/>
              </a:solidFill>
              <a:latin typeface="Arial" panose="020B0604020202020204" pitchFamily="34" charset="0"/>
              <a:ea typeface="黑体" panose="02010609060101010101" pitchFamily="2" charset="-122"/>
            </a:endParaRPr>
          </a:p>
          <a:p>
            <a:pPr lvl="0"/>
            <a:r>
              <a:rPr lang="en-US" altLang="zh-CN" sz="2400" b="1" dirty="0" smtClean="0">
                <a:solidFill>
                  <a:srgbClr val="0000FF"/>
                </a:solidFill>
                <a:latin typeface="Arial" panose="020B0604020202020204" pitchFamily="34" charset="0"/>
                <a:ea typeface="黑体" panose="02010609060101010101" pitchFamily="2" charset="-122"/>
              </a:rPr>
              <a:t>         </a:t>
            </a:r>
            <a:r>
              <a:rPr lang="zh-CN" altLang="en-US" sz="2400" b="1" dirty="0" smtClean="0">
                <a:solidFill>
                  <a:srgbClr val="0000FF"/>
                </a:solidFill>
                <a:latin typeface="Arial" panose="020B0604020202020204" pitchFamily="34" charset="0"/>
                <a:ea typeface="黑体" panose="02010609060101010101" pitchFamily="2" charset="-122"/>
              </a:rPr>
              <a:t>社会主义革命</a:t>
            </a:r>
            <a:r>
              <a:rPr lang="zh-CN" altLang="en-US" sz="2400" b="1" dirty="0">
                <a:solidFill>
                  <a:srgbClr val="0000FF"/>
                </a:solidFill>
                <a:latin typeface="Arial" panose="020B0604020202020204" pitchFamily="34" charset="0"/>
                <a:ea typeface="黑体" panose="02010609060101010101" pitchFamily="2" charset="-122"/>
              </a:rPr>
              <a:t>是新民主主义革命的必然趋势。两者既有区别，又相互联系、紧密衔接</a:t>
            </a:r>
            <a:r>
              <a:rPr lang="zh-CN" altLang="en-US" sz="2400" dirty="0">
                <a:solidFill>
                  <a:srgbClr val="0000FF"/>
                </a:solidFill>
                <a:latin typeface="Arial" panose="020B0604020202020204" pitchFamily="34" charset="0"/>
                <a:ea typeface="黑体" panose="02010609060101010101" pitchFamily="2" charset="-122"/>
              </a:rPr>
              <a:t>。</a:t>
            </a:r>
          </a:p>
        </p:txBody>
      </p:sp>
      <p:sp>
        <p:nvSpPr>
          <p:cNvPr id="44039" name="Text Box 9"/>
          <p:cNvSpPr txBox="1"/>
          <p:nvPr/>
        </p:nvSpPr>
        <p:spPr>
          <a:xfrm>
            <a:off x="1455738" y="22828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4040" name="Text Box 10"/>
          <p:cNvSpPr txBox="1"/>
          <p:nvPr/>
        </p:nvSpPr>
        <p:spPr>
          <a:xfrm>
            <a:off x="539552" y="4725144"/>
            <a:ext cx="8281987" cy="1685925"/>
          </a:xfrm>
          <a:prstGeom prst="rect">
            <a:avLst/>
          </a:prstGeom>
          <a:solidFill>
            <a:schemeClr val="bg1"/>
          </a:solidFill>
          <a:ln w="9525">
            <a:solidFill>
              <a:schemeClr val="accent1"/>
            </a:solidFill>
          </a:ln>
        </p:spPr>
        <p:txBody>
          <a:bodyPr anchor="t">
            <a:spAutoFit/>
          </a:bodyPr>
          <a:lstStyle/>
          <a:p>
            <a:pPr lvl="0">
              <a:lnSpc>
                <a:spcPct val="125000"/>
              </a:lnSpc>
              <a:spcBef>
                <a:spcPct val="20000"/>
              </a:spcBef>
            </a:pPr>
            <a:r>
              <a:rPr lang="zh-CN" altLang="en-US" b="1" dirty="0">
                <a:latin typeface="Arial" panose="020B0604020202020204" pitchFamily="34" charset="0"/>
                <a:ea typeface="黑体" panose="02010609060101010101" pitchFamily="2" charset="-122"/>
              </a:rPr>
              <a:t>★   </a:t>
            </a:r>
            <a:r>
              <a:rPr lang="zh-CN" altLang="en-US" sz="2800" b="1" dirty="0">
                <a:solidFill>
                  <a:srgbClr val="FF0000"/>
                </a:solidFill>
                <a:latin typeface="Arial" panose="020B0604020202020204" pitchFamily="34" charset="0"/>
                <a:ea typeface="黑体" panose="02010609060101010101" pitchFamily="2" charset="-122"/>
              </a:rPr>
              <a:t>反对两种错误观点</a:t>
            </a:r>
          </a:p>
          <a:p>
            <a:pPr lvl="0">
              <a:lnSpc>
                <a:spcPct val="125000"/>
              </a:lnSpc>
              <a:spcBef>
                <a:spcPct val="20000"/>
              </a:spcBef>
            </a:pPr>
            <a:r>
              <a:rPr lang="zh-CN" altLang="en-US" sz="2400" b="1" dirty="0">
                <a:latin typeface="Arial" panose="020B0604020202020204" pitchFamily="34" charset="0"/>
                <a:ea typeface="黑体" panose="02010609060101010101" pitchFamily="2" charset="-122"/>
              </a:rPr>
              <a:t>“一次革命论”，混淆了民主革命和社会主义革命的界限</a:t>
            </a:r>
          </a:p>
          <a:p>
            <a:pPr lvl="0">
              <a:lnSpc>
                <a:spcPct val="125000"/>
              </a:lnSpc>
              <a:spcBef>
                <a:spcPct val="20000"/>
              </a:spcBef>
            </a:pPr>
            <a:r>
              <a:rPr lang="zh-CN" altLang="en-US" sz="2400" b="1" dirty="0">
                <a:latin typeface="Arial" panose="020B0604020202020204" pitchFamily="34" charset="0"/>
                <a:ea typeface="黑体" panose="02010609060101010101" pitchFamily="2" charset="-122"/>
              </a:rPr>
              <a:t>“二次革命论” ，割裂了民主革命和社会主义革命的联系</a:t>
            </a:r>
          </a:p>
        </p:txBody>
      </p:sp>
      <p:sp>
        <p:nvSpPr>
          <p:cNvPr id="9" name="矩形 8"/>
          <p:cNvSpPr/>
          <p:nvPr/>
        </p:nvSpPr>
        <p:spPr>
          <a:xfrm>
            <a:off x="827584" y="404664"/>
            <a:ext cx="4697120" cy="523220"/>
          </a:xfrm>
          <a:prstGeom prst="rect">
            <a:avLst/>
          </a:prstGeom>
          <a:ln>
            <a:solidFill>
              <a:schemeClr val="accent1"/>
            </a:solidFill>
          </a:ln>
        </p:spPr>
        <p:txBody>
          <a:bodyPr wrap="none">
            <a:spAutoFit/>
          </a:bodyPr>
          <a:lstStyle/>
          <a:p>
            <a:r>
              <a:rPr lang="en-US" altLang="zh-CN" sz="2800" dirty="0" smtClean="0">
                <a:solidFill>
                  <a:srgbClr val="00B050"/>
                </a:solidFill>
                <a:latin typeface="华文琥珀" pitchFamily="2" charset="-122"/>
                <a:ea typeface="华文琥珀" pitchFamily="2" charset="-122"/>
              </a:rPr>
              <a:t>2</a:t>
            </a:r>
            <a:r>
              <a:rPr lang="zh-CN" altLang="en-US" sz="2800" dirty="0" smtClean="0">
                <a:solidFill>
                  <a:srgbClr val="00B050"/>
                </a:solidFill>
                <a:latin typeface="华文琥珀" pitchFamily="2" charset="-122"/>
                <a:ea typeface="华文琥珀" pitchFamily="2" charset="-122"/>
              </a:rPr>
              <a:t>、中国革命的步骤和前途：</a:t>
            </a:r>
            <a:endParaRPr lang="zh-CN" altLang="en-US" sz="2800" dirty="0">
              <a:solidFill>
                <a:srgbClr val="00B050"/>
              </a:solidFill>
              <a:latin typeface="华文琥珀" pitchFamily="2" charset="-122"/>
              <a:ea typeface="华文琥珀" pitchFamily="2" charset="-122"/>
            </a:endParaRPr>
          </a:p>
        </p:txBody>
      </p:sp>
      <p:sp>
        <p:nvSpPr>
          <p:cNvPr id="10" name="矩形 9"/>
          <p:cNvSpPr/>
          <p:nvPr/>
        </p:nvSpPr>
        <p:spPr>
          <a:xfrm>
            <a:off x="899592" y="1700808"/>
            <a:ext cx="2709396" cy="523220"/>
          </a:xfrm>
          <a:prstGeom prst="rect">
            <a:avLst/>
          </a:prstGeom>
          <a:ln>
            <a:solidFill>
              <a:schemeClr val="accent1"/>
            </a:solidFill>
          </a:ln>
        </p:spPr>
        <p:txBody>
          <a:bodyPr wrap="none">
            <a:spAutoFit/>
          </a:bodyPr>
          <a:lstStyle/>
          <a:p>
            <a:r>
              <a:rPr lang="zh-CN" altLang="en-US" sz="2800" b="1" dirty="0" smtClean="0">
                <a:solidFill>
                  <a:srgbClr val="0000FF"/>
                </a:solidFill>
                <a:latin typeface="黑体" pitchFamily="49" charset="-122"/>
                <a:ea typeface="黑体" pitchFamily="49" charset="-122"/>
              </a:rPr>
              <a:t>步骤：分两步走</a:t>
            </a:r>
            <a:endParaRPr lang="zh-CN" altLang="en-US" sz="2800" b="1" dirty="0">
              <a:solidFill>
                <a:srgbClr val="0000FF"/>
              </a:solidFill>
              <a:latin typeface="黑体" pitchFamily="49" charset="-122"/>
              <a:ea typeface="黑体" pitchFamily="49" charset="-122"/>
            </a:endParaRPr>
          </a:p>
        </p:txBody>
      </p:sp>
      <p:sp>
        <p:nvSpPr>
          <p:cNvPr id="11" name="矩形 10"/>
          <p:cNvSpPr/>
          <p:nvPr/>
        </p:nvSpPr>
        <p:spPr>
          <a:xfrm>
            <a:off x="4716016" y="1412776"/>
            <a:ext cx="3278462" cy="461665"/>
          </a:xfrm>
          <a:prstGeom prst="rect">
            <a:avLst/>
          </a:prstGeom>
          <a:ln>
            <a:solidFill>
              <a:schemeClr val="accent1"/>
            </a:solidFill>
          </a:ln>
        </p:spPr>
        <p:txBody>
          <a:bodyPr wrap="none">
            <a:spAutoFit/>
          </a:bodyPr>
          <a:lstStyle/>
          <a:p>
            <a:r>
              <a:rPr lang="zh-CN" altLang="en-US" sz="2400" b="1" dirty="0" smtClean="0">
                <a:solidFill>
                  <a:srgbClr val="FF0000"/>
                </a:solidFill>
                <a:latin typeface="黑体" pitchFamily="49" charset="-122"/>
                <a:ea typeface="黑体" pitchFamily="49" charset="-122"/>
              </a:rPr>
              <a:t>第一步是民主主义革命</a:t>
            </a:r>
            <a:endParaRPr lang="zh-CN" altLang="en-US" sz="2400" b="1" dirty="0">
              <a:solidFill>
                <a:srgbClr val="FF0000"/>
              </a:solidFill>
              <a:latin typeface="黑体" pitchFamily="49" charset="-122"/>
              <a:ea typeface="黑体" pitchFamily="49" charset="-122"/>
            </a:endParaRPr>
          </a:p>
        </p:txBody>
      </p:sp>
      <p:sp>
        <p:nvSpPr>
          <p:cNvPr id="12" name="矩形 11"/>
          <p:cNvSpPr/>
          <p:nvPr/>
        </p:nvSpPr>
        <p:spPr>
          <a:xfrm>
            <a:off x="4716016" y="2060848"/>
            <a:ext cx="3278462" cy="461665"/>
          </a:xfrm>
          <a:prstGeom prst="rect">
            <a:avLst/>
          </a:prstGeom>
          <a:ln>
            <a:solidFill>
              <a:schemeClr val="accent1"/>
            </a:solidFill>
          </a:ln>
        </p:spPr>
        <p:txBody>
          <a:bodyPr wrap="none">
            <a:spAutoFit/>
          </a:bodyPr>
          <a:lstStyle/>
          <a:p>
            <a:r>
              <a:rPr lang="zh-CN" altLang="en-US" sz="2400" b="1" dirty="0" smtClean="0">
                <a:solidFill>
                  <a:srgbClr val="FF0000"/>
                </a:solidFill>
                <a:latin typeface="黑体" pitchFamily="49" charset="-122"/>
                <a:ea typeface="黑体" pitchFamily="49" charset="-122"/>
              </a:rPr>
              <a:t>第二步是社会主义革命</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991"/>
                                        </p:tgtEl>
                                        <p:attrNameLst>
                                          <p:attrName>style.visibility</p:attrName>
                                        </p:attrNameLst>
                                      </p:cBhvr>
                                      <p:to>
                                        <p:strVal val="visible"/>
                                      </p:to>
                                    </p:set>
                                    <p:animEffect transition="in" filter="wipe(left)">
                                      <p:cBhvr>
                                        <p:cTn id="7" dur="500"/>
                                        <p:tgtEl>
                                          <p:spTgt spid="41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p:cNvSpPr>
          <p:nvPr>
            <p:ph type="title" idx="4294967295"/>
          </p:nvPr>
        </p:nvSpPr>
        <p:spPr>
          <a:xfrm>
            <a:off x="636588" y="765175"/>
            <a:ext cx="8507412" cy="1007641"/>
          </a:xfrm>
          <a:prstGeom prst="rect">
            <a:avLst/>
          </a:prstGeom>
          <a:solidFill>
            <a:srgbClr val="FFFFFF"/>
          </a:solidFill>
          <a:ln>
            <a:solidFill>
              <a:srgbClr val="FF0000"/>
            </a:solidFill>
            <a:miter/>
          </a:ln>
        </p:spPr>
        <p:txBody>
          <a:bodyPr anchor="t">
            <a:normAutofit fontScale="90000"/>
          </a:bodyPr>
          <a:lstStyle/>
          <a:p>
            <a:pPr algn="l" eaLnBrk="1" hangingPunct="1">
              <a:lnSpc>
                <a:spcPct val="150000"/>
              </a:lnSpc>
            </a:pPr>
            <a:r>
              <a:rPr lang="zh-CN" altLang="en-US" sz="4000" b="1" dirty="0">
                <a:solidFill>
                  <a:srgbClr val="FF0000"/>
                </a:solidFill>
                <a:latin typeface="+mj-ea"/>
              </a:rPr>
              <a:t>二、新民主主义基本纲领</a:t>
            </a:r>
            <a:r>
              <a:rPr lang="zh-CN" altLang="en-US" sz="4000" b="1" dirty="0">
                <a:solidFill>
                  <a:srgbClr val="0000FF"/>
                </a:solidFill>
                <a:latin typeface="+mj-ea"/>
              </a:rPr>
              <a:t/>
            </a:r>
            <a:br>
              <a:rPr lang="zh-CN" altLang="en-US" sz="4000" b="1" dirty="0">
                <a:solidFill>
                  <a:srgbClr val="0000FF"/>
                </a:solidFill>
                <a:latin typeface="+mj-ea"/>
              </a:rPr>
            </a:br>
            <a:r>
              <a:rPr lang="zh-CN" altLang="en-US" sz="4000" b="1" dirty="0">
                <a:solidFill>
                  <a:srgbClr val="0000FF"/>
                </a:solidFill>
                <a:latin typeface="+mj-ea"/>
              </a:rPr>
              <a:t>    </a:t>
            </a:r>
            <a:br>
              <a:rPr lang="zh-CN" altLang="en-US" sz="4000" b="1" dirty="0">
                <a:solidFill>
                  <a:srgbClr val="0000FF"/>
                </a:solidFill>
                <a:latin typeface="+mj-ea"/>
              </a:rPr>
            </a:br>
            <a:endParaRPr lang="zh-CN" altLang="en-US" sz="2800" b="1" dirty="0">
              <a:solidFill>
                <a:srgbClr val="0000FF"/>
              </a:solidFill>
              <a:latin typeface="+mn-ea"/>
              <a:ea typeface="+mn-ea"/>
            </a:endParaRPr>
          </a:p>
        </p:txBody>
      </p:sp>
      <p:sp>
        <p:nvSpPr>
          <p:cNvPr id="2" name="矩形 1"/>
          <p:cNvSpPr/>
          <p:nvPr/>
        </p:nvSpPr>
        <p:spPr>
          <a:xfrm>
            <a:off x="899592" y="2348880"/>
            <a:ext cx="6840760" cy="1846659"/>
          </a:xfrm>
          <a:prstGeom prst="rect">
            <a:avLst/>
          </a:prstGeom>
          <a:solidFill>
            <a:schemeClr val="bg1"/>
          </a:solidFill>
        </p:spPr>
        <p:txBody>
          <a:bodyPr wrap="square">
            <a:spAutoFit/>
          </a:bodyPr>
          <a:lstStyle/>
          <a:p>
            <a:r>
              <a:rPr lang="zh-CN" altLang="en-US" sz="4000" b="1" dirty="0">
                <a:solidFill>
                  <a:srgbClr val="0000FF"/>
                </a:solidFill>
                <a:latin typeface="华文楷体"/>
                <a:cs typeface="+mj-cs"/>
              </a:rPr>
              <a:t> </a:t>
            </a:r>
            <a:r>
              <a:rPr lang="zh-CN" altLang="en-US" sz="2800" b="1" dirty="0">
                <a:solidFill>
                  <a:srgbClr val="0000FF"/>
                </a:solidFill>
                <a:latin typeface="黑体" pitchFamily="49" charset="-122"/>
                <a:ea typeface="黑体" pitchFamily="49" charset="-122"/>
                <a:cs typeface="+mj-cs"/>
              </a:rPr>
              <a:t>纲领是一个政党公开树立的旗帜，表明党的性质的标志，也是总路线的具体展开和体现。</a:t>
            </a:r>
            <a:br>
              <a:rPr lang="zh-CN" altLang="en-US" sz="2800" b="1" dirty="0">
                <a:solidFill>
                  <a:srgbClr val="0000FF"/>
                </a:solidFill>
                <a:latin typeface="黑体" pitchFamily="49" charset="-122"/>
                <a:ea typeface="黑体" pitchFamily="49" charset="-122"/>
                <a:cs typeface="+mj-cs"/>
              </a:rPr>
            </a:br>
            <a:endParaRPr lang="zh-CN" altLang="en-US" dirty="0">
              <a:latin typeface="黑体" pitchFamily="49" charset="-122"/>
              <a:ea typeface="黑体" pitchFamily="49" charset="-122"/>
            </a:endParaRPr>
          </a:p>
        </p:txBody>
      </p:sp>
      <p:sp>
        <p:nvSpPr>
          <p:cNvPr id="3" name="矩形 2"/>
          <p:cNvSpPr/>
          <p:nvPr/>
        </p:nvSpPr>
        <p:spPr>
          <a:xfrm>
            <a:off x="755576" y="4581128"/>
            <a:ext cx="6840760" cy="1384995"/>
          </a:xfrm>
          <a:prstGeom prst="rect">
            <a:avLst/>
          </a:prstGeom>
          <a:solidFill>
            <a:schemeClr val="bg1"/>
          </a:solidFill>
        </p:spPr>
        <p:txBody>
          <a:bodyPr wrap="square">
            <a:spAutoFit/>
          </a:bodyPr>
          <a:lstStyle/>
          <a:p>
            <a:pPr lvl="0"/>
            <a:r>
              <a:rPr lang="en-US" altLang="zh-CN" sz="2800" b="1" dirty="0" smtClean="0">
                <a:solidFill>
                  <a:srgbClr val="0000FF"/>
                </a:solidFill>
                <a:latin typeface="黑体" pitchFamily="49" charset="-122"/>
                <a:ea typeface="黑体" pitchFamily="49" charset="-122"/>
              </a:rPr>
              <a:t>     </a:t>
            </a:r>
            <a:r>
              <a:rPr lang="zh-CN" altLang="en-US" sz="2800" b="1" dirty="0" smtClean="0">
                <a:solidFill>
                  <a:srgbClr val="0000FF"/>
                </a:solidFill>
                <a:latin typeface="黑体" pitchFamily="49" charset="-122"/>
                <a:ea typeface="黑体" pitchFamily="49" charset="-122"/>
              </a:rPr>
              <a:t>阅读：</a:t>
            </a:r>
            <a:r>
              <a:rPr lang="en-US" altLang="zh-CN" sz="2800" b="1" dirty="0" smtClean="0">
                <a:solidFill>
                  <a:srgbClr val="FF0000"/>
                </a:solidFill>
                <a:latin typeface="黑体" pitchFamily="49" charset="-122"/>
                <a:ea typeface="黑体" pitchFamily="49" charset="-122"/>
              </a:rPr>
              <a:t>《</a:t>
            </a:r>
            <a:r>
              <a:rPr lang="zh-CN" altLang="en-US" sz="2800" b="1" dirty="0">
                <a:solidFill>
                  <a:srgbClr val="FF0000"/>
                </a:solidFill>
                <a:latin typeface="黑体" pitchFamily="49" charset="-122"/>
                <a:ea typeface="黑体" pitchFamily="49" charset="-122"/>
              </a:rPr>
              <a:t>新民主主义论</a:t>
            </a:r>
            <a:r>
              <a:rPr lang="en-US" altLang="zh-CN" sz="2800" b="1" dirty="0" smtClean="0">
                <a:solidFill>
                  <a:srgbClr val="FF0000"/>
                </a:solidFill>
                <a:latin typeface="黑体" pitchFamily="49" charset="-122"/>
                <a:ea typeface="黑体" pitchFamily="49" charset="-122"/>
              </a:rPr>
              <a:t>》</a:t>
            </a:r>
          </a:p>
          <a:p>
            <a:pPr lvl="0"/>
            <a:endParaRPr lang="en-US" altLang="zh-CN" sz="2800" b="1" dirty="0">
              <a:solidFill>
                <a:srgbClr val="FF0000"/>
              </a:solidFill>
              <a:latin typeface="黑体" pitchFamily="49" charset="-122"/>
              <a:ea typeface="黑体" pitchFamily="49" charset="-122"/>
            </a:endParaRPr>
          </a:p>
          <a:p>
            <a:pPr lvl="0"/>
            <a:r>
              <a:rPr lang="en-US" altLang="zh-CN" sz="2800" b="1" dirty="0" smtClean="0">
                <a:solidFill>
                  <a:srgbClr val="FF0000"/>
                </a:solidFill>
                <a:latin typeface="黑体" pitchFamily="49" charset="-122"/>
                <a:ea typeface="黑体" pitchFamily="49" charset="-122"/>
              </a:rPr>
              <a:t>     《</a:t>
            </a:r>
            <a:r>
              <a:rPr lang="zh-CN" altLang="en-US" sz="2800" b="1" dirty="0">
                <a:solidFill>
                  <a:srgbClr val="FF0000"/>
                </a:solidFill>
                <a:latin typeface="黑体" pitchFamily="49" charset="-122"/>
                <a:ea typeface="黑体" pitchFamily="49" charset="-122"/>
              </a:rPr>
              <a:t>论联合政府</a:t>
            </a:r>
            <a:r>
              <a:rPr lang="en-US" altLang="zh-CN" sz="2800" b="1" dirty="0">
                <a:solidFill>
                  <a:srgbClr val="FF0000"/>
                </a:solidFill>
                <a:latin typeface="黑体" pitchFamily="49" charset="-122"/>
                <a:ea typeface="黑体" pitchFamily="49" charset="-122"/>
              </a:rPr>
              <a:t>》</a:t>
            </a:r>
            <a:endParaRPr lang="zh-CN" altLang="en-US" dirty="0">
              <a:solidFill>
                <a:srgbClr val="FF0000"/>
              </a:solidFill>
              <a:latin typeface="黑体" pitchFamily="49" charset="-122"/>
              <a:ea typeface="黑体" pitchFamily="49" charset="-122"/>
            </a:endParaRPr>
          </a:p>
        </p:txBody>
      </p:sp>
    </p:spTree>
  </p:cSld>
  <p:clrMapOvr>
    <a:masterClrMapping/>
  </p:clrMapOvr>
  <p:transition>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p:cNvSpPr>
          <p:nvPr>
            <p:ph type="title"/>
          </p:nvPr>
        </p:nvSpPr>
        <p:spPr>
          <a:xfrm>
            <a:off x="539552" y="620688"/>
            <a:ext cx="6929486" cy="796908"/>
          </a:xfrm>
          <a:solidFill>
            <a:srgbClr val="FFFFFF"/>
          </a:solidFill>
          <a:ln>
            <a:solidFill>
              <a:srgbClr val="FF0000"/>
            </a:solidFill>
            <a:miter/>
          </a:ln>
        </p:spPr>
        <p:txBody>
          <a:bodyPr anchor="t"/>
          <a:lstStyle/>
          <a:p>
            <a:pPr algn="l" eaLnBrk="1" hangingPunct="1"/>
            <a:r>
              <a:rPr lang="zh-CN" altLang="en-US" sz="3600" b="1" dirty="0">
                <a:solidFill>
                  <a:srgbClr val="FF0000"/>
                </a:solidFill>
                <a:latin typeface="华文琥珀" pitchFamily="2" charset="-122"/>
                <a:ea typeface="华文琥珀" pitchFamily="2" charset="-122"/>
              </a:rPr>
              <a:t>（一）新民主主义的政治纲领</a:t>
            </a:r>
          </a:p>
        </p:txBody>
      </p:sp>
      <p:sp>
        <p:nvSpPr>
          <p:cNvPr id="205828" name="Rectangle 4"/>
          <p:cNvSpPr>
            <a:spLocks noGrp="1"/>
          </p:cNvSpPr>
          <p:nvPr>
            <p:ph sz="half" idx="1"/>
          </p:nvPr>
        </p:nvSpPr>
        <p:spPr>
          <a:xfrm>
            <a:off x="4859338" y="3357563"/>
            <a:ext cx="3503612" cy="2951162"/>
          </a:xfrm>
          <a:solidFill>
            <a:schemeClr val="bg1"/>
          </a:solidFill>
          <a:ln>
            <a:solidFill>
              <a:schemeClr val="folHlink"/>
            </a:solidFill>
            <a:miter/>
          </a:ln>
        </p:spPr>
        <p:txBody>
          <a:bodyPr anchor="t"/>
          <a:lstStyle/>
          <a:p>
            <a:pPr eaLnBrk="1" hangingPunct="1">
              <a:lnSpc>
                <a:spcPct val="120000"/>
              </a:lnSpc>
              <a:buNone/>
            </a:pPr>
            <a:r>
              <a:rPr lang="en-US" altLang="zh-CN" sz="2600" kern="1200" dirty="0">
                <a:latin typeface="+mn-lt"/>
                <a:ea typeface="楷体_GB2312" pitchFamily="49" charset="-122"/>
                <a:cs typeface="+mn-cs"/>
              </a:rPr>
              <a:t>         </a:t>
            </a:r>
            <a:r>
              <a:rPr lang="zh-CN" altLang="en-US" sz="2400" b="1" kern="1200" dirty="0">
                <a:solidFill>
                  <a:srgbClr val="0000FF"/>
                </a:solidFill>
                <a:latin typeface="+mn-lt"/>
                <a:ea typeface="黑体" panose="02010609060101010101" pitchFamily="2" charset="-122"/>
                <a:cs typeface="+mn-cs"/>
              </a:rPr>
              <a:t>推翻帝国主义和封建主义的压迫，建立无产阶级领导的各革命阶级联合专政的民主共和国</a:t>
            </a:r>
            <a:r>
              <a:rPr lang="zh-CN" altLang="en-US" sz="2600" kern="1200" dirty="0">
                <a:latin typeface="+mn-lt"/>
                <a:ea typeface="楷体_GB2312" pitchFamily="49" charset="-122"/>
                <a:cs typeface="+mn-cs"/>
              </a:rPr>
              <a:t>。</a:t>
            </a:r>
          </a:p>
        </p:txBody>
      </p:sp>
      <p:sp>
        <p:nvSpPr>
          <p:cNvPr id="205826" name="Rectangle 2"/>
          <p:cNvSpPr>
            <a:spLocks noGrp="1"/>
          </p:cNvSpPr>
          <p:nvPr>
            <p:ph sz="half" idx="2"/>
          </p:nvPr>
        </p:nvSpPr>
        <p:spPr>
          <a:xfrm>
            <a:off x="1244600" y="1698625"/>
            <a:ext cx="2814638" cy="2749550"/>
          </a:xfrm>
          <a:solidFill>
            <a:srgbClr val="FFFFFF"/>
          </a:solidFill>
          <a:ln>
            <a:solidFill>
              <a:srgbClr val="FF0000"/>
            </a:solidFill>
            <a:miter/>
          </a:ln>
        </p:spPr>
        <p:txBody>
          <a:bodyPr anchor="t"/>
          <a:lstStyle/>
          <a:p>
            <a:pPr eaLnBrk="1" hangingPunct="1">
              <a:lnSpc>
                <a:spcPct val="120000"/>
              </a:lnSpc>
              <a:buNone/>
            </a:pPr>
            <a:r>
              <a:rPr lang="en-US" altLang="zh-CN" b="1" kern="1200" dirty="0">
                <a:solidFill>
                  <a:srgbClr val="FF0000"/>
                </a:solidFill>
                <a:latin typeface="+mj-ea"/>
                <a:ea typeface="+mj-ea"/>
                <a:cs typeface="+mn-cs"/>
              </a:rPr>
              <a:t>1</a:t>
            </a:r>
            <a:r>
              <a:rPr lang="zh-CN" altLang="en-US" b="1" kern="1200" dirty="0">
                <a:solidFill>
                  <a:srgbClr val="FF0000"/>
                </a:solidFill>
                <a:latin typeface="+mj-ea"/>
                <a:ea typeface="+mj-ea"/>
                <a:cs typeface="+mn-cs"/>
              </a:rPr>
              <a:t>、新民主主义政治纲领的基本内容</a:t>
            </a:r>
          </a:p>
        </p:txBody>
      </p:sp>
      <p:sp>
        <p:nvSpPr>
          <p:cNvPr id="46084" name="Text Box 5"/>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6085" name="Text Box 6"/>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6086" name="Text Box 7"/>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6087" name="Text Box 8"/>
          <p:cNvSpPr txBox="1"/>
          <p:nvPr/>
        </p:nvSpPr>
        <p:spPr>
          <a:xfrm>
            <a:off x="1619250" y="184467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6088" name="Text Box 9"/>
          <p:cNvSpPr txBox="1"/>
          <p:nvPr/>
        </p:nvSpPr>
        <p:spPr>
          <a:xfrm>
            <a:off x="1476375" y="227647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pic>
        <p:nvPicPr>
          <p:cNvPr id="205834" name="Picture 10"/>
          <p:cNvPicPr>
            <a:picLocks noChangeAspect="1"/>
          </p:cNvPicPr>
          <p:nvPr/>
        </p:nvPicPr>
        <p:blipFill>
          <a:blip r:embed="rId2" cstate="print"/>
          <a:stretch>
            <a:fillRect/>
          </a:stretch>
        </p:blipFill>
        <p:spPr>
          <a:xfrm rot="2668396">
            <a:off x="3059113" y="3860800"/>
            <a:ext cx="1604962" cy="1022350"/>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826">
                                            <p:txEl>
                                              <p:pRg st="0" end="0"/>
                                            </p:txEl>
                                          </p:spTgt>
                                        </p:tgtEl>
                                        <p:attrNameLst>
                                          <p:attrName>style.visibility</p:attrName>
                                        </p:attrNameLst>
                                      </p:cBhvr>
                                      <p:to>
                                        <p:strVal val="visible"/>
                                      </p:to>
                                    </p:set>
                                    <p:animEffect transition="in" filter="dissolve">
                                      <p:cBhvr>
                                        <p:cTn id="7" dur="500"/>
                                        <p:tgtEl>
                                          <p:spTgt spid="2058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5834"/>
                                        </p:tgtEl>
                                        <p:attrNameLst>
                                          <p:attrName>style.visibility</p:attrName>
                                        </p:attrNameLst>
                                      </p:cBhvr>
                                      <p:to>
                                        <p:strVal val="visible"/>
                                      </p:to>
                                    </p:set>
                                  </p:childTnLst>
                                </p:cTn>
                              </p:par>
                            </p:childTnLst>
                          </p:cTn>
                        </p:par>
                        <p:par>
                          <p:cTn id="12" fill="hold">
                            <p:stCondLst>
                              <p:cond delay="0"/>
                            </p:stCondLst>
                            <p:childTnLst>
                              <p:par>
                                <p:cTn id="13" presetID="9" presetClass="entr" presetSubtype="0" fill="hold" grpId="0" nodeType="afterEffect">
                                  <p:stCondLst>
                                    <p:cond delay="0"/>
                                  </p:stCondLst>
                                  <p:childTnLst>
                                    <p:set>
                                      <p:cBhvr>
                                        <p:cTn id="14" dur="1" fill="hold">
                                          <p:stCondLst>
                                            <p:cond delay="0"/>
                                          </p:stCondLst>
                                        </p:cTn>
                                        <p:tgtEl>
                                          <p:spTgt spid="205828">
                                            <p:bg/>
                                          </p:spTgt>
                                        </p:tgtEl>
                                        <p:attrNameLst>
                                          <p:attrName>style.visibility</p:attrName>
                                        </p:attrNameLst>
                                      </p:cBhvr>
                                      <p:to>
                                        <p:strVal val="visible"/>
                                      </p:to>
                                    </p:set>
                                    <p:animEffect transition="in" filter="dissolve">
                                      <p:cBhvr>
                                        <p:cTn id="15" dur="500"/>
                                        <p:tgtEl>
                                          <p:spTgt spid="205828">
                                            <p:bg/>
                                          </p:spTgt>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205828">
                                            <p:txEl>
                                              <p:pRg st="0" end="0"/>
                                            </p:txEl>
                                          </p:spTgt>
                                        </p:tgtEl>
                                        <p:attrNameLst>
                                          <p:attrName>style.visibility</p:attrName>
                                        </p:attrNameLst>
                                      </p:cBhvr>
                                      <p:to>
                                        <p:strVal val="visible"/>
                                      </p:to>
                                    </p:set>
                                    <p:animEffect transition="in" filter="dissolve">
                                      <p:cBhvr>
                                        <p:cTn id="19" dur="500"/>
                                        <p:tgtEl>
                                          <p:spTgt spid="2058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8" grpId="0" build="p" animBg="1"/>
      <p:bldP spid="205826"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2" name="Rectangle 4"/>
          <p:cNvSpPr>
            <a:spLocks noGrp="1"/>
          </p:cNvSpPr>
          <p:nvPr>
            <p:ph sz="half" idx="1"/>
          </p:nvPr>
        </p:nvSpPr>
        <p:spPr>
          <a:xfrm>
            <a:off x="4499992" y="2060848"/>
            <a:ext cx="4140200" cy="4267200"/>
          </a:xfrm>
          <a:solidFill>
            <a:schemeClr val="bg1"/>
          </a:solidFill>
          <a:ln>
            <a:solidFill>
              <a:srgbClr val="FF0000"/>
            </a:solidFill>
            <a:miter/>
          </a:ln>
        </p:spPr>
        <p:txBody>
          <a:bodyPr anchor="t"/>
          <a:lstStyle/>
          <a:p>
            <a:pPr eaLnBrk="1" hangingPunct="1">
              <a:lnSpc>
                <a:spcPct val="120000"/>
              </a:lnSpc>
              <a:spcBef>
                <a:spcPct val="30000"/>
              </a:spcBef>
            </a:pPr>
            <a:r>
              <a:rPr lang="zh-CN" altLang="en-US" sz="2400" b="1" kern="1200" dirty="0">
                <a:solidFill>
                  <a:srgbClr val="0000FF"/>
                </a:solidFill>
                <a:latin typeface="+mn-lt"/>
                <a:ea typeface="黑体" panose="02010609060101010101" pitchFamily="2" charset="-122"/>
                <a:cs typeface="+mn-cs"/>
              </a:rPr>
              <a:t>国体：无产阶级领导的，以工农联盟为基础的，包括其他在内的几个革命阶级的联合专政。</a:t>
            </a:r>
          </a:p>
          <a:p>
            <a:pPr eaLnBrk="1" hangingPunct="1">
              <a:lnSpc>
                <a:spcPct val="120000"/>
              </a:lnSpc>
              <a:spcBef>
                <a:spcPct val="30000"/>
              </a:spcBef>
            </a:pPr>
            <a:r>
              <a:rPr lang="zh-CN" altLang="en-US" sz="2400" b="1" kern="1200" dirty="0">
                <a:solidFill>
                  <a:srgbClr val="0000FF"/>
                </a:solidFill>
                <a:latin typeface="+mn-lt"/>
                <a:ea typeface="黑体" panose="02010609060101010101" pitchFamily="2" charset="-122"/>
                <a:cs typeface="+mn-cs"/>
              </a:rPr>
              <a:t>政体：采取民主集中制的人民代表大会制。</a:t>
            </a:r>
          </a:p>
          <a:p>
            <a:pPr eaLnBrk="1" hangingPunct="1">
              <a:lnSpc>
                <a:spcPct val="120000"/>
              </a:lnSpc>
              <a:spcBef>
                <a:spcPct val="30000"/>
              </a:spcBef>
            </a:pPr>
            <a:r>
              <a:rPr lang="zh-CN" altLang="en-US" sz="2400" b="1" kern="1200" dirty="0">
                <a:solidFill>
                  <a:srgbClr val="0000FF"/>
                </a:solidFill>
                <a:latin typeface="+mn-lt"/>
                <a:ea typeface="黑体" panose="02010609060101010101" pitchFamily="2" charset="-122"/>
                <a:cs typeface="+mn-cs"/>
              </a:rPr>
              <a:t>性质：具有过渡性，其终极前途是社会主义</a:t>
            </a:r>
            <a:r>
              <a:rPr lang="zh-CN" altLang="en-US" sz="2600" b="1" kern="1200" dirty="0">
                <a:solidFill>
                  <a:schemeClr val="folHlink"/>
                </a:solidFill>
                <a:latin typeface="+mn-lt"/>
                <a:ea typeface="楷体_GB2312" pitchFamily="49" charset="-122"/>
                <a:cs typeface="+mn-cs"/>
              </a:rPr>
              <a:t>。</a:t>
            </a:r>
            <a:endParaRPr lang="zh-CN" altLang="en-US" sz="2600" b="1" kern="1200" dirty="0">
              <a:solidFill>
                <a:schemeClr val="folHlink"/>
              </a:solidFill>
              <a:latin typeface="+mn-lt"/>
              <a:ea typeface="+mn-ea"/>
              <a:cs typeface="+mn-cs"/>
            </a:endParaRPr>
          </a:p>
        </p:txBody>
      </p:sp>
      <p:sp>
        <p:nvSpPr>
          <p:cNvPr id="206850" name="Rectangle 2"/>
          <p:cNvSpPr>
            <a:spLocks noGrp="1"/>
          </p:cNvSpPr>
          <p:nvPr>
            <p:ph sz="half" idx="2"/>
          </p:nvPr>
        </p:nvSpPr>
        <p:spPr>
          <a:xfrm>
            <a:off x="723900" y="1773238"/>
            <a:ext cx="2816225" cy="3132137"/>
          </a:xfrm>
          <a:solidFill>
            <a:srgbClr val="FFFFFF"/>
          </a:solidFill>
          <a:ln>
            <a:solidFill>
              <a:srgbClr val="FF0000"/>
            </a:solidFill>
            <a:miter/>
          </a:ln>
        </p:spPr>
        <p:txBody>
          <a:bodyPr anchor="t">
            <a:normAutofit/>
          </a:bodyPr>
          <a:lstStyle/>
          <a:p>
            <a:pPr eaLnBrk="1" hangingPunct="1">
              <a:lnSpc>
                <a:spcPct val="130000"/>
              </a:lnSpc>
              <a:buNone/>
            </a:pPr>
            <a:r>
              <a:rPr lang="en-US" altLang="zh-CN" b="1" dirty="0">
                <a:solidFill>
                  <a:srgbClr val="FF0000"/>
                </a:solidFill>
                <a:latin typeface="+mj-ea"/>
                <a:ea typeface="+mj-ea"/>
              </a:rPr>
              <a:t>2</a:t>
            </a:r>
            <a:r>
              <a:rPr lang="zh-CN" altLang="en-US" b="1" dirty="0">
                <a:solidFill>
                  <a:srgbClr val="FF0000"/>
                </a:solidFill>
                <a:latin typeface="+mj-ea"/>
                <a:ea typeface="+mj-ea"/>
              </a:rPr>
              <a:t>、新民主主义政治的特点</a:t>
            </a:r>
          </a:p>
        </p:txBody>
      </p:sp>
      <p:sp>
        <p:nvSpPr>
          <p:cNvPr id="47108" name="Text Box 5"/>
          <p:cNvSpPr txBox="1"/>
          <p:nvPr/>
        </p:nvSpPr>
        <p:spPr>
          <a:xfrm>
            <a:off x="1042988" y="184467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7109" name="Text Box 6"/>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7110" name="Text Box 7"/>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7111" name="Text Box 8"/>
          <p:cNvSpPr txBox="1"/>
          <p:nvPr/>
        </p:nvSpPr>
        <p:spPr>
          <a:xfrm>
            <a:off x="1600200"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7112" name="Text Box 9"/>
          <p:cNvSpPr txBox="1"/>
          <p:nvPr/>
        </p:nvSpPr>
        <p:spPr>
          <a:xfrm>
            <a:off x="1455738" y="22828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pic>
        <p:nvPicPr>
          <p:cNvPr id="47113" name="Picture 10" descr="j0239785[1]"/>
          <p:cNvPicPr>
            <a:picLocks noChangeAspect="1"/>
          </p:cNvPicPr>
          <p:nvPr/>
        </p:nvPicPr>
        <p:blipFill>
          <a:blip r:embed="rId2" cstate="print"/>
          <a:stretch>
            <a:fillRect/>
          </a:stretch>
        </p:blipFill>
        <p:spPr>
          <a:xfrm>
            <a:off x="1116013" y="4437063"/>
            <a:ext cx="1711325" cy="1792287"/>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850">
                                            <p:txEl>
                                              <p:pRg st="0" end="0"/>
                                            </p:txEl>
                                          </p:spTgt>
                                        </p:tgtEl>
                                        <p:attrNameLst>
                                          <p:attrName>style.visibility</p:attrName>
                                        </p:attrNameLst>
                                      </p:cBhvr>
                                      <p:to>
                                        <p:strVal val="visible"/>
                                      </p:to>
                                    </p:set>
                                    <p:animEffect transition="in" filter="wipe(left)">
                                      <p:cBhvr>
                                        <p:cTn id="7" dur="500"/>
                                        <p:tgtEl>
                                          <p:spTgt spid="2068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6852">
                                            <p:bg/>
                                          </p:spTgt>
                                        </p:tgtEl>
                                        <p:attrNameLst>
                                          <p:attrName>style.visibility</p:attrName>
                                        </p:attrNameLst>
                                      </p:cBhvr>
                                      <p:to>
                                        <p:strVal val="visible"/>
                                      </p:to>
                                    </p:set>
                                    <p:animEffect transition="in" filter="dissolve">
                                      <p:cBhvr>
                                        <p:cTn id="12" dur="500"/>
                                        <p:tgtEl>
                                          <p:spTgt spid="206852">
                                            <p:bg/>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6852">
                                            <p:txEl>
                                              <p:pRg st="0" end="0"/>
                                            </p:txEl>
                                          </p:spTgt>
                                        </p:tgtEl>
                                        <p:attrNameLst>
                                          <p:attrName>style.visibility</p:attrName>
                                        </p:attrNameLst>
                                      </p:cBhvr>
                                      <p:to>
                                        <p:strVal val="visible"/>
                                      </p:to>
                                    </p:set>
                                    <p:animEffect transition="in" filter="dissolve">
                                      <p:cBhvr>
                                        <p:cTn id="17" dur="500"/>
                                        <p:tgtEl>
                                          <p:spTgt spid="20685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6852">
                                            <p:txEl>
                                              <p:pRg st="1" end="1"/>
                                            </p:txEl>
                                          </p:spTgt>
                                        </p:tgtEl>
                                        <p:attrNameLst>
                                          <p:attrName>style.visibility</p:attrName>
                                        </p:attrNameLst>
                                      </p:cBhvr>
                                      <p:to>
                                        <p:strVal val="visible"/>
                                      </p:to>
                                    </p:set>
                                    <p:animEffect transition="in" filter="dissolve">
                                      <p:cBhvr>
                                        <p:cTn id="22" dur="500"/>
                                        <p:tgtEl>
                                          <p:spTgt spid="20685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6852">
                                            <p:txEl>
                                              <p:pRg st="2" end="2"/>
                                            </p:txEl>
                                          </p:spTgt>
                                        </p:tgtEl>
                                        <p:attrNameLst>
                                          <p:attrName>style.visibility</p:attrName>
                                        </p:attrNameLst>
                                      </p:cBhvr>
                                      <p:to>
                                        <p:strVal val="visible"/>
                                      </p:to>
                                    </p:set>
                                    <p:animEffect transition="in" filter="dissolve">
                                      <p:cBhvr>
                                        <p:cTn id="27" dur="500"/>
                                        <p:tgtEl>
                                          <p:spTgt spid="20685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2" grpId="0" build="p" animBg="1"/>
      <p:bldP spid="206850"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p:cNvSpPr>
          <p:nvPr>
            <p:ph type="title"/>
          </p:nvPr>
        </p:nvSpPr>
        <p:spPr>
          <a:xfrm>
            <a:off x="395536" y="404664"/>
            <a:ext cx="8229600" cy="796908"/>
          </a:xfrm>
          <a:solidFill>
            <a:srgbClr val="FFFFFF"/>
          </a:solidFill>
          <a:ln>
            <a:solidFill>
              <a:srgbClr val="FF0000"/>
            </a:solidFill>
            <a:miter/>
          </a:ln>
        </p:spPr>
        <p:txBody>
          <a:bodyPr anchor="t">
            <a:normAutofit/>
          </a:bodyPr>
          <a:lstStyle/>
          <a:p>
            <a:pPr algn="l" eaLnBrk="1" hangingPunct="1"/>
            <a:r>
              <a:rPr lang="zh-CN" altLang="en-US" sz="3600" b="1" dirty="0">
                <a:solidFill>
                  <a:srgbClr val="FF0000"/>
                </a:solidFill>
                <a:latin typeface="华文琥珀" pitchFamily="2" charset="-122"/>
                <a:ea typeface="华文琥珀" pitchFamily="2" charset="-122"/>
              </a:rPr>
              <a:t>（二）新民主主义的经济纲领</a:t>
            </a:r>
          </a:p>
        </p:txBody>
      </p:sp>
      <p:sp>
        <p:nvSpPr>
          <p:cNvPr id="207876" name="Rectangle 4"/>
          <p:cNvSpPr>
            <a:spLocks noGrp="1"/>
          </p:cNvSpPr>
          <p:nvPr>
            <p:ph sz="half" idx="1"/>
          </p:nvPr>
        </p:nvSpPr>
        <p:spPr>
          <a:xfrm>
            <a:off x="4499992" y="1556792"/>
            <a:ext cx="3671888" cy="864815"/>
          </a:xfrm>
          <a:solidFill>
            <a:schemeClr val="bg1"/>
          </a:solidFill>
          <a:ln>
            <a:solidFill>
              <a:schemeClr val="accent1"/>
            </a:solidFill>
            <a:miter/>
          </a:ln>
        </p:spPr>
        <p:txBody>
          <a:bodyPr anchor="t">
            <a:normAutofit fontScale="85000" lnSpcReduction="20000"/>
          </a:bodyPr>
          <a:lstStyle/>
          <a:p>
            <a:pPr eaLnBrk="1" hangingPunct="1">
              <a:lnSpc>
                <a:spcPct val="120000"/>
              </a:lnSpc>
              <a:spcBef>
                <a:spcPct val="50000"/>
              </a:spcBef>
              <a:buNone/>
            </a:pPr>
            <a:r>
              <a:rPr lang="zh-CN" altLang="en-US" b="1" kern="1200" dirty="0">
                <a:solidFill>
                  <a:srgbClr val="FF0000"/>
                </a:solidFill>
                <a:latin typeface="+mn-lt"/>
                <a:ea typeface="黑体" panose="02010609060101010101" pitchFamily="2" charset="-122"/>
                <a:cs typeface="+mn-cs"/>
              </a:rPr>
              <a:t>没收</a:t>
            </a:r>
            <a:r>
              <a:rPr lang="zh-CN" altLang="en-US" b="1" kern="1200" dirty="0">
                <a:solidFill>
                  <a:srgbClr val="0000FF"/>
                </a:solidFill>
                <a:latin typeface="+mn-lt"/>
                <a:ea typeface="黑体" panose="02010609060101010101" pitchFamily="2" charset="-122"/>
                <a:cs typeface="+mn-cs"/>
              </a:rPr>
              <a:t>封建阶级的土地归农民所有</a:t>
            </a:r>
          </a:p>
          <a:p>
            <a:pPr eaLnBrk="1" hangingPunct="1">
              <a:lnSpc>
                <a:spcPct val="120000"/>
              </a:lnSpc>
              <a:spcBef>
                <a:spcPct val="50000"/>
              </a:spcBef>
              <a:buNone/>
            </a:pPr>
            <a:endParaRPr lang="zh-CN" altLang="en-US" b="1" kern="1200" dirty="0">
              <a:solidFill>
                <a:srgbClr val="0000FF"/>
              </a:solidFill>
              <a:latin typeface="+mn-lt"/>
              <a:ea typeface="黑体" panose="02010609060101010101" pitchFamily="2" charset="-122"/>
              <a:cs typeface="+mn-cs"/>
            </a:endParaRPr>
          </a:p>
        </p:txBody>
      </p:sp>
      <p:sp>
        <p:nvSpPr>
          <p:cNvPr id="207874" name="Rectangle 2"/>
          <p:cNvSpPr>
            <a:spLocks noGrp="1"/>
          </p:cNvSpPr>
          <p:nvPr>
            <p:ph sz="half" idx="2"/>
          </p:nvPr>
        </p:nvSpPr>
        <p:spPr>
          <a:xfrm>
            <a:off x="800100" y="1773238"/>
            <a:ext cx="2816225" cy="3132137"/>
          </a:xfrm>
          <a:solidFill>
            <a:srgbClr val="FFFFFF"/>
          </a:solidFill>
          <a:ln>
            <a:solidFill>
              <a:srgbClr val="FF0000"/>
            </a:solidFill>
            <a:miter/>
          </a:ln>
        </p:spPr>
        <p:txBody>
          <a:bodyPr anchor="t">
            <a:normAutofit fontScale="85000" lnSpcReduction="20000"/>
          </a:bodyPr>
          <a:lstStyle/>
          <a:p>
            <a:pPr eaLnBrk="1" hangingPunct="1">
              <a:lnSpc>
                <a:spcPct val="130000"/>
              </a:lnSpc>
              <a:buNone/>
            </a:pPr>
            <a:r>
              <a:rPr lang="en-US" altLang="zh-CN" b="1" dirty="0">
                <a:solidFill>
                  <a:srgbClr val="FF0000"/>
                </a:solidFill>
                <a:latin typeface="+mj-ea"/>
                <a:ea typeface="+mj-ea"/>
              </a:rPr>
              <a:t>1</a:t>
            </a:r>
            <a:r>
              <a:rPr lang="zh-CN" altLang="en-US" b="1" dirty="0">
                <a:solidFill>
                  <a:srgbClr val="FF0000"/>
                </a:solidFill>
                <a:latin typeface="+mj-ea"/>
                <a:ea typeface="+mj-ea"/>
              </a:rPr>
              <a:t>、新民主主义经济纲领的基本内容</a:t>
            </a:r>
          </a:p>
        </p:txBody>
      </p:sp>
      <p:sp>
        <p:nvSpPr>
          <p:cNvPr id="48132" name="Text Box 5"/>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8133" name="Text Box 6"/>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8134" name="Text Box 7"/>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pic>
        <p:nvPicPr>
          <p:cNvPr id="48135" name="Picture 8" descr="j0240341[1]"/>
          <p:cNvPicPr>
            <a:picLocks noChangeAspect="1"/>
          </p:cNvPicPr>
          <p:nvPr/>
        </p:nvPicPr>
        <p:blipFill>
          <a:blip r:embed="rId2" cstate="print"/>
          <a:stretch>
            <a:fillRect/>
          </a:stretch>
        </p:blipFill>
        <p:spPr>
          <a:xfrm>
            <a:off x="1331913" y="4652963"/>
            <a:ext cx="1677987" cy="1223962"/>
          </a:xfrm>
          <a:prstGeom prst="rect">
            <a:avLst/>
          </a:prstGeom>
          <a:noFill/>
          <a:ln w="9525">
            <a:noFill/>
          </a:ln>
        </p:spPr>
      </p:pic>
      <p:sp>
        <p:nvSpPr>
          <p:cNvPr id="9" name="Rectangle 4"/>
          <p:cNvSpPr txBox="1">
            <a:spLocks/>
          </p:cNvSpPr>
          <p:nvPr/>
        </p:nvSpPr>
        <p:spPr>
          <a:xfrm>
            <a:off x="4572000" y="4293096"/>
            <a:ext cx="3600450" cy="576808"/>
          </a:xfrm>
          <a:prstGeom prst="rect">
            <a:avLst/>
          </a:prstGeom>
          <a:solidFill>
            <a:schemeClr val="bg1"/>
          </a:solidFill>
          <a:ln>
            <a:solidFill>
              <a:schemeClr val="accent1"/>
            </a:solidFill>
            <a:miter/>
          </a:ln>
        </p:spPr>
        <p:txBody>
          <a:bodyPr vert="horz" rtlCol="0" anchor="t">
            <a:noAutofit/>
          </a:bodyPr>
          <a:lstStyle/>
          <a:p>
            <a:pPr marL="342900" marR="0" lvl="0" indent="-342900" algn="l" defTabSz="914400" rtl="0" eaLnBrk="1" fontAlgn="auto" latinLnBrk="0" hangingPunct="1">
              <a:lnSpc>
                <a:spcPct val="120000"/>
              </a:lnSpc>
              <a:spcBef>
                <a:spcPct val="50000"/>
              </a:spcBef>
              <a:spcAft>
                <a:spcPts val="0"/>
              </a:spcAft>
              <a:buClr>
                <a:schemeClr val="accent1"/>
              </a:buClr>
              <a:buSzPct val="50000"/>
              <a:buFont typeface="Wingdings 2"/>
              <a:buNone/>
              <a:tabLst/>
              <a:defRPr/>
            </a:pPr>
            <a:r>
              <a:rPr kumimoji="0" lang="zh-CN" altLang="en-US" sz="2400" b="1" i="0" u="none" strike="noStrike" kern="1200" cap="none" spc="0" normalizeH="0" baseline="0" noProof="0" dirty="0" smtClean="0">
                <a:ln>
                  <a:noFill/>
                </a:ln>
                <a:solidFill>
                  <a:srgbClr val="FF0000"/>
                </a:solidFill>
                <a:effectLst/>
                <a:uLnTx/>
                <a:uFillTx/>
                <a:latin typeface="+mn-lt"/>
                <a:ea typeface="黑体" panose="02010609060101010101" pitchFamily="2" charset="-122"/>
                <a:cs typeface="+mn-cs"/>
              </a:rPr>
              <a:t>保护</a:t>
            </a:r>
            <a:r>
              <a:rPr kumimoji="0" lang="zh-CN" altLang="en-US" sz="2400" b="1" i="0" u="none" strike="noStrike" kern="1200" cap="none" spc="0" normalizeH="0" baseline="0" noProof="0" dirty="0" smtClean="0">
                <a:ln>
                  <a:noFill/>
                </a:ln>
                <a:solidFill>
                  <a:srgbClr val="0000FF"/>
                </a:solidFill>
                <a:effectLst/>
                <a:uLnTx/>
                <a:uFillTx/>
                <a:latin typeface="+mn-lt"/>
                <a:ea typeface="黑体" panose="02010609060101010101" pitchFamily="2" charset="-122"/>
                <a:cs typeface="+mn-cs"/>
              </a:rPr>
              <a:t>民族工商业</a:t>
            </a:r>
            <a:endParaRPr kumimoji="0" lang="zh-CN" altLang="en-US" sz="2400" b="1" i="0" u="none" strike="noStrike" kern="1200" cap="none" spc="0" normalizeH="0" baseline="0" noProof="0" dirty="0">
              <a:ln>
                <a:noFill/>
              </a:ln>
              <a:solidFill>
                <a:srgbClr val="0000FF"/>
              </a:solidFill>
              <a:effectLst/>
              <a:uLnTx/>
              <a:uFillTx/>
              <a:latin typeface="+mn-lt"/>
              <a:ea typeface="黑体" panose="02010609060101010101" pitchFamily="2" charset="-122"/>
              <a:cs typeface="+mn-cs"/>
            </a:endParaRPr>
          </a:p>
        </p:txBody>
      </p:sp>
      <p:sp>
        <p:nvSpPr>
          <p:cNvPr id="10" name="Rectangle 4"/>
          <p:cNvSpPr txBox="1">
            <a:spLocks/>
          </p:cNvSpPr>
          <p:nvPr/>
        </p:nvSpPr>
        <p:spPr>
          <a:xfrm>
            <a:off x="4499992" y="2636912"/>
            <a:ext cx="3600450" cy="1440160"/>
          </a:xfrm>
          <a:prstGeom prst="rect">
            <a:avLst/>
          </a:prstGeom>
          <a:solidFill>
            <a:schemeClr val="bg1"/>
          </a:solidFill>
          <a:ln>
            <a:solidFill>
              <a:schemeClr val="accent1"/>
            </a:solidFill>
            <a:miter/>
          </a:ln>
        </p:spPr>
        <p:txBody>
          <a:bodyPr vert="horz" rtlCol="0" anchor="t">
            <a:normAutofit/>
          </a:bodyPr>
          <a:lstStyle/>
          <a:p>
            <a:pPr marL="342900" marR="0" lvl="0" indent="-342900" algn="l" defTabSz="914400" rtl="0" eaLnBrk="1" fontAlgn="auto" latinLnBrk="0" hangingPunct="1">
              <a:lnSpc>
                <a:spcPct val="120000"/>
              </a:lnSpc>
              <a:spcBef>
                <a:spcPct val="50000"/>
              </a:spcBef>
              <a:spcAft>
                <a:spcPts val="0"/>
              </a:spcAft>
              <a:buClr>
                <a:schemeClr val="accent1"/>
              </a:buClr>
              <a:buSzPct val="50000"/>
              <a:buFont typeface="Wingdings 2"/>
              <a:buNone/>
              <a:tabLst/>
              <a:defRPr/>
            </a:pPr>
            <a:r>
              <a:rPr kumimoji="0" lang="zh-CN" altLang="en-US" sz="2400" b="1" i="0" u="none" strike="noStrike" kern="1200" cap="none" spc="0" normalizeH="0" baseline="0" noProof="0" dirty="0" smtClean="0">
                <a:ln>
                  <a:noFill/>
                </a:ln>
                <a:solidFill>
                  <a:srgbClr val="FF0000"/>
                </a:solidFill>
                <a:effectLst/>
                <a:uLnTx/>
                <a:uFillTx/>
                <a:latin typeface="+mn-lt"/>
                <a:ea typeface="黑体" panose="02010609060101010101" pitchFamily="2" charset="-122"/>
                <a:cs typeface="+mn-cs"/>
              </a:rPr>
              <a:t>没收</a:t>
            </a:r>
            <a:r>
              <a:rPr kumimoji="0" lang="zh-CN" altLang="en-US" sz="2400" b="1" i="0" u="none" strike="noStrike" kern="1200" cap="none" spc="0" normalizeH="0" baseline="0" noProof="0" dirty="0" smtClean="0">
                <a:ln>
                  <a:noFill/>
                </a:ln>
                <a:solidFill>
                  <a:srgbClr val="0000FF"/>
                </a:solidFill>
                <a:effectLst/>
                <a:uLnTx/>
                <a:uFillTx/>
                <a:latin typeface="+mn-lt"/>
                <a:ea typeface="黑体" panose="02010609060101010101" pitchFamily="2" charset="-122"/>
                <a:cs typeface="+mn-cs"/>
              </a:rPr>
              <a:t>官僚垄断资本归国家所有，使之成为新民主主义共和国的国营经济</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7874">
                                            <p:txEl>
                                              <p:pRg st="0" end="0"/>
                                            </p:txEl>
                                          </p:spTgt>
                                        </p:tgtEl>
                                        <p:attrNameLst>
                                          <p:attrName>style.visibility</p:attrName>
                                        </p:attrNameLst>
                                      </p:cBhvr>
                                      <p:to>
                                        <p:strVal val="visible"/>
                                      </p:to>
                                    </p:set>
                                    <p:animEffect transition="in" filter="wipe(left)">
                                      <p:cBhvr>
                                        <p:cTn id="7" dur="500"/>
                                        <p:tgtEl>
                                          <p:spTgt spid="2078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7876">
                                            <p:bg/>
                                          </p:spTgt>
                                        </p:tgtEl>
                                        <p:attrNameLst>
                                          <p:attrName>style.visibility</p:attrName>
                                        </p:attrNameLst>
                                      </p:cBhvr>
                                      <p:to>
                                        <p:strVal val="visible"/>
                                      </p:to>
                                    </p:set>
                                    <p:animEffect transition="in" filter="dissolve">
                                      <p:cBhvr>
                                        <p:cTn id="12" dur="500"/>
                                        <p:tgtEl>
                                          <p:spTgt spid="207876">
                                            <p:bg/>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7876">
                                            <p:txEl>
                                              <p:pRg st="0" end="0"/>
                                            </p:txEl>
                                          </p:spTgt>
                                        </p:tgtEl>
                                        <p:attrNameLst>
                                          <p:attrName>style.visibility</p:attrName>
                                        </p:attrNameLst>
                                      </p:cBhvr>
                                      <p:to>
                                        <p:strVal val="visible"/>
                                      </p:to>
                                    </p:set>
                                    <p:animEffect transition="in" filter="dissolve">
                                      <p:cBhvr>
                                        <p:cTn id="17" dur="500"/>
                                        <p:tgtEl>
                                          <p:spTgt spid="20787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
                                            <p:bg/>
                                          </p:spTgt>
                                        </p:tgtEl>
                                        <p:attrNameLst>
                                          <p:attrName>style.visibility</p:attrName>
                                        </p:attrNameLst>
                                      </p:cBhvr>
                                      <p:to>
                                        <p:strVal val="visible"/>
                                      </p:to>
                                    </p:set>
                                    <p:animEffect transition="in" filter="dissolve">
                                      <p:cBhvr>
                                        <p:cTn id="22" dur="500"/>
                                        <p:tgtEl>
                                          <p:spTgt spid="9">
                                            <p:bg/>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dissolve">
                                      <p:cBhvr>
                                        <p:cTn id="27" dur="5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bg/>
                                          </p:spTgt>
                                        </p:tgtEl>
                                        <p:attrNameLst>
                                          <p:attrName>style.visibility</p:attrName>
                                        </p:attrNameLst>
                                      </p:cBhvr>
                                      <p:to>
                                        <p:strVal val="visible"/>
                                      </p:to>
                                    </p:set>
                                    <p:animEffect transition="in" filter="dissolve">
                                      <p:cBhvr>
                                        <p:cTn id="32" dur="500"/>
                                        <p:tgtEl>
                                          <p:spTgt spid="10">
                                            <p:bg/>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dissolve">
                                      <p:cBhvr>
                                        <p:cTn id="3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6" grpId="0" build="p" animBg="1"/>
      <p:bldP spid="207874" grpId="0" build="p"/>
      <p:bldP spid="9" grpId="0" build="p" animBg="1"/>
      <p:bldP spid="10" grpId="0" build="p"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3"/>
          <p:cNvSpPr>
            <a:spLocks noGrp="1"/>
          </p:cNvSpPr>
          <p:nvPr>
            <p:ph type="title"/>
          </p:nvPr>
        </p:nvSpPr>
        <p:spPr>
          <a:xfrm>
            <a:off x="395536" y="1196752"/>
            <a:ext cx="8229600" cy="864096"/>
          </a:xfrm>
          <a:solidFill>
            <a:srgbClr val="FFFFFF"/>
          </a:solidFill>
          <a:ln>
            <a:solidFill>
              <a:srgbClr val="FF0000"/>
            </a:solidFill>
            <a:miter/>
          </a:ln>
        </p:spPr>
        <p:txBody>
          <a:bodyPr anchor="t"/>
          <a:lstStyle/>
          <a:p>
            <a:pPr eaLnBrk="1" hangingPunct="1"/>
            <a:r>
              <a:rPr lang="zh-CN" altLang="en-US" sz="4000" b="1" dirty="0">
                <a:solidFill>
                  <a:srgbClr val="0000FF"/>
                </a:solidFill>
                <a:latin typeface="华文琥珀" pitchFamily="2" charset="-122"/>
                <a:ea typeface="华文琥珀" pitchFamily="2" charset="-122"/>
              </a:rPr>
              <a:t>没收封建阶级的土地归农民所有</a:t>
            </a:r>
            <a:endParaRPr lang="zh-CN" altLang="en-US" sz="3200" b="1" dirty="0">
              <a:solidFill>
                <a:srgbClr val="0000FF"/>
              </a:solidFill>
              <a:latin typeface="华文琥珀" pitchFamily="2" charset="-122"/>
              <a:ea typeface="华文琥珀" pitchFamily="2" charset="-122"/>
            </a:endParaRPr>
          </a:p>
        </p:txBody>
      </p:sp>
      <p:sp>
        <p:nvSpPr>
          <p:cNvPr id="49154" name="Text Box 5"/>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9155" name="Text Box 6"/>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49156" name="Text Box 7"/>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pic>
        <p:nvPicPr>
          <p:cNvPr id="49157" name="Picture 11" descr="u=643129400,625108889&amp;fm=23&amp;gp=0"/>
          <p:cNvPicPr>
            <a:picLocks noChangeAspect="1"/>
          </p:cNvPicPr>
          <p:nvPr/>
        </p:nvPicPr>
        <p:blipFill>
          <a:blip r:embed="rId2" cstate="print"/>
          <a:stretch>
            <a:fillRect/>
          </a:stretch>
        </p:blipFill>
        <p:spPr>
          <a:xfrm>
            <a:off x="539552" y="2348880"/>
            <a:ext cx="7489825" cy="3567113"/>
          </a:xfrm>
          <a:prstGeom prst="rect">
            <a:avLst/>
          </a:prstGeom>
          <a:noFill/>
          <a:ln w="9525">
            <a:noFill/>
          </a:ln>
        </p:spPr>
      </p:pic>
    </p:spTree>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type="title"/>
          </p:nvPr>
        </p:nvSpPr>
        <p:spPr>
          <a:xfrm>
            <a:off x="395288" y="1268413"/>
            <a:ext cx="8229600" cy="648419"/>
          </a:xfrm>
          <a:solidFill>
            <a:srgbClr val="FFFFFF"/>
          </a:solidFill>
          <a:ln>
            <a:solidFill>
              <a:srgbClr val="FF0000"/>
            </a:solidFill>
            <a:miter/>
          </a:ln>
        </p:spPr>
        <p:txBody>
          <a:bodyPr anchor="t">
            <a:noAutofit/>
          </a:bodyPr>
          <a:lstStyle/>
          <a:p>
            <a:pPr eaLnBrk="1" hangingPunct="1"/>
            <a:r>
              <a:rPr lang="zh-CN" altLang="en-US" sz="4000" b="1" dirty="0" smtClean="0">
                <a:solidFill>
                  <a:srgbClr val="0000FF"/>
                </a:solidFill>
                <a:latin typeface="华文琥珀" pitchFamily="2" charset="-122"/>
                <a:ea typeface="华文琥珀" pitchFamily="2" charset="-122"/>
              </a:rPr>
              <a:t>没收</a:t>
            </a:r>
            <a:r>
              <a:rPr lang="zh-CN" altLang="en-US" sz="4000" b="1" dirty="0">
                <a:solidFill>
                  <a:srgbClr val="0000FF"/>
                </a:solidFill>
                <a:latin typeface="华文琥珀" pitchFamily="2" charset="-122"/>
                <a:ea typeface="华文琥珀" pitchFamily="2" charset="-122"/>
              </a:rPr>
              <a:t>官僚垄断资本归国家所有</a:t>
            </a:r>
          </a:p>
        </p:txBody>
      </p:sp>
      <p:sp>
        <p:nvSpPr>
          <p:cNvPr id="50178" name="Text Box 3"/>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0179" name="Text Box 4"/>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0180" name="Text Box 5"/>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pic>
        <p:nvPicPr>
          <p:cNvPr id="50181" name="Picture 7" descr="0019b91ec89c0c2ab5a90d"/>
          <p:cNvPicPr>
            <a:picLocks noChangeAspect="1"/>
          </p:cNvPicPr>
          <p:nvPr/>
        </p:nvPicPr>
        <p:blipFill>
          <a:blip r:embed="rId2" cstate="print"/>
          <a:stretch>
            <a:fillRect/>
          </a:stretch>
        </p:blipFill>
        <p:spPr>
          <a:xfrm>
            <a:off x="900113" y="2708275"/>
            <a:ext cx="7272337" cy="3457575"/>
          </a:xfrm>
          <a:prstGeom prst="rect">
            <a:avLst/>
          </a:prstGeom>
          <a:noFill/>
          <a:ln w="9525">
            <a:noFill/>
          </a:ln>
        </p:spPr>
      </p:pic>
    </p:spTree>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a:xfrm>
            <a:off x="2555776" y="1052736"/>
            <a:ext cx="4248472" cy="720427"/>
          </a:xfrm>
          <a:solidFill>
            <a:srgbClr val="FFFFFF"/>
          </a:solidFill>
          <a:ln>
            <a:solidFill>
              <a:srgbClr val="FF0000"/>
            </a:solidFill>
            <a:miter/>
          </a:ln>
        </p:spPr>
        <p:txBody>
          <a:bodyPr anchor="t">
            <a:normAutofit/>
          </a:bodyPr>
          <a:lstStyle/>
          <a:p>
            <a:pPr algn="l" eaLnBrk="1" hangingPunct="1"/>
            <a:r>
              <a:rPr lang="zh-CN" altLang="en-US" sz="4000" b="1" dirty="0">
                <a:solidFill>
                  <a:srgbClr val="0000FF"/>
                </a:solidFill>
                <a:latin typeface="华文琥珀" pitchFamily="2" charset="-122"/>
                <a:ea typeface="华文琥珀" pitchFamily="2" charset="-122"/>
              </a:rPr>
              <a:t>保护民族工商业</a:t>
            </a:r>
          </a:p>
        </p:txBody>
      </p:sp>
      <p:sp>
        <p:nvSpPr>
          <p:cNvPr id="51202" name="Text Box 3"/>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1203" name="Text Box 4"/>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1204" name="Text Box 5"/>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pic>
        <p:nvPicPr>
          <p:cNvPr id="51205" name="Picture 7" descr="173143197"/>
          <p:cNvPicPr>
            <a:picLocks noChangeAspect="1"/>
          </p:cNvPicPr>
          <p:nvPr/>
        </p:nvPicPr>
        <p:blipFill>
          <a:blip r:embed="rId2" cstate="print"/>
          <a:stretch>
            <a:fillRect/>
          </a:stretch>
        </p:blipFill>
        <p:spPr>
          <a:xfrm>
            <a:off x="1979613" y="2276475"/>
            <a:ext cx="5238750" cy="3476625"/>
          </a:xfrm>
          <a:prstGeom prst="rect">
            <a:avLst/>
          </a:prstGeom>
          <a:noFill/>
          <a:ln w="9525">
            <a:noFill/>
          </a:ln>
        </p:spPr>
      </p:pic>
      <p:sp>
        <p:nvSpPr>
          <p:cNvPr id="51206" name="Rectangle 8"/>
          <p:cNvSpPr/>
          <p:nvPr/>
        </p:nvSpPr>
        <p:spPr>
          <a:xfrm>
            <a:off x="3276600" y="5876925"/>
            <a:ext cx="2025650" cy="366713"/>
          </a:xfrm>
          <a:prstGeom prst="rect">
            <a:avLst/>
          </a:prstGeom>
          <a:noFill/>
          <a:ln w="9525">
            <a:noFill/>
          </a:ln>
        </p:spPr>
        <p:txBody>
          <a:bodyPr wrap="none" anchor="t">
            <a:spAutoFit/>
          </a:bodyPr>
          <a:lstStyle/>
          <a:p>
            <a:pPr lvl="0"/>
            <a:r>
              <a:rPr lang="zh-CN" altLang="en-US" dirty="0">
                <a:latin typeface="Arial" panose="020B0604020202020204" pitchFamily="34" charset="0"/>
                <a:ea typeface="黑体" panose="02010609060101010101" pitchFamily="2" charset="-122"/>
              </a:rPr>
              <a:t>民族工商业博物馆</a:t>
            </a:r>
          </a:p>
        </p:txBody>
      </p:sp>
    </p:spTree>
  </p:cSld>
  <p:clrMapOvr>
    <a:masterClrMapping/>
  </p:clrMapOvr>
  <p:transition>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900" name="Rectangle 4"/>
          <p:cNvSpPr>
            <a:spLocks noGrp="1"/>
          </p:cNvSpPr>
          <p:nvPr>
            <p:ph sz="half" idx="1"/>
          </p:nvPr>
        </p:nvSpPr>
        <p:spPr>
          <a:xfrm>
            <a:off x="4651375" y="3302000"/>
            <a:ext cx="3554413" cy="2519363"/>
          </a:xfrm>
          <a:gradFill rotWithShape="1">
            <a:gsLst>
              <a:gs pos="0">
                <a:schemeClr val="bg1"/>
              </a:gs>
              <a:gs pos="100000">
                <a:srgbClr val="FFFF00"/>
              </a:gs>
            </a:gsLst>
            <a:lin ang="18900000" scaled="1"/>
            <a:tileRect/>
          </a:gradFill>
          <a:ln>
            <a:solidFill>
              <a:schemeClr val="folHlink"/>
            </a:solidFill>
            <a:miter/>
          </a:ln>
        </p:spPr>
        <p:txBody>
          <a:bodyPr anchor="t"/>
          <a:lstStyle/>
          <a:p>
            <a:pPr eaLnBrk="1" hangingPunct="1">
              <a:lnSpc>
                <a:spcPct val="120000"/>
              </a:lnSpc>
              <a:buNone/>
            </a:pPr>
            <a:r>
              <a:rPr lang="en-US" altLang="zh-CN" sz="2600" kern="1200">
                <a:latin typeface="+mn-lt"/>
                <a:ea typeface="楷体_GB2312" pitchFamily="49" charset="-122"/>
                <a:cs typeface="+mn-cs"/>
              </a:rPr>
              <a:t>         </a:t>
            </a:r>
          </a:p>
          <a:p>
            <a:pPr eaLnBrk="1" hangingPunct="1">
              <a:lnSpc>
                <a:spcPct val="120000"/>
              </a:lnSpc>
              <a:buNone/>
            </a:pPr>
            <a:r>
              <a:rPr lang="en-US" altLang="zh-CN" sz="2600" kern="1200">
                <a:latin typeface="+mn-lt"/>
                <a:ea typeface="楷体_GB2312" pitchFamily="49" charset="-122"/>
                <a:cs typeface="+mn-cs"/>
              </a:rPr>
              <a:t>  </a:t>
            </a:r>
            <a:r>
              <a:rPr lang="zh-CN" altLang="en-US" sz="2400" b="1" kern="1200" dirty="0">
                <a:solidFill>
                  <a:srgbClr val="0000FF"/>
                </a:solidFill>
                <a:latin typeface="+mn-lt"/>
                <a:ea typeface="黑体" panose="02010609060101010101" pitchFamily="2" charset="-122"/>
                <a:cs typeface="+mn-cs"/>
              </a:rPr>
              <a:t>发展生产、繁荣经济</a:t>
            </a:r>
          </a:p>
          <a:p>
            <a:pPr eaLnBrk="1" hangingPunct="1">
              <a:lnSpc>
                <a:spcPct val="120000"/>
              </a:lnSpc>
              <a:buNone/>
            </a:pPr>
            <a:r>
              <a:rPr lang="zh-CN" altLang="en-US" sz="2400" b="1" kern="1200" dirty="0">
                <a:solidFill>
                  <a:srgbClr val="0000FF"/>
                </a:solidFill>
                <a:latin typeface="+mn-lt"/>
                <a:ea typeface="黑体" panose="02010609060101010101" pitchFamily="2" charset="-122"/>
                <a:cs typeface="+mn-cs"/>
              </a:rPr>
              <a:t>  公私兼顾、劳资两利</a:t>
            </a:r>
          </a:p>
        </p:txBody>
      </p:sp>
      <p:sp>
        <p:nvSpPr>
          <p:cNvPr id="208898" name="Rectangle 2"/>
          <p:cNvSpPr>
            <a:spLocks noGrp="1"/>
          </p:cNvSpPr>
          <p:nvPr>
            <p:ph sz="half" idx="2"/>
          </p:nvPr>
        </p:nvSpPr>
        <p:spPr>
          <a:xfrm>
            <a:off x="1244600" y="1698625"/>
            <a:ext cx="2814638" cy="2749550"/>
          </a:xfrm>
          <a:solidFill>
            <a:srgbClr val="FFFFFF"/>
          </a:solidFill>
          <a:ln>
            <a:solidFill>
              <a:srgbClr val="FF0000"/>
            </a:solidFill>
            <a:miter/>
          </a:ln>
        </p:spPr>
        <p:txBody>
          <a:bodyPr anchor="t"/>
          <a:lstStyle/>
          <a:p>
            <a:pPr eaLnBrk="1" hangingPunct="1">
              <a:lnSpc>
                <a:spcPct val="120000"/>
              </a:lnSpc>
              <a:buNone/>
            </a:pPr>
            <a:r>
              <a:rPr lang="en-US" altLang="zh-CN" b="1" dirty="0" smtClean="0">
                <a:solidFill>
                  <a:srgbClr val="FF0000"/>
                </a:solidFill>
                <a:latin typeface="+mj-ea"/>
                <a:ea typeface="+mj-ea"/>
              </a:rPr>
              <a:t>2</a:t>
            </a:r>
            <a:r>
              <a:rPr lang="zh-CN" altLang="en-US" b="1" dirty="0" smtClean="0">
                <a:solidFill>
                  <a:srgbClr val="FF0000"/>
                </a:solidFill>
                <a:latin typeface="+mj-ea"/>
                <a:ea typeface="+mj-ea"/>
              </a:rPr>
              <a:t>、新民主主义国民经济的</a:t>
            </a:r>
            <a:r>
              <a:rPr lang="zh-CN" altLang="en-US" b="1" dirty="0">
                <a:solidFill>
                  <a:srgbClr val="FF0000"/>
                </a:solidFill>
                <a:latin typeface="+mj-ea"/>
                <a:ea typeface="+mj-ea"/>
              </a:rPr>
              <a:t>指导方针</a:t>
            </a:r>
          </a:p>
        </p:txBody>
      </p:sp>
      <p:sp>
        <p:nvSpPr>
          <p:cNvPr id="52228" name="Text Box 5"/>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2229" name="Text Box 6"/>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2230" name="Text Box 7"/>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2231" name="Text Box 8"/>
          <p:cNvSpPr txBox="1"/>
          <p:nvPr/>
        </p:nvSpPr>
        <p:spPr>
          <a:xfrm>
            <a:off x="1619250" y="184467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2232" name="Text Box 9"/>
          <p:cNvSpPr txBox="1"/>
          <p:nvPr/>
        </p:nvSpPr>
        <p:spPr>
          <a:xfrm>
            <a:off x="1476375" y="227647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pic>
        <p:nvPicPr>
          <p:cNvPr id="208906" name="Picture 10"/>
          <p:cNvPicPr>
            <a:picLocks noChangeAspect="1"/>
          </p:cNvPicPr>
          <p:nvPr/>
        </p:nvPicPr>
        <p:blipFill>
          <a:blip r:embed="rId2" cstate="print"/>
          <a:stretch>
            <a:fillRect/>
          </a:stretch>
        </p:blipFill>
        <p:spPr>
          <a:xfrm rot="2668396">
            <a:off x="3059113" y="4076700"/>
            <a:ext cx="1762125" cy="1022350"/>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8898">
                                            <p:txEl>
                                              <p:pRg st="0" end="0"/>
                                            </p:txEl>
                                          </p:spTgt>
                                        </p:tgtEl>
                                        <p:attrNameLst>
                                          <p:attrName>style.visibility</p:attrName>
                                        </p:attrNameLst>
                                      </p:cBhvr>
                                      <p:to>
                                        <p:strVal val="visible"/>
                                      </p:to>
                                    </p:set>
                                    <p:animEffect transition="in" filter="dissolve">
                                      <p:cBhvr>
                                        <p:cTn id="7" dur="500"/>
                                        <p:tgtEl>
                                          <p:spTgt spid="2088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8906"/>
                                        </p:tgtEl>
                                        <p:attrNameLst>
                                          <p:attrName>style.visibility</p:attrName>
                                        </p:attrNameLst>
                                      </p:cBhvr>
                                      <p:to>
                                        <p:strVal val="visible"/>
                                      </p:to>
                                    </p:set>
                                  </p:childTnLst>
                                </p:cTn>
                              </p:par>
                            </p:childTnLst>
                          </p:cTn>
                        </p:par>
                        <p:par>
                          <p:cTn id="12" fill="hold">
                            <p:stCondLst>
                              <p:cond delay="0"/>
                            </p:stCondLst>
                            <p:childTnLst>
                              <p:par>
                                <p:cTn id="13" presetID="9" presetClass="entr" presetSubtype="0" fill="hold" grpId="0" nodeType="afterEffect">
                                  <p:stCondLst>
                                    <p:cond delay="0"/>
                                  </p:stCondLst>
                                  <p:childTnLst>
                                    <p:set>
                                      <p:cBhvr>
                                        <p:cTn id="14" dur="1" fill="hold">
                                          <p:stCondLst>
                                            <p:cond delay="0"/>
                                          </p:stCondLst>
                                        </p:cTn>
                                        <p:tgtEl>
                                          <p:spTgt spid="208900">
                                            <p:bg/>
                                          </p:spTgt>
                                        </p:tgtEl>
                                        <p:attrNameLst>
                                          <p:attrName>style.visibility</p:attrName>
                                        </p:attrNameLst>
                                      </p:cBhvr>
                                      <p:to>
                                        <p:strVal val="visible"/>
                                      </p:to>
                                    </p:set>
                                    <p:animEffect transition="in" filter="dissolve">
                                      <p:cBhvr>
                                        <p:cTn id="15" dur="500"/>
                                        <p:tgtEl>
                                          <p:spTgt spid="208900">
                                            <p:bg/>
                                          </p:spTgt>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208900">
                                            <p:txEl>
                                              <p:pRg st="0" end="0"/>
                                            </p:txEl>
                                          </p:spTgt>
                                        </p:tgtEl>
                                        <p:attrNameLst>
                                          <p:attrName>style.visibility</p:attrName>
                                        </p:attrNameLst>
                                      </p:cBhvr>
                                      <p:to>
                                        <p:strVal val="visible"/>
                                      </p:to>
                                    </p:set>
                                    <p:animEffect transition="in" filter="dissolve">
                                      <p:cBhvr>
                                        <p:cTn id="19" dur="500"/>
                                        <p:tgtEl>
                                          <p:spTgt spid="208900">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208900">
                                            <p:txEl>
                                              <p:pRg st="1" end="1"/>
                                            </p:txEl>
                                          </p:spTgt>
                                        </p:tgtEl>
                                        <p:attrNameLst>
                                          <p:attrName>style.visibility</p:attrName>
                                        </p:attrNameLst>
                                      </p:cBhvr>
                                      <p:to>
                                        <p:strVal val="visible"/>
                                      </p:to>
                                    </p:set>
                                    <p:animEffect transition="in" filter="dissolve">
                                      <p:cBhvr>
                                        <p:cTn id="24" dur="500"/>
                                        <p:tgtEl>
                                          <p:spTgt spid="208900">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08900">
                                            <p:txEl>
                                              <p:pRg st="2" end="2"/>
                                            </p:txEl>
                                          </p:spTgt>
                                        </p:tgtEl>
                                        <p:attrNameLst>
                                          <p:attrName>style.visibility</p:attrName>
                                        </p:attrNameLst>
                                      </p:cBhvr>
                                      <p:to>
                                        <p:strVal val="visible"/>
                                      </p:to>
                                    </p:set>
                                    <p:animEffect transition="in" filter="dissolve">
                                      <p:cBhvr>
                                        <p:cTn id="29" dur="500"/>
                                        <p:tgtEl>
                                          <p:spTgt spid="2089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0" grpId="0" build="p" animBg="1"/>
      <p:bldP spid="208898"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p:cNvSpPr>
          <p:nvPr>
            <p:ph type="title"/>
          </p:nvPr>
        </p:nvSpPr>
        <p:spPr>
          <a:xfrm>
            <a:off x="457200" y="274638"/>
            <a:ext cx="7211144" cy="725470"/>
          </a:xfrm>
          <a:solidFill>
            <a:srgbClr val="FFFFFF"/>
          </a:solidFill>
          <a:ln>
            <a:solidFill>
              <a:srgbClr val="FF0000"/>
            </a:solidFill>
            <a:miter/>
          </a:ln>
        </p:spPr>
        <p:txBody>
          <a:bodyPr anchor="t"/>
          <a:lstStyle/>
          <a:p>
            <a:pPr algn="l" eaLnBrk="1" hangingPunct="1"/>
            <a:r>
              <a:rPr lang="zh-CN" altLang="en-US" sz="3600" b="1" dirty="0">
                <a:solidFill>
                  <a:srgbClr val="FF0000"/>
                </a:solidFill>
                <a:latin typeface="华文琥珀" pitchFamily="2" charset="-122"/>
                <a:ea typeface="华文琥珀" pitchFamily="2" charset="-122"/>
              </a:rPr>
              <a:t>（三）新民主主义的文化纲领</a:t>
            </a:r>
          </a:p>
        </p:txBody>
      </p:sp>
      <p:sp>
        <p:nvSpPr>
          <p:cNvPr id="209923" name="Rectangle 3"/>
          <p:cNvSpPr>
            <a:spLocks noGrp="1"/>
          </p:cNvSpPr>
          <p:nvPr>
            <p:ph sz="half" idx="1"/>
          </p:nvPr>
        </p:nvSpPr>
        <p:spPr>
          <a:xfrm>
            <a:off x="755576" y="1556792"/>
            <a:ext cx="3708400" cy="4267200"/>
          </a:xfrm>
          <a:solidFill>
            <a:srgbClr val="FFFFFF"/>
          </a:solidFill>
          <a:ln>
            <a:solidFill>
              <a:srgbClr val="FF0000"/>
            </a:solidFill>
            <a:miter/>
          </a:ln>
        </p:spPr>
        <p:txBody>
          <a:bodyPr anchor="t">
            <a:normAutofit/>
          </a:bodyPr>
          <a:lstStyle/>
          <a:p>
            <a:pPr eaLnBrk="1" hangingPunct="1">
              <a:lnSpc>
                <a:spcPct val="130000"/>
              </a:lnSpc>
              <a:buNone/>
            </a:pPr>
            <a:r>
              <a:rPr lang="zh-CN" altLang="en-US" b="1" kern="1200" dirty="0">
                <a:solidFill>
                  <a:srgbClr val="00B050"/>
                </a:solidFill>
                <a:latin typeface="+mn-lt"/>
                <a:ea typeface="黑体" panose="02010609060101010101" pitchFamily="2" charset="-122"/>
                <a:cs typeface="+mn-cs"/>
              </a:rPr>
              <a:t>新民主主义的文化</a:t>
            </a:r>
            <a:r>
              <a:rPr lang="zh-CN" altLang="en-US" b="1" kern="1200" dirty="0">
                <a:solidFill>
                  <a:srgbClr val="0000FF"/>
                </a:solidFill>
                <a:latin typeface="+mn-lt"/>
                <a:ea typeface="黑体" panose="02010609060101010101" pitchFamily="2" charset="-122"/>
                <a:cs typeface="+mn-cs"/>
              </a:rPr>
              <a:t>就是“无产阶级领导的人民大众的反帝反封建的文化”，即无产阶级领导的民族的科学的大众的文化。</a:t>
            </a:r>
          </a:p>
        </p:txBody>
      </p:sp>
      <p:sp>
        <p:nvSpPr>
          <p:cNvPr id="209924" name="Rectangle 4"/>
          <p:cNvSpPr>
            <a:spLocks noGrp="1"/>
          </p:cNvSpPr>
          <p:nvPr>
            <p:ph sz="half" idx="2"/>
          </p:nvPr>
        </p:nvSpPr>
        <p:spPr>
          <a:xfrm>
            <a:off x="4644008" y="1628800"/>
            <a:ext cx="3744912" cy="4104927"/>
          </a:xfrm>
          <a:solidFill>
            <a:srgbClr val="FFFFFF"/>
          </a:solidFill>
          <a:ln>
            <a:solidFill>
              <a:srgbClr val="FF0000"/>
            </a:solidFill>
            <a:miter/>
          </a:ln>
        </p:spPr>
        <p:txBody>
          <a:bodyPr anchor="t">
            <a:normAutofit/>
          </a:bodyPr>
          <a:lstStyle/>
          <a:p>
            <a:pPr marL="0" indent="0" eaLnBrk="1" hangingPunct="1">
              <a:spcBef>
                <a:spcPts val="0"/>
              </a:spcBef>
              <a:buNone/>
            </a:pPr>
            <a:r>
              <a:rPr lang="zh-CN" altLang="en-US" sz="2400" b="1" kern="1200" dirty="0" smtClean="0">
                <a:solidFill>
                  <a:srgbClr val="0000FF"/>
                </a:solidFill>
                <a:latin typeface="+mn-lt"/>
                <a:ea typeface="黑体" panose="02010609060101010101" pitchFamily="2" charset="-122"/>
                <a:cs typeface="+mn-cs"/>
              </a:rPr>
              <a:t>        民族性</a:t>
            </a:r>
            <a:r>
              <a:rPr lang="zh-CN" altLang="en-US" sz="2400" b="1" kern="1200" dirty="0">
                <a:solidFill>
                  <a:srgbClr val="0000FF"/>
                </a:solidFill>
                <a:latin typeface="+mn-lt"/>
                <a:ea typeface="黑体" panose="02010609060101010101" pitchFamily="2" charset="-122"/>
                <a:cs typeface="+mn-cs"/>
              </a:rPr>
              <a:t>：强调文化</a:t>
            </a:r>
            <a:r>
              <a:rPr lang="zh-CN" altLang="en-US" sz="2400" b="1" kern="1200" dirty="0" smtClean="0">
                <a:solidFill>
                  <a:srgbClr val="0000FF"/>
                </a:solidFill>
                <a:latin typeface="+mn-lt"/>
                <a:ea typeface="黑体" panose="02010609060101010101" pitchFamily="2" charset="-122"/>
                <a:cs typeface="+mn-cs"/>
              </a:rPr>
              <a:t>的民族风格、民族形式。</a:t>
            </a:r>
            <a:endParaRPr lang="zh-CN" altLang="en-US" sz="2400" b="1" kern="1200" dirty="0">
              <a:solidFill>
                <a:srgbClr val="0000FF"/>
              </a:solidFill>
              <a:latin typeface="+mn-lt"/>
              <a:ea typeface="黑体" panose="02010609060101010101" pitchFamily="2" charset="-122"/>
              <a:cs typeface="+mn-cs"/>
            </a:endParaRPr>
          </a:p>
          <a:p>
            <a:pPr marL="0" indent="0" eaLnBrk="1" hangingPunct="1">
              <a:spcBef>
                <a:spcPts val="0"/>
              </a:spcBef>
              <a:buNone/>
            </a:pPr>
            <a:r>
              <a:rPr lang="zh-CN" altLang="en-US" sz="2400" b="1" kern="1200" dirty="0" smtClean="0">
                <a:solidFill>
                  <a:srgbClr val="0000FF"/>
                </a:solidFill>
                <a:latin typeface="+mn-lt"/>
                <a:ea typeface="黑体" panose="02010609060101010101" pitchFamily="2" charset="-122"/>
                <a:cs typeface="+mn-cs"/>
              </a:rPr>
              <a:t>       科学性</a:t>
            </a:r>
            <a:r>
              <a:rPr lang="zh-CN" altLang="en-US" sz="2400" b="1" kern="1200" dirty="0">
                <a:solidFill>
                  <a:srgbClr val="0000FF"/>
                </a:solidFill>
                <a:latin typeface="+mn-lt"/>
                <a:ea typeface="黑体" panose="02010609060101010101" pitchFamily="2" charset="-122"/>
                <a:cs typeface="+mn-cs"/>
              </a:rPr>
              <a:t>：强调科学的内容，即反对封建迷信，主张</a:t>
            </a:r>
            <a:r>
              <a:rPr lang="zh-CN" altLang="en-US" sz="2400" b="1" kern="1200" dirty="0" smtClean="0">
                <a:solidFill>
                  <a:srgbClr val="0000FF"/>
                </a:solidFill>
                <a:latin typeface="+mn-lt"/>
                <a:ea typeface="黑体" panose="02010609060101010101" pitchFamily="2" charset="-122"/>
                <a:cs typeface="+mn-cs"/>
              </a:rPr>
              <a:t>实事求是、客观真理和实践的一致性。</a:t>
            </a:r>
            <a:endParaRPr lang="zh-CN" altLang="en-US" sz="2400" b="1" kern="1200" dirty="0">
              <a:solidFill>
                <a:srgbClr val="0000FF"/>
              </a:solidFill>
              <a:latin typeface="+mn-lt"/>
              <a:ea typeface="黑体" panose="02010609060101010101" pitchFamily="2" charset="-122"/>
              <a:cs typeface="+mn-cs"/>
            </a:endParaRPr>
          </a:p>
          <a:p>
            <a:pPr marL="0" indent="0" eaLnBrk="1" hangingPunct="1">
              <a:spcBef>
                <a:spcPts val="0"/>
              </a:spcBef>
              <a:buNone/>
            </a:pPr>
            <a:r>
              <a:rPr lang="zh-CN" altLang="en-US" sz="2400" b="1" kern="1200" dirty="0">
                <a:solidFill>
                  <a:srgbClr val="0000FF"/>
                </a:solidFill>
                <a:latin typeface="+mn-lt"/>
                <a:ea typeface="黑体" panose="02010609060101010101" pitchFamily="2" charset="-122"/>
                <a:cs typeface="+mn-cs"/>
              </a:rPr>
              <a:t>大众性</a:t>
            </a:r>
            <a:r>
              <a:rPr lang="zh-CN" altLang="en-US" sz="2400" b="1" kern="1200" dirty="0" smtClean="0">
                <a:solidFill>
                  <a:srgbClr val="0000FF"/>
                </a:solidFill>
                <a:latin typeface="+mn-lt"/>
                <a:ea typeface="黑体" panose="02010609060101010101" pitchFamily="2" charset="-122"/>
                <a:cs typeface="+mn-cs"/>
              </a:rPr>
              <a:t>：即是民主的文化。强调是文化的服务对象和文化的创造者是人民群众。大众</a:t>
            </a:r>
            <a:r>
              <a:rPr lang="zh-CN" altLang="en-US" sz="2400" b="1" kern="1200" dirty="0">
                <a:solidFill>
                  <a:srgbClr val="0000FF"/>
                </a:solidFill>
                <a:latin typeface="+mn-lt"/>
                <a:ea typeface="黑体" panose="02010609060101010101" pitchFamily="2" charset="-122"/>
                <a:cs typeface="+mn-cs"/>
              </a:rPr>
              <a:t>的</a:t>
            </a:r>
            <a:r>
              <a:rPr lang="zh-CN" altLang="en-US" sz="2400" b="1" kern="1200" dirty="0" smtClean="0">
                <a:solidFill>
                  <a:srgbClr val="0000FF"/>
                </a:solidFill>
                <a:latin typeface="+mn-lt"/>
                <a:ea typeface="黑体" panose="02010609060101010101" pitchFamily="2" charset="-122"/>
                <a:cs typeface="+mn-cs"/>
              </a:rPr>
              <a:t>方向。</a:t>
            </a:r>
            <a:endParaRPr lang="zh-CN" altLang="en-US" sz="2400" b="1" kern="1200" dirty="0">
              <a:solidFill>
                <a:srgbClr val="0000FF"/>
              </a:solidFill>
              <a:latin typeface="+mn-lt"/>
              <a:ea typeface="黑体" panose="0201060906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Effect transition="in" filter="dissolve">
                                      <p:cBhvr>
                                        <p:cTn id="7" dur="500"/>
                                        <p:tgtEl>
                                          <p:spTgt spid="209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09924">
                                            <p:txEl>
                                              <p:pRg st="0" end="0"/>
                                            </p:txEl>
                                          </p:spTgt>
                                        </p:tgtEl>
                                        <p:attrNameLst>
                                          <p:attrName>style.visibility</p:attrName>
                                        </p:attrNameLst>
                                      </p:cBhvr>
                                      <p:to>
                                        <p:strVal val="visible"/>
                                      </p:to>
                                    </p:set>
                                    <p:anim calcmode="lin" valueType="num">
                                      <p:cBhvr>
                                        <p:cTn id="12" dur="500" fill="hold"/>
                                        <p:tgtEl>
                                          <p:spTgt spid="209924">
                                            <p:txEl>
                                              <p:pRg st="0" end="0"/>
                                            </p:txEl>
                                          </p:spTgt>
                                        </p:tgtEl>
                                        <p:attrNameLst>
                                          <p:attrName>ppt_w</p:attrName>
                                        </p:attrNameLst>
                                      </p:cBhvr>
                                      <p:tavLst>
                                        <p:tav tm="0">
                                          <p:val>
                                            <p:strVal val="#ppt_w*0.70"/>
                                          </p:val>
                                        </p:tav>
                                        <p:tav tm="100000">
                                          <p:val>
                                            <p:strVal val="#ppt_w"/>
                                          </p:val>
                                        </p:tav>
                                      </p:tavLst>
                                    </p:anim>
                                    <p:anim calcmode="lin" valueType="num">
                                      <p:cBhvr>
                                        <p:cTn id="13" dur="500" fill="hold"/>
                                        <p:tgtEl>
                                          <p:spTgt spid="209924">
                                            <p:txEl>
                                              <p:pRg st="0" end="0"/>
                                            </p:txEl>
                                          </p:spTgt>
                                        </p:tgtEl>
                                        <p:attrNameLst>
                                          <p:attrName>ppt_h</p:attrName>
                                        </p:attrNameLst>
                                      </p:cBhvr>
                                      <p:tavLst>
                                        <p:tav tm="0">
                                          <p:val>
                                            <p:strVal val="#ppt_h"/>
                                          </p:val>
                                        </p:tav>
                                        <p:tav tm="100000">
                                          <p:val>
                                            <p:strVal val="#ppt_h"/>
                                          </p:val>
                                        </p:tav>
                                      </p:tavLst>
                                    </p:anim>
                                    <p:animEffect transition="in" filter="fade">
                                      <p:cBhvr>
                                        <p:cTn id="14" dur="500"/>
                                        <p:tgtEl>
                                          <p:spTgt spid="20992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209924">
                                            <p:txEl>
                                              <p:pRg st="1" end="1"/>
                                            </p:txEl>
                                          </p:spTgt>
                                        </p:tgtEl>
                                        <p:attrNameLst>
                                          <p:attrName>style.visibility</p:attrName>
                                        </p:attrNameLst>
                                      </p:cBhvr>
                                      <p:to>
                                        <p:strVal val="visible"/>
                                      </p:to>
                                    </p:set>
                                    <p:anim calcmode="lin" valueType="num">
                                      <p:cBhvr>
                                        <p:cTn id="19" dur="500" fill="hold"/>
                                        <p:tgtEl>
                                          <p:spTgt spid="209924">
                                            <p:txEl>
                                              <p:pRg st="1" end="1"/>
                                            </p:txEl>
                                          </p:spTgt>
                                        </p:tgtEl>
                                        <p:attrNameLst>
                                          <p:attrName>ppt_w</p:attrName>
                                        </p:attrNameLst>
                                      </p:cBhvr>
                                      <p:tavLst>
                                        <p:tav tm="0">
                                          <p:val>
                                            <p:strVal val="#ppt_w*0.70"/>
                                          </p:val>
                                        </p:tav>
                                        <p:tav tm="100000">
                                          <p:val>
                                            <p:strVal val="#ppt_w"/>
                                          </p:val>
                                        </p:tav>
                                      </p:tavLst>
                                    </p:anim>
                                    <p:anim calcmode="lin" valueType="num">
                                      <p:cBhvr>
                                        <p:cTn id="20" dur="500" fill="hold"/>
                                        <p:tgtEl>
                                          <p:spTgt spid="209924">
                                            <p:txEl>
                                              <p:pRg st="1" end="1"/>
                                            </p:txEl>
                                          </p:spTgt>
                                        </p:tgtEl>
                                        <p:attrNameLst>
                                          <p:attrName>ppt_h</p:attrName>
                                        </p:attrNameLst>
                                      </p:cBhvr>
                                      <p:tavLst>
                                        <p:tav tm="0">
                                          <p:val>
                                            <p:strVal val="#ppt_h"/>
                                          </p:val>
                                        </p:tav>
                                        <p:tav tm="100000">
                                          <p:val>
                                            <p:strVal val="#ppt_h"/>
                                          </p:val>
                                        </p:tav>
                                      </p:tavLst>
                                    </p:anim>
                                    <p:animEffect transition="in" filter="fade">
                                      <p:cBhvr>
                                        <p:cTn id="21" dur="500"/>
                                        <p:tgtEl>
                                          <p:spTgt spid="209924">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209924">
                                            <p:txEl>
                                              <p:pRg st="2" end="2"/>
                                            </p:txEl>
                                          </p:spTgt>
                                        </p:tgtEl>
                                        <p:attrNameLst>
                                          <p:attrName>style.visibility</p:attrName>
                                        </p:attrNameLst>
                                      </p:cBhvr>
                                      <p:to>
                                        <p:strVal val="visible"/>
                                      </p:to>
                                    </p:set>
                                    <p:anim calcmode="lin" valueType="num">
                                      <p:cBhvr>
                                        <p:cTn id="26" dur="500" fill="hold"/>
                                        <p:tgtEl>
                                          <p:spTgt spid="209924">
                                            <p:txEl>
                                              <p:pRg st="2" end="2"/>
                                            </p:txEl>
                                          </p:spTgt>
                                        </p:tgtEl>
                                        <p:attrNameLst>
                                          <p:attrName>ppt_w</p:attrName>
                                        </p:attrNameLst>
                                      </p:cBhvr>
                                      <p:tavLst>
                                        <p:tav tm="0">
                                          <p:val>
                                            <p:strVal val="#ppt_w*0.70"/>
                                          </p:val>
                                        </p:tav>
                                        <p:tav tm="100000">
                                          <p:val>
                                            <p:strVal val="#ppt_w"/>
                                          </p:val>
                                        </p:tav>
                                      </p:tavLst>
                                    </p:anim>
                                    <p:anim calcmode="lin" valueType="num">
                                      <p:cBhvr>
                                        <p:cTn id="27" dur="500" fill="hold"/>
                                        <p:tgtEl>
                                          <p:spTgt spid="209924">
                                            <p:txEl>
                                              <p:pRg st="2" end="2"/>
                                            </p:txEl>
                                          </p:spTgt>
                                        </p:tgtEl>
                                        <p:attrNameLst>
                                          <p:attrName>ppt_h</p:attrName>
                                        </p:attrNameLst>
                                      </p:cBhvr>
                                      <p:tavLst>
                                        <p:tav tm="0">
                                          <p:val>
                                            <p:strVal val="#ppt_h"/>
                                          </p:val>
                                        </p:tav>
                                        <p:tav tm="100000">
                                          <p:val>
                                            <p:strVal val="#ppt_h"/>
                                          </p:val>
                                        </p:tav>
                                      </p:tavLst>
                                    </p:anim>
                                    <p:animEffect transition="in" filter="fade">
                                      <p:cBhvr>
                                        <p:cTn id="28" dur="500"/>
                                        <p:tgtEl>
                                          <p:spTgt spid="2099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p:bldP spid="209924"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图片 3" descr="148"/>
          <p:cNvPicPr>
            <a:picLocks noChangeAspect="1"/>
          </p:cNvPicPr>
          <p:nvPr/>
        </p:nvPicPr>
        <p:blipFill>
          <a:blip r:embed="rId2" cstate="print"/>
          <a:stretch>
            <a:fillRect/>
          </a:stretch>
        </p:blipFill>
        <p:spPr>
          <a:xfrm>
            <a:off x="323850" y="1484313"/>
            <a:ext cx="7762875" cy="5824537"/>
          </a:xfrm>
          <a:prstGeom prst="rect">
            <a:avLst/>
          </a:prstGeom>
          <a:noFill/>
          <a:ln w="9525">
            <a:noFill/>
          </a:ln>
        </p:spPr>
      </p:pic>
      <p:sp>
        <p:nvSpPr>
          <p:cNvPr id="4" name="矩形 3"/>
          <p:cNvSpPr/>
          <p:nvPr/>
        </p:nvSpPr>
        <p:spPr>
          <a:xfrm>
            <a:off x="539552" y="404664"/>
            <a:ext cx="6527749" cy="674031"/>
          </a:xfrm>
          <a:prstGeom prst="rect">
            <a:avLst/>
          </a:prstGeom>
          <a:solidFill>
            <a:schemeClr val="bg2"/>
          </a:solidFill>
        </p:spPr>
        <p:txBody>
          <a:bodyPr wrap="none">
            <a:spAutoFit/>
          </a:bodyPr>
          <a:lstStyle/>
          <a:p>
            <a:pPr>
              <a:lnSpc>
                <a:spcPct val="105000"/>
              </a:lnSpc>
              <a:spcBef>
                <a:spcPct val="50000"/>
              </a:spcBef>
            </a:pPr>
            <a:r>
              <a:rPr lang="zh-CN" altLang="en-US" sz="3600" b="1" dirty="0" smtClean="0">
                <a:solidFill>
                  <a:srgbClr val="FF0000"/>
                </a:solidFill>
                <a:latin typeface="华文琥珀" pitchFamily="2" charset="-122"/>
                <a:ea typeface="华文琥珀" pitchFamily="2" charset="-122"/>
              </a:rPr>
              <a:t>专题三   新民主主义革命的道路</a:t>
            </a:r>
            <a:endParaRPr lang="zh-CN" altLang="en-US" sz="3600" b="1" dirty="0">
              <a:solidFill>
                <a:srgbClr val="FF0000"/>
              </a:solidFill>
              <a:latin typeface="华文琥珀" pitchFamily="2" charset="-122"/>
              <a:ea typeface="华文琥珀" pitchFamily="2" charset="-122"/>
            </a:endParaRPr>
          </a:p>
        </p:txBody>
      </p:sp>
    </p:spTree>
  </p:cSld>
  <p:clrMapOvr>
    <a:masterClrMapping/>
  </p:clrMapOvr>
  <p:transition>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p:nvPr/>
        </p:nvSpPr>
        <p:spPr>
          <a:xfrm>
            <a:off x="467544" y="908720"/>
            <a:ext cx="6768751" cy="720080"/>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lvl="0"/>
            <a:r>
              <a:rPr lang="zh-CN" altLang="en-US" sz="3600" dirty="0">
                <a:solidFill>
                  <a:srgbClr val="FF0000"/>
                </a:solidFill>
                <a:latin typeface="华文琥珀" pitchFamily="2" charset="-122"/>
                <a:ea typeface="华文琥珀" pitchFamily="2" charset="-122"/>
              </a:rPr>
              <a:t>一、新民主主义革命</a:t>
            </a:r>
            <a:r>
              <a:rPr lang="zh-CN" altLang="en-US" sz="3600" dirty="0" smtClean="0">
                <a:solidFill>
                  <a:srgbClr val="FF0000"/>
                </a:solidFill>
                <a:latin typeface="华文琥珀" pitchFamily="2" charset="-122"/>
                <a:ea typeface="华文琥珀" pitchFamily="2" charset="-122"/>
              </a:rPr>
              <a:t>道路的提出</a:t>
            </a:r>
            <a:endParaRPr lang="zh-CN" altLang="en-US" sz="3600" dirty="0">
              <a:solidFill>
                <a:srgbClr val="FF0000"/>
              </a:solidFill>
              <a:latin typeface="华文琥珀" pitchFamily="2" charset="-122"/>
              <a:ea typeface="华文琥珀" pitchFamily="2" charset="-122"/>
            </a:endParaRPr>
          </a:p>
        </p:txBody>
      </p:sp>
      <p:sp>
        <p:nvSpPr>
          <p:cNvPr id="2" name="矩形 1"/>
          <p:cNvSpPr/>
          <p:nvPr/>
        </p:nvSpPr>
        <p:spPr>
          <a:xfrm>
            <a:off x="1403648" y="2492896"/>
            <a:ext cx="5211683" cy="523220"/>
          </a:xfrm>
          <a:prstGeom prst="rect">
            <a:avLst/>
          </a:prstGeom>
          <a:ln>
            <a:solidFill>
              <a:schemeClr val="accent1"/>
            </a:solidFill>
          </a:ln>
        </p:spPr>
        <p:txBody>
          <a:bodyPr wrap="none">
            <a:spAutoFit/>
          </a:bodyPr>
          <a:lstStyle/>
          <a:p>
            <a:r>
              <a:rPr lang="zh-CN" altLang="en-US" sz="2800" dirty="0">
                <a:solidFill>
                  <a:srgbClr val="FF0000"/>
                </a:solidFill>
                <a:latin typeface="+mj-ea"/>
                <a:ea typeface="+mj-ea"/>
              </a:rPr>
              <a:t>旗帜决定方向，道路决定命运。</a:t>
            </a:r>
          </a:p>
        </p:txBody>
      </p:sp>
      <p:pic>
        <p:nvPicPr>
          <p:cNvPr id="54274" name="Picture 2" descr="https://gimg2.baidu.com/image_search/src=http%3A%2F%2Fimg.zgfznews.com%2Fzt%2F3g90zn%2Fjgsgmgjd.jpg&amp;refer=http%3A%2F%2Fimg.zgfznews.com&amp;app=2002&amp;size=f9999,10000&amp;q=a80&amp;n=0&amp;g=0n&amp;fmt=jpeg?sec=1637414177&amp;t=e4095a38cafb74fe4330fbdab4922516"/>
          <p:cNvPicPr>
            <a:picLocks noChangeAspect="1" noChangeArrowheads="1"/>
          </p:cNvPicPr>
          <p:nvPr/>
        </p:nvPicPr>
        <p:blipFill>
          <a:blip r:embed="rId2" cstate="print"/>
          <a:srcRect/>
          <a:stretch>
            <a:fillRect/>
          </a:stretch>
        </p:blipFill>
        <p:spPr bwMode="auto">
          <a:xfrm>
            <a:off x="2051720" y="3356992"/>
            <a:ext cx="3619500" cy="2228850"/>
          </a:xfrm>
          <a:prstGeom prst="rect">
            <a:avLst/>
          </a:prstGeom>
          <a:noFill/>
        </p:spPr>
      </p:pic>
    </p:spTree>
  </p:cSld>
  <p:clrMapOvr>
    <a:masterClrMapping/>
  </p:clrMapOvr>
  <p:transition>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ext Box 5"/>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8370" name="Text Box 6"/>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8371" name="Text Box 7"/>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8372" name="Text Box 8"/>
          <p:cNvSpPr txBox="1"/>
          <p:nvPr/>
        </p:nvSpPr>
        <p:spPr>
          <a:xfrm>
            <a:off x="1619250" y="184467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8373" name="Text Box 9"/>
          <p:cNvSpPr txBox="1"/>
          <p:nvPr/>
        </p:nvSpPr>
        <p:spPr>
          <a:xfrm>
            <a:off x="1476375" y="227647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pic>
        <p:nvPicPr>
          <p:cNvPr id="58374" name="图片 1" descr="130"/>
          <p:cNvPicPr>
            <a:picLocks noChangeAspect="1"/>
          </p:cNvPicPr>
          <p:nvPr/>
        </p:nvPicPr>
        <p:blipFill>
          <a:blip r:embed="rId2" cstate="print"/>
          <a:stretch>
            <a:fillRect/>
          </a:stretch>
        </p:blipFill>
        <p:spPr>
          <a:xfrm>
            <a:off x="-457200" y="-342900"/>
            <a:ext cx="10058400" cy="7543800"/>
          </a:xfrm>
          <a:prstGeom prst="rect">
            <a:avLst/>
          </a:prstGeom>
          <a:noFill/>
          <a:ln w="9525">
            <a:noFill/>
          </a:ln>
        </p:spPr>
      </p:pic>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p:cNvSpPr>
          <p:nvPr>
            <p:ph type="title" idx="4294967295"/>
          </p:nvPr>
        </p:nvSpPr>
        <p:spPr>
          <a:xfrm>
            <a:off x="467544" y="332656"/>
            <a:ext cx="8229600" cy="1143000"/>
          </a:xfrm>
          <a:prstGeom prst="rect">
            <a:avLst/>
          </a:prstGeom>
          <a:solidFill>
            <a:srgbClr val="FFFFFF"/>
          </a:solidFill>
          <a:ln>
            <a:solidFill>
              <a:srgbClr val="FF0000"/>
            </a:solidFill>
            <a:miter/>
          </a:ln>
        </p:spPr>
        <p:txBody>
          <a:bodyPr anchor="t">
            <a:normAutofit/>
          </a:bodyPr>
          <a:lstStyle/>
          <a:p>
            <a:pPr algn="l" eaLnBrk="1" hangingPunct="1"/>
            <a:r>
              <a:rPr lang="zh-CN" altLang="en-US" sz="3200" b="1" dirty="0">
                <a:solidFill>
                  <a:srgbClr val="FF0000"/>
                </a:solidFill>
                <a:latin typeface="+mj-ea"/>
              </a:rPr>
              <a:t>（一）农村包围城市革命道路理论的提出过程</a:t>
            </a:r>
            <a:r>
              <a:rPr lang="zh-CN" altLang="en-US" sz="3200" dirty="0">
                <a:solidFill>
                  <a:srgbClr val="FF0000"/>
                </a:solidFill>
                <a:latin typeface="+mj-ea"/>
              </a:rPr>
              <a:t> </a:t>
            </a:r>
          </a:p>
        </p:txBody>
      </p:sp>
      <p:sp>
        <p:nvSpPr>
          <p:cNvPr id="212995" name="Rectangle 3"/>
          <p:cNvSpPr>
            <a:spLocks noGrp="1"/>
          </p:cNvSpPr>
          <p:nvPr>
            <p:ph idx="4294967295"/>
          </p:nvPr>
        </p:nvSpPr>
        <p:spPr>
          <a:xfrm>
            <a:off x="359532" y="3029699"/>
            <a:ext cx="3456384" cy="1928518"/>
          </a:xfrm>
          <a:prstGeom prst="rect">
            <a:avLst/>
          </a:prstGeom>
          <a:solidFill>
            <a:schemeClr val="bg1"/>
          </a:solidFill>
          <a:ln>
            <a:solidFill>
              <a:srgbClr val="FF0000"/>
            </a:solidFill>
            <a:miter/>
          </a:ln>
        </p:spPr>
        <p:txBody>
          <a:bodyPr anchor="t">
            <a:normAutofit/>
          </a:bodyPr>
          <a:lstStyle/>
          <a:p>
            <a:pPr eaLnBrk="1" hangingPunct="1">
              <a:lnSpc>
                <a:spcPct val="115000"/>
              </a:lnSpc>
              <a:buNone/>
            </a:pPr>
            <a:r>
              <a:rPr lang="en-US" altLang="zh-CN" sz="2400" b="1" dirty="0" smtClean="0">
                <a:solidFill>
                  <a:srgbClr val="0000FF"/>
                </a:solidFill>
                <a:ea typeface="黑体" panose="02010609060101010101" pitchFamily="2" charset="-122"/>
              </a:rPr>
              <a:t>《</a:t>
            </a:r>
            <a:r>
              <a:rPr lang="zh-CN" altLang="en-US" sz="2400" b="1" dirty="0" smtClean="0">
                <a:solidFill>
                  <a:srgbClr val="0000FF"/>
                </a:solidFill>
                <a:ea typeface="黑体" panose="02010609060101010101" pitchFamily="2" charset="-122"/>
              </a:rPr>
              <a:t>中国的红色政权为什么能够存在</a:t>
            </a:r>
            <a:r>
              <a:rPr lang="en-US" altLang="zh-CN" sz="2400" b="1" dirty="0" smtClean="0">
                <a:solidFill>
                  <a:srgbClr val="0000FF"/>
                </a:solidFill>
                <a:ea typeface="黑体" panose="02010609060101010101" pitchFamily="2" charset="-122"/>
              </a:rPr>
              <a:t>》</a:t>
            </a:r>
          </a:p>
          <a:p>
            <a:pPr eaLnBrk="1" hangingPunct="1">
              <a:lnSpc>
                <a:spcPct val="115000"/>
              </a:lnSpc>
              <a:buNone/>
            </a:pPr>
            <a:r>
              <a:rPr lang="en-US" altLang="zh-CN" sz="2400" b="1" dirty="0" smtClean="0">
                <a:solidFill>
                  <a:srgbClr val="0000FF"/>
                </a:solidFill>
                <a:ea typeface="黑体" panose="02010609060101010101" pitchFamily="2" charset="-122"/>
              </a:rPr>
              <a:t>《</a:t>
            </a:r>
            <a:r>
              <a:rPr lang="zh-CN" altLang="en-US" sz="2400" b="1" dirty="0" smtClean="0">
                <a:solidFill>
                  <a:srgbClr val="0000FF"/>
                </a:solidFill>
                <a:ea typeface="黑体" panose="02010609060101010101" pitchFamily="2" charset="-122"/>
              </a:rPr>
              <a:t>井冈山的斗争</a:t>
            </a:r>
            <a:r>
              <a:rPr lang="en-US" altLang="zh-CN" sz="2400" b="1" dirty="0" smtClean="0">
                <a:solidFill>
                  <a:srgbClr val="0000FF"/>
                </a:solidFill>
                <a:ea typeface="黑体" panose="02010609060101010101" pitchFamily="2" charset="-122"/>
              </a:rPr>
              <a:t>》</a:t>
            </a:r>
          </a:p>
          <a:p>
            <a:pPr eaLnBrk="1" hangingPunct="1">
              <a:lnSpc>
                <a:spcPct val="115000"/>
              </a:lnSpc>
              <a:buNone/>
            </a:pPr>
            <a:r>
              <a:rPr lang="en-US" altLang="zh-CN" sz="2400" b="1" dirty="0" smtClean="0">
                <a:solidFill>
                  <a:srgbClr val="0000FF"/>
                </a:solidFill>
                <a:ea typeface="黑体" panose="02010609060101010101" pitchFamily="2" charset="-122"/>
              </a:rPr>
              <a:t> 《</a:t>
            </a:r>
            <a:r>
              <a:rPr lang="zh-CN" altLang="en-US" sz="2400" b="1" dirty="0">
                <a:solidFill>
                  <a:srgbClr val="0000FF"/>
                </a:solidFill>
                <a:ea typeface="黑体" panose="02010609060101010101" pitchFamily="2" charset="-122"/>
              </a:rPr>
              <a:t>星星之火可以燎原</a:t>
            </a:r>
            <a:r>
              <a:rPr lang="en-US" altLang="zh-CN" sz="2400" b="1" dirty="0" smtClean="0">
                <a:solidFill>
                  <a:srgbClr val="0000FF"/>
                </a:solidFill>
                <a:ea typeface="黑体" panose="02010609060101010101" pitchFamily="2" charset="-122"/>
              </a:rPr>
              <a:t>》</a:t>
            </a:r>
          </a:p>
        </p:txBody>
      </p:sp>
      <p:sp>
        <p:nvSpPr>
          <p:cNvPr id="2" name="矩形 1"/>
          <p:cNvSpPr/>
          <p:nvPr/>
        </p:nvSpPr>
        <p:spPr>
          <a:xfrm>
            <a:off x="6572099" y="3685476"/>
            <a:ext cx="2232248" cy="830997"/>
          </a:xfrm>
          <a:prstGeom prst="rect">
            <a:avLst/>
          </a:prstGeom>
          <a:solidFill>
            <a:schemeClr val="bg1"/>
          </a:solidFill>
          <a:ln>
            <a:solidFill>
              <a:schemeClr val="accent1"/>
            </a:solidFill>
          </a:ln>
        </p:spPr>
        <p:txBody>
          <a:bodyPr wrap="square">
            <a:spAutoFit/>
          </a:bodyPr>
          <a:lstStyle/>
          <a:p>
            <a:r>
              <a:rPr lang="en-US" altLang="zh-CN" sz="2400" b="1" dirty="0" smtClean="0">
                <a:solidFill>
                  <a:srgbClr val="0000FF"/>
                </a:solidFill>
                <a:ea typeface="黑体" panose="02010609060101010101" pitchFamily="2" charset="-122"/>
              </a:rPr>
              <a:t>《</a:t>
            </a:r>
            <a:r>
              <a:rPr lang="zh-CN" altLang="en-US" sz="2400" b="1" dirty="0" smtClean="0">
                <a:solidFill>
                  <a:srgbClr val="0000FF"/>
                </a:solidFill>
                <a:ea typeface="黑体" panose="02010609060101010101" pitchFamily="2" charset="-122"/>
              </a:rPr>
              <a:t>战争和战略问题</a:t>
            </a:r>
            <a:r>
              <a:rPr lang="en-US" altLang="zh-CN" sz="2400" b="1" dirty="0" smtClean="0">
                <a:solidFill>
                  <a:srgbClr val="0000FF"/>
                </a:solidFill>
                <a:ea typeface="黑体" panose="02010609060101010101" pitchFamily="2" charset="-122"/>
              </a:rPr>
              <a:t>》</a:t>
            </a:r>
            <a:endParaRPr lang="zh-CN" altLang="en-US" dirty="0"/>
          </a:p>
        </p:txBody>
      </p:sp>
      <p:sp>
        <p:nvSpPr>
          <p:cNvPr id="7" name="矩形 6"/>
          <p:cNvSpPr/>
          <p:nvPr/>
        </p:nvSpPr>
        <p:spPr>
          <a:xfrm>
            <a:off x="179512" y="5441775"/>
            <a:ext cx="3085976" cy="461665"/>
          </a:xfrm>
          <a:prstGeom prst="rect">
            <a:avLst/>
          </a:prstGeom>
          <a:solidFill>
            <a:srgbClr val="FFC000"/>
          </a:solidFill>
        </p:spPr>
        <p:txBody>
          <a:bodyPr wrap="square">
            <a:spAutoFit/>
          </a:bodyPr>
          <a:lstStyle/>
          <a:p>
            <a:r>
              <a:rPr lang="zh-CN" altLang="en-US" sz="2400" b="1" dirty="0" smtClean="0">
                <a:solidFill>
                  <a:srgbClr val="0000FF"/>
                </a:solidFill>
                <a:ea typeface="黑体" panose="02010609060101010101" pitchFamily="2" charset="-122"/>
              </a:rPr>
              <a:t>工农</a:t>
            </a:r>
            <a:r>
              <a:rPr lang="zh-CN" altLang="en-US" sz="2400" b="1" dirty="0">
                <a:solidFill>
                  <a:srgbClr val="0000FF"/>
                </a:solidFill>
                <a:ea typeface="黑体" panose="02010609060101010101" pitchFamily="2" charset="-122"/>
              </a:rPr>
              <a:t>武装割据思想</a:t>
            </a:r>
            <a:endParaRPr lang="zh-CN" altLang="en-US" dirty="0"/>
          </a:p>
        </p:txBody>
      </p:sp>
      <p:sp>
        <p:nvSpPr>
          <p:cNvPr id="8" name="矩形 7"/>
          <p:cNvSpPr/>
          <p:nvPr/>
        </p:nvSpPr>
        <p:spPr>
          <a:xfrm>
            <a:off x="1212978" y="2250450"/>
            <a:ext cx="1656184" cy="523220"/>
          </a:xfrm>
          <a:prstGeom prst="rect">
            <a:avLst/>
          </a:prstGeom>
          <a:solidFill>
            <a:srgbClr val="FFC000"/>
          </a:solidFill>
        </p:spPr>
        <p:txBody>
          <a:bodyPr wrap="square">
            <a:spAutoFit/>
          </a:bodyPr>
          <a:lstStyle/>
          <a:p>
            <a:r>
              <a:rPr lang="zh-CN" altLang="en-US" sz="2800" b="1" dirty="0" smtClean="0"/>
              <a:t>初步提出</a:t>
            </a:r>
            <a:endParaRPr lang="zh-CN" altLang="en-US" sz="2800" b="1" dirty="0"/>
          </a:p>
        </p:txBody>
      </p:sp>
      <p:sp>
        <p:nvSpPr>
          <p:cNvPr id="9" name="右箭头 8"/>
          <p:cNvSpPr/>
          <p:nvPr/>
        </p:nvSpPr>
        <p:spPr>
          <a:xfrm>
            <a:off x="2970034" y="2433235"/>
            <a:ext cx="1080120" cy="170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下箭头 9"/>
          <p:cNvSpPr/>
          <p:nvPr/>
        </p:nvSpPr>
        <p:spPr>
          <a:xfrm>
            <a:off x="1237421" y="4919870"/>
            <a:ext cx="360040"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088538" y="2256844"/>
            <a:ext cx="1975036" cy="523220"/>
          </a:xfrm>
          <a:prstGeom prst="rect">
            <a:avLst/>
          </a:prstGeom>
          <a:solidFill>
            <a:srgbClr val="FFC000"/>
          </a:solidFill>
        </p:spPr>
        <p:txBody>
          <a:bodyPr wrap="square">
            <a:spAutoFit/>
          </a:bodyPr>
          <a:lstStyle/>
          <a:p>
            <a:r>
              <a:rPr lang="zh-CN" altLang="en-US" sz="2800" b="1" dirty="0" smtClean="0"/>
              <a:t>进一步丰富</a:t>
            </a:r>
            <a:endParaRPr lang="zh-CN" altLang="en-US" sz="2800" b="1" dirty="0"/>
          </a:p>
        </p:txBody>
      </p:sp>
      <p:sp>
        <p:nvSpPr>
          <p:cNvPr id="16" name="右箭头 15"/>
          <p:cNvSpPr/>
          <p:nvPr/>
        </p:nvSpPr>
        <p:spPr>
          <a:xfrm>
            <a:off x="6156176" y="2433235"/>
            <a:ext cx="1080120" cy="170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236296" y="2342063"/>
            <a:ext cx="1656184" cy="523220"/>
          </a:xfrm>
          <a:prstGeom prst="rect">
            <a:avLst/>
          </a:prstGeom>
          <a:solidFill>
            <a:srgbClr val="FFC000"/>
          </a:solidFill>
        </p:spPr>
        <p:txBody>
          <a:bodyPr wrap="square">
            <a:spAutoFit/>
          </a:bodyPr>
          <a:lstStyle/>
          <a:p>
            <a:r>
              <a:rPr lang="zh-CN" altLang="en-US" sz="2800" b="1" dirty="0" smtClean="0"/>
              <a:t>确立</a:t>
            </a:r>
            <a:endParaRPr lang="zh-CN" altLang="en-US" sz="2800" b="1" dirty="0"/>
          </a:p>
        </p:txBody>
      </p:sp>
      <p:sp>
        <p:nvSpPr>
          <p:cNvPr id="18" name="矩形 17"/>
          <p:cNvSpPr/>
          <p:nvPr/>
        </p:nvSpPr>
        <p:spPr>
          <a:xfrm>
            <a:off x="3995936" y="3685476"/>
            <a:ext cx="2160240" cy="830997"/>
          </a:xfrm>
          <a:prstGeom prst="rect">
            <a:avLst/>
          </a:prstGeom>
          <a:solidFill>
            <a:schemeClr val="bg1"/>
          </a:solidFill>
          <a:ln>
            <a:solidFill>
              <a:schemeClr val="accent1"/>
            </a:solidFill>
          </a:ln>
        </p:spPr>
        <p:txBody>
          <a:bodyPr wrap="square">
            <a:spAutoFit/>
          </a:bodyPr>
          <a:lstStyle/>
          <a:p>
            <a:r>
              <a:rPr lang="en-US" altLang="zh-CN" sz="2400" b="1" dirty="0" smtClean="0">
                <a:solidFill>
                  <a:srgbClr val="0000FF"/>
                </a:solidFill>
                <a:ea typeface="黑体" panose="02010609060101010101" pitchFamily="2" charset="-122"/>
              </a:rPr>
              <a:t>《</a:t>
            </a:r>
            <a:r>
              <a:rPr lang="zh-CN" altLang="en-US" sz="2400" b="1" dirty="0" smtClean="0">
                <a:solidFill>
                  <a:srgbClr val="0000FF"/>
                </a:solidFill>
                <a:ea typeface="黑体" panose="02010609060101010101" pitchFamily="2" charset="-122"/>
              </a:rPr>
              <a:t>中国革命战争的战略问题</a:t>
            </a:r>
            <a:r>
              <a:rPr lang="en-US" altLang="zh-CN" sz="2400" b="1" dirty="0" smtClean="0">
                <a:solidFill>
                  <a:srgbClr val="0000FF"/>
                </a:solidFill>
                <a:ea typeface="黑体" panose="02010609060101010101" pitchFamily="2" charset="-122"/>
              </a:rPr>
              <a:t>》</a:t>
            </a:r>
            <a:endParaRPr lang="zh-CN" altLang="en-US" dirty="0"/>
          </a:p>
        </p:txBody>
      </p:sp>
      <p:sp>
        <p:nvSpPr>
          <p:cNvPr id="19" name="矩形 18"/>
          <p:cNvSpPr/>
          <p:nvPr/>
        </p:nvSpPr>
        <p:spPr>
          <a:xfrm>
            <a:off x="3347864" y="5373216"/>
            <a:ext cx="3085976" cy="830997"/>
          </a:xfrm>
          <a:prstGeom prst="rect">
            <a:avLst/>
          </a:prstGeom>
          <a:solidFill>
            <a:srgbClr val="FFC000"/>
          </a:solidFill>
        </p:spPr>
        <p:txBody>
          <a:bodyPr wrap="square">
            <a:spAutoFit/>
          </a:bodyPr>
          <a:lstStyle/>
          <a:p>
            <a:r>
              <a:rPr lang="zh-CN" altLang="en-US" sz="2400" b="1" dirty="0">
                <a:solidFill>
                  <a:srgbClr val="0000FF"/>
                </a:solidFill>
                <a:ea typeface="黑体" panose="02010609060101010101" pitchFamily="2" charset="-122"/>
              </a:rPr>
              <a:t>丰富了农村包围城市的整体战略思想</a:t>
            </a:r>
          </a:p>
        </p:txBody>
      </p:sp>
      <p:sp>
        <p:nvSpPr>
          <p:cNvPr id="11" name="下箭头 10"/>
          <p:cNvSpPr/>
          <p:nvPr/>
        </p:nvSpPr>
        <p:spPr>
          <a:xfrm>
            <a:off x="4821648" y="4516473"/>
            <a:ext cx="308626" cy="8067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4174978" y="1690057"/>
            <a:ext cx="1601966" cy="369332"/>
          </a:xfrm>
          <a:prstGeom prst="rect">
            <a:avLst/>
          </a:prstGeom>
          <a:solidFill>
            <a:schemeClr val="bg1"/>
          </a:solidFill>
          <a:ln>
            <a:solidFill>
              <a:schemeClr val="accent1"/>
            </a:solidFill>
          </a:ln>
        </p:spPr>
        <p:txBody>
          <a:bodyPr wrap="square">
            <a:spAutoFit/>
          </a:bodyPr>
          <a:lstStyle/>
          <a:p>
            <a:r>
              <a:rPr lang="zh-CN" altLang="en-US" dirty="0" smtClean="0"/>
              <a:t>长征到陕北后</a:t>
            </a:r>
            <a:endParaRPr lang="zh-CN" altLang="en-US" dirty="0"/>
          </a:p>
        </p:txBody>
      </p:sp>
      <p:sp>
        <p:nvSpPr>
          <p:cNvPr id="22" name="矩形 21"/>
          <p:cNvSpPr/>
          <p:nvPr/>
        </p:nvSpPr>
        <p:spPr>
          <a:xfrm>
            <a:off x="1212978" y="1703445"/>
            <a:ext cx="1621218" cy="369332"/>
          </a:xfrm>
          <a:prstGeom prst="rect">
            <a:avLst/>
          </a:prstGeom>
          <a:solidFill>
            <a:schemeClr val="bg1"/>
          </a:solidFill>
          <a:ln>
            <a:solidFill>
              <a:schemeClr val="accent1"/>
            </a:solidFill>
          </a:ln>
        </p:spPr>
        <p:txBody>
          <a:bodyPr wrap="square">
            <a:spAutoFit/>
          </a:bodyPr>
          <a:lstStyle/>
          <a:p>
            <a:r>
              <a:rPr lang="en-US" altLang="zh-CN" dirty="0" smtClean="0"/>
              <a:t>1928-1930</a:t>
            </a:r>
            <a:r>
              <a:rPr lang="zh-CN" altLang="en-US" dirty="0" smtClean="0"/>
              <a:t>年</a:t>
            </a:r>
            <a:endParaRPr lang="zh-CN" altLang="en-US" dirty="0"/>
          </a:p>
        </p:txBody>
      </p:sp>
      <p:sp>
        <p:nvSpPr>
          <p:cNvPr id="23" name="矩形 22"/>
          <p:cNvSpPr/>
          <p:nvPr/>
        </p:nvSpPr>
        <p:spPr>
          <a:xfrm>
            <a:off x="6876256" y="1788052"/>
            <a:ext cx="1728192" cy="369332"/>
          </a:xfrm>
          <a:prstGeom prst="rect">
            <a:avLst/>
          </a:prstGeom>
          <a:solidFill>
            <a:schemeClr val="bg1"/>
          </a:solidFill>
          <a:ln>
            <a:solidFill>
              <a:schemeClr val="accent1"/>
            </a:solidFill>
          </a:ln>
        </p:spPr>
        <p:txBody>
          <a:bodyPr wrap="square">
            <a:spAutoFit/>
          </a:bodyPr>
          <a:lstStyle/>
          <a:p>
            <a:r>
              <a:rPr lang="zh-CN" altLang="en-US" dirty="0" smtClean="0"/>
              <a:t>六届六中全会</a:t>
            </a:r>
            <a:endParaRPr lang="zh-CN" altLang="en-US" dirty="0"/>
          </a:p>
        </p:txBody>
      </p:sp>
      <p:sp>
        <p:nvSpPr>
          <p:cNvPr id="24" name="矩形 23"/>
          <p:cNvSpPr/>
          <p:nvPr/>
        </p:nvSpPr>
        <p:spPr>
          <a:xfrm>
            <a:off x="6444208" y="5229200"/>
            <a:ext cx="3024336" cy="1200329"/>
          </a:xfrm>
          <a:prstGeom prst="rect">
            <a:avLst/>
          </a:prstGeom>
          <a:solidFill>
            <a:srgbClr val="FFC000"/>
          </a:solidFill>
        </p:spPr>
        <p:txBody>
          <a:bodyPr wrap="square">
            <a:spAutoFit/>
          </a:bodyPr>
          <a:lstStyle/>
          <a:p>
            <a:r>
              <a:rPr lang="zh-CN" altLang="en-US" sz="2400" b="1" dirty="0" smtClean="0">
                <a:solidFill>
                  <a:srgbClr val="0000FF"/>
                </a:solidFill>
                <a:ea typeface="黑体" panose="02010609060101010101" pitchFamily="2" charset="-122"/>
              </a:rPr>
              <a:t>明确先占乡村，后取城市，最后夺取全国胜利的革命道路</a:t>
            </a:r>
            <a:endParaRPr lang="zh-CN" altLang="en-US" sz="2400" b="1" dirty="0">
              <a:solidFill>
                <a:srgbClr val="0000FF"/>
              </a:solidFill>
              <a:ea typeface="黑体" panose="0201060906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2994"/>
                                        </p:tgtEl>
                                        <p:attrNameLst>
                                          <p:attrName>style.visibility</p:attrName>
                                        </p:attrNameLst>
                                      </p:cBhvr>
                                      <p:to>
                                        <p:strVal val="visible"/>
                                      </p:to>
                                    </p:set>
                                    <p:animEffect transition="in" filter="wipe(left)">
                                      <p:cBhvr>
                                        <p:cTn id="7" dur="500"/>
                                        <p:tgtEl>
                                          <p:spTgt spid="21299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12995">
                                            <p:bg/>
                                          </p:spTgt>
                                        </p:tgtEl>
                                        <p:attrNameLst>
                                          <p:attrName>style.visibility</p:attrName>
                                        </p:attrNameLst>
                                      </p:cBhvr>
                                      <p:to>
                                        <p:strVal val="visible"/>
                                      </p:to>
                                    </p:set>
                                    <p:animEffect transition="in" filter="diamond(in)">
                                      <p:cBhvr>
                                        <p:cTn id="12" dur="500"/>
                                        <p:tgtEl>
                                          <p:spTgt spid="212995">
                                            <p:bg/>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12995">
                                            <p:txEl>
                                              <p:pRg st="0" end="0"/>
                                            </p:txEl>
                                          </p:spTgt>
                                        </p:tgtEl>
                                        <p:attrNameLst>
                                          <p:attrName>style.visibility</p:attrName>
                                        </p:attrNameLst>
                                      </p:cBhvr>
                                      <p:to>
                                        <p:strVal val="visible"/>
                                      </p:to>
                                    </p:set>
                                    <p:animEffect transition="in" filter="diamond(in)">
                                      <p:cBhvr>
                                        <p:cTn id="17" dur="500"/>
                                        <p:tgtEl>
                                          <p:spTgt spid="21299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12995">
                                            <p:txEl>
                                              <p:pRg st="1" end="1"/>
                                            </p:txEl>
                                          </p:spTgt>
                                        </p:tgtEl>
                                        <p:attrNameLst>
                                          <p:attrName>style.visibility</p:attrName>
                                        </p:attrNameLst>
                                      </p:cBhvr>
                                      <p:to>
                                        <p:strVal val="visible"/>
                                      </p:to>
                                    </p:set>
                                    <p:animEffect transition="in" filter="diamond(in)">
                                      <p:cBhvr>
                                        <p:cTn id="22" dur="500"/>
                                        <p:tgtEl>
                                          <p:spTgt spid="21299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212995">
                                            <p:txEl>
                                              <p:pRg st="2" end="2"/>
                                            </p:txEl>
                                          </p:spTgt>
                                        </p:tgtEl>
                                        <p:attrNameLst>
                                          <p:attrName>style.visibility</p:attrName>
                                        </p:attrNameLst>
                                      </p:cBhvr>
                                      <p:to>
                                        <p:strVal val="visible"/>
                                      </p:to>
                                    </p:set>
                                    <p:animEffect transition="in" filter="diamond(in)">
                                      <p:cBhvr>
                                        <p:cTn id="27" dur="500"/>
                                        <p:tgtEl>
                                          <p:spTgt spid="2129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bldLvl="0" animBg="1"/>
      <p:bldP spid="212995" grpId="0" build="p"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ext Box 5"/>
          <p:cNvSpPr txBox="1"/>
          <p:nvPr/>
        </p:nvSpPr>
        <p:spPr>
          <a:xfrm>
            <a:off x="1023938" y="18510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9394" name="Text Box 6"/>
          <p:cNvSpPr txBox="1"/>
          <p:nvPr/>
        </p:nvSpPr>
        <p:spPr>
          <a:xfrm>
            <a:off x="1095375" y="1706563"/>
            <a:ext cx="184150" cy="366712"/>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9395" name="Text Box 7"/>
          <p:cNvSpPr txBox="1"/>
          <p:nvPr/>
        </p:nvSpPr>
        <p:spPr>
          <a:xfrm>
            <a:off x="1239838" y="206692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9396" name="Text Box 8"/>
          <p:cNvSpPr txBox="1"/>
          <p:nvPr/>
        </p:nvSpPr>
        <p:spPr>
          <a:xfrm>
            <a:off x="1619250" y="184467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sp>
        <p:nvSpPr>
          <p:cNvPr id="59397" name="Text Box 9"/>
          <p:cNvSpPr txBox="1"/>
          <p:nvPr/>
        </p:nvSpPr>
        <p:spPr>
          <a:xfrm>
            <a:off x="1476375" y="2276475"/>
            <a:ext cx="184150" cy="366713"/>
          </a:xfrm>
          <a:prstGeom prst="rect">
            <a:avLst/>
          </a:prstGeom>
          <a:noFill/>
          <a:ln w="9525">
            <a:noFill/>
          </a:ln>
        </p:spPr>
        <p:txBody>
          <a:bodyPr wrap="none" anchor="t">
            <a:spAutoFit/>
          </a:bodyPr>
          <a:lstStyle/>
          <a:p>
            <a:pPr lvl="0"/>
            <a:endParaRPr lang="zh-CN" altLang="zh-CN" b="0" dirty="0">
              <a:solidFill>
                <a:schemeClr val="tx1"/>
              </a:solidFill>
              <a:latin typeface="Arial" panose="020B0604020202020204" pitchFamily="34" charset="0"/>
              <a:ea typeface="宋体" panose="02010600030101010101" pitchFamily="2" charset="-122"/>
            </a:endParaRPr>
          </a:p>
        </p:txBody>
      </p:sp>
      <p:pic>
        <p:nvPicPr>
          <p:cNvPr id="59398" name="图片 2" descr="124"/>
          <p:cNvPicPr>
            <a:picLocks noChangeAspect="1"/>
          </p:cNvPicPr>
          <p:nvPr/>
        </p:nvPicPr>
        <p:blipFill rotWithShape="1">
          <a:blip r:embed="rId2" cstate="print"/>
          <a:srcRect t="10714" b="3199"/>
          <a:stretch/>
        </p:blipFill>
        <p:spPr>
          <a:xfrm>
            <a:off x="844207" y="476672"/>
            <a:ext cx="7543800" cy="5767535"/>
          </a:xfrm>
          <a:prstGeom prst="rect">
            <a:avLst/>
          </a:prstGeom>
          <a:noFill/>
          <a:ln w="9525">
            <a:noFill/>
          </a:ln>
        </p:spPr>
      </p:pic>
    </p:spTree>
  </p:cSld>
  <p:clrMapOvr>
    <a:masterClrMapping/>
  </p:clrMapOvr>
  <p:transition>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p:cNvSpPr>
          <p:nvPr>
            <p:ph idx="4294967295"/>
          </p:nvPr>
        </p:nvSpPr>
        <p:spPr>
          <a:xfrm>
            <a:off x="0" y="1341438"/>
            <a:ext cx="8207375" cy="5516562"/>
          </a:xfrm>
          <a:prstGeom prst="rect">
            <a:avLst/>
          </a:prstGeom>
          <a:solidFill>
            <a:srgbClr val="FFFFFF"/>
          </a:solidFill>
          <a:ln>
            <a:solidFill>
              <a:srgbClr val="000000"/>
            </a:solidFill>
            <a:miter/>
          </a:ln>
        </p:spPr>
        <p:txBody>
          <a:bodyPr anchor="t"/>
          <a:lstStyle/>
          <a:p>
            <a:pPr eaLnBrk="1" hangingPunct="1">
              <a:lnSpc>
                <a:spcPct val="115000"/>
              </a:lnSpc>
              <a:buNone/>
            </a:pPr>
            <a:r>
              <a:rPr lang="zh-CN" altLang="en-US" sz="2200" b="1" dirty="0">
                <a:latin typeface="宋体" panose="02010600030101010101" pitchFamily="2" charset="-122"/>
              </a:rPr>
              <a:t>　</a:t>
            </a:r>
            <a:r>
              <a:rPr lang="zh-CN" altLang="en-US" sz="2200" b="1" dirty="0">
                <a:latin typeface="楷体_GB2312" pitchFamily="49" charset="-122"/>
                <a:ea typeface="楷体_GB2312" pitchFamily="49" charset="-122"/>
              </a:rPr>
              <a:t>　　　</a:t>
            </a:r>
            <a:r>
              <a:rPr lang="zh-CN" altLang="en-US" sz="2400" b="1" dirty="0">
                <a:solidFill>
                  <a:srgbClr val="0000FF"/>
                </a:solidFill>
                <a:ea typeface="黑体" panose="02010609060101010101" pitchFamily="2" charset="-122"/>
              </a:rPr>
              <a:t>　　　</a:t>
            </a:r>
          </a:p>
          <a:p>
            <a:pPr eaLnBrk="1" hangingPunct="1">
              <a:lnSpc>
                <a:spcPct val="80000"/>
              </a:lnSpc>
              <a:buNone/>
            </a:pPr>
            <a:endParaRPr lang="en-US" altLang="zh-CN" sz="2400" b="1">
              <a:solidFill>
                <a:srgbClr val="0000FF"/>
              </a:solidFill>
              <a:ea typeface="黑体" panose="02010609060101010101" pitchFamily="2" charset="-122"/>
            </a:endParaRPr>
          </a:p>
        </p:txBody>
      </p:sp>
      <p:pic>
        <p:nvPicPr>
          <p:cNvPr id="60418" name="图片 56326" descr="IMG_4571"/>
          <p:cNvPicPr>
            <a:picLocks noChangeAspect="1"/>
          </p:cNvPicPr>
          <p:nvPr/>
        </p:nvPicPr>
        <p:blipFill>
          <a:blip r:embed="rId2" cstate="print"/>
          <a:stretch>
            <a:fillRect/>
          </a:stretch>
        </p:blipFill>
        <p:spPr>
          <a:xfrm>
            <a:off x="-4694237" y="-3519487"/>
            <a:ext cx="18532475" cy="13898562"/>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37570">
                                            <p:txEl>
                                              <p:pRg st="0" end="0"/>
                                            </p:txEl>
                                          </p:spTgt>
                                        </p:tgtEl>
                                        <p:attrNameLst>
                                          <p:attrName>style.visibility</p:attrName>
                                        </p:attrNameLst>
                                      </p:cBhvr>
                                      <p:to>
                                        <p:strVal val="visible"/>
                                      </p:to>
                                    </p:set>
                                    <p:animEffect transition="in" filter="diamond(in)">
                                      <p:cBhvr>
                                        <p:cTn id="7" dur="500"/>
                                        <p:tgtEl>
                                          <p:spTgt spid="2375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0"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3" descr="f7246b600c338744b68df271510fd9f9d62a6059252d884f"/>
          <p:cNvPicPr>
            <a:picLocks noChangeAspect="1"/>
          </p:cNvPicPr>
          <p:nvPr/>
        </p:nvPicPr>
        <p:blipFill>
          <a:blip r:embed="rId2" cstate="print"/>
          <a:stretch>
            <a:fillRect/>
          </a:stretch>
        </p:blipFill>
        <p:spPr>
          <a:xfrm>
            <a:off x="2267744" y="476672"/>
            <a:ext cx="5976664" cy="5588099"/>
          </a:xfrm>
          <a:prstGeom prst="rect">
            <a:avLst/>
          </a:prstGeom>
          <a:noFill/>
          <a:ln w="9525">
            <a:noFill/>
          </a:ln>
        </p:spPr>
      </p:pic>
    </p:spTree>
  </p:cSld>
  <p:clrMapOvr>
    <a:masterClrMapping/>
  </p:clrMapOvr>
  <p:transition>
    <p:wipe dir="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p:cNvSpPr>
          <p:nvPr>
            <p:ph idx="4294967295"/>
          </p:nvPr>
        </p:nvSpPr>
        <p:spPr>
          <a:xfrm>
            <a:off x="395536" y="1412776"/>
            <a:ext cx="3743325" cy="4445000"/>
          </a:xfrm>
          <a:prstGeom prst="rect">
            <a:avLst/>
          </a:prstGeom>
          <a:solidFill>
            <a:srgbClr val="FFFFFF"/>
          </a:solidFill>
          <a:ln>
            <a:solidFill>
              <a:srgbClr val="FF0000"/>
            </a:solidFill>
            <a:miter/>
          </a:ln>
        </p:spPr>
        <p:txBody>
          <a:bodyPr anchor="t"/>
          <a:lstStyle/>
          <a:p>
            <a:pPr eaLnBrk="1" hangingPunct="1">
              <a:lnSpc>
                <a:spcPct val="115000"/>
              </a:lnSpc>
              <a:buNone/>
            </a:pPr>
            <a:r>
              <a:rPr lang="zh-CN" altLang="en-US" sz="2400" b="1" dirty="0">
                <a:solidFill>
                  <a:srgbClr val="FF0000"/>
                </a:solidFill>
                <a:latin typeface="隶书" pitchFamily="49" charset="-122"/>
                <a:ea typeface="隶书" pitchFamily="49" charset="-122"/>
              </a:rPr>
              <a:t>马克思主义的“本本”是要学习的，但是必须同我国的实际情况相结合。</a:t>
            </a:r>
          </a:p>
          <a:p>
            <a:pPr eaLnBrk="1" hangingPunct="1">
              <a:lnSpc>
                <a:spcPct val="115000"/>
              </a:lnSpc>
              <a:buNone/>
            </a:pPr>
            <a:r>
              <a:rPr lang="zh-CN" altLang="en-US" sz="2400" b="1" dirty="0">
                <a:solidFill>
                  <a:srgbClr val="FF0000"/>
                </a:solidFill>
                <a:latin typeface="隶书" pitchFamily="49" charset="-122"/>
                <a:ea typeface="隶书" pitchFamily="49" charset="-122"/>
              </a:rPr>
              <a:t>我们需要“本本”，但是一定要纠正脱离实际情况的本本主义。</a:t>
            </a:r>
          </a:p>
          <a:p>
            <a:pPr eaLnBrk="1" hangingPunct="1">
              <a:lnSpc>
                <a:spcPct val="115000"/>
              </a:lnSpc>
              <a:buNone/>
            </a:pPr>
            <a:r>
              <a:rPr lang="zh-CN" altLang="en-US" sz="2400" b="1" dirty="0">
                <a:solidFill>
                  <a:srgbClr val="FF0000"/>
                </a:solidFill>
                <a:latin typeface="隶书" pitchFamily="49" charset="-122"/>
                <a:ea typeface="隶书" pitchFamily="49" charset="-122"/>
              </a:rPr>
              <a:t>共产党的正确而不动摇的斗争策略，决不是少数人坐在房子里能够产生的 </a:t>
            </a:r>
          </a:p>
        </p:txBody>
      </p:sp>
      <p:pic>
        <p:nvPicPr>
          <p:cNvPr id="64514" name="Picture 3" descr="d8f9d72a6059252d547be203369b033b5ab5c9ea15ce8175"/>
          <p:cNvPicPr>
            <a:picLocks noChangeAspect="1"/>
          </p:cNvPicPr>
          <p:nvPr/>
        </p:nvPicPr>
        <p:blipFill>
          <a:blip r:embed="rId2" cstate="print"/>
          <a:stretch>
            <a:fillRect/>
          </a:stretch>
        </p:blipFill>
        <p:spPr>
          <a:xfrm>
            <a:off x="4500563" y="836613"/>
            <a:ext cx="4305300" cy="6184900"/>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38594">
                                            <p:txEl>
                                              <p:pRg st="0" end="0"/>
                                            </p:txEl>
                                          </p:spTgt>
                                        </p:tgtEl>
                                        <p:attrNameLst>
                                          <p:attrName>style.visibility</p:attrName>
                                        </p:attrNameLst>
                                      </p:cBhvr>
                                      <p:to>
                                        <p:strVal val="visible"/>
                                      </p:to>
                                    </p:set>
                                    <p:animEffect transition="in" filter="diamond(in)">
                                      <p:cBhvr>
                                        <p:cTn id="7" dur="500"/>
                                        <p:tgtEl>
                                          <p:spTgt spid="2385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38594">
                                            <p:txEl>
                                              <p:pRg st="1" end="1"/>
                                            </p:txEl>
                                          </p:spTgt>
                                        </p:tgtEl>
                                        <p:attrNameLst>
                                          <p:attrName>style.visibility</p:attrName>
                                        </p:attrNameLst>
                                      </p:cBhvr>
                                      <p:to>
                                        <p:strVal val="visible"/>
                                      </p:to>
                                    </p:set>
                                    <p:animEffect transition="in" filter="diamond(in)">
                                      <p:cBhvr>
                                        <p:cTn id="12" dur="500"/>
                                        <p:tgtEl>
                                          <p:spTgt spid="2385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38594">
                                            <p:txEl>
                                              <p:pRg st="2" end="2"/>
                                            </p:txEl>
                                          </p:spTgt>
                                        </p:tgtEl>
                                        <p:attrNameLst>
                                          <p:attrName>style.visibility</p:attrName>
                                        </p:attrNameLst>
                                      </p:cBhvr>
                                      <p:to>
                                        <p:strVal val="visible"/>
                                      </p:to>
                                    </p:set>
                                    <p:animEffect transition="in" filter="diamond(in)">
                                      <p:cBhvr>
                                        <p:cTn id="17" dur="500"/>
                                        <p:tgtEl>
                                          <p:spTgt spid="23859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4"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3" name="Rectangle 3"/>
          <p:cNvSpPr>
            <a:spLocks noGrp="1"/>
          </p:cNvSpPr>
          <p:nvPr>
            <p:ph idx="4294967295"/>
          </p:nvPr>
        </p:nvSpPr>
        <p:spPr>
          <a:xfrm>
            <a:off x="467544" y="1700809"/>
            <a:ext cx="7775327" cy="3600400"/>
          </a:xfrm>
          <a:prstGeom prst="rect">
            <a:avLst/>
          </a:prstGeom>
          <a:solidFill>
            <a:schemeClr val="bg1"/>
          </a:solidFill>
          <a:ln>
            <a:solidFill>
              <a:schemeClr val="accent1"/>
            </a:solidFill>
            <a:miter/>
          </a:ln>
        </p:spPr>
        <p:txBody>
          <a:bodyPr anchor="t"/>
          <a:lstStyle/>
          <a:p>
            <a:pPr eaLnBrk="1" hangingPunct="1">
              <a:lnSpc>
                <a:spcPct val="115000"/>
              </a:lnSpc>
              <a:buNone/>
            </a:pPr>
            <a:r>
              <a:rPr lang="zh-CN" altLang="en-US" sz="2200" b="1" dirty="0">
                <a:latin typeface="宋体" panose="02010600030101010101" pitchFamily="2" charset="-122"/>
              </a:rPr>
              <a:t>　</a:t>
            </a:r>
            <a:r>
              <a:rPr lang="zh-CN" altLang="en-US" sz="2200" b="1" dirty="0">
                <a:latin typeface="楷体_GB2312" pitchFamily="49" charset="-122"/>
                <a:ea typeface="楷体_GB2312" pitchFamily="49" charset="-122"/>
              </a:rPr>
              <a:t>　　　</a:t>
            </a:r>
            <a:r>
              <a:rPr lang="zh-CN" altLang="en-US" b="1" dirty="0" smtClean="0">
                <a:solidFill>
                  <a:srgbClr val="0000FF"/>
                </a:solidFill>
                <a:ea typeface="黑体" panose="02010609060101010101" pitchFamily="2" charset="-122"/>
              </a:rPr>
              <a:t>毛泽东又相继发表了论</a:t>
            </a:r>
            <a:r>
              <a:rPr lang="zh-CN" altLang="en-US" b="1" dirty="0">
                <a:solidFill>
                  <a:srgbClr val="0000FF"/>
                </a:solidFill>
                <a:ea typeface="黑体" panose="02010609060101010101" pitchFamily="2" charset="-122"/>
              </a:rPr>
              <a:t>新阶段</a:t>
            </a:r>
            <a:r>
              <a:rPr lang="en-US" altLang="zh-CN" b="1" dirty="0">
                <a:solidFill>
                  <a:srgbClr val="0000FF"/>
                </a:solidFill>
                <a:ea typeface="黑体" panose="02010609060101010101" pitchFamily="2" charset="-122"/>
              </a:rPr>
              <a:t>》</a:t>
            </a:r>
            <a:r>
              <a:rPr lang="zh-CN" altLang="en-US" b="1" dirty="0" smtClean="0">
                <a:solidFill>
                  <a:srgbClr val="0000FF"/>
                </a:solidFill>
                <a:ea typeface="黑体" panose="02010609060101010101" pitchFamily="2" charset="-122"/>
              </a:rPr>
              <a:t>、</a:t>
            </a:r>
            <a:r>
              <a:rPr lang="en-US" altLang="zh-CN" b="1" dirty="0" smtClean="0">
                <a:solidFill>
                  <a:srgbClr val="0000FF"/>
                </a:solidFill>
                <a:ea typeface="黑体" panose="02010609060101010101" pitchFamily="2" charset="-122"/>
              </a:rPr>
              <a:t>《&lt;</a:t>
            </a:r>
            <a:r>
              <a:rPr lang="zh-CN" altLang="en-US" b="1" dirty="0">
                <a:solidFill>
                  <a:srgbClr val="0000FF"/>
                </a:solidFill>
                <a:ea typeface="黑体" panose="02010609060101010101" pitchFamily="2" charset="-122"/>
              </a:rPr>
              <a:t>共产党人</a:t>
            </a:r>
            <a:r>
              <a:rPr lang="en-US" altLang="zh-CN" b="1" dirty="0">
                <a:solidFill>
                  <a:srgbClr val="0000FF"/>
                </a:solidFill>
                <a:ea typeface="黑体" panose="02010609060101010101" pitchFamily="2" charset="-122"/>
              </a:rPr>
              <a:t>&gt;</a:t>
            </a:r>
            <a:r>
              <a:rPr lang="zh-CN" altLang="en-US" b="1" dirty="0">
                <a:solidFill>
                  <a:srgbClr val="0000FF"/>
                </a:solidFill>
                <a:ea typeface="黑体" panose="02010609060101010101" pitchFamily="2" charset="-122"/>
              </a:rPr>
              <a:t>发刊词</a:t>
            </a:r>
            <a:r>
              <a:rPr lang="en-US" altLang="zh-CN" b="1" dirty="0">
                <a:solidFill>
                  <a:srgbClr val="0000FF"/>
                </a:solidFill>
                <a:ea typeface="黑体" panose="02010609060101010101" pitchFamily="2" charset="-122"/>
              </a:rPr>
              <a:t>》</a:t>
            </a:r>
            <a:r>
              <a:rPr lang="zh-CN" altLang="en-US" b="1" dirty="0">
                <a:solidFill>
                  <a:srgbClr val="0000FF"/>
                </a:solidFill>
                <a:ea typeface="黑体" panose="02010609060101010101" pitchFamily="2" charset="-122"/>
              </a:rPr>
              <a:t>、</a:t>
            </a:r>
            <a:r>
              <a:rPr lang="en-US" altLang="zh-CN" b="1" dirty="0">
                <a:solidFill>
                  <a:srgbClr val="0000FF"/>
                </a:solidFill>
                <a:ea typeface="黑体" panose="02010609060101010101" pitchFamily="2" charset="-122"/>
              </a:rPr>
              <a:t>《</a:t>
            </a:r>
            <a:r>
              <a:rPr lang="zh-CN" altLang="en-US" b="1" dirty="0">
                <a:solidFill>
                  <a:srgbClr val="0000FF"/>
                </a:solidFill>
                <a:ea typeface="黑体" panose="02010609060101010101" pitchFamily="2" charset="-122"/>
              </a:rPr>
              <a:t>中国</a:t>
            </a:r>
            <a:r>
              <a:rPr lang="zh-CN" altLang="en-US" b="1" dirty="0" smtClean="0">
                <a:solidFill>
                  <a:srgbClr val="0000FF"/>
                </a:solidFill>
                <a:ea typeface="黑体" panose="02010609060101010101" pitchFamily="2" charset="-122"/>
              </a:rPr>
              <a:t>革命与中国共产党</a:t>
            </a:r>
            <a:r>
              <a:rPr lang="en-US" altLang="zh-CN" b="1" dirty="0">
                <a:solidFill>
                  <a:srgbClr val="0000FF"/>
                </a:solidFill>
                <a:ea typeface="黑体" panose="02010609060101010101" pitchFamily="2" charset="-122"/>
              </a:rPr>
              <a:t>》</a:t>
            </a:r>
            <a:r>
              <a:rPr lang="zh-CN" altLang="en-US" b="1" dirty="0">
                <a:solidFill>
                  <a:srgbClr val="0000FF"/>
                </a:solidFill>
                <a:ea typeface="黑体" panose="02010609060101010101" pitchFamily="2" charset="-122"/>
              </a:rPr>
              <a:t>等理论著作，进一步丰实和完善了以乡村为中心，走农村包围城市、武装夺取政权道路思想，系统地阑述了走这条革命新道路的必要性。</a:t>
            </a:r>
            <a:endParaRPr lang="en-US" altLang="zh-CN" b="1" dirty="0">
              <a:solidFill>
                <a:srgbClr val="0000FF"/>
              </a:solidFill>
              <a:ea typeface="黑体" panose="0201060906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35523">
                                            <p:bg/>
                                          </p:spTgt>
                                        </p:tgtEl>
                                        <p:attrNameLst>
                                          <p:attrName>style.visibility</p:attrName>
                                        </p:attrNameLst>
                                      </p:cBhvr>
                                      <p:to>
                                        <p:strVal val="visible"/>
                                      </p:to>
                                    </p:set>
                                    <p:animEffect transition="in" filter="diamond(in)">
                                      <p:cBhvr>
                                        <p:cTn id="7" dur="500"/>
                                        <p:tgtEl>
                                          <p:spTgt spid="235523">
                                            <p:bg/>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35523">
                                            <p:txEl>
                                              <p:pRg st="0" end="0"/>
                                            </p:txEl>
                                          </p:spTgt>
                                        </p:tgtEl>
                                        <p:attrNameLst>
                                          <p:attrName>style.visibility</p:attrName>
                                        </p:attrNameLst>
                                      </p:cBhvr>
                                      <p:to>
                                        <p:strVal val="visible"/>
                                      </p:to>
                                    </p:set>
                                    <p:animEffect transition="in" filter="diamond(in)">
                                      <p:cBhvr>
                                        <p:cTn id="12" dur="500"/>
                                        <p:tgtEl>
                                          <p:spTgt spid="2355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3" grpId="0" build="p"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p:cNvSpPr>
          <p:nvPr>
            <p:ph idx="4294967295"/>
          </p:nvPr>
        </p:nvSpPr>
        <p:spPr>
          <a:xfrm>
            <a:off x="611560" y="836712"/>
            <a:ext cx="5256213" cy="5516563"/>
          </a:xfrm>
          <a:prstGeom prst="rect">
            <a:avLst/>
          </a:prstGeom>
          <a:solidFill>
            <a:srgbClr val="FFFFFF"/>
          </a:solidFill>
          <a:ln>
            <a:solidFill>
              <a:srgbClr val="000000"/>
            </a:solidFill>
            <a:miter/>
          </a:ln>
        </p:spPr>
        <p:txBody>
          <a:bodyPr anchor="t">
            <a:normAutofit/>
          </a:bodyPr>
          <a:lstStyle/>
          <a:p>
            <a:pPr eaLnBrk="1" hangingPunct="1">
              <a:lnSpc>
                <a:spcPct val="115000"/>
              </a:lnSpc>
              <a:buNone/>
            </a:pPr>
            <a:r>
              <a:rPr lang="en-US" altLang="zh-CN" sz="2400" b="1" dirty="0">
                <a:solidFill>
                  <a:srgbClr val="0000FF"/>
                </a:solidFill>
                <a:ea typeface="黑体" panose="02010609060101010101" pitchFamily="2" charset="-122"/>
              </a:rPr>
              <a:t>          </a:t>
            </a:r>
            <a:r>
              <a:rPr lang="zh-CN" altLang="en-US" sz="2400" b="1" dirty="0">
                <a:solidFill>
                  <a:srgbClr val="FF0000"/>
                </a:solidFill>
                <a:latin typeface="隶书" pitchFamily="49" charset="-122"/>
                <a:ea typeface="隶书" pitchFamily="49" charset="-122"/>
              </a:rPr>
              <a:t>如果革命的队伍要准备积蓄和锻炼自己的力量，并避免在力量不够的时候和强大的敌人作决定胜负的战斗，那就必须把落后的农村造成先进的巩固的根据地，造成军事上、政治上、经济上、文化上的伟大的革命阵地，借以反对利用城市进攻农村区域的凶恶敌人，借以在长期战斗中逐步地争取革命的全部胜利。    </a:t>
            </a:r>
          </a:p>
          <a:p>
            <a:pPr eaLnBrk="1" hangingPunct="1">
              <a:lnSpc>
                <a:spcPct val="115000"/>
              </a:lnSpc>
              <a:buNone/>
            </a:pPr>
            <a:r>
              <a:rPr lang="zh-CN" altLang="en-US" sz="2400" b="1" dirty="0">
                <a:solidFill>
                  <a:srgbClr val="FF0000"/>
                </a:solidFill>
                <a:latin typeface="隶书" pitchFamily="49" charset="-122"/>
                <a:ea typeface="隶书" pitchFamily="49" charset="-122"/>
              </a:rPr>
              <a:t>       </a:t>
            </a:r>
            <a:r>
              <a:rPr lang="zh-CN" altLang="en-US" sz="2400" b="1" dirty="0" smtClean="0">
                <a:solidFill>
                  <a:srgbClr val="FF0000"/>
                </a:solidFill>
                <a:latin typeface="隶书" pitchFamily="49" charset="-122"/>
                <a:ea typeface="隶书" pitchFamily="49" charset="-122"/>
              </a:rPr>
              <a:t>在</a:t>
            </a:r>
            <a:r>
              <a:rPr lang="zh-CN" altLang="en-US" sz="2400" b="1" dirty="0">
                <a:solidFill>
                  <a:srgbClr val="FF0000"/>
                </a:solidFill>
                <a:latin typeface="隶书" pitchFamily="49" charset="-122"/>
                <a:ea typeface="隶书" pitchFamily="49" charset="-122"/>
              </a:rPr>
              <a:t>这种革命根据地上进行的长期的革命斗争，主要的是在中国共产党领导之下的农民游击战争 </a:t>
            </a:r>
          </a:p>
        </p:txBody>
      </p:sp>
      <p:pic>
        <p:nvPicPr>
          <p:cNvPr id="66562" name="Picture 3" descr="u=1201794214,4075648437&amp;fm=58"/>
          <p:cNvPicPr>
            <a:picLocks noChangeAspect="1"/>
          </p:cNvPicPr>
          <p:nvPr/>
        </p:nvPicPr>
        <p:blipFill>
          <a:blip r:embed="rId2" cstate="print"/>
          <a:stretch>
            <a:fillRect/>
          </a:stretch>
        </p:blipFill>
        <p:spPr>
          <a:xfrm>
            <a:off x="6156325" y="1196975"/>
            <a:ext cx="2665413" cy="4103688"/>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39618">
                                            <p:txEl>
                                              <p:pRg st="0" end="0"/>
                                            </p:txEl>
                                          </p:spTgt>
                                        </p:tgtEl>
                                        <p:attrNameLst>
                                          <p:attrName>style.visibility</p:attrName>
                                        </p:attrNameLst>
                                      </p:cBhvr>
                                      <p:to>
                                        <p:strVal val="visible"/>
                                      </p:to>
                                    </p:set>
                                    <p:animEffect transition="in" filter="diamond(in)">
                                      <p:cBhvr>
                                        <p:cTn id="7" dur="500"/>
                                        <p:tgtEl>
                                          <p:spTgt spid="2396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39618">
                                            <p:txEl>
                                              <p:pRg st="1" end="1"/>
                                            </p:txEl>
                                          </p:spTgt>
                                        </p:tgtEl>
                                        <p:attrNameLst>
                                          <p:attrName>style.visibility</p:attrName>
                                        </p:attrNameLst>
                                      </p:cBhvr>
                                      <p:to>
                                        <p:strVal val="visible"/>
                                      </p:to>
                                    </p:set>
                                    <p:animEffect transition="in" filter="diamond(in)">
                                      <p:cBhvr>
                                        <p:cTn id="12" dur="500"/>
                                        <p:tgtEl>
                                          <p:spTgt spid="2396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8"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p:cNvSpPr>
          <p:nvPr>
            <p:ph type="title" idx="4294967295"/>
          </p:nvPr>
        </p:nvSpPr>
        <p:spPr>
          <a:xfrm>
            <a:off x="179512" y="332656"/>
            <a:ext cx="8585200" cy="720725"/>
          </a:xfrm>
          <a:prstGeom prst="rect">
            <a:avLst/>
          </a:prstGeom>
          <a:solidFill>
            <a:srgbClr val="FFFFFF"/>
          </a:solidFill>
          <a:ln>
            <a:solidFill>
              <a:srgbClr val="FF0000"/>
            </a:solidFill>
            <a:miter/>
          </a:ln>
        </p:spPr>
        <p:txBody>
          <a:bodyPr anchor="t">
            <a:normAutofit/>
          </a:bodyPr>
          <a:lstStyle/>
          <a:p>
            <a:pPr algn="l"/>
            <a:r>
              <a:rPr lang="zh-CN" altLang="en-US" sz="3200" b="1" dirty="0">
                <a:solidFill>
                  <a:srgbClr val="FF0000"/>
                </a:solidFill>
                <a:latin typeface="+mj-ea"/>
              </a:rPr>
              <a:t>（二）农村包围城市革命道路的必然性</a:t>
            </a:r>
          </a:p>
        </p:txBody>
      </p:sp>
      <p:sp>
        <p:nvSpPr>
          <p:cNvPr id="2" name="矩形 1"/>
          <p:cNvSpPr/>
          <p:nvPr/>
        </p:nvSpPr>
        <p:spPr>
          <a:xfrm>
            <a:off x="905474" y="1412776"/>
            <a:ext cx="5682750" cy="566309"/>
          </a:xfrm>
          <a:prstGeom prst="rect">
            <a:avLst/>
          </a:prstGeom>
          <a:solidFill>
            <a:schemeClr val="bg1"/>
          </a:solidFill>
          <a:ln>
            <a:solidFill>
              <a:schemeClr val="accent1"/>
            </a:solidFill>
          </a:ln>
        </p:spPr>
        <p:txBody>
          <a:bodyPr wrap="square">
            <a:spAutoFit/>
          </a:bodyPr>
          <a:lstStyle/>
          <a:p>
            <a:pPr marL="342900" lvl="0" indent="-342900">
              <a:lnSpc>
                <a:spcPct val="110000"/>
              </a:lnSpc>
              <a:spcBef>
                <a:spcPct val="40000"/>
              </a:spcBef>
              <a:buClr>
                <a:srgbClr val="477AB1"/>
              </a:buClr>
              <a:buSzPct val="50000"/>
            </a:pPr>
            <a:r>
              <a:rPr lang="zh-CN" altLang="en-US" sz="2800" b="1" dirty="0">
                <a:latin typeface="黑体" pitchFamily="49" charset="-122"/>
                <a:ea typeface="黑体" pitchFamily="49" charset="-122"/>
              </a:rPr>
              <a:t>１、走农村包围城市道路的必要性</a:t>
            </a:r>
          </a:p>
        </p:txBody>
      </p:sp>
      <p:sp>
        <p:nvSpPr>
          <p:cNvPr id="5" name="矩形 4"/>
          <p:cNvSpPr/>
          <p:nvPr/>
        </p:nvSpPr>
        <p:spPr>
          <a:xfrm>
            <a:off x="1187624" y="2708920"/>
            <a:ext cx="1224136" cy="3970318"/>
          </a:xfrm>
          <a:prstGeom prst="rect">
            <a:avLst/>
          </a:prstGeom>
          <a:solidFill>
            <a:schemeClr val="bg1"/>
          </a:solidFill>
          <a:ln>
            <a:solidFill>
              <a:schemeClr val="accent1"/>
            </a:solidFill>
          </a:ln>
        </p:spPr>
        <p:txBody>
          <a:bodyPr wrap="square">
            <a:spAutoFit/>
          </a:bodyPr>
          <a:lstStyle/>
          <a:p>
            <a:r>
              <a:rPr lang="zh-CN" altLang="zh-CN" sz="2800" b="1" dirty="0" smtClean="0">
                <a:solidFill>
                  <a:srgbClr val="FF0000"/>
                </a:solidFill>
                <a:ea typeface="黑体" panose="02010609060101010101" pitchFamily="2" charset="-122"/>
              </a:rPr>
              <a:t>中国</a:t>
            </a:r>
            <a:r>
              <a:rPr lang="zh-CN" altLang="en-US" sz="2800" b="1" dirty="0" smtClean="0">
                <a:solidFill>
                  <a:srgbClr val="FF0000"/>
                </a:solidFill>
                <a:ea typeface="黑体" panose="02010609060101010101" pitchFamily="2" charset="-122"/>
              </a:rPr>
              <a:t>革命</a:t>
            </a:r>
            <a:r>
              <a:rPr lang="zh-CN" altLang="zh-CN" sz="2800" b="1" dirty="0" smtClean="0">
                <a:solidFill>
                  <a:srgbClr val="FF0000"/>
                </a:solidFill>
                <a:ea typeface="黑体" panose="02010609060101010101" pitchFamily="2" charset="-122"/>
              </a:rPr>
              <a:t>所</a:t>
            </a:r>
            <a:r>
              <a:rPr lang="zh-CN" altLang="zh-CN" sz="2800" b="1" dirty="0">
                <a:solidFill>
                  <a:srgbClr val="FF0000"/>
                </a:solidFill>
                <a:ea typeface="黑体" panose="02010609060101010101" pitchFamily="2" charset="-122"/>
              </a:rPr>
              <a:t>处的时代特点和具体国情决定</a:t>
            </a:r>
            <a:endParaRPr lang="zh-CN" altLang="en-US" dirty="0"/>
          </a:p>
        </p:txBody>
      </p:sp>
      <p:graphicFrame>
        <p:nvGraphicFramePr>
          <p:cNvPr id="6" name="表格 5"/>
          <p:cNvGraphicFramePr>
            <a:graphicFrameLocks noGrp="1"/>
          </p:cNvGraphicFramePr>
          <p:nvPr>
            <p:extLst>
              <p:ext uri="{D42A27DB-BD31-4B8C-83A1-F6EECF244321}">
                <p14:modId xmlns="" xmlns:p14="http://schemas.microsoft.com/office/powerpoint/2010/main" val="2495255677"/>
              </p:ext>
            </p:extLst>
          </p:nvPr>
        </p:nvGraphicFramePr>
        <p:xfrm>
          <a:off x="2555776" y="2636912"/>
          <a:ext cx="6096000" cy="3360447"/>
        </p:xfrm>
        <a:graphic>
          <a:graphicData uri="http://schemas.openxmlformats.org/drawingml/2006/table">
            <a:tbl>
              <a:tblPr firstRow="1" bandRow="1">
                <a:tableStyleId>{7DF18680-E054-41AD-8BC1-D1AEF772440D}</a:tableStyleId>
              </a:tblPr>
              <a:tblGrid>
                <a:gridCol w="6096000"/>
              </a:tblGrid>
              <a:tr h="12134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b="1" dirty="0" smtClean="0">
                          <a:solidFill>
                            <a:srgbClr val="0000FF"/>
                          </a:solidFill>
                          <a:ea typeface="黑体" panose="02010609060101010101" pitchFamily="2" charset="-122"/>
                        </a:rPr>
                        <a:t>       第一， 半殖民地半封建社会的性质决定中国革命的基本方式只能是武装斗争。</a:t>
                      </a:r>
                      <a:endParaRPr lang="zh-CN" altLang="en-US" sz="2400" dirty="0"/>
                    </a:p>
                  </a:txBody>
                  <a:tcPr>
                    <a:solidFill>
                      <a:schemeClr val="bg2"/>
                    </a:solidFill>
                  </a:tcPr>
                </a:tc>
              </a:tr>
              <a:tr h="933625">
                <a:tc>
                  <a:txBody>
                    <a:bodyPr/>
                    <a:lstStyle/>
                    <a:p>
                      <a:r>
                        <a:rPr kumimoji="0" lang="zh-CN" altLang="en-US" sz="2400" b="1" kern="1200" noProof="0" dirty="0" smtClean="0">
                          <a:solidFill>
                            <a:srgbClr val="0000FF"/>
                          </a:solidFill>
                          <a:latin typeface="+mn-lt"/>
                          <a:ea typeface="黑体" panose="02010609060101010101" pitchFamily="2" charset="-122"/>
                          <a:cs typeface="+mn-cs"/>
                        </a:rPr>
                        <a:t>        第二，近代中国农民占人口的绝大多数，农民是无产阶级可靠的同盟军。</a:t>
                      </a:r>
                      <a:endParaRPr kumimoji="0" lang="zh-CN" altLang="en-US" sz="2400" b="1" kern="1200" dirty="0">
                        <a:solidFill>
                          <a:srgbClr val="0000FF"/>
                        </a:solidFill>
                        <a:latin typeface="+mn-lt"/>
                        <a:ea typeface="黑体" panose="02010609060101010101" pitchFamily="2" charset="-122"/>
                        <a:cs typeface="+mn-cs"/>
                      </a:endParaRPr>
                    </a:p>
                  </a:txBody>
                  <a:tcPr>
                    <a:solidFill>
                      <a:srgbClr val="FFC000"/>
                    </a:solidFill>
                  </a:tcPr>
                </a:tc>
              </a:tr>
              <a:tr h="12134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zh-CN" altLang="en-US" sz="2400" b="1" kern="1200" dirty="0" smtClean="0">
                          <a:solidFill>
                            <a:srgbClr val="0000FF"/>
                          </a:solidFill>
                          <a:latin typeface="+mn-lt"/>
                          <a:ea typeface="黑体" panose="02010609060101010101" pitchFamily="2" charset="-122"/>
                          <a:cs typeface="+mn-cs"/>
                        </a:rPr>
                        <a:t>        第三，大革命失败后的形势及敌我力量的对比。</a:t>
                      </a:r>
                      <a:endParaRPr lang="zh-CN" altLang="en-US" dirty="0"/>
                    </a:p>
                  </a:txBody>
                  <a:tcPr>
                    <a:solidFill>
                      <a:schemeClr val="bg2"/>
                    </a:solidFill>
                  </a:tcPr>
                </a:tc>
              </a:tr>
            </a:tbl>
          </a:graphicData>
        </a:graphic>
      </p:graphicFrame>
    </p:spTree>
  </p:cSld>
  <p:clrMapOvr>
    <a:masterClrMapping/>
  </p:clrMapOvr>
  <p:transition>
    <p:wipe dir="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p:cNvSpPr>
          <p:nvPr>
            <p:ph type="title" idx="4294967295"/>
          </p:nvPr>
        </p:nvSpPr>
        <p:spPr>
          <a:xfrm>
            <a:off x="490538" y="476250"/>
            <a:ext cx="7969894" cy="671513"/>
          </a:xfrm>
          <a:prstGeom prst="rect">
            <a:avLst/>
          </a:prstGeom>
          <a:solidFill>
            <a:srgbClr val="FFFFFF"/>
          </a:solidFill>
          <a:ln>
            <a:solidFill>
              <a:srgbClr val="FF0000"/>
            </a:solidFill>
            <a:miter/>
          </a:ln>
        </p:spPr>
        <p:txBody>
          <a:bodyPr anchor="t">
            <a:normAutofit/>
          </a:bodyPr>
          <a:lstStyle/>
          <a:p>
            <a:pPr algn="l"/>
            <a:r>
              <a:rPr lang="zh-CN" altLang="en-US" sz="3200" b="1" dirty="0">
                <a:solidFill>
                  <a:srgbClr val="FF0000"/>
                </a:solidFill>
                <a:latin typeface="+mj-ea"/>
              </a:rPr>
              <a:t>（二）农村包围城市革命道路理论的必然性</a:t>
            </a:r>
          </a:p>
        </p:txBody>
      </p:sp>
      <p:sp>
        <p:nvSpPr>
          <p:cNvPr id="2" name="矩形 1"/>
          <p:cNvSpPr/>
          <p:nvPr/>
        </p:nvSpPr>
        <p:spPr>
          <a:xfrm>
            <a:off x="683568" y="1340768"/>
            <a:ext cx="6264696" cy="566309"/>
          </a:xfrm>
          <a:prstGeom prst="rect">
            <a:avLst/>
          </a:prstGeom>
          <a:solidFill>
            <a:schemeClr val="bg1"/>
          </a:solidFill>
          <a:ln>
            <a:solidFill>
              <a:schemeClr val="accent1"/>
            </a:solidFill>
          </a:ln>
        </p:spPr>
        <p:txBody>
          <a:bodyPr wrap="square">
            <a:spAutoFit/>
          </a:bodyPr>
          <a:lstStyle/>
          <a:p>
            <a:pPr marL="342900" lvl="0" indent="-342900">
              <a:lnSpc>
                <a:spcPct val="110000"/>
              </a:lnSpc>
              <a:spcBef>
                <a:spcPct val="40000"/>
              </a:spcBef>
              <a:buClr>
                <a:srgbClr val="477AB1"/>
              </a:buClr>
              <a:buSzPct val="50000"/>
            </a:pPr>
            <a:r>
              <a:rPr lang="zh-CN" altLang="en-US" sz="2800" b="1" dirty="0">
                <a:latin typeface="黑体" pitchFamily="49" charset="-122"/>
                <a:ea typeface="黑体" pitchFamily="49" charset="-122"/>
              </a:rPr>
              <a:t>２、走农村包围城市道路的现实可能性</a:t>
            </a:r>
          </a:p>
        </p:txBody>
      </p:sp>
      <p:sp>
        <p:nvSpPr>
          <p:cNvPr id="3" name="矩形 2"/>
          <p:cNvSpPr/>
          <p:nvPr/>
        </p:nvSpPr>
        <p:spPr>
          <a:xfrm>
            <a:off x="1711353" y="5788310"/>
            <a:ext cx="5400600" cy="86409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smtClean="0">
                <a:solidFill>
                  <a:srgbClr val="0000FF"/>
                </a:solidFill>
                <a:ea typeface="黑体" panose="02010609060101010101" pitchFamily="2" charset="-122"/>
              </a:rPr>
              <a:t>第五，共产党</a:t>
            </a:r>
            <a:r>
              <a:rPr lang="zh-CN" altLang="en-US" sz="2000" b="1" dirty="0">
                <a:solidFill>
                  <a:srgbClr val="0000FF"/>
                </a:solidFill>
                <a:ea typeface="黑体" panose="02010609060101010101" pitchFamily="2" charset="-122"/>
              </a:rPr>
              <a:t>组织的坚强有力和它的政策的不错误。</a:t>
            </a:r>
          </a:p>
        </p:txBody>
      </p:sp>
      <p:sp>
        <p:nvSpPr>
          <p:cNvPr id="6" name="矩形 5"/>
          <p:cNvSpPr/>
          <p:nvPr/>
        </p:nvSpPr>
        <p:spPr>
          <a:xfrm>
            <a:off x="1763688" y="1907077"/>
            <a:ext cx="5400600" cy="86409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smtClean="0">
                <a:solidFill>
                  <a:srgbClr val="0000FF"/>
                </a:solidFill>
                <a:ea typeface="黑体" panose="02010609060101010101" pitchFamily="2" charset="-122"/>
              </a:rPr>
              <a:t>第一，中</a:t>
            </a:r>
            <a:r>
              <a:rPr lang="zh-CN" altLang="en-US" sz="2000" b="1" dirty="0">
                <a:solidFill>
                  <a:srgbClr val="0000FF"/>
                </a:solidFill>
                <a:ea typeface="黑体" panose="02010609060101010101" pitchFamily="2" charset="-122"/>
              </a:rPr>
              <a:t>国是一个多帝国主义间接统治的经济落后的</a:t>
            </a:r>
            <a:r>
              <a:rPr lang="zh-CN" altLang="en-US" sz="2000" b="1" dirty="0" smtClean="0">
                <a:solidFill>
                  <a:srgbClr val="0000FF"/>
                </a:solidFill>
                <a:ea typeface="黑体" panose="02010609060101010101" pitchFamily="2" charset="-122"/>
              </a:rPr>
              <a:t>半殖民地大国，政治经济发展不平衡</a:t>
            </a:r>
            <a:endParaRPr lang="zh-CN" altLang="en-US" sz="2000" dirty="0">
              <a:solidFill>
                <a:schemeClr val="tx1"/>
              </a:solidFill>
              <a:latin typeface="+mj-ea"/>
              <a:ea typeface="+mj-ea"/>
            </a:endParaRPr>
          </a:p>
        </p:txBody>
      </p:sp>
      <p:sp>
        <p:nvSpPr>
          <p:cNvPr id="7" name="矩形 6"/>
          <p:cNvSpPr/>
          <p:nvPr/>
        </p:nvSpPr>
        <p:spPr>
          <a:xfrm>
            <a:off x="1763688" y="2890867"/>
            <a:ext cx="5400600" cy="86409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smtClean="0">
                <a:solidFill>
                  <a:srgbClr val="0000FF"/>
                </a:solidFill>
                <a:ea typeface="黑体" panose="02010609060101010101" pitchFamily="2" charset="-122"/>
              </a:rPr>
              <a:t>第二，良好</a:t>
            </a:r>
            <a:r>
              <a:rPr lang="zh-CN" altLang="en-US" sz="2000" b="1" dirty="0">
                <a:solidFill>
                  <a:srgbClr val="0000FF"/>
                </a:solidFill>
                <a:ea typeface="黑体" panose="02010609060101010101" pitchFamily="2" charset="-122"/>
              </a:rPr>
              <a:t>的群众基础</a:t>
            </a:r>
          </a:p>
        </p:txBody>
      </p:sp>
      <p:sp>
        <p:nvSpPr>
          <p:cNvPr id="8" name="矩形 7"/>
          <p:cNvSpPr/>
          <p:nvPr/>
        </p:nvSpPr>
        <p:spPr>
          <a:xfrm>
            <a:off x="1729001" y="3861048"/>
            <a:ext cx="5400600" cy="86409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10000"/>
              </a:lnSpc>
              <a:spcBef>
                <a:spcPct val="40000"/>
              </a:spcBef>
              <a:buClr>
                <a:srgbClr val="477AB1"/>
              </a:buClr>
              <a:buSzPct val="50000"/>
            </a:pPr>
            <a:r>
              <a:rPr lang="zh-CN" altLang="en-US" sz="2000" b="1" dirty="0" smtClean="0">
                <a:solidFill>
                  <a:srgbClr val="0000FF"/>
                </a:solidFill>
                <a:ea typeface="黑体" panose="02010609060101010101" pitchFamily="2" charset="-122"/>
              </a:rPr>
              <a:t>第三，中国</a:t>
            </a:r>
            <a:r>
              <a:rPr lang="zh-CN" altLang="en-US" sz="2000" b="1" dirty="0">
                <a:solidFill>
                  <a:srgbClr val="0000FF"/>
                </a:solidFill>
                <a:ea typeface="黑体" panose="02010609060101010101" pitchFamily="2" charset="-122"/>
              </a:rPr>
              <a:t>革命的形势继续向前发展</a:t>
            </a:r>
          </a:p>
        </p:txBody>
      </p:sp>
      <p:sp>
        <p:nvSpPr>
          <p:cNvPr id="9" name="矩形 8"/>
          <p:cNvSpPr/>
          <p:nvPr/>
        </p:nvSpPr>
        <p:spPr>
          <a:xfrm>
            <a:off x="1711353" y="4725144"/>
            <a:ext cx="5400600" cy="86409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smtClean="0">
                <a:solidFill>
                  <a:srgbClr val="0000FF"/>
                </a:solidFill>
                <a:ea typeface="黑体" panose="02010609060101010101" pitchFamily="2" charset="-122"/>
              </a:rPr>
              <a:t>第四，相当</a:t>
            </a:r>
            <a:r>
              <a:rPr lang="zh-CN" altLang="en-US" sz="2000" b="1" dirty="0">
                <a:solidFill>
                  <a:srgbClr val="0000FF"/>
                </a:solidFill>
                <a:ea typeface="黑体" panose="02010609060101010101" pitchFamily="2" charset="-122"/>
              </a:rPr>
              <a:t>力量的正式红军的存在</a:t>
            </a:r>
          </a:p>
        </p:txBody>
      </p:sp>
      <p:sp>
        <p:nvSpPr>
          <p:cNvPr id="10" name="矩形 9"/>
          <p:cNvSpPr/>
          <p:nvPr/>
        </p:nvSpPr>
        <p:spPr>
          <a:xfrm>
            <a:off x="179512" y="2248880"/>
            <a:ext cx="1224136" cy="3970318"/>
          </a:xfrm>
          <a:prstGeom prst="rect">
            <a:avLst/>
          </a:prstGeom>
          <a:solidFill>
            <a:schemeClr val="bg1"/>
          </a:solidFill>
          <a:ln>
            <a:solidFill>
              <a:schemeClr val="accent1"/>
            </a:solidFill>
          </a:ln>
        </p:spPr>
        <p:txBody>
          <a:bodyPr wrap="square">
            <a:spAutoFit/>
          </a:bodyPr>
          <a:lstStyle/>
          <a:p>
            <a:r>
              <a:rPr lang="zh-CN" altLang="zh-CN" sz="2800" b="1" dirty="0" smtClean="0">
                <a:solidFill>
                  <a:srgbClr val="FF0000"/>
                </a:solidFill>
                <a:ea typeface="黑体" panose="02010609060101010101" pitchFamily="2" charset="-122"/>
              </a:rPr>
              <a:t>中国</a:t>
            </a:r>
            <a:r>
              <a:rPr lang="zh-CN" altLang="en-US" sz="2800" b="1" dirty="0" smtClean="0">
                <a:solidFill>
                  <a:srgbClr val="FF0000"/>
                </a:solidFill>
                <a:ea typeface="黑体" panose="02010609060101010101" pitchFamily="2" charset="-122"/>
              </a:rPr>
              <a:t>革命</a:t>
            </a:r>
            <a:r>
              <a:rPr lang="zh-CN" altLang="zh-CN" sz="2800" b="1" dirty="0" smtClean="0">
                <a:solidFill>
                  <a:srgbClr val="FF0000"/>
                </a:solidFill>
                <a:ea typeface="黑体" panose="02010609060101010101" pitchFamily="2" charset="-122"/>
              </a:rPr>
              <a:t>所</a:t>
            </a:r>
            <a:r>
              <a:rPr lang="zh-CN" altLang="zh-CN" sz="2800" b="1" dirty="0">
                <a:solidFill>
                  <a:srgbClr val="FF0000"/>
                </a:solidFill>
                <a:ea typeface="黑体" panose="02010609060101010101" pitchFamily="2" charset="-122"/>
              </a:rPr>
              <a:t>处的时代特点</a:t>
            </a:r>
            <a:r>
              <a:rPr lang="zh-CN" altLang="zh-CN" sz="2800" b="1" dirty="0" smtClean="0">
                <a:solidFill>
                  <a:srgbClr val="FF0000"/>
                </a:solidFill>
                <a:ea typeface="黑体" panose="02010609060101010101" pitchFamily="2" charset="-122"/>
              </a:rPr>
              <a:t>和</a:t>
            </a:r>
            <a:r>
              <a:rPr lang="zh-CN" altLang="en-US" sz="2800" b="1" dirty="0" smtClean="0">
                <a:solidFill>
                  <a:srgbClr val="FF0000"/>
                </a:solidFill>
                <a:ea typeface="黑体" panose="02010609060101010101" pitchFamily="2" charset="-122"/>
              </a:rPr>
              <a:t>特殊</a:t>
            </a:r>
            <a:r>
              <a:rPr lang="zh-CN" altLang="zh-CN" sz="2800" b="1" dirty="0" smtClean="0">
                <a:solidFill>
                  <a:srgbClr val="FF0000"/>
                </a:solidFill>
                <a:ea typeface="黑体" panose="02010609060101010101" pitchFamily="2" charset="-122"/>
              </a:rPr>
              <a:t>国情</a:t>
            </a:r>
            <a:r>
              <a:rPr lang="zh-CN" altLang="zh-CN" sz="2800" b="1" dirty="0">
                <a:solidFill>
                  <a:srgbClr val="FF0000"/>
                </a:solidFill>
                <a:ea typeface="黑体" panose="02010609060101010101" pitchFamily="2" charset="-122"/>
              </a:rPr>
              <a:t>决定</a:t>
            </a:r>
            <a:endParaRPr lang="zh-CN" altLang="en-US" dirty="0"/>
          </a:p>
        </p:txBody>
      </p:sp>
      <p:sp>
        <p:nvSpPr>
          <p:cNvPr id="4" name="右大括号 3"/>
          <p:cNvSpPr/>
          <p:nvPr/>
        </p:nvSpPr>
        <p:spPr>
          <a:xfrm>
            <a:off x="7164288" y="2420888"/>
            <a:ext cx="360040" cy="1804054"/>
          </a:xfrm>
          <a:prstGeom prst="rightBrace">
            <a:avLst/>
          </a:prstGeom>
          <a:solidFill>
            <a:schemeClr val="accent6">
              <a:lumMod val="20000"/>
              <a:lumOff val="8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矩形 4"/>
          <p:cNvSpPr/>
          <p:nvPr/>
        </p:nvSpPr>
        <p:spPr>
          <a:xfrm>
            <a:off x="7638937" y="2788841"/>
            <a:ext cx="492443" cy="1105431"/>
          </a:xfrm>
          <a:prstGeom prst="rect">
            <a:avLst/>
          </a:prstGeom>
          <a:solidFill>
            <a:srgbClr val="00B050"/>
          </a:solidFill>
        </p:spPr>
        <p:txBody>
          <a:bodyPr vert="eaVert" wrap="none">
            <a:spAutoFit/>
          </a:bodyPr>
          <a:lstStyle/>
          <a:p>
            <a:r>
              <a:rPr lang="zh-CN" altLang="en-US" sz="2000" b="1" dirty="0" smtClean="0">
                <a:solidFill>
                  <a:schemeClr val="bg1"/>
                </a:solidFill>
                <a:ea typeface="黑体" panose="02010609060101010101" pitchFamily="2" charset="-122"/>
              </a:rPr>
              <a:t>客观条件</a:t>
            </a:r>
            <a:endParaRPr lang="zh-CN" altLang="en-US" dirty="0">
              <a:solidFill>
                <a:schemeClr val="bg1"/>
              </a:solidFill>
            </a:endParaRPr>
          </a:p>
        </p:txBody>
      </p:sp>
      <p:sp>
        <p:nvSpPr>
          <p:cNvPr id="14" name="右大括号 13"/>
          <p:cNvSpPr/>
          <p:nvPr/>
        </p:nvSpPr>
        <p:spPr>
          <a:xfrm>
            <a:off x="7187176" y="4687213"/>
            <a:ext cx="360040" cy="1804054"/>
          </a:xfrm>
          <a:prstGeom prst="rightBrace">
            <a:avLst/>
          </a:prstGeom>
          <a:solidFill>
            <a:schemeClr val="accent6">
              <a:lumMod val="20000"/>
              <a:lumOff val="8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矩形 14"/>
          <p:cNvSpPr/>
          <p:nvPr/>
        </p:nvSpPr>
        <p:spPr>
          <a:xfrm>
            <a:off x="7593075" y="5036524"/>
            <a:ext cx="492443" cy="1105431"/>
          </a:xfrm>
          <a:prstGeom prst="rect">
            <a:avLst/>
          </a:prstGeom>
          <a:solidFill>
            <a:srgbClr val="00B050"/>
          </a:solidFill>
        </p:spPr>
        <p:txBody>
          <a:bodyPr vert="eaVert" wrap="none">
            <a:spAutoFit/>
          </a:bodyPr>
          <a:lstStyle/>
          <a:p>
            <a:r>
              <a:rPr lang="zh-CN" altLang="en-US" sz="2000" b="1" dirty="0" smtClean="0">
                <a:solidFill>
                  <a:schemeClr val="bg1"/>
                </a:solidFill>
                <a:ea typeface="黑体" panose="02010609060101010101" pitchFamily="2" charset="-122"/>
              </a:rPr>
              <a:t>主观条件</a:t>
            </a:r>
            <a:endParaRPr lang="zh-CN" altLang="en-US" dirty="0">
              <a:solidFill>
                <a:schemeClr val="bg1"/>
              </a:solidFill>
            </a:endParaRPr>
          </a:p>
        </p:txBody>
      </p:sp>
    </p:spTree>
  </p:cSld>
  <p:clrMapOvr>
    <a:masterClrMapping/>
  </p:clrMapOvr>
  <p:transition>
    <p:wipe dir="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p:cNvSpPr>
          <p:nvPr>
            <p:ph type="title"/>
          </p:nvPr>
        </p:nvSpPr>
        <p:spPr>
          <a:xfrm>
            <a:off x="107504" y="404664"/>
            <a:ext cx="8579296" cy="778098"/>
          </a:xfrm>
          <a:solidFill>
            <a:srgbClr val="FFFFFF"/>
          </a:solidFill>
          <a:ln>
            <a:solidFill>
              <a:srgbClr val="FF0000"/>
            </a:solidFill>
            <a:miter/>
          </a:ln>
        </p:spPr>
        <p:txBody>
          <a:bodyPr anchor="t">
            <a:normAutofit/>
          </a:bodyPr>
          <a:lstStyle/>
          <a:p>
            <a:pPr algn="l" eaLnBrk="1" hangingPunct="1"/>
            <a:r>
              <a:rPr lang="zh-CN" altLang="en-US" sz="3200" b="1" dirty="0">
                <a:solidFill>
                  <a:srgbClr val="FF0000"/>
                </a:solidFill>
                <a:latin typeface="+mj-ea"/>
              </a:rPr>
              <a:t>（三）农村包围城市武装夺取政权道路的内容</a:t>
            </a:r>
          </a:p>
        </p:txBody>
      </p:sp>
      <p:sp>
        <p:nvSpPr>
          <p:cNvPr id="216067" name="Rectangle 3"/>
          <p:cNvSpPr>
            <a:spLocks noGrp="1"/>
          </p:cNvSpPr>
          <p:nvPr>
            <p:ph sz="half" idx="1"/>
          </p:nvPr>
        </p:nvSpPr>
        <p:spPr>
          <a:xfrm>
            <a:off x="652463" y="1851025"/>
            <a:ext cx="2479377" cy="3738215"/>
          </a:xfrm>
          <a:solidFill>
            <a:srgbClr val="FFFFFF"/>
          </a:solidFill>
          <a:ln>
            <a:solidFill>
              <a:srgbClr val="FF0000"/>
            </a:solidFill>
            <a:miter/>
          </a:ln>
        </p:spPr>
        <p:txBody>
          <a:bodyPr anchor="t">
            <a:noAutofit/>
          </a:bodyPr>
          <a:lstStyle/>
          <a:p>
            <a:pPr marL="0" indent="0" eaLnBrk="1" hangingPunct="1">
              <a:lnSpc>
                <a:spcPct val="120000"/>
              </a:lnSpc>
              <a:buNone/>
            </a:pPr>
            <a:r>
              <a:rPr lang="zh-CN" altLang="en-US" b="1" kern="1200" dirty="0">
                <a:solidFill>
                  <a:srgbClr val="0000FF"/>
                </a:solidFill>
                <a:latin typeface="+mn-lt"/>
                <a:ea typeface="黑体" panose="02010609060101010101" pitchFamily="2" charset="-122"/>
                <a:cs typeface="+mn-cs"/>
              </a:rPr>
              <a:t>必须正确处理土地革命、武装斗争、根据地建设三者之间的</a:t>
            </a:r>
            <a:r>
              <a:rPr lang="zh-CN" altLang="en-US" b="1" kern="1200" dirty="0" smtClean="0">
                <a:solidFill>
                  <a:srgbClr val="0000FF"/>
                </a:solidFill>
                <a:latin typeface="+mn-lt"/>
                <a:ea typeface="黑体" panose="02010609060101010101" pitchFamily="2" charset="-122"/>
                <a:cs typeface="+mn-cs"/>
              </a:rPr>
              <a:t>关系</a:t>
            </a:r>
            <a:endParaRPr lang="en-US" altLang="zh-CN" b="1" kern="1200" dirty="0" smtClean="0">
              <a:solidFill>
                <a:srgbClr val="0000FF"/>
              </a:solidFill>
              <a:latin typeface="+mn-lt"/>
              <a:ea typeface="黑体" panose="02010609060101010101" pitchFamily="2" charset="-122"/>
              <a:cs typeface="+mn-cs"/>
            </a:endParaRPr>
          </a:p>
          <a:p>
            <a:pPr marL="0" indent="0" eaLnBrk="1" hangingPunct="1">
              <a:lnSpc>
                <a:spcPct val="120000"/>
              </a:lnSpc>
              <a:buNone/>
            </a:pPr>
            <a:r>
              <a:rPr lang="zh-CN" altLang="en-US" b="1" kern="1200" dirty="0" smtClean="0">
                <a:solidFill>
                  <a:srgbClr val="FF0000"/>
                </a:solidFill>
                <a:ea typeface="黑体" panose="02010609060101010101" pitchFamily="2" charset="-122"/>
              </a:rPr>
              <a:t>“工农武装割据”</a:t>
            </a:r>
            <a:endParaRPr lang="zh-CN" altLang="en-US" b="1" kern="1200" dirty="0">
              <a:solidFill>
                <a:srgbClr val="FF0000"/>
              </a:solidFill>
              <a:latin typeface="+mn-lt"/>
              <a:ea typeface="黑体" panose="02010609060101010101" pitchFamily="2" charset="-122"/>
              <a:cs typeface="+mn-cs"/>
            </a:endParaRPr>
          </a:p>
          <a:p>
            <a:pPr eaLnBrk="1" hangingPunct="1">
              <a:lnSpc>
                <a:spcPct val="120000"/>
              </a:lnSpc>
              <a:spcBef>
                <a:spcPct val="45000"/>
              </a:spcBef>
              <a:buNone/>
            </a:pPr>
            <a:r>
              <a:rPr lang="zh-CN" altLang="en-US" kern="1200" dirty="0">
                <a:latin typeface="+mn-lt"/>
                <a:ea typeface="+mn-ea"/>
                <a:cs typeface="+mn-cs"/>
              </a:rPr>
              <a:t>　　　　</a:t>
            </a:r>
          </a:p>
        </p:txBody>
      </p:sp>
      <p:sp>
        <p:nvSpPr>
          <p:cNvPr id="216068" name="Rectangle 4"/>
          <p:cNvSpPr>
            <a:spLocks noGrp="1"/>
          </p:cNvSpPr>
          <p:nvPr>
            <p:ph sz="half" idx="2"/>
          </p:nvPr>
        </p:nvSpPr>
        <p:spPr>
          <a:xfrm>
            <a:off x="3449486" y="1772816"/>
            <a:ext cx="4575204" cy="1224136"/>
          </a:xfrm>
          <a:solidFill>
            <a:srgbClr val="FFFFFF"/>
          </a:solidFill>
          <a:ln>
            <a:solidFill>
              <a:srgbClr val="FF0000"/>
            </a:solidFill>
            <a:miter/>
          </a:ln>
        </p:spPr>
        <p:txBody>
          <a:bodyPr anchor="t">
            <a:normAutofit/>
          </a:bodyPr>
          <a:lstStyle/>
          <a:p>
            <a:pPr eaLnBrk="1" hangingPunct="1">
              <a:lnSpc>
                <a:spcPct val="90000"/>
              </a:lnSpc>
            </a:pPr>
            <a:r>
              <a:rPr lang="zh-CN" altLang="en-US" sz="2400" b="1" kern="1200" dirty="0">
                <a:solidFill>
                  <a:srgbClr val="FF0000"/>
                </a:solidFill>
                <a:latin typeface="+mn-lt"/>
                <a:ea typeface="黑体" panose="02010609060101010101" pitchFamily="2" charset="-122"/>
                <a:cs typeface="+mn-cs"/>
              </a:rPr>
              <a:t>土地革命</a:t>
            </a:r>
            <a:r>
              <a:rPr lang="zh-CN" altLang="en-US" sz="2400" b="1" kern="1200" dirty="0">
                <a:solidFill>
                  <a:srgbClr val="0000FF"/>
                </a:solidFill>
                <a:latin typeface="+mn-lt"/>
                <a:ea typeface="黑体" panose="02010609060101010101" pitchFamily="2" charset="-122"/>
                <a:cs typeface="+mn-cs"/>
              </a:rPr>
              <a:t>是中国民主革命的</a:t>
            </a:r>
            <a:r>
              <a:rPr lang="zh-CN" altLang="en-US" sz="2400" b="1" kern="1200" dirty="0">
                <a:solidFill>
                  <a:srgbClr val="00B050"/>
                </a:solidFill>
                <a:latin typeface="+mn-lt"/>
                <a:ea typeface="黑体" panose="02010609060101010101" pitchFamily="2" charset="-122"/>
                <a:cs typeface="+mn-cs"/>
              </a:rPr>
              <a:t>中心内容</a:t>
            </a:r>
            <a:r>
              <a:rPr lang="zh-CN" altLang="en-US" sz="2400" b="1" kern="1200" dirty="0">
                <a:solidFill>
                  <a:srgbClr val="0000FF"/>
                </a:solidFill>
                <a:latin typeface="+mn-lt"/>
                <a:ea typeface="黑体" panose="02010609060101010101" pitchFamily="2" charset="-122"/>
                <a:cs typeface="+mn-cs"/>
              </a:rPr>
              <a:t>，也是武装斗争和根据地建设的</a:t>
            </a:r>
            <a:r>
              <a:rPr lang="zh-CN" altLang="en-US" sz="2400" b="1" kern="1200" dirty="0">
                <a:solidFill>
                  <a:srgbClr val="00B050"/>
                </a:solidFill>
                <a:latin typeface="+mn-lt"/>
                <a:ea typeface="黑体" panose="02010609060101010101" pitchFamily="2" charset="-122"/>
                <a:cs typeface="+mn-cs"/>
              </a:rPr>
              <a:t>基础</a:t>
            </a:r>
            <a:r>
              <a:rPr lang="zh-CN" altLang="en-US" sz="2400" b="1" kern="1200" dirty="0" smtClean="0">
                <a:solidFill>
                  <a:srgbClr val="0000FF"/>
                </a:solidFill>
                <a:latin typeface="+mn-lt"/>
                <a:ea typeface="黑体" panose="02010609060101010101" pitchFamily="2" charset="-122"/>
                <a:cs typeface="+mn-cs"/>
              </a:rPr>
              <a:t>。</a:t>
            </a:r>
            <a:endParaRPr lang="zh-CN" altLang="en-US" sz="2400" b="1" kern="1200" dirty="0">
              <a:solidFill>
                <a:srgbClr val="0000FF"/>
              </a:solidFill>
              <a:latin typeface="+mn-lt"/>
              <a:ea typeface="黑体" panose="02010609060101010101" pitchFamily="2" charset="-122"/>
              <a:cs typeface="+mn-cs"/>
            </a:endParaRPr>
          </a:p>
        </p:txBody>
      </p:sp>
      <p:sp>
        <p:nvSpPr>
          <p:cNvPr id="5" name="Rectangle 4"/>
          <p:cNvSpPr txBox="1">
            <a:spLocks/>
          </p:cNvSpPr>
          <p:nvPr/>
        </p:nvSpPr>
        <p:spPr>
          <a:xfrm>
            <a:off x="3428797" y="3140968"/>
            <a:ext cx="4575204" cy="1152128"/>
          </a:xfrm>
          <a:prstGeom prst="rect">
            <a:avLst/>
          </a:prstGeom>
          <a:solidFill>
            <a:srgbClr val="FFFFFF"/>
          </a:solidFill>
          <a:ln>
            <a:solidFill>
              <a:srgbClr val="FF0000"/>
            </a:solidFill>
            <a:miter/>
          </a:ln>
        </p:spPr>
        <p:txBody>
          <a:bodyPr vert="horz" rtlCol="0" anchor="t">
            <a:normAutofit/>
          </a:bodyPr>
          <a:lstStyle>
            <a:lvl1pPr marL="342900" indent="-342900" algn="l" rtl="0" eaLnBrk="1" latinLnBrk="0" hangingPunct="1">
              <a:spcBef>
                <a:spcPct val="20000"/>
              </a:spcBef>
              <a:buClr>
                <a:schemeClr val="accent1"/>
              </a:buClr>
              <a:buSzPct val="50000"/>
              <a:buFont typeface="Wingdings 2"/>
              <a:buChar char=""/>
              <a:defRPr kumimoji="0" sz="28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4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0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18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18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18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18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18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1800" kern="1200">
                <a:solidFill>
                  <a:schemeClr val="tx1"/>
                </a:solidFill>
                <a:latin typeface="+mn-lt"/>
                <a:ea typeface="+mn-ea"/>
                <a:cs typeface="+mn-cs"/>
              </a:defRPr>
            </a:lvl9pPr>
          </a:lstStyle>
          <a:p>
            <a:pPr>
              <a:lnSpc>
                <a:spcPct val="90000"/>
              </a:lnSpc>
            </a:pPr>
            <a:r>
              <a:rPr lang="zh-CN" altLang="en-US" sz="2400" b="1" dirty="0" smtClean="0">
                <a:solidFill>
                  <a:srgbClr val="FF0000"/>
                </a:solidFill>
                <a:ea typeface="黑体" panose="02010609060101010101" pitchFamily="2" charset="-122"/>
              </a:rPr>
              <a:t>农村革命根据地</a:t>
            </a:r>
            <a:r>
              <a:rPr lang="zh-CN" altLang="en-US" sz="2400" b="1" dirty="0" smtClean="0">
                <a:solidFill>
                  <a:srgbClr val="0000FF"/>
                </a:solidFill>
                <a:ea typeface="黑体" panose="02010609060101010101" pitchFamily="2" charset="-122"/>
              </a:rPr>
              <a:t>是中国民主革命的</a:t>
            </a:r>
            <a:r>
              <a:rPr lang="zh-CN" altLang="en-US" sz="2400" b="1" dirty="0" smtClean="0">
                <a:solidFill>
                  <a:srgbClr val="00B050"/>
                </a:solidFill>
                <a:ea typeface="黑体" panose="02010609060101010101" pitchFamily="2" charset="-122"/>
              </a:rPr>
              <a:t>战略基地</a:t>
            </a:r>
            <a:r>
              <a:rPr lang="zh-CN" altLang="en-US" sz="2400" b="1" dirty="0" smtClean="0">
                <a:solidFill>
                  <a:srgbClr val="0000FF"/>
                </a:solidFill>
                <a:ea typeface="黑体" panose="02010609060101010101" pitchFamily="2" charset="-122"/>
              </a:rPr>
              <a:t>，是进行武装斗争和实行土地革命的</a:t>
            </a:r>
            <a:r>
              <a:rPr lang="zh-CN" altLang="en-US" sz="2400" b="1" dirty="0" smtClean="0">
                <a:solidFill>
                  <a:srgbClr val="00B050"/>
                </a:solidFill>
                <a:ea typeface="黑体" panose="02010609060101010101" pitchFamily="2" charset="-122"/>
              </a:rPr>
              <a:t>依托。</a:t>
            </a:r>
            <a:endParaRPr lang="zh-CN" altLang="en-US" sz="2400" b="1" dirty="0">
              <a:solidFill>
                <a:srgbClr val="00B050"/>
              </a:solidFill>
              <a:ea typeface="黑体" panose="02010609060101010101" pitchFamily="2" charset="-122"/>
            </a:endParaRPr>
          </a:p>
        </p:txBody>
      </p:sp>
      <p:sp>
        <p:nvSpPr>
          <p:cNvPr id="6" name="Rectangle 4"/>
          <p:cNvSpPr txBox="1">
            <a:spLocks/>
          </p:cNvSpPr>
          <p:nvPr/>
        </p:nvSpPr>
        <p:spPr>
          <a:xfrm>
            <a:off x="3450298" y="4581128"/>
            <a:ext cx="4575204" cy="1224136"/>
          </a:xfrm>
          <a:prstGeom prst="rect">
            <a:avLst/>
          </a:prstGeom>
          <a:solidFill>
            <a:srgbClr val="FFFFFF"/>
          </a:solidFill>
          <a:ln>
            <a:solidFill>
              <a:srgbClr val="FF0000"/>
            </a:solidFill>
            <a:miter/>
          </a:ln>
        </p:spPr>
        <p:txBody>
          <a:bodyPr vert="horz" rtlCol="0" anchor="t">
            <a:normAutofit/>
          </a:bodyPr>
          <a:lstStyle>
            <a:lvl1pPr marL="342900" indent="-342900" algn="l" rtl="0" eaLnBrk="1" latinLnBrk="0" hangingPunct="1">
              <a:spcBef>
                <a:spcPct val="20000"/>
              </a:spcBef>
              <a:buClr>
                <a:schemeClr val="accent1"/>
              </a:buClr>
              <a:buSzPct val="50000"/>
              <a:buFont typeface="Wingdings 2"/>
              <a:buChar char=""/>
              <a:defRPr kumimoji="0" sz="28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4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0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18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18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18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18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18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1800" kern="1200">
                <a:solidFill>
                  <a:schemeClr val="tx1"/>
                </a:solidFill>
                <a:latin typeface="+mn-lt"/>
                <a:ea typeface="+mn-ea"/>
                <a:cs typeface="+mn-cs"/>
              </a:defRPr>
            </a:lvl9pPr>
          </a:lstStyle>
          <a:p>
            <a:pPr>
              <a:lnSpc>
                <a:spcPct val="90000"/>
              </a:lnSpc>
            </a:pPr>
            <a:r>
              <a:rPr lang="zh-CN" altLang="en-US" sz="2400" b="1" dirty="0" smtClean="0">
                <a:solidFill>
                  <a:srgbClr val="FF0000"/>
                </a:solidFill>
                <a:ea typeface="黑体" panose="02010609060101010101" pitchFamily="2" charset="-122"/>
              </a:rPr>
              <a:t>武装斗争</a:t>
            </a:r>
            <a:r>
              <a:rPr lang="zh-CN" altLang="en-US" sz="2400" b="1" dirty="0" smtClean="0">
                <a:solidFill>
                  <a:srgbClr val="0000FF"/>
                </a:solidFill>
                <a:ea typeface="黑体" panose="02010609060101010101" pitchFamily="2" charset="-122"/>
              </a:rPr>
              <a:t>是中国革命的</a:t>
            </a:r>
            <a:r>
              <a:rPr lang="zh-CN" altLang="en-US" sz="2400" b="1" dirty="0" smtClean="0">
                <a:solidFill>
                  <a:srgbClr val="00B050"/>
                </a:solidFill>
                <a:ea typeface="黑体" panose="02010609060101010101" pitchFamily="2" charset="-122"/>
              </a:rPr>
              <a:t>主要形式</a:t>
            </a:r>
            <a:r>
              <a:rPr lang="zh-CN" altLang="en-US" sz="2400" b="1" dirty="0" smtClean="0">
                <a:solidFill>
                  <a:srgbClr val="0000FF"/>
                </a:solidFill>
                <a:ea typeface="黑体" panose="02010609060101010101" pitchFamily="2" charset="-122"/>
              </a:rPr>
              <a:t>，也是土地革命和根据地建设的有力</a:t>
            </a:r>
            <a:r>
              <a:rPr lang="zh-CN" altLang="en-US" sz="2400" b="1" dirty="0" smtClean="0">
                <a:solidFill>
                  <a:srgbClr val="00B050"/>
                </a:solidFill>
                <a:ea typeface="黑体" panose="02010609060101010101" pitchFamily="2" charset="-122"/>
              </a:rPr>
              <a:t>保障</a:t>
            </a:r>
            <a:r>
              <a:rPr lang="zh-CN" altLang="en-US" sz="2400" b="1" dirty="0" smtClean="0">
                <a:solidFill>
                  <a:srgbClr val="0000FF"/>
                </a:solidFill>
                <a:ea typeface="黑体" panose="02010609060101010101" pitchFamily="2" charset="-122"/>
              </a:rPr>
              <a:t>。</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6066"/>
                                        </p:tgtEl>
                                        <p:attrNameLst>
                                          <p:attrName>style.visibility</p:attrName>
                                        </p:attrNameLst>
                                      </p:cBhvr>
                                      <p:to>
                                        <p:strVal val="visible"/>
                                      </p:to>
                                    </p:set>
                                    <p:animEffect transition="in" filter="wipe(left)">
                                      <p:cBhvr>
                                        <p:cTn id="7" dur="500"/>
                                        <p:tgtEl>
                                          <p:spTgt spid="21606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16067">
                                            <p:txEl>
                                              <p:pRg st="0" end="0"/>
                                            </p:txEl>
                                          </p:spTgt>
                                        </p:tgtEl>
                                        <p:attrNameLst>
                                          <p:attrName>style.visibility</p:attrName>
                                        </p:attrNameLst>
                                      </p:cBhvr>
                                      <p:to>
                                        <p:strVal val="visible"/>
                                      </p:to>
                                    </p:set>
                                    <p:animEffect transition="in" filter="diamond(in)">
                                      <p:cBhvr>
                                        <p:cTn id="12" dur="500"/>
                                        <p:tgtEl>
                                          <p:spTgt spid="2160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16067">
                                            <p:txEl>
                                              <p:pRg st="1" end="1"/>
                                            </p:txEl>
                                          </p:spTgt>
                                        </p:tgtEl>
                                        <p:attrNameLst>
                                          <p:attrName>style.visibility</p:attrName>
                                        </p:attrNameLst>
                                      </p:cBhvr>
                                      <p:to>
                                        <p:strVal val="visible"/>
                                      </p:to>
                                    </p:set>
                                    <p:animEffect transition="in" filter="diamond(in)">
                                      <p:cBhvr>
                                        <p:cTn id="17" dur="500"/>
                                        <p:tgtEl>
                                          <p:spTgt spid="21606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16067">
                                            <p:txEl>
                                              <p:pRg st="2" end="2"/>
                                            </p:txEl>
                                          </p:spTgt>
                                        </p:tgtEl>
                                        <p:attrNameLst>
                                          <p:attrName>style.visibility</p:attrName>
                                        </p:attrNameLst>
                                      </p:cBhvr>
                                      <p:to>
                                        <p:strVal val="visible"/>
                                      </p:to>
                                    </p:set>
                                    <p:animEffect transition="in" filter="diamond(in)">
                                      <p:cBhvr>
                                        <p:cTn id="22" dur="500"/>
                                        <p:tgtEl>
                                          <p:spTgt spid="216067">
                                            <p:txEl>
                                              <p:pRg st="2" end="2"/>
                                            </p:txEl>
                                          </p:spTgt>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216068">
                                            <p:txEl>
                                              <p:pRg st="0" end="0"/>
                                            </p:txEl>
                                          </p:spTgt>
                                        </p:tgtEl>
                                        <p:attrNameLst>
                                          <p:attrName>style.visibility</p:attrName>
                                        </p:attrNameLst>
                                      </p:cBhvr>
                                      <p:to>
                                        <p:strVal val="visible"/>
                                      </p:to>
                                    </p:set>
                                    <p:animEffect transition="in" filter="dissolve">
                                      <p:cBhvr>
                                        <p:cTn id="26" dur="500"/>
                                        <p:tgtEl>
                                          <p:spTgt spid="216068">
                                            <p:txEl>
                                              <p:pRg st="0" end="0"/>
                                            </p:txEl>
                                          </p:spTgt>
                                        </p:tgtEl>
                                      </p:cBhvr>
                                    </p:animEffect>
                                  </p:childTnLst>
                                </p:cTn>
                              </p:par>
                            </p:childTnLst>
                          </p:cTn>
                        </p:par>
                        <p:par>
                          <p:cTn id="27" fill="hold">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Effect transition="in" filter="dissolve">
                                      <p:cBhvr>
                                        <p:cTn id="30" dur="500"/>
                                        <p:tgtEl>
                                          <p:spTgt spid="5">
                                            <p:txEl>
                                              <p:pRg st="0" end="0"/>
                                            </p:txEl>
                                          </p:spTgt>
                                        </p:tgtEl>
                                      </p:cBhvr>
                                    </p:animEffect>
                                  </p:childTnLst>
                                </p:cTn>
                              </p:par>
                            </p:childTnLst>
                          </p:cTn>
                        </p:par>
                        <p:par>
                          <p:cTn id="31" fill="hold">
                            <p:stCondLst>
                              <p:cond delay="1500"/>
                            </p:stCondLst>
                            <p:childTnLst>
                              <p:par>
                                <p:cTn id="32" presetID="9" presetClass="entr" presetSubtype="0" fill="hold" grpId="0" nodeType="afterEffect">
                                  <p:stCondLst>
                                    <p:cond delay="0"/>
                                  </p:stCondLst>
                                  <p:childTnLst>
                                    <p:set>
                                      <p:cBhvr>
                                        <p:cTn id="33" dur="1" fill="hold">
                                          <p:stCondLst>
                                            <p:cond delay="0"/>
                                          </p:stCondLst>
                                        </p:cTn>
                                        <p:tgtEl>
                                          <p:spTgt spid="6">
                                            <p:txEl>
                                              <p:pRg st="0" end="0"/>
                                            </p:txEl>
                                          </p:spTgt>
                                        </p:tgtEl>
                                        <p:attrNameLst>
                                          <p:attrName>style.visibility</p:attrName>
                                        </p:attrNameLst>
                                      </p:cBhvr>
                                      <p:to>
                                        <p:strVal val="visible"/>
                                      </p:to>
                                    </p:set>
                                    <p:animEffect transition="in" filter="dissolve">
                                      <p:cBhvr>
                                        <p:cTn id="34"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6" grpId="0" bldLvl="0" animBg="1"/>
      <p:bldP spid="216067" grpId="0" build="p"/>
      <p:bldP spid="216068" grpId="0" build="p"/>
      <p:bldP spid="5" grpId="0" build="p"/>
      <p:bldP spid="6"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5" name="图片 1" descr="132"/>
          <p:cNvPicPr>
            <a:picLocks noChangeAspect="1"/>
          </p:cNvPicPr>
          <p:nvPr/>
        </p:nvPicPr>
        <p:blipFill>
          <a:blip r:embed="rId2" cstate="print"/>
          <a:stretch>
            <a:fillRect/>
          </a:stretch>
        </p:blipFill>
        <p:spPr>
          <a:xfrm>
            <a:off x="-457200" y="-342900"/>
            <a:ext cx="10058400" cy="7543800"/>
          </a:xfrm>
          <a:prstGeom prst="rect">
            <a:avLst/>
          </a:prstGeom>
          <a:noFill/>
          <a:ln w="9525">
            <a:noFill/>
          </a:ln>
        </p:spPr>
      </p:pic>
    </p:spTree>
  </p:cSld>
  <p:clrMapOvr>
    <a:masterClrMapping/>
  </p:clrMapOvr>
  <p:transition>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p:cNvSpPr>
          <p:nvPr>
            <p:ph type="title"/>
          </p:nvPr>
        </p:nvSpPr>
        <p:spPr>
          <a:solidFill>
            <a:srgbClr val="FFFFFF"/>
          </a:solidFill>
          <a:ln>
            <a:solidFill>
              <a:srgbClr val="FF0000"/>
            </a:solidFill>
            <a:miter/>
          </a:ln>
        </p:spPr>
        <p:txBody>
          <a:bodyPr anchor="t"/>
          <a:lstStyle/>
          <a:p>
            <a:pPr algn="l" eaLnBrk="1" hangingPunct="1"/>
            <a:r>
              <a:rPr lang="zh-CN" altLang="en-US" sz="3200" b="1" dirty="0">
                <a:solidFill>
                  <a:srgbClr val="FF0000"/>
                </a:solidFill>
                <a:latin typeface="+mj-ea"/>
              </a:rPr>
              <a:t>（四）走农村包围城市、武装夺取政权道路的意义</a:t>
            </a:r>
          </a:p>
        </p:txBody>
      </p:sp>
      <p:sp>
        <p:nvSpPr>
          <p:cNvPr id="288772" name="Rectangle 4"/>
          <p:cNvSpPr>
            <a:spLocks noGrp="1"/>
          </p:cNvSpPr>
          <p:nvPr>
            <p:ph sz="half" idx="1"/>
          </p:nvPr>
        </p:nvSpPr>
        <p:spPr>
          <a:xfrm>
            <a:off x="467544" y="1988840"/>
            <a:ext cx="8568952" cy="1296144"/>
          </a:xfrm>
          <a:solidFill>
            <a:srgbClr val="FFFFFF"/>
          </a:solidFill>
          <a:ln>
            <a:solidFill>
              <a:srgbClr val="FF0000"/>
            </a:solidFill>
            <a:miter/>
          </a:ln>
        </p:spPr>
        <p:txBody>
          <a:bodyPr anchor="t"/>
          <a:lstStyle/>
          <a:p>
            <a:pPr eaLnBrk="1" hangingPunct="1">
              <a:lnSpc>
                <a:spcPct val="90000"/>
              </a:lnSpc>
              <a:buNone/>
            </a:pPr>
            <a:r>
              <a:rPr lang="en-US" altLang="zh-CN" b="1" kern="1200" dirty="0">
                <a:solidFill>
                  <a:srgbClr val="0000FF"/>
                </a:solidFill>
                <a:latin typeface="+mn-lt"/>
                <a:ea typeface="黑体" panose="02010609060101010101" pitchFamily="2" charset="-122"/>
                <a:cs typeface="+mn-cs"/>
              </a:rPr>
              <a:t>1</a:t>
            </a:r>
            <a:r>
              <a:rPr lang="zh-CN" altLang="en-US" b="1" kern="1200" dirty="0">
                <a:solidFill>
                  <a:srgbClr val="0000FF"/>
                </a:solidFill>
                <a:latin typeface="+mn-lt"/>
                <a:ea typeface="黑体" panose="02010609060101010101" pitchFamily="2" charset="-122"/>
                <a:cs typeface="+mn-cs"/>
              </a:rPr>
              <a:t>、中国革命新道路的理论，反映了半殖民地半封建社会民主革命发展的客观规律，为中国革命指明了正确方向</a:t>
            </a:r>
            <a:r>
              <a:rPr lang="zh-CN" altLang="en-US" b="1" kern="1200" dirty="0" smtClean="0">
                <a:solidFill>
                  <a:srgbClr val="0000FF"/>
                </a:solidFill>
                <a:latin typeface="+mn-lt"/>
                <a:ea typeface="黑体" panose="02010609060101010101" pitchFamily="2" charset="-122"/>
                <a:cs typeface="+mn-cs"/>
              </a:rPr>
              <a:t>。</a:t>
            </a:r>
            <a:endParaRPr lang="zh-CN" altLang="en-US" b="1" kern="1200" dirty="0">
              <a:solidFill>
                <a:srgbClr val="0000FF"/>
              </a:solidFill>
              <a:latin typeface="+mn-lt"/>
              <a:ea typeface="黑体" panose="02010609060101010101" pitchFamily="2" charset="-122"/>
              <a:cs typeface="+mn-cs"/>
            </a:endParaRPr>
          </a:p>
        </p:txBody>
      </p:sp>
      <p:sp>
        <p:nvSpPr>
          <p:cNvPr id="4" name="Rectangle 4"/>
          <p:cNvSpPr>
            <a:spLocks noGrp="1"/>
          </p:cNvSpPr>
          <p:nvPr>
            <p:ph sz="half" idx="1"/>
          </p:nvPr>
        </p:nvSpPr>
        <p:spPr>
          <a:xfrm>
            <a:off x="467544" y="3573016"/>
            <a:ext cx="8497887" cy="1728192"/>
          </a:xfrm>
          <a:solidFill>
            <a:srgbClr val="FFFFFF"/>
          </a:solidFill>
          <a:ln>
            <a:solidFill>
              <a:srgbClr val="FF0000"/>
            </a:solidFill>
            <a:miter/>
          </a:ln>
        </p:spPr>
        <p:txBody>
          <a:bodyPr anchor="t"/>
          <a:lstStyle/>
          <a:p>
            <a:pPr eaLnBrk="1" hangingPunct="1">
              <a:lnSpc>
                <a:spcPct val="90000"/>
              </a:lnSpc>
              <a:buNone/>
            </a:pPr>
            <a:r>
              <a:rPr lang="en-US" altLang="zh-CN" b="1" kern="1200" dirty="0" smtClean="0">
                <a:solidFill>
                  <a:srgbClr val="0000FF"/>
                </a:solidFill>
                <a:latin typeface="+mn-lt"/>
                <a:ea typeface="黑体" panose="02010609060101010101" pitchFamily="2" charset="-122"/>
                <a:cs typeface="+mn-cs"/>
              </a:rPr>
              <a:t>2</a:t>
            </a:r>
            <a:r>
              <a:rPr lang="zh-CN" altLang="en-US" b="1" kern="1200" dirty="0">
                <a:solidFill>
                  <a:srgbClr val="0000FF"/>
                </a:solidFill>
                <a:latin typeface="+mn-lt"/>
                <a:ea typeface="黑体" panose="02010609060101010101" pitchFamily="2" charset="-122"/>
                <a:cs typeface="+mn-cs"/>
              </a:rPr>
              <a:t>、中国革命新道路的理论，是党运用马克思列宁主义的立场、观点和方法，分析、研究和解决中国革命具体问题的光辉典范，对于推进马克思主义中国化有重要的方法论意义。</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8770"/>
                                        </p:tgtEl>
                                        <p:attrNameLst>
                                          <p:attrName>style.visibility</p:attrName>
                                        </p:attrNameLst>
                                      </p:cBhvr>
                                      <p:to>
                                        <p:strVal val="visible"/>
                                      </p:to>
                                    </p:set>
                                    <p:animEffect transition="in" filter="wipe(left)">
                                      <p:cBhvr>
                                        <p:cTn id="7" dur="500"/>
                                        <p:tgtEl>
                                          <p:spTgt spid="28877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88772">
                                            <p:txEl>
                                              <p:pRg st="0" end="0"/>
                                            </p:txEl>
                                          </p:spTgt>
                                        </p:tgtEl>
                                        <p:attrNameLst>
                                          <p:attrName>style.visibility</p:attrName>
                                        </p:attrNameLst>
                                      </p:cBhvr>
                                      <p:to>
                                        <p:strVal val="visible"/>
                                      </p:to>
                                    </p:set>
                                    <p:animEffect transition="in" filter="dissolve">
                                      <p:cBhvr>
                                        <p:cTn id="11" dur="500"/>
                                        <p:tgtEl>
                                          <p:spTgt spid="288772">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dissolve">
                                      <p:cBhvr>
                                        <p:cTn id="15"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0" grpId="0" bldLvl="0" animBg="1"/>
      <p:bldP spid="288772" grpId="0" build="p"/>
      <p:bldP spid="4"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p:cNvSpPr>
          <p:nvPr>
            <p:ph type="title"/>
          </p:nvPr>
        </p:nvSpPr>
        <p:spPr>
          <a:xfrm>
            <a:off x="323528" y="836712"/>
            <a:ext cx="7920880" cy="648072"/>
          </a:xfrm>
          <a:solidFill>
            <a:srgbClr val="FFFFFF"/>
          </a:solidFill>
          <a:ln>
            <a:solidFill>
              <a:srgbClr val="FF0000"/>
            </a:solidFill>
            <a:miter/>
          </a:ln>
        </p:spPr>
        <p:txBody>
          <a:bodyPr anchor="t">
            <a:normAutofit fontScale="90000"/>
          </a:bodyPr>
          <a:lstStyle/>
          <a:p>
            <a:r>
              <a:rPr lang="zh-CN" altLang="en-US" sz="4000" b="1" dirty="0" smtClean="0">
                <a:solidFill>
                  <a:srgbClr val="FF0000"/>
                </a:solidFill>
                <a:latin typeface="华文琥珀" pitchFamily="2" charset="-122"/>
                <a:ea typeface="华文琥珀" pitchFamily="2" charset="-122"/>
              </a:rPr>
              <a:t>专题四   新民主主义革命</a:t>
            </a:r>
            <a:r>
              <a:rPr lang="zh-CN" altLang="en-US" sz="4000" b="1" dirty="0">
                <a:solidFill>
                  <a:srgbClr val="FF0000"/>
                </a:solidFill>
                <a:latin typeface="华文琥珀" pitchFamily="2" charset="-122"/>
                <a:ea typeface="华文琥珀" pitchFamily="2" charset="-122"/>
              </a:rPr>
              <a:t>的</a:t>
            </a:r>
            <a:r>
              <a:rPr lang="zh-CN" altLang="en-US" sz="4000" b="1" dirty="0" smtClean="0">
                <a:solidFill>
                  <a:srgbClr val="FF0000"/>
                </a:solidFill>
                <a:latin typeface="华文琥珀" pitchFamily="2" charset="-122"/>
                <a:ea typeface="华文琥珀" pitchFamily="2" charset="-122"/>
              </a:rPr>
              <a:t>基本经验</a:t>
            </a:r>
            <a:endParaRPr lang="zh-CN" altLang="en-US" sz="4000" b="1" dirty="0">
              <a:solidFill>
                <a:srgbClr val="FF0000"/>
              </a:solidFill>
              <a:latin typeface="华文琥珀" pitchFamily="2" charset="-122"/>
              <a:ea typeface="华文琥珀" pitchFamily="2" charset="-122"/>
            </a:endParaRPr>
          </a:p>
        </p:txBody>
      </p:sp>
      <p:pic>
        <p:nvPicPr>
          <p:cNvPr id="74754" name="Picture 3" descr="u=4086326080,586372731&amp;gp=1"/>
          <p:cNvPicPr>
            <a:picLocks noGrp="1" noChangeAspect="1"/>
          </p:cNvPicPr>
          <p:nvPr>
            <p:ph sz="half" idx="1"/>
          </p:nvPr>
        </p:nvPicPr>
        <p:blipFill>
          <a:blip r:embed="rId2" cstate="print"/>
          <a:stretch>
            <a:fillRect/>
          </a:stretch>
        </p:blipFill>
        <p:spPr>
          <a:xfrm>
            <a:off x="1958340" y="3333591"/>
            <a:ext cx="1036320" cy="1059180"/>
          </a:xfrm>
          <a:noFill/>
          <a:ln>
            <a:noFill/>
          </a:ln>
        </p:spPr>
      </p:pic>
      <p:pic>
        <p:nvPicPr>
          <p:cNvPr id="74755" name="Picture 4" descr="u=1129922168,2723766615&amp;gp=2"/>
          <p:cNvPicPr>
            <a:picLocks noGrp="1" noChangeAspect="1"/>
          </p:cNvPicPr>
          <p:nvPr>
            <p:ph sz="half" idx="2"/>
          </p:nvPr>
        </p:nvPicPr>
        <p:blipFill>
          <a:blip r:embed="rId3" cstate="print"/>
          <a:srcRect r="21336"/>
          <a:stretch>
            <a:fillRect/>
          </a:stretch>
        </p:blipFill>
        <p:spPr>
          <a:xfrm>
            <a:off x="1835696" y="2276872"/>
            <a:ext cx="3962400" cy="3097213"/>
          </a:xfrm>
          <a:noFill/>
          <a:ln>
            <a:noFill/>
          </a:ln>
        </p:spPr>
      </p:pic>
    </p:spTree>
  </p:cSld>
  <p:clrMapOvr>
    <a:masterClrMapping/>
  </p:clrMapOvr>
  <p:transition>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p:cNvSpPr>
          <p:nvPr/>
        </p:nvSpPr>
        <p:spPr>
          <a:xfrm>
            <a:off x="467544" y="3645024"/>
            <a:ext cx="8429684" cy="2857520"/>
          </a:xfrm>
          <a:prstGeom prst="rect">
            <a:avLst/>
          </a:prstGeom>
          <a:solidFill>
            <a:srgbClr val="FFFFFF"/>
          </a:solidFill>
          <a:ln>
            <a:solidFill>
              <a:srgbClr val="FF0000"/>
            </a:solidFill>
            <a:miter/>
          </a:ln>
        </p:spPr>
        <p:txBody>
          <a:bodyPr anchor="t"/>
          <a:lstStyle/>
          <a:p>
            <a:pPr marL="342900" marR="0" lvl="0" indent="-342900" algn="l" defTabSz="914400" rtl="0" eaLnBrk="1" fontAlgn="base" latinLnBrk="0" hangingPunct="1">
              <a:lnSpc>
                <a:spcPct val="130000"/>
              </a:lnSpc>
              <a:spcBef>
                <a:spcPct val="20000"/>
              </a:spcBef>
              <a:spcAft>
                <a:spcPct val="0"/>
              </a:spcAft>
              <a:buClrTx/>
              <a:buSzTx/>
              <a:buFontTx/>
              <a:buNone/>
              <a:tabLst/>
              <a:defRPr/>
            </a:pPr>
            <a:r>
              <a:rPr kumimoji="0" lang="zh-CN" altLang="en-US" sz="3200" b="1" i="0" u="none" strike="noStrike" kern="0" cap="none" spc="0" normalizeH="0" baseline="0" noProof="0" dirty="0" smtClean="0">
                <a:ln>
                  <a:noFill/>
                </a:ln>
                <a:solidFill>
                  <a:schemeClr val="tx1"/>
                </a:solidFill>
                <a:effectLst/>
                <a:uLnTx/>
                <a:uFillTx/>
                <a:latin typeface="+mn-lt"/>
                <a:ea typeface="楷体_GB2312" pitchFamily="49" charset="-122"/>
                <a:cs typeface="+mn-cs"/>
              </a:rPr>
              <a:t>　　　</a:t>
            </a:r>
            <a:r>
              <a:rPr lang="zh-CN" altLang="en-US" sz="2400" kern="0" dirty="0" smtClean="0">
                <a:solidFill>
                  <a:srgbClr val="FF0000"/>
                </a:solidFill>
                <a:latin typeface="隶书" pitchFamily="49" charset="-122"/>
                <a:ea typeface="隶书" pitchFamily="49" charset="-122"/>
                <a:cs typeface="+mn-cs"/>
              </a:rPr>
              <a:t>“一个有马克思列宁主义的理论武装的，采取自我批评方法的，联系人民群众的党。一个有这样的党领导的军队。一个有这样的党领导的各阶级各革命派别的统一战线。这三件是我们战胜敌人的主要武器。”</a:t>
            </a:r>
            <a:r>
              <a:rPr kumimoji="0" lang="zh-CN" altLang="en-US" sz="2400" b="1" i="0" u="none" strike="noStrike" kern="0" cap="none" spc="0" normalizeH="0" baseline="0" noProof="0" dirty="0" smtClean="0">
                <a:ln>
                  <a:noFill/>
                </a:ln>
                <a:solidFill>
                  <a:srgbClr val="0000FF"/>
                </a:solidFill>
                <a:effectLst/>
                <a:uLnTx/>
                <a:uFillTx/>
                <a:latin typeface="+mn-lt"/>
                <a:ea typeface="黑体" panose="02010609060101010101" pitchFamily="2" charset="-122"/>
                <a:cs typeface="+mn-cs"/>
              </a:rPr>
              <a:t>      </a:t>
            </a:r>
            <a:endParaRPr kumimoji="0" lang="en-US" altLang="zh-CN" sz="2400" b="1" i="0" u="none" strike="noStrike" kern="0" cap="none" spc="0" normalizeH="0" baseline="0" noProof="0" dirty="0" smtClean="0">
              <a:ln>
                <a:noFill/>
              </a:ln>
              <a:solidFill>
                <a:srgbClr val="0000FF"/>
              </a:solidFill>
              <a:effectLst/>
              <a:uLnTx/>
              <a:uFillTx/>
              <a:latin typeface="+mn-lt"/>
              <a:ea typeface="黑体" panose="02010609060101010101" pitchFamily="2" charset="-122"/>
              <a:cs typeface="+mn-cs"/>
            </a:endParaRPr>
          </a:p>
          <a:p>
            <a:pPr marL="342900" marR="0" lvl="0" indent="-342900" algn="l" defTabSz="914400" rtl="0" eaLnBrk="1" fontAlgn="base" latinLnBrk="0" hangingPunct="1">
              <a:lnSpc>
                <a:spcPct val="130000"/>
              </a:lnSpc>
              <a:spcBef>
                <a:spcPct val="20000"/>
              </a:spcBef>
              <a:spcAft>
                <a:spcPct val="0"/>
              </a:spcAft>
              <a:buClrTx/>
              <a:buSzTx/>
              <a:buFontTx/>
              <a:buNone/>
              <a:tabLst/>
              <a:defRPr/>
            </a:pPr>
            <a:r>
              <a:rPr lang="en-US" altLang="zh-CN" sz="2400" kern="0" dirty="0" smtClean="0">
                <a:latin typeface="+mn-lt"/>
                <a:cs typeface="+mn-cs"/>
              </a:rPr>
              <a:t>                     </a:t>
            </a:r>
            <a:r>
              <a:rPr kumimoji="0" lang="en-US" altLang="zh-CN" sz="2000" b="1" i="0" u="none" strike="noStrike" kern="0" cap="none" spc="0" normalizeH="0" baseline="0" noProof="0" dirty="0" smtClean="0">
                <a:ln>
                  <a:noFill/>
                </a:ln>
                <a:solidFill>
                  <a:srgbClr val="0000FF"/>
                </a:solidFill>
                <a:effectLst/>
                <a:uLnTx/>
                <a:uFillTx/>
                <a:latin typeface="+mn-lt"/>
                <a:ea typeface="黑体" panose="02010609060101010101" pitchFamily="2" charset="-122"/>
                <a:cs typeface="+mn-cs"/>
              </a:rPr>
              <a:t>——</a:t>
            </a:r>
            <a:r>
              <a:rPr kumimoji="0" lang="zh-CN" altLang="en-US" sz="2000" b="1" i="0" u="none" strike="noStrike" kern="0" cap="none" spc="0" normalizeH="0" baseline="0" noProof="0" dirty="0" smtClean="0">
                <a:ln>
                  <a:noFill/>
                </a:ln>
                <a:solidFill>
                  <a:srgbClr val="0000FF"/>
                </a:solidFill>
                <a:effectLst/>
                <a:uLnTx/>
                <a:uFillTx/>
                <a:latin typeface="+mn-lt"/>
                <a:ea typeface="黑体" panose="02010609060101010101" pitchFamily="2" charset="-122"/>
                <a:cs typeface="+mn-cs"/>
              </a:rPr>
              <a:t>毛泽东</a:t>
            </a:r>
            <a:r>
              <a:rPr kumimoji="0" lang="en-US" altLang="zh-CN" sz="2000" b="1" i="0" u="none" strike="noStrike" kern="0" cap="none" spc="0" normalizeH="0" baseline="0" noProof="0" dirty="0" smtClean="0">
                <a:ln>
                  <a:noFill/>
                </a:ln>
                <a:solidFill>
                  <a:srgbClr val="0000FF"/>
                </a:solidFill>
                <a:effectLst/>
                <a:uLnTx/>
                <a:uFillTx/>
                <a:latin typeface="+mn-lt"/>
                <a:ea typeface="黑体" panose="02010609060101010101" pitchFamily="2" charset="-122"/>
                <a:cs typeface="+mn-cs"/>
              </a:rPr>
              <a:t>·《</a:t>
            </a:r>
            <a:r>
              <a:rPr kumimoji="0" lang="zh-CN" altLang="en-US" sz="2000" b="1" i="0" u="none" strike="noStrike" kern="0" cap="none" spc="0" normalizeH="0" baseline="0" noProof="0" dirty="0" smtClean="0">
                <a:ln>
                  <a:noFill/>
                </a:ln>
                <a:solidFill>
                  <a:srgbClr val="0000FF"/>
                </a:solidFill>
                <a:effectLst/>
                <a:uLnTx/>
                <a:uFillTx/>
                <a:latin typeface="+mn-lt"/>
                <a:ea typeface="黑体" panose="02010609060101010101" pitchFamily="2" charset="-122"/>
                <a:cs typeface="+mn-cs"/>
              </a:rPr>
              <a:t>论人民民主专政</a:t>
            </a:r>
            <a:r>
              <a:rPr kumimoji="0" lang="en-US" altLang="zh-CN" sz="2000" b="1" i="0" u="none" strike="noStrike" kern="0" cap="none" spc="0" normalizeH="0" baseline="0" noProof="0" dirty="0" smtClean="0">
                <a:ln>
                  <a:noFill/>
                </a:ln>
                <a:solidFill>
                  <a:srgbClr val="0000FF"/>
                </a:solidFill>
                <a:effectLst/>
                <a:uLnTx/>
                <a:uFillTx/>
                <a:latin typeface="+mn-lt"/>
                <a:ea typeface="黑体" panose="02010609060101010101" pitchFamily="2" charset="-122"/>
                <a:cs typeface="+mn-cs"/>
              </a:rPr>
              <a:t>》</a:t>
            </a:r>
            <a:endParaRPr kumimoji="0" lang="en-US" altLang="zh-CN" sz="2000" b="1" i="0" u="none" strike="noStrike" kern="0" cap="none" spc="0" normalizeH="0" baseline="0" noProof="0" dirty="0">
              <a:ln>
                <a:noFill/>
              </a:ln>
              <a:solidFill>
                <a:srgbClr val="0000FF"/>
              </a:solidFill>
              <a:effectLst/>
              <a:uLnTx/>
              <a:uFillTx/>
              <a:latin typeface="+mn-lt"/>
              <a:ea typeface="黑体" panose="02010609060101010101" pitchFamily="2" charset="-122"/>
              <a:cs typeface="+mn-cs"/>
            </a:endParaRPr>
          </a:p>
        </p:txBody>
      </p:sp>
      <p:sp>
        <p:nvSpPr>
          <p:cNvPr id="5" name="矩形 4"/>
          <p:cNvSpPr/>
          <p:nvPr/>
        </p:nvSpPr>
        <p:spPr>
          <a:xfrm>
            <a:off x="467544" y="476672"/>
            <a:ext cx="8424936" cy="3139321"/>
          </a:xfrm>
          <a:prstGeom prst="rect">
            <a:avLst/>
          </a:prstGeom>
          <a:ln>
            <a:solidFill>
              <a:schemeClr val="accent1"/>
            </a:solidFill>
          </a:ln>
        </p:spPr>
        <p:txBody>
          <a:bodyPr wrap="square">
            <a:spAutoFit/>
          </a:bodyPr>
          <a:lstStyle/>
          <a:p>
            <a:r>
              <a:rPr lang="zh-CN" altLang="en-US" sz="2400" b="1" dirty="0" smtClean="0">
                <a:solidFill>
                  <a:srgbClr val="FF0000"/>
                </a:solidFill>
                <a:latin typeface="隶书" pitchFamily="49" charset="-122"/>
                <a:ea typeface="隶书" pitchFamily="49" charset="-122"/>
              </a:rPr>
              <a:t>     统一战线，武装斗争，党的建设，是中国共产党在中国革命中战胜敌人的三大法宝，三个主要的法宝。</a:t>
            </a:r>
            <a:endParaRPr lang="en-US" altLang="zh-CN" sz="2400" b="1" dirty="0" smtClean="0">
              <a:solidFill>
                <a:srgbClr val="FF0000"/>
              </a:solidFill>
              <a:latin typeface="隶书" pitchFamily="49" charset="-122"/>
              <a:ea typeface="隶书" pitchFamily="49" charset="-122"/>
            </a:endParaRPr>
          </a:p>
          <a:p>
            <a:endParaRPr lang="en-US" altLang="zh-CN" sz="2400" b="1" dirty="0" smtClean="0">
              <a:solidFill>
                <a:srgbClr val="FF0000"/>
              </a:solidFill>
              <a:latin typeface="隶书" pitchFamily="49" charset="-122"/>
              <a:ea typeface="隶书" pitchFamily="49" charset="-122"/>
            </a:endParaRPr>
          </a:p>
          <a:p>
            <a:r>
              <a:rPr lang="zh-CN" altLang="en-US" sz="2400" b="1" dirty="0" smtClean="0">
                <a:solidFill>
                  <a:srgbClr val="FF0000"/>
                </a:solidFill>
                <a:latin typeface="隶书" pitchFamily="49" charset="-122"/>
                <a:ea typeface="隶书" pitchFamily="49" charset="-122"/>
              </a:rPr>
              <a:t>党的建设</a:t>
            </a:r>
            <a:r>
              <a:rPr lang="en-US" altLang="zh-CN" sz="2400" b="1" dirty="0" smtClean="0">
                <a:solidFill>
                  <a:srgbClr val="FF0000"/>
                </a:solidFill>
                <a:latin typeface="隶书" pitchFamily="49" charset="-122"/>
                <a:ea typeface="隶书" pitchFamily="49" charset="-122"/>
              </a:rPr>
              <a:t>——</a:t>
            </a:r>
            <a:r>
              <a:rPr lang="zh-CN" altLang="en-US" sz="2400" b="1" dirty="0" smtClean="0">
                <a:solidFill>
                  <a:srgbClr val="FF0000"/>
                </a:solidFill>
                <a:latin typeface="隶书" pitchFamily="49" charset="-122"/>
                <a:ea typeface="隶书" pitchFamily="49" charset="-122"/>
              </a:rPr>
              <a:t>党是革命的领导主体</a:t>
            </a:r>
          </a:p>
          <a:p>
            <a:r>
              <a:rPr lang="zh-CN" altLang="en-US" sz="2400" b="1" dirty="0" smtClean="0">
                <a:solidFill>
                  <a:srgbClr val="FF0000"/>
                </a:solidFill>
                <a:latin typeface="隶书" pitchFamily="49" charset="-122"/>
                <a:ea typeface="隶书" pitchFamily="49" charset="-122"/>
              </a:rPr>
              <a:t>武装斗争</a:t>
            </a:r>
            <a:r>
              <a:rPr lang="en-US" altLang="zh-CN" sz="2400" b="1" dirty="0" smtClean="0">
                <a:solidFill>
                  <a:srgbClr val="FF0000"/>
                </a:solidFill>
                <a:latin typeface="隶书" pitchFamily="49" charset="-122"/>
                <a:ea typeface="隶书" pitchFamily="49" charset="-122"/>
              </a:rPr>
              <a:t>——</a:t>
            </a:r>
            <a:r>
              <a:rPr lang="zh-CN" altLang="en-US" sz="2400" b="1" dirty="0" smtClean="0">
                <a:solidFill>
                  <a:srgbClr val="FF0000"/>
                </a:solidFill>
                <a:latin typeface="隶书" pitchFamily="49" charset="-122"/>
                <a:ea typeface="隶书" pitchFamily="49" charset="-122"/>
              </a:rPr>
              <a:t>中国革命的主要形式</a:t>
            </a:r>
          </a:p>
          <a:p>
            <a:r>
              <a:rPr lang="zh-CN" altLang="en-US" sz="2400" b="1" dirty="0" smtClean="0">
                <a:solidFill>
                  <a:srgbClr val="FF0000"/>
                </a:solidFill>
                <a:latin typeface="隶书" pitchFamily="49" charset="-122"/>
                <a:ea typeface="隶书" pitchFamily="49" charset="-122"/>
              </a:rPr>
              <a:t>统一战线</a:t>
            </a:r>
            <a:r>
              <a:rPr lang="en-US" altLang="zh-CN" sz="2400" b="1" dirty="0" smtClean="0">
                <a:solidFill>
                  <a:srgbClr val="FF0000"/>
                </a:solidFill>
                <a:latin typeface="隶书" pitchFamily="49" charset="-122"/>
                <a:ea typeface="隶书" pitchFamily="49" charset="-122"/>
              </a:rPr>
              <a:t>——</a:t>
            </a:r>
            <a:r>
              <a:rPr lang="zh-CN" altLang="en-US" sz="2400" b="1" dirty="0" smtClean="0">
                <a:solidFill>
                  <a:srgbClr val="FF0000"/>
                </a:solidFill>
                <a:latin typeface="隶书" pitchFamily="49" charset="-122"/>
                <a:ea typeface="隶书" pitchFamily="49" charset="-122"/>
              </a:rPr>
              <a:t>中国革命的重要方针</a:t>
            </a:r>
            <a:endParaRPr lang="en-US" altLang="zh-CN" sz="2400" b="1" dirty="0" smtClean="0">
              <a:solidFill>
                <a:srgbClr val="FF0000"/>
              </a:solidFill>
              <a:latin typeface="隶书" pitchFamily="49" charset="-122"/>
              <a:ea typeface="隶书" pitchFamily="49" charset="-122"/>
            </a:endParaRPr>
          </a:p>
          <a:p>
            <a:endParaRPr lang="en-US" altLang="zh-CN" b="1" dirty="0" smtClean="0">
              <a:solidFill>
                <a:srgbClr val="FF0000"/>
              </a:solidFill>
              <a:latin typeface="隶书" pitchFamily="49" charset="-122"/>
              <a:ea typeface="隶书" pitchFamily="49" charset="-122"/>
            </a:endParaRPr>
          </a:p>
          <a:p>
            <a:r>
              <a:rPr lang="en-US" altLang="zh-CN" b="1" dirty="0" smtClean="0">
                <a:solidFill>
                  <a:srgbClr val="0000FF"/>
                </a:solidFill>
                <a:ea typeface="黑体" panose="02010609060101010101" pitchFamily="2" charset="-122"/>
              </a:rPr>
              <a:t>                                         ——</a:t>
            </a:r>
            <a:r>
              <a:rPr lang="zh-CN" altLang="en-US" b="1" dirty="0" smtClean="0">
                <a:solidFill>
                  <a:srgbClr val="0000FF"/>
                </a:solidFill>
                <a:ea typeface="黑体" panose="02010609060101010101" pitchFamily="2" charset="-122"/>
              </a:rPr>
              <a:t>毛泽东</a:t>
            </a:r>
            <a:r>
              <a:rPr lang="en-US" altLang="zh-CN" b="1" dirty="0" smtClean="0">
                <a:solidFill>
                  <a:srgbClr val="0000FF"/>
                </a:solidFill>
                <a:ea typeface="黑体" panose="02010609060101010101" pitchFamily="2" charset="-122"/>
              </a:rPr>
              <a:t>·《〈</a:t>
            </a:r>
            <a:r>
              <a:rPr lang="zh-CN" altLang="en-US" b="1" dirty="0" smtClean="0">
                <a:solidFill>
                  <a:srgbClr val="0000FF"/>
                </a:solidFill>
                <a:ea typeface="黑体" panose="02010609060101010101" pitchFamily="2" charset="-122"/>
              </a:rPr>
              <a:t>共产党人</a:t>
            </a:r>
            <a:r>
              <a:rPr lang="en-US" altLang="zh-CN" b="1" dirty="0" smtClean="0">
                <a:solidFill>
                  <a:srgbClr val="0000FF"/>
                </a:solidFill>
                <a:ea typeface="黑体" panose="02010609060101010101" pitchFamily="2" charset="-122"/>
              </a:rPr>
              <a:t>〉</a:t>
            </a:r>
            <a:r>
              <a:rPr lang="zh-CN" altLang="en-US" b="1" dirty="0" smtClean="0">
                <a:solidFill>
                  <a:srgbClr val="0000FF"/>
                </a:solidFill>
                <a:ea typeface="黑体" panose="02010609060101010101" pitchFamily="2" charset="-122"/>
              </a:rPr>
              <a:t>发刊词</a:t>
            </a:r>
            <a:r>
              <a:rPr lang="en-US" altLang="zh-CN" b="1" dirty="0" smtClean="0">
                <a:solidFill>
                  <a:srgbClr val="0000FF"/>
                </a:solidFill>
                <a:ea typeface="黑体" panose="02010609060101010101" pitchFamily="2" charset="-122"/>
              </a:rPr>
              <a:t>》</a:t>
            </a:r>
          </a:p>
          <a:p>
            <a:endParaRPr lang="zh-CN" alt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vertical)">
                                      <p:cBhvr>
                                        <p:cTn id="7" dur="500"/>
                                        <p:tgtEl>
                                          <p:spTgt spid="3">
                                            <p:txEl>
                                              <p:pRg st="0" end="0"/>
                                            </p:txEl>
                                          </p:spTgt>
                                        </p:tgtEl>
                                      </p:cBhvr>
                                    </p:animEffect>
                                  </p:childTnLst>
                                </p:cTn>
                              </p:par>
                            </p:childTnLst>
                          </p:cTn>
                        </p:par>
                        <p:par>
                          <p:cTn id="8" fill="hold">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linds(vertical)">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331640" y="908720"/>
            <a:ext cx="4968552" cy="707886"/>
          </a:xfrm>
          <a:prstGeom prst="rect">
            <a:avLst/>
          </a:prstGeom>
          <a:solidFill>
            <a:schemeClr val="bg1"/>
          </a:solidFill>
        </p:spPr>
        <p:txBody>
          <a:bodyPr wrap="square">
            <a:spAutoFit/>
          </a:bodyPr>
          <a:lstStyle/>
          <a:p>
            <a:r>
              <a:rPr lang="zh-CN" altLang="en-US" sz="4000" b="1" dirty="0" smtClean="0">
                <a:solidFill>
                  <a:srgbClr val="FF0000"/>
                </a:solidFill>
                <a:latin typeface="华文琥珀" pitchFamily="2" charset="-122"/>
                <a:ea typeface="华文琥珀" pitchFamily="2" charset="-122"/>
              </a:rPr>
              <a:t>（一）统一战线</a:t>
            </a:r>
            <a:endParaRPr lang="zh-CN" altLang="en-US" sz="4000" dirty="0">
              <a:solidFill>
                <a:srgbClr val="FF0000"/>
              </a:solidFill>
              <a:latin typeface="华文琥珀" pitchFamily="2" charset="-122"/>
              <a:ea typeface="华文琥珀" pitchFamily="2" charset="-122"/>
            </a:endParaRPr>
          </a:p>
        </p:txBody>
      </p:sp>
      <p:sp>
        <p:nvSpPr>
          <p:cNvPr id="6" name="矩形 5"/>
          <p:cNvSpPr/>
          <p:nvPr/>
        </p:nvSpPr>
        <p:spPr>
          <a:xfrm>
            <a:off x="1475656" y="2924944"/>
            <a:ext cx="5760640" cy="1815882"/>
          </a:xfrm>
          <a:prstGeom prst="rect">
            <a:avLst/>
          </a:prstGeom>
          <a:solidFill>
            <a:schemeClr val="bg1"/>
          </a:solidFill>
          <a:ln>
            <a:solidFill>
              <a:srgbClr val="FF0000"/>
            </a:solidFill>
          </a:ln>
        </p:spPr>
        <p:txBody>
          <a:bodyPr wrap="square">
            <a:spAutoFit/>
          </a:bodyPr>
          <a:lstStyle/>
          <a:p>
            <a:r>
              <a:rPr lang="zh-CN" altLang="en-US" sz="2800" b="1" dirty="0" smtClean="0">
                <a:latin typeface="+mj-ea"/>
                <a:ea typeface="+mj-ea"/>
              </a:rPr>
              <a:t>     统一战线是无产阶级政党为反对当前的主要敌人，同一切可能联合的阶级、阶层、政党和集团在一定的目标下结成的广泛的政治联盟。</a:t>
            </a:r>
            <a:endParaRPr lang="zh-CN" altLang="en-US" sz="2800" dirty="0">
              <a:latin typeface="+mj-ea"/>
              <a:ea typeface="+mj-ea"/>
            </a:endParaRPr>
          </a:p>
        </p:txBody>
      </p:sp>
    </p:spTree>
  </p:cSld>
  <p:clrMapOvr>
    <a:masterClrMapping/>
  </p:clrMapOvr>
  <p:transition>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331640" y="1556792"/>
            <a:ext cx="6163867" cy="584775"/>
          </a:xfrm>
          <a:prstGeom prst="rect">
            <a:avLst/>
          </a:prstGeom>
          <a:solidFill>
            <a:schemeClr val="bg1"/>
          </a:solidFill>
          <a:ln>
            <a:solidFill>
              <a:srgbClr val="FF0000"/>
            </a:solidFill>
          </a:ln>
        </p:spPr>
        <p:txBody>
          <a:bodyPr wrap="none">
            <a:spAutoFit/>
          </a:bodyPr>
          <a:lstStyle/>
          <a:p>
            <a:r>
              <a:rPr lang="en-US" altLang="zh-CN" sz="3200" b="1" dirty="0" smtClean="0">
                <a:solidFill>
                  <a:srgbClr val="0000FF"/>
                </a:solidFill>
                <a:latin typeface="华文琥珀" pitchFamily="2" charset="-122"/>
                <a:ea typeface="华文琥珀" pitchFamily="2" charset="-122"/>
              </a:rPr>
              <a:t>1</a:t>
            </a:r>
            <a:r>
              <a:rPr lang="zh-CN" altLang="en-US" sz="3200" b="1" dirty="0" smtClean="0">
                <a:solidFill>
                  <a:srgbClr val="0000FF"/>
                </a:solidFill>
                <a:latin typeface="华文琥珀" pitchFamily="2" charset="-122"/>
                <a:ea typeface="华文琥珀" pitchFamily="2" charset="-122"/>
              </a:rPr>
              <a:t>、建立革命统一战线的</a:t>
            </a:r>
            <a:r>
              <a:rPr lang="zh-CN" altLang="en-US" sz="3200" b="1" dirty="0" smtClean="0">
                <a:solidFill>
                  <a:srgbClr val="00B050"/>
                </a:solidFill>
                <a:latin typeface="华文琥珀" pitchFamily="2" charset="-122"/>
                <a:ea typeface="华文琥珀" pitchFamily="2" charset="-122"/>
              </a:rPr>
              <a:t>必要性：</a:t>
            </a:r>
            <a:endParaRPr lang="zh-CN" altLang="en-US" sz="3200" b="1" dirty="0">
              <a:solidFill>
                <a:srgbClr val="00B050"/>
              </a:solidFill>
              <a:latin typeface="华文琥珀" pitchFamily="2" charset="-122"/>
              <a:ea typeface="华文琥珀" pitchFamily="2" charset="-122"/>
            </a:endParaRPr>
          </a:p>
        </p:txBody>
      </p:sp>
      <p:sp>
        <p:nvSpPr>
          <p:cNvPr id="5" name="矩形 4"/>
          <p:cNvSpPr/>
          <p:nvPr/>
        </p:nvSpPr>
        <p:spPr>
          <a:xfrm>
            <a:off x="1475656" y="3140968"/>
            <a:ext cx="5616624" cy="954107"/>
          </a:xfrm>
          <a:prstGeom prst="rect">
            <a:avLst/>
          </a:prstGeom>
          <a:solidFill>
            <a:schemeClr val="bg1"/>
          </a:solidFill>
          <a:ln>
            <a:solidFill>
              <a:srgbClr val="FF0000"/>
            </a:solidFill>
          </a:ln>
        </p:spPr>
        <p:txBody>
          <a:bodyPr wrap="square">
            <a:spAutoFit/>
          </a:bodyPr>
          <a:lstStyle/>
          <a:p>
            <a:r>
              <a:rPr lang="zh-CN" altLang="en-US" sz="2800" b="1" dirty="0" smtClean="0">
                <a:solidFill>
                  <a:srgbClr val="FF0000"/>
                </a:solidFill>
                <a:latin typeface="黑体" pitchFamily="49" charset="-122"/>
                <a:ea typeface="黑体" pitchFamily="49" charset="-122"/>
              </a:rPr>
              <a:t> 第一，统一战线是无产阶级政党的基本策略。</a:t>
            </a:r>
            <a:endParaRPr lang="zh-CN" altLang="en-US" sz="2800" dirty="0">
              <a:solidFill>
                <a:srgbClr val="FF0000"/>
              </a:solidFill>
              <a:latin typeface="黑体" pitchFamily="49" charset="-122"/>
              <a:ea typeface="黑体" pitchFamily="49" charset="-122"/>
            </a:endParaRPr>
          </a:p>
        </p:txBody>
      </p:sp>
    </p:spTree>
  </p:cSld>
  <p:clrMapOvr>
    <a:masterClrMapping/>
  </p:clrMapOvr>
  <p:transition>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p:cNvSpPr>
          <p:nvPr>
            <p:ph idx="4294967295"/>
          </p:nvPr>
        </p:nvSpPr>
        <p:spPr>
          <a:xfrm>
            <a:off x="611560" y="1916832"/>
            <a:ext cx="7993062" cy="1212640"/>
          </a:xfrm>
          <a:prstGeom prst="rect">
            <a:avLst/>
          </a:prstGeom>
          <a:solidFill>
            <a:schemeClr val="bg1"/>
          </a:solidFill>
          <a:ln w="12700">
            <a:solidFill>
              <a:srgbClr val="FF0000"/>
            </a:solidFill>
            <a:miter/>
          </a:ln>
        </p:spPr>
        <p:txBody>
          <a:bodyPr anchor="t">
            <a:spAutoFit/>
          </a:bodyPr>
          <a:lstStyle/>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a:t>
            </a:r>
            <a:r>
              <a:rPr lang="en-US" altLang="zh-CN" sz="2800" b="1" dirty="0" smtClean="0">
                <a:solidFill>
                  <a:srgbClr val="0000FF"/>
                </a:solidFill>
                <a:latin typeface="Times New Roman" panose="02020603050405020304" pitchFamily="18" charset="0"/>
                <a:ea typeface="黑体" panose="02010609060101010101" pitchFamily="2" charset="-122"/>
              </a:rPr>
              <a:t>1</a:t>
            </a:r>
            <a:r>
              <a:rPr lang="zh-CN" altLang="en-US" sz="2800" b="1" dirty="0" smtClean="0">
                <a:solidFill>
                  <a:srgbClr val="0000FF"/>
                </a:solidFill>
                <a:latin typeface="Times New Roman" panose="02020603050405020304" pitchFamily="18" charset="0"/>
                <a:ea typeface="黑体" panose="02010609060101010101" pitchFamily="2" charset="-122"/>
              </a:rPr>
              <a:t>）中国社会阶级状况：两头小、中间大的社会。</a:t>
            </a:r>
            <a:endParaRPr lang="en-US" altLang="zh-CN" sz="2800" b="1" dirty="0" smtClean="0">
              <a:solidFill>
                <a:srgbClr val="0000FF"/>
              </a:solidFill>
              <a:latin typeface="Times New Roman" panose="02020603050405020304" pitchFamily="18" charset="0"/>
              <a:ea typeface="黑体" panose="02010609060101010101" pitchFamily="2" charset="-122"/>
            </a:endParaRPr>
          </a:p>
          <a:p>
            <a:pPr marL="0" indent="0">
              <a:lnSpc>
                <a:spcPct val="105000"/>
              </a:lnSpc>
              <a:spcBef>
                <a:spcPct val="50000"/>
              </a:spcBef>
              <a:buNone/>
            </a:pPr>
            <a:r>
              <a:rPr lang="en-US" altLang="zh-CN" sz="2800" b="1" dirty="0" smtClean="0">
                <a:solidFill>
                  <a:srgbClr val="0000FF"/>
                </a:solidFill>
                <a:latin typeface="Times New Roman" panose="02020603050405020304" pitchFamily="18" charset="0"/>
                <a:ea typeface="黑体" panose="02010609060101010101" pitchFamily="2" charset="-122"/>
              </a:rPr>
              <a:t>    </a:t>
            </a:r>
            <a:r>
              <a:rPr lang="zh-CN" altLang="en-US" sz="2800" b="1" dirty="0" smtClean="0">
                <a:solidFill>
                  <a:srgbClr val="0000FF"/>
                </a:solidFill>
                <a:latin typeface="Times New Roman" panose="02020603050405020304" pitchFamily="18" charset="0"/>
                <a:ea typeface="黑体" panose="02010609060101010101" pitchFamily="2" charset="-122"/>
              </a:rPr>
              <a:t>无产阶级人数少。</a:t>
            </a:r>
            <a:endParaRPr lang="en-US" altLang="zh-CN" sz="2800" b="1" dirty="0" smtClean="0">
              <a:solidFill>
                <a:srgbClr val="0000FF"/>
              </a:solidFill>
              <a:latin typeface="Times New Roman" panose="02020603050405020304" pitchFamily="18" charset="0"/>
              <a:ea typeface="黑体" panose="02010609060101010101" pitchFamily="2" charset="-122"/>
            </a:endParaRPr>
          </a:p>
        </p:txBody>
      </p:sp>
      <p:sp>
        <p:nvSpPr>
          <p:cNvPr id="2" name="矩形 1"/>
          <p:cNvSpPr/>
          <p:nvPr/>
        </p:nvSpPr>
        <p:spPr>
          <a:xfrm>
            <a:off x="611560" y="1124744"/>
            <a:ext cx="7128792" cy="511422"/>
          </a:xfrm>
          <a:prstGeom prst="rect">
            <a:avLst/>
          </a:prstGeom>
        </p:spPr>
        <p:txBody>
          <a:bodyPr wrap="square">
            <a:spAutoFit/>
          </a:bodyPr>
          <a:lstStyle/>
          <a:p>
            <a:pPr lvl="0">
              <a:lnSpc>
                <a:spcPct val="105000"/>
              </a:lnSpc>
              <a:spcBef>
                <a:spcPct val="50000"/>
              </a:spcBef>
              <a:buClr>
                <a:srgbClr val="477AB1"/>
              </a:buClr>
              <a:buSzPct val="50000"/>
            </a:pPr>
            <a:r>
              <a:rPr lang="zh-CN" altLang="en-US" sz="2800" b="1" dirty="0">
                <a:solidFill>
                  <a:srgbClr val="FF0000"/>
                </a:solidFill>
                <a:latin typeface="Times New Roman" panose="02020603050405020304" pitchFamily="18" charset="0"/>
                <a:ea typeface="黑体" panose="02010609060101010101" pitchFamily="2" charset="-122"/>
              </a:rPr>
              <a:t>第二，中国半殖民地半封建社会的国情决定。</a:t>
            </a:r>
          </a:p>
        </p:txBody>
      </p:sp>
      <p:sp>
        <p:nvSpPr>
          <p:cNvPr id="4" name="Rectangle 2"/>
          <p:cNvSpPr txBox="1">
            <a:spLocks/>
          </p:cNvSpPr>
          <p:nvPr/>
        </p:nvSpPr>
        <p:spPr>
          <a:xfrm>
            <a:off x="539552" y="4077072"/>
            <a:ext cx="7993062" cy="963854"/>
          </a:xfrm>
          <a:prstGeom prst="rect">
            <a:avLst/>
          </a:prstGeom>
          <a:solidFill>
            <a:schemeClr val="bg1"/>
          </a:solidFill>
          <a:ln w="12700">
            <a:solidFill>
              <a:srgbClr val="FF0000"/>
            </a:solidFill>
            <a:miter/>
          </a:ln>
        </p:spPr>
        <p:txBody>
          <a:bodyPr vert="horz" rtlCol="0" anchor="t">
            <a:spAutoFit/>
          </a:bodyPr>
          <a:lstStyle/>
          <a:p>
            <a:pPr marL="0" marR="0" lvl="0" indent="0" algn="l" defTabSz="914400" rtl="0" eaLnBrk="1" fontAlgn="auto" latinLnBrk="0" hangingPunct="1">
              <a:lnSpc>
                <a:spcPct val="105000"/>
              </a:lnSpc>
              <a:spcBef>
                <a:spcPct val="50000"/>
              </a:spcBef>
              <a:spcAft>
                <a:spcPts val="0"/>
              </a:spcAft>
              <a:buClr>
                <a:schemeClr val="accent1"/>
              </a:buClr>
              <a:buSzPct val="50000"/>
              <a:buFont typeface="Wingdings 2"/>
              <a:buNone/>
              <a:tabLst/>
              <a:defRPr/>
            </a:pP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2" charset="-122"/>
                <a:cs typeface="+mn-cs"/>
              </a:rPr>
              <a:t>（</a:t>
            </a:r>
            <a:r>
              <a:rPr kumimoji="0" lang="en-US" altLang="zh-CN"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2" charset="-122"/>
                <a:cs typeface="+mn-cs"/>
              </a:rPr>
              <a:t>2</a:t>
            </a: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2" charset="-122"/>
                <a:cs typeface="+mn-cs"/>
              </a:rPr>
              <a:t>）中国革命的长期性、残酷性和发展的不平衡性决定。</a:t>
            </a:r>
            <a:endParaRPr kumimoji="0" lang="en-US" altLang="zh-CN" sz="28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2" charset="-122"/>
              <a:cs typeface="+mn-cs"/>
            </a:endParaRPr>
          </a:p>
        </p:txBody>
      </p:sp>
    </p:spTree>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p:cNvSpPr>
          <p:nvPr>
            <p:ph idx="4294967295"/>
          </p:nvPr>
        </p:nvSpPr>
        <p:spPr>
          <a:xfrm>
            <a:off x="205069" y="1484784"/>
            <a:ext cx="3538079" cy="4616648"/>
          </a:xfrm>
          <a:prstGeom prst="rect">
            <a:avLst/>
          </a:prstGeom>
          <a:solidFill>
            <a:schemeClr val="bg1"/>
          </a:solidFill>
          <a:ln w="12700">
            <a:solidFill>
              <a:srgbClr val="FF0000"/>
            </a:solidFill>
            <a:miter/>
          </a:ln>
        </p:spPr>
        <p:txBody>
          <a:bodyPr wrap="square" anchor="t">
            <a:spAutoFit/>
          </a:bodyPr>
          <a:lstStyle/>
          <a:p>
            <a:pPr marL="0" indent="0">
              <a:lnSpc>
                <a:spcPct val="150000"/>
              </a:lnSpc>
              <a:spcBef>
                <a:spcPct val="50000"/>
              </a:spcBef>
              <a:buNone/>
            </a:pPr>
            <a:r>
              <a:rPr lang="en-US" altLang="zh-CN" sz="2400" dirty="0">
                <a:solidFill>
                  <a:srgbClr val="0000FF"/>
                </a:solidFill>
                <a:latin typeface="Times New Roman" panose="02020603050405020304" pitchFamily="18" charset="0"/>
                <a:ea typeface="华文新魏" panose="02010800040101010101" pitchFamily="2" charset="-122"/>
              </a:rPr>
              <a:t> </a:t>
            </a:r>
            <a:r>
              <a:rPr lang="en-US" altLang="zh-CN" sz="2400" dirty="0" smtClean="0">
                <a:solidFill>
                  <a:srgbClr val="0000FF"/>
                </a:solidFill>
                <a:latin typeface="Times New Roman" panose="02020603050405020304" pitchFamily="18" charset="0"/>
                <a:ea typeface="华文新魏" panose="02010800040101010101" pitchFamily="2" charset="-122"/>
              </a:rPr>
              <a:t>          </a:t>
            </a:r>
            <a:r>
              <a:rPr lang="zh-CN" altLang="en-US" sz="2800" b="1" dirty="0" smtClean="0">
                <a:solidFill>
                  <a:srgbClr val="0000FF"/>
                </a:solidFill>
                <a:latin typeface="Times New Roman" panose="02020603050405020304" pitchFamily="18" charset="0"/>
                <a:ea typeface="黑体" panose="02010609060101010101" pitchFamily="2" charset="-122"/>
              </a:rPr>
              <a:t>半殖民地</a:t>
            </a:r>
            <a:r>
              <a:rPr lang="zh-CN" altLang="en-US" sz="2800" b="1" dirty="0">
                <a:solidFill>
                  <a:srgbClr val="0000FF"/>
                </a:solidFill>
                <a:latin typeface="Times New Roman" panose="02020603050405020304" pitchFamily="18" charset="0"/>
                <a:ea typeface="黑体" panose="02010609060101010101" pitchFamily="2" charset="-122"/>
              </a:rPr>
              <a:t>半封建的中国社会，是近代世界矛盾的焦点</a:t>
            </a:r>
            <a:r>
              <a:rPr lang="zh-CN" altLang="en-US" sz="2800" b="1" dirty="0" smtClean="0">
                <a:solidFill>
                  <a:srgbClr val="0000FF"/>
                </a:solidFill>
                <a:latin typeface="Times New Roman" panose="02020603050405020304" pitchFamily="18" charset="0"/>
                <a:ea typeface="黑体" panose="02010609060101010101" pitchFamily="2" charset="-122"/>
              </a:rPr>
              <a:t>，多种矛盾交织在一起，客观上为无产阶级政党利用这些矛盾建立统一战线提供了可能。     </a:t>
            </a:r>
            <a:endParaRPr lang="zh-CN" altLang="en-US" sz="2800" b="1" dirty="0">
              <a:solidFill>
                <a:srgbClr val="0000FF"/>
              </a:solidFill>
              <a:latin typeface="Times New Roman" panose="02020603050405020304" pitchFamily="18" charset="0"/>
              <a:ea typeface="黑体" panose="02010609060101010101" pitchFamily="2" charset="-122"/>
            </a:endParaRPr>
          </a:p>
        </p:txBody>
      </p:sp>
      <p:sp>
        <p:nvSpPr>
          <p:cNvPr id="4" name="矩形 3"/>
          <p:cNvSpPr/>
          <p:nvPr/>
        </p:nvSpPr>
        <p:spPr>
          <a:xfrm>
            <a:off x="179512" y="332656"/>
            <a:ext cx="7127272" cy="584775"/>
          </a:xfrm>
          <a:prstGeom prst="rect">
            <a:avLst/>
          </a:prstGeom>
          <a:solidFill>
            <a:schemeClr val="bg1"/>
          </a:solidFill>
          <a:ln>
            <a:solidFill>
              <a:srgbClr val="FF0000"/>
            </a:solidFill>
          </a:ln>
        </p:spPr>
        <p:txBody>
          <a:bodyPr wrap="none">
            <a:spAutoFit/>
          </a:bodyPr>
          <a:lstStyle/>
          <a:p>
            <a:r>
              <a:rPr lang="en-US" altLang="zh-CN" sz="3200" b="1" dirty="0" smtClean="0">
                <a:solidFill>
                  <a:srgbClr val="0000FF"/>
                </a:solidFill>
                <a:latin typeface="华文琥珀" pitchFamily="2" charset="-122"/>
                <a:ea typeface="华文琥珀" pitchFamily="2" charset="-122"/>
              </a:rPr>
              <a:t>2</a:t>
            </a:r>
            <a:r>
              <a:rPr lang="zh-CN" altLang="en-US" sz="3200" b="1" dirty="0" smtClean="0">
                <a:solidFill>
                  <a:srgbClr val="0000FF"/>
                </a:solidFill>
                <a:latin typeface="华文琥珀" pitchFamily="2" charset="-122"/>
                <a:ea typeface="华文琥珀" pitchFamily="2" charset="-122"/>
              </a:rPr>
              <a:t>、建立革命统一战线的现实</a:t>
            </a:r>
            <a:r>
              <a:rPr lang="zh-CN" altLang="en-US" sz="3200" b="1" dirty="0" smtClean="0">
                <a:solidFill>
                  <a:srgbClr val="00B050"/>
                </a:solidFill>
                <a:latin typeface="华文琥珀" pitchFamily="2" charset="-122"/>
                <a:ea typeface="华文琥珀" pitchFamily="2" charset="-122"/>
              </a:rPr>
              <a:t>可能性：</a:t>
            </a:r>
            <a:endParaRPr lang="zh-CN" altLang="en-US" sz="3200" b="1" dirty="0">
              <a:latin typeface="华文琥珀" pitchFamily="2" charset="-122"/>
              <a:ea typeface="华文琥珀" pitchFamily="2" charset="-122"/>
            </a:endParaRPr>
          </a:p>
        </p:txBody>
      </p:sp>
      <p:pic>
        <p:nvPicPr>
          <p:cNvPr id="1026" name="Picture 2" descr="https://ss1.bdstatic.com/70cFvXSh_Q1YnxGkpoWK1HF6hhy/it/u=2151511465,3301946386&amp;fm=15&amp;gp=0.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995936" y="2636912"/>
            <a:ext cx="4638675" cy="2590800"/>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p:cNvSpPr>
          <p:nvPr>
            <p:ph idx="4294967295"/>
          </p:nvPr>
        </p:nvSpPr>
        <p:spPr>
          <a:xfrm>
            <a:off x="971600" y="2204864"/>
            <a:ext cx="960263" cy="2664296"/>
          </a:xfrm>
          <a:prstGeom prst="rect">
            <a:avLst/>
          </a:prstGeom>
          <a:solidFill>
            <a:schemeClr val="bg1"/>
          </a:solidFill>
          <a:ln w="12700">
            <a:solidFill>
              <a:srgbClr val="FF0000"/>
            </a:solidFill>
            <a:miter/>
          </a:ln>
        </p:spPr>
        <p:txBody>
          <a:bodyPr vert="eaVert" wrap="square" anchor="t">
            <a:spAutoFit/>
          </a:bodyPr>
          <a:lstStyle/>
          <a:p>
            <a:pPr marL="0" indent="0">
              <a:lnSpc>
                <a:spcPct val="105000"/>
              </a:lnSpc>
              <a:spcBef>
                <a:spcPct val="50000"/>
              </a:spcBef>
              <a:buNone/>
            </a:pPr>
            <a:r>
              <a:rPr lang="zh-CN" altLang="en-US" sz="2400" b="1" dirty="0" smtClean="0">
                <a:solidFill>
                  <a:srgbClr val="0000FF"/>
                </a:solidFill>
                <a:latin typeface="Times New Roman" panose="02020603050405020304" pitchFamily="18" charset="0"/>
                <a:ea typeface="黑体" panose="02010609060101010101" pitchFamily="2" charset="-122"/>
              </a:rPr>
              <a:t>国民</a:t>
            </a:r>
            <a:r>
              <a:rPr lang="zh-CN" altLang="en-US" sz="2400" b="1" dirty="0">
                <a:solidFill>
                  <a:srgbClr val="0000FF"/>
                </a:solidFill>
                <a:latin typeface="Times New Roman" panose="02020603050405020304" pitchFamily="18" charset="0"/>
                <a:ea typeface="黑体" panose="02010609060101010101" pitchFamily="2" charset="-122"/>
              </a:rPr>
              <a:t>革命时期的国民革命</a:t>
            </a:r>
            <a:r>
              <a:rPr lang="zh-CN" altLang="en-US" sz="2400" b="1" dirty="0" smtClean="0">
                <a:solidFill>
                  <a:srgbClr val="0000FF"/>
                </a:solidFill>
                <a:latin typeface="Times New Roman" panose="02020603050405020304" pitchFamily="18" charset="0"/>
                <a:ea typeface="黑体" panose="02010609060101010101" pitchFamily="2" charset="-122"/>
              </a:rPr>
              <a:t>联合战线</a:t>
            </a:r>
            <a:endParaRPr lang="en-US" altLang="zh-CN" sz="2400" b="1" dirty="0">
              <a:solidFill>
                <a:srgbClr val="0000FF"/>
              </a:solidFill>
              <a:latin typeface="Times New Roman" panose="02020603050405020304" pitchFamily="18" charset="0"/>
              <a:ea typeface="黑体" panose="02010609060101010101" pitchFamily="2" charset="-122"/>
            </a:endParaRPr>
          </a:p>
        </p:txBody>
      </p:sp>
      <p:sp>
        <p:nvSpPr>
          <p:cNvPr id="4" name="矩形 3"/>
          <p:cNvSpPr/>
          <p:nvPr/>
        </p:nvSpPr>
        <p:spPr>
          <a:xfrm>
            <a:off x="1259632" y="908720"/>
            <a:ext cx="5285421" cy="523220"/>
          </a:xfrm>
          <a:prstGeom prst="rect">
            <a:avLst/>
          </a:prstGeom>
          <a:solidFill>
            <a:schemeClr val="bg2"/>
          </a:solidFill>
          <a:ln>
            <a:solidFill>
              <a:schemeClr val="accent1"/>
            </a:solidFill>
          </a:ln>
        </p:spPr>
        <p:txBody>
          <a:bodyPr wrap="none">
            <a:spAutoFit/>
          </a:bodyPr>
          <a:lstStyle/>
          <a:p>
            <a:r>
              <a:rPr lang="en-US" altLang="zh-CN" sz="1600" dirty="0" smtClean="0">
                <a:solidFill>
                  <a:srgbClr val="0000FF"/>
                </a:solidFill>
                <a:latin typeface="Times New Roman" panose="02020603050405020304" pitchFamily="18" charset="0"/>
                <a:ea typeface="华文新魏" panose="02010800040101010101" pitchFamily="2" charset="-122"/>
              </a:rPr>
              <a:t> </a:t>
            </a:r>
            <a:r>
              <a:rPr lang="zh-CN" altLang="en-US" sz="2800" b="1" dirty="0" smtClean="0">
                <a:solidFill>
                  <a:srgbClr val="FF0000"/>
                </a:solidFill>
                <a:latin typeface="+mj-ea"/>
                <a:ea typeface="+mj-ea"/>
              </a:rPr>
              <a:t>新民主主义革命时期的统一战线</a:t>
            </a:r>
            <a:endParaRPr lang="zh-CN" altLang="en-US" dirty="0"/>
          </a:p>
        </p:txBody>
      </p:sp>
      <p:sp>
        <p:nvSpPr>
          <p:cNvPr id="5" name="Rectangle 2"/>
          <p:cNvSpPr txBox="1">
            <a:spLocks/>
          </p:cNvSpPr>
          <p:nvPr/>
        </p:nvSpPr>
        <p:spPr>
          <a:xfrm>
            <a:off x="2555776" y="2132856"/>
            <a:ext cx="960263" cy="2736304"/>
          </a:xfrm>
          <a:prstGeom prst="rect">
            <a:avLst/>
          </a:prstGeom>
          <a:solidFill>
            <a:schemeClr val="bg1"/>
          </a:solidFill>
          <a:ln w="12700">
            <a:solidFill>
              <a:srgbClr val="FF0000"/>
            </a:solidFill>
            <a:miter/>
          </a:ln>
        </p:spPr>
        <p:txBody>
          <a:bodyPr vert="eaVert" wrap="square" rtlCol="0" anchor="t">
            <a:spAutoFit/>
          </a:bodyPr>
          <a:lstStyle/>
          <a:p>
            <a:pPr marL="0" marR="0" lvl="0" indent="0" algn="l" defTabSz="914400" rtl="0" eaLnBrk="1" fontAlgn="auto" latinLnBrk="0" hangingPunct="1">
              <a:lnSpc>
                <a:spcPct val="105000"/>
              </a:lnSpc>
              <a:spcBef>
                <a:spcPct val="50000"/>
              </a:spcBef>
              <a:spcAft>
                <a:spcPts val="0"/>
              </a:spcAft>
              <a:buClr>
                <a:schemeClr val="accent1"/>
              </a:buClr>
              <a:buSzPct val="50000"/>
              <a:buFont typeface="Wingdings 2"/>
              <a:buNone/>
              <a:tabLst/>
              <a:defRPr/>
            </a:pPr>
            <a:r>
              <a:rPr kumimoji="0" lang="zh-CN" altLang="en-US"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2" charset="-122"/>
                <a:cs typeface="+mn-cs"/>
              </a:rPr>
              <a:t>土地革命前中期的工农民主统一战线</a:t>
            </a:r>
            <a:endPar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2" charset="-122"/>
              <a:cs typeface="+mn-cs"/>
            </a:endParaRPr>
          </a:p>
        </p:txBody>
      </p:sp>
      <p:sp>
        <p:nvSpPr>
          <p:cNvPr id="6" name="Rectangle 2"/>
          <p:cNvSpPr txBox="1">
            <a:spLocks/>
          </p:cNvSpPr>
          <p:nvPr/>
        </p:nvSpPr>
        <p:spPr>
          <a:xfrm>
            <a:off x="4067944" y="2132856"/>
            <a:ext cx="960263" cy="2664296"/>
          </a:xfrm>
          <a:prstGeom prst="rect">
            <a:avLst/>
          </a:prstGeom>
          <a:solidFill>
            <a:schemeClr val="bg1"/>
          </a:solidFill>
          <a:ln w="12700">
            <a:solidFill>
              <a:srgbClr val="FF0000"/>
            </a:solidFill>
            <a:miter/>
          </a:ln>
        </p:spPr>
        <p:txBody>
          <a:bodyPr vert="eaVert" wrap="square" rtlCol="0" anchor="t">
            <a:spAutoFit/>
          </a:bodyPr>
          <a:lstStyle/>
          <a:p>
            <a:pPr marL="0" marR="0" lvl="0" indent="0" algn="l" defTabSz="914400" rtl="0" eaLnBrk="1" fontAlgn="auto" latinLnBrk="0" hangingPunct="1">
              <a:lnSpc>
                <a:spcPct val="105000"/>
              </a:lnSpc>
              <a:spcBef>
                <a:spcPct val="50000"/>
              </a:spcBef>
              <a:spcAft>
                <a:spcPts val="0"/>
              </a:spcAft>
              <a:buClr>
                <a:schemeClr val="accent1"/>
              </a:buClr>
              <a:buSzPct val="50000"/>
              <a:buFont typeface="Wingdings 2"/>
              <a:buNone/>
              <a:tabLst/>
              <a:defRPr/>
            </a:pPr>
            <a:r>
              <a:rPr kumimoji="0" lang="zh-CN" altLang="en-US"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2" charset="-122"/>
                <a:cs typeface="+mn-cs"/>
              </a:rPr>
              <a:t>抗日战争时期的抗日民族统一战线</a:t>
            </a:r>
            <a:endPar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2" charset="-122"/>
              <a:cs typeface="+mn-cs"/>
            </a:endParaRPr>
          </a:p>
        </p:txBody>
      </p:sp>
      <p:sp>
        <p:nvSpPr>
          <p:cNvPr id="7" name="Rectangle 2"/>
          <p:cNvSpPr txBox="1">
            <a:spLocks/>
          </p:cNvSpPr>
          <p:nvPr/>
        </p:nvSpPr>
        <p:spPr>
          <a:xfrm>
            <a:off x="5796136" y="2132856"/>
            <a:ext cx="960263" cy="2592288"/>
          </a:xfrm>
          <a:prstGeom prst="rect">
            <a:avLst/>
          </a:prstGeom>
          <a:solidFill>
            <a:schemeClr val="bg1"/>
          </a:solidFill>
          <a:ln w="12700">
            <a:solidFill>
              <a:srgbClr val="FF0000"/>
            </a:solidFill>
            <a:miter/>
          </a:ln>
        </p:spPr>
        <p:txBody>
          <a:bodyPr vert="eaVert" wrap="square" rtlCol="0" anchor="t">
            <a:spAutoFit/>
          </a:bodyPr>
          <a:lstStyle/>
          <a:p>
            <a:pPr marL="0" marR="0" lvl="0" indent="0" algn="l" defTabSz="914400" rtl="0" eaLnBrk="1" fontAlgn="auto" latinLnBrk="0" hangingPunct="1">
              <a:lnSpc>
                <a:spcPct val="105000"/>
              </a:lnSpc>
              <a:spcBef>
                <a:spcPct val="50000"/>
              </a:spcBef>
              <a:spcAft>
                <a:spcPts val="0"/>
              </a:spcAft>
              <a:buClr>
                <a:schemeClr val="accent1"/>
              </a:buClr>
              <a:buSzPct val="50000"/>
              <a:buFont typeface="Wingdings 2"/>
              <a:buNone/>
              <a:tabLst/>
              <a:defRPr/>
            </a:pPr>
            <a:r>
              <a:rPr kumimoji="0" lang="zh-CN" altLang="en-US"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2" charset="-122"/>
                <a:cs typeface="+mn-cs"/>
              </a:rPr>
              <a:t>解放战争时期的人民民主统一战线</a:t>
            </a:r>
            <a:endPar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2" charset="-122"/>
              <a:cs typeface="+mn-cs"/>
            </a:endParaRPr>
          </a:p>
        </p:txBody>
      </p:sp>
      <p:sp>
        <p:nvSpPr>
          <p:cNvPr id="8" name="空心弧 7"/>
          <p:cNvSpPr/>
          <p:nvPr/>
        </p:nvSpPr>
        <p:spPr>
          <a:xfrm>
            <a:off x="1691680" y="1628800"/>
            <a:ext cx="4824536" cy="1008112"/>
          </a:xfrm>
          <a:prstGeom prst="blockArc">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transition>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p:cNvSpPr>
          <p:nvPr>
            <p:ph idx="4294967295"/>
          </p:nvPr>
        </p:nvSpPr>
        <p:spPr>
          <a:xfrm>
            <a:off x="755577" y="2492896"/>
            <a:ext cx="5545733" cy="544765"/>
          </a:xfrm>
          <a:prstGeom prst="rect">
            <a:avLst/>
          </a:prstGeom>
          <a:solidFill>
            <a:schemeClr val="bg1"/>
          </a:solidFill>
          <a:ln w="12700">
            <a:solidFill>
              <a:srgbClr val="FF0000"/>
            </a:solidFill>
            <a:miter/>
          </a:ln>
        </p:spPr>
        <p:txBody>
          <a:bodyPr wrap="square" anchor="t">
            <a:spAutoFit/>
          </a:bodyPr>
          <a:lstStyle/>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 </a:t>
            </a:r>
            <a:r>
              <a:rPr lang="zh-CN" altLang="en-US" sz="2800" b="1" dirty="0">
                <a:solidFill>
                  <a:srgbClr val="0000FF"/>
                </a:solidFill>
                <a:latin typeface="Times New Roman" panose="02020603050405020304" pitchFamily="18" charset="0"/>
                <a:ea typeface="黑体" panose="02010609060101010101" pitchFamily="2" charset="-122"/>
              </a:rPr>
              <a:t>劳动者之间的联盟（</a:t>
            </a:r>
            <a:r>
              <a:rPr lang="zh-CN" altLang="en-US" sz="2800" b="1" dirty="0" smtClean="0">
                <a:solidFill>
                  <a:srgbClr val="0000FF"/>
                </a:solidFill>
                <a:latin typeface="Times New Roman" panose="02020603050405020304" pitchFamily="18" charset="0"/>
                <a:ea typeface="黑体" panose="02010609060101010101" pitchFamily="2" charset="-122"/>
              </a:rPr>
              <a:t>工农联盟</a:t>
            </a:r>
            <a:endParaRPr lang="zh-CN" altLang="en-US" sz="2800" b="1" dirty="0">
              <a:solidFill>
                <a:srgbClr val="0000FF"/>
              </a:solidFill>
              <a:latin typeface="Times New Roman" panose="02020603050405020304" pitchFamily="18" charset="0"/>
              <a:ea typeface="黑体" panose="02010609060101010101" pitchFamily="2" charset="-122"/>
            </a:endParaRPr>
          </a:p>
        </p:txBody>
      </p:sp>
      <p:sp>
        <p:nvSpPr>
          <p:cNvPr id="2" name="矩形 1"/>
          <p:cNvSpPr/>
          <p:nvPr/>
        </p:nvSpPr>
        <p:spPr>
          <a:xfrm>
            <a:off x="177888" y="135670"/>
            <a:ext cx="5688632" cy="674031"/>
          </a:xfrm>
          <a:prstGeom prst="rect">
            <a:avLst/>
          </a:prstGeom>
          <a:solidFill>
            <a:schemeClr val="accent6">
              <a:lumMod val="20000"/>
              <a:lumOff val="80000"/>
            </a:schemeClr>
          </a:solidFill>
          <a:ln>
            <a:solidFill>
              <a:schemeClr val="accent1"/>
            </a:solidFill>
          </a:ln>
        </p:spPr>
        <p:txBody>
          <a:bodyPr wrap="square">
            <a:spAutoFit/>
          </a:bodyPr>
          <a:lstStyle/>
          <a:p>
            <a:pPr lvl="0">
              <a:lnSpc>
                <a:spcPct val="105000"/>
              </a:lnSpc>
              <a:spcBef>
                <a:spcPct val="50000"/>
              </a:spcBef>
              <a:buClr>
                <a:srgbClr val="477AB1"/>
              </a:buClr>
              <a:buSzPct val="50000"/>
            </a:pPr>
            <a:r>
              <a:rPr lang="en-US" altLang="zh-CN" sz="3600" b="1" dirty="0">
                <a:solidFill>
                  <a:srgbClr val="FF0000"/>
                </a:solidFill>
                <a:latin typeface="隶书"/>
                <a:ea typeface="隶书"/>
              </a:rPr>
              <a:t> </a:t>
            </a:r>
            <a:r>
              <a:rPr lang="en-US" altLang="zh-CN" sz="3600" b="1" dirty="0" smtClean="0">
                <a:solidFill>
                  <a:srgbClr val="FF0000"/>
                </a:solidFill>
                <a:latin typeface="隶书"/>
                <a:ea typeface="隶书"/>
              </a:rPr>
              <a:t>3</a:t>
            </a:r>
            <a:r>
              <a:rPr lang="zh-CN" altLang="en-US" sz="3600" b="1" dirty="0" smtClean="0">
                <a:solidFill>
                  <a:srgbClr val="FF0000"/>
                </a:solidFill>
                <a:latin typeface="隶书"/>
                <a:ea typeface="隶书"/>
              </a:rPr>
              <a:t>、统一战线的主要经验</a:t>
            </a:r>
            <a:endParaRPr lang="zh-CN" altLang="en-US" sz="3600" b="1" dirty="0">
              <a:solidFill>
                <a:srgbClr val="FF0000"/>
              </a:solidFill>
              <a:latin typeface="隶书"/>
              <a:ea typeface="隶书"/>
            </a:endParaRPr>
          </a:p>
        </p:txBody>
      </p:sp>
      <p:sp>
        <p:nvSpPr>
          <p:cNvPr id="4" name="Rectangle 2"/>
          <p:cNvSpPr txBox="1">
            <a:spLocks/>
          </p:cNvSpPr>
          <p:nvPr/>
        </p:nvSpPr>
        <p:spPr>
          <a:xfrm>
            <a:off x="755577" y="3345993"/>
            <a:ext cx="5544616" cy="1028487"/>
          </a:xfrm>
          <a:prstGeom prst="rect">
            <a:avLst/>
          </a:prstGeom>
          <a:solidFill>
            <a:schemeClr val="bg1"/>
          </a:solidFill>
          <a:ln w="12700">
            <a:solidFill>
              <a:srgbClr val="FF00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Font typeface="Wingdings 2"/>
              <a:buNone/>
            </a:pPr>
            <a:r>
              <a:rPr lang="zh-CN" altLang="en-US" sz="2800" b="1" dirty="0" smtClean="0">
                <a:solidFill>
                  <a:srgbClr val="0000FF"/>
                </a:solidFill>
                <a:latin typeface="Times New Roman" panose="02020603050405020304" pitchFamily="18" charset="0"/>
                <a:ea typeface="黑体" panose="02010609060101010101" pitchFamily="2" charset="-122"/>
              </a:rPr>
              <a:t>劳动者和非劳动者之间的联盟（工农联盟和资产阶级之间的联盟）。</a:t>
            </a:r>
            <a:endParaRPr lang="zh-CN" altLang="en-US" sz="2800" b="1" dirty="0">
              <a:solidFill>
                <a:srgbClr val="0000FF"/>
              </a:solidFill>
              <a:latin typeface="Times New Roman" panose="02020603050405020304" pitchFamily="18" charset="0"/>
              <a:ea typeface="黑体" panose="02010609060101010101" pitchFamily="2" charset="-122"/>
            </a:endParaRPr>
          </a:p>
        </p:txBody>
      </p:sp>
      <p:sp>
        <p:nvSpPr>
          <p:cNvPr id="3" name="左大括号 2"/>
          <p:cNvSpPr/>
          <p:nvPr/>
        </p:nvSpPr>
        <p:spPr>
          <a:xfrm>
            <a:off x="177888" y="2399702"/>
            <a:ext cx="576064" cy="1892583"/>
          </a:xfrm>
          <a:prstGeom prst="leftBrace">
            <a:avLst/>
          </a:prstGeom>
          <a:solidFill>
            <a:schemeClr val="accent1"/>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AutoShape 2" descr="data:image/jpeg;base64,/9j/4AAQSkZJRgABAQEASABIAAD/2wBDAAgGBgcGBQgHBwcJCQgKDBQNDAsLDBkSEw8UHRofHh0aHBwgJC4nICIsIxwcKDcpLDAxNDQ0Hyc5PTgyPC4zNDL/2wBDAQkJCQwLDBgNDRgyIRwhMjIyMjIyMjIyMjIyMjIyMjIyMjIyMjIyMjIyMjIyMjIyMjIyMjIyMjIyMjIyMjIyMjL/wAARCAFdAfQDASIAAhEBAxEB/8QAHAAAAgIDAQEAAAAAAAAAAAAABQYDBAACBwEI/8QASRAAAgEDAwEGAwYEAwYFAwMFAQIDAAQRBRIhMQYTIkFRYRRxgQcjMpGhsRVCUsEzYtEWJEOS4fAlNHKCslOi8Rcmc3SEk7PC/8QAGwEAAgMBAQEAAAAAAAAAAAAAAgMBBAUABgf/xAAzEQACAgEEAQQBAgQFBQEAAAABAgADEQQSITFBBRMiUTIUYSNCkaEkM1JxgRWx0eHwwf/aAAwDAQACEQMRAD8AkI2klfwr09enSptxJWNxkeQ9D61kUZZQ25XB6kHNSKMTM5HB4Hsaqgx2JBtZZcqDyT4R7eWKn8WAMjaSSQRjB9vShHaHWpNHuIpILeN0l3fjJGCMenzoIe3l42VFla7AOckndXZEdXprHGVjZ3J37lRsH1PUe1SRqI2OVYnGOGpN/wBt7olybC3UjqVZhj9asQ9sbuZS6wQEnoHyc0JdRG/obvr+8cBEH/r2+fi61Jtj+H7tWIO45D+58j/akyHtxcLOI57WNUz/ACsSR+dHDq8s0O/u1KEDlXODRJ8+pWvRqMB+MwlHbP3xfkxgY7v09Mf9+VWTb7jtC5z4Rg9f++tA4L1HKgwkMvI+8bH0ohbarJHPJM8RZCMBCxx86Z7RMr++glv+Gg9DjnOfPNSQ6eqAqoHiByfeo/4w53MIVP8ANjNY+uEIsiwxjBwetd7Jke+suLYkKqAjB5OOtbrbhWLngccZ61Qg1yTuiwjj44PXrmrN3rJjiaUxRIoAOTwKkVGQb1l50B2EcgDxKRnzqVbWLeqknHkG44pNl+0GytFO4q8gOMICePc9Kt2/bE3MyuqIobxLnP79KMUtB/UrGCWwG0FSVPTOartDcWBO0EjIzjkf9Kh/js7tvEUWODxmo7jWp9zbok25yQc9aE0nzCGoEslw0JuI1BIOOPxAefFYwV84bgjg/wB6FHV37wkxxAnOT/rUr3komgTYgEhAyvmD1/ahNZhC5ZNOMg7FO5hgKo68c0WhgAjRYtuwenFDxeqGVEijUqRtbz/Ot5tVlt2LdxGrdeB1rhUZxuEJvYrs4j8WeR0yKonT270julHHODzz0+tSx6xcywqe7jG4AgkV5LqUsTyqoQqep880XtZge+JoNPjK7d2OOQVzXsen7FRcJuIyQMkD61CuqXDtgqmW6HH6VpHqdyWK92gyCQfT2+VR7ZhC8GEYrRFx02qMEAYx9Ktw2sTABVXYeMYoP/E7iOASbYzuyMYrINWuBakbYzt9RUisyDaIdjgDBeMFDt9xirCwxvDvKDL5yR7E0Di1q5Z2zs6dcdaxdYulhAxGAHI6etMFcD3hmGo7YKG24Ksvh9jWQpnTWkIORJgn6Cgq65eA7SsYK8Disj1e6/h10oEZHfDOV/yCoNcn3RDjRKu4bFCk521vGmwNjxow5B/76il069cjAxHznyqxFrtysJO2I4XHTpXBJBtELSwwzIySRq656OM4+Ve2UEccY2oFULwo8h/3mgSa1ctP/wAPB9q1TXruJgoWPOT/AC+9F7cH3hGYRh2yfxZ/SsWNcNxxnzpfbX7kPwI/TpWHX7rwrti9xtotkg2iMW3PkRzWzKMk+flS3/HrkN0j/KsGv3UkqACPr/T5VxTmR7ojGU8AJ6YGfnXoA6EflS7J2guy7+GPGTxtrLbXrmSTbiPPn4a7bO90RiCDHyrYQ7lwoxnrQA6zdGRwO768+Gpl1O+CoQEwT/TXbJHug9Q7HECgBGPKtkizKCeo8/Wgv8UvgrAmMYb+mtDrd3nIKf8ALU7J3uiG1jCyAeWK9aIYxjn0pf8A45eb/wDh/PbXg1u9Zusf/LUEQg2Yxsvi3Dz5xWEDGcY+VLiatqZUsFUjHXZWw1XUGySi8eWyoPELdGEdPPAwOPevdmWYHBXHHzpe/jF7nHgBxz4ayPWLznhceR20G8ScHuH2LBzxkVIhXJA8xyKX21m7wThfyquNcvODtT54rtwnc/UalhVYFBGdp61ssSsH4zzk0uW2uXkllKGCEq3pW1prlyxlXC5HP4a7cJGT9RgNnGzk/haoygC4wcjr70HbW7xSTiP8qgfXrwHO2M4GPw0W4Qc/tGBeF3A+IcZ9qlUl1z/Mvib3pUOuXRbwiPLf5axu0F7EyuhTAYDO3rXBxI3ftGkH70qR4jzj3rQkK/gJCtwceRr1gZ1EyddoOPQ1q4w+7/hvyCKFjHLjqRuhLnJOQcE1lb94U8L8MOtZQcw905Vp6JbwpGECREeEAYA5yf3qeRB36qvAIya97o/DRhc7iM4AzUwgLbEXAkk8J/yjqT+WaSBH5iJ23mWVrSMDC5fB9ckUrxw92CSOB600dtIw1/ZRhdqpG5+m7il+QEx/3pL8Geh9Oq30gyiX4Yg8k1q0rwMDET0yRXsi7OazhmUnzqP95bNQPEsTSi+xJF/jIOg88f3opour934GOQTh1P70us5tLnvEzkDIxVsSd8y3dr+POJkHnnzFSp2HI6lDU0CxDUwj5bqGMYRsh/X1omY2KFhwoztHuKW9Ov0ue5kiPMZCmnWOET6Z3iZDRMR860EO4ZnkLKzWxU+JWssXVtISPGq42+hzyaD6jM0E0kECCSXbkgnAH5eftU9xqH8J065uhgMVIUerHgUJtporewaeeQmRzuJPU5p1YDdxFr7OBKBvtZacxw3apuGQUQf3ra1sNRvXdr+5kljUZ8TE1UbUQb1JUQhFOD5UU+Oe5RoLNC7sMAL+9PQLEO74lW++B+H7qSFMAEZBwc0Ls9XtdOlVYTJIo/kHIq3PoOENxqdzsjVz4AaA3mqQrN8No9sBzgORkmodwvMZVWX4HMebbtFDZwpczxyQ25zuVzjcPVR1zQW/+0Y94VsbLKjgNM3X6Cq2k9j7vXC013dFmHVmbA+VV5uzVsJJIYZJGkXoE53evBqu9o/I9S3XRg7c8ya27c3ne7p7WNhnPg4roOjTRarZQ30KMEDZAJNIGl9iH1K7gAlmitVANwZVCupP8oA9R5npXWLGxt7K2jtbVAkEa7VWhaxNuRJNZBwZCYj3uc5Fa3R75QvnViVSQSuQc1oyHaGIwTVZrsdQwplq2TZGvP4OPnVW8J+IdhwSOPnVy3I4Q+dVLpf949hiubUdYkBMzaBkZRvGM/hrwxMksqjILKFGfc1o4CwkZ8IORUluTIoY8gMcH2AovdBGZISbXcQEe1RlYxtFVoRsC5HDYBFX5Bm3BB5JNVRE2xem7A60avmCQZpbsRMyk9OlTIh+HlGTkN5+dV4gBesMYGPM1ZR9qsSRhqJnAnBTIt5ePcfxA+db24Lx3yqcDvE/+FegAK24jk1taxOo1DzBaNh+RFVntIjlUGVUTxJ6gYNWdjRo64BHrWQqjSENx5V7IrL3nIKkgda4XfvBZJCEMbq23mt2UyHdtyRXv4XB3Bh869WYbzg4FOS8eYsqRNBHlhuGOeeOlZtBfnHXip0RpASMVGoYvjAyTRe59ReM8T0wYUkedXLK1DMzE4IGAKikVlUAHAWp7YyJD1GSK4248Sfb/eVTCPiHG7jNTW9vh5GVhnHFa5cTk8cnmpiJAxIA+YqPdJPUgoB5mgjcvk4/KrwiIUeg6YqsN45OPWrcTSFSeKP3MdicFbwZK0JJ5B586gS13XIQnANELbfLNGvAB6kmsmhjinJ3lm9q4OX/ABk4A5aVhpscRbvZF4OakihsxGcRgg9CTQ6a7hmLgsQwPrUtvv7gKTxjiusLLJUhuJZD5XwdOmBXiybeowc1DA4W52u3HvV6QxMB+Hr5USWBhAK4Mx4wxDBRg9eKjKKiEKozUguEXhTkkeXStVm8QDDmpesMOJKWFZWZF2kAFmA+lVLiErEGPXNGHIwcACqU8RkxGVwp6CqNqlJdrcOOpTtXKyzpjgjmt7GXEz+hU5qUQCHLYySvPoK0SMpOJW6EdPnVZbjnBhlOJtKdp6YWopB90WB6irTqp6tn1rTu1aM7R+HqKb7sApA8juqKwOChOKtb0ktI228Z5qOaEB2VuPPFaWzL3QiY8NnHswNOVsxLiPlgHWMKTkgfpXoG5WTGVJJBHl7VJZpiYcYOzpUKHaGOeGJyKsDqQJ4t9CiBbhCXHGVGcj1rKiaMMxOM1lRDidHB3RMjkeEcH1PkBUDIbeaOV1PAxjPXrn9KPJZNJBHcSKAoOdnoT5/lQPVZRIZ5FGAq7E+vGfyzSQsaTzxEDtkpU2Fwx/xI3AP/ALqVWcBFHJzTv9o8Hw9p2eTGGa0kc/V6QBJ5HHHSq1o+U9b6Y3+HUTGVWXBPNRuDG4PlUjEkbgBxWz4eMMMYpYMvsueRK0+GII5yKrwNJZ3IkQZHUrU03gZVNSoisPnTM4/2lV6/ezjgiX7DUYYbpblB93J4ZYx5HyYV1Ds3dpdQyQiRZFcblI8xXEJFeCRmQ8ZyRRPStfutPcPauVJ4KZ4OeD8qsVPsGPE85rdH7hJPDRq16V767NtbIXijY7B5E+tTafokQte9v5t7gfgB6VUF4xtH2GVB1cIBn86rwajIVdETap6sxyTWhRUSd2Z5e5+cY6kOt/eTpbWmNzjwqv70Z0+9sezujd7Jhrh16ebGhN2U0eH4qc5mbP7cD9aq6PokmsqdS1e5Fnp64bLtgsPQelTbatXJjKaWuGB1A2o6hqXaDUCqh3LN4Y0GQBRa2trfQoxDdJm5kUNvGCBnyqzf69aQFbLs5amCAHBuGXxv7/8A5orL2YgvdCjuZJjHeMM7jyGHvWTdc7/kMD+829JSiHC8mS6DrtjaxSK8oG/nGcFfUYP70PLJcajN8CwnmaNiip8jyTStLZ3HfvFBA05j/EYxx+dNHZLUrKABPhpYbpXHeO+CCM8UTWN7eBCTS1+7uJ5jF2Ls72whkN8qgykOo3ZPTz96cLfHeEgmlns7qH8UF1LHA0dqkrCBmPiZfXHkM9Ka9Nw/VffPrSixHcruMsZ5JGrN0rDB4ADyPX0q1JGWk4HPp6V6yfdj39KXuyeYGJQVO7k/Y1DOu53z0YcH0rTXdXstDtDcXbgcHavmx9q5HrnbS/1eULHI0NuDgIhx+tNRC8g/tOi6hrmnWUJWa9iVscqDk1Rte3GiQ24DXTHMmMhegrkszFwSRk88k81ltD3kONrYqwKQJ3M7ymvaRfwN8PqEXsGO396tO+yKN2IZeMMOQa4Tbx3EODGrEA9MZzTVp17qdpCjW8Vym7rGyko308qgqF5BnCtj4nQ1CyXJYNhs4+lWJYyOOjZ5HrQPTbqS4CSSRNDLxvjfy9CPamKYd5CPVemKQbA3ULYV4lQODuB5B8JHoasWLuj3wblCIvmOGqBjhyV6kgEetT2LLu1MqD4RGpB+tLZoYEzuT3W4HPU59arxSs0LbsnxHmp53aCJNuQoHINUo2Y26yIPxMxIpYYSSvE2UktgmvDCyvtBJyeKkXxKpAz5Gtw2CeOB5+9M3cQNsu233XhJ4xis7pTIrB+c5qsshZiG/l9K3jdlkGeVz1ohaRxINQ7hAQLMuAeK2EJHGeM4rWKQKScY+dTwlXQsV86L3WJke2s0+Ey/XmpTEFbk+XFVp5u5lj5O0nzq9vTKk/WhOoYQvYQ+Jo8SrH+Ly8qkhQd3nHSo5Sp49euKsApBbnd1I65pfvPY20cyfaVBkz2GcoVPQA5HFD9W1MwXLQhfGf5qnF2C2UiJiTklqBa1qR7hpljBkXrWrpqbK1O+UrbEY8QM1w/xDBmzySCTR+zvmFiGZhSUt/LePiOMl+TgDrRKDUGWwiWUNGc4xirJAYYicEGM/fKxVi/XpmppZQkW4uFApUfUFHdAHI6H5VPLd5tigYkGqrVMp4jVYEYMPwXy7+T4fWitsFny0fJX9KS7eXag3HA+dOejREWBmC4D9D60ZJVMmRjc2BLYxjZ+IjqfWpBHiMlR08/Wt4492CRx5VFqM7wQhISFZwxLYztAHNZ3ys5M0RhZpLDjaAAzdPlULxYJAJ3HqTQ/RNce7uZrW7fJjAZZMdecEGjL7dznGR6jmqdhKmOTBE1EIaP8IIIGfeoO6bazqOUbz6AVfgU7ADXuwGQoRww6e4qFfE4rF69XvCXUYB6n1qhMhEaA5GG3D2o1cxH4h0wORx6Ch5t5Cpjf8I6VZrsiWrj/AKe3eqsh/EEANVJ/DLMB0zmptL4B54Kj86juFAuZV9a1B1K3mVlWQKCjggjNZVd5yjbQSAOOtZQ4nZkuqbYrYWydQMsR+1JeoKrNDAuSzvnA9Og/em3W2MUrjoWzilzTYFve01sg5RJMfRRk1GISmK32xW/d3OjoP+FbFP1FctRVy3ODjjP61177VAt5qdpEcbjCxH/NXJZojFIVx04qjY38Qier9N50yzWJx3mDyDXuQisvluqIcOTW4OYmHnmlnuaoPEgulyAa2hfCjPrWzjfHk1GUYJxUjkYgONrbxMkRWVjjqapdyVbenGDnFWw29fl1r0gkHBwCMUanbK11a3DkRrmTuGkC42vGGHHTIzUGiwCbUFDAFIRvb0PpUK6mZdNSSUDeEEZ/9vFVrG+Ntp13NnDs2wf9/WtXSEhctPn+sTFjKPuX9WjF7eGaQK4UExRE8KB1dv7Vl5ot5d2KXJv45ogv3QjP3R45A9G9jQyxZ5Vu1kYlZUAYn0DA/sKZtNsLlru/t7ZMQ3VsZmjkON+DwUA6EDFZuouY2E5mtp6FWoKBFTSbc3F6qbcKD+dN+oXDrbiIEhemBUGh6QILhpZfE3l9aO29mLm5eNgML0I86Ta2/qXdPWK0wYui6vFsksdNsBbxs3juJCFPz5NeaLpTRLd3FxL30iS4aQMCjDyxjz9acNS0SJbFQdhGMtil20LzILOFkiBlwm7hRxnJ+lLL/HaBHe3zuzCvZqCSzsJ4ZJmd0dsHP8p5Uj6U0aTKDjPkMDFJVveiyuZYjKjlVwSp4Iz5emDz+dN2kKShHO6mfkJlXDY5htXDS8day7mis7G4uZ2CxxoXJHtVSMsZ8560B+0S8kg7IvGpwbiRIs+3U/tXKuTgxWcTkPaPXrrtBqU11OzCPOIkzwq+QoMue8A9KutFtBzyKgwEkLHBIrQGAMCCBN9rsmQB+VFtHlTuWjZFyPWh3Bj48/aptMO0uvl5GhccRinBnVYtLhTQ472KNVYryQPOtILpbiyBONw96JaTtbsj3EjAnbyD1pNe6S0LxNLGoXPVgKzcEmbVVoVeRGiFs28UxI3RvsYj+g/9aPCQtb5x5Z60qdnpo7uMqzKYJUZSwPQjnOaYtMuor3S45Y5klUgqZF6MQSCR7UtsoTKWoVWfKzFcSKr4x61Y0bE02qDPJMTdPLmoreL7iQA/hOAKn7P25ae/2nGYkJ/M0O/MXsmuoDAFVreAhV5IwDxU9/A+8NuyPMelbWsReFhnnPJqA0jGJqkWXYKcYGcVOkEbRDcMMx6VotsxumQuRnjNW3tHO3xdBTc5gESoIBHOQemeKkCRmdVUge1Y0LAks3StLS1klvFZScY5ogwnYhCZYo1UZz51ZtdjMcN4SuefKqM1vKXwOcH1qSytZllbPQ8UJK+Z2JpqKplWDjCnzqwmDEBnOOaH6jbyLvBzyQa3ijmRUwcexNAzKYSgiWbkrDAXxzn1qpHcSaihEwVIVbwqDyazUbWe7tmijkKsBmgenWc9xqsNm8rIzRGVfdRWh6eKlUsTzKWs9xjtHUJ3OsShXgitXC/hHBqrJod/qdiWmkEAyB4h1Hyp0gso7a1VRgt6kZNRvADE5bIO09KO/wBRVThBmBToyRloE7P6LYaUu6NO8uP638hV6TT7HUIkW6tgxRuCvBNSWsCqqkH+Xzq1wJBjgYzx5Gs5/ULS2QZeXToByIMuuzGjXExdYZIjjG1G8IqieycKMCk77M+IHnPypnYYKg+YzWzIOAelEPULwO4J0tR8QXHomnKSwtB4AOM9fejMMi/DZACoOAo6AV4YwtuzcemKjj2rZj59KWNVc5wxhCpF5Ep3mrNaztGka7UA3MeSM/5fPpQa41BryRlFwZ2WM8W8fTI5BP6VrqJhlvbi7QqXjRRHKzAJkA8c8E5qtHqVjYgQRXEDM6Deyqz7j5n860EB2xTcmVNOisZjdQ3ckttKSGt3DbWBC5xnoc+hq6+q6jowb+IRiW2MaMJ4UO0Z/rA5BPqOKXtUV5XOyQsjMW4iOOgAp30y8huoFaR03SRRRgK25WYL4h7H2pFykDPYjEA6hLRr6DULYMkgJIyFBzx7etXJk2zIc4xSxcaQdKhmvdJ8GGDy2mfBLz5f0tzR7T9Qi1TSortM8kqc9ciqe1Qu9TxHZIO0yO+XurqNkxg+tV2i8WfxnOcipLod6VXjGD9KmtIlIDDPOM+9MqbJkMIfstqlk88Dr58VVuWZJmBGc/mKn3bbmNgeD/pVa8kJuu724yuN3vW2DwJnkcmQJ3eMvtJPPIrKicjgEdBjrWVM7Eh7Syf75wfwqB9aFdkI92pTzkcRRtz7mptfm3zynPGSTmrPZaDutMnlIGZHI49hQY5hA8Tmn2pXe3tDp53YIgYj/mpNvIVuIe9TG4dfej32tkr2gsnXzgJ/JqUbK+KgK2cdDzVDUJ89wnq/S2B06rK5XcTUedu/6GiE1uQTKg8Dc8VU2BmINLDZmttyJFvx4T59amK5AwarXAKOeOMVPbvuChjRHrIi0fnY0rOmwtWyMDEuTzipbpRuPHU1DsxEOPOiHIinBRsiGdLENzp89rIAZIzvRfMg9cfWhk8Jj0veCQDcFCp8uARVbc8cqkEg9QQcEVY3zXamEyFwzBip6kjgGrVV21dpnmtf6a1lhur/AKS7p0kVttklYhGYBzjop4J/XNPI02U6naTG8kghthlBEm8SKRxtP9J9PKlQacLrTZEUgPGvQ0b0K+7R9m3lit7dbm1ZOEcZ7sHzFUn5yYaVkYEkiuu7vpFJ4DGjdu+37xeppQlke5fv1wHZs4X3NGkuXjijkP4R+Lmly5UM8Gb65qEoj7qNjufjOa3u9IVtFhtLSQfFxHvCxHDtjoapX8SygSKcc7gaFX97qS6k6rdpawugTeTjcCM43eWfWuAyeDBtBHBhTs1o6M8tzdSCS4BZe6yMggjk+3PFPulKIlO8fWuf6TrunaVPHaOigyR5MiT96c558hjPHFPtpNFLGrxOGQjORTGzjEzb62DbiOISVN0owAeaW/tIte80C1TPJueP+U0fin7qcjd4TyAa87YWi3/Zid0GZLcrKPp1/Q0CkhxmJYKRPny4jKMdxFUZ02kAdTRbU4+7kcYyQaK9ltMFwZbnuo5pVKrGJV3KCc5JHngDgeprSZwq5MXWm84gCO2kWCNmUgE+YojotmtxqESDgM+KftFjXVi2n6na21reBSQsajbIvTayj8LeYoDp+miw16SFf+FKccVXN+QRHmnawxGzVEht7FbeBz3wXAA/vSBc6Fp9tFJNqk4kuXb7qJDlmJ8sV0f+FS3kTuCRkEbvOlrUOza2Mi3aKgkX+Z13fvVauwKZeWstwBzFns5Fefw29VI5RCUkCRBsbvUe3GRXT9F+77PWaqqIO4U7I84Qf0jPp0pe0iW3toWO7E8m5ySOC2OABR7S7qF7WOGIgRhcovoOcj6H+1Ra27OBEWIyrkwjauTDMV4ORiinZ0AahdgDgwhcfWgttKPvV9Rx+dEdBkKap4TjfgfvVUlhIBBEm1WIAOyjo238qgt8h1IPhPUVbviGVhnguTmq1uqbg/8ASOnuaEMZJUESTeBdl+OBwDXrOVPt1rfaFkGc5dQ3yr27jBRdpxxzR7jB2DzB00+dw86t6fIY/ETj0qrFEJbnac88UbFpF4QorixkFAJVa6zIc9cjmiFpIDJuyelUPhAJSD5HNXoIlCkg4IqCTJAEqatKvGOTmtBMuVwueK8vEV23McBc1Chj2Bg2AOST5VwQucATmIQcy0SzbsDJCnGKA6MQO3FoM522DefsKI3GtJDAwiVyoU84HoaAQzSRdr7Ros7zZ4/StNNIakwezKB1G9s/U6RczxooVSM+hFQNiS0dh/SeKFpBdqO9YsyMcHdVu51fT9K0uVryYxkJuI2E4HqfyNJbSjzGLcSZJbRjGMHG3ipBgPgH2Nb2xSRYpYzmOWMOpHoRkVLL3VnaNNJngAAAZLMegFKTSlzxGmwAcwTqeqpaX0FokbS3M3CRqMknGT+nXnArS4h1e4RM3MFuCeF5cj8sAUr622owX9rqAeO3ukPMyyFsjptI6AeWBTbPfrc2UNzbKFZ3CgNztOefnijar2uBBBzzA51bUdP1iCznvY7mylYiSQptVDjI5ycfnTFJIBbFgcq3THSk3tZYQ2+jxxSXE8kakDumfHA8x5UzafMs+hRBFwIQEVuu4BRg/PBpr0g4M4NEMaTqUk0SmLvnkbEb5yi7jkA/01YvuyutQSLMs6EDkBMCjulytELOzSZmhWYSDdjHIPAPqM+/lR2WW4cXIubcRwx8RvuHj9x6YGOvnVhVBHcF3IOJz60kvheRwNOCzHaFlUEZPrR/T7G4+PhuhatBGrHvnI4bywPU5xg4oJLKf45a7eGEoOa6BKNuibyzKVt3cMDyMKT1pNhzhR5kg45g2Se+1W4nstOCoiELJcdVgOOVH9T4/Ki1laQadZRWVuCI4wQNx5PmSfcnmtuz1sLXszp8Ua4zArtgdWYZJPrnNRT6pZWrFZZU3+a56GqTKXbao4EaGAGT3JVi3tjjINTpEVbKjAxQWLtFai6jeNsx7sNkeRotDq1lIQpkUDB5PFNrpIMg2AiFXbMsOF5HOKg1A+OR/wCZZBx7Yq5FGPjFkBDIVGCKpakPuZGHJVixrXAwJS8yjMcSGsrJ+JOhIIBHyrKjiFgQFrEneGZz134FH9MBt9DgUgBmUv8AnS5qni7tPN5Bn600PhIVi6BVAFcJB6nDvtUPea3Yr1xbtn/mrnwJSQ+Qp8+047dfs+c/cN/8zSPIm4Z88VUsPynpvT1J06kdiFdMvNyiGQ5Rh6dK1uojb3HOCrA4NULQlX+lEy+6IA+IeWfKqpGDkTdqIZf3lKde8B9cVXw0KqcH1q7LH4T6jitCga2OfKiBxBsr3HPmQPKHxnk16QCigf1c1AUIYflW+4q4X0NFiV9/hp46nvB50W7P6VcajdvLGVSCAb3lbgcc4HvQ+OCW7njhhQs7HGB5e9N/ayF9F7KQ2VvhQ8vjK9SPemVpuODMv1LWDTjC9mQWThjMi58Z4/OuhabEs1hKWUkhBk+9cv0W53IocgTL+JfUetdX7PqX7P3Dkcthh9Kr2oVJUxOnfeA4nIL25k0rVpoGyId5258qv2mtR3Fs0TOMnoSar9q4O/1BkQeMncM0uRJEh2SB4nHp0piKHUHzIdij48Ryj1OPuxFO4BU5BotPFY6vpZhkeJJIxncx6iufwWk+oXKW8G53Y7RngfnWl4t1ot5JaX8cqzL/ACA+Fh658xUjTkn4wTqRnaxxGHtNa2UWsj4VV7ruYjlemduD+tEND1e4sJEdW3J5oT1FJE2tCRAO7bf0yTgUa0aZryHfE6BxwyE4qTpriOBNNNdoQgqsYHM7JbFNRtEurc5Ur0J5U+hoisckkJSRd0bJhhnqCMGkLS72/wBHiSYQs0D/AOIDyp+o6H3p8s76G+hSa3fcjj6g+h96rbj57mNrdEaW3IcoejOH9pLN7PVZreXIdGx8x5H6ij/YF0S6SJ+CW3r7spzj54Jo19puiiXTU1eJcyQEJLgdUPQ/Q/vSbpG74LchIYHIIOMf9atswemVNKD7uI16fFDoHaqCKW1lNxcJLG9xgkMWOQf7H0zUtiFvpjMyjLEktj0Nb2PbOO1WO216JiCuIrtVzn2PvVHSLkLeOsfETMWTI5xmqjbsTTrr/iHdHiOVrdUxygPNKPaW5udY1FLSy6Hk4HA+dHL+VpLaWJeDsyCD50r2882laJLqSqXl3OcdegwKGv5RjA1nMo3Vxd9mb+Vre0F1m37tS5/Ac8nHnmj+haTeW8Xf38id4573u0HQso/t5Ulrr19fXAtzBNCARvcwmSRj5jHAHNdG0NZJ9N++abvlbDCUYPt5nyxVk1nGJRuJK5ktuNo3EDG4jNE9H8F7EdoBLAEfX/rVZ4FSx3cjDeXnVq0xDKr7j1Q8+7iqjgxCqJcu0AuETgL51XskzdMjdM5/Kr10qG/Csc9cVVtVAaSTdgk8Z9KUI0DE9kBecN6ZxU9zErIjfh4Gar+IMxZgoHXngCqupasDaItmhlTbkysdqfQ+f0pgUSRvbqS2dv8A74zA+FeaJ7sSbR60BtdTEKoJJrNDIM53lqpXvau2t7142vk8OMdzCDn6k00VgyPbc+I0YYysSTk+1bNcGC0mkYZ2JuIA6ikV+2JkmcW6XN2xA2LvPJ+SgU16Z8UNGzd+GXuyxU8lQTwD70WwLg4gWKyjmALnVNVu4e+WERxO2EwMHrg5/wBa3ntdUM0Vm86ZlPkeAcE/2qWXP8IRw2N0j5//AMwolMjHtLajHPesMD/0GrpuP8olDYD3In0SK2s5ZmlaR1iYY8s4odZgL9oFuGUMq2hH/wBlNOoRsml3hxz3ZFKNkzt9o8YLDi3by/y0hLbGQs0dsUNgTod9crBo80wxvijZgD8qTu0Fv3OjPdSiOeV0G6SVQxOfT0FHdfv7GKzm043CC9aHIhOckUG7UOy9mkUHOdq4IyMU3TknloNhwRtlr7Obqa80aVZGYrDLsjBPQYHHyo/rpdLaz2jLd8ePXwmkzsJqP8N7NXUiqC7XLBB5ZCj9qPjWDqmkadcS4WUSyJIUHDEDGcelGj9yHUmKXaiWYw5JO4DgY4ovojyTdm7Q7l3m5wM+VL3a2YhNwkAUfnRzTnW37PaQd+3fMWznz5pD8mNxhJp29Ux6ZuaQFicAbQKP9lV7zs0A+3Pljy8ApV7fXO+0RNrADplTzRXQNUjtuzJXbKz8jGMAeEDrTXyBBXG0TLSGSCPTo1lZkWTcjP0bKn8OfToflR4yE2socK+FzhuRS5bTKZ7SIY2I26IhicAqcj0zmiEM97HBcG97vJbbF3ZJ8OOp98+VSmcHMBhlsxXe9tn1yNWso0feArxMVx8wSQaedZZ17IPJDIuFs5MkeIYK4PSuZQI8naeJCScSZOfbmnuSC+stBLMbe8tZbYkxzL3bqp8gw6jnzpORlY4jwI46PsOhWKn8S28Y9/wilrQ7aKW112YwQSXCSuEaUAn8Oar2/ap9Ntkj1OCa3dEVVE0eFfgAbXHHT1r3SXNlYap3jANO0ksYBB3rsAyPWjRsDBi2EHdmLW5V7yNbe32oImlFyeCDkgjH61c1uUz26Ro+mkBlDLak7h6Z4rLAXKNctHGd5Nv9yeC6qhJH60IvFv5NZLzhVBUkR4APA88U9e8xTfU6jauTHEODhFKn2xzVbUgQki/1Dit7Zm+CtJVB5RQfyr2/BJZvLA+lWYAg2GTdEoKglBt59qyh1wJu/bu5Co8wPWsoIyUXQTa9axnlVO4/QZo9KxaN2PJLDFCbFRJrVxP5Rpj6miIYmGIknO7r6ioEE9TiX2prjXbP3gOR/wC80kI+Dg+dPn2rjHaW1B/+gf8A5mkIgZOOKp2/kZ6r00f4dSJat1HeenNWeSOOOfWqMMu081bV8jPnmkGbFYzyJKwJD+9RBT3TemKmJ58ulaRgmKQZ5HNBLIG6UZVIyOoqM8kHzAq5MmY91RC3O13cFIwucnzpqZPEztaUpXe54jP2OhAjviwHeyxoUz1ALY/tTRr2nDWbWK2faouI8Ix8nHSkfs1qBjvDLIcBm7ojyAPKn5ZGPrXS1iSfFrJ4RL9/A48j5j6GrSgrPG6iz333HzOapp12ky2cqGK/gOBkY3jNPXZ3tB8HaPY6ght3Y7fEOGPsaLapocPaSwMDsINWhGYpQOH9j+VJz6hc6bayaV2gsjIu/CmQc/NWq2aq9QvPcpVai3SvkciDe0qAaukqY4b9K3v+zgvrT4mFQrjnjzoXdtsm+6d7m0HRuskfz9RTZpuqpFpJZdsqBeorKtpekz0Wn1FWpXI7+op6bcQaaI1nBWT4xUJ8wMdfzxTJ2+0pNU7OwanEo+NtB98APxRnqfpwa57r1zLc3hmKbNz5AHlXVtLuFv8As/pl48e+G4ia2nGOpxirlQxXuPcydZxbicfjVJ7chhlhRTsk/dalgnIxgg+dQXelSWOty2QJ27iVb1XyqxYWUmn6usch/GOGrTTkgzOsPxK5nT7O9QW9zFb5iuLVRJtHKuvyq/bXAjs31fTYlR4sG6tlOFlXzYDyYUu6aTF2mgyCY7m2MZPlms7O6m9lq0lu7kJvKDPl1qlq9IHyR3GaPXNVjJyp7Edby5se0fZi+W2lDBrdtyH8SnGeR8xXM9MgzZjHsTUl7Nvubi8s5ja7Q3fd2cEHOAFH+YngfOpeym2cxQydWOPp7VmGt615no9N+nZw9ZyMf0jDFpMFzpyiZAROjIpPk3UGgdndJcxoJBsvbVjHKOm7HQ10LVNOFv2aQxcNEwf8q5bqlpK+rXVzbZWRhuwD1pSKScGPtbLbl6jibsT2Xgf70DoTVIXaNp81vKhCFjvUjoD5ikibVbsKI2YI4H82RUsOt6pcW62cWyeSTCqqgsx8qYKD2IttQGha50BNQ1m0lW4ZAzAOytjcBXSdPijisoUiRQqxgDHrj/XNI2hdg9YuL2F9UuVt4d2XijO5vlnoK6RHbKsO2NdqKvhX0FGyn7lSxlbqVXwdPZcrkHOKiVCUYhgCsanHyYGrBt91k4UeLOcCpEtSYJFON2MZ8/KqjK56g4UTe5Dy3mVYYAJ+mK2KLHbAu6KFXJZuABU17c2OlW0l1eSIoWIAKDlnJ6BR1Jpcmnk1jTYrl0MFljKQ7sljngvjp8hUbDjJnIQ7bRIry+GrzwxDK2O7G3GDNjzPoPbzqp2mttaldrOwtRKssarGUYDYM9OelGbPUYNkSPCA2RtPHrQntNrkov55LdxHsKhRnnj/AK0Y74l3aV4EXrrsrrNvJCb54oCVwqLMM49PaiVhoOkQtGl5avdSZBdxJuCj6c+VBp9RutVdmuNQZAgySYy+0Va0eXVdKnN/Z2VzdWm/xmSMDd7r5inEMRiAzZXkzpNhY2toNlpBFHGRldgwD71O6E2MxGeFIx+9Vuy6zypJcXEE1vEUB2z8FnJJJA8h0GKNzRIunXLeTISP0oqaT2ZmWv3Eu4HddnIXK+Hvm/8A94o7NGrdsrMHHMj9f/46EagVPZO3I5AnII//ALir19Iw7VQskjRtHJMQw9oxV0IAeZTJPiHtYi/8Ln2gZ2gH8xXPbOYr2+vJEPMVvJgjyIWnnUbqYWIjl2sZTH4l8gWHUVzzT2LdsNXcEf4EuePbrSnQbcCOVucmWteIbW9PYcO0SuxzyxOM5NEu1rBdCgJAI68PyaGawAe0unxKo290o4+n+lXO3UoTTYo1HIUnp7USmQBkiUOzzKnZJJCSA1zMcfQUb7OSq+h6cCw3GW4PWl3Qpon7HwQGTD95MzKBk4OAP71L2cCMtvErOFDyknODS06zGMeMSLthxPGufL0olpl0ZrfS7YlRHDtI9SSDmg3aKN9R1aG1gLF3cDOelNUlrbaPFBas5aRNoz5nA61KrkbjIZsALBXbnbLsx6YqbTGJ0J//AFt+wFeNo8Wt30s8k0ltZW43SNnJPyBq12esm1G0aCNjFAWY96OpJ/CB+5o2QkZEEsMYmlnCvxdsUAVsMCQPail/KILRmde8HnlsftQJ7+bSNUWHUYGUwsVMscZ2sCPxA9PSr993/wDAu+mlil3MWRoslSnlQ4IXmQDlovWV1bXPaRFFt3Uu1ijpKT5eYNNF53cfZm7J5xZocFiQCT1HpSRpTA9oFcA52SfsaeLiFLnSXt33gGCJW2Hy6k/pUAZ4ENz8hGp5If4eIJo1dDCu1GAOfD71zXT5YoNYvkglQ2kcBy2TtViDlUz1zmji2+o9o3UgyW2lyJ0Z8NcAcbj6Ln060Lu7CfSrprI9w6T7dvdAgAL5EHz96GugqpMlrOYx2cskkt7dRIw3PhARzgKBQJjdDUbiWd+7KxtxnJweKZZroLcSgE7gpXjpkBc0pmf4jUrtnJXK7S3kAOaao+4omdUsPFpsQHRVU4+leXjAW492z+VeabmO1gU8q0K/ntFZq/3cCuOhPT0q3AgK5QiY4J55rKsyr3j7l6ECsoMQswZY+G2upT/PIF/If9avRsB8OufPmq8MezTmXzOW/Wt1fM0S9faukeZyT7YRt7VWo6f7tn/7jXPkbJ/en77YDv7UWjA9bX//AKNc/TrVO0fIz1HpjYoUSTZ09atQMCgyaiQbhmvR4WHpVczbRdvPiXchjlfMV5CpZpUUEsRwBU1rZS3L7YlGAMsxOAo9zU9s/dySR2Z7xz4Xm9B5gVAXceIGq1delGSeZNHZwWqB7kq8+MrH1A+dCLqR7md1wWywAx50chto2yqeJiOTnpVmz05ICdq5ZiMk+daWk038xnhPVfU2vfBi7aQi0v1juBiOXwOB5A+f0rp+iy/H6d/Dp3239mRsf1Hkw9q57qUZW9lJ5VZMn5Ec0Z0e6uTiWJs3tiAQM/40J6D6UzVrtIcdSrpH3rtM6xp3c3sEkV4hju48YI/ED6qan1/Robvsylvqtmt5DjImQeNar6RNZa/YLMjkSqFKspwyUZ1WR7HRlgvl7yLGBOgI/MDpQJxysNh/qnA7/stcafemXSLkXEQOe7Y4cD096GXeqTafqQItDGSoEoC8E+4rqR0rSLy670oWD9GSQ1DqnZvR4JIpYo90sjANvfO786ZvDLtYZE5K9rBlODOWXccN/rNiO62RM+5x0GMZNdS0F0utJ1a0hVP91l+JhVRwVODx+RpO7QRW0+io0Fv8PJau6mTpvQ+HHuec1Y+ySC9ub2UQkNFbgiQseNjeX7muWsCorJvdnt3Z5xiRdsLQR3sN9Cn3Zw+f8rf6H96Fauyl4rpQoCqpwKfdZ04XWhW0GMkiWEfTOP1WuZ3Ny0unbW4ZEwfzp+mb44PiU71y2fuM411tO/h5ODHJndxzQG6v8as7oQCWLDj3qG9E9/aaVBbo005XhUGSTmmeDsONNs31PVblHvAPBapyq8fzHz+VNscCLrpHcCxKXEkUoZUuUBDY54Y4I+uaLdnC2mXURuU2orjEo5Rh6hvL5GpLmyLTaflsGW1yrYxzn/qKKaXbyd68TFoLgcPjz+Y6EVSuQWcGaOm1B0/48iP/AMTDe6XtUq6lTyORXOboi219QR4CoBH6Uae3ewlXZItjIT+LGbeUnyZf5fmKB6tK016qzW/w95CfvIm819VPmKz7dO9fPibej1lVoIPBMN692NgvNJ+NtxGx27ih4IHtXOrYHTBqSwyNHMkUbxSocMmJBnBrp1zftDoKjvDtZc9f0rkmryykzyqcCQhcj0zQ0tk8w9TVsU+Z1LsL2tOsb7PUMC9iXcXHAkHr7H1FNrSjDhWG3bzz50laPo1sdO+E2bVaMb2Xhs+ufWlSXUNX0PUbqwe7Mgjcp4uQ3z98GrDacuxCmYou2jmdJvO0FhpGx7q6QFjhUQ5Y/wDfvStr3ayWS2EWn3axozhWMbZdh16+XSlzTYJNQ3BtHtbnOfF3ZBP1Bo7N2AiuFg+Ena0uXUZidjJGD8+oqRWlfDyGdn/GUPjYbjT3uFXZeQsrK2c555HNe3WtSx6c0ERYI572Ie/mtBdR07Uuzl5cWGoxlXPiRlOVceoPmKpx3ve2Iy34D+I+RFE1CsOINVxrcGGYdRu57mH4d5CuQQPTFaPfk20sr2UrTFsmWXoPl61a7IXcNpqBmMDzs0bd2qKW5PBJwD0NFF0m9vYP4dY5nmmzuDQuAin5jmqZAU4xN33SwzmLVlHHNdwxSSTW00qqJ2l4GevT+npXV9E0tJzAi3D3RQq/esMIigjhR0JJwKA6N2J1PTpDcareRAxxtIqGMSvtUcj0/Ony0mFvYzShS8iBPFJ5gnpgcDz6VxUtzKllyhdokOuDE8UQB4i3EAZ/4gHPtWsN0y6RFEJSzNDkrxgDI6+eearXs0t5cxzlRu7tVCqcKfvD/YVUUl79XMaoDZlvCc/zgc+9WQWIAmY2MkmDtQulTs/FbkndLOzqOvHfn/SreoXRi7T23BZu+mVsefAGP0oFqkpezhgyf8RtvlwZWo5a6Y/c3d9cE4gWXuCepJBy2fpxTMERYPgS3dXH/i0WThRFGp54/GTS1ZQmLW9ZmwAJIpEjz5k4q3FY3TlJMEAxgjcAB0461JFp8hMyg8iTBTdznAyTgcCpZSYQfGZpcWTS6/Z3ilO4jXG7fkk+WPrVftZcJfKq98iHGBuBAJNGE0vbDFcOQVjUHJY9f6QCetKevNmNO9iLDIBCHBAwT5VHt4hq2RmeWdvPbaVtSEt922CnI68dK80KS6jtoEgTdKCxxxnk0a7L5CzkOe6EK4BHLeVN+haFCknfMi7t5z+dLNZ6ENbBg5i9Y6BqsN/8W0KrLztZ+QoHmfWrb2K3mpAyOQiRB5ZGPnmmDU73ddrZwvtRG8bDqx9K2vdFt2hWU3MkSBSZMD8VQFJ+K/1hl8kExR7Y6hDZabFp9ltPeDc7IcHA8jV7QEVdB0hGtppQboEd1xsbJ8Tf5R50pa7ItxqiiPhR4RnypjsJLy2soFS/eKHJ7tEhRuQegyM80xbBnnqdbVtAEK6r/j3hAfC7iCM4/AOvrUOqlToUOF3LsXjOM8e1CZ9TunOoq90AQzgr3SjIA6HHnV5pDP2Pt5sDhcce1KYEZ/eQixI0q4tzrMzpDIkscTtjvMr+ozXQ9GgGoLOZZmiQRBmKKCcYI8/nXNdJUJf3k5GR8O+PrTpo19NPDeNYtMsYiVZO7Xp8yaJP3g2jJyPEN6BfNd2otSsrfDoYVMCgHaHOD6eVCO0UjLrNq2xk5bAfH9Nb9g3U2upNJOyAsCDu2keIn9a2uguo9p7JC6su5+hznApvBQLA6JJk1ulxeWzJCfvJiSSfLpk0varCtk9zbxOzMgw7HgFvlTvqUkWi2c10EAk7vZGg6AUA1J7FrJHkt4ZJWCmQg85OM8V3tgNwYO89mdFtCW0+yl67oUJ/5RUOstu07B/rAq3aAfwiEKMBYwAPQYofqzH4NRjnvFFP8SINujIkihOhUGsq3cQkuuXxhQMVlBgwpVk+7edMZCggECqlsf8AeVOatycS3GTjJI5+VUbYYuB+tQeZw7zOU/ayM9o7UZ6WoGP/AHtXPDlSa6F9qPPaqDJ4FqP/AJGkSZcqT7VUc/Iz1OhqzplYTaCQFRUjZZhjk+XzqpESoozpESzXgkYZWNS+PU+VIYY5mkt+KiT4hm4zBptvabhBGF+9desjeYoWk0UIYKssaD0UnPzqUykXCtcNK5DYVAcKPajYteM7fCw6Z6VpaahNuc8zwOv19tlhLcSrY3No6KiSqW+eD+VHYAu1DnnnyoM+nIzruiUn5cj61K87WYAkz3fTdnlfnV5F2iZJO45lLWowdYeIcLKgxUOnXRsZrbUG/DA/czj1Qnr9K21KYSX1pLnA5GfWseNIjPC3Mc6/lQsm8FT5liuz2iGEa5L2Xsx2hhmjLGwu1ySg/Cw5zjzBGDiugan2mguNGtt+1hKuQ68q3uK57o9vP2l7I9wj5v7AgRjH8y8g/UcUFOuXOmdzd2Q760mXdLbN/I3nt9DVPTqGUp/MJdvbYwbw0Pz/AAzyb7Z5I5A3RGKjmo7iCUhGkuGkI4Ekp8IJ/pHUml+Tt7bQTyS29jKWkj2EYC8/M0Cv+1esXkW2CAWqYxvUFnx/6j0+lNWsk8iSWVRlTzLHbmeEPZWNrMSiR7pHc4y55ORTP9lLpBo944vhbn4jZyv4/CCB9Oa5WizXbhMPI4JJ6k11P7MDFbWerCdFdFdJEVlz4sEcUbKdvEitlRhuhybUraK0lefvpu6dmTu/wk7iMD3pBi7P3WsXs4s4mitnY4kl8KqM/rT0NO7r7/U32RuzSJaqfw5Oef8ASrSXHxKgQwqFU7QW4XHyoEymZFpV8YECnQxpGirHp628sqjDyGRhI/qARwB7VTsH/jEc1nDcSRXWCDbXRPJ9m9afLOxjmEScNxlsDAWl3V9KjKXsTAoveYikX8Sny59qVYp/JTzJVx0RK2rQMvZiwMqd3e6eQHQ8kofC3zHQ0QUm/wBOt9StcG/tcKyf/WQeX+lVm1QWlpbaf2lCzd4v3d9GOo9GH962tLK50+QXemSre2jnJ7pgSPpXLb4s4Mk15GUhaS6ttX09kABYr44n/EPp5ilC6vzHH8FqMTXFjGcQ3Cf41t7g+YHpTc89lfqJPhyk45kRTtcH+pT5H286W9WitHViNWWC5wf8eEhXOehI6Gn7cj7ldWKniQSXctxpotCwd0ONy9HHUEex4NL3bCKKwtbW0QAS5Mr+vtRqyWSyeO6khj+GbjfFIHjJByMHy8+DVTVdCutaupJ22q2SSzHhV9SfIAVmMnt2/tPTV3e9p8+RL2sdsJrC0ih0mIG4ZQDcEZ2HAztHnj1NBdDsZ9QDTXrM7tJuZ5Tksfc+9Xu5TTtZsMEHTLiBooifxEDHjPzPPyo/aWnwttd2xwSAHjx1Jz4a0KuVyZg2kK2BL+lSRm3LRxhNnhYL61ftbjOpKQ2V28c+YoTpB7q4QHAF14iPIOOorW1uBa9pnt2IVXy8eemfT9aXdUGGYFdhBh/trpkGv2z6edq3bRie1c/1AcjPv0rhVsGWWezlUqSxBUjkMP8ArXbdbvGt7jTJm4MbFc+1DbrsnajtvDr2A9tNH3vcgfinHBPyxhqWre1w0aoFnIhD7N1n7MaO8V9bObjcXxGo8KsBwT50ZbWrq51BbjuDGgQx4YHOCaqm4ggjcmCQFm461ZgudI4WWPJxnxZqoNSc5Kyw1PGN0H3NzcGWZu+YBgyFdpPhbqMe9Qpcy26sy3UoVnUSKVOHwQenyoyyaQTvSAbW4yCetayWOmOhO3aGHHjI/vR/qzjoRX6YDzB6anatcxymSZVjRQB3LYY7iePzqs2qWdoGf4iVpfhxCVZD13hjg46cVPLYaQARFc3I3cDZMapzW6QzDbfTlTlikqh8/XqOtcNS2eBCNKjsyjFNa388CNHINpP4PET4i3T608avNNNpk8Frp9zI8sLKuxQAOMc0tadrFxYqzw2Noz5KiWQPuP0HSr9n2l1V1kAt7FgCM8vxVlbFx8jEMOeJs1rqh7rudLnYRphQ8oXfwAflVaYS6ez/AMRhjtkmfcCbgbmyOgH96tTdoNblslVBZWzSEgyruYoPUA8ULex0UILu9nuL6eYkFnJyx8+PSoe+sCcqHMJRz28lsoKIHUBEQgZHqeetLGu2aq8HdzqjABmwenHnijotrf4CGOzslWSVvAJBuMa5x59PWhurrDDeJYwH7uMYlYADe59fpSTfngCGOAZb0FBEszPPGDtUHOCvvg10HS72zuLLu4JkaRSQ4Xg5yTSPaRfB6diGJWmZeuOlDrZEhujcXGpCyeM9RGzbvyqEvO7qcRxxOii2tbO4NzzJI2cbucUD7RaheLaGOO2nl7zOTGhbj6dK8XtBYlFkm1CNsDhvhpef0ofP8FPeyXDa5dqHPhSK1l2jPQCiIsLZ6ENCF5PcXbXS5LvVhFN92d2ShPjI9MUyLE1pEiSRbsjDgDJUZP6dKFQaNo0Oupq0uuX8jxvu2mwcDjyz1o1calpN00LW+p36Inh+7smO75k9a72njbXVucxclR2h1MK/hVZDjGc44HNXIJ/h+xwhDqWQ5wRnrV34rs9PaXEKNfuHBDyJZMcZOT+ZqBDoywGDfqbI+QP9wbyHNMdDgAQEfuLNkk89neJEgd2iKqAoBJJ6U1aVYXvZ3QbqBhDcT3wDd0jcxnHHPQj1rexvNG01jDaW+oGYgHLWR3Yx168VsNQjZi/c6m5B6izwR/8AdUqu1cmLZmJwOpd7KaDFp2isr4lus+Nj5fL863XRJ4tatboKBEm7ex6jjiqsPaq3s5REttqJbGWV7MAke3i5rL3tEZ41iX+JBXXPFqo4/wCb5UeBgEQctnBl/Wx8fa3hXlYsBeetCNW7nbbwQxqmFXcQB4jiqkc1q29HuNU7uTA29ymSfT8VazRPGpWP4vcoxiZVB/Q0jey+I3YCO51WxJ/hkPTxRqPriqGsHcbdF/mccepohZqw0e3DcOIlJ+eKoaqQXtmIxh+D6VaHIiup5MoaQmsreeLMmQSAR/TWVMmDbkk95gdTk1WgQGfI5GQc0VuI4pbR5YiCy+Y8xQ6wHgY/56AdTh3OOfaqCvaeAnztuP8AnakgkMmKePtXbPa6D/8ApR/8mpEzgD0qlb+RnsPTG/wyzGgIj3cUy9nYRBp893KAQW2LnzwKX05U4PFMELZ0qztRlS4LcfPNJILfGD6oy06ct9yybdZZYyRgs26jJwFC8AgULhcNeAD+XAGauvLm5VSfM4rd0qbUwZ851NpezM2mkEbRovBcZzXlyiTwFiAwAwy+1VL+RUuYOTwec15eXRs5VB4UnB981ZET3gwDOWSX4ZsEKcxk+npRiVBcWSFQN0YGflQrUo8bnHGDkUa0lo5I0ViMyxkAUB+Jj85WXOxeuLo2tzF4O8ScKQnlvU8H8qGXxfT+01wwjC2k8hkjjDA7GPLLjy6mttHm2a18KI+8kaVWjTjLlScrk+RBP6Vt271W3a872C0S3ETx92kXiGQTncw4zjI6mqLkJqN2O5oVqbaMHxNl020ukM8GwEnJrZoYwpQKMYxQLTtVWGRlU4iZty59PSiEd6rF8EEFs9elagZcTLZHBxBWkQG316bC4wGAJ8siul9ltNSw0y51bYuZmxECfCMfzfnmkeCynvdRMlnGQJVEbO3QNnAx6muk3dvILOHT4UItrZQucdSKrO6/iDLiq35mB17y/vy0zFznjPpV/UJP4fbHCheAajs4SlyMcEcc1L2yjZtEM6n/AIfP0qsDuaPAwIb7PyhrZAfxOu7Iqvr1s6W8wx+J9xNUdEuguiWl4jcphW+tHdcdJ9NWUEYOOldYMgSF4JiX2vtJW0yzkABEbIcY6DOD+9Av4dc2d476fcvbs/iVVPhBHtTzqUK3OnQxkHhcUKXThc3iRqyxrw0jngIo6tn2qFIwd3ULJDfGVNO1fV7iKcazZ27Wtvj/AHg5V2PkqleT0yR6VSu4NOklY/xLUMsVYRx2veAgqCfESB1z9KN6hLDd372duGW0t7R3RSOXLAjefc4/Ki3ZW1W87M27FFJSIZyc7senpVfTne5CnAEtXfBASMmJkE9hYCdrXSdRu5dhQ973cakH1AB/PrS5rGt3l9pgtreA2Vkq7TGCeceWTyfrXX5NIjIeWC3BLceXSkPtRo6LFcoq4YIXVR6+dNvr+Oe5OjuAcq3REFX93cSW+nNJATFD3aW2wZ2jIyW+fP505aXGZcKzFjA7RZ/y7iQfeg2jYlFlt4Xu1Bz0zij9qvwuuSRE+CWLcfmBjNOXriVH/IypexNHcy91gPG/fx/3xVO9jadvjovxKhmU+fAyaK3wMbLMBzEfF/6TwagsohiaEjIEbhcn+Uj/AK1x5g4xIO0N+LvQrK9UjKsC3zpo0thqunWluj7JvxRtnG0iue3ZZdHu7Elj3LhwD5CmfsFe96I97KBGCMt8qVqEDJkxlTbTGGd7xYCPiIo5I32ur/ymo0kvWcqLrT229WY4/ep+09hBdol7uaNmIjkKng/0k/t9RS7H2bt7u4Jknk3Mu0njjFYzMAeZqIitycy9cXM80vjvbIQpnc4k8I+v+laR2iSRCR763RB+BmznPqBnP+tD7nsU2ZCJpGDY5KKePao27I3JhQxSDoMkxDLEdM0Qf95OyjyTLH8PjiZWudTRMudiIAXc/wDpzxUr6Qvd9/NqTRjOFRdrO3tx+woRJ2S1NcsREUUHjaRnNU5Oz+p7M/CoyqTwCQemM0YY+JIr0x/mjPBogi02S4vtSNrEjF97bVwPQnpSfedpNMtbySLTbi9u1DAmQBUQfLzapl7OXVxA0VxZXPdryoSTPPvmooeychmYLDfDemxsqrcf9ipRx5i7KqugYS0/tBFdRnupt5B5jK4ZefMUQu32zQBl+9zuYHp7UMtdGh0+5mmkS6EjoE/wQNuPPj5CtmmkAebvJJHyT4kxj61wYM0rOu38eY0xSM1qJCSN2Tuz50Lk09UhS6ublVaQ7tvVm586qxag6WEm6JgqjGScjJoaNRSW5j73ARV2Bc9TRAbTmKOSOo03BljVTEcAgbFBrWSwE8cj3TlXRQML1LHpQ+PUJZyJUDOFXHC8AVYuL6eVBNHbSZxufjO44xnioc9ASKwQSxEIt8dpVlbKtwzCXGUHI2/Wp5Gvbe4sJHcxRTSKyoCT0OQQPKgCay06rG6ygqMKpQ5FXptQfU7yyjkLPHEpHh4PT/WpryT3GMzAhcRk0aa1uNTvGvGMkkMzlFb8CjPUD19zQuaRjDbzw3VuCFydgzkEk4IzVVpoVluAp2s8hY84JNa/FRcFWVVXEbeefOnG1lnKwl2Bd2nQpMCCJArEDaRnk4NTXBG+N5ZJliM0u5l4G04BI9Dxiop9SBgMeNyhg2SeTk1DdS9/pmzaEMbeI58yaiuyzljOBBl1ri2kmWCGIW5dMxgDqPc1UW21Gyt2TvIyWO4rnJH/AGKigmRZI5GYsVjKoaNKy3dksgG2QJtODzSP1DkYM5xxmUQgurRzdoSitwdvT3BqBihnVWl2sIgA20HeNxOfYjHSh76reFWjLZRSEAHoDUUc7vJ3ixEkOAJCDhT50ylzuw0Jhlcxi0HTrRGj1C9lXvlLJCuei54+tVtbvbSaZUjOJVblh0NBLKaeRXy3CSt+9VboyPO7AE9al3OcATlyRO02bCbSYSMMDGP2odqCZgiPow/erWg5OkxKevdrwPlVbUsqkY/pYZ/Or6niAZekBDeE8YrK0lkMchUVlFAg+4QIJtp25446UJsZe7LxthcklaL3+EMiHHPnQZBmVIx1+VLHUKcj+1ghu1dtjqLRf/k1ITfpTx9rOY+2eCOPhwR8stSMp3J1qnaPlPU+nvjTqJIpJQ486PS/4sEKZ3JGEHt60Es0Ml5BF/VIo/WjSODrN4xPgiG0fMmioTLiUvXrv4IWFbCMPeyHBKgDFb3bCG4iZuBuIPNbae6xQPO5AOc81XvZ3vYzsjxzwT1raUbVnh87mzN9VjG2OQHIHPFUO0E+YISDyzLzU0k/e6Z3fPeocEH0qlryMthbykcBhU5hoozLF1B3lnnGfD1qjZ3Jt5rB2JCLwfzolnvtPZkPRQaE6bbrqcojaTavOD05FRkEwwpGZmpXONZEsJ4jJdSPbmnnt/Aby4+IjK91IkU0e0ccqCfbGTQPTuz9sJw02HCKSQ3OeKP3eJNAVZOtvG0Zz/SBlT+R/Ss/Xg7VI+5q+muCSkpaPo2kapYO0ljGLqEYdASpNXbbs/p9uC400qf8w3D96ha3mtdPstWgGFmhVpQBjOR1osmpxPpZlJx7VmNY+MAzWStAcMJ7p0aXGqxRIqrDbASMAMDceFH7n6Uevb8TTJDERgdfc0qpeDTdCt7hm7ufUXLgZ8QXoMfQUY0sWm6PvblQ58s+taOlTamTMvXPufCz25ilt2WcDcAfEB5VLqQW60eSHO4FDx6Zq6IgJWG5ZIm446Ghkhay1RbVxmOZSq/WnKOZVzxB3ZKQz9mb2ybHfwEjHnx0ozHdC97OblzuRlB9uaT9OuJND7avbEkw3Iww9/I0waG+E1G1OcBiQD7GmkZneYVnG6yUn1NA55CBDaA4jnmaS7ccAQx4AQn/ADH9DR+6ULbKhwcZyT5Upaxpl3cl+5vnjjclzCR4Tx1Hzqs6My4HmGjKrZM97PX413tPq12uO6mbuI8dMCNulMvZCUwdm7RlPChs5/8AVj+1LHYLTvg7dJG/4t+5T6JjH70wdmcrpDWxXIW6mizngYc0jT/G1h+0dqOagYYmvJLZ21CIF4ScSx56D1FDdZto9RtGv4drRlSqkeZ/74qe4le0eXK/duu11J/I0BgubyzzaQW0s1q6NIBsI2Hkkc+XFX2xKq5zkSn2biWSygfqqg4zxznAFHLtf/ELS5GBt8LY9CKAW9xFollHFcXaqGYnZsJcFjnaF88Dz963GoS3ve91BdLAinEk4xvIGRgeVLU8YhuCWzCNxKjyXFqxGJVwpB86HpqKQxlASZguDnoQKgmtp8pdPAWWQBkhEgG7PmG6VTltbyYjFnFaqSwymWbkY5Y8fpXA+JxEm1G2Wa3nnicFWTBANR6OZbDs5dSHhzg7iPKt5DnRruMnc8K4JxXrqV7O2FoOfiXDH5etG34wAcGPvZtX1jRZLa6LGN0xk+XofocVAt3HaGaKWCZZ4zsfCjGR5j50L068khgSw06aSK7k+7RxyIlAyxPqen50E7QR9o1uBLeNb3wCgd4v3bMPIn3rH1daNZjzNTSE7eeo7Ra3ayAJI8qMBjxRGrkOo2cgGLlQOvi4rnlhZ3k1tHOonQMOUc8qf9Kv9xqUOCJXX0VhxVP20Xgy+aMjIMfVjtp13JcyD3SU1o9jIGKJqUyjPQhWx+YpQVL1F8MhOOqg/rWLdXyk7Zpd3sanaviR7D+IzvYaikh2ahEwP9cOD+hqP4HWFOVksnwOBsINLzaperIV72UuT04qRdavoyCS4H+ZeKHbg5Bkey/kQ8INS3DvbaAEeadP3qN9PSUEy2SFjx/ikZoNcdrorVR3spyRgKvJNB9Q7bagrB4bUxKwwjTA8/SpBboRyenWW/yx3/hkCW0j/wALuCw4ysgIoA8dgLhO8s7pAHycrnBqPRu3k91AUMOZB+Jff1HtVRu0zy3WVjlx3hBIIIz6Cp/iRL6IIcN3GBZtJsJlnjt5cOQuJEJGT59R51tpd9De3d6bc9x8NhZIY1AVjjkkZOOaEXeuxX2I5zIEROpIOOfIGgdvPexW+pSxMIVnkDx78guB6AdePKrKqTXjMo2hUfiPo1qCGLv5WhCd6QA5CeHjkk9OatSazoqRRSTPaK0qlk8S8jPUEdeaTLS0tdTeayu9Q2JgTCfuypLZ/CQ3HAFWBBaL2btJTZrPdq7wd0JSm2MsTuIHrRLo9q5Jijd8sARjmttBvLnaFBZ4zKGD+Wcc15/s5pD24ZFYeLnY/WgdxZWtpbWOrCxgtLiTaoaWYyICAQRsyPICjWjSafqell5LeGObJ/w32hgDjI54zSbKrE5Blit624I5hCDsvp+VZZLjPGAxBA/SpdQ7N2lzaGFbiSNi2S4UEkVHDcaDArK2qiBl6j4k+H86kt3sdRkIsu0DuQcYLKfyzQB7gO4w0IecQO/ZGQIqx6qWAPAeIcflXv8As/qiRcX0OOjAA0efSJwp2alIze6qa0+AvyuE1RHH/wDECf3oPcb6hGlT5ionZ7UoWfYYHB54bBr2Ds/fJbGGYDbvL/jwckg/WmddP1JGO27ib2eI/wBqxYNQSbEqQsvPKP8A2IokvbzIageDEq00LWo72Tu0iWIuWyeeM5q+2mzpI6vtJPmBTTAZEvQD58fI1rdh1nJxnPTmoNw8wVpAjDo67LaMeiAVHqCbu89c8VPpp/3UNnPSorkkXBz0J4rcrOVEotwTN2j7zDZbkVlSq4jUKx5FZTNsCC9WPeRowXnJDfOgkj7byEqP5+flR/UEBUzDJVgcjPn60sznFzERnw+L6UA6k+Zyr7acL20i2Hj4ND+bNXPkbjqOtPn2vkntmi9QLKLHvyxrnwBJwRVawfIz0OhOKVhjQFEmswlvwx5kP0FS2zmQTv1Ms5Ye/wD2Kq6TIIYr+Y/iWAIp92b/AKVLa4PhzxGM/WrWkQdmYfrNxe3b9Q1DOoJaU5HRVrZJprkbYsomf5arW1lJIgllcrH5LjrRBJkgGyNM7vQc1eJ8TCwJUuhGriNjtwMFqv3VmbvTGgLBsDwsPag2qCfaJSh8+ceXvXuias0jfDSOOTnGc1BOIxFzyJXiuXs9KukfduUFevnW+nq1jp9vNty6HeR7edb63brG0J423Bz88VYgiSdJVUnwRYHucUNQz8obn44lmDtIlxLFax2U6TyuI1JwQSTj9jTb2/0fVIbO0k0cMwNuILmJADuXnDY9Rkj60vdj7CO67WWrMuYo4/imx5ELgfrXVJLlDcR7vXbj6YxVDWvhgs09Eg2lhAGjsj9g1t7mMi4tEEboRyB50o3KNOIbC2PhncKrDyyf9M00Q3Srqt5bMw2y7t3P60rWEhXWERB95GrpACeN/IGfYZJrOXBJJmtaCvC+YR1sw397CkOnO6QL3SOx4IHTAq1pkFi9wI5LVoptvVzyKoXF9JpXai300XCGLuQZAjFlLD+fJ5BJpsvo/ioHubV0+JCCRAejgfy1qUvvTiY99JRjugIT6npF8Q/+8WMrEBvOP50T1qNry0jliP30C70YcHA8qpab2isZbBmmYJIHKyREZbd6AdTUg1ZTei3mtmty3Cq7jcSVz+HqAQPzpgdQcE8xQqYjIHEAa0DLPpmpjjDhWIPTnFG9IkZdcuQpDLIh3gigeoso0O6i53QTbkPsav2N2kBu770UKvucU3uLB4jhLOswIUg87ce1CpB3YVnPCHPPlUOnydxaIS2Hbx4PvVbW7tiFsoyO9l5+ldjEHuELK17mz7Pd2uFFxJMw9QQ3+tV+xD/E6dduQP8AzU79fLcau3tyml6VpckjACKGTcM+i/60F+yt2udJugOSokY/M81So/zGMtXfgIX1KC4ubOILcNDPG2UlVQSMex4NLkttdyQk3mo3c/VSofYCOnlimqeQ4DHgFuM+4oDdTHuWQkE7GPSrTKPMrq31KNto0FnrVndrHIZDAxwzlvGMY6+1HZB300QDeEnDZ9xiqzuwSznfqrqpP/qQjP7VLMGRd6+R6A9TQ45hE5mliBLpgtJVBa3bbg+gP+tSXcYhaKIHK7hn5+dbSxdz2lu1Q5im2uMdMsoJH55re5+8vURsDaepPtRkCBnBxF4yKYdZOMlVB49ScZrI4zOttAmQyQhBx0zyTVDUpWtkvCrjdNt4HmM5NXNJlkvI5ZFbZvOZH/8ApRAc/U9K7HELEZ9Fhh+NmljIMVtH3RYf1nlv7ChPalpNQigtFcZuZwAP8uf9OaIaVGbDsixUYec7+P8AMf7ClfWrxku5rmNz/u8Xcwn/ADPxn6DNYBb3tQTNVf4dYE6NpSwPY26RgBQmMHgEeWPpVqQLvGUzzjFJ3ZLXL2a07hrBJrVBt3MduB7H1psgmU3EcZkEkcys0T5ycjqp9+etFqNEyDdAq1W44ltLeNlDBQdx6EVHcWUEMby7FXbxycCp7cpHEGkYogOGYeQ9RXHO0LX8WpXVld3c8pimZfG5IIzwfqMGqSVluZraKhtS5QNiO132j0Owm2lxcyBcbIQDz7nypY1XX7vUAyxKtrCf5IzyfmaW7UDfknHHBNFEKsFGR6gZpoQLPS6TQ11jJ5MtaPpSX0T925NyG8IyFC+5PmKu2yQ3Rlsr4qLgEguMuz8/yeQFUe4azs0v4rqFiWKtFzuA8wQfKi0SW+oaf3sWyKRCCsjPzG3XaqgcD/WlOTIuBB/b/tA9xY3GmzM0Z2vHzuHiB8/kflRfQrex15XUAxSAjvUznB/qXPQGiuz+N6LJ3h23UXgKHgIw9APUUkWt5NoevQ3aqRsfbKmOq55FMrtLAr9SpqaBqaicfJZ0dey8Fsu6MZfqdx6+3Sq9z2QjvI9iyGJOuFJPPrgnFNhlWSGN4yGR1DL7gjitO9CcEc0ItsHRnmWQZwYqR9g0OM6jLwMYMYOff2ryTsNqKMxtdSijLE8tH1GCB+5psFwdyjHh4oh3o3g4/MUQvux3B9tB4nN7n7PdYmhTfrYkMYOxSmApPUivLfsLqkKgvcxz7BgDcVFdIeYAkcj6VF3xAOFphusI7hBlXoRKh7MasFHdwWZXccqWxVh+z2pIqs9hattOfu5cGnG0kyHyvGakeQfhx7UBscCM99upz59Ku4JXdrG8UEdYpiR+9QyPd2sMcavqUcaH8IYgDmugnCnjoK3OyQ4J460Ivb6hi77nOBeT5Zhf6kkm7ILOx6VdOv6mkaxrrMu9fKSMHP6U7iOJmPhU+vFRzWtvKCzQxkgYGVFd7/grDNqnxESDX9YFypOpwsAcgFBmjh168kkPe9zKCvGCBRJ9KsHfL2kJ/wDYK2k0TTsh0tVTAz4ciga1G4xINgx1G3Tmc2SMQQWQHB+VezgySxEDwnkn5VlmgawUAfhQBT5jivU5twufGAea9HUPiJiOfkZK6MzE7ayoWmK4GB09TWUyRBl3cyISqop2qSAT1zxigBkBuVUrsLKQAxzt56UTvZi14UBHLAc+g5oVcrtvlIHVwR+dLHUkzkf2v5j7Zx5wMWMQHH/qpD3ggGugfbOP/wB6wt62UQ/Vq52MZJ/Kq79mbeiP8IQ1psIfR7tyP+IpY+wHH6mt9MO1wSM5O7HrWljeW0PZ64txIPiJJ8lR1xgYqrDevbTYRCGK4AI561eoIVQZ5zXBnveMFxcXjDbBFx7iqJXUkO5gvHPDVskupzx57xY1PtzVSaNlfNzqBB9FpptUGVUobHMIrqYktnguUILDg9SDQy6sXtpUu7fPTniqczJuYJKHUdMvVrTrm4ZxCkglB/4bnqPQGoZwYxaivUta3d96NK2+cRbHmMnFSafdqkalSTk4PzoHfyI2ovJFkRq2FDdQPSrFvcYcpGpYyMAijqWPAFdX8RmEy5AE6f8AZxbCOG+vnHMkq20WfRQWb9SKYtSuduo2kMeQVbe3FQdmrePTrOOxwGazj++OfxSty39h9KoX92FvmnIJJBA/1rH1Fm+wmbmnp2VgQJq113GvG6XOGLJj51a0SytRZyaleKGQtsTnHHmfzoZrJ723VwDuZwqn3pquNLP+zEVoAduVDADy8/zqq5+IAlwcH5Tn0ck1x2nuXihknYOAnd8+EeWfyp6sn1+ZVQwJaqq7e8Yb2x+wNEtJ0qx0lk7pAXxnj196sa3qg02MJFG8l5KPAijhfc0R1Nm3aniKNNZs3EZzA17b6J2asZbgbZL0+Lv5OSWP/flSet5cGebWbtGDONkOR1Ykfp7UUi06MXHe6/IVEbGSON+jeZJ9/ag3aDULrUPh7+G3NvYGZVQE/iIPUipqJLAnuPZVCkCWdQvEOmXGDhmkVOT556Vdlnin7i2h4giP3jD+dsdaWNSk33C2q5PjZ3+Z6Uw2Ags7Hv7vARSO7TzY+tbwnmnEaImENu91ccKiDaPbyqLSYPibj+JXH4VO45Hn6UNutQm1SSJB4Yhjj1P+lFbmdbaxisYzyG3vjpUiKPErdp/jL/SZpUdFtsMCoXxDPHFSfY6jLZakjjaRkcjpRNIVu9FlhIwXQj5elWuwmlyaZbXDy8NMBwfI0IRVyRJLkjBnuoKPIfhbFANTXbErIoAOd35Ue1NirlTjJbJxQu+j3d0u3gDJ96k8iCvBkM0YbRRICd0cSSr/AO0g/tVtsFUYc+Iiq8Me+ySEg4ZGQ/mRW0MpmEcK4yGORj5ChPcM9QhbzjY7fzjw5AznHSk28u719bihjuGOZfFkDpjmnKztu7gkfPi3HII6UtWdrnU9Ru3A+6jYg+5GK5jgTl7ixqCldJnlL5eeXYpz/KKPWk6Q6HDpsIJubxgH9gDzn6fvS5rcqQJYwHkKu9gPXrR/sTbtf6vJcPkpBHgZ/qP/AEFJ1L+3UTHVJvcRh1+9Gn6QnAAVMAe/QUl2+7ULq3tXjeTe3ed3GMs7HgD8qLdurk74bNTy78+3lUnYrTJdQ1BruKRolB2LKvBVQMce5/vWfoK+dxlzUuAuBDz29vEVt7hZLmeMZNnajMcIHRTj8TVUHaHSLfWoZYjc2bRyfeWlxGUByNpI9Dj6U1C4SxZdM0mJY5P+JL5gHqc+Zqpdw2Okb7yeNbu/mYIHlG4knoFBrQtddu0ymgIOYypPZrYvdC5he2UEmRWDLj5j9qRNT0Q9rNXe5treSzgQbDLNjMg+Xl9aO6RZNqE3xF5HDGRg9zGoVAR5tjhm9/Kve0Ws/wAJtnMEkKkcBSpOfyrCICMQs2tO1lbBxwYsDRtD7KXdvLqc+9WJyXXeCfL6VR1ztJoU2nXkOn2kEhkcmKYR7WGegH1pX1afVe0h+InnAgjl2OgBG0EcNj0JBFeWthbQFWVASP5mOce9NFaqMseZp6au7UNvzwPMuZLW6lx48DJ881NYahJYyzlcEOoUq/QnyNU7i9AbuYoWLN+F2BC5/vXSOxGjWVtbLe3VvG127ZSSXBIHsPLz5pZTjmamq9RpqXao3QZpeldo75pLm2tZUMww00oEakfX+wqVvs8Z5xJqeoM7s3iS3GPzY/2roN12l02FAvxSvIuB4ckfnS7N2jtJ2Z0Zm2Dc3GOBS8EfiJjW+o6i08DaP2hy10+KysILWHf3cahV3tuOB71K0Kk4xQhe0cHdBmjcAjIO01H/ALSWkjqBMVyN24jjFJIY9SgQ5PMMtAiupIwB7UR+HTKlsYxS6mvW67d0mQ3QjkZqc6+kquE37UIBYrgf9a5d/wBSdjQu0SY+fnitDAvr+lBrrtL3KRkRMwYgYxz8/lVRe1TPaGcxAMrkEH0z19xTMHuSKWMZbZFBdMYOK2uI1Dg7utLGn9srf4hluLd43I6edXb7tTZr4sO4xnCjkfSpKviD7TZ6h4xqIs55ryNVyeBj3oHa9qtOuIshyPYipJO0tjBGkpYssjEDA8x50v5iF7TfULNDGHOeKxIU5GDjGaA6t2lhs5UHdbw4yTnGDW9j2itpZFjJ2nG7kgCoO8DqSaW+obWKMnOP1ry5RViXAGelBP8AaewW6eKVnjc8YIyPnkVeivory0SWJsrnBBrg5GMiLNbDmM9lgQbB/TWkOFkIPvmstWwsW3+YV42EuXGOGOTXpq/xEym7MqSviQgHA9zWVVcrJIzHI5x1rKKTBLMGvEbGPEx+tRXYBnjYdcjP51GjbbtVOSM7iasSANJCGwWZ+oHlmlicROU/bJbk9rLdRn/yMf55aubtbOBzXZvtP0z43tDFKpOfh0Xj5mkI6I4A46Gs+28K5E9Do0zSsH6A3wXx0/h3dyFGVBOc8YNComeTUtwO5ucbjmjt/YPYQO2fC4HA88UsxNi9CjPJPSremfcCZkepKBdxGOSwuJhme82R4xhTVVodFgH37mVgeec1GEZ94MhPzNaZ0qFMzIJZP6Up7A5mcp45hBNT0VYikWlCZ8eHI5oPqVwjMggs47aQHI2P4hU5uZXjaOCNLWA9ePEfrWtppZuC0mSsS5Yuf5sCpxxDGJ5/DVupgLecECESybgeD50w9nrC2065XVZybtIV3xJGo4fyJHmOao6AFiu5HkGYyCvP9OKv6VKsFnNFnBz4B6Upy+04ja9m75R27Pag0ukTSIqvLK5Zy0ijk0F1TUlhkZblXgI5HeDjHsRwaBWlw0Ntdq74CtyR5e9e214bqw7m7+9LfhVvL3qqdNj5S2NYRwPEKW8n8WmsbWFGx3qy5YbQVB569ac77U2t1e3PgJGfpXN7VC8c9gsrK8D77aTPKccCt7ntNNqENpJdN9/F925AxmlajSkciWdNqRacMI52+rpZocZnuz+FfIfOvW1O2sD8beS/E3z/ANPRB6Ul2ss1yWZ5RBGeS56mi51DRbK3Ro45LqUdSw86rhCOJeepQuZB2i1CfV5rUywd3aRyBtx8x5ihWpX9xqlxagxqtkz7YUBxwPb0qTXO0S6miJIoihTog4Le1UrF5JZTdzBSIwSFAwAOuBVzToSwJlLUWiuojyZA0scWsXLuPwyHzzmiNos99OLi4YCND4VbgChENo9xK0uG3OSfz5q98HdoFCh38ypPFawZZhnOY32q7AJc9PwmrdtG1xcgMclutLlq988P3qttUAAYo1ZtcoNyR7WHmQa4sIvbmMkUvcy7CBjoflR60mRI0QN18RpMa5nBDsN2Rzii9tfM0e5kIUKPnQlh9yNpM9vZg124OSpbg1S1K7gtrhYZJ44g6blaVsDA8vnW/fpc3qwndhzg59K91jT7K9dYZYxJGv4FORjyqA4x3C28wZb6vFcK0Nkst0yyE7oISwAPU5OBVHSrnVNS1G8jsbOOFIXJd7pmyDxkY9c0z6BCLdjCFwiqVxjgYNV9MRorvVWGWL3jD5+EVAIHmSZNpVlc2trObqZJHly+I12qOMAAUNu/920+dSB3kiBSB6k/6UzTOttbgvkYHpSjfyte3sIjRgnelmJHQKP9ahiMgCcBxE3U9NudTlvL2AZtrExxuT156U99h7NrLSI5ZOHnO9vl5VFoNls7Hamkww99ciJM+owM/qaM3kkGmaf4JApVAFX0rK1dzWE1/vL1CbRunNe1d4Z+0M7lvCikL8+gpo7Lan8Hp9pBH4UBUufXmkvV7aeZXvAmY3mZc/IUU7MM09tcQZO9F3JV3TriviKvbJ2mdD0W772O5nz95uPJ9M0sa52gLa+0Yf8A8smxPaR+p+gqbs5eG3d7eQkZ9T15pB1OScX810ynEkzuW+tRcmP+YzSKC/Pido0nWrW0afv3GyNF2j1G2kbtNrk13uis2CKxOeMkD69KBafqNxcYiyHJAHJ8vKiF7pkkFo9xOQSoysanz96orVg8zY4IyII0aWZu0CwxxGeGSJopowcFkxktnyIOGHvTLpOjajY3kz6zYSSRmDfaGAd5Gz5HBI9Rnk0sdm2iGsGWa9e2lVTsdDjk9eafLrUtc0vs81s13a3NmwASVXAYL6Y60bkZxJQuoIU8Ty01C17RdpLS0ex+Hs45QTHwST0Az6Z60xXemRvqSJhwrvyPIjPQftVf7ONCWWKfVLhC0m/bESMAZHP1p5Fkq30RZQcNnBoGQt1KllwDcxa1GwtluO7Ee+KIhnH/ANWQ9F+VBZLZBLsyC8rbpW6A46KPbNdM1HTYWXd3KnPOQOaXZtGtlIKxc5zzSgpnHUAiCJoFmiS3TKRlR3kmOo64HzqCbSoHkD7SrBcAYwEXyAppi0+JYkAQceo6VtJp8WQGQHIoD3I97iKFvbRgKVj5b8LEYLn2Hp70SJFvbgECSTOcDpmmW10qEuCYlPFWH0i3CD7hBnOMCoOfqEtwiR3f3hDAGZuT6D/v9Ks29rCUaSUKUX8KebH/AE9qZ30eDO7uByPKoTo0QDgqfEODmoKEw11CjiJg0/43VO/lyqN4UTPLD/SprvRTHuUE/eDgjzHt6UyxaLFbTgICcAZJPWrbaepZ92SWPOTmgYkQhqVzxEKPTI0iG8+LoB0A9zUyWqlSAuQBlA3p601XGjRFy7RkkjByetSxaNAMHuyxI5560O4iNGpX7iK9gHujPMzGMNu2+ZNQQ2zXN3I7JgkcAdMU+z6bAwyY+R61BZ6TEsxOz2ow+fE79UuYoyWjXE/jJLHAH0oq1ncW1pAysykHPWmC50pS2Y12sD6VZms1OnrnBYDoaPkwW1CmG9PfvDE+chUA/Spb1Csm7y9qh0wd1bxL6irV/wAQ7/Qcit6v8RMN+WMWZ3IuJBxw3rWVo2xnYsOc+uKypkZlJgBPvA4ZgFxU4O/UIgegycfKtETvLN8/jRt1avIVuLecHgHafqKFZLQZ2tgaS/jfbn7tefrQb+GB0P3fn6U2azGs0y4HRFqgsTR7h0BNYGpObmmpRqGSsARG7U6S66M8oT8DAnHp0rk1xHJb3ikDGTxX0Vc2y3MMkD8JICvyrjWtaLJbayLd4+jnjHt1q3obsZUyrqAbG3RfE47xu8YgZ5xVpJrJMGGN5HP9XABr1rE7myvNUjazxg7M4zxWtnPMz9uIUs7db27CTuu0/wAoOKIaxdRwlNMtCo3YDsPT0pdhguu9AZWyffFeXLlJdqkFgeq5/eux9yR+0Op3dqmx2G3zGeTUdtcJGjSvJgschM9BQZJXuJtxDO3QAZNeSrOso7xNoxkAmpyo4k7T5hqO8Dpclz4JCOPXFaRaggnXBz6UJZWfPd5ZvarmlaRdXUhSJC7j26UDOq9wtsKQ3QhLSscMxJobIQTO7NtywZfcnrR607C6/qIJxFGnq74z+VPWhdg9M0+2gjvIEvLrPjkceHPsKpX6usDvMsadSr7pz+10nVtRUTQWE91b4xuHhTPz86NTaJrsOnp/4cIx5CNd1dekto47JY0RURBtVV4AHyqBo1FqqjzrLOqbPAmk2pLcCcQfsxqM8oluFKEn+bAJ+lHbDsrczRmGRWiiPhZvPHnXTYbK3aQF4lL5yCRzVya3WN+ApB5xinfrLMcCUnXccsYlwdlreAARwZQDqetXoOzsKsNsIztJ61Y7S6zNpU2nJbQmZp3ZXhRcsygZ49KpL2zcXMUTaLdI8mQgbjd8vWirutI3SV0bP+Il210cDC7ABRGDSYt53DHTil6Dte8rskelzF4gxdSeVx1//FTS9pNRl0x7q208xoy471ZAWTy3bfTPn0zTxdYe4R9PsHY/7TNav7C01y20uKaPv9jO0QAy5HRc+XGfeidveW8EG06eVLjH+Kp+WPWufp2bmimTUNss89zJgzSTgmF85ycDwnz+VWO1F9qVpf2tnOYpYHw8ckAwGX+oE+QPX0xUObMgqYQ0nGTiOEUtuNYBa1ddrDO1l6f94/OppJrSWXxW0+ep/D0/Oqcd1al3Z7mAtHHlmDgZ+X5/qRUMt9ZsAReQqFYDO8HGDz8+v7iq/wCotzjMT7SHmFIJbOHvnEc4HeBshR/T58+tbWz6ehlG2dXaYsfAOp4/tQaLU7NrG6kN3CpMowN/kBzWkWr2I7hjdw+IF28X7/kKIai6Cal+oyXl1ZSkR7WIfjBXmh0WnW7h1G9Y2mxwOcedRzalpc0IMGoW8jsN5KuOaktXaW3jIJwXJB65oTq7hJNK+RDEtlYtYR2io6qhyrYHXzoJN2etLh8yvMRnpjpTFDZNIHLHAByAepodqlylpcIiqWbaWPixwDjmoS12nbVE0bs3YRWkNmLcvCuWO7Bzn3pf1u27K9nYXuIpJILpvD3SHcD7+3vRK+1XU7myMOlR2/eyLuUzS48PqvFIdr2a1KS8e8vZoLmeEliGlXbEc+dWqfdX5GQwrY8xh0XSYNUhTULG8il5G5BwQfMEHkfWudyaHexz3iyiVDDIwZG6Hn0p0fQ9QSdbvT3itL8jKlJgRKPdfOmfTL+a7hKa/p1q7HAE0Tqwf5g+9WffbAyuYpkAOVOJzjs12M1jWLea6sp4oFjk2qJSRvPnjjypnP2bdpr9QLrVrREI52ksf2rodrc2MJWOOKSNEH4BHwPyonDqNmyKe8QgjcOcGlsrMcjiPXVMq7SZykfZrqWjW5eAw6pEW3Swbdkn/tJqLRuxesaxq9vHLZ6hbaYrgytdDYVXzAPUny4rr1tq1pNuPhXxEctnp51ZOpwFHUSIGA8J64ODip9rnkzjrGxiTW1jBYWyQWsKwwxLhY16D/WvO7LXefIDrUSanF3UfeyhnZRvII61C+o2zFwZeCpHXnpTlqX7lVrc8wzNH30K+L8IwfagN3GFbBbnNXWvbW2SAd71QKST7edBb3VrJGJlnRWJ6FsVBpTvM4WwsoiKlFkUuFBIzyKq6ne2mmW4uby4SGIHBZvX5VWstXsnkkZXjztC5Bzkc1S7T6lp02lyJcxJKAvhDdR8jUClCeJxtIjXpM9te2MV5aSd7bToGjcDAIPpXkeoJcal8JFFuiQEGbdwW8wB54rlVvfPa21vcaJeXEEOVWQb2KhSQGBU9MAnp0NdDl1ew0uRIYVwFjCxxr58kn/8+9Nu06VY3QKr/cyBDLeHHHnit0iMkeD1B4oBbdporvfmJ02EqWyCufQHzopb6tCU60gGsDuMOZM9tiVieMrjNUbW0dZbjdITl8dT6Crs+pRAx4YEHrUNveROZSOSZD5VBSsjGZIYz14FdiMnj3rdbcbQu7B8jS9fdtdNtbzuI0luT/N3WMD6nrQhO2N3Y6vcS6mzfAOCLdY13N1/m9MCiTTqyk46kvZtIBjhNaHAK9POst7cRuQzZyBgGgg7eaErhXv1jLDIDqRRC216xuVLwXEUi+qODilBaxzDJaXprfcRjBPtWs0RfTSQcBTiqv8AEkZ9qnr55qeS6U2TKBgk0S+3I+Ut6e33UY64FT6mSLFjxVOxYtGCD0Iq1qZY2siKATtzz51e8cRPmKc215Wbdisqv32eo58+fOsqN0PEIcIHwuMDnHnVGUKIRgnaHz8hRALjcM5GDgih8x2Kz48OMMD/AGoVgGB9V1Kd9fsbGCImN4u9kl6jaMjaPfOKuK7upJ6g0udqp4mnis2uzGssf+HGcMTyevlRHRZoBo0BFz3sQiAMzvnPrk+tYurqIcn7Muq6lBxjEIM4IJx0odfaVb6pe2fegLIAxWQDkcfrQKxm1D+LF7nUZJQ6Pm2RQI8ZO3B656UxBpIrtJso8kcDsN+dowPakFWr6jAPuIut6PDpNwyzTwNkbsD8R+lLQPe3CRWtuzu7bVB8zTLDoM/aV5LwXsglZssZ4Su4eTLzyPnjpRrR+zNho9yb+S4LBRtSSZgoX1I+fSrS3MoxnmaC1aJE3N8mg6H7Pb6S5SSV4jgDJH4R7CruofZxBDMS7BgOfu168U13PaDTdMkhjuptveYG4LkKD0Jx0HFSw6zbataTS2UxlET7GbaVz6daA3W4yZmlQx+IiZadjl7tvh7HZtzl5XAz+VQT9gWuZI3m7hsDzya6DaY+HfIwdpNVWuIYIleeVIo92MucCle+/icKwYLHYGwt9NDttyVBwiYrfQdEtLd5G2jA8sUcutVs7izWO2uUkYR5KqfL1obpchFvK5B60ovYw5M7aB4l+NkRH2gDB6AVYsgXuNxxtHTilnVO0FtpSsskVxKwAeQQrnavPJ/KmWwIEKSAna4DDjyNRtwMwgvGZbuGHcN65ofJIFjU5wfKoda17TNHSNL27SFpDwGz0zjJx0qDVGaLT5LmICTYhcDP4uOPzrh4MgrL8Mni35+tTPOXfOOlJNjr2pW2nu97Al1MpGYoBs2nGSMk4OP1plg1O3+FheSQQyzIGSOUgNkjgEetGUfMnYB3F7tG91H2l0+8g2TCDKGMS7CpY4yT5A5FbT2+s3eqQPNp0T2yQsrB7vPhYj8LfynjyqhNY3sMSC5aQxXEi7ZHILly3PA6DpjNWzqE+laPBFcOssqx4dirA+p8uce1aCZChQYQ1JQbcA4kyxdoJbqS5FrYxuGLQncAYjjaDkfi49fPmqts+srusAYe+wEacthyoPCZ81zU0PalE0uTUZUX4aPIcpICyn/00M03tAs+r2cktlJFHfyYibeGPOcZA6ZzT9uByZC6ywn4oP6QjcWer3CJNayWtkqMJ5RGzEyv/Uw6Hz46c1V1ns/ezQXmq31/G8vwkrKkcRAXyAUdABzTBbMZNHc+fd+VXNfVl7LTqpQILVjj+brg8emcUVQ3fl4gPqbNpAAH/E4ctxdQQl5ZNzSMEGACc/8A4q+1hqgvGhS+i4Xc52jA9unWne2aGN1LKzbWLqsi4BwM4ORQ3VJtRl1BXhkgixEwlaRgxA4xk+bZOB8qZvUn8eJR2PjOYLu7a6ttK0/uzIJp0ZpBGnLHLAcY9BU+mWxuRp8VwgkIuJg+8clVTIB9qale1sodPvp77vZrYcErkAc5yR0HJGaH6bAJXubtxKg7+QxbSpwz8YIPPTz6cUhrFZfiI4VsCMwFrPYrUr22tb2zgi7p7SEqAwBPgGa1j0LVNP7N21wuoXlveKs0zwd4duEPGPcg10O0u/h9OttPuNkNxFCFEfeq29V4yMGhPaEsbC4AHijsJSB16lare+ThCI7B3ZzE3Su13aq0kYi/LooyVuBuwOtGpu1wvNOZ9fZreSYFUkghbayeoPrmhOl6WZz8feI01osirJHHwXBOSM/94q92pY31qFMe2yCv3LIAuRnnAHkOnvVxxWrjYOZXV2dTuhTTtZ7NxwRTPdztHCoRSYWxgcgdK1E+iEXEyNdSQzjvDKIDyu7k/LyqODRLNLa1Y3mIwu5Bjj8OOfIkHnNUJdIludMingmnmjt3ZO6QccEHjHkeufKrBrIGRK62BmIMPNrPZ62uc3ElzHPGgTuWtyAqgeQHTg1Wk1Ps8LC3d5J+43FRIbc4Yk+R6ZwPKtdEgsbvVr03UMhAJjDOxIfcuSCeoP8ApU95DFdjTbC3cfBx3IKo567fDgDHQdfU0tsocAQ1ZWHJmS9qtDs3mvYpbl5O7YrGYGAGRgc+XTFMfZ7tHo+uaWl2umyRFT3bKccMBzj2pQ7QaKbjVrmMyoq9wGLOMKep2+3NWOx0NvYaCrS7I5ppGLYctxngflSDcMbhHNVhY+WN3pBZ8wEAeoojBdaM2c279fTFI4mh+EuSl33T4J3Dg49s/vVzsjcW19YT/wC/i8WKZlaRuqjGcH1+fnXDUZ8RJpbGYxi/0C6llWEFmifY4HO1sZwa9RdI74MTtUdScjFc5g1q5XX7ZreSMWk8qo8CxqAVZiASeu4fsKM3lxLd60lnbSskanDyKAcn2zxTnDhgpHcWqqQSD1DHabVrBrSKDSLhnuDMEkkjQt3SebDypSawskVne9mLk5Z5rc9fnTFZldRnaNbmQRhtqhSB04z088H86B9stUl0Cy7qKTvHeTaH25bbj0HWgepsAnzDR/ltWWrTSbea1MzyW88QOcxIuemenB6e9U72z06HVY4GtwyuR0ZscqSrAE8dKo6DeySxw3iBXeUSCY5K5VceLHqOa2nlH+0jozABEGwE9cRkD96Rjb1LAOThppFPfppRue82WYdiI0HjkOR+L1HNE7vU5Zr0XLyIyNgKWGMf6e1U7WxJ0q3huJGRcnwhsdRznHNWza6dB8TiBHdAcFwW9P6j7nyp1jNaqhuxEoErYkeY2aPPbXuk21ytt8OsqZCK2QBnp/ejcNnDIoKTEClzR7lF0aCWaRUj5wXIAAzwKkbtho8BSKGc3c7MFVLZSxLHoM9P1qiS2SAMy1tQjMPajapa2/fTXUcaL/NIQBVOyui8DLAyTEsfEHwoB6cj+1KeqdqrrWLIFLC2W3WUgrNKDKpBxnaPw/WtezSW5aZX0yVi+Zv90dsxDO3AGR6E8VZWlzXv24iw1YYLu5g/UuzV3pbPduy3GJAwRHK7vY8UJ1u/n7mxuHWNN47xVTJwCPMHrTVqcIlmuFs7bUJCv/ElmCbCPIBuv60IS0ttT1GziNuZ/hosTwjaGUk5A5wD9Kvae/bQynuIuqLXq+OJRstUaXTjLPHbsvebCkYaNz55wcqasLttbi2e1ldQZ49rNj8Dgnn5Y+VX9RgRcW1npT2K8uQ0vgJx/TkjNAnie4tYrfJLkxKCB0G1h/eqgwRLb4J46jnbX+533zoxQg7owcH5jyoo185te8SQMMA5HnSbFFqOjPDZWp7+eWLl39iP7UTsneE/CPJHJvLEOmeG6kEfnSLKtvyUxIbJxOl6U261D+wP6VfuWzDz1K0M0U7rNUOM7QaIXJxAB6VrJ+Ii/MQ5wBO4PqfOsry/4vJB7+tZQxkPoOGQ8gnI9qHyj7plbOdwAJ/aiaxgRjbjp09qFXbbVCN0Jzx8q5YokTm3a20F1rccIm2SNb71HUjljtHP82MUN01Lua3t7dtwZn71k2sQoPOcAfL8qM9sNInuu0llJE2xpYo0Lr+IAZJxTZptrDFaNAmAEGc+vz96ri1lcgdQrKwUWIVhOLTX4WaKSMyMwcspC7egA/emrUdR/h1vLcnB2QFFz0yxA5pa7Ya9HBcQxLHmNnxuxwoHVqCT9qm1eJtMhUraNGFedly5A9BVbUL7rBsdR2nqZVOIZ0K51PUpL23lVLVGRUZkUhgw9D5DHlVfUEjt5YtOulubmxizNHuIZcnyb1Gcn9K00Rls9OvoWu5WFwGkRx+POMYJ8gc9aF3Fzdz3Vtp8m5RIY7dXPRV6H5nmnVUo+WHQ/rF3WPUwUnJ8fUcJ9Ssm0K52ukkq7UYiMkBuNo46j2FE7Fb1tFvJAjRmWbKJnaQAOntyaBu1noSqq27nMplKSSmQkqMKxPoMfpWyzz31reP3r25ZwcKM9R6HzqW0hvrAq/vA/V+0x3/2h3TLm/SBopm+IlUeIRdUHoT5ml7V7yObX4WnkkdY+Ft/JcA5JPnzj5/Ss0++OlxGCK4SdDkzws4jJz0KkefzzVa3t2vLJ5ZlbbGx7pweXJ9/QdPel1emulmHjf16YypjBa3unLazXYV/inUCRDhAgx/KvkDirmlanBNpsbbJU75zt3IeT7Gq1po9sdJSeZpZWmU7hI+QcHFWbfwWtuQAFiY8Dp6VT1CVo5VI+ux3GXit2m1GSPW3S1QMRF3Eu5uD/pjd1pn7Oa7ILxdEuLuC5kjgDRTQrtBwB4ffHrSn23sY7jV4TbKVfbulKn8RPrVfSYUcJN301teW0h3SQjDFGHqeB/1rioZJaRcriN3bE4mj2RRu7RGJw2MsDyAPTHJ+tVdKuJp9CW1u7h5mjCorOf5c4Xp/6TyenHpVHUNMvb60IvNQaQI22Cbjevp3mPqMjrVWwvzb2ojhWW8jtWMckkKdcZIwPm3X3q3ojUvD8zO1Ndzg7TwJ7q1pKLR7eweZFS4MYiWQjcMZJJPnxnNRyuLyCOS+nt3uIogm/vyTuGdrEDqRx+VaWt1Pq/aWz00qbdyJZnJIYq5QqCcft5VatEZr+HT0nVFliilVFjAJ67hnzPh6n1q9Y1QG4CVkFmcM0gbVbk/D2/x8120bxqZgm51JOc49QRRC5vZbiR4Lu+upIlTJE0IiYfLjNW9Wk0aDvYGsBHcZVnfJ3ccqcjrQ/SLJtWmW8Fw3fRHZtkJZWX6n1HnVP9VXuFhXgSz+ncqVzzKmj2xuNSE13KRFuEccJcYYHoNmOPXPWrkl0dB+H1UwyW6RsN0bJkMmMFVB5HJ4NbalHDcEydz3TWrtvMZwzFRlh+2KoXun2NwtxMXliL7JYo7qbcR5kfLrx71Dtv8An9xlQx8R47h+TXHGlqmlmPvCGO2ZDyOSAPLP7UU13V7RNAto5jNFqNzAidyg3gMSOMjpz0zXKJbvE0gtZJEtlHCq5w3H7USsJmk065eYue7WMBkbxY7xDgeeetWPaetN/GDF+5Wz7BnMatftE1W0EUkl/EkUqyuk+AJFB5FCbi0srmwurgQRyDvAAEOO7UEY8PkcU6WSB5n01ZgSLfvJTJ4pC56bj58ZpU16GKSWK1soC0UWyS4MOMrnOcnz8j9KH9MyjOf3kfqB/lgSGxjupoEt0vVtQwLYcArHCMkD54zRq6tpY1tr5CYbRbhl73OAUZVCnPXHB6/3ob2SsBcavNCZmlEtpN4nbcMggKfpnFF7jTrlgLdNLkZ+8IxkbAMcefPNV7nG/jjqNqJ24PJgSx1K6itb+WV0klZ2EbXCBjx0AJHSqdrrT3Nlcw3avdySHGIPCIlJBIJHHl0HrVz/AGRP8SOl3l3HcalJbPLFGWOxBkc/PGTUVxp02ka1btdJHBBcYgjZTkAggFj5D1o6663OCeYL3GsZxLSCxi0qd3tZIbNp2OwAxxycY4JOSeP0qi8qtpOjNcIjxLE6yK54ADHGf0ot2g1WPT7u6gLQyyuneI6ncqYOAvpkDnj1pRF/DaXcLzSTuW34dW2tFz/fHPzoXwHAHcs6bTvfSbjgAQhprSTX+p2dhHb3NpIxMcZk27B6j0GP2FMllPbQaREkl3BbxSBiE34JB4HA9etL1ndSxXcU0rxTbmAEgUbjGevI9OKyRrG61CSY2sWyaYxRADgKv4m/Ximq7uwq6lW2tKwbe4ft9R0uSB1sEubO7Dhlk2le8fBG4Z4PvVGCO4S/+GvYngjt0LqeA7twd+fL19an7PWGtDtJDdfGQzw20Uj4iBJORjBXzPIOaL21j8SZP4nGWl7zwhjjjPmPU5BNIstI+AMYK0UhiIA7S/GLo1t8dLFcNdFsEEHIA8O4jg/KiGn2kC2iLGiqioiqAOg25P6mhXa6NorVJ1jAWOYjYoA4ycHHuAQflTDoNmdQ7PwXiTSQpLysbxqxCjwj9qtV2V10gtKdiO9pCwVqthc3GnT21hkTvMq5VtuEx4ufrV2wsoez2lsbq7jtreZlTCxbt+1cDA8/M17qk8+g30bLC12LpQEIXAVgeentiqKa9qE5aeSK3mhSN3QJ1Rh7/KgJa3JQfGNUIuEfswrPommz3VreXE5ltnj3W5gxGnA6kDz96OpYrFGjGVUjPCgOScYpO0ubVNShS6vo5VjEkawQGHg5zlh6Cm6BDNFIryTPtkKd4ANwG7AFQQxOXOYm0KPxm0QjjdlEpLY8IOM9Oo86XNS0tdcul+MLBolAHdsRyxJP9qKai+maMzZuzDLt8TbDJtB9T5ZoVZ6tH/HGs7oxpLKomjkRvu5UxjK/6UrkHAnDd3NLK2hsbqaCENGkEHAboSx5xQmRFh1S4u5WLMyYXcenPGPTzoxqr7Jb1ra6gVmjUL3nIbny5pLvbe61O6iE2p7iBmRYVwAqjJNMqAJxDAZuTGabVbO3jAluY02sTgn0HHFbWkk2tXEyabbzThuTIEIQDA86XJtGtdMCzLbvczsQdhfG0cdSep56U+6R2rvbaEWzW9u8SHYAsew+2ceddcxrHUfTQtnUsXekG47PxaPMwjdMNKy87TnOPeoY+ylsQ8guJlDOJSAQE3AcHYBirf8AFLaAE3e+N5SWK7TwT5Z/Kh1/2htpbi3s1l2QTMA8vmvPmPIe9Vk9xjhYxgq9xZuJo7O7ubdSZIrQHngBnbzPqvPSmDs13lxdytFKl3M8QZlEhj2AHAKkdBzUupWGnaY4SNVETPHJNv5Mq7vFn18qmivLTQu1IuoJY5dPlVhuTkRg/iUnywcMPatsKvtbPuZbs/ublHUjvbS5bUke+Wc24Unu3uA2WAyM45xgedZcTwSxxGFYSHZGPdADk/5yOtXdZntZJWubK43hlaN9vOVwT5/vS7DdyS6ZAsrApGqhFCgAAeZqg9ePxloPnuXbmYxSFxl1YHhBtwTnqf5qoWAZrpLphtZZFVVXpjZXkV9/EQtpYILiW2DNNsbhV8s/rVfSr5Liy7y7DSKkg2QocbuMEmoAAhAO3AEZ9Q1KJdNu5EZTPGoiRlPIpd7MW4jvWeWe5RwfDE/iy5yDn04ofrct3fXKo9h8LZOuFNvCzHPkS3nTd2ftv4Xo0lzqDd3JJyu8eIgD+9VrnUJwY+ugq2GnRdHADwDoCmPrRK8IMJ4wQM8UF0mXMNvIOm0EZo1eeK1cr1HIrUr/AAH+0rN+RiNqoC3zcnkA9KypNXXdehhnlBWV3EPmMSbTbo3tg0B1PpEueckUS0uVrjSkYgiQuy7fQg8iqV6gMlrIOm9kOfKoWLI5nOO1msHTO2cCyPiNIQFJ6A4xzWl92nSykuLX4iMhXDPMp/yjgD/vrRLXdNt9a7Uy29yoKLbMy+Ho58IP060rdnOyscsEsVzFFLJb3DwytIWzjqCPpWda6KxJltE3AZknxmn6j2fub+5hLBpAdhHKoOn58n61Ho+jWE1s+o3QkjZoy1rCSRj0PHJNUJ9OudN1wWSx7Le4t3eRByoAPXHp04pvsdNj1G2ivbecxCRAHBAOCOCB7ZpRcVnPgyxkFcAwbDocdv8ADQRO0kssn3pY5ABA8WPnVe60W5te0ttHOMwxzxgspJUnORimaztbWzupTJID8Mm4hMKzN5AY9P71nw1zqdxMjzKj7FnPGdjdAPoB+dXKrwtWcctM66ovYMHOJU1yyF9dwxRKiTGQu7c8RDy+p8vWgclzc2+n3xeFpBcTsVAbawAOB+1FNjR97bd61zeMMozeHb8/al29k1OwiSOSYCJpCoUqGK88c+dWtJaSSvgSrqalCg+TDXYybT7TTJW1CyR2muGSVnQOysACgwfLGav6kbySGCa0aRfiJN0cTICqRg8NjyAHlS/2TuBaak63cm5PFMM8lmxjp06HNdBgtU123kube5a3iUmOJ1HJUD0P7UJxVazGMC+5WogbSr2b+FvaXLBntpWQvnggjd/evE1OaC1jlexla14Ly5HA5xx51VCrBb3kCykktje+MuxBGf0qTUL4LoUlspJl2iMIUOc49elZj7XsYnjMuqGVBKOuyCaWS4iLI4jTYQeW4zRW6e30zR7NS8fwEibriXvAWuHYA4wOce5oYkQlvNOglkjSQhVJJyMbME/Q17d3MaaY8Uul2veQOdzSjBJJzjI6jBGBVt6d6KlY8RFdvtEtYfMm72Cz1GC8t1hW1lAikijfdlzxkf1DpV7RrGKxtJLcbkuZXkkZipXcCfL24FVIdZeFLALFDaxu67bZFyEOeOcfi9atXupSPeRzMRle8CgY8XODg/Me1JOnesYbzHfqFtH8OAeyJX/bubAz926Ek+nnV3TbZbq4jlB2yiQbD6BBgAH35Nbabp9zlbiEp3sAdpIxgs5Y9D9DRX4mORY0kWS2lXDgBdjA/wDpPXj0JqypFlZRTz1/WIdSjg/1gHX9zarILiQ946qNqIM5xgGtNE1ZNIv40uMmCWPGQoBXB8JPr0Nb67LY2motJeav/vDqGCRwEkLjihiajZXV/aQ2n8QkdcJvlCqm0dcikjSMUCvHjULyRL2qySRzS6hFMsYlnJj2OPEr8HI+Qopb2yanpMNv9xd28Z3r3bjIPmPWg15BIdLtbdVUBJsKpPHU/wBjVRdMe002FIGKttlcvnBz4fMfOmaupUCVqcRWlc2brT3mM2pLbyaeLI27QoFCIscAIHPl55qo+ki0sB3VlJH0dpLiYBmwc52jyyKEWN9qTabd95dSsyQgRsx5VicHmr7kfFo48RNvJuO7cScc5PnyKr2CxDsY9SwmGG4CF7u/1LubfUlazkS2hZmZTzjrlh5emPPNCY5e/wCx89/4V+OulJxx4QAW/RWFLF7FcXcxitR9/KxA5wD58+3FQ6XHqNyl1ptrcM0It2ZEY+HeRjPscbulWi6vXzFNUyNHbsML27me5gbui1vjcB/U2409WMbxXkcTyNKcEl25zUHY7TjpnZiBeDI8a7/y6VZgZl1dSORsOfase597kiXAAq7RPZbG1HaFL9oV+JMfcd7nnafKkH7QZJBexRyw5tlKLv8AQ5JYEfLFdEveZ4mGeJFrm3aDTbvtH2iltY51VXMjIx4GR0z9eKt+m/5hdj+IlLWHChR5hrV+zthc6baxwTW6TxW6oGLrhhgHDD+9I66PJdX5QR7ti4ZQM7m6V0ya1tLm700vDFI8NmVkOwEhgAhB/WqWi6Hp96unpIEMisCpU4Oze2Rkc88VetQbg+e52m1VtVTUjqJFvoFz8VFpunxOsjKGlLHhRnn5AUzXjL2UvWRLSS709LbxLsXEWSCOT6nP50UsDY6Rq2r9/KsbGQRgHLbVUcjPOOTVDWLmPVoriG2lykib5XPU4xsVRVZfncVJwPMKx2FQOMmUbDX4bvW9NWzjKSLIjs+dpUHIKEeYx9OK217U9TXU5/4U+62TY6OihgW5Dc/Kl+006a1EWoJOgeKB5NrLg5UHiiWoahNZaPau1vGVlXfjJUHA8wKZZVXRYoUZkUl9SjNnE8vnmvtAsbi6fe88ckZkfqGDkijHZfXBbaN8NdJIpj8casuCR5gZ9D+9SaJbXuqaZbQLPDBBGXMu2Lc28sT4c8DA9aOx6LaW99NdBGlnl5aSZy5+Qz0HFVbr02msiMSohgxMXtVvJdX09jFBIscCMzOrYIPlQS1uobTTLa2WNszoyccFScZJ/Ougyw77V4VVSXwu3HqeT+VCINH059ZnjS1Ag7oonXaD/Pj0/lq56ed9RB6lTVkLYGUcyCEvJKk1vrtvGzRriMxuoQ9cAjIoja62be2JaKKSYd5EkqsTuZRknkAgH1rfTezOj6hpFnPLaAyPEMyIxBPPWgeudnTpCxXWn2089ujqWCks0fJzx/SQfLzFIGoU2FTxGtQCgOYIgub50kmnlaSG4R2ZPYEg5/TFadnYopzYRTRq9zDCUUsOEG4kfoaM2nZ5p4bkaTbXR+J5Jn4SNepAPnzUtr2cOj3AkllEkzAg7R4VHB/tQ3WqOAY6ukMuWnuoAXMkcVzKGhH4oFhHP1PI60ZW1hTTkMWnxRrsPiVFIx7g880NEKyXVsoXdknpn29eaYLq3+FsnKqWKjBAJGflQOq+0pzyTAUtuK+Is6xpf8VsbVUt988kqnCAAfWm3R9EttJssSIstw3iaYjJz6D2qjplq8biV2YYB2xnyHvRoTju1Vj0PXFBrLgxCrG6ZWUEmCtaCSQLE0feIxyRtzSW2mCz1ZpLe2jKTwSKYfw7Rjk81Z7eXspu7eG0mlSdendsQSzHgflQi5g1LTtSSC4Z5b3/AAom37twcY4+ef0rS0hC0AeZTvP8X9p7pyXeo3VtHFL3rPhW3eJQAOvNONpZkXa2lzJDIUDuoWDCHAH4gCM9aC9jbG4s7+eK8t57d9gwSCuefXpTGq5158O25Uk5IB/oqvZaQ3BhqT0RBvbLUH0awSWW1ilSQldtupTBweSCPelDSrC47RWFqJbgxQzXHw8cSewyST1OKee1pbuNNBIP3zHp/lNJV1Fqmj3MF9Haz/CmQyKY0yBlcNwOnH51FWoDDBMeKsruEHjS4YtSeGxSXcH2KUYguPXin3s12Wj061E1yA+W390BwCPX1oZ2Z0tn1E6gsUwjBLb5V2jPkF/M0b1DUGgWS3W3u51jQu0VuuN/Xq3kPaqWouJfYsu0KcQvPfJMrwaf97KOMr+FD/35UHn7PXLfe3Ts8jjku3H0pEm+0G6jhkTT4vhDx3UaJkY88n1qgde1y8hkNxJcNIwyjliNo8+OnNcmmbGTDNijqd5sMR91AOAIwKMyv/uSPyGXj50C0Ve8t7Fj+Lulz/yijdy3+7lc5x5VuovxEx2PyMWNQG25wVB8Ixk1lbamM3QwP5RWV2JOTJt/8OlaVf8ABFw5KjphlBH96szQKyLIArIw3j3zWa4sDWMNzgiKWdQxHkxUgH5VlvIItMgWZgE3FA39PpmoWCZzbXY9Us+1cN3awGWAxFHLEAL6Z8/IVvY2mtHUbq5jjtFtrpQwy/KMP3zk/Kj+sK7XmwIScenStrNHhslG0lQecCsbVlvdOBLdTfETm3amPUJNUtYrhRBLIpiDqThlJyf9Kupq99bkQWcBiiRQgUITgDgU5X8O6QFlyM5Ulc4qGJGZo2YYPQ8dKSXYqBiNDjzFW2jmuNTW7uoLiMsBv7pMCTAwD6jyo5aPa6Td3Mj95DBPGpSTBIyAQQSelEgro+GHh8yasRp922V68dKEWOGBIksARiJcN0E1uW9gmPdCIRiRuF3MMVJpdjPqOqvczohtLIlV4/G+04H0BzRPW7KW62QCORocEtHGvU1tpdpqVtaLbWsIih37vvvE3PHPn7VeTVFUOByZVfTB3U56ivoGlxX3aH4aUMI/h3bjryQKcrFpNDtVsminlAJVXiBbeCfP0NUNN0q60/UpLmO1uGkVWSMqgZQp8xV26g1kXcDwyodzDgptIPvXajUFrNydYk06fYm1jKNxoD93K2oQMnfOrIhbDDrycdOtXTo1rGGjMbunozk1b1iz1o3sXxF4oBxx3e7FXBA4hAYlnAwW24zVG1nJzLCgJwDBVp2fs41ku7SArdDoGc7T+fSlvW8x9/C8TQSPMjIhHOOMY8vI10DT4SbWU4ORz0qqdFhu7yK7kMm6Ig7APCxHTNM02segk4zF3UJdgMeBEiK0utRvLOGG0kaGyYMzscI5xxz+dNGk2UFtqUlvNCJVaJmdsE8lumPQe1FIdMhtWkMEJXvG3t1Iz9elam0EjeNXDp+F0JUj6iiOuttYFhxO/T1oMVwLcsdD7RQR2tu8iOpBjBx1H7dKO31lDqNlJbXEe4Y4z1Hpj0q1p+n28AkuViPflD945Jb8zW0asX3BTg8YxS7GJbcoInL+ODAi9m9LaMSy25uZwAN9w5cgDyHoKsfwy2jt9lvbxRMwO1gg644NE2jdHbAOD7V5NG5RPCcY9KhrbW5YmSFUDAE5zP8AG2eqWVobaZ57eQjf3ZCSHB5HoMmme37FC6hDanMZCVb7mM4B9s/TyoxciRiq7W5OOAaIK0gEa7XAAxyKO7U3W4YjkTqkWpSF8zn8ugPYgi609LaC5IQQWzmR8A9c++RV1eyLx2xZGMMshx3btuMaEY6+bc08SRsceAkdQdvSo5IztLFGwOB4ag22NyYYIXicehEdj2jRX8KRGdAT67GAodo3xNliSBtss5IyBkgfhH96ek0CW+1+9nu7F0jDFlIXiQ54wflW2jdnng7SWzZLJCmAhj4Ixwc/rTTYQuMRrFScwl2f02+WNrrUi5k4MIkkOQfXFGNOHe6nKzc4Q/TirzxyquDG35GqWlh11C5+7bATyU1TIY84gFgxzPLydYLJrqTJVTuOBk/Sk3SrXUdSvJryHu4Yg7BHdP6upANPCQySWoJjfGGH4TUGm2z91J92+ScAhT5GirtsrUgDuAyoxBPJizLHLpWo3ltJeGeSa3kuFbbgq2BwfLqKq9mVmsde015S5eRVaXb+CGMc+JvIk4pt7QaPLq9qIULQMxUlxH5YxUV12ZeXTTp9rPcWqELvkRNzOARkHPrVxdWxVAw6kNSgBYHuK9/Z3er9ptTtrNlaBbl3aQnKAHB+tXrjQoNK0hisjSugXxuB4BnnFMul6PFpdotra2zJFH08Jyfcn1NaXmktqapCxuok3Zbujt3D0PHSktqH97eBxJODV7Z6iJYPJYT2U16BLBPGzMrpnAyQVPplcGr2raQmo2iTLb/DRlvuEiyc8E59Bnim647PWc1pFataS9yhDBAW6jjk+dXhbSlf8Jhjy2nAFM1GpstIbbyIvTolAOOQYP0vTItLsYbaJSNq5ck5LMeSTVnaA5A6Hp7VZWGUciNiD18JrBBIJVBibkH+Wqm12JZo3I6EX7rUIbO/ETBmLjAKEDZnzOfkaHaXr1jboIQkjko/KgEbmOefajV9oHx8itIsqOvGVX8QznBqx/B4ZIhG1krJ0A2dPrVunUWIoAHUW9NTHLeYCstM1WaKNUlkijjUKpZ8AD2Apj0+3lsrVVluZJpCeWY9PlVmO3kjjEaxOFRcAY8h5Vs0UxiP3T5+VV2DtyRG71xtEvWrLINrHJxxQC7i/wB+ZW9eaKWgnDZ7tyB18NUbmF21DvBHJ1zyOtCtbZ6kf8yOCOMzIwQA+R9KMypmzJ6586oxW0gnZe7brkcUSeJzYspVhjHlXGtyejJBWB9gjYEDqK0m2xwtIxwqgsx9hRCW0chB3bcj0qP4OVlbMbcDjiu9p/qdvE5vaWl1qXaiHUJ7SR4onaTg5DH+UfKsDTXfar+ISpKrQSs7bl4yOFHvXRFtZFBUREenFVbPsxZW0on+GkdySQXYttPsKui+3HK+MRXtU9mQ6Wuo3cwmuJ5EiBztZOG9qJXVjZmcSiALLgjcpx16/sKtpHJuVTGx+lSz28hA+6b8qpMtg6jmdGgmfTbaY2sku5+4YlFJ4zjHNbMx79V4CjoBV0W8reEwtkdOK9ksZ32uIWBHtSGrtPiGjIIO1PUbezhDztz5AdSaRtZ7RXE9pcJCe5j2ngdTnjk0e1zSNVuroslldSIOFyox9KWr/slrs0BEel3Dl2AICjp+dPoofOSJaU1gZzAUNtHFaIdi5x1xzV0yJ/Dj4fKr0nZPtB3KoNJusDjhR/rWJ2V7RNYvjSrk445A/wBavbHz1OZ6+wROoaM2ILInjCLn/lFGGYNx50LsFNt8LDIuCqKCD5HFXslYnY9VJrXThRMJuWMWtUmU3z+3FZXkgdpGYnknNZQwuJckcXvYe7aLkAJIOehB5FTRFbnSEYjKSxeMehx1FDuzRMvZbWLJiT3T8H0BXP7j9auaXMI9Ot4JV6EI49OM/wDWuEA4lTTpe+vEhkbMmMK39S4/er8cgtbWaSU4jjBZjjgADJNUNRsntLhpYmKvEd6sPI0tdsorK47O3WtLcXkN5KUgMCTkRbjx+H0IBNCxwM4jdPULbAhOMw9a65puqgxWN3HcBRuwudyj3onHAMZ5HHTHWuZ9h+zKX2mXF9Pc3dvvk7uM28xTcB1z68/tVuKXSx2jOiDVe0Czibud3xHhDD3z0pavkZIl+7QVi5q62Jx3xOhXMZaE7htPuKpTanZ6eyx3d3BbyHkJI4GR6jNV4ezMNlcpejUdRuJUBULcXBdcH2q7q2gaVqqRT3djDPKo2K7jJC5zj5Uwr+0oYqVuWJEpS9oNJLBhqFoSPLvRUtlq2jzMbqXVLbAO6MCcDacHy9c0g/aFounaZptlJY2MNuzzlXMa9RtPWi32e6FpF/2Zaa906CeYu/3jrk4GMUnJLbcTRGlo9j39xxnHiPOjapZXUkkNvdwSyKC22NwTtzUl3hbu1YAfiFU9B0TS9MmkuLKxhhldSpdBzj0+VWLs5mUehBpqjjkTMsKZ+GcSbtNfWtpfWyXM8cMkoygdgNxGM4+WRVgAPEMHjGSRXH/tQ1R9c7aNaQKXjtFFvEq87m/m+uePpXS+zd9b6hoVpLaDEOwIq+aEcEH3BoFZWYjEuajQtTQtx7P9odsIwlrMuMADIJ+dDL7tBpOkXS217fQwTMobY3B2ngGiyELC0YHXzrkn2jtGvbuwaQr3Xcwb93TbvOc+2M1NpCLkCD6fp11N2xycYM6CvafRZo7gxanbv3Cl5NrZwo6n5VFB2g0q4tJL2K+iNsgO9x5AdeOvmOfeub2EUFxe9rrm1EZtEtJliKYxgsMYHpgV72a0+z/2I1XUpS3xbRywR5fjGASAPXH7UsW58CaFnplKgncfH951iw1fT9RtBLZXUcqOrKuDyxX8WAfTj868nvLbT7Jrq7mWKBCoLt0GSAP1NIf2eadYtZ22o3FxI16WnjtYi3hTA8TAfI8k8ZNe9ub3v9RsdJ1JjaaXs+JMseWM2B+H2Ocj6imbxs3ESq2gX9X7KHgd/wDqPWoatYabaR3t1cpHasQolzlTnpyOtRp2o0K5tY5I9Ws9p45lAP5GuQSzahd9h7+6lcppvxcK20B6LjPT2AwPnVy21nT4+w0Vjb6Mk+qszLJcyWoYICTgg4OSBQe7z0JbHo67TySc44xx/vOrW2qWGoXvd2l7DOY2AcROGwas65rFhocKXGoT9zE8gjVsZyT04Fc4+zWPRkvH+GeWXUVwHZ4yo2Z/l9s+vNWO2VpqfbLtO9hp0ZNnpqMGkbhGlxkqD5noo9KIWDZuxzKp0Fa6v2mOFHZMfh2i0Z9vdanausoyoEoJ4GenXoKHXHbvswbdQmswHn3/ANKCdmV0S80c6gmgWtrqFnG7bGTklFOSM84JyOfOlXRr287S9pZNTg0azkW1iG20V1iiUHjnI8XnXGzAHAjq/TqmZwc4X9xHyPtn2furmC2t9Silnnbu0VM5LH9qnl1Ww0fVFnvrkQxOe7V2B27vTPlSbYa7cy9vE0mTRdOtdrFHWNFLIwXO4OB+lXO2UzLoWoKby2CPjFrJHmRzkDcpzxjPpRbxtJ+pXfQhb66+QG/edJu72AWMt6u6aFE3/dDeSuM5AHWhHZzWLDU5Lu9srkPbhMOx8O35g9PrXN4u0V1H9nttNNE6ol73EQtZmgJRUPJI680C0XDtO81z/udxlvhBdSJkk/zEIc0s3DIwJaX0fhtxxg4naNA7R6ZrfxMNhcGVrVzuABweoyCeozVkajYadan4y9gt2Zjt7yQLu+Vcj7K3VoNfTTra0uliedTiG+YLnrnBAyB5g11sWFjfM4vrSC5XcdnexhtuRzjP0piNuHAlPW6RdNYM5wZi9pNGMK51ay3bR/x1/wBa2TtFo/fgfxWy5U/8dfT51zv7UdLsNP0zTPhbK3gZpWDGKMKSAvt70T+z3Q9Kv+y1lcXen2s8pnkVnkiBJGcDmuDkvsAjToKBpRqcnBOI4t2k0ZAGfVbMByF/xgeSfarVzfW9laz3tw7JBGu5mALYGfbrQ+Hsn2fRw38GstyPlSIhxg9am126fT9DvruGSGKWKNjG0wym7yz7Z4+tMHHYmewqZgK8/wDMFf8A6gdmxIUOondnG3uXzn5Yr267e6HZ2tpcSyzd3dM6owiPG3gkg8gZI/WuSRalc3PbVNQubu3t7hpldp0XfGpxjp5ijdzb2/aDULi91TtNaI8KbLTC8sRyCVHABOeOtVxcx6noH9IoqZd+cEZ45/8AydBTt12cWSOI6pFmQEhipwPmccVd1zX9N0Oyhu76ZhBKdqMilskjPlXJNZv7XtXe2BW/it5ILYpLLcR90hYHORjOfl7Ue7fd4Ps+0XvboXTyTKxmXgNlTyMgYHSu904Y/UQ3plQetTkFjyI2Qdt+zc8aSDVY0yPwyKQw+Yrcdr+zgAP8Ythjpyef0pS0PUNT0vsTZ3lvpmnT2UMDO8s7gPnecjGOfKq/ZWPtPf3E2qWtlDc2kkjEwXBVUJP9ORnj2rvdPAkt6ZRh2zgKfsf+I3XPb3s5Zxox1ATZbbiEFyPc+1HoNSsJ9M/iBu4RaEZE5bC4J45+fFch+0GO8Wexa/sra0uDHIe7tyCNu7A5HnXUOzOl2SdnbWxNtG9u0Cs0bqCrEgMSR580aWFmIMr6vRUU6dLQTycfckXtFoqq+3VrI5OOJhVN9d0o3Ef/AIlZnn/6w/1od250PS7fsdfzW+m2kUqBSHjiCkeIDypD+zvS7PUtVv0vbSG4VIlKiRcgEtioawhgsmnQae3TNqAThf8AadTGsaYl4W/iVpjIHEy85+tXtT1Sy0y0Mt7dR26P4UMhxk0JHZPQHnUnR7QZAx4On60C+1iJv9m7FVQkCc8KucDZTGLKpJlaiii69alJAJ56h2/7YaFaxW8r6jE0coOwx5fp16dPrWT9rNDtJ44p9QRXlQOmASCCcDp0+tcZOnXt1pFkbawncru3MloQTzxl/wCb+1XNQ0y+mu7d4NNm2LEok7uwaMZB5yP5vn51W95vqbQ9G0wIBc+Z2KDULWa+a0S6ga5VQxjDgtg1X1DtTpGkXPw1/ddxLgMAUJBB9wK5TpsAk+0WyQQiNO/QlEgaEAAZ/CckUw/amMXmnAf0v+4oza23P1Kq+mVDUJUW4YRoPbrs+sn/AJ/DDqpjYH9qY7DVrLVVb4a4VzEQHXkMuRkZB55BriV41zP27s1u4Fhl7y3DIrbhjAxz7imHWdffR+0w1l9NvbKZ7dohG5XZMwOATj+X/SoW085k3elJ8VrJyR9zqMU8TTvEsqtLGAWQHkZ6E0P1DtPpOk3YtbzUI4Z8BikmRwenNK/YWKb+JSX17Yak19eRlnu5gFjAOCFHPPtQbtmJpPtRtUtoo5ZisOyOU4Vjg8H2phswu4CV6PT0bUGpm4AJj6vbDQrmeSCHUYJJI1LkLnBXGTtPnj0qla9vOzdwG2apCpB4Lgrn9K5pYiQ9stZ+JgigmS2umaKPlUYL5UJ7Nu6w3wWa7XdFkrBArhsAk7ifwgCl/qG+pc/6NRg5J6H953TS+0uk6w8kVldxTPGfEqnn54PUe9GIgpgdQBg1x/7LYwZdTm2rvURqGxyOvnXWbZjhV9SM1ZqYuuTMj1HTLprzWhyBKE4xqhB48Q/aprhsWkwx55rLwD40soOQ44ry6wbcqBznNMxKOYvOTuNZWXBAlPH5VlRiTIuyTBrfXU9Y1H1rSZ3iaCZc7kPiHt6VB2TkCzalCpG+TZjJ68/tU1y5U3CEfzYBHlSN0PbDF1ILmyiuEwVZMH51yn7R5/hZLC0QnB3SyoPMdF/ua6Bo10Rvs3OVIyvt5UmfaJpUMdpcam7GS4dooogekaDPHzJyc0Fhysuen7U1KloQ7P2Ws3vZDTJdO1UWkShwcRBt3i4pNa0v/wD9QHtlv83/AMUR8Xs/mx+LFOPYDV4dM7OWsV3PElvKzECRwuDnGRny5pbNxEv2om4E0fc/GkmQsAuAOuaUwGBia+nd/ft44wfE6FpGmazBcSXGpa5JeRiPAi7sKAfI0ZjmIzG+SN2cH3qnDq9jcMYYb23kmYEhI5AxIHyqW5u7aHwzXEMblQcPIFP5E1ZGAOJgW+47/IcxI+04EabZDOV+II/+00S+zpSnZRW6bjJj86FfaPcW9zpdgsE8cp79iQjhsDb7UW7CT29v2Ts1aeFHYuxDOARyfLNJBHuZmoyMPTQuOcxutSUVwOhUUK7T6mNG0O5vc/eKmEH+Y8L+v7Vfs7mCWRoo54pH2biquCQM4zxSL9o9xcanqFhoNkjSSn72RR6nhc+mBz9ac7YXImdpaN96q3A8yj2E0ptT7Zy384LrZjvWJH4pG6Z9+pq/p+pHsV22vdMucpplzJ3iZ6R7uVYe3UGnvRNEh7PQmxhO+QDfK/m7Hqfl6UB+0Ts22raSl/aJvurMHcq9XjPJx6kdaUKyqZHc1W11Wo1ZVv8ALIx/7jlG5aFSGBDfh9xiuWfaDH3nb/TFdQyPHACCOCO8IINWfs+7Xu/c6JfuTj/y0p54/pJ/aoPtCIj7daTJgsBFEcDrxIaix96ZnaLSvptdsP0cfvxKmmtpundp+1Ivvu7FY5YtkfBILgBVA8/T0qPseumrHPNJp+r3G4SwiO3XfHsYY5/zY8610yRb++7WXixnupLWdxvXlSX4Hsak7HTSJpEyDtVFo6mTmIqCzcDnJpY7H/M0rB8HOecL/wBv2l/sW2iR9tTaWtrqQlRJFh+IcEIdp35UdPOrvb+K/wBTlsdPt9HnmihIlNzEoJII5UemPPPtQnsWVuftSmkjk72NzcOsn9QI6/WjXaHVNSj1m4trdibixC31oAM74iAJIyPOjXlMSnaCmsR17C55i5qz6pB2X1HSryxmt7OFoZrfvMExqW4UsODnk1Y7P6/c9lOz0M5VprO+ilC+fdzqSBj2IwTU2vWup2XZ3U4nilXSLh4ZrZZT4onY5KAdeOQflXkGh6hrOj2PZy1RVFkrXF1Iw4WV+Uiz64PPz9qDaQeJaV6zX/Exgtzz+0M/ZdozW1hNqsgIkunAjz/QOc/U/tTXq2g6TqU8AumeJkDCNIZzEDnknA6+5pZ7A9pnkYdn9RXu7228MWRgso/lI8iKN9vNFbVuzc7QZ+JtQZ4ivU4B3D6jP5VZTArmNqy/675naDjBH14nPtD03+K9qNSudKkni0uzil8ZkLbl2tgEnruPOKF9k9NbUvjQul3N8UjXwwXQg2Zz1Pnmum/Z+1jfdjFgsoRASHhnIGSXKkbs+fBzSd2f7O6XN2mvtLsze6hbRw4+Jjl7pO8XyJBxgnjNJKHKmay6vPvVHgDA/pItLQw/a3ErRNH4tpQtuKfdDgnzxTT20a1t+x2oQzGP4qYqIVIBdjuBOPPAAoX2O0nSJ+0815FPdQX9ozA2Fwcshxtzv6tinvULG7nsZDYzRQ3K5BaS3WTcMfh56ZNMrXKNM/XahRqaj/pA/acdhtlk+z5YI2ge6kve+7sTLv7vbjJBPH70R0XT7xNNjBv4IiF/wzq5jI6/ygcVPpNpba3qctjKbK2v1J3QTaYgJI64wcVna3s1FpGjTSNc6cZNyERxWqxSMCeo56UnbgbppnUKX9onBY5++5F2ZtprTtwl1cyxG3WbDTfErIp8GB4jgnqB0rr9oMxYP9fB+Vcc+z/RjqFtPMktrGYLpSBLAHJ4z4T5dK7JaEmCM+oLfXNOo6mT6yR7gUHkCc8+1ok2OnMVwe/f6gqCP1od2W7XXHZnSNNivbRX0ueV2jnjzvQ7vFkdDRT7WUEmiaXKucpcOvXy21P2U0G07R/ZpaW16GCpcNKkiHDKd3OPmOKBgfdOJcqsqX01fdGV3czoFvdRXcS3FvIJIZQHR1PBB86pa/ftpeiX96Ikma2iaTum6NgjiodUvNP7H6KshiZLODbHHHGMnJ6CqdzqH+1HY6S40yz+KW7Xu2glk7o4zhhkdCMVYLePMw1p5FgHwz3OYh5u0uv3GsQ6dOCGUsltKqhCFx1PPl5VQ0jVtUuNSjt5J764U5zDFIA548iRinay7L3lpG6jsdZS5Gd0t8XK/LIpC7OW8l12ghij0+O9fLD4Z32BsA+ftVFlIx+89jRbVYlm0cKOOv8AzDXZy5s+zfa1VubC6ZpF7oxTbMqXI59KaftdQJ2esEQbVW6AAHkNpqjJ2XvvjVvYOyKpMhDIi6h4Mjpxiif2rrI/ZnTWlTZJ36l1B6Hacj86aFIRhM2y1LNZQynno8xA1Bn/AIH2cj3sqPA6lQeD98fLzpq7baZd9ndJ03udZv5UklIEbuAEwuQRigNvBpuqaLpMU97c28tmjqwS0eQHLluGHFFtUstF1C3hT/aDVn2EnbdWzuBx5DHFAoODiXWdRYgPQLZGMwd21kmudI7N3FzM808lizs7nk5auvdnuNOsT62yf/EVx7tjeWU1rpFrZTPKtpamJmeMoSc9cGuuafc21hodhNc3EUKm3jAaRwoJ2jjmm0j5mZnqYP6SsDyzSh9oUbjsVqODgbV+vjFIf2VJnU9S457lP/kade3Gr6dddjtQgt7+2lkZF2qkqknxDyzSd9ltzbWup6kbmeKENCmDI4XPi8s1Fn+cJOkRh6XaCOczqMYw6cdPekj7VriaLTdN7qaSPc77tjEZ8NNz6zpMAZ5NSs1Q43HvlPy86T/tQhkubbSLeAGSSSdgirzklR09uadbyhxM/wBLUprKy4wM+Yt6GdSl0e3ZJ9QYEH/D1RIx1/pbkUWjGrAsO+1g+H+XV4TSj2ksbHS9Y0y1ieCQQ20QuWQg/ebjuz7+WKYdc0yz+MGvdmbFLuzSPbdQtbkx5/qA/fHTFV1zjAm7cqkq3h844/8Au4Y0KC9HaG0kuf4ieSM3N7E4PHovJoV9qyn4/SwvUxvj/mFSdh7/AEi+1maa4hsbS73g2kKxldnl4WJ5PtWn2iw6hq3aa0sLWwlkaKL7tlGQ4Y5z6DBHnRNzXxK9QK+oLv4wPPUAul4ftGtUvmia47+AMYhhfwjH6Yq39ow1VbmxTU3tGAEndfDg/hyOuar20WoL9pdnFqbIbwXMQkKDj8IwPoMUwdqbKbtd20h06yA7uzj2zTYyqknJz+nFLAypxLruK76icYCk5/8AEbOzY11ILdb5rH4NbcBBAG3k4GM56cUudtI+zsHaiK71e5vxNJGjCO3XwlRwOeoo72U7RzX2oXeiahaC2v7TwlY87HA4yPT/AEpE+0q9tr3tRAbe5ilWGII5Rs7WDHIPuKsOQKhiZWkrdtcQeAQeR9SeSLsrp631zpmurPd3cTQoty5AiD9STjJ4rSz/AIToXZi/t7DtDYS31yuJQwYqy4xtHHB5PNW31rT9IvdWljk0+9smiWSzTws6ykcqOM4BzQO8ljPYgJc3lhNfPcq0aRBe8jTnIJHWlEiaCIzkBicEj/7rxHD7OdFfTtLu7l7mCdLllCNA+4YUefoeelOtudkq5PQc0qdgLvTE7L21pBcw/FBGmmjB8Q56mjGi6/p2t/EmykaVoWCuGXac+RHtxVqoqFE8/wCorbZe7kdQtKVeRmHDZGa0uMkqAfLmo2/xGxnpXsjZ5/EoHkORTZmwPcKEnYbiPY1lWXiWZt4YMD8qyhzDxFrS1VNRllxhmKA1K8u6SYvkAuSrdcfOq9sNsWozg+JJEQfWqy3Di/RDyJsbuaqGNEuoe6ukkBAIbnnqDVnWbG11m2SG7iEsYIJXJHI6dKhu7dApIGCDxit4ZXKbWO7pzUgyclTkGDZey2jS20MUlijRQgiMFj4Qxya8g7K6CpWJtMjZhyu5j4vUHmjA5yvlitXQSJtJIxyCOorisNdRYDkMZ5puh6Np05uLCyjhlK7Sy9QD1Fb6n2b0fVpvib60WabaEDbiMAeVYCe4juMnfnnHQ1fUd5ArglcrnFSOsGAbH3bt3MAwdiezeD/4ePpIwqQ9hez25W+APp/iN/rRG1kJZxjoavoxaIk+TAVIURn6q/rcYP0bs3pmi3Es1jbmKSSLaxLk8Zz51bSwtLeae6SMC4uZAZZG5Y9OM+Q46VdgAaaZSOBH/cVBcErDgdNwP60YAiWtcnLHmErk/wDi8oJxk9fpWLIQjqRWl2268eQjlgahL/7vnB4PrRmJHEp2vZ7TLHWX1S3tRHcSKVfH4eTkkDyNZqXZ3S9W1CG9vIXeeAARsHIxg56fOikTCTAIPIz1rbAzQbFjhqLSdwbkcSCWwtLi1ntjBGIpwVkEahd2fXFULHsnoenwNFBp1u2TkmVd56dMmjklusao6k881UeMrJkMQRzXFVE5dRYAQGMraT2b0nS9TkvbOyWK4lzlgScA9cDyHyqxHYW3xq3xgVrtI+6WYjLBc5wPzqeFz8UE/wAhOa8tiWhUk80QUY4kNbYzZJzMu7K3v+6+IiWQRSd4it0DY4J9TUtpZwWUKw28QRMkn1JPUk+ZNawuXGD/AFCrkQ7w+hqQIos2MZlFNJ086qdSFrGL0ptM2PER/r71eIBznBHQj286gkcqM58s1vE5a23nrgVIIklmOMnqaR6XZw6c1jFCsVsy7SkfgwD1xivbDT7TTrBILS2igiBI2Rrgf9a9kmKGRMZymQc9OalgkZ7dh024YfOoyMziz45PEpfwSwj1SXVY7dPjZwEeXzI/6459avKp+Hl8ycnrWGYJcJEUBD556YwK1unNramReSXVDn0JA/vU8CQSz4yZSfSbKO+fUEto/inUK8u3xED/ALxUOr6Dp2t/7vqNsJUj8aHJBU9ODRG+LQidlP8AhkEAj3rW6bxM2MEkj9aW22NV3Uhs8iAdJ0HT9G01lsLYRh2diSSSeSBRqykUWCE5BGQBVa2bfYxsR/ID+ZNbxM2CM8B2/Q1y4nWuznLHJml/oenatbRxalbCZEJcDcRhiMH9KsWOl2uj6cLOyi7qBMsqg5wTyaljcygZ6MrZr2GZpLVt3JQkZ9aMAZzBNj7dhPE11TTrXWLSSyvU7yByCy5xkjkc1PaW1tp9nFa2sKxQou1UQYAFRvKyqPdF/att5CRe6ZruM5kFzt2Z4lobd3tjB/Kgdl2Q0PTL9b2zshHOucOGJxkYNE4pGYZqTJ2qc9TiuwDOS11yFPcl2ePcBg1U1XSrLVoora/tkniU7lVicA+tWwCZTyeBW7rhojz0NScSFJQ5BwZTstOttPto7WyiWGBM7EXoPOrqqfUiooG3kA+fvViMZYD1qRgdTizMckwVqWgaVq80UmoWUU8kakIWHQZzW2oaPYajZpb3lpFNDHgojDhTjH7URJ+8x86zOSUI4wDQ/GF7tnA3dQH/ALEdmw5xpFt+EAcGtH7B9mnPi0iDA68n/WjzE9wjZ5zWCQsjE/0E0OE+o39TeP5zFmT7PuzOONJiB6cMaMnTbY3EVwYEaWBTHETzsHt78VeaXkjFbMBjz5NSCo8SGvtfG5iYtDsfoK3ct0NMt2mkkLlnGfEevFGEhaHasS7FVTtVRgD6VdMKsCwyME1Ex2yovXOf2qeBzIex34Y5gBuzOhy6rHqH8PijvFOdyjAJ9SOmaLbMOwOemPepJduEyoOa9PgkUZzlS2TUZAnM9jgZOcdQO/ZvSZNU/ijWUZvd+/vSTkN0qSFLayMsdvbBdrZYJty/mT7/AFoip8Ww5wOajdI9zSd2u7rnA5qQQOZxssYYJlOIQLO9wLXupnUb5MDcxUcAn1qjNp+lGUyTaFDuLEs7xoCSec0ZhMctmztEvhcjoPI9al7mKcSrJGrBQDyAakbTIDupyDF06TobDI0W0D/yx90mWrR9I0YA50G1VweQUTj08/OmFbeDvP8ACUFR4SAMivHhhDljGpJbqQK7av1C9+3/AFH+sG2WkaXanvrWwgt3dcEogBI8wa007QdN0fvjYWwgMx3OATz7c0SLBTJHjiM5X61WN3mMApz1zn/pUZEg2WEYJ7npXx8nPFRkgeIcYNTIyh87eAOmaoQ3AYuCnn6/9KncIG0zaW3hlcs8SlvX1rKga8AYgRdP81ZXbhOwZ//Z"/>
          <p:cNvSpPr>
            <a:spLocks noChangeAspect="1" noChangeArrowheads="1"/>
          </p:cNvSpPr>
          <p:nvPr/>
        </p:nvSpPr>
        <p:spPr bwMode="auto">
          <a:xfrm>
            <a:off x="44450"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4" descr="data:image/jpeg;base64,/9j/4AAQSkZJRgABAQEASABIAAD/2wBDAAgGBgcGBQgHBwcJCQgKDBQNDAsLDBkSEw8UHRofHh0aHBwgJC4nICIsIxwcKDcpLDAxNDQ0Hyc5PTgyPC4zNDL/2wBDAQkJCQwLDBgNDRgyIRwhMjIyMjIyMjIyMjIyMjIyMjIyMjIyMjIyMjIyMjIyMjIyMjIyMjIyMjIyMjIyMjIyMjL/wAARCAFdAfQDASIAAhEBAxEB/8QAHAAAAgIDAQEAAAAAAAAAAAAABQYDBAACBwEI/8QASRAAAgEDAwEGAwYEAwYFAwMFAQIDAAQRBRIhMQYTIkFRYRRxgQcjMpGhsRVCUsEzYtEWJEOS4fAlNHKCslOi8Rcmc3SEk7PC/8QAGwEAAgMBAQEAAAAAAAAAAAAAAgMBBAUABgf/xAAzEQACAgEEAQQBAgQFBQEAAAABAgADEQQSITFBBRMiUTIUYSNCkaEkM1JxgRWx0eHwwf/aAAwDAQACEQMRAD8AkI2klfwr09enSptxJWNxkeQ9D61kUZZQ25XB6kHNSKMTM5HB4Hsaqgx2JBtZZcqDyT4R7eWKn8WAMjaSSQRjB9vShHaHWpNHuIpILeN0l3fjJGCMenzoIe3l42VFla7AOckndXZEdXprHGVjZ3J37lRsH1PUe1SRqI2OVYnGOGpN/wBt7olybC3UjqVZhj9asQ9sbuZS6wQEnoHyc0JdRG/obvr+8cBEH/r2+fi61Jtj+H7tWIO45D+58j/akyHtxcLOI57WNUz/ACsSR+dHDq8s0O/u1KEDlXODRJ8+pWvRqMB+MwlHbP3xfkxgY7v09Mf9+VWTb7jtC5z4Rg9f++tA4L1HKgwkMvI+8bH0ohbarJHPJM8RZCMBCxx86Z7RMr++glv+Gg9DjnOfPNSQ6eqAqoHiByfeo/4w53MIVP8ANjNY+uEIsiwxjBwetd7Jke+suLYkKqAjB5OOtbrbhWLngccZ61Qg1yTuiwjj44PXrmrN3rJjiaUxRIoAOTwKkVGQb1l50B2EcgDxKRnzqVbWLeqknHkG44pNl+0GytFO4q8gOMICePc9Kt2/bE3MyuqIobxLnP79KMUtB/UrGCWwG0FSVPTOartDcWBO0EjIzjkf9Kh/js7tvEUWODxmo7jWp9zbok25yQc9aE0nzCGoEslw0JuI1BIOOPxAefFYwV84bgjg/wB6FHV37wkxxAnOT/rUr3komgTYgEhAyvmD1/ahNZhC5ZNOMg7FO5hgKo68c0WhgAjRYtuwenFDxeqGVEijUqRtbz/Ot5tVlt2LdxGrdeB1rhUZxuEJvYrs4j8WeR0yKonT270julHHODzz0+tSx6xcywqe7jG4AgkV5LqUsTyqoQqep880XtZge+JoNPjK7d2OOQVzXsen7FRcJuIyQMkD61CuqXDtgqmW6HH6VpHqdyWK92gyCQfT2+VR7ZhC8GEYrRFx02qMEAYx9Ktw2sTABVXYeMYoP/E7iOASbYzuyMYrINWuBakbYzt9RUisyDaIdjgDBeMFDt9xirCwxvDvKDL5yR7E0Di1q5Z2zs6dcdaxdYulhAxGAHI6etMFcD3hmGo7YKG24Ksvh9jWQpnTWkIORJgn6Cgq65eA7SsYK8Disj1e6/h10oEZHfDOV/yCoNcn3RDjRKu4bFCk521vGmwNjxow5B/76il069cjAxHznyqxFrtysJO2I4XHTpXBJBtELSwwzIySRq656OM4+Ve2UEccY2oFULwo8h/3mgSa1ctP/wAPB9q1TXruJgoWPOT/AC+9F7cH3hGYRh2yfxZ/SsWNcNxxnzpfbX7kPwI/TpWHX7rwrti9xtotkg2iMW3PkRzWzKMk+flS3/HrkN0j/KsGv3UkqACPr/T5VxTmR7ojGU8AJ6YGfnXoA6EflS7J2guy7+GPGTxtrLbXrmSTbiPPn4a7bO90RiCDHyrYQ7lwoxnrQA6zdGRwO768+Gpl1O+CoQEwT/TXbJHug9Q7HECgBGPKtkizKCeo8/Wgv8UvgrAmMYb+mtDrd3nIKf8ALU7J3uiG1jCyAeWK9aIYxjn0pf8A45eb/wDh/PbXg1u9Zusf/LUEQg2Yxsvi3Dz5xWEDGcY+VLiatqZUsFUjHXZWw1XUGySi8eWyoPELdGEdPPAwOPevdmWYHBXHHzpe/jF7nHgBxz4ayPWLznhceR20G8ScHuH2LBzxkVIhXJA8xyKX21m7wThfyquNcvODtT54rtwnc/UalhVYFBGdp61ssSsH4zzk0uW2uXkllKGCEq3pW1prlyxlXC5HP4a7cJGT9RgNnGzk/haoygC4wcjr70HbW7xSTiP8qgfXrwHO2M4GPw0W4Qc/tGBeF3A+IcZ9qlUl1z/Mvib3pUOuXRbwiPLf5axu0F7EyuhTAYDO3rXBxI3ftGkH70qR4jzj3rQkK/gJCtwceRr1gZ1EyddoOPQ1q4w+7/hvyCKFjHLjqRuhLnJOQcE1lb94U8L8MOtZQcw905Vp6JbwpGECREeEAYA5yf3qeRB36qvAIya97o/DRhc7iM4AzUwgLbEXAkk8J/yjqT+WaSBH5iJ23mWVrSMDC5fB9ckUrxw92CSOB600dtIw1/ZRhdqpG5+m7il+QEx/3pL8Geh9Oq30gyiX4Yg8k1q0rwMDET0yRXsi7OazhmUnzqP95bNQPEsTSi+xJF/jIOg88f3opour934GOQTh1P70us5tLnvEzkDIxVsSd8y3dr+POJkHnnzFSp2HI6lDU0CxDUwj5bqGMYRsh/X1omY2KFhwoztHuKW9Ov0ue5kiPMZCmnWOET6Z3iZDRMR860EO4ZnkLKzWxU+JWssXVtISPGq42+hzyaD6jM0E0kECCSXbkgnAH5eftU9xqH8J065uhgMVIUerHgUJtporewaeeQmRzuJPU5p1YDdxFr7OBKBvtZacxw3apuGQUQf3ra1sNRvXdr+5kljUZ8TE1UbUQb1JUQhFOD5UU+Oe5RoLNC7sMAL+9PQLEO74lW++B+H7qSFMAEZBwc0Ls9XtdOlVYTJIo/kHIq3PoOENxqdzsjVz4AaA3mqQrN8No9sBzgORkmodwvMZVWX4HMebbtFDZwpczxyQ25zuVzjcPVR1zQW/+0Y94VsbLKjgNM3X6Cq2k9j7vXC013dFmHVmbA+VV5uzVsJJIYZJGkXoE53evBqu9o/I9S3XRg7c8ya27c3ne7p7WNhnPg4roOjTRarZQ30KMEDZAJNIGl9iH1K7gAlmitVANwZVCupP8oA9R5npXWLGxt7K2jtbVAkEa7VWhaxNuRJNZBwZCYj3uc5Fa3R75QvnViVSQSuQc1oyHaGIwTVZrsdQwplq2TZGvP4OPnVW8J+IdhwSOPnVy3I4Q+dVLpf949hiubUdYkBMzaBkZRvGM/hrwxMksqjILKFGfc1o4CwkZ8IORUluTIoY8gMcH2AovdBGZISbXcQEe1RlYxtFVoRsC5HDYBFX5Bm3BB5JNVRE2xem7A60avmCQZpbsRMyk9OlTIh+HlGTkN5+dV4gBesMYGPM1ZR9qsSRhqJnAnBTIt5ePcfxA+db24Lx3yqcDvE/+FegAK24jk1taxOo1DzBaNh+RFVntIjlUGVUTxJ6gYNWdjRo64BHrWQqjSENx5V7IrL3nIKkgda4XfvBZJCEMbq23mt2UyHdtyRXv4XB3Bh869WYbzg4FOS8eYsqRNBHlhuGOeeOlZtBfnHXip0RpASMVGoYvjAyTRe59ReM8T0wYUkedXLK1DMzE4IGAKikVlUAHAWp7YyJD1GSK4248Sfb/eVTCPiHG7jNTW9vh5GVhnHFa5cTk8cnmpiJAxIA+YqPdJPUgoB5mgjcvk4/KrwiIUeg6YqsN45OPWrcTSFSeKP3MdicFbwZK0JJ5B586gS13XIQnANELbfLNGvAB6kmsmhjinJ3lm9q4OX/ABk4A5aVhpscRbvZF4OakihsxGcRgg9CTQ6a7hmLgsQwPrUtvv7gKTxjiusLLJUhuJZD5XwdOmBXiybeowc1DA4W52u3HvV6QxMB+Hr5USWBhAK4Mx4wxDBRg9eKjKKiEKozUguEXhTkkeXStVm8QDDmpesMOJKWFZWZF2kAFmA+lVLiErEGPXNGHIwcACqU8RkxGVwp6CqNqlJdrcOOpTtXKyzpjgjmt7GXEz+hU5qUQCHLYySvPoK0SMpOJW6EdPnVZbjnBhlOJtKdp6YWopB90WB6irTqp6tn1rTu1aM7R+HqKb7sApA8juqKwOChOKtb0ktI228Z5qOaEB2VuPPFaWzL3QiY8NnHswNOVsxLiPlgHWMKTkgfpXoG5WTGVJJBHl7VJZpiYcYOzpUKHaGOeGJyKsDqQJ4t9CiBbhCXHGVGcj1rKiaMMxOM1lRDidHB3RMjkeEcH1PkBUDIbeaOV1PAxjPXrn9KPJZNJBHcSKAoOdnoT5/lQPVZRIZ5FGAq7E+vGfyzSQsaTzxEDtkpU2Fwx/xI3AP/ALqVWcBFHJzTv9o8Hw9p2eTGGa0kc/V6QBJ5HHHSq1o+U9b6Y3+HUTGVWXBPNRuDG4PlUjEkbgBxWz4eMMMYpYMvsueRK0+GII5yKrwNJZ3IkQZHUrU03gZVNSoisPnTM4/2lV6/ezjgiX7DUYYbpblB93J4ZYx5HyYV1Ds3dpdQyQiRZFcblI8xXEJFeCRmQ8ZyRRPStfutPcPauVJ4KZ4OeD8qsVPsGPE85rdH7hJPDRq16V767NtbIXijY7B5E+tTafokQte9v5t7gfgB6VUF4xtH2GVB1cIBn86rwajIVdETap6sxyTWhRUSd2Z5e5+cY6kOt/eTpbWmNzjwqv70Z0+9sezujd7Jhrh16ebGhN2U0eH4qc5mbP7cD9aq6PokmsqdS1e5Fnp64bLtgsPQelTbatXJjKaWuGB1A2o6hqXaDUCqh3LN4Y0GQBRa2trfQoxDdJm5kUNvGCBnyqzf69aQFbLs5amCAHBuGXxv7/8A5orL2YgvdCjuZJjHeMM7jyGHvWTdc7/kMD+829JSiHC8mS6DrtjaxSK8oG/nGcFfUYP70PLJcajN8CwnmaNiip8jyTStLZ3HfvFBA05j/EYxx+dNHZLUrKABPhpYbpXHeO+CCM8UTWN7eBCTS1+7uJ5jF2Ls72whkN8qgykOo3ZPTz96cLfHeEgmlns7qH8UF1LHA0dqkrCBmPiZfXHkM9Ka9Nw/VffPrSixHcruMsZ5JGrN0rDB4ADyPX0q1JGWk4HPp6V6yfdj39KXuyeYGJQVO7k/Y1DOu53z0YcH0rTXdXstDtDcXbgcHavmx9q5HrnbS/1eULHI0NuDgIhx+tNRC8g/tOi6hrmnWUJWa9iVscqDk1Rte3GiQ24DXTHMmMhegrkszFwSRk88k81ltD3kONrYqwKQJ3M7ymvaRfwN8PqEXsGO396tO+yKN2IZeMMOQa4Tbx3EODGrEA9MZzTVp17qdpCjW8Vym7rGyko308qgqF5BnCtj4nQ1CyXJYNhs4+lWJYyOOjZ5HrQPTbqS4CSSRNDLxvjfy9CPamKYd5CPVemKQbA3ULYV4lQODuB5B8JHoasWLuj3wblCIvmOGqBjhyV6kgEetT2LLu1MqD4RGpB+tLZoYEzuT3W4HPU59arxSs0LbsnxHmp53aCJNuQoHINUo2Y26yIPxMxIpYYSSvE2UktgmvDCyvtBJyeKkXxKpAz5Gtw2CeOB5+9M3cQNsu233XhJ4xis7pTIrB+c5qsshZiG/l9K3jdlkGeVz1ohaRxINQ7hAQLMuAeK2EJHGeM4rWKQKScY+dTwlXQsV86L3WJke2s0+Ey/XmpTEFbk+XFVp5u5lj5O0nzq9vTKk/WhOoYQvYQ+Jo8SrH+Ly8qkhQd3nHSo5Sp49euKsApBbnd1I65pfvPY20cyfaVBkz2GcoVPQA5HFD9W1MwXLQhfGf5qnF2C2UiJiTklqBa1qR7hpljBkXrWrpqbK1O+UrbEY8QM1w/xDBmzySCTR+zvmFiGZhSUt/LePiOMl+TgDrRKDUGWwiWUNGc4xirJAYYicEGM/fKxVi/XpmppZQkW4uFApUfUFHdAHI6H5VPLd5tigYkGqrVMp4jVYEYMPwXy7+T4fWitsFny0fJX9KS7eXag3HA+dOejREWBmC4D9D60ZJVMmRjc2BLYxjZ+IjqfWpBHiMlR08/Wt4492CRx5VFqM7wQhISFZwxLYztAHNZ3ys5M0RhZpLDjaAAzdPlULxYJAJ3HqTQ/RNce7uZrW7fJjAZZMdecEGjL7dznGR6jmqdhKmOTBE1EIaP8IIIGfeoO6bazqOUbz6AVfgU7ADXuwGQoRww6e4qFfE4rF69XvCXUYB6n1qhMhEaA5GG3D2o1cxH4h0wORx6Ch5t5Cpjf8I6VZrsiWrj/AKe3eqsh/EEANVJ/DLMB0zmptL4B54Kj86juFAuZV9a1B1K3mVlWQKCjggjNZVd5yjbQSAOOtZQ4nZkuqbYrYWydQMsR+1JeoKrNDAuSzvnA9Og/em3W2MUrjoWzilzTYFve01sg5RJMfRRk1GISmK32xW/d3OjoP+FbFP1FctRVy3ODjjP61177VAt5qdpEcbjCxH/NXJZojFIVx04qjY38Qier9N50yzWJx3mDyDXuQisvluqIcOTW4OYmHnmlnuaoPEgulyAa2hfCjPrWzjfHk1GUYJxUjkYgONrbxMkRWVjjqapdyVbenGDnFWw29fl1r0gkHBwCMUanbK11a3DkRrmTuGkC42vGGHHTIzUGiwCbUFDAFIRvb0PpUK6mZdNSSUDeEEZ/9vFVrG+Ntp13NnDs2wf9/WtXSEhctPn+sTFjKPuX9WjF7eGaQK4UExRE8KB1dv7Vl5ot5d2KXJv45ogv3QjP3R45A9G9jQyxZ5Vu1kYlZUAYn0DA/sKZtNsLlru/t7ZMQ3VsZmjkON+DwUA6EDFZuouY2E5mtp6FWoKBFTSbc3F6qbcKD+dN+oXDrbiIEhemBUGh6QILhpZfE3l9aO29mLm5eNgML0I86Ta2/qXdPWK0wYui6vFsksdNsBbxs3juJCFPz5NeaLpTRLd3FxL30iS4aQMCjDyxjz9acNS0SJbFQdhGMtil20LzILOFkiBlwm7hRxnJ+lLL/HaBHe3zuzCvZqCSzsJ4ZJmd0dsHP8p5Uj6U0aTKDjPkMDFJVveiyuZYjKjlVwSp4Iz5emDz+dN2kKShHO6mfkJlXDY5htXDS8day7mis7G4uZ2CxxoXJHtVSMsZ8560B+0S8kg7IvGpwbiRIs+3U/tXKuTgxWcTkPaPXrrtBqU11OzCPOIkzwq+QoMue8A9KutFtBzyKgwEkLHBIrQGAMCCBN9rsmQB+VFtHlTuWjZFyPWh3Bj48/aptMO0uvl5GhccRinBnVYtLhTQ472KNVYryQPOtILpbiyBONw96JaTtbsj3EjAnbyD1pNe6S0LxNLGoXPVgKzcEmbVVoVeRGiFs28UxI3RvsYj+g/9aPCQtb5x5Z60qdnpo7uMqzKYJUZSwPQjnOaYtMuor3S45Y5klUgqZF6MQSCR7UtsoTKWoVWfKzFcSKr4x61Y0bE02qDPJMTdPLmoreL7iQA/hOAKn7P25ae/2nGYkJ/M0O/MXsmuoDAFVreAhV5IwDxU9/A+8NuyPMelbWsReFhnnPJqA0jGJqkWXYKcYGcVOkEbRDcMMx6VotsxumQuRnjNW3tHO3xdBTc5gESoIBHOQemeKkCRmdVUge1Y0LAks3StLS1klvFZScY5ogwnYhCZYo1UZz51ZtdjMcN4SuefKqM1vKXwOcH1qSytZllbPQ8UJK+Z2JpqKplWDjCnzqwmDEBnOOaH6jbyLvBzyQa3ijmRUwcexNAzKYSgiWbkrDAXxzn1qpHcSaihEwVIVbwqDyazUbWe7tmijkKsBmgenWc9xqsNm8rIzRGVfdRWh6eKlUsTzKWs9xjtHUJ3OsShXgitXC/hHBqrJod/qdiWmkEAyB4h1Hyp0gso7a1VRgt6kZNRvADE5bIO09KO/wBRVThBmBToyRloE7P6LYaUu6NO8uP638hV6TT7HUIkW6tgxRuCvBNSWsCqqkH+Xzq1wJBjgYzx5Gs5/ULS2QZeXToByIMuuzGjXExdYZIjjG1G8IqieycKMCk77M+IHnPypnYYKg+YzWzIOAelEPULwO4J0tR8QXHomnKSwtB4AOM9fejMMi/DZACoOAo6AV4YwtuzcemKjj2rZj59KWNVc5wxhCpF5Ep3mrNaztGka7UA3MeSM/5fPpQa41BryRlFwZ2WM8W8fTI5BP6VrqJhlvbi7QqXjRRHKzAJkA8c8E5qtHqVjYgQRXEDM6Deyqz7j5n860EB2xTcmVNOisZjdQ3ckttKSGt3DbWBC5xnoc+hq6+q6jowb+IRiW2MaMJ4UO0Z/rA5BPqOKXtUV5XOyQsjMW4iOOgAp30y8huoFaR03SRRRgK25WYL4h7H2pFykDPYjEA6hLRr6DULYMkgJIyFBzx7etXJk2zIc4xSxcaQdKhmvdJ8GGDy2mfBLz5f0tzR7T9Qi1TSortM8kqc9ciqe1Qu9TxHZIO0yO+XurqNkxg+tV2i8WfxnOcipLod6VXjGD9KmtIlIDDPOM+9MqbJkMIfstqlk88Dr58VVuWZJmBGc/mKn3bbmNgeD/pVa8kJuu724yuN3vW2DwJnkcmQJ3eMvtJPPIrKicjgEdBjrWVM7Eh7Syf75wfwqB9aFdkI92pTzkcRRtz7mptfm3zynPGSTmrPZaDutMnlIGZHI49hQY5hA8Tmn2pXe3tDp53YIgYj/mpNvIVuIe9TG4dfej32tkr2gsnXzgJ/JqUbK+KgK2cdDzVDUJ89wnq/S2B06rK5XcTUedu/6GiE1uQTKg8Dc8VU2BmINLDZmttyJFvx4T59amK5AwarXAKOeOMVPbvuChjRHrIi0fnY0rOmwtWyMDEuTzipbpRuPHU1DsxEOPOiHIinBRsiGdLENzp89rIAZIzvRfMg9cfWhk8Jj0veCQDcFCp8uARVbc8cqkEg9QQcEVY3zXamEyFwzBip6kjgGrVV21dpnmtf6a1lhur/AKS7p0kVttklYhGYBzjop4J/XNPI02U6naTG8kghthlBEm8SKRxtP9J9PKlQacLrTZEUgPGvQ0b0K+7R9m3lit7dbm1ZOEcZ7sHzFUn5yYaVkYEkiuu7vpFJ4DGjdu+37xeppQlke5fv1wHZs4X3NGkuXjijkP4R+Lmly5UM8Gb65qEoj7qNjufjOa3u9IVtFhtLSQfFxHvCxHDtjoapX8SygSKcc7gaFX97qS6k6rdpawugTeTjcCM43eWfWuAyeDBtBHBhTs1o6M8tzdSCS4BZe6yMggjk+3PFPulKIlO8fWuf6TrunaVPHaOigyR5MiT96c558hjPHFPtpNFLGrxOGQjORTGzjEzb62DbiOISVN0owAeaW/tIte80C1TPJueP+U0fin7qcjd4TyAa87YWi3/Zid0GZLcrKPp1/Q0CkhxmJYKRPny4jKMdxFUZ02kAdTRbU4+7kcYyQaK9ltMFwZbnuo5pVKrGJV3KCc5JHngDgeprSZwq5MXWm84gCO2kWCNmUgE+YojotmtxqESDgM+KftFjXVi2n6na21reBSQsajbIvTayj8LeYoDp+miw16SFf+FKccVXN+QRHmnawxGzVEht7FbeBz3wXAA/vSBc6Fp9tFJNqk4kuXb7qJDlmJ8sV0f+FS3kTuCRkEbvOlrUOza2Mi3aKgkX+Z13fvVauwKZeWstwBzFns5Fefw29VI5RCUkCRBsbvUe3GRXT9F+77PWaqqIO4U7I84Qf0jPp0pe0iW3toWO7E8m5ySOC2OABR7S7qF7WOGIgRhcovoOcj6H+1Ra27OBEWIyrkwjauTDMV4ORiinZ0AahdgDgwhcfWgttKPvV9Rx+dEdBkKap4TjfgfvVUlhIBBEm1WIAOyjo238qgt8h1IPhPUVbviGVhnguTmq1uqbg/8ASOnuaEMZJUESTeBdl+OBwDXrOVPt1rfaFkGc5dQ3yr27jBRdpxxzR7jB2DzB00+dw86t6fIY/ETj0qrFEJbnac88UbFpF4QorixkFAJVa6zIc9cjmiFpIDJuyelUPhAJSD5HNXoIlCkg4IqCTJAEqatKvGOTmtBMuVwueK8vEV23McBc1Chj2Bg2AOST5VwQucATmIQcy0SzbsDJCnGKA6MQO3FoM522DefsKI3GtJDAwiVyoU84HoaAQzSRdr7Ros7zZ4/StNNIakwezKB1G9s/U6RczxooVSM+hFQNiS0dh/SeKFpBdqO9YsyMcHdVu51fT9K0uVryYxkJuI2E4HqfyNJbSjzGLcSZJbRjGMHG3ipBgPgH2Nb2xSRYpYzmOWMOpHoRkVLL3VnaNNJngAAAZLMegFKTSlzxGmwAcwTqeqpaX0FokbS3M3CRqMknGT+nXnArS4h1e4RM3MFuCeF5cj8sAUr622owX9rqAeO3ukPMyyFsjptI6AeWBTbPfrc2UNzbKFZ3CgNztOefnijar2uBBBzzA51bUdP1iCznvY7mylYiSQptVDjI5ycfnTFJIBbFgcq3THSk3tZYQ2+jxxSXE8kakDumfHA8x5UzafMs+hRBFwIQEVuu4BRg/PBpr0g4M4NEMaTqUk0SmLvnkbEb5yi7jkA/01YvuyutQSLMs6EDkBMCjulytELOzSZmhWYSDdjHIPAPqM+/lR2WW4cXIubcRwx8RvuHj9x6YGOvnVhVBHcF3IOJz60kvheRwNOCzHaFlUEZPrR/T7G4+PhuhatBGrHvnI4bywPU5xg4oJLKf45a7eGEoOa6BKNuibyzKVt3cMDyMKT1pNhzhR5kg45g2Se+1W4nstOCoiELJcdVgOOVH9T4/Ki1laQadZRWVuCI4wQNx5PmSfcnmtuz1sLXszp8Ua4zArtgdWYZJPrnNRT6pZWrFZZU3+a56GqTKXbao4EaGAGT3JVi3tjjINTpEVbKjAxQWLtFai6jeNsx7sNkeRotDq1lIQpkUDB5PFNrpIMg2AiFXbMsOF5HOKg1A+OR/wCZZBx7Yq5FGPjFkBDIVGCKpakPuZGHJVixrXAwJS8yjMcSGsrJ+JOhIIBHyrKjiFgQFrEneGZz134FH9MBt9DgUgBmUv8AnS5qni7tPN5Bn600PhIVi6BVAFcJB6nDvtUPea3Yr1xbtn/mrnwJSQ+Qp8+047dfs+c/cN/8zSPIm4Z88VUsPynpvT1J06kdiFdMvNyiGQ5Rh6dK1uojb3HOCrA4NULQlX+lEy+6IA+IeWfKqpGDkTdqIZf3lKde8B9cVXw0KqcH1q7LH4T6jitCga2OfKiBxBsr3HPmQPKHxnk16QCigf1c1AUIYflW+4q4X0NFiV9/hp46nvB50W7P6VcajdvLGVSCAb3lbgcc4HvQ+OCW7njhhQs7HGB5e9N/ayF9F7KQ2VvhQ8vjK9SPemVpuODMv1LWDTjC9mQWThjMi58Z4/OuhabEs1hKWUkhBk+9cv0W53IocgTL+JfUetdX7PqX7P3Dkcthh9Kr2oVJUxOnfeA4nIL25k0rVpoGyId5258qv2mtR3Fs0TOMnoSar9q4O/1BkQeMncM0uRJEh2SB4nHp0piKHUHzIdij48Ryj1OPuxFO4BU5BotPFY6vpZhkeJJIxncx6iufwWk+oXKW8G53Y7RngfnWl4t1ot5JaX8cqzL/ACA+Fh658xUjTkn4wTqRnaxxGHtNa2UWsj4VV7ruYjlemduD+tEND1e4sJEdW3J5oT1FJE2tCRAO7bf0yTgUa0aZryHfE6BxwyE4qTpriOBNNNdoQgqsYHM7JbFNRtEurc5Ur0J5U+hoisckkJSRd0bJhhnqCMGkLS72/wBHiSYQs0D/AOIDyp+o6H3p8s76G+hSa3fcjj6g+h96rbj57mNrdEaW3IcoejOH9pLN7PVZreXIdGx8x5H6ij/YF0S6SJ+CW3r7spzj54Jo19puiiXTU1eJcyQEJLgdUPQ/Q/vSbpG74LchIYHIIOMf9atswemVNKD7uI16fFDoHaqCKW1lNxcJLG9xgkMWOQf7H0zUtiFvpjMyjLEktj0Nb2PbOO1WO216JiCuIrtVzn2PvVHSLkLeOsfETMWTI5xmqjbsTTrr/iHdHiOVrdUxygPNKPaW5udY1FLSy6Hk4HA+dHL+VpLaWJeDsyCD50r2882laJLqSqXl3OcdegwKGv5RjA1nMo3Vxd9mb+Vre0F1m37tS5/Ac8nHnmj+haTeW8Xf38id4573u0HQso/t5Ulrr19fXAtzBNCARvcwmSRj5jHAHNdG0NZJ9N++abvlbDCUYPt5nyxVk1nGJRuJK5ktuNo3EDG4jNE9H8F7EdoBLAEfX/rVZ4FSx3cjDeXnVq0xDKr7j1Q8+7iqjgxCqJcu0AuETgL51XskzdMjdM5/Kr10qG/Csc9cVVtVAaSTdgk8Z9KUI0DE9kBecN6ZxU9zErIjfh4Gar+IMxZgoHXngCqupasDaItmhlTbkysdqfQ+f0pgUSRvbqS2dv8A74zA+FeaJ7sSbR60BtdTEKoJJrNDIM53lqpXvau2t7142vk8OMdzCDn6k00VgyPbc+I0YYysSTk+1bNcGC0mkYZ2JuIA6ikV+2JkmcW6XN2xA2LvPJ+SgU16Z8UNGzd+GXuyxU8lQTwD70WwLg4gWKyjmALnVNVu4e+WERxO2EwMHrg5/wBa3ntdUM0Vm86ZlPkeAcE/2qWXP8IRw2N0j5//AMwolMjHtLajHPesMD/0GrpuP8olDYD3In0SK2s5ZmlaR1iYY8s4odZgL9oFuGUMq2hH/wBlNOoRsml3hxz3ZFKNkzt9o8YLDi3by/y0hLbGQs0dsUNgTod9crBo80wxvijZgD8qTu0Fv3OjPdSiOeV0G6SVQxOfT0FHdfv7GKzm043CC9aHIhOckUG7UOy9mkUHOdq4IyMU3TknloNhwRtlr7Obqa80aVZGYrDLsjBPQYHHyo/rpdLaz2jLd8ePXwmkzsJqP8N7NXUiqC7XLBB5ZCj9qPjWDqmkadcS4WUSyJIUHDEDGcelGj9yHUmKXaiWYw5JO4DgY4ovojyTdm7Q7l3m5wM+VL3a2YhNwkAUfnRzTnW37PaQd+3fMWznz5pD8mNxhJp29Ux6ZuaQFicAbQKP9lV7zs0A+3Pljy8ApV7fXO+0RNrADplTzRXQNUjtuzJXbKz8jGMAeEDrTXyBBXG0TLSGSCPTo1lZkWTcjP0bKn8OfToflR4yE2socK+FzhuRS5bTKZ7SIY2I26IhicAqcj0zmiEM97HBcG97vJbbF3ZJ8OOp98+VSmcHMBhlsxXe9tn1yNWso0feArxMVx8wSQaedZZ17IPJDIuFs5MkeIYK4PSuZQI8naeJCScSZOfbmnuSC+stBLMbe8tZbYkxzL3bqp8gw6jnzpORlY4jwI46PsOhWKn8S28Y9/wilrQ7aKW112YwQSXCSuEaUAn8Oar2/ap9Ntkj1OCa3dEVVE0eFfgAbXHHT1r3SXNlYap3jANO0ksYBB3rsAyPWjRsDBi2EHdmLW5V7yNbe32oImlFyeCDkgjH61c1uUz26Ro+mkBlDLak7h6Z4rLAXKNctHGd5Nv9yeC6qhJH60IvFv5NZLzhVBUkR4APA88U9e8xTfU6jauTHEODhFKn2xzVbUgQki/1Dit7Zm+CtJVB5RQfyr2/BJZvLA+lWYAg2GTdEoKglBt59qyh1wJu/bu5Co8wPWsoIyUXQTa9axnlVO4/QZo9KxaN2PJLDFCbFRJrVxP5Rpj6miIYmGIknO7r6ioEE9TiX2prjXbP3gOR/wC80kI+Dg+dPn2rjHaW1B/+gf8A5mkIgZOOKp2/kZ6r00f4dSJat1HeenNWeSOOOfWqMMu081bV8jPnmkGbFYzyJKwJD+9RBT3TemKmJ58ulaRgmKQZ5HNBLIG6UZVIyOoqM8kHzAq5MmY91RC3O13cFIwucnzpqZPEztaUpXe54jP2OhAjviwHeyxoUz1ALY/tTRr2nDWbWK2faouI8Ix8nHSkfs1qBjvDLIcBm7ojyAPKn5ZGPrXS1iSfFrJ4RL9/A48j5j6GrSgrPG6iz333HzOapp12ky2cqGK/gOBkY3jNPXZ3tB8HaPY6ght3Y7fEOGPsaLapocPaSwMDsINWhGYpQOH9j+VJz6hc6bayaV2gsjIu/CmQc/NWq2aq9QvPcpVai3SvkciDe0qAaukqY4b9K3v+zgvrT4mFQrjnjzoXdtsm+6d7m0HRuskfz9RTZpuqpFpJZdsqBeorKtpekz0Wn1FWpXI7+op6bcQaaI1nBWT4xUJ8wMdfzxTJ2+0pNU7OwanEo+NtB98APxRnqfpwa57r1zLc3hmKbNz5AHlXVtLuFv8As/pl48e+G4ia2nGOpxirlQxXuPcydZxbicfjVJ7chhlhRTsk/dalgnIxgg+dQXelSWOty2QJ27iVb1XyqxYWUmn6usch/GOGrTTkgzOsPxK5nT7O9QW9zFb5iuLVRJtHKuvyq/bXAjs31fTYlR4sG6tlOFlXzYDyYUu6aTF2mgyCY7m2MZPlms7O6m9lq0lu7kJvKDPl1qlq9IHyR3GaPXNVjJyp7Edby5se0fZi+W2lDBrdtyH8SnGeR8xXM9MgzZjHsTUl7Nvubi8s5ja7Q3fd2cEHOAFH+YngfOpeym2cxQydWOPp7VmGt615no9N+nZw9ZyMf0jDFpMFzpyiZAROjIpPk3UGgdndJcxoJBsvbVjHKOm7HQ10LVNOFv2aQxcNEwf8q5bqlpK+rXVzbZWRhuwD1pSKScGPtbLbl6jibsT2Xgf70DoTVIXaNp81vKhCFjvUjoD5ikibVbsKI2YI4H82RUsOt6pcW62cWyeSTCqqgsx8qYKD2IttQGha50BNQ1m0lW4ZAzAOytjcBXSdPijisoUiRQqxgDHrj/XNI2hdg9YuL2F9UuVt4d2XijO5vlnoK6RHbKsO2NdqKvhX0FGyn7lSxlbqVXwdPZcrkHOKiVCUYhgCsanHyYGrBt91k4UeLOcCpEtSYJFON2MZ8/KqjK56g4UTe5Dy3mVYYAJ+mK2KLHbAu6KFXJZuABU17c2OlW0l1eSIoWIAKDlnJ6BR1Jpcmnk1jTYrl0MFljKQ7sljngvjp8hUbDjJnIQ7bRIry+GrzwxDK2O7G3GDNjzPoPbzqp2mttaldrOwtRKssarGUYDYM9OelGbPUYNkSPCA2RtPHrQntNrkov55LdxHsKhRnnj/AK0Y74l3aV4EXrrsrrNvJCb54oCVwqLMM49PaiVhoOkQtGl5avdSZBdxJuCj6c+VBp9RutVdmuNQZAgySYy+0Va0eXVdKnN/Z2VzdWm/xmSMDd7r5inEMRiAzZXkzpNhY2toNlpBFHGRldgwD71O6E2MxGeFIx+9Vuy6zypJcXEE1vEUB2z8FnJJJA8h0GKNzRIunXLeTISP0oqaT2ZmWv3Eu4HddnIXK+Hvm/8A94o7NGrdsrMHHMj9f/46EagVPZO3I5AnII//ALir19Iw7VQskjRtHJMQw9oxV0IAeZTJPiHtYi/8Ln2gZ2gH8xXPbOYr2+vJEPMVvJgjyIWnnUbqYWIjl2sZTH4l8gWHUVzzT2LdsNXcEf4EuePbrSnQbcCOVucmWteIbW9PYcO0SuxzyxOM5NEu1rBdCgJAI68PyaGawAe0unxKo290o4+n+lXO3UoTTYo1HIUnp7USmQBkiUOzzKnZJJCSA1zMcfQUb7OSq+h6cCw3GW4PWl3Qpon7HwQGTD95MzKBk4OAP71L2cCMtvErOFDyknODS06zGMeMSLthxPGufL0olpl0ZrfS7YlRHDtI9SSDmg3aKN9R1aG1gLF3cDOelNUlrbaPFBas5aRNoz5nA61KrkbjIZsALBXbnbLsx6YqbTGJ0J//AFt+wFeNo8Wt30s8k0ltZW43SNnJPyBq12esm1G0aCNjFAWY96OpJ/CB+5o2QkZEEsMYmlnCvxdsUAVsMCQPail/KILRmde8HnlsftQJ7+bSNUWHUYGUwsVMscZ2sCPxA9PSr993/wDAu+mlil3MWRoslSnlQ4IXmQDlovWV1bXPaRFFt3Uu1ijpKT5eYNNF53cfZm7J5xZocFiQCT1HpSRpTA9oFcA52SfsaeLiFLnSXt33gGCJW2Hy6k/pUAZ4ENz8hGp5If4eIJo1dDCu1GAOfD71zXT5YoNYvkglQ2kcBy2TtViDlUz1zmji2+o9o3UgyW2lyJ0Z8NcAcbj6Ln060Lu7CfSrprI9w6T7dvdAgAL5EHz96GugqpMlrOYx2cskkt7dRIw3PhARzgKBQJjdDUbiWd+7KxtxnJweKZZroLcSgE7gpXjpkBc0pmf4jUrtnJXK7S3kAOaao+4omdUsPFpsQHRVU4+leXjAW492z+VeabmO1gU8q0K/ntFZq/3cCuOhPT0q3AgK5QiY4J55rKsyr3j7l6ECsoMQswZY+G2upT/PIF/If9avRsB8OufPmq8MezTmXzOW/Wt1fM0S9faukeZyT7YRt7VWo6f7tn/7jXPkbJ/en77YDv7UWjA9bX//AKNc/TrVO0fIz1HpjYoUSTZ09atQMCgyaiQbhmvR4WHpVczbRdvPiXchjlfMV5CpZpUUEsRwBU1rZS3L7YlGAMsxOAo9zU9s/dySR2Z7xz4Xm9B5gVAXceIGq1delGSeZNHZwWqB7kq8+MrH1A+dCLqR7md1wWywAx50chto2yqeJiOTnpVmz05ICdq5ZiMk+daWk038xnhPVfU2vfBi7aQi0v1juBiOXwOB5A+f0rp+iy/H6d/Dp3239mRsf1Hkw9q57qUZW9lJ5VZMn5Ec0Z0e6uTiWJs3tiAQM/40J6D6UzVrtIcdSrpH3rtM6xp3c3sEkV4hju48YI/ED6qan1/Robvsylvqtmt5DjImQeNar6RNZa/YLMjkSqFKspwyUZ1WR7HRlgvl7yLGBOgI/MDpQJxysNh/qnA7/stcafemXSLkXEQOe7Y4cD096GXeqTafqQItDGSoEoC8E+4rqR0rSLy670oWD9GSQ1DqnZvR4JIpYo90sjANvfO786ZvDLtYZE5K9rBlODOWXccN/rNiO62RM+5x0GMZNdS0F0utJ1a0hVP91l+JhVRwVODx+RpO7QRW0+io0Fv8PJau6mTpvQ+HHuec1Y+ySC9ub2UQkNFbgiQseNjeX7muWsCorJvdnt3Z5xiRdsLQR3sN9Cn3Zw+f8rf6H96Fauyl4rpQoCqpwKfdZ04XWhW0GMkiWEfTOP1WuZ3Ny0unbW4ZEwfzp+mb44PiU71y2fuM411tO/h5ODHJndxzQG6v8as7oQCWLDj3qG9E9/aaVBbo005XhUGSTmmeDsONNs31PVblHvAPBapyq8fzHz+VNscCLrpHcCxKXEkUoZUuUBDY54Y4I+uaLdnC2mXURuU2orjEo5Rh6hvL5GpLmyLTaflsGW1yrYxzn/qKKaXbyd68TFoLgcPjz+Y6EVSuQWcGaOm1B0/48iP/AMTDe6XtUq6lTyORXOboi219QR4CoBH6Uae3ewlXZItjIT+LGbeUnyZf5fmKB6tK016qzW/w95CfvIm819VPmKz7dO9fPibej1lVoIPBMN692NgvNJ+NtxGx27ih4IHtXOrYHTBqSwyNHMkUbxSocMmJBnBrp1zftDoKjvDtZc9f0rkmryykzyqcCQhcj0zQ0tk8w9TVsU+Z1LsL2tOsb7PUMC9iXcXHAkHr7H1FNrSjDhWG3bzz50laPo1sdO+E2bVaMb2Xhs+ufWlSXUNX0PUbqwe7Mgjcp4uQ3z98GrDacuxCmYou2jmdJvO0FhpGx7q6QFjhUQ5Y/wDfvStr3ayWS2EWn3axozhWMbZdh16+XSlzTYJNQ3BtHtbnOfF3ZBP1Bo7N2AiuFg+Ena0uXUZidjJGD8+oqRWlfDyGdn/GUPjYbjT3uFXZeQsrK2c555HNe3WtSx6c0ERYI572Ie/mtBdR07Uuzl5cWGoxlXPiRlOVceoPmKpx3ve2Iy34D+I+RFE1CsOINVxrcGGYdRu57mH4d5CuQQPTFaPfk20sr2UrTFsmWXoPl61a7IXcNpqBmMDzs0bd2qKW5PBJwD0NFF0m9vYP4dY5nmmzuDQuAin5jmqZAU4xN33SwzmLVlHHNdwxSSTW00qqJ2l4GevT+npXV9E0tJzAi3D3RQq/esMIigjhR0JJwKA6N2J1PTpDcareRAxxtIqGMSvtUcj0/Ony0mFvYzShS8iBPFJ5gnpgcDz6VxUtzKllyhdokOuDE8UQB4i3EAZ/4gHPtWsN0y6RFEJSzNDkrxgDI6+eearXs0t5cxzlRu7tVCqcKfvD/YVUUl79XMaoDZlvCc/zgc+9WQWIAmY2MkmDtQulTs/FbkndLOzqOvHfn/SreoXRi7T23BZu+mVsefAGP0oFqkpezhgyf8RtvlwZWo5a6Y/c3d9cE4gWXuCepJBy2fpxTMERYPgS3dXH/i0WThRFGp54/GTS1ZQmLW9ZmwAJIpEjz5k4q3FY3TlJMEAxgjcAB0461JFp8hMyg8iTBTdznAyTgcCpZSYQfGZpcWTS6/Z3ilO4jXG7fkk+WPrVftZcJfKq98iHGBuBAJNGE0vbDFcOQVjUHJY9f6QCetKevNmNO9iLDIBCHBAwT5VHt4hq2RmeWdvPbaVtSEt922CnI68dK80KS6jtoEgTdKCxxxnk0a7L5CzkOe6EK4BHLeVN+haFCknfMi7t5z+dLNZ6ENbBg5i9Y6BqsN/8W0KrLztZ+QoHmfWrb2K3mpAyOQiRB5ZGPnmmDU73ddrZwvtRG8bDqx9K2vdFt2hWU3MkSBSZMD8VQFJ+K/1hl8kExR7Y6hDZabFp9ltPeDc7IcHA8jV7QEVdB0hGtppQboEd1xsbJ8Tf5R50pa7ItxqiiPhR4RnypjsJLy2soFS/eKHJ7tEhRuQegyM80xbBnnqdbVtAEK6r/j3hAfC7iCM4/AOvrUOqlToUOF3LsXjOM8e1CZ9TunOoq90AQzgr3SjIA6HHnV5pDP2Pt5sDhcce1KYEZ/eQixI0q4tzrMzpDIkscTtjvMr+ozXQ9GgGoLOZZmiQRBmKKCcYI8/nXNdJUJf3k5GR8O+PrTpo19NPDeNYtMsYiVZO7Xp8yaJP3g2jJyPEN6BfNd2otSsrfDoYVMCgHaHOD6eVCO0UjLrNq2xk5bAfH9Nb9g3U2upNJOyAsCDu2keIn9a2uguo9p7JC6su5+hznApvBQLA6JJk1ulxeWzJCfvJiSSfLpk0varCtk9zbxOzMgw7HgFvlTvqUkWi2c10EAk7vZGg6AUA1J7FrJHkt4ZJWCmQg85OM8V3tgNwYO89mdFtCW0+yl67oUJ/5RUOstu07B/rAq3aAfwiEKMBYwAPQYofqzH4NRjnvFFP8SINujIkihOhUGsq3cQkuuXxhQMVlBgwpVk+7edMZCggECqlsf8AeVOatycS3GTjJI5+VUbYYuB+tQeZw7zOU/ayM9o7UZ6WoGP/AHtXPDlSa6F9qPPaqDJ4FqP/AJGkSZcqT7VUc/Iz1OhqzplYTaCQFRUjZZhjk+XzqpESoozpESzXgkYZWNS+PU+VIYY5mkt+KiT4hm4zBptvabhBGF+9desjeYoWk0UIYKssaD0UnPzqUykXCtcNK5DYVAcKPajYteM7fCw6Z6VpaahNuc8zwOv19tlhLcSrY3No6KiSqW+eD+VHYAu1DnnnyoM+nIzruiUn5cj61K87WYAkz3fTdnlfnV5F2iZJO45lLWowdYeIcLKgxUOnXRsZrbUG/DA/czj1Qnr9K21KYSX1pLnA5GfWseNIjPC3Mc6/lQsm8FT5liuz2iGEa5L2Xsx2hhmjLGwu1ySg/Cw5zjzBGDiugan2mguNGtt+1hKuQ68q3uK57o9vP2l7I9wj5v7AgRjH8y8g/UcUFOuXOmdzd2Q760mXdLbN/I3nt9DVPTqGUp/MJdvbYwbw0Pz/AAzyb7Z5I5A3RGKjmo7iCUhGkuGkI4Ekp8IJ/pHUml+Tt7bQTyS29jKWkj2EYC8/M0Cv+1esXkW2CAWqYxvUFnx/6j0+lNWsk8iSWVRlTzLHbmeEPZWNrMSiR7pHc4y55ORTP9lLpBo944vhbn4jZyv4/CCB9Oa5WizXbhMPI4JJ6k11P7MDFbWerCdFdFdJEVlz4sEcUbKdvEitlRhuhybUraK0lefvpu6dmTu/wk7iMD3pBi7P3WsXs4s4mitnY4kl8KqM/rT0NO7r7/U32RuzSJaqfw5Oef8ASrSXHxKgQwqFU7QW4XHyoEymZFpV8YECnQxpGirHp628sqjDyGRhI/qARwB7VTsH/jEc1nDcSRXWCDbXRPJ9m9afLOxjmEScNxlsDAWl3V9KjKXsTAoveYikX8Sny59qVYp/JTzJVx0RK2rQMvZiwMqd3e6eQHQ8kofC3zHQ0QUm/wBOt9StcG/tcKyf/WQeX+lVm1QWlpbaf2lCzd4v3d9GOo9GH962tLK50+QXemSre2jnJ7pgSPpXLb4s4Mk15GUhaS6ttX09kABYr44n/EPp5ilC6vzHH8FqMTXFjGcQ3Cf41t7g+YHpTc89lfqJPhyk45kRTtcH+pT5H286W9WitHViNWWC5wf8eEhXOehI6Gn7cj7ldWKniQSXctxpotCwd0ONy9HHUEex4NL3bCKKwtbW0QAS5Mr+vtRqyWSyeO6khj+GbjfFIHjJByMHy8+DVTVdCutaupJ22q2SSzHhV9SfIAVmMnt2/tPTV3e9p8+RL2sdsJrC0ih0mIG4ZQDcEZ2HAztHnj1NBdDsZ9QDTXrM7tJuZ5Tksfc+9Xu5TTtZsMEHTLiBooifxEDHjPzPPyo/aWnwttd2xwSAHjx1Jz4a0KuVyZg2kK2BL+lSRm3LRxhNnhYL61ftbjOpKQ2V28c+YoTpB7q4QHAF14iPIOOorW1uBa9pnt2IVXy8eemfT9aXdUGGYFdhBh/trpkGv2z6edq3bRie1c/1AcjPv0rhVsGWWezlUqSxBUjkMP8ArXbdbvGt7jTJm4MbFc+1DbrsnajtvDr2A9tNH3vcgfinHBPyxhqWre1w0aoFnIhD7N1n7MaO8V9bObjcXxGo8KsBwT50ZbWrq51BbjuDGgQx4YHOCaqm4ggjcmCQFm461ZgudI4WWPJxnxZqoNSc5Kyw1PGN0H3NzcGWZu+YBgyFdpPhbqMe9Qpcy26sy3UoVnUSKVOHwQenyoyyaQTvSAbW4yCetayWOmOhO3aGHHjI/vR/qzjoRX6YDzB6anatcxymSZVjRQB3LYY7iePzqs2qWdoGf4iVpfhxCVZD13hjg46cVPLYaQARFc3I3cDZMapzW6QzDbfTlTlikqh8/XqOtcNS2eBCNKjsyjFNa388CNHINpP4PET4i3T608avNNNpk8Frp9zI8sLKuxQAOMc0tadrFxYqzw2Noz5KiWQPuP0HSr9n2l1V1kAt7FgCM8vxVlbFx8jEMOeJs1rqh7rudLnYRphQ8oXfwAflVaYS6ez/AMRhjtkmfcCbgbmyOgH96tTdoNblslVBZWzSEgyruYoPUA8ULex0UILu9nuL6eYkFnJyx8+PSoe+sCcqHMJRz28lsoKIHUBEQgZHqeetLGu2aq8HdzqjABmwenHnijotrf4CGOzslWSVvAJBuMa5x59PWhurrDDeJYwH7uMYlYADe59fpSTfngCGOAZb0FBEszPPGDtUHOCvvg10HS72zuLLu4JkaRSQ4Xg5yTSPaRfB6diGJWmZeuOlDrZEhujcXGpCyeM9RGzbvyqEvO7qcRxxOii2tbO4NzzJI2cbucUD7RaheLaGOO2nl7zOTGhbj6dK8XtBYlFkm1CNsDhvhpef0ofP8FPeyXDa5dqHPhSK1l2jPQCiIsLZ6ENCF5PcXbXS5LvVhFN92d2ShPjI9MUyLE1pEiSRbsjDgDJUZP6dKFQaNo0Oupq0uuX8jxvu2mwcDjyz1o1calpN00LW+p36Inh+7smO75k9a72njbXVucxclR2h1MK/hVZDjGc44HNXIJ/h+xwhDqWQ5wRnrV34rs9PaXEKNfuHBDyJZMcZOT+ZqBDoywGDfqbI+QP9wbyHNMdDgAQEfuLNkk89neJEgd2iKqAoBJJ6U1aVYXvZ3QbqBhDcT3wDd0jcxnHHPQj1rexvNG01jDaW+oGYgHLWR3Yx168VsNQjZi/c6m5B6izwR/8AdUqu1cmLZmJwOpd7KaDFp2isr4lus+Nj5fL863XRJ4tatboKBEm7ex6jjiqsPaq3s5REttqJbGWV7MAke3i5rL3tEZ41iX+JBXXPFqo4/wCb5UeBgEQctnBl/Wx8fa3hXlYsBeetCNW7nbbwQxqmFXcQB4jiqkc1q29HuNU7uTA29ymSfT8VazRPGpWP4vcoxiZVB/Q0jey+I3YCO51WxJ/hkPTxRqPriqGsHcbdF/mccepohZqw0e3DcOIlJ+eKoaqQXtmIxh+D6VaHIiup5MoaQmsreeLMmQSAR/TWVMmDbkk95gdTk1WgQGfI5GQc0VuI4pbR5YiCy+Y8xQ6wHgY/56AdTh3OOfaqCvaeAnztuP8AnakgkMmKePtXbPa6D/8ApR/8mpEzgD0qlb+RnsPTG/wyzGgIj3cUy9nYRBp893KAQW2LnzwKX05U4PFMELZ0qztRlS4LcfPNJILfGD6oy06ct9yybdZZYyRgs26jJwFC8AgULhcNeAD+XAGauvLm5VSfM4rd0qbUwZ851NpezM2mkEbRovBcZzXlyiTwFiAwAwy+1VL+RUuYOTwec15eXRs5VB4UnB981ZET3gwDOWSX4ZsEKcxk+npRiVBcWSFQN0YGflQrUo8bnHGDkUa0lo5I0ViMyxkAUB+Jj85WXOxeuLo2tzF4O8ScKQnlvU8H8qGXxfT+01wwjC2k8hkjjDA7GPLLjy6mttHm2a18KI+8kaVWjTjLlScrk+RBP6Vt271W3a872C0S3ETx92kXiGQTncw4zjI6mqLkJqN2O5oVqbaMHxNl020ukM8GwEnJrZoYwpQKMYxQLTtVWGRlU4iZty59PSiEd6rF8EEFs9elagZcTLZHBxBWkQG316bC4wGAJ8siul9ltNSw0y51bYuZmxECfCMfzfnmkeCynvdRMlnGQJVEbO3QNnAx6muk3dvILOHT4UItrZQucdSKrO6/iDLiq35mB17y/vy0zFznjPpV/UJP4fbHCheAajs4SlyMcEcc1L2yjZtEM6n/AIfP0qsDuaPAwIb7PyhrZAfxOu7Iqvr1s6W8wx+J9xNUdEuguiWl4jcphW+tHdcdJ9NWUEYOOldYMgSF4JiX2vtJW0yzkABEbIcY6DOD+9Av4dc2d476fcvbs/iVVPhBHtTzqUK3OnQxkHhcUKXThc3iRqyxrw0jngIo6tn2qFIwd3ULJDfGVNO1fV7iKcazZ27Wtvj/AHg5V2PkqleT0yR6VSu4NOklY/xLUMsVYRx2veAgqCfESB1z9KN6hLDd372duGW0t7R3RSOXLAjefc4/Ki3ZW1W87M27FFJSIZyc7senpVfTne5CnAEtXfBASMmJkE9hYCdrXSdRu5dhQ973cakH1AB/PrS5rGt3l9pgtreA2Vkq7TGCeceWTyfrXX5NIjIeWC3BLceXSkPtRo6LFcoq4YIXVR6+dNvr+Oe5OjuAcq3REFX93cSW+nNJATFD3aW2wZ2jIyW+fP505aXGZcKzFjA7RZ/y7iQfeg2jYlFlt4Xu1Bz0zij9qvwuuSRE+CWLcfmBjNOXriVH/IypexNHcy91gPG/fx/3xVO9jadvjovxKhmU+fAyaK3wMbLMBzEfF/6TwagsohiaEjIEbhcn+Uj/AK1x5g4xIO0N+LvQrK9UjKsC3zpo0thqunWluj7JvxRtnG0iue3ZZdHu7Elj3LhwD5CmfsFe96I97KBGCMt8qVqEDJkxlTbTGGd7xYCPiIo5I32ur/ymo0kvWcqLrT229WY4/ep+09hBdol7uaNmIjkKng/0k/t9RS7H2bt7u4Jknk3Mu0njjFYzMAeZqIitycy9cXM80vjvbIQpnc4k8I+v+laR2iSRCR763RB+BmznPqBnP+tD7nsU2ZCJpGDY5KKePao27I3JhQxSDoMkxDLEdM0Qf95OyjyTLH8PjiZWudTRMudiIAXc/wDpzxUr6Qvd9/NqTRjOFRdrO3tx+woRJ2S1NcsREUUHjaRnNU5Oz+p7M/CoyqTwCQemM0YY+JIr0x/mjPBogi02S4vtSNrEjF97bVwPQnpSfedpNMtbySLTbi9u1DAmQBUQfLzapl7OXVxA0VxZXPdryoSTPPvmooeychmYLDfDemxsqrcf9ipRx5i7KqugYS0/tBFdRnupt5B5jK4ZefMUQu32zQBl+9zuYHp7UMtdGh0+5mmkS6EjoE/wQNuPPj5CtmmkAebvJJHyT4kxj61wYM0rOu38eY0xSM1qJCSN2Tuz50Lk09UhS6ublVaQ7tvVm586qxag6WEm6JgqjGScjJoaNRSW5j73ARV2Bc9TRAbTmKOSOo03BljVTEcAgbFBrWSwE8cj3TlXRQML1LHpQ+PUJZyJUDOFXHC8AVYuL6eVBNHbSZxufjO44xnioc9ASKwQSxEIt8dpVlbKtwzCXGUHI2/Wp5Gvbe4sJHcxRTSKyoCT0OQQPKgCay06rG6ygqMKpQ5FXptQfU7yyjkLPHEpHh4PT/WpryT3GMzAhcRk0aa1uNTvGvGMkkMzlFb8CjPUD19zQuaRjDbzw3VuCFydgzkEk4IzVVpoVluAp2s8hY84JNa/FRcFWVVXEbeefOnG1lnKwl2Bd2nQpMCCJArEDaRnk4NTXBG+N5ZJliM0u5l4G04BI9Dxiop9SBgMeNyhg2SeTk1DdS9/pmzaEMbeI58yaiuyzljOBBl1ri2kmWCGIW5dMxgDqPc1UW21Gyt2TvIyWO4rnJH/AGKigmRZI5GYsVjKoaNKy3dksgG2QJtODzSP1DkYM5xxmUQgurRzdoSitwdvT3BqBihnVWl2sIgA20HeNxOfYjHSh76reFWjLZRSEAHoDUUc7vJ3ixEkOAJCDhT50ylzuw0Jhlcxi0HTrRGj1C9lXvlLJCuei54+tVtbvbSaZUjOJVblh0NBLKaeRXy3CSt+9VboyPO7AE9al3OcATlyRO02bCbSYSMMDGP2odqCZgiPow/erWg5OkxKevdrwPlVbUsqkY/pYZ/Or6niAZekBDeE8YrK0lkMchUVlFAg+4QIJtp25446UJsZe7LxthcklaL3+EMiHHPnQZBmVIx1+VLHUKcj+1ghu1dtjqLRf/k1ITfpTx9rOY+2eCOPhwR8stSMp3J1qnaPlPU+nvjTqJIpJQ486PS/4sEKZ3JGEHt60Es0Ml5BF/VIo/WjSODrN4xPgiG0fMmioTLiUvXrv4IWFbCMPeyHBKgDFb3bCG4iZuBuIPNbae6xQPO5AOc81XvZ3vYzsjxzwT1raUbVnh87mzN9VjG2OQHIHPFUO0E+YISDyzLzU0k/e6Z3fPeocEH0qlryMthbykcBhU5hoozLF1B3lnnGfD1qjZ3Jt5rB2JCLwfzolnvtPZkPRQaE6bbrqcojaTavOD05FRkEwwpGZmpXONZEsJ4jJdSPbmnnt/Aby4+IjK91IkU0e0ccqCfbGTQPTuz9sJw02HCKSQ3OeKP3eJNAVZOtvG0Zz/SBlT+R/Ss/Xg7VI+5q+muCSkpaPo2kapYO0ljGLqEYdASpNXbbs/p9uC400qf8w3D96ha3mtdPstWgGFmhVpQBjOR1osmpxPpZlJx7VmNY+MAzWStAcMJ7p0aXGqxRIqrDbASMAMDceFH7n6Uevb8TTJDERgdfc0qpeDTdCt7hm7ufUXLgZ8QXoMfQUY0sWm6PvblQ58s+taOlTamTMvXPufCz25ilt2WcDcAfEB5VLqQW60eSHO4FDx6Zq6IgJWG5ZIm446Ghkhay1RbVxmOZSq/WnKOZVzxB3ZKQz9mb2ybHfwEjHnx0ozHdC97OblzuRlB9uaT9OuJND7avbEkw3Iww9/I0waG+E1G1OcBiQD7GmkZneYVnG6yUn1NA55CBDaA4jnmaS7ccAQx4AQn/ADH9DR+6ULbKhwcZyT5Upaxpl3cl+5vnjjclzCR4Tx1Hzqs6My4HmGjKrZM97PX413tPq12uO6mbuI8dMCNulMvZCUwdm7RlPChs5/8AVj+1LHYLTvg7dJG/4t+5T6JjH70wdmcrpDWxXIW6mizngYc0jT/G1h+0dqOagYYmvJLZ21CIF4ScSx56D1FDdZto9RtGv4drRlSqkeZ/74qe4le0eXK/duu11J/I0BgubyzzaQW0s1q6NIBsI2Hkkc+XFX2xKq5zkSn2biWSygfqqg4zxznAFHLtf/ELS5GBt8LY9CKAW9xFollHFcXaqGYnZsJcFjnaF88Dz963GoS3ve91BdLAinEk4xvIGRgeVLU8YhuCWzCNxKjyXFqxGJVwpB86HpqKQxlASZguDnoQKgmtp8pdPAWWQBkhEgG7PmG6VTltbyYjFnFaqSwymWbkY5Y8fpXA+JxEm1G2Wa3nnicFWTBANR6OZbDs5dSHhzg7iPKt5DnRruMnc8K4JxXrqV7O2FoOfiXDH5etG34wAcGPvZtX1jRZLa6LGN0xk+XofocVAt3HaGaKWCZZ4zsfCjGR5j50L068khgSw06aSK7k+7RxyIlAyxPqen50E7QR9o1uBLeNb3wCgd4v3bMPIn3rH1daNZjzNTSE7eeo7Ra3ayAJI8qMBjxRGrkOo2cgGLlQOvi4rnlhZ3k1tHOonQMOUc8qf9Kv9xqUOCJXX0VhxVP20Xgy+aMjIMfVjtp13JcyD3SU1o9jIGKJqUyjPQhWx+YpQVL1F8MhOOqg/rWLdXyk7Zpd3sanaviR7D+IzvYaikh2ahEwP9cOD+hqP4HWFOVksnwOBsINLzaperIV72UuT04qRdavoyCS4H+ZeKHbg5Bkey/kQ8INS3DvbaAEeadP3qN9PSUEy2SFjx/ikZoNcdrorVR3spyRgKvJNB9Q7bagrB4bUxKwwjTA8/SpBboRyenWW/yx3/hkCW0j/wALuCw4ysgIoA8dgLhO8s7pAHycrnBqPRu3k91AUMOZB+Jff1HtVRu0zy3WVjlx3hBIIIz6Cp/iRL6IIcN3GBZtJsJlnjt5cOQuJEJGT59R51tpd9De3d6bc9x8NhZIY1AVjjkkZOOaEXeuxX2I5zIEROpIOOfIGgdvPexW+pSxMIVnkDx78guB6AdePKrKqTXjMo2hUfiPo1qCGLv5WhCd6QA5CeHjkk9OatSazoqRRSTPaK0qlk8S8jPUEdeaTLS0tdTeayu9Q2JgTCfuypLZ/CQ3HAFWBBaL2btJTZrPdq7wd0JSm2MsTuIHrRLo9q5Jijd8sARjmttBvLnaFBZ4zKGD+Wcc15/s5pD24ZFYeLnY/WgdxZWtpbWOrCxgtLiTaoaWYyICAQRsyPICjWjSafqell5LeGObJ/w32hgDjI54zSbKrE5Blit624I5hCDsvp+VZZLjPGAxBA/SpdQ7N2lzaGFbiSNi2S4UEkVHDcaDArK2qiBl6j4k+H86kt3sdRkIsu0DuQcYLKfyzQB7gO4w0IecQO/ZGQIqx6qWAPAeIcflXv8As/qiRcX0OOjAA0efSJwp2alIze6qa0+AvyuE1RHH/wDECf3oPcb6hGlT5ionZ7UoWfYYHB54bBr2Ds/fJbGGYDbvL/jwckg/WmddP1JGO27ib2eI/wBqxYNQSbEqQsvPKP8A2IokvbzIageDEq00LWo72Tu0iWIuWyeeM5q+2mzpI6vtJPmBTTAZEvQD58fI1rdh1nJxnPTmoNw8wVpAjDo67LaMeiAVHqCbu89c8VPpp/3UNnPSorkkXBz0J4rcrOVEotwTN2j7zDZbkVlSq4jUKx5FZTNsCC9WPeRowXnJDfOgkj7byEqP5+flR/UEBUzDJVgcjPn60sznFzERnw+L6UA6k+Zyr7acL20i2Hj4ND+bNXPkbjqOtPn2vkntmi9QLKLHvyxrnwBJwRVawfIz0OhOKVhjQFEmswlvwx5kP0FS2zmQTv1Ms5Ye/wD2Kq6TIIYr+Y/iWAIp92b/AKVLa4PhzxGM/WrWkQdmYfrNxe3b9Q1DOoJaU5HRVrZJprkbYsomf5arW1lJIgllcrH5LjrRBJkgGyNM7vQc1eJ8TCwJUuhGriNjtwMFqv3VmbvTGgLBsDwsPag2qCfaJSh8+ceXvXuias0jfDSOOTnGc1BOIxFzyJXiuXs9KukfduUFevnW+nq1jp9vNty6HeR7edb63brG0J423Bz88VYgiSdJVUnwRYHucUNQz8obn44lmDtIlxLFax2U6TyuI1JwQSTj9jTb2/0fVIbO0k0cMwNuILmJADuXnDY9Rkj60vdj7CO67WWrMuYo4/imx5ELgfrXVJLlDcR7vXbj6YxVDWvhgs09Eg2lhAGjsj9g1t7mMi4tEEboRyB50o3KNOIbC2PhncKrDyyf9M00Q3Srqt5bMw2y7t3P60rWEhXWERB95GrpACeN/IGfYZJrOXBJJmtaCvC+YR1sw397CkOnO6QL3SOx4IHTAq1pkFi9wI5LVoptvVzyKoXF9JpXai300XCGLuQZAjFlLD+fJ5BJpsvo/ioHubV0+JCCRAejgfy1qUvvTiY99JRjugIT6npF8Q/+8WMrEBvOP50T1qNry0jliP30C70YcHA8qpab2isZbBmmYJIHKyREZbd6AdTUg1ZTei3mtmty3Cq7jcSVz+HqAQPzpgdQcE8xQqYjIHEAa0DLPpmpjjDhWIPTnFG9IkZdcuQpDLIh3gigeoso0O6i53QTbkPsav2N2kBu770UKvucU3uLB4jhLOswIUg87ce1CpB3YVnPCHPPlUOnydxaIS2Hbx4PvVbW7tiFsoyO9l5+ldjEHuELK17mz7Pd2uFFxJMw9QQ3+tV+xD/E6dduQP8AzU79fLcau3tyml6VpckjACKGTcM+i/60F+yt2udJugOSokY/M81So/zGMtXfgIX1KC4ubOILcNDPG2UlVQSMex4NLkttdyQk3mo3c/VSofYCOnlimqeQ4DHgFuM+4oDdTHuWQkE7GPSrTKPMrq31KNto0FnrVndrHIZDAxwzlvGMY6+1HZB300QDeEnDZ9xiqzuwSznfqrqpP/qQjP7VLMGRd6+R6A9TQ45hE5mliBLpgtJVBa3bbg+gP+tSXcYhaKIHK7hn5+dbSxdz2lu1Q5im2uMdMsoJH55re5+8vURsDaepPtRkCBnBxF4yKYdZOMlVB49ScZrI4zOttAmQyQhBx0zyTVDUpWtkvCrjdNt4HmM5NXNJlkvI5ZFbZvOZH/8ApRAc/U9K7HELEZ9Fhh+NmljIMVtH3RYf1nlv7ChPalpNQigtFcZuZwAP8uf9OaIaVGbDsixUYec7+P8AMf7ClfWrxku5rmNz/u8Xcwn/ADPxn6DNYBb3tQTNVf4dYE6NpSwPY26RgBQmMHgEeWPpVqQLvGUzzjFJ3ZLXL2a07hrBJrVBt3MduB7H1psgmU3EcZkEkcys0T5ycjqp9+etFqNEyDdAq1W44ltLeNlDBQdx6EVHcWUEMby7FXbxycCp7cpHEGkYogOGYeQ9RXHO0LX8WpXVld3c8pimZfG5IIzwfqMGqSVluZraKhtS5QNiO132j0Owm2lxcyBcbIQDz7nypY1XX7vUAyxKtrCf5IzyfmaW7UDfknHHBNFEKsFGR6gZpoQLPS6TQ11jJ5MtaPpSX0T925NyG8IyFC+5PmKu2yQ3Rlsr4qLgEguMuz8/yeQFUe4azs0v4rqFiWKtFzuA8wQfKi0SW+oaf3sWyKRCCsjPzG3XaqgcD/WlOTIuBB/b/tA9xY3GmzM0Z2vHzuHiB8/kflRfQrex15XUAxSAjvUznB/qXPQGiuz+N6LJ3h23UXgKHgIw9APUUkWt5NoevQ3aqRsfbKmOq55FMrtLAr9SpqaBqaicfJZ0dey8Fsu6MZfqdx6+3Sq9z2QjvI9iyGJOuFJPPrgnFNhlWSGN4yGR1DL7gjitO9CcEc0ItsHRnmWQZwYqR9g0OM6jLwMYMYOff2ryTsNqKMxtdSijLE8tH1GCB+5psFwdyjHh4oh3o3g4/MUQvux3B9tB4nN7n7PdYmhTfrYkMYOxSmApPUivLfsLqkKgvcxz7BgDcVFdIeYAkcj6VF3xAOFphusI7hBlXoRKh7MasFHdwWZXccqWxVh+z2pIqs9hattOfu5cGnG0kyHyvGakeQfhx7UBscCM99upz59Ku4JXdrG8UEdYpiR+9QyPd2sMcavqUcaH8IYgDmugnCnjoK3OyQ4J460Ivb6hi77nOBeT5Zhf6kkm7ILOx6VdOv6mkaxrrMu9fKSMHP6U7iOJmPhU+vFRzWtvKCzQxkgYGVFd7/grDNqnxESDX9YFypOpwsAcgFBmjh168kkPe9zKCvGCBRJ9KsHfL2kJ/wDYK2k0TTsh0tVTAz4ciga1G4xINgx1G3Tmc2SMQQWQHB+VezgySxEDwnkn5VlmgawUAfhQBT5jivU5twufGAea9HUPiJiOfkZK6MzE7ayoWmK4GB09TWUyRBl3cyISqop2qSAT1zxigBkBuVUrsLKQAxzt56UTvZi14UBHLAc+g5oVcrtvlIHVwR+dLHUkzkf2v5j7Zx5wMWMQHH/qpD3ggGugfbOP/wB6wt62UQ/Vq52MZJ/Kq79mbeiP8IQ1psIfR7tyP+IpY+wHH6mt9MO1wSM5O7HrWljeW0PZ64txIPiJJ8lR1xgYqrDevbTYRCGK4AI561eoIVQZ5zXBnveMFxcXjDbBFx7iqJXUkO5gvHPDVskupzx57xY1PtzVSaNlfNzqBB9FpptUGVUobHMIrqYktnguUILDg9SDQy6sXtpUu7fPTniqczJuYJKHUdMvVrTrm4ZxCkglB/4bnqPQGoZwYxaivUta3d96NK2+cRbHmMnFSafdqkalSTk4PzoHfyI2ovJFkRq2FDdQPSrFvcYcpGpYyMAijqWPAFdX8RmEy5AE6f8AZxbCOG+vnHMkq20WfRQWb9SKYtSuduo2kMeQVbe3FQdmrePTrOOxwGazj++OfxSty39h9KoX92FvmnIJJBA/1rH1Fm+wmbmnp2VgQJq113GvG6XOGLJj51a0SytRZyaleKGQtsTnHHmfzoZrJ723VwDuZwqn3pquNLP+zEVoAduVDADy8/zqq5+IAlwcH5Tn0ck1x2nuXihknYOAnd8+EeWfyp6sn1+ZVQwJaqq7e8Yb2x+wNEtJ0qx0lk7pAXxnj196sa3qg02MJFG8l5KPAijhfc0R1Nm3aniKNNZs3EZzA17b6J2asZbgbZL0+Lv5OSWP/flSet5cGebWbtGDONkOR1Ykfp7UUi06MXHe6/IVEbGSON+jeZJ9/ag3aDULrUPh7+G3NvYGZVQE/iIPUipqJLAnuPZVCkCWdQvEOmXGDhmkVOT556Vdlnin7i2h4giP3jD+dsdaWNSk33C2q5PjZ3+Z6Uw2Ags7Hv7vARSO7TzY+tbwnmnEaImENu91ccKiDaPbyqLSYPibj+JXH4VO45Hn6UNutQm1SSJB4Yhjj1P+lFbmdbaxisYzyG3vjpUiKPErdp/jL/SZpUdFtsMCoXxDPHFSfY6jLZakjjaRkcjpRNIVu9FlhIwXQj5elWuwmlyaZbXDy8NMBwfI0IRVyRJLkjBnuoKPIfhbFANTXbErIoAOd35Ue1NirlTjJbJxQu+j3d0u3gDJ96k8iCvBkM0YbRRICd0cSSr/AO0g/tVtsFUYc+Iiq8Me+ySEg4ZGQ/mRW0MpmEcK4yGORj5ChPcM9QhbzjY7fzjw5AznHSk28u719bihjuGOZfFkDpjmnKztu7gkfPi3HII6UtWdrnU9Ru3A+6jYg+5GK5jgTl7ixqCldJnlL5eeXYpz/KKPWk6Q6HDpsIJubxgH9gDzn6fvS5rcqQJYwHkKu9gPXrR/sTbtf6vJcPkpBHgZ/qP/AEFJ1L+3UTHVJvcRh1+9Gn6QnAAVMAe/QUl2+7ULq3tXjeTe3ed3GMs7HgD8qLdurk74bNTy78+3lUnYrTJdQ1BruKRolB2LKvBVQMce5/vWfoK+dxlzUuAuBDz29vEVt7hZLmeMZNnajMcIHRTj8TVUHaHSLfWoZYjc2bRyfeWlxGUByNpI9Dj6U1C4SxZdM0mJY5P+JL5gHqc+Zqpdw2Okb7yeNbu/mYIHlG4knoFBrQtddu0ymgIOYypPZrYvdC5he2UEmRWDLj5j9qRNT0Q9rNXe5treSzgQbDLNjMg+Xl9aO6RZNqE3xF5HDGRg9zGoVAR5tjhm9/Kve0Ws/wAJtnMEkKkcBSpOfyrCICMQs2tO1lbBxwYsDRtD7KXdvLqc+9WJyXXeCfL6VR1ztJoU2nXkOn2kEhkcmKYR7WGegH1pX1afVe0h+InnAgjl2OgBG0EcNj0JBFeWthbQFWVASP5mOce9NFaqMseZp6au7UNvzwPMuZLW6lx48DJ881NYahJYyzlcEOoUq/QnyNU7i9AbuYoWLN+F2BC5/vXSOxGjWVtbLe3VvG127ZSSXBIHsPLz5pZTjmamq9RpqXao3QZpeldo75pLm2tZUMww00oEakfX+wqVvs8Z5xJqeoM7s3iS3GPzY/2roN12l02FAvxSvIuB4ckfnS7N2jtJ2Z0Zm2Dc3GOBS8EfiJjW+o6i08DaP2hy10+KysILWHf3cahV3tuOB71K0Kk4xQhe0cHdBmjcAjIO01H/ALSWkjqBMVyN24jjFJIY9SgQ5PMMtAiupIwB7UR+HTKlsYxS6mvW67d0mQ3QjkZqc6+kquE37UIBYrgf9a5d/wBSdjQu0SY+fnitDAvr+lBrrtL3KRkRMwYgYxz8/lVRe1TPaGcxAMrkEH0z19xTMHuSKWMZbZFBdMYOK2uI1Dg7utLGn9srf4hluLd43I6edXb7tTZr4sO4xnCjkfSpKviD7TZ6h4xqIs55ryNVyeBj3oHa9qtOuIshyPYipJO0tjBGkpYssjEDA8x50v5iF7TfULNDGHOeKxIU5GDjGaA6t2lhs5UHdbw4yTnGDW9j2itpZFjJ2nG7kgCoO8DqSaW+obWKMnOP1ry5RViXAGelBP8AaewW6eKVnjc8YIyPnkVeivory0SWJsrnBBrg5GMiLNbDmM9lgQbB/TWkOFkIPvmstWwsW3+YV42EuXGOGOTXpq/xEym7MqSviQgHA9zWVVcrJIzHI5x1rKKTBLMGvEbGPEx+tRXYBnjYdcjP51GjbbtVOSM7iasSANJCGwWZ+oHlmlicROU/bJbk9rLdRn/yMf55aubtbOBzXZvtP0z43tDFKpOfh0Xj5mkI6I4A46Gs+28K5E9Do0zSsH6A3wXx0/h3dyFGVBOc8YNComeTUtwO5ucbjmjt/YPYQO2fC4HA88UsxNi9CjPJPSremfcCZkepKBdxGOSwuJhme82R4xhTVVodFgH37mVgeec1GEZ94MhPzNaZ0qFMzIJZP6Up7A5mcp45hBNT0VYikWlCZ8eHI5oPqVwjMggs47aQHI2P4hU5uZXjaOCNLWA9ePEfrWtppZuC0mSsS5Yuf5sCpxxDGJ5/DVupgLecECESybgeD50w9nrC2065XVZybtIV3xJGo4fyJHmOao6AFiu5HkGYyCvP9OKv6VKsFnNFnBz4B6Upy+04ja9m75R27Pag0ukTSIqvLK5Zy0ijk0F1TUlhkZblXgI5HeDjHsRwaBWlw0Ntdq74CtyR5e9e214bqw7m7+9LfhVvL3qqdNj5S2NYRwPEKW8n8WmsbWFGx3qy5YbQVB569ac77U2t1e3PgJGfpXN7VC8c9gsrK8D77aTPKccCt7ntNNqENpJdN9/F925AxmlajSkciWdNqRacMI52+rpZocZnuz+FfIfOvW1O2sD8beS/E3z/ANPRB6Ul2ss1yWZ5RBGeS56mi51DRbK3Ro45LqUdSw86rhCOJeepQuZB2i1CfV5rUywd3aRyBtx8x5ihWpX9xqlxagxqtkz7YUBxwPb0qTXO0S6miJIoihTog4Le1UrF5JZTdzBSIwSFAwAOuBVzToSwJlLUWiuojyZA0scWsXLuPwyHzzmiNos99OLi4YCND4VbgChENo9xK0uG3OSfz5q98HdoFCh38ypPFawZZhnOY32q7AJc9PwmrdtG1xcgMclutLlq988P3qttUAAYo1ZtcoNyR7WHmQa4sIvbmMkUvcy7CBjoflR60mRI0QN18RpMa5nBDsN2Rzii9tfM0e5kIUKPnQlh9yNpM9vZg124OSpbg1S1K7gtrhYZJ44g6blaVsDA8vnW/fpc3qwndhzg59K91jT7K9dYZYxJGv4FORjyqA4x3C28wZb6vFcK0Nkst0yyE7oISwAPU5OBVHSrnVNS1G8jsbOOFIXJd7pmyDxkY9c0z6BCLdjCFwiqVxjgYNV9MRorvVWGWL3jD5+EVAIHmSZNpVlc2trObqZJHly+I12qOMAAUNu/920+dSB3kiBSB6k/6UzTOttbgvkYHpSjfyte3sIjRgnelmJHQKP9ahiMgCcBxE3U9NudTlvL2AZtrExxuT156U99h7NrLSI5ZOHnO9vl5VFoNls7Hamkww99ciJM+owM/qaM3kkGmaf4JApVAFX0rK1dzWE1/vL1CbRunNe1d4Z+0M7lvCikL8+gpo7Lan8Hp9pBH4UBUufXmkvV7aeZXvAmY3mZc/IUU7MM09tcQZO9F3JV3TriviKvbJ2mdD0W772O5nz95uPJ9M0sa52gLa+0Yf8A8smxPaR+p+gqbs5eG3d7eQkZ9T15pB1OScX810ynEkzuW+tRcmP+YzSKC/Pido0nWrW0afv3GyNF2j1G2kbtNrk13uis2CKxOeMkD69KBafqNxcYiyHJAHJ8vKiF7pkkFo9xOQSoysanz96orVg8zY4IyII0aWZu0CwxxGeGSJopowcFkxktnyIOGHvTLpOjajY3kz6zYSSRmDfaGAd5Gz5HBI9Rnk0sdm2iGsGWa9e2lVTsdDjk9eafLrUtc0vs81s13a3NmwASVXAYL6Y60bkZxJQuoIU8Ty01C17RdpLS0ex+Hs45QTHwST0Az6Z60xXemRvqSJhwrvyPIjPQftVf7ONCWWKfVLhC0m/bESMAZHP1p5Fkq30RZQcNnBoGQt1KllwDcxa1GwtluO7Ee+KIhnH/ANWQ9F+VBZLZBLsyC8rbpW6A46KPbNdM1HTYWXd3KnPOQOaXZtGtlIKxc5zzSgpnHUAiCJoFmiS3TKRlR3kmOo64HzqCbSoHkD7SrBcAYwEXyAppi0+JYkAQceo6VtJp8WQGQHIoD3I97iKFvbRgKVj5b8LEYLn2Hp70SJFvbgECSTOcDpmmW10qEuCYlPFWH0i3CD7hBnOMCoOfqEtwiR3f3hDAGZuT6D/v9Ks29rCUaSUKUX8KebH/AE9qZ30eDO7uByPKoTo0QDgqfEODmoKEw11CjiJg0/43VO/lyqN4UTPLD/SprvRTHuUE/eDgjzHt6UyxaLFbTgICcAZJPWrbaepZ92SWPOTmgYkQhqVzxEKPTI0iG8+LoB0A9zUyWqlSAuQBlA3p601XGjRFy7RkkjByetSxaNAMHuyxI5560O4iNGpX7iK9gHujPMzGMNu2+ZNQQ2zXN3I7JgkcAdMU+z6bAwyY+R61BZ6TEsxOz2ow+fE79UuYoyWjXE/jJLHAH0oq1ncW1pAysykHPWmC50pS2Y12sD6VZms1OnrnBYDoaPkwW1CmG9PfvDE+chUA/Spb1Csm7y9qh0wd1bxL6irV/wAQ7/Qcit6v8RMN+WMWZ3IuJBxw3rWVo2xnYsOc+uKypkZlJgBPvA4ZgFxU4O/UIgegycfKtETvLN8/jRt1avIVuLecHgHafqKFZLQZ2tgaS/jfbn7tefrQb+GB0P3fn6U2azGs0y4HRFqgsTR7h0BNYGpObmmpRqGSsARG7U6S66M8oT8DAnHp0rk1xHJb3ikDGTxX0Vc2y3MMkD8JICvyrjWtaLJbayLd4+jnjHt1q3obsZUyrqAbG3RfE47xu8YgZ5xVpJrJMGGN5HP9XABr1rE7myvNUjazxg7M4zxWtnPMz9uIUs7db27CTuu0/wAoOKIaxdRwlNMtCo3YDsPT0pdhguu9AZWyffFeXLlJdqkFgeq5/eux9yR+0Op3dqmx2G3zGeTUdtcJGjSvJgschM9BQZJXuJtxDO3QAZNeSrOso7xNoxkAmpyo4k7T5hqO8Dpclz4JCOPXFaRaggnXBz6UJZWfPd5ZvarmlaRdXUhSJC7j26UDOq9wtsKQ3QhLSscMxJobIQTO7NtywZfcnrR607C6/qIJxFGnq74z+VPWhdg9M0+2gjvIEvLrPjkceHPsKpX6usDvMsadSr7pz+10nVtRUTQWE91b4xuHhTPz86NTaJrsOnp/4cIx5CNd1dekto47JY0RURBtVV4AHyqBo1FqqjzrLOqbPAmk2pLcCcQfsxqM8oluFKEn+bAJ+lHbDsrczRmGRWiiPhZvPHnXTYbK3aQF4lL5yCRzVya3WN+ApB5xinfrLMcCUnXccsYlwdlreAARwZQDqetXoOzsKsNsIztJ61Y7S6zNpU2nJbQmZp3ZXhRcsygZ49KpL2zcXMUTaLdI8mQgbjd8vWirutI3SV0bP+Il210cDC7ABRGDSYt53DHTil6Dte8rskelzF4gxdSeVx1//FTS9pNRl0x7q208xoy471ZAWTy3bfTPn0zTxdYe4R9PsHY/7TNav7C01y20uKaPv9jO0QAy5HRc+XGfeidveW8EG06eVLjH+Kp+WPWufp2bmimTUNss89zJgzSTgmF85ycDwnz+VWO1F9qVpf2tnOYpYHw8ckAwGX+oE+QPX0xUObMgqYQ0nGTiOEUtuNYBa1ddrDO1l6f94/OppJrSWXxW0+ep/D0/Oqcd1al3Z7mAtHHlmDgZ+X5/qRUMt9ZsAReQqFYDO8HGDz8+v7iq/wCotzjMT7SHmFIJbOHvnEc4HeBshR/T58+tbWz6ehlG2dXaYsfAOp4/tQaLU7NrG6kN3CpMowN/kBzWkWr2I7hjdw+IF28X7/kKIai6Cal+oyXl1ZSkR7WIfjBXmh0WnW7h1G9Y2mxwOcedRzalpc0IMGoW8jsN5KuOaktXaW3jIJwXJB65oTq7hJNK+RDEtlYtYR2io6qhyrYHXzoJN2etLh8yvMRnpjpTFDZNIHLHAByAepodqlylpcIiqWbaWPixwDjmoS12nbVE0bs3YRWkNmLcvCuWO7Bzn3pf1u27K9nYXuIpJILpvD3SHcD7+3vRK+1XU7myMOlR2/eyLuUzS48PqvFIdr2a1KS8e8vZoLmeEliGlXbEc+dWqfdX5GQwrY8xh0XSYNUhTULG8il5G5BwQfMEHkfWudyaHexz3iyiVDDIwZG6Hn0p0fQ9QSdbvT3itL8jKlJgRKPdfOmfTL+a7hKa/p1q7HAE0Tqwf5g+9WffbAyuYpkAOVOJzjs12M1jWLea6sp4oFjk2qJSRvPnjjypnP2bdpr9QLrVrREI52ksf2rodrc2MJWOOKSNEH4BHwPyonDqNmyKe8QgjcOcGlsrMcjiPXVMq7SZykfZrqWjW5eAw6pEW3Swbdkn/tJqLRuxesaxq9vHLZ6hbaYrgytdDYVXzAPUny4rr1tq1pNuPhXxEctnp51ZOpwFHUSIGA8J64ODip9rnkzjrGxiTW1jBYWyQWsKwwxLhY16D/WvO7LXefIDrUSanF3UfeyhnZRvII61C+o2zFwZeCpHXnpTlqX7lVrc8wzNH30K+L8IwfagN3GFbBbnNXWvbW2SAd71QKST7edBb3VrJGJlnRWJ6FsVBpTvM4WwsoiKlFkUuFBIzyKq6ne2mmW4uby4SGIHBZvX5VWstXsnkkZXjztC5Bzkc1S7T6lp02lyJcxJKAvhDdR8jUClCeJxtIjXpM9te2MV5aSd7bToGjcDAIPpXkeoJcal8JFFuiQEGbdwW8wB54rlVvfPa21vcaJeXEEOVWQb2KhSQGBU9MAnp0NdDl1ew0uRIYVwFjCxxr58kn/8+9Nu06VY3QKr/cyBDLeHHHnit0iMkeD1B4oBbdporvfmJ02EqWyCufQHzopb6tCU60gGsDuMOZM9tiVieMrjNUbW0dZbjdITl8dT6Crs+pRAx4YEHrUNveROZSOSZD5VBSsjGZIYz14FdiMnj3rdbcbQu7B8jS9fdtdNtbzuI0luT/N3WMD6nrQhO2N3Y6vcS6mzfAOCLdY13N1/m9MCiTTqyk46kvZtIBjhNaHAK9POst7cRuQzZyBgGgg7eaErhXv1jLDIDqRRC216xuVLwXEUi+qODilBaxzDJaXprfcRjBPtWs0RfTSQcBTiqv8AEkZ9qnr55qeS6U2TKBgk0S+3I+Ut6e33UY64FT6mSLFjxVOxYtGCD0Iq1qZY2siKATtzz51e8cRPmKc215Wbdisqv32eo58+fOsqN0PEIcIHwuMDnHnVGUKIRgnaHz8hRALjcM5GDgih8x2Kz48OMMD/AGoVgGB9V1Kd9fsbGCImN4u9kl6jaMjaPfOKuK7upJ6g0udqp4mnis2uzGssf+HGcMTyevlRHRZoBo0BFz3sQiAMzvnPrk+tYurqIcn7Muq6lBxjEIM4IJx0odfaVb6pe2fegLIAxWQDkcfrQKxm1D+LF7nUZJQ6Pm2RQI8ZO3B656UxBpIrtJso8kcDsN+dowPakFWr6jAPuIut6PDpNwyzTwNkbsD8R+lLQPe3CRWtuzu7bVB8zTLDoM/aV5LwXsglZssZ4Su4eTLzyPnjpRrR+zNho9yb+S4LBRtSSZgoX1I+fSrS3MoxnmaC1aJE3N8mg6H7Pb6S5SSV4jgDJH4R7CruofZxBDMS7BgOfu168U13PaDTdMkhjuptveYG4LkKD0Jx0HFSw6zbataTS2UxlET7GbaVz6daA3W4yZmlQx+IiZadjl7tvh7HZtzl5XAz+VQT9gWuZI3m7hsDzya6DaY+HfIwdpNVWuIYIleeVIo92MucCle+/icKwYLHYGwt9NDttyVBwiYrfQdEtLd5G2jA8sUcutVs7izWO2uUkYR5KqfL1obpchFvK5B60ovYw5M7aB4l+NkRH2gDB6AVYsgXuNxxtHTilnVO0FtpSsskVxKwAeQQrnavPJ/KmWwIEKSAna4DDjyNRtwMwgvGZbuGHcN65ofJIFjU5wfKoda17TNHSNL27SFpDwGz0zjJx0qDVGaLT5LmICTYhcDP4uOPzrh4MgrL8Mni35+tTPOXfOOlJNjr2pW2nu97Al1MpGYoBs2nGSMk4OP1plg1O3+FheSQQyzIGSOUgNkjgEetGUfMnYB3F7tG91H2l0+8g2TCDKGMS7CpY4yT5A5FbT2+s3eqQPNp0T2yQsrB7vPhYj8LfynjyqhNY3sMSC5aQxXEi7ZHILly3PA6DpjNWzqE+laPBFcOssqx4dirA+p8uce1aCZChQYQ1JQbcA4kyxdoJbqS5FrYxuGLQncAYjjaDkfi49fPmqts+srusAYe+wEacthyoPCZ81zU0PalE0uTUZUX4aPIcpICyn/00M03tAs+r2cktlJFHfyYibeGPOcZA6ZzT9uByZC6ywn4oP6QjcWer3CJNayWtkqMJ5RGzEyv/Uw6Hz46c1V1ns/ezQXmq31/G8vwkrKkcRAXyAUdABzTBbMZNHc+fd+VXNfVl7LTqpQILVjj+brg8emcUVQ3fl4gPqbNpAAH/E4ctxdQQl5ZNzSMEGACc/8A4q+1hqgvGhS+i4Xc52jA9unWne2aGN1LKzbWLqsi4BwM4ORQ3VJtRl1BXhkgixEwlaRgxA4xk+bZOB8qZvUn8eJR2PjOYLu7a6ttK0/uzIJp0ZpBGnLHLAcY9BU+mWxuRp8VwgkIuJg+8clVTIB9qale1sodPvp77vZrYcErkAc5yR0HJGaH6bAJXubtxKg7+QxbSpwz8YIPPTz6cUhrFZfiI4VsCMwFrPYrUr22tb2zgi7p7SEqAwBPgGa1j0LVNP7N21wuoXlveKs0zwd4duEPGPcg10O0u/h9OttPuNkNxFCFEfeq29V4yMGhPaEsbC4AHijsJSB16lare+ThCI7B3ZzE3Su13aq0kYi/LooyVuBuwOtGpu1wvNOZ9fZreSYFUkghbayeoPrmhOl6WZz8feI01osirJHHwXBOSM/94q92pY31qFMe2yCv3LIAuRnnAHkOnvVxxWrjYOZXV2dTuhTTtZ7NxwRTPdztHCoRSYWxgcgdK1E+iEXEyNdSQzjvDKIDyu7k/LyqODRLNLa1Y3mIwu5Bjj8OOfIkHnNUJdIludMingmnmjt3ZO6QccEHjHkeufKrBrIGRK62BmIMPNrPZ62uc3ElzHPGgTuWtyAqgeQHTg1Wk1Ps8LC3d5J+43FRIbc4Yk+R6ZwPKtdEgsbvVr03UMhAJjDOxIfcuSCeoP8ApU95DFdjTbC3cfBx3IKo567fDgDHQdfU0tsocAQ1ZWHJmS9qtDs3mvYpbl5O7YrGYGAGRgc+XTFMfZ7tHo+uaWl2umyRFT3bKccMBzj2pQ7QaKbjVrmMyoq9wGLOMKep2+3NWOx0NvYaCrS7I5ppGLYctxngflSDcMbhHNVhY+WN3pBZ8wEAeoojBdaM2c279fTFI4mh+EuSl33T4J3Dg49s/vVzsjcW19YT/wC/i8WKZlaRuqjGcH1+fnXDUZ8RJpbGYxi/0C6llWEFmifY4HO1sZwa9RdI74MTtUdScjFc5g1q5XX7ZreSMWk8qo8CxqAVZiASeu4fsKM3lxLd60lnbSskanDyKAcn2zxTnDhgpHcWqqQSD1DHabVrBrSKDSLhnuDMEkkjQt3SebDypSawskVne9mLk5Z5rc9fnTFZldRnaNbmQRhtqhSB04z088H86B9stUl0Cy7qKTvHeTaH25bbj0HWgepsAnzDR/ltWWrTSbea1MzyW88QOcxIuemenB6e9U72z06HVY4GtwyuR0ZscqSrAE8dKo6DeySxw3iBXeUSCY5K5VceLHqOa2nlH+0jozABEGwE9cRkD96Rjb1LAOThppFPfppRue82WYdiI0HjkOR+L1HNE7vU5Zr0XLyIyNgKWGMf6e1U7WxJ0q3huJGRcnwhsdRznHNWza6dB8TiBHdAcFwW9P6j7nyp1jNaqhuxEoErYkeY2aPPbXuk21ytt8OsqZCK2QBnp/ejcNnDIoKTEClzR7lF0aCWaRUj5wXIAAzwKkbtho8BSKGc3c7MFVLZSxLHoM9P1qiS2SAMy1tQjMPajapa2/fTXUcaL/NIQBVOyui8DLAyTEsfEHwoB6cj+1KeqdqrrWLIFLC2W3WUgrNKDKpBxnaPw/WtezSW5aZX0yVi+Zv90dsxDO3AGR6E8VZWlzXv24iw1YYLu5g/UuzV3pbPduy3GJAwRHK7vY8UJ1u/n7mxuHWNN47xVTJwCPMHrTVqcIlmuFs7bUJCv/ElmCbCPIBuv60IS0ttT1GziNuZ/hosTwjaGUk5A5wD9Kvae/bQynuIuqLXq+OJRstUaXTjLPHbsvebCkYaNz55wcqasLttbi2e1ldQZ49rNj8Dgnn5Y+VX9RgRcW1npT2K8uQ0vgJx/TkjNAnie4tYrfJLkxKCB0G1h/eqgwRLb4J46jnbX+533zoxQg7owcH5jyoo185te8SQMMA5HnSbFFqOjPDZWp7+eWLl39iP7UTsneE/CPJHJvLEOmeG6kEfnSLKtvyUxIbJxOl6U261D+wP6VfuWzDz1K0M0U7rNUOM7QaIXJxAB6VrJ+Ii/MQ5wBO4PqfOsry/4vJB7+tZQxkPoOGQ8gnI9qHyj7plbOdwAJ/aiaxgRjbjp09qFXbbVCN0Jzx8q5YokTm3a20F1rccIm2SNb71HUjljtHP82MUN01Lua3t7dtwZn71k2sQoPOcAfL8qM9sNInuu0llJE2xpYo0Lr+IAZJxTZptrDFaNAmAEGc+vz96ri1lcgdQrKwUWIVhOLTX4WaKSMyMwcspC7egA/emrUdR/h1vLcnB2QFFz0yxA5pa7Ya9HBcQxLHmNnxuxwoHVqCT9qm1eJtMhUraNGFedly5A9BVbUL7rBsdR2nqZVOIZ0K51PUpL23lVLVGRUZkUhgw9D5DHlVfUEjt5YtOulubmxizNHuIZcnyb1Gcn9K00Rls9OvoWu5WFwGkRx+POMYJ8gc9aF3Fzdz3Vtp8m5RIY7dXPRV6H5nmnVUo+WHQ/rF3WPUwUnJ8fUcJ9Ssm0K52ukkq7UYiMkBuNo46j2FE7Fb1tFvJAjRmWbKJnaQAOntyaBu1noSqq27nMplKSSmQkqMKxPoMfpWyzz31reP3r25ZwcKM9R6HzqW0hvrAq/vA/V+0x3/2h3TLm/SBopm+IlUeIRdUHoT5ml7V7yObX4WnkkdY+Ft/JcA5JPnzj5/Ss0++OlxGCK4SdDkzws4jJz0KkefzzVa3t2vLJ5ZlbbGx7pweXJ9/QdPel1emulmHjf16YypjBa3unLazXYV/inUCRDhAgx/KvkDirmlanBNpsbbJU75zt3IeT7Gq1po9sdJSeZpZWmU7hI+QcHFWbfwWtuQAFiY8Dp6VT1CVo5VI+ux3GXit2m1GSPW3S1QMRF3Eu5uD/pjd1pn7Oa7ILxdEuLuC5kjgDRTQrtBwB4ffHrSn23sY7jV4TbKVfbulKn8RPrVfSYUcJN301teW0h3SQjDFGHqeB/1rioZJaRcriN3bE4mj2RRu7RGJw2MsDyAPTHJ+tVdKuJp9CW1u7h5mjCorOf5c4Xp/6TyenHpVHUNMvb60IvNQaQI22Cbjevp3mPqMjrVWwvzb2ojhWW8jtWMckkKdcZIwPm3X3q3ojUvD8zO1Ndzg7TwJ7q1pKLR7eweZFS4MYiWQjcMZJJPnxnNRyuLyCOS+nt3uIogm/vyTuGdrEDqRx+VaWt1Pq/aWz00qbdyJZnJIYq5QqCcft5VatEZr+HT0nVFliilVFjAJ67hnzPh6n1q9Y1QG4CVkFmcM0gbVbk/D2/x8120bxqZgm51JOc49QRRC5vZbiR4Lu+upIlTJE0IiYfLjNW9Wk0aDvYGsBHcZVnfJ3ccqcjrQ/SLJtWmW8Fw3fRHZtkJZWX6n1HnVP9VXuFhXgSz+ncqVzzKmj2xuNSE13KRFuEccJcYYHoNmOPXPWrkl0dB+H1UwyW6RsN0bJkMmMFVB5HJ4NbalHDcEydz3TWrtvMZwzFRlh+2KoXun2NwtxMXliL7JYo7qbcR5kfLrx71Dtv8An9xlQx8R47h+TXHGlqmlmPvCGO2ZDyOSAPLP7UU13V7RNAto5jNFqNzAidyg3gMSOMjpz0zXKJbvE0gtZJEtlHCq5w3H7USsJmk065eYue7WMBkbxY7xDgeeetWPaetN/GDF+5Wz7BnMatftE1W0EUkl/EkUqyuk+AJFB5FCbi0srmwurgQRyDvAAEOO7UEY8PkcU6WSB5n01ZgSLfvJTJ4pC56bj58ZpU16GKSWK1soC0UWyS4MOMrnOcnz8j9KH9MyjOf3kfqB/lgSGxjupoEt0vVtQwLYcArHCMkD54zRq6tpY1tr5CYbRbhl73OAUZVCnPXHB6/3ob2SsBcavNCZmlEtpN4nbcMggKfpnFF7jTrlgLdNLkZ+8IxkbAMcefPNV7nG/jjqNqJ24PJgSx1K6itb+WV0klZ2EbXCBjx0AJHSqdrrT3Nlcw3avdySHGIPCIlJBIJHHl0HrVz/AGRP8SOl3l3HcalJbPLFGWOxBkc/PGTUVxp02ka1btdJHBBcYgjZTkAggFj5D1o6663OCeYL3GsZxLSCxi0qd3tZIbNp2OwAxxycY4JOSeP0qi8qtpOjNcIjxLE6yK54ADHGf0ot2g1WPT7u6gLQyyuneI6ncqYOAvpkDnj1pRF/DaXcLzSTuW34dW2tFz/fHPzoXwHAHcs6bTvfSbjgAQhprSTX+p2dhHb3NpIxMcZk27B6j0GP2FMllPbQaREkl3BbxSBiE34JB4HA9etL1ndSxXcU0rxTbmAEgUbjGevI9OKyRrG61CSY2sWyaYxRADgKv4m/Ximq7uwq6lW2tKwbe4ft9R0uSB1sEubO7Dhlk2le8fBG4Z4PvVGCO4S/+GvYngjt0LqeA7twd+fL19an7PWGtDtJDdfGQzw20Uj4iBJORjBXzPIOaL21j8SZP4nGWl7zwhjjjPmPU5BNIstI+AMYK0UhiIA7S/GLo1t8dLFcNdFsEEHIA8O4jg/KiGn2kC2iLGiqioiqAOg25P6mhXa6NorVJ1jAWOYjYoA4ycHHuAQflTDoNmdQ7PwXiTSQpLysbxqxCjwj9qtV2V10gtKdiO9pCwVqthc3GnT21hkTvMq5VtuEx4ufrV2wsoez2lsbq7jtreZlTCxbt+1cDA8/M17qk8+g30bLC12LpQEIXAVgeentiqKa9qE5aeSK3mhSN3QJ1Rh7/KgJa3JQfGNUIuEfswrPommz3VreXE5ltnj3W5gxGnA6kDz96OpYrFGjGVUjPCgOScYpO0ubVNShS6vo5VjEkawQGHg5zlh6Cm6BDNFIryTPtkKd4ANwG7AFQQxOXOYm0KPxm0QjjdlEpLY8IOM9Oo86XNS0tdcul+MLBolAHdsRyxJP9qKai+maMzZuzDLt8TbDJtB9T5ZoVZ6tH/HGs7oxpLKomjkRvu5UxjK/6UrkHAnDd3NLK2hsbqaCENGkEHAboSx5xQmRFh1S4u5WLMyYXcenPGPTzoxqr7Jb1ra6gVmjUL3nIbny5pLvbe61O6iE2p7iBmRYVwAqjJNMqAJxDAZuTGabVbO3jAluY02sTgn0HHFbWkk2tXEyabbzThuTIEIQDA86XJtGtdMCzLbvczsQdhfG0cdSep56U+6R2rvbaEWzW9u8SHYAsew+2ceddcxrHUfTQtnUsXekG47PxaPMwjdMNKy87TnOPeoY+ylsQ8guJlDOJSAQE3AcHYBirf8AFLaAE3e+N5SWK7TwT5Z/Kh1/2htpbi3s1l2QTMA8vmvPmPIe9Vk9xjhYxgq9xZuJo7O7ubdSZIrQHngBnbzPqvPSmDs13lxdytFKl3M8QZlEhj2AHAKkdBzUupWGnaY4SNVETPHJNv5Mq7vFn18qmivLTQu1IuoJY5dPlVhuTkRg/iUnywcMPatsKvtbPuZbs/ublHUjvbS5bUke+Wc24Unu3uA2WAyM45xgedZcTwSxxGFYSHZGPdADk/5yOtXdZntZJWubK43hlaN9vOVwT5/vS7DdyS6ZAsrApGqhFCgAAeZqg9ePxloPnuXbmYxSFxl1YHhBtwTnqf5qoWAZrpLphtZZFVVXpjZXkV9/EQtpYILiW2DNNsbhV8s/rVfSr5Liy7y7DSKkg2QocbuMEmoAAhAO3AEZ9Q1KJdNu5EZTPGoiRlPIpd7MW4jvWeWe5RwfDE/iy5yDn04ofrct3fXKo9h8LZOuFNvCzHPkS3nTd2ftv4Xo0lzqDd3JJyu8eIgD+9VrnUJwY+ugq2GnRdHADwDoCmPrRK8IMJ4wQM8UF0mXMNvIOm0EZo1eeK1cr1HIrUr/AAH+0rN+RiNqoC3zcnkA9KypNXXdehhnlBWV3EPmMSbTbo3tg0B1PpEueckUS0uVrjSkYgiQuy7fQg8iqV6gMlrIOm9kOfKoWLI5nOO1msHTO2cCyPiNIQFJ6A4xzWl92nSykuLX4iMhXDPMp/yjgD/vrRLXdNt9a7Uy29yoKLbMy+Ho58IP060rdnOyscsEsVzFFLJb3DwytIWzjqCPpWda6KxJltE3AZknxmn6j2fub+5hLBpAdhHKoOn58n61Ho+jWE1s+o3QkjZoy1rCSRj0PHJNUJ9OudN1wWSx7Le4t3eRByoAPXHp04pvsdNj1G2ivbecxCRAHBAOCOCB7ZpRcVnPgyxkFcAwbDocdv8ADQRO0kssn3pY5ABA8WPnVe60W5te0ttHOMwxzxgspJUnORimaztbWzupTJID8Mm4hMKzN5AY9P71nw1zqdxMjzKj7FnPGdjdAPoB+dXKrwtWcctM66ovYMHOJU1yyF9dwxRKiTGQu7c8RDy+p8vWgclzc2+n3xeFpBcTsVAbawAOB+1FNjR97bd61zeMMozeHb8/al29k1OwiSOSYCJpCoUqGK88c+dWtJaSSvgSrqalCg+TDXYybT7TTJW1CyR2muGSVnQOysACgwfLGav6kbySGCa0aRfiJN0cTICqRg8NjyAHlS/2TuBaak63cm5PFMM8lmxjp06HNdBgtU123kube5a3iUmOJ1HJUD0P7UJxVazGMC+5WogbSr2b+FvaXLBntpWQvnggjd/evE1OaC1jlexla14Ly5HA5xx51VCrBb3kCykktje+MuxBGf0qTUL4LoUlspJl2iMIUOc49elZj7XsYnjMuqGVBKOuyCaWS4iLI4jTYQeW4zRW6e30zR7NS8fwEibriXvAWuHYA4wOce5oYkQlvNOglkjSQhVJJyMbME/Q17d3MaaY8Uul2veQOdzSjBJJzjI6jBGBVt6d6KlY8RFdvtEtYfMm72Cz1GC8t1hW1lAikijfdlzxkf1DpV7RrGKxtJLcbkuZXkkZipXcCfL24FVIdZeFLALFDaxu67bZFyEOeOcfi9atXupSPeRzMRle8CgY8XODg/Me1JOnesYbzHfqFtH8OAeyJX/bubAz926Ek+nnV3TbZbq4jlB2yiQbD6BBgAH35Nbabp9zlbiEp3sAdpIxgs5Y9D9DRX4mORY0kWS2lXDgBdjA/wDpPXj0JqypFlZRTz1/WIdSjg/1gHX9zarILiQ946qNqIM5xgGtNE1ZNIv40uMmCWPGQoBXB8JPr0Nb67LY2motJeav/vDqGCRwEkLjihiajZXV/aQ2n8QkdcJvlCqm0dcikjSMUCvHjULyRL2qySRzS6hFMsYlnJj2OPEr8HI+Qopb2yanpMNv9xd28Z3r3bjIPmPWg15BIdLtbdVUBJsKpPHU/wBjVRdMe002FIGKttlcvnBz4fMfOmaupUCVqcRWlc2brT3mM2pLbyaeLI27QoFCIscAIHPl55qo+ki0sB3VlJH0dpLiYBmwc52jyyKEWN9qTabd95dSsyQgRsx5VicHmr7kfFo48RNvJuO7cScc5PnyKr2CxDsY9SwmGG4CF7u/1LubfUlazkS2hZmZTzjrlh5emPPNCY5e/wCx89/4V+OulJxx4QAW/RWFLF7FcXcxitR9/KxA5wD58+3FQ6XHqNyl1ptrcM0It2ZEY+HeRjPscbulWi6vXzFNUyNHbsML27me5gbui1vjcB/U2409WMbxXkcTyNKcEl25zUHY7TjpnZiBeDI8a7/y6VZgZl1dSORsOfase597kiXAAq7RPZbG1HaFL9oV+JMfcd7nnafKkH7QZJBexRyw5tlKLv8AQ5JYEfLFdEveZ4mGeJFrm3aDTbvtH2iltY51VXMjIx4GR0z9eKt+m/5hdj+IlLWHChR5hrV+zthc6baxwTW6TxW6oGLrhhgHDD+9I66PJdX5QR7ti4ZQM7m6V0ya1tLm700vDFI8NmVkOwEhgAhB/WqWi6Hp96unpIEMisCpU4Oze2Rkc88VetQbg+e52m1VtVTUjqJFvoFz8VFpunxOsjKGlLHhRnn5AUzXjL2UvWRLSS709LbxLsXEWSCOT6nP50UsDY6Rq2r9/KsbGQRgHLbVUcjPOOTVDWLmPVoriG2lykib5XPU4xsVRVZfncVJwPMKx2FQOMmUbDX4bvW9NWzjKSLIjs+dpUHIKEeYx9OK217U9TXU5/4U+62TY6OihgW5Dc/Kl+006a1EWoJOgeKB5NrLg5UHiiWoahNZaPau1vGVlXfjJUHA8wKZZVXRYoUZkUl9SjNnE8vnmvtAsbi6fe88ckZkfqGDkijHZfXBbaN8NdJIpj8casuCR5gZ9D+9SaJbXuqaZbQLPDBBGXMu2Lc28sT4c8DA9aOx6LaW99NdBGlnl5aSZy5+Qz0HFVbr02msiMSohgxMXtVvJdX09jFBIscCMzOrYIPlQS1uobTTLa2WNszoyccFScZJ/Ougyw77V4VVSXwu3HqeT+VCINH059ZnjS1Ag7oonXaD/Pj0/lq56ed9RB6lTVkLYGUcyCEvJKk1vrtvGzRriMxuoQ9cAjIoja62be2JaKKSYd5EkqsTuZRknkAgH1rfTezOj6hpFnPLaAyPEMyIxBPPWgeudnTpCxXWn2089ujqWCks0fJzx/SQfLzFIGoU2FTxGtQCgOYIgub50kmnlaSG4R2ZPYEg5/TFadnYopzYRTRq9zDCUUsOEG4kfoaM2nZ5p4bkaTbXR+J5Jn4SNepAPnzUtr2cOj3AkllEkzAg7R4VHB/tQ3WqOAY6ukMuWnuoAXMkcVzKGhH4oFhHP1PI60ZW1hTTkMWnxRrsPiVFIx7g880NEKyXVsoXdknpn29eaYLq3+FsnKqWKjBAJGflQOq+0pzyTAUtuK+Is6xpf8VsbVUt988kqnCAAfWm3R9EttJssSIstw3iaYjJz6D2qjplq8biV2YYB2xnyHvRoTju1Vj0PXFBrLgxCrG6ZWUEmCtaCSQLE0feIxyRtzSW2mCz1ZpLe2jKTwSKYfw7Rjk81Z7eXspu7eG0mlSdendsQSzHgflQi5g1LTtSSC4Z5b3/AAom37twcY4+ef0rS0hC0AeZTvP8X9p7pyXeo3VtHFL3rPhW3eJQAOvNONpZkXa2lzJDIUDuoWDCHAH4gCM9aC9jbG4s7+eK8t57d9gwSCuefXpTGq5158O25Uk5IB/oqvZaQ3BhqT0RBvbLUH0awSWW1ilSQldtupTBweSCPelDSrC47RWFqJbgxQzXHw8cSewyST1OKee1pbuNNBIP3zHp/lNJV1Fqmj3MF9Haz/CmQyKY0yBlcNwOnH51FWoDDBMeKsruEHjS4YtSeGxSXcH2KUYguPXin3s12Wj061E1yA+W390BwCPX1oZ2Z0tn1E6gsUwjBLb5V2jPkF/M0b1DUGgWS3W3u51jQu0VuuN/Xq3kPaqWouJfYsu0KcQvPfJMrwaf97KOMr+FD/35UHn7PXLfe3Ts8jjku3H0pEm+0G6jhkTT4vhDx3UaJkY88n1qgde1y8hkNxJcNIwyjliNo8+OnNcmmbGTDNijqd5sMR91AOAIwKMyv/uSPyGXj50C0Ve8t7Fj+Lulz/yijdy3+7lc5x5VuovxEx2PyMWNQG25wVB8Ixk1lbamM3QwP5RWV2JOTJt/8OlaVf8ABFw5KjphlBH96szQKyLIArIw3j3zWa4sDWMNzgiKWdQxHkxUgH5VlvIItMgWZgE3FA39PpmoWCZzbXY9Us+1cN3awGWAxFHLEAL6Z8/IVvY2mtHUbq5jjtFtrpQwy/KMP3zk/Kj+sK7XmwIScenStrNHhslG0lQecCsbVlvdOBLdTfETm3amPUJNUtYrhRBLIpiDqThlJyf9Kupq99bkQWcBiiRQgUITgDgU5X8O6QFlyM5Ulc4qGJGZo2YYPQ8dKSXYqBiNDjzFW2jmuNTW7uoLiMsBv7pMCTAwD6jyo5aPa6Td3Mj95DBPGpSTBIyAQQSelEgro+GHh8yasRp922V68dKEWOGBIksARiJcN0E1uW9gmPdCIRiRuF3MMVJpdjPqOqvczohtLIlV4/G+04H0BzRPW7KW62QCORocEtHGvU1tpdpqVtaLbWsIih37vvvE3PHPn7VeTVFUOByZVfTB3U56ivoGlxX3aH4aUMI/h3bjryQKcrFpNDtVsminlAJVXiBbeCfP0NUNN0q60/UpLmO1uGkVWSMqgZQp8xV26g1kXcDwyodzDgptIPvXajUFrNydYk06fYm1jKNxoD93K2oQMnfOrIhbDDrycdOtXTo1rGGjMbunozk1b1iz1o3sXxF4oBxx3e7FXBA4hAYlnAwW24zVG1nJzLCgJwDBVp2fs41ku7SArdDoGc7T+fSlvW8x9/C8TQSPMjIhHOOMY8vI10DT4SbWU4ORz0qqdFhu7yK7kMm6Ig7APCxHTNM02segk4zF3UJdgMeBEiK0utRvLOGG0kaGyYMzscI5xxz+dNGk2UFtqUlvNCJVaJmdsE8lumPQe1FIdMhtWkMEJXvG3t1Iz9elam0EjeNXDp+F0JUj6iiOuttYFhxO/T1oMVwLcsdD7RQR2tu8iOpBjBx1H7dKO31lDqNlJbXEe4Y4z1Hpj0q1p+n28AkuViPflD945Jb8zW0asX3BTg8YxS7GJbcoInL+ODAi9m9LaMSy25uZwAN9w5cgDyHoKsfwy2jt9lvbxRMwO1gg644NE2jdHbAOD7V5NG5RPCcY9KhrbW5YmSFUDAE5zP8AG2eqWVobaZ57eQjf3ZCSHB5HoMmme37FC6hDanMZCVb7mM4B9s/TyoxciRiq7W5OOAaIK0gEa7XAAxyKO7U3W4YjkTqkWpSF8zn8ugPYgi609LaC5IQQWzmR8A9c++RV1eyLx2xZGMMshx3btuMaEY6+bc08SRsceAkdQdvSo5IztLFGwOB4ag22NyYYIXicehEdj2jRX8KRGdAT67GAodo3xNliSBtss5IyBkgfhH96ek0CW+1+9nu7F0jDFlIXiQ54wflW2jdnng7SWzZLJCmAhj4Ixwc/rTTYQuMRrFScwl2f02+WNrrUi5k4MIkkOQfXFGNOHe6nKzc4Q/TirzxyquDG35GqWlh11C5+7bATyU1TIY84gFgxzPLydYLJrqTJVTuOBk/Sk3SrXUdSvJryHu4Yg7BHdP6upANPCQySWoJjfGGH4TUGm2z91J92+ScAhT5GirtsrUgDuAyoxBPJizLHLpWo3ltJeGeSa3kuFbbgq2BwfLqKq9mVmsde015S5eRVaXb+CGMc+JvIk4pt7QaPLq9qIULQMxUlxH5YxUV12ZeXTTp9rPcWqELvkRNzOARkHPrVxdWxVAw6kNSgBYHuK9/Z3er9ptTtrNlaBbl3aQnKAHB+tXrjQoNK0hisjSugXxuB4BnnFMul6PFpdotra2zJFH08Jyfcn1NaXmktqapCxuok3Zbujt3D0PHSktqH97eBxJODV7Z6iJYPJYT2U16BLBPGzMrpnAyQVPplcGr2raQmo2iTLb/DRlvuEiyc8E59Bnim647PWc1pFataS9yhDBAW6jjk+dXhbSlf8Jhjy2nAFM1GpstIbbyIvTolAOOQYP0vTItLsYbaJSNq5ck5LMeSTVnaA5A6Hp7VZWGUciNiD18JrBBIJVBibkH+Wqm12JZo3I6EX7rUIbO/ETBmLjAKEDZnzOfkaHaXr1jboIQkjko/KgEbmOefajV9oHx8itIsqOvGVX8QznBqx/B4ZIhG1krJ0A2dPrVunUWIoAHUW9NTHLeYCstM1WaKNUlkijjUKpZ8AD2Apj0+3lsrVVluZJpCeWY9PlVmO3kjjEaxOFRcAY8h5Vs0UxiP3T5+VV2DtyRG71xtEvWrLINrHJxxQC7i/wB+ZW9eaKWgnDZ7tyB18NUbmF21DvBHJ1zyOtCtbZ6kf8yOCOMzIwQA+R9KMypmzJ6586oxW0gnZe7brkcUSeJzYspVhjHlXGtyejJBWB9gjYEDqK0m2xwtIxwqgsx9hRCW0chB3bcj0qP4OVlbMbcDjiu9p/qdvE5vaWl1qXaiHUJ7SR4onaTg5DH+UfKsDTXfar+ISpKrQSs7bl4yOFHvXRFtZFBUREenFVbPsxZW0on+GkdySQXYttPsKui+3HK+MRXtU9mQ6Wuo3cwmuJ5EiBztZOG9qJXVjZmcSiALLgjcpx16/sKtpHJuVTGx+lSz28hA+6b8qpMtg6jmdGgmfTbaY2sku5+4YlFJ4zjHNbMx79V4CjoBV0W8reEwtkdOK9ksZ32uIWBHtSGrtPiGjIIO1PUbezhDztz5AdSaRtZ7RXE9pcJCe5j2ngdTnjk0e1zSNVuroslldSIOFyox9KWr/slrs0BEel3Dl2AICjp+dPoofOSJaU1gZzAUNtHFaIdi5x1xzV0yJ/Dj4fKr0nZPtB3KoNJusDjhR/rWJ2V7RNYvjSrk445A/wBavbHz1OZ6+wROoaM2ILInjCLn/lFGGYNx50LsFNt8LDIuCqKCD5HFXslYnY9VJrXThRMJuWMWtUmU3z+3FZXkgdpGYnknNZQwuJckcXvYe7aLkAJIOehB5FTRFbnSEYjKSxeMehx1FDuzRMvZbWLJiT3T8H0BXP7j9auaXMI9Ot4JV6EI49OM/wDWuEA4lTTpe+vEhkbMmMK39S4/er8cgtbWaSU4jjBZjjgADJNUNRsntLhpYmKvEd6sPI0tdsorK47O3WtLcXkN5KUgMCTkRbjx+H0IBNCxwM4jdPULbAhOMw9a65puqgxWN3HcBRuwudyj3onHAMZ5HHTHWuZ9h+zKX2mXF9Pc3dvvk7uM28xTcB1z68/tVuKXSx2jOiDVe0Czibud3xHhDD3z0pavkZIl+7QVi5q62Jx3xOhXMZaE7htPuKpTanZ6eyx3d3BbyHkJI4GR6jNV4ezMNlcpejUdRuJUBULcXBdcH2q7q2gaVqqRT3djDPKo2K7jJC5zj5Uwr+0oYqVuWJEpS9oNJLBhqFoSPLvRUtlq2jzMbqXVLbAO6MCcDacHy9c0g/aFounaZptlJY2MNuzzlXMa9RtPWi32e6FpF/2Zaa906CeYu/3jrk4GMUnJLbcTRGlo9j39xxnHiPOjapZXUkkNvdwSyKC22NwTtzUl3hbu1YAfiFU9B0TS9MmkuLKxhhldSpdBzj0+VWLs5mUehBpqjjkTMsKZ+GcSbtNfWtpfWyXM8cMkoygdgNxGM4+WRVgAPEMHjGSRXH/tQ1R9c7aNaQKXjtFFvEq87m/m+uePpXS+zd9b6hoVpLaDEOwIq+aEcEH3BoFZWYjEuajQtTQtx7P9odsIwlrMuMADIJ+dDL7tBpOkXS217fQwTMobY3B2ngGiyELC0YHXzrkn2jtGvbuwaQr3Xcwb93TbvOc+2M1NpCLkCD6fp11N2xycYM6CvafRZo7gxanbv3Cl5NrZwo6n5VFB2g0q4tJL2K+iNsgO9x5AdeOvmOfeub2EUFxe9rrm1EZtEtJliKYxgsMYHpgV72a0+z/2I1XUpS3xbRywR5fjGASAPXH7UsW58CaFnplKgncfH951iw1fT9RtBLZXUcqOrKuDyxX8WAfTj868nvLbT7Jrq7mWKBCoLt0GSAP1NIf2eadYtZ22o3FxI16WnjtYi3hTA8TAfI8k8ZNe9ub3v9RsdJ1JjaaXs+JMseWM2B+H2Ocj6imbxs3ESq2gX9X7KHgd/wDqPWoatYabaR3t1cpHasQolzlTnpyOtRp2o0K5tY5I9Ws9p45lAP5GuQSzahd9h7+6lcppvxcK20B6LjPT2AwPnVy21nT4+w0Vjb6Mk+qszLJcyWoYICTgg4OSBQe7z0JbHo67TySc44xx/vOrW2qWGoXvd2l7DOY2AcROGwas65rFhocKXGoT9zE8gjVsZyT04Fc4+zWPRkvH+GeWXUVwHZ4yo2Z/l9s+vNWO2VpqfbLtO9hp0ZNnpqMGkbhGlxkqD5noo9KIWDZuxzKp0Fa6v2mOFHZMfh2i0Z9vdanausoyoEoJ4GenXoKHXHbvswbdQmswHn3/ANKCdmV0S80c6gmgWtrqFnG7bGTklFOSM84JyOfOlXRr287S9pZNTg0azkW1iG20V1iiUHjnI8XnXGzAHAjq/TqmZwc4X9xHyPtn2furmC2t9Silnnbu0VM5LH9qnl1Ww0fVFnvrkQxOe7V2B27vTPlSbYa7cy9vE0mTRdOtdrFHWNFLIwXO4OB+lXO2UzLoWoKby2CPjFrJHmRzkDcpzxjPpRbxtJ+pXfQhb66+QG/edJu72AWMt6u6aFE3/dDeSuM5AHWhHZzWLDU5Lu9srkPbhMOx8O35g9PrXN4u0V1H9nttNNE6ol73EQtZmgJRUPJI680C0XDtO81z/udxlvhBdSJkk/zEIc0s3DIwJaX0fhtxxg4naNA7R6ZrfxMNhcGVrVzuABweoyCeozVkajYadan4y9gt2Zjt7yQLu+Vcj7K3VoNfTTra0uliedTiG+YLnrnBAyB5g11sWFjfM4vrSC5XcdnexhtuRzjP0piNuHAlPW6RdNYM5wZi9pNGMK51ay3bR/x1/wBa2TtFo/fgfxWy5U/8dfT51zv7UdLsNP0zTPhbK3gZpWDGKMKSAvt70T+z3Q9Kv+y1lcXen2s8pnkVnkiBJGcDmuDkvsAjToKBpRqcnBOI4t2k0ZAGfVbMByF/xgeSfarVzfW9laz3tw7JBGu5mALYGfbrQ+Hsn2fRw38GstyPlSIhxg9am126fT9DvruGSGKWKNjG0wym7yz7Z4+tMHHYmewqZgK8/wDMFf8A6gdmxIUOondnG3uXzn5Yr267e6HZ2tpcSyzd3dM6owiPG3gkg8gZI/WuSRalc3PbVNQubu3t7hpldp0XfGpxjp5ijdzb2/aDULi91TtNaI8KbLTC8sRyCVHABOeOtVxcx6noH9IoqZd+cEZ45/8AydBTt12cWSOI6pFmQEhipwPmccVd1zX9N0Oyhu76ZhBKdqMilskjPlXJNZv7XtXe2BW/it5ILYpLLcR90hYHORjOfl7Ue7fd4Ps+0XvboXTyTKxmXgNlTyMgYHSu904Y/UQ3plQetTkFjyI2Qdt+zc8aSDVY0yPwyKQw+Yrcdr+zgAP8Ythjpyef0pS0PUNT0vsTZ3lvpmnT2UMDO8s7gPnecjGOfKq/ZWPtPf3E2qWtlDc2kkjEwXBVUJP9ORnj2rvdPAkt6ZRh2zgKfsf+I3XPb3s5Zxox1ATZbbiEFyPc+1HoNSsJ9M/iBu4RaEZE5bC4J45+fFch+0GO8Wexa/sra0uDHIe7tyCNu7A5HnXUOzOl2SdnbWxNtG9u0Cs0bqCrEgMSR580aWFmIMr6vRUU6dLQTycfckXtFoqq+3VrI5OOJhVN9d0o3Ef/AIlZnn/6w/1od250PS7fsdfzW+m2kUqBSHjiCkeIDypD+zvS7PUtVv0vbSG4VIlKiRcgEtioawhgsmnQae3TNqAThf8AadTGsaYl4W/iVpjIHEy85+tXtT1Sy0y0Mt7dR26P4UMhxk0JHZPQHnUnR7QZAx4On60C+1iJv9m7FVQkCc8KucDZTGLKpJlaiii69alJAJ56h2/7YaFaxW8r6jE0coOwx5fp16dPrWT9rNDtJ44p9QRXlQOmASCCcDp0+tcZOnXt1pFkbawncru3MloQTzxl/wCb+1XNQ0y+mu7d4NNm2LEok7uwaMZB5yP5vn51W95vqbQ9G0wIBc+Z2KDULWa+a0S6ga5VQxjDgtg1X1DtTpGkXPw1/ddxLgMAUJBB9wK5TpsAk+0WyQQiNO/QlEgaEAAZ/CckUw/amMXmnAf0v+4oza23P1Kq+mVDUJUW4YRoPbrs+sn/AJ/DDqpjYH9qY7DVrLVVb4a4VzEQHXkMuRkZB55BriV41zP27s1u4Fhl7y3DIrbhjAxz7imHWdffR+0w1l9NvbKZ7dohG5XZMwOATj+X/SoW085k3elJ8VrJyR9zqMU8TTvEsqtLGAWQHkZ6E0P1DtPpOk3YtbzUI4Z8BikmRwenNK/YWKb+JSX17Yak19eRlnu5gFjAOCFHPPtQbtmJpPtRtUtoo5ZisOyOU4Vjg8H2phswu4CV6PT0bUGpm4AJj6vbDQrmeSCHUYJJI1LkLnBXGTtPnj0qla9vOzdwG2apCpB4Lgrn9K5pYiQ9stZ+JgigmS2umaKPlUYL5UJ7Nu6w3wWa7XdFkrBArhsAk7ifwgCl/qG+pc/6NRg5J6H953TS+0uk6w8kVldxTPGfEqnn54PUe9GIgpgdQBg1x/7LYwZdTm2rvURqGxyOvnXWbZjhV9SM1ZqYuuTMj1HTLprzWhyBKE4xqhB48Q/aprhsWkwx55rLwD40soOQ44ry6wbcqBznNMxKOYvOTuNZWXBAlPH5VlRiTIuyTBrfXU9Y1H1rSZ3iaCZc7kPiHt6VB2TkCzalCpG+TZjJ68/tU1y5U3CEfzYBHlSN0PbDF1ILmyiuEwVZMH51yn7R5/hZLC0QnB3SyoPMdF/ua6Bo10Rvs3OVIyvt5UmfaJpUMdpcam7GS4dooogekaDPHzJyc0Fhysuen7U1KloQ7P2Ws3vZDTJdO1UWkShwcRBt3i4pNa0v/wD9QHtlv83/AMUR8Xs/mx+LFOPYDV4dM7OWsV3PElvKzECRwuDnGRny5pbNxEv2om4E0fc/GkmQsAuAOuaUwGBia+nd/ft44wfE6FpGmazBcSXGpa5JeRiPAi7sKAfI0ZjmIzG+SN2cH3qnDq9jcMYYb23kmYEhI5AxIHyqW5u7aHwzXEMblQcPIFP5E1ZGAOJgW+47/IcxI+04EabZDOV+II/+00S+zpSnZRW6bjJj86FfaPcW9zpdgsE8cp79iQjhsDb7UW7CT29v2Ts1aeFHYuxDOARyfLNJBHuZmoyMPTQuOcxutSUVwOhUUK7T6mNG0O5vc/eKmEH+Y8L+v7Vfs7mCWRoo54pH2biquCQM4zxSL9o9xcanqFhoNkjSSn72RR6nhc+mBz9ac7YXImdpaN96q3A8yj2E0ptT7Zy384LrZjvWJH4pG6Z9+pq/p+pHsV22vdMucpplzJ3iZ6R7uVYe3UGnvRNEh7PQmxhO+QDfK/m7Hqfl6UB+0Ts22raSl/aJvurMHcq9XjPJx6kdaUKyqZHc1W11Wo1ZVv8ALIx/7jlG5aFSGBDfh9xiuWfaDH3nb/TFdQyPHACCOCO8IINWfs+7Xu/c6JfuTj/y0p54/pJ/aoPtCIj7daTJgsBFEcDrxIaix96ZnaLSvptdsP0cfvxKmmtpundp+1Ivvu7FY5YtkfBILgBVA8/T0qPseumrHPNJp+r3G4SwiO3XfHsYY5/zY8610yRb++7WXixnupLWdxvXlSX4Hsak7HTSJpEyDtVFo6mTmIqCzcDnJpY7H/M0rB8HOecL/wBv2l/sW2iR9tTaWtrqQlRJFh+IcEIdp35UdPOrvb+K/wBTlsdPt9HnmihIlNzEoJII5UemPPPtQnsWVuftSmkjk72NzcOsn9QI6/WjXaHVNSj1m4trdibixC31oAM74iAJIyPOjXlMSnaCmsR17C55i5qz6pB2X1HSryxmt7OFoZrfvMExqW4UsODnk1Y7P6/c9lOz0M5VprO+ilC+fdzqSBj2IwTU2vWup2XZ3U4nilXSLh4ZrZZT4onY5KAdeOQflXkGh6hrOj2PZy1RVFkrXF1Iw4WV+Uiz64PPz9qDaQeJaV6zX/Exgtzz+0M/ZdozW1hNqsgIkunAjz/QOc/U/tTXq2g6TqU8AumeJkDCNIZzEDnknA6+5pZ7A9pnkYdn9RXu7228MWRgso/lI8iKN9vNFbVuzc7QZ+JtQZ4ivU4B3D6jP5VZTArmNqy/675naDjBH14nPtD03+K9qNSudKkni0uzil8ZkLbl2tgEnruPOKF9k9NbUvjQul3N8UjXwwXQg2Zz1Pnmum/Z+1jfdjFgsoRASHhnIGSXKkbs+fBzSd2f7O6XN2mvtLsze6hbRw4+Jjl7pO8XyJBxgnjNJKHKmay6vPvVHgDA/pItLQw/a3ErRNH4tpQtuKfdDgnzxTT20a1t+x2oQzGP4qYqIVIBdjuBOPPAAoX2O0nSJ+0815FPdQX9ozA2Fwcshxtzv6tinvULG7nsZDYzRQ3K5BaS3WTcMfh56ZNMrXKNM/XahRqaj/pA/acdhtlk+z5YI2ge6kve+7sTLv7vbjJBPH70R0XT7xNNjBv4IiF/wzq5jI6/ygcVPpNpba3qctjKbK2v1J3QTaYgJI64wcVna3s1FpGjTSNc6cZNyERxWqxSMCeo56UnbgbppnUKX9onBY5++5F2ZtprTtwl1cyxG3WbDTfErIp8GB4jgnqB0rr9oMxYP9fB+Vcc+z/RjqFtPMktrGYLpSBLAHJ4z4T5dK7JaEmCM+oLfXNOo6mT6yR7gUHkCc8+1ok2OnMVwe/f6gqCP1od2W7XXHZnSNNivbRX0ueV2jnjzvQ7vFkdDRT7WUEmiaXKucpcOvXy21P2U0G07R/ZpaW16GCpcNKkiHDKd3OPmOKBgfdOJcqsqX01fdGV3czoFvdRXcS3FvIJIZQHR1PBB86pa/ftpeiX96Ikma2iaTum6NgjiodUvNP7H6KshiZLODbHHHGMnJ6CqdzqH+1HY6S40yz+KW7Xu2glk7o4zhhkdCMVYLePMw1p5FgHwz3OYh5u0uv3GsQ6dOCGUsltKqhCFx1PPl5VQ0jVtUuNSjt5J764U5zDFIA548iRinay7L3lpG6jsdZS5Gd0t8XK/LIpC7OW8l12ghij0+O9fLD4Z32BsA+ftVFlIx+89jRbVYlm0cKOOv8AzDXZy5s+zfa1VubC6ZpF7oxTbMqXI59KaftdQJ2esEQbVW6AAHkNpqjJ2XvvjVvYOyKpMhDIi6h4Mjpxiif2rrI/ZnTWlTZJ36l1B6Hacj86aFIRhM2y1LNZQynno8xA1Bn/AIH2cj3sqPA6lQeD98fLzpq7baZd9ndJ03udZv5UklIEbuAEwuQRigNvBpuqaLpMU97c28tmjqwS0eQHLluGHFFtUstF1C3hT/aDVn2EnbdWzuBx5DHFAoODiXWdRYgPQLZGMwd21kmudI7N3FzM808lizs7nk5auvdnuNOsT62yf/EVx7tjeWU1rpFrZTPKtpamJmeMoSc9cGuuafc21hodhNc3EUKm3jAaRwoJ2jjmm0j5mZnqYP6SsDyzSh9oUbjsVqODgbV+vjFIf2VJnU9S457lP/kade3Gr6dddjtQgt7+2lkZF2qkqknxDyzSd9ltzbWup6kbmeKENCmDI4XPi8s1Fn+cJOkRh6XaCOczqMYw6cdPekj7VriaLTdN7qaSPc77tjEZ8NNz6zpMAZ5NSs1Q43HvlPy86T/tQhkubbSLeAGSSSdgirzklR09uadbyhxM/wBLUprKy4wM+Yt6GdSl0e3ZJ9QYEH/D1RIx1/pbkUWjGrAsO+1g+H+XV4TSj2ksbHS9Y0y1ieCQQ20QuWQg/ebjuz7+WKYdc0yz+MGvdmbFLuzSPbdQtbkx5/qA/fHTFV1zjAm7cqkq3h844/8Au4Y0KC9HaG0kuf4ieSM3N7E4PHovJoV9qyn4/SwvUxvj/mFSdh7/AEi+1maa4hsbS73g2kKxldnl4WJ5PtWn2iw6hq3aa0sLWwlkaKL7tlGQ4Y5z6DBHnRNzXxK9QK+oLv4wPPUAul4ftGtUvmia47+AMYhhfwjH6Yq39ow1VbmxTU3tGAEndfDg/hyOuar20WoL9pdnFqbIbwXMQkKDj8IwPoMUwdqbKbtd20h06yA7uzj2zTYyqknJz+nFLAypxLruK76icYCk5/8AEbOzY11ILdb5rH4NbcBBAG3k4GM56cUudtI+zsHaiK71e5vxNJGjCO3XwlRwOeoo72U7RzX2oXeiahaC2v7TwlY87HA4yPT/AEpE+0q9tr3tRAbe5ilWGII5Rs7WDHIPuKsOQKhiZWkrdtcQeAQeR9SeSLsrp631zpmurPd3cTQoty5AiD9STjJ4rSz/AIToXZi/t7DtDYS31yuJQwYqy4xtHHB5PNW31rT9IvdWljk0+9smiWSzTws6ykcqOM4BzQO8ljPYgJc3lhNfPcq0aRBe8jTnIJHWlEiaCIzkBicEj/7rxHD7OdFfTtLu7l7mCdLllCNA+4YUefoeelOtudkq5PQc0qdgLvTE7L21pBcw/FBGmmjB8Q56mjGi6/p2t/EmykaVoWCuGXac+RHtxVqoqFE8/wCorbZe7kdQtKVeRmHDZGa0uMkqAfLmo2/xGxnpXsjZ5/EoHkORTZmwPcKEnYbiPY1lWXiWZt4YMD8qyhzDxFrS1VNRllxhmKA1K8u6SYvkAuSrdcfOq9sNsWozg+JJEQfWqy3Di/RDyJsbuaqGNEuoe6ukkBAIbnnqDVnWbG11m2SG7iEsYIJXJHI6dKhu7dApIGCDxit4ZXKbWO7pzUgyclTkGDZey2jS20MUlijRQgiMFj4Qxya8g7K6CpWJtMjZhyu5j4vUHmjA5yvlitXQSJtJIxyCOorisNdRYDkMZ5puh6Np05uLCyjhlK7Sy9QD1Fb6n2b0fVpvib60WabaEDbiMAeVYCe4juMnfnnHQ1fUd5ArglcrnFSOsGAbH3bt3MAwdiezeD/4ePpIwqQ9hez25W+APp/iN/rRG1kJZxjoavoxaIk+TAVIURn6q/rcYP0bs3pmi3Es1jbmKSSLaxLk8Zz51bSwtLeae6SMC4uZAZZG5Y9OM+Q46VdgAaaZSOBH/cVBcErDgdNwP60YAiWtcnLHmErk/wDi8oJxk9fpWLIQjqRWl2268eQjlgahL/7vnB4PrRmJHEp2vZ7TLHWX1S3tRHcSKVfH4eTkkDyNZqXZ3S9W1CG9vIXeeAARsHIxg56fOikTCTAIPIz1rbAzQbFjhqLSdwbkcSCWwtLi1ntjBGIpwVkEahd2fXFULHsnoenwNFBp1u2TkmVd56dMmjklusao6k881UeMrJkMQRzXFVE5dRYAQGMraT2b0nS9TkvbOyWK4lzlgScA9cDyHyqxHYW3xq3xgVrtI+6WYjLBc5wPzqeFz8UE/wAhOa8tiWhUk80QUY4kNbYzZJzMu7K3v+6+IiWQRSd4it0DY4J9TUtpZwWUKw28QRMkn1JPUk+ZNawuXGD/AFCrkQ7w+hqQIos2MZlFNJ086qdSFrGL0ptM2PER/r71eIBznBHQj286gkcqM58s1vE5a23nrgVIIklmOMnqaR6XZw6c1jFCsVsy7SkfgwD1xivbDT7TTrBILS2igiBI2Rrgf9a9kmKGRMZymQc9OalgkZ7dh024YfOoyMziz45PEpfwSwj1SXVY7dPjZwEeXzI/6459avKp+Hl8ycnrWGYJcJEUBD556YwK1unNramReSXVDn0JA/vU8CQSz4yZSfSbKO+fUEto/inUK8u3xED/ALxUOr6Dp2t/7vqNsJUj8aHJBU9ODRG+LQidlP8AhkEAj3rW6bxM2MEkj9aW22NV3Uhs8iAdJ0HT9G01lsLYRh2diSSSeSBRqykUWCE5BGQBVa2bfYxsR/ID+ZNbxM2CM8B2/Q1y4nWuznLHJml/oenatbRxalbCZEJcDcRhiMH9KsWOl2uj6cLOyi7qBMsqg5wTyaljcygZ6MrZr2GZpLVt3JQkZ9aMAZzBNj7dhPE11TTrXWLSSyvU7yByCy5xkjkc1PaW1tp9nFa2sKxQou1UQYAFRvKyqPdF/att5CRe6ZruM5kFzt2Z4lobd3tjB/Kgdl2Q0PTL9b2zshHOucOGJxkYNE4pGYZqTJ2qc9TiuwDOS11yFPcl2ePcBg1U1XSrLVoora/tkniU7lVicA+tWwCZTyeBW7rhojz0NScSFJQ5BwZTstOttPto7WyiWGBM7EXoPOrqqfUiooG3kA+fvViMZYD1qRgdTizMckwVqWgaVq80UmoWUU8kakIWHQZzW2oaPYajZpb3lpFNDHgojDhTjH7URJ+8x86zOSUI4wDQ/GF7tnA3dQH/ALEdmw5xpFt+EAcGtH7B9mnPi0iDA68n/WjzE9wjZ5zWCQsjE/0E0OE+o39TeP5zFmT7PuzOONJiB6cMaMnTbY3EVwYEaWBTHETzsHt78VeaXkjFbMBjz5NSCo8SGvtfG5iYtDsfoK3ct0NMt2mkkLlnGfEevFGEhaHasS7FVTtVRgD6VdMKsCwyME1Ex2yovXOf2qeBzIex34Y5gBuzOhy6rHqH8PijvFOdyjAJ9SOmaLbMOwOemPepJduEyoOa9PgkUZzlS2TUZAnM9jgZOcdQO/ZvSZNU/ijWUZvd+/vSTkN0qSFLayMsdvbBdrZYJty/mT7/AFoip8Ww5wOajdI9zSd2u7rnA5qQQOZxssYYJlOIQLO9wLXupnUb5MDcxUcAn1qjNp+lGUyTaFDuLEs7xoCSec0ZhMctmztEvhcjoPI9al7mKcSrJGrBQDyAakbTIDupyDF06TobDI0W0D/yx90mWrR9I0YA50G1VweQUTj08/OmFbeDvP8ACUFR4SAMivHhhDljGpJbqQK7av1C9+3/AFH+sG2WkaXanvrWwgt3dcEogBI8wa007QdN0fvjYWwgMx3OATz7c0SLBTJHjiM5X61WN3mMApz1zn/pUZEg2WEYJ7npXx8nPFRkgeIcYNTIyh87eAOmaoQ3AYuCnn6/9KncIG0zaW3hlcs8SlvX1rKga8AYgRdP81ZXbhOwZ//Z"/>
          <p:cNvSpPr>
            <a:spLocks noChangeAspect="1" noChangeArrowheads="1"/>
          </p:cNvSpPr>
          <p:nvPr/>
        </p:nvSpPr>
        <p:spPr bwMode="auto">
          <a:xfrm>
            <a:off x="196850"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054" name="Picture 6" descr="https://timgsa.baidu.com/timg?image&amp;quality=80&amp;size=b9999_10000&amp;sec=1604571911529&amp;di=fd35bd33c449c0a73c0a8d819fac5e6a&amp;imgtype=0&amp;src=http%3A%2F%2Fp3.pstatp.com%2Flarge%2Fpgc-image%2F15297178849553892f7ee44"/>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652120" y="150091"/>
            <a:ext cx="3905250" cy="2733676"/>
          </a:xfrm>
          <a:prstGeom prst="rect">
            <a:avLst/>
          </a:prstGeom>
          <a:noFill/>
          <a:extLst>
            <a:ext uri="{909E8E84-426E-40DD-AFC4-6F175D3DCCD1}">
              <a14:hiddenFill xmlns="" xmlns:a14="http://schemas.microsoft.com/office/drawing/2010/main">
                <a:solidFill>
                  <a:srgbClr val="FFFFFF"/>
                </a:solidFill>
              </a14:hiddenFill>
            </a:ext>
          </a:extLst>
        </p:spPr>
      </p:pic>
      <p:pic>
        <p:nvPicPr>
          <p:cNvPr id="2058" name="Picture 10" descr="https://ss3.bdstatic.com/70cFv8Sh_Q1YnxGkpoWK1HF6hhy/it/u=1650133011,2686064122&amp;fm=26&amp;gp=0.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004048" y="4293096"/>
            <a:ext cx="4371975" cy="2714626"/>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矩形 9"/>
          <p:cNvSpPr/>
          <p:nvPr/>
        </p:nvSpPr>
        <p:spPr>
          <a:xfrm>
            <a:off x="971599" y="1700808"/>
            <a:ext cx="3791423" cy="544765"/>
          </a:xfrm>
          <a:prstGeom prst="rect">
            <a:avLst/>
          </a:prstGeom>
          <a:solidFill>
            <a:schemeClr val="accent6">
              <a:lumMod val="20000"/>
              <a:lumOff val="80000"/>
            </a:schemeClr>
          </a:solidFill>
        </p:spPr>
        <p:txBody>
          <a:bodyPr wrap="none">
            <a:spAutoFit/>
          </a:bodyPr>
          <a:lstStyle/>
          <a:p>
            <a:pPr lvl="0">
              <a:lnSpc>
                <a:spcPct val="105000"/>
              </a:lnSpc>
              <a:spcBef>
                <a:spcPct val="50000"/>
              </a:spcBef>
              <a:buClr>
                <a:srgbClr val="477AB1"/>
              </a:buClr>
              <a:buSzPct val="50000"/>
            </a:pPr>
            <a:r>
              <a:rPr lang="zh-CN" altLang="en-US" sz="2800" b="1" dirty="0" smtClean="0">
                <a:solidFill>
                  <a:srgbClr val="0000FF"/>
                </a:solidFill>
                <a:latin typeface="Times New Roman" panose="02020603050405020304" pitchFamily="18" charset="0"/>
                <a:ea typeface="黑体" panose="02010609060101010101" pitchFamily="2" charset="-122"/>
              </a:rPr>
              <a:t>统一战线中的两</a:t>
            </a:r>
            <a:r>
              <a:rPr lang="zh-CN" altLang="en-US" sz="2800" b="1" dirty="0">
                <a:solidFill>
                  <a:srgbClr val="0000FF"/>
                </a:solidFill>
                <a:latin typeface="Times New Roman" panose="02020603050405020304" pitchFamily="18" charset="0"/>
                <a:ea typeface="黑体" panose="02010609060101010101" pitchFamily="2" charset="-122"/>
              </a:rPr>
              <a:t>个</a:t>
            </a:r>
            <a:r>
              <a:rPr lang="zh-CN" altLang="en-US" sz="2800" b="1" dirty="0" smtClean="0">
                <a:solidFill>
                  <a:srgbClr val="0000FF"/>
                </a:solidFill>
                <a:latin typeface="Times New Roman" panose="02020603050405020304" pitchFamily="18" charset="0"/>
                <a:ea typeface="黑体" panose="02010609060101010101" pitchFamily="2" charset="-122"/>
              </a:rPr>
              <a:t>联盟</a:t>
            </a:r>
            <a:endParaRPr lang="zh-CN" altLang="en-US" sz="2800" b="1" dirty="0">
              <a:solidFill>
                <a:srgbClr val="0000FF"/>
              </a:solidFill>
              <a:latin typeface="Times New Roman" panose="02020603050405020304" pitchFamily="18" charset="0"/>
              <a:ea typeface="黑体" panose="02010609060101010101" pitchFamily="2" charset="-122"/>
            </a:endParaRPr>
          </a:p>
        </p:txBody>
      </p:sp>
    </p:spTree>
  </p:cSld>
  <p:clrMapOvr>
    <a:masterClrMapping/>
  </p:clrMapOvr>
  <p:transition>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p:cNvSpPr>
          <p:nvPr>
            <p:ph idx="4294967295"/>
          </p:nvPr>
        </p:nvSpPr>
        <p:spPr>
          <a:xfrm>
            <a:off x="827584" y="1988840"/>
            <a:ext cx="7273925" cy="3506088"/>
          </a:xfrm>
          <a:prstGeom prst="rect">
            <a:avLst/>
          </a:prstGeom>
          <a:solidFill>
            <a:schemeClr val="bg1"/>
          </a:solidFill>
          <a:ln w="12700">
            <a:solidFill>
              <a:srgbClr val="FF0000"/>
            </a:solidFill>
            <a:miter/>
          </a:ln>
        </p:spPr>
        <p:txBody>
          <a:bodyPr anchor="t">
            <a:spAutoFit/>
          </a:bodyPr>
          <a:lstStyle/>
          <a:p>
            <a:pPr marL="0" indent="0">
              <a:lnSpc>
                <a:spcPct val="105000"/>
              </a:lnSpc>
              <a:spcBef>
                <a:spcPct val="50000"/>
              </a:spcBef>
              <a:buNone/>
            </a:pPr>
            <a:r>
              <a:rPr lang="en-US" altLang="zh-CN" sz="2800" dirty="0">
                <a:solidFill>
                  <a:srgbClr val="0000FF"/>
                </a:solidFill>
                <a:latin typeface="Times New Roman" panose="02020603050405020304" pitchFamily="18" charset="0"/>
                <a:ea typeface="华文新魏" panose="02010800040101010101" pitchFamily="2" charset="-122"/>
              </a:rPr>
              <a:t>    </a:t>
            </a:r>
            <a:r>
              <a:rPr lang="en-US" altLang="zh-CN" dirty="0">
                <a:solidFill>
                  <a:srgbClr val="0000FF"/>
                </a:solidFill>
                <a:latin typeface="+mj-ea"/>
                <a:ea typeface="+mj-ea"/>
              </a:rPr>
              <a:t>	</a:t>
            </a:r>
            <a:r>
              <a:rPr lang="zh-CN" altLang="en-US" sz="2800" b="1" dirty="0" smtClean="0">
                <a:solidFill>
                  <a:srgbClr val="0000FF"/>
                </a:solidFill>
                <a:latin typeface="Times New Roman" panose="02020603050405020304" pitchFamily="18" charset="0"/>
                <a:ea typeface="黑体" panose="02010609060101010101" pitchFamily="2" charset="-122"/>
              </a:rPr>
              <a:t>第一</a:t>
            </a:r>
            <a:r>
              <a:rPr lang="zh-CN" altLang="en-US" sz="2800" b="1" dirty="0">
                <a:solidFill>
                  <a:srgbClr val="0000FF"/>
                </a:solidFill>
                <a:latin typeface="Times New Roman" panose="02020603050405020304" pitchFamily="18" charset="0"/>
                <a:ea typeface="黑体" panose="02010609060101010101" pitchFamily="2" charset="-122"/>
              </a:rPr>
              <a:t>个联盟是统一战线的基础，只有巩固工农联盟，争取农民、知识分子和其他劳动人民，才能实现对统一战线的领导权</a:t>
            </a:r>
            <a:r>
              <a:rPr lang="zh-CN" altLang="en-US" sz="2800" b="1" dirty="0" smtClean="0">
                <a:solidFill>
                  <a:srgbClr val="0000FF"/>
                </a:solidFill>
                <a:latin typeface="Times New Roman" panose="02020603050405020304" pitchFamily="18" charset="0"/>
                <a:ea typeface="黑体" panose="02010609060101010101" pitchFamily="2" charset="-122"/>
              </a:rPr>
              <a:t>。</a:t>
            </a:r>
            <a:endParaRPr lang="en-US" altLang="zh-CN" sz="2800" b="1" dirty="0" smtClean="0">
              <a:solidFill>
                <a:srgbClr val="0000FF"/>
              </a:solidFill>
              <a:latin typeface="Times New Roman" panose="02020603050405020304" pitchFamily="18" charset="0"/>
              <a:ea typeface="黑体" panose="02010609060101010101" pitchFamily="2" charset="-122"/>
            </a:endParaRPr>
          </a:p>
          <a:p>
            <a:pPr marL="0" indent="0">
              <a:lnSpc>
                <a:spcPct val="105000"/>
              </a:lnSpc>
              <a:spcBef>
                <a:spcPct val="50000"/>
              </a:spcBef>
              <a:buNone/>
            </a:pPr>
            <a:r>
              <a:rPr lang="en-US" altLang="zh-CN" sz="2800" b="1" dirty="0">
                <a:solidFill>
                  <a:srgbClr val="0000FF"/>
                </a:solidFill>
                <a:latin typeface="Times New Roman" panose="02020603050405020304" pitchFamily="18" charset="0"/>
                <a:ea typeface="黑体" panose="02010609060101010101" pitchFamily="2" charset="-122"/>
              </a:rPr>
              <a:t> </a:t>
            </a:r>
            <a:r>
              <a:rPr lang="en-US" altLang="zh-CN" sz="2800" b="1" dirty="0" smtClean="0">
                <a:solidFill>
                  <a:srgbClr val="0000FF"/>
                </a:solidFill>
                <a:latin typeface="Times New Roman" panose="02020603050405020304" pitchFamily="18" charset="0"/>
                <a:ea typeface="黑体" panose="02010609060101010101" pitchFamily="2" charset="-122"/>
              </a:rPr>
              <a:t>       </a:t>
            </a:r>
            <a:r>
              <a:rPr lang="zh-CN" altLang="en-US" sz="2800" b="1" dirty="0" smtClean="0">
                <a:solidFill>
                  <a:srgbClr val="0000FF"/>
                </a:solidFill>
                <a:latin typeface="Times New Roman" panose="02020603050405020304" pitchFamily="18" charset="0"/>
                <a:ea typeface="黑体" panose="02010609060101010101" pitchFamily="2" charset="-122"/>
              </a:rPr>
              <a:t>只有</a:t>
            </a:r>
            <a:r>
              <a:rPr lang="zh-CN" altLang="en-US" sz="2800" b="1" dirty="0">
                <a:solidFill>
                  <a:srgbClr val="0000FF"/>
                </a:solidFill>
                <a:latin typeface="Times New Roman" panose="02020603050405020304" pitchFamily="18" charset="0"/>
                <a:ea typeface="黑体" panose="02010609060101010101" pitchFamily="2" charset="-122"/>
              </a:rPr>
              <a:t>建立第二个联盟，联合一切可以联合的力量，壮大自己，无产阶级及其政党才能掌握中国革命的全部领导权，中国革命胜利才有保障。</a:t>
            </a:r>
          </a:p>
        </p:txBody>
      </p:sp>
      <p:sp>
        <p:nvSpPr>
          <p:cNvPr id="2" name="矩形 1"/>
          <p:cNvSpPr/>
          <p:nvPr/>
        </p:nvSpPr>
        <p:spPr>
          <a:xfrm>
            <a:off x="971600" y="692696"/>
            <a:ext cx="4512774" cy="544765"/>
          </a:xfrm>
          <a:prstGeom prst="rect">
            <a:avLst/>
          </a:prstGeom>
          <a:solidFill>
            <a:schemeClr val="bg2"/>
          </a:solidFill>
          <a:ln>
            <a:solidFill>
              <a:schemeClr val="accent1"/>
            </a:solidFill>
          </a:ln>
        </p:spPr>
        <p:txBody>
          <a:bodyPr wrap="none">
            <a:spAutoFit/>
          </a:bodyPr>
          <a:lstStyle/>
          <a:p>
            <a:pPr lvl="0">
              <a:lnSpc>
                <a:spcPct val="105000"/>
              </a:lnSpc>
              <a:spcBef>
                <a:spcPct val="50000"/>
              </a:spcBef>
              <a:buClr>
                <a:srgbClr val="477AB1"/>
              </a:buClr>
              <a:buSzPct val="50000"/>
            </a:pPr>
            <a:r>
              <a:rPr lang="zh-CN" altLang="en-US" sz="2800" b="1" dirty="0">
                <a:solidFill>
                  <a:srgbClr val="0000FF"/>
                </a:solidFill>
                <a:latin typeface="Times New Roman" panose="02020603050405020304" pitchFamily="18" charset="0"/>
                <a:ea typeface="黑体" panose="02010609060101010101" pitchFamily="2" charset="-122"/>
              </a:rPr>
              <a:t>正确两个联盟之间的关系：</a:t>
            </a:r>
          </a:p>
        </p:txBody>
      </p:sp>
    </p:spTree>
  </p:cSld>
  <p:clrMapOvr>
    <a:masterClrMapping/>
  </p:clrMapOvr>
  <p:transition>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p:cNvSpPr>
          <p:nvPr>
            <p:ph idx="4294967295"/>
          </p:nvPr>
        </p:nvSpPr>
        <p:spPr>
          <a:xfrm>
            <a:off x="323528" y="3573016"/>
            <a:ext cx="5472608" cy="2031325"/>
          </a:xfrm>
          <a:prstGeom prst="rect">
            <a:avLst/>
          </a:prstGeom>
          <a:solidFill>
            <a:schemeClr val="bg1"/>
          </a:solidFill>
          <a:ln w="12700">
            <a:solidFill>
              <a:srgbClr val="FF0000"/>
            </a:solidFill>
            <a:miter/>
          </a:ln>
        </p:spPr>
        <p:txBody>
          <a:bodyPr wrap="square" anchor="t">
            <a:spAutoFit/>
          </a:bodyPr>
          <a:lstStyle/>
          <a:p>
            <a:pPr marL="0" indent="0">
              <a:lnSpc>
                <a:spcPct val="150000"/>
              </a:lnSpc>
              <a:spcBef>
                <a:spcPct val="50000"/>
              </a:spcBef>
              <a:buNone/>
            </a:pPr>
            <a:r>
              <a:rPr lang="en-US" altLang="zh-CN" sz="2800" b="1" dirty="0" smtClean="0">
                <a:solidFill>
                  <a:srgbClr val="0000FF"/>
                </a:solidFill>
                <a:latin typeface="Times New Roman" panose="02020603050405020304" pitchFamily="18" charset="0"/>
                <a:ea typeface="黑体" panose="02010609060101010101" pitchFamily="2" charset="-122"/>
              </a:rPr>
              <a:t>       </a:t>
            </a:r>
            <a:r>
              <a:rPr lang="zh-CN" altLang="en-US" sz="2800" b="1" dirty="0" smtClean="0">
                <a:solidFill>
                  <a:srgbClr val="0000FF"/>
                </a:solidFill>
                <a:latin typeface="Times New Roman" panose="02020603050405020304" pitchFamily="18" charset="0"/>
                <a:ea typeface="黑体" panose="02010609060101010101" pitchFamily="2" charset="-122"/>
              </a:rPr>
              <a:t>对资产阶级实行又联合又斗争的政策，以斗争求团结。斗争是手段，团结是目的。 </a:t>
            </a:r>
            <a:endParaRPr lang="zh-CN" altLang="en-US" sz="2800" b="1" dirty="0">
              <a:solidFill>
                <a:srgbClr val="0000FF"/>
              </a:solidFill>
              <a:latin typeface="Times New Roman" panose="02020603050405020304" pitchFamily="18" charset="0"/>
              <a:ea typeface="黑体" panose="02010609060101010101" pitchFamily="2" charset="-122"/>
            </a:endParaRPr>
          </a:p>
        </p:txBody>
      </p:sp>
      <p:sp>
        <p:nvSpPr>
          <p:cNvPr id="3" name="矩形 2"/>
          <p:cNvSpPr/>
          <p:nvPr/>
        </p:nvSpPr>
        <p:spPr>
          <a:xfrm>
            <a:off x="611560" y="764704"/>
            <a:ext cx="4586512" cy="646331"/>
          </a:xfrm>
          <a:prstGeom prst="rect">
            <a:avLst/>
          </a:prstGeom>
          <a:solidFill>
            <a:schemeClr val="accent6">
              <a:lumMod val="20000"/>
              <a:lumOff val="80000"/>
            </a:schemeClr>
          </a:solidFill>
          <a:ln>
            <a:solidFill>
              <a:schemeClr val="accent1"/>
            </a:solidFill>
          </a:ln>
        </p:spPr>
        <p:txBody>
          <a:bodyPr wrap="none">
            <a:spAutoFit/>
          </a:bodyPr>
          <a:lstStyle/>
          <a:p>
            <a:r>
              <a:rPr lang="en-US" altLang="zh-CN" sz="3600" b="1" dirty="0" smtClean="0">
                <a:solidFill>
                  <a:srgbClr val="FF0000"/>
                </a:solidFill>
                <a:latin typeface="+mj-ea"/>
                <a:ea typeface="+mj-ea"/>
              </a:rPr>
              <a:t> </a:t>
            </a:r>
            <a:r>
              <a:rPr lang="zh-CN" altLang="en-US" sz="3600" b="1" dirty="0" smtClean="0">
                <a:solidFill>
                  <a:srgbClr val="FF0000"/>
                </a:solidFill>
                <a:latin typeface="+mj-ea"/>
                <a:ea typeface="+mj-ea"/>
              </a:rPr>
              <a:t>统一战线的主要经验</a:t>
            </a:r>
            <a:endParaRPr lang="zh-CN" altLang="en-US" sz="3600" dirty="0">
              <a:solidFill>
                <a:srgbClr val="FF0000"/>
              </a:solidFill>
              <a:latin typeface="+mj-ea"/>
              <a:ea typeface="+mj-ea"/>
            </a:endParaRPr>
          </a:p>
        </p:txBody>
      </p:sp>
      <p:sp>
        <p:nvSpPr>
          <p:cNvPr id="4" name="Rectangle 2"/>
          <p:cNvSpPr txBox="1">
            <a:spLocks/>
          </p:cNvSpPr>
          <p:nvPr/>
        </p:nvSpPr>
        <p:spPr>
          <a:xfrm>
            <a:off x="293815" y="1826365"/>
            <a:ext cx="5574329" cy="738664"/>
          </a:xfrm>
          <a:prstGeom prst="rect">
            <a:avLst/>
          </a:prstGeom>
          <a:solidFill>
            <a:schemeClr val="bg2"/>
          </a:solidFill>
          <a:ln w="12700">
            <a:solidFill>
              <a:srgbClr val="FF00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50000"/>
              </a:lnSpc>
              <a:spcBef>
                <a:spcPct val="50000"/>
              </a:spcBef>
              <a:buFont typeface="Wingdings 2"/>
              <a:buNone/>
            </a:pPr>
            <a:r>
              <a:rPr lang="zh-CN" altLang="en-US" sz="2800" b="1" dirty="0" smtClean="0">
                <a:solidFill>
                  <a:srgbClr val="0000FF"/>
                </a:solidFill>
                <a:latin typeface="Times New Roman" panose="02020603050405020304" pitchFamily="18" charset="0"/>
                <a:ea typeface="黑体" panose="02010609060101010101" pitchFamily="2" charset="-122"/>
              </a:rPr>
              <a:t>第一，要建立巩固的工农联盟。</a:t>
            </a:r>
            <a:endParaRPr lang="en-US" altLang="zh-CN" sz="2800" b="1" dirty="0" smtClean="0">
              <a:solidFill>
                <a:srgbClr val="0000FF"/>
              </a:solidFill>
              <a:latin typeface="Times New Roman" panose="02020603050405020304" pitchFamily="18" charset="0"/>
              <a:ea typeface="黑体" panose="02010609060101010101" pitchFamily="2" charset="-122"/>
            </a:endParaRPr>
          </a:p>
        </p:txBody>
      </p:sp>
      <p:pic>
        <p:nvPicPr>
          <p:cNvPr id="3074" name="Picture 2" descr="https://timgsa.baidu.com/timg?image&amp;quality=80&amp;size=b9999_10000&amp;sec=1604572611120&amp;di=0169d41c560ecd1670f1ccc8c3037e42&amp;imgtype=0&amp;src=http%3A%2F%2Fimg2.tbcdn.cn%2Ftfscom%2Fi3%2F168700550%2FTB2_5dkXm2eFuJjy0FiXXXJvFXa_%2521%2521168700550.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580112" y="2195697"/>
            <a:ext cx="3638550" cy="2714626"/>
          </a:xfrm>
          <a:prstGeom prst="rect">
            <a:avLst/>
          </a:prstGeom>
          <a:noFill/>
          <a:extLst>
            <a:ext uri="{909E8E84-426E-40DD-AFC4-6F175D3DCCD1}">
              <a14:hiddenFill xmlns="" xmlns:a14="http://schemas.microsoft.com/office/drawing/2010/main">
                <a:solidFill>
                  <a:srgbClr val="FFFFFF"/>
                </a:solidFill>
              </a14:hiddenFill>
            </a:ext>
          </a:extLst>
        </p:spPr>
      </p:pic>
      <p:sp>
        <p:nvSpPr>
          <p:cNvPr id="2" name="矩形 1"/>
          <p:cNvSpPr/>
          <p:nvPr/>
        </p:nvSpPr>
        <p:spPr>
          <a:xfrm>
            <a:off x="293813" y="2630368"/>
            <a:ext cx="5286297" cy="523220"/>
          </a:xfrm>
          <a:prstGeom prst="rect">
            <a:avLst/>
          </a:prstGeom>
          <a:solidFill>
            <a:schemeClr val="bg2"/>
          </a:solidFill>
          <a:ln>
            <a:solidFill>
              <a:schemeClr val="accent1"/>
            </a:solidFill>
          </a:ln>
        </p:spPr>
        <p:txBody>
          <a:bodyPr wrap="square">
            <a:spAutoFit/>
          </a:bodyPr>
          <a:lstStyle/>
          <a:p>
            <a:r>
              <a:rPr lang="zh-CN" altLang="en-US" sz="2800" b="1" dirty="0">
                <a:solidFill>
                  <a:srgbClr val="0000FF"/>
                </a:solidFill>
                <a:latin typeface="Times New Roman" panose="02020603050405020304" pitchFamily="18" charset="0"/>
                <a:ea typeface="黑体" panose="02010609060101010101" pitchFamily="2" charset="-122"/>
              </a:rPr>
              <a:t>第二，正确对待民族资产阶级</a:t>
            </a:r>
            <a:endParaRPr lang="zh-CN" altLang="en-US" dirty="0"/>
          </a:p>
        </p:txBody>
      </p:sp>
    </p:spTree>
  </p:cSld>
  <p:clrMapOvr>
    <a:masterClrMapping/>
  </p:clrMapOvr>
  <p:transition>
    <p:wipe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p:cNvSpPr>
          <p:nvPr>
            <p:ph idx="4294967295"/>
          </p:nvPr>
        </p:nvSpPr>
        <p:spPr>
          <a:xfrm>
            <a:off x="323528" y="2204864"/>
            <a:ext cx="4464496" cy="1880515"/>
          </a:xfrm>
          <a:prstGeom prst="rect">
            <a:avLst/>
          </a:prstGeom>
          <a:solidFill>
            <a:schemeClr val="bg1"/>
          </a:solidFill>
          <a:ln w="12700">
            <a:solidFill>
              <a:srgbClr val="FF0000"/>
            </a:solidFill>
            <a:miter/>
          </a:ln>
        </p:spPr>
        <p:txBody>
          <a:bodyPr wrap="square" anchor="t">
            <a:spAutoFit/>
          </a:bodyPr>
          <a:lstStyle/>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发展</a:t>
            </a:r>
            <a:r>
              <a:rPr lang="zh-CN" altLang="en-US" sz="2800" b="1" dirty="0">
                <a:solidFill>
                  <a:srgbClr val="0000FF"/>
                </a:solidFill>
                <a:latin typeface="Times New Roman" panose="02020603050405020304" pitchFamily="18" charset="0"/>
                <a:ea typeface="黑体" panose="02010609060101010101" pitchFamily="2" charset="-122"/>
              </a:rPr>
              <a:t>进步势力</a:t>
            </a:r>
          </a:p>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争取</a:t>
            </a:r>
            <a:r>
              <a:rPr lang="zh-CN" altLang="en-US" sz="2800" b="1" dirty="0">
                <a:solidFill>
                  <a:srgbClr val="0000FF"/>
                </a:solidFill>
                <a:latin typeface="Times New Roman" panose="02020603050405020304" pitchFamily="18" charset="0"/>
                <a:ea typeface="黑体" panose="02010609060101010101" pitchFamily="2" charset="-122"/>
              </a:rPr>
              <a:t>中间</a:t>
            </a:r>
            <a:r>
              <a:rPr lang="zh-CN" altLang="en-US" sz="2800" b="1" dirty="0" smtClean="0">
                <a:solidFill>
                  <a:srgbClr val="0000FF"/>
                </a:solidFill>
                <a:latin typeface="Times New Roman" panose="02020603050405020304" pitchFamily="18" charset="0"/>
                <a:ea typeface="黑体" panose="02010609060101010101" pitchFamily="2" charset="-122"/>
              </a:rPr>
              <a:t>势力</a:t>
            </a:r>
            <a:endParaRPr lang="en-US" altLang="zh-CN" sz="2800" b="1" dirty="0" smtClean="0">
              <a:solidFill>
                <a:srgbClr val="0000FF"/>
              </a:solidFill>
              <a:latin typeface="Times New Roman" panose="02020603050405020304" pitchFamily="18" charset="0"/>
              <a:ea typeface="黑体" panose="02010609060101010101" pitchFamily="2" charset="-122"/>
            </a:endParaRPr>
          </a:p>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孤立</a:t>
            </a:r>
            <a:r>
              <a:rPr lang="zh-CN" altLang="en-US" sz="2800" b="1" dirty="0">
                <a:solidFill>
                  <a:srgbClr val="0000FF"/>
                </a:solidFill>
                <a:latin typeface="Times New Roman" panose="02020603050405020304" pitchFamily="18" charset="0"/>
                <a:ea typeface="黑体" panose="02010609060101010101" pitchFamily="2" charset="-122"/>
              </a:rPr>
              <a:t>顽固</a:t>
            </a:r>
            <a:r>
              <a:rPr lang="zh-CN" altLang="en-US" sz="2800" b="1" dirty="0" smtClean="0">
                <a:solidFill>
                  <a:srgbClr val="0000FF"/>
                </a:solidFill>
                <a:latin typeface="Times New Roman" panose="02020603050405020304" pitchFamily="18" charset="0"/>
                <a:ea typeface="黑体" panose="02010609060101010101" pitchFamily="2" charset="-122"/>
              </a:rPr>
              <a:t>势力        </a:t>
            </a:r>
            <a:endParaRPr lang="zh-CN" altLang="en-US" sz="2800" b="1" dirty="0">
              <a:solidFill>
                <a:srgbClr val="0000FF"/>
              </a:solidFill>
              <a:latin typeface="Times New Roman" panose="02020603050405020304" pitchFamily="18" charset="0"/>
              <a:ea typeface="黑体" panose="02010609060101010101" pitchFamily="2" charset="-122"/>
            </a:endParaRPr>
          </a:p>
        </p:txBody>
      </p:sp>
      <p:sp>
        <p:nvSpPr>
          <p:cNvPr id="2" name="矩形 1"/>
          <p:cNvSpPr/>
          <p:nvPr/>
        </p:nvSpPr>
        <p:spPr>
          <a:xfrm>
            <a:off x="251520" y="764704"/>
            <a:ext cx="4572000" cy="954107"/>
          </a:xfrm>
          <a:prstGeom prst="rect">
            <a:avLst/>
          </a:prstGeom>
          <a:solidFill>
            <a:schemeClr val="bg2"/>
          </a:solidFill>
          <a:ln>
            <a:solidFill>
              <a:schemeClr val="accent1"/>
            </a:solidFill>
          </a:ln>
        </p:spPr>
        <p:txBody>
          <a:bodyPr>
            <a:spAutoFit/>
          </a:bodyPr>
          <a:lstStyle/>
          <a:p>
            <a:r>
              <a:rPr lang="en-US" altLang="zh-CN" sz="2800" dirty="0">
                <a:solidFill>
                  <a:srgbClr val="0000FF"/>
                </a:solidFill>
                <a:latin typeface="Times New Roman" panose="02020603050405020304" pitchFamily="18" charset="0"/>
                <a:ea typeface="华文新魏" panose="02010800040101010101" pitchFamily="2" charset="-122"/>
              </a:rPr>
              <a:t> </a:t>
            </a:r>
            <a:r>
              <a:rPr lang="zh-CN" altLang="en-US" sz="2800" b="1" dirty="0">
                <a:solidFill>
                  <a:srgbClr val="0000FF"/>
                </a:solidFill>
                <a:latin typeface="Times New Roman" panose="02020603050405020304" pitchFamily="18" charset="0"/>
                <a:ea typeface="黑体" panose="02010609060101010101" pitchFamily="2" charset="-122"/>
              </a:rPr>
              <a:t>第三，在统一战线中必须采取正确的策略方针。</a:t>
            </a:r>
            <a:endParaRPr lang="zh-CN" altLang="en-US" dirty="0"/>
          </a:p>
        </p:txBody>
      </p:sp>
      <p:pic>
        <p:nvPicPr>
          <p:cNvPr id="4098" name="Picture 2" descr="https://www.chinanews.com/news/2005/2005-07-14/26/_1121307802_2.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156176" y="2714626"/>
            <a:ext cx="2857500" cy="2066925"/>
          </a:xfrm>
          <a:prstGeom prst="rect">
            <a:avLst/>
          </a:prstGeom>
          <a:noFill/>
          <a:extLst>
            <a:ext uri="{909E8E84-426E-40DD-AFC4-6F175D3DCCD1}">
              <a14:hiddenFill xmlns="" xmlns:a14="http://schemas.microsoft.com/office/drawing/2010/main">
                <a:solidFill>
                  <a:srgbClr val="FFFFFF"/>
                </a:solidFill>
              </a14:hiddenFill>
            </a:ext>
          </a:extLst>
        </p:spPr>
      </p:pic>
      <p:pic>
        <p:nvPicPr>
          <p:cNvPr id="4100" name="Picture 4" descr="https://timgsa.baidu.com/timg?image&amp;quality=80&amp;size=b9999_10000&amp;sec=1604572871468&amp;di=ea1f9bbbfa7ad5db2ed7e1fead5caeea&amp;imgtype=0&amp;src=http%3A%2F%2Fh.hiphotos.baidu.com%2Fbaike%2Fs%253D600%253Bq%253D50%2Fsign%3D89ee617cb11c8701d2b6b1e61744ef12%2Fae51f3deb48f8c5433731ab738292df5e1fe7f82.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364088" y="0"/>
            <a:ext cx="3857625" cy="2714626"/>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2"/>
          <p:cNvSpPr txBox="1">
            <a:spLocks/>
          </p:cNvSpPr>
          <p:nvPr/>
        </p:nvSpPr>
        <p:spPr>
          <a:xfrm>
            <a:off x="323528" y="4509120"/>
            <a:ext cx="4608512" cy="1179297"/>
          </a:xfrm>
          <a:prstGeom prst="rect">
            <a:avLst/>
          </a:prstGeom>
          <a:solidFill>
            <a:schemeClr val="bg1"/>
          </a:solidFill>
          <a:ln w="12700">
            <a:solidFill>
              <a:srgbClr val="FF0000"/>
            </a:solidFill>
            <a:miter/>
          </a:ln>
        </p:spPr>
        <p:txBody>
          <a:bodyPr vert="horz" wrap="square" rtlCol="0" anchor="t">
            <a:spAutoFit/>
          </a:bodyPr>
          <a:lstStyle/>
          <a:p>
            <a:pPr marL="0" marR="0" lvl="0" indent="0" algn="l" defTabSz="914400" rtl="0" eaLnBrk="1" fontAlgn="auto" latinLnBrk="0" hangingPunct="1">
              <a:lnSpc>
                <a:spcPct val="105000"/>
              </a:lnSpc>
              <a:spcBef>
                <a:spcPct val="50000"/>
              </a:spcBef>
              <a:spcAft>
                <a:spcPts val="0"/>
              </a:spcAft>
              <a:buClr>
                <a:schemeClr val="accent1"/>
              </a:buClr>
              <a:buSzPct val="50000"/>
              <a:buFont typeface="Wingdings 2"/>
              <a:buNone/>
              <a:tabLst/>
              <a:defRPr/>
            </a:pP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2" charset="-122"/>
                <a:cs typeface="+mn-cs"/>
              </a:rPr>
              <a:t>与顽固派斗争的三原则：</a:t>
            </a:r>
            <a:endParaRPr kumimoji="0" lang="en-US" altLang="zh-CN"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2" charset="-122"/>
              <a:cs typeface="+mn-cs"/>
            </a:endParaRPr>
          </a:p>
          <a:p>
            <a:pPr marL="0" marR="0" lvl="0" indent="0" algn="l" defTabSz="914400" rtl="0" eaLnBrk="1" fontAlgn="auto" latinLnBrk="0" hangingPunct="1">
              <a:lnSpc>
                <a:spcPct val="105000"/>
              </a:lnSpc>
              <a:spcBef>
                <a:spcPct val="50000"/>
              </a:spcBef>
              <a:spcAft>
                <a:spcPts val="0"/>
              </a:spcAft>
              <a:buClr>
                <a:schemeClr val="accent1"/>
              </a:buClr>
              <a:buSzPct val="50000"/>
              <a:buFont typeface="Wingdings 2"/>
              <a:buNone/>
              <a:tabLst/>
              <a:defRPr/>
            </a:pP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2" charset="-122"/>
                <a:cs typeface="+mn-cs"/>
              </a:rPr>
              <a:t>有理、有利、有节   	</a:t>
            </a:r>
            <a:endPar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2" charset="-122"/>
              <a:cs typeface="+mn-cs"/>
            </a:endParaRPr>
          </a:p>
        </p:txBody>
      </p:sp>
    </p:spTree>
  </p:cSld>
  <p:clrMapOvr>
    <a:masterClrMapping/>
  </p:clrMapOvr>
  <p:transition>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p:cNvSpPr>
          <p:nvPr>
            <p:ph idx="4294967295"/>
          </p:nvPr>
        </p:nvSpPr>
        <p:spPr>
          <a:xfrm>
            <a:off x="1043608" y="1340768"/>
            <a:ext cx="6781800" cy="3140075"/>
          </a:xfrm>
          <a:prstGeom prst="rect">
            <a:avLst/>
          </a:prstGeom>
          <a:solidFill>
            <a:schemeClr val="bg2"/>
          </a:solidFill>
          <a:ln w="12700">
            <a:solidFill>
              <a:srgbClr val="FF0000"/>
            </a:solidFill>
            <a:miter/>
          </a:ln>
        </p:spPr>
        <p:txBody>
          <a:bodyPr anchor="t">
            <a:spAutoFit/>
          </a:bodyPr>
          <a:lstStyle/>
          <a:p>
            <a:pPr marL="0" indent="0">
              <a:lnSpc>
                <a:spcPct val="150000"/>
              </a:lnSpc>
              <a:spcBef>
                <a:spcPct val="50000"/>
              </a:spcBef>
              <a:buNone/>
            </a:pPr>
            <a:r>
              <a:rPr lang="en-US" altLang="zh-CN" sz="3600" dirty="0">
                <a:solidFill>
                  <a:srgbClr val="0000FF"/>
                </a:solidFill>
                <a:latin typeface="Times New Roman" panose="02020603050405020304" pitchFamily="18" charset="0"/>
                <a:ea typeface="华文新魏" panose="02010800040101010101" pitchFamily="2" charset="-122"/>
              </a:rPr>
              <a:t> </a:t>
            </a:r>
            <a:r>
              <a:rPr lang="en-US" altLang="zh-CN" sz="3600" dirty="0" smtClean="0">
                <a:solidFill>
                  <a:srgbClr val="0000FF"/>
                </a:solidFill>
                <a:latin typeface="Times New Roman" panose="02020603050405020304" pitchFamily="18" charset="0"/>
                <a:ea typeface="华文新魏" panose="02010800040101010101" pitchFamily="2" charset="-122"/>
              </a:rPr>
              <a:t>        </a:t>
            </a:r>
            <a:r>
              <a:rPr lang="zh-CN" altLang="en-US" b="1" dirty="0" smtClean="0">
                <a:solidFill>
                  <a:srgbClr val="0000FF"/>
                </a:solidFill>
                <a:latin typeface="Times New Roman" panose="02020603050405020304" pitchFamily="18" charset="0"/>
                <a:ea typeface="黑体" panose="02010609060101010101" pitchFamily="2" charset="-122"/>
              </a:rPr>
              <a:t>第四，</a:t>
            </a:r>
            <a:r>
              <a:rPr lang="zh-CN" altLang="en-US" b="1" dirty="0">
                <a:solidFill>
                  <a:srgbClr val="0000FF"/>
                </a:solidFill>
                <a:latin typeface="Times New Roman" panose="02020603050405020304" pitchFamily="18" charset="0"/>
                <a:ea typeface="黑体" panose="02010609060101010101" pitchFamily="2" charset="-122"/>
              </a:rPr>
              <a:t>必须坚持无产阶级及其政党在统一战线中的独立自主的原则，保持党在思想上、政治上、组织上的独立性。   </a:t>
            </a:r>
          </a:p>
        </p:txBody>
      </p:sp>
    </p:spTree>
  </p:cSld>
  <p:clrMapOvr>
    <a:masterClrMapping/>
  </p:clrMapOvr>
  <p:transition>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p:cNvSpPr>
          <p:nvPr>
            <p:ph idx="4294967295"/>
          </p:nvPr>
        </p:nvSpPr>
        <p:spPr>
          <a:xfrm>
            <a:off x="611560" y="1412776"/>
            <a:ext cx="8064896" cy="1126462"/>
          </a:xfrm>
          <a:prstGeom prst="rect">
            <a:avLst/>
          </a:prstGeom>
          <a:solidFill>
            <a:schemeClr val="bg1"/>
          </a:solidFill>
          <a:ln w="12700">
            <a:solidFill>
              <a:srgbClr val="FF0000"/>
            </a:solidFill>
            <a:miter/>
          </a:ln>
        </p:spPr>
        <p:txBody>
          <a:bodyPr wrap="square" anchor="t">
            <a:spAutoFit/>
          </a:bodyPr>
          <a:lstStyle/>
          <a:p>
            <a:pPr marL="0" indent="0">
              <a:lnSpc>
                <a:spcPct val="105000"/>
              </a:lnSpc>
              <a:spcBef>
                <a:spcPct val="50000"/>
              </a:spcBef>
              <a:buNone/>
            </a:pPr>
            <a:r>
              <a:rPr lang="zh-CN" altLang="en-US" b="1" dirty="0">
                <a:solidFill>
                  <a:srgbClr val="0000FF"/>
                </a:solidFill>
                <a:latin typeface="Times New Roman" panose="02020603050405020304" pitchFamily="18" charset="0"/>
                <a:ea typeface="黑体" panose="02010609060101010101" pitchFamily="2" charset="-122"/>
              </a:rPr>
              <a:t>　	 长期的武装斗争是中国革命进程的一个基本特点，是中国革命的一个主要法宝</a:t>
            </a:r>
            <a:r>
              <a:rPr lang="zh-CN" altLang="en-US" b="1" dirty="0" smtClean="0">
                <a:solidFill>
                  <a:srgbClr val="0000FF"/>
                </a:solidFill>
                <a:latin typeface="Times New Roman" panose="02020603050405020304" pitchFamily="18" charset="0"/>
                <a:ea typeface="黑体" panose="02010609060101010101" pitchFamily="2" charset="-122"/>
              </a:rPr>
              <a:t>。</a:t>
            </a:r>
            <a:endParaRPr lang="zh-CN" altLang="en-US" b="1" dirty="0">
              <a:solidFill>
                <a:srgbClr val="0000FF"/>
              </a:solidFill>
              <a:latin typeface="Times New Roman" panose="02020603050405020304" pitchFamily="18" charset="0"/>
              <a:ea typeface="黑体" panose="02010609060101010101" pitchFamily="2" charset="-122"/>
            </a:endParaRPr>
          </a:p>
        </p:txBody>
      </p:sp>
      <p:sp>
        <p:nvSpPr>
          <p:cNvPr id="2" name="矩形 1"/>
          <p:cNvSpPr/>
          <p:nvPr/>
        </p:nvSpPr>
        <p:spPr>
          <a:xfrm>
            <a:off x="899592" y="260648"/>
            <a:ext cx="3427541" cy="646331"/>
          </a:xfrm>
          <a:prstGeom prst="rect">
            <a:avLst/>
          </a:prstGeom>
          <a:solidFill>
            <a:schemeClr val="bg2"/>
          </a:solidFill>
          <a:ln>
            <a:solidFill>
              <a:schemeClr val="accent1"/>
            </a:solidFill>
          </a:ln>
        </p:spPr>
        <p:txBody>
          <a:bodyPr wrap="none">
            <a:spAutoFit/>
          </a:bodyPr>
          <a:lstStyle/>
          <a:p>
            <a:r>
              <a:rPr lang="zh-CN" altLang="en-US" sz="3600" b="1" dirty="0" smtClean="0">
                <a:solidFill>
                  <a:srgbClr val="FF0000"/>
                </a:solidFill>
                <a:latin typeface="华文琥珀" pitchFamily="2" charset="-122"/>
                <a:ea typeface="华文琥珀" pitchFamily="2" charset="-122"/>
              </a:rPr>
              <a:t>（</a:t>
            </a:r>
            <a:r>
              <a:rPr lang="zh-CN" altLang="en-US" sz="3600" b="1" dirty="0">
                <a:solidFill>
                  <a:srgbClr val="FF0000"/>
                </a:solidFill>
                <a:latin typeface="华文琥珀" pitchFamily="2" charset="-122"/>
                <a:ea typeface="华文琥珀" pitchFamily="2" charset="-122"/>
              </a:rPr>
              <a:t>二）武装斗争</a:t>
            </a:r>
            <a:endParaRPr lang="zh-CN" altLang="en-US" sz="3600" b="1" dirty="0">
              <a:latin typeface="华文琥珀" pitchFamily="2" charset="-122"/>
              <a:ea typeface="华文琥珀" pitchFamily="2" charset="-122"/>
            </a:endParaRPr>
          </a:p>
        </p:txBody>
      </p:sp>
      <p:pic>
        <p:nvPicPr>
          <p:cNvPr id="5122" name="Picture 2" descr="南昌起义 八一南昌起义感赋之一"/>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707758" y="2924944"/>
            <a:ext cx="5238750" cy="3467100"/>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p:wipe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p:cNvSpPr>
          <p:nvPr>
            <p:ph idx="4294967295"/>
          </p:nvPr>
        </p:nvSpPr>
        <p:spPr>
          <a:xfrm>
            <a:off x="755576" y="2204864"/>
            <a:ext cx="7921625" cy="1126462"/>
          </a:xfrm>
          <a:prstGeom prst="rect">
            <a:avLst/>
          </a:prstGeom>
          <a:solidFill>
            <a:schemeClr val="bg1"/>
          </a:solidFill>
          <a:ln w="12700">
            <a:solidFill>
              <a:srgbClr val="FF0000"/>
            </a:solidFill>
            <a:miter/>
          </a:ln>
        </p:spPr>
        <p:txBody>
          <a:bodyPr anchor="t">
            <a:spAutoFit/>
          </a:bodyPr>
          <a:lstStyle/>
          <a:p>
            <a:pPr marL="0" indent="0">
              <a:lnSpc>
                <a:spcPct val="105000"/>
              </a:lnSpc>
              <a:spcBef>
                <a:spcPct val="50000"/>
              </a:spcBef>
              <a:buNone/>
            </a:pPr>
            <a:r>
              <a:rPr lang="zh-CN" altLang="en-US" b="1" dirty="0">
                <a:solidFill>
                  <a:srgbClr val="0000FF"/>
                </a:solidFill>
                <a:latin typeface="Times New Roman" panose="02020603050405020304" pitchFamily="18" charset="0"/>
                <a:ea typeface="黑体" panose="02010609060101010101" pitchFamily="2" charset="-122"/>
              </a:rPr>
              <a:t>　 </a:t>
            </a:r>
            <a:r>
              <a:rPr lang="zh-CN" altLang="en-US" b="1" dirty="0" smtClean="0">
                <a:solidFill>
                  <a:srgbClr val="0000FF"/>
                </a:solidFill>
                <a:latin typeface="Times New Roman" panose="02020603050405020304" pitchFamily="18" charset="0"/>
                <a:ea typeface="黑体" panose="02010609060101010101" pitchFamily="2" charset="-122"/>
              </a:rPr>
              <a:t>   </a:t>
            </a:r>
            <a:r>
              <a:rPr lang="zh-CN" altLang="en-US" b="1" dirty="0">
                <a:solidFill>
                  <a:srgbClr val="0000FF"/>
                </a:solidFill>
                <a:latin typeface="Times New Roman" panose="02020603050405020304" pitchFamily="18" charset="0"/>
                <a:ea typeface="黑体" panose="02010609060101010101" pitchFamily="2" charset="-122"/>
              </a:rPr>
              <a:t>第一，半殖民地半封建的中国社会的基本</a:t>
            </a:r>
            <a:r>
              <a:rPr lang="zh-CN" altLang="en-US" b="1" dirty="0" smtClean="0">
                <a:solidFill>
                  <a:srgbClr val="0000FF"/>
                </a:solidFill>
                <a:latin typeface="Times New Roman" panose="02020603050405020304" pitchFamily="18" charset="0"/>
                <a:ea typeface="黑体" panose="02010609060101010101" pitchFamily="2" charset="-122"/>
              </a:rPr>
              <a:t>国情</a:t>
            </a:r>
            <a:r>
              <a:rPr lang="zh-CN" altLang="en-US" b="1" dirty="0">
                <a:solidFill>
                  <a:srgbClr val="0000FF"/>
                </a:solidFill>
                <a:latin typeface="Times New Roman" panose="02020603050405020304" pitchFamily="18" charset="0"/>
                <a:ea typeface="黑体" panose="02010609060101010101" pitchFamily="2" charset="-122"/>
              </a:rPr>
              <a:t>决定</a:t>
            </a:r>
          </a:p>
        </p:txBody>
      </p:sp>
      <p:sp>
        <p:nvSpPr>
          <p:cNvPr id="3" name="矩形 2"/>
          <p:cNvSpPr/>
          <p:nvPr/>
        </p:nvSpPr>
        <p:spPr>
          <a:xfrm>
            <a:off x="683568" y="620688"/>
            <a:ext cx="7416824" cy="1126462"/>
          </a:xfrm>
          <a:prstGeom prst="rect">
            <a:avLst/>
          </a:prstGeom>
          <a:solidFill>
            <a:schemeClr val="bg2"/>
          </a:solidFill>
          <a:ln>
            <a:solidFill>
              <a:schemeClr val="accent1"/>
            </a:solidFill>
          </a:ln>
        </p:spPr>
        <p:txBody>
          <a:bodyPr wrap="square">
            <a:spAutoFit/>
          </a:bodyPr>
          <a:lstStyle/>
          <a:p>
            <a:pPr lvl="0">
              <a:lnSpc>
                <a:spcPct val="105000"/>
              </a:lnSpc>
              <a:spcBef>
                <a:spcPct val="50000"/>
              </a:spcBef>
              <a:buClr>
                <a:srgbClr val="477AB1"/>
              </a:buClr>
              <a:buSzPct val="50000"/>
            </a:pPr>
            <a:r>
              <a:rPr lang="en-US" altLang="zh-CN" sz="3200" b="1" dirty="0">
                <a:solidFill>
                  <a:srgbClr val="FF0000"/>
                </a:solidFill>
                <a:latin typeface="Times New Roman" panose="02020603050405020304" pitchFamily="18" charset="0"/>
                <a:ea typeface="黑体" panose="02010609060101010101" pitchFamily="2" charset="-122"/>
              </a:rPr>
              <a:t>1</a:t>
            </a:r>
            <a:r>
              <a:rPr lang="zh-CN" altLang="en-US" sz="3200" b="1" dirty="0">
                <a:solidFill>
                  <a:srgbClr val="FF0000"/>
                </a:solidFill>
                <a:latin typeface="Times New Roman" panose="02020603050405020304" pitchFamily="18" charset="0"/>
                <a:ea typeface="黑体" panose="02010609060101010101" pitchFamily="2" charset="-122"/>
              </a:rPr>
              <a:t>、中国革命必须以武装斗争为主要形式的原因</a:t>
            </a:r>
          </a:p>
        </p:txBody>
      </p:sp>
      <p:pic>
        <p:nvPicPr>
          <p:cNvPr id="6146" name="Picture 2" descr="https://ss0.bdstatic.com/70cFvHSh_Q1YnxGkpoWK1HF6hhy/it/u=3371352722,1391922308&amp;fm=26&amp;gp=0.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99592" y="3789040"/>
            <a:ext cx="3384376" cy="2376264"/>
          </a:xfrm>
          <a:prstGeom prst="rect">
            <a:avLst/>
          </a:prstGeom>
          <a:noFill/>
          <a:extLst>
            <a:ext uri="{909E8E84-426E-40DD-AFC4-6F175D3DCCD1}">
              <a14:hiddenFill xmlns="" xmlns:a14="http://schemas.microsoft.com/office/drawing/2010/main">
                <a:solidFill>
                  <a:srgbClr val="FFFFFF"/>
                </a:solidFill>
              </a14:hiddenFill>
            </a:ext>
          </a:extLst>
        </p:spPr>
      </p:pic>
      <p:pic>
        <p:nvPicPr>
          <p:cNvPr id="6148" name="Picture 4" descr="https://timgsa.baidu.com/timg?image&amp;quality=80&amp;size=b9999_10000&amp;sec=1604573834539&amp;di=29c8192b06835797a5f4bc4aa0d9f406&amp;imgtype=0&amp;src=http%3A%2F%2F5b0988e595225.cdn.sohucs.com%2Fimages%2F20171222%2Fe05afe3e7324488da1d54427d06486db.jpe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206922" y="3645024"/>
            <a:ext cx="2887588" cy="237626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438797115"/>
      </p:ext>
    </p:extLst>
  </p:cSld>
  <p:clrMapOvr>
    <a:masterClrMapping/>
  </p:clrMapOvr>
  <p:transition>
    <p:wipe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p:cNvSpPr>
          <p:nvPr>
            <p:ph idx="4294967295"/>
          </p:nvPr>
        </p:nvSpPr>
        <p:spPr>
          <a:xfrm>
            <a:off x="539552" y="2708920"/>
            <a:ext cx="8215313" cy="2677656"/>
          </a:xfrm>
          <a:prstGeom prst="rect">
            <a:avLst/>
          </a:prstGeom>
          <a:solidFill>
            <a:schemeClr val="bg2"/>
          </a:solidFill>
          <a:ln w="12700">
            <a:solidFill>
              <a:srgbClr val="FF3300"/>
            </a:solidFill>
            <a:miter/>
          </a:ln>
        </p:spPr>
        <p:txBody>
          <a:bodyPr wrap="square" anchor="t">
            <a:spAutoFit/>
          </a:bodyPr>
          <a:lstStyle/>
          <a:p>
            <a:pPr marL="0" indent="0">
              <a:lnSpc>
                <a:spcPct val="105000"/>
              </a:lnSpc>
              <a:spcBef>
                <a:spcPct val="50000"/>
              </a:spcBef>
              <a:buNone/>
            </a:pPr>
            <a:r>
              <a:rPr lang="zh-CN" altLang="en-US" b="1" dirty="0" smtClean="0">
                <a:solidFill>
                  <a:srgbClr val="0000FF"/>
                </a:solidFill>
                <a:latin typeface="Times New Roman" panose="02020603050405020304" pitchFamily="18" charset="0"/>
                <a:ea typeface="黑体" panose="02010609060101010101" pitchFamily="2" charset="-122"/>
              </a:rPr>
              <a:t>第三</a:t>
            </a:r>
            <a:r>
              <a:rPr lang="zh-CN" altLang="en-US" b="1" dirty="0">
                <a:solidFill>
                  <a:srgbClr val="0000FF"/>
                </a:solidFill>
                <a:latin typeface="Times New Roman" panose="02020603050405020304" pitchFamily="18" charset="0"/>
                <a:ea typeface="黑体" panose="02010609060101010101" pitchFamily="2" charset="-122"/>
              </a:rPr>
              <a:t>，敌我力量对比、各帝国主义之间和国内各派军阀之间的矛盾，国内反动统治集团之间的矛盾，以及中国政治经济发展的不平衡的状态，规定了中国革命的武装斗争将不可避免地要经历一个长期而曲折的过程。</a:t>
            </a:r>
          </a:p>
        </p:txBody>
      </p:sp>
      <p:sp>
        <p:nvSpPr>
          <p:cNvPr id="2" name="矩形 1"/>
          <p:cNvSpPr/>
          <p:nvPr/>
        </p:nvSpPr>
        <p:spPr>
          <a:xfrm>
            <a:off x="683568" y="476672"/>
            <a:ext cx="7992888" cy="1643527"/>
          </a:xfrm>
          <a:prstGeom prst="rect">
            <a:avLst/>
          </a:prstGeom>
          <a:solidFill>
            <a:schemeClr val="bg2"/>
          </a:solidFill>
          <a:ln>
            <a:solidFill>
              <a:schemeClr val="accent1"/>
            </a:solidFill>
          </a:ln>
        </p:spPr>
        <p:txBody>
          <a:bodyPr wrap="square">
            <a:spAutoFit/>
          </a:bodyPr>
          <a:lstStyle/>
          <a:p>
            <a:pPr lvl="0">
              <a:lnSpc>
                <a:spcPct val="105000"/>
              </a:lnSpc>
              <a:spcBef>
                <a:spcPct val="50000"/>
              </a:spcBef>
              <a:buClr>
                <a:srgbClr val="477AB1"/>
              </a:buClr>
              <a:buSzPct val="50000"/>
            </a:pPr>
            <a:r>
              <a:rPr lang="zh-CN" altLang="en-US" sz="3200" b="1" dirty="0">
                <a:solidFill>
                  <a:srgbClr val="0000FF"/>
                </a:solidFill>
                <a:latin typeface="Times New Roman" panose="02020603050405020304" pitchFamily="18" charset="0"/>
                <a:ea typeface="黑体" panose="02010609060101010101" pitchFamily="2" charset="-122"/>
              </a:rPr>
              <a:t>第二，中国革命的敌人异常强大，也是异常凶残的，这就决定了中国革命必须以武装的革命反对武装的反革命。</a:t>
            </a:r>
          </a:p>
        </p:txBody>
      </p:sp>
    </p:spTree>
  </p:cSld>
  <p:clrMapOvr>
    <a:masterClrMapping/>
  </p:clrMapOvr>
  <p:transition>
    <p:wipe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7" name="图片 1" descr="172"/>
          <p:cNvPicPr>
            <a:picLocks noChangeAspect="1"/>
          </p:cNvPicPr>
          <p:nvPr/>
        </p:nvPicPr>
        <p:blipFill>
          <a:blip r:embed="rId2" cstate="print"/>
          <a:stretch>
            <a:fillRect/>
          </a:stretch>
        </p:blipFill>
        <p:spPr>
          <a:xfrm>
            <a:off x="-457200" y="-342900"/>
            <a:ext cx="10058400" cy="7543800"/>
          </a:xfrm>
          <a:prstGeom prst="rect">
            <a:avLst/>
          </a:prstGeom>
          <a:noFill/>
          <a:ln w="9525">
            <a:noFill/>
          </a:ln>
        </p:spPr>
      </p:pic>
    </p:spTree>
  </p:cSld>
  <p:clrMapOvr>
    <a:masterClrMapping/>
  </p:clrMapOvr>
  <p:transition>
    <p:wipe dir="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p:cNvSpPr>
          <p:nvPr>
            <p:ph idx="4294967295"/>
          </p:nvPr>
        </p:nvSpPr>
        <p:spPr>
          <a:xfrm>
            <a:off x="827584" y="2924944"/>
            <a:ext cx="6705600" cy="963854"/>
          </a:xfrm>
          <a:prstGeom prst="rect">
            <a:avLst/>
          </a:prstGeom>
          <a:solidFill>
            <a:schemeClr val="bg1"/>
          </a:solidFill>
          <a:ln w="12700">
            <a:solidFill>
              <a:srgbClr val="FF0000"/>
            </a:solidFill>
            <a:miter/>
          </a:ln>
        </p:spPr>
        <p:txBody>
          <a:bodyPr anchor="t">
            <a:spAutoFit/>
          </a:bodyPr>
          <a:lstStyle/>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        以</a:t>
            </a:r>
            <a:r>
              <a:rPr lang="zh-CN" altLang="en-US" sz="2800" b="1" dirty="0">
                <a:solidFill>
                  <a:srgbClr val="0000FF"/>
                </a:solidFill>
                <a:latin typeface="Times New Roman" panose="02020603050405020304" pitchFamily="18" charset="0"/>
                <a:ea typeface="黑体" panose="02010609060101010101" pitchFamily="2" charset="-122"/>
              </a:rPr>
              <a:t>长期的武装斗争为主要形式，并不是说可以放弃其他的斗争形式</a:t>
            </a:r>
            <a:r>
              <a:rPr lang="zh-CN" altLang="en-US" sz="2800" b="1" dirty="0" smtClean="0">
                <a:solidFill>
                  <a:srgbClr val="0000FF"/>
                </a:solidFill>
                <a:latin typeface="Times New Roman" panose="02020603050405020304" pitchFamily="18" charset="0"/>
                <a:ea typeface="黑体" panose="02010609060101010101" pitchFamily="2" charset="-122"/>
              </a:rPr>
              <a:t>。</a:t>
            </a:r>
            <a:endParaRPr lang="zh-CN" altLang="en-US" sz="2800" b="1" dirty="0">
              <a:solidFill>
                <a:srgbClr val="0000FF"/>
              </a:solidFill>
              <a:latin typeface="Times New Roman" panose="02020603050405020304" pitchFamily="18" charset="0"/>
              <a:ea typeface="黑体" panose="02010609060101010101" pitchFamily="2" charset="-122"/>
            </a:endParaRPr>
          </a:p>
        </p:txBody>
      </p:sp>
      <p:sp>
        <p:nvSpPr>
          <p:cNvPr id="2" name="矩形 1"/>
          <p:cNvSpPr/>
          <p:nvPr/>
        </p:nvSpPr>
        <p:spPr>
          <a:xfrm>
            <a:off x="683568" y="548680"/>
            <a:ext cx="5929828" cy="584775"/>
          </a:xfrm>
          <a:prstGeom prst="rect">
            <a:avLst/>
          </a:prstGeom>
          <a:solidFill>
            <a:schemeClr val="bg2"/>
          </a:solidFill>
          <a:ln>
            <a:solidFill>
              <a:schemeClr val="accent1"/>
            </a:solidFill>
          </a:ln>
        </p:spPr>
        <p:txBody>
          <a:bodyPr wrap="none">
            <a:spAutoFit/>
          </a:bodyPr>
          <a:lstStyle/>
          <a:p>
            <a:r>
              <a:rPr lang="zh-CN" altLang="en-US" sz="3200" b="1" dirty="0">
                <a:latin typeface="+mj-ea"/>
                <a:ea typeface="+mj-ea"/>
              </a:rPr>
              <a:t>须知政权是由枪杆子中取得的。</a:t>
            </a:r>
          </a:p>
        </p:txBody>
      </p:sp>
    </p:spTree>
  </p:cSld>
  <p:clrMapOvr>
    <a:masterClrMapping/>
  </p:clrMapOvr>
  <p:transition>
    <p:wipe dir="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83568" y="332656"/>
            <a:ext cx="7416824" cy="609398"/>
          </a:xfrm>
          <a:prstGeom prst="rect">
            <a:avLst/>
          </a:prstGeom>
          <a:solidFill>
            <a:schemeClr val="bg2"/>
          </a:solidFill>
          <a:ln>
            <a:solidFill>
              <a:schemeClr val="accent1"/>
            </a:solidFill>
          </a:ln>
        </p:spPr>
        <p:txBody>
          <a:bodyPr wrap="square">
            <a:spAutoFit/>
          </a:bodyPr>
          <a:lstStyle/>
          <a:p>
            <a:pPr lvl="0">
              <a:lnSpc>
                <a:spcPct val="105000"/>
              </a:lnSpc>
              <a:spcBef>
                <a:spcPct val="50000"/>
              </a:spcBef>
              <a:buClr>
                <a:srgbClr val="477AB1"/>
              </a:buClr>
              <a:buSzPct val="50000"/>
            </a:pPr>
            <a:r>
              <a:rPr lang="en-US" altLang="zh-CN" sz="3200" b="1" dirty="0" smtClean="0">
                <a:solidFill>
                  <a:srgbClr val="FF0000"/>
                </a:solidFill>
                <a:latin typeface="+mj-ea"/>
                <a:ea typeface="+mj-ea"/>
              </a:rPr>
              <a:t>2</a:t>
            </a:r>
            <a:r>
              <a:rPr lang="zh-CN" altLang="en-US" sz="3200" b="1" dirty="0" smtClean="0">
                <a:solidFill>
                  <a:srgbClr val="FF0000"/>
                </a:solidFill>
                <a:latin typeface="+mj-ea"/>
                <a:ea typeface="+mj-ea"/>
              </a:rPr>
              <a:t>、开展武装斗争、建设人民军队的经验</a:t>
            </a:r>
            <a:endParaRPr lang="zh-CN" altLang="en-US" sz="3200" b="1" dirty="0">
              <a:solidFill>
                <a:srgbClr val="0000FF"/>
              </a:solidFill>
              <a:latin typeface="+mj-ea"/>
              <a:ea typeface="+mj-ea"/>
            </a:endParaRPr>
          </a:p>
        </p:txBody>
      </p:sp>
      <p:sp>
        <p:nvSpPr>
          <p:cNvPr id="9" name="矩形 8"/>
          <p:cNvSpPr/>
          <p:nvPr/>
        </p:nvSpPr>
        <p:spPr>
          <a:xfrm>
            <a:off x="1331640" y="1700808"/>
            <a:ext cx="3096344" cy="646331"/>
          </a:xfrm>
          <a:prstGeom prst="rect">
            <a:avLst/>
          </a:prstGeom>
          <a:solidFill>
            <a:schemeClr val="bg2"/>
          </a:solidFill>
        </p:spPr>
        <p:txBody>
          <a:bodyPr wrap="square">
            <a:spAutoFit/>
          </a:bodyPr>
          <a:lstStyle/>
          <a:p>
            <a:r>
              <a:rPr lang="zh-CN" altLang="en-US" sz="3600" b="1" dirty="0" smtClean="0">
                <a:solidFill>
                  <a:srgbClr val="FF0000"/>
                </a:solidFill>
                <a:latin typeface="+mj-ea"/>
                <a:ea typeface="+mj-ea"/>
              </a:rPr>
              <a:t>建军原则</a:t>
            </a:r>
            <a:r>
              <a:rPr lang="en-US" altLang="zh-CN" sz="3600" b="1" dirty="0" smtClean="0">
                <a:solidFill>
                  <a:srgbClr val="FF0000"/>
                </a:solidFill>
                <a:latin typeface="+mj-ea"/>
                <a:ea typeface="+mj-ea"/>
              </a:rPr>
              <a:t> </a:t>
            </a:r>
            <a:endParaRPr lang="zh-CN" altLang="en-US" sz="3600" dirty="0">
              <a:latin typeface="+mj-ea"/>
              <a:ea typeface="+mj-ea"/>
            </a:endParaRPr>
          </a:p>
        </p:txBody>
      </p:sp>
      <p:sp>
        <p:nvSpPr>
          <p:cNvPr id="10" name="矩形 9"/>
          <p:cNvSpPr/>
          <p:nvPr/>
        </p:nvSpPr>
        <p:spPr>
          <a:xfrm>
            <a:off x="1475656" y="2924944"/>
            <a:ext cx="2880320" cy="646331"/>
          </a:xfrm>
          <a:prstGeom prst="rect">
            <a:avLst/>
          </a:prstGeom>
          <a:solidFill>
            <a:schemeClr val="bg2"/>
          </a:solidFill>
        </p:spPr>
        <p:txBody>
          <a:bodyPr wrap="square">
            <a:spAutoFit/>
          </a:bodyPr>
          <a:lstStyle/>
          <a:p>
            <a:r>
              <a:rPr lang="zh-CN" altLang="en-US" sz="3600" b="1" dirty="0" smtClean="0">
                <a:solidFill>
                  <a:srgbClr val="FF0000"/>
                </a:solidFill>
                <a:latin typeface="+mj-ea"/>
                <a:ea typeface="+mj-ea"/>
              </a:rPr>
              <a:t>宗旨</a:t>
            </a:r>
            <a:endParaRPr lang="zh-CN" altLang="en-US" sz="3600" dirty="0">
              <a:latin typeface="+mj-ea"/>
              <a:ea typeface="+mj-ea"/>
            </a:endParaRPr>
          </a:p>
        </p:txBody>
      </p:sp>
      <p:sp>
        <p:nvSpPr>
          <p:cNvPr id="11" name="矩形 10"/>
          <p:cNvSpPr/>
          <p:nvPr/>
        </p:nvSpPr>
        <p:spPr>
          <a:xfrm>
            <a:off x="1547664" y="4005064"/>
            <a:ext cx="2664296" cy="646331"/>
          </a:xfrm>
          <a:prstGeom prst="rect">
            <a:avLst/>
          </a:prstGeom>
          <a:solidFill>
            <a:schemeClr val="bg2"/>
          </a:solidFill>
        </p:spPr>
        <p:txBody>
          <a:bodyPr wrap="square">
            <a:spAutoFit/>
          </a:bodyPr>
          <a:lstStyle/>
          <a:p>
            <a:r>
              <a:rPr lang="zh-CN" altLang="en-US" sz="3600" b="1" dirty="0">
                <a:solidFill>
                  <a:srgbClr val="FF0000"/>
                </a:solidFill>
                <a:latin typeface="+mj-ea"/>
                <a:ea typeface="+mj-ea"/>
              </a:rPr>
              <a:t>任务</a:t>
            </a:r>
          </a:p>
        </p:txBody>
      </p:sp>
      <p:sp>
        <p:nvSpPr>
          <p:cNvPr id="12" name="矩形 11"/>
          <p:cNvSpPr/>
          <p:nvPr/>
        </p:nvSpPr>
        <p:spPr>
          <a:xfrm>
            <a:off x="1331640" y="4869160"/>
            <a:ext cx="3168352" cy="646331"/>
          </a:xfrm>
          <a:prstGeom prst="rect">
            <a:avLst/>
          </a:prstGeom>
          <a:solidFill>
            <a:schemeClr val="bg2"/>
          </a:solidFill>
        </p:spPr>
        <p:txBody>
          <a:bodyPr wrap="square">
            <a:spAutoFit/>
          </a:bodyPr>
          <a:lstStyle/>
          <a:p>
            <a:r>
              <a:rPr lang="zh-CN" altLang="en-US" sz="3600" b="1" dirty="0" smtClean="0">
                <a:solidFill>
                  <a:srgbClr val="FF0000"/>
                </a:solidFill>
                <a:latin typeface="+mj-ea"/>
                <a:ea typeface="+mj-ea"/>
              </a:rPr>
              <a:t>战略战术原则</a:t>
            </a:r>
            <a:endParaRPr lang="zh-CN" altLang="en-US" sz="3600" b="1" dirty="0">
              <a:solidFill>
                <a:srgbClr val="FF0000"/>
              </a:solidFill>
              <a:latin typeface="+mj-ea"/>
              <a:ea typeface="+mj-ea"/>
            </a:endParaRPr>
          </a:p>
        </p:txBody>
      </p:sp>
      <p:sp>
        <p:nvSpPr>
          <p:cNvPr id="13" name="左大括号 12"/>
          <p:cNvSpPr/>
          <p:nvPr/>
        </p:nvSpPr>
        <p:spPr>
          <a:xfrm>
            <a:off x="539552" y="2060848"/>
            <a:ext cx="648072" cy="3528392"/>
          </a:xfrm>
          <a:prstGeom prst="leftBrace">
            <a:avLst/>
          </a:prstGeom>
          <a:solidFill>
            <a:srgbClr val="00B050"/>
          </a:solidFill>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p:wipe dir="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p:cNvSpPr>
          <p:nvPr>
            <p:ph idx="4294967295"/>
          </p:nvPr>
        </p:nvSpPr>
        <p:spPr>
          <a:xfrm>
            <a:off x="1619672" y="1700808"/>
            <a:ext cx="6480720" cy="997196"/>
          </a:xfrm>
          <a:prstGeom prst="rect">
            <a:avLst/>
          </a:prstGeom>
          <a:solidFill>
            <a:schemeClr val="bg1"/>
          </a:solidFill>
          <a:ln w="12700">
            <a:solidFill>
              <a:srgbClr val="FF3300"/>
            </a:solidFill>
            <a:miter/>
          </a:ln>
        </p:spPr>
        <p:txBody>
          <a:bodyPr wrap="square" anchor="t">
            <a:spAutoFit/>
          </a:bodyPr>
          <a:lstStyle/>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第一，坚持</a:t>
            </a:r>
            <a:r>
              <a:rPr lang="zh-CN" altLang="en-US" sz="2800" b="1" dirty="0">
                <a:solidFill>
                  <a:srgbClr val="0000FF"/>
                </a:solidFill>
                <a:latin typeface="Times New Roman" panose="02020603050405020304" pitchFamily="18" charset="0"/>
                <a:ea typeface="黑体" panose="02010609060101010101" pitchFamily="2" charset="-122"/>
              </a:rPr>
              <a:t>党对军队的绝对</a:t>
            </a:r>
            <a:r>
              <a:rPr lang="zh-CN" altLang="en-US" sz="2800" b="1" dirty="0" smtClean="0">
                <a:solidFill>
                  <a:srgbClr val="0000FF"/>
                </a:solidFill>
                <a:latin typeface="Times New Roman" panose="02020603050405020304" pitchFamily="18" charset="0"/>
                <a:ea typeface="黑体" panose="02010609060101010101" pitchFamily="2" charset="-122"/>
              </a:rPr>
              <a:t>领导</a:t>
            </a:r>
            <a:r>
              <a:rPr lang="en-US" altLang="zh-CN" sz="2800" b="1" dirty="0" smtClean="0">
                <a:solidFill>
                  <a:srgbClr val="0000FF"/>
                </a:solidFill>
                <a:latin typeface="Times New Roman" panose="02020603050405020304" pitchFamily="18" charset="0"/>
                <a:ea typeface="黑体" panose="02010609060101010101" pitchFamily="2" charset="-122"/>
              </a:rPr>
              <a:t>——</a:t>
            </a:r>
            <a:r>
              <a:rPr lang="zh-CN" altLang="en-US" sz="2800" b="1" dirty="0" smtClean="0">
                <a:solidFill>
                  <a:srgbClr val="FF0000"/>
                </a:solidFill>
                <a:latin typeface="Times New Roman" panose="02020603050405020304" pitchFamily="18" charset="0"/>
                <a:ea typeface="黑体" panose="02010609060101010101" pitchFamily="2" charset="-122"/>
              </a:rPr>
              <a:t>根本原则</a:t>
            </a:r>
            <a:endParaRPr lang="zh-CN" altLang="en-US" sz="2800" b="1" dirty="0">
              <a:solidFill>
                <a:srgbClr val="FF0000"/>
              </a:solidFill>
              <a:latin typeface="Times New Roman" panose="02020603050405020304" pitchFamily="18" charset="0"/>
              <a:ea typeface="黑体" panose="02010609060101010101" pitchFamily="2" charset="-122"/>
            </a:endParaRPr>
          </a:p>
        </p:txBody>
      </p:sp>
      <p:sp>
        <p:nvSpPr>
          <p:cNvPr id="2" name="矩形 1"/>
          <p:cNvSpPr/>
          <p:nvPr/>
        </p:nvSpPr>
        <p:spPr>
          <a:xfrm>
            <a:off x="683568" y="332656"/>
            <a:ext cx="7416824" cy="609398"/>
          </a:xfrm>
          <a:prstGeom prst="rect">
            <a:avLst/>
          </a:prstGeom>
          <a:solidFill>
            <a:schemeClr val="bg2"/>
          </a:solidFill>
          <a:ln>
            <a:solidFill>
              <a:schemeClr val="accent1"/>
            </a:solidFill>
          </a:ln>
        </p:spPr>
        <p:txBody>
          <a:bodyPr wrap="square">
            <a:spAutoFit/>
          </a:bodyPr>
          <a:lstStyle/>
          <a:p>
            <a:pPr lvl="0">
              <a:lnSpc>
                <a:spcPct val="105000"/>
              </a:lnSpc>
              <a:spcBef>
                <a:spcPct val="50000"/>
              </a:spcBef>
              <a:buClr>
                <a:srgbClr val="477AB1"/>
              </a:buClr>
              <a:buSzPct val="50000"/>
            </a:pPr>
            <a:r>
              <a:rPr lang="en-US" altLang="zh-CN" sz="3200" b="1" dirty="0" smtClean="0">
                <a:solidFill>
                  <a:srgbClr val="FF0000"/>
                </a:solidFill>
                <a:latin typeface="+mj-ea"/>
                <a:ea typeface="+mj-ea"/>
              </a:rPr>
              <a:t>2</a:t>
            </a:r>
            <a:r>
              <a:rPr lang="zh-CN" altLang="en-US" sz="3200" b="1" dirty="0" smtClean="0">
                <a:solidFill>
                  <a:srgbClr val="FF0000"/>
                </a:solidFill>
                <a:latin typeface="+mj-ea"/>
                <a:ea typeface="+mj-ea"/>
              </a:rPr>
              <a:t>、开展武装斗争、建设人民军队的经验</a:t>
            </a:r>
            <a:endParaRPr lang="zh-CN" altLang="en-US" sz="3200" b="1" dirty="0">
              <a:solidFill>
                <a:srgbClr val="0000FF"/>
              </a:solidFill>
              <a:latin typeface="+mj-ea"/>
              <a:ea typeface="+mj-ea"/>
            </a:endParaRPr>
          </a:p>
        </p:txBody>
      </p:sp>
      <p:sp>
        <p:nvSpPr>
          <p:cNvPr id="3" name="矩形 2"/>
          <p:cNvSpPr/>
          <p:nvPr/>
        </p:nvSpPr>
        <p:spPr>
          <a:xfrm>
            <a:off x="179512" y="1700808"/>
            <a:ext cx="1224136" cy="1200329"/>
          </a:xfrm>
          <a:prstGeom prst="rect">
            <a:avLst/>
          </a:prstGeom>
          <a:solidFill>
            <a:schemeClr val="bg2"/>
          </a:solidFill>
          <a:ln>
            <a:solidFill>
              <a:schemeClr val="accent1"/>
            </a:solidFill>
          </a:ln>
        </p:spPr>
        <p:txBody>
          <a:bodyPr wrap="square">
            <a:spAutoFit/>
          </a:bodyPr>
          <a:lstStyle/>
          <a:p>
            <a:r>
              <a:rPr lang="zh-CN" altLang="en-US" sz="3600" b="1" dirty="0" smtClean="0">
                <a:solidFill>
                  <a:srgbClr val="FF0000"/>
                </a:solidFill>
                <a:latin typeface="+mj-ea"/>
                <a:ea typeface="+mj-ea"/>
              </a:rPr>
              <a:t>建军原则</a:t>
            </a:r>
            <a:r>
              <a:rPr lang="en-US" altLang="zh-CN" sz="3600" b="1" dirty="0" smtClean="0">
                <a:solidFill>
                  <a:srgbClr val="FF0000"/>
                </a:solidFill>
                <a:latin typeface="+mj-ea"/>
                <a:ea typeface="+mj-ea"/>
              </a:rPr>
              <a:t> </a:t>
            </a:r>
            <a:endParaRPr lang="zh-CN" altLang="en-US" sz="3600" dirty="0">
              <a:latin typeface="+mj-ea"/>
              <a:ea typeface="+mj-ea"/>
            </a:endParaRPr>
          </a:p>
        </p:txBody>
      </p:sp>
      <p:pic>
        <p:nvPicPr>
          <p:cNvPr id="19458" name="Picture 2" descr="https://gimg2.baidu.com/image_search/src=http%3A%2F%2Fkygjlx.com%2Fadmin%2Fedit%2FUploadFile%2F2015414134957987.jpg&amp;refer=http%3A%2F%2Fkygjlx.com&amp;app=2002&amp;size=f9999,10000&amp;q=a80&amp;n=0&amp;g=0n&amp;fmt=jpeg?sec=1638060489&amp;t=c59dae3aa9c87375d04aa82bb5f3be67"/>
          <p:cNvPicPr>
            <a:picLocks noChangeAspect="1" noChangeArrowheads="1"/>
          </p:cNvPicPr>
          <p:nvPr/>
        </p:nvPicPr>
        <p:blipFill>
          <a:blip r:embed="rId2" cstate="print"/>
          <a:srcRect/>
          <a:stretch>
            <a:fillRect/>
          </a:stretch>
        </p:blipFill>
        <p:spPr bwMode="auto">
          <a:xfrm>
            <a:off x="251520" y="2996952"/>
            <a:ext cx="4286250" cy="3209926"/>
          </a:xfrm>
          <a:prstGeom prst="rect">
            <a:avLst/>
          </a:prstGeom>
          <a:noFill/>
        </p:spPr>
      </p:pic>
      <p:pic>
        <p:nvPicPr>
          <p:cNvPr id="19460" name="Picture 4" descr="https://gimg2.baidu.com/image_search/src=http%3A%2F%2Fpic124.huitu.com%2Fres%2F20190702%2F781364_20190702162742006020_1.jpg&amp;refer=http%3A%2F%2Fpic124.huitu.com&amp;app=2002&amp;size=f9999,10000&amp;q=a80&amp;n=0&amp;g=0n&amp;fmt=jpeg?sec=1638060489&amp;t=6d35dc8c40c193355b6e78b00605fda4"/>
          <p:cNvPicPr>
            <a:picLocks noChangeAspect="1" noChangeArrowheads="1"/>
          </p:cNvPicPr>
          <p:nvPr/>
        </p:nvPicPr>
        <p:blipFill>
          <a:blip r:embed="rId3" cstate="print"/>
          <a:srcRect/>
          <a:stretch>
            <a:fillRect/>
          </a:stretch>
        </p:blipFill>
        <p:spPr bwMode="auto">
          <a:xfrm>
            <a:off x="4572000" y="2996952"/>
            <a:ext cx="4248472" cy="3212976"/>
          </a:xfrm>
          <a:prstGeom prst="rect">
            <a:avLst/>
          </a:prstGeom>
          <a:noFill/>
        </p:spPr>
      </p:pic>
    </p:spTree>
  </p:cSld>
  <p:clrMapOvr>
    <a:masterClrMapping/>
  </p:clrMapOvr>
  <p:transition>
    <p:wipe dir="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影视：古田会议召开，毛主席清理党内的危害，各干部瞬间心服口服,影视,战争片,好看视频.mp4">
            <a:hlinkClick r:id="" action="ppaction://media"/>
          </p:cNvPr>
          <p:cNvPicPr>
            <a:picLocks noRot="1" noChangeAspect="1"/>
          </p:cNvPicPr>
          <p:nvPr>
            <a:videoFile r:link="rId1"/>
          </p:nvPr>
        </p:nvPicPr>
        <p:blipFill>
          <a:blip r:embed="rId3" cstate="print"/>
          <a:stretch>
            <a:fillRect/>
          </a:stretch>
        </p:blipFill>
        <p:spPr>
          <a:xfrm>
            <a:off x="1043608" y="188640"/>
            <a:ext cx="7704856" cy="6192688"/>
          </a:xfrm>
          <a:prstGeom prst="rect">
            <a:avLst/>
          </a:prstGeom>
        </p:spPr>
      </p:pic>
    </p:spTree>
  </p:cSld>
  <p:clrMapOvr>
    <a:masterClrMapping/>
  </p:clrMapOvr>
  <p:transition>
    <p:wipe dir="r"/>
  </p:transition>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0"/>
                                        </p:tgtEl>
                                      </p:cBhvr>
                                    </p:cmd>
                                  </p:childTnLst>
                                </p:cTn>
                              </p:par>
                            </p:childTnLst>
                          </p:cTn>
                        </p:par>
                      </p:childTnLst>
                    </p:cTn>
                  </p:par>
                </p:childTnLst>
              </p:cTn>
              <p:nextCondLst>
                <p:cond evt="onClick" delay="0">
                  <p:tgtEl>
                    <p:spTgt spid="10"/>
                  </p:tgtEl>
                </p:cond>
              </p:nextCondLst>
            </p:seq>
            <p:video>
              <p:cMediaNode>
                <p:cTn id="7" fill="hold" display="0">
                  <p:stCondLst>
                    <p:cond delay="indefinite"/>
                  </p:stCondLst>
                  <p:endCondLst>
                    <p:cond evt="onNext" delay="0">
                      <p:tgtEl>
                        <p:sldTgt/>
                      </p:tgtEl>
                    </p:cond>
                    <p:cond evt="onPrev" delay="0">
                      <p:tgtEl>
                        <p:sldTgt/>
                      </p:tgtEl>
                    </p:cond>
                  </p:endCondLst>
                </p:cTn>
                <p:tgtEl>
                  <p:spTgt spid="10"/>
                </p:tgtEl>
              </p:cMediaNode>
            </p:video>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2051720" y="3068960"/>
            <a:ext cx="4824536" cy="1966692"/>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None/>
            </a:pPr>
            <a:r>
              <a:rPr lang="en-US" altLang="zh-CN" dirty="0" smtClean="0">
                <a:solidFill>
                  <a:srgbClr val="0000FF"/>
                </a:solidFill>
                <a:latin typeface="Times New Roman" panose="02020603050405020304" pitchFamily="18" charset="0"/>
                <a:ea typeface="华文新魏" panose="02010800040101010101" pitchFamily="2" charset="-122"/>
              </a:rPr>
              <a:t> </a:t>
            </a:r>
            <a:r>
              <a:rPr lang="zh-CN" altLang="en-US" sz="2800" b="1" dirty="0" smtClean="0">
                <a:solidFill>
                  <a:srgbClr val="0000FF"/>
                </a:solidFill>
                <a:latin typeface="Times New Roman" panose="02020603050405020304" pitchFamily="18" charset="0"/>
                <a:ea typeface="黑体" panose="02010609060101010101" pitchFamily="2" charset="-122"/>
              </a:rPr>
              <a:t>第三，人民军队</a:t>
            </a:r>
            <a:r>
              <a:rPr lang="zh-CN" altLang="en-US" sz="2800" b="1" dirty="0">
                <a:solidFill>
                  <a:srgbClr val="0000FF"/>
                </a:solidFill>
                <a:latin typeface="Times New Roman" panose="02020603050405020304" pitchFamily="18" charset="0"/>
                <a:ea typeface="黑体" panose="02010609060101010101" pitchFamily="2" charset="-122"/>
              </a:rPr>
              <a:t>是一个执行革命的政治任务的武装集团，必须忠实地为无产阶级政党的纲领路线服务。</a:t>
            </a:r>
          </a:p>
        </p:txBody>
      </p:sp>
      <p:sp>
        <p:nvSpPr>
          <p:cNvPr id="8" name="矩形 7"/>
          <p:cNvSpPr/>
          <p:nvPr/>
        </p:nvSpPr>
        <p:spPr>
          <a:xfrm>
            <a:off x="539552" y="3789040"/>
            <a:ext cx="1224136" cy="646331"/>
          </a:xfrm>
          <a:prstGeom prst="rect">
            <a:avLst/>
          </a:prstGeom>
          <a:solidFill>
            <a:schemeClr val="bg2"/>
          </a:solidFill>
          <a:ln>
            <a:solidFill>
              <a:schemeClr val="accent1"/>
            </a:solidFill>
          </a:ln>
        </p:spPr>
        <p:txBody>
          <a:bodyPr wrap="square">
            <a:spAutoFit/>
          </a:bodyPr>
          <a:lstStyle/>
          <a:p>
            <a:r>
              <a:rPr lang="zh-CN" altLang="en-US" sz="3600" b="1" dirty="0">
                <a:solidFill>
                  <a:srgbClr val="FF0000"/>
                </a:solidFill>
                <a:latin typeface="+mj-ea"/>
                <a:ea typeface="+mj-ea"/>
              </a:rPr>
              <a:t>任务</a:t>
            </a:r>
          </a:p>
        </p:txBody>
      </p:sp>
      <p:sp>
        <p:nvSpPr>
          <p:cNvPr id="5" name="矩形 4"/>
          <p:cNvSpPr/>
          <p:nvPr/>
        </p:nvSpPr>
        <p:spPr>
          <a:xfrm>
            <a:off x="467544" y="1124744"/>
            <a:ext cx="1224136" cy="646331"/>
          </a:xfrm>
          <a:prstGeom prst="rect">
            <a:avLst/>
          </a:prstGeom>
          <a:solidFill>
            <a:schemeClr val="bg2"/>
          </a:solidFill>
          <a:ln>
            <a:solidFill>
              <a:schemeClr val="accent1"/>
            </a:solidFill>
          </a:ln>
        </p:spPr>
        <p:txBody>
          <a:bodyPr wrap="square">
            <a:spAutoFit/>
          </a:bodyPr>
          <a:lstStyle/>
          <a:p>
            <a:r>
              <a:rPr lang="zh-CN" altLang="en-US" sz="3600" b="1" dirty="0" smtClean="0">
                <a:solidFill>
                  <a:srgbClr val="FF0000"/>
                </a:solidFill>
                <a:latin typeface="+mj-ea"/>
                <a:ea typeface="+mj-ea"/>
              </a:rPr>
              <a:t>宗旨</a:t>
            </a:r>
            <a:endParaRPr lang="zh-CN" altLang="en-US" sz="3600" dirty="0">
              <a:latin typeface="+mj-ea"/>
              <a:ea typeface="+mj-ea"/>
            </a:endParaRPr>
          </a:p>
        </p:txBody>
      </p:sp>
      <p:sp>
        <p:nvSpPr>
          <p:cNvPr id="6" name="Rectangle 2"/>
          <p:cNvSpPr txBox="1">
            <a:spLocks/>
          </p:cNvSpPr>
          <p:nvPr/>
        </p:nvSpPr>
        <p:spPr>
          <a:xfrm>
            <a:off x="1906688" y="836712"/>
            <a:ext cx="7237312" cy="1416285"/>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Font typeface="Wingdings 2"/>
              <a:buNone/>
            </a:pPr>
            <a:r>
              <a:rPr lang="zh-CN" altLang="en-US" sz="2800" b="1" dirty="0" smtClean="0">
                <a:solidFill>
                  <a:srgbClr val="0000FF"/>
                </a:solidFill>
                <a:latin typeface="Times New Roman" panose="02020603050405020304" pitchFamily="18" charset="0"/>
                <a:ea typeface="黑体" panose="02010609060101010101" pitchFamily="2" charset="-122"/>
              </a:rPr>
              <a:t>第二，人民军队必须以“全心全意地为人民服务”为宗旨。</a:t>
            </a:r>
            <a:r>
              <a:rPr lang="en-US" altLang="zh-CN" sz="2800" b="1" dirty="0" smtClean="0">
                <a:solidFill>
                  <a:srgbClr val="0000FF"/>
                </a:solidFill>
                <a:latin typeface="Times New Roman" panose="02020603050405020304" pitchFamily="18" charset="0"/>
                <a:ea typeface="黑体" panose="02010609060101010101" pitchFamily="2" charset="-122"/>
              </a:rPr>
              <a:t>———</a:t>
            </a:r>
            <a:r>
              <a:rPr lang="zh-CN" altLang="en-US" sz="2800" b="1" dirty="0" smtClean="0">
                <a:solidFill>
                  <a:srgbClr val="0000FF"/>
                </a:solidFill>
                <a:latin typeface="Times New Roman" panose="02020603050405020304" pitchFamily="18" charset="0"/>
                <a:ea typeface="黑体" panose="02010609060101010101" pitchFamily="2" charset="-122"/>
              </a:rPr>
              <a:t>新型人民军队的</a:t>
            </a:r>
            <a:r>
              <a:rPr lang="zh-CN" altLang="en-US" sz="2800" b="1" dirty="0" smtClean="0">
                <a:solidFill>
                  <a:srgbClr val="FF0000"/>
                </a:solidFill>
                <a:latin typeface="Times New Roman" panose="02020603050405020304" pitchFamily="18" charset="0"/>
                <a:ea typeface="黑体" panose="02010609060101010101" pitchFamily="2" charset="-122"/>
              </a:rPr>
              <a:t>基本前提</a:t>
            </a:r>
          </a:p>
        </p:txBody>
      </p:sp>
    </p:spTree>
  </p:cSld>
  <p:clrMapOvr>
    <a:masterClrMapping/>
  </p:clrMapOvr>
  <p:transition>
    <p:wipe dir="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a:spLocks noGrp="1"/>
          </p:cNvSpPr>
          <p:nvPr>
            <p:ph idx="4294967295"/>
          </p:nvPr>
        </p:nvSpPr>
        <p:spPr>
          <a:xfrm>
            <a:off x="683568" y="1772816"/>
            <a:ext cx="5256584" cy="646331"/>
          </a:xfrm>
          <a:prstGeom prst="rect">
            <a:avLst/>
          </a:prstGeom>
          <a:solidFill>
            <a:schemeClr val="bg1"/>
          </a:solidFill>
          <a:ln w="12700">
            <a:solidFill>
              <a:srgbClr val="FF3300"/>
            </a:solidFill>
            <a:miter/>
          </a:ln>
        </p:spPr>
        <p:txBody>
          <a:bodyPr wrap="square" anchor="t">
            <a:spAutoFit/>
          </a:bodyPr>
          <a:lstStyle/>
          <a:p>
            <a:pPr marL="0" indent="0">
              <a:lnSpc>
                <a:spcPct val="150000"/>
              </a:lnSpc>
              <a:spcBef>
                <a:spcPct val="50000"/>
              </a:spcBef>
              <a:buNone/>
            </a:pPr>
            <a:r>
              <a:rPr lang="zh-CN" altLang="en-US" sz="2400" b="1" dirty="0" smtClean="0">
                <a:solidFill>
                  <a:srgbClr val="0000FF"/>
                </a:solidFill>
                <a:latin typeface="Times New Roman" panose="02020603050405020304" pitchFamily="18" charset="0"/>
                <a:ea typeface="黑体" panose="02010609060101010101" pitchFamily="2" charset="-122"/>
              </a:rPr>
              <a:t>第一</a:t>
            </a:r>
            <a:r>
              <a:rPr lang="zh-CN" altLang="en-US" sz="2400" b="1" dirty="0">
                <a:solidFill>
                  <a:srgbClr val="0000FF"/>
                </a:solidFill>
                <a:latin typeface="Times New Roman" panose="02020603050405020304" pitchFamily="18" charset="0"/>
                <a:ea typeface="黑体" panose="02010609060101010101" pitchFamily="2" charset="-122"/>
              </a:rPr>
              <a:t>，打仗消灭敌人</a:t>
            </a:r>
            <a:r>
              <a:rPr lang="zh-CN" altLang="en-US" sz="2400" b="1" dirty="0" smtClean="0">
                <a:solidFill>
                  <a:srgbClr val="0000FF"/>
                </a:solidFill>
                <a:latin typeface="Times New Roman" panose="02020603050405020304" pitchFamily="18" charset="0"/>
                <a:ea typeface="黑体" panose="02010609060101010101" pitchFamily="2" charset="-122"/>
              </a:rPr>
              <a:t>；战斗队</a:t>
            </a:r>
            <a:endParaRPr lang="zh-CN" altLang="en-US" sz="2400" b="1" dirty="0">
              <a:solidFill>
                <a:srgbClr val="0000FF"/>
              </a:solidFill>
              <a:latin typeface="Times New Roman" panose="02020603050405020304" pitchFamily="18" charset="0"/>
              <a:ea typeface="黑体" panose="02010609060101010101" pitchFamily="2" charset="-122"/>
            </a:endParaRPr>
          </a:p>
        </p:txBody>
      </p:sp>
      <p:sp>
        <p:nvSpPr>
          <p:cNvPr id="2" name="矩形 1"/>
          <p:cNvSpPr/>
          <p:nvPr/>
        </p:nvSpPr>
        <p:spPr>
          <a:xfrm>
            <a:off x="755576" y="620688"/>
            <a:ext cx="4104456" cy="656846"/>
          </a:xfrm>
          <a:prstGeom prst="rect">
            <a:avLst/>
          </a:prstGeom>
          <a:solidFill>
            <a:schemeClr val="bg2"/>
          </a:solidFill>
        </p:spPr>
        <p:txBody>
          <a:bodyPr wrap="square">
            <a:spAutoFit/>
          </a:bodyPr>
          <a:lstStyle/>
          <a:p>
            <a:pPr lvl="0">
              <a:lnSpc>
                <a:spcPct val="150000"/>
              </a:lnSpc>
              <a:spcBef>
                <a:spcPct val="50000"/>
              </a:spcBef>
              <a:buClr>
                <a:srgbClr val="477AB1"/>
              </a:buClr>
              <a:buSzPct val="50000"/>
            </a:pPr>
            <a:r>
              <a:rPr lang="zh-CN" altLang="en-US" sz="2800" b="1" dirty="0">
                <a:solidFill>
                  <a:srgbClr val="FF0000"/>
                </a:solidFill>
                <a:latin typeface="Times New Roman" panose="02020603050405020304" pitchFamily="18" charset="0"/>
                <a:ea typeface="黑体" panose="02010609060101010101" pitchFamily="2" charset="-122"/>
              </a:rPr>
              <a:t>人民军队的三大任务是：</a:t>
            </a:r>
          </a:p>
        </p:txBody>
      </p:sp>
      <p:sp>
        <p:nvSpPr>
          <p:cNvPr id="4" name="Rectangle 2"/>
          <p:cNvSpPr txBox="1">
            <a:spLocks/>
          </p:cNvSpPr>
          <p:nvPr/>
        </p:nvSpPr>
        <p:spPr>
          <a:xfrm>
            <a:off x="601824" y="2636912"/>
            <a:ext cx="5338328" cy="646331"/>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50000"/>
              </a:lnSpc>
              <a:spcBef>
                <a:spcPct val="50000"/>
              </a:spcBef>
              <a:buFont typeface="Wingdings 2"/>
              <a:buNone/>
            </a:pPr>
            <a:r>
              <a:rPr lang="zh-CN" altLang="en-US" sz="2400" b="1" dirty="0" smtClean="0">
                <a:solidFill>
                  <a:srgbClr val="0000FF"/>
                </a:solidFill>
                <a:latin typeface="Times New Roman" panose="02020603050405020304" pitchFamily="18" charset="0"/>
                <a:ea typeface="黑体" panose="02010609060101010101" pitchFamily="2" charset="-122"/>
              </a:rPr>
              <a:t>第二，打土豪筹款子；生产队</a:t>
            </a:r>
          </a:p>
        </p:txBody>
      </p:sp>
      <p:sp>
        <p:nvSpPr>
          <p:cNvPr id="5" name="Rectangle 2"/>
          <p:cNvSpPr txBox="1">
            <a:spLocks/>
          </p:cNvSpPr>
          <p:nvPr/>
        </p:nvSpPr>
        <p:spPr>
          <a:xfrm>
            <a:off x="595738" y="3645024"/>
            <a:ext cx="5344414" cy="646331"/>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50000"/>
              </a:lnSpc>
              <a:spcBef>
                <a:spcPct val="50000"/>
              </a:spcBef>
              <a:buFont typeface="Wingdings 2"/>
              <a:buNone/>
            </a:pPr>
            <a:r>
              <a:rPr lang="zh-CN" altLang="en-US" sz="2400" b="1" dirty="0" smtClean="0">
                <a:solidFill>
                  <a:srgbClr val="0000FF"/>
                </a:solidFill>
                <a:latin typeface="Times New Roman" panose="02020603050405020304" pitchFamily="18" charset="0"/>
                <a:ea typeface="黑体" panose="02010609060101010101" pitchFamily="2" charset="-122"/>
              </a:rPr>
              <a:t>第三，宣传群众、组织群众。工作队</a:t>
            </a:r>
            <a:endParaRPr lang="zh-CN" altLang="en-US" sz="2400" b="1" dirty="0">
              <a:solidFill>
                <a:srgbClr val="0000FF"/>
              </a:solidFill>
              <a:latin typeface="Times New Roman" panose="02020603050405020304" pitchFamily="18" charset="0"/>
              <a:ea typeface="黑体" panose="02010609060101010101" pitchFamily="2" charset="-122"/>
            </a:endParaRPr>
          </a:p>
        </p:txBody>
      </p:sp>
      <p:pic>
        <p:nvPicPr>
          <p:cNvPr id="7170" name="Picture 2" descr="https://p1.ssl.qhimgs1.com/sdr/400__/t018fcd5d2e43df9587.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652120" y="1277534"/>
            <a:ext cx="3810000" cy="3324226"/>
          </a:xfrm>
          <a:prstGeom prst="rect">
            <a:avLst/>
          </a:prstGeom>
          <a:noFill/>
          <a:extLst>
            <a:ext uri="{909E8E84-426E-40DD-AFC4-6F175D3DCCD1}">
              <a14:hiddenFill xmlns="" xmlns:a14="http://schemas.microsoft.com/office/drawing/2010/main">
                <a:solidFill>
                  <a:srgbClr val="FFFFFF"/>
                </a:solidFill>
              </a14:hiddenFill>
            </a:ext>
          </a:extLst>
        </p:spPr>
      </p:pic>
      <p:sp>
        <p:nvSpPr>
          <p:cNvPr id="7" name="Rectangle 2"/>
          <p:cNvSpPr txBox="1">
            <a:spLocks/>
          </p:cNvSpPr>
          <p:nvPr/>
        </p:nvSpPr>
        <p:spPr>
          <a:xfrm>
            <a:off x="4889647" y="4725144"/>
            <a:ext cx="3744416" cy="646331"/>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50000"/>
              </a:lnSpc>
              <a:spcBef>
                <a:spcPct val="50000"/>
              </a:spcBef>
              <a:buFont typeface="Wingdings 2"/>
              <a:buNone/>
            </a:pPr>
            <a:r>
              <a:rPr lang="zh-CN" altLang="en-US" sz="2400" b="1" dirty="0" smtClean="0">
                <a:solidFill>
                  <a:srgbClr val="FF0000"/>
                </a:solidFill>
                <a:latin typeface="华文琥珀" pitchFamily="2" charset="-122"/>
                <a:ea typeface="华文琥珀" pitchFamily="2" charset="-122"/>
              </a:rPr>
              <a:t>今天人民军队有哪些任务？</a:t>
            </a:r>
            <a:endParaRPr lang="zh-CN" altLang="en-US" sz="2400" b="1" dirty="0">
              <a:solidFill>
                <a:srgbClr val="FF0000"/>
              </a:solidFill>
              <a:latin typeface="华文琥珀" pitchFamily="2" charset="-122"/>
              <a:ea typeface="华文琥珀" pitchFamily="2" charset="-122"/>
            </a:endParaRPr>
          </a:p>
        </p:txBody>
      </p:sp>
    </p:spTree>
  </p:cSld>
  <p:clrMapOvr>
    <a:masterClrMapping/>
  </p:clrMapOvr>
  <p:transition>
    <p:wipe dir="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11560" y="2708920"/>
            <a:ext cx="1224136" cy="1754326"/>
          </a:xfrm>
          <a:prstGeom prst="rect">
            <a:avLst/>
          </a:prstGeom>
          <a:solidFill>
            <a:schemeClr val="bg2"/>
          </a:solidFill>
          <a:ln>
            <a:solidFill>
              <a:schemeClr val="accent1"/>
            </a:solidFill>
          </a:ln>
        </p:spPr>
        <p:txBody>
          <a:bodyPr wrap="square">
            <a:spAutoFit/>
          </a:bodyPr>
          <a:lstStyle/>
          <a:p>
            <a:r>
              <a:rPr lang="zh-CN" altLang="en-US" sz="3600" b="1" dirty="0" smtClean="0">
                <a:solidFill>
                  <a:srgbClr val="FF0000"/>
                </a:solidFill>
                <a:latin typeface="+mj-ea"/>
                <a:ea typeface="+mj-ea"/>
              </a:rPr>
              <a:t>战略战术原则</a:t>
            </a:r>
            <a:endParaRPr lang="zh-CN" altLang="en-US" sz="3600" b="1" dirty="0">
              <a:solidFill>
                <a:srgbClr val="FF0000"/>
              </a:solidFill>
              <a:latin typeface="+mj-ea"/>
              <a:ea typeface="+mj-ea"/>
            </a:endParaRPr>
          </a:p>
        </p:txBody>
      </p:sp>
      <p:sp>
        <p:nvSpPr>
          <p:cNvPr id="9" name="矩形 8"/>
          <p:cNvSpPr/>
          <p:nvPr/>
        </p:nvSpPr>
        <p:spPr>
          <a:xfrm>
            <a:off x="2267744" y="836712"/>
            <a:ext cx="5832648" cy="1569660"/>
          </a:xfrm>
          <a:prstGeom prst="rect">
            <a:avLst/>
          </a:prstGeom>
          <a:ln>
            <a:solidFill>
              <a:schemeClr val="accent1"/>
            </a:solidFill>
          </a:ln>
        </p:spPr>
        <p:txBody>
          <a:bodyPr wrap="square">
            <a:spAutoFit/>
          </a:bodyPr>
          <a:lstStyle/>
          <a:p>
            <a:r>
              <a:rPr lang="en-US" altLang="zh-CN" dirty="0" smtClean="0">
                <a:solidFill>
                  <a:srgbClr val="0000FF"/>
                </a:solidFill>
                <a:latin typeface="Times New Roman" panose="02020603050405020304" pitchFamily="18" charset="0"/>
                <a:ea typeface="华文新魏" panose="02010800040101010101" pitchFamily="2" charset="-122"/>
              </a:rPr>
              <a:t> </a:t>
            </a:r>
            <a:r>
              <a:rPr lang="zh-CN" altLang="en-US" sz="2400" b="1" dirty="0" smtClean="0">
                <a:solidFill>
                  <a:srgbClr val="0000FF"/>
                </a:solidFill>
                <a:latin typeface="Times New Roman" panose="02020603050405020304" pitchFamily="18" charset="0"/>
                <a:ea typeface="黑体" panose="02010609060101010101" pitchFamily="2" charset="-122"/>
              </a:rPr>
              <a:t>在战争的全局上，坚持</a:t>
            </a:r>
            <a:r>
              <a:rPr lang="zh-CN" altLang="en-US" sz="2400" b="1" dirty="0" smtClean="0">
                <a:solidFill>
                  <a:srgbClr val="FF0000"/>
                </a:solidFill>
                <a:latin typeface="Times New Roman" panose="02020603050405020304" pitchFamily="18" charset="0"/>
                <a:ea typeface="黑体" panose="02010609060101010101" pitchFamily="2" charset="-122"/>
              </a:rPr>
              <a:t>积极防御</a:t>
            </a:r>
            <a:r>
              <a:rPr lang="zh-CN" altLang="en-US" sz="2400" b="1" dirty="0" smtClean="0">
                <a:solidFill>
                  <a:srgbClr val="0000FF"/>
                </a:solidFill>
                <a:latin typeface="Times New Roman" panose="02020603050405020304" pitchFamily="18" charset="0"/>
                <a:ea typeface="黑体" panose="02010609060101010101" pitchFamily="2" charset="-122"/>
              </a:rPr>
              <a:t>的战略思想。为贯彻这一战略方针，要在战略防御中实行进攻战、战略持久战中的速决战、战略内线作战中的外线作战等策略原则。</a:t>
            </a:r>
            <a:endParaRPr lang="zh-CN" altLang="en-US" dirty="0"/>
          </a:p>
        </p:txBody>
      </p:sp>
      <p:sp>
        <p:nvSpPr>
          <p:cNvPr id="10" name="矩形 9"/>
          <p:cNvSpPr/>
          <p:nvPr/>
        </p:nvSpPr>
        <p:spPr>
          <a:xfrm>
            <a:off x="2267744" y="2492896"/>
            <a:ext cx="5760640" cy="1255728"/>
          </a:xfrm>
          <a:prstGeom prst="rect">
            <a:avLst/>
          </a:prstGeom>
          <a:ln>
            <a:solidFill>
              <a:schemeClr val="accent1"/>
            </a:solidFill>
          </a:ln>
        </p:spPr>
        <p:txBody>
          <a:bodyPr wrap="square">
            <a:spAutoFit/>
          </a:bodyPr>
          <a:lstStyle/>
          <a:p>
            <a:pPr>
              <a:lnSpc>
                <a:spcPct val="105000"/>
              </a:lnSpc>
              <a:spcBef>
                <a:spcPct val="50000"/>
              </a:spcBef>
            </a:pPr>
            <a:r>
              <a:rPr lang="zh-CN" altLang="en-US" sz="2400" b="1" dirty="0" smtClean="0">
                <a:solidFill>
                  <a:srgbClr val="0000FF"/>
                </a:solidFill>
                <a:latin typeface="Times New Roman" panose="02020603050405020304" pitchFamily="18" charset="0"/>
                <a:ea typeface="黑体" panose="02010609060101010101" pitchFamily="2" charset="-122"/>
              </a:rPr>
              <a:t>以游击战、运动战为主要作战形式，游击战、运动战和阵地战是中国革命战争的三种基本形式，不同阶段侧重点不同。</a:t>
            </a:r>
          </a:p>
        </p:txBody>
      </p:sp>
      <p:sp>
        <p:nvSpPr>
          <p:cNvPr id="11" name="Rectangle 2"/>
          <p:cNvSpPr txBox="1">
            <a:spLocks/>
          </p:cNvSpPr>
          <p:nvPr/>
        </p:nvSpPr>
        <p:spPr>
          <a:xfrm>
            <a:off x="2267744" y="3861048"/>
            <a:ext cx="5832648" cy="1828193"/>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Font typeface="Wingdings 2"/>
              <a:buNone/>
            </a:pPr>
            <a:r>
              <a:rPr lang="zh-CN" altLang="en-US" sz="2400" b="1" dirty="0" smtClean="0">
                <a:solidFill>
                  <a:srgbClr val="0000FF"/>
                </a:solidFill>
                <a:latin typeface="Times New Roman" panose="02020603050405020304" pitchFamily="18" charset="0"/>
                <a:ea typeface="黑体" panose="02010609060101010101" pitchFamily="2" charset="-122"/>
              </a:rPr>
              <a:t>以集中优势兵力歼灭敌人的有生力量为主要目标，适时实行战略转变。</a:t>
            </a:r>
            <a:endParaRPr lang="en-US" altLang="zh-CN" sz="2400" b="1" dirty="0" smtClean="0">
              <a:solidFill>
                <a:srgbClr val="0000FF"/>
              </a:solidFill>
              <a:latin typeface="Times New Roman" panose="02020603050405020304" pitchFamily="18" charset="0"/>
              <a:ea typeface="黑体" panose="02010609060101010101" pitchFamily="2" charset="-122"/>
            </a:endParaRPr>
          </a:p>
          <a:p>
            <a:pPr marL="0" indent="0">
              <a:lnSpc>
                <a:spcPct val="105000"/>
              </a:lnSpc>
              <a:spcBef>
                <a:spcPct val="50000"/>
              </a:spcBef>
              <a:buFont typeface="Wingdings 2"/>
              <a:buNone/>
            </a:pPr>
            <a:r>
              <a:rPr lang="zh-CN" altLang="en-US" sz="2400" b="1" dirty="0" smtClean="0">
                <a:solidFill>
                  <a:srgbClr val="FF0000"/>
                </a:solidFill>
                <a:latin typeface="Times New Roman" panose="02020603050405020304" pitchFamily="18" charset="0"/>
                <a:ea typeface="黑体" panose="02010609060101010101" pitchFamily="2" charset="-122"/>
              </a:rPr>
              <a:t>集中优势便利集中优势兵力，各个歼灭敌人</a:t>
            </a:r>
            <a:endParaRPr lang="zh-CN" altLang="en-US" sz="2400" b="1" dirty="0">
              <a:solidFill>
                <a:srgbClr val="FF0000"/>
              </a:solidFill>
              <a:latin typeface="Times New Roman" panose="02020603050405020304" pitchFamily="18" charset="0"/>
              <a:ea typeface="黑体" panose="02010609060101010101" pitchFamily="2" charset="-122"/>
            </a:endParaRPr>
          </a:p>
        </p:txBody>
      </p:sp>
    </p:spTree>
  </p:cSld>
  <p:clrMapOvr>
    <a:masterClrMapping/>
  </p:clrMapOvr>
  <p:transition>
    <p:wipe dir="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timgsa.baidu.com/timg?image&amp;quality=80&amp;size=b9999_10000&amp;sec=1541486552053&amp;di=6ffe078b2842024a402768a8bf46127d&amp;imgtype=0&amp;src=http%3A%2F%2Fimg1.qunarzz.com%2Ftravel%2Fd2%2F1611%2F32%2Fa2640f327bd7b9b5.jpg_r_680x454x95_9efad9a0.jpg"/>
          <p:cNvPicPr>
            <a:picLocks noChangeAspect="1" noChangeArrowheads="1"/>
          </p:cNvPicPr>
          <p:nvPr/>
        </p:nvPicPr>
        <p:blipFill>
          <a:blip r:embed="rId2" cstate="print"/>
          <a:srcRect/>
          <a:stretch>
            <a:fillRect/>
          </a:stretch>
        </p:blipFill>
        <p:spPr bwMode="auto">
          <a:xfrm>
            <a:off x="1331640" y="908720"/>
            <a:ext cx="6467475" cy="4324351"/>
          </a:xfrm>
          <a:prstGeom prst="rect">
            <a:avLst/>
          </a:prstGeom>
          <a:noFill/>
        </p:spPr>
      </p:pic>
    </p:spTree>
  </p:cSld>
  <p:clrMapOvr>
    <a:masterClrMapping/>
  </p:clrMapOvr>
  <p:transition>
    <p:wipe dir="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p:cNvSpPr>
          <p:nvPr>
            <p:ph idx="4294967295"/>
          </p:nvPr>
        </p:nvSpPr>
        <p:spPr>
          <a:xfrm>
            <a:off x="611560" y="3068960"/>
            <a:ext cx="8353425" cy="3138488"/>
          </a:xfrm>
          <a:prstGeom prst="rect">
            <a:avLst/>
          </a:prstGeom>
          <a:solidFill>
            <a:schemeClr val="bg1"/>
          </a:solidFill>
          <a:ln w="12700">
            <a:solidFill>
              <a:srgbClr val="FF3300"/>
            </a:solidFill>
            <a:miter/>
          </a:ln>
        </p:spPr>
        <p:txBody>
          <a:bodyPr anchor="t">
            <a:spAutoFit/>
          </a:bodyPr>
          <a:lstStyle/>
          <a:p>
            <a:pPr marL="0" indent="0">
              <a:lnSpc>
                <a:spcPct val="150000"/>
              </a:lnSpc>
              <a:spcBef>
                <a:spcPct val="50000"/>
              </a:spcBef>
              <a:buNone/>
            </a:pPr>
            <a:r>
              <a:rPr lang="zh-CN" altLang="en-US" sz="2800" b="1" dirty="0">
                <a:solidFill>
                  <a:srgbClr val="0000FF"/>
                </a:solidFill>
                <a:latin typeface="Times New Roman" panose="02020603050405020304" pitchFamily="18" charset="0"/>
                <a:ea typeface="黑体" panose="02010609060101010101" pitchFamily="2" charset="-122"/>
              </a:rPr>
              <a:t>　</a:t>
            </a:r>
            <a:r>
              <a:rPr lang="zh-CN" altLang="en-US" sz="2400" b="1" dirty="0" smtClean="0">
                <a:solidFill>
                  <a:srgbClr val="0000FF"/>
                </a:solidFill>
                <a:latin typeface="Times New Roman" panose="02020603050405020304" pitchFamily="18" charset="0"/>
                <a:ea typeface="黑体" panose="02010609060101010101" pitchFamily="2" charset="-122"/>
              </a:rPr>
              <a:t>中国共产党</a:t>
            </a:r>
            <a:r>
              <a:rPr lang="zh-CN" altLang="en-US" sz="2400" b="1" dirty="0">
                <a:solidFill>
                  <a:srgbClr val="0000FF"/>
                </a:solidFill>
                <a:latin typeface="Times New Roman" panose="02020603050405020304" pitchFamily="18" charset="0"/>
                <a:ea typeface="黑体" panose="02010609060101010101" pitchFamily="2" charset="-122"/>
              </a:rPr>
              <a:t>是中国工人阶级的先锋队，同时又是全民族的先锋队。</a:t>
            </a:r>
          </a:p>
          <a:p>
            <a:pPr marL="0" indent="0">
              <a:lnSpc>
                <a:spcPct val="150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2" charset="-122"/>
              </a:rPr>
              <a:t>　　	 中共十六大通过的新修订的</a:t>
            </a:r>
            <a:r>
              <a:rPr lang="en-US" altLang="zh-CN" sz="2400" b="1" dirty="0">
                <a:solidFill>
                  <a:srgbClr val="0000FF"/>
                </a:solidFill>
                <a:latin typeface="Times New Roman" panose="02020603050405020304" pitchFamily="18" charset="0"/>
                <a:ea typeface="黑体" panose="02010609060101010101" pitchFamily="2" charset="-122"/>
              </a:rPr>
              <a:t>《</a:t>
            </a:r>
            <a:r>
              <a:rPr lang="zh-CN" altLang="en-US" sz="2400" b="1" dirty="0">
                <a:solidFill>
                  <a:srgbClr val="0000FF"/>
                </a:solidFill>
                <a:latin typeface="Times New Roman" panose="02020603050405020304" pitchFamily="18" charset="0"/>
                <a:ea typeface="黑体" panose="02010609060101010101" pitchFamily="2" charset="-122"/>
              </a:rPr>
              <a:t>中国共产党章程</a:t>
            </a:r>
            <a:r>
              <a:rPr lang="en-US" altLang="zh-CN" sz="2400" b="1" dirty="0">
                <a:solidFill>
                  <a:srgbClr val="0000FF"/>
                </a:solidFill>
                <a:latin typeface="Times New Roman" panose="02020603050405020304" pitchFamily="18" charset="0"/>
                <a:ea typeface="黑体" panose="02010609060101010101" pitchFamily="2" charset="-122"/>
              </a:rPr>
              <a:t>》</a:t>
            </a:r>
            <a:r>
              <a:rPr lang="zh-CN" altLang="en-US" sz="2400" b="1" dirty="0">
                <a:solidFill>
                  <a:srgbClr val="0000FF"/>
                </a:solidFill>
                <a:latin typeface="Times New Roman" panose="02020603050405020304" pitchFamily="18" charset="0"/>
                <a:ea typeface="黑体" panose="02010609060101010101" pitchFamily="2" charset="-122"/>
              </a:rPr>
              <a:t>明确指出：“中国共产党是中国工人阶级的先锋队，同时是中国人民和中华民族的先锋队。</a:t>
            </a:r>
            <a:r>
              <a:rPr lang="zh-CN" altLang="en-US" sz="2400" b="1" dirty="0" smtClean="0">
                <a:solidFill>
                  <a:srgbClr val="0000FF"/>
                </a:solidFill>
                <a:latin typeface="Times New Roman" panose="02020603050405020304" pitchFamily="18" charset="0"/>
                <a:ea typeface="黑体" panose="02010609060101010101" pitchFamily="2" charset="-122"/>
              </a:rPr>
              <a:t>”</a:t>
            </a:r>
            <a:r>
              <a:rPr lang="zh-CN" altLang="en-US" sz="2400" b="1" dirty="0">
                <a:solidFill>
                  <a:srgbClr val="0000FF"/>
                </a:solidFill>
                <a:latin typeface="Times New Roman" panose="02020603050405020304" pitchFamily="18" charset="0"/>
                <a:ea typeface="黑体" panose="02010609060101010101" pitchFamily="2" charset="-122"/>
              </a:rPr>
              <a:t>　　	</a:t>
            </a:r>
          </a:p>
        </p:txBody>
      </p:sp>
      <p:sp>
        <p:nvSpPr>
          <p:cNvPr id="3" name="矩形 2"/>
          <p:cNvSpPr/>
          <p:nvPr/>
        </p:nvSpPr>
        <p:spPr>
          <a:xfrm>
            <a:off x="611560" y="404664"/>
            <a:ext cx="4644220" cy="830997"/>
          </a:xfrm>
          <a:prstGeom prst="rect">
            <a:avLst/>
          </a:prstGeom>
          <a:solidFill>
            <a:schemeClr val="bg2"/>
          </a:solidFill>
          <a:ln>
            <a:solidFill>
              <a:schemeClr val="accent1"/>
            </a:solidFill>
          </a:ln>
        </p:spPr>
        <p:txBody>
          <a:bodyPr wrap="none">
            <a:spAutoFit/>
          </a:bodyPr>
          <a:lstStyle/>
          <a:p>
            <a:r>
              <a:rPr lang="zh-CN" altLang="en-US" sz="4800" b="1" dirty="0" smtClean="0">
                <a:solidFill>
                  <a:srgbClr val="FF0000"/>
                </a:solidFill>
                <a:latin typeface="+mj-ea"/>
                <a:ea typeface="+mj-ea"/>
              </a:rPr>
              <a:t>（三）党的建设</a:t>
            </a:r>
            <a:endParaRPr lang="zh-CN" altLang="en-US" sz="4800" dirty="0">
              <a:latin typeface="+mj-ea"/>
              <a:ea typeface="+mj-ea"/>
            </a:endParaRPr>
          </a:p>
        </p:txBody>
      </p:sp>
      <p:sp>
        <p:nvSpPr>
          <p:cNvPr id="4" name="矩形 3"/>
          <p:cNvSpPr/>
          <p:nvPr/>
        </p:nvSpPr>
        <p:spPr>
          <a:xfrm>
            <a:off x="772817" y="2204864"/>
            <a:ext cx="4818948" cy="646331"/>
          </a:xfrm>
          <a:prstGeom prst="rect">
            <a:avLst/>
          </a:prstGeom>
          <a:solidFill>
            <a:schemeClr val="bg1"/>
          </a:solidFill>
          <a:ln>
            <a:solidFill>
              <a:srgbClr val="FF0000"/>
            </a:solidFill>
          </a:ln>
        </p:spPr>
        <p:txBody>
          <a:bodyPr wrap="none">
            <a:spAutoFit/>
          </a:bodyPr>
          <a:lstStyle/>
          <a:p>
            <a:r>
              <a:rPr lang="en-US" altLang="zh-CN" sz="3600" b="1" dirty="0" smtClean="0">
                <a:solidFill>
                  <a:srgbClr val="FF0000"/>
                </a:solidFill>
                <a:latin typeface="+mj-ea"/>
                <a:ea typeface="+mj-ea"/>
              </a:rPr>
              <a:t>1</a:t>
            </a:r>
            <a:r>
              <a:rPr lang="zh-CN" altLang="en-US" sz="3600" b="1" dirty="0" smtClean="0">
                <a:solidFill>
                  <a:srgbClr val="FF0000"/>
                </a:solidFill>
                <a:latin typeface="+mj-ea"/>
                <a:ea typeface="+mj-ea"/>
              </a:rPr>
              <a:t>、 中国共产党的性质</a:t>
            </a:r>
            <a:endParaRPr lang="zh-CN" altLang="en-US" sz="3600" b="1" dirty="0">
              <a:solidFill>
                <a:srgbClr val="FF0000"/>
              </a:solidFill>
              <a:latin typeface="+mj-ea"/>
              <a:ea typeface="+mj-ea"/>
            </a:endParaRPr>
          </a:p>
        </p:txBody>
      </p:sp>
      <p:sp>
        <p:nvSpPr>
          <p:cNvPr id="5" name="矩形 4"/>
          <p:cNvSpPr/>
          <p:nvPr/>
        </p:nvSpPr>
        <p:spPr>
          <a:xfrm>
            <a:off x="1312912" y="1568804"/>
            <a:ext cx="4512774" cy="492251"/>
          </a:xfrm>
          <a:prstGeom prst="rect">
            <a:avLst/>
          </a:prstGeom>
          <a:solidFill>
            <a:schemeClr val="bg1"/>
          </a:solidFill>
          <a:ln>
            <a:solidFill>
              <a:srgbClr val="FF0000"/>
            </a:solidFill>
          </a:ln>
        </p:spPr>
        <p:txBody>
          <a:bodyPr wrap="none">
            <a:spAutoFit/>
          </a:bodyPr>
          <a:lstStyle/>
          <a:p>
            <a:pPr>
              <a:lnSpc>
                <a:spcPct val="105000"/>
              </a:lnSpc>
              <a:spcBef>
                <a:spcPct val="50000"/>
              </a:spcBef>
            </a:pPr>
            <a:r>
              <a:rPr lang="zh-CN" altLang="en-US" sz="2800" b="1" dirty="0" smtClean="0">
                <a:solidFill>
                  <a:srgbClr val="002060"/>
                </a:solidFill>
                <a:latin typeface="黑体" panose="02010609060101010101" pitchFamily="2" charset="-122"/>
                <a:ea typeface="黑体" panose="02010609060101010101" pitchFamily="2" charset="-122"/>
              </a:rPr>
              <a:t>党的建设是一项伟大的工程</a:t>
            </a:r>
            <a:endParaRPr lang="zh-CN" altLang="en-US" sz="2800" b="1" dirty="0">
              <a:solidFill>
                <a:srgbClr val="002060"/>
              </a:solidFill>
              <a:latin typeface="黑体" panose="02010609060101010101" pitchFamily="2" charset="-122"/>
              <a:ea typeface="黑体" panose="02010609060101010101" pitchFamily="2" charset="-122"/>
            </a:endParaRPr>
          </a:p>
        </p:txBody>
      </p:sp>
    </p:spTree>
  </p:cSld>
  <p:clrMapOvr>
    <a:masterClrMapping/>
  </p:clrMapOvr>
  <p:transition>
    <p:wipe dir="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p:cNvSpPr>
          <p:nvPr>
            <p:ph idx="4294967295"/>
          </p:nvPr>
        </p:nvSpPr>
        <p:spPr>
          <a:xfrm>
            <a:off x="755576" y="1628800"/>
            <a:ext cx="5185073" cy="3046988"/>
          </a:xfrm>
          <a:prstGeom prst="rect">
            <a:avLst/>
          </a:prstGeom>
          <a:solidFill>
            <a:schemeClr val="bg1"/>
          </a:solidFill>
          <a:ln w="12700">
            <a:solidFill>
              <a:srgbClr val="FF3300"/>
            </a:solidFill>
            <a:miter/>
          </a:ln>
        </p:spPr>
        <p:txBody>
          <a:bodyPr wrap="square" anchor="t">
            <a:spAutoFit/>
          </a:bodyPr>
          <a:lstStyle/>
          <a:p>
            <a:pPr marL="0" indent="0">
              <a:lnSpc>
                <a:spcPct val="150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2" charset="-122"/>
              </a:rPr>
              <a:t>　　</a:t>
            </a:r>
            <a:r>
              <a:rPr lang="zh-CN" altLang="en-US" sz="2400" b="1" dirty="0" smtClean="0">
                <a:solidFill>
                  <a:srgbClr val="0000FF"/>
                </a:solidFill>
                <a:latin typeface="Times New Roman" panose="02020603050405020304" pitchFamily="18" charset="0"/>
                <a:ea typeface="黑体" panose="02010609060101010101" pitchFamily="2" charset="-122"/>
              </a:rPr>
              <a:t> </a:t>
            </a:r>
            <a:r>
              <a:rPr lang="zh-CN" altLang="en-US" sz="2400" b="1" dirty="0">
                <a:solidFill>
                  <a:srgbClr val="0000FF"/>
                </a:solidFill>
                <a:latin typeface="Times New Roman" panose="02020603050405020304" pitchFamily="18" charset="0"/>
                <a:ea typeface="黑体" panose="02010609060101010101" pitchFamily="2" charset="-122"/>
              </a:rPr>
              <a:t>中国共产党是中国工人阶级的先锋队，代表了工人阶级的利益和意志。</a:t>
            </a:r>
          </a:p>
          <a:p>
            <a:pPr marL="0" indent="0">
              <a:lnSpc>
                <a:spcPct val="150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2" charset="-122"/>
              </a:rPr>
              <a:t>　　</a:t>
            </a:r>
            <a:r>
              <a:rPr lang="zh-CN" altLang="en-US" sz="2400" b="1" dirty="0" smtClean="0">
                <a:solidFill>
                  <a:srgbClr val="0000FF"/>
                </a:solidFill>
                <a:latin typeface="Times New Roman" panose="02020603050405020304" pitchFamily="18" charset="0"/>
                <a:ea typeface="黑体" panose="02010609060101010101" pitchFamily="2" charset="-122"/>
              </a:rPr>
              <a:t> </a:t>
            </a:r>
            <a:r>
              <a:rPr lang="zh-CN" altLang="en-US" sz="2400" b="1" dirty="0">
                <a:solidFill>
                  <a:srgbClr val="0000FF"/>
                </a:solidFill>
                <a:latin typeface="Times New Roman" panose="02020603050405020304" pitchFamily="18" charset="0"/>
                <a:ea typeface="黑体" panose="02010609060101010101" pitchFamily="2" charset="-122"/>
              </a:rPr>
              <a:t>中国共产党同时是中国人民和中华民族的先锋队，代表了中国人民和中华民族的整体利益和根本利益。</a:t>
            </a:r>
          </a:p>
        </p:txBody>
      </p:sp>
      <p:sp>
        <p:nvSpPr>
          <p:cNvPr id="3" name="Rectangle 2"/>
          <p:cNvSpPr txBox="1">
            <a:spLocks/>
          </p:cNvSpPr>
          <p:nvPr/>
        </p:nvSpPr>
        <p:spPr>
          <a:xfrm>
            <a:off x="2843808" y="5445224"/>
            <a:ext cx="5688632" cy="646331"/>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50000"/>
              </a:lnSpc>
              <a:spcBef>
                <a:spcPct val="50000"/>
              </a:spcBef>
              <a:buFont typeface="Wingdings 2"/>
              <a:buNone/>
            </a:pPr>
            <a:r>
              <a:rPr lang="zh-CN" altLang="en-US" sz="2400" b="1" dirty="0" smtClean="0">
                <a:solidFill>
                  <a:srgbClr val="FF0000"/>
                </a:solidFill>
                <a:latin typeface="华文琥珀" pitchFamily="2" charset="-122"/>
                <a:ea typeface="华文琥珀" pitchFamily="2" charset="-122"/>
              </a:rPr>
              <a:t>思考：十八大以来开展了哪些党建行动？</a:t>
            </a:r>
            <a:endParaRPr lang="zh-CN" altLang="en-US" sz="2400" b="1" dirty="0">
              <a:solidFill>
                <a:srgbClr val="FF0000"/>
              </a:solidFill>
              <a:latin typeface="华文琥珀" pitchFamily="2" charset="-122"/>
              <a:ea typeface="华文琥珀" pitchFamily="2" charset="-122"/>
            </a:endParaRPr>
          </a:p>
        </p:txBody>
      </p:sp>
    </p:spTree>
  </p:cSld>
  <p:clrMapOvr>
    <a:masterClrMapping/>
  </p:clrMapOvr>
  <p:transition>
    <p:wipe dir="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p:cNvSpPr>
          <p:nvPr>
            <p:ph idx="4294967295"/>
          </p:nvPr>
        </p:nvSpPr>
        <p:spPr>
          <a:xfrm>
            <a:off x="539552" y="2132856"/>
            <a:ext cx="7668716" cy="1449628"/>
          </a:xfrm>
          <a:prstGeom prst="rect">
            <a:avLst/>
          </a:prstGeom>
          <a:solidFill>
            <a:schemeClr val="bg1"/>
          </a:solidFill>
          <a:ln w="12700">
            <a:solidFill>
              <a:srgbClr val="FF3300"/>
            </a:solidFill>
            <a:miter/>
          </a:ln>
        </p:spPr>
        <p:txBody>
          <a:bodyPr wrap="square" anchor="t">
            <a:spAutoFit/>
          </a:bodyPr>
          <a:lstStyle/>
          <a:p>
            <a:pPr marL="0" indent="0">
              <a:lnSpc>
                <a:spcPct val="105000"/>
              </a:lnSpc>
              <a:spcBef>
                <a:spcPct val="50000"/>
              </a:spcBef>
              <a:buNone/>
            </a:pPr>
            <a:r>
              <a:rPr lang="zh-CN" altLang="en-US" sz="2800" b="1" dirty="0" smtClean="0">
                <a:solidFill>
                  <a:srgbClr val="0000FF"/>
                </a:solidFill>
                <a:latin typeface="黑体" panose="02010609060101010101" pitchFamily="2" charset="-122"/>
                <a:ea typeface="黑体" panose="02010609060101010101" pitchFamily="2" charset="-122"/>
              </a:rPr>
              <a:t>    半殖民地半封建社会的中国，中国共产党的成分及所处的战争环境，容易使党产生各种不正之风。</a:t>
            </a:r>
            <a:endParaRPr lang="zh-CN" altLang="en-US" sz="2800" b="1" dirty="0">
              <a:solidFill>
                <a:srgbClr val="0000FF"/>
              </a:solidFill>
              <a:latin typeface="黑体" panose="02010609060101010101" pitchFamily="2" charset="-122"/>
              <a:ea typeface="黑体" panose="02010609060101010101" pitchFamily="2" charset="-122"/>
            </a:endParaRPr>
          </a:p>
        </p:txBody>
      </p:sp>
      <p:sp>
        <p:nvSpPr>
          <p:cNvPr id="3" name="矩形 2"/>
          <p:cNvSpPr/>
          <p:nvPr/>
        </p:nvSpPr>
        <p:spPr>
          <a:xfrm>
            <a:off x="683568" y="980728"/>
            <a:ext cx="6356227" cy="707886"/>
          </a:xfrm>
          <a:prstGeom prst="rect">
            <a:avLst/>
          </a:prstGeom>
          <a:solidFill>
            <a:schemeClr val="bg1"/>
          </a:solidFill>
          <a:ln>
            <a:solidFill>
              <a:srgbClr val="FF0000"/>
            </a:solidFill>
          </a:ln>
        </p:spPr>
        <p:txBody>
          <a:bodyPr wrap="none">
            <a:spAutoFit/>
          </a:bodyPr>
          <a:lstStyle/>
          <a:p>
            <a:r>
              <a:rPr lang="en-US" altLang="zh-CN" sz="4000" dirty="0" smtClean="0">
                <a:solidFill>
                  <a:srgbClr val="FF0000"/>
                </a:solidFill>
                <a:latin typeface="+mj-ea"/>
                <a:ea typeface="+mj-ea"/>
              </a:rPr>
              <a:t> 2</a:t>
            </a:r>
            <a:r>
              <a:rPr lang="zh-CN" altLang="en-US" sz="4000" dirty="0" smtClean="0">
                <a:solidFill>
                  <a:srgbClr val="FF0000"/>
                </a:solidFill>
                <a:latin typeface="+mj-ea"/>
                <a:ea typeface="+mj-ea"/>
              </a:rPr>
              <a:t>、</a:t>
            </a:r>
            <a:r>
              <a:rPr lang="zh-CN" altLang="en-US" sz="4000" b="1" dirty="0" smtClean="0">
                <a:solidFill>
                  <a:srgbClr val="FF0000"/>
                </a:solidFill>
                <a:latin typeface="+mj-ea"/>
                <a:ea typeface="+mj-ea"/>
              </a:rPr>
              <a:t>加强党的建设的必要性</a:t>
            </a:r>
            <a:endParaRPr lang="zh-CN" altLang="en-US" sz="4000" dirty="0">
              <a:solidFill>
                <a:srgbClr val="FF0000"/>
              </a:solidFill>
              <a:latin typeface="+mj-ea"/>
              <a:ea typeface="+mj-ea"/>
            </a:endParaRPr>
          </a:p>
        </p:txBody>
      </p:sp>
      <p:sp>
        <p:nvSpPr>
          <p:cNvPr id="4" name="矩形 3"/>
          <p:cNvSpPr/>
          <p:nvPr/>
        </p:nvSpPr>
        <p:spPr>
          <a:xfrm>
            <a:off x="755576" y="4149080"/>
            <a:ext cx="7416824" cy="1215717"/>
          </a:xfrm>
          <a:prstGeom prst="rect">
            <a:avLst/>
          </a:prstGeom>
          <a:solidFill>
            <a:schemeClr val="bg2"/>
          </a:solidFill>
        </p:spPr>
        <p:txBody>
          <a:bodyPr wrap="square">
            <a:spAutoFit/>
          </a:bodyPr>
          <a:lstStyle/>
          <a:p>
            <a:pPr lvl="0">
              <a:lnSpc>
                <a:spcPct val="105000"/>
              </a:lnSpc>
              <a:spcBef>
                <a:spcPct val="50000"/>
              </a:spcBef>
              <a:buClr>
                <a:srgbClr val="477AB1"/>
              </a:buClr>
              <a:buSzPct val="50000"/>
            </a:pPr>
            <a:r>
              <a:rPr lang="zh-CN" altLang="en-US" sz="2000" b="1" dirty="0">
                <a:latin typeface="黑体" panose="02010609060101010101" pitchFamily="2" charset="-122"/>
                <a:ea typeface="黑体" panose="02010609060101010101" pitchFamily="2" charset="-122"/>
              </a:rPr>
              <a:t>土地革命战争时期，党的组成主要是大量农民和小资产阶级知识分子</a:t>
            </a:r>
            <a:endParaRPr lang="en-US" altLang="zh-CN" sz="2000" b="1" dirty="0">
              <a:latin typeface="黑体" panose="02010609060101010101" pitchFamily="2" charset="-122"/>
              <a:ea typeface="黑体" panose="02010609060101010101" pitchFamily="2" charset="-122"/>
            </a:endParaRPr>
          </a:p>
          <a:p>
            <a:pPr lvl="0">
              <a:lnSpc>
                <a:spcPct val="105000"/>
              </a:lnSpc>
              <a:spcBef>
                <a:spcPct val="50000"/>
              </a:spcBef>
              <a:buClr>
                <a:srgbClr val="477AB1"/>
              </a:buClr>
              <a:buSzPct val="50000"/>
            </a:pPr>
            <a:r>
              <a:rPr lang="zh-CN" altLang="en-US" sz="2000" b="1" dirty="0">
                <a:latin typeface="黑体" panose="02010609060101010101" pitchFamily="2" charset="-122"/>
                <a:ea typeface="黑体" panose="02010609060101010101" pitchFamily="2" charset="-122"/>
              </a:rPr>
              <a:t>抗日战争时期，农民知识分子（青年学生）和军人</a:t>
            </a:r>
          </a:p>
        </p:txBody>
      </p:sp>
    </p:spTree>
  </p:cSld>
  <p:clrMapOvr>
    <a:masterClrMapping/>
  </p:clrMapOvr>
  <p:transition>
    <p:wipe dir="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央视大型文献纪录片《旗帜》第二集：《浴血奋斗》1.mp4">
            <a:hlinkClick r:id="" action="ppaction://media"/>
          </p:cNvPr>
          <p:cNvPicPr>
            <a:picLocks noRot="1" noChangeAspect="1"/>
          </p:cNvPicPr>
          <p:nvPr>
            <a:videoFile r:link="rId1"/>
          </p:nvPr>
        </p:nvPicPr>
        <p:blipFill>
          <a:blip r:embed="rId3" cstate="print"/>
          <a:stretch>
            <a:fillRect/>
          </a:stretch>
        </p:blipFill>
        <p:spPr>
          <a:xfrm>
            <a:off x="899592" y="260648"/>
            <a:ext cx="7488832" cy="6120680"/>
          </a:xfrm>
          <a:prstGeom prst="rect">
            <a:avLst/>
          </a:prstGeom>
        </p:spPr>
      </p:pic>
    </p:spTree>
  </p:cSld>
  <p:clrMapOvr>
    <a:masterClrMapping/>
  </p:clrMapOvr>
  <p:transition>
    <p:wipe dir="r"/>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p:cTn id="7" fill="hold" display="0">
                  <p:stCondLst>
                    <p:cond delay="indefinite"/>
                  </p:stCondLst>
                  <p:endCondLst>
                    <p:cond evt="onNext" delay="0">
                      <p:tgtEl>
                        <p:sldTgt/>
                      </p:tgtEl>
                    </p:cond>
                    <p:cond evt="onPrev" delay="0">
                      <p:tgtEl>
                        <p:sldTgt/>
                      </p:tgtEl>
                    </p:cond>
                  </p:endCondLst>
                </p:cTn>
                <p:tgtEl>
                  <p:spTgt spid="2"/>
                </p:tgtEl>
              </p:cMediaNode>
            </p:video>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souti-pic.daanjiexi.com/20201107/1604739565561161.png@!test"/>
          <p:cNvPicPr>
            <a:picLocks noChangeAspect="1" noChangeArrowheads="1"/>
          </p:cNvPicPr>
          <p:nvPr/>
        </p:nvPicPr>
        <p:blipFill>
          <a:blip r:embed="rId2" cstate="print"/>
          <a:srcRect/>
          <a:stretch>
            <a:fillRect/>
          </a:stretch>
        </p:blipFill>
        <p:spPr bwMode="auto">
          <a:xfrm>
            <a:off x="-252536" y="1628800"/>
            <a:ext cx="9601200" cy="3714751"/>
          </a:xfrm>
          <a:prstGeom prst="rect">
            <a:avLst/>
          </a:prstGeom>
          <a:noFill/>
        </p:spPr>
      </p:pic>
    </p:spTree>
  </p:cSld>
  <p:clrMapOvr>
    <a:masterClrMapping/>
  </p:clrMapOvr>
  <p:transition>
    <p:wipe dir="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395536" y="908720"/>
          <a:ext cx="8424936" cy="5184575"/>
        </p:xfrm>
        <a:graphic>
          <a:graphicData uri="http://schemas.openxmlformats.org/drawingml/2006/table">
            <a:tbl>
              <a:tblPr firstRow="1" bandRow="1">
                <a:tableStyleId>{5C22544A-7EE6-4342-B048-85BDC9FD1C3A}</a:tableStyleId>
              </a:tblPr>
              <a:tblGrid>
                <a:gridCol w="936104"/>
                <a:gridCol w="936104"/>
                <a:gridCol w="936104"/>
                <a:gridCol w="936104"/>
                <a:gridCol w="936104"/>
                <a:gridCol w="936104"/>
                <a:gridCol w="936104"/>
                <a:gridCol w="936104"/>
                <a:gridCol w="936104"/>
              </a:tblGrid>
              <a:tr h="1036915">
                <a:tc>
                  <a:txBody>
                    <a:bodyPr/>
                    <a:lstStyle/>
                    <a:p>
                      <a:endParaRPr lang="zh-CN" altLang="en-US" dirty="0"/>
                    </a:p>
                  </a:txBody>
                  <a:tcPr/>
                </a:tc>
                <a:tc>
                  <a:txBody>
                    <a:bodyPr/>
                    <a:lstStyle/>
                    <a:p>
                      <a:r>
                        <a:rPr lang="zh-CN" altLang="en-US" dirty="0" smtClean="0"/>
                        <a:t>时间</a:t>
                      </a:r>
                      <a:endParaRPr lang="zh-CN" altLang="en-US" dirty="0"/>
                    </a:p>
                  </a:txBody>
                  <a:tcPr/>
                </a:tc>
                <a:tc>
                  <a:txBody>
                    <a:bodyPr/>
                    <a:lstStyle/>
                    <a:p>
                      <a:r>
                        <a:rPr lang="zh-CN" altLang="en-US" dirty="0" smtClean="0"/>
                        <a:t>党员总数</a:t>
                      </a:r>
                      <a:endParaRPr lang="zh-CN" altLang="en-US" dirty="0"/>
                    </a:p>
                  </a:txBody>
                  <a:tcPr/>
                </a:tc>
                <a:tc>
                  <a:txBody>
                    <a:bodyPr/>
                    <a:lstStyle/>
                    <a:p>
                      <a:r>
                        <a:rPr lang="zh-CN" altLang="en-US" dirty="0" smtClean="0"/>
                        <a:t>工人</a:t>
                      </a:r>
                      <a:endParaRPr lang="zh-CN" altLang="en-US" dirty="0"/>
                    </a:p>
                  </a:txBody>
                  <a:tcPr/>
                </a:tc>
                <a:tc>
                  <a:txBody>
                    <a:bodyPr/>
                    <a:lstStyle/>
                    <a:p>
                      <a:r>
                        <a:rPr lang="zh-CN" altLang="en-US" dirty="0" smtClean="0"/>
                        <a:t>农民</a:t>
                      </a:r>
                      <a:endParaRPr lang="zh-CN" altLang="en-US" dirty="0"/>
                    </a:p>
                  </a:txBody>
                  <a:tcPr/>
                </a:tc>
                <a:tc>
                  <a:txBody>
                    <a:bodyPr/>
                    <a:lstStyle/>
                    <a:p>
                      <a:r>
                        <a:rPr lang="zh-CN" altLang="en-US" dirty="0" smtClean="0"/>
                        <a:t>知识分子</a:t>
                      </a:r>
                      <a:endParaRPr lang="zh-CN" altLang="en-US" dirty="0"/>
                    </a:p>
                  </a:txBody>
                  <a:tcPr/>
                </a:tc>
                <a:tc>
                  <a:txBody>
                    <a:bodyPr/>
                    <a:lstStyle/>
                    <a:p>
                      <a:r>
                        <a:rPr lang="zh-CN" altLang="en-US" dirty="0" smtClean="0"/>
                        <a:t>军人</a:t>
                      </a:r>
                      <a:endParaRPr lang="zh-CN" altLang="en-US" dirty="0"/>
                    </a:p>
                  </a:txBody>
                  <a:tcPr/>
                </a:tc>
                <a:tc>
                  <a:txBody>
                    <a:bodyPr/>
                    <a:lstStyle/>
                    <a:p>
                      <a:r>
                        <a:rPr lang="zh-CN" altLang="en-US" dirty="0" smtClean="0"/>
                        <a:t>中小商人</a:t>
                      </a:r>
                      <a:endParaRPr lang="zh-CN" altLang="en-US" dirty="0"/>
                    </a:p>
                  </a:txBody>
                  <a:tcPr/>
                </a:tc>
                <a:tc>
                  <a:txBody>
                    <a:bodyPr/>
                    <a:lstStyle/>
                    <a:p>
                      <a:r>
                        <a:rPr lang="zh-CN" altLang="en-US" dirty="0" smtClean="0"/>
                        <a:t>其他</a:t>
                      </a:r>
                      <a:endParaRPr lang="zh-CN" altLang="en-US" dirty="0"/>
                    </a:p>
                  </a:txBody>
                  <a:tcPr/>
                </a:tc>
              </a:tr>
              <a:tr h="1036915">
                <a:tc>
                  <a:txBody>
                    <a:bodyPr/>
                    <a:lstStyle/>
                    <a:p>
                      <a:r>
                        <a:rPr lang="zh-CN" altLang="en-US" dirty="0" smtClean="0"/>
                        <a:t>第五次</a:t>
                      </a:r>
                      <a:endParaRPr lang="zh-CN" altLang="en-US" dirty="0"/>
                    </a:p>
                  </a:txBody>
                  <a:tcPr/>
                </a:tc>
                <a:tc>
                  <a:txBody>
                    <a:bodyPr/>
                    <a:lstStyle/>
                    <a:p>
                      <a:r>
                        <a:rPr lang="en-US" altLang="zh-CN" dirty="0" smtClean="0"/>
                        <a:t>1927</a:t>
                      </a:r>
                      <a:r>
                        <a:rPr lang="zh-CN" altLang="en-US" dirty="0" smtClean="0"/>
                        <a:t>、</a:t>
                      </a:r>
                      <a:r>
                        <a:rPr lang="en-US" altLang="zh-CN" dirty="0" smtClean="0"/>
                        <a:t>5</a:t>
                      </a:r>
                      <a:endParaRPr lang="zh-CN" altLang="en-US" dirty="0"/>
                    </a:p>
                  </a:txBody>
                  <a:tcPr/>
                </a:tc>
                <a:tc>
                  <a:txBody>
                    <a:bodyPr/>
                    <a:lstStyle/>
                    <a:p>
                      <a:r>
                        <a:rPr lang="en-US" altLang="zh-CN" dirty="0" smtClean="0"/>
                        <a:t>5.79</a:t>
                      </a:r>
                      <a:r>
                        <a:rPr lang="zh-CN" altLang="en-US" dirty="0" smtClean="0"/>
                        <a:t>万</a:t>
                      </a:r>
                      <a:endParaRPr lang="zh-CN" altLang="en-US" dirty="0"/>
                    </a:p>
                  </a:txBody>
                  <a:tcPr/>
                </a:tc>
                <a:tc>
                  <a:txBody>
                    <a:bodyPr/>
                    <a:lstStyle/>
                    <a:p>
                      <a:r>
                        <a:rPr lang="en-US" altLang="zh-CN" dirty="0" smtClean="0"/>
                        <a:t>50.8%</a:t>
                      </a:r>
                      <a:endParaRPr lang="zh-CN" altLang="en-US" dirty="0"/>
                    </a:p>
                  </a:txBody>
                  <a:tcPr/>
                </a:tc>
                <a:tc>
                  <a:txBody>
                    <a:bodyPr/>
                    <a:lstStyle/>
                    <a:p>
                      <a:r>
                        <a:rPr lang="en-US" altLang="zh-CN" dirty="0" smtClean="0"/>
                        <a:t>18.7%</a:t>
                      </a:r>
                      <a:endParaRPr lang="zh-CN" altLang="en-US" dirty="0"/>
                    </a:p>
                  </a:txBody>
                  <a:tcPr/>
                </a:tc>
                <a:tc>
                  <a:txBody>
                    <a:bodyPr/>
                    <a:lstStyle/>
                    <a:p>
                      <a:r>
                        <a:rPr lang="en-US" altLang="zh-CN" dirty="0" smtClean="0"/>
                        <a:t>19.1%</a:t>
                      </a:r>
                      <a:endParaRPr lang="zh-CN" altLang="en-US" dirty="0"/>
                    </a:p>
                  </a:txBody>
                  <a:tcPr/>
                </a:tc>
                <a:tc>
                  <a:txBody>
                    <a:bodyPr/>
                    <a:lstStyle/>
                    <a:p>
                      <a:r>
                        <a:rPr lang="en-US" altLang="zh-CN" dirty="0" smtClean="0"/>
                        <a:t>3.1%</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7.8%</a:t>
                      </a:r>
                      <a:endParaRPr lang="zh-CN" altLang="en-US" dirty="0"/>
                    </a:p>
                  </a:txBody>
                  <a:tcPr/>
                </a:tc>
              </a:tr>
              <a:tr h="1036915">
                <a:tc>
                  <a:txBody>
                    <a:bodyPr/>
                    <a:lstStyle/>
                    <a:p>
                      <a:r>
                        <a:rPr lang="zh-CN" altLang="en-US" dirty="0" smtClean="0"/>
                        <a:t>第六次</a:t>
                      </a:r>
                      <a:endParaRPr lang="zh-CN" altLang="en-US" dirty="0"/>
                    </a:p>
                  </a:txBody>
                  <a:tcPr/>
                </a:tc>
                <a:tc>
                  <a:txBody>
                    <a:bodyPr/>
                    <a:lstStyle/>
                    <a:p>
                      <a:r>
                        <a:rPr lang="en-US" altLang="zh-CN" dirty="0" smtClean="0"/>
                        <a:t>1928</a:t>
                      </a:r>
                      <a:r>
                        <a:rPr lang="zh-CN" altLang="en-US" dirty="0" smtClean="0"/>
                        <a:t>、</a:t>
                      </a:r>
                      <a:r>
                        <a:rPr lang="en-US" altLang="zh-CN" dirty="0" smtClean="0"/>
                        <a:t>6</a:t>
                      </a:r>
                      <a:endParaRPr lang="zh-CN" altLang="en-US" dirty="0"/>
                    </a:p>
                  </a:txBody>
                  <a:tcPr/>
                </a:tc>
                <a:tc>
                  <a:txBody>
                    <a:bodyPr/>
                    <a:lstStyle/>
                    <a:p>
                      <a:r>
                        <a:rPr lang="zh-CN" altLang="en-US" dirty="0" smtClean="0"/>
                        <a:t>不详</a:t>
                      </a:r>
                      <a:endParaRPr lang="zh-CN" altLang="en-US" dirty="0"/>
                    </a:p>
                  </a:txBody>
                  <a:tcPr/>
                </a:tc>
                <a:tc>
                  <a:txBody>
                    <a:bodyPr/>
                    <a:lstStyle/>
                    <a:p>
                      <a:r>
                        <a:rPr lang="en-US" altLang="zh-CN" dirty="0" smtClean="0"/>
                        <a:t>10%</a:t>
                      </a:r>
                      <a:endParaRPr lang="zh-CN" altLang="en-US" dirty="0"/>
                    </a:p>
                  </a:txBody>
                  <a:tcPr/>
                </a:tc>
                <a:tc>
                  <a:txBody>
                    <a:bodyPr/>
                    <a:lstStyle/>
                    <a:p>
                      <a:r>
                        <a:rPr lang="en-US" altLang="zh-CN" dirty="0" smtClean="0"/>
                        <a:t>76%</a:t>
                      </a:r>
                      <a:endParaRPr lang="zh-CN" altLang="en-US" dirty="0"/>
                    </a:p>
                  </a:txBody>
                  <a:tcPr/>
                </a:tc>
                <a:tc>
                  <a:txBody>
                    <a:bodyPr/>
                    <a:lstStyle/>
                    <a:p>
                      <a:r>
                        <a:rPr lang="zh-CN" altLang="en-US" dirty="0" smtClean="0"/>
                        <a:t>不详</a:t>
                      </a:r>
                      <a:endParaRPr lang="zh-CN" altLang="en-US" dirty="0"/>
                    </a:p>
                  </a:txBody>
                  <a:tcPr/>
                </a:tc>
                <a:tc>
                  <a:txBody>
                    <a:bodyPr/>
                    <a:lstStyle/>
                    <a:p>
                      <a:r>
                        <a:rPr lang="zh-CN" altLang="en-US" dirty="0" smtClean="0"/>
                        <a:t>不详</a:t>
                      </a:r>
                      <a:endParaRPr lang="zh-CN" altLang="en-US" dirty="0"/>
                    </a:p>
                  </a:txBody>
                  <a:tcPr/>
                </a:tc>
                <a:tc>
                  <a:txBody>
                    <a:bodyPr/>
                    <a:lstStyle/>
                    <a:p>
                      <a:r>
                        <a:rPr lang="zh-CN" altLang="en-US" dirty="0" smtClean="0"/>
                        <a:t>不详</a:t>
                      </a:r>
                      <a:endParaRPr lang="zh-CN" altLang="en-US" dirty="0"/>
                    </a:p>
                  </a:txBody>
                  <a:tcPr/>
                </a:tc>
                <a:tc>
                  <a:txBody>
                    <a:bodyPr/>
                    <a:lstStyle/>
                    <a:p>
                      <a:r>
                        <a:rPr lang="zh-CN" altLang="en-US" dirty="0" smtClean="0"/>
                        <a:t>不详</a:t>
                      </a:r>
                      <a:endParaRPr lang="zh-CN" altLang="en-US" dirty="0"/>
                    </a:p>
                  </a:txBody>
                  <a:tcPr/>
                </a:tc>
              </a:tr>
              <a:tr h="1036915">
                <a:tc>
                  <a:txBody>
                    <a:bodyPr/>
                    <a:lstStyle/>
                    <a:p>
                      <a:r>
                        <a:rPr lang="zh-CN" altLang="en-US" dirty="0" smtClean="0"/>
                        <a:t>第七次</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1945</a:t>
                      </a:r>
                      <a:r>
                        <a:rPr lang="zh-CN" altLang="en-US" dirty="0" smtClean="0"/>
                        <a:t>、</a:t>
                      </a:r>
                      <a:r>
                        <a:rPr lang="en-US" altLang="zh-CN" dirty="0" smtClean="0"/>
                        <a:t>4</a:t>
                      </a:r>
                      <a:endParaRPr lang="zh-CN" altLang="en-US" dirty="0" smtClean="0"/>
                    </a:p>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448.8</a:t>
                      </a:r>
                      <a:r>
                        <a:rPr lang="zh-CN" altLang="en-US" dirty="0" smtClean="0"/>
                        <a:t>万</a:t>
                      </a:r>
                    </a:p>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2.5%</a:t>
                      </a:r>
                      <a:endParaRPr lang="zh-CN" altLang="en-US" dirty="0" smtClean="0"/>
                    </a:p>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59.6%</a:t>
                      </a:r>
                      <a:endParaRPr lang="zh-CN" altLang="en-US" dirty="0" smtClean="0"/>
                    </a:p>
                    <a:p>
                      <a:endParaRPr lang="zh-CN" altLang="en-US" dirty="0"/>
                    </a:p>
                  </a:txBody>
                  <a:tcPr/>
                </a:tc>
                <a:tc>
                  <a:txBody>
                    <a:bodyPr/>
                    <a:lstStyle/>
                    <a:p>
                      <a:r>
                        <a:rPr lang="zh-CN" altLang="en-US" dirty="0" smtClean="0"/>
                        <a:t>职员、学生</a:t>
                      </a:r>
                      <a:r>
                        <a:rPr lang="en-US" altLang="zh-CN" dirty="0" smtClean="0"/>
                        <a:t>11.9%</a:t>
                      </a:r>
                      <a:endParaRPr lang="zh-CN" altLang="en-US" dirty="0"/>
                    </a:p>
                  </a:txBody>
                  <a:tcPr/>
                </a:tc>
                <a:tc>
                  <a:txBody>
                    <a:bodyPr/>
                    <a:lstStyle/>
                    <a:p>
                      <a:r>
                        <a:rPr lang="en-US" altLang="zh-CN" dirty="0" smtClean="0"/>
                        <a:t>24%</a:t>
                      </a:r>
                      <a:endParaRPr lang="zh-CN" altLang="en-US" dirty="0"/>
                    </a:p>
                  </a:txBody>
                  <a:tcPr/>
                </a:tc>
                <a:tc>
                  <a:txBody>
                    <a:bodyPr/>
                    <a:lstStyle/>
                    <a:p>
                      <a:r>
                        <a:rPr lang="zh-CN" altLang="en-US" dirty="0" smtClean="0"/>
                        <a:t>不详</a:t>
                      </a:r>
                      <a:endParaRPr lang="zh-CN" altLang="en-US" dirty="0"/>
                    </a:p>
                  </a:txBody>
                  <a:tcPr/>
                </a:tc>
                <a:tc>
                  <a:txBody>
                    <a:bodyPr/>
                    <a:lstStyle/>
                    <a:p>
                      <a:r>
                        <a:rPr lang="en-US" altLang="zh-CN" dirty="0" smtClean="0"/>
                        <a:t>2%</a:t>
                      </a:r>
                      <a:endParaRPr lang="zh-CN" altLang="en-US" dirty="0"/>
                    </a:p>
                  </a:txBody>
                  <a:tcPr/>
                </a:tc>
              </a:tr>
              <a:tr h="1036915">
                <a:tc>
                  <a:txBody>
                    <a:bodyPr/>
                    <a:lstStyle/>
                    <a:p>
                      <a:r>
                        <a:rPr lang="zh-CN" altLang="en-US" dirty="0" smtClean="0"/>
                        <a:t>第八次</a:t>
                      </a:r>
                      <a:endParaRPr lang="zh-CN" altLang="en-US" dirty="0"/>
                    </a:p>
                  </a:txBody>
                  <a:tcPr/>
                </a:tc>
                <a:tc>
                  <a:txBody>
                    <a:bodyPr/>
                    <a:lstStyle/>
                    <a:p>
                      <a:r>
                        <a:rPr lang="en-US" altLang="zh-CN" dirty="0" smtClean="0"/>
                        <a:t>1956</a:t>
                      </a:r>
                      <a:r>
                        <a:rPr lang="zh-CN" altLang="en-US" dirty="0" smtClean="0"/>
                        <a:t>、</a:t>
                      </a:r>
                      <a:r>
                        <a:rPr lang="en-US" altLang="zh-CN" dirty="0" smtClean="0"/>
                        <a:t>9</a:t>
                      </a:r>
                      <a:endParaRPr lang="zh-CN" altLang="en-US" dirty="0"/>
                    </a:p>
                  </a:txBody>
                  <a:tcPr/>
                </a:tc>
                <a:tc>
                  <a:txBody>
                    <a:bodyPr/>
                    <a:lstStyle/>
                    <a:p>
                      <a:r>
                        <a:rPr lang="en-US" altLang="zh-CN" dirty="0" smtClean="0"/>
                        <a:t>1250.4</a:t>
                      </a:r>
                      <a:r>
                        <a:rPr lang="zh-CN" altLang="en-US" dirty="0" smtClean="0"/>
                        <a:t>万</a:t>
                      </a:r>
                      <a:endParaRPr lang="zh-CN" altLang="en-US" dirty="0"/>
                    </a:p>
                  </a:txBody>
                  <a:tcPr/>
                </a:tc>
                <a:tc>
                  <a:txBody>
                    <a:bodyPr/>
                    <a:lstStyle/>
                    <a:p>
                      <a:r>
                        <a:rPr lang="en-US" altLang="zh-CN" dirty="0" smtClean="0"/>
                        <a:t>8.8%</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52.37%</a:t>
                      </a:r>
                      <a:endParaRPr lang="zh-CN" altLang="en-US" dirty="0" smtClean="0"/>
                    </a:p>
                    <a:p>
                      <a:endParaRPr lang="zh-CN" altLang="en-US" dirty="0"/>
                    </a:p>
                  </a:txBody>
                  <a:tcPr/>
                </a:tc>
                <a:tc>
                  <a:txBody>
                    <a:bodyPr/>
                    <a:lstStyle/>
                    <a:p>
                      <a:r>
                        <a:rPr lang="zh-CN" altLang="en-US" dirty="0" smtClean="0"/>
                        <a:t>不详</a:t>
                      </a:r>
                      <a:endParaRPr lang="zh-CN" altLang="en-US" dirty="0"/>
                    </a:p>
                  </a:txBody>
                  <a:tcPr/>
                </a:tc>
                <a:tc>
                  <a:txBody>
                    <a:bodyPr/>
                    <a:lstStyle/>
                    <a:p>
                      <a:r>
                        <a:rPr lang="en-US" altLang="zh-CN" dirty="0" smtClean="0"/>
                        <a:t>10.72%</a:t>
                      </a:r>
                      <a:endParaRPr lang="zh-CN" altLang="en-US" dirty="0"/>
                    </a:p>
                  </a:txBody>
                  <a:tcPr/>
                </a:tc>
                <a:tc>
                  <a:txBody>
                    <a:bodyPr/>
                    <a:lstStyle/>
                    <a:p>
                      <a:r>
                        <a:rPr lang="zh-CN" altLang="en-US" dirty="0" smtClean="0"/>
                        <a:t>不详</a:t>
                      </a:r>
                      <a:endParaRPr lang="zh-CN" altLang="en-US" dirty="0"/>
                    </a:p>
                  </a:txBody>
                  <a:tcPr/>
                </a:tc>
                <a:tc>
                  <a:txBody>
                    <a:bodyPr/>
                    <a:lstStyle/>
                    <a:p>
                      <a:r>
                        <a:rPr lang="zh-CN" altLang="en-US" dirty="0" smtClean="0"/>
                        <a:t>不详</a:t>
                      </a:r>
                      <a:endParaRPr lang="zh-CN" altLang="en-US" dirty="0"/>
                    </a:p>
                  </a:txBody>
                  <a:tcPr/>
                </a:tc>
              </a:tr>
            </a:tbl>
          </a:graphicData>
        </a:graphic>
      </p:graphicFrame>
      <p:sp>
        <p:nvSpPr>
          <p:cNvPr id="4" name="矩形 3"/>
          <p:cNvSpPr/>
          <p:nvPr/>
        </p:nvSpPr>
        <p:spPr>
          <a:xfrm>
            <a:off x="683568" y="260648"/>
            <a:ext cx="6408712" cy="365036"/>
          </a:xfrm>
          <a:prstGeom prst="rect">
            <a:avLst/>
          </a:prstGeom>
          <a:solidFill>
            <a:schemeClr val="bg1"/>
          </a:solidFill>
          <a:ln>
            <a:solidFill>
              <a:schemeClr val="accent1"/>
            </a:solidFill>
          </a:ln>
        </p:spPr>
        <p:txBody>
          <a:bodyPr wrap="square">
            <a:spAutoFit/>
          </a:bodyPr>
          <a:lstStyle/>
          <a:p>
            <a:pPr lvl="0">
              <a:lnSpc>
                <a:spcPct val="150000"/>
              </a:lnSpc>
              <a:spcBef>
                <a:spcPct val="50000"/>
              </a:spcBef>
              <a:buClr>
                <a:srgbClr val="477AB1"/>
              </a:buClr>
              <a:buSzPct val="50000"/>
            </a:pPr>
            <a:r>
              <a:rPr lang="zh-CN" altLang="en-US" sz="1400" b="1" dirty="0" smtClean="0">
                <a:solidFill>
                  <a:srgbClr val="FF0000"/>
                </a:solidFill>
                <a:latin typeface="黑体" panose="02010609060101010101" pitchFamily="2" charset="-122"/>
                <a:ea typeface="黑体" panose="02010609060101010101" pitchFamily="2" charset="-122"/>
              </a:rPr>
              <a:t>中国共产党第五次至第八次全国代表大会召开时全党党员人数及成分构成</a:t>
            </a:r>
            <a:endParaRPr lang="en-US" altLang="zh-CN" sz="1400" b="1" dirty="0">
              <a:solidFill>
                <a:srgbClr val="FF0000"/>
              </a:solidFill>
              <a:latin typeface="黑体" panose="02010609060101010101" pitchFamily="2" charset="-122"/>
              <a:ea typeface="黑体" panose="02010609060101010101" pitchFamily="2" charset="-122"/>
            </a:endParaRPr>
          </a:p>
        </p:txBody>
      </p:sp>
    </p:spTree>
  </p:cSld>
  <p:clrMapOvr>
    <a:masterClrMapping/>
  </p:clrMapOvr>
  <p:transition>
    <p:wipe dir="r"/>
  </p:transition>
</p:sld>
</file>

<file path=ppt/slides/slide113.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4449" name="Rectangle 2"/>
          <p:cNvSpPr>
            <a:spLocks noGrp="1"/>
          </p:cNvSpPr>
          <p:nvPr>
            <p:ph type="body" idx="4294967295"/>
          </p:nvPr>
        </p:nvSpPr>
        <p:spPr>
          <a:xfrm>
            <a:off x="395536" y="2852936"/>
            <a:ext cx="8496300" cy="2792413"/>
          </a:xfrm>
          <a:prstGeom prst="rect">
            <a:avLst/>
          </a:prstGeom>
          <a:solidFill>
            <a:schemeClr val="bg1"/>
          </a:solidFill>
          <a:ln w="12700" cap="flat" cmpd="sng">
            <a:solidFill>
              <a:srgbClr val="FF3300"/>
            </a:solidFill>
            <a:prstDash val="solid"/>
            <a:miter/>
            <a:headEnd type="none" w="med" len="med"/>
            <a:tailEnd type="none" w="med" len="med"/>
          </a:ln>
        </p:spPr>
        <p:txBody>
          <a:bodyPr anchor="t">
            <a:spAutoFit/>
          </a:bodyPr>
          <a:lstStyle/>
          <a:p>
            <a:pPr marL="0" lvl="0" indent="0">
              <a:lnSpc>
                <a:spcPct val="150000"/>
              </a:lnSpc>
              <a:spcBef>
                <a:spcPct val="50000"/>
              </a:spcBef>
              <a:buNone/>
            </a:pPr>
            <a:r>
              <a:rPr lang="zh-CN" altLang="en-US" sz="2400" b="1" dirty="0">
                <a:solidFill>
                  <a:srgbClr val="0000FF"/>
                </a:solidFill>
                <a:latin typeface="黑体" panose="02010609060101010101" pitchFamily="2" charset="-122"/>
                <a:ea typeface="黑体" panose="02010609060101010101" pitchFamily="2" charset="-122"/>
              </a:rPr>
              <a:t>　</a:t>
            </a:r>
            <a:r>
              <a:rPr lang="zh-CN" altLang="en-US" sz="2400" b="1" dirty="0" smtClean="0">
                <a:solidFill>
                  <a:srgbClr val="00B050"/>
                </a:solidFill>
                <a:latin typeface="黑体" panose="02010609060101010101" pitchFamily="2" charset="-122"/>
                <a:ea typeface="黑体" panose="02010609060101010101" pitchFamily="2" charset="-122"/>
              </a:rPr>
              <a:t> </a:t>
            </a:r>
            <a:r>
              <a:rPr lang="zh-CN" altLang="en-US" sz="2400" b="1" dirty="0" smtClean="0">
                <a:solidFill>
                  <a:srgbClr val="0000FF"/>
                </a:solidFill>
                <a:latin typeface="黑体" panose="02010609060101010101" pitchFamily="2" charset="-122"/>
                <a:ea typeface="黑体" panose="02010609060101010101" pitchFamily="2" charset="-122"/>
              </a:rPr>
              <a:t>加强党</a:t>
            </a:r>
            <a:r>
              <a:rPr lang="zh-CN" altLang="en-US" sz="2400" b="1" dirty="0">
                <a:solidFill>
                  <a:srgbClr val="0000FF"/>
                </a:solidFill>
                <a:latin typeface="黑体" panose="02010609060101010101" pitchFamily="2" charset="-122"/>
                <a:ea typeface="黑体" panose="02010609060101010101" pitchFamily="2" charset="-122"/>
              </a:rPr>
              <a:t>的思想</a:t>
            </a:r>
            <a:r>
              <a:rPr lang="zh-CN" altLang="en-US" sz="2400" b="1" dirty="0" smtClean="0">
                <a:solidFill>
                  <a:srgbClr val="0000FF"/>
                </a:solidFill>
                <a:latin typeface="黑体" panose="02010609060101010101" pitchFamily="2" charset="-122"/>
                <a:ea typeface="黑体" panose="02010609060101010101" pitchFamily="2" charset="-122"/>
              </a:rPr>
              <a:t>建设，关键要以无产阶级思想克服和改造各种非无产阶级思想。 </a:t>
            </a:r>
            <a:r>
              <a:rPr lang="zh-CN" altLang="en-US" sz="2400" b="1" dirty="0">
                <a:solidFill>
                  <a:srgbClr val="0000FF"/>
                </a:solidFill>
                <a:latin typeface="黑体" panose="02010609060101010101" pitchFamily="2" charset="-122"/>
                <a:ea typeface="黑体" panose="02010609060101010101" pitchFamily="2" charset="-122"/>
              </a:rPr>
              <a:t>看一个政党是否先进，是不是工人阶级先锋队，主要应看它的理论和纲领是不是马克思主义的，是不是代表社会发展的正确方向，是不是代表最广大人民的根本利益。</a:t>
            </a:r>
            <a:r>
              <a:rPr lang="zh-CN" altLang="en-US" sz="2400" b="1" dirty="0">
                <a:solidFill>
                  <a:srgbClr val="0000FF"/>
                </a:solidFill>
                <a:latin typeface="Times New Roman" panose="02020603050405020304" pitchFamily="18" charset="0"/>
                <a:ea typeface="黑体" panose="02010609060101010101" pitchFamily="2" charset="-122"/>
              </a:rPr>
              <a:t>　</a:t>
            </a:r>
            <a:endParaRPr lang="en-US" altLang="zh-CN" sz="2400" b="1" dirty="0">
              <a:solidFill>
                <a:srgbClr val="0000FF"/>
              </a:solidFill>
              <a:latin typeface="Times New Roman" panose="02020603050405020304" pitchFamily="18" charset="0"/>
              <a:ea typeface="黑体" panose="02010609060101010101" pitchFamily="2" charset="-122"/>
            </a:endParaRPr>
          </a:p>
        </p:txBody>
      </p:sp>
      <p:sp>
        <p:nvSpPr>
          <p:cNvPr id="3" name="矩形 2"/>
          <p:cNvSpPr/>
          <p:nvPr/>
        </p:nvSpPr>
        <p:spPr>
          <a:xfrm>
            <a:off x="539552" y="441538"/>
            <a:ext cx="5176417" cy="646331"/>
          </a:xfrm>
          <a:prstGeom prst="rect">
            <a:avLst/>
          </a:prstGeom>
          <a:solidFill>
            <a:schemeClr val="bg1"/>
          </a:solidFill>
          <a:ln>
            <a:solidFill>
              <a:srgbClr val="FF0000"/>
            </a:solidFill>
          </a:ln>
        </p:spPr>
        <p:txBody>
          <a:bodyPr wrap="none">
            <a:spAutoFit/>
          </a:bodyPr>
          <a:lstStyle/>
          <a:p>
            <a:r>
              <a:rPr lang="en-US" altLang="zh-CN" sz="3600" dirty="0" smtClean="0">
                <a:solidFill>
                  <a:srgbClr val="FF0000"/>
                </a:solidFill>
                <a:latin typeface="+mj-ea"/>
                <a:ea typeface="+mj-ea"/>
              </a:rPr>
              <a:t> 3</a:t>
            </a:r>
            <a:r>
              <a:rPr lang="zh-CN" altLang="en-US" sz="3600" dirty="0" smtClean="0">
                <a:solidFill>
                  <a:srgbClr val="FF0000"/>
                </a:solidFill>
                <a:latin typeface="+mj-ea"/>
                <a:ea typeface="+mj-ea"/>
              </a:rPr>
              <a:t>、</a:t>
            </a:r>
            <a:r>
              <a:rPr lang="zh-CN" altLang="en-US" sz="3600" b="1" dirty="0" smtClean="0">
                <a:solidFill>
                  <a:srgbClr val="FF0000"/>
                </a:solidFill>
                <a:latin typeface="+mj-ea"/>
                <a:ea typeface="+mj-ea"/>
              </a:rPr>
              <a:t>党的建设的基本经验</a:t>
            </a:r>
            <a:endParaRPr lang="zh-CN" altLang="en-US" sz="3600" dirty="0">
              <a:latin typeface="+mj-ea"/>
              <a:ea typeface="+mj-ea"/>
            </a:endParaRPr>
          </a:p>
        </p:txBody>
      </p:sp>
      <p:sp>
        <p:nvSpPr>
          <p:cNvPr id="2" name="矩形 1"/>
          <p:cNvSpPr/>
          <p:nvPr/>
        </p:nvSpPr>
        <p:spPr>
          <a:xfrm>
            <a:off x="395536" y="1772816"/>
            <a:ext cx="6408712" cy="637675"/>
          </a:xfrm>
          <a:prstGeom prst="rect">
            <a:avLst/>
          </a:prstGeom>
          <a:solidFill>
            <a:schemeClr val="bg1"/>
          </a:solidFill>
          <a:ln>
            <a:solidFill>
              <a:schemeClr val="accent1"/>
            </a:solidFill>
          </a:ln>
        </p:spPr>
        <p:txBody>
          <a:bodyPr wrap="square">
            <a:spAutoFit/>
          </a:bodyPr>
          <a:lstStyle/>
          <a:p>
            <a:pPr lvl="0">
              <a:lnSpc>
                <a:spcPct val="150000"/>
              </a:lnSpc>
              <a:spcBef>
                <a:spcPct val="50000"/>
              </a:spcBef>
              <a:buClr>
                <a:srgbClr val="477AB1"/>
              </a:buClr>
              <a:buSzPct val="50000"/>
            </a:pPr>
            <a:r>
              <a:rPr lang="zh-CN" altLang="en-US" sz="2800" b="1" dirty="0">
                <a:solidFill>
                  <a:srgbClr val="0000FF"/>
                </a:solidFill>
                <a:latin typeface="黑体" panose="02010609060101010101" pitchFamily="2" charset="-122"/>
                <a:ea typeface="黑体" panose="02010609060101010101" pitchFamily="2" charset="-122"/>
              </a:rPr>
              <a:t>第一，必须把思想建设放在首位。</a:t>
            </a:r>
            <a:endParaRPr lang="en-US" altLang="zh-CN" sz="2800" b="1" dirty="0">
              <a:solidFill>
                <a:srgbClr val="0000FF"/>
              </a:solidFill>
              <a:latin typeface="黑体" panose="02010609060101010101" pitchFamily="2" charset="-122"/>
              <a:ea typeface="黑体" panose="02010609060101010101" pitchFamily="2" charset="-122"/>
            </a:endParaRPr>
          </a:p>
        </p:txBody>
      </p:sp>
    </p:spTree>
  </p:cSld>
  <p:clrMapOvr>
    <a:overrideClrMapping bg1="lt1" tx1="dk1" bg2="lt2" tx2="dk2" accent1="accent1" accent2="accent2" accent3="accent3" accent4="accent4" accent5="accent5" accent6="accent6" hlink="hlink" folHlink="folHlink"/>
  </p:clrMapOvr>
  <p:transition>
    <p:wipe dir="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p:cNvSpPr>
          <p:nvPr>
            <p:ph idx="4294967295"/>
          </p:nvPr>
        </p:nvSpPr>
        <p:spPr>
          <a:xfrm>
            <a:off x="539552" y="1556792"/>
            <a:ext cx="8064500" cy="3323987"/>
          </a:xfrm>
          <a:prstGeom prst="rect">
            <a:avLst/>
          </a:prstGeom>
          <a:solidFill>
            <a:schemeClr val="bg1"/>
          </a:solidFill>
          <a:ln w="12700">
            <a:solidFill>
              <a:srgbClr val="FF3300"/>
            </a:solidFill>
            <a:miter/>
          </a:ln>
        </p:spPr>
        <p:txBody>
          <a:bodyPr anchor="t">
            <a:spAutoFit/>
          </a:bodyPr>
          <a:lstStyle/>
          <a:p>
            <a:pPr marL="0" indent="0">
              <a:lnSpc>
                <a:spcPct val="150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2" charset="-122"/>
              </a:rPr>
              <a:t>        它</a:t>
            </a:r>
            <a:r>
              <a:rPr lang="zh-CN" altLang="en-US" sz="2800" b="1" dirty="0">
                <a:solidFill>
                  <a:srgbClr val="0000FF"/>
                </a:solidFill>
                <a:latin typeface="Times New Roman" panose="02020603050405020304" pitchFamily="18" charset="0"/>
                <a:ea typeface="黑体" panose="02010609060101010101" pitchFamily="2" charset="-122"/>
              </a:rPr>
              <a:t>是指以马克思列宁主义</a:t>
            </a:r>
            <a:r>
              <a:rPr lang="en-US" altLang="zh-CN" sz="2800" b="1" dirty="0">
                <a:solidFill>
                  <a:srgbClr val="0000FF"/>
                </a:solidFill>
                <a:latin typeface="Times New Roman" panose="02020603050405020304" pitchFamily="18" charset="0"/>
                <a:ea typeface="黑体" panose="02010609060101010101" pitchFamily="2" charset="-122"/>
              </a:rPr>
              <a:t>——</a:t>
            </a:r>
            <a:r>
              <a:rPr lang="zh-CN" altLang="en-US" sz="2800" b="1" dirty="0">
                <a:solidFill>
                  <a:srgbClr val="0000FF"/>
                </a:solidFill>
                <a:latin typeface="Times New Roman" panose="02020603050405020304" pitchFamily="18" charset="0"/>
                <a:ea typeface="黑体" panose="02010609060101010101" pitchFamily="2" charset="-122"/>
              </a:rPr>
              <a:t>无产阶级的科学思想去教育与改造我们的党员、特别是小资产阶级革命分子的思想问题。用无产阶级思想克服各种非无产阶级思想，从根本上说，是要保证中国共产党的工人阶级先锋队的性质。</a:t>
            </a:r>
          </a:p>
        </p:txBody>
      </p:sp>
      <p:sp>
        <p:nvSpPr>
          <p:cNvPr id="3" name="矩形 2"/>
          <p:cNvSpPr/>
          <p:nvPr/>
        </p:nvSpPr>
        <p:spPr>
          <a:xfrm>
            <a:off x="1043608" y="692696"/>
            <a:ext cx="7127272" cy="523220"/>
          </a:xfrm>
          <a:prstGeom prst="rect">
            <a:avLst/>
          </a:prstGeom>
          <a:ln>
            <a:solidFill>
              <a:schemeClr val="accent1"/>
            </a:solidFill>
          </a:ln>
        </p:spPr>
        <p:txBody>
          <a:bodyPr wrap="none">
            <a:spAutoFit/>
          </a:bodyPr>
          <a:lstStyle/>
          <a:p>
            <a:r>
              <a:rPr lang="en-US" altLang="zh-CN" sz="2800" dirty="0" smtClean="0">
                <a:solidFill>
                  <a:srgbClr val="0000FF"/>
                </a:solidFill>
                <a:latin typeface="Times New Roman" panose="02020603050405020304" pitchFamily="18" charset="0"/>
                <a:ea typeface="华文新魏" panose="02010800040101010101" pitchFamily="2" charset="-122"/>
              </a:rPr>
              <a:t> </a:t>
            </a:r>
            <a:r>
              <a:rPr lang="zh-CN" altLang="en-US" sz="2800" b="1" dirty="0" smtClean="0">
                <a:solidFill>
                  <a:srgbClr val="FF0000"/>
                </a:solidFill>
                <a:latin typeface="Times New Roman" panose="02020603050405020304" pitchFamily="18" charset="0"/>
                <a:ea typeface="黑体" panose="02010609060101010101" pitchFamily="2" charset="-122"/>
              </a:rPr>
              <a:t>思想建设问题是党的建设中最主要的问题，</a:t>
            </a:r>
            <a:endParaRPr lang="zh-CN" altLang="en-US" sz="2800" dirty="0"/>
          </a:p>
        </p:txBody>
      </p:sp>
    </p:spTree>
  </p:cSld>
  <p:clrMapOvr>
    <a:masterClrMapping/>
  </p:clrMapOvr>
  <p:transition>
    <p:wipe dir="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p:cNvSpPr>
          <p:nvPr>
            <p:ph idx="4294967295"/>
          </p:nvPr>
        </p:nvSpPr>
        <p:spPr>
          <a:xfrm>
            <a:off x="899592" y="1268760"/>
            <a:ext cx="7704856" cy="480131"/>
          </a:xfrm>
          <a:prstGeom prst="rect">
            <a:avLst/>
          </a:prstGeom>
          <a:solidFill>
            <a:schemeClr val="bg1"/>
          </a:solidFill>
          <a:ln w="12700">
            <a:solidFill>
              <a:srgbClr val="FF3300"/>
            </a:solidFill>
            <a:miter/>
          </a:ln>
        </p:spPr>
        <p:txBody>
          <a:bodyPr wrap="square" anchor="t">
            <a:spAutoFit/>
          </a:bodyPr>
          <a:lstStyle/>
          <a:p>
            <a:pPr marL="0" indent="0">
              <a:lnSpc>
                <a:spcPct val="105000"/>
              </a:lnSpc>
              <a:spcBef>
                <a:spcPct val="50000"/>
              </a:spcBef>
              <a:buNone/>
            </a:pPr>
            <a:r>
              <a:rPr lang="zh-CN" altLang="en-US" sz="2400" b="1" dirty="0" smtClean="0">
                <a:solidFill>
                  <a:srgbClr val="0000FF"/>
                </a:solidFill>
                <a:latin typeface="Times New Roman" panose="02020603050405020304" pitchFamily="18" charset="0"/>
                <a:ea typeface="黑体" panose="02010609060101010101" pitchFamily="2" charset="-122"/>
              </a:rPr>
              <a:t>要</a:t>
            </a:r>
            <a:r>
              <a:rPr lang="zh-CN" altLang="en-US" sz="2400" b="1" dirty="0">
                <a:solidFill>
                  <a:srgbClr val="0000FF"/>
                </a:solidFill>
                <a:latin typeface="Times New Roman" panose="02020603050405020304" pitchFamily="18" charset="0"/>
                <a:ea typeface="黑体" panose="02010609060101010101" pitchFamily="2" charset="-122"/>
              </a:rPr>
              <a:t>把思想建设放在党的建设的首位，必须</a:t>
            </a:r>
            <a:r>
              <a:rPr lang="zh-CN" altLang="en-US" sz="2400" b="1" dirty="0" smtClean="0">
                <a:solidFill>
                  <a:srgbClr val="0000FF"/>
                </a:solidFill>
                <a:latin typeface="Times New Roman" panose="02020603050405020304" pitchFamily="18" charset="0"/>
                <a:ea typeface="黑体" panose="02010609060101010101" pitchFamily="2" charset="-122"/>
              </a:rPr>
              <a:t>做到</a:t>
            </a:r>
            <a:endParaRPr lang="en-US" altLang="zh-CN" sz="2400" b="1" dirty="0">
              <a:solidFill>
                <a:srgbClr val="0000FF"/>
              </a:solidFill>
              <a:latin typeface="Times New Roman" panose="02020603050405020304" pitchFamily="18" charset="0"/>
              <a:ea typeface="黑体" panose="02010609060101010101" pitchFamily="2" charset="-122"/>
            </a:endParaRPr>
          </a:p>
        </p:txBody>
      </p:sp>
      <p:sp>
        <p:nvSpPr>
          <p:cNvPr id="3" name="Rectangle 2"/>
          <p:cNvSpPr txBox="1">
            <a:spLocks/>
          </p:cNvSpPr>
          <p:nvPr/>
        </p:nvSpPr>
        <p:spPr>
          <a:xfrm>
            <a:off x="899592" y="1988840"/>
            <a:ext cx="8136904" cy="480131"/>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Font typeface="Wingdings 2"/>
              <a:buNone/>
            </a:pPr>
            <a:r>
              <a:rPr lang="zh-CN" altLang="en-US" sz="2400" b="1" dirty="0" smtClean="0">
                <a:solidFill>
                  <a:srgbClr val="0000FF"/>
                </a:solidFill>
                <a:latin typeface="Times New Roman" panose="02020603050405020304" pitchFamily="18" charset="0"/>
                <a:ea typeface="黑体" panose="02010609060101010101" pitchFamily="2" charset="-122"/>
              </a:rPr>
              <a:t>第一，必须普遍深入地学习和研究马克思主义理论。</a:t>
            </a:r>
            <a:endParaRPr lang="en-US" altLang="zh-CN" sz="2400" b="1" dirty="0">
              <a:solidFill>
                <a:srgbClr val="0000FF"/>
              </a:solidFill>
              <a:latin typeface="Times New Roman" panose="02020603050405020304" pitchFamily="18" charset="0"/>
              <a:ea typeface="黑体" panose="02010609060101010101" pitchFamily="2" charset="-122"/>
            </a:endParaRPr>
          </a:p>
        </p:txBody>
      </p:sp>
      <p:sp>
        <p:nvSpPr>
          <p:cNvPr id="4" name="Rectangle 2"/>
          <p:cNvSpPr txBox="1">
            <a:spLocks/>
          </p:cNvSpPr>
          <p:nvPr/>
        </p:nvSpPr>
        <p:spPr>
          <a:xfrm>
            <a:off x="899592" y="2852936"/>
            <a:ext cx="8136904" cy="480131"/>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Font typeface="Wingdings 2"/>
              <a:buNone/>
            </a:pPr>
            <a:r>
              <a:rPr lang="zh-CN" altLang="en-US" sz="2400" b="1" dirty="0" smtClean="0">
                <a:solidFill>
                  <a:srgbClr val="0000FF"/>
                </a:solidFill>
                <a:latin typeface="Times New Roman" panose="02020603050405020304" pitchFamily="18" charset="0"/>
                <a:ea typeface="黑体" panose="02010609060101010101" pitchFamily="2" charset="-122"/>
              </a:rPr>
              <a:t> 第二，要充分发挥党的思想政治工作的作用。  	</a:t>
            </a:r>
            <a:endParaRPr lang="en-US" altLang="zh-CN" sz="2400" b="1" dirty="0">
              <a:solidFill>
                <a:srgbClr val="0000FF"/>
              </a:solidFill>
              <a:latin typeface="Times New Roman" panose="02020603050405020304" pitchFamily="18" charset="0"/>
              <a:ea typeface="黑体" panose="02010609060101010101" pitchFamily="2" charset="-122"/>
            </a:endParaRPr>
          </a:p>
        </p:txBody>
      </p:sp>
      <p:sp>
        <p:nvSpPr>
          <p:cNvPr id="5" name="Rectangle 2"/>
          <p:cNvSpPr txBox="1">
            <a:spLocks/>
          </p:cNvSpPr>
          <p:nvPr/>
        </p:nvSpPr>
        <p:spPr>
          <a:xfrm>
            <a:off x="899592" y="3789040"/>
            <a:ext cx="8136904" cy="451598"/>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Font typeface="Wingdings 2"/>
              <a:buNone/>
            </a:pPr>
            <a:r>
              <a:rPr lang="zh-CN" altLang="en-US" sz="2400" b="1" dirty="0" smtClean="0">
                <a:solidFill>
                  <a:srgbClr val="0000FF"/>
                </a:solidFill>
                <a:latin typeface="Times New Roman" panose="02020603050405020304" pitchFamily="18" charset="0"/>
                <a:ea typeface="黑体" panose="02010609060101010101" pitchFamily="2" charset="-122"/>
              </a:rPr>
              <a:t> 第三，整风运动是进行马克思主义教育的好形式。    	</a:t>
            </a:r>
            <a:endParaRPr lang="en-US" altLang="zh-CN" sz="2400" b="1" dirty="0">
              <a:solidFill>
                <a:srgbClr val="0000FF"/>
              </a:solidFill>
              <a:latin typeface="Times New Roman" panose="02020603050405020304" pitchFamily="18" charset="0"/>
              <a:ea typeface="黑体" panose="02010609060101010101" pitchFamily="2" charset="-122"/>
            </a:endParaRPr>
          </a:p>
        </p:txBody>
      </p:sp>
      <p:sp>
        <p:nvSpPr>
          <p:cNvPr id="6" name="Rectangle 2"/>
          <p:cNvSpPr txBox="1">
            <a:spLocks/>
          </p:cNvSpPr>
          <p:nvPr/>
        </p:nvSpPr>
        <p:spPr>
          <a:xfrm>
            <a:off x="899592" y="4581128"/>
            <a:ext cx="8136904" cy="480131"/>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Font typeface="Wingdings 2"/>
              <a:buNone/>
            </a:pPr>
            <a:r>
              <a:rPr lang="zh-CN" altLang="en-US" sz="2400" b="1" dirty="0" smtClean="0">
                <a:solidFill>
                  <a:srgbClr val="0000FF"/>
                </a:solidFill>
                <a:latin typeface="Times New Roman" panose="02020603050405020304" pitchFamily="18" charset="0"/>
                <a:ea typeface="黑体" panose="02010609060101010101" pitchFamily="2" charset="-122"/>
              </a:rPr>
              <a:t> 第四，正确处理党内矛盾和党内斗争。</a:t>
            </a:r>
            <a:endParaRPr lang="en-US" altLang="zh-CN" sz="2400" b="1" dirty="0">
              <a:solidFill>
                <a:srgbClr val="0000FF"/>
              </a:solidFill>
              <a:latin typeface="Times New Roman" panose="02020603050405020304" pitchFamily="18" charset="0"/>
              <a:ea typeface="黑体" panose="02010609060101010101" pitchFamily="2" charset="-122"/>
            </a:endParaRPr>
          </a:p>
        </p:txBody>
      </p:sp>
    </p:spTree>
  </p:cSld>
  <p:clrMapOvr>
    <a:masterClrMapping/>
  </p:clrMapOvr>
  <p:transition>
    <p:wipe dir="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p:cNvSpPr>
          <p:nvPr>
            <p:ph idx="4294967295"/>
          </p:nvPr>
        </p:nvSpPr>
        <p:spPr>
          <a:xfrm>
            <a:off x="674440" y="3276562"/>
            <a:ext cx="2389263" cy="1284006"/>
          </a:xfrm>
          <a:prstGeom prst="rect">
            <a:avLst/>
          </a:prstGeom>
          <a:solidFill>
            <a:schemeClr val="bg1"/>
          </a:solidFill>
          <a:ln w="12700">
            <a:solidFill>
              <a:srgbClr val="FF3300"/>
            </a:solidFill>
            <a:miter/>
          </a:ln>
        </p:spPr>
        <p:txBody>
          <a:bodyPr wrap="square" anchor="t">
            <a:spAutoFit/>
          </a:bodyPr>
          <a:lstStyle/>
          <a:p>
            <a:pPr marL="0" indent="0">
              <a:lnSpc>
                <a:spcPct val="150000"/>
              </a:lnSpc>
              <a:spcBef>
                <a:spcPct val="50000"/>
              </a:spcBef>
              <a:buNone/>
            </a:pPr>
            <a:r>
              <a:rPr lang="zh-CN" altLang="en-US" sz="2800" b="1" dirty="0">
                <a:solidFill>
                  <a:srgbClr val="0000FF"/>
                </a:solidFill>
                <a:latin typeface="黑体" panose="02010609060101010101" pitchFamily="2" charset="-122"/>
                <a:ea typeface="黑体" panose="02010609060101010101" pitchFamily="2" charset="-122"/>
              </a:rPr>
              <a:t>第三，加强党的作风建设。</a:t>
            </a:r>
            <a:endParaRPr lang="en-US" altLang="zh-CN" sz="2800" b="1" dirty="0">
              <a:solidFill>
                <a:srgbClr val="0000FF"/>
              </a:solidFill>
              <a:latin typeface="黑体" panose="02010609060101010101" pitchFamily="2" charset="-122"/>
              <a:ea typeface="黑体" panose="02010609060101010101" pitchFamily="2" charset="-122"/>
            </a:endParaRPr>
          </a:p>
        </p:txBody>
      </p:sp>
      <p:sp>
        <p:nvSpPr>
          <p:cNvPr id="3" name="Rectangle 2"/>
          <p:cNvSpPr txBox="1">
            <a:spLocks/>
          </p:cNvSpPr>
          <p:nvPr/>
        </p:nvSpPr>
        <p:spPr>
          <a:xfrm>
            <a:off x="683568" y="548680"/>
            <a:ext cx="7389812" cy="1284006"/>
          </a:xfrm>
          <a:prstGeom prst="rect">
            <a:avLst/>
          </a:prstGeom>
          <a:solidFill>
            <a:schemeClr val="bg1"/>
          </a:solidFill>
          <a:ln w="12700">
            <a:solidFill>
              <a:srgbClr val="FF3300"/>
            </a:solidFill>
            <a:miter/>
          </a:ln>
        </p:spPr>
        <p:txBody>
          <a:bodyPr vert="horz"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50000"/>
              </a:lnSpc>
              <a:spcBef>
                <a:spcPct val="50000"/>
              </a:spcBef>
              <a:buClr>
                <a:srgbClr val="477AB1"/>
              </a:buClr>
              <a:buFont typeface="Wingdings 2"/>
              <a:buNone/>
            </a:pPr>
            <a:r>
              <a:rPr lang="zh-CN" altLang="en-US" sz="2800" b="1" dirty="0" smtClean="0">
                <a:solidFill>
                  <a:srgbClr val="0000FF"/>
                </a:solidFill>
                <a:latin typeface="黑体" panose="02010609060101010101" pitchFamily="2" charset="-122"/>
                <a:ea typeface="黑体" panose="02010609060101010101" pitchFamily="2" charset="-122"/>
              </a:rPr>
              <a:t>第二</a:t>
            </a:r>
            <a:r>
              <a:rPr lang="zh-CN" altLang="en-US" sz="2800" b="1" dirty="0">
                <a:solidFill>
                  <a:srgbClr val="0000FF"/>
                </a:solidFill>
                <a:latin typeface="黑体" panose="02010609060101010101" pitchFamily="2" charset="-122"/>
                <a:ea typeface="黑体" panose="02010609060101010101" pitchFamily="2" charset="-122"/>
              </a:rPr>
              <a:t>，加强党的组织建设，最根本的是要坚持民主集中制的原则。</a:t>
            </a:r>
            <a:endParaRPr lang="en-US" altLang="zh-CN" sz="2800" b="1" dirty="0">
              <a:solidFill>
                <a:srgbClr val="0000FF"/>
              </a:solidFill>
              <a:latin typeface="黑体" panose="02010609060101010101" pitchFamily="2" charset="-122"/>
              <a:ea typeface="黑体" panose="02010609060101010101" pitchFamily="2" charset="-122"/>
            </a:endParaRPr>
          </a:p>
        </p:txBody>
      </p:sp>
      <p:sp>
        <p:nvSpPr>
          <p:cNvPr id="2" name="左大括号 1"/>
          <p:cNvSpPr/>
          <p:nvPr/>
        </p:nvSpPr>
        <p:spPr>
          <a:xfrm>
            <a:off x="2987824" y="2467203"/>
            <a:ext cx="1224136" cy="29523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Rectangle 2"/>
          <p:cNvSpPr txBox="1">
            <a:spLocks/>
          </p:cNvSpPr>
          <p:nvPr/>
        </p:nvSpPr>
        <p:spPr>
          <a:xfrm>
            <a:off x="4412753" y="2148365"/>
            <a:ext cx="3255591" cy="646331"/>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50000"/>
              </a:lnSpc>
              <a:spcBef>
                <a:spcPct val="50000"/>
              </a:spcBef>
              <a:buFont typeface="Wingdings 2"/>
              <a:buNone/>
            </a:pPr>
            <a:r>
              <a:rPr lang="zh-CN" altLang="en-US" sz="2400" b="1" dirty="0" smtClean="0">
                <a:solidFill>
                  <a:srgbClr val="FF0000"/>
                </a:solidFill>
                <a:latin typeface="黑体" panose="02010609060101010101" pitchFamily="2" charset="-122"/>
                <a:ea typeface="黑体" panose="02010609060101010101" pitchFamily="2" charset="-122"/>
              </a:rPr>
              <a:t>理论联系实际</a:t>
            </a:r>
            <a:endParaRPr lang="en-US" altLang="zh-CN" sz="2400" b="1" dirty="0">
              <a:solidFill>
                <a:srgbClr val="FF0000"/>
              </a:solidFill>
              <a:latin typeface="黑体" panose="02010609060101010101" pitchFamily="2" charset="-122"/>
              <a:ea typeface="黑体" panose="02010609060101010101" pitchFamily="2" charset="-122"/>
            </a:endParaRPr>
          </a:p>
        </p:txBody>
      </p:sp>
      <p:sp>
        <p:nvSpPr>
          <p:cNvPr id="6" name="Rectangle 2"/>
          <p:cNvSpPr txBox="1">
            <a:spLocks/>
          </p:cNvSpPr>
          <p:nvPr/>
        </p:nvSpPr>
        <p:spPr>
          <a:xfrm>
            <a:off x="4411943" y="3624529"/>
            <a:ext cx="3256401" cy="646331"/>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50000"/>
              </a:lnSpc>
              <a:spcBef>
                <a:spcPct val="50000"/>
              </a:spcBef>
              <a:buNone/>
            </a:pPr>
            <a:r>
              <a:rPr lang="zh-CN" altLang="en-US" sz="2400" b="1" dirty="0">
                <a:solidFill>
                  <a:srgbClr val="FF0000"/>
                </a:solidFill>
                <a:latin typeface="黑体" panose="02010609060101010101" pitchFamily="2" charset="-122"/>
                <a:ea typeface="黑体" panose="02010609060101010101" pitchFamily="2" charset="-122"/>
              </a:rPr>
              <a:t>密切联系群众</a:t>
            </a:r>
            <a:endParaRPr lang="en-US" altLang="zh-CN" sz="2400" b="1" dirty="0">
              <a:solidFill>
                <a:srgbClr val="FF0000"/>
              </a:solidFill>
              <a:latin typeface="黑体" panose="02010609060101010101" pitchFamily="2" charset="-122"/>
              <a:ea typeface="黑体" panose="02010609060101010101" pitchFamily="2" charset="-122"/>
            </a:endParaRPr>
          </a:p>
        </p:txBody>
      </p:sp>
      <p:sp>
        <p:nvSpPr>
          <p:cNvPr id="7" name="Rectangle 2"/>
          <p:cNvSpPr txBox="1">
            <a:spLocks/>
          </p:cNvSpPr>
          <p:nvPr/>
        </p:nvSpPr>
        <p:spPr>
          <a:xfrm>
            <a:off x="4386384" y="5100693"/>
            <a:ext cx="3281960" cy="646331"/>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50000"/>
              </a:lnSpc>
              <a:spcBef>
                <a:spcPct val="50000"/>
              </a:spcBef>
              <a:buFont typeface="Wingdings 2"/>
              <a:buNone/>
            </a:pPr>
            <a:r>
              <a:rPr lang="zh-CN" altLang="en-US" sz="2400" b="1" dirty="0">
                <a:solidFill>
                  <a:srgbClr val="FF0000"/>
                </a:solidFill>
                <a:latin typeface="黑体" panose="02010609060101010101" pitchFamily="2" charset="-122"/>
                <a:ea typeface="黑体" panose="02010609060101010101" pitchFamily="2" charset="-122"/>
              </a:rPr>
              <a:t>批评与自我批评相结合</a:t>
            </a:r>
            <a:endParaRPr lang="en-US" altLang="zh-CN" sz="2400" b="1" dirty="0">
              <a:solidFill>
                <a:srgbClr val="FF0000"/>
              </a:solidFill>
              <a:latin typeface="黑体" panose="02010609060101010101" pitchFamily="2" charset="-122"/>
              <a:ea typeface="黑体" panose="02010609060101010101" pitchFamily="2" charset="-122"/>
            </a:endParaRPr>
          </a:p>
        </p:txBody>
      </p:sp>
    </p:spTree>
  </p:cSld>
  <p:clrMapOvr>
    <a:masterClrMapping/>
  </p:clrMapOvr>
  <p:transition>
    <p:wipe dir="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p:cNvSpPr>
          <p:nvPr/>
        </p:nvSpPr>
        <p:spPr>
          <a:xfrm>
            <a:off x="683568" y="1916832"/>
            <a:ext cx="7389812" cy="1930337"/>
          </a:xfrm>
          <a:prstGeom prst="rect">
            <a:avLst/>
          </a:prstGeom>
          <a:solidFill>
            <a:schemeClr val="bg1"/>
          </a:solidFill>
          <a:ln w="12700">
            <a:solidFill>
              <a:srgbClr val="FF3300"/>
            </a:solidFill>
            <a:miter/>
          </a:ln>
        </p:spPr>
        <p:txBody>
          <a:bodyPr vert="horz"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50000"/>
              </a:lnSpc>
              <a:spcBef>
                <a:spcPct val="50000"/>
              </a:spcBef>
              <a:buClr>
                <a:srgbClr val="477AB1"/>
              </a:buClr>
              <a:buFont typeface="Wingdings 2"/>
              <a:buNone/>
            </a:pPr>
            <a:r>
              <a:rPr lang="zh-CN" altLang="en-US" sz="2800" b="1" dirty="0" smtClean="0">
                <a:solidFill>
                  <a:srgbClr val="0000FF"/>
                </a:solidFill>
                <a:latin typeface="黑体" panose="02010609060101010101" pitchFamily="2" charset="-122"/>
                <a:ea typeface="黑体" panose="02010609060101010101" pitchFamily="2" charset="-122"/>
              </a:rPr>
              <a:t>    第四，联系党的政治路线加强党的建设，在贯彻执行党的政治纲领和路线中推进党的建设。</a:t>
            </a:r>
            <a:endParaRPr lang="en-US" altLang="zh-CN" sz="2800" b="1" dirty="0">
              <a:solidFill>
                <a:srgbClr val="0000FF"/>
              </a:solidFill>
              <a:latin typeface="黑体" panose="02010609060101010101" pitchFamily="2" charset="-122"/>
              <a:ea typeface="黑体" panose="02010609060101010101" pitchFamily="2" charset="-122"/>
            </a:endParaRPr>
          </a:p>
        </p:txBody>
      </p:sp>
    </p:spTree>
  </p:cSld>
  <p:clrMapOvr>
    <a:masterClrMapping/>
  </p:clrMapOvr>
  <p:transition>
    <p:wipe dir="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71600" y="476672"/>
            <a:ext cx="7128792" cy="1569660"/>
          </a:xfrm>
          <a:prstGeom prst="rect">
            <a:avLst/>
          </a:prstGeom>
          <a:solidFill>
            <a:schemeClr val="bg2"/>
          </a:solidFill>
          <a:ln>
            <a:solidFill>
              <a:schemeClr val="accent1"/>
            </a:solidFill>
          </a:ln>
        </p:spPr>
        <p:txBody>
          <a:bodyPr wrap="square">
            <a:spAutoFit/>
          </a:bodyPr>
          <a:lstStyle/>
          <a:p>
            <a:r>
              <a:rPr lang="zh-CN" altLang="zh-CN" sz="4800" b="1" dirty="0">
                <a:solidFill>
                  <a:srgbClr val="FF0000"/>
                </a:solidFill>
                <a:latin typeface="+mj-ea"/>
                <a:ea typeface="+mj-ea"/>
              </a:rPr>
              <a:t>统一战线、武装斗争和党的建设三者之间的</a:t>
            </a:r>
            <a:r>
              <a:rPr lang="zh-CN" altLang="zh-CN" sz="4800" b="1" dirty="0" smtClean="0">
                <a:solidFill>
                  <a:srgbClr val="FF0000"/>
                </a:solidFill>
                <a:latin typeface="+mj-ea"/>
                <a:ea typeface="+mj-ea"/>
              </a:rPr>
              <a:t>关系</a:t>
            </a:r>
            <a:endParaRPr lang="zh-CN" altLang="en-US" sz="4800" b="1" dirty="0">
              <a:solidFill>
                <a:srgbClr val="FF0000"/>
              </a:solidFill>
              <a:latin typeface="+mj-ea"/>
              <a:ea typeface="+mj-ea"/>
            </a:endParaRPr>
          </a:p>
        </p:txBody>
      </p:sp>
      <p:sp>
        <p:nvSpPr>
          <p:cNvPr id="3" name="矩形 2"/>
          <p:cNvSpPr/>
          <p:nvPr/>
        </p:nvSpPr>
        <p:spPr>
          <a:xfrm>
            <a:off x="1331640" y="2996952"/>
            <a:ext cx="7128792" cy="2677656"/>
          </a:xfrm>
          <a:prstGeom prst="rect">
            <a:avLst/>
          </a:prstGeom>
          <a:solidFill>
            <a:schemeClr val="bg2"/>
          </a:solidFill>
          <a:ln>
            <a:solidFill>
              <a:schemeClr val="accent1"/>
            </a:solidFill>
          </a:ln>
        </p:spPr>
        <p:txBody>
          <a:bodyPr wrap="square">
            <a:spAutoFit/>
          </a:bodyPr>
          <a:lstStyle/>
          <a:p>
            <a:r>
              <a:rPr lang="zh-CN" altLang="zh-CN" sz="2800" b="1" kern="100" dirty="0">
                <a:solidFill>
                  <a:srgbClr val="FF0000"/>
                </a:solidFill>
                <a:latin typeface="隶书" pitchFamily="49" charset="-122"/>
                <a:ea typeface="隶书" pitchFamily="49" charset="-122"/>
                <a:cs typeface="Times New Roman"/>
              </a:rPr>
              <a:t>统一战线和武装斗争</a:t>
            </a:r>
            <a:r>
              <a:rPr lang="zh-CN" altLang="zh-CN" sz="2800" b="1" kern="100" dirty="0">
                <a:latin typeface="隶书" pitchFamily="49" charset="-122"/>
                <a:ea typeface="隶书" pitchFamily="49" charset="-122"/>
                <a:cs typeface="Times New Roman"/>
              </a:rPr>
              <a:t>是中国革命的两个基本特点，是战胜敌人的两个</a:t>
            </a:r>
            <a:r>
              <a:rPr lang="zh-CN" altLang="zh-CN" sz="2800" b="1" kern="100" dirty="0">
                <a:solidFill>
                  <a:srgbClr val="FF0000"/>
                </a:solidFill>
                <a:latin typeface="隶书" pitchFamily="49" charset="-122"/>
                <a:ea typeface="隶书" pitchFamily="49" charset="-122"/>
                <a:cs typeface="Times New Roman"/>
              </a:rPr>
              <a:t>基本武器</a:t>
            </a:r>
            <a:r>
              <a:rPr lang="zh-CN" altLang="zh-CN" sz="2800" b="1" kern="100" dirty="0" smtClean="0">
                <a:latin typeface="隶书" pitchFamily="49" charset="-122"/>
                <a:ea typeface="隶书" pitchFamily="49" charset="-122"/>
                <a:cs typeface="Times New Roman"/>
              </a:rPr>
              <a:t>。</a:t>
            </a:r>
            <a:endParaRPr lang="en-US" altLang="zh-CN" sz="2800" b="1" kern="100" dirty="0" smtClean="0">
              <a:latin typeface="隶书" pitchFamily="49" charset="-122"/>
              <a:ea typeface="隶书" pitchFamily="49" charset="-122"/>
              <a:cs typeface="Times New Roman"/>
            </a:endParaRPr>
          </a:p>
          <a:p>
            <a:r>
              <a:rPr lang="zh-CN" altLang="zh-CN" sz="2800" b="1" kern="100" dirty="0" smtClean="0">
                <a:latin typeface="隶书" pitchFamily="49" charset="-122"/>
                <a:ea typeface="隶书" pitchFamily="49" charset="-122"/>
                <a:cs typeface="Times New Roman"/>
              </a:rPr>
              <a:t>统一战线</a:t>
            </a:r>
            <a:r>
              <a:rPr lang="zh-CN" altLang="zh-CN" sz="2800" b="1" kern="100" dirty="0">
                <a:latin typeface="隶书" pitchFamily="49" charset="-122"/>
                <a:ea typeface="隶书" pitchFamily="49" charset="-122"/>
                <a:cs typeface="Times New Roman"/>
              </a:rPr>
              <a:t>是实行武装斗争的统一战线</a:t>
            </a:r>
            <a:r>
              <a:rPr lang="zh-CN" altLang="zh-CN" sz="2800" b="1" kern="100" dirty="0" smtClean="0">
                <a:latin typeface="隶书" pitchFamily="49" charset="-122"/>
                <a:ea typeface="隶书" pitchFamily="49" charset="-122"/>
                <a:cs typeface="Times New Roman"/>
              </a:rPr>
              <a:t>，</a:t>
            </a:r>
            <a:endParaRPr lang="en-US" altLang="zh-CN" sz="2800" b="1" kern="100" dirty="0" smtClean="0">
              <a:latin typeface="隶书" pitchFamily="49" charset="-122"/>
              <a:ea typeface="隶书" pitchFamily="49" charset="-122"/>
              <a:cs typeface="Times New Roman"/>
            </a:endParaRPr>
          </a:p>
          <a:p>
            <a:r>
              <a:rPr lang="zh-CN" altLang="zh-CN" sz="2800" b="1" kern="100" dirty="0" smtClean="0">
                <a:latin typeface="隶书" pitchFamily="49" charset="-122"/>
                <a:ea typeface="隶书" pitchFamily="49" charset="-122"/>
                <a:cs typeface="Times New Roman"/>
              </a:rPr>
              <a:t>武装斗争</a:t>
            </a:r>
            <a:r>
              <a:rPr lang="zh-CN" altLang="zh-CN" sz="2800" b="1" kern="100" dirty="0">
                <a:latin typeface="隶书" pitchFamily="49" charset="-122"/>
                <a:ea typeface="隶书" pitchFamily="49" charset="-122"/>
                <a:cs typeface="Times New Roman"/>
              </a:rPr>
              <a:t>是统一战线的中心支柱</a:t>
            </a:r>
            <a:r>
              <a:rPr lang="zh-CN" altLang="zh-CN" sz="2800" b="1" kern="100" dirty="0" smtClean="0">
                <a:latin typeface="隶书" pitchFamily="49" charset="-122"/>
                <a:ea typeface="隶书" pitchFamily="49" charset="-122"/>
                <a:cs typeface="Times New Roman"/>
              </a:rPr>
              <a:t>，</a:t>
            </a:r>
            <a:endParaRPr lang="en-US" altLang="zh-CN" sz="2800" b="1" kern="100" dirty="0" smtClean="0">
              <a:latin typeface="隶书" pitchFamily="49" charset="-122"/>
              <a:ea typeface="隶书" pitchFamily="49" charset="-122"/>
              <a:cs typeface="Times New Roman"/>
            </a:endParaRPr>
          </a:p>
          <a:p>
            <a:r>
              <a:rPr lang="zh-CN" altLang="zh-CN" sz="2800" b="1" kern="100" dirty="0" smtClean="0">
                <a:latin typeface="隶书" pitchFamily="49" charset="-122"/>
                <a:ea typeface="隶书" pitchFamily="49" charset="-122"/>
                <a:cs typeface="Times New Roman"/>
              </a:rPr>
              <a:t>党</a:t>
            </a:r>
            <a:r>
              <a:rPr lang="zh-CN" altLang="zh-CN" sz="2800" b="1" kern="100" dirty="0">
                <a:latin typeface="隶书" pitchFamily="49" charset="-122"/>
                <a:ea typeface="隶书" pitchFamily="49" charset="-122"/>
                <a:cs typeface="Times New Roman"/>
              </a:rPr>
              <a:t>的组织则是掌握统一战线和武装斗争这两个武器以实行对敌冲锋陷阵的英勇战士。</a:t>
            </a:r>
            <a:endParaRPr lang="zh-CN" altLang="en-US" sz="2800" b="1" dirty="0">
              <a:latin typeface="隶书" pitchFamily="49" charset="-122"/>
              <a:ea typeface="隶书" pitchFamily="49" charset="-122"/>
            </a:endParaRPr>
          </a:p>
        </p:txBody>
      </p:sp>
    </p:spTree>
  </p:cSld>
  <p:clrMapOvr>
    <a:masterClrMapping/>
  </p:clrMapOvr>
  <p:transition>
    <p:wipe dir="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76423" y="1916832"/>
            <a:ext cx="5670376" cy="3970318"/>
          </a:xfrm>
          <a:prstGeom prst="rect">
            <a:avLst/>
          </a:prstGeom>
          <a:ln>
            <a:solidFill>
              <a:schemeClr val="accent1"/>
            </a:solidFill>
          </a:ln>
        </p:spPr>
        <p:txBody>
          <a:bodyPr wrap="square">
            <a:spAutoFit/>
          </a:bodyPr>
          <a:lstStyle/>
          <a:p>
            <a:r>
              <a:rPr lang="en-US" altLang="zh-CN" sz="2800" b="1" kern="100" dirty="0">
                <a:latin typeface="隶书" pitchFamily="49" charset="-122"/>
                <a:ea typeface="隶书" pitchFamily="49" charset="-122"/>
                <a:cs typeface="Times New Roman"/>
              </a:rPr>
              <a:t> </a:t>
            </a:r>
            <a:r>
              <a:rPr lang="en-US" altLang="zh-CN" sz="2800" b="1" kern="100" dirty="0" smtClean="0">
                <a:latin typeface="隶书" pitchFamily="49" charset="-122"/>
                <a:ea typeface="隶书" pitchFamily="49" charset="-122"/>
                <a:cs typeface="Times New Roman"/>
              </a:rPr>
              <a:t>   </a:t>
            </a:r>
            <a:r>
              <a:rPr lang="zh-CN" altLang="zh-CN" sz="2800" b="1" kern="100" dirty="0" smtClean="0">
                <a:latin typeface="隶书" pitchFamily="49" charset="-122"/>
                <a:ea typeface="隶书" pitchFamily="49" charset="-122"/>
                <a:cs typeface="Times New Roman"/>
              </a:rPr>
              <a:t>一</a:t>
            </a:r>
            <a:r>
              <a:rPr lang="zh-CN" altLang="zh-CN" sz="2800" b="1" kern="100" dirty="0">
                <a:latin typeface="隶书" pitchFamily="49" charset="-122"/>
                <a:ea typeface="隶书" pitchFamily="49" charset="-122"/>
                <a:cs typeface="Times New Roman"/>
              </a:rPr>
              <a:t>个有纪律的，有马克思列宁主义的理论武装的，采取自我批评方法的，联系人民群众的党。一个由这样的党领导的军队。一个由这样的党领导的各革命阶级各革命派别的统一战线。这三件是我们战胜敌人的主要武器。这些都是我们区别于前人的。依靠这三件，使我们取得了基本的胜利。</a:t>
            </a:r>
            <a:endParaRPr lang="zh-CN" altLang="en-US" sz="2800" b="1" dirty="0">
              <a:latin typeface="隶书" pitchFamily="49" charset="-122"/>
              <a:ea typeface="隶书" pitchFamily="49" charset="-122"/>
            </a:endParaRPr>
          </a:p>
        </p:txBody>
      </p:sp>
      <p:sp>
        <p:nvSpPr>
          <p:cNvPr id="3" name="矩形 2"/>
          <p:cNvSpPr/>
          <p:nvPr/>
        </p:nvSpPr>
        <p:spPr>
          <a:xfrm>
            <a:off x="1187624" y="1124744"/>
            <a:ext cx="6647974" cy="523220"/>
          </a:xfrm>
          <a:prstGeom prst="rect">
            <a:avLst/>
          </a:prstGeom>
          <a:ln>
            <a:solidFill>
              <a:schemeClr val="accent1"/>
            </a:solidFill>
          </a:ln>
        </p:spPr>
        <p:txBody>
          <a:bodyPr wrap="none">
            <a:spAutoFit/>
          </a:bodyPr>
          <a:lstStyle/>
          <a:p>
            <a:r>
              <a:rPr lang="zh-CN" altLang="en-US" sz="2800" kern="100" dirty="0" smtClean="0">
                <a:solidFill>
                  <a:srgbClr val="FF0000"/>
                </a:solidFill>
                <a:latin typeface="华文琥珀" pitchFamily="2" charset="-122"/>
                <a:ea typeface="华文琥珀" pitchFamily="2" charset="-122"/>
                <a:cs typeface="Times New Roman"/>
              </a:rPr>
              <a:t>毛泽东对</a:t>
            </a:r>
            <a:r>
              <a:rPr lang="zh-CN" altLang="zh-CN" sz="2800" kern="100" dirty="0" smtClean="0">
                <a:solidFill>
                  <a:srgbClr val="FF0000"/>
                </a:solidFill>
                <a:latin typeface="华文琥珀" pitchFamily="2" charset="-122"/>
                <a:ea typeface="华文琥珀" pitchFamily="2" charset="-122"/>
                <a:cs typeface="Times New Roman"/>
              </a:rPr>
              <a:t>新民主主义革命基本经验</a:t>
            </a:r>
            <a:r>
              <a:rPr lang="zh-CN" altLang="en-US" sz="2800" kern="100" dirty="0" smtClean="0">
                <a:solidFill>
                  <a:srgbClr val="FF0000"/>
                </a:solidFill>
                <a:latin typeface="华文琥珀" pitchFamily="2" charset="-122"/>
                <a:ea typeface="华文琥珀" pitchFamily="2" charset="-122"/>
                <a:cs typeface="Times New Roman"/>
              </a:rPr>
              <a:t>的</a:t>
            </a:r>
            <a:r>
              <a:rPr lang="zh-CN" altLang="zh-CN" sz="2800" kern="100" dirty="0" smtClean="0">
                <a:solidFill>
                  <a:srgbClr val="FF0000"/>
                </a:solidFill>
                <a:latin typeface="华文琥珀" pitchFamily="2" charset="-122"/>
                <a:ea typeface="华文琥珀" pitchFamily="2" charset="-122"/>
                <a:cs typeface="Times New Roman"/>
              </a:rPr>
              <a:t>概括</a:t>
            </a:r>
            <a:endParaRPr lang="zh-CN" altLang="en-US" sz="2800" dirty="0">
              <a:solidFill>
                <a:srgbClr val="FF0000"/>
              </a:solidFill>
              <a:latin typeface="华文琥珀" pitchFamily="2" charset="-122"/>
              <a:ea typeface="华文琥珀" pitchFamily="2" charset="-122"/>
            </a:endParaRPr>
          </a:p>
        </p:txBody>
      </p:sp>
    </p:spTree>
    <p:extLst>
      <p:ext uri="{BB962C8B-B14F-4D97-AF65-F5344CB8AC3E}">
        <p14:creationId xmlns="" xmlns:p14="http://schemas.microsoft.com/office/powerpoint/2010/main" val="3667628436"/>
      </p:ext>
    </p:extLst>
  </p:cSld>
  <p:clrMapOvr>
    <a:masterClrMapping/>
  </p:clrMapOvr>
  <p:transition>
    <p:wipe dir="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p:cNvSpPr>
          <p:nvPr>
            <p:ph type="title" idx="4294967295"/>
          </p:nvPr>
        </p:nvSpPr>
        <p:spPr>
          <a:xfrm>
            <a:off x="971600" y="1052736"/>
            <a:ext cx="7261424" cy="864096"/>
          </a:xfrm>
          <a:prstGeom prst="rect">
            <a:avLst/>
          </a:prstGeom>
          <a:solidFill>
            <a:srgbClr val="FFFFFF"/>
          </a:solidFill>
          <a:ln>
            <a:solidFill>
              <a:srgbClr val="000000"/>
            </a:solidFill>
            <a:miter/>
          </a:ln>
        </p:spPr>
        <p:txBody>
          <a:bodyPr anchor="t"/>
          <a:lstStyle/>
          <a:p>
            <a:pPr eaLnBrk="1" hangingPunct="1"/>
            <a:r>
              <a:rPr lang="zh-CN" altLang="en-US" sz="4000" b="1" dirty="0" smtClean="0">
                <a:solidFill>
                  <a:srgbClr val="FF0000"/>
                </a:solidFill>
                <a:latin typeface="华文琥珀" pitchFamily="2" charset="-122"/>
                <a:ea typeface="华文琥珀" pitchFamily="2" charset="-122"/>
              </a:rPr>
              <a:t> </a:t>
            </a:r>
            <a:r>
              <a:rPr lang="zh-CN" altLang="en-US" sz="4000" b="1" dirty="0">
                <a:solidFill>
                  <a:srgbClr val="FF0000"/>
                </a:solidFill>
                <a:latin typeface="华文琥珀" pitchFamily="2" charset="-122"/>
                <a:ea typeface="华文琥珀" pitchFamily="2" charset="-122"/>
              </a:rPr>
              <a:t>新民主主义革命理论的意义</a:t>
            </a:r>
          </a:p>
        </p:txBody>
      </p:sp>
      <p:pic>
        <p:nvPicPr>
          <p:cNvPr id="113666" name="Picture 3" descr="遵义会议旧址"/>
          <p:cNvPicPr>
            <a:picLocks noGrp="1" noChangeAspect="1"/>
          </p:cNvPicPr>
          <p:nvPr>
            <p:ph idx="4294967295"/>
          </p:nvPr>
        </p:nvPicPr>
        <p:blipFill>
          <a:blip r:embed="rId2" cstate="print"/>
          <a:stretch>
            <a:fillRect/>
          </a:stretch>
        </p:blipFill>
        <p:spPr>
          <a:xfrm>
            <a:off x="827584" y="2420888"/>
            <a:ext cx="7300913" cy="3622675"/>
          </a:xfrm>
          <a:prstGeom prst="rect">
            <a:avLst/>
          </a:prstGeom>
          <a:noFill/>
          <a:ln>
            <a:noFill/>
          </a:ln>
        </p:spPr>
      </p:pic>
    </p:spTree>
  </p:cSld>
  <p:clrMapOvr>
    <a:masterClrMapping/>
  </p:clrMapOvr>
  <p:transition>
    <p:wipe dir="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p:cNvSpPr>
          <p:nvPr>
            <p:ph idx="4294967295"/>
          </p:nvPr>
        </p:nvSpPr>
        <p:spPr>
          <a:xfrm>
            <a:off x="487827" y="1268760"/>
            <a:ext cx="8229600" cy="2088232"/>
          </a:xfrm>
          <a:prstGeom prst="rect">
            <a:avLst/>
          </a:prstGeom>
          <a:solidFill>
            <a:srgbClr val="FFFFFF"/>
          </a:solidFill>
          <a:ln>
            <a:solidFill>
              <a:srgbClr val="FF0000"/>
            </a:solidFill>
            <a:miter/>
          </a:ln>
        </p:spPr>
        <p:txBody>
          <a:bodyPr anchor="t"/>
          <a:lstStyle/>
          <a:p>
            <a:pPr eaLnBrk="1" hangingPunct="1">
              <a:buNone/>
            </a:pPr>
            <a:r>
              <a:rPr lang="en-US" altLang="zh-CN" sz="2400" b="1" dirty="0" smtClean="0">
                <a:solidFill>
                  <a:srgbClr val="0000FF"/>
                </a:solidFill>
                <a:ea typeface="黑体" panose="02010609060101010101" pitchFamily="2" charset="-122"/>
              </a:rPr>
              <a:t>1</a:t>
            </a:r>
            <a:r>
              <a:rPr lang="zh-CN" altLang="en-US" sz="2400" b="1" dirty="0">
                <a:solidFill>
                  <a:srgbClr val="0000FF"/>
                </a:solidFill>
                <a:ea typeface="黑体" panose="02010609060101010101" pitchFamily="2" charset="-122"/>
              </a:rPr>
              <a:t>、解决了在一个以农民为主体的、落后的半殖民地半封建的东方大国里进行革命的一系列问题，科学地回答了近代中国向何处去的问题，正确地解决了中国革命的发展阶段问题，揭示了中国革命的发展规律，极大地丰富了马克思主义的理论宝库</a:t>
            </a:r>
            <a:r>
              <a:rPr lang="zh-CN" altLang="en-US" sz="2400" b="1" dirty="0" smtClean="0">
                <a:solidFill>
                  <a:srgbClr val="0000FF"/>
                </a:solidFill>
                <a:ea typeface="黑体" panose="02010609060101010101" pitchFamily="2" charset="-122"/>
              </a:rPr>
              <a:t>。</a:t>
            </a:r>
            <a:endParaRPr lang="zh-CN" altLang="en-US" sz="2400" b="1" dirty="0">
              <a:solidFill>
                <a:srgbClr val="0000FF"/>
              </a:solidFill>
              <a:ea typeface="黑体" panose="02010609060101010101" pitchFamily="2" charset="-122"/>
            </a:endParaRPr>
          </a:p>
        </p:txBody>
      </p:sp>
      <p:sp>
        <p:nvSpPr>
          <p:cNvPr id="3" name="Rectangle 2"/>
          <p:cNvSpPr txBox="1">
            <a:spLocks/>
          </p:cNvSpPr>
          <p:nvPr/>
        </p:nvSpPr>
        <p:spPr>
          <a:xfrm>
            <a:off x="467544" y="3861048"/>
            <a:ext cx="8229600" cy="1656184"/>
          </a:xfrm>
          <a:prstGeom prst="rect">
            <a:avLst/>
          </a:prstGeom>
          <a:solidFill>
            <a:srgbClr val="FFFFFF"/>
          </a:solidFill>
          <a:ln>
            <a:solidFill>
              <a:srgbClr val="FF0000"/>
            </a:solidFill>
            <a:miter/>
          </a:ln>
        </p:spPr>
        <p:txBody>
          <a:bodyPr vert="horz" rtlCol="0" anchor="t">
            <a:norm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a:buFont typeface="Wingdings 2"/>
              <a:buNone/>
            </a:pPr>
            <a:r>
              <a:rPr lang="en-US" altLang="zh-CN" sz="2400" b="1" dirty="0" smtClean="0">
                <a:solidFill>
                  <a:srgbClr val="0000FF"/>
                </a:solidFill>
                <a:ea typeface="黑体" panose="02010609060101010101" pitchFamily="2" charset="-122"/>
              </a:rPr>
              <a:t>2</a:t>
            </a:r>
            <a:r>
              <a:rPr lang="zh-CN" altLang="en-US" sz="2400" b="1" dirty="0" smtClean="0">
                <a:solidFill>
                  <a:srgbClr val="0000FF"/>
                </a:solidFill>
                <a:ea typeface="黑体" panose="02010609060101010101" pitchFamily="2" charset="-122"/>
              </a:rPr>
              <a:t>、指导新民主主义革命取得了胜利，建立了中华人民共和国。开创了中国历史的新纪元，为实现国家富强、民族复兴和人民幸福扫清了障碍，为当代中国的进一步发展奠定了根本政治前提</a:t>
            </a:r>
            <a:r>
              <a:rPr lang="zh-CN" altLang="en-US" sz="2800" dirty="0" smtClean="0">
                <a:latin typeface="楷体_GB2312" pitchFamily="49" charset="-122"/>
                <a:ea typeface="楷体_GB2312" pitchFamily="49" charset="-122"/>
              </a:rPr>
              <a:t>。</a:t>
            </a:r>
            <a:endParaRPr lang="zh-CN" altLang="en-US" sz="2800" dirty="0">
              <a:latin typeface="楷体_GB2312" pitchFamily="49" charset="-122"/>
              <a:ea typeface="楷体_GB2312" pitchFamily="49" charset="-122"/>
            </a:endParaRPr>
          </a:p>
        </p:txBody>
      </p:sp>
    </p:spTree>
  </p:cSld>
  <p:clrMapOvr>
    <a:masterClrMapping/>
  </p:clrMapOvr>
  <p:transition>
    <p:wipe dir="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p:cNvSpPr>
          <p:nvPr>
            <p:ph idx="4294967295"/>
          </p:nvPr>
        </p:nvSpPr>
        <p:spPr>
          <a:xfrm>
            <a:off x="683568" y="404664"/>
            <a:ext cx="6480720" cy="2304256"/>
          </a:xfrm>
          <a:prstGeom prst="rect">
            <a:avLst/>
          </a:prstGeom>
          <a:solidFill>
            <a:srgbClr val="FFFFFF"/>
          </a:solidFill>
          <a:ln>
            <a:solidFill>
              <a:srgbClr val="FF0000"/>
            </a:solidFill>
            <a:miter/>
          </a:ln>
        </p:spPr>
        <p:txBody>
          <a:bodyPr anchor="t">
            <a:noAutofit/>
          </a:bodyPr>
          <a:lstStyle/>
          <a:p>
            <a:pPr eaLnBrk="1" hangingPunct="1">
              <a:buNone/>
            </a:pPr>
            <a:r>
              <a:rPr lang="zh-CN" altLang="en-US" b="1" dirty="0" smtClean="0">
                <a:ea typeface="黑体" panose="02010609060101010101" pitchFamily="2" charset="-122"/>
              </a:rPr>
              <a:t>阅读和观看：</a:t>
            </a:r>
            <a:endParaRPr lang="zh-CN" altLang="en-US" b="1" dirty="0">
              <a:ea typeface="黑体" panose="02010609060101010101" pitchFamily="2" charset="-122"/>
            </a:endParaRPr>
          </a:p>
          <a:p>
            <a:pPr eaLnBrk="1" hangingPunct="1">
              <a:buNone/>
            </a:pPr>
            <a:r>
              <a:rPr lang="en-US" altLang="zh-CN" b="1" dirty="0">
                <a:ea typeface="黑体" panose="02010609060101010101" pitchFamily="2" charset="-122"/>
              </a:rPr>
              <a:t>1</a:t>
            </a:r>
            <a:r>
              <a:rPr lang="zh-CN" altLang="en-US" b="1" dirty="0">
                <a:ea typeface="黑体" panose="02010609060101010101" pitchFamily="2" charset="-122"/>
              </a:rPr>
              <a:t>、课后参考书目</a:t>
            </a:r>
          </a:p>
          <a:p>
            <a:pPr eaLnBrk="1" hangingPunct="1">
              <a:buNone/>
            </a:pPr>
            <a:r>
              <a:rPr lang="en-US" altLang="zh-CN" b="1" dirty="0">
                <a:ea typeface="黑体" panose="02010609060101010101" pitchFamily="2" charset="-122"/>
              </a:rPr>
              <a:t>2</a:t>
            </a:r>
            <a:r>
              <a:rPr lang="zh-CN" altLang="en-US" b="1" dirty="0">
                <a:ea typeface="黑体" panose="02010609060101010101" pitchFamily="2" charset="-122"/>
              </a:rPr>
              <a:t>、《苦难辉煌》</a:t>
            </a:r>
          </a:p>
          <a:p>
            <a:pPr eaLnBrk="1" hangingPunct="1">
              <a:buNone/>
            </a:pPr>
            <a:r>
              <a:rPr lang="en-US" altLang="zh-CN" b="1" dirty="0">
                <a:ea typeface="黑体" panose="02010609060101010101" pitchFamily="2" charset="-122"/>
              </a:rPr>
              <a:t>3</a:t>
            </a:r>
            <a:r>
              <a:rPr lang="zh-CN" altLang="en-US" b="1" dirty="0" smtClean="0">
                <a:ea typeface="黑体" panose="02010609060101010101" pitchFamily="2" charset="-122"/>
              </a:rPr>
              <a:t>、文献资料片《旗帜》</a:t>
            </a:r>
            <a:endParaRPr lang="zh-CN" altLang="en-US" b="1" dirty="0">
              <a:ea typeface="黑体" panose="02010609060101010101" pitchFamily="2" charset="-122"/>
            </a:endParaRPr>
          </a:p>
        </p:txBody>
      </p:sp>
      <p:sp>
        <p:nvSpPr>
          <p:cNvPr id="3" name="Rectangle 2"/>
          <p:cNvSpPr txBox="1">
            <a:spLocks/>
          </p:cNvSpPr>
          <p:nvPr/>
        </p:nvSpPr>
        <p:spPr>
          <a:xfrm>
            <a:off x="755576" y="3068960"/>
            <a:ext cx="6480720" cy="2304256"/>
          </a:xfrm>
          <a:prstGeom prst="rect">
            <a:avLst/>
          </a:prstGeom>
          <a:solidFill>
            <a:srgbClr val="FFFFFF"/>
          </a:solidFill>
          <a:ln>
            <a:solidFill>
              <a:srgbClr val="FF0000"/>
            </a:solidFill>
            <a:miter/>
          </a:ln>
        </p:spPr>
        <p:txBody>
          <a:bodyPr vert="horz" rtlCol="0" anchor="t">
            <a:no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a:buFont typeface="Wingdings 2"/>
              <a:buNone/>
            </a:pPr>
            <a:r>
              <a:rPr lang="zh-CN" altLang="en-US" b="1" dirty="0" smtClean="0">
                <a:ea typeface="黑体" panose="02010609060101010101" pitchFamily="2" charset="-122"/>
              </a:rPr>
              <a:t>作业</a:t>
            </a:r>
            <a:endParaRPr lang="en-US" altLang="zh-CN" b="1" dirty="0" smtClean="0">
              <a:ea typeface="黑体" panose="02010609060101010101" pitchFamily="2" charset="-122"/>
            </a:endParaRPr>
          </a:p>
          <a:p>
            <a:pPr>
              <a:buFont typeface="Wingdings 2"/>
              <a:buNone/>
            </a:pPr>
            <a:r>
              <a:rPr lang="en-US" altLang="zh-CN" b="1" dirty="0" smtClean="0">
                <a:ea typeface="黑体" panose="02010609060101010101" pitchFamily="2" charset="-122"/>
              </a:rPr>
              <a:t>1</a:t>
            </a:r>
            <a:r>
              <a:rPr lang="zh-CN" altLang="en-US" b="1" dirty="0" smtClean="0">
                <a:ea typeface="黑体" panose="02010609060101010101" pitchFamily="2" charset="-122"/>
              </a:rPr>
              <a:t>、课后思考题</a:t>
            </a:r>
            <a:endParaRPr lang="en-US" altLang="zh-CN" b="1" dirty="0" smtClean="0">
              <a:ea typeface="黑体" panose="02010609060101010101" pitchFamily="2" charset="-122"/>
            </a:endParaRPr>
          </a:p>
          <a:p>
            <a:pPr>
              <a:buFont typeface="Wingdings 2"/>
              <a:buNone/>
            </a:pPr>
            <a:r>
              <a:rPr lang="en-US" altLang="zh-CN" b="1" dirty="0" smtClean="0">
                <a:ea typeface="黑体" panose="02010609060101010101" pitchFamily="2" charset="-122"/>
              </a:rPr>
              <a:t>2</a:t>
            </a:r>
            <a:r>
              <a:rPr lang="zh-CN" altLang="en-US" b="1" smtClean="0">
                <a:ea typeface="黑体" panose="02010609060101010101" pitchFamily="2" charset="-122"/>
              </a:rPr>
              <a:t>、讨论：三大法宝在社会主义革命、建设和改革开放时期的运用</a:t>
            </a:r>
            <a:endParaRPr lang="en-US" altLang="zh-CN" b="1" dirty="0" smtClean="0">
              <a:ea typeface="黑体" panose="02010609060101010101" pitchFamily="2" charset="-122"/>
            </a:endParaRPr>
          </a:p>
          <a:p>
            <a:pPr>
              <a:buFont typeface="Wingdings 2"/>
              <a:buNone/>
            </a:pPr>
            <a:endParaRPr lang="zh-CN" altLang="en-US" b="1" dirty="0">
              <a:ea typeface="黑体" panose="02010609060101010101" pitchFamily="2" charset="-122"/>
            </a:endParaRPr>
          </a:p>
        </p:txBody>
      </p:sp>
    </p:spTree>
  </p:cSld>
  <p:clrMapOvr>
    <a:masterClrMapping/>
  </p:clrMapOvr>
  <p:transition>
    <p:wipe dir="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43748" y="2967335"/>
            <a:ext cx="2656496" cy="1569660"/>
          </a:xfrm>
          <a:prstGeom prst="rect">
            <a:avLst/>
          </a:prstGeom>
          <a:noFill/>
        </p:spPr>
        <p:txBody>
          <a:bodyPr wrap="none" lIns="91440" tIns="45720" rIns="91440" bIns="45720">
            <a:spAutoFit/>
          </a:bodyPr>
          <a:lstStyle/>
          <a:p>
            <a:pPr algn="ctr"/>
            <a:r>
              <a:rPr lang="zh-CN" altLang="en-US" sz="9600" b="1" i="1" cap="none" spc="0"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rgbClr val="FF0000"/>
                </a:solidFill>
                <a:effectLst>
                  <a:outerShdw blurRad="50800" dist="40000" dir="5400000" algn="tl" rotWithShape="0">
                    <a:srgbClr val="000000">
                      <a:shade val="5000"/>
                      <a:satMod val="120000"/>
                      <a:alpha val="33000"/>
                    </a:srgbClr>
                  </a:outerShdw>
                </a:effectLst>
                <a:latin typeface="+mj-ea"/>
                <a:ea typeface="+mj-ea"/>
              </a:rPr>
              <a:t>谢谢</a:t>
            </a:r>
            <a:endParaRPr lang="zh-CN" altLang="en-US" sz="9600" b="1" i="1" cap="none" spc="0" dirty="0">
              <a:ln w="31550" cmpd="sng">
                <a:gradFill>
                  <a:gsLst>
                    <a:gs pos="70000">
                      <a:schemeClr val="accent6">
                        <a:shade val="50000"/>
                        <a:satMod val="190000"/>
                      </a:schemeClr>
                    </a:gs>
                    <a:gs pos="0">
                      <a:schemeClr val="accent6">
                        <a:tint val="77000"/>
                        <a:satMod val="180000"/>
                      </a:schemeClr>
                    </a:gs>
                  </a:gsLst>
                  <a:lin ang="5400000"/>
                </a:gradFill>
                <a:prstDash val="solid"/>
              </a:ln>
              <a:solidFill>
                <a:srgbClr val="FF0000"/>
              </a:solidFill>
              <a:effectLst>
                <a:outerShdw blurRad="50800" dist="40000" dir="5400000" algn="tl" rotWithShape="0">
                  <a:srgbClr val="000000">
                    <a:shade val="5000"/>
                    <a:satMod val="120000"/>
                    <a:alpha val="33000"/>
                  </a:srgbClr>
                </a:outerShdw>
              </a:effectLst>
              <a:latin typeface="+mj-ea"/>
              <a:ea typeface="+mj-ea"/>
            </a:endParaRPr>
          </a:p>
        </p:txBody>
      </p:sp>
    </p:spTree>
  </p:cSld>
  <p:clrMapOvr>
    <a:masterClrMapping/>
  </p:clrMapOvr>
  <p:transition>
    <p:wipe dir="r"/>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emplate/>
  <TotalTime>1278</TotalTime>
  <Words>5233</Words>
  <Application>Microsoft Office PowerPoint</Application>
  <PresentationFormat>全屏显示(4:3)</PresentationFormat>
  <Paragraphs>489</Paragraphs>
  <Slides>123</Slides>
  <Notes>0</Notes>
  <HiddenSlides>0</HiddenSlides>
  <MMClips>2</MMClips>
  <ScaleCrop>false</ScaleCrop>
  <HeadingPairs>
    <vt:vector size="4" baseType="variant">
      <vt:variant>
        <vt:lpstr>主题</vt:lpstr>
      </vt:variant>
      <vt:variant>
        <vt:i4>1</vt:i4>
      </vt:variant>
      <vt:variant>
        <vt:lpstr>幻灯片标题</vt:lpstr>
      </vt:variant>
      <vt:variant>
        <vt:i4>123</vt:i4>
      </vt:variant>
    </vt:vector>
  </HeadingPairs>
  <TitlesOfParts>
    <vt:vector size="124" baseType="lpstr">
      <vt:lpstr>龙腾四海</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帝国主义列强入侵是中国沦为半殖民地半封建社会的根本原因</vt:lpstr>
      <vt:lpstr>幻灯片 17</vt:lpstr>
      <vt:lpstr>幻灯片 18</vt:lpstr>
      <vt:lpstr>二、近代中国革命的时代特征（时代背景）</vt:lpstr>
      <vt:lpstr>幻灯片 20</vt:lpstr>
      <vt:lpstr>基本观点、经典论述 : </vt:lpstr>
      <vt:lpstr>幻灯片 22</vt:lpstr>
      <vt:lpstr>幻灯片 23</vt:lpstr>
      <vt:lpstr>幻灯片 24</vt:lpstr>
      <vt:lpstr>幻灯片 25</vt:lpstr>
      <vt:lpstr>（三）新民主主义革命理论的形成和发展过程</vt:lpstr>
      <vt:lpstr>幻灯片 27</vt:lpstr>
      <vt:lpstr>幻灯片 28</vt:lpstr>
      <vt:lpstr>幻灯片 29</vt:lpstr>
      <vt:lpstr>幻灯片 30</vt:lpstr>
      <vt:lpstr>（一）新民主主义革命的对象</vt:lpstr>
      <vt:lpstr>（一）新民主主义革命的对象</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（二）新民主主义革命的动力</vt:lpstr>
      <vt:lpstr>幻灯片 46</vt:lpstr>
      <vt:lpstr>幻灯片 47</vt:lpstr>
      <vt:lpstr>幻灯片 48</vt:lpstr>
      <vt:lpstr>幻灯片 49</vt:lpstr>
      <vt:lpstr>幻灯片 50</vt:lpstr>
      <vt:lpstr>幻灯片 51</vt:lpstr>
      <vt:lpstr>幻灯片 52</vt:lpstr>
      <vt:lpstr>幻灯片 53</vt:lpstr>
      <vt:lpstr>幻灯片 54</vt:lpstr>
      <vt:lpstr>（四）新民主主义革命的性质和前途</vt:lpstr>
      <vt:lpstr>幻灯片 56</vt:lpstr>
      <vt:lpstr>幻灯片 57</vt:lpstr>
      <vt:lpstr>幻灯片 58</vt:lpstr>
      <vt:lpstr>二、新民主主义基本纲领      </vt:lpstr>
      <vt:lpstr>（一）新民主主义的政治纲领</vt:lpstr>
      <vt:lpstr>幻灯片 61</vt:lpstr>
      <vt:lpstr>（二）新民主主义的经济纲领</vt:lpstr>
      <vt:lpstr>没收封建阶级的土地归农民所有</vt:lpstr>
      <vt:lpstr>没收官僚垄断资本归国家所有</vt:lpstr>
      <vt:lpstr>保护民族工商业</vt:lpstr>
      <vt:lpstr>幻灯片 66</vt:lpstr>
      <vt:lpstr>（三）新民主主义的文化纲领</vt:lpstr>
      <vt:lpstr>幻灯片 68</vt:lpstr>
      <vt:lpstr>幻灯片 69</vt:lpstr>
      <vt:lpstr>幻灯片 70</vt:lpstr>
      <vt:lpstr>（一）农村包围城市革命道路理论的提出过程 </vt:lpstr>
      <vt:lpstr>幻灯片 72</vt:lpstr>
      <vt:lpstr>幻灯片 73</vt:lpstr>
      <vt:lpstr>幻灯片 74</vt:lpstr>
      <vt:lpstr>幻灯片 75</vt:lpstr>
      <vt:lpstr>幻灯片 76</vt:lpstr>
      <vt:lpstr>幻灯片 77</vt:lpstr>
      <vt:lpstr>（二）农村包围城市革命道路的必然性</vt:lpstr>
      <vt:lpstr>（二）农村包围城市革命道路理论的必然性</vt:lpstr>
      <vt:lpstr>（三）农村包围城市武装夺取政权道路的内容</vt:lpstr>
      <vt:lpstr>幻灯片 81</vt:lpstr>
      <vt:lpstr>（四）走农村包围城市、武装夺取政权道路的意义</vt:lpstr>
      <vt:lpstr>专题四   新民主主义革命的基本经验</vt:lpstr>
      <vt:lpstr>幻灯片 84</vt:lpstr>
      <vt:lpstr>幻灯片 85</vt:lpstr>
      <vt:lpstr>幻灯片 86</vt:lpstr>
      <vt:lpstr>幻灯片 87</vt:lpstr>
      <vt:lpstr>幻灯片 88</vt:lpstr>
      <vt:lpstr>幻灯片 89</vt:lpstr>
      <vt:lpstr>幻灯片 90</vt:lpstr>
      <vt:lpstr>幻灯片 91</vt:lpstr>
      <vt:lpstr>幻灯片 92</vt:lpstr>
      <vt:lpstr>幻灯片 93</vt:lpstr>
      <vt:lpstr>幻灯片 94</vt:lpstr>
      <vt:lpstr>幻灯片 95</vt:lpstr>
      <vt:lpstr>幻灯片 96</vt:lpstr>
      <vt:lpstr>幻灯片 97</vt:lpstr>
      <vt:lpstr>幻灯片 98</vt:lpstr>
      <vt:lpstr>幻灯片 99</vt:lpstr>
      <vt:lpstr>幻灯片 100</vt:lpstr>
      <vt:lpstr>幻灯片 101</vt:lpstr>
      <vt:lpstr>幻灯片 102</vt:lpstr>
      <vt:lpstr>幻灯片 103</vt:lpstr>
      <vt:lpstr>幻灯片 104</vt:lpstr>
      <vt:lpstr>幻灯片 105</vt:lpstr>
      <vt:lpstr>幻灯片 106</vt:lpstr>
      <vt:lpstr>幻灯片 107</vt:lpstr>
      <vt:lpstr>幻灯片 108</vt:lpstr>
      <vt:lpstr>幻灯片 109</vt:lpstr>
      <vt:lpstr>幻灯片 110</vt:lpstr>
      <vt:lpstr>幻灯片 111</vt:lpstr>
      <vt:lpstr>幻灯片 112</vt:lpstr>
      <vt:lpstr>幻灯片 113</vt:lpstr>
      <vt:lpstr>幻灯片 114</vt:lpstr>
      <vt:lpstr>幻灯片 115</vt:lpstr>
      <vt:lpstr>幻灯片 116</vt:lpstr>
      <vt:lpstr>幻灯片 117</vt:lpstr>
      <vt:lpstr>幻灯片 118</vt:lpstr>
      <vt:lpstr>幻灯片 119</vt:lpstr>
      <vt:lpstr> 新民主主义革命理论的意义</vt:lpstr>
      <vt:lpstr>幻灯片 121</vt:lpstr>
      <vt:lpstr>幻灯片 122</vt:lpstr>
      <vt:lpstr>幻灯片 123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第八章 习近平思想</dc:title>
  <dc:creator>Administrator</dc:creator>
  <cp:lastModifiedBy>Lenovo</cp:lastModifiedBy>
  <cp:revision>242</cp:revision>
  <dcterms:created xsi:type="dcterms:W3CDTF">2018-06-11T14:13:52Z</dcterms:created>
  <dcterms:modified xsi:type="dcterms:W3CDTF">2021-10-29T01:31:04Z</dcterms:modified>
</cp:coreProperties>
</file>