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docProps/custom.xml" ContentType="application/vnd.openxmlformats-officedocument.custom-properties+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Default Extension="wav" ContentType="audio/wav"/>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Lst>
  <p:notesMasterIdLst>
    <p:notesMasterId r:id="rId81"/>
  </p:notesMasterIdLst>
  <p:sldIdLst>
    <p:sldId id="585" r:id="rId3"/>
    <p:sldId id="586" r:id="rId4"/>
    <p:sldId id="520" r:id="rId5"/>
    <p:sldId id="466" r:id="rId6"/>
    <p:sldId id="521" r:id="rId7"/>
    <p:sldId id="467" r:id="rId8"/>
    <p:sldId id="547" r:id="rId9"/>
    <p:sldId id="471" r:id="rId10"/>
    <p:sldId id="440" r:id="rId11"/>
    <p:sldId id="522" r:id="rId12"/>
    <p:sldId id="443" r:id="rId13"/>
    <p:sldId id="441" r:id="rId14"/>
    <p:sldId id="442" r:id="rId15"/>
    <p:sldId id="444" r:id="rId16"/>
    <p:sldId id="433" r:id="rId17"/>
    <p:sldId id="469" r:id="rId18"/>
    <p:sldId id="472" r:id="rId19"/>
    <p:sldId id="587" r:id="rId20"/>
    <p:sldId id="523" r:id="rId21"/>
    <p:sldId id="551" r:id="rId22"/>
    <p:sldId id="553" r:id="rId23"/>
    <p:sldId id="558" r:id="rId24"/>
    <p:sldId id="460" r:id="rId25"/>
    <p:sldId id="554" r:id="rId26"/>
    <p:sldId id="569" r:id="rId27"/>
    <p:sldId id="570" r:id="rId28"/>
    <p:sldId id="556" r:id="rId29"/>
    <p:sldId id="557" r:id="rId30"/>
    <p:sldId id="559" r:id="rId31"/>
    <p:sldId id="571" r:id="rId32"/>
    <p:sldId id="560" r:id="rId33"/>
    <p:sldId id="588" r:id="rId34"/>
    <p:sldId id="561" r:id="rId35"/>
    <p:sldId id="562" r:id="rId36"/>
    <p:sldId id="564" r:id="rId37"/>
    <p:sldId id="572" r:id="rId38"/>
    <p:sldId id="573" r:id="rId39"/>
    <p:sldId id="577" r:id="rId40"/>
    <p:sldId id="574" r:id="rId41"/>
    <p:sldId id="578" r:id="rId42"/>
    <p:sldId id="579" r:id="rId43"/>
    <p:sldId id="580" r:id="rId44"/>
    <p:sldId id="581" r:id="rId45"/>
    <p:sldId id="575" r:id="rId46"/>
    <p:sldId id="576" r:id="rId47"/>
    <p:sldId id="582" r:id="rId48"/>
    <p:sldId id="583" r:id="rId49"/>
    <p:sldId id="565" r:id="rId50"/>
    <p:sldId id="563" r:id="rId51"/>
    <p:sldId id="589" r:id="rId52"/>
    <p:sldId id="566" r:id="rId53"/>
    <p:sldId id="595" r:id="rId54"/>
    <p:sldId id="594" r:id="rId55"/>
    <p:sldId id="478" r:id="rId56"/>
    <p:sldId id="535" r:id="rId57"/>
    <p:sldId id="537" r:id="rId58"/>
    <p:sldId id="530" r:id="rId59"/>
    <p:sldId id="531" r:id="rId60"/>
    <p:sldId id="538" r:id="rId61"/>
    <p:sldId id="534" r:id="rId62"/>
    <p:sldId id="536" r:id="rId63"/>
    <p:sldId id="540" r:id="rId64"/>
    <p:sldId id="532" r:id="rId65"/>
    <p:sldId id="480" r:id="rId66"/>
    <p:sldId id="481" r:id="rId67"/>
    <p:sldId id="477" r:id="rId68"/>
    <p:sldId id="483" r:id="rId69"/>
    <p:sldId id="484" r:id="rId70"/>
    <p:sldId id="545" r:id="rId71"/>
    <p:sldId id="529" r:id="rId72"/>
    <p:sldId id="526" r:id="rId73"/>
    <p:sldId id="541" r:id="rId74"/>
    <p:sldId id="544" r:id="rId75"/>
    <p:sldId id="542" r:id="rId76"/>
    <p:sldId id="546" r:id="rId77"/>
    <p:sldId id="528" r:id="rId78"/>
    <p:sldId id="567" r:id="rId79"/>
    <p:sldId id="409" r:id="rId80"/>
  </p:sldIdLst>
  <p:sldSz cx="9144000" cy="6858000" type="screen4x3"/>
  <p:notesSz cx="6858000" cy="9144000"/>
  <p:defaultTextStyle>
    <a:defPPr>
      <a:defRPr lang="zh-CN"/>
    </a:defPPr>
    <a:lvl1pPr marL="0" lvl="0" indent="0" algn="l" defTabSz="914400" eaLnBrk="1" fontAlgn="base" latinLnBrk="0" hangingPunct="1">
      <a:lnSpc>
        <a:spcPct val="100000"/>
      </a:lnSpc>
      <a:spcBef>
        <a:spcPct val="0"/>
      </a:spcBef>
      <a:spcAft>
        <a:spcPct val="0"/>
      </a:spcAft>
      <a:buNone/>
      <a:defRPr sz="1800" b="0" i="0" u="none" kern="1200" baseline="0">
        <a:solidFill>
          <a:srgbClr val="0000FF"/>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rgbClr val="0000FF"/>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rgbClr val="0000FF"/>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rgbClr val="0000FF"/>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rgbClr val="0000FF"/>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rgbClr val="0000FF"/>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rgbClr val="0000FF"/>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rgbClr val="0000FF"/>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rgbClr val="0000FF"/>
        </a:solidFill>
        <a:latin typeface="Arial" panose="020B0604020202020204" pitchFamily="34" charset="0"/>
        <a:ea typeface="宋体" panose="02010600030101010101" pitchFamily="2"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00FF"/>
    <a:srgbClr val="FF0000"/>
    <a:srgbClr val="FFCC99"/>
    <a:srgbClr val="0000C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2" d="100"/>
          <a:sy n="82" d="100"/>
        </p:scale>
        <p:origin x="-1474" y="-86"/>
      </p:cViewPr>
      <p:guideLst>
        <p:guide orient="horz" pos="2137"/>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presProps" Target="presProps.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Arial" panose="020B0604020202020204" pitchFamily="34" charset="0"/>
                <a:ea typeface="宋体" panose="02010600030101010101" pitchFamily="2" charset="-122"/>
                <a:cs typeface="+mn-ea"/>
              </a:rPr>
              <a:pPr fontAlgn="base"/>
              <a:t>2021/11/18</a:t>
            </a:fld>
            <a:endParaRPr lang="zh-CN" altLang="en-US" strike="noStrike" noProof="1"/>
          </a:p>
        </p:txBody>
      </p:sp>
      <p:sp>
        <p:nvSpPr>
          <p:cNvPr id="2052"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2053" name="备注占位符 4"/>
          <p:cNvSpPr>
            <a:spLocks noGrp="1"/>
          </p:cNvSpPr>
          <p:nvPr>
            <p:ph type="body" sz="quarter"/>
          </p:nvPr>
        </p:nvSpPr>
        <p:spPr>
          <a:xfrm>
            <a:off x="685800" y="4400550"/>
            <a:ext cx="5486400" cy="3600450"/>
          </a:xfrm>
          <a:prstGeom prst="rect">
            <a:avLst/>
          </a:prstGeom>
          <a:noFill/>
          <a:ln w="9525">
            <a:noFill/>
          </a:ln>
        </p:spPr>
        <p:txBody>
          <a:bodyPr lIns="91440" tIns="45720" rIns="91440" bIns="45720" anchor="t"/>
          <a:lstStyle/>
          <a:p>
            <a:pPr lvl="0"/>
            <a:r>
              <a:rPr lang="zh-CN" altLang="en-US"/>
              <a:t>单击此处编辑母版文本样式</a:t>
            </a:r>
          </a:p>
          <a:p>
            <a:pPr lvl="1" indent="0"/>
            <a:r>
              <a:rPr lang="zh-CN" altLang="en-US"/>
              <a:t>第二级</a:t>
            </a:r>
          </a:p>
          <a:p>
            <a:pPr lvl="2" indent="0"/>
            <a:r>
              <a:rPr lang="zh-CN" altLang="en-US"/>
              <a:t>第三级</a:t>
            </a:r>
          </a:p>
          <a:p>
            <a:pPr lvl="3" indent="0"/>
            <a:r>
              <a:rPr lang="zh-CN" altLang="en-US"/>
              <a:t>第四级</a:t>
            </a:r>
          </a:p>
          <a:p>
            <a:pPr lvl="4" indent="0"/>
            <a:r>
              <a:rPr lang="zh-CN" altLang="en-US"/>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Arial" panose="020B0604020202020204" pitchFamily="34" charset="0"/>
                <a:ea typeface="宋体" panose="02010600030101010101" pitchFamily="2" charset="-122"/>
                <a:cs typeface="+mn-ea"/>
              </a:rPr>
              <a:pPr fontAlgn="base"/>
              <a:t>‹#›</a:t>
            </a:fld>
            <a:endParaRPr lang="zh-CN" altLang="en-US" strike="noStrike" noProof="1"/>
          </a:p>
        </p:txBody>
      </p:sp>
    </p:spTree>
    <p:extLst>
      <p:ext uri="{BB962C8B-B14F-4D97-AF65-F5344CB8AC3E}">
        <p14:creationId xmlns:p14="http://schemas.microsoft.com/office/powerpoint/2010/main" xmlns="" val="263366325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trips dir="rd"/>
    <p:sndAc>
      <p:stSnd>
        <p:snd r:embed="rId1" name="chimes.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cSld>
  <p:clrMapOvr>
    <a:masterClrMapping/>
  </p:clrMapOvr>
  <p:transition>
    <p:strips dir="rd"/>
    <p:sndAc>
      <p:stSnd>
        <p:snd r:embed="rId1" name="chimes.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Tree>
  </p:cSld>
  <p:clrMapOvr>
    <a:masterClrMapping/>
  </p:clrMapOvr>
  <p:transition>
    <p:strips dir="rd"/>
    <p:sndAc>
      <p:stSnd>
        <p:snd r:embed="rId1" name="chimes.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cSld>
  <p:clrMapOvr>
    <a:masterClrMapping/>
  </p:clrMapOvr>
  <p:transition>
    <p:strips dir="rd"/>
    <p:sndAc>
      <p:stSnd>
        <p:snd r:embed="rId1" name="chimes.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cSld>
  <p:clrMapOvr>
    <a:masterClrMapping/>
  </p:clrMapOvr>
  <p:transition>
    <p:strips dir="rd"/>
    <p:sndAc>
      <p:stSnd>
        <p:snd r:embed="rId1" name="chimes.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trips dir="rd"/>
    <p:sndAc>
      <p:stSnd>
        <p:snd r:embed="rId1" name="chimes.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trips dir="rd"/>
    <p:sndAc>
      <p:stSnd>
        <p:snd r:embed="rId1" name="chimes.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Tree>
  </p:cSld>
  <p:clrMapOvr>
    <a:masterClrMapping/>
  </p:clrMapOvr>
  <p:transition>
    <p:strips dir="rd"/>
    <p:sndAc>
      <p:stSnd>
        <p:snd r:embed="rId1" name="chimes.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Tree>
  </p:cSld>
  <p:clrMapOvr>
    <a:masterClrMapping/>
  </p:clrMapOvr>
  <p:transition>
    <p:strips dir="rd"/>
    <p:sndAc>
      <p:stSnd>
        <p:snd r:embed="rId1" name="chimes.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cSld>
  <p:clrMapOvr>
    <a:masterClrMapping/>
  </p:clrMapOvr>
  <p:transition>
    <p:strips dir="rd"/>
    <p:sndAc>
      <p:stSnd>
        <p:snd r:embed="rId1" name="chimes.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cSld>
  <p:clrMapOvr>
    <a:masterClrMapping/>
  </p:clrMapOvr>
  <p:transition>
    <p:strips dir="rd"/>
    <p:sndAc>
      <p:stSnd>
        <p:snd r:embed="rId1" name="chimes.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11/18/2021</a:t>
            </a:fld>
            <a:endParaRPr lang="en-US"/>
          </a:p>
        </p:txBody>
      </p:sp>
      <p:sp>
        <p:nvSpPr>
          <p:cNvPr id="5" name="页脚占位符 4"/>
          <p:cNvSpPr>
            <a:spLocks noGrp="1"/>
          </p:cNvSpPr>
          <p:nvPr>
            <p:ph type="ftr" sz="quarter" idx="11"/>
          </p:nvPr>
        </p:nvSpPr>
        <p:spPr/>
        <p:txBody>
          <a:bodyPr/>
          <a:lstStyle/>
          <a:p>
            <a:endParaRPr kumimoji="0" lang="zh-CN" altLang="en-US"/>
          </a:p>
        </p:txBody>
      </p:sp>
      <p:sp>
        <p:nvSpPr>
          <p:cNvPr id="6" name="灯片编号占位符 5"/>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overrideClrMapping bg1="lt1" tx1="dk1" bg2="lt2" tx2="dk2" accent1="accent1" accent2="accent2" accent3="accent3" accent4="accent4" accent5="accent5" accent6="accent6" hlink="hlink" folHlink="folHlink"/>
  </p:clrMapOvr>
  <p:transition>
    <p:strips dir="rd"/>
    <p:sndAc>
      <p:stSnd>
        <p:snd r:embed="rId1" name="chimes.wav"/>
      </p:stSnd>
    </p:sndAc>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11/18/2021</a:t>
            </a:fld>
            <a:endParaRPr lang="en-US"/>
          </a:p>
        </p:txBody>
      </p:sp>
      <p:sp>
        <p:nvSpPr>
          <p:cNvPr id="5" name="页脚占位符 4"/>
          <p:cNvSpPr>
            <a:spLocks noGrp="1"/>
          </p:cNvSpPr>
          <p:nvPr>
            <p:ph type="ftr" sz="quarter" idx="11"/>
          </p:nvPr>
        </p:nvSpPr>
        <p:spPr/>
        <p:txBody>
          <a:bodyPr/>
          <a:lstStyle/>
          <a:p>
            <a:endParaRPr kumimoji="0" lang="zh-CN" altLang="en-US" dirty="0"/>
          </a:p>
        </p:txBody>
      </p:sp>
      <p:sp>
        <p:nvSpPr>
          <p:cNvPr id="6" name="灯片编号占位符 5"/>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masterClrMapping/>
  </p:clrMapOvr>
  <p:transition>
    <p:strips dir="rd"/>
    <p:sndAc>
      <p:stSnd>
        <p:snd r:embed="rId1" name="chimes.wav"/>
      </p:stSnd>
    </p:sndAc>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11/18/2021</a:t>
            </a:fld>
            <a:endParaRPr lang="en-US"/>
          </a:p>
        </p:txBody>
      </p:sp>
      <p:sp>
        <p:nvSpPr>
          <p:cNvPr id="5" name="页脚占位符 4"/>
          <p:cNvSpPr>
            <a:spLocks noGrp="1"/>
          </p:cNvSpPr>
          <p:nvPr>
            <p:ph type="ftr" sz="quarter" idx="11"/>
          </p:nvPr>
        </p:nvSpPr>
        <p:spPr/>
        <p:txBody>
          <a:bodyPr/>
          <a:lstStyle/>
          <a:p>
            <a:endParaRPr kumimoji="0" lang="zh-CN" altLang="en-US"/>
          </a:p>
        </p:txBody>
      </p:sp>
      <p:sp>
        <p:nvSpPr>
          <p:cNvPr id="6" name="灯片编号占位符 5"/>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overrideClrMapping bg1="lt1" tx1="dk1" bg2="lt2" tx2="dk2" accent1="accent1" accent2="accent2" accent3="accent3" accent4="accent4" accent5="accent5" accent6="accent6" hlink="hlink" folHlink="folHlink"/>
  </p:clrMapOvr>
  <p:transition>
    <p:strips dir="rd"/>
    <p:sndAc>
      <p:stSnd>
        <p:snd r:embed="rId1" name="chimes.wav"/>
      </p:stSnd>
    </p:sndAc>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11/18/2021</a:t>
            </a:fld>
            <a:endParaRPr lang="en-US"/>
          </a:p>
        </p:txBody>
      </p:sp>
      <p:sp>
        <p:nvSpPr>
          <p:cNvPr id="6" name="页脚占位符 5"/>
          <p:cNvSpPr>
            <a:spLocks noGrp="1"/>
          </p:cNvSpPr>
          <p:nvPr>
            <p:ph type="ftr" sz="quarter" idx="11"/>
          </p:nvPr>
        </p:nvSpPr>
        <p:spPr/>
        <p:txBody>
          <a:bodyPr/>
          <a:lstStyle/>
          <a:p>
            <a:endParaRPr kumimoji="0" lang="zh-CN" altLang="en-US"/>
          </a:p>
        </p:txBody>
      </p:sp>
      <p:sp>
        <p:nvSpPr>
          <p:cNvPr id="7" name="灯片编号占位符 6"/>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masterClrMapping/>
  </p:clrMapOvr>
  <p:transition>
    <p:strips dir="rd"/>
    <p:sndAc>
      <p:stSnd>
        <p:snd r:embed="rId1" name="chimes.wav"/>
      </p:stSnd>
    </p:sndAc>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11/18/2021</a:t>
            </a:fld>
            <a:endParaRPr lang="en-US"/>
          </a:p>
        </p:txBody>
      </p:sp>
      <p:sp>
        <p:nvSpPr>
          <p:cNvPr id="8" name="页脚占位符 7"/>
          <p:cNvSpPr>
            <a:spLocks noGrp="1"/>
          </p:cNvSpPr>
          <p:nvPr>
            <p:ph type="ftr" sz="quarter" idx="11"/>
          </p:nvPr>
        </p:nvSpPr>
        <p:spPr/>
        <p:txBody>
          <a:bodyPr/>
          <a:lstStyle/>
          <a:p>
            <a:endParaRPr kumimoji="0" lang="zh-CN" altLang="en-US"/>
          </a:p>
        </p:txBody>
      </p:sp>
      <p:sp>
        <p:nvSpPr>
          <p:cNvPr id="9" name="灯片编号占位符 8"/>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masterClrMapping/>
  </p:clrMapOvr>
  <p:transition>
    <p:strips dir="rd"/>
    <p:sndAc>
      <p:stSnd>
        <p:snd r:embed="rId1" name="chimes.wav"/>
      </p:stSnd>
    </p:sndAc>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11/18/2021</a:t>
            </a:fld>
            <a:endParaRPr lang="en-US"/>
          </a:p>
        </p:txBody>
      </p:sp>
      <p:sp>
        <p:nvSpPr>
          <p:cNvPr id="4" name="页脚占位符 3"/>
          <p:cNvSpPr>
            <a:spLocks noGrp="1"/>
          </p:cNvSpPr>
          <p:nvPr>
            <p:ph type="ftr" sz="quarter" idx="11"/>
          </p:nvPr>
        </p:nvSpPr>
        <p:spPr/>
        <p:txBody>
          <a:bodyPr/>
          <a:lstStyle/>
          <a:p>
            <a:endParaRPr kumimoji="0" lang="zh-CN" altLang="en-US"/>
          </a:p>
        </p:txBody>
      </p:sp>
      <p:sp>
        <p:nvSpPr>
          <p:cNvPr id="5" name="灯片编号占位符 4"/>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masterClrMapping/>
  </p:clrMapOvr>
  <p:transition>
    <p:strips dir="rd"/>
    <p:sndAc>
      <p:stSnd>
        <p:snd r:embed="rId1" name="chimes.wav"/>
      </p:stSnd>
    </p:sndAc>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11/18/2021</a:t>
            </a:fld>
            <a:endParaRPr lang="en-US"/>
          </a:p>
        </p:txBody>
      </p:sp>
      <p:sp>
        <p:nvSpPr>
          <p:cNvPr id="3" name="页脚占位符 2"/>
          <p:cNvSpPr>
            <a:spLocks noGrp="1"/>
          </p:cNvSpPr>
          <p:nvPr>
            <p:ph type="ftr" sz="quarter" idx="11"/>
          </p:nvPr>
        </p:nvSpPr>
        <p:spPr/>
        <p:txBody>
          <a:bodyPr/>
          <a:lstStyle/>
          <a:p>
            <a:endParaRPr kumimoji="0" lang="zh-CN" altLang="en-US"/>
          </a:p>
        </p:txBody>
      </p:sp>
      <p:sp>
        <p:nvSpPr>
          <p:cNvPr id="4" name="灯片编号占位符 3"/>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masterClrMapping/>
  </p:clrMapOvr>
  <p:transition>
    <p:strips dir="rd"/>
    <p:sndAc>
      <p:stSnd>
        <p:snd r:embed="rId1" name="chimes.wav"/>
      </p:stSnd>
    </p:sndAc>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11/18/2021</a:t>
            </a:fld>
            <a:endParaRPr lang="en-US"/>
          </a:p>
        </p:txBody>
      </p:sp>
      <p:sp>
        <p:nvSpPr>
          <p:cNvPr id="6" name="页脚占位符 5"/>
          <p:cNvSpPr>
            <a:spLocks noGrp="1"/>
          </p:cNvSpPr>
          <p:nvPr>
            <p:ph type="ftr" sz="quarter" idx="11"/>
          </p:nvPr>
        </p:nvSpPr>
        <p:spPr/>
        <p:txBody>
          <a:bodyPr/>
          <a:lstStyle/>
          <a:p>
            <a:endParaRPr kumimoji="0" lang="zh-CN" altLang="en-US"/>
          </a:p>
        </p:txBody>
      </p:sp>
      <p:sp>
        <p:nvSpPr>
          <p:cNvPr id="7" name="灯片编号占位符 6"/>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smtClean="0"/>
              <a:t>单击此处编辑母版标题样式</a:t>
            </a:r>
            <a:endParaRPr kumimoji="0" lang="en-US"/>
          </a:p>
        </p:txBody>
      </p:sp>
    </p:spTree>
  </p:cSld>
  <p:clrMapOvr>
    <a:masterClrMapping/>
  </p:clrMapOvr>
  <p:transition>
    <p:strips dir="rd"/>
    <p:sndAc>
      <p:stSnd>
        <p:snd r:embed="rId1" name="chimes.wav"/>
      </p:stSnd>
    </p:sndAc>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11/18/2021</a:t>
            </a:fld>
            <a:endParaRPr lang="en-US"/>
          </a:p>
        </p:txBody>
      </p:sp>
      <p:sp>
        <p:nvSpPr>
          <p:cNvPr id="6" name="页脚占位符 5"/>
          <p:cNvSpPr>
            <a:spLocks noGrp="1"/>
          </p:cNvSpPr>
          <p:nvPr>
            <p:ph type="ftr" sz="quarter" idx="11"/>
          </p:nvPr>
        </p:nvSpPr>
        <p:spPr/>
        <p:txBody>
          <a:bodyPr/>
          <a:lstStyle/>
          <a:p>
            <a:endParaRPr kumimoji="0" lang="zh-CN" altLang="en-US"/>
          </a:p>
        </p:txBody>
      </p:sp>
      <p:sp>
        <p:nvSpPr>
          <p:cNvPr id="7" name="灯片编号占位符 6"/>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masterClrMapping/>
  </p:clrMapOvr>
  <p:transition>
    <p:strips dir="rd"/>
    <p:sndAc>
      <p:stSnd>
        <p:snd r:embed="rId1" name="chimes.wav"/>
      </p:stSnd>
    </p:sndAc>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11/18/2021</a:t>
            </a:fld>
            <a:endParaRPr lang="en-US"/>
          </a:p>
        </p:txBody>
      </p:sp>
      <p:sp>
        <p:nvSpPr>
          <p:cNvPr id="5" name="页脚占位符 4"/>
          <p:cNvSpPr>
            <a:spLocks noGrp="1"/>
          </p:cNvSpPr>
          <p:nvPr>
            <p:ph type="ftr" sz="quarter" idx="11"/>
          </p:nvPr>
        </p:nvSpPr>
        <p:spPr/>
        <p:txBody>
          <a:bodyPr/>
          <a:lstStyle/>
          <a:p>
            <a:endParaRPr kumimoji="0" lang="zh-CN" altLang="en-US"/>
          </a:p>
        </p:txBody>
      </p:sp>
      <p:sp>
        <p:nvSpPr>
          <p:cNvPr id="6" name="灯片编号占位符 5"/>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masterClrMapping/>
  </p:clrMapOvr>
  <p:transition>
    <p:strips dir="rd"/>
    <p:sndAc>
      <p:stSnd>
        <p:snd r:embed="rId1" name="chimes.wav"/>
      </p:stSnd>
    </p:sndAc>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11/18/2021</a:t>
            </a:fld>
            <a:endParaRPr lang="en-US"/>
          </a:p>
        </p:txBody>
      </p:sp>
      <p:sp>
        <p:nvSpPr>
          <p:cNvPr id="5" name="页脚占位符 4"/>
          <p:cNvSpPr>
            <a:spLocks noGrp="1"/>
          </p:cNvSpPr>
          <p:nvPr>
            <p:ph type="ftr" sz="quarter" idx="11"/>
          </p:nvPr>
        </p:nvSpPr>
        <p:spPr/>
        <p:txBody>
          <a:bodyPr/>
          <a:lstStyle/>
          <a:p>
            <a:endParaRPr kumimoji="0" lang="zh-CN" altLang="en-US"/>
          </a:p>
        </p:txBody>
      </p:sp>
      <p:sp>
        <p:nvSpPr>
          <p:cNvPr id="6" name="灯片编号占位符 5"/>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masterClrMapping/>
  </p:clrMapOvr>
  <p:transition>
    <p:strips dir="rd"/>
    <p:sndAc>
      <p:stSnd>
        <p:snd r:embed="rId1" name="chimes.wav"/>
      </p:stSnd>
    </p:sndAc>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baike.baidu.com/image/d57e99945712b42ed31b7026"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audio" Target="../media/audio1.wav"/><Relationship Id="rId18"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hyperlink" Target="http://baike.baidu.com/image/d57e99945712b42ed31b7026" TargetMode="External"/><Relationship Id="rId2" Type="http://schemas.openxmlformats.org/officeDocument/2006/relationships/slideLayout" Target="../slideLayouts/slideLayout13.xml"/><Relationship Id="rId16" Type="http://schemas.openxmlformats.org/officeDocument/2006/relationships/image" Target="../media/image1.gif"/><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6.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6699FF"/>
            </a:gs>
            <a:gs pos="100000">
              <a:srgbClr val="CEDFFF"/>
            </a:gs>
          </a:gsLst>
          <a:lin ang="5400000" scaled="1"/>
          <a:tileRect/>
        </a:gradFill>
        <a:effectLst/>
      </p:bgPr>
    </p:bg>
    <p:spTree>
      <p:nvGrpSpPr>
        <p:cNvPr id="1" name=""/>
        <p:cNvGrpSpPr/>
        <p:nvPr/>
      </p:nvGrpSpPr>
      <p:grpSpPr>
        <a:xfrm>
          <a:off x="0" y="0"/>
          <a:ext cx="0" cy="0"/>
          <a:chOff x="0" y="0"/>
          <a:chExt cx="0" cy="0"/>
        </a:xfrm>
      </p:grpSpPr>
      <p:sp>
        <p:nvSpPr>
          <p:cNvPr id="101379" name="Text Box 3"/>
          <p:cNvSpPr txBox="1">
            <a:spLocks noChangeArrowheads="1"/>
          </p:cNvSpPr>
          <p:nvPr/>
        </p:nvSpPr>
        <p:spPr bwMode="auto">
          <a:xfrm>
            <a:off x="6659563" y="188913"/>
            <a:ext cx="2303463" cy="581025"/>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a:ln>
                  <a:noFill/>
                </a:ln>
                <a:solidFill>
                  <a:srgbClr val="FFFF00"/>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毛泽东思想和中国特色</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a:ln>
                  <a:noFill/>
                </a:ln>
                <a:solidFill>
                  <a:srgbClr val="FFFF00"/>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社会主义理论体系概论</a:t>
            </a:r>
          </a:p>
        </p:txBody>
      </p:sp>
      <p:pic>
        <p:nvPicPr>
          <p:cNvPr id="1027" name="Picture 4" descr="20042291743154609"/>
          <p:cNvPicPr>
            <a:picLocks noChangeAspect="1"/>
          </p:cNvPicPr>
          <p:nvPr userDrawn="1"/>
        </p:nvPicPr>
        <p:blipFill>
          <a:blip r:embed="rId14" cstate="print"/>
          <a:stretch>
            <a:fillRect/>
          </a:stretch>
        </p:blipFill>
        <p:spPr>
          <a:xfrm rot="10800000">
            <a:off x="0" y="4652963"/>
            <a:ext cx="2071688" cy="2205037"/>
          </a:xfrm>
          <a:prstGeom prst="rect">
            <a:avLst/>
          </a:prstGeom>
          <a:noFill/>
          <a:ln w="9525">
            <a:noFill/>
          </a:ln>
        </p:spPr>
      </p:pic>
      <p:pic>
        <p:nvPicPr>
          <p:cNvPr id="1028" name="Picture 5" descr="d57e99945712b42ed31b7026">
            <a:hlinkClick r:id="rId15"/>
          </p:cNvPr>
          <p:cNvPicPr>
            <a:picLocks noChangeAspect="1"/>
          </p:cNvPicPr>
          <p:nvPr userDrawn="1"/>
        </p:nvPicPr>
        <p:blipFill>
          <a:blip r:embed="rId16" cstate="print"/>
          <a:stretch>
            <a:fillRect/>
          </a:stretch>
        </p:blipFill>
        <p:spPr>
          <a:xfrm>
            <a:off x="8172450" y="5876925"/>
            <a:ext cx="719138" cy="7207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strips dir="rd"/>
    <p:sndAc>
      <p:stSnd>
        <p:snd r:embed="rId13" name="chimes.wav"/>
      </p:stSnd>
    </p:sndAc>
  </p:transition>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4" cstate="print">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5" cstate="print">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pPr eaLnBrk="1" latinLnBrk="0" hangingPunct="1"/>
            <a:fld id="{54122987-CD27-4AB6-B5EE-BBB2825D6C9B}" type="datetimeFigureOut">
              <a:rPr lang="en-US" smtClean="0"/>
              <a:pPr eaLnBrk="1" latinLnBrk="0" hangingPunct="1"/>
              <a:t>11/18/2021</a:t>
            </a:fld>
            <a:endParaRPr 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kumimoji="0"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3236937C-4296-4F09-BFBF-208432D16C49}" type="slidenum">
              <a:rPr kumimoji="0" lang="en-US" smtClean="0"/>
              <a:pPr/>
              <a:t>‹#›</a:t>
            </a:fld>
            <a:endParaRPr kumimoji="0" lang="zh-CN" altLang="en-US"/>
          </a:p>
        </p:txBody>
      </p:sp>
      <p:pic>
        <p:nvPicPr>
          <p:cNvPr id="12" name="Picture 4" descr="20042291743154609"/>
          <p:cNvPicPr>
            <a:picLocks noChangeAspect="1"/>
          </p:cNvPicPr>
          <p:nvPr userDrawn="1"/>
        </p:nvPicPr>
        <p:blipFill>
          <a:blip r:embed="rId16" cstate="print"/>
          <a:stretch>
            <a:fillRect/>
          </a:stretch>
        </p:blipFill>
        <p:spPr>
          <a:xfrm rot="10800000">
            <a:off x="0" y="4652963"/>
            <a:ext cx="2071688" cy="2205037"/>
          </a:xfrm>
          <a:prstGeom prst="rect">
            <a:avLst/>
          </a:prstGeom>
          <a:noFill/>
          <a:ln w="9525">
            <a:noFill/>
          </a:ln>
        </p:spPr>
      </p:pic>
      <p:pic>
        <p:nvPicPr>
          <p:cNvPr id="13" name="Picture 5" descr="d57e99945712b42ed31b7026">
            <a:hlinkClick r:id="rId17"/>
          </p:cNvPr>
          <p:cNvPicPr>
            <a:picLocks noChangeAspect="1"/>
          </p:cNvPicPr>
          <p:nvPr userDrawn="1"/>
        </p:nvPicPr>
        <p:blipFill>
          <a:blip r:embed="rId18" cstate="print"/>
          <a:stretch>
            <a:fillRect/>
          </a:stretch>
        </p:blipFill>
        <p:spPr>
          <a:xfrm>
            <a:off x="8172450" y="5876925"/>
            <a:ext cx="719138" cy="7207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strips dir="rd"/>
    <p:sndAc>
      <p:stSnd>
        <p:snd r:embed="rId13" name="chimes.wav"/>
      </p:stSnd>
    </p:sndAc>
  </p:transition>
  <p:timing>
    <p:tnLst>
      <p:par>
        <p:cTn id="1" dur="indefinite" restart="never" nodeType="tmRoot"/>
      </p:par>
    </p:tnLst>
  </p:timing>
  <p:hf sldNum="0" hdr="0" ftr="0" dt="0"/>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hyperlink" Target="http://baike.baidu.com/view/273136.htm" TargetMode="External"/><Relationship Id="rId2" Type="http://schemas.openxmlformats.org/officeDocument/2006/relationships/audio" Target="../media/audio1.wav"/><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2.jpeg"/></Relationships>
</file>

<file path=ppt/slides/_rels/slide16.xml.rels><?xml version="1.0" encoding="UTF-8" standalone="yes"?>
<Relationships xmlns="http://schemas.openxmlformats.org/package/2006/relationships"><Relationship Id="rId3" Type="http://schemas.openxmlformats.org/officeDocument/2006/relationships/hyperlink" Target="http://baike.baidu.com/view/170434.htm" TargetMode="External"/><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image" Target="../media/image14.jpeg"/><Relationship Id="rId5" Type="http://schemas.openxmlformats.org/officeDocument/2006/relationships/hyperlink" Target="http://baike.baidu.com/view/6824.htm" TargetMode="External"/><Relationship Id="rId4" Type="http://schemas.openxmlformats.org/officeDocument/2006/relationships/hyperlink" Target="http://baike.baidu.com/view/6397.htm"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hyperlink" Target="http://zh.wikipedia.org/wiki/%E9%9F%A9%E9%9D%9E%E5%AD%90" TargetMode="External"/><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audio" Target="../media/audio1.wav"/><Relationship Id="rId1" Type="http://schemas.openxmlformats.org/officeDocument/2006/relationships/slideLayout" Target="../slideLayouts/slideLayout13.xml"/><Relationship Id="rId5" Type="http://schemas.openxmlformats.org/officeDocument/2006/relationships/image" Target="../media/image18.jpeg"/><Relationship Id="rId4" Type="http://schemas.openxmlformats.org/officeDocument/2006/relationships/image" Target="../media/image17.jpeg"/></Relationships>
</file>

<file path=ppt/slides/_rels/slide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21.jpeg"/></Relationships>
</file>

<file path=ppt/slides/_rels/slide3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21.jpeg"/></Relationships>
</file>

<file path=ppt/slides/_rels/slide3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audio" Target="../media/audio1.wav"/><Relationship Id="rId1" Type="http://schemas.openxmlformats.org/officeDocument/2006/relationships/slideLayout" Target="../slideLayouts/slideLayout13.xml"/><Relationship Id="rId5" Type="http://schemas.openxmlformats.org/officeDocument/2006/relationships/image" Target="../media/image27.jpeg"/><Relationship Id="rId4" Type="http://schemas.openxmlformats.org/officeDocument/2006/relationships/image" Target="../media/image26.gif"/></Relationships>
</file>

<file path=ppt/slides/_rels/slide3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29.jpeg"/></Relationships>
</file>

<file path=ppt/slides/_rels/slide4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31.jpeg"/></Relationships>
</file>

<file path=ppt/slides/_rels/slide4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33.jpeg"/></Relationships>
</file>

<file path=ppt/slides/_rels/slide4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4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_rels/slide4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43.jpeg"/></Relationships>
</file>

<file path=ppt/slides/_rels/slide4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image" Target="../media/image47.jpeg"/><Relationship Id="rId5" Type="http://schemas.openxmlformats.org/officeDocument/2006/relationships/image" Target="../media/image46.jpeg"/><Relationship Id="rId4" Type="http://schemas.openxmlformats.org/officeDocument/2006/relationships/image" Target="../media/image45.jpeg"/></Relationships>
</file>

<file path=ppt/slides/_rels/slide4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audio" Target="../media/audio1.wav"/><Relationship Id="rId1" Type="http://schemas.openxmlformats.org/officeDocument/2006/relationships/slideLayout" Target="../slideLayouts/slideLayout13.xml"/><Relationship Id="rId5" Type="http://schemas.openxmlformats.org/officeDocument/2006/relationships/image" Target="../media/image50.jpeg"/><Relationship Id="rId4" Type="http://schemas.openxmlformats.org/officeDocument/2006/relationships/image" Target="../media/image49.jpeg"/></Relationships>
</file>

<file path=ppt/slides/_rels/slide4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52.jpeg"/></Relationships>
</file>

<file path=ppt/slides/_rels/slide4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59.jpeg"/></Relationships>
</file>

<file path=ppt/slides/_rels/slide6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62.jpeg"/></Relationships>
</file>

<file path=ppt/slides/_rels/slide67.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67.jpeg"/></Relationships>
</file>

<file path=ppt/slides/_rels/slide72.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audio" Target="../media/audio1.wav"/><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p:cNvSpPr>
          <p:nvPr>
            <p:ph idx="1"/>
          </p:nvPr>
        </p:nvSpPr>
        <p:spPr>
          <a:xfrm>
            <a:off x="3608250" y="4725144"/>
            <a:ext cx="2088233" cy="609398"/>
          </a:xfrm>
          <a:solidFill>
            <a:schemeClr val="bg1"/>
          </a:solidFill>
          <a:ln w="12700">
            <a:solidFill>
              <a:srgbClr val="FF3300"/>
            </a:solidFill>
            <a:miter/>
          </a:ln>
        </p:spPr>
        <p:txBody>
          <a:bodyPr wrap="square" anchor="t">
            <a:spAutoFit/>
          </a:bodyPr>
          <a:lstStyle/>
          <a:p>
            <a:pPr marL="0" indent="0">
              <a:lnSpc>
                <a:spcPct val="105000"/>
              </a:lnSpc>
              <a:spcBef>
                <a:spcPct val="50000"/>
              </a:spcBef>
              <a:buNone/>
            </a:pPr>
            <a:r>
              <a:rPr lang="en-US" altLang="zh-CN" dirty="0">
                <a:solidFill>
                  <a:srgbClr val="0000FF"/>
                </a:solidFill>
                <a:latin typeface="Times New Roman" panose="02020603050405020304" pitchFamily="18" charset="0"/>
                <a:ea typeface="华文新魏" panose="02010800040101010101" pitchFamily="2" charset="-122"/>
              </a:rPr>
              <a:t> </a:t>
            </a:r>
            <a:r>
              <a:rPr lang="en-US" altLang="zh-CN" dirty="0" smtClean="0">
                <a:solidFill>
                  <a:srgbClr val="0000FF"/>
                </a:solidFill>
                <a:latin typeface="Times New Roman" panose="02020603050405020304" pitchFamily="18" charset="0"/>
                <a:ea typeface="华文新魏" panose="02010800040101010101" pitchFamily="2" charset="-122"/>
              </a:rPr>
              <a:t>  </a:t>
            </a:r>
            <a:r>
              <a:rPr lang="zh-CN" altLang="en-US" dirty="0" smtClean="0">
                <a:solidFill>
                  <a:srgbClr val="0000FF"/>
                </a:solidFill>
                <a:latin typeface="Times New Roman" panose="02020603050405020304" pitchFamily="18" charset="0"/>
                <a:ea typeface="华文新魏" panose="02010800040101010101" pitchFamily="2" charset="-122"/>
              </a:rPr>
              <a:t>宋艳萍</a:t>
            </a:r>
            <a:endParaRPr lang="zh-CN" altLang="en-US" b="1" dirty="0">
              <a:solidFill>
                <a:srgbClr val="0000FF"/>
              </a:solidFill>
              <a:latin typeface="Times New Roman" panose="02020603050405020304" pitchFamily="18" charset="0"/>
              <a:ea typeface="黑体" panose="02010609060101010101" pitchFamily="49" charset="-122"/>
            </a:endParaRPr>
          </a:p>
        </p:txBody>
      </p:sp>
      <p:sp>
        <p:nvSpPr>
          <p:cNvPr id="3" name="Rectangle 2"/>
          <p:cNvSpPr txBox="1">
            <a:spLocks/>
          </p:cNvSpPr>
          <p:nvPr/>
        </p:nvSpPr>
        <p:spPr>
          <a:xfrm>
            <a:off x="1187624" y="1556792"/>
            <a:ext cx="6929486" cy="2391424"/>
          </a:xfrm>
          <a:prstGeom prst="rect">
            <a:avLst/>
          </a:prstGeom>
          <a:solidFill>
            <a:schemeClr val="bg1"/>
          </a:solidFill>
          <a:ln w="12700">
            <a:solidFill>
              <a:srgbClr val="FF3300"/>
            </a:solidFill>
            <a:miter/>
          </a:ln>
        </p:spPr>
        <p:txBody>
          <a:bodyPr vert="horz" wrap="square" rtlCol="0" anchor="t">
            <a:spAutoFit/>
          </a:bodyPr>
          <a:lst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05000"/>
              </a:lnSpc>
              <a:spcBef>
                <a:spcPct val="50000"/>
              </a:spcBef>
              <a:buFont typeface="Wingdings 2"/>
              <a:buNone/>
            </a:pPr>
            <a:r>
              <a:rPr lang="en-US" altLang="zh-CN" sz="3600" dirty="0" smtClean="0">
                <a:solidFill>
                  <a:srgbClr val="FF0000"/>
                </a:solidFill>
                <a:latin typeface="华文琥珀" pitchFamily="2" charset="-122"/>
                <a:ea typeface="华文琥珀" pitchFamily="2" charset="-122"/>
              </a:rPr>
              <a:t>                       </a:t>
            </a:r>
            <a:r>
              <a:rPr lang="zh-CN" altLang="en-US" sz="3600" dirty="0" smtClean="0">
                <a:solidFill>
                  <a:srgbClr val="FF0000"/>
                </a:solidFill>
                <a:latin typeface="华文琥珀" pitchFamily="2" charset="-122"/>
                <a:ea typeface="华文琥珀" pitchFamily="2" charset="-122"/>
              </a:rPr>
              <a:t>第四章  </a:t>
            </a:r>
            <a:endParaRPr lang="en-US" altLang="zh-CN" sz="3600" dirty="0" smtClean="0">
              <a:solidFill>
                <a:srgbClr val="FF0000"/>
              </a:solidFill>
              <a:latin typeface="华文琥珀" pitchFamily="2" charset="-122"/>
              <a:ea typeface="华文琥珀" pitchFamily="2" charset="-122"/>
            </a:endParaRPr>
          </a:p>
          <a:p>
            <a:pPr marL="0" indent="0">
              <a:lnSpc>
                <a:spcPct val="105000"/>
              </a:lnSpc>
              <a:spcBef>
                <a:spcPct val="50000"/>
              </a:spcBef>
              <a:buFont typeface="Wingdings 2"/>
              <a:buNone/>
            </a:pPr>
            <a:r>
              <a:rPr lang="en-US" altLang="zh-CN" sz="3600" dirty="0">
                <a:solidFill>
                  <a:srgbClr val="FF0000"/>
                </a:solidFill>
                <a:latin typeface="华文琥珀" pitchFamily="2" charset="-122"/>
                <a:ea typeface="华文琥珀" pitchFamily="2" charset="-122"/>
              </a:rPr>
              <a:t> </a:t>
            </a:r>
            <a:r>
              <a:rPr lang="en-US" altLang="zh-CN" sz="3600" dirty="0" smtClean="0">
                <a:solidFill>
                  <a:srgbClr val="FF0000"/>
                </a:solidFill>
                <a:latin typeface="华文琥珀" pitchFamily="2" charset="-122"/>
                <a:ea typeface="华文琥珀" pitchFamily="2" charset="-122"/>
              </a:rPr>
              <a:t>       </a:t>
            </a:r>
            <a:r>
              <a:rPr lang="zh-CN" altLang="en-US" sz="3600" dirty="0" smtClean="0">
                <a:solidFill>
                  <a:srgbClr val="FF0000"/>
                </a:solidFill>
                <a:latin typeface="华文琥珀" pitchFamily="2" charset="-122"/>
                <a:ea typeface="华文琥珀" pitchFamily="2" charset="-122"/>
              </a:rPr>
              <a:t>社会主义建设道路初步探索                    </a:t>
            </a:r>
            <a:endParaRPr lang="en-US" altLang="zh-CN" sz="3600" dirty="0" smtClean="0">
              <a:solidFill>
                <a:srgbClr val="FF0000"/>
              </a:solidFill>
              <a:latin typeface="华文琥珀" pitchFamily="2" charset="-122"/>
              <a:ea typeface="华文琥珀" pitchFamily="2" charset="-122"/>
            </a:endParaRPr>
          </a:p>
          <a:p>
            <a:pPr marL="0" indent="0">
              <a:lnSpc>
                <a:spcPct val="105000"/>
              </a:lnSpc>
              <a:spcBef>
                <a:spcPct val="50000"/>
              </a:spcBef>
              <a:buFont typeface="Wingdings 2"/>
              <a:buNone/>
            </a:pPr>
            <a:r>
              <a:rPr lang="en-US" altLang="zh-CN" sz="3600" dirty="0">
                <a:solidFill>
                  <a:srgbClr val="FF0000"/>
                </a:solidFill>
                <a:latin typeface="华文琥珀" pitchFamily="2" charset="-122"/>
                <a:ea typeface="华文琥珀" pitchFamily="2" charset="-122"/>
              </a:rPr>
              <a:t> </a:t>
            </a:r>
            <a:r>
              <a:rPr lang="en-US" altLang="zh-CN" sz="3600" dirty="0" smtClean="0">
                <a:solidFill>
                  <a:srgbClr val="FF0000"/>
                </a:solidFill>
                <a:latin typeface="华文琥珀" pitchFamily="2" charset="-122"/>
                <a:ea typeface="华文琥珀" pitchFamily="2" charset="-122"/>
              </a:rPr>
              <a:t>                 </a:t>
            </a:r>
            <a:r>
              <a:rPr lang="zh-CN" altLang="en-US" sz="3600" dirty="0" smtClean="0">
                <a:solidFill>
                  <a:srgbClr val="FF0000"/>
                </a:solidFill>
                <a:latin typeface="华文琥珀" pitchFamily="2" charset="-122"/>
                <a:ea typeface="华文琥珀" pitchFamily="2" charset="-122"/>
              </a:rPr>
              <a:t>的理论成果</a:t>
            </a:r>
            <a:endParaRPr lang="zh-CN" altLang="en-US" sz="3600" b="1" dirty="0">
              <a:solidFill>
                <a:srgbClr val="FF0000"/>
              </a:solidFill>
              <a:latin typeface="华文琥珀" pitchFamily="2" charset="-122"/>
              <a:ea typeface="华文琥珀" pitchFamily="2" charset="-122"/>
            </a:endParaRPr>
          </a:p>
        </p:txBody>
      </p:sp>
    </p:spTree>
    <p:extLst>
      <p:ext uri="{BB962C8B-B14F-4D97-AF65-F5344CB8AC3E}">
        <p14:creationId xmlns:p14="http://schemas.microsoft.com/office/powerpoint/2010/main" xmlns="" val="933628106"/>
      </p:ext>
    </p:extLst>
  </p:cSld>
  <p:clrMapOvr>
    <a:masterClrMapping/>
  </p:clrMapOvr>
  <p:transition>
    <p:strips dir="rd"/>
    <p:sndAc>
      <p:stSnd>
        <p:snd r:embed="rId2" name="chimes.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p:cNvSpPr>
          <p:nvPr/>
        </p:nvSpPr>
        <p:spPr>
          <a:xfrm>
            <a:off x="467544" y="188640"/>
            <a:ext cx="3600400" cy="529056"/>
          </a:xfrm>
          <a:prstGeom prst="rect">
            <a:avLst/>
          </a:prstGeom>
          <a:solidFill>
            <a:schemeClr val="bg2"/>
          </a:solidFill>
          <a:ln w="12700">
            <a:solidFill>
              <a:srgbClr val="FF3300"/>
            </a:solidFill>
            <a:miter/>
          </a:ln>
        </p:spPr>
        <p:txBody>
          <a:bodyPr vert="horz" wrap="square" rtlCol="0" anchor="t">
            <a:spAutoFit/>
          </a:bodyPr>
          <a:lst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05000"/>
              </a:lnSpc>
              <a:spcBef>
                <a:spcPct val="50000"/>
              </a:spcBef>
              <a:buFont typeface="Wingdings 2"/>
              <a:buNone/>
            </a:pPr>
            <a:r>
              <a:rPr lang="zh-CN" altLang="en-US" sz="2800" b="1" dirty="0" smtClean="0">
                <a:solidFill>
                  <a:srgbClr val="FF0000"/>
                </a:solidFill>
                <a:latin typeface="华文琥珀" pitchFamily="2" charset="-122"/>
                <a:ea typeface="华文琥珀" pitchFamily="2" charset="-122"/>
              </a:rPr>
              <a:t>教学目的与要求</a:t>
            </a:r>
            <a:endParaRPr lang="zh-CN" altLang="en-US" sz="2800" b="1" dirty="0">
              <a:solidFill>
                <a:srgbClr val="FF0000"/>
              </a:solidFill>
              <a:latin typeface="华文琥珀" pitchFamily="2" charset="-122"/>
              <a:ea typeface="华文琥珀" pitchFamily="2" charset="-122"/>
            </a:endParaRPr>
          </a:p>
        </p:txBody>
      </p:sp>
      <p:sp>
        <p:nvSpPr>
          <p:cNvPr id="4" name="Rectangle 2"/>
          <p:cNvSpPr>
            <a:spLocks noGrp="1"/>
          </p:cNvSpPr>
          <p:nvPr>
            <p:ph idx="1"/>
          </p:nvPr>
        </p:nvSpPr>
        <p:spPr>
          <a:xfrm>
            <a:off x="179512" y="764704"/>
            <a:ext cx="7632848" cy="4595104"/>
          </a:xfrm>
          <a:solidFill>
            <a:schemeClr val="bg1"/>
          </a:solidFill>
          <a:ln w="12700">
            <a:solidFill>
              <a:srgbClr val="FF3300"/>
            </a:solidFill>
            <a:miter/>
          </a:ln>
        </p:spPr>
        <p:txBody>
          <a:bodyPr wrap="square" anchor="t">
            <a:spAutoFit/>
          </a:bodyPr>
          <a:lstStyle/>
          <a:p>
            <a:pPr marL="0" indent="0">
              <a:lnSpc>
                <a:spcPct val="105000"/>
              </a:lnSpc>
              <a:spcBef>
                <a:spcPct val="50000"/>
              </a:spcBef>
              <a:buNone/>
            </a:pPr>
            <a:r>
              <a:rPr lang="en-US" altLang="zh-CN" sz="2800" b="1" dirty="0" smtClean="0">
                <a:solidFill>
                  <a:srgbClr val="0000FF"/>
                </a:solidFill>
                <a:latin typeface="黑体" pitchFamily="49" charset="-122"/>
                <a:ea typeface="黑体" pitchFamily="49" charset="-122"/>
              </a:rPr>
              <a:t>1</a:t>
            </a:r>
            <a:r>
              <a:rPr lang="zh-CN" altLang="en-US" sz="2800" b="1" dirty="0" smtClean="0">
                <a:solidFill>
                  <a:srgbClr val="0000FF"/>
                </a:solidFill>
                <a:latin typeface="黑体" pitchFamily="49" charset="-122"/>
                <a:ea typeface="黑体" pitchFamily="49" charset="-122"/>
              </a:rPr>
              <a:t>、要求学生掌握社会主义建设道路初步探索的重要理论成果，认识探索适合本国国情发展道路的曲折性、长期性。</a:t>
            </a:r>
            <a:endParaRPr lang="en-US" altLang="zh-CN" sz="2800" b="1" dirty="0" smtClean="0">
              <a:solidFill>
                <a:srgbClr val="0000FF"/>
              </a:solidFill>
              <a:latin typeface="黑体" pitchFamily="49" charset="-122"/>
              <a:ea typeface="黑体" pitchFamily="49" charset="-122"/>
            </a:endParaRPr>
          </a:p>
          <a:p>
            <a:pPr marL="0" indent="0">
              <a:lnSpc>
                <a:spcPct val="105000"/>
              </a:lnSpc>
              <a:spcBef>
                <a:spcPct val="50000"/>
              </a:spcBef>
              <a:buNone/>
            </a:pPr>
            <a:r>
              <a:rPr lang="en-US" altLang="zh-CN" sz="2800" b="1" dirty="0" smtClean="0">
                <a:solidFill>
                  <a:srgbClr val="0000FF"/>
                </a:solidFill>
                <a:latin typeface="黑体" pitchFamily="49" charset="-122"/>
                <a:ea typeface="黑体" pitchFamily="49" charset="-122"/>
              </a:rPr>
              <a:t>2</a:t>
            </a:r>
            <a:r>
              <a:rPr lang="zh-CN" altLang="en-US" sz="2800" b="1" dirty="0" smtClean="0">
                <a:solidFill>
                  <a:srgbClr val="0000FF"/>
                </a:solidFill>
                <a:latin typeface="黑体" pitchFamily="49" charset="-122"/>
                <a:ea typeface="黑体" pitchFamily="49" charset="-122"/>
              </a:rPr>
              <a:t>、认识社会主义建设道路初步探索积累的历史经验，理解这一探索对开创中国特色社会主义的重大意义。</a:t>
            </a:r>
            <a:endParaRPr lang="en-US" altLang="zh-CN" sz="2800" b="1" dirty="0" smtClean="0">
              <a:solidFill>
                <a:srgbClr val="0000FF"/>
              </a:solidFill>
              <a:latin typeface="黑体" pitchFamily="49" charset="-122"/>
              <a:ea typeface="黑体" pitchFamily="49" charset="-122"/>
            </a:endParaRPr>
          </a:p>
          <a:p>
            <a:pPr marL="0" indent="0">
              <a:lnSpc>
                <a:spcPct val="105000"/>
              </a:lnSpc>
              <a:spcBef>
                <a:spcPct val="50000"/>
              </a:spcBef>
              <a:buNone/>
            </a:pPr>
            <a:r>
              <a:rPr lang="en-US" altLang="zh-CN" sz="2800" b="1" dirty="0" smtClean="0">
                <a:solidFill>
                  <a:srgbClr val="0000FF"/>
                </a:solidFill>
                <a:latin typeface="黑体" pitchFamily="49" charset="-122"/>
                <a:ea typeface="黑体" pitchFamily="49" charset="-122"/>
              </a:rPr>
              <a:t>3</a:t>
            </a:r>
            <a:r>
              <a:rPr lang="zh-CN" altLang="en-US" sz="2800" b="1" dirty="0" smtClean="0">
                <a:solidFill>
                  <a:srgbClr val="0000FF"/>
                </a:solidFill>
                <a:latin typeface="黑体" pitchFamily="49" charset="-122"/>
                <a:ea typeface="黑体" pitchFamily="49" charset="-122"/>
              </a:rPr>
              <a:t>、认识党在</a:t>
            </a:r>
            <a:r>
              <a:rPr lang="zh-CN" altLang="zh-CN" sz="2800" b="1" dirty="0" smtClean="0">
                <a:solidFill>
                  <a:srgbClr val="0000FF"/>
                </a:solidFill>
                <a:latin typeface="黑体" pitchFamily="49" charset="-122"/>
                <a:ea typeface="黑体" pitchFamily="49" charset="-122"/>
              </a:rPr>
              <a:t>初步探索中由于遭受到严重挫折而产生的深刻教训，也是我们更好地建设社会主义的宝贵财富</a:t>
            </a:r>
            <a:r>
              <a:rPr lang="zh-CN" altLang="zh-CN" sz="2800" dirty="0" smtClean="0"/>
              <a:t>。</a:t>
            </a:r>
            <a:endParaRPr lang="zh-CN" altLang="en-US" sz="2800" b="1" dirty="0">
              <a:solidFill>
                <a:srgbClr val="0000FF"/>
              </a:solidFill>
              <a:latin typeface="黑体" pitchFamily="49" charset="-122"/>
              <a:ea typeface="黑体" pitchFamily="49" charset="-122"/>
            </a:endParaRPr>
          </a:p>
        </p:txBody>
      </p:sp>
    </p:spTree>
    <p:extLst>
      <p:ext uri="{BB962C8B-B14F-4D97-AF65-F5344CB8AC3E}">
        <p14:creationId xmlns:p14="http://schemas.microsoft.com/office/powerpoint/2010/main" xmlns="" val="933628106"/>
      </p:ext>
    </p:extLst>
  </p:cSld>
  <p:clrMapOvr>
    <a:masterClrMapping/>
  </p:clrMapOvr>
  <p:transition>
    <p:strips dir="rd"/>
    <p:sndAc>
      <p:stSnd>
        <p:snd r:embed="rId2" name="chimes.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p:cNvSpPr>
          <p:nvPr>
            <p:ph idx="1"/>
          </p:nvPr>
        </p:nvSpPr>
        <p:spPr>
          <a:xfrm>
            <a:off x="857224" y="642918"/>
            <a:ext cx="6929486" cy="2301977"/>
          </a:xfrm>
          <a:solidFill>
            <a:schemeClr val="bg1"/>
          </a:solidFill>
          <a:ln w="12700">
            <a:solidFill>
              <a:srgbClr val="FF3300"/>
            </a:solidFill>
            <a:miter/>
          </a:ln>
        </p:spPr>
        <p:txBody>
          <a:bodyPr wrap="square" anchor="t">
            <a:spAutoFit/>
          </a:bodyPr>
          <a:lstStyle/>
          <a:p>
            <a:pPr marL="0" indent="0">
              <a:lnSpc>
                <a:spcPct val="105000"/>
              </a:lnSpc>
              <a:spcBef>
                <a:spcPct val="50000"/>
              </a:spcBef>
              <a:buNone/>
            </a:pPr>
            <a:r>
              <a:rPr lang="en-US" altLang="zh-CN" sz="2800" b="1" dirty="0" smtClean="0">
                <a:solidFill>
                  <a:srgbClr val="0000FF"/>
                </a:solidFill>
                <a:latin typeface="黑体" pitchFamily="49" charset="-122"/>
                <a:ea typeface="黑体" pitchFamily="49" charset="-122"/>
              </a:rPr>
              <a:t>1.</a:t>
            </a:r>
            <a:r>
              <a:rPr lang="zh-CN" altLang="zh-CN" sz="2800" b="1" dirty="0" smtClean="0">
                <a:solidFill>
                  <a:srgbClr val="0000FF"/>
                </a:solidFill>
                <a:latin typeface="黑体" pitchFamily="49" charset="-122"/>
                <a:ea typeface="黑体" pitchFamily="49" charset="-122"/>
              </a:rPr>
              <a:t>社会主义建设道路初步探索的过程。</a:t>
            </a:r>
            <a:r>
              <a:rPr lang="en-US" altLang="zh-CN" sz="2800" b="1" dirty="0" smtClean="0">
                <a:solidFill>
                  <a:srgbClr val="0000FF"/>
                </a:solidFill>
                <a:latin typeface="黑体" pitchFamily="49" charset="-122"/>
                <a:ea typeface="黑体" pitchFamily="49" charset="-122"/>
              </a:rPr>
              <a:t/>
            </a:r>
            <a:br>
              <a:rPr lang="en-US" altLang="zh-CN" sz="2800" b="1" dirty="0" smtClean="0">
                <a:solidFill>
                  <a:srgbClr val="0000FF"/>
                </a:solidFill>
                <a:latin typeface="黑体" pitchFamily="49" charset="-122"/>
                <a:ea typeface="黑体" pitchFamily="49" charset="-122"/>
              </a:rPr>
            </a:br>
            <a:r>
              <a:rPr lang="en-US" altLang="zh-CN" sz="2800" b="1" dirty="0" smtClean="0">
                <a:solidFill>
                  <a:srgbClr val="0000FF"/>
                </a:solidFill>
                <a:latin typeface="黑体" pitchFamily="49" charset="-122"/>
                <a:ea typeface="黑体" pitchFamily="49" charset="-122"/>
              </a:rPr>
              <a:t>2.</a:t>
            </a:r>
            <a:r>
              <a:rPr lang="zh-CN" altLang="zh-CN" sz="2800" b="1" dirty="0" smtClean="0">
                <a:solidFill>
                  <a:srgbClr val="0000FF"/>
                </a:solidFill>
                <a:latin typeface="黑体" pitchFamily="49" charset="-122"/>
                <a:ea typeface="黑体" pitchFamily="49" charset="-122"/>
              </a:rPr>
              <a:t>社会主义建设道路初步探索的重要思想成果。</a:t>
            </a:r>
            <a:r>
              <a:rPr lang="en-US" altLang="zh-CN" sz="2800" b="1" dirty="0" smtClean="0">
                <a:solidFill>
                  <a:srgbClr val="0000FF"/>
                </a:solidFill>
                <a:latin typeface="黑体" pitchFamily="49" charset="-122"/>
                <a:ea typeface="黑体" pitchFamily="49" charset="-122"/>
              </a:rPr>
              <a:t/>
            </a:r>
            <a:br>
              <a:rPr lang="en-US" altLang="zh-CN" sz="2800" b="1" dirty="0" smtClean="0">
                <a:solidFill>
                  <a:srgbClr val="0000FF"/>
                </a:solidFill>
                <a:latin typeface="黑体" pitchFamily="49" charset="-122"/>
                <a:ea typeface="黑体" pitchFamily="49" charset="-122"/>
              </a:rPr>
            </a:br>
            <a:r>
              <a:rPr lang="en-US" altLang="zh-CN" sz="2800" b="1" dirty="0" smtClean="0">
                <a:solidFill>
                  <a:srgbClr val="0000FF"/>
                </a:solidFill>
                <a:latin typeface="黑体" pitchFamily="49" charset="-122"/>
                <a:ea typeface="黑体" pitchFamily="49" charset="-122"/>
              </a:rPr>
              <a:t>3.</a:t>
            </a:r>
            <a:r>
              <a:rPr lang="zh-CN" altLang="zh-CN" sz="2800" b="1" dirty="0" smtClean="0">
                <a:solidFill>
                  <a:srgbClr val="0000FF"/>
                </a:solidFill>
                <a:latin typeface="黑体" pitchFamily="49" charset="-122"/>
                <a:ea typeface="黑体" pitchFamily="49" charset="-122"/>
              </a:rPr>
              <a:t>社会主义建设道路初步探索的意义和经验教训</a:t>
            </a:r>
            <a:r>
              <a:rPr lang="zh-CN" altLang="en-US" sz="2800" b="1" dirty="0" smtClean="0">
                <a:solidFill>
                  <a:srgbClr val="0000FF"/>
                </a:solidFill>
                <a:latin typeface="黑体" pitchFamily="49" charset="-122"/>
                <a:ea typeface="黑体" pitchFamily="49" charset="-122"/>
              </a:rPr>
              <a:t>。</a:t>
            </a:r>
            <a:endParaRPr lang="zh-CN" altLang="en-US" sz="2800" b="1" dirty="0">
              <a:solidFill>
                <a:srgbClr val="0000FF"/>
              </a:solidFill>
              <a:latin typeface="黑体" pitchFamily="49" charset="-122"/>
              <a:ea typeface="黑体" pitchFamily="49" charset="-122"/>
            </a:endParaRPr>
          </a:p>
        </p:txBody>
      </p:sp>
      <p:sp>
        <p:nvSpPr>
          <p:cNvPr id="3" name="矩形 2"/>
          <p:cNvSpPr/>
          <p:nvPr/>
        </p:nvSpPr>
        <p:spPr>
          <a:xfrm>
            <a:off x="971600" y="0"/>
            <a:ext cx="2031325" cy="646331"/>
          </a:xfrm>
          <a:prstGeom prst="rect">
            <a:avLst/>
          </a:prstGeom>
          <a:ln>
            <a:solidFill>
              <a:schemeClr val="accent1"/>
            </a:solidFill>
          </a:ln>
        </p:spPr>
        <p:txBody>
          <a:bodyPr wrap="none">
            <a:spAutoFit/>
          </a:bodyPr>
          <a:lstStyle/>
          <a:p>
            <a:r>
              <a:rPr lang="zh-CN" altLang="en-US" sz="3600" dirty="0" smtClean="0">
                <a:solidFill>
                  <a:srgbClr val="FF0000"/>
                </a:solidFill>
                <a:latin typeface="华文琥珀" pitchFamily="2" charset="-122"/>
                <a:ea typeface="华文琥珀" pitchFamily="2" charset="-122"/>
                <a:cs typeface="+mn-cs"/>
              </a:rPr>
              <a:t>教学重点</a:t>
            </a:r>
            <a:endParaRPr lang="zh-CN" altLang="en-US" dirty="0"/>
          </a:p>
        </p:txBody>
      </p:sp>
      <p:sp>
        <p:nvSpPr>
          <p:cNvPr id="4" name="矩形 3"/>
          <p:cNvSpPr/>
          <p:nvPr/>
        </p:nvSpPr>
        <p:spPr>
          <a:xfrm>
            <a:off x="899592" y="3068960"/>
            <a:ext cx="2031325" cy="646331"/>
          </a:xfrm>
          <a:prstGeom prst="rect">
            <a:avLst/>
          </a:prstGeom>
          <a:ln>
            <a:solidFill>
              <a:schemeClr val="accent1"/>
            </a:solidFill>
          </a:ln>
        </p:spPr>
        <p:txBody>
          <a:bodyPr wrap="none">
            <a:spAutoFit/>
          </a:bodyPr>
          <a:lstStyle/>
          <a:p>
            <a:r>
              <a:rPr lang="zh-CN" altLang="en-US" sz="3600" dirty="0" smtClean="0">
                <a:solidFill>
                  <a:srgbClr val="FF0000"/>
                </a:solidFill>
                <a:latin typeface="华文琥珀" pitchFamily="2" charset="-122"/>
                <a:ea typeface="华文琥珀" pitchFamily="2" charset="-122"/>
                <a:cs typeface="+mn-cs"/>
              </a:rPr>
              <a:t>教学难点</a:t>
            </a:r>
            <a:endParaRPr lang="zh-CN" altLang="en-US" dirty="0"/>
          </a:p>
        </p:txBody>
      </p:sp>
      <p:sp>
        <p:nvSpPr>
          <p:cNvPr id="5" name="矩形 4"/>
          <p:cNvSpPr/>
          <p:nvPr/>
        </p:nvSpPr>
        <p:spPr>
          <a:xfrm>
            <a:off x="899592" y="4005064"/>
            <a:ext cx="6840760" cy="1902059"/>
          </a:xfrm>
          <a:prstGeom prst="rect">
            <a:avLst/>
          </a:prstGeom>
          <a:solidFill>
            <a:schemeClr val="bg2"/>
          </a:solidFill>
          <a:ln>
            <a:solidFill>
              <a:schemeClr val="accent1"/>
            </a:solidFill>
          </a:ln>
        </p:spPr>
        <p:txBody>
          <a:bodyPr wrap="square">
            <a:spAutoFit/>
          </a:bodyPr>
          <a:lstStyle/>
          <a:p>
            <a:pPr>
              <a:lnSpc>
                <a:spcPct val="105000"/>
              </a:lnSpc>
              <a:spcBef>
                <a:spcPct val="50000"/>
              </a:spcBef>
            </a:pPr>
            <a:r>
              <a:rPr lang="en-US" altLang="zh-CN" sz="2800" b="1" dirty="0" smtClean="0">
                <a:latin typeface="黑体" pitchFamily="49" charset="-122"/>
                <a:ea typeface="黑体" pitchFamily="49" charset="-122"/>
                <a:cs typeface="+mn-cs"/>
              </a:rPr>
              <a:t>1.</a:t>
            </a:r>
            <a:r>
              <a:rPr lang="zh-CN" altLang="zh-CN" sz="2800" b="1" dirty="0" smtClean="0">
                <a:latin typeface="黑体" pitchFamily="49" charset="-122"/>
                <a:ea typeface="黑体" pitchFamily="49" charset="-122"/>
                <a:cs typeface="+mn-cs"/>
              </a:rPr>
              <a:t>全面理解毛泽东关于社会主义建设的思想。</a:t>
            </a:r>
            <a:r>
              <a:rPr lang="en-US" altLang="zh-CN" sz="2800" b="1" dirty="0" smtClean="0">
                <a:latin typeface="黑体" pitchFamily="49" charset="-122"/>
                <a:ea typeface="黑体" pitchFamily="49" charset="-122"/>
                <a:cs typeface="+mn-cs"/>
              </a:rPr>
              <a:t/>
            </a:r>
            <a:br>
              <a:rPr lang="en-US" altLang="zh-CN" sz="2800" b="1" dirty="0" smtClean="0">
                <a:latin typeface="黑体" pitchFamily="49" charset="-122"/>
                <a:ea typeface="黑体" pitchFamily="49" charset="-122"/>
                <a:cs typeface="+mn-cs"/>
              </a:rPr>
            </a:br>
            <a:r>
              <a:rPr lang="en-US" altLang="zh-CN" sz="2800" b="1" dirty="0" smtClean="0">
                <a:latin typeface="黑体" pitchFamily="49" charset="-122"/>
                <a:ea typeface="黑体" pitchFamily="49" charset="-122"/>
                <a:cs typeface="+mn-cs"/>
              </a:rPr>
              <a:t>2.</a:t>
            </a:r>
            <a:r>
              <a:rPr lang="zh-CN" altLang="zh-CN" sz="2800" b="1" dirty="0" smtClean="0">
                <a:latin typeface="黑体" pitchFamily="49" charset="-122"/>
                <a:ea typeface="黑体" pitchFamily="49" charset="-122"/>
                <a:cs typeface="+mn-cs"/>
              </a:rPr>
              <a:t>正确认识改革开放前后两个历史时期的关系。</a:t>
            </a:r>
            <a:endParaRPr lang="zh-CN" altLang="en-US" sz="2800" b="1" dirty="0" smtClean="0">
              <a:latin typeface="黑体" pitchFamily="49" charset="-122"/>
              <a:ea typeface="黑体" pitchFamily="49" charset="-122"/>
              <a:cs typeface="+mn-cs"/>
            </a:endParaRPr>
          </a:p>
        </p:txBody>
      </p:sp>
    </p:spTree>
  </p:cSld>
  <p:clrMapOvr>
    <a:masterClrMapping/>
  </p:clrMapOvr>
  <p:transition>
    <p:strips dir="rd"/>
    <p:sndAc>
      <p:stSnd>
        <p:snd r:embed="rId2" name="chimes.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p:cNvSpPr>
          <p:nvPr>
            <p:ph idx="1"/>
          </p:nvPr>
        </p:nvSpPr>
        <p:spPr>
          <a:xfrm>
            <a:off x="357158" y="214290"/>
            <a:ext cx="3887788" cy="5909310"/>
          </a:xfrm>
          <a:solidFill>
            <a:schemeClr val="bg1"/>
          </a:solidFill>
          <a:ln w="12700">
            <a:solidFill>
              <a:srgbClr val="FF3300"/>
            </a:solidFill>
            <a:miter/>
          </a:ln>
        </p:spPr>
        <p:txBody>
          <a:bodyPr anchor="t">
            <a:spAutoFit/>
          </a:bodyPr>
          <a:lstStyle/>
          <a:p>
            <a:pPr marL="0" indent="0">
              <a:lnSpc>
                <a:spcPct val="105000"/>
              </a:lnSpc>
              <a:spcBef>
                <a:spcPct val="50000"/>
              </a:spcBef>
              <a:buNone/>
            </a:pPr>
            <a:r>
              <a:rPr lang="zh-CN" altLang="en-US" sz="2400" b="1" dirty="0" smtClean="0">
                <a:solidFill>
                  <a:srgbClr val="0000FF"/>
                </a:solidFill>
                <a:ea typeface="黑体" panose="02010609060101010101" pitchFamily="49" charset="-122"/>
              </a:rPr>
              <a:t> </a:t>
            </a:r>
            <a:r>
              <a:rPr lang="zh-CN" altLang="en-US" sz="2400" dirty="0" smtClean="0"/>
              <a:t> </a:t>
            </a:r>
            <a:r>
              <a:rPr lang="zh-CN" altLang="en-US" sz="2400" b="1" i="1" dirty="0" smtClean="0">
                <a:solidFill>
                  <a:srgbClr val="FF0000"/>
                </a:solidFill>
                <a:latin typeface="隶书" pitchFamily="49" charset="-122"/>
                <a:ea typeface="隶书" pitchFamily="49" charset="-122"/>
              </a:rPr>
              <a:t>社会主义基本制度确立以后，如何在中国建设社会主义，是党面临的崭新课题。毛泽东同志对适合中国情况的社会主义建设道路进行了艰苦探索。他以苏联的经验教训为鉴戒，提出要创造新的理论、写出新的著作，把马克思列宁主义基本原理同中国实际进行“第二次结合”，找出在中国进行社会主义革命和建设的正确道路，制定把我国建设成为一个强大的社会主义国家的战略思想。</a:t>
            </a:r>
            <a:endParaRPr lang="zh-CN" altLang="en-US" sz="2400" b="1" i="1" dirty="0">
              <a:solidFill>
                <a:srgbClr val="FF0000"/>
              </a:solidFill>
              <a:latin typeface="隶书" pitchFamily="49" charset="-122"/>
              <a:ea typeface="隶书" pitchFamily="49" charset="-122"/>
            </a:endParaRPr>
          </a:p>
        </p:txBody>
      </p:sp>
      <p:pic>
        <p:nvPicPr>
          <p:cNvPr id="7170" name="Picture 3" descr="118723453_11n"/>
          <p:cNvPicPr>
            <a:picLocks noChangeAspect="1"/>
          </p:cNvPicPr>
          <p:nvPr/>
        </p:nvPicPr>
        <p:blipFill>
          <a:blip r:embed="rId3" cstate="print"/>
          <a:stretch>
            <a:fillRect/>
          </a:stretch>
        </p:blipFill>
        <p:spPr>
          <a:xfrm>
            <a:off x="4572000" y="214290"/>
            <a:ext cx="4176713" cy="5545137"/>
          </a:xfrm>
          <a:prstGeom prst="rect">
            <a:avLst/>
          </a:prstGeom>
          <a:noFill/>
          <a:ln w="9525">
            <a:noFill/>
          </a:ln>
        </p:spPr>
      </p:pic>
      <p:sp>
        <p:nvSpPr>
          <p:cNvPr id="4" name="矩形 3"/>
          <p:cNvSpPr/>
          <p:nvPr/>
        </p:nvSpPr>
        <p:spPr>
          <a:xfrm>
            <a:off x="4357686" y="5786454"/>
            <a:ext cx="4572000" cy="646331"/>
          </a:xfrm>
          <a:prstGeom prst="rect">
            <a:avLst/>
          </a:prstGeom>
          <a:solidFill>
            <a:schemeClr val="bg1"/>
          </a:solidFill>
          <a:ln>
            <a:solidFill>
              <a:srgbClr val="FF0000"/>
            </a:solidFill>
          </a:ln>
        </p:spPr>
        <p:txBody>
          <a:bodyPr>
            <a:spAutoFit/>
          </a:bodyPr>
          <a:lstStyle/>
          <a:p>
            <a:r>
              <a:rPr lang="zh-CN" altLang="en-US" b="1" dirty="0" smtClean="0"/>
              <a:t>在纪念毛泽东同志诞辰</a:t>
            </a:r>
            <a:r>
              <a:rPr lang="en-US" altLang="zh-CN" b="1" dirty="0" smtClean="0"/>
              <a:t>120</a:t>
            </a:r>
            <a:r>
              <a:rPr lang="zh-CN" altLang="en-US" b="1" dirty="0" smtClean="0"/>
              <a:t>周年座谈会上的讲话（</a:t>
            </a:r>
            <a:r>
              <a:rPr lang="en-US" altLang="zh-CN" b="1" dirty="0" smtClean="0"/>
              <a:t>2013</a:t>
            </a:r>
            <a:r>
              <a:rPr lang="zh-CN" altLang="en-US" b="1" dirty="0" smtClean="0"/>
              <a:t>年</a:t>
            </a:r>
            <a:r>
              <a:rPr lang="en-US" altLang="zh-CN" b="1" dirty="0" smtClean="0"/>
              <a:t>12</a:t>
            </a:r>
            <a:r>
              <a:rPr lang="zh-CN" altLang="en-US" b="1" dirty="0" smtClean="0"/>
              <a:t>月</a:t>
            </a:r>
            <a:r>
              <a:rPr lang="en-US" altLang="zh-CN" b="1" dirty="0" smtClean="0"/>
              <a:t>26</a:t>
            </a:r>
            <a:r>
              <a:rPr lang="zh-CN" altLang="en-US" b="1" dirty="0" smtClean="0"/>
              <a:t>日）</a:t>
            </a:r>
            <a:endParaRPr lang="zh-CN" altLang="en-US" b="1" dirty="0"/>
          </a:p>
        </p:txBody>
      </p:sp>
    </p:spTree>
  </p:cSld>
  <p:clrMapOvr>
    <a:masterClrMapping/>
  </p:clrMapOvr>
  <p:transition>
    <p:strips dir="rd"/>
    <p:sndAc>
      <p:stSnd>
        <p:snd r:embed="rId2" name="chimes.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p:cNvSpPr>
          <p:nvPr>
            <p:ph idx="1"/>
          </p:nvPr>
        </p:nvSpPr>
        <p:spPr>
          <a:xfrm>
            <a:off x="539750" y="620713"/>
            <a:ext cx="3887788" cy="5483225"/>
          </a:xfrm>
          <a:solidFill>
            <a:schemeClr val="bg1"/>
          </a:solidFill>
          <a:ln w="12700">
            <a:solidFill>
              <a:srgbClr val="FF3300"/>
            </a:solidFill>
            <a:miter/>
          </a:ln>
        </p:spPr>
        <p:txBody>
          <a:bodyPr anchor="t">
            <a:spAutoFit/>
          </a:bodyPr>
          <a:lstStyle/>
          <a:p>
            <a:pPr marL="0" indent="0">
              <a:lnSpc>
                <a:spcPct val="105000"/>
              </a:lnSpc>
              <a:spcBef>
                <a:spcPct val="50000"/>
              </a:spcBef>
              <a:buNone/>
            </a:pPr>
            <a:r>
              <a:rPr lang="zh-CN" altLang="en-US" sz="2400" b="1" dirty="0" smtClean="0">
                <a:solidFill>
                  <a:srgbClr val="0000FF"/>
                </a:solidFill>
                <a:ea typeface="黑体" panose="02010609060101010101" pitchFamily="49" charset="-122"/>
              </a:rPr>
              <a:t>        </a:t>
            </a:r>
            <a:r>
              <a:rPr lang="zh-CN" altLang="en-US" sz="2400" b="1" i="1" dirty="0" smtClean="0">
                <a:solidFill>
                  <a:srgbClr val="FF0000"/>
                </a:solidFill>
                <a:latin typeface="隶书" pitchFamily="49" charset="-122"/>
                <a:ea typeface="隶书" pitchFamily="49" charset="-122"/>
              </a:rPr>
              <a:t>在</a:t>
            </a:r>
            <a:r>
              <a:rPr lang="zh-CN" altLang="en-US" sz="2400" b="1" i="1" dirty="0">
                <a:solidFill>
                  <a:srgbClr val="FF0000"/>
                </a:solidFill>
                <a:latin typeface="隶书" pitchFamily="49" charset="-122"/>
                <a:ea typeface="隶书" pitchFamily="49" charset="-122"/>
              </a:rPr>
              <a:t>中国共产党领导下，我国各族人民意气风发投身中国历史上从来不曾有过的热气腾腾的社会主义建设。在不长的时间里，我国社会就发生了翻天覆地的变化，建立起独立的比较完整的工业体系和国民经济体系为在世界上有重要影响的大国，独立研制出“两弹一星”，积累起在中国这样一个社会生产力水平十分落后的东方大国进行社会主义建设的重要经验。</a:t>
            </a:r>
          </a:p>
        </p:txBody>
      </p:sp>
      <p:pic>
        <p:nvPicPr>
          <p:cNvPr id="7170" name="Picture 3" descr="118723453_11n"/>
          <p:cNvPicPr>
            <a:picLocks noChangeAspect="1"/>
          </p:cNvPicPr>
          <p:nvPr/>
        </p:nvPicPr>
        <p:blipFill>
          <a:blip r:embed="rId3" cstate="print"/>
          <a:stretch>
            <a:fillRect/>
          </a:stretch>
        </p:blipFill>
        <p:spPr>
          <a:xfrm>
            <a:off x="4572000" y="620713"/>
            <a:ext cx="4176713" cy="5545137"/>
          </a:xfrm>
          <a:prstGeom prst="rect">
            <a:avLst/>
          </a:prstGeom>
          <a:noFill/>
          <a:ln w="9525">
            <a:noFill/>
          </a:ln>
        </p:spPr>
      </p:pic>
    </p:spTree>
  </p:cSld>
  <p:clrMapOvr>
    <a:masterClrMapping/>
  </p:clrMapOvr>
  <p:transition>
    <p:strips dir="rd"/>
    <p:sndAc>
      <p:stSnd>
        <p:snd r:embed="rId2" name="chimes.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p:cNvSpPr>
          <p:nvPr>
            <p:ph idx="1"/>
          </p:nvPr>
        </p:nvSpPr>
        <p:spPr>
          <a:xfrm>
            <a:off x="1042988" y="1196975"/>
            <a:ext cx="6781800" cy="3970318"/>
          </a:xfrm>
          <a:solidFill>
            <a:schemeClr val="bg1"/>
          </a:solidFill>
          <a:ln w="12700">
            <a:solidFill>
              <a:srgbClr val="FF3300"/>
            </a:solidFill>
            <a:miter/>
          </a:ln>
        </p:spPr>
        <p:txBody>
          <a:bodyPr anchor="t">
            <a:spAutoFit/>
          </a:bodyPr>
          <a:lstStyle/>
          <a:p>
            <a:pPr marL="0" indent="0">
              <a:lnSpc>
                <a:spcPct val="105000"/>
              </a:lnSpc>
              <a:spcBef>
                <a:spcPct val="50000"/>
              </a:spcBef>
              <a:buNone/>
            </a:pPr>
            <a:r>
              <a:rPr lang="en-US" altLang="zh-CN" sz="2400" b="1" i="1" dirty="0" smtClean="0">
                <a:solidFill>
                  <a:srgbClr val="FF0000"/>
                </a:solidFill>
                <a:latin typeface="隶书" pitchFamily="49" charset="-122"/>
                <a:ea typeface="隶书" pitchFamily="49" charset="-122"/>
              </a:rPr>
              <a:t>    35</a:t>
            </a:r>
            <a:r>
              <a:rPr lang="zh-CN" altLang="en-US" sz="2400" b="1" i="1" dirty="0">
                <a:solidFill>
                  <a:srgbClr val="FF0000"/>
                </a:solidFill>
                <a:latin typeface="隶书" pitchFamily="49" charset="-122"/>
                <a:ea typeface="隶书" pitchFamily="49" charset="-122"/>
              </a:rPr>
              <a:t>年前，在党和国家面临向何处去的重大历史关头，在邓小平同志领导下，我们党解决了正确评价毛泽东同志和毛泽东思想的历史地位、根据新的实际和历史经验确立中国实现社会主义现代化的正确道路这两个相互联系的重大历史课题，作出了把党和国家的工作重点转移到以经济建设为中心的社会主义现代化建设上来、坚持四项基本原则、实行改革开放的历史性决策，实现了新中国成立以来我们党历史上具有深远意义的伟大转折。</a:t>
            </a:r>
          </a:p>
        </p:txBody>
      </p:sp>
    </p:spTree>
  </p:cSld>
  <p:clrMapOvr>
    <a:masterClrMapping/>
  </p:clrMapOvr>
  <p:transition>
    <p:strips dir="rd"/>
    <p:sndAc>
      <p:stSnd>
        <p:snd r:embed="rId2" name="chimes.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idx="1"/>
          </p:nvPr>
        </p:nvSpPr>
        <p:spPr>
          <a:xfrm>
            <a:off x="467544" y="1556792"/>
            <a:ext cx="8005417" cy="738664"/>
          </a:xfrm>
          <a:solidFill>
            <a:schemeClr val="bg1"/>
          </a:solidFill>
          <a:ln w="12700">
            <a:solidFill>
              <a:srgbClr val="FF0000"/>
            </a:solidFill>
            <a:miter/>
          </a:ln>
        </p:spPr>
        <p:txBody>
          <a:bodyPr wrap="square">
            <a:spAutoFit/>
          </a:bodyPr>
          <a:lstStyle/>
          <a:p>
            <a:pPr marL="0" indent="0" fontAlgn="base">
              <a:lnSpc>
                <a:spcPct val="105000"/>
              </a:lnSpc>
              <a:spcBef>
                <a:spcPct val="50000"/>
              </a:spcBef>
              <a:buNone/>
            </a:pPr>
            <a:r>
              <a:rPr lang="zh-CN" altLang="en-US" sz="4000" b="1" noProof="1" smtClean="0">
                <a:ln w="10160">
                  <a:solidFill>
                    <a:srgbClr val="0000FF"/>
                  </a:solidFill>
                  <a:prstDash val="solid"/>
                </a:ln>
                <a:solidFill>
                  <a:srgbClr val="FF0000"/>
                </a:solidFill>
                <a:effectLst>
                  <a:outerShdw blurRad="38100" dist="22860" dir="5400000" algn="tl" rotWithShape="0">
                    <a:srgbClr val="000000">
                      <a:alpha val="30000"/>
                    </a:srgbClr>
                  </a:outerShdw>
                </a:effectLst>
                <a:latin typeface="华文琥珀" pitchFamily="2" charset="-122"/>
                <a:ea typeface="华文琥珀" pitchFamily="2" charset="-122"/>
              </a:rPr>
              <a:t>专题一  初步探索的重要理论</a:t>
            </a:r>
            <a:r>
              <a:rPr lang="zh-CN" altLang="en-US" sz="4000" b="1" noProof="1">
                <a:ln w="10160">
                  <a:solidFill>
                    <a:srgbClr val="0000FF"/>
                  </a:solidFill>
                  <a:prstDash val="solid"/>
                </a:ln>
                <a:solidFill>
                  <a:srgbClr val="FF0000"/>
                </a:solidFill>
                <a:effectLst>
                  <a:outerShdw blurRad="38100" dist="22860" dir="5400000" algn="tl" rotWithShape="0">
                    <a:srgbClr val="000000">
                      <a:alpha val="30000"/>
                    </a:srgbClr>
                  </a:outerShdw>
                </a:effectLst>
                <a:latin typeface="华文琥珀" pitchFamily="2" charset="-122"/>
                <a:ea typeface="华文琥珀" pitchFamily="2" charset="-122"/>
              </a:rPr>
              <a:t>成果      </a:t>
            </a:r>
          </a:p>
        </p:txBody>
      </p:sp>
      <p:pic>
        <p:nvPicPr>
          <p:cNvPr id="10242" name="Picture 3" descr="u=733878882,1773475277&amp;fm=23&amp;gp=0"/>
          <p:cNvPicPr>
            <a:picLocks noChangeAspect="1"/>
          </p:cNvPicPr>
          <p:nvPr/>
        </p:nvPicPr>
        <p:blipFill>
          <a:blip r:embed="rId3" cstate="print"/>
          <a:stretch>
            <a:fillRect/>
          </a:stretch>
        </p:blipFill>
        <p:spPr>
          <a:xfrm>
            <a:off x="1000099" y="3933056"/>
            <a:ext cx="3241675" cy="2447925"/>
          </a:xfrm>
          <a:prstGeom prst="rect">
            <a:avLst/>
          </a:prstGeom>
          <a:noFill/>
          <a:ln w="9525">
            <a:noFill/>
          </a:ln>
        </p:spPr>
      </p:pic>
      <p:pic>
        <p:nvPicPr>
          <p:cNvPr id="10243" name="Picture 4" descr="u=1910641151,3181988782&amp;fm=23&amp;gp=0"/>
          <p:cNvPicPr>
            <a:picLocks noChangeAspect="1"/>
          </p:cNvPicPr>
          <p:nvPr/>
        </p:nvPicPr>
        <p:blipFill>
          <a:blip r:embed="rId4" cstate="print"/>
          <a:stretch>
            <a:fillRect/>
          </a:stretch>
        </p:blipFill>
        <p:spPr>
          <a:xfrm>
            <a:off x="4427538" y="3643314"/>
            <a:ext cx="3629025" cy="2857500"/>
          </a:xfrm>
          <a:prstGeom prst="rect">
            <a:avLst/>
          </a:prstGeom>
          <a:noFill/>
          <a:ln w="9525">
            <a:noFill/>
          </a:ln>
        </p:spPr>
      </p:pic>
    </p:spTree>
    <p:extLst>
      <p:ext uri="{BB962C8B-B14F-4D97-AF65-F5344CB8AC3E}">
        <p14:creationId xmlns:p14="http://schemas.microsoft.com/office/powerpoint/2010/main" xmlns="" val="2580235066"/>
      </p:ext>
    </p:extLst>
  </p:cSld>
  <p:clrMapOvr>
    <a:masterClrMapping/>
  </p:clrMapOvr>
  <p:transition>
    <p:strips dir="rd"/>
    <p:sndAc>
      <p:stSnd>
        <p:snd r:embed="rId2" name="chimes.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idx="1"/>
          </p:nvPr>
        </p:nvSpPr>
        <p:spPr>
          <a:xfrm>
            <a:off x="539552" y="1412776"/>
            <a:ext cx="7632848" cy="1794337"/>
          </a:xfrm>
          <a:solidFill>
            <a:schemeClr val="bg1"/>
          </a:solidFill>
          <a:ln w="12700">
            <a:solidFill>
              <a:srgbClr val="FF0000"/>
            </a:solidFill>
            <a:miter/>
          </a:ln>
        </p:spPr>
        <p:txBody>
          <a:bodyPr wrap="square">
            <a:spAutoFit/>
          </a:bodyPr>
          <a:lstStyle/>
          <a:p>
            <a:pPr marL="0" indent="0" fontAlgn="base">
              <a:lnSpc>
                <a:spcPct val="105000"/>
              </a:lnSpc>
              <a:spcBef>
                <a:spcPct val="50000"/>
              </a:spcBef>
              <a:buNone/>
            </a:pPr>
            <a:r>
              <a:rPr lang="zh-CN" altLang="en-US" b="1" noProof="1" smtClean="0">
                <a:solidFill>
                  <a:srgbClr val="FF0000"/>
                </a:solidFill>
                <a:latin typeface="+mj-ea"/>
                <a:ea typeface="+mj-ea"/>
              </a:rPr>
              <a:t>（一）</a:t>
            </a:r>
            <a:r>
              <a:rPr lang="zh-CN" altLang="en-US" b="1" strike="noStrike" noProof="1" smtClean="0">
                <a:solidFill>
                  <a:srgbClr val="FF0000"/>
                </a:solidFill>
                <a:latin typeface="+mj-ea"/>
                <a:ea typeface="+mj-ea"/>
              </a:rPr>
              <a:t>背景</a:t>
            </a:r>
            <a:endParaRPr lang="en-US" altLang="zh-CN" b="1" strike="noStrike" noProof="1" smtClean="0">
              <a:solidFill>
                <a:srgbClr val="FF0000"/>
              </a:solidFill>
              <a:latin typeface="+mj-ea"/>
              <a:ea typeface="+mj-ea"/>
            </a:endParaRPr>
          </a:p>
          <a:p>
            <a:pPr marL="0" indent="0" fontAlgn="base">
              <a:lnSpc>
                <a:spcPct val="105000"/>
              </a:lnSpc>
              <a:spcBef>
                <a:spcPct val="50000"/>
              </a:spcBef>
              <a:buNone/>
            </a:pPr>
            <a:r>
              <a:rPr lang="en-US" altLang="zh-CN" sz="2800" b="1" strike="noStrike" noProof="1" smtClean="0">
                <a:latin typeface="Times New Roman" panose="02020603050405020304" pitchFamily="18" charset="0"/>
                <a:ea typeface="黑体" panose="02010609060101010101" pitchFamily="49" charset="-122"/>
              </a:rPr>
              <a:t>1</a:t>
            </a:r>
            <a:r>
              <a:rPr lang="zh-CN" altLang="en-US" sz="2800" b="1" noProof="1">
                <a:latin typeface="Times New Roman" panose="02020603050405020304" pitchFamily="18" charset="0"/>
                <a:ea typeface="黑体" panose="02010609060101010101" pitchFamily="49" charset="-122"/>
              </a:rPr>
              <a:t>、新中国成立初期，外交上确立“一边倒” 的政策</a:t>
            </a:r>
            <a:r>
              <a:rPr lang="zh-CN" altLang="en-US" sz="2800" b="1" strike="noStrike" noProof="1" smtClean="0">
                <a:latin typeface="Times New Roman" panose="02020603050405020304" pitchFamily="18" charset="0"/>
                <a:ea typeface="华文新魏" panose="02010800040101010101" pitchFamily="2" charset="-122"/>
              </a:rPr>
              <a:t>   </a:t>
            </a:r>
            <a:r>
              <a:rPr lang="zh-CN" altLang="en-US" strike="noStrike" noProof="1" smtClean="0">
                <a:solidFill>
                  <a:srgbClr val="0000FF"/>
                </a:solidFill>
                <a:latin typeface="Times New Roman" panose="02020603050405020304" pitchFamily="18" charset="0"/>
                <a:ea typeface="华文新魏" panose="02010800040101010101" pitchFamily="2" charset="-122"/>
              </a:rPr>
              <a:t>   </a:t>
            </a:r>
            <a:endParaRPr lang="zh-CN" altLang="en-US" strike="noStrike" noProof="1">
              <a:solidFill>
                <a:srgbClr val="0000FF"/>
              </a:solidFill>
              <a:latin typeface="Times New Roman" panose="02020603050405020304" pitchFamily="18" charset="0"/>
              <a:ea typeface="华文新魏" panose="02010800040101010101" pitchFamily="2" charset="-122"/>
            </a:endParaRPr>
          </a:p>
        </p:txBody>
      </p:sp>
      <p:pic>
        <p:nvPicPr>
          <p:cNvPr id="10242" name="Picture 3" descr="u=733878882,1773475277&amp;fm=23&amp;gp=0"/>
          <p:cNvPicPr>
            <a:picLocks noChangeAspect="1"/>
          </p:cNvPicPr>
          <p:nvPr/>
        </p:nvPicPr>
        <p:blipFill>
          <a:blip r:embed="rId3" cstate="print"/>
          <a:stretch>
            <a:fillRect/>
          </a:stretch>
        </p:blipFill>
        <p:spPr>
          <a:xfrm>
            <a:off x="986102" y="4205287"/>
            <a:ext cx="3241675" cy="2447925"/>
          </a:xfrm>
          <a:prstGeom prst="rect">
            <a:avLst/>
          </a:prstGeom>
          <a:noFill/>
          <a:ln w="9525">
            <a:noFill/>
          </a:ln>
        </p:spPr>
      </p:pic>
      <p:pic>
        <p:nvPicPr>
          <p:cNvPr id="10243" name="Picture 4" descr="u=1910641151,3181988782&amp;fm=23&amp;gp=0"/>
          <p:cNvPicPr>
            <a:picLocks noChangeAspect="1"/>
          </p:cNvPicPr>
          <p:nvPr/>
        </p:nvPicPr>
        <p:blipFill>
          <a:blip r:embed="rId4" cstate="print"/>
          <a:stretch>
            <a:fillRect/>
          </a:stretch>
        </p:blipFill>
        <p:spPr>
          <a:xfrm>
            <a:off x="4455733" y="4000500"/>
            <a:ext cx="3629025" cy="2857500"/>
          </a:xfrm>
          <a:prstGeom prst="rect">
            <a:avLst/>
          </a:prstGeom>
          <a:noFill/>
          <a:ln w="9525">
            <a:noFill/>
          </a:ln>
        </p:spPr>
      </p:pic>
      <p:sp>
        <p:nvSpPr>
          <p:cNvPr id="5" name="矩形 4"/>
          <p:cNvSpPr/>
          <p:nvPr/>
        </p:nvSpPr>
        <p:spPr>
          <a:xfrm>
            <a:off x="395536" y="548680"/>
            <a:ext cx="7981672" cy="609398"/>
          </a:xfrm>
          <a:prstGeom prst="rect">
            <a:avLst/>
          </a:prstGeom>
          <a:solidFill>
            <a:schemeClr val="bg2"/>
          </a:solidFill>
          <a:ln>
            <a:solidFill>
              <a:schemeClr val="accent1"/>
            </a:solidFill>
          </a:ln>
        </p:spPr>
        <p:txBody>
          <a:bodyPr wrap="none">
            <a:spAutoFit/>
          </a:bodyPr>
          <a:lstStyle/>
          <a:p>
            <a:pPr>
              <a:lnSpc>
                <a:spcPct val="105000"/>
              </a:lnSpc>
              <a:spcBef>
                <a:spcPct val="50000"/>
              </a:spcBef>
            </a:pPr>
            <a:r>
              <a:rPr lang="zh-CN" altLang="en-US" sz="3200" b="1" noProof="1" smtClean="0">
                <a:solidFill>
                  <a:srgbClr val="FF0000"/>
                </a:solidFill>
                <a:latin typeface="华文琥珀" pitchFamily="2" charset="-122"/>
                <a:ea typeface="华文琥珀" pitchFamily="2" charset="-122"/>
              </a:rPr>
              <a:t>一、探索适合我国社会主义建设道路的过程</a:t>
            </a:r>
            <a:endParaRPr lang="en-US" altLang="zh-CN" sz="3200" b="1" noProof="1" smtClean="0">
              <a:solidFill>
                <a:srgbClr val="FF0000"/>
              </a:solidFill>
              <a:latin typeface="华文琥珀" pitchFamily="2" charset="-122"/>
              <a:ea typeface="华文琥珀" pitchFamily="2" charset="-122"/>
            </a:endParaRPr>
          </a:p>
        </p:txBody>
      </p:sp>
    </p:spTree>
  </p:cSld>
  <p:clrMapOvr>
    <a:masterClrMapping/>
  </p:clrMapOvr>
  <p:transition>
    <p:strips dir="rd"/>
    <p:sndAc>
      <p:stSnd>
        <p:snd r:embed="rId2" name="chimes.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p:cNvSpPr>
          <p:nvPr>
            <p:ph idx="1"/>
          </p:nvPr>
        </p:nvSpPr>
        <p:spPr>
          <a:xfrm>
            <a:off x="827584" y="2492896"/>
            <a:ext cx="6781800" cy="1605439"/>
          </a:xfrm>
          <a:solidFill>
            <a:schemeClr val="bg1"/>
          </a:solidFill>
          <a:ln w="12700">
            <a:solidFill>
              <a:srgbClr val="FF0000"/>
            </a:solidFill>
            <a:miter/>
          </a:ln>
        </p:spPr>
        <p:txBody>
          <a:bodyPr anchor="t">
            <a:spAutoFit/>
          </a:bodyPr>
          <a:lstStyle/>
          <a:p>
            <a:pPr marL="0" indent="0">
              <a:lnSpc>
                <a:spcPct val="105000"/>
              </a:lnSpc>
              <a:spcBef>
                <a:spcPct val="50000"/>
              </a:spcBef>
              <a:buNone/>
            </a:pPr>
            <a:r>
              <a:rPr lang="zh-CN" altLang="en-US" b="1" dirty="0" smtClean="0">
                <a:solidFill>
                  <a:srgbClr val="0000FF"/>
                </a:solidFill>
                <a:latin typeface="Times New Roman" panose="02020603050405020304" pitchFamily="18" charset="0"/>
                <a:ea typeface="黑体" panose="02010609060101010101" pitchFamily="49" charset="-122"/>
              </a:rPr>
              <a:t>        经济、政治、文化等各方面的建设主要学习苏联经验，照搬苏联的建设模式。</a:t>
            </a:r>
            <a:endParaRPr lang="zh-CN" altLang="en-US" b="1" dirty="0">
              <a:solidFill>
                <a:srgbClr val="0000FF"/>
              </a:solidFill>
              <a:latin typeface="Times New Roman" panose="02020603050405020304" pitchFamily="18" charset="0"/>
              <a:ea typeface="黑体" panose="02010609060101010101" pitchFamily="49" charset="-122"/>
            </a:endParaRPr>
          </a:p>
        </p:txBody>
      </p:sp>
    </p:spTree>
  </p:cSld>
  <p:clrMapOvr>
    <a:masterClrMapping/>
  </p:clrMapOvr>
  <p:transition>
    <p:strips dir="rd"/>
    <p:sndAc>
      <p:stSnd>
        <p:snd r:embed="rId2" name="chimes.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p:cNvSpPr>
          <p:nvPr>
            <p:ph idx="1"/>
          </p:nvPr>
        </p:nvSpPr>
        <p:spPr>
          <a:xfrm>
            <a:off x="755650" y="549275"/>
            <a:ext cx="6781800" cy="4573560"/>
          </a:xfrm>
          <a:solidFill>
            <a:schemeClr val="bg1"/>
          </a:solidFill>
          <a:ln w="12700">
            <a:solidFill>
              <a:srgbClr val="FF3300"/>
            </a:solidFill>
            <a:miter/>
          </a:ln>
        </p:spPr>
        <p:txBody>
          <a:bodyPr anchor="t">
            <a:spAutoFit/>
          </a:bodyPr>
          <a:lstStyle/>
          <a:p>
            <a:pPr marL="0" indent="0">
              <a:lnSpc>
                <a:spcPct val="105000"/>
              </a:lnSpc>
              <a:spcBef>
                <a:spcPct val="50000"/>
              </a:spcBef>
              <a:buNone/>
            </a:pPr>
            <a:r>
              <a:rPr lang="zh-CN" altLang="en-US" b="1" dirty="0" smtClean="0">
                <a:solidFill>
                  <a:srgbClr val="0000FF"/>
                </a:solidFill>
                <a:latin typeface="Times New Roman" panose="02020603050405020304" pitchFamily="18" charset="0"/>
                <a:ea typeface="黑体" panose="02010609060101010101" pitchFamily="49" charset="-122"/>
              </a:rPr>
              <a:t>    </a:t>
            </a:r>
            <a:r>
              <a:rPr lang="zh-CN" altLang="en-US" b="1" i="1" dirty="0" smtClean="0">
                <a:solidFill>
                  <a:srgbClr val="FF0000"/>
                </a:solidFill>
                <a:latin typeface="隶书" pitchFamily="49" charset="-122"/>
                <a:ea typeface="隶书" pitchFamily="49" charset="-122"/>
              </a:rPr>
              <a:t>“</a:t>
            </a:r>
            <a:r>
              <a:rPr lang="zh-CN" altLang="en-US" b="1" i="1" dirty="0">
                <a:solidFill>
                  <a:srgbClr val="FF0000"/>
                </a:solidFill>
                <a:latin typeface="隶书" pitchFamily="49" charset="-122"/>
                <a:ea typeface="隶书" pitchFamily="49" charset="-122"/>
              </a:rPr>
              <a:t>苏联的今天就是我们的明天”</a:t>
            </a:r>
          </a:p>
          <a:p>
            <a:pPr marL="0" indent="0">
              <a:lnSpc>
                <a:spcPct val="105000"/>
              </a:lnSpc>
              <a:spcBef>
                <a:spcPct val="50000"/>
              </a:spcBef>
              <a:buNone/>
            </a:pPr>
            <a:r>
              <a:rPr lang="zh-CN" altLang="en-US" b="1" dirty="0" smtClean="0">
                <a:solidFill>
                  <a:srgbClr val="0000FF"/>
                </a:solidFill>
                <a:latin typeface="Times New Roman" panose="02020603050405020304" pitchFamily="18" charset="0"/>
                <a:ea typeface="黑体" panose="02010609060101010101" pitchFamily="49" charset="-122"/>
              </a:rPr>
              <a:t>    </a:t>
            </a:r>
            <a:r>
              <a:rPr lang="zh-CN" altLang="en-US" b="1" i="1" dirty="0" smtClean="0">
                <a:solidFill>
                  <a:srgbClr val="FF0000"/>
                </a:solidFill>
                <a:latin typeface="隶书" pitchFamily="49" charset="-122"/>
                <a:ea typeface="隶书" pitchFamily="49" charset="-122"/>
              </a:rPr>
              <a:t>“</a:t>
            </a:r>
            <a:r>
              <a:rPr lang="zh-CN" altLang="en-US" b="1" i="1" dirty="0">
                <a:solidFill>
                  <a:srgbClr val="FF0000"/>
                </a:solidFill>
                <a:latin typeface="隶书" pitchFamily="49" charset="-122"/>
                <a:ea typeface="隶书" pitchFamily="49" charset="-122"/>
              </a:rPr>
              <a:t>社会主义胜利建设的苏联”是我们“向前发展的活榜样”，“我们要恭恭敬敬地学，老老实实地学”。</a:t>
            </a:r>
          </a:p>
          <a:p>
            <a:pPr marL="0" indent="0" eaLnBrk="1" hangingPunct="1">
              <a:buNone/>
            </a:pPr>
            <a:r>
              <a:rPr lang="zh-CN" altLang="en-US" b="1" i="1" dirty="0" smtClean="0">
                <a:solidFill>
                  <a:srgbClr val="FF0000"/>
                </a:solidFill>
                <a:latin typeface="隶书" pitchFamily="49" charset="-122"/>
                <a:ea typeface="隶书" pitchFamily="49" charset="-122"/>
              </a:rPr>
              <a:t>    “</a:t>
            </a:r>
            <a:r>
              <a:rPr lang="zh-CN" altLang="en-US" b="1" i="1" dirty="0">
                <a:solidFill>
                  <a:srgbClr val="FF0000"/>
                </a:solidFill>
                <a:latin typeface="隶书" pitchFamily="49" charset="-122"/>
                <a:ea typeface="隶书" pitchFamily="49" charset="-122"/>
              </a:rPr>
              <a:t>苏联经济文化及其他各项重要的建设经验，将成为新中国建设的榜样” </a:t>
            </a:r>
            <a:endParaRPr lang="en-US" altLang="zh-CN" b="1" i="1" dirty="0" smtClean="0">
              <a:solidFill>
                <a:srgbClr val="FF0000"/>
              </a:solidFill>
              <a:latin typeface="隶书" pitchFamily="49" charset="-122"/>
              <a:ea typeface="隶书" pitchFamily="49" charset="-122"/>
            </a:endParaRPr>
          </a:p>
          <a:p>
            <a:pPr marL="0" indent="0" eaLnBrk="1" hangingPunct="1">
              <a:buNone/>
            </a:pPr>
            <a:r>
              <a:rPr lang="en-US" altLang="zh-CN" b="1" i="1" dirty="0" smtClean="0">
                <a:solidFill>
                  <a:srgbClr val="FF0000"/>
                </a:solidFill>
                <a:latin typeface="隶书" pitchFamily="49" charset="-122"/>
                <a:ea typeface="隶书" pitchFamily="49" charset="-122"/>
              </a:rPr>
              <a:t>    </a:t>
            </a:r>
            <a:r>
              <a:rPr lang="zh-CN" altLang="en-US" b="1" dirty="0" smtClean="0">
                <a:solidFill>
                  <a:srgbClr val="0000FF"/>
                </a:solidFill>
                <a:latin typeface="Times New Roman" panose="02020603050405020304" pitchFamily="18" charset="0"/>
                <a:ea typeface="黑体" panose="02010609060101010101" pitchFamily="49" charset="-122"/>
              </a:rPr>
              <a:t>苏联</a:t>
            </a:r>
            <a:r>
              <a:rPr lang="zh-CN" altLang="en-US" b="1" dirty="0">
                <a:solidFill>
                  <a:srgbClr val="0000FF"/>
                </a:solidFill>
                <a:latin typeface="Times New Roman" panose="02020603050405020304" pitchFamily="18" charset="0"/>
                <a:ea typeface="黑体" panose="02010609060101010101" pitchFamily="49" charset="-122"/>
              </a:rPr>
              <a:t>元素无处不在</a:t>
            </a:r>
          </a:p>
        </p:txBody>
      </p:sp>
    </p:spTree>
  </p:cSld>
  <p:clrMapOvr>
    <a:masterClrMapping/>
  </p:clrMapOvr>
  <p:transition>
    <p:strips dir="rd"/>
    <p:sndAc>
      <p:stSnd>
        <p:snd r:embed="rId2" name="chimes.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p:cNvSpPr>
          <p:nvPr>
            <p:ph idx="1"/>
          </p:nvPr>
        </p:nvSpPr>
        <p:spPr>
          <a:xfrm>
            <a:off x="971600" y="1196752"/>
            <a:ext cx="6858048" cy="6334042"/>
          </a:xfrm>
          <a:solidFill>
            <a:schemeClr val="bg1"/>
          </a:solidFill>
          <a:ln w="12700">
            <a:solidFill>
              <a:srgbClr val="FF3300"/>
            </a:solidFill>
            <a:miter/>
          </a:ln>
        </p:spPr>
        <p:txBody>
          <a:bodyPr wrap="square" anchor="t">
            <a:spAutoFit/>
          </a:bodyPr>
          <a:lstStyle/>
          <a:p>
            <a:pPr marL="0" indent="0">
              <a:lnSpc>
                <a:spcPct val="105000"/>
              </a:lnSpc>
              <a:spcBef>
                <a:spcPct val="50000"/>
              </a:spcBef>
              <a:buNone/>
            </a:pPr>
            <a:r>
              <a:rPr lang="en-US" altLang="zh-CN" sz="2400" dirty="0">
                <a:solidFill>
                  <a:srgbClr val="0000FF"/>
                </a:solidFill>
                <a:latin typeface="Times New Roman" panose="02020603050405020304" pitchFamily="18" charset="0"/>
                <a:ea typeface="华文新魏" panose="02010800040101010101" pitchFamily="2" charset="-122"/>
              </a:rPr>
              <a:t>   </a:t>
            </a:r>
            <a:endParaRPr lang="en-US" altLang="zh-CN" b="1" dirty="0">
              <a:solidFill>
                <a:srgbClr val="00B050"/>
              </a:solidFill>
              <a:latin typeface="Times New Roman" panose="02020603050405020304" pitchFamily="18" charset="0"/>
              <a:ea typeface="黑体" panose="02010609060101010101" pitchFamily="49" charset="-122"/>
            </a:endParaRPr>
          </a:p>
          <a:p>
            <a:pPr marL="0" indent="0">
              <a:lnSpc>
                <a:spcPct val="105000"/>
              </a:lnSpc>
              <a:spcBef>
                <a:spcPct val="50000"/>
              </a:spcBef>
              <a:buNone/>
            </a:pPr>
            <a:r>
              <a:rPr lang="zh-CN" altLang="en-US" sz="2400" b="1" dirty="0" smtClean="0">
                <a:solidFill>
                  <a:srgbClr val="0000FF"/>
                </a:solidFill>
                <a:latin typeface="Times New Roman" panose="02020603050405020304" pitchFamily="18" charset="0"/>
                <a:ea typeface="黑体" panose="02010609060101010101" pitchFamily="49" charset="-122"/>
              </a:rPr>
              <a:t>                              所有制关系：    单一的公有制</a:t>
            </a:r>
            <a:endParaRPr lang="en-US" altLang="zh-CN" sz="2400" b="1" dirty="0" smtClean="0">
              <a:solidFill>
                <a:srgbClr val="0000FF"/>
              </a:solidFill>
              <a:latin typeface="Times New Roman" panose="02020603050405020304" pitchFamily="18" charset="0"/>
              <a:ea typeface="黑体" panose="02010609060101010101" pitchFamily="49" charset="-122"/>
            </a:endParaRPr>
          </a:p>
          <a:p>
            <a:pPr marL="0" indent="0">
              <a:lnSpc>
                <a:spcPct val="105000"/>
              </a:lnSpc>
              <a:spcBef>
                <a:spcPct val="50000"/>
              </a:spcBef>
              <a:buNone/>
            </a:pPr>
            <a:r>
              <a:rPr lang="zh-CN" altLang="en-US" sz="2400" b="1" dirty="0" smtClean="0">
                <a:solidFill>
                  <a:srgbClr val="0000FF"/>
                </a:solidFill>
                <a:latin typeface="Times New Roman" panose="02020603050405020304" pitchFamily="18" charset="0"/>
                <a:ea typeface="黑体" panose="02010609060101010101" pitchFamily="49" charset="-122"/>
              </a:rPr>
              <a:t>                               经济体制：    计划经济体制</a:t>
            </a:r>
            <a:endParaRPr lang="en-US" altLang="zh-CN" sz="2400" b="1" dirty="0" smtClean="0">
              <a:solidFill>
                <a:srgbClr val="0000FF"/>
              </a:solidFill>
              <a:latin typeface="Times New Roman" panose="02020603050405020304" pitchFamily="18" charset="0"/>
              <a:ea typeface="黑体" panose="02010609060101010101" pitchFamily="49" charset="-122"/>
            </a:endParaRPr>
          </a:p>
          <a:p>
            <a:pPr marL="0" indent="0">
              <a:lnSpc>
                <a:spcPct val="105000"/>
              </a:lnSpc>
              <a:spcBef>
                <a:spcPct val="50000"/>
              </a:spcBef>
              <a:buNone/>
            </a:pPr>
            <a:endParaRPr lang="en-US" altLang="zh-CN" sz="2400" b="1" dirty="0" smtClean="0">
              <a:solidFill>
                <a:srgbClr val="0000FF"/>
              </a:solidFill>
              <a:latin typeface="Times New Roman" panose="02020603050405020304" pitchFamily="18" charset="0"/>
              <a:ea typeface="黑体" panose="02010609060101010101" pitchFamily="49" charset="-122"/>
            </a:endParaRPr>
          </a:p>
          <a:p>
            <a:pPr marL="0" indent="0">
              <a:lnSpc>
                <a:spcPct val="105000"/>
              </a:lnSpc>
              <a:spcBef>
                <a:spcPct val="50000"/>
              </a:spcBef>
              <a:buNone/>
            </a:pPr>
            <a:r>
              <a:rPr lang="zh-CN" altLang="en-US" sz="2400" b="1" dirty="0" smtClean="0">
                <a:solidFill>
                  <a:srgbClr val="0000FF"/>
                </a:solidFill>
                <a:latin typeface="Times New Roman" panose="02020603050405020304" pitchFamily="18" charset="0"/>
                <a:ea typeface="黑体" panose="02010609060101010101" pitchFamily="49" charset="-122"/>
              </a:rPr>
              <a:t>                            政治制度：</a:t>
            </a:r>
            <a:endParaRPr lang="en-US" altLang="zh-CN" sz="2400" b="1" dirty="0" smtClean="0">
              <a:solidFill>
                <a:srgbClr val="0000FF"/>
              </a:solidFill>
              <a:latin typeface="Times New Roman" panose="02020603050405020304" pitchFamily="18" charset="0"/>
              <a:ea typeface="黑体" panose="02010609060101010101" pitchFamily="49" charset="-122"/>
            </a:endParaRPr>
          </a:p>
          <a:p>
            <a:pPr marL="0" indent="0">
              <a:lnSpc>
                <a:spcPct val="105000"/>
              </a:lnSpc>
              <a:spcBef>
                <a:spcPct val="50000"/>
              </a:spcBef>
              <a:buNone/>
            </a:pPr>
            <a:r>
              <a:rPr lang="en-US" altLang="zh-CN" sz="2400" b="1" dirty="0">
                <a:solidFill>
                  <a:srgbClr val="0000FF"/>
                </a:solidFill>
                <a:latin typeface="Times New Roman" panose="02020603050405020304" pitchFamily="18" charset="0"/>
                <a:ea typeface="黑体" panose="02010609060101010101" pitchFamily="49" charset="-122"/>
              </a:rPr>
              <a:t> </a:t>
            </a:r>
            <a:r>
              <a:rPr lang="en-US" altLang="zh-CN" sz="2400" b="1" dirty="0" smtClean="0">
                <a:solidFill>
                  <a:srgbClr val="0000FF"/>
                </a:solidFill>
                <a:latin typeface="Times New Roman" panose="02020603050405020304" pitchFamily="18" charset="0"/>
                <a:ea typeface="黑体" panose="02010609060101010101" pitchFamily="49" charset="-122"/>
              </a:rPr>
              <a:t>                            </a:t>
            </a:r>
            <a:r>
              <a:rPr lang="zh-CN" altLang="en-US" sz="2400" b="1" dirty="0" smtClean="0">
                <a:solidFill>
                  <a:srgbClr val="0000FF"/>
                </a:solidFill>
                <a:latin typeface="Times New Roman" panose="02020603050405020304" pitchFamily="18" charset="0"/>
                <a:ea typeface="黑体" panose="02010609060101010101" pitchFamily="49" charset="-122"/>
              </a:rPr>
              <a:t>无产阶级专政和苏维埃  </a:t>
            </a:r>
            <a:endParaRPr lang="en-US" altLang="zh-CN" sz="2400" b="1" dirty="0" smtClean="0">
              <a:solidFill>
                <a:srgbClr val="0000FF"/>
              </a:solidFill>
              <a:latin typeface="Times New Roman" panose="02020603050405020304" pitchFamily="18" charset="0"/>
              <a:ea typeface="黑体" panose="02010609060101010101" pitchFamily="49" charset="-122"/>
            </a:endParaRPr>
          </a:p>
          <a:p>
            <a:pPr marL="0" indent="0">
              <a:lnSpc>
                <a:spcPct val="105000"/>
              </a:lnSpc>
              <a:spcBef>
                <a:spcPct val="50000"/>
              </a:spcBef>
              <a:buNone/>
            </a:pPr>
            <a:r>
              <a:rPr lang="zh-CN" altLang="en-US" sz="2400" b="1" dirty="0" smtClean="0">
                <a:solidFill>
                  <a:srgbClr val="0000FF"/>
                </a:solidFill>
                <a:latin typeface="Times New Roman" panose="02020603050405020304" pitchFamily="18" charset="0"/>
                <a:ea typeface="黑体" panose="02010609060101010101" pitchFamily="49" charset="-122"/>
              </a:rPr>
              <a:t>                             代表大会制度</a:t>
            </a:r>
            <a:endParaRPr lang="en-US" altLang="zh-CN" sz="2400" b="1" dirty="0" smtClean="0">
              <a:solidFill>
                <a:srgbClr val="0000FF"/>
              </a:solidFill>
              <a:latin typeface="Times New Roman" panose="02020603050405020304" pitchFamily="18" charset="0"/>
              <a:ea typeface="黑体" panose="02010609060101010101" pitchFamily="49" charset="-122"/>
            </a:endParaRPr>
          </a:p>
          <a:p>
            <a:pPr marL="0" indent="0">
              <a:lnSpc>
                <a:spcPct val="105000"/>
              </a:lnSpc>
              <a:spcBef>
                <a:spcPct val="50000"/>
              </a:spcBef>
              <a:buNone/>
            </a:pPr>
            <a:r>
              <a:rPr lang="zh-CN" altLang="en-US" sz="2400" b="1" dirty="0" smtClean="0">
                <a:solidFill>
                  <a:srgbClr val="0000FF"/>
                </a:solidFill>
                <a:latin typeface="Times New Roman" panose="02020603050405020304" pitchFamily="18" charset="0"/>
                <a:ea typeface="黑体" panose="02010609060101010101" pitchFamily="49" charset="-122"/>
              </a:rPr>
              <a:t>                          政治体制上：高度集权的行政体制</a:t>
            </a:r>
          </a:p>
          <a:p>
            <a:pPr marL="0" indent="0">
              <a:lnSpc>
                <a:spcPct val="105000"/>
              </a:lnSpc>
              <a:spcBef>
                <a:spcPct val="50000"/>
              </a:spcBef>
              <a:buNone/>
            </a:pPr>
            <a:endParaRPr lang="en-US" altLang="zh-CN" sz="2400" b="1" dirty="0" smtClean="0">
              <a:solidFill>
                <a:srgbClr val="0000FF"/>
              </a:solidFill>
              <a:latin typeface="Times New Roman" panose="02020603050405020304" pitchFamily="18" charset="0"/>
              <a:ea typeface="黑体" panose="02010609060101010101" pitchFamily="49" charset="-122"/>
            </a:endParaRPr>
          </a:p>
          <a:p>
            <a:pPr marL="0" indent="0">
              <a:lnSpc>
                <a:spcPct val="105000"/>
              </a:lnSpc>
              <a:spcBef>
                <a:spcPct val="50000"/>
              </a:spcBef>
              <a:buNone/>
            </a:pPr>
            <a:r>
              <a:rPr lang="zh-CN" altLang="en-US" sz="2400" b="1" dirty="0" smtClean="0">
                <a:solidFill>
                  <a:srgbClr val="0000FF"/>
                </a:solidFill>
                <a:latin typeface="Times New Roman" panose="02020603050405020304" pitchFamily="18" charset="0"/>
                <a:ea typeface="黑体" panose="02010609060101010101" pitchFamily="49" charset="-122"/>
              </a:rPr>
              <a:t>                               社会领域政党高度控制国家         </a:t>
            </a:r>
          </a:p>
          <a:p>
            <a:pPr marL="0" indent="0">
              <a:lnSpc>
                <a:spcPct val="105000"/>
              </a:lnSpc>
              <a:spcBef>
                <a:spcPct val="50000"/>
              </a:spcBef>
              <a:buNone/>
            </a:pPr>
            <a:r>
              <a:rPr lang="en-US" altLang="zh-CN" sz="2400" b="1" dirty="0" smtClean="0">
                <a:solidFill>
                  <a:srgbClr val="0000FF"/>
                </a:solidFill>
                <a:latin typeface="Times New Roman" panose="02020603050405020304" pitchFamily="18" charset="0"/>
                <a:ea typeface="黑体" panose="02010609060101010101" pitchFamily="49" charset="-122"/>
              </a:rPr>
              <a:t>                                        </a:t>
            </a:r>
          </a:p>
        </p:txBody>
      </p:sp>
      <p:sp>
        <p:nvSpPr>
          <p:cNvPr id="12290" name="Rectangle 4"/>
          <p:cNvSpPr/>
          <p:nvPr/>
        </p:nvSpPr>
        <p:spPr>
          <a:xfrm>
            <a:off x="1526095" y="1656329"/>
            <a:ext cx="428628" cy="3970318"/>
          </a:xfrm>
          <a:prstGeom prst="rect">
            <a:avLst/>
          </a:prstGeom>
          <a:solidFill>
            <a:srgbClr val="CCECFF"/>
          </a:solidFill>
          <a:ln w="12700" cap="flat" cmpd="sng">
            <a:solidFill>
              <a:srgbClr val="FF3300"/>
            </a:solidFill>
            <a:prstDash val="solid"/>
            <a:miter/>
            <a:headEnd type="none" w="med" len="med"/>
            <a:tailEnd type="none" w="med" len="med"/>
          </a:ln>
        </p:spPr>
        <p:txBody>
          <a:bodyPr wrap="square" anchor="ctr">
            <a:spAutoFit/>
          </a:bodyPr>
          <a:lstStyle/>
          <a:p>
            <a:pPr lvl="0" algn="ctr"/>
            <a:r>
              <a:rPr lang="zh-CN" altLang="en-US" sz="3600" dirty="0" smtClean="0">
                <a:solidFill>
                  <a:srgbClr val="FF0000"/>
                </a:solidFill>
                <a:latin typeface="Arial" panose="020B0604020202020204" pitchFamily="34" charset="0"/>
                <a:ea typeface="黑体" panose="02010609060101010101" pitchFamily="49" charset="-122"/>
              </a:rPr>
              <a:t>苏联模式的特征</a:t>
            </a:r>
            <a:endParaRPr lang="zh-CN" altLang="en-US" sz="3600" dirty="0">
              <a:solidFill>
                <a:srgbClr val="FF0000"/>
              </a:solidFill>
              <a:latin typeface="Arial" panose="020B0604020202020204" pitchFamily="34" charset="0"/>
              <a:ea typeface="黑体" panose="02010609060101010101" pitchFamily="49" charset="-122"/>
            </a:endParaRPr>
          </a:p>
        </p:txBody>
      </p:sp>
      <p:sp>
        <p:nvSpPr>
          <p:cNvPr id="12291" name="AutoShape 6"/>
          <p:cNvSpPr/>
          <p:nvPr/>
        </p:nvSpPr>
        <p:spPr>
          <a:xfrm>
            <a:off x="1954723" y="1691241"/>
            <a:ext cx="1512887" cy="733663"/>
          </a:xfrm>
          <a:prstGeom prst="rightArrow">
            <a:avLst>
              <a:gd name="adj1" fmla="val 50000"/>
              <a:gd name="adj2" fmla="val 77845"/>
            </a:avLst>
          </a:prstGeom>
          <a:solidFill>
            <a:srgbClr val="CCECFF"/>
          </a:solidFill>
          <a:ln w="12700" cap="flat" cmpd="sng">
            <a:solidFill>
              <a:srgbClr val="FF3300"/>
            </a:solidFill>
            <a:prstDash val="solid"/>
            <a:miter/>
            <a:headEnd type="none" w="med" len="med"/>
            <a:tailEnd type="none" w="med" len="med"/>
          </a:ln>
        </p:spPr>
        <p:txBody>
          <a:bodyPr wrap="square" anchor="ctr">
            <a:spAutoFit/>
          </a:bodyPr>
          <a:lstStyle/>
          <a:p>
            <a:pPr lvl="0"/>
            <a:endParaRPr lang="zh-CN" altLang="en-US" dirty="0">
              <a:latin typeface="Arial" panose="020B0604020202020204" pitchFamily="34" charset="0"/>
              <a:ea typeface="宋体" panose="02010600030101010101" pitchFamily="2" charset="-122"/>
            </a:endParaRPr>
          </a:p>
        </p:txBody>
      </p:sp>
      <p:sp>
        <p:nvSpPr>
          <p:cNvPr id="12292" name="AutoShape 7"/>
          <p:cNvSpPr/>
          <p:nvPr/>
        </p:nvSpPr>
        <p:spPr>
          <a:xfrm>
            <a:off x="1964124" y="3789040"/>
            <a:ext cx="1428760" cy="733663"/>
          </a:xfrm>
          <a:prstGeom prst="rightArrow">
            <a:avLst>
              <a:gd name="adj1" fmla="val 50000"/>
              <a:gd name="adj2" fmla="val 51869"/>
            </a:avLst>
          </a:prstGeom>
          <a:solidFill>
            <a:srgbClr val="CCECFF"/>
          </a:solidFill>
          <a:ln w="12700" cap="flat" cmpd="sng">
            <a:solidFill>
              <a:srgbClr val="FF3300"/>
            </a:solidFill>
            <a:prstDash val="solid"/>
            <a:miter/>
            <a:headEnd type="none" w="med" len="med"/>
            <a:tailEnd type="none" w="med" len="med"/>
          </a:ln>
        </p:spPr>
        <p:txBody>
          <a:bodyPr wrap="square" anchor="ctr">
            <a:spAutoFit/>
          </a:bodyPr>
          <a:lstStyle/>
          <a:p>
            <a:pPr lvl="0"/>
            <a:endParaRPr lang="zh-CN" altLang="en-US" dirty="0">
              <a:latin typeface="Arial" panose="020B0604020202020204" pitchFamily="34" charset="0"/>
              <a:ea typeface="宋体" panose="02010600030101010101" pitchFamily="2" charset="-122"/>
            </a:endParaRPr>
          </a:p>
        </p:txBody>
      </p:sp>
      <p:sp>
        <p:nvSpPr>
          <p:cNvPr id="12293" name="AutoShape 8"/>
          <p:cNvSpPr/>
          <p:nvPr/>
        </p:nvSpPr>
        <p:spPr>
          <a:xfrm>
            <a:off x="1934221" y="5931594"/>
            <a:ext cx="1439863" cy="733663"/>
          </a:xfrm>
          <a:prstGeom prst="rightArrow">
            <a:avLst>
              <a:gd name="adj1" fmla="val 50000"/>
              <a:gd name="adj2" fmla="val 74087"/>
            </a:avLst>
          </a:prstGeom>
          <a:solidFill>
            <a:srgbClr val="CCECFF"/>
          </a:solidFill>
          <a:ln w="12700" cap="flat" cmpd="sng">
            <a:solidFill>
              <a:srgbClr val="FF3300"/>
            </a:solidFill>
            <a:prstDash val="solid"/>
            <a:miter/>
            <a:headEnd type="none" w="med" len="med"/>
            <a:tailEnd type="none" w="med" len="med"/>
          </a:ln>
        </p:spPr>
        <p:txBody>
          <a:bodyPr wrap="square" anchor="ctr">
            <a:spAutoFit/>
          </a:bodyPr>
          <a:lstStyle/>
          <a:p>
            <a:pPr lvl="0"/>
            <a:endParaRPr lang="zh-CN" altLang="en-US" dirty="0">
              <a:latin typeface="Arial" panose="020B0604020202020204" pitchFamily="34" charset="0"/>
              <a:ea typeface="宋体" panose="02010600030101010101" pitchFamily="2" charset="-122"/>
            </a:endParaRPr>
          </a:p>
        </p:txBody>
      </p:sp>
      <p:sp>
        <p:nvSpPr>
          <p:cNvPr id="2" name="矩形 1"/>
          <p:cNvSpPr/>
          <p:nvPr/>
        </p:nvSpPr>
        <p:spPr>
          <a:xfrm>
            <a:off x="827584" y="188640"/>
            <a:ext cx="6264696" cy="584775"/>
          </a:xfrm>
          <a:prstGeom prst="rect">
            <a:avLst/>
          </a:prstGeom>
        </p:spPr>
        <p:txBody>
          <a:bodyPr wrap="square">
            <a:spAutoFit/>
          </a:bodyPr>
          <a:lstStyle/>
          <a:p>
            <a:r>
              <a:rPr lang="en-US" altLang="zh-CN" sz="3200" b="1" dirty="0">
                <a:solidFill>
                  <a:schemeClr val="tx1"/>
                </a:solidFill>
                <a:latin typeface="Times New Roman" panose="02020603050405020304" pitchFamily="18" charset="0"/>
                <a:ea typeface="黑体" panose="02010609060101010101" pitchFamily="49" charset="-122"/>
                <a:cs typeface="+mn-cs"/>
              </a:rPr>
              <a:t>2</a:t>
            </a:r>
            <a:r>
              <a:rPr lang="zh-CN" altLang="en-US" sz="3200" b="1" dirty="0">
                <a:solidFill>
                  <a:schemeClr val="tx1"/>
                </a:solidFill>
                <a:latin typeface="Times New Roman" panose="02020603050405020304" pitchFamily="18" charset="0"/>
                <a:ea typeface="黑体" panose="02010609060101010101" pitchFamily="49" charset="-122"/>
                <a:cs typeface="+mn-cs"/>
              </a:rPr>
              <a:t>、苏联模式的特征</a:t>
            </a:r>
            <a:r>
              <a:rPr lang="en-US" altLang="zh-CN" sz="3200" b="1" dirty="0">
                <a:solidFill>
                  <a:schemeClr val="tx1"/>
                </a:solidFill>
                <a:latin typeface="Times New Roman" panose="02020603050405020304" pitchFamily="18" charset="0"/>
                <a:ea typeface="黑体" panose="02010609060101010101" pitchFamily="49" charset="-122"/>
                <a:cs typeface="+mn-cs"/>
              </a:rPr>
              <a:t>  </a:t>
            </a:r>
            <a:r>
              <a:rPr lang="zh-CN" altLang="en-US" sz="3200" b="1" dirty="0">
                <a:solidFill>
                  <a:schemeClr val="tx1"/>
                </a:solidFill>
                <a:latin typeface="Times New Roman" panose="02020603050405020304" pitchFamily="18" charset="0"/>
                <a:ea typeface="黑体" panose="02010609060101010101" pitchFamily="49" charset="-122"/>
                <a:cs typeface="+mn-cs"/>
              </a:rPr>
              <a:t>高度集中</a:t>
            </a:r>
            <a:r>
              <a:rPr lang="en-US" altLang="zh-CN" sz="3200" b="1" dirty="0">
                <a:solidFill>
                  <a:schemeClr val="tx1"/>
                </a:solidFill>
                <a:latin typeface="Times New Roman" panose="02020603050405020304" pitchFamily="18" charset="0"/>
                <a:ea typeface="黑体" panose="02010609060101010101" pitchFamily="49" charset="-122"/>
                <a:cs typeface="+mn-cs"/>
              </a:rPr>
              <a:t> </a:t>
            </a:r>
            <a:endParaRPr lang="zh-CN" altLang="en-US" dirty="0">
              <a:solidFill>
                <a:schemeClr val="tx1"/>
              </a:solidFill>
            </a:endParaRPr>
          </a:p>
        </p:txBody>
      </p:sp>
    </p:spTree>
  </p:cSld>
  <p:clrMapOvr>
    <a:masterClrMapping/>
  </p:clrMapOvr>
  <p:transition>
    <p:strips dir="rd"/>
    <p:sndAc>
      <p:stSnd>
        <p:snd r:embed="rId2" name="chimes.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p:cNvSpPr>
          <p:nvPr>
            <p:ph idx="1"/>
          </p:nvPr>
        </p:nvSpPr>
        <p:spPr>
          <a:xfrm>
            <a:off x="539552" y="1988840"/>
            <a:ext cx="8064896" cy="3978718"/>
          </a:xfrm>
          <a:solidFill>
            <a:schemeClr val="bg1"/>
          </a:solidFill>
          <a:ln w="12700">
            <a:solidFill>
              <a:srgbClr val="FF3300"/>
            </a:solidFill>
            <a:miter/>
          </a:ln>
        </p:spPr>
        <p:txBody>
          <a:bodyPr wrap="square" anchor="t">
            <a:spAutoFit/>
          </a:bodyPr>
          <a:lstStyle/>
          <a:p>
            <a:pPr marL="0" indent="0">
              <a:lnSpc>
                <a:spcPct val="105000"/>
              </a:lnSpc>
              <a:spcBef>
                <a:spcPct val="50000"/>
              </a:spcBef>
              <a:buNone/>
            </a:pPr>
            <a:r>
              <a:rPr lang="zh-CN" altLang="en-US" sz="2400" b="1" dirty="0" smtClean="0">
                <a:solidFill>
                  <a:srgbClr val="0000FF"/>
                </a:solidFill>
                <a:latin typeface="Times New Roman" panose="02020603050405020304" pitchFamily="18" charset="0"/>
                <a:ea typeface="黑体" panose="02010609060101010101" pitchFamily="49" charset="-122"/>
              </a:rPr>
              <a:t>        新中国成立初期，借鉴苏联模式对</a:t>
            </a:r>
            <a:r>
              <a:rPr lang="zh-CN" altLang="en-US" sz="2400" b="1" dirty="0">
                <a:solidFill>
                  <a:srgbClr val="0000FF"/>
                </a:solidFill>
                <a:latin typeface="Times New Roman" panose="02020603050405020304" pitchFamily="18" charset="0"/>
                <a:ea typeface="黑体" panose="02010609060101010101" pitchFamily="49" charset="-122"/>
              </a:rPr>
              <a:t>稳定新生国家政权和国民经济恢复有积极作用。</a:t>
            </a:r>
          </a:p>
          <a:p>
            <a:pPr marL="0" indent="0" eaLnBrk="1" hangingPunct="1">
              <a:lnSpc>
                <a:spcPct val="90000"/>
              </a:lnSpc>
            </a:pPr>
            <a:r>
              <a:rPr lang="zh-CN" altLang="en-US" sz="2400" b="1" dirty="0">
                <a:solidFill>
                  <a:srgbClr val="0000FF"/>
                </a:solidFill>
                <a:latin typeface="Times New Roman" panose="02020603050405020304" pitchFamily="18" charset="0"/>
                <a:ea typeface="黑体" panose="02010609060101010101" pitchFamily="49" charset="-122"/>
              </a:rPr>
              <a:t>        苏联政府对“一五”计划提出了许多建议，派遣了</a:t>
            </a:r>
            <a:r>
              <a:rPr lang="en-US" altLang="zh-CN" sz="2400" b="1" dirty="0">
                <a:solidFill>
                  <a:srgbClr val="0000FF"/>
                </a:solidFill>
                <a:latin typeface="Times New Roman" panose="02020603050405020304" pitchFamily="18" charset="0"/>
                <a:ea typeface="黑体" panose="02010609060101010101" pitchFamily="49" charset="-122"/>
              </a:rPr>
              <a:t>3000</a:t>
            </a:r>
            <a:r>
              <a:rPr lang="zh-CN" altLang="en-US" sz="2400" b="1" dirty="0">
                <a:solidFill>
                  <a:srgbClr val="0000FF"/>
                </a:solidFill>
                <a:latin typeface="Times New Roman" panose="02020603050405020304" pitchFamily="18" charset="0"/>
                <a:ea typeface="黑体" panose="02010609060101010101" pitchFamily="49" charset="-122"/>
              </a:rPr>
              <a:t>多位专家，援建了</a:t>
            </a:r>
            <a:r>
              <a:rPr lang="en-US" altLang="zh-CN" sz="2400" b="1" dirty="0">
                <a:solidFill>
                  <a:srgbClr val="0000FF"/>
                </a:solidFill>
                <a:latin typeface="Times New Roman" panose="02020603050405020304" pitchFamily="18" charset="0"/>
                <a:ea typeface="黑体" panose="02010609060101010101" pitchFamily="49" charset="-122"/>
              </a:rPr>
              <a:t>156</a:t>
            </a:r>
            <a:r>
              <a:rPr lang="zh-CN" altLang="en-US" sz="2400" b="1" dirty="0">
                <a:solidFill>
                  <a:srgbClr val="0000FF"/>
                </a:solidFill>
                <a:latin typeface="Times New Roman" panose="02020603050405020304" pitchFamily="18" charset="0"/>
                <a:ea typeface="黑体" panose="02010609060101010101" pitchFamily="49" charset="-122"/>
              </a:rPr>
              <a:t>个重大项目，奠定了我国工业体系和国防工业体系的基础，也使中国确立了计划经济体制的雏形。</a:t>
            </a:r>
          </a:p>
          <a:p>
            <a:pPr marL="0" indent="0">
              <a:lnSpc>
                <a:spcPct val="105000"/>
              </a:lnSpc>
              <a:spcBef>
                <a:spcPct val="50000"/>
              </a:spcBef>
              <a:buNone/>
            </a:pPr>
            <a:r>
              <a:rPr lang="zh-CN" altLang="en-US" sz="2400" b="1" dirty="0">
                <a:solidFill>
                  <a:srgbClr val="0000FF"/>
                </a:solidFill>
                <a:latin typeface="Times New Roman" panose="02020603050405020304" pitchFamily="18" charset="0"/>
                <a:ea typeface="黑体" panose="02010609060101010101" pitchFamily="49" charset="-122"/>
              </a:rPr>
              <a:t>        到</a:t>
            </a:r>
            <a:r>
              <a:rPr lang="en-US" altLang="zh-CN" sz="2400" b="1" dirty="0">
                <a:solidFill>
                  <a:srgbClr val="0000FF"/>
                </a:solidFill>
                <a:latin typeface="Times New Roman" panose="02020603050405020304" pitchFamily="18" charset="0"/>
                <a:ea typeface="黑体" panose="02010609060101010101" pitchFamily="49" charset="-122"/>
              </a:rPr>
              <a:t>1957</a:t>
            </a:r>
            <a:r>
              <a:rPr lang="zh-CN" altLang="en-US" sz="2400" b="1" dirty="0">
                <a:solidFill>
                  <a:srgbClr val="0000FF"/>
                </a:solidFill>
                <a:latin typeface="Times New Roman" panose="02020603050405020304" pitchFamily="18" charset="0"/>
                <a:ea typeface="黑体" panose="02010609060101010101" pitchFamily="49" charset="-122"/>
              </a:rPr>
              <a:t>年，中国的经济建设已经取获得了巨大进展。按照年不变价格计算，</a:t>
            </a:r>
            <a:r>
              <a:rPr lang="en-US" altLang="zh-CN" sz="2400" b="1" dirty="0">
                <a:solidFill>
                  <a:srgbClr val="0000FF"/>
                </a:solidFill>
                <a:latin typeface="Times New Roman" panose="02020603050405020304" pitchFamily="18" charset="0"/>
                <a:ea typeface="黑体" panose="02010609060101010101" pitchFamily="49" charset="-122"/>
              </a:rPr>
              <a:t>1957</a:t>
            </a:r>
            <a:r>
              <a:rPr lang="zh-CN" altLang="en-US" sz="2400" b="1" dirty="0">
                <a:solidFill>
                  <a:srgbClr val="0000FF"/>
                </a:solidFill>
                <a:latin typeface="Times New Roman" panose="02020603050405020304" pitchFamily="18" charset="0"/>
                <a:ea typeface="黑体" panose="02010609060101010101" pitchFamily="49" charset="-122"/>
              </a:rPr>
              <a:t>年，全国工业总产值比</a:t>
            </a:r>
            <a:r>
              <a:rPr lang="en-US" altLang="zh-CN" sz="2400" b="1" dirty="0">
                <a:solidFill>
                  <a:srgbClr val="0000FF"/>
                </a:solidFill>
                <a:latin typeface="Times New Roman" panose="02020603050405020304" pitchFamily="18" charset="0"/>
                <a:ea typeface="黑体" panose="02010609060101010101" pitchFamily="49" charset="-122"/>
              </a:rPr>
              <a:t>1952</a:t>
            </a:r>
            <a:r>
              <a:rPr lang="zh-CN" altLang="en-US" sz="2400" b="1" dirty="0">
                <a:solidFill>
                  <a:srgbClr val="0000FF"/>
                </a:solidFill>
                <a:latin typeface="Times New Roman" panose="02020603050405020304" pitchFamily="18" charset="0"/>
                <a:ea typeface="黑体" panose="02010609060101010101" pitchFamily="49" charset="-122"/>
              </a:rPr>
              <a:t>年增长</a:t>
            </a:r>
            <a:r>
              <a:rPr lang="en-US" altLang="zh-CN" sz="2400" b="1" dirty="0">
                <a:solidFill>
                  <a:srgbClr val="0000FF"/>
                </a:solidFill>
                <a:latin typeface="Times New Roman" panose="02020603050405020304" pitchFamily="18" charset="0"/>
                <a:ea typeface="黑体" panose="02010609060101010101" pitchFamily="49" charset="-122"/>
              </a:rPr>
              <a:t>128.6%</a:t>
            </a:r>
            <a:r>
              <a:rPr lang="zh-CN" altLang="en-US" sz="2400" b="1" dirty="0">
                <a:solidFill>
                  <a:srgbClr val="0000FF"/>
                </a:solidFill>
                <a:latin typeface="Times New Roman" panose="02020603050405020304" pitchFamily="18" charset="0"/>
                <a:ea typeface="黑体" panose="02010609060101010101" pitchFamily="49" charset="-122"/>
              </a:rPr>
              <a:t>，农业总产值比</a:t>
            </a:r>
            <a:r>
              <a:rPr lang="en-US" altLang="zh-CN" sz="2400" b="1" dirty="0">
                <a:solidFill>
                  <a:srgbClr val="0000FF"/>
                </a:solidFill>
                <a:latin typeface="Times New Roman" panose="02020603050405020304" pitchFamily="18" charset="0"/>
                <a:ea typeface="黑体" panose="02010609060101010101" pitchFamily="49" charset="-122"/>
              </a:rPr>
              <a:t>1952</a:t>
            </a:r>
            <a:r>
              <a:rPr lang="zh-CN" altLang="en-US" sz="2400" b="1" dirty="0">
                <a:solidFill>
                  <a:srgbClr val="0000FF"/>
                </a:solidFill>
                <a:latin typeface="Times New Roman" panose="02020603050405020304" pitchFamily="18" charset="0"/>
                <a:ea typeface="黑体" panose="02010609060101010101" pitchFamily="49" charset="-122"/>
              </a:rPr>
              <a:t>年增长</a:t>
            </a:r>
            <a:r>
              <a:rPr lang="en-US" altLang="zh-CN" sz="2400" b="1" dirty="0">
                <a:solidFill>
                  <a:srgbClr val="0000FF"/>
                </a:solidFill>
                <a:latin typeface="Times New Roman" panose="02020603050405020304" pitchFamily="18" charset="0"/>
                <a:ea typeface="黑体" panose="02010609060101010101" pitchFamily="49" charset="-122"/>
              </a:rPr>
              <a:t>25%</a:t>
            </a:r>
            <a:r>
              <a:rPr lang="zh-CN" altLang="en-US" sz="2400" b="1" dirty="0">
                <a:solidFill>
                  <a:srgbClr val="0000FF"/>
                </a:solidFill>
                <a:latin typeface="Times New Roman" panose="02020603050405020304" pitchFamily="18" charset="0"/>
                <a:ea typeface="黑体" panose="02010609060101010101" pitchFamily="49" charset="-122"/>
              </a:rPr>
              <a:t>，高等院校由</a:t>
            </a:r>
            <a:r>
              <a:rPr lang="en-US" altLang="zh-CN" sz="2400" b="1" dirty="0">
                <a:solidFill>
                  <a:srgbClr val="0000FF"/>
                </a:solidFill>
                <a:latin typeface="Times New Roman" panose="02020603050405020304" pitchFamily="18" charset="0"/>
                <a:ea typeface="黑体" panose="02010609060101010101" pitchFamily="49" charset="-122"/>
              </a:rPr>
              <a:t>1952</a:t>
            </a:r>
            <a:r>
              <a:rPr lang="zh-CN" altLang="en-US" sz="2400" b="1" dirty="0">
                <a:solidFill>
                  <a:srgbClr val="0000FF"/>
                </a:solidFill>
                <a:latin typeface="Times New Roman" panose="02020603050405020304" pitchFamily="18" charset="0"/>
                <a:ea typeface="黑体" panose="02010609060101010101" pitchFamily="49" charset="-122"/>
              </a:rPr>
              <a:t>年的</a:t>
            </a:r>
            <a:r>
              <a:rPr lang="en-US" altLang="zh-CN" sz="2400" b="1" dirty="0">
                <a:solidFill>
                  <a:srgbClr val="0000FF"/>
                </a:solidFill>
                <a:latin typeface="Times New Roman" panose="02020603050405020304" pitchFamily="18" charset="0"/>
                <a:ea typeface="黑体" panose="02010609060101010101" pitchFamily="49" charset="-122"/>
              </a:rPr>
              <a:t>181</a:t>
            </a:r>
            <a:r>
              <a:rPr lang="zh-CN" altLang="en-US" sz="2400" b="1" dirty="0">
                <a:solidFill>
                  <a:srgbClr val="0000FF"/>
                </a:solidFill>
                <a:latin typeface="Times New Roman" panose="02020603050405020304" pitchFamily="18" charset="0"/>
                <a:ea typeface="黑体" panose="02010609060101010101" pitchFamily="49" charset="-122"/>
              </a:rPr>
              <a:t>所增加到</a:t>
            </a:r>
            <a:r>
              <a:rPr lang="en-US" altLang="zh-CN" sz="2400" b="1" dirty="0">
                <a:solidFill>
                  <a:srgbClr val="0000FF"/>
                </a:solidFill>
                <a:latin typeface="Times New Roman" panose="02020603050405020304" pitchFamily="18" charset="0"/>
                <a:ea typeface="黑体" panose="02010609060101010101" pitchFamily="49" charset="-122"/>
              </a:rPr>
              <a:t>229</a:t>
            </a:r>
            <a:r>
              <a:rPr lang="zh-CN" altLang="en-US" sz="2400" b="1" dirty="0">
                <a:solidFill>
                  <a:srgbClr val="0000FF"/>
                </a:solidFill>
                <a:latin typeface="Times New Roman" panose="02020603050405020304" pitchFamily="18" charset="0"/>
                <a:ea typeface="黑体" panose="02010609060101010101" pitchFamily="49" charset="-122"/>
              </a:rPr>
              <a:t>所。          </a:t>
            </a: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971600" y="692696"/>
            <a:ext cx="5200650" cy="877887"/>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ransition>
    <p:strips dir="rd"/>
    <p:sndAc>
      <p:stSnd>
        <p:snd r:embed="rId2" name="chimes.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idx="1"/>
          </p:nvPr>
        </p:nvSpPr>
        <p:spPr>
          <a:xfrm>
            <a:off x="827584" y="908720"/>
            <a:ext cx="7920880" cy="1126462"/>
          </a:xfrm>
          <a:solidFill>
            <a:schemeClr val="bg1"/>
          </a:solidFill>
          <a:ln w="12700">
            <a:solidFill>
              <a:srgbClr val="FF0000"/>
            </a:solidFill>
            <a:miter/>
          </a:ln>
        </p:spPr>
        <p:txBody>
          <a:bodyPr wrap="square">
            <a:spAutoFit/>
            <a:scene3d>
              <a:camera prst="orthographicFront"/>
              <a:lightRig rig="threePt" dir="t"/>
            </a:scene3d>
          </a:bodyPr>
          <a:lstStyle/>
          <a:p>
            <a:pPr marL="0" indent="0" fontAlgn="base">
              <a:lnSpc>
                <a:spcPct val="105000"/>
              </a:lnSpc>
              <a:spcBef>
                <a:spcPct val="50000"/>
              </a:spcBef>
              <a:buNone/>
            </a:pPr>
            <a:r>
              <a:rPr lang="zh-CN" altLang="en-US" b="1" noProof="1">
                <a:solidFill>
                  <a:srgbClr val="FF0000"/>
                </a:solidFill>
                <a:latin typeface="Times New Roman" panose="02020603050405020304" pitchFamily="18" charset="0"/>
                <a:ea typeface="黑体" panose="02010609060101010101" pitchFamily="49" charset="-122"/>
              </a:rPr>
              <a:t>（二</a:t>
            </a:r>
            <a:r>
              <a:rPr lang="zh-CN" altLang="en-US" b="1" noProof="1" smtClean="0">
                <a:solidFill>
                  <a:srgbClr val="FF0000"/>
                </a:solidFill>
                <a:latin typeface="Times New Roman" panose="02020603050405020304" pitchFamily="18" charset="0"/>
                <a:ea typeface="黑体" panose="02010609060101010101" pitchFamily="49" charset="-122"/>
              </a:rPr>
              <a:t>）以苏为鉴，独立自主地探索适合中国情况的</a:t>
            </a:r>
            <a:r>
              <a:rPr lang="zh-CN" altLang="en-US" b="1" noProof="1">
                <a:solidFill>
                  <a:srgbClr val="FF0000"/>
                </a:solidFill>
                <a:latin typeface="Times New Roman" panose="02020603050405020304" pitchFamily="18" charset="0"/>
                <a:ea typeface="黑体" panose="02010609060101010101" pitchFamily="49" charset="-122"/>
              </a:rPr>
              <a:t>社会主义建设</a:t>
            </a:r>
            <a:r>
              <a:rPr lang="zh-CN" altLang="en-US" b="1" noProof="1" smtClean="0">
                <a:solidFill>
                  <a:srgbClr val="FF0000"/>
                </a:solidFill>
                <a:latin typeface="Times New Roman" panose="02020603050405020304" pitchFamily="18" charset="0"/>
                <a:ea typeface="黑体" panose="02010609060101010101" pitchFamily="49" charset="-122"/>
              </a:rPr>
              <a:t>道路思想的 </a:t>
            </a:r>
            <a:r>
              <a:rPr lang="zh-CN" altLang="en-US" b="1" noProof="1">
                <a:solidFill>
                  <a:srgbClr val="FF0000"/>
                </a:solidFill>
                <a:latin typeface="Times New Roman" panose="02020603050405020304" pitchFamily="18" charset="0"/>
                <a:ea typeface="黑体" panose="02010609060101010101" pitchFamily="49" charset="-122"/>
              </a:rPr>
              <a:t>提出</a:t>
            </a:r>
          </a:p>
        </p:txBody>
      </p:sp>
      <p:sp>
        <p:nvSpPr>
          <p:cNvPr id="3" name="矩形 2"/>
          <p:cNvSpPr/>
          <p:nvPr/>
        </p:nvSpPr>
        <p:spPr>
          <a:xfrm>
            <a:off x="611560" y="2492896"/>
            <a:ext cx="6981398" cy="1372683"/>
          </a:xfrm>
          <a:prstGeom prst="rect">
            <a:avLst/>
          </a:prstGeom>
          <a:solidFill>
            <a:schemeClr val="bg1"/>
          </a:solidFill>
          <a:ln>
            <a:solidFill>
              <a:srgbClr val="FF0000"/>
            </a:solidFill>
          </a:ln>
        </p:spPr>
        <p:txBody>
          <a:bodyPr wrap="none">
            <a:spAutoFit/>
          </a:bodyPr>
          <a:lstStyle/>
          <a:p>
            <a:pPr>
              <a:lnSpc>
                <a:spcPct val="105000"/>
              </a:lnSpc>
              <a:spcBef>
                <a:spcPct val="50000"/>
              </a:spcBef>
            </a:pPr>
            <a:r>
              <a:rPr lang="en-US" altLang="zh-CN" sz="3200" b="1" dirty="0" smtClean="0">
                <a:solidFill>
                  <a:schemeClr val="tx1"/>
                </a:solidFill>
                <a:latin typeface="Times New Roman" panose="02020603050405020304" pitchFamily="18" charset="0"/>
                <a:ea typeface="黑体" panose="02010609060101010101" pitchFamily="49" charset="-122"/>
              </a:rPr>
              <a:t>1</a:t>
            </a:r>
            <a:r>
              <a:rPr lang="zh-CN" altLang="en-US" sz="3200" b="1" dirty="0" smtClean="0">
                <a:solidFill>
                  <a:schemeClr val="tx1"/>
                </a:solidFill>
                <a:latin typeface="Times New Roman" panose="02020603050405020304" pitchFamily="18" charset="0"/>
                <a:ea typeface="黑体" panose="02010609060101010101" pitchFamily="49" charset="-122"/>
              </a:rPr>
              <a:t>、提出探索适合中国情况的建设道路</a:t>
            </a:r>
            <a:endParaRPr lang="en-US" altLang="zh-CN" sz="3200" b="1" dirty="0" smtClean="0">
              <a:solidFill>
                <a:schemeClr val="tx1"/>
              </a:solidFill>
              <a:latin typeface="Times New Roman" panose="02020603050405020304" pitchFamily="18" charset="0"/>
              <a:ea typeface="黑体" panose="02010609060101010101" pitchFamily="49" charset="-122"/>
            </a:endParaRPr>
          </a:p>
          <a:p>
            <a:pPr>
              <a:lnSpc>
                <a:spcPct val="105000"/>
              </a:lnSpc>
              <a:spcBef>
                <a:spcPct val="50000"/>
              </a:spcBef>
            </a:pPr>
            <a:r>
              <a:rPr lang="zh-CN" altLang="en-US" sz="3200" b="1" dirty="0" smtClean="0">
                <a:solidFill>
                  <a:schemeClr val="tx1"/>
                </a:solidFill>
                <a:latin typeface="Times New Roman" panose="02020603050405020304" pitchFamily="18" charset="0"/>
                <a:ea typeface="黑体" panose="02010609060101010101" pitchFamily="49" charset="-122"/>
              </a:rPr>
              <a:t>的原因</a:t>
            </a:r>
            <a:endParaRPr lang="zh-CN" altLang="en-US" sz="3200" b="1" dirty="0">
              <a:solidFill>
                <a:schemeClr val="tx1"/>
              </a:solidFill>
              <a:latin typeface="Times New Roman" panose="02020603050405020304" pitchFamily="18" charset="0"/>
              <a:ea typeface="黑体" panose="02010609060101010101" pitchFamily="49" charset="-122"/>
            </a:endParaRPr>
          </a:p>
        </p:txBody>
      </p:sp>
    </p:spTree>
  </p:cSld>
  <p:clrMapOvr>
    <a:masterClrMapping/>
  </p:clrMapOvr>
  <p:transition>
    <p:strips dir="rd"/>
    <p:sndAc>
      <p:stSnd>
        <p:snd r:embed="rId2" name="chimes.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idx="1"/>
          </p:nvPr>
        </p:nvSpPr>
        <p:spPr>
          <a:xfrm>
            <a:off x="1187450" y="765175"/>
            <a:ext cx="6781800" cy="5369162"/>
          </a:xfrm>
          <a:solidFill>
            <a:schemeClr val="bg1"/>
          </a:solidFill>
          <a:ln w="12700">
            <a:solidFill>
              <a:srgbClr val="FF3300"/>
            </a:solidFill>
            <a:miter/>
          </a:ln>
        </p:spPr>
        <p:txBody>
          <a:bodyPr anchor="t">
            <a:spAutoFit/>
          </a:bodyPr>
          <a:lstStyle/>
          <a:p>
            <a:pPr marL="0" indent="0">
              <a:lnSpc>
                <a:spcPct val="105000"/>
              </a:lnSpc>
              <a:spcBef>
                <a:spcPct val="50000"/>
              </a:spcBef>
              <a:buNone/>
            </a:pPr>
            <a:r>
              <a:rPr lang="zh-CN" altLang="en-US" sz="2400" b="1" dirty="0">
                <a:solidFill>
                  <a:srgbClr val="0000FF"/>
                </a:solidFill>
                <a:latin typeface="Times New Roman" panose="02020603050405020304" pitchFamily="18" charset="0"/>
                <a:ea typeface="黑体" panose="02010609060101010101" pitchFamily="49" charset="-122"/>
              </a:rPr>
              <a:t/>
            </a:r>
            <a:br>
              <a:rPr lang="zh-CN" altLang="en-US" sz="2400" b="1" dirty="0">
                <a:solidFill>
                  <a:srgbClr val="0000FF"/>
                </a:solidFill>
                <a:latin typeface="Times New Roman" panose="02020603050405020304" pitchFamily="18" charset="0"/>
                <a:ea typeface="黑体" panose="02010609060101010101" pitchFamily="49" charset="-122"/>
              </a:rPr>
            </a:br>
            <a:r>
              <a:rPr lang="zh-CN" altLang="en-US" sz="2400" b="1" dirty="0">
                <a:solidFill>
                  <a:srgbClr val="FF0000"/>
                </a:solidFill>
                <a:latin typeface="Times New Roman" panose="02020603050405020304" pitchFamily="18" charset="0"/>
                <a:ea typeface="黑体" panose="02010609060101010101" pitchFamily="49" charset="-122"/>
              </a:rPr>
              <a:t>        </a:t>
            </a:r>
            <a:r>
              <a:rPr lang="zh-CN" altLang="en-US" sz="2800" b="1" dirty="0">
                <a:solidFill>
                  <a:srgbClr val="FF0000"/>
                </a:solidFill>
                <a:latin typeface="Times New Roman" panose="02020603050405020304" pitchFamily="18" charset="0"/>
                <a:ea typeface="黑体" panose="02010609060101010101" pitchFamily="49" charset="-122"/>
              </a:rPr>
              <a:t>主观上</a:t>
            </a:r>
            <a:r>
              <a:rPr lang="zh-CN" altLang="en-US" sz="2400" b="1" dirty="0">
                <a:solidFill>
                  <a:srgbClr val="0000FF"/>
                </a:solidFill>
                <a:latin typeface="Times New Roman" panose="02020603050405020304" pitchFamily="18" charset="0"/>
                <a:ea typeface="黑体" panose="02010609060101010101" pitchFamily="49" charset="-122"/>
              </a:rPr>
              <a:t>有探索发展</a:t>
            </a:r>
          </a:p>
          <a:p>
            <a:pPr marL="0" indent="0">
              <a:lnSpc>
                <a:spcPct val="105000"/>
              </a:lnSpc>
              <a:spcBef>
                <a:spcPct val="50000"/>
              </a:spcBef>
              <a:buNone/>
            </a:pPr>
            <a:r>
              <a:rPr lang="zh-CN" altLang="en-US" sz="2400" b="1" dirty="0">
                <a:solidFill>
                  <a:srgbClr val="0000FF"/>
                </a:solidFill>
                <a:latin typeface="Times New Roman" panose="02020603050405020304" pitchFamily="18" charset="0"/>
                <a:ea typeface="黑体" panose="02010609060101010101" pitchFamily="49" charset="-122"/>
              </a:rPr>
              <a:t>道路的动机</a:t>
            </a:r>
          </a:p>
          <a:p>
            <a:pPr marL="0" indent="0">
              <a:lnSpc>
                <a:spcPct val="105000"/>
              </a:lnSpc>
              <a:spcBef>
                <a:spcPct val="50000"/>
              </a:spcBef>
              <a:buNone/>
            </a:pPr>
            <a:r>
              <a:rPr lang="zh-CN" altLang="en-US" sz="2400" b="1" dirty="0">
                <a:solidFill>
                  <a:srgbClr val="0000FF"/>
                </a:solidFill>
                <a:latin typeface="Times New Roman" panose="02020603050405020304" pitchFamily="18" charset="0"/>
                <a:ea typeface="黑体" panose="02010609060101010101" pitchFamily="49" charset="-122"/>
              </a:rPr>
              <a:t>        </a:t>
            </a:r>
            <a:r>
              <a:rPr lang="zh-CN" altLang="en-US" sz="2800" b="1" dirty="0">
                <a:solidFill>
                  <a:srgbClr val="FF0000"/>
                </a:solidFill>
                <a:latin typeface="Times New Roman" panose="02020603050405020304" pitchFamily="18" charset="0"/>
                <a:ea typeface="黑体" panose="02010609060101010101" pitchFamily="49" charset="-122"/>
              </a:rPr>
              <a:t>客观上</a:t>
            </a:r>
            <a:r>
              <a:rPr lang="zh-CN" altLang="en-US" sz="2400" b="1" dirty="0">
                <a:solidFill>
                  <a:srgbClr val="0000FF"/>
                </a:solidFill>
                <a:latin typeface="Times New Roman" panose="02020603050405020304" pitchFamily="18" charset="0"/>
                <a:ea typeface="黑体" panose="02010609060101010101" pitchFamily="49" charset="-122"/>
              </a:rPr>
              <a:t>我国三大改造</a:t>
            </a:r>
          </a:p>
          <a:p>
            <a:pPr marL="0" indent="0">
              <a:lnSpc>
                <a:spcPct val="105000"/>
              </a:lnSpc>
              <a:spcBef>
                <a:spcPct val="50000"/>
              </a:spcBef>
              <a:buNone/>
            </a:pPr>
            <a:r>
              <a:rPr lang="zh-CN" altLang="en-US" sz="2400" b="1" dirty="0">
                <a:solidFill>
                  <a:srgbClr val="0000FF"/>
                </a:solidFill>
                <a:latin typeface="Times New Roman" panose="02020603050405020304" pitchFamily="18" charset="0"/>
                <a:ea typeface="黑体" panose="02010609060101010101" pitchFamily="49" charset="-122"/>
              </a:rPr>
              <a:t>完成，社会主义建设</a:t>
            </a:r>
          </a:p>
          <a:p>
            <a:pPr marL="0" indent="0">
              <a:lnSpc>
                <a:spcPct val="105000"/>
              </a:lnSpc>
              <a:spcBef>
                <a:spcPct val="50000"/>
              </a:spcBef>
              <a:buNone/>
            </a:pPr>
            <a:r>
              <a:rPr lang="zh-CN" altLang="en-US" sz="2400" b="1" dirty="0">
                <a:solidFill>
                  <a:srgbClr val="0000FF"/>
                </a:solidFill>
                <a:latin typeface="Times New Roman" panose="02020603050405020304" pitchFamily="18" charset="0"/>
                <a:ea typeface="黑体" panose="02010609060101010101" pitchFamily="49" charset="-122"/>
              </a:rPr>
              <a:t>取得较大成就。</a:t>
            </a:r>
          </a:p>
          <a:p>
            <a:pPr marL="0" indent="0">
              <a:lnSpc>
                <a:spcPct val="105000"/>
              </a:lnSpc>
              <a:spcBef>
                <a:spcPct val="50000"/>
              </a:spcBef>
              <a:buNone/>
            </a:pPr>
            <a:r>
              <a:rPr lang="en-US" altLang="zh-CN" sz="2400" b="1" dirty="0">
                <a:solidFill>
                  <a:srgbClr val="0000FF"/>
                </a:solidFill>
                <a:latin typeface="Times New Roman" panose="02020603050405020304" pitchFamily="18" charset="0"/>
                <a:ea typeface="黑体" panose="02010609060101010101" pitchFamily="49" charset="-122"/>
              </a:rPr>
              <a:t>1956</a:t>
            </a:r>
            <a:r>
              <a:rPr lang="zh-CN" altLang="en-US" sz="2400" b="1" dirty="0">
                <a:solidFill>
                  <a:srgbClr val="0000FF"/>
                </a:solidFill>
                <a:latin typeface="Times New Roman" panose="02020603050405020304" pitchFamily="18" charset="0"/>
                <a:ea typeface="黑体" panose="02010609060101010101" pitchFamily="49" charset="-122"/>
              </a:rPr>
              <a:t>年国际国内</a:t>
            </a:r>
          </a:p>
          <a:p>
            <a:pPr marL="0" indent="0">
              <a:lnSpc>
                <a:spcPct val="105000"/>
              </a:lnSpc>
              <a:spcBef>
                <a:spcPct val="50000"/>
              </a:spcBef>
              <a:buNone/>
            </a:pPr>
            <a:r>
              <a:rPr lang="zh-CN" altLang="en-US" sz="2400" b="1" dirty="0">
                <a:solidFill>
                  <a:srgbClr val="0000FF"/>
                </a:solidFill>
                <a:latin typeface="Times New Roman" panose="02020603050405020304" pitchFamily="18" charset="0"/>
                <a:ea typeface="黑体" panose="02010609060101010101" pitchFamily="49" charset="-122"/>
              </a:rPr>
              <a:t>发生了许多问题，社会上</a:t>
            </a:r>
          </a:p>
          <a:p>
            <a:pPr marL="0" indent="0">
              <a:lnSpc>
                <a:spcPct val="105000"/>
              </a:lnSpc>
              <a:spcBef>
                <a:spcPct val="50000"/>
              </a:spcBef>
              <a:buNone/>
            </a:pPr>
            <a:r>
              <a:rPr lang="zh-CN" altLang="en-US" sz="2400" b="1" dirty="0">
                <a:solidFill>
                  <a:srgbClr val="0000FF"/>
                </a:solidFill>
                <a:latin typeface="Times New Roman" panose="02020603050405020304" pitchFamily="18" charset="0"/>
                <a:ea typeface="黑体" panose="02010609060101010101" pitchFamily="49" charset="-122"/>
              </a:rPr>
              <a:t>出现了一些新的矛盾</a:t>
            </a:r>
          </a:p>
          <a:p>
            <a:pPr marL="0" indent="0">
              <a:lnSpc>
                <a:spcPct val="105000"/>
              </a:lnSpc>
              <a:spcBef>
                <a:spcPct val="50000"/>
              </a:spcBef>
              <a:buNone/>
            </a:pPr>
            <a:r>
              <a:rPr lang="zh-CN" altLang="en-US" sz="1400" dirty="0">
                <a:solidFill>
                  <a:srgbClr val="0000FF"/>
                </a:solidFill>
                <a:latin typeface="Times New Roman" panose="02020603050405020304" pitchFamily="18" charset="0"/>
                <a:ea typeface="华文新魏" panose="02010800040101010101" pitchFamily="2" charset="-122"/>
              </a:rPr>
              <a:t>          </a:t>
            </a:r>
          </a:p>
        </p:txBody>
      </p:sp>
      <p:pic>
        <p:nvPicPr>
          <p:cNvPr id="16386" name="Picture 4" descr="60199028807"/>
          <p:cNvPicPr>
            <a:picLocks noChangeAspect="1"/>
          </p:cNvPicPr>
          <p:nvPr/>
        </p:nvPicPr>
        <p:blipFill>
          <a:blip r:embed="rId3" cstate="print"/>
          <a:stretch>
            <a:fillRect/>
          </a:stretch>
        </p:blipFill>
        <p:spPr>
          <a:xfrm>
            <a:off x="4678363" y="1484313"/>
            <a:ext cx="4465637" cy="4572000"/>
          </a:xfrm>
          <a:prstGeom prst="rect">
            <a:avLst/>
          </a:prstGeom>
          <a:noFill/>
          <a:ln w="9525">
            <a:noFill/>
          </a:ln>
        </p:spPr>
      </p:pic>
    </p:spTree>
  </p:cSld>
  <p:clrMapOvr>
    <a:masterClrMapping/>
  </p:clrMapOvr>
  <p:transition>
    <p:strips dir="rd"/>
    <p:sndAc>
      <p:stSnd>
        <p:snd r:embed="rId2" name="chimes.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p:cNvSpPr>
          <p:nvPr>
            <p:ph idx="1"/>
          </p:nvPr>
        </p:nvSpPr>
        <p:spPr>
          <a:xfrm>
            <a:off x="179512" y="1628800"/>
            <a:ext cx="3816350" cy="3893886"/>
          </a:xfrm>
          <a:solidFill>
            <a:schemeClr val="bg1"/>
          </a:solidFill>
          <a:ln w="12700">
            <a:solidFill>
              <a:srgbClr val="FF3300"/>
            </a:solidFill>
            <a:miter/>
          </a:ln>
        </p:spPr>
        <p:txBody>
          <a:bodyPr anchor="t">
            <a:spAutoFit/>
          </a:bodyPr>
          <a:lstStyle/>
          <a:p>
            <a:pPr marL="0" indent="0">
              <a:lnSpc>
                <a:spcPct val="105000"/>
              </a:lnSpc>
              <a:spcBef>
                <a:spcPct val="50000"/>
              </a:spcBef>
              <a:buNone/>
            </a:pPr>
            <a:r>
              <a:rPr lang="en-US" altLang="zh-CN" sz="2800" b="1" dirty="0">
                <a:solidFill>
                  <a:srgbClr val="0000FF"/>
                </a:solidFill>
                <a:latin typeface="Times New Roman" panose="02020603050405020304" pitchFamily="18" charset="0"/>
                <a:ea typeface="黑体" panose="02010609060101010101" pitchFamily="49" charset="-122"/>
              </a:rPr>
              <a:t>1956</a:t>
            </a:r>
            <a:r>
              <a:rPr lang="zh-CN" altLang="en-US" sz="2800" b="1" dirty="0">
                <a:solidFill>
                  <a:srgbClr val="0000FF"/>
                </a:solidFill>
                <a:latin typeface="Times New Roman" panose="02020603050405020304" pitchFamily="18" charset="0"/>
                <a:ea typeface="黑体" panose="02010609060101010101" pitchFamily="49" charset="-122"/>
              </a:rPr>
              <a:t>年</a:t>
            </a:r>
            <a:r>
              <a:rPr lang="en-US" altLang="zh-CN" sz="2800" b="1" dirty="0">
                <a:solidFill>
                  <a:srgbClr val="0000FF"/>
                </a:solidFill>
                <a:latin typeface="Times New Roman" panose="02020603050405020304" pitchFamily="18" charset="0"/>
                <a:ea typeface="黑体" panose="02010609060101010101" pitchFamily="49" charset="-122"/>
              </a:rPr>
              <a:t>2</a:t>
            </a:r>
            <a:r>
              <a:rPr lang="zh-CN" altLang="en-US" sz="2800" b="1" dirty="0">
                <a:solidFill>
                  <a:srgbClr val="0000FF"/>
                </a:solidFill>
                <a:latin typeface="Times New Roman" panose="02020603050405020304" pitchFamily="18" charset="0"/>
                <a:ea typeface="黑体" panose="02010609060101010101" pitchFamily="49" charset="-122"/>
              </a:rPr>
              <a:t>月苏共二十大 ，赫鲁晓夫作了</a:t>
            </a:r>
            <a:r>
              <a:rPr lang="en-US" altLang="zh-CN" sz="2800" b="1" dirty="0">
                <a:solidFill>
                  <a:srgbClr val="0000FF"/>
                </a:solidFill>
                <a:latin typeface="Times New Roman" panose="02020603050405020304" pitchFamily="18" charset="0"/>
                <a:ea typeface="黑体" panose="02010609060101010101" pitchFamily="49" charset="-122"/>
              </a:rPr>
              <a:t>《</a:t>
            </a:r>
            <a:r>
              <a:rPr lang="zh-CN" altLang="en-US" sz="2800" b="1" dirty="0">
                <a:solidFill>
                  <a:srgbClr val="0000FF"/>
                </a:solidFill>
                <a:latin typeface="Times New Roman" panose="02020603050405020304" pitchFamily="18" charset="0"/>
                <a:ea typeface="黑体" panose="02010609060101010101" pitchFamily="49" charset="-122"/>
              </a:rPr>
              <a:t>关于个人崇拜及其后果</a:t>
            </a:r>
            <a:r>
              <a:rPr lang="en-US" altLang="zh-CN" sz="2800" b="1" dirty="0">
                <a:solidFill>
                  <a:srgbClr val="0000FF"/>
                </a:solidFill>
                <a:latin typeface="Times New Roman" panose="02020603050405020304" pitchFamily="18" charset="0"/>
                <a:ea typeface="黑体" panose="02010609060101010101" pitchFamily="49" charset="-122"/>
              </a:rPr>
              <a:t>》</a:t>
            </a:r>
            <a:r>
              <a:rPr lang="zh-CN" altLang="en-US" sz="2800" b="1" dirty="0">
                <a:solidFill>
                  <a:srgbClr val="0000FF"/>
                </a:solidFill>
                <a:latin typeface="Times New Roman" panose="02020603050405020304" pitchFamily="18" charset="0"/>
                <a:ea typeface="黑体" panose="02010609060101010101" pitchFamily="49" charset="-122"/>
              </a:rPr>
              <a:t>的报告，全盘否定了斯大林，在国内外产生巨大的反响 。</a:t>
            </a:r>
          </a:p>
          <a:p>
            <a:pPr marL="0" indent="0">
              <a:lnSpc>
                <a:spcPct val="105000"/>
              </a:lnSpc>
              <a:spcBef>
                <a:spcPct val="50000"/>
              </a:spcBef>
              <a:buNone/>
            </a:pPr>
            <a:r>
              <a:rPr lang="en-US" altLang="zh-CN" sz="2800" b="1" dirty="0">
                <a:solidFill>
                  <a:srgbClr val="0000FF"/>
                </a:solidFill>
                <a:latin typeface="Times New Roman" panose="02020603050405020304" pitchFamily="18" charset="0"/>
                <a:ea typeface="黑体" panose="02010609060101010101" pitchFamily="49" charset="-122"/>
              </a:rPr>
              <a:t>1956</a:t>
            </a:r>
            <a:r>
              <a:rPr lang="zh-CN" altLang="en-US" sz="2800" b="1" dirty="0">
                <a:solidFill>
                  <a:srgbClr val="0000FF"/>
                </a:solidFill>
                <a:latin typeface="Times New Roman" panose="02020603050405020304" pitchFamily="18" charset="0"/>
                <a:ea typeface="黑体" panose="02010609060101010101" pitchFamily="49" charset="-122"/>
              </a:rPr>
              <a:t>年</a:t>
            </a:r>
            <a:r>
              <a:rPr lang="en-US" altLang="zh-CN" sz="2800" b="1" dirty="0">
                <a:solidFill>
                  <a:srgbClr val="0000FF"/>
                </a:solidFill>
                <a:latin typeface="Times New Roman" panose="02020603050405020304" pitchFamily="18" charset="0"/>
                <a:ea typeface="黑体" panose="02010609060101010101" pitchFamily="49" charset="-122"/>
              </a:rPr>
              <a:t>6</a:t>
            </a:r>
            <a:r>
              <a:rPr lang="zh-CN" altLang="en-US" sz="2800" b="1" dirty="0">
                <a:solidFill>
                  <a:srgbClr val="0000FF"/>
                </a:solidFill>
                <a:latin typeface="Times New Roman" panose="02020603050405020304" pitchFamily="18" charset="0"/>
                <a:ea typeface="黑体" panose="02010609060101010101" pitchFamily="49" charset="-122"/>
              </a:rPr>
              <a:t>月，波兰发生“</a:t>
            </a:r>
            <a:r>
              <a:rPr lang="zh-CN" altLang="en-US" sz="2800" b="1" dirty="0">
                <a:solidFill>
                  <a:srgbClr val="0000FF"/>
                </a:solidFill>
                <a:latin typeface="Times New Roman" panose="02020603050405020304" pitchFamily="18" charset="0"/>
                <a:ea typeface="黑体" panose="02010609060101010101" pitchFamily="49" charset="-122"/>
                <a:hlinkClick r:id="rId3"/>
              </a:rPr>
              <a:t>波兹南事件</a:t>
            </a:r>
            <a:r>
              <a:rPr lang="zh-CN" altLang="en-US" sz="2800" b="1" dirty="0">
                <a:solidFill>
                  <a:srgbClr val="0000FF"/>
                </a:solidFill>
                <a:latin typeface="Times New Roman" panose="02020603050405020304" pitchFamily="18" charset="0"/>
                <a:ea typeface="黑体" panose="02010609060101010101" pitchFamily="49" charset="-122"/>
              </a:rPr>
              <a:t>”</a:t>
            </a:r>
            <a:r>
              <a:rPr lang="zh-CN" altLang="en-US" sz="2800" b="1" dirty="0" smtClean="0">
                <a:solidFill>
                  <a:srgbClr val="0000FF"/>
                </a:solidFill>
                <a:latin typeface="Times New Roman" panose="02020603050405020304" pitchFamily="18" charset="0"/>
                <a:ea typeface="黑体" panose="02010609060101010101" pitchFamily="49" charset="-122"/>
              </a:rPr>
              <a:t>。</a:t>
            </a:r>
            <a:endParaRPr lang="zh-CN" altLang="en-US" sz="2800" b="1" dirty="0">
              <a:solidFill>
                <a:srgbClr val="0000FF"/>
              </a:solidFill>
              <a:latin typeface="Times New Roman" panose="02020603050405020304" pitchFamily="18" charset="0"/>
              <a:ea typeface="黑体" panose="02010609060101010101" pitchFamily="49" charset="-122"/>
            </a:endParaRPr>
          </a:p>
        </p:txBody>
      </p:sp>
      <p:pic>
        <p:nvPicPr>
          <p:cNvPr id="17410" name="Picture 3" descr="b58f8c5494eef01f891ecf63e0fe9925bc317d0a"/>
          <p:cNvPicPr>
            <a:picLocks noChangeAspect="1"/>
          </p:cNvPicPr>
          <p:nvPr/>
        </p:nvPicPr>
        <p:blipFill>
          <a:blip r:embed="rId4" cstate="print"/>
          <a:stretch>
            <a:fillRect/>
          </a:stretch>
        </p:blipFill>
        <p:spPr>
          <a:xfrm>
            <a:off x="4284663" y="115888"/>
            <a:ext cx="4535487" cy="3025775"/>
          </a:xfrm>
          <a:prstGeom prst="rect">
            <a:avLst/>
          </a:prstGeom>
          <a:noFill/>
          <a:ln w="9525">
            <a:noFill/>
          </a:ln>
        </p:spPr>
      </p:pic>
      <p:pic>
        <p:nvPicPr>
          <p:cNvPr id="17411" name="Picture 4" descr="20080523174144260"/>
          <p:cNvPicPr>
            <a:picLocks noChangeAspect="1"/>
          </p:cNvPicPr>
          <p:nvPr/>
        </p:nvPicPr>
        <p:blipFill>
          <a:blip r:embed="rId5" cstate="print"/>
          <a:stretch>
            <a:fillRect/>
          </a:stretch>
        </p:blipFill>
        <p:spPr>
          <a:xfrm>
            <a:off x="4067175" y="3213100"/>
            <a:ext cx="4810125" cy="3219450"/>
          </a:xfrm>
          <a:prstGeom prst="rect">
            <a:avLst/>
          </a:prstGeom>
          <a:noFill/>
          <a:ln w="9525">
            <a:noFill/>
          </a:ln>
        </p:spPr>
      </p:pic>
    </p:spTree>
  </p:cSld>
  <p:clrMapOvr>
    <a:masterClrMapping/>
  </p:clrMapOvr>
  <p:transition>
    <p:strips dir="rd"/>
    <p:sndAc>
      <p:stSnd>
        <p:snd r:embed="rId2" name="chimes.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p:cNvSpPr>
          <p:nvPr>
            <p:ph idx="1"/>
          </p:nvPr>
        </p:nvSpPr>
        <p:spPr>
          <a:xfrm>
            <a:off x="611560" y="908720"/>
            <a:ext cx="3671888" cy="4598182"/>
          </a:xfrm>
          <a:solidFill>
            <a:schemeClr val="bg1"/>
          </a:solidFill>
          <a:ln w="12700">
            <a:solidFill>
              <a:srgbClr val="FF3300"/>
            </a:solidFill>
            <a:miter/>
          </a:ln>
        </p:spPr>
        <p:txBody>
          <a:bodyPr anchor="t">
            <a:spAutoFit/>
          </a:bodyPr>
          <a:lstStyle/>
          <a:p>
            <a:pPr marL="0" indent="0" eaLnBrk="1" hangingPunct="1"/>
            <a:r>
              <a:rPr lang="zh-CN" altLang="en-US" sz="2400" b="1" dirty="0">
                <a:solidFill>
                  <a:srgbClr val="0000FF"/>
                </a:solidFill>
                <a:ea typeface="黑体" panose="02010609060101010101" pitchFamily="49" charset="-122"/>
              </a:rPr>
              <a:t>匈牙利十月事件（</a:t>
            </a:r>
            <a:r>
              <a:rPr lang="zh-CN" altLang="en-US" sz="2400" b="1" dirty="0">
                <a:solidFill>
                  <a:srgbClr val="0000FF"/>
                </a:solidFill>
                <a:ea typeface="黑体" panose="02010609060101010101" pitchFamily="49" charset="-122"/>
                <a:hlinkClick r:id="rId3"/>
              </a:rPr>
              <a:t>英文</a:t>
            </a:r>
            <a:r>
              <a:rPr lang="zh-CN" altLang="en-US" sz="2400" b="1" dirty="0">
                <a:solidFill>
                  <a:srgbClr val="0000FF"/>
                </a:solidFill>
                <a:ea typeface="黑体" panose="02010609060101010101" pitchFamily="49" charset="-122"/>
              </a:rPr>
              <a:t>：</a:t>
            </a:r>
            <a:r>
              <a:rPr lang="en-US" altLang="zh-CN" sz="2400" b="1" dirty="0">
                <a:solidFill>
                  <a:srgbClr val="0000FF"/>
                </a:solidFill>
                <a:ea typeface="黑体" panose="02010609060101010101" pitchFamily="49" charset="-122"/>
              </a:rPr>
              <a:t>Hungarian Event</a:t>
            </a:r>
            <a:r>
              <a:rPr lang="zh-CN" altLang="en-US" sz="2400" b="1" dirty="0">
                <a:solidFill>
                  <a:srgbClr val="0000FF"/>
                </a:solidFill>
                <a:ea typeface="黑体" panose="02010609060101010101" pitchFamily="49" charset="-122"/>
              </a:rPr>
              <a:t>，</a:t>
            </a:r>
            <a:r>
              <a:rPr lang="en-US" altLang="zh-CN" sz="2400" b="1" dirty="0">
                <a:solidFill>
                  <a:srgbClr val="0000FF"/>
                </a:solidFill>
                <a:ea typeface="黑体" panose="02010609060101010101" pitchFamily="49" charset="-122"/>
              </a:rPr>
              <a:t>Hungarian Revolution of 1956</a:t>
            </a:r>
            <a:r>
              <a:rPr lang="zh-CN" altLang="en-US" sz="2400" b="1" dirty="0">
                <a:solidFill>
                  <a:srgbClr val="0000FF"/>
                </a:solidFill>
                <a:ea typeface="黑体" panose="02010609060101010101" pitchFamily="49" charset="-122"/>
              </a:rPr>
              <a:t>；又译匈牙利事件或</a:t>
            </a:r>
            <a:r>
              <a:rPr lang="en-US" altLang="zh-CN" sz="2400" b="1" dirty="0">
                <a:solidFill>
                  <a:srgbClr val="0000FF"/>
                </a:solidFill>
                <a:ea typeface="黑体" panose="02010609060101010101" pitchFamily="49" charset="-122"/>
              </a:rPr>
              <a:t>1956</a:t>
            </a:r>
            <a:r>
              <a:rPr lang="zh-CN" altLang="en-US" sz="2400" b="1" dirty="0">
                <a:solidFill>
                  <a:srgbClr val="0000FF"/>
                </a:solidFill>
                <a:ea typeface="黑体" panose="02010609060101010101" pitchFamily="49" charset="-122"/>
              </a:rPr>
              <a:t>年匈牙利革命</a:t>
            </a:r>
            <a:r>
              <a:rPr lang="zh-CN" altLang="en-US" sz="2400" b="1" dirty="0" smtClean="0">
                <a:solidFill>
                  <a:srgbClr val="0000FF"/>
                </a:solidFill>
                <a:ea typeface="黑体" panose="02010609060101010101" pitchFamily="49" charset="-122"/>
              </a:rPr>
              <a:t>）</a:t>
            </a:r>
            <a:endParaRPr lang="en-US" altLang="zh-CN" sz="2400" b="1" dirty="0" smtClean="0">
              <a:solidFill>
                <a:srgbClr val="0000FF"/>
              </a:solidFill>
              <a:ea typeface="黑体" panose="02010609060101010101" pitchFamily="49" charset="-122"/>
            </a:endParaRPr>
          </a:p>
          <a:p>
            <a:pPr marL="0" indent="0" eaLnBrk="1" hangingPunct="1"/>
            <a:r>
              <a:rPr lang="en-US" altLang="zh-CN" sz="2400" b="1" dirty="0" smtClean="0">
                <a:solidFill>
                  <a:srgbClr val="0000FF"/>
                </a:solidFill>
                <a:ea typeface="黑体" panose="02010609060101010101" pitchFamily="49" charset="-122"/>
              </a:rPr>
              <a:t>1956</a:t>
            </a:r>
            <a:r>
              <a:rPr lang="zh-CN" altLang="en-US" sz="2400" b="1" dirty="0">
                <a:solidFill>
                  <a:srgbClr val="0000FF"/>
                </a:solidFill>
                <a:ea typeface="黑体" panose="02010609060101010101" pitchFamily="49" charset="-122"/>
              </a:rPr>
              <a:t>年</a:t>
            </a:r>
            <a:r>
              <a:rPr lang="en-US" altLang="zh-CN" sz="2400" b="1" dirty="0">
                <a:solidFill>
                  <a:srgbClr val="0000FF"/>
                </a:solidFill>
                <a:ea typeface="黑体" panose="02010609060101010101" pitchFamily="49" charset="-122"/>
              </a:rPr>
              <a:t>10</a:t>
            </a:r>
            <a:r>
              <a:rPr lang="zh-CN" altLang="en-US" sz="2400" b="1" dirty="0">
                <a:solidFill>
                  <a:srgbClr val="0000FF"/>
                </a:solidFill>
                <a:ea typeface="黑体" panose="02010609060101010101" pitchFamily="49" charset="-122"/>
              </a:rPr>
              <a:t>月</a:t>
            </a:r>
            <a:r>
              <a:rPr lang="en-US" altLang="zh-CN" sz="2400" b="1" dirty="0">
                <a:solidFill>
                  <a:srgbClr val="0000FF"/>
                </a:solidFill>
                <a:ea typeface="黑体" panose="02010609060101010101" pitchFamily="49" charset="-122"/>
              </a:rPr>
              <a:t>23</a:t>
            </a:r>
            <a:r>
              <a:rPr lang="zh-CN" altLang="en-US" sz="2400" b="1" dirty="0">
                <a:solidFill>
                  <a:srgbClr val="0000FF"/>
                </a:solidFill>
                <a:ea typeface="黑体" panose="02010609060101010101" pitchFamily="49" charset="-122"/>
              </a:rPr>
              <a:t>日至</a:t>
            </a:r>
            <a:r>
              <a:rPr lang="en-US" altLang="zh-CN" sz="2400" b="1" dirty="0">
                <a:solidFill>
                  <a:srgbClr val="0000FF"/>
                </a:solidFill>
                <a:ea typeface="黑体" panose="02010609060101010101" pitchFamily="49" charset="-122"/>
              </a:rPr>
              <a:t>11</a:t>
            </a:r>
            <a:r>
              <a:rPr lang="zh-CN" altLang="en-US" sz="2400" b="1" dirty="0">
                <a:solidFill>
                  <a:srgbClr val="0000FF"/>
                </a:solidFill>
                <a:ea typeface="黑体" panose="02010609060101010101" pitchFamily="49" charset="-122"/>
              </a:rPr>
              <a:t>月</a:t>
            </a:r>
            <a:r>
              <a:rPr lang="en-US" altLang="zh-CN" sz="2400" b="1" dirty="0">
                <a:solidFill>
                  <a:srgbClr val="0000FF"/>
                </a:solidFill>
                <a:ea typeface="黑体" panose="02010609060101010101" pitchFamily="49" charset="-122"/>
              </a:rPr>
              <a:t>4</a:t>
            </a:r>
            <a:r>
              <a:rPr lang="zh-CN" altLang="en-US" sz="2400" b="1" dirty="0">
                <a:solidFill>
                  <a:srgbClr val="0000FF"/>
                </a:solidFill>
                <a:ea typeface="黑体" panose="02010609060101010101" pitchFamily="49" charset="-122"/>
              </a:rPr>
              <a:t>日发生在</a:t>
            </a:r>
            <a:r>
              <a:rPr lang="zh-CN" altLang="en-US" sz="2400" b="1" dirty="0">
                <a:solidFill>
                  <a:srgbClr val="0000FF"/>
                </a:solidFill>
                <a:ea typeface="黑体" panose="02010609060101010101" pitchFamily="49" charset="-122"/>
                <a:hlinkClick r:id="rId4"/>
              </a:rPr>
              <a:t>匈牙利</a:t>
            </a:r>
            <a:r>
              <a:rPr lang="zh-CN" altLang="en-US" sz="2400" b="1" dirty="0">
                <a:solidFill>
                  <a:srgbClr val="0000FF"/>
                </a:solidFill>
                <a:ea typeface="黑体" panose="02010609060101010101" pitchFamily="49" charset="-122"/>
              </a:rPr>
              <a:t>的由群众和平游行而引发的武装暴动。在</a:t>
            </a:r>
            <a:r>
              <a:rPr lang="zh-CN" altLang="en-US" sz="2400" b="1" dirty="0">
                <a:solidFill>
                  <a:srgbClr val="0000FF"/>
                </a:solidFill>
                <a:ea typeface="黑体" panose="02010609060101010101" pitchFamily="49" charset="-122"/>
                <a:hlinkClick r:id="rId5"/>
              </a:rPr>
              <a:t>苏联</a:t>
            </a:r>
            <a:r>
              <a:rPr lang="zh-CN" altLang="en-US" sz="2400" b="1" dirty="0">
                <a:solidFill>
                  <a:srgbClr val="0000FF"/>
                </a:solidFill>
                <a:ea typeface="黑体" panose="02010609060101010101" pitchFamily="49" charset="-122"/>
              </a:rPr>
              <a:t>的两次军事干预下，事件被平息。事件共造成约</a:t>
            </a:r>
            <a:r>
              <a:rPr lang="en-US" altLang="zh-CN" sz="2400" b="1" dirty="0">
                <a:solidFill>
                  <a:srgbClr val="0000FF"/>
                </a:solidFill>
                <a:ea typeface="黑体" panose="02010609060101010101" pitchFamily="49" charset="-122"/>
              </a:rPr>
              <a:t>2700</a:t>
            </a:r>
            <a:r>
              <a:rPr lang="zh-CN" altLang="en-US" sz="2400" b="1" dirty="0">
                <a:solidFill>
                  <a:srgbClr val="0000FF"/>
                </a:solidFill>
                <a:ea typeface="黑体" panose="02010609060101010101" pitchFamily="49" charset="-122"/>
              </a:rPr>
              <a:t>匈牙利人死亡 </a:t>
            </a:r>
          </a:p>
        </p:txBody>
      </p:sp>
      <p:pic>
        <p:nvPicPr>
          <p:cNvPr id="18434" name="Picture 3" descr="faedab64034f78f0f73c594879310a55b3191c51"/>
          <p:cNvPicPr>
            <a:picLocks noChangeAspect="1"/>
          </p:cNvPicPr>
          <p:nvPr/>
        </p:nvPicPr>
        <p:blipFill>
          <a:blip r:embed="rId6" cstate="print"/>
          <a:stretch>
            <a:fillRect/>
          </a:stretch>
        </p:blipFill>
        <p:spPr>
          <a:xfrm>
            <a:off x="4427538" y="620713"/>
            <a:ext cx="4716462" cy="5256212"/>
          </a:xfrm>
          <a:prstGeom prst="rect">
            <a:avLst/>
          </a:prstGeom>
          <a:noFill/>
          <a:ln w="9525">
            <a:noFill/>
          </a:ln>
        </p:spPr>
      </p:pic>
    </p:spTree>
  </p:cSld>
  <p:clrMapOvr>
    <a:masterClrMapping/>
  </p:clrMapOvr>
  <p:transition>
    <p:strips dir="rd"/>
    <p:sndAc>
      <p:stSnd>
        <p:snd r:embed="rId2" name="chimes.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7504" y="620688"/>
            <a:ext cx="8659743" cy="544765"/>
          </a:xfrm>
          <a:prstGeom prst="rect">
            <a:avLst/>
          </a:prstGeom>
          <a:solidFill>
            <a:schemeClr val="bg1"/>
          </a:solidFill>
          <a:ln>
            <a:solidFill>
              <a:srgbClr val="FF0000"/>
            </a:solidFill>
          </a:ln>
        </p:spPr>
        <p:txBody>
          <a:bodyPr wrap="none">
            <a:spAutoFit/>
          </a:bodyPr>
          <a:lstStyle/>
          <a:p>
            <a:pPr>
              <a:lnSpc>
                <a:spcPct val="105000"/>
              </a:lnSpc>
              <a:spcBef>
                <a:spcPct val="50000"/>
              </a:spcBef>
            </a:pPr>
            <a:r>
              <a:rPr lang="en-US" altLang="zh-CN" sz="2800" b="1" dirty="0" smtClean="0">
                <a:solidFill>
                  <a:schemeClr val="tx1"/>
                </a:solidFill>
                <a:latin typeface="Times New Roman" panose="02020603050405020304" pitchFamily="18" charset="0"/>
                <a:ea typeface="黑体" panose="02010609060101010101" pitchFamily="49" charset="-122"/>
              </a:rPr>
              <a:t>2</a:t>
            </a:r>
            <a:r>
              <a:rPr lang="zh-CN" altLang="en-US" sz="2800" b="1" dirty="0" smtClean="0">
                <a:solidFill>
                  <a:schemeClr val="tx1"/>
                </a:solidFill>
                <a:latin typeface="Times New Roman" panose="02020603050405020304" pitchFamily="18" charset="0"/>
                <a:ea typeface="黑体" panose="02010609060101010101" pitchFamily="49" charset="-122"/>
              </a:rPr>
              <a:t>、提出“以苏为鉴”，探索适合中国情况的建设道路</a:t>
            </a:r>
            <a:endParaRPr lang="zh-CN" altLang="en-US" sz="2800" b="1" dirty="0">
              <a:solidFill>
                <a:schemeClr val="tx1"/>
              </a:solidFill>
              <a:latin typeface="Times New Roman" panose="02020603050405020304" pitchFamily="18" charset="0"/>
              <a:ea typeface="黑体" panose="02010609060101010101" pitchFamily="49" charset="-122"/>
            </a:endParaRPr>
          </a:p>
        </p:txBody>
      </p:sp>
      <p:sp>
        <p:nvSpPr>
          <p:cNvPr id="7" name="Rectangle 2"/>
          <p:cNvSpPr txBox="1">
            <a:spLocks/>
          </p:cNvSpPr>
          <p:nvPr/>
        </p:nvSpPr>
        <p:spPr>
          <a:xfrm>
            <a:off x="611560" y="2276872"/>
            <a:ext cx="3816424" cy="2419124"/>
          </a:xfrm>
          <a:prstGeom prst="rect">
            <a:avLst/>
          </a:prstGeom>
          <a:solidFill>
            <a:schemeClr val="bg1"/>
          </a:solidFill>
          <a:ln w="12700">
            <a:solidFill>
              <a:srgbClr val="FF3300"/>
            </a:solidFill>
            <a:miter/>
          </a:ln>
        </p:spPr>
        <p:txBody>
          <a:bodyPr vert="horz" wrap="square" rtlCol="0">
            <a:spAutoFit/>
          </a:bodyPr>
          <a:lstStyle/>
          <a:p>
            <a:pPr lvl="0" rtl="0">
              <a:lnSpc>
                <a:spcPct val="105000"/>
              </a:lnSpc>
              <a:spcBef>
                <a:spcPct val="50000"/>
              </a:spcBef>
              <a:spcAft>
                <a:spcPts val="0"/>
              </a:spcAft>
              <a:buClr>
                <a:schemeClr val="tx2"/>
              </a:buClr>
              <a:buSzPct val="50000"/>
            </a:pPr>
            <a:r>
              <a:rPr lang="en-US" altLang="zh-CN" sz="2400" b="1" noProof="1" smtClean="0">
                <a:latin typeface="黑体" pitchFamily="49" charset="-122"/>
                <a:ea typeface="黑体" pitchFamily="49" charset="-122"/>
              </a:rPr>
              <a:t>    1956</a:t>
            </a:r>
            <a:r>
              <a:rPr lang="zh-CN" altLang="en-US" sz="2400" b="1" noProof="1" smtClean="0">
                <a:latin typeface="黑体" pitchFamily="49" charset="-122"/>
                <a:ea typeface="黑体" pitchFamily="49" charset="-122"/>
              </a:rPr>
              <a:t>年</a:t>
            </a:r>
            <a:r>
              <a:rPr lang="en-US" altLang="zh-CN" sz="2400" b="1" noProof="1" smtClean="0">
                <a:latin typeface="黑体" pitchFamily="49" charset="-122"/>
                <a:ea typeface="黑体" pitchFamily="49" charset="-122"/>
              </a:rPr>
              <a:t>4</a:t>
            </a:r>
            <a:r>
              <a:rPr lang="zh-CN" altLang="en-US" sz="2400" b="1" noProof="1" smtClean="0">
                <a:latin typeface="黑体" pitchFamily="49" charset="-122"/>
                <a:ea typeface="黑体" pitchFamily="49" charset="-122"/>
              </a:rPr>
              <a:t>月，毛泽东发表</a:t>
            </a:r>
            <a:r>
              <a:rPr lang="en-US" altLang="zh-CN" sz="2400" b="1" noProof="1" smtClean="0">
                <a:latin typeface="黑体" pitchFamily="49" charset="-122"/>
                <a:ea typeface="黑体" pitchFamily="49" charset="-122"/>
              </a:rPr>
              <a:t>《</a:t>
            </a:r>
            <a:r>
              <a:rPr lang="zh-CN" altLang="en-US" sz="2400" b="1" noProof="1" smtClean="0">
                <a:latin typeface="黑体" pitchFamily="49" charset="-122"/>
                <a:ea typeface="黑体" pitchFamily="49" charset="-122"/>
              </a:rPr>
              <a:t>论十大关系</a:t>
            </a:r>
            <a:r>
              <a:rPr lang="en-US" altLang="zh-CN" sz="2400" b="1" noProof="1" smtClean="0">
                <a:latin typeface="黑体" pitchFamily="49" charset="-122"/>
                <a:ea typeface="黑体" pitchFamily="49" charset="-122"/>
              </a:rPr>
              <a:t>》</a:t>
            </a:r>
            <a:r>
              <a:rPr lang="zh-CN" altLang="en-US" sz="2400" b="1" noProof="1" smtClean="0">
                <a:latin typeface="黑体" pitchFamily="49" charset="-122"/>
                <a:ea typeface="黑体" pitchFamily="49" charset="-122"/>
              </a:rPr>
              <a:t>，</a:t>
            </a:r>
            <a:r>
              <a:rPr lang="en-US" altLang="zh-CN" sz="2400" b="1" noProof="1" smtClean="0">
                <a:latin typeface="黑体" pitchFamily="49" charset="-122"/>
                <a:ea typeface="黑体" pitchFamily="49" charset="-122"/>
              </a:rPr>
              <a:t>5</a:t>
            </a:r>
            <a:r>
              <a:rPr lang="zh-CN" altLang="en-US" sz="2400" b="1" noProof="1" smtClean="0">
                <a:latin typeface="黑体" pitchFamily="49" charset="-122"/>
                <a:ea typeface="黑体" pitchFamily="49" charset="-122"/>
              </a:rPr>
              <a:t>月，又在最高国务会议上作了报告，提出要以苏为鉴，独立自主地探索适合中国情况的社会主义建设道路。</a:t>
            </a:r>
            <a:endParaRPr lang="zh-CN" altLang="en-US" sz="2400" b="1" noProof="1">
              <a:latin typeface="黑体" pitchFamily="49" charset="-122"/>
              <a:ea typeface="黑体" pitchFamily="49" charset="-122"/>
            </a:endParaRPr>
          </a:p>
        </p:txBody>
      </p:sp>
      <p:pic>
        <p:nvPicPr>
          <p:cNvPr id="8" name="Picture 3" descr="20120412162206604"/>
          <p:cNvPicPr>
            <a:picLocks noChangeAspect="1"/>
          </p:cNvPicPr>
          <p:nvPr/>
        </p:nvPicPr>
        <p:blipFill>
          <a:blip r:embed="rId3" cstate="print"/>
          <a:stretch>
            <a:fillRect/>
          </a:stretch>
        </p:blipFill>
        <p:spPr>
          <a:xfrm>
            <a:off x="4788024" y="1556792"/>
            <a:ext cx="3599954" cy="4869160"/>
          </a:xfrm>
          <a:prstGeom prst="rect">
            <a:avLst/>
          </a:prstGeom>
          <a:noFill/>
          <a:ln w="9525">
            <a:noFill/>
          </a:ln>
        </p:spPr>
      </p:pic>
    </p:spTree>
  </p:cSld>
  <p:clrMapOvr>
    <a:masterClrMapping/>
  </p:clrMapOvr>
  <p:transition>
    <p:strips dir="rd"/>
    <p:sndAc>
      <p:stSnd>
        <p:snd r:embed="rId2" name="chimes.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idx="1"/>
          </p:nvPr>
        </p:nvSpPr>
        <p:spPr>
          <a:xfrm>
            <a:off x="5940152" y="3356992"/>
            <a:ext cx="2448272" cy="1449628"/>
          </a:xfrm>
          <a:solidFill>
            <a:schemeClr val="bg1"/>
          </a:solidFill>
          <a:ln w="12700">
            <a:solidFill>
              <a:srgbClr val="FF3300"/>
            </a:solidFill>
            <a:miter/>
          </a:ln>
        </p:spPr>
        <p:txBody>
          <a:bodyPr wrap="square">
            <a:spAutoFit/>
          </a:bodyPr>
          <a:lstStyle/>
          <a:p>
            <a:pPr marL="0" indent="0" fontAlgn="base">
              <a:lnSpc>
                <a:spcPct val="105000"/>
              </a:lnSpc>
              <a:spcBef>
                <a:spcPct val="50000"/>
              </a:spcBef>
              <a:buNone/>
            </a:pPr>
            <a:r>
              <a:rPr lang="zh-CN" altLang="en-US" sz="2800" b="1" strike="noStrike" noProof="1" smtClean="0">
                <a:solidFill>
                  <a:srgbClr val="0000FF"/>
                </a:solidFill>
                <a:latin typeface="Times New Roman" panose="02020603050405020304" pitchFamily="18" charset="0"/>
                <a:ea typeface="黑体" panose="02010609060101010101" pitchFamily="49" charset="-122"/>
              </a:rPr>
              <a:t>调动</a:t>
            </a:r>
            <a:r>
              <a:rPr lang="zh-CN" altLang="en-US" sz="2800" b="1" strike="noStrike" noProof="1">
                <a:solidFill>
                  <a:srgbClr val="0000FF"/>
                </a:solidFill>
                <a:latin typeface="Times New Roman" panose="02020603050405020304" pitchFamily="18" charset="0"/>
                <a:ea typeface="黑体" panose="02010609060101010101" pitchFamily="49" charset="-122"/>
              </a:rPr>
              <a:t>一切积极因素为社会主义建设</a:t>
            </a:r>
            <a:r>
              <a:rPr lang="zh-CN" altLang="en-US" sz="2800" b="1" strike="noStrike" noProof="1" smtClean="0">
                <a:solidFill>
                  <a:srgbClr val="0000FF"/>
                </a:solidFill>
                <a:latin typeface="Times New Roman" panose="02020603050405020304" pitchFamily="18" charset="0"/>
                <a:ea typeface="黑体" panose="02010609060101010101" pitchFamily="49" charset="-122"/>
              </a:rPr>
              <a:t>服务        </a:t>
            </a:r>
            <a:endParaRPr lang="zh-CN" altLang="en-US" sz="2800" b="1" strike="noStrike" noProof="1">
              <a:solidFill>
                <a:srgbClr val="0000FF"/>
              </a:solidFill>
              <a:latin typeface="Times New Roman" panose="02020603050405020304" pitchFamily="18" charset="0"/>
              <a:ea typeface="黑体" panose="02010609060101010101" pitchFamily="49" charset="-122"/>
            </a:endParaRPr>
          </a:p>
        </p:txBody>
      </p:sp>
      <p:sp>
        <p:nvSpPr>
          <p:cNvPr id="5" name="矩形 4"/>
          <p:cNvSpPr/>
          <p:nvPr/>
        </p:nvSpPr>
        <p:spPr>
          <a:xfrm>
            <a:off x="395536" y="548680"/>
            <a:ext cx="7981672" cy="609398"/>
          </a:xfrm>
          <a:prstGeom prst="rect">
            <a:avLst/>
          </a:prstGeom>
          <a:solidFill>
            <a:schemeClr val="bg2"/>
          </a:solidFill>
          <a:ln>
            <a:solidFill>
              <a:schemeClr val="accent1"/>
            </a:solidFill>
          </a:ln>
        </p:spPr>
        <p:txBody>
          <a:bodyPr wrap="none">
            <a:spAutoFit/>
          </a:bodyPr>
          <a:lstStyle/>
          <a:p>
            <a:pPr>
              <a:lnSpc>
                <a:spcPct val="105000"/>
              </a:lnSpc>
              <a:spcBef>
                <a:spcPct val="50000"/>
              </a:spcBef>
            </a:pPr>
            <a:r>
              <a:rPr lang="zh-CN" altLang="en-US" sz="3200" b="1" noProof="1" smtClean="0">
                <a:solidFill>
                  <a:srgbClr val="FF0000"/>
                </a:solidFill>
                <a:latin typeface="华文琥珀" pitchFamily="2" charset="-122"/>
                <a:ea typeface="华文琥珀" pitchFamily="2" charset="-122"/>
              </a:rPr>
              <a:t>二、社会主义建设道路初步探索的理论成果</a:t>
            </a:r>
            <a:endParaRPr lang="en-US" altLang="zh-CN" sz="3200" b="1" noProof="1" smtClean="0">
              <a:solidFill>
                <a:srgbClr val="FF0000"/>
              </a:solidFill>
              <a:latin typeface="华文琥珀" pitchFamily="2" charset="-122"/>
              <a:ea typeface="华文琥珀" pitchFamily="2" charset="-122"/>
            </a:endParaRPr>
          </a:p>
        </p:txBody>
      </p:sp>
      <p:sp>
        <p:nvSpPr>
          <p:cNvPr id="6" name="矩形 5"/>
          <p:cNvSpPr/>
          <p:nvPr/>
        </p:nvSpPr>
        <p:spPr>
          <a:xfrm>
            <a:off x="683568" y="1772816"/>
            <a:ext cx="5952270" cy="549381"/>
          </a:xfrm>
          <a:prstGeom prst="rect">
            <a:avLst/>
          </a:prstGeom>
          <a:solidFill>
            <a:schemeClr val="bg2"/>
          </a:solidFill>
          <a:ln>
            <a:solidFill>
              <a:schemeClr val="accent1"/>
            </a:solidFill>
          </a:ln>
        </p:spPr>
        <p:txBody>
          <a:bodyPr wrap="none">
            <a:spAutoFit/>
          </a:bodyPr>
          <a:lstStyle/>
          <a:p>
            <a:pPr>
              <a:lnSpc>
                <a:spcPct val="105000"/>
              </a:lnSpc>
              <a:spcBef>
                <a:spcPct val="50000"/>
              </a:spcBef>
            </a:pPr>
            <a:r>
              <a:rPr lang="zh-CN" altLang="en-US" sz="3200" b="1" noProof="1" smtClean="0">
                <a:solidFill>
                  <a:srgbClr val="FF0000"/>
                </a:solidFill>
                <a:latin typeface="黑体" pitchFamily="49" charset="-122"/>
                <a:ea typeface="黑体" pitchFamily="49" charset="-122"/>
              </a:rPr>
              <a:t>（一）社会主义建设的基本方针</a:t>
            </a:r>
            <a:endParaRPr lang="zh-CN" altLang="en-US" sz="3200" b="1" noProof="1">
              <a:solidFill>
                <a:srgbClr val="FF0000"/>
              </a:solidFill>
              <a:latin typeface="黑体" pitchFamily="49" charset="-122"/>
              <a:ea typeface="黑体" pitchFamily="49" charset="-122"/>
            </a:endParaRPr>
          </a:p>
        </p:txBody>
      </p:sp>
      <p:sp>
        <p:nvSpPr>
          <p:cNvPr id="9" name="Text Box 11"/>
          <p:cNvSpPr txBox="1">
            <a:spLocks noChangeArrowheads="1"/>
          </p:cNvSpPr>
          <p:nvPr/>
        </p:nvSpPr>
        <p:spPr bwMode="auto">
          <a:xfrm>
            <a:off x="683568" y="3645024"/>
            <a:ext cx="3744416" cy="954107"/>
          </a:xfrm>
          <a:prstGeom prst="rect">
            <a:avLst/>
          </a:prstGeom>
          <a:solidFill>
            <a:schemeClr val="bg1"/>
          </a:solidFill>
          <a:ln w="9525">
            <a:solidFill>
              <a:schemeClr val="tx1"/>
            </a:solidFill>
            <a:miter lim="800000"/>
            <a:headEnd/>
            <a:tailEnd/>
          </a:ln>
        </p:spPr>
        <p:txBody>
          <a:bodyPr wrap="squar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kumimoji="1" lang="zh-CN" altLang="en-US" sz="2800" b="1" dirty="0" smtClean="0">
                <a:solidFill>
                  <a:srgbClr val="FF0000"/>
                </a:solidFill>
                <a:latin typeface="黑体" pitchFamily="2" charset="-122"/>
                <a:ea typeface="黑体" pitchFamily="2" charset="-122"/>
              </a:rPr>
              <a:t>社会主义建设的</a:t>
            </a:r>
            <a:r>
              <a:rPr kumimoji="1" lang="zh-CN" altLang="en-US" sz="2800" b="1" dirty="0">
                <a:solidFill>
                  <a:srgbClr val="FF0000"/>
                </a:solidFill>
                <a:latin typeface="黑体" pitchFamily="2" charset="-122"/>
                <a:ea typeface="黑体" pitchFamily="2" charset="-122"/>
              </a:rPr>
              <a:t>基本</a:t>
            </a:r>
            <a:r>
              <a:rPr kumimoji="1" lang="zh-CN" altLang="en-US" sz="2800" b="1" dirty="0" smtClean="0">
                <a:solidFill>
                  <a:srgbClr val="FF0000"/>
                </a:solidFill>
                <a:latin typeface="黑体" pitchFamily="2" charset="-122"/>
                <a:ea typeface="黑体" pitchFamily="2" charset="-122"/>
              </a:rPr>
              <a:t>方针</a:t>
            </a:r>
            <a:r>
              <a:rPr kumimoji="1" lang="en-US" altLang="zh-CN" sz="2800" b="1" dirty="0" smtClean="0">
                <a:solidFill>
                  <a:srgbClr val="FF0000"/>
                </a:solidFill>
                <a:latin typeface="黑体" pitchFamily="2" charset="-122"/>
                <a:ea typeface="黑体" pitchFamily="2" charset="-122"/>
              </a:rPr>
              <a:t>:</a:t>
            </a:r>
          </a:p>
        </p:txBody>
      </p:sp>
      <p:sp>
        <p:nvSpPr>
          <p:cNvPr id="10" name="右箭头 9"/>
          <p:cNvSpPr/>
          <p:nvPr/>
        </p:nvSpPr>
        <p:spPr>
          <a:xfrm>
            <a:off x="4572000" y="3933056"/>
            <a:ext cx="1066284" cy="1867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trips dir="rd"/>
    <p:sndAc>
      <p:stSnd>
        <p:snd r:embed="rId2" name="chimes.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idx="1"/>
          </p:nvPr>
        </p:nvSpPr>
        <p:spPr>
          <a:xfrm>
            <a:off x="611560" y="2348880"/>
            <a:ext cx="8100392" cy="3777957"/>
          </a:xfrm>
          <a:solidFill>
            <a:schemeClr val="bg2"/>
          </a:solidFill>
          <a:ln w="12700">
            <a:solidFill>
              <a:srgbClr val="FF3300"/>
            </a:solidFill>
            <a:miter/>
          </a:ln>
        </p:spPr>
        <p:txBody>
          <a:bodyPr wrap="square">
            <a:spAutoFit/>
          </a:bodyPr>
          <a:lstStyle/>
          <a:p>
            <a:pPr marL="0" indent="0" fontAlgn="base">
              <a:lnSpc>
                <a:spcPct val="150000"/>
              </a:lnSpc>
              <a:spcBef>
                <a:spcPct val="50000"/>
              </a:spcBef>
              <a:buNone/>
            </a:pPr>
            <a:r>
              <a:rPr lang="zh-CN" altLang="en-US" sz="2800" b="1" strike="noStrike" noProof="1" smtClean="0">
                <a:solidFill>
                  <a:srgbClr val="0000FF"/>
                </a:solidFill>
                <a:latin typeface="Times New Roman" panose="02020603050405020304" pitchFamily="18" charset="0"/>
                <a:ea typeface="黑体" panose="02010609060101010101" pitchFamily="49" charset="-122"/>
              </a:rPr>
              <a:t>        </a:t>
            </a:r>
            <a:r>
              <a:rPr lang="zh-CN" altLang="en-US" sz="2000" b="1" i="1" strike="noStrike" noProof="1" smtClean="0">
                <a:solidFill>
                  <a:srgbClr val="0000FF"/>
                </a:solidFill>
                <a:latin typeface="华文隶书" pitchFamily="2" charset="-122"/>
                <a:ea typeface="华文隶书" pitchFamily="2" charset="-122"/>
              </a:rPr>
              <a:t>在</a:t>
            </a:r>
            <a:r>
              <a:rPr lang="zh-CN" altLang="en-US" sz="2000" b="1" i="1" strike="noStrike" noProof="1">
                <a:solidFill>
                  <a:srgbClr val="0000FF"/>
                </a:solidFill>
                <a:latin typeface="华文隶书" pitchFamily="2" charset="-122"/>
                <a:ea typeface="华文隶书" pitchFamily="2" charset="-122"/>
              </a:rPr>
              <a:t>国内，工人和农民是基本力量。中间势力是可以争取的力量。反动势力虽是一种消极因素，但是我们仍然要作好工作，尽量争取化消极因素为积极因素</a:t>
            </a:r>
            <a:r>
              <a:rPr lang="zh-CN" altLang="en-US" sz="2000" b="1" i="1" strike="noStrike" noProof="1" smtClean="0">
                <a:solidFill>
                  <a:srgbClr val="0000FF"/>
                </a:solidFill>
                <a:latin typeface="华文隶书" pitchFamily="2" charset="-122"/>
                <a:ea typeface="华文隶书" pitchFamily="2" charset="-122"/>
              </a:rPr>
              <a:t>。</a:t>
            </a:r>
            <a:endParaRPr lang="en-US" altLang="zh-CN" sz="2000" b="1" i="1" strike="noStrike" noProof="1" smtClean="0">
              <a:solidFill>
                <a:srgbClr val="0000FF"/>
              </a:solidFill>
              <a:latin typeface="华文隶书" pitchFamily="2" charset="-122"/>
              <a:ea typeface="华文隶书" pitchFamily="2" charset="-122"/>
            </a:endParaRPr>
          </a:p>
          <a:p>
            <a:pPr marL="0" indent="0" fontAlgn="base">
              <a:lnSpc>
                <a:spcPct val="150000"/>
              </a:lnSpc>
              <a:spcBef>
                <a:spcPct val="50000"/>
              </a:spcBef>
              <a:buNone/>
            </a:pPr>
            <a:r>
              <a:rPr lang="en-US" altLang="zh-CN" sz="2000" b="1" i="1" noProof="1">
                <a:solidFill>
                  <a:srgbClr val="0000FF"/>
                </a:solidFill>
                <a:latin typeface="华文隶书" pitchFamily="2" charset="-122"/>
                <a:ea typeface="华文隶书" pitchFamily="2" charset="-122"/>
              </a:rPr>
              <a:t> </a:t>
            </a:r>
            <a:r>
              <a:rPr lang="en-US" altLang="zh-CN" sz="2000" b="1" i="1" noProof="1" smtClean="0">
                <a:solidFill>
                  <a:srgbClr val="0000FF"/>
                </a:solidFill>
                <a:latin typeface="华文隶书" pitchFamily="2" charset="-122"/>
                <a:ea typeface="华文隶书" pitchFamily="2" charset="-122"/>
              </a:rPr>
              <a:t>       </a:t>
            </a:r>
            <a:r>
              <a:rPr lang="zh-CN" altLang="en-US" sz="2000" b="1" i="1" strike="noStrike" noProof="1" smtClean="0">
                <a:solidFill>
                  <a:srgbClr val="0000FF"/>
                </a:solidFill>
                <a:latin typeface="华文隶书" pitchFamily="2" charset="-122"/>
                <a:ea typeface="华文隶书" pitchFamily="2" charset="-122"/>
              </a:rPr>
              <a:t>在</a:t>
            </a:r>
            <a:r>
              <a:rPr lang="zh-CN" altLang="en-US" sz="2000" b="1" i="1" strike="noStrike" noProof="1">
                <a:solidFill>
                  <a:srgbClr val="0000FF"/>
                </a:solidFill>
                <a:latin typeface="华文隶书" pitchFamily="2" charset="-122"/>
                <a:ea typeface="华文隶书" pitchFamily="2" charset="-122"/>
              </a:rPr>
              <a:t>国际，一切可以团结的力量都要团结，不中立的可以争取为中立，反动的也可以分化和利用</a:t>
            </a:r>
            <a:r>
              <a:rPr lang="zh-CN" altLang="en-US" sz="2000" b="1" i="1" strike="noStrike" noProof="1" smtClean="0">
                <a:solidFill>
                  <a:srgbClr val="0000FF"/>
                </a:solidFill>
                <a:latin typeface="华文隶书" pitchFamily="2" charset="-122"/>
                <a:ea typeface="华文隶书" pitchFamily="2" charset="-122"/>
              </a:rPr>
              <a:t>。</a:t>
            </a:r>
            <a:endParaRPr lang="en-US" altLang="zh-CN" sz="2000" b="1" i="1" strike="noStrike" noProof="1" smtClean="0">
              <a:solidFill>
                <a:srgbClr val="0000FF"/>
              </a:solidFill>
              <a:latin typeface="华文隶书" pitchFamily="2" charset="-122"/>
              <a:ea typeface="华文隶书" pitchFamily="2" charset="-122"/>
            </a:endParaRPr>
          </a:p>
          <a:p>
            <a:pPr marL="0" indent="0" fontAlgn="base">
              <a:lnSpc>
                <a:spcPct val="150000"/>
              </a:lnSpc>
              <a:spcBef>
                <a:spcPct val="50000"/>
              </a:spcBef>
              <a:buNone/>
            </a:pPr>
            <a:r>
              <a:rPr lang="en-US" altLang="zh-CN" sz="2000" b="1" i="1" noProof="1">
                <a:solidFill>
                  <a:srgbClr val="0000FF"/>
                </a:solidFill>
                <a:latin typeface="华文隶书" pitchFamily="2" charset="-122"/>
                <a:ea typeface="华文隶书" pitchFamily="2" charset="-122"/>
              </a:rPr>
              <a:t> </a:t>
            </a:r>
            <a:r>
              <a:rPr lang="en-US" altLang="zh-CN" sz="2000" b="1" i="1" noProof="1" smtClean="0">
                <a:solidFill>
                  <a:srgbClr val="0000FF"/>
                </a:solidFill>
                <a:latin typeface="华文隶书" pitchFamily="2" charset="-122"/>
                <a:ea typeface="华文隶书" pitchFamily="2" charset="-122"/>
              </a:rPr>
              <a:t>       </a:t>
            </a:r>
            <a:r>
              <a:rPr lang="zh-CN" altLang="en-US" sz="2000" b="1" i="1" strike="noStrike" noProof="1" smtClean="0">
                <a:solidFill>
                  <a:srgbClr val="0000FF"/>
                </a:solidFill>
                <a:latin typeface="华文隶书" pitchFamily="2" charset="-122"/>
                <a:ea typeface="华文隶书" pitchFamily="2" charset="-122"/>
              </a:rPr>
              <a:t>总之</a:t>
            </a:r>
            <a:r>
              <a:rPr lang="zh-CN" altLang="en-US" sz="2000" b="1" i="1" strike="noStrike" noProof="1">
                <a:solidFill>
                  <a:srgbClr val="0000FF"/>
                </a:solidFill>
                <a:latin typeface="华文隶书" pitchFamily="2" charset="-122"/>
                <a:ea typeface="华文隶书" pitchFamily="2" charset="-122"/>
              </a:rPr>
              <a:t>，我们要调动一切直接的和间接的力量，为把我国建设成为一个强大的社会主义国家而奋斗。</a:t>
            </a:r>
          </a:p>
        </p:txBody>
      </p:sp>
      <p:sp>
        <p:nvSpPr>
          <p:cNvPr id="3" name="Text Box 11"/>
          <p:cNvSpPr txBox="1">
            <a:spLocks noChangeArrowheads="1"/>
          </p:cNvSpPr>
          <p:nvPr/>
        </p:nvSpPr>
        <p:spPr bwMode="auto">
          <a:xfrm>
            <a:off x="539552" y="1196752"/>
            <a:ext cx="6247049" cy="523220"/>
          </a:xfrm>
          <a:prstGeom prst="rect">
            <a:avLst/>
          </a:prstGeom>
          <a:solidFill>
            <a:schemeClr val="bg2"/>
          </a:solidFill>
          <a:ln w="9525">
            <a:solidFill>
              <a:schemeClr val="tx1"/>
            </a:solidFill>
            <a:miter lim="800000"/>
            <a:headEnd/>
            <a:tailEnd/>
          </a:ln>
        </p:spPr>
        <p:txBody>
          <a:bodyPr wrap="squar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kumimoji="1" lang="zh-CN" altLang="en-US" sz="2800" b="1" dirty="0" smtClean="0">
                <a:solidFill>
                  <a:srgbClr val="FF0000"/>
                </a:solidFill>
                <a:latin typeface="黑体" pitchFamily="2" charset="-122"/>
                <a:ea typeface="黑体" pitchFamily="2" charset="-122"/>
              </a:rPr>
              <a:t>社会主义建设的积极因素和消极因素</a:t>
            </a:r>
            <a:r>
              <a:rPr kumimoji="1" lang="en-US" altLang="zh-CN" sz="2800" b="1" dirty="0" smtClean="0">
                <a:solidFill>
                  <a:srgbClr val="FF0000"/>
                </a:solidFill>
                <a:latin typeface="黑体" pitchFamily="2" charset="-122"/>
                <a:ea typeface="黑体" pitchFamily="2" charset="-122"/>
              </a:rPr>
              <a:t>:</a:t>
            </a:r>
          </a:p>
        </p:txBody>
      </p:sp>
    </p:spTree>
  </p:cSld>
  <p:clrMapOvr>
    <a:masterClrMapping/>
  </p:clrMapOvr>
  <p:transition>
    <p:strips dir="rd"/>
    <p:sndAc>
      <p:stSnd>
        <p:snd r:embed="rId2" name="chimes.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p:cNvSpPr>
          <p:nvPr>
            <p:ph idx="1"/>
          </p:nvPr>
        </p:nvSpPr>
        <p:spPr>
          <a:xfrm>
            <a:off x="683568" y="545533"/>
            <a:ext cx="5400600" cy="544765"/>
          </a:xfrm>
          <a:solidFill>
            <a:schemeClr val="bg2"/>
          </a:solidFill>
          <a:ln w="12700">
            <a:solidFill>
              <a:srgbClr val="FF0000"/>
            </a:solidFill>
            <a:miter/>
          </a:ln>
        </p:spPr>
        <p:txBody>
          <a:bodyPr wrap="square" anchor="t">
            <a:spAutoFit/>
          </a:bodyPr>
          <a:lstStyle/>
          <a:p>
            <a:pPr marL="0" indent="0">
              <a:lnSpc>
                <a:spcPct val="105000"/>
              </a:lnSpc>
              <a:spcBef>
                <a:spcPct val="50000"/>
              </a:spcBef>
              <a:buNone/>
            </a:pPr>
            <a:r>
              <a:rPr lang="zh-CN" altLang="en-US" sz="2800" b="1" dirty="0" smtClean="0">
                <a:solidFill>
                  <a:srgbClr val="FF0000"/>
                </a:solidFill>
              </a:rPr>
              <a:t>积极因素和消极因素的关系</a:t>
            </a:r>
            <a:endParaRPr lang="en-US" altLang="zh-CN" sz="2800" b="1" dirty="0" smtClean="0">
              <a:solidFill>
                <a:srgbClr val="FF0000"/>
              </a:solidFill>
            </a:endParaRPr>
          </a:p>
        </p:txBody>
      </p:sp>
      <p:sp>
        <p:nvSpPr>
          <p:cNvPr id="4" name="矩形 3"/>
          <p:cNvSpPr/>
          <p:nvPr/>
        </p:nvSpPr>
        <p:spPr>
          <a:xfrm>
            <a:off x="899592" y="1545407"/>
            <a:ext cx="7128792" cy="1828193"/>
          </a:xfrm>
          <a:prstGeom prst="rect">
            <a:avLst/>
          </a:prstGeom>
          <a:solidFill>
            <a:schemeClr val="bg1"/>
          </a:solidFill>
          <a:ln>
            <a:solidFill>
              <a:schemeClr val="accent1"/>
            </a:solidFill>
          </a:ln>
        </p:spPr>
        <p:txBody>
          <a:bodyPr wrap="square">
            <a:spAutoFit/>
          </a:bodyPr>
          <a:lstStyle/>
          <a:p>
            <a:pPr>
              <a:lnSpc>
                <a:spcPct val="105000"/>
              </a:lnSpc>
              <a:spcBef>
                <a:spcPct val="50000"/>
              </a:spcBef>
            </a:pPr>
            <a:r>
              <a:rPr lang="zh-CN" altLang="en-US" sz="2400" b="1" dirty="0" smtClean="0">
                <a:latin typeface="黑体" pitchFamily="49" charset="-122"/>
                <a:ea typeface="黑体" pitchFamily="49" charset="-122"/>
              </a:rPr>
              <a:t>    是</a:t>
            </a:r>
            <a:r>
              <a:rPr lang="zh-CN" altLang="en-US" sz="2400" b="1" dirty="0">
                <a:latin typeface="黑体" pitchFamily="49" charset="-122"/>
                <a:ea typeface="黑体" pitchFamily="49" charset="-122"/>
              </a:rPr>
              <a:t>一对矛盾，呈现出既统一又斗争的</a:t>
            </a:r>
            <a:r>
              <a:rPr lang="zh-CN" altLang="en-US" sz="2400" b="1" dirty="0" smtClean="0">
                <a:latin typeface="黑体" pitchFamily="49" charset="-122"/>
                <a:ea typeface="黑体" pitchFamily="49" charset="-122"/>
              </a:rPr>
              <a:t>关系</a:t>
            </a:r>
            <a:endParaRPr lang="en-US" altLang="zh-CN" sz="2400" b="1" dirty="0" smtClean="0">
              <a:latin typeface="黑体" pitchFamily="49" charset="-122"/>
              <a:ea typeface="黑体" pitchFamily="49" charset="-122"/>
            </a:endParaRPr>
          </a:p>
          <a:p>
            <a:pPr>
              <a:lnSpc>
                <a:spcPct val="105000"/>
              </a:lnSpc>
              <a:spcBef>
                <a:spcPct val="50000"/>
              </a:spcBef>
            </a:pPr>
            <a:r>
              <a:rPr lang="en-US" altLang="zh-CN" sz="2400" b="1" dirty="0">
                <a:latin typeface="黑体" pitchFamily="49" charset="-122"/>
                <a:ea typeface="黑体" pitchFamily="49" charset="-122"/>
              </a:rPr>
              <a:t> </a:t>
            </a:r>
            <a:r>
              <a:rPr lang="en-US" altLang="zh-CN" sz="2400" b="1" dirty="0" smtClean="0">
                <a:latin typeface="黑体" pitchFamily="49" charset="-122"/>
                <a:ea typeface="黑体" pitchFamily="49" charset="-122"/>
              </a:rPr>
              <a:t>   </a:t>
            </a:r>
            <a:r>
              <a:rPr lang="zh-CN" altLang="en-US" sz="2400" b="1" dirty="0" smtClean="0">
                <a:latin typeface="黑体" pitchFamily="49" charset="-122"/>
                <a:ea typeface="黑体" pitchFamily="49" charset="-122"/>
              </a:rPr>
              <a:t>充分</a:t>
            </a:r>
            <a:r>
              <a:rPr lang="zh-CN" altLang="en-US" sz="2400" b="1" dirty="0">
                <a:latin typeface="黑体" pitchFamily="49" charset="-122"/>
                <a:ea typeface="黑体" pitchFamily="49" charset="-122"/>
              </a:rPr>
              <a:t>调动一切积极因素，尽可能地克服消极因素，并且努力化消极因素为积极因素，是社会主义事业前进的现实需要。</a:t>
            </a:r>
            <a:endParaRPr lang="en-US" altLang="zh-CN" sz="2400" b="1" dirty="0">
              <a:latin typeface="黑体" pitchFamily="49" charset="-122"/>
              <a:ea typeface="黑体" pitchFamily="49" charset="-122"/>
            </a:endParaRPr>
          </a:p>
        </p:txBody>
      </p:sp>
      <p:sp>
        <p:nvSpPr>
          <p:cNvPr id="6" name="矩形 5"/>
          <p:cNvSpPr/>
          <p:nvPr/>
        </p:nvSpPr>
        <p:spPr>
          <a:xfrm>
            <a:off x="1043608" y="3717032"/>
            <a:ext cx="864095" cy="1815882"/>
          </a:xfrm>
          <a:prstGeom prst="rect">
            <a:avLst/>
          </a:prstGeom>
          <a:solidFill>
            <a:schemeClr val="bg2"/>
          </a:solidFill>
          <a:ln>
            <a:solidFill>
              <a:schemeClr val="accent1"/>
            </a:solidFill>
          </a:ln>
        </p:spPr>
        <p:txBody>
          <a:bodyPr wrap="square">
            <a:spAutoFit/>
          </a:bodyPr>
          <a:lstStyle/>
          <a:p>
            <a:r>
              <a:rPr lang="zh-CN" altLang="en-US" sz="2800" b="1" dirty="0">
                <a:solidFill>
                  <a:srgbClr val="FF0000"/>
                </a:solidFill>
                <a:latin typeface="+mn-lt"/>
                <a:ea typeface="+mn-ea"/>
                <a:cs typeface="+mn-cs"/>
              </a:rPr>
              <a:t>积极因素</a:t>
            </a:r>
          </a:p>
        </p:txBody>
      </p:sp>
      <p:sp>
        <p:nvSpPr>
          <p:cNvPr id="7" name="矩形 6"/>
          <p:cNvSpPr/>
          <p:nvPr/>
        </p:nvSpPr>
        <p:spPr>
          <a:xfrm>
            <a:off x="1619672" y="5805264"/>
            <a:ext cx="6624736" cy="461665"/>
          </a:xfrm>
          <a:prstGeom prst="rect">
            <a:avLst/>
          </a:prstGeom>
          <a:solidFill>
            <a:schemeClr val="bg2"/>
          </a:solidFill>
          <a:ln>
            <a:solidFill>
              <a:schemeClr val="accent1"/>
            </a:solidFill>
          </a:ln>
        </p:spPr>
        <p:txBody>
          <a:bodyPr wrap="square">
            <a:spAutoFit/>
          </a:bodyPr>
          <a:lstStyle/>
          <a:p>
            <a:r>
              <a:rPr lang="zh-CN" altLang="en-US" sz="2400" b="1" dirty="0" smtClean="0">
                <a:latin typeface="黑体" pitchFamily="49" charset="-122"/>
                <a:ea typeface="黑体" pitchFamily="49" charset="-122"/>
              </a:rPr>
              <a:t>积极因素</a:t>
            </a:r>
            <a:r>
              <a:rPr lang="zh-CN" altLang="en-US" sz="2400" b="1" dirty="0">
                <a:latin typeface="黑体" pitchFamily="49" charset="-122"/>
                <a:ea typeface="黑体" pitchFamily="49" charset="-122"/>
              </a:rPr>
              <a:t>与消极因素在一定条件</a:t>
            </a:r>
            <a:r>
              <a:rPr lang="zh-CN" altLang="en-US" sz="2400" b="1" dirty="0" smtClean="0">
                <a:latin typeface="黑体" pitchFamily="49" charset="-122"/>
                <a:ea typeface="黑体" pitchFamily="49" charset="-122"/>
              </a:rPr>
              <a:t>下可以</a:t>
            </a:r>
            <a:r>
              <a:rPr lang="zh-CN" altLang="en-US" sz="2400" b="1" dirty="0">
                <a:latin typeface="黑体" pitchFamily="49" charset="-122"/>
                <a:ea typeface="黑体" pitchFamily="49" charset="-122"/>
              </a:rPr>
              <a:t>互相</a:t>
            </a:r>
            <a:r>
              <a:rPr lang="zh-CN" altLang="en-US" sz="2400" b="1" dirty="0" smtClean="0">
                <a:latin typeface="黑体" pitchFamily="49" charset="-122"/>
                <a:ea typeface="黑体" pitchFamily="49" charset="-122"/>
              </a:rPr>
              <a:t>转化</a:t>
            </a:r>
            <a:endParaRPr lang="zh-CN" altLang="en-US" sz="2400" b="1" dirty="0">
              <a:latin typeface="黑体" pitchFamily="49" charset="-122"/>
              <a:ea typeface="黑体" pitchFamily="49" charset="-122"/>
            </a:endParaRPr>
          </a:p>
        </p:txBody>
      </p:sp>
      <p:sp>
        <p:nvSpPr>
          <p:cNvPr id="5" name="左大括号 4"/>
          <p:cNvSpPr/>
          <p:nvPr/>
        </p:nvSpPr>
        <p:spPr>
          <a:xfrm>
            <a:off x="1979712" y="3648662"/>
            <a:ext cx="576064" cy="1934074"/>
          </a:xfrm>
          <a:prstGeom prst="leftBrace">
            <a:avLst/>
          </a:prstGeom>
          <a:solidFill>
            <a:srgbClr val="00B050"/>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4400" dirty="0"/>
          </a:p>
        </p:txBody>
      </p:sp>
      <p:sp>
        <p:nvSpPr>
          <p:cNvPr id="8" name="矩形 7"/>
          <p:cNvSpPr/>
          <p:nvPr/>
        </p:nvSpPr>
        <p:spPr>
          <a:xfrm>
            <a:off x="2620547" y="3648662"/>
            <a:ext cx="4339650" cy="369332"/>
          </a:xfrm>
          <a:prstGeom prst="rect">
            <a:avLst/>
          </a:prstGeom>
          <a:solidFill>
            <a:srgbClr val="FFCC99"/>
          </a:solidFill>
          <a:ln>
            <a:solidFill>
              <a:schemeClr val="accent1"/>
            </a:solidFill>
          </a:ln>
        </p:spPr>
        <p:txBody>
          <a:bodyPr wrap="none">
            <a:spAutoFit/>
          </a:bodyPr>
          <a:lstStyle/>
          <a:p>
            <a:r>
              <a:rPr lang="zh-CN" altLang="en-US" dirty="0" smtClean="0"/>
              <a:t>既包括党内</a:t>
            </a:r>
            <a:r>
              <a:rPr lang="zh-CN" altLang="en-US" dirty="0"/>
              <a:t>的因素，也包括党外的因素；</a:t>
            </a:r>
          </a:p>
        </p:txBody>
      </p:sp>
      <p:sp>
        <p:nvSpPr>
          <p:cNvPr id="9" name="矩形 8"/>
          <p:cNvSpPr/>
          <p:nvPr/>
        </p:nvSpPr>
        <p:spPr>
          <a:xfrm>
            <a:off x="2665780" y="4353180"/>
            <a:ext cx="4339650" cy="369332"/>
          </a:xfrm>
          <a:prstGeom prst="rect">
            <a:avLst/>
          </a:prstGeom>
          <a:solidFill>
            <a:srgbClr val="FFCC99"/>
          </a:solidFill>
          <a:ln>
            <a:solidFill>
              <a:schemeClr val="accent1"/>
            </a:solidFill>
          </a:ln>
        </p:spPr>
        <p:txBody>
          <a:bodyPr wrap="none">
            <a:spAutoFit/>
          </a:bodyPr>
          <a:lstStyle/>
          <a:p>
            <a:r>
              <a:rPr lang="zh-CN" altLang="en-US" dirty="0"/>
              <a:t>既包括国内的因素，也包括国外的因素；</a:t>
            </a:r>
          </a:p>
        </p:txBody>
      </p:sp>
      <p:sp>
        <p:nvSpPr>
          <p:cNvPr id="10" name="矩形 9"/>
          <p:cNvSpPr/>
          <p:nvPr/>
        </p:nvSpPr>
        <p:spPr>
          <a:xfrm>
            <a:off x="2665780" y="5248007"/>
            <a:ext cx="4339650" cy="369332"/>
          </a:xfrm>
          <a:prstGeom prst="rect">
            <a:avLst/>
          </a:prstGeom>
          <a:solidFill>
            <a:srgbClr val="FFCC99"/>
          </a:solidFill>
          <a:ln>
            <a:solidFill>
              <a:schemeClr val="accent1"/>
            </a:solidFill>
          </a:ln>
        </p:spPr>
        <p:txBody>
          <a:bodyPr wrap="none">
            <a:spAutoFit/>
          </a:bodyPr>
          <a:lstStyle/>
          <a:p>
            <a:r>
              <a:rPr lang="zh-CN" altLang="en-US" dirty="0"/>
              <a:t>既包括直接的因素，也包括间接的因素。</a:t>
            </a:r>
          </a:p>
        </p:txBody>
      </p:sp>
    </p:spTree>
    <p:extLst>
      <p:ext uri="{BB962C8B-B14F-4D97-AF65-F5344CB8AC3E}">
        <p14:creationId xmlns:p14="http://schemas.microsoft.com/office/powerpoint/2010/main" xmlns="" val="680459297"/>
      </p:ext>
    </p:extLst>
  </p:cSld>
  <p:clrMapOvr>
    <a:masterClrMapping/>
  </p:clrMapOvr>
  <p:transition>
    <p:strips dir="rd"/>
    <p:sndAc>
      <p:stSnd>
        <p:snd r:embed="rId2" name="chimes.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p:cNvSpPr>
          <p:nvPr>
            <p:ph idx="1"/>
          </p:nvPr>
        </p:nvSpPr>
        <p:spPr>
          <a:xfrm>
            <a:off x="1115616" y="908720"/>
            <a:ext cx="7776864" cy="932563"/>
          </a:xfrm>
          <a:solidFill>
            <a:schemeClr val="bg2"/>
          </a:solidFill>
          <a:ln w="12700">
            <a:solidFill>
              <a:srgbClr val="FF0000"/>
            </a:solidFill>
            <a:miter/>
          </a:ln>
        </p:spPr>
        <p:txBody>
          <a:bodyPr wrap="square" anchor="t">
            <a:spAutoFit/>
          </a:bodyPr>
          <a:lstStyle/>
          <a:p>
            <a:pPr marL="0" indent="0">
              <a:lnSpc>
                <a:spcPct val="105000"/>
              </a:lnSpc>
              <a:spcBef>
                <a:spcPct val="50000"/>
              </a:spcBef>
              <a:buNone/>
            </a:pPr>
            <a:r>
              <a:rPr lang="zh-CN" altLang="en-US" sz="2800" b="1" dirty="0" smtClean="0">
                <a:solidFill>
                  <a:srgbClr val="FF0000"/>
                </a:solidFill>
              </a:rPr>
              <a:t>♂</a:t>
            </a:r>
            <a:r>
              <a:rPr lang="zh-CN" altLang="en-US" sz="2400" b="1" dirty="0" smtClean="0"/>
              <a:t>调动</a:t>
            </a:r>
            <a:r>
              <a:rPr lang="zh-CN" altLang="en-US" sz="2400" b="1" dirty="0"/>
              <a:t>一切积极因素为社会主义事业服务，必须坚持中国共产党的领导</a:t>
            </a:r>
            <a:r>
              <a:rPr lang="zh-CN" altLang="en-US" sz="2400" b="1" dirty="0" smtClean="0"/>
              <a:t>。</a:t>
            </a:r>
            <a:endParaRPr lang="en-US" altLang="zh-CN" sz="2400" b="1" dirty="0" smtClean="0"/>
          </a:p>
        </p:txBody>
      </p:sp>
      <p:sp>
        <p:nvSpPr>
          <p:cNvPr id="2" name="矩形 1"/>
          <p:cNvSpPr/>
          <p:nvPr/>
        </p:nvSpPr>
        <p:spPr>
          <a:xfrm>
            <a:off x="1043608" y="2060848"/>
            <a:ext cx="7776864" cy="892552"/>
          </a:xfrm>
          <a:prstGeom prst="rect">
            <a:avLst/>
          </a:prstGeom>
          <a:solidFill>
            <a:schemeClr val="bg2"/>
          </a:solidFill>
          <a:ln>
            <a:solidFill>
              <a:schemeClr val="accent1"/>
            </a:solidFill>
          </a:ln>
        </p:spPr>
        <p:txBody>
          <a:bodyPr wrap="square">
            <a:spAutoFit/>
          </a:bodyPr>
          <a:lstStyle/>
          <a:p>
            <a:r>
              <a:rPr lang="zh-CN" altLang="en-US" sz="2800" b="1" dirty="0">
                <a:solidFill>
                  <a:srgbClr val="FF0000"/>
                </a:solidFill>
                <a:latin typeface="+mn-lt"/>
                <a:ea typeface="+mn-ea"/>
                <a:cs typeface="+mn-cs"/>
              </a:rPr>
              <a:t>♂</a:t>
            </a:r>
            <a:r>
              <a:rPr lang="zh-CN" altLang="en-US" sz="2400" b="1" dirty="0">
                <a:solidFill>
                  <a:schemeClr val="tx1"/>
                </a:solidFill>
                <a:latin typeface="+mn-lt"/>
                <a:ea typeface="+mn-ea"/>
                <a:cs typeface="+mn-cs"/>
              </a:rPr>
              <a:t>调动一切积极因素为社会主义事业服务，必须发展社会主义民主政治。</a:t>
            </a:r>
          </a:p>
        </p:txBody>
      </p:sp>
      <p:sp>
        <p:nvSpPr>
          <p:cNvPr id="3" name="矩形 2"/>
          <p:cNvSpPr/>
          <p:nvPr/>
        </p:nvSpPr>
        <p:spPr>
          <a:xfrm>
            <a:off x="1043608" y="3356992"/>
            <a:ext cx="7776864" cy="892552"/>
          </a:xfrm>
          <a:prstGeom prst="rect">
            <a:avLst/>
          </a:prstGeom>
          <a:solidFill>
            <a:schemeClr val="bg2"/>
          </a:solidFill>
          <a:ln>
            <a:solidFill>
              <a:schemeClr val="accent1"/>
            </a:solidFill>
          </a:ln>
        </p:spPr>
        <p:txBody>
          <a:bodyPr wrap="square">
            <a:spAutoFit/>
          </a:bodyPr>
          <a:lstStyle/>
          <a:p>
            <a:r>
              <a:rPr lang="zh-CN" altLang="en-US" sz="2800" b="1" dirty="0">
                <a:solidFill>
                  <a:srgbClr val="FF0000"/>
                </a:solidFill>
                <a:latin typeface="+mn-lt"/>
                <a:ea typeface="+mn-ea"/>
                <a:cs typeface="+mn-cs"/>
              </a:rPr>
              <a:t>♂</a:t>
            </a:r>
            <a:r>
              <a:rPr lang="zh-CN" altLang="en-US" sz="2400" b="1" dirty="0" smtClean="0">
                <a:solidFill>
                  <a:schemeClr val="tx1"/>
                </a:solidFill>
                <a:latin typeface="+mn-lt"/>
                <a:ea typeface="+mn-ea"/>
                <a:cs typeface="+mn-cs"/>
              </a:rPr>
              <a:t>调动</a:t>
            </a:r>
            <a:r>
              <a:rPr lang="zh-CN" altLang="en-US" sz="2400" b="1" dirty="0">
                <a:solidFill>
                  <a:schemeClr val="tx1"/>
                </a:solidFill>
                <a:latin typeface="+mn-lt"/>
                <a:ea typeface="+mn-ea"/>
                <a:cs typeface="+mn-cs"/>
              </a:rPr>
              <a:t>一切积极因素为社会主义事业服务</a:t>
            </a:r>
            <a:r>
              <a:rPr lang="zh-CN" altLang="en-US" sz="2400" b="1" dirty="0" smtClean="0">
                <a:solidFill>
                  <a:schemeClr val="tx1"/>
                </a:solidFill>
                <a:latin typeface="+mn-lt"/>
                <a:ea typeface="+mn-ea"/>
                <a:cs typeface="+mn-cs"/>
              </a:rPr>
              <a:t>，要认识</a:t>
            </a:r>
            <a:r>
              <a:rPr lang="zh-CN" altLang="en-US" sz="2400" b="1" dirty="0">
                <a:solidFill>
                  <a:schemeClr val="tx1"/>
                </a:solidFill>
                <a:latin typeface="+mn-lt"/>
                <a:ea typeface="+mn-ea"/>
                <a:cs typeface="+mn-cs"/>
              </a:rPr>
              <a:t>社会主义发展阶段和</a:t>
            </a:r>
            <a:r>
              <a:rPr lang="zh-CN" altLang="en-US" sz="2400" b="1" dirty="0" smtClean="0">
                <a:solidFill>
                  <a:schemeClr val="tx1"/>
                </a:solidFill>
                <a:latin typeface="+mn-lt"/>
                <a:ea typeface="+mn-ea"/>
                <a:cs typeface="+mn-cs"/>
              </a:rPr>
              <a:t>社会主义建设的规律。</a:t>
            </a:r>
            <a:endParaRPr lang="en-US" altLang="zh-CN" sz="2400" b="1" dirty="0" smtClean="0">
              <a:solidFill>
                <a:schemeClr val="tx1"/>
              </a:solidFill>
              <a:latin typeface="+mn-lt"/>
              <a:ea typeface="+mn-ea"/>
              <a:cs typeface="+mn-cs"/>
            </a:endParaRPr>
          </a:p>
        </p:txBody>
      </p:sp>
    </p:spTree>
    <p:extLst>
      <p:ext uri="{BB962C8B-B14F-4D97-AF65-F5344CB8AC3E}">
        <p14:creationId xmlns:p14="http://schemas.microsoft.com/office/powerpoint/2010/main" xmlns="" val="3642079996"/>
      </p:ext>
    </p:extLst>
  </p:cSld>
  <p:clrMapOvr>
    <a:masterClrMapping/>
  </p:clrMapOvr>
  <p:transition>
    <p:strips dir="rd"/>
    <p:sndAc>
      <p:stSnd>
        <p:snd r:embed="rId2" name="chimes.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4" name="Text Box 6"/>
          <p:cNvSpPr txBox="1">
            <a:spLocks noChangeArrowheads="1"/>
          </p:cNvSpPr>
          <p:nvPr/>
        </p:nvSpPr>
        <p:spPr bwMode="auto">
          <a:xfrm>
            <a:off x="251520" y="2132856"/>
            <a:ext cx="539750" cy="1927225"/>
          </a:xfrm>
          <a:prstGeom prst="rect">
            <a:avLst/>
          </a:prstGeom>
          <a:solidFill>
            <a:srgbClr val="FF3300"/>
          </a:solidFill>
          <a:ln w="9525">
            <a:solidFill>
              <a:schemeClr val="tx1"/>
            </a:solidFill>
            <a:miter lim="800000"/>
            <a:headEnd/>
            <a:tailEnd/>
          </a:ln>
          <a:effectLst/>
        </p:spPr>
        <p:txBody>
          <a:bodyPr>
            <a:spAutoFit/>
          </a:bodyPr>
          <a:lstStyle/>
          <a:p>
            <a:pPr>
              <a:defRPr/>
            </a:pPr>
            <a:r>
              <a:rPr kumimoji="1" lang="zh-CN" altLang="en-US" sz="2400" b="1">
                <a:solidFill>
                  <a:srgbClr val="FFFF00"/>
                </a:solidFill>
                <a:effectLst>
                  <a:outerShdw blurRad="38100" dist="38100" dir="2700000" algn="tl">
                    <a:srgbClr val="000000"/>
                  </a:outerShdw>
                </a:effectLst>
                <a:latin typeface="黑体" pitchFamily="2" charset="-122"/>
                <a:ea typeface="黑体" pitchFamily="2" charset="-122"/>
              </a:rPr>
              <a:t>论十大关系</a:t>
            </a:r>
          </a:p>
        </p:txBody>
      </p:sp>
      <p:sp>
        <p:nvSpPr>
          <p:cNvPr id="124935" name="Text Box 7"/>
          <p:cNvSpPr txBox="1">
            <a:spLocks noChangeArrowheads="1"/>
          </p:cNvSpPr>
          <p:nvPr/>
        </p:nvSpPr>
        <p:spPr bwMode="auto">
          <a:xfrm>
            <a:off x="1259632" y="3573016"/>
            <a:ext cx="811213" cy="831850"/>
          </a:xfrm>
          <a:prstGeom prst="rect">
            <a:avLst/>
          </a:prstGeom>
          <a:solidFill>
            <a:srgbClr val="FF3300"/>
          </a:solidFill>
          <a:ln w="9525">
            <a:solidFill>
              <a:schemeClr val="tx1"/>
            </a:solidFill>
            <a:miter lim="800000"/>
            <a:headEnd/>
            <a:tailEnd/>
          </a:ln>
          <a:effectLst/>
        </p:spPr>
        <p:txBody>
          <a:bodyPr>
            <a:spAutoFit/>
          </a:bodyPr>
          <a:lstStyle/>
          <a:p>
            <a:pPr>
              <a:defRPr/>
            </a:pPr>
            <a:r>
              <a:rPr kumimoji="1" lang="zh-CN" altLang="en-US" sz="2400" b="1">
                <a:solidFill>
                  <a:srgbClr val="FFFF00"/>
                </a:solidFill>
                <a:effectLst>
                  <a:outerShdw blurRad="38100" dist="38100" dir="2700000" algn="tl">
                    <a:srgbClr val="000000"/>
                  </a:outerShdw>
                </a:effectLst>
                <a:latin typeface="黑体" pitchFamily="2" charset="-122"/>
                <a:ea typeface="黑体" pitchFamily="2" charset="-122"/>
              </a:rPr>
              <a:t>政治关系</a:t>
            </a:r>
          </a:p>
        </p:txBody>
      </p:sp>
      <p:sp>
        <p:nvSpPr>
          <p:cNvPr id="124936" name="Text Box 8"/>
          <p:cNvSpPr txBox="1">
            <a:spLocks noChangeArrowheads="1"/>
          </p:cNvSpPr>
          <p:nvPr/>
        </p:nvSpPr>
        <p:spPr bwMode="auto">
          <a:xfrm>
            <a:off x="1331640" y="1556792"/>
            <a:ext cx="854075" cy="831850"/>
          </a:xfrm>
          <a:prstGeom prst="rect">
            <a:avLst/>
          </a:prstGeom>
          <a:solidFill>
            <a:srgbClr val="FF3300"/>
          </a:solidFill>
          <a:ln w="9525">
            <a:solidFill>
              <a:schemeClr val="tx1"/>
            </a:solidFill>
            <a:miter lim="800000"/>
            <a:headEnd/>
            <a:tailEnd/>
          </a:ln>
          <a:effectLst/>
        </p:spPr>
        <p:txBody>
          <a:bodyPr>
            <a:spAutoFit/>
          </a:bodyPr>
          <a:lstStyle/>
          <a:p>
            <a:pPr>
              <a:defRPr/>
            </a:pPr>
            <a:r>
              <a:rPr kumimoji="1" lang="zh-CN" altLang="en-US" sz="2400" b="1">
                <a:solidFill>
                  <a:srgbClr val="FFFF00"/>
                </a:solidFill>
                <a:effectLst>
                  <a:outerShdw blurRad="38100" dist="38100" dir="2700000" algn="tl">
                    <a:srgbClr val="000000"/>
                  </a:outerShdw>
                </a:effectLst>
                <a:latin typeface="黑体" pitchFamily="2" charset="-122"/>
                <a:ea typeface="黑体" pitchFamily="2" charset="-122"/>
              </a:rPr>
              <a:t>经济关系</a:t>
            </a:r>
          </a:p>
        </p:txBody>
      </p:sp>
      <p:sp>
        <p:nvSpPr>
          <p:cNvPr id="9221" name="Line 9"/>
          <p:cNvSpPr>
            <a:spLocks noChangeShapeType="1"/>
          </p:cNvSpPr>
          <p:nvPr/>
        </p:nvSpPr>
        <p:spPr bwMode="auto">
          <a:xfrm flipV="1">
            <a:off x="827584" y="2276872"/>
            <a:ext cx="457200" cy="762000"/>
          </a:xfrm>
          <a:prstGeom prst="line">
            <a:avLst/>
          </a:prstGeom>
          <a:noFill/>
          <a:ln w="57150">
            <a:solidFill>
              <a:srgbClr val="0000FF"/>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9222" name="Line 10"/>
          <p:cNvSpPr>
            <a:spLocks noChangeShapeType="1"/>
          </p:cNvSpPr>
          <p:nvPr/>
        </p:nvSpPr>
        <p:spPr bwMode="auto">
          <a:xfrm>
            <a:off x="827584" y="3068960"/>
            <a:ext cx="457200" cy="762000"/>
          </a:xfrm>
          <a:prstGeom prst="line">
            <a:avLst/>
          </a:prstGeom>
          <a:noFill/>
          <a:ln w="57150">
            <a:solidFill>
              <a:srgbClr val="0000FF"/>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9223" name="Text Box 11"/>
          <p:cNvSpPr txBox="1">
            <a:spLocks noChangeArrowheads="1"/>
          </p:cNvSpPr>
          <p:nvPr/>
        </p:nvSpPr>
        <p:spPr bwMode="auto">
          <a:xfrm>
            <a:off x="3563888" y="2924944"/>
            <a:ext cx="4668837" cy="406400"/>
          </a:xfrm>
          <a:prstGeom prst="rect">
            <a:avLst/>
          </a:prstGeom>
          <a:solidFill>
            <a:srgbClr val="FF3300"/>
          </a:solidFill>
          <a:ln w="9525">
            <a:solidFill>
              <a:schemeClr val="tx1"/>
            </a:solidFill>
            <a:miter lim="800000"/>
            <a:headEnd/>
            <a:tailEnd/>
          </a:ln>
        </p:spPr>
        <p:txBody>
          <a:bodyPr>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kumimoji="1" lang="zh-CN" altLang="en-US" sz="2000" b="1">
                <a:solidFill>
                  <a:srgbClr val="FFFF00"/>
                </a:solidFill>
                <a:latin typeface="黑体" pitchFamily="2" charset="-122"/>
                <a:ea typeface="黑体" pitchFamily="2" charset="-122"/>
              </a:rPr>
              <a:t>调动一切积极因素为社会主义事业服务</a:t>
            </a:r>
          </a:p>
        </p:txBody>
      </p:sp>
      <p:sp>
        <p:nvSpPr>
          <p:cNvPr id="9224" name="Line 12"/>
          <p:cNvSpPr>
            <a:spLocks noChangeShapeType="1"/>
          </p:cNvSpPr>
          <p:nvPr/>
        </p:nvSpPr>
        <p:spPr bwMode="auto">
          <a:xfrm>
            <a:off x="2627784" y="3140968"/>
            <a:ext cx="914400" cy="0"/>
          </a:xfrm>
          <a:prstGeom prst="line">
            <a:avLst/>
          </a:prstGeom>
          <a:noFill/>
          <a:ln w="76200">
            <a:solidFill>
              <a:srgbClr val="0000FF"/>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124941" name="Oval 13"/>
          <p:cNvSpPr>
            <a:spLocks noChangeArrowheads="1"/>
          </p:cNvSpPr>
          <p:nvPr/>
        </p:nvSpPr>
        <p:spPr bwMode="auto">
          <a:xfrm>
            <a:off x="1691680" y="2636912"/>
            <a:ext cx="914400" cy="914400"/>
          </a:xfrm>
          <a:prstGeom prst="ellipse">
            <a:avLst/>
          </a:prstGeom>
          <a:solidFill>
            <a:srgbClr val="FF3300"/>
          </a:solidFill>
          <a:ln w="9525">
            <a:solidFill>
              <a:schemeClr val="tx1"/>
            </a:solidFill>
            <a:round/>
            <a:headEnd/>
            <a:tailEnd/>
          </a:ln>
          <a:effectLst/>
        </p:spPr>
        <p:txBody>
          <a:bodyPr wrap="none" anchor="ctr"/>
          <a:lstStyle/>
          <a:p>
            <a:pPr algn="ctr">
              <a:defRPr/>
            </a:pPr>
            <a:r>
              <a:rPr kumimoji="1" lang="zh-CN" altLang="en-US" sz="2400" b="1">
                <a:solidFill>
                  <a:srgbClr val="0000FF"/>
                </a:solidFill>
                <a:effectLst>
                  <a:outerShdw blurRad="38100" dist="38100" dir="2700000" algn="tl">
                    <a:srgbClr val="000000"/>
                  </a:outerShdw>
                </a:effectLst>
                <a:latin typeface="黑体" pitchFamily="2" charset="-122"/>
                <a:ea typeface="黑体" pitchFamily="2" charset="-122"/>
              </a:rPr>
              <a:t>基本</a:t>
            </a:r>
          </a:p>
          <a:p>
            <a:pPr algn="ctr">
              <a:defRPr/>
            </a:pPr>
            <a:r>
              <a:rPr kumimoji="1" lang="zh-CN" altLang="en-US" sz="2400" b="1">
                <a:solidFill>
                  <a:srgbClr val="0000FF"/>
                </a:solidFill>
                <a:effectLst>
                  <a:outerShdw blurRad="38100" dist="38100" dir="2700000" algn="tl">
                    <a:srgbClr val="000000"/>
                  </a:outerShdw>
                </a:effectLst>
                <a:latin typeface="黑体" pitchFamily="2" charset="-122"/>
                <a:ea typeface="黑体" pitchFamily="2" charset="-122"/>
              </a:rPr>
              <a:t>方针</a:t>
            </a:r>
          </a:p>
        </p:txBody>
      </p:sp>
      <p:sp>
        <p:nvSpPr>
          <p:cNvPr id="9226" name="Line 14"/>
          <p:cNvSpPr>
            <a:spLocks noChangeShapeType="1"/>
          </p:cNvSpPr>
          <p:nvPr/>
        </p:nvSpPr>
        <p:spPr bwMode="auto">
          <a:xfrm>
            <a:off x="827584" y="3068960"/>
            <a:ext cx="838200" cy="0"/>
          </a:xfrm>
          <a:prstGeom prst="line">
            <a:avLst/>
          </a:prstGeom>
          <a:noFill/>
          <a:ln w="76200">
            <a:solidFill>
              <a:srgbClr val="0000FF"/>
            </a:solidFill>
            <a:round/>
            <a:headEnd/>
            <a:tailEnd/>
          </a:ln>
          <a:extLst>
            <a:ext uri="{909E8E84-426E-40DD-AFC4-6F175D3DCCD1}">
              <a14:hiddenFill xmlns:a14="http://schemas.microsoft.com/office/drawing/2010/main" xmlns="">
                <a:noFill/>
              </a14:hiddenFill>
            </a:ext>
          </a:extLst>
        </p:spPr>
        <p:txBody>
          <a:bodyPr wrap="none"/>
          <a:lstStyle/>
          <a:p>
            <a:endParaRPr lang="zh-CN" altLang="en-US"/>
          </a:p>
        </p:txBody>
      </p:sp>
      <p:sp>
        <p:nvSpPr>
          <p:cNvPr id="9227" name="Text Box 16"/>
          <p:cNvSpPr txBox="1">
            <a:spLocks noChangeArrowheads="1"/>
          </p:cNvSpPr>
          <p:nvPr/>
        </p:nvSpPr>
        <p:spPr bwMode="auto">
          <a:xfrm>
            <a:off x="3131840" y="332656"/>
            <a:ext cx="3186113" cy="376238"/>
          </a:xfrm>
          <a:prstGeom prst="rect">
            <a:avLst/>
          </a:prstGeom>
          <a:noFill/>
          <a:ln w="9525">
            <a:solidFill>
              <a:srgbClr val="00FF00"/>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b="1">
                <a:solidFill>
                  <a:srgbClr val="0000FF"/>
                </a:solidFill>
              </a:rPr>
              <a:t>重工业与轻工业、农业的关系</a:t>
            </a:r>
          </a:p>
        </p:txBody>
      </p:sp>
      <p:sp>
        <p:nvSpPr>
          <p:cNvPr id="9228" name="Text Box 17"/>
          <p:cNvSpPr txBox="1">
            <a:spLocks noChangeArrowheads="1"/>
          </p:cNvSpPr>
          <p:nvPr/>
        </p:nvSpPr>
        <p:spPr bwMode="auto">
          <a:xfrm>
            <a:off x="3131840" y="764704"/>
            <a:ext cx="2955925" cy="376238"/>
          </a:xfrm>
          <a:prstGeom prst="rect">
            <a:avLst/>
          </a:prstGeom>
          <a:noFill/>
          <a:ln w="9525">
            <a:solidFill>
              <a:srgbClr val="00FF00"/>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b="1">
                <a:solidFill>
                  <a:srgbClr val="0000FF"/>
                </a:solidFill>
              </a:rPr>
              <a:t>沿海工业和内地工业的关系</a:t>
            </a:r>
          </a:p>
        </p:txBody>
      </p:sp>
      <p:sp>
        <p:nvSpPr>
          <p:cNvPr id="9229" name="Text Box 18"/>
          <p:cNvSpPr txBox="1">
            <a:spLocks noChangeArrowheads="1"/>
          </p:cNvSpPr>
          <p:nvPr/>
        </p:nvSpPr>
        <p:spPr bwMode="auto">
          <a:xfrm>
            <a:off x="3131840" y="1124744"/>
            <a:ext cx="2955925" cy="376237"/>
          </a:xfrm>
          <a:prstGeom prst="rect">
            <a:avLst/>
          </a:prstGeom>
          <a:noFill/>
          <a:ln w="9525">
            <a:solidFill>
              <a:srgbClr val="00FF00"/>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b="1">
                <a:solidFill>
                  <a:srgbClr val="0000FF"/>
                </a:solidFill>
              </a:rPr>
              <a:t>经济建设和国防建设的关系</a:t>
            </a:r>
          </a:p>
        </p:txBody>
      </p:sp>
      <p:sp>
        <p:nvSpPr>
          <p:cNvPr id="9230" name="Text Box 19"/>
          <p:cNvSpPr txBox="1">
            <a:spLocks noChangeArrowheads="1"/>
          </p:cNvSpPr>
          <p:nvPr/>
        </p:nvSpPr>
        <p:spPr bwMode="auto">
          <a:xfrm>
            <a:off x="3131840" y="1700808"/>
            <a:ext cx="3186113" cy="376237"/>
          </a:xfrm>
          <a:prstGeom prst="rect">
            <a:avLst/>
          </a:prstGeom>
          <a:noFill/>
          <a:ln w="9525">
            <a:solidFill>
              <a:srgbClr val="00FF00"/>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b="1">
                <a:solidFill>
                  <a:srgbClr val="0000FF"/>
                </a:solidFill>
              </a:rPr>
              <a:t>国家、生产单位和个人的关系</a:t>
            </a:r>
          </a:p>
        </p:txBody>
      </p:sp>
      <p:sp>
        <p:nvSpPr>
          <p:cNvPr id="9231" name="Text Box 21"/>
          <p:cNvSpPr txBox="1">
            <a:spLocks noChangeArrowheads="1"/>
          </p:cNvSpPr>
          <p:nvPr/>
        </p:nvSpPr>
        <p:spPr bwMode="auto">
          <a:xfrm>
            <a:off x="3131840" y="2132856"/>
            <a:ext cx="2035175" cy="376237"/>
          </a:xfrm>
          <a:prstGeom prst="rect">
            <a:avLst/>
          </a:prstGeom>
          <a:noFill/>
          <a:ln w="9525">
            <a:solidFill>
              <a:srgbClr val="00FF00"/>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b="1">
                <a:solidFill>
                  <a:srgbClr val="0000FF"/>
                </a:solidFill>
              </a:rPr>
              <a:t>中央和地方的关系</a:t>
            </a:r>
          </a:p>
        </p:txBody>
      </p:sp>
      <p:sp>
        <p:nvSpPr>
          <p:cNvPr id="9232" name="Text Box 22"/>
          <p:cNvSpPr txBox="1">
            <a:spLocks noChangeArrowheads="1"/>
          </p:cNvSpPr>
          <p:nvPr/>
        </p:nvSpPr>
        <p:spPr bwMode="auto">
          <a:xfrm>
            <a:off x="3203848" y="3501008"/>
            <a:ext cx="2566728" cy="369332"/>
          </a:xfrm>
          <a:prstGeom prst="rect">
            <a:avLst/>
          </a:prstGeom>
          <a:noFill/>
          <a:ln w="9525">
            <a:solidFill>
              <a:srgbClr val="00FF00"/>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b="1" dirty="0">
                <a:solidFill>
                  <a:srgbClr val="FF0000"/>
                </a:solidFill>
                <a:latin typeface="Times New Roman" panose="02020603050405020304" pitchFamily="18" charset="0"/>
                <a:ea typeface="黑体" panose="02010609060101010101" pitchFamily="49" charset="-122"/>
              </a:rPr>
              <a:t>汉族和</a:t>
            </a:r>
            <a:r>
              <a:rPr lang="zh-CN" altLang="en-US" b="1" dirty="0" smtClean="0">
                <a:solidFill>
                  <a:srgbClr val="FF0000"/>
                </a:solidFill>
                <a:latin typeface="Times New Roman" panose="02020603050405020304" pitchFamily="18" charset="0"/>
                <a:ea typeface="黑体" panose="02010609060101010101" pitchFamily="49" charset="-122"/>
              </a:rPr>
              <a:t>少数民族</a:t>
            </a:r>
            <a:r>
              <a:rPr lang="zh-CN" altLang="en-US" b="1" dirty="0" smtClean="0">
                <a:solidFill>
                  <a:srgbClr val="0000FF"/>
                </a:solidFill>
              </a:rPr>
              <a:t>的关系 </a:t>
            </a:r>
            <a:endParaRPr lang="zh-CN" altLang="en-US" b="1" dirty="0">
              <a:solidFill>
                <a:srgbClr val="0000FF"/>
              </a:solidFill>
            </a:endParaRPr>
          </a:p>
        </p:txBody>
      </p:sp>
      <p:sp>
        <p:nvSpPr>
          <p:cNvPr id="9233" name="Text Box 23"/>
          <p:cNvSpPr txBox="1">
            <a:spLocks noChangeArrowheads="1"/>
          </p:cNvSpPr>
          <p:nvPr/>
        </p:nvSpPr>
        <p:spPr bwMode="auto">
          <a:xfrm>
            <a:off x="3203848" y="4005064"/>
            <a:ext cx="2044149" cy="369332"/>
          </a:xfrm>
          <a:prstGeom prst="rect">
            <a:avLst/>
          </a:prstGeom>
          <a:noFill/>
          <a:ln w="9525">
            <a:solidFill>
              <a:srgbClr val="00FF00"/>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b="1" dirty="0">
                <a:solidFill>
                  <a:srgbClr val="FF0000"/>
                </a:solidFill>
                <a:latin typeface="Times New Roman" panose="02020603050405020304" pitchFamily="18" charset="0"/>
                <a:ea typeface="黑体" panose="02010609060101010101" pitchFamily="49" charset="-122"/>
              </a:rPr>
              <a:t>党和非党</a:t>
            </a:r>
            <a:r>
              <a:rPr lang="zh-CN" altLang="en-US" b="1" dirty="0" smtClean="0">
                <a:solidFill>
                  <a:srgbClr val="FF0000"/>
                </a:solidFill>
                <a:latin typeface="Times New Roman" panose="02020603050405020304" pitchFamily="18" charset="0"/>
                <a:ea typeface="黑体" panose="02010609060101010101" pitchFamily="49" charset="-122"/>
              </a:rPr>
              <a:t>的</a:t>
            </a:r>
            <a:r>
              <a:rPr lang="zh-CN" altLang="en-US" b="1" dirty="0" smtClean="0">
                <a:solidFill>
                  <a:srgbClr val="0000FF"/>
                </a:solidFill>
              </a:rPr>
              <a:t>的</a:t>
            </a:r>
            <a:r>
              <a:rPr lang="zh-CN" altLang="en-US" b="1" dirty="0">
                <a:solidFill>
                  <a:srgbClr val="0000FF"/>
                </a:solidFill>
              </a:rPr>
              <a:t>关系</a:t>
            </a:r>
          </a:p>
        </p:txBody>
      </p:sp>
      <p:sp>
        <p:nvSpPr>
          <p:cNvPr id="9234" name="Text Box 24"/>
          <p:cNvSpPr txBox="1">
            <a:spLocks noChangeArrowheads="1"/>
          </p:cNvSpPr>
          <p:nvPr/>
        </p:nvSpPr>
        <p:spPr bwMode="auto">
          <a:xfrm>
            <a:off x="3203848" y="4437112"/>
            <a:ext cx="2276585" cy="369332"/>
          </a:xfrm>
          <a:prstGeom prst="rect">
            <a:avLst/>
          </a:prstGeom>
          <a:noFill/>
          <a:ln w="9525">
            <a:solidFill>
              <a:srgbClr val="00FF00"/>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b="1" dirty="0">
                <a:solidFill>
                  <a:srgbClr val="FF0000"/>
                </a:solidFill>
                <a:latin typeface="Times New Roman" panose="02020603050405020304" pitchFamily="18" charset="0"/>
                <a:ea typeface="黑体" panose="02010609060101010101" pitchFamily="49" charset="-122"/>
              </a:rPr>
              <a:t>革命和</a:t>
            </a:r>
            <a:r>
              <a:rPr lang="zh-CN" altLang="en-US" b="1" dirty="0" smtClean="0">
                <a:solidFill>
                  <a:srgbClr val="FF0000"/>
                </a:solidFill>
                <a:latin typeface="Times New Roman" panose="02020603050405020304" pitchFamily="18" charset="0"/>
                <a:ea typeface="黑体" panose="02010609060101010101" pitchFamily="49" charset="-122"/>
              </a:rPr>
              <a:t>反革命</a:t>
            </a:r>
            <a:r>
              <a:rPr lang="zh-CN" altLang="en-US" b="1" dirty="0" smtClean="0">
                <a:solidFill>
                  <a:srgbClr val="0000FF"/>
                </a:solidFill>
              </a:rPr>
              <a:t>的</a:t>
            </a:r>
            <a:r>
              <a:rPr lang="zh-CN" altLang="en-US" b="1" dirty="0">
                <a:solidFill>
                  <a:srgbClr val="0000FF"/>
                </a:solidFill>
              </a:rPr>
              <a:t>关系</a:t>
            </a:r>
          </a:p>
        </p:txBody>
      </p:sp>
      <p:sp>
        <p:nvSpPr>
          <p:cNvPr id="9235" name="Text Box 25"/>
          <p:cNvSpPr txBox="1">
            <a:spLocks noChangeArrowheads="1"/>
          </p:cNvSpPr>
          <p:nvPr/>
        </p:nvSpPr>
        <p:spPr bwMode="auto">
          <a:xfrm>
            <a:off x="3203848" y="4869160"/>
            <a:ext cx="1346844" cy="369332"/>
          </a:xfrm>
          <a:prstGeom prst="rect">
            <a:avLst/>
          </a:prstGeom>
          <a:noFill/>
          <a:ln w="9525">
            <a:solidFill>
              <a:srgbClr val="00FF00"/>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b="1" dirty="0" smtClean="0">
                <a:solidFill>
                  <a:srgbClr val="FF0000"/>
                </a:solidFill>
                <a:latin typeface="Times New Roman" panose="02020603050405020304" pitchFamily="18" charset="0"/>
                <a:ea typeface="黑体" panose="02010609060101010101" pitchFamily="49" charset="-122"/>
              </a:rPr>
              <a:t>是非</a:t>
            </a:r>
            <a:r>
              <a:rPr lang="zh-CN" altLang="en-US" b="1" dirty="0" smtClean="0">
                <a:solidFill>
                  <a:srgbClr val="0000FF"/>
                </a:solidFill>
              </a:rPr>
              <a:t>的</a:t>
            </a:r>
            <a:r>
              <a:rPr lang="zh-CN" altLang="en-US" b="1" dirty="0">
                <a:solidFill>
                  <a:srgbClr val="0000FF"/>
                </a:solidFill>
              </a:rPr>
              <a:t>关系</a:t>
            </a:r>
          </a:p>
        </p:txBody>
      </p:sp>
      <p:sp>
        <p:nvSpPr>
          <p:cNvPr id="9236" name="Text Box 26"/>
          <p:cNvSpPr txBox="1">
            <a:spLocks noChangeArrowheads="1"/>
          </p:cNvSpPr>
          <p:nvPr/>
        </p:nvSpPr>
        <p:spPr bwMode="auto">
          <a:xfrm>
            <a:off x="3203848" y="5301208"/>
            <a:ext cx="2044149" cy="369332"/>
          </a:xfrm>
          <a:prstGeom prst="rect">
            <a:avLst/>
          </a:prstGeom>
          <a:noFill/>
          <a:ln w="9525">
            <a:solidFill>
              <a:srgbClr val="00FF00"/>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b="1" dirty="0">
                <a:solidFill>
                  <a:srgbClr val="FF0000"/>
                </a:solidFill>
                <a:latin typeface="Times New Roman" panose="02020603050405020304" pitchFamily="18" charset="0"/>
                <a:ea typeface="黑体" panose="02010609060101010101" pitchFamily="49" charset="-122"/>
              </a:rPr>
              <a:t>中国和</a:t>
            </a:r>
            <a:r>
              <a:rPr lang="zh-CN" altLang="en-US" b="1" dirty="0" smtClean="0">
                <a:solidFill>
                  <a:srgbClr val="FF0000"/>
                </a:solidFill>
                <a:latin typeface="Times New Roman" panose="02020603050405020304" pitchFamily="18" charset="0"/>
                <a:ea typeface="黑体" panose="02010609060101010101" pitchFamily="49" charset="-122"/>
              </a:rPr>
              <a:t>外国</a:t>
            </a:r>
            <a:r>
              <a:rPr lang="zh-CN" altLang="en-US" b="1" dirty="0" smtClean="0">
                <a:solidFill>
                  <a:srgbClr val="0000FF"/>
                </a:solidFill>
              </a:rPr>
              <a:t>的</a:t>
            </a:r>
            <a:r>
              <a:rPr lang="zh-CN" altLang="en-US" b="1" dirty="0">
                <a:solidFill>
                  <a:srgbClr val="0000FF"/>
                </a:solidFill>
              </a:rPr>
              <a:t>关系</a:t>
            </a:r>
          </a:p>
        </p:txBody>
      </p:sp>
      <p:sp>
        <p:nvSpPr>
          <p:cNvPr id="9237" name="AutoShape 27"/>
          <p:cNvSpPr>
            <a:spLocks/>
          </p:cNvSpPr>
          <p:nvPr/>
        </p:nvSpPr>
        <p:spPr bwMode="auto">
          <a:xfrm>
            <a:off x="2699792" y="548680"/>
            <a:ext cx="271463" cy="2024062"/>
          </a:xfrm>
          <a:prstGeom prst="leftBrace">
            <a:avLst>
              <a:gd name="adj1" fmla="val 62134"/>
              <a:gd name="adj2" fmla="val 50000"/>
            </a:avLst>
          </a:prstGeom>
          <a:noFill/>
          <a:ln w="317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9238" name="AutoShape 28"/>
          <p:cNvSpPr>
            <a:spLocks/>
          </p:cNvSpPr>
          <p:nvPr/>
        </p:nvSpPr>
        <p:spPr bwMode="auto">
          <a:xfrm>
            <a:off x="2555776" y="3356992"/>
            <a:ext cx="271463" cy="2024063"/>
          </a:xfrm>
          <a:prstGeom prst="leftBrace">
            <a:avLst>
              <a:gd name="adj1" fmla="val 62134"/>
              <a:gd name="adj2" fmla="val 50000"/>
            </a:avLst>
          </a:prstGeom>
          <a:noFill/>
          <a:ln w="317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cxnSp>
        <p:nvCxnSpPr>
          <p:cNvPr id="9239" name="AutoShape 29"/>
          <p:cNvCxnSpPr>
            <a:cxnSpLocks noChangeShapeType="1"/>
            <a:stCxn id="9237" idx="1"/>
            <a:endCxn id="124936" idx="3"/>
          </p:cNvCxnSpPr>
          <p:nvPr/>
        </p:nvCxnSpPr>
        <p:spPr bwMode="auto">
          <a:xfrm flipH="1">
            <a:off x="2185715" y="1560711"/>
            <a:ext cx="514077" cy="412006"/>
          </a:xfrm>
          <a:prstGeom prst="straightConnector1">
            <a:avLst/>
          </a:prstGeom>
          <a:noFill/>
          <a:ln w="31750">
            <a:solidFill>
              <a:srgbClr val="0000FF"/>
            </a:solidFill>
            <a:round/>
            <a:headEnd/>
            <a:tailEnd/>
          </a:ln>
          <a:extLst>
            <a:ext uri="{909E8E84-426E-40DD-AFC4-6F175D3DCCD1}">
              <a14:hiddenFill xmlns:a14="http://schemas.microsoft.com/office/drawing/2010/main" xmlns="">
                <a:noFill/>
              </a14:hiddenFill>
            </a:ext>
          </a:extLst>
        </p:spPr>
      </p:cxnSp>
      <p:cxnSp>
        <p:nvCxnSpPr>
          <p:cNvPr id="9240" name="AutoShape 30"/>
          <p:cNvCxnSpPr>
            <a:cxnSpLocks noChangeShapeType="1"/>
          </p:cNvCxnSpPr>
          <p:nvPr/>
        </p:nvCxnSpPr>
        <p:spPr bwMode="auto">
          <a:xfrm>
            <a:off x="2123728" y="4005064"/>
            <a:ext cx="484931" cy="380083"/>
          </a:xfrm>
          <a:prstGeom prst="straightConnector1">
            <a:avLst/>
          </a:prstGeom>
          <a:noFill/>
          <a:ln w="31750">
            <a:solidFill>
              <a:srgbClr val="0000FF"/>
            </a:solidFill>
            <a:round/>
            <a:headEnd/>
            <a:tailEnd/>
          </a:ln>
          <a:extLst>
            <a:ext uri="{909E8E84-426E-40DD-AFC4-6F175D3DCCD1}">
              <a14:hiddenFill xmlns:a14="http://schemas.microsoft.com/office/drawing/2010/main" xmlns="">
                <a:noFill/>
              </a14:hiddenFill>
            </a:ext>
          </a:extLst>
        </p:spPr>
      </p:cxnSp>
      <p:sp>
        <p:nvSpPr>
          <p:cNvPr id="25" name="右大括号 24"/>
          <p:cNvSpPr/>
          <p:nvPr/>
        </p:nvSpPr>
        <p:spPr>
          <a:xfrm>
            <a:off x="6372200" y="332656"/>
            <a:ext cx="288032" cy="1152128"/>
          </a:xfrm>
          <a:prstGeom prst="rightBrace">
            <a:avLst/>
          </a:prstGeom>
          <a:solidFill>
            <a:schemeClr val="accent2"/>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3200" dirty="0">
              <a:solidFill>
                <a:srgbClr val="00B0F0"/>
              </a:solidFill>
            </a:endParaRPr>
          </a:p>
        </p:txBody>
      </p:sp>
      <p:sp>
        <p:nvSpPr>
          <p:cNvPr id="27" name="矩形 26"/>
          <p:cNvSpPr/>
          <p:nvPr/>
        </p:nvSpPr>
        <p:spPr>
          <a:xfrm>
            <a:off x="6732240" y="404664"/>
            <a:ext cx="2304256" cy="936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实际提出了要走中国工业化道路的思想</a:t>
            </a:r>
            <a:endParaRPr lang="zh-CN" altLang="en-US" dirty="0"/>
          </a:p>
        </p:txBody>
      </p:sp>
      <p:sp>
        <p:nvSpPr>
          <p:cNvPr id="28" name="矩形 27"/>
          <p:cNvSpPr/>
          <p:nvPr/>
        </p:nvSpPr>
        <p:spPr>
          <a:xfrm>
            <a:off x="6732240" y="1700808"/>
            <a:ext cx="2411760" cy="936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实际提出了对过分集中的经济体制进行改革的问题</a:t>
            </a:r>
            <a:endParaRPr lang="zh-CN" altLang="en-US" dirty="0"/>
          </a:p>
        </p:txBody>
      </p:sp>
      <p:sp>
        <p:nvSpPr>
          <p:cNvPr id="29" name="右大括号 28"/>
          <p:cNvSpPr/>
          <p:nvPr/>
        </p:nvSpPr>
        <p:spPr>
          <a:xfrm>
            <a:off x="6516216" y="1556792"/>
            <a:ext cx="288032" cy="1152128"/>
          </a:xfrm>
          <a:prstGeom prst="rightBrace">
            <a:avLst/>
          </a:prstGeom>
          <a:solidFill>
            <a:schemeClr val="accent2"/>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3200" dirty="0">
              <a:solidFill>
                <a:srgbClr val="00B0F0"/>
              </a:solidFill>
            </a:endParaRPr>
          </a:p>
        </p:txBody>
      </p:sp>
      <p:sp>
        <p:nvSpPr>
          <p:cNvPr id="34" name="右大括号 33"/>
          <p:cNvSpPr/>
          <p:nvPr/>
        </p:nvSpPr>
        <p:spPr>
          <a:xfrm>
            <a:off x="6444208" y="3717032"/>
            <a:ext cx="360040" cy="2016224"/>
          </a:xfrm>
          <a:prstGeom prst="rightBrace">
            <a:avLst/>
          </a:prstGeom>
          <a:solidFill>
            <a:schemeClr val="accent2"/>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3600" dirty="0">
              <a:solidFill>
                <a:srgbClr val="00B0F0"/>
              </a:solidFill>
            </a:endParaRPr>
          </a:p>
        </p:txBody>
      </p:sp>
      <p:sp>
        <p:nvSpPr>
          <p:cNvPr id="35" name="矩形 34"/>
          <p:cNvSpPr/>
          <p:nvPr/>
        </p:nvSpPr>
        <p:spPr>
          <a:xfrm>
            <a:off x="6732240" y="4149080"/>
            <a:ext cx="2411760" cy="936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以苏为鉴，开始提出中国社会主义民主政治建设的方针</a:t>
            </a:r>
            <a:endParaRPr lang="zh-CN" altLang="en-US" dirty="0"/>
          </a:p>
        </p:txBody>
      </p:sp>
      <p:sp>
        <p:nvSpPr>
          <p:cNvPr id="36" name="Rectangle 2"/>
          <p:cNvSpPr txBox="1">
            <a:spLocks/>
          </p:cNvSpPr>
          <p:nvPr/>
        </p:nvSpPr>
        <p:spPr>
          <a:xfrm>
            <a:off x="395536" y="404664"/>
            <a:ext cx="2016224" cy="997196"/>
          </a:xfrm>
          <a:prstGeom prst="rect">
            <a:avLst/>
          </a:prstGeom>
          <a:solidFill>
            <a:schemeClr val="bg1"/>
          </a:solidFill>
          <a:ln w="12700">
            <a:solidFill>
              <a:srgbClr val="FF0000"/>
            </a:solidFill>
            <a:miter/>
          </a:ln>
        </p:spPr>
        <p:txBody>
          <a:bodyPr vert="horz" wrap="square" rtlCol="0" anchor="t">
            <a:spAutoFit/>
          </a:bodyPr>
          <a:lst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05000"/>
              </a:lnSpc>
              <a:spcBef>
                <a:spcPct val="50000"/>
              </a:spcBef>
              <a:buFont typeface="Wingdings 2"/>
              <a:buNone/>
            </a:pPr>
            <a:r>
              <a:rPr lang="en-US" altLang="zh-CN" sz="2800" b="1" dirty="0" smtClean="0">
                <a:solidFill>
                  <a:srgbClr val="0000FF"/>
                </a:solidFill>
                <a:latin typeface="黑体" pitchFamily="49" charset="-122"/>
                <a:ea typeface="黑体" pitchFamily="49" charset="-122"/>
              </a:rPr>
              <a:t>2</a:t>
            </a:r>
            <a:r>
              <a:rPr lang="zh-CN" altLang="en-US" sz="2800" b="1" dirty="0" smtClean="0">
                <a:solidFill>
                  <a:srgbClr val="0000FF"/>
                </a:solidFill>
                <a:latin typeface="黑体" pitchFamily="49" charset="-122"/>
                <a:ea typeface="黑体" pitchFamily="49" charset="-122"/>
              </a:rPr>
              <a:t>、正确处理各类关系</a:t>
            </a:r>
            <a:endParaRPr lang="en-US" altLang="zh-CN" sz="2400" b="1" dirty="0" smtClean="0">
              <a:solidFill>
                <a:srgbClr val="0000FF"/>
              </a:solidFill>
              <a:latin typeface="黑体" pitchFamily="49" charset="-122"/>
              <a:ea typeface="黑体" pitchFamily="49" charset="-122"/>
            </a:endParaRPr>
          </a:p>
        </p:txBody>
      </p:sp>
    </p:spTree>
    <p:extLst>
      <p:ext uri="{BB962C8B-B14F-4D97-AF65-F5344CB8AC3E}">
        <p14:creationId xmlns:p14="http://schemas.microsoft.com/office/powerpoint/2010/main" xmlns="" val="2729067285"/>
      </p:ext>
    </p:extLst>
  </p:cSld>
  <p:clrMapOvr>
    <a:masterClrMapping/>
  </p:clrMapOvr>
  <p:transition>
    <p:strips dir="rd"/>
    <p:sndAc>
      <p:stSnd>
        <p:snd r:embed="rId2" name="chimes.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idx="1"/>
          </p:nvPr>
        </p:nvSpPr>
        <p:spPr>
          <a:xfrm>
            <a:off x="683568" y="1844824"/>
            <a:ext cx="6781800" cy="2668423"/>
          </a:xfrm>
          <a:solidFill>
            <a:schemeClr val="bg1"/>
          </a:solidFill>
          <a:ln w="12700">
            <a:solidFill>
              <a:srgbClr val="FF3300"/>
            </a:solidFill>
            <a:miter/>
          </a:ln>
        </p:spPr>
        <p:txBody>
          <a:bodyPr>
            <a:spAutoFit/>
          </a:bodyPr>
          <a:lstStyle/>
          <a:p>
            <a:pPr marL="0" indent="0" fontAlgn="base">
              <a:lnSpc>
                <a:spcPct val="105000"/>
              </a:lnSpc>
              <a:spcBef>
                <a:spcPct val="50000"/>
              </a:spcBef>
              <a:buNone/>
            </a:pPr>
            <a:r>
              <a:rPr lang="zh-CN" altLang="en-US" sz="2000" b="1" strike="noStrike" noProof="1" smtClean="0">
                <a:solidFill>
                  <a:srgbClr val="FF0000"/>
                </a:solidFill>
                <a:latin typeface="华文隶书" pitchFamily="2" charset="-122"/>
                <a:ea typeface="华文隶书" pitchFamily="2" charset="-122"/>
              </a:rPr>
              <a:t>汉语</a:t>
            </a:r>
            <a:r>
              <a:rPr lang="zh-CN" altLang="en-US" sz="2000" b="1" strike="noStrike" noProof="1">
                <a:solidFill>
                  <a:srgbClr val="FF0000"/>
                </a:solidFill>
                <a:latin typeface="华文隶书" pitchFamily="2" charset="-122"/>
                <a:ea typeface="华文隶书" pitchFamily="2" charset="-122"/>
              </a:rPr>
              <a:t>辞源出自</a:t>
            </a:r>
            <a:r>
              <a:rPr lang="en-US" altLang="zh-CN" sz="2000" b="1" strike="noStrike" noProof="1">
                <a:solidFill>
                  <a:srgbClr val="FF0000"/>
                </a:solidFill>
                <a:latin typeface="华文隶书" pitchFamily="2" charset="-122"/>
                <a:ea typeface="华文隶书" pitchFamily="2" charset="-122"/>
              </a:rPr>
              <a:t>《</a:t>
            </a:r>
            <a:r>
              <a:rPr lang="zh-CN" altLang="en-US" sz="2000" b="1" strike="noStrike" noProof="1">
                <a:solidFill>
                  <a:srgbClr val="FF0000"/>
                </a:solidFill>
                <a:latin typeface="华文隶书" pitchFamily="2" charset="-122"/>
                <a:ea typeface="华文隶书" pitchFamily="2" charset="-122"/>
                <a:hlinkClick r:id="rId3" tooltip="韩非子"/>
              </a:rPr>
              <a:t>韩非子</a:t>
            </a:r>
            <a:r>
              <a:rPr lang="en-US" altLang="zh-CN" sz="2000" b="1" strike="noStrike" noProof="1">
                <a:solidFill>
                  <a:srgbClr val="FF0000"/>
                </a:solidFill>
                <a:latin typeface="华文隶书" pitchFamily="2" charset="-122"/>
                <a:ea typeface="华文隶书" pitchFamily="2" charset="-122"/>
              </a:rPr>
              <a:t>》</a:t>
            </a:r>
            <a:r>
              <a:rPr lang="zh-CN" altLang="en-US" sz="2000" b="1" strike="noStrike" noProof="1">
                <a:solidFill>
                  <a:srgbClr val="FF0000"/>
                </a:solidFill>
                <a:latin typeface="华文隶书" pitchFamily="2" charset="-122"/>
                <a:ea typeface="华文隶书" pitchFamily="2" charset="-122"/>
              </a:rPr>
              <a:t>中</a:t>
            </a:r>
            <a:r>
              <a:rPr lang="en-US" altLang="zh-CN" sz="2000" b="1" strike="noStrike" noProof="1">
                <a:solidFill>
                  <a:srgbClr val="FF0000"/>
                </a:solidFill>
                <a:latin typeface="华文隶书" pitchFamily="2" charset="-122"/>
                <a:ea typeface="华文隶书" pitchFamily="2" charset="-122"/>
              </a:rPr>
              <a:t>《</a:t>
            </a:r>
            <a:r>
              <a:rPr lang="zh-CN" altLang="en-US" sz="2000" b="1" strike="noStrike" noProof="1">
                <a:solidFill>
                  <a:srgbClr val="FF0000"/>
                </a:solidFill>
                <a:latin typeface="华文隶书" pitchFamily="2" charset="-122"/>
                <a:ea typeface="华文隶书" pitchFamily="2" charset="-122"/>
              </a:rPr>
              <a:t>难一</a:t>
            </a:r>
            <a:r>
              <a:rPr lang="en-US" altLang="zh-CN" sz="2000" b="1" strike="noStrike" noProof="1">
                <a:solidFill>
                  <a:srgbClr val="FF0000"/>
                </a:solidFill>
                <a:latin typeface="华文隶书" pitchFamily="2" charset="-122"/>
                <a:ea typeface="华文隶书" pitchFamily="2" charset="-122"/>
              </a:rPr>
              <a:t>》</a:t>
            </a:r>
            <a:r>
              <a:rPr lang="zh-CN" altLang="en-US" sz="2000" b="1" strike="noStrike" noProof="1">
                <a:solidFill>
                  <a:srgbClr val="FF0000"/>
                </a:solidFill>
                <a:latin typeface="华文隶书" pitchFamily="2" charset="-122"/>
                <a:ea typeface="华文隶书" pitchFamily="2" charset="-122"/>
              </a:rPr>
              <a:t>所述故事：楚人有鬻盾与矛者，誉之曰：“吾盾之坚，物莫能陷之。”以誉其矛曰：“吾矛之利，于物无不陷也。”或曰：“以子之矛陷子之盾，何如？”其人弗能应也。夫不可陷之盾与无不陷之矛，不可同世而立。</a:t>
            </a:r>
          </a:p>
          <a:p>
            <a:pPr marL="0" indent="0" fontAlgn="base">
              <a:lnSpc>
                <a:spcPct val="105000"/>
              </a:lnSpc>
              <a:spcBef>
                <a:spcPct val="50000"/>
              </a:spcBef>
              <a:buNone/>
            </a:pPr>
            <a:r>
              <a:rPr lang="zh-CN" altLang="en-US" sz="2400" b="1" strike="noStrike" noProof="1">
                <a:solidFill>
                  <a:srgbClr val="0000FF"/>
                </a:solidFill>
                <a:latin typeface="Times New Roman" panose="02020603050405020304" pitchFamily="18" charset="0"/>
                <a:ea typeface="黑体" panose="02010609060101010101" pitchFamily="49" charset="-122"/>
              </a:rPr>
              <a:t>        刺不破的盾和什么东西都刺得破的矛不可能同时存在 </a:t>
            </a:r>
            <a:r>
              <a:rPr lang="zh-CN" altLang="en-US" sz="2400" b="1" strike="noStrike" noProof="1" smtClean="0">
                <a:solidFill>
                  <a:srgbClr val="0000FF"/>
                </a:solidFill>
                <a:latin typeface="Times New Roman" panose="02020603050405020304" pitchFamily="18" charset="0"/>
                <a:ea typeface="黑体" panose="02010609060101010101" pitchFamily="49" charset="-122"/>
              </a:rPr>
              <a:t>。</a:t>
            </a:r>
            <a:endParaRPr lang="zh-CN" altLang="en-US" sz="2400" b="1" strike="noStrike" noProof="1">
              <a:solidFill>
                <a:srgbClr val="0000FF"/>
              </a:solidFill>
              <a:latin typeface="Times New Roman" panose="02020603050405020304" pitchFamily="18" charset="0"/>
              <a:ea typeface="黑体" panose="02010609060101010101" pitchFamily="49" charset="-122"/>
            </a:endParaRPr>
          </a:p>
        </p:txBody>
      </p:sp>
      <p:sp>
        <p:nvSpPr>
          <p:cNvPr id="2" name="矩形 1"/>
          <p:cNvSpPr/>
          <p:nvPr/>
        </p:nvSpPr>
        <p:spPr>
          <a:xfrm>
            <a:off x="827584" y="404664"/>
            <a:ext cx="6984776" cy="963854"/>
          </a:xfrm>
          <a:prstGeom prst="rect">
            <a:avLst/>
          </a:prstGeom>
          <a:solidFill>
            <a:schemeClr val="bg2"/>
          </a:solidFill>
          <a:ln>
            <a:solidFill>
              <a:schemeClr val="accent1"/>
            </a:solidFill>
          </a:ln>
        </p:spPr>
        <p:txBody>
          <a:bodyPr wrap="square">
            <a:spAutoFit/>
          </a:bodyPr>
          <a:lstStyle/>
          <a:p>
            <a:pPr>
              <a:lnSpc>
                <a:spcPct val="105000"/>
              </a:lnSpc>
              <a:spcBef>
                <a:spcPct val="50000"/>
              </a:spcBef>
            </a:pPr>
            <a:r>
              <a:rPr lang="zh-CN" altLang="en-US" sz="2800" b="1" noProof="1">
                <a:solidFill>
                  <a:srgbClr val="FF0000"/>
                </a:solidFill>
                <a:latin typeface="Times New Roman" panose="02020603050405020304" pitchFamily="18" charset="0"/>
                <a:ea typeface="黑体" panose="02010609060101010101" pitchFamily="49" charset="-122"/>
              </a:rPr>
              <a:t>（二）正确认识和处理社会主义社会矛盾的思想</a:t>
            </a:r>
          </a:p>
        </p:txBody>
      </p:sp>
      <p:sp>
        <p:nvSpPr>
          <p:cNvPr id="3" name="矩形 2"/>
          <p:cNvSpPr/>
          <p:nvPr/>
        </p:nvSpPr>
        <p:spPr>
          <a:xfrm>
            <a:off x="827584" y="4941168"/>
            <a:ext cx="6984776" cy="830997"/>
          </a:xfrm>
          <a:prstGeom prst="rect">
            <a:avLst/>
          </a:prstGeom>
          <a:solidFill>
            <a:schemeClr val="bg1"/>
          </a:solidFill>
          <a:ln>
            <a:solidFill>
              <a:schemeClr val="accent1"/>
            </a:solidFill>
          </a:ln>
        </p:spPr>
        <p:txBody>
          <a:bodyPr wrap="square">
            <a:spAutoFit/>
          </a:bodyPr>
          <a:lstStyle/>
          <a:p>
            <a:r>
              <a:rPr lang="zh-CN" altLang="en-US" sz="2400" b="1" noProof="1">
                <a:latin typeface="Times New Roman" panose="02020603050405020304" pitchFamily="18" charset="0"/>
                <a:ea typeface="黑体" panose="02010609060101010101" pitchFamily="49" charset="-122"/>
              </a:rPr>
              <a:t> </a:t>
            </a:r>
            <a:r>
              <a:rPr lang="zh-CN" altLang="en-US" sz="2400" b="1" noProof="1" smtClean="0">
                <a:latin typeface="Times New Roman" panose="02020603050405020304" pitchFamily="18" charset="0"/>
                <a:ea typeface="黑体" panose="02010609060101010101" pitchFamily="49" charset="-122"/>
              </a:rPr>
              <a:t>        辩证法</a:t>
            </a:r>
            <a:r>
              <a:rPr lang="zh-CN" altLang="en-US" sz="2400" b="1" noProof="1">
                <a:latin typeface="Times New Roman" panose="02020603050405020304" pitchFamily="18" charset="0"/>
                <a:ea typeface="黑体" panose="02010609060101010101" pitchFamily="49" charset="-122"/>
              </a:rPr>
              <a:t>上指客观事物和人类思维内部各个对立面之间互相依赖又互相排斥的关系 </a:t>
            </a:r>
            <a:endParaRPr lang="zh-CN" altLang="en-US" sz="2400" dirty="0"/>
          </a:p>
        </p:txBody>
      </p:sp>
    </p:spTree>
  </p:cSld>
  <p:clrMapOvr>
    <a:masterClrMapping/>
  </p:clrMapOvr>
  <p:transition>
    <p:strips dir="rd"/>
    <p:sndAc>
      <p:stSnd>
        <p:snd r:embed="rId2" name="chimes.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2" name="Text Box 4" descr="花束"/>
          <p:cNvSpPr txBox="1">
            <a:spLocks noChangeArrowheads="1"/>
          </p:cNvSpPr>
          <p:nvPr/>
        </p:nvSpPr>
        <p:spPr bwMode="auto">
          <a:xfrm>
            <a:off x="2771800" y="1471761"/>
            <a:ext cx="1066800" cy="1077218"/>
          </a:xfrm>
          <a:prstGeom prst="rect">
            <a:avLst/>
          </a:prstGeom>
          <a:blipFill dpi="0" rotWithShape="0">
            <a:blip r:embed="rId3" cstate="print"/>
            <a:srcRect/>
            <a:tile tx="0" ty="0" sx="100000" sy="100000" flip="none" algn="tl"/>
          </a:blipFill>
          <a:ln w="38100">
            <a:solidFill>
              <a:srgbClr val="6600FF"/>
            </a:solidFill>
            <a:miter lim="800000"/>
            <a:headEnd/>
            <a:tailEnd/>
          </a:ln>
        </p:spPr>
        <p:txBody>
          <a:bodyPr>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a:spcBef>
                <a:spcPct val="50000"/>
              </a:spcBef>
            </a:pPr>
            <a:r>
              <a:rPr kumimoji="1" lang="zh-CN" altLang="en-US" sz="3200" b="1" dirty="0">
                <a:solidFill>
                  <a:srgbClr val="0000CC"/>
                </a:solidFill>
                <a:latin typeface="Times New Roman" pitchFamily="18" charset="0"/>
                <a:ea typeface="黑体" pitchFamily="2" charset="-122"/>
              </a:rPr>
              <a:t>生产关系</a:t>
            </a:r>
          </a:p>
        </p:txBody>
      </p:sp>
      <p:sp>
        <p:nvSpPr>
          <p:cNvPr id="130053" name="Text Box 5" descr="花束"/>
          <p:cNvSpPr txBox="1">
            <a:spLocks noChangeArrowheads="1"/>
          </p:cNvSpPr>
          <p:nvPr/>
        </p:nvSpPr>
        <p:spPr bwMode="auto">
          <a:xfrm>
            <a:off x="5843588" y="1471761"/>
            <a:ext cx="1066800" cy="1077218"/>
          </a:xfrm>
          <a:prstGeom prst="rect">
            <a:avLst/>
          </a:prstGeom>
          <a:blipFill dpi="0" rotWithShape="0">
            <a:blip r:embed="rId3" cstate="print"/>
            <a:srcRect/>
            <a:tile tx="0" ty="0" sx="100000" sy="100000" flip="none" algn="tl"/>
          </a:blipFill>
          <a:ln w="38100">
            <a:solidFill>
              <a:srgbClr val="6600FF"/>
            </a:solidFill>
            <a:miter lim="800000"/>
            <a:headEnd/>
            <a:tailEnd/>
          </a:ln>
        </p:spPr>
        <p:txBody>
          <a:bodyPr>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a:spcBef>
                <a:spcPct val="50000"/>
              </a:spcBef>
            </a:pPr>
            <a:r>
              <a:rPr kumimoji="1" lang="zh-CN" altLang="en-US" sz="3200" b="1" dirty="0" smtClean="0">
                <a:solidFill>
                  <a:srgbClr val="0000CC"/>
                </a:solidFill>
                <a:latin typeface="Times New Roman" pitchFamily="18" charset="0"/>
                <a:ea typeface="黑体" pitchFamily="2" charset="-122"/>
              </a:rPr>
              <a:t>生产力</a:t>
            </a:r>
            <a:endParaRPr kumimoji="1" lang="zh-CN" altLang="en-US" sz="3200" b="1" dirty="0">
              <a:solidFill>
                <a:srgbClr val="0000CC"/>
              </a:solidFill>
              <a:latin typeface="Times New Roman" pitchFamily="18" charset="0"/>
              <a:ea typeface="黑体" pitchFamily="2" charset="-122"/>
            </a:endParaRPr>
          </a:p>
        </p:txBody>
      </p:sp>
      <p:sp>
        <p:nvSpPr>
          <p:cNvPr id="130059" name="Text Box 11"/>
          <p:cNvSpPr txBox="1">
            <a:spLocks noChangeArrowheads="1"/>
          </p:cNvSpPr>
          <p:nvPr/>
        </p:nvSpPr>
        <p:spPr bwMode="auto">
          <a:xfrm>
            <a:off x="4224676" y="1079346"/>
            <a:ext cx="1422896" cy="7848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a:spcBef>
                <a:spcPct val="50000"/>
              </a:spcBef>
            </a:pPr>
            <a:r>
              <a:rPr kumimoji="1" lang="zh-CN" altLang="en-US" b="1" dirty="0">
                <a:solidFill>
                  <a:srgbClr val="000066"/>
                </a:solidFill>
                <a:latin typeface="Times New Roman" pitchFamily="18" charset="0"/>
                <a:ea typeface="黑体" pitchFamily="2" charset="-122"/>
              </a:rPr>
              <a:t>基本</a:t>
            </a:r>
            <a:r>
              <a:rPr kumimoji="1" lang="zh-CN" altLang="en-US" b="1" dirty="0" smtClean="0">
                <a:solidFill>
                  <a:srgbClr val="000066"/>
                </a:solidFill>
                <a:latin typeface="Times New Roman" pitchFamily="18" charset="0"/>
                <a:ea typeface="黑体" pitchFamily="2" charset="-122"/>
              </a:rPr>
              <a:t>适应</a:t>
            </a:r>
            <a:endParaRPr kumimoji="1" lang="en-US" altLang="zh-CN" b="1" dirty="0" smtClean="0">
              <a:solidFill>
                <a:srgbClr val="000066"/>
              </a:solidFill>
              <a:latin typeface="Times New Roman" pitchFamily="18" charset="0"/>
              <a:ea typeface="黑体" pitchFamily="2" charset="-122"/>
            </a:endParaRPr>
          </a:p>
          <a:p>
            <a:pPr>
              <a:spcBef>
                <a:spcPct val="50000"/>
              </a:spcBef>
            </a:pPr>
            <a:r>
              <a:rPr kumimoji="1" lang="zh-CN" altLang="en-US" b="1" dirty="0" smtClean="0">
                <a:solidFill>
                  <a:srgbClr val="000066"/>
                </a:solidFill>
                <a:latin typeface="Times New Roman" pitchFamily="18" charset="0"/>
                <a:ea typeface="黑体" pitchFamily="2" charset="-122"/>
              </a:rPr>
              <a:t>又相矛盾</a:t>
            </a:r>
            <a:endParaRPr kumimoji="1" lang="zh-CN" altLang="en-US" b="1" dirty="0">
              <a:solidFill>
                <a:srgbClr val="000066"/>
              </a:solidFill>
              <a:latin typeface="Times New Roman" pitchFamily="18" charset="0"/>
              <a:ea typeface="黑体" pitchFamily="2" charset="-122"/>
            </a:endParaRPr>
          </a:p>
        </p:txBody>
      </p:sp>
      <p:sp>
        <p:nvSpPr>
          <p:cNvPr id="130061" name="Text Box 13" descr="水滴"/>
          <p:cNvSpPr txBox="1">
            <a:spLocks noChangeArrowheads="1"/>
          </p:cNvSpPr>
          <p:nvPr/>
        </p:nvSpPr>
        <p:spPr bwMode="auto">
          <a:xfrm>
            <a:off x="2641018" y="3262312"/>
            <a:ext cx="1905000" cy="617538"/>
          </a:xfrm>
          <a:prstGeom prst="rect">
            <a:avLst/>
          </a:prstGeom>
          <a:blipFill dpi="0" rotWithShape="0">
            <a:blip r:embed="rId4" cstate="print"/>
            <a:srcRect/>
            <a:tile tx="0" ty="0" sx="100000" sy="100000" flip="none" algn="tl"/>
          </a:blipFill>
          <a:ln w="38100">
            <a:solidFill>
              <a:srgbClr val="6600FF"/>
            </a:solidFill>
            <a:miter lim="800000"/>
            <a:headEnd/>
            <a:tailEnd/>
          </a:ln>
        </p:spPr>
        <p:txBody>
          <a:bodyPr>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a:spcBef>
                <a:spcPct val="50000"/>
              </a:spcBef>
            </a:pPr>
            <a:r>
              <a:rPr kumimoji="1" lang="zh-CN" altLang="en-US" sz="3200" b="1" dirty="0" smtClean="0">
                <a:solidFill>
                  <a:srgbClr val="003300"/>
                </a:solidFill>
                <a:latin typeface="Times New Roman" pitchFamily="18" charset="0"/>
                <a:ea typeface="黑体" pitchFamily="2" charset="-122"/>
              </a:rPr>
              <a:t>上层建筑</a:t>
            </a:r>
            <a:endParaRPr kumimoji="1" lang="zh-CN" altLang="en-US" sz="3200" b="1" dirty="0">
              <a:solidFill>
                <a:srgbClr val="003300"/>
              </a:solidFill>
              <a:latin typeface="Times New Roman" pitchFamily="18" charset="0"/>
              <a:ea typeface="黑体" pitchFamily="2" charset="-122"/>
            </a:endParaRPr>
          </a:p>
        </p:txBody>
      </p:sp>
      <p:sp>
        <p:nvSpPr>
          <p:cNvPr id="130062" name="Text Box 14" descr="水滴"/>
          <p:cNvSpPr txBox="1">
            <a:spLocks noChangeArrowheads="1"/>
          </p:cNvSpPr>
          <p:nvPr/>
        </p:nvSpPr>
        <p:spPr bwMode="auto">
          <a:xfrm>
            <a:off x="7021513" y="3394075"/>
            <a:ext cx="1905000" cy="617538"/>
          </a:xfrm>
          <a:prstGeom prst="rect">
            <a:avLst/>
          </a:prstGeom>
          <a:blipFill dpi="0" rotWithShape="0">
            <a:blip r:embed="rId4" cstate="print"/>
            <a:srcRect/>
            <a:tile tx="0" ty="0" sx="100000" sy="100000" flip="none" algn="tl"/>
          </a:blipFill>
          <a:ln w="38100">
            <a:solidFill>
              <a:srgbClr val="6600FF"/>
            </a:solidFill>
            <a:miter lim="800000"/>
            <a:headEnd/>
            <a:tailEnd/>
          </a:ln>
        </p:spPr>
        <p:txBody>
          <a:bodyPr>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a:spcBef>
                <a:spcPct val="50000"/>
              </a:spcBef>
            </a:pPr>
            <a:r>
              <a:rPr kumimoji="1" lang="zh-CN" altLang="en-US" sz="3200" b="1">
                <a:solidFill>
                  <a:srgbClr val="003300"/>
                </a:solidFill>
                <a:latin typeface="Times New Roman" pitchFamily="18" charset="0"/>
                <a:ea typeface="黑体" pitchFamily="2" charset="-122"/>
              </a:rPr>
              <a:t>经济基础</a:t>
            </a:r>
          </a:p>
        </p:txBody>
      </p:sp>
      <p:sp>
        <p:nvSpPr>
          <p:cNvPr id="130064" name="Text Box 16" descr="羊皮纸"/>
          <p:cNvSpPr txBox="1">
            <a:spLocks noChangeArrowheads="1"/>
          </p:cNvSpPr>
          <p:nvPr/>
        </p:nvSpPr>
        <p:spPr bwMode="auto">
          <a:xfrm>
            <a:off x="3154363" y="5753100"/>
            <a:ext cx="1066800" cy="1104900"/>
          </a:xfrm>
          <a:prstGeom prst="rect">
            <a:avLst/>
          </a:prstGeom>
          <a:blipFill dpi="0" rotWithShape="0">
            <a:blip r:embed="rId5" cstate="print"/>
            <a:srcRect/>
            <a:tile tx="0" ty="0" sx="100000" sy="100000" flip="none" algn="tl"/>
          </a:blipFill>
          <a:ln w="38100">
            <a:solidFill>
              <a:srgbClr val="6600FF"/>
            </a:solidFill>
            <a:miter lim="800000"/>
            <a:headEnd/>
            <a:tailEnd/>
          </a:ln>
        </p:spPr>
        <p:txBody>
          <a:bodyPr>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a:spcBef>
                <a:spcPct val="50000"/>
              </a:spcBef>
            </a:pPr>
            <a:r>
              <a:rPr kumimoji="1" lang="zh-CN" altLang="en-US" sz="3200" b="1" dirty="0">
                <a:solidFill>
                  <a:srgbClr val="660066"/>
                </a:solidFill>
                <a:latin typeface="Times New Roman" pitchFamily="18" charset="0"/>
                <a:ea typeface="黑体" pitchFamily="2" charset="-122"/>
              </a:rPr>
              <a:t>上层建筑</a:t>
            </a:r>
          </a:p>
        </p:txBody>
      </p:sp>
      <p:sp>
        <p:nvSpPr>
          <p:cNvPr id="130065" name="Text Box 17" descr="羊皮纸"/>
          <p:cNvSpPr txBox="1">
            <a:spLocks noChangeArrowheads="1"/>
          </p:cNvSpPr>
          <p:nvPr/>
        </p:nvSpPr>
        <p:spPr bwMode="auto">
          <a:xfrm>
            <a:off x="3157876" y="4480354"/>
            <a:ext cx="1066800" cy="1077218"/>
          </a:xfrm>
          <a:prstGeom prst="rect">
            <a:avLst/>
          </a:prstGeom>
          <a:blipFill dpi="0" rotWithShape="0">
            <a:blip r:embed="rId5" cstate="print"/>
            <a:srcRect/>
            <a:tile tx="0" ty="0" sx="100000" sy="100000" flip="none" algn="tl"/>
          </a:blipFill>
          <a:ln w="38100">
            <a:solidFill>
              <a:srgbClr val="6600FF"/>
            </a:solidFill>
            <a:miter lim="800000"/>
            <a:headEnd/>
            <a:tailEnd/>
          </a:ln>
        </p:spPr>
        <p:txBody>
          <a:bodyPr>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lvl="0" eaLnBrk="1" hangingPunct="1">
              <a:spcBef>
                <a:spcPct val="50000"/>
              </a:spcBef>
            </a:pPr>
            <a:r>
              <a:rPr kumimoji="1" lang="zh-CN" altLang="en-US" sz="3200" b="1" dirty="0">
                <a:solidFill>
                  <a:srgbClr val="0000CC"/>
                </a:solidFill>
                <a:latin typeface="Times New Roman" pitchFamily="18" charset="0"/>
                <a:ea typeface="黑体" pitchFamily="2" charset="-122"/>
              </a:rPr>
              <a:t>生产关系</a:t>
            </a:r>
          </a:p>
        </p:txBody>
      </p:sp>
      <p:sp>
        <p:nvSpPr>
          <p:cNvPr id="130066" name="Text Box 18" descr="羊皮纸"/>
          <p:cNvSpPr txBox="1">
            <a:spLocks noChangeArrowheads="1"/>
          </p:cNvSpPr>
          <p:nvPr/>
        </p:nvSpPr>
        <p:spPr bwMode="auto">
          <a:xfrm>
            <a:off x="6910388" y="5141433"/>
            <a:ext cx="1524000" cy="617538"/>
          </a:xfrm>
          <a:prstGeom prst="rect">
            <a:avLst/>
          </a:prstGeom>
          <a:blipFill dpi="0" rotWithShape="0">
            <a:blip r:embed="rId5" cstate="print"/>
            <a:srcRect/>
            <a:tile tx="0" ty="0" sx="100000" sy="100000" flip="none" algn="tl"/>
          </a:blipFill>
          <a:ln w="38100">
            <a:solidFill>
              <a:srgbClr val="6600FF"/>
            </a:solidFill>
            <a:miter lim="800000"/>
            <a:headEnd/>
            <a:tailEnd/>
          </a:ln>
        </p:spPr>
        <p:txBody>
          <a:bodyPr>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a:spcBef>
                <a:spcPct val="50000"/>
              </a:spcBef>
            </a:pPr>
            <a:r>
              <a:rPr kumimoji="1" lang="zh-CN" altLang="en-US" sz="3200" b="1">
                <a:solidFill>
                  <a:srgbClr val="660066"/>
                </a:solidFill>
                <a:latin typeface="Times New Roman" pitchFamily="18" charset="0"/>
                <a:ea typeface="黑体" pitchFamily="2" charset="-122"/>
              </a:rPr>
              <a:t>生产力</a:t>
            </a:r>
          </a:p>
        </p:txBody>
      </p:sp>
      <p:sp>
        <p:nvSpPr>
          <p:cNvPr id="12308" name="Text Box 30"/>
          <p:cNvSpPr txBox="1">
            <a:spLocks noChangeArrowheads="1"/>
          </p:cNvSpPr>
          <p:nvPr/>
        </p:nvSpPr>
        <p:spPr bwMode="auto">
          <a:xfrm>
            <a:off x="1691680" y="323850"/>
            <a:ext cx="5985470" cy="584775"/>
          </a:xfrm>
          <a:prstGeom prst="rect">
            <a:avLst/>
          </a:prstGeom>
          <a:solidFill>
            <a:schemeClr val="bg2"/>
          </a:solidFill>
          <a:ln w="9525">
            <a:solidFill>
              <a:srgbClr val="000000"/>
            </a:solidFill>
            <a:miter lim="800000"/>
            <a:headEnd/>
            <a:tailEnd/>
          </a:ln>
        </p:spPr>
        <p:txBody>
          <a:bodyPr wrap="squar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a:spcBef>
                <a:spcPct val="50000"/>
              </a:spcBef>
            </a:pPr>
            <a:r>
              <a:rPr kumimoji="1" lang="en-US" altLang="zh-CN" sz="3200" b="1" dirty="0" smtClean="0">
                <a:solidFill>
                  <a:srgbClr val="FF0000"/>
                </a:solidFill>
                <a:latin typeface="黑体" pitchFamily="49" charset="-122"/>
                <a:ea typeface="黑体" pitchFamily="49" charset="-122"/>
              </a:rPr>
              <a:t>1</a:t>
            </a:r>
            <a:r>
              <a:rPr kumimoji="1" lang="zh-CN" altLang="en-US" sz="3200" b="1" dirty="0" smtClean="0">
                <a:solidFill>
                  <a:srgbClr val="FF0000"/>
                </a:solidFill>
                <a:latin typeface="黑体" pitchFamily="49" charset="-122"/>
                <a:ea typeface="黑体" pitchFamily="49" charset="-122"/>
              </a:rPr>
              <a:t>、社会主义社会</a:t>
            </a:r>
            <a:r>
              <a:rPr kumimoji="1" lang="zh-CN" altLang="en-US" sz="3200" b="1" dirty="0">
                <a:solidFill>
                  <a:srgbClr val="FF0000"/>
                </a:solidFill>
                <a:latin typeface="黑体" pitchFamily="49" charset="-122"/>
                <a:ea typeface="黑体" pitchFamily="49" charset="-122"/>
              </a:rPr>
              <a:t>的基本矛盾</a:t>
            </a:r>
          </a:p>
        </p:txBody>
      </p:sp>
      <p:sp>
        <p:nvSpPr>
          <p:cNvPr id="12309" name="AutoShape 31"/>
          <p:cNvSpPr>
            <a:spLocks/>
          </p:cNvSpPr>
          <p:nvPr/>
        </p:nvSpPr>
        <p:spPr bwMode="auto">
          <a:xfrm>
            <a:off x="206375" y="2124075"/>
            <a:ext cx="360363" cy="3511550"/>
          </a:xfrm>
          <a:prstGeom prst="leftBrace">
            <a:avLst>
              <a:gd name="adj1" fmla="val 81204"/>
              <a:gd name="adj2" fmla="val 50000"/>
            </a:avLst>
          </a:prstGeom>
          <a:noFill/>
          <a:ln w="34925">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12310" name="Text Box 32"/>
          <p:cNvSpPr txBox="1">
            <a:spLocks noChangeArrowheads="1"/>
          </p:cNvSpPr>
          <p:nvPr/>
        </p:nvSpPr>
        <p:spPr bwMode="auto">
          <a:xfrm>
            <a:off x="522288" y="2214563"/>
            <a:ext cx="1804987" cy="376237"/>
          </a:xfrm>
          <a:prstGeom prst="rect">
            <a:avLst/>
          </a:prstGeom>
          <a:noFill/>
          <a:ln w="9525">
            <a:solidFill>
              <a:srgbClr val="00FF00"/>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b="1" dirty="0">
                <a:solidFill>
                  <a:srgbClr val="0000FF"/>
                </a:solidFill>
                <a:ea typeface="黑体" pitchFamily="2" charset="-122"/>
              </a:rPr>
              <a:t>性质：</a:t>
            </a:r>
            <a:r>
              <a:rPr lang="zh-CN" altLang="en-US" b="1" dirty="0">
                <a:solidFill>
                  <a:srgbClr val="FF0000"/>
                </a:solidFill>
                <a:ea typeface="黑体" pitchFamily="2" charset="-122"/>
              </a:rPr>
              <a:t>非对抗性</a:t>
            </a:r>
          </a:p>
        </p:txBody>
      </p:sp>
      <p:sp>
        <p:nvSpPr>
          <p:cNvPr id="12311" name="Text Box 33"/>
          <p:cNvSpPr txBox="1">
            <a:spLocks noChangeArrowheads="1"/>
          </p:cNvSpPr>
          <p:nvPr/>
        </p:nvSpPr>
        <p:spPr bwMode="auto">
          <a:xfrm>
            <a:off x="522288" y="3473450"/>
            <a:ext cx="1844675" cy="650875"/>
          </a:xfrm>
          <a:prstGeom prst="rect">
            <a:avLst/>
          </a:prstGeom>
          <a:noFill/>
          <a:ln w="9525">
            <a:solidFill>
              <a:srgbClr val="00FF00"/>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b="1" dirty="0">
                <a:solidFill>
                  <a:srgbClr val="0000FF"/>
                </a:solidFill>
                <a:ea typeface="黑体" pitchFamily="2" charset="-122"/>
              </a:rPr>
              <a:t>特点：</a:t>
            </a:r>
            <a:r>
              <a:rPr lang="zh-CN" altLang="en-US" b="1" dirty="0">
                <a:solidFill>
                  <a:srgbClr val="FF0000"/>
                </a:solidFill>
                <a:ea typeface="黑体" pitchFamily="2" charset="-122"/>
              </a:rPr>
              <a:t>相适应又相矛盾</a:t>
            </a:r>
          </a:p>
        </p:txBody>
      </p:sp>
      <p:sp>
        <p:nvSpPr>
          <p:cNvPr id="12312" name="Text Box 34"/>
          <p:cNvSpPr txBox="1">
            <a:spLocks noChangeArrowheads="1"/>
          </p:cNvSpPr>
          <p:nvPr/>
        </p:nvSpPr>
        <p:spPr bwMode="auto">
          <a:xfrm>
            <a:off x="566738" y="4733925"/>
            <a:ext cx="1844675" cy="925513"/>
          </a:xfrm>
          <a:prstGeom prst="rect">
            <a:avLst/>
          </a:prstGeom>
          <a:noFill/>
          <a:ln w="9525">
            <a:solidFill>
              <a:srgbClr val="00FF00"/>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b="1" dirty="0">
                <a:solidFill>
                  <a:srgbClr val="0000FF"/>
                </a:solidFill>
                <a:ea typeface="黑体" pitchFamily="2" charset="-122"/>
              </a:rPr>
              <a:t>解决途径：</a:t>
            </a:r>
            <a:r>
              <a:rPr lang="zh-CN" altLang="en-US" b="1" dirty="0">
                <a:solidFill>
                  <a:srgbClr val="FF0000"/>
                </a:solidFill>
                <a:ea typeface="黑体" pitchFamily="2" charset="-122"/>
              </a:rPr>
              <a:t>社会主义制度本身、不断地得到解决</a:t>
            </a:r>
          </a:p>
        </p:txBody>
      </p:sp>
      <p:sp>
        <p:nvSpPr>
          <p:cNvPr id="2" name="矩形 1"/>
          <p:cNvSpPr/>
          <p:nvPr/>
        </p:nvSpPr>
        <p:spPr>
          <a:xfrm>
            <a:off x="4224676" y="2251452"/>
            <a:ext cx="1063112" cy="784830"/>
          </a:xfrm>
          <a:prstGeom prst="rect">
            <a:avLst/>
          </a:prstGeom>
        </p:spPr>
        <p:txBody>
          <a:bodyPr wrap="none">
            <a:spAutoFit/>
          </a:bodyPr>
          <a:lstStyle/>
          <a:p>
            <a:pPr>
              <a:spcBef>
                <a:spcPct val="50000"/>
              </a:spcBef>
            </a:pPr>
            <a:r>
              <a:rPr kumimoji="1" lang="zh-CN" altLang="en-US" b="1" dirty="0" smtClean="0">
                <a:solidFill>
                  <a:srgbClr val="000066"/>
                </a:solidFill>
                <a:latin typeface="Times New Roman" pitchFamily="18" charset="0"/>
                <a:ea typeface="黑体" pitchFamily="2" charset="-122"/>
              </a:rPr>
              <a:t>相</a:t>
            </a:r>
            <a:r>
              <a:rPr kumimoji="1" lang="zh-CN" altLang="en-US" sz="1600" b="1" dirty="0" smtClean="0">
                <a:solidFill>
                  <a:srgbClr val="000066"/>
                </a:solidFill>
                <a:latin typeface="Times New Roman" pitchFamily="18" charset="0"/>
                <a:ea typeface="黑体" pitchFamily="2" charset="-122"/>
              </a:rPr>
              <a:t>适应</a:t>
            </a:r>
            <a:r>
              <a:rPr kumimoji="1" lang="zh-CN" altLang="en-US" b="1" dirty="0" smtClean="0">
                <a:solidFill>
                  <a:srgbClr val="000066"/>
                </a:solidFill>
                <a:latin typeface="Times New Roman" pitchFamily="18" charset="0"/>
                <a:ea typeface="黑体" pitchFamily="2" charset="-122"/>
              </a:rPr>
              <a:t>是</a:t>
            </a:r>
            <a:endParaRPr kumimoji="1" lang="en-US" altLang="zh-CN" b="1" dirty="0" smtClean="0">
              <a:solidFill>
                <a:srgbClr val="000066"/>
              </a:solidFill>
              <a:latin typeface="Times New Roman" pitchFamily="18" charset="0"/>
              <a:ea typeface="黑体" pitchFamily="2" charset="-122"/>
            </a:endParaRPr>
          </a:p>
          <a:p>
            <a:pPr>
              <a:spcBef>
                <a:spcPct val="50000"/>
              </a:spcBef>
            </a:pPr>
            <a:r>
              <a:rPr kumimoji="1" lang="zh-CN" altLang="en-US" b="1" dirty="0" smtClean="0">
                <a:solidFill>
                  <a:srgbClr val="000066"/>
                </a:solidFill>
                <a:latin typeface="Times New Roman" pitchFamily="18" charset="0"/>
                <a:ea typeface="黑体" pitchFamily="2" charset="-122"/>
              </a:rPr>
              <a:t>主要的</a:t>
            </a:r>
            <a:endParaRPr kumimoji="1" lang="zh-CN" altLang="en-US" b="1" dirty="0">
              <a:solidFill>
                <a:srgbClr val="000066"/>
              </a:solidFill>
              <a:latin typeface="Times New Roman" pitchFamily="18" charset="0"/>
              <a:ea typeface="黑体" pitchFamily="2" charset="-122"/>
            </a:endParaRPr>
          </a:p>
        </p:txBody>
      </p:sp>
      <p:sp>
        <p:nvSpPr>
          <p:cNvPr id="26" name="Text Box 22"/>
          <p:cNvSpPr txBox="1">
            <a:spLocks noChangeArrowheads="1"/>
          </p:cNvSpPr>
          <p:nvPr/>
        </p:nvSpPr>
        <p:spPr bwMode="auto">
          <a:xfrm>
            <a:off x="4936124" y="4980408"/>
            <a:ext cx="1035050" cy="8617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a:spcBef>
                <a:spcPct val="50000"/>
              </a:spcBef>
            </a:pPr>
            <a:r>
              <a:rPr kumimoji="1" lang="zh-CN" altLang="en-US" sz="2000" b="1" dirty="0" smtClean="0">
                <a:solidFill>
                  <a:srgbClr val="000066"/>
                </a:solidFill>
                <a:latin typeface="Times New Roman" pitchFamily="18" charset="0"/>
                <a:ea typeface="黑体" pitchFamily="2" charset="-122"/>
              </a:rPr>
              <a:t>调整</a:t>
            </a:r>
            <a:endParaRPr kumimoji="1" lang="en-US" altLang="zh-CN" sz="2000" b="1" dirty="0" smtClean="0">
              <a:solidFill>
                <a:srgbClr val="000066"/>
              </a:solidFill>
              <a:latin typeface="Times New Roman" pitchFamily="18" charset="0"/>
              <a:ea typeface="黑体" pitchFamily="2" charset="-122"/>
            </a:endParaRPr>
          </a:p>
          <a:p>
            <a:pPr>
              <a:spcBef>
                <a:spcPct val="50000"/>
              </a:spcBef>
            </a:pPr>
            <a:r>
              <a:rPr kumimoji="1" lang="zh-CN" altLang="en-US" sz="2000" b="1" dirty="0">
                <a:solidFill>
                  <a:srgbClr val="000066"/>
                </a:solidFill>
                <a:latin typeface="Times New Roman" pitchFamily="18" charset="0"/>
                <a:ea typeface="黑体" pitchFamily="2" charset="-122"/>
              </a:rPr>
              <a:t>改革</a:t>
            </a:r>
          </a:p>
        </p:txBody>
      </p:sp>
      <p:sp>
        <p:nvSpPr>
          <p:cNvPr id="3" name="左右箭头 2"/>
          <p:cNvSpPr/>
          <p:nvPr/>
        </p:nvSpPr>
        <p:spPr>
          <a:xfrm>
            <a:off x="5036447" y="3624105"/>
            <a:ext cx="1062037" cy="22572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Text Box 11"/>
          <p:cNvSpPr txBox="1">
            <a:spLocks noChangeArrowheads="1"/>
          </p:cNvSpPr>
          <p:nvPr/>
        </p:nvSpPr>
        <p:spPr bwMode="auto">
          <a:xfrm>
            <a:off x="5147052" y="2786251"/>
            <a:ext cx="1422896" cy="7848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a:spcBef>
                <a:spcPct val="50000"/>
              </a:spcBef>
            </a:pPr>
            <a:r>
              <a:rPr kumimoji="1" lang="zh-CN" altLang="en-US" b="1" dirty="0">
                <a:solidFill>
                  <a:srgbClr val="000066"/>
                </a:solidFill>
                <a:latin typeface="Times New Roman" pitchFamily="18" charset="0"/>
                <a:ea typeface="黑体" pitchFamily="2" charset="-122"/>
              </a:rPr>
              <a:t>基本</a:t>
            </a:r>
            <a:r>
              <a:rPr kumimoji="1" lang="zh-CN" altLang="en-US" b="1" dirty="0" smtClean="0">
                <a:solidFill>
                  <a:srgbClr val="000066"/>
                </a:solidFill>
                <a:latin typeface="Times New Roman" pitchFamily="18" charset="0"/>
                <a:ea typeface="黑体" pitchFamily="2" charset="-122"/>
              </a:rPr>
              <a:t>适应</a:t>
            </a:r>
            <a:endParaRPr kumimoji="1" lang="en-US" altLang="zh-CN" b="1" dirty="0" smtClean="0">
              <a:solidFill>
                <a:srgbClr val="000066"/>
              </a:solidFill>
              <a:latin typeface="Times New Roman" pitchFamily="18" charset="0"/>
              <a:ea typeface="黑体" pitchFamily="2" charset="-122"/>
            </a:endParaRPr>
          </a:p>
          <a:p>
            <a:pPr>
              <a:spcBef>
                <a:spcPct val="50000"/>
              </a:spcBef>
            </a:pPr>
            <a:r>
              <a:rPr kumimoji="1" lang="zh-CN" altLang="en-US" b="1" dirty="0" smtClean="0">
                <a:solidFill>
                  <a:srgbClr val="000066"/>
                </a:solidFill>
                <a:latin typeface="Times New Roman" pitchFamily="18" charset="0"/>
                <a:ea typeface="黑体" pitchFamily="2" charset="-122"/>
              </a:rPr>
              <a:t>又相矛盾</a:t>
            </a:r>
            <a:endParaRPr kumimoji="1" lang="zh-CN" altLang="en-US" b="1" dirty="0">
              <a:solidFill>
                <a:srgbClr val="000066"/>
              </a:solidFill>
              <a:latin typeface="Times New Roman" pitchFamily="18" charset="0"/>
              <a:ea typeface="黑体" pitchFamily="2" charset="-122"/>
            </a:endParaRPr>
          </a:p>
        </p:txBody>
      </p:sp>
      <p:sp>
        <p:nvSpPr>
          <p:cNvPr id="4" name="右中括号 3"/>
          <p:cNvSpPr/>
          <p:nvPr/>
        </p:nvSpPr>
        <p:spPr>
          <a:xfrm>
            <a:off x="4318737" y="4797152"/>
            <a:ext cx="540444" cy="1425385"/>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右箭头 4"/>
          <p:cNvSpPr/>
          <p:nvPr/>
        </p:nvSpPr>
        <p:spPr>
          <a:xfrm>
            <a:off x="5907057" y="5219278"/>
            <a:ext cx="945748" cy="3337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948986" y="4815959"/>
            <a:ext cx="649537" cy="369332"/>
          </a:xfrm>
          <a:prstGeom prst="rect">
            <a:avLst/>
          </a:prstGeom>
        </p:spPr>
        <p:txBody>
          <a:bodyPr wrap="none">
            <a:spAutoFit/>
          </a:bodyPr>
          <a:lstStyle/>
          <a:p>
            <a:pPr>
              <a:spcBef>
                <a:spcPct val="50000"/>
              </a:spcBef>
            </a:pPr>
            <a:r>
              <a:rPr kumimoji="1" lang="zh-CN" altLang="en-US" b="1" dirty="0">
                <a:solidFill>
                  <a:srgbClr val="000066"/>
                </a:solidFill>
                <a:latin typeface="Times New Roman" pitchFamily="18" charset="0"/>
                <a:ea typeface="黑体" pitchFamily="2" charset="-122"/>
              </a:rPr>
              <a:t>适应</a:t>
            </a:r>
            <a:endParaRPr kumimoji="1" lang="en-US" altLang="zh-CN" b="1" dirty="0">
              <a:solidFill>
                <a:srgbClr val="000066"/>
              </a:solidFill>
              <a:latin typeface="Times New Roman" pitchFamily="18" charset="0"/>
              <a:ea typeface="黑体" pitchFamily="2" charset="-122"/>
            </a:endParaRPr>
          </a:p>
        </p:txBody>
      </p:sp>
      <p:sp>
        <p:nvSpPr>
          <p:cNvPr id="28" name="左右箭头 27"/>
          <p:cNvSpPr/>
          <p:nvPr/>
        </p:nvSpPr>
        <p:spPr>
          <a:xfrm>
            <a:off x="4416693" y="1898352"/>
            <a:ext cx="1062037" cy="22572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5090368" y="3949095"/>
            <a:ext cx="1011815" cy="707886"/>
          </a:xfrm>
          <a:prstGeom prst="rect">
            <a:avLst/>
          </a:prstGeom>
        </p:spPr>
        <p:txBody>
          <a:bodyPr wrap="none">
            <a:spAutoFit/>
          </a:bodyPr>
          <a:lstStyle/>
          <a:p>
            <a:pPr>
              <a:spcBef>
                <a:spcPct val="50000"/>
              </a:spcBef>
            </a:pPr>
            <a:r>
              <a:rPr kumimoji="1" lang="zh-CN" altLang="en-US" sz="1600" b="1" dirty="0" smtClean="0">
                <a:solidFill>
                  <a:srgbClr val="000066"/>
                </a:solidFill>
                <a:latin typeface="Times New Roman" pitchFamily="18" charset="0"/>
                <a:ea typeface="黑体" pitchFamily="2" charset="-122"/>
              </a:rPr>
              <a:t>相适应是</a:t>
            </a:r>
            <a:endParaRPr kumimoji="1" lang="en-US" altLang="zh-CN" sz="1600" b="1" dirty="0" smtClean="0">
              <a:solidFill>
                <a:srgbClr val="000066"/>
              </a:solidFill>
              <a:latin typeface="Times New Roman" pitchFamily="18" charset="0"/>
              <a:ea typeface="黑体" pitchFamily="2" charset="-122"/>
            </a:endParaRPr>
          </a:p>
          <a:p>
            <a:pPr>
              <a:spcBef>
                <a:spcPct val="50000"/>
              </a:spcBef>
            </a:pPr>
            <a:r>
              <a:rPr kumimoji="1" lang="zh-CN" altLang="en-US" sz="1600" b="1" dirty="0" smtClean="0">
                <a:solidFill>
                  <a:srgbClr val="000066"/>
                </a:solidFill>
                <a:latin typeface="Times New Roman" pitchFamily="18" charset="0"/>
                <a:ea typeface="黑体" pitchFamily="2" charset="-122"/>
              </a:rPr>
              <a:t>主要的</a:t>
            </a:r>
            <a:endParaRPr kumimoji="1" lang="zh-CN" altLang="en-US" sz="1600" b="1" dirty="0">
              <a:solidFill>
                <a:srgbClr val="000066"/>
              </a:solidFill>
              <a:latin typeface="Times New Roman" pitchFamily="18" charset="0"/>
              <a:ea typeface="黑体" pitchFamily="2" charset="-122"/>
            </a:endParaRPr>
          </a:p>
        </p:txBody>
      </p:sp>
    </p:spTree>
    <p:extLst>
      <p:ext uri="{BB962C8B-B14F-4D97-AF65-F5344CB8AC3E}">
        <p14:creationId xmlns:p14="http://schemas.microsoft.com/office/powerpoint/2010/main" xmlns="" val="4126279892"/>
      </p:ext>
    </p:extLst>
  </p:cSld>
  <p:clrMapOvr>
    <a:masterClrMapping/>
  </p:clrMapOvr>
  <p:transition>
    <p:strips dir="rd"/>
    <p:sndAc>
      <p:stSnd>
        <p:snd r:embed="rId2" name="chimes.wav"/>
      </p:stSnd>
    </p:sndAc>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30052"/>
                                        </p:tgtEl>
                                        <p:attrNameLst>
                                          <p:attrName>style.visibility</p:attrName>
                                        </p:attrNameLst>
                                      </p:cBhvr>
                                      <p:to>
                                        <p:strVal val="visible"/>
                                      </p:to>
                                    </p:set>
                                    <p:anim calcmode="lin" valueType="num">
                                      <p:cBhvr>
                                        <p:cTn id="7" dur="500" fill="hold"/>
                                        <p:tgtEl>
                                          <p:spTgt spid="130052"/>
                                        </p:tgtEl>
                                        <p:attrNameLst>
                                          <p:attrName>ppt_w</p:attrName>
                                        </p:attrNameLst>
                                      </p:cBhvr>
                                      <p:tavLst>
                                        <p:tav tm="0">
                                          <p:val>
                                            <p:fltVal val="0"/>
                                          </p:val>
                                        </p:tav>
                                        <p:tav tm="100000">
                                          <p:val>
                                            <p:strVal val="#ppt_w"/>
                                          </p:val>
                                        </p:tav>
                                      </p:tavLst>
                                    </p:anim>
                                    <p:anim calcmode="lin" valueType="num">
                                      <p:cBhvr>
                                        <p:cTn id="8" dur="500" fill="hold"/>
                                        <p:tgtEl>
                                          <p:spTgt spid="130052"/>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130059"/>
                                        </p:tgtEl>
                                        <p:attrNameLst>
                                          <p:attrName>style.visibility</p:attrName>
                                        </p:attrNameLst>
                                      </p:cBhvr>
                                      <p:to>
                                        <p:strVal val="visible"/>
                                      </p:to>
                                    </p:set>
                                    <p:animEffect transition="in" filter="dissolve">
                                      <p:cBhvr>
                                        <p:cTn id="12" dur="500"/>
                                        <p:tgtEl>
                                          <p:spTgt spid="130059"/>
                                        </p:tgtEl>
                                      </p:cBhvr>
                                    </p:animEffect>
                                  </p:childTnLst>
                                </p:cTn>
                              </p:par>
                            </p:childTnLst>
                          </p:cTn>
                        </p:par>
                        <p:par>
                          <p:cTn id="13" fill="hold" nodeType="afterGroup">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130053"/>
                                        </p:tgtEl>
                                        <p:attrNameLst>
                                          <p:attrName>style.visibility</p:attrName>
                                        </p:attrNameLst>
                                      </p:cBhvr>
                                      <p:to>
                                        <p:strVal val="visible"/>
                                      </p:to>
                                    </p:set>
                                    <p:anim calcmode="lin" valueType="num">
                                      <p:cBhvr>
                                        <p:cTn id="16" dur="500" fill="hold"/>
                                        <p:tgtEl>
                                          <p:spTgt spid="130053"/>
                                        </p:tgtEl>
                                        <p:attrNameLst>
                                          <p:attrName>ppt_w</p:attrName>
                                        </p:attrNameLst>
                                      </p:cBhvr>
                                      <p:tavLst>
                                        <p:tav tm="0">
                                          <p:val>
                                            <p:fltVal val="0"/>
                                          </p:val>
                                        </p:tav>
                                        <p:tav tm="100000">
                                          <p:val>
                                            <p:strVal val="#ppt_w"/>
                                          </p:val>
                                        </p:tav>
                                      </p:tavLst>
                                    </p:anim>
                                    <p:anim calcmode="lin" valueType="num">
                                      <p:cBhvr>
                                        <p:cTn id="17" dur="500" fill="hold"/>
                                        <p:tgtEl>
                                          <p:spTgt spid="130053"/>
                                        </p:tgtEl>
                                        <p:attrNameLst>
                                          <p:attrName>ppt_h</p:attrName>
                                        </p:attrNameLst>
                                      </p:cBhvr>
                                      <p:tavLst>
                                        <p:tav tm="0">
                                          <p:val>
                                            <p:fltVal val="0"/>
                                          </p:val>
                                        </p:tav>
                                        <p:tav tm="100000">
                                          <p:val>
                                            <p:strVal val="#ppt_h"/>
                                          </p:val>
                                        </p:tav>
                                      </p:tavLst>
                                    </p:anim>
                                  </p:childTnLst>
                                </p:cTn>
                              </p:par>
                            </p:childTnLst>
                          </p:cTn>
                        </p:par>
                        <p:par>
                          <p:cTn id="18" fill="hold" nodeType="afterGroup">
                            <p:stCondLst>
                              <p:cond delay="1500"/>
                            </p:stCondLst>
                            <p:childTnLst>
                              <p:par>
                                <p:cTn id="19" presetID="23" presetClass="entr" presetSubtype="16" fill="hold" grpId="0" nodeType="afterEffect">
                                  <p:stCondLst>
                                    <p:cond delay="0"/>
                                  </p:stCondLst>
                                  <p:childTnLst>
                                    <p:set>
                                      <p:cBhvr>
                                        <p:cTn id="20" dur="1" fill="hold">
                                          <p:stCondLst>
                                            <p:cond delay="0"/>
                                          </p:stCondLst>
                                        </p:cTn>
                                        <p:tgtEl>
                                          <p:spTgt spid="130061"/>
                                        </p:tgtEl>
                                        <p:attrNameLst>
                                          <p:attrName>style.visibility</p:attrName>
                                        </p:attrNameLst>
                                      </p:cBhvr>
                                      <p:to>
                                        <p:strVal val="visible"/>
                                      </p:to>
                                    </p:set>
                                    <p:anim calcmode="lin" valueType="num">
                                      <p:cBhvr>
                                        <p:cTn id="21" dur="500" fill="hold"/>
                                        <p:tgtEl>
                                          <p:spTgt spid="130061"/>
                                        </p:tgtEl>
                                        <p:attrNameLst>
                                          <p:attrName>ppt_w</p:attrName>
                                        </p:attrNameLst>
                                      </p:cBhvr>
                                      <p:tavLst>
                                        <p:tav tm="0">
                                          <p:val>
                                            <p:fltVal val="0"/>
                                          </p:val>
                                        </p:tav>
                                        <p:tav tm="100000">
                                          <p:val>
                                            <p:strVal val="#ppt_w"/>
                                          </p:val>
                                        </p:tav>
                                      </p:tavLst>
                                    </p:anim>
                                    <p:anim calcmode="lin" valueType="num">
                                      <p:cBhvr>
                                        <p:cTn id="22" dur="500" fill="hold"/>
                                        <p:tgtEl>
                                          <p:spTgt spid="130061"/>
                                        </p:tgtEl>
                                        <p:attrNameLst>
                                          <p:attrName>ppt_h</p:attrName>
                                        </p:attrNameLst>
                                      </p:cBhvr>
                                      <p:tavLst>
                                        <p:tav tm="0">
                                          <p:val>
                                            <p:fltVal val="0"/>
                                          </p:val>
                                        </p:tav>
                                        <p:tav tm="100000">
                                          <p:val>
                                            <p:strVal val="#ppt_h"/>
                                          </p:val>
                                        </p:tav>
                                      </p:tavLst>
                                    </p:anim>
                                  </p:childTnLst>
                                </p:cTn>
                              </p:par>
                            </p:childTnLst>
                          </p:cTn>
                        </p:par>
                        <p:par>
                          <p:cTn id="23" fill="hold" nodeType="afterGroup">
                            <p:stCondLst>
                              <p:cond delay="2000"/>
                            </p:stCondLst>
                            <p:childTnLst>
                              <p:par>
                                <p:cTn id="24" presetID="23" presetClass="entr" presetSubtype="16" fill="hold" grpId="0" nodeType="afterEffect">
                                  <p:stCondLst>
                                    <p:cond delay="0"/>
                                  </p:stCondLst>
                                  <p:childTnLst>
                                    <p:set>
                                      <p:cBhvr>
                                        <p:cTn id="25" dur="1" fill="hold">
                                          <p:stCondLst>
                                            <p:cond delay="0"/>
                                          </p:stCondLst>
                                        </p:cTn>
                                        <p:tgtEl>
                                          <p:spTgt spid="130062"/>
                                        </p:tgtEl>
                                        <p:attrNameLst>
                                          <p:attrName>style.visibility</p:attrName>
                                        </p:attrNameLst>
                                      </p:cBhvr>
                                      <p:to>
                                        <p:strVal val="visible"/>
                                      </p:to>
                                    </p:set>
                                    <p:anim calcmode="lin" valueType="num">
                                      <p:cBhvr>
                                        <p:cTn id="26" dur="500" fill="hold"/>
                                        <p:tgtEl>
                                          <p:spTgt spid="130062"/>
                                        </p:tgtEl>
                                        <p:attrNameLst>
                                          <p:attrName>ppt_w</p:attrName>
                                        </p:attrNameLst>
                                      </p:cBhvr>
                                      <p:tavLst>
                                        <p:tav tm="0">
                                          <p:val>
                                            <p:fltVal val="0"/>
                                          </p:val>
                                        </p:tav>
                                        <p:tav tm="100000">
                                          <p:val>
                                            <p:strVal val="#ppt_w"/>
                                          </p:val>
                                        </p:tav>
                                      </p:tavLst>
                                    </p:anim>
                                    <p:anim calcmode="lin" valueType="num">
                                      <p:cBhvr>
                                        <p:cTn id="27" dur="500" fill="hold"/>
                                        <p:tgtEl>
                                          <p:spTgt spid="130062"/>
                                        </p:tgtEl>
                                        <p:attrNameLst>
                                          <p:attrName>ppt_h</p:attrName>
                                        </p:attrNameLst>
                                      </p:cBhvr>
                                      <p:tavLst>
                                        <p:tav tm="0">
                                          <p:val>
                                            <p:fltVal val="0"/>
                                          </p:val>
                                        </p:tav>
                                        <p:tav tm="100000">
                                          <p:val>
                                            <p:strVal val="#ppt_h"/>
                                          </p:val>
                                        </p:tav>
                                      </p:tavLst>
                                    </p:anim>
                                  </p:childTnLst>
                                </p:cTn>
                              </p:par>
                            </p:childTnLst>
                          </p:cTn>
                        </p:par>
                        <p:par>
                          <p:cTn id="28" fill="hold" nodeType="afterGroup">
                            <p:stCondLst>
                              <p:cond delay="2500"/>
                            </p:stCondLst>
                            <p:childTnLst>
                              <p:par>
                                <p:cTn id="29" presetID="23" presetClass="entr" presetSubtype="16" fill="hold" grpId="0" nodeType="afterEffect">
                                  <p:stCondLst>
                                    <p:cond delay="0"/>
                                  </p:stCondLst>
                                  <p:childTnLst>
                                    <p:set>
                                      <p:cBhvr>
                                        <p:cTn id="30" dur="1" fill="hold">
                                          <p:stCondLst>
                                            <p:cond delay="0"/>
                                          </p:stCondLst>
                                        </p:cTn>
                                        <p:tgtEl>
                                          <p:spTgt spid="130064"/>
                                        </p:tgtEl>
                                        <p:attrNameLst>
                                          <p:attrName>style.visibility</p:attrName>
                                        </p:attrNameLst>
                                      </p:cBhvr>
                                      <p:to>
                                        <p:strVal val="visible"/>
                                      </p:to>
                                    </p:set>
                                    <p:anim calcmode="lin" valueType="num">
                                      <p:cBhvr>
                                        <p:cTn id="31" dur="500" fill="hold"/>
                                        <p:tgtEl>
                                          <p:spTgt spid="130064"/>
                                        </p:tgtEl>
                                        <p:attrNameLst>
                                          <p:attrName>ppt_w</p:attrName>
                                        </p:attrNameLst>
                                      </p:cBhvr>
                                      <p:tavLst>
                                        <p:tav tm="0">
                                          <p:val>
                                            <p:fltVal val="0"/>
                                          </p:val>
                                        </p:tav>
                                        <p:tav tm="100000">
                                          <p:val>
                                            <p:strVal val="#ppt_w"/>
                                          </p:val>
                                        </p:tav>
                                      </p:tavLst>
                                    </p:anim>
                                    <p:anim calcmode="lin" valueType="num">
                                      <p:cBhvr>
                                        <p:cTn id="32" dur="500" fill="hold"/>
                                        <p:tgtEl>
                                          <p:spTgt spid="130064"/>
                                        </p:tgtEl>
                                        <p:attrNameLst>
                                          <p:attrName>ppt_h</p:attrName>
                                        </p:attrNameLst>
                                      </p:cBhvr>
                                      <p:tavLst>
                                        <p:tav tm="0">
                                          <p:val>
                                            <p:fltVal val="0"/>
                                          </p:val>
                                        </p:tav>
                                        <p:tav tm="100000">
                                          <p:val>
                                            <p:strVal val="#ppt_h"/>
                                          </p:val>
                                        </p:tav>
                                      </p:tavLst>
                                    </p:anim>
                                  </p:childTnLst>
                                </p:cTn>
                              </p:par>
                            </p:childTnLst>
                          </p:cTn>
                        </p:par>
                        <p:par>
                          <p:cTn id="33" fill="hold" nodeType="afterGroup">
                            <p:stCondLst>
                              <p:cond delay="3000"/>
                            </p:stCondLst>
                            <p:childTnLst>
                              <p:par>
                                <p:cTn id="34" presetID="23" presetClass="entr" presetSubtype="16" fill="hold" grpId="0" nodeType="afterEffect">
                                  <p:stCondLst>
                                    <p:cond delay="0"/>
                                  </p:stCondLst>
                                  <p:childTnLst>
                                    <p:set>
                                      <p:cBhvr>
                                        <p:cTn id="35" dur="1" fill="hold">
                                          <p:stCondLst>
                                            <p:cond delay="0"/>
                                          </p:stCondLst>
                                        </p:cTn>
                                        <p:tgtEl>
                                          <p:spTgt spid="130065"/>
                                        </p:tgtEl>
                                        <p:attrNameLst>
                                          <p:attrName>style.visibility</p:attrName>
                                        </p:attrNameLst>
                                      </p:cBhvr>
                                      <p:to>
                                        <p:strVal val="visible"/>
                                      </p:to>
                                    </p:set>
                                    <p:anim calcmode="lin" valueType="num">
                                      <p:cBhvr>
                                        <p:cTn id="36" dur="500" fill="hold"/>
                                        <p:tgtEl>
                                          <p:spTgt spid="130065"/>
                                        </p:tgtEl>
                                        <p:attrNameLst>
                                          <p:attrName>ppt_w</p:attrName>
                                        </p:attrNameLst>
                                      </p:cBhvr>
                                      <p:tavLst>
                                        <p:tav tm="0">
                                          <p:val>
                                            <p:fltVal val="0"/>
                                          </p:val>
                                        </p:tav>
                                        <p:tav tm="100000">
                                          <p:val>
                                            <p:strVal val="#ppt_w"/>
                                          </p:val>
                                        </p:tav>
                                      </p:tavLst>
                                    </p:anim>
                                    <p:anim calcmode="lin" valueType="num">
                                      <p:cBhvr>
                                        <p:cTn id="37" dur="500" fill="hold"/>
                                        <p:tgtEl>
                                          <p:spTgt spid="130065"/>
                                        </p:tgtEl>
                                        <p:attrNameLst>
                                          <p:attrName>ppt_h</p:attrName>
                                        </p:attrNameLst>
                                      </p:cBhvr>
                                      <p:tavLst>
                                        <p:tav tm="0">
                                          <p:val>
                                            <p:fltVal val="0"/>
                                          </p:val>
                                        </p:tav>
                                        <p:tav tm="100000">
                                          <p:val>
                                            <p:strVal val="#ppt_h"/>
                                          </p:val>
                                        </p:tav>
                                      </p:tavLst>
                                    </p:anim>
                                  </p:childTnLst>
                                </p:cTn>
                              </p:par>
                            </p:childTnLst>
                          </p:cTn>
                        </p:par>
                        <p:par>
                          <p:cTn id="38" fill="hold" nodeType="afterGroup">
                            <p:stCondLst>
                              <p:cond delay="3500"/>
                            </p:stCondLst>
                            <p:childTnLst>
                              <p:par>
                                <p:cTn id="39" presetID="23" presetClass="entr" presetSubtype="16" fill="hold" grpId="0" nodeType="afterEffect">
                                  <p:stCondLst>
                                    <p:cond delay="0"/>
                                  </p:stCondLst>
                                  <p:childTnLst>
                                    <p:set>
                                      <p:cBhvr>
                                        <p:cTn id="40" dur="1" fill="hold">
                                          <p:stCondLst>
                                            <p:cond delay="0"/>
                                          </p:stCondLst>
                                        </p:cTn>
                                        <p:tgtEl>
                                          <p:spTgt spid="130066"/>
                                        </p:tgtEl>
                                        <p:attrNameLst>
                                          <p:attrName>style.visibility</p:attrName>
                                        </p:attrNameLst>
                                      </p:cBhvr>
                                      <p:to>
                                        <p:strVal val="visible"/>
                                      </p:to>
                                    </p:set>
                                    <p:anim calcmode="lin" valueType="num">
                                      <p:cBhvr>
                                        <p:cTn id="41" dur="500" fill="hold"/>
                                        <p:tgtEl>
                                          <p:spTgt spid="130066"/>
                                        </p:tgtEl>
                                        <p:attrNameLst>
                                          <p:attrName>ppt_w</p:attrName>
                                        </p:attrNameLst>
                                      </p:cBhvr>
                                      <p:tavLst>
                                        <p:tav tm="0">
                                          <p:val>
                                            <p:fltVal val="0"/>
                                          </p:val>
                                        </p:tav>
                                        <p:tav tm="100000">
                                          <p:val>
                                            <p:strVal val="#ppt_w"/>
                                          </p:val>
                                        </p:tav>
                                      </p:tavLst>
                                    </p:anim>
                                    <p:anim calcmode="lin" valueType="num">
                                      <p:cBhvr>
                                        <p:cTn id="42" dur="500" fill="hold"/>
                                        <p:tgtEl>
                                          <p:spTgt spid="130066"/>
                                        </p:tgtEl>
                                        <p:attrNameLst>
                                          <p:attrName>ppt_h</p:attrName>
                                        </p:attrNameLst>
                                      </p:cBhvr>
                                      <p:tavLst>
                                        <p:tav tm="0">
                                          <p:val>
                                            <p:fltVal val="0"/>
                                          </p:val>
                                        </p:tav>
                                        <p:tav tm="100000">
                                          <p:val>
                                            <p:strVal val="#ppt_h"/>
                                          </p:val>
                                        </p:tav>
                                      </p:tavLst>
                                    </p:anim>
                                  </p:childTnLst>
                                </p:cTn>
                              </p:par>
                            </p:childTnLst>
                          </p:cTn>
                        </p:par>
                        <p:par>
                          <p:cTn id="43" fill="hold">
                            <p:stCondLst>
                              <p:cond delay="4000"/>
                            </p:stCondLst>
                            <p:childTnLst>
                              <p:par>
                                <p:cTn id="44" presetID="9" presetClass="entr" presetSubtype="0" fill="hold" grpId="0" nodeType="after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dissolve">
                                      <p:cBhvr>
                                        <p:cTn id="46" dur="500"/>
                                        <p:tgtEl>
                                          <p:spTgt spid="26"/>
                                        </p:tgtEl>
                                      </p:cBhvr>
                                    </p:animEffect>
                                  </p:childTnLst>
                                </p:cTn>
                              </p:par>
                            </p:childTnLst>
                          </p:cTn>
                        </p:par>
                        <p:par>
                          <p:cTn id="47" fill="hold">
                            <p:stCondLst>
                              <p:cond delay="4500"/>
                            </p:stCondLst>
                            <p:childTnLst>
                              <p:par>
                                <p:cTn id="48" presetID="9" presetClass="entr" presetSubtype="0" fill="hold" grpId="0" nodeType="after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dissolve">
                                      <p:cBhvr>
                                        <p:cTn id="5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2" grpId="0" animBg="1" autoUpdateAnimBg="0"/>
      <p:bldP spid="130053" grpId="0" animBg="1" autoUpdateAnimBg="0"/>
      <p:bldP spid="130059" grpId="0" autoUpdateAnimBg="0"/>
      <p:bldP spid="130061" grpId="0" animBg="1" autoUpdateAnimBg="0"/>
      <p:bldP spid="130062" grpId="0" animBg="1" autoUpdateAnimBg="0"/>
      <p:bldP spid="130064" grpId="0" animBg="1" autoUpdateAnimBg="0"/>
      <p:bldP spid="130065" grpId="0" animBg="1" autoUpdateAnimBg="0"/>
      <p:bldP spid="130066" grpId="0" animBg="1" autoUpdateAnimBg="0"/>
      <p:bldP spid="26" grpId="0" autoUpdateAnimBg="0"/>
      <p:bldP spid="24"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rrowheads="1"/>
          </p:cNvSpPr>
          <p:nvPr>
            <p:ph type="title"/>
          </p:nvPr>
        </p:nvSpPr>
        <p:spPr>
          <a:xfrm>
            <a:off x="323528" y="188640"/>
            <a:ext cx="7499176" cy="720080"/>
          </a:xfrm>
          <a:solidFill>
            <a:schemeClr val="bg2"/>
          </a:solidFill>
          <a:ln>
            <a:solidFill>
              <a:schemeClr val="accent1"/>
            </a:solidFill>
          </a:ln>
        </p:spPr>
        <p:txBody>
          <a:bodyPr>
            <a:normAutofit/>
          </a:bodyPr>
          <a:lstStyle/>
          <a:p>
            <a:pPr algn="l" eaLnBrk="1" hangingPunct="1"/>
            <a:r>
              <a:rPr lang="en-US" altLang="zh-CN" sz="2800" b="1" dirty="0" smtClean="0">
                <a:solidFill>
                  <a:srgbClr val="FF0000"/>
                </a:solidFill>
                <a:effectLst/>
                <a:latin typeface="黑体" pitchFamily="2" charset="-122"/>
                <a:ea typeface="黑体" pitchFamily="2" charset="-122"/>
              </a:rPr>
              <a:t>2</a:t>
            </a:r>
            <a:r>
              <a:rPr lang="zh-CN" altLang="en-US" sz="2800" b="1" dirty="0" smtClean="0">
                <a:solidFill>
                  <a:srgbClr val="FF0000"/>
                </a:solidFill>
                <a:effectLst/>
                <a:latin typeface="黑体" pitchFamily="2" charset="-122"/>
                <a:ea typeface="黑体" pitchFamily="2" charset="-122"/>
              </a:rPr>
              <a:t>、论述社会主义社会的主要矛盾和根本任务</a:t>
            </a:r>
          </a:p>
        </p:txBody>
      </p:sp>
      <p:sp>
        <p:nvSpPr>
          <p:cNvPr id="131075" name="Rectangle 3"/>
          <p:cNvSpPr>
            <a:spLocks noGrp="1" noChangeArrowheads="1"/>
          </p:cNvSpPr>
          <p:nvPr>
            <p:ph idx="1"/>
          </p:nvPr>
        </p:nvSpPr>
        <p:spPr>
          <a:xfrm>
            <a:off x="1907704" y="1628800"/>
            <a:ext cx="1368152" cy="4968552"/>
          </a:xfrm>
          <a:solidFill>
            <a:schemeClr val="bg1"/>
          </a:solidFill>
          <a:ln>
            <a:solidFill>
              <a:schemeClr val="accent1"/>
            </a:solidFill>
          </a:ln>
        </p:spPr>
        <p:txBody>
          <a:bodyPr vert="eaVert">
            <a:noAutofit/>
          </a:bodyPr>
          <a:lstStyle/>
          <a:p>
            <a:pPr eaLnBrk="1" hangingPunct="1">
              <a:lnSpc>
                <a:spcPct val="120000"/>
              </a:lnSpc>
              <a:buNone/>
            </a:pPr>
            <a:r>
              <a:rPr kumimoji="1" lang="zh-CN" altLang="en-US" sz="2400" b="1" dirty="0" smtClean="0">
                <a:solidFill>
                  <a:srgbClr val="FF0000"/>
                </a:solidFill>
                <a:latin typeface="黑体" pitchFamily="2" charset="-122"/>
                <a:ea typeface="黑体" pitchFamily="2" charset="-122"/>
              </a:rPr>
              <a:t> 无产阶级与资产阶级的矛盾</a:t>
            </a:r>
          </a:p>
          <a:p>
            <a:pPr eaLnBrk="1" hangingPunct="1">
              <a:lnSpc>
                <a:spcPct val="120000"/>
              </a:lnSpc>
              <a:buNone/>
            </a:pPr>
            <a:r>
              <a:rPr kumimoji="1" lang="zh-CN" altLang="en-US" sz="2400" b="1" dirty="0" smtClean="0">
                <a:solidFill>
                  <a:srgbClr val="00B0F0"/>
                </a:solidFill>
                <a:latin typeface="黑体" pitchFamily="2" charset="-122"/>
                <a:ea typeface="黑体" pitchFamily="2" charset="-122"/>
              </a:rPr>
              <a:t> </a:t>
            </a:r>
            <a:r>
              <a:rPr kumimoji="1" lang="zh-CN" altLang="en-US" sz="2400" b="1" dirty="0" smtClean="0">
                <a:solidFill>
                  <a:srgbClr val="0000FF"/>
                </a:solidFill>
                <a:latin typeface="黑体" pitchFamily="2" charset="-122"/>
                <a:ea typeface="黑体" pitchFamily="2" charset="-122"/>
              </a:rPr>
              <a:t>社会主义道路和资本主义道路矛盾</a:t>
            </a:r>
          </a:p>
        </p:txBody>
      </p:sp>
      <p:sp>
        <p:nvSpPr>
          <p:cNvPr id="5" name="矩形 4"/>
          <p:cNvSpPr/>
          <p:nvPr/>
        </p:nvSpPr>
        <p:spPr>
          <a:xfrm>
            <a:off x="321669" y="2564904"/>
            <a:ext cx="701731" cy="2808312"/>
          </a:xfrm>
          <a:prstGeom prst="rect">
            <a:avLst/>
          </a:prstGeom>
          <a:solidFill>
            <a:schemeClr val="bg2"/>
          </a:solidFill>
          <a:ln>
            <a:solidFill>
              <a:schemeClr val="accent1"/>
            </a:solidFill>
          </a:ln>
        </p:spPr>
        <p:txBody>
          <a:bodyPr vert="eaVert" wrap="square">
            <a:spAutoFit/>
          </a:bodyPr>
          <a:lstStyle/>
          <a:p>
            <a:pPr marL="342900" lvl="0" indent="-342900" rtl="0" fontAlgn="auto">
              <a:lnSpc>
                <a:spcPct val="120000"/>
              </a:lnSpc>
              <a:spcBef>
                <a:spcPct val="20000"/>
              </a:spcBef>
              <a:spcAft>
                <a:spcPts val="0"/>
              </a:spcAft>
              <a:buClr>
                <a:srgbClr val="2F2F2F"/>
              </a:buClr>
              <a:buSzPct val="50000"/>
            </a:pPr>
            <a:r>
              <a:rPr kumimoji="1" lang="zh-CN" altLang="en-US" sz="2800" b="1" dirty="0" smtClean="0">
                <a:latin typeface="黑体" pitchFamily="2" charset="-122"/>
                <a:ea typeface="黑体" pitchFamily="2" charset="-122"/>
                <a:cs typeface="+mn-cs"/>
              </a:rPr>
              <a:t>过 渡 时 期</a:t>
            </a:r>
          </a:p>
        </p:txBody>
      </p:sp>
      <p:sp>
        <p:nvSpPr>
          <p:cNvPr id="6" name="右箭头 5"/>
          <p:cNvSpPr/>
          <p:nvPr/>
        </p:nvSpPr>
        <p:spPr>
          <a:xfrm>
            <a:off x="1043608" y="3284984"/>
            <a:ext cx="936104"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851920" y="2204864"/>
            <a:ext cx="701731" cy="2926442"/>
          </a:xfrm>
          <a:prstGeom prst="rect">
            <a:avLst/>
          </a:prstGeom>
          <a:solidFill>
            <a:schemeClr val="bg2"/>
          </a:solidFill>
          <a:ln>
            <a:solidFill>
              <a:schemeClr val="accent1"/>
            </a:solidFill>
          </a:ln>
        </p:spPr>
        <p:txBody>
          <a:bodyPr vert="eaVert" wrap="none">
            <a:spAutoFit/>
          </a:bodyPr>
          <a:lstStyle/>
          <a:p>
            <a:pPr marL="342900" lvl="0" indent="-342900" rtl="0" fontAlgn="auto">
              <a:lnSpc>
                <a:spcPct val="120000"/>
              </a:lnSpc>
              <a:spcBef>
                <a:spcPct val="20000"/>
              </a:spcBef>
              <a:spcAft>
                <a:spcPts val="0"/>
              </a:spcAft>
              <a:buClr>
                <a:srgbClr val="2F2F2F"/>
              </a:buClr>
              <a:buSzPct val="50000"/>
            </a:pPr>
            <a:r>
              <a:rPr kumimoji="1" lang="zh-CN" altLang="en-US" sz="2800" b="1" dirty="0" smtClean="0">
                <a:latin typeface="黑体" pitchFamily="2" charset="-122"/>
                <a:ea typeface="黑体" pitchFamily="2" charset="-122"/>
              </a:rPr>
              <a:t>社会主义社会时期</a:t>
            </a:r>
          </a:p>
        </p:txBody>
      </p:sp>
      <p:sp>
        <p:nvSpPr>
          <p:cNvPr id="8" name="Rectangle 3"/>
          <p:cNvSpPr txBox="1">
            <a:spLocks noChangeArrowheads="1"/>
          </p:cNvSpPr>
          <p:nvPr/>
        </p:nvSpPr>
        <p:spPr>
          <a:xfrm>
            <a:off x="6156176" y="1628800"/>
            <a:ext cx="2376264" cy="4968552"/>
          </a:xfrm>
          <a:prstGeom prst="rect">
            <a:avLst/>
          </a:prstGeom>
          <a:solidFill>
            <a:schemeClr val="bg1"/>
          </a:solidFill>
          <a:ln>
            <a:solidFill>
              <a:schemeClr val="accent1"/>
            </a:solidFill>
          </a:ln>
        </p:spPr>
        <p:txBody>
          <a:bodyPr vert="eaVert" rtlCol="0">
            <a:noAutofit/>
          </a:bodyPr>
          <a:lstStyle/>
          <a:p>
            <a:pPr>
              <a:lnSpc>
                <a:spcPct val="120000"/>
              </a:lnSpc>
            </a:pPr>
            <a:endParaRPr kumimoji="1" lang="en-US" altLang="zh-CN" sz="2400" b="1" dirty="0" smtClean="0">
              <a:solidFill>
                <a:srgbClr val="00B0F0"/>
              </a:solidFill>
              <a:latin typeface="黑体" pitchFamily="2" charset="-122"/>
              <a:ea typeface="黑体" pitchFamily="2" charset="-122"/>
            </a:endParaRPr>
          </a:p>
          <a:p>
            <a:pPr>
              <a:lnSpc>
                <a:spcPct val="120000"/>
              </a:lnSpc>
            </a:pPr>
            <a:r>
              <a:rPr kumimoji="1" lang="zh-CN" altLang="en-US" sz="2400" b="1" dirty="0" smtClean="0">
                <a:latin typeface="黑体" pitchFamily="2" charset="-122"/>
                <a:ea typeface="黑体" pitchFamily="2" charset="-122"/>
              </a:rPr>
              <a:t>人民对于经济文化迅速发展的需要同当前经济文化不能满足人民需要的状况之间的矛盾</a:t>
            </a:r>
          </a:p>
        </p:txBody>
      </p:sp>
      <p:sp>
        <p:nvSpPr>
          <p:cNvPr id="9" name="右箭头 8"/>
          <p:cNvSpPr/>
          <p:nvPr/>
        </p:nvSpPr>
        <p:spPr>
          <a:xfrm>
            <a:off x="4644008" y="3429000"/>
            <a:ext cx="1296144"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2232318851"/>
      </p:ext>
    </p:extLst>
  </p:cSld>
  <p:clrMapOvr>
    <a:masterClrMapping/>
  </p:clrMapOvr>
  <p:transition>
    <p:strips dir="rd"/>
    <p:sndAc>
      <p:stSnd>
        <p:snd r:embed="rId2" name="chimes.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131075">
                                            <p:txEl>
                                              <p:pRg st="0" end="0"/>
                                            </p:txEl>
                                          </p:spTgt>
                                        </p:tgtEl>
                                        <p:attrNameLst>
                                          <p:attrName>style.visibility</p:attrName>
                                        </p:attrNameLst>
                                      </p:cBhvr>
                                      <p:to>
                                        <p:strVal val="visible"/>
                                      </p:to>
                                    </p:set>
                                    <p:anim calcmode="discrete" valueType="clr">
                                      <p:cBhvr override="childStyle">
                                        <p:cTn id="7" dur="80"/>
                                        <p:tgtEl>
                                          <p:spTgt spid="13107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31075">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131075">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131075">
                                            <p:txEl>
                                              <p:pRg st="1" end="1"/>
                                            </p:txEl>
                                          </p:spTgt>
                                        </p:tgtEl>
                                        <p:attrNameLst>
                                          <p:attrName>style.visibility</p:attrName>
                                        </p:attrNameLst>
                                      </p:cBhvr>
                                      <p:to>
                                        <p:strVal val="visible"/>
                                      </p:to>
                                    </p:set>
                                    <p:anim calcmode="discrete" valueType="clr">
                                      <p:cBhvr override="childStyle">
                                        <p:cTn id="14" dur="80"/>
                                        <p:tgtEl>
                                          <p:spTgt spid="13107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31075">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131075">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8">
                                            <p:txEl>
                                              <p:pRg st="1" end="1"/>
                                            </p:txEl>
                                          </p:spTgt>
                                        </p:tgtEl>
                                        <p:attrNameLst>
                                          <p:attrName>style.visibility</p:attrName>
                                        </p:attrNameLst>
                                      </p:cBhvr>
                                      <p:to>
                                        <p:strVal val="visible"/>
                                      </p:to>
                                    </p:set>
                                    <p:anim calcmode="discrete" valueType="clr">
                                      <p:cBhvr override="childStyle">
                                        <p:cTn id="21" dur="80"/>
                                        <p:tgtEl>
                                          <p:spTgt spid="8">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8">
                                            <p:txEl>
                                              <p:pRg st="1" end="1"/>
                                            </p:txEl>
                                          </p:spTgt>
                                        </p:tgtEl>
                                        <p:attrNameLst>
                                          <p:attrName>fillcolor</p:attrName>
                                        </p:attrNameLst>
                                      </p:cBhvr>
                                      <p:tavLst>
                                        <p:tav tm="0">
                                          <p:val>
                                            <p:clrVal>
                                              <a:schemeClr val="accent2"/>
                                            </p:clrVal>
                                          </p:val>
                                        </p:tav>
                                        <p:tav tm="50000">
                                          <p:val>
                                            <p:clrVal>
                                              <a:schemeClr val="hlink"/>
                                            </p:clrVal>
                                          </p:val>
                                        </p:tav>
                                      </p:tavLst>
                                    </p:anim>
                                    <p:set>
                                      <p:cBhvr>
                                        <p:cTn id="23" dur="80"/>
                                        <p:tgtEl>
                                          <p:spTgt spid="8">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3"/>
          <p:cNvSpPr>
            <a:spLocks noGrp="1" noChangeArrowheads="1"/>
          </p:cNvSpPr>
          <p:nvPr>
            <p:ph idx="1"/>
          </p:nvPr>
        </p:nvSpPr>
        <p:spPr>
          <a:xfrm>
            <a:off x="323528" y="1988840"/>
            <a:ext cx="1897091" cy="4248472"/>
          </a:xfrm>
          <a:solidFill>
            <a:schemeClr val="bg1"/>
          </a:solidFill>
          <a:ln>
            <a:solidFill>
              <a:schemeClr val="accent1"/>
            </a:solidFill>
          </a:ln>
        </p:spPr>
        <p:txBody>
          <a:bodyPr>
            <a:noAutofit/>
          </a:bodyPr>
          <a:lstStyle/>
          <a:p>
            <a:pPr eaLnBrk="1" hangingPunct="1">
              <a:lnSpc>
                <a:spcPct val="120000"/>
              </a:lnSpc>
              <a:buNone/>
            </a:pPr>
            <a:r>
              <a:rPr kumimoji="1" lang="zh-CN" altLang="en-US" sz="2400" b="1" dirty="0" smtClean="0">
                <a:solidFill>
                  <a:schemeClr val="bg2">
                    <a:lumMod val="10000"/>
                  </a:schemeClr>
                </a:solidFill>
                <a:effectLst/>
                <a:latin typeface="黑体" pitchFamily="2" charset="-122"/>
                <a:ea typeface="黑体" pitchFamily="2" charset="-122"/>
              </a:rPr>
              <a:t>党和国家的工作重点转到技术革命和社会主义建设上来，发展社会生产力</a:t>
            </a:r>
          </a:p>
        </p:txBody>
      </p:sp>
      <p:sp>
        <p:nvSpPr>
          <p:cNvPr id="5" name="矩形 4"/>
          <p:cNvSpPr/>
          <p:nvPr/>
        </p:nvSpPr>
        <p:spPr>
          <a:xfrm>
            <a:off x="683568" y="404664"/>
            <a:ext cx="3892412" cy="584775"/>
          </a:xfrm>
          <a:prstGeom prst="rect">
            <a:avLst/>
          </a:prstGeom>
          <a:solidFill>
            <a:schemeClr val="bg2"/>
          </a:solidFill>
          <a:ln>
            <a:solidFill>
              <a:schemeClr val="accent1"/>
            </a:solidFill>
          </a:ln>
        </p:spPr>
        <p:txBody>
          <a:bodyPr wrap="none">
            <a:spAutoFit/>
          </a:bodyPr>
          <a:lstStyle/>
          <a:p>
            <a:r>
              <a:rPr kumimoji="1" lang="zh-CN" altLang="en-US" sz="3200" b="1" dirty="0" smtClean="0">
                <a:latin typeface="黑体" pitchFamily="2" charset="-122"/>
                <a:ea typeface="黑体" pitchFamily="2" charset="-122"/>
              </a:rPr>
              <a:t>社会主义的根本任务</a:t>
            </a:r>
            <a:endParaRPr lang="zh-CN" altLang="en-US" sz="3200" dirty="0"/>
          </a:p>
        </p:txBody>
      </p:sp>
      <p:pic>
        <p:nvPicPr>
          <p:cNvPr id="6" name="图片 1" descr="MAIN201208241314000369466104702"/>
          <p:cNvPicPr>
            <a:picLocks noChangeAspect="1"/>
          </p:cNvPicPr>
          <p:nvPr/>
        </p:nvPicPr>
        <p:blipFill>
          <a:blip r:embed="rId3" cstate="print"/>
          <a:stretch>
            <a:fillRect/>
          </a:stretch>
        </p:blipFill>
        <p:spPr>
          <a:xfrm>
            <a:off x="2476500" y="1152525"/>
            <a:ext cx="6667500" cy="5705475"/>
          </a:xfrm>
          <a:prstGeom prst="rect">
            <a:avLst/>
          </a:prstGeom>
          <a:noFill/>
          <a:ln w="9525">
            <a:noFill/>
          </a:ln>
        </p:spPr>
      </p:pic>
    </p:spTree>
    <p:extLst>
      <p:ext uri="{BB962C8B-B14F-4D97-AF65-F5344CB8AC3E}">
        <p14:creationId xmlns:p14="http://schemas.microsoft.com/office/powerpoint/2010/main" xmlns="" val="2232318851"/>
      </p:ext>
    </p:extLst>
  </p:cSld>
  <p:clrMapOvr>
    <a:masterClrMapping/>
  </p:clrMapOvr>
  <p:transition>
    <p:strips dir="rd"/>
    <p:sndAc>
      <p:stSnd>
        <p:snd r:embed="rId2" name="chimes.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131075">
                                            <p:txEl>
                                              <p:pRg st="0" end="0"/>
                                            </p:txEl>
                                          </p:spTgt>
                                        </p:tgtEl>
                                        <p:attrNameLst>
                                          <p:attrName>style.visibility</p:attrName>
                                        </p:attrNameLst>
                                      </p:cBhvr>
                                      <p:to>
                                        <p:strVal val="visible"/>
                                      </p:to>
                                    </p:set>
                                    <p:anim calcmode="discrete" valueType="clr">
                                      <p:cBhvr override="childStyle">
                                        <p:cTn id="7" dur="80"/>
                                        <p:tgtEl>
                                          <p:spTgt spid="13107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31075">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131075">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a:xfrm>
            <a:off x="899592" y="188640"/>
            <a:ext cx="7264400" cy="814387"/>
          </a:xfrm>
          <a:solidFill>
            <a:schemeClr val="bg2"/>
          </a:solidFill>
          <a:ln>
            <a:solidFill>
              <a:schemeClr val="accent1"/>
            </a:solidFill>
          </a:ln>
        </p:spPr>
        <p:txBody>
          <a:bodyPr>
            <a:normAutofit fontScale="90000"/>
          </a:bodyPr>
          <a:lstStyle/>
          <a:p>
            <a:pPr algn="l" eaLnBrk="1" hangingPunct="1"/>
            <a:r>
              <a:rPr lang="en-US" altLang="zh-CN" sz="3200" b="1" dirty="0" smtClean="0">
                <a:solidFill>
                  <a:srgbClr val="FF0000"/>
                </a:solidFill>
                <a:effectLst/>
                <a:latin typeface="黑体" pitchFamily="2" charset="-122"/>
                <a:ea typeface="黑体" pitchFamily="2" charset="-122"/>
              </a:rPr>
              <a:t>3</a:t>
            </a:r>
            <a:r>
              <a:rPr lang="zh-CN" altLang="en-US" sz="3200" b="1" dirty="0" smtClean="0">
                <a:solidFill>
                  <a:srgbClr val="FF0000"/>
                </a:solidFill>
                <a:effectLst/>
                <a:latin typeface="黑体" pitchFamily="2" charset="-122"/>
                <a:ea typeface="黑体" pitchFamily="2" charset="-122"/>
              </a:rPr>
              <a:t>、社会主义社会两类不同性质的矛盾及解决方法</a:t>
            </a:r>
          </a:p>
        </p:txBody>
      </p:sp>
      <p:sp>
        <p:nvSpPr>
          <p:cNvPr id="14339" name="Text Box 4"/>
          <p:cNvSpPr txBox="1">
            <a:spLocks noChangeArrowheads="1"/>
          </p:cNvSpPr>
          <p:nvPr/>
        </p:nvSpPr>
        <p:spPr bwMode="auto">
          <a:xfrm>
            <a:off x="431800" y="3068638"/>
            <a:ext cx="1890713" cy="1016000"/>
          </a:xfrm>
          <a:prstGeom prst="rect">
            <a:avLst/>
          </a:prstGeom>
          <a:solidFill>
            <a:schemeClr val="bg1"/>
          </a:solidFill>
          <a:ln w="9525">
            <a:solidFill>
              <a:srgbClr val="00FF00"/>
            </a:solidFill>
            <a:miter lim="800000"/>
            <a:headEnd/>
            <a:tailEnd/>
          </a:ln>
        </p:spPr>
        <p:txBody>
          <a:bodyPr>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sz="2400" b="1" dirty="0">
                <a:solidFill>
                  <a:srgbClr val="0000FF"/>
                </a:solidFill>
                <a:ea typeface="黑体" pitchFamily="2" charset="-122"/>
              </a:rPr>
              <a:t>社会矛盾</a:t>
            </a:r>
          </a:p>
          <a:p>
            <a:pPr eaLnBrk="1" hangingPunct="1"/>
            <a:r>
              <a:rPr lang="zh-CN" altLang="en-US" b="1" dirty="0">
                <a:solidFill>
                  <a:srgbClr val="0000FF"/>
                </a:solidFill>
                <a:ea typeface="黑体" pitchFamily="2" charset="-122"/>
              </a:rPr>
              <a:t>（性质：对抗性与非对抗性统一）</a:t>
            </a:r>
          </a:p>
        </p:txBody>
      </p:sp>
      <p:sp>
        <p:nvSpPr>
          <p:cNvPr id="14340" name="Text Box 5"/>
          <p:cNvSpPr txBox="1">
            <a:spLocks noChangeArrowheads="1"/>
          </p:cNvSpPr>
          <p:nvPr/>
        </p:nvSpPr>
        <p:spPr bwMode="auto">
          <a:xfrm>
            <a:off x="2457450" y="1493838"/>
            <a:ext cx="2338388" cy="1196975"/>
          </a:xfrm>
          <a:prstGeom prst="rect">
            <a:avLst/>
          </a:prstGeom>
          <a:solidFill>
            <a:schemeClr val="bg1"/>
          </a:solidFill>
          <a:ln w="9525">
            <a:solidFill>
              <a:srgbClr val="00FF00"/>
            </a:solidFill>
            <a:miter lim="800000"/>
            <a:headEnd/>
            <a:tailEnd/>
          </a:ln>
        </p:spPr>
        <p:txBody>
          <a:bodyPr wrap="non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algn="ctr" eaLnBrk="1" hangingPunct="1"/>
            <a:r>
              <a:rPr lang="zh-CN" altLang="en-US" sz="2400" b="1">
                <a:solidFill>
                  <a:srgbClr val="0000FF"/>
                </a:solidFill>
                <a:ea typeface="黑体" pitchFamily="2" charset="-122"/>
              </a:rPr>
              <a:t>人民内部矛盾</a:t>
            </a:r>
          </a:p>
          <a:p>
            <a:pPr algn="ctr" eaLnBrk="1" hangingPunct="1"/>
            <a:r>
              <a:rPr lang="zh-CN" altLang="en-US" sz="2400" b="1">
                <a:solidFill>
                  <a:srgbClr val="0000FF"/>
                </a:solidFill>
                <a:ea typeface="黑体" pitchFamily="2" charset="-122"/>
              </a:rPr>
              <a:t>（是非问题）</a:t>
            </a:r>
          </a:p>
          <a:p>
            <a:pPr algn="ctr" eaLnBrk="1" hangingPunct="1"/>
            <a:r>
              <a:rPr lang="zh-CN" altLang="en-US" sz="2400" b="1">
                <a:solidFill>
                  <a:srgbClr val="0000FF"/>
                </a:solidFill>
                <a:ea typeface="黑体" pitchFamily="2" charset="-122"/>
              </a:rPr>
              <a:t>（非对抗性质）</a:t>
            </a:r>
          </a:p>
        </p:txBody>
      </p:sp>
      <p:sp>
        <p:nvSpPr>
          <p:cNvPr id="14341" name="Text Box 6"/>
          <p:cNvSpPr txBox="1">
            <a:spLocks noChangeArrowheads="1"/>
          </p:cNvSpPr>
          <p:nvPr/>
        </p:nvSpPr>
        <p:spPr bwMode="auto">
          <a:xfrm>
            <a:off x="2546350" y="4284663"/>
            <a:ext cx="2205038" cy="1196975"/>
          </a:xfrm>
          <a:prstGeom prst="rect">
            <a:avLst/>
          </a:prstGeom>
          <a:solidFill>
            <a:schemeClr val="bg1"/>
          </a:solidFill>
          <a:ln w="9525">
            <a:solidFill>
              <a:srgbClr val="00FF00"/>
            </a:solidFill>
            <a:miter lim="800000"/>
            <a:headEnd/>
            <a:tailEnd/>
          </a:ln>
        </p:spPr>
        <p:txBody>
          <a:bodyPr>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algn="ctr" eaLnBrk="1" hangingPunct="1"/>
            <a:r>
              <a:rPr lang="zh-CN" altLang="en-US" sz="2400" b="1">
                <a:solidFill>
                  <a:srgbClr val="0000FF"/>
                </a:solidFill>
                <a:ea typeface="黑体" pitchFamily="2" charset="-122"/>
              </a:rPr>
              <a:t>敌我矛盾</a:t>
            </a:r>
          </a:p>
          <a:p>
            <a:pPr algn="ctr" eaLnBrk="1" hangingPunct="1"/>
            <a:r>
              <a:rPr lang="zh-CN" altLang="en-US" sz="2400" b="1">
                <a:solidFill>
                  <a:srgbClr val="0000FF"/>
                </a:solidFill>
                <a:ea typeface="黑体" pitchFamily="2" charset="-122"/>
              </a:rPr>
              <a:t>（敌我问题）</a:t>
            </a:r>
          </a:p>
          <a:p>
            <a:pPr algn="ctr" eaLnBrk="1" hangingPunct="1"/>
            <a:r>
              <a:rPr lang="zh-CN" altLang="en-US" sz="2400" b="1">
                <a:solidFill>
                  <a:srgbClr val="0000FF"/>
                </a:solidFill>
                <a:ea typeface="黑体" pitchFamily="2" charset="-122"/>
              </a:rPr>
              <a:t>（对抗性质）</a:t>
            </a:r>
          </a:p>
        </p:txBody>
      </p:sp>
      <p:sp>
        <p:nvSpPr>
          <p:cNvPr id="14342" name="Text Box 7"/>
          <p:cNvSpPr txBox="1">
            <a:spLocks noChangeArrowheads="1"/>
          </p:cNvSpPr>
          <p:nvPr/>
        </p:nvSpPr>
        <p:spPr bwMode="auto">
          <a:xfrm>
            <a:off x="5472113" y="1854200"/>
            <a:ext cx="1419225" cy="466725"/>
          </a:xfrm>
          <a:prstGeom prst="rect">
            <a:avLst/>
          </a:prstGeom>
          <a:solidFill>
            <a:schemeClr val="bg1"/>
          </a:solidFill>
          <a:ln w="9525">
            <a:solidFill>
              <a:srgbClr val="00FF00"/>
            </a:solidFill>
            <a:miter lim="800000"/>
            <a:headEnd/>
            <a:tailEnd/>
          </a:ln>
        </p:spPr>
        <p:txBody>
          <a:bodyPr wrap="non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sz="2400" b="1">
                <a:solidFill>
                  <a:srgbClr val="0000FF"/>
                </a:solidFill>
                <a:ea typeface="黑体" pitchFamily="2" charset="-122"/>
              </a:rPr>
              <a:t>民主方法</a:t>
            </a:r>
          </a:p>
        </p:txBody>
      </p:sp>
      <p:sp>
        <p:nvSpPr>
          <p:cNvPr id="14343" name="Text Box 8"/>
          <p:cNvSpPr txBox="1">
            <a:spLocks noChangeArrowheads="1"/>
          </p:cNvSpPr>
          <p:nvPr/>
        </p:nvSpPr>
        <p:spPr bwMode="auto">
          <a:xfrm>
            <a:off x="5607050" y="4643438"/>
            <a:ext cx="1419225" cy="466725"/>
          </a:xfrm>
          <a:prstGeom prst="rect">
            <a:avLst/>
          </a:prstGeom>
          <a:solidFill>
            <a:schemeClr val="bg1"/>
          </a:solidFill>
          <a:ln w="9525">
            <a:solidFill>
              <a:srgbClr val="00FF00"/>
            </a:solidFill>
            <a:miter lim="800000"/>
            <a:headEnd/>
            <a:tailEnd/>
          </a:ln>
        </p:spPr>
        <p:txBody>
          <a:bodyPr wrap="non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sz="2400" b="1">
                <a:solidFill>
                  <a:srgbClr val="0000FF"/>
                </a:solidFill>
                <a:ea typeface="黑体" pitchFamily="2" charset="-122"/>
              </a:rPr>
              <a:t>专政方法</a:t>
            </a:r>
          </a:p>
        </p:txBody>
      </p:sp>
      <p:cxnSp>
        <p:nvCxnSpPr>
          <p:cNvPr id="14344" name="AutoShape 9"/>
          <p:cNvCxnSpPr>
            <a:cxnSpLocks noChangeShapeType="1"/>
            <a:stCxn id="14339" idx="0"/>
            <a:endCxn id="14340" idx="1"/>
          </p:cNvCxnSpPr>
          <p:nvPr/>
        </p:nvCxnSpPr>
        <p:spPr bwMode="auto">
          <a:xfrm flipV="1">
            <a:off x="1377950" y="2092325"/>
            <a:ext cx="1079500" cy="976313"/>
          </a:xfrm>
          <a:prstGeom prst="straightConnector1">
            <a:avLst/>
          </a:prstGeom>
          <a:noFill/>
          <a:ln w="31750">
            <a:solidFill>
              <a:srgbClr val="0000FF"/>
            </a:solidFill>
            <a:round/>
            <a:headEnd/>
            <a:tailEnd type="triangle" w="med" len="med"/>
          </a:ln>
          <a:extLst>
            <a:ext uri="{909E8E84-426E-40DD-AFC4-6F175D3DCCD1}">
              <a14:hiddenFill xmlns:a14="http://schemas.microsoft.com/office/drawing/2010/main" xmlns="">
                <a:noFill/>
              </a14:hiddenFill>
            </a:ext>
          </a:extLst>
        </p:spPr>
      </p:cxnSp>
      <p:cxnSp>
        <p:nvCxnSpPr>
          <p:cNvPr id="14345" name="AutoShape 10"/>
          <p:cNvCxnSpPr>
            <a:cxnSpLocks noChangeShapeType="1"/>
            <a:stCxn id="14339" idx="2"/>
            <a:endCxn id="14341" idx="1"/>
          </p:cNvCxnSpPr>
          <p:nvPr/>
        </p:nvCxnSpPr>
        <p:spPr bwMode="auto">
          <a:xfrm>
            <a:off x="1377950" y="4084638"/>
            <a:ext cx="1168400" cy="798512"/>
          </a:xfrm>
          <a:prstGeom prst="straightConnector1">
            <a:avLst/>
          </a:prstGeom>
          <a:noFill/>
          <a:ln w="31750">
            <a:solidFill>
              <a:srgbClr val="0000FF"/>
            </a:solidFill>
            <a:round/>
            <a:headEnd/>
            <a:tailEnd type="triangle" w="med" len="med"/>
          </a:ln>
          <a:extLst>
            <a:ext uri="{909E8E84-426E-40DD-AFC4-6F175D3DCCD1}">
              <a14:hiddenFill xmlns:a14="http://schemas.microsoft.com/office/drawing/2010/main" xmlns="">
                <a:noFill/>
              </a14:hiddenFill>
            </a:ext>
          </a:extLst>
        </p:spPr>
      </p:cxnSp>
      <p:cxnSp>
        <p:nvCxnSpPr>
          <p:cNvPr id="14346" name="AutoShape 12"/>
          <p:cNvCxnSpPr>
            <a:cxnSpLocks noChangeShapeType="1"/>
            <a:stCxn id="14340" idx="3"/>
            <a:endCxn id="14342" idx="1"/>
          </p:cNvCxnSpPr>
          <p:nvPr/>
        </p:nvCxnSpPr>
        <p:spPr bwMode="auto">
          <a:xfrm flipV="1">
            <a:off x="4795838" y="2087563"/>
            <a:ext cx="676275" cy="4762"/>
          </a:xfrm>
          <a:prstGeom prst="straightConnector1">
            <a:avLst/>
          </a:prstGeom>
          <a:noFill/>
          <a:ln w="28575">
            <a:solidFill>
              <a:srgbClr val="0000FF"/>
            </a:solidFill>
            <a:round/>
            <a:headEnd/>
            <a:tailEnd/>
          </a:ln>
          <a:extLst>
            <a:ext uri="{909E8E84-426E-40DD-AFC4-6F175D3DCCD1}">
              <a14:hiddenFill xmlns:a14="http://schemas.microsoft.com/office/drawing/2010/main" xmlns="">
                <a:noFill/>
              </a14:hiddenFill>
            </a:ext>
          </a:extLst>
        </p:spPr>
      </p:cxnSp>
      <p:cxnSp>
        <p:nvCxnSpPr>
          <p:cNvPr id="14347" name="AutoShape 13"/>
          <p:cNvCxnSpPr>
            <a:cxnSpLocks noChangeShapeType="1"/>
            <a:stCxn id="14341" idx="3"/>
            <a:endCxn id="14343" idx="1"/>
          </p:cNvCxnSpPr>
          <p:nvPr/>
        </p:nvCxnSpPr>
        <p:spPr bwMode="auto">
          <a:xfrm flipV="1">
            <a:off x="4751388" y="4876800"/>
            <a:ext cx="855662" cy="6350"/>
          </a:xfrm>
          <a:prstGeom prst="straightConnector1">
            <a:avLst/>
          </a:prstGeom>
          <a:noFill/>
          <a:ln w="28575">
            <a:solidFill>
              <a:srgbClr val="0000FF"/>
            </a:solidFill>
            <a:round/>
            <a:headEnd/>
            <a:tailEnd/>
          </a:ln>
          <a:extLst>
            <a:ext uri="{909E8E84-426E-40DD-AFC4-6F175D3DCCD1}">
              <a14:hiddenFill xmlns:a14="http://schemas.microsoft.com/office/drawing/2010/main" xmlns="">
                <a:noFill/>
              </a14:hiddenFill>
            </a:ext>
          </a:extLst>
        </p:spPr>
      </p:cxnSp>
      <p:sp>
        <p:nvSpPr>
          <p:cNvPr id="14348" name="AutoShape 14"/>
          <p:cNvSpPr>
            <a:spLocks noChangeArrowheads="1"/>
          </p:cNvSpPr>
          <p:nvPr/>
        </p:nvSpPr>
        <p:spPr bwMode="auto">
          <a:xfrm>
            <a:off x="7092950" y="2168525"/>
            <a:ext cx="628650" cy="2565400"/>
          </a:xfrm>
          <a:prstGeom prst="curvedLeftArrow">
            <a:avLst>
              <a:gd name="adj1" fmla="val 81616"/>
              <a:gd name="adj2" fmla="val 163232"/>
              <a:gd name="adj3" fmla="val 33333"/>
            </a:avLst>
          </a:prstGeom>
          <a:solidFill>
            <a:schemeClr val="accent1"/>
          </a:solidFill>
          <a:ln w="9525">
            <a:solidFill>
              <a:schemeClr val="tx1"/>
            </a:solidFill>
            <a:miter lim="800000"/>
            <a:headEnd/>
            <a:tailEnd/>
          </a:ln>
        </p:spPr>
        <p:txBody>
          <a:bodyPr wrap="none" anchor="ctr"/>
          <a:lstStyle/>
          <a:p>
            <a:endParaRPr lang="zh-CN" altLang="en-US"/>
          </a:p>
        </p:txBody>
      </p:sp>
      <p:sp>
        <p:nvSpPr>
          <p:cNvPr id="14349" name="AutoShape 15"/>
          <p:cNvSpPr>
            <a:spLocks noChangeArrowheads="1"/>
          </p:cNvSpPr>
          <p:nvPr/>
        </p:nvSpPr>
        <p:spPr bwMode="auto">
          <a:xfrm rot="10800000">
            <a:off x="5832475" y="2303463"/>
            <a:ext cx="584200" cy="2159000"/>
          </a:xfrm>
          <a:prstGeom prst="curvedLeftArrow">
            <a:avLst>
              <a:gd name="adj1" fmla="val 73913"/>
              <a:gd name="adj2" fmla="val 147826"/>
              <a:gd name="adj3" fmla="val 33333"/>
            </a:avLst>
          </a:prstGeom>
          <a:solidFill>
            <a:schemeClr val="accent1"/>
          </a:solidFill>
          <a:ln w="9525">
            <a:solidFill>
              <a:schemeClr val="tx1"/>
            </a:solidFill>
            <a:miter lim="800000"/>
            <a:headEnd/>
            <a:tailEnd/>
          </a:ln>
        </p:spPr>
        <p:txBody>
          <a:bodyPr wrap="none" anchor="ctr"/>
          <a:lstStyle/>
          <a:p>
            <a:endParaRPr lang="zh-CN" altLang="en-US"/>
          </a:p>
        </p:txBody>
      </p:sp>
      <p:sp>
        <p:nvSpPr>
          <p:cNvPr id="14350" name="Text Box 16"/>
          <p:cNvSpPr txBox="1">
            <a:spLocks noChangeArrowheads="1"/>
          </p:cNvSpPr>
          <p:nvPr/>
        </p:nvSpPr>
        <p:spPr bwMode="auto">
          <a:xfrm>
            <a:off x="6411080" y="2933700"/>
            <a:ext cx="677108" cy="9002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eaVert" wrap="non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sz="3200" b="1" dirty="0">
                <a:solidFill>
                  <a:srgbClr val="FF0000"/>
                </a:solidFill>
                <a:ea typeface="黑体" pitchFamily="2" charset="-122"/>
              </a:rPr>
              <a:t>转化</a:t>
            </a:r>
          </a:p>
        </p:txBody>
      </p:sp>
    </p:spTree>
    <p:extLst>
      <p:ext uri="{BB962C8B-B14F-4D97-AF65-F5344CB8AC3E}">
        <p14:creationId xmlns:p14="http://schemas.microsoft.com/office/powerpoint/2010/main" xmlns="" val="1695426695"/>
      </p:ext>
    </p:extLst>
  </p:cSld>
  <p:clrMapOvr>
    <a:masterClrMapping/>
  </p:clrMapOvr>
  <p:transition>
    <p:strips dir="rd"/>
    <p:sndAc>
      <p:stSnd>
        <p:snd r:embed="rId2" name="chimes.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rrowheads="1"/>
          </p:cNvSpPr>
          <p:nvPr>
            <p:ph type="title"/>
          </p:nvPr>
        </p:nvSpPr>
        <p:spPr>
          <a:xfrm>
            <a:off x="1465106" y="404664"/>
            <a:ext cx="7040562" cy="1079500"/>
          </a:xfrm>
          <a:solidFill>
            <a:schemeClr val="bg2"/>
          </a:solidFill>
          <a:ln>
            <a:solidFill>
              <a:schemeClr val="accent1"/>
            </a:solidFill>
          </a:ln>
        </p:spPr>
        <p:txBody>
          <a:bodyPr>
            <a:normAutofit fontScale="90000"/>
          </a:bodyPr>
          <a:lstStyle/>
          <a:p>
            <a:pPr eaLnBrk="1" hangingPunct="1">
              <a:lnSpc>
                <a:spcPct val="120000"/>
              </a:lnSpc>
              <a:defRPr/>
            </a:pPr>
            <a:r>
              <a:rPr lang="zh-CN" altLang="en-US" sz="4000" dirty="0" smtClean="0">
                <a:solidFill>
                  <a:srgbClr val="FF0000"/>
                </a:solidFill>
                <a:ea typeface="黑体" pitchFamily="2" charset="-122"/>
              </a:rPr>
              <a:t>正确处理人民内部矛盾的方针</a:t>
            </a:r>
            <a:r>
              <a:rPr lang="zh-CN" altLang="en-US" sz="4000" dirty="0" smtClean="0">
                <a:solidFill>
                  <a:schemeClr val="bg2"/>
                </a:solidFill>
                <a:ea typeface="黑体" pitchFamily="2" charset="-122"/>
              </a:rPr>
              <a:t/>
            </a:r>
            <a:br>
              <a:rPr lang="zh-CN" altLang="en-US" sz="4000" dirty="0" smtClean="0">
                <a:solidFill>
                  <a:schemeClr val="bg2"/>
                </a:solidFill>
                <a:ea typeface="黑体" pitchFamily="2" charset="-122"/>
              </a:rPr>
            </a:br>
            <a:r>
              <a:rPr lang="zh-CN" altLang="en-US" sz="2000" dirty="0" smtClean="0">
                <a:solidFill>
                  <a:srgbClr val="0000FF"/>
                </a:solidFill>
                <a:effectLst/>
                <a:ea typeface="黑体" pitchFamily="2" charset="-122"/>
              </a:rPr>
              <a:t>（社会主义国家政治生活的主题：正确处理人民内部矛盾）</a:t>
            </a:r>
          </a:p>
        </p:txBody>
      </p:sp>
      <p:sp>
        <p:nvSpPr>
          <p:cNvPr id="133123" name="Rectangle 3"/>
          <p:cNvSpPr>
            <a:spLocks noGrp="1" noChangeArrowheads="1"/>
          </p:cNvSpPr>
          <p:nvPr>
            <p:ph idx="1"/>
          </p:nvPr>
        </p:nvSpPr>
        <p:spPr>
          <a:xfrm>
            <a:off x="296863" y="2079625"/>
            <a:ext cx="4094162" cy="3689350"/>
          </a:xfrm>
          <a:solidFill>
            <a:schemeClr val="bg1"/>
          </a:solidFill>
          <a:ln>
            <a:solidFill>
              <a:srgbClr val="00FF00"/>
            </a:solidFill>
          </a:ln>
        </p:spPr>
        <p:txBody>
          <a:bodyPr/>
          <a:lstStyle/>
          <a:p>
            <a:pPr eaLnBrk="1" hangingPunct="1">
              <a:lnSpc>
                <a:spcPct val="120000"/>
              </a:lnSpc>
            </a:pPr>
            <a:r>
              <a:rPr lang="zh-CN" altLang="en-US" sz="2000" b="1" dirty="0" smtClean="0">
                <a:effectLst/>
                <a:ea typeface="黑体" pitchFamily="2" charset="-122"/>
              </a:rPr>
              <a:t>总方针：用民主的方法解决人民内部矛盾</a:t>
            </a:r>
          </a:p>
          <a:p>
            <a:pPr eaLnBrk="1" hangingPunct="1">
              <a:lnSpc>
                <a:spcPct val="120000"/>
              </a:lnSpc>
            </a:pPr>
            <a:r>
              <a:rPr lang="zh-CN" altLang="en-US" sz="2000" b="1" dirty="0" smtClean="0">
                <a:effectLst/>
                <a:ea typeface="黑体" pitchFamily="2" charset="-122"/>
              </a:rPr>
              <a:t>政治思想领域的人民内部矛盾</a:t>
            </a:r>
          </a:p>
          <a:p>
            <a:pPr eaLnBrk="1" hangingPunct="1">
              <a:lnSpc>
                <a:spcPct val="120000"/>
              </a:lnSpc>
            </a:pPr>
            <a:r>
              <a:rPr lang="zh-CN" altLang="en-US" sz="2000" b="1" dirty="0" smtClean="0">
                <a:effectLst/>
                <a:ea typeface="黑体" pitchFamily="2" charset="-122"/>
              </a:rPr>
              <a:t>对于物质利益分配方面的矛盾</a:t>
            </a:r>
          </a:p>
          <a:p>
            <a:pPr eaLnBrk="1" hangingPunct="1">
              <a:lnSpc>
                <a:spcPct val="120000"/>
              </a:lnSpc>
            </a:pPr>
            <a:r>
              <a:rPr lang="zh-CN" altLang="en-US" sz="2000" b="1" dirty="0" smtClean="0">
                <a:effectLst/>
                <a:ea typeface="黑体" pitchFamily="2" charset="-122"/>
              </a:rPr>
              <a:t>对群众和政府机关的矛盾</a:t>
            </a:r>
          </a:p>
          <a:p>
            <a:pPr eaLnBrk="1" hangingPunct="1">
              <a:lnSpc>
                <a:spcPct val="120000"/>
              </a:lnSpc>
            </a:pPr>
            <a:r>
              <a:rPr lang="zh-CN" altLang="en-US" sz="2000" b="1" dirty="0" smtClean="0">
                <a:effectLst/>
                <a:ea typeface="黑体" pitchFamily="2" charset="-122"/>
              </a:rPr>
              <a:t>对科学文化领域的矛盾</a:t>
            </a:r>
          </a:p>
          <a:p>
            <a:pPr eaLnBrk="1" hangingPunct="1">
              <a:lnSpc>
                <a:spcPct val="120000"/>
              </a:lnSpc>
            </a:pPr>
            <a:r>
              <a:rPr lang="zh-CN" altLang="en-US" sz="2000" b="1" dirty="0" smtClean="0">
                <a:effectLst/>
                <a:ea typeface="黑体" pitchFamily="2" charset="-122"/>
              </a:rPr>
              <a:t>对共产党和民主党派的矛盾</a:t>
            </a:r>
          </a:p>
          <a:p>
            <a:pPr eaLnBrk="1" hangingPunct="1">
              <a:lnSpc>
                <a:spcPct val="120000"/>
              </a:lnSpc>
            </a:pPr>
            <a:r>
              <a:rPr lang="zh-CN" altLang="en-US" sz="2000" b="1" dirty="0" smtClean="0">
                <a:effectLst/>
                <a:ea typeface="黑体" pitchFamily="2" charset="-122"/>
              </a:rPr>
              <a:t>对于民族间的</a:t>
            </a:r>
            <a:r>
              <a:rPr lang="zh-CN" altLang="en-US" sz="2000" b="1" dirty="0" smtClean="0">
                <a:solidFill>
                  <a:schemeClr val="bg2"/>
                </a:solidFill>
                <a:effectLst/>
                <a:ea typeface="黑体" pitchFamily="2" charset="-122"/>
              </a:rPr>
              <a:t>矛盾</a:t>
            </a:r>
          </a:p>
        </p:txBody>
      </p:sp>
      <p:sp>
        <p:nvSpPr>
          <p:cNvPr id="133124" name="Rectangle 4"/>
          <p:cNvSpPr>
            <a:spLocks noChangeArrowheads="1"/>
          </p:cNvSpPr>
          <p:nvPr/>
        </p:nvSpPr>
        <p:spPr bwMode="auto">
          <a:xfrm>
            <a:off x="5004048" y="2808919"/>
            <a:ext cx="4230688" cy="2835275"/>
          </a:xfrm>
          <a:prstGeom prst="rect">
            <a:avLst/>
          </a:prstGeom>
          <a:solidFill>
            <a:schemeClr val="bg1"/>
          </a:solidFill>
          <a:ln>
            <a:solidFill>
              <a:schemeClr val="accent1"/>
            </a:solidFill>
          </a:ln>
        </p:spPr>
        <p:txBody>
          <a:bodyPr/>
          <a:lstStyle/>
          <a:p>
            <a:pPr marL="342900" indent="-342900">
              <a:lnSpc>
                <a:spcPct val="120000"/>
              </a:lnSpc>
              <a:spcBef>
                <a:spcPct val="20000"/>
              </a:spcBef>
              <a:buClr>
                <a:schemeClr val="hlink"/>
              </a:buClr>
              <a:buSzPct val="70000"/>
              <a:buFont typeface="Wingdings" pitchFamily="2" charset="2"/>
              <a:buChar char="n"/>
            </a:pPr>
            <a:r>
              <a:rPr lang="zh-CN" altLang="en-US" sz="2000" b="1" dirty="0">
                <a:solidFill>
                  <a:srgbClr val="0000FF"/>
                </a:solidFill>
                <a:ea typeface="黑体" pitchFamily="2" charset="-122"/>
              </a:rPr>
              <a:t>团结</a:t>
            </a:r>
            <a:r>
              <a:rPr lang="en-US" altLang="zh-CN" sz="2000" b="1" dirty="0">
                <a:solidFill>
                  <a:srgbClr val="0000FF"/>
                </a:solidFill>
                <a:latin typeface="Arial" charset="0"/>
                <a:ea typeface="黑体" pitchFamily="2" charset="-122"/>
              </a:rPr>
              <a:t>——</a:t>
            </a:r>
            <a:r>
              <a:rPr lang="zh-CN" altLang="en-US" sz="2000" b="1" dirty="0">
                <a:solidFill>
                  <a:srgbClr val="0000FF"/>
                </a:solidFill>
                <a:ea typeface="黑体" pitchFamily="2" charset="-122"/>
              </a:rPr>
              <a:t>批评</a:t>
            </a:r>
            <a:r>
              <a:rPr lang="en-US" altLang="zh-CN" sz="2000" b="1" dirty="0">
                <a:solidFill>
                  <a:srgbClr val="0000FF"/>
                </a:solidFill>
                <a:latin typeface="Arial" charset="0"/>
                <a:ea typeface="黑体" pitchFamily="2" charset="-122"/>
              </a:rPr>
              <a:t>——</a:t>
            </a:r>
            <a:r>
              <a:rPr lang="zh-CN" altLang="en-US" sz="2000" b="1" dirty="0">
                <a:solidFill>
                  <a:srgbClr val="0000FF"/>
                </a:solidFill>
                <a:ea typeface="黑体" pitchFamily="2" charset="-122"/>
              </a:rPr>
              <a:t>团结的方针</a:t>
            </a:r>
          </a:p>
          <a:p>
            <a:pPr marL="342900" indent="-342900">
              <a:lnSpc>
                <a:spcPct val="120000"/>
              </a:lnSpc>
              <a:spcBef>
                <a:spcPct val="20000"/>
              </a:spcBef>
              <a:buClr>
                <a:schemeClr val="hlink"/>
              </a:buClr>
              <a:buSzPct val="70000"/>
              <a:buFont typeface="Wingdings" pitchFamily="2" charset="2"/>
              <a:buChar char="n"/>
            </a:pPr>
            <a:r>
              <a:rPr lang="zh-CN" altLang="en-US" sz="2000" b="1" dirty="0">
                <a:solidFill>
                  <a:srgbClr val="0000FF"/>
                </a:solidFill>
                <a:ea typeface="黑体" pitchFamily="2" charset="-122"/>
              </a:rPr>
              <a:t>统筹兼顾、适当安排的方针</a:t>
            </a:r>
          </a:p>
          <a:p>
            <a:pPr marL="342900" indent="-342900">
              <a:lnSpc>
                <a:spcPct val="120000"/>
              </a:lnSpc>
              <a:spcBef>
                <a:spcPct val="20000"/>
              </a:spcBef>
              <a:buClr>
                <a:schemeClr val="hlink"/>
              </a:buClr>
              <a:buSzPct val="70000"/>
              <a:buFont typeface="Wingdings" pitchFamily="2" charset="2"/>
              <a:buChar char="n"/>
            </a:pPr>
            <a:r>
              <a:rPr lang="zh-CN" altLang="en-US" sz="2000" b="1" dirty="0">
                <a:solidFill>
                  <a:srgbClr val="0000FF"/>
                </a:solidFill>
                <a:ea typeface="黑体" pitchFamily="2" charset="-122"/>
              </a:rPr>
              <a:t>坚持民主集中制的原则</a:t>
            </a:r>
          </a:p>
          <a:p>
            <a:pPr marL="342900" indent="-342900">
              <a:lnSpc>
                <a:spcPct val="120000"/>
              </a:lnSpc>
              <a:spcBef>
                <a:spcPct val="20000"/>
              </a:spcBef>
              <a:buClr>
                <a:schemeClr val="hlink"/>
              </a:buClr>
              <a:buSzPct val="70000"/>
              <a:buFont typeface="Wingdings" pitchFamily="2" charset="2"/>
              <a:buChar char="n"/>
            </a:pPr>
            <a:r>
              <a:rPr lang="zh-CN" altLang="en-US" sz="2000" b="1" dirty="0">
                <a:solidFill>
                  <a:srgbClr val="0000FF"/>
                </a:solidFill>
                <a:latin typeface="Arial" charset="0"/>
                <a:ea typeface="黑体" pitchFamily="2" charset="-122"/>
              </a:rPr>
              <a:t>“</a:t>
            </a:r>
            <a:r>
              <a:rPr lang="zh-CN" altLang="en-US" sz="2000" b="1" dirty="0">
                <a:solidFill>
                  <a:srgbClr val="0000FF"/>
                </a:solidFill>
                <a:ea typeface="黑体" pitchFamily="2" charset="-122"/>
              </a:rPr>
              <a:t>百花齐放、百家争鸣</a:t>
            </a:r>
            <a:r>
              <a:rPr lang="zh-CN" altLang="en-US" sz="2000" b="1" dirty="0">
                <a:solidFill>
                  <a:srgbClr val="0000FF"/>
                </a:solidFill>
                <a:latin typeface="Arial" charset="0"/>
                <a:ea typeface="黑体" pitchFamily="2" charset="-122"/>
              </a:rPr>
              <a:t>”</a:t>
            </a:r>
            <a:r>
              <a:rPr lang="zh-CN" altLang="en-US" sz="2000" b="1" dirty="0">
                <a:solidFill>
                  <a:srgbClr val="0000FF"/>
                </a:solidFill>
                <a:ea typeface="黑体" pitchFamily="2" charset="-122"/>
              </a:rPr>
              <a:t>的方针</a:t>
            </a:r>
          </a:p>
          <a:p>
            <a:pPr marL="342900" indent="-342900">
              <a:lnSpc>
                <a:spcPct val="120000"/>
              </a:lnSpc>
              <a:spcBef>
                <a:spcPct val="20000"/>
              </a:spcBef>
              <a:buClr>
                <a:schemeClr val="hlink"/>
              </a:buClr>
              <a:buSzPct val="70000"/>
              <a:buFont typeface="Wingdings" pitchFamily="2" charset="2"/>
              <a:buChar char="n"/>
            </a:pPr>
            <a:r>
              <a:rPr lang="zh-CN" altLang="en-US" sz="2000" b="1" dirty="0">
                <a:solidFill>
                  <a:srgbClr val="0000FF"/>
                </a:solidFill>
                <a:latin typeface="Arial" charset="0"/>
                <a:ea typeface="黑体" pitchFamily="2" charset="-122"/>
              </a:rPr>
              <a:t>“</a:t>
            </a:r>
            <a:r>
              <a:rPr lang="zh-CN" altLang="en-US" sz="2000" b="1" dirty="0">
                <a:solidFill>
                  <a:srgbClr val="0000FF"/>
                </a:solidFill>
                <a:ea typeface="黑体" pitchFamily="2" charset="-122"/>
              </a:rPr>
              <a:t>长期共存、互相监督</a:t>
            </a:r>
            <a:r>
              <a:rPr lang="zh-CN" altLang="en-US" sz="2000" b="1" dirty="0">
                <a:solidFill>
                  <a:srgbClr val="0000FF"/>
                </a:solidFill>
                <a:latin typeface="Arial" charset="0"/>
                <a:ea typeface="黑体" pitchFamily="2" charset="-122"/>
              </a:rPr>
              <a:t>”</a:t>
            </a:r>
            <a:r>
              <a:rPr lang="zh-CN" altLang="en-US" sz="2000" b="1" dirty="0">
                <a:solidFill>
                  <a:srgbClr val="0000FF"/>
                </a:solidFill>
                <a:ea typeface="黑体" pitchFamily="2" charset="-122"/>
              </a:rPr>
              <a:t>的方针</a:t>
            </a:r>
          </a:p>
          <a:p>
            <a:pPr marL="342900" indent="-342900">
              <a:lnSpc>
                <a:spcPct val="120000"/>
              </a:lnSpc>
              <a:spcBef>
                <a:spcPct val="20000"/>
              </a:spcBef>
              <a:buClr>
                <a:schemeClr val="hlink"/>
              </a:buClr>
              <a:buSzPct val="70000"/>
              <a:buFont typeface="Wingdings" pitchFamily="2" charset="2"/>
              <a:buChar char="n"/>
            </a:pPr>
            <a:r>
              <a:rPr lang="zh-CN" altLang="en-US" sz="2000" b="1" dirty="0">
                <a:solidFill>
                  <a:srgbClr val="0000FF"/>
                </a:solidFill>
                <a:ea typeface="黑体" pitchFamily="2" charset="-122"/>
              </a:rPr>
              <a:t>民族平等、团结互助的方针</a:t>
            </a:r>
          </a:p>
        </p:txBody>
      </p:sp>
      <p:sp>
        <p:nvSpPr>
          <p:cNvPr id="2" name="右箭头 1"/>
          <p:cNvSpPr/>
          <p:nvPr/>
        </p:nvSpPr>
        <p:spPr>
          <a:xfrm>
            <a:off x="4355976" y="3068960"/>
            <a:ext cx="648072" cy="720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右箭头 5"/>
          <p:cNvSpPr/>
          <p:nvPr/>
        </p:nvSpPr>
        <p:spPr>
          <a:xfrm>
            <a:off x="4337315" y="3501008"/>
            <a:ext cx="648072" cy="720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右箭头 6"/>
          <p:cNvSpPr/>
          <p:nvPr/>
        </p:nvSpPr>
        <p:spPr>
          <a:xfrm>
            <a:off x="4361351" y="3933056"/>
            <a:ext cx="648072" cy="720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右箭头 7"/>
          <p:cNvSpPr/>
          <p:nvPr/>
        </p:nvSpPr>
        <p:spPr>
          <a:xfrm>
            <a:off x="4337315" y="4365104"/>
            <a:ext cx="648072" cy="720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右箭头 8"/>
          <p:cNvSpPr/>
          <p:nvPr/>
        </p:nvSpPr>
        <p:spPr>
          <a:xfrm>
            <a:off x="4337315" y="4797152"/>
            <a:ext cx="648072" cy="720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右箭头 9"/>
          <p:cNvSpPr/>
          <p:nvPr/>
        </p:nvSpPr>
        <p:spPr>
          <a:xfrm>
            <a:off x="4337315" y="5157192"/>
            <a:ext cx="648072" cy="720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2278005891"/>
      </p:ext>
    </p:extLst>
  </p:cSld>
  <p:clrMapOvr>
    <a:masterClrMapping/>
  </p:clrMapOvr>
  <p:transition>
    <p:strips dir="rd"/>
    <p:sndAc>
      <p:stSnd>
        <p:snd r:embed="rId2" name="chimes.wav"/>
      </p:stSnd>
    </p:sndAc>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7" presetClass="entr" presetSubtype="0" fill="hold" nodeType="afterEffect">
                                  <p:stCondLst>
                                    <p:cond delay="0"/>
                                  </p:stCondLst>
                                  <p:iterate type="lt">
                                    <p:tmPct val="50000"/>
                                  </p:iterate>
                                  <p:childTnLst>
                                    <p:set>
                                      <p:cBhvr>
                                        <p:cTn id="6" dur="1" fill="hold">
                                          <p:stCondLst>
                                            <p:cond delay="0"/>
                                          </p:stCondLst>
                                        </p:cTn>
                                        <p:tgtEl>
                                          <p:spTgt spid="133123">
                                            <p:txEl>
                                              <p:pRg st="1" end="1"/>
                                            </p:txEl>
                                          </p:spTgt>
                                        </p:tgtEl>
                                        <p:attrNameLst>
                                          <p:attrName>style.visibility</p:attrName>
                                        </p:attrNameLst>
                                      </p:cBhvr>
                                      <p:to>
                                        <p:strVal val="visible"/>
                                      </p:to>
                                    </p:set>
                                    <p:anim calcmode="discrete" valueType="clr">
                                      <p:cBhvr override="childStyle">
                                        <p:cTn id="7" dur="80"/>
                                        <p:tgtEl>
                                          <p:spTgt spid="13312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33123">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133123">
                                            <p:txEl>
                                              <p:pRg st="1" end="1"/>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133124">
                                            <p:txEl>
                                              <p:pRg st="0" end="0"/>
                                            </p:txEl>
                                          </p:spTgt>
                                        </p:tgtEl>
                                        <p:attrNameLst>
                                          <p:attrName>style.visibility</p:attrName>
                                        </p:attrNameLst>
                                      </p:cBhvr>
                                      <p:to>
                                        <p:strVal val="visible"/>
                                      </p:to>
                                    </p:set>
                                    <p:anim calcmode="discrete" valueType="clr">
                                      <p:cBhvr override="childStyle">
                                        <p:cTn id="14" dur="80"/>
                                        <p:tgtEl>
                                          <p:spTgt spid="133124">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33124">
                                            <p:txEl>
                                              <p:pRg st="0" end="0"/>
                                            </p:txEl>
                                          </p:spTgt>
                                        </p:tgtEl>
                                        <p:attrNameLst>
                                          <p:attrName>fillcolor</p:attrName>
                                        </p:attrNameLst>
                                      </p:cBhvr>
                                      <p:tavLst>
                                        <p:tav tm="0">
                                          <p:val>
                                            <p:clrVal>
                                              <a:schemeClr val="accent2"/>
                                            </p:clrVal>
                                          </p:val>
                                        </p:tav>
                                        <p:tav tm="50000">
                                          <p:val>
                                            <p:clrVal>
                                              <a:schemeClr val="hlink"/>
                                            </p:clrVal>
                                          </p:val>
                                        </p:tav>
                                      </p:tavLst>
                                    </p:anim>
                                    <p:set>
                                      <p:cBhvr>
                                        <p:cTn id="16" dur="80"/>
                                        <p:tgtEl>
                                          <p:spTgt spid="133124">
                                            <p:txEl>
                                              <p:pRg st="0" end="0"/>
                                            </p:txEl>
                                          </p:spTgt>
                                        </p:tgtEl>
                                        <p:attrNameLst>
                                          <p:attrName>fill.type</p:attrName>
                                        </p:attrNameLst>
                                      </p:cBhvr>
                                      <p:to>
                                        <p:strVal val="solid"/>
                                      </p:to>
                                    </p:set>
                                  </p:childTnLst>
                                </p:cTn>
                              </p:par>
                            </p:childTnLst>
                          </p:cTn>
                        </p:par>
                        <p:par>
                          <p:cTn id="17" fill="hold" nodeType="afterGroup">
                            <p:stCondLst>
                              <p:cond delay="560"/>
                            </p:stCondLst>
                            <p:childTnLst>
                              <p:par>
                                <p:cTn id="18" presetID="27" presetClass="entr" presetSubtype="0" fill="hold" nodeType="afterEffect">
                                  <p:stCondLst>
                                    <p:cond delay="0"/>
                                  </p:stCondLst>
                                  <p:iterate type="lt">
                                    <p:tmPct val="50000"/>
                                  </p:iterate>
                                  <p:childTnLst>
                                    <p:set>
                                      <p:cBhvr>
                                        <p:cTn id="19" dur="1" fill="hold">
                                          <p:stCondLst>
                                            <p:cond delay="0"/>
                                          </p:stCondLst>
                                        </p:cTn>
                                        <p:tgtEl>
                                          <p:spTgt spid="133123">
                                            <p:txEl>
                                              <p:pRg st="2" end="2"/>
                                            </p:txEl>
                                          </p:spTgt>
                                        </p:tgtEl>
                                        <p:attrNameLst>
                                          <p:attrName>style.visibility</p:attrName>
                                        </p:attrNameLst>
                                      </p:cBhvr>
                                      <p:to>
                                        <p:strVal val="visible"/>
                                      </p:to>
                                    </p:set>
                                    <p:anim calcmode="discrete" valueType="clr">
                                      <p:cBhvr override="childStyle">
                                        <p:cTn id="20" dur="80"/>
                                        <p:tgtEl>
                                          <p:spTgt spid="133123">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1" dur="80"/>
                                        <p:tgtEl>
                                          <p:spTgt spid="133123">
                                            <p:txEl>
                                              <p:pRg st="2" end="2"/>
                                            </p:txEl>
                                          </p:spTgt>
                                        </p:tgtEl>
                                        <p:attrNameLst>
                                          <p:attrName>fillcolor</p:attrName>
                                        </p:attrNameLst>
                                      </p:cBhvr>
                                      <p:tavLst>
                                        <p:tav tm="0">
                                          <p:val>
                                            <p:clrVal>
                                              <a:schemeClr val="accent2"/>
                                            </p:clrVal>
                                          </p:val>
                                        </p:tav>
                                        <p:tav tm="50000">
                                          <p:val>
                                            <p:clrVal>
                                              <a:schemeClr val="hlink"/>
                                            </p:clrVal>
                                          </p:val>
                                        </p:tav>
                                      </p:tavLst>
                                    </p:anim>
                                    <p:set>
                                      <p:cBhvr>
                                        <p:cTn id="22" dur="80"/>
                                        <p:tgtEl>
                                          <p:spTgt spid="133123">
                                            <p:txEl>
                                              <p:pRg st="2" end="2"/>
                                            </p:txEl>
                                          </p:spTgt>
                                        </p:tgtEl>
                                        <p:attrNameLst>
                                          <p:attrName>fill.type</p:attrName>
                                        </p:attrNameLst>
                                      </p:cBhvr>
                                      <p:to>
                                        <p:strVal val="solid"/>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7" presetClass="entr" presetSubtype="0" fill="hold" nodeType="clickEffect">
                                  <p:stCondLst>
                                    <p:cond delay="0"/>
                                  </p:stCondLst>
                                  <p:iterate type="lt">
                                    <p:tmPct val="50000"/>
                                  </p:iterate>
                                  <p:childTnLst>
                                    <p:set>
                                      <p:cBhvr>
                                        <p:cTn id="26" dur="1" fill="hold">
                                          <p:stCondLst>
                                            <p:cond delay="0"/>
                                          </p:stCondLst>
                                        </p:cTn>
                                        <p:tgtEl>
                                          <p:spTgt spid="133124">
                                            <p:txEl>
                                              <p:pRg st="1" end="1"/>
                                            </p:txEl>
                                          </p:spTgt>
                                        </p:tgtEl>
                                        <p:attrNameLst>
                                          <p:attrName>style.visibility</p:attrName>
                                        </p:attrNameLst>
                                      </p:cBhvr>
                                      <p:to>
                                        <p:strVal val="visible"/>
                                      </p:to>
                                    </p:set>
                                    <p:anim calcmode="discrete" valueType="clr">
                                      <p:cBhvr override="childStyle">
                                        <p:cTn id="27" dur="80"/>
                                        <p:tgtEl>
                                          <p:spTgt spid="133124">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8" dur="80"/>
                                        <p:tgtEl>
                                          <p:spTgt spid="133124">
                                            <p:txEl>
                                              <p:pRg st="1" end="1"/>
                                            </p:txEl>
                                          </p:spTgt>
                                        </p:tgtEl>
                                        <p:attrNameLst>
                                          <p:attrName>fillcolor</p:attrName>
                                        </p:attrNameLst>
                                      </p:cBhvr>
                                      <p:tavLst>
                                        <p:tav tm="0">
                                          <p:val>
                                            <p:clrVal>
                                              <a:schemeClr val="accent2"/>
                                            </p:clrVal>
                                          </p:val>
                                        </p:tav>
                                        <p:tav tm="50000">
                                          <p:val>
                                            <p:clrVal>
                                              <a:schemeClr val="hlink"/>
                                            </p:clrVal>
                                          </p:val>
                                        </p:tav>
                                      </p:tavLst>
                                    </p:anim>
                                    <p:set>
                                      <p:cBhvr>
                                        <p:cTn id="29" dur="80"/>
                                        <p:tgtEl>
                                          <p:spTgt spid="133124">
                                            <p:txEl>
                                              <p:pRg st="1" end="1"/>
                                            </p:txEl>
                                          </p:spTgt>
                                        </p:tgtEl>
                                        <p:attrNameLst>
                                          <p:attrName>fill.type</p:attrName>
                                        </p:attrNameLst>
                                      </p:cBhvr>
                                      <p:to>
                                        <p:strVal val="solid"/>
                                      </p:to>
                                    </p:set>
                                  </p:childTnLst>
                                </p:cTn>
                              </p:par>
                            </p:childTnLst>
                          </p:cTn>
                        </p:par>
                        <p:par>
                          <p:cTn id="30" fill="hold" nodeType="afterGroup">
                            <p:stCondLst>
                              <p:cond delay="520"/>
                            </p:stCondLst>
                            <p:childTnLst>
                              <p:par>
                                <p:cTn id="31" presetID="27" presetClass="entr" presetSubtype="0" fill="hold" nodeType="afterEffect">
                                  <p:stCondLst>
                                    <p:cond delay="0"/>
                                  </p:stCondLst>
                                  <p:iterate type="lt">
                                    <p:tmPct val="50000"/>
                                  </p:iterate>
                                  <p:childTnLst>
                                    <p:set>
                                      <p:cBhvr>
                                        <p:cTn id="32" dur="1" fill="hold">
                                          <p:stCondLst>
                                            <p:cond delay="0"/>
                                          </p:stCondLst>
                                        </p:cTn>
                                        <p:tgtEl>
                                          <p:spTgt spid="133123">
                                            <p:txEl>
                                              <p:pRg st="3" end="3"/>
                                            </p:txEl>
                                          </p:spTgt>
                                        </p:tgtEl>
                                        <p:attrNameLst>
                                          <p:attrName>style.visibility</p:attrName>
                                        </p:attrNameLst>
                                      </p:cBhvr>
                                      <p:to>
                                        <p:strVal val="visible"/>
                                      </p:to>
                                    </p:set>
                                    <p:anim calcmode="discrete" valueType="clr">
                                      <p:cBhvr override="childStyle">
                                        <p:cTn id="33" dur="80"/>
                                        <p:tgtEl>
                                          <p:spTgt spid="133123">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4" dur="80"/>
                                        <p:tgtEl>
                                          <p:spTgt spid="133123">
                                            <p:txEl>
                                              <p:pRg st="3" end="3"/>
                                            </p:txEl>
                                          </p:spTgt>
                                        </p:tgtEl>
                                        <p:attrNameLst>
                                          <p:attrName>fillcolor</p:attrName>
                                        </p:attrNameLst>
                                      </p:cBhvr>
                                      <p:tavLst>
                                        <p:tav tm="0">
                                          <p:val>
                                            <p:clrVal>
                                              <a:schemeClr val="accent2"/>
                                            </p:clrVal>
                                          </p:val>
                                        </p:tav>
                                        <p:tav tm="50000">
                                          <p:val>
                                            <p:clrVal>
                                              <a:schemeClr val="hlink"/>
                                            </p:clrVal>
                                          </p:val>
                                        </p:tav>
                                      </p:tavLst>
                                    </p:anim>
                                    <p:set>
                                      <p:cBhvr>
                                        <p:cTn id="35" dur="80"/>
                                        <p:tgtEl>
                                          <p:spTgt spid="133123">
                                            <p:txEl>
                                              <p:pRg st="3" end="3"/>
                                            </p:txEl>
                                          </p:spTgt>
                                        </p:tgtEl>
                                        <p:attrNameLst>
                                          <p:attrName>fill.type</p:attrName>
                                        </p:attrNameLst>
                                      </p:cBhvr>
                                      <p:to>
                                        <p:strVal val="solid"/>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7" presetClass="entr" presetSubtype="0" fill="hold" nodeType="clickEffect">
                                  <p:stCondLst>
                                    <p:cond delay="0"/>
                                  </p:stCondLst>
                                  <p:iterate type="lt">
                                    <p:tmPct val="50000"/>
                                  </p:iterate>
                                  <p:childTnLst>
                                    <p:set>
                                      <p:cBhvr>
                                        <p:cTn id="39" dur="1" fill="hold">
                                          <p:stCondLst>
                                            <p:cond delay="0"/>
                                          </p:stCondLst>
                                        </p:cTn>
                                        <p:tgtEl>
                                          <p:spTgt spid="133124">
                                            <p:txEl>
                                              <p:pRg st="2" end="2"/>
                                            </p:txEl>
                                          </p:spTgt>
                                        </p:tgtEl>
                                        <p:attrNameLst>
                                          <p:attrName>style.visibility</p:attrName>
                                        </p:attrNameLst>
                                      </p:cBhvr>
                                      <p:to>
                                        <p:strVal val="visible"/>
                                      </p:to>
                                    </p:set>
                                    <p:anim calcmode="discrete" valueType="clr">
                                      <p:cBhvr override="childStyle">
                                        <p:cTn id="40" dur="80"/>
                                        <p:tgtEl>
                                          <p:spTgt spid="133124">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1" dur="80"/>
                                        <p:tgtEl>
                                          <p:spTgt spid="133124">
                                            <p:txEl>
                                              <p:pRg st="2" end="2"/>
                                            </p:txEl>
                                          </p:spTgt>
                                        </p:tgtEl>
                                        <p:attrNameLst>
                                          <p:attrName>fillcolor</p:attrName>
                                        </p:attrNameLst>
                                      </p:cBhvr>
                                      <p:tavLst>
                                        <p:tav tm="0">
                                          <p:val>
                                            <p:clrVal>
                                              <a:schemeClr val="accent2"/>
                                            </p:clrVal>
                                          </p:val>
                                        </p:tav>
                                        <p:tav tm="50000">
                                          <p:val>
                                            <p:clrVal>
                                              <a:schemeClr val="hlink"/>
                                            </p:clrVal>
                                          </p:val>
                                        </p:tav>
                                      </p:tavLst>
                                    </p:anim>
                                    <p:set>
                                      <p:cBhvr>
                                        <p:cTn id="42" dur="80"/>
                                        <p:tgtEl>
                                          <p:spTgt spid="133124">
                                            <p:txEl>
                                              <p:pRg st="2" end="2"/>
                                            </p:txEl>
                                          </p:spTgt>
                                        </p:tgtEl>
                                        <p:attrNameLst>
                                          <p:attrName>fill.type</p:attrName>
                                        </p:attrNameLst>
                                      </p:cBhvr>
                                      <p:to>
                                        <p:strVal val="solid"/>
                                      </p:to>
                                    </p:set>
                                  </p:childTnLst>
                                </p:cTn>
                              </p:par>
                            </p:childTnLst>
                          </p:cTn>
                        </p:par>
                        <p:par>
                          <p:cTn id="43" fill="hold" nodeType="afterGroup">
                            <p:stCondLst>
                              <p:cond delay="440"/>
                            </p:stCondLst>
                            <p:childTnLst>
                              <p:par>
                                <p:cTn id="44" presetID="27" presetClass="entr" presetSubtype="0" fill="hold" nodeType="afterEffect">
                                  <p:stCondLst>
                                    <p:cond delay="0"/>
                                  </p:stCondLst>
                                  <p:iterate type="lt">
                                    <p:tmPct val="50000"/>
                                  </p:iterate>
                                  <p:childTnLst>
                                    <p:set>
                                      <p:cBhvr>
                                        <p:cTn id="45" dur="1" fill="hold">
                                          <p:stCondLst>
                                            <p:cond delay="0"/>
                                          </p:stCondLst>
                                        </p:cTn>
                                        <p:tgtEl>
                                          <p:spTgt spid="133123">
                                            <p:txEl>
                                              <p:pRg st="4" end="4"/>
                                            </p:txEl>
                                          </p:spTgt>
                                        </p:tgtEl>
                                        <p:attrNameLst>
                                          <p:attrName>style.visibility</p:attrName>
                                        </p:attrNameLst>
                                      </p:cBhvr>
                                      <p:to>
                                        <p:strVal val="visible"/>
                                      </p:to>
                                    </p:set>
                                    <p:anim calcmode="discrete" valueType="clr">
                                      <p:cBhvr override="childStyle">
                                        <p:cTn id="46" dur="80"/>
                                        <p:tgtEl>
                                          <p:spTgt spid="133123">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7" dur="80"/>
                                        <p:tgtEl>
                                          <p:spTgt spid="133123">
                                            <p:txEl>
                                              <p:pRg st="4" end="4"/>
                                            </p:txEl>
                                          </p:spTgt>
                                        </p:tgtEl>
                                        <p:attrNameLst>
                                          <p:attrName>fillcolor</p:attrName>
                                        </p:attrNameLst>
                                      </p:cBhvr>
                                      <p:tavLst>
                                        <p:tav tm="0">
                                          <p:val>
                                            <p:clrVal>
                                              <a:schemeClr val="accent2"/>
                                            </p:clrVal>
                                          </p:val>
                                        </p:tav>
                                        <p:tav tm="50000">
                                          <p:val>
                                            <p:clrVal>
                                              <a:schemeClr val="hlink"/>
                                            </p:clrVal>
                                          </p:val>
                                        </p:tav>
                                      </p:tavLst>
                                    </p:anim>
                                    <p:set>
                                      <p:cBhvr>
                                        <p:cTn id="48" dur="80"/>
                                        <p:tgtEl>
                                          <p:spTgt spid="133123">
                                            <p:txEl>
                                              <p:pRg st="4" end="4"/>
                                            </p:txEl>
                                          </p:spTgt>
                                        </p:tgtEl>
                                        <p:attrNameLst>
                                          <p:attrName>fill.type</p:attrName>
                                        </p:attrNameLst>
                                      </p:cBhvr>
                                      <p:to>
                                        <p:strVal val="solid"/>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27" presetClass="entr" presetSubtype="0" fill="hold" nodeType="clickEffect">
                                  <p:stCondLst>
                                    <p:cond delay="0"/>
                                  </p:stCondLst>
                                  <p:iterate type="lt">
                                    <p:tmPct val="50000"/>
                                  </p:iterate>
                                  <p:childTnLst>
                                    <p:set>
                                      <p:cBhvr>
                                        <p:cTn id="52" dur="1" fill="hold">
                                          <p:stCondLst>
                                            <p:cond delay="0"/>
                                          </p:stCondLst>
                                        </p:cTn>
                                        <p:tgtEl>
                                          <p:spTgt spid="133124">
                                            <p:txEl>
                                              <p:pRg st="3" end="3"/>
                                            </p:txEl>
                                          </p:spTgt>
                                        </p:tgtEl>
                                        <p:attrNameLst>
                                          <p:attrName>style.visibility</p:attrName>
                                        </p:attrNameLst>
                                      </p:cBhvr>
                                      <p:to>
                                        <p:strVal val="visible"/>
                                      </p:to>
                                    </p:set>
                                    <p:anim calcmode="discrete" valueType="clr">
                                      <p:cBhvr override="childStyle">
                                        <p:cTn id="53" dur="80"/>
                                        <p:tgtEl>
                                          <p:spTgt spid="133124">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4" dur="80"/>
                                        <p:tgtEl>
                                          <p:spTgt spid="133124">
                                            <p:txEl>
                                              <p:pRg st="3" end="3"/>
                                            </p:txEl>
                                          </p:spTgt>
                                        </p:tgtEl>
                                        <p:attrNameLst>
                                          <p:attrName>fillcolor</p:attrName>
                                        </p:attrNameLst>
                                      </p:cBhvr>
                                      <p:tavLst>
                                        <p:tav tm="0">
                                          <p:val>
                                            <p:clrVal>
                                              <a:schemeClr val="accent2"/>
                                            </p:clrVal>
                                          </p:val>
                                        </p:tav>
                                        <p:tav tm="50000">
                                          <p:val>
                                            <p:clrVal>
                                              <a:schemeClr val="hlink"/>
                                            </p:clrVal>
                                          </p:val>
                                        </p:tav>
                                      </p:tavLst>
                                    </p:anim>
                                    <p:set>
                                      <p:cBhvr>
                                        <p:cTn id="55" dur="80"/>
                                        <p:tgtEl>
                                          <p:spTgt spid="133124">
                                            <p:txEl>
                                              <p:pRg st="3" end="3"/>
                                            </p:txEl>
                                          </p:spTgt>
                                        </p:tgtEl>
                                        <p:attrNameLst>
                                          <p:attrName>fill.type</p:attrName>
                                        </p:attrNameLst>
                                      </p:cBhvr>
                                      <p:to>
                                        <p:strVal val="solid"/>
                                      </p:to>
                                    </p:set>
                                  </p:childTnLst>
                                </p:cTn>
                              </p:par>
                            </p:childTnLst>
                          </p:cTn>
                        </p:par>
                        <p:par>
                          <p:cTn id="56" fill="hold" nodeType="afterGroup">
                            <p:stCondLst>
                              <p:cond delay="600"/>
                            </p:stCondLst>
                            <p:childTnLst>
                              <p:par>
                                <p:cTn id="57" presetID="27" presetClass="entr" presetSubtype="0" fill="hold" nodeType="afterEffect">
                                  <p:stCondLst>
                                    <p:cond delay="0"/>
                                  </p:stCondLst>
                                  <p:iterate type="lt">
                                    <p:tmPct val="50000"/>
                                  </p:iterate>
                                  <p:childTnLst>
                                    <p:set>
                                      <p:cBhvr>
                                        <p:cTn id="58" dur="1" fill="hold">
                                          <p:stCondLst>
                                            <p:cond delay="0"/>
                                          </p:stCondLst>
                                        </p:cTn>
                                        <p:tgtEl>
                                          <p:spTgt spid="133123">
                                            <p:txEl>
                                              <p:pRg st="5" end="5"/>
                                            </p:txEl>
                                          </p:spTgt>
                                        </p:tgtEl>
                                        <p:attrNameLst>
                                          <p:attrName>style.visibility</p:attrName>
                                        </p:attrNameLst>
                                      </p:cBhvr>
                                      <p:to>
                                        <p:strVal val="visible"/>
                                      </p:to>
                                    </p:set>
                                    <p:anim calcmode="discrete" valueType="clr">
                                      <p:cBhvr override="childStyle">
                                        <p:cTn id="59" dur="80"/>
                                        <p:tgtEl>
                                          <p:spTgt spid="133123">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0" dur="80"/>
                                        <p:tgtEl>
                                          <p:spTgt spid="133123">
                                            <p:txEl>
                                              <p:pRg st="5" end="5"/>
                                            </p:txEl>
                                          </p:spTgt>
                                        </p:tgtEl>
                                        <p:attrNameLst>
                                          <p:attrName>fillcolor</p:attrName>
                                        </p:attrNameLst>
                                      </p:cBhvr>
                                      <p:tavLst>
                                        <p:tav tm="0">
                                          <p:val>
                                            <p:clrVal>
                                              <a:schemeClr val="accent2"/>
                                            </p:clrVal>
                                          </p:val>
                                        </p:tav>
                                        <p:tav tm="50000">
                                          <p:val>
                                            <p:clrVal>
                                              <a:schemeClr val="hlink"/>
                                            </p:clrVal>
                                          </p:val>
                                        </p:tav>
                                      </p:tavLst>
                                    </p:anim>
                                    <p:set>
                                      <p:cBhvr>
                                        <p:cTn id="61" dur="80"/>
                                        <p:tgtEl>
                                          <p:spTgt spid="133123">
                                            <p:txEl>
                                              <p:pRg st="5" end="5"/>
                                            </p:txEl>
                                          </p:spTgt>
                                        </p:tgtEl>
                                        <p:attrNameLst>
                                          <p:attrName>fill.type</p:attrName>
                                        </p:attrNameLst>
                                      </p:cBhvr>
                                      <p:to>
                                        <p:strVal val="solid"/>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27" presetClass="entr" presetSubtype="0" fill="hold" nodeType="clickEffect">
                                  <p:stCondLst>
                                    <p:cond delay="0"/>
                                  </p:stCondLst>
                                  <p:iterate type="lt">
                                    <p:tmPct val="50000"/>
                                  </p:iterate>
                                  <p:childTnLst>
                                    <p:set>
                                      <p:cBhvr>
                                        <p:cTn id="65" dur="1" fill="hold">
                                          <p:stCondLst>
                                            <p:cond delay="0"/>
                                          </p:stCondLst>
                                        </p:cTn>
                                        <p:tgtEl>
                                          <p:spTgt spid="133124">
                                            <p:txEl>
                                              <p:pRg st="4" end="4"/>
                                            </p:txEl>
                                          </p:spTgt>
                                        </p:tgtEl>
                                        <p:attrNameLst>
                                          <p:attrName>style.visibility</p:attrName>
                                        </p:attrNameLst>
                                      </p:cBhvr>
                                      <p:to>
                                        <p:strVal val="visible"/>
                                      </p:to>
                                    </p:set>
                                    <p:anim calcmode="discrete" valueType="clr">
                                      <p:cBhvr override="childStyle">
                                        <p:cTn id="66" dur="80"/>
                                        <p:tgtEl>
                                          <p:spTgt spid="133124">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7" dur="80"/>
                                        <p:tgtEl>
                                          <p:spTgt spid="133124">
                                            <p:txEl>
                                              <p:pRg st="4" end="4"/>
                                            </p:txEl>
                                          </p:spTgt>
                                        </p:tgtEl>
                                        <p:attrNameLst>
                                          <p:attrName>fillcolor</p:attrName>
                                        </p:attrNameLst>
                                      </p:cBhvr>
                                      <p:tavLst>
                                        <p:tav tm="0">
                                          <p:val>
                                            <p:clrVal>
                                              <a:schemeClr val="accent2"/>
                                            </p:clrVal>
                                          </p:val>
                                        </p:tav>
                                        <p:tav tm="50000">
                                          <p:val>
                                            <p:clrVal>
                                              <a:schemeClr val="hlink"/>
                                            </p:clrVal>
                                          </p:val>
                                        </p:tav>
                                      </p:tavLst>
                                    </p:anim>
                                    <p:set>
                                      <p:cBhvr>
                                        <p:cTn id="68" dur="80"/>
                                        <p:tgtEl>
                                          <p:spTgt spid="133124">
                                            <p:txEl>
                                              <p:pRg st="4" end="4"/>
                                            </p:txEl>
                                          </p:spTgt>
                                        </p:tgtEl>
                                        <p:attrNameLst>
                                          <p:attrName>fill.type</p:attrName>
                                        </p:attrNameLst>
                                      </p:cBhvr>
                                      <p:to>
                                        <p:strVal val="solid"/>
                                      </p:to>
                                    </p:set>
                                  </p:childTnLst>
                                </p:cTn>
                              </p:par>
                            </p:childTnLst>
                          </p:cTn>
                        </p:par>
                        <p:par>
                          <p:cTn id="69" fill="hold" nodeType="afterGroup">
                            <p:stCondLst>
                              <p:cond delay="600"/>
                            </p:stCondLst>
                            <p:childTnLst>
                              <p:par>
                                <p:cTn id="70" presetID="27" presetClass="entr" presetSubtype="0" fill="hold" nodeType="afterEffect">
                                  <p:stCondLst>
                                    <p:cond delay="0"/>
                                  </p:stCondLst>
                                  <p:iterate type="lt">
                                    <p:tmPct val="50000"/>
                                  </p:iterate>
                                  <p:childTnLst>
                                    <p:set>
                                      <p:cBhvr>
                                        <p:cTn id="71" dur="1" fill="hold">
                                          <p:stCondLst>
                                            <p:cond delay="0"/>
                                          </p:stCondLst>
                                        </p:cTn>
                                        <p:tgtEl>
                                          <p:spTgt spid="133123">
                                            <p:txEl>
                                              <p:pRg st="6" end="6"/>
                                            </p:txEl>
                                          </p:spTgt>
                                        </p:tgtEl>
                                        <p:attrNameLst>
                                          <p:attrName>style.visibility</p:attrName>
                                        </p:attrNameLst>
                                      </p:cBhvr>
                                      <p:to>
                                        <p:strVal val="visible"/>
                                      </p:to>
                                    </p:set>
                                    <p:anim calcmode="discrete" valueType="clr">
                                      <p:cBhvr override="childStyle">
                                        <p:cTn id="72" dur="80"/>
                                        <p:tgtEl>
                                          <p:spTgt spid="133123">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73" dur="80"/>
                                        <p:tgtEl>
                                          <p:spTgt spid="133123">
                                            <p:txEl>
                                              <p:pRg st="6" end="6"/>
                                            </p:txEl>
                                          </p:spTgt>
                                        </p:tgtEl>
                                        <p:attrNameLst>
                                          <p:attrName>fillcolor</p:attrName>
                                        </p:attrNameLst>
                                      </p:cBhvr>
                                      <p:tavLst>
                                        <p:tav tm="0">
                                          <p:val>
                                            <p:clrVal>
                                              <a:schemeClr val="accent2"/>
                                            </p:clrVal>
                                          </p:val>
                                        </p:tav>
                                        <p:tav tm="50000">
                                          <p:val>
                                            <p:clrVal>
                                              <a:schemeClr val="hlink"/>
                                            </p:clrVal>
                                          </p:val>
                                        </p:tav>
                                      </p:tavLst>
                                    </p:anim>
                                    <p:set>
                                      <p:cBhvr>
                                        <p:cTn id="74" dur="80"/>
                                        <p:tgtEl>
                                          <p:spTgt spid="133123">
                                            <p:txEl>
                                              <p:pRg st="6" end="6"/>
                                            </p:txEl>
                                          </p:spTgt>
                                        </p:tgtEl>
                                        <p:attrNameLst>
                                          <p:attrName>fill.type</p:attrName>
                                        </p:attrNameLst>
                                      </p:cBhvr>
                                      <p:to>
                                        <p:strVal val="solid"/>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27" presetClass="entr" presetSubtype="0" fill="hold" nodeType="clickEffect">
                                  <p:stCondLst>
                                    <p:cond delay="0"/>
                                  </p:stCondLst>
                                  <p:iterate type="lt">
                                    <p:tmPct val="50000"/>
                                  </p:iterate>
                                  <p:childTnLst>
                                    <p:set>
                                      <p:cBhvr>
                                        <p:cTn id="78" dur="1" fill="hold">
                                          <p:stCondLst>
                                            <p:cond delay="0"/>
                                          </p:stCondLst>
                                        </p:cTn>
                                        <p:tgtEl>
                                          <p:spTgt spid="133124">
                                            <p:txEl>
                                              <p:pRg st="5" end="5"/>
                                            </p:txEl>
                                          </p:spTgt>
                                        </p:tgtEl>
                                        <p:attrNameLst>
                                          <p:attrName>style.visibility</p:attrName>
                                        </p:attrNameLst>
                                      </p:cBhvr>
                                      <p:to>
                                        <p:strVal val="visible"/>
                                      </p:to>
                                    </p:set>
                                    <p:anim calcmode="discrete" valueType="clr">
                                      <p:cBhvr override="childStyle">
                                        <p:cTn id="79" dur="80"/>
                                        <p:tgtEl>
                                          <p:spTgt spid="133124">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0" dur="80"/>
                                        <p:tgtEl>
                                          <p:spTgt spid="133124">
                                            <p:txEl>
                                              <p:pRg st="5" end="5"/>
                                            </p:txEl>
                                          </p:spTgt>
                                        </p:tgtEl>
                                        <p:attrNameLst>
                                          <p:attrName>fillcolor</p:attrName>
                                        </p:attrNameLst>
                                      </p:cBhvr>
                                      <p:tavLst>
                                        <p:tav tm="0">
                                          <p:val>
                                            <p:clrVal>
                                              <a:schemeClr val="accent2"/>
                                            </p:clrVal>
                                          </p:val>
                                        </p:tav>
                                        <p:tav tm="50000">
                                          <p:val>
                                            <p:clrVal>
                                              <a:schemeClr val="hlink"/>
                                            </p:clrVal>
                                          </p:val>
                                        </p:tav>
                                      </p:tavLst>
                                    </p:anim>
                                    <p:set>
                                      <p:cBhvr>
                                        <p:cTn id="81" dur="80"/>
                                        <p:tgtEl>
                                          <p:spTgt spid="133124">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rrowheads="1"/>
          </p:cNvSpPr>
          <p:nvPr>
            <p:ph type="title"/>
          </p:nvPr>
        </p:nvSpPr>
        <p:spPr>
          <a:xfrm>
            <a:off x="457200" y="274638"/>
            <a:ext cx="8229600" cy="706090"/>
          </a:xfrm>
          <a:solidFill>
            <a:schemeClr val="bg1"/>
          </a:solidFill>
          <a:ln>
            <a:solidFill>
              <a:schemeClr val="accent1"/>
            </a:solidFill>
          </a:ln>
        </p:spPr>
        <p:txBody>
          <a:bodyPr>
            <a:normAutofit/>
          </a:bodyPr>
          <a:lstStyle/>
          <a:p>
            <a:pPr algn="l" eaLnBrk="1" hangingPunct="1"/>
            <a:r>
              <a:rPr lang="zh-CN" altLang="en-US" sz="3200" b="1" dirty="0" smtClean="0">
                <a:solidFill>
                  <a:srgbClr val="FF0000"/>
                </a:solidFill>
                <a:effectLst/>
                <a:ea typeface="黑体" pitchFamily="2" charset="-122"/>
              </a:rPr>
              <a:t>（三）走中国工业化道路的思想</a:t>
            </a:r>
          </a:p>
        </p:txBody>
      </p:sp>
      <p:sp>
        <p:nvSpPr>
          <p:cNvPr id="17411" name="Rectangle 3"/>
          <p:cNvSpPr>
            <a:spLocks noGrp="1" noChangeArrowheads="1"/>
          </p:cNvSpPr>
          <p:nvPr>
            <p:ph idx="1"/>
          </p:nvPr>
        </p:nvSpPr>
        <p:spPr>
          <a:xfrm>
            <a:off x="718503" y="1340768"/>
            <a:ext cx="4078922" cy="5112568"/>
          </a:xfrm>
          <a:solidFill>
            <a:schemeClr val="bg1"/>
          </a:solidFill>
          <a:ln>
            <a:solidFill>
              <a:srgbClr val="00FF00"/>
            </a:solidFill>
          </a:ln>
          <a:extLst/>
        </p:spPr>
        <p:txBody>
          <a:bodyPr>
            <a:noAutofit/>
          </a:bodyPr>
          <a:lstStyle/>
          <a:p>
            <a:pPr eaLnBrk="1" hangingPunct="1">
              <a:lnSpc>
                <a:spcPct val="120000"/>
              </a:lnSpc>
            </a:pPr>
            <a:r>
              <a:rPr lang="zh-CN" altLang="en-US" sz="2400" b="1" dirty="0" smtClean="0">
                <a:solidFill>
                  <a:srgbClr val="0000FF"/>
                </a:solidFill>
                <a:effectLst/>
                <a:ea typeface="黑体" pitchFamily="2" charset="-122"/>
              </a:rPr>
              <a:t>逐步建立独立的比较完整的基础工业体系和国防工业体系</a:t>
            </a:r>
          </a:p>
          <a:p>
            <a:pPr eaLnBrk="1" hangingPunct="1">
              <a:lnSpc>
                <a:spcPct val="120000"/>
              </a:lnSpc>
            </a:pPr>
            <a:r>
              <a:rPr lang="zh-CN" altLang="en-US" sz="2400" b="1" dirty="0" smtClean="0">
                <a:solidFill>
                  <a:srgbClr val="0000FF"/>
                </a:solidFill>
                <a:effectLst/>
                <a:ea typeface="黑体" pitchFamily="2" charset="-122"/>
              </a:rPr>
              <a:t>以</a:t>
            </a:r>
            <a:r>
              <a:rPr lang="zh-CN" altLang="en-US" sz="2400" b="1" dirty="0" smtClean="0">
                <a:solidFill>
                  <a:srgbClr val="FF0000"/>
                </a:solidFill>
                <a:effectLst/>
                <a:ea typeface="黑体" pitchFamily="2" charset="-122"/>
              </a:rPr>
              <a:t>农业为基础，以工业为主导</a:t>
            </a:r>
            <a:r>
              <a:rPr lang="zh-CN" altLang="en-US" sz="2400" b="1" dirty="0" smtClean="0">
                <a:solidFill>
                  <a:srgbClr val="0000FF"/>
                </a:solidFill>
                <a:effectLst/>
                <a:ea typeface="黑体" pitchFamily="2" charset="-122"/>
              </a:rPr>
              <a:t>，以农、轻、重为序发展国民经济的总方针</a:t>
            </a:r>
          </a:p>
          <a:p>
            <a:pPr eaLnBrk="1" hangingPunct="1">
              <a:lnSpc>
                <a:spcPct val="120000"/>
              </a:lnSpc>
            </a:pPr>
            <a:r>
              <a:rPr lang="zh-CN" altLang="en-US" sz="2400" b="1" dirty="0" smtClean="0">
                <a:solidFill>
                  <a:srgbClr val="0000FF"/>
                </a:solidFill>
                <a:effectLst/>
                <a:ea typeface="黑体" pitchFamily="2" charset="-122"/>
              </a:rPr>
              <a:t>坚持</a:t>
            </a:r>
            <a:r>
              <a:rPr lang="zh-CN" altLang="en-US" sz="2400" b="1" dirty="0" smtClean="0">
                <a:solidFill>
                  <a:srgbClr val="0000FF"/>
                </a:solidFill>
                <a:effectLst/>
                <a:latin typeface="Arial" charset="0"/>
                <a:ea typeface="黑体" pitchFamily="2" charset="-122"/>
              </a:rPr>
              <a:t>“</a:t>
            </a:r>
            <a:r>
              <a:rPr lang="zh-CN" altLang="en-US" sz="2400" b="1" dirty="0" smtClean="0">
                <a:solidFill>
                  <a:srgbClr val="0000FF"/>
                </a:solidFill>
                <a:effectLst/>
                <a:ea typeface="黑体" pitchFamily="2" charset="-122"/>
              </a:rPr>
              <a:t>两条腿走路</a:t>
            </a:r>
            <a:r>
              <a:rPr lang="zh-CN" altLang="en-US" sz="2400" b="1" dirty="0" smtClean="0">
                <a:solidFill>
                  <a:srgbClr val="0000FF"/>
                </a:solidFill>
                <a:effectLst/>
                <a:latin typeface="Arial" charset="0"/>
                <a:ea typeface="黑体" pitchFamily="2" charset="-122"/>
              </a:rPr>
              <a:t>”</a:t>
            </a:r>
            <a:r>
              <a:rPr lang="zh-CN" altLang="en-US" sz="2400" b="1" dirty="0" smtClean="0">
                <a:solidFill>
                  <a:srgbClr val="0000FF"/>
                </a:solidFill>
                <a:effectLst/>
                <a:ea typeface="黑体" pitchFamily="2" charset="-122"/>
              </a:rPr>
              <a:t>的方针：重工业和轻工业并举、中央工业和地方工业并举、沿海工业和内地工业并举、大型企业和中小企业并举</a:t>
            </a:r>
          </a:p>
        </p:txBody>
      </p:sp>
      <p:grpSp>
        <p:nvGrpSpPr>
          <p:cNvPr id="17412" name="Group 6"/>
          <p:cNvGrpSpPr>
            <a:grpSpLocks/>
          </p:cNvGrpSpPr>
          <p:nvPr/>
        </p:nvGrpSpPr>
        <p:grpSpPr bwMode="auto">
          <a:xfrm>
            <a:off x="4797425" y="1885950"/>
            <a:ext cx="3914775" cy="3927475"/>
            <a:chOff x="3022" y="1188"/>
            <a:chExt cx="2466" cy="2474"/>
          </a:xfrm>
        </p:grpSpPr>
        <p:pic>
          <p:nvPicPr>
            <p:cNvPr id="17413" name="Picture 4" descr="鞍山钢铁厂"/>
            <p:cNvPicPr preferRelativeResize="0">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022" y="1224"/>
              <a:ext cx="2466" cy="2438"/>
            </a:xfrm>
            <a:prstGeom prst="rect">
              <a:avLst/>
            </a:prstGeom>
            <a:blipFill dpi="0" rotWithShape="1">
              <a:blip r:embed="rId4" cstate="print"/>
              <a:srcRect/>
              <a:tile tx="0" ty="0" sx="100000" sy="100000" flip="none" algn="tl"/>
            </a:blipFill>
            <a:ln>
              <a:noFill/>
            </a:ln>
            <a:extLst>
              <a:ext uri="{91240B29-F687-4F45-9708-019B960494DF}">
                <a14:hiddenLine xmlns:a14="http://schemas.microsoft.com/office/drawing/2010/main" xmlns="" w="9525">
                  <a:solidFill>
                    <a:srgbClr val="000000"/>
                  </a:solidFill>
                  <a:miter lim="800000"/>
                  <a:headEnd/>
                  <a:tailEnd/>
                </a14:hiddenLine>
              </a:ext>
            </a:extLst>
          </p:spPr>
        </p:pic>
        <p:sp>
          <p:nvSpPr>
            <p:cNvPr id="17414" name="Text Box 5"/>
            <p:cNvSpPr txBox="1">
              <a:spLocks noChangeArrowheads="1"/>
            </p:cNvSpPr>
            <p:nvPr/>
          </p:nvSpPr>
          <p:spPr bwMode="auto">
            <a:xfrm>
              <a:off x="3134" y="1188"/>
              <a:ext cx="986"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b="1">
                  <a:solidFill>
                    <a:schemeClr val="bg2"/>
                  </a:solidFill>
                  <a:ea typeface="黑体" pitchFamily="2" charset="-122"/>
                </a:rPr>
                <a:t>鞍山钢铁公司</a:t>
              </a:r>
            </a:p>
          </p:txBody>
        </p:sp>
      </p:grpSp>
    </p:spTree>
    <p:extLst>
      <p:ext uri="{BB962C8B-B14F-4D97-AF65-F5344CB8AC3E}">
        <p14:creationId xmlns:p14="http://schemas.microsoft.com/office/powerpoint/2010/main" xmlns="" val="4160658394"/>
      </p:ext>
    </p:extLst>
  </p:cSld>
  <p:clrMapOvr>
    <a:masterClrMapping/>
  </p:clrMapOvr>
  <p:transition>
    <p:strips dir="rd"/>
    <p:sndAc>
      <p:stSnd>
        <p:snd r:embed="rId2" name="chimes.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idx="1"/>
          </p:nvPr>
        </p:nvSpPr>
        <p:spPr>
          <a:xfrm>
            <a:off x="736113" y="980728"/>
            <a:ext cx="4078922" cy="5112568"/>
          </a:xfrm>
          <a:solidFill>
            <a:schemeClr val="bg1"/>
          </a:solidFill>
          <a:ln>
            <a:solidFill>
              <a:srgbClr val="00FF00"/>
            </a:solidFill>
          </a:ln>
          <a:extLst/>
        </p:spPr>
        <p:txBody>
          <a:bodyPr>
            <a:noAutofit/>
          </a:bodyPr>
          <a:lstStyle/>
          <a:p>
            <a:pPr eaLnBrk="1" hangingPunct="1">
              <a:lnSpc>
                <a:spcPct val="120000"/>
              </a:lnSpc>
            </a:pPr>
            <a:r>
              <a:rPr lang="zh-CN" altLang="en-US" sz="2400" b="1" dirty="0" smtClean="0">
                <a:solidFill>
                  <a:srgbClr val="0000FF"/>
                </a:solidFill>
                <a:effectLst/>
                <a:ea typeface="黑体" pitchFamily="2" charset="-122"/>
              </a:rPr>
              <a:t>逐步建立独立的比较完整的基础工业体系和国防工业体系</a:t>
            </a:r>
          </a:p>
          <a:p>
            <a:pPr eaLnBrk="1" hangingPunct="1">
              <a:lnSpc>
                <a:spcPct val="120000"/>
              </a:lnSpc>
            </a:pPr>
            <a:r>
              <a:rPr lang="zh-CN" altLang="en-US" sz="2400" b="1" dirty="0" smtClean="0">
                <a:solidFill>
                  <a:srgbClr val="0000FF"/>
                </a:solidFill>
                <a:effectLst/>
                <a:ea typeface="黑体" pitchFamily="2" charset="-122"/>
              </a:rPr>
              <a:t>以</a:t>
            </a:r>
            <a:r>
              <a:rPr lang="zh-CN" altLang="en-US" sz="2400" b="1" dirty="0" smtClean="0">
                <a:solidFill>
                  <a:srgbClr val="FF0000"/>
                </a:solidFill>
                <a:effectLst/>
                <a:ea typeface="黑体" pitchFamily="2" charset="-122"/>
              </a:rPr>
              <a:t>农业为基础，以工业为主导</a:t>
            </a:r>
            <a:r>
              <a:rPr lang="zh-CN" altLang="en-US" sz="2400" b="1" dirty="0" smtClean="0">
                <a:solidFill>
                  <a:srgbClr val="0000FF"/>
                </a:solidFill>
                <a:effectLst/>
                <a:ea typeface="黑体" pitchFamily="2" charset="-122"/>
              </a:rPr>
              <a:t>，以农、轻、重为序发展国民经济的总方针</a:t>
            </a:r>
          </a:p>
          <a:p>
            <a:pPr eaLnBrk="1" hangingPunct="1">
              <a:lnSpc>
                <a:spcPct val="120000"/>
              </a:lnSpc>
            </a:pPr>
            <a:r>
              <a:rPr lang="zh-CN" altLang="en-US" sz="2400" b="1" dirty="0" smtClean="0">
                <a:solidFill>
                  <a:srgbClr val="0000FF"/>
                </a:solidFill>
                <a:effectLst/>
                <a:ea typeface="黑体" pitchFamily="2" charset="-122"/>
              </a:rPr>
              <a:t>坚持</a:t>
            </a:r>
            <a:r>
              <a:rPr lang="zh-CN" altLang="en-US" sz="2400" b="1" dirty="0" smtClean="0">
                <a:solidFill>
                  <a:srgbClr val="0000FF"/>
                </a:solidFill>
                <a:effectLst/>
                <a:latin typeface="Arial" charset="0"/>
                <a:ea typeface="黑体" pitchFamily="2" charset="-122"/>
              </a:rPr>
              <a:t>“</a:t>
            </a:r>
            <a:r>
              <a:rPr lang="zh-CN" altLang="en-US" sz="2400" b="1" dirty="0" smtClean="0">
                <a:solidFill>
                  <a:srgbClr val="0000FF"/>
                </a:solidFill>
                <a:effectLst/>
                <a:ea typeface="黑体" pitchFamily="2" charset="-122"/>
              </a:rPr>
              <a:t>两条腿走路</a:t>
            </a:r>
            <a:r>
              <a:rPr lang="zh-CN" altLang="en-US" sz="2400" b="1" dirty="0" smtClean="0">
                <a:solidFill>
                  <a:srgbClr val="0000FF"/>
                </a:solidFill>
                <a:effectLst/>
                <a:latin typeface="Arial" charset="0"/>
                <a:ea typeface="黑体" pitchFamily="2" charset="-122"/>
              </a:rPr>
              <a:t>”</a:t>
            </a:r>
            <a:r>
              <a:rPr lang="zh-CN" altLang="en-US" sz="2400" b="1" dirty="0" smtClean="0">
                <a:solidFill>
                  <a:srgbClr val="0000FF"/>
                </a:solidFill>
                <a:effectLst/>
                <a:ea typeface="黑体" pitchFamily="2" charset="-122"/>
              </a:rPr>
              <a:t>的方针：重工业和轻工业并举、中央工业和地方工业并举、沿海工业和内地工业并举、大型企业和中小企业并举</a:t>
            </a:r>
          </a:p>
        </p:txBody>
      </p:sp>
      <p:grpSp>
        <p:nvGrpSpPr>
          <p:cNvPr id="2" name="Group 6"/>
          <p:cNvGrpSpPr>
            <a:grpSpLocks/>
          </p:cNvGrpSpPr>
          <p:nvPr/>
        </p:nvGrpSpPr>
        <p:grpSpPr bwMode="auto">
          <a:xfrm>
            <a:off x="4797425" y="1885950"/>
            <a:ext cx="3914775" cy="3927475"/>
            <a:chOff x="3022" y="1188"/>
            <a:chExt cx="2466" cy="2474"/>
          </a:xfrm>
        </p:grpSpPr>
        <p:pic>
          <p:nvPicPr>
            <p:cNvPr id="17413" name="Picture 4" descr="鞍山钢铁厂"/>
            <p:cNvPicPr preferRelativeResize="0">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022" y="1224"/>
              <a:ext cx="2466" cy="2438"/>
            </a:xfrm>
            <a:prstGeom prst="rect">
              <a:avLst/>
            </a:prstGeom>
            <a:blipFill dpi="0" rotWithShape="1">
              <a:blip r:embed="rId4" cstate="print"/>
              <a:srcRect/>
              <a:tile tx="0" ty="0" sx="100000" sy="100000" flip="none" algn="tl"/>
            </a:blipFill>
            <a:ln>
              <a:noFill/>
            </a:ln>
            <a:extLst>
              <a:ext uri="{91240B29-F687-4F45-9708-019B960494DF}">
                <a14:hiddenLine xmlns:a14="http://schemas.microsoft.com/office/drawing/2010/main" xmlns="" w="9525">
                  <a:solidFill>
                    <a:srgbClr val="000000"/>
                  </a:solidFill>
                  <a:miter lim="800000"/>
                  <a:headEnd/>
                  <a:tailEnd/>
                </a14:hiddenLine>
              </a:ext>
            </a:extLst>
          </p:spPr>
        </p:pic>
        <p:sp>
          <p:nvSpPr>
            <p:cNvPr id="17414" name="Text Box 5"/>
            <p:cNvSpPr txBox="1">
              <a:spLocks noChangeArrowheads="1"/>
            </p:cNvSpPr>
            <p:nvPr/>
          </p:nvSpPr>
          <p:spPr bwMode="auto">
            <a:xfrm>
              <a:off x="3134" y="1188"/>
              <a:ext cx="986"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Garamond" pitchFamily="18" charset="0"/>
                  <a:ea typeface="宋体" charset="-122"/>
                </a:defRPr>
              </a:lvl1pPr>
              <a:lvl2pPr marL="742950" indent="-285750" eaLnBrk="0" hangingPunct="0">
                <a:defRPr>
                  <a:solidFill>
                    <a:schemeClr val="tx1"/>
                  </a:solidFill>
                  <a:latin typeface="Garamond" pitchFamily="18" charset="0"/>
                  <a:ea typeface="宋体" charset="-122"/>
                </a:defRPr>
              </a:lvl2pPr>
              <a:lvl3pPr marL="1143000" indent="-228600" eaLnBrk="0" hangingPunct="0">
                <a:defRPr>
                  <a:solidFill>
                    <a:schemeClr val="tx1"/>
                  </a:solidFill>
                  <a:latin typeface="Garamond" pitchFamily="18" charset="0"/>
                  <a:ea typeface="宋体" charset="-122"/>
                </a:defRPr>
              </a:lvl3pPr>
              <a:lvl4pPr marL="1600200" indent="-228600" eaLnBrk="0" hangingPunct="0">
                <a:defRPr>
                  <a:solidFill>
                    <a:schemeClr val="tx1"/>
                  </a:solidFill>
                  <a:latin typeface="Garamond" pitchFamily="18" charset="0"/>
                  <a:ea typeface="宋体" charset="-122"/>
                </a:defRPr>
              </a:lvl4pPr>
              <a:lvl5pPr marL="2057400" indent="-228600" eaLnBrk="0" hangingPunct="0">
                <a:defRPr>
                  <a:solidFill>
                    <a:schemeClr val="tx1"/>
                  </a:solidFill>
                  <a:latin typeface="Garamond" pitchFamily="18" charset="0"/>
                  <a:ea typeface="宋体" charset="-122"/>
                </a:defRPr>
              </a:lvl5pPr>
              <a:lvl6pPr marL="2514600" indent="-228600" eaLnBrk="0" fontAlgn="base" hangingPunct="0">
                <a:spcBef>
                  <a:spcPct val="0"/>
                </a:spcBef>
                <a:spcAft>
                  <a:spcPct val="0"/>
                </a:spcAft>
                <a:defRPr>
                  <a:solidFill>
                    <a:schemeClr val="tx1"/>
                  </a:solidFill>
                  <a:latin typeface="Garamond" pitchFamily="18" charset="0"/>
                  <a:ea typeface="宋体" charset="-122"/>
                </a:defRPr>
              </a:lvl6pPr>
              <a:lvl7pPr marL="2971800" indent="-228600" eaLnBrk="0" fontAlgn="base" hangingPunct="0">
                <a:spcBef>
                  <a:spcPct val="0"/>
                </a:spcBef>
                <a:spcAft>
                  <a:spcPct val="0"/>
                </a:spcAft>
                <a:defRPr>
                  <a:solidFill>
                    <a:schemeClr val="tx1"/>
                  </a:solidFill>
                  <a:latin typeface="Garamond" pitchFamily="18" charset="0"/>
                  <a:ea typeface="宋体" charset="-122"/>
                </a:defRPr>
              </a:lvl7pPr>
              <a:lvl8pPr marL="3429000" indent="-228600" eaLnBrk="0" fontAlgn="base" hangingPunct="0">
                <a:spcBef>
                  <a:spcPct val="0"/>
                </a:spcBef>
                <a:spcAft>
                  <a:spcPct val="0"/>
                </a:spcAft>
                <a:defRPr>
                  <a:solidFill>
                    <a:schemeClr val="tx1"/>
                  </a:solidFill>
                  <a:latin typeface="Garamond" pitchFamily="18" charset="0"/>
                  <a:ea typeface="宋体" charset="-122"/>
                </a:defRPr>
              </a:lvl8pPr>
              <a:lvl9pPr marL="3886200" indent="-228600" eaLnBrk="0" fontAlgn="base" hangingPunct="0">
                <a:spcBef>
                  <a:spcPct val="0"/>
                </a:spcBef>
                <a:spcAft>
                  <a:spcPct val="0"/>
                </a:spcAft>
                <a:defRPr>
                  <a:solidFill>
                    <a:schemeClr val="tx1"/>
                  </a:solidFill>
                  <a:latin typeface="Garamond" pitchFamily="18" charset="0"/>
                  <a:ea typeface="宋体" charset="-122"/>
                </a:defRPr>
              </a:lvl9pPr>
            </a:lstStyle>
            <a:p>
              <a:pPr eaLnBrk="1" hangingPunct="1"/>
              <a:r>
                <a:rPr lang="zh-CN" altLang="en-US" b="1">
                  <a:solidFill>
                    <a:schemeClr val="bg2"/>
                  </a:solidFill>
                  <a:ea typeface="黑体" pitchFamily="2" charset="-122"/>
                </a:rPr>
                <a:t>鞍山钢铁公司</a:t>
              </a:r>
            </a:p>
          </p:txBody>
        </p:sp>
      </p:grpSp>
    </p:spTree>
    <p:extLst>
      <p:ext uri="{BB962C8B-B14F-4D97-AF65-F5344CB8AC3E}">
        <p14:creationId xmlns:p14="http://schemas.microsoft.com/office/powerpoint/2010/main" xmlns="" val="4160658394"/>
      </p:ext>
    </p:extLst>
  </p:cSld>
  <p:clrMapOvr>
    <a:masterClrMapping/>
  </p:clrMapOvr>
  <p:transition>
    <p:strips dir="rd"/>
    <p:sndAc>
      <p:stSnd>
        <p:snd r:embed="rId2" name="chimes.wav"/>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rrowheads="1"/>
          </p:cNvSpPr>
          <p:nvPr>
            <p:ph type="title"/>
          </p:nvPr>
        </p:nvSpPr>
        <p:spPr>
          <a:xfrm>
            <a:off x="557398" y="958057"/>
            <a:ext cx="8586601" cy="598735"/>
          </a:xfrm>
          <a:solidFill>
            <a:schemeClr val="bg2"/>
          </a:solidFill>
          <a:ln>
            <a:solidFill>
              <a:schemeClr val="accent1"/>
            </a:solidFill>
          </a:ln>
        </p:spPr>
        <p:txBody>
          <a:bodyPr>
            <a:normAutofit/>
          </a:bodyPr>
          <a:lstStyle/>
          <a:p>
            <a:pPr algn="l" eaLnBrk="1" hangingPunct="1"/>
            <a:r>
              <a:rPr lang="en-US" altLang="zh-CN" sz="2800" b="1" dirty="0" smtClean="0">
                <a:solidFill>
                  <a:srgbClr val="FF0000"/>
                </a:solidFill>
                <a:effectLst/>
                <a:latin typeface="黑体" pitchFamily="2" charset="-122"/>
                <a:ea typeface="黑体" pitchFamily="2" charset="-122"/>
              </a:rPr>
              <a:t>1</a:t>
            </a:r>
            <a:r>
              <a:rPr lang="zh-CN" altLang="en-US" sz="2800" b="1" dirty="0" smtClean="0">
                <a:solidFill>
                  <a:srgbClr val="FF0000"/>
                </a:solidFill>
                <a:effectLst/>
                <a:latin typeface="黑体" pitchFamily="2" charset="-122"/>
                <a:ea typeface="黑体" pitchFamily="2" charset="-122"/>
              </a:rPr>
              <a:t>、关于社会主义现代化建设的战略目标和步骤</a:t>
            </a:r>
          </a:p>
        </p:txBody>
      </p:sp>
      <p:sp>
        <p:nvSpPr>
          <p:cNvPr id="19459" name="Rectangle 3"/>
          <p:cNvSpPr>
            <a:spLocks noGrp="1" noChangeArrowheads="1"/>
          </p:cNvSpPr>
          <p:nvPr>
            <p:ph idx="1"/>
          </p:nvPr>
        </p:nvSpPr>
        <p:spPr>
          <a:xfrm>
            <a:off x="657225" y="1808163"/>
            <a:ext cx="4140200" cy="4005262"/>
          </a:xfrm>
          <a:solidFill>
            <a:schemeClr val="bg1"/>
          </a:solidFill>
          <a:ln>
            <a:solidFill>
              <a:srgbClr val="00FF00"/>
            </a:solidFill>
          </a:ln>
        </p:spPr>
        <p:txBody>
          <a:bodyPr/>
          <a:lstStyle/>
          <a:p>
            <a:pPr eaLnBrk="1" hangingPunct="1"/>
            <a:r>
              <a:rPr lang="zh-CN" altLang="en-US" sz="2400" b="1" dirty="0" smtClean="0">
                <a:solidFill>
                  <a:srgbClr val="FF3300"/>
                </a:solidFill>
                <a:effectLst/>
                <a:ea typeface="黑体" pitchFamily="2" charset="-122"/>
              </a:rPr>
              <a:t>战略目标：</a:t>
            </a:r>
            <a:r>
              <a:rPr lang="zh-CN" altLang="en-US" sz="2400" b="1" dirty="0" smtClean="0">
                <a:solidFill>
                  <a:srgbClr val="0000FF"/>
                </a:solidFill>
                <a:effectLst/>
                <a:ea typeface="黑体" pitchFamily="2" charset="-122"/>
              </a:rPr>
              <a:t>农业现代化、工业现代化、国防现代化、科技现代化</a:t>
            </a:r>
          </a:p>
          <a:p>
            <a:pPr eaLnBrk="1" hangingPunct="1"/>
            <a:r>
              <a:rPr lang="zh-CN" altLang="en-US" sz="2400" b="1" dirty="0">
                <a:solidFill>
                  <a:srgbClr val="FF3300"/>
                </a:solidFill>
                <a:ea typeface="黑体" pitchFamily="2" charset="-122"/>
              </a:rPr>
              <a:t>发展步骤：</a:t>
            </a:r>
            <a:r>
              <a:rPr lang="zh-CN" altLang="en-US" sz="2400" b="1" dirty="0" smtClean="0">
                <a:solidFill>
                  <a:srgbClr val="0000FF"/>
                </a:solidFill>
                <a:effectLst/>
                <a:latin typeface="Arial" charset="0"/>
                <a:ea typeface="黑体" pitchFamily="2" charset="-122"/>
              </a:rPr>
              <a:t>“</a:t>
            </a:r>
            <a:r>
              <a:rPr lang="zh-CN" altLang="en-US" sz="2400" b="1" dirty="0" smtClean="0">
                <a:solidFill>
                  <a:srgbClr val="0000FF"/>
                </a:solidFill>
                <a:effectLst/>
                <a:ea typeface="黑体" pitchFamily="2" charset="-122"/>
              </a:rPr>
              <a:t>两步走</a:t>
            </a:r>
            <a:r>
              <a:rPr lang="zh-CN" altLang="en-US" sz="2400" b="1" dirty="0" smtClean="0">
                <a:solidFill>
                  <a:srgbClr val="0000FF"/>
                </a:solidFill>
                <a:effectLst/>
                <a:latin typeface="Arial" charset="0"/>
                <a:ea typeface="黑体" pitchFamily="2" charset="-122"/>
              </a:rPr>
              <a:t>”</a:t>
            </a:r>
            <a:endParaRPr lang="zh-CN" altLang="en-US" sz="2400" b="1" dirty="0" smtClean="0">
              <a:solidFill>
                <a:srgbClr val="0000FF"/>
              </a:solidFill>
              <a:effectLst/>
              <a:ea typeface="黑体" pitchFamily="2" charset="-122"/>
            </a:endParaRPr>
          </a:p>
          <a:p>
            <a:pPr eaLnBrk="1" hangingPunct="1"/>
            <a:r>
              <a:rPr lang="zh-CN" altLang="en-US" sz="2400" b="1" dirty="0" smtClean="0">
                <a:solidFill>
                  <a:srgbClr val="0000FF"/>
                </a:solidFill>
                <a:effectLst/>
                <a:ea typeface="黑体" pitchFamily="2" charset="-122"/>
              </a:rPr>
              <a:t>第一步建成一个独立的比较完整的工业体系和国民经济体系</a:t>
            </a:r>
          </a:p>
          <a:p>
            <a:pPr eaLnBrk="1" hangingPunct="1"/>
            <a:r>
              <a:rPr lang="zh-CN" altLang="en-US" sz="2400" b="1" dirty="0" smtClean="0">
                <a:solidFill>
                  <a:srgbClr val="0000FF"/>
                </a:solidFill>
                <a:effectLst/>
                <a:ea typeface="黑体" pitchFamily="2" charset="-122"/>
              </a:rPr>
              <a:t>第二步全面实现工业、农业、国防和科技现代化，使中国走在世界前列</a:t>
            </a:r>
          </a:p>
        </p:txBody>
      </p:sp>
      <p:pic>
        <p:nvPicPr>
          <p:cNvPr id="19460" name="Picture 5" descr="U_4149~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841875" y="1808163"/>
            <a:ext cx="4095750" cy="4005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矩形 4"/>
          <p:cNvSpPr/>
          <p:nvPr/>
        </p:nvSpPr>
        <p:spPr>
          <a:xfrm>
            <a:off x="679588" y="332656"/>
            <a:ext cx="3892412" cy="571310"/>
          </a:xfrm>
          <a:prstGeom prst="rect">
            <a:avLst/>
          </a:prstGeom>
          <a:solidFill>
            <a:schemeClr val="bg2"/>
          </a:solidFill>
          <a:ln>
            <a:solidFill>
              <a:schemeClr val="accent1"/>
            </a:solidFill>
          </a:ln>
        </p:spPr>
        <p:txBody>
          <a:bodyPr wrap="none">
            <a:spAutoFit/>
          </a:bodyPr>
          <a:lstStyle/>
          <a:p>
            <a:pPr lvl="0" rtl="0">
              <a:lnSpc>
                <a:spcPct val="105000"/>
              </a:lnSpc>
              <a:spcBef>
                <a:spcPct val="50000"/>
              </a:spcBef>
              <a:spcAft>
                <a:spcPts val="0"/>
              </a:spcAft>
              <a:buClr>
                <a:srgbClr val="477AB1"/>
              </a:buClr>
              <a:buSzPct val="50000"/>
            </a:pPr>
            <a:r>
              <a:rPr lang="zh-CN" altLang="en-US" sz="3200" b="1" noProof="1">
                <a:solidFill>
                  <a:srgbClr val="FF0000"/>
                </a:solidFill>
                <a:latin typeface="Times New Roman" panose="02020603050405020304" pitchFamily="18" charset="0"/>
                <a:ea typeface="黑体" panose="02010609060101010101" pitchFamily="49" charset="-122"/>
                <a:cs typeface="+mn-cs"/>
              </a:rPr>
              <a:t>（四）其他理论成果</a:t>
            </a:r>
          </a:p>
        </p:txBody>
      </p:sp>
    </p:spTree>
    <p:extLst>
      <p:ext uri="{BB962C8B-B14F-4D97-AF65-F5344CB8AC3E}">
        <p14:creationId xmlns:p14="http://schemas.microsoft.com/office/powerpoint/2010/main" xmlns="" val="74652457"/>
      </p:ext>
    </p:extLst>
  </p:cSld>
  <p:clrMapOvr>
    <a:masterClrMapping/>
  </p:clrMapOvr>
  <p:transition>
    <p:strips dir="rd"/>
    <p:sndAc>
      <p:stSnd>
        <p:snd r:embed="rId2" name="chimes.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9552" y="3212976"/>
            <a:ext cx="4087418" cy="461665"/>
          </a:xfrm>
          <a:prstGeom prst="rect">
            <a:avLst/>
          </a:prstGeom>
          <a:solidFill>
            <a:schemeClr val="bg1"/>
          </a:solidFill>
          <a:ln>
            <a:solidFill>
              <a:schemeClr val="accent1"/>
            </a:solidFill>
          </a:ln>
        </p:spPr>
        <p:txBody>
          <a:bodyPr wrap="square">
            <a:spAutoFit/>
          </a:bodyPr>
          <a:lstStyle/>
          <a:p>
            <a:r>
              <a:rPr lang="en-US" altLang="zh-CN" sz="2400" b="1" dirty="0">
                <a:solidFill>
                  <a:srgbClr val="FF0000"/>
                </a:solidFill>
                <a:latin typeface="黑体" pitchFamily="49" charset="-122"/>
                <a:ea typeface="黑体" pitchFamily="49" charset="-122"/>
              </a:rPr>
              <a:t> </a:t>
            </a:r>
            <a:r>
              <a:rPr lang="zh-CN" altLang="en-US" sz="2400" b="1" dirty="0">
                <a:solidFill>
                  <a:srgbClr val="FF0000"/>
                </a:solidFill>
                <a:latin typeface="黑体" pitchFamily="49" charset="-122"/>
                <a:ea typeface="黑体" pitchFamily="49" charset="-122"/>
              </a:rPr>
              <a:t>社会主义可以分为两个</a:t>
            </a:r>
            <a:r>
              <a:rPr lang="zh-CN" altLang="en-US" sz="2400" b="1" dirty="0" smtClean="0">
                <a:solidFill>
                  <a:srgbClr val="FF0000"/>
                </a:solidFill>
                <a:latin typeface="黑体" pitchFamily="49" charset="-122"/>
                <a:ea typeface="黑体" pitchFamily="49" charset="-122"/>
              </a:rPr>
              <a:t>阶段</a:t>
            </a:r>
            <a:endParaRPr lang="zh-CN" altLang="en-US" sz="2400" dirty="0">
              <a:solidFill>
                <a:srgbClr val="FF0000"/>
              </a:solidFill>
              <a:latin typeface="黑体" pitchFamily="49" charset="-122"/>
              <a:ea typeface="黑体" pitchFamily="49" charset="-122"/>
            </a:endParaRPr>
          </a:p>
        </p:txBody>
      </p:sp>
      <p:sp>
        <p:nvSpPr>
          <p:cNvPr id="5" name="矩形 4"/>
          <p:cNvSpPr/>
          <p:nvPr/>
        </p:nvSpPr>
        <p:spPr>
          <a:xfrm>
            <a:off x="5364088" y="2852936"/>
            <a:ext cx="2443201" cy="32868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smtClean="0">
                <a:solidFill>
                  <a:srgbClr val="0000FF"/>
                </a:solidFill>
              </a:rPr>
              <a:t>不发达的社会主义</a:t>
            </a:r>
            <a:endParaRPr lang="zh-CN" altLang="en-US" b="1" dirty="0">
              <a:solidFill>
                <a:srgbClr val="0000FF"/>
              </a:solidFill>
            </a:endParaRPr>
          </a:p>
        </p:txBody>
      </p:sp>
      <p:sp>
        <p:nvSpPr>
          <p:cNvPr id="7" name="矩形 6"/>
          <p:cNvSpPr/>
          <p:nvPr/>
        </p:nvSpPr>
        <p:spPr>
          <a:xfrm>
            <a:off x="5364088" y="4077072"/>
            <a:ext cx="2340260" cy="32868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00FF"/>
                </a:solidFill>
              </a:rPr>
              <a:t>比较发达的社会主义</a:t>
            </a:r>
          </a:p>
        </p:txBody>
      </p:sp>
      <p:cxnSp>
        <p:nvCxnSpPr>
          <p:cNvPr id="20" name="直接箭头连接符 19"/>
          <p:cNvCxnSpPr>
            <a:stCxn id="4" idx="3"/>
          </p:cNvCxnSpPr>
          <p:nvPr/>
        </p:nvCxnSpPr>
        <p:spPr>
          <a:xfrm flipV="1">
            <a:off x="4626970" y="3111109"/>
            <a:ext cx="574846" cy="33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4" idx="3"/>
            <a:endCxn id="7" idx="1"/>
          </p:cNvCxnSpPr>
          <p:nvPr/>
        </p:nvCxnSpPr>
        <p:spPr>
          <a:xfrm>
            <a:off x="4626970" y="3443809"/>
            <a:ext cx="737118" cy="7976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395536" y="1124744"/>
            <a:ext cx="3600400" cy="461665"/>
          </a:xfrm>
          <a:prstGeom prst="rect">
            <a:avLst/>
          </a:prstGeom>
          <a:solidFill>
            <a:schemeClr val="bg2"/>
          </a:solidFill>
          <a:ln>
            <a:solidFill>
              <a:schemeClr val="accent1"/>
            </a:solidFill>
          </a:ln>
        </p:spPr>
        <p:txBody>
          <a:bodyPr wrap="square">
            <a:spAutoFit/>
          </a:bodyPr>
          <a:lstStyle/>
          <a:p>
            <a:r>
              <a:rPr lang="en-US" altLang="zh-CN" sz="2400" b="1" dirty="0">
                <a:solidFill>
                  <a:srgbClr val="FF0000"/>
                </a:solidFill>
                <a:latin typeface="黑体" pitchFamily="49" charset="-122"/>
                <a:ea typeface="黑体" pitchFamily="49" charset="-122"/>
              </a:rPr>
              <a:t> </a:t>
            </a:r>
            <a:r>
              <a:rPr lang="en-US" altLang="zh-CN" sz="2400" b="1" dirty="0" smtClean="0">
                <a:solidFill>
                  <a:srgbClr val="FF0000"/>
                </a:solidFill>
                <a:latin typeface="黑体" pitchFamily="49" charset="-122"/>
                <a:ea typeface="黑体" pitchFamily="49" charset="-122"/>
              </a:rPr>
              <a:t>2</a:t>
            </a:r>
            <a:r>
              <a:rPr lang="zh-CN" altLang="en-US" sz="2400" b="1" dirty="0" smtClean="0">
                <a:solidFill>
                  <a:srgbClr val="FF0000"/>
                </a:solidFill>
                <a:latin typeface="黑体" pitchFamily="49" charset="-122"/>
                <a:ea typeface="黑体" pitchFamily="49" charset="-122"/>
              </a:rPr>
              <a:t>、社会主义的发展阶段</a:t>
            </a:r>
            <a:endParaRPr lang="zh-CN" altLang="en-US" sz="2400" dirty="0">
              <a:solidFill>
                <a:srgbClr val="FF0000"/>
              </a:solidFill>
              <a:latin typeface="黑体" pitchFamily="49" charset="-122"/>
              <a:ea typeface="黑体" pitchFamily="49" charset="-122"/>
            </a:endParaRPr>
          </a:p>
        </p:txBody>
      </p:sp>
    </p:spTree>
    <p:extLst>
      <p:ext uri="{BB962C8B-B14F-4D97-AF65-F5344CB8AC3E}">
        <p14:creationId xmlns:p14="http://schemas.microsoft.com/office/powerpoint/2010/main" xmlns="" val="3642079996"/>
      </p:ext>
    </p:extLst>
  </p:cSld>
  <p:clrMapOvr>
    <a:masterClrMapping/>
  </p:clrMapOvr>
  <p:transition>
    <p:strips dir="rd"/>
    <p:sndAc>
      <p:stSnd>
        <p:snd r:embed="rId2" name="chimes.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rrowheads="1"/>
          </p:cNvSpPr>
          <p:nvPr>
            <p:ph type="title"/>
          </p:nvPr>
        </p:nvSpPr>
        <p:spPr>
          <a:xfrm>
            <a:off x="899592" y="188641"/>
            <a:ext cx="4392488" cy="504056"/>
          </a:xfrm>
          <a:solidFill>
            <a:schemeClr val="bg2"/>
          </a:solidFill>
          <a:ln>
            <a:solidFill>
              <a:schemeClr val="accent1"/>
            </a:solidFill>
          </a:ln>
        </p:spPr>
        <p:txBody>
          <a:bodyPr>
            <a:normAutofit fontScale="90000"/>
          </a:bodyPr>
          <a:lstStyle/>
          <a:p>
            <a:pPr algn="l" eaLnBrk="1" hangingPunct="1">
              <a:defRPr/>
            </a:pPr>
            <a:r>
              <a:rPr lang="en-US" altLang="zh-CN" sz="2800" b="1" dirty="0" smtClean="0">
                <a:solidFill>
                  <a:srgbClr val="FF0000"/>
                </a:solidFill>
                <a:latin typeface="黑体" pitchFamily="2" charset="-122"/>
                <a:ea typeface="黑体" pitchFamily="2" charset="-122"/>
              </a:rPr>
              <a:t>3</a:t>
            </a:r>
            <a:r>
              <a:rPr lang="zh-CN" altLang="en-US" sz="2800" b="1" dirty="0" smtClean="0">
                <a:solidFill>
                  <a:srgbClr val="FF0000"/>
                </a:solidFill>
                <a:latin typeface="黑体" pitchFamily="2" charset="-122"/>
                <a:ea typeface="黑体" pitchFamily="2" charset="-122"/>
              </a:rPr>
              <a:t>、关于经济建设方针论述</a:t>
            </a:r>
          </a:p>
        </p:txBody>
      </p:sp>
      <p:sp>
        <p:nvSpPr>
          <p:cNvPr id="20483" name="Rectangle 3"/>
          <p:cNvSpPr>
            <a:spLocks noGrp="1" noChangeArrowheads="1"/>
          </p:cNvSpPr>
          <p:nvPr>
            <p:ph idx="1"/>
          </p:nvPr>
        </p:nvSpPr>
        <p:spPr>
          <a:xfrm>
            <a:off x="746125" y="2124075"/>
            <a:ext cx="1620838" cy="3089275"/>
          </a:xfrm>
          <a:ln>
            <a:solidFill>
              <a:schemeClr val="accent1"/>
            </a:solidFill>
          </a:ln>
        </p:spPr>
        <p:txBody>
          <a:bodyPr/>
          <a:lstStyle/>
          <a:p>
            <a:pPr eaLnBrk="1" hangingPunct="1">
              <a:lnSpc>
                <a:spcPct val="120000"/>
              </a:lnSpc>
            </a:pPr>
            <a:r>
              <a:rPr lang="zh-CN" altLang="en-US" sz="2000" b="1" dirty="0" smtClean="0">
                <a:solidFill>
                  <a:srgbClr val="0000FF"/>
                </a:solidFill>
                <a:effectLst/>
                <a:ea typeface="黑体" pitchFamily="2" charset="-122"/>
              </a:rPr>
              <a:t>中共八大提出了既反保守又反冒进、在综合平衡中稳步前进的方针</a:t>
            </a:r>
          </a:p>
        </p:txBody>
      </p:sp>
      <p:pic>
        <p:nvPicPr>
          <p:cNvPr id="20484" name="Picture 5" descr="DSWY20~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81288" y="1314450"/>
            <a:ext cx="6191250" cy="4516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806276499"/>
      </p:ext>
    </p:extLst>
  </p:cSld>
  <p:clrMapOvr>
    <a:masterClrMapping/>
  </p:clrMapOvr>
  <p:transition>
    <p:strips dir="rd"/>
    <p:sndAc>
      <p:stSnd>
        <p:snd r:embed="rId2" name="chimes.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rrowheads="1"/>
          </p:cNvSpPr>
          <p:nvPr>
            <p:ph type="title"/>
          </p:nvPr>
        </p:nvSpPr>
        <p:spPr>
          <a:xfrm>
            <a:off x="755576" y="260649"/>
            <a:ext cx="4968552" cy="648072"/>
          </a:xfrm>
          <a:solidFill>
            <a:schemeClr val="bg2"/>
          </a:solidFill>
          <a:ln>
            <a:solidFill>
              <a:schemeClr val="accent1"/>
            </a:solidFill>
          </a:ln>
        </p:spPr>
        <p:txBody>
          <a:bodyPr/>
          <a:lstStyle/>
          <a:p>
            <a:pPr algn="l" eaLnBrk="1" hangingPunct="1">
              <a:defRPr/>
            </a:pPr>
            <a:r>
              <a:rPr lang="en-US" altLang="zh-CN" sz="3200" b="1" dirty="0" smtClean="0">
                <a:solidFill>
                  <a:srgbClr val="FF0000"/>
                </a:solidFill>
                <a:latin typeface="黑体" pitchFamily="2" charset="-122"/>
                <a:ea typeface="黑体" pitchFamily="2" charset="-122"/>
              </a:rPr>
              <a:t>4</a:t>
            </a:r>
            <a:r>
              <a:rPr lang="zh-CN" altLang="en-US" sz="3200" b="1" dirty="0" smtClean="0">
                <a:solidFill>
                  <a:srgbClr val="FF0000"/>
                </a:solidFill>
                <a:latin typeface="黑体" pitchFamily="2" charset="-122"/>
                <a:ea typeface="黑体" pitchFamily="2" charset="-122"/>
              </a:rPr>
              <a:t>、关于所有制结构的调整</a:t>
            </a:r>
          </a:p>
        </p:txBody>
      </p:sp>
      <p:sp>
        <p:nvSpPr>
          <p:cNvPr id="21507" name="Rectangle 3"/>
          <p:cNvSpPr>
            <a:spLocks noGrp="1" noChangeArrowheads="1"/>
          </p:cNvSpPr>
          <p:nvPr>
            <p:ph idx="1"/>
          </p:nvPr>
        </p:nvSpPr>
        <p:spPr>
          <a:xfrm>
            <a:off x="971600" y="1196752"/>
            <a:ext cx="7426325" cy="1439862"/>
          </a:xfrm>
          <a:solidFill>
            <a:schemeClr val="bg1"/>
          </a:solidFill>
          <a:ln>
            <a:solidFill>
              <a:schemeClr val="accent1"/>
            </a:solidFill>
          </a:ln>
        </p:spPr>
        <p:txBody>
          <a:bodyPr/>
          <a:lstStyle/>
          <a:p>
            <a:pPr eaLnBrk="1" hangingPunct="1">
              <a:lnSpc>
                <a:spcPct val="120000"/>
              </a:lnSpc>
            </a:pPr>
            <a:r>
              <a:rPr lang="zh-CN" altLang="en-US" sz="2000" b="1" dirty="0" smtClean="0">
                <a:solidFill>
                  <a:srgbClr val="0000FF"/>
                </a:solidFill>
                <a:effectLst/>
                <a:ea typeface="黑体" pitchFamily="2" charset="-122"/>
              </a:rPr>
              <a:t>资本主义经济作为社会主义经济的补充思想</a:t>
            </a:r>
            <a:r>
              <a:rPr lang="en-US" altLang="zh-CN" sz="2000" b="1" dirty="0" smtClean="0">
                <a:solidFill>
                  <a:srgbClr val="0000FF"/>
                </a:solidFill>
                <a:effectLst/>
                <a:latin typeface="Arial" charset="0"/>
                <a:ea typeface="黑体" pitchFamily="2" charset="-122"/>
              </a:rPr>
              <a:t>——</a:t>
            </a:r>
            <a:r>
              <a:rPr lang="zh-CN" altLang="en-US" sz="2000" b="1" dirty="0" smtClean="0">
                <a:solidFill>
                  <a:srgbClr val="0000FF"/>
                </a:solidFill>
                <a:effectLst/>
                <a:ea typeface="黑体" pitchFamily="2" charset="-122"/>
              </a:rPr>
              <a:t>毛、刘、周</a:t>
            </a:r>
          </a:p>
          <a:p>
            <a:pPr eaLnBrk="1" hangingPunct="1">
              <a:lnSpc>
                <a:spcPct val="120000"/>
              </a:lnSpc>
            </a:pPr>
            <a:r>
              <a:rPr lang="zh-CN" altLang="en-US" sz="2000" b="1" dirty="0" smtClean="0">
                <a:solidFill>
                  <a:srgbClr val="0000FF"/>
                </a:solidFill>
                <a:effectLst/>
                <a:ea typeface="黑体" pitchFamily="2" charset="-122"/>
              </a:rPr>
              <a:t>发展手工业和农业多种经营的思想</a:t>
            </a:r>
            <a:r>
              <a:rPr lang="en-US" altLang="zh-CN" sz="2000" b="1" dirty="0" smtClean="0">
                <a:solidFill>
                  <a:srgbClr val="0000FF"/>
                </a:solidFill>
                <a:effectLst/>
                <a:latin typeface="Arial" charset="0"/>
                <a:ea typeface="黑体" pitchFamily="2" charset="-122"/>
              </a:rPr>
              <a:t>——</a:t>
            </a:r>
            <a:r>
              <a:rPr lang="zh-CN" altLang="en-US" sz="2000" b="1" dirty="0" smtClean="0">
                <a:solidFill>
                  <a:srgbClr val="0000FF"/>
                </a:solidFill>
                <a:effectLst/>
                <a:ea typeface="黑体" pitchFamily="2" charset="-122"/>
              </a:rPr>
              <a:t>朱德</a:t>
            </a:r>
          </a:p>
          <a:p>
            <a:pPr eaLnBrk="1" hangingPunct="1">
              <a:lnSpc>
                <a:spcPct val="120000"/>
              </a:lnSpc>
            </a:pPr>
            <a:r>
              <a:rPr lang="zh-CN" altLang="en-US" sz="2000" b="1" dirty="0" smtClean="0">
                <a:solidFill>
                  <a:srgbClr val="0000FF"/>
                </a:solidFill>
                <a:effectLst/>
                <a:latin typeface="Arial" charset="0"/>
                <a:ea typeface="黑体" pitchFamily="2" charset="-122"/>
              </a:rPr>
              <a:t>“</a:t>
            </a:r>
            <a:r>
              <a:rPr lang="zh-CN" altLang="en-US" sz="2000" b="1" dirty="0" smtClean="0">
                <a:solidFill>
                  <a:srgbClr val="0000FF"/>
                </a:solidFill>
                <a:effectLst/>
                <a:ea typeface="黑体" pitchFamily="2" charset="-122"/>
              </a:rPr>
              <a:t>三个主体、三个补充</a:t>
            </a:r>
            <a:r>
              <a:rPr lang="zh-CN" altLang="en-US" sz="2000" b="1" dirty="0" smtClean="0">
                <a:solidFill>
                  <a:srgbClr val="0000FF"/>
                </a:solidFill>
                <a:effectLst/>
                <a:latin typeface="Arial" charset="0"/>
                <a:ea typeface="黑体" pitchFamily="2" charset="-122"/>
              </a:rPr>
              <a:t>”</a:t>
            </a:r>
            <a:r>
              <a:rPr lang="zh-CN" altLang="en-US" sz="2000" b="1" dirty="0" smtClean="0">
                <a:solidFill>
                  <a:srgbClr val="0000FF"/>
                </a:solidFill>
                <a:effectLst/>
                <a:ea typeface="黑体" pitchFamily="2" charset="-122"/>
              </a:rPr>
              <a:t>的思想</a:t>
            </a:r>
            <a:r>
              <a:rPr lang="en-US" altLang="zh-CN" sz="2000" b="1" dirty="0" smtClean="0">
                <a:solidFill>
                  <a:srgbClr val="0000FF"/>
                </a:solidFill>
                <a:effectLst/>
                <a:latin typeface="Arial" charset="0"/>
                <a:ea typeface="黑体" pitchFamily="2" charset="-122"/>
              </a:rPr>
              <a:t>——</a:t>
            </a:r>
            <a:r>
              <a:rPr lang="zh-CN" altLang="en-US" sz="2000" b="1" dirty="0" smtClean="0">
                <a:solidFill>
                  <a:srgbClr val="0000FF"/>
                </a:solidFill>
                <a:effectLst/>
                <a:ea typeface="黑体" pitchFamily="2" charset="-122"/>
              </a:rPr>
              <a:t>陈云</a:t>
            </a:r>
          </a:p>
        </p:txBody>
      </p:sp>
      <p:pic>
        <p:nvPicPr>
          <p:cNvPr id="21508" name="Picture 5" descr="5D965F~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66738" y="2663825"/>
            <a:ext cx="8054975" cy="3195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755578551"/>
      </p:ext>
    </p:extLst>
  </p:cSld>
  <p:clrMapOvr>
    <a:masterClrMapping/>
  </p:clrMapOvr>
  <p:transition>
    <p:strips dir="rd"/>
    <p:sndAc>
      <p:stSnd>
        <p:snd r:embed="rId2" name="chimes.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1142976" y="857232"/>
          <a:ext cx="6096000" cy="5814758"/>
        </p:xfrm>
        <a:graphic>
          <a:graphicData uri="http://schemas.openxmlformats.org/drawingml/2006/table">
            <a:tbl>
              <a:tblPr firstRow="1" bandRow="1">
                <a:tableStyleId>{5C22544A-7EE6-4342-B048-85BDC9FD1C3A}</a:tableStyleId>
              </a:tblPr>
              <a:tblGrid>
                <a:gridCol w="3048000"/>
                <a:gridCol w="3048000"/>
              </a:tblGrid>
              <a:tr h="1727493">
                <a:tc>
                  <a:txBody>
                    <a:bodyPr/>
                    <a:lstStyle/>
                    <a:p>
                      <a:endParaRPr lang="en-US" altLang="zh-CN" dirty="0" smtClean="0"/>
                    </a:p>
                    <a:p>
                      <a:r>
                        <a:rPr lang="zh-CN" altLang="en-US" sz="2800" b="1" dirty="0" smtClean="0">
                          <a:solidFill>
                            <a:srgbClr val="0000FF"/>
                          </a:solidFill>
                          <a:latin typeface="Times New Roman" panose="02020603050405020304" pitchFamily="18" charset="0"/>
                          <a:ea typeface="黑体" panose="02010609060101010101" pitchFamily="49" charset="-122"/>
                        </a:rPr>
                        <a:t>在工商业经营方面，国家经营和集体经营是工商业的主体</a:t>
                      </a:r>
                      <a:endParaRPr lang="en-US" altLang="zh-CN" sz="2800" dirty="0" smtClean="0"/>
                    </a:p>
                    <a:p>
                      <a:endParaRPr lang="zh-CN" altLang="en-US" dirty="0"/>
                    </a:p>
                  </a:txBody>
                  <a:tcPr>
                    <a:solidFill>
                      <a:schemeClr val="bg2">
                        <a:lumMod val="20000"/>
                        <a:lumOff val="80000"/>
                      </a:schemeClr>
                    </a:solidFill>
                  </a:tcPr>
                </a:tc>
                <a:tc>
                  <a:txBody>
                    <a:bodyPr/>
                    <a:lstStyle/>
                    <a:p>
                      <a:r>
                        <a:rPr lang="zh-CN" altLang="en-US" sz="2800" b="1" dirty="0" smtClean="0">
                          <a:solidFill>
                            <a:srgbClr val="FF0000"/>
                          </a:solidFill>
                          <a:latin typeface="Times New Roman" panose="02020603050405020304" pitchFamily="18" charset="0"/>
                          <a:ea typeface="黑体" panose="02010609060101010101" pitchFamily="49" charset="-122"/>
                        </a:rPr>
                        <a:t>一定数量的个体经营国家经营和集体经营 的补充</a:t>
                      </a:r>
                      <a:endParaRPr lang="zh-CN" altLang="en-US" sz="2800" dirty="0">
                        <a:solidFill>
                          <a:srgbClr val="FF0000"/>
                        </a:solidFill>
                      </a:endParaRPr>
                    </a:p>
                  </a:txBody>
                  <a:tcPr>
                    <a:solidFill>
                      <a:schemeClr val="bg2">
                        <a:lumMod val="20000"/>
                        <a:lumOff val="80000"/>
                      </a:schemeClr>
                    </a:solidFill>
                  </a:tcPr>
                </a:tc>
              </a:tr>
              <a:tr h="1727493">
                <a:tc>
                  <a:txBody>
                    <a:bodyPr/>
                    <a:lstStyle/>
                    <a:p>
                      <a:endParaRPr lang="en-US" altLang="zh-CN" dirty="0" smtClean="0"/>
                    </a:p>
                    <a:p>
                      <a:r>
                        <a:rPr lang="zh-CN" altLang="en-US" sz="2800" b="1" kern="1200" dirty="0" smtClean="0">
                          <a:solidFill>
                            <a:srgbClr val="0000FF"/>
                          </a:solidFill>
                          <a:latin typeface="Times New Roman" panose="02020603050405020304" pitchFamily="18" charset="0"/>
                          <a:ea typeface="黑体" panose="02010609060101010101" pitchFamily="49" charset="-122"/>
                          <a:cs typeface="+mn-cs"/>
                        </a:rPr>
                        <a:t>在生产计划方面，计划经济是全国工农业生产的主体</a:t>
                      </a:r>
                      <a:endParaRPr lang="en-US" altLang="zh-CN" dirty="0" smtClean="0"/>
                    </a:p>
                    <a:p>
                      <a:endParaRPr lang="zh-CN" altLang="en-US" dirty="0"/>
                    </a:p>
                  </a:txBody>
                  <a:tcPr>
                    <a:solidFill>
                      <a:schemeClr val="bg2">
                        <a:lumMod val="20000"/>
                        <a:lumOff val="80000"/>
                      </a:schemeClr>
                    </a:solidFill>
                  </a:tcPr>
                </a:tc>
                <a:tc>
                  <a:txBody>
                    <a:bodyPr/>
                    <a:lstStyle/>
                    <a:p>
                      <a:r>
                        <a:rPr lang="zh-CN" altLang="en-US" sz="2800" b="1" kern="1200" dirty="0" smtClean="0">
                          <a:solidFill>
                            <a:srgbClr val="FF0000"/>
                          </a:solidFill>
                          <a:latin typeface="Times New Roman" panose="02020603050405020304" pitchFamily="18" charset="0"/>
                          <a:ea typeface="黑体" panose="02010609060101010101" pitchFamily="49" charset="-122"/>
                          <a:cs typeface="+mn-cs"/>
                        </a:rPr>
                        <a:t>按照市场变化而在国家计划许可范围内的自由生产是计划生产的补充</a:t>
                      </a:r>
                    </a:p>
                  </a:txBody>
                  <a:tcPr>
                    <a:solidFill>
                      <a:schemeClr val="bg2">
                        <a:lumMod val="20000"/>
                        <a:lumOff val="80000"/>
                      </a:schemeClr>
                    </a:solidFill>
                  </a:tcPr>
                </a:tc>
              </a:tr>
              <a:tr h="1974278">
                <a:tc>
                  <a:txBody>
                    <a:bodyPr/>
                    <a:lstStyle/>
                    <a:p>
                      <a:endParaRPr lang="en-US" altLang="zh-CN" sz="2800" b="1" kern="1200" dirty="0" smtClean="0">
                        <a:solidFill>
                          <a:srgbClr val="0000FF"/>
                        </a:solidFill>
                        <a:latin typeface="Times New Roman" panose="02020603050405020304" pitchFamily="18" charset="0"/>
                        <a:ea typeface="黑体" panose="02010609060101010101" pitchFamily="49" charset="-122"/>
                        <a:cs typeface="+mn-cs"/>
                      </a:endParaRPr>
                    </a:p>
                    <a:p>
                      <a:r>
                        <a:rPr lang="zh-CN" altLang="en-US" sz="2800" b="1" kern="1200" dirty="0" smtClean="0">
                          <a:solidFill>
                            <a:srgbClr val="0000FF"/>
                          </a:solidFill>
                          <a:latin typeface="Times New Roman" panose="02020603050405020304" pitchFamily="18" charset="0"/>
                          <a:ea typeface="黑体" panose="02010609060101010101" pitchFamily="49" charset="-122"/>
                          <a:cs typeface="+mn-cs"/>
                        </a:rPr>
                        <a:t>在市场方面，国家市场是主体</a:t>
                      </a:r>
                      <a:endParaRPr lang="en-US" altLang="zh-CN" dirty="0" smtClean="0"/>
                    </a:p>
                    <a:p>
                      <a:endParaRPr lang="zh-CN" altLang="en-US" dirty="0"/>
                    </a:p>
                  </a:txBody>
                  <a:tcPr>
                    <a:solidFill>
                      <a:schemeClr val="bg2">
                        <a:lumMod val="20000"/>
                        <a:lumOff val="80000"/>
                      </a:schemeClr>
                    </a:solidFill>
                  </a:tcPr>
                </a:tc>
                <a:tc>
                  <a:txBody>
                    <a:bodyPr/>
                    <a:lstStyle/>
                    <a:p>
                      <a:r>
                        <a:rPr lang="zh-CN" altLang="en-US" sz="2800" b="1" kern="1200" dirty="0" smtClean="0">
                          <a:solidFill>
                            <a:srgbClr val="FF0000"/>
                          </a:solidFill>
                          <a:latin typeface="Times New Roman" panose="02020603050405020304" pitchFamily="18" charset="0"/>
                          <a:ea typeface="黑体" panose="02010609060101010101" pitchFamily="49" charset="-122"/>
                          <a:cs typeface="+mn-cs"/>
                        </a:rPr>
                        <a:t>一定范围的国家领导下的自由市场是国家市场的 补充。 </a:t>
                      </a:r>
                    </a:p>
                  </a:txBody>
                  <a:tcPr>
                    <a:solidFill>
                      <a:schemeClr val="bg2">
                        <a:lumMod val="20000"/>
                        <a:lumOff val="80000"/>
                      </a:schemeClr>
                    </a:solidFill>
                  </a:tcPr>
                </a:tc>
              </a:tr>
            </a:tbl>
          </a:graphicData>
        </a:graphic>
      </p:graphicFrame>
      <p:sp>
        <p:nvSpPr>
          <p:cNvPr id="5" name="矩形 4"/>
          <p:cNvSpPr/>
          <p:nvPr/>
        </p:nvSpPr>
        <p:spPr>
          <a:xfrm>
            <a:off x="1928794" y="285728"/>
            <a:ext cx="4892544" cy="584775"/>
          </a:xfrm>
          <a:prstGeom prst="rect">
            <a:avLst/>
          </a:prstGeom>
          <a:solidFill>
            <a:schemeClr val="bg1"/>
          </a:solidFill>
          <a:ln>
            <a:solidFill>
              <a:srgbClr val="FF0000"/>
            </a:solidFill>
          </a:ln>
        </p:spPr>
        <p:txBody>
          <a:bodyPr wrap="square">
            <a:spAutoFit/>
          </a:bodyPr>
          <a:lstStyle/>
          <a:p>
            <a:r>
              <a:rPr lang="zh-CN" altLang="en-US" sz="3200" b="1" dirty="0" smtClean="0">
                <a:latin typeface="Times New Roman" panose="02020603050405020304" pitchFamily="18" charset="0"/>
                <a:ea typeface="黑体" panose="02010609060101010101" pitchFamily="49" charset="-122"/>
              </a:rPr>
              <a:t>三个主体         三个补充</a:t>
            </a:r>
            <a:endParaRPr lang="zh-CN" altLang="en-US" sz="3200" dirty="0"/>
          </a:p>
        </p:txBody>
      </p:sp>
    </p:spTree>
    <p:extLst>
      <p:ext uri="{BB962C8B-B14F-4D97-AF65-F5344CB8AC3E}">
        <p14:creationId xmlns:p14="http://schemas.microsoft.com/office/powerpoint/2010/main" xmlns="" val="2981360341"/>
      </p:ext>
    </p:extLst>
  </p:cSld>
  <p:clrMapOvr>
    <a:masterClrMapping/>
  </p:clrMapOvr>
  <p:transition>
    <p:strips dir="rd"/>
    <p:sndAc>
      <p:stSnd>
        <p:snd r:embed="rId2" name="chimes.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p:cNvSpPr txBox="1">
            <a:spLocks/>
          </p:cNvSpPr>
          <p:nvPr/>
        </p:nvSpPr>
        <p:spPr>
          <a:xfrm>
            <a:off x="683568" y="1556792"/>
            <a:ext cx="6120680" cy="954107"/>
          </a:xfrm>
          <a:prstGeom prst="rect">
            <a:avLst/>
          </a:prstGeom>
          <a:solidFill>
            <a:schemeClr val="bg2"/>
          </a:solidFill>
          <a:ln>
            <a:solidFill>
              <a:srgbClr val="FF0000"/>
            </a:solidFill>
          </a:ln>
        </p:spPr>
        <p:txBody>
          <a:bodyPr vert="horz" wrap="square" rtlCol="0" anchor="ctr">
            <a:spAutoFit/>
          </a:bodyPr>
          <a:lst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algn="l"/>
            <a:r>
              <a:rPr lang="zh-CN" altLang="en-US" sz="2800" b="1" dirty="0" smtClean="0">
                <a:solidFill>
                  <a:srgbClr val="FF0000"/>
                </a:solidFill>
                <a:latin typeface="Times New Roman" panose="02020603050405020304" pitchFamily="18" charset="0"/>
                <a:ea typeface="黑体" panose="02010609060101010101" pitchFamily="49" charset="-122"/>
              </a:rPr>
              <a:t>（一）基本建立独立的、比较完整的工业体系和国民经济体系</a:t>
            </a:r>
            <a:endParaRPr lang="zh-CN" altLang="en-US" sz="2800" dirty="0">
              <a:solidFill>
                <a:srgbClr val="FF0000"/>
              </a:solidFill>
            </a:endParaRPr>
          </a:p>
        </p:txBody>
      </p:sp>
      <p:pic>
        <p:nvPicPr>
          <p:cNvPr id="10242" name="Picture 2" descr="https://timgsa.baidu.com/timg?image&amp;quality=80&amp;size=b9999_10000&amp;sec=1572954011686&amp;di=447a68b6d741ca775417993138e6dced&amp;imgtype=0&amp;src=http%3A%2F%2F1881.img.pp.sohu.com.cn%2Fimages%2Fblog%2F2010%2F9%2F15%2F12%2F5%2F12bc6d8301dg214.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51520" y="3353940"/>
            <a:ext cx="4705350" cy="2828925"/>
          </a:xfrm>
          <a:prstGeom prst="rect">
            <a:avLst/>
          </a:prstGeom>
          <a:noFill/>
          <a:extLst>
            <a:ext uri="{909E8E84-426E-40DD-AFC4-6F175D3DCCD1}">
              <a14:hiddenFill xmlns:a14="http://schemas.microsoft.com/office/drawing/2010/main" xmlns="">
                <a:solidFill>
                  <a:srgbClr val="FFFFFF"/>
                </a:solidFill>
              </a14:hiddenFill>
            </a:ext>
          </a:extLst>
        </p:spPr>
      </p:pic>
      <p:pic>
        <p:nvPicPr>
          <p:cNvPr id="10244" name="Picture 4" descr="https://timgsa.baidu.com/timg?image&amp;quality=80&amp;size=b9999_10000&amp;sec=1572955413457&amp;di=4edc42815ed6c67229f79b9781c0bf62&amp;imgtype=0&amp;src=http%3A%2F%2Fimg.xiangpi.com%2F1%2F6DDD9B79D3117FFC1809EAFC239ED7B7.gif"/>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860032" y="4467225"/>
            <a:ext cx="4552950" cy="2390775"/>
          </a:xfrm>
          <a:prstGeom prst="rect">
            <a:avLst/>
          </a:prstGeom>
          <a:noFill/>
          <a:extLst>
            <a:ext uri="{909E8E84-426E-40DD-AFC4-6F175D3DCCD1}">
              <a14:hiddenFill xmlns:a14="http://schemas.microsoft.com/office/drawing/2010/main" xmlns="">
                <a:solidFill>
                  <a:srgbClr val="FFFFFF"/>
                </a:solidFill>
              </a14:hiddenFill>
            </a:ext>
          </a:extLst>
        </p:spPr>
      </p:pic>
      <p:pic>
        <p:nvPicPr>
          <p:cNvPr id="10246" name="Picture 6" descr="https://timgsa.baidu.com/timg?image&amp;quality=80&amp;size=b9999_10000&amp;sec=1572955413449&amp;di=8655a61cb0f36f0c89155b49969c0bc9&amp;imgtype=0&amp;src=http%3A%2F%2Fh.hiphotos.baidu.com%2Fzhidao%2Fwh%253D450%252C600%2Fsign%3D4ec83178d42a60595245e91e1d0418ad%2Fa8773912b31bb051e7de6e99357adab44bede08d.jpg"/>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4993382" y="2943528"/>
            <a:ext cx="4286250" cy="1581151"/>
          </a:xfrm>
          <a:prstGeom prst="rect">
            <a:avLst/>
          </a:prstGeom>
          <a:noFill/>
          <a:extLst>
            <a:ext uri="{909E8E84-426E-40DD-AFC4-6F175D3DCCD1}">
              <a14:hiddenFill xmlns:a14="http://schemas.microsoft.com/office/drawing/2010/main" xmlns="">
                <a:solidFill>
                  <a:srgbClr val="FFFFFF"/>
                </a:solidFill>
              </a14:hiddenFill>
            </a:ext>
          </a:extLst>
        </p:spPr>
      </p:pic>
      <p:sp>
        <p:nvSpPr>
          <p:cNvPr id="7" name="矩形 6"/>
          <p:cNvSpPr/>
          <p:nvPr/>
        </p:nvSpPr>
        <p:spPr>
          <a:xfrm>
            <a:off x="395536" y="548680"/>
            <a:ext cx="7981672" cy="609398"/>
          </a:xfrm>
          <a:prstGeom prst="rect">
            <a:avLst/>
          </a:prstGeom>
          <a:solidFill>
            <a:schemeClr val="bg2"/>
          </a:solidFill>
          <a:ln>
            <a:solidFill>
              <a:schemeClr val="accent1"/>
            </a:solidFill>
          </a:ln>
        </p:spPr>
        <p:txBody>
          <a:bodyPr wrap="none">
            <a:spAutoFit/>
          </a:bodyPr>
          <a:lstStyle/>
          <a:p>
            <a:pPr>
              <a:lnSpc>
                <a:spcPct val="105000"/>
              </a:lnSpc>
              <a:spcBef>
                <a:spcPct val="50000"/>
              </a:spcBef>
            </a:pPr>
            <a:r>
              <a:rPr lang="zh-CN" altLang="en-US" sz="3200" b="1" noProof="1" smtClean="0">
                <a:solidFill>
                  <a:srgbClr val="FF0000"/>
                </a:solidFill>
                <a:latin typeface="华文琥珀" pitchFamily="2" charset="-122"/>
                <a:ea typeface="华文琥珀" pitchFamily="2" charset="-122"/>
              </a:rPr>
              <a:t>三、社会主义建设道路探索时期取得的成就</a:t>
            </a:r>
            <a:endParaRPr lang="en-US" altLang="zh-CN" sz="3200" b="1" noProof="1" smtClean="0">
              <a:solidFill>
                <a:srgbClr val="FF0000"/>
              </a:solidFill>
              <a:latin typeface="华文琥珀" pitchFamily="2" charset="-122"/>
              <a:ea typeface="华文琥珀" pitchFamily="2" charset="-122"/>
            </a:endParaRPr>
          </a:p>
        </p:txBody>
      </p:sp>
    </p:spTree>
    <p:extLst>
      <p:ext uri="{BB962C8B-B14F-4D97-AF65-F5344CB8AC3E}">
        <p14:creationId xmlns:p14="http://schemas.microsoft.com/office/powerpoint/2010/main" xmlns="" val="2264968561"/>
      </p:ext>
    </p:extLst>
  </p:cSld>
  <p:clrMapOvr>
    <a:masterClrMapping/>
  </p:clrMapOvr>
  <p:transition>
    <p:strips dir="rd"/>
    <p:sndAc>
      <p:stSnd>
        <p:snd r:embed="rId2" name="chimes.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971600" y="1052736"/>
            <a:ext cx="6120680" cy="523220"/>
          </a:xfrm>
          <a:prstGeom prst="rect">
            <a:avLst/>
          </a:prstGeom>
          <a:solidFill>
            <a:schemeClr val="bg1"/>
          </a:solidFill>
          <a:ln>
            <a:solidFill>
              <a:srgbClr val="FF0000"/>
            </a:solidFill>
          </a:ln>
        </p:spPr>
        <p:txBody>
          <a:bodyPr wrap="square">
            <a:spAutoFit/>
          </a:bodyPr>
          <a:lstStyle/>
          <a:p>
            <a:pPr algn="l"/>
            <a:r>
              <a:rPr lang="zh-CN" altLang="en-US" sz="2800" b="1" dirty="0" smtClean="0">
                <a:solidFill>
                  <a:srgbClr val="FF0000"/>
                </a:solidFill>
                <a:latin typeface="Times New Roman" panose="02020603050405020304" pitchFamily="18" charset="0"/>
                <a:ea typeface="黑体" panose="02010609060101010101" pitchFamily="49" charset="-122"/>
              </a:rPr>
              <a:t>工农业产品产量在世界排名明显提前</a:t>
            </a:r>
            <a:endParaRPr lang="zh-CN" altLang="en-US" sz="2800" dirty="0">
              <a:solidFill>
                <a:srgbClr val="FF0000"/>
              </a:solidFill>
            </a:endParaRPr>
          </a:p>
        </p:txBody>
      </p:sp>
      <p:graphicFrame>
        <p:nvGraphicFramePr>
          <p:cNvPr id="5" name="内容占位符 4"/>
          <p:cNvGraphicFramePr>
            <a:graphicFrameLocks noGrp="1"/>
          </p:cNvGraphicFramePr>
          <p:nvPr>
            <p:ph idx="1"/>
            <p:extLst>
              <p:ext uri="{D42A27DB-BD31-4B8C-83A1-F6EECF244321}">
                <p14:modId xmlns:p14="http://schemas.microsoft.com/office/powerpoint/2010/main" xmlns="" val="3465315912"/>
              </p:ext>
            </p:extLst>
          </p:nvPr>
        </p:nvGraphicFramePr>
        <p:xfrm>
          <a:off x="539552" y="2132856"/>
          <a:ext cx="8229600" cy="2142231"/>
        </p:xfrm>
        <a:graphic>
          <a:graphicData uri="http://schemas.openxmlformats.org/drawingml/2006/table">
            <a:tbl>
              <a:tblPr firstRow="1" bandRow="1">
                <a:tableStyleId>{5C22544A-7EE6-4342-B048-85BDC9FD1C3A}</a:tableStyleId>
              </a:tblPr>
              <a:tblGrid>
                <a:gridCol w="1028700"/>
                <a:gridCol w="1028700"/>
                <a:gridCol w="1028700"/>
                <a:gridCol w="1028700"/>
                <a:gridCol w="1028700"/>
                <a:gridCol w="1028700"/>
                <a:gridCol w="1028700"/>
                <a:gridCol w="1028700"/>
              </a:tblGrid>
              <a:tr h="658871">
                <a:tc>
                  <a:txBody>
                    <a:bodyPr/>
                    <a:lstStyle/>
                    <a:p>
                      <a:endParaRPr lang="zh-CN" altLang="en-US" dirty="0">
                        <a:solidFill>
                          <a:srgbClr val="FFFF00"/>
                        </a:solidFill>
                      </a:endParaRPr>
                    </a:p>
                  </a:txBody>
                  <a:tcPr>
                    <a:solidFill>
                      <a:srgbClr val="0070C0"/>
                    </a:solidFill>
                  </a:tcPr>
                </a:tc>
                <a:tc>
                  <a:txBody>
                    <a:bodyPr/>
                    <a:lstStyle/>
                    <a:p>
                      <a:r>
                        <a:rPr lang="zh-CN" altLang="en-US" dirty="0" smtClean="0">
                          <a:solidFill>
                            <a:srgbClr val="FFFF00"/>
                          </a:solidFill>
                        </a:rPr>
                        <a:t>钢铁</a:t>
                      </a:r>
                      <a:endParaRPr lang="zh-CN" altLang="en-US" dirty="0">
                        <a:solidFill>
                          <a:srgbClr val="FFFF00"/>
                        </a:solidFill>
                      </a:endParaRPr>
                    </a:p>
                  </a:txBody>
                  <a:tcPr>
                    <a:solidFill>
                      <a:srgbClr val="0070C0"/>
                    </a:solidFill>
                  </a:tcPr>
                </a:tc>
                <a:tc>
                  <a:txBody>
                    <a:bodyPr/>
                    <a:lstStyle/>
                    <a:p>
                      <a:r>
                        <a:rPr lang="zh-CN" altLang="en-US" dirty="0" smtClean="0">
                          <a:solidFill>
                            <a:srgbClr val="FFFF00"/>
                          </a:solidFill>
                        </a:rPr>
                        <a:t>商品煤</a:t>
                      </a:r>
                      <a:endParaRPr lang="zh-CN" altLang="en-US" dirty="0">
                        <a:solidFill>
                          <a:srgbClr val="FFFF00"/>
                        </a:solidFill>
                      </a:endParaRPr>
                    </a:p>
                  </a:txBody>
                  <a:tcPr>
                    <a:solidFill>
                      <a:srgbClr val="0070C0"/>
                    </a:solidFill>
                  </a:tcPr>
                </a:tc>
                <a:tc>
                  <a:txBody>
                    <a:bodyPr/>
                    <a:lstStyle/>
                    <a:p>
                      <a:r>
                        <a:rPr lang="zh-CN" altLang="en-US" dirty="0" smtClean="0">
                          <a:solidFill>
                            <a:srgbClr val="FFFF00"/>
                          </a:solidFill>
                        </a:rPr>
                        <a:t>石油</a:t>
                      </a:r>
                      <a:endParaRPr lang="zh-CN" altLang="en-US" dirty="0">
                        <a:solidFill>
                          <a:srgbClr val="FFFF00"/>
                        </a:solidFill>
                      </a:endParaRPr>
                    </a:p>
                  </a:txBody>
                  <a:tcPr>
                    <a:solidFill>
                      <a:srgbClr val="0070C0"/>
                    </a:solidFill>
                  </a:tcPr>
                </a:tc>
                <a:tc>
                  <a:txBody>
                    <a:bodyPr/>
                    <a:lstStyle/>
                    <a:p>
                      <a:r>
                        <a:rPr lang="zh-CN" altLang="en-US" dirty="0" smtClean="0">
                          <a:solidFill>
                            <a:srgbClr val="FFFF00"/>
                          </a:solidFill>
                        </a:rPr>
                        <a:t>发电量</a:t>
                      </a:r>
                      <a:endParaRPr lang="zh-CN" altLang="en-US" dirty="0">
                        <a:solidFill>
                          <a:srgbClr val="FFFF00"/>
                        </a:solidFill>
                      </a:endParaRPr>
                    </a:p>
                  </a:txBody>
                  <a:tcPr>
                    <a:solidFill>
                      <a:srgbClr val="0070C0"/>
                    </a:solidFill>
                  </a:tcPr>
                </a:tc>
                <a:tc>
                  <a:txBody>
                    <a:bodyPr/>
                    <a:lstStyle/>
                    <a:p>
                      <a:r>
                        <a:rPr lang="zh-CN" altLang="en-US" dirty="0" smtClean="0">
                          <a:solidFill>
                            <a:srgbClr val="FFFF00"/>
                          </a:solidFill>
                        </a:rPr>
                        <a:t>化肥</a:t>
                      </a:r>
                      <a:endParaRPr lang="zh-CN" altLang="en-US" dirty="0">
                        <a:solidFill>
                          <a:srgbClr val="FFFF00"/>
                        </a:solidFill>
                      </a:endParaRPr>
                    </a:p>
                  </a:txBody>
                  <a:tcPr>
                    <a:solidFill>
                      <a:srgbClr val="0070C0"/>
                    </a:solidFill>
                  </a:tcPr>
                </a:tc>
                <a:tc>
                  <a:txBody>
                    <a:bodyPr/>
                    <a:lstStyle/>
                    <a:p>
                      <a:r>
                        <a:rPr lang="zh-CN" altLang="en-US" dirty="0" smtClean="0">
                          <a:solidFill>
                            <a:srgbClr val="FFFF00"/>
                          </a:solidFill>
                        </a:rPr>
                        <a:t>水泥</a:t>
                      </a:r>
                      <a:endParaRPr lang="zh-CN" altLang="en-US" dirty="0">
                        <a:solidFill>
                          <a:srgbClr val="FFFF00"/>
                        </a:solidFill>
                      </a:endParaRPr>
                    </a:p>
                  </a:txBody>
                  <a:tcPr>
                    <a:solidFill>
                      <a:srgbClr val="0070C0"/>
                    </a:solidFill>
                  </a:tcPr>
                </a:tc>
                <a:tc>
                  <a:txBody>
                    <a:bodyPr/>
                    <a:lstStyle/>
                    <a:p>
                      <a:r>
                        <a:rPr lang="zh-CN" altLang="en-US" dirty="0" smtClean="0">
                          <a:solidFill>
                            <a:srgbClr val="FFFF00"/>
                          </a:solidFill>
                        </a:rPr>
                        <a:t>棉布</a:t>
                      </a:r>
                      <a:endParaRPr lang="zh-CN" altLang="en-US" dirty="0">
                        <a:solidFill>
                          <a:srgbClr val="FFFF00"/>
                        </a:solidFill>
                      </a:endParaRPr>
                    </a:p>
                  </a:txBody>
                  <a:tcPr>
                    <a:solidFill>
                      <a:srgbClr val="0070C0"/>
                    </a:solidFill>
                  </a:tcPr>
                </a:tc>
              </a:tr>
              <a:tr h="370840">
                <a:tc>
                  <a:txBody>
                    <a:bodyPr/>
                    <a:lstStyle/>
                    <a:p>
                      <a:r>
                        <a:rPr lang="en-US" altLang="zh-CN" dirty="0" smtClean="0">
                          <a:solidFill>
                            <a:srgbClr val="FFFF00"/>
                          </a:solidFill>
                        </a:rPr>
                        <a:t>1949</a:t>
                      </a:r>
                      <a:endParaRPr lang="zh-CN" altLang="en-US" dirty="0">
                        <a:solidFill>
                          <a:srgbClr val="FFFF00"/>
                        </a:solidFill>
                      </a:endParaRPr>
                    </a:p>
                  </a:txBody>
                  <a:tcPr>
                    <a:solidFill>
                      <a:srgbClr val="0070C0"/>
                    </a:solidFill>
                  </a:tcPr>
                </a:tc>
                <a:tc>
                  <a:txBody>
                    <a:bodyPr/>
                    <a:lstStyle/>
                    <a:p>
                      <a:r>
                        <a:rPr lang="en-US" altLang="zh-CN" dirty="0" smtClean="0">
                          <a:solidFill>
                            <a:srgbClr val="FFFF00"/>
                          </a:solidFill>
                        </a:rPr>
                        <a:t>26</a:t>
                      </a:r>
                      <a:endParaRPr lang="zh-CN" altLang="en-US" dirty="0">
                        <a:solidFill>
                          <a:srgbClr val="FFFF00"/>
                        </a:solidFill>
                      </a:endParaRPr>
                    </a:p>
                  </a:txBody>
                  <a:tcPr>
                    <a:solidFill>
                      <a:srgbClr val="0070C0"/>
                    </a:solidFill>
                  </a:tcPr>
                </a:tc>
                <a:tc>
                  <a:txBody>
                    <a:bodyPr/>
                    <a:lstStyle/>
                    <a:p>
                      <a:r>
                        <a:rPr lang="en-US" altLang="zh-CN" dirty="0" smtClean="0">
                          <a:solidFill>
                            <a:srgbClr val="FFFF00"/>
                          </a:solidFill>
                        </a:rPr>
                        <a:t>9</a:t>
                      </a:r>
                      <a:endParaRPr lang="zh-CN" altLang="en-US" dirty="0">
                        <a:solidFill>
                          <a:srgbClr val="FFFF00"/>
                        </a:solidFill>
                      </a:endParaRPr>
                    </a:p>
                  </a:txBody>
                  <a:tcPr>
                    <a:solidFill>
                      <a:srgbClr val="0070C0"/>
                    </a:solidFill>
                  </a:tcPr>
                </a:tc>
                <a:tc>
                  <a:txBody>
                    <a:bodyPr/>
                    <a:lstStyle/>
                    <a:p>
                      <a:r>
                        <a:rPr lang="en-US" altLang="zh-CN" dirty="0" smtClean="0">
                          <a:solidFill>
                            <a:srgbClr val="FFFF00"/>
                          </a:solidFill>
                        </a:rPr>
                        <a:t>27</a:t>
                      </a:r>
                      <a:endParaRPr lang="zh-CN" altLang="en-US" dirty="0">
                        <a:solidFill>
                          <a:srgbClr val="FFFF00"/>
                        </a:solidFill>
                      </a:endParaRPr>
                    </a:p>
                  </a:txBody>
                  <a:tcPr>
                    <a:solidFill>
                      <a:srgbClr val="0070C0"/>
                    </a:solidFill>
                  </a:tcPr>
                </a:tc>
                <a:tc>
                  <a:txBody>
                    <a:bodyPr/>
                    <a:lstStyle/>
                    <a:p>
                      <a:r>
                        <a:rPr lang="en-US" altLang="zh-CN" dirty="0" smtClean="0">
                          <a:solidFill>
                            <a:srgbClr val="FFFF00"/>
                          </a:solidFill>
                        </a:rPr>
                        <a:t>25</a:t>
                      </a:r>
                      <a:endParaRPr lang="zh-CN" altLang="en-US" dirty="0">
                        <a:solidFill>
                          <a:srgbClr val="FFFF00"/>
                        </a:solidFill>
                      </a:endParaRPr>
                    </a:p>
                  </a:txBody>
                  <a:tcPr>
                    <a:solidFill>
                      <a:srgbClr val="0070C0"/>
                    </a:solidFill>
                  </a:tcPr>
                </a:tc>
                <a:tc>
                  <a:txBody>
                    <a:bodyPr/>
                    <a:lstStyle/>
                    <a:p>
                      <a:endParaRPr lang="zh-CN" altLang="en-US">
                        <a:solidFill>
                          <a:srgbClr val="FFFF00"/>
                        </a:solidFill>
                      </a:endParaRPr>
                    </a:p>
                  </a:txBody>
                  <a:tcPr>
                    <a:solidFill>
                      <a:srgbClr val="0070C0"/>
                    </a:solidFill>
                  </a:tcPr>
                </a:tc>
                <a:tc>
                  <a:txBody>
                    <a:bodyPr/>
                    <a:lstStyle/>
                    <a:p>
                      <a:endParaRPr lang="zh-CN" altLang="en-US">
                        <a:solidFill>
                          <a:srgbClr val="FFFF00"/>
                        </a:solidFill>
                      </a:endParaRPr>
                    </a:p>
                  </a:txBody>
                  <a:tcPr>
                    <a:solidFill>
                      <a:srgbClr val="0070C0"/>
                    </a:solidFill>
                  </a:tcPr>
                </a:tc>
                <a:tc>
                  <a:txBody>
                    <a:bodyPr/>
                    <a:lstStyle/>
                    <a:p>
                      <a:endParaRPr lang="zh-CN" altLang="en-US">
                        <a:solidFill>
                          <a:srgbClr val="FFFF00"/>
                        </a:solidFill>
                      </a:endParaRPr>
                    </a:p>
                  </a:txBody>
                  <a:tcPr>
                    <a:solidFill>
                      <a:srgbClr val="0070C0"/>
                    </a:solidFill>
                  </a:tcPr>
                </a:tc>
              </a:tr>
              <a:tr h="370840">
                <a:tc>
                  <a:txBody>
                    <a:bodyPr/>
                    <a:lstStyle/>
                    <a:p>
                      <a:r>
                        <a:rPr lang="en-US" altLang="zh-CN" dirty="0" smtClean="0">
                          <a:solidFill>
                            <a:srgbClr val="FFFF00"/>
                          </a:solidFill>
                        </a:rPr>
                        <a:t>1957</a:t>
                      </a:r>
                      <a:endParaRPr lang="zh-CN" altLang="en-US" dirty="0">
                        <a:solidFill>
                          <a:srgbClr val="FFFF00"/>
                        </a:solidFill>
                      </a:endParaRPr>
                    </a:p>
                  </a:txBody>
                  <a:tcPr>
                    <a:solidFill>
                      <a:srgbClr val="0070C0"/>
                    </a:solidFill>
                  </a:tcPr>
                </a:tc>
                <a:tc>
                  <a:txBody>
                    <a:bodyPr/>
                    <a:lstStyle/>
                    <a:p>
                      <a:r>
                        <a:rPr lang="en-US" altLang="zh-CN" dirty="0" smtClean="0">
                          <a:solidFill>
                            <a:srgbClr val="FFFF00"/>
                          </a:solidFill>
                        </a:rPr>
                        <a:t>9</a:t>
                      </a:r>
                      <a:endParaRPr lang="zh-CN" altLang="en-US" dirty="0">
                        <a:solidFill>
                          <a:srgbClr val="FFFF00"/>
                        </a:solidFill>
                      </a:endParaRPr>
                    </a:p>
                  </a:txBody>
                  <a:tcPr>
                    <a:solidFill>
                      <a:srgbClr val="0070C0"/>
                    </a:solidFill>
                  </a:tcPr>
                </a:tc>
                <a:tc>
                  <a:txBody>
                    <a:bodyPr/>
                    <a:lstStyle/>
                    <a:p>
                      <a:r>
                        <a:rPr lang="en-US" altLang="zh-CN" dirty="0" smtClean="0">
                          <a:solidFill>
                            <a:srgbClr val="FFFF00"/>
                          </a:solidFill>
                        </a:rPr>
                        <a:t>5</a:t>
                      </a:r>
                      <a:endParaRPr lang="zh-CN" altLang="en-US" dirty="0">
                        <a:solidFill>
                          <a:srgbClr val="FFFF00"/>
                        </a:solidFill>
                      </a:endParaRPr>
                    </a:p>
                  </a:txBody>
                  <a:tcPr>
                    <a:solidFill>
                      <a:srgbClr val="0070C0"/>
                    </a:solidFill>
                  </a:tcPr>
                </a:tc>
                <a:tc>
                  <a:txBody>
                    <a:bodyPr/>
                    <a:lstStyle/>
                    <a:p>
                      <a:r>
                        <a:rPr lang="en-US" altLang="zh-CN" dirty="0" smtClean="0">
                          <a:solidFill>
                            <a:srgbClr val="FFFF00"/>
                          </a:solidFill>
                        </a:rPr>
                        <a:t>23</a:t>
                      </a:r>
                      <a:endParaRPr lang="zh-CN" altLang="en-US" dirty="0">
                        <a:solidFill>
                          <a:srgbClr val="FFFF00"/>
                        </a:solidFill>
                      </a:endParaRPr>
                    </a:p>
                  </a:txBody>
                  <a:tcPr>
                    <a:solidFill>
                      <a:srgbClr val="0070C0"/>
                    </a:solidFill>
                  </a:tcPr>
                </a:tc>
                <a:tc>
                  <a:txBody>
                    <a:bodyPr/>
                    <a:lstStyle/>
                    <a:p>
                      <a:r>
                        <a:rPr lang="en-US" altLang="zh-CN" dirty="0" smtClean="0">
                          <a:solidFill>
                            <a:srgbClr val="FFFF00"/>
                          </a:solidFill>
                        </a:rPr>
                        <a:t>13</a:t>
                      </a:r>
                      <a:endParaRPr lang="zh-CN" altLang="en-US" dirty="0">
                        <a:solidFill>
                          <a:srgbClr val="FFFF00"/>
                        </a:solidFill>
                      </a:endParaRPr>
                    </a:p>
                  </a:txBody>
                  <a:tcPr>
                    <a:solidFill>
                      <a:srgbClr val="0070C0"/>
                    </a:solidFill>
                  </a:tcPr>
                </a:tc>
                <a:tc>
                  <a:txBody>
                    <a:bodyPr/>
                    <a:lstStyle/>
                    <a:p>
                      <a:endParaRPr lang="zh-CN" altLang="en-US">
                        <a:solidFill>
                          <a:srgbClr val="FFFF00"/>
                        </a:solidFill>
                      </a:endParaRPr>
                    </a:p>
                  </a:txBody>
                  <a:tcPr>
                    <a:solidFill>
                      <a:srgbClr val="0070C0"/>
                    </a:solidFill>
                  </a:tcPr>
                </a:tc>
                <a:tc>
                  <a:txBody>
                    <a:bodyPr/>
                    <a:lstStyle/>
                    <a:p>
                      <a:endParaRPr lang="zh-CN" altLang="en-US">
                        <a:solidFill>
                          <a:srgbClr val="FFFF00"/>
                        </a:solidFill>
                      </a:endParaRPr>
                    </a:p>
                  </a:txBody>
                  <a:tcPr>
                    <a:solidFill>
                      <a:srgbClr val="0070C0"/>
                    </a:solidFill>
                  </a:tcPr>
                </a:tc>
                <a:tc>
                  <a:txBody>
                    <a:bodyPr/>
                    <a:lstStyle/>
                    <a:p>
                      <a:endParaRPr lang="zh-CN" altLang="en-US">
                        <a:solidFill>
                          <a:srgbClr val="FFFF00"/>
                        </a:solidFill>
                      </a:endParaRPr>
                    </a:p>
                  </a:txBody>
                  <a:tcPr>
                    <a:solidFill>
                      <a:srgbClr val="0070C0"/>
                    </a:solidFill>
                  </a:tcPr>
                </a:tc>
              </a:tr>
              <a:tr h="370840">
                <a:tc>
                  <a:txBody>
                    <a:bodyPr/>
                    <a:lstStyle/>
                    <a:p>
                      <a:r>
                        <a:rPr lang="en-US" altLang="zh-CN" dirty="0" smtClean="0">
                          <a:solidFill>
                            <a:srgbClr val="FFFF00"/>
                          </a:solidFill>
                        </a:rPr>
                        <a:t>1960</a:t>
                      </a:r>
                      <a:endParaRPr lang="zh-CN" altLang="en-US" dirty="0">
                        <a:solidFill>
                          <a:srgbClr val="FFFF00"/>
                        </a:solidFill>
                      </a:endParaRPr>
                    </a:p>
                  </a:txBody>
                  <a:tcPr>
                    <a:solidFill>
                      <a:srgbClr val="0070C0"/>
                    </a:solidFill>
                  </a:tcPr>
                </a:tc>
                <a:tc>
                  <a:txBody>
                    <a:bodyPr/>
                    <a:lstStyle/>
                    <a:p>
                      <a:endParaRPr lang="zh-CN" altLang="en-US" dirty="0">
                        <a:solidFill>
                          <a:srgbClr val="FFFF00"/>
                        </a:solidFill>
                      </a:endParaRPr>
                    </a:p>
                  </a:txBody>
                  <a:tcPr>
                    <a:solidFill>
                      <a:srgbClr val="0070C0"/>
                    </a:solidFill>
                  </a:tcPr>
                </a:tc>
                <a:tc>
                  <a:txBody>
                    <a:bodyPr/>
                    <a:lstStyle/>
                    <a:p>
                      <a:endParaRPr lang="zh-CN" altLang="en-US">
                        <a:solidFill>
                          <a:srgbClr val="FFFF00"/>
                        </a:solidFill>
                      </a:endParaRPr>
                    </a:p>
                  </a:txBody>
                  <a:tcPr>
                    <a:solidFill>
                      <a:srgbClr val="0070C0"/>
                    </a:solidFill>
                  </a:tcPr>
                </a:tc>
                <a:tc>
                  <a:txBody>
                    <a:bodyPr/>
                    <a:lstStyle/>
                    <a:p>
                      <a:endParaRPr lang="zh-CN" altLang="en-US">
                        <a:solidFill>
                          <a:srgbClr val="FFFF00"/>
                        </a:solidFill>
                      </a:endParaRPr>
                    </a:p>
                  </a:txBody>
                  <a:tcPr>
                    <a:solidFill>
                      <a:srgbClr val="0070C0"/>
                    </a:solidFill>
                  </a:tcPr>
                </a:tc>
                <a:tc>
                  <a:txBody>
                    <a:bodyPr/>
                    <a:lstStyle/>
                    <a:p>
                      <a:endParaRPr lang="zh-CN" altLang="en-US">
                        <a:solidFill>
                          <a:srgbClr val="FFFF00"/>
                        </a:solidFill>
                      </a:endParaRPr>
                    </a:p>
                  </a:txBody>
                  <a:tcPr>
                    <a:solidFill>
                      <a:srgbClr val="0070C0"/>
                    </a:solidFill>
                  </a:tcPr>
                </a:tc>
                <a:tc>
                  <a:txBody>
                    <a:bodyPr/>
                    <a:lstStyle/>
                    <a:p>
                      <a:r>
                        <a:rPr lang="en-US" altLang="zh-CN" dirty="0" smtClean="0">
                          <a:solidFill>
                            <a:srgbClr val="FFFF00"/>
                          </a:solidFill>
                        </a:rPr>
                        <a:t>33</a:t>
                      </a:r>
                      <a:endParaRPr lang="zh-CN" altLang="en-US" dirty="0">
                        <a:solidFill>
                          <a:srgbClr val="FFFF00"/>
                        </a:solidFill>
                      </a:endParaRPr>
                    </a:p>
                  </a:txBody>
                  <a:tcPr>
                    <a:solidFill>
                      <a:srgbClr val="0070C0"/>
                    </a:solidFill>
                  </a:tcPr>
                </a:tc>
                <a:tc>
                  <a:txBody>
                    <a:bodyPr/>
                    <a:lstStyle/>
                    <a:p>
                      <a:r>
                        <a:rPr lang="en-US" altLang="zh-CN" dirty="0" smtClean="0">
                          <a:solidFill>
                            <a:srgbClr val="FFFF00"/>
                          </a:solidFill>
                        </a:rPr>
                        <a:t>8</a:t>
                      </a:r>
                      <a:endParaRPr lang="zh-CN" altLang="en-US" dirty="0">
                        <a:solidFill>
                          <a:srgbClr val="FFFF00"/>
                        </a:solidFill>
                      </a:endParaRPr>
                    </a:p>
                  </a:txBody>
                  <a:tcPr>
                    <a:solidFill>
                      <a:srgbClr val="0070C0"/>
                    </a:solidFill>
                  </a:tcPr>
                </a:tc>
                <a:tc>
                  <a:txBody>
                    <a:bodyPr/>
                    <a:lstStyle/>
                    <a:p>
                      <a:r>
                        <a:rPr lang="en-US" altLang="zh-CN" dirty="0" smtClean="0">
                          <a:solidFill>
                            <a:srgbClr val="FFFF00"/>
                          </a:solidFill>
                        </a:rPr>
                        <a:t>3</a:t>
                      </a:r>
                      <a:endParaRPr lang="zh-CN" altLang="en-US" dirty="0">
                        <a:solidFill>
                          <a:srgbClr val="FFFF00"/>
                        </a:solidFill>
                      </a:endParaRPr>
                    </a:p>
                  </a:txBody>
                  <a:tcPr>
                    <a:solidFill>
                      <a:srgbClr val="0070C0"/>
                    </a:solidFill>
                  </a:tcPr>
                </a:tc>
              </a:tr>
              <a:tr h="370840">
                <a:tc>
                  <a:txBody>
                    <a:bodyPr/>
                    <a:lstStyle/>
                    <a:p>
                      <a:r>
                        <a:rPr lang="en-US" altLang="zh-CN" dirty="0" smtClean="0">
                          <a:solidFill>
                            <a:srgbClr val="FFFF00"/>
                          </a:solidFill>
                        </a:rPr>
                        <a:t>1978</a:t>
                      </a:r>
                      <a:endParaRPr lang="zh-CN" altLang="en-US" dirty="0">
                        <a:solidFill>
                          <a:srgbClr val="FFFF00"/>
                        </a:solidFill>
                      </a:endParaRPr>
                    </a:p>
                  </a:txBody>
                  <a:tcPr>
                    <a:solidFill>
                      <a:srgbClr val="0070C0"/>
                    </a:solidFill>
                  </a:tcPr>
                </a:tc>
                <a:tc>
                  <a:txBody>
                    <a:bodyPr/>
                    <a:lstStyle/>
                    <a:p>
                      <a:r>
                        <a:rPr lang="en-US" altLang="zh-CN" dirty="0" smtClean="0">
                          <a:solidFill>
                            <a:srgbClr val="FFFF00"/>
                          </a:solidFill>
                        </a:rPr>
                        <a:t>5</a:t>
                      </a:r>
                      <a:endParaRPr lang="zh-CN" altLang="en-US" dirty="0">
                        <a:solidFill>
                          <a:srgbClr val="FFFF00"/>
                        </a:solidFill>
                      </a:endParaRPr>
                    </a:p>
                  </a:txBody>
                  <a:tcPr>
                    <a:solidFill>
                      <a:srgbClr val="0070C0"/>
                    </a:solidFill>
                  </a:tcPr>
                </a:tc>
                <a:tc>
                  <a:txBody>
                    <a:bodyPr/>
                    <a:lstStyle/>
                    <a:p>
                      <a:r>
                        <a:rPr lang="en-US" altLang="zh-CN" dirty="0" smtClean="0">
                          <a:solidFill>
                            <a:srgbClr val="FFFF00"/>
                          </a:solidFill>
                        </a:rPr>
                        <a:t>3</a:t>
                      </a:r>
                      <a:endParaRPr lang="zh-CN" altLang="en-US" dirty="0">
                        <a:solidFill>
                          <a:srgbClr val="FFFF00"/>
                        </a:solidFill>
                      </a:endParaRPr>
                    </a:p>
                  </a:txBody>
                  <a:tcPr>
                    <a:solidFill>
                      <a:srgbClr val="0070C0"/>
                    </a:solidFill>
                  </a:tcPr>
                </a:tc>
                <a:tc>
                  <a:txBody>
                    <a:bodyPr/>
                    <a:lstStyle/>
                    <a:p>
                      <a:r>
                        <a:rPr lang="en-US" altLang="zh-CN" dirty="0" smtClean="0">
                          <a:solidFill>
                            <a:srgbClr val="FFFF00"/>
                          </a:solidFill>
                        </a:rPr>
                        <a:t>8</a:t>
                      </a:r>
                      <a:endParaRPr lang="zh-CN" altLang="en-US" dirty="0">
                        <a:solidFill>
                          <a:srgbClr val="FFFF00"/>
                        </a:solidFill>
                      </a:endParaRPr>
                    </a:p>
                  </a:txBody>
                  <a:tcPr>
                    <a:solidFill>
                      <a:srgbClr val="0070C0"/>
                    </a:solidFill>
                  </a:tcPr>
                </a:tc>
                <a:tc>
                  <a:txBody>
                    <a:bodyPr/>
                    <a:lstStyle/>
                    <a:p>
                      <a:r>
                        <a:rPr lang="en-US" altLang="zh-CN" dirty="0" smtClean="0">
                          <a:solidFill>
                            <a:srgbClr val="FFFF00"/>
                          </a:solidFill>
                        </a:rPr>
                        <a:t>7</a:t>
                      </a:r>
                      <a:endParaRPr lang="zh-CN" altLang="en-US" dirty="0">
                        <a:solidFill>
                          <a:srgbClr val="FFFF00"/>
                        </a:solidFill>
                      </a:endParaRPr>
                    </a:p>
                  </a:txBody>
                  <a:tcPr>
                    <a:solidFill>
                      <a:srgbClr val="0070C0"/>
                    </a:solidFill>
                  </a:tcPr>
                </a:tc>
                <a:tc>
                  <a:txBody>
                    <a:bodyPr/>
                    <a:lstStyle/>
                    <a:p>
                      <a:r>
                        <a:rPr lang="en-US" altLang="zh-CN" dirty="0" smtClean="0">
                          <a:solidFill>
                            <a:srgbClr val="FFFF00"/>
                          </a:solidFill>
                        </a:rPr>
                        <a:t>3</a:t>
                      </a:r>
                      <a:endParaRPr lang="zh-CN" altLang="en-US" dirty="0">
                        <a:solidFill>
                          <a:srgbClr val="FFFF00"/>
                        </a:solidFill>
                      </a:endParaRPr>
                    </a:p>
                  </a:txBody>
                  <a:tcPr>
                    <a:solidFill>
                      <a:srgbClr val="0070C0"/>
                    </a:solidFill>
                  </a:tcPr>
                </a:tc>
                <a:tc>
                  <a:txBody>
                    <a:bodyPr/>
                    <a:lstStyle/>
                    <a:p>
                      <a:r>
                        <a:rPr lang="en-US" altLang="zh-CN" dirty="0" smtClean="0">
                          <a:solidFill>
                            <a:srgbClr val="FFFF00"/>
                          </a:solidFill>
                        </a:rPr>
                        <a:t>4</a:t>
                      </a:r>
                      <a:endParaRPr lang="zh-CN" altLang="en-US" dirty="0">
                        <a:solidFill>
                          <a:srgbClr val="FFFF00"/>
                        </a:solidFill>
                      </a:endParaRPr>
                    </a:p>
                  </a:txBody>
                  <a:tcPr>
                    <a:solidFill>
                      <a:srgbClr val="0070C0"/>
                    </a:solidFill>
                  </a:tcPr>
                </a:tc>
                <a:tc>
                  <a:txBody>
                    <a:bodyPr/>
                    <a:lstStyle/>
                    <a:p>
                      <a:r>
                        <a:rPr lang="en-US" altLang="zh-CN" dirty="0" smtClean="0">
                          <a:solidFill>
                            <a:srgbClr val="FFFF00"/>
                          </a:solidFill>
                        </a:rPr>
                        <a:t>1</a:t>
                      </a:r>
                      <a:endParaRPr lang="zh-CN" altLang="en-US" dirty="0">
                        <a:solidFill>
                          <a:srgbClr val="FFFF00"/>
                        </a:solidFill>
                      </a:endParaRPr>
                    </a:p>
                  </a:txBody>
                  <a:tcPr>
                    <a:solidFill>
                      <a:srgbClr val="0070C0"/>
                    </a:solidFill>
                  </a:tcPr>
                </a:tc>
              </a:tr>
            </a:tbl>
          </a:graphicData>
        </a:graphic>
      </p:graphicFrame>
    </p:spTree>
    <p:extLst>
      <p:ext uri="{BB962C8B-B14F-4D97-AF65-F5344CB8AC3E}">
        <p14:creationId xmlns:p14="http://schemas.microsoft.com/office/powerpoint/2010/main" xmlns="" val="474205706"/>
      </p:ext>
    </p:extLst>
  </p:cSld>
  <p:clrMapOvr>
    <a:masterClrMapping/>
  </p:clrMapOvr>
  <p:transition>
    <p:strips dir="rd"/>
    <p:sndAc>
      <p:stSnd>
        <p:snd r:embed="rId2" name="chimes.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27584" y="692696"/>
            <a:ext cx="4392488" cy="523220"/>
          </a:xfrm>
          <a:prstGeom prst="rect">
            <a:avLst/>
          </a:prstGeom>
          <a:solidFill>
            <a:schemeClr val="bg2"/>
          </a:solidFill>
          <a:ln>
            <a:solidFill>
              <a:srgbClr val="FF0000"/>
            </a:solidFill>
          </a:ln>
        </p:spPr>
        <p:txBody>
          <a:bodyPr wrap="square">
            <a:spAutoFit/>
          </a:bodyPr>
          <a:lstStyle/>
          <a:p>
            <a:pPr algn="l"/>
            <a:r>
              <a:rPr lang="zh-CN" altLang="en-US" sz="2800" dirty="0" smtClean="0">
                <a:solidFill>
                  <a:srgbClr val="FF0000"/>
                </a:solidFill>
              </a:rPr>
              <a:t>国民经济实力显著增强</a:t>
            </a:r>
            <a:endParaRPr lang="zh-CN" altLang="en-US" sz="2800" dirty="0">
              <a:solidFill>
                <a:srgbClr val="FF0000"/>
              </a:solidFill>
            </a:endParaRPr>
          </a:p>
        </p:txBody>
      </p:sp>
      <p:sp>
        <p:nvSpPr>
          <p:cNvPr id="3" name="矩形 2"/>
          <p:cNvSpPr/>
          <p:nvPr/>
        </p:nvSpPr>
        <p:spPr>
          <a:xfrm>
            <a:off x="659327" y="1628800"/>
            <a:ext cx="8136904" cy="468052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dirty="0" smtClean="0">
                <a:solidFill>
                  <a:schemeClr val="tx1"/>
                </a:solidFill>
              </a:rPr>
              <a:t>国民生产总值（按不变价格计算）</a:t>
            </a:r>
            <a:endParaRPr lang="en-US" altLang="zh-CN" sz="2400" b="1" dirty="0" smtClean="0">
              <a:solidFill>
                <a:schemeClr val="tx1"/>
              </a:solidFill>
            </a:endParaRPr>
          </a:p>
          <a:p>
            <a:endParaRPr lang="en-US" altLang="zh-CN" sz="2400" b="1" dirty="0" smtClean="0">
              <a:solidFill>
                <a:schemeClr val="tx1"/>
              </a:solidFill>
            </a:endParaRPr>
          </a:p>
          <a:p>
            <a:pPr marL="342900" indent="-342900">
              <a:buAutoNum type="arabicPlain" startAt="1952"/>
            </a:pPr>
            <a:r>
              <a:rPr lang="en-US" altLang="zh-CN" sz="2400" b="1" dirty="0" smtClean="0">
                <a:solidFill>
                  <a:schemeClr val="tx1"/>
                </a:solidFill>
              </a:rPr>
              <a:t> </a:t>
            </a:r>
            <a:r>
              <a:rPr lang="zh-CN" altLang="en-US" sz="2400" b="1" dirty="0" smtClean="0">
                <a:solidFill>
                  <a:schemeClr val="tx1"/>
                </a:solidFill>
              </a:rPr>
              <a:t>年</a:t>
            </a:r>
            <a:r>
              <a:rPr lang="en-US" altLang="zh-CN" sz="2400" b="1" dirty="0" smtClean="0">
                <a:solidFill>
                  <a:schemeClr val="tx1"/>
                </a:solidFill>
              </a:rPr>
              <a:t>                               1978</a:t>
            </a:r>
            <a:r>
              <a:rPr lang="zh-CN" altLang="en-US" sz="2400" b="1" dirty="0" smtClean="0">
                <a:solidFill>
                  <a:schemeClr val="tx1"/>
                </a:solidFill>
              </a:rPr>
              <a:t>年</a:t>
            </a:r>
            <a:endParaRPr lang="en-US" altLang="zh-CN" sz="2400" b="1" dirty="0" smtClean="0">
              <a:solidFill>
                <a:schemeClr val="tx1"/>
              </a:solidFill>
            </a:endParaRPr>
          </a:p>
          <a:p>
            <a:endParaRPr lang="en-US" altLang="zh-CN" sz="2400" b="1" dirty="0" smtClean="0">
              <a:solidFill>
                <a:schemeClr val="tx1"/>
              </a:solidFill>
            </a:endParaRPr>
          </a:p>
          <a:p>
            <a:endParaRPr lang="en-US" altLang="zh-CN" sz="2400" b="1" dirty="0" smtClean="0">
              <a:solidFill>
                <a:schemeClr val="tx1"/>
              </a:solidFill>
            </a:endParaRPr>
          </a:p>
          <a:p>
            <a:r>
              <a:rPr lang="en-US" altLang="zh-CN" sz="2400" b="1" dirty="0" smtClean="0">
                <a:solidFill>
                  <a:schemeClr val="tx1"/>
                </a:solidFill>
              </a:rPr>
              <a:t>679</a:t>
            </a:r>
            <a:r>
              <a:rPr lang="zh-CN" altLang="en-US" sz="2400" b="1" dirty="0" smtClean="0">
                <a:solidFill>
                  <a:schemeClr val="tx1"/>
                </a:solidFill>
              </a:rPr>
              <a:t>亿                              </a:t>
            </a:r>
            <a:r>
              <a:rPr lang="en-US" altLang="zh-CN" sz="2400" b="1" dirty="0" smtClean="0">
                <a:solidFill>
                  <a:schemeClr val="tx1"/>
                </a:solidFill>
              </a:rPr>
              <a:t>2943.7</a:t>
            </a:r>
            <a:r>
              <a:rPr lang="zh-CN" altLang="en-US" sz="2400" b="1" dirty="0" smtClean="0">
                <a:solidFill>
                  <a:schemeClr val="tx1"/>
                </a:solidFill>
              </a:rPr>
              <a:t>亿</a:t>
            </a:r>
            <a:endParaRPr lang="en-US" altLang="zh-CN" sz="2400" b="1" dirty="0" smtClean="0">
              <a:solidFill>
                <a:schemeClr val="tx1"/>
              </a:solidFill>
            </a:endParaRPr>
          </a:p>
          <a:p>
            <a:endParaRPr lang="en-US" altLang="zh-CN" sz="2400" b="1" dirty="0">
              <a:solidFill>
                <a:schemeClr val="tx1"/>
              </a:solidFill>
            </a:endParaRPr>
          </a:p>
          <a:p>
            <a:endParaRPr lang="en-US" altLang="zh-CN" sz="2400" b="1" dirty="0" smtClean="0">
              <a:solidFill>
                <a:schemeClr val="tx1"/>
              </a:solidFill>
            </a:endParaRPr>
          </a:p>
          <a:p>
            <a:r>
              <a:rPr lang="zh-CN" altLang="en-US" sz="2400" b="1" dirty="0" smtClean="0">
                <a:solidFill>
                  <a:schemeClr val="tx1"/>
                </a:solidFill>
              </a:rPr>
              <a:t>人均国内生产总值</a:t>
            </a:r>
            <a:r>
              <a:rPr lang="zh-CN" altLang="en-US" sz="2400" b="1" dirty="0">
                <a:solidFill>
                  <a:schemeClr val="tx1"/>
                </a:solidFill>
              </a:rPr>
              <a:t>（按不变价格计算</a:t>
            </a:r>
            <a:r>
              <a:rPr lang="zh-CN" altLang="en-US" sz="2400" b="1" dirty="0" smtClean="0">
                <a:solidFill>
                  <a:schemeClr val="tx1"/>
                </a:solidFill>
              </a:rPr>
              <a:t>）</a:t>
            </a:r>
            <a:endParaRPr lang="en-US" altLang="zh-CN" sz="2400" b="1" dirty="0" smtClean="0">
              <a:solidFill>
                <a:schemeClr val="tx1"/>
              </a:solidFill>
            </a:endParaRPr>
          </a:p>
          <a:p>
            <a:endParaRPr lang="en-US" altLang="zh-CN" sz="2400" b="1" dirty="0">
              <a:solidFill>
                <a:schemeClr val="tx1"/>
              </a:solidFill>
            </a:endParaRPr>
          </a:p>
          <a:p>
            <a:r>
              <a:rPr lang="en-US" altLang="zh-CN" sz="2400" b="1" dirty="0" smtClean="0">
                <a:solidFill>
                  <a:schemeClr val="tx1"/>
                </a:solidFill>
              </a:rPr>
              <a:t>1952  </a:t>
            </a:r>
            <a:r>
              <a:rPr lang="zh-CN" altLang="en-US" sz="2400" b="1" dirty="0" smtClean="0">
                <a:solidFill>
                  <a:schemeClr val="tx1"/>
                </a:solidFill>
              </a:rPr>
              <a:t>年</a:t>
            </a:r>
            <a:r>
              <a:rPr lang="en-US" altLang="zh-CN" sz="2400" b="1" dirty="0" smtClean="0">
                <a:solidFill>
                  <a:schemeClr val="tx1"/>
                </a:solidFill>
              </a:rPr>
              <a:t>                           1976</a:t>
            </a:r>
            <a:r>
              <a:rPr lang="zh-CN" altLang="en-US" sz="2400" b="1" dirty="0" smtClean="0">
                <a:solidFill>
                  <a:schemeClr val="tx1"/>
                </a:solidFill>
              </a:rPr>
              <a:t>年</a:t>
            </a:r>
            <a:endParaRPr lang="en-US" altLang="zh-CN" sz="2400" b="1" dirty="0">
              <a:solidFill>
                <a:schemeClr val="tx1"/>
              </a:solidFill>
            </a:endParaRPr>
          </a:p>
          <a:p>
            <a:endParaRPr lang="en-US" altLang="zh-CN" sz="2400" b="1" dirty="0">
              <a:solidFill>
                <a:schemeClr val="tx1"/>
              </a:solidFill>
            </a:endParaRPr>
          </a:p>
          <a:p>
            <a:r>
              <a:rPr lang="en-US" altLang="zh-CN" sz="2400" b="1" dirty="0" smtClean="0">
                <a:solidFill>
                  <a:schemeClr val="tx1"/>
                </a:solidFill>
              </a:rPr>
              <a:t>119 </a:t>
            </a:r>
            <a:r>
              <a:rPr lang="zh-CN" altLang="en-US" sz="2400" b="1" dirty="0" smtClean="0">
                <a:solidFill>
                  <a:schemeClr val="tx1"/>
                </a:solidFill>
              </a:rPr>
              <a:t>元</a:t>
            </a:r>
            <a:r>
              <a:rPr lang="en-US" altLang="zh-CN" sz="2400" b="1" dirty="0" smtClean="0">
                <a:solidFill>
                  <a:schemeClr val="tx1"/>
                </a:solidFill>
              </a:rPr>
              <a:t>                              316</a:t>
            </a:r>
            <a:r>
              <a:rPr lang="zh-CN" altLang="en-US" sz="2400" b="1" dirty="0" smtClean="0">
                <a:solidFill>
                  <a:schemeClr val="tx1"/>
                </a:solidFill>
              </a:rPr>
              <a:t>元</a:t>
            </a:r>
            <a:endParaRPr lang="zh-CN" altLang="en-US" sz="2400" b="1" dirty="0">
              <a:solidFill>
                <a:schemeClr val="tx1"/>
              </a:solidFill>
            </a:endParaRPr>
          </a:p>
        </p:txBody>
      </p:sp>
      <p:sp>
        <p:nvSpPr>
          <p:cNvPr id="6" name="右箭头 5"/>
          <p:cNvSpPr/>
          <p:nvPr/>
        </p:nvSpPr>
        <p:spPr>
          <a:xfrm>
            <a:off x="2195736" y="2420888"/>
            <a:ext cx="1368152"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右箭头 6"/>
          <p:cNvSpPr/>
          <p:nvPr/>
        </p:nvSpPr>
        <p:spPr>
          <a:xfrm>
            <a:off x="2195736" y="5429403"/>
            <a:ext cx="1368152"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Tree>
    <p:extLst>
      <p:ext uri="{BB962C8B-B14F-4D97-AF65-F5344CB8AC3E}">
        <p14:creationId xmlns:p14="http://schemas.microsoft.com/office/powerpoint/2010/main" xmlns="" val="2346239199"/>
      </p:ext>
    </p:extLst>
  </p:cSld>
  <p:clrMapOvr>
    <a:masterClrMapping/>
  </p:clrMapOvr>
  <p:transition>
    <p:strips dir="rd"/>
    <p:sndAc>
      <p:stSnd>
        <p:snd r:embed="rId2" name="chimes.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600200"/>
            <a:ext cx="8229600" cy="1324744"/>
          </a:xfrm>
        </p:spPr>
        <p:txBody>
          <a:bodyPr>
            <a:normAutofit/>
          </a:bodyPr>
          <a:lstStyle/>
          <a:p>
            <a:pPr marL="0" indent="0">
              <a:buNone/>
            </a:pPr>
            <a:r>
              <a:rPr lang="zh-CN" altLang="en-US" sz="2400" dirty="0" smtClean="0"/>
              <a:t>从一五时期到四五时期，国家基本建设投资累计达</a:t>
            </a:r>
            <a:r>
              <a:rPr lang="en-US" altLang="zh-CN" sz="2400" dirty="0" smtClean="0"/>
              <a:t>4956.43</a:t>
            </a:r>
            <a:r>
              <a:rPr lang="zh-CN" altLang="en-US" sz="2400" dirty="0" smtClean="0"/>
              <a:t>元。建成一批门类较为齐全的基础工业项目，涉及到冶金、汽车、机械、煤炭、石油、电力、通讯、化学、国防等领域</a:t>
            </a:r>
            <a:endParaRPr lang="zh-CN" altLang="en-US" sz="2400" dirty="0"/>
          </a:p>
        </p:txBody>
      </p:sp>
      <p:sp>
        <p:nvSpPr>
          <p:cNvPr id="4" name="矩形 3"/>
          <p:cNvSpPr/>
          <p:nvPr/>
        </p:nvSpPr>
        <p:spPr>
          <a:xfrm>
            <a:off x="827584" y="404664"/>
            <a:ext cx="7560840" cy="954107"/>
          </a:xfrm>
          <a:prstGeom prst="rect">
            <a:avLst/>
          </a:prstGeom>
        </p:spPr>
        <p:txBody>
          <a:bodyPr wrap="square">
            <a:spAutoFit/>
          </a:bodyPr>
          <a:lstStyle/>
          <a:p>
            <a:r>
              <a:rPr lang="zh-CN" altLang="en-US" sz="2800" b="1" dirty="0">
                <a:latin typeface="+mn-ea"/>
                <a:ea typeface="+mn-ea"/>
              </a:rPr>
              <a:t>基本建立了独立的比较完整的工业体系和国民经济体系，从根本上解决了从无到有的问题</a:t>
            </a:r>
          </a:p>
        </p:txBody>
      </p:sp>
      <p:pic>
        <p:nvPicPr>
          <p:cNvPr id="1026" name="Picture 2" descr="https://timgsa.baidu.com/timg?image&amp;quality=80&amp;size=b9999_10000&amp;sec=1572937129106&amp;di=f79cf22bfc45429b7e764641c2cf9048&amp;imgtype=0&amp;src=http%3A%2F%2F5b0988e595225.cdn.sohucs.com%2Fimages%2F20180801%2Fdb6cb466781b4d0d921de8f1e407a917.jpe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55575" y="2996952"/>
            <a:ext cx="4133850" cy="2857500"/>
          </a:xfrm>
          <a:prstGeom prst="rect">
            <a:avLst/>
          </a:prstGeom>
          <a:noFill/>
          <a:extLst>
            <a:ext uri="{909E8E84-426E-40DD-AFC4-6F175D3DCCD1}">
              <a14:hiddenFill xmlns:a14="http://schemas.microsoft.com/office/drawing/2010/main" xmlns="">
                <a:solidFill>
                  <a:srgbClr val="FFFFFF"/>
                </a:solidFill>
              </a14:hiddenFill>
            </a:ext>
          </a:extLst>
        </p:spPr>
      </p:pic>
      <p:pic>
        <p:nvPicPr>
          <p:cNvPr id="1028" name="Picture 4" descr="https://timgsa.baidu.com/timg?image&amp;quality=80&amp;size=b9999_10000&amp;sec=1572937382283&amp;di=c19d444ba4d9861e992fbc4d7e77b3ba&amp;imgtype=0&amp;src=http%3A%2F%2F5b0988e595225.cdn.sohucs.com%2Fimages%2F20180906%2Fe0d0e6afa6be42f2b9b20105ad035f23.jpe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289425" y="2996952"/>
            <a:ext cx="5514975" cy="294322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74205706"/>
      </p:ext>
    </p:extLst>
  </p:cSld>
  <p:clrMapOvr>
    <a:masterClrMapping/>
  </p:clrMapOvr>
  <p:transition>
    <p:strips dir="rd"/>
    <p:sndAc>
      <p:stSnd>
        <p:snd r:embed="rId2" name="chimes.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6912768" cy="720080"/>
          </a:xfrm>
          <a:solidFill>
            <a:schemeClr val="bg2"/>
          </a:solidFill>
        </p:spPr>
        <p:txBody>
          <a:bodyPr>
            <a:normAutofit/>
          </a:bodyPr>
          <a:lstStyle/>
          <a:p>
            <a:pPr algn="l"/>
            <a:r>
              <a:rPr lang="zh-CN" altLang="en-US" sz="2800" dirty="0" smtClean="0">
                <a:solidFill>
                  <a:srgbClr val="FF0000"/>
                </a:solidFill>
              </a:rPr>
              <a:t>铁路、公路等基础设施事业取得较快发展</a:t>
            </a:r>
            <a:endParaRPr lang="zh-CN" altLang="en-US" sz="2800" dirty="0">
              <a:solidFill>
                <a:srgbClr val="FF0000"/>
              </a:solidFill>
            </a:endParaRPr>
          </a:p>
        </p:txBody>
      </p:sp>
      <p:sp>
        <p:nvSpPr>
          <p:cNvPr id="3" name="内容占位符 2"/>
          <p:cNvSpPr>
            <a:spLocks noGrp="1"/>
          </p:cNvSpPr>
          <p:nvPr>
            <p:ph idx="1"/>
          </p:nvPr>
        </p:nvSpPr>
        <p:spPr>
          <a:xfrm>
            <a:off x="467544" y="1196752"/>
            <a:ext cx="8229600" cy="4686320"/>
          </a:xfrm>
        </p:spPr>
        <p:txBody>
          <a:bodyPr>
            <a:normAutofit/>
          </a:bodyPr>
          <a:lstStyle/>
          <a:p>
            <a:r>
              <a:rPr lang="zh-CN" altLang="en-US" sz="2400" b="1" dirty="0" smtClean="0">
                <a:solidFill>
                  <a:srgbClr val="0000FF"/>
                </a:solidFill>
              </a:rPr>
              <a:t>旧中国交通运输业发展及其缓慢，在</a:t>
            </a:r>
            <a:r>
              <a:rPr lang="en-US" altLang="zh-CN" sz="2400" b="1" dirty="0" smtClean="0">
                <a:solidFill>
                  <a:srgbClr val="0000FF"/>
                </a:solidFill>
              </a:rPr>
              <a:t>73</a:t>
            </a:r>
            <a:r>
              <a:rPr lang="zh-CN" altLang="en-US" sz="2400" b="1" dirty="0" smtClean="0">
                <a:solidFill>
                  <a:srgbClr val="0000FF"/>
                </a:solidFill>
              </a:rPr>
              <a:t>年间共修筑铁路</a:t>
            </a:r>
            <a:r>
              <a:rPr lang="en-US" altLang="zh-CN" sz="2400" b="1" dirty="0" smtClean="0">
                <a:solidFill>
                  <a:srgbClr val="0000FF"/>
                </a:solidFill>
              </a:rPr>
              <a:t>2.18</a:t>
            </a:r>
            <a:r>
              <a:rPr lang="zh-CN" altLang="en-US" sz="2400" b="1" dirty="0" smtClean="0">
                <a:solidFill>
                  <a:srgbClr val="0000FF"/>
                </a:solidFill>
              </a:rPr>
              <a:t>万公里，公路</a:t>
            </a:r>
            <a:r>
              <a:rPr lang="en-US" altLang="zh-CN" sz="2400" b="1" dirty="0" smtClean="0">
                <a:solidFill>
                  <a:srgbClr val="0000FF"/>
                </a:solidFill>
              </a:rPr>
              <a:t>8.07</a:t>
            </a:r>
            <a:r>
              <a:rPr lang="zh-CN" altLang="en-US" sz="2400" b="1" dirty="0" smtClean="0">
                <a:solidFill>
                  <a:srgbClr val="0000FF"/>
                </a:solidFill>
              </a:rPr>
              <a:t>万公里。</a:t>
            </a:r>
            <a:endParaRPr lang="en-US" altLang="zh-CN" sz="2400" b="1" dirty="0" smtClean="0">
              <a:solidFill>
                <a:srgbClr val="0000FF"/>
              </a:solidFill>
            </a:endParaRPr>
          </a:p>
          <a:p>
            <a:r>
              <a:rPr lang="zh-CN" altLang="en-US" sz="2400" b="1" dirty="0" smtClean="0">
                <a:solidFill>
                  <a:srgbClr val="0000FF"/>
                </a:solidFill>
              </a:rPr>
              <a:t>新中国成立到</a:t>
            </a:r>
            <a:r>
              <a:rPr lang="en-US" altLang="zh-CN" sz="2400" b="1" dirty="0" smtClean="0">
                <a:solidFill>
                  <a:srgbClr val="0000FF"/>
                </a:solidFill>
              </a:rPr>
              <a:t>1976</a:t>
            </a:r>
            <a:r>
              <a:rPr lang="zh-CN" altLang="en-US" sz="2400" b="1" dirty="0" smtClean="0">
                <a:solidFill>
                  <a:srgbClr val="0000FF"/>
                </a:solidFill>
              </a:rPr>
              <a:t>年，中国的铁路达到</a:t>
            </a:r>
            <a:r>
              <a:rPr lang="en-US" altLang="zh-CN" sz="2400" b="1" dirty="0" smtClean="0">
                <a:solidFill>
                  <a:srgbClr val="0000FF"/>
                </a:solidFill>
              </a:rPr>
              <a:t>4.63</a:t>
            </a:r>
            <a:r>
              <a:rPr lang="zh-CN" altLang="en-US" sz="2400" b="1" dirty="0" smtClean="0">
                <a:solidFill>
                  <a:srgbClr val="0000FF"/>
                </a:solidFill>
              </a:rPr>
              <a:t>万公里，公路达到</a:t>
            </a:r>
            <a:r>
              <a:rPr lang="en-US" altLang="zh-CN" sz="2400" b="1" dirty="0" smtClean="0">
                <a:solidFill>
                  <a:srgbClr val="0000FF"/>
                </a:solidFill>
              </a:rPr>
              <a:t>82.34</a:t>
            </a:r>
            <a:r>
              <a:rPr lang="zh-CN" altLang="en-US" sz="2400" b="1" dirty="0" smtClean="0">
                <a:solidFill>
                  <a:srgbClr val="0000FF"/>
                </a:solidFill>
              </a:rPr>
              <a:t>万公里，初步形成了全国的路网骨架</a:t>
            </a:r>
            <a:endParaRPr lang="zh-CN" altLang="en-US" sz="2400" b="1" dirty="0">
              <a:solidFill>
                <a:srgbClr val="0000FF"/>
              </a:solidFill>
            </a:endParaRPr>
          </a:p>
        </p:txBody>
      </p:sp>
      <p:pic>
        <p:nvPicPr>
          <p:cNvPr id="2050" name="Picture 2" descr="æ¯æ³½ä¸ä¸ºåº·èãéèå¬è·¯éè½¦çé¢è¯&#10;"/>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45232" y="2780928"/>
            <a:ext cx="2794724" cy="3240360"/>
          </a:xfrm>
          <a:prstGeom prst="rect">
            <a:avLst/>
          </a:prstGeom>
          <a:noFill/>
          <a:extLst>
            <a:ext uri="{909E8E84-426E-40DD-AFC4-6F175D3DCCD1}">
              <a14:hiddenFill xmlns:a14="http://schemas.microsoft.com/office/drawing/2010/main" xmlns="">
                <a:solidFill>
                  <a:srgbClr val="FFFFFF"/>
                </a:solidFill>
              </a14:hiddenFill>
            </a:ext>
          </a:extLst>
        </p:spPr>
      </p:pic>
      <p:pic>
        <p:nvPicPr>
          <p:cNvPr id="2052" name="Picture 4" descr="https://timgsa.baidu.com/timg?image&amp;quality=80&amp;size=b9999_10000&amp;sec=1572937956311&amp;di=1d8d4e5b347d1da63b79d8b2abdc9db1&amp;imgtype=jpg&amp;src=http%3A%2F%2Fimg2.imgtn.bdimg.com%2Fit%2Fu%3D3541627252%2C2834249250%26fm%3D214%26gp%3D0.jp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419872" y="2769366"/>
            <a:ext cx="4916463" cy="415956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633546951"/>
      </p:ext>
    </p:extLst>
  </p:cSld>
  <p:clrMapOvr>
    <a:masterClrMapping/>
  </p:clrMapOvr>
  <p:transition>
    <p:strips dir="rd"/>
    <p:sndAc>
      <p:stSnd>
        <p:snd r:embed="rId2" name="chimes.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2656"/>
            <a:ext cx="4474840" cy="706090"/>
          </a:xfrm>
          <a:solidFill>
            <a:schemeClr val="accent4">
              <a:lumMod val="20000"/>
              <a:lumOff val="80000"/>
            </a:schemeClr>
          </a:solidFill>
        </p:spPr>
        <p:txBody>
          <a:bodyPr>
            <a:normAutofit/>
          </a:bodyPr>
          <a:lstStyle/>
          <a:p>
            <a:pPr algn="l"/>
            <a:r>
              <a:rPr lang="zh-CN" altLang="en-US" sz="2800" dirty="0" smtClean="0">
                <a:solidFill>
                  <a:srgbClr val="FF0000"/>
                </a:solidFill>
              </a:rPr>
              <a:t>三线建设大规模开展</a:t>
            </a:r>
            <a:endParaRPr lang="zh-CN" altLang="en-US" sz="2800" dirty="0">
              <a:solidFill>
                <a:srgbClr val="FF0000"/>
              </a:solidFill>
            </a:endParaRPr>
          </a:p>
        </p:txBody>
      </p:sp>
      <p:sp>
        <p:nvSpPr>
          <p:cNvPr id="3" name="内容占位符 2"/>
          <p:cNvSpPr>
            <a:spLocks noGrp="1"/>
          </p:cNvSpPr>
          <p:nvPr>
            <p:ph idx="1"/>
          </p:nvPr>
        </p:nvSpPr>
        <p:spPr/>
        <p:txBody>
          <a:bodyPr>
            <a:normAutofit/>
          </a:bodyPr>
          <a:lstStyle/>
          <a:p>
            <a:pPr marL="0" indent="0">
              <a:buNone/>
            </a:pPr>
            <a:r>
              <a:rPr lang="zh-CN" altLang="en-US" sz="2400" dirty="0" smtClean="0"/>
              <a:t>从</a:t>
            </a:r>
            <a:r>
              <a:rPr lang="en-US" altLang="zh-CN" sz="2400" dirty="0" smtClean="0"/>
              <a:t>1964</a:t>
            </a:r>
            <a:r>
              <a:rPr lang="zh-CN" altLang="en-US" sz="2400" dirty="0" smtClean="0"/>
              <a:t>年“三五”计划起，到</a:t>
            </a:r>
            <a:r>
              <a:rPr lang="en-US" altLang="zh-CN" sz="2400" dirty="0" smtClean="0"/>
              <a:t>1980</a:t>
            </a:r>
            <a:r>
              <a:rPr lang="zh-CN" altLang="en-US" sz="2400" dirty="0" smtClean="0"/>
              <a:t>年“五五”时期结束，共投资</a:t>
            </a:r>
            <a:r>
              <a:rPr lang="en-US" altLang="zh-CN" sz="2400" dirty="0" smtClean="0"/>
              <a:t>2052</a:t>
            </a:r>
            <a:r>
              <a:rPr lang="zh-CN" altLang="en-US" sz="2400" dirty="0" smtClean="0"/>
              <a:t>亿元进行大规模建设。“三线”建设不仅极大增强了国防力量，而且对改善工业布局和城市布局起了极大促进作用。</a:t>
            </a:r>
            <a:endParaRPr lang="zh-CN" altLang="en-US" sz="2400" dirty="0"/>
          </a:p>
        </p:txBody>
      </p:sp>
      <p:pic>
        <p:nvPicPr>
          <p:cNvPr id="3074" name="Picture 2" descr="https://timgsa.baidu.com/timg?image&amp;quality=80&amp;size=b9999_10000&amp;sec=1572950024392&amp;di=3cf3f69835385d06c618cec5456f48d4&amp;imgtype=0&amp;src=http%3A%2F%2F5b0988e595225.cdn.sohucs.com%2Fq_70%2Cc_zoom%2Cw_640%2Fimages%2F20171124%2F5538df1e1a6745f9b534cc3d0d380105.jpe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65310" y="3140968"/>
            <a:ext cx="4604458" cy="3390529"/>
          </a:xfrm>
          <a:prstGeom prst="rect">
            <a:avLst/>
          </a:prstGeom>
          <a:noFill/>
          <a:extLst>
            <a:ext uri="{909E8E84-426E-40DD-AFC4-6F175D3DCCD1}">
              <a14:hiddenFill xmlns:a14="http://schemas.microsoft.com/office/drawing/2010/main" xmlns="">
                <a:solidFill>
                  <a:srgbClr val="FFFFFF"/>
                </a:solidFill>
              </a14:hiddenFill>
            </a:ext>
          </a:extLst>
        </p:spPr>
      </p:pic>
      <p:pic>
        <p:nvPicPr>
          <p:cNvPr id="3076" name="Picture 4" descr="https://ss2.bdstatic.com/70cFvnSh_Q1YnxGkpoWK1HF6hhy/it/u=1167669227,3952064293&amp;fm=15&amp;gp=0.jp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572000" y="3068960"/>
            <a:ext cx="4762500" cy="320040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633546951"/>
      </p:ext>
    </p:extLst>
  </p:cSld>
  <p:clrMapOvr>
    <a:masterClrMapping/>
  </p:clrMapOvr>
  <p:transition>
    <p:strips dir="rd"/>
    <p:sndAc>
      <p:stSnd>
        <p:snd r:embed="rId2" name="chimes.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098" name="Picture 2" descr="https://timgsa.baidu.com/timg?image&amp;quality=80&amp;size=b9999_10000&amp;sec=1572950200765&amp;di=0fb4cc943ebf0565e8db4f3a9702744f&amp;imgtype=0&amp;src=http%3A%2F%2Fimg.mp.sohu.com%2Fq_mini%2Cc_zoom%2Cw_640%2Fupload%2F20170805%2Fc726f1baad69415d967beec402a9cece_th.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573" y="14401"/>
            <a:ext cx="4743450" cy="3200401"/>
          </a:xfrm>
          <a:prstGeom prst="rect">
            <a:avLst/>
          </a:prstGeom>
          <a:noFill/>
          <a:extLst>
            <a:ext uri="{909E8E84-426E-40DD-AFC4-6F175D3DCCD1}">
              <a14:hiddenFill xmlns:a14="http://schemas.microsoft.com/office/drawing/2010/main" xmlns="">
                <a:solidFill>
                  <a:srgbClr val="FFFFFF"/>
                </a:solidFill>
              </a14:hiddenFill>
            </a:ext>
          </a:extLst>
        </p:spPr>
      </p:pic>
      <p:pic>
        <p:nvPicPr>
          <p:cNvPr id="4100" name="Picture 4" descr="https://timgsa.baidu.com/timg?image&amp;quality=80&amp;size=b9999_10000&amp;sec=1572950200765&amp;di=1c207003551c232bbd922bc622294923&amp;imgtype=0&amp;src=http%3A%2F%2Fimg.mp.itc.cn%2Fq_mini%2Cc_zoom%2Cw_640%2Fupload%2F20170805%2F78b7d1a830304b4383abb67e5615ca0a_th.jp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21295" y="2971799"/>
            <a:ext cx="4522713" cy="3886201"/>
          </a:xfrm>
          <a:prstGeom prst="rect">
            <a:avLst/>
          </a:prstGeom>
          <a:noFill/>
          <a:extLst>
            <a:ext uri="{909E8E84-426E-40DD-AFC4-6F175D3DCCD1}">
              <a14:hiddenFill xmlns:a14="http://schemas.microsoft.com/office/drawing/2010/main" xmlns="">
                <a:solidFill>
                  <a:srgbClr val="FFFFFF"/>
                </a:solidFill>
              </a14:hiddenFill>
            </a:ext>
          </a:extLst>
        </p:spPr>
      </p:pic>
      <p:pic>
        <p:nvPicPr>
          <p:cNvPr id="4102" name="Picture 6" descr="https://timgsa.baidu.com/timg?image&amp;quality=80&amp;size=b9999_10000&amp;sec=1572950276973&amp;di=098179b5cd0b1077e4ef4d0c03313197&amp;imgtype=jpg&amp;src=http%3A%2F%2Fimg1.imgtn.bdimg.com%2Fit%2Fu%3D2153864001%2C3968088531%26fm%3D214%26gp%3D0.jpg"/>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4932040" y="160648"/>
            <a:ext cx="3888432" cy="2783159"/>
          </a:xfrm>
          <a:prstGeom prst="rect">
            <a:avLst/>
          </a:prstGeom>
          <a:noFill/>
          <a:extLst>
            <a:ext uri="{909E8E84-426E-40DD-AFC4-6F175D3DCCD1}">
              <a14:hiddenFill xmlns:a14="http://schemas.microsoft.com/office/drawing/2010/main" xmlns="">
                <a:solidFill>
                  <a:srgbClr val="FFFFFF"/>
                </a:solidFill>
              </a14:hiddenFill>
            </a:ext>
          </a:extLst>
        </p:spPr>
      </p:pic>
      <p:pic>
        <p:nvPicPr>
          <p:cNvPr id="4104" name="Picture 8" descr="https://timgsa.baidu.com/timg?image&amp;quality=80&amp;size=b9999_10000&amp;sec=1572950276600&amp;di=45c879576e70fe7bd6e5299a92098e21&amp;imgtype=0&amp;src=http%3A%2F%2Fimages2.china.com%2Fnews%2Fzh_cn%2Fhistory%2Fall%2F11025807%2F20140701%2Fr_18600645_900880.jp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4824458" y="3076959"/>
            <a:ext cx="4103595" cy="367588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072475868"/>
      </p:ext>
    </p:extLst>
  </p:cSld>
  <p:clrMapOvr>
    <a:masterClrMapping/>
  </p:clrMapOvr>
  <p:transition>
    <p:strips dir="rd"/>
    <p:sndAc>
      <p:stSnd>
        <p:snd r:embed="rId2" name="chimes.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504" y="116632"/>
            <a:ext cx="8435280" cy="1143000"/>
          </a:xfrm>
          <a:solidFill>
            <a:schemeClr val="accent4">
              <a:lumMod val="20000"/>
              <a:lumOff val="80000"/>
            </a:schemeClr>
          </a:solidFill>
          <a:ln>
            <a:solidFill>
              <a:schemeClr val="accent1"/>
            </a:solidFill>
          </a:ln>
        </p:spPr>
        <p:txBody>
          <a:bodyPr>
            <a:normAutofit/>
          </a:bodyPr>
          <a:lstStyle/>
          <a:p>
            <a:pPr algn="l"/>
            <a:r>
              <a:rPr lang="zh-CN" altLang="en-US" sz="3200" b="1" dirty="0" smtClean="0">
                <a:solidFill>
                  <a:srgbClr val="FF0000"/>
                </a:solidFill>
              </a:rPr>
              <a:t>（二）人民生活水平的提高与文化、医疗、科技事业的发展</a:t>
            </a:r>
            <a:endParaRPr lang="zh-CN" altLang="en-US" sz="3200" b="1" dirty="0">
              <a:solidFill>
                <a:srgbClr val="FF0000"/>
              </a:solidFill>
            </a:endParaRPr>
          </a:p>
        </p:txBody>
      </p:sp>
      <p:sp>
        <p:nvSpPr>
          <p:cNvPr id="5" name="Rectangle 2"/>
          <p:cNvSpPr>
            <a:spLocks noGrp="1"/>
          </p:cNvSpPr>
          <p:nvPr>
            <p:ph idx="1"/>
          </p:nvPr>
        </p:nvSpPr>
        <p:spPr>
          <a:xfrm>
            <a:off x="344623" y="1628800"/>
            <a:ext cx="8429684" cy="1052596"/>
          </a:xfrm>
          <a:solidFill>
            <a:schemeClr val="bg1"/>
          </a:solidFill>
          <a:ln w="12700">
            <a:solidFill>
              <a:srgbClr val="FF3300"/>
            </a:solidFill>
            <a:miter/>
          </a:ln>
        </p:spPr>
        <p:txBody>
          <a:bodyPr wrap="square">
            <a:spAutoFit/>
          </a:bodyPr>
          <a:lstStyle/>
          <a:p>
            <a:pPr marL="0" indent="0" fontAlgn="base">
              <a:lnSpc>
                <a:spcPct val="105000"/>
              </a:lnSpc>
              <a:spcBef>
                <a:spcPct val="50000"/>
              </a:spcBef>
              <a:buNone/>
            </a:pPr>
            <a:r>
              <a:rPr lang="en-US" altLang="zh-CN" sz="2400" b="1" strike="noStrike" noProof="1" smtClean="0">
                <a:solidFill>
                  <a:srgbClr val="FF0000"/>
                </a:solidFill>
                <a:latin typeface="Times New Roman" panose="02020603050405020304" pitchFamily="18" charset="0"/>
                <a:ea typeface="黑体" panose="02010609060101010101" pitchFamily="49" charset="-122"/>
              </a:rPr>
              <a:t>1</a:t>
            </a:r>
            <a:r>
              <a:rPr lang="zh-CN" altLang="en-US" sz="2400" b="1" strike="noStrike" noProof="1" smtClean="0">
                <a:solidFill>
                  <a:srgbClr val="FF0000"/>
                </a:solidFill>
                <a:latin typeface="Times New Roman" panose="02020603050405020304" pitchFamily="18" charset="0"/>
                <a:ea typeface="黑体" panose="02010609060101010101" pitchFamily="49" charset="-122"/>
              </a:rPr>
              <a:t>、人民的基本生活需要初步满足</a:t>
            </a:r>
            <a:endParaRPr lang="en-US" altLang="zh-CN" sz="2400" b="1" strike="noStrike" noProof="1" smtClean="0">
              <a:solidFill>
                <a:srgbClr val="FF0000"/>
              </a:solidFill>
              <a:latin typeface="Times New Roman" panose="02020603050405020304" pitchFamily="18" charset="0"/>
              <a:ea typeface="黑体" panose="02010609060101010101" pitchFamily="49" charset="-122"/>
            </a:endParaRPr>
          </a:p>
          <a:p>
            <a:pPr marL="0" indent="0" fontAlgn="base">
              <a:lnSpc>
                <a:spcPct val="105000"/>
              </a:lnSpc>
              <a:spcBef>
                <a:spcPct val="50000"/>
              </a:spcBef>
              <a:buNone/>
            </a:pPr>
            <a:r>
              <a:rPr lang="zh-CN" altLang="en-US" sz="2400" b="1" noProof="1">
                <a:solidFill>
                  <a:srgbClr val="0000FF"/>
                </a:solidFill>
                <a:latin typeface="Times New Roman" panose="02020603050405020304" pitchFamily="18" charset="0"/>
                <a:ea typeface="黑体" panose="02010609060101010101" pitchFamily="49" charset="-122"/>
              </a:rPr>
              <a:t>粮食</a:t>
            </a:r>
            <a:r>
              <a:rPr lang="zh-CN" altLang="en-US" sz="2400" b="1" noProof="1" smtClean="0">
                <a:solidFill>
                  <a:srgbClr val="0000FF"/>
                </a:solidFill>
                <a:latin typeface="Times New Roman" panose="02020603050405020304" pitchFamily="18" charset="0"/>
                <a:ea typeface="黑体" panose="02010609060101010101" pitchFamily="49" charset="-122"/>
              </a:rPr>
              <a:t>产量从</a:t>
            </a:r>
            <a:r>
              <a:rPr lang="en-US" altLang="zh-CN" sz="2400" b="1" noProof="1" smtClean="0">
                <a:solidFill>
                  <a:srgbClr val="0000FF"/>
                </a:solidFill>
                <a:latin typeface="Times New Roman" panose="02020603050405020304" pitchFamily="18" charset="0"/>
                <a:ea typeface="黑体" panose="02010609060101010101" pitchFamily="49" charset="-122"/>
              </a:rPr>
              <a:t>1949</a:t>
            </a:r>
            <a:r>
              <a:rPr lang="zh-CN" altLang="en-US" sz="2400" b="1" noProof="1" smtClean="0">
                <a:solidFill>
                  <a:srgbClr val="0000FF"/>
                </a:solidFill>
                <a:latin typeface="Times New Roman" panose="02020603050405020304" pitchFamily="18" charset="0"/>
                <a:ea typeface="黑体" panose="02010609060101010101" pitchFamily="49" charset="-122"/>
              </a:rPr>
              <a:t>年的</a:t>
            </a:r>
            <a:r>
              <a:rPr lang="en-US" altLang="zh-CN" sz="2400" b="1" noProof="1" smtClean="0">
                <a:solidFill>
                  <a:srgbClr val="0000FF"/>
                </a:solidFill>
                <a:latin typeface="Times New Roman" panose="02020603050405020304" pitchFamily="18" charset="0"/>
                <a:ea typeface="黑体" panose="02010609060101010101" pitchFamily="49" charset="-122"/>
              </a:rPr>
              <a:t>2263.6</a:t>
            </a:r>
            <a:r>
              <a:rPr lang="zh-CN" altLang="en-US" sz="2400" b="1" noProof="1" smtClean="0">
                <a:solidFill>
                  <a:srgbClr val="0000FF"/>
                </a:solidFill>
                <a:latin typeface="Times New Roman" panose="02020603050405020304" pitchFamily="18" charset="0"/>
                <a:ea typeface="黑体" panose="02010609060101010101" pitchFamily="49" charset="-122"/>
              </a:rPr>
              <a:t>亿斤增加到</a:t>
            </a:r>
            <a:r>
              <a:rPr lang="en-US" altLang="zh-CN" sz="2400" b="1" noProof="1" smtClean="0">
                <a:solidFill>
                  <a:srgbClr val="0000FF"/>
                </a:solidFill>
                <a:latin typeface="Times New Roman" panose="02020603050405020304" pitchFamily="18" charset="0"/>
                <a:ea typeface="黑体" panose="02010609060101010101" pitchFamily="49" charset="-122"/>
              </a:rPr>
              <a:t>1976</a:t>
            </a:r>
            <a:r>
              <a:rPr lang="zh-CN" altLang="en-US" sz="2400" b="1" noProof="1" smtClean="0">
                <a:solidFill>
                  <a:srgbClr val="0000FF"/>
                </a:solidFill>
                <a:latin typeface="Times New Roman" panose="02020603050405020304" pitchFamily="18" charset="0"/>
                <a:ea typeface="黑体" panose="02010609060101010101" pitchFamily="49" charset="-122"/>
              </a:rPr>
              <a:t>年的</a:t>
            </a:r>
            <a:r>
              <a:rPr lang="en-US" altLang="zh-CN" sz="2400" b="1" noProof="1" smtClean="0">
                <a:solidFill>
                  <a:srgbClr val="0000FF"/>
                </a:solidFill>
                <a:latin typeface="Times New Roman" panose="02020603050405020304" pitchFamily="18" charset="0"/>
                <a:ea typeface="黑体" panose="02010609060101010101" pitchFamily="49" charset="-122"/>
              </a:rPr>
              <a:t>5726</a:t>
            </a:r>
            <a:r>
              <a:rPr lang="zh-CN" altLang="en-US" sz="2400" b="1" noProof="1" smtClean="0">
                <a:solidFill>
                  <a:srgbClr val="0000FF"/>
                </a:solidFill>
                <a:latin typeface="Times New Roman" panose="02020603050405020304" pitchFamily="18" charset="0"/>
                <a:ea typeface="黑体" panose="02010609060101010101" pitchFamily="49" charset="-122"/>
              </a:rPr>
              <a:t>亿斤。</a:t>
            </a:r>
            <a:r>
              <a:rPr lang="zh-CN" altLang="en-US" sz="2400" b="1" strike="noStrike" noProof="1" smtClean="0">
                <a:solidFill>
                  <a:srgbClr val="0000FF"/>
                </a:solidFill>
                <a:latin typeface="Times New Roman" panose="02020603050405020304" pitchFamily="18" charset="0"/>
                <a:ea typeface="黑体" panose="02010609060101010101" pitchFamily="49" charset="-122"/>
              </a:rPr>
              <a:t>        </a:t>
            </a:r>
            <a:endParaRPr lang="zh-CN" altLang="en-US" sz="2400" b="1" strike="noStrike" noProof="1">
              <a:solidFill>
                <a:srgbClr val="0000FF"/>
              </a:solidFill>
              <a:latin typeface="Times New Roman" panose="02020603050405020304" pitchFamily="18" charset="0"/>
              <a:ea typeface="黑体" panose="02010609060101010101" pitchFamily="49" charset="-122"/>
            </a:endParaRPr>
          </a:p>
        </p:txBody>
      </p:sp>
      <p:sp>
        <p:nvSpPr>
          <p:cNvPr id="6" name="Rectangle 2"/>
          <p:cNvSpPr txBox="1">
            <a:spLocks/>
          </p:cNvSpPr>
          <p:nvPr/>
        </p:nvSpPr>
        <p:spPr>
          <a:xfrm>
            <a:off x="323528" y="2873423"/>
            <a:ext cx="8429684" cy="480131"/>
          </a:xfrm>
          <a:prstGeom prst="rect">
            <a:avLst/>
          </a:prstGeom>
          <a:solidFill>
            <a:schemeClr val="bg1"/>
          </a:solidFill>
          <a:ln w="12700">
            <a:solidFill>
              <a:srgbClr val="FF3300"/>
            </a:solidFill>
            <a:miter/>
          </a:ln>
        </p:spPr>
        <p:txBody>
          <a:bodyPr vert="horz" wrap="square" rtlCol="0">
            <a:spAutoFit/>
          </a:bodyPr>
          <a:lst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fontAlgn="base">
              <a:lnSpc>
                <a:spcPct val="105000"/>
              </a:lnSpc>
              <a:spcBef>
                <a:spcPct val="50000"/>
              </a:spcBef>
              <a:buFont typeface="Wingdings 2"/>
              <a:buNone/>
            </a:pPr>
            <a:r>
              <a:rPr lang="en-US" altLang="zh-CN" sz="2400" b="1" noProof="1" smtClean="0">
                <a:solidFill>
                  <a:srgbClr val="FF0000"/>
                </a:solidFill>
                <a:latin typeface="Times New Roman" panose="02020603050405020304" pitchFamily="18" charset="0"/>
                <a:ea typeface="黑体" panose="02010609060101010101" pitchFamily="49" charset="-122"/>
              </a:rPr>
              <a:t>2</a:t>
            </a:r>
            <a:r>
              <a:rPr lang="zh-CN" altLang="en-US" sz="2400" b="1" noProof="1" smtClean="0">
                <a:solidFill>
                  <a:srgbClr val="FF0000"/>
                </a:solidFill>
                <a:latin typeface="Times New Roman" panose="02020603050405020304" pitchFamily="18" charset="0"/>
                <a:ea typeface="黑体" panose="02010609060101010101" pitchFamily="49" charset="-122"/>
              </a:rPr>
              <a:t>、教育、文化、医疗、体育、科技等事业取得较大发展。</a:t>
            </a:r>
            <a:r>
              <a:rPr lang="zh-CN" altLang="en-US" sz="2400" b="1" noProof="1" smtClean="0">
                <a:solidFill>
                  <a:srgbClr val="0000FF"/>
                </a:solidFill>
                <a:latin typeface="Times New Roman" panose="02020603050405020304" pitchFamily="18" charset="0"/>
                <a:ea typeface="黑体" panose="02010609060101010101" pitchFamily="49" charset="-122"/>
              </a:rPr>
              <a:t>        </a:t>
            </a:r>
            <a:endParaRPr lang="zh-CN" altLang="en-US" sz="2400" b="1" noProof="1">
              <a:solidFill>
                <a:srgbClr val="0000FF"/>
              </a:solidFill>
              <a:latin typeface="Times New Roman" panose="02020603050405020304" pitchFamily="18" charset="0"/>
              <a:ea typeface="黑体" panose="02010609060101010101" pitchFamily="49" charset="-122"/>
            </a:endParaRPr>
          </a:p>
        </p:txBody>
      </p:sp>
      <p:sp>
        <p:nvSpPr>
          <p:cNvPr id="7" name="Rectangle 2"/>
          <p:cNvSpPr txBox="1">
            <a:spLocks/>
          </p:cNvSpPr>
          <p:nvPr/>
        </p:nvSpPr>
        <p:spPr>
          <a:xfrm>
            <a:off x="324136" y="3505954"/>
            <a:ext cx="8429684" cy="867930"/>
          </a:xfrm>
          <a:prstGeom prst="rect">
            <a:avLst/>
          </a:prstGeom>
          <a:solidFill>
            <a:schemeClr val="bg1"/>
          </a:solidFill>
          <a:ln w="12700">
            <a:solidFill>
              <a:srgbClr val="FF3300"/>
            </a:solidFill>
            <a:miter/>
          </a:ln>
        </p:spPr>
        <p:txBody>
          <a:bodyPr vert="horz" wrap="square" rtlCol="0">
            <a:spAutoFit/>
          </a:bodyPr>
          <a:lst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fontAlgn="base">
              <a:lnSpc>
                <a:spcPct val="105000"/>
              </a:lnSpc>
              <a:spcBef>
                <a:spcPct val="50000"/>
              </a:spcBef>
              <a:buFont typeface="Wingdings 2"/>
              <a:buNone/>
            </a:pPr>
            <a:r>
              <a:rPr lang="zh-CN" altLang="en-US" sz="2400" b="1" noProof="1" smtClean="0">
                <a:solidFill>
                  <a:srgbClr val="0000FF"/>
                </a:solidFill>
                <a:latin typeface="Times New Roman" panose="02020603050405020304" pitchFamily="18" charset="0"/>
                <a:ea typeface="黑体" panose="02010609060101010101" pitchFamily="49" charset="-122"/>
              </a:rPr>
              <a:t>全国人口的死亡率从</a:t>
            </a:r>
            <a:r>
              <a:rPr lang="en-US" altLang="zh-CN" sz="2400" b="1" noProof="1" smtClean="0">
                <a:solidFill>
                  <a:srgbClr val="0000FF"/>
                </a:solidFill>
                <a:latin typeface="Times New Roman" panose="02020603050405020304" pitchFamily="18" charset="0"/>
                <a:ea typeface="黑体" panose="02010609060101010101" pitchFamily="49" charset="-122"/>
              </a:rPr>
              <a:t>1949</a:t>
            </a:r>
            <a:r>
              <a:rPr lang="zh-CN" altLang="en-US" sz="2400" b="1" noProof="1" smtClean="0">
                <a:solidFill>
                  <a:srgbClr val="0000FF"/>
                </a:solidFill>
                <a:latin typeface="Times New Roman" panose="02020603050405020304" pitchFamily="18" charset="0"/>
                <a:ea typeface="黑体" panose="02010609060101010101" pitchFamily="49" charset="-122"/>
              </a:rPr>
              <a:t>年的千分之</a:t>
            </a:r>
            <a:r>
              <a:rPr lang="en-US" altLang="zh-CN" sz="2400" b="1" noProof="1" smtClean="0">
                <a:solidFill>
                  <a:srgbClr val="0000FF"/>
                </a:solidFill>
                <a:latin typeface="Times New Roman" panose="02020603050405020304" pitchFamily="18" charset="0"/>
                <a:ea typeface="黑体" panose="02010609060101010101" pitchFamily="49" charset="-122"/>
              </a:rPr>
              <a:t>20</a:t>
            </a:r>
            <a:r>
              <a:rPr lang="zh-CN" altLang="en-US" sz="2400" b="1" noProof="1" smtClean="0">
                <a:solidFill>
                  <a:srgbClr val="0000FF"/>
                </a:solidFill>
                <a:latin typeface="Times New Roman" panose="02020603050405020304" pitchFamily="18" charset="0"/>
                <a:ea typeface="黑体" panose="02010609060101010101" pitchFamily="49" charset="-122"/>
              </a:rPr>
              <a:t>下降到</a:t>
            </a:r>
            <a:r>
              <a:rPr lang="en-US" altLang="zh-CN" sz="2400" b="1" noProof="1" smtClean="0">
                <a:solidFill>
                  <a:srgbClr val="0000FF"/>
                </a:solidFill>
                <a:latin typeface="Times New Roman" panose="02020603050405020304" pitchFamily="18" charset="0"/>
                <a:ea typeface="黑体" panose="02010609060101010101" pitchFamily="49" charset="-122"/>
              </a:rPr>
              <a:t>1976</a:t>
            </a:r>
            <a:r>
              <a:rPr lang="zh-CN" altLang="en-US" sz="2400" b="1" noProof="1" smtClean="0">
                <a:solidFill>
                  <a:srgbClr val="0000FF"/>
                </a:solidFill>
                <a:latin typeface="Times New Roman" panose="02020603050405020304" pitchFamily="18" charset="0"/>
                <a:ea typeface="黑体" panose="02010609060101010101" pitchFamily="49" charset="-122"/>
              </a:rPr>
              <a:t>年的千分之</a:t>
            </a:r>
            <a:r>
              <a:rPr lang="en-US" altLang="zh-CN" sz="2400" b="1" noProof="1" smtClean="0">
                <a:solidFill>
                  <a:srgbClr val="0000FF"/>
                </a:solidFill>
                <a:latin typeface="Times New Roman" panose="02020603050405020304" pitchFamily="18" charset="0"/>
                <a:ea typeface="黑体" panose="02010609060101010101" pitchFamily="49" charset="-122"/>
              </a:rPr>
              <a:t>7.25</a:t>
            </a:r>
            <a:r>
              <a:rPr lang="zh-CN" altLang="en-US" sz="2400" b="1" noProof="1" smtClean="0">
                <a:solidFill>
                  <a:srgbClr val="0000FF"/>
                </a:solidFill>
                <a:latin typeface="Times New Roman" panose="02020603050405020304" pitchFamily="18" charset="0"/>
                <a:ea typeface="黑体" panose="02010609060101010101" pitchFamily="49" charset="-122"/>
              </a:rPr>
              <a:t>，人均寿命从</a:t>
            </a:r>
            <a:r>
              <a:rPr lang="en-US" altLang="zh-CN" sz="2400" b="1" noProof="1" smtClean="0">
                <a:solidFill>
                  <a:srgbClr val="0000FF"/>
                </a:solidFill>
                <a:latin typeface="Times New Roman" panose="02020603050405020304" pitchFamily="18" charset="0"/>
                <a:ea typeface="黑体" panose="02010609060101010101" pitchFamily="49" charset="-122"/>
              </a:rPr>
              <a:t>1949</a:t>
            </a:r>
            <a:r>
              <a:rPr lang="zh-CN" altLang="en-US" sz="2400" b="1" noProof="1" smtClean="0">
                <a:solidFill>
                  <a:srgbClr val="0000FF"/>
                </a:solidFill>
                <a:latin typeface="Times New Roman" panose="02020603050405020304" pitchFamily="18" charset="0"/>
                <a:ea typeface="黑体" panose="02010609060101010101" pitchFamily="49" charset="-122"/>
              </a:rPr>
              <a:t>年的</a:t>
            </a:r>
            <a:r>
              <a:rPr lang="en-US" altLang="zh-CN" sz="2400" b="1" noProof="1" smtClean="0">
                <a:solidFill>
                  <a:srgbClr val="0000FF"/>
                </a:solidFill>
                <a:latin typeface="Times New Roman" panose="02020603050405020304" pitchFamily="18" charset="0"/>
                <a:ea typeface="黑体" panose="02010609060101010101" pitchFamily="49" charset="-122"/>
              </a:rPr>
              <a:t>34</a:t>
            </a:r>
            <a:r>
              <a:rPr lang="zh-CN" altLang="en-US" sz="2400" b="1" noProof="1" smtClean="0">
                <a:solidFill>
                  <a:srgbClr val="0000FF"/>
                </a:solidFill>
                <a:latin typeface="Times New Roman" panose="02020603050405020304" pitchFamily="18" charset="0"/>
                <a:ea typeface="黑体" panose="02010609060101010101" pitchFamily="49" charset="-122"/>
              </a:rPr>
              <a:t>岁上升到</a:t>
            </a:r>
            <a:r>
              <a:rPr lang="en-US" altLang="zh-CN" sz="2400" b="1" noProof="1" smtClean="0">
                <a:solidFill>
                  <a:srgbClr val="0000FF"/>
                </a:solidFill>
                <a:latin typeface="Times New Roman" panose="02020603050405020304" pitchFamily="18" charset="0"/>
                <a:ea typeface="黑体" panose="02010609060101010101" pitchFamily="49" charset="-122"/>
              </a:rPr>
              <a:t>1975</a:t>
            </a:r>
            <a:r>
              <a:rPr lang="zh-CN" altLang="en-US" sz="2400" b="1" noProof="1" smtClean="0">
                <a:solidFill>
                  <a:srgbClr val="0000FF"/>
                </a:solidFill>
                <a:latin typeface="Times New Roman" panose="02020603050405020304" pitchFamily="18" charset="0"/>
                <a:ea typeface="黑体" panose="02010609060101010101" pitchFamily="49" charset="-122"/>
              </a:rPr>
              <a:t>年的</a:t>
            </a:r>
            <a:r>
              <a:rPr lang="en-US" altLang="zh-CN" sz="2400" b="1" noProof="1" smtClean="0">
                <a:solidFill>
                  <a:srgbClr val="0000FF"/>
                </a:solidFill>
                <a:latin typeface="Times New Roman" panose="02020603050405020304" pitchFamily="18" charset="0"/>
                <a:ea typeface="黑体" panose="02010609060101010101" pitchFamily="49" charset="-122"/>
              </a:rPr>
              <a:t>68.14</a:t>
            </a:r>
            <a:r>
              <a:rPr lang="zh-CN" altLang="en-US" sz="2400" b="1" noProof="1" smtClean="0">
                <a:solidFill>
                  <a:srgbClr val="0000FF"/>
                </a:solidFill>
                <a:latin typeface="Times New Roman" panose="02020603050405020304" pitchFamily="18" charset="0"/>
                <a:ea typeface="黑体" panose="02010609060101010101" pitchFamily="49" charset="-122"/>
              </a:rPr>
              <a:t>岁。        </a:t>
            </a:r>
            <a:endParaRPr lang="zh-CN" altLang="en-US" sz="2400" b="1" noProof="1">
              <a:solidFill>
                <a:srgbClr val="0000FF"/>
              </a:solidFill>
              <a:latin typeface="Times New Roman" panose="02020603050405020304" pitchFamily="18" charset="0"/>
              <a:ea typeface="黑体" panose="02010609060101010101" pitchFamily="49" charset="-122"/>
            </a:endParaRPr>
          </a:p>
        </p:txBody>
      </p:sp>
      <p:sp>
        <p:nvSpPr>
          <p:cNvPr id="8" name="Rectangle 2"/>
          <p:cNvSpPr txBox="1">
            <a:spLocks/>
          </p:cNvSpPr>
          <p:nvPr/>
        </p:nvSpPr>
        <p:spPr>
          <a:xfrm>
            <a:off x="324136" y="4526284"/>
            <a:ext cx="8429684" cy="451598"/>
          </a:xfrm>
          <a:prstGeom prst="rect">
            <a:avLst/>
          </a:prstGeom>
          <a:solidFill>
            <a:schemeClr val="bg1"/>
          </a:solidFill>
          <a:ln w="12700">
            <a:solidFill>
              <a:srgbClr val="FF3300"/>
            </a:solidFill>
            <a:miter/>
          </a:ln>
        </p:spPr>
        <p:txBody>
          <a:bodyPr vert="horz" wrap="square" rtlCol="0">
            <a:spAutoFit/>
          </a:bodyPr>
          <a:lst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fontAlgn="base">
              <a:lnSpc>
                <a:spcPct val="105000"/>
              </a:lnSpc>
              <a:spcBef>
                <a:spcPct val="50000"/>
              </a:spcBef>
              <a:buFont typeface="Wingdings 2"/>
              <a:buNone/>
            </a:pPr>
            <a:r>
              <a:rPr lang="zh-CN" altLang="en-US" sz="2400" b="1" noProof="1" smtClean="0">
                <a:solidFill>
                  <a:srgbClr val="0000FF"/>
                </a:solidFill>
                <a:latin typeface="Times New Roman" panose="02020603050405020304" pitchFamily="18" charset="0"/>
                <a:ea typeface="黑体" panose="02010609060101010101" pitchFamily="49" charset="-122"/>
              </a:rPr>
              <a:t>科学技术取得一批重大成果。 </a:t>
            </a:r>
            <a:endParaRPr lang="zh-CN" altLang="en-US" sz="2400" b="1" noProof="1">
              <a:solidFill>
                <a:srgbClr val="0000FF"/>
              </a:solidFill>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xmlns="" val="732699938"/>
      </p:ext>
    </p:extLst>
  </p:cSld>
  <p:clrMapOvr>
    <a:masterClrMapping/>
  </p:clrMapOvr>
  <p:transition>
    <p:strips dir="rd"/>
    <p:sndAc>
      <p:stSnd>
        <p:snd r:embed="rId2" name="chimes.wav"/>
      </p:stSnd>
    </p:sndAc>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122" name="Picture 2" descr="https://timgsa.baidu.com/timg?image&amp;quality=80&amp;size=b9999_10000&amp;sec=1572951318363&amp;di=9c7af962c73ebd4ecf46a9855465901f&amp;imgtype=0&amp;src=http%3A%2F%2F5b0988e595225.cdn.sohucs.com%2Fimages%2F20190117%2F472d18b5326440589390022c94eda170.jpe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55574" y="66675"/>
            <a:ext cx="4467225" cy="3286126"/>
          </a:xfrm>
          <a:prstGeom prst="rect">
            <a:avLst/>
          </a:prstGeom>
          <a:noFill/>
          <a:extLst>
            <a:ext uri="{909E8E84-426E-40DD-AFC4-6F175D3DCCD1}">
              <a14:hiddenFill xmlns:a14="http://schemas.microsoft.com/office/drawing/2010/main" xmlns="">
                <a:solidFill>
                  <a:srgbClr val="FFFFFF"/>
                </a:solidFill>
              </a14:hiddenFill>
            </a:ext>
          </a:extLst>
        </p:spPr>
      </p:pic>
      <p:pic>
        <p:nvPicPr>
          <p:cNvPr id="5124" name="Picture 4" descr="https://timgsa.baidu.com/timg?image&amp;quality=80&amp;size=b9999_10000&amp;sec=1572951367737&amp;di=7f55ed50d29d5219a68955cf85ea256a&amp;imgtype=0&amp;src=http%3A%2F%2Fwww.satpro.cn%2FUploadFile%2Fimage%2F20180905%2F20180905170885558555.jp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716016" y="66675"/>
            <a:ext cx="4248472" cy="3133726"/>
          </a:xfrm>
          <a:prstGeom prst="rect">
            <a:avLst/>
          </a:prstGeom>
          <a:noFill/>
          <a:extLst>
            <a:ext uri="{909E8E84-426E-40DD-AFC4-6F175D3DCCD1}">
              <a14:hiddenFill xmlns:a14="http://schemas.microsoft.com/office/drawing/2010/main" xmlns="">
                <a:solidFill>
                  <a:srgbClr val="FFFFFF"/>
                </a:solidFill>
              </a14:hiddenFill>
            </a:ext>
          </a:extLst>
        </p:spPr>
      </p:pic>
      <p:pic>
        <p:nvPicPr>
          <p:cNvPr id="5126" name="Picture 6" descr="https://timgsa.baidu.com/timg?image&amp;quality=80&amp;size=b9999_10000&amp;sec=1572951419741&amp;di=6f538274514bf9b46b289abe0309d6db&amp;imgtype=0&amp;src=http%3A%2F%2Fepaper.voc.com.cn%2Fsxdsb%2Fimages%2F2016-01%2F07%2FE15%2Fres03_attpic_brief.jpg"/>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23528" y="3352800"/>
            <a:ext cx="3312368" cy="3505199"/>
          </a:xfrm>
          <a:prstGeom prst="rect">
            <a:avLst/>
          </a:prstGeom>
          <a:noFill/>
          <a:extLst>
            <a:ext uri="{909E8E84-426E-40DD-AFC4-6F175D3DCCD1}">
              <a14:hiddenFill xmlns:a14="http://schemas.microsoft.com/office/drawing/2010/main" xmlns="">
                <a:solidFill>
                  <a:srgbClr val="FFFFFF"/>
                </a:solidFill>
              </a14:hiddenFill>
            </a:ext>
          </a:extLst>
        </p:spPr>
      </p:pic>
      <p:pic>
        <p:nvPicPr>
          <p:cNvPr id="5128" name="Picture 8" descr="https://timgsa.baidu.com/timg?image&amp;quality=80&amp;size=b9999_10000&amp;sec=1572951586250&amp;di=3332ce958d00f15e29a3bbdef8dd1d65&amp;imgtype=0&amp;src=http%3A%2F%2Fphotocdn.sohu.com%2F20150917%2FImg421404822.jp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4000500" y="3352800"/>
            <a:ext cx="5143500" cy="384810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74205706"/>
      </p:ext>
    </p:extLst>
  </p:cSld>
  <p:clrMapOvr>
    <a:masterClrMapping/>
  </p:clrMapOvr>
  <p:transition>
    <p:strips dir="rd"/>
    <p:sndAc>
      <p:stSnd>
        <p:snd r:embed="rId2" name="chimes.wav"/>
      </p:stSnd>
    </p:sndAc>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solidFill>
            <a:schemeClr val="bg1"/>
          </a:solidFill>
          <a:ln>
            <a:solidFill>
              <a:schemeClr val="accent1"/>
            </a:solidFill>
          </a:ln>
        </p:spPr>
        <p:txBody>
          <a:bodyPr>
            <a:normAutofit/>
          </a:bodyPr>
          <a:lstStyle/>
          <a:p>
            <a:pPr algn="l"/>
            <a:r>
              <a:rPr lang="zh-CN" altLang="en-US" sz="3200" dirty="0" smtClean="0">
                <a:solidFill>
                  <a:srgbClr val="FF0000"/>
                </a:solidFill>
              </a:rPr>
              <a:t>（三）国际地位的提高与国际环境的改善</a:t>
            </a:r>
            <a:endParaRPr lang="zh-CN" altLang="en-US" sz="3200" dirty="0">
              <a:solidFill>
                <a:srgbClr val="FF0000"/>
              </a:solidFill>
            </a:endParaRPr>
          </a:p>
        </p:txBody>
      </p:sp>
      <p:pic>
        <p:nvPicPr>
          <p:cNvPr id="6146" name="Picture 2" descr="https://timgsa.baidu.com/timg?image&amp;quality=80&amp;size=b9999_10000&amp;sec=1572951720675&amp;di=4703e69aa175ce4e24c0324ef09f0b20&amp;imgtype=0&amp;src=http%3A%2F%2Fwww.cnr.cn%2Fjunshi%2Fjszl%2F201012%2FW020101221370611455031.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31842" y="2060848"/>
            <a:ext cx="4152126" cy="3714751"/>
          </a:xfrm>
          <a:prstGeom prst="rect">
            <a:avLst/>
          </a:prstGeom>
          <a:noFill/>
          <a:extLst>
            <a:ext uri="{909E8E84-426E-40DD-AFC4-6F175D3DCCD1}">
              <a14:hiddenFill xmlns:a14="http://schemas.microsoft.com/office/drawing/2010/main" xmlns="">
                <a:solidFill>
                  <a:srgbClr val="FFFFFF"/>
                </a:solidFill>
              </a14:hiddenFill>
            </a:ext>
          </a:extLst>
        </p:spPr>
      </p:pic>
      <p:pic>
        <p:nvPicPr>
          <p:cNvPr id="6148" name="Picture 4" descr="https://ss0.bdstatic.com/70cFvHSh_Q1YnxGkpoWK1HF6hhy/it/u=2602225950,966994026&amp;fm=26&amp;gp=0.jp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283968" y="2151335"/>
            <a:ext cx="4762500" cy="353377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74205706"/>
      </p:ext>
    </p:extLst>
  </p:cSld>
  <p:clrMapOvr>
    <a:masterClrMapping/>
  </p:clrMapOvr>
  <p:transition>
    <p:strips dir="rd"/>
    <p:sndAc>
      <p:stSnd>
        <p:snd r:embed="rId2" name="chimes.wav"/>
      </p:stSnd>
    </p:sndAc>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7170" name="Picture 2" descr="https://timgsa.baidu.com/timg?image&amp;quality=80&amp;size=b9999_10000&amp;sec=1572952002509&amp;di=36dc9dbbae90b3bf72aac99c2f5fd4e9&amp;imgtype=0&amp;src=http%3A%2F%2Fphotocdn.sohu.com%2F20061103%2FImg246174670.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55575" y="-459432"/>
            <a:ext cx="4000500" cy="3810000"/>
          </a:xfrm>
          <a:prstGeom prst="rect">
            <a:avLst/>
          </a:prstGeom>
          <a:noFill/>
          <a:extLst>
            <a:ext uri="{909E8E84-426E-40DD-AFC4-6F175D3DCCD1}">
              <a14:hiddenFill xmlns:a14="http://schemas.microsoft.com/office/drawing/2010/main" xmlns="">
                <a:solidFill>
                  <a:srgbClr val="FFFFFF"/>
                </a:solidFill>
              </a14:hiddenFill>
            </a:ext>
          </a:extLst>
        </p:spPr>
      </p:pic>
      <p:pic>
        <p:nvPicPr>
          <p:cNvPr id="7172" name="Picture 4" descr="https://timgsa.baidu.com/timg?image&amp;quality=80&amp;size=b9999_10000&amp;sec=1572952008425&amp;di=1963625ec201206468e7ec40bac3fa29&amp;imgtype=0&amp;src=http%3A%2F%2Fimg.hkwb.net%2Fattachement%2Fjpg%2Fsite2%2F20191008%2F94c6912ae6d51f064c0f37.jp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331171" y="-270047"/>
            <a:ext cx="4812829" cy="3521968"/>
          </a:xfrm>
          <a:prstGeom prst="rect">
            <a:avLst/>
          </a:prstGeom>
          <a:noFill/>
          <a:extLst>
            <a:ext uri="{909E8E84-426E-40DD-AFC4-6F175D3DCCD1}">
              <a14:hiddenFill xmlns:a14="http://schemas.microsoft.com/office/drawing/2010/main" xmlns="">
                <a:solidFill>
                  <a:srgbClr val="FFFFFF"/>
                </a:solidFill>
              </a14:hiddenFill>
            </a:ext>
          </a:extLst>
        </p:spPr>
      </p:pic>
      <p:pic>
        <p:nvPicPr>
          <p:cNvPr id="7174" name="Picture 6" descr="https://timgsa.baidu.com/timg?image&amp;quality=80&amp;size=b9999_10000&amp;sec=1572952169598&amp;di=ae54c1809ae4a19ce14ffda049bd711f&amp;imgtype=0&amp;src=http%3A%2F%2Fimg1.gtimg.com%2Fcul%2Fpics%2Fhv1%2F173%2F21%2F1929%2F125438753.png"/>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449" y="3350568"/>
            <a:ext cx="5004048" cy="3186312"/>
          </a:xfrm>
          <a:prstGeom prst="rect">
            <a:avLst/>
          </a:prstGeom>
          <a:noFill/>
          <a:extLst>
            <a:ext uri="{909E8E84-426E-40DD-AFC4-6F175D3DCCD1}">
              <a14:hiddenFill xmlns:a14="http://schemas.microsoft.com/office/drawing/2010/main" xmlns="">
                <a:solidFill>
                  <a:srgbClr val="FFFFFF"/>
                </a:solidFill>
              </a14:hiddenFill>
            </a:ext>
          </a:extLst>
        </p:spPr>
      </p:pic>
      <p:pic>
        <p:nvPicPr>
          <p:cNvPr id="7176" name="Picture 8" descr="https://ss0.bdstatic.com/70cFuHSh_Q1YnxGkpoWK1HF6hhy/it/u=3339716306,2581851054&amp;fm=15&amp;gp=0.jp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4788024" y="3284984"/>
            <a:ext cx="4464496" cy="367883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33809778"/>
      </p:ext>
    </p:extLst>
  </p:cSld>
  <p:clrMapOvr>
    <a:masterClrMapping/>
  </p:clrMapOvr>
  <p:transition>
    <p:strips dir="rd"/>
    <p:sndAc>
      <p:stSnd>
        <p:snd r:embed="rId2" name="chimes.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18864" y="1988840"/>
            <a:ext cx="8229600" cy="1143000"/>
          </a:xfrm>
        </p:spPr>
        <p:txBody>
          <a:bodyPr/>
          <a:lstStyle/>
          <a:p>
            <a:r>
              <a:rPr lang="en-US" altLang="zh-CN" dirty="0"/>
              <a:t>111</a:t>
            </a:r>
            <a:r>
              <a:rPr lang="zh-CN" altLang="en-US" dirty="0"/>
              <a:t>个</a:t>
            </a:r>
          </a:p>
        </p:txBody>
      </p:sp>
      <p:pic>
        <p:nvPicPr>
          <p:cNvPr id="8194" name="Picture 2" descr="https://timgsa.baidu.com/timg?image&amp;quality=80&amp;size=b9999_10000&amp;sec=1572952352682&amp;di=a96291f6b9621c5803c9b96f37ecdc83&amp;imgtype=0&amp;src=http%3A%2F%2Fpic.1010jiajiao.com%2Fpic1%2Fimggzls%2F241%2F741.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0629" y="11561"/>
            <a:ext cx="5715000" cy="2381250"/>
          </a:xfrm>
          <a:prstGeom prst="rect">
            <a:avLst/>
          </a:prstGeom>
          <a:noFill/>
          <a:extLst>
            <a:ext uri="{909E8E84-426E-40DD-AFC4-6F175D3DCCD1}">
              <a14:hiddenFill xmlns:a14="http://schemas.microsoft.com/office/drawing/2010/main" xmlns="">
                <a:solidFill>
                  <a:srgbClr val="FFFFFF"/>
                </a:solidFill>
              </a14:hiddenFill>
            </a:ext>
          </a:extLst>
        </p:spPr>
      </p:pic>
      <p:pic>
        <p:nvPicPr>
          <p:cNvPr id="8196" name="Picture 4" descr="https://timgsa.baidu.com/timg?image&amp;quality=80&amp;size=b9999_10000&amp;sec=1572952352682&amp;di=8d57bd223d296703f17697e1ef174362&amp;imgtype=0&amp;src=http%3A%2F%2F5b0988e595225.cdn.sohucs.com%2Fimages%2F20171020%2F27fbda57d05c4897ab000d8f602511f1.jpe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6859" y="2396665"/>
            <a:ext cx="4926637" cy="3862214"/>
          </a:xfrm>
          <a:prstGeom prst="rect">
            <a:avLst/>
          </a:prstGeom>
          <a:noFill/>
          <a:extLst>
            <a:ext uri="{909E8E84-426E-40DD-AFC4-6F175D3DCCD1}">
              <a14:hiddenFill xmlns:a14="http://schemas.microsoft.com/office/drawing/2010/main" xmlns="">
                <a:solidFill>
                  <a:srgbClr val="FFFFFF"/>
                </a:solidFill>
              </a14:hiddenFill>
            </a:ext>
          </a:extLst>
        </p:spPr>
      </p:pic>
      <p:pic>
        <p:nvPicPr>
          <p:cNvPr id="8198" name="Picture 6" descr="https://timgsa.baidu.com/timg?image&amp;quality=80&amp;size=b9999_10000&amp;sec=1572952352671&amp;di=4320d020253f4ddd3e1690b00887795d&amp;imgtype=0&amp;src=http%3A%2F%2F5b0988e595225.cdn.sohucs.com%2Fq_70%2Cc_zoom%2Cw_640%2Fimages%2F20180402%2Fabc6c94d08e545d4af113cf764fbfe44.jpeg"/>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5148064" y="2236979"/>
            <a:ext cx="3600400" cy="4653136"/>
          </a:xfrm>
          <a:prstGeom prst="rect">
            <a:avLst/>
          </a:prstGeom>
          <a:noFill/>
          <a:extLst>
            <a:ext uri="{909E8E84-426E-40DD-AFC4-6F175D3DCCD1}">
              <a14:hiddenFill xmlns:a14="http://schemas.microsoft.com/office/drawing/2010/main" xmlns="">
                <a:solidFill>
                  <a:srgbClr val="FFFFFF"/>
                </a:solidFill>
              </a14:hiddenFill>
            </a:ext>
          </a:extLst>
        </p:spPr>
      </p:pic>
      <p:sp>
        <p:nvSpPr>
          <p:cNvPr id="4" name="矩形 3"/>
          <p:cNvSpPr/>
          <p:nvPr/>
        </p:nvSpPr>
        <p:spPr>
          <a:xfrm>
            <a:off x="4189010" y="3244334"/>
            <a:ext cx="765979" cy="369332"/>
          </a:xfrm>
          <a:prstGeom prst="rect">
            <a:avLst/>
          </a:prstGeom>
        </p:spPr>
        <p:txBody>
          <a:bodyPr wrap="none">
            <a:spAutoFit/>
          </a:bodyPr>
          <a:lstStyle/>
          <a:p>
            <a:r>
              <a:rPr lang="en-US" altLang="zh-CN" dirty="0"/>
              <a:t>111</a:t>
            </a:r>
            <a:r>
              <a:rPr lang="zh-CN" altLang="en-US" dirty="0"/>
              <a:t>个</a:t>
            </a:r>
          </a:p>
        </p:txBody>
      </p:sp>
    </p:spTree>
    <p:extLst>
      <p:ext uri="{BB962C8B-B14F-4D97-AF65-F5344CB8AC3E}">
        <p14:creationId xmlns:p14="http://schemas.microsoft.com/office/powerpoint/2010/main" xmlns="" val="333809778"/>
      </p:ext>
    </p:extLst>
  </p:cSld>
  <p:clrMapOvr>
    <a:masterClrMapping/>
  </p:clrMapOvr>
  <p:transition>
    <p:strips dir="rd"/>
    <p:sndAc>
      <p:stSnd>
        <p:snd r:embed="rId2" name="chimes.wav"/>
      </p:stSnd>
    </p:sndAc>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692696"/>
            <a:ext cx="8136904" cy="674031"/>
          </a:xfrm>
          <a:prstGeom prst="rect">
            <a:avLst/>
          </a:prstGeom>
          <a:solidFill>
            <a:schemeClr val="bg1"/>
          </a:solidFill>
          <a:ln>
            <a:solidFill>
              <a:schemeClr val="accent1"/>
            </a:solidFill>
          </a:ln>
        </p:spPr>
        <p:txBody>
          <a:bodyPr wrap="square">
            <a:spAutoFit/>
          </a:bodyPr>
          <a:lstStyle/>
          <a:p>
            <a:pPr>
              <a:lnSpc>
                <a:spcPct val="105000"/>
              </a:lnSpc>
              <a:spcBef>
                <a:spcPct val="50000"/>
              </a:spcBef>
            </a:pPr>
            <a:r>
              <a:rPr lang="zh-CN" altLang="en-US" sz="3600" b="1" noProof="1" smtClean="0">
                <a:ln w="10160">
                  <a:solidFill>
                    <a:srgbClr val="0000FF"/>
                  </a:solidFill>
                  <a:prstDash val="solid"/>
                </a:ln>
                <a:solidFill>
                  <a:srgbClr val="FF0000"/>
                </a:solidFill>
                <a:effectLst>
                  <a:outerShdw blurRad="38100" dist="22860" dir="5400000" algn="tl" rotWithShape="0">
                    <a:srgbClr val="000000">
                      <a:alpha val="30000"/>
                    </a:srgbClr>
                  </a:outerShdw>
                </a:effectLst>
                <a:latin typeface="华文琥珀" pitchFamily="2" charset="-122"/>
                <a:ea typeface="华文琥珀" pitchFamily="2" charset="-122"/>
              </a:rPr>
              <a:t>专题二   </a:t>
            </a:r>
            <a:r>
              <a:rPr lang="zh-CN" altLang="en-US" sz="3600" b="1" noProof="1">
                <a:ln w="10160">
                  <a:solidFill>
                    <a:srgbClr val="0000FF"/>
                  </a:solidFill>
                  <a:prstDash val="solid"/>
                </a:ln>
                <a:solidFill>
                  <a:srgbClr val="FF0000"/>
                </a:solidFill>
                <a:effectLst>
                  <a:outerShdw blurRad="38100" dist="22860" dir="5400000" algn="tl" rotWithShape="0">
                    <a:srgbClr val="000000">
                      <a:alpha val="30000"/>
                    </a:srgbClr>
                  </a:outerShdw>
                </a:effectLst>
                <a:latin typeface="华文琥珀" pitchFamily="2" charset="-122"/>
                <a:ea typeface="华文琥珀" pitchFamily="2" charset="-122"/>
              </a:rPr>
              <a:t>初步探索的意义和经验</a:t>
            </a:r>
            <a:r>
              <a:rPr lang="zh-CN" altLang="en-US" sz="3600" b="1" noProof="1" smtClean="0">
                <a:ln w="10160">
                  <a:solidFill>
                    <a:srgbClr val="0000FF"/>
                  </a:solidFill>
                  <a:prstDash val="solid"/>
                </a:ln>
                <a:solidFill>
                  <a:srgbClr val="FF0000"/>
                </a:solidFill>
                <a:effectLst>
                  <a:outerShdw blurRad="38100" dist="22860" dir="5400000" algn="tl" rotWithShape="0">
                    <a:srgbClr val="000000">
                      <a:alpha val="30000"/>
                    </a:srgbClr>
                  </a:outerShdw>
                </a:effectLst>
                <a:latin typeface="华文琥珀" pitchFamily="2" charset="-122"/>
                <a:ea typeface="华文琥珀" pitchFamily="2" charset="-122"/>
              </a:rPr>
              <a:t>教训</a:t>
            </a:r>
            <a:endParaRPr lang="zh-CN" altLang="en-US" sz="3600" b="1" noProof="1">
              <a:latin typeface="华文琥珀" pitchFamily="2" charset="-122"/>
              <a:ea typeface="华文琥珀" pitchFamily="2" charset="-122"/>
            </a:endParaRPr>
          </a:p>
        </p:txBody>
      </p:sp>
      <p:pic>
        <p:nvPicPr>
          <p:cNvPr id="30722" name="Picture 2" descr="https://gimg2.baidu.com/image_search/src=http%3A%2F%2Fwww.51wendang.com%2Fpic%2F2c7cc98a0233007fe88bb4f7%2F20-810-jpg_6-1080-0-0-1080.jpg&amp;refer=http%3A%2F%2Fwww.51wendang.com&amp;app=2002&amp;size=f9999,10000&amp;q=a80&amp;n=0&amp;g=0n&amp;fmt=jpeg?sec=1639488324&amp;t=68170a9a5c0ea578260cf27a495c0828"/>
          <p:cNvPicPr>
            <a:picLocks noChangeAspect="1" noChangeArrowheads="1"/>
          </p:cNvPicPr>
          <p:nvPr/>
        </p:nvPicPr>
        <p:blipFill>
          <a:blip r:embed="rId3" cstate="print"/>
          <a:srcRect/>
          <a:stretch>
            <a:fillRect/>
          </a:stretch>
        </p:blipFill>
        <p:spPr bwMode="auto">
          <a:xfrm>
            <a:off x="251520" y="1772816"/>
            <a:ext cx="4464496" cy="5085184"/>
          </a:xfrm>
          <a:prstGeom prst="rect">
            <a:avLst/>
          </a:prstGeom>
          <a:noFill/>
        </p:spPr>
      </p:pic>
      <p:pic>
        <p:nvPicPr>
          <p:cNvPr id="30724" name="Picture 4" descr="https://gimg2.baidu.com/image_search/src=http%3A%2F%2Fwww.51wendang.com%2Fpic%2F2c7cc98a0233007fe88bb4f7%2F10-810-jpg_6-1080-0-0-1080.jpg&amp;refer=http%3A%2F%2Fwww.51wendang.com&amp;app=2002&amp;size=f9999,10000&amp;q=a80&amp;n=0&amp;g=0n&amp;fmt=jpeg?sec=1639488324&amp;t=5bdfa90487d633d8164d68642fa9fefa"/>
          <p:cNvPicPr>
            <a:picLocks noChangeAspect="1" noChangeArrowheads="1"/>
          </p:cNvPicPr>
          <p:nvPr/>
        </p:nvPicPr>
        <p:blipFill>
          <a:blip r:embed="rId4" cstate="print"/>
          <a:srcRect/>
          <a:stretch>
            <a:fillRect/>
          </a:stretch>
        </p:blipFill>
        <p:spPr bwMode="auto">
          <a:xfrm>
            <a:off x="4463480" y="1807045"/>
            <a:ext cx="4680520" cy="5050955"/>
          </a:xfrm>
          <a:prstGeom prst="rect">
            <a:avLst/>
          </a:prstGeom>
          <a:noFill/>
        </p:spPr>
      </p:pic>
    </p:spTree>
    <p:extLst>
      <p:ext uri="{BB962C8B-B14F-4D97-AF65-F5344CB8AC3E}">
        <p14:creationId xmlns:p14="http://schemas.microsoft.com/office/powerpoint/2010/main" xmlns="" val="2113176816"/>
      </p:ext>
    </p:extLst>
  </p:cSld>
  <p:clrMapOvr>
    <a:masterClrMapping/>
  </p:clrMapOvr>
  <p:transition>
    <p:strips dir="rd"/>
    <p:sndAc>
      <p:stSnd>
        <p:snd r:embed="rId2" name="chimes.wav"/>
      </p:stSnd>
    </p:sndAc>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8" name="Text Box 4"/>
          <p:cNvSpPr txBox="1">
            <a:spLocks noChangeArrowheads="1"/>
          </p:cNvSpPr>
          <p:nvPr/>
        </p:nvSpPr>
        <p:spPr bwMode="auto">
          <a:xfrm>
            <a:off x="2681288" y="1044575"/>
            <a:ext cx="704850" cy="711200"/>
          </a:xfrm>
          <a:prstGeom prst="rect">
            <a:avLst/>
          </a:prstGeom>
          <a:solidFill>
            <a:srgbClr val="FF3300"/>
          </a:solidFill>
          <a:ln w="9525">
            <a:solidFill>
              <a:schemeClr val="tx1"/>
            </a:solidFill>
            <a:miter lim="800000"/>
            <a:headEnd/>
            <a:tailEnd/>
          </a:ln>
          <a:effectLst/>
        </p:spPr>
        <p:txBody>
          <a:bodyPr wrap="none">
            <a:spAutoFit/>
          </a:bodyPr>
          <a:lstStyle/>
          <a:p>
            <a:pPr>
              <a:defRPr/>
            </a:pPr>
            <a:r>
              <a:rPr kumimoji="1" lang="zh-CN" altLang="en-US" sz="2000" b="1">
                <a:effectLst>
                  <a:outerShdw blurRad="38100" dist="38100" dir="2700000" algn="tl">
                    <a:srgbClr val="000000"/>
                  </a:outerShdw>
                </a:effectLst>
                <a:latin typeface="黑体" pitchFamily="2" charset="-122"/>
                <a:ea typeface="黑体" pitchFamily="2" charset="-122"/>
              </a:rPr>
              <a:t>整风</a:t>
            </a:r>
          </a:p>
          <a:p>
            <a:pPr>
              <a:defRPr/>
            </a:pPr>
            <a:r>
              <a:rPr kumimoji="1" lang="zh-CN" altLang="en-US" sz="2000" b="1">
                <a:effectLst>
                  <a:outerShdw blurRad="38100" dist="38100" dir="2700000" algn="tl">
                    <a:srgbClr val="000000"/>
                  </a:outerShdw>
                </a:effectLst>
                <a:latin typeface="黑体" pitchFamily="2" charset="-122"/>
                <a:ea typeface="黑体" pitchFamily="2" charset="-122"/>
              </a:rPr>
              <a:t>运动</a:t>
            </a:r>
          </a:p>
        </p:txBody>
      </p:sp>
      <p:grpSp>
        <p:nvGrpSpPr>
          <p:cNvPr id="23555" name="Group 5"/>
          <p:cNvGrpSpPr>
            <a:grpSpLocks/>
          </p:cNvGrpSpPr>
          <p:nvPr/>
        </p:nvGrpSpPr>
        <p:grpSpPr bwMode="auto">
          <a:xfrm>
            <a:off x="2681288" y="1808163"/>
            <a:ext cx="704850" cy="1108075"/>
            <a:chOff x="1584" y="1440"/>
            <a:chExt cx="444" cy="698"/>
          </a:xfrm>
        </p:grpSpPr>
        <p:sp>
          <p:nvSpPr>
            <p:cNvPr id="139270" name="Text Box 6"/>
            <p:cNvSpPr txBox="1">
              <a:spLocks noChangeArrowheads="1"/>
            </p:cNvSpPr>
            <p:nvPr/>
          </p:nvSpPr>
          <p:spPr bwMode="auto">
            <a:xfrm>
              <a:off x="1584" y="1690"/>
              <a:ext cx="444" cy="448"/>
            </a:xfrm>
            <a:prstGeom prst="rect">
              <a:avLst/>
            </a:prstGeom>
            <a:solidFill>
              <a:srgbClr val="FF3300"/>
            </a:solidFill>
            <a:ln w="9525">
              <a:solidFill>
                <a:schemeClr val="bg2"/>
              </a:solidFill>
              <a:miter lim="800000"/>
              <a:headEnd/>
              <a:tailEnd/>
            </a:ln>
            <a:effectLst/>
          </p:spPr>
          <p:txBody>
            <a:bodyPr wrap="none">
              <a:spAutoFit/>
            </a:bodyPr>
            <a:lstStyle/>
            <a:p>
              <a:pPr>
                <a:defRPr/>
              </a:pPr>
              <a:r>
                <a:rPr kumimoji="1" lang="zh-CN" altLang="en-US" sz="2000" b="1">
                  <a:effectLst>
                    <a:outerShdw blurRad="38100" dist="38100" dir="2700000" algn="tl">
                      <a:srgbClr val="000000"/>
                    </a:outerShdw>
                  </a:effectLst>
                  <a:latin typeface="黑体" pitchFamily="2" charset="-122"/>
                  <a:ea typeface="黑体" pitchFamily="2" charset="-122"/>
                </a:rPr>
                <a:t>反右</a:t>
              </a:r>
            </a:p>
            <a:p>
              <a:pPr>
                <a:defRPr/>
              </a:pPr>
              <a:r>
                <a:rPr kumimoji="1" lang="zh-CN" altLang="en-US" sz="2000" b="1">
                  <a:effectLst>
                    <a:outerShdw blurRad="38100" dist="38100" dir="2700000" algn="tl">
                      <a:srgbClr val="000000"/>
                    </a:outerShdw>
                  </a:effectLst>
                  <a:latin typeface="黑体" pitchFamily="2" charset="-122"/>
                  <a:ea typeface="黑体" pitchFamily="2" charset="-122"/>
                </a:rPr>
                <a:t>斗争</a:t>
              </a:r>
            </a:p>
          </p:txBody>
        </p:sp>
        <p:sp>
          <p:nvSpPr>
            <p:cNvPr id="23605" name="Line 7"/>
            <p:cNvSpPr>
              <a:spLocks noChangeShapeType="1"/>
            </p:cNvSpPr>
            <p:nvPr/>
          </p:nvSpPr>
          <p:spPr bwMode="auto">
            <a:xfrm>
              <a:off x="1824" y="1440"/>
              <a:ext cx="0" cy="192"/>
            </a:xfrm>
            <a:prstGeom prst="line">
              <a:avLst/>
            </a:prstGeom>
            <a:noFill/>
            <a:ln w="3810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grpSp>
      <p:sp>
        <p:nvSpPr>
          <p:cNvPr id="139273" name="Text Box 9"/>
          <p:cNvSpPr txBox="1">
            <a:spLocks noChangeArrowheads="1"/>
          </p:cNvSpPr>
          <p:nvPr/>
        </p:nvSpPr>
        <p:spPr bwMode="auto">
          <a:xfrm>
            <a:off x="206375" y="2708275"/>
            <a:ext cx="601663" cy="1076325"/>
          </a:xfrm>
          <a:prstGeom prst="rect">
            <a:avLst/>
          </a:prstGeom>
          <a:solidFill>
            <a:srgbClr val="FF3300"/>
          </a:solidFill>
          <a:ln w="9525">
            <a:solidFill>
              <a:schemeClr val="bg2"/>
            </a:solidFill>
            <a:miter lim="800000"/>
            <a:headEnd/>
            <a:tailEnd/>
          </a:ln>
          <a:effectLst/>
        </p:spPr>
        <p:txBody>
          <a:bodyPr wrap="none">
            <a:spAutoFit/>
          </a:bodyPr>
          <a:lstStyle/>
          <a:p>
            <a:pPr>
              <a:defRPr/>
            </a:pPr>
            <a:r>
              <a:rPr kumimoji="1" lang="zh-CN" altLang="en-US" sz="3200" b="1">
                <a:effectLst>
                  <a:outerShdw blurRad="38100" dist="38100" dir="2700000" algn="tl">
                    <a:srgbClr val="000000"/>
                  </a:outerShdw>
                </a:effectLst>
                <a:latin typeface="黑体" pitchFamily="2" charset="-122"/>
                <a:ea typeface="黑体" pitchFamily="2" charset="-122"/>
              </a:rPr>
              <a:t>探</a:t>
            </a:r>
          </a:p>
          <a:p>
            <a:pPr>
              <a:defRPr/>
            </a:pPr>
            <a:r>
              <a:rPr kumimoji="1" lang="zh-CN" altLang="en-US" sz="3200" b="1">
                <a:effectLst>
                  <a:outerShdw blurRad="38100" dist="38100" dir="2700000" algn="tl">
                    <a:srgbClr val="000000"/>
                  </a:outerShdw>
                </a:effectLst>
                <a:latin typeface="黑体" pitchFamily="2" charset="-122"/>
                <a:ea typeface="黑体" pitchFamily="2" charset="-122"/>
              </a:rPr>
              <a:t>索</a:t>
            </a:r>
          </a:p>
        </p:txBody>
      </p:sp>
      <p:sp>
        <p:nvSpPr>
          <p:cNvPr id="139274" name="Text Box 10"/>
          <p:cNvSpPr txBox="1">
            <a:spLocks noChangeArrowheads="1"/>
          </p:cNvSpPr>
          <p:nvPr/>
        </p:nvSpPr>
        <p:spPr bwMode="auto">
          <a:xfrm>
            <a:off x="971550" y="1358900"/>
            <a:ext cx="600075" cy="1076325"/>
          </a:xfrm>
          <a:prstGeom prst="rect">
            <a:avLst/>
          </a:prstGeom>
          <a:solidFill>
            <a:srgbClr val="FF3300"/>
          </a:solidFill>
          <a:ln w="9525">
            <a:solidFill>
              <a:schemeClr val="bg2"/>
            </a:solidFill>
            <a:miter lim="800000"/>
            <a:headEnd/>
            <a:tailEnd/>
          </a:ln>
          <a:effectLst/>
        </p:spPr>
        <p:txBody>
          <a:bodyPr wrap="none">
            <a:spAutoFit/>
          </a:bodyPr>
          <a:lstStyle/>
          <a:p>
            <a:pPr>
              <a:defRPr/>
            </a:pPr>
            <a:r>
              <a:rPr kumimoji="1" lang="zh-CN" altLang="en-US" sz="3200" b="1">
                <a:effectLst>
                  <a:outerShdw blurRad="38100" dist="38100" dir="2700000" algn="tl">
                    <a:srgbClr val="000000"/>
                  </a:outerShdw>
                </a:effectLst>
                <a:latin typeface="黑体" pitchFamily="2" charset="-122"/>
                <a:ea typeface="黑体" pitchFamily="2" charset="-122"/>
              </a:rPr>
              <a:t>政</a:t>
            </a:r>
          </a:p>
          <a:p>
            <a:pPr>
              <a:defRPr/>
            </a:pPr>
            <a:r>
              <a:rPr kumimoji="1" lang="zh-CN" altLang="en-US" sz="3200" b="1">
                <a:effectLst>
                  <a:outerShdw blurRad="38100" dist="38100" dir="2700000" algn="tl">
                    <a:srgbClr val="000000"/>
                  </a:outerShdw>
                </a:effectLst>
                <a:latin typeface="黑体" pitchFamily="2" charset="-122"/>
                <a:ea typeface="黑体" pitchFamily="2" charset="-122"/>
              </a:rPr>
              <a:t>治</a:t>
            </a:r>
          </a:p>
        </p:txBody>
      </p:sp>
      <p:sp>
        <p:nvSpPr>
          <p:cNvPr id="139275" name="Text Box 11"/>
          <p:cNvSpPr txBox="1">
            <a:spLocks noChangeArrowheads="1"/>
          </p:cNvSpPr>
          <p:nvPr/>
        </p:nvSpPr>
        <p:spPr bwMode="auto">
          <a:xfrm>
            <a:off x="881063" y="4103688"/>
            <a:ext cx="685800" cy="1076325"/>
          </a:xfrm>
          <a:prstGeom prst="rect">
            <a:avLst/>
          </a:prstGeom>
          <a:solidFill>
            <a:srgbClr val="FF3300"/>
          </a:solidFill>
          <a:ln w="9525">
            <a:solidFill>
              <a:schemeClr val="bg2"/>
            </a:solidFill>
            <a:miter lim="800000"/>
            <a:headEnd/>
            <a:tailEnd/>
          </a:ln>
          <a:effectLst/>
        </p:spPr>
        <p:txBody>
          <a:bodyPr>
            <a:spAutoFit/>
          </a:bodyPr>
          <a:lstStyle/>
          <a:p>
            <a:pPr>
              <a:defRPr/>
            </a:pPr>
            <a:r>
              <a:rPr kumimoji="1" lang="zh-CN" altLang="en-US" sz="3200" b="1">
                <a:effectLst>
                  <a:outerShdw blurRad="38100" dist="38100" dir="2700000" algn="tl">
                    <a:srgbClr val="000000"/>
                  </a:outerShdw>
                </a:effectLst>
                <a:latin typeface="黑体" pitchFamily="2" charset="-122"/>
                <a:ea typeface="黑体" pitchFamily="2" charset="-122"/>
              </a:rPr>
              <a:t>经</a:t>
            </a:r>
          </a:p>
          <a:p>
            <a:pPr>
              <a:defRPr/>
            </a:pPr>
            <a:r>
              <a:rPr kumimoji="1" lang="zh-CN" altLang="en-US" sz="3200" b="1">
                <a:effectLst>
                  <a:outerShdw blurRad="38100" dist="38100" dir="2700000" algn="tl">
                    <a:srgbClr val="000000"/>
                  </a:outerShdw>
                </a:effectLst>
                <a:latin typeface="黑体" pitchFamily="2" charset="-122"/>
                <a:ea typeface="黑体" pitchFamily="2" charset="-122"/>
              </a:rPr>
              <a:t>济</a:t>
            </a:r>
          </a:p>
        </p:txBody>
      </p:sp>
      <p:sp>
        <p:nvSpPr>
          <p:cNvPr id="23559" name="Line 12"/>
          <p:cNvSpPr>
            <a:spLocks noChangeShapeType="1"/>
          </p:cNvSpPr>
          <p:nvPr/>
        </p:nvSpPr>
        <p:spPr bwMode="auto">
          <a:xfrm flipV="1">
            <a:off x="792163" y="2438400"/>
            <a:ext cx="457200" cy="762000"/>
          </a:xfrm>
          <a:prstGeom prst="line">
            <a:avLst/>
          </a:prstGeom>
          <a:noFill/>
          <a:ln w="5715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23560" name="Line 13"/>
          <p:cNvSpPr>
            <a:spLocks noChangeShapeType="1"/>
          </p:cNvSpPr>
          <p:nvPr/>
        </p:nvSpPr>
        <p:spPr bwMode="auto">
          <a:xfrm>
            <a:off x="836613" y="3249613"/>
            <a:ext cx="457200" cy="762000"/>
          </a:xfrm>
          <a:prstGeom prst="line">
            <a:avLst/>
          </a:prstGeom>
          <a:noFill/>
          <a:ln w="5715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139279" name="Text Box 15"/>
          <p:cNvSpPr txBox="1">
            <a:spLocks noChangeArrowheads="1"/>
          </p:cNvSpPr>
          <p:nvPr/>
        </p:nvSpPr>
        <p:spPr bwMode="auto">
          <a:xfrm>
            <a:off x="4343400" y="969963"/>
            <a:ext cx="1084263" cy="711200"/>
          </a:xfrm>
          <a:prstGeom prst="rect">
            <a:avLst/>
          </a:prstGeom>
          <a:solidFill>
            <a:srgbClr val="FF3300"/>
          </a:solidFill>
          <a:ln w="9525">
            <a:solidFill>
              <a:schemeClr val="bg2"/>
            </a:solidFill>
            <a:miter lim="800000"/>
            <a:headEnd/>
            <a:tailEnd/>
          </a:ln>
          <a:effectLst/>
        </p:spPr>
        <p:txBody>
          <a:bodyPr>
            <a:spAutoFit/>
          </a:bodyPr>
          <a:lstStyle/>
          <a:p>
            <a:pPr>
              <a:defRPr/>
            </a:pPr>
            <a:r>
              <a:rPr kumimoji="1" lang="zh-CN" altLang="en-US" sz="2000" b="1">
                <a:effectLst>
                  <a:outerShdw blurRad="38100" dist="38100" dir="2700000" algn="tl">
                    <a:srgbClr val="000000"/>
                  </a:outerShdw>
                </a:effectLst>
                <a:latin typeface="黑体" pitchFamily="2" charset="-122"/>
                <a:ea typeface="黑体" pitchFamily="2" charset="-122"/>
              </a:rPr>
              <a:t>反右扩大化</a:t>
            </a:r>
          </a:p>
        </p:txBody>
      </p:sp>
      <p:sp>
        <p:nvSpPr>
          <p:cNvPr id="23562" name="Line 16"/>
          <p:cNvSpPr>
            <a:spLocks noChangeShapeType="1"/>
          </p:cNvSpPr>
          <p:nvPr/>
        </p:nvSpPr>
        <p:spPr bwMode="auto">
          <a:xfrm flipV="1">
            <a:off x="3429000" y="1427163"/>
            <a:ext cx="914400" cy="685800"/>
          </a:xfrm>
          <a:prstGeom prst="line">
            <a:avLst/>
          </a:prstGeom>
          <a:noFill/>
          <a:ln w="5715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grpSp>
        <p:nvGrpSpPr>
          <p:cNvPr id="23563" name="Group 17"/>
          <p:cNvGrpSpPr>
            <a:grpSpLocks/>
          </p:cNvGrpSpPr>
          <p:nvPr/>
        </p:nvGrpSpPr>
        <p:grpSpPr bwMode="auto">
          <a:xfrm>
            <a:off x="7162800" y="2630488"/>
            <a:ext cx="884238" cy="1076325"/>
            <a:chOff x="4464" y="1958"/>
            <a:chExt cx="557" cy="678"/>
          </a:xfrm>
        </p:grpSpPr>
        <p:sp>
          <p:nvSpPr>
            <p:cNvPr id="139282" name="Text Box 18"/>
            <p:cNvSpPr txBox="1">
              <a:spLocks noChangeArrowheads="1"/>
            </p:cNvSpPr>
            <p:nvPr/>
          </p:nvSpPr>
          <p:spPr bwMode="auto">
            <a:xfrm>
              <a:off x="4643" y="1958"/>
              <a:ext cx="378" cy="678"/>
            </a:xfrm>
            <a:prstGeom prst="rect">
              <a:avLst/>
            </a:prstGeom>
            <a:solidFill>
              <a:srgbClr val="FF3300"/>
            </a:solidFill>
            <a:ln w="9525">
              <a:solidFill>
                <a:schemeClr val="bg2"/>
              </a:solidFill>
              <a:miter lim="800000"/>
              <a:headEnd/>
              <a:tailEnd/>
            </a:ln>
            <a:effectLst/>
          </p:spPr>
          <p:txBody>
            <a:bodyPr wrap="none">
              <a:spAutoFit/>
            </a:bodyPr>
            <a:lstStyle/>
            <a:p>
              <a:pPr>
                <a:defRPr/>
              </a:pPr>
              <a:r>
                <a:rPr kumimoji="1" lang="zh-CN" altLang="en-US" sz="3200" b="1">
                  <a:effectLst>
                    <a:outerShdw blurRad="38100" dist="38100" dir="2700000" algn="tl">
                      <a:srgbClr val="000000"/>
                    </a:outerShdw>
                  </a:effectLst>
                  <a:latin typeface="黑体" pitchFamily="2" charset="-122"/>
                  <a:ea typeface="黑体" pitchFamily="2" charset="-122"/>
                </a:rPr>
                <a:t>纠</a:t>
              </a:r>
            </a:p>
            <a:p>
              <a:pPr>
                <a:defRPr/>
              </a:pPr>
              <a:r>
                <a:rPr kumimoji="1" lang="zh-CN" altLang="en-US" sz="3200" b="1">
                  <a:effectLst>
                    <a:outerShdw blurRad="38100" dist="38100" dir="2700000" algn="tl">
                      <a:srgbClr val="000000"/>
                    </a:outerShdw>
                  </a:effectLst>
                  <a:latin typeface="黑体" pitchFamily="2" charset="-122"/>
                  <a:ea typeface="黑体" pitchFamily="2" charset="-122"/>
                </a:rPr>
                <a:t>左</a:t>
              </a:r>
            </a:p>
          </p:txBody>
        </p:sp>
        <p:sp>
          <p:nvSpPr>
            <p:cNvPr id="23603" name="Line 19"/>
            <p:cNvSpPr>
              <a:spLocks noChangeShapeType="1"/>
            </p:cNvSpPr>
            <p:nvPr/>
          </p:nvSpPr>
          <p:spPr bwMode="auto">
            <a:xfrm>
              <a:off x="4464" y="2304"/>
              <a:ext cx="192" cy="0"/>
            </a:xfrm>
            <a:prstGeom prst="line">
              <a:avLst/>
            </a:prstGeom>
            <a:noFill/>
            <a:ln w="7620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grpSp>
      <p:grpSp>
        <p:nvGrpSpPr>
          <p:cNvPr id="23564" name="Group 20"/>
          <p:cNvGrpSpPr>
            <a:grpSpLocks/>
          </p:cNvGrpSpPr>
          <p:nvPr/>
        </p:nvGrpSpPr>
        <p:grpSpPr bwMode="auto">
          <a:xfrm>
            <a:off x="2590800" y="2655888"/>
            <a:ext cx="1493838" cy="1076325"/>
            <a:chOff x="1584" y="1974"/>
            <a:chExt cx="941" cy="678"/>
          </a:xfrm>
        </p:grpSpPr>
        <p:sp>
          <p:nvSpPr>
            <p:cNvPr id="139285" name="Text Box 21"/>
            <p:cNvSpPr txBox="1">
              <a:spLocks noChangeArrowheads="1"/>
            </p:cNvSpPr>
            <p:nvPr/>
          </p:nvSpPr>
          <p:spPr bwMode="auto">
            <a:xfrm>
              <a:off x="2147" y="1974"/>
              <a:ext cx="378" cy="678"/>
            </a:xfrm>
            <a:prstGeom prst="rect">
              <a:avLst/>
            </a:prstGeom>
            <a:solidFill>
              <a:srgbClr val="FF3300"/>
            </a:solidFill>
            <a:ln w="9525">
              <a:solidFill>
                <a:schemeClr val="bg2"/>
              </a:solidFill>
              <a:miter lim="800000"/>
              <a:headEnd/>
              <a:tailEnd/>
            </a:ln>
            <a:effectLst/>
          </p:spPr>
          <p:txBody>
            <a:bodyPr wrap="none">
              <a:spAutoFit/>
            </a:bodyPr>
            <a:lstStyle/>
            <a:p>
              <a:pPr>
                <a:defRPr/>
              </a:pPr>
              <a:r>
                <a:rPr kumimoji="1" lang="zh-CN" altLang="en-US" sz="3200" b="1">
                  <a:effectLst>
                    <a:outerShdw blurRad="38100" dist="38100" dir="2700000" algn="tl">
                      <a:srgbClr val="000000"/>
                    </a:outerShdw>
                  </a:effectLst>
                  <a:latin typeface="黑体" pitchFamily="2" charset="-122"/>
                  <a:ea typeface="黑体" pitchFamily="2" charset="-122"/>
                </a:rPr>
                <a:t>曲</a:t>
              </a:r>
            </a:p>
            <a:p>
              <a:pPr>
                <a:defRPr/>
              </a:pPr>
              <a:r>
                <a:rPr kumimoji="1" lang="zh-CN" altLang="en-US" sz="3200" b="1">
                  <a:effectLst>
                    <a:outerShdw blurRad="38100" dist="38100" dir="2700000" algn="tl">
                      <a:srgbClr val="000000"/>
                    </a:outerShdw>
                  </a:effectLst>
                  <a:latin typeface="黑体" pitchFamily="2" charset="-122"/>
                  <a:ea typeface="黑体" pitchFamily="2" charset="-122"/>
                </a:rPr>
                <a:t>折</a:t>
              </a:r>
            </a:p>
          </p:txBody>
        </p:sp>
        <p:sp>
          <p:nvSpPr>
            <p:cNvPr id="23601" name="Line 22"/>
            <p:cNvSpPr>
              <a:spLocks noChangeShapeType="1"/>
            </p:cNvSpPr>
            <p:nvPr/>
          </p:nvSpPr>
          <p:spPr bwMode="auto">
            <a:xfrm>
              <a:off x="1584" y="2304"/>
              <a:ext cx="576" cy="0"/>
            </a:xfrm>
            <a:prstGeom prst="line">
              <a:avLst/>
            </a:prstGeom>
            <a:noFill/>
            <a:ln w="7620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grpSp>
      <p:sp>
        <p:nvSpPr>
          <p:cNvPr id="139288" name="Text Box 24"/>
          <p:cNvSpPr txBox="1">
            <a:spLocks noChangeArrowheads="1"/>
          </p:cNvSpPr>
          <p:nvPr/>
        </p:nvSpPr>
        <p:spPr bwMode="auto">
          <a:xfrm>
            <a:off x="1752600" y="1349375"/>
            <a:ext cx="806450" cy="831850"/>
          </a:xfrm>
          <a:prstGeom prst="rect">
            <a:avLst/>
          </a:prstGeom>
          <a:solidFill>
            <a:srgbClr val="FF3300"/>
          </a:solidFill>
          <a:ln w="9525">
            <a:solidFill>
              <a:srgbClr val="003300"/>
            </a:solidFill>
            <a:miter lim="800000"/>
            <a:headEnd/>
            <a:tailEnd/>
          </a:ln>
          <a:effectLst/>
        </p:spPr>
        <p:txBody>
          <a:bodyPr wrap="none">
            <a:spAutoFit/>
          </a:bodyPr>
          <a:lstStyle/>
          <a:p>
            <a:pPr>
              <a:defRPr/>
            </a:pPr>
            <a:r>
              <a:rPr kumimoji="1" lang="zh-CN" altLang="en-US" sz="2400" b="1">
                <a:effectLst>
                  <a:outerShdw blurRad="38100" dist="38100" dir="2700000" algn="tl">
                    <a:srgbClr val="000000"/>
                  </a:outerShdw>
                </a:effectLst>
                <a:latin typeface="黑体" pitchFamily="2" charset="-122"/>
                <a:ea typeface="黑体" pitchFamily="2" charset="-122"/>
              </a:rPr>
              <a:t>主要</a:t>
            </a:r>
          </a:p>
          <a:p>
            <a:pPr>
              <a:defRPr/>
            </a:pPr>
            <a:r>
              <a:rPr kumimoji="1" lang="zh-CN" altLang="en-US" sz="2400" b="1">
                <a:effectLst>
                  <a:outerShdw blurRad="38100" dist="38100" dir="2700000" algn="tl">
                    <a:srgbClr val="000000"/>
                  </a:outerShdw>
                </a:effectLst>
                <a:latin typeface="黑体" pitchFamily="2" charset="-122"/>
                <a:ea typeface="黑体" pitchFamily="2" charset="-122"/>
              </a:rPr>
              <a:t>矛盾</a:t>
            </a:r>
          </a:p>
        </p:txBody>
      </p:sp>
      <p:sp>
        <p:nvSpPr>
          <p:cNvPr id="139289" name="Text Box 25"/>
          <p:cNvSpPr txBox="1">
            <a:spLocks noChangeArrowheads="1"/>
          </p:cNvSpPr>
          <p:nvPr/>
        </p:nvSpPr>
        <p:spPr bwMode="auto">
          <a:xfrm>
            <a:off x="1752600" y="4210050"/>
            <a:ext cx="806450" cy="831850"/>
          </a:xfrm>
          <a:prstGeom prst="rect">
            <a:avLst/>
          </a:prstGeom>
          <a:solidFill>
            <a:srgbClr val="FF3300"/>
          </a:solidFill>
          <a:ln w="9525">
            <a:solidFill>
              <a:srgbClr val="003300"/>
            </a:solidFill>
            <a:miter lim="800000"/>
            <a:headEnd/>
            <a:tailEnd/>
          </a:ln>
          <a:effectLst/>
        </p:spPr>
        <p:txBody>
          <a:bodyPr wrap="none">
            <a:spAutoFit/>
          </a:bodyPr>
          <a:lstStyle/>
          <a:p>
            <a:pPr>
              <a:defRPr/>
            </a:pPr>
            <a:r>
              <a:rPr kumimoji="1" lang="zh-CN" altLang="en-US" sz="2400" b="1">
                <a:effectLst>
                  <a:outerShdw blurRad="38100" dist="38100" dir="2700000" algn="tl">
                    <a:srgbClr val="000000"/>
                  </a:outerShdw>
                </a:effectLst>
                <a:latin typeface="黑体" pitchFamily="2" charset="-122"/>
                <a:ea typeface="黑体" pitchFamily="2" charset="-122"/>
              </a:rPr>
              <a:t>建设</a:t>
            </a:r>
          </a:p>
          <a:p>
            <a:pPr>
              <a:defRPr/>
            </a:pPr>
            <a:r>
              <a:rPr kumimoji="1" lang="zh-CN" altLang="en-US" sz="2400" b="1">
                <a:effectLst>
                  <a:outerShdw blurRad="38100" dist="38100" dir="2700000" algn="tl">
                    <a:srgbClr val="000000"/>
                  </a:outerShdw>
                </a:effectLst>
                <a:latin typeface="黑体" pitchFamily="2" charset="-122"/>
                <a:ea typeface="黑体" pitchFamily="2" charset="-122"/>
              </a:rPr>
              <a:t>方针</a:t>
            </a:r>
          </a:p>
        </p:txBody>
      </p:sp>
      <p:sp>
        <p:nvSpPr>
          <p:cNvPr id="23567" name="Line 26"/>
          <p:cNvSpPr>
            <a:spLocks noChangeShapeType="1"/>
          </p:cNvSpPr>
          <p:nvPr/>
        </p:nvSpPr>
        <p:spPr bwMode="auto">
          <a:xfrm>
            <a:off x="2133600" y="3560763"/>
            <a:ext cx="0" cy="609600"/>
          </a:xfrm>
          <a:prstGeom prst="line">
            <a:avLst/>
          </a:prstGeom>
          <a:noFill/>
          <a:ln w="57150">
            <a:solidFill>
              <a:srgbClr val="003300"/>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23568" name="Line 27"/>
          <p:cNvSpPr>
            <a:spLocks noChangeShapeType="1"/>
          </p:cNvSpPr>
          <p:nvPr/>
        </p:nvSpPr>
        <p:spPr bwMode="auto">
          <a:xfrm flipV="1">
            <a:off x="2133600" y="2112963"/>
            <a:ext cx="0" cy="533400"/>
          </a:xfrm>
          <a:prstGeom prst="line">
            <a:avLst/>
          </a:prstGeom>
          <a:noFill/>
          <a:ln w="57150">
            <a:solidFill>
              <a:srgbClr val="003300"/>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139292" name="Oval 28"/>
          <p:cNvSpPr>
            <a:spLocks noChangeArrowheads="1"/>
          </p:cNvSpPr>
          <p:nvPr/>
        </p:nvSpPr>
        <p:spPr bwMode="auto">
          <a:xfrm>
            <a:off x="1676400" y="2646363"/>
            <a:ext cx="914400" cy="914400"/>
          </a:xfrm>
          <a:prstGeom prst="ellipse">
            <a:avLst/>
          </a:prstGeom>
          <a:solidFill>
            <a:srgbClr val="FF3300"/>
          </a:solidFill>
          <a:ln w="9525">
            <a:solidFill>
              <a:srgbClr val="003300"/>
            </a:solidFill>
            <a:round/>
            <a:headEnd/>
            <a:tailEnd/>
          </a:ln>
          <a:effectLst/>
        </p:spPr>
        <p:txBody>
          <a:bodyPr wrap="none" anchor="ctr"/>
          <a:lstStyle/>
          <a:p>
            <a:pPr algn="ctr">
              <a:defRPr/>
            </a:pPr>
            <a:r>
              <a:rPr kumimoji="1" lang="zh-CN" altLang="en-US" sz="2400" b="1">
                <a:effectLst>
                  <a:outerShdw blurRad="38100" dist="38100" dir="2700000" algn="tl">
                    <a:srgbClr val="000000"/>
                  </a:outerShdw>
                </a:effectLst>
                <a:latin typeface="黑体" pitchFamily="2" charset="-122"/>
                <a:ea typeface="黑体" pitchFamily="2" charset="-122"/>
              </a:rPr>
              <a:t>中共</a:t>
            </a:r>
          </a:p>
          <a:p>
            <a:pPr algn="ctr">
              <a:defRPr/>
            </a:pPr>
            <a:r>
              <a:rPr kumimoji="1" lang="zh-CN" altLang="en-US" sz="2400" b="1">
                <a:effectLst>
                  <a:outerShdw blurRad="38100" dist="38100" dir="2700000" algn="tl">
                    <a:srgbClr val="000000"/>
                  </a:outerShdw>
                </a:effectLst>
                <a:latin typeface="黑体" pitchFamily="2" charset="-122"/>
                <a:ea typeface="黑体" pitchFamily="2" charset="-122"/>
              </a:rPr>
              <a:t>八大</a:t>
            </a:r>
          </a:p>
        </p:txBody>
      </p:sp>
      <p:sp>
        <p:nvSpPr>
          <p:cNvPr id="23570" name="Line 29"/>
          <p:cNvSpPr>
            <a:spLocks noChangeShapeType="1"/>
          </p:cNvSpPr>
          <p:nvPr/>
        </p:nvSpPr>
        <p:spPr bwMode="auto">
          <a:xfrm>
            <a:off x="838200" y="3179763"/>
            <a:ext cx="838200" cy="0"/>
          </a:xfrm>
          <a:prstGeom prst="line">
            <a:avLst/>
          </a:prstGeom>
          <a:noFill/>
          <a:ln w="76200">
            <a:solidFill>
              <a:srgbClr val="003300"/>
            </a:solidFill>
            <a:round/>
            <a:headEnd/>
            <a:tailEnd/>
          </a:ln>
          <a:extLst>
            <a:ext uri="{909E8E84-426E-40DD-AFC4-6F175D3DCCD1}">
              <a14:hiddenFill xmlns:a14="http://schemas.microsoft.com/office/drawing/2010/main" xmlns="">
                <a:noFill/>
              </a14:hiddenFill>
            </a:ext>
          </a:extLst>
        </p:spPr>
        <p:txBody>
          <a:bodyPr wrap="none"/>
          <a:lstStyle/>
          <a:p>
            <a:endParaRPr lang="zh-CN" altLang="en-US"/>
          </a:p>
        </p:txBody>
      </p:sp>
      <p:sp>
        <p:nvSpPr>
          <p:cNvPr id="139294" name="Text Box 30"/>
          <p:cNvSpPr txBox="1">
            <a:spLocks noChangeArrowheads="1"/>
          </p:cNvSpPr>
          <p:nvPr/>
        </p:nvSpPr>
        <p:spPr bwMode="auto">
          <a:xfrm>
            <a:off x="2727325" y="3968750"/>
            <a:ext cx="719138" cy="1320800"/>
          </a:xfrm>
          <a:prstGeom prst="rect">
            <a:avLst/>
          </a:prstGeom>
          <a:solidFill>
            <a:srgbClr val="FF3300"/>
          </a:solidFill>
          <a:ln w="9525">
            <a:solidFill>
              <a:srgbClr val="003300"/>
            </a:solidFill>
            <a:miter lim="800000"/>
            <a:headEnd/>
            <a:tailEnd/>
          </a:ln>
          <a:effectLst/>
        </p:spPr>
        <p:txBody>
          <a:bodyPr>
            <a:spAutoFit/>
          </a:bodyPr>
          <a:lstStyle/>
          <a:p>
            <a:pPr>
              <a:defRPr/>
            </a:pPr>
            <a:r>
              <a:rPr kumimoji="1" lang="zh-CN" altLang="en-US" sz="2000" b="1">
                <a:effectLst>
                  <a:outerShdw blurRad="38100" dist="38100" dir="2700000" algn="tl">
                    <a:srgbClr val="000000"/>
                  </a:outerShdw>
                </a:effectLst>
                <a:latin typeface="黑体" pitchFamily="2" charset="-122"/>
                <a:ea typeface="黑体" pitchFamily="2" charset="-122"/>
              </a:rPr>
              <a:t>综合</a:t>
            </a:r>
          </a:p>
          <a:p>
            <a:pPr>
              <a:defRPr/>
            </a:pPr>
            <a:r>
              <a:rPr kumimoji="1" lang="zh-CN" altLang="en-US" sz="2000" b="1">
                <a:effectLst>
                  <a:outerShdw blurRad="38100" dist="38100" dir="2700000" algn="tl">
                    <a:srgbClr val="000000"/>
                  </a:outerShdw>
                </a:effectLst>
                <a:latin typeface="黑体" pitchFamily="2" charset="-122"/>
                <a:ea typeface="黑体" pitchFamily="2" charset="-122"/>
              </a:rPr>
              <a:t>平衡</a:t>
            </a:r>
          </a:p>
          <a:p>
            <a:pPr>
              <a:defRPr/>
            </a:pPr>
            <a:r>
              <a:rPr kumimoji="1" lang="zh-CN" altLang="en-US" sz="2000" b="1">
                <a:effectLst>
                  <a:outerShdw blurRad="38100" dist="38100" dir="2700000" algn="tl">
                    <a:srgbClr val="000000"/>
                  </a:outerShdw>
                </a:effectLst>
                <a:latin typeface="黑体" pitchFamily="2" charset="-122"/>
                <a:ea typeface="黑体" pitchFamily="2" charset="-122"/>
              </a:rPr>
              <a:t>稳步</a:t>
            </a:r>
          </a:p>
          <a:p>
            <a:pPr>
              <a:defRPr/>
            </a:pPr>
            <a:r>
              <a:rPr kumimoji="1" lang="zh-CN" altLang="en-US" sz="2000" b="1">
                <a:effectLst>
                  <a:outerShdw blurRad="38100" dist="38100" dir="2700000" algn="tl">
                    <a:srgbClr val="000000"/>
                  </a:outerShdw>
                </a:effectLst>
                <a:latin typeface="黑体" pitchFamily="2" charset="-122"/>
                <a:ea typeface="黑体" pitchFamily="2" charset="-122"/>
              </a:rPr>
              <a:t>前进</a:t>
            </a:r>
          </a:p>
        </p:txBody>
      </p:sp>
      <p:sp>
        <p:nvSpPr>
          <p:cNvPr id="139296" name="Text Box 32"/>
          <p:cNvSpPr txBox="1">
            <a:spLocks noChangeArrowheads="1"/>
          </p:cNvSpPr>
          <p:nvPr/>
        </p:nvSpPr>
        <p:spPr bwMode="auto">
          <a:xfrm>
            <a:off x="4346575" y="2074863"/>
            <a:ext cx="1081088" cy="711200"/>
          </a:xfrm>
          <a:prstGeom prst="rect">
            <a:avLst/>
          </a:prstGeom>
          <a:solidFill>
            <a:srgbClr val="FF3300"/>
          </a:solidFill>
          <a:ln w="9525">
            <a:solidFill>
              <a:schemeClr val="bg2"/>
            </a:solidFill>
            <a:miter lim="800000"/>
            <a:headEnd/>
            <a:tailEnd/>
          </a:ln>
          <a:effectLst/>
        </p:spPr>
        <p:txBody>
          <a:bodyPr>
            <a:spAutoFit/>
          </a:bodyPr>
          <a:lstStyle/>
          <a:p>
            <a:pPr>
              <a:defRPr/>
            </a:pPr>
            <a:r>
              <a:rPr kumimoji="1" lang="zh-CN" altLang="en-US" sz="2000" b="1">
                <a:effectLst>
                  <a:outerShdw blurRad="38100" dist="38100" dir="2700000" algn="tl">
                    <a:srgbClr val="000000"/>
                  </a:outerShdw>
                </a:effectLst>
                <a:latin typeface="黑体" pitchFamily="2" charset="-122"/>
                <a:ea typeface="黑体" pitchFamily="2" charset="-122"/>
              </a:rPr>
              <a:t>反右倾</a:t>
            </a:r>
          </a:p>
          <a:p>
            <a:pPr>
              <a:defRPr/>
            </a:pPr>
            <a:r>
              <a:rPr kumimoji="1" lang="zh-CN" altLang="en-US" sz="2000" b="1">
                <a:effectLst>
                  <a:outerShdw blurRad="38100" dist="38100" dir="2700000" algn="tl">
                    <a:srgbClr val="000000"/>
                  </a:outerShdw>
                </a:effectLst>
                <a:latin typeface="黑体" pitchFamily="2" charset="-122"/>
                <a:ea typeface="黑体" pitchFamily="2" charset="-122"/>
              </a:rPr>
              <a:t>斗争</a:t>
            </a:r>
          </a:p>
        </p:txBody>
      </p:sp>
      <p:sp>
        <p:nvSpPr>
          <p:cNvPr id="23573" name="Line 33"/>
          <p:cNvSpPr>
            <a:spLocks noChangeShapeType="1"/>
          </p:cNvSpPr>
          <p:nvPr/>
        </p:nvSpPr>
        <p:spPr bwMode="auto">
          <a:xfrm>
            <a:off x="4932363" y="1719263"/>
            <a:ext cx="0" cy="304800"/>
          </a:xfrm>
          <a:prstGeom prst="line">
            <a:avLst/>
          </a:prstGeom>
          <a:noFill/>
          <a:ln w="3810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139299" name="Text Box 35"/>
          <p:cNvSpPr txBox="1">
            <a:spLocks noChangeArrowheads="1"/>
          </p:cNvSpPr>
          <p:nvPr/>
        </p:nvSpPr>
        <p:spPr bwMode="auto">
          <a:xfrm>
            <a:off x="4392613" y="3384550"/>
            <a:ext cx="1049337" cy="711200"/>
          </a:xfrm>
          <a:prstGeom prst="rect">
            <a:avLst/>
          </a:prstGeom>
          <a:solidFill>
            <a:srgbClr val="FF3300"/>
          </a:solidFill>
          <a:ln w="9525">
            <a:solidFill>
              <a:schemeClr val="bg2"/>
            </a:solidFill>
            <a:miter lim="800000"/>
            <a:headEnd/>
            <a:tailEnd/>
          </a:ln>
          <a:effectLst/>
        </p:spPr>
        <p:txBody>
          <a:bodyPr>
            <a:spAutoFit/>
          </a:bodyPr>
          <a:lstStyle/>
          <a:p>
            <a:pPr>
              <a:defRPr/>
            </a:pPr>
            <a:r>
              <a:rPr kumimoji="1" lang="zh-CN" altLang="en-US" sz="2000" b="1">
                <a:effectLst>
                  <a:outerShdw blurRad="38100" dist="38100" dir="2700000" algn="tl">
                    <a:srgbClr val="000000"/>
                  </a:outerShdw>
                </a:effectLst>
                <a:latin typeface="黑体" pitchFamily="2" charset="-122"/>
                <a:ea typeface="黑体" pitchFamily="2" charset="-122"/>
              </a:rPr>
              <a:t>建设</a:t>
            </a:r>
          </a:p>
          <a:p>
            <a:pPr>
              <a:defRPr/>
            </a:pPr>
            <a:r>
              <a:rPr kumimoji="1" lang="zh-CN" altLang="en-US" sz="2000" b="1">
                <a:effectLst>
                  <a:outerShdw blurRad="38100" dist="38100" dir="2700000" algn="tl">
                    <a:srgbClr val="000000"/>
                  </a:outerShdw>
                </a:effectLst>
                <a:latin typeface="黑体" pitchFamily="2" charset="-122"/>
                <a:ea typeface="黑体" pitchFamily="2" charset="-122"/>
              </a:rPr>
              <a:t>总路线</a:t>
            </a:r>
          </a:p>
        </p:txBody>
      </p:sp>
      <p:sp>
        <p:nvSpPr>
          <p:cNvPr id="139300" name="Text Box 36"/>
          <p:cNvSpPr txBox="1">
            <a:spLocks noChangeArrowheads="1"/>
          </p:cNvSpPr>
          <p:nvPr/>
        </p:nvSpPr>
        <p:spPr bwMode="auto">
          <a:xfrm>
            <a:off x="4378325" y="4329113"/>
            <a:ext cx="1049338" cy="711200"/>
          </a:xfrm>
          <a:prstGeom prst="rect">
            <a:avLst/>
          </a:prstGeom>
          <a:solidFill>
            <a:srgbClr val="FF3300"/>
          </a:solidFill>
          <a:ln w="9525">
            <a:solidFill>
              <a:schemeClr val="bg2"/>
            </a:solidFill>
            <a:miter lim="800000"/>
            <a:headEnd/>
            <a:tailEnd/>
          </a:ln>
          <a:effectLst/>
        </p:spPr>
        <p:txBody>
          <a:bodyPr>
            <a:spAutoFit/>
          </a:bodyPr>
          <a:lstStyle/>
          <a:p>
            <a:pPr>
              <a:defRPr/>
            </a:pPr>
            <a:r>
              <a:rPr kumimoji="1" lang="zh-CN" altLang="en-US" sz="2000" b="1">
                <a:effectLst>
                  <a:outerShdw blurRad="38100" dist="38100" dir="2700000" algn="tl">
                    <a:srgbClr val="000000"/>
                  </a:outerShdw>
                </a:effectLst>
                <a:latin typeface="黑体" pitchFamily="2" charset="-122"/>
                <a:ea typeface="黑体" pitchFamily="2" charset="-122"/>
              </a:rPr>
              <a:t>大跃进</a:t>
            </a:r>
          </a:p>
          <a:p>
            <a:pPr>
              <a:defRPr/>
            </a:pPr>
            <a:r>
              <a:rPr kumimoji="1" lang="zh-CN" altLang="en-US" sz="2000" b="1">
                <a:effectLst>
                  <a:outerShdw blurRad="38100" dist="38100" dir="2700000" algn="tl">
                    <a:srgbClr val="000000"/>
                  </a:outerShdw>
                </a:effectLst>
                <a:latin typeface="黑体" pitchFamily="2" charset="-122"/>
                <a:ea typeface="黑体" pitchFamily="2" charset="-122"/>
              </a:rPr>
              <a:t>运动</a:t>
            </a:r>
          </a:p>
        </p:txBody>
      </p:sp>
      <p:sp>
        <p:nvSpPr>
          <p:cNvPr id="139301" name="Text Box 37"/>
          <p:cNvSpPr txBox="1">
            <a:spLocks noChangeArrowheads="1"/>
          </p:cNvSpPr>
          <p:nvPr/>
        </p:nvSpPr>
        <p:spPr bwMode="auto">
          <a:xfrm>
            <a:off x="4392613" y="5319713"/>
            <a:ext cx="1049337" cy="711200"/>
          </a:xfrm>
          <a:prstGeom prst="rect">
            <a:avLst/>
          </a:prstGeom>
          <a:solidFill>
            <a:srgbClr val="FF3300"/>
          </a:solidFill>
          <a:ln w="9525">
            <a:solidFill>
              <a:schemeClr val="bg2"/>
            </a:solidFill>
            <a:miter lim="800000"/>
            <a:headEnd/>
            <a:tailEnd/>
          </a:ln>
          <a:effectLst/>
        </p:spPr>
        <p:txBody>
          <a:bodyPr>
            <a:spAutoFit/>
          </a:bodyPr>
          <a:lstStyle/>
          <a:p>
            <a:pPr>
              <a:defRPr/>
            </a:pPr>
            <a:r>
              <a:rPr kumimoji="1" lang="zh-CN" altLang="en-US" sz="2000" b="1">
                <a:effectLst>
                  <a:outerShdw blurRad="38100" dist="38100" dir="2700000" algn="tl">
                    <a:srgbClr val="000000"/>
                  </a:outerShdw>
                </a:effectLst>
                <a:latin typeface="黑体" pitchFamily="2" charset="-122"/>
                <a:ea typeface="黑体" pitchFamily="2" charset="-122"/>
              </a:rPr>
              <a:t>人民公社化</a:t>
            </a:r>
          </a:p>
        </p:txBody>
      </p:sp>
      <p:sp>
        <p:nvSpPr>
          <p:cNvPr id="23577" name="Line 38"/>
          <p:cNvSpPr>
            <a:spLocks noChangeShapeType="1"/>
          </p:cNvSpPr>
          <p:nvPr/>
        </p:nvSpPr>
        <p:spPr bwMode="auto">
          <a:xfrm>
            <a:off x="3429000" y="4779963"/>
            <a:ext cx="609600" cy="0"/>
          </a:xfrm>
          <a:prstGeom prst="line">
            <a:avLst/>
          </a:prstGeom>
          <a:noFill/>
          <a:ln w="5715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23578" name="Line 39"/>
          <p:cNvSpPr>
            <a:spLocks noChangeShapeType="1"/>
          </p:cNvSpPr>
          <p:nvPr/>
        </p:nvSpPr>
        <p:spPr bwMode="auto">
          <a:xfrm>
            <a:off x="4953000" y="4094163"/>
            <a:ext cx="0" cy="304800"/>
          </a:xfrm>
          <a:prstGeom prst="line">
            <a:avLst/>
          </a:prstGeom>
          <a:noFill/>
          <a:ln w="3810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23579" name="Line 40"/>
          <p:cNvSpPr>
            <a:spLocks noChangeShapeType="1"/>
          </p:cNvSpPr>
          <p:nvPr/>
        </p:nvSpPr>
        <p:spPr bwMode="auto">
          <a:xfrm>
            <a:off x="4976813" y="5003800"/>
            <a:ext cx="0" cy="304800"/>
          </a:xfrm>
          <a:prstGeom prst="line">
            <a:avLst/>
          </a:prstGeom>
          <a:noFill/>
          <a:ln w="3810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23580" name="AutoShape 41"/>
          <p:cNvSpPr>
            <a:spLocks/>
          </p:cNvSpPr>
          <p:nvPr/>
        </p:nvSpPr>
        <p:spPr bwMode="auto">
          <a:xfrm>
            <a:off x="4038600" y="3636963"/>
            <a:ext cx="304800" cy="2286000"/>
          </a:xfrm>
          <a:prstGeom prst="leftBrace">
            <a:avLst>
              <a:gd name="adj1" fmla="val 62500"/>
              <a:gd name="adj2" fmla="val 50000"/>
            </a:avLst>
          </a:prstGeom>
          <a:noFill/>
          <a:ln w="31750">
            <a:solidFill>
              <a:schemeClr val="bg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139307" name="Text Box 43"/>
          <p:cNvSpPr txBox="1">
            <a:spLocks noChangeArrowheads="1"/>
          </p:cNvSpPr>
          <p:nvPr/>
        </p:nvSpPr>
        <p:spPr bwMode="auto">
          <a:xfrm>
            <a:off x="6642100" y="2484438"/>
            <a:ext cx="498475" cy="1562100"/>
          </a:xfrm>
          <a:prstGeom prst="rect">
            <a:avLst/>
          </a:prstGeom>
          <a:solidFill>
            <a:srgbClr val="FF3300"/>
          </a:solidFill>
          <a:ln w="9525">
            <a:solidFill>
              <a:schemeClr val="bg2"/>
            </a:solidFill>
            <a:miter lim="800000"/>
            <a:headEnd/>
            <a:tailEnd/>
          </a:ln>
          <a:effectLst/>
        </p:spPr>
        <p:txBody>
          <a:bodyPr wrap="none">
            <a:spAutoFit/>
          </a:bodyPr>
          <a:lstStyle/>
          <a:p>
            <a:pPr>
              <a:defRPr/>
            </a:pPr>
            <a:r>
              <a:rPr kumimoji="1" lang="zh-CN" altLang="en-US" sz="2400" b="1">
                <a:effectLst>
                  <a:outerShdw blurRad="38100" dist="38100" dir="2700000" algn="tl">
                    <a:srgbClr val="000000"/>
                  </a:outerShdw>
                </a:effectLst>
                <a:latin typeface="黑体" pitchFamily="2" charset="-122"/>
                <a:ea typeface="黑体" pitchFamily="2" charset="-122"/>
              </a:rPr>
              <a:t>三</a:t>
            </a:r>
          </a:p>
          <a:p>
            <a:pPr>
              <a:defRPr/>
            </a:pPr>
            <a:r>
              <a:rPr kumimoji="1" lang="zh-CN" altLang="en-US" sz="2400" b="1">
                <a:effectLst>
                  <a:outerShdw blurRad="38100" dist="38100" dir="2700000" algn="tl">
                    <a:srgbClr val="000000"/>
                  </a:outerShdw>
                </a:effectLst>
                <a:latin typeface="黑体" pitchFamily="2" charset="-122"/>
                <a:ea typeface="黑体" pitchFamily="2" charset="-122"/>
              </a:rPr>
              <a:t>年</a:t>
            </a:r>
          </a:p>
          <a:p>
            <a:pPr>
              <a:defRPr/>
            </a:pPr>
            <a:r>
              <a:rPr kumimoji="1" lang="zh-CN" altLang="en-US" sz="2400" b="1">
                <a:effectLst>
                  <a:outerShdw blurRad="38100" dist="38100" dir="2700000" algn="tl">
                    <a:srgbClr val="000000"/>
                  </a:outerShdw>
                </a:effectLst>
                <a:latin typeface="黑体" pitchFamily="2" charset="-122"/>
                <a:ea typeface="黑体" pitchFamily="2" charset="-122"/>
              </a:rPr>
              <a:t>困</a:t>
            </a:r>
          </a:p>
          <a:p>
            <a:pPr>
              <a:defRPr/>
            </a:pPr>
            <a:r>
              <a:rPr kumimoji="1" lang="zh-CN" altLang="en-US" sz="2400" b="1">
                <a:effectLst>
                  <a:outerShdw blurRad="38100" dist="38100" dir="2700000" algn="tl">
                    <a:srgbClr val="000000"/>
                  </a:outerShdw>
                </a:effectLst>
                <a:latin typeface="黑体" pitchFamily="2" charset="-122"/>
                <a:ea typeface="黑体" pitchFamily="2" charset="-122"/>
              </a:rPr>
              <a:t>难</a:t>
            </a:r>
          </a:p>
        </p:txBody>
      </p:sp>
      <p:sp>
        <p:nvSpPr>
          <p:cNvPr id="23582" name="Line 44"/>
          <p:cNvSpPr>
            <a:spLocks noChangeShapeType="1"/>
          </p:cNvSpPr>
          <p:nvPr/>
        </p:nvSpPr>
        <p:spPr bwMode="auto">
          <a:xfrm>
            <a:off x="4167188" y="3159125"/>
            <a:ext cx="2286000" cy="0"/>
          </a:xfrm>
          <a:prstGeom prst="line">
            <a:avLst/>
          </a:prstGeom>
          <a:noFill/>
          <a:ln w="7620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139310" name="Text Box 46"/>
          <p:cNvSpPr txBox="1">
            <a:spLocks noChangeArrowheads="1"/>
          </p:cNvSpPr>
          <p:nvPr/>
        </p:nvSpPr>
        <p:spPr bwMode="auto">
          <a:xfrm rot="3514093">
            <a:off x="5526088" y="2062163"/>
            <a:ext cx="1219200" cy="406400"/>
          </a:xfrm>
          <a:prstGeom prst="rect">
            <a:avLst/>
          </a:prstGeom>
          <a:solidFill>
            <a:srgbClr val="FF3300"/>
          </a:solidFill>
          <a:ln w="9525">
            <a:solidFill>
              <a:schemeClr val="bg2"/>
            </a:solidFill>
            <a:miter lim="800000"/>
            <a:headEnd/>
            <a:tailEnd/>
          </a:ln>
          <a:effectLst/>
        </p:spPr>
        <p:txBody>
          <a:bodyPr>
            <a:spAutoFit/>
          </a:bodyPr>
          <a:lstStyle/>
          <a:p>
            <a:pPr>
              <a:defRPr/>
            </a:pPr>
            <a:r>
              <a:rPr kumimoji="1" lang="zh-CN" altLang="en-US" sz="2000" b="1">
                <a:effectLst>
                  <a:outerShdw blurRad="38100" dist="38100" dir="2700000" algn="tl">
                    <a:srgbClr val="000000"/>
                  </a:outerShdw>
                </a:effectLst>
                <a:latin typeface="华文新魏" pitchFamily="2" charset="-122"/>
                <a:ea typeface="华文新魏" pitchFamily="2" charset="-122"/>
              </a:rPr>
              <a:t>自然灾害</a:t>
            </a:r>
          </a:p>
        </p:txBody>
      </p:sp>
      <p:sp>
        <p:nvSpPr>
          <p:cNvPr id="139311" name="Text Box 47"/>
          <p:cNvSpPr txBox="1">
            <a:spLocks noChangeArrowheads="1"/>
          </p:cNvSpPr>
          <p:nvPr/>
        </p:nvSpPr>
        <p:spPr bwMode="auto">
          <a:xfrm rot="-3942023">
            <a:off x="5620544" y="4156869"/>
            <a:ext cx="1108075" cy="376237"/>
          </a:xfrm>
          <a:prstGeom prst="rect">
            <a:avLst/>
          </a:prstGeom>
          <a:solidFill>
            <a:srgbClr val="FF3300"/>
          </a:solidFill>
          <a:ln w="9525">
            <a:solidFill>
              <a:schemeClr val="bg2"/>
            </a:solidFill>
            <a:miter lim="800000"/>
            <a:headEnd/>
            <a:tailEnd/>
          </a:ln>
          <a:effectLst/>
        </p:spPr>
        <p:txBody>
          <a:bodyPr wrap="none">
            <a:spAutoFit/>
          </a:bodyPr>
          <a:lstStyle/>
          <a:p>
            <a:pPr>
              <a:defRPr/>
            </a:pPr>
            <a:r>
              <a:rPr kumimoji="1" lang="zh-CN" altLang="en-US" b="1">
                <a:effectLst>
                  <a:outerShdw blurRad="38100" dist="38100" dir="2700000" algn="tl">
                    <a:srgbClr val="000000"/>
                  </a:outerShdw>
                </a:effectLst>
                <a:latin typeface="华文新魏" pitchFamily="2" charset="-122"/>
                <a:ea typeface="华文新魏" pitchFamily="2" charset="-122"/>
              </a:rPr>
              <a:t>苏联违约</a:t>
            </a:r>
          </a:p>
        </p:txBody>
      </p:sp>
      <p:sp>
        <p:nvSpPr>
          <p:cNvPr id="23585" name="Line 48"/>
          <p:cNvSpPr>
            <a:spLocks noChangeShapeType="1"/>
          </p:cNvSpPr>
          <p:nvPr/>
        </p:nvSpPr>
        <p:spPr bwMode="auto">
          <a:xfrm>
            <a:off x="5715000" y="1960563"/>
            <a:ext cx="762000" cy="1219200"/>
          </a:xfrm>
          <a:prstGeom prst="line">
            <a:avLst/>
          </a:prstGeom>
          <a:noFill/>
          <a:ln w="5715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23586" name="Line 49"/>
          <p:cNvSpPr>
            <a:spLocks noChangeShapeType="1"/>
          </p:cNvSpPr>
          <p:nvPr/>
        </p:nvSpPr>
        <p:spPr bwMode="auto">
          <a:xfrm flipV="1">
            <a:off x="5791200" y="3179763"/>
            <a:ext cx="685800" cy="1600200"/>
          </a:xfrm>
          <a:prstGeom prst="line">
            <a:avLst/>
          </a:prstGeom>
          <a:noFill/>
          <a:ln w="5715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23587" name="AutoShape 50"/>
          <p:cNvSpPr>
            <a:spLocks/>
          </p:cNvSpPr>
          <p:nvPr/>
        </p:nvSpPr>
        <p:spPr bwMode="auto">
          <a:xfrm>
            <a:off x="5562600" y="1350963"/>
            <a:ext cx="152400" cy="1219200"/>
          </a:xfrm>
          <a:prstGeom prst="rightBrace">
            <a:avLst>
              <a:gd name="adj1" fmla="val 66667"/>
              <a:gd name="adj2" fmla="val 50000"/>
            </a:avLst>
          </a:prstGeom>
          <a:noFill/>
          <a:ln w="57150">
            <a:solidFill>
              <a:schemeClr val="bg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23588" name="AutoShape 51"/>
          <p:cNvSpPr>
            <a:spLocks/>
          </p:cNvSpPr>
          <p:nvPr/>
        </p:nvSpPr>
        <p:spPr bwMode="auto">
          <a:xfrm>
            <a:off x="5562600" y="3636963"/>
            <a:ext cx="228600" cy="2286000"/>
          </a:xfrm>
          <a:prstGeom prst="rightBrace">
            <a:avLst>
              <a:gd name="adj1" fmla="val 83333"/>
              <a:gd name="adj2" fmla="val 50000"/>
            </a:avLst>
          </a:prstGeom>
          <a:noFill/>
          <a:ln w="57150">
            <a:solidFill>
              <a:schemeClr val="bg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nvGrpSpPr>
          <p:cNvPr id="23589" name="Group 52"/>
          <p:cNvGrpSpPr>
            <a:grpSpLocks/>
          </p:cNvGrpSpPr>
          <p:nvPr/>
        </p:nvGrpSpPr>
        <p:grpSpPr bwMode="auto">
          <a:xfrm>
            <a:off x="7181850" y="1044575"/>
            <a:ext cx="962025" cy="1431925"/>
            <a:chOff x="4560" y="970"/>
            <a:chExt cx="606" cy="902"/>
          </a:xfrm>
        </p:grpSpPr>
        <p:sp>
          <p:nvSpPr>
            <p:cNvPr id="139317" name="Text Box 53"/>
            <p:cNvSpPr txBox="1">
              <a:spLocks noChangeArrowheads="1"/>
            </p:cNvSpPr>
            <p:nvPr/>
          </p:nvSpPr>
          <p:spPr bwMode="auto">
            <a:xfrm>
              <a:off x="4560" y="970"/>
              <a:ext cx="606" cy="448"/>
            </a:xfrm>
            <a:prstGeom prst="rect">
              <a:avLst/>
            </a:prstGeom>
            <a:solidFill>
              <a:srgbClr val="FF3300"/>
            </a:solidFill>
            <a:ln w="9525">
              <a:solidFill>
                <a:schemeClr val="bg2"/>
              </a:solidFill>
              <a:miter lim="800000"/>
              <a:headEnd/>
              <a:tailEnd/>
            </a:ln>
            <a:effectLst/>
          </p:spPr>
          <p:txBody>
            <a:bodyPr wrap="none">
              <a:spAutoFit/>
            </a:bodyPr>
            <a:lstStyle/>
            <a:p>
              <a:pPr>
                <a:defRPr/>
              </a:pPr>
              <a:r>
                <a:rPr kumimoji="1" lang="zh-CN" altLang="en-US" sz="2000" b="1">
                  <a:effectLst>
                    <a:outerShdw blurRad="38100" dist="38100" dir="2700000" algn="tl">
                      <a:srgbClr val="000000"/>
                    </a:outerShdw>
                  </a:effectLst>
                  <a:latin typeface="黑体" pitchFamily="2" charset="-122"/>
                  <a:ea typeface="黑体" pitchFamily="2" charset="-122"/>
                </a:rPr>
                <a:t>七千人</a:t>
              </a:r>
            </a:p>
            <a:p>
              <a:pPr>
                <a:defRPr/>
              </a:pPr>
              <a:r>
                <a:rPr kumimoji="1" lang="zh-CN" altLang="en-US" sz="2000" b="1">
                  <a:effectLst>
                    <a:outerShdw blurRad="38100" dist="38100" dir="2700000" algn="tl">
                      <a:srgbClr val="000000"/>
                    </a:outerShdw>
                  </a:effectLst>
                  <a:latin typeface="黑体" pitchFamily="2" charset="-122"/>
                  <a:ea typeface="黑体" pitchFamily="2" charset="-122"/>
                </a:rPr>
                <a:t> 大会</a:t>
              </a:r>
            </a:p>
          </p:txBody>
        </p:sp>
        <p:sp>
          <p:nvSpPr>
            <p:cNvPr id="23599" name="Line 54"/>
            <p:cNvSpPr>
              <a:spLocks noChangeShapeType="1"/>
            </p:cNvSpPr>
            <p:nvPr/>
          </p:nvSpPr>
          <p:spPr bwMode="auto">
            <a:xfrm flipV="1">
              <a:off x="4944" y="1440"/>
              <a:ext cx="0" cy="432"/>
            </a:xfrm>
            <a:prstGeom prst="line">
              <a:avLst/>
            </a:prstGeom>
            <a:noFill/>
            <a:ln w="5715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grpSp>
      <p:grpSp>
        <p:nvGrpSpPr>
          <p:cNvPr id="23590" name="Group 55"/>
          <p:cNvGrpSpPr>
            <a:grpSpLocks/>
          </p:cNvGrpSpPr>
          <p:nvPr/>
        </p:nvGrpSpPr>
        <p:grpSpPr bwMode="auto">
          <a:xfrm>
            <a:off x="7239000" y="3789363"/>
            <a:ext cx="958850" cy="1533525"/>
            <a:chOff x="4608" y="2688"/>
            <a:chExt cx="604" cy="966"/>
          </a:xfrm>
        </p:grpSpPr>
        <p:sp>
          <p:nvSpPr>
            <p:cNvPr id="139320" name="Text Box 56"/>
            <p:cNvSpPr txBox="1">
              <a:spLocks noChangeArrowheads="1"/>
            </p:cNvSpPr>
            <p:nvPr/>
          </p:nvSpPr>
          <p:spPr bwMode="auto">
            <a:xfrm>
              <a:off x="4608" y="3206"/>
              <a:ext cx="604" cy="448"/>
            </a:xfrm>
            <a:prstGeom prst="rect">
              <a:avLst/>
            </a:prstGeom>
            <a:solidFill>
              <a:srgbClr val="FF3300"/>
            </a:solidFill>
            <a:ln w="9525">
              <a:solidFill>
                <a:schemeClr val="bg2"/>
              </a:solidFill>
              <a:miter lim="800000"/>
              <a:headEnd/>
              <a:tailEnd/>
            </a:ln>
            <a:effectLst/>
          </p:spPr>
          <p:txBody>
            <a:bodyPr wrap="none">
              <a:spAutoFit/>
            </a:bodyPr>
            <a:lstStyle/>
            <a:p>
              <a:pPr>
                <a:defRPr/>
              </a:pPr>
              <a:r>
                <a:rPr kumimoji="1" lang="zh-CN" altLang="en-US" sz="2000" b="1">
                  <a:effectLst>
                    <a:outerShdw blurRad="38100" dist="38100" dir="2700000" algn="tl">
                      <a:srgbClr val="000000"/>
                    </a:outerShdw>
                  </a:effectLst>
                  <a:latin typeface="Times New Roman"/>
                  <a:ea typeface="黑体" pitchFamily="2" charset="-122"/>
                </a:rPr>
                <a:t>“</a:t>
              </a:r>
              <a:r>
                <a:rPr kumimoji="1" lang="zh-CN" altLang="en-US" sz="2000" b="1">
                  <a:effectLst>
                    <a:outerShdw blurRad="38100" dist="38100" dir="2700000" algn="tl">
                      <a:srgbClr val="000000"/>
                    </a:outerShdw>
                  </a:effectLst>
                  <a:latin typeface="黑体" pitchFamily="2" charset="-122"/>
                  <a:ea typeface="黑体" pitchFamily="2" charset="-122"/>
                </a:rPr>
                <a:t>八字</a:t>
              </a:r>
              <a:r>
                <a:rPr kumimoji="1" lang="zh-CN" altLang="en-US" sz="2000" b="1">
                  <a:effectLst>
                    <a:outerShdw blurRad="38100" dist="38100" dir="2700000" algn="tl">
                      <a:srgbClr val="000000"/>
                    </a:outerShdw>
                  </a:effectLst>
                  <a:latin typeface="Times New Roman"/>
                  <a:ea typeface="黑体" pitchFamily="2" charset="-122"/>
                </a:rPr>
                <a:t>”</a:t>
              </a:r>
              <a:endParaRPr kumimoji="1" lang="zh-CN" altLang="en-US" sz="2000" b="1">
                <a:effectLst>
                  <a:outerShdw blurRad="38100" dist="38100" dir="2700000" algn="tl">
                    <a:srgbClr val="000000"/>
                  </a:outerShdw>
                </a:effectLst>
                <a:latin typeface="黑体" pitchFamily="2" charset="-122"/>
                <a:ea typeface="黑体" pitchFamily="2" charset="-122"/>
              </a:endParaRPr>
            </a:p>
            <a:p>
              <a:pPr>
                <a:defRPr/>
              </a:pPr>
              <a:r>
                <a:rPr kumimoji="1" lang="zh-CN" altLang="en-US" sz="2000" b="1">
                  <a:effectLst>
                    <a:outerShdw blurRad="38100" dist="38100" dir="2700000" algn="tl">
                      <a:srgbClr val="000000"/>
                    </a:outerShdw>
                  </a:effectLst>
                  <a:latin typeface="黑体" pitchFamily="2" charset="-122"/>
                  <a:ea typeface="黑体" pitchFamily="2" charset="-122"/>
                </a:rPr>
                <a:t> 方针</a:t>
              </a:r>
            </a:p>
          </p:txBody>
        </p:sp>
        <p:sp>
          <p:nvSpPr>
            <p:cNvPr id="23597" name="Line 57"/>
            <p:cNvSpPr>
              <a:spLocks noChangeShapeType="1"/>
            </p:cNvSpPr>
            <p:nvPr/>
          </p:nvSpPr>
          <p:spPr bwMode="auto">
            <a:xfrm>
              <a:off x="4944" y="2688"/>
              <a:ext cx="0" cy="480"/>
            </a:xfrm>
            <a:prstGeom prst="line">
              <a:avLst/>
            </a:prstGeom>
            <a:noFill/>
            <a:ln w="5715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grpSp>
      <p:sp>
        <p:nvSpPr>
          <p:cNvPr id="23591" name="Line 58"/>
          <p:cNvSpPr>
            <a:spLocks noChangeShapeType="1"/>
          </p:cNvSpPr>
          <p:nvPr/>
        </p:nvSpPr>
        <p:spPr bwMode="auto">
          <a:xfrm>
            <a:off x="5562600" y="1350963"/>
            <a:ext cx="1600200" cy="0"/>
          </a:xfrm>
          <a:prstGeom prst="line">
            <a:avLst/>
          </a:prstGeom>
          <a:noFill/>
          <a:ln w="5715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23592" name="Line 59"/>
          <p:cNvSpPr>
            <a:spLocks noChangeShapeType="1"/>
          </p:cNvSpPr>
          <p:nvPr/>
        </p:nvSpPr>
        <p:spPr bwMode="auto">
          <a:xfrm>
            <a:off x="5741988" y="5094288"/>
            <a:ext cx="1524000" cy="0"/>
          </a:xfrm>
          <a:prstGeom prst="line">
            <a:avLst/>
          </a:prstGeom>
          <a:noFill/>
          <a:ln w="5715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139324" name="WordArt 60"/>
          <p:cNvSpPr>
            <a:spLocks noChangeArrowheads="1" noChangeShapeType="1" noTextEdit="1"/>
          </p:cNvSpPr>
          <p:nvPr/>
        </p:nvSpPr>
        <p:spPr bwMode="auto">
          <a:xfrm>
            <a:off x="1911350" y="227013"/>
            <a:ext cx="5832475" cy="677862"/>
          </a:xfrm>
          <a:prstGeom prst="rect">
            <a:avLst/>
          </a:prstGeom>
          <a:solidFill>
            <a:schemeClr val="bg1"/>
          </a:solidFill>
          <a:extLst/>
        </p:spPr>
        <p:txBody>
          <a:bodyPr wrap="none" fromWordArt="1">
            <a:prstTxWarp prst="textPlain">
              <a:avLst>
                <a:gd name="adj" fmla="val 50000"/>
              </a:avLst>
            </a:prstTxWarp>
          </a:bodyPr>
          <a:lstStyle/>
          <a:p>
            <a:pPr algn="ctr"/>
            <a:r>
              <a:rPr lang="zh-CN" altLang="en-US" sz="3600" b="1" kern="10" dirty="0">
                <a:gradFill rotWithShape="1">
                  <a:gsLst>
                    <a:gs pos="0">
                      <a:srgbClr val="FFFF00"/>
                    </a:gs>
                    <a:gs pos="100000">
                      <a:srgbClr val="FF9933"/>
                    </a:gs>
                  </a:gsLst>
                  <a:path path="rect">
                    <a:fillToRect l="50000" t="50000" r="50000" b="50000"/>
                  </a:path>
                </a:gradFill>
                <a:effectLst>
                  <a:outerShdw dist="35921" dir="2700000" algn="ctr" rotWithShape="0">
                    <a:srgbClr val="C0C0C0">
                      <a:alpha val="79999"/>
                    </a:srgbClr>
                  </a:outerShdw>
                </a:effectLst>
                <a:latin typeface="华文琥珀"/>
                <a:ea typeface="华文琥珀"/>
              </a:rPr>
              <a:t>社会主义经济建设在探索中曲折前进</a:t>
            </a:r>
          </a:p>
        </p:txBody>
      </p:sp>
      <p:sp>
        <p:nvSpPr>
          <p:cNvPr id="139326" name="Text Box 62"/>
          <p:cNvSpPr txBox="1">
            <a:spLocks noChangeArrowheads="1"/>
          </p:cNvSpPr>
          <p:nvPr/>
        </p:nvSpPr>
        <p:spPr bwMode="auto">
          <a:xfrm>
            <a:off x="8442325" y="2619375"/>
            <a:ext cx="479425" cy="1076325"/>
          </a:xfrm>
          <a:prstGeom prst="rect">
            <a:avLst/>
          </a:prstGeom>
          <a:solidFill>
            <a:srgbClr val="FF3300"/>
          </a:solidFill>
          <a:ln w="9525">
            <a:solidFill>
              <a:schemeClr val="bg2"/>
            </a:solidFill>
            <a:miter lim="800000"/>
            <a:headEnd/>
            <a:tailEnd/>
          </a:ln>
          <a:effectLst/>
        </p:spPr>
        <p:txBody>
          <a:bodyPr>
            <a:spAutoFit/>
          </a:bodyPr>
          <a:lstStyle/>
          <a:p>
            <a:pPr>
              <a:defRPr/>
            </a:pPr>
            <a:r>
              <a:rPr kumimoji="1" lang="zh-CN" altLang="en-US" sz="3200" b="1">
                <a:effectLst>
                  <a:outerShdw blurRad="38100" dist="38100" dir="2700000" algn="tl">
                    <a:srgbClr val="000000"/>
                  </a:outerShdw>
                </a:effectLst>
                <a:latin typeface="黑体" pitchFamily="2" charset="-122"/>
                <a:ea typeface="黑体" pitchFamily="2" charset="-122"/>
              </a:rPr>
              <a:t>前进</a:t>
            </a:r>
          </a:p>
        </p:txBody>
      </p:sp>
      <p:sp>
        <p:nvSpPr>
          <p:cNvPr id="23595" name="Line 63"/>
          <p:cNvSpPr>
            <a:spLocks noChangeShapeType="1"/>
          </p:cNvSpPr>
          <p:nvPr/>
        </p:nvSpPr>
        <p:spPr bwMode="auto">
          <a:xfrm>
            <a:off x="8081963" y="3203575"/>
            <a:ext cx="304800" cy="0"/>
          </a:xfrm>
          <a:prstGeom prst="line">
            <a:avLst/>
          </a:prstGeom>
          <a:noFill/>
          <a:ln w="76200">
            <a:solidFill>
              <a:schemeClr val="bg2"/>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Tree>
    <p:extLst>
      <p:ext uri="{BB962C8B-B14F-4D97-AF65-F5344CB8AC3E}">
        <p14:creationId xmlns:p14="http://schemas.microsoft.com/office/powerpoint/2010/main" xmlns="" val="3982394471"/>
      </p:ext>
    </p:extLst>
  </p:cSld>
  <p:clrMapOvr>
    <a:masterClrMapping/>
  </p:clrMapOvr>
  <p:transition>
    <p:strips dir="rd"/>
    <p:sndAc>
      <p:stSnd>
        <p:snd r:embed="rId2" name="chimes.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39324"/>
                                        </p:tgtEl>
                                        <p:attrNameLst>
                                          <p:attrName>style.visibility</p:attrName>
                                        </p:attrNameLst>
                                      </p:cBhvr>
                                      <p:to>
                                        <p:strVal val="visible"/>
                                      </p:to>
                                    </p:set>
                                    <p:animEffect transition="in" filter="diamond(in)">
                                      <p:cBhvr>
                                        <p:cTn id="7" dur="2000"/>
                                        <p:tgtEl>
                                          <p:spTgt spid="139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32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idx="1"/>
          </p:nvPr>
        </p:nvSpPr>
        <p:spPr>
          <a:xfrm>
            <a:off x="251520" y="1916832"/>
            <a:ext cx="8429684" cy="656846"/>
          </a:xfrm>
          <a:solidFill>
            <a:schemeClr val="bg1"/>
          </a:solidFill>
          <a:ln w="12700">
            <a:solidFill>
              <a:srgbClr val="FF3300"/>
            </a:solidFill>
            <a:miter/>
          </a:ln>
        </p:spPr>
        <p:txBody>
          <a:bodyPr wrap="square">
            <a:spAutoFit/>
          </a:bodyPr>
          <a:lstStyle/>
          <a:p>
            <a:pPr marL="0" indent="0" fontAlgn="base">
              <a:lnSpc>
                <a:spcPct val="150000"/>
              </a:lnSpc>
              <a:spcBef>
                <a:spcPct val="50000"/>
              </a:spcBef>
              <a:buNone/>
            </a:pPr>
            <a:r>
              <a:rPr lang="zh-CN" altLang="en-US" sz="2800" b="1" strike="noStrike" noProof="1" smtClean="0">
                <a:solidFill>
                  <a:srgbClr val="FF0000"/>
                </a:solidFill>
                <a:latin typeface="Times New Roman" panose="02020603050405020304" pitchFamily="18" charset="0"/>
                <a:ea typeface="黑体" panose="02010609060101010101" pitchFamily="49" charset="-122"/>
              </a:rPr>
              <a:t>第一</a:t>
            </a:r>
            <a:r>
              <a:rPr lang="zh-CN" altLang="en-US" sz="2800" b="1" strike="noStrike" noProof="1">
                <a:solidFill>
                  <a:srgbClr val="FF0000"/>
                </a:solidFill>
                <a:latin typeface="Times New Roman" panose="02020603050405020304" pitchFamily="18" charset="0"/>
                <a:ea typeface="黑体" panose="02010609060101010101" pitchFamily="49" charset="-122"/>
              </a:rPr>
              <a:t>，巩固和发展了我国的社会主义制度</a:t>
            </a:r>
            <a:r>
              <a:rPr lang="zh-CN" altLang="en-US" sz="2800" b="1" strike="noStrike" noProof="1" smtClean="0">
                <a:solidFill>
                  <a:srgbClr val="FF0000"/>
                </a:solidFill>
                <a:latin typeface="Times New Roman" panose="02020603050405020304" pitchFamily="18" charset="0"/>
                <a:ea typeface="黑体" panose="02010609060101010101" pitchFamily="49" charset="-122"/>
              </a:rPr>
              <a:t>。</a:t>
            </a:r>
            <a:endParaRPr lang="zh-CN" altLang="en-US" sz="2800" b="1" strike="noStrike" noProof="1">
              <a:solidFill>
                <a:srgbClr val="FF0000"/>
              </a:solidFill>
              <a:latin typeface="Times New Roman" panose="02020603050405020304" pitchFamily="18" charset="0"/>
              <a:ea typeface="黑体" panose="02010609060101010101" pitchFamily="49" charset="-122"/>
            </a:endParaRPr>
          </a:p>
        </p:txBody>
      </p:sp>
      <p:sp>
        <p:nvSpPr>
          <p:cNvPr id="4" name="矩形 3"/>
          <p:cNvSpPr/>
          <p:nvPr/>
        </p:nvSpPr>
        <p:spPr>
          <a:xfrm>
            <a:off x="395536" y="620688"/>
            <a:ext cx="7160935" cy="609398"/>
          </a:xfrm>
          <a:prstGeom prst="rect">
            <a:avLst/>
          </a:prstGeom>
          <a:solidFill>
            <a:schemeClr val="bg2"/>
          </a:solidFill>
          <a:ln>
            <a:solidFill>
              <a:schemeClr val="accent1"/>
            </a:solidFill>
          </a:ln>
        </p:spPr>
        <p:txBody>
          <a:bodyPr wrap="none">
            <a:spAutoFit/>
          </a:bodyPr>
          <a:lstStyle/>
          <a:p>
            <a:pPr>
              <a:lnSpc>
                <a:spcPct val="105000"/>
              </a:lnSpc>
              <a:spcBef>
                <a:spcPct val="50000"/>
              </a:spcBef>
            </a:pPr>
            <a:r>
              <a:rPr lang="zh-CN" altLang="en-US" sz="3200" b="1" noProof="1" smtClean="0">
                <a:solidFill>
                  <a:srgbClr val="FF0000"/>
                </a:solidFill>
                <a:latin typeface="华文琥珀" pitchFamily="2" charset="-122"/>
                <a:ea typeface="华文琥珀" pitchFamily="2" charset="-122"/>
              </a:rPr>
              <a:t>一、社会主义建设道路初步探索的意义</a:t>
            </a:r>
            <a:endParaRPr lang="en-US" altLang="zh-CN" sz="3200" b="1" noProof="1" smtClean="0">
              <a:solidFill>
                <a:srgbClr val="FF0000"/>
              </a:solidFill>
              <a:latin typeface="华文琥珀" pitchFamily="2" charset="-122"/>
              <a:ea typeface="华文琥珀" pitchFamily="2" charset="-122"/>
            </a:endParaRPr>
          </a:p>
        </p:txBody>
      </p:sp>
      <p:sp>
        <p:nvSpPr>
          <p:cNvPr id="5" name="Rectangle 2"/>
          <p:cNvSpPr txBox="1">
            <a:spLocks/>
          </p:cNvSpPr>
          <p:nvPr/>
        </p:nvSpPr>
        <p:spPr>
          <a:xfrm>
            <a:off x="251520" y="2636912"/>
            <a:ext cx="8429684" cy="656846"/>
          </a:xfrm>
          <a:prstGeom prst="rect">
            <a:avLst/>
          </a:prstGeom>
          <a:solidFill>
            <a:schemeClr val="bg1"/>
          </a:solidFill>
          <a:ln w="12700">
            <a:solidFill>
              <a:srgbClr val="FF3300"/>
            </a:solidFill>
            <a:miter/>
          </a:ln>
        </p:spPr>
        <p:txBody>
          <a:bodyPr vert="horz" wrap="square" rtlCol="0">
            <a:spAutoFit/>
          </a:bodyPr>
          <a:lstStyle/>
          <a:p>
            <a:pPr lvl="0" rtl="0">
              <a:lnSpc>
                <a:spcPct val="150000"/>
              </a:lnSpc>
              <a:spcBef>
                <a:spcPct val="50000"/>
              </a:spcBef>
              <a:spcAft>
                <a:spcPts val="0"/>
              </a:spcAft>
              <a:buClr>
                <a:schemeClr val="accent1"/>
              </a:buClr>
              <a:buSzPct val="50000"/>
            </a:pPr>
            <a:r>
              <a:rPr lang="zh-CN" altLang="en-US" sz="2800" b="1" noProof="1" smtClean="0">
                <a:latin typeface="Times New Roman" panose="02020603050405020304" pitchFamily="18" charset="0"/>
                <a:ea typeface="黑体" panose="02010609060101010101" pitchFamily="49" charset="-122"/>
                <a:cs typeface="+mn-cs"/>
              </a:rPr>
              <a:t>♂建立和巩固了人民民主专政的国家政权</a:t>
            </a:r>
            <a:endParaRPr kumimoji="0" lang="zh-CN" altLang="en-US" sz="2800" b="1" i="0" u="none" strike="noStrike" kern="1200" cap="none" spc="0" normalizeH="0" baseline="0" noProof="1">
              <a:ln>
                <a:noFill/>
              </a:ln>
              <a:solidFill>
                <a:srgbClr val="0000FF"/>
              </a:solidFill>
              <a:effectLst/>
              <a:uLnTx/>
              <a:uFillTx/>
              <a:latin typeface="Times New Roman" panose="02020603050405020304" pitchFamily="18" charset="0"/>
              <a:ea typeface="黑体" panose="02010609060101010101" pitchFamily="49" charset="-122"/>
              <a:cs typeface="+mn-cs"/>
            </a:endParaRPr>
          </a:p>
        </p:txBody>
      </p:sp>
      <p:sp>
        <p:nvSpPr>
          <p:cNvPr id="6" name="Rectangle 2"/>
          <p:cNvSpPr txBox="1">
            <a:spLocks/>
          </p:cNvSpPr>
          <p:nvPr/>
        </p:nvSpPr>
        <p:spPr>
          <a:xfrm>
            <a:off x="251520" y="3356992"/>
            <a:ext cx="8429684" cy="2031325"/>
          </a:xfrm>
          <a:prstGeom prst="rect">
            <a:avLst/>
          </a:prstGeom>
          <a:solidFill>
            <a:schemeClr val="bg1"/>
          </a:solidFill>
          <a:ln w="12700">
            <a:solidFill>
              <a:srgbClr val="FF3300"/>
            </a:solidFill>
            <a:miter/>
          </a:ln>
        </p:spPr>
        <p:txBody>
          <a:bodyPr vert="horz" wrap="square" rtlCol="0">
            <a:spAutoFit/>
          </a:bodyPr>
          <a:lstStyle/>
          <a:p>
            <a:pPr lvl="0" rtl="0">
              <a:lnSpc>
                <a:spcPct val="150000"/>
              </a:lnSpc>
              <a:spcBef>
                <a:spcPct val="50000"/>
              </a:spcBef>
              <a:spcAft>
                <a:spcPts val="0"/>
              </a:spcAft>
              <a:buClr>
                <a:schemeClr val="accent1"/>
              </a:buClr>
              <a:buSzPct val="50000"/>
            </a:pPr>
            <a:r>
              <a:rPr lang="zh-CN" altLang="en-US" sz="2800" b="1" noProof="1" smtClean="0">
                <a:latin typeface="Times New Roman" panose="02020603050405020304" pitchFamily="18" charset="0"/>
                <a:ea typeface="黑体" panose="02010609060101010101" pitchFamily="49" charset="-122"/>
                <a:cs typeface="+mn-cs"/>
              </a:rPr>
              <a:t>♂建立和发展了社会主义经济 ，逐步建立了独立的比较完整的比较完整的工业体系和国民经济体系。生产力水平有较大提高。</a:t>
            </a:r>
            <a:endParaRPr kumimoji="0" lang="zh-CN" altLang="en-US" sz="2800" b="1" i="0" u="none" strike="noStrike" kern="1200" cap="none" spc="0" normalizeH="0" baseline="0" noProof="1">
              <a:ln>
                <a:noFill/>
              </a:ln>
              <a:solidFill>
                <a:srgbClr val="0000FF"/>
              </a:solidFill>
              <a:effectLst/>
              <a:uLnTx/>
              <a:uFillTx/>
              <a:latin typeface="Times New Roman" panose="02020603050405020304" pitchFamily="18" charset="0"/>
              <a:ea typeface="黑体" panose="02010609060101010101" pitchFamily="49" charset="-122"/>
              <a:cs typeface="+mn-cs"/>
            </a:endParaRPr>
          </a:p>
        </p:txBody>
      </p:sp>
      <p:sp>
        <p:nvSpPr>
          <p:cNvPr id="7" name="Rectangle 2"/>
          <p:cNvSpPr txBox="1">
            <a:spLocks/>
          </p:cNvSpPr>
          <p:nvPr/>
        </p:nvSpPr>
        <p:spPr>
          <a:xfrm>
            <a:off x="251520" y="5301208"/>
            <a:ext cx="8429684" cy="1384995"/>
          </a:xfrm>
          <a:prstGeom prst="rect">
            <a:avLst/>
          </a:prstGeom>
          <a:solidFill>
            <a:schemeClr val="bg1"/>
          </a:solidFill>
          <a:ln w="12700">
            <a:solidFill>
              <a:srgbClr val="FF3300"/>
            </a:solidFill>
            <a:miter/>
          </a:ln>
        </p:spPr>
        <p:txBody>
          <a:bodyPr vert="horz" wrap="square" rtlCol="0">
            <a:spAutoFit/>
          </a:bodyPr>
          <a:lstStyle/>
          <a:p>
            <a:pPr lvl="0" rtl="0">
              <a:lnSpc>
                <a:spcPct val="150000"/>
              </a:lnSpc>
              <a:spcBef>
                <a:spcPct val="50000"/>
              </a:spcBef>
              <a:spcAft>
                <a:spcPts val="0"/>
              </a:spcAft>
              <a:buClr>
                <a:schemeClr val="accent1"/>
              </a:buClr>
              <a:buSzPct val="50000"/>
            </a:pPr>
            <a:r>
              <a:rPr lang="zh-CN" altLang="en-US" sz="2800" b="1" noProof="1" smtClean="0">
                <a:latin typeface="Times New Roman" panose="02020603050405020304" pitchFamily="18" charset="0"/>
                <a:ea typeface="黑体" panose="02010609060101010101" pitchFamily="49" charset="-122"/>
                <a:cs typeface="+mn-cs"/>
              </a:rPr>
              <a:t>♂教育、科学、文化、卫生、都有很大发展。外交也有很大成就。</a:t>
            </a:r>
            <a:endParaRPr kumimoji="0" lang="zh-CN" altLang="en-US" sz="2800" b="1" i="0" u="none" strike="noStrike" kern="1200" cap="none" spc="0" normalizeH="0" baseline="0" noProof="1">
              <a:ln>
                <a:noFill/>
              </a:ln>
              <a:solidFill>
                <a:srgbClr val="0000FF"/>
              </a:solidFill>
              <a:effectLst/>
              <a:uLnTx/>
              <a:uFillTx/>
              <a:latin typeface="Times New Roman" panose="02020603050405020304" pitchFamily="18" charset="0"/>
              <a:ea typeface="黑体" panose="02010609060101010101" pitchFamily="49" charset="-122"/>
              <a:cs typeface="+mn-cs"/>
            </a:endParaRPr>
          </a:p>
        </p:txBody>
      </p:sp>
    </p:spTree>
    <p:extLst>
      <p:ext uri="{BB962C8B-B14F-4D97-AF65-F5344CB8AC3E}">
        <p14:creationId xmlns:p14="http://schemas.microsoft.com/office/powerpoint/2010/main" xmlns="" val="2358228128"/>
      </p:ext>
    </p:extLst>
  </p:cSld>
  <p:clrMapOvr>
    <a:masterClrMapping/>
  </p:clrMapOvr>
  <p:transition>
    <p:strips dir="rd"/>
    <p:sndAc>
      <p:stSnd>
        <p:snd r:embed="rId2" name="chimes.wav"/>
      </p:stSnd>
    </p:sndAc>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idx="1"/>
          </p:nvPr>
        </p:nvSpPr>
        <p:spPr>
          <a:xfrm>
            <a:off x="395536" y="548680"/>
            <a:ext cx="8429684" cy="1303177"/>
          </a:xfrm>
          <a:solidFill>
            <a:schemeClr val="bg1"/>
          </a:solidFill>
          <a:ln w="12700">
            <a:solidFill>
              <a:srgbClr val="FF3300"/>
            </a:solidFill>
            <a:miter/>
          </a:ln>
        </p:spPr>
        <p:txBody>
          <a:bodyPr wrap="square">
            <a:spAutoFit/>
          </a:bodyPr>
          <a:lstStyle/>
          <a:p>
            <a:pPr marL="0" indent="0" fontAlgn="base">
              <a:lnSpc>
                <a:spcPct val="150000"/>
              </a:lnSpc>
              <a:spcBef>
                <a:spcPct val="50000"/>
              </a:spcBef>
              <a:buNone/>
            </a:pPr>
            <a:r>
              <a:rPr lang="zh-CN" altLang="en-US" sz="2800" b="1" strike="noStrike" noProof="1" smtClean="0">
                <a:solidFill>
                  <a:srgbClr val="FF0000"/>
                </a:solidFill>
                <a:latin typeface="Times New Roman" panose="02020603050405020304" pitchFamily="18" charset="0"/>
                <a:ea typeface="黑体" panose="02010609060101010101" pitchFamily="49" charset="-122"/>
              </a:rPr>
              <a:t>第二</a:t>
            </a:r>
            <a:r>
              <a:rPr lang="zh-CN" altLang="en-US" sz="2800" b="1" strike="noStrike" noProof="1">
                <a:solidFill>
                  <a:srgbClr val="FF0000"/>
                </a:solidFill>
                <a:latin typeface="Times New Roman" panose="02020603050405020304" pitchFamily="18" charset="0"/>
                <a:ea typeface="黑体" panose="02010609060101010101" pitchFamily="49" charset="-122"/>
              </a:rPr>
              <a:t>，为开创中国特色社会主义提供了宝贵经验、理论准备、物质基础</a:t>
            </a:r>
            <a:r>
              <a:rPr lang="zh-CN" altLang="en-US" sz="2800" b="1" strike="noStrike" noProof="1" smtClean="0">
                <a:solidFill>
                  <a:srgbClr val="FF0000"/>
                </a:solidFill>
                <a:latin typeface="Times New Roman" panose="02020603050405020304" pitchFamily="18" charset="0"/>
                <a:ea typeface="黑体" panose="02010609060101010101" pitchFamily="49" charset="-122"/>
              </a:rPr>
              <a:t>。</a:t>
            </a:r>
            <a:endParaRPr lang="zh-CN" altLang="en-US" sz="2800" b="1" strike="noStrike" noProof="1">
              <a:solidFill>
                <a:srgbClr val="FF0000"/>
              </a:solidFill>
              <a:latin typeface="Times New Roman" panose="02020603050405020304" pitchFamily="18" charset="0"/>
              <a:ea typeface="黑体" panose="02010609060101010101" pitchFamily="49" charset="-122"/>
            </a:endParaRPr>
          </a:p>
        </p:txBody>
      </p:sp>
      <p:sp>
        <p:nvSpPr>
          <p:cNvPr id="4" name="矩形 3"/>
          <p:cNvSpPr/>
          <p:nvPr/>
        </p:nvSpPr>
        <p:spPr>
          <a:xfrm>
            <a:off x="395536" y="2492896"/>
            <a:ext cx="8748464" cy="3231654"/>
          </a:xfrm>
          <a:prstGeom prst="rect">
            <a:avLst/>
          </a:prstGeom>
          <a:solidFill>
            <a:schemeClr val="bg1"/>
          </a:solidFill>
          <a:ln>
            <a:solidFill>
              <a:schemeClr val="accent1"/>
            </a:solidFill>
          </a:ln>
        </p:spPr>
        <p:txBody>
          <a:bodyPr wrap="square">
            <a:spAutoFit/>
          </a:bodyPr>
          <a:lstStyle/>
          <a:p>
            <a:r>
              <a:rPr lang="en-US" altLang="zh-CN" sz="2400" b="1" dirty="0" smtClean="0">
                <a:latin typeface="黑体" pitchFamily="49" charset="-122"/>
                <a:ea typeface="黑体" pitchFamily="49" charset="-122"/>
              </a:rPr>
              <a:t>    </a:t>
            </a:r>
            <a:r>
              <a:rPr lang="zh-CN" altLang="zh-CN" sz="2400" b="1" dirty="0" smtClean="0">
                <a:latin typeface="黑体" pitchFamily="49" charset="-122"/>
                <a:ea typeface="黑体" pitchFamily="49" charset="-122"/>
              </a:rPr>
              <a:t>从</a:t>
            </a:r>
            <a:r>
              <a:rPr lang="zh-CN" altLang="zh-CN" sz="2400" b="1" dirty="0" smtClean="0">
                <a:latin typeface="黑体" pitchFamily="49" charset="-122"/>
                <a:ea typeface="黑体" pitchFamily="49" charset="-122"/>
              </a:rPr>
              <a:t>新中国成立到改革开放前夕，党领导人民完成社会主义革命，消灭一切剥削制度，实现了中华民族有史以来最为广泛而深刻的社会变革，实现了一穷二白、人口众多的东方大国大步迈进社会主义社会的伟大飞跃。在探索过程中，虽然经历了严重曲折，但党在社会主义革命和建设中取得的独创性理论成果和巨大成就，为在新的历史时期开创中国特色社会主义提供了宝贵经验、理论准备、物质基础</a:t>
            </a:r>
            <a:r>
              <a:rPr lang="zh-CN" altLang="zh-CN" sz="2400" b="1" dirty="0" smtClean="0">
                <a:latin typeface="黑体" pitchFamily="49" charset="-122"/>
                <a:ea typeface="黑体" pitchFamily="49" charset="-122"/>
              </a:rPr>
              <a:t>。</a:t>
            </a:r>
            <a:r>
              <a:rPr lang="en-US" altLang="zh-CN" sz="2400" b="1" dirty="0" smtClean="0">
                <a:latin typeface="黑体" pitchFamily="49" charset="-122"/>
                <a:ea typeface="黑体" pitchFamily="49" charset="-122"/>
              </a:rPr>
              <a:t>    </a:t>
            </a:r>
          </a:p>
          <a:p>
            <a:r>
              <a:rPr lang="en-US" altLang="zh-CN" sz="2400" b="1" dirty="0" smtClean="0">
                <a:latin typeface="黑体" pitchFamily="49" charset="-122"/>
                <a:ea typeface="黑体" pitchFamily="49" charset="-122"/>
              </a:rPr>
              <a:t> </a:t>
            </a:r>
            <a:r>
              <a:rPr lang="en-US" altLang="zh-CN" sz="2400" b="1" dirty="0" smtClean="0">
                <a:latin typeface="黑体" pitchFamily="49" charset="-122"/>
                <a:ea typeface="黑体" pitchFamily="49" charset="-122"/>
              </a:rPr>
              <a:t>     </a:t>
            </a:r>
            <a:r>
              <a:rPr lang="en-US" altLang="zh-CN" sz="1600" b="1" dirty="0" smtClean="0">
                <a:latin typeface="黑体" pitchFamily="49" charset="-122"/>
                <a:ea typeface="黑体" pitchFamily="49" charset="-122"/>
              </a:rPr>
              <a:t>——</a:t>
            </a:r>
            <a:r>
              <a:rPr lang="zh-CN" altLang="zh-CN" sz="1600" b="1" dirty="0" smtClean="0">
                <a:latin typeface="黑体" pitchFamily="49" charset="-122"/>
                <a:ea typeface="黑体" pitchFamily="49" charset="-122"/>
              </a:rPr>
              <a:t>中共中央关于党的百年奋斗重大成就和历史经验的决议</a:t>
            </a:r>
          </a:p>
          <a:p>
            <a:endParaRPr lang="zh-CN" altLang="en-US" sz="1200" b="1" dirty="0">
              <a:latin typeface="黑体" pitchFamily="49" charset="-122"/>
              <a:ea typeface="黑体" pitchFamily="49" charset="-122"/>
            </a:endParaRPr>
          </a:p>
        </p:txBody>
      </p:sp>
    </p:spTree>
    <p:extLst>
      <p:ext uri="{BB962C8B-B14F-4D97-AF65-F5344CB8AC3E}">
        <p14:creationId xmlns:p14="http://schemas.microsoft.com/office/powerpoint/2010/main" xmlns="" val="2358228128"/>
      </p:ext>
    </p:extLst>
  </p:cSld>
  <p:clrMapOvr>
    <a:masterClrMapping/>
  </p:clrMapOvr>
  <p:transition>
    <p:strips dir="rd"/>
    <p:sndAc>
      <p:stSnd>
        <p:snd r:embed="rId2" name="chimes.wav"/>
      </p:stSnd>
    </p:sndAc>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484784"/>
            <a:ext cx="3394720" cy="4686320"/>
          </a:xfrm>
        </p:spPr>
        <p:txBody>
          <a:bodyPr>
            <a:normAutofit lnSpcReduction="10000"/>
          </a:bodyPr>
          <a:lstStyle/>
          <a:p>
            <a:pPr marL="0" indent="0">
              <a:buNone/>
            </a:pPr>
            <a:r>
              <a:rPr lang="zh-CN" altLang="en-US" sz="2400" b="1" dirty="0" smtClean="0">
                <a:solidFill>
                  <a:srgbClr val="FF0000"/>
                </a:solidFill>
                <a:latin typeface="华文行楷" pitchFamily="2" charset="-122"/>
                <a:ea typeface="华文行楷" pitchFamily="2" charset="-122"/>
              </a:rPr>
              <a:t>邓小平</a:t>
            </a:r>
            <a:r>
              <a:rPr lang="zh-CN" altLang="en-US" sz="2400" b="1" dirty="0">
                <a:solidFill>
                  <a:srgbClr val="FF0000"/>
                </a:solidFill>
                <a:latin typeface="华文行楷" pitchFamily="2" charset="-122"/>
                <a:ea typeface="华文行楷" pitchFamily="2" charset="-122"/>
              </a:rPr>
              <a:t>在</a:t>
            </a:r>
            <a:r>
              <a:rPr lang="en-US" altLang="zh-CN" sz="2400" b="1" dirty="0">
                <a:solidFill>
                  <a:srgbClr val="FF0000"/>
                </a:solidFill>
                <a:latin typeface="华文行楷" pitchFamily="2" charset="-122"/>
                <a:ea typeface="华文行楷" pitchFamily="2" charset="-122"/>
              </a:rPr>
              <a:t>1980</a:t>
            </a:r>
            <a:r>
              <a:rPr lang="zh-CN" altLang="en-US" sz="2400" b="1" dirty="0">
                <a:solidFill>
                  <a:srgbClr val="FF0000"/>
                </a:solidFill>
                <a:latin typeface="华文行楷" pitchFamily="2" charset="-122"/>
                <a:ea typeface="华文行楷" pitchFamily="2" charset="-122"/>
              </a:rPr>
              <a:t>年就说过：“从许多方面来说，现在我们还是把毛泽东同志已经提出、但是没有做的事情做起来，把他反对错了的改正过来，把他没有做好的事情做好。今后相当长的时期，还是做这件事。当然，我们也有发展，而且还要继续发展。</a:t>
            </a:r>
            <a:r>
              <a:rPr lang="zh-CN" altLang="en-US" sz="2400" b="1" dirty="0" smtClean="0">
                <a:solidFill>
                  <a:srgbClr val="FF0000"/>
                </a:solidFill>
                <a:latin typeface="华文行楷" pitchFamily="2" charset="-122"/>
                <a:ea typeface="华文行楷" pitchFamily="2" charset="-122"/>
              </a:rPr>
              <a:t>”</a:t>
            </a:r>
            <a:endParaRPr lang="en-US" altLang="zh-CN" sz="2400" b="1" dirty="0" smtClean="0">
              <a:solidFill>
                <a:srgbClr val="FF0000"/>
              </a:solidFill>
              <a:latin typeface="华文行楷" pitchFamily="2" charset="-122"/>
              <a:ea typeface="华文行楷" pitchFamily="2" charset="-122"/>
            </a:endParaRPr>
          </a:p>
          <a:p>
            <a:pPr marL="0" indent="0">
              <a:buNone/>
            </a:pPr>
            <a:r>
              <a:rPr lang="en-US" altLang="zh-CN" sz="2400" b="1" dirty="0">
                <a:solidFill>
                  <a:srgbClr val="FF0000"/>
                </a:solidFill>
                <a:latin typeface="华文行楷" pitchFamily="2" charset="-122"/>
                <a:ea typeface="华文行楷" pitchFamily="2" charset="-122"/>
              </a:rPr>
              <a:t> </a:t>
            </a:r>
            <a:r>
              <a:rPr lang="en-US" altLang="zh-CN" sz="2400" b="1" dirty="0" smtClean="0">
                <a:solidFill>
                  <a:srgbClr val="FF0000"/>
                </a:solidFill>
                <a:latin typeface="华文行楷" pitchFamily="2" charset="-122"/>
                <a:ea typeface="华文行楷" pitchFamily="2" charset="-122"/>
              </a:rPr>
              <a:t>     </a:t>
            </a:r>
            <a:r>
              <a:rPr lang="en-US" altLang="zh-CN" sz="2200" b="1" dirty="0" smtClean="0">
                <a:solidFill>
                  <a:srgbClr val="0000FF"/>
                </a:solidFill>
                <a:latin typeface="华文行楷" pitchFamily="2" charset="-122"/>
                <a:ea typeface="华文行楷" pitchFamily="2" charset="-122"/>
              </a:rPr>
              <a:t>——</a:t>
            </a:r>
            <a:r>
              <a:rPr lang="en-US" altLang="zh-CN" sz="2200" dirty="0" smtClean="0">
                <a:solidFill>
                  <a:srgbClr val="0000FF"/>
                </a:solidFill>
              </a:rPr>
              <a:t>《</a:t>
            </a:r>
            <a:r>
              <a:rPr lang="zh-CN" altLang="en-US" sz="2200" dirty="0">
                <a:solidFill>
                  <a:srgbClr val="0000FF"/>
                </a:solidFill>
              </a:rPr>
              <a:t>邓小平文选</a:t>
            </a:r>
            <a:r>
              <a:rPr lang="en-US" altLang="zh-CN" sz="2200" dirty="0">
                <a:solidFill>
                  <a:srgbClr val="0000FF"/>
                </a:solidFill>
              </a:rPr>
              <a:t>》</a:t>
            </a:r>
            <a:r>
              <a:rPr lang="zh-CN" altLang="en-US" sz="2200" dirty="0">
                <a:solidFill>
                  <a:srgbClr val="0000FF"/>
                </a:solidFill>
              </a:rPr>
              <a:t>第</a:t>
            </a:r>
            <a:r>
              <a:rPr lang="en-US" altLang="zh-CN" sz="2200" dirty="0">
                <a:solidFill>
                  <a:srgbClr val="0000FF"/>
                </a:solidFill>
              </a:rPr>
              <a:t>2</a:t>
            </a:r>
            <a:r>
              <a:rPr lang="zh-CN" altLang="en-US" sz="2200" dirty="0">
                <a:solidFill>
                  <a:srgbClr val="0000FF"/>
                </a:solidFill>
              </a:rPr>
              <a:t>卷，第</a:t>
            </a:r>
            <a:r>
              <a:rPr lang="en-US" altLang="zh-CN" sz="2200" dirty="0">
                <a:solidFill>
                  <a:srgbClr val="0000FF"/>
                </a:solidFill>
              </a:rPr>
              <a:t>300</a:t>
            </a:r>
            <a:r>
              <a:rPr lang="zh-CN" altLang="en-US" sz="2200" dirty="0">
                <a:solidFill>
                  <a:srgbClr val="0000FF"/>
                </a:solidFill>
              </a:rPr>
              <a:t>页</a:t>
            </a:r>
            <a:r>
              <a:rPr lang="zh-CN" altLang="en-US" dirty="0" smtClean="0"/>
              <a:t>。</a:t>
            </a:r>
            <a:endParaRPr lang="zh-CN" altLang="en-US" dirty="0"/>
          </a:p>
        </p:txBody>
      </p:sp>
      <p:pic>
        <p:nvPicPr>
          <p:cNvPr id="9218" name="Picture 2" descr="https://gss3.bdstatic.com/7Po3dSag_xI4khGkpoWK1HF6hhy/baike/s%3D220/sign=75600252b8096b63851959523c338733/30adcbef76094b36d389de90a5cc7cd98d109db0.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004048" y="1268760"/>
            <a:ext cx="2952328" cy="367240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576449625"/>
      </p:ext>
    </p:extLst>
  </p:cSld>
  <p:clrMapOvr>
    <a:masterClrMapping/>
  </p:clrMapOvr>
  <p:transition>
    <p:strips dir="rd"/>
    <p:sndAc>
      <p:stSnd>
        <p:snd r:embed="rId2" name="chimes.wav"/>
      </p:stSnd>
    </p:sndAc>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p:cNvSpPr>
          <p:nvPr/>
        </p:nvSpPr>
        <p:spPr>
          <a:xfrm>
            <a:off x="251520" y="1124744"/>
            <a:ext cx="8429684" cy="647357"/>
          </a:xfrm>
          <a:prstGeom prst="rect">
            <a:avLst/>
          </a:prstGeom>
          <a:solidFill>
            <a:schemeClr val="bg1"/>
          </a:solidFill>
          <a:ln w="12700">
            <a:solidFill>
              <a:srgbClr val="FF3300"/>
            </a:solidFill>
            <a:miter/>
          </a:ln>
        </p:spPr>
        <p:txBody>
          <a:bodyPr vert="horz" wrap="square" rtlCol="0">
            <a:spAutoFit/>
          </a:bodyPr>
          <a:lstStyle/>
          <a:p>
            <a:pPr marL="0" marR="0" lvl="0" indent="0" algn="l" defTabSz="914400" rtl="0" eaLnBrk="1" fontAlgn="base" latinLnBrk="0" hangingPunct="1">
              <a:lnSpc>
                <a:spcPct val="150000"/>
              </a:lnSpc>
              <a:spcBef>
                <a:spcPct val="50000"/>
              </a:spcBef>
              <a:spcAft>
                <a:spcPts val="0"/>
              </a:spcAft>
              <a:buClr>
                <a:schemeClr val="accent1"/>
              </a:buClr>
              <a:buSzPct val="50000"/>
              <a:buFont typeface="Wingdings 2"/>
              <a:buNone/>
              <a:tabLst/>
              <a:defRPr/>
            </a:pPr>
            <a:r>
              <a:rPr kumimoji="0" lang="zh-CN" altLang="en-US" sz="2800" b="1" i="0" u="none" strike="noStrike" kern="1200" cap="none" spc="0" normalizeH="0" baseline="0" noProof="1" smtClean="0">
                <a:ln>
                  <a:noFill/>
                </a:ln>
                <a:solidFill>
                  <a:srgbClr val="FF0000"/>
                </a:solidFill>
                <a:effectLst/>
                <a:uLnTx/>
                <a:uFillTx/>
                <a:latin typeface="Times New Roman" panose="02020603050405020304" pitchFamily="18" charset="0"/>
                <a:ea typeface="黑体" panose="02010609060101010101" pitchFamily="49" charset="-122"/>
                <a:cs typeface="+mn-cs"/>
              </a:rPr>
              <a:t>第三，丰富和发展了科学社会主义的理论和实践</a:t>
            </a:r>
            <a:r>
              <a:rPr kumimoji="0" lang="zh-CN" altLang="en-US" sz="2400" b="1" i="0" u="none" strike="noStrike" kern="1200" cap="none" spc="0" normalizeH="0" baseline="0" noProof="1" smtClean="0">
                <a:ln>
                  <a:noFill/>
                </a:ln>
                <a:solidFill>
                  <a:srgbClr val="FF0000"/>
                </a:solidFill>
                <a:effectLst/>
                <a:uLnTx/>
                <a:uFillTx/>
                <a:latin typeface="Times New Roman" panose="02020603050405020304" pitchFamily="18" charset="0"/>
                <a:ea typeface="黑体" panose="02010609060101010101" pitchFamily="49" charset="-122"/>
                <a:cs typeface="+mn-cs"/>
              </a:rPr>
              <a:t>。        </a:t>
            </a:r>
            <a:endParaRPr kumimoji="0" lang="zh-CN" altLang="en-US" sz="2400" b="1" i="0" u="none" strike="noStrike" kern="1200" cap="none" spc="0" normalizeH="0" baseline="0" noProof="1">
              <a:ln>
                <a:noFill/>
              </a:ln>
              <a:solidFill>
                <a:srgbClr val="FF0000"/>
              </a:solidFill>
              <a:effectLst/>
              <a:uLnTx/>
              <a:uFillTx/>
              <a:latin typeface="Times New Roman" panose="02020603050405020304" pitchFamily="18" charset="0"/>
              <a:ea typeface="黑体" panose="02010609060101010101" pitchFamily="49" charset="-122"/>
              <a:cs typeface="+mn-cs"/>
            </a:endParaRPr>
          </a:p>
        </p:txBody>
      </p:sp>
      <p:sp>
        <p:nvSpPr>
          <p:cNvPr id="6" name="矩形 5"/>
          <p:cNvSpPr/>
          <p:nvPr/>
        </p:nvSpPr>
        <p:spPr>
          <a:xfrm>
            <a:off x="1475656" y="2420888"/>
            <a:ext cx="6264696" cy="3477875"/>
          </a:xfrm>
          <a:prstGeom prst="rect">
            <a:avLst/>
          </a:prstGeom>
          <a:solidFill>
            <a:schemeClr val="bg1"/>
          </a:solidFill>
          <a:ln>
            <a:solidFill>
              <a:schemeClr val="accent1"/>
            </a:solidFill>
          </a:ln>
        </p:spPr>
        <p:txBody>
          <a:bodyPr wrap="square">
            <a:spAutoFit/>
          </a:bodyPr>
          <a:lstStyle/>
          <a:p>
            <a:r>
              <a:rPr lang="en-US" altLang="zh-CN" sz="2000" dirty="0" smtClean="0"/>
              <a:t>        </a:t>
            </a:r>
            <a:r>
              <a:rPr lang="zh-CN" altLang="zh-CN" sz="2000" b="1" dirty="0" smtClean="0">
                <a:latin typeface="仿宋" pitchFamily="49" charset="-122"/>
                <a:ea typeface="仿宋" pitchFamily="49" charset="-122"/>
              </a:rPr>
              <a:t>中国的社会主义，既不同于马克思、恩格斯设想的在生产力高度发达基础上建立的社会主义，也不同于在资本主义有一定发展基础上建立的苏联社会主义。党领导人民探索社会主义建设道路汲取了苏联模式的经验教训，根据自己的实践形成了许多独创性成果，深化了对社会主义的认识。社会主义</a:t>
            </a:r>
            <a:r>
              <a:rPr lang="zh-CN" altLang="zh-CN" sz="2000" b="1" dirty="0" smtClean="0">
                <a:latin typeface="仿宋" pitchFamily="49" charset="-122"/>
                <a:ea typeface="仿宋" pitchFamily="49" charset="-122"/>
              </a:rPr>
              <a:t>建设</a:t>
            </a:r>
            <a:r>
              <a:rPr lang="zh-CN" altLang="zh-CN" sz="2000" b="1" dirty="0" smtClean="0">
                <a:latin typeface="仿宋" pitchFamily="49" charset="-122"/>
                <a:ea typeface="仿宋" pitchFamily="49" charset="-122"/>
              </a:rPr>
              <a:t>没有一个固定不变的模式，各个国家应该根据自己的国情，独立自主地选择适合自己的发展道路。这不仅丰富了中国社会主义的理论与实践，也丰富了科学社会主义的理论与实践，为其他国家的社会主义建设提供了经验和借鉴。</a:t>
            </a:r>
            <a:endParaRPr lang="zh-CN" altLang="en-US" sz="2000" b="1" dirty="0">
              <a:latin typeface="仿宋" pitchFamily="49" charset="-122"/>
              <a:ea typeface="仿宋" pitchFamily="49" charset="-122"/>
            </a:endParaRPr>
          </a:p>
        </p:txBody>
      </p:sp>
    </p:spTree>
    <p:extLst>
      <p:ext uri="{BB962C8B-B14F-4D97-AF65-F5344CB8AC3E}">
        <p14:creationId xmlns:p14="http://schemas.microsoft.com/office/powerpoint/2010/main" xmlns="" val="2358228128"/>
      </p:ext>
    </p:extLst>
  </p:cSld>
  <p:clrMapOvr>
    <a:masterClrMapping/>
  </p:clrMapOvr>
  <p:transition>
    <p:strips dir="rd"/>
    <p:sndAc>
      <p:stSnd>
        <p:snd r:embed="rId2" name="chimes.wav"/>
      </p:stSnd>
    </p:sndAc>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584" y="1988840"/>
            <a:ext cx="7500990" cy="830997"/>
          </a:xfrm>
          <a:prstGeom prst="rect">
            <a:avLst/>
          </a:prstGeom>
          <a:solidFill>
            <a:schemeClr val="bg1"/>
          </a:solidFill>
          <a:ln>
            <a:solidFill>
              <a:srgbClr val="FF0000"/>
            </a:solidFill>
          </a:ln>
        </p:spPr>
        <p:txBody>
          <a:bodyPr wrap="square">
            <a:spAutoFit/>
          </a:bodyPr>
          <a:lstStyle/>
          <a:p>
            <a:r>
              <a:rPr lang="zh-CN" altLang="en-US" sz="2400" b="1" dirty="0" smtClean="0">
                <a:solidFill>
                  <a:srgbClr val="FF0000"/>
                </a:solidFill>
                <a:latin typeface="Times New Roman" panose="02020603050405020304" pitchFamily="18" charset="0"/>
                <a:ea typeface="黑体" panose="02010609060101010101" pitchFamily="49" charset="-122"/>
              </a:rPr>
              <a:t> </a:t>
            </a:r>
            <a:r>
              <a:rPr lang="zh-CN" altLang="en-US" sz="2400" b="1" noProof="1" smtClean="0">
                <a:solidFill>
                  <a:srgbClr val="FF0000"/>
                </a:solidFill>
                <a:latin typeface="Times New Roman" panose="02020603050405020304" pitchFamily="18" charset="0"/>
                <a:ea typeface="黑体" panose="02010609060101010101" pitchFamily="49" charset="-122"/>
                <a:cs typeface="+mn-cs"/>
              </a:rPr>
              <a:t>第一</a:t>
            </a:r>
            <a:r>
              <a:rPr lang="zh-CN" altLang="en-US" sz="2400" b="1" noProof="1" smtClean="0">
                <a:latin typeface="Times New Roman" panose="02020603050405020304" pitchFamily="18" charset="0"/>
                <a:ea typeface="黑体" panose="02010609060101010101" pitchFamily="49" charset="-122"/>
                <a:cs typeface="+mn-cs"/>
              </a:rPr>
              <a:t>，必须把马克思主义与中国实际相结合，探索符合中国特色社会主义建设道路</a:t>
            </a:r>
            <a:r>
              <a:rPr lang="zh-CN" altLang="en-US" sz="2400" b="1" dirty="0" smtClean="0">
                <a:latin typeface="Times New Roman" panose="02020603050405020304" pitchFamily="18" charset="0"/>
                <a:ea typeface="黑体" panose="02010609060101010101" pitchFamily="49" charset="-122"/>
              </a:rPr>
              <a:t>。</a:t>
            </a:r>
            <a:endParaRPr lang="zh-CN" altLang="en-US" sz="2400" dirty="0"/>
          </a:p>
        </p:txBody>
      </p:sp>
      <p:sp>
        <p:nvSpPr>
          <p:cNvPr id="4" name="矩形 3"/>
          <p:cNvSpPr/>
          <p:nvPr/>
        </p:nvSpPr>
        <p:spPr>
          <a:xfrm>
            <a:off x="539552" y="908720"/>
            <a:ext cx="7981672" cy="609398"/>
          </a:xfrm>
          <a:prstGeom prst="rect">
            <a:avLst/>
          </a:prstGeom>
          <a:solidFill>
            <a:schemeClr val="bg2"/>
          </a:solidFill>
          <a:ln>
            <a:solidFill>
              <a:schemeClr val="accent1"/>
            </a:solidFill>
          </a:ln>
        </p:spPr>
        <p:txBody>
          <a:bodyPr wrap="none">
            <a:spAutoFit/>
          </a:bodyPr>
          <a:lstStyle/>
          <a:p>
            <a:pPr>
              <a:lnSpc>
                <a:spcPct val="105000"/>
              </a:lnSpc>
              <a:spcBef>
                <a:spcPct val="50000"/>
              </a:spcBef>
            </a:pPr>
            <a:r>
              <a:rPr lang="zh-CN" altLang="en-US" sz="3200" b="1" noProof="1" smtClean="0">
                <a:solidFill>
                  <a:srgbClr val="FF0000"/>
                </a:solidFill>
                <a:latin typeface="华文琥珀" pitchFamily="2" charset="-122"/>
                <a:ea typeface="华文琥珀" pitchFamily="2" charset="-122"/>
              </a:rPr>
              <a:t>二、社会主义建设道路初步探索的经验教训</a:t>
            </a:r>
            <a:endParaRPr lang="en-US" altLang="zh-CN" sz="3200" b="1" noProof="1" smtClean="0">
              <a:solidFill>
                <a:srgbClr val="FF0000"/>
              </a:solidFill>
              <a:latin typeface="华文琥珀" pitchFamily="2" charset="-122"/>
              <a:ea typeface="华文琥珀" pitchFamily="2" charset="-122"/>
            </a:endParaRPr>
          </a:p>
        </p:txBody>
      </p:sp>
    </p:spTree>
  </p:cSld>
  <p:clrMapOvr>
    <a:masterClrMapping/>
  </p:clrMapOvr>
  <p:transition>
    <p:strips dir="rd"/>
    <p:sndAc>
      <p:stSnd>
        <p:snd r:embed="rId2" name="chimes.wav"/>
      </p:stSnd>
    </p:sndAc>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584" y="1196752"/>
            <a:ext cx="7929618" cy="4285276"/>
          </a:xfrm>
          <a:prstGeom prst="rect">
            <a:avLst/>
          </a:prstGeom>
          <a:solidFill>
            <a:schemeClr val="bg1"/>
          </a:solidFill>
          <a:ln>
            <a:solidFill>
              <a:srgbClr val="FF0000"/>
            </a:solidFill>
          </a:ln>
        </p:spPr>
        <p:txBody>
          <a:bodyPr wrap="square">
            <a:spAutoFit/>
          </a:bodyPr>
          <a:lstStyle/>
          <a:p>
            <a:pPr>
              <a:lnSpc>
                <a:spcPct val="150000"/>
              </a:lnSpc>
            </a:pPr>
            <a:r>
              <a:rPr lang="zh-CN" altLang="en-US" sz="2400" b="1" dirty="0" smtClean="0">
                <a:latin typeface="微软雅黑" pitchFamily="34" charset="-122"/>
                <a:ea typeface="微软雅黑" pitchFamily="34" charset="-122"/>
              </a:rPr>
              <a:t>        </a:t>
            </a:r>
            <a:r>
              <a:rPr lang="zh-CN" altLang="en-US" sz="2000" b="1" dirty="0" smtClean="0">
                <a:latin typeface="微软雅黑" pitchFamily="34" charset="-122"/>
                <a:ea typeface="微软雅黑" pitchFamily="34" charset="-122"/>
              </a:rPr>
              <a:t>然而，由于对马克思主义关于社会主义的一些基本原理的理解不够深入，对中国的基本国情缺乏深刻的认识，没有能够真正搞清楚什么是社会主义，怎样建设社会主义的问题，也没有完全摆脱苏联模式的影响，采取了一些脱离实际、超越发展阶段的政策和措施，导致我国社会主义建设道路的探索遭遇严重挫折。实践证明，只有科学理解马克思主义基本原理，准确把握中国的基本国情，运用马克思主义立场、观点和方法，分析和解决实践中遇到的种种问题，充分认识社会主义建设的长期性和复杂性，才能逐步掌握社会主义的建设规律，开辟适合中国特点的社会主义建设道路。</a:t>
            </a:r>
            <a:endParaRPr lang="zh-CN" altLang="en-US" sz="2000" b="1" dirty="0">
              <a:latin typeface="微软雅黑" pitchFamily="34" charset="-122"/>
              <a:ea typeface="微软雅黑" pitchFamily="34" charset="-122"/>
            </a:endParaRPr>
          </a:p>
        </p:txBody>
      </p:sp>
    </p:spTree>
  </p:cSld>
  <p:clrMapOvr>
    <a:masterClrMapping/>
  </p:clrMapOvr>
  <p:transition>
    <p:strips dir="rd"/>
    <p:sndAc>
      <p:stSnd>
        <p:snd r:embed="rId2" name="chimes.wav"/>
      </p:stSnd>
    </p:sndAc>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43108" y="1285860"/>
            <a:ext cx="5929354" cy="3508653"/>
          </a:xfrm>
          <a:prstGeom prst="rect">
            <a:avLst/>
          </a:prstGeom>
          <a:solidFill>
            <a:schemeClr val="bg1"/>
          </a:solidFill>
          <a:ln w="9525">
            <a:solidFill>
              <a:srgbClr val="FF0000"/>
            </a:solidFill>
          </a:ln>
        </p:spPr>
        <p:txBody>
          <a:bodyPr wrap="square" anchor="t">
            <a:spAutoFit/>
          </a:bodyPr>
          <a:lstStyle/>
          <a:p>
            <a:pPr lvl="0">
              <a:lnSpc>
                <a:spcPct val="150000"/>
              </a:lnSpc>
            </a:pPr>
            <a:r>
              <a:rPr lang="zh-CN" altLang="en-US" sz="2800" b="1" dirty="0" smtClean="0">
                <a:ea typeface="黑体" panose="02010609060101010101" pitchFamily="49" charset="-122"/>
              </a:rPr>
              <a:t>案例大跃进和人民公社运动</a:t>
            </a:r>
            <a:r>
              <a:rPr lang="en-US" altLang="zh-CN" sz="2800" dirty="0" smtClean="0">
                <a:latin typeface="Arial" panose="020B0604020202020204" pitchFamily="34" charset="0"/>
                <a:ea typeface="宋体" panose="02010600030101010101" pitchFamily="2" charset="-122"/>
              </a:rPr>
              <a:t> </a:t>
            </a:r>
            <a:r>
              <a:rPr lang="en-US" altLang="zh-CN" sz="2800" b="1" dirty="0" smtClean="0">
                <a:latin typeface="Arial" panose="020B0604020202020204" pitchFamily="34" charset="0"/>
                <a:ea typeface="宋体" panose="02010600030101010101" pitchFamily="2" charset="-122"/>
              </a:rPr>
              <a:t> </a:t>
            </a:r>
          </a:p>
          <a:p>
            <a:pPr lvl="0">
              <a:lnSpc>
                <a:spcPct val="150000"/>
              </a:lnSpc>
            </a:pPr>
            <a:r>
              <a:rPr lang="en-US" altLang="zh-CN" sz="2000" b="1" i="1" dirty="0" smtClean="0">
                <a:latin typeface="黑体" panose="02010609060101010101" pitchFamily="49" charset="-122"/>
                <a:ea typeface="黑体" panose="02010609060101010101" pitchFamily="49" charset="-122"/>
              </a:rPr>
              <a:t>    </a:t>
            </a:r>
            <a:r>
              <a:rPr lang="en-US" altLang="zh-CN" sz="2000" b="1" dirty="0" smtClean="0">
                <a:solidFill>
                  <a:srgbClr val="FF0000"/>
                </a:solidFill>
                <a:latin typeface="黑体" panose="02010609060101010101" pitchFamily="49" charset="-122"/>
                <a:ea typeface="黑体" panose="02010609060101010101" pitchFamily="49" charset="-122"/>
              </a:rPr>
              <a:t>1957</a:t>
            </a:r>
            <a:r>
              <a:rPr lang="zh-CN" altLang="en-US" sz="2000" b="1" dirty="0" smtClean="0">
                <a:solidFill>
                  <a:srgbClr val="FF0000"/>
                </a:solidFill>
                <a:latin typeface="黑体" panose="02010609060101010101" pitchFamily="49" charset="-122"/>
                <a:ea typeface="黑体" panose="02010609060101010101" pitchFamily="49" charset="-122"/>
              </a:rPr>
              <a:t>年</a:t>
            </a:r>
            <a:r>
              <a:rPr lang="en-US" altLang="zh-CN" sz="2000" b="1" dirty="0" smtClean="0">
                <a:solidFill>
                  <a:srgbClr val="FF0000"/>
                </a:solidFill>
                <a:latin typeface="黑体" panose="02010609060101010101" pitchFamily="49" charset="-122"/>
                <a:ea typeface="黑体" panose="02010609060101010101" pitchFamily="49" charset="-122"/>
              </a:rPr>
              <a:t>11</a:t>
            </a:r>
            <a:r>
              <a:rPr lang="zh-CN" altLang="en-US" sz="2000" b="1" dirty="0">
                <a:solidFill>
                  <a:srgbClr val="FF0000"/>
                </a:solidFill>
                <a:latin typeface="黑体" panose="02010609060101010101" pitchFamily="49" charset="-122"/>
                <a:ea typeface="黑体" panose="02010609060101010101" pitchFamily="49" charset="-122"/>
              </a:rPr>
              <a:t>月</a:t>
            </a:r>
            <a:r>
              <a:rPr lang="en-US" altLang="zh-CN" sz="2000" b="1" dirty="0">
                <a:solidFill>
                  <a:srgbClr val="FF0000"/>
                </a:solidFill>
                <a:latin typeface="黑体" panose="02010609060101010101" pitchFamily="49" charset="-122"/>
                <a:ea typeface="黑体" panose="02010609060101010101" pitchFamily="49" charset="-122"/>
              </a:rPr>
              <a:t>13</a:t>
            </a:r>
            <a:r>
              <a:rPr lang="zh-CN" altLang="en-US" sz="2000" b="1" dirty="0">
                <a:solidFill>
                  <a:srgbClr val="FF0000"/>
                </a:solidFill>
                <a:latin typeface="黑体" panose="02010609060101010101" pitchFamily="49" charset="-122"/>
                <a:ea typeface="黑体" panose="02010609060101010101" pitchFamily="49" charset="-122"/>
              </a:rPr>
              <a:t>日，</a:t>
            </a:r>
            <a:r>
              <a:rPr lang="en-US" altLang="zh-CN" sz="2000" b="1" dirty="0">
                <a:solidFill>
                  <a:srgbClr val="FF0000"/>
                </a:solidFill>
                <a:latin typeface="黑体" panose="02010609060101010101" pitchFamily="49" charset="-122"/>
                <a:ea typeface="黑体" panose="02010609060101010101" pitchFamily="49" charset="-122"/>
              </a:rPr>
              <a:t>《</a:t>
            </a:r>
            <a:r>
              <a:rPr lang="zh-CN" altLang="en-US" sz="2000" b="1" dirty="0">
                <a:solidFill>
                  <a:srgbClr val="FF0000"/>
                </a:solidFill>
                <a:latin typeface="黑体" panose="02010609060101010101" pitchFamily="49" charset="-122"/>
                <a:ea typeface="黑体" panose="02010609060101010101" pitchFamily="49" charset="-122"/>
              </a:rPr>
              <a:t>人民日报</a:t>
            </a:r>
            <a:r>
              <a:rPr lang="en-US" altLang="zh-CN" sz="2000" b="1" dirty="0">
                <a:solidFill>
                  <a:srgbClr val="FF0000"/>
                </a:solidFill>
                <a:latin typeface="黑体" panose="02010609060101010101" pitchFamily="49" charset="-122"/>
                <a:ea typeface="黑体" panose="02010609060101010101" pitchFamily="49" charset="-122"/>
              </a:rPr>
              <a:t>》</a:t>
            </a:r>
            <a:r>
              <a:rPr lang="zh-CN" altLang="en-US" sz="2000" b="1" dirty="0">
                <a:solidFill>
                  <a:srgbClr val="FF0000"/>
                </a:solidFill>
                <a:latin typeface="黑体" panose="02010609060101010101" pitchFamily="49" charset="-122"/>
                <a:ea typeface="黑体" panose="02010609060101010101" pitchFamily="49" charset="-122"/>
              </a:rPr>
              <a:t>发表社论，提出了“大跃进”的口号。</a:t>
            </a:r>
            <a:r>
              <a:rPr lang="en-US" altLang="zh-CN" sz="2000" b="1" dirty="0">
                <a:solidFill>
                  <a:srgbClr val="FF0000"/>
                </a:solidFill>
                <a:latin typeface="黑体" panose="02010609060101010101" pitchFamily="49" charset="-122"/>
                <a:ea typeface="黑体" panose="02010609060101010101" pitchFamily="49" charset="-122"/>
              </a:rPr>
              <a:t>1958</a:t>
            </a:r>
            <a:r>
              <a:rPr lang="zh-CN" altLang="en-US" sz="2000" b="1" dirty="0">
                <a:solidFill>
                  <a:srgbClr val="FF0000"/>
                </a:solidFill>
                <a:latin typeface="黑体" panose="02010609060101010101" pitchFamily="49" charset="-122"/>
                <a:ea typeface="黑体" panose="02010609060101010101" pitchFamily="49" charset="-122"/>
              </a:rPr>
              <a:t>年</a:t>
            </a:r>
            <a:r>
              <a:rPr lang="en-US" altLang="zh-CN" sz="2000" b="1" dirty="0">
                <a:solidFill>
                  <a:srgbClr val="FF0000"/>
                </a:solidFill>
                <a:latin typeface="黑体" panose="02010609060101010101" pitchFamily="49" charset="-122"/>
                <a:ea typeface="黑体" panose="02010609060101010101" pitchFamily="49" charset="-122"/>
              </a:rPr>
              <a:t>5</a:t>
            </a:r>
            <a:r>
              <a:rPr lang="zh-CN" altLang="en-US" sz="2000" b="1" dirty="0">
                <a:solidFill>
                  <a:srgbClr val="FF0000"/>
                </a:solidFill>
                <a:latin typeface="黑体" panose="02010609060101010101" pitchFamily="49" charset="-122"/>
                <a:ea typeface="黑体" panose="02010609060101010101" pitchFamily="49" charset="-122"/>
              </a:rPr>
              <a:t>月召开的中共八大二次会议是发动“大跃进”运动的一次重要会议。会议制定了鼓足干劲，力争上游，多快好省地建设社会主义的总路线，通过了第二个五年计划，提出了一系列不切实际的任务和指标</a:t>
            </a:r>
            <a:r>
              <a:rPr lang="zh-CN" altLang="en-US" sz="2000" b="1" dirty="0" smtClean="0">
                <a:solidFill>
                  <a:srgbClr val="FF0000"/>
                </a:solidFill>
                <a:latin typeface="黑体" panose="02010609060101010101" pitchFamily="49" charset="-122"/>
                <a:ea typeface="黑体" panose="02010609060101010101" pitchFamily="49" charset="-122"/>
              </a:rPr>
              <a:t>。</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strips dir="rd"/>
    <p:sndAc>
      <p:stSnd>
        <p:snd r:embed="rId2" name="chimes.wav"/>
      </p:stSnd>
    </p:sndAc>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gss1.bdstatic.com/-vo3dSag_xI4khGkpoWK1HF6hhy/baike/c0%3Dbaike92%2C5%2C5%2C92%2C30/sign=8f4da05cafd3fd1f2204aa6851274e7a/9f2f070828381f30e4e2bedbae014c086f06f0cc.jpg"/>
          <p:cNvPicPr>
            <a:picLocks noChangeAspect="1" noChangeArrowheads="1"/>
          </p:cNvPicPr>
          <p:nvPr/>
        </p:nvPicPr>
        <p:blipFill>
          <a:blip r:embed="rId3" cstate="print"/>
          <a:srcRect/>
          <a:stretch>
            <a:fillRect/>
          </a:stretch>
        </p:blipFill>
        <p:spPr bwMode="auto">
          <a:xfrm>
            <a:off x="3857620" y="571480"/>
            <a:ext cx="5600700" cy="4933950"/>
          </a:xfrm>
          <a:prstGeom prst="rect">
            <a:avLst/>
          </a:prstGeom>
          <a:noFill/>
        </p:spPr>
      </p:pic>
      <p:sp>
        <p:nvSpPr>
          <p:cNvPr id="6" name="矩形 5"/>
          <p:cNvSpPr/>
          <p:nvPr/>
        </p:nvSpPr>
        <p:spPr>
          <a:xfrm>
            <a:off x="500034" y="2428868"/>
            <a:ext cx="2571768" cy="3477875"/>
          </a:xfrm>
          <a:prstGeom prst="rect">
            <a:avLst/>
          </a:prstGeom>
          <a:solidFill>
            <a:schemeClr val="bg1"/>
          </a:solidFill>
          <a:ln>
            <a:solidFill>
              <a:srgbClr val="FF0000"/>
            </a:solidFill>
          </a:ln>
        </p:spPr>
        <p:txBody>
          <a:bodyPr wrap="square">
            <a:spAutoFit/>
          </a:bodyPr>
          <a:lstStyle/>
          <a:p>
            <a:r>
              <a:rPr lang="zh-CN" altLang="en-US" sz="2000" b="1" dirty="0" smtClean="0">
                <a:latin typeface="隶书" pitchFamily="49" charset="-122"/>
                <a:ea typeface="隶书" pitchFamily="49" charset="-122"/>
              </a:rPr>
              <a:t>毛泽东听后说：“看来‘人民公社’是一个好名字，包括工农兵学商，管理生产，管理生活，管理政权。‘人民公社’前面可以加上地名、或者加上群众喜欢的名字。”同时指出，公社的特点是“一曰大，二曰公。</a:t>
            </a:r>
          </a:p>
        </p:txBody>
      </p:sp>
      <p:sp>
        <p:nvSpPr>
          <p:cNvPr id="7" name="矩形 6"/>
          <p:cNvSpPr/>
          <p:nvPr/>
        </p:nvSpPr>
        <p:spPr>
          <a:xfrm>
            <a:off x="285720" y="1285860"/>
            <a:ext cx="3286116" cy="1015663"/>
          </a:xfrm>
          <a:prstGeom prst="rect">
            <a:avLst/>
          </a:prstGeom>
          <a:solidFill>
            <a:schemeClr val="bg1"/>
          </a:solidFill>
          <a:ln>
            <a:solidFill>
              <a:srgbClr val="FF0000"/>
            </a:solidFill>
          </a:ln>
        </p:spPr>
        <p:txBody>
          <a:bodyPr wrap="square">
            <a:spAutoFit/>
          </a:bodyPr>
          <a:lstStyle/>
          <a:p>
            <a:r>
              <a:rPr lang="en-US" altLang="zh-CN" sz="2000" b="1" dirty="0" smtClean="0">
                <a:latin typeface="隶书" pitchFamily="49" charset="-122"/>
                <a:ea typeface="隶书" pitchFamily="49" charset="-122"/>
              </a:rPr>
              <a:t>1958</a:t>
            </a:r>
            <a:r>
              <a:rPr lang="zh-CN" altLang="en-US" sz="2000" b="1" dirty="0" smtClean="0">
                <a:latin typeface="隶书" pitchFamily="49" charset="-122"/>
                <a:ea typeface="隶书" pitchFamily="49" charset="-122"/>
              </a:rPr>
              <a:t>年</a:t>
            </a:r>
            <a:r>
              <a:rPr lang="en-US" altLang="zh-CN" sz="2000" b="1" dirty="0" smtClean="0">
                <a:latin typeface="隶书" pitchFamily="49" charset="-122"/>
                <a:ea typeface="隶书" pitchFamily="49" charset="-122"/>
              </a:rPr>
              <a:t>8</a:t>
            </a:r>
            <a:r>
              <a:rPr lang="zh-CN" altLang="en-US" sz="2000" b="1" dirty="0" smtClean="0">
                <a:latin typeface="隶书" pitchFamily="49" charset="-122"/>
                <a:ea typeface="隶书" pitchFamily="49" charset="-122"/>
              </a:rPr>
              <a:t>月</a:t>
            </a:r>
            <a:r>
              <a:rPr lang="en-US" altLang="zh-CN" sz="2000" b="1" dirty="0" smtClean="0">
                <a:latin typeface="隶书" pitchFamily="49" charset="-122"/>
                <a:ea typeface="隶书" pitchFamily="49" charset="-122"/>
              </a:rPr>
              <a:t>6</a:t>
            </a:r>
            <a:r>
              <a:rPr lang="zh-CN" altLang="en-US" sz="2000" b="1" dirty="0" smtClean="0">
                <a:latin typeface="隶书" pitchFamily="49" charset="-122"/>
                <a:ea typeface="隶书" pitchFamily="49" charset="-122"/>
              </a:rPr>
              <a:t>日至 </a:t>
            </a:r>
            <a:r>
              <a:rPr lang="en-US" altLang="zh-CN" sz="2000" b="1" dirty="0" smtClean="0">
                <a:latin typeface="隶书" pitchFamily="49" charset="-122"/>
                <a:ea typeface="隶书" pitchFamily="49" charset="-122"/>
              </a:rPr>
              <a:t>8</a:t>
            </a:r>
            <a:r>
              <a:rPr lang="zh-CN" altLang="en-US" sz="2000" b="1" dirty="0" smtClean="0">
                <a:latin typeface="隶书" pitchFamily="49" charset="-122"/>
                <a:ea typeface="隶书" pitchFamily="49" charset="-122"/>
              </a:rPr>
              <a:t>日，毛泽东又来到河南视察了新乡县七里营人民公社</a:t>
            </a:r>
            <a:endParaRPr lang="zh-CN" altLang="en-US" sz="2000" b="1" dirty="0">
              <a:latin typeface="隶书" pitchFamily="49" charset="-122"/>
              <a:ea typeface="隶书" pitchFamily="49" charset="-122"/>
            </a:endParaRPr>
          </a:p>
        </p:txBody>
      </p:sp>
    </p:spTree>
  </p:cSld>
  <p:clrMapOvr>
    <a:masterClrMapping/>
  </p:clrMapOvr>
  <p:transition>
    <p:strips dir="rd"/>
    <p:sndAc>
      <p:stSnd>
        <p:snd r:embed="rId2" name="chimes.wav"/>
      </p:stSnd>
    </p:sndAc>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gss0.bdstatic.com/94o3dSag_xI4khGkpoWK1HF6hhy/baike/crop%3D0%2C0%2C550%2C386%3Bc0%3Dbaike80%2C5%2C5%2C80%2C26/sign=4bba8564c8fc1e17e9f0d67177a0da33/8601a18b87d6277f963c004a2f381f30e924fc91.jpg"/>
          <p:cNvPicPr>
            <a:picLocks noChangeAspect="1" noChangeArrowheads="1"/>
          </p:cNvPicPr>
          <p:nvPr/>
        </p:nvPicPr>
        <p:blipFill>
          <a:blip r:embed="rId3" cstate="print"/>
          <a:srcRect/>
          <a:stretch>
            <a:fillRect/>
          </a:stretch>
        </p:blipFill>
        <p:spPr bwMode="auto">
          <a:xfrm>
            <a:off x="2571736" y="2071678"/>
            <a:ext cx="5238750" cy="3676651"/>
          </a:xfrm>
          <a:prstGeom prst="rect">
            <a:avLst/>
          </a:prstGeom>
          <a:noFill/>
        </p:spPr>
      </p:pic>
      <p:sp>
        <p:nvSpPr>
          <p:cNvPr id="4" name="矩形 3"/>
          <p:cNvSpPr/>
          <p:nvPr/>
        </p:nvSpPr>
        <p:spPr>
          <a:xfrm>
            <a:off x="2571736" y="785794"/>
            <a:ext cx="3775393" cy="707886"/>
          </a:xfrm>
          <a:prstGeom prst="rect">
            <a:avLst/>
          </a:prstGeom>
          <a:solidFill>
            <a:schemeClr val="bg1"/>
          </a:solidFill>
          <a:ln>
            <a:solidFill>
              <a:srgbClr val="FF0000"/>
            </a:solidFill>
          </a:ln>
        </p:spPr>
        <p:txBody>
          <a:bodyPr wrap="none">
            <a:spAutoFit/>
          </a:bodyPr>
          <a:lstStyle/>
          <a:p>
            <a:r>
              <a:rPr lang="zh-CN" altLang="en-US" sz="4000" i="1" dirty="0" smtClean="0">
                <a:latin typeface="华文琥珀" pitchFamily="2" charset="-122"/>
                <a:ea typeface="华文琥珀" pitchFamily="2" charset="-122"/>
              </a:rPr>
              <a:t>“人民公社好”</a:t>
            </a:r>
            <a:endParaRPr lang="zh-CN" altLang="en-US" sz="4000" i="1" dirty="0">
              <a:latin typeface="华文琥珀" pitchFamily="2" charset="-122"/>
              <a:ea typeface="华文琥珀" pitchFamily="2" charset="-122"/>
            </a:endParaRPr>
          </a:p>
        </p:txBody>
      </p:sp>
    </p:spTree>
  </p:cSld>
  <p:clrMapOvr>
    <a:masterClrMapping/>
  </p:clrMapOvr>
  <p:transition>
    <p:strips dir="rd"/>
    <p:sndAc>
      <p:stSnd>
        <p:snd r:embed="rId2" name="chimes.wav"/>
      </p:stSnd>
    </p:sndAc>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85786" y="1142984"/>
            <a:ext cx="7037504" cy="1930337"/>
          </a:xfrm>
          <a:prstGeom prst="rect">
            <a:avLst/>
          </a:prstGeom>
          <a:solidFill>
            <a:schemeClr val="bg1"/>
          </a:solidFill>
          <a:ln>
            <a:solidFill>
              <a:srgbClr val="FF0000"/>
            </a:solidFill>
          </a:ln>
        </p:spPr>
        <p:txBody>
          <a:bodyPr wrap="none">
            <a:spAutoFit/>
          </a:bodyPr>
          <a:lstStyle/>
          <a:p>
            <a:pPr>
              <a:lnSpc>
                <a:spcPct val="150000"/>
              </a:lnSpc>
            </a:pPr>
            <a:r>
              <a:rPr lang="zh-CN" altLang="en-US" sz="2800" b="1" dirty="0" smtClean="0">
                <a:latin typeface="黑体" pitchFamily="49" charset="-122"/>
                <a:ea typeface="黑体" pitchFamily="49" charset="-122"/>
              </a:rPr>
              <a:t>   “一大二公”的人民公社，严重违反了</a:t>
            </a:r>
            <a:endParaRPr lang="en-US" altLang="zh-CN" sz="2800" b="1" dirty="0" smtClean="0">
              <a:latin typeface="黑体" pitchFamily="49" charset="-122"/>
              <a:ea typeface="黑体" pitchFamily="49" charset="-122"/>
            </a:endParaRPr>
          </a:p>
          <a:p>
            <a:pPr>
              <a:lnSpc>
                <a:spcPct val="150000"/>
              </a:lnSpc>
            </a:pPr>
            <a:r>
              <a:rPr lang="zh-CN" altLang="en-US" sz="2800" b="1" dirty="0" smtClean="0">
                <a:latin typeface="黑体" pitchFamily="49" charset="-122"/>
                <a:ea typeface="黑体" pitchFamily="49" charset="-122"/>
              </a:rPr>
              <a:t>生产关系与生产力一定要适应的关系，浪费</a:t>
            </a:r>
            <a:endParaRPr lang="en-US" altLang="zh-CN" sz="2800" b="1" dirty="0" smtClean="0">
              <a:latin typeface="黑体" pitchFamily="49" charset="-122"/>
              <a:ea typeface="黑体" pitchFamily="49" charset="-122"/>
            </a:endParaRPr>
          </a:p>
          <a:p>
            <a:pPr>
              <a:lnSpc>
                <a:spcPct val="150000"/>
              </a:lnSpc>
            </a:pPr>
            <a:r>
              <a:rPr lang="zh-CN" altLang="en-US" sz="2800" b="1" dirty="0" smtClean="0">
                <a:latin typeface="黑体" pitchFamily="49" charset="-122"/>
                <a:ea typeface="黑体" pitchFamily="49" charset="-122"/>
              </a:rPr>
              <a:t>了大量资源，造成极为严重的恶果。</a:t>
            </a:r>
            <a:endParaRPr lang="zh-CN" altLang="en-US" sz="2800" b="1" dirty="0">
              <a:latin typeface="黑体" pitchFamily="49" charset="-122"/>
              <a:ea typeface="黑体" pitchFamily="49" charset="-122"/>
            </a:endParaRPr>
          </a:p>
        </p:txBody>
      </p:sp>
    </p:spTree>
  </p:cSld>
  <p:clrMapOvr>
    <a:masterClrMapping/>
  </p:clrMapOvr>
  <p:transition>
    <p:strips dir="rd"/>
    <p:sndAc>
      <p:stSnd>
        <p:snd r:embed="rId2" name="chimes.wav"/>
      </p:stSnd>
    </p:sndAc>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14348" y="928670"/>
            <a:ext cx="2286016" cy="4534831"/>
          </a:xfrm>
          <a:prstGeom prst="rect">
            <a:avLst/>
          </a:prstGeom>
          <a:solidFill>
            <a:schemeClr val="bg1"/>
          </a:solidFill>
          <a:ln>
            <a:solidFill>
              <a:srgbClr val="FF0000"/>
            </a:solidFill>
          </a:ln>
        </p:spPr>
        <p:txBody>
          <a:bodyPr wrap="square">
            <a:spAutoFit/>
          </a:bodyPr>
          <a:lstStyle/>
          <a:p>
            <a:pPr>
              <a:lnSpc>
                <a:spcPct val="150000"/>
              </a:lnSpc>
              <a:spcBef>
                <a:spcPct val="50000"/>
              </a:spcBef>
            </a:pPr>
            <a:r>
              <a:rPr lang="zh-CN" altLang="en-US" sz="2800" b="1" dirty="0" smtClean="0">
                <a:solidFill>
                  <a:srgbClr val="FF0000"/>
                </a:solidFill>
                <a:latin typeface="Times New Roman" panose="02020603050405020304" pitchFamily="18" charset="0"/>
                <a:ea typeface="黑体" panose="02010609060101010101" pitchFamily="49" charset="-122"/>
              </a:rPr>
              <a:t>第二</a:t>
            </a:r>
            <a:r>
              <a:rPr lang="zh-CN" altLang="en-US" sz="2800" b="1" dirty="0" smtClean="0">
                <a:latin typeface="Times New Roman" panose="02020603050405020304" pitchFamily="18" charset="0"/>
                <a:ea typeface="黑体" panose="02010609060101010101" pitchFamily="49" charset="-122"/>
              </a:rPr>
              <a:t>，必须正确认识社会主义社会的主要矛盾和根本任务，集中力量发展生产力。</a:t>
            </a:r>
            <a:endParaRPr lang="zh-CN" altLang="en-US" sz="2800" b="1" dirty="0">
              <a:latin typeface="Times New Roman" panose="02020603050405020304" pitchFamily="18" charset="0"/>
              <a:ea typeface="黑体" panose="02010609060101010101" pitchFamily="49" charset="-122"/>
            </a:endParaRPr>
          </a:p>
        </p:txBody>
      </p:sp>
      <p:pic>
        <p:nvPicPr>
          <p:cNvPr id="4" name="Picture 2" descr="https://gss1.bdstatic.com/9vo3dSag_xI4khGkpoWK1HF6hhy/baike/w%3D268%3Bg%3D0/sign=a81cb18d6259252da3171a020ca06406/ac6eddc451da81cb483ed05a5066d01608243148.jpg"/>
          <p:cNvPicPr>
            <a:picLocks noChangeAspect="1" noChangeArrowheads="1"/>
          </p:cNvPicPr>
          <p:nvPr/>
        </p:nvPicPr>
        <p:blipFill>
          <a:blip r:embed="rId3" cstate="print"/>
          <a:srcRect/>
          <a:stretch>
            <a:fillRect/>
          </a:stretch>
        </p:blipFill>
        <p:spPr bwMode="auto">
          <a:xfrm>
            <a:off x="3714744" y="785794"/>
            <a:ext cx="3714776" cy="5715040"/>
          </a:xfrm>
          <a:prstGeom prst="rect">
            <a:avLst/>
          </a:prstGeom>
          <a:noFill/>
        </p:spPr>
      </p:pic>
    </p:spTree>
  </p:cSld>
  <p:clrMapOvr>
    <a:masterClrMapping/>
  </p:clrMapOvr>
  <p:transition>
    <p:strips dir="rd"/>
    <p:sndAc>
      <p:stSnd>
        <p:snd r:embed="rId2" name="chimes.wav"/>
      </p:stSnd>
    </p:sndAc>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1"/>
          <p:cNvSpPr>
            <a:spLocks noChangeArrowheads="1"/>
          </p:cNvSpPr>
          <p:nvPr/>
        </p:nvSpPr>
        <p:spPr bwMode="auto">
          <a:xfrm>
            <a:off x="928662" y="857232"/>
            <a:ext cx="6929486" cy="4308823"/>
          </a:xfrm>
          <a:prstGeom prst="rect">
            <a:avLst/>
          </a:prstGeom>
          <a:solidFill>
            <a:schemeClr val="bg1"/>
          </a:solidFill>
          <a:ln w="9525">
            <a:solidFill>
              <a:srgbClr val="FF0000"/>
            </a:solidFill>
            <a:miter lim="800000"/>
            <a:headEnd/>
            <a:tailEnd/>
          </a:ln>
          <a:effectLst/>
        </p:spPr>
        <p:txBody>
          <a:bodyPr vert="horz" wrap="square" lIns="0" tIns="76176" rIns="0" bIns="76176"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2000" b="1" i="0" u="none" strike="noStrike" cap="none" normalizeH="0" baseline="0" dirty="0" smtClean="0">
                <a:ln>
                  <a:noFill/>
                </a:ln>
                <a:effectLst/>
                <a:latin typeface="Arial Unicode MS" pitchFamily="34" charset="-122"/>
                <a:ea typeface="PingFang SC"/>
                <a:cs typeface="宋体" pitchFamily="2" charset="-122"/>
              </a:rPr>
              <a:t>        </a:t>
            </a:r>
            <a:r>
              <a:rPr kumimoji="0" lang="zh-CN" sz="2000" b="1" i="0" u="none" strike="noStrike" cap="none" normalizeH="0" baseline="0" dirty="0" smtClean="0">
                <a:ln>
                  <a:noFill/>
                </a:ln>
                <a:effectLst/>
                <a:latin typeface="+mn-ea"/>
                <a:ea typeface="+mn-ea"/>
                <a:cs typeface="宋体" pitchFamily="2" charset="-122"/>
              </a:rPr>
              <a:t>对整风运动中极少数右派分子向共产党的领导和社会主义制度发动的进攻，在问题发生的范围内进行坚决的和适度的反击，是完全必要和正确的。否则就会造成思想上和政治上 的混乱，对建设社会主义是极为不利的。</a:t>
            </a:r>
            <a:br>
              <a:rPr kumimoji="0" lang="zh-CN" sz="2000" b="1" i="0" u="none" strike="noStrike" cap="none" normalizeH="0" baseline="0" dirty="0" smtClean="0">
                <a:ln>
                  <a:noFill/>
                </a:ln>
                <a:effectLst/>
                <a:latin typeface="+mn-ea"/>
                <a:ea typeface="+mn-ea"/>
                <a:cs typeface="宋体" pitchFamily="2" charset="-122"/>
              </a:rPr>
            </a:br>
            <a:r>
              <a:rPr kumimoji="0" lang="en-US" altLang="zh-CN" sz="2000" b="1" i="0" u="none" strike="noStrike" cap="none" normalizeH="0" baseline="0" dirty="0" smtClean="0">
                <a:ln>
                  <a:noFill/>
                </a:ln>
                <a:effectLst/>
                <a:latin typeface="+mn-ea"/>
                <a:ea typeface="+mn-ea"/>
                <a:cs typeface="宋体" pitchFamily="2" charset="-122"/>
              </a:rPr>
              <a:t>        </a:t>
            </a:r>
            <a:r>
              <a:rPr kumimoji="0" lang="zh-CN" sz="2000" b="1" i="0" u="none" strike="noStrike" cap="none" normalizeH="0" baseline="0" dirty="0" smtClean="0">
                <a:ln>
                  <a:noFill/>
                </a:ln>
                <a:effectLst/>
                <a:latin typeface="+mn-ea"/>
                <a:ea typeface="+mn-ea"/>
                <a:cs typeface="宋体" pitchFamily="2" charset="-122"/>
              </a:rPr>
              <a:t>但是，反对右派斗争犯了严重扩大化的错误。</a:t>
            </a:r>
            <a:endParaRPr kumimoji="0" lang="en-US" altLang="zh-CN" sz="2000" b="1" i="0" u="none" strike="noStrike" cap="none" normalizeH="0" baseline="0" dirty="0" smtClean="0">
              <a:ln>
                <a:noFill/>
              </a:ln>
              <a:effectLst/>
              <a:latin typeface="+mn-ea"/>
              <a:ea typeface="+mn-ea"/>
              <a:cs typeface="宋体" pitchFamily="2" charset="-122"/>
            </a:endParaRPr>
          </a:p>
          <a:p>
            <a:pPr marL="0" marR="0" lvl="0" indent="0" algn="l" defTabSz="914400" rtl="0" eaLnBrk="1" fontAlgn="base" latinLnBrk="0" hangingPunct="1">
              <a:lnSpc>
                <a:spcPct val="150000"/>
              </a:lnSpc>
              <a:spcBef>
                <a:spcPct val="0"/>
              </a:spcBef>
              <a:spcAft>
                <a:spcPct val="0"/>
              </a:spcAft>
              <a:buClrTx/>
              <a:buSzTx/>
              <a:buFontTx/>
              <a:buNone/>
              <a:tabLst/>
            </a:pPr>
            <a:r>
              <a:rPr lang="en-US" altLang="zh-CN" sz="2000" b="1" dirty="0" smtClean="0">
                <a:latin typeface="+mn-ea"/>
                <a:ea typeface="+mn-ea"/>
                <a:cs typeface="宋体" pitchFamily="2" charset="-122"/>
              </a:rPr>
              <a:t>        </a:t>
            </a:r>
            <a:r>
              <a:rPr lang="zh-CN" altLang="en-US" sz="2000" b="1" dirty="0" smtClean="0">
                <a:latin typeface="+mn-ea"/>
                <a:ea typeface="+mn-ea"/>
                <a:cs typeface="宋体" pitchFamily="2" charset="-122"/>
              </a:rPr>
              <a:t>反右斗争后，我党夸大了阶级斗争存在的严重性，改变了八大提出的主要矛盾和任务，重新把阶级矛盾作为社会主义社会的主要矛盾，把阶级斗争作为社会主义社会的主要任务来抓，党的指导思想开始偏离正确轨道。</a:t>
            </a:r>
            <a:endParaRPr lang="zh-CN" sz="2000" b="1" dirty="0" smtClean="0">
              <a:latin typeface="+mn-ea"/>
              <a:ea typeface="+mn-ea"/>
              <a:cs typeface="宋体" pitchFamily="2" charset="-122"/>
            </a:endParaRPr>
          </a:p>
        </p:txBody>
      </p:sp>
    </p:spTree>
  </p:cSld>
  <p:clrMapOvr>
    <a:masterClrMapping/>
  </p:clrMapOvr>
  <p:transition>
    <p:strips dir="rd"/>
    <p:sndAc>
      <p:stSnd>
        <p:snd r:embed="rId2" name="chimes.wav"/>
      </p:stSnd>
    </p:sndAc>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2" descr="https://timgsa.baidu.com/timg?image&amp;quality=80&amp;size=b9999_10000&amp;sec=1513055610813&amp;di=fec87f4ef185ecf7e593ced6c14e921b&amp;imgtype=jpg&amp;src=http%3A%2F%2Fimg3.imgtn.bdimg.com%2Fit%2Fu%3D2066871078%2C2551172267%26fm%3D214%26gp%3D0.jpg"/>
          <p:cNvPicPr>
            <a:picLocks noChangeAspect="1" noChangeArrowheads="1"/>
          </p:cNvPicPr>
          <p:nvPr/>
        </p:nvPicPr>
        <p:blipFill>
          <a:blip r:embed="rId3" cstate="print"/>
          <a:srcRect/>
          <a:stretch>
            <a:fillRect/>
          </a:stretch>
        </p:blipFill>
        <p:spPr bwMode="auto">
          <a:xfrm>
            <a:off x="1428728" y="642918"/>
            <a:ext cx="6324600" cy="4581525"/>
          </a:xfrm>
          <a:prstGeom prst="rect">
            <a:avLst/>
          </a:prstGeom>
          <a:noFill/>
        </p:spPr>
      </p:pic>
    </p:spTree>
  </p:cSld>
  <p:clrMapOvr>
    <a:masterClrMapping/>
  </p:clrMapOvr>
  <p:transition>
    <p:strips dir="rd"/>
    <p:sndAc>
      <p:stSnd>
        <p:snd r:embed="rId2" name="chimes.wav"/>
      </p:stSnd>
    </p:sndAc>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p:cNvSpPr>
          <p:nvPr>
            <p:ph idx="1"/>
          </p:nvPr>
        </p:nvSpPr>
        <p:spPr>
          <a:xfrm>
            <a:off x="467544" y="476672"/>
            <a:ext cx="7453343" cy="1477328"/>
          </a:xfrm>
          <a:solidFill>
            <a:schemeClr val="bg1"/>
          </a:solidFill>
          <a:ln w="12700">
            <a:solidFill>
              <a:srgbClr val="FF3300"/>
            </a:solidFill>
            <a:miter/>
          </a:ln>
        </p:spPr>
        <p:txBody>
          <a:bodyPr wrap="square" anchor="t">
            <a:spAutoFit/>
          </a:bodyPr>
          <a:lstStyle/>
          <a:p>
            <a:pPr marL="0" indent="0">
              <a:lnSpc>
                <a:spcPct val="150000"/>
              </a:lnSpc>
              <a:spcBef>
                <a:spcPct val="50000"/>
              </a:spcBef>
              <a:buNone/>
            </a:pPr>
            <a:r>
              <a:rPr lang="zh-CN" altLang="en-US" sz="2800" b="1" dirty="0" smtClean="0">
                <a:solidFill>
                  <a:srgbClr val="FF0000"/>
                </a:solidFill>
                <a:latin typeface="Times New Roman" panose="02020603050405020304" pitchFamily="18" charset="0"/>
                <a:ea typeface="黑体" panose="02010609060101010101" pitchFamily="49" charset="-122"/>
              </a:rPr>
              <a:t>第三</a:t>
            </a:r>
            <a:r>
              <a:rPr lang="zh-CN" altLang="en-US" sz="2800" b="1" dirty="0">
                <a:solidFill>
                  <a:srgbClr val="0000FF"/>
                </a:solidFill>
                <a:latin typeface="Times New Roman" panose="02020603050405020304" pitchFamily="18" charset="0"/>
                <a:ea typeface="黑体" panose="02010609060101010101" pitchFamily="49" charset="-122"/>
              </a:rPr>
              <a:t>，必须从实际出发进行社会主义建设，建设规模和速度要和国力相适应，不能</a:t>
            </a:r>
            <a:r>
              <a:rPr lang="zh-CN" altLang="en-US" sz="2800" b="1" dirty="0" smtClean="0">
                <a:solidFill>
                  <a:srgbClr val="0000FF"/>
                </a:solidFill>
                <a:latin typeface="Times New Roman" panose="02020603050405020304" pitchFamily="18" charset="0"/>
                <a:ea typeface="黑体" panose="02010609060101010101" pitchFamily="49" charset="-122"/>
              </a:rPr>
              <a:t>急于求成</a:t>
            </a:r>
            <a:r>
              <a:rPr lang="zh-CN" altLang="en-US" dirty="0" smtClean="0">
                <a:solidFill>
                  <a:srgbClr val="0000FF"/>
                </a:solidFill>
                <a:latin typeface="Times New Roman" panose="02020603050405020304" pitchFamily="18" charset="0"/>
                <a:ea typeface="华文新魏" panose="02010800040101010101" pitchFamily="2" charset="-122"/>
              </a:rPr>
              <a:t>          </a:t>
            </a:r>
            <a:endParaRPr lang="zh-CN" altLang="en-US" dirty="0">
              <a:solidFill>
                <a:srgbClr val="0000FF"/>
              </a:solidFill>
              <a:latin typeface="Times New Roman" panose="02020603050405020304" pitchFamily="18" charset="0"/>
              <a:ea typeface="华文新魏" panose="02010800040101010101" pitchFamily="2" charset="-122"/>
            </a:endParaRPr>
          </a:p>
        </p:txBody>
      </p:sp>
      <p:sp>
        <p:nvSpPr>
          <p:cNvPr id="4" name="矩形 3"/>
          <p:cNvSpPr/>
          <p:nvPr/>
        </p:nvSpPr>
        <p:spPr>
          <a:xfrm>
            <a:off x="214282" y="2276872"/>
            <a:ext cx="8929718" cy="3046988"/>
          </a:xfrm>
          <a:prstGeom prst="rect">
            <a:avLst/>
          </a:prstGeom>
          <a:solidFill>
            <a:schemeClr val="bg1"/>
          </a:solidFill>
          <a:ln>
            <a:solidFill>
              <a:srgbClr val="FF0000"/>
            </a:solidFill>
          </a:ln>
        </p:spPr>
        <p:txBody>
          <a:bodyPr wrap="square">
            <a:spAutoFit/>
          </a:bodyPr>
          <a:lstStyle/>
          <a:p>
            <a:r>
              <a:rPr lang="zh-CN" altLang="en-US" sz="2400" b="1" dirty="0" smtClean="0">
                <a:latin typeface="黑体" pitchFamily="49" charset="-122"/>
                <a:ea typeface="黑体" pitchFamily="49" charset="-122"/>
              </a:rPr>
              <a:t>     </a:t>
            </a:r>
            <a:r>
              <a:rPr lang="zh-CN" altLang="en-US" sz="2400" b="1" dirty="0" smtClean="0">
                <a:latin typeface="Times New Roman" panose="02020603050405020304" pitchFamily="18" charset="0"/>
                <a:ea typeface="黑体" panose="02010609060101010101" pitchFamily="49" charset="-122"/>
                <a:cs typeface="+mn-cs"/>
              </a:rPr>
              <a:t>由于生产力发展水平落后，物质基础薄弱，迅速摆脱贫穷落后的面貌，是全党全国人民的共同愿望；同时党对于迅速到来的社会主义建设事业，也缺乏充分的思想准备 ，因此在经济建设上就容易容易急于求成。</a:t>
            </a:r>
            <a:endParaRPr lang="en-US" altLang="zh-CN" sz="2400" b="1" dirty="0" smtClean="0">
              <a:latin typeface="Times New Roman" panose="02020603050405020304" pitchFamily="18" charset="0"/>
              <a:ea typeface="黑体" panose="02010609060101010101" pitchFamily="49" charset="-122"/>
              <a:cs typeface="+mn-cs"/>
            </a:endParaRPr>
          </a:p>
          <a:p>
            <a:r>
              <a:rPr lang="en-US" altLang="zh-CN" sz="2400" b="1" dirty="0" smtClean="0">
                <a:latin typeface="Times New Roman" panose="02020603050405020304" pitchFamily="18" charset="0"/>
                <a:ea typeface="黑体" panose="02010609060101010101" pitchFamily="49" charset="-122"/>
                <a:cs typeface="+mn-cs"/>
              </a:rPr>
              <a:t>       </a:t>
            </a:r>
            <a:r>
              <a:rPr lang="zh-CN" altLang="en-US" sz="2400" b="1" dirty="0" smtClean="0">
                <a:latin typeface="Times New Roman" panose="02020603050405020304" pitchFamily="18" charset="0"/>
                <a:ea typeface="黑体" panose="02010609060101010101" pitchFamily="49" charset="-122"/>
                <a:cs typeface="+mn-cs"/>
              </a:rPr>
              <a:t>其主要表现就是制定的路线、方针和政策偏离了我国社会主义初级阶段的实际，忽视了生产建设、经营管理的经济效果和各项经济计划、经济政策、经济措施的科学论证，从而造成了严重的损失。</a:t>
            </a:r>
            <a:endParaRPr lang="zh-CN" altLang="en-US" sz="2400" b="1" dirty="0">
              <a:latin typeface="Times New Roman" panose="02020603050405020304" pitchFamily="18" charset="0"/>
              <a:ea typeface="黑体" panose="02010609060101010101" pitchFamily="49" charset="-122"/>
              <a:cs typeface="+mn-cs"/>
            </a:endParaRPr>
          </a:p>
        </p:txBody>
      </p:sp>
    </p:spTree>
  </p:cSld>
  <p:clrMapOvr>
    <a:masterClrMapping/>
  </p:clrMapOvr>
  <p:transition>
    <p:strips dir="rd"/>
    <p:sndAc>
      <p:stSnd>
        <p:snd r:embed="rId2" name="chimes.wav"/>
      </p:stSnd>
    </p:sndAc>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5" name="Picture 2" descr="C:\Users\Public\Pictures\Sample Pictures\a5c27d1ed21b0ef4eeab73c6dcc451da80cb3ee3.jpg"/>
          <p:cNvPicPr>
            <a:picLocks noChangeAspect="1"/>
          </p:cNvPicPr>
          <p:nvPr/>
        </p:nvPicPr>
        <p:blipFill>
          <a:blip r:embed="rId3" cstate="print"/>
          <a:stretch>
            <a:fillRect/>
          </a:stretch>
        </p:blipFill>
        <p:spPr>
          <a:xfrm>
            <a:off x="971550" y="0"/>
            <a:ext cx="5524500" cy="3867150"/>
          </a:xfrm>
          <a:prstGeom prst="rect">
            <a:avLst/>
          </a:prstGeom>
          <a:noFill/>
          <a:ln w="9525">
            <a:noFill/>
          </a:ln>
        </p:spPr>
      </p:pic>
      <p:pic>
        <p:nvPicPr>
          <p:cNvPr id="47106" name="Picture 4" descr="C:\Users\Public\Pictures\Sample Pictures\u=2164082901,2941561304&amp;fm=21&amp;gp=0.jpg"/>
          <p:cNvPicPr>
            <a:picLocks noChangeAspect="1"/>
          </p:cNvPicPr>
          <p:nvPr/>
        </p:nvPicPr>
        <p:blipFill>
          <a:blip r:embed="rId4" cstate="print"/>
          <a:stretch>
            <a:fillRect/>
          </a:stretch>
        </p:blipFill>
        <p:spPr>
          <a:xfrm>
            <a:off x="1476375" y="4076700"/>
            <a:ext cx="5472113" cy="2781300"/>
          </a:xfrm>
          <a:prstGeom prst="rect">
            <a:avLst/>
          </a:prstGeom>
          <a:noFill/>
          <a:ln w="9525">
            <a:noFill/>
          </a:ln>
        </p:spPr>
      </p:pic>
    </p:spTree>
  </p:cSld>
  <p:clrMapOvr>
    <a:masterClrMapping/>
  </p:clrMapOvr>
  <p:transition>
    <p:strips dir="rd"/>
    <p:sndAc>
      <p:stSnd>
        <p:snd r:embed="rId2" name="chimes.wav"/>
      </p:stSnd>
    </p:sndAc>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Picture 2" descr="C:\Users\Public\Pictures\Sample Pictures\20140220181915-388518446.jpg"/>
          <p:cNvPicPr>
            <a:picLocks noChangeAspect="1"/>
          </p:cNvPicPr>
          <p:nvPr/>
        </p:nvPicPr>
        <p:blipFill>
          <a:blip r:embed="rId3" cstate="print"/>
          <a:stretch>
            <a:fillRect/>
          </a:stretch>
        </p:blipFill>
        <p:spPr>
          <a:xfrm>
            <a:off x="928688" y="0"/>
            <a:ext cx="7286625" cy="6858000"/>
          </a:xfrm>
          <a:prstGeom prst="rect">
            <a:avLst/>
          </a:prstGeom>
          <a:noFill/>
          <a:ln w="9525">
            <a:noFill/>
          </a:ln>
        </p:spPr>
      </p:pic>
    </p:spTree>
  </p:cSld>
  <p:clrMapOvr>
    <a:masterClrMapping/>
  </p:clrMapOvr>
  <p:transition>
    <p:strips dir="rd"/>
    <p:sndAc>
      <p:stSnd>
        <p:snd r:embed="rId2" name="chimes.wav"/>
      </p:stSnd>
    </p:sndAc>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11" descr="821189549"/>
          <p:cNvPicPr>
            <a:picLocks noChangeAspect="1"/>
          </p:cNvPicPr>
          <p:nvPr/>
        </p:nvPicPr>
        <p:blipFill>
          <a:blip r:embed="rId3" cstate="print"/>
          <a:stretch>
            <a:fillRect/>
          </a:stretch>
        </p:blipFill>
        <p:spPr>
          <a:xfrm>
            <a:off x="428596" y="0"/>
            <a:ext cx="4114800" cy="4562475"/>
          </a:xfrm>
          <a:prstGeom prst="rect">
            <a:avLst/>
          </a:prstGeom>
          <a:noFill/>
          <a:ln w="9525">
            <a:noFill/>
          </a:ln>
        </p:spPr>
      </p:pic>
      <p:pic>
        <p:nvPicPr>
          <p:cNvPr id="4" name="Picture 22" descr="821477940"/>
          <p:cNvPicPr>
            <a:picLocks noChangeAspect="1"/>
          </p:cNvPicPr>
          <p:nvPr/>
        </p:nvPicPr>
        <p:blipFill>
          <a:blip r:embed="rId4" cstate="print"/>
          <a:stretch>
            <a:fillRect/>
          </a:stretch>
        </p:blipFill>
        <p:spPr>
          <a:xfrm>
            <a:off x="4357686" y="0"/>
            <a:ext cx="4786314" cy="4572008"/>
          </a:xfrm>
          <a:prstGeom prst="rect">
            <a:avLst/>
          </a:prstGeom>
          <a:noFill/>
          <a:ln w="9525">
            <a:noFill/>
          </a:ln>
        </p:spPr>
      </p:pic>
    </p:spTree>
  </p:cSld>
  <p:clrMapOvr>
    <a:masterClrMapping/>
  </p:clrMapOvr>
  <p:transition>
    <p:strips dir="rd"/>
    <p:sndAc>
      <p:stSnd>
        <p:snd r:embed="rId2" name="chimes.wav"/>
      </p:stSnd>
    </p:sndAc>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1" name="Picture 2" descr="C:\Users\Public\Pictures\Sample Pictures\200537214817734.jpg"/>
          <p:cNvPicPr>
            <a:picLocks noChangeAspect="1"/>
          </p:cNvPicPr>
          <p:nvPr/>
        </p:nvPicPr>
        <p:blipFill>
          <a:blip r:embed="rId3" cstate="print"/>
          <a:stretch>
            <a:fillRect/>
          </a:stretch>
        </p:blipFill>
        <p:spPr>
          <a:xfrm>
            <a:off x="1143000" y="838200"/>
            <a:ext cx="6858000" cy="5181600"/>
          </a:xfrm>
          <a:prstGeom prst="rect">
            <a:avLst/>
          </a:prstGeom>
          <a:noFill/>
          <a:ln w="9525">
            <a:noFill/>
          </a:ln>
        </p:spPr>
      </p:pic>
    </p:spTree>
  </p:cSld>
  <p:clrMapOvr>
    <a:masterClrMapping/>
  </p:clrMapOvr>
  <p:transition>
    <p:strips dir="rd"/>
    <p:sndAc>
      <p:stSnd>
        <p:snd r:embed="rId2" name="chimes.wav"/>
      </p:stSnd>
    </p:sndAc>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5" name="Picture 2" descr="C:\Users\Public\Pictures\Sample Pictures\u=574970747,2182237171&amp;fm=21&amp;gp=0.jpg"/>
          <p:cNvPicPr>
            <a:picLocks noChangeAspect="1"/>
          </p:cNvPicPr>
          <p:nvPr/>
        </p:nvPicPr>
        <p:blipFill>
          <a:blip r:embed="rId3" cstate="print"/>
          <a:stretch>
            <a:fillRect/>
          </a:stretch>
        </p:blipFill>
        <p:spPr>
          <a:xfrm>
            <a:off x="323850" y="620713"/>
            <a:ext cx="8496300" cy="5976937"/>
          </a:xfrm>
          <a:prstGeom prst="rect">
            <a:avLst/>
          </a:prstGeom>
          <a:noFill/>
          <a:ln w="9525">
            <a:noFill/>
          </a:ln>
        </p:spPr>
      </p:pic>
    </p:spTree>
  </p:cSld>
  <p:clrMapOvr>
    <a:masterClrMapping/>
  </p:clrMapOvr>
  <p:transition>
    <p:strips dir="rd"/>
    <p:sndAc>
      <p:stSnd>
        <p:snd r:embed="rId2" name="chimes.wav"/>
      </p:stSnd>
    </p:sndAc>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7224" y="0"/>
            <a:ext cx="7429552" cy="6555641"/>
          </a:xfrm>
          <a:prstGeom prst="rect">
            <a:avLst/>
          </a:prstGeom>
          <a:solidFill>
            <a:schemeClr val="bg1"/>
          </a:solidFill>
        </p:spPr>
        <p:txBody>
          <a:bodyPr wrap="square">
            <a:spAutoFit/>
          </a:bodyPr>
          <a:lstStyle/>
          <a:p>
            <a:pPr>
              <a:lnSpc>
                <a:spcPct val="150000"/>
              </a:lnSpc>
            </a:pPr>
            <a:r>
              <a:rPr lang="en-US" altLang="zh-CN" sz="2800" b="1" dirty="0" smtClean="0">
                <a:latin typeface="黑体" pitchFamily="49" charset="-122"/>
                <a:ea typeface="黑体" pitchFamily="49" charset="-122"/>
              </a:rPr>
              <a:t>     </a:t>
            </a:r>
            <a:r>
              <a:rPr lang="zh-CN" altLang="en-US" sz="2800" b="1" i="1" dirty="0" smtClean="0">
                <a:solidFill>
                  <a:srgbClr val="FF0000"/>
                </a:solidFill>
                <a:latin typeface="隶书" pitchFamily="49" charset="-122"/>
                <a:ea typeface="隶书" pitchFamily="49" charset="-122"/>
              </a:rPr>
              <a:t>“对于建设社会主义的规律的认识，必须有一个过程。必须从实践出发，从没有经验到有经验，从有较少的经验，到有较多的经验，从建设社会主义这个未被认识的必然王国，到逐步克服盲目性、认识客观规律、从而获得自由，在认识上出现一个飞跃，达到自由王国”</a:t>
            </a:r>
            <a:r>
              <a:rPr lang="en-US" altLang="zh-CN" sz="2800" b="1" i="1" dirty="0" smtClean="0">
                <a:solidFill>
                  <a:srgbClr val="FF0000"/>
                </a:solidFill>
                <a:latin typeface="隶书" pitchFamily="49" charset="-122"/>
                <a:ea typeface="隶书" pitchFamily="49" charset="-122"/>
              </a:rPr>
              <a:t>——</a:t>
            </a:r>
            <a:r>
              <a:rPr lang="zh-CN" altLang="en-US" b="1" dirty="0" smtClean="0">
                <a:latin typeface="黑体" pitchFamily="49" charset="-122"/>
                <a:ea typeface="黑体" pitchFamily="49" charset="-122"/>
              </a:rPr>
              <a:t>毛泽东</a:t>
            </a:r>
            <a:endParaRPr lang="en-US" altLang="zh-CN" b="1" i="1" dirty="0" smtClean="0">
              <a:solidFill>
                <a:srgbClr val="FF0000"/>
              </a:solidFill>
              <a:latin typeface="隶书" pitchFamily="49" charset="-122"/>
              <a:ea typeface="隶书" pitchFamily="49" charset="-122"/>
            </a:endParaRPr>
          </a:p>
          <a:p>
            <a:pPr>
              <a:lnSpc>
                <a:spcPct val="150000"/>
              </a:lnSpc>
            </a:pPr>
            <a:r>
              <a:rPr lang="en-US" altLang="zh-CN" sz="2800" b="1" i="1" dirty="0" smtClean="0">
                <a:solidFill>
                  <a:srgbClr val="FF0000"/>
                </a:solidFill>
                <a:latin typeface="隶书" pitchFamily="49" charset="-122"/>
                <a:ea typeface="隶书" pitchFamily="49" charset="-122"/>
              </a:rPr>
              <a:t>    </a:t>
            </a:r>
            <a:r>
              <a:rPr lang="zh-CN" altLang="en-US" sz="2800" b="1" dirty="0" smtClean="0">
                <a:latin typeface="黑体" pitchFamily="49" charset="-122"/>
                <a:ea typeface="黑体" pitchFamily="49" charset="-122"/>
              </a:rPr>
              <a:t>善于不断总结经验教训，逐步掌握社会主义建设的客观规律 ，是建设和发展社会主义的重大课题。</a:t>
            </a:r>
            <a:endParaRPr lang="zh-CN" altLang="en-US" sz="2800" dirty="0"/>
          </a:p>
        </p:txBody>
      </p:sp>
    </p:spTree>
  </p:cSld>
  <p:clrMapOvr>
    <a:masterClrMapping/>
  </p:clrMapOvr>
  <p:transition>
    <p:strips dir="rd"/>
    <p:sndAc>
      <p:stSnd>
        <p:snd r:embed="rId2" name="chimes.wav"/>
      </p:stSnd>
    </p:sndAc>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28662" y="642918"/>
            <a:ext cx="6357982" cy="1569660"/>
          </a:xfrm>
          <a:prstGeom prst="rect">
            <a:avLst/>
          </a:prstGeom>
          <a:solidFill>
            <a:schemeClr val="bg1"/>
          </a:solidFill>
          <a:ln>
            <a:solidFill>
              <a:srgbClr val="FF0000"/>
            </a:solidFill>
          </a:ln>
        </p:spPr>
        <p:txBody>
          <a:bodyPr wrap="square">
            <a:spAutoFit/>
          </a:bodyPr>
          <a:lstStyle/>
          <a:p>
            <a:pPr>
              <a:lnSpc>
                <a:spcPct val="150000"/>
              </a:lnSpc>
            </a:pPr>
            <a:r>
              <a:rPr lang="zh-CN" altLang="en-US" sz="3200" b="1" dirty="0" smtClean="0">
                <a:solidFill>
                  <a:srgbClr val="FF0000"/>
                </a:solidFill>
                <a:latin typeface="Times New Roman" panose="02020603050405020304" pitchFamily="18" charset="0"/>
                <a:ea typeface="黑体" panose="02010609060101010101" pitchFamily="49" charset="-122"/>
              </a:rPr>
              <a:t>         第四</a:t>
            </a:r>
            <a:r>
              <a:rPr lang="zh-CN" altLang="en-US" sz="3200" b="1" dirty="0" smtClean="0">
                <a:latin typeface="Times New Roman" panose="02020603050405020304" pitchFamily="18" charset="0"/>
                <a:ea typeface="黑体" panose="02010609060101010101" pitchFamily="49" charset="-122"/>
              </a:rPr>
              <a:t>，必须发展社会主义民主，健全社会主义法制。</a:t>
            </a:r>
            <a:endParaRPr lang="zh-CN" altLang="en-US" sz="3200" dirty="0"/>
          </a:p>
        </p:txBody>
      </p:sp>
      <p:pic>
        <p:nvPicPr>
          <p:cNvPr id="3074" name="Picture 2" descr="http://res.news.ifeng.com/e96a0c81baf9e6df/2011/0630/rdn_4e0be5ec30cd1.jpg"/>
          <p:cNvPicPr>
            <a:picLocks noChangeAspect="1" noChangeArrowheads="1"/>
          </p:cNvPicPr>
          <p:nvPr/>
        </p:nvPicPr>
        <p:blipFill>
          <a:blip r:embed="rId3" cstate="print"/>
          <a:srcRect/>
          <a:stretch>
            <a:fillRect/>
          </a:stretch>
        </p:blipFill>
        <p:spPr bwMode="auto">
          <a:xfrm>
            <a:off x="1142976" y="2285992"/>
            <a:ext cx="5643602" cy="3571900"/>
          </a:xfrm>
          <a:prstGeom prst="rect">
            <a:avLst/>
          </a:prstGeom>
          <a:noFill/>
        </p:spPr>
      </p:pic>
    </p:spTree>
  </p:cSld>
  <p:clrMapOvr>
    <a:masterClrMapping/>
  </p:clrMapOvr>
  <p:transition>
    <p:strips dir="rd"/>
    <p:sndAc>
      <p:stSnd>
        <p:snd r:embed="rId2" name="chimes.wav"/>
      </p:stSnd>
    </p:sndAc>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http://res.news.ifeng.com/e96a0c81baf9e6df/2011/0630/rdn_4e0be5f2cdb50.jpg"/>
          <p:cNvPicPr>
            <a:picLocks noChangeAspect="1" noChangeArrowheads="1"/>
          </p:cNvPicPr>
          <p:nvPr/>
        </p:nvPicPr>
        <p:blipFill>
          <a:blip r:embed="rId3" cstate="print"/>
          <a:srcRect/>
          <a:stretch>
            <a:fillRect/>
          </a:stretch>
        </p:blipFill>
        <p:spPr bwMode="auto">
          <a:xfrm>
            <a:off x="1500166" y="0"/>
            <a:ext cx="4762500" cy="2952751"/>
          </a:xfrm>
          <a:prstGeom prst="rect">
            <a:avLst/>
          </a:prstGeom>
          <a:noFill/>
        </p:spPr>
      </p:pic>
      <p:pic>
        <p:nvPicPr>
          <p:cNvPr id="10244" name="Picture 4" descr="http://y3.ifengimg.com/d96bebdc006ca8cc/2012/1123/rdn_50af4648df1e1.jpg"/>
          <p:cNvPicPr>
            <a:picLocks noChangeAspect="1" noChangeArrowheads="1"/>
          </p:cNvPicPr>
          <p:nvPr/>
        </p:nvPicPr>
        <p:blipFill>
          <a:blip r:embed="rId4" cstate="print"/>
          <a:srcRect/>
          <a:stretch>
            <a:fillRect/>
          </a:stretch>
        </p:blipFill>
        <p:spPr bwMode="auto">
          <a:xfrm>
            <a:off x="1214414" y="2786058"/>
            <a:ext cx="5610225" cy="3581400"/>
          </a:xfrm>
          <a:prstGeom prst="rect">
            <a:avLst/>
          </a:prstGeom>
          <a:noFill/>
        </p:spPr>
      </p:pic>
    </p:spTree>
  </p:cSld>
  <p:clrMapOvr>
    <a:masterClrMapping/>
  </p:clrMapOvr>
  <p:transition>
    <p:strips dir="rd"/>
    <p:sndAc>
      <p:stSnd>
        <p:snd r:embed="rId2" name="chimes.wav"/>
      </p:stSnd>
    </p:sndAc>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71472" y="857232"/>
            <a:ext cx="6572264" cy="1569660"/>
          </a:xfrm>
          <a:prstGeom prst="rect">
            <a:avLst/>
          </a:prstGeom>
          <a:solidFill>
            <a:schemeClr val="bg1"/>
          </a:solidFill>
          <a:ln>
            <a:solidFill>
              <a:srgbClr val="FF0000"/>
            </a:solidFill>
          </a:ln>
        </p:spPr>
        <p:txBody>
          <a:bodyPr wrap="square">
            <a:spAutoFit/>
          </a:bodyPr>
          <a:lstStyle/>
          <a:p>
            <a:pPr>
              <a:lnSpc>
                <a:spcPct val="150000"/>
              </a:lnSpc>
              <a:spcBef>
                <a:spcPct val="50000"/>
              </a:spcBef>
            </a:pPr>
            <a:r>
              <a:rPr lang="zh-CN" altLang="en-US" sz="3200" b="1" dirty="0" smtClean="0">
                <a:latin typeface="Times New Roman" panose="02020603050405020304" pitchFamily="18" charset="0"/>
                <a:ea typeface="黑体" panose="02010609060101010101" pitchFamily="49" charset="-122"/>
              </a:rPr>
              <a:t>       </a:t>
            </a:r>
            <a:r>
              <a:rPr lang="zh-CN" altLang="en-US" sz="3200" b="1" dirty="0" smtClean="0">
                <a:solidFill>
                  <a:srgbClr val="FF0000"/>
                </a:solidFill>
                <a:latin typeface="Times New Roman" panose="02020603050405020304" pitchFamily="18" charset="0"/>
                <a:ea typeface="黑体" panose="02010609060101010101" pitchFamily="49" charset="-122"/>
              </a:rPr>
              <a:t> 第五</a:t>
            </a:r>
            <a:r>
              <a:rPr lang="zh-CN" altLang="en-US" sz="3200" b="1" dirty="0" smtClean="0">
                <a:latin typeface="Times New Roman" panose="02020603050405020304" pitchFamily="18" charset="0"/>
                <a:ea typeface="黑体" panose="02010609060101010101" pitchFamily="49" charset="-122"/>
              </a:rPr>
              <a:t>，必须坚持党的民主集中制和集体领导，加强执政党建设。</a:t>
            </a:r>
            <a:endParaRPr lang="zh-CN" altLang="en-US" sz="3200" b="1" dirty="0">
              <a:latin typeface="Times New Roman" panose="02020603050405020304" pitchFamily="18" charset="0"/>
              <a:ea typeface="黑体" panose="02010609060101010101" pitchFamily="49" charset="-122"/>
            </a:endParaRPr>
          </a:p>
        </p:txBody>
      </p:sp>
      <p:pic>
        <p:nvPicPr>
          <p:cNvPr id="3" name="Picture 2" descr="http://history.people.com.cn/NMediaFile/2013/0416/MAIN201304160936000143033901563.jpg"/>
          <p:cNvPicPr>
            <a:picLocks noChangeAspect="1" noChangeArrowheads="1"/>
          </p:cNvPicPr>
          <p:nvPr/>
        </p:nvPicPr>
        <p:blipFill>
          <a:blip r:embed="rId3" cstate="print"/>
          <a:srcRect/>
          <a:stretch>
            <a:fillRect/>
          </a:stretch>
        </p:blipFill>
        <p:spPr bwMode="auto">
          <a:xfrm>
            <a:off x="1571604" y="2714620"/>
            <a:ext cx="6000762" cy="3429024"/>
          </a:xfrm>
          <a:prstGeom prst="rect">
            <a:avLst/>
          </a:prstGeom>
          <a:noFill/>
        </p:spPr>
      </p:pic>
    </p:spTree>
  </p:cSld>
  <p:clrMapOvr>
    <a:masterClrMapping/>
  </p:clrMapOvr>
  <p:transition>
    <p:strips dir="rd"/>
    <p:sndAc>
      <p:stSnd>
        <p:snd r:embed="rId2" name="chimes.wav"/>
      </p:stSnd>
    </p:sndAc>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idx="1"/>
          </p:nvPr>
        </p:nvSpPr>
        <p:spPr bwMode="auto">
          <a:xfrm>
            <a:off x="428596" y="1214422"/>
            <a:ext cx="3857652" cy="3970318"/>
          </a:xfrm>
          <a:solidFill>
            <a:schemeClr val="bg1"/>
          </a:solidFill>
          <a:ln w="12700">
            <a:solidFill>
              <a:srgbClr val="FF3300"/>
            </a:solidFill>
            <a:miter lim="800000"/>
          </a:ln>
        </p:spPr>
        <p:txBody>
          <a:bodyPr vert="horz" wrap="square" lIns="91440" tIns="45720" rIns="91440" bIns="45720" numCol="1" anchor="t" anchorCtr="0" compatLnSpc="1">
            <a:spAutoFit/>
          </a:bodyPr>
          <a:lstStyle/>
          <a:p>
            <a:pPr marL="0" marR="0" lvl="0" indent="0" algn="l" defTabSz="914400" rtl="0" eaLnBrk="0" fontAlgn="base" latinLnBrk="0" hangingPunct="0">
              <a:lnSpc>
                <a:spcPct val="150000"/>
              </a:lnSpc>
              <a:spcBef>
                <a:spcPct val="50000"/>
              </a:spcBef>
              <a:spcAft>
                <a:spcPct val="0"/>
              </a:spcAft>
              <a:buClrTx/>
              <a:buSzTx/>
              <a:buFontTx/>
              <a:buNone/>
              <a:defRPr/>
            </a:pPr>
            <a:r>
              <a:rPr kumimoji="1" lang="en-US" altLang="zh-CN" sz="2800" b="1" dirty="0" smtClean="0">
                <a:solidFill>
                  <a:srgbClr val="0000FF"/>
                </a:solidFill>
                <a:ea typeface="黑体" panose="02010609060101010101" pitchFamily="49" charset="-122"/>
              </a:rPr>
              <a:t>        </a:t>
            </a:r>
            <a:r>
              <a:rPr kumimoji="1" lang="zh-CN" altLang="en-US" sz="2800" b="1" dirty="0" smtClean="0">
                <a:solidFill>
                  <a:srgbClr val="0000FF"/>
                </a:solidFill>
                <a:ea typeface="黑体" panose="02010609060101010101" pitchFamily="49" charset="-122"/>
              </a:rPr>
              <a:t>同样由于</a:t>
            </a:r>
            <a:r>
              <a:rPr kumimoji="1" lang="zh-CN" altLang="en-US" sz="2800" b="1" i="0" u="none" strike="noStrike" kern="0" cap="none" spc="0" normalizeH="0" baseline="0" noProof="0" dirty="0" smtClean="0">
                <a:ln>
                  <a:noFill/>
                </a:ln>
                <a:solidFill>
                  <a:srgbClr val="0000FF"/>
                </a:solidFill>
                <a:effectLst/>
                <a:uLnTx/>
                <a:uFillTx/>
                <a:latin typeface="+mn-lt"/>
                <a:ea typeface="黑体" panose="02010609060101010101" pitchFamily="49" charset="-122"/>
                <a:cs typeface="+mn-cs"/>
              </a:rPr>
              <a:t>我们</a:t>
            </a:r>
            <a:r>
              <a:rPr kumimoji="1" lang="zh-CN" altLang="en-US" sz="2800" b="1" i="0" u="none" strike="noStrike" kern="0" cap="none" spc="0" normalizeH="0" baseline="0" noProof="0" dirty="0">
                <a:ln>
                  <a:noFill/>
                </a:ln>
                <a:solidFill>
                  <a:srgbClr val="0000FF"/>
                </a:solidFill>
                <a:effectLst/>
                <a:uLnTx/>
                <a:uFillTx/>
                <a:latin typeface="+mn-lt"/>
                <a:ea typeface="黑体" panose="02010609060101010101" pitchFamily="49" charset="-122"/>
                <a:cs typeface="+mn-cs"/>
              </a:rPr>
              <a:t>党对于迅速到来的社会主义建设事业，缺乏充分的</a:t>
            </a:r>
            <a:r>
              <a:rPr kumimoji="1" lang="zh-CN" altLang="en-US" sz="2800" b="1" i="0" u="none" strike="noStrike" kern="0" cap="none" spc="0" normalizeH="0" baseline="0" noProof="0" dirty="0" smtClean="0">
                <a:ln>
                  <a:noFill/>
                </a:ln>
                <a:solidFill>
                  <a:srgbClr val="0000FF"/>
                </a:solidFill>
                <a:effectLst/>
                <a:uLnTx/>
                <a:uFillTx/>
                <a:latin typeface="+mn-lt"/>
                <a:ea typeface="黑体" panose="02010609060101010101" pitchFamily="49" charset="-122"/>
                <a:cs typeface="+mn-cs"/>
              </a:rPr>
              <a:t>思想准备 ，</a:t>
            </a:r>
            <a:r>
              <a:rPr kumimoji="1" lang="zh-CN" altLang="en-US" sz="2800" b="1" i="0" u="none" strike="noStrike" kern="0" cap="none" spc="0" normalizeH="0" baseline="0" noProof="0" dirty="0">
                <a:ln>
                  <a:noFill/>
                </a:ln>
                <a:solidFill>
                  <a:srgbClr val="0000FF"/>
                </a:solidFill>
                <a:effectLst/>
                <a:uLnTx/>
                <a:uFillTx/>
                <a:latin typeface="+mn-lt"/>
                <a:ea typeface="黑体" panose="02010609060101010101" pitchFamily="49" charset="-122"/>
                <a:cs typeface="+mn-cs"/>
              </a:rPr>
              <a:t>容易把已经不属于阶级斗争的问题仍然看作是阶级斗争。</a:t>
            </a:r>
          </a:p>
        </p:txBody>
      </p:sp>
      <p:pic>
        <p:nvPicPr>
          <p:cNvPr id="8194" name="Picture 2" descr="https://gss2.bdstatic.com/9fo3dSag_xI4khGkpoWK1HF6hhy/baike/c0%3Dbaike80%2C5%2C5%2C80%2C26/sign=d63c1a75ccbf6c81e33a24badd57da50/b21c8701a18b87d66dc15502070828381f30fd28.jpg"/>
          <p:cNvPicPr>
            <a:picLocks noChangeAspect="1" noChangeArrowheads="1"/>
          </p:cNvPicPr>
          <p:nvPr/>
        </p:nvPicPr>
        <p:blipFill>
          <a:blip r:embed="rId3" cstate="print"/>
          <a:srcRect/>
          <a:stretch>
            <a:fillRect/>
          </a:stretch>
        </p:blipFill>
        <p:spPr bwMode="auto">
          <a:xfrm>
            <a:off x="4357686" y="1000108"/>
            <a:ext cx="4071966" cy="5043473"/>
          </a:xfrm>
          <a:prstGeom prst="rect">
            <a:avLst/>
          </a:prstGeom>
          <a:noFill/>
        </p:spPr>
      </p:pic>
    </p:spTree>
  </p:cSld>
  <p:clrMapOvr>
    <a:masterClrMapping/>
  </p:clrMapOvr>
  <p:transition>
    <p:strips dir="rd"/>
    <p:sndAc>
      <p:stSnd>
        <p:snd r:embed="rId2" name="chimes.wav"/>
      </p:stSnd>
    </p:sndAc>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p:cNvSpPr>
          <p:nvPr>
            <p:ph idx="1"/>
          </p:nvPr>
        </p:nvSpPr>
        <p:spPr>
          <a:xfrm>
            <a:off x="1143000" y="838200"/>
            <a:ext cx="6781800" cy="2308324"/>
          </a:xfrm>
          <a:solidFill>
            <a:schemeClr val="bg1"/>
          </a:solidFill>
          <a:ln w="12700">
            <a:solidFill>
              <a:srgbClr val="FF3300"/>
            </a:solidFill>
            <a:miter/>
          </a:ln>
        </p:spPr>
        <p:txBody>
          <a:bodyPr anchor="t">
            <a:spAutoFit/>
          </a:bodyPr>
          <a:lstStyle/>
          <a:p>
            <a:pPr marL="0" indent="0">
              <a:lnSpc>
                <a:spcPct val="150000"/>
              </a:lnSpc>
              <a:spcBef>
                <a:spcPct val="50000"/>
              </a:spcBef>
              <a:buNone/>
            </a:pPr>
            <a:r>
              <a:rPr lang="zh-CN" altLang="en-US" b="1" dirty="0" smtClean="0">
                <a:solidFill>
                  <a:srgbClr val="FF0000"/>
                </a:solidFill>
                <a:latin typeface="Times New Roman" panose="02020603050405020304" pitchFamily="18" charset="0"/>
                <a:ea typeface="黑体" panose="02010609060101010101" pitchFamily="49" charset="-122"/>
              </a:rPr>
              <a:t>       第六</a:t>
            </a:r>
            <a:r>
              <a:rPr lang="zh-CN" altLang="en-US" b="1" dirty="0">
                <a:solidFill>
                  <a:srgbClr val="0000FF"/>
                </a:solidFill>
                <a:latin typeface="Times New Roman" panose="02020603050405020304" pitchFamily="18" charset="0"/>
                <a:ea typeface="黑体" panose="02010609060101010101" pitchFamily="49" charset="-122"/>
              </a:rPr>
              <a:t>，必须坚持对外开放，不能关起门来搞建设，要借鉴和吸收人类文明的共同成果建设社会主义</a:t>
            </a:r>
            <a:r>
              <a:rPr lang="zh-CN" altLang="en-US" b="1" dirty="0" smtClean="0">
                <a:solidFill>
                  <a:srgbClr val="0000FF"/>
                </a:solidFill>
                <a:latin typeface="Times New Roman" panose="02020603050405020304" pitchFamily="18" charset="0"/>
                <a:ea typeface="黑体" panose="02010609060101010101" pitchFamily="49" charset="-122"/>
              </a:rPr>
              <a:t>。</a:t>
            </a:r>
            <a:endParaRPr lang="zh-CN" altLang="en-US" dirty="0">
              <a:solidFill>
                <a:srgbClr val="0000FF"/>
              </a:solidFill>
              <a:latin typeface="Times New Roman" panose="02020603050405020304" pitchFamily="18" charset="0"/>
              <a:ea typeface="华文新魏" panose="02010800040101010101" pitchFamily="2" charset="-122"/>
            </a:endParaRPr>
          </a:p>
        </p:txBody>
      </p:sp>
      <p:sp>
        <p:nvSpPr>
          <p:cNvPr id="2" name="矩形 1"/>
          <p:cNvSpPr/>
          <p:nvPr/>
        </p:nvSpPr>
        <p:spPr>
          <a:xfrm>
            <a:off x="1259632" y="4005064"/>
            <a:ext cx="6336704" cy="1077218"/>
          </a:xfrm>
          <a:prstGeom prst="rect">
            <a:avLst/>
          </a:prstGeom>
          <a:solidFill>
            <a:schemeClr val="bg1"/>
          </a:solidFill>
          <a:ln>
            <a:solidFill>
              <a:schemeClr val="accent1"/>
            </a:solidFill>
          </a:ln>
        </p:spPr>
        <p:txBody>
          <a:bodyPr wrap="square">
            <a:spAutoFit/>
          </a:bodyPr>
          <a:lstStyle/>
          <a:p>
            <a:r>
              <a:rPr lang="zh-CN" altLang="en-US" sz="3200" b="1" dirty="0">
                <a:latin typeface="Times New Roman" panose="02020603050405020304" pitchFamily="18" charset="0"/>
                <a:ea typeface="黑体" panose="02010609060101010101" pitchFamily="49" charset="-122"/>
                <a:cs typeface="+mn-cs"/>
              </a:rPr>
              <a:t>历史的经验教训告诉我们</a:t>
            </a:r>
            <a:r>
              <a:rPr lang="en-US" altLang="zh-CN" sz="3200" b="1" dirty="0">
                <a:latin typeface="Times New Roman" panose="02020603050405020304" pitchFamily="18" charset="0"/>
                <a:ea typeface="黑体" panose="02010609060101010101" pitchFamily="49" charset="-122"/>
                <a:cs typeface="+mn-cs"/>
              </a:rPr>
              <a:t>,</a:t>
            </a:r>
            <a:r>
              <a:rPr lang="zh-CN" altLang="en-US" sz="3200" b="1" dirty="0">
                <a:latin typeface="Times New Roman" panose="02020603050405020304" pitchFamily="18" charset="0"/>
                <a:ea typeface="黑体" panose="02010609060101010101" pitchFamily="49" charset="-122"/>
                <a:cs typeface="+mn-cs"/>
              </a:rPr>
              <a:t>关起门来搞建设是不行的</a:t>
            </a:r>
            <a:r>
              <a:rPr lang="en-US" altLang="zh-CN" sz="3200" b="1" dirty="0">
                <a:latin typeface="Times New Roman" panose="02020603050405020304" pitchFamily="18" charset="0"/>
                <a:ea typeface="黑体" panose="02010609060101010101" pitchFamily="49" charset="-122"/>
                <a:cs typeface="+mn-cs"/>
              </a:rPr>
              <a:t>,</a:t>
            </a:r>
            <a:r>
              <a:rPr lang="zh-CN" altLang="en-US" sz="3200" b="1" dirty="0">
                <a:latin typeface="Times New Roman" panose="02020603050405020304" pitchFamily="18" charset="0"/>
                <a:ea typeface="黑体" panose="02010609060101010101" pitchFamily="49" charset="-122"/>
                <a:cs typeface="+mn-cs"/>
              </a:rPr>
              <a:t>发展不起来。 </a:t>
            </a:r>
          </a:p>
        </p:txBody>
      </p:sp>
    </p:spTree>
  </p:cSld>
  <p:clrMapOvr>
    <a:masterClrMapping/>
  </p:clrMapOvr>
  <p:transition>
    <p:strips dir="rd"/>
    <p:sndAc>
      <p:stSnd>
        <p:snd r:embed="rId2" name="chimes.wav"/>
      </p:stSnd>
    </p:sndAc>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59632" y="548680"/>
            <a:ext cx="6912768" cy="1384995"/>
          </a:xfrm>
          <a:prstGeom prst="rect">
            <a:avLst/>
          </a:prstGeom>
          <a:solidFill>
            <a:schemeClr val="bg1"/>
          </a:solidFill>
          <a:ln>
            <a:solidFill>
              <a:schemeClr val="accent1"/>
            </a:solidFill>
          </a:ln>
        </p:spPr>
        <p:txBody>
          <a:bodyPr wrap="square">
            <a:spAutoFit/>
          </a:bodyPr>
          <a:lstStyle/>
          <a:p>
            <a:r>
              <a:rPr lang="en-US" altLang="zh-CN" sz="2800" b="1" dirty="0" smtClean="0">
                <a:solidFill>
                  <a:srgbClr val="00B050"/>
                </a:solidFill>
                <a:latin typeface="Times New Roman" panose="02020603050405020304" pitchFamily="18" charset="0"/>
                <a:ea typeface="黑体" panose="02010609060101010101" pitchFamily="49" charset="-122"/>
                <a:cs typeface="+mn-cs"/>
              </a:rPr>
              <a:t>        </a:t>
            </a:r>
            <a:r>
              <a:rPr lang="zh-CN" altLang="zh-CN" sz="2800" b="1" dirty="0" smtClean="0">
                <a:solidFill>
                  <a:srgbClr val="00B050"/>
                </a:solidFill>
                <a:latin typeface="Times New Roman" panose="02020603050405020304" pitchFamily="18" charset="0"/>
                <a:ea typeface="黑体" panose="02010609060101010101" pitchFamily="49" charset="-122"/>
                <a:cs typeface="+mn-cs"/>
              </a:rPr>
              <a:t>社会主义建设</a:t>
            </a:r>
            <a:r>
              <a:rPr lang="zh-CN" altLang="zh-CN" sz="2800" b="1" dirty="0">
                <a:solidFill>
                  <a:srgbClr val="00B050"/>
                </a:solidFill>
                <a:latin typeface="Times New Roman" panose="02020603050405020304" pitchFamily="18" charset="0"/>
                <a:ea typeface="黑体" panose="02010609060101010101" pitchFamily="49" charset="-122"/>
                <a:cs typeface="+mn-cs"/>
              </a:rPr>
              <a:t>道路初步探索的正反两方面经验，为今天坚持和发展中国特色社会主义提供了重要借鉴。</a:t>
            </a:r>
            <a:endParaRPr lang="zh-CN" altLang="en-US" sz="2800" b="1" dirty="0">
              <a:solidFill>
                <a:srgbClr val="00B050"/>
              </a:solidFill>
              <a:latin typeface="Times New Roman" panose="02020603050405020304" pitchFamily="18" charset="0"/>
              <a:ea typeface="黑体" panose="02010609060101010101" pitchFamily="49" charset="-122"/>
              <a:cs typeface="+mn-cs"/>
            </a:endParaRPr>
          </a:p>
        </p:txBody>
      </p:sp>
      <p:sp>
        <p:nvSpPr>
          <p:cNvPr id="3" name="矩形 2"/>
          <p:cNvSpPr/>
          <p:nvPr/>
        </p:nvSpPr>
        <p:spPr>
          <a:xfrm>
            <a:off x="899592" y="2683971"/>
            <a:ext cx="7884368" cy="3539430"/>
          </a:xfrm>
          <a:prstGeom prst="rect">
            <a:avLst/>
          </a:prstGeom>
          <a:solidFill>
            <a:schemeClr val="bg1"/>
          </a:solidFill>
          <a:ln>
            <a:solidFill>
              <a:schemeClr val="accent1"/>
            </a:solidFill>
          </a:ln>
        </p:spPr>
        <p:txBody>
          <a:bodyPr wrap="square">
            <a:spAutoFit/>
          </a:bodyPr>
          <a:lstStyle/>
          <a:p>
            <a:r>
              <a:rPr lang="zh-CN" altLang="zh-CN" sz="2800" b="1" dirty="0">
                <a:solidFill>
                  <a:srgbClr val="FF0000"/>
                </a:solidFill>
                <a:latin typeface="华文隶书" pitchFamily="2" charset="-122"/>
                <a:ea typeface="华文隶书" pitchFamily="2" charset="-122"/>
              </a:rPr>
              <a:t>习近平强调</a:t>
            </a:r>
            <a:r>
              <a:rPr lang="zh-CN" altLang="zh-CN" sz="2800" b="1" dirty="0" smtClean="0">
                <a:solidFill>
                  <a:srgbClr val="FF0000"/>
                </a:solidFill>
                <a:latin typeface="华文隶书" pitchFamily="2" charset="-122"/>
                <a:ea typeface="华文隶书" pitchFamily="2" charset="-122"/>
              </a:rPr>
              <a:t>：</a:t>
            </a:r>
            <a:endParaRPr lang="en-US" altLang="zh-CN" sz="2800" b="1" dirty="0" smtClean="0">
              <a:solidFill>
                <a:srgbClr val="FF0000"/>
              </a:solidFill>
              <a:latin typeface="华文隶书" pitchFamily="2" charset="-122"/>
              <a:ea typeface="华文隶书" pitchFamily="2" charset="-122"/>
            </a:endParaRPr>
          </a:p>
          <a:p>
            <a:r>
              <a:rPr lang="en-US" altLang="zh-CN" sz="2800" b="1" dirty="0" smtClean="0">
                <a:solidFill>
                  <a:srgbClr val="FF0000"/>
                </a:solidFill>
                <a:latin typeface="华文隶书" pitchFamily="2" charset="-122"/>
                <a:ea typeface="华文隶书" pitchFamily="2" charset="-122"/>
              </a:rPr>
              <a:t>        </a:t>
            </a:r>
            <a:r>
              <a:rPr lang="zh-CN" altLang="zh-CN" sz="2800" b="1" dirty="0" smtClean="0">
                <a:solidFill>
                  <a:srgbClr val="FF0000"/>
                </a:solidFill>
                <a:latin typeface="华文隶书" pitchFamily="2" charset="-122"/>
                <a:ea typeface="华文隶书" pitchFamily="2" charset="-122"/>
              </a:rPr>
              <a:t>我们</a:t>
            </a:r>
            <a:r>
              <a:rPr lang="zh-CN" altLang="zh-CN" sz="2800" b="1" dirty="0">
                <a:solidFill>
                  <a:srgbClr val="FF0000"/>
                </a:solidFill>
                <a:latin typeface="华文隶书" pitchFamily="2" charset="-122"/>
                <a:ea typeface="华文隶书" pitchFamily="2" charset="-122"/>
              </a:rPr>
              <a:t>党领导人民进行社会主义建设，有改革开放前和改革开放后两个历史时期，这是两个相互联系又有重大区别的时期，但本质上都是我们党领导人民进行社会主义建设的实践探索。中国特色社会主义是在改革开放历史新时期开创的，但也是在新中国已经建立起社会主义基本制度、并进行了</a:t>
            </a:r>
            <a:r>
              <a:rPr lang="en-US" altLang="zh-CN" sz="2800" b="1" dirty="0">
                <a:solidFill>
                  <a:srgbClr val="FF0000"/>
                </a:solidFill>
                <a:latin typeface="华文隶书" pitchFamily="2" charset="-122"/>
                <a:ea typeface="华文隶书" pitchFamily="2" charset="-122"/>
              </a:rPr>
              <a:t>20</a:t>
            </a:r>
            <a:r>
              <a:rPr lang="zh-CN" altLang="zh-CN" sz="2800" b="1" dirty="0">
                <a:solidFill>
                  <a:srgbClr val="FF0000"/>
                </a:solidFill>
                <a:latin typeface="华文隶书" pitchFamily="2" charset="-122"/>
                <a:ea typeface="华文隶书" pitchFamily="2" charset="-122"/>
              </a:rPr>
              <a:t>多年建设的基础上开创的</a:t>
            </a:r>
            <a:r>
              <a:rPr lang="zh-CN" altLang="zh-CN" sz="2800" b="1" dirty="0" smtClean="0">
                <a:solidFill>
                  <a:srgbClr val="FF0000"/>
                </a:solidFill>
                <a:latin typeface="华文隶书" pitchFamily="2" charset="-122"/>
                <a:ea typeface="华文隶书" pitchFamily="2" charset="-122"/>
              </a:rPr>
              <a:t>。</a:t>
            </a:r>
            <a:endParaRPr lang="zh-CN" altLang="en-US" sz="2800" b="1" dirty="0">
              <a:solidFill>
                <a:srgbClr val="FF0000"/>
              </a:solidFill>
              <a:latin typeface="华文隶书" pitchFamily="2" charset="-122"/>
              <a:ea typeface="华文隶书" pitchFamily="2" charset="-122"/>
            </a:endParaRPr>
          </a:p>
        </p:txBody>
      </p:sp>
    </p:spTree>
  </p:cSld>
  <p:clrMapOvr>
    <a:masterClrMapping/>
  </p:clrMapOvr>
  <p:transition>
    <p:strips dir="rd"/>
    <p:sndAc>
      <p:stSnd>
        <p:snd r:embed="rId2" name="chimes.wav"/>
      </p:stSnd>
    </p:sndAc>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47664" y="1340768"/>
            <a:ext cx="6120680" cy="4401205"/>
          </a:xfrm>
          <a:prstGeom prst="rect">
            <a:avLst/>
          </a:prstGeom>
          <a:solidFill>
            <a:schemeClr val="bg1"/>
          </a:solidFill>
          <a:ln>
            <a:solidFill>
              <a:schemeClr val="accent1"/>
            </a:solidFill>
          </a:ln>
        </p:spPr>
        <p:txBody>
          <a:bodyPr wrap="square">
            <a:spAutoFit/>
          </a:bodyPr>
          <a:lstStyle/>
          <a:p>
            <a:r>
              <a:rPr lang="zh-CN" altLang="zh-CN" sz="2800" b="1" dirty="0">
                <a:solidFill>
                  <a:srgbClr val="FF0000"/>
                </a:solidFill>
                <a:latin typeface="华文隶书" pitchFamily="2" charset="-122"/>
                <a:ea typeface="华文隶书" pitchFamily="2" charset="-122"/>
              </a:rPr>
              <a:t>改革开放前的社会主义实践探索为改革开放后的社会主义实践探索积累了经验并准备了条件，改革开放后的社会主义实践探索是对前一个时期探索的坚持、改革、发展。对改革开放前的社会主义实践探索，要坚持实事求是的思想路线，分清主流和支流，坚持真理，修正错误，发扬经验，吸取教训，在这个基础上把党和人民事业继续推向前进</a:t>
            </a:r>
            <a:r>
              <a:rPr lang="zh-CN" altLang="zh-CN" dirty="0"/>
              <a:t>。</a:t>
            </a:r>
          </a:p>
        </p:txBody>
      </p:sp>
    </p:spTree>
  </p:cSld>
  <p:clrMapOvr>
    <a:masterClrMapping/>
  </p:clrMapOvr>
  <p:transition>
    <p:strips dir="rd"/>
    <p:sndAc>
      <p:stSnd>
        <p:snd r:embed="rId2" name="chimes.wav"/>
      </p:stSnd>
    </p:sndAc>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11560" y="1628800"/>
            <a:ext cx="8136904" cy="3416320"/>
          </a:xfrm>
          <a:prstGeom prst="rect">
            <a:avLst/>
          </a:prstGeom>
          <a:solidFill>
            <a:schemeClr val="bg1"/>
          </a:solidFill>
          <a:ln>
            <a:solidFill>
              <a:schemeClr val="accent1"/>
            </a:solidFill>
          </a:ln>
        </p:spPr>
        <p:txBody>
          <a:bodyPr wrap="square">
            <a:spAutoFit/>
          </a:bodyPr>
          <a:lstStyle/>
          <a:p>
            <a:r>
              <a:rPr lang="en-US" altLang="zh-CN" sz="2400" b="1" dirty="0" smtClean="0">
                <a:solidFill>
                  <a:schemeClr val="tx1"/>
                </a:solidFill>
                <a:latin typeface="华文隶书" pitchFamily="2" charset="-122"/>
                <a:ea typeface="华文隶书" pitchFamily="2" charset="-122"/>
              </a:rPr>
              <a:t>        </a:t>
            </a:r>
            <a:r>
              <a:rPr lang="zh-CN" altLang="en-US" sz="2400" b="1" dirty="0" smtClean="0">
                <a:solidFill>
                  <a:schemeClr val="tx1"/>
                </a:solidFill>
                <a:latin typeface="华文隶书" pitchFamily="2" charset="-122"/>
                <a:ea typeface="华文隶书" pitchFamily="2" charset="-122"/>
              </a:rPr>
              <a:t>第一，</a:t>
            </a:r>
            <a:r>
              <a:rPr lang="zh-CN" altLang="zh-CN" sz="2400" b="1" dirty="0" smtClean="0">
                <a:solidFill>
                  <a:schemeClr val="tx1"/>
                </a:solidFill>
                <a:latin typeface="华文隶书" pitchFamily="2" charset="-122"/>
                <a:ea typeface="华文隶书" pitchFamily="2" charset="-122"/>
              </a:rPr>
              <a:t>党</a:t>
            </a:r>
            <a:r>
              <a:rPr lang="zh-CN" altLang="zh-CN" sz="2400" b="1" dirty="0">
                <a:solidFill>
                  <a:schemeClr val="tx1"/>
                </a:solidFill>
                <a:latin typeface="华文隶书" pitchFamily="2" charset="-122"/>
                <a:ea typeface="华文隶书" pitchFamily="2" charset="-122"/>
              </a:rPr>
              <a:t>在社会主义建设初期探索形成了调动一切积极因素为社会主义事业服务、正确认识和处理社会主义社会矛盾、走中国工业化道路等重要思想。</a:t>
            </a:r>
          </a:p>
          <a:p>
            <a:r>
              <a:rPr lang="en-US" altLang="zh-CN" sz="2400" b="1" dirty="0" smtClean="0">
                <a:solidFill>
                  <a:schemeClr val="tx1"/>
                </a:solidFill>
                <a:latin typeface="华文隶书" pitchFamily="2" charset="-122"/>
                <a:ea typeface="华文隶书" pitchFamily="2" charset="-122"/>
              </a:rPr>
              <a:t>        </a:t>
            </a:r>
            <a:r>
              <a:rPr lang="zh-CN" altLang="en-US" sz="2400" b="1" dirty="0" smtClean="0">
                <a:solidFill>
                  <a:schemeClr val="tx1"/>
                </a:solidFill>
                <a:latin typeface="华文隶书" pitchFamily="2" charset="-122"/>
                <a:ea typeface="华文隶书" pitchFamily="2" charset="-122"/>
              </a:rPr>
              <a:t>第二，</a:t>
            </a:r>
            <a:r>
              <a:rPr lang="zh-CN" altLang="zh-CN" sz="2400" b="1" dirty="0" smtClean="0">
                <a:solidFill>
                  <a:schemeClr val="tx1"/>
                </a:solidFill>
                <a:latin typeface="华文隶书" pitchFamily="2" charset="-122"/>
                <a:ea typeface="华文隶书" pitchFamily="2" charset="-122"/>
              </a:rPr>
              <a:t>党</a:t>
            </a:r>
            <a:r>
              <a:rPr lang="zh-CN" altLang="zh-CN" sz="2400" b="1" dirty="0">
                <a:solidFill>
                  <a:schemeClr val="tx1"/>
                </a:solidFill>
                <a:latin typeface="华文隶书" pitchFamily="2" charset="-122"/>
                <a:ea typeface="华文隶书" pitchFamily="2" charset="-122"/>
              </a:rPr>
              <a:t>在社会主义建设初期形成的正确的理论原则和经验总结，是毛泽东思想科学体系中的重要内容，是毛泽东思想在社会主义建设时期的新发展。</a:t>
            </a:r>
          </a:p>
          <a:p>
            <a:r>
              <a:rPr lang="en-US" altLang="zh-CN" sz="2400" b="1" dirty="0" smtClean="0">
                <a:solidFill>
                  <a:schemeClr val="tx1"/>
                </a:solidFill>
                <a:latin typeface="华文隶书" pitchFamily="2" charset="-122"/>
                <a:ea typeface="华文隶书" pitchFamily="2" charset="-122"/>
              </a:rPr>
              <a:t>        </a:t>
            </a:r>
            <a:r>
              <a:rPr lang="zh-CN" altLang="en-US" sz="2400" b="1" dirty="0" smtClean="0">
                <a:solidFill>
                  <a:schemeClr val="tx1"/>
                </a:solidFill>
                <a:latin typeface="华文隶书" pitchFamily="2" charset="-122"/>
                <a:ea typeface="华文隶书" pitchFamily="2" charset="-122"/>
              </a:rPr>
              <a:t>第三，</a:t>
            </a:r>
            <a:r>
              <a:rPr lang="zh-CN" altLang="zh-CN" sz="2400" b="1" dirty="0" smtClean="0">
                <a:solidFill>
                  <a:schemeClr val="tx1"/>
                </a:solidFill>
                <a:latin typeface="华文隶书" pitchFamily="2" charset="-122"/>
                <a:ea typeface="华文隶书" pitchFamily="2" charset="-122"/>
              </a:rPr>
              <a:t>党</a:t>
            </a:r>
            <a:r>
              <a:rPr lang="zh-CN" altLang="zh-CN" sz="2400" b="1" dirty="0">
                <a:solidFill>
                  <a:schemeClr val="tx1"/>
                </a:solidFill>
                <a:latin typeface="华文隶书" pitchFamily="2" charset="-122"/>
                <a:ea typeface="华文隶书" pitchFamily="2" charset="-122"/>
              </a:rPr>
              <a:t>在社会主义建设初期探索中的经验和教训，为我们在改革开放新时期探索和开辟中国特色社会主义道路提供了重要借鉴。</a:t>
            </a:r>
          </a:p>
        </p:txBody>
      </p:sp>
      <p:sp>
        <p:nvSpPr>
          <p:cNvPr id="4" name="矩形 3"/>
          <p:cNvSpPr/>
          <p:nvPr/>
        </p:nvSpPr>
        <p:spPr>
          <a:xfrm>
            <a:off x="1907704" y="476672"/>
            <a:ext cx="1826141" cy="584775"/>
          </a:xfrm>
          <a:prstGeom prst="rect">
            <a:avLst/>
          </a:prstGeom>
          <a:solidFill>
            <a:schemeClr val="bg1"/>
          </a:solidFill>
          <a:ln>
            <a:solidFill>
              <a:schemeClr val="accent1"/>
            </a:solidFill>
          </a:ln>
        </p:spPr>
        <p:txBody>
          <a:bodyPr wrap="none">
            <a:spAutoFit/>
          </a:bodyPr>
          <a:lstStyle/>
          <a:p>
            <a:r>
              <a:rPr lang="zh-CN" altLang="zh-CN" sz="3200" b="1" dirty="0">
                <a:solidFill>
                  <a:srgbClr val="FF0000"/>
                </a:solidFill>
                <a:latin typeface="华文隶书" pitchFamily="2" charset="-122"/>
                <a:ea typeface="华文隶书" pitchFamily="2" charset="-122"/>
              </a:rPr>
              <a:t>本章小结</a:t>
            </a:r>
          </a:p>
        </p:txBody>
      </p:sp>
    </p:spTree>
    <p:extLst>
      <p:ext uri="{BB962C8B-B14F-4D97-AF65-F5344CB8AC3E}">
        <p14:creationId xmlns:p14="http://schemas.microsoft.com/office/powerpoint/2010/main" xmlns="" val="3670189457"/>
      </p:ext>
    </p:extLst>
  </p:cSld>
  <p:clrMapOvr>
    <a:masterClrMapping/>
  </p:clrMapOvr>
  <p:transition>
    <p:strips dir="rd"/>
    <p:sndAc>
      <p:stSnd>
        <p:snd r:embed="rId2" name="chimes.wav"/>
      </p:stSnd>
    </p:sndAc>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p:cNvSpPr>
          <p:nvPr>
            <p:ph idx="1"/>
          </p:nvPr>
        </p:nvSpPr>
        <p:spPr>
          <a:xfrm>
            <a:off x="1066800" y="990600"/>
            <a:ext cx="6858000" cy="3262313"/>
          </a:xfrm>
          <a:solidFill>
            <a:schemeClr val="bg1"/>
          </a:solidFill>
          <a:ln w="12700">
            <a:solidFill>
              <a:srgbClr val="FF3300"/>
            </a:solidFill>
            <a:miter/>
          </a:ln>
        </p:spPr>
        <p:txBody>
          <a:bodyPr anchor="t">
            <a:spAutoFit/>
          </a:bodyPr>
          <a:lstStyle/>
          <a:p>
            <a:pPr marL="0" indent="0">
              <a:lnSpc>
                <a:spcPct val="105000"/>
              </a:lnSpc>
              <a:spcBef>
                <a:spcPct val="50000"/>
              </a:spcBef>
              <a:buNone/>
            </a:pPr>
            <a:r>
              <a:rPr lang="en-US" altLang="zh-CN" dirty="0">
                <a:solidFill>
                  <a:srgbClr val="0000FF"/>
                </a:solidFill>
                <a:latin typeface="Times New Roman" panose="02020603050405020304" pitchFamily="18" charset="0"/>
                <a:ea typeface="华文新魏" panose="02010800040101010101" pitchFamily="2" charset="-122"/>
              </a:rPr>
              <a:t>          </a:t>
            </a:r>
          </a:p>
          <a:p>
            <a:pPr marL="0" indent="0">
              <a:lnSpc>
                <a:spcPct val="105000"/>
              </a:lnSpc>
              <a:spcBef>
                <a:spcPct val="50000"/>
              </a:spcBef>
              <a:buNone/>
            </a:pPr>
            <a:r>
              <a:rPr lang="en-US" altLang="zh-CN" dirty="0">
                <a:solidFill>
                  <a:srgbClr val="0000FF"/>
                </a:solidFill>
                <a:latin typeface="Times New Roman" panose="02020603050405020304" pitchFamily="18" charset="0"/>
                <a:ea typeface="华文新魏" panose="02010800040101010101" pitchFamily="2" charset="-122"/>
              </a:rPr>
              <a:t>                   </a:t>
            </a:r>
          </a:p>
          <a:p>
            <a:pPr marL="0" indent="0">
              <a:lnSpc>
                <a:spcPct val="105000"/>
              </a:lnSpc>
              <a:spcBef>
                <a:spcPct val="50000"/>
              </a:spcBef>
              <a:buNone/>
            </a:pPr>
            <a:endParaRPr lang="en-US" altLang="zh-CN" dirty="0">
              <a:solidFill>
                <a:srgbClr val="0000FF"/>
              </a:solidFill>
              <a:latin typeface="Times New Roman" panose="02020603050405020304" pitchFamily="18" charset="0"/>
              <a:ea typeface="华文新魏" panose="02010800040101010101" pitchFamily="2" charset="-122"/>
            </a:endParaRPr>
          </a:p>
          <a:p>
            <a:pPr marL="0" indent="0">
              <a:lnSpc>
                <a:spcPct val="105000"/>
              </a:lnSpc>
              <a:spcBef>
                <a:spcPct val="50000"/>
              </a:spcBef>
              <a:buNone/>
            </a:pPr>
            <a:endParaRPr lang="en-US" altLang="zh-CN" sz="4800" b="1" dirty="0">
              <a:solidFill>
                <a:srgbClr val="FF0000"/>
              </a:solidFill>
              <a:latin typeface="Times New Roman" panose="02020603050405020304" pitchFamily="18" charset="0"/>
              <a:ea typeface="Gulim" panose="020B0600000101010101" pitchFamily="34" charset="-127"/>
            </a:endParaRPr>
          </a:p>
        </p:txBody>
      </p:sp>
      <p:pic>
        <p:nvPicPr>
          <p:cNvPr id="58370" name="Picture 6" descr="e326dff3429c29e10a46e0ce"/>
          <p:cNvPicPr>
            <a:picLocks noChangeAspect="1"/>
          </p:cNvPicPr>
          <p:nvPr/>
        </p:nvPicPr>
        <p:blipFill>
          <a:blip r:embed="rId3" cstate="print"/>
          <a:stretch>
            <a:fillRect/>
          </a:stretch>
        </p:blipFill>
        <p:spPr>
          <a:xfrm>
            <a:off x="2987675" y="1484313"/>
            <a:ext cx="2665413" cy="2232025"/>
          </a:xfrm>
          <a:prstGeom prst="rect">
            <a:avLst/>
          </a:prstGeom>
          <a:noFill/>
          <a:ln w="9525">
            <a:noFill/>
          </a:ln>
        </p:spPr>
      </p:pic>
    </p:spTree>
  </p:cSld>
  <p:clrMapOvr>
    <a:masterClrMapping/>
  </p:clrMapOvr>
  <p:transition>
    <p:strips dir="rd"/>
    <p:sndAc>
      <p:stSnd>
        <p:snd r:embed="rId2" name="chimes.wav"/>
      </p:stSnd>
    </p:sndAc>
  </p:transition>
</p:sld>
</file>

<file path=ppt/theme/_rels/them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CECFF"/>
        </a:solidFill>
        <a:ln w="12700" cap="flat" cmpd="sng" algn="ctr">
          <a:solidFill>
            <a:srgbClr val="FF3300"/>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FF"/>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CCECFF"/>
        </a:solidFill>
        <a:ln w="12700" cap="flat" cmpd="sng" algn="ctr">
          <a:solidFill>
            <a:srgbClr val="FF3300"/>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FF"/>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1238</TotalTime>
  <Words>3879</Words>
  <Application>Microsoft Office PowerPoint</Application>
  <PresentationFormat>全屏显示(4:3)</PresentationFormat>
  <Paragraphs>347</Paragraphs>
  <Slides>78</Slides>
  <Notes>0</Notes>
  <HiddenSlides>0</HiddenSlides>
  <MMClips>0</MMClips>
  <ScaleCrop>false</ScaleCrop>
  <HeadingPairs>
    <vt:vector size="4" baseType="variant">
      <vt:variant>
        <vt:lpstr>主题</vt:lpstr>
      </vt:variant>
      <vt:variant>
        <vt:i4>2</vt:i4>
      </vt:variant>
      <vt:variant>
        <vt:lpstr>幻灯片标题</vt:lpstr>
      </vt:variant>
      <vt:variant>
        <vt:i4>78</vt:i4>
      </vt:variant>
    </vt:vector>
  </HeadingPairs>
  <TitlesOfParts>
    <vt:vector size="80" baseType="lpstr">
      <vt:lpstr>默认设计模板</vt:lpstr>
      <vt:lpstr>龙腾四海</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2、论述社会主义社会的主要矛盾和根本任务</vt:lpstr>
      <vt:lpstr>幻灯片 26</vt:lpstr>
      <vt:lpstr>3、社会主义社会两类不同性质的矛盾及解决方法</vt:lpstr>
      <vt:lpstr>正确处理人民内部矛盾的方针 （社会主义国家政治生活的主题：正确处理人民内部矛盾）</vt:lpstr>
      <vt:lpstr>（三）走中国工业化道路的思想</vt:lpstr>
      <vt:lpstr>幻灯片 30</vt:lpstr>
      <vt:lpstr>1、关于社会主义现代化建设的战略目标和步骤</vt:lpstr>
      <vt:lpstr>幻灯片 32</vt:lpstr>
      <vt:lpstr>3、关于经济建设方针论述</vt:lpstr>
      <vt:lpstr>4、关于所有制结构的调整</vt:lpstr>
      <vt:lpstr>幻灯片 35</vt:lpstr>
      <vt:lpstr>幻灯片 36</vt:lpstr>
      <vt:lpstr>工农业产品产量在世界排名明显提前</vt:lpstr>
      <vt:lpstr>国民经济实力显著增强</vt:lpstr>
      <vt:lpstr>幻灯片 39</vt:lpstr>
      <vt:lpstr>铁路、公路等基础设施事业取得较快发展</vt:lpstr>
      <vt:lpstr>三线建设大规模开展</vt:lpstr>
      <vt:lpstr>幻灯片 42</vt:lpstr>
      <vt:lpstr>（二）人民生活水平的提高与文化、医疗、科技事业的发展</vt:lpstr>
      <vt:lpstr>幻灯片 44</vt:lpstr>
      <vt:lpstr>（三）国际地位的提高与国际环境的改善</vt:lpstr>
      <vt:lpstr>幻灯片 46</vt:lpstr>
      <vt:lpstr>111个</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幻灯片 70</vt:lpstr>
      <vt:lpstr>幻灯片 71</vt:lpstr>
      <vt:lpstr>幻灯片 72</vt:lpstr>
      <vt:lpstr>幻灯片 73</vt:lpstr>
      <vt:lpstr>幻灯片 74</vt:lpstr>
      <vt:lpstr>幻灯片 75</vt:lpstr>
      <vt:lpstr>幻灯片 76</vt:lpstr>
      <vt:lpstr>幻灯片 77</vt:lpstr>
      <vt:lpstr>幻灯片 78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cucumber</dc:creator>
  <cp:lastModifiedBy>Lenovo</cp:lastModifiedBy>
  <cp:revision>422</cp:revision>
  <dcterms:created xsi:type="dcterms:W3CDTF">2007-05-22T00:19:00Z</dcterms:created>
  <dcterms:modified xsi:type="dcterms:W3CDTF">2021-11-18T14:15:32Z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2052-10.1.0.6065</vt:lpwstr>
  </property>
</Properties>
</file>