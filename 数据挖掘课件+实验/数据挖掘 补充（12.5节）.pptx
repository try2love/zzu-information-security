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handoutMasterIdLst>
    <p:handoutMasterId r:id="rId72"/>
  </p:handoutMasterIdLst>
  <p:sldIdLst>
    <p:sldId id="259" r:id="rId3"/>
    <p:sldId id="409" r:id="rId4"/>
    <p:sldId id="410" r:id="rId5"/>
    <p:sldId id="411" r:id="rId6"/>
    <p:sldId id="412" r:id="rId7"/>
    <p:sldId id="413" r:id="rId8"/>
    <p:sldId id="414" r:id="rId9"/>
    <p:sldId id="415" r:id="rId10"/>
    <p:sldId id="417" r:id="rId11"/>
    <p:sldId id="439" r:id="rId12"/>
    <p:sldId id="440" r:id="rId13"/>
    <p:sldId id="441" r:id="rId14"/>
    <p:sldId id="442" r:id="rId15"/>
    <p:sldId id="443" r:id="rId16"/>
    <p:sldId id="453" r:id="rId17"/>
    <p:sldId id="444" r:id="rId18"/>
    <p:sldId id="446" r:id="rId19"/>
    <p:sldId id="447" r:id="rId20"/>
    <p:sldId id="448" r:id="rId21"/>
    <p:sldId id="449" r:id="rId22"/>
    <p:sldId id="445" r:id="rId23"/>
    <p:sldId id="452" r:id="rId24"/>
    <p:sldId id="451" r:id="rId25"/>
    <p:sldId id="454" r:id="rId26"/>
    <p:sldId id="456" r:id="rId27"/>
    <p:sldId id="455" r:id="rId28"/>
    <p:sldId id="458" r:id="rId29"/>
    <p:sldId id="459" r:id="rId30"/>
    <p:sldId id="467" r:id="rId31"/>
    <p:sldId id="468" r:id="rId32"/>
    <p:sldId id="469" r:id="rId33"/>
    <p:sldId id="470" r:id="rId34"/>
    <p:sldId id="471" r:id="rId35"/>
    <p:sldId id="472" r:id="rId36"/>
    <p:sldId id="473" r:id="rId37"/>
    <p:sldId id="475" r:id="rId38"/>
    <p:sldId id="476" r:id="rId39"/>
    <p:sldId id="477" r:id="rId40"/>
    <p:sldId id="478" r:id="rId41"/>
    <p:sldId id="479" r:id="rId42"/>
    <p:sldId id="480" r:id="rId43"/>
    <p:sldId id="481" r:id="rId44"/>
    <p:sldId id="482" r:id="rId45"/>
    <p:sldId id="474" r:id="rId46"/>
    <p:sldId id="483" r:id="rId47"/>
    <p:sldId id="484" r:id="rId48"/>
    <p:sldId id="485" r:id="rId49"/>
    <p:sldId id="486" r:id="rId50"/>
    <p:sldId id="487" r:id="rId51"/>
    <p:sldId id="490" r:id="rId53"/>
    <p:sldId id="488" r:id="rId54"/>
    <p:sldId id="491" r:id="rId55"/>
    <p:sldId id="492" r:id="rId56"/>
    <p:sldId id="493" r:id="rId57"/>
    <p:sldId id="495" r:id="rId58"/>
    <p:sldId id="496" r:id="rId59"/>
    <p:sldId id="497" r:id="rId60"/>
    <p:sldId id="498" r:id="rId61"/>
    <p:sldId id="499" r:id="rId62"/>
    <p:sldId id="500" r:id="rId63"/>
    <p:sldId id="501" r:id="rId64"/>
    <p:sldId id="502" r:id="rId65"/>
    <p:sldId id="503" r:id="rId66"/>
    <p:sldId id="504" r:id="rId67"/>
    <p:sldId id="509" r:id="rId68"/>
    <p:sldId id="505" r:id="rId69"/>
    <p:sldId id="506" r:id="rId70"/>
    <p:sldId id="507" r:id="rId71"/>
  </p:sldIdLst>
  <p:sldSz cx="9144000" cy="6858000" type="screen4x3"/>
  <p:notesSz cx="6858000" cy="9144000"/>
  <p:custDataLst>
    <p:tags r:id="rId76"/>
  </p:custDataLst>
  <p:defaultTextStyle>
    <a:defPPr>
      <a:defRPr lang="zh-CN"/>
    </a:defPPr>
    <a:lvl1pPr marL="0" lvl="0"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FF00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6" d="100"/>
          <a:sy n="66" d="100"/>
        </p:scale>
        <p:origin x="-1506" y="-102"/>
      </p:cViewPr>
      <p:guideLst>
        <p:guide orient="horz" pos="2125"/>
        <p:guide pos="2880"/>
      </p:guideLst>
    </p:cSldViewPr>
  </p:slideViewPr>
  <p:notesTextViewPr>
    <p:cViewPr>
      <p:scale>
        <a:sx n="100" d="100"/>
        <a:sy n="100" d="100"/>
      </p:scale>
      <p:origin x="0" y="0"/>
    </p:cViewPr>
  </p:notesTextViewPr>
  <p:gridSpacing cx="76199" cy="76199"/>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6" Type="http://schemas.openxmlformats.org/officeDocument/2006/relationships/tags" Target="tags/tag1.xml"/><Relationship Id="rId75" Type="http://schemas.openxmlformats.org/officeDocument/2006/relationships/tableStyles" Target="tableStyles.xml"/><Relationship Id="rId74" Type="http://schemas.openxmlformats.org/officeDocument/2006/relationships/viewProps" Target="viewProps.xml"/><Relationship Id="rId73" Type="http://schemas.openxmlformats.org/officeDocument/2006/relationships/presProps" Target="presProps.xml"/><Relationship Id="rId72" Type="http://schemas.openxmlformats.org/officeDocument/2006/relationships/handoutMaster" Target="handoutMasters/handoutMaster1.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notesMaster" Target="notesMasters/notesMaster1.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8546"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lgn="l" eaLnBrk="1" hangingPunct="1">
              <a:defRPr kumimoji="0"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8547" name="Rectangle 3"/>
          <p:cNvSpPr>
            <a:spLocks noGrp="1" noChangeArrowheads="1"/>
          </p:cNvSpPr>
          <p:nvPr>
            <p:ph type="dt" sz="quarter"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kumimoji="0" sz="1200" b="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8548" name="Rectangle 4"/>
          <p:cNvSpPr>
            <a:spLocks noGrp="1" noChangeArrowheads="1"/>
          </p:cNvSpPr>
          <p:nvPr>
            <p:ph type="ftr" sz="quarter" idx="2"/>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algn="l" eaLnBrk="1" hangingPunct="1">
              <a:defRPr kumimoji="0"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8549" name="Rectangle 5"/>
          <p:cNvSpPr>
            <a:spLocks noGrp="1" noChangeArrowheads="1"/>
          </p:cNvSpPr>
          <p:nvPr>
            <p:ph type="sldNum" sz="quarter" idx="3"/>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
            <a:pPr lvl="0" algn="r" eaLnBrk="1" fontAlgn="base" hangingPunct="1">
              <a:buNone/>
            </a:pPr>
            <a:fld id="{9A0DB2DC-4C9A-4742-B13C-FB6460FD3503}" type="slidenum">
              <a:rPr lang="en-US" altLang="zh-CN" sz="1200" b="0" strike="noStrike" noProof="1" dirty="0">
                <a:latin typeface="Arial" panose="020B0604020202020204" pitchFamily="34" charset="0"/>
                <a:ea typeface="宋体" panose="02010600030101010101" pitchFamily="2" charset="-122"/>
                <a:cs typeface="+mn-cs"/>
              </a:rPr>
            </a:fld>
            <a:endParaRPr lang="en-US" altLang="zh-CN" sz="1200" b="0" strike="noStrike" noProof="1" dirty="0">
              <a:latin typeface="Arial" panose="020B0604020202020204"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1059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lgn="l" eaLnBrk="1" hangingPunct="1">
              <a:defRPr kumimoji="0"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059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kumimoji="0" sz="1200" b="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4" name="Rectangle 4"/>
          <p:cNvSpPr>
            <a:spLocks noRo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10597"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059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algn="l" eaLnBrk="1" hangingPunct="1">
              <a:defRPr kumimoji="0"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059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
            <a:pPr lvl="0" algn="r" eaLnBrk="1" fontAlgn="base" hangingPunct="1">
              <a:buNone/>
            </a:pPr>
            <a:fld id="{9A0DB2DC-4C9A-4742-B13C-FB6460FD3503}" type="slidenum">
              <a:rPr lang="en-US" altLang="zh-CN" sz="1200" b="0" strike="noStrike" noProof="1" dirty="0">
                <a:latin typeface="Arial" panose="020B0604020202020204" pitchFamily="34" charset="0"/>
                <a:ea typeface="宋体" panose="02010600030101010101" pitchFamily="2" charset="-122"/>
                <a:cs typeface="+mn-cs"/>
              </a:rPr>
            </a:fld>
            <a:endParaRPr lang="en-US" altLang="zh-CN" sz="1200" b="0" strike="noStrike" noProof="1" dirty="0">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幻灯片图像占位符 1"/>
          <p:cNvSpPr>
            <a:spLocks noRot="1" noTextEdit="1"/>
          </p:cNvSpPr>
          <p:nvPr>
            <p:ph type="sldImg"/>
          </p:nvPr>
        </p:nvSpPr>
        <p:spPr/>
      </p:sp>
      <p:sp>
        <p:nvSpPr>
          <p:cNvPr id="56322" name="文本占位符 2"/>
          <p:cNvSpPr/>
          <p:nvPr>
            <p:ph type="body"/>
          </p:nvPr>
        </p:nvSpPr>
        <p:spPr/>
        <p:txBody>
          <a:bodyPr wrap="square" lIns="91440" tIns="45720" rIns="91440" bIns="45720" anchor="t" anchorCtr="0"/>
          <a:p>
            <a:pPr lvl="0"/>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3"/>
          </p:nvPr>
        </p:nvSpPr>
        <p:spPr/>
        <p:txBody>
          <a:bodyPr/>
          <a:p>
            <a:r>
              <a:rPr lang="zh-CN" altLang="en-US"/>
              <a:t>    算法层面 可以在优化算法的通信层面降低算法通信次数，用少量的通信达到收敛；也可以从优化算法中的权重/梯度聚合(aggregation)入手，提高最终模型精度。基于IID数据集的分布式数值优化算法已经被研究得比较透彻了， 但因为联邦学习面临数据是IID/非平衡甚至是异构的，需要引入很多其他技巧才能解决，比如异构数据联合学习、多任务学习[3][4]（也是我研究的方向）等。这个方向很适合数值优化、机器学习、多任务学习背景的童鞋切入。</a:t>
            </a:r>
            <a:endParaRPr lang="zh-CN" altLang="en-US"/>
          </a:p>
          <a:p>
            <a:r>
              <a:rPr lang="zh-CN" altLang="en-US"/>
              <a:t>    安全/隐私问题 虽然联邦学习的基础设定就是节点之间不共享数据以保护用户隐私，但熟悉网络安全的同学应该知道，我们很容易从梯度、模型参数中反推出用户数据。而针对这方面提出攻击和防御的方法都可以发表出论文，这方面适合网络安全背景的童鞋切入。</a:t>
            </a:r>
            <a:endParaRPr lang="zh-CN" altLang="en-US"/>
          </a:p>
          <a:p>
            <a:r>
              <a:rPr lang="zh-CN" altLang="en-US"/>
              <a:t>    容错性/鲁棒性。联邦学习中常常遇到拜占庭攻击问题（即恶意参与者问题）。比如在中心化的算法中，有节点恶意发送错误的梯度给服务器，让训练的模型变差；在去中心化算法中，可能有多个任务节点化为拜占庭攻击者互相攻击[2]。对于这种问题设计新的攻击方法和防御方法都可以发表论文。这个方向很适合有分布式系统背景的童鞋切入。</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2050" name="Line 40"/>
          <p:cNvSpPr/>
          <p:nvPr/>
        </p:nvSpPr>
        <p:spPr>
          <a:xfrm>
            <a:off x="304800" y="2743200"/>
            <a:ext cx="8229600" cy="0"/>
          </a:xfrm>
          <a:prstGeom prst="line">
            <a:avLst/>
          </a:prstGeom>
          <a:ln w="6350" cap="flat" cmpd="sng">
            <a:solidFill>
              <a:srgbClr val="CC0000"/>
            </a:solidFill>
            <a:prstDash val="solid"/>
            <a:round/>
            <a:headEnd type="none" w="med" len="med"/>
            <a:tailEnd type="none" w="med" len="med"/>
          </a:ln>
        </p:spPr>
      </p:sp>
      <p:pic>
        <p:nvPicPr>
          <p:cNvPr id="2051" name="Picture 42" descr="5243fbf2b21193130bdb625b67380cd790238d45"/>
          <p:cNvPicPr>
            <a:picLocks noChangeAspect="1"/>
          </p:cNvPicPr>
          <p:nvPr userDrawn="1"/>
        </p:nvPicPr>
        <p:blipFill>
          <a:blip r:embed="rId2"/>
          <a:stretch>
            <a:fillRect/>
          </a:stretch>
        </p:blipFill>
        <p:spPr>
          <a:xfrm>
            <a:off x="152400" y="152400"/>
            <a:ext cx="1524000" cy="1524000"/>
          </a:xfrm>
          <a:prstGeom prst="rect">
            <a:avLst/>
          </a:prstGeom>
          <a:noFill/>
          <a:ln w="9525">
            <a:noFill/>
          </a:ln>
        </p:spPr>
      </p:pic>
      <p:sp>
        <p:nvSpPr>
          <p:cNvPr id="2052" name="Rectangle 43"/>
          <p:cNvSpPr/>
          <p:nvPr userDrawn="1"/>
        </p:nvSpPr>
        <p:spPr>
          <a:xfrm>
            <a:off x="304800" y="2743200"/>
            <a:ext cx="4419600" cy="76200"/>
          </a:xfrm>
          <a:prstGeom prst="rect">
            <a:avLst/>
          </a:prstGeom>
          <a:solidFill>
            <a:srgbClr val="CC0000"/>
          </a:solidFill>
          <a:ln w="9525" cap="flat" cmpd="sng">
            <a:solidFill>
              <a:srgbClr val="CC0000"/>
            </a:solidFill>
            <a:prstDash val="solid"/>
            <a:miter/>
            <a:headEnd type="none" w="med" len="med"/>
            <a:tailEnd type="none" w="med" len="med"/>
          </a:ln>
        </p:spPr>
        <p:txBody>
          <a:bodyPr wrap="none" anchor="ctr" anchorCtr="0"/>
          <a:p>
            <a:pPr lvl="0" algn="ctr"/>
            <a:endParaRPr lang="zh-CN" altLang="en-US" dirty="0">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自定义版式">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68313" y="315913"/>
            <a:ext cx="8207375" cy="592137"/>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6" name="灯片编号占位符 2"/>
          <p:cNvSpPr>
            <a:spLocks noGrp="1"/>
          </p:cNvSpPr>
          <p:nvPr>
            <p:ph type="sldNum" sz="quarter" idx="4"/>
          </p:nvPr>
        </p:nvSpPr>
        <p:spPr>
          <a:xfrm>
            <a:off x="7235825" y="6453188"/>
            <a:ext cx="1439863" cy="196850"/>
          </a:xfrm>
          <a:prstGeom prst="rect">
            <a:avLst/>
          </a:prstGeom>
        </p:spPr>
        <p:txBody>
          <a:bodyPr/>
          <a:p>
            <a:pPr lvl="0" fontAlgn="base">
              <a:buNone/>
            </a:pPr>
            <a:r>
              <a:rPr lang="zh-CN" altLang="en-US" strike="noStrike" noProof="1" dirty="0">
                <a:latin typeface="Times New Roman" panose="02020603050405020304" pitchFamily="18" charset="0"/>
                <a:ea typeface="宋体" panose="02010600030101010101" pitchFamily="2" charset="-122"/>
                <a:cs typeface="+mn-cs"/>
              </a:rPr>
              <a:t>Page  </a:t>
            </a:r>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z="1800" b="0" strike="noStrike" noProof="1"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Line 41"/>
          <p:cNvSpPr/>
          <p:nvPr userDrawn="1"/>
        </p:nvSpPr>
        <p:spPr>
          <a:xfrm>
            <a:off x="533400" y="914400"/>
            <a:ext cx="8001000" cy="0"/>
          </a:xfrm>
          <a:prstGeom prst="line">
            <a:avLst/>
          </a:prstGeom>
          <a:ln w="9525" cap="flat" cmpd="sng">
            <a:solidFill>
              <a:srgbClr val="CC0000"/>
            </a:solidFill>
            <a:prstDash val="solid"/>
            <a:round/>
            <a:headEnd type="none" w="med" len="med"/>
            <a:tailEnd type="none" w="med" len="med"/>
          </a:ln>
        </p:spPr>
      </p:sp>
      <p:pic>
        <p:nvPicPr>
          <p:cNvPr id="1027" name="Picture 42" descr="5243fbf2b21193130bdb625b67380cd790238d45"/>
          <p:cNvPicPr>
            <a:picLocks noChangeAspect="1"/>
          </p:cNvPicPr>
          <p:nvPr userDrawn="1"/>
        </p:nvPicPr>
        <p:blipFill>
          <a:blip r:embed="rId13"/>
          <a:stretch>
            <a:fillRect/>
          </a:stretch>
        </p:blipFill>
        <p:spPr>
          <a:xfrm>
            <a:off x="8382000" y="0"/>
            <a:ext cx="762000" cy="762000"/>
          </a:xfrm>
          <a:prstGeom prst="rect">
            <a:avLst/>
          </a:prstGeom>
          <a:noFill/>
          <a:ln w="9525">
            <a:noFill/>
          </a:ln>
        </p:spPr>
      </p:pic>
      <p:sp>
        <p:nvSpPr>
          <p:cNvPr id="1028" name="Line 43"/>
          <p:cNvSpPr/>
          <p:nvPr userDrawn="1"/>
        </p:nvSpPr>
        <p:spPr>
          <a:xfrm>
            <a:off x="533400" y="6553200"/>
            <a:ext cx="8001000" cy="0"/>
          </a:xfrm>
          <a:prstGeom prst="line">
            <a:avLst/>
          </a:prstGeom>
          <a:ln w="9525" cap="flat" cmpd="sng">
            <a:solidFill>
              <a:srgbClr val="CC0000"/>
            </a:solidFill>
            <a:prstDash val="solid"/>
            <a:round/>
            <a:headEnd type="none" w="med" len="med"/>
            <a:tailEnd type="none" w="med" len="med"/>
          </a:ln>
        </p:spPr>
      </p:sp>
      <p:sp>
        <p:nvSpPr>
          <p:cNvPr id="1029" name="Rectangle 44"/>
          <p:cNvSpPr/>
          <p:nvPr userDrawn="1"/>
        </p:nvSpPr>
        <p:spPr>
          <a:xfrm>
            <a:off x="533400" y="914400"/>
            <a:ext cx="4419600" cy="76200"/>
          </a:xfrm>
          <a:prstGeom prst="rect">
            <a:avLst/>
          </a:prstGeom>
          <a:solidFill>
            <a:srgbClr val="CC0000"/>
          </a:solidFill>
          <a:ln w="9525" cap="flat" cmpd="sng">
            <a:solidFill>
              <a:srgbClr val="CC0000"/>
            </a:solidFill>
            <a:prstDash val="solid"/>
            <a:miter/>
            <a:headEnd type="none" w="med" len="med"/>
            <a:tailEnd type="none" w="med" len="med"/>
          </a:ln>
        </p:spPr>
        <p:txBody>
          <a:bodyPr wrap="none" anchor="ctr" anchorCtr="0"/>
          <a:p>
            <a:pPr lvl="0" algn="ctr"/>
            <a:endParaRPr lang="zh-CN" altLang="en-US"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1.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2.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3.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5.png"/><Relationship Id="rId1" Type="http://schemas.openxmlformats.org/officeDocument/2006/relationships/image" Target="../media/image14.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7.png"/><Relationship Id="rId1" Type="http://schemas.openxmlformats.org/officeDocument/2006/relationships/image" Target="../media/image1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6.xml"/><Relationship Id="rId2" Type="http://schemas.openxmlformats.org/officeDocument/2006/relationships/image" Target="../media/image21.png"/><Relationship Id="rId1" Type="http://schemas.openxmlformats.org/officeDocument/2006/relationships/image" Target="../media/image20.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2.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5.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6.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image" Target="../media/image3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Rectangle 8"/>
          <p:cNvSpPr/>
          <p:nvPr/>
        </p:nvSpPr>
        <p:spPr>
          <a:xfrm>
            <a:off x="2085975" y="1670050"/>
            <a:ext cx="4724400" cy="887413"/>
          </a:xfrm>
          <a:prstGeom prst="rect">
            <a:avLst/>
          </a:prstGeom>
          <a:noFill/>
          <a:ln w="9525">
            <a:noFill/>
          </a:ln>
        </p:spPr>
        <p:txBody>
          <a:bodyPr lIns="92075" tIns="46038" rIns="92075" bIns="46038" anchor="b" anchorCtr="0"/>
          <a:p>
            <a:pPr algn="ctr"/>
            <a:r>
              <a:rPr lang="zh-CN" altLang="en-US" sz="4800" dirty="0">
                <a:latin typeface="微软雅黑" panose="020B0503020204020204" pitchFamily="34" charset="-122"/>
                <a:ea typeface="微软雅黑" panose="020B0503020204020204" pitchFamily="34" charset="-122"/>
              </a:rPr>
              <a:t>数 据 挖</a:t>
            </a:r>
            <a:r>
              <a:rPr lang="en-US" altLang="zh-CN" sz="4800" dirty="0">
                <a:latin typeface="微软雅黑" panose="020B0503020204020204" pitchFamily="34" charset="-122"/>
                <a:ea typeface="微软雅黑" panose="020B0503020204020204" pitchFamily="34" charset="-122"/>
              </a:rPr>
              <a:t> </a:t>
            </a:r>
            <a:r>
              <a:rPr lang="zh-CN" altLang="en-US" sz="4800" dirty="0">
                <a:latin typeface="微软雅黑" panose="020B0503020204020204" pitchFamily="34" charset="-122"/>
                <a:ea typeface="微软雅黑" panose="020B0503020204020204" pitchFamily="34" charset="-122"/>
              </a:rPr>
              <a:t>掘 </a:t>
            </a:r>
            <a:endParaRPr lang="zh-CN" altLang="en-US" sz="4800" dirty="0">
              <a:latin typeface="微软雅黑" panose="020B0503020204020204" pitchFamily="34" charset="-122"/>
              <a:ea typeface="微软雅黑" panose="020B0503020204020204" pitchFamily="34" charset="-122"/>
            </a:endParaRPr>
          </a:p>
        </p:txBody>
      </p:sp>
      <p:sp>
        <p:nvSpPr>
          <p:cNvPr id="6146" name="Rectangle 8"/>
          <p:cNvSpPr/>
          <p:nvPr/>
        </p:nvSpPr>
        <p:spPr>
          <a:xfrm>
            <a:off x="1752600" y="3352800"/>
            <a:ext cx="5791200" cy="788988"/>
          </a:xfrm>
          <a:prstGeom prst="rect">
            <a:avLst/>
          </a:prstGeom>
          <a:noFill/>
          <a:ln w="9525">
            <a:noFill/>
          </a:ln>
        </p:spPr>
        <p:txBody>
          <a:bodyPr lIns="92075" tIns="46038" rIns="92075" bIns="46038" anchor="b" anchorCtr="0"/>
          <a:p>
            <a:pPr algn="ctr"/>
            <a:r>
              <a:rPr lang="zh-CN" altLang="en-US" sz="3600" dirty="0">
                <a:latin typeface="微软雅黑" panose="020B0503020204020204" pitchFamily="34" charset="-122"/>
                <a:ea typeface="微软雅黑" panose="020B0503020204020204" pitchFamily="34" charset="-122"/>
              </a:rPr>
              <a:t>补 充 内 容 </a:t>
            </a:r>
            <a:endParaRPr lang="zh-CN" altLang="en-US" sz="3600"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6"/>
          <p:cNvSpPr/>
          <p:nvPr/>
        </p:nvSpPr>
        <p:spPr>
          <a:xfrm>
            <a:off x="1422400" y="2578100"/>
            <a:ext cx="5895975" cy="1014413"/>
          </a:xfrm>
          <a:prstGeom prst="rect">
            <a:avLst/>
          </a:prstGeom>
          <a:noFill/>
          <a:ln w="9525">
            <a:noFill/>
          </a:ln>
        </p:spPr>
        <p:txBody>
          <a:bodyPr anchor="ctr" anchorCtr="0"/>
          <a:p>
            <a:pPr algn="ctr">
              <a:buClr>
                <a:schemeClr val="accent1"/>
              </a:buClr>
              <a:buFont typeface="Wingdings" panose="05000000000000000000" pitchFamily="2" charset="2"/>
            </a:pPr>
            <a:r>
              <a:rPr lang="zh-CN" altLang="en-US" sz="4400" dirty="0">
                <a:latin typeface="微软雅黑" panose="020B0503020204020204" pitchFamily="34" charset="-122"/>
                <a:ea typeface="微软雅黑" panose="020B0503020204020204" pitchFamily="34" charset="-122"/>
              </a:rPr>
              <a:t>机 器 学 习 方 式</a:t>
            </a:r>
            <a:endParaRPr lang="zh-CN" altLang="en-US" sz="4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Rectangle 2"/>
          <p:cNvSpPr>
            <a:spLocks noGrp="1"/>
          </p:cNvSpPr>
          <p:nvPr/>
        </p:nvSpPr>
        <p:spPr>
          <a:xfrm>
            <a:off x="468313" y="457200"/>
            <a:ext cx="4432300"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有监督学习</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8194" name="Rectangle 6"/>
          <p:cNvSpPr/>
          <p:nvPr/>
        </p:nvSpPr>
        <p:spPr>
          <a:xfrm>
            <a:off x="533400" y="793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机器学习方式</a:t>
            </a:r>
            <a:endParaRPr lang="zh-CN" altLang="en-US" dirty="0">
              <a:latin typeface="微软雅黑" panose="020B0503020204020204" pitchFamily="34" charset="-122"/>
              <a:ea typeface="微软雅黑" panose="020B0503020204020204" pitchFamily="34" charset="-122"/>
            </a:endParaRPr>
          </a:p>
        </p:txBody>
      </p:sp>
      <p:sp>
        <p:nvSpPr>
          <p:cNvPr id="8195" name="文本框 2"/>
          <p:cNvSpPr txBox="1"/>
          <p:nvPr/>
        </p:nvSpPr>
        <p:spPr>
          <a:xfrm>
            <a:off x="533400" y="2114550"/>
            <a:ext cx="8024813" cy="2306638"/>
          </a:xfrm>
          <a:prstGeom prst="rect">
            <a:avLst/>
          </a:prstGeom>
          <a:noFill/>
          <a:ln w="9525">
            <a:noFill/>
          </a:ln>
        </p:spPr>
        <p:txBody>
          <a:bodyPr wrap="square" anchor="t" anchorCtr="0">
            <a:spAutoFit/>
          </a:bodyPr>
          <a:p>
            <a:r>
              <a:rPr lang="zh-CN" altLang="en-US" sz="2400">
                <a:latin typeface="微软雅黑" panose="020B0503020204020204" pitchFamily="34" charset="-122"/>
                <a:ea typeface="微软雅黑" panose="020B0503020204020204" pitchFamily="34" charset="-122"/>
              </a:rPr>
              <a:t>监督学习(supervised learning)：</a:t>
            </a:r>
            <a:r>
              <a:rPr lang="zh-CN" altLang="en-US" sz="2400" b="0">
                <a:latin typeface="微软雅黑" panose="020B0503020204020204" pitchFamily="34" charset="-122"/>
                <a:ea typeface="微软雅黑" panose="020B0503020204020204" pitchFamily="34" charset="-122"/>
              </a:rPr>
              <a:t>已知数据和其一一对应的标签，训练一个智能算法，将输入数据映射到标签的过程。监督学习是最常见的学习问题之一，就是人们口中常说的分类问题。比如已知一些图片是猪，一些图片不是猪，那么训练一个算法，当一个新的图片输入算法的时候算法告诉我们这张图片是不是猪。</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文本框 2"/>
          <p:cNvSpPr txBox="1"/>
          <p:nvPr/>
        </p:nvSpPr>
        <p:spPr>
          <a:xfrm>
            <a:off x="533400" y="1595438"/>
            <a:ext cx="8024813" cy="4154487"/>
          </a:xfrm>
          <a:prstGeom prst="rect">
            <a:avLst/>
          </a:prstGeom>
          <a:noFill/>
          <a:ln w="9525">
            <a:noFill/>
          </a:ln>
        </p:spPr>
        <p:txBody>
          <a:bodyPr wrap="square" anchor="t" anchorCtr="0">
            <a:spAutoFit/>
          </a:bodyPr>
          <a:p>
            <a:r>
              <a:rPr lang="zh-CN" altLang="en-US" sz="2400">
                <a:latin typeface="微软雅黑" panose="020B0503020204020204" pitchFamily="34" charset="-122"/>
                <a:ea typeface="微软雅黑" panose="020B0503020204020204" pitchFamily="34" charset="-122"/>
              </a:rPr>
              <a:t>无监督学习(unsupervised learning)：</a:t>
            </a:r>
            <a:r>
              <a:rPr lang="zh-CN" altLang="en-US" sz="2400" b="0">
                <a:latin typeface="微软雅黑" panose="020B0503020204020204" pitchFamily="34" charset="-122"/>
                <a:ea typeface="微软雅黑" panose="020B0503020204020204" pitchFamily="34" charset="-122"/>
              </a:rPr>
              <a:t>已知数据不知道任何标签，按照一定的偏好，训练一个智能算法，将所有的数据映射到多个不同标签的过程。相对于有监督学习，无监督学习是一类比较困难的问题，所谓的按照一定的偏好，是比如特征空间距离最近，等人们认为属于一类的事物应具有的一些特点。举个例子，猪和鸵鸟混杂在一起，算法会测量高度，发现动物们主要集中在两个高度，一类动物身高一米左右，另一类动物身高半米左右，那么算法按照就近原则，75厘米以上的就是高的那类也就是鸵鸟，矮的那类是第二类也就是猪，当然这里也会出现身材矮小的鸵鸟和身高爆表的猪会被错误的分类。</a:t>
            </a:r>
            <a:endParaRPr lang="zh-CN" altLang="en-US" sz="2400" b="0">
              <a:latin typeface="微软雅黑" panose="020B0503020204020204" pitchFamily="34" charset="-122"/>
              <a:ea typeface="微软雅黑" panose="020B0503020204020204" pitchFamily="34" charset="-122"/>
            </a:endParaRPr>
          </a:p>
        </p:txBody>
      </p:sp>
      <p:sp>
        <p:nvSpPr>
          <p:cNvPr id="9218" name="Rectangle 2"/>
          <p:cNvSpPr>
            <a:spLocks noGrp="1"/>
          </p:cNvSpPr>
          <p:nvPr/>
        </p:nvSpPr>
        <p:spPr>
          <a:xfrm>
            <a:off x="468313" y="457200"/>
            <a:ext cx="4432300"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无监督学习</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9219" name="Rectangle 6"/>
          <p:cNvSpPr/>
          <p:nvPr/>
        </p:nvSpPr>
        <p:spPr>
          <a:xfrm>
            <a:off x="533400" y="793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机器学习方式</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文本框 2"/>
          <p:cNvSpPr txBox="1"/>
          <p:nvPr/>
        </p:nvSpPr>
        <p:spPr>
          <a:xfrm>
            <a:off x="533400" y="1803400"/>
            <a:ext cx="8024813" cy="3044825"/>
          </a:xfrm>
          <a:prstGeom prst="rect">
            <a:avLst/>
          </a:prstGeom>
          <a:noFill/>
          <a:ln w="9525">
            <a:noFill/>
          </a:ln>
        </p:spPr>
        <p:txBody>
          <a:bodyPr wrap="square" anchor="t" anchorCtr="0">
            <a:spAutoFit/>
          </a:bodyPr>
          <a:p>
            <a:r>
              <a:rPr lang="zh-CN" altLang="en-US" sz="2400">
                <a:latin typeface="微软雅黑" panose="020B0503020204020204" pitchFamily="34" charset="-122"/>
                <a:ea typeface="微软雅黑" panose="020B0503020204020204" pitchFamily="34" charset="-122"/>
              </a:rPr>
              <a:t>半监督学习(semi supervised learning) ：</a:t>
            </a:r>
            <a:r>
              <a:rPr lang="zh-CN" altLang="en-US" sz="2400" b="0">
                <a:latin typeface="微软雅黑" panose="020B0503020204020204" pitchFamily="34" charset="-122"/>
                <a:ea typeface="微软雅黑" panose="020B0503020204020204" pitchFamily="34" charset="-122"/>
              </a:rPr>
              <a:t>已知数据和部分数据一一对应的标签，有一部分数据的标签未知，训练一个智能算法，学习已知标签和未知标签的数据，将输入数据映射到标签的过程。半监督通常是一个数据的标注非常困难，比如说医院的检查结果，医生也需要一段时间来判断健康与否，可能只有几组数据知道是健康还是非健康，其他的只有数据不知道是不是健康。那么通过有监督学习和无监督的结合的半监督学习就在这里发挥作用了。</a:t>
            </a:r>
            <a:endParaRPr lang="zh-CN" altLang="en-US" sz="2400" b="0">
              <a:latin typeface="微软雅黑" panose="020B0503020204020204" pitchFamily="34" charset="-122"/>
              <a:ea typeface="微软雅黑" panose="020B0503020204020204" pitchFamily="34" charset="-122"/>
            </a:endParaRPr>
          </a:p>
        </p:txBody>
      </p:sp>
      <p:sp>
        <p:nvSpPr>
          <p:cNvPr id="10242" name="Rectangle 2"/>
          <p:cNvSpPr>
            <a:spLocks noGrp="1"/>
          </p:cNvSpPr>
          <p:nvPr/>
        </p:nvSpPr>
        <p:spPr>
          <a:xfrm>
            <a:off x="468313" y="457200"/>
            <a:ext cx="4432300"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半监督学习</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10243" name="Rectangle 6"/>
          <p:cNvSpPr/>
          <p:nvPr/>
        </p:nvSpPr>
        <p:spPr>
          <a:xfrm>
            <a:off x="533400" y="793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机器学习方式</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文本框 2"/>
          <p:cNvSpPr txBox="1"/>
          <p:nvPr/>
        </p:nvSpPr>
        <p:spPr>
          <a:xfrm>
            <a:off x="558800" y="2027238"/>
            <a:ext cx="8024813" cy="3046412"/>
          </a:xfrm>
          <a:prstGeom prst="rect">
            <a:avLst/>
          </a:prstGeom>
          <a:noFill/>
          <a:ln w="9525">
            <a:noFill/>
          </a:ln>
        </p:spPr>
        <p:txBody>
          <a:bodyPr wrap="square" anchor="t" anchorCtr="0">
            <a:spAutoFit/>
          </a:bodyPr>
          <a:p>
            <a:r>
              <a:rPr lang="zh-CN" altLang="en-US" sz="2400">
                <a:latin typeface="微软雅黑" panose="020B0503020204020204" pitchFamily="34" charset="-122"/>
                <a:ea typeface="微软雅黑" panose="020B0503020204020204" pitchFamily="34" charset="-122"/>
              </a:rPr>
              <a:t>弱监督学习(weakly supervised learning)： </a:t>
            </a:r>
            <a:r>
              <a:rPr lang="zh-CN" altLang="en-US" sz="2400" b="0">
                <a:latin typeface="微软雅黑" panose="020B0503020204020204" pitchFamily="34" charset="-122"/>
                <a:ea typeface="微软雅黑" panose="020B0503020204020204" pitchFamily="34" charset="-122"/>
              </a:rPr>
              <a:t>已知数据和其一一对应的弱标签，训练一个智能算法，将输入数据映射到一组更强的标签的过程。标签的强弱指的是标签蕴含的信息量的多少，比如相对于分割的标签来说，分类的标签就是弱标签，如果我们知道一幅图，告诉你图上有一只猪，然后需要你把猪在哪里，猪和背景的分界在哪里找出来，那么这就是一个已知弱标签，去学习强标签的弱监督学习问题。</a:t>
            </a:r>
            <a:endParaRPr lang="zh-CN" altLang="en-US" sz="2400" b="0">
              <a:latin typeface="微软雅黑" panose="020B0503020204020204" pitchFamily="34" charset="-122"/>
              <a:ea typeface="微软雅黑" panose="020B0503020204020204" pitchFamily="34" charset="-122"/>
            </a:endParaRPr>
          </a:p>
        </p:txBody>
      </p:sp>
      <p:sp>
        <p:nvSpPr>
          <p:cNvPr id="11266" name="Rectangle 2"/>
          <p:cNvSpPr>
            <a:spLocks noGrp="1"/>
          </p:cNvSpPr>
          <p:nvPr/>
        </p:nvSpPr>
        <p:spPr>
          <a:xfrm>
            <a:off x="468313" y="457200"/>
            <a:ext cx="4432300"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弱监督学习</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11267" name="Rectangle 6"/>
          <p:cNvSpPr/>
          <p:nvPr/>
        </p:nvSpPr>
        <p:spPr>
          <a:xfrm>
            <a:off x="533400" y="793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机器学习方式</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2"/>
          <p:cNvSpPr>
            <a:spLocks noGrp="1"/>
          </p:cNvSpPr>
          <p:nvPr/>
        </p:nvSpPr>
        <p:spPr>
          <a:xfrm>
            <a:off x="468313" y="457200"/>
            <a:ext cx="4432300"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自监督学习</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12290" name="Rectangle 6"/>
          <p:cNvSpPr/>
          <p:nvPr/>
        </p:nvSpPr>
        <p:spPr>
          <a:xfrm>
            <a:off x="533400" y="793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机器学习方式</a:t>
            </a:r>
            <a:endParaRPr lang="zh-CN" altLang="en-US" dirty="0">
              <a:latin typeface="微软雅黑" panose="020B0503020204020204" pitchFamily="34" charset="-122"/>
              <a:ea typeface="微软雅黑" panose="020B0503020204020204" pitchFamily="34" charset="-122"/>
            </a:endParaRPr>
          </a:p>
        </p:txBody>
      </p:sp>
      <p:sp>
        <p:nvSpPr>
          <p:cNvPr id="12291" name="文本框 2"/>
          <p:cNvSpPr txBox="1"/>
          <p:nvPr/>
        </p:nvSpPr>
        <p:spPr>
          <a:xfrm>
            <a:off x="533400" y="1998663"/>
            <a:ext cx="8086725" cy="2676525"/>
          </a:xfrm>
          <a:prstGeom prst="rect">
            <a:avLst/>
          </a:prstGeom>
          <a:noFill/>
          <a:ln w="9525">
            <a:noFill/>
          </a:ln>
        </p:spPr>
        <p:txBody>
          <a:bodyPr wrap="square" anchor="t" anchorCtr="0">
            <a:spAutoFit/>
          </a:bodyPr>
          <a:p>
            <a:r>
              <a:rPr lang="zh-CN" altLang="en-US" sz="2400">
                <a:latin typeface="微软雅黑" panose="020B0503020204020204" pitchFamily="34" charset="-122"/>
                <a:ea typeface="微软雅黑" panose="020B0503020204020204" pitchFamily="34" charset="-122"/>
              </a:rPr>
              <a:t>自监督学习</a:t>
            </a:r>
            <a:r>
              <a:rPr lang="zh-CN" altLang="en-US" sz="2400" b="0">
                <a:latin typeface="微软雅黑" panose="020B0503020204020204" pitchFamily="34" charset="-122"/>
                <a:ea typeface="微软雅黑" panose="020B0503020204020204" pitchFamily="34" charset="-122"/>
              </a:rPr>
              <a:t>本质上是一种无监督学习的方法，通常会设置一个“Pretext tasks”，根据数据的一些特点，构造Pesdeo Labels来训练模型。通过自监督得到的模型，可以作为其他学习任务的预训练模型，为其提供更好的训练初始区域。因此，自监督学习也可以看作是为了学习的通用视觉表示。之所以自监督学习在近几年成为研究的热点，主要是数据标注的成本太高。</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2"/>
          <p:cNvSpPr>
            <a:spLocks noGrp="1"/>
          </p:cNvSpPr>
          <p:nvPr/>
        </p:nvSpPr>
        <p:spPr>
          <a:xfrm>
            <a:off x="468313" y="457200"/>
            <a:ext cx="4432300"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多示例学习</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13314" name="Rectangle 6"/>
          <p:cNvSpPr/>
          <p:nvPr/>
        </p:nvSpPr>
        <p:spPr>
          <a:xfrm>
            <a:off x="533400" y="793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机器学习方式</a:t>
            </a:r>
            <a:endParaRPr lang="zh-CN" altLang="en-US" dirty="0">
              <a:latin typeface="微软雅黑" panose="020B0503020204020204" pitchFamily="34" charset="-122"/>
              <a:ea typeface="微软雅黑" panose="020B0503020204020204" pitchFamily="34" charset="-122"/>
            </a:endParaRPr>
          </a:p>
        </p:txBody>
      </p:sp>
      <p:sp>
        <p:nvSpPr>
          <p:cNvPr id="13315" name="文本框 2"/>
          <p:cNvSpPr txBox="1"/>
          <p:nvPr/>
        </p:nvSpPr>
        <p:spPr>
          <a:xfrm>
            <a:off x="533400" y="1500188"/>
            <a:ext cx="8020050" cy="4522787"/>
          </a:xfrm>
          <a:prstGeom prst="rect">
            <a:avLst/>
          </a:prstGeom>
          <a:noFill/>
          <a:ln w="9525">
            <a:noFill/>
          </a:ln>
        </p:spPr>
        <p:txBody>
          <a:bodyPr wrap="square" anchor="t" anchorCtr="0">
            <a:spAutoFit/>
          </a:bodyPr>
          <a:p>
            <a:r>
              <a:rPr lang="zh-CN" altLang="en-US" sz="2400">
                <a:latin typeface="微软雅黑" panose="020B0503020204020204" pitchFamily="34" charset="-122"/>
                <a:ea typeface="微软雅黑" panose="020B0503020204020204" pitchFamily="34" charset="-122"/>
              </a:rPr>
              <a:t>多示例学习(multiple instance learning) ：</a:t>
            </a:r>
            <a:r>
              <a:rPr lang="zh-CN" altLang="en-US" sz="2400" b="0">
                <a:latin typeface="微软雅黑" panose="020B0503020204020204" pitchFamily="34" charset="-122"/>
                <a:ea typeface="微软雅黑" panose="020B0503020204020204" pitchFamily="34" charset="-122"/>
              </a:rPr>
              <a:t>已知包含多个数据的数据包和数据包的标签，训练智能算法，将数据包映射到标签的过程，在有的问题中也同时给出包内每个数据的标签。多事例学习引入了数据包的概念，比如说一段视频由很多张图组成，假如1000张，那么我们要判断视频里是否有猪出现，一张一张的标注每一帧是否有猪太耗时，所以人们看一遍说这个视频里有猪或者没猪，那么就得到了多示例学习的数据，1000帧的数据不是每一个都有猪出现，只要有一帧有猪，那么我们就认为这个包是有猪的，所有的都没有猪，才是没有猪的，从这里面学习哪一段视频（1000张）有猪哪一段视频没有就是多事例学习的问题。</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文本框 2"/>
          <p:cNvSpPr txBox="1"/>
          <p:nvPr/>
        </p:nvSpPr>
        <p:spPr>
          <a:xfrm>
            <a:off x="533400" y="998538"/>
            <a:ext cx="8066088" cy="5446712"/>
          </a:xfrm>
          <a:prstGeom prst="rect">
            <a:avLst/>
          </a:prstGeom>
          <a:noFill/>
          <a:ln w="9525">
            <a:noFill/>
          </a:ln>
        </p:spPr>
        <p:txBody>
          <a:bodyPr wrap="square" anchor="t" anchorCtr="0">
            <a:spAutoFit/>
          </a:bodyPr>
          <a:p>
            <a:r>
              <a:rPr lang="zh-CN" altLang="en-US" sz="2400">
                <a:latin typeface="微软雅黑" panose="020B0503020204020204" pitchFamily="34" charset="-122"/>
                <a:ea typeface="微软雅黑" panose="020B0503020204020204" pitchFamily="34" charset="-122"/>
              </a:rPr>
              <a:t>迁移学习(Transfer learning)</a:t>
            </a:r>
            <a:r>
              <a:rPr lang="zh-CN" altLang="en-US" sz="2400" b="0">
                <a:latin typeface="微软雅黑" panose="020B0503020204020204" pitchFamily="34" charset="-122"/>
                <a:ea typeface="微软雅黑" panose="020B0503020204020204" pitchFamily="34" charset="-122"/>
              </a:rPr>
              <a:t> 顾名思义就是把已训练好的模型（预训练模型）参数迁移到新的模型来帮助新模型训练。考虑到大部分数据或任务都是存在相关性的，所以通过迁移学习我们可以将已经学到的模型参数（也可理解为模型学到的知识）通过某种方式来分享给新模型从而加快并优化模型的学习效率不用像大多数模型那样从零学习。</a:t>
            </a:r>
            <a:endParaRPr lang="zh-CN" altLang="en-US" sz="2400" b="0">
              <a:latin typeface="微软雅黑" panose="020B0503020204020204" pitchFamily="34" charset="-122"/>
              <a:ea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以神经网络学习为例，实现迁移学习有以下三种手段：</a:t>
            </a:r>
            <a:endParaRPr lang="zh-CN" altLang="en-US" sz="20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Transfer Learning：冻结预训练模型的全部卷积层，只训练自己定制的全连接层。</a:t>
            </a:r>
            <a:endParaRPr lang="zh-CN" altLang="en-US" sz="20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Extract Feature Vector：先计算出预训练模型的卷积层对所有训练和测试数据的特征向量，然后抛开预训练模型，只训练自己定制的简配版全连接网络。</a:t>
            </a:r>
            <a:endParaRPr lang="zh-CN" altLang="en-US" sz="20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Fine-tuning：冻结预训练模型的部分卷积层（通常是靠近输入的多数卷积层，因为这些层保留了大量底层信息）甚至不冻结任何网络层，训练剩下的卷积层（通常是靠近输出的部分卷积层）和全连接层。</a:t>
            </a:r>
            <a:endParaRPr lang="zh-CN" altLang="en-US" sz="2000" b="0">
              <a:latin typeface="微软雅黑" panose="020B0503020204020204" pitchFamily="34" charset="-122"/>
              <a:ea typeface="微软雅黑" panose="020B0503020204020204" pitchFamily="34" charset="-122"/>
            </a:endParaRPr>
          </a:p>
        </p:txBody>
      </p:sp>
      <p:sp>
        <p:nvSpPr>
          <p:cNvPr id="14338" name="Rectangle 2"/>
          <p:cNvSpPr>
            <a:spLocks noGrp="1"/>
          </p:cNvSpPr>
          <p:nvPr/>
        </p:nvSpPr>
        <p:spPr>
          <a:xfrm>
            <a:off x="476250" y="450850"/>
            <a:ext cx="4432300"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迁移学习</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14339" name="Rectangle 6"/>
          <p:cNvSpPr/>
          <p:nvPr/>
        </p:nvSpPr>
        <p:spPr>
          <a:xfrm>
            <a:off x="533400" y="793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机器学习方式</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6"/>
          <p:cNvSpPr/>
          <p:nvPr/>
        </p:nvSpPr>
        <p:spPr>
          <a:xfrm>
            <a:off x="1606550" y="2541588"/>
            <a:ext cx="5386388" cy="1014412"/>
          </a:xfrm>
          <a:prstGeom prst="rect">
            <a:avLst/>
          </a:prstGeom>
          <a:noFill/>
          <a:ln w="9525">
            <a:noFill/>
          </a:ln>
        </p:spPr>
        <p:txBody>
          <a:bodyPr anchor="ctr" anchorCtr="0"/>
          <a:p>
            <a:pPr algn="ctr">
              <a:buClr>
                <a:schemeClr val="accent1"/>
              </a:buClr>
              <a:buFont typeface="Wingdings" panose="05000000000000000000" pitchFamily="2" charset="2"/>
            </a:pPr>
            <a:r>
              <a:rPr lang="zh-CN" altLang="en-US" sz="4400" dirty="0">
                <a:latin typeface="微软雅黑" panose="020B0503020204020204" pitchFamily="34" charset="-122"/>
                <a:ea typeface="微软雅黑" panose="020B0503020204020204" pitchFamily="34" charset="-122"/>
              </a:rPr>
              <a:t>集 成 学 习</a:t>
            </a:r>
            <a:endParaRPr lang="zh-CN" altLang="en-US" sz="4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6"/>
          <p:cNvSpPr/>
          <p:nvPr/>
        </p:nvSpPr>
        <p:spPr>
          <a:xfrm>
            <a:off x="533400" y="793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集成学习</a:t>
            </a:r>
            <a:endParaRPr lang="zh-CN" altLang="en-US" dirty="0">
              <a:latin typeface="微软雅黑" panose="020B0503020204020204" pitchFamily="34" charset="-122"/>
              <a:ea typeface="微软雅黑" panose="020B0503020204020204" pitchFamily="34" charset="-122"/>
            </a:endParaRPr>
          </a:p>
        </p:txBody>
      </p:sp>
      <p:sp>
        <p:nvSpPr>
          <p:cNvPr id="16386" name="Rectangle 2"/>
          <p:cNvSpPr>
            <a:spLocks noGrp="1"/>
          </p:cNvSpPr>
          <p:nvPr/>
        </p:nvSpPr>
        <p:spPr>
          <a:xfrm>
            <a:off x="476250" y="450850"/>
            <a:ext cx="4432300"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个体学习器</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16387" name="文本框 2"/>
          <p:cNvSpPr txBox="1"/>
          <p:nvPr/>
        </p:nvSpPr>
        <p:spPr>
          <a:xfrm>
            <a:off x="533400" y="2290763"/>
            <a:ext cx="7908925" cy="1568450"/>
          </a:xfrm>
          <a:prstGeom prst="rect">
            <a:avLst/>
          </a:prstGeom>
          <a:noFill/>
          <a:ln w="9525">
            <a:noFill/>
          </a:ln>
        </p:spPr>
        <p:txBody>
          <a:bodyPr wrap="square" anchor="t" anchorCtr="0">
            <a:spAutoFit/>
          </a:bodyPr>
          <a:p>
            <a:r>
              <a:rPr lang="zh-CN" altLang="en-US" sz="2400">
                <a:latin typeface="微软雅黑" panose="020B0503020204020204" pitchFamily="34" charset="-122"/>
                <a:ea typeface="微软雅黑" panose="020B0503020204020204" pitchFamily="34" charset="-122"/>
              </a:rPr>
              <a:t>个体学习器</a:t>
            </a:r>
            <a:r>
              <a:rPr lang="zh-CN" altLang="en-US" sz="2400" b="0">
                <a:latin typeface="微软雅黑" panose="020B0503020204020204" pitchFamily="34" charset="-122"/>
                <a:ea typeface="微软雅黑" panose="020B0503020204020204" pitchFamily="34" charset="-122"/>
              </a:rPr>
              <a:t>又称为基学习器（base learner），由单个的学习算法训练数据得到，比如“决策树算法”，“神经网络算法”等等。在不正式的说法下，基学习器，弱学习器，弱分类器，个体学习器说的都是一个东西。</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6"/>
          <p:cNvSpPr/>
          <p:nvPr/>
        </p:nvSpPr>
        <p:spPr>
          <a:xfrm>
            <a:off x="533400" y="793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集成学习</a:t>
            </a:r>
            <a:endParaRPr lang="zh-CN" altLang="en-US" dirty="0">
              <a:latin typeface="微软雅黑" panose="020B0503020204020204" pitchFamily="34" charset="-122"/>
              <a:ea typeface="微软雅黑" panose="020B0503020204020204" pitchFamily="34" charset="-122"/>
            </a:endParaRPr>
          </a:p>
        </p:txBody>
      </p:sp>
      <p:sp>
        <p:nvSpPr>
          <p:cNvPr id="17410" name="Rectangle 2"/>
          <p:cNvSpPr>
            <a:spLocks noGrp="1"/>
          </p:cNvSpPr>
          <p:nvPr/>
        </p:nvSpPr>
        <p:spPr>
          <a:xfrm>
            <a:off x="476250" y="450850"/>
            <a:ext cx="4432300"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集成学习概念</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17411" name="文本框 2"/>
          <p:cNvSpPr txBox="1"/>
          <p:nvPr/>
        </p:nvSpPr>
        <p:spPr>
          <a:xfrm>
            <a:off x="476250" y="985838"/>
            <a:ext cx="8067675" cy="5630862"/>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常言道：“一个篱笆三个桩，一个好汉三个帮”。</a:t>
            </a:r>
            <a:r>
              <a:rPr lang="zh-CN" altLang="en-US" sz="2400">
                <a:latin typeface="微软雅黑" panose="020B0503020204020204" pitchFamily="34" charset="-122"/>
                <a:ea typeface="微软雅黑" panose="020B0503020204020204" pitchFamily="34" charset="-122"/>
              </a:rPr>
              <a:t>集成学习模型</a:t>
            </a:r>
            <a:r>
              <a:rPr lang="zh-CN" altLang="en-US" sz="2400" b="0">
                <a:latin typeface="微软雅黑" panose="020B0503020204020204" pitchFamily="34" charset="-122"/>
                <a:ea typeface="微软雅黑" panose="020B0503020204020204" pitchFamily="34" charset="-122"/>
              </a:rPr>
              <a:t>便是综合考量多个学习器的预测结果，从而做出决策。</a:t>
            </a:r>
            <a:endParaRPr lang="zh-CN" altLang="en-US" sz="2400" b="0">
              <a:latin typeface="微软雅黑" panose="020B0503020204020204" pitchFamily="34" charset="-122"/>
              <a:ea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如何产生“好而不同”的个体学习器，并准确性和多样性上做出最好的选择，正是</a:t>
            </a:r>
            <a:r>
              <a:rPr lang="zh-CN" altLang="en-US" sz="2400">
                <a:latin typeface="微软雅黑" panose="020B0503020204020204" pitchFamily="34" charset="-122"/>
                <a:ea typeface="微软雅黑" panose="020B0503020204020204" pitchFamily="34" charset="-122"/>
              </a:rPr>
              <a:t>集成学习的核心。</a:t>
            </a:r>
            <a:r>
              <a:rPr lang="zh-CN" altLang="en-US" sz="2400" b="0">
                <a:latin typeface="微软雅黑" panose="020B0503020204020204" pitchFamily="34" charset="-122"/>
                <a:ea typeface="微软雅黑" panose="020B0503020204020204" pitchFamily="34" charset="-122"/>
              </a:rPr>
              <a:t>假设现在用5个个体学习器做集成，最终结果用投票法产生，即少数服从多数。当个体学习器差异性不足的话，考虑一个极端例子，5个个体学习器都是由同一个学习器，复制而来，那么，5个学习器的预测结果和一个学习器预测结果完全相同，就达不到集成学习的目的了。因此，个体学习器应该“好而不同”，既要保证个体学习器的“准确性”，还要保证不同学习器之间的“多样性”。然而，准确性和多样性是冲突，在准确性和多样性上如何选择，才是集成学习需要解决的问题。</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6"/>
          <p:cNvSpPr/>
          <p:nvPr/>
        </p:nvSpPr>
        <p:spPr>
          <a:xfrm>
            <a:off x="533400" y="793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集成学习</a:t>
            </a:r>
            <a:endParaRPr lang="zh-CN" altLang="en-US" dirty="0">
              <a:latin typeface="微软雅黑" panose="020B0503020204020204" pitchFamily="34" charset="-122"/>
              <a:ea typeface="微软雅黑" panose="020B0503020204020204" pitchFamily="34" charset="-122"/>
            </a:endParaRPr>
          </a:p>
        </p:txBody>
      </p:sp>
      <p:sp>
        <p:nvSpPr>
          <p:cNvPr id="18434" name="Rectangle 2"/>
          <p:cNvSpPr>
            <a:spLocks noGrp="1"/>
          </p:cNvSpPr>
          <p:nvPr/>
        </p:nvSpPr>
        <p:spPr>
          <a:xfrm>
            <a:off x="476250" y="450850"/>
            <a:ext cx="4432300"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集成学习分类</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18435" name="文本框 2"/>
          <p:cNvSpPr txBox="1"/>
          <p:nvPr/>
        </p:nvSpPr>
        <p:spPr>
          <a:xfrm>
            <a:off x="533400" y="1079500"/>
            <a:ext cx="8077200" cy="5262563"/>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集成学习分两种：</a:t>
            </a:r>
            <a:endParaRPr lang="zh-CN" altLang="en-US" sz="2400" b="0">
              <a:latin typeface="微软雅黑" panose="020B0503020204020204" pitchFamily="34" charset="-122"/>
              <a:ea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a:t>
            </a:r>
            <a:r>
              <a:rPr lang="en-US" altLang="zh-CN" sz="2400" b="0">
                <a:latin typeface="微软雅黑" panose="020B0503020204020204" pitchFamily="34" charset="-122"/>
                <a:ea typeface="微软雅黑" panose="020B0503020204020204" pitchFamily="34" charset="-122"/>
              </a:rPr>
              <a:t>1</a:t>
            </a:r>
            <a:r>
              <a:rPr lang="zh-CN" altLang="en-US" sz="2400" b="0">
                <a:latin typeface="微软雅黑" panose="020B0503020204020204" pitchFamily="34" charset="-122"/>
                <a:ea typeface="微软雅黑" panose="020B0503020204020204" pitchFamily="34" charset="-122"/>
              </a:rPr>
              <a:t>）模型之间彼此不存在依赖关系，彼此独立。利用相同的训练数据同时搭建多个独立的分类模型，然后通过投票的方式，以少数服从多数的原则做出最终的分类决策。例如：</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Bagging</a:t>
            </a:r>
            <a:r>
              <a:rPr lang="zh-CN" altLang="en-US" sz="2400">
                <a:latin typeface="微软雅黑" panose="020B0503020204020204" pitchFamily="34" charset="-122"/>
                <a:ea typeface="微软雅黑" panose="020B0503020204020204" pitchFamily="34" charset="-122"/>
              </a:rPr>
              <a:t>族方法）</a:t>
            </a:r>
            <a:r>
              <a:rPr lang="zh-CN" altLang="en-US" sz="2400" b="0">
                <a:latin typeface="微软雅黑" panose="020B0503020204020204" pitchFamily="34" charset="-122"/>
                <a:ea typeface="微软雅黑" panose="020B0503020204020204" pitchFamily="34" charset="-122"/>
              </a:rPr>
              <a:t>Bagging和随机森林（Random Forest）。</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a:t>
            </a:r>
            <a:r>
              <a:rPr lang="en-US" altLang="zh-CN" sz="2400" b="0">
                <a:latin typeface="微软雅黑" panose="020B0503020204020204" pitchFamily="34" charset="-122"/>
                <a:ea typeface="微软雅黑" panose="020B0503020204020204" pitchFamily="34" charset="-122"/>
              </a:rPr>
              <a:t>2</a:t>
            </a:r>
            <a:r>
              <a:rPr lang="zh-CN" altLang="en-US" sz="2400" b="0">
                <a:latin typeface="微软雅黑" panose="020B0503020204020204" pitchFamily="34" charset="-122"/>
                <a:ea typeface="微软雅黑" panose="020B0503020204020204" pitchFamily="34" charset="-122"/>
              </a:rPr>
              <a:t>）模型之间彼此存在依赖关系，按一定的次序搭建多个分类模型，一般后一个模型的加入都需要对现有的集成模型有一定贡献，进而不断提高更新过后的集成模型性能，并借助多个弱分类器搭建出强分类器。代表有</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Boosting</a:t>
            </a:r>
            <a:r>
              <a:rPr lang="zh-CN" altLang="en-US" sz="2400">
                <a:latin typeface="微软雅黑" panose="020B0503020204020204" pitchFamily="34" charset="-122"/>
                <a:ea typeface="微软雅黑" panose="020B0503020204020204" pitchFamily="34" charset="-122"/>
              </a:rPr>
              <a:t>族方法）</a:t>
            </a:r>
            <a:r>
              <a:rPr lang="zh-CN" altLang="en-US" sz="2400" b="0">
                <a:latin typeface="微软雅黑" panose="020B0503020204020204" pitchFamily="34" charset="-122"/>
                <a:ea typeface="微软雅黑" panose="020B0503020204020204" pitchFamily="34" charset="-122"/>
              </a:rPr>
              <a:t>Boosting（AdaBoost）算法。该算法与第一种的随机森林主要区别在于每一颗决策树在生成的过程中都会尽可能降低模型在训练集上的拟合或训练误差</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6"/>
          <p:cNvSpPr/>
          <p:nvPr/>
        </p:nvSpPr>
        <p:spPr>
          <a:xfrm>
            <a:off x="533400" y="793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集成学习</a:t>
            </a:r>
            <a:endParaRPr lang="zh-CN" altLang="en-US" dirty="0">
              <a:latin typeface="微软雅黑" panose="020B0503020204020204" pitchFamily="34" charset="-122"/>
              <a:ea typeface="微软雅黑" panose="020B0503020204020204" pitchFamily="34" charset="-122"/>
            </a:endParaRPr>
          </a:p>
        </p:txBody>
      </p:sp>
      <p:sp>
        <p:nvSpPr>
          <p:cNvPr id="19458" name="Rectangle 2"/>
          <p:cNvSpPr>
            <a:spLocks noGrp="1"/>
          </p:cNvSpPr>
          <p:nvPr/>
        </p:nvSpPr>
        <p:spPr>
          <a:xfrm>
            <a:off x="476250" y="450850"/>
            <a:ext cx="4432300"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rPr>
              <a:t>Bagging族</a:t>
            </a:r>
            <a:r>
              <a:rPr lang="en-US" altLang="zh-CN" sz="2400">
                <a:latin typeface="微软雅黑" panose="020B0503020204020204" pitchFamily="34" charset="-122"/>
                <a:ea typeface="微软雅黑" panose="020B0503020204020204" pitchFamily="34" charset="-122"/>
              </a:rPr>
              <a:t>—Bagging</a:t>
            </a:r>
            <a:r>
              <a:rPr lang="zh-CN" altLang="en-US" sz="2400">
                <a:latin typeface="微软雅黑" panose="020B0503020204020204" pitchFamily="34" charset="-122"/>
                <a:ea typeface="微软雅黑" panose="020B0503020204020204" pitchFamily="34" charset="-122"/>
              </a:rPr>
              <a:t>算法</a:t>
            </a:r>
            <a:endParaRPr lang="zh-CN" altLang="en-US" sz="2400">
              <a:latin typeface="微软雅黑" panose="020B0503020204020204" pitchFamily="34" charset="-122"/>
              <a:ea typeface="微软雅黑" panose="020B0503020204020204" pitchFamily="34" charset="-122"/>
            </a:endParaRPr>
          </a:p>
        </p:txBody>
      </p:sp>
      <p:sp>
        <p:nvSpPr>
          <p:cNvPr id="19459" name="文本框 2"/>
          <p:cNvSpPr txBox="1"/>
          <p:nvPr/>
        </p:nvSpPr>
        <p:spPr>
          <a:xfrm>
            <a:off x="533400" y="1001713"/>
            <a:ext cx="8023225" cy="5630862"/>
          </a:xfrm>
          <a:prstGeom prst="rect">
            <a:avLst/>
          </a:prstGeom>
          <a:noFill/>
          <a:ln w="9525">
            <a:noFill/>
          </a:ln>
        </p:spPr>
        <p:txBody>
          <a:bodyPr wrap="square" anchor="t" anchorCtr="0">
            <a:spAutoFit/>
          </a:bodyPr>
          <a:p>
            <a:r>
              <a:rPr lang="zh-CN" altLang="en-US" sz="2000" b="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Bagging (bootstrap aggregating)即套袋法</a:t>
            </a:r>
            <a:r>
              <a:rPr lang="zh-CN" altLang="en-US" sz="2400" b="0">
                <a:latin typeface="微软雅黑" panose="020B0503020204020204" pitchFamily="34" charset="-122"/>
                <a:ea typeface="微软雅黑" panose="020B0503020204020204" pitchFamily="34" charset="-122"/>
              </a:rPr>
              <a:t>，其算法过程如下：</a:t>
            </a:r>
            <a:endParaRPr lang="zh-CN" altLang="en-US" sz="2400" b="0">
              <a:latin typeface="微软雅黑" panose="020B0503020204020204" pitchFamily="34" charset="-122"/>
              <a:ea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a:t>
            </a:r>
            <a:r>
              <a:rPr lang="en-US" altLang="zh-CN" sz="2400" b="0">
                <a:latin typeface="微软雅黑" panose="020B0503020204020204" pitchFamily="34" charset="-122"/>
                <a:ea typeface="微软雅黑" panose="020B0503020204020204" pitchFamily="34" charset="-122"/>
              </a:rPr>
              <a:t>1</a:t>
            </a:r>
            <a:r>
              <a:rPr lang="zh-CN" altLang="en-US" sz="2400" b="0">
                <a:latin typeface="微软雅黑" panose="020B0503020204020204" pitchFamily="34" charset="-122"/>
                <a:ea typeface="微软雅黑" panose="020B0503020204020204" pitchFamily="34" charset="-122"/>
              </a:rPr>
              <a:t>）从原始样本集中抽取训练集。每轮从原始样本集中使用Bootstraping的方法抽取n个训练样本（在训练集中，有些样本可能被多次抽取到，而有些样本可能一次都没有被抽中）。共进行m轮抽取，得到m个训练集。（k个训练集之间是相互独立的）</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a:t>
            </a:r>
            <a:r>
              <a:rPr lang="en-US" altLang="zh-CN" sz="2400" b="0">
                <a:latin typeface="微软雅黑" panose="020B0503020204020204" pitchFamily="34" charset="-122"/>
                <a:ea typeface="微软雅黑" panose="020B0503020204020204" pitchFamily="34" charset="-122"/>
              </a:rPr>
              <a:t>2</a:t>
            </a:r>
            <a:r>
              <a:rPr lang="zh-CN" altLang="en-US" sz="2400" b="0">
                <a:latin typeface="微软雅黑" panose="020B0503020204020204" pitchFamily="34" charset="-122"/>
                <a:ea typeface="微软雅黑" panose="020B0503020204020204" pitchFamily="34" charset="-122"/>
              </a:rPr>
              <a:t>）每次使用一个训练集得到一个模型，m个训练集共得到m个模型。（注：这里并没有具体的分类算法或回归方法，我们可以根据具体问题采用不同的分类或回归方法，如决策树、感知器等）</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a:t>
            </a:r>
            <a:r>
              <a:rPr lang="en-US" altLang="zh-CN" sz="2400" b="0">
                <a:latin typeface="微软雅黑" panose="020B0503020204020204" pitchFamily="34" charset="-122"/>
                <a:ea typeface="微软雅黑" panose="020B0503020204020204" pitchFamily="34" charset="-122"/>
              </a:rPr>
              <a:t>3</a:t>
            </a:r>
            <a:r>
              <a:rPr lang="zh-CN" altLang="en-US" sz="2400" b="0">
                <a:latin typeface="微软雅黑" panose="020B0503020204020204" pitchFamily="34" charset="-122"/>
                <a:ea typeface="微软雅黑" panose="020B0503020204020204" pitchFamily="34" charset="-122"/>
              </a:rPr>
              <a:t>）对分类问题：将上步得到的m个模型采用投票的方式得到分类结果；对回归问题，计算上述模型的均值作为最后的结果。（所有模型的重要性相同）</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6"/>
          <p:cNvSpPr/>
          <p:nvPr/>
        </p:nvSpPr>
        <p:spPr>
          <a:xfrm>
            <a:off x="533400" y="793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集成学习</a:t>
            </a:r>
            <a:endParaRPr lang="zh-CN" altLang="en-US" dirty="0">
              <a:latin typeface="微软雅黑" panose="020B0503020204020204" pitchFamily="34" charset="-122"/>
              <a:ea typeface="微软雅黑" panose="020B0503020204020204" pitchFamily="34" charset="-122"/>
            </a:endParaRPr>
          </a:p>
        </p:txBody>
      </p:sp>
      <p:sp>
        <p:nvSpPr>
          <p:cNvPr id="20482" name="Rectangle 2"/>
          <p:cNvSpPr>
            <a:spLocks noGrp="1"/>
          </p:cNvSpPr>
          <p:nvPr/>
        </p:nvSpPr>
        <p:spPr>
          <a:xfrm>
            <a:off x="476250" y="450850"/>
            <a:ext cx="4432300"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rPr>
              <a:t>Bagging族</a:t>
            </a:r>
            <a:r>
              <a:rPr lang="en-US" altLang="zh-CN" sz="2400">
                <a:latin typeface="微软雅黑" panose="020B0503020204020204" pitchFamily="34" charset="-122"/>
                <a:ea typeface="微软雅黑" panose="020B0503020204020204" pitchFamily="34" charset="-122"/>
              </a:rPr>
              <a:t>—Bagging</a:t>
            </a:r>
            <a:r>
              <a:rPr lang="zh-CN" altLang="en-US" sz="2400">
                <a:latin typeface="微软雅黑" panose="020B0503020204020204" pitchFamily="34" charset="-122"/>
                <a:ea typeface="微软雅黑" panose="020B0503020204020204" pitchFamily="34" charset="-122"/>
              </a:rPr>
              <a:t>算法</a:t>
            </a:r>
            <a:endParaRPr lang="zh-CN" altLang="en-US" sz="2400">
              <a:latin typeface="微软雅黑" panose="020B0503020204020204" pitchFamily="34" charset="-122"/>
              <a:ea typeface="微软雅黑" panose="020B0503020204020204" pitchFamily="34" charset="-122"/>
            </a:endParaRPr>
          </a:p>
        </p:txBody>
      </p:sp>
      <p:pic>
        <p:nvPicPr>
          <p:cNvPr id="20483" name="图片 3"/>
          <p:cNvPicPr>
            <a:picLocks noChangeAspect="1"/>
          </p:cNvPicPr>
          <p:nvPr/>
        </p:nvPicPr>
        <p:blipFill>
          <a:blip r:embed="rId1"/>
          <a:stretch>
            <a:fillRect/>
          </a:stretch>
        </p:blipFill>
        <p:spPr>
          <a:xfrm>
            <a:off x="239713" y="1771650"/>
            <a:ext cx="8559800" cy="2986088"/>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Rectangle 6"/>
          <p:cNvSpPr/>
          <p:nvPr/>
        </p:nvSpPr>
        <p:spPr>
          <a:xfrm>
            <a:off x="533400" y="793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集成学习</a:t>
            </a:r>
            <a:endParaRPr lang="zh-CN" altLang="en-US" dirty="0">
              <a:latin typeface="微软雅黑" panose="020B0503020204020204" pitchFamily="34" charset="-122"/>
              <a:ea typeface="微软雅黑" panose="020B0503020204020204" pitchFamily="34" charset="-122"/>
            </a:endParaRPr>
          </a:p>
        </p:txBody>
      </p:sp>
      <p:sp>
        <p:nvSpPr>
          <p:cNvPr id="21506" name="Rectangle 2"/>
          <p:cNvSpPr>
            <a:spLocks noGrp="1"/>
          </p:cNvSpPr>
          <p:nvPr/>
        </p:nvSpPr>
        <p:spPr>
          <a:xfrm>
            <a:off x="476250" y="450850"/>
            <a:ext cx="4432300"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Bagging族</a:t>
            </a:r>
            <a:r>
              <a:rPr lang="en-US" altLang="zh-CN" sz="2400">
                <a:latin typeface="微软雅黑" panose="020B0503020204020204" pitchFamily="34" charset="-122"/>
                <a:ea typeface="微软雅黑" panose="020B0503020204020204" pitchFamily="34" charset="-122"/>
                <a:sym typeface="宋体" panose="02010600030101010101" pitchFamily="2" charset="-122"/>
              </a:rPr>
              <a:t>—</a:t>
            </a:r>
            <a:r>
              <a:rPr lang="zh-CN" altLang="en-US" sz="2400">
                <a:latin typeface="微软雅黑" panose="020B0503020204020204" pitchFamily="34" charset="-122"/>
                <a:ea typeface="微软雅黑" panose="020B0503020204020204" pitchFamily="34" charset="-122"/>
                <a:sym typeface="宋体" panose="02010600030101010101" pitchFamily="2" charset="-122"/>
              </a:rPr>
              <a:t>随机森林</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21507" name="文本框 2"/>
          <p:cNvSpPr txBox="1"/>
          <p:nvPr/>
        </p:nvSpPr>
        <p:spPr>
          <a:xfrm>
            <a:off x="476250" y="1089025"/>
            <a:ext cx="8234363" cy="5262563"/>
          </a:xfrm>
          <a:prstGeom prst="rect">
            <a:avLst/>
          </a:prstGeom>
          <a:noFill/>
          <a:ln w="9525">
            <a:noFill/>
          </a:ln>
        </p:spPr>
        <p:txBody>
          <a:bodyPr wrap="square" anchor="t" anchorCtr="0">
            <a:spAutoFit/>
          </a:bodyPr>
          <a:p>
            <a:r>
              <a:rPr lang="zh-CN" altLang="en-US" sz="2400">
                <a:latin typeface="微软雅黑" panose="020B0503020204020204" pitchFamily="34" charset="-122"/>
                <a:ea typeface="微软雅黑" panose="020B0503020204020204" pitchFamily="34" charset="-122"/>
              </a:rPr>
              <a:t>随机森林</a:t>
            </a:r>
            <a:r>
              <a:rPr lang="zh-CN" altLang="en-US" sz="2400" b="0">
                <a:latin typeface="微软雅黑" panose="020B0503020204020204" pitchFamily="34" charset="-122"/>
                <a:ea typeface="微软雅黑" panose="020B0503020204020204" pitchFamily="34" charset="-122"/>
              </a:rPr>
              <a:t>就是建立很多决策树，组成一个决策树的“森林”，通过多棵树投票来进行决策。这种方法能够有效地提高对新样本的分类准确度。</a:t>
            </a:r>
            <a:endParaRPr lang="zh-CN" altLang="en-US" sz="2400" b="0">
              <a:latin typeface="微软雅黑" panose="020B0503020204020204" pitchFamily="34" charset="-122"/>
              <a:ea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随机森林在以决策树为基学习器构建Bagging集成（样本的随机选取）的基础上，进一步在决策树的训练过程中引入随机属性选择（Bagging + 决策树 = 随机森林）。具体来说，传统决策树在选择划分属性时是在当前节点的属性集合（假设有d个属性）中选择一个最优属性；而在随机森林中，对基决策树的每个节点，先从该节点的属性集合中随机选择一个包含K个属性的子集，然后在从这个子集中选择一个最优属性用于划分。K=d就是传统决策树，K=1则是随机选取一个属性用于划分。</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6"/>
          <p:cNvSpPr/>
          <p:nvPr/>
        </p:nvSpPr>
        <p:spPr>
          <a:xfrm>
            <a:off x="533400" y="793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集成学习</a:t>
            </a:r>
            <a:endParaRPr lang="zh-CN" altLang="en-US" dirty="0">
              <a:latin typeface="微软雅黑" panose="020B0503020204020204" pitchFamily="34" charset="-122"/>
              <a:ea typeface="微软雅黑" panose="020B0503020204020204" pitchFamily="34" charset="-122"/>
            </a:endParaRPr>
          </a:p>
        </p:txBody>
      </p:sp>
      <p:sp>
        <p:nvSpPr>
          <p:cNvPr id="22530" name="Rectangle 2"/>
          <p:cNvSpPr>
            <a:spLocks noGrp="1"/>
          </p:cNvSpPr>
          <p:nvPr/>
        </p:nvSpPr>
        <p:spPr>
          <a:xfrm>
            <a:off x="476250" y="450850"/>
            <a:ext cx="4432300"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Bagging族</a:t>
            </a:r>
            <a:r>
              <a:rPr lang="en-US" altLang="zh-CN" sz="2400">
                <a:latin typeface="微软雅黑" panose="020B0503020204020204" pitchFamily="34" charset="-122"/>
                <a:ea typeface="微软雅黑" panose="020B0503020204020204" pitchFamily="34" charset="-122"/>
                <a:sym typeface="宋体" panose="02010600030101010101" pitchFamily="2" charset="-122"/>
              </a:rPr>
              <a:t>—</a:t>
            </a:r>
            <a:r>
              <a:rPr lang="zh-CN" altLang="en-US" sz="2400">
                <a:latin typeface="微软雅黑" panose="020B0503020204020204" pitchFamily="34" charset="-122"/>
                <a:ea typeface="微软雅黑" panose="020B0503020204020204" pitchFamily="34" charset="-122"/>
                <a:sym typeface="宋体" panose="02010600030101010101" pitchFamily="2" charset="-122"/>
              </a:rPr>
              <a:t>随机森林</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22531" name="文本框 2"/>
          <p:cNvSpPr txBox="1"/>
          <p:nvPr/>
        </p:nvSpPr>
        <p:spPr>
          <a:xfrm>
            <a:off x="431800" y="995363"/>
            <a:ext cx="4129088" cy="5322887"/>
          </a:xfrm>
          <a:prstGeom prst="rect">
            <a:avLst/>
          </a:prstGeom>
          <a:noFill/>
          <a:ln w="9525">
            <a:noFill/>
          </a:ln>
        </p:spPr>
        <p:txBody>
          <a:bodyPr wrap="square" anchor="t" anchorCtr="0">
            <a:spAutoFit/>
          </a:bodyPr>
          <a:p>
            <a:r>
              <a:rPr lang="zh-CN" altLang="en-US" sz="2000">
                <a:latin typeface="微软雅黑" panose="020B0503020204020204" pitchFamily="34" charset="-122"/>
                <a:ea typeface="微软雅黑" panose="020B0503020204020204" pitchFamily="34" charset="-122"/>
              </a:rPr>
              <a:t>随机森林的步骤</a:t>
            </a:r>
            <a:endParaRPr lang="zh-CN" altLang="en-US" sz="200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a:t>
            </a:r>
            <a:r>
              <a:rPr lang="en-US" altLang="zh-CN" sz="2000" b="0">
                <a:latin typeface="微软雅黑" panose="020B0503020204020204" pitchFamily="34" charset="-122"/>
                <a:ea typeface="微软雅黑" panose="020B0503020204020204" pitchFamily="34" charset="-122"/>
              </a:rPr>
              <a:t>1</a:t>
            </a:r>
            <a:r>
              <a:rPr lang="zh-CN" altLang="en-US" sz="2000" b="0">
                <a:latin typeface="微软雅黑" panose="020B0503020204020204" pitchFamily="34" charset="-122"/>
                <a:ea typeface="微软雅黑" panose="020B0503020204020204" pitchFamily="34" charset="-122"/>
              </a:rPr>
              <a:t>）对样本数据进行有放回的抽样，得到多个样本集。具体来讲就是每次从原来的N个训练样本中有放回地随机抽取N个样本(包括可能重复样本)。</a:t>
            </a:r>
            <a:endParaRPr lang="zh-CN" altLang="en-US" sz="20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a:t>
            </a:r>
            <a:r>
              <a:rPr lang="en-US" altLang="zh-CN" sz="2000" b="0">
                <a:latin typeface="微软雅黑" panose="020B0503020204020204" pitchFamily="34" charset="-122"/>
                <a:ea typeface="微软雅黑" panose="020B0503020204020204" pitchFamily="34" charset="-122"/>
              </a:rPr>
              <a:t>2</a:t>
            </a:r>
            <a:r>
              <a:rPr lang="zh-CN" altLang="en-US" sz="2000" b="0">
                <a:latin typeface="微软雅黑" panose="020B0503020204020204" pitchFamily="34" charset="-122"/>
                <a:ea typeface="微软雅黑" panose="020B0503020204020204" pitchFamily="34" charset="-122"/>
              </a:rPr>
              <a:t>）从候选的特征中随机抽取m个特征，作为当前节点下决策的备选特征，从这些特征中选择最好地划分训练样本的特征。用每个样本集作为训练样本构造决策树。单个决策树在产生样本集和确定特征后，使用CART算法计算，不剪枝。</a:t>
            </a:r>
            <a:endParaRPr lang="zh-CN" altLang="en-US" sz="20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a:t>
            </a:r>
            <a:r>
              <a:rPr lang="en-US" altLang="zh-CN" sz="2000" b="0">
                <a:latin typeface="微软雅黑" panose="020B0503020204020204" pitchFamily="34" charset="-122"/>
                <a:ea typeface="微软雅黑" panose="020B0503020204020204" pitchFamily="34" charset="-122"/>
              </a:rPr>
              <a:t>3</a:t>
            </a:r>
            <a:r>
              <a:rPr lang="zh-CN" altLang="en-US" sz="2000" b="0">
                <a:latin typeface="微软雅黑" panose="020B0503020204020204" pitchFamily="34" charset="-122"/>
                <a:ea typeface="微软雅黑" panose="020B0503020204020204" pitchFamily="34" charset="-122"/>
              </a:rPr>
              <a:t>）得到所需数目的决策树后，随机森林方法对这些树的输出进行投票，以得票最多的类作为随机森林的决策。</a:t>
            </a:r>
            <a:endParaRPr lang="zh-CN" altLang="en-US" sz="2000" b="0">
              <a:latin typeface="微软雅黑" panose="020B0503020204020204" pitchFamily="34" charset="-122"/>
              <a:ea typeface="微软雅黑" panose="020B0503020204020204" pitchFamily="34" charset="-122"/>
            </a:endParaRPr>
          </a:p>
        </p:txBody>
      </p:sp>
      <p:pic>
        <p:nvPicPr>
          <p:cNvPr id="22532" name="图片 3"/>
          <p:cNvPicPr>
            <a:picLocks noChangeAspect="1"/>
          </p:cNvPicPr>
          <p:nvPr/>
        </p:nvPicPr>
        <p:blipFill>
          <a:blip r:embed="rId1"/>
          <a:stretch>
            <a:fillRect/>
          </a:stretch>
        </p:blipFill>
        <p:spPr>
          <a:xfrm>
            <a:off x="4560888" y="1279525"/>
            <a:ext cx="4325937" cy="4298950"/>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6"/>
          <p:cNvSpPr/>
          <p:nvPr/>
        </p:nvSpPr>
        <p:spPr>
          <a:xfrm>
            <a:off x="533400" y="793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集成学习</a:t>
            </a:r>
            <a:endParaRPr lang="zh-CN" altLang="en-US" dirty="0">
              <a:latin typeface="微软雅黑" panose="020B0503020204020204" pitchFamily="34" charset="-122"/>
              <a:ea typeface="微软雅黑" panose="020B0503020204020204" pitchFamily="34" charset="-122"/>
            </a:endParaRPr>
          </a:p>
        </p:txBody>
      </p:sp>
      <p:sp>
        <p:nvSpPr>
          <p:cNvPr id="23554" name="Rectangle 2"/>
          <p:cNvSpPr>
            <a:spLocks noGrp="1"/>
          </p:cNvSpPr>
          <p:nvPr/>
        </p:nvSpPr>
        <p:spPr>
          <a:xfrm>
            <a:off x="476250" y="450850"/>
            <a:ext cx="4432300"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Bagging族</a:t>
            </a:r>
            <a:r>
              <a:rPr lang="en-US" altLang="zh-CN" sz="2400">
                <a:latin typeface="微软雅黑" panose="020B0503020204020204" pitchFamily="34" charset="-122"/>
                <a:ea typeface="微软雅黑" panose="020B0503020204020204" pitchFamily="34" charset="-122"/>
                <a:sym typeface="宋体" panose="02010600030101010101" pitchFamily="2" charset="-122"/>
              </a:rPr>
              <a:t>—</a:t>
            </a:r>
            <a:r>
              <a:rPr lang="zh-CN" altLang="en-US" sz="2400">
                <a:latin typeface="微软雅黑" panose="020B0503020204020204" pitchFamily="34" charset="-122"/>
                <a:ea typeface="微软雅黑" panose="020B0503020204020204" pitchFamily="34" charset="-122"/>
                <a:sym typeface="宋体" panose="02010600030101010101" pitchFamily="2" charset="-122"/>
              </a:rPr>
              <a:t>随机森林</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23555" name="文本框 2"/>
          <p:cNvSpPr txBox="1"/>
          <p:nvPr/>
        </p:nvSpPr>
        <p:spPr>
          <a:xfrm>
            <a:off x="533400" y="1079500"/>
            <a:ext cx="7967663" cy="4522788"/>
          </a:xfrm>
          <a:prstGeom prst="rect">
            <a:avLst/>
          </a:prstGeom>
          <a:noFill/>
          <a:ln w="9525">
            <a:noFill/>
          </a:ln>
        </p:spPr>
        <p:txBody>
          <a:bodyPr wrap="square" anchor="t" anchorCtr="0">
            <a:spAutoFit/>
          </a:bodyPr>
          <a:p>
            <a:r>
              <a:rPr lang="zh-CN" altLang="en-US" sz="2400">
                <a:latin typeface="微软雅黑" panose="020B0503020204020204" pitchFamily="34" charset="-122"/>
                <a:ea typeface="微软雅黑" panose="020B0503020204020204" pitchFamily="34" charset="-122"/>
              </a:rPr>
              <a:t>随机森林算法说明</a:t>
            </a:r>
            <a:endParaRPr lang="zh-CN" altLang="en-US" sz="240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（1）随机森林的方法即对训练样本进行了采样，又对特征进行了采样，充分保证了所构建的每个树之间的独立性，使得投票结果更准确。</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（2）随机森林的随机性体现在每棵树的训练样本是随机的，树中每个节点的分裂属性也是随机选择的。有了这2个随机因素，即使每棵决策树没有进行剪枝，随机森林也不会产生过拟合的现象。</a:t>
            </a:r>
            <a:endParaRPr lang="zh-CN" altLang="en-US" sz="2400" b="0">
              <a:latin typeface="微软雅黑" panose="020B0503020204020204" pitchFamily="34" charset="-122"/>
              <a:ea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endParaRPr>
          </a:p>
          <a:p>
            <a:r>
              <a:rPr lang="zh-CN" altLang="en-US" sz="2400">
                <a:latin typeface="微软雅黑" panose="020B0503020204020204" pitchFamily="34" charset="-122"/>
                <a:ea typeface="微软雅黑" panose="020B0503020204020204" pitchFamily="34" charset="-122"/>
              </a:rPr>
              <a:t>随机森林中有两个可控制参数</a:t>
            </a:r>
            <a:endParaRPr lang="zh-CN" altLang="en-US" sz="240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（1）森林中树的数量（一般选取值较大）</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（2）抽取的属性值m的大小。</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6"/>
          <p:cNvSpPr/>
          <p:nvPr/>
        </p:nvSpPr>
        <p:spPr>
          <a:xfrm>
            <a:off x="533400" y="793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集成学习</a:t>
            </a:r>
            <a:endParaRPr lang="zh-CN" altLang="en-US" dirty="0">
              <a:latin typeface="微软雅黑" panose="020B0503020204020204" pitchFamily="34" charset="-122"/>
              <a:ea typeface="微软雅黑" panose="020B0503020204020204" pitchFamily="34" charset="-122"/>
            </a:endParaRPr>
          </a:p>
        </p:txBody>
      </p:sp>
      <p:sp>
        <p:nvSpPr>
          <p:cNvPr id="24578" name="Rectangle 2"/>
          <p:cNvSpPr>
            <a:spLocks noGrp="1"/>
          </p:cNvSpPr>
          <p:nvPr/>
        </p:nvSpPr>
        <p:spPr>
          <a:xfrm>
            <a:off x="476250" y="450850"/>
            <a:ext cx="4432300"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Bagging族</a:t>
            </a:r>
            <a:r>
              <a:rPr lang="en-US" altLang="zh-CN" sz="2400">
                <a:latin typeface="微软雅黑" panose="020B0503020204020204" pitchFamily="34" charset="-122"/>
                <a:ea typeface="微软雅黑" panose="020B0503020204020204" pitchFamily="34" charset="-122"/>
                <a:sym typeface="宋体" panose="02010600030101010101" pitchFamily="2" charset="-122"/>
              </a:rPr>
              <a:t>—</a:t>
            </a:r>
            <a:r>
              <a:rPr lang="zh-CN" altLang="en-US" sz="2400">
                <a:latin typeface="微软雅黑" panose="020B0503020204020204" pitchFamily="34" charset="-122"/>
                <a:ea typeface="微软雅黑" panose="020B0503020204020204" pitchFamily="34" charset="-122"/>
                <a:sym typeface="宋体" panose="02010600030101010101" pitchFamily="2" charset="-122"/>
              </a:rPr>
              <a:t>随机森林</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24579" name="文本框 2"/>
          <p:cNvSpPr txBox="1"/>
          <p:nvPr/>
        </p:nvSpPr>
        <p:spPr>
          <a:xfrm>
            <a:off x="533400" y="960438"/>
            <a:ext cx="8175625" cy="5630862"/>
          </a:xfrm>
          <a:prstGeom prst="rect">
            <a:avLst/>
          </a:prstGeom>
          <a:noFill/>
          <a:ln w="9525">
            <a:noFill/>
          </a:ln>
        </p:spPr>
        <p:txBody>
          <a:bodyPr wrap="square" anchor="t" anchorCtr="0">
            <a:spAutoFit/>
          </a:bodyPr>
          <a:p>
            <a:r>
              <a:rPr lang="zh-CN" altLang="en-US" sz="2400">
                <a:latin typeface="微软雅黑" panose="020B0503020204020204" pitchFamily="34" charset="-122"/>
                <a:ea typeface="微软雅黑" panose="020B0503020204020204" pitchFamily="34" charset="-122"/>
              </a:rPr>
              <a:t>随机森林的优点</a:t>
            </a:r>
            <a:endParaRPr lang="zh-CN" altLang="en-US" sz="240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随机森林简单、容易实现、计算开销小，被誉为“代表集成学习技术水平的方法”。可以看出随机森林只是对Bagging做了很小的改动。Bagging的多样性只是体现在样本的随机性，随机森林的基学习器的多样性不仅来自于样本的随机性，还来自于属性的随机性。随机森林随着学习器数目的增加，随机森林通常会收敛到更低的泛化误差。</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（1）分类结果更加准确</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（2）可以处理高维度的属性，并且不用做特征选择</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（3）即使有很大部分数据遗失，仍可以维持高准确度</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（4）训练效率优于Bagging</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（5）随机性只需要考虑一个属性子集，Bagging需要考察所有属性。</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（6）容易实现并行化计算</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（7）在训练过程中，能够检测到属性之间的相互影响</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文本框 2"/>
          <p:cNvSpPr txBox="1"/>
          <p:nvPr/>
        </p:nvSpPr>
        <p:spPr>
          <a:xfrm>
            <a:off x="492125" y="1079500"/>
            <a:ext cx="8159750" cy="3784600"/>
          </a:xfrm>
          <a:prstGeom prst="rect">
            <a:avLst/>
          </a:prstGeom>
          <a:noFill/>
          <a:ln w="9525">
            <a:noFill/>
          </a:ln>
        </p:spPr>
        <p:txBody>
          <a:bodyPr wrap="square" anchor="t" anchorCtr="0">
            <a:spAutoFit/>
          </a:bodyPr>
          <a:p>
            <a:r>
              <a:rPr lang="zh-CN" altLang="en-US" sz="2400">
                <a:latin typeface="微软雅黑" panose="020B0503020204020204" pitchFamily="34" charset="-122"/>
                <a:ea typeface="微软雅黑" panose="020B0503020204020204" pitchFamily="34" charset="-122"/>
              </a:rPr>
              <a:t>随机森林缺点</a:t>
            </a:r>
            <a:endParaRPr lang="zh-CN" altLang="en-US" sz="240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随机森林在解决回归问题时，并没有像它在分类中表现的那么好，这是因为它并不能给出一个连续的输出。当进行回归时，随机森林不能够做出超越训练集数据范围的预测，这可能导致在某些特定噪声的数据进行建模时出现过度拟合。（随机森林已经被证明在某些噪音较大的分类或者回归问题上回过拟合）。</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对于小数据或者低维数据（特征较少的数据），可能不能产生很好的分类。（处理高维数据，处理特征遗失数据，处理不平衡数据是随机森林的长处）。</a:t>
            </a:r>
            <a:endParaRPr lang="zh-CN" altLang="en-US" sz="2400" b="0">
              <a:latin typeface="微软雅黑" panose="020B0503020204020204" pitchFamily="34" charset="-122"/>
              <a:ea typeface="微软雅黑" panose="020B0503020204020204" pitchFamily="34" charset="-122"/>
            </a:endParaRPr>
          </a:p>
        </p:txBody>
      </p:sp>
      <p:sp>
        <p:nvSpPr>
          <p:cNvPr id="25602" name="Rectangle 6"/>
          <p:cNvSpPr/>
          <p:nvPr/>
        </p:nvSpPr>
        <p:spPr>
          <a:xfrm>
            <a:off x="533400" y="793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集成学习</a:t>
            </a:r>
            <a:endParaRPr lang="zh-CN" altLang="en-US" dirty="0">
              <a:latin typeface="微软雅黑" panose="020B0503020204020204" pitchFamily="34" charset="-122"/>
              <a:ea typeface="微软雅黑" panose="020B0503020204020204" pitchFamily="34" charset="-122"/>
            </a:endParaRPr>
          </a:p>
        </p:txBody>
      </p:sp>
      <p:sp>
        <p:nvSpPr>
          <p:cNvPr id="25603" name="Rectangle 2"/>
          <p:cNvSpPr>
            <a:spLocks noGrp="1"/>
          </p:cNvSpPr>
          <p:nvPr/>
        </p:nvSpPr>
        <p:spPr>
          <a:xfrm>
            <a:off x="476250" y="450850"/>
            <a:ext cx="4432300"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Bagging族</a:t>
            </a:r>
            <a:r>
              <a:rPr lang="en-US" altLang="zh-CN" sz="2400">
                <a:latin typeface="微软雅黑" panose="020B0503020204020204" pitchFamily="34" charset="-122"/>
                <a:ea typeface="微软雅黑" panose="020B0503020204020204" pitchFamily="34" charset="-122"/>
                <a:sym typeface="宋体" panose="02010600030101010101" pitchFamily="2" charset="-122"/>
              </a:rPr>
              <a:t>—</a:t>
            </a:r>
            <a:r>
              <a:rPr lang="zh-CN" altLang="en-US" sz="2400">
                <a:latin typeface="微软雅黑" panose="020B0503020204020204" pitchFamily="34" charset="-122"/>
                <a:ea typeface="微软雅黑" panose="020B0503020204020204" pitchFamily="34" charset="-122"/>
                <a:sym typeface="宋体" panose="02010600030101010101" pitchFamily="2" charset="-122"/>
              </a:rPr>
              <a:t>随机森林</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6"/>
          <p:cNvSpPr/>
          <p:nvPr/>
        </p:nvSpPr>
        <p:spPr>
          <a:xfrm>
            <a:off x="533400" y="793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集成学习</a:t>
            </a:r>
            <a:endParaRPr lang="zh-CN" altLang="en-US" dirty="0">
              <a:latin typeface="微软雅黑" panose="020B0503020204020204" pitchFamily="34" charset="-122"/>
              <a:ea typeface="微软雅黑" panose="020B0503020204020204" pitchFamily="34" charset="-122"/>
            </a:endParaRPr>
          </a:p>
        </p:txBody>
      </p:sp>
      <p:sp>
        <p:nvSpPr>
          <p:cNvPr id="26626" name="Rectangle 2"/>
          <p:cNvSpPr>
            <a:spLocks noGrp="1"/>
          </p:cNvSpPr>
          <p:nvPr/>
        </p:nvSpPr>
        <p:spPr>
          <a:xfrm>
            <a:off x="476250" y="450850"/>
            <a:ext cx="5121275"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Boosting族</a:t>
            </a:r>
            <a:r>
              <a:rPr lang="en-US" altLang="zh-CN" sz="2400">
                <a:latin typeface="微软雅黑" panose="020B0503020204020204" pitchFamily="34" charset="-122"/>
                <a:ea typeface="微软雅黑" panose="020B0503020204020204" pitchFamily="34" charset="-122"/>
                <a:sym typeface="宋体" panose="02010600030101010101" pitchFamily="2" charset="-122"/>
              </a:rPr>
              <a:t>—</a:t>
            </a:r>
            <a:r>
              <a:rPr lang="zh-CN" altLang="en-US" sz="2400">
                <a:latin typeface="微软雅黑" panose="020B0503020204020204" pitchFamily="34" charset="-122"/>
                <a:ea typeface="微软雅黑" panose="020B0503020204020204" pitchFamily="34" charset="-122"/>
                <a:sym typeface="宋体" panose="02010600030101010101" pitchFamily="2" charset="-122"/>
              </a:rPr>
              <a:t>Boosting方法</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26627" name="文本框 1"/>
          <p:cNvSpPr txBox="1"/>
          <p:nvPr/>
        </p:nvSpPr>
        <p:spPr>
          <a:xfrm>
            <a:off x="533400" y="1200150"/>
            <a:ext cx="8142288" cy="3784600"/>
          </a:xfrm>
          <a:prstGeom prst="rect">
            <a:avLst/>
          </a:prstGeom>
          <a:noFill/>
          <a:ln w="9525">
            <a:noFill/>
          </a:ln>
        </p:spPr>
        <p:txBody>
          <a:bodyPr wrap="square" anchor="t" anchorCtr="0">
            <a:spAutoFit/>
          </a:bodyPr>
          <a:p>
            <a:r>
              <a:rPr lang="zh-CN" altLang="en-US" sz="2400">
                <a:latin typeface="微软雅黑" panose="020B0503020204020204" pitchFamily="34" charset="-122"/>
                <a:ea typeface="微软雅黑" panose="020B0503020204020204" pitchFamily="34" charset="-122"/>
              </a:rPr>
              <a:t>Boosting</a:t>
            </a:r>
            <a:r>
              <a:rPr lang="zh-CN" altLang="en-US" sz="2400" b="0">
                <a:latin typeface="微软雅黑" panose="020B0503020204020204" pitchFamily="34" charset="-122"/>
                <a:ea typeface="微软雅黑" panose="020B0503020204020204" pitchFamily="34" charset="-122"/>
              </a:rPr>
              <a:t>是一族可将弱学习器升为强学习器算法。这类算法的工作机制类似，步骤如下：</a:t>
            </a:r>
            <a:endParaRPr lang="zh-CN" altLang="en-US" sz="2400" b="0">
              <a:latin typeface="微软雅黑" panose="020B0503020204020204" pitchFamily="34" charset="-122"/>
              <a:ea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（1）先从初始训练集训练出一个基学习器</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（2）在根据基学习器的表现对训练样本分布进行调整，使得先前基学习器做错的训练样本在后续得到最大的关注。</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（3）然后基于调整后的样本分布来训练下一个基学习器；</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（3）如此重复进行，直至基学习器数目达到实现指定的值T为止。</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（4 ）再将这T个基学习器进行加权结合得到集成学习器。</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7649" name="图片 2"/>
          <p:cNvPicPr>
            <a:picLocks noChangeAspect="1"/>
          </p:cNvPicPr>
          <p:nvPr/>
        </p:nvPicPr>
        <p:blipFill>
          <a:blip r:embed="rId1"/>
          <a:stretch>
            <a:fillRect/>
          </a:stretch>
        </p:blipFill>
        <p:spPr>
          <a:xfrm>
            <a:off x="766763" y="1368425"/>
            <a:ext cx="7610475" cy="4624388"/>
          </a:xfrm>
          <a:prstGeom prst="rect">
            <a:avLst/>
          </a:prstGeom>
          <a:noFill/>
          <a:ln w="9525">
            <a:noFill/>
          </a:ln>
        </p:spPr>
      </p:pic>
      <p:sp>
        <p:nvSpPr>
          <p:cNvPr id="27650" name="Rectangle 6"/>
          <p:cNvSpPr/>
          <p:nvPr/>
        </p:nvSpPr>
        <p:spPr>
          <a:xfrm>
            <a:off x="533400" y="793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集成学习</a:t>
            </a:r>
            <a:endParaRPr lang="zh-CN" altLang="en-US" dirty="0">
              <a:latin typeface="微软雅黑" panose="020B0503020204020204" pitchFamily="34" charset="-122"/>
              <a:ea typeface="微软雅黑" panose="020B0503020204020204" pitchFamily="34" charset="-122"/>
            </a:endParaRPr>
          </a:p>
        </p:txBody>
      </p:sp>
      <p:sp>
        <p:nvSpPr>
          <p:cNvPr id="27651" name="Rectangle 2"/>
          <p:cNvSpPr>
            <a:spLocks noGrp="1"/>
          </p:cNvSpPr>
          <p:nvPr/>
        </p:nvSpPr>
        <p:spPr>
          <a:xfrm>
            <a:off x="476250" y="450850"/>
            <a:ext cx="5121275"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Boosting族</a:t>
            </a:r>
            <a:r>
              <a:rPr lang="en-US" altLang="zh-CN" sz="2400">
                <a:latin typeface="微软雅黑" panose="020B0503020204020204" pitchFamily="34" charset="-122"/>
                <a:ea typeface="微软雅黑" panose="020B0503020204020204" pitchFamily="34" charset="-122"/>
                <a:sym typeface="宋体" panose="02010600030101010101" pitchFamily="2" charset="-122"/>
              </a:rPr>
              <a:t>—</a:t>
            </a:r>
            <a:r>
              <a:rPr lang="zh-CN" altLang="en-US" sz="2400">
                <a:latin typeface="微软雅黑" panose="020B0503020204020204" pitchFamily="34" charset="-122"/>
                <a:ea typeface="微软雅黑" panose="020B0503020204020204" pitchFamily="34" charset="-122"/>
                <a:sym typeface="宋体" panose="02010600030101010101" pitchFamily="2" charset="-122"/>
              </a:rPr>
              <a:t>Boosting方法</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6"/>
          <p:cNvSpPr/>
          <p:nvPr/>
        </p:nvSpPr>
        <p:spPr>
          <a:xfrm>
            <a:off x="533400" y="793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集成学习</a:t>
            </a:r>
            <a:endParaRPr lang="zh-CN" altLang="en-US" dirty="0">
              <a:latin typeface="微软雅黑" panose="020B0503020204020204" pitchFamily="34" charset="-122"/>
              <a:ea typeface="微软雅黑" panose="020B0503020204020204" pitchFamily="34" charset="-122"/>
            </a:endParaRPr>
          </a:p>
        </p:txBody>
      </p:sp>
      <p:sp>
        <p:nvSpPr>
          <p:cNvPr id="28674" name="Rectangle 2"/>
          <p:cNvSpPr>
            <a:spLocks noGrp="1"/>
          </p:cNvSpPr>
          <p:nvPr/>
        </p:nvSpPr>
        <p:spPr>
          <a:xfrm>
            <a:off x="476250" y="450850"/>
            <a:ext cx="5121275"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Boosting族</a:t>
            </a:r>
            <a:r>
              <a:rPr lang="en-US" altLang="zh-CN" sz="2400">
                <a:latin typeface="微软雅黑" panose="020B0503020204020204" pitchFamily="34" charset="-122"/>
                <a:ea typeface="微软雅黑" panose="020B0503020204020204" pitchFamily="34" charset="-122"/>
                <a:sym typeface="宋体" panose="02010600030101010101" pitchFamily="2" charset="-122"/>
              </a:rPr>
              <a:t>—</a:t>
            </a:r>
            <a:r>
              <a:rPr lang="zh-CN" altLang="en-US" sz="2400">
                <a:latin typeface="微软雅黑" panose="020B0503020204020204" pitchFamily="34" charset="-122"/>
                <a:ea typeface="微软雅黑" panose="020B0503020204020204" pitchFamily="34" charset="-122"/>
                <a:sym typeface="宋体" panose="02010600030101010101" pitchFamily="2" charset="-122"/>
              </a:rPr>
              <a:t>Boosting方法</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28675" name="文本框 2"/>
          <p:cNvSpPr txBox="1"/>
          <p:nvPr/>
        </p:nvSpPr>
        <p:spPr>
          <a:xfrm>
            <a:off x="476250" y="1057275"/>
            <a:ext cx="8086725" cy="4892675"/>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关于Boosting的两个核心问题：</a:t>
            </a:r>
            <a:endParaRPr lang="zh-CN" altLang="en-US" sz="2400" b="0">
              <a:latin typeface="微软雅黑" panose="020B0503020204020204" pitchFamily="34" charset="-122"/>
              <a:ea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a:t>
            </a:r>
            <a:r>
              <a:rPr lang="en-US" altLang="zh-CN" sz="2400" b="0">
                <a:latin typeface="微软雅黑" panose="020B0503020204020204" pitchFamily="34" charset="-122"/>
                <a:ea typeface="微软雅黑" panose="020B0503020204020204" pitchFamily="34" charset="-122"/>
              </a:rPr>
              <a:t>1</a:t>
            </a:r>
            <a:r>
              <a:rPr lang="zh-CN" altLang="en-US" sz="2400" b="0">
                <a:latin typeface="微软雅黑" panose="020B0503020204020204" pitchFamily="34" charset="-122"/>
                <a:ea typeface="微软雅黑" panose="020B0503020204020204" pitchFamily="34" charset="-122"/>
              </a:rPr>
              <a:t>）在每一轮如何改变训练数据的权值或概率分布？</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通过提高那些在前一轮被弱分类器分错样例的权值，减小前一轮分对样例的权值，来使得分类器对误分的数据有较好的效果。</a:t>
            </a:r>
            <a:endParaRPr lang="zh-CN" altLang="en-US" sz="2400" b="0">
              <a:latin typeface="微软雅黑" panose="020B0503020204020204" pitchFamily="34" charset="-122"/>
              <a:ea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a:t>
            </a:r>
            <a:r>
              <a:rPr lang="en-US" altLang="zh-CN" sz="2400" b="0">
                <a:latin typeface="微软雅黑" panose="020B0503020204020204" pitchFamily="34" charset="-122"/>
                <a:ea typeface="微软雅黑" panose="020B0503020204020204" pitchFamily="34" charset="-122"/>
              </a:rPr>
              <a:t>2</a:t>
            </a:r>
            <a:r>
              <a:rPr lang="zh-CN" altLang="en-US" sz="2400" b="0">
                <a:latin typeface="微软雅黑" panose="020B0503020204020204" pitchFamily="34" charset="-122"/>
                <a:ea typeface="微软雅黑" panose="020B0503020204020204" pitchFamily="34" charset="-122"/>
              </a:rPr>
              <a:t>）通过什么方式来组合弱分类器？</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通过加法模型将弱分类器进行线性组合，比如AdaBoost通过加权多数表决的方式，即增大错误率小的分类器的权值，同时减小错误率较大的分类器的权值。</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而提升树通过拟合残差的方式逐步减小残差，将每一步生成的模型叠加得到最终模型。</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Rectangle 6"/>
          <p:cNvSpPr/>
          <p:nvPr/>
        </p:nvSpPr>
        <p:spPr>
          <a:xfrm>
            <a:off x="533400" y="793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集成学习</a:t>
            </a:r>
            <a:endParaRPr lang="zh-CN" altLang="en-US" dirty="0">
              <a:latin typeface="微软雅黑" panose="020B0503020204020204" pitchFamily="34" charset="-122"/>
              <a:ea typeface="微软雅黑" panose="020B0503020204020204" pitchFamily="34" charset="-122"/>
            </a:endParaRPr>
          </a:p>
        </p:txBody>
      </p:sp>
      <p:sp>
        <p:nvSpPr>
          <p:cNvPr id="29698" name="Rectangle 2"/>
          <p:cNvSpPr>
            <a:spLocks noGrp="1"/>
          </p:cNvSpPr>
          <p:nvPr/>
        </p:nvSpPr>
        <p:spPr>
          <a:xfrm>
            <a:off x="476250" y="450850"/>
            <a:ext cx="5121275"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Boosting族</a:t>
            </a:r>
            <a:r>
              <a:rPr lang="en-US" altLang="zh-CN" sz="2400">
                <a:latin typeface="微软雅黑" panose="020B0503020204020204" pitchFamily="34" charset="-122"/>
                <a:ea typeface="微软雅黑" panose="020B0503020204020204" pitchFamily="34" charset="-122"/>
                <a:sym typeface="宋体" panose="02010600030101010101" pitchFamily="2" charset="-122"/>
              </a:rPr>
              <a:t>—AdaBoost</a:t>
            </a:r>
            <a:r>
              <a:rPr lang="zh-CN" altLang="en-US" sz="2400">
                <a:latin typeface="微软雅黑" panose="020B0503020204020204" pitchFamily="34" charset="-122"/>
                <a:ea typeface="微软雅黑" panose="020B0503020204020204" pitchFamily="34" charset="-122"/>
                <a:sym typeface="宋体" panose="02010600030101010101" pitchFamily="2" charset="-122"/>
              </a:rPr>
              <a:t>算法</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29699" name="文本框 2"/>
          <p:cNvSpPr txBox="1"/>
          <p:nvPr/>
        </p:nvSpPr>
        <p:spPr>
          <a:xfrm>
            <a:off x="476250" y="1079500"/>
            <a:ext cx="8064500" cy="5446395"/>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Adaboost 全称是adaptive boosting。</a:t>
            </a:r>
            <a:r>
              <a:rPr lang="zh-CN" altLang="en-US" sz="2400" b="0">
                <a:latin typeface="微软雅黑" panose="020B0503020204020204" pitchFamily="34" charset="-122"/>
                <a:ea typeface="微软雅黑" panose="020B0503020204020204" pitchFamily="34" charset="-122"/>
              </a:rPr>
              <a:t> 曾被称为数据挖掘十大算法之一。Adaboost是一种基于boost思想的一种自适应的迭代式算法。通过在同一个训练数据集上训练多个弱分类器(weak classifier)， 然后把这一组弱分类器ens</a:t>
            </a:r>
            <a:r>
              <a:rPr lang="en-US" altLang="zh-CN" sz="2400" b="0">
                <a:latin typeface="微软雅黑" panose="020B0503020204020204" pitchFamily="34" charset="-122"/>
                <a:ea typeface="微软雅黑" panose="020B0503020204020204" pitchFamily="34" charset="-122"/>
              </a:rPr>
              <a:t>e</a:t>
            </a:r>
            <a:r>
              <a:rPr lang="zh-CN" altLang="en-US" sz="2400" b="0">
                <a:latin typeface="微软雅黑" panose="020B0503020204020204" pitchFamily="34" charset="-122"/>
                <a:ea typeface="微软雅黑" panose="020B0503020204020204" pitchFamily="34" charset="-122"/>
              </a:rPr>
              <a:t>mble起来， 产生一个强分类器（strong classifier）。</a:t>
            </a:r>
            <a:endParaRPr lang="zh-CN" altLang="en-US" sz="2400" b="0">
              <a:latin typeface="微软雅黑" panose="020B0503020204020204" pitchFamily="34" charset="-122"/>
              <a:ea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a:t>
            </a:r>
            <a:r>
              <a:rPr lang="en-US" altLang="zh-CN" sz="2000" b="0">
                <a:latin typeface="微软雅黑" panose="020B0503020204020204" pitchFamily="34" charset="-122"/>
                <a:ea typeface="微软雅黑" panose="020B0503020204020204" pitchFamily="34" charset="-122"/>
              </a:rPr>
              <a:t>1</a:t>
            </a:r>
            <a:r>
              <a:rPr lang="zh-CN" altLang="en-US" sz="2000" b="0">
                <a:latin typeface="微软雅黑" panose="020B0503020204020204" pitchFamily="34" charset="-122"/>
                <a:ea typeface="微软雅黑" panose="020B0503020204020204" pitchFamily="34" charset="-122"/>
              </a:rPr>
              <a:t>）Adaboost的自适应在于：最开始， 所有的训练样本具有相同权   重。  被前一个分类器分错的样本会被用于训练下一个分类器， 即提高这个分错的样本被选中进入下一个弱分类器选中的概率， 分对的样本被选中的概率会被降低。 </a:t>
            </a:r>
            <a:endParaRPr lang="zh-CN" altLang="en-US" sz="20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a:t>
            </a:r>
            <a:r>
              <a:rPr lang="en-US" altLang="zh-CN" sz="2000" b="0">
                <a:latin typeface="微软雅黑" panose="020B0503020204020204" pitchFamily="34" charset="-122"/>
                <a:ea typeface="微软雅黑" panose="020B0503020204020204" pitchFamily="34" charset="-122"/>
              </a:rPr>
              <a:t>2</a:t>
            </a:r>
            <a:r>
              <a:rPr lang="zh-CN" altLang="en-US" sz="2000" b="0">
                <a:latin typeface="微软雅黑" panose="020B0503020204020204" pitchFamily="34" charset="-122"/>
                <a:ea typeface="微软雅黑" panose="020B0503020204020204" pitchFamily="34" charset="-122"/>
              </a:rPr>
              <a:t>）Adaboos</a:t>
            </a:r>
            <a:r>
              <a:rPr lang="en-US" altLang="zh-CN" sz="2000" b="0">
                <a:latin typeface="微软雅黑" panose="020B0503020204020204" pitchFamily="34" charset="-122"/>
                <a:ea typeface="微软雅黑" panose="020B0503020204020204" pitchFamily="34" charset="-122"/>
              </a:rPr>
              <a:t>t</a:t>
            </a:r>
            <a:r>
              <a:rPr lang="zh-CN" altLang="en-US" sz="2000" b="0">
                <a:latin typeface="微软雅黑" panose="020B0503020204020204" pitchFamily="34" charset="-122"/>
                <a:ea typeface="微软雅黑" panose="020B0503020204020204" pitchFamily="34" charset="-122"/>
              </a:rPr>
              <a:t>使用的弱分类器的分类效果只要比random guess(正确率为0.5)好可以了。 究竟正确率为多少， 不管， 只要大于0.5就好了。 最终， 我们会得到一个较好的模型。 对于错误率高于0.5的弱分类器也是有用的。  因为最终得到的多个弱分类器进行线性叠加的时候， 可以赋给它们系数， 同样也能提升分类效果。</a:t>
            </a:r>
            <a:endParaRPr lang="zh-CN" altLang="en-US" sz="2000" b="0">
              <a:latin typeface="微软雅黑" panose="020B0503020204020204" pitchFamily="34" charset="-122"/>
              <a:ea typeface="微软雅黑" panose="020B0503020204020204" pitchFamily="3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6"/>
          <p:cNvSpPr/>
          <p:nvPr/>
        </p:nvSpPr>
        <p:spPr>
          <a:xfrm>
            <a:off x="533400" y="793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集成学习</a:t>
            </a:r>
            <a:endParaRPr lang="zh-CN" altLang="en-US" dirty="0">
              <a:latin typeface="微软雅黑" panose="020B0503020204020204" pitchFamily="34" charset="-122"/>
              <a:ea typeface="微软雅黑" panose="020B0503020204020204" pitchFamily="34" charset="-122"/>
            </a:endParaRPr>
          </a:p>
        </p:txBody>
      </p:sp>
      <p:sp>
        <p:nvSpPr>
          <p:cNvPr id="30722" name="Rectangle 2"/>
          <p:cNvSpPr>
            <a:spLocks noGrp="1"/>
          </p:cNvSpPr>
          <p:nvPr/>
        </p:nvSpPr>
        <p:spPr>
          <a:xfrm>
            <a:off x="476250" y="450850"/>
            <a:ext cx="5121275"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Boosting族</a:t>
            </a:r>
            <a:r>
              <a:rPr lang="en-US" altLang="zh-CN" sz="2400">
                <a:latin typeface="微软雅黑" panose="020B0503020204020204" pitchFamily="34" charset="-122"/>
                <a:ea typeface="微软雅黑" panose="020B0503020204020204" pitchFamily="34" charset="-122"/>
                <a:sym typeface="宋体" panose="02010600030101010101" pitchFamily="2" charset="-122"/>
              </a:rPr>
              <a:t>—AdaBoost</a:t>
            </a:r>
            <a:r>
              <a:rPr lang="zh-CN" altLang="en-US" sz="2400">
                <a:latin typeface="微软雅黑" panose="020B0503020204020204" pitchFamily="34" charset="-122"/>
                <a:ea typeface="微软雅黑" panose="020B0503020204020204" pitchFamily="34" charset="-122"/>
                <a:sym typeface="宋体" panose="02010600030101010101" pitchFamily="2" charset="-122"/>
              </a:rPr>
              <a:t>算法</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30723" name="文本框 2"/>
          <p:cNvSpPr txBox="1"/>
          <p:nvPr/>
        </p:nvSpPr>
        <p:spPr>
          <a:xfrm>
            <a:off x="533400" y="998538"/>
            <a:ext cx="8101013" cy="5262562"/>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 </a:t>
            </a:r>
            <a:r>
              <a:rPr lang="en-US" altLang="zh-CN" sz="2400" b="0">
                <a:latin typeface="微软雅黑" panose="020B0503020204020204" pitchFamily="34" charset="-122"/>
                <a:ea typeface="微软雅黑" panose="020B0503020204020204" pitchFamily="34" charset="-122"/>
              </a:rPr>
              <a:t>AdaBoost</a:t>
            </a:r>
            <a:r>
              <a:rPr lang="zh-CN" altLang="en-US" sz="2400" b="0">
                <a:latin typeface="微软雅黑" panose="020B0503020204020204" pitchFamily="34" charset="-122"/>
                <a:ea typeface="微软雅黑" panose="020B0503020204020204" pitchFamily="34" charset="-122"/>
              </a:rPr>
              <a:t>算法优点</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(1)  具有较低的泛化误差（low generalization）</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(2)  改善了分类器的分类正确率</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(3) 可以将这个算法配合多个分类算法使用。 例如， 我们可以选择C4.5， CART， SVM, 贝叶斯分类器, 或者decision stump等作为我们的弱分类器。</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(4)容易coding</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(5)不容易出现overfiting(过拟合)现象</a:t>
            </a:r>
            <a:endParaRPr lang="zh-CN" altLang="en-US" sz="2400" b="0">
              <a:latin typeface="微软雅黑" panose="020B0503020204020204" pitchFamily="34" charset="-122"/>
              <a:ea typeface="微软雅黑" panose="020B0503020204020204" pitchFamily="34" charset="-122"/>
            </a:endParaRPr>
          </a:p>
          <a:p>
            <a:endParaRPr lang="en-US" altLang="zh-CN" sz="2400" b="0">
              <a:latin typeface="微软雅黑" panose="020B0503020204020204" pitchFamily="34" charset="-122"/>
              <a:ea typeface="微软雅黑" panose="020B0503020204020204" pitchFamily="34" charset="-122"/>
            </a:endParaRPr>
          </a:p>
          <a:p>
            <a:r>
              <a:rPr lang="en-US" altLang="zh-CN" sz="2400" b="0">
                <a:latin typeface="微软雅黑" panose="020B0503020204020204" pitchFamily="34" charset="-122"/>
                <a:ea typeface="微软雅黑" panose="020B0503020204020204" pitchFamily="34" charset="-122"/>
              </a:rPr>
              <a:t>AdaBoost</a:t>
            </a:r>
            <a:r>
              <a:rPr lang="zh-CN" altLang="en-US" sz="2400" b="0">
                <a:latin typeface="微软雅黑" panose="020B0503020204020204" pitchFamily="34" charset="-122"/>
                <a:ea typeface="微软雅黑" panose="020B0503020204020204" pitchFamily="34" charset="-122"/>
              </a:rPr>
              <a:t>算法缺点</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对outliers（异常点）非常的sensitive。  因为异常点容易分错， 会逐级影响后面的产生的弱分类器。</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Adaboost每一轮迭代的时候都会训练一个新的弱分类器。 直至达到某个预定的足够小的错误率。 </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Rectangle 6"/>
          <p:cNvSpPr/>
          <p:nvPr/>
        </p:nvSpPr>
        <p:spPr>
          <a:xfrm>
            <a:off x="533400" y="793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集成学习</a:t>
            </a:r>
            <a:endParaRPr lang="zh-CN" altLang="en-US" dirty="0">
              <a:latin typeface="微软雅黑" panose="020B0503020204020204" pitchFamily="34" charset="-122"/>
              <a:ea typeface="微软雅黑" panose="020B0503020204020204" pitchFamily="34" charset="-122"/>
            </a:endParaRPr>
          </a:p>
        </p:txBody>
      </p:sp>
      <p:sp>
        <p:nvSpPr>
          <p:cNvPr id="31746" name="Rectangle 2"/>
          <p:cNvSpPr>
            <a:spLocks noGrp="1"/>
          </p:cNvSpPr>
          <p:nvPr/>
        </p:nvSpPr>
        <p:spPr>
          <a:xfrm>
            <a:off x="476250" y="450850"/>
            <a:ext cx="5705475"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Boosting族方法与</a:t>
            </a:r>
            <a:r>
              <a:rPr lang="en-US" altLang="zh-CN" sz="2400">
                <a:latin typeface="微软雅黑" panose="020B0503020204020204" pitchFamily="34" charset="-122"/>
                <a:ea typeface="微软雅黑" panose="020B0503020204020204" pitchFamily="34" charset="-122"/>
                <a:sym typeface="宋体" panose="02010600030101010101" pitchFamily="2" charset="-122"/>
              </a:rPr>
              <a:t>Bagging</a:t>
            </a:r>
            <a:r>
              <a:rPr lang="zh-CN" altLang="en-US" sz="2400">
                <a:latin typeface="微软雅黑" panose="020B0503020204020204" pitchFamily="34" charset="-122"/>
                <a:ea typeface="微软雅黑" panose="020B0503020204020204" pitchFamily="34" charset="-122"/>
                <a:sym typeface="宋体" panose="02010600030101010101" pitchFamily="2" charset="-122"/>
              </a:rPr>
              <a:t>族方法对比</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31747" name="文本框 2"/>
          <p:cNvSpPr txBox="1"/>
          <p:nvPr/>
        </p:nvSpPr>
        <p:spPr>
          <a:xfrm>
            <a:off x="476250" y="969963"/>
            <a:ext cx="8048625" cy="5322887"/>
          </a:xfrm>
          <a:prstGeom prst="rect">
            <a:avLst/>
          </a:prstGeom>
          <a:noFill/>
          <a:ln w="9525">
            <a:noFill/>
          </a:ln>
        </p:spPr>
        <p:txBody>
          <a:bodyPr wrap="square" anchor="t" anchorCtr="0">
            <a:spAutoFit/>
          </a:bodyPr>
          <a:p>
            <a:r>
              <a:rPr lang="zh-CN" altLang="en-US" sz="2000">
                <a:latin typeface="微软雅黑" panose="020B0503020204020204" pitchFamily="34" charset="-122"/>
                <a:ea typeface="微软雅黑" panose="020B0503020204020204" pitchFamily="34" charset="-122"/>
              </a:rPr>
              <a:t> Bagging和Boosting的区别</a:t>
            </a:r>
            <a:endParaRPr lang="zh-CN" altLang="en-US" sz="20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1）样本选择上：</a:t>
            </a:r>
            <a:endParaRPr lang="zh-CN" altLang="en-US" sz="20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Bagging：训练集是在原始集中有放回选取的，从原始集中选出的各轮训练集之间是独立的。</a:t>
            </a:r>
            <a:endParaRPr lang="zh-CN" altLang="en-US" sz="20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Boosting：每一轮的训练集不变，只是训练集中每个样例在分类器中的权重发生变化。而权值是根据上一轮的分类结果进行调整。</a:t>
            </a:r>
            <a:endParaRPr lang="zh-CN" altLang="en-US" sz="20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2）样例权重：</a:t>
            </a:r>
            <a:endParaRPr lang="zh-CN" altLang="en-US" sz="20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Bagging：使用均匀取样，每个样例的权重相等</a:t>
            </a:r>
            <a:endParaRPr lang="zh-CN" altLang="en-US" sz="20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Boosting：根据错误率不断调整样例的权值，错误率越大则权重越大。</a:t>
            </a:r>
            <a:endParaRPr lang="zh-CN" altLang="en-US" sz="20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3）预测函数：</a:t>
            </a:r>
            <a:endParaRPr lang="zh-CN" altLang="en-US" sz="20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Bagging：所有预测函数的权重相等。</a:t>
            </a:r>
            <a:endParaRPr lang="zh-CN" altLang="en-US" sz="20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Boosting：每个弱分类器都有相应的权重，对于分类误差小的分类器会有更大的权重。</a:t>
            </a:r>
            <a:endParaRPr lang="zh-CN" altLang="en-US" sz="20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4）并行计算：</a:t>
            </a:r>
            <a:endParaRPr lang="zh-CN" altLang="en-US" sz="20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Bagging：各个预测函数可以并行生成</a:t>
            </a:r>
            <a:endParaRPr lang="zh-CN" altLang="en-US" sz="20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Boosting：各个预测函数只能顺序生成，因为后一个模型参数需要前一轮模型的结果。</a:t>
            </a:r>
            <a:endParaRPr lang="zh-CN" altLang="en-US" sz="2000" b="0">
              <a:latin typeface="微软雅黑" panose="020B0503020204020204" pitchFamily="34" charset="-122"/>
              <a:ea typeface="微软雅黑" panose="020B0503020204020204"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Rectangle 6"/>
          <p:cNvSpPr/>
          <p:nvPr/>
        </p:nvSpPr>
        <p:spPr>
          <a:xfrm>
            <a:off x="533400" y="793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集成学习</a:t>
            </a:r>
            <a:endParaRPr lang="zh-CN" altLang="en-US" dirty="0">
              <a:latin typeface="微软雅黑" panose="020B0503020204020204" pitchFamily="34" charset="-122"/>
              <a:ea typeface="微软雅黑" panose="020B0503020204020204" pitchFamily="34" charset="-122"/>
            </a:endParaRPr>
          </a:p>
        </p:txBody>
      </p:sp>
      <p:sp>
        <p:nvSpPr>
          <p:cNvPr id="32770" name="Rectangle 2"/>
          <p:cNvSpPr>
            <a:spLocks noGrp="1"/>
          </p:cNvSpPr>
          <p:nvPr/>
        </p:nvSpPr>
        <p:spPr>
          <a:xfrm>
            <a:off x="476250" y="450850"/>
            <a:ext cx="5957888"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Boosting族方法与</a:t>
            </a:r>
            <a:r>
              <a:rPr lang="en-US" altLang="zh-CN" sz="2400">
                <a:latin typeface="微软雅黑" panose="020B0503020204020204" pitchFamily="34" charset="-122"/>
                <a:ea typeface="微软雅黑" panose="020B0503020204020204" pitchFamily="34" charset="-122"/>
                <a:sym typeface="宋体" panose="02010600030101010101" pitchFamily="2" charset="-122"/>
              </a:rPr>
              <a:t>Bagging</a:t>
            </a:r>
            <a:r>
              <a:rPr lang="zh-CN" altLang="en-US" sz="2400">
                <a:latin typeface="微软雅黑" panose="020B0503020204020204" pitchFamily="34" charset="-122"/>
                <a:ea typeface="微软雅黑" panose="020B0503020204020204" pitchFamily="34" charset="-122"/>
                <a:sym typeface="宋体" panose="02010600030101010101" pitchFamily="2" charset="-122"/>
              </a:rPr>
              <a:t>族方法对比</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32771" name="文本框 2"/>
          <p:cNvSpPr txBox="1"/>
          <p:nvPr/>
        </p:nvSpPr>
        <p:spPr>
          <a:xfrm>
            <a:off x="536575" y="1050925"/>
            <a:ext cx="8070850" cy="3784600"/>
          </a:xfrm>
          <a:prstGeom prst="rect">
            <a:avLst/>
          </a:prstGeom>
          <a:noFill/>
          <a:ln w="9525">
            <a:noFill/>
          </a:ln>
        </p:spPr>
        <p:txBody>
          <a:bodyPr wrap="square" anchor="t" anchorCtr="0">
            <a:spAutoFit/>
          </a:bodyPr>
          <a:p>
            <a:r>
              <a:rPr lang="zh-CN" altLang="en-US" sz="2400">
                <a:latin typeface="微软雅黑" panose="020B0503020204020204" pitchFamily="34" charset="-122"/>
                <a:ea typeface="微软雅黑" panose="020B0503020204020204" pitchFamily="34" charset="-122"/>
              </a:rPr>
              <a:t>总结 </a:t>
            </a:r>
            <a:endParaRPr lang="zh-CN" altLang="en-US" sz="240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这两种方法都是把若干个分类器整合为一个分类器的方法，只是整合的方式不一样，最终得到不一样的效果，将不同的分类算法套入到此类算法框架中一定程度上会提高了原单一分类器的分类效果，但是也增大了计算量。</a:t>
            </a:r>
            <a:endParaRPr lang="zh-CN" altLang="en-US" sz="2400" b="0">
              <a:latin typeface="微软雅黑" panose="020B0503020204020204" pitchFamily="34" charset="-122"/>
              <a:ea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决策树与这些算法框架进行结合所得到的新的算法：</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1）Bagging + 决策树 = 随机森林</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2）AdaBoost + 决策树 = 提升树</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3）Gradient Boosting + 决策树 = GBDT</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7"/>
          <p:cNvSpPr>
            <a:spLocks noChangeArrowheads="1"/>
          </p:cNvSpPr>
          <p:nvPr/>
        </p:nvSpPr>
        <p:spPr bwMode="auto">
          <a:xfrm>
            <a:off x="533400" y="1020763"/>
            <a:ext cx="7740650"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1. </a:t>
            </a:r>
            <a:r>
              <a:rPr kumimoji="1" lang="zh-CN" altLang="en-US"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阅读资料，了解集成学习相关算法</a:t>
            </a:r>
            <a:endParaRPr kumimoji="1" lang="zh-CN" altLang="en-US"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https://blog.csdn.net/liulina603/article/details/78742614</a:t>
            </a:r>
            <a:endPar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https://blog.csdn.net/zaishijizhidian/article/details/88066882</a:t>
            </a:r>
            <a:endPar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https://blog.csdn.net/yangyin007/article/details/82385967</a:t>
            </a:r>
            <a:endPar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33794" name="Rectangle 6"/>
          <p:cNvSpPr/>
          <p:nvPr/>
        </p:nvSpPr>
        <p:spPr>
          <a:xfrm>
            <a:off x="533400" y="152400"/>
            <a:ext cx="55927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sz="3200" dirty="0">
                <a:latin typeface="微软雅黑" panose="020B0503020204020204" pitchFamily="34" charset="-122"/>
                <a:ea typeface="微软雅黑" panose="020B0503020204020204" pitchFamily="34" charset="-122"/>
              </a:rPr>
              <a:t>作业</a:t>
            </a:r>
            <a:endParaRPr lang="zh-CN" altLang="en-US" sz="3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Rectangle 6"/>
          <p:cNvSpPr/>
          <p:nvPr/>
        </p:nvSpPr>
        <p:spPr>
          <a:xfrm>
            <a:off x="1606550" y="2541588"/>
            <a:ext cx="5386388" cy="1014412"/>
          </a:xfrm>
          <a:prstGeom prst="rect">
            <a:avLst/>
          </a:prstGeom>
          <a:noFill/>
          <a:ln w="9525">
            <a:noFill/>
          </a:ln>
        </p:spPr>
        <p:txBody>
          <a:bodyPr anchor="ctr" anchorCtr="0"/>
          <a:p>
            <a:pPr algn="ctr">
              <a:buClr>
                <a:schemeClr val="accent1"/>
              </a:buClr>
              <a:buFont typeface="Wingdings" panose="05000000000000000000" pitchFamily="2" charset="2"/>
            </a:pPr>
            <a:r>
              <a:rPr lang="zh-CN" altLang="en-US" sz="4400" dirty="0">
                <a:latin typeface="微软雅黑" panose="020B0503020204020204" pitchFamily="34" charset="-122"/>
                <a:ea typeface="微软雅黑" panose="020B0503020204020204" pitchFamily="34" charset="-122"/>
              </a:rPr>
              <a:t>强 化 学 习</a:t>
            </a:r>
            <a:endParaRPr lang="zh-CN" altLang="en-US" sz="4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强化学习</a:t>
            </a:r>
            <a:endParaRPr lang="zh-CN" altLang="en-US" dirty="0">
              <a:latin typeface="微软雅黑" panose="020B0503020204020204" pitchFamily="34" charset="-122"/>
              <a:ea typeface="微软雅黑" panose="020B0503020204020204" pitchFamily="34" charset="-122"/>
            </a:endParaRPr>
          </a:p>
        </p:txBody>
      </p:sp>
      <p:sp>
        <p:nvSpPr>
          <p:cNvPr id="35842" name="Rectangle 2"/>
          <p:cNvSpPr>
            <a:spLocks noGrp="1"/>
          </p:cNvSpPr>
          <p:nvPr/>
        </p:nvSpPr>
        <p:spPr>
          <a:xfrm>
            <a:off x="476250" y="450850"/>
            <a:ext cx="5705475"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简介</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35843" name="文本框 2"/>
          <p:cNvSpPr txBox="1"/>
          <p:nvPr/>
        </p:nvSpPr>
        <p:spPr>
          <a:xfrm>
            <a:off x="476250" y="1058863"/>
            <a:ext cx="8001000" cy="1938337"/>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强化学习是机器学习中的一个领域，强调如何基于环境而行动，以取得最大化的预期利益。其灵感来源于心理学中的行为主义理论，即有机体如何在环境给予的奖励或惩罚的刺激下，逐步形成对刺激的预期，产生能获得最大利益的习惯性行为。</a:t>
            </a:r>
            <a:endParaRPr lang="zh-CN" altLang="en-US" sz="2400" b="0">
              <a:latin typeface="微软雅黑" panose="020B0503020204020204" pitchFamily="34" charset="-122"/>
              <a:ea typeface="微软雅黑" panose="020B0503020204020204" pitchFamily="34" charset="-122"/>
            </a:endParaRPr>
          </a:p>
        </p:txBody>
      </p:sp>
      <p:pic>
        <p:nvPicPr>
          <p:cNvPr id="35844" name="图片 3"/>
          <p:cNvPicPr>
            <a:picLocks noChangeAspect="1"/>
          </p:cNvPicPr>
          <p:nvPr/>
        </p:nvPicPr>
        <p:blipFill>
          <a:blip r:embed="rId1"/>
          <a:stretch>
            <a:fillRect/>
          </a:stretch>
        </p:blipFill>
        <p:spPr>
          <a:xfrm>
            <a:off x="2820988" y="2997200"/>
            <a:ext cx="3028950" cy="3373438"/>
          </a:xfrm>
          <a:prstGeom prst="rect">
            <a:avLst/>
          </a:prstGeom>
          <a:noFill/>
          <a:ln w="9525">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强化学习</a:t>
            </a:r>
            <a:endParaRPr lang="zh-CN" altLang="en-US" dirty="0">
              <a:latin typeface="微软雅黑" panose="020B0503020204020204" pitchFamily="34" charset="-122"/>
              <a:ea typeface="微软雅黑" panose="020B0503020204020204" pitchFamily="34" charset="-122"/>
            </a:endParaRPr>
          </a:p>
        </p:txBody>
      </p:sp>
      <p:sp>
        <p:nvSpPr>
          <p:cNvPr id="36866" name="Rectangle 2"/>
          <p:cNvSpPr>
            <a:spLocks noGrp="1"/>
          </p:cNvSpPr>
          <p:nvPr/>
        </p:nvSpPr>
        <p:spPr>
          <a:xfrm>
            <a:off x="476250" y="450850"/>
            <a:ext cx="5705475"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简介</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36867" name="文本框 4"/>
          <p:cNvSpPr txBox="1"/>
          <p:nvPr/>
        </p:nvSpPr>
        <p:spPr>
          <a:xfrm>
            <a:off x="544513" y="1144588"/>
            <a:ext cx="8054975" cy="1568450"/>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强化学习最早可以追溯到巴甫洛夫的条件反射实验，它从动物行为研究和优化控制两个领域独立发展，最终经Bellman之手将其抽象为马尔可夫决策过程 (Markov Decision Process，MDP)</a:t>
            </a:r>
            <a:endParaRPr lang="zh-CN" altLang="en-US" sz="2400" b="0">
              <a:latin typeface="微软雅黑" panose="020B0503020204020204" pitchFamily="34" charset="-122"/>
              <a:ea typeface="微软雅黑" panose="020B0503020204020204" pitchFamily="34" charset="-122"/>
            </a:endParaRPr>
          </a:p>
        </p:txBody>
      </p:sp>
      <p:pic>
        <p:nvPicPr>
          <p:cNvPr id="36868" name="图片 3"/>
          <p:cNvPicPr>
            <a:picLocks noChangeAspect="1"/>
          </p:cNvPicPr>
          <p:nvPr/>
        </p:nvPicPr>
        <p:blipFill>
          <a:blip r:embed="rId1"/>
          <a:stretch>
            <a:fillRect/>
          </a:stretch>
        </p:blipFill>
        <p:spPr>
          <a:xfrm>
            <a:off x="1165225" y="3395663"/>
            <a:ext cx="5843588" cy="941387"/>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强化学习</a:t>
            </a:r>
            <a:endParaRPr lang="zh-CN" altLang="en-US" dirty="0">
              <a:latin typeface="微软雅黑" panose="020B0503020204020204" pitchFamily="34" charset="-122"/>
              <a:ea typeface="微软雅黑" panose="020B0503020204020204" pitchFamily="34" charset="-122"/>
            </a:endParaRPr>
          </a:p>
        </p:txBody>
      </p:sp>
      <p:sp>
        <p:nvSpPr>
          <p:cNvPr id="37890" name="Rectangle 2"/>
          <p:cNvSpPr>
            <a:spLocks noGrp="1"/>
          </p:cNvSpPr>
          <p:nvPr/>
        </p:nvSpPr>
        <p:spPr>
          <a:xfrm>
            <a:off x="476250" y="450850"/>
            <a:ext cx="5705475"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发展历程</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37891" name="文本框 2"/>
          <p:cNvSpPr txBox="1"/>
          <p:nvPr/>
        </p:nvSpPr>
        <p:spPr>
          <a:xfrm>
            <a:off x="534988" y="1035050"/>
            <a:ext cx="7983537" cy="5384800"/>
          </a:xfrm>
          <a:prstGeom prst="rect">
            <a:avLst/>
          </a:prstGeom>
          <a:noFill/>
          <a:ln w="9525">
            <a:noFill/>
          </a:ln>
        </p:spPr>
        <p:txBody>
          <a:bodyPr wrap="square" anchor="t" anchorCtr="0">
            <a:spAutoFit/>
          </a:bodyPr>
          <a:p>
            <a:r>
              <a:rPr lang="zh-CN" altLang="en-US" sz="2000" b="0">
                <a:latin typeface="微软雅黑" panose="020B0503020204020204" pitchFamily="34" charset="-122"/>
                <a:ea typeface="微软雅黑" panose="020B0503020204020204" pitchFamily="34" charset="-122"/>
              </a:rPr>
              <a:t>1956年Bellman提出了动态规划方法。</a:t>
            </a:r>
            <a:endParaRPr lang="zh-CN" altLang="en-US" sz="20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1977年Werbos提出只适应动态规划算法。</a:t>
            </a:r>
            <a:endParaRPr lang="zh-CN" altLang="en-US" sz="20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1988年sutton提出时间差分算法。</a:t>
            </a:r>
            <a:endParaRPr lang="zh-CN" altLang="en-US" sz="20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1992年Watkins 提出Q-learning 算法。</a:t>
            </a:r>
            <a:endParaRPr lang="zh-CN" altLang="en-US" sz="20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1994年rummery 提出Saras算法。</a:t>
            </a:r>
            <a:endParaRPr lang="zh-CN" altLang="en-US" sz="20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1996年Bersekas提出解决随机过程中优化控制的神经动态规划方法。</a:t>
            </a:r>
            <a:endParaRPr lang="zh-CN" altLang="en-US" sz="20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2006年Kocsis提出了置信上限树算法。</a:t>
            </a:r>
            <a:endParaRPr lang="zh-CN" altLang="en-US" sz="20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2009年kewis提出反馈控制只适应动态规划算法。</a:t>
            </a:r>
            <a:endParaRPr lang="zh-CN" altLang="en-US" sz="20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2014年silver提出确定性策略梯度（Policy Gradients）算法。</a:t>
            </a:r>
            <a:endParaRPr lang="zh-CN" altLang="en-US" sz="2000" b="0">
              <a:latin typeface="微软雅黑" panose="020B0503020204020204" pitchFamily="34" charset="-122"/>
              <a:ea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rPr>
              <a:t>2015年Google-deepmind 提出Deep-Q-Network算法。</a:t>
            </a:r>
            <a:endParaRPr lang="zh-CN" altLang="en-US" sz="2000" b="0">
              <a:latin typeface="微软雅黑" panose="020B0503020204020204" pitchFamily="34" charset="-122"/>
              <a:ea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可见，强化学习已经发展了几十年，并不是一门新的技术。在2016年，AlphaGo击败李世石之后，融合了深度学习的强化学习技术大放异彩，成为这两年最火的技术之一。总结来说，强化学习就是一个古老而又时尚的技术。</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文本框 2"/>
          <p:cNvSpPr txBox="1"/>
          <p:nvPr/>
        </p:nvSpPr>
        <p:spPr>
          <a:xfrm>
            <a:off x="539750" y="1082675"/>
            <a:ext cx="8007350" cy="5262563"/>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基本组成：五元组</a:t>
            </a:r>
            <a:r>
              <a:rPr lang="en-US" altLang="zh-CN" sz="2400" b="0">
                <a:latin typeface="微软雅黑" panose="020B0503020204020204" pitchFamily="34" charset="-122"/>
                <a:ea typeface="微软雅黑" panose="020B0503020204020204" pitchFamily="34" charset="-122"/>
              </a:rPr>
              <a:t>M=(S, A, P, </a:t>
            </a:r>
            <a:r>
              <a:rPr lang="zh-CN" altLang="en-US" sz="2400" b="0">
                <a:latin typeface="微软雅黑" panose="020B0503020204020204" pitchFamily="34" charset="-122"/>
                <a:ea typeface="微软雅黑" panose="020B0503020204020204" pitchFamily="34" charset="-122"/>
              </a:rPr>
              <a:t>γ</a:t>
            </a:r>
            <a:r>
              <a:rPr lang="en-US" altLang="zh-CN" sz="2400" b="0">
                <a:latin typeface="微软雅黑" panose="020B0503020204020204" pitchFamily="34" charset="-122"/>
                <a:ea typeface="微软雅黑" panose="020B0503020204020204" pitchFamily="34" charset="-122"/>
              </a:rPr>
              <a:t>, R)</a:t>
            </a:r>
            <a:endParaRPr lang="en-US" altLang="zh-CN" sz="2400" b="0">
              <a:latin typeface="微软雅黑" panose="020B0503020204020204" pitchFamily="34" charset="-122"/>
              <a:ea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S: 表示状态集(states)，有s∈S，si表示第i步的状态。</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A:表示一组动作(actions)，有a∈A，ai表示第i步的动作。</a:t>
            </a:r>
            <a:endParaRPr lang="zh-CN" altLang="en-US" sz="2400" b="0">
              <a:latin typeface="微软雅黑" panose="020B0503020204020204" pitchFamily="34" charset="-122"/>
              <a:ea typeface="微软雅黑" panose="020B0503020204020204" pitchFamily="34" charset="-122"/>
            </a:endParaRPr>
          </a:p>
          <a:p>
            <a:r>
              <a:rPr lang="en-US" altLang="zh-CN" sz="2400" b="0">
                <a:latin typeface="微软雅黑" panose="020B0503020204020204" pitchFamily="34" charset="-122"/>
                <a:ea typeface="微软雅黑" panose="020B0503020204020204" pitchFamily="34" charset="-122"/>
              </a:rPr>
              <a:t>P</a:t>
            </a:r>
            <a:r>
              <a:rPr lang="zh-CN" altLang="en-US" sz="2400" b="0">
                <a:latin typeface="微软雅黑" panose="020B0503020204020204" pitchFamily="34" charset="-122"/>
                <a:ea typeface="微软雅黑" panose="020B0503020204020204" pitchFamily="34" charset="-122"/>
              </a:rPr>
              <a:t>: 表示状态转移概率。表示的是在当前s ∈ S状态下，经过a ∈ A作用后，会转移到的其他状态的概率分布情况。比如，在状态s下执行动作a，转移到s'的概率可以表示为p(s'|s,a)。</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R: S×A⟼ℝ ，R是回报函数(reward function)。有些回报函数状态S的函数，可以简化为R: S⟼ℝ。如果一组(s,a)转移到了下个状态s'，那么回报函数可记为r(s'|s, a)。如果(s,a)对应的下个状态s'是唯一的，那么回报函数也可以记为r(s,a)。</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γ:折现因子</a:t>
            </a:r>
            <a:endParaRPr lang="zh-CN" altLang="en-US" sz="2400" b="0">
              <a:latin typeface="微软雅黑" panose="020B0503020204020204" pitchFamily="34" charset="-122"/>
              <a:ea typeface="微软雅黑" panose="020B0503020204020204" pitchFamily="34" charset="-122"/>
            </a:endParaRPr>
          </a:p>
        </p:txBody>
      </p:sp>
      <p:sp>
        <p:nvSpPr>
          <p:cNvPr id="38914"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强化学习</a:t>
            </a:r>
            <a:endParaRPr lang="zh-CN" altLang="en-US" dirty="0">
              <a:latin typeface="微软雅黑" panose="020B0503020204020204" pitchFamily="34" charset="-122"/>
              <a:ea typeface="微软雅黑" panose="020B0503020204020204" pitchFamily="34" charset="-122"/>
            </a:endParaRPr>
          </a:p>
        </p:txBody>
      </p:sp>
      <p:sp>
        <p:nvSpPr>
          <p:cNvPr id="38915" name="Rectangle 2"/>
          <p:cNvSpPr>
            <a:spLocks noGrp="1"/>
          </p:cNvSpPr>
          <p:nvPr/>
        </p:nvSpPr>
        <p:spPr>
          <a:xfrm>
            <a:off x="476250" y="450850"/>
            <a:ext cx="5705475" cy="450850"/>
          </a:xfrm>
          <a:prstGeom prst="rect">
            <a:avLst/>
          </a:prstGeom>
          <a:noFill/>
          <a:ln w="9525">
            <a:noFill/>
          </a:ln>
        </p:spPr>
        <p:txBody>
          <a:bodyPr anchor="t" anchorCtr="0"/>
          <a:p>
            <a:r>
              <a:rPr lang="en-US" altLang="zh-CN" sz="2400">
                <a:latin typeface="微软雅黑" panose="020B0503020204020204" pitchFamily="34" charset="-122"/>
                <a:ea typeface="微软雅黑" panose="020B0503020204020204" pitchFamily="34" charset="-122"/>
                <a:sym typeface="宋体" panose="02010600030101010101" pitchFamily="2" charset="-122"/>
              </a:rPr>
              <a:t>MDP</a:t>
            </a:r>
            <a:r>
              <a:rPr lang="zh-CN" altLang="en-US" sz="2400">
                <a:latin typeface="微软雅黑" panose="020B0503020204020204" pitchFamily="34" charset="-122"/>
                <a:ea typeface="微软雅黑" panose="020B0503020204020204" pitchFamily="34" charset="-122"/>
                <a:sym typeface="宋体" panose="02010600030101010101" pitchFamily="2" charset="-122"/>
              </a:rPr>
              <a:t>（马尔可夫决策过程）</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强化学习</a:t>
            </a:r>
            <a:endParaRPr lang="zh-CN" altLang="en-US" dirty="0">
              <a:latin typeface="微软雅黑" panose="020B0503020204020204" pitchFamily="34" charset="-122"/>
              <a:ea typeface="微软雅黑" panose="020B0503020204020204" pitchFamily="34" charset="-122"/>
            </a:endParaRPr>
          </a:p>
        </p:txBody>
      </p:sp>
      <p:sp>
        <p:nvSpPr>
          <p:cNvPr id="39938" name="Rectangle 2"/>
          <p:cNvSpPr>
            <a:spLocks noGrp="1"/>
          </p:cNvSpPr>
          <p:nvPr/>
        </p:nvSpPr>
        <p:spPr>
          <a:xfrm>
            <a:off x="476250" y="450850"/>
            <a:ext cx="5705475"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强化学习特点</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39939" name="文本框 2"/>
          <p:cNvSpPr txBox="1"/>
          <p:nvPr/>
        </p:nvSpPr>
        <p:spPr>
          <a:xfrm>
            <a:off x="511175" y="1044575"/>
            <a:ext cx="8121650" cy="4892675"/>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强化学习所解决的问题的特点：</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a:t>
            </a:r>
            <a:r>
              <a:rPr lang="en-US" altLang="zh-CN" sz="2400" b="0">
                <a:latin typeface="微软雅黑" panose="020B0503020204020204" pitchFamily="34" charset="-122"/>
                <a:ea typeface="微软雅黑" panose="020B0503020204020204" pitchFamily="34" charset="-122"/>
              </a:rPr>
              <a:t>1</a:t>
            </a:r>
            <a:r>
              <a:rPr lang="zh-CN" altLang="en-US" sz="2400" b="0">
                <a:latin typeface="微软雅黑" panose="020B0503020204020204" pitchFamily="34" charset="-122"/>
                <a:ea typeface="微软雅黑" panose="020B0503020204020204" pitchFamily="34" charset="-122"/>
              </a:rPr>
              <a:t>）智能体和环境之间不断进行交互</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a:t>
            </a:r>
            <a:r>
              <a:rPr lang="en-US" altLang="zh-CN" sz="2400" b="0">
                <a:latin typeface="微软雅黑" panose="020B0503020204020204" pitchFamily="34" charset="-122"/>
                <a:ea typeface="微软雅黑" panose="020B0503020204020204" pitchFamily="34" charset="-122"/>
              </a:rPr>
              <a:t>2</a:t>
            </a:r>
            <a:r>
              <a:rPr lang="zh-CN" altLang="en-US" sz="2400" b="0">
                <a:latin typeface="微软雅黑" panose="020B0503020204020204" pitchFamily="34" charset="-122"/>
                <a:ea typeface="微软雅黑" panose="020B0503020204020204" pitchFamily="34" charset="-122"/>
              </a:rPr>
              <a:t>）搜索和试错</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a:t>
            </a:r>
            <a:r>
              <a:rPr lang="en-US" altLang="zh-CN" sz="2400" b="0">
                <a:latin typeface="微软雅黑" panose="020B0503020204020204" pitchFamily="34" charset="-122"/>
                <a:ea typeface="微软雅黑" panose="020B0503020204020204" pitchFamily="34" charset="-122"/>
              </a:rPr>
              <a:t>3</a:t>
            </a:r>
            <a:r>
              <a:rPr lang="zh-CN" altLang="en-US" sz="2400" b="0">
                <a:latin typeface="微软雅黑" panose="020B0503020204020204" pitchFamily="34" charset="-122"/>
                <a:ea typeface="微软雅黑" panose="020B0503020204020204" pitchFamily="34" charset="-122"/>
              </a:rPr>
              <a:t>）延迟奖励（当前所做的动作可能很多步之后才会产生相应的结果）</a:t>
            </a:r>
            <a:endParaRPr lang="zh-CN" altLang="en-US" sz="2400" b="0">
              <a:latin typeface="微软雅黑" panose="020B0503020204020204" pitchFamily="34" charset="-122"/>
              <a:ea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目标：</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a:t>
            </a:r>
            <a:r>
              <a:rPr lang="en-US" altLang="zh-CN" sz="2400" b="0">
                <a:latin typeface="微软雅黑" panose="020B0503020204020204" pitchFamily="34" charset="-122"/>
                <a:ea typeface="微软雅黑" panose="020B0503020204020204" pitchFamily="34" charset="-122"/>
              </a:rPr>
              <a:t>1</a:t>
            </a:r>
            <a:r>
              <a:rPr lang="zh-CN" altLang="en-US" sz="2400" b="0">
                <a:latin typeface="微软雅黑" panose="020B0503020204020204" pitchFamily="34" charset="-122"/>
                <a:ea typeface="微软雅黑" panose="020B0503020204020204" pitchFamily="34" charset="-122"/>
              </a:rPr>
              <a:t>）获取更多的累积奖励</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a:t>
            </a:r>
            <a:r>
              <a:rPr lang="en-US" altLang="zh-CN" sz="2400" b="0">
                <a:latin typeface="微软雅黑" panose="020B0503020204020204" pitchFamily="34" charset="-122"/>
                <a:ea typeface="微软雅黑" panose="020B0503020204020204" pitchFamily="34" charset="-122"/>
              </a:rPr>
              <a:t>2</a:t>
            </a:r>
            <a:r>
              <a:rPr lang="zh-CN" altLang="en-US" sz="2400" b="0">
                <a:latin typeface="微软雅黑" panose="020B0503020204020204" pitchFamily="34" charset="-122"/>
                <a:ea typeface="微软雅黑" panose="020B0503020204020204" pitchFamily="34" charset="-122"/>
              </a:rPr>
              <a:t>）获得更可靠的估计</a:t>
            </a:r>
            <a:endParaRPr lang="zh-CN" altLang="en-US" sz="2400" b="0">
              <a:latin typeface="微软雅黑" panose="020B0503020204020204" pitchFamily="34" charset="-122"/>
              <a:ea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强化学习 (Reinforcement Learning) 是一个机器学习大家族中的分支, 由于近些年来的技术突破, 和深度学习 (Deep Learning) 的整合, 使得强化学习有了进一步的运用。</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强化学习</a:t>
            </a:r>
            <a:endParaRPr lang="zh-CN" altLang="en-US" dirty="0">
              <a:latin typeface="微软雅黑" panose="020B0503020204020204" pitchFamily="34" charset="-122"/>
              <a:ea typeface="微软雅黑" panose="020B0503020204020204" pitchFamily="34" charset="-122"/>
            </a:endParaRPr>
          </a:p>
        </p:txBody>
      </p:sp>
      <p:sp>
        <p:nvSpPr>
          <p:cNvPr id="40962" name="Rectangle 2"/>
          <p:cNvSpPr>
            <a:spLocks noGrp="1"/>
          </p:cNvSpPr>
          <p:nvPr/>
        </p:nvSpPr>
        <p:spPr>
          <a:xfrm>
            <a:off x="476250" y="450850"/>
            <a:ext cx="5705475"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强化学习求解方法</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40963" name="文本框 2"/>
          <p:cNvSpPr txBox="1"/>
          <p:nvPr/>
        </p:nvSpPr>
        <p:spPr>
          <a:xfrm>
            <a:off x="563563" y="1177925"/>
            <a:ext cx="4043362" cy="1936750"/>
          </a:xfrm>
          <a:prstGeom prst="rect">
            <a:avLst/>
          </a:prstGeom>
          <a:noFill/>
          <a:ln w="9525">
            <a:noFill/>
          </a:ln>
        </p:spPr>
        <p:txBody>
          <a:bodyPr wrap="square" anchor="t" anchorCtr="0">
            <a:spAutoFit/>
          </a:bodyPr>
          <a:p>
            <a:r>
              <a:rPr lang="zh-CN" altLang="zh-CN" sz="2400" b="0">
                <a:latin typeface="微软雅黑" panose="020B0503020204020204" pitchFamily="34" charset="-122"/>
                <a:ea typeface="微软雅黑" panose="020B0503020204020204" pitchFamily="34" charset="-122"/>
              </a:rPr>
              <a:t>（</a:t>
            </a:r>
            <a:r>
              <a:rPr lang="en-US" altLang="zh-CN" sz="2400" b="0">
                <a:latin typeface="微软雅黑" panose="020B0503020204020204" pitchFamily="34" charset="-122"/>
                <a:ea typeface="微软雅黑" panose="020B0503020204020204" pitchFamily="34" charset="-122"/>
              </a:rPr>
              <a:t>1</a:t>
            </a:r>
            <a:r>
              <a:rPr lang="zh-CN" altLang="zh-CN" sz="2400" b="0">
                <a:latin typeface="微软雅黑" panose="020B0503020204020204" pitchFamily="34" charset="-122"/>
                <a:ea typeface="微软雅黑" panose="020B0503020204020204" pitchFamily="34" charset="-122"/>
              </a:rPr>
              <a:t>）动态规划方法</a:t>
            </a:r>
            <a:endParaRPr lang="zh-CN" altLang="zh-CN" sz="2400" b="0">
              <a:latin typeface="微软雅黑" panose="020B0503020204020204" pitchFamily="34" charset="-122"/>
              <a:ea typeface="微软雅黑" panose="020B0503020204020204" pitchFamily="34" charset="-122"/>
            </a:endParaRPr>
          </a:p>
          <a:p>
            <a:endParaRPr lang="zh-CN" altLang="zh-CN" sz="2400" b="0">
              <a:latin typeface="微软雅黑" panose="020B0503020204020204" pitchFamily="34" charset="-122"/>
              <a:ea typeface="微软雅黑" panose="020B0503020204020204" pitchFamily="34" charset="-122"/>
            </a:endParaRPr>
          </a:p>
          <a:p>
            <a:r>
              <a:rPr lang="zh-CN" altLang="zh-CN" sz="2400" b="0">
                <a:latin typeface="微软雅黑" panose="020B0503020204020204" pitchFamily="34" charset="-122"/>
                <a:ea typeface="微软雅黑" panose="020B0503020204020204" pitchFamily="34" charset="-122"/>
              </a:rPr>
              <a:t>（</a:t>
            </a:r>
            <a:r>
              <a:rPr lang="en-US" altLang="zh-CN" sz="2400" b="0">
                <a:latin typeface="微软雅黑" panose="020B0503020204020204" pitchFamily="34" charset="-122"/>
                <a:ea typeface="微软雅黑" panose="020B0503020204020204" pitchFamily="34" charset="-122"/>
              </a:rPr>
              <a:t>2</a:t>
            </a:r>
            <a:r>
              <a:rPr lang="zh-CN" altLang="zh-CN" sz="2400" b="0">
                <a:latin typeface="微软雅黑" panose="020B0503020204020204" pitchFamily="34" charset="-122"/>
                <a:ea typeface="微软雅黑" panose="020B0503020204020204" pitchFamily="34" charset="-122"/>
              </a:rPr>
              <a:t>）蒙特卡洛方法</a:t>
            </a:r>
            <a:endParaRPr lang="zh-CN" altLang="zh-CN" sz="2400" b="0">
              <a:latin typeface="微软雅黑" panose="020B0503020204020204" pitchFamily="34" charset="-122"/>
              <a:ea typeface="微软雅黑" panose="020B0503020204020204" pitchFamily="34" charset="-122"/>
            </a:endParaRPr>
          </a:p>
          <a:p>
            <a:endParaRPr lang="zh-CN" altLang="zh-CN" sz="2400" b="0">
              <a:latin typeface="微软雅黑" panose="020B0503020204020204" pitchFamily="34" charset="-122"/>
              <a:ea typeface="微软雅黑" panose="020B0503020204020204" pitchFamily="34" charset="-122"/>
            </a:endParaRPr>
          </a:p>
          <a:p>
            <a:r>
              <a:rPr lang="zh-CN" altLang="zh-CN" sz="2400" b="0">
                <a:latin typeface="微软雅黑" panose="020B0503020204020204" pitchFamily="34" charset="-122"/>
                <a:ea typeface="微软雅黑" panose="020B0503020204020204" pitchFamily="34" charset="-122"/>
              </a:rPr>
              <a:t>（</a:t>
            </a:r>
            <a:r>
              <a:rPr lang="en-US" altLang="zh-CN" sz="2400" b="0">
                <a:latin typeface="微软雅黑" panose="020B0503020204020204" pitchFamily="34" charset="-122"/>
                <a:ea typeface="微软雅黑" panose="020B0503020204020204" pitchFamily="34" charset="-122"/>
              </a:rPr>
              <a:t>3</a:t>
            </a:r>
            <a:r>
              <a:rPr lang="zh-CN" altLang="zh-CN" sz="2400" b="0">
                <a:latin typeface="微软雅黑" panose="020B0503020204020204" pitchFamily="34" charset="-122"/>
                <a:ea typeface="微软雅黑" panose="020B0503020204020204" pitchFamily="34" charset="-122"/>
              </a:rPr>
              <a:t>）时间差分方法</a:t>
            </a:r>
            <a:endParaRPr lang="zh-CN" altLang="zh-CN"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强化学习</a:t>
            </a:r>
            <a:endParaRPr lang="zh-CN" altLang="en-US" dirty="0">
              <a:latin typeface="微软雅黑" panose="020B0503020204020204" pitchFamily="34" charset="-122"/>
              <a:ea typeface="微软雅黑" panose="020B0503020204020204" pitchFamily="34" charset="-122"/>
            </a:endParaRPr>
          </a:p>
        </p:txBody>
      </p:sp>
      <p:sp>
        <p:nvSpPr>
          <p:cNvPr id="41986" name="Rectangle 2"/>
          <p:cNvSpPr>
            <a:spLocks noGrp="1"/>
          </p:cNvSpPr>
          <p:nvPr/>
        </p:nvSpPr>
        <p:spPr>
          <a:xfrm>
            <a:off x="476250" y="509588"/>
            <a:ext cx="5705475"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强化学习算法分类</a:t>
            </a:r>
            <a:r>
              <a:rPr lang="en-US" altLang="zh-CN" sz="2400">
                <a:latin typeface="微软雅黑" panose="020B0503020204020204" pitchFamily="34" charset="-122"/>
                <a:ea typeface="微软雅黑" panose="020B0503020204020204" pitchFamily="34" charset="-122"/>
                <a:sym typeface="宋体" panose="02010600030101010101" pitchFamily="2" charset="-122"/>
              </a:rPr>
              <a:t>—</a:t>
            </a:r>
            <a:r>
              <a:rPr lang="zh-CN" altLang="en-US" sz="2400">
                <a:latin typeface="微软雅黑" panose="020B0503020204020204" pitchFamily="34" charset="-122"/>
                <a:ea typeface="微软雅黑" panose="020B0503020204020204" pitchFamily="34" charset="-122"/>
                <a:sym typeface="宋体" panose="02010600030101010101" pitchFamily="2" charset="-122"/>
              </a:rPr>
              <a:t>分类一</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pic>
        <p:nvPicPr>
          <p:cNvPr id="41987" name="图片 2" descr="20181013135804486"/>
          <p:cNvPicPr>
            <a:picLocks noChangeAspect="1"/>
          </p:cNvPicPr>
          <p:nvPr/>
        </p:nvPicPr>
        <p:blipFill>
          <a:blip r:embed="rId1"/>
          <a:stretch>
            <a:fillRect/>
          </a:stretch>
        </p:blipFill>
        <p:spPr>
          <a:xfrm>
            <a:off x="1273175" y="1031875"/>
            <a:ext cx="6302375" cy="3562350"/>
          </a:xfrm>
          <a:prstGeom prst="rect">
            <a:avLst/>
          </a:prstGeom>
          <a:noFill/>
          <a:ln w="9525">
            <a:noFill/>
          </a:ln>
        </p:spPr>
      </p:pic>
      <p:sp>
        <p:nvSpPr>
          <p:cNvPr id="41988" name="文本框 3"/>
          <p:cNvSpPr txBox="1"/>
          <p:nvPr/>
        </p:nvSpPr>
        <p:spPr>
          <a:xfrm>
            <a:off x="476250" y="4660900"/>
            <a:ext cx="8112125" cy="1938338"/>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基于理不理解所处环境来进行分类：</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Model-free:环境给了我们什么就是什么. 我们就把这种方法叫做 model-free, 这里的 model 就是用模型来表示环境</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Model-based:理解了环境也就是学会了用一个模型来代表环境, 所以这种就是 model-based 方法</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强化学习</a:t>
            </a:r>
            <a:endParaRPr lang="zh-CN" altLang="en-US" dirty="0">
              <a:latin typeface="微软雅黑" panose="020B0503020204020204" pitchFamily="34" charset="-122"/>
              <a:ea typeface="微软雅黑" panose="020B0503020204020204" pitchFamily="34" charset="-122"/>
            </a:endParaRPr>
          </a:p>
        </p:txBody>
      </p:sp>
      <p:sp>
        <p:nvSpPr>
          <p:cNvPr id="43010" name="Rectangle 2"/>
          <p:cNvSpPr>
            <a:spLocks noGrp="1"/>
          </p:cNvSpPr>
          <p:nvPr/>
        </p:nvSpPr>
        <p:spPr>
          <a:xfrm>
            <a:off x="476250" y="509588"/>
            <a:ext cx="5705475"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强化学习算法分类</a:t>
            </a:r>
            <a:r>
              <a:rPr lang="en-US" altLang="zh-CN" sz="2400">
                <a:latin typeface="微软雅黑" panose="020B0503020204020204" pitchFamily="34" charset="-122"/>
                <a:ea typeface="微软雅黑" panose="020B0503020204020204" pitchFamily="34" charset="-122"/>
                <a:sym typeface="宋体" panose="02010600030101010101" pitchFamily="2" charset="-122"/>
              </a:rPr>
              <a:t>—</a:t>
            </a:r>
            <a:r>
              <a:rPr lang="zh-CN" altLang="en-US" sz="2400">
                <a:latin typeface="微软雅黑" panose="020B0503020204020204" pitchFamily="34" charset="-122"/>
                <a:ea typeface="微软雅黑" panose="020B0503020204020204" pitchFamily="34" charset="-122"/>
                <a:sym typeface="宋体" panose="02010600030101010101" pitchFamily="2" charset="-122"/>
              </a:rPr>
              <a:t>分类二</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pic>
        <p:nvPicPr>
          <p:cNvPr id="43011" name="图片 2" descr="20181013135918813"/>
          <p:cNvPicPr>
            <a:picLocks noChangeAspect="1"/>
          </p:cNvPicPr>
          <p:nvPr/>
        </p:nvPicPr>
        <p:blipFill>
          <a:blip r:embed="rId1"/>
          <a:stretch>
            <a:fillRect/>
          </a:stretch>
        </p:blipFill>
        <p:spPr>
          <a:xfrm>
            <a:off x="1222375" y="1189038"/>
            <a:ext cx="6435725" cy="3611562"/>
          </a:xfrm>
          <a:prstGeom prst="rect">
            <a:avLst/>
          </a:prstGeom>
          <a:noFill/>
          <a:ln w="9525">
            <a:noFill/>
          </a:ln>
        </p:spPr>
      </p:pic>
      <p:sp>
        <p:nvSpPr>
          <p:cNvPr id="43012" name="文本框 3"/>
          <p:cNvSpPr txBox="1"/>
          <p:nvPr/>
        </p:nvSpPr>
        <p:spPr>
          <a:xfrm>
            <a:off x="514350" y="5029200"/>
            <a:ext cx="7975600" cy="1198563"/>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一类是直接输出各个动作概率，另一个是输出每个动作的价值；前者适用于连续动作情况，后者无法表示连续动作的价值。</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强化学习</a:t>
            </a:r>
            <a:endParaRPr lang="zh-CN" altLang="en-US" dirty="0">
              <a:latin typeface="微软雅黑" panose="020B0503020204020204" pitchFamily="34" charset="-122"/>
              <a:ea typeface="微软雅黑" panose="020B0503020204020204" pitchFamily="34" charset="-122"/>
            </a:endParaRPr>
          </a:p>
        </p:txBody>
      </p:sp>
      <p:sp>
        <p:nvSpPr>
          <p:cNvPr id="44034" name="Rectangle 2"/>
          <p:cNvSpPr>
            <a:spLocks noGrp="1"/>
          </p:cNvSpPr>
          <p:nvPr/>
        </p:nvSpPr>
        <p:spPr>
          <a:xfrm>
            <a:off x="476250" y="509588"/>
            <a:ext cx="5705475"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强化学习算法分类</a:t>
            </a:r>
            <a:r>
              <a:rPr lang="en-US" altLang="zh-CN" sz="2400">
                <a:latin typeface="微软雅黑" panose="020B0503020204020204" pitchFamily="34" charset="-122"/>
                <a:ea typeface="微软雅黑" panose="020B0503020204020204" pitchFamily="34" charset="-122"/>
                <a:sym typeface="宋体" panose="02010600030101010101" pitchFamily="2" charset="-122"/>
              </a:rPr>
              <a:t>—</a:t>
            </a:r>
            <a:r>
              <a:rPr lang="zh-CN" altLang="en-US" sz="2400">
                <a:latin typeface="微软雅黑" panose="020B0503020204020204" pitchFamily="34" charset="-122"/>
                <a:ea typeface="微软雅黑" panose="020B0503020204020204" pitchFamily="34" charset="-122"/>
                <a:sym typeface="宋体" panose="02010600030101010101" pitchFamily="2" charset="-122"/>
              </a:rPr>
              <a:t>分类三</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pic>
        <p:nvPicPr>
          <p:cNvPr id="44035" name="图片 2" descr="20181013140055817"/>
          <p:cNvPicPr>
            <a:picLocks noChangeAspect="1"/>
          </p:cNvPicPr>
          <p:nvPr/>
        </p:nvPicPr>
        <p:blipFill>
          <a:blip r:embed="rId1"/>
          <a:stretch>
            <a:fillRect/>
          </a:stretch>
        </p:blipFill>
        <p:spPr>
          <a:xfrm>
            <a:off x="879475" y="1352550"/>
            <a:ext cx="6823075" cy="3857625"/>
          </a:xfrm>
          <a:prstGeom prst="rect">
            <a:avLst/>
          </a:prstGeom>
          <a:noFill/>
          <a:ln w="9525">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强化学习</a:t>
            </a:r>
            <a:endParaRPr lang="zh-CN" altLang="en-US" dirty="0">
              <a:latin typeface="微软雅黑" panose="020B0503020204020204" pitchFamily="34" charset="-122"/>
              <a:ea typeface="微软雅黑" panose="020B0503020204020204" pitchFamily="34" charset="-122"/>
            </a:endParaRPr>
          </a:p>
        </p:txBody>
      </p:sp>
      <p:sp>
        <p:nvSpPr>
          <p:cNvPr id="45058" name="Rectangle 2"/>
          <p:cNvSpPr>
            <a:spLocks noGrp="1"/>
          </p:cNvSpPr>
          <p:nvPr/>
        </p:nvSpPr>
        <p:spPr>
          <a:xfrm>
            <a:off x="476250" y="509588"/>
            <a:ext cx="5705475"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强化学习算法分类</a:t>
            </a:r>
            <a:r>
              <a:rPr lang="en-US" altLang="zh-CN" sz="2400">
                <a:latin typeface="微软雅黑" panose="020B0503020204020204" pitchFamily="34" charset="-122"/>
                <a:ea typeface="微软雅黑" panose="020B0503020204020204" pitchFamily="34" charset="-122"/>
                <a:sym typeface="宋体" panose="02010600030101010101" pitchFamily="2" charset="-122"/>
              </a:rPr>
              <a:t>—</a:t>
            </a:r>
            <a:r>
              <a:rPr lang="zh-CN" altLang="en-US" sz="2400">
                <a:latin typeface="微软雅黑" panose="020B0503020204020204" pitchFamily="34" charset="-122"/>
                <a:ea typeface="微软雅黑" panose="020B0503020204020204" pitchFamily="34" charset="-122"/>
                <a:sym typeface="宋体" panose="02010600030101010101" pitchFamily="2" charset="-122"/>
              </a:rPr>
              <a:t>分类四</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pic>
        <p:nvPicPr>
          <p:cNvPr id="45059" name="图片 2" descr="20181013140111322"/>
          <p:cNvPicPr>
            <a:picLocks noChangeAspect="1"/>
          </p:cNvPicPr>
          <p:nvPr/>
        </p:nvPicPr>
        <p:blipFill>
          <a:blip r:embed="rId1"/>
          <a:stretch>
            <a:fillRect/>
          </a:stretch>
        </p:blipFill>
        <p:spPr>
          <a:xfrm>
            <a:off x="1127125" y="1165225"/>
            <a:ext cx="6326188" cy="3552825"/>
          </a:xfrm>
          <a:prstGeom prst="rect">
            <a:avLst/>
          </a:prstGeom>
          <a:noFill/>
          <a:ln w="9525">
            <a:noFill/>
          </a:ln>
        </p:spPr>
      </p:pic>
      <p:sp>
        <p:nvSpPr>
          <p:cNvPr id="45060" name="文本框 3"/>
          <p:cNvSpPr txBox="1"/>
          <p:nvPr/>
        </p:nvSpPr>
        <p:spPr>
          <a:xfrm>
            <a:off x="476250" y="4922838"/>
            <a:ext cx="8064500" cy="1568450"/>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判断on-policy和off-policy的关键在于，你所估计的policy或者value-function和你生成样本时所采用的policy是不是一样。如果一样，那就是on-policy的，否则是off-policy的。</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6081" name="图片 2" descr="20181013140204968"/>
          <p:cNvPicPr>
            <a:picLocks noChangeAspect="1"/>
          </p:cNvPicPr>
          <p:nvPr/>
        </p:nvPicPr>
        <p:blipFill>
          <a:blip r:embed="rId1"/>
          <a:stretch>
            <a:fillRect/>
          </a:stretch>
        </p:blipFill>
        <p:spPr>
          <a:xfrm>
            <a:off x="203200" y="1865313"/>
            <a:ext cx="8870950" cy="2378075"/>
          </a:xfrm>
          <a:prstGeom prst="rect">
            <a:avLst/>
          </a:prstGeom>
          <a:noFill/>
          <a:ln w="9525">
            <a:noFill/>
          </a:ln>
        </p:spPr>
      </p:pic>
      <p:sp>
        <p:nvSpPr>
          <p:cNvPr id="46082"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强化学习</a:t>
            </a:r>
            <a:endParaRPr lang="zh-CN" altLang="en-US" dirty="0">
              <a:latin typeface="微软雅黑" panose="020B0503020204020204" pitchFamily="34" charset="-122"/>
              <a:ea typeface="微软雅黑" panose="020B0503020204020204" pitchFamily="34" charset="-122"/>
            </a:endParaRPr>
          </a:p>
        </p:txBody>
      </p:sp>
      <p:sp>
        <p:nvSpPr>
          <p:cNvPr id="46083" name="Rectangle 2"/>
          <p:cNvSpPr>
            <a:spLocks noGrp="1"/>
          </p:cNvSpPr>
          <p:nvPr/>
        </p:nvSpPr>
        <p:spPr>
          <a:xfrm>
            <a:off x="476250" y="509588"/>
            <a:ext cx="5705475"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常见算法的分类</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强化学习</a:t>
            </a:r>
            <a:endParaRPr lang="zh-CN" altLang="en-US" dirty="0">
              <a:latin typeface="微软雅黑" panose="020B0503020204020204" pitchFamily="34" charset="-122"/>
              <a:ea typeface="微软雅黑" panose="020B0503020204020204" pitchFamily="34" charset="-122"/>
            </a:endParaRPr>
          </a:p>
        </p:txBody>
      </p:sp>
      <p:sp>
        <p:nvSpPr>
          <p:cNvPr id="47106" name="Rectangle 2"/>
          <p:cNvSpPr>
            <a:spLocks noGrp="1"/>
          </p:cNvSpPr>
          <p:nvPr/>
        </p:nvSpPr>
        <p:spPr>
          <a:xfrm>
            <a:off x="476250" y="509588"/>
            <a:ext cx="4365625"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代表性算法</a:t>
            </a:r>
            <a:r>
              <a:rPr lang="en-US" altLang="zh-CN" sz="2400">
                <a:latin typeface="微软雅黑" panose="020B0503020204020204" pitchFamily="34" charset="-122"/>
                <a:ea typeface="微软雅黑" panose="020B0503020204020204" pitchFamily="34" charset="-122"/>
                <a:sym typeface="宋体" panose="02010600030101010101" pitchFamily="2" charset="-122"/>
              </a:rPr>
              <a:t>—Q-learning</a:t>
            </a:r>
            <a:endParaRPr lang="en-US" altLang="zh-CN"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47107" name="文本框 2"/>
          <p:cNvSpPr txBox="1"/>
          <p:nvPr/>
        </p:nvSpPr>
        <p:spPr>
          <a:xfrm>
            <a:off x="550863" y="1027113"/>
            <a:ext cx="8042275" cy="2306637"/>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a:t>
            </a:r>
            <a:r>
              <a:rPr lang="en-US" altLang="zh-CN" sz="2400" b="0">
                <a:latin typeface="微软雅黑" panose="020B0503020204020204" pitchFamily="34" charset="-122"/>
                <a:ea typeface="微软雅黑" panose="020B0503020204020204" pitchFamily="34" charset="-122"/>
              </a:rPr>
              <a:t>1</a:t>
            </a:r>
            <a:r>
              <a:rPr lang="zh-CN" altLang="en-US" sz="2400" b="0">
                <a:latin typeface="微软雅黑" panose="020B0503020204020204" pitchFamily="34" charset="-122"/>
                <a:ea typeface="微软雅黑" panose="020B0503020204020204" pitchFamily="34" charset="-122"/>
              </a:rPr>
              <a:t>）四个基本组成成分：</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Q表：Q(s,a),状态s下执行动作a的累积价值</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定义动作：选择动作</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环境反馈：做出行为后，环境的反馈</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环境更新</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a:t>
            </a:r>
            <a:r>
              <a:rPr lang="en-US" altLang="zh-CN" sz="2400" b="0">
                <a:latin typeface="微软雅黑" panose="020B0503020204020204" pitchFamily="34" charset="-122"/>
                <a:ea typeface="微软雅黑" panose="020B0503020204020204" pitchFamily="34" charset="-122"/>
              </a:rPr>
              <a:t>2</a:t>
            </a:r>
            <a:r>
              <a:rPr lang="zh-CN" altLang="en-US" sz="2400" b="0">
                <a:latin typeface="微软雅黑" panose="020B0503020204020204" pitchFamily="34" charset="-122"/>
                <a:ea typeface="微软雅黑" panose="020B0503020204020204" pitchFamily="34" charset="-122"/>
              </a:rPr>
              <a:t>）算法公式</a:t>
            </a:r>
            <a:endParaRPr lang="zh-CN" altLang="en-US" sz="2400" b="0">
              <a:latin typeface="微软雅黑" panose="020B0503020204020204" pitchFamily="34" charset="-122"/>
              <a:ea typeface="微软雅黑" panose="020B0503020204020204" pitchFamily="34" charset="-122"/>
            </a:endParaRPr>
          </a:p>
        </p:txBody>
      </p:sp>
      <p:pic>
        <p:nvPicPr>
          <p:cNvPr id="47108" name="图片 4" descr="20181013140449744"/>
          <p:cNvPicPr>
            <a:picLocks noChangeAspect="1"/>
          </p:cNvPicPr>
          <p:nvPr/>
        </p:nvPicPr>
        <p:blipFill>
          <a:blip r:embed="rId1"/>
          <a:stretch>
            <a:fillRect/>
          </a:stretch>
        </p:blipFill>
        <p:spPr>
          <a:xfrm>
            <a:off x="1108075" y="3476625"/>
            <a:ext cx="6118225" cy="2689225"/>
          </a:xfrm>
          <a:prstGeom prst="rect">
            <a:avLst/>
          </a:prstGeom>
          <a:noFill/>
          <a:ln w="9525">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强化学习</a:t>
            </a:r>
            <a:endParaRPr lang="zh-CN" altLang="en-US" dirty="0">
              <a:latin typeface="微软雅黑" panose="020B0503020204020204" pitchFamily="34" charset="-122"/>
              <a:ea typeface="微软雅黑" panose="020B0503020204020204" pitchFamily="34" charset="-122"/>
            </a:endParaRPr>
          </a:p>
        </p:txBody>
      </p:sp>
      <p:sp>
        <p:nvSpPr>
          <p:cNvPr id="48130" name="Rectangle 2"/>
          <p:cNvSpPr>
            <a:spLocks noGrp="1"/>
          </p:cNvSpPr>
          <p:nvPr/>
        </p:nvSpPr>
        <p:spPr>
          <a:xfrm>
            <a:off x="476250" y="509588"/>
            <a:ext cx="4365625"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代表性算法</a:t>
            </a:r>
            <a:r>
              <a:rPr lang="en-US" altLang="zh-CN" sz="2400">
                <a:latin typeface="微软雅黑" panose="020B0503020204020204" pitchFamily="34" charset="-122"/>
                <a:ea typeface="微软雅黑" panose="020B0503020204020204" pitchFamily="34" charset="-122"/>
                <a:sym typeface="宋体" panose="02010600030101010101" pitchFamily="2" charset="-122"/>
              </a:rPr>
              <a:t>—Q-learning</a:t>
            </a:r>
            <a:endParaRPr lang="en-US" altLang="zh-CN"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48131" name="文本框 2"/>
          <p:cNvSpPr txBox="1"/>
          <p:nvPr/>
        </p:nvSpPr>
        <p:spPr>
          <a:xfrm>
            <a:off x="550863" y="1027113"/>
            <a:ext cx="1465262" cy="460375"/>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算法决策</a:t>
            </a:r>
            <a:endParaRPr lang="zh-CN" altLang="en-US" sz="2400" b="0">
              <a:latin typeface="微软雅黑" panose="020B0503020204020204" pitchFamily="34" charset="-122"/>
              <a:ea typeface="微软雅黑" panose="020B0503020204020204" pitchFamily="34" charset="-122"/>
            </a:endParaRPr>
          </a:p>
        </p:txBody>
      </p:sp>
      <p:sp>
        <p:nvSpPr>
          <p:cNvPr id="48132" name="文本框 3"/>
          <p:cNvSpPr txBox="1"/>
          <p:nvPr/>
        </p:nvSpPr>
        <p:spPr>
          <a:xfrm>
            <a:off x="550863" y="3800475"/>
            <a:ext cx="1514475" cy="460375"/>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算法更新</a:t>
            </a:r>
            <a:endParaRPr lang="zh-CN" altLang="en-US" sz="2400" b="0">
              <a:latin typeface="微软雅黑" panose="020B0503020204020204" pitchFamily="34" charset="-122"/>
              <a:ea typeface="微软雅黑" panose="020B0503020204020204" pitchFamily="34" charset="-122"/>
            </a:endParaRPr>
          </a:p>
        </p:txBody>
      </p:sp>
      <p:pic>
        <p:nvPicPr>
          <p:cNvPr id="48133" name="图片 4" descr="20181013140521782"/>
          <p:cNvPicPr>
            <a:picLocks noChangeAspect="1"/>
          </p:cNvPicPr>
          <p:nvPr/>
        </p:nvPicPr>
        <p:blipFill>
          <a:blip r:embed="rId1"/>
          <a:stretch>
            <a:fillRect/>
          </a:stretch>
        </p:blipFill>
        <p:spPr>
          <a:xfrm>
            <a:off x="2259013" y="1027113"/>
            <a:ext cx="4859337" cy="2722562"/>
          </a:xfrm>
          <a:prstGeom prst="rect">
            <a:avLst/>
          </a:prstGeom>
          <a:noFill/>
          <a:ln w="9525">
            <a:noFill/>
          </a:ln>
        </p:spPr>
      </p:pic>
      <p:pic>
        <p:nvPicPr>
          <p:cNvPr id="48134" name="图片 5" descr="20181013140543858"/>
          <p:cNvPicPr>
            <a:picLocks noChangeAspect="1"/>
          </p:cNvPicPr>
          <p:nvPr/>
        </p:nvPicPr>
        <p:blipFill>
          <a:blip r:embed="rId2"/>
          <a:stretch>
            <a:fillRect/>
          </a:stretch>
        </p:blipFill>
        <p:spPr>
          <a:xfrm>
            <a:off x="2259013" y="3800475"/>
            <a:ext cx="4859337" cy="2709863"/>
          </a:xfrm>
          <a:prstGeom prst="rect">
            <a:avLst/>
          </a:prstGeom>
          <a:noFill/>
          <a:ln w="9525">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强化学习</a:t>
            </a:r>
            <a:endParaRPr lang="zh-CN" altLang="en-US" dirty="0">
              <a:latin typeface="微软雅黑" panose="020B0503020204020204" pitchFamily="34" charset="-122"/>
              <a:ea typeface="微软雅黑" panose="020B0503020204020204" pitchFamily="34" charset="-122"/>
            </a:endParaRPr>
          </a:p>
        </p:txBody>
      </p:sp>
      <p:sp>
        <p:nvSpPr>
          <p:cNvPr id="49154" name="Rectangle 2"/>
          <p:cNvSpPr>
            <a:spLocks noGrp="1"/>
          </p:cNvSpPr>
          <p:nvPr/>
        </p:nvSpPr>
        <p:spPr>
          <a:xfrm>
            <a:off x="476250" y="509588"/>
            <a:ext cx="4365625"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代表性算法</a:t>
            </a:r>
            <a:r>
              <a:rPr lang="en-US" altLang="zh-CN" sz="2400">
                <a:latin typeface="微软雅黑" panose="020B0503020204020204" pitchFamily="34" charset="-122"/>
                <a:ea typeface="微软雅黑" panose="020B0503020204020204" pitchFamily="34" charset="-122"/>
                <a:sym typeface="宋体" panose="02010600030101010101" pitchFamily="2" charset="-122"/>
              </a:rPr>
              <a:t>—Q-learning</a:t>
            </a:r>
            <a:endParaRPr lang="en-US" altLang="zh-CN"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49155" name="文本框 2"/>
          <p:cNvSpPr txBox="1"/>
          <p:nvPr/>
        </p:nvSpPr>
        <p:spPr>
          <a:xfrm>
            <a:off x="546100" y="1017588"/>
            <a:ext cx="8050213" cy="830262"/>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与Q-learning基本类似，唯一的区别是更新方式不一样，Sarsa是on-policy的，Q-learning是off-policy的</a:t>
            </a:r>
            <a:endParaRPr lang="zh-CN" altLang="en-US" sz="2400" b="0">
              <a:latin typeface="微软雅黑" panose="020B0503020204020204" pitchFamily="34" charset="-122"/>
              <a:ea typeface="微软雅黑" panose="020B0503020204020204" pitchFamily="34" charset="-122"/>
            </a:endParaRPr>
          </a:p>
        </p:txBody>
      </p:sp>
      <p:pic>
        <p:nvPicPr>
          <p:cNvPr id="49156" name="图片 3" descr="20181013140956979"/>
          <p:cNvPicPr>
            <a:picLocks noChangeAspect="1"/>
          </p:cNvPicPr>
          <p:nvPr/>
        </p:nvPicPr>
        <p:blipFill>
          <a:blip r:embed="rId1"/>
          <a:stretch>
            <a:fillRect/>
          </a:stretch>
        </p:blipFill>
        <p:spPr>
          <a:xfrm>
            <a:off x="309563" y="2492375"/>
            <a:ext cx="4167187" cy="2339975"/>
          </a:xfrm>
          <a:prstGeom prst="rect">
            <a:avLst/>
          </a:prstGeom>
          <a:noFill/>
          <a:ln w="9525">
            <a:noFill/>
          </a:ln>
        </p:spPr>
      </p:pic>
      <p:pic>
        <p:nvPicPr>
          <p:cNvPr id="49157" name="图片 4" descr="20181013141005873"/>
          <p:cNvPicPr>
            <a:picLocks noChangeAspect="1"/>
          </p:cNvPicPr>
          <p:nvPr/>
        </p:nvPicPr>
        <p:blipFill>
          <a:blip r:embed="rId2"/>
          <a:stretch>
            <a:fillRect/>
          </a:stretch>
        </p:blipFill>
        <p:spPr>
          <a:xfrm>
            <a:off x="4551363" y="2492375"/>
            <a:ext cx="4119562" cy="2339975"/>
          </a:xfrm>
          <a:prstGeom prst="rect">
            <a:avLst/>
          </a:prstGeom>
          <a:noFill/>
          <a:ln w="9525">
            <a:noFill/>
          </a:ln>
        </p:spPr>
      </p:pic>
      <p:sp>
        <p:nvSpPr>
          <p:cNvPr id="49158" name="文本框 5"/>
          <p:cNvSpPr txBox="1"/>
          <p:nvPr/>
        </p:nvSpPr>
        <p:spPr>
          <a:xfrm>
            <a:off x="1425575" y="4943475"/>
            <a:ext cx="6294438" cy="460375"/>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Sarsa更新                            Q-learning更新</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强化学习</a:t>
            </a:r>
            <a:endParaRPr lang="zh-CN" altLang="en-US" dirty="0">
              <a:latin typeface="微软雅黑" panose="020B0503020204020204" pitchFamily="34" charset="-122"/>
              <a:ea typeface="微软雅黑" panose="020B0503020204020204" pitchFamily="34" charset="-122"/>
            </a:endParaRPr>
          </a:p>
        </p:txBody>
      </p:sp>
      <p:sp>
        <p:nvSpPr>
          <p:cNvPr id="50178" name="Rectangle 2"/>
          <p:cNvSpPr>
            <a:spLocks noGrp="1"/>
          </p:cNvSpPr>
          <p:nvPr/>
        </p:nvSpPr>
        <p:spPr>
          <a:xfrm>
            <a:off x="476250" y="450850"/>
            <a:ext cx="5705475"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代表性算法</a:t>
            </a:r>
            <a:r>
              <a:rPr lang="en-US" altLang="zh-CN" sz="2400">
                <a:latin typeface="微软雅黑" panose="020B0503020204020204" pitchFamily="34" charset="-122"/>
                <a:ea typeface="微软雅黑" panose="020B0503020204020204" pitchFamily="34" charset="-122"/>
                <a:sym typeface="宋体" panose="02010600030101010101" pitchFamily="2" charset="-122"/>
              </a:rPr>
              <a:t>—DQN</a:t>
            </a:r>
            <a:endParaRPr lang="en-US" altLang="zh-CN"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50179" name="文本框 2"/>
          <p:cNvSpPr txBox="1"/>
          <p:nvPr/>
        </p:nvSpPr>
        <p:spPr>
          <a:xfrm>
            <a:off x="476250" y="1460500"/>
            <a:ext cx="8170863" cy="3784600"/>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深度强化学习全称是 Deep Reinforcement Learning（DRL），其所带来的推理能力 是智能的一个关键特征衡量，真正的让机器有了自我学习、自我思考的能力。</a:t>
            </a:r>
            <a:endParaRPr lang="zh-CN" altLang="en-US" sz="2400" b="0">
              <a:latin typeface="微软雅黑" panose="020B0503020204020204" pitchFamily="34" charset="-122"/>
              <a:ea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深度强化学习(Deep Reinforcement Learning，DRL)本质上属于采用神经网络作为值函数估计器的一类方法，其主要优势在于它能够利用深度神经网络对状态特征进行自动抽取，避免了人工 定义状态特征带来的不准确性，使得Agent能够在更原始的状态上进行学习。</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强化学习</a:t>
            </a:r>
            <a:endParaRPr lang="zh-CN" altLang="en-US" dirty="0">
              <a:latin typeface="微软雅黑" panose="020B0503020204020204" pitchFamily="34" charset="-122"/>
              <a:ea typeface="微软雅黑" panose="020B0503020204020204" pitchFamily="34" charset="-122"/>
            </a:endParaRPr>
          </a:p>
        </p:txBody>
      </p:sp>
      <p:sp>
        <p:nvSpPr>
          <p:cNvPr id="51202" name="Rectangle 2"/>
          <p:cNvSpPr>
            <a:spLocks noGrp="1"/>
          </p:cNvSpPr>
          <p:nvPr/>
        </p:nvSpPr>
        <p:spPr>
          <a:xfrm>
            <a:off x="476250" y="450850"/>
            <a:ext cx="5705475"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代表性算法</a:t>
            </a:r>
            <a:r>
              <a:rPr lang="en-US" altLang="zh-CN" sz="2400">
                <a:latin typeface="微软雅黑" panose="020B0503020204020204" pitchFamily="34" charset="-122"/>
                <a:ea typeface="微软雅黑" panose="020B0503020204020204" pitchFamily="34" charset="-122"/>
                <a:sym typeface="宋体" panose="02010600030101010101" pitchFamily="2" charset="-122"/>
              </a:rPr>
              <a:t>—DQN</a:t>
            </a:r>
            <a:endParaRPr lang="en-US" altLang="zh-CN"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51203" name="文本框 3"/>
          <p:cNvSpPr txBox="1"/>
          <p:nvPr/>
        </p:nvSpPr>
        <p:spPr>
          <a:xfrm>
            <a:off x="476250" y="1009650"/>
            <a:ext cx="8005763" cy="1568450"/>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    DQN（Deep Q Network）是一种融合了神经网络和Q learning的方法.</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    有些问题太复杂，Q表无法存储，即使可以存储，搜索也很麻烦。故而，将Q表用神经网络进行替代。</a:t>
            </a:r>
            <a:endParaRPr lang="zh-CN" altLang="en-US" sz="2400" b="0">
              <a:latin typeface="微软雅黑" panose="020B0503020204020204" pitchFamily="34" charset="-122"/>
              <a:ea typeface="微软雅黑" panose="020B0503020204020204" pitchFamily="34" charset="-122"/>
            </a:endParaRPr>
          </a:p>
        </p:txBody>
      </p:sp>
      <p:pic>
        <p:nvPicPr>
          <p:cNvPr id="51204" name="图片 4" descr="20181013141350330"/>
          <p:cNvPicPr>
            <a:picLocks noChangeAspect="1"/>
          </p:cNvPicPr>
          <p:nvPr/>
        </p:nvPicPr>
        <p:blipFill>
          <a:blip r:embed="rId1"/>
          <a:stretch>
            <a:fillRect/>
          </a:stretch>
        </p:blipFill>
        <p:spPr>
          <a:xfrm>
            <a:off x="1427163" y="2874963"/>
            <a:ext cx="6450012" cy="3224212"/>
          </a:xfrm>
          <a:prstGeom prst="rect">
            <a:avLst/>
          </a:prstGeom>
          <a:noFill/>
          <a:ln w="9525">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文本框 5"/>
          <p:cNvSpPr txBox="1"/>
          <p:nvPr/>
        </p:nvSpPr>
        <p:spPr>
          <a:xfrm>
            <a:off x="476250" y="1225550"/>
            <a:ext cx="8104188" cy="3044825"/>
          </a:xfrm>
          <a:prstGeom prst="rect">
            <a:avLst/>
          </a:prstGeom>
          <a:noFill/>
          <a:ln w="9525">
            <a:noFill/>
          </a:ln>
        </p:spPr>
        <p:txBody>
          <a:bodyPr wrap="square" anchor="t" anchorCtr="0">
            <a:spAutoFit/>
          </a:bodyPr>
          <a:p>
            <a:r>
              <a:rPr lang="zh-CN" altLang="en-US" sz="2400">
                <a:latin typeface="微软雅黑" panose="020B0503020204020204" pitchFamily="34" charset="-122"/>
                <a:ea typeface="微软雅黑" panose="020B0503020204020204" pitchFamily="34" charset="-122"/>
              </a:rPr>
              <a:t>增加了两个新特性</a:t>
            </a:r>
            <a:endParaRPr lang="zh-CN" altLang="en-US" sz="240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Experience replay：每次DQN更新的时候，随机抽取一些之前的经历进行学习。随机抽取这种打乱了经历之间的相关性，使得神经网络更新更有效率。</a:t>
            </a:r>
            <a:endParaRPr lang="zh-CN" altLang="en-US" sz="2400" b="0">
              <a:latin typeface="微软雅黑" panose="020B0503020204020204" pitchFamily="34" charset="-122"/>
              <a:ea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Fixed Q-targets：使用两个结构相同但参数不同的神经网络，预测Q估计的神经网络具备最新的参数，而预测Q现实的神经网络使用的参数则是很久以前的。</a:t>
            </a:r>
            <a:endParaRPr lang="zh-CN" altLang="en-US" sz="2400" b="0">
              <a:latin typeface="微软雅黑" panose="020B0503020204020204" pitchFamily="34" charset="-122"/>
              <a:ea typeface="微软雅黑" panose="020B0503020204020204" pitchFamily="34" charset="-122"/>
            </a:endParaRPr>
          </a:p>
        </p:txBody>
      </p:sp>
      <p:sp>
        <p:nvSpPr>
          <p:cNvPr id="52226"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强化学习</a:t>
            </a:r>
            <a:endParaRPr lang="zh-CN" altLang="en-US" dirty="0">
              <a:latin typeface="微软雅黑" panose="020B0503020204020204" pitchFamily="34" charset="-122"/>
              <a:ea typeface="微软雅黑" panose="020B0503020204020204" pitchFamily="34" charset="-122"/>
            </a:endParaRPr>
          </a:p>
        </p:txBody>
      </p:sp>
      <p:sp>
        <p:nvSpPr>
          <p:cNvPr id="52227" name="Rectangle 2"/>
          <p:cNvSpPr>
            <a:spLocks noGrp="1"/>
          </p:cNvSpPr>
          <p:nvPr/>
        </p:nvSpPr>
        <p:spPr>
          <a:xfrm>
            <a:off x="476250" y="450850"/>
            <a:ext cx="5705475"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代表性算法</a:t>
            </a:r>
            <a:r>
              <a:rPr lang="en-US" altLang="zh-CN" sz="2400">
                <a:latin typeface="微软雅黑" panose="020B0503020204020204" pitchFamily="34" charset="-122"/>
                <a:ea typeface="微软雅黑" panose="020B0503020204020204" pitchFamily="34" charset="-122"/>
                <a:sym typeface="宋体" panose="02010600030101010101" pitchFamily="2" charset="-122"/>
              </a:rPr>
              <a:t>—DQN</a:t>
            </a:r>
            <a:endParaRPr lang="en-US" altLang="zh-CN" sz="2400">
              <a:latin typeface="微软雅黑" panose="020B0503020204020204" pitchFamily="34" charset="-122"/>
              <a:ea typeface="微软雅黑" panose="020B0503020204020204" pitchFamily="34" charset="-122"/>
              <a:sym typeface="宋体" panose="0201060003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强化学习</a:t>
            </a:r>
            <a:endParaRPr lang="zh-CN" altLang="en-US" dirty="0">
              <a:latin typeface="微软雅黑" panose="020B0503020204020204" pitchFamily="34" charset="-122"/>
              <a:ea typeface="微软雅黑" panose="020B0503020204020204" pitchFamily="34" charset="-122"/>
            </a:endParaRPr>
          </a:p>
        </p:txBody>
      </p:sp>
      <p:sp>
        <p:nvSpPr>
          <p:cNvPr id="53250" name="Rectangle 2"/>
          <p:cNvSpPr>
            <a:spLocks noGrp="1"/>
          </p:cNvSpPr>
          <p:nvPr/>
        </p:nvSpPr>
        <p:spPr>
          <a:xfrm>
            <a:off x="476250" y="450850"/>
            <a:ext cx="5705475"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代表性算法</a:t>
            </a:r>
            <a:r>
              <a:rPr lang="en-US" altLang="zh-CN" sz="2400">
                <a:latin typeface="微软雅黑" panose="020B0503020204020204" pitchFamily="34" charset="-122"/>
                <a:ea typeface="微软雅黑" panose="020B0503020204020204" pitchFamily="34" charset="-122"/>
                <a:sym typeface="宋体" panose="02010600030101010101" pitchFamily="2" charset="-122"/>
              </a:rPr>
              <a:t>—Policy Gradients</a:t>
            </a:r>
            <a:r>
              <a:rPr lang="zh-CN" altLang="en-US" sz="2400">
                <a:latin typeface="微软雅黑" panose="020B0503020204020204" pitchFamily="34" charset="-122"/>
                <a:ea typeface="微软雅黑" panose="020B0503020204020204" pitchFamily="34" charset="-122"/>
                <a:sym typeface="宋体" panose="02010600030101010101" pitchFamily="2" charset="-122"/>
              </a:rPr>
              <a:t>算法</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53251" name="文本框 2"/>
          <p:cNvSpPr txBox="1"/>
          <p:nvPr/>
        </p:nvSpPr>
        <p:spPr>
          <a:xfrm>
            <a:off x="476250" y="1065213"/>
            <a:ext cx="8010525" cy="2306637"/>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rPr>
              <a:t>强化学习是一个通过奖惩来学习正确行为的机制。家族中有很多种不一样的成员,有学习奖惩值, 根据自己认为的高价值选行为, 比如 Q learning, Deep Q Network, 也有不通过分析奖励值, 直接输出行为的方法, 这就是 </a:t>
            </a:r>
            <a:r>
              <a:rPr lang="zh-CN" altLang="en-US" sz="2400">
                <a:latin typeface="微软雅黑" panose="020B0503020204020204" pitchFamily="34" charset="-122"/>
                <a:ea typeface="微软雅黑" panose="020B0503020204020204" pitchFamily="34" charset="-122"/>
              </a:rPr>
              <a:t>Policy Gradients </a:t>
            </a:r>
            <a:r>
              <a:rPr lang="zh-CN" altLang="en-US" sz="2400" b="0">
                <a:latin typeface="微软雅黑" panose="020B0503020204020204" pitchFamily="34" charset="-122"/>
                <a:ea typeface="微软雅黑" panose="020B0503020204020204" pitchFamily="34" charset="-122"/>
              </a:rPr>
              <a:t>。甚至我们可以为 Policy Gradients 加上一个神经网络来输出预测的动作。</a:t>
            </a:r>
            <a:endParaRPr lang="zh-CN" altLang="en-US" sz="2400" b="0">
              <a:latin typeface="微软雅黑" panose="020B0503020204020204" pitchFamily="34" charset="-122"/>
              <a:ea typeface="微软雅黑" panose="020B0503020204020204" pitchFamily="34" charset="-122"/>
            </a:endParaRPr>
          </a:p>
        </p:txBody>
      </p:sp>
      <p:pic>
        <p:nvPicPr>
          <p:cNvPr id="53252" name="图片 3" descr="20181013141800910"/>
          <p:cNvPicPr>
            <a:picLocks noChangeAspect="1"/>
          </p:cNvPicPr>
          <p:nvPr/>
        </p:nvPicPr>
        <p:blipFill>
          <a:blip r:embed="rId1"/>
          <a:stretch>
            <a:fillRect/>
          </a:stretch>
        </p:blipFill>
        <p:spPr>
          <a:xfrm>
            <a:off x="1927225" y="3506788"/>
            <a:ext cx="4941888" cy="2776537"/>
          </a:xfrm>
          <a:prstGeom prst="rect">
            <a:avLst/>
          </a:prstGeom>
          <a:noFill/>
          <a:ln w="9525">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文本框 2"/>
          <p:cNvSpPr txBox="1"/>
          <p:nvPr/>
        </p:nvSpPr>
        <p:spPr>
          <a:xfrm>
            <a:off x="525463" y="1308100"/>
            <a:ext cx="8093075" cy="1938338"/>
          </a:xfrm>
          <a:prstGeom prst="rect">
            <a:avLst/>
          </a:prstGeom>
          <a:noFill/>
          <a:ln w="9525">
            <a:noFill/>
          </a:ln>
        </p:spPr>
        <p:txBody>
          <a:bodyPr wrap="square" anchor="t" anchorCtr="0">
            <a:spAutoFit/>
          </a:bodyPr>
          <a:p>
            <a:r>
              <a:rPr lang="en-US" altLang="zh-CN" sz="2400">
                <a:latin typeface="微软雅黑" panose="020B0503020204020204" pitchFamily="34" charset="-122"/>
                <a:ea typeface="微软雅黑" panose="020B0503020204020204" pitchFamily="34" charset="-122"/>
              </a:rPr>
              <a:t>Q-learning</a:t>
            </a:r>
            <a:r>
              <a:rPr lang="zh-CN" altLang="en-US" sz="2400">
                <a:latin typeface="微软雅黑" panose="020B0503020204020204" pitchFamily="34" charset="-122"/>
                <a:ea typeface="微软雅黑" panose="020B0503020204020204" pitchFamily="34" charset="-122"/>
              </a:rPr>
              <a:t>与</a:t>
            </a:r>
            <a:r>
              <a:rPr lang="en-US" altLang="zh-CN" sz="2400">
                <a:latin typeface="微软雅黑" panose="020B0503020204020204" pitchFamily="34" charset="-122"/>
                <a:ea typeface="微软雅黑" panose="020B0503020204020204" pitchFamily="34" charset="-122"/>
                <a:sym typeface="宋体" panose="02010600030101010101" pitchFamily="2" charset="-122"/>
              </a:rPr>
              <a:t>Policy Gradients</a:t>
            </a:r>
            <a:r>
              <a:rPr lang="zh-CN" altLang="en-US" sz="2400">
                <a:latin typeface="微软雅黑" panose="020B0503020204020204" pitchFamily="34" charset="-122"/>
                <a:ea typeface="微软雅黑" panose="020B0503020204020204" pitchFamily="34" charset="-122"/>
                <a:sym typeface="宋体" panose="02010600030101010101" pitchFamily="2" charset="-122"/>
              </a:rPr>
              <a:t>的</a:t>
            </a:r>
            <a:r>
              <a:rPr lang="zh-CN" altLang="en-US" sz="2400">
                <a:latin typeface="微软雅黑" panose="020B0503020204020204" pitchFamily="34" charset="-122"/>
                <a:ea typeface="微软雅黑" panose="020B0503020204020204" pitchFamily="34" charset="-122"/>
              </a:rPr>
              <a:t>区别</a:t>
            </a:r>
            <a:endParaRPr lang="zh-CN" altLang="en-US" sz="240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Q-learning、DQN：学习奖惩值, 根据自己认为的高价值选行为。</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Policy Gradients：不通过分析奖励值, 直接输出行为的方法。</a:t>
            </a:r>
            <a:endParaRPr lang="zh-CN" altLang="en-US" sz="2400" b="0">
              <a:latin typeface="微软雅黑" panose="020B0503020204020204" pitchFamily="34" charset="-122"/>
              <a:ea typeface="微软雅黑" panose="020B0503020204020204" pitchFamily="34" charset="-122"/>
            </a:endParaRPr>
          </a:p>
        </p:txBody>
      </p:sp>
      <p:sp>
        <p:nvSpPr>
          <p:cNvPr id="54274"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强化学习</a:t>
            </a:r>
            <a:endParaRPr lang="zh-CN" altLang="en-US" dirty="0">
              <a:latin typeface="微软雅黑" panose="020B0503020204020204" pitchFamily="34" charset="-122"/>
              <a:ea typeface="微软雅黑" panose="020B0503020204020204" pitchFamily="34" charset="-122"/>
            </a:endParaRPr>
          </a:p>
        </p:txBody>
      </p:sp>
      <p:sp>
        <p:nvSpPr>
          <p:cNvPr id="54275" name="Rectangle 2"/>
          <p:cNvSpPr>
            <a:spLocks noGrp="1"/>
          </p:cNvSpPr>
          <p:nvPr/>
        </p:nvSpPr>
        <p:spPr>
          <a:xfrm>
            <a:off x="476250" y="450850"/>
            <a:ext cx="5705475"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代表性算法</a:t>
            </a:r>
            <a:r>
              <a:rPr lang="en-US" altLang="zh-CN" sz="2400">
                <a:latin typeface="微软雅黑" panose="020B0503020204020204" pitchFamily="34" charset="-122"/>
                <a:ea typeface="微软雅黑" panose="020B0503020204020204" pitchFamily="34" charset="-122"/>
                <a:sym typeface="宋体" panose="02010600030101010101" pitchFamily="2" charset="-122"/>
              </a:rPr>
              <a:t>—Policy Gradients</a:t>
            </a:r>
            <a:r>
              <a:rPr lang="zh-CN" altLang="en-US" sz="2400">
                <a:latin typeface="微软雅黑" panose="020B0503020204020204" pitchFamily="34" charset="-122"/>
                <a:ea typeface="微软雅黑" panose="020B0503020204020204" pitchFamily="34" charset="-122"/>
                <a:sym typeface="宋体" panose="02010600030101010101" pitchFamily="2" charset="-122"/>
              </a:rPr>
              <a:t>算法</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54276" name="文本框 1"/>
          <p:cNvSpPr txBox="1"/>
          <p:nvPr/>
        </p:nvSpPr>
        <p:spPr>
          <a:xfrm>
            <a:off x="550863" y="3973513"/>
            <a:ext cx="8067675" cy="1568450"/>
          </a:xfrm>
          <a:prstGeom prst="rect">
            <a:avLst/>
          </a:prstGeom>
          <a:noFill/>
          <a:ln w="9525">
            <a:noFill/>
          </a:ln>
        </p:spPr>
        <p:txBody>
          <a:bodyPr wrap="square" anchor="t" anchorCtr="0">
            <a:spAutoFit/>
          </a:bodyPr>
          <a:p>
            <a:r>
              <a:rPr lang="zh-CN" altLang="en-US" sz="2400" b="0">
                <a:latin typeface="微软雅黑" panose="020B0503020204020204" pitchFamily="34" charset="-122"/>
                <a:ea typeface="微软雅黑" panose="020B0503020204020204" pitchFamily="34" charset="-122"/>
                <a:sym typeface="宋体" panose="02010600030101010101" pitchFamily="2" charset="-122"/>
              </a:rPr>
              <a:t>对比起以值为基础的方法, Policy Gradients 直接输出动作的最大好处就是, 它能在一个连续区间内挑选动作, 而基于值的, 比如 Q-learning,它如果在无穷多的动作中计算价值, 从而选择行为, 这样运算量会巨大</a:t>
            </a:r>
            <a:endParaRPr lang="zh-CN" altLang="en-US" sz="2400">
              <a:latin typeface="Times New Roman" panose="02020603050405020304" pitchFamily="18" charset="0"/>
              <a:ea typeface="宋体" panose="0201060003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5297" name="图片 2" descr="20181013141847551"/>
          <p:cNvPicPr>
            <a:picLocks noChangeAspect="1"/>
          </p:cNvPicPr>
          <p:nvPr/>
        </p:nvPicPr>
        <p:blipFill>
          <a:blip r:embed="rId1"/>
          <a:stretch>
            <a:fillRect/>
          </a:stretch>
        </p:blipFill>
        <p:spPr>
          <a:xfrm>
            <a:off x="3148013" y="1011238"/>
            <a:ext cx="5092700" cy="2667000"/>
          </a:xfrm>
          <a:prstGeom prst="rect">
            <a:avLst/>
          </a:prstGeom>
          <a:noFill/>
          <a:ln w="9525">
            <a:noFill/>
          </a:ln>
        </p:spPr>
      </p:pic>
      <p:pic>
        <p:nvPicPr>
          <p:cNvPr id="55298" name="图片 3" descr="20181013141903137"/>
          <p:cNvPicPr>
            <a:picLocks noChangeAspect="1"/>
          </p:cNvPicPr>
          <p:nvPr/>
        </p:nvPicPr>
        <p:blipFill>
          <a:blip r:embed="rId2"/>
          <a:stretch>
            <a:fillRect/>
          </a:stretch>
        </p:blipFill>
        <p:spPr>
          <a:xfrm>
            <a:off x="3052763" y="3930650"/>
            <a:ext cx="5472112" cy="2430463"/>
          </a:xfrm>
          <a:prstGeom prst="rect">
            <a:avLst/>
          </a:prstGeom>
          <a:noFill/>
          <a:ln w="9525">
            <a:noFill/>
          </a:ln>
        </p:spPr>
      </p:pic>
      <p:sp>
        <p:nvSpPr>
          <p:cNvPr id="55299" name="文本框 4"/>
          <p:cNvSpPr txBox="1"/>
          <p:nvPr/>
        </p:nvSpPr>
        <p:spPr>
          <a:xfrm>
            <a:off x="476250" y="1055688"/>
            <a:ext cx="2724150" cy="830262"/>
          </a:xfrm>
          <a:prstGeom prst="rect">
            <a:avLst/>
          </a:prstGeom>
          <a:noFill/>
          <a:ln w="9525">
            <a:noFill/>
          </a:ln>
        </p:spPr>
        <p:txBody>
          <a:bodyPr wrap="square" anchor="t" anchorCtr="0">
            <a:spAutoFit/>
          </a:bodyPr>
          <a:p>
            <a:r>
              <a:rPr lang="en-US" altLang="zh-CN" sz="2400">
                <a:latin typeface="微软雅黑" panose="020B0503020204020204" pitchFamily="34" charset="-122"/>
                <a:ea typeface="微软雅黑" panose="020B0503020204020204" pitchFamily="34" charset="-122"/>
                <a:sym typeface="宋体" panose="02010600030101010101" pitchFamily="2" charset="-122"/>
              </a:rPr>
              <a:t>Policy Gradients</a:t>
            </a:r>
            <a:endParaRPr lang="en-US" altLang="zh-CN" sz="2400">
              <a:latin typeface="微软雅黑" panose="020B0503020204020204" pitchFamily="34" charset="-122"/>
              <a:ea typeface="微软雅黑" panose="020B0503020204020204" pitchFamily="34" charset="-122"/>
              <a:sym typeface="宋体" panose="02010600030101010101" pitchFamily="2" charset="-122"/>
            </a:endParaRPr>
          </a:p>
          <a:p>
            <a:r>
              <a:rPr lang="zh-CN" altLang="en-US" sz="2400">
                <a:latin typeface="微软雅黑" panose="020B0503020204020204" pitchFamily="34" charset="-122"/>
                <a:ea typeface="微软雅黑" panose="020B0503020204020204" pitchFamily="34" charset="-122"/>
              </a:rPr>
              <a:t>更新</a:t>
            </a:r>
            <a:endParaRPr lang="zh-CN" altLang="en-US" sz="2400">
              <a:latin typeface="微软雅黑" panose="020B0503020204020204" pitchFamily="34" charset="-122"/>
              <a:ea typeface="微软雅黑" panose="020B0503020204020204" pitchFamily="34" charset="-122"/>
            </a:endParaRPr>
          </a:p>
        </p:txBody>
      </p:sp>
      <p:sp>
        <p:nvSpPr>
          <p:cNvPr id="55300" name="文本框 5"/>
          <p:cNvSpPr txBox="1"/>
          <p:nvPr/>
        </p:nvSpPr>
        <p:spPr>
          <a:xfrm>
            <a:off x="525463" y="3797300"/>
            <a:ext cx="1806575" cy="460375"/>
          </a:xfrm>
          <a:prstGeom prst="rect">
            <a:avLst/>
          </a:prstGeom>
          <a:noFill/>
          <a:ln w="9525">
            <a:noFill/>
          </a:ln>
        </p:spPr>
        <p:txBody>
          <a:bodyPr wrap="square" anchor="t" anchorCtr="0">
            <a:spAutoFit/>
          </a:bodyPr>
          <a:p>
            <a:r>
              <a:rPr lang="zh-CN" altLang="en-US" sz="2400">
                <a:latin typeface="微软雅黑" panose="020B0503020204020204" pitchFamily="34" charset="-122"/>
                <a:ea typeface="微软雅黑" panose="020B0503020204020204" pitchFamily="34" charset="-122"/>
              </a:rPr>
              <a:t>算法公式</a:t>
            </a:r>
            <a:endParaRPr lang="zh-CN" altLang="en-US" sz="2400">
              <a:latin typeface="微软雅黑" panose="020B0503020204020204" pitchFamily="34" charset="-122"/>
              <a:ea typeface="微软雅黑" panose="020B0503020204020204" pitchFamily="34" charset="-122"/>
            </a:endParaRPr>
          </a:p>
        </p:txBody>
      </p:sp>
      <p:sp>
        <p:nvSpPr>
          <p:cNvPr id="55301"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强化学习</a:t>
            </a:r>
            <a:endParaRPr lang="zh-CN" altLang="en-US" dirty="0">
              <a:latin typeface="微软雅黑" panose="020B0503020204020204" pitchFamily="34" charset="-122"/>
              <a:ea typeface="微软雅黑" panose="020B0503020204020204" pitchFamily="34" charset="-122"/>
            </a:endParaRPr>
          </a:p>
        </p:txBody>
      </p:sp>
      <p:sp>
        <p:nvSpPr>
          <p:cNvPr id="55302" name="Rectangle 2"/>
          <p:cNvSpPr>
            <a:spLocks noGrp="1"/>
          </p:cNvSpPr>
          <p:nvPr/>
        </p:nvSpPr>
        <p:spPr>
          <a:xfrm>
            <a:off x="476250" y="450850"/>
            <a:ext cx="5705475"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代表性算法</a:t>
            </a:r>
            <a:r>
              <a:rPr lang="en-US" altLang="zh-CN" sz="2400">
                <a:latin typeface="微软雅黑" panose="020B0503020204020204" pitchFamily="34" charset="-122"/>
                <a:ea typeface="微软雅黑" panose="020B0503020204020204" pitchFamily="34" charset="-122"/>
                <a:sym typeface="宋体" panose="02010600030101010101" pitchFamily="2" charset="-122"/>
              </a:rPr>
              <a:t>—Policy Gradients</a:t>
            </a:r>
            <a:r>
              <a:rPr lang="zh-CN" altLang="en-US" sz="2400">
                <a:latin typeface="微软雅黑" panose="020B0503020204020204" pitchFamily="34" charset="-122"/>
                <a:ea typeface="微软雅黑" panose="020B0503020204020204" pitchFamily="34" charset="-122"/>
                <a:sym typeface="宋体" panose="02010600030101010101" pitchFamily="2" charset="-122"/>
              </a:rPr>
              <a:t>算法</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强化学习</a:t>
            </a:r>
            <a:endParaRPr lang="zh-CN" altLang="en-US" dirty="0">
              <a:latin typeface="微软雅黑" panose="020B0503020204020204" pitchFamily="34" charset="-122"/>
              <a:ea typeface="微软雅黑" panose="020B0503020204020204" pitchFamily="34" charset="-122"/>
            </a:endParaRPr>
          </a:p>
        </p:txBody>
      </p:sp>
      <p:sp>
        <p:nvSpPr>
          <p:cNvPr id="57346" name="Rectangle 2"/>
          <p:cNvSpPr>
            <a:spLocks noGrp="1"/>
          </p:cNvSpPr>
          <p:nvPr/>
        </p:nvSpPr>
        <p:spPr>
          <a:xfrm>
            <a:off x="476250" y="450850"/>
            <a:ext cx="5705475"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代表性算法</a:t>
            </a:r>
            <a:r>
              <a:rPr lang="en-US" altLang="zh-CN" sz="2400">
                <a:latin typeface="微软雅黑" panose="020B0503020204020204" pitchFamily="34" charset="-122"/>
                <a:ea typeface="微软雅黑" panose="020B0503020204020204" pitchFamily="34" charset="-122"/>
                <a:sym typeface="宋体" panose="02010600030101010101" pitchFamily="2" charset="-122"/>
              </a:rPr>
              <a:t>—Actor-critic</a:t>
            </a:r>
            <a:r>
              <a:rPr lang="zh-CN" altLang="en-US" sz="2400">
                <a:latin typeface="微软雅黑" panose="020B0503020204020204" pitchFamily="34" charset="-122"/>
                <a:ea typeface="微软雅黑" panose="020B0503020204020204" pitchFamily="34" charset="-122"/>
                <a:sym typeface="宋体" panose="02010600030101010101" pitchFamily="2" charset="-122"/>
              </a:rPr>
              <a:t>算法</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57347" name="文本框 2"/>
          <p:cNvSpPr txBox="1"/>
          <p:nvPr/>
        </p:nvSpPr>
        <p:spPr>
          <a:xfrm>
            <a:off x="608013" y="1063625"/>
            <a:ext cx="7815262" cy="1568450"/>
          </a:xfrm>
          <a:prstGeom prst="rect">
            <a:avLst/>
          </a:prstGeom>
          <a:noFill/>
          <a:ln w="9525">
            <a:noFill/>
          </a:ln>
        </p:spPr>
        <p:txBody>
          <a:bodyPr wrap="square" anchor="t" anchorCtr="0">
            <a:spAutoFit/>
          </a:bodyPr>
          <a:p>
            <a:r>
              <a:rPr lang="en-US" altLang="zh-CN" sz="2400">
                <a:latin typeface="微软雅黑" panose="020B0503020204020204" pitchFamily="34" charset="-122"/>
                <a:ea typeface="微软雅黑" panose="020B0503020204020204" pitchFamily="34" charset="-122"/>
                <a:sym typeface="宋体" panose="02010600030101010101" pitchFamily="2" charset="-122"/>
              </a:rPr>
              <a:t>Actor-critic</a:t>
            </a:r>
            <a:r>
              <a:rPr lang="zh-CN" altLang="en-US" sz="2400">
                <a:latin typeface="微软雅黑" panose="020B0503020204020204" pitchFamily="34" charset="-122"/>
                <a:ea typeface="微软雅黑" panose="020B0503020204020204" pitchFamily="34" charset="-122"/>
                <a:sym typeface="宋体" panose="02010600030101010101" pitchFamily="2" charset="-122"/>
              </a:rPr>
              <a:t>算法</a:t>
            </a:r>
            <a:r>
              <a:rPr lang="zh-CN" altLang="en-US" sz="2400" b="0">
                <a:latin typeface="微软雅黑" panose="020B0503020204020204" pitchFamily="34" charset="-122"/>
                <a:ea typeface="微软雅黑" panose="020B0503020204020204" pitchFamily="34" charset="-122"/>
              </a:rPr>
              <a:t>结合了 Policy Gradient (Actor) 和 Function Approximation (Critic) 的方法。Actor 基于概率选行为, Critic 基于 Actor 的行为评判行为的得分, Actor 根据 Critic 的评分修改选行为的概率。</a:t>
            </a:r>
            <a:endParaRPr lang="zh-CN" altLang="en-US" sz="2400" b="0">
              <a:latin typeface="微软雅黑" panose="020B0503020204020204" pitchFamily="34" charset="-122"/>
              <a:ea typeface="微软雅黑" panose="020B0503020204020204" pitchFamily="34" charset="-122"/>
            </a:endParaRPr>
          </a:p>
        </p:txBody>
      </p:sp>
      <p:pic>
        <p:nvPicPr>
          <p:cNvPr id="57348" name="图片 3" descr="20181013142024727"/>
          <p:cNvPicPr>
            <a:picLocks noChangeAspect="1"/>
          </p:cNvPicPr>
          <p:nvPr/>
        </p:nvPicPr>
        <p:blipFill>
          <a:blip r:embed="rId1"/>
          <a:stretch>
            <a:fillRect/>
          </a:stretch>
        </p:blipFill>
        <p:spPr>
          <a:xfrm>
            <a:off x="1963738" y="2632075"/>
            <a:ext cx="5103812" cy="2903538"/>
          </a:xfrm>
          <a:prstGeom prst="rect">
            <a:avLst/>
          </a:prstGeom>
          <a:noFill/>
          <a:ln w="9525">
            <a:noFill/>
          </a:ln>
        </p:spPr>
      </p:pic>
      <p:sp>
        <p:nvSpPr>
          <p:cNvPr id="57349" name="文本框 4"/>
          <p:cNvSpPr txBox="1"/>
          <p:nvPr/>
        </p:nvSpPr>
        <p:spPr>
          <a:xfrm>
            <a:off x="565150" y="5705475"/>
            <a:ext cx="8013700" cy="828675"/>
          </a:xfrm>
          <a:prstGeom prst="rect">
            <a:avLst/>
          </a:prstGeom>
          <a:noFill/>
          <a:ln w="9525">
            <a:noFill/>
          </a:ln>
        </p:spPr>
        <p:txBody>
          <a:bodyPr wrap="square" anchor="t" anchorCtr="0">
            <a:spAutoFit/>
          </a:bodyPr>
          <a:p>
            <a:r>
              <a:rPr lang="en-US" altLang="zh-CN" sz="2400" b="0">
                <a:latin typeface="微软雅黑" panose="020B0503020204020204" pitchFamily="34" charset="-122"/>
                <a:ea typeface="微软雅黑" panose="020B0503020204020204" pitchFamily="34" charset="-122"/>
                <a:sym typeface="宋体" panose="02010600030101010101" pitchFamily="2" charset="-122"/>
              </a:rPr>
              <a:t>Actor-critic</a:t>
            </a:r>
            <a:r>
              <a:rPr lang="zh-CN" altLang="en-US" sz="2400" b="0">
                <a:latin typeface="微软雅黑" panose="020B0503020204020204" pitchFamily="34" charset="-122"/>
                <a:ea typeface="微软雅黑" panose="020B0503020204020204" pitchFamily="34" charset="-122"/>
                <a:sym typeface="宋体" panose="02010600030101010101" pitchFamily="2" charset="-122"/>
              </a:rPr>
              <a:t>算法是</a:t>
            </a:r>
            <a:r>
              <a:rPr lang="zh-CN" altLang="en-US" sz="2400" b="0">
                <a:latin typeface="微软雅黑" panose="020B0503020204020204" pitchFamily="34" charset="-122"/>
                <a:ea typeface="微软雅黑" panose="020B0503020204020204" pitchFamily="34" charset="-122"/>
              </a:rPr>
              <a:t>Policy Gradients + Q-learning：既可以在连续动作中取合适的动作，又可以进行单步更新。</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强化学习</a:t>
            </a:r>
            <a:endParaRPr lang="zh-CN" altLang="en-US" dirty="0">
              <a:latin typeface="微软雅黑" panose="020B0503020204020204" pitchFamily="34" charset="-122"/>
              <a:ea typeface="微软雅黑" panose="020B0503020204020204" pitchFamily="34" charset="-122"/>
            </a:endParaRPr>
          </a:p>
        </p:txBody>
      </p:sp>
      <p:sp>
        <p:nvSpPr>
          <p:cNvPr id="58370" name="Rectangle 2"/>
          <p:cNvSpPr>
            <a:spLocks noGrp="1"/>
          </p:cNvSpPr>
          <p:nvPr/>
        </p:nvSpPr>
        <p:spPr>
          <a:xfrm>
            <a:off x="476250" y="450850"/>
            <a:ext cx="5705475"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代表性算法</a:t>
            </a:r>
            <a:r>
              <a:rPr lang="en-US" altLang="zh-CN" sz="2400">
                <a:latin typeface="微软雅黑" panose="020B0503020204020204" pitchFamily="34" charset="-122"/>
                <a:ea typeface="微软雅黑" panose="020B0503020204020204" pitchFamily="34" charset="-122"/>
                <a:sym typeface="宋体" panose="02010600030101010101" pitchFamily="2" charset="-122"/>
              </a:rPr>
              <a:t>—Actor-critic</a:t>
            </a:r>
            <a:r>
              <a:rPr lang="zh-CN" altLang="en-US" sz="2400">
                <a:latin typeface="微软雅黑" panose="020B0503020204020204" pitchFamily="34" charset="-122"/>
                <a:ea typeface="微软雅黑" panose="020B0503020204020204" pitchFamily="34" charset="-122"/>
                <a:sym typeface="宋体" panose="02010600030101010101" pitchFamily="2" charset="-122"/>
              </a:rPr>
              <a:t>算法</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
        <p:nvSpPr>
          <p:cNvPr id="58371" name="文本框 1"/>
          <p:cNvSpPr txBox="1"/>
          <p:nvPr/>
        </p:nvSpPr>
        <p:spPr>
          <a:xfrm>
            <a:off x="476250" y="1106488"/>
            <a:ext cx="7961313" cy="1938337"/>
          </a:xfrm>
          <a:prstGeom prst="rect">
            <a:avLst/>
          </a:prstGeom>
          <a:noFill/>
          <a:ln w="9525">
            <a:noFill/>
          </a:ln>
        </p:spPr>
        <p:txBody>
          <a:bodyPr wrap="square" anchor="t" anchorCtr="0">
            <a:spAutoFit/>
          </a:bodyPr>
          <a:p>
            <a:r>
              <a:rPr lang="en-US" altLang="zh-CN" sz="2400">
                <a:latin typeface="微软雅黑" panose="020B0503020204020204" pitchFamily="34" charset="-122"/>
                <a:ea typeface="微软雅黑" panose="020B0503020204020204" pitchFamily="34" charset="-122"/>
                <a:sym typeface="宋体" panose="02010600030101010101" pitchFamily="2" charset="-122"/>
              </a:rPr>
              <a:t>Actor-critic</a:t>
            </a:r>
            <a:r>
              <a:rPr lang="zh-CN" altLang="en-US" sz="2400">
                <a:latin typeface="微软雅黑" panose="020B0503020204020204" pitchFamily="34" charset="-122"/>
                <a:ea typeface="微软雅黑" panose="020B0503020204020204" pitchFamily="34" charset="-122"/>
              </a:rPr>
              <a:t>与</a:t>
            </a:r>
            <a:r>
              <a:rPr lang="en-US" altLang="zh-CN" sz="2400">
                <a:latin typeface="微软雅黑" panose="020B0503020204020204" pitchFamily="34" charset="-122"/>
                <a:ea typeface="微软雅黑" panose="020B0503020204020204" pitchFamily="34" charset="-122"/>
                <a:sym typeface="宋体" panose="02010600030101010101" pitchFamily="2" charset="-122"/>
              </a:rPr>
              <a:t>Policy Gradients</a:t>
            </a:r>
            <a:r>
              <a:rPr lang="zh-CN" altLang="en-US" sz="2400">
                <a:latin typeface="微软雅黑" panose="020B0503020204020204" pitchFamily="34" charset="-122"/>
                <a:ea typeface="微软雅黑" panose="020B0503020204020204" pitchFamily="34" charset="-122"/>
                <a:sym typeface="宋体" panose="02010600030101010101" pitchFamily="2" charset="-122"/>
              </a:rPr>
              <a:t>的</a:t>
            </a:r>
            <a:r>
              <a:rPr lang="zh-CN" altLang="en-US" sz="2400">
                <a:latin typeface="微软雅黑" panose="020B0503020204020204" pitchFamily="34" charset="-122"/>
                <a:ea typeface="微软雅黑" panose="020B0503020204020204" pitchFamily="34" charset="-122"/>
              </a:rPr>
              <a:t>区别</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Policy gradient是回合后进行奖惩计算，前期没有值函数，需要后向推算。</a:t>
            </a:r>
            <a:endParaRPr lang="zh-CN" altLang="en-US" sz="2400" b="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Actor-critic多了一个critic方法，可以用来每一步进行一个好坏判断。</a:t>
            </a:r>
            <a:endParaRPr lang="zh-CN" altLang="en-US" sz="2400" b="0">
              <a:latin typeface="微软雅黑" panose="020B0503020204020204" pitchFamily="34" charset="-122"/>
              <a:ea typeface="微软雅黑" panose="020B0503020204020204" pitchFamily="34" charset="-122"/>
            </a:endParaRPr>
          </a:p>
        </p:txBody>
      </p:sp>
      <p:pic>
        <p:nvPicPr>
          <p:cNvPr id="58372" name="图片 2" descr="20181013142130999"/>
          <p:cNvPicPr>
            <a:picLocks noChangeAspect="1"/>
          </p:cNvPicPr>
          <p:nvPr/>
        </p:nvPicPr>
        <p:blipFill>
          <a:blip r:embed="rId1"/>
          <a:stretch>
            <a:fillRect/>
          </a:stretch>
        </p:blipFill>
        <p:spPr>
          <a:xfrm>
            <a:off x="2479675" y="3554413"/>
            <a:ext cx="5608638" cy="2925762"/>
          </a:xfrm>
          <a:prstGeom prst="rect">
            <a:avLst/>
          </a:prstGeom>
          <a:noFill/>
          <a:ln w="9525">
            <a:noFill/>
          </a:ln>
        </p:spPr>
      </p:pic>
      <p:sp>
        <p:nvSpPr>
          <p:cNvPr id="58373" name="文本框 3"/>
          <p:cNvSpPr txBox="1"/>
          <p:nvPr/>
        </p:nvSpPr>
        <p:spPr>
          <a:xfrm>
            <a:off x="476250" y="3325813"/>
            <a:ext cx="1920875" cy="830262"/>
          </a:xfrm>
          <a:prstGeom prst="rect">
            <a:avLst/>
          </a:prstGeom>
          <a:noFill/>
          <a:ln w="9525">
            <a:noFill/>
          </a:ln>
        </p:spPr>
        <p:txBody>
          <a:bodyPr wrap="square" anchor="t" anchorCtr="0">
            <a:spAutoFit/>
          </a:bodyPr>
          <a:p>
            <a:r>
              <a:rPr lang="en-US" altLang="zh-CN" sz="2400">
                <a:latin typeface="微软雅黑" panose="020B0503020204020204" pitchFamily="34" charset="-122"/>
                <a:ea typeface="微软雅黑" panose="020B0503020204020204" pitchFamily="34" charset="-122"/>
                <a:sym typeface="宋体" panose="02010600030101010101" pitchFamily="2" charset="-122"/>
              </a:rPr>
              <a:t>Actor-critic</a:t>
            </a:r>
            <a:r>
              <a:rPr lang="zh-CN" altLang="en-US" sz="2400">
                <a:latin typeface="微软雅黑" panose="020B0503020204020204" pitchFamily="34" charset="-122"/>
                <a:ea typeface="微软雅黑" panose="020B0503020204020204" pitchFamily="34" charset="-122"/>
                <a:sym typeface="宋体" panose="02010600030101010101" pitchFamily="2" charset="-122"/>
              </a:rPr>
              <a:t>更新</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文本框 2"/>
          <p:cNvSpPr txBox="1"/>
          <p:nvPr/>
        </p:nvSpPr>
        <p:spPr>
          <a:xfrm>
            <a:off x="531813" y="1254125"/>
            <a:ext cx="7583487" cy="2306638"/>
          </a:xfrm>
          <a:prstGeom prst="rect">
            <a:avLst/>
          </a:prstGeom>
          <a:noFill/>
          <a:ln w="9525">
            <a:noFill/>
          </a:ln>
        </p:spPr>
        <p:txBody>
          <a:bodyPr wrap="square" anchor="t" anchorCtr="0">
            <a:spAutoFit/>
          </a:bodyPr>
          <a:p>
            <a:r>
              <a:rPr lang="zh-CN" altLang="en-US" sz="2400">
                <a:latin typeface="微软雅黑" panose="020B0503020204020204" pitchFamily="34" charset="-122"/>
                <a:ea typeface="微软雅黑" panose="020B0503020204020204" pitchFamily="34" charset="-122"/>
              </a:rPr>
              <a:t>Actor Critic 方法的劣势</a:t>
            </a:r>
            <a:endParaRPr lang="zh-CN" altLang="en-US" sz="2400">
              <a:latin typeface="微软雅黑" panose="020B0503020204020204" pitchFamily="34" charset="-122"/>
              <a:ea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rPr>
              <a:t>取决于Critic的价值判断, 但是 Critic 难收敛, 再加上Actor 的更新, 就更难收敛。为了解决收敛问题, Google Deepmind 提出了Actor Critic 升级版 Deep Deterministic Policy Gradient。后者融合了 DQN 的优势, 解决了收敛难的问题。</a:t>
            </a:r>
            <a:endParaRPr lang="zh-CN" altLang="en-US" sz="2400" b="0">
              <a:latin typeface="微软雅黑" panose="020B0503020204020204" pitchFamily="34" charset="-122"/>
              <a:ea typeface="微软雅黑" panose="020B0503020204020204" pitchFamily="34" charset="-122"/>
            </a:endParaRPr>
          </a:p>
        </p:txBody>
      </p:sp>
      <p:sp>
        <p:nvSpPr>
          <p:cNvPr id="59394"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强化学习</a:t>
            </a:r>
            <a:endParaRPr lang="zh-CN" altLang="en-US" dirty="0">
              <a:latin typeface="微软雅黑" panose="020B0503020204020204" pitchFamily="34" charset="-122"/>
              <a:ea typeface="微软雅黑" panose="020B0503020204020204" pitchFamily="34" charset="-122"/>
            </a:endParaRPr>
          </a:p>
        </p:txBody>
      </p:sp>
      <p:sp>
        <p:nvSpPr>
          <p:cNvPr id="59395" name="Rectangle 2"/>
          <p:cNvSpPr>
            <a:spLocks noGrp="1"/>
          </p:cNvSpPr>
          <p:nvPr/>
        </p:nvSpPr>
        <p:spPr>
          <a:xfrm>
            <a:off x="476250" y="450850"/>
            <a:ext cx="5705475"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代表性算法</a:t>
            </a:r>
            <a:r>
              <a:rPr lang="en-US" altLang="zh-CN" sz="2400">
                <a:latin typeface="微软雅黑" panose="020B0503020204020204" pitchFamily="34" charset="-122"/>
                <a:ea typeface="微软雅黑" panose="020B0503020204020204" pitchFamily="34" charset="-122"/>
                <a:sym typeface="宋体" panose="02010600030101010101" pitchFamily="2" charset="-122"/>
              </a:rPr>
              <a:t>—Actor-critic</a:t>
            </a:r>
            <a:r>
              <a:rPr lang="zh-CN" altLang="en-US" sz="2400">
                <a:latin typeface="微软雅黑" panose="020B0503020204020204" pitchFamily="34" charset="-122"/>
                <a:ea typeface="微软雅黑" panose="020B0503020204020204" pitchFamily="34" charset="-122"/>
                <a:sym typeface="宋体" panose="02010600030101010101" pitchFamily="2" charset="-122"/>
              </a:rPr>
              <a:t>算法</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0417" name="图片 2" descr="20181013142256263"/>
          <p:cNvPicPr>
            <a:picLocks noChangeAspect="1"/>
          </p:cNvPicPr>
          <p:nvPr/>
        </p:nvPicPr>
        <p:blipFill>
          <a:blip r:embed="rId1"/>
          <a:stretch>
            <a:fillRect/>
          </a:stretch>
        </p:blipFill>
        <p:spPr>
          <a:xfrm>
            <a:off x="1593850" y="1101725"/>
            <a:ext cx="5865813" cy="5422900"/>
          </a:xfrm>
          <a:prstGeom prst="rect">
            <a:avLst/>
          </a:prstGeom>
          <a:noFill/>
          <a:ln w="9525">
            <a:noFill/>
          </a:ln>
        </p:spPr>
      </p:pic>
      <p:sp>
        <p:nvSpPr>
          <p:cNvPr id="60418"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强化学习</a:t>
            </a:r>
            <a:endParaRPr lang="zh-CN" altLang="en-US" dirty="0">
              <a:latin typeface="微软雅黑" panose="020B0503020204020204" pitchFamily="34" charset="-122"/>
              <a:ea typeface="微软雅黑" panose="020B0503020204020204" pitchFamily="34" charset="-122"/>
            </a:endParaRPr>
          </a:p>
        </p:txBody>
      </p:sp>
      <p:sp>
        <p:nvSpPr>
          <p:cNvPr id="60419" name="Rectangle 2"/>
          <p:cNvSpPr>
            <a:spLocks noGrp="1"/>
          </p:cNvSpPr>
          <p:nvPr/>
        </p:nvSpPr>
        <p:spPr>
          <a:xfrm>
            <a:off x="476250" y="450850"/>
            <a:ext cx="5705475" cy="450850"/>
          </a:xfrm>
          <a:prstGeom prst="rect">
            <a:avLst/>
          </a:prstGeom>
          <a:noFill/>
          <a:ln w="9525">
            <a:noFill/>
          </a:ln>
        </p:spPr>
        <p:txBody>
          <a:bodyPr anchor="t" anchorCtr="0"/>
          <a:p>
            <a:r>
              <a:rPr lang="zh-CN" altLang="en-US" sz="2400">
                <a:latin typeface="微软雅黑" panose="020B0503020204020204" pitchFamily="34" charset="-122"/>
                <a:ea typeface="微软雅黑" panose="020B0503020204020204" pitchFamily="34" charset="-122"/>
                <a:sym typeface="宋体" panose="02010600030101010101" pitchFamily="2" charset="-122"/>
              </a:rPr>
              <a:t>强化学习应用领域</a:t>
            </a:r>
            <a:endParaRPr lang="zh-CN" altLang="en-US" sz="2400">
              <a:latin typeface="微软雅黑" panose="020B0503020204020204" pitchFamily="34" charset="-122"/>
              <a:ea typeface="微软雅黑" panose="020B0503020204020204" pitchFamily="34" charset="-122"/>
              <a:sym typeface="宋体"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7"/>
          <p:cNvSpPr>
            <a:spLocks noChangeArrowheads="1"/>
          </p:cNvSpPr>
          <p:nvPr/>
        </p:nvSpPr>
        <p:spPr bwMode="auto">
          <a:xfrm>
            <a:off x="533400" y="1020763"/>
            <a:ext cx="7740650"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1. </a:t>
            </a:r>
            <a:r>
              <a:rPr kumimoji="1" lang="zh-CN" altLang="en-US"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阅读资料，强化学习相关内容</a:t>
            </a:r>
            <a:endPar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1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https://blog.csdn.net/aliceyangxi1987/article/details/73327378</a:t>
            </a:r>
            <a:endPar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https://blog.csdn.net/j754379117/article/details/83037799</a:t>
            </a:r>
            <a:endPar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http://www.elecfans.com/rengongzhineng/594910.html</a:t>
            </a:r>
            <a:endParaRPr kumimoji="1"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61442" name="Rectangle 6"/>
          <p:cNvSpPr/>
          <p:nvPr/>
        </p:nvSpPr>
        <p:spPr>
          <a:xfrm>
            <a:off x="533400" y="152400"/>
            <a:ext cx="5592763" cy="569913"/>
          </a:xfrm>
          <a:prstGeom prst="rect">
            <a:avLst/>
          </a:prstGeom>
          <a:noFill/>
          <a:ln w="9525">
            <a:noFill/>
          </a:ln>
        </p:spPr>
        <p:txBody>
          <a:bodyPr anchor="ctr" anchorCtr="0"/>
          <a:p>
            <a:pPr>
              <a:buClr>
                <a:schemeClr val="accent1"/>
              </a:buClr>
              <a:buFont typeface="Wingdings" panose="05000000000000000000" pitchFamily="2" charset="2"/>
            </a:pPr>
            <a:r>
              <a:rPr lang="zh-CN" altLang="en-US" sz="3200" dirty="0">
                <a:latin typeface="微软雅黑" panose="020B0503020204020204" pitchFamily="34" charset="-122"/>
                <a:ea typeface="微软雅黑" panose="020B0503020204020204" pitchFamily="34" charset="-122"/>
              </a:rPr>
              <a:t>作业</a:t>
            </a:r>
            <a:endParaRPr lang="zh-CN" altLang="en-US" sz="3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6"/>
          <p:cNvSpPr/>
          <p:nvPr/>
        </p:nvSpPr>
        <p:spPr>
          <a:xfrm>
            <a:off x="1447800" y="2590800"/>
            <a:ext cx="5895975" cy="1014413"/>
          </a:xfrm>
          <a:prstGeom prst="rect">
            <a:avLst/>
          </a:prstGeom>
          <a:noFill/>
          <a:ln w="9525">
            <a:noFill/>
          </a:ln>
        </p:spPr>
        <p:txBody>
          <a:bodyPr anchor="ctr" anchorCtr="0"/>
          <a:p>
            <a:pPr algn="ctr">
              <a:buClr>
                <a:schemeClr val="accent1"/>
              </a:buClr>
              <a:buFont typeface="Wingdings" panose="05000000000000000000" pitchFamily="2" charset="2"/>
            </a:pPr>
            <a:r>
              <a:rPr lang="zh-CN" altLang="en-US" sz="4400" dirty="0">
                <a:latin typeface="微软雅黑" panose="020B0503020204020204" pitchFamily="34" charset="-122"/>
                <a:ea typeface="微软雅黑" panose="020B0503020204020204" pitchFamily="34" charset="-122"/>
              </a:rPr>
              <a:t>分</a:t>
            </a:r>
            <a:r>
              <a:rPr lang="en-US" altLang="zh-CN" sz="4400" dirty="0">
                <a:latin typeface="微软雅黑" panose="020B0503020204020204" pitchFamily="34" charset="-122"/>
                <a:ea typeface="微软雅黑" panose="020B0503020204020204" pitchFamily="34" charset="-122"/>
              </a:rPr>
              <a:t> </a:t>
            </a:r>
            <a:r>
              <a:rPr lang="zh-CN" altLang="en-US" sz="4400" dirty="0">
                <a:latin typeface="微软雅黑" panose="020B0503020204020204" pitchFamily="34" charset="-122"/>
                <a:ea typeface="微软雅黑" panose="020B0503020204020204" pitchFamily="34" charset="-122"/>
              </a:rPr>
              <a:t>布</a:t>
            </a:r>
            <a:r>
              <a:rPr lang="en-US" altLang="zh-CN" sz="4400" dirty="0">
                <a:latin typeface="微软雅黑" panose="020B0503020204020204" pitchFamily="34" charset="-122"/>
                <a:ea typeface="微软雅黑" panose="020B0503020204020204" pitchFamily="34" charset="-122"/>
              </a:rPr>
              <a:t> </a:t>
            </a:r>
            <a:r>
              <a:rPr lang="zh-CN" altLang="en-US" sz="4400" dirty="0">
                <a:latin typeface="微软雅黑" panose="020B0503020204020204" pitchFamily="34" charset="-122"/>
                <a:ea typeface="微软雅黑" panose="020B0503020204020204" pitchFamily="34" charset="-122"/>
              </a:rPr>
              <a:t>式</a:t>
            </a:r>
            <a:r>
              <a:rPr lang="en-US" altLang="zh-CN" sz="4400" dirty="0">
                <a:latin typeface="微软雅黑" panose="020B0503020204020204" pitchFamily="34" charset="-122"/>
                <a:ea typeface="微软雅黑" panose="020B0503020204020204" pitchFamily="34" charset="-122"/>
              </a:rPr>
              <a:t> </a:t>
            </a:r>
            <a:r>
              <a:rPr lang="zh-CN" altLang="en-US" sz="4400" dirty="0">
                <a:latin typeface="微软雅黑" panose="020B0503020204020204" pitchFamily="34" charset="-122"/>
                <a:ea typeface="微软雅黑" panose="020B0503020204020204" pitchFamily="34" charset="-122"/>
              </a:rPr>
              <a:t>机</a:t>
            </a:r>
            <a:r>
              <a:rPr lang="en-US" altLang="zh-CN" sz="4400" dirty="0">
                <a:latin typeface="微软雅黑" panose="020B0503020204020204" pitchFamily="34" charset="-122"/>
                <a:ea typeface="微软雅黑" panose="020B0503020204020204" pitchFamily="34" charset="-122"/>
              </a:rPr>
              <a:t> </a:t>
            </a:r>
            <a:r>
              <a:rPr lang="zh-CN" altLang="en-US" sz="4400" dirty="0">
                <a:latin typeface="微软雅黑" panose="020B0503020204020204" pitchFamily="34" charset="-122"/>
                <a:ea typeface="微软雅黑" panose="020B0503020204020204" pitchFamily="34" charset="-122"/>
              </a:rPr>
              <a:t>器</a:t>
            </a:r>
            <a:r>
              <a:rPr lang="en-US" altLang="zh-CN" sz="4400" dirty="0">
                <a:latin typeface="微软雅黑" panose="020B0503020204020204" pitchFamily="34" charset="-122"/>
                <a:ea typeface="微软雅黑" panose="020B0503020204020204" pitchFamily="34" charset="-122"/>
              </a:rPr>
              <a:t> </a:t>
            </a:r>
            <a:r>
              <a:rPr lang="zh-CN" altLang="en-US" sz="4400" dirty="0">
                <a:latin typeface="微软雅黑" panose="020B0503020204020204" pitchFamily="34" charset="-122"/>
                <a:ea typeface="微软雅黑" panose="020B0503020204020204" pitchFamily="34" charset="-122"/>
              </a:rPr>
              <a:t>学</a:t>
            </a:r>
            <a:r>
              <a:rPr lang="en-US" altLang="zh-CN" sz="4400" dirty="0">
                <a:latin typeface="微软雅黑" panose="020B0503020204020204" pitchFamily="34" charset="-122"/>
                <a:ea typeface="微软雅黑" panose="020B0503020204020204" pitchFamily="34" charset="-122"/>
              </a:rPr>
              <a:t> </a:t>
            </a:r>
            <a:r>
              <a:rPr lang="zh-CN" altLang="en-US" sz="4400" dirty="0">
                <a:latin typeface="微软雅黑" panose="020B0503020204020204" pitchFamily="34" charset="-122"/>
                <a:ea typeface="微软雅黑" panose="020B0503020204020204" pitchFamily="34" charset="-122"/>
              </a:rPr>
              <a:t>习</a:t>
            </a:r>
            <a:endParaRPr lang="zh-CN" altLang="en-US" sz="4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分布式</a:t>
            </a:r>
            <a:r>
              <a:rPr lang="zh-CN" altLang="en-US" dirty="0">
                <a:latin typeface="微软雅黑" panose="020B0503020204020204" pitchFamily="34" charset="-122"/>
                <a:ea typeface="微软雅黑" panose="020B0503020204020204" pitchFamily="34" charset="-122"/>
              </a:rPr>
              <a:t>机器学习</a:t>
            </a:r>
            <a:endParaRPr lang="zh-CN" altLang="en-US" dirty="0">
              <a:latin typeface="微软雅黑" panose="020B0503020204020204" pitchFamily="34" charset="-122"/>
              <a:ea typeface="微软雅黑" panose="020B0503020204020204" pitchFamily="34" charset="-122"/>
            </a:endParaRPr>
          </a:p>
        </p:txBody>
      </p:sp>
      <p:sp>
        <p:nvSpPr>
          <p:cNvPr id="57347" name="文本框 2"/>
          <p:cNvSpPr txBox="1"/>
          <p:nvPr/>
        </p:nvSpPr>
        <p:spPr>
          <a:xfrm>
            <a:off x="533083" y="1219200"/>
            <a:ext cx="7815262" cy="4892675"/>
          </a:xfrm>
          <a:prstGeom prst="rect">
            <a:avLst/>
          </a:prstGeom>
          <a:noFill/>
          <a:ln w="9525">
            <a:noFill/>
          </a:ln>
        </p:spPr>
        <p:txBody>
          <a:bodyPr wrap="square" anchor="t" anchorCtr="0">
            <a:spAutoFit/>
          </a:bodyPr>
          <a:p>
            <a:r>
              <a:rPr sz="2400">
                <a:latin typeface="微软雅黑" panose="020B0503020204020204" pitchFamily="34" charset="-122"/>
                <a:ea typeface="微软雅黑" panose="020B0503020204020204" pitchFamily="34" charset="-122"/>
              </a:rPr>
              <a:t>分布式机器学习(distributed machine learning)</a:t>
            </a:r>
            <a:r>
              <a:rPr sz="2400" b="0">
                <a:latin typeface="微软雅黑" panose="020B0503020204020204" pitchFamily="34" charset="-122"/>
                <a:ea typeface="微软雅黑" panose="020B0503020204020204" pitchFamily="34" charset="-122"/>
              </a:rPr>
              <a:t>，是指利用</a:t>
            </a:r>
            <a:r>
              <a:rPr sz="2400">
                <a:latin typeface="微软雅黑" panose="020B0503020204020204" pitchFamily="34" charset="-122"/>
                <a:ea typeface="微软雅黑" panose="020B0503020204020204" pitchFamily="34" charset="-122"/>
              </a:rPr>
              <a:t>多个计算/任务节点（Worker）</a:t>
            </a:r>
            <a:r>
              <a:rPr sz="2400" b="0">
                <a:latin typeface="微软雅黑" panose="020B0503020204020204" pitchFamily="34" charset="-122"/>
                <a:ea typeface="微软雅黑" panose="020B0503020204020204" pitchFamily="34" charset="-122"/>
              </a:rPr>
              <a:t>协同训练一个全局的机器学习/深度学习模型（由主节点Master调度）。</a:t>
            </a:r>
            <a:endParaRPr sz="2400" b="0">
              <a:latin typeface="微软雅黑" panose="020B0503020204020204" pitchFamily="34" charset="-122"/>
              <a:ea typeface="微软雅黑" panose="020B0503020204020204" pitchFamily="34" charset="-122"/>
            </a:endParaRPr>
          </a:p>
          <a:p>
            <a:endParaRPr sz="2400" b="0">
              <a:latin typeface="微软雅黑" panose="020B0503020204020204" pitchFamily="34" charset="-122"/>
              <a:ea typeface="微软雅黑" panose="020B0503020204020204" pitchFamily="34" charset="-122"/>
            </a:endParaRPr>
          </a:p>
          <a:p>
            <a:endParaRPr sz="2400" b="0">
              <a:latin typeface="微软雅黑" panose="020B0503020204020204" pitchFamily="34" charset="-122"/>
              <a:ea typeface="微软雅黑" panose="020B0503020204020204" pitchFamily="34" charset="-122"/>
            </a:endParaRPr>
          </a:p>
          <a:p>
            <a:r>
              <a:rPr sz="2400" b="0">
                <a:latin typeface="微软雅黑" panose="020B0503020204020204" pitchFamily="34" charset="-122"/>
                <a:ea typeface="微软雅黑" panose="020B0503020204020204" pitchFamily="34" charset="-122"/>
              </a:rPr>
              <a:t>分布式机器学习和传统的HPC</a:t>
            </a:r>
            <a:r>
              <a:rPr lang="zh-CN" sz="2400" b="0">
                <a:latin typeface="微软雅黑" panose="020B0503020204020204" pitchFamily="34" charset="-122"/>
                <a:ea typeface="微软雅黑" panose="020B0503020204020204" pitchFamily="34" charset="-122"/>
              </a:rPr>
              <a:t>（高性能计算）</a:t>
            </a:r>
            <a:r>
              <a:rPr sz="2400">
                <a:latin typeface="微软雅黑" panose="020B0503020204020204" pitchFamily="34" charset="-122"/>
                <a:ea typeface="微软雅黑" panose="020B0503020204020204" pitchFamily="34" charset="-122"/>
              </a:rPr>
              <a:t>领域不太一样</a:t>
            </a:r>
            <a:r>
              <a:rPr lang="zh-CN" sz="2400">
                <a:latin typeface="微软雅黑" panose="020B0503020204020204" pitchFamily="34" charset="-122"/>
                <a:ea typeface="微软雅黑" panose="020B0503020204020204" pitchFamily="34" charset="-122"/>
              </a:rPr>
              <a:t>：</a:t>
            </a:r>
            <a:endParaRPr sz="2400" b="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sz="2400">
                <a:latin typeface="微软雅黑" panose="020B0503020204020204" pitchFamily="34" charset="-122"/>
                <a:ea typeface="微软雅黑" panose="020B0503020204020204" pitchFamily="34" charset="-122"/>
              </a:rPr>
              <a:t>传统的HPC领域</a:t>
            </a:r>
            <a:r>
              <a:rPr sz="2400" b="0">
                <a:latin typeface="微软雅黑" panose="020B0503020204020204" pitchFamily="34" charset="-122"/>
                <a:ea typeface="微软雅黑" panose="020B0503020204020204" pitchFamily="34" charset="-122"/>
              </a:rPr>
              <a:t>主要是计算密集型，以提高加速比为主要目标。</a:t>
            </a:r>
            <a:endParaRPr sz="2400" b="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sz="2400">
                <a:latin typeface="微软雅黑" panose="020B0503020204020204" pitchFamily="34" charset="-122"/>
                <a:ea typeface="微软雅黑" panose="020B0503020204020204" pitchFamily="34" charset="-122"/>
              </a:rPr>
              <a:t>分布式机器学习</a:t>
            </a:r>
            <a:r>
              <a:rPr lang="zh-CN" sz="2400" b="0">
                <a:latin typeface="微软雅黑" panose="020B0503020204020204" pitchFamily="34" charset="-122"/>
                <a:ea typeface="微软雅黑" panose="020B0503020204020204" pitchFamily="34" charset="-122"/>
              </a:rPr>
              <a:t>除了关注计算之外，</a:t>
            </a:r>
            <a:r>
              <a:rPr sz="2400" b="0">
                <a:latin typeface="微软雅黑" panose="020B0503020204020204" pitchFamily="34" charset="-122"/>
                <a:ea typeface="微软雅黑" panose="020B0503020204020204" pitchFamily="34" charset="-122"/>
              </a:rPr>
              <a:t>还兼具数据密集型特性，还会面临训练数据大（单机存不下）、模型规模大的问题。</a:t>
            </a:r>
            <a:r>
              <a:rPr lang="zh-CN" sz="2400" b="0">
                <a:latin typeface="微软雅黑" panose="020B0503020204020204" pitchFamily="34" charset="-122"/>
                <a:ea typeface="微软雅黑" panose="020B0503020204020204" pitchFamily="34" charset="-122"/>
              </a:rPr>
              <a:t>另外，</a:t>
            </a:r>
            <a:r>
              <a:rPr sz="2400" b="0">
                <a:latin typeface="微软雅黑" panose="020B0503020204020204" pitchFamily="34" charset="-122"/>
                <a:ea typeface="微软雅黑" panose="020B0503020204020204" pitchFamily="34" charset="-122"/>
                <a:sym typeface="+mn-ea"/>
              </a:rPr>
              <a:t>分布式机器学习也需要更多地关注通信问题。</a:t>
            </a:r>
            <a:endParaRPr lang="zh-CN" sz="2400" b="0">
              <a:latin typeface="微软雅黑" panose="020B0503020204020204" pitchFamily="34" charset="-122"/>
              <a:ea typeface="微软雅黑" panose="020B0503020204020204" pitchFamily="34"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分布式</a:t>
            </a:r>
            <a:r>
              <a:rPr lang="zh-CN" altLang="en-US" dirty="0">
                <a:latin typeface="微软雅黑" panose="020B0503020204020204" pitchFamily="34" charset="-122"/>
                <a:ea typeface="微软雅黑" panose="020B0503020204020204" pitchFamily="34" charset="-122"/>
              </a:rPr>
              <a:t>机器学习</a:t>
            </a:r>
            <a:endParaRPr lang="zh-CN" altLang="en-US" dirty="0">
              <a:latin typeface="微软雅黑" panose="020B0503020204020204" pitchFamily="34" charset="-122"/>
              <a:ea typeface="微软雅黑" panose="020B0503020204020204" pitchFamily="34" charset="-122"/>
            </a:endParaRPr>
          </a:p>
        </p:txBody>
      </p:sp>
      <p:sp>
        <p:nvSpPr>
          <p:cNvPr id="3" name="文本框 2"/>
          <p:cNvSpPr txBox="1"/>
          <p:nvPr/>
        </p:nvSpPr>
        <p:spPr>
          <a:xfrm>
            <a:off x="476250" y="1066800"/>
            <a:ext cx="8392160" cy="2306955"/>
          </a:xfrm>
          <a:prstGeom prst="rect">
            <a:avLst/>
          </a:prstGeom>
          <a:noFill/>
        </p:spPr>
        <p:txBody>
          <a:bodyPr wrap="square" rtlCol="0" anchor="t">
            <a:spAutoFit/>
          </a:bodyPr>
          <a:p>
            <a:r>
              <a:rPr sz="2400" b="0">
                <a:latin typeface="微软雅黑" panose="020B0503020204020204" pitchFamily="34" charset="-122"/>
                <a:ea typeface="微软雅黑" panose="020B0503020204020204" pitchFamily="34" charset="-122"/>
                <a:cs typeface="微软雅黑" panose="020B0503020204020204" pitchFamily="34" charset="-122"/>
                <a:sym typeface="+mn-ea"/>
              </a:rPr>
              <a:t>对于计算量大、训练数据量大、模型规模大这三个问题，分布式机器学习可以采用以下手段进行解决：</a:t>
            </a:r>
            <a:endParaRPr sz="2400" b="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对于计算量大的问题</a:t>
            </a:r>
            <a:r>
              <a:rPr lang="zh-CN" altLang="en-US" sz="2400" b="0">
                <a:latin typeface="微软雅黑" panose="020B0503020204020204" pitchFamily="34" charset="-122"/>
                <a:ea typeface="微软雅黑" panose="020B0503020204020204" pitchFamily="34" charset="-122"/>
                <a:cs typeface="微软雅黑" panose="020B0503020204020204" pitchFamily="34" charset="-122"/>
              </a:rPr>
              <a:t>，分布式多机</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并行运算</a:t>
            </a:r>
            <a:r>
              <a:rPr lang="zh-CN" altLang="en-US" sz="2400" b="0">
                <a:latin typeface="微软雅黑" panose="020B0503020204020204" pitchFamily="34" charset="-122"/>
                <a:ea typeface="微软雅黑" panose="020B0503020204020204" pitchFamily="34" charset="-122"/>
                <a:cs typeface="微软雅黑" panose="020B0503020204020204" pitchFamily="34" charset="-122"/>
              </a:rPr>
              <a:t>可以基本解决。不过需要与传统HPC中的共享内存式的多线程并行运算（如OpenMP）以及CPU-GPU计算架构做区分。（两种单机的计算模式我们一般称为计算并行）。</a:t>
            </a:r>
            <a:endParaRPr lang="zh-CN" altLang="en-US" sz="2400" b="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1447800" y="3352800"/>
            <a:ext cx="5851525" cy="318135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228600" y="990600"/>
            <a:ext cx="8392160" cy="2306955"/>
          </a:xfrm>
          <a:prstGeom prst="rect">
            <a:avLst/>
          </a:prstGeom>
          <a:noFill/>
        </p:spPr>
        <p:txBody>
          <a:bodyPr wrap="square" rtlCol="0" anchor="t">
            <a:spAutoFit/>
          </a:bodyPr>
          <a:p>
            <a:r>
              <a:rPr lang="zh-CN" altLang="en-US" sz="2400" b="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对于训练数据大的问题</a:t>
            </a:r>
            <a:r>
              <a:rPr lang="zh-CN" altLang="en-US" sz="2400" b="0">
                <a:latin typeface="微软雅黑" panose="020B0503020204020204" pitchFamily="34" charset="-122"/>
                <a:ea typeface="微软雅黑" panose="020B0503020204020204" pitchFamily="34" charset="-122"/>
                <a:cs typeface="微软雅黑" panose="020B0503020204020204" pitchFamily="34" charset="-122"/>
              </a:rPr>
              <a:t>，需要将数据进行划分，并分配到多个工作节点上进行训练，这种技巧一般被称为</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数据并行</a:t>
            </a:r>
            <a:r>
              <a:rPr lang="zh-CN" altLang="en-US" sz="2400" b="0">
                <a:latin typeface="微软雅黑" panose="020B0503020204020204" pitchFamily="34" charset="-122"/>
                <a:ea typeface="微软雅黑" panose="020B0503020204020204" pitchFamily="34" charset="-122"/>
                <a:cs typeface="微软雅黑" panose="020B0503020204020204" pitchFamily="34" charset="-122"/>
              </a:rPr>
              <a:t>。每个工作节点会根据局部数据训练出一个子模型，并且会按照一定的规律和其他工作节点进行通信（通信的内容主要是子模型参数或者参数更新），以保证最终可以有效整合来自各个工作节点的训练结果并得到全局的机器学习模型。</a:t>
            </a:r>
            <a:endParaRPr lang="zh-CN" altLang="en-US" sz="2400" b="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0418"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分布式</a:t>
            </a:r>
            <a:r>
              <a:rPr lang="zh-CN" altLang="en-US" dirty="0">
                <a:latin typeface="微软雅黑" panose="020B0503020204020204" pitchFamily="34" charset="-122"/>
                <a:ea typeface="微软雅黑" panose="020B0503020204020204" pitchFamily="34" charset="-122"/>
              </a:rPr>
              <a:t>机器学习</a:t>
            </a:r>
            <a:endParaRPr lang="zh-CN" altLang="en-US" dirty="0">
              <a:latin typeface="微软雅黑" panose="020B0503020204020204" pitchFamily="34" charset="-122"/>
              <a:ea typeface="微软雅黑" panose="020B0503020204020204" pitchFamily="34" charset="-122"/>
            </a:endParaRPr>
          </a:p>
        </p:txBody>
      </p:sp>
      <p:sp>
        <p:nvSpPr>
          <p:cNvPr id="4" name="文本框 3"/>
          <p:cNvSpPr txBox="1"/>
          <p:nvPr/>
        </p:nvSpPr>
        <p:spPr>
          <a:xfrm>
            <a:off x="228600" y="3429000"/>
            <a:ext cx="5515610" cy="2861310"/>
          </a:xfrm>
          <a:prstGeom prst="rect">
            <a:avLst/>
          </a:prstGeom>
          <a:noFill/>
        </p:spPr>
        <p:txBody>
          <a:bodyPr wrap="square" rtlCol="0" anchor="t">
            <a:spAutoFit/>
          </a:bodyPr>
          <a:p>
            <a:pPr marL="285750" indent="-285750">
              <a:buFont typeface="Arial" panose="020B0604020202020204" pitchFamily="34" charset="0"/>
              <a:buChar char="•"/>
            </a:pPr>
            <a:r>
              <a:rPr lang="zh-CN" altLang="en-US" sz="2000" b="0">
                <a:latin typeface="微软雅黑" panose="020B0503020204020204" pitchFamily="34" charset="-122"/>
                <a:ea typeface="微软雅黑" panose="020B0503020204020204" pitchFamily="34" charset="-122"/>
                <a:cs typeface="微软雅黑" panose="020B0503020204020204" pitchFamily="34" charset="-122"/>
                <a:sym typeface="+mn-ea"/>
              </a:rPr>
              <a:t>如果</a:t>
            </a:r>
            <a:r>
              <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rPr>
              <a:t>训练数据的样本量比较大</a:t>
            </a:r>
            <a:r>
              <a:rPr lang="zh-CN" altLang="en-US" sz="2000" b="0">
                <a:latin typeface="微软雅黑" panose="020B0503020204020204" pitchFamily="34" charset="-122"/>
                <a:ea typeface="微软雅黑" panose="020B0503020204020204" pitchFamily="34" charset="-122"/>
                <a:cs typeface="微软雅黑" panose="020B0503020204020204" pitchFamily="34" charset="-122"/>
                <a:sym typeface="+mn-ea"/>
              </a:rPr>
              <a:t>，则需要对数据按照样本进行划分，我们称之为“数据样本划分”，按实现方法可分为“随机采样法”和“置乱切分法”。</a:t>
            </a:r>
            <a:endParaRPr lang="zh-CN" altLang="en-US" sz="2000" b="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buFont typeface="Arial" panose="020B0604020202020204" pitchFamily="34" charset="0"/>
              <a:buChar char="•"/>
            </a:pPr>
            <a:endParaRPr lang="zh-CN" altLang="en-US" sz="2000" b="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buFont typeface="Arial" panose="020B0604020202020204" pitchFamily="34" charset="0"/>
              <a:buChar char="•"/>
            </a:pPr>
            <a:r>
              <a:rPr lang="zh-CN" altLang="en-US" sz="2000" b="0">
                <a:latin typeface="微软雅黑" panose="020B0503020204020204" pitchFamily="34" charset="-122"/>
                <a:ea typeface="微软雅黑" panose="020B0503020204020204" pitchFamily="34" charset="-122"/>
                <a:cs typeface="微软雅黑" panose="020B0503020204020204" pitchFamily="34" charset="-122"/>
                <a:sym typeface="+mn-ea"/>
              </a:rPr>
              <a:t>如果</a:t>
            </a:r>
            <a:r>
              <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rPr>
              <a:t>训练数据的维度比较高</a:t>
            </a:r>
            <a:r>
              <a:rPr lang="zh-CN" altLang="en-US" sz="2000" b="0">
                <a:latin typeface="微软雅黑" panose="020B0503020204020204" pitchFamily="34" charset="-122"/>
                <a:ea typeface="微软雅黑" panose="020B0503020204020204" pitchFamily="34" charset="-122"/>
                <a:cs typeface="微软雅黑" panose="020B0503020204020204" pitchFamily="34" charset="-122"/>
                <a:sym typeface="+mn-ea"/>
              </a:rPr>
              <a:t>，还可以对数据按照维度进行划分，我们称之为“数据维度划分”。相比于数据样本划分，数据维度划分与模型性质和优化方法的耦合度较高。</a:t>
            </a:r>
            <a:endParaRPr lang="zh-CN" altLang="en-US" sz="2000"/>
          </a:p>
        </p:txBody>
      </p:sp>
      <p:pic>
        <p:nvPicPr>
          <p:cNvPr id="5" name="图片 4"/>
          <p:cNvPicPr>
            <a:picLocks noChangeAspect="1"/>
          </p:cNvPicPr>
          <p:nvPr/>
        </p:nvPicPr>
        <p:blipFill>
          <a:blip r:embed="rId1"/>
          <a:stretch>
            <a:fillRect/>
          </a:stretch>
        </p:blipFill>
        <p:spPr>
          <a:xfrm>
            <a:off x="6125210" y="3232150"/>
            <a:ext cx="2357120" cy="329565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分布式</a:t>
            </a:r>
            <a:r>
              <a:rPr lang="zh-CN" altLang="en-US" dirty="0">
                <a:latin typeface="微软雅黑" panose="020B0503020204020204" pitchFamily="34" charset="-122"/>
                <a:ea typeface="微软雅黑" panose="020B0503020204020204" pitchFamily="34" charset="-122"/>
              </a:rPr>
              <a:t>机器学习</a:t>
            </a:r>
            <a:endParaRPr lang="zh-CN" altLang="en-US"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04800" y="990600"/>
            <a:ext cx="8312150" cy="2676525"/>
          </a:xfrm>
          <a:prstGeom prst="rect">
            <a:avLst/>
          </a:prstGeom>
          <a:noFill/>
        </p:spPr>
        <p:txBody>
          <a:bodyPr wrap="square" rtlCol="0" anchor="t">
            <a:spAutoFit/>
          </a:bodyPr>
          <a:p>
            <a:r>
              <a:rPr lang="zh-CN" altLang="en-US" sz="2400" b="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对于模型规模大的问题</a:t>
            </a:r>
            <a:r>
              <a:rPr lang="zh-CN" altLang="en-US" sz="2400" b="0">
                <a:latin typeface="微软雅黑" panose="020B0503020204020204" pitchFamily="34" charset="-122"/>
                <a:ea typeface="微软雅黑" panose="020B0503020204020204" pitchFamily="34" charset="-122"/>
                <a:cs typeface="微软雅黑" panose="020B0503020204020204" pitchFamily="34" charset="-122"/>
              </a:rPr>
              <a:t>，则需要对模型进行划分，并且分配到不同的工作节点上进行训练，这种技巧一般被称为</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模型并行</a:t>
            </a:r>
            <a:r>
              <a:rPr lang="zh-CN" altLang="en-US" sz="2400" b="0">
                <a:latin typeface="微软雅黑" panose="020B0503020204020204" pitchFamily="34" charset="-122"/>
                <a:ea typeface="微软雅黑" panose="020B0503020204020204" pitchFamily="34" charset="-122"/>
                <a:cs typeface="微软雅黑" panose="020B0503020204020204" pitchFamily="34" charset="-122"/>
              </a:rPr>
              <a:t>。与数据并行不同，模型并行的框架下各个子模型之间的依赖关系非常强，因为某个子模型的输出可能是另外一个子模型的输入，如果不进行中间计算结果的通信，则无法完成整个模型训练。因此，一般而言，模型并行相比数据并行对通信的要求更高。</a:t>
            </a:r>
            <a:endParaRPr lang="zh-CN" altLang="en-US" sz="2400" b="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3276600" y="3276600"/>
            <a:ext cx="3858895" cy="3197225"/>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6"/>
          <p:cNvSpPr/>
          <p:nvPr/>
        </p:nvSpPr>
        <p:spPr>
          <a:xfrm>
            <a:off x="1447800" y="2590800"/>
            <a:ext cx="5895975" cy="1014413"/>
          </a:xfrm>
          <a:prstGeom prst="rect">
            <a:avLst/>
          </a:prstGeom>
          <a:noFill/>
          <a:ln w="9525">
            <a:noFill/>
          </a:ln>
        </p:spPr>
        <p:txBody>
          <a:bodyPr anchor="ctr" anchorCtr="0"/>
          <a:p>
            <a:pPr algn="ctr">
              <a:buClr>
                <a:schemeClr val="accent1"/>
              </a:buClr>
              <a:buFont typeface="Wingdings" panose="05000000000000000000" pitchFamily="2" charset="2"/>
            </a:pPr>
            <a:r>
              <a:rPr lang="zh-CN" altLang="en-US" sz="4400" dirty="0">
                <a:latin typeface="微软雅黑" panose="020B0503020204020204" pitchFamily="34" charset="-122"/>
                <a:ea typeface="微软雅黑" panose="020B0503020204020204" pitchFamily="34" charset="-122"/>
              </a:rPr>
              <a:t>联</a:t>
            </a:r>
            <a:r>
              <a:rPr lang="en-US" altLang="zh-CN" sz="4400" dirty="0">
                <a:latin typeface="微软雅黑" panose="020B0503020204020204" pitchFamily="34" charset="-122"/>
                <a:ea typeface="微软雅黑" panose="020B0503020204020204" pitchFamily="34" charset="-122"/>
              </a:rPr>
              <a:t> </a:t>
            </a:r>
            <a:r>
              <a:rPr lang="zh-CN" altLang="en-US" sz="4400" dirty="0">
                <a:latin typeface="微软雅黑" panose="020B0503020204020204" pitchFamily="34" charset="-122"/>
                <a:ea typeface="微软雅黑" panose="020B0503020204020204" pitchFamily="34" charset="-122"/>
              </a:rPr>
              <a:t>邦</a:t>
            </a:r>
            <a:r>
              <a:rPr lang="en-US" altLang="zh-CN" sz="4400" dirty="0">
                <a:latin typeface="微软雅黑" panose="020B0503020204020204" pitchFamily="34" charset="-122"/>
                <a:ea typeface="微软雅黑" panose="020B0503020204020204" pitchFamily="34" charset="-122"/>
              </a:rPr>
              <a:t> </a:t>
            </a:r>
            <a:r>
              <a:rPr lang="zh-CN" altLang="en-US" sz="4400" dirty="0">
                <a:latin typeface="微软雅黑" panose="020B0503020204020204" pitchFamily="34" charset="-122"/>
                <a:ea typeface="微软雅黑" panose="020B0503020204020204" pitchFamily="34" charset="-122"/>
              </a:rPr>
              <a:t>学</a:t>
            </a:r>
            <a:r>
              <a:rPr lang="en-US" altLang="zh-CN" sz="4400" dirty="0">
                <a:latin typeface="微软雅黑" panose="020B0503020204020204" pitchFamily="34" charset="-122"/>
                <a:ea typeface="微软雅黑" panose="020B0503020204020204" pitchFamily="34" charset="-122"/>
              </a:rPr>
              <a:t> </a:t>
            </a:r>
            <a:r>
              <a:rPr lang="zh-CN" altLang="en-US" sz="4400" dirty="0">
                <a:latin typeface="微软雅黑" panose="020B0503020204020204" pitchFamily="34" charset="-122"/>
                <a:ea typeface="微软雅黑" panose="020B0503020204020204" pitchFamily="34" charset="-122"/>
              </a:rPr>
              <a:t>习</a:t>
            </a:r>
            <a:endParaRPr lang="zh-CN" altLang="en-US" sz="4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联邦</a:t>
            </a:r>
            <a:r>
              <a:rPr lang="zh-CN" altLang="en-US" dirty="0">
                <a:latin typeface="微软雅黑" panose="020B0503020204020204" pitchFamily="34" charset="-122"/>
                <a:ea typeface="微软雅黑" panose="020B0503020204020204" pitchFamily="34" charset="-122"/>
              </a:rPr>
              <a:t>学习</a:t>
            </a:r>
            <a:endParaRPr lang="zh-CN" altLang="en-US" dirty="0">
              <a:latin typeface="微软雅黑" panose="020B0503020204020204" pitchFamily="34" charset="-122"/>
              <a:ea typeface="微软雅黑" panose="020B0503020204020204" pitchFamily="34" charset="-122"/>
            </a:endParaRPr>
          </a:p>
        </p:txBody>
      </p:sp>
      <p:sp>
        <p:nvSpPr>
          <p:cNvPr id="3" name="文本框 2"/>
          <p:cNvSpPr txBox="1"/>
          <p:nvPr/>
        </p:nvSpPr>
        <p:spPr>
          <a:xfrm>
            <a:off x="533400" y="1066800"/>
            <a:ext cx="8307705" cy="4523105"/>
          </a:xfrm>
          <a:prstGeom prst="rect">
            <a:avLst/>
          </a:prstGeom>
          <a:noFill/>
        </p:spPr>
        <p:txBody>
          <a:bodyPr wrap="square" rtlCol="0" anchor="t">
            <a:spAutoFit/>
          </a:bodyPr>
          <a:p>
            <a:r>
              <a:rPr lang="zh-CN" altLang="en-US" sz="2400">
                <a:latin typeface="微软雅黑" panose="020B0503020204020204" pitchFamily="34" charset="-122"/>
                <a:ea typeface="微软雅黑" panose="020B0503020204020204" pitchFamily="34" charset="-122"/>
                <a:cs typeface="微软雅黑" panose="020B0503020204020204" pitchFamily="34" charset="-122"/>
              </a:rPr>
              <a:t>联邦学习</a:t>
            </a:r>
            <a:r>
              <a:rPr lang="zh-CN" altLang="en-US" sz="2400" b="0">
                <a:latin typeface="微软雅黑" panose="020B0503020204020204" pitchFamily="34" charset="-122"/>
                <a:ea typeface="微软雅黑" panose="020B0503020204020204" pitchFamily="34" charset="-122"/>
                <a:cs typeface="微软雅黑" panose="020B0503020204020204" pitchFamily="34" charset="-122"/>
              </a:rPr>
              <a:t>是一种特殊的采用数据并行的分布式机器学习（可分为横向联邦学习（对应分布式机器学习中的数据样本划分）和纵向联邦学习（对应分布式机器学习中的数据维度划分）），除了关注传统分布式机器学习的算法、通信、收敛率等问题之外，还要关注用户的数据隐私和容错性问题（因为用户终端是用户手机或物联网设备，很可能随时挂掉）。 其设计目标是在保障大个人数据隐私、保证合法合规的前提下，在多参与方（可能是现实中的多个机构）或多计算结点之间协同学习到一个更好的全局模型。联邦学习的数据不共享，（加密后的）参数可共享，它可以基于server-client主从的中心化(centralized)结构，也可以是去中心化(decentralized)结构。</a:t>
            </a:r>
            <a:endParaRPr lang="zh-CN" altLang="en-US" sz="2400" b="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联邦</a:t>
            </a:r>
            <a:r>
              <a:rPr lang="zh-CN" altLang="en-US" dirty="0">
                <a:latin typeface="微软雅黑" panose="020B0503020204020204" pitchFamily="34" charset="-122"/>
                <a:ea typeface="微软雅黑" panose="020B0503020204020204" pitchFamily="34" charset="-122"/>
              </a:rPr>
              <a:t>学习</a:t>
            </a:r>
            <a:endParaRPr lang="zh-CN" altLang="en-US"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347980" y="1447800"/>
            <a:ext cx="8463280" cy="2425700"/>
          </a:xfrm>
          <a:prstGeom prst="rect">
            <a:avLst/>
          </a:prstGeom>
        </p:spPr>
      </p:pic>
      <p:pic>
        <p:nvPicPr>
          <p:cNvPr id="4" name="图片 3"/>
          <p:cNvPicPr>
            <a:picLocks noChangeAspect="1"/>
          </p:cNvPicPr>
          <p:nvPr/>
        </p:nvPicPr>
        <p:blipFill>
          <a:blip r:embed="rId2"/>
          <a:stretch>
            <a:fillRect/>
          </a:stretch>
        </p:blipFill>
        <p:spPr>
          <a:xfrm>
            <a:off x="405130" y="4572000"/>
            <a:ext cx="8348980" cy="520700"/>
          </a:xfrm>
          <a:prstGeom prst="rect">
            <a:avLst/>
          </a:prstGeom>
        </p:spPr>
      </p:pic>
      <p:pic>
        <p:nvPicPr>
          <p:cNvPr id="6" name="图片 5"/>
          <p:cNvPicPr>
            <a:picLocks noChangeAspect="1"/>
          </p:cNvPicPr>
          <p:nvPr/>
        </p:nvPicPr>
        <p:blipFill>
          <a:blip r:embed="rId3"/>
          <a:stretch>
            <a:fillRect/>
          </a:stretch>
        </p:blipFill>
        <p:spPr>
          <a:xfrm>
            <a:off x="429260" y="5092700"/>
            <a:ext cx="2490470" cy="257175"/>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联邦</a:t>
            </a:r>
            <a:r>
              <a:rPr lang="zh-CN" altLang="en-US" dirty="0">
                <a:latin typeface="微软雅黑" panose="020B0503020204020204" pitchFamily="34" charset="-122"/>
                <a:ea typeface="微软雅黑" panose="020B0503020204020204" pitchFamily="34" charset="-122"/>
              </a:rPr>
              <a:t>学习</a:t>
            </a:r>
            <a:endParaRPr lang="zh-CN" altLang="en-US" dirty="0">
              <a:latin typeface="微软雅黑" panose="020B0503020204020204" pitchFamily="34" charset="-122"/>
              <a:ea typeface="微软雅黑" panose="020B0503020204020204" pitchFamily="34" charset="-122"/>
            </a:endParaRPr>
          </a:p>
        </p:txBody>
      </p:sp>
      <p:sp>
        <p:nvSpPr>
          <p:cNvPr id="3" name="文本框 2"/>
          <p:cNvSpPr txBox="1"/>
          <p:nvPr/>
        </p:nvSpPr>
        <p:spPr>
          <a:xfrm>
            <a:off x="457200" y="1066800"/>
            <a:ext cx="8128635" cy="2430145"/>
          </a:xfrm>
          <a:prstGeom prst="rect">
            <a:avLst/>
          </a:prstGeom>
          <a:noFill/>
        </p:spPr>
        <p:txBody>
          <a:bodyPr wrap="square" rtlCol="0" anchor="t">
            <a:spAutoFit/>
          </a:bodyPr>
          <a:p>
            <a:r>
              <a:rPr lang="zh-CN" altLang="en-US" sz="2400" b="0">
                <a:latin typeface="微软雅黑" panose="020B0503020204020204" pitchFamily="34" charset="-122"/>
                <a:ea typeface="微软雅黑" panose="020B0503020204020204" pitchFamily="34" charset="-122"/>
                <a:cs typeface="微软雅黑" panose="020B0503020204020204" pitchFamily="34" charset="-122"/>
              </a:rPr>
              <a:t>经典的server-client式的联邦学习框架的训练过程可以简单概括为以下步骤（</a:t>
            </a:r>
            <a:r>
              <a:rPr lang="zh-CN" altLang="en-US" sz="2400" b="0">
                <a:latin typeface="微软雅黑" panose="020B0503020204020204" pitchFamily="34" charset="-122"/>
                <a:ea typeface="微软雅黑" panose="020B0503020204020204" pitchFamily="34" charset="-122"/>
                <a:cs typeface="微软雅黑" panose="020B0503020204020204" pitchFamily="34" charset="-122"/>
                <a:sym typeface="+mn-ea"/>
              </a:rPr>
              <a:t>仅仅指中心化的server-client联邦学习</a:t>
            </a:r>
            <a:r>
              <a:rPr lang="zh-CN" altLang="en-US" sz="2400" b="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cs typeface="微软雅黑" panose="020B0503020204020204" pitchFamily="34" charset="-122"/>
              </a:rPr>
              <a:t>1）server端建立初始模型，并将模型的参数发往各client端；</a:t>
            </a:r>
            <a:endParaRPr lang="zh-CN" altLang="en-US" sz="2000" b="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cs typeface="微软雅黑" panose="020B0503020204020204" pitchFamily="34" charset="-122"/>
              </a:rPr>
              <a:t>2）各client端利用本地数据进行模型训练，并将结果返回给server端；</a:t>
            </a:r>
            <a:endParaRPr lang="zh-CN" altLang="en-US" sz="2000" b="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000" b="0">
                <a:latin typeface="微软雅黑" panose="020B0503020204020204" pitchFamily="34" charset="-122"/>
                <a:ea typeface="微软雅黑" panose="020B0503020204020204" pitchFamily="34" charset="-122"/>
                <a:cs typeface="微软雅黑" panose="020B0503020204020204" pitchFamily="34" charset="-122"/>
              </a:rPr>
              <a:t>3）server端汇总各参与方的模型，构建更精准的全局模型，以整体提升模型性能和效果。</a:t>
            </a:r>
            <a:endParaRPr lang="zh-CN" altLang="en-US" sz="2000" b="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3124200" y="3200400"/>
            <a:ext cx="4937760" cy="328993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联邦</a:t>
            </a:r>
            <a:r>
              <a:rPr lang="zh-CN" altLang="en-US" dirty="0">
                <a:latin typeface="微软雅黑" panose="020B0503020204020204" pitchFamily="34" charset="-122"/>
                <a:ea typeface="微软雅黑" panose="020B0503020204020204" pitchFamily="34" charset="-122"/>
              </a:rPr>
              <a:t>学习</a:t>
            </a:r>
            <a:endParaRPr lang="zh-CN" altLang="en-US" dirty="0">
              <a:latin typeface="微软雅黑" panose="020B0503020204020204" pitchFamily="34" charset="-122"/>
              <a:ea typeface="微软雅黑" panose="020B0503020204020204" pitchFamily="34" charset="-122"/>
            </a:endParaRPr>
          </a:p>
        </p:txBody>
      </p:sp>
      <p:sp>
        <p:nvSpPr>
          <p:cNvPr id="3" name="文本框 2"/>
          <p:cNvSpPr txBox="1"/>
          <p:nvPr/>
        </p:nvSpPr>
        <p:spPr>
          <a:xfrm>
            <a:off x="457200" y="1219200"/>
            <a:ext cx="8234680" cy="4523105"/>
          </a:xfrm>
          <a:prstGeom prst="rect">
            <a:avLst/>
          </a:prstGeom>
          <a:noFill/>
        </p:spPr>
        <p:txBody>
          <a:bodyPr wrap="square" rtlCol="0" anchor="t">
            <a:spAutoFit/>
          </a:bodyPr>
          <a:p>
            <a:r>
              <a:rPr lang="zh-CN" altLang="en-US" sz="2400" b="0">
                <a:latin typeface="微软雅黑" panose="020B0503020204020204" pitchFamily="34" charset="-122"/>
                <a:ea typeface="微软雅黑" panose="020B0503020204020204" pitchFamily="34" charset="-122"/>
                <a:cs typeface="微软雅黑" panose="020B0503020204020204" pitchFamily="34" charset="-122"/>
              </a:rPr>
              <a:t>相比传统的分布式机器学习，联邦学习需要关注</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系统异质性(system heterogeneity)、统计异质性(statistical heterogeneity)和数据隐私性(data privacy)</a:t>
            </a:r>
            <a:r>
              <a:rPr lang="zh-CN" altLang="en-US" sz="2400" b="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0">
                <a:latin typeface="微软雅黑" panose="020B0503020204020204" pitchFamily="34" charset="-122"/>
                <a:ea typeface="微软雅黑" panose="020B0503020204020204" pitchFamily="34" charset="-122"/>
                <a:cs typeface="微软雅黑" panose="020B0503020204020204" pitchFamily="34" charset="-122"/>
              </a:rPr>
              <a:t>其中：</a:t>
            </a:r>
            <a:endParaRPr lang="zh-CN" altLang="en-US" sz="2400" b="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buFont typeface="Arial" panose="020B0604020202020204" pitchFamily="34" charset="0"/>
              <a:buChar char="•"/>
            </a:pPr>
            <a:r>
              <a:rPr lang="zh-CN" altLang="en-US" sz="2400">
                <a:latin typeface="微软雅黑" panose="020B0503020204020204" pitchFamily="34" charset="-122"/>
                <a:ea typeface="微软雅黑" panose="020B0503020204020204" pitchFamily="34" charset="-122"/>
                <a:cs typeface="微软雅黑" panose="020B0503020204020204" pitchFamily="34" charset="-122"/>
              </a:rPr>
              <a:t>系统异质性</a:t>
            </a:r>
            <a:r>
              <a:rPr lang="zh-CN" altLang="en-US" sz="2400" b="0">
                <a:latin typeface="微软雅黑" panose="020B0503020204020204" pitchFamily="34" charset="-122"/>
                <a:ea typeface="微软雅黑" panose="020B0503020204020204" pitchFamily="34" charset="-122"/>
                <a:cs typeface="微软雅黑" panose="020B0503020204020204" pitchFamily="34" charset="-122"/>
              </a:rPr>
              <a:t>体现为昂贵的通信代价和节点随时可能宕掉的风险(容错)；</a:t>
            </a:r>
            <a:endParaRPr lang="zh-CN" altLang="en-US" sz="2400" b="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buFont typeface="Arial" panose="020B0604020202020204" pitchFamily="34" charset="0"/>
              <a:buChar char="•"/>
            </a:pPr>
            <a:r>
              <a:rPr lang="zh-CN" altLang="en-US" sz="2400">
                <a:latin typeface="微软雅黑" panose="020B0503020204020204" pitchFamily="34" charset="-122"/>
                <a:ea typeface="微软雅黑" panose="020B0503020204020204" pitchFamily="34" charset="-122"/>
                <a:cs typeface="微软雅黑" panose="020B0503020204020204" pitchFamily="34" charset="-122"/>
              </a:rPr>
              <a:t>统计异质性</a:t>
            </a:r>
            <a:r>
              <a:rPr lang="zh-CN" altLang="en-US" sz="2400" b="0">
                <a:latin typeface="微软雅黑" panose="020B0503020204020204" pitchFamily="34" charset="-122"/>
                <a:ea typeface="微软雅黑" panose="020B0503020204020204" pitchFamily="34" charset="-122"/>
                <a:cs typeface="微软雅黑" panose="020B0503020204020204" pitchFamily="34" charset="-122"/>
              </a:rPr>
              <a:t>数据的不独立同分布(Non-IID)和不平衡。</a:t>
            </a:r>
            <a:endParaRPr lang="zh-CN" altLang="en-US" sz="2400" b="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r>
              <a:rPr lang="zh-CN" altLang="en-US" sz="2400" b="0">
                <a:latin typeface="微软雅黑" panose="020B0503020204020204" pitchFamily="34" charset="-122"/>
                <a:ea typeface="微软雅黑" panose="020B0503020204020204" pitchFamily="34" charset="-122"/>
                <a:cs typeface="微软雅黑" panose="020B0503020204020204" pitchFamily="34" charset="-122"/>
              </a:rPr>
              <a:t>由于以上限制，传统分布式机器学习的优化算法便不再适用，</a:t>
            </a:r>
            <a:endParaRPr lang="zh-CN" altLang="en-US" sz="2400" b="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endParaRPr lang="zh-CN" altLang="en-US" sz="2400" b="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r>
              <a:rPr lang="zh-CN" altLang="en-US" sz="2400" b="0">
                <a:latin typeface="微软雅黑" panose="020B0503020204020204" pitchFamily="34" charset="-122"/>
                <a:ea typeface="微软雅黑" panose="020B0503020204020204" pitchFamily="34" charset="-122"/>
                <a:cs typeface="微软雅黑" panose="020B0503020204020204" pitchFamily="34" charset="-122"/>
              </a:rPr>
              <a:t>需要设计专用的联邦学习优化算法。</a:t>
            </a:r>
            <a:endParaRPr lang="zh-CN" altLang="en-US" sz="2400" b="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457200" y="1066800"/>
            <a:ext cx="8280400" cy="1198880"/>
          </a:xfrm>
          <a:prstGeom prst="rect">
            <a:avLst/>
          </a:prstGeom>
          <a:noFill/>
        </p:spPr>
        <p:txBody>
          <a:bodyPr wrap="square" rtlCol="0" anchor="t">
            <a:spAutoFit/>
          </a:bodyPr>
          <a:p>
            <a:r>
              <a:rPr lang="zh-CN" altLang="en-US" sz="2400" b="0">
                <a:latin typeface="微软雅黑" panose="020B0503020204020204" pitchFamily="34" charset="-122"/>
                <a:ea typeface="微软雅黑" panose="020B0503020204020204" pitchFamily="34" charset="-122"/>
                <a:cs typeface="微软雅黑" panose="020B0503020204020204" pitchFamily="34" charset="-122"/>
                <a:sym typeface="+mn-ea"/>
              </a:rPr>
              <a:t>联邦学习框架包含多方面的技术，比如传统分布式机器学习中的模型训练与参数整合技术、Server与Client高效传输的通信技术、隐私加密技术、分布式容错技术等。</a:t>
            </a:r>
            <a:endParaRPr lang="zh-CN" altLang="en-US" sz="2400"/>
          </a:p>
        </p:txBody>
      </p:sp>
      <p:pic>
        <p:nvPicPr>
          <p:cNvPr id="4" name="图片 3"/>
          <p:cNvPicPr>
            <a:picLocks noChangeAspect="1"/>
          </p:cNvPicPr>
          <p:nvPr/>
        </p:nvPicPr>
        <p:blipFill>
          <a:blip r:embed="rId1"/>
          <a:stretch>
            <a:fillRect/>
          </a:stretch>
        </p:blipFill>
        <p:spPr>
          <a:xfrm>
            <a:off x="2287905" y="2292985"/>
            <a:ext cx="4371975" cy="4220845"/>
          </a:xfrm>
          <a:prstGeom prst="rect">
            <a:avLst/>
          </a:prstGeom>
        </p:spPr>
      </p:pic>
      <p:sp>
        <p:nvSpPr>
          <p:cNvPr id="60418"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联邦</a:t>
            </a:r>
            <a:r>
              <a:rPr lang="zh-CN" altLang="en-US" dirty="0">
                <a:latin typeface="微软雅黑" panose="020B0503020204020204" pitchFamily="34" charset="-122"/>
                <a:ea typeface="微软雅黑" panose="020B0503020204020204" pitchFamily="34" charset="-122"/>
              </a:rPr>
              <a:t>学习</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6"/>
          <p:cNvSpPr/>
          <p:nvPr/>
        </p:nvSpPr>
        <p:spPr>
          <a:xfrm>
            <a:off x="1447800" y="2590800"/>
            <a:ext cx="5895975" cy="1014413"/>
          </a:xfrm>
          <a:prstGeom prst="rect">
            <a:avLst/>
          </a:prstGeom>
          <a:noFill/>
          <a:ln w="9525">
            <a:noFill/>
          </a:ln>
        </p:spPr>
        <p:txBody>
          <a:bodyPr anchor="ctr" anchorCtr="0"/>
          <a:p>
            <a:pPr algn="ctr">
              <a:buClr>
                <a:schemeClr val="accent1"/>
              </a:buClr>
              <a:buFont typeface="Wingdings" panose="05000000000000000000" pitchFamily="2" charset="2"/>
            </a:pPr>
            <a:r>
              <a:rPr lang="zh-CN" altLang="en-US" sz="4400" dirty="0">
                <a:latin typeface="微软雅黑" panose="020B0503020204020204" pitchFamily="34" charset="-122"/>
                <a:ea typeface="微软雅黑" panose="020B0503020204020204" pitchFamily="34" charset="-122"/>
              </a:rPr>
              <a:t>群体</a:t>
            </a:r>
            <a:r>
              <a:rPr lang="zh-CN" altLang="en-US" sz="4400" dirty="0">
                <a:latin typeface="微软雅黑" panose="020B0503020204020204" pitchFamily="34" charset="-122"/>
                <a:ea typeface="微软雅黑" panose="020B0503020204020204" pitchFamily="34" charset="-122"/>
              </a:rPr>
              <a:t>智能</a:t>
            </a:r>
            <a:endParaRPr lang="zh-CN" altLang="en-US" sz="4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6"/>
          <p:cNvSpPr/>
          <p:nvPr/>
        </p:nvSpPr>
        <p:spPr>
          <a:xfrm>
            <a:off x="476250" y="14288"/>
            <a:ext cx="3497263" cy="569912"/>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群体</a:t>
            </a:r>
            <a:r>
              <a:rPr lang="zh-CN" altLang="en-US" dirty="0">
                <a:latin typeface="微软雅黑" panose="020B0503020204020204" pitchFamily="34" charset="-122"/>
                <a:ea typeface="微软雅黑" panose="020B0503020204020204" pitchFamily="34" charset="-122"/>
              </a:rPr>
              <a:t>智能</a:t>
            </a:r>
            <a:endParaRPr lang="zh-CN" altLang="en-US" dirty="0">
              <a:latin typeface="微软雅黑" panose="020B0503020204020204" pitchFamily="34" charset="-122"/>
              <a:ea typeface="微软雅黑" panose="020B0503020204020204" pitchFamily="34" charset="-122"/>
            </a:endParaRPr>
          </a:p>
        </p:txBody>
      </p:sp>
      <p:sp>
        <p:nvSpPr>
          <p:cNvPr id="3" name="文本框 2"/>
          <p:cNvSpPr txBox="1"/>
          <p:nvPr/>
        </p:nvSpPr>
        <p:spPr>
          <a:xfrm>
            <a:off x="457200" y="1524000"/>
            <a:ext cx="8157845" cy="4523105"/>
          </a:xfrm>
          <a:prstGeom prst="rect">
            <a:avLst/>
          </a:prstGeom>
          <a:noFill/>
        </p:spPr>
        <p:txBody>
          <a:bodyPr wrap="square" rtlCol="0" anchor="t">
            <a:spAutoFit/>
          </a:bodyPr>
          <a:p>
            <a:r>
              <a:rPr lang="zh-CN" altLang="en-US" sz="2400">
                <a:latin typeface="微软雅黑" panose="020B0503020204020204" pitchFamily="34" charset="-122"/>
                <a:ea typeface="微软雅黑" panose="020B0503020204020204" pitchFamily="34" charset="-122"/>
                <a:cs typeface="微软雅黑" panose="020B0503020204020204" pitchFamily="34" charset="-122"/>
              </a:rPr>
              <a:t>多智能体系统(multi-agent system) </a:t>
            </a:r>
            <a:r>
              <a:rPr lang="zh-CN" altLang="en-US" sz="2400" b="0">
                <a:latin typeface="微软雅黑" panose="020B0503020204020204" pitchFamily="34" charset="-122"/>
                <a:ea typeface="微软雅黑" panose="020B0503020204020204" pitchFamily="34" charset="-122"/>
                <a:cs typeface="微软雅黑" panose="020B0503020204020204" pitchFamily="34" charset="-122"/>
              </a:rPr>
              <a:t>是一组自主的，相互作用的实体，它们共享一个共同的环境(environment)，利用传感器感知，并利用执行器作动。多智能体系统提供了用分布式来看待问题的方式，可以将控制权限分布在各个智能体上。</a:t>
            </a:r>
            <a:endParaRPr lang="zh-CN" altLang="en-US" sz="2400" b="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400" b="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400" b="0">
                <a:latin typeface="微软雅黑" panose="020B0503020204020204" pitchFamily="34" charset="-122"/>
                <a:ea typeface="微软雅黑" panose="020B0503020204020204" pitchFamily="34" charset="-122"/>
                <a:cs typeface="微软雅黑" panose="020B0503020204020204" pitchFamily="34" charset="-122"/>
              </a:rPr>
              <a:t>尽管多智能体系统可以被赋予预先设计的行为，但是他们通常需要在线学习，使得多智能体系统的性能逐步提高。而这就天然地与强化学习联系起来，智能体通过与环境进行交互来学习。在每个时间步，智能体感知环境的状态并采取行动，使得自身转变为新的状态，在这个过程中，智能体获得奖励，智能体必须在交互过程中最大化期望奖励。</a:t>
            </a:r>
            <a:endParaRPr lang="zh-CN" altLang="en-US" sz="2400" b="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6"/>
          <p:cNvSpPr/>
          <p:nvPr/>
        </p:nvSpPr>
        <p:spPr>
          <a:xfrm>
            <a:off x="533400" y="152400"/>
            <a:ext cx="7428230" cy="569595"/>
          </a:xfrm>
          <a:prstGeom prst="rect">
            <a:avLst/>
          </a:prstGeom>
          <a:noFill/>
          <a:ln w="9525">
            <a:noFill/>
          </a:ln>
        </p:spPr>
        <p:txBody>
          <a:bodyPr anchor="ctr" anchorCtr="0"/>
          <a:p>
            <a:pPr>
              <a:buClr>
                <a:schemeClr val="accent1"/>
              </a:buClr>
              <a:buFont typeface="Wingdings" panose="05000000000000000000" pitchFamily="2" charset="2"/>
            </a:pPr>
            <a:r>
              <a:rPr lang="zh-CN" altLang="en-US" dirty="0">
                <a:latin typeface="微软雅黑" panose="020B0503020204020204" pitchFamily="34" charset="-122"/>
                <a:ea typeface="微软雅黑" panose="020B0503020204020204" pitchFamily="34" charset="-122"/>
              </a:rPr>
              <a:t>分布式机器学习、联邦学习、多智能体</a:t>
            </a:r>
            <a:r>
              <a:rPr lang="zh-CN" altLang="en-US" dirty="0">
                <a:latin typeface="微软雅黑" panose="020B0503020204020204" pitchFamily="34" charset="-122"/>
                <a:ea typeface="微软雅黑" panose="020B0503020204020204" pitchFamily="34" charset="-122"/>
              </a:rPr>
              <a:t>对比</a:t>
            </a:r>
            <a:endParaRPr lang="zh-CN" altLang="en-US"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685800" y="990600"/>
            <a:ext cx="7715250" cy="5547995"/>
          </a:xfrm>
          <a:prstGeom prst="rect">
            <a:avLst/>
          </a:prstGeom>
        </p:spPr>
      </p:pic>
    </p:spTree>
  </p:cSld>
  <p:clrMapOvr>
    <a:masterClrMapping/>
  </p:clrMapOvr>
</p:sld>
</file>

<file path=ppt/tags/tag1.xml><?xml version="1.0" encoding="utf-8"?>
<p:tagLst xmlns:p="http://schemas.openxmlformats.org/presentationml/2006/main">
  <p:tag name="COMMONDATA" val="eyJoZGlkIjoiYTliYjQ1MTEwODNkZjYyNzcwOWM3ZjM0M2IxM2MxNjcifQ=="/>
  <p:tag name="KSO_WPP_MARK_KEY" val="86cecc91-8b33-4069-aa4d-52279c35f8a3"/>
</p:tagLst>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chemeClr val="folHlink"/>
          </a:solidFill>
          <a:prstDash val="solid"/>
          <a:round/>
          <a:headEnd type="none" w="med" len="med"/>
          <a:tailEnd type="arrow" w="med" len="med"/>
        </a:ln>
      </a:spPr>
      <a:bodyPr vert="horz" wrap="non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28575" cap="flat" cmpd="sng" algn="ctr">
          <a:solidFill>
            <a:schemeClr val="folHlink"/>
          </a:solidFill>
          <a:prstDash val="solid"/>
          <a:round/>
          <a:headEnd type="none" w="med" len="med"/>
          <a:tailEnd type="arrow" w="med" len="med"/>
        </a:ln>
      </a:spPr>
      <a:bodyPr vert="horz" wrap="non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Network</Template>
  <TotalTime>0</TotalTime>
  <Words>12040</Words>
  <Application>WPS 演示</Application>
  <PresentationFormat>全屏显示(4:3)</PresentationFormat>
  <Paragraphs>522</Paragraphs>
  <Slides>68</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68</vt:i4>
      </vt:variant>
    </vt:vector>
  </HeadingPairs>
  <TitlesOfParts>
    <vt:vector size="75" baseType="lpstr">
      <vt:lpstr>Arial</vt:lpstr>
      <vt:lpstr>宋体</vt:lpstr>
      <vt:lpstr>Wingdings</vt:lpstr>
      <vt:lpstr>Times New Roman</vt:lpstr>
      <vt:lpstr>微软雅黑</vt:lpstr>
      <vt:lpstr>Arial Unicode MS</vt:lpstr>
      <vt:lpstr>Network</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Lenovo</cp:lastModifiedBy>
  <cp:revision>435</cp:revision>
  <dcterms:created xsi:type="dcterms:W3CDTF">2021-04-06T08:33:00Z</dcterms:created>
  <dcterms:modified xsi:type="dcterms:W3CDTF">2022-12-05T01:44:45Z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2052-11.1.0.12763</vt:lpwstr>
  </property>
  <property fmtid="{D5CDD505-2E9C-101B-9397-08002B2CF9AE}" pid="4" name="ICV">
    <vt:lpwstr>AA033CC3ACA1431BAB55D8CCD633F757</vt:lpwstr>
  </property>
</Properties>
</file>