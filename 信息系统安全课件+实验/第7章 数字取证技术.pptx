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01" r:id="rId2"/>
    <p:sldMasterId id="2147483713" r:id="rId3"/>
    <p:sldMasterId id="2147483725" r:id="rId4"/>
  </p:sldMasterIdLst>
  <p:notesMasterIdLst>
    <p:notesMasterId r:id="rId171"/>
  </p:notesMasterIdLst>
  <p:handoutMasterIdLst>
    <p:handoutMasterId r:id="rId172"/>
  </p:handoutMasterIdLst>
  <p:sldIdLst>
    <p:sldId id="256" r:id="rId5"/>
    <p:sldId id="324" r:id="rId6"/>
    <p:sldId id="325" r:id="rId7"/>
    <p:sldId id="260" r:id="rId8"/>
    <p:sldId id="326" r:id="rId9"/>
    <p:sldId id="327" r:id="rId10"/>
    <p:sldId id="328" r:id="rId11"/>
    <p:sldId id="330" r:id="rId12"/>
    <p:sldId id="331" r:id="rId13"/>
    <p:sldId id="374" r:id="rId14"/>
    <p:sldId id="466" r:id="rId15"/>
    <p:sldId id="376" r:id="rId16"/>
    <p:sldId id="377" r:id="rId17"/>
    <p:sldId id="378" r:id="rId18"/>
    <p:sldId id="332" r:id="rId19"/>
    <p:sldId id="333" r:id="rId20"/>
    <p:sldId id="318" r:id="rId21"/>
    <p:sldId id="334" r:id="rId22"/>
    <p:sldId id="424" r:id="rId23"/>
    <p:sldId id="423" r:id="rId24"/>
    <p:sldId id="749" r:id="rId25"/>
    <p:sldId id="750" r:id="rId26"/>
    <p:sldId id="425" r:id="rId27"/>
    <p:sldId id="751" r:id="rId28"/>
    <p:sldId id="335" r:id="rId29"/>
    <p:sldId id="336" r:id="rId30"/>
    <p:sldId id="337" r:id="rId31"/>
    <p:sldId id="338" r:id="rId32"/>
    <p:sldId id="366" r:id="rId33"/>
    <p:sldId id="339" r:id="rId34"/>
    <p:sldId id="367" r:id="rId35"/>
    <p:sldId id="368" r:id="rId36"/>
    <p:sldId id="369" r:id="rId37"/>
    <p:sldId id="370" r:id="rId38"/>
    <p:sldId id="340" r:id="rId39"/>
    <p:sldId id="371" r:id="rId40"/>
    <p:sldId id="372" r:id="rId41"/>
    <p:sldId id="373" r:id="rId42"/>
    <p:sldId id="341" r:id="rId43"/>
    <p:sldId id="481" r:id="rId44"/>
    <p:sldId id="342" r:id="rId45"/>
    <p:sldId id="363" r:id="rId46"/>
    <p:sldId id="343" r:id="rId47"/>
    <p:sldId id="344" r:id="rId48"/>
    <p:sldId id="345" r:id="rId49"/>
    <p:sldId id="480" r:id="rId50"/>
    <p:sldId id="346" r:id="rId51"/>
    <p:sldId id="347" r:id="rId52"/>
    <p:sldId id="471" r:id="rId53"/>
    <p:sldId id="349" r:id="rId54"/>
    <p:sldId id="350" r:id="rId55"/>
    <p:sldId id="351" r:id="rId56"/>
    <p:sldId id="352" r:id="rId57"/>
    <p:sldId id="353" r:id="rId58"/>
    <p:sldId id="354" r:id="rId59"/>
    <p:sldId id="355" r:id="rId60"/>
    <p:sldId id="364" r:id="rId61"/>
    <p:sldId id="356" r:id="rId62"/>
    <p:sldId id="365" r:id="rId63"/>
    <p:sldId id="357" r:id="rId64"/>
    <p:sldId id="358" r:id="rId65"/>
    <p:sldId id="359" r:id="rId66"/>
    <p:sldId id="360" r:id="rId67"/>
    <p:sldId id="361" r:id="rId68"/>
    <p:sldId id="362" r:id="rId69"/>
    <p:sldId id="641" r:id="rId70"/>
    <p:sldId id="642" r:id="rId71"/>
    <p:sldId id="643" r:id="rId72"/>
    <p:sldId id="644" r:id="rId73"/>
    <p:sldId id="645" r:id="rId74"/>
    <p:sldId id="646" r:id="rId75"/>
    <p:sldId id="647" r:id="rId76"/>
    <p:sldId id="648" r:id="rId77"/>
    <p:sldId id="649" r:id="rId78"/>
    <p:sldId id="651" r:id="rId79"/>
    <p:sldId id="652" r:id="rId80"/>
    <p:sldId id="653" r:id="rId81"/>
    <p:sldId id="654" r:id="rId82"/>
    <p:sldId id="656" r:id="rId83"/>
    <p:sldId id="657" r:id="rId84"/>
    <p:sldId id="659" r:id="rId85"/>
    <p:sldId id="660" r:id="rId86"/>
    <p:sldId id="661" r:id="rId87"/>
    <p:sldId id="662" r:id="rId88"/>
    <p:sldId id="663" r:id="rId89"/>
    <p:sldId id="664" r:id="rId90"/>
    <p:sldId id="665" r:id="rId91"/>
    <p:sldId id="666" r:id="rId92"/>
    <p:sldId id="667" r:id="rId93"/>
    <p:sldId id="668" r:id="rId94"/>
    <p:sldId id="669" r:id="rId95"/>
    <p:sldId id="670" r:id="rId96"/>
    <p:sldId id="671" r:id="rId97"/>
    <p:sldId id="672" r:id="rId98"/>
    <p:sldId id="673" r:id="rId99"/>
    <p:sldId id="674" r:id="rId100"/>
    <p:sldId id="675" r:id="rId101"/>
    <p:sldId id="676" r:id="rId102"/>
    <p:sldId id="677" r:id="rId103"/>
    <p:sldId id="678" r:id="rId104"/>
    <p:sldId id="680" r:id="rId105"/>
    <p:sldId id="681" r:id="rId106"/>
    <p:sldId id="682" r:id="rId107"/>
    <p:sldId id="683" r:id="rId108"/>
    <p:sldId id="684" r:id="rId109"/>
    <p:sldId id="685" r:id="rId110"/>
    <p:sldId id="686" r:id="rId111"/>
    <p:sldId id="687" r:id="rId112"/>
    <p:sldId id="688" r:id="rId113"/>
    <p:sldId id="689" r:id="rId114"/>
    <p:sldId id="690" r:id="rId115"/>
    <p:sldId id="691" r:id="rId116"/>
    <p:sldId id="692" r:id="rId117"/>
    <p:sldId id="693" r:id="rId118"/>
    <p:sldId id="694" r:id="rId119"/>
    <p:sldId id="696" r:id="rId120"/>
    <p:sldId id="697" r:id="rId121"/>
    <p:sldId id="698" r:id="rId122"/>
    <p:sldId id="699" r:id="rId123"/>
    <p:sldId id="700" r:id="rId124"/>
    <p:sldId id="701" r:id="rId125"/>
    <p:sldId id="702" r:id="rId126"/>
    <p:sldId id="704" r:id="rId127"/>
    <p:sldId id="705" r:id="rId128"/>
    <p:sldId id="706" r:id="rId129"/>
    <p:sldId id="707" r:id="rId130"/>
    <p:sldId id="708" r:id="rId131"/>
    <p:sldId id="709" r:id="rId132"/>
    <p:sldId id="710" r:id="rId133"/>
    <p:sldId id="711" r:id="rId134"/>
    <p:sldId id="712" r:id="rId135"/>
    <p:sldId id="713" r:id="rId136"/>
    <p:sldId id="714" r:id="rId137"/>
    <p:sldId id="715" r:id="rId138"/>
    <p:sldId id="716" r:id="rId139"/>
    <p:sldId id="717" r:id="rId140"/>
    <p:sldId id="718" r:id="rId141"/>
    <p:sldId id="719" r:id="rId142"/>
    <p:sldId id="720" r:id="rId143"/>
    <p:sldId id="721" r:id="rId144"/>
    <p:sldId id="722" r:id="rId145"/>
    <p:sldId id="724" r:id="rId146"/>
    <p:sldId id="725" r:id="rId147"/>
    <p:sldId id="726" r:id="rId148"/>
    <p:sldId id="727" r:id="rId149"/>
    <p:sldId id="728" r:id="rId150"/>
    <p:sldId id="730" r:id="rId151"/>
    <p:sldId id="731" r:id="rId152"/>
    <p:sldId id="732" r:id="rId153"/>
    <p:sldId id="733" r:id="rId154"/>
    <p:sldId id="734" r:id="rId155"/>
    <p:sldId id="735" r:id="rId156"/>
    <p:sldId id="736" r:id="rId157"/>
    <p:sldId id="737" r:id="rId158"/>
    <p:sldId id="738" r:id="rId159"/>
    <p:sldId id="739" r:id="rId160"/>
    <p:sldId id="740" r:id="rId161"/>
    <p:sldId id="741" r:id="rId162"/>
    <p:sldId id="742" r:id="rId163"/>
    <p:sldId id="743" r:id="rId164"/>
    <p:sldId id="744" r:id="rId165"/>
    <p:sldId id="745" r:id="rId166"/>
    <p:sldId id="746" r:id="rId167"/>
    <p:sldId id="747" r:id="rId168"/>
    <p:sldId id="748" r:id="rId169"/>
    <p:sldId id="323" r:id="rId17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660066"/>
    <a:srgbClr val="6600CC"/>
    <a:srgbClr val="0066FF"/>
    <a:srgbClr val="0099FF"/>
    <a:srgbClr val="993366"/>
    <a:srgbClr val="333399"/>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4" d="100"/>
          <a:sy n="94" d="100"/>
        </p:scale>
        <p:origin x="884"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notesMaster" Target="notesMasters/notesMaster1.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2" Type="http://schemas.openxmlformats.org/officeDocument/2006/relationships/handoutMaster" Target="handoutMasters/handoutMaster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theme" Target="theme/theme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tableStyles" Target="tableStyles.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华文细黑" panose="02010600040101010101" pitchFamily="2" charset="-122"/>
                <a:ea typeface="华文细黑" panose="02010600040101010101" pitchFamily="2" charset="-122"/>
                <a:cs typeface="+mn-cs"/>
              </a:rPr>
              <a:t>2022/12/1</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华文细黑" panose="02010600040101010101" pitchFamily="2" charset="-122"/>
                <a:ea typeface="华文细黑" panose="02010600040101010101"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页眉占位符 1433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b="0" strike="noStrike" noProof="1"/>
          </a:p>
        </p:txBody>
      </p:sp>
      <p:sp>
        <p:nvSpPr>
          <p:cNvPr id="14339" name="日期占位符 1433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b="0" strike="noStrike" noProof="1"/>
          </a:p>
        </p:txBody>
      </p:sp>
      <p:sp>
        <p:nvSpPr>
          <p:cNvPr id="4100" name="幻灯片图像占位符 14339"/>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文本占位符 1434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14342" name="页脚占位符 1434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b="0" strike="noStrike" noProof="1"/>
          </a:p>
        </p:txBody>
      </p:sp>
      <p:sp>
        <p:nvSpPr>
          <p:cNvPr id="14343" name="灯片编号占位符 1434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b="0" strike="noStrike" noProof="1" dirty="0">
                <a:latin typeface="华文细黑" panose="02010600040101010101" pitchFamily="2" charset="-122"/>
                <a:ea typeface="华文细黑" panose="02010600040101010101" pitchFamily="2" charset="-122"/>
                <a:cs typeface="+mn-cs"/>
              </a:rPr>
              <a:t>‹#›</a:t>
            </a:fld>
            <a:endParaRPr lang="zh-CN" altLang="en-US" sz="1200" b="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E8%BD%AF%E7%9B%98/963560"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baike.baidu.com/item/%E8%81%9A%E8%84%82%E8%96%84%E8%86%9C/7203046"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ZIP</a:t>
            </a:r>
            <a:r>
              <a:rPr lang="zh-CN" altLang="en-US" b="0" i="0" dirty="0">
                <a:solidFill>
                  <a:srgbClr val="333333"/>
                </a:solidFill>
                <a:effectLst/>
                <a:latin typeface="Helvetica Neue"/>
              </a:rPr>
              <a:t>磁盘：是一种高容量的</a:t>
            </a:r>
            <a:r>
              <a:rPr lang="zh-CN" altLang="en-US" b="0" i="0" u="none" strike="noStrike" dirty="0">
                <a:solidFill>
                  <a:srgbClr val="136EC2"/>
                </a:solidFill>
                <a:effectLst/>
                <a:latin typeface="Helvetica Neue"/>
                <a:hlinkClick r:id="rId3"/>
              </a:rPr>
              <a:t>软盘</a:t>
            </a:r>
            <a:r>
              <a:rPr lang="zh-CN" altLang="en-US" b="0" i="0" dirty="0">
                <a:solidFill>
                  <a:srgbClr val="333333"/>
                </a:solidFill>
                <a:effectLst/>
                <a:latin typeface="Helvetica Neue"/>
              </a:rPr>
              <a:t>，因为其盘基也是柔性的</a:t>
            </a:r>
            <a:r>
              <a:rPr lang="zh-CN" altLang="en-US" b="0" i="0" u="none" strike="noStrike" dirty="0">
                <a:solidFill>
                  <a:srgbClr val="136EC2"/>
                </a:solidFill>
                <a:effectLst/>
                <a:latin typeface="Helvetica Neue"/>
                <a:hlinkClick r:id="rId4"/>
              </a:rPr>
              <a:t>聚脂薄膜</a:t>
            </a:r>
            <a:r>
              <a:rPr lang="zh-CN" altLang="en-US" b="0" i="0" dirty="0">
                <a:solidFill>
                  <a:srgbClr val="333333"/>
                </a:solidFill>
                <a:effectLst/>
                <a:latin typeface="Helvetica Neue"/>
              </a:rPr>
              <a:t>，上面涂布磁粉而成，只是其驱动器构造比较特殊，磁头与磁盘之间采用非接触的读取方式，使磁盘比较耐用。</a:t>
            </a:r>
            <a:endParaRPr lang="zh-CN" altLang="en-US" dirty="0"/>
          </a:p>
        </p:txBody>
      </p:sp>
    </p:spTree>
    <p:extLst>
      <p:ext uri="{BB962C8B-B14F-4D97-AF65-F5344CB8AC3E}">
        <p14:creationId xmlns:p14="http://schemas.microsoft.com/office/powerpoint/2010/main" val="1046874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Helvetica Neue"/>
              </a:rPr>
              <a:t>接受者操作特性曲线</a:t>
            </a:r>
            <a:r>
              <a:rPr lang="zh-CN" altLang="en-US" b="0" i="0" dirty="0">
                <a:solidFill>
                  <a:srgbClr val="333333"/>
                </a:solidFill>
                <a:effectLst/>
                <a:latin typeface="Helvetica Neue"/>
              </a:rPr>
              <a:t>是指在特定刺激条件下，以被试在不同判断标准下所得的虚报概率</a:t>
            </a:r>
            <a:r>
              <a:rPr lang="en-US" altLang="zh-CN" b="0" i="0" dirty="0">
                <a:solidFill>
                  <a:srgbClr val="333333"/>
                </a:solidFill>
                <a:effectLst/>
                <a:latin typeface="Helvetica Neue"/>
              </a:rPr>
              <a:t>P</a:t>
            </a:r>
            <a:r>
              <a:rPr lang="zh-CN" altLang="en-US" b="0" i="0" dirty="0">
                <a:solidFill>
                  <a:srgbClr val="333333"/>
                </a:solidFill>
                <a:effectLst/>
                <a:latin typeface="Helvetica Neue"/>
              </a:rPr>
              <a:t>（</a:t>
            </a:r>
            <a:r>
              <a:rPr lang="en-US" altLang="zh-CN" b="0" i="0" dirty="0">
                <a:solidFill>
                  <a:srgbClr val="333333"/>
                </a:solidFill>
                <a:effectLst/>
                <a:latin typeface="Helvetica Neue"/>
              </a:rPr>
              <a:t>y/N</a:t>
            </a:r>
            <a:r>
              <a:rPr lang="zh-CN" altLang="en-US" b="0" i="0" dirty="0">
                <a:solidFill>
                  <a:srgbClr val="333333"/>
                </a:solidFill>
                <a:effectLst/>
                <a:latin typeface="Helvetica Neue"/>
              </a:rPr>
              <a:t>）为横坐标，以击中概率</a:t>
            </a:r>
            <a:r>
              <a:rPr lang="en-US" altLang="zh-CN" b="0" i="0" dirty="0">
                <a:solidFill>
                  <a:srgbClr val="333333"/>
                </a:solidFill>
                <a:effectLst/>
                <a:latin typeface="Helvetica Neue"/>
              </a:rPr>
              <a:t>P</a:t>
            </a:r>
            <a:r>
              <a:rPr lang="zh-CN" altLang="en-US" b="0" i="0" dirty="0">
                <a:solidFill>
                  <a:srgbClr val="333333"/>
                </a:solidFill>
                <a:effectLst/>
                <a:latin typeface="Helvetica Neue"/>
              </a:rPr>
              <a:t>（</a:t>
            </a:r>
            <a:r>
              <a:rPr lang="en-US" altLang="zh-CN" b="0" i="0" dirty="0">
                <a:solidFill>
                  <a:srgbClr val="333333"/>
                </a:solidFill>
                <a:effectLst/>
                <a:latin typeface="Helvetica Neue"/>
              </a:rPr>
              <a:t>y/SN</a:t>
            </a:r>
            <a:r>
              <a:rPr lang="zh-CN" altLang="en-US" b="0" i="0" dirty="0">
                <a:solidFill>
                  <a:srgbClr val="333333"/>
                </a:solidFill>
                <a:effectLst/>
                <a:latin typeface="Helvetica Neue"/>
              </a:rPr>
              <a:t>）为纵坐标，画得的各点的连线。</a:t>
            </a:r>
            <a:endParaRPr lang="zh-CN" altLang="en-US" dirty="0"/>
          </a:p>
        </p:txBody>
      </p:sp>
    </p:spTree>
    <p:extLst>
      <p:ext uri="{BB962C8B-B14F-4D97-AF65-F5344CB8AC3E}">
        <p14:creationId xmlns:p14="http://schemas.microsoft.com/office/powerpoint/2010/main" val="1585050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67</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有一个大学的实验团队检测证明，这是两张图像拼贴而成的结果</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69</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实际上是保密通信检测</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100</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103</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1" fontAlgn="base" latinLnBrk="0" hangingPunct="1">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数字图像取证关键技术研究，朱艳玲，北京邮电大学硕士学位论文，</a:t>
            </a:r>
            <a:r>
              <a:rPr lang="en-US" altLang="zh-CN" sz="1200" kern="1200" dirty="0">
                <a:solidFill>
                  <a:schemeClr val="tx1"/>
                </a:solidFill>
                <a:effectLst/>
                <a:latin typeface="Arial" panose="020B0604020202020204" pitchFamily="34" charset="0"/>
                <a:ea typeface="宋体" panose="02010600030101010101" pitchFamily="2" charset="-122"/>
                <a:cs typeface="+mn-cs"/>
              </a:rPr>
              <a:t>2011</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针对这种篡改图像的取证方法通常都是基于篡改区域与非篡改区域的光照方向不一致性、基于自然图像统计特征一致性</a:t>
            </a:r>
            <a:r>
              <a:rPr lang="en-US" altLang="zh-CN" dirty="0"/>
              <a:t>(</a:t>
            </a:r>
            <a:r>
              <a:rPr lang="zh-CN" altLang="en-US" dirty="0"/>
              <a:t>如自然图像内在连续性、相关性、一致性</a:t>
            </a:r>
            <a:r>
              <a:rPr lang="en-US" altLang="zh-CN" dirty="0"/>
              <a:t>)〕</a:t>
            </a:r>
            <a:r>
              <a:rPr lang="zh-CN" altLang="en-US" dirty="0"/>
              <a:t>等特点来设计的。</a:t>
            </a:r>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a:t>Micah </a:t>
            </a:r>
            <a:r>
              <a:rPr lang="en-US" altLang="zh-CN" dirty="0" err="1"/>
              <a:t>K.Johnson</a:t>
            </a:r>
            <a:r>
              <a:rPr lang="zh-CN" altLang="en-US" dirty="0"/>
              <a:t>和</a:t>
            </a:r>
            <a:r>
              <a:rPr lang="en-US" altLang="zh-CN" dirty="0" err="1"/>
              <a:t>Hany</a:t>
            </a:r>
            <a:r>
              <a:rPr lang="en-US" altLang="zh-CN" dirty="0"/>
              <a:t> </a:t>
            </a:r>
            <a:r>
              <a:rPr lang="en-US" altLang="zh-CN" dirty="0" err="1"/>
              <a:t>Farid</a:t>
            </a:r>
            <a:r>
              <a:rPr lang="zh-CN" altLang="en-US" dirty="0"/>
              <a:t>在文献中提出了一种针对光照方向不一致性的数字图像盲取证技术，为数字图像的盲取证工作提供了一个新的研究方向。针对光照方向不一致性的数字图像盲取证技术的基本检测思想是</a:t>
            </a:r>
            <a:r>
              <a:rPr lang="en-US" altLang="zh-CN" dirty="0"/>
              <a:t>:</a:t>
            </a:r>
            <a:r>
              <a:rPr lang="zh-CN" altLang="en-US" dirty="0"/>
              <a:t>利用不同图像中的人、物或背景合成一幅新的图像时，虽然可以利用图像编辑和处理软件轻松地生成或去除一些阴影，但是很难编辑光照的方向</a:t>
            </a:r>
            <a:r>
              <a:rPr lang="en-US" altLang="zh-CN" dirty="0"/>
              <a:t>;</a:t>
            </a:r>
            <a:r>
              <a:rPr lang="zh-CN" altLang="en-US" dirty="0"/>
              <a:t>一幅图像可以是在单一光源</a:t>
            </a:r>
            <a:r>
              <a:rPr lang="en-US" altLang="zh-CN" dirty="0"/>
              <a:t>(</a:t>
            </a:r>
            <a:r>
              <a:rPr lang="zh-CN" altLang="en-US" dirty="0"/>
              <a:t>包括无限光源和局部光源</a:t>
            </a:r>
            <a:r>
              <a:rPr lang="en-US" altLang="zh-CN" dirty="0"/>
              <a:t>)</a:t>
            </a:r>
            <a:r>
              <a:rPr lang="zh-CN" altLang="en-US" dirty="0"/>
              <a:t>场景中拍摄而成的，也可以是在复合光源场景中拍摄而成的，但是无论是在单一光源场景中还是在复合光源场景中，一次拍摄形成的数字图像中各个物体所受的光照方向是一致的。因此，如果给定的一幅数字图像中存在所受光的光照方向不一致的物体，那么就说明该图像曾遭受过篡改操作。</a:t>
            </a:r>
          </a:p>
          <a:p>
            <a:pPr marL="0" marR="0" lvl="2" indent="0" algn="l" defTabSz="914400" rtl="0" eaLnBrk="1" fontAlgn="base" latinLnBrk="0" hangingPunct="1">
              <a:lnSpc>
                <a:spcPct val="100000"/>
              </a:lnSpc>
              <a:spcBef>
                <a:spcPct val="30000"/>
              </a:spcBef>
              <a:spcAft>
                <a:spcPct val="0"/>
              </a:spcAft>
              <a:buClrTx/>
              <a:buSzTx/>
              <a:buFontTx/>
              <a:buNone/>
              <a:defRPr/>
            </a:pPr>
            <a:endParaRPr lang="zh-CN" altLang="en-US" dirty="0"/>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a:t>Shih-Fu Chang</a:t>
            </a:r>
            <a:r>
              <a:rPr lang="zh-CN" altLang="en-US" dirty="0"/>
              <a:t>和</a:t>
            </a:r>
            <a:r>
              <a:rPr lang="en-US" altLang="zh-CN" dirty="0" err="1"/>
              <a:t>Tian-Tsong</a:t>
            </a:r>
            <a:r>
              <a:rPr lang="en-US" altLang="zh-CN" dirty="0"/>
              <a:t> Ng</a:t>
            </a:r>
            <a:r>
              <a:rPr lang="zh-CN" altLang="en-US" dirty="0"/>
              <a:t>在文献中提出了利用高阶统计量来检测在不同图像之间进行复制一粘贴的图像篡改操作，基本的检测思想是</a:t>
            </a:r>
            <a:r>
              <a:rPr lang="en-US" altLang="zh-CN" dirty="0"/>
              <a:t>:</a:t>
            </a:r>
            <a:r>
              <a:rPr lang="zh-CN" altLang="en-US" dirty="0"/>
              <a:t>在拍摄图像时，数码相机中设有的光学低通装置会对图像进行低通滤波，使得数字照片中</a:t>
            </a:r>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的像素值具有连续的性质，而复制一粘贴以后，边界会产生不连续的变化，因此可以通过检测边界的这种不连续性来检测图像是否经过复制一粘贴。具体方法是先分析自然图像的双谱的幅值和相角、原始图像与待检图像的双谱的幅值之差和相角之差以及图像的纹理复杂度等特征，然后分析由篡改带来的这些特征的变化</a:t>
            </a:r>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情况，最后对自然图像和篡改图像进行训练分类。这种方法的实用范围较窄，只适用于简单的复制一粘贴操作，而不包含任何其它的图像处理操作，而且该方法只针对灰度图像。</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a:t>///////////////////////////////////////////////////////////////////////////////////////////////////////</a:t>
            </a:r>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同幅图复制粘贴篡改方法也有较大的破绽，其最直接的检测方法是搜索待检图像中是否有完全相同的区域</a:t>
            </a:r>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但这种穷举搜索取证技术的缺点是计算量大，对自然噪声的鲁棒性差，解决这些问题需要确定合理的匹配块，并且需要快速的搜索算法</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err="1"/>
              <a:t>Alin</a:t>
            </a:r>
            <a:r>
              <a:rPr lang="en-US" altLang="zh-CN" dirty="0"/>
              <a:t> C </a:t>
            </a:r>
            <a:r>
              <a:rPr lang="en-US" altLang="zh-CN" dirty="0" err="1"/>
              <a:t>Popesu</a:t>
            </a:r>
            <a:r>
              <a:rPr lang="zh-CN" altLang="en-US" dirty="0"/>
              <a:t>和</a:t>
            </a:r>
            <a:r>
              <a:rPr lang="en-US" altLang="zh-CN" dirty="0" err="1"/>
              <a:t>Hany</a:t>
            </a:r>
            <a:r>
              <a:rPr lang="en-US" altLang="zh-CN" dirty="0"/>
              <a:t> </a:t>
            </a:r>
            <a:r>
              <a:rPr lang="en-US" altLang="zh-CN" dirty="0" err="1"/>
              <a:t>Farid</a:t>
            </a:r>
            <a:r>
              <a:rPr lang="zh-CN" altLang="en-US" dirty="0"/>
              <a:t>在文献中提出基于主成分分析（</a:t>
            </a:r>
            <a:r>
              <a:rPr lang="en-US" altLang="zh-CN" dirty="0"/>
              <a:t>PCA</a:t>
            </a:r>
            <a:r>
              <a:rPr lang="zh-CN" altLang="en-US" dirty="0"/>
              <a:t>）的方法，用</a:t>
            </a:r>
            <a:r>
              <a:rPr lang="en-US" altLang="zh-CN" dirty="0"/>
              <a:t>PCA</a:t>
            </a:r>
            <a:r>
              <a:rPr lang="zh-CN" altLang="en-US" dirty="0"/>
              <a:t>分析大小固定的图像块，使得特征维数降低，比</a:t>
            </a:r>
            <a:r>
              <a:rPr lang="en-US" altLang="zh-CN" dirty="0" err="1"/>
              <a:t>Fridrich</a:t>
            </a:r>
            <a:r>
              <a:rPr lang="zh-CN" altLang="en-US" dirty="0"/>
              <a:t>提出的</a:t>
            </a:r>
            <a:r>
              <a:rPr lang="en-US" altLang="zh-CN" dirty="0"/>
              <a:t>DCT</a:t>
            </a:r>
            <a:r>
              <a:rPr lang="zh-CN" altLang="en-US" dirty="0"/>
              <a:t>块系数字典排序方法更能抓住检测特征。该技术能够抵抗</a:t>
            </a:r>
            <a:r>
              <a:rPr lang="en-US" altLang="zh-CN" dirty="0"/>
              <a:t>JPEG</a:t>
            </a:r>
            <a:r>
              <a:rPr lang="zh-CN" altLang="en-US" dirty="0"/>
              <a:t>压缩、噪声等微小变化的攻击，具有一定的鲁棒性。</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不同图像之间的复制粘贴操作比在同一幅图像中的复制粘贴篡改应用更多，针对不同图像之间的复制粘贴操作，</a:t>
            </a:r>
            <a:r>
              <a:rPr lang="en-US" altLang="zh-CN" dirty="0" err="1"/>
              <a:t>Tian-Tsong</a:t>
            </a:r>
            <a:r>
              <a:rPr lang="en-US" altLang="zh-CN" dirty="0"/>
              <a:t> Ng</a:t>
            </a:r>
            <a:r>
              <a:rPr lang="zh-CN" altLang="en-US" dirty="0"/>
              <a:t>和</a:t>
            </a:r>
            <a:r>
              <a:rPr lang="en-US" altLang="zh-CN" dirty="0"/>
              <a:t>Shih-Fu Chang</a:t>
            </a:r>
            <a:r>
              <a:rPr lang="zh-CN" altLang="en-US" dirty="0"/>
              <a:t>在文献中提出利用双谱的幅度特征和相位特征进行检测，但是这种检测方法只有</a:t>
            </a:r>
            <a:r>
              <a:rPr lang="en-US" altLang="zh-CN" dirty="0"/>
              <a:t>72</a:t>
            </a:r>
            <a:r>
              <a:rPr lang="zh-CN" altLang="en-US" dirty="0"/>
              <a:t>％的检测率</a:t>
            </a:r>
          </a:p>
          <a:p>
            <a:pPr marL="0" marR="0" lvl="2" indent="0" algn="l" defTabSz="914400" rtl="0" eaLnBrk="1" fontAlgn="base" latinLnBrk="0" hangingPunct="1">
              <a:lnSpc>
                <a:spcPct val="100000"/>
              </a:lnSpc>
              <a:spcBef>
                <a:spcPct val="30000"/>
              </a:spcBef>
              <a:spcAft>
                <a:spcPct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116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1" fontAlgn="base" latinLnBrk="0" hangingPunct="1">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数字图像取证关键技术研究，朱艳玲，北京邮电大学硕士学位论文，</a:t>
            </a:r>
            <a:r>
              <a:rPr lang="en-US" altLang="zh-CN" sz="1200" kern="1200" dirty="0">
                <a:solidFill>
                  <a:schemeClr val="tx1"/>
                </a:solidFill>
                <a:effectLst/>
                <a:latin typeface="Arial" panose="020B0604020202020204" pitchFamily="34" charset="0"/>
                <a:ea typeface="宋体" panose="02010600030101010101" pitchFamily="2" charset="-122"/>
                <a:cs typeface="+mn-cs"/>
              </a:rPr>
              <a:t>2011</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针对这种篡改图像的取证方法通常都是基于篡改区域与非篡改区域的光照方向不一致性、基于自然图像统计特征一致性</a:t>
            </a:r>
            <a:r>
              <a:rPr lang="en-US" altLang="zh-CN" dirty="0"/>
              <a:t>(</a:t>
            </a:r>
            <a:r>
              <a:rPr lang="zh-CN" altLang="en-US" dirty="0"/>
              <a:t>如自然图像内在连续性、相关性、一致性</a:t>
            </a:r>
            <a:r>
              <a:rPr lang="en-US" altLang="zh-CN" dirty="0"/>
              <a:t>)〕</a:t>
            </a:r>
            <a:r>
              <a:rPr lang="zh-CN" altLang="en-US" dirty="0"/>
              <a:t>等特点来设计的。</a:t>
            </a:r>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a:t>Micah </a:t>
            </a:r>
            <a:r>
              <a:rPr lang="en-US" altLang="zh-CN" dirty="0" err="1"/>
              <a:t>K.Johnson</a:t>
            </a:r>
            <a:r>
              <a:rPr lang="zh-CN" altLang="en-US" dirty="0"/>
              <a:t>和</a:t>
            </a:r>
            <a:r>
              <a:rPr lang="en-US" altLang="zh-CN" dirty="0" err="1"/>
              <a:t>Hany</a:t>
            </a:r>
            <a:r>
              <a:rPr lang="en-US" altLang="zh-CN" dirty="0"/>
              <a:t> </a:t>
            </a:r>
            <a:r>
              <a:rPr lang="en-US" altLang="zh-CN" dirty="0" err="1"/>
              <a:t>Farid</a:t>
            </a:r>
            <a:r>
              <a:rPr lang="zh-CN" altLang="en-US" dirty="0"/>
              <a:t>在文献中提出了一种针对光照方向不一致性的数字图像盲取证技术，为数字图像的盲取证工作提供了一个新的研究方向。针对光照方向不一致性的数字图像盲取证技术的基本检测思想是</a:t>
            </a:r>
            <a:r>
              <a:rPr lang="en-US" altLang="zh-CN" dirty="0"/>
              <a:t>:</a:t>
            </a:r>
            <a:r>
              <a:rPr lang="zh-CN" altLang="en-US" dirty="0"/>
              <a:t>利用不同图像中的人、物或背景合成一幅新的图像时，虽然可以利用图像编辑和处理软件轻松地生成或去除一些阴影，但是很难编辑光照的方向</a:t>
            </a:r>
            <a:r>
              <a:rPr lang="en-US" altLang="zh-CN" dirty="0"/>
              <a:t>;</a:t>
            </a:r>
            <a:r>
              <a:rPr lang="zh-CN" altLang="en-US" dirty="0"/>
              <a:t>一幅图像可以是在单一光源</a:t>
            </a:r>
            <a:r>
              <a:rPr lang="en-US" altLang="zh-CN" dirty="0"/>
              <a:t>(</a:t>
            </a:r>
            <a:r>
              <a:rPr lang="zh-CN" altLang="en-US" dirty="0"/>
              <a:t>包括无限光源和局部光源</a:t>
            </a:r>
            <a:r>
              <a:rPr lang="en-US" altLang="zh-CN" dirty="0"/>
              <a:t>)</a:t>
            </a:r>
            <a:r>
              <a:rPr lang="zh-CN" altLang="en-US" dirty="0"/>
              <a:t>场景中拍摄而成的，也可以是在复合光源场景中拍摄而成的，但是无论是在单一光源场景中还是在复合光源场景中，一次拍摄形成的数字图像中各个物体所受的光照方向是一致的。因此，如果给定的一幅数字图像中存在所受光的光照方向不一致的物体，那么就说明该图像曾遭受过篡改操作。</a:t>
            </a:r>
          </a:p>
          <a:p>
            <a:pPr marL="0" marR="0" lvl="2" indent="0" algn="l" defTabSz="914400" rtl="0" eaLnBrk="1" fontAlgn="base" latinLnBrk="0" hangingPunct="1">
              <a:lnSpc>
                <a:spcPct val="100000"/>
              </a:lnSpc>
              <a:spcBef>
                <a:spcPct val="30000"/>
              </a:spcBef>
              <a:spcAft>
                <a:spcPct val="0"/>
              </a:spcAft>
              <a:buClrTx/>
              <a:buSzTx/>
              <a:buFontTx/>
              <a:buNone/>
              <a:defRPr/>
            </a:pPr>
            <a:endParaRPr lang="zh-CN" altLang="en-US" dirty="0"/>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a:t>Shih-Fu Chang</a:t>
            </a:r>
            <a:r>
              <a:rPr lang="zh-CN" altLang="en-US" dirty="0"/>
              <a:t>和</a:t>
            </a:r>
            <a:r>
              <a:rPr lang="en-US" altLang="zh-CN" dirty="0" err="1"/>
              <a:t>Tian-Tsong</a:t>
            </a:r>
            <a:r>
              <a:rPr lang="en-US" altLang="zh-CN" dirty="0"/>
              <a:t> Ng</a:t>
            </a:r>
            <a:r>
              <a:rPr lang="zh-CN" altLang="en-US" dirty="0"/>
              <a:t>在文献中提出了利用高阶统计量来检测在不同图像之间进行复制一粘贴的图像篡改操作，基本的检测思想是</a:t>
            </a:r>
            <a:r>
              <a:rPr lang="en-US" altLang="zh-CN" dirty="0"/>
              <a:t>:</a:t>
            </a:r>
            <a:r>
              <a:rPr lang="zh-CN" altLang="en-US" dirty="0"/>
              <a:t>在拍摄图像时，数码相机中设有的光学低通装置会对图像进行低通滤波，使得数字照片中的像素值具有连续的性质，而复制一粘贴以后，边界会产生不连续的变化，因此可以通过检测边界的这种不连续性来检测图像是否经过复制一粘贴。具体方法是先分析自然图像的双谱的幅值和相角、原始图像与待检图像的双谱的幅值之差和相角之差以及图像的纹理复杂度等特征，然后分析由篡改带来的这些特征的变化情况，最后对自然图像和篡改图像进行训练分类。这种方法的实用范围较窄，只适用于简单的复制一粘贴操作，而不包含任何其它的图像处理操作，而且该方法只针对灰度图像。</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a:t>///////////////////////////////////////////////////////////////////////////////////////////////////////</a:t>
            </a:r>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同幅图复制粘贴篡改方法也有较大的破绽，其最直接的检测方法是搜索待检图像中是否有完全相同的区域</a:t>
            </a:r>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但这种穷举搜索取证技术的缺点是计算量大，对自然噪声的鲁棒性差，解决这些问题需要确定合理的匹配块，并且需要快速的搜索算法</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en-US" altLang="zh-CN" dirty="0" err="1"/>
              <a:t>Alin</a:t>
            </a:r>
            <a:r>
              <a:rPr lang="en-US" altLang="zh-CN" dirty="0"/>
              <a:t> C </a:t>
            </a:r>
            <a:r>
              <a:rPr lang="en-US" altLang="zh-CN" dirty="0" err="1"/>
              <a:t>Popesu</a:t>
            </a:r>
            <a:r>
              <a:rPr lang="zh-CN" altLang="en-US" dirty="0"/>
              <a:t>和</a:t>
            </a:r>
            <a:r>
              <a:rPr lang="en-US" altLang="zh-CN" dirty="0" err="1"/>
              <a:t>Hany</a:t>
            </a:r>
            <a:r>
              <a:rPr lang="en-US" altLang="zh-CN" dirty="0"/>
              <a:t> </a:t>
            </a:r>
            <a:r>
              <a:rPr lang="en-US" altLang="zh-CN" dirty="0" err="1"/>
              <a:t>Farid</a:t>
            </a:r>
            <a:r>
              <a:rPr lang="zh-CN" altLang="en-US" dirty="0"/>
              <a:t>在文献中提出基于主成分分析（</a:t>
            </a:r>
            <a:r>
              <a:rPr lang="en-US" altLang="zh-CN" dirty="0"/>
              <a:t>PCA</a:t>
            </a:r>
            <a:r>
              <a:rPr lang="zh-CN" altLang="en-US" dirty="0"/>
              <a:t>）的方法，用</a:t>
            </a:r>
            <a:r>
              <a:rPr lang="en-US" altLang="zh-CN" dirty="0"/>
              <a:t>PCA</a:t>
            </a:r>
            <a:r>
              <a:rPr lang="zh-CN" altLang="en-US" dirty="0"/>
              <a:t>分析大小固定的图像块，使得特征维数降低，比</a:t>
            </a:r>
            <a:r>
              <a:rPr lang="en-US" altLang="zh-CN" dirty="0" err="1"/>
              <a:t>Fridrich</a:t>
            </a:r>
            <a:r>
              <a:rPr lang="zh-CN" altLang="en-US" dirty="0"/>
              <a:t>提出的</a:t>
            </a:r>
            <a:r>
              <a:rPr lang="en-US" altLang="zh-CN" dirty="0"/>
              <a:t>DCT</a:t>
            </a:r>
            <a:r>
              <a:rPr lang="zh-CN" altLang="en-US" dirty="0"/>
              <a:t>块系数字典排序方法更能抓住检测特征。该技术能够抵抗</a:t>
            </a:r>
            <a:r>
              <a:rPr lang="en-US" altLang="zh-CN" dirty="0"/>
              <a:t>JPEG</a:t>
            </a:r>
            <a:r>
              <a:rPr lang="zh-CN" altLang="en-US" dirty="0"/>
              <a:t>压缩、噪声等微小变化的攻击，具有一定的鲁棒性。</a:t>
            </a:r>
            <a:endParaRPr lang="en-US" altLang="zh-CN" dirty="0"/>
          </a:p>
          <a:p>
            <a:pPr marL="0" marR="0" lvl="2" indent="0" algn="l" defTabSz="914400" rtl="0" eaLnBrk="1" fontAlgn="base" latinLnBrk="0" hangingPunct="1">
              <a:lnSpc>
                <a:spcPct val="100000"/>
              </a:lnSpc>
              <a:spcBef>
                <a:spcPct val="30000"/>
              </a:spcBef>
              <a:spcAft>
                <a:spcPct val="0"/>
              </a:spcAft>
              <a:buClrTx/>
              <a:buSzTx/>
              <a:buFontTx/>
              <a:buNone/>
              <a:defRPr/>
            </a:pPr>
            <a:r>
              <a:rPr lang="zh-CN" altLang="en-US" dirty="0"/>
              <a:t>不同图像之间的复制粘贴操作比在同一幅图像中的复制粘贴篡改应用更多，针对不同图像之间的复制粘贴操作，</a:t>
            </a:r>
            <a:r>
              <a:rPr lang="en-US" altLang="zh-CN" dirty="0" err="1"/>
              <a:t>Tian-Tsong</a:t>
            </a:r>
            <a:r>
              <a:rPr lang="en-US" altLang="zh-CN" dirty="0"/>
              <a:t> Ng</a:t>
            </a:r>
            <a:r>
              <a:rPr lang="zh-CN" altLang="en-US" dirty="0"/>
              <a:t>和</a:t>
            </a:r>
            <a:r>
              <a:rPr lang="en-US" altLang="zh-CN" dirty="0"/>
              <a:t>Shih-Fu Chang</a:t>
            </a:r>
            <a:r>
              <a:rPr lang="zh-CN" altLang="en-US" dirty="0"/>
              <a:t>在文献中提出利用双谱的幅度特征和相位特征进行检测，但是这种检测方法只有</a:t>
            </a:r>
            <a:r>
              <a:rPr lang="en-US" altLang="zh-CN" dirty="0"/>
              <a:t>72</a:t>
            </a:r>
            <a:r>
              <a:rPr lang="zh-CN" altLang="en-US" dirty="0"/>
              <a:t>％的检测率</a:t>
            </a:r>
          </a:p>
          <a:p>
            <a:pPr marL="0" marR="0" lvl="2" indent="0" algn="l" defTabSz="914400" rtl="0" eaLnBrk="1" fontAlgn="base" latinLnBrk="0" hangingPunct="1">
              <a:lnSpc>
                <a:spcPct val="100000"/>
              </a:lnSpc>
              <a:spcBef>
                <a:spcPct val="30000"/>
              </a:spcBef>
              <a:spcAft>
                <a:spcPct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117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lang="en-US" altLang="zh-CN" dirty="0"/>
              <a:t>///////////////////////////////////////////////////////////////////////////////////////////////////////////////////////////////</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数字图像取证中模糊和重采样检测研究，杜加玉，大连理工大学硕士论文，</a:t>
            </a:r>
            <a:r>
              <a:rPr lang="en-US" altLang="zh-CN" sz="1200" kern="1200" dirty="0">
                <a:solidFill>
                  <a:schemeClr val="tx1"/>
                </a:solidFill>
                <a:effectLst/>
                <a:latin typeface="Arial" panose="020B0604020202020204" pitchFamily="34" charset="0"/>
                <a:ea typeface="宋体" panose="02010600030101010101" pitchFamily="2" charset="-122"/>
                <a:cs typeface="+mn-cs"/>
              </a:rPr>
              <a:t>2010</a:t>
            </a:r>
            <a:r>
              <a:rPr lang="zh-CN" altLang="zh-CN" sz="1200" kern="1200" dirty="0">
                <a:solidFill>
                  <a:schemeClr val="tx1"/>
                </a:solidFill>
                <a:effectLst/>
                <a:latin typeface="Arial" panose="020B0604020202020204" pitchFamily="34" charset="0"/>
                <a:ea typeface="宋体" panose="02010600030101010101" pitchFamily="2" charset="-122"/>
                <a:cs typeface="+mn-cs"/>
              </a:rPr>
              <a:t>年</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kern="1200" dirty="0">
                <a:solidFill>
                  <a:schemeClr val="tx1"/>
                </a:solidFill>
                <a:effectLst/>
                <a:latin typeface="Arial" panose="020B0604020202020204" pitchFamily="34" charset="0"/>
                <a:ea typeface="宋体" panose="02010600030101010101" pitchFamily="2" charset="-122"/>
                <a:cs typeface="+mn-cs"/>
              </a:rPr>
              <a:t>图像来源：说明双线性插值的方法，讲明双线性插值方法使得插值点是原始点的线性组合（见表达式）。</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endParaRPr lang="en-US" altLang="zh-CN" dirty="0"/>
          </a:p>
          <a:p>
            <a:r>
              <a:rPr lang="en-US" altLang="zh-CN" dirty="0"/>
              <a:t>///////////////////////////////////////////////////////////////////////////////////////////////////////////////////////////////</a:t>
            </a:r>
          </a:p>
          <a:p>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数字图像盲取证技术研究，</a:t>
            </a:r>
            <a:r>
              <a:rPr lang="en-US" altLang="zh-CN" sz="1200" kern="1200" dirty="0">
                <a:solidFill>
                  <a:schemeClr val="tx1"/>
                </a:solidFill>
                <a:effectLst/>
                <a:latin typeface="Arial" panose="020B0604020202020204" pitchFamily="34" charset="0"/>
                <a:ea typeface="宋体" panose="02010600030101010101" pitchFamily="2" charset="-122"/>
                <a:cs typeface="+mn-cs"/>
              </a:rPr>
              <a:t>2007</a:t>
            </a:r>
            <a:r>
              <a:rPr lang="zh-CN" altLang="zh-CN" sz="1200" kern="1200" dirty="0">
                <a:solidFill>
                  <a:schemeClr val="tx1"/>
                </a:solidFill>
                <a:effectLst/>
                <a:latin typeface="Arial" panose="020B0604020202020204" pitchFamily="34" charset="0"/>
                <a:ea typeface="宋体" panose="02010600030101010101" pitchFamily="2" charset="-122"/>
                <a:cs typeface="+mn-cs"/>
              </a:rPr>
              <a:t>年，北京邮电大学博士学位论文</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kern="1200" dirty="0">
                <a:solidFill>
                  <a:schemeClr val="tx1"/>
                </a:solidFill>
                <a:effectLst/>
                <a:latin typeface="Arial" panose="020B0604020202020204" pitchFamily="34" charset="0"/>
                <a:ea typeface="宋体" panose="02010600030101010101" pitchFamily="2" charset="-122"/>
                <a:cs typeface="+mn-cs"/>
              </a:rPr>
              <a:t>图像重采样概率矩阵</a:t>
            </a:r>
            <a:r>
              <a:rPr lang="en-US" altLang="zh-CN" sz="1200" kern="1200" dirty="0">
                <a:solidFill>
                  <a:schemeClr val="tx1"/>
                </a:solidFill>
                <a:effectLst/>
                <a:latin typeface="Arial" panose="020B0604020202020204" pitchFamily="34" charset="0"/>
                <a:ea typeface="宋体" panose="02010600030101010101" pitchFamily="2" charset="-122"/>
                <a:cs typeface="+mn-cs"/>
              </a:rPr>
              <a:t>FFT</a:t>
            </a:r>
            <a:r>
              <a:rPr lang="zh-CN" altLang="en-US" sz="1200" kern="1200" dirty="0">
                <a:solidFill>
                  <a:schemeClr val="tx1"/>
                </a:solidFill>
                <a:effectLst/>
                <a:latin typeface="Arial" panose="020B0604020202020204" pitchFamily="34" charset="0"/>
                <a:ea typeface="宋体" panose="02010600030101010101" pitchFamily="2" charset="-122"/>
                <a:cs typeface="+mn-cs"/>
              </a:rPr>
              <a:t>频谱</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endParaRPr lang="en-US" altLang="zh-CN" dirty="0"/>
          </a:p>
          <a:p>
            <a:r>
              <a:rPr lang="zh-CN" altLang="en-US" dirty="0"/>
              <a:t>图像经过重采样后，其重采样部分的像素值会变成其周围像素的线性组合，并且所有重采样像素线性组合的系数相同（像素间产生周期性的线性关系）。具体步骤是先计算出每一个像素是它周围像素线性组合的概率，将计算出的概率组成矩阵，对这个矩阵进行傅立叶变换，通过其傅立叶谱的性质来判断这个矩阵中的向量是否具有周期性，从而判断图像是否经过了重采样。</a:t>
            </a:r>
            <a:endParaRPr lang="en-US" altLang="zh-CN" dirty="0"/>
          </a:p>
          <a:p>
            <a:endParaRPr lang="en-US" altLang="zh-CN" dirty="0"/>
          </a:p>
          <a:p>
            <a:r>
              <a:rPr lang="en-US" altLang="zh-CN" dirty="0"/>
              <a:t>/////////////////////////////////////////////////////////////////////////////////////////////////////////////////</a:t>
            </a:r>
          </a:p>
          <a:p>
            <a:r>
              <a:rPr lang="zh-CN" altLang="en-US" dirty="0"/>
              <a:t>重采样、模糊润饰操作检测 </a:t>
            </a:r>
          </a:p>
          <a:p>
            <a:r>
              <a:rPr lang="zh-CN" altLang="en-US" dirty="0"/>
              <a:t>篡改者经过复制粘贴篡改操作后，为了消除伪造图像上的篡改痕迹，往往会对篡改部分进行如缩放、旋转、模糊等预先处理和润饰操作，会产生重采样、及模糊润饰的效果</a:t>
            </a:r>
          </a:p>
          <a:p>
            <a:r>
              <a:rPr lang="zh-CN" altLang="en-US" dirty="0"/>
              <a:t>重采样：尽管这种痕迹不会引起视觉上的差别，但由于插值（上采样或下采样）的原因，经重采样后篡改图像块的像素与其周围像素之间会产生周期性的线性关系</a:t>
            </a:r>
          </a:p>
          <a:p>
            <a:r>
              <a:rPr lang="zh-CN" altLang="en-US" dirty="0"/>
              <a:t>模糊润饰操作：这种操作已被多种取证技术针对性的研究，并可被可靠地检测出来。</a:t>
            </a:r>
            <a:r>
              <a:rPr lang="en-US" altLang="zh-CN" dirty="0" err="1"/>
              <a:t>Hanghang</a:t>
            </a:r>
            <a:r>
              <a:rPr lang="en-US" altLang="zh-CN" dirty="0"/>
              <a:t> Tong</a:t>
            </a:r>
            <a:r>
              <a:rPr lang="zh-CN" altLang="en-US" dirty="0"/>
              <a:t>的”小波域检测整幅图像的模糊操作方法“、</a:t>
            </a:r>
            <a:r>
              <a:rPr lang="en-US" altLang="zh-CN" dirty="0"/>
              <a:t>Dun-Yu Hsiao</a:t>
            </a:r>
            <a:r>
              <a:rPr lang="zh-CN" altLang="en-US" dirty="0"/>
              <a:t>的”局部模糊检测“、王波等的”基于异常色调率的模糊操作检测技术“，周琳娜等的”数学形态学方法模糊处理检测技术“对模糊操作都有很高的检测率</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118</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p>
          <a:p>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数字图像盲取证技术研究，</a:t>
            </a:r>
            <a:r>
              <a:rPr lang="en-US" altLang="zh-CN" sz="1200" kern="1200" dirty="0">
                <a:solidFill>
                  <a:schemeClr val="tx1"/>
                </a:solidFill>
                <a:effectLst/>
                <a:latin typeface="Arial" panose="020B0604020202020204" pitchFamily="34" charset="0"/>
                <a:ea typeface="宋体" panose="02010600030101010101" pitchFamily="2" charset="-122"/>
                <a:cs typeface="+mn-cs"/>
              </a:rPr>
              <a:t>2007</a:t>
            </a:r>
            <a:r>
              <a:rPr lang="zh-CN" altLang="zh-CN" sz="1200" kern="1200" dirty="0">
                <a:solidFill>
                  <a:schemeClr val="tx1"/>
                </a:solidFill>
                <a:effectLst/>
                <a:latin typeface="Arial" panose="020B0604020202020204" pitchFamily="34" charset="0"/>
                <a:ea typeface="宋体" panose="02010600030101010101" pitchFamily="2" charset="-122"/>
                <a:cs typeface="+mn-cs"/>
              </a:rPr>
              <a:t>年，北京邮电大学博士学位论文</a:t>
            </a:r>
            <a:endParaRPr lang="en-US" altLang="zh-CN" dirty="0"/>
          </a:p>
          <a:p>
            <a:r>
              <a:rPr lang="zh-CN" altLang="en-US" dirty="0"/>
              <a:t>模糊操作的基本原理是对图像的局部邻近像素值进行邻域灰度平均，其目的是为了将图像伪造所造成的拼接边缘淡化甚至消除。映在模糊方式的选择上。模糊操作可以看作是将输入图像中的像素</a:t>
            </a:r>
            <a:r>
              <a:rPr lang="en-US" altLang="zh-CN" dirty="0"/>
              <a:t>(i</a:t>
            </a:r>
            <a:r>
              <a:rPr lang="zh-CN" altLang="en-US" dirty="0"/>
              <a:t>，</a:t>
            </a:r>
            <a:r>
              <a:rPr lang="en-US" altLang="zh-CN" dirty="0"/>
              <a:t>j)</a:t>
            </a:r>
            <a:r>
              <a:rPr lang="zh-CN" altLang="en-US" dirty="0"/>
              <a:t>的邻域平均灰度确定为输出图像像素</a:t>
            </a:r>
            <a:r>
              <a:rPr lang="en-US" altLang="zh-CN" dirty="0"/>
              <a:t>(</a:t>
            </a:r>
            <a:r>
              <a:rPr lang="en-US" altLang="zh-CN" dirty="0" err="1"/>
              <a:t>ij</a:t>
            </a:r>
            <a:r>
              <a:rPr lang="en-US" altLang="zh-CN" dirty="0"/>
              <a:t>)</a:t>
            </a:r>
            <a:r>
              <a:rPr lang="zh-CN" altLang="en-US" dirty="0"/>
              <a:t>的值，相当于利用所有元素都用</a:t>
            </a:r>
            <a:r>
              <a:rPr lang="en-US" altLang="zh-CN" dirty="0"/>
              <a:t>1/(n^2)</a:t>
            </a:r>
            <a:r>
              <a:rPr lang="zh-CN" altLang="en-US" dirty="0"/>
              <a:t>的加权矩阵进行空间滤波，当使用</a:t>
            </a:r>
            <a:r>
              <a:rPr lang="en-US" altLang="zh-CN" dirty="0"/>
              <a:t>n*n</a:t>
            </a:r>
            <a:r>
              <a:rPr lang="zh-CN" altLang="en-US" dirty="0"/>
              <a:t>的正方形模糊邻域时，模糊操作可表示为</a:t>
            </a:r>
            <a:r>
              <a:rPr lang="en-US" altLang="zh-CN" dirty="0"/>
              <a:t>:</a:t>
            </a:r>
          </a:p>
          <a:p>
            <a:r>
              <a:rPr lang="zh-CN" altLang="en-US" dirty="0"/>
              <a:t>一些未经篡改的自然图像由于其场景范围广，会存在由于焦距不准而造成的自然模糊图像块。如果要对伪造篡改图像进行较精确的取证，就必须在技术上能够区分开自然模糊和人为模糊。</a:t>
            </a:r>
          </a:p>
          <a:p>
            <a:r>
              <a:rPr lang="zh-CN" altLang="en-US" dirty="0"/>
              <a:t>从人工模糊的数学表达式可以看出，人工模糊是在选定模糊邻域内所有像素的统计平均，在模糊半径内的模糊滤波是等值处理的，而对于模糊半径以外的图像像素则不做任何处理。而相机离焦模糊由于不存在人工选定的模糊半径，其模糊滤波相对于聚焦点向外成射线状无级扩散，逐渐变小。这两种模糊效果的对比示意图。</a:t>
            </a:r>
          </a:p>
          <a:p>
            <a:r>
              <a:rPr lang="zh-CN" altLang="en-US" dirty="0"/>
              <a:t>由图可以看出，人工模糊和相机离焦模糊的最大区别在于人工模糊有明确的模糊边界，在模糊边界内外的图像像素相对于模糊的概念区别较大，而相机离焦模糊没有模糊边界，较人工模糊会表现得更加均匀。</a:t>
            </a:r>
            <a:endParaRPr lang="en-US" altLang="zh-CN" dirty="0"/>
          </a:p>
          <a:p>
            <a:endParaRPr lang="en-US" altLang="zh-CN" dirty="0"/>
          </a:p>
          <a:p>
            <a:r>
              <a:rPr lang="en-US" altLang="zh-CN" dirty="0"/>
              <a:t>/////////////////////////////////////////////////////////////////////////////////////////////////////////////////</a:t>
            </a:r>
          </a:p>
          <a:p>
            <a:r>
              <a:rPr lang="zh-CN" altLang="en-US" dirty="0"/>
              <a:t>数字图像取证中模糊和重采样检测研究，杜加玉，大连理工大学硕士论文，</a:t>
            </a:r>
            <a:r>
              <a:rPr lang="en-US" altLang="zh-CN" dirty="0"/>
              <a:t>2010</a:t>
            </a:r>
            <a:r>
              <a:rPr lang="zh-CN" altLang="en-US" dirty="0"/>
              <a:t>年</a:t>
            </a:r>
          </a:p>
          <a:p>
            <a:r>
              <a:rPr lang="zh-CN" altLang="en-US" dirty="0"/>
              <a:t>在高斯低通滤波模板操作中，每一个像素的灰度值是该像素周围所有点的像素值的加权平均。其中，模板中心处的权值最大，其余每一邻域像素点的权值随着该点与中心点距离单调递减。这样，高斯低通滤波模板便可以很好地保存边缘效果。</a:t>
            </a:r>
          </a:p>
          <a:p>
            <a:r>
              <a:rPr lang="zh-CN" altLang="en-US" dirty="0"/>
              <a:t>高斯模糊操作可以看作是将输入图像中像素</a:t>
            </a:r>
            <a:r>
              <a:rPr lang="en-US" altLang="zh-CN" dirty="0"/>
              <a:t>(i</a:t>
            </a:r>
            <a:r>
              <a:rPr lang="zh-CN" altLang="en-US" dirty="0"/>
              <a:t>，</a:t>
            </a:r>
            <a:r>
              <a:rPr lang="en-US" altLang="zh-CN" dirty="0"/>
              <a:t>j)</a:t>
            </a:r>
            <a:r>
              <a:rPr lang="zh-CN" altLang="en-US" dirty="0"/>
              <a:t>的邻域灰度值的加权平均确定为输出图像像素（</a:t>
            </a:r>
            <a:r>
              <a:rPr lang="en-US" altLang="zh-CN" dirty="0"/>
              <a:t>i</a:t>
            </a:r>
            <a:r>
              <a:rPr lang="zh-CN" altLang="en-US" dirty="0"/>
              <a:t>，</a:t>
            </a:r>
            <a:r>
              <a:rPr lang="en-US" altLang="zh-CN" dirty="0"/>
              <a:t>j)</a:t>
            </a:r>
            <a:r>
              <a:rPr lang="zh-CN" altLang="en-US" dirty="0"/>
              <a:t>的灰度值。例如使用</a:t>
            </a:r>
            <a:r>
              <a:rPr lang="en-US" altLang="zh-CN" dirty="0"/>
              <a:t>sigma=l</a:t>
            </a:r>
            <a:r>
              <a:rPr lang="zh-CN" altLang="en-US" dirty="0"/>
              <a:t>的</a:t>
            </a:r>
            <a:r>
              <a:rPr lang="en-US" altLang="zh-CN" dirty="0"/>
              <a:t>3*3</a:t>
            </a:r>
            <a:r>
              <a:rPr lang="zh-CN" altLang="en-US" dirty="0"/>
              <a:t>的模板滤波时，高斯模糊操作可表示为</a:t>
            </a:r>
          </a:p>
          <a:p>
            <a:r>
              <a:rPr lang="zh-CN" altLang="en-US" dirty="0"/>
              <a:t>图像高斯模糊操作在频域表现为低通滤波，这将会引起</a:t>
            </a:r>
            <a:r>
              <a:rPr lang="en-US" altLang="zh-CN" dirty="0"/>
              <a:t>DCT</a:t>
            </a:r>
            <a:r>
              <a:rPr lang="zh-CN" altLang="en-US" dirty="0"/>
              <a:t>域相邻系数分布的变化。利用这一特点，提取出能够准确表示该变化的特征，可以实现高斯模糊操作的有效检测。</a:t>
            </a:r>
          </a:p>
          <a:p>
            <a:r>
              <a:rPr lang="zh-CN" altLang="en-US" dirty="0"/>
              <a:t>数码相机直接拍摄的照片会在空域内呈现出一定的色彩局部一致性。同时，若相片以</a:t>
            </a:r>
            <a:r>
              <a:rPr lang="en-US" altLang="zh-CN" dirty="0"/>
              <a:t>JPEG</a:t>
            </a:r>
            <a:r>
              <a:rPr lang="zh-CN" altLang="en-US" dirty="0"/>
              <a:t>格式存储，这种色彩局部一致性会得到增强。</a:t>
            </a:r>
          </a:p>
          <a:p>
            <a:r>
              <a:rPr lang="zh-CN" altLang="en-US" dirty="0"/>
              <a:t>在图像成像过程中，滤色阵列插值作用会使</a:t>
            </a:r>
            <a:r>
              <a:rPr lang="en-US" altLang="zh-CN" dirty="0"/>
              <a:t>RGB</a:t>
            </a:r>
            <a:r>
              <a:rPr lang="zh-CN" altLang="en-US" dirty="0"/>
              <a:t>三个分量在局部空间内分别建立了联系，具有局部相关性。而模糊操作对三个分量分别独立地进行了非线性均匀的修改，这会破坏原始数码图像的色彩局部一致性。因此，利用这一特点提取出准确描述色彩局部一致性变化的特征可以很好地实现图像模糊的检测。</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119</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1.3</a:t>
            </a:r>
            <a:r>
              <a:rPr lang="zh-CN" altLang="en-US" dirty="0"/>
              <a:t>、</a:t>
            </a:r>
            <a:r>
              <a:rPr lang="en-US" altLang="zh-CN" dirty="0"/>
              <a:t>JPEG</a:t>
            </a:r>
            <a:r>
              <a:rPr lang="zh-CN" altLang="en-US" dirty="0"/>
              <a:t>重压缩检测 </a:t>
            </a:r>
          </a:p>
          <a:p>
            <a:r>
              <a:rPr lang="zh-CN" altLang="en-US" dirty="0"/>
              <a:t>篡改后的图像需要重新保存，若原始图像是</a:t>
            </a:r>
            <a:r>
              <a:rPr lang="en-US" altLang="zh-CN" dirty="0"/>
              <a:t>JPEG</a:t>
            </a:r>
            <a:r>
              <a:rPr lang="zh-CN" altLang="en-US" dirty="0"/>
              <a:t>格式，修改后仍旧保存为</a:t>
            </a:r>
            <a:r>
              <a:rPr lang="en-US" altLang="zh-CN" dirty="0"/>
              <a:t>JPEG</a:t>
            </a:r>
            <a:r>
              <a:rPr lang="zh-CN" altLang="en-US" dirty="0"/>
              <a:t>格式，则图像就经过了双重</a:t>
            </a:r>
            <a:r>
              <a:rPr lang="en-US" altLang="zh-CN" dirty="0"/>
              <a:t>JPEG</a:t>
            </a:r>
            <a:r>
              <a:rPr lang="zh-CN" altLang="en-US" dirty="0"/>
              <a:t>压缩，这是一种不可逆的有损压缩过程</a:t>
            </a:r>
          </a:p>
          <a:p>
            <a:r>
              <a:rPr lang="zh-CN" altLang="en-US" dirty="0"/>
              <a:t>由于双重</a:t>
            </a:r>
            <a:r>
              <a:rPr lang="en-US" altLang="zh-CN" dirty="0"/>
              <a:t>JPEG</a:t>
            </a:r>
            <a:r>
              <a:rPr lang="zh-CN" altLang="en-US" dirty="0"/>
              <a:t>压缩对图像数据进行了两次量化，引入了一些单次</a:t>
            </a:r>
            <a:r>
              <a:rPr lang="en-US" altLang="zh-CN" dirty="0"/>
              <a:t>JPEG</a:t>
            </a:r>
            <a:r>
              <a:rPr lang="zh-CN" altLang="en-US" dirty="0"/>
              <a:t>压缩所没有的特征，通过统计检测能够发现图像是否经过了双重</a:t>
            </a:r>
            <a:r>
              <a:rPr lang="en-US" altLang="zh-CN" dirty="0"/>
              <a:t>JPEG</a:t>
            </a:r>
            <a:r>
              <a:rPr lang="zh-CN" altLang="en-US" dirty="0"/>
              <a:t>压缩</a:t>
            </a:r>
          </a:p>
          <a:p>
            <a:r>
              <a:rPr lang="zh-CN" altLang="en-US" dirty="0"/>
              <a:t>当然，双重</a:t>
            </a:r>
            <a:r>
              <a:rPr lang="en-US" altLang="zh-CN" dirty="0"/>
              <a:t>JPEG</a:t>
            </a:r>
            <a:r>
              <a:rPr lang="zh-CN" altLang="en-US" dirty="0"/>
              <a:t>压缩并不一定说明图像经过篡改，有些未经篡改的正常图像也有可能由于被重新保存而经历双重压缩 </a:t>
            </a:r>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120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图像内容真实性鉴别的不同思路：</a:t>
            </a:r>
            <a:endParaRPr lang="en-US" altLang="zh-CN" sz="1200" dirty="0"/>
          </a:p>
          <a:p>
            <a:r>
              <a:rPr lang="en-US" altLang="zh-CN" sz="1200" dirty="0"/>
              <a:t>1</a:t>
            </a:r>
            <a:r>
              <a:rPr lang="zh-CN" altLang="en-US" sz="1200" dirty="0"/>
              <a:t>、针对具体操作过程的思路</a:t>
            </a:r>
            <a:endParaRPr lang="en-US" altLang="zh-CN" sz="1200" dirty="0"/>
          </a:p>
          <a:p>
            <a:r>
              <a:rPr lang="en-US" altLang="zh-CN" sz="1200" dirty="0"/>
              <a:t>2</a:t>
            </a:r>
            <a:r>
              <a:rPr lang="zh-CN" altLang="en-US" sz="1200" dirty="0"/>
              <a:t>、针对成像设备特质的一致性进行检测</a:t>
            </a:r>
            <a:endParaRPr lang="en-US" altLang="zh-CN" sz="1200" dirty="0"/>
          </a:p>
          <a:p>
            <a:r>
              <a:rPr lang="en-US" altLang="zh-CN" sz="1200" dirty="0"/>
              <a:t>3</a:t>
            </a:r>
            <a:r>
              <a:rPr lang="zh-CN" altLang="en-US" sz="1200" dirty="0"/>
              <a:t>、针对自然图像特征的检测</a:t>
            </a:r>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121</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80000"/>
              </a:lnSpc>
            </a:pPr>
            <a:r>
              <a:rPr lang="zh-CN" altLang="en-US" sz="2400" dirty="0"/>
              <a:t>图像块匹配法：首先将图像分成若干图像块，每一个图像块用一个矩阵表示，比较所有图像块矩阵，找出相同的图像块。分为精确匹配和模糊匹配两种</a:t>
            </a:r>
          </a:p>
          <a:p>
            <a:pPr>
              <a:lnSpc>
                <a:spcPct val="80000"/>
              </a:lnSpc>
            </a:pPr>
            <a:r>
              <a:rPr lang="zh-CN" altLang="en-US" sz="2400" dirty="0"/>
              <a:t>运算量比前面两种都小</a:t>
            </a:r>
          </a:p>
          <a:p>
            <a:pPr>
              <a:lnSpc>
                <a:spcPct val="80000"/>
              </a:lnSpc>
            </a:pPr>
            <a:r>
              <a:rPr lang="zh-CN" altLang="en-US" sz="2400" dirty="0"/>
              <a:t>方法：</a:t>
            </a:r>
          </a:p>
          <a:p>
            <a:pPr lvl="1">
              <a:lnSpc>
                <a:spcPct val="80000"/>
              </a:lnSpc>
            </a:pPr>
            <a:r>
              <a:rPr lang="zh-CN" altLang="en-US" sz="2000" dirty="0"/>
              <a:t>将图像分块，每块代表一个像素位置，把每一块写成一个向量的形式，所有的图像块组成一个矩阵，对这个矩阵进行字典排序，找到完全相同（精确匹配）或基本相同（模糊匹配）的行或列，对应的像素位置即是复制粘贴块中的像素位置</a:t>
            </a:r>
          </a:p>
          <a:p>
            <a:pPr lvl="1">
              <a:lnSpc>
                <a:spcPct val="80000"/>
              </a:lnSpc>
            </a:pPr>
            <a:r>
              <a:rPr lang="zh-CN" altLang="en-US" sz="2000" dirty="0"/>
              <a:t>为了避免图像中有可能存在少量相同微小图像块或者临近的相同微小块的干扰，要设置一个阈值，当在一定范围内相同的行（列）出现的次数大于阈值时才能判断为复制粘贴块</a:t>
            </a:r>
          </a:p>
          <a:p>
            <a:pPr>
              <a:lnSpc>
                <a:spcPct val="80000"/>
              </a:lnSpc>
            </a:pP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135</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80000"/>
              </a:lnSpc>
            </a:pPr>
            <a:r>
              <a:rPr lang="zh-CN" altLang="en-US" sz="2400" dirty="0"/>
              <a:t>图像块匹配法：首先将图像分成若干图像块，每一个图像块用一个矩阵表示，比较所有图像块矩阵，找出相同的图像块。分为精确匹配和模糊匹配两种</a:t>
            </a:r>
          </a:p>
          <a:p>
            <a:pPr>
              <a:lnSpc>
                <a:spcPct val="80000"/>
              </a:lnSpc>
            </a:pPr>
            <a:r>
              <a:rPr lang="zh-CN" altLang="en-US" sz="2400" dirty="0"/>
              <a:t>运算量比前面两种都小</a:t>
            </a:r>
          </a:p>
          <a:p>
            <a:pPr>
              <a:lnSpc>
                <a:spcPct val="80000"/>
              </a:lnSpc>
            </a:pPr>
            <a:r>
              <a:rPr lang="zh-CN" altLang="en-US" sz="2400" dirty="0"/>
              <a:t>方法：</a:t>
            </a:r>
          </a:p>
          <a:p>
            <a:pPr lvl="1">
              <a:lnSpc>
                <a:spcPct val="80000"/>
              </a:lnSpc>
            </a:pPr>
            <a:r>
              <a:rPr lang="zh-CN" altLang="en-US" sz="2000" dirty="0"/>
              <a:t>将图像分块，每块代表一个像素位置，把每一块写成一个向量的形式，所有的图像块组成一个矩阵，对这个矩阵进行字典排序，找到完全相同（精确匹配）或基本相同（模糊匹配）的行或列，对应的像素位置即是复制粘贴块中的像素位置</a:t>
            </a:r>
          </a:p>
          <a:p>
            <a:pPr lvl="1">
              <a:lnSpc>
                <a:spcPct val="80000"/>
              </a:lnSpc>
            </a:pPr>
            <a:r>
              <a:rPr lang="zh-CN" altLang="en-US" sz="2000" dirty="0"/>
              <a:t>为了避免图像中有可能存在少量相同微小图像块或者临近的相同微小块的干扰，要设置一个阈值，当在一定范围内相同的行（列）出现的次数大于阈值时才能判断为复制粘贴块</a:t>
            </a:r>
          </a:p>
          <a:p>
            <a:pPr>
              <a:lnSpc>
                <a:spcPct val="80000"/>
              </a:lnSpc>
            </a:pPr>
            <a:endParaRPr lang="en-US" altLang="zh-CN" sz="2400" dirty="0"/>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136</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数字图像取证关键技术研究，朱艳玲，北京邮电大学硕士学位论文，</a:t>
            </a:r>
            <a:r>
              <a:rPr lang="en-US" altLang="zh-CN" dirty="0"/>
              <a:t>2011</a:t>
            </a:r>
          </a:p>
          <a:p>
            <a:r>
              <a:rPr lang="zh-CN" altLang="en-US" dirty="0"/>
              <a:t>在基于双重</a:t>
            </a:r>
            <a:r>
              <a:rPr lang="en-US" altLang="zh-CN" dirty="0"/>
              <a:t>JPEG</a:t>
            </a:r>
            <a:r>
              <a:rPr lang="zh-CN" altLang="en-US" dirty="0"/>
              <a:t>压缩特征的数字图像盲取证技术的研究方面，取得显著成果的两个团队是美国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为核心的研究团队和美国</a:t>
            </a:r>
            <a:r>
              <a:rPr lang="en-US" altLang="zh-CN" dirty="0" err="1"/>
              <a:t>Dartmout</a:t>
            </a:r>
            <a:r>
              <a:rPr lang="zh-CN" altLang="en-US" dirty="0"/>
              <a:t>大学以</a:t>
            </a:r>
            <a:r>
              <a:rPr lang="en-US" altLang="zh-CN" dirty="0" err="1"/>
              <a:t>Hany</a:t>
            </a:r>
            <a:r>
              <a:rPr lang="en-US" altLang="zh-CN" dirty="0"/>
              <a:t> </a:t>
            </a:r>
            <a:r>
              <a:rPr lang="en-US" altLang="zh-CN" dirty="0" err="1"/>
              <a:t>Farid</a:t>
            </a:r>
            <a:r>
              <a:rPr lang="zh-CN" altLang="en-US" dirty="0"/>
              <a:t>为核心的研究团队。</a:t>
            </a:r>
          </a:p>
          <a:p>
            <a:r>
              <a:rPr lang="zh-CN" altLang="en-US" dirty="0"/>
              <a:t>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为核心的研究团队发现图像经过两次质量因子不同的</a:t>
            </a:r>
            <a:r>
              <a:rPr lang="en-US" altLang="zh-CN" dirty="0"/>
              <a:t>JPEG</a:t>
            </a:r>
            <a:r>
              <a:rPr lang="zh-CN" altLang="en-US" dirty="0"/>
              <a:t>压缩后所得图像的</a:t>
            </a:r>
            <a:r>
              <a:rPr lang="en-US" altLang="zh-CN" dirty="0"/>
              <a:t>DCT</a:t>
            </a:r>
            <a:r>
              <a:rPr lang="zh-CN" altLang="en-US" dirty="0"/>
              <a:t>系数会出现特殊的统计特征，即单次</a:t>
            </a:r>
            <a:r>
              <a:rPr lang="en-US" altLang="zh-CN" dirty="0"/>
              <a:t>JPEG</a:t>
            </a:r>
            <a:r>
              <a:rPr lang="zh-CN" altLang="en-US" dirty="0"/>
              <a:t>压缩后图像的</a:t>
            </a:r>
            <a:r>
              <a:rPr lang="en-US" altLang="zh-CN" dirty="0"/>
              <a:t>DCT</a:t>
            </a:r>
            <a:r>
              <a:rPr lang="zh-CN" altLang="en-US" dirty="0"/>
              <a:t>系数的直方图呈现类高斯分布，而双重</a:t>
            </a:r>
            <a:r>
              <a:rPr lang="en-US" altLang="zh-CN" dirty="0"/>
              <a:t>JPEG</a:t>
            </a:r>
            <a:r>
              <a:rPr lang="zh-CN" altLang="en-US" dirty="0"/>
              <a:t>压缩后，其</a:t>
            </a:r>
            <a:r>
              <a:rPr lang="en-US" altLang="zh-CN" dirty="0"/>
              <a:t>DCT</a:t>
            </a:r>
            <a:r>
              <a:rPr lang="zh-CN" altLang="en-US" dirty="0"/>
              <a:t>系数的某些值就会周期性的减少或消失，而且这些</a:t>
            </a:r>
            <a:r>
              <a:rPr lang="en-US" altLang="zh-CN" dirty="0"/>
              <a:t>DCT</a:t>
            </a:r>
            <a:r>
              <a:rPr lang="zh-CN" altLang="en-US" dirty="0"/>
              <a:t>系数值消失的规律与质量因子有关。</a:t>
            </a:r>
          </a:p>
          <a:p>
            <a:r>
              <a:rPr lang="en-US" altLang="zh-CN" dirty="0" err="1"/>
              <a:t>Hany</a:t>
            </a:r>
            <a:r>
              <a:rPr lang="en-US" altLang="zh-CN" dirty="0"/>
              <a:t> </a:t>
            </a:r>
            <a:r>
              <a:rPr lang="en-US" altLang="zh-CN" dirty="0" err="1"/>
              <a:t>Farid</a:t>
            </a:r>
            <a:r>
              <a:rPr lang="zh-CN" altLang="en-US" dirty="0"/>
              <a:t>在实验中分别使用不同的质量因子将经过双重</a:t>
            </a:r>
            <a:r>
              <a:rPr lang="en-US" altLang="zh-CN" dirty="0"/>
              <a:t>JPEG</a:t>
            </a:r>
            <a:r>
              <a:rPr lang="zh-CN" altLang="en-US" dirty="0"/>
              <a:t>压缩的图像进行了第三次</a:t>
            </a:r>
            <a:r>
              <a:rPr lang="en-US" altLang="zh-CN" dirty="0"/>
              <a:t>JPEG</a:t>
            </a:r>
            <a:r>
              <a:rPr lang="zh-CN" altLang="en-US" dirty="0"/>
              <a:t>压缩，并根据新图像的</a:t>
            </a:r>
            <a:r>
              <a:rPr lang="en-US" altLang="zh-CN" dirty="0"/>
              <a:t>DCT</a:t>
            </a:r>
            <a:r>
              <a:rPr lang="zh-CN" altLang="en-US" dirty="0"/>
              <a:t>系数与待检测图像的</a:t>
            </a:r>
            <a:r>
              <a:rPr lang="en-US" altLang="zh-CN" dirty="0"/>
              <a:t>DCT</a:t>
            </a:r>
            <a:r>
              <a:rPr lang="zh-CN" altLang="en-US" dirty="0"/>
              <a:t>系数间的差值绘制出一个散点图，发现该图像中会出现两个明显的波谷，这两个波谷出现的位置分别是初次压缩的质量因子所对应的位置</a:t>
            </a:r>
            <a:r>
              <a:rPr lang="en-US" altLang="zh-CN" dirty="0"/>
              <a:t>(</a:t>
            </a:r>
            <a:r>
              <a:rPr lang="zh-CN" altLang="en-US" dirty="0"/>
              <a:t>一般被称为</a:t>
            </a:r>
            <a:r>
              <a:rPr lang="en-US" altLang="zh-CN" dirty="0"/>
              <a:t>JPEG Ghosts)</a:t>
            </a:r>
            <a:r>
              <a:rPr lang="zh-CN" altLang="en-US" dirty="0"/>
              <a:t>和二次压缩的质量因子所对应的位置。</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141</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数字图像取证关键技术研究，朱艳玲，北京邮电大学硕士学位论文，</a:t>
            </a:r>
            <a:r>
              <a:rPr lang="en-US" altLang="zh-CN" dirty="0"/>
              <a:t>2011</a:t>
            </a:r>
          </a:p>
          <a:p>
            <a:r>
              <a:rPr lang="zh-CN" altLang="en-US" dirty="0"/>
              <a:t>在基于双重</a:t>
            </a:r>
            <a:r>
              <a:rPr lang="en-US" altLang="zh-CN" dirty="0"/>
              <a:t>JPEG</a:t>
            </a:r>
            <a:r>
              <a:rPr lang="zh-CN" altLang="en-US" dirty="0"/>
              <a:t>压缩特征的数字图像盲取证技术的研究方面，取得显著成果的两个团队是美国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为核心的研究团队和美国</a:t>
            </a:r>
            <a:r>
              <a:rPr lang="en-US" altLang="zh-CN" dirty="0" err="1"/>
              <a:t>Dartmout</a:t>
            </a:r>
            <a:r>
              <a:rPr lang="zh-CN" altLang="en-US" dirty="0"/>
              <a:t>大学以</a:t>
            </a:r>
            <a:r>
              <a:rPr lang="en-US" altLang="zh-CN" dirty="0" err="1"/>
              <a:t>Hany</a:t>
            </a:r>
            <a:r>
              <a:rPr lang="en-US" altLang="zh-CN" dirty="0"/>
              <a:t> </a:t>
            </a:r>
            <a:r>
              <a:rPr lang="en-US" altLang="zh-CN" dirty="0" err="1"/>
              <a:t>Farid</a:t>
            </a:r>
            <a:r>
              <a:rPr lang="zh-CN" altLang="en-US" dirty="0"/>
              <a:t>为核心的研究团队。</a:t>
            </a:r>
          </a:p>
          <a:p>
            <a:r>
              <a:rPr lang="zh-CN" altLang="en-US" dirty="0"/>
              <a:t>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为核心的研究团队发现图像经过两次质量因子不同的</a:t>
            </a:r>
            <a:r>
              <a:rPr lang="en-US" altLang="zh-CN" dirty="0"/>
              <a:t>JPEG</a:t>
            </a:r>
            <a:r>
              <a:rPr lang="zh-CN" altLang="en-US" dirty="0"/>
              <a:t>压缩后所得图像的</a:t>
            </a:r>
            <a:r>
              <a:rPr lang="en-US" altLang="zh-CN" dirty="0"/>
              <a:t>DCT</a:t>
            </a:r>
            <a:r>
              <a:rPr lang="zh-CN" altLang="en-US" dirty="0"/>
              <a:t>系数会出现特殊的统计特征，即单次</a:t>
            </a:r>
            <a:r>
              <a:rPr lang="en-US" altLang="zh-CN" dirty="0"/>
              <a:t>JPEG</a:t>
            </a:r>
            <a:r>
              <a:rPr lang="zh-CN" altLang="en-US" dirty="0"/>
              <a:t>压缩后图像的</a:t>
            </a:r>
            <a:r>
              <a:rPr lang="en-US" altLang="zh-CN" dirty="0"/>
              <a:t>DCT</a:t>
            </a:r>
            <a:r>
              <a:rPr lang="zh-CN" altLang="en-US" dirty="0"/>
              <a:t>系数的直方图呈现类高斯分布，而双重</a:t>
            </a:r>
            <a:r>
              <a:rPr lang="en-US" altLang="zh-CN" dirty="0"/>
              <a:t>JPEG</a:t>
            </a:r>
            <a:r>
              <a:rPr lang="zh-CN" altLang="en-US" dirty="0"/>
              <a:t>压缩后，其</a:t>
            </a:r>
            <a:r>
              <a:rPr lang="en-US" altLang="zh-CN" dirty="0"/>
              <a:t>DCT</a:t>
            </a:r>
            <a:r>
              <a:rPr lang="zh-CN" altLang="en-US" dirty="0"/>
              <a:t>系数的某些值就会周期性的减少或消失，而且这些</a:t>
            </a:r>
            <a:r>
              <a:rPr lang="en-US" altLang="zh-CN" dirty="0"/>
              <a:t>DCT</a:t>
            </a:r>
            <a:r>
              <a:rPr lang="zh-CN" altLang="en-US" dirty="0"/>
              <a:t>系数值消失的规律与质量因子有关。</a:t>
            </a:r>
          </a:p>
          <a:p>
            <a:r>
              <a:rPr lang="en-US" altLang="zh-CN" dirty="0" err="1"/>
              <a:t>Hany</a:t>
            </a:r>
            <a:r>
              <a:rPr lang="en-US" altLang="zh-CN" dirty="0"/>
              <a:t> </a:t>
            </a:r>
            <a:r>
              <a:rPr lang="en-US" altLang="zh-CN" dirty="0" err="1"/>
              <a:t>Farid</a:t>
            </a:r>
            <a:r>
              <a:rPr lang="zh-CN" altLang="en-US" dirty="0"/>
              <a:t>在实验中分别使用不同的质量因子将经过双重</a:t>
            </a:r>
            <a:r>
              <a:rPr lang="en-US" altLang="zh-CN" dirty="0"/>
              <a:t>JPEG</a:t>
            </a:r>
            <a:r>
              <a:rPr lang="zh-CN" altLang="en-US" dirty="0"/>
              <a:t>压缩的图像进行了第三次</a:t>
            </a:r>
            <a:r>
              <a:rPr lang="en-US" altLang="zh-CN" dirty="0"/>
              <a:t>JPEG</a:t>
            </a:r>
            <a:r>
              <a:rPr lang="zh-CN" altLang="en-US" dirty="0"/>
              <a:t>压缩，并根据新图像的</a:t>
            </a:r>
            <a:r>
              <a:rPr lang="en-US" altLang="zh-CN" dirty="0"/>
              <a:t>DCT</a:t>
            </a:r>
            <a:r>
              <a:rPr lang="zh-CN" altLang="en-US" dirty="0"/>
              <a:t>系数与待检测图像的</a:t>
            </a:r>
            <a:r>
              <a:rPr lang="en-US" altLang="zh-CN" dirty="0"/>
              <a:t>DCT</a:t>
            </a:r>
            <a:r>
              <a:rPr lang="zh-CN" altLang="en-US" dirty="0"/>
              <a:t>系数间的差值绘制出一个散点图，发现该图像中会出现两个明显的波谷，这两个波谷出现的位置分别是初次压缩的质量因子所对应的位置</a:t>
            </a:r>
            <a:r>
              <a:rPr lang="en-US" altLang="zh-CN" dirty="0"/>
              <a:t>(</a:t>
            </a:r>
            <a:r>
              <a:rPr lang="zh-CN" altLang="en-US" dirty="0"/>
              <a:t>一般被称为</a:t>
            </a:r>
            <a:r>
              <a:rPr lang="en-US" altLang="zh-CN" dirty="0"/>
              <a:t>JPEG Ghosts)</a:t>
            </a:r>
            <a:r>
              <a:rPr lang="zh-CN" altLang="en-US" dirty="0"/>
              <a:t>和二次压缩的质量因子所对应的位置。</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142</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数字图像取证关键技术研究，朱艳玲，北京邮电大学硕士学位论文，</a:t>
            </a:r>
            <a:r>
              <a:rPr lang="en-US" altLang="zh-CN" dirty="0"/>
              <a:t>2011</a:t>
            </a:r>
          </a:p>
          <a:p>
            <a:r>
              <a:rPr lang="zh-CN" altLang="en-US" dirty="0"/>
              <a:t>在基于双重</a:t>
            </a:r>
            <a:r>
              <a:rPr lang="en-US" altLang="zh-CN" dirty="0"/>
              <a:t>JPEG</a:t>
            </a:r>
            <a:r>
              <a:rPr lang="zh-CN" altLang="en-US" dirty="0"/>
              <a:t>压缩特征的数字图像盲取证技术的研究方面，取得显著成果的两个团队是美国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为核心的研究团队和美国</a:t>
            </a:r>
            <a:r>
              <a:rPr lang="en-US" altLang="zh-CN" dirty="0" err="1"/>
              <a:t>Dartmout</a:t>
            </a:r>
            <a:r>
              <a:rPr lang="zh-CN" altLang="en-US" dirty="0"/>
              <a:t>大学以</a:t>
            </a:r>
            <a:r>
              <a:rPr lang="en-US" altLang="zh-CN" dirty="0" err="1"/>
              <a:t>Hany</a:t>
            </a:r>
            <a:r>
              <a:rPr lang="en-US" altLang="zh-CN" dirty="0"/>
              <a:t> </a:t>
            </a:r>
            <a:r>
              <a:rPr lang="en-US" altLang="zh-CN" dirty="0" err="1"/>
              <a:t>Farid</a:t>
            </a:r>
            <a:r>
              <a:rPr lang="zh-CN" altLang="en-US" dirty="0"/>
              <a:t>为核心的研究团队。</a:t>
            </a:r>
          </a:p>
          <a:p>
            <a:r>
              <a:rPr lang="zh-CN" altLang="en-US" dirty="0"/>
              <a:t>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为核心的研究团队发现图像经过两次质量因子不同的</a:t>
            </a:r>
            <a:r>
              <a:rPr lang="en-US" altLang="zh-CN" dirty="0"/>
              <a:t>JPEG</a:t>
            </a:r>
            <a:r>
              <a:rPr lang="zh-CN" altLang="en-US" dirty="0"/>
              <a:t>压缩后所得图像的</a:t>
            </a:r>
            <a:r>
              <a:rPr lang="en-US" altLang="zh-CN" dirty="0"/>
              <a:t>DCT</a:t>
            </a:r>
            <a:r>
              <a:rPr lang="zh-CN" altLang="en-US" dirty="0"/>
              <a:t>系数会出现特殊的统计特征，即单次</a:t>
            </a:r>
            <a:r>
              <a:rPr lang="en-US" altLang="zh-CN" dirty="0"/>
              <a:t>JPEG</a:t>
            </a:r>
            <a:r>
              <a:rPr lang="zh-CN" altLang="en-US" dirty="0"/>
              <a:t>压缩后图像的</a:t>
            </a:r>
            <a:r>
              <a:rPr lang="en-US" altLang="zh-CN" dirty="0"/>
              <a:t>DCT</a:t>
            </a:r>
            <a:r>
              <a:rPr lang="zh-CN" altLang="en-US" dirty="0"/>
              <a:t>系数的直方图呈现类高斯分布，而双重</a:t>
            </a:r>
            <a:r>
              <a:rPr lang="en-US" altLang="zh-CN" dirty="0"/>
              <a:t>JPEG</a:t>
            </a:r>
            <a:r>
              <a:rPr lang="zh-CN" altLang="en-US" dirty="0"/>
              <a:t>压缩后，其</a:t>
            </a:r>
            <a:r>
              <a:rPr lang="en-US" altLang="zh-CN" dirty="0"/>
              <a:t>DCT</a:t>
            </a:r>
            <a:r>
              <a:rPr lang="zh-CN" altLang="en-US" dirty="0"/>
              <a:t>系数的某些值就会周期性的减少或消失，而且这些</a:t>
            </a:r>
            <a:r>
              <a:rPr lang="en-US" altLang="zh-CN" dirty="0"/>
              <a:t>DCT</a:t>
            </a:r>
            <a:r>
              <a:rPr lang="zh-CN" altLang="en-US" dirty="0"/>
              <a:t>系数值消失的规律与质量因子有关。</a:t>
            </a:r>
          </a:p>
          <a:p>
            <a:r>
              <a:rPr lang="en-US" altLang="zh-CN" dirty="0" err="1"/>
              <a:t>Hany</a:t>
            </a:r>
            <a:r>
              <a:rPr lang="en-US" altLang="zh-CN" dirty="0"/>
              <a:t> </a:t>
            </a:r>
            <a:r>
              <a:rPr lang="en-US" altLang="zh-CN" dirty="0" err="1"/>
              <a:t>Farid</a:t>
            </a:r>
            <a:r>
              <a:rPr lang="zh-CN" altLang="en-US" dirty="0"/>
              <a:t>在实验中分别使用不同的质量因子将经过双重</a:t>
            </a:r>
            <a:r>
              <a:rPr lang="en-US" altLang="zh-CN" dirty="0"/>
              <a:t>JPEG</a:t>
            </a:r>
            <a:r>
              <a:rPr lang="zh-CN" altLang="en-US" dirty="0"/>
              <a:t>压缩的图像进行了第三次</a:t>
            </a:r>
            <a:r>
              <a:rPr lang="en-US" altLang="zh-CN" dirty="0"/>
              <a:t>JPEG</a:t>
            </a:r>
            <a:r>
              <a:rPr lang="zh-CN" altLang="en-US" dirty="0"/>
              <a:t>压缩，并根据新图像的</a:t>
            </a:r>
            <a:r>
              <a:rPr lang="en-US" altLang="zh-CN" dirty="0"/>
              <a:t>DCT</a:t>
            </a:r>
            <a:r>
              <a:rPr lang="zh-CN" altLang="en-US" dirty="0"/>
              <a:t>系数与待检测图像的</a:t>
            </a:r>
            <a:r>
              <a:rPr lang="en-US" altLang="zh-CN" dirty="0"/>
              <a:t>DCT</a:t>
            </a:r>
            <a:r>
              <a:rPr lang="zh-CN" altLang="en-US" dirty="0"/>
              <a:t>系数间的差值绘制出一个散点图，发现该图像中会出现两个明显的波谷，这两个波谷出现的位置分别是初次压缩的质量因子所对应的位置</a:t>
            </a:r>
            <a:r>
              <a:rPr lang="en-US" altLang="zh-CN" dirty="0"/>
              <a:t>(</a:t>
            </a:r>
            <a:r>
              <a:rPr lang="zh-CN" altLang="en-US" dirty="0"/>
              <a:t>一般被称为</a:t>
            </a:r>
            <a:r>
              <a:rPr lang="en-US" altLang="zh-CN" dirty="0"/>
              <a:t>JPEG Ghosts)</a:t>
            </a:r>
            <a:r>
              <a:rPr lang="zh-CN" altLang="en-US" dirty="0"/>
              <a:t>和二次压缩的质量因子所对应的位置。</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143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数字图像取证关键技术研究，朱艳玲，北京邮电大学硕士学位论文，</a:t>
            </a:r>
            <a:r>
              <a:rPr lang="en-US" altLang="zh-CN" dirty="0"/>
              <a:t>2011</a:t>
            </a:r>
          </a:p>
          <a:p>
            <a:r>
              <a:rPr lang="zh-CN" altLang="en-US" dirty="0"/>
              <a:t>在基于双重</a:t>
            </a:r>
            <a:r>
              <a:rPr lang="en-US" altLang="zh-CN" dirty="0"/>
              <a:t>JPEG</a:t>
            </a:r>
            <a:r>
              <a:rPr lang="zh-CN" altLang="en-US" dirty="0"/>
              <a:t>压缩特征的数字图像盲取证技术的研究方面，取得显著成果的两个团队是美国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为核心的研究团队和美国</a:t>
            </a:r>
            <a:r>
              <a:rPr lang="en-US" altLang="zh-CN" dirty="0" err="1"/>
              <a:t>Dartmout</a:t>
            </a:r>
            <a:r>
              <a:rPr lang="zh-CN" altLang="en-US" dirty="0"/>
              <a:t>大学以</a:t>
            </a:r>
            <a:r>
              <a:rPr lang="en-US" altLang="zh-CN" dirty="0" err="1"/>
              <a:t>Hany</a:t>
            </a:r>
            <a:r>
              <a:rPr lang="en-US" altLang="zh-CN" dirty="0"/>
              <a:t> </a:t>
            </a:r>
            <a:r>
              <a:rPr lang="en-US" altLang="zh-CN" dirty="0" err="1"/>
              <a:t>Farid</a:t>
            </a:r>
            <a:r>
              <a:rPr lang="zh-CN" altLang="en-US" dirty="0"/>
              <a:t>为核心的研究团队。</a:t>
            </a:r>
          </a:p>
          <a:p>
            <a:r>
              <a:rPr lang="zh-CN" altLang="en-US" dirty="0"/>
              <a:t>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为核心的研究团队发现图像经过两次质量因子不同的</a:t>
            </a:r>
            <a:r>
              <a:rPr lang="en-US" altLang="zh-CN" dirty="0"/>
              <a:t>JPEG</a:t>
            </a:r>
            <a:r>
              <a:rPr lang="zh-CN" altLang="en-US" dirty="0"/>
              <a:t>压缩后所得图像的</a:t>
            </a:r>
            <a:r>
              <a:rPr lang="en-US" altLang="zh-CN" dirty="0"/>
              <a:t>DCT</a:t>
            </a:r>
            <a:r>
              <a:rPr lang="zh-CN" altLang="en-US" dirty="0"/>
              <a:t>系数会出现特殊的统计特征，即单次</a:t>
            </a:r>
            <a:r>
              <a:rPr lang="en-US" altLang="zh-CN" dirty="0"/>
              <a:t>JPEG</a:t>
            </a:r>
            <a:r>
              <a:rPr lang="zh-CN" altLang="en-US" dirty="0"/>
              <a:t>压缩后图像的</a:t>
            </a:r>
            <a:r>
              <a:rPr lang="en-US" altLang="zh-CN" dirty="0"/>
              <a:t>DCT</a:t>
            </a:r>
            <a:r>
              <a:rPr lang="zh-CN" altLang="en-US" dirty="0"/>
              <a:t>系数的直方图呈现类高斯分布，而双重</a:t>
            </a:r>
            <a:r>
              <a:rPr lang="en-US" altLang="zh-CN" dirty="0"/>
              <a:t>JPEG</a:t>
            </a:r>
            <a:r>
              <a:rPr lang="zh-CN" altLang="en-US" dirty="0"/>
              <a:t>压缩后，其</a:t>
            </a:r>
            <a:r>
              <a:rPr lang="en-US" altLang="zh-CN" dirty="0"/>
              <a:t>DCT</a:t>
            </a:r>
            <a:r>
              <a:rPr lang="zh-CN" altLang="en-US" dirty="0"/>
              <a:t>系数的某些值就会周期性的减少或消失，而且这些</a:t>
            </a:r>
            <a:r>
              <a:rPr lang="en-US" altLang="zh-CN" dirty="0"/>
              <a:t>DCT</a:t>
            </a:r>
            <a:r>
              <a:rPr lang="zh-CN" altLang="en-US" dirty="0"/>
              <a:t>系数值消失的规律与质量因子有关。</a:t>
            </a:r>
          </a:p>
          <a:p>
            <a:r>
              <a:rPr lang="en-US" altLang="zh-CN" dirty="0" err="1"/>
              <a:t>Hany</a:t>
            </a:r>
            <a:r>
              <a:rPr lang="en-US" altLang="zh-CN" dirty="0"/>
              <a:t> </a:t>
            </a:r>
            <a:r>
              <a:rPr lang="en-US" altLang="zh-CN" dirty="0" err="1"/>
              <a:t>Farid</a:t>
            </a:r>
            <a:r>
              <a:rPr lang="zh-CN" altLang="en-US" dirty="0"/>
              <a:t>在实验中分别使用不同的质量因子将经过双重</a:t>
            </a:r>
            <a:r>
              <a:rPr lang="en-US" altLang="zh-CN" dirty="0"/>
              <a:t>JPEG</a:t>
            </a:r>
            <a:r>
              <a:rPr lang="zh-CN" altLang="en-US" dirty="0"/>
              <a:t>压缩的图像进行了第三次</a:t>
            </a:r>
            <a:r>
              <a:rPr lang="en-US" altLang="zh-CN" dirty="0"/>
              <a:t>JPEG</a:t>
            </a:r>
            <a:r>
              <a:rPr lang="zh-CN" altLang="en-US" dirty="0"/>
              <a:t>压缩，并根据新图像的</a:t>
            </a:r>
            <a:r>
              <a:rPr lang="en-US" altLang="zh-CN" dirty="0"/>
              <a:t>DCT</a:t>
            </a:r>
            <a:r>
              <a:rPr lang="zh-CN" altLang="en-US" dirty="0"/>
              <a:t>系数与待检测图像的</a:t>
            </a:r>
            <a:r>
              <a:rPr lang="en-US" altLang="zh-CN" dirty="0"/>
              <a:t>DCT</a:t>
            </a:r>
            <a:r>
              <a:rPr lang="zh-CN" altLang="en-US" dirty="0"/>
              <a:t>系数间的差值绘制出一个散点图，发现该图像中会出现两个明显的波谷，这两个波谷出现的位置分别是初次压缩的质量因子所对应的位置</a:t>
            </a:r>
            <a:r>
              <a:rPr lang="en-US" altLang="zh-CN" dirty="0"/>
              <a:t>(</a:t>
            </a:r>
            <a:r>
              <a:rPr lang="zh-CN" altLang="en-US" dirty="0"/>
              <a:t>一般被称为</a:t>
            </a:r>
            <a:r>
              <a:rPr lang="en-US" altLang="zh-CN" dirty="0"/>
              <a:t>JPEG Ghosts)</a:t>
            </a:r>
            <a:r>
              <a:rPr lang="zh-CN" altLang="en-US" dirty="0"/>
              <a:t>和二次压缩的质量因子所对应的位置。</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144</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数字图像取证关键技术研究，朱艳玲，北京邮电大学硕士学位论文，</a:t>
            </a:r>
            <a:r>
              <a:rPr lang="en-US" altLang="zh-CN" dirty="0"/>
              <a:t>2011</a:t>
            </a:r>
          </a:p>
          <a:p>
            <a:r>
              <a:rPr lang="zh-CN" altLang="en-US" dirty="0"/>
              <a:t>在基于双重</a:t>
            </a:r>
            <a:r>
              <a:rPr lang="en-US" altLang="zh-CN" dirty="0"/>
              <a:t>JPEG</a:t>
            </a:r>
            <a:r>
              <a:rPr lang="zh-CN" altLang="en-US" dirty="0"/>
              <a:t>压缩特征的数字图像盲取证技术的研究方面，取得显著成果的两个团队是美国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为核心的研究团队和美国</a:t>
            </a:r>
            <a:r>
              <a:rPr lang="en-US" altLang="zh-CN" dirty="0" err="1"/>
              <a:t>Dartmout</a:t>
            </a:r>
            <a:r>
              <a:rPr lang="zh-CN" altLang="en-US" dirty="0"/>
              <a:t>大学以</a:t>
            </a:r>
            <a:r>
              <a:rPr lang="en-US" altLang="zh-CN" dirty="0" err="1"/>
              <a:t>Hany</a:t>
            </a:r>
            <a:r>
              <a:rPr lang="en-US" altLang="zh-CN" dirty="0"/>
              <a:t> </a:t>
            </a:r>
            <a:r>
              <a:rPr lang="en-US" altLang="zh-CN" dirty="0" err="1"/>
              <a:t>Farid</a:t>
            </a:r>
            <a:r>
              <a:rPr lang="zh-CN" altLang="en-US" dirty="0"/>
              <a:t>为核心的研究团队。</a:t>
            </a:r>
          </a:p>
          <a:p>
            <a:r>
              <a:rPr lang="zh-CN" altLang="en-US" dirty="0"/>
              <a:t>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为核心的研究团队发现图像经过两次质量因子不同的</a:t>
            </a:r>
            <a:r>
              <a:rPr lang="en-US" altLang="zh-CN" dirty="0"/>
              <a:t>JPEG</a:t>
            </a:r>
            <a:r>
              <a:rPr lang="zh-CN" altLang="en-US" dirty="0"/>
              <a:t>压缩后所得图像的</a:t>
            </a:r>
            <a:r>
              <a:rPr lang="en-US" altLang="zh-CN" dirty="0"/>
              <a:t>DCT</a:t>
            </a:r>
            <a:r>
              <a:rPr lang="zh-CN" altLang="en-US" dirty="0"/>
              <a:t>系数会出现特殊的统计特征，即单次</a:t>
            </a:r>
            <a:r>
              <a:rPr lang="en-US" altLang="zh-CN" dirty="0"/>
              <a:t>JPEG</a:t>
            </a:r>
            <a:r>
              <a:rPr lang="zh-CN" altLang="en-US" dirty="0"/>
              <a:t>压缩后图像的</a:t>
            </a:r>
            <a:r>
              <a:rPr lang="en-US" altLang="zh-CN" dirty="0"/>
              <a:t>DCT</a:t>
            </a:r>
            <a:r>
              <a:rPr lang="zh-CN" altLang="en-US" dirty="0"/>
              <a:t>系数的直方图呈现类高斯分布，而双重</a:t>
            </a:r>
            <a:r>
              <a:rPr lang="en-US" altLang="zh-CN" dirty="0"/>
              <a:t>JPEG</a:t>
            </a:r>
            <a:r>
              <a:rPr lang="zh-CN" altLang="en-US" dirty="0"/>
              <a:t>压缩后，其</a:t>
            </a:r>
            <a:r>
              <a:rPr lang="en-US" altLang="zh-CN" dirty="0"/>
              <a:t>DCT</a:t>
            </a:r>
            <a:r>
              <a:rPr lang="zh-CN" altLang="en-US" dirty="0"/>
              <a:t>系数的某些值就会周期性的减少或消失，而且这些</a:t>
            </a:r>
            <a:r>
              <a:rPr lang="en-US" altLang="zh-CN" dirty="0"/>
              <a:t>DCT</a:t>
            </a:r>
            <a:r>
              <a:rPr lang="zh-CN" altLang="en-US" dirty="0"/>
              <a:t>系数值消失的规律与质量因子有关。</a:t>
            </a:r>
          </a:p>
          <a:p>
            <a:r>
              <a:rPr lang="en-US" altLang="zh-CN" dirty="0" err="1"/>
              <a:t>Hany</a:t>
            </a:r>
            <a:r>
              <a:rPr lang="en-US" altLang="zh-CN" dirty="0"/>
              <a:t> </a:t>
            </a:r>
            <a:r>
              <a:rPr lang="en-US" altLang="zh-CN" dirty="0" err="1"/>
              <a:t>Farid</a:t>
            </a:r>
            <a:r>
              <a:rPr lang="zh-CN" altLang="en-US" dirty="0"/>
              <a:t>在实验中分别使用不同的质量因子将经过双重</a:t>
            </a:r>
            <a:r>
              <a:rPr lang="en-US" altLang="zh-CN" dirty="0"/>
              <a:t>JPEG</a:t>
            </a:r>
            <a:r>
              <a:rPr lang="zh-CN" altLang="en-US" dirty="0"/>
              <a:t>压缩的图像进行了第三次</a:t>
            </a:r>
            <a:r>
              <a:rPr lang="en-US" altLang="zh-CN" dirty="0"/>
              <a:t>JPEG</a:t>
            </a:r>
            <a:r>
              <a:rPr lang="zh-CN" altLang="en-US" dirty="0"/>
              <a:t>压缩，并根据新图像的</a:t>
            </a:r>
            <a:r>
              <a:rPr lang="en-US" altLang="zh-CN" dirty="0"/>
              <a:t>DCT</a:t>
            </a:r>
            <a:r>
              <a:rPr lang="zh-CN" altLang="en-US" dirty="0"/>
              <a:t>系数与待检测图像的</a:t>
            </a:r>
            <a:r>
              <a:rPr lang="en-US" altLang="zh-CN" dirty="0"/>
              <a:t>DCT</a:t>
            </a:r>
            <a:r>
              <a:rPr lang="zh-CN" altLang="en-US" dirty="0"/>
              <a:t>系数间的差值绘制出一个散点图，发现该图像中会出现两个明显的波谷，这两个波谷出现的位置分别是初次压缩的质量因子所对应的位置</a:t>
            </a:r>
            <a:r>
              <a:rPr lang="en-US" altLang="zh-CN" dirty="0"/>
              <a:t>(</a:t>
            </a:r>
            <a:r>
              <a:rPr lang="zh-CN" altLang="en-US" dirty="0"/>
              <a:t>一般被称为</a:t>
            </a:r>
            <a:r>
              <a:rPr lang="en-US" altLang="zh-CN" dirty="0"/>
              <a:t>JPEG Ghosts)</a:t>
            </a:r>
            <a:r>
              <a:rPr lang="zh-CN" altLang="en-US" dirty="0"/>
              <a:t>和二次压缩的质量因子所对应的位置。</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145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数字图像取证关键技术研究，朱艳玲，北京邮电大学硕士学位论文，</a:t>
            </a:r>
            <a:r>
              <a:rPr lang="en-US" altLang="zh-CN" dirty="0"/>
              <a:t>2011</a:t>
            </a:r>
          </a:p>
          <a:p>
            <a:r>
              <a:rPr lang="zh-CN" altLang="en-US" dirty="0"/>
              <a:t>在基于双重</a:t>
            </a:r>
            <a:r>
              <a:rPr lang="en-US" altLang="zh-CN" dirty="0"/>
              <a:t>JPEG</a:t>
            </a:r>
            <a:r>
              <a:rPr lang="zh-CN" altLang="en-US" dirty="0"/>
              <a:t>压缩特征的数字图像盲取证技术的研究方面，取得显著成果的两个团队是美国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为核心的研究团队和美国</a:t>
            </a:r>
            <a:r>
              <a:rPr lang="en-US" altLang="zh-CN" dirty="0" err="1"/>
              <a:t>Dartmout</a:t>
            </a:r>
            <a:r>
              <a:rPr lang="zh-CN" altLang="en-US" dirty="0"/>
              <a:t>大学以</a:t>
            </a:r>
            <a:r>
              <a:rPr lang="en-US" altLang="zh-CN" dirty="0" err="1"/>
              <a:t>Hany</a:t>
            </a:r>
            <a:r>
              <a:rPr lang="en-US" altLang="zh-CN" dirty="0"/>
              <a:t> </a:t>
            </a:r>
            <a:r>
              <a:rPr lang="en-US" altLang="zh-CN" dirty="0" err="1"/>
              <a:t>Farid</a:t>
            </a:r>
            <a:r>
              <a:rPr lang="zh-CN" altLang="en-US" dirty="0"/>
              <a:t>为核心的研究团队。</a:t>
            </a:r>
          </a:p>
          <a:p>
            <a:r>
              <a:rPr lang="zh-CN" altLang="en-US" dirty="0"/>
              <a:t>美国</a:t>
            </a:r>
            <a:r>
              <a:rPr lang="en-US" altLang="zh-CN" dirty="0"/>
              <a:t>SUNY Binghamton</a:t>
            </a:r>
            <a:r>
              <a:rPr lang="zh-CN" altLang="en-US" dirty="0"/>
              <a:t>大学以</a:t>
            </a:r>
            <a:r>
              <a:rPr lang="en-US" altLang="zh-CN" dirty="0"/>
              <a:t>Jessica </a:t>
            </a:r>
            <a:r>
              <a:rPr lang="en-US" altLang="zh-CN" dirty="0" err="1"/>
              <a:t>Fridrich</a:t>
            </a:r>
            <a:r>
              <a:rPr lang="zh-CN" altLang="en-US" dirty="0"/>
              <a:t>为核心的研究团队发现图像经过两次质量因子不同的</a:t>
            </a:r>
            <a:r>
              <a:rPr lang="en-US" altLang="zh-CN" dirty="0"/>
              <a:t>JPEG</a:t>
            </a:r>
            <a:r>
              <a:rPr lang="zh-CN" altLang="en-US" dirty="0"/>
              <a:t>压缩后所得图像的</a:t>
            </a:r>
            <a:r>
              <a:rPr lang="en-US" altLang="zh-CN" dirty="0"/>
              <a:t>DCT</a:t>
            </a:r>
            <a:r>
              <a:rPr lang="zh-CN" altLang="en-US" dirty="0"/>
              <a:t>系数会出现特殊的统计特征，即单次</a:t>
            </a:r>
            <a:r>
              <a:rPr lang="en-US" altLang="zh-CN" dirty="0"/>
              <a:t>JPEG</a:t>
            </a:r>
            <a:r>
              <a:rPr lang="zh-CN" altLang="en-US" dirty="0"/>
              <a:t>压缩后图像的</a:t>
            </a:r>
            <a:r>
              <a:rPr lang="en-US" altLang="zh-CN" dirty="0"/>
              <a:t>DCT</a:t>
            </a:r>
            <a:r>
              <a:rPr lang="zh-CN" altLang="en-US" dirty="0"/>
              <a:t>系数的直方图呈现类高斯分布，而双重</a:t>
            </a:r>
            <a:r>
              <a:rPr lang="en-US" altLang="zh-CN" dirty="0"/>
              <a:t>JPEG</a:t>
            </a:r>
            <a:r>
              <a:rPr lang="zh-CN" altLang="en-US" dirty="0"/>
              <a:t>压缩后，其</a:t>
            </a:r>
            <a:r>
              <a:rPr lang="en-US" altLang="zh-CN" dirty="0"/>
              <a:t>DCT</a:t>
            </a:r>
            <a:r>
              <a:rPr lang="zh-CN" altLang="en-US" dirty="0"/>
              <a:t>系数的某些值就会周期性的减少或消失，而且这些</a:t>
            </a:r>
            <a:r>
              <a:rPr lang="en-US" altLang="zh-CN" dirty="0"/>
              <a:t>DCT</a:t>
            </a:r>
            <a:r>
              <a:rPr lang="zh-CN" altLang="en-US" dirty="0"/>
              <a:t>系数值消失的规律与质量因子有关。</a:t>
            </a:r>
          </a:p>
          <a:p>
            <a:r>
              <a:rPr lang="en-US" altLang="zh-CN" dirty="0" err="1"/>
              <a:t>Hany</a:t>
            </a:r>
            <a:r>
              <a:rPr lang="en-US" altLang="zh-CN" dirty="0"/>
              <a:t> </a:t>
            </a:r>
            <a:r>
              <a:rPr lang="en-US" altLang="zh-CN" dirty="0" err="1"/>
              <a:t>Farid</a:t>
            </a:r>
            <a:r>
              <a:rPr lang="zh-CN" altLang="en-US" dirty="0"/>
              <a:t>在实验中分别使用不同的质量因子将经过双重</a:t>
            </a:r>
            <a:r>
              <a:rPr lang="en-US" altLang="zh-CN" dirty="0"/>
              <a:t>JPEG</a:t>
            </a:r>
            <a:r>
              <a:rPr lang="zh-CN" altLang="en-US" dirty="0"/>
              <a:t>压缩的图像进行了第三次</a:t>
            </a:r>
            <a:r>
              <a:rPr lang="en-US" altLang="zh-CN" dirty="0"/>
              <a:t>JPEG</a:t>
            </a:r>
            <a:r>
              <a:rPr lang="zh-CN" altLang="en-US" dirty="0"/>
              <a:t>压缩，并根据新图像的</a:t>
            </a:r>
            <a:r>
              <a:rPr lang="en-US" altLang="zh-CN" dirty="0"/>
              <a:t>DCT</a:t>
            </a:r>
            <a:r>
              <a:rPr lang="zh-CN" altLang="en-US" dirty="0"/>
              <a:t>系数与待检测图像的</a:t>
            </a:r>
            <a:r>
              <a:rPr lang="en-US" altLang="zh-CN" dirty="0"/>
              <a:t>DCT</a:t>
            </a:r>
            <a:r>
              <a:rPr lang="zh-CN" altLang="en-US" dirty="0"/>
              <a:t>系数间的差值绘制出一个散点图，发现该图像中会出现两个明显的波谷，这两个波谷出现的位置分别是初次压缩的质量因子所对应的位置</a:t>
            </a:r>
            <a:r>
              <a:rPr lang="en-US" altLang="zh-CN" dirty="0"/>
              <a:t>(</a:t>
            </a:r>
            <a:r>
              <a:rPr lang="zh-CN" altLang="en-US" dirty="0"/>
              <a:t>一般被称为</a:t>
            </a:r>
            <a:r>
              <a:rPr lang="en-US" altLang="zh-CN" dirty="0"/>
              <a:t>JPEG Ghosts)</a:t>
            </a:r>
            <a:r>
              <a:rPr lang="zh-CN" altLang="en-US" dirty="0"/>
              <a:t>和二次压缩的质量因子所对应的位置。</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146</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p>
          <a:p>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数字图像盲取证技术研究，</a:t>
            </a:r>
            <a:r>
              <a:rPr lang="en-US" altLang="zh-CN" sz="1200" kern="1200" dirty="0">
                <a:solidFill>
                  <a:schemeClr val="tx1"/>
                </a:solidFill>
                <a:effectLst/>
                <a:latin typeface="Arial" panose="020B0604020202020204" pitchFamily="34" charset="0"/>
                <a:ea typeface="宋体" panose="02010600030101010101" pitchFamily="2" charset="-122"/>
                <a:cs typeface="+mn-cs"/>
              </a:rPr>
              <a:t>2007</a:t>
            </a:r>
            <a:r>
              <a:rPr lang="zh-CN" altLang="zh-CN" sz="1200" kern="1200" dirty="0">
                <a:solidFill>
                  <a:schemeClr val="tx1"/>
                </a:solidFill>
                <a:effectLst/>
                <a:latin typeface="Arial" panose="020B0604020202020204" pitchFamily="34" charset="0"/>
                <a:ea typeface="宋体" panose="02010600030101010101" pitchFamily="2" charset="-122"/>
                <a:cs typeface="+mn-cs"/>
              </a:rPr>
              <a:t>年，北京邮电大学博士学位论文</a:t>
            </a:r>
            <a:endParaRPr lang="en-US" altLang="zh-CN" dirty="0"/>
          </a:p>
          <a:p>
            <a:r>
              <a:rPr lang="zh-CN" altLang="en-US" dirty="0"/>
              <a:t>模糊操作的基本原理是对图像的局部邻近像素值进行邻域灰度平均，其目的是为了将图像伪造所造成的拼接边缘淡化甚至消除。映在模糊方式的选择上。模糊操作可以看作是将输入图像中的像素</a:t>
            </a:r>
            <a:r>
              <a:rPr lang="en-US" altLang="zh-CN" dirty="0"/>
              <a:t>(i</a:t>
            </a:r>
            <a:r>
              <a:rPr lang="zh-CN" altLang="en-US" dirty="0"/>
              <a:t>，</a:t>
            </a:r>
            <a:r>
              <a:rPr lang="en-US" altLang="zh-CN" dirty="0"/>
              <a:t>j)</a:t>
            </a:r>
            <a:r>
              <a:rPr lang="zh-CN" altLang="en-US" dirty="0"/>
              <a:t>的邻域平均灰度确定为输出图像像素</a:t>
            </a:r>
            <a:r>
              <a:rPr lang="en-US" altLang="zh-CN" dirty="0"/>
              <a:t>(</a:t>
            </a:r>
            <a:r>
              <a:rPr lang="en-US" altLang="zh-CN" dirty="0" err="1"/>
              <a:t>ij</a:t>
            </a:r>
            <a:r>
              <a:rPr lang="en-US" altLang="zh-CN" dirty="0"/>
              <a:t>)</a:t>
            </a:r>
            <a:r>
              <a:rPr lang="zh-CN" altLang="en-US" dirty="0"/>
              <a:t>的值，相当于利用所有元素都用</a:t>
            </a:r>
            <a:r>
              <a:rPr lang="en-US" altLang="zh-CN" dirty="0"/>
              <a:t>1/(n^2)</a:t>
            </a:r>
            <a:r>
              <a:rPr lang="zh-CN" altLang="en-US" dirty="0"/>
              <a:t>的加权矩阵进行空间滤波，当使用</a:t>
            </a:r>
            <a:r>
              <a:rPr lang="en-US" altLang="zh-CN" dirty="0"/>
              <a:t>n*n</a:t>
            </a:r>
            <a:r>
              <a:rPr lang="zh-CN" altLang="en-US" dirty="0"/>
              <a:t>的正方形模糊邻域时，模糊操作可表示为</a:t>
            </a:r>
            <a:r>
              <a:rPr lang="en-US" altLang="zh-CN" dirty="0"/>
              <a:t>:</a:t>
            </a:r>
          </a:p>
          <a:p>
            <a:r>
              <a:rPr lang="zh-CN" altLang="en-US" dirty="0"/>
              <a:t>一些未经篡改的自然图像由于其场景范围广，会存在由于焦距不准而造成的自然模糊图像块。如果要对伪造篡改图像进行较精确的取证，就必须在技术上能够区分开自然模糊和人为模糊。</a:t>
            </a:r>
          </a:p>
          <a:p>
            <a:r>
              <a:rPr lang="zh-CN" altLang="en-US" dirty="0"/>
              <a:t>从人工模糊的数学表达式可以看出，人工模糊是在选定模糊邻域内所有像素的统计平均，在模糊半径内的模糊滤波是等值处理的，而对于模糊半径以外的图像像素则不做任何处理。而相机离焦模糊由于不存在人工选定的模糊半径，其模糊滤波相对于聚焦点向外成射线状无级扩散，逐渐变小。这两种模糊效果的对比示意图。</a:t>
            </a:r>
          </a:p>
          <a:p>
            <a:r>
              <a:rPr lang="zh-CN" altLang="en-US" dirty="0"/>
              <a:t>由图可以看出，人工模糊和相机离焦模糊的最大区别在于人工模糊有明确的模糊边界，在模糊边界内外的图像像素相对于模糊的概念区别较大，而相机离焦模糊没有模糊边界，较人工模糊会表现得更加均匀。</a:t>
            </a:r>
            <a:endParaRPr lang="en-US" altLang="zh-CN" dirty="0"/>
          </a:p>
          <a:p>
            <a:endParaRPr lang="en-US" altLang="zh-CN" dirty="0"/>
          </a:p>
          <a:p>
            <a:r>
              <a:rPr lang="en-US" altLang="zh-CN" dirty="0"/>
              <a:t>/////////////////////////////////////////////////////////////////////////////////////////////////////////////////</a:t>
            </a:r>
          </a:p>
          <a:p>
            <a:r>
              <a:rPr lang="zh-CN" altLang="en-US" dirty="0"/>
              <a:t>数字图像取证中模糊和重采样检测研究，杜加玉，大连理工大学硕士论文，</a:t>
            </a:r>
            <a:r>
              <a:rPr lang="en-US" altLang="zh-CN" dirty="0"/>
              <a:t>2010</a:t>
            </a:r>
            <a:r>
              <a:rPr lang="zh-CN" altLang="en-US" dirty="0"/>
              <a:t>年</a:t>
            </a:r>
          </a:p>
          <a:p>
            <a:r>
              <a:rPr lang="zh-CN" altLang="en-US" dirty="0"/>
              <a:t>在高斯低通滤波模板操作中，每一个像素的灰度值是该像素周围所有点的像素值的加权平均。其中，模板中心处的权值最大，其余每一邻域像素点的权值随着该点与中心点距离单调递减。这样，高斯低通滤波模板便可以很好地保存边缘效果。</a:t>
            </a:r>
          </a:p>
          <a:p>
            <a:r>
              <a:rPr lang="zh-CN" altLang="en-US" dirty="0"/>
              <a:t>高斯模糊操作可以看作是将输入图像中像素</a:t>
            </a:r>
            <a:r>
              <a:rPr lang="en-US" altLang="zh-CN" dirty="0"/>
              <a:t>(i</a:t>
            </a:r>
            <a:r>
              <a:rPr lang="zh-CN" altLang="en-US" dirty="0"/>
              <a:t>，</a:t>
            </a:r>
            <a:r>
              <a:rPr lang="en-US" altLang="zh-CN" dirty="0"/>
              <a:t>j)</a:t>
            </a:r>
            <a:r>
              <a:rPr lang="zh-CN" altLang="en-US" dirty="0"/>
              <a:t>的邻域灰度值的加权平均确定为输出图像像素（</a:t>
            </a:r>
            <a:r>
              <a:rPr lang="en-US" altLang="zh-CN" dirty="0"/>
              <a:t>i</a:t>
            </a:r>
            <a:r>
              <a:rPr lang="zh-CN" altLang="en-US" dirty="0"/>
              <a:t>，</a:t>
            </a:r>
            <a:r>
              <a:rPr lang="en-US" altLang="zh-CN" dirty="0"/>
              <a:t>j)</a:t>
            </a:r>
            <a:r>
              <a:rPr lang="zh-CN" altLang="en-US" dirty="0"/>
              <a:t>的灰度值。例如使用</a:t>
            </a:r>
            <a:r>
              <a:rPr lang="en-US" altLang="zh-CN" dirty="0"/>
              <a:t>sigma=l</a:t>
            </a:r>
            <a:r>
              <a:rPr lang="zh-CN" altLang="en-US" dirty="0"/>
              <a:t>的</a:t>
            </a:r>
            <a:r>
              <a:rPr lang="en-US" altLang="zh-CN" dirty="0"/>
              <a:t>3*3</a:t>
            </a:r>
            <a:r>
              <a:rPr lang="zh-CN" altLang="en-US" dirty="0"/>
              <a:t>的模板滤波时，高斯模糊操作可表示为</a:t>
            </a:r>
          </a:p>
          <a:p>
            <a:r>
              <a:rPr lang="zh-CN" altLang="en-US" dirty="0"/>
              <a:t>图像高斯模糊操作在频域表现为低通滤波，这将会引起</a:t>
            </a:r>
            <a:r>
              <a:rPr lang="en-US" altLang="zh-CN" dirty="0"/>
              <a:t>DCT</a:t>
            </a:r>
            <a:r>
              <a:rPr lang="zh-CN" altLang="en-US" dirty="0"/>
              <a:t>域相邻系数分布的变化。利用这一特点，提取出能够准确表示该变化的特征，可以实现高斯模糊操作的有效检测。</a:t>
            </a:r>
          </a:p>
          <a:p>
            <a:r>
              <a:rPr lang="zh-CN" altLang="en-US" dirty="0"/>
              <a:t>数码相机直接拍摄的照片会在空域内呈现出一定的色彩局部一致性。同时，若相片以</a:t>
            </a:r>
            <a:r>
              <a:rPr lang="en-US" altLang="zh-CN" dirty="0"/>
              <a:t>JPEG</a:t>
            </a:r>
            <a:r>
              <a:rPr lang="zh-CN" altLang="en-US" dirty="0"/>
              <a:t>格式存储，这种色彩局部一致性会得到增强。</a:t>
            </a:r>
          </a:p>
          <a:p>
            <a:r>
              <a:rPr lang="zh-CN" altLang="en-US" dirty="0"/>
              <a:t>在图像成像过程中，滤色阵列插值作用会使</a:t>
            </a:r>
            <a:r>
              <a:rPr lang="en-US" altLang="zh-CN" dirty="0"/>
              <a:t>RGB</a:t>
            </a:r>
            <a:r>
              <a:rPr lang="zh-CN" altLang="en-US" dirty="0"/>
              <a:t>三个分量在局部空间内分别建立了联系，具有局部相关性。而模糊操作对三个分量分别独立地进行了非线性均匀的修改，这会破坏原始数码图像的色彩局部一致性。因此，利用这一特点提取出准确描述色彩局部一致性变化的特征可以很好地实现图像模糊的检测。</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151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数字图像盲取证技术研究，</a:t>
            </a:r>
            <a:r>
              <a:rPr lang="en-US" altLang="zh-CN" sz="1200" kern="1200" dirty="0">
                <a:solidFill>
                  <a:schemeClr val="tx1"/>
                </a:solidFill>
                <a:effectLst/>
                <a:latin typeface="Arial" panose="020B0604020202020204" pitchFamily="34" charset="0"/>
                <a:ea typeface="宋体" panose="02010600030101010101" pitchFamily="2" charset="-122"/>
                <a:cs typeface="+mn-cs"/>
              </a:rPr>
              <a:t>2007</a:t>
            </a:r>
            <a:r>
              <a:rPr lang="zh-CN" altLang="zh-CN" sz="1200" kern="1200" dirty="0">
                <a:solidFill>
                  <a:schemeClr val="tx1"/>
                </a:solidFill>
                <a:effectLst/>
                <a:latin typeface="Arial" panose="020B0604020202020204" pitchFamily="34" charset="0"/>
                <a:ea typeface="宋体" panose="02010600030101010101" pitchFamily="2" charset="-122"/>
                <a:cs typeface="+mn-cs"/>
              </a:rPr>
              <a:t>年，北京邮电大学博士学位论文</a:t>
            </a:r>
            <a:endParaRPr lang="en-US" altLang="zh-CN" dirty="0"/>
          </a:p>
          <a:p>
            <a:r>
              <a:rPr lang="zh-CN" altLang="en-US" dirty="0"/>
              <a:t>模糊操作的基本原理是对图像的局部邻近像素值进行邻域灰度平均，其目的是为了将图像伪造所造成的拼接边缘淡化甚至消除。映在模糊方式的选择上。模糊操作可以看作是将输入图像中的像素</a:t>
            </a:r>
            <a:r>
              <a:rPr lang="en-US" altLang="zh-CN" dirty="0"/>
              <a:t>(i</a:t>
            </a:r>
            <a:r>
              <a:rPr lang="zh-CN" altLang="en-US" dirty="0"/>
              <a:t>，</a:t>
            </a:r>
            <a:r>
              <a:rPr lang="en-US" altLang="zh-CN" dirty="0"/>
              <a:t>j)</a:t>
            </a:r>
            <a:r>
              <a:rPr lang="zh-CN" altLang="en-US" dirty="0"/>
              <a:t>的邻域平均灰度确定为输出图像像素</a:t>
            </a:r>
            <a:r>
              <a:rPr lang="en-US" altLang="zh-CN" dirty="0"/>
              <a:t>(</a:t>
            </a:r>
            <a:r>
              <a:rPr lang="en-US" altLang="zh-CN" dirty="0" err="1"/>
              <a:t>ij</a:t>
            </a:r>
            <a:r>
              <a:rPr lang="en-US" altLang="zh-CN" dirty="0"/>
              <a:t>)</a:t>
            </a:r>
            <a:r>
              <a:rPr lang="zh-CN" altLang="en-US" dirty="0"/>
              <a:t>的值，相当于利用所有元素都用</a:t>
            </a:r>
            <a:r>
              <a:rPr lang="en-US" altLang="zh-CN" dirty="0"/>
              <a:t>1/(n^2)</a:t>
            </a:r>
            <a:r>
              <a:rPr lang="zh-CN" altLang="en-US" dirty="0"/>
              <a:t>的加权矩阵进行空间滤波，当使用</a:t>
            </a:r>
            <a:r>
              <a:rPr lang="en-US" altLang="zh-CN" dirty="0"/>
              <a:t>n*n</a:t>
            </a:r>
            <a:r>
              <a:rPr lang="zh-CN" altLang="en-US" dirty="0"/>
              <a:t>的正方形模糊邻域时，模糊操作可表示为</a:t>
            </a:r>
            <a:r>
              <a:rPr lang="en-US" altLang="zh-CN" dirty="0"/>
              <a:t>:</a:t>
            </a:r>
          </a:p>
          <a:p>
            <a:r>
              <a:rPr lang="zh-CN" altLang="en-US" dirty="0"/>
              <a:t>一些未经篡改的自然图像由于其场景范围广，会存在由于焦距不准而造成的自然模糊图像块。如果要对伪造篡改图像进行较精确的取证，就必须在技术上能够区分开自然模糊和人为模糊。</a:t>
            </a:r>
          </a:p>
          <a:p>
            <a:r>
              <a:rPr lang="zh-CN" altLang="en-US" dirty="0"/>
              <a:t>从人工模糊的数学表达式可以看出，人工模糊是在选定模糊邻域内所有像素的统计平均，在模糊半径内的模糊滤波是等值处理的，而对于模糊半径以外的图像像素则不做任何处理。而相机离焦模糊由于不存在人工选定的模糊半径，其模糊滤波相对于聚焦点向外成射线状无级扩散，逐渐变小。这两种模糊效果的对比示意图。</a:t>
            </a:r>
          </a:p>
          <a:p>
            <a:r>
              <a:rPr lang="zh-CN" altLang="en-US" dirty="0"/>
              <a:t>由图可以看出，人工模糊和相机离焦模糊的最大区别在于人工模糊有明确的模糊边界，在模糊边界内外的图像像素相对于模糊的概念区别较大，而相机离焦模糊没有模糊边界，较人工模糊会表现得更加均匀。</a:t>
            </a:r>
            <a:endParaRPr lang="en-US" altLang="zh-CN" dirty="0"/>
          </a:p>
          <a:p>
            <a:endParaRPr lang="en-US" altLang="zh-CN" dirty="0"/>
          </a:p>
          <a:p>
            <a:r>
              <a:rPr lang="en-US" altLang="zh-CN" dirty="0"/>
              <a:t>/////////////////////////////////////////////////////////////////////////////////////////////////////////////////</a:t>
            </a:r>
          </a:p>
          <a:p>
            <a:r>
              <a:rPr lang="zh-CN" altLang="en-US" dirty="0"/>
              <a:t>数字图像取证中模糊和重采样检测研究，杜加玉，大连理工大学硕士论文，</a:t>
            </a:r>
            <a:r>
              <a:rPr lang="en-US" altLang="zh-CN" dirty="0"/>
              <a:t>2010</a:t>
            </a:r>
            <a:r>
              <a:rPr lang="zh-CN" altLang="en-US" dirty="0"/>
              <a:t>年</a:t>
            </a:r>
          </a:p>
          <a:p>
            <a:r>
              <a:rPr lang="zh-CN" altLang="en-US" dirty="0"/>
              <a:t>在高斯低通滤波模板操作中，每一个像素的灰度值是该像素周围所有点的像素值的加权平均。其中，模板中心处的权值最大，其余每一邻域像素点的权值随着该点与中心点距离单调递减。这样，高斯低通滤波模板便可以很好地保存边缘效果。</a:t>
            </a:r>
          </a:p>
          <a:p>
            <a:r>
              <a:rPr lang="zh-CN" altLang="en-US" dirty="0"/>
              <a:t>高斯模糊操作可以看作是将输入图像中像素</a:t>
            </a:r>
            <a:r>
              <a:rPr lang="en-US" altLang="zh-CN" dirty="0"/>
              <a:t>(i</a:t>
            </a:r>
            <a:r>
              <a:rPr lang="zh-CN" altLang="en-US" dirty="0"/>
              <a:t>，</a:t>
            </a:r>
            <a:r>
              <a:rPr lang="en-US" altLang="zh-CN" dirty="0"/>
              <a:t>j)</a:t>
            </a:r>
            <a:r>
              <a:rPr lang="zh-CN" altLang="en-US" dirty="0"/>
              <a:t>的邻域灰度值的加权平均确定为输出图像像素（</a:t>
            </a:r>
            <a:r>
              <a:rPr lang="en-US" altLang="zh-CN" dirty="0"/>
              <a:t>i</a:t>
            </a:r>
            <a:r>
              <a:rPr lang="zh-CN" altLang="en-US" dirty="0"/>
              <a:t>，</a:t>
            </a:r>
            <a:r>
              <a:rPr lang="en-US" altLang="zh-CN" dirty="0"/>
              <a:t>j)</a:t>
            </a:r>
            <a:r>
              <a:rPr lang="zh-CN" altLang="en-US" dirty="0"/>
              <a:t>的灰度值。例如使用</a:t>
            </a:r>
            <a:r>
              <a:rPr lang="en-US" altLang="zh-CN" dirty="0"/>
              <a:t>sigma=l</a:t>
            </a:r>
            <a:r>
              <a:rPr lang="zh-CN" altLang="en-US" dirty="0"/>
              <a:t>的</a:t>
            </a:r>
            <a:r>
              <a:rPr lang="en-US" altLang="zh-CN" dirty="0"/>
              <a:t>3*3</a:t>
            </a:r>
            <a:r>
              <a:rPr lang="zh-CN" altLang="en-US" dirty="0"/>
              <a:t>的模板滤波时，高斯模糊操作可表示为</a:t>
            </a:r>
          </a:p>
          <a:p>
            <a:r>
              <a:rPr lang="zh-CN" altLang="en-US" dirty="0"/>
              <a:t>图像高斯模糊操作在频域表现为低通滤波，这将会引起</a:t>
            </a:r>
            <a:r>
              <a:rPr lang="en-US" altLang="zh-CN" dirty="0"/>
              <a:t>DCT</a:t>
            </a:r>
            <a:r>
              <a:rPr lang="zh-CN" altLang="en-US" dirty="0"/>
              <a:t>域相邻系数分布的变化。利用这一特点，提取出能够准确表示该变化的特征，可以实现高斯模糊操作的有效检测。</a:t>
            </a:r>
          </a:p>
          <a:p>
            <a:r>
              <a:rPr lang="zh-CN" altLang="en-US" dirty="0"/>
              <a:t>数码相机直接拍摄的照片会在空域内呈现出一定的色彩局部一致性。同时，若相片以</a:t>
            </a:r>
            <a:r>
              <a:rPr lang="en-US" altLang="zh-CN" dirty="0"/>
              <a:t>JPEG</a:t>
            </a:r>
            <a:r>
              <a:rPr lang="zh-CN" altLang="en-US" dirty="0"/>
              <a:t>格式存储，这种色彩局部一致性会得到增强。</a:t>
            </a:r>
          </a:p>
          <a:p>
            <a:r>
              <a:rPr lang="zh-CN" altLang="en-US" dirty="0"/>
              <a:t>在图像成像过程中，滤色阵列插值作用会使</a:t>
            </a:r>
            <a:r>
              <a:rPr lang="en-US" altLang="zh-CN" dirty="0"/>
              <a:t>RGB</a:t>
            </a:r>
            <a:r>
              <a:rPr lang="zh-CN" altLang="en-US" dirty="0"/>
              <a:t>三个分量在局部空间内分别建立了联系，具有局部相关性。而模糊操作对三个分量分别独立地进行了非线性均匀的修改，这会破坏原始数码图像的色彩局部一致性。因此，利用这一特点提取出准确描述色彩局部一致性变化的特征可以很好地实现图像模糊的检测。</a:t>
            </a:r>
          </a:p>
        </p:txBody>
      </p:sp>
      <p:sp>
        <p:nvSpPr>
          <p:cNvPr id="4" name="灯片编号占位符 3"/>
          <p:cNvSpPr>
            <a:spLocks noGrp="1"/>
          </p:cNvSpPr>
          <p:nvPr>
            <p:ph type="sldNum" sz="quarter" idx="10"/>
          </p:nvPr>
        </p:nvSpPr>
        <p:spPr/>
        <p:txBody>
          <a:bodyPr/>
          <a:lstStyle/>
          <a:p>
            <a:fld id="{100E8A5C-B335-46D0-BB34-4CFEA69B52D1}" type="slidenum">
              <a:rPr lang="en-US" altLang="zh-CN" smtClean="0"/>
              <a:t>152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80000"/>
              </a:lnSpc>
            </a:pPr>
            <a:r>
              <a:rPr lang="zh-CN" altLang="en-US" sz="2400" dirty="0"/>
              <a:t>数码相机图像来源认证：由于不同品牌数字相机的镜头</a:t>
            </a:r>
            <a:r>
              <a:rPr lang="en-US" altLang="zh-CN" sz="2400" dirty="0"/>
              <a:t>CCD</a:t>
            </a:r>
            <a:r>
              <a:rPr lang="zh-CN" altLang="en-US" sz="2400" dirty="0"/>
              <a:t>、感光器件对获得信息的处理方式不同，其生成的数字图像特性也就不同，根据这些不同特性判别数字图像的相机来源</a:t>
            </a:r>
          </a:p>
          <a:p>
            <a:pPr lvl="1">
              <a:lnSpc>
                <a:spcPct val="80000"/>
              </a:lnSpc>
            </a:pPr>
            <a:r>
              <a:rPr lang="en-US" altLang="zh-CN" sz="1800" dirty="0"/>
              <a:t>CCD</a:t>
            </a:r>
            <a:r>
              <a:rPr lang="zh-CN" altLang="en-US" sz="1800" dirty="0"/>
              <a:t>（</a:t>
            </a:r>
            <a:r>
              <a:rPr lang="en-US" altLang="zh-CN" sz="1800" dirty="0"/>
              <a:t>Charge-coupled Device</a:t>
            </a:r>
            <a:r>
              <a:rPr lang="zh-CN" altLang="en-US" sz="1800" dirty="0"/>
              <a:t>）电荷耦合器件，能够把光学影像转化为数字信号 </a:t>
            </a:r>
            <a:endParaRPr lang="zh-CN" altLang="en-US" sz="2000" dirty="0"/>
          </a:p>
          <a:p>
            <a:pPr>
              <a:lnSpc>
                <a:spcPct val="80000"/>
              </a:lnSpc>
            </a:pPr>
            <a:r>
              <a:rPr lang="zh-CN" altLang="en-US" sz="2400" dirty="0"/>
              <a:t>基于自然场景的取证：从相机拍摄图像的光照方向一致性进行取证。文献中把数码相机拍摄的三维图像简化为二维模型，从获得的二维图像物体表面的光与影中近似地估计出拍摄场景的平行光和点光源的光照方向，其估计的误差范围在</a:t>
            </a:r>
            <a:r>
              <a:rPr lang="en-US" altLang="zh-CN" sz="2400" dirty="0"/>
              <a:t>1</a:t>
            </a:r>
            <a:r>
              <a:rPr lang="zh-CN" altLang="en-US" sz="2400" dirty="0"/>
              <a:t>～</a:t>
            </a:r>
            <a:r>
              <a:rPr lang="en-US" altLang="zh-CN" sz="2400" dirty="0"/>
              <a:t>9</a:t>
            </a:r>
            <a:r>
              <a:rPr lang="zh-CN" altLang="en-US" sz="2400" dirty="0"/>
              <a:t>度之间</a:t>
            </a:r>
          </a:p>
          <a:p>
            <a:pPr>
              <a:lnSpc>
                <a:spcPct val="80000"/>
              </a:lnSpc>
            </a:pPr>
            <a:r>
              <a:rPr lang="zh-CN" altLang="en-US" sz="2400" dirty="0"/>
              <a:t>基于相机处理过程的取证：是目前数字相机来源取证的主要研究内容，因为数码相机拍摄图像的大多数特性来源于相机的处理过程，这种取证方法就是依照数码相机形成数字照片过程中的一个个步骤所引入的特征进行取证</a:t>
            </a:r>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154</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80000"/>
              </a:lnSpc>
            </a:pPr>
            <a:r>
              <a:rPr lang="zh-CN" altLang="en-US" sz="2400" dirty="0"/>
              <a:t>数码相机图像来源认证：由于不同品牌数字相机的镜头</a:t>
            </a:r>
            <a:r>
              <a:rPr lang="en-US" altLang="zh-CN" sz="2400" dirty="0"/>
              <a:t>CCD</a:t>
            </a:r>
            <a:r>
              <a:rPr lang="zh-CN" altLang="en-US" sz="2400" dirty="0"/>
              <a:t>、感光器件对获得信息的处理方式不同，其生成的数字图像特性也就不同，根据这些不同特性判别数字图像的相机来源</a:t>
            </a:r>
          </a:p>
          <a:p>
            <a:pPr lvl="1">
              <a:lnSpc>
                <a:spcPct val="80000"/>
              </a:lnSpc>
            </a:pPr>
            <a:r>
              <a:rPr lang="en-US" altLang="zh-CN" sz="1800" dirty="0"/>
              <a:t>CCD</a:t>
            </a:r>
            <a:r>
              <a:rPr lang="zh-CN" altLang="en-US" sz="1800" dirty="0"/>
              <a:t>（</a:t>
            </a:r>
            <a:r>
              <a:rPr lang="en-US" altLang="zh-CN" sz="1800" dirty="0"/>
              <a:t>Charge-coupled Device</a:t>
            </a:r>
            <a:r>
              <a:rPr lang="zh-CN" altLang="en-US" sz="1800" dirty="0"/>
              <a:t>）电荷耦合器件，能够把光学影像转化为数字信号 </a:t>
            </a:r>
            <a:endParaRPr lang="zh-CN" altLang="en-US" sz="2000" dirty="0"/>
          </a:p>
          <a:p>
            <a:pPr>
              <a:lnSpc>
                <a:spcPct val="80000"/>
              </a:lnSpc>
            </a:pPr>
            <a:r>
              <a:rPr lang="zh-CN" altLang="en-US" sz="2400" dirty="0"/>
              <a:t>基于自然场景的取证：从相机拍摄图像的光照方向一致性进行取证。文献中把数码相机拍摄的三维图像简化为二维模型，从获得的二维图像物体表面的光与影中近似地估计出拍摄场景的平行光和点光源的光照方向，其估计的误差范围在</a:t>
            </a:r>
            <a:r>
              <a:rPr lang="en-US" altLang="zh-CN" sz="2400" dirty="0"/>
              <a:t>1</a:t>
            </a:r>
            <a:r>
              <a:rPr lang="zh-CN" altLang="en-US" sz="2400" dirty="0"/>
              <a:t>～</a:t>
            </a:r>
            <a:r>
              <a:rPr lang="en-US" altLang="zh-CN" sz="2400" dirty="0"/>
              <a:t>9</a:t>
            </a:r>
            <a:r>
              <a:rPr lang="zh-CN" altLang="en-US" sz="2400" dirty="0"/>
              <a:t>度之间</a:t>
            </a:r>
          </a:p>
          <a:p>
            <a:pPr>
              <a:lnSpc>
                <a:spcPct val="80000"/>
              </a:lnSpc>
            </a:pPr>
            <a:r>
              <a:rPr lang="zh-CN" altLang="en-US" sz="2400" dirty="0"/>
              <a:t>基于相机处理过程的取证：是目前数字相机来源取证的主要研究内容，因为数码相机拍摄图像的大多数特性来源于相机的处理过程，这种取证方法就是依照数码相机形成数字照片过程中的一个个步骤所引入的特征进行取证</a:t>
            </a:r>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155</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lang="zh-CN" altLang="en-US" sz="1200" dirty="0"/>
              <a:t>数码相机生成数字照片的过程：</a:t>
            </a:r>
            <a:endParaRPr lang="en-US" altLang="zh-CN" dirty="0"/>
          </a:p>
          <a:p>
            <a:r>
              <a:rPr lang="zh-CN" altLang="en-US" dirty="0"/>
              <a:t>数码相机的核心是图像传感器。传感器被分成许多很小排列的图像单元（即像素）收集光子并将其转化成电压，在</a:t>
            </a:r>
            <a:r>
              <a:rPr lang="en-US" altLang="zh-CN" dirty="0"/>
              <a:t>A/D</a:t>
            </a:r>
            <a:r>
              <a:rPr lang="zh-CN" altLang="en-US" dirty="0"/>
              <a:t>转换器中采样为数字信号</a:t>
            </a:r>
          </a:p>
          <a:p>
            <a:r>
              <a:rPr lang="zh-CN" altLang="en-US" dirty="0"/>
              <a:t>在被照场景的光到达传感器之前，将通过相机镜头，然后通过颜色滤波器阵列（</a:t>
            </a:r>
            <a:r>
              <a:rPr lang="en-US" altLang="zh-CN" dirty="0"/>
              <a:t>CFA</a:t>
            </a:r>
            <a:r>
              <a:rPr lang="zh-CN" altLang="en-US" dirty="0"/>
              <a:t>），</a:t>
            </a:r>
            <a:r>
              <a:rPr lang="en-US" altLang="zh-CN" dirty="0"/>
              <a:t>CFA</a:t>
            </a:r>
            <a:r>
              <a:rPr lang="zh-CN" altLang="en-US" dirty="0"/>
              <a:t>是由彩色滤波器镶嵌而成，每一个都将阻挡某些频率的进入，而只在一个像素位置通过一种颜色。如果传感器应用了</a:t>
            </a:r>
            <a:r>
              <a:rPr lang="en-US" altLang="zh-CN" dirty="0"/>
              <a:t>CFA</a:t>
            </a:r>
            <a:r>
              <a:rPr lang="zh-CN" altLang="en-US" dirty="0"/>
              <a:t>，数字化的传感器输出将会应用插值操作，从而在每个像素位置获得三基色的信息</a:t>
            </a:r>
          </a:p>
          <a:p>
            <a:r>
              <a:rPr lang="zh-CN" altLang="en-US" dirty="0"/>
              <a:t>最后，数字图像被以用户选择的文件形式（如</a:t>
            </a:r>
            <a:r>
              <a:rPr lang="en-US" altLang="zh-CN" dirty="0"/>
              <a:t>JPEG</a:t>
            </a:r>
            <a:r>
              <a:rPr lang="zh-CN" altLang="en-US" dirty="0"/>
              <a:t>）写到照相机的记忆设备中</a:t>
            </a:r>
            <a:endParaRPr lang="en-US" altLang="zh-CN" dirty="0"/>
          </a:p>
          <a:p>
            <a:r>
              <a:rPr lang="zh-CN" altLang="en-US" b="1" dirty="0"/>
              <a:t>颜色滤波阵列</a:t>
            </a:r>
            <a:r>
              <a:rPr lang="en-US" altLang="zh-CN" b="1" dirty="0"/>
              <a:t>CFA</a:t>
            </a:r>
            <a:r>
              <a:rPr lang="zh-CN" altLang="en-US" b="1" dirty="0"/>
              <a:t>插值 </a:t>
            </a:r>
          </a:p>
          <a:p>
            <a:r>
              <a:rPr lang="zh-CN" altLang="en-US" dirty="0"/>
              <a:t>由于数码相机在成像过程中每个像素实际上只得到了一种颜色的信息，其他颜色都必须在其周围像素颜色信息的基础上经过</a:t>
            </a:r>
            <a:r>
              <a:rPr lang="en-US" altLang="zh-CN" dirty="0"/>
              <a:t>CFA</a:t>
            </a:r>
            <a:r>
              <a:rPr lang="zh-CN" altLang="en-US" dirty="0"/>
              <a:t>插值得到，</a:t>
            </a:r>
            <a:r>
              <a:rPr lang="en-US" altLang="zh-CN" dirty="0"/>
              <a:t>CFA</a:t>
            </a:r>
            <a:r>
              <a:rPr lang="zh-CN" altLang="en-US" dirty="0"/>
              <a:t>插值使得数码相机生成的原始照片像素数据之间存在特殊的相关性，而图像的伪造篡改操作会破坏这种相关性 </a:t>
            </a:r>
            <a:endParaRPr lang="en-US" altLang="zh-CN" dirty="0"/>
          </a:p>
          <a:p>
            <a:r>
              <a:rPr lang="zh-CN" altLang="en-US" dirty="0"/>
              <a:t>对数码相机</a:t>
            </a:r>
            <a:r>
              <a:rPr lang="en-US" altLang="zh-CN" dirty="0"/>
              <a:t>CFA</a:t>
            </a:r>
            <a:r>
              <a:rPr lang="zh-CN" altLang="en-US" dirty="0"/>
              <a:t>插值的检测还可以用于对数字图像来源进行分类认证，主要依据是不同的数码相机一般采用不同的</a:t>
            </a:r>
            <a:r>
              <a:rPr lang="en-US" altLang="zh-CN" dirty="0"/>
              <a:t>CFA</a:t>
            </a:r>
            <a:r>
              <a:rPr lang="zh-CN" altLang="en-US" dirty="0"/>
              <a:t>插值方法</a:t>
            </a:r>
          </a:p>
          <a:p>
            <a:r>
              <a:rPr lang="zh-CN" altLang="en-US" dirty="0"/>
              <a:t>常见的</a:t>
            </a:r>
            <a:r>
              <a:rPr lang="en-US" altLang="zh-CN" dirty="0"/>
              <a:t>CFA</a:t>
            </a:r>
            <a:r>
              <a:rPr lang="zh-CN" altLang="en-US" dirty="0"/>
              <a:t>插值方法有：双线性和双三次（</a:t>
            </a:r>
            <a:r>
              <a:rPr lang="en-US" altLang="zh-CN" dirty="0"/>
              <a:t>Bilinear and </a:t>
            </a:r>
            <a:r>
              <a:rPr lang="en-US" altLang="zh-CN" dirty="0" err="1"/>
              <a:t>Bicubic</a:t>
            </a:r>
            <a:r>
              <a:rPr lang="zh-CN" altLang="en-US" dirty="0"/>
              <a:t>）</a:t>
            </a:r>
            <a:r>
              <a:rPr lang="en-US" altLang="zh-CN" dirty="0"/>
              <a:t>CFA</a:t>
            </a:r>
            <a:r>
              <a:rPr lang="zh-CN" altLang="en-US" dirty="0"/>
              <a:t>插值、平滑色调变换（</a:t>
            </a:r>
            <a:r>
              <a:rPr lang="en-US" altLang="zh-CN" dirty="0"/>
              <a:t>smooth hue transition</a:t>
            </a:r>
            <a:r>
              <a:rPr lang="zh-CN" altLang="en-US" dirty="0"/>
              <a:t>）</a:t>
            </a:r>
            <a:r>
              <a:rPr lang="en-US" altLang="zh-CN" dirty="0"/>
              <a:t>CFA</a:t>
            </a:r>
            <a:r>
              <a:rPr lang="zh-CN" altLang="en-US" dirty="0"/>
              <a:t>插值、中值滤波（</a:t>
            </a:r>
            <a:r>
              <a:rPr lang="en-US" altLang="zh-CN" dirty="0"/>
              <a:t>median filter</a:t>
            </a:r>
            <a:r>
              <a:rPr lang="zh-CN" altLang="en-US" dirty="0"/>
              <a:t>）</a:t>
            </a:r>
            <a:r>
              <a:rPr lang="en-US" altLang="zh-CN" dirty="0"/>
              <a:t>CFA</a:t>
            </a:r>
            <a:r>
              <a:rPr lang="zh-CN" altLang="en-US" dirty="0"/>
              <a:t>插值、基于梯度（</a:t>
            </a:r>
            <a:r>
              <a:rPr lang="en-US" altLang="zh-CN" dirty="0"/>
              <a:t>gradient-based</a:t>
            </a:r>
            <a:r>
              <a:rPr lang="zh-CN" altLang="en-US" dirty="0"/>
              <a:t>）的</a:t>
            </a:r>
            <a:r>
              <a:rPr lang="en-US" altLang="zh-CN" dirty="0"/>
              <a:t>CFA </a:t>
            </a:r>
            <a:r>
              <a:rPr lang="zh-CN" altLang="en-US" dirty="0"/>
              <a:t>插值、适应色彩平面（</a:t>
            </a:r>
            <a:r>
              <a:rPr lang="en-US" altLang="zh-CN" dirty="0"/>
              <a:t>Adaptive color plane</a:t>
            </a:r>
            <a:r>
              <a:rPr lang="zh-CN" altLang="en-US" dirty="0"/>
              <a:t>）</a:t>
            </a:r>
            <a:r>
              <a:rPr lang="en-US" altLang="zh-CN" dirty="0"/>
              <a:t>CFA</a:t>
            </a:r>
            <a:r>
              <a:rPr lang="zh-CN" altLang="en-US" dirty="0"/>
              <a:t>插值、基于阈值的可变梯度数目（</a:t>
            </a:r>
            <a:r>
              <a:rPr lang="en-US" altLang="zh-CN" dirty="0"/>
              <a:t>Threshold-Based Variable Number of Gradients</a:t>
            </a:r>
            <a:r>
              <a:rPr lang="zh-CN" altLang="en-US" dirty="0"/>
              <a:t>）</a:t>
            </a:r>
            <a:r>
              <a:rPr lang="en-US" altLang="zh-CN" dirty="0"/>
              <a:t>CFA</a:t>
            </a:r>
            <a:r>
              <a:rPr lang="zh-CN" altLang="en-US" dirty="0"/>
              <a:t>插值 </a:t>
            </a:r>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156</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CCD</a:t>
            </a:r>
            <a:r>
              <a:rPr lang="zh-CN" altLang="en-US" dirty="0"/>
              <a:t>噪声模式 </a:t>
            </a:r>
          </a:p>
          <a:p>
            <a:r>
              <a:rPr lang="zh-CN" altLang="en-US" dirty="0"/>
              <a:t>基于数字图像获取设备</a:t>
            </a:r>
            <a:r>
              <a:rPr lang="en-US" altLang="zh-CN" dirty="0"/>
              <a:t>CCD</a:t>
            </a:r>
            <a:r>
              <a:rPr lang="zh-CN" altLang="en-US" dirty="0"/>
              <a:t>镜头或扫描透镜噪声模式的取证方法是一种较有效的数字图像盲取证方法 </a:t>
            </a:r>
            <a:endParaRPr lang="en-US" altLang="zh-CN" dirty="0"/>
          </a:p>
          <a:p>
            <a:r>
              <a:rPr lang="zh-CN" altLang="en-US" dirty="0"/>
              <a:t>模式噪声存在于每一张传感器生成的照片中。由于每个相机的</a:t>
            </a:r>
            <a:r>
              <a:rPr lang="en-US" altLang="zh-CN" dirty="0"/>
              <a:t>CCD</a:t>
            </a:r>
            <a:r>
              <a:rPr lang="zh-CN" altLang="en-US" dirty="0"/>
              <a:t>模式噪声都是不一样的（就像数码相机也拥有“指纹”一样），</a:t>
            </a:r>
            <a:r>
              <a:rPr lang="en-US" altLang="zh-CN" dirty="0" err="1"/>
              <a:t>Fridrich</a:t>
            </a:r>
            <a:r>
              <a:rPr lang="zh-CN" altLang="en-US" dirty="0"/>
              <a:t>等提出基于</a:t>
            </a:r>
            <a:r>
              <a:rPr lang="en-US" altLang="zh-CN" dirty="0"/>
              <a:t>CCD</a:t>
            </a:r>
            <a:r>
              <a:rPr lang="zh-CN" altLang="en-US" dirty="0"/>
              <a:t>模式噪声的方法对数字图像的来源进行识别认证</a:t>
            </a:r>
          </a:p>
          <a:p>
            <a:r>
              <a:rPr lang="zh-CN" altLang="en-US" dirty="0"/>
              <a:t>其主要思路是：首先获得一部相机的参考模式噪声，然后提取待测图像中的噪声残余与参考模式噪声进行比对，缺少模式噪声的位置被怀疑为篡改区域</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157</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0E8A5C-B335-46D0-BB34-4CFEA69B52D1}" type="slidenum">
              <a:rPr lang="en-US" altLang="zh-CN" smtClean="0"/>
              <a:t>165</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1.png"/><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16386" name="组合 65"/>
          <p:cNvGrpSpPr/>
          <p:nvPr/>
        </p:nvGrpSpPr>
        <p:grpSpPr>
          <a:xfrm>
            <a:off x="1617290" y="1003300"/>
            <a:ext cx="5909420" cy="3073400"/>
            <a:chOff x="2014158" y="457200"/>
            <a:chExt cx="8163685" cy="3184013"/>
          </a:xfrm>
        </p:grpSpPr>
        <p:sp>
          <p:nvSpPr>
            <p:cNvPr id="37" name="Rectangle 9"/>
            <p:cNvSpPr>
              <a:spLocks noChangeArrowheads="1"/>
            </p:cNvSpPr>
            <p:nvPr/>
          </p:nvSpPr>
          <p:spPr bwMode="auto">
            <a:xfrm>
              <a:off x="4319862" y="677540"/>
              <a:ext cx="3552276" cy="220339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8" name="Rectangle 10"/>
            <p:cNvSpPr>
              <a:spLocks noChangeArrowheads="1"/>
            </p:cNvSpPr>
            <p:nvPr/>
          </p:nvSpPr>
          <p:spPr bwMode="auto">
            <a:xfrm>
              <a:off x="4497232" y="816588"/>
              <a:ext cx="3197535" cy="1801220"/>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9" name="Freeform 11"/>
            <p:cNvSpPr>
              <a:spLocks noEditPoints="1"/>
            </p:cNvSpPr>
            <p:nvPr/>
          </p:nvSpPr>
          <p:spPr bwMode="auto">
            <a:xfrm>
              <a:off x="4086608" y="457200"/>
              <a:ext cx="4018785" cy="2554224"/>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0" name="Freeform 12"/>
            <p:cNvSpPr/>
            <p:nvPr/>
          </p:nvSpPr>
          <p:spPr bwMode="auto">
            <a:xfrm>
              <a:off x="5128964" y="3174004"/>
              <a:ext cx="1924352" cy="434260"/>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1" name="Freeform 13"/>
            <p:cNvSpPr/>
            <p:nvPr/>
          </p:nvSpPr>
          <p:spPr bwMode="auto">
            <a:xfrm>
              <a:off x="5853026" y="3174004"/>
              <a:ext cx="1200290" cy="434260"/>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2" name="Rectangle 14"/>
            <p:cNvSpPr>
              <a:spLocks noChangeArrowheads="1"/>
            </p:cNvSpPr>
            <p:nvPr/>
          </p:nvSpPr>
          <p:spPr bwMode="auto">
            <a:xfrm>
              <a:off x="4497232" y="816588"/>
              <a:ext cx="1115251" cy="35938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3" name="Rectangle 15"/>
            <p:cNvSpPr>
              <a:spLocks noChangeArrowheads="1"/>
            </p:cNvSpPr>
            <p:nvPr/>
          </p:nvSpPr>
          <p:spPr bwMode="auto">
            <a:xfrm>
              <a:off x="4497232" y="1175976"/>
              <a:ext cx="1115251" cy="1441831"/>
            </a:xfrm>
            <a:prstGeom prst="rect">
              <a:avLst/>
            </a:prstGeom>
            <a:solidFill>
              <a:srgbClr val="3C4F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4" name="Rectangle 16"/>
            <p:cNvSpPr>
              <a:spLocks noChangeArrowheads="1"/>
            </p:cNvSpPr>
            <p:nvPr/>
          </p:nvSpPr>
          <p:spPr bwMode="auto">
            <a:xfrm>
              <a:off x="4681893" y="1340697"/>
              <a:ext cx="743500" cy="29521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5" name="Rectangle 17"/>
            <p:cNvSpPr>
              <a:spLocks noChangeArrowheads="1"/>
            </p:cNvSpPr>
            <p:nvPr/>
          </p:nvSpPr>
          <p:spPr bwMode="auto">
            <a:xfrm>
              <a:off x="4681893" y="1832716"/>
              <a:ext cx="743500" cy="29307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6" name="Rectangle 18"/>
            <p:cNvSpPr>
              <a:spLocks noChangeArrowheads="1"/>
            </p:cNvSpPr>
            <p:nvPr/>
          </p:nvSpPr>
          <p:spPr bwMode="auto">
            <a:xfrm>
              <a:off x="4681893" y="2290509"/>
              <a:ext cx="743500" cy="164719"/>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7" name="Rectangle 19"/>
            <p:cNvSpPr>
              <a:spLocks noChangeArrowheads="1"/>
            </p:cNvSpPr>
            <p:nvPr/>
          </p:nvSpPr>
          <p:spPr bwMode="auto">
            <a:xfrm>
              <a:off x="6059555" y="1210204"/>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solidFill>
                  <a:srgbClr val="FFC543"/>
                </a:solidFill>
              </a:endParaRPr>
            </a:p>
          </p:txBody>
        </p:sp>
        <p:sp>
          <p:nvSpPr>
            <p:cNvPr id="48" name="Rectangle 20"/>
            <p:cNvSpPr>
              <a:spLocks noChangeArrowheads="1"/>
            </p:cNvSpPr>
            <p:nvPr/>
          </p:nvSpPr>
          <p:spPr bwMode="auto">
            <a:xfrm>
              <a:off x="6059555" y="1471188"/>
              <a:ext cx="1375231" cy="98404"/>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9" name="Rectangle 21"/>
            <p:cNvSpPr>
              <a:spLocks noChangeArrowheads="1"/>
            </p:cNvSpPr>
            <p:nvPr/>
          </p:nvSpPr>
          <p:spPr bwMode="auto">
            <a:xfrm>
              <a:off x="6059555" y="1734312"/>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0" name="Rectangle 22"/>
            <p:cNvSpPr>
              <a:spLocks noChangeArrowheads="1"/>
            </p:cNvSpPr>
            <p:nvPr/>
          </p:nvSpPr>
          <p:spPr bwMode="auto">
            <a:xfrm>
              <a:off x="6059555" y="1995297"/>
              <a:ext cx="1375231" cy="98404"/>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1" name="Rectangle 23"/>
            <p:cNvSpPr>
              <a:spLocks noChangeArrowheads="1"/>
            </p:cNvSpPr>
            <p:nvPr/>
          </p:nvSpPr>
          <p:spPr bwMode="auto">
            <a:xfrm>
              <a:off x="6059555" y="2258420"/>
              <a:ext cx="1375231" cy="98404"/>
            </a:xfrm>
            <a:prstGeom prst="rect">
              <a:avLst/>
            </a:prstGeom>
            <a:solidFill>
              <a:srgbClr val="FFC543"/>
            </a:solidFill>
            <a:ln>
              <a:noFill/>
            </a:ln>
          </p:spPr>
          <p:txBody>
            <a:bodyPr vert="horz" wrap="square" lIns="51448" tIns="25724" rIns="51448" bIns="25724" numCol="1" anchor="t" anchorCtr="0" compatLnSpc="1"/>
            <a:lstStyle/>
            <a:p>
              <a:pPr fontAlgn="base"/>
              <a:endParaRPr lang="zh-CN" altLang="en-US" sz="1015" strike="noStrike" noProof="1">
                <a:solidFill>
                  <a:srgbClr val="FFC000"/>
                </a:solidFill>
              </a:endParaRPr>
            </a:p>
          </p:txBody>
        </p:sp>
        <p:sp>
          <p:nvSpPr>
            <p:cNvPr id="52" name="Rectangle 25"/>
            <p:cNvSpPr>
              <a:spLocks noChangeArrowheads="1"/>
            </p:cNvSpPr>
            <p:nvPr/>
          </p:nvSpPr>
          <p:spPr bwMode="auto">
            <a:xfrm>
              <a:off x="2014158" y="3451765"/>
              <a:ext cx="300645"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3" name="Rectangle 26"/>
            <p:cNvSpPr>
              <a:spLocks noChangeArrowheads="1"/>
            </p:cNvSpPr>
            <p:nvPr/>
          </p:nvSpPr>
          <p:spPr bwMode="auto">
            <a:xfrm>
              <a:off x="2314803" y="3095520"/>
              <a:ext cx="290350"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4" name="Rectangle 27"/>
            <p:cNvSpPr>
              <a:spLocks noChangeArrowheads="1"/>
            </p:cNvSpPr>
            <p:nvPr/>
          </p:nvSpPr>
          <p:spPr bwMode="auto">
            <a:xfrm>
              <a:off x="2605152" y="2560124"/>
              <a:ext cx="300645"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5" name="Rectangle 28"/>
            <p:cNvSpPr>
              <a:spLocks noChangeArrowheads="1"/>
            </p:cNvSpPr>
            <p:nvPr/>
          </p:nvSpPr>
          <p:spPr bwMode="auto">
            <a:xfrm>
              <a:off x="2905798" y="2175052"/>
              <a:ext cx="298587"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6" name="Rectangle 29"/>
            <p:cNvSpPr>
              <a:spLocks noChangeArrowheads="1"/>
            </p:cNvSpPr>
            <p:nvPr/>
          </p:nvSpPr>
          <p:spPr bwMode="auto">
            <a:xfrm>
              <a:off x="3204385" y="3009033"/>
              <a:ext cx="292409"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7" name="Rectangle 30"/>
            <p:cNvSpPr>
              <a:spLocks noChangeArrowheads="1"/>
            </p:cNvSpPr>
            <p:nvPr/>
          </p:nvSpPr>
          <p:spPr bwMode="auto">
            <a:xfrm>
              <a:off x="3496793" y="3379692"/>
              <a:ext cx="298587"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8" name="Rectangle 32"/>
            <p:cNvSpPr>
              <a:spLocks noChangeArrowheads="1"/>
            </p:cNvSpPr>
            <p:nvPr/>
          </p:nvSpPr>
          <p:spPr bwMode="auto">
            <a:xfrm>
              <a:off x="9887493" y="3451765"/>
              <a:ext cx="290350"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9" name="Rectangle 33"/>
            <p:cNvSpPr>
              <a:spLocks noChangeArrowheads="1"/>
            </p:cNvSpPr>
            <p:nvPr/>
          </p:nvSpPr>
          <p:spPr bwMode="auto">
            <a:xfrm>
              <a:off x="9586848" y="3095520"/>
              <a:ext cx="300645"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0" name="Rectangle 34"/>
            <p:cNvSpPr>
              <a:spLocks noChangeArrowheads="1"/>
            </p:cNvSpPr>
            <p:nvPr/>
          </p:nvSpPr>
          <p:spPr bwMode="auto">
            <a:xfrm>
              <a:off x="9288261" y="2560124"/>
              <a:ext cx="298587"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1" name="Rectangle 35"/>
            <p:cNvSpPr>
              <a:spLocks noChangeArrowheads="1"/>
            </p:cNvSpPr>
            <p:nvPr/>
          </p:nvSpPr>
          <p:spPr bwMode="auto">
            <a:xfrm>
              <a:off x="8995852" y="2175052"/>
              <a:ext cx="292409"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2" name="Rectangle 36"/>
            <p:cNvSpPr>
              <a:spLocks noChangeArrowheads="1"/>
            </p:cNvSpPr>
            <p:nvPr/>
          </p:nvSpPr>
          <p:spPr bwMode="auto">
            <a:xfrm>
              <a:off x="8697266" y="3009033"/>
              <a:ext cx="298587"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3" name="Rectangle 37"/>
            <p:cNvSpPr>
              <a:spLocks noChangeArrowheads="1"/>
            </p:cNvSpPr>
            <p:nvPr/>
          </p:nvSpPr>
          <p:spPr bwMode="auto">
            <a:xfrm>
              <a:off x="8396621" y="3379692"/>
              <a:ext cx="300645"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grpSp>
      <p:sp>
        <p:nvSpPr>
          <p:cNvPr id="2" name="Title 1"/>
          <p:cNvSpPr>
            <a:spLocks noGrp="1"/>
          </p:cNvSpPr>
          <p:nvPr>
            <p:ph type="ctrTitle"/>
          </p:nvPr>
        </p:nvSpPr>
        <p:spPr>
          <a:xfrm>
            <a:off x="1143073" y="3471048"/>
            <a:ext cx="6858436" cy="1637564"/>
          </a:xfrm>
        </p:spPr>
        <p:txBody>
          <a:bodyPr anchor="b" anchorCtr="0">
            <a:normAutofit/>
          </a:bodyPr>
          <a:lstStyle>
            <a:lvl1pPr algn="ctr">
              <a:defRPr sz="4050">
                <a:solidFill>
                  <a:schemeClr val="accent1">
                    <a:lumMod val="75000"/>
                  </a:schemeClr>
                </a:solidFill>
              </a:defRPr>
            </a:lvl1pPr>
          </a:lstStyle>
          <a:p>
            <a:pPr fontAlgn="auto"/>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a:xfrm>
            <a:off x="628814" y="6356350"/>
            <a:ext cx="2057936" cy="366713"/>
          </a:xfrm>
          <a:prstGeom prst="rect">
            <a:avLst/>
          </a:prstGeom>
        </p:spPr>
        <p:txBody>
          <a:bodyPr vert="horz" lIns="91440" tIns="45720" rIns="91440" bIns="45720" rtlCol="0"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cs"/>
              </a:rPr>
              <a:t>2022/12/1</a:t>
            </a:fld>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a:xfrm>
            <a:off x="3028548" y="6356350"/>
            <a:ext cx="3086904" cy="366713"/>
          </a:xfrm>
          <a:prstGeom prst="rect">
            <a:avLst/>
          </a:prstGeom>
        </p:spPr>
        <p:txBody>
          <a:bodyPr vert="horz" lIns="91440" tIns="45720" rIns="91440" bIns="45720" rtlCol="0" anchor="ctr"/>
          <a:lstStyle/>
          <a:p>
            <a:pPr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12"/>
          </p:nvPr>
        </p:nvSpPr>
        <p:spPr>
          <a:xfrm>
            <a:off x="6458442" y="6356350"/>
            <a:ext cx="2057936" cy="366713"/>
          </a:xfrm>
          <a:prstGeom prst="rect">
            <a:avLst/>
          </a:prstGeom>
        </p:spPr>
        <p:txBody>
          <a:bodyPr vert="horz" lIns="91440" tIns="45720" rIns="91440" bIns="45720" rtlCol="0" anchor="ctr"/>
          <a:lstStyle/>
          <a:p>
            <a:pPr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auto"/>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8" name="页脚占位符 7"/>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753" tIns="18876" rIns="37753" bIns="18876" numCol="1" spcCol="0" rtlCol="0" fromWordArt="0" anchor="ctr" anchorCtr="0" forceAA="0" compatLnSpc="1">
            <a:normAutofit/>
          </a:bodyPr>
          <a:lstStyle/>
          <a:p>
            <a:pPr algn="ctr" fontAlgn="base"/>
            <a:endParaRPr lang="zh-CN" altLang="en-US" sz="745" strike="noStrike"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auto"/>
            <a:r>
              <a:rPr lang="zh-CN" altLang="en-US" sz="4950" strike="noStrike" noProof="1"/>
              <a:t>单击此处编辑母版标题样式</a:t>
            </a:r>
            <a:endParaRPr lang="en-US" strike="noStrike" noProof="1"/>
          </a:p>
        </p:txBody>
      </p:sp>
      <p:sp>
        <p:nvSpPr>
          <p:cNvPr id="3" name="Date Placeholder 2"/>
          <p:cNvSpPr>
            <a:spLocks noGrp="1"/>
          </p:cNvSpPr>
          <p:nvPr>
            <p:ph type="dt" sz="half" idx="10"/>
          </p:nvPr>
        </p:nvSpPr>
        <p:spPr>
          <a:xfrm>
            <a:off x="628814" y="6356350"/>
            <a:ext cx="2057936" cy="366713"/>
          </a:xfrm>
          <a:prstGeom prst="rect">
            <a:avLst/>
          </a:prstGeom>
        </p:spPr>
        <p:txBody>
          <a:bodyPr vert="horz" lIns="91440" tIns="45720" rIns="91440" bIns="45720" rtlCol="0" anchor="ct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Footer Placeholder 3"/>
          <p:cNvSpPr>
            <a:spLocks noGrp="1"/>
          </p:cNvSpPr>
          <p:nvPr>
            <p:ph type="ftr" sz="quarter" idx="11"/>
          </p:nvPr>
        </p:nvSpPr>
        <p:spPr>
          <a:xfrm>
            <a:off x="3028548" y="6356350"/>
            <a:ext cx="3086904" cy="366713"/>
          </a:xfrm>
          <a:prstGeom prst="rect">
            <a:avLst/>
          </a:prstGeom>
        </p:spPr>
        <p:txBody>
          <a:bodyPr vert="horz" lIns="91440" tIns="45720" rIns="91440" bIns="45720" rtlCol="0" anchor="ctr"/>
          <a:lstStyle/>
          <a:p>
            <a:pPr lvl="0" fontAlgn="base"/>
            <a:endParaRPr lang="zh-CN" altLang="en-US" strike="noStrike" noProof="1">
              <a:ea typeface="宋体" panose="02010600030101010101" pitchFamily="2" charset="-122"/>
            </a:endParaRPr>
          </a:p>
        </p:txBody>
      </p:sp>
      <p:sp>
        <p:nvSpPr>
          <p:cNvPr id="5" name="Slide Number Placeholder 4"/>
          <p:cNvSpPr>
            <a:spLocks noGrp="1"/>
          </p:cNvSpPr>
          <p:nvPr>
            <p:ph type="sldNum" sz="quarter" idx="12"/>
          </p:nvPr>
        </p:nvSpPr>
        <p:spPr>
          <a:xfrm>
            <a:off x="6458442" y="6356350"/>
            <a:ext cx="2057936" cy="366713"/>
          </a:xfrm>
          <a:prstGeom prst="rect">
            <a:avLst/>
          </a:prstGeom>
        </p:spPr>
        <p:txBody>
          <a:bodyPr vert="horz" lIns="91440" tIns="45720" rIns="91440" bIns="45720" rtlCol="0" anchor="ct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fontAlgn="auto"/>
            <a:r>
              <a:rPr lang="zh-CN" altLang="en-US" strike="noStrike" noProof="1"/>
              <a:t>单击图标添加图片</a:t>
            </a:r>
            <a:endParaRPr lang="en-US" strike="noStrike" noProof="1"/>
          </a:p>
        </p:txBody>
      </p:sp>
      <p:sp>
        <p:nvSpPr>
          <p:cNvPr id="4" name="Text Placeholder 3"/>
          <p:cNvSpPr>
            <a:spLocks noGrp="1"/>
          </p:cNvSpPr>
          <p:nvPr>
            <p:ph type="body" sz="half" idx="2"/>
          </p:nvPr>
        </p:nvSpPr>
        <p:spPr>
          <a:xfrm>
            <a:off x="629880" y="2057400"/>
            <a:ext cx="3124099"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6" name="任意多边形 5"/>
          <p:cNvSpPr/>
          <p:nvPr>
            <p:custDataLst>
              <p:tags r:id="rId1"/>
            </p:custDataLst>
          </p:nvPr>
        </p:nvSpPr>
        <p:spPr bwMode="auto">
          <a:xfrm rot="5400000">
            <a:off x="-1383867" y="2308225"/>
            <a:ext cx="5157940"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5" name="任意多边形 4"/>
          <p:cNvSpPr/>
          <p:nvPr>
            <p:custDataLst>
              <p:tags r:id="rId2"/>
            </p:custDataLst>
          </p:nvPr>
        </p:nvSpPr>
        <p:spPr bwMode="auto">
          <a:xfrm rot="6500300">
            <a:off x="-1632177" y="2631281"/>
            <a:ext cx="5142458"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4" name="Freeform 10"/>
          <p:cNvSpPr/>
          <p:nvPr>
            <p:custDataLst>
              <p:tags r:id="rId3"/>
            </p:custDataLst>
          </p:nvPr>
        </p:nvSpPr>
        <p:spPr bwMode="auto">
          <a:xfrm rot="900000">
            <a:off x="880101" y="2084388"/>
            <a:ext cx="1175453" cy="1511300"/>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7" name="任意多边形 6"/>
          <p:cNvSpPr/>
          <p:nvPr>
            <p:custDataLst>
              <p:tags r:id="rId4"/>
            </p:custDataLst>
          </p:nvPr>
        </p:nvSpPr>
        <p:spPr bwMode="auto">
          <a:xfrm rot="6693539">
            <a:off x="-1237977" y="2451894"/>
            <a:ext cx="5117449"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0" name="Freeform 6"/>
          <p:cNvSpPr/>
          <p:nvPr>
            <p:custDataLst>
              <p:tags r:id="rId5"/>
            </p:custDataLst>
          </p:nvPr>
        </p:nvSpPr>
        <p:spPr bwMode="auto">
          <a:xfrm>
            <a:off x="489475" y="1141413"/>
            <a:ext cx="263197" cy="357188"/>
          </a:xfrm>
          <a:prstGeom prst="rect">
            <a:avLst/>
          </a:prstGeom>
          <a:solidFill>
            <a:schemeClr val="accent1"/>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1" name="Freeform 7"/>
          <p:cNvSpPr/>
          <p:nvPr>
            <p:custDataLst>
              <p:tags r:id="rId6"/>
            </p:custDataLst>
          </p:nvPr>
        </p:nvSpPr>
        <p:spPr bwMode="auto">
          <a:xfrm>
            <a:off x="282252" y="4922838"/>
            <a:ext cx="413255" cy="557213"/>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2" name="Freeform 8"/>
          <p:cNvSpPr/>
          <p:nvPr>
            <p:custDataLst>
              <p:tags r:id="rId7"/>
            </p:custDataLst>
          </p:nvPr>
        </p:nvSpPr>
        <p:spPr bwMode="auto">
          <a:xfrm>
            <a:off x="1600617" y="5073650"/>
            <a:ext cx="307261" cy="4064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36" name="Freeform 22"/>
          <p:cNvSpPr/>
          <p:nvPr>
            <p:custDataLst>
              <p:tags r:id="rId8"/>
            </p:custDataLst>
          </p:nvPr>
        </p:nvSpPr>
        <p:spPr bwMode="auto">
          <a:xfrm rot="5400000">
            <a:off x="557358" y="2586038"/>
            <a:ext cx="1281446" cy="18923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 name="日期占位符 1"/>
          <p:cNvSpPr>
            <a:spLocks noGrp="1"/>
          </p:cNvSpPr>
          <p:nvPr>
            <p:ph type="dt" sz="half" idx="10"/>
          </p:nvPr>
        </p:nvSpPr>
        <p:spPr>
          <a:xfrm>
            <a:off x="628814" y="6356350"/>
            <a:ext cx="2057936" cy="366713"/>
          </a:xfrm>
          <a:prstGeom prst="rect">
            <a:avLst/>
          </a:prstGeom>
        </p:spPr>
        <p:txBody>
          <a:bodyPr vert="horz" lIns="91440" tIns="45720" rIns="91440" bIns="45720" rtlCol="0" anchor="ctr"/>
          <a:lstStyle/>
          <a:p>
            <a:pPr fontAlgn="base"/>
            <a:fld id="{6554F731-F1D9-405D-9569-D30D95C59ADF}" type="datetimeFigureOut">
              <a:rPr lang="zh-CN" altLang="en-US" strike="noStrike" noProof="1" smtClean="0">
                <a:latin typeface="FrutigerNext LT Regular" pitchFamily="2" charset="0"/>
                <a:ea typeface="华文细黑" panose="02010600040101010101" pitchFamily="2" charset="-122"/>
                <a:cs typeface="+mn-cs"/>
              </a:rPr>
              <a:t>2022/12/1</a:t>
            </a:fld>
            <a:endParaRPr lang="zh-CN" altLang="en-US" strike="noStrike" noProof="1"/>
          </a:p>
        </p:txBody>
      </p:sp>
      <p:sp>
        <p:nvSpPr>
          <p:cNvPr id="3" name="页脚占位符 2"/>
          <p:cNvSpPr>
            <a:spLocks noGrp="1"/>
          </p:cNvSpPr>
          <p:nvPr>
            <p:ph type="ftr" sz="quarter" idx="11"/>
          </p:nvPr>
        </p:nvSpPr>
        <p:spPr>
          <a:xfrm>
            <a:off x="3028548" y="6356350"/>
            <a:ext cx="3086904" cy="366713"/>
          </a:xfrm>
          <a:prstGeom prst="rect">
            <a:avLst/>
          </a:prstGeom>
        </p:spPr>
        <p:txBody>
          <a:bodyPr vert="horz" lIns="91440" tIns="45720" rIns="91440" bIns="45720" rtlCol="0" anchor="ctr"/>
          <a:lstStyle/>
          <a:p>
            <a:pPr fontAlgn="base"/>
            <a:endParaRPr lang="zh-CN" altLang="en-US" strike="noStrike" noProof="1"/>
          </a:p>
        </p:txBody>
      </p:sp>
      <p:sp>
        <p:nvSpPr>
          <p:cNvPr id="4" name="灯片编号占位符 3"/>
          <p:cNvSpPr>
            <a:spLocks noGrp="1"/>
          </p:cNvSpPr>
          <p:nvPr>
            <p:ph type="sldNum" sz="quarter" idx="12"/>
          </p:nvPr>
        </p:nvSpPr>
        <p:spPr>
          <a:xfrm>
            <a:off x="6458442" y="6356350"/>
            <a:ext cx="2057936" cy="366713"/>
          </a:xfrm>
          <a:prstGeom prst="rect">
            <a:avLst/>
          </a:prstGeom>
        </p:spPr>
        <p:txBody>
          <a:bodyPr vert="horz" lIns="91440" tIns="45720" rIns="91440" bIns="45720" rtlCol="0" anchor="ctr"/>
          <a:lstStyle/>
          <a:p>
            <a:pPr fontAlgn="base"/>
            <a:fld id="{341D1296-2E93-47A3-B509-9CB210ECFEC1}" type="slidenum">
              <a:rPr lang="zh-CN" altLang="en-US" strike="noStrike" noProof="1" smtClean="0">
                <a:latin typeface="FrutigerNext LT Regular" pitchFamily="2" charset="0"/>
                <a:ea typeface="华文细黑" panose="02010600040101010101" pitchFamily="2" charset="-122"/>
                <a:cs typeface="+mn-cs"/>
              </a:rPr>
              <a:t>‹#›</a:t>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0" grpId="0" bldLvl="0" animBg="1"/>
      <p:bldP spid="21" grpId="0" bldLvl="0" animBg="1"/>
      <p:bldP spid="22" grpId="0" bldLvl="0" animBg="1"/>
      <p:bldP spid="36" grpId="0" bldLvl="0" animBg="1"/>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5122" name="Picture 2" descr="2"/>
          <p:cNvPicPr>
            <a:picLocks noChangeAspect="1"/>
          </p:cNvPicPr>
          <p:nvPr/>
        </p:nvPicPr>
        <p:blipFill>
          <a:blip r:embed="rId2"/>
          <a:stretch>
            <a:fillRect/>
          </a:stretch>
        </p:blipFill>
        <p:spPr>
          <a:xfrm>
            <a:off x="-14291" y="754063"/>
            <a:ext cx="9142809" cy="3810000"/>
          </a:xfrm>
          <a:prstGeom prst="rect">
            <a:avLst/>
          </a:prstGeom>
          <a:noFill/>
          <a:ln w="9525">
            <a:noFill/>
          </a:ln>
        </p:spPr>
      </p:pic>
      <p:pic>
        <p:nvPicPr>
          <p:cNvPr id="5123" name="Picture 6" descr="院徽副本"/>
          <p:cNvPicPr>
            <a:picLocks noChangeAspect="1"/>
          </p:cNvPicPr>
          <p:nvPr/>
        </p:nvPicPr>
        <p:blipFill>
          <a:blip r:embed="rId3"/>
          <a:stretch>
            <a:fillRect/>
          </a:stretch>
        </p:blipFill>
        <p:spPr>
          <a:xfrm>
            <a:off x="7758943" y="823913"/>
            <a:ext cx="957512" cy="1189037"/>
          </a:xfrm>
          <a:prstGeom prst="rect">
            <a:avLst/>
          </a:prstGeom>
          <a:noFill/>
          <a:ln w="9525">
            <a:noFill/>
          </a:ln>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charset="-122"/>
                <a:ea typeface="微软雅黑" panose="020B0503020204020204" charset="-122"/>
              </a:defRPr>
            </a:lvl1pPr>
          </a:lstStyle>
          <a:p>
            <a:pPr fontAlgn="base"/>
            <a:r>
              <a:rPr lang="zh-CN" altLang="en-US" strike="noStrike"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charset="-122"/>
                <a:ea typeface="微软雅黑" panose="020B0503020204020204" charset="-122"/>
              </a:defRPr>
            </a:lvl1pPr>
          </a:lstStyle>
          <a:p>
            <a:pPr fontAlgn="base"/>
            <a:r>
              <a:rPr lang="zh-CN" altLang="en-US" sz="3065" strike="noStrike" noProof="1"/>
              <a:t>单击此处编辑母版副标题样式</a:t>
            </a:r>
            <a:endParaRPr lang="zh-CN" altLang="en-US" strike="noStrike" noProof="1"/>
          </a:p>
        </p:txBody>
      </p:sp>
      <p:sp>
        <p:nvSpPr>
          <p:cNvPr id="12" name="Rectangle 5"/>
          <p:cNvSpPr>
            <a:spLocks noGrp="1" noChangeArrowheads="1"/>
          </p:cNvSpPr>
          <p:nvPr>
            <p:ph type="dt" sz="quarter" idx="2"/>
          </p:nvPr>
        </p:nvSpPr>
        <p:spPr bwMode="auto">
          <a:xfrm>
            <a:off x="8050722" y="4246563"/>
            <a:ext cx="2134156" cy="473075"/>
          </a:xfrm>
          <a:prstGeom prst="rect">
            <a:avLst/>
          </a:prstGeom>
          <a:noFill/>
          <a:ln w="9525">
            <a:noFill/>
            <a:miter lim="800000"/>
          </a:ln>
          <a:effectLst/>
        </p:spPr>
        <p:txBody>
          <a:bodyPr vert="horz" wrap="square" lIns="71551" tIns="35775" rIns="71551" bIns="35775" numCol="1" anchor="t" anchorCtr="0" compatLnSpc="1"/>
          <a:lstStyle>
            <a:lvl1pPr>
              <a:lnSpc>
                <a:spcPct val="100000"/>
              </a:lnSpc>
              <a:defRPr>
                <a:latin typeface="FrutigerNext LT Regular" pitchFamily="2"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8C9600A3-AC53-410A-A21C-D3D4BEE729DE}" type="datetime1">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rPr>
              <a:t>2022/12/1</a:t>
            </a:fld>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日期占位符 3"/>
          <p:cNvSpPr>
            <a:spLocks noGrp="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lvl1pPr>
              <a:defRPr/>
            </a:lvl1pPr>
          </a:lstStyle>
          <a:p>
            <a:pPr marL="0" marR="0" lvl="0" indent="0" algn="l" defTabSz="914400" rtl="0" eaLnBrk="0" fontAlgn="base" latinLnBrk="0" hangingPunct="0">
              <a:lnSpc>
                <a:spcPct val="85000"/>
              </a:lnSpc>
              <a:spcBef>
                <a:spcPct val="0"/>
              </a:spcBef>
              <a:spcAft>
                <a:spcPct val="0"/>
              </a:spcAft>
              <a:buClrTx/>
              <a:buSzTx/>
              <a:buFontTx/>
              <a:buNone/>
              <a:defRPr/>
            </a:pPr>
            <a:endParaRPr kumimoji="0" lang="en-GB" altLang="en-US" sz="1100" b="0" i="0" u="none" strike="noStrike" kern="1200" cap="none" spc="0" normalizeH="0" baseline="0" noProof="0">
              <a:ln>
                <a:noFill/>
              </a:ln>
              <a:solidFill>
                <a:schemeClr val="tx1"/>
              </a:solidFill>
              <a:effectLst/>
              <a:uLnTx/>
              <a:uFillTx/>
              <a:latin typeface="FrutigerNext LT Bold" pitchFamily="4" charset="0"/>
              <a:ea typeface="MS PGothic" panose="020B0600070205080204" pitchFamily="34" charset="-128"/>
              <a:cs typeface="+mn-cs"/>
            </a:endParaRPr>
          </a:p>
        </p:txBody>
      </p:sp>
      <p:sp>
        <p:nvSpPr>
          <p:cNvPr id="11" name="页脚占位符 4"/>
          <p:cNvSpPr>
            <a:spLocks noGrp="1"/>
          </p:cNvSpPr>
          <p:nvPr>
            <p:ph type="ftr" sz="quarter" idx="3"/>
          </p:nvPr>
        </p:nvSpPr>
        <p:spPr bwMode="auto">
          <a:xfrm>
            <a:off x="146485" y="6572250"/>
            <a:ext cx="4868543" cy="319088"/>
          </a:xfrm>
          <a:prstGeom prst="rect">
            <a:avLst/>
          </a:prstGeom>
          <a:noFill/>
          <a:ln>
            <a:miter lim="800000"/>
          </a:ln>
        </p:spPr>
        <p:txBody>
          <a:bodyPr vert="horz" wrap="square" lIns="74505" tIns="37253" rIns="74505" bIns="37253" numCol="1" anchor="t" anchorCtr="0" compatLnSpc="1"/>
          <a:lstStyle>
            <a:lvl1pPr>
              <a:defRPr sz="1100">
                <a:latin typeface="FrutigerNext LT Regular" pitchFamily="2" charset="0"/>
                <a:ea typeface="华文细黑" panose="0201060004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 HTTP://DLS.ZZU.EDU.CN</a:t>
            </a:r>
            <a:r>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37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7" name="页脚占位符 6"/>
          <p:cNvSpPr>
            <a:spLocks noGrp="1"/>
          </p:cNvSpPr>
          <p:nvPr>
            <p:ph type="ftr" sz="quarter" idx="13"/>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485" y="6572250"/>
            <a:ext cx="4868543" cy="319088"/>
          </a:xfrm>
          <a:prstGeom prst="rect">
            <a:avLst/>
          </a:prstGeom>
          <a:noFill/>
          <a:ln>
            <a:miter lim="800000"/>
          </a:ln>
        </p:spPr>
        <p:txBody>
          <a:bodyPr vert="horz" wrap="square" lIns="74505" tIns="37253" rIns="74505" bIns="37253" numCol="1" anchor="t" anchorCtr="0" compatLnSpc="1"/>
          <a:lstStyle>
            <a:lvl1pPr>
              <a:defRPr sz="1300">
                <a:latin typeface="FrutigerNext LT Regular" pitchFamily="2" charset="0"/>
                <a:ea typeface="华文细黑" panose="0201060004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3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 HTTP://DLS.ZZU.EDU.CN</a:t>
            </a:r>
            <a:r>
              <a:rPr kumimoji="0" lang="zh-CN" altLang="en-US" sz="13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2" name="页脚占位符 1"/>
          <p:cNvSpPr>
            <a:spLocks noGrp="1"/>
          </p:cNvSpPr>
          <p:nvPr>
            <p:ph type="ftr" sz="quarter" idx="10"/>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
                <a:schemeClr val="bg2"/>
              </a:buClr>
              <a:buSzPct val="60000"/>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430893"/>
            <a:ext cx="5812127" cy="5405059"/>
          </a:xfrm>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485" y="6572250"/>
            <a:ext cx="4868543" cy="319088"/>
          </a:xfrm>
          <a:prstGeom prst="rect">
            <a:avLst/>
          </a:prstGeom>
          <a:noFill/>
          <a:ln>
            <a:miter lim="800000"/>
          </a:ln>
        </p:spPr>
        <p:txBody>
          <a:bodyPr vert="horz" wrap="square" lIns="74505" tIns="37253" rIns="74505" bIns="37253"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pPr fontAlgn="base"/>
            <a:r>
              <a:rPr lang="zh-CN" altLang="en-US" sz="41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41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Tx/>
              <a:buSzTx/>
              <a:buFontTx/>
              <a:buNone/>
              <a:defRPr/>
            </a:pPr>
            <a:endParaRPr kumimoji="0" lang="zh-CN" altLang="en-US" sz="26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638024"/>
            <a:ext cx="5812127" cy="5197928"/>
          </a:xfrm>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z="3335" strike="noStrike" noProof="1"/>
              <a:t>单击此处编辑母版副标题样式</a:t>
            </a:r>
            <a:endParaRPr lang="zh-CN" altLang="en-US" strike="noStrike" noProof="1"/>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pPr fontAlgn="base"/>
            <a:r>
              <a:rPr lang="zh-CN" altLang="en-US" sz="45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00000"/>
              </a:lnSpc>
              <a:spcBef>
                <a:spcPct val="20000"/>
              </a:spcBef>
              <a:spcAft>
                <a:spcPct val="0"/>
              </a:spcAft>
              <a:buClrTx/>
              <a:buSzTx/>
              <a:buFontTx/>
              <a:buNone/>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2.pn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3.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2.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theme" Target="../theme/theme4.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56"/>
          <a:stretch>
            <a:fillRect/>
          </a:stretch>
        </a:blipFill>
        <a:effectLst/>
      </p:bgPr>
    </p:bg>
    <p:spTree>
      <p:nvGrpSpPr>
        <p:cNvPr id="1" name=""/>
        <p:cNvGrpSpPr/>
        <p:nvPr/>
      </p:nvGrpSpPr>
      <p:grpSpPr>
        <a:xfrm>
          <a:off x="0" y="0"/>
          <a:ext cx="0" cy="0"/>
          <a:chOff x="0" y="0"/>
          <a:chExt cx="0" cy="0"/>
        </a:xfrm>
      </p:grpSpPr>
      <p:sp>
        <p:nvSpPr>
          <p:cNvPr id="4098" name="Title Placeholder 1"/>
          <p:cNvSpPr>
            <a:spLocks noGrp="1"/>
          </p:cNvSpPr>
          <p:nvPr>
            <p:ph type="title"/>
            <p:custDataLst>
              <p:tags r:id="rId54"/>
            </p:custDataLst>
          </p:nvPr>
        </p:nvSpPr>
        <p:spPr>
          <a:xfrm>
            <a:off x="628814" y="366713"/>
            <a:ext cx="7887564" cy="863600"/>
          </a:xfrm>
          <a:prstGeom prst="rect">
            <a:avLst/>
          </a:prstGeom>
          <a:noFill/>
          <a:ln w="9525">
            <a:noFill/>
          </a:ln>
        </p:spPr>
        <p:txBody>
          <a:bodyPr lIns="91440" tIns="45720" rIns="91440" bIns="45720" anchor="ctr"/>
          <a:lstStyle/>
          <a:p>
            <a:pPr lvl="0"/>
            <a:r>
              <a:rPr lang="zh-CN" altLang="en-US"/>
              <a:t>单击此处编辑母版标题样式</a:t>
            </a:r>
            <a:endParaRPr lang="en-US" altLang="zh-CN" dirty="0"/>
          </a:p>
        </p:txBody>
      </p:sp>
      <p:sp>
        <p:nvSpPr>
          <p:cNvPr id="3" name="Text Placeholder 2"/>
          <p:cNvSpPr>
            <a:spLocks noGrp="1"/>
          </p:cNvSpPr>
          <p:nvPr>
            <p:ph type="body" idx="1"/>
            <p:custDataLst>
              <p:tags r:id="rId55"/>
            </p:custDataLst>
          </p:nvPr>
        </p:nvSpPr>
        <p:spPr>
          <a:xfrm>
            <a:off x="628814" y="1462088"/>
            <a:ext cx="7887564" cy="4714875"/>
          </a:xfrm>
          <a:prstGeom prst="rect">
            <a:avLst/>
          </a:prstGeom>
        </p:spPr>
        <p:txBody>
          <a:bodyPr vert="horz" lIns="91440" tIns="45720" rIns="91440" bIns="4572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2"/>
          </p:nvPr>
        </p:nvSpPr>
        <p:spPr>
          <a:xfrm>
            <a:off x="628814" y="6356350"/>
            <a:ext cx="2057936" cy="366713"/>
          </a:xfrm>
          <a:prstGeom prst="rect">
            <a:avLst/>
          </a:prstGeom>
        </p:spPr>
        <p:txBody>
          <a:bodyPr vert="horz" lIns="91440" tIns="45720" rIns="91440" bIns="45720" rtlCol="0" anchor="ctr"/>
          <a:lstStyle>
            <a:lvl1pPr algn="l">
              <a:defRPr sz="900">
                <a:solidFill>
                  <a:schemeClr val="tx1">
                    <a:tint val="75000"/>
                  </a:schemeClr>
                </a:solidFill>
              </a:defRPr>
            </a:lvl1p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3028548" y="6356350"/>
            <a:ext cx="3086904" cy="366713"/>
          </a:xfrm>
          <a:prstGeom prst="rect">
            <a:avLst/>
          </a:prstGeom>
        </p:spPr>
        <p:txBody>
          <a:bodyPr vert="horz" lIns="91440" tIns="45720" rIns="91440" bIns="45720" rtlCol="0" anchor="ctr"/>
          <a:lstStyle>
            <a:lvl1pPr algn="ctr">
              <a:defRPr sz="900">
                <a:solidFill>
                  <a:schemeClr val="tx1">
                    <a:tint val="75000"/>
                  </a:schemeClr>
                </a:solidFill>
              </a:defRPr>
            </a:lvl1pPr>
          </a:lstStyle>
          <a:p>
            <a:pPr lvl="0"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4"/>
          </p:nvPr>
        </p:nvSpPr>
        <p:spPr>
          <a:xfrm>
            <a:off x="6458442" y="6356350"/>
            <a:ext cx="2057936" cy="366713"/>
          </a:xfrm>
          <a:prstGeom prst="rect">
            <a:avLst/>
          </a:prstGeom>
        </p:spPr>
        <p:txBody>
          <a:bodyPr vert="horz" lIns="91440" tIns="45720" rIns="91440" bIns="45720" rtlCol="0" anchor="ctr"/>
          <a:lstStyle>
            <a:lvl1pPr algn="r">
              <a:defRPr sz="900">
                <a:solidFill>
                  <a:schemeClr val="tx1">
                    <a:tint val="75000"/>
                  </a:schemeClr>
                </a:solidFill>
              </a:defRPr>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p:titleStyle>
    <p:body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7"/>
          <p:cNvPicPr>
            <a:picLocks noChangeAspect="1"/>
          </p:cNvPicPr>
          <p:nvPr/>
        </p:nvPicPr>
        <p:blipFill>
          <a:blip r:embed="rId13"/>
          <a:stretch>
            <a:fillRect/>
          </a:stretch>
        </p:blipFill>
        <p:spPr>
          <a:xfrm>
            <a:off x="0" y="6572250"/>
            <a:ext cx="9142809" cy="285750"/>
          </a:xfrm>
          <a:prstGeom prst="rect">
            <a:avLst/>
          </a:prstGeom>
          <a:noFill/>
          <a:ln w="9525">
            <a:noFill/>
          </a:ln>
        </p:spPr>
      </p:pic>
      <p:sp>
        <p:nvSpPr>
          <p:cNvPr id="1027"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lvl1pPr algn="l">
              <a:defRPr sz="1100">
                <a:latin typeface="FrutigerNext LT Bold" pitchFamily="4" charset="0"/>
                <a:ea typeface="MS PGothic" panose="020B0600070205080204" pitchFamily="34" charset="-128"/>
              </a:defRPr>
            </a:lvl1pPr>
          </a:lstStyle>
          <a:p>
            <a:pPr lvl="0"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100" strike="noStrike" noProof="1" dirty="0">
                <a:latin typeface="FrutigerNext LT Bold" pitchFamily="4" charset="0"/>
                <a:ea typeface="MS PGothic" panose="020B0600070205080204" pitchFamily="34" charset="-128"/>
                <a:cs typeface="+mn-cs"/>
              </a:rPr>
              <a:t>‹#›</a:t>
            </a:fld>
            <a:endParaRPr lang="de-DE" altLang="en-US" sz="1100" strike="noStrike" noProof="1">
              <a:latin typeface="FrutigerNext LT Bold" pitchFamily="4" charset="0"/>
              <a:ea typeface="MS PGothic" panose="020B0600070205080204" pitchFamily="34" charset="-128"/>
            </a:endParaRPr>
          </a:p>
        </p:txBody>
      </p:sp>
      <p:sp>
        <p:nvSpPr>
          <p:cNvPr id="1028" name="Rectangle 4"/>
          <p:cNvSpPr>
            <a:spLocks noGrp="1"/>
          </p:cNvSpPr>
          <p:nvPr>
            <p:ph type="title"/>
          </p:nvPr>
        </p:nvSpPr>
        <p:spPr>
          <a:xfrm>
            <a:off x="652632" y="190500"/>
            <a:ext cx="7745842" cy="869950"/>
          </a:xfrm>
          <a:prstGeom prst="rect">
            <a:avLst/>
          </a:prstGeom>
          <a:noFill/>
          <a:ln w="9525">
            <a:noFill/>
          </a:ln>
        </p:spPr>
        <p:txBody>
          <a:bodyPr lIns="71551" tIns="35775" rIns="71551" bIns="35775" anchor="ctr"/>
          <a:lstStyle/>
          <a:p>
            <a:pPr lvl="0" fontAlgn="base"/>
            <a:r>
              <a:rPr lang="zh-CN" altLang="en-US" sz="3735" strike="noStrike" noProof="1"/>
              <a:t>单击此处编辑母版标题样式</a:t>
            </a:r>
            <a:endParaRPr lang="zh-CN" altLang="en-US" strike="noStrike" noProof="1"/>
          </a:p>
        </p:txBody>
      </p:sp>
      <p:sp>
        <p:nvSpPr>
          <p:cNvPr id="1029" name="Rectangle 5"/>
          <p:cNvSpPr>
            <a:spLocks noGrp="1"/>
          </p:cNvSpPr>
          <p:nvPr>
            <p:ph type="body"/>
          </p:nvPr>
        </p:nvSpPr>
        <p:spPr>
          <a:xfrm>
            <a:off x="652632" y="1428750"/>
            <a:ext cx="7930437" cy="4667250"/>
          </a:xfrm>
          <a:prstGeom prst="rect">
            <a:avLst/>
          </a:prstGeom>
          <a:noFill/>
          <a:ln w="9525">
            <a:noFill/>
          </a:ln>
        </p:spPr>
        <p:txBody>
          <a:bodyPr lIns="71562" tIns="35781" rIns="71562" bIns="35781" anchor="t"/>
          <a:lstStyle/>
          <a:p>
            <a:pPr lvl="0" indent="-266700" fontAlgn="base"/>
            <a:r>
              <a:rPr lang="zh-CN" altLang="en-US" sz="2665" strike="noStrike" noProof="1"/>
              <a:t>单击此处编辑母版文本样式</a:t>
            </a:r>
            <a:endParaRPr lang="zh-CN" altLang="en-US" strike="noStrike" noProof="1"/>
          </a:p>
          <a:p>
            <a:pPr lvl="1" indent="-222250" fontAlgn="base"/>
            <a:r>
              <a:rPr lang="zh-CN" altLang="en-US" sz="266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9070" fontAlgn="base"/>
            <a:r>
              <a:rPr lang="zh-CN" altLang="en-US" sz="2665" strike="noStrike" noProof="1"/>
              <a:t>第四级</a:t>
            </a:r>
            <a:endParaRPr lang="zh-CN" altLang="en-US" strike="noStrike" noProof="1"/>
          </a:p>
          <a:p>
            <a:pPr lvl="4" indent="-179070" fontAlgn="base"/>
            <a:r>
              <a:rPr lang="zh-CN" altLang="en-US" sz="2665" strike="noStrike" noProof="1"/>
              <a:t>第五级</a:t>
            </a:r>
            <a:endParaRPr lang="zh-CN" altLang="en-US" strike="noStrike" noProof="1"/>
          </a:p>
        </p:txBody>
      </p:sp>
      <p:pic>
        <p:nvPicPr>
          <p:cNvPr id="1030" name="Picture 6" descr="院徽副本"/>
          <p:cNvPicPr>
            <a:picLocks noChangeAspect="1"/>
          </p:cNvPicPr>
          <p:nvPr/>
        </p:nvPicPr>
        <p:blipFill>
          <a:blip r:embed="rId14"/>
          <a:stretch>
            <a:fillRect/>
          </a:stretch>
        </p:blipFill>
        <p:spPr>
          <a:xfrm>
            <a:off x="7904237" y="190500"/>
            <a:ext cx="740762" cy="890588"/>
          </a:xfrm>
          <a:prstGeom prst="rect">
            <a:avLst/>
          </a:prstGeom>
          <a:noFill/>
          <a:ln w="9525">
            <a:noFill/>
          </a:ln>
        </p:spPr>
      </p:pic>
      <p:sp>
        <p:nvSpPr>
          <p:cNvPr id="7" name="Line 4"/>
          <p:cNvSpPr>
            <a:spLocks noChangeShapeType="1"/>
          </p:cNvSpPr>
          <p:nvPr/>
        </p:nvSpPr>
        <p:spPr bwMode="auto">
          <a:xfrm>
            <a:off x="19055" y="1143000"/>
            <a:ext cx="9080881" cy="0"/>
          </a:xfrm>
          <a:prstGeom prst="line">
            <a:avLst/>
          </a:prstGeom>
          <a:noFill/>
          <a:ln w="38100" cap="flat" cmpd="dbl">
            <a:solidFill>
              <a:srgbClr val="B2B2B2"/>
            </a:solidFill>
            <a:round/>
          </a:ln>
          <a:effectLst/>
        </p:spPr>
        <p:txBody>
          <a:bodyPr lIns="55893" tIns="27947" rIns="55893" bIns="27947"/>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10" name="页脚占位符 4"/>
          <p:cNvSpPr>
            <a:spLocks noGrp="1"/>
          </p:cNvSpPr>
          <p:nvPr>
            <p:ph type="ftr" sz="quarter" idx="3"/>
          </p:nvPr>
        </p:nvSpPr>
        <p:spPr bwMode="auto">
          <a:xfrm>
            <a:off x="146485" y="6572250"/>
            <a:ext cx="4868543" cy="319088"/>
          </a:xfrm>
          <a:prstGeom prst="rect">
            <a:avLst/>
          </a:prstGeom>
          <a:noFill/>
          <a:ln>
            <a:miter lim="800000"/>
          </a:ln>
        </p:spPr>
        <p:txBody>
          <a:bodyPr vert="horz" wrap="square" lIns="74505" tIns="37253" rIns="74505" bIns="37253" numCol="1" anchor="t" anchorCtr="0" compatLnSpc="1"/>
          <a:lstStyle>
            <a:lvl1pPr>
              <a:defRPr sz="900">
                <a:latin typeface="微软雅黑" panose="020B0503020204020204" charset="-122"/>
                <a:ea typeface="微软雅黑" panose="020B050302020402020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 HTTP://DLS.ZZU.EDU.CN</a:t>
            </a:r>
            <a:r>
              <a:rPr kumimoji="0" lang="zh-CN" altLang="en-US"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charset="-122"/>
          <a:ea typeface="微软雅黑" panose="020B050302020402020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charset="-122"/>
          <a:ea typeface="微软雅黑" panose="020B050302020402020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charset="-122"/>
          <a:ea typeface="微软雅黑" panose="020B0503020204020204" charset="-122"/>
        </a:defRPr>
      </a:lvl3pPr>
      <a:lvl4pPr marL="1251585"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charset="-122"/>
          <a:ea typeface="微软雅黑" panose="020B0503020204020204" charset="-122"/>
        </a:defRPr>
      </a:lvl4pPr>
      <a:lvl5pPr marL="1610360" indent="-179705"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55" y="98267"/>
            <a:ext cx="238760" cy="252730"/>
          </a:xfrm>
          <a:prstGeom prst="rect">
            <a:avLst/>
          </a:prstGeom>
          <a:solidFill>
            <a:srgbClr val="DDDDDD"/>
          </a:solidFill>
          <a:ln w="9525">
            <a:noFill/>
            <a:miter lim="800000"/>
          </a:ln>
          <a:effectLst/>
        </p:spPr>
        <p:txBody>
          <a:bodyPr wrap="none" lIns="55884" tIns="27941" rIns="55884" bIns="27941"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2051" name="Rectangle 3"/>
          <p:cNvSpPr>
            <a:spLocks noGrp="1"/>
          </p:cNvSpPr>
          <p:nvPr>
            <p:ph type="title"/>
          </p:nvPr>
        </p:nvSpPr>
        <p:spPr>
          <a:xfrm>
            <a:off x="652632" y="636588"/>
            <a:ext cx="7930437" cy="869950"/>
          </a:xfrm>
          <a:prstGeom prst="rect">
            <a:avLst/>
          </a:prstGeom>
          <a:noFill/>
          <a:ln w="9525">
            <a:noFill/>
          </a:ln>
        </p:spPr>
        <p:txBody>
          <a:bodyPr lIns="71562" tIns="35781" rIns="71562" bIns="35781" anchor="ctr"/>
          <a:lstStyle/>
          <a:p>
            <a:pPr lvl="0" fontAlgn="base"/>
            <a:r>
              <a:rPr lang="zh-CN" altLang="en-US" sz="4135" strike="noStrike" noProof="1"/>
              <a:t>单击此处编辑母版标题样式</a:t>
            </a:r>
            <a:endParaRPr lang="zh-CN" altLang="en-US" strike="noStrike" noProof="1"/>
          </a:p>
        </p:txBody>
      </p:sp>
      <p:sp>
        <p:nvSpPr>
          <p:cNvPr id="2052" name="Rectangle 4"/>
          <p:cNvSpPr>
            <a:spLocks noGrp="1"/>
          </p:cNvSpPr>
          <p:nvPr>
            <p:ph type="body"/>
          </p:nvPr>
        </p:nvSpPr>
        <p:spPr>
          <a:xfrm>
            <a:off x="652632" y="1643063"/>
            <a:ext cx="7930437" cy="4192588"/>
          </a:xfrm>
          <a:prstGeom prst="rect">
            <a:avLst/>
          </a:prstGeom>
          <a:noFill/>
          <a:ln w="9525">
            <a:noFill/>
          </a:ln>
        </p:spPr>
        <p:txBody>
          <a:bodyPr lIns="71562" tIns="35781" rIns="71562" bIns="35781" anchor="t"/>
          <a:lstStyle/>
          <a:p>
            <a:pPr lvl="0" indent="-266700" fontAlgn="base"/>
            <a:r>
              <a:rPr lang="zh-CN" altLang="en-US" strike="noStrike" noProof="1"/>
              <a:t>单击此处编辑母版文本样式</a:t>
            </a:r>
          </a:p>
          <a:p>
            <a:pPr lvl="1" indent="-222250" fontAlgn="base"/>
            <a:r>
              <a:rPr lang="zh-CN" altLang="en-US" sz="293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7800" fontAlgn="base"/>
            <a:r>
              <a:rPr lang="zh-CN" altLang="en-US" sz="2535" strike="noStrike" noProof="1"/>
              <a:t>第四级</a:t>
            </a:r>
            <a:endParaRPr lang="zh-CN" altLang="en-US" strike="noStrike" noProof="1"/>
          </a:p>
          <a:p>
            <a:pPr lvl="4" indent="-179070" fontAlgn="base"/>
            <a:r>
              <a:rPr lang="zh-CN" altLang="en-US" sz="2265"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1585"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10360"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1585" indent="-179705" algn="l" defTabSz="714375" rtl="0" eaLnBrk="0" fontAlgn="base" hangingPunct="0">
        <a:spcBef>
          <a:spcPct val="20000"/>
        </a:spcBef>
        <a:spcAft>
          <a:spcPct val="0"/>
        </a:spcAft>
        <a:buChar char="–"/>
        <a:defRPr sz="1500">
          <a:solidFill>
            <a:schemeClr val="tx1"/>
          </a:solidFill>
          <a:latin typeface="+mn-lt"/>
          <a:ea typeface="+mn-ea"/>
        </a:defRPr>
      </a:lvl4pPr>
      <a:lvl5pPr marL="1610360" indent="-179705"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blog.csdn.net/weixin_41978699/article/details/121019672"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cloud.baidu.com/product/imageprocess/contrast_enhance" TargetMode="External"/><Relationship Id="rId2" Type="http://schemas.openxmlformats.org/officeDocument/2006/relationships/hyperlink" Target="https://cloud.baidu.com/product/imageprocess/dehaze" TargetMode="External"/><Relationship Id="rId1" Type="http://schemas.openxmlformats.org/officeDocument/2006/relationships/slideLayout" Target="../slideLayouts/slideLayout1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hyperlink" Target="https://cloud.baidu.com/product/imageprocess/image_definition_enhance"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hyperlink" Target="https://cloud.baidu.com/product/imageprocess/selfie_anime" TargetMode="External"/><Relationship Id="rId7" Type="http://schemas.openxmlformats.org/officeDocument/2006/relationships/image" Target="../media/image14.jpg"/><Relationship Id="rId2" Type="http://schemas.openxmlformats.org/officeDocument/2006/relationships/hyperlink" Target="https://cloud.baidu.com/product/imageprocess/colourize" TargetMode="External"/><Relationship Id="rId1" Type="http://schemas.openxmlformats.org/officeDocument/2006/relationships/slideLayout" Target="../slideLayouts/slideLayout12.xml"/><Relationship Id="rId6" Type="http://schemas.openxmlformats.org/officeDocument/2006/relationships/image" Target="../media/image13.jpg"/><Relationship Id="rId5" Type="http://schemas.openxmlformats.org/officeDocument/2006/relationships/image" Target="../media/image12.jpeg"/><Relationship Id="rId4" Type="http://schemas.openxmlformats.org/officeDocument/2006/relationships/hyperlink" Target="https://cloud.baidu.com/product/imageprocess/style_tran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cloud.baidu.com/product/imageprocess/stretch_restore" TargetMode="External"/><Relationship Id="rId2" Type="http://schemas.openxmlformats.org/officeDocument/2006/relationships/hyperlink" Target="https://cloud.baidu.com/product/imageprocess/inpainting" TargetMode="External"/><Relationship Id="rId1" Type="http://schemas.openxmlformats.org/officeDocument/2006/relationships/slideLayout" Target="../slideLayouts/slideLayout12.xml"/><Relationship Id="rId5" Type="http://schemas.openxmlformats.org/officeDocument/2006/relationships/image" Target="../media/image17.jpeg"/><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37197;&#22871;&#22270;&#20687;&#35270;&#39057;/&#21464;&#33080;.mp4"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15.xml"/><Relationship Id="rId6" Type="http://schemas.openxmlformats.org/officeDocument/2006/relationships/oleObject" Target="../embeddings/oleObject3.bin"/><Relationship Id="rId5" Type="http://schemas.openxmlformats.org/officeDocument/2006/relationships/image" Target="../media/image21.wmf"/><Relationship Id="rId4" Type="http://schemas.openxmlformats.org/officeDocument/2006/relationships/oleObject" Target="../embeddings/oleObject2.bin"/><Relationship Id="rId9" Type="http://schemas.openxmlformats.org/officeDocument/2006/relationships/image" Target="../media/image23.wmf"/></Relationships>
</file>

<file path=ppt/slides/_rels/slide2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5.bin"/><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1.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0.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34.wmf"/><Relationship Id="rId2" Type="http://schemas.openxmlformats.org/officeDocument/2006/relationships/notesSlide" Target="../notesSlides/notesSlide2.xml"/><Relationship Id="rId1" Type="http://schemas.openxmlformats.org/officeDocument/2006/relationships/slideLayout" Target="../slideLayouts/slideLayout46.xml"/><Relationship Id="rId6" Type="http://schemas.openxmlformats.org/officeDocument/2006/relationships/image" Target="../media/image31.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9.bin"/></Relationships>
</file>

<file path=ppt/slides/_rels/slide6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1.bin"/><Relationship Id="rId1" Type="http://schemas.openxmlformats.org/officeDocument/2006/relationships/slideLayout" Target="../slideLayouts/slideLayout47.xml"/></Relationships>
</file>

<file path=ppt/slides/_rels/slide62.xml.rels><?xml version="1.0" encoding="UTF-8" standalone="yes"?>
<Relationships xmlns="http://schemas.openxmlformats.org/package/2006/relationships"><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12.bin"/><Relationship Id="rId1" Type="http://schemas.openxmlformats.org/officeDocument/2006/relationships/slideLayout" Target="../slideLayouts/slideLayout48.xml"/><Relationship Id="rId6" Type="http://schemas.openxmlformats.org/officeDocument/2006/relationships/oleObject" Target="../embeddings/oleObject14.bin"/><Relationship Id="rId5" Type="http://schemas.openxmlformats.org/officeDocument/2006/relationships/image" Target="../media/image37.wmf"/><Relationship Id="rId4" Type="http://schemas.openxmlformats.org/officeDocument/2006/relationships/oleObject" Target="../embeddings/oleObject13.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file:///F:\&#21608;&#29747;&#23068;&#39640;&#25945;&#20986;&#29256;&#31038;&#25945;&#31185;&#20070;\&#25968;&#23383;&#22270;&#20687;&#21462;&#35777;(&#21271;&#37038;&#32534;&#20070;&#65289;\&#24191;&#40509;&#22330;\&#26080;&#24524;&#35770;&#22363;%20-%20&#24191;&#22330;&#40509;&#20107;&#20214;&#26368;&#26032;&#36827;&#23637;&#8212;&#8212;&#22362;&#20915;&#25293;&#27515;&#24352;&#39134;&#40509;.files\513446_1205571711.jpg" TargetMode="External"/><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8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2.xml"/><Relationship Id="rId4" Type="http://schemas.openxmlformats.org/officeDocument/2006/relationships/image" Target="../media/image74.jpe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jpeg"/><Relationship Id="rId1" Type="http://schemas.openxmlformats.org/officeDocument/2006/relationships/slideLayout" Target="../slideLayouts/slideLayout2.xml"/><Relationship Id="rId4" Type="http://schemas.openxmlformats.org/officeDocument/2006/relationships/image" Target="../media/image77.emf"/></Relationships>
</file>

<file path=ppt/slides/_rels/slide129.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2.xml"/><Relationship Id="rId4" Type="http://schemas.openxmlformats.org/officeDocument/2006/relationships/image" Target="../media/image83.jpeg"/></Relationships>
</file>

<file path=ppt/slides/_rels/slide13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94.pn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97.jpeg"/><Relationship Id="rId1" Type="http://schemas.openxmlformats.org/officeDocument/2006/relationships/slideLayout" Target="../slideLayouts/slideLayout2.xml"/><Relationship Id="rId5" Type="http://schemas.openxmlformats.org/officeDocument/2006/relationships/image" Target="file:///F:\&#21608;&#29747;&#23068;&#39640;&#25945;&#20986;&#29256;&#31038;&#25945;&#31185;&#20070;\&#25968;&#23383;&#22270;&#20687;&#21462;&#35777;(&#21271;&#37038;&#32534;&#20070;&#65289;\&#24191;&#40509;&#22330;\&#26080;&#24524;&#35770;&#22363;%20-%20&#24191;&#22330;&#40509;&#20107;&#20214;&#26368;&#26032;&#36827;&#23637;&#8212;&#8212;&#22362;&#20915;&#25293;&#27515;&#24352;&#39134;&#40509;.files\513446_1205571711.jpg" TargetMode="External"/><Relationship Id="rId4" Type="http://schemas.openxmlformats.org/officeDocument/2006/relationships/image" Target="../media/image47.jpe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a:t>
            </a:fld>
            <a:endParaRPr lang="zh-CN" altLang="en-US" sz="1400" b="0" dirty="0">
              <a:latin typeface="Times New Roman" panose="02020603050405020304" pitchFamily="18" charset="0"/>
              <a:ea typeface="宋体" panose="02010600030101010101" pitchFamily="2" charset="-122"/>
            </a:endParaRPr>
          </a:p>
        </p:txBody>
      </p:sp>
      <p:sp>
        <p:nvSpPr>
          <p:cNvPr id="2" name="副标题 1"/>
          <p:cNvSpPr>
            <a:spLocks noGrp="1"/>
          </p:cNvSpPr>
          <p:nvPr>
            <p:ph type="subTitle" idx="1"/>
          </p:nvPr>
        </p:nvSpPr>
        <p:spPr/>
        <p:txBody>
          <a:bodyPr/>
          <a:lstStyle/>
          <a:p>
            <a:pPr defTabSz="685800" eaLnBrk="1" hangingPunct="1">
              <a:buSzTx/>
            </a:pPr>
            <a:endParaRPr lang="zh-CN" altLang="en-US" dirty="0"/>
          </a:p>
        </p:txBody>
      </p:sp>
      <p:sp>
        <p:nvSpPr>
          <p:cNvPr id="2050" name="标题 2049"/>
          <p:cNvSpPr>
            <a:spLocks noGrp="1"/>
          </p:cNvSpPr>
          <p:nvPr>
            <p:ph type="ctrTitle"/>
          </p:nvPr>
        </p:nvSpPr>
        <p:spPr/>
        <p:txBody>
          <a:bodyPr lIns="92075" tIns="46038" rIns="92075" bIns="46038" anchor="b"/>
          <a:lstStyle/>
          <a:p>
            <a:pPr marL="0" marR="0" indent="0" algn="ctr" defTabSz="914400" rtl="0" eaLnBrk="1" fontAlgn="base" latinLnBrk="0" hangingPunct="1">
              <a:lnSpc>
                <a:spcPct val="100000"/>
              </a:lnSpc>
              <a:spcBef>
                <a:spcPct val="0"/>
              </a:spcBef>
              <a:spcAft>
                <a:spcPct val="0"/>
              </a:spcAft>
              <a:buClrTx/>
              <a:buSzTx/>
              <a:buFontTx/>
              <a:buNone/>
            </a:pPr>
            <a:r>
              <a:rPr lang="zh-CN" altLang="en-US" sz="3600" b="1" dirty="0">
                <a:ln>
                  <a:noFill/>
                </a:ln>
                <a:solidFill>
                  <a:srgbClr val="DB4603"/>
                </a:solidFill>
                <a:effectLst/>
                <a:uLnTx/>
                <a:uFillTx/>
                <a:latin typeface="微软雅黑" panose="020B0503020204020204" charset="-122"/>
                <a:ea typeface="微软雅黑" panose="020B0503020204020204" charset="-122"/>
                <a:sym typeface="+mn-ea"/>
              </a:rPr>
              <a:t>数字内容安全</a:t>
            </a:r>
            <a:r>
              <a:rPr lang="en-US" altLang="zh-CN" sz="3600" b="1" dirty="0">
                <a:ln>
                  <a:noFill/>
                </a:ln>
                <a:solidFill>
                  <a:srgbClr val="DB4603"/>
                </a:solidFill>
                <a:effectLst/>
                <a:uLnTx/>
                <a:uFillTx/>
                <a:latin typeface="微软雅黑" panose="020B0503020204020204" charset="-122"/>
                <a:ea typeface="微软雅黑" panose="020B0503020204020204" charset="-122"/>
                <a:sym typeface="+mn-ea"/>
              </a:rPr>
              <a:t>—</a:t>
            </a:r>
            <a:r>
              <a:rPr lang="zh-CN" altLang="en-US" sz="3600" b="1" dirty="0">
                <a:ln>
                  <a:noFill/>
                </a:ln>
                <a:solidFill>
                  <a:srgbClr val="DB4603"/>
                </a:solidFill>
                <a:effectLst/>
                <a:uLnTx/>
                <a:uFillTx/>
                <a:latin typeface="微软雅黑" panose="020B0503020204020204" charset="-122"/>
                <a:ea typeface="微软雅黑" panose="020B0503020204020204" charset="-122"/>
                <a:sym typeface="+mn-ea"/>
              </a:rPr>
              <a:t>数字取证技术</a:t>
            </a:r>
            <a:endParaRPr kumimoji="0" lang="zh-CN" altLang="en-US"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a:t>
            </a:fld>
            <a:endParaRPr lang="zh-CN" altLang="en-US" sz="1400" b="0" dirty="0">
              <a:latin typeface="Times New Roman" panose="02020603050405020304" pitchFamily="18" charset="0"/>
              <a:ea typeface="宋体" panose="02010600030101010101" pitchFamily="2" charset="-122"/>
            </a:endParaRPr>
          </a:p>
        </p:txBody>
      </p:sp>
      <p:sp>
        <p:nvSpPr>
          <p:cNvPr id="109570" name="标题 109569"/>
          <p:cNvSpPr>
            <a:spLocks noGrp="1"/>
          </p:cNvSpPr>
          <p:nvPr>
            <p:ph type="title"/>
          </p:nvPr>
        </p:nvSpPr>
        <p:spPr/>
        <p:txBody>
          <a:bodyPr lIns="92075" tIns="46038" rIns="92075" bIns="46038" anchor="ctr"/>
          <a:lstStyle/>
          <a:p>
            <a:pPr marL="0" marR="0" algn="l" defTabSz="914400" rtl="0" eaLnBrk="1" fontAlgn="base" latinLnBrk="0" hangingPunct="1">
              <a:lnSpc>
                <a:spcPct val="100000"/>
              </a:lnSpc>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本章内容</a:t>
            </a:r>
          </a:p>
        </p:txBody>
      </p:sp>
      <p:sp>
        <p:nvSpPr>
          <p:cNvPr id="7171" name="文本占位符 109570"/>
          <p:cNvSpPr>
            <a:spLocks noGrp="1"/>
          </p:cNvSpPr>
          <p:nvPr>
            <p:ph idx="1"/>
          </p:nvPr>
        </p:nvSpPr>
        <p:spPr/>
        <p:txBody>
          <a:bodyPr anchor="t"/>
          <a:lstStyle/>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数字取证的基本原理</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数字取证技术的分类</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数字内容篡改取证技术</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数字内容来源取证技术</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数字内容隐秘分析取证技术</a:t>
            </a:r>
            <a:endParaRPr lang="zh-CN" altLang="en-US" sz="2800" b="1" dirty="0">
              <a:solidFill>
                <a:schemeClr val="accent1"/>
              </a:solidFill>
              <a:ea typeface="华文细黑"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a:t>
            </a:fld>
            <a:endParaRPr lang="zh-CN" altLang="en-US" sz="1400" b="0" dirty="0">
              <a:latin typeface="Times New Roman" panose="02020603050405020304" pitchFamily="18" charset="0"/>
              <a:ea typeface="宋体" panose="02010600030101010101" pitchFamily="2" charset="-122"/>
            </a:endParaRPr>
          </a:p>
        </p:txBody>
      </p:sp>
      <p:sp>
        <p:nvSpPr>
          <p:cNvPr id="110594" name="标题 110593"/>
          <p:cNvSpPr>
            <a:spLocks noGrp="1"/>
          </p:cNvSpPr>
          <p:nvPr>
            <p:ph type="title"/>
          </p:nvPr>
        </p:nvSpPr>
        <p:spPr/>
        <p:txBody>
          <a:bodyPr lIns="92075" tIns="46038" rIns="92075" bIns="46038" anchor="ctr"/>
          <a:lstStyle/>
          <a:p>
            <a:pPr marL="0" marR="0" algn="l" defTabSz="914400" rtl="0" eaLnBrk="1" fontAlgn="base" latinLnBrk="0" hangingPunct="1">
              <a:lnSpc>
                <a:spcPct val="100000"/>
              </a:lnSpc>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学习目标</a:t>
            </a:r>
          </a:p>
        </p:txBody>
      </p:sp>
      <p:sp>
        <p:nvSpPr>
          <p:cNvPr id="8195" name="文本占位符 110594"/>
          <p:cNvSpPr>
            <a:spLocks noGrp="1"/>
          </p:cNvSpPr>
          <p:nvPr>
            <p:ph idx="1"/>
          </p:nvPr>
        </p:nvSpPr>
        <p:spPr/>
        <p:txBody>
          <a:bodyPr anchor="t">
            <a:normAutofit/>
          </a:bodyPr>
          <a:lstStyle/>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掌握数字取证的基本原理和分类</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理解数字内容篡改取证技术</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理解数字内容来源取证技术</a:t>
            </a:r>
          </a:p>
          <a:p>
            <a:pPr marL="0" indent="457200" algn="l" fontAlgn="base">
              <a:lnSpc>
                <a:spcPct val="150000"/>
              </a:lnSpc>
              <a:spcBef>
                <a:spcPts val="600"/>
              </a:spcBef>
              <a:buSzPct val="80000"/>
            </a:pPr>
            <a:r>
              <a:rPr lang="zh-CN" altLang="en-US" sz="2400" b="1" dirty="0">
                <a:solidFill>
                  <a:schemeClr val="accent1"/>
                </a:solidFill>
                <a:ea typeface="华文细黑" panose="02010600040101010101" pitchFamily="2" charset="-122"/>
              </a:rPr>
              <a:t>了解数字内容隐秘分析取证技术</a:t>
            </a:r>
            <a:r>
              <a:rPr lang="zh-CN" altLang="en-US" sz="2400" dirty="0">
                <a:latin typeface="华文细黑" panose="02010600040101010101" pitchFamily="2" charset="-122"/>
                <a:ea typeface="华文细黑" panose="02010600040101010101" pitchFamily="2" charset="-122"/>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a:t>
            </a:fld>
            <a:endParaRPr lang="zh-CN" altLang="en-US" sz="1400" b="0" dirty="0">
              <a:latin typeface="Times New Roman" panose="02020603050405020304" pitchFamily="18" charset="0"/>
              <a:ea typeface="宋体" panose="02010600030101010101" pitchFamily="2" charset="-122"/>
            </a:endParaRPr>
          </a:p>
        </p:txBody>
      </p:sp>
      <p:sp>
        <p:nvSpPr>
          <p:cNvPr id="16386" name="标题 16385"/>
          <p:cNvSpPr>
            <a:spLocks noGrp="1"/>
          </p:cNvSpPr>
          <p:nvPr>
            <p:ph type="title"/>
          </p:nvPr>
        </p:nvSpPr>
        <p:spPr/>
        <p:txBody>
          <a:bodyPr lIns="92075" tIns="46038" rIns="92075" bIns="46038" anchor="ctr"/>
          <a:lstStyle/>
          <a:p>
            <a:pPr marL="0" marR="0" algn="l" defTabSz="914400" rtl="0" eaLnBrk="1" fontAlgn="base" latinLnBrk="0" hangingPunct="1">
              <a:lnSpc>
                <a:spcPct val="100000"/>
              </a:lnSpc>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7.1   数字取证基本概念</a:t>
            </a:r>
          </a:p>
        </p:txBody>
      </p:sp>
      <p:sp>
        <p:nvSpPr>
          <p:cNvPr id="9219" name="文本占位符 16386"/>
          <p:cNvSpPr>
            <a:spLocks noGrp="1"/>
          </p:cNvSpPr>
          <p:nvPr>
            <p:ph idx="1"/>
          </p:nvPr>
        </p:nvSpPr>
        <p:spPr>
          <a:xfrm>
            <a:off x="628814" y="1502726"/>
            <a:ext cx="7887564" cy="4714875"/>
          </a:xfrm>
        </p:spPr>
        <p:txBody>
          <a:bodyPr anchor="t">
            <a:normAutofit fontScale="95000" lnSpcReduction="10000"/>
          </a:bodyPr>
          <a:lstStyle/>
          <a:p>
            <a:pPr marL="609600" indent="-609600" algn="l" fontAlgn="base">
              <a:lnSpc>
                <a:spcPct val="100000"/>
              </a:lnSpc>
              <a:buSzTx/>
            </a:pPr>
            <a:r>
              <a:rPr lang="en-US" altLang="en-US" sz="2900" b="1" dirty="0">
                <a:solidFill>
                  <a:schemeClr val="accent1"/>
                </a:solidFill>
                <a:latin typeface="华文细黑" panose="02010600040101010101" pitchFamily="2" charset="-122"/>
                <a:ea typeface="华文细黑" panose="02010600040101010101" pitchFamily="2" charset="-122"/>
              </a:rPr>
              <a:t>数字取证概念</a:t>
            </a:r>
          </a:p>
          <a:p>
            <a:pPr marL="609600" indent="-609600">
              <a:lnSpc>
                <a:spcPct val="90000"/>
              </a:lnSpc>
            </a:pPr>
            <a:endParaRPr lang="zh-CN" altLang="en-US" sz="8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数字取证是指为了揭示与数字产品相关的犯罪或过失行为，以及由其他原因导致的使系统发生故障的现象，利用一切科学合法的方法和工具，对以二进制表示的数据进行识别、保存、收集、检查、分析和呈堂等活动过程。</a:t>
            </a: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数字取证是个广义的范畴，从其研究范围来讲，既包括计算机取证又包括网络取证；从其内涵来讲，是对数字资源的提取、存储、分析和利用，它与网络取证和计算机取证的本质是一致的。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a:t>
            </a:fld>
            <a:endParaRPr lang="zh-CN" altLang="en-US" sz="1400" b="0" dirty="0">
              <a:latin typeface="Times New Roman" panose="02020603050405020304" pitchFamily="18" charset="0"/>
              <a:ea typeface="宋体" panose="02010600030101010101" pitchFamily="2" charset="-122"/>
            </a:endParaRPr>
          </a:p>
        </p:txBody>
      </p:sp>
      <p:sp>
        <p:nvSpPr>
          <p:cNvPr id="111618" name="标题 11161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取证</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基本概念</a:t>
            </a:r>
          </a:p>
        </p:txBody>
      </p:sp>
      <p:sp>
        <p:nvSpPr>
          <p:cNvPr id="10243" name="文本占位符 111618"/>
          <p:cNvSpPr>
            <a:spLocks noGrp="1"/>
          </p:cNvSpPr>
          <p:nvPr>
            <p:ph idx="1"/>
          </p:nvPr>
        </p:nvSpPr>
        <p:spPr/>
        <p:txBody>
          <a:bodyPr anchor="t">
            <a:normAutofit fontScale="97500"/>
          </a:bodyPr>
          <a:lstStyle/>
          <a:p>
            <a:pPr marL="609600" indent="-609600" algn="l" fontAlgn="base">
              <a:lnSpc>
                <a:spcPct val="100000"/>
              </a:lnSpc>
              <a:buSzTx/>
            </a:pPr>
            <a:r>
              <a:rPr lang="en-US" altLang="en-US" sz="2900" b="1" dirty="0">
                <a:solidFill>
                  <a:schemeClr val="accent1"/>
                </a:solidFill>
                <a:latin typeface="华文细黑" panose="02010600040101010101" pitchFamily="2" charset="-122"/>
                <a:ea typeface="华文细黑" panose="02010600040101010101" pitchFamily="2" charset="-122"/>
              </a:rPr>
              <a:t>数字取证概念</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数字取证的对象是电子证据，这种新形式的证据</a:t>
            </a:r>
            <a:r>
              <a:rPr lang="zh-CN" altLang="en-US" sz="2300" b="1">
                <a:latin typeface="华文细黑" panose="02010600040101010101" pitchFamily="2" charset="-122"/>
                <a:ea typeface="华文细黑" panose="02010600040101010101" pitchFamily="2" charset="-122"/>
              </a:rPr>
              <a:t>与传统形式证据</a:t>
            </a:r>
            <a:r>
              <a:rPr lang="zh-CN" altLang="en-US" sz="2300" b="1" dirty="0">
                <a:latin typeface="华文细黑" panose="02010600040101010101" pitchFamily="2" charset="-122"/>
                <a:ea typeface="华文细黑" panose="02010600040101010101" pitchFamily="2" charset="-122"/>
              </a:rPr>
              <a:t>相比有许多不同的特点：</a:t>
            </a:r>
            <a:endParaRPr lang="zh-CN" altLang="en-US" sz="600" dirty="0">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（1）数字化特性 </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（2）电子介质特性</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（3）具有较强的隐蔽性 </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（5）客观实在易变性</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（6）取证的广域性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a:t>
            </a:fld>
            <a:endParaRPr lang="zh-CN" altLang="en-US" sz="1400" b="0" dirty="0">
              <a:latin typeface="Times New Roman" panose="02020603050405020304" pitchFamily="18" charset="0"/>
              <a:ea typeface="宋体" panose="02010600030101010101" pitchFamily="2" charset="-122"/>
            </a:endParaRPr>
          </a:p>
        </p:txBody>
      </p:sp>
      <p:sp>
        <p:nvSpPr>
          <p:cNvPr id="112642" name="标题 11264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数字取证基本概念</a:t>
            </a:r>
          </a:p>
        </p:txBody>
      </p:sp>
      <p:sp>
        <p:nvSpPr>
          <p:cNvPr id="11267" name="文本占位符 112642"/>
          <p:cNvSpPr>
            <a:spLocks noGrp="1"/>
          </p:cNvSpPr>
          <p:nvPr>
            <p:ph idx="1"/>
          </p:nvPr>
        </p:nvSpPr>
        <p:spPr/>
        <p:txBody>
          <a:bodyPr anchor="t">
            <a:normAutofit fontScale="97500"/>
          </a:bodyPr>
          <a:lstStyle/>
          <a:p>
            <a:pPr marL="609600" indent="-609600" algn="l" fontAlgn="base">
              <a:lnSpc>
                <a:spcPct val="100000"/>
              </a:lnSpc>
              <a:buSzTx/>
            </a:pPr>
            <a:r>
              <a:rPr lang="en-US" altLang="en-US" sz="2900" b="1" dirty="0">
                <a:solidFill>
                  <a:schemeClr val="accent1"/>
                </a:solidFill>
                <a:latin typeface="华文细黑" panose="02010600040101010101" pitchFamily="2" charset="-122"/>
                <a:ea typeface="华文细黑" panose="02010600040101010101" pitchFamily="2" charset="-122"/>
              </a:rPr>
              <a:t>数字取证概念</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None/>
            </a:pPr>
            <a:r>
              <a:rPr lang="zh-CN" altLang="en-US" sz="2500" b="1" dirty="0">
                <a:latin typeface="华文细黑" panose="02010600040101010101" pitchFamily="2" charset="-122"/>
                <a:ea typeface="华文细黑" panose="02010600040101010101" pitchFamily="2" charset="-122"/>
              </a:rPr>
              <a:t>数字证据与传统的证据相比较，有以下突出的特点：</a:t>
            </a:r>
          </a:p>
          <a:p>
            <a:pPr marL="18000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（1）数字证据同时具有较高的精密性和脆弱性。 </a:t>
            </a:r>
          </a:p>
          <a:p>
            <a:pPr marL="18000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（2）数字证据具有较强的隐蔽性。 </a:t>
            </a:r>
          </a:p>
          <a:p>
            <a:pPr marL="18000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（3）数字证据具有多媒体性。 </a:t>
            </a:r>
          </a:p>
          <a:p>
            <a:pPr marL="18000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（4）数字证据还具有收集迅速、易于保存、占用空间少、容量大、传送和运输方便、可以反复重现、便于操作等特点。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a:t>
            </a:fld>
            <a:endParaRPr lang="zh-CN" altLang="en-US" sz="1400" b="0" dirty="0">
              <a:latin typeface="Times New Roman" panose="02020603050405020304" pitchFamily="18" charset="0"/>
              <a:ea typeface="宋体" panose="02010600030101010101" pitchFamily="2" charset="-122"/>
            </a:endParaRPr>
          </a:p>
        </p:txBody>
      </p:sp>
      <p:sp>
        <p:nvSpPr>
          <p:cNvPr id="113666" name="标题 11366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数字取证基本概念</a:t>
            </a:r>
          </a:p>
        </p:txBody>
      </p:sp>
      <p:sp>
        <p:nvSpPr>
          <p:cNvPr id="12291" name="文本占位符 113666"/>
          <p:cNvSpPr>
            <a:spLocks noGrp="1"/>
          </p:cNvSpPr>
          <p:nvPr>
            <p:ph idx="1"/>
          </p:nvPr>
        </p:nvSpPr>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数字取证过程模型</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该模型包含四个部分：</a:t>
            </a:r>
          </a:p>
          <a:p>
            <a:pPr marL="180000" indent="558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（1）电子证据的确定和收集</a:t>
            </a:r>
          </a:p>
          <a:p>
            <a:pPr marL="180000" indent="558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（2）电子证据的保护</a:t>
            </a:r>
          </a:p>
          <a:p>
            <a:pPr marL="180000" indent="558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（3）电子证据的分析</a:t>
            </a:r>
          </a:p>
          <a:p>
            <a:pPr marL="180000" indent="558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（4）报告展示阶段</a:t>
            </a:r>
          </a:p>
        </p:txBody>
      </p:sp>
      <p:pic>
        <p:nvPicPr>
          <p:cNvPr id="12292" name="图片 113667"/>
          <p:cNvPicPr>
            <a:picLocks noChangeAspect="1"/>
          </p:cNvPicPr>
          <p:nvPr/>
        </p:nvPicPr>
        <p:blipFill>
          <a:blip r:embed="rId2"/>
          <a:srcRect b="32266"/>
          <a:stretch>
            <a:fillRect/>
          </a:stretch>
        </p:blipFill>
        <p:spPr>
          <a:xfrm>
            <a:off x="1597659" y="5114290"/>
            <a:ext cx="6685717" cy="1062673"/>
          </a:xfrm>
          <a:prstGeom prst="rect">
            <a:avLst/>
          </a:prstGeom>
          <a:noFill/>
          <a:ln w="1270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a:t>
            </a:fld>
            <a:endParaRPr lang="zh-CN" altLang="en-US" sz="1400" b="0" dirty="0">
              <a:latin typeface="Times New Roman" panose="02020603050405020304" pitchFamily="18" charset="0"/>
              <a:ea typeface="宋体" panose="02010600030101010101" pitchFamily="2" charset="-122"/>
            </a:endParaRPr>
          </a:p>
        </p:txBody>
      </p:sp>
      <p:sp>
        <p:nvSpPr>
          <p:cNvPr id="115714" name="标题 11571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3315" name="文本占位符 115714"/>
          <p:cNvSpPr>
            <a:spLocks noGrp="1"/>
          </p:cNvSpPr>
          <p:nvPr>
            <p:ph idx="1"/>
          </p:nvPr>
        </p:nvSpPr>
        <p:spPr/>
        <p:txBody>
          <a:bodyPr anchor="t">
            <a:normAutofit fontScale="87500"/>
          </a:bodyPr>
          <a:lstStyle/>
          <a:p>
            <a:pPr marL="609600" indent="-609600" algn="l" fontAlgn="base">
              <a:lnSpc>
                <a:spcPct val="100000"/>
              </a:lnSpc>
              <a:buSzTx/>
            </a:pPr>
            <a:r>
              <a:rPr lang="en-US" altLang="en-US" sz="32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lnSpc>
                <a:spcPct val="90000"/>
              </a:lnSpc>
            </a:pPr>
            <a:endParaRPr lang="zh-CN" altLang="en-US" sz="7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en-US" altLang="zh-CN" sz="2500" b="1" dirty="0">
                <a:latin typeface="华文细黑" panose="02010600040101010101" pitchFamily="2" charset="-122"/>
                <a:ea typeface="华文细黑" panose="02010600040101010101" pitchFamily="2" charset="-122"/>
              </a:rPr>
              <a:t>1</a:t>
            </a:r>
            <a:r>
              <a:rPr lang="zh-CN" altLang="en-US" sz="2500" b="1" dirty="0">
                <a:latin typeface="华文细黑" panose="02010600040101010101" pitchFamily="2" charset="-122"/>
                <a:ea typeface="华文细黑" panose="02010600040101010101" pitchFamily="2" charset="-122"/>
              </a:rPr>
              <a:t>、电子取证（Electric Forensics）</a:t>
            </a:r>
          </a:p>
          <a:p>
            <a:pPr marL="180000" indent="504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恢复已被破坏的计算机数据及提供相关的电子资料证据就是电子取证。电子取证主要研究除计算机和网络以外的电子产品中的数字证据获取、分析和展示。</a:t>
            </a:r>
          </a:p>
          <a:p>
            <a:pPr marL="0" indent="558000" algn="l">
              <a:lnSpc>
                <a:spcPct val="150000"/>
              </a:lnSpc>
              <a:spcBef>
                <a:spcPts val="600"/>
              </a:spcBef>
              <a:buSzTx/>
              <a:buNone/>
            </a:pPr>
            <a:r>
              <a:rPr lang="en-US" altLang="zh-CN" sz="2500" b="1" dirty="0">
                <a:latin typeface="华文细黑" panose="02010600040101010101" pitchFamily="2" charset="-122"/>
                <a:ea typeface="华文细黑" panose="02010600040101010101" pitchFamily="2" charset="-122"/>
              </a:rPr>
              <a:t>2</a:t>
            </a:r>
            <a:r>
              <a:rPr lang="zh-CN" altLang="en-US" sz="2500" b="1" dirty="0">
                <a:latin typeface="华文细黑" panose="02010600040101010101" pitchFamily="2" charset="-122"/>
                <a:ea typeface="华文细黑" panose="02010600040101010101" pitchFamily="2" charset="-122"/>
              </a:rPr>
              <a:t>、计算机取证（Computer Forensic）</a:t>
            </a:r>
          </a:p>
          <a:p>
            <a:pPr marL="180000" indent="504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计算机取证的主要方法有对文件的复制、被删除文件的恢复、缓冲区内容获取、系统日志分析等等，是一种被动式的事后措施，不特定于网络环境。</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a:t>
            </a:fld>
            <a:endParaRPr lang="zh-CN" altLang="en-US" sz="1400" b="0" dirty="0">
              <a:latin typeface="Times New Roman" panose="02020603050405020304" pitchFamily="18" charset="0"/>
              <a:ea typeface="宋体" panose="02010600030101010101" pitchFamily="2" charset="-122"/>
            </a:endParaRPr>
          </a:p>
        </p:txBody>
      </p:sp>
      <p:sp>
        <p:nvSpPr>
          <p:cNvPr id="116738" name="标题 11673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4339" name="文本占位符 116738"/>
          <p:cNvSpPr>
            <a:spLocks noGrp="1"/>
          </p:cNvSpPr>
          <p:nvPr>
            <p:ph idx="1"/>
          </p:nvPr>
        </p:nvSpPr>
        <p:spPr>
          <a:xfrm>
            <a:off x="628814" y="1466960"/>
            <a:ext cx="7887564" cy="5020241"/>
          </a:xfrm>
        </p:spPr>
        <p:txBody>
          <a:bodyPr anchor="t">
            <a:normAutofit fontScale="95000"/>
          </a:bodyPr>
          <a:lstStyle/>
          <a:p>
            <a:pPr marL="609600" indent="-609600" algn="l" fontAlgn="base">
              <a:lnSpc>
                <a:spcPct val="100000"/>
              </a:lnSpc>
              <a:buSzTx/>
            </a:pPr>
            <a:r>
              <a:rPr lang="en-US" altLang="en-US" sz="29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en-US" altLang="zh-CN" sz="2300" b="1" dirty="0">
                <a:latin typeface="华文细黑" panose="02010600040101010101" pitchFamily="2" charset="-122"/>
                <a:ea typeface="华文细黑" panose="02010600040101010101" pitchFamily="2" charset="-122"/>
              </a:rPr>
              <a:t>3</a:t>
            </a:r>
            <a:r>
              <a:rPr lang="zh-CN" altLang="en-US" sz="2300" b="1" dirty="0">
                <a:latin typeface="华文细黑" panose="02010600040101010101" pitchFamily="2" charset="-122"/>
                <a:ea typeface="华文细黑" panose="02010600040101010101" pitchFamily="2" charset="-122"/>
              </a:rPr>
              <a:t>、网络取证（Networks Forensics）</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网络流的相关性、数据的完整性和包捕获的速率是网络取证、分析首要考虑的事情。相关性是指在某些环境下，应当在捕获网络流时应用过滤器去掉不相关的数据。数据的完整性要求网络取证工具应当一直监控网络流。</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网络取证对数据的保护和一般的数字取证过程要求相同，网络取证分析的相关技术包括人工智能、机器学习、数据挖掘、IDS 技术、蜜阱技术、SVM 和专家系统等。</a:t>
            </a:r>
          </a:p>
        </p:txBody>
      </p:sp>
      <p:pic>
        <p:nvPicPr>
          <p:cNvPr id="116740" name="图片 116739"/>
          <p:cNvPicPr>
            <a:picLocks noChangeAspect="1"/>
          </p:cNvPicPr>
          <p:nvPr/>
        </p:nvPicPr>
        <p:blipFill>
          <a:blip r:embed="rId2"/>
          <a:srcRect b="12397"/>
          <a:stretch>
            <a:fillRect/>
          </a:stretch>
        </p:blipFill>
        <p:spPr>
          <a:xfrm>
            <a:off x="3131840" y="2228515"/>
            <a:ext cx="4887321" cy="4258686"/>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7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6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10</a:t>
            </a:fld>
            <a:endParaRPr lang="zh-CN" altLang="en-US" sz="1400" b="0" dirty="0">
              <a:latin typeface="Times New Roman" panose="02020603050405020304" pitchFamily="18" charset="0"/>
              <a:ea typeface="宋体" panose="02010600030101010101" pitchFamily="2" charset="-122"/>
            </a:endParaRPr>
          </a:p>
        </p:txBody>
      </p:sp>
      <p:sp>
        <p:nvSpPr>
          <p:cNvPr id="167938" name="标题 16793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5363" name="文本占位符 167938"/>
          <p:cNvSpPr>
            <a:spLocks noGrp="1"/>
          </p:cNvSpPr>
          <p:nvPr>
            <p:ph idx="1"/>
          </p:nvPr>
        </p:nvSpPr>
        <p:spPr>
          <a:xfrm>
            <a:off x="628814" y="1462088"/>
            <a:ext cx="7887564" cy="5063256"/>
          </a:xfrm>
        </p:spPr>
        <p:txBody>
          <a:bodyPr anchor="t">
            <a:normAutofit fontScale="97500"/>
          </a:bodyPr>
          <a:lstStyle/>
          <a:p>
            <a:pPr marL="609600" indent="-609600" algn="l" fontAlgn="base">
              <a:lnSpc>
                <a:spcPct val="100000"/>
              </a:lnSpc>
              <a:buSzTx/>
            </a:pPr>
            <a:r>
              <a:rPr lang="en-US" altLang="en-US" sz="29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lnSpc>
                <a:spcPct val="80000"/>
              </a:lnSpc>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300" b="1" dirty="0">
                <a:ea typeface="华文细黑" panose="02010600040101010101" pitchFamily="2" charset="-122"/>
              </a:rPr>
              <a:t>（</a:t>
            </a:r>
            <a:r>
              <a:rPr lang="zh-CN" altLang="en-US" sz="2300" b="1" dirty="0">
                <a:latin typeface="华文细黑" panose="02010600040101010101" pitchFamily="2" charset="-122"/>
                <a:ea typeface="华文细黑" panose="02010600040101010101" pitchFamily="2" charset="-122"/>
              </a:rPr>
              <a:t>1）IDS 取证技术</a:t>
            </a:r>
          </a:p>
          <a:p>
            <a:pPr marL="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将计算机取证结合到入侵检测等网络安全工具和网络体系结构中进行动态取证，可使整个取证过程更加系统具有智能性和实时性。IDS 取证的具体步骤如下:</a:t>
            </a:r>
          </a:p>
          <a:p>
            <a:pPr marL="36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1）寻找嗅探器           2）寻找远程控制程序  </a:t>
            </a:r>
            <a:endParaRPr lang="en-US" altLang="zh-CN" sz="21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3）寻找黑客可利用的文件共享或通信程序  </a:t>
            </a:r>
            <a:endParaRPr lang="en-US" altLang="zh-CN" sz="21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4）寻找特权程序       5）寻找文件系统的变动  </a:t>
            </a:r>
            <a:endParaRPr lang="en-US" altLang="zh-CN" sz="21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6）寻找未授权的服务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11</a:t>
            </a:fld>
            <a:endParaRPr lang="zh-CN" altLang="en-US" sz="1400" b="0" dirty="0">
              <a:latin typeface="Times New Roman" panose="02020603050405020304" pitchFamily="18" charset="0"/>
              <a:ea typeface="宋体" panose="02010600030101010101" pitchFamily="2" charset="-122"/>
            </a:endParaRPr>
          </a:p>
        </p:txBody>
      </p:sp>
      <p:sp>
        <p:nvSpPr>
          <p:cNvPr id="167938" name="标题 16793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5363" name="文本占位符 167938"/>
          <p:cNvSpPr>
            <a:spLocks noGrp="1"/>
          </p:cNvSpPr>
          <p:nvPr>
            <p:ph idx="1"/>
          </p:nvPr>
        </p:nvSpPr>
        <p:spPr>
          <a:xfrm>
            <a:off x="628814" y="1462088"/>
            <a:ext cx="7887564" cy="5135264"/>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lnSpc>
                <a:spcPct val="80000"/>
              </a:lnSpc>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200" b="1" dirty="0">
                <a:ea typeface="华文细黑" panose="02010600040101010101" pitchFamily="2" charset="-122"/>
              </a:rPr>
              <a:t>（</a:t>
            </a:r>
            <a:r>
              <a:rPr lang="zh-CN" altLang="en-US" sz="2200" b="1" dirty="0">
                <a:latin typeface="华文细黑" panose="02010600040101010101" pitchFamily="2" charset="-122"/>
                <a:ea typeface="华文细黑" panose="02010600040101010101" pitchFamily="2" charset="-122"/>
              </a:rPr>
              <a:t>1）IDS 取证技术</a:t>
            </a: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7）寻找口令文件的变动和新用户  </a:t>
            </a:r>
            <a:endParaRPr lang="en-US" altLang="zh-CN" sz="20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8）核对系统和网络配置，特别注意过滤规则 </a:t>
            </a:r>
            <a:endParaRPr lang="en-US" altLang="zh-CN" sz="20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9）寻找异常文件 </a:t>
            </a:r>
            <a:endParaRPr lang="en-US" altLang="zh-CN" sz="20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10）查看所有主机</a:t>
            </a:r>
            <a:endParaRPr lang="en-US" altLang="zh-CN" sz="20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11）观察攻击者，捕获攻击者，找出证据 </a:t>
            </a:r>
            <a:endParaRPr lang="en-US" altLang="zh-CN" sz="20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12）如果捕获成功则准备起诉 </a:t>
            </a:r>
            <a:endParaRPr lang="en-US" altLang="zh-CN" sz="2000" b="1" dirty="0">
              <a:latin typeface="华文细黑" panose="02010600040101010101" pitchFamily="2" charset="-122"/>
              <a:ea typeface="华文细黑" panose="02010600040101010101" pitchFamily="2" charset="-122"/>
            </a:endParaRPr>
          </a:p>
          <a:p>
            <a:pPr marL="36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13）做完全的系统备份，在单用户模式下制作和验证备份。</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12</a:t>
            </a:fld>
            <a:endParaRPr lang="zh-CN" altLang="en-US" sz="1400" b="0" dirty="0">
              <a:latin typeface="Times New Roman" panose="02020603050405020304" pitchFamily="18" charset="0"/>
              <a:ea typeface="宋体" panose="02010600030101010101" pitchFamily="2" charset="-122"/>
            </a:endParaRPr>
          </a:p>
        </p:txBody>
      </p:sp>
      <p:sp>
        <p:nvSpPr>
          <p:cNvPr id="169986" name="标题 16998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6387" name="文本占位符 169986"/>
          <p:cNvSpPr>
            <a:spLocks noGrp="1"/>
          </p:cNvSpPr>
          <p:nvPr>
            <p:ph idx="1"/>
          </p:nvPr>
        </p:nvSpPr>
        <p:spPr>
          <a:xfrm>
            <a:off x="628814" y="1462088"/>
            <a:ext cx="7887564" cy="5063256"/>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lnSpc>
                <a:spcPct val="80000"/>
              </a:lnSpc>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（2）蜜阱取证技术</a:t>
            </a:r>
          </a:p>
          <a:p>
            <a:pPr marL="18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蜜阱是包括蜜罐和蜜网等以诱骗技术为核心的网络安全技术。当黑客攻击时，它能够监视攻击者的行径、策略、工具和目标，从而自动收集相关的电子证据，实现实时网络取证。</a:t>
            </a:r>
          </a:p>
          <a:p>
            <a:pPr marL="18000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一般遵循如下原则和步骤：</a:t>
            </a:r>
            <a:endParaRPr lang="en-US" altLang="zh-CN" sz="2000" b="1" dirty="0">
              <a:latin typeface="华文细黑" panose="02010600040101010101" pitchFamily="2" charset="-122"/>
              <a:ea typeface="华文细黑" panose="02010600040101010101" pitchFamily="2" charset="-122"/>
            </a:endParaRPr>
          </a:p>
          <a:p>
            <a:pPr marL="360000" indent="457200" algn="l">
              <a:lnSpc>
                <a:spcPct val="150000"/>
              </a:lnSpc>
              <a:spcBef>
                <a:spcPts val="600"/>
              </a:spcBef>
              <a:buSzTx/>
              <a:buNone/>
            </a:pPr>
            <a:r>
              <a:rPr lang="en-US" altLang="zh-CN" dirty="0">
                <a:latin typeface="华文细黑" panose="02010600040101010101" pitchFamily="2" charset="-122"/>
                <a:ea typeface="华文细黑" panose="02010600040101010101" pitchFamily="2" charset="-122"/>
              </a:rPr>
              <a:t>1</a:t>
            </a:r>
            <a:r>
              <a:rPr lang="zh-CN" altLang="en-US" dirty="0">
                <a:latin typeface="华文细黑" panose="02010600040101010101" pitchFamily="2" charset="-122"/>
                <a:ea typeface="华文细黑" panose="02010600040101010101" pitchFamily="2" charset="-122"/>
              </a:rPr>
              <a:t>）确定攻击的方法、日期和时间；</a:t>
            </a:r>
            <a:r>
              <a:rPr lang="en-US" altLang="zh-CN" dirty="0">
                <a:latin typeface="华文细黑" panose="02010600040101010101" pitchFamily="2" charset="-122"/>
                <a:ea typeface="华文细黑" panose="02010600040101010101" pitchFamily="2" charset="-122"/>
              </a:rPr>
              <a:t>2</a:t>
            </a:r>
            <a:r>
              <a:rPr lang="zh-CN" altLang="en-US" dirty="0">
                <a:latin typeface="华文细黑" panose="02010600040101010101" pitchFamily="2" charset="-122"/>
                <a:ea typeface="华文细黑" panose="02010600040101010101" pitchFamily="2" charset="-122"/>
              </a:rPr>
              <a:t>）尽可能多地确定有关入侵者的信息；</a:t>
            </a:r>
            <a:r>
              <a:rPr lang="en-US" altLang="zh-CN" dirty="0">
                <a:latin typeface="华文细黑" panose="02010600040101010101" pitchFamily="2" charset="-122"/>
                <a:ea typeface="华文细黑" panose="02010600040101010101" pitchFamily="2" charset="-122"/>
              </a:rPr>
              <a:t>3</a:t>
            </a:r>
            <a:r>
              <a:rPr lang="zh-CN" altLang="en-US" dirty="0">
                <a:latin typeface="华文细黑" panose="02010600040101010101" pitchFamily="2" charset="-122"/>
                <a:ea typeface="华文细黑" panose="02010600040101010101" pitchFamily="2" charset="-122"/>
              </a:rPr>
              <a:t>）列出所有入侵者添加或修改的文件，并对这些程序进行分析。</a:t>
            </a:r>
            <a:r>
              <a:rPr lang="en-US" altLang="zh-CN" dirty="0">
                <a:latin typeface="华文细黑" panose="02010600040101010101" pitchFamily="2" charset="-122"/>
                <a:ea typeface="华文细黑" panose="02010600040101010101" pitchFamily="2" charset="-122"/>
              </a:rPr>
              <a:t>4</a:t>
            </a:r>
            <a:r>
              <a:rPr lang="zh-CN" altLang="en-US" dirty="0">
                <a:latin typeface="华文细黑" panose="02010600040101010101" pitchFamily="2" charset="-122"/>
                <a:ea typeface="华文细黑" panose="02010600040101010101" pitchFamily="2" charset="-122"/>
              </a:rPr>
              <a:t>）建立一条事件时间线，对系统行为进行详细分析；</a:t>
            </a:r>
            <a:r>
              <a:rPr lang="en-US" altLang="zh-CN" dirty="0">
                <a:latin typeface="华文细黑" panose="02010600040101010101" pitchFamily="2" charset="-122"/>
                <a:ea typeface="华文细黑" panose="02010600040101010101" pitchFamily="2" charset="-122"/>
              </a:rPr>
              <a:t>5</a:t>
            </a:r>
            <a:r>
              <a:rPr lang="zh-CN" altLang="en-US" dirty="0">
                <a:latin typeface="华文细黑" panose="02010600040101010101" pitchFamily="2" charset="-122"/>
                <a:ea typeface="华文细黑" panose="02010600040101010101" pitchFamily="2" charset="-122"/>
              </a:rPr>
              <a:t>）给出适合管理层面或新闻媒体需要的报告；</a:t>
            </a:r>
            <a:r>
              <a:rPr lang="en-US" altLang="zh-CN" dirty="0">
                <a:latin typeface="华文细黑" panose="02010600040101010101" pitchFamily="2" charset="-122"/>
                <a:ea typeface="华文细黑" panose="02010600040101010101" pitchFamily="2" charset="-122"/>
              </a:rPr>
              <a:t>6</a:t>
            </a:r>
            <a:r>
              <a:rPr lang="zh-CN" altLang="en-US" dirty="0">
                <a:latin typeface="华文细黑" panose="02010600040101010101" pitchFamily="2" charset="-122"/>
                <a:ea typeface="华文细黑" panose="02010600040101010101" pitchFamily="2" charset="-122"/>
              </a:rPr>
              <a:t>）对事故进行费用估计。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13</a:t>
            </a:fld>
            <a:endParaRPr lang="zh-CN" altLang="en-US" sz="1400" b="0" dirty="0">
              <a:latin typeface="Times New Roman" panose="02020603050405020304" pitchFamily="18" charset="0"/>
              <a:ea typeface="宋体" panose="02010600030101010101" pitchFamily="2" charset="-122"/>
            </a:endParaRPr>
          </a:p>
        </p:txBody>
      </p:sp>
      <p:sp>
        <p:nvSpPr>
          <p:cNvPr id="171010" name="标题 171009"/>
          <p:cNvSpPr>
            <a:spLocks noGrp="1"/>
          </p:cNvSpPr>
          <p:nvPr>
            <p:ph type="title"/>
          </p:nvPr>
        </p:nvSpPr>
        <p:spPr>
          <a:xfrm>
            <a:off x="628814" y="188640"/>
            <a:ext cx="7887564" cy="863600"/>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7411" name="文本占位符 171010"/>
          <p:cNvSpPr>
            <a:spLocks noGrp="1"/>
          </p:cNvSpPr>
          <p:nvPr>
            <p:ph idx="1"/>
          </p:nvPr>
        </p:nvSpPr>
        <p:spPr>
          <a:xfrm>
            <a:off x="628814" y="1268760"/>
            <a:ext cx="7887564" cy="5135263"/>
          </a:xfrm>
        </p:spPr>
        <p:txBody>
          <a:bodyPr anchor="t">
            <a:normAutofit fontScale="87500" lnSpcReduction="10000"/>
          </a:bodyPr>
          <a:lstStyle/>
          <a:p>
            <a:pPr marL="609600" indent="-609600" algn="l" fontAlgn="base">
              <a:lnSpc>
                <a:spcPct val="100000"/>
              </a:lnSpc>
              <a:buSzTx/>
            </a:pPr>
            <a:r>
              <a:rPr lang="en-US" altLang="en-US" sz="32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lnSpc>
                <a:spcPct val="80000"/>
              </a:lnSpc>
            </a:pPr>
            <a:endParaRPr lang="zh-CN" altLang="en-US" sz="7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300" b="1" dirty="0">
                <a:ea typeface="华文细黑" panose="02010600040101010101" pitchFamily="2" charset="-122"/>
              </a:rPr>
              <a:t>（</a:t>
            </a:r>
            <a:r>
              <a:rPr lang="zh-CN" altLang="en-US" sz="2300" b="1" dirty="0">
                <a:latin typeface="华文细黑" panose="02010600040101010101" pitchFamily="2" charset="-122"/>
                <a:ea typeface="华文细黑" panose="02010600040101010101" pitchFamily="2" charset="-122"/>
              </a:rPr>
              <a:t>3）模糊专家系统取证技术</a:t>
            </a:r>
          </a:p>
          <a:p>
            <a:pPr marL="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Jun-Sun Kim 开发一个基于模糊专家系统的网络取证系统，由六个组件组成。</a:t>
            </a:r>
          </a:p>
          <a:p>
            <a:pPr marL="180000" indent="504000" algn="l">
              <a:lnSpc>
                <a:spcPct val="130000"/>
              </a:lnSpc>
              <a:spcBef>
                <a:spcPts val="600"/>
              </a:spcBef>
              <a:buSzTx/>
              <a:buNone/>
            </a:pPr>
            <a:r>
              <a:rPr lang="en-US" altLang="zh-CN" sz="2100" b="1" dirty="0">
                <a:latin typeface="华文细黑" panose="02010600040101010101" pitchFamily="2" charset="-122"/>
                <a:ea typeface="华文细黑" panose="02010600040101010101" pitchFamily="2" charset="-122"/>
              </a:rPr>
              <a:t>1</a:t>
            </a:r>
            <a:r>
              <a:rPr lang="zh-CN" altLang="en-US" sz="2100" b="1" dirty="0">
                <a:latin typeface="华文细黑" panose="02010600040101010101" pitchFamily="2" charset="-122"/>
                <a:ea typeface="华文细黑" panose="02010600040101010101" pitchFamily="2" charset="-122"/>
              </a:rPr>
              <a:t>）网络流分析器组件，完成网络流的捕获和分析。</a:t>
            </a:r>
          </a:p>
          <a:p>
            <a:pPr marL="180000" indent="504000" algn="l">
              <a:lnSpc>
                <a:spcPct val="130000"/>
              </a:lnSpc>
              <a:spcBef>
                <a:spcPts val="600"/>
              </a:spcBef>
              <a:buSzTx/>
              <a:buNone/>
            </a:pPr>
            <a:r>
              <a:rPr lang="en-US" altLang="zh-CN" sz="2100" b="1" dirty="0">
                <a:latin typeface="华文细黑" panose="02010600040101010101" pitchFamily="2" charset="-122"/>
                <a:ea typeface="华文细黑" panose="02010600040101010101" pitchFamily="2" charset="-122"/>
              </a:rPr>
              <a:t>2</a:t>
            </a:r>
            <a:r>
              <a:rPr lang="zh-CN" altLang="en-US" sz="2100" b="1" dirty="0">
                <a:latin typeface="华文细黑" panose="02010600040101010101" pitchFamily="2" charset="-122"/>
                <a:ea typeface="华文细黑" panose="02010600040101010101" pitchFamily="2" charset="-122"/>
              </a:rPr>
              <a:t>）知识库组件。</a:t>
            </a:r>
          </a:p>
          <a:p>
            <a:pPr marL="180000" indent="504000" algn="l">
              <a:lnSpc>
                <a:spcPct val="130000"/>
              </a:lnSpc>
              <a:spcBef>
                <a:spcPts val="600"/>
              </a:spcBef>
              <a:buSzTx/>
              <a:buNone/>
            </a:pPr>
            <a:r>
              <a:rPr lang="en-US" altLang="zh-CN" sz="2100" b="1" dirty="0">
                <a:latin typeface="华文细黑" panose="02010600040101010101" pitchFamily="2" charset="-122"/>
                <a:ea typeface="华文细黑" panose="02010600040101010101" pitchFamily="2" charset="-122"/>
              </a:rPr>
              <a:t>3</a:t>
            </a:r>
            <a:r>
              <a:rPr lang="zh-CN" altLang="en-US" sz="2100" b="1" dirty="0">
                <a:latin typeface="华文细黑" panose="02010600040101010101" pitchFamily="2" charset="-122"/>
                <a:ea typeface="华文细黑" panose="02010600040101010101" pitchFamily="2" charset="-122"/>
              </a:rPr>
              <a:t>）模糊化组件。确定每个语义变量模糊集定义的隶属函数和每个模糊集中输入值的隶属度。</a:t>
            </a:r>
            <a:endParaRPr lang="en-US" altLang="zh-CN" sz="2100" b="1" dirty="0">
              <a:latin typeface="华文细黑" panose="02010600040101010101" pitchFamily="2" charset="-122"/>
              <a:ea typeface="华文细黑" panose="02010600040101010101" pitchFamily="2" charset="-122"/>
            </a:endParaRPr>
          </a:p>
          <a:p>
            <a:pPr marL="180000" indent="504000" algn="l">
              <a:lnSpc>
                <a:spcPct val="130000"/>
              </a:lnSpc>
              <a:spcBef>
                <a:spcPts val="600"/>
              </a:spcBef>
              <a:buSzTx/>
              <a:buNone/>
            </a:pPr>
            <a:r>
              <a:rPr lang="en-US" altLang="zh-CN" sz="2100" b="1" dirty="0">
                <a:latin typeface="华文细黑" panose="02010600040101010101" pitchFamily="2" charset="-122"/>
                <a:ea typeface="华文细黑" panose="02010600040101010101" pitchFamily="2" charset="-122"/>
              </a:rPr>
              <a:t>4</a:t>
            </a:r>
            <a:r>
              <a:rPr lang="zh-CN" altLang="en-US" sz="2100" b="1" dirty="0">
                <a:latin typeface="华文细黑" panose="02010600040101010101" pitchFamily="2" charset="-122"/>
                <a:ea typeface="华文细黑" panose="02010600040101010101" pitchFamily="2" charset="-122"/>
              </a:rPr>
              <a:t>）模糊推理引擎组件，导出各语义变量的值。</a:t>
            </a:r>
          </a:p>
          <a:p>
            <a:pPr marL="180000" indent="504000" algn="l">
              <a:lnSpc>
                <a:spcPct val="130000"/>
              </a:lnSpc>
              <a:spcBef>
                <a:spcPts val="600"/>
              </a:spcBef>
              <a:buSzTx/>
              <a:buNone/>
            </a:pPr>
            <a:r>
              <a:rPr lang="en-US" altLang="zh-CN" sz="2100" b="1" dirty="0">
                <a:latin typeface="华文细黑" panose="02010600040101010101" pitchFamily="2" charset="-122"/>
                <a:ea typeface="华文细黑" panose="02010600040101010101" pitchFamily="2" charset="-122"/>
              </a:rPr>
              <a:t>5</a:t>
            </a:r>
            <a:r>
              <a:rPr lang="zh-CN" altLang="en-US" sz="2100" b="1" dirty="0">
                <a:latin typeface="华文细黑" panose="02010600040101010101" pitchFamily="2" charset="-122"/>
                <a:ea typeface="华文细黑" panose="02010600040101010101" pitchFamily="2" charset="-122"/>
              </a:rPr>
              <a:t>）反模糊化组件。运用“最小-最大”运算产生输出值，作为取证分析器的输入。</a:t>
            </a:r>
          </a:p>
          <a:p>
            <a:pPr marL="180000" indent="504000" algn="l">
              <a:lnSpc>
                <a:spcPct val="130000"/>
              </a:lnSpc>
              <a:spcBef>
                <a:spcPts val="600"/>
              </a:spcBef>
              <a:buSzTx/>
              <a:buNone/>
            </a:pPr>
            <a:r>
              <a:rPr lang="en-US" altLang="zh-CN" sz="2100" b="1" dirty="0">
                <a:latin typeface="华文细黑" panose="02010600040101010101" pitchFamily="2" charset="-122"/>
                <a:ea typeface="华文细黑" panose="02010600040101010101" pitchFamily="2" charset="-122"/>
              </a:rPr>
              <a:t>6</a:t>
            </a:r>
            <a:r>
              <a:rPr lang="zh-CN" altLang="en-US" sz="2100" b="1" dirty="0">
                <a:latin typeface="华文细黑" panose="02010600040101010101" pitchFamily="2" charset="-122"/>
                <a:ea typeface="华文细黑" panose="02010600040101010101" pitchFamily="2" charset="-122"/>
              </a:rPr>
              <a:t>）取证分析器，判断捕获的数据包是否存在攻击。</a:t>
            </a:r>
          </a:p>
        </p:txBody>
      </p:sp>
      <p:sp>
        <p:nvSpPr>
          <p:cNvPr id="17412" name="矩形 171011"/>
          <p:cNvSpPr/>
          <p:nvPr/>
        </p:nvSpPr>
        <p:spPr>
          <a:xfrm>
            <a:off x="0" y="331946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14</a:t>
            </a:fld>
            <a:endParaRPr lang="zh-CN" altLang="en-US" sz="1400" b="0" dirty="0">
              <a:latin typeface="Times New Roman" panose="02020603050405020304" pitchFamily="18" charset="0"/>
              <a:ea typeface="宋体" panose="02010600030101010101" pitchFamily="2" charset="-122"/>
            </a:endParaRPr>
          </a:p>
        </p:txBody>
      </p:sp>
      <p:sp>
        <p:nvSpPr>
          <p:cNvPr id="172034" name="标题 1720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8435" name="文本占位符 172034"/>
          <p:cNvSpPr>
            <a:spLocks noGrp="1"/>
          </p:cNvSpPr>
          <p:nvPr>
            <p:ph idx="1"/>
          </p:nvPr>
        </p:nvSpPr>
        <p:spPr>
          <a:xfrm>
            <a:off x="628814" y="1462088"/>
            <a:ext cx="7887564" cy="5260975"/>
          </a:xfrm>
        </p:spPr>
        <p:txBody>
          <a:bodyPr anchor="t">
            <a:normAutofit fontScale="92500" lnSpcReduction="10000"/>
          </a:bodyPr>
          <a:lstStyle/>
          <a:p>
            <a:pPr marL="609600" indent="-609600" algn="l" fontAlgn="base">
              <a:lnSpc>
                <a:spcPct val="100000"/>
              </a:lnSpc>
              <a:buSzTx/>
            </a:pPr>
            <a:r>
              <a:rPr lang="en-US" altLang="en-US" sz="3000" b="1" dirty="0">
                <a:solidFill>
                  <a:schemeClr val="accent1"/>
                </a:solidFill>
                <a:latin typeface="华文细黑" panose="02010600040101010101" pitchFamily="2" charset="-122"/>
                <a:ea typeface="华文细黑" panose="02010600040101010101" pitchFamily="2" charset="-122"/>
              </a:rPr>
              <a:t>数字取证技术分类</a:t>
            </a:r>
          </a:p>
          <a:p>
            <a:pPr marL="609600" indent="-609600">
              <a:lnSpc>
                <a:spcPct val="80000"/>
              </a:lnSpc>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400" b="1" dirty="0">
                <a:ea typeface="华文细黑" panose="02010600040101010101" pitchFamily="2" charset="-122"/>
              </a:rPr>
              <a:t>（</a:t>
            </a:r>
            <a:r>
              <a:rPr lang="zh-CN" altLang="en-US" sz="2400" b="1" dirty="0">
                <a:latin typeface="华文细黑" panose="02010600040101010101" pitchFamily="2" charset="-122"/>
                <a:ea typeface="华文细黑" panose="02010600040101010101" pitchFamily="2" charset="-122"/>
              </a:rPr>
              <a:t>4）SVM 取证技术</a:t>
            </a:r>
          </a:p>
          <a:p>
            <a:pPr marL="0" indent="558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hlinkClick r:id="rId2"/>
              </a:rPr>
              <a:t>SVM</a:t>
            </a:r>
            <a:r>
              <a:rPr lang="zh-CN" altLang="en-US" sz="2400" b="1" dirty="0">
                <a:latin typeface="华文细黑" panose="02010600040101010101" pitchFamily="2" charset="-122"/>
                <a:ea typeface="华文细黑" panose="02010600040101010101" pitchFamily="2" charset="-122"/>
              </a:rPr>
              <a:t> 取证技术是为了发现信息行为的关键特征，去除无意义的噪声，有助于减少信息存储量，提高计算速度。</a:t>
            </a:r>
          </a:p>
          <a:p>
            <a:pPr marL="0" indent="558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SVM 特征选择的基本思想是：</a:t>
            </a:r>
          </a:p>
          <a:p>
            <a:pPr marL="180000" indent="504000" algn="l">
              <a:lnSpc>
                <a:spcPct val="140000"/>
              </a:lnSpc>
              <a:spcBef>
                <a:spcPts val="600"/>
              </a:spcBef>
              <a:buSzTx/>
              <a:buNone/>
            </a:pPr>
            <a:r>
              <a:rPr lang="en-US" altLang="zh-CN" sz="2200" b="1" dirty="0">
                <a:ea typeface="华文细黑" panose="02010600040101010101" pitchFamily="2" charset="-122"/>
              </a:rPr>
              <a:t>1</a:t>
            </a:r>
            <a:r>
              <a:rPr lang="zh-CN" altLang="en-US" sz="2200" b="1" dirty="0">
                <a:latin typeface="华文细黑" panose="02010600040101010101" pitchFamily="2" charset="-122"/>
                <a:ea typeface="华文细黑" panose="02010600040101010101" pitchFamily="2" charset="-122"/>
              </a:rPr>
              <a:t>）选择训练集和测试集，对每个特征重复以下步骤。</a:t>
            </a:r>
            <a:endParaRPr lang="en-US" altLang="zh-CN" sz="2200" b="1" dirty="0">
              <a:latin typeface="华文细黑" panose="02010600040101010101" pitchFamily="2" charset="-122"/>
              <a:ea typeface="华文细黑" panose="02010600040101010101" pitchFamily="2" charset="-122"/>
            </a:endParaRPr>
          </a:p>
          <a:p>
            <a:pPr marL="180000" indent="504000" algn="l">
              <a:lnSpc>
                <a:spcPct val="140000"/>
              </a:lnSpc>
              <a:spcBef>
                <a:spcPts val="600"/>
              </a:spcBef>
              <a:buSzTx/>
              <a:buNone/>
            </a:pPr>
            <a:r>
              <a:rPr lang="en-US" altLang="zh-CN" sz="2200" b="1" dirty="0">
                <a:ea typeface="华文细黑" panose="02010600040101010101" pitchFamily="2" charset="-122"/>
              </a:rPr>
              <a:t>2</a:t>
            </a:r>
            <a:r>
              <a:rPr lang="zh-CN" altLang="en-US" sz="2200" b="1" dirty="0">
                <a:latin typeface="华文细黑" panose="02010600040101010101" pitchFamily="2" charset="-122"/>
                <a:ea typeface="华文细黑" panose="02010600040101010101" pitchFamily="2" charset="-122"/>
              </a:rPr>
              <a:t>）从训练集和测试集中删除该特征；</a:t>
            </a:r>
          </a:p>
          <a:p>
            <a:pPr marL="180000" indent="504000" algn="l">
              <a:lnSpc>
                <a:spcPct val="140000"/>
              </a:lnSpc>
              <a:spcBef>
                <a:spcPts val="600"/>
              </a:spcBef>
              <a:buSzTx/>
              <a:buNone/>
            </a:pPr>
            <a:r>
              <a:rPr lang="en-US" altLang="zh-CN" sz="2200" b="1" dirty="0">
                <a:ea typeface="华文细黑" panose="02010600040101010101" pitchFamily="2" charset="-122"/>
              </a:rPr>
              <a:t>3</a:t>
            </a:r>
            <a:r>
              <a:rPr lang="zh-CN" altLang="en-US" sz="2200" b="1" dirty="0">
                <a:latin typeface="华文细黑" panose="02010600040101010101" pitchFamily="2" charset="-122"/>
                <a:ea typeface="华文细黑" panose="02010600040101010101" pitchFamily="2" charset="-122"/>
              </a:rPr>
              <a:t>）使用结果数据集训练分类器（SVM）；</a:t>
            </a:r>
          </a:p>
          <a:p>
            <a:pPr marL="180000" indent="504000" algn="l">
              <a:lnSpc>
                <a:spcPct val="140000"/>
              </a:lnSpc>
              <a:spcBef>
                <a:spcPts val="600"/>
              </a:spcBef>
              <a:buSzTx/>
              <a:buNone/>
            </a:pPr>
            <a:r>
              <a:rPr lang="en-US" altLang="zh-CN" sz="2200" b="1" dirty="0">
                <a:ea typeface="华文细黑" panose="02010600040101010101" pitchFamily="2" charset="-122"/>
              </a:rPr>
              <a:t>4</a:t>
            </a:r>
            <a:r>
              <a:rPr lang="zh-CN" altLang="en-US" sz="2200" b="1" dirty="0">
                <a:latin typeface="华文细黑" panose="02010600040101010101" pitchFamily="2" charset="-122"/>
                <a:ea typeface="华文细黑" panose="02010600040101010101" pitchFamily="2" charset="-122"/>
              </a:rPr>
              <a:t>）根据既定的性能准则，使用测试集分析分类器的性能；</a:t>
            </a:r>
          </a:p>
          <a:p>
            <a:pPr marL="180000" indent="504000" algn="l">
              <a:lnSpc>
                <a:spcPct val="140000"/>
              </a:lnSpc>
              <a:spcBef>
                <a:spcPts val="600"/>
              </a:spcBef>
              <a:buSzTx/>
              <a:buNone/>
            </a:pPr>
            <a:r>
              <a:rPr lang="en-US" altLang="zh-CN" sz="2200" b="1" dirty="0">
                <a:ea typeface="华文细黑" panose="02010600040101010101" pitchFamily="2" charset="-122"/>
              </a:rPr>
              <a:t>5</a:t>
            </a:r>
            <a:r>
              <a:rPr lang="zh-CN" altLang="en-US" sz="2200" b="1" dirty="0">
                <a:latin typeface="华文细黑" panose="02010600040101010101" pitchFamily="2" charset="-122"/>
                <a:ea typeface="华文细黑" panose="02010600040101010101" pitchFamily="2" charset="-122"/>
              </a:rPr>
              <a:t>）根据规则标记该特征的重要性等级。</a:t>
            </a:r>
          </a:p>
        </p:txBody>
      </p:sp>
      <p:sp>
        <p:nvSpPr>
          <p:cNvPr id="18436" name="矩形 172035"/>
          <p:cNvSpPr/>
          <p:nvPr/>
        </p:nvSpPr>
        <p:spPr>
          <a:xfrm>
            <a:off x="0" y="331946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15</a:t>
            </a:fld>
            <a:endParaRPr lang="zh-CN" altLang="en-US" sz="1400" b="0" dirty="0">
              <a:latin typeface="Times New Roman" panose="02020603050405020304" pitchFamily="18" charset="0"/>
              <a:ea typeface="宋体" panose="02010600030101010101" pitchFamily="2" charset="-122"/>
            </a:endParaRPr>
          </a:p>
        </p:txBody>
      </p:sp>
      <p:sp>
        <p:nvSpPr>
          <p:cNvPr id="117762" name="标题 11776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19459" name="文本占位符 117762"/>
          <p:cNvSpPr>
            <a:spLocks noGrp="1"/>
          </p:cNvSpPr>
          <p:nvPr>
            <p:ph idx="1"/>
          </p:nvPr>
        </p:nvSpPr>
        <p:spPr/>
        <p:txBody>
          <a:bodyPr anchor="t">
            <a:normAutofit fontScale="92500"/>
          </a:bodyPr>
          <a:lstStyle/>
          <a:p>
            <a:pPr marL="609600" indent="-609600" algn="l" fontAlgn="base">
              <a:lnSpc>
                <a:spcPct val="100000"/>
              </a:lnSpc>
              <a:buSzTx/>
            </a:pPr>
            <a:r>
              <a:rPr lang="en-US" altLang="en-US" sz="3000" b="1" dirty="0">
                <a:solidFill>
                  <a:schemeClr val="accent1"/>
                </a:solidFill>
                <a:latin typeface="华文细黑" panose="02010600040101010101" pitchFamily="2" charset="-122"/>
                <a:ea typeface="华文细黑" panose="02010600040101010101" pitchFamily="2" charset="-122"/>
              </a:rPr>
              <a:t>证据取证分析技术分类</a:t>
            </a: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（1）基于取证过程模型的分析技术</a:t>
            </a:r>
          </a:p>
          <a:p>
            <a:pPr marL="180000" indent="504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其基本思想是根据 DFRWS 给出的取证过程模型进行分析技术的划分。按照该方法，取证分析技术可以分为六类：识别类、保存类、收集类、检查类、分析类以及出示类。  </a:t>
            </a:r>
            <a:endParaRPr lang="en-US" altLang="zh-CN" sz="2200" b="1" dirty="0">
              <a:latin typeface="华文细黑" panose="02010600040101010101" pitchFamily="2" charset="-122"/>
              <a:ea typeface="华文细黑" panose="02010600040101010101" pitchFamily="2" charset="-122"/>
            </a:endParaRPr>
          </a:p>
          <a:p>
            <a:pPr marL="0" indent="558000">
              <a:lnSpc>
                <a:spcPct val="150000"/>
              </a:lnSpc>
              <a:spcBef>
                <a:spcPts val="600"/>
              </a:spcBef>
              <a:buNone/>
            </a:pPr>
            <a:r>
              <a:rPr lang="zh-CN" altLang="en-US" sz="2400" b="1" dirty="0">
                <a:latin typeface="华文细黑" panose="02010600040101010101" pitchFamily="2" charset="-122"/>
                <a:ea typeface="华文细黑" panose="02010600040101010101" pitchFamily="2" charset="-122"/>
              </a:rPr>
              <a:t>（2）基于数字设备运行历史模型的取证分析技术</a:t>
            </a:r>
          </a:p>
          <a:p>
            <a:pPr marL="180000" indent="504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其主要思想是：计算机等数字设备在运行中包含一个历史过程，该过程中存在事件和状态的序列。因此在数字取证过程，将根据事件和状态的序列集合进行分析。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16</a:t>
            </a:fld>
            <a:endParaRPr lang="zh-CN" altLang="en-US" sz="1400" b="0" dirty="0">
              <a:latin typeface="Times New Roman" panose="02020603050405020304" pitchFamily="18" charset="0"/>
              <a:ea typeface="宋体" panose="02010600030101010101" pitchFamily="2" charset="-122"/>
            </a:endParaRPr>
          </a:p>
        </p:txBody>
      </p:sp>
      <p:sp>
        <p:nvSpPr>
          <p:cNvPr id="119810" name="标题 11980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数字取证分类</a:t>
            </a:r>
          </a:p>
        </p:txBody>
      </p:sp>
      <p:sp>
        <p:nvSpPr>
          <p:cNvPr id="20483" name="文本占位符 119810"/>
          <p:cNvSpPr>
            <a:spLocks noGrp="1"/>
          </p:cNvSpPr>
          <p:nvPr>
            <p:ph idx="1"/>
          </p:nvPr>
        </p:nvSpPr>
        <p:spPr>
          <a:xfrm>
            <a:off x="628814" y="1426322"/>
            <a:ext cx="7887564" cy="4714875"/>
          </a:xfrm>
        </p:spPr>
        <p:txBody>
          <a:bodyPr anchor="t">
            <a:normAutofit fontScale="97500"/>
          </a:bodyPr>
          <a:lstStyle/>
          <a:p>
            <a:pPr marL="609600" indent="-609600" algn="l" fontAlgn="base">
              <a:lnSpc>
                <a:spcPct val="100000"/>
              </a:lnSpc>
              <a:buSzTx/>
            </a:pPr>
            <a:r>
              <a:rPr lang="en-US" altLang="en-US" sz="2900" b="1" dirty="0">
                <a:solidFill>
                  <a:schemeClr val="accent1"/>
                </a:solidFill>
                <a:latin typeface="华文细黑" panose="02010600040101010101" pitchFamily="2" charset="-122"/>
                <a:ea typeface="华文细黑" panose="02010600040101010101" pitchFamily="2" charset="-122"/>
              </a:rPr>
              <a:t>证据取证分析技术分类</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300" b="1" dirty="0">
                <a:latin typeface="华文细黑" panose="02010600040101010101" pitchFamily="2" charset="-122"/>
                <a:ea typeface="华文细黑" panose="02010600040101010101" pitchFamily="2" charset="-122"/>
              </a:rPr>
              <a:t>（3）基于存储介质的取证分析方法</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这里的存储介质主要包括：硬盘、光盘、软盘、Zip 磁盘、U 盘、内存以及其它形式的存储介质。该方法围绕存储介质中证据的获取、保护、传输以及分析等进行取证调查。</a:t>
            </a:r>
          </a:p>
          <a:p>
            <a:pPr marL="180000" indent="504000" algn="l">
              <a:lnSpc>
                <a:spcPct val="150000"/>
              </a:lnSpc>
              <a:spcBef>
                <a:spcPts val="600"/>
              </a:spcBef>
              <a:buSzTx/>
              <a:buNone/>
            </a:pPr>
            <a:r>
              <a:rPr lang="zh-CN" altLang="en-US" sz="2100" b="1" dirty="0">
                <a:latin typeface="华文细黑" panose="02010600040101010101" pitchFamily="2" charset="-122"/>
                <a:ea typeface="华文细黑" panose="02010600040101010101" pitchFamily="2" charset="-122"/>
              </a:rPr>
              <a:t>该方法可以分为两类：基于永久性存储介质的取证分析和基于易失性内存的取证分析方法，前者的典型代表是磁盘取证，后者是内存取证。</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17</a:t>
            </a:fld>
            <a:endParaRPr lang="zh-CN" altLang="en-US" sz="1400" b="0" dirty="0">
              <a:latin typeface="Times New Roman" panose="02020603050405020304" pitchFamily="18" charset="0"/>
              <a:ea typeface="宋体" panose="02010600030101010101" pitchFamily="2" charset="-122"/>
            </a:endParaRPr>
          </a:p>
        </p:txBody>
      </p:sp>
      <p:sp>
        <p:nvSpPr>
          <p:cNvPr id="102402" name="标题 10240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1507" name="文本占位符 102402"/>
          <p:cNvSpPr>
            <a:spLocks noGrp="1"/>
          </p:cNvSpPr>
          <p:nvPr>
            <p:ph type="body" sz="half" idx="4294967295"/>
          </p:nvPr>
        </p:nvSpPr>
        <p:spPr>
          <a:xfrm>
            <a:off x="628814" y="1412776"/>
            <a:ext cx="7920355" cy="4311650"/>
          </a:xfrm>
        </p:spPr>
        <p:txBody>
          <a:bodyPr anchor="t"/>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针对数字内容篡改，可以分为以下篡改手段：</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（1）数字图像的篡改手段</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（2）数字音频的篡改手段</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（3）数字视频的篡改手段</a:t>
            </a:r>
          </a:p>
        </p:txBody>
      </p:sp>
      <p:sp>
        <p:nvSpPr>
          <p:cNvPr id="21508" name="矩形 102403"/>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09" name="矩形 10240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0" name="矩形 10240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1" name="矩形 10240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2" name="矩形 10240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3" name="矩形 10240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4" name="矩形 10240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5" name="矩形 10241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6" name="矩形 10241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7" name="矩形 10241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8" name="矩形 1024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19" name="矩形 10241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1520" name="矩形 10241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18</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（1）数字图像篡改手段</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①图像合成</a:t>
            </a:r>
          </a:p>
        </p:txBody>
      </p:sp>
      <p:sp>
        <p:nvSpPr>
          <p:cNvPr id="22532" name="矩形 120835"/>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3" name="矩形 12083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4" name="矩形 12083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5" name="矩形 12083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6" name="矩形 12083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7" name="矩形 12084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9" name="矩形 12084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1" name="矩形 12084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2" name="矩形 1208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3" name="矩形 12084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4" name="矩形 12084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18" name="图片 17">
            <a:extLst>
              <a:ext uri="{FF2B5EF4-FFF2-40B4-BE49-F238E27FC236}">
                <a16:creationId xmlns:a16="http://schemas.microsoft.com/office/drawing/2014/main" id="{8BE1A8CF-4529-4A83-9EBA-93BFBE237A75}"/>
              </a:ext>
            </a:extLst>
          </p:cNvPr>
          <p:cNvPicPr>
            <a:picLocks noChangeAspect="1"/>
          </p:cNvPicPr>
          <p:nvPr/>
        </p:nvPicPr>
        <p:blipFill>
          <a:blip r:embed="rId2"/>
          <a:srcRect b="6205"/>
          <a:stretch>
            <a:fillRect/>
          </a:stretch>
        </p:blipFill>
        <p:spPr>
          <a:xfrm>
            <a:off x="1604469" y="2110914"/>
            <a:ext cx="6604811" cy="4237196"/>
          </a:xfrm>
          <a:prstGeom prst="rect">
            <a:avLst/>
          </a:prstGeom>
          <a:noFill/>
          <a:ln w="12700">
            <a:noFill/>
          </a:ln>
        </p:spPr>
      </p:pic>
      <p:pic>
        <p:nvPicPr>
          <p:cNvPr id="19" name="图片 18">
            <a:extLst>
              <a:ext uri="{FF2B5EF4-FFF2-40B4-BE49-F238E27FC236}">
                <a16:creationId xmlns:a16="http://schemas.microsoft.com/office/drawing/2014/main" id="{A655B57B-BBC8-4196-AEA3-9733C4438646}"/>
              </a:ext>
            </a:extLst>
          </p:cNvPr>
          <p:cNvPicPr>
            <a:picLocks noChangeAspect="1"/>
          </p:cNvPicPr>
          <p:nvPr/>
        </p:nvPicPr>
        <p:blipFill>
          <a:blip r:embed="rId3"/>
          <a:srcRect b="13548"/>
          <a:stretch>
            <a:fillRect/>
          </a:stretch>
        </p:blipFill>
        <p:spPr>
          <a:xfrm>
            <a:off x="755576" y="3295781"/>
            <a:ext cx="8009691" cy="2527674"/>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18"/>
                                        </p:tgtEl>
                                        <p:attrNameLst>
                                          <p:attrName>ppt_x</p:attrName>
                                        </p:attrNameLst>
                                      </p:cBhvr>
                                      <p:tavLst>
                                        <p:tav tm="0">
                                          <p:val>
                                            <p:strVal val="ppt_x"/>
                                          </p:val>
                                        </p:tav>
                                        <p:tav tm="100000">
                                          <p:val>
                                            <p:strVal val="ppt_x"/>
                                          </p:val>
                                        </p:tav>
                                      </p:tavLst>
                                    </p:anim>
                                    <p:anim calcmode="lin" valueType="num">
                                      <p:cBhvr additive="base">
                                        <p:cTn id="12" dur="500"/>
                                        <p:tgtEl>
                                          <p:spTgt spid="18"/>
                                        </p:tgtEl>
                                        <p:attrNameLst>
                                          <p:attrName>ppt_y</p:attrName>
                                        </p:attrNameLst>
                                      </p:cBhvr>
                                      <p:tavLst>
                                        <p:tav tm="0">
                                          <p:val>
                                            <p:strVal val="ppt_y"/>
                                          </p:val>
                                        </p:tav>
                                        <p:tav tm="100000">
                                          <p:val>
                                            <p:strVal val="1+ppt_h/2"/>
                                          </p:val>
                                        </p:tav>
                                      </p:tavLst>
                                    </p:anim>
                                    <p:set>
                                      <p:cBhvr>
                                        <p:cTn id="13" dur="1" fill="hold">
                                          <p:stCondLst>
                                            <p:cond delay="499"/>
                                          </p:stCondLst>
                                        </p:cTn>
                                        <p:tgtEl>
                                          <p:spTgt spid="1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19</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en-US" altLang="zh-CN" sz="600" b="1" dirty="0">
              <a:latin typeface="华文细黑" panose="02010600040101010101" pitchFamily="2" charset="-122"/>
              <a:ea typeface="华文细黑" panose="02010600040101010101" pitchFamily="2" charset="-122"/>
            </a:endParaRPr>
          </a:p>
          <a:p>
            <a:pPr marL="0" lvl="0" indent="612000">
              <a:lnSpc>
                <a:spcPct val="150000"/>
              </a:lnSpc>
              <a:spcBef>
                <a:spcPts val="600"/>
              </a:spcBef>
              <a:buClr>
                <a:srgbClr val="FC6C2C"/>
              </a:buClr>
              <a:buNone/>
            </a:pPr>
            <a:r>
              <a:rPr lang="zh-CN" altLang="en-US" sz="2400" b="1" dirty="0">
                <a:solidFill>
                  <a:srgbClr val="5F5F5F"/>
                </a:solidFill>
                <a:latin typeface="华文细黑" panose="02010600040101010101" pitchFamily="2" charset="-122"/>
                <a:ea typeface="华文细黑" panose="02010600040101010101" pitchFamily="2" charset="-122"/>
              </a:rPr>
              <a:t>（1）数字图像篡改手段</a:t>
            </a:r>
            <a:endParaRPr lang="en-US" altLang="zh-CN" sz="2400" b="1" dirty="0">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②图像增强   </a:t>
            </a:r>
            <a:endParaRPr lang="en-US" altLang="zh-CN" sz="2200" b="1" dirty="0">
              <a:solidFill>
                <a:srgbClr val="5F5F5F"/>
              </a:solidFill>
              <a:latin typeface="华文细黑" panose="02010600040101010101" pitchFamily="2" charset="-122"/>
              <a:ea typeface="华文细黑" panose="02010600040101010101" pitchFamily="2" charset="-122"/>
            </a:endParaRPr>
          </a:p>
          <a:p>
            <a:pPr marL="360000" lvl="0" indent="504000">
              <a:lnSpc>
                <a:spcPct val="150000"/>
              </a:lnSpc>
              <a:spcBef>
                <a:spcPts val="600"/>
              </a:spcBef>
              <a:buClr>
                <a:srgbClr val="FC6C2C"/>
              </a:buClr>
              <a:buNone/>
            </a:pPr>
            <a:r>
              <a:rPr lang="zh-CN" altLang="en-US" sz="2000" dirty="0">
                <a:hlinkClick r:id="rId2"/>
              </a:rPr>
              <a:t>图像去雾</a:t>
            </a:r>
            <a:r>
              <a:rPr lang="en-US" altLang="zh-CN" sz="2000" dirty="0">
                <a:hlinkClick r:id="rId2"/>
              </a:rPr>
              <a:t>_</a:t>
            </a:r>
            <a:r>
              <a:rPr lang="zh-CN" altLang="en-US" sz="2000" dirty="0">
                <a:hlinkClick r:id="rId2"/>
              </a:rPr>
              <a:t>图像去雾算法</a:t>
            </a:r>
            <a:r>
              <a:rPr lang="en-US" altLang="zh-CN" sz="2000" dirty="0">
                <a:hlinkClick r:id="rId2"/>
              </a:rPr>
              <a:t>-</a:t>
            </a:r>
            <a:r>
              <a:rPr lang="zh-CN" altLang="en-US" sz="2000" dirty="0">
                <a:hlinkClick r:id="rId2"/>
              </a:rPr>
              <a:t>百度</a:t>
            </a:r>
            <a:r>
              <a:rPr lang="en-US" altLang="zh-CN" sz="2000" dirty="0">
                <a:hlinkClick r:id="rId2"/>
              </a:rPr>
              <a:t>AI</a:t>
            </a:r>
            <a:r>
              <a:rPr lang="zh-CN" altLang="en-US" sz="2000" dirty="0">
                <a:hlinkClick r:id="rId2"/>
              </a:rPr>
              <a:t>开放平台 </a:t>
            </a:r>
            <a:r>
              <a:rPr lang="en-US" altLang="zh-CN" sz="2000" dirty="0">
                <a:hlinkClick r:id="rId2"/>
              </a:rPr>
              <a:t>(baidu.com)</a:t>
            </a:r>
            <a:endParaRPr lang="en-US" altLang="zh-CN" sz="2000" dirty="0"/>
          </a:p>
          <a:p>
            <a:pPr marL="360000" lvl="0" indent="504000">
              <a:lnSpc>
                <a:spcPct val="150000"/>
              </a:lnSpc>
              <a:spcBef>
                <a:spcPts val="600"/>
              </a:spcBef>
              <a:buClr>
                <a:srgbClr val="FC6C2C"/>
              </a:buClr>
              <a:buNone/>
            </a:pPr>
            <a:r>
              <a:rPr lang="zh-CN" altLang="en-US" sz="2000" dirty="0">
                <a:hlinkClick r:id="rId3"/>
              </a:rPr>
              <a:t>图像对比度增强</a:t>
            </a:r>
            <a:r>
              <a:rPr lang="en-US" altLang="zh-CN" sz="2000" dirty="0">
                <a:hlinkClick r:id="rId3"/>
              </a:rPr>
              <a:t>-</a:t>
            </a:r>
            <a:r>
              <a:rPr lang="zh-CN" altLang="en-US" sz="2000" dirty="0">
                <a:hlinkClick r:id="rId3"/>
              </a:rPr>
              <a:t>百度</a:t>
            </a:r>
            <a:r>
              <a:rPr lang="en-US" altLang="zh-CN" sz="2000" dirty="0">
                <a:hlinkClick r:id="rId3"/>
              </a:rPr>
              <a:t>AI</a:t>
            </a:r>
            <a:r>
              <a:rPr lang="zh-CN" altLang="en-US" sz="2000" dirty="0">
                <a:hlinkClick r:id="rId3"/>
              </a:rPr>
              <a:t>开放平台 </a:t>
            </a:r>
            <a:r>
              <a:rPr lang="en-US" altLang="zh-CN" sz="2000" dirty="0">
                <a:hlinkClick r:id="rId3"/>
              </a:rPr>
              <a:t>(baidu.com)</a:t>
            </a:r>
            <a:endParaRPr lang="en-US" altLang="zh-CN" sz="2000" dirty="0">
              <a:hlinkClick r:id="rId4"/>
            </a:endParaRPr>
          </a:p>
          <a:p>
            <a:pPr marL="360000" lvl="0" indent="504000">
              <a:lnSpc>
                <a:spcPct val="150000"/>
              </a:lnSpc>
              <a:spcBef>
                <a:spcPts val="600"/>
              </a:spcBef>
              <a:buClr>
                <a:srgbClr val="FC6C2C"/>
              </a:buClr>
              <a:buNone/>
            </a:pPr>
            <a:r>
              <a:rPr lang="zh-CN" altLang="en-US" sz="2000" dirty="0">
                <a:hlinkClick r:id="rId4"/>
              </a:rPr>
              <a:t>图像清晰度增强</a:t>
            </a:r>
            <a:r>
              <a:rPr lang="en-US" altLang="zh-CN" sz="2000" dirty="0">
                <a:hlinkClick r:id="rId4"/>
              </a:rPr>
              <a:t>-</a:t>
            </a:r>
            <a:r>
              <a:rPr lang="zh-CN" altLang="en-US" sz="2000" dirty="0">
                <a:hlinkClick r:id="rId4"/>
              </a:rPr>
              <a:t>百度</a:t>
            </a:r>
            <a:r>
              <a:rPr lang="en-US" altLang="zh-CN" sz="2000" dirty="0">
                <a:hlinkClick r:id="rId4"/>
              </a:rPr>
              <a:t>AI</a:t>
            </a:r>
            <a:r>
              <a:rPr lang="zh-CN" altLang="en-US" sz="2000" dirty="0">
                <a:hlinkClick r:id="rId4"/>
              </a:rPr>
              <a:t>开放平台 </a:t>
            </a:r>
            <a:r>
              <a:rPr lang="en-US" altLang="zh-CN" sz="2000" dirty="0">
                <a:hlinkClick r:id="rId4"/>
              </a:rPr>
              <a:t>(baidu.com)</a:t>
            </a:r>
            <a:r>
              <a:rPr lang="zh-CN" altLang="en-US" sz="2000" b="1" dirty="0">
                <a:solidFill>
                  <a:srgbClr val="5F5F5F"/>
                </a:solidFill>
                <a:latin typeface="华文细黑" panose="02010600040101010101" pitchFamily="2" charset="-122"/>
                <a:ea typeface="华文细黑" panose="02010600040101010101" pitchFamily="2" charset="-122"/>
              </a:rPr>
              <a:t>    </a:t>
            </a:r>
            <a:endParaRPr lang="zh-CN" altLang="en-US" sz="2000" b="1" dirty="0">
              <a:latin typeface="华文细黑" panose="02010600040101010101" pitchFamily="2" charset="-122"/>
              <a:ea typeface="华文细黑" panose="02010600040101010101" pitchFamily="2" charset="-122"/>
            </a:endParaRPr>
          </a:p>
          <a:p>
            <a:pPr marL="0" indent="457200" algn="l">
              <a:lnSpc>
                <a:spcPct val="150000"/>
              </a:lnSpc>
              <a:spcBef>
                <a:spcPts val="600"/>
              </a:spcBef>
              <a:buSzTx/>
              <a:buFont typeface="Wingdings" panose="05000000000000000000" pitchFamily="2" charset="2"/>
              <a:buNone/>
            </a:pP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4" name="图片 3">
            <a:extLst>
              <a:ext uri="{FF2B5EF4-FFF2-40B4-BE49-F238E27FC236}">
                <a16:creationId xmlns:a16="http://schemas.microsoft.com/office/drawing/2014/main" id="{1DC346E4-A498-4EDA-B9C3-79BC3A25E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2645" y="2852936"/>
            <a:ext cx="5195325" cy="3240584"/>
          </a:xfrm>
          <a:prstGeom prst="rect">
            <a:avLst/>
          </a:prstGeom>
        </p:spPr>
      </p:pic>
      <p:pic>
        <p:nvPicPr>
          <p:cNvPr id="6" name="图片 5">
            <a:extLst>
              <a:ext uri="{FF2B5EF4-FFF2-40B4-BE49-F238E27FC236}">
                <a16:creationId xmlns:a16="http://schemas.microsoft.com/office/drawing/2014/main" id="{365F3CF9-2479-4480-956F-997A33691B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052736"/>
            <a:ext cx="9144000" cy="57035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nodeType="clickEffect">
                                  <p:stCondLst>
                                    <p:cond delay="0"/>
                                  </p:stCondLst>
                                  <p:childTnLst>
                                    <p:animEffect transition="out" filter="wipe(down)">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20</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lvl="0" indent="612000">
              <a:lnSpc>
                <a:spcPct val="150000"/>
              </a:lnSpc>
              <a:spcBef>
                <a:spcPts val="600"/>
              </a:spcBef>
              <a:buClr>
                <a:srgbClr val="FC6C2C"/>
              </a:buClr>
              <a:buNone/>
            </a:pPr>
            <a:r>
              <a:rPr lang="zh-CN" altLang="en-US" sz="2400" b="1" dirty="0">
                <a:solidFill>
                  <a:srgbClr val="5F5F5F"/>
                </a:solidFill>
                <a:latin typeface="华文细黑" panose="02010600040101010101" pitchFamily="2" charset="-122"/>
                <a:ea typeface="华文细黑" panose="02010600040101010101" pitchFamily="2" charset="-122"/>
              </a:rPr>
              <a:t>（1）数字图像篡改手段</a:t>
            </a:r>
            <a:endParaRPr lang="en-US" altLang="zh-CN" sz="2200" b="1" dirty="0">
              <a:solidFill>
                <a:srgbClr val="5F5F5F"/>
              </a:solidFill>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③图像润饰</a:t>
            </a:r>
            <a:endParaRPr lang="en-US" altLang="zh-CN" sz="2200" b="1" dirty="0">
              <a:solidFill>
                <a:srgbClr val="5F5F5F"/>
              </a:solidFill>
              <a:latin typeface="华文细黑" panose="02010600040101010101" pitchFamily="2" charset="-122"/>
              <a:ea typeface="华文细黑" panose="02010600040101010101" pitchFamily="2" charset="-122"/>
            </a:endParaRPr>
          </a:p>
          <a:p>
            <a:pPr marL="360000" lvl="0" indent="504000">
              <a:lnSpc>
                <a:spcPct val="150000"/>
              </a:lnSpc>
              <a:spcBef>
                <a:spcPts val="600"/>
              </a:spcBef>
              <a:buClr>
                <a:srgbClr val="FC6C2C"/>
              </a:buClr>
              <a:buNone/>
            </a:pPr>
            <a:r>
              <a:rPr lang="zh-CN" altLang="en-US" sz="2000" dirty="0">
                <a:hlinkClick r:id="rId2"/>
              </a:rPr>
              <a:t>黑白图像上色</a:t>
            </a:r>
            <a:r>
              <a:rPr lang="en-US" altLang="zh-CN" sz="2000" dirty="0">
                <a:hlinkClick r:id="rId2"/>
              </a:rPr>
              <a:t>-</a:t>
            </a:r>
            <a:r>
              <a:rPr lang="zh-CN" altLang="en-US" sz="2000" dirty="0">
                <a:hlinkClick r:id="rId2"/>
              </a:rPr>
              <a:t>百度</a:t>
            </a:r>
            <a:r>
              <a:rPr lang="en-US" altLang="zh-CN" sz="2000" dirty="0">
                <a:hlinkClick r:id="rId2"/>
              </a:rPr>
              <a:t>AI</a:t>
            </a:r>
            <a:r>
              <a:rPr lang="zh-CN" altLang="en-US" sz="2000" dirty="0">
                <a:hlinkClick r:id="rId2"/>
              </a:rPr>
              <a:t>开放平台 </a:t>
            </a:r>
            <a:r>
              <a:rPr lang="en-US" altLang="zh-CN" sz="2000" dirty="0">
                <a:hlinkClick r:id="rId2"/>
              </a:rPr>
              <a:t>(baidu.com)</a:t>
            </a:r>
            <a:endParaRPr lang="en-US" altLang="zh-CN" sz="2000" dirty="0"/>
          </a:p>
          <a:p>
            <a:pPr marL="360000" lvl="0" indent="504000">
              <a:lnSpc>
                <a:spcPct val="150000"/>
              </a:lnSpc>
              <a:spcBef>
                <a:spcPts val="600"/>
              </a:spcBef>
              <a:buClr>
                <a:srgbClr val="FC6C2C"/>
              </a:buClr>
              <a:buNone/>
            </a:pPr>
            <a:r>
              <a:rPr lang="zh-CN" altLang="en-US" sz="2000" dirty="0">
                <a:hlinkClick r:id="rId3"/>
              </a:rPr>
              <a:t>人像动漫化</a:t>
            </a:r>
            <a:r>
              <a:rPr lang="en-US" altLang="zh-CN" sz="2000" dirty="0">
                <a:hlinkClick r:id="rId3"/>
              </a:rPr>
              <a:t>-</a:t>
            </a:r>
            <a:r>
              <a:rPr lang="zh-CN" altLang="en-US" sz="2000" dirty="0">
                <a:hlinkClick r:id="rId3"/>
              </a:rPr>
              <a:t>百度</a:t>
            </a:r>
            <a:r>
              <a:rPr lang="en-US" altLang="zh-CN" sz="2000" dirty="0">
                <a:hlinkClick r:id="rId3"/>
              </a:rPr>
              <a:t>AI</a:t>
            </a:r>
            <a:r>
              <a:rPr lang="zh-CN" altLang="en-US" sz="2000" dirty="0">
                <a:hlinkClick r:id="rId3"/>
              </a:rPr>
              <a:t>开放平台 </a:t>
            </a:r>
            <a:r>
              <a:rPr lang="en-US" altLang="zh-CN" sz="2000" dirty="0">
                <a:hlinkClick r:id="rId3"/>
              </a:rPr>
              <a:t>(baidu.com)</a:t>
            </a:r>
            <a:endParaRPr lang="en-US" altLang="zh-CN" sz="2000" dirty="0"/>
          </a:p>
          <a:p>
            <a:pPr marL="360000" lvl="0" indent="504000">
              <a:lnSpc>
                <a:spcPct val="150000"/>
              </a:lnSpc>
              <a:spcBef>
                <a:spcPts val="600"/>
              </a:spcBef>
              <a:buClr>
                <a:srgbClr val="FC6C2C"/>
              </a:buClr>
              <a:buNone/>
            </a:pPr>
            <a:r>
              <a:rPr lang="zh-CN" altLang="en-US" sz="2000" dirty="0">
                <a:hlinkClick r:id="rId4"/>
              </a:rPr>
              <a:t>图像风格转换</a:t>
            </a:r>
            <a:r>
              <a:rPr lang="en-US" altLang="zh-CN" sz="2000" dirty="0">
                <a:hlinkClick r:id="rId4"/>
              </a:rPr>
              <a:t>-</a:t>
            </a:r>
            <a:r>
              <a:rPr lang="zh-CN" altLang="en-US" sz="2000" dirty="0">
                <a:hlinkClick r:id="rId4"/>
              </a:rPr>
              <a:t>百度</a:t>
            </a:r>
            <a:r>
              <a:rPr lang="en-US" altLang="zh-CN" sz="2000" dirty="0">
                <a:hlinkClick r:id="rId4"/>
              </a:rPr>
              <a:t>AI</a:t>
            </a:r>
            <a:r>
              <a:rPr lang="zh-CN" altLang="en-US" sz="2000" dirty="0">
                <a:hlinkClick r:id="rId4"/>
              </a:rPr>
              <a:t>开放平台 </a:t>
            </a:r>
            <a:r>
              <a:rPr lang="en-US" altLang="zh-CN" sz="2000" dirty="0">
                <a:hlinkClick r:id="rId4"/>
              </a:rPr>
              <a:t>(baidu.com)</a:t>
            </a:r>
            <a:endParaRPr lang="zh-CN" altLang="en-US" sz="2000" b="1" dirty="0">
              <a:solidFill>
                <a:schemeClr val="tx1"/>
              </a:solidFill>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pSp>
        <p:nvGrpSpPr>
          <p:cNvPr id="6" name="组合 5">
            <a:extLst>
              <a:ext uri="{FF2B5EF4-FFF2-40B4-BE49-F238E27FC236}">
                <a16:creationId xmlns:a16="http://schemas.microsoft.com/office/drawing/2014/main" id="{225E120A-B9BA-4E05-82A6-6D3DD26A650B}"/>
              </a:ext>
            </a:extLst>
          </p:cNvPr>
          <p:cNvGrpSpPr/>
          <p:nvPr/>
        </p:nvGrpSpPr>
        <p:grpSpPr>
          <a:xfrm>
            <a:off x="638717" y="3585152"/>
            <a:ext cx="8135883" cy="2537622"/>
            <a:chOff x="755576" y="3429000"/>
            <a:chExt cx="8135883" cy="2537622"/>
          </a:xfrm>
        </p:grpSpPr>
        <p:pic>
          <p:nvPicPr>
            <p:cNvPr id="3" name="图片 2">
              <a:extLst>
                <a:ext uri="{FF2B5EF4-FFF2-40B4-BE49-F238E27FC236}">
                  <a16:creationId xmlns:a16="http://schemas.microsoft.com/office/drawing/2014/main" id="{34474EB5-7BBA-44ED-A090-A3A1840DCE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5576" y="3429000"/>
              <a:ext cx="4067944" cy="2537622"/>
            </a:xfrm>
            <a:prstGeom prst="rect">
              <a:avLst/>
            </a:prstGeom>
          </p:spPr>
        </p:pic>
        <p:pic>
          <p:nvPicPr>
            <p:cNvPr id="5" name="图片 4">
              <a:extLst>
                <a:ext uri="{FF2B5EF4-FFF2-40B4-BE49-F238E27FC236}">
                  <a16:creationId xmlns:a16="http://schemas.microsoft.com/office/drawing/2014/main" id="{BF8A33F9-47DB-42A2-90A1-C08F4340BA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23520" y="3429000"/>
              <a:ext cx="4067939" cy="2537619"/>
            </a:xfrm>
            <a:prstGeom prst="rect">
              <a:avLst/>
            </a:prstGeom>
          </p:spPr>
        </p:pic>
      </p:grpSp>
      <p:grpSp>
        <p:nvGrpSpPr>
          <p:cNvPr id="11" name="组合 10">
            <a:extLst>
              <a:ext uri="{FF2B5EF4-FFF2-40B4-BE49-F238E27FC236}">
                <a16:creationId xmlns:a16="http://schemas.microsoft.com/office/drawing/2014/main" id="{3AE476F3-0E45-49D5-9F35-7087579BF141}"/>
              </a:ext>
            </a:extLst>
          </p:cNvPr>
          <p:cNvGrpSpPr/>
          <p:nvPr/>
        </p:nvGrpSpPr>
        <p:grpSpPr>
          <a:xfrm>
            <a:off x="741195" y="3489334"/>
            <a:ext cx="8033405" cy="2680256"/>
            <a:chOff x="323528" y="2116896"/>
            <a:chExt cx="8033405" cy="2680256"/>
          </a:xfrm>
        </p:grpSpPr>
        <p:pic>
          <p:nvPicPr>
            <p:cNvPr id="8" name="图片 7">
              <a:extLst>
                <a:ext uri="{FF2B5EF4-FFF2-40B4-BE49-F238E27FC236}">
                  <a16:creationId xmlns:a16="http://schemas.microsoft.com/office/drawing/2014/main" id="{798B9D17-696E-4588-8401-59F4EFF062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528" y="2116896"/>
              <a:ext cx="4015365" cy="2680256"/>
            </a:xfrm>
            <a:prstGeom prst="rect">
              <a:avLst/>
            </a:prstGeom>
          </p:spPr>
        </p:pic>
        <p:pic>
          <p:nvPicPr>
            <p:cNvPr id="10" name="图片 9">
              <a:extLst>
                <a:ext uri="{FF2B5EF4-FFF2-40B4-BE49-F238E27FC236}">
                  <a16:creationId xmlns:a16="http://schemas.microsoft.com/office/drawing/2014/main" id="{ACDB47CC-E981-48D8-AEE6-E8B75788B0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41568" y="2116896"/>
              <a:ext cx="4015365" cy="268025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xit" presetSubtype="32" fill="hold" nodeType="clickEffect">
                                  <p:stCondLst>
                                    <p:cond delay="0"/>
                                  </p:stCondLst>
                                  <p:childTnLst>
                                    <p:animEffect transition="out" filter="circle(out)">
                                      <p:cBhvr>
                                        <p:cTn id="11" dur="2000"/>
                                        <p:tgtEl>
                                          <p:spTgt spid="6"/>
                                        </p:tgtEl>
                                      </p:cBhvr>
                                    </p:animEffect>
                                    <p:set>
                                      <p:cBhvr>
                                        <p:cTn id="12" dur="1" fill="hold">
                                          <p:stCondLst>
                                            <p:cond delay="19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xit" presetSubtype="32" fill="hold" nodeType="clickEffect">
                                  <p:stCondLst>
                                    <p:cond delay="0"/>
                                  </p:stCondLst>
                                  <p:childTnLst>
                                    <p:anim calcmode="lin" valueType="num">
                                      <p:cBhvr>
                                        <p:cTn id="21" dur="500"/>
                                        <p:tgtEl>
                                          <p:spTgt spid="11"/>
                                        </p:tgtEl>
                                        <p:attrNameLst>
                                          <p:attrName>ppt_w</p:attrName>
                                        </p:attrNameLst>
                                      </p:cBhvr>
                                      <p:tavLst>
                                        <p:tav tm="0">
                                          <p:val>
                                            <p:strVal val="ppt_w"/>
                                          </p:val>
                                        </p:tav>
                                        <p:tav tm="100000">
                                          <p:val>
                                            <p:fltVal val="0"/>
                                          </p:val>
                                        </p:tav>
                                      </p:tavLst>
                                    </p:anim>
                                    <p:anim calcmode="lin" valueType="num">
                                      <p:cBhvr>
                                        <p:cTn id="22" dur="500"/>
                                        <p:tgtEl>
                                          <p:spTgt spid="11"/>
                                        </p:tgtEl>
                                        <p:attrNameLst>
                                          <p:attrName>ppt_h</p:attrName>
                                        </p:attrNameLst>
                                      </p:cBhvr>
                                      <p:tavLst>
                                        <p:tav tm="0">
                                          <p:val>
                                            <p:strVal val="ppt_h"/>
                                          </p:val>
                                        </p:tav>
                                        <p:tav tm="100000">
                                          <p:val>
                                            <p:fltVal val="0"/>
                                          </p:val>
                                        </p:tav>
                                      </p:tavLst>
                                    </p:anim>
                                    <p:animEffect transition="out" filter="fade">
                                      <p:cBhvr>
                                        <p:cTn id="23" dur="500"/>
                                        <p:tgtEl>
                                          <p:spTgt spid="11"/>
                                        </p:tgtEl>
                                      </p:cBhvr>
                                    </p:animEffect>
                                    <p:set>
                                      <p:cBhvr>
                                        <p:cTn id="2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21</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err="1">
                <a:latin typeface="华文细黑" panose="02010600040101010101" pitchFamily="2" charset="-122"/>
                <a:ea typeface="华文细黑" panose="02010600040101010101" pitchFamily="2" charset="-122"/>
              </a:rPr>
              <a:t>数字内容篡改手段</a:t>
            </a:r>
            <a:endParaRPr lang="en-US" altLang="en-US" sz="2800" b="1" dirty="0">
              <a:latin typeface="华文细黑" panose="02010600040101010101" pitchFamily="2" charset="-122"/>
              <a:ea typeface="华文细黑" panose="02010600040101010101" pitchFamily="2" charset="-122"/>
            </a:endParaRP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lvl="0" indent="612000">
              <a:lnSpc>
                <a:spcPct val="150000"/>
              </a:lnSpc>
              <a:spcBef>
                <a:spcPts val="600"/>
              </a:spcBef>
              <a:buClr>
                <a:srgbClr val="FC6C2C"/>
              </a:buClr>
              <a:buNone/>
            </a:pPr>
            <a:r>
              <a:rPr lang="zh-CN" altLang="en-US" sz="2400" b="1" dirty="0">
                <a:solidFill>
                  <a:srgbClr val="5F5F5F"/>
                </a:solidFill>
                <a:latin typeface="华文细黑" panose="02010600040101010101" pitchFamily="2" charset="-122"/>
                <a:ea typeface="华文细黑" panose="02010600040101010101" pitchFamily="2" charset="-122"/>
              </a:rPr>
              <a:t>（1）数字图像篡改手段</a:t>
            </a:r>
            <a:endParaRPr lang="en-US" altLang="zh-CN" sz="2200" b="1" dirty="0">
              <a:solidFill>
                <a:srgbClr val="5F5F5F"/>
              </a:solidFill>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④图像修复        </a:t>
            </a:r>
            <a:endParaRPr lang="en-US" altLang="zh-CN" sz="2200" b="1" dirty="0">
              <a:solidFill>
                <a:srgbClr val="5F5F5F"/>
              </a:solidFill>
              <a:latin typeface="华文细黑" panose="02010600040101010101" pitchFamily="2" charset="-122"/>
              <a:ea typeface="华文细黑" panose="02010600040101010101" pitchFamily="2" charset="-122"/>
            </a:endParaRPr>
          </a:p>
          <a:p>
            <a:pPr marL="360000" indent="504000">
              <a:lnSpc>
                <a:spcPct val="150000"/>
              </a:lnSpc>
              <a:spcBef>
                <a:spcPts val="600"/>
              </a:spcBef>
              <a:buNone/>
            </a:pPr>
            <a:r>
              <a:rPr lang="zh-CN" altLang="en-US" sz="2000" dirty="0">
                <a:hlinkClick r:id="rId2"/>
              </a:rPr>
              <a:t>图像修复</a:t>
            </a:r>
            <a:r>
              <a:rPr lang="en-US" altLang="zh-CN" sz="2000" dirty="0">
                <a:hlinkClick r:id="rId2"/>
              </a:rPr>
              <a:t>_</a:t>
            </a:r>
            <a:r>
              <a:rPr lang="zh-CN" altLang="en-US" sz="2000" dirty="0">
                <a:hlinkClick r:id="rId2"/>
              </a:rPr>
              <a:t>图像修复算法</a:t>
            </a:r>
            <a:r>
              <a:rPr lang="en-US" altLang="zh-CN" sz="2000" dirty="0">
                <a:hlinkClick r:id="rId2"/>
              </a:rPr>
              <a:t>-</a:t>
            </a:r>
            <a:r>
              <a:rPr lang="zh-CN" altLang="en-US" sz="2000" dirty="0">
                <a:hlinkClick r:id="rId2"/>
              </a:rPr>
              <a:t>百度</a:t>
            </a:r>
            <a:r>
              <a:rPr lang="en-US" altLang="zh-CN" sz="2000" dirty="0">
                <a:hlinkClick r:id="rId2"/>
              </a:rPr>
              <a:t>AI</a:t>
            </a:r>
            <a:r>
              <a:rPr lang="zh-CN" altLang="en-US" sz="2000" dirty="0">
                <a:hlinkClick r:id="rId2"/>
              </a:rPr>
              <a:t>开放平台 </a:t>
            </a:r>
            <a:r>
              <a:rPr lang="en-US" altLang="zh-CN" sz="2000" dirty="0">
                <a:hlinkClick r:id="rId2"/>
              </a:rPr>
              <a:t>(baidu.com)</a:t>
            </a:r>
            <a:endParaRPr lang="en-US" altLang="zh-CN" sz="2000" dirty="0"/>
          </a:p>
          <a:p>
            <a:pPr marL="360000" indent="504000">
              <a:lnSpc>
                <a:spcPct val="150000"/>
              </a:lnSpc>
              <a:spcBef>
                <a:spcPts val="600"/>
              </a:spcBef>
              <a:buNone/>
            </a:pPr>
            <a:r>
              <a:rPr lang="zh-CN" altLang="en-US" sz="2000" dirty="0">
                <a:hlinkClick r:id="rId3"/>
              </a:rPr>
              <a:t>拉伸图像恢复</a:t>
            </a:r>
            <a:r>
              <a:rPr lang="en-US" altLang="zh-CN" sz="2000" dirty="0">
                <a:hlinkClick r:id="rId3"/>
              </a:rPr>
              <a:t>-</a:t>
            </a:r>
            <a:r>
              <a:rPr lang="zh-CN" altLang="en-US" sz="2000" dirty="0">
                <a:hlinkClick r:id="rId3"/>
              </a:rPr>
              <a:t>百度</a:t>
            </a:r>
            <a:r>
              <a:rPr lang="en-US" altLang="zh-CN" sz="2000" dirty="0">
                <a:hlinkClick r:id="rId3"/>
              </a:rPr>
              <a:t>AI</a:t>
            </a:r>
            <a:r>
              <a:rPr lang="zh-CN" altLang="en-US" sz="2000" dirty="0">
                <a:hlinkClick r:id="rId3"/>
              </a:rPr>
              <a:t>开放平台 </a:t>
            </a:r>
            <a:r>
              <a:rPr lang="en-US" altLang="zh-CN" sz="2000" dirty="0">
                <a:hlinkClick r:id="rId3"/>
              </a:rPr>
              <a:t>(baidu.com)</a:t>
            </a:r>
            <a:endParaRPr lang="en-US" altLang="zh-CN" sz="2000" dirty="0"/>
          </a:p>
          <a:p>
            <a:pPr marL="360000" indent="504000">
              <a:lnSpc>
                <a:spcPct val="150000"/>
              </a:lnSpc>
              <a:spcBef>
                <a:spcPts val="600"/>
              </a:spcBef>
              <a:buNone/>
            </a:pPr>
            <a:endParaRPr lang="zh-CN" altLang="en-US" sz="2000" b="1" dirty="0">
              <a:solidFill>
                <a:schemeClr val="tx1"/>
              </a:solidFill>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3" name="图片 2">
            <a:extLst>
              <a:ext uri="{FF2B5EF4-FFF2-40B4-BE49-F238E27FC236}">
                <a16:creationId xmlns:a16="http://schemas.microsoft.com/office/drawing/2014/main" id="{BA7F9119-8B94-4E35-AAF3-AB62B54935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552" y="758387"/>
            <a:ext cx="7932373" cy="5949280"/>
          </a:xfrm>
          <a:prstGeom prst="rect">
            <a:avLst/>
          </a:prstGeom>
        </p:spPr>
      </p:pic>
      <p:pic>
        <p:nvPicPr>
          <p:cNvPr id="5" name="图片 4">
            <a:extLst>
              <a:ext uri="{FF2B5EF4-FFF2-40B4-BE49-F238E27FC236}">
                <a16:creationId xmlns:a16="http://schemas.microsoft.com/office/drawing/2014/main" id="{AF5B95C9-320B-42A3-9993-C1658DB5E2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756" y="67317"/>
            <a:ext cx="8964488" cy="6723366"/>
          </a:xfrm>
          <a:prstGeom prst="rect">
            <a:avLst/>
          </a:prstGeom>
        </p:spPr>
      </p:pic>
    </p:spTree>
    <p:extLst>
      <p:ext uri="{BB962C8B-B14F-4D97-AF65-F5344CB8AC3E}">
        <p14:creationId xmlns:p14="http://schemas.microsoft.com/office/powerpoint/2010/main" val="211031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xit" presetSubtype="32" fill="hold" nodeType="clickEffect">
                                  <p:stCondLst>
                                    <p:cond delay="0"/>
                                  </p:stCondLst>
                                  <p:childTnLst>
                                    <p:anim calcmode="lin" valueType="num">
                                      <p:cBhvr>
                                        <p:cTn id="11" dur="500"/>
                                        <p:tgtEl>
                                          <p:spTgt spid="3"/>
                                        </p:tgtEl>
                                        <p:attrNameLst>
                                          <p:attrName>ppt_w</p:attrName>
                                        </p:attrNameLst>
                                      </p:cBhvr>
                                      <p:tavLst>
                                        <p:tav tm="0">
                                          <p:val>
                                            <p:strVal val="ppt_w"/>
                                          </p:val>
                                        </p:tav>
                                        <p:tav tm="100000">
                                          <p:val>
                                            <p:fltVal val="0"/>
                                          </p:val>
                                        </p:tav>
                                      </p:tavLst>
                                    </p:anim>
                                    <p:anim calcmode="lin" valueType="num">
                                      <p:cBhvr>
                                        <p:cTn id="12" dur="500"/>
                                        <p:tgtEl>
                                          <p:spTgt spid="3"/>
                                        </p:tgtEl>
                                        <p:attrNameLst>
                                          <p:attrName>ppt_h</p:attrName>
                                        </p:attrNameLst>
                                      </p:cBhvr>
                                      <p:tavLst>
                                        <p:tav tm="0">
                                          <p:val>
                                            <p:strVal val="ppt_h"/>
                                          </p:val>
                                        </p:tav>
                                        <p:tav tm="100000">
                                          <p:val>
                                            <p:fltVal val="0"/>
                                          </p:val>
                                        </p:tav>
                                      </p:tavLst>
                                    </p:anim>
                                    <p:animEffect transition="out" filter="fade">
                                      <p:cBhvr>
                                        <p:cTn id="13" dur="500"/>
                                        <p:tgtEl>
                                          <p:spTgt spid="3"/>
                                        </p:tgtEl>
                                      </p:cBhvr>
                                    </p:animEffect>
                                    <p:set>
                                      <p:cBhvr>
                                        <p:cTn id="14" dur="1" fill="hold">
                                          <p:stCondLst>
                                            <p:cond delay="499"/>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xit" presetSubtype="0" fill="hold" nodeType="clickEffect">
                                  <p:stCondLst>
                                    <p:cond delay="0"/>
                                  </p:stCondLst>
                                  <p:childTnLst>
                                    <p:animEffect transition="out" filter="fade">
                                      <p:cBhvr>
                                        <p:cTn id="23" dur="2000"/>
                                        <p:tgtEl>
                                          <p:spTgt spid="5"/>
                                        </p:tgtEl>
                                      </p:cBhvr>
                                    </p:animEffect>
                                    <p:anim calcmode="lin" valueType="num">
                                      <p:cBhvr>
                                        <p:cTn id="24" dur="2000"/>
                                        <p:tgtEl>
                                          <p:spTgt spid="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5" dur="2000"/>
                                        <p:tgtEl>
                                          <p:spTgt spid="5"/>
                                        </p:tgtEl>
                                        <p:attrNameLst>
                                          <p:attrName>ppt_h</p:attrName>
                                        </p:attrNameLst>
                                      </p:cBhvr>
                                      <p:tavLst>
                                        <p:tav tm="0">
                                          <p:val>
                                            <p:strVal val="ppt_h"/>
                                          </p:val>
                                        </p:tav>
                                        <p:tav tm="100000">
                                          <p:val>
                                            <p:strVal val="ppt_h"/>
                                          </p:val>
                                        </p:tav>
                                      </p:tavLst>
                                    </p:anim>
                                    <p:set>
                                      <p:cBhvr>
                                        <p:cTn id="26" dur="1" fill="hold">
                                          <p:stCondLst>
                                            <p:cond delay="1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22</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lvl="0" indent="612000">
              <a:lnSpc>
                <a:spcPct val="150000"/>
              </a:lnSpc>
              <a:spcBef>
                <a:spcPts val="600"/>
              </a:spcBef>
              <a:buClr>
                <a:srgbClr val="FC6C2C"/>
              </a:buClr>
              <a:buNone/>
            </a:pPr>
            <a:r>
              <a:rPr lang="zh-CN" altLang="en-US" sz="2400" b="1" dirty="0">
                <a:solidFill>
                  <a:srgbClr val="5F5F5F"/>
                </a:solidFill>
                <a:latin typeface="华文细黑" panose="02010600040101010101" pitchFamily="2" charset="-122"/>
                <a:ea typeface="华文细黑" panose="02010600040101010101" pitchFamily="2" charset="-122"/>
              </a:rPr>
              <a:t>（1）数字图像篡改手段</a:t>
            </a:r>
            <a:endParaRPr lang="en-US" altLang="zh-CN" sz="2200" b="1" dirty="0">
              <a:solidFill>
                <a:srgbClr val="5F5F5F"/>
              </a:solidFill>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⑤图像变形</a:t>
            </a: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120851" name="图片 120850" descr="变形1">
            <a:hlinkClick r:id="rId2" action="ppaction://hlinkfile"/>
          </p:cNvPr>
          <p:cNvPicPr>
            <a:picLocks noChangeAspect="1"/>
          </p:cNvPicPr>
          <p:nvPr/>
        </p:nvPicPr>
        <p:blipFill>
          <a:blip r:embed="rId3"/>
          <a:stretch>
            <a:fillRect/>
          </a:stretch>
        </p:blipFill>
        <p:spPr>
          <a:xfrm>
            <a:off x="251520" y="4104531"/>
            <a:ext cx="8797382" cy="1819410"/>
          </a:xfrm>
          <a:prstGeom prst="rect">
            <a:avLst/>
          </a:prstGeom>
          <a:noFill/>
          <a:ln w="9525">
            <a:noFill/>
          </a:ln>
        </p:spPr>
      </p:pic>
    </p:spTree>
    <p:extLst>
      <p:ext uri="{BB962C8B-B14F-4D97-AF65-F5344CB8AC3E}">
        <p14:creationId xmlns:p14="http://schemas.microsoft.com/office/powerpoint/2010/main" val="11986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23</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en-US" altLang="zh-CN" sz="600" b="1" dirty="0">
              <a:latin typeface="华文细黑" panose="02010600040101010101" pitchFamily="2" charset="-122"/>
              <a:ea typeface="华文细黑" panose="02010600040101010101" pitchFamily="2" charset="-122"/>
            </a:endParaRPr>
          </a:p>
          <a:p>
            <a:pPr marL="0" lvl="0" indent="612000">
              <a:lnSpc>
                <a:spcPct val="150000"/>
              </a:lnSpc>
              <a:spcBef>
                <a:spcPts val="600"/>
              </a:spcBef>
              <a:buClr>
                <a:srgbClr val="FC6C2C"/>
              </a:buClr>
              <a:buNone/>
            </a:pPr>
            <a:r>
              <a:rPr lang="zh-CN" altLang="en-US" sz="2400" b="1" dirty="0">
                <a:solidFill>
                  <a:srgbClr val="5F5F5F"/>
                </a:solidFill>
                <a:latin typeface="华文细黑" panose="02010600040101010101" pitchFamily="2" charset="-122"/>
                <a:ea typeface="华文细黑" panose="02010600040101010101" pitchFamily="2" charset="-122"/>
              </a:rPr>
              <a:t>（1）数字图像篡改手段</a:t>
            </a:r>
            <a:endParaRPr lang="en-US" altLang="zh-CN" sz="2200" b="1" dirty="0">
              <a:solidFill>
                <a:srgbClr val="5F5F5F"/>
              </a:solidFill>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⑥计算机生成</a:t>
            </a: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22532" name="矩形 120835"/>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3" name="矩形 12083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4" name="矩形 12083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5" name="矩形 12083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6" name="矩形 12083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7" name="矩形 12084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39" name="矩形 12084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1" name="矩形 12084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2" name="矩形 1208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3" name="矩形 12084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4" name="矩形 12084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120852" name="图片 120851"/>
          <p:cNvPicPr>
            <a:picLocks noChangeAspect="1"/>
          </p:cNvPicPr>
          <p:nvPr/>
        </p:nvPicPr>
        <p:blipFill>
          <a:blip r:embed="rId2"/>
          <a:srcRect b="11448"/>
          <a:stretch>
            <a:fillRect/>
          </a:stretch>
        </p:blipFill>
        <p:spPr>
          <a:xfrm>
            <a:off x="395536" y="3454614"/>
            <a:ext cx="8657534" cy="2314349"/>
          </a:xfrm>
          <a:prstGeom prst="rect">
            <a:avLst/>
          </a:prstGeom>
          <a:noFill/>
          <a:ln w="1270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24</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120835" name="文本占位符 120834"/>
          <p:cNvSpPr>
            <a:spLocks noGrp="1"/>
          </p:cNvSpPr>
          <p:nvPr>
            <p:ph type="body" sz="half" idx="4294967295"/>
          </p:nvPr>
        </p:nvSpPr>
        <p:spPr>
          <a:xfrm>
            <a:off x="934720" y="1449705"/>
            <a:ext cx="8209280" cy="51117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lvl="0" indent="612000">
              <a:lnSpc>
                <a:spcPct val="150000"/>
              </a:lnSpc>
              <a:spcBef>
                <a:spcPts val="600"/>
              </a:spcBef>
              <a:buClr>
                <a:srgbClr val="FC6C2C"/>
              </a:buClr>
              <a:buNone/>
            </a:pPr>
            <a:r>
              <a:rPr lang="zh-CN" altLang="en-US" sz="2400" b="1" dirty="0">
                <a:solidFill>
                  <a:srgbClr val="5F5F5F"/>
                </a:solidFill>
                <a:latin typeface="华文细黑" panose="02010600040101010101" pitchFamily="2" charset="-122"/>
                <a:ea typeface="华文细黑" panose="02010600040101010101" pitchFamily="2" charset="-122"/>
              </a:rPr>
              <a:t>（1）数字图像篡改手段</a:t>
            </a:r>
            <a:endParaRPr lang="en-US" altLang="zh-CN" sz="2200" b="1" dirty="0">
              <a:solidFill>
                <a:srgbClr val="5F5F5F"/>
              </a:solidFill>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⑦ JPEG 重压缩</a:t>
            </a:r>
            <a:endParaRPr lang="en-US" altLang="zh-CN" sz="2200" b="1" dirty="0">
              <a:solidFill>
                <a:srgbClr val="5F5F5F"/>
              </a:solidFill>
              <a:latin typeface="华文细黑" panose="02010600040101010101" pitchFamily="2" charset="-122"/>
              <a:ea typeface="华文细黑" panose="02010600040101010101" pitchFamily="2" charset="-122"/>
            </a:endParaRPr>
          </a:p>
          <a:p>
            <a:pPr marL="180000" lvl="0" indent="558000">
              <a:lnSpc>
                <a:spcPct val="150000"/>
              </a:lnSpc>
              <a:spcBef>
                <a:spcPts val="600"/>
              </a:spcBef>
              <a:buClr>
                <a:srgbClr val="FC6C2C"/>
              </a:buClr>
              <a:buNone/>
            </a:pPr>
            <a:r>
              <a:rPr lang="zh-CN" altLang="en-US" sz="2200" b="1" dirty="0">
                <a:solidFill>
                  <a:srgbClr val="5F5F5F"/>
                </a:solidFill>
                <a:latin typeface="华文细黑" panose="02010600040101010101" pitchFamily="2" charset="-122"/>
                <a:ea typeface="华文细黑" panose="02010600040101010101" pitchFamily="2" charset="-122"/>
              </a:rPr>
              <a:t>⑧二次获取</a:t>
            </a:r>
          </a:p>
          <a:p>
            <a:pPr marL="0" indent="457200" algn="l">
              <a:lnSpc>
                <a:spcPct val="150000"/>
              </a:lnSpc>
              <a:spcBef>
                <a:spcPts val="600"/>
              </a:spcBef>
              <a:buSzTx/>
              <a:buFont typeface="Wingdings" panose="05000000000000000000" pitchFamily="2" charset="2"/>
              <a:buNone/>
            </a:pP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22538" name="矩形 1208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2540" name="矩形 1208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extLst>
      <p:ext uri="{BB962C8B-B14F-4D97-AF65-F5344CB8AC3E}">
        <p14:creationId xmlns:p14="http://schemas.microsoft.com/office/powerpoint/2010/main" val="2226785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25</a:t>
            </a:fld>
            <a:endParaRPr lang="zh-CN" altLang="en-US" sz="1400" b="0" dirty="0">
              <a:latin typeface="Times New Roman" panose="02020603050405020304" pitchFamily="18" charset="0"/>
              <a:ea typeface="宋体" panose="02010600030101010101" pitchFamily="2" charset="-122"/>
            </a:endParaRPr>
          </a:p>
        </p:txBody>
      </p:sp>
      <p:sp>
        <p:nvSpPr>
          <p:cNvPr id="122882" name="标题 12288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3555" name="文本占位符 122882"/>
          <p:cNvSpPr>
            <a:spLocks noGrp="1"/>
          </p:cNvSpPr>
          <p:nvPr>
            <p:ph type="body" sz="half" idx="4294967295"/>
          </p:nvPr>
        </p:nvSpPr>
        <p:spPr>
          <a:xfrm>
            <a:off x="932717" y="1450673"/>
            <a:ext cx="7561580" cy="4563842"/>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数字内容篡改手段</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500" b="1" dirty="0">
                <a:solidFill>
                  <a:schemeClr val="tx1"/>
                </a:solidFill>
                <a:latin typeface="华文细黑" panose="02010600040101010101" pitchFamily="2" charset="-122"/>
                <a:ea typeface="华文细黑" panose="02010600040101010101" pitchFamily="2" charset="-122"/>
              </a:rPr>
              <a:t>（2）数字音频篡改手段</a:t>
            </a:r>
          </a:p>
          <a:p>
            <a:pPr marL="18000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①数字音频片断的删除 </a:t>
            </a:r>
          </a:p>
          <a:p>
            <a:pPr marL="18000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②数字音频片段的剪接 </a:t>
            </a:r>
          </a:p>
          <a:p>
            <a:pPr marL="18000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③数字音频片段的插入 </a:t>
            </a:r>
          </a:p>
          <a:p>
            <a:pPr marL="18000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④修饰局部的音频片段 </a:t>
            </a:r>
          </a:p>
        </p:txBody>
      </p:sp>
      <p:sp>
        <p:nvSpPr>
          <p:cNvPr id="23556" name="矩形 122883"/>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57" name="矩形 12288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58" name="矩形 12288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59" name="矩形 12288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0" name="矩形 12288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1" name="矩形 12288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2" name="矩形 12288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3" name="矩形 12289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4" name="矩形 12289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5" name="矩形 12289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6" name="矩形 12289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7" name="矩形 12289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3568" name="矩形 12289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26</a:t>
            </a:fld>
            <a:endParaRPr lang="zh-CN" altLang="en-US" sz="1400" b="0" dirty="0">
              <a:latin typeface="Times New Roman" panose="02020603050405020304" pitchFamily="18" charset="0"/>
              <a:ea typeface="宋体" panose="02010600030101010101" pitchFamily="2" charset="-122"/>
            </a:endParaRPr>
          </a:p>
        </p:txBody>
      </p:sp>
      <p:sp>
        <p:nvSpPr>
          <p:cNvPr id="123906" name="标题 12390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4579" name="文本占位符 123906"/>
          <p:cNvSpPr>
            <a:spLocks noGrp="1"/>
          </p:cNvSpPr>
          <p:nvPr>
            <p:ph type="body" sz="half" idx="4294967295"/>
          </p:nvPr>
        </p:nvSpPr>
        <p:spPr>
          <a:xfrm>
            <a:off x="931240" y="1491404"/>
            <a:ext cx="7887564" cy="5147945"/>
          </a:xfrm>
        </p:spPr>
        <p:txBody>
          <a:bodyPr anchor="t">
            <a:normAutofit fontScale="87500"/>
          </a:bodyPr>
          <a:lstStyle/>
          <a:p>
            <a:pPr marL="609600" indent="-609600">
              <a:buSzPct val="100000"/>
              <a:buFont typeface="Wingdings" panose="05000000000000000000" pitchFamily="2" charset="2"/>
            </a:pPr>
            <a:r>
              <a:rPr lang="en-US" altLang="en-US" sz="3200" b="1" dirty="0">
                <a:latin typeface="华文细黑" panose="02010600040101010101" pitchFamily="2" charset="-122"/>
                <a:ea typeface="华文细黑" panose="02010600040101010101" pitchFamily="2" charset="-122"/>
              </a:rPr>
              <a:t>数字内容篡改手段</a:t>
            </a:r>
            <a:endParaRPr lang="zh-CN" altLang="en-US" sz="3200" b="1" dirty="0">
              <a:ea typeface="华文细黑" panose="02010600040101010101" pitchFamily="2" charset="-122"/>
            </a:endParaRPr>
          </a:p>
          <a:p>
            <a:pPr marL="609600" indent="-609600">
              <a:buClr>
                <a:schemeClr val="accent2"/>
              </a:buClr>
              <a:buSzPct val="80000"/>
              <a:buFont typeface="Wingdings" panose="05000000000000000000" pitchFamily="2" charset="2"/>
            </a:pPr>
            <a:endParaRPr lang="zh-CN" altLang="en-US" sz="7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500" b="1" dirty="0">
                <a:solidFill>
                  <a:schemeClr val="tx1"/>
                </a:solidFill>
                <a:latin typeface="华文细黑" panose="02010600040101010101" pitchFamily="2" charset="-122"/>
                <a:ea typeface="华文细黑" panose="02010600040101010101" pitchFamily="2" charset="-122"/>
              </a:rPr>
              <a:t>（3）数字视频篡改手段</a:t>
            </a:r>
          </a:p>
          <a:p>
            <a:pPr marL="0" indent="558000" algn="l">
              <a:lnSpc>
                <a:spcPct val="150000"/>
              </a:lnSpc>
              <a:spcBef>
                <a:spcPts val="600"/>
              </a:spcBef>
              <a:buSzTx/>
              <a:buFont typeface="Wingdings" panose="05000000000000000000" pitchFamily="2" charset="2"/>
              <a:buNone/>
            </a:pPr>
            <a:r>
              <a:rPr lang="zh-CN" altLang="en-US" sz="2500" b="1" dirty="0">
                <a:solidFill>
                  <a:schemeClr val="tx1"/>
                </a:solidFill>
                <a:latin typeface="华文细黑" panose="02010600040101010101" pitchFamily="2" charset="-122"/>
                <a:ea typeface="华文细黑" panose="02010600040101010101" pitchFamily="2" charset="-122"/>
              </a:rPr>
              <a:t>一个标准的视频篡改过程一般都要经过以下三个操作。</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①帧复制或插入、删除操作，即视频合成操作。</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②模糊润饰操作，即为了消除局部复制造成的可视篡改痕迹的操作。</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③ MPEG 二次压缩操作，在完成了像素域的篡改操作后，需要对图像序列进行重新压缩。</a:t>
            </a:r>
          </a:p>
          <a:p>
            <a:pPr marL="0" indent="558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此外数字</a:t>
            </a:r>
            <a:r>
              <a:rPr lang="zh-CN" altLang="en-US" sz="2500" b="1" dirty="0">
                <a:solidFill>
                  <a:schemeClr val="tx1"/>
                </a:solidFill>
                <a:latin typeface="华文细黑" panose="02010600040101010101" pitchFamily="2" charset="-122"/>
                <a:ea typeface="华文细黑" panose="02010600040101010101" pitchFamily="2" charset="-122"/>
              </a:rPr>
              <a:t>图像</a:t>
            </a:r>
            <a:r>
              <a:rPr lang="zh-CN" altLang="en-US" sz="2400" b="1" dirty="0">
                <a:solidFill>
                  <a:schemeClr val="tx1"/>
                </a:solidFill>
                <a:latin typeface="华文细黑" panose="02010600040101010101" pitchFamily="2" charset="-122"/>
                <a:ea typeface="华文细黑" panose="02010600040101010101" pitchFamily="2" charset="-122"/>
              </a:rPr>
              <a:t>和数字音频中的篡改手段也可以应用于数字视频。</a:t>
            </a:r>
          </a:p>
        </p:txBody>
      </p:sp>
      <p:sp>
        <p:nvSpPr>
          <p:cNvPr id="24580" name="矩形 123907"/>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1" name="矩形 12390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2" name="矩形 12390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3" name="矩形 12391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4" name="矩形 12391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5" name="矩形 12391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6" name="矩形 12391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7" name="矩形 12391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8" name="矩形 12391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89" name="矩形 12391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90" name="矩形 12391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91" name="矩形 12391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4592" name="矩形 12391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27</a:t>
            </a:fld>
            <a:endParaRPr lang="zh-CN" altLang="en-US" sz="1400" b="0" dirty="0">
              <a:latin typeface="Times New Roman" panose="02020603050405020304" pitchFamily="18" charset="0"/>
              <a:ea typeface="宋体" panose="02010600030101010101" pitchFamily="2" charset="-122"/>
            </a:endParaRPr>
          </a:p>
        </p:txBody>
      </p:sp>
      <p:sp>
        <p:nvSpPr>
          <p:cNvPr id="124930" name="标题 12492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5603" name="文本占位符 124930"/>
          <p:cNvSpPr>
            <a:spLocks noGrp="1"/>
          </p:cNvSpPr>
          <p:nvPr>
            <p:ph type="body" sz="half" idx="4294967295"/>
          </p:nvPr>
        </p:nvSpPr>
        <p:spPr>
          <a:xfrm>
            <a:off x="628650" y="1557655"/>
            <a:ext cx="8137525" cy="4679950"/>
          </a:xfrm>
        </p:spPr>
        <p:txBody>
          <a:bodyPr anchor="t"/>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数字内容篡改取证的评价指标</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数字内容篡改取证方法的几种较为常见的评价指标为：准确度（Precision）、完整度（Recall）和 F1-measure。假设 P 和R 分别表征了检测算法的准确度和完整度。</a:t>
            </a:r>
          </a:p>
        </p:txBody>
      </p:sp>
      <p:graphicFrame>
        <p:nvGraphicFramePr>
          <p:cNvPr id="25604" name="内容占位符 124948"/>
          <p:cNvGraphicFramePr>
            <a:graphicFrameLocks noGrp="1"/>
          </p:cNvGraphicFramePr>
          <p:nvPr>
            <p:ph sz="quarter" idx="4294967295"/>
            <p:extLst>
              <p:ext uri="{D42A27DB-BD31-4B8C-83A1-F6EECF244321}">
                <p14:modId xmlns:p14="http://schemas.microsoft.com/office/powerpoint/2010/main" val="369742373"/>
              </p:ext>
            </p:extLst>
          </p:nvPr>
        </p:nvGraphicFramePr>
        <p:xfrm>
          <a:off x="1590531" y="4187749"/>
          <a:ext cx="2261389" cy="589356"/>
        </p:xfrm>
        <a:graphic>
          <a:graphicData uri="http://schemas.openxmlformats.org/presentationml/2006/ole">
            <mc:AlternateContent xmlns:mc="http://schemas.openxmlformats.org/markup-compatibility/2006">
              <mc:Choice xmlns:v="urn:schemas-microsoft-com:vml" Requires="v">
                <p:oleObj r:id="rId2" imgW="1320165" imgH="419100" progId="Equation.DSMT4">
                  <p:embed/>
                </p:oleObj>
              </mc:Choice>
              <mc:Fallback>
                <p:oleObj r:id="rId2" imgW="1320165" imgH="419100" progId="Equation.DSMT4">
                  <p:embed/>
                  <p:pic>
                    <p:nvPicPr>
                      <p:cNvPr id="0" name="图片 3077"/>
                      <p:cNvPicPr/>
                      <p:nvPr/>
                    </p:nvPicPr>
                    <p:blipFill>
                      <a:blip r:embed="rId3"/>
                      <a:stretch>
                        <a:fillRect/>
                      </a:stretch>
                    </p:blipFill>
                    <p:spPr>
                      <a:xfrm>
                        <a:off x="1590531" y="4187749"/>
                        <a:ext cx="2261389" cy="589356"/>
                      </a:xfrm>
                      <a:prstGeom prst="rect">
                        <a:avLst/>
                      </a:prstGeom>
                      <a:noFill/>
                      <a:ln w="38100">
                        <a:miter/>
                      </a:ln>
                    </p:spPr>
                  </p:pic>
                </p:oleObj>
              </mc:Fallback>
            </mc:AlternateContent>
          </a:graphicData>
        </a:graphic>
      </p:graphicFrame>
      <p:sp>
        <p:nvSpPr>
          <p:cNvPr id="25605" name="矩形 12493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06" name="矩形 12493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07" name="矩形 12493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08" name="矩形 12493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09" name="矩形 12493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0" name="矩形 12493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1" name="矩形 12493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2" name="矩形 12493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3" name="矩形 12493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4" name="矩形 12494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5" name="矩形 12494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6" name="矩形 12494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7" name="矩形 12494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8" name="矩形 124945"/>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5619" name="矩形 12494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25620" name="内容占位符 124954"/>
          <p:cNvGraphicFramePr>
            <a:graphicFrameLocks noGrp="1"/>
          </p:cNvGraphicFramePr>
          <p:nvPr>
            <p:ph sz="quarter" idx="4294967295"/>
            <p:extLst>
              <p:ext uri="{D42A27DB-BD31-4B8C-83A1-F6EECF244321}">
                <p14:modId xmlns:p14="http://schemas.microsoft.com/office/powerpoint/2010/main" val="1776580441"/>
              </p:ext>
            </p:extLst>
          </p:nvPr>
        </p:nvGraphicFramePr>
        <p:xfrm>
          <a:off x="1556665" y="5240292"/>
          <a:ext cx="2765445" cy="589356"/>
        </p:xfrm>
        <a:graphic>
          <a:graphicData uri="http://schemas.openxmlformats.org/presentationml/2006/ole">
            <mc:AlternateContent xmlns:mc="http://schemas.openxmlformats.org/markup-compatibility/2006">
              <mc:Choice xmlns:v="urn:schemas-microsoft-com:vml" Requires="v">
                <p:oleObj r:id="rId4" imgW="1625600" imgH="419100" progId="Equation.DSMT4">
                  <p:embed/>
                </p:oleObj>
              </mc:Choice>
              <mc:Fallback>
                <p:oleObj r:id="rId4" imgW="1625600" imgH="419100" progId="Equation.DSMT4">
                  <p:embed/>
                  <p:pic>
                    <p:nvPicPr>
                      <p:cNvPr id="0" name="图片 3080"/>
                      <p:cNvPicPr/>
                      <p:nvPr/>
                    </p:nvPicPr>
                    <p:blipFill>
                      <a:blip r:embed="rId5"/>
                      <a:stretch>
                        <a:fillRect/>
                      </a:stretch>
                    </p:blipFill>
                    <p:spPr>
                      <a:xfrm>
                        <a:off x="1556665" y="5240292"/>
                        <a:ext cx="2765445" cy="589356"/>
                      </a:xfrm>
                      <a:prstGeom prst="rect">
                        <a:avLst/>
                      </a:prstGeom>
                      <a:noFill/>
                      <a:ln w="38100">
                        <a:miter/>
                      </a:ln>
                    </p:spPr>
                  </p:pic>
                </p:oleObj>
              </mc:Fallback>
            </mc:AlternateContent>
          </a:graphicData>
        </a:graphic>
      </p:graphicFrame>
      <p:graphicFrame>
        <p:nvGraphicFramePr>
          <p:cNvPr id="25621" name="对象 124956"/>
          <p:cNvGraphicFramePr/>
          <p:nvPr>
            <p:extLst>
              <p:ext uri="{D42A27DB-BD31-4B8C-83A1-F6EECF244321}">
                <p14:modId xmlns:p14="http://schemas.microsoft.com/office/powerpoint/2010/main" val="2269597408"/>
              </p:ext>
            </p:extLst>
          </p:nvPr>
        </p:nvGraphicFramePr>
        <p:xfrm>
          <a:off x="4403699" y="4187749"/>
          <a:ext cx="3926263" cy="589356"/>
        </p:xfrm>
        <a:graphic>
          <a:graphicData uri="http://schemas.openxmlformats.org/presentationml/2006/ole">
            <mc:AlternateContent xmlns:mc="http://schemas.openxmlformats.org/markup-compatibility/2006">
              <mc:Choice xmlns:v="urn:schemas-microsoft-com:vml" Requires="v">
                <p:oleObj r:id="rId6" imgW="2146300" imgH="419100" progId="Equation.DSMT4">
                  <p:embed/>
                </p:oleObj>
              </mc:Choice>
              <mc:Fallback>
                <p:oleObj r:id="rId6" imgW="2146300" imgH="419100" progId="Equation.DSMT4">
                  <p:embed/>
                  <p:pic>
                    <p:nvPicPr>
                      <p:cNvPr id="0" name="图片 3078"/>
                      <p:cNvPicPr/>
                      <p:nvPr/>
                    </p:nvPicPr>
                    <p:blipFill>
                      <a:blip r:embed="rId7"/>
                      <a:stretch>
                        <a:fillRect/>
                      </a:stretch>
                    </p:blipFill>
                    <p:spPr>
                      <a:xfrm>
                        <a:off x="4403699" y="4187749"/>
                        <a:ext cx="3926263" cy="589356"/>
                      </a:xfrm>
                      <a:prstGeom prst="rect">
                        <a:avLst/>
                      </a:prstGeom>
                      <a:noFill/>
                      <a:ln w="38100">
                        <a:noFill/>
                        <a:miter/>
                      </a:ln>
                    </p:spPr>
                  </p:pic>
                </p:oleObj>
              </mc:Fallback>
            </mc:AlternateContent>
          </a:graphicData>
        </a:graphic>
      </p:graphicFrame>
      <p:graphicFrame>
        <p:nvGraphicFramePr>
          <p:cNvPr id="25622" name="对象 124958"/>
          <p:cNvGraphicFramePr/>
          <p:nvPr>
            <p:extLst>
              <p:ext uri="{D42A27DB-BD31-4B8C-83A1-F6EECF244321}">
                <p14:modId xmlns:p14="http://schemas.microsoft.com/office/powerpoint/2010/main" val="1125852165"/>
              </p:ext>
            </p:extLst>
          </p:nvPr>
        </p:nvGraphicFramePr>
        <p:xfrm>
          <a:off x="4403699" y="5244031"/>
          <a:ext cx="3852748" cy="589357"/>
        </p:xfrm>
        <a:graphic>
          <a:graphicData uri="http://schemas.openxmlformats.org/presentationml/2006/ole">
            <mc:AlternateContent xmlns:mc="http://schemas.openxmlformats.org/markup-compatibility/2006">
              <mc:Choice xmlns:v="urn:schemas-microsoft-com:vml" Requires="v">
                <p:oleObj r:id="rId8" imgW="2146300" imgH="419100" progId="Equation.DSMT4">
                  <p:embed/>
                </p:oleObj>
              </mc:Choice>
              <mc:Fallback>
                <p:oleObj r:id="rId8" imgW="2146300" imgH="419100" progId="Equation.DSMT4">
                  <p:embed/>
                  <p:pic>
                    <p:nvPicPr>
                      <p:cNvPr id="0" name="图片 3079"/>
                      <p:cNvPicPr/>
                      <p:nvPr/>
                    </p:nvPicPr>
                    <p:blipFill>
                      <a:blip r:embed="rId9"/>
                      <a:stretch>
                        <a:fillRect/>
                      </a:stretch>
                    </p:blipFill>
                    <p:spPr>
                      <a:xfrm>
                        <a:off x="4403699" y="5244031"/>
                        <a:ext cx="3852748" cy="589357"/>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28</a:t>
            </a:fld>
            <a:endParaRPr lang="zh-CN" altLang="en-US" sz="1400" b="0" dirty="0">
              <a:latin typeface="Times New Roman" panose="02020603050405020304" pitchFamily="18" charset="0"/>
              <a:ea typeface="宋体" panose="02010600030101010101" pitchFamily="2" charset="-122"/>
            </a:endParaRPr>
          </a:p>
        </p:txBody>
      </p:sp>
      <p:sp>
        <p:nvSpPr>
          <p:cNvPr id="129026" name="标题 12902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6627" name="文本占位符 129026"/>
          <p:cNvSpPr>
            <a:spLocks noGrp="1"/>
          </p:cNvSpPr>
          <p:nvPr>
            <p:ph type="body" sz="half" idx="4294967295"/>
          </p:nvPr>
        </p:nvSpPr>
        <p:spPr>
          <a:xfrm>
            <a:off x="628650" y="1561070"/>
            <a:ext cx="8316595" cy="4752975"/>
          </a:xfrm>
        </p:spPr>
        <p:txBody>
          <a:bodyPr anchor="t"/>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数字内容篡改取证的评价指标</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然而检测正确率和检测完整度来衡量检测算法仍然较为片面，且提高检测正确率会降低检测完整度，反之亦然，将两个标准合并，形成 F1-measure.</a:t>
            </a:r>
          </a:p>
        </p:txBody>
      </p:sp>
      <p:sp>
        <p:nvSpPr>
          <p:cNvPr id="26628" name="矩形 129028"/>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29" name="矩形 1290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0" name="矩形 12903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1" name="矩形 12903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2" name="矩形 12903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3" name="矩形 12903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4" name="矩形 12903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5" name="矩形 12903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6" name="矩形 12903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7" name="矩形 12903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8" name="矩形 12903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39" name="矩形 12903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40" name="矩形 12904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41" name="矩形 129041"/>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42" name="矩形 129042"/>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6643" name="矩形 129049"/>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26644" name="对象 129048"/>
          <p:cNvGraphicFramePr/>
          <p:nvPr>
            <p:extLst>
              <p:ext uri="{D42A27DB-BD31-4B8C-83A1-F6EECF244321}">
                <p14:modId xmlns:p14="http://schemas.microsoft.com/office/powerpoint/2010/main" val="375931588"/>
              </p:ext>
            </p:extLst>
          </p:nvPr>
        </p:nvGraphicFramePr>
        <p:xfrm>
          <a:off x="2563813" y="4025385"/>
          <a:ext cx="3808388" cy="915782"/>
        </p:xfrm>
        <a:graphic>
          <a:graphicData uri="http://schemas.openxmlformats.org/presentationml/2006/ole">
            <mc:AlternateContent xmlns:mc="http://schemas.openxmlformats.org/markup-compatibility/2006">
              <mc:Choice xmlns:v="urn:schemas-microsoft-com:vml" Requires="v">
                <p:oleObj r:id="rId2" imgW="2005965" imgH="584200" progId="Equation.DSMT4">
                  <p:embed/>
                </p:oleObj>
              </mc:Choice>
              <mc:Fallback>
                <p:oleObj r:id="rId2" imgW="2005965" imgH="584200" progId="Equation.DSMT4">
                  <p:embed/>
                  <p:pic>
                    <p:nvPicPr>
                      <p:cNvPr id="0" name="图片 3075"/>
                      <p:cNvPicPr/>
                      <p:nvPr/>
                    </p:nvPicPr>
                    <p:blipFill>
                      <a:blip r:embed="rId3"/>
                      <a:stretch>
                        <a:fillRect/>
                      </a:stretch>
                    </p:blipFill>
                    <p:spPr>
                      <a:xfrm>
                        <a:off x="2563813" y="4025385"/>
                        <a:ext cx="3808388" cy="915782"/>
                      </a:xfrm>
                      <a:prstGeom prst="rect">
                        <a:avLst/>
                      </a:prstGeom>
                      <a:noFill/>
                      <a:ln w="38100">
                        <a:noFill/>
                        <a:miter/>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29</a:t>
            </a:fld>
            <a:endParaRPr lang="zh-CN" altLang="en-US" sz="1400" b="0" dirty="0">
              <a:latin typeface="Times New Roman" panose="02020603050405020304" pitchFamily="18" charset="0"/>
              <a:ea typeface="宋体" panose="02010600030101010101" pitchFamily="2" charset="-122"/>
            </a:endParaRPr>
          </a:p>
        </p:txBody>
      </p:sp>
      <p:sp>
        <p:nvSpPr>
          <p:cNvPr id="159746" name="标题 1597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7651" name="文本占位符 159746"/>
          <p:cNvSpPr>
            <a:spLocks noGrp="1"/>
          </p:cNvSpPr>
          <p:nvPr>
            <p:ph type="body" sz="half" idx="4294967295"/>
          </p:nvPr>
        </p:nvSpPr>
        <p:spPr>
          <a:xfrm>
            <a:off x="625106" y="1557109"/>
            <a:ext cx="8101330" cy="460819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（1）数字图像篡改取证方法</a:t>
            </a:r>
          </a:p>
          <a:p>
            <a:pPr marL="360000" indent="558000" algn="l">
              <a:lnSpc>
                <a:spcPct val="150000"/>
              </a:lnSpc>
              <a:spcBef>
                <a:spcPts val="600"/>
              </a:spcBef>
              <a:buSzTx/>
              <a:buFont typeface="Wingdings" panose="05000000000000000000" pitchFamily="2" charset="2"/>
              <a:buNone/>
            </a:pPr>
            <a:r>
              <a:rPr lang="en-US" altLang="en-US" sz="2200" b="1" dirty="0">
                <a:solidFill>
                  <a:schemeClr val="tx1"/>
                </a:solidFill>
              </a:rPr>
              <a:t>①</a:t>
            </a:r>
            <a:r>
              <a:rPr lang="zh-CN" altLang="en-US" sz="2200" b="1" dirty="0">
                <a:solidFill>
                  <a:schemeClr val="tx1"/>
                </a:solidFill>
                <a:latin typeface="华文细黑" panose="02010600040101010101" pitchFamily="2" charset="-122"/>
                <a:ea typeface="华文细黑" panose="02010600040101010101" pitchFamily="2" charset="-122"/>
              </a:rPr>
              <a:t>基于像素的检测方法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②基于压缩格式的检测方法。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③基于成像设备特性的检测方法。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④基于物理原理的检测方法</a:t>
            </a:r>
          </a:p>
          <a:p>
            <a:pPr marL="360000" indent="558000" algn="l">
              <a:lnSpc>
                <a:spcPct val="150000"/>
              </a:lnSpc>
              <a:spcBef>
                <a:spcPts val="600"/>
              </a:spcBef>
              <a:buSzTx/>
              <a:buFont typeface="Wingdings" panose="05000000000000000000" pitchFamily="2" charset="2"/>
              <a:buNone/>
            </a:pPr>
            <a:r>
              <a:rPr lang="en-US" altLang="zh-CN" sz="2200" b="1" dirty="0">
                <a:solidFill>
                  <a:schemeClr val="tx1"/>
                </a:solidFill>
              </a:rPr>
              <a:t>⑤</a:t>
            </a:r>
            <a:r>
              <a:rPr lang="zh-CN" altLang="en-US" sz="2200" b="1" dirty="0">
                <a:solidFill>
                  <a:schemeClr val="tx1"/>
                </a:solidFill>
                <a:latin typeface="华文细黑" panose="02010600040101010101" pitchFamily="2" charset="-122"/>
                <a:ea typeface="华文细黑" panose="02010600040101010101" pitchFamily="2" charset="-122"/>
              </a:rPr>
              <a:t>基于对象几何关系的检测方法</a:t>
            </a:r>
          </a:p>
        </p:txBody>
      </p:sp>
      <p:sp>
        <p:nvSpPr>
          <p:cNvPr id="27652" name="矩形 15974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3" name="矩形 15974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4" name="矩形 1597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5" name="矩形 15975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6" name="矩形 15975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7" name="矩形 15975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8" name="矩形 15975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59" name="矩形 15975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0" name="矩形 15975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1" name="矩形 15975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2" name="矩形 15975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3" name="矩形 15975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4" name="矩形 15975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5" name="矩形 15976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6" name="矩形 15976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7667" name="矩形 15976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30</a:t>
            </a:fld>
            <a:endParaRPr lang="zh-CN" altLang="en-US" sz="1400" b="0" dirty="0">
              <a:latin typeface="Times New Roman" panose="02020603050405020304" pitchFamily="18" charset="0"/>
              <a:ea typeface="宋体" panose="02010600030101010101" pitchFamily="2" charset="-122"/>
            </a:endParaRPr>
          </a:p>
        </p:txBody>
      </p:sp>
      <p:sp>
        <p:nvSpPr>
          <p:cNvPr id="131074" name="标题 13107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8675" name="文本占位符 131074"/>
          <p:cNvSpPr>
            <a:spLocks noGrp="1"/>
          </p:cNvSpPr>
          <p:nvPr>
            <p:ph type="body" sz="half" idx="4294967295"/>
          </p:nvPr>
        </p:nvSpPr>
        <p:spPr>
          <a:xfrm>
            <a:off x="628650" y="1556792"/>
            <a:ext cx="8100695" cy="4759325"/>
          </a:xfrm>
        </p:spPr>
        <p:txBody>
          <a:bodyPr anchor="t">
            <a:normAutofit fontScale="87500"/>
          </a:bodyPr>
          <a:lstStyle/>
          <a:p>
            <a:pPr marL="609600" indent="-609600" algn="l" fontAlgn="base">
              <a:lnSpc>
                <a:spcPct val="100000"/>
              </a:lnSpc>
              <a:buSzTx/>
              <a:buFont typeface="Wingdings" panose="05000000000000000000" pitchFamily="2" charset="2"/>
            </a:pPr>
            <a:r>
              <a:rPr lang="en-US" altLang="en-US" sz="3200" b="1" dirty="0">
                <a:latin typeface="华文细黑" panose="02010600040101010101" pitchFamily="2" charset="-122"/>
                <a:ea typeface="华文细黑" panose="02010600040101010101" pitchFamily="2" charset="-122"/>
              </a:rPr>
              <a:t>数字图像篡改取证方法</a:t>
            </a:r>
          </a:p>
          <a:p>
            <a:pPr marL="609600" indent="-609600">
              <a:buClr>
                <a:schemeClr val="accent2"/>
              </a:buClr>
              <a:buSzPct val="80000"/>
              <a:buFont typeface="Wingdings" panose="05000000000000000000" pitchFamily="2" charset="2"/>
            </a:pPr>
            <a:endParaRPr lang="zh-CN" altLang="en-US" sz="700" b="1" dirty="0">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en-US" altLang="en-US" sz="2500" b="1" dirty="0">
                <a:solidFill>
                  <a:schemeClr val="tx1"/>
                </a:solidFill>
              </a:rPr>
              <a:t>①</a:t>
            </a:r>
            <a:r>
              <a:rPr lang="zh-CN" altLang="en-US" sz="2500" b="1" dirty="0">
                <a:solidFill>
                  <a:schemeClr val="tx1"/>
                </a:solidFill>
                <a:latin typeface="华文细黑" panose="02010600040101010101" pitchFamily="2" charset="-122"/>
                <a:ea typeface="华文细黑" panose="02010600040101010101" pitchFamily="2" charset="-122"/>
              </a:rPr>
              <a:t>基于像素的检测方法</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通过检测像素级别上的统计异常信息可判断图像是否经过篡改。</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比较常见的方法主要有以下三类取证特征，即图像质量特征、二值相似度测度以及高阶小波系数统计特征。</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其中图像质量特征又包括基于像素差的测度、基于相关性的测度、基于边缘的测度、基于人类视觉特征的测度和基于频谱距离的测度，然后分为透视、半盲和全盲三种模式来讨论篡改问题。</a:t>
            </a:r>
          </a:p>
        </p:txBody>
      </p:sp>
      <p:sp>
        <p:nvSpPr>
          <p:cNvPr id="28676" name="矩形 13107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77" name="矩形 13107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78" name="矩形 13107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79" name="矩形 13107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0" name="矩形 13107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1" name="矩形 13108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2" name="矩形 13108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3" name="矩形 13108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4" name="矩形 13108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5" name="矩形 13108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6" name="矩形 13108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7" name="矩形 13108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8" name="矩形 13108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89" name="矩形 13108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90" name="矩形 13108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8691" name="矩形 13109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31</a:t>
            </a:fld>
            <a:endParaRPr lang="zh-CN" altLang="en-US" sz="1400" b="0" dirty="0">
              <a:latin typeface="Times New Roman" panose="02020603050405020304" pitchFamily="18" charset="0"/>
              <a:ea typeface="宋体" panose="02010600030101010101" pitchFamily="2" charset="-122"/>
            </a:endParaRPr>
          </a:p>
        </p:txBody>
      </p:sp>
      <p:sp>
        <p:nvSpPr>
          <p:cNvPr id="160770" name="标题 1607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29699" name="文本占位符 160770"/>
          <p:cNvSpPr>
            <a:spLocks noGrp="1"/>
          </p:cNvSpPr>
          <p:nvPr>
            <p:ph type="body" sz="half" idx="4294967295"/>
          </p:nvPr>
        </p:nvSpPr>
        <p:spPr>
          <a:xfrm>
            <a:off x="628650" y="1367860"/>
            <a:ext cx="8100695" cy="5076924"/>
          </a:xfrm>
        </p:spPr>
        <p:txBody>
          <a:bodyPr anchor="t">
            <a:normAutofit fontScale="87500"/>
          </a:bodyPr>
          <a:lstStyle/>
          <a:p>
            <a:pPr marL="609600" indent="-609600" algn="l" fontAlgn="base">
              <a:lnSpc>
                <a:spcPct val="100000"/>
              </a:lnSpc>
              <a:buSzTx/>
              <a:buFont typeface="Wingdings" panose="05000000000000000000" pitchFamily="2" charset="2"/>
            </a:pPr>
            <a:r>
              <a:rPr lang="en-US" altLang="en-US" sz="3200" b="1" dirty="0">
                <a:latin typeface="华文细黑" panose="02010600040101010101" pitchFamily="2" charset="-122"/>
                <a:ea typeface="华文细黑" panose="02010600040101010101" pitchFamily="2" charset="-122"/>
              </a:rPr>
              <a:t>数字图像篡改取证方法</a:t>
            </a:r>
          </a:p>
          <a:p>
            <a:pPr marL="609600" indent="-609600">
              <a:buClr>
                <a:schemeClr val="accent2"/>
              </a:buClr>
              <a:buSzPct val="80000"/>
              <a:buFont typeface="Wingdings" panose="05000000000000000000" pitchFamily="2" charset="2"/>
            </a:pPr>
            <a:endParaRPr lang="zh-CN" altLang="en-US" sz="7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500" b="1" dirty="0">
                <a:solidFill>
                  <a:schemeClr val="tx1"/>
                </a:solidFill>
                <a:latin typeface="华文细黑" panose="02010600040101010101" pitchFamily="2" charset="-122"/>
                <a:ea typeface="华文细黑" panose="02010600040101010101" pitchFamily="2" charset="-122"/>
              </a:rPr>
              <a:t>②基于压缩格式的检测方法。</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检查 JPEG 图像篡改有两个主要途径：双重 JPEG 压缩和 JPEG的块效应。</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通常，原始图像和篡改后的图像都用 JPEG 格式保存，尽管双重JPEG 压缩不一定表示图像被篡改，但有被篡改的嫌疑。通过分析离散余弦变换系数的直方图在单次和两次压缩下的不同，可以估计第一次压缩时所使用的量化系数。也可以通过引入一个块效应特征矩阵来反映未经剪切或再压缩图像的对称性，并指出这个对称性在遭到剪切或再压缩后会被破坏。</a:t>
            </a:r>
            <a:r>
              <a:rPr lang="zh-CN" altLang="en-US" sz="2300" dirty="0">
                <a:ea typeface="华文细黑" panose="02010600040101010101" pitchFamily="2" charset="-122"/>
              </a:rPr>
              <a:t> </a:t>
            </a:r>
          </a:p>
        </p:txBody>
      </p:sp>
      <p:sp>
        <p:nvSpPr>
          <p:cNvPr id="29700" name="矩形 16077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1" name="矩形 16077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2" name="矩形 1607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3" name="矩形 16077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4" name="矩形 16077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5" name="矩形 16077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6" name="矩形 16077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7" name="矩形 16077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8" name="矩形 16077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09" name="矩形 16078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10" name="矩形 16078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11" name="矩形 16078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12" name="矩形 16078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13" name="矩形 16078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14" name="矩形 16078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29715" name="矩形 16078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32</a:t>
            </a:fld>
            <a:endParaRPr lang="zh-CN" altLang="en-US" sz="1400" b="0" dirty="0">
              <a:latin typeface="Times New Roman" panose="02020603050405020304" pitchFamily="18" charset="0"/>
              <a:ea typeface="宋体" panose="02010600030101010101" pitchFamily="2" charset="-122"/>
            </a:endParaRPr>
          </a:p>
        </p:txBody>
      </p:sp>
      <p:sp>
        <p:nvSpPr>
          <p:cNvPr id="161794" name="标题 1617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0723" name="文本占位符 161794"/>
          <p:cNvSpPr>
            <a:spLocks noGrp="1"/>
          </p:cNvSpPr>
          <p:nvPr>
            <p:ph type="body" sz="half" idx="4294967295"/>
          </p:nvPr>
        </p:nvSpPr>
        <p:spPr>
          <a:xfrm>
            <a:off x="628650" y="1412777"/>
            <a:ext cx="8101330" cy="4943573"/>
          </a:xfrm>
        </p:spPr>
        <p:txBody>
          <a:bodyPr anchor="t">
            <a:normAutofit fontScale="87500" lnSpcReduction="10000"/>
          </a:bodyPr>
          <a:lstStyle/>
          <a:p>
            <a:pPr marL="609600" indent="-609600" algn="l" fontAlgn="base">
              <a:lnSpc>
                <a:spcPct val="100000"/>
              </a:lnSpc>
              <a:buSzTx/>
              <a:buFont typeface="Wingdings" panose="05000000000000000000" pitchFamily="2" charset="2"/>
            </a:pPr>
            <a:r>
              <a:rPr lang="en-US" altLang="en-US" sz="3200" b="1" dirty="0">
                <a:latin typeface="华文细黑" panose="02010600040101010101" pitchFamily="2" charset="-122"/>
                <a:ea typeface="华文细黑" panose="02010600040101010101" pitchFamily="2" charset="-122"/>
              </a:rPr>
              <a:t>数字图像篡改取证方法</a:t>
            </a:r>
          </a:p>
          <a:p>
            <a:pPr marL="609600" indent="-609600">
              <a:buClr>
                <a:schemeClr val="accent2"/>
              </a:buClr>
              <a:buSzPct val="80000"/>
              <a:buFont typeface="Wingdings" panose="05000000000000000000" pitchFamily="2" charset="2"/>
            </a:pPr>
            <a:endParaRPr lang="zh-CN" altLang="en-US" sz="7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500" b="1" dirty="0">
                <a:solidFill>
                  <a:schemeClr val="tx1"/>
                </a:solidFill>
                <a:latin typeface="华文细黑" panose="02010600040101010101" pitchFamily="2" charset="-122"/>
                <a:ea typeface="华文细黑" panose="02010600040101010101" pitchFamily="2" charset="-122"/>
              </a:rPr>
              <a:t>③基于成像设备特性的检测方法。</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数码相机的镜头、成像传感器和数字信号后处理会在成像过程中留下特有的设备痕迹和噪声，通过检查设备痕迹和噪声的一致性可判断是否发生篡改。可以根据色彩偏差的一致性判断图像是否发生篡改，也可以通过检测插值像素的周期相关性是否被破坏判断图像是否经过篡改，还可以通过检查图像内相机响应函数（CRF）的一致性来判别图像的篡改历史。</a:t>
            </a:r>
          </a:p>
          <a:p>
            <a:pPr marL="180000" indent="504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此外，还可将相机的成像环节中噪声模型参数的一致性作为图像篡改的检测依据。</a:t>
            </a:r>
          </a:p>
          <a:p>
            <a:pPr marL="609600" indent="-609600">
              <a:buClr>
                <a:schemeClr val="accent2"/>
              </a:buClr>
              <a:buSzPct val="80000"/>
              <a:buFont typeface="Wingdings" panose="05000000000000000000" pitchFamily="2" charset="2"/>
              <a:buNone/>
            </a:pPr>
            <a:endParaRPr lang="zh-CN" altLang="en-US" sz="2400" b="1" dirty="0"/>
          </a:p>
        </p:txBody>
      </p:sp>
      <p:sp>
        <p:nvSpPr>
          <p:cNvPr id="30724" name="矩形 16179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25" name="矩形 16179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26" name="矩形 1617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27" name="矩形 16179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28" name="矩形 16179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29" name="矩形 16180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0" name="矩形 16180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1" name="矩形 16180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2" name="矩形 16180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3" name="矩形 16180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4" name="矩形 16180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5" name="矩形 16180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6" name="矩形 16180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7" name="矩形 16180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8" name="矩形 16180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0739" name="矩形 16181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9218" name="Picture 2">
            <a:extLst>
              <a:ext uri="{FF2B5EF4-FFF2-40B4-BE49-F238E27FC236}">
                <a16:creationId xmlns:a16="http://schemas.microsoft.com/office/drawing/2014/main" id="{2529F21D-4358-F940-6084-3882B5F60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876080"/>
            <a:ext cx="4269663" cy="284866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0099DEAC-415A-50BA-F32A-95968A1DA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3860799"/>
            <a:ext cx="4074480" cy="2290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10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fade">
                                      <p:cBhvr>
                                        <p:cTn id="12" dur="10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33</a:t>
            </a:fld>
            <a:endParaRPr lang="zh-CN" altLang="en-US" sz="1400" b="0" dirty="0">
              <a:latin typeface="Times New Roman" panose="02020603050405020304" pitchFamily="18" charset="0"/>
              <a:ea typeface="宋体" panose="02010600030101010101" pitchFamily="2" charset="-122"/>
            </a:endParaRPr>
          </a:p>
        </p:txBody>
      </p:sp>
      <p:sp>
        <p:nvSpPr>
          <p:cNvPr id="162818" name="标题 16281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1747" name="文本占位符 162818"/>
          <p:cNvSpPr>
            <a:spLocks noGrp="1"/>
          </p:cNvSpPr>
          <p:nvPr>
            <p:ph type="body" sz="half" idx="4294967295"/>
          </p:nvPr>
        </p:nvSpPr>
        <p:spPr>
          <a:xfrm>
            <a:off x="628650" y="1484787"/>
            <a:ext cx="8101330" cy="4871564"/>
          </a:xfrm>
        </p:spPr>
        <p:txBody>
          <a:bodyPr anchor="t">
            <a:normAutofit fontScale="950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数字图像篡改取证方法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④基于物理原理的检测方法</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光照条件适合于检测拼接—合成类型的篡改图像。通过检测物理对象、光线和相机在三维空间中两两交互作用之间的异常可以判断图像是否发生篡改。篡改操作通常会破坏自然图像的光照一致性，而篡改操作很难把光照效果和定向的光源相匹配，因此，可根据图像中场景的光照不一致性鉴别图像的篡改。</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基于光学原理检测方法的关键是建立物理对象、光线和相机之间的光照模型。 </a:t>
            </a:r>
            <a:endParaRPr lang="zh-CN" altLang="en-US" sz="2100" b="1" dirty="0">
              <a:latin typeface="华文细黑" panose="02010600040101010101" pitchFamily="2" charset="-122"/>
              <a:ea typeface="华文细黑" panose="02010600040101010101" pitchFamily="2" charset="-122"/>
            </a:endParaRPr>
          </a:p>
        </p:txBody>
      </p:sp>
      <p:sp>
        <p:nvSpPr>
          <p:cNvPr id="31748" name="矩形 16281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49" name="矩形 16282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0" name="矩形 16282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1" name="矩形 16282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2" name="矩形 16282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3" name="矩形 16282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4" name="矩形 16282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5" name="矩形 16282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6" name="矩形 16282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7" name="矩形 16282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8" name="矩形 1628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59" name="矩形 16283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60" name="矩形 16283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61" name="矩形 16283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62" name="矩形 16283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1763" name="矩形 16283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10242" name="Picture 2" descr="加入光影元素，视觉效果大不一样！">
            <a:extLst>
              <a:ext uri="{FF2B5EF4-FFF2-40B4-BE49-F238E27FC236}">
                <a16:creationId xmlns:a16="http://schemas.microsoft.com/office/drawing/2014/main" id="{9D0A5950-BBCD-B8D3-115F-7897C61F39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8064" y="1772816"/>
            <a:ext cx="3075806" cy="4101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10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34</a:t>
            </a:fld>
            <a:endParaRPr lang="zh-CN" altLang="en-US" sz="1400" b="0" dirty="0">
              <a:latin typeface="Times New Roman" panose="02020603050405020304" pitchFamily="18" charset="0"/>
              <a:ea typeface="宋体" panose="02010600030101010101" pitchFamily="2" charset="-122"/>
            </a:endParaRPr>
          </a:p>
        </p:txBody>
      </p:sp>
      <p:sp>
        <p:nvSpPr>
          <p:cNvPr id="163842" name="标题 16384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2771" name="文本占位符 163842"/>
          <p:cNvSpPr>
            <a:spLocks noGrp="1"/>
          </p:cNvSpPr>
          <p:nvPr>
            <p:ph type="body" sz="half" idx="4294967295"/>
          </p:nvPr>
        </p:nvSpPr>
        <p:spPr>
          <a:xfrm>
            <a:off x="628650" y="1484784"/>
            <a:ext cx="8101330" cy="460819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数字图像篡改取证方法</a:t>
            </a:r>
          </a:p>
          <a:p>
            <a:pPr marL="609600" indent="-609600">
              <a:buClr>
                <a:schemeClr val="accent2"/>
              </a:buClr>
              <a:buSzPct val="80000"/>
              <a:buFont typeface="Wingdings" panose="05000000000000000000" pitchFamily="2" charset="2"/>
            </a:pPr>
            <a:endParaRPr lang="zh-CN" altLang="en-US" sz="600" b="1" dirty="0"/>
          </a:p>
          <a:p>
            <a:pPr marL="0" indent="558000" algn="l">
              <a:lnSpc>
                <a:spcPct val="150000"/>
              </a:lnSpc>
              <a:spcBef>
                <a:spcPts val="600"/>
              </a:spcBef>
              <a:buSzTx/>
              <a:buFont typeface="Wingdings" panose="05000000000000000000" pitchFamily="2" charset="2"/>
              <a:buNone/>
            </a:pPr>
            <a:r>
              <a:rPr lang="en-US" altLang="zh-CN" sz="2200" b="1" dirty="0">
                <a:solidFill>
                  <a:schemeClr val="tx1"/>
                </a:solidFill>
              </a:rPr>
              <a:t>⑤</a:t>
            </a:r>
            <a:r>
              <a:rPr lang="zh-CN" altLang="en-US" sz="2200" b="1" dirty="0">
                <a:solidFill>
                  <a:schemeClr val="tx1"/>
                </a:solidFill>
                <a:latin typeface="华文细黑" panose="02010600040101010101" pitchFamily="2" charset="-122"/>
                <a:ea typeface="华文细黑" panose="02010600040101010101" pitchFamily="2" charset="-122"/>
              </a:rPr>
              <a:t>基于对象几何关系的检测方法</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照相机中心在图像平面上的投影点称为“主点”。在所拍摄的图像中，主点位于图像中心附近。当图像中的人或物平移时，主点也成比例地平移。通过检验从图像的不同局部所估计出的主点位置是否一致来判断图像内容是否经过了改动。</a:t>
            </a:r>
          </a:p>
        </p:txBody>
      </p:sp>
      <p:sp>
        <p:nvSpPr>
          <p:cNvPr id="32772" name="矩形 16384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3" name="矩形 16384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4" name="矩形 1638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5" name="矩形 16384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6" name="矩形 16384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7" name="矩形 16384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8" name="矩形 16384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79" name="矩形 16385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0" name="矩形 16385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1" name="矩形 16385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2" name="矩形 16385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3" name="矩形 16385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4" name="矩形 16385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5" name="矩形 16385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6" name="矩形 16385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2787" name="矩形 16385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35</a:t>
            </a:fld>
            <a:endParaRPr lang="zh-CN" altLang="en-US" sz="1400" b="0" dirty="0">
              <a:latin typeface="Times New Roman" panose="02020603050405020304" pitchFamily="18" charset="0"/>
              <a:ea typeface="宋体" panose="02010600030101010101" pitchFamily="2" charset="-122"/>
            </a:endParaRPr>
          </a:p>
        </p:txBody>
      </p:sp>
      <p:sp>
        <p:nvSpPr>
          <p:cNvPr id="132098" name="标题 13209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3795" name="文本占位符 132098"/>
          <p:cNvSpPr>
            <a:spLocks noGrp="1"/>
          </p:cNvSpPr>
          <p:nvPr>
            <p:ph type="body" sz="half" idx="4294967295"/>
          </p:nvPr>
        </p:nvSpPr>
        <p:spPr>
          <a:xfrm>
            <a:off x="628650" y="1700808"/>
            <a:ext cx="8029575" cy="4537075"/>
          </a:xfrm>
        </p:spPr>
        <p:txBody>
          <a:bodyPr anchor="t"/>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（2）数字音频篡改取证方法</a:t>
            </a:r>
          </a:p>
          <a:p>
            <a:pPr marL="360000" indent="558000" algn="l">
              <a:lnSpc>
                <a:spcPct val="150000"/>
              </a:lnSpc>
              <a:spcBef>
                <a:spcPts val="600"/>
              </a:spcBef>
              <a:buSzTx/>
              <a:buFont typeface="Wingdings" panose="05000000000000000000" pitchFamily="2" charset="2"/>
              <a:buNone/>
            </a:pPr>
            <a:r>
              <a:rPr lang="en-US" altLang="en-US" sz="2200" b="1" dirty="0">
                <a:solidFill>
                  <a:schemeClr val="tx1"/>
                </a:solidFill>
                <a:latin typeface="华文细黑" panose="02010600040101010101" pitchFamily="2" charset="-122"/>
                <a:ea typeface="华文细黑" panose="02010600040101010101" pitchFamily="2" charset="-122"/>
              </a:rPr>
              <a:t>①</a:t>
            </a:r>
            <a:r>
              <a:rPr lang="zh-CN" altLang="en-US" sz="2200" b="1" dirty="0">
                <a:solidFill>
                  <a:schemeClr val="tx1"/>
                </a:solidFill>
                <a:latin typeface="华文细黑" panose="02010600040101010101" pitchFamily="2" charset="-122"/>
                <a:ea typeface="华文细黑" panose="02010600040101010101" pitchFamily="2" charset="-122"/>
              </a:rPr>
              <a:t>基于音频波形统计特征的篡改取证方法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②基于音频附带背景噪声的篡改取证方法 </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③基于音频格式附加信息的篡改取证方法</a:t>
            </a:r>
          </a:p>
        </p:txBody>
      </p:sp>
      <p:sp>
        <p:nvSpPr>
          <p:cNvPr id="33796" name="矩形 13209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797" name="矩形 13210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798" name="矩形 13210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799" name="矩形 13210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0" name="矩形 13210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1" name="矩形 13210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2" name="矩形 13210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3" name="矩形 13210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4" name="矩形 13210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5" name="矩形 13210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6" name="矩形 13210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7" name="矩形 13211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8" name="矩形 13211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09" name="矩形 13211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10" name="矩形 13211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3811" name="矩形 13211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36</a:t>
            </a:fld>
            <a:endParaRPr lang="zh-CN" altLang="en-US" sz="1400" b="0" dirty="0">
              <a:latin typeface="Times New Roman" panose="02020603050405020304" pitchFamily="18" charset="0"/>
              <a:ea typeface="宋体" panose="02010600030101010101" pitchFamily="2" charset="-122"/>
            </a:endParaRPr>
          </a:p>
        </p:txBody>
      </p:sp>
      <p:sp>
        <p:nvSpPr>
          <p:cNvPr id="164866" name="标题 16486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4819" name="文本占位符 164866"/>
          <p:cNvSpPr>
            <a:spLocks noGrp="1"/>
          </p:cNvSpPr>
          <p:nvPr>
            <p:ph type="body" sz="half" idx="4294967295"/>
          </p:nvPr>
        </p:nvSpPr>
        <p:spPr>
          <a:xfrm>
            <a:off x="628650" y="1700808"/>
            <a:ext cx="8029575" cy="453707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数字音频篡改取证方法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en-US" altLang="en-US" sz="2200" b="1" dirty="0">
                <a:solidFill>
                  <a:schemeClr val="tx1"/>
                </a:solidFill>
                <a:latin typeface="华文细黑" panose="02010600040101010101" pitchFamily="2" charset="-122"/>
                <a:ea typeface="华文细黑" panose="02010600040101010101" pitchFamily="2" charset="-122"/>
              </a:rPr>
              <a:t>①</a:t>
            </a:r>
            <a:r>
              <a:rPr lang="zh-CN" altLang="en-US" sz="2200" b="1" dirty="0">
                <a:solidFill>
                  <a:schemeClr val="tx1"/>
                </a:solidFill>
                <a:latin typeface="华文细黑" panose="02010600040101010101" pitchFamily="2" charset="-122"/>
                <a:ea typeface="华文细黑" panose="02010600040101010101" pitchFamily="2" charset="-122"/>
              </a:rPr>
              <a:t>基于音频波形统计特征的篡改取证方法</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天然”音频信号在频域上具有很弱的高阶相关性，而大多数篡改操作都会引入一定的非线性，从而导致信号高阶相关性增强，使原来在真实人声频域上很弱的统计相关性变为较为显著的高阶统计相关性。可据此检测音频文件是否经过篡改。</a:t>
            </a:r>
          </a:p>
        </p:txBody>
      </p:sp>
      <p:sp>
        <p:nvSpPr>
          <p:cNvPr id="34820" name="矩形 16486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1" name="矩形 16486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2" name="矩形 16486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3" name="矩形 16487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4" name="矩形 16487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5" name="矩形 16487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6" name="矩形 16487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7" name="矩形 16487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8" name="矩形 16487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29" name="矩形 16487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30" name="矩形 16487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31" name="矩形 16487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32" name="矩形 16487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33" name="矩形 16488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34" name="矩形 16488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4835" name="矩形 16488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37</a:t>
            </a:fld>
            <a:endParaRPr lang="zh-CN" altLang="en-US" sz="1400" b="0" dirty="0">
              <a:latin typeface="Times New Roman" panose="02020603050405020304" pitchFamily="18" charset="0"/>
              <a:ea typeface="宋体" panose="02010600030101010101" pitchFamily="2" charset="-122"/>
            </a:endParaRPr>
          </a:p>
        </p:txBody>
      </p:sp>
      <p:sp>
        <p:nvSpPr>
          <p:cNvPr id="165890" name="标题 16588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5843" name="文本占位符 165890"/>
          <p:cNvSpPr>
            <a:spLocks noGrp="1"/>
          </p:cNvSpPr>
          <p:nvPr>
            <p:ph type="body" sz="half" idx="4294967295"/>
          </p:nvPr>
        </p:nvSpPr>
        <p:spPr>
          <a:xfrm>
            <a:off x="628650" y="1700530"/>
            <a:ext cx="8029575" cy="4537075"/>
          </a:xfrm>
        </p:spPr>
        <p:txBody>
          <a:bodyPr anchor="t">
            <a:normAutofit fontScale="950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数字音频篡改取证方法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 ②基于音频附带背景噪声的篡改取证方法 </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利用重采样信号周期性检查音频中所发生的篡改。音频信号的插值检测和图像有所不同：音频在短时内有静音存在；即使没有插值过的音频的局部也可能呈现很强线性相关。EM 迭代算法无法收敛到理想结果。</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提出引入音频幅度直方图，排除短时静音和增加样本数，以使其能有效地用于音频信号的篡改检测。</a:t>
            </a:r>
          </a:p>
        </p:txBody>
      </p:sp>
      <p:sp>
        <p:nvSpPr>
          <p:cNvPr id="35844" name="矩形 16589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45" name="矩形 16589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46" name="矩形 16589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47" name="矩形 16589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48" name="矩形 16589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49" name="矩形 16589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0" name="矩形 16589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1" name="矩形 16589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2" name="矩形 16589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3" name="矩形 16590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4" name="矩形 16590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5" name="矩形 16590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6" name="矩形 16590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7" name="矩形 16590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8" name="矩形 16590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5859" name="矩形 16590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38</a:t>
            </a:fld>
            <a:endParaRPr lang="zh-CN" altLang="en-US" sz="1400" b="0" dirty="0">
              <a:latin typeface="Times New Roman" panose="02020603050405020304" pitchFamily="18" charset="0"/>
              <a:ea typeface="宋体" panose="02010600030101010101" pitchFamily="2" charset="-122"/>
            </a:endParaRPr>
          </a:p>
        </p:txBody>
      </p:sp>
      <p:sp>
        <p:nvSpPr>
          <p:cNvPr id="166914" name="标题 16691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6867" name="文本占位符 166914"/>
          <p:cNvSpPr>
            <a:spLocks noGrp="1"/>
          </p:cNvSpPr>
          <p:nvPr>
            <p:ph type="body" sz="half" idx="4294967295"/>
          </p:nvPr>
        </p:nvSpPr>
        <p:spPr>
          <a:xfrm>
            <a:off x="628650" y="1700808"/>
            <a:ext cx="8029575" cy="4537075"/>
          </a:xfrm>
        </p:spPr>
        <p:txBody>
          <a:bodyPr anchor="t"/>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数字音频篡改取证方法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 ③基于音频格式附加信息的篡改取证方法</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音频文件格式种类繁多，不同格式的数字音频通常都包含一些必要的附加信息，包括日期、作者、编码格式等。对数字音频材料的篡改很有可能会改变这些附加信息，从而留下篡改痕迹。</a:t>
            </a:r>
          </a:p>
        </p:txBody>
      </p:sp>
      <p:sp>
        <p:nvSpPr>
          <p:cNvPr id="36868" name="矩形 16691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69" name="矩形 16691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0" name="矩形 16691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1" name="矩形 16691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2" name="矩形 16691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3" name="矩形 16692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4" name="矩形 16692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5" name="矩形 16692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6" name="矩形 1669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7" name="矩形 16692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8" name="矩形 1669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79" name="矩形 16692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80" name="矩形 16692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81" name="矩形 16692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82" name="矩形 16692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6883" name="矩形 16693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39</a:t>
            </a:fld>
            <a:endParaRPr lang="zh-CN" altLang="en-US" sz="1400" b="0" dirty="0">
              <a:latin typeface="Times New Roman" panose="02020603050405020304" pitchFamily="18" charset="0"/>
              <a:ea typeface="宋体" panose="02010600030101010101" pitchFamily="2" charset="-122"/>
            </a:endParaRPr>
          </a:p>
        </p:txBody>
      </p:sp>
      <p:sp>
        <p:nvSpPr>
          <p:cNvPr id="133122" name="标题 13312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7891" name="文本占位符 133122"/>
          <p:cNvSpPr>
            <a:spLocks noGrp="1"/>
          </p:cNvSpPr>
          <p:nvPr>
            <p:ph type="body" sz="half" idx="4294967295"/>
          </p:nvPr>
        </p:nvSpPr>
        <p:spPr>
          <a:xfrm>
            <a:off x="628650" y="1541145"/>
            <a:ext cx="8029575" cy="511365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（3）数字视频篡改取证方法</a:t>
            </a: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常见的数字视频篡改检测有两种情形：</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第一种是针对消除隔行扫描后的视频；</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第二种是针对隔行扫描的视频。</a:t>
            </a:r>
          </a:p>
          <a:p>
            <a:pPr marL="0" indent="457200" algn="l">
              <a:lnSpc>
                <a:spcPct val="150000"/>
              </a:lnSpc>
              <a:spcBef>
                <a:spcPts val="600"/>
              </a:spcBef>
              <a:buSzTx/>
              <a:buFont typeface="Wingdings" panose="05000000000000000000" pitchFamily="2" charset="2"/>
              <a:buNone/>
            </a:pPr>
            <a:endParaRPr lang="zh-CN" altLang="en-US" sz="2400" dirty="0">
              <a:latin typeface="华文细黑" panose="02010600040101010101" pitchFamily="2" charset="-122"/>
              <a:ea typeface="华文细黑" panose="02010600040101010101" pitchFamily="2" charset="-122"/>
            </a:endParaRPr>
          </a:p>
        </p:txBody>
      </p:sp>
      <p:sp>
        <p:nvSpPr>
          <p:cNvPr id="37892" name="矩形 13312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3" name="矩形 13312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4" name="矩形 1331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5" name="矩形 13312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6" name="矩形 13312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7" name="矩形 13312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8" name="矩形 13312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9" name="矩形 13313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0" name="矩形 13313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1" name="矩形 13313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2" name="矩形 13313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3" name="矩形 13313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4" name="矩形 13313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5" name="矩形 13313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6" name="矩形 13313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7" name="矩形 13313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40</a:t>
            </a:fld>
            <a:endParaRPr lang="zh-CN" altLang="en-US" sz="1400" b="0" dirty="0">
              <a:latin typeface="Times New Roman" panose="02020603050405020304" pitchFamily="18" charset="0"/>
              <a:ea typeface="宋体" panose="02010600030101010101" pitchFamily="2" charset="-122"/>
            </a:endParaRPr>
          </a:p>
        </p:txBody>
      </p:sp>
      <p:sp>
        <p:nvSpPr>
          <p:cNvPr id="133122" name="标题 13312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数字内容篡改取证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7891" name="文本占位符 133122"/>
          <p:cNvSpPr>
            <a:spLocks noGrp="1"/>
          </p:cNvSpPr>
          <p:nvPr>
            <p:ph type="body" sz="half" idx="4294967295"/>
          </p:nvPr>
        </p:nvSpPr>
        <p:spPr>
          <a:xfrm>
            <a:off x="628650" y="1541145"/>
            <a:ext cx="8029575" cy="511365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数字内容篡改取证方法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4572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（3）数字视频篡改取证方法</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对于第一种情况，由于消除隔行扫描的两种基本算法是场合并和场扩展，如果将这两种算法看成是一种周期性的插值模式，则可利用 EM 算法来检测插值的周期性。当周期性遭到破坏时，可认为视频遭到篡改。</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对于第二种情况，通过检测一帧内两个场的运动或相邻帧中场的运动情况，可判断有没有发生篡改。</a:t>
            </a:r>
            <a:r>
              <a:rPr lang="zh-CN" altLang="en-US" sz="2200" dirty="0">
                <a:latin typeface="华文细黑" panose="02010600040101010101" pitchFamily="2" charset="-122"/>
                <a:ea typeface="华文细黑" panose="02010600040101010101" pitchFamily="2" charset="-122"/>
              </a:rPr>
              <a:t> </a:t>
            </a:r>
          </a:p>
        </p:txBody>
      </p:sp>
      <p:sp>
        <p:nvSpPr>
          <p:cNvPr id="37892" name="矩形 13312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3" name="矩形 13312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4" name="矩形 1331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5" name="矩形 13312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6" name="矩形 13312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7" name="矩形 13312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8" name="矩形 13312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899" name="矩形 13313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0" name="矩形 13313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1" name="矩形 13313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2" name="矩形 13313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3" name="矩形 13313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4" name="矩形 13313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5" name="矩形 13313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6" name="矩形 13313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7907" name="矩形 13313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41</a:t>
            </a:fld>
            <a:endParaRPr lang="zh-CN" altLang="en-US" sz="1400" b="0" dirty="0">
              <a:latin typeface="Times New Roman" panose="02020603050405020304" pitchFamily="18" charset="0"/>
              <a:ea typeface="宋体" panose="02010600030101010101" pitchFamily="2" charset="-122"/>
            </a:endParaRPr>
          </a:p>
        </p:txBody>
      </p:sp>
      <p:sp>
        <p:nvSpPr>
          <p:cNvPr id="134146" name="标题 1341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8915" name="文本占位符 134146"/>
          <p:cNvSpPr>
            <a:spLocks noGrp="1"/>
          </p:cNvSpPr>
          <p:nvPr>
            <p:ph type="body" sz="half" idx="4294967295"/>
          </p:nvPr>
        </p:nvSpPr>
        <p:spPr>
          <a:xfrm>
            <a:off x="628650" y="1779589"/>
            <a:ext cx="8064500" cy="432117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数码相机成像的工作原理</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数码相机（Digital Camera，DC）是由镜头、CCD（电荷耦合器件）、A/D（模/数转换器）、MPU（微处理器）、内置存储器、LCD（液晶显示器）、PC卡（可移动存储器）和接口（计算机接口、电视机接口）等组成。</a:t>
            </a:r>
          </a:p>
          <a:p>
            <a:pPr marL="0" indent="457200" algn="l">
              <a:lnSpc>
                <a:spcPct val="150000"/>
              </a:lnSpc>
              <a:spcBef>
                <a:spcPts val="600"/>
              </a:spcBef>
              <a:buSzTx/>
              <a:buFont typeface="Wingdings" panose="05000000000000000000" pitchFamily="2" charset="2"/>
              <a:buNone/>
            </a:pP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38916" name="矩形 13414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17" name="矩形 13414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18" name="矩形 1341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19" name="矩形 13415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0" name="矩形 13415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1" name="矩形 13415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2" name="矩形 13415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3" name="矩形 13415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4" name="矩形 13415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5" name="矩形 13415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6" name="矩形 13415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7" name="矩形 13415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8" name="矩形 13415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29" name="矩形 13416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30" name="矩形 13416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8931" name="矩形 13416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42</a:t>
            </a:fld>
            <a:endParaRPr lang="zh-CN" altLang="en-US" sz="1400" b="0" dirty="0">
              <a:latin typeface="Times New Roman" panose="02020603050405020304" pitchFamily="18" charset="0"/>
              <a:ea typeface="宋体" panose="02010600030101010101" pitchFamily="2" charset="-122"/>
            </a:endParaRPr>
          </a:p>
        </p:txBody>
      </p:sp>
      <p:sp>
        <p:nvSpPr>
          <p:cNvPr id="155650" name="标题 1556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39939" name="文本占位符 155650"/>
          <p:cNvSpPr>
            <a:spLocks noGrp="1"/>
          </p:cNvSpPr>
          <p:nvPr>
            <p:ph type="body" sz="half" idx="4294967295"/>
          </p:nvPr>
        </p:nvSpPr>
        <p:spPr>
          <a:xfrm>
            <a:off x="628650" y="1773555"/>
            <a:ext cx="8280400" cy="44640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数码相机成像的工作原理</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数码相机中的工作原理如下：当按下快门时，镜头将光线汇聚到感光器件 CCD 上，CCD 是半导体器件，它代替了普通相机中胶卷的位置，它的功能是把光信号转变为电信号。</a:t>
            </a: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CCD 器件上有许多光敏单元，它们可以将光线转换成电荷，从而形成对应于景物的电子图像，每一个光敏单元对应图像中的一个像素，像素越多图像越清晰， </a:t>
            </a:r>
          </a:p>
        </p:txBody>
      </p:sp>
      <p:sp>
        <p:nvSpPr>
          <p:cNvPr id="39940" name="矩形 15565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1" name="矩形 15565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2" name="矩形 15565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3" name="矩形 15565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4" name="矩形 15565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5" name="矩形 15565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6" name="矩形 15565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7" name="矩形 15565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8" name="矩形 15565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49" name="矩形 15566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50" name="矩形 15566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51" name="矩形 15566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52" name="矩形 15566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53" name="矩形 15566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54" name="矩形 15566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39955" name="矩形 15566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43</a:t>
            </a:fld>
            <a:endParaRPr lang="zh-CN" altLang="en-US" sz="1400" b="0" dirty="0">
              <a:latin typeface="Times New Roman" panose="02020603050405020304" pitchFamily="18" charset="0"/>
              <a:ea typeface="宋体" panose="02010600030101010101" pitchFamily="2" charset="-122"/>
            </a:endParaRPr>
          </a:p>
        </p:txBody>
      </p:sp>
      <p:sp>
        <p:nvSpPr>
          <p:cNvPr id="135170" name="标题 1351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0963" name="文本占位符 135170"/>
          <p:cNvSpPr>
            <a:spLocks noGrp="1"/>
          </p:cNvSpPr>
          <p:nvPr>
            <p:ph type="body" sz="half" idx="4294967295"/>
          </p:nvPr>
        </p:nvSpPr>
        <p:spPr>
          <a:xfrm>
            <a:off x="628650" y="1772816"/>
            <a:ext cx="8353425" cy="4789170"/>
          </a:xfrm>
        </p:spPr>
        <p:txBody>
          <a:bodyPr anchor="t">
            <a:normAutofit fontScale="97500" lnSpcReduction="100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扫描仪成像工作原理</a:t>
            </a:r>
          </a:p>
          <a:p>
            <a:pPr marL="609600" indent="-609600">
              <a:buClr>
                <a:schemeClr val="accent2"/>
              </a:buClr>
              <a:buSzPct val="80000"/>
              <a:buFont typeface="Wingdings" panose="05000000000000000000" pitchFamily="2" charset="2"/>
            </a:pPr>
            <a:endParaRPr lang="zh-CN" altLang="en-US" sz="600" b="1" dirty="0"/>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扫描仪主要由光学成像部分、机械传动部分和转换电路部分组成，这几部分相互配合，将反映图像特征的光信号转换为计算机可接受的电信号。</a:t>
            </a: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扫描仪工作时，先由光源将光线照在欲输入的图稿上，产生表示图像特征的反射光或透射光。光学系统采集这些光线，将其聚焦在 CCD 上，由 CCD 将光信号转换为电信号，然后由电路部分对这些信号进行 A/D 转换及处理，产生对应的数字信号输送给计算机。</a:t>
            </a:r>
          </a:p>
        </p:txBody>
      </p:sp>
      <p:sp>
        <p:nvSpPr>
          <p:cNvPr id="40964" name="矩形 13517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65" name="矩形 13517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66" name="矩形 1351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67" name="矩形 13517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68" name="矩形 13517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69" name="矩形 13517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0" name="矩形 13517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1" name="矩形 13517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2" name="矩形 13517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3" name="矩形 13518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4" name="矩形 13518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5" name="矩形 13518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6" name="矩形 13518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7" name="矩形 13518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8" name="矩形 13518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0979" name="矩形 13518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44</a:t>
            </a:fld>
            <a:endParaRPr lang="zh-CN" altLang="en-US" sz="1400" b="0" dirty="0">
              <a:latin typeface="Times New Roman" panose="02020603050405020304" pitchFamily="18" charset="0"/>
              <a:ea typeface="宋体" panose="02010600030101010101" pitchFamily="2" charset="-122"/>
            </a:endParaRPr>
          </a:p>
        </p:txBody>
      </p:sp>
      <p:sp>
        <p:nvSpPr>
          <p:cNvPr id="136194" name="标题 1361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1987" name="文本占位符 136194"/>
          <p:cNvSpPr>
            <a:spLocks noGrp="1"/>
          </p:cNvSpPr>
          <p:nvPr>
            <p:ph type="body" sz="half" idx="4294967295"/>
          </p:nvPr>
        </p:nvSpPr>
        <p:spPr>
          <a:xfrm>
            <a:off x="628650" y="1772816"/>
            <a:ext cx="8101330" cy="4708525"/>
          </a:xfrm>
        </p:spPr>
        <p:txBody>
          <a:bodyPr anchor="t">
            <a:normAutofit fontScale="97500" lnSpcReduction="100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数码摄像机工作原理</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数码摄像机（DV）的基本原理简单的说就是光-电-数字信号的转变与传输。即通过感光元件将光信号转变成电流，再将模拟电信号转变成数字信号，由专门的芯片进行处理和过滤后得到的信息还原出来就是我们看到的动态画面了。</a:t>
            </a:r>
          </a:p>
          <a:p>
            <a:pPr marL="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DV 与 DC 很多功能是一样的，比如光学防抖、人脸识别、场景选择等。区别在于 DV 主要用于拍摄连续动态的影像，比如宽屏、声音对焦功能，静态分辨率较低，每帧的数据较少；在拍照方面，DV 的效果是无法和 DC 比的，比如虚化背景、感光度、对比度和色彩等方面都比不上同等价位的 </a:t>
            </a:r>
            <a:r>
              <a:rPr lang="en-US" altLang="zh-CN" sz="2100" b="1" dirty="0">
                <a:solidFill>
                  <a:schemeClr val="tx1"/>
                </a:solidFill>
                <a:latin typeface="华文细黑" panose="02010600040101010101" pitchFamily="2" charset="-122"/>
                <a:ea typeface="华文细黑" panose="02010600040101010101" pitchFamily="2" charset="-122"/>
              </a:rPr>
              <a:t>DC</a:t>
            </a:r>
            <a:r>
              <a:rPr lang="zh-CN" altLang="en-US" sz="2100" b="1" dirty="0">
                <a:solidFill>
                  <a:schemeClr val="tx1"/>
                </a:solidFill>
                <a:latin typeface="华文细黑" panose="02010600040101010101" pitchFamily="2" charset="-122"/>
                <a:ea typeface="华文细黑" panose="02010600040101010101" pitchFamily="2" charset="-122"/>
              </a:rPr>
              <a:t>。</a:t>
            </a:r>
          </a:p>
        </p:txBody>
      </p:sp>
      <p:sp>
        <p:nvSpPr>
          <p:cNvPr id="41988" name="矩形 13619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89" name="矩形 13619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0" name="矩形 1361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1" name="矩形 13619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2" name="矩形 13619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3" name="矩形 13620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4" name="矩形 13620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5" name="矩形 13620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6" name="矩形 13620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7" name="矩形 13620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8" name="矩形 13620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1999" name="矩形 13620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2000" name="矩形 13620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2001" name="矩形 13620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2002" name="矩形 13620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2003" name="矩形 13621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45</a:t>
            </a:fld>
            <a:endParaRPr lang="zh-CN" altLang="en-US" sz="1400" b="0" dirty="0">
              <a:latin typeface="Times New Roman" panose="02020603050405020304" pitchFamily="18" charset="0"/>
              <a:ea typeface="宋体" panose="02010600030101010101" pitchFamily="2" charset="-122"/>
            </a:endParaRPr>
          </a:p>
        </p:txBody>
      </p:sp>
      <p:sp>
        <p:nvSpPr>
          <p:cNvPr id="137218" name="标题 13721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3011" name="文本占位符 137218"/>
          <p:cNvSpPr>
            <a:spLocks noGrp="1"/>
          </p:cNvSpPr>
          <p:nvPr>
            <p:ph type="body" sz="half" idx="4294967295"/>
          </p:nvPr>
        </p:nvSpPr>
        <p:spPr>
          <a:xfrm>
            <a:off x="628650" y="1772816"/>
            <a:ext cx="8245475" cy="449513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数码录音机工作原理</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通常，可通过以下两种渠道获得数字音频。</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第一种就是将现场声源的模拟信号或已存储的模拟声音信号通过某种方法转换成数字音频；</a:t>
            </a:r>
          </a:p>
          <a:p>
            <a:pPr marL="18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第二种就是在数字化设备中创作出数字音频，比如 </a:t>
            </a:r>
            <a:r>
              <a:rPr lang="en-US" altLang="zh-CN" sz="2200" b="1" dirty="0">
                <a:solidFill>
                  <a:schemeClr val="tx1"/>
                </a:solidFill>
                <a:latin typeface="华文细黑" panose="02010600040101010101" pitchFamily="2" charset="-122"/>
                <a:ea typeface="华文细黑" panose="02010600040101010101" pitchFamily="2" charset="-122"/>
              </a:rPr>
              <a:t>AI </a:t>
            </a:r>
            <a:r>
              <a:rPr lang="zh-CN" altLang="en-US" sz="2200" b="1" dirty="0">
                <a:solidFill>
                  <a:schemeClr val="tx1"/>
                </a:solidFill>
                <a:latin typeface="华文细黑" panose="02010600040101010101" pitchFamily="2" charset="-122"/>
                <a:ea typeface="华文细黑" panose="02010600040101010101" pitchFamily="2" charset="-122"/>
              </a:rPr>
              <a:t>语音。</a:t>
            </a:r>
          </a:p>
          <a:p>
            <a:pPr marL="0" indent="457200" algn="l">
              <a:lnSpc>
                <a:spcPct val="150000"/>
              </a:lnSpc>
              <a:spcBef>
                <a:spcPts val="600"/>
              </a:spcBef>
              <a:buSzTx/>
              <a:buFont typeface="Wingdings" panose="05000000000000000000" pitchFamily="2" charset="2"/>
              <a:buNone/>
            </a:pP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43012" name="矩形 13721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3" name="矩形 13722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4" name="矩形 13722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5" name="矩形 13722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6" name="矩形 13722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7" name="矩形 13722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8" name="矩形 13722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9" name="矩形 13722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0" name="矩形 13722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1" name="矩形 13722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2" name="矩形 1372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3" name="矩形 13723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4" name="矩形 13723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5" name="矩形 13723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6" name="矩形 13723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7" name="矩形 13723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46</a:t>
            </a:fld>
            <a:endParaRPr lang="zh-CN" altLang="en-US" sz="1400" b="0" dirty="0">
              <a:latin typeface="Times New Roman" panose="02020603050405020304" pitchFamily="18" charset="0"/>
              <a:ea typeface="宋体" panose="02010600030101010101" pitchFamily="2" charset="-122"/>
            </a:endParaRPr>
          </a:p>
        </p:txBody>
      </p:sp>
      <p:sp>
        <p:nvSpPr>
          <p:cNvPr id="137218" name="标题 13721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3011" name="文本占位符 137218"/>
          <p:cNvSpPr>
            <a:spLocks noGrp="1"/>
          </p:cNvSpPr>
          <p:nvPr>
            <p:ph type="body" sz="half" idx="4294967295"/>
          </p:nvPr>
        </p:nvSpPr>
        <p:spPr>
          <a:xfrm>
            <a:off x="628650" y="1655893"/>
            <a:ext cx="8245475" cy="4378941"/>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数码录音机工作原理</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音频数字化通常需要经过三个阶段：采样—量化—编码。 </a:t>
            </a: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数码录音笔通过对模拟信号的采样、编码将模拟信号通过数模转换器转换为数字信号，并进行一定的压缩后进行存储。而数字信号即使经过多次复制，声音信息也不会受到损失，保持原样不变。</a:t>
            </a:r>
          </a:p>
        </p:txBody>
      </p:sp>
      <p:sp>
        <p:nvSpPr>
          <p:cNvPr id="43012" name="矩形 13721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3" name="矩形 13722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4" name="矩形 13722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5" name="矩形 13722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6" name="矩形 13722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7" name="矩形 13722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8" name="矩形 13722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19" name="矩形 13722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0" name="矩形 13722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1" name="矩形 13722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2" name="矩形 1372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3" name="矩形 13723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4" name="矩形 13723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5" name="矩形 13723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6" name="矩形 13723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3027" name="矩形 13723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47</a:t>
            </a:fld>
            <a:endParaRPr lang="zh-CN" altLang="en-US" sz="1400" b="0" dirty="0">
              <a:latin typeface="Times New Roman" panose="02020603050405020304" pitchFamily="18" charset="0"/>
              <a:ea typeface="宋体" panose="02010600030101010101" pitchFamily="2" charset="-122"/>
            </a:endParaRPr>
          </a:p>
        </p:txBody>
      </p:sp>
      <p:sp>
        <p:nvSpPr>
          <p:cNvPr id="138242" name="标题 13824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4035" name="文本占位符 138242"/>
          <p:cNvSpPr>
            <a:spLocks noGrp="1"/>
          </p:cNvSpPr>
          <p:nvPr>
            <p:ph type="body" sz="half" idx="4294967295"/>
          </p:nvPr>
        </p:nvSpPr>
        <p:spPr>
          <a:xfrm>
            <a:off x="628650" y="1655445"/>
            <a:ext cx="8353425" cy="4537075"/>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数字内容来源取证的评价指标</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现有的源设备辨识研究成果主要集中在数字图像，还未见到有关音频和视频的源设备辨识的研究工作。衡量图像源辨识指标主要包括检测率、虚警率和 ROC 曲线。</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（1）检测率（True Positive，TP）：数字内容所对应的来源被正确识别的比率。其计算方式是样本中被正确识别来源的数字内容数目与所有数字内容样本的比值。由检测率可以引申出漏检率的概念，即：</a:t>
            </a:r>
            <a:endParaRPr lang="en-US" altLang="zh-CN" sz="21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漏检率 = 1 - 检出率 。</a:t>
            </a:r>
          </a:p>
        </p:txBody>
      </p:sp>
      <p:sp>
        <p:nvSpPr>
          <p:cNvPr id="44036" name="矩形 13824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37" name="矩形 13824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38" name="矩形 1382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39" name="矩形 13824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0" name="矩形 13824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1" name="矩形 13824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2" name="矩形 13824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3" name="矩形 13825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4" name="矩形 13825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5" name="矩形 13825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6" name="矩形 13825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7" name="矩形 13825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8" name="矩形 13825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49" name="矩形 13825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50" name="矩形 13825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4051" name="矩形 13825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48</a:t>
            </a:fld>
            <a:endParaRPr lang="zh-CN" altLang="en-US" sz="1400" b="0" dirty="0">
              <a:latin typeface="Times New Roman" panose="02020603050405020304" pitchFamily="18" charset="0"/>
              <a:ea typeface="宋体" panose="02010600030101010101" pitchFamily="2" charset="-122"/>
            </a:endParaRPr>
          </a:p>
        </p:txBody>
      </p:sp>
      <p:sp>
        <p:nvSpPr>
          <p:cNvPr id="139266" name="标题 13926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5059" name="文本占位符 139266"/>
          <p:cNvSpPr>
            <a:spLocks noGrp="1"/>
          </p:cNvSpPr>
          <p:nvPr>
            <p:ph type="body" sz="half" idx="4294967295"/>
          </p:nvPr>
        </p:nvSpPr>
        <p:spPr>
          <a:xfrm>
            <a:off x="628650" y="1478011"/>
            <a:ext cx="8316595" cy="4897755"/>
          </a:xfrm>
        </p:spPr>
        <p:txBody>
          <a:bodyPr anchor="t">
            <a:normAutofit lnSpcReduction="10000"/>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数字内容来源取证的评价指标</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（2）虚警率（False Positive，FP）：数字内容所对应的来源被错误识别的比率。其计算方式是样本中被错误识别来源的数字内容数目与所有数字内容样本的比值。</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由虚警率可以引申出错误否定率的概念，即：</a:t>
            </a:r>
            <a:endParaRPr lang="en-US" altLang="zh-CN" sz="20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错误否定率 = 1 - 虚警率 。</a:t>
            </a:r>
            <a:endParaRPr lang="en-US" altLang="zh-CN" sz="2000" b="1" dirty="0">
              <a:solidFill>
                <a:schemeClr val="tx1"/>
              </a:solidFill>
              <a:latin typeface="华文细黑" panose="02010600040101010101" pitchFamily="2" charset="-122"/>
              <a:ea typeface="华文细黑" panose="02010600040101010101" pitchFamily="2" charset="-122"/>
            </a:endParaRPr>
          </a:p>
          <a:p>
            <a:pPr marL="0" indent="4572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（3）ROC 曲线：在数字内容来源取证中，通常用 ROC 曲线来描述TP 和 FP 之间的关系，ROC 曲线的 AUC 可表征分类器的性能。</a:t>
            </a:r>
          </a:p>
          <a:p>
            <a:pPr marL="0" indent="4572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AUC 越接近 1，表示分类效果越好；AUC 越接近于 0.5，说明分类性能越差。</a:t>
            </a:r>
          </a:p>
        </p:txBody>
      </p:sp>
      <p:sp>
        <p:nvSpPr>
          <p:cNvPr id="45060" name="矩形 13926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1" name="矩形 13926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2" name="矩形 13926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3" name="矩形 13927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4" name="矩形 13927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5" name="矩形 13927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6" name="矩形 13927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7" name="矩形 13927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8" name="矩形 13927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69" name="矩形 13927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70" name="矩形 13927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71" name="矩形 13927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72" name="矩形 13927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73" name="矩形 13928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74" name="矩形 13928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5075" name="矩形 13928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49</a:t>
            </a:fld>
            <a:endParaRPr lang="zh-CN" altLang="en-US" sz="1400" b="0" dirty="0">
              <a:latin typeface="Times New Roman" panose="02020603050405020304" pitchFamily="18" charset="0"/>
              <a:ea typeface="宋体" panose="02010600030101010101" pitchFamily="2" charset="-122"/>
            </a:endParaRPr>
          </a:p>
        </p:txBody>
      </p:sp>
      <p:sp>
        <p:nvSpPr>
          <p:cNvPr id="140290" name="标题 14028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6083" name="文本占位符 140290"/>
          <p:cNvSpPr>
            <a:spLocks noGrp="1"/>
          </p:cNvSpPr>
          <p:nvPr>
            <p:ph type="body" sz="half" idx="4294967295"/>
          </p:nvPr>
        </p:nvSpPr>
        <p:spPr>
          <a:xfrm>
            <a:off x="628650" y="1437373"/>
            <a:ext cx="7919720" cy="486092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数字内容来源取证方法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（1）数字图像来源取证方法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①基于图像的统计特征取证方法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②基于成像设备机器指纹的取证方法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③基于成像管道特性的取证方法</a:t>
            </a:r>
            <a:endParaRPr lang="en-US" altLang="zh-CN" sz="2200" b="1" dirty="0">
              <a:solidFill>
                <a:schemeClr val="tx1"/>
              </a:solidFill>
              <a:latin typeface="华文细黑" panose="02010600040101010101" pitchFamily="2" charset="-122"/>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（2）数字视频来源取证方法</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①基于摄像设备内在特性的视频来源取证</a:t>
            </a:r>
          </a:p>
          <a:p>
            <a:pPr marL="36000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②利用视频码流特征进行来源取证</a:t>
            </a:r>
          </a:p>
        </p:txBody>
      </p:sp>
      <p:sp>
        <p:nvSpPr>
          <p:cNvPr id="46084" name="矩形 14029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85" name="矩形 14029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86" name="矩形 14029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87" name="矩形 14029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88" name="矩形 14029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89" name="矩形 14029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0" name="矩形 14029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1" name="矩形 14029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2" name="矩形 14029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3" name="矩形 14030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4" name="矩形 14030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5" name="矩形 14030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6" name="矩形 14030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7" name="矩形 14030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8" name="矩形 14030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6099" name="矩形 14030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50</a:t>
            </a:fld>
            <a:endParaRPr lang="zh-CN" altLang="en-US" sz="1400" b="0" dirty="0">
              <a:latin typeface="Times New Roman" panose="02020603050405020304" pitchFamily="18" charset="0"/>
              <a:ea typeface="宋体" panose="02010600030101010101" pitchFamily="2" charset="-122"/>
            </a:endParaRPr>
          </a:p>
        </p:txBody>
      </p:sp>
      <p:sp>
        <p:nvSpPr>
          <p:cNvPr id="141314" name="标题 14131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7107" name="文本占位符 141314"/>
          <p:cNvSpPr>
            <a:spLocks noGrp="1"/>
          </p:cNvSpPr>
          <p:nvPr>
            <p:ph type="body" sz="half" idx="4294967295"/>
          </p:nvPr>
        </p:nvSpPr>
        <p:spPr>
          <a:xfrm>
            <a:off x="628650" y="1475745"/>
            <a:ext cx="8209280" cy="4905375"/>
          </a:xfrm>
        </p:spPr>
        <p:txBody>
          <a:bodyPr anchor="t">
            <a:normAutofit fontScale="92500" lnSpcReduction="10000"/>
          </a:bodyPr>
          <a:lstStyle/>
          <a:p>
            <a:pPr marL="609600" indent="-609600" algn="l" fontAlgn="base">
              <a:lnSpc>
                <a:spcPct val="100000"/>
              </a:lnSpc>
              <a:buSzTx/>
              <a:buFont typeface="Wingdings" panose="05000000000000000000" pitchFamily="2" charset="2"/>
            </a:pPr>
            <a:r>
              <a:rPr lang="en-US" altLang="en-US" sz="3000" b="1" dirty="0">
                <a:latin typeface="华文细黑" panose="02010600040101010101" pitchFamily="2" charset="-122"/>
                <a:ea typeface="华文细黑" panose="02010600040101010101" pitchFamily="2" charset="-122"/>
              </a:rPr>
              <a:t>数字图像来源取证方法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en-US" altLang="en-US" sz="2400" b="1" dirty="0">
                <a:solidFill>
                  <a:schemeClr val="tx1"/>
                </a:solidFill>
                <a:ea typeface="华文细黑" panose="02010600040101010101" pitchFamily="2" charset="-122"/>
              </a:rPr>
              <a:t>①</a:t>
            </a:r>
            <a:r>
              <a:rPr lang="zh-CN" altLang="en-US" sz="2400" b="1" dirty="0">
                <a:solidFill>
                  <a:schemeClr val="tx1"/>
                </a:solidFill>
                <a:latin typeface="华文细黑" panose="02010600040101010101" pitchFamily="2" charset="-122"/>
                <a:ea typeface="华文细黑" panose="02010600040101010101" pitchFamily="2" charset="-122"/>
              </a:rPr>
              <a:t>基于图像的统计特征取证方法</a:t>
            </a:r>
          </a:p>
          <a:p>
            <a:pPr marL="180000" indent="504000">
              <a:lnSpc>
                <a:spcPct val="150000"/>
              </a:lnSpc>
              <a:spcBef>
                <a:spcPts val="600"/>
              </a:spcBef>
              <a:buNone/>
            </a:pPr>
            <a:r>
              <a:rPr lang="zh-CN" altLang="en-US" sz="2200" b="1" dirty="0">
                <a:solidFill>
                  <a:schemeClr val="tx1"/>
                </a:solidFill>
                <a:latin typeface="华文细黑" panose="02010600040101010101" pitchFamily="2" charset="-122"/>
                <a:ea typeface="华文细黑" panose="02010600040101010101" pitchFamily="2" charset="-122"/>
              </a:rPr>
              <a:t>这类方法利用了 34 个图像特征，包括彩色图像 R（红）、G（绿）、B（蓝）各个通道上的像素均值，彩色通道 RB、BG、GR 之间的相关性，各通道上像素相邻分布的质心，三个彩色通道上图像两两之间的能量比等。</a:t>
            </a:r>
          </a:p>
          <a:p>
            <a:pPr marL="180000" indent="504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除此之外，还利用不同相机产生不同质量的图像的特点。</a:t>
            </a:r>
            <a:endParaRPr lang="en-US" altLang="zh-CN" sz="2200" b="1" dirty="0">
              <a:solidFill>
                <a:schemeClr val="tx1"/>
              </a:solidFill>
              <a:latin typeface="华文细黑" panose="02010600040101010101" pitchFamily="2" charset="-122"/>
              <a:ea typeface="华文细黑" panose="02010600040101010101" pitchFamily="2" charset="-122"/>
            </a:endParaRPr>
          </a:p>
          <a:p>
            <a:pPr marL="180000" indent="504000">
              <a:lnSpc>
                <a:spcPct val="150000"/>
              </a:lnSpc>
              <a:spcBef>
                <a:spcPts val="600"/>
              </a:spcBef>
              <a:buNone/>
            </a:pPr>
            <a:r>
              <a:rPr lang="zh-CN" altLang="en-US" sz="2200" b="1" dirty="0">
                <a:solidFill>
                  <a:schemeClr val="tx1"/>
                </a:solidFill>
                <a:latin typeface="华文细黑" panose="02010600040101010101" pitchFamily="2" charset="-122"/>
                <a:ea typeface="华文细黑" panose="02010600040101010101" pitchFamily="2" charset="-122"/>
              </a:rPr>
              <a:t>客观的图像质量测度可分为三类：基于像素值差异的测度（如均方差等）；基于相关性的测度（归一化互相关等），基于频谱距离的测度（频谱的相角和幅值差等）。</a:t>
            </a:r>
          </a:p>
        </p:txBody>
      </p:sp>
      <p:sp>
        <p:nvSpPr>
          <p:cNvPr id="47108" name="矩形 14131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09" name="矩形 14131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0" name="矩形 14131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1" name="矩形 14131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2" name="矩形 14131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3" name="矩形 14132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4" name="矩形 14132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5" name="矩形 14132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6" name="矩形 1413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7" name="矩形 14132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8" name="矩形 1413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19" name="矩形 14132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20" name="矩形 14132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21" name="矩形 14132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22" name="矩形 14132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7123" name="矩形 14133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51</a:t>
            </a:fld>
            <a:endParaRPr lang="zh-CN" altLang="en-US" sz="1400" b="0" dirty="0">
              <a:latin typeface="Times New Roman" panose="02020603050405020304" pitchFamily="18" charset="0"/>
              <a:ea typeface="宋体" panose="02010600030101010101" pitchFamily="2" charset="-122"/>
            </a:endParaRPr>
          </a:p>
        </p:txBody>
      </p:sp>
      <p:sp>
        <p:nvSpPr>
          <p:cNvPr id="142338" name="标题 14233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8131" name="文本占位符 142338"/>
          <p:cNvSpPr>
            <a:spLocks noGrp="1"/>
          </p:cNvSpPr>
          <p:nvPr>
            <p:ph type="body" sz="half" idx="4294967295"/>
          </p:nvPr>
        </p:nvSpPr>
        <p:spPr>
          <a:xfrm>
            <a:off x="628650" y="1437374"/>
            <a:ext cx="8173720" cy="4999200"/>
          </a:xfrm>
        </p:spPr>
        <p:txBody>
          <a:bodyPr anchor="t">
            <a:normAutofit fontScale="92500"/>
          </a:bodyPr>
          <a:lstStyle/>
          <a:p>
            <a:pPr marL="609600" indent="-609600" algn="l" fontAlgn="base">
              <a:lnSpc>
                <a:spcPct val="100000"/>
              </a:lnSpc>
              <a:buSzTx/>
              <a:buFont typeface="Wingdings" panose="05000000000000000000" pitchFamily="2" charset="2"/>
            </a:pPr>
            <a:r>
              <a:rPr lang="en-US" altLang="en-US" sz="3000" b="1" dirty="0">
                <a:latin typeface="华文细黑" panose="02010600040101010101" pitchFamily="2" charset="-122"/>
                <a:ea typeface="华文细黑" panose="02010600040101010101" pitchFamily="2" charset="-122"/>
              </a:rPr>
              <a:t>数字图像来源取证方法</a:t>
            </a:r>
          </a:p>
          <a:p>
            <a:pPr marL="609600" indent="-609600">
              <a:lnSpc>
                <a:spcPct val="80000"/>
              </a:lnSpc>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②基于成像设备机器指纹的取证方法</a:t>
            </a:r>
          </a:p>
          <a:p>
            <a:pPr marL="180000" indent="504000">
              <a:lnSpc>
                <a:spcPct val="150000"/>
              </a:lnSpc>
              <a:spcBef>
                <a:spcPts val="600"/>
              </a:spcBef>
              <a:buNone/>
            </a:pPr>
            <a:r>
              <a:rPr lang="zh-CN" altLang="en-US" sz="2200" b="1" dirty="0">
                <a:solidFill>
                  <a:schemeClr val="tx1"/>
                </a:solidFill>
                <a:latin typeface="华文细黑" panose="02010600040101010101" pitchFamily="2" charset="-122"/>
                <a:ea typeface="华文细黑" panose="02010600040101010101" pitchFamily="2" charset="-122"/>
              </a:rPr>
              <a:t>任何成像传感器都有其固有的模式噪声。传感器的模式噪声主要由两部分：暗电流所引起的固定模式噪声（FPN）和光敏材料的光子响应非均匀性（PRNU）所引起的模式噪声。</a:t>
            </a:r>
            <a:endParaRPr lang="en-US" altLang="zh-CN" sz="2200" b="1" dirty="0">
              <a:solidFill>
                <a:schemeClr val="tx1"/>
              </a:solidFill>
              <a:latin typeface="华文细黑" panose="02010600040101010101" pitchFamily="2" charset="-122"/>
              <a:ea typeface="华文细黑" panose="02010600040101010101" pitchFamily="2" charset="-122"/>
            </a:endParaRPr>
          </a:p>
          <a:p>
            <a:pPr marL="180000" indent="504000">
              <a:lnSpc>
                <a:spcPct val="150000"/>
              </a:lnSpc>
              <a:spcBef>
                <a:spcPts val="600"/>
              </a:spcBef>
              <a:buNone/>
            </a:pPr>
            <a:r>
              <a:rPr lang="zh-CN" altLang="en-US" sz="2200" b="1" dirty="0">
                <a:solidFill>
                  <a:schemeClr val="tx1"/>
                </a:solidFill>
                <a:latin typeface="华文细黑" panose="02010600040101010101" pitchFamily="2" charset="-122"/>
                <a:ea typeface="华文细黑" panose="02010600040101010101" pitchFamily="2" charset="-122"/>
              </a:rPr>
              <a:t>FPN 是加性噪声，中高档相机通过减去一个暗帧可以消除 FPN，但 PRNU 模式噪声主要由半导体晶片的非均匀性和不完美性产生，一般不易消除，故可当做内部水印使用。模式噪声重要的性质是其高频分量与所拍摄的场景无关，并在相机的生命期中相对稳定。</a:t>
            </a:r>
          </a:p>
        </p:txBody>
      </p:sp>
      <p:sp>
        <p:nvSpPr>
          <p:cNvPr id="48132" name="矩形 14233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3" name="矩形 14234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4" name="矩形 14234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5" name="矩形 14234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6" name="矩形 14234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7" name="矩形 14234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8" name="矩形 14234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39" name="矩形 14234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0" name="矩形 1423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1" name="矩形 14234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2" name="矩形 1423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3" name="矩形 14235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4" name="矩形 14235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5" name="矩形 14235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6" name="矩形 14235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8147" name="矩形 14235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52</a:t>
            </a:fld>
            <a:endParaRPr lang="zh-CN" altLang="en-US" sz="1400" b="0" dirty="0">
              <a:latin typeface="Times New Roman" panose="02020603050405020304" pitchFamily="18" charset="0"/>
              <a:ea typeface="宋体" panose="02010600030101010101" pitchFamily="2" charset="-122"/>
            </a:endParaRPr>
          </a:p>
        </p:txBody>
      </p:sp>
      <p:sp>
        <p:nvSpPr>
          <p:cNvPr id="143362" name="标题 14336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49155" name="文本占位符 143362"/>
          <p:cNvSpPr>
            <a:spLocks noGrp="1"/>
          </p:cNvSpPr>
          <p:nvPr>
            <p:ph type="body" sz="half" idx="4294967295"/>
          </p:nvPr>
        </p:nvSpPr>
        <p:spPr>
          <a:xfrm>
            <a:off x="628650" y="1478012"/>
            <a:ext cx="8137525" cy="4871565"/>
          </a:xfrm>
        </p:spPr>
        <p:txBody>
          <a:bodyPr anchor="t">
            <a:normAutofit fontScale="92500" lnSpcReduction="10000"/>
          </a:bodyPr>
          <a:lstStyle/>
          <a:p>
            <a:pPr marL="609600" indent="-609600" algn="l" fontAlgn="base">
              <a:lnSpc>
                <a:spcPct val="100000"/>
              </a:lnSpc>
              <a:buSzTx/>
              <a:buFont typeface="Wingdings" panose="05000000000000000000" pitchFamily="2" charset="2"/>
            </a:pPr>
            <a:r>
              <a:rPr lang="en-US" altLang="en-US" sz="3000" b="1" dirty="0">
                <a:latin typeface="华文细黑" panose="02010600040101010101" pitchFamily="2" charset="-122"/>
                <a:ea typeface="华文细黑" panose="02010600040101010101" pitchFamily="2" charset="-122"/>
              </a:rPr>
              <a:t>数字图像来源取证方法</a:t>
            </a:r>
          </a:p>
          <a:p>
            <a:pPr marL="609600" indent="-609600">
              <a:lnSpc>
                <a:spcPct val="80000"/>
              </a:lnSpc>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 ③基于成像管道特性的取证方法</a:t>
            </a:r>
          </a:p>
          <a:p>
            <a:pPr marL="180000" indent="504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由于装有单片 CCD 或 CMOS 的相机只能通过颜色插值才能获得彩色图像，而不同厂家甚至不同型号的相机使用不同的插值算法，只要能从测试图像中估计出插值周期，就可推算出所采用的插值算法，从而追溯出源相机。</a:t>
            </a:r>
            <a:endParaRPr lang="en-US" altLang="zh-CN" sz="22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第一类方法利用了图像的统计特征，第二类方法利用了成像设备的机器指纹，第三类方法利用了成像管道的特性。</a:t>
            </a:r>
          </a:p>
          <a:p>
            <a:pPr marL="180000" indent="504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手机、扫描仪和打印机设备源辨识的方法主要借用了第一、二类相机源辨识的思想。</a:t>
            </a:r>
            <a:r>
              <a:rPr lang="zh-CN" altLang="en-US" sz="2200" dirty="0">
                <a:latin typeface="华文细黑" panose="02010600040101010101" pitchFamily="2" charset="-122"/>
                <a:ea typeface="华文细黑" panose="02010600040101010101" pitchFamily="2" charset="-122"/>
              </a:rPr>
              <a:t> </a:t>
            </a:r>
            <a:endParaRPr lang="zh-CN" altLang="en-US" sz="2200" b="1" dirty="0">
              <a:latin typeface="华文细黑" panose="02010600040101010101" pitchFamily="2" charset="-122"/>
              <a:ea typeface="华文细黑" panose="02010600040101010101" pitchFamily="2" charset="-122"/>
            </a:endParaRPr>
          </a:p>
        </p:txBody>
      </p:sp>
      <p:sp>
        <p:nvSpPr>
          <p:cNvPr id="49156" name="矩形 14336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57" name="矩形 14336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58" name="矩形 14336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59" name="矩形 14336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0" name="矩形 14336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1" name="矩形 14336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2" name="矩形 14336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3" name="矩形 14337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4" name="矩形 14337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5" name="矩形 14337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6" name="矩形 1433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7" name="矩形 14337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8" name="矩形 14337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69" name="矩形 14337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70" name="矩形 14337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49171" name="矩形 14337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53</a:t>
            </a:fld>
            <a:endParaRPr lang="zh-CN" altLang="en-US" sz="1400" b="0" dirty="0">
              <a:latin typeface="Times New Roman" panose="02020603050405020304" pitchFamily="18" charset="0"/>
              <a:ea typeface="宋体" panose="02010600030101010101" pitchFamily="2" charset="-122"/>
            </a:endParaRPr>
          </a:p>
        </p:txBody>
      </p:sp>
      <p:sp>
        <p:nvSpPr>
          <p:cNvPr id="144386" name="标题 14438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0179" name="文本占位符 144386"/>
          <p:cNvSpPr>
            <a:spLocks noGrp="1"/>
          </p:cNvSpPr>
          <p:nvPr>
            <p:ph type="body" sz="half" idx="4294967295"/>
          </p:nvPr>
        </p:nvSpPr>
        <p:spPr>
          <a:xfrm>
            <a:off x="628650" y="1440634"/>
            <a:ext cx="8245475" cy="4391721"/>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数字视频来源取证方法</a:t>
            </a:r>
          </a:p>
          <a:p>
            <a:pPr marL="609600" indent="-609600">
              <a:lnSpc>
                <a:spcPct val="80000"/>
              </a:lnSpc>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 ①基于摄像设备内在特性的视频来源取证</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提取视频捕获设备内在固有的一些特征。与图像来源取证类似，数字视频的来源辨识依赖于这样的假设：同一设备所获取的视频数据均携带该设备的内在特征，这些特征只与成像管道以及该设备独有的硬件元器件有关，与多媒体数据所表达的内容无关。这类特征包括相机的镜头失真、CCD 的缺陷或者响应不一致引起的传感器模式噪声 PRNU 等。</a:t>
            </a:r>
            <a:r>
              <a:rPr lang="zh-CN" altLang="en-US" sz="2100" b="1" dirty="0">
                <a:latin typeface="华文细黑" panose="02010600040101010101" pitchFamily="2" charset="-122"/>
                <a:ea typeface="华文细黑" panose="02010600040101010101" pitchFamily="2" charset="-122"/>
              </a:rPr>
              <a:t> </a:t>
            </a:r>
          </a:p>
        </p:txBody>
      </p:sp>
      <p:sp>
        <p:nvSpPr>
          <p:cNvPr id="50180" name="矩形 14438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1" name="矩形 14438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2" name="矩形 14438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3" name="矩形 14439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4" name="矩形 14439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5" name="矩形 14439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6" name="矩形 14439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7" name="矩形 14439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8" name="矩形 14439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89" name="矩形 14439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90" name="矩形 1443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91" name="矩形 14439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92" name="矩形 14439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93" name="矩形 14440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94" name="矩形 14440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0195" name="矩形 14440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54</a:t>
            </a:fld>
            <a:endParaRPr lang="zh-CN" altLang="en-US" sz="1400" b="0" dirty="0">
              <a:latin typeface="Times New Roman" panose="02020603050405020304" pitchFamily="18" charset="0"/>
              <a:ea typeface="宋体" panose="02010600030101010101" pitchFamily="2" charset="-122"/>
            </a:endParaRPr>
          </a:p>
        </p:txBody>
      </p:sp>
      <p:sp>
        <p:nvSpPr>
          <p:cNvPr id="145410" name="标题 14540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数字内容来源取证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1203" name="文本占位符 145410"/>
          <p:cNvSpPr>
            <a:spLocks noGrp="1"/>
          </p:cNvSpPr>
          <p:nvPr>
            <p:ph type="body" sz="half" idx="4294967295"/>
          </p:nvPr>
        </p:nvSpPr>
        <p:spPr>
          <a:xfrm>
            <a:off x="628650" y="1439868"/>
            <a:ext cx="8316595" cy="4824095"/>
          </a:xfrm>
        </p:spPr>
        <p:txBody>
          <a:bodyPr anchor="t">
            <a:normAutofit fontScale="950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数字视频来源取证方法</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 </a:t>
            </a:r>
            <a:r>
              <a:rPr lang="zh-CN" altLang="en-US" sz="2300" b="1" dirty="0">
                <a:solidFill>
                  <a:schemeClr val="tx1"/>
                </a:solidFill>
                <a:latin typeface="华文细黑" panose="02010600040101010101" pitchFamily="2" charset="-122"/>
                <a:ea typeface="华文细黑" panose="02010600040101010101" pitchFamily="2" charset="-122"/>
              </a:rPr>
              <a:t>②利用视频码流特征进行来源取证</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视频来源取证还可以借助输出数据流的统计特征进行。</a:t>
            </a:r>
          </a:p>
          <a:p>
            <a:pPr marL="180000" indent="504000" algn="l">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视频编码标准通常只规定了编码的框架、特征工具和解码器比特流的句法结构等，而编码器的实现则具有相当大的灵活性。不同的商家采用了不同的速率控制方案后，每帧输出的码流会在码率的分布控制上会有很明显的差异。甚至，不同的运动估计算法，编码器采用不同的匹配准则、搜索路径等，都可能为视频来源取证提供依据。</a:t>
            </a:r>
          </a:p>
        </p:txBody>
      </p:sp>
      <p:sp>
        <p:nvSpPr>
          <p:cNvPr id="51204" name="矩形 14541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05" name="矩形 14541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06" name="矩形 1454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07" name="矩形 14541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08" name="矩形 14541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09" name="矩形 14541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0" name="矩形 14541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1" name="矩形 14541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2" name="矩形 14541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3" name="矩形 14542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4" name="矩形 14542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5" name="矩形 14542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6" name="矩形 14542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7" name="矩形 14542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8" name="矩形 14542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1219" name="矩形 14542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55</a:t>
            </a:fld>
            <a:endParaRPr lang="zh-CN" altLang="en-US" sz="1400" b="0" dirty="0">
              <a:latin typeface="Times New Roman" panose="02020603050405020304" pitchFamily="18" charset="0"/>
              <a:ea typeface="宋体" panose="02010600030101010101" pitchFamily="2" charset="-122"/>
            </a:endParaRPr>
          </a:p>
        </p:txBody>
      </p:sp>
      <p:sp>
        <p:nvSpPr>
          <p:cNvPr id="146434" name="标题 14643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2227" name="文本占位符 146434"/>
          <p:cNvSpPr>
            <a:spLocks noGrp="1"/>
          </p:cNvSpPr>
          <p:nvPr>
            <p:ph type="body" sz="half" idx="4294967295"/>
          </p:nvPr>
        </p:nvSpPr>
        <p:spPr>
          <a:xfrm>
            <a:off x="631190" y="1716405"/>
            <a:ext cx="8245475" cy="4716780"/>
          </a:xfrm>
        </p:spPr>
        <p:txBody>
          <a:bodyPr anchor="t">
            <a:normAutofit fontScale="95000"/>
          </a:bodyPr>
          <a:lstStyle/>
          <a:p>
            <a:pPr marL="609600" indent="-609600">
              <a:lnSpc>
                <a:spcPct val="80000"/>
              </a:lnSpc>
              <a:buSzPct val="100000"/>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隐密分析取证研究概念及系统模型</a:t>
            </a:r>
            <a:r>
              <a:rPr lang="zh-CN" altLang="en-US" sz="2900" dirty="0"/>
              <a:t> </a:t>
            </a:r>
          </a:p>
          <a:p>
            <a:pPr marL="609600" indent="-609600">
              <a:lnSpc>
                <a:spcPct val="80000"/>
              </a:lnSpc>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在以数字图像作为载体的情况下，隐密通信过程可以简单地描述为：秘密信息经过编码，在密钥的控制下被嵌入到原始图像中，形成带有秘密信息的隐密图像。该隐密图像通过信道传输到达接收方，接收方利用已知的密钥从隐密图像中提取出秘密信息。</a:t>
            </a: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隐密分析是利用秘密信息的嵌入可能引起载体数据分布特性或统计特性的改变，分析在信道中获得的可能的载体信息，从而检测、估计并提取出隐藏的秘密信息。</a:t>
            </a:r>
          </a:p>
        </p:txBody>
      </p:sp>
      <p:sp>
        <p:nvSpPr>
          <p:cNvPr id="52228" name="矩形 14643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29" name="矩形 14643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0" name="矩形 14643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1" name="矩形 14643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2" name="矩形 14643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3" name="矩形 14644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4" name="矩形 14644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5" name="矩形 14644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6" name="矩形 1464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7" name="矩形 14644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8" name="矩形 1464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9" name="矩形 14644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40" name="矩形 14644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41" name="矩形 14644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42" name="矩形 14644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43" name="矩形 14645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146453" name="图片 146452"/>
          <p:cNvPicPr>
            <a:picLocks noChangeAspect="1"/>
          </p:cNvPicPr>
          <p:nvPr/>
        </p:nvPicPr>
        <p:blipFill>
          <a:blip r:embed="rId2"/>
          <a:srcRect b="14437"/>
          <a:stretch>
            <a:fillRect/>
          </a:stretch>
        </p:blipFill>
        <p:spPr>
          <a:xfrm>
            <a:off x="1043608" y="3015932"/>
            <a:ext cx="7319645" cy="2534602"/>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4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464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56</a:t>
            </a:fld>
            <a:endParaRPr lang="zh-CN" altLang="en-US" sz="1400" b="0" dirty="0">
              <a:latin typeface="Times New Roman" panose="02020603050405020304" pitchFamily="18" charset="0"/>
              <a:ea typeface="宋体" panose="02010600030101010101" pitchFamily="2" charset="-122"/>
            </a:endParaRPr>
          </a:p>
        </p:txBody>
      </p:sp>
      <p:sp>
        <p:nvSpPr>
          <p:cNvPr id="147458" name="标题 14745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3251" name="文本占位符 147458"/>
          <p:cNvSpPr>
            <a:spLocks noGrp="1"/>
          </p:cNvSpPr>
          <p:nvPr>
            <p:ph type="body" sz="half" idx="4294967295"/>
          </p:nvPr>
        </p:nvSpPr>
        <p:spPr>
          <a:xfrm>
            <a:off x="628650" y="1664936"/>
            <a:ext cx="8245475" cy="2387828"/>
          </a:xfrm>
        </p:spPr>
        <p:txBody>
          <a:bodyPr anchor="t">
            <a:normAutofit/>
          </a:bodyPr>
          <a:lstStyle/>
          <a:p>
            <a:pPr marL="609600" indent="-609600">
              <a:buSzPct val="100000"/>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隐密分析取证研究概念及系统模型</a:t>
            </a:r>
            <a:r>
              <a:rPr lang="zh-CN" altLang="en-US" sz="2800" dirty="0"/>
              <a:t> </a:t>
            </a:r>
          </a:p>
          <a:p>
            <a:pPr marL="609600" indent="-609600">
              <a:buClr>
                <a:schemeClr val="accent2"/>
              </a:buClr>
              <a:buSzPct val="80000"/>
              <a:buFont typeface="Wingdings" panose="05000000000000000000" pitchFamily="2" charset="2"/>
            </a:pPr>
            <a:endParaRPr lang="zh-CN" altLang="en-US" sz="600" dirty="0"/>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隐密分析技术主要指的是证明可疑图像中是否隐藏有秘密信息或者进一步确定秘密信息的嵌入量。而能够作为法律呈堂证据的隐密分析取证技术的目标则是提取并破译出隐藏的秘密信息。</a:t>
            </a:r>
          </a:p>
        </p:txBody>
      </p:sp>
      <p:sp>
        <p:nvSpPr>
          <p:cNvPr id="53252" name="矩形 14745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3" name="矩形 14746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4" name="矩形 14746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5" name="矩形 14746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6" name="矩形 14746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7" name="矩形 14746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8" name="矩形 14746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9" name="矩形 14746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0" name="矩形 14746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1" name="矩形 14746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2" name="矩形 14746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3" name="矩形 14747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4" name="矩形 14747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5" name="矩形 14747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6" name="矩形 14747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67" name="矩形 14747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pic>
        <p:nvPicPr>
          <p:cNvPr id="147477" name="图片 147476"/>
          <p:cNvPicPr>
            <a:picLocks noChangeAspect="1"/>
          </p:cNvPicPr>
          <p:nvPr/>
        </p:nvPicPr>
        <p:blipFill>
          <a:blip r:embed="rId2"/>
          <a:srcRect b="17569"/>
          <a:stretch>
            <a:fillRect/>
          </a:stretch>
        </p:blipFill>
        <p:spPr>
          <a:xfrm>
            <a:off x="1259632" y="4052764"/>
            <a:ext cx="6885305" cy="2280602"/>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4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474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57</a:t>
            </a:fld>
            <a:endParaRPr lang="zh-CN" altLang="en-US" sz="1400" b="0" dirty="0">
              <a:latin typeface="Times New Roman" panose="02020603050405020304" pitchFamily="18" charset="0"/>
              <a:ea typeface="宋体" panose="02010600030101010101" pitchFamily="2" charset="-122"/>
            </a:endParaRPr>
          </a:p>
        </p:txBody>
      </p:sp>
      <p:sp>
        <p:nvSpPr>
          <p:cNvPr id="156674" name="标题 15667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4275" name="文本占位符 156674"/>
          <p:cNvSpPr>
            <a:spLocks noGrp="1"/>
          </p:cNvSpPr>
          <p:nvPr>
            <p:ph type="body" sz="half" idx="4294967295"/>
          </p:nvPr>
        </p:nvSpPr>
        <p:spPr>
          <a:xfrm>
            <a:off x="628650" y="1666943"/>
            <a:ext cx="7991475" cy="4537075"/>
          </a:xfrm>
        </p:spPr>
        <p:txBody>
          <a:bodyPr anchor="t">
            <a:normAutofit/>
          </a:bodyPr>
          <a:lstStyle/>
          <a:p>
            <a:pPr marL="609600" indent="-609600">
              <a:buSzPct val="100000"/>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隐密分析取证研究概念及系统模型</a:t>
            </a:r>
            <a:endParaRPr lang="zh-CN" altLang="en-US" sz="2800" dirty="0"/>
          </a:p>
          <a:p>
            <a:pPr marL="609600" indent="-609600">
              <a:buClr>
                <a:schemeClr val="accent2"/>
              </a:buClr>
              <a:buSzPct val="80000"/>
              <a:buFont typeface="Wingdings" panose="05000000000000000000" pitchFamily="2" charset="2"/>
            </a:pPr>
            <a:endParaRPr lang="zh-CN" altLang="en-US" sz="600" dirty="0"/>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（1）证明可疑图像中是否隐藏有秘密信息；</a:t>
            </a:r>
          </a:p>
          <a:p>
            <a:pPr marL="0" indent="612000">
              <a:lnSpc>
                <a:spcPct val="150000"/>
              </a:lnSpc>
              <a:spcBef>
                <a:spcPts val="600"/>
              </a:spcBef>
              <a:buNone/>
            </a:pPr>
            <a:r>
              <a:rPr lang="zh-CN" altLang="en-US" sz="2400" b="1" dirty="0">
                <a:solidFill>
                  <a:schemeClr val="tx1"/>
                </a:solidFill>
                <a:latin typeface="华文细黑" panose="02010600040101010101" pitchFamily="2" charset="-122"/>
                <a:ea typeface="华文细黑" panose="02010600040101010101" pitchFamily="2" charset="-122"/>
              </a:rPr>
              <a:t>（2）确定使用的隐藏方法；</a:t>
            </a:r>
          </a:p>
          <a:p>
            <a:pPr marL="0" indent="612000">
              <a:lnSpc>
                <a:spcPct val="150000"/>
              </a:lnSpc>
              <a:spcBef>
                <a:spcPts val="600"/>
              </a:spcBef>
              <a:buNone/>
            </a:pPr>
            <a:r>
              <a:rPr lang="zh-CN" altLang="en-US" sz="2400" b="1" dirty="0">
                <a:solidFill>
                  <a:schemeClr val="tx1"/>
                </a:solidFill>
                <a:latin typeface="华文细黑" panose="02010600040101010101" pitchFamily="2" charset="-122"/>
                <a:ea typeface="华文细黑" panose="02010600040101010101" pitchFamily="2" charset="-122"/>
              </a:rPr>
              <a:t>（3）确定秘密信息的嵌入量和嵌入位置；</a:t>
            </a:r>
          </a:p>
          <a:p>
            <a:pPr marL="0" indent="612000">
              <a:lnSpc>
                <a:spcPct val="150000"/>
              </a:lnSpc>
              <a:spcBef>
                <a:spcPts val="600"/>
              </a:spcBef>
              <a:buNone/>
            </a:pPr>
            <a:r>
              <a:rPr lang="zh-CN" altLang="en-US" sz="2400" b="1" dirty="0">
                <a:solidFill>
                  <a:schemeClr val="tx1"/>
                </a:solidFill>
                <a:latin typeface="华文细黑" panose="02010600040101010101" pitchFamily="2" charset="-122"/>
                <a:ea typeface="华文细黑" panose="02010600040101010101" pitchFamily="2" charset="-122"/>
              </a:rPr>
              <a:t>（4）如果嵌入算法使用密钥，寻找嵌入所用的密钥；</a:t>
            </a:r>
          </a:p>
          <a:p>
            <a:pPr marL="0" indent="612000">
              <a:lnSpc>
                <a:spcPct val="150000"/>
              </a:lnSpc>
              <a:spcBef>
                <a:spcPts val="600"/>
              </a:spcBef>
              <a:buNone/>
            </a:pPr>
            <a:r>
              <a:rPr lang="zh-CN" altLang="en-US" sz="2400" b="1" dirty="0">
                <a:solidFill>
                  <a:schemeClr val="tx1"/>
                </a:solidFill>
                <a:latin typeface="华文细黑" panose="02010600040101010101" pitchFamily="2" charset="-122"/>
                <a:ea typeface="华文细黑" panose="02010600040101010101" pitchFamily="2" charset="-122"/>
              </a:rPr>
              <a:t>（5）提取出隐藏的秘密信息比特流；</a:t>
            </a: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（6）对秘密信息比特流进行破译解码（密码学畴）。 </a:t>
            </a:r>
            <a:endParaRPr lang="zh-CN" altLang="en-US" sz="2400" b="1" dirty="0">
              <a:latin typeface="华文细黑" panose="02010600040101010101" pitchFamily="2" charset="-122"/>
              <a:ea typeface="华文细黑" panose="02010600040101010101" pitchFamily="2" charset="-122"/>
            </a:endParaRPr>
          </a:p>
        </p:txBody>
      </p:sp>
      <p:sp>
        <p:nvSpPr>
          <p:cNvPr id="54276" name="矩形 15667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7" name="矩形 15667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8" name="矩形 15667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9" name="矩形 15667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0" name="矩形 15667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1" name="矩形 15668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2" name="矩形 15668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3" name="矩形 15668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4" name="矩形 15668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5" name="矩形 15668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6" name="矩形 15668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7" name="矩形 15668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8" name="矩形 15668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89" name="矩形 15668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90" name="矩形 15668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91" name="矩形 15669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58</a:t>
            </a:fld>
            <a:endParaRPr lang="zh-CN" altLang="en-US" sz="1400" b="0" dirty="0">
              <a:latin typeface="Times New Roman" panose="02020603050405020304" pitchFamily="18" charset="0"/>
              <a:ea typeface="宋体" panose="02010600030101010101" pitchFamily="2" charset="-122"/>
            </a:endParaRPr>
          </a:p>
        </p:txBody>
      </p:sp>
      <p:sp>
        <p:nvSpPr>
          <p:cNvPr id="148482" name="标题 14848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5299" name="文本占位符 148482"/>
          <p:cNvSpPr>
            <a:spLocks noGrp="1"/>
          </p:cNvSpPr>
          <p:nvPr>
            <p:ph type="body" sz="half" idx="4294967295"/>
          </p:nvPr>
        </p:nvSpPr>
        <p:spPr>
          <a:xfrm>
            <a:off x="628650" y="1732178"/>
            <a:ext cx="8209280" cy="4321175"/>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隐密分析取证分类</a:t>
            </a:r>
          </a:p>
          <a:p>
            <a:pPr marL="609600" indent="-609600">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典型的被动发现性隐密分析手段分为针对性隐密分析算法和通用性隐密分析算法两种。</a:t>
            </a: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针对性隐密分析算法是针对现有的隐密技术进行分析，因为在分析以前已经知道使用了哪种隐密技术，这种分析算法的最终目的是力求估计出携密载体中的含密量。</a:t>
            </a:r>
          </a:p>
        </p:txBody>
      </p:sp>
      <p:sp>
        <p:nvSpPr>
          <p:cNvPr id="55300" name="矩形 14848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1" name="矩形 14848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2" name="矩形 14848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3" name="矩形 14848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4" name="矩形 14848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5" name="矩形 14848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6" name="矩形 14848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7" name="矩形 14849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8" name="矩形 14849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9" name="矩形 14849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10" name="矩形 14849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11" name="矩形 14849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12" name="矩形 14849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13" name="矩形 14849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14" name="矩形 14849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15" name="矩形 14849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59</a:t>
            </a:fld>
            <a:endParaRPr lang="zh-CN" altLang="en-US" sz="1400" b="0" dirty="0">
              <a:latin typeface="Times New Roman" panose="02020603050405020304" pitchFamily="18" charset="0"/>
              <a:ea typeface="宋体" panose="02010600030101010101" pitchFamily="2" charset="-122"/>
            </a:endParaRPr>
          </a:p>
        </p:txBody>
      </p:sp>
      <p:sp>
        <p:nvSpPr>
          <p:cNvPr id="157698" name="标题 15769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6323" name="文本占位符 157698"/>
          <p:cNvSpPr>
            <a:spLocks noGrp="1"/>
          </p:cNvSpPr>
          <p:nvPr>
            <p:ph type="body" sz="half" idx="4294967295"/>
          </p:nvPr>
        </p:nvSpPr>
        <p:spPr>
          <a:xfrm>
            <a:off x="628650" y="1766783"/>
            <a:ext cx="8029575" cy="4069080"/>
          </a:xfrm>
        </p:spPr>
        <p:txBody>
          <a:bodyPr anchor="t">
            <a:normAutofit/>
          </a:bodyPr>
          <a:lstStyle/>
          <a:p>
            <a:pPr marL="609600" indent="-609600">
              <a:buSzPct val="100000"/>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隐密分析取证分类</a:t>
            </a:r>
            <a:endParaRPr lang="zh-CN" altLang="en-US" sz="2800" b="1" dirty="0">
              <a:ea typeface="华文细黑" panose="02010600040101010101" pitchFamily="2" charset="-122"/>
            </a:endParaRPr>
          </a:p>
          <a:p>
            <a:pPr marL="609600" indent="-609600">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通用性分析方法又被称为“盲分析方法”，是通过提取的多个通用特征对载体样本集和含密体样本集的训练建立模式分类器，再用此分类器判决待测数据是否含有秘密信息。</a:t>
            </a:r>
          </a:p>
          <a:p>
            <a:pPr marL="0" indent="612000" algn="l">
              <a:lnSpc>
                <a:spcPct val="150000"/>
              </a:lnSpc>
              <a:spcBef>
                <a:spcPts val="600"/>
              </a:spcBef>
              <a:buSzTx/>
              <a:buFont typeface="Wingdings" panose="05000000000000000000" pitchFamily="2" charset="2"/>
              <a:buNone/>
            </a:pPr>
            <a:r>
              <a:rPr lang="zh-CN" altLang="en-US" sz="2400" b="1" dirty="0">
                <a:solidFill>
                  <a:schemeClr val="tx1"/>
                </a:solidFill>
                <a:latin typeface="华文细黑" panose="02010600040101010101" pitchFamily="2" charset="-122"/>
                <a:ea typeface="华文细黑" panose="02010600040101010101" pitchFamily="2" charset="-122"/>
              </a:rPr>
              <a:t>通用性分析方法相对于针对性隐密分析方法要难，其目标是力求发现分析的载体对象中是否含密。</a:t>
            </a:r>
          </a:p>
        </p:txBody>
      </p:sp>
      <p:sp>
        <p:nvSpPr>
          <p:cNvPr id="56324" name="矩形 15769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5" name="矩形 15770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6" name="矩形 15770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7" name="矩形 15770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8" name="矩形 15770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9" name="矩形 15770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0" name="矩形 15770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1" name="矩形 15770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2" name="矩形 15770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3" name="矩形 15770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4" name="矩形 15770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5" name="矩形 15771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6" name="矩形 15771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7" name="矩形 15771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8" name="矩形 15771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39" name="矩形 15771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60</a:t>
            </a:fld>
            <a:endParaRPr lang="zh-CN" altLang="en-US" sz="1400" b="0" dirty="0">
              <a:latin typeface="Times New Roman" panose="02020603050405020304" pitchFamily="18" charset="0"/>
              <a:ea typeface="宋体" panose="02010600030101010101" pitchFamily="2" charset="-122"/>
            </a:endParaRPr>
          </a:p>
        </p:txBody>
      </p:sp>
      <p:sp>
        <p:nvSpPr>
          <p:cNvPr id="149506" name="标题 14950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7347" name="文本占位符 149506"/>
          <p:cNvSpPr>
            <a:spLocks noGrp="1"/>
          </p:cNvSpPr>
          <p:nvPr>
            <p:ph type="body" sz="half" idx="4294967295"/>
          </p:nvPr>
        </p:nvSpPr>
        <p:spPr>
          <a:xfrm>
            <a:off x="628650" y="1729952"/>
            <a:ext cx="8245475" cy="4860925"/>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隐密分析方法的评价标准</a:t>
            </a:r>
          </a:p>
          <a:p>
            <a:pPr marL="609600" indent="-609600">
              <a:lnSpc>
                <a:spcPct val="80000"/>
              </a:lnSpc>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对于隐秘分析方法的评价指标主要包括：检出率、漏检率、虚警率、否定率，ROC 曲线。目前比较新颖的评价指标还有检测误差、检测复杂性以及检测容量与检测极限。</a:t>
            </a: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（1）检测误差</a:t>
            </a:r>
            <a:endParaRPr lang="en-US" altLang="zh-CN" sz="2300" b="1" dirty="0">
              <a:solidFill>
                <a:schemeClr val="tx1"/>
              </a:solidFill>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endParaRPr lang="zh-CN" altLang="en-US" sz="2300" b="1" dirty="0">
              <a:solidFill>
                <a:schemeClr val="tx1"/>
              </a:solidFill>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       和           分别表示数字内容中不含隐秘信息和含有隐秘信息的概率；          和            表示隐写分析算法的虚警率和漏检率。</a:t>
            </a:r>
          </a:p>
          <a:p>
            <a:pPr marL="0" indent="457200" algn="l">
              <a:lnSpc>
                <a:spcPct val="150000"/>
              </a:lnSpc>
              <a:spcBef>
                <a:spcPts val="600"/>
              </a:spcBef>
              <a:buSzTx/>
              <a:buFont typeface="Wingdings" panose="05000000000000000000" pitchFamily="2" charset="2"/>
              <a:buNone/>
            </a:pP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57348" name="矩形 14950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49" name="矩形 14950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0" name="矩形 14950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1" name="矩形 14951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2" name="矩形 14951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3" name="矩形 14951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4" name="矩形 14951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5" name="矩形 14951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6" name="矩形 14951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7" name="矩形 14951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8" name="矩形 14951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9" name="矩形 14951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60" name="矩形 14951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61" name="矩形 14952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62" name="矩形 14952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63" name="矩形 14952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64" name="矩形 1495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7365" name="对象 149523"/>
          <p:cNvGraphicFramePr/>
          <p:nvPr>
            <p:extLst>
              <p:ext uri="{D42A27DB-BD31-4B8C-83A1-F6EECF244321}">
                <p14:modId xmlns:p14="http://schemas.microsoft.com/office/powerpoint/2010/main" val="4011165802"/>
              </p:ext>
            </p:extLst>
          </p:nvPr>
        </p:nvGraphicFramePr>
        <p:xfrm>
          <a:off x="2818605" y="4628939"/>
          <a:ext cx="3865563" cy="457200"/>
        </p:xfrm>
        <a:graphic>
          <a:graphicData uri="http://schemas.openxmlformats.org/presentationml/2006/ole">
            <mc:AlternateContent xmlns:mc="http://schemas.openxmlformats.org/markup-compatibility/2006">
              <mc:Choice xmlns:v="urn:schemas-microsoft-com:vml" Requires="v">
                <p:oleObj r:id="rId3" imgW="2171700" imgH="254000" progId="Equation.DSMT4">
                  <p:embed/>
                </p:oleObj>
              </mc:Choice>
              <mc:Fallback>
                <p:oleObj r:id="rId3" imgW="2171700" imgH="254000" progId="Equation.DSMT4">
                  <p:embed/>
                  <p:pic>
                    <p:nvPicPr>
                      <p:cNvPr id="0" name="图片 3085"/>
                      <p:cNvPicPr/>
                      <p:nvPr/>
                    </p:nvPicPr>
                    <p:blipFill>
                      <a:blip r:embed="rId4"/>
                      <a:stretch>
                        <a:fillRect/>
                      </a:stretch>
                    </p:blipFill>
                    <p:spPr>
                      <a:xfrm>
                        <a:off x="2818605" y="4628939"/>
                        <a:ext cx="3865563" cy="457200"/>
                      </a:xfrm>
                      <a:prstGeom prst="rect">
                        <a:avLst/>
                      </a:prstGeom>
                      <a:solidFill>
                        <a:schemeClr val="bg1"/>
                      </a:solidFill>
                      <a:ln w="38100">
                        <a:noFill/>
                        <a:miter/>
                      </a:ln>
                    </p:spPr>
                  </p:pic>
                </p:oleObj>
              </mc:Fallback>
            </mc:AlternateContent>
          </a:graphicData>
        </a:graphic>
      </p:graphicFrame>
      <p:sp>
        <p:nvSpPr>
          <p:cNvPr id="57366" name="矩形 149526"/>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7367" name="对象 149525"/>
          <p:cNvGraphicFramePr/>
          <p:nvPr>
            <p:extLst>
              <p:ext uri="{D42A27DB-BD31-4B8C-83A1-F6EECF244321}">
                <p14:modId xmlns:p14="http://schemas.microsoft.com/office/powerpoint/2010/main" val="15997250"/>
              </p:ext>
            </p:extLst>
          </p:nvPr>
        </p:nvGraphicFramePr>
        <p:xfrm>
          <a:off x="1089660" y="5290996"/>
          <a:ext cx="611187" cy="341313"/>
        </p:xfrm>
        <a:graphic>
          <a:graphicData uri="http://schemas.openxmlformats.org/presentationml/2006/ole">
            <mc:AlternateContent xmlns:mc="http://schemas.openxmlformats.org/markup-compatibility/2006">
              <mc:Choice xmlns:v="urn:schemas-microsoft-com:vml" Requires="v">
                <p:oleObj r:id="rId5" imgW="406400" imgH="228600" progId="Equation.DSMT4">
                  <p:embed/>
                </p:oleObj>
              </mc:Choice>
              <mc:Fallback>
                <p:oleObj r:id="rId5" imgW="406400" imgH="228600" progId="Equation.DSMT4">
                  <p:embed/>
                  <p:pic>
                    <p:nvPicPr>
                      <p:cNvPr id="0" name="图片 3084"/>
                      <p:cNvPicPr/>
                      <p:nvPr/>
                    </p:nvPicPr>
                    <p:blipFill>
                      <a:blip r:embed="rId6"/>
                      <a:stretch>
                        <a:fillRect/>
                      </a:stretch>
                    </p:blipFill>
                    <p:spPr>
                      <a:xfrm>
                        <a:off x="1089660" y="5290996"/>
                        <a:ext cx="611187" cy="341313"/>
                      </a:xfrm>
                      <a:prstGeom prst="rect">
                        <a:avLst/>
                      </a:prstGeom>
                      <a:solidFill>
                        <a:schemeClr val="bg1"/>
                      </a:solidFill>
                      <a:ln w="38100">
                        <a:noFill/>
                        <a:miter/>
                      </a:ln>
                    </p:spPr>
                  </p:pic>
                </p:oleObj>
              </mc:Fallback>
            </mc:AlternateContent>
          </a:graphicData>
        </a:graphic>
      </p:graphicFrame>
      <p:sp>
        <p:nvSpPr>
          <p:cNvPr id="57368" name="矩形 14952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7369" name="对象 149527"/>
          <p:cNvGraphicFramePr/>
          <p:nvPr>
            <p:extLst>
              <p:ext uri="{D42A27DB-BD31-4B8C-83A1-F6EECF244321}">
                <p14:modId xmlns:p14="http://schemas.microsoft.com/office/powerpoint/2010/main" val="2920281320"/>
              </p:ext>
            </p:extLst>
          </p:nvPr>
        </p:nvGraphicFramePr>
        <p:xfrm>
          <a:off x="2161857" y="5290996"/>
          <a:ext cx="582613" cy="341313"/>
        </p:xfrm>
        <a:graphic>
          <a:graphicData uri="http://schemas.openxmlformats.org/presentationml/2006/ole">
            <mc:AlternateContent xmlns:mc="http://schemas.openxmlformats.org/markup-compatibility/2006">
              <mc:Choice xmlns:v="urn:schemas-microsoft-com:vml" Requires="v">
                <p:oleObj r:id="rId7" imgW="393700" imgH="228600" progId="Equation.DSMT4">
                  <p:embed/>
                </p:oleObj>
              </mc:Choice>
              <mc:Fallback>
                <p:oleObj r:id="rId7" imgW="393700" imgH="228600" progId="Equation.DSMT4">
                  <p:embed/>
                  <p:pic>
                    <p:nvPicPr>
                      <p:cNvPr id="0" name="图片 3083"/>
                      <p:cNvPicPr/>
                      <p:nvPr/>
                    </p:nvPicPr>
                    <p:blipFill>
                      <a:blip r:embed="rId8"/>
                      <a:stretch>
                        <a:fillRect/>
                      </a:stretch>
                    </p:blipFill>
                    <p:spPr>
                      <a:xfrm>
                        <a:off x="2161857" y="5290996"/>
                        <a:ext cx="582613" cy="341313"/>
                      </a:xfrm>
                      <a:prstGeom prst="rect">
                        <a:avLst/>
                      </a:prstGeom>
                      <a:solidFill>
                        <a:schemeClr val="bg1"/>
                      </a:solidFill>
                      <a:ln w="38100">
                        <a:noFill/>
                        <a:miter/>
                      </a:ln>
                    </p:spPr>
                  </p:pic>
                </p:oleObj>
              </mc:Fallback>
            </mc:AlternateContent>
          </a:graphicData>
        </a:graphic>
      </p:graphicFrame>
      <p:sp>
        <p:nvSpPr>
          <p:cNvPr id="57370" name="矩形 14953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7371" name="对象 149529"/>
          <p:cNvGraphicFramePr/>
          <p:nvPr>
            <p:extLst>
              <p:ext uri="{D42A27DB-BD31-4B8C-83A1-F6EECF244321}">
                <p14:modId xmlns:p14="http://schemas.microsoft.com/office/powerpoint/2010/main" val="2884283680"/>
              </p:ext>
            </p:extLst>
          </p:nvPr>
        </p:nvGraphicFramePr>
        <p:xfrm>
          <a:off x="2068195" y="5803388"/>
          <a:ext cx="676275" cy="331787"/>
        </p:xfrm>
        <a:graphic>
          <a:graphicData uri="http://schemas.openxmlformats.org/presentationml/2006/ole">
            <mc:AlternateContent xmlns:mc="http://schemas.openxmlformats.org/markup-compatibility/2006">
              <mc:Choice xmlns:v="urn:schemas-microsoft-com:vml" Requires="v">
                <p:oleObj r:id="rId9" imgW="520700" imgH="254000" progId="Equation.DSMT4">
                  <p:embed/>
                </p:oleObj>
              </mc:Choice>
              <mc:Fallback>
                <p:oleObj r:id="rId9" imgW="520700" imgH="254000" progId="Equation.DSMT4">
                  <p:embed/>
                  <p:pic>
                    <p:nvPicPr>
                      <p:cNvPr id="0" name="图片 3082"/>
                      <p:cNvPicPr/>
                      <p:nvPr/>
                    </p:nvPicPr>
                    <p:blipFill>
                      <a:blip r:embed="rId10"/>
                      <a:stretch>
                        <a:fillRect/>
                      </a:stretch>
                    </p:blipFill>
                    <p:spPr>
                      <a:xfrm>
                        <a:off x="2068195" y="5803388"/>
                        <a:ext cx="676275" cy="331787"/>
                      </a:xfrm>
                      <a:prstGeom prst="rect">
                        <a:avLst/>
                      </a:prstGeom>
                      <a:solidFill>
                        <a:schemeClr val="bg1"/>
                      </a:solidFill>
                      <a:ln w="38100">
                        <a:noFill/>
                        <a:miter/>
                      </a:ln>
                    </p:spPr>
                  </p:pic>
                </p:oleObj>
              </mc:Fallback>
            </mc:AlternateContent>
          </a:graphicData>
        </a:graphic>
      </p:graphicFrame>
      <p:sp>
        <p:nvSpPr>
          <p:cNvPr id="57372" name="矩形 14953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7373" name="对象 149531"/>
          <p:cNvGraphicFramePr/>
          <p:nvPr>
            <p:extLst>
              <p:ext uri="{D42A27DB-BD31-4B8C-83A1-F6EECF244321}">
                <p14:modId xmlns:p14="http://schemas.microsoft.com/office/powerpoint/2010/main" val="4200216140"/>
              </p:ext>
            </p:extLst>
          </p:nvPr>
        </p:nvGraphicFramePr>
        <p:xfrm>
          <a:off x="3203848" y="5803387"/>
          <a:ext cx="650875" cy="331787"/>
        </p:xfrm>
        <a:graphic>
          <a:graphicData uri="http://schemas.openxmlformats.org/presentationml/2006/ole">
            <mc:AlternateContent xmlns:mc="http://schemas.openxmlformats.org/markup-compatibility/2006">
              <mc:Choice xmlns:v="urn:schemas-microsoft-com:vml" Requires="v">
                <p:oleObj r:id="rId11" imgW="508000" imgH="254000" progId="Equation.DSMT4">
                  <p:embed/>
                </p:oleObj>
              </mc:Choice>
              <mc:Fallback>
                <p:oleObj r:id="rId11" imgW="508000" imgH="254000" progId="Equation.DSMT4">
                  <p:embed/>
                  <p:pic>
                    <p:nvPicPr>
                      <p:cNvPr id="0" name="图片 3081"/>
                      <p:cNvPicPr/>
                      <p:nvPr/>
                    </p:nvPicPr>
                    <p:blipFill>
                      <a:blip r:embed="rId12"/>
                      <a:stretch>
                        <a:fillRect/>
                      </a:stretch>
                    </p:blipFill>
                    <p:spPr>
                      <a:xfrm>
                        <a:off x="3203848" y="5803387"/>
                        <a:ext cx="650875" cy="331787"/>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61</a:t>
            </a:fld>
            <a:endParaRPr lang="zh-CN" altLang="en-US" sz="1400" b="0" dirty="0">
              <a:latin typeface="Times New Roman" panose="02020603050405020304" pitchFamily="18" charset="0"/>
              <a:ea typeface="宋体" panose="02010600030101010101" pitchFamily="2" charset="-122"/>
            </a:endParaRPr>
          </a:p>
        </p:txBody>
      </p:sp>
      <p:sp>
        <p:nvSpPr>
          <p:cNvPr id="150530" name="标题 15052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8371" name="文本占位符 150530"/>
          <p:cNvSpPr>
            <a:spLocks noGrp="1"/>
          </p:cNvSpPr>
          <p:nvPr>
            <p:ph type="body" sz="half" idx="4294967295"/>
          </p:nvPr>
        </p:nvSpPr>
        <p:spPr>
          <a:xfrm>
            <a:off x="514955" y="1473733"/>
            <a:ext cx="8316595" cy="5220970"/>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隐密分析方法的评价标准</a:t>
            </a: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（2）检测复杂性</a:t>
            </a: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隐写分析算法的检测复杂性涉及到两个要素：算法复杂性和检出时间。一般来说，</a:t>
            </a:r>
            <a:r>
              <a:rPr lang="zh-CN" altLang="en-US" sz="2300" b="1" dirty="0">
                <a:solidFill>
                  <a:srgbClr val="FF0000"/>
                </a:solidFill>
                <a:latin typeface="华文细黑" panose="02010600040101010101" pitchFamily="2" charset="-122"/>
                <a:ea typeface="华文细黑" panose="02010600040101010101" pitchFamily="2" charset="-122"/>
              </a:rPr>
              <a:t>算法的复杂性可以由检出时间来反映</a:t>
            </a:r>
            <a:r>
              <a:rPr lang="zh-CN" altLang="en-US" sz="2300" b="1" dirty="0">
                <a:solidFill>
                  <a:schemeClr val="tx1"/>
                </a:solidFill>
                <a:latin typeface="华文细黑" panose="02010600040101010101" pitchFamily="2" charset="-122"/>
                <a:ea typeface="华文细黑" panose="02010600040101010101" pitchFamily="2" charset="-122"/>
              </a:rPr>
              <a:t>。单位时间内隐写分析算法能分析的数据大小为该算法的检测复杂性，或称作检测复杂度，即：</a:t>
            </a:r>
          </a:p>
          <a:p>
            <a:pPr marL="0" indent="558000" algn="l">
              <a:lnSpc>
                <a:spcPct val="150000"/>
              </a:lnSpc>
              <a:spcBef>
                <a:spcPts val="600"/>
              </a:spcBef>
              <a:buSzTx/>
              <a:buFont typeface="Wingdings" panose="05000000000000000000" pitchFamily="2" charset="2"/>
              <a:buNone/>
            </a:pPr>
            <a:endParaRPr lang="zh-CN" altLang="en-US" sz="2300" b="1" dirty="0">
              <a:solidFill>
                <a:schemeClr val="tx1"/>
              </a:solidFill>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300" b="1" dirty="0">
                <a:solidFill>
                  <a:schemeClr val="tx1"/>
                </a:solidFill>
                <a:latin typeface="华文细黑" panose="02010600040101010101" pitchFamily="2" charset="-122"/>
                <a:ea typeface="华文细黑" panose="02010600040101010101" pitchFamily="2" charset="-122"/>
              </a:rPr>
              <a:t>其中，Com 表示检测复杂性，T</a:t>
            </a:r>
            <a:r>
              <a:rPr lang="zh-CN" altLang="en-US" sz="2300" b="1" baseline="-25000" dirty="0">
                <a:solidFill>
                  <a:schemeClr val="tx1"/>
                </a:solidFill>
                <a:latin typeface="华文细黑" panose="02010600040101010101" pitchFamily="2" charset="-122"/>
                <a:ea typeface="华文细黑" panose="02010600040101010101" pitchFamily="2" charset="-122"/>
              </a:rPr>
              <a:t>i </a:t>
            </a:r>
            <a:r>
              <a:rPr lang="zh-CN" altLang="en-US" sz="2300" b="1" dirty="0">
                <a:solidFill>
                  <a:schemeClr val="tx1"/>
                </a:solidFill>
                <a:latin typeface="华文细黑" panose="02010600040101010101" pitchFamily="2" charset="-122"/>
                <a:ea typeface="华文细黑" panose="02010600040101010101" pitchFamily="2" charset="-122"/>
              </a:rPr>
              <a:t>表示检测 n 张图片中第 i 张图片的用时，S</a:t>
            </a:r>
            <a:r>
              <a:rPr lang="zh-CN" altLang="en-US" sz="2300" b="1" baseline="-25000" dirty="0">
                <a:solidFill>
                  <a:schemeClr val="tx1"/>
                </a:solidFill>
                <a:latin typeface="华文细黑" panose="02010600040101010101" pitchFamily="2" charset="-122"/>
                <a:ea typeface="华文细黑" panose="02010600040101010101" pitchFamily="2" charset="-122"/>
              </a:rPr>
              <a:t>i </a:t>
            </a:r>
            <a:r>
              <a:rPr lang="zh-CN" altLang="en-US" sz="2300" b="1" dirty="0">
                <a:solidFill>
                  <a:schemeClr val="tx1"/>
                </a:solidFill>
                <a:latin typeface="华文细黑" panose="02010600040101010101" pitchFamily="2" charset="-122"/>
                <a:ea typeface="华文细黑" panose="02010600040101010101" pitchFamily="2" charset="-122"/>
              </a:rPr>
              <a:t>为第 i 张图片大小，S</a:t>
            </a:r>
            <a:r>
              <a:rPr lang="zh-CN" altLang="en-US" sz="2300" b="1" baseline="-25000" dirty="0">
                <a:solidFill>
                  <a:schemeClr val="tx1"/>
                </a:solidFill>
                <a:latin typeface="华文细黑" panose="02010600040101010101" pitchFamily="2" charset="-122"/>
                <a:ea typeface="华文细黑" panose="02010600040101010101" pitchFamily="2" charset="-122"/>
              </a:rPr>
              <a:t>i</a:t>
            </a:r>
            <a:r>
              <a:rPr lang="zh-CN" altLang="en-US" sz="2300" b="1" dirty="0">
                <a:solidFill>
                  <a:schemeClr val="tx1"/>
                </a:solidFill>
                <a:latin typeface="华文细黑" panose="02010600040101010101" pitchFamily="2" charset="-122"/>
                <a:ea typeface="华文细黑" panose="02010600040101010101" pitchFamily="2" charset="-122"/>
              </a:rPr>
              <a:t>=size（I</a:t>
            </a:r>
            <a:r>
              <a:rPr lang="zh-CN" altLang="en-US" sz="2300" b="1" baseline="-25000" dirty="0">
                <a:solidFill>
                  <a:schemeClr val="tx1"/>
                </a:solidFill>
                <a:latin typeface="华文细黑" panose="02010600040101010101" pitchFamily="2" charset="-122"/>
                <a:ea typeface="华文细黑" panose="02010600040101010101" pitchFamily="2" charset="-122"/>
              </a:rPr>
              <a:t>i</a:t>
            </a:r>
            <a:r>
              <a:rPr lang="zh-CN" altLang="en-US" sz="2300" b="1" dirty="0">
                <a:solidFill>
                  <a:schemeClr val="tx1"/>
                </a:solidFill>
                <a:latin typeface="华文细黑" panose="02010600040101010101" pitchFamily="2" charset="-122"/>
                <a:ea typeface="华文细黑" panose="02010600040101010101" pitchFamily="2" charset="-122"/>
              </a:rPr>
              <a:t>）。</a:t>
            </a:r>
          </a:p>
        </p:txBody>
      </p:sp>
      <p:sp>
        <p:nvSpPr>
          <p:cNvPr id="58372" name="矩形 150531"/>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3" name="矩形 15053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4" name="矩形 15053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5" name="矩形 15053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6" name="矩形 15053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7" name="矩形 15053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8" name="矩形 15053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9" name="矩形 15053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0" name="矩形 15053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1" name="矩形 15054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2" name="矩形 15054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3" name="矩形 15054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4" name="矩形 15054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5" name="矩形 150544"/>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6" name="矩形 150545"/>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7" name="矩形 150546"/>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8" name="矩形 1505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89" name="矩形 150549"/>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90" name="矩形 15055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91" name="矩形 15055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92" name="矩形 15055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93" name="矩形 15055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8394" name="对象 150557"/>
          <p:cNvGraphicFramePr/>
          <p:nvPr>
            <p:extLst>
              <p:ext uri="{D42A27DB-BD31-4B8C-83A1-F6EECF244321}">
                <p14:modId xmlns:p14="http://schemas.microsoft.com/office/powerpoint/2010/main" val="1169997518"/>
              </p:ext>
            </p:extLst>
          </p:nvPr>
        </p:nvGraphicFramePr>
        <p:xfrm>
          <a:off x="3563888" y="4547135"/>
          <a:ext cx="1403350" cy="665162"/>
        </p:xfrm>
        <a:graphic>
          <a:graphicData uri="http://schemas.openxmlformats.org/presentationml/2006/ole">
            <mc:AlternateContent xmlns:mc="http://schemas.openxmlformats.org/markup-compatibility/2006">
              <mc:Choice xmlns:v="urn:schemas-microsoft-com:vml" Requires="v">
                <p:oleObj r:id="rId2" imgW="939165" imgH="444500" progId="Equation.DSMT4">
                  <p:embed/>
                </p:oleObj>
              </mc:Choice>
              <mc:Fallback>
                <p:oleObj r:id="rId2" imgW="939165" imgH="444500" progId="Equation.DSMT4">
                  <p:embed/>
                  <p:pic>
                    <p:nvPicPr>
                      <p:cNvPr id="0" name="图片 3076"/>
                      <p:cNvPicPr/>
                      <p:nvPr/>
                    </p:nvPicPr>
                    <p:blipFill>
                      <a:blip r:embed="rId3"/>
                      <a:stretch>
                        <a:fillRect/>
                      </a:stretch>
                    </p:blipFill>
                    <p:spPr>
                      <a:xfrm>
                        <a:off x="3563888" y="4547135"/>
                        <a:ext cx="1403350" cy="665162"/>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62</a:t>
            </a:fld>
            <a:endParaRPr lang="zh-CN" altLang="en-US" sz="1400" b="0" dirty="0">
              <a:latin typeface="Times New Roman" panose="02020603050405020304" pitchFamily="18" charset="0"/>
              <a:ea typeface="宋体" panose="02010600030101010101" pitchFamily="2" charset="-122"/>
            </a:endParaRPr>
          </a:p>
        </p:txBody>
      </p:sp>
      <p:sp>
        <p:nvSpPr>
          <p:cNvPr id="151554" name="标题 15155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59395" name="文本占位符 151554"/>
          <p:cNvSpPr>
            <a:spLocks noGrp="1"/>
          </p:cNvSpPr>
          <p:nvPr>
            <p:ph type="body" sz="half" idx="4294967295"/>
          </p:nvPr>
        </p:nvSpPr>
        <p:spPr>
          <a:xfrm>
            <a:off x="513715" y="1556792"/>
            <a:ext cx="8346440" cy="4832985"/>
          </a:xfrm>
        </p:spPr>
        <p:txBody>
          <a:bodyPr anchor="t">
            <a:normAutofit lnSpcReduction="10000"/>
          </a:bodyPr>
          <a:lstStyle/>
          <a:p>
            <a:pPr marL="609600" indent="-609600">
              <a:buSzPct val="100000"/>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隐密分析方法的评价标准</a:t>
            </a:r>
            <a:endParaRPr lang="zh-CN" altLang="en-US" sz="2800" b="1" dirty="0">
              <a:ea typeface="华文细黑" panose="02010600040101010101" pitchFamily="2" charset="-122"/>
            </a:endParaRPr>
          </a:p>
          <a:p>
            <a:pPr marL="609600" indent="-609600">
              <a:buClr>
                <a:schemeClr val="accent2"/>
              </a:buClr>
              <a:buSzPct val="80000"/>
              <a:buFont typeface="Wingdings" panose="05000000000000000000" pitchFamily="2" charset="2"/>
            </a:pPr>
            <a:endParaRPr lang="zh-CN" altLang="en-US" sz="6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（3）检测容量与检测极限</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隐写算法的理论嵌入率的定义为：</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对于某一隐写算法，将隐写算法嵌入数字内容中的信息量与数字内容对该算法的嵌入容量之比称为该隐写算法的理论嵌入率。</a:t>
            </a:r>
            <a:endParaRPr lang="en-US" altLang="zh-CN" sz="20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隐写分析算法检测容量定义为：对于某一图像隐写分析算法，若检出率                        ，且                ，则 </a:t>
            </a:r>
            <a:r>
              <a:rPr lang="en-US" altLang="zh-CN" sz="2000" b="1" dirty="0">
                <a:solidFill>
                  <a:schemeClr val="tx1"/>
                </a:solidFill>
                <a:latin typeface="华文细黑" panose="02010600040101010101" pitchFamily="2" charset="-122"/>
                <a:ea typeface="华文细黑" panose="02010600040101010101" pitchFamily="2" charset="-122"/>
              </a:rPr>
              <a:t>Cd </a:t>
            </a:r>
            <a:r>
              <a:rPr lang="zh-CN" altLang="en-US" sz="2000" b="1" dirty="0">
                <a:solidFill>
                  <a:schemeClr val="tx1"/>
                </a:solidFill>
                <a:latin typeface="华文细黑" panose="02010600040101010101" pitchFamily="2" charset="-122"/>
                <a:ea typeface="华文细黑" panose="02010600040101010101" pitchFamily="2" charset="-122"/>
              </a:rPr>
              <a:t>为该图像隐写分析算法的检测容量。</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把检测容量的最低嵌入率与最高嵌入率称作隐写分析算法的检测极限，分别为检测下限 </a:t>
            </a:r>
            <a:r>
              <a:rPr lang="en-US" altLang="zh-CN" sz="2000" b="1" dirty="0">
                <a:solidFill>
                  <a:schemeClr val="tx1"/>
                </a:solidFill>
                <a:latin typeface="华文细黑" panose="02010600040101010101" pitchFamily="2" charset="-122"/>
                <a:ea typeface="华文细黑" panose="02010600040101010101" pitchFamily="2" charset="-122"/>
              </a:rPr>
              <a:t>R L</a:t>
            </a:r>
            <a:r>
              <a:rPr lang="zh-CN" altLang="en-US" sz="2000" b="1" dirty="0">
                <a:solidFill>
                  <a:schemeClr val="tx1"/>
                </a:solidFill>
                <a:latin typeface="华文细黑" panose="02010600040101010101" pitchFamily="2" charset="-122"/>
                <a:ea typeface="华文细黑" panose="02010600040101010101" pitchFamily="2" charset="-122"/>
              </a:rPr>
              <a:t>和检测上限 </a:t>
            </a:r>
            <a:r>
              <a:rPr lang="en-US" altLang="zh-CN" sz="2000" b="1" dirty="0">
                <a:solidFill>
                  <a:schemeClr val="tx1"/>
                </a:solidFill>
                <a:latin typeface="华文细黑" panose="02010600040101010101" pitchFamily="2" charset="-122"/>
                <a:ea typeface="华文细黑" panose="02010600040101010101" pitchFamily="2" charset="-122"/>
              </a:rPr>
              <a:t>RH</a:t>
            </a:r>
            <a:r>
              <a:rPr lang="zh-CN" altLang="en-US" sz="2000" b="1" dirty="0">
                <a:solidFill>
                  <a:schemeClr val="tx1"/>
                </a:solidFill>
                <a:latin typeface="华文细黑" panose="02010600040101010101" pitchFamily="2" charset="-122"/>
                <a:ea typeface="华文细黑" panose="02010600040101010101" pitchFamily="2" charset="-122"/>
              </a:rPr>
              <a:t>。</a:t>
            </a:r>
          </a:p>
        </p:txBody>
      </p:sp>
      <p:sp>
        <p:nvSpPr>
          <p:cNvPr id="59396" name="矩形 151555"/>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7" name="矩形 15155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8" name="矩形 15155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9" name="矩形 15155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0" name="矩形 151559"/>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1" name="矩形 15156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2" name="矩形 15156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3" name="矩形 15156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4" name="矩形 15156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5" name="矩形 15156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6" name="矩形 15156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7" name="矩形 15156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8" name="矩形 15156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09" name="矩形 151568"/>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0" name="矩形 151569"/>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1" name="矩形 151570"/>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2" name="矩形 15157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3" name="矩形 151572"/>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4" name="矩形 15157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5" name="矩形 15157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6" name="矩形 15157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7" name="矩形 15157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18" name="矩形 151579"/>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20" name="矩形 15158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422" name="矩形 151583"/>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30" name="对象 151578">
            <a:extLst>
              <a:ext uri="{FF2B5EF4-FFF2-40B4-BE49-F238E27FC236}">
                <a16:creationId xmlns:a16="http://schemas.microsoft.com/office/drawing/2014/main" id="{8B4D8C0C-E247-4419-A037-21B97E9C8643}"/>
              </a:ext>
            </a:extLst>
          </p:cNvPr>
          <p:cNvGraphicFramePr/>
          <p:nvPr>
            <p:extLst>
              <p:ext uri="{D42A27DB-BD31-4B8C-83A1-F6EECF244321}">
                <p14:modId xmlns:p14="http://schemas.microsoft.com/office/powerpoint/2010/main" val="2618644244"/>
              </p:ext>
            </p:extLst>
          </p:nvPr>
        </p:nvGraphicFramePr>
        <p:xfrm>
          <a:off x="1441371" y="4653136"/>
          <a:ext cx="1303337" cy="346075"/>
        </p:xfrm>
        <a:graphic>
          <a:graphicData uri="http://schemas.openxmlformats.org/presentationml/2006/ole">
            <mc:AlternateContent xmlns:mc="http://schemas.openxmlformats.org/markup-compatibility/2006">
              <mc:Choice xmlns:v="urn:schemas-microsoft-com:vml" Requires="v">
                <p:oleObj r:id="rId2" imgW="862965" imgH="228600" progId="Equation.DSMT4">
                  <p:embed/>
                </p:oleObj>
              </mc:Choice>
              <mc:Fallback>
                <p:oleObj r:id="rId2" imgW="862965" imgH="228600" progId="Equation.DSMT4">
                  <p:embed/>
                  <p:pic>
                    <p:nvPicPr>
                      <p:cNvPr id="59419" name="对象 151578"/>
                      <p:cNvPicPr/>
                      <p:nvPr/>
                    </p:nvPicPr>
                    <p:blipFill>
                      <a:blip r:embed="rId3"/>
                      <a:stretch>
                        <a:fillRect/>
                      </a:stretch>
                    </p:blipFill>
                    <p:spPr>
                      <a:xfrm>
                        <a:off x="1441371" y="4653136"/>
                        <a:ext cx="1303337" cy="346075"/>
                      </a:xfrm>
                      <a:prstGeom prst="rect">
                        <a:avLst/>
                      </a:prstGeom>
                      <a:solidFill>
                        <a:schemeClr val="bg1"/>
                      </a:solidFill>
                      <a:ln w="38100">
                        <a:noFill/>
                        <a:miter/>
                      </a:ln>
                    </p:spPr>
                  </p:pic>
                </p:oleObj>
              </mc:Fallback>
            </mc:AlternateContent>
          </a:graphicData>
        </a:graphic>
      </p:graphicFrame>
      <p:graphicFrame>
        <p:nvGraphicFramePr>
          <p:cNvPr id="31" name="对象 151580">
            <a:extLst>
              <a:ext uri="{FF2B5EF4-FFF2-40B4-BE49-F238E27FC236}">
                <a16:creationId xmlns:a16="http://schemas.microsoft.com/office/drawing/2014/main" id="{5C864843-45B0-4B09-AF66-5E05C80C00B4}"/>
              </a:ext>
            </a:extLst>
          </p:cNvPr>
          <p:cNvGraphicFramePr/>
          <p:nvPr>
            <p:extLst>
              <p:ext uri="{D42A27DB-BD31-4B8C-83A1-F6EECF244321}">
                <p14:modId xmlns:p14="http://schemas.microsoft.com/office/powerpoint/2010/main" val="3365930130"/>
              </p:ext>
            </p:extLst>
          </p:nvPr>
        </p:nvGraphicFramePr>
        <p:xfrm>
          <a:off x="3453877" y="4653136"/>
          <a:ext cx="744537" cy="341313"/>
        </p:xfrm>
        <a:graphic>
          <a:graphicData uri="http://schemas.openxmlformats.org/presentationml/2006/ole">
            <mc:AlternateContent xmlns:mc="http://schemas.openxmlformats.org/markup-compatibility/2006">
              <mc:Choice xmlns:v="urn:schemas-microsoft-com:vml" Requires="v">
                <p:oleObj r:id="rId4" imgW="495300" imgH="228600" progId="Equation.DSMT4">
                  <p:embed/>
                </p:oleObj>
              </mc:Choice>
              <mc:Fallback>
                <p:oleObj r:id="rId4" imgW="495300" imgH="228600" progId="Equation.DSMT4">
                  <p:embed/>
                  <p:pic>
                    <p:nvPicPr>
                      <p:cNvPr id="59421" name="对象 151580"/>
                      <p:cNvPicPr/>
                      <p:nvPr/>
                    </p:nvPicPr>
                    <p:blipFill>
                      <a:blip r:embed="rId5"/>
                      <a:stretch>
                        <a:fillRect/>
                      </a:stretch>
                    </p:blipFill>
                    <p:spPr>
                      <a:xfrm>
                        <a:off x="3453877" y="4653136"/>
                        <a:ext cx="744537" cy="341313"/>
                      </a:xfrm>
                      <a:prstGeom prst="rect">
                        <a:avLst/>
                      </a:prstGeom>
                      <a:solidFill>
                        <a:schemeClr val="bg1"/>
                      </a:solidFill>
                      <a:ln w="38100">
                        <a:noFill/>
                        <a:miter/>
                      </a:ln>
                    </p:spPr>
                  </p:pic>
                </p:oleObj>
              </mc:Fallback>
            </mc:AlternateContent>
          </a:graphicData>
        </a:graphic>
      </p:graphicFrame>
      <p:graphicFrame>
        <p:nvGraphicFramePr>
          <p:cNvPr id="32" name="对象 151582">
            <a:extLst>
              <a:ext uri="{FF2B5EF4-FFF2-40B4-BE49-F238E27FC236}">
                <a16:creationId xmlns:a16="http://schemas.microsoft.com/office/drawing/2014/main" id="{CC43F89F-4797-435E-9224-32F82F3A8844}"/>
              </a:ext>
            </a:extLst>
          </p:cNvPr>
          <p:cNvGraphicFramePr/>
          <p:nvPr>
            <p:extLst>
              <p:ext uri="{D42A27DB-BD31-4B8C-83A1-F6EECF244321}">
                <p14:modId xmlns:p14="http://schemas.microsoft.com/office/powerpoint/2010/main" val="376874885"/>
              </p:ext>
            </p:extLst>
          </p:nvPr>
        </p:nvGraphicFramePr>
        <p:xfrm>
          <a:off x="5868144" y="6082506"/>
          <a:ext cx="1752600" cy="457200"/>
        </p:xfrm>
        <a:graphic>
          <a:graphicData uri="http://schemas.openxmlformats.org/presentationml/2006/ole">
            <mc:AlternateContent xmlns:mc="http://schemas.openxmlformats.org/markup-compatibility/2006">
              <mc:Choice xmlns:v="urn:schemas-microsoft-com:vml" Requires="v">
                <p:oleObj r:id="rId6" imgW="876300" imgH="228600" progId="Equation.DSMT4">
                  <p:embed/>
                </p:oleObj>
              </mc:Choice>
              <mc:Fallback>
                <p:oleObj r:id="rId6" imgW="876300" imgH="228600" progId="Equation.DSMT4">
                  <p:embed/>
                  <p:pic>
                    <p:nvPicPr>
                      <p:cNvPr id="59423" name="对象 151582"/>
                      <p:cNvPicPr/>
                      <p:nvPr/>
                    </p:nvPicPr>
                    <p:blipFill>
                      <a:blip r:embed="rId7"/>
                      <a:stretch>
                        <a:fillRect/>
                      </a:stretch>
                    </p:blipFill>
                    <p:spPr>
                      <a:xfrm>
                        <a:off x="5868144" y="6082506"/>
                        <a:ext cx="1752600" cy="457200"/>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63</a:t>
            </a:fld>
            <a:endParaRPr lang="zh-CN" altLang="en-US" sz="1400" b="0" dirty="0">
              <a:latin typeface="Times New Roman" panose="02020603050405020304" pitchFamily="18" charset="0"/>
              <a:ea typeface="宋体" panose="02010600030101010101" pitchFamily="2" charset="-122"/>
            </a:endParaRPr>
          </a:p>
        </p:txBody>
      </p:sp>
      <p:sp>
        <p:nvSpPr>
          <p:cNvPr id="152578" name="标题 15257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60419" name="文本占位符 152578"/>
          <p:cNvSpPr>
            <a:spLocks noGrp="1"/>
          </p:cNvSpPr>
          <p:nvPr>
            <p:ph type="body" sz="half" idx="4294967295"/>
          </p:nvPr>
        </p:nvSpPr>
        <p:spPr>
          <a:xfrm>
            <a:off x="539553" y="1446833"/>
            <a:ext cx="8208912" cy="5222527"/>
          </a:xfrm>
        </p:spPr>
        <p:txBody>
          <a:bodyPr anchor="t">
            <a:normAutofit lnSpcReduction="10000"/>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常见隐密分析方法</a:t>
            </a:r>
          </a:p>
          <a:p>
            <a:pPr marL="609600" indent="-609600">
              <a:lnSpc>
                <a:spcPct val="80000"/>
              </a:lnSpc>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（1）一般性隐密分析方法</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一般性的分析方法主要解决的是隐密分析取证系统中的第一个问题，即在没有任何先验知识的前提下确定图像中是否隐藏有秘密信息。</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一般性的分析方法不是针对于任何一种嵌入机制，而可以看成是有关信息隐藏安全性定义的具体实践。</a:t>
            </a:r>
            <a:endParaRPr lang="en-US" altLang="zh-CN" sz="20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这种方法假设自然图像可以用一个特征集合来表示。</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通过对较大图像库中的图像计算特征得到自然图像特征向量的分布估计，并利用人工智能或模式识别的方法设计分类器，从特征空间的意义上区分原始载体图像和隐密图像。 </a:t>
            </a:r>
          </a:p>
          <a:p>
            <a:pPr marL="0" indent="612000" algn="l">
              <a:lnSpc>
                <a:spcPct val="150000"/>
              </a:lnSpc>
              <a:spcBef>
                <a:spcPts val="600"/>
              </a:spcBef>
              <a:buSzTx/>
              <a:buFont typeface="Wingdings" panose="05000000000000000000" pitchFamily="2" charset="2"/>
              <a:buNone/>
            </a:pPr>
            <a:endParaRPr lang="zh-CN" altLang="en-US" sz="800" b="1" dirty="0">
              <a:latin typeface="华文细黑" panose="02010600040101010101" pitchFamily="2" charset="-122"/>
              <a:ea typeface="华文细黑" panose="02010600040101010101" pitchFamily="2" charset="-122"/>
            </a:endParaRPr>
          </a:p>
        </p:txBody>
      </p:sp>
      <p:sp>
        <p:nvSpPr>
          <p:cNvPr id="60420" name="矩形 152579"/>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1" name="矩形 15258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2" name="矩形 15258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3" name="矩形 15258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4" name="矩形 152583"/>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5" name="矩形 15258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6" name="矩形 15258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7" name="矩形 15258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8" name="矩形 15258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9" name="矩形 15258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0" name="矩形 15258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1" name="矩形 15259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2" name="矩形 15259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3" name="矩形 152592"/>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4" name="矩形 152593"/>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5" name="矩形 152594"/>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6" name="矩形 15259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7" name="矩形 152596"/>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8" name="矩形 15259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39" name="矩形 15259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40" name="矩形 15259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41" name="矩形 15260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64</a:t>
            </a:fld>
            <a:endParaRPr lang="zh-CN" altLang="en-US" sz="1400" b="0" dirty="0">
              <a:latin typeface="Times New Roman" panose="02020603050405020304" pitchFamily="18" charset="0"/>
              <a:ea typeface="宋体" panose="02010600030101010101" pitchFamily="2" charset="-122"/>
            </a:endParaRPr>
          </a:p>
        </p:txBody>
      </p:sp>
      <p:sp>
        <p:nvSpPr>
          <p:cNvPr id="153602" name="标题 15360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61443" name="文本占位符 153602"/>
          <p:cNvSpPr>
            <a:spLocks noGrp="1"/>
          </p:cNvSpPr>
          <p:nvPr>
            <p:ph type="body" sz="half" idx="4294967295"/>
          </p:nvPr>
        </p:nvSpPr>
        <p:spPr>
          <a:xfrm>
            <a:off x="539552" y="1406003"/>
            <a:ext cx="8018780" cy="5147945"/>
          </a:xfrm>
        </p:spPr>
        <p:txBody>
          <a:bodyPr anchor="t">
            <a:normAutofit fontScale="92500"/>
          </a:bodyPr>
          <a:lstStyle/>
          <a:p>
            <a:pPr marL="609600" indent="-609600" algn="l" fontAlgn="base">
              <a:lnSpc>
                <a:spcPct val="100000"/>
              </a:lnSpc>
              <a:buSzTx/>
              <a:buFont typeface="Wingdings" panose="05000000000000000000" pitchFamily="2" charset="2"/>
            </a:pPr>
            <a:r>
              <a:rPr lang="en-US" altLang="en-US" sz="3000" b="1" dirty="0">
                <a:latin typeface="华文细黑" panose="02010600040101010101" pitchFamily="2" charset="-122"/>
                <a:ea typeface="华文细黑" panose="02010600040101010101" pitchFamily="2" charset="-122"/>
              </a:rPr>
              <a:t>常见隐密分析方法</a:t>
            </a:r>
          </a:p>
          <a:p>
            <a:pPr marL="609600" indent="-609600">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457200" algn="l">
              <a:lnSpc>
                <a:spcPct val="150000"/>
              </a:lnSpc>
              <a:spcBef>
                <a:spcPts val="600"/>
              </a:spcBef>
              <a:buSzTx/>
              <a:buFont typeface="Wingdings" panose="05000000000000000000" pitchFamily="2" charset="2"/>
              <a:buNone/>
            </a:pPr>
            <a:r>
              <a:rPr lang="zh-CN" altLang="en-US" sz="2400" b="1" dirty="0">
                <a:solidFill>
                  <a:schemeClr val="tx1"/>
                </a:solidFill>
                <a:ea typeface="华文细黑" panose="02010600040101010101" pitchFamily="2" charset="-122"/>
              </a:rPr>
              <a:t>（</a:t>
            </a:r>
            <a:r>
              <a:rPr lang="zh-CN" altLang="en-US" sz="2400" b="1" dirty="0">
                <a:solidFill>
                  <a:schemeClr val="tx1"/>
                </a:solidFill>
                <a:latin typeface="华文细黑" panose="02010600040101010101" pitchFamily="2" charset="-122"/>
                <a:ea typeface="华文细黑" panose="02010600040101010101" pitchFamily="2" charset="-122"/>
              </a:rPr>
              <a:t>2）针对性隐密分析方法</a:t>
            </a:r>
          </a:p>
          <a:p>
            <a:pPr marL="180000" indent="504000">
              <a:lnSpc>
                <a:spcPct val="150000"/>
              </a:lnSpc>
              <a:spcBef>
                <a:spcPts val="600"/>
              </a:spcBef>
              <a:buNone/>
            </a:pPr>
            <a:r>
              <a:rPr lang="zh-CN" altLang="en-US" sz="2200" b="1" dirty="0">
                <a:solidFill>
                  <a:schemeClr val="tx1"/>
                </a:solidFill>
                <a:latin typeface="华文细黑" panose="02010600040101010101" pitchFamily="2" charset="-122"/>
                <a:ea typeface="华文细黑" panose="02010600040101010101" pitchFamily="2" charset="-122"/>
              </a:rPr>
              <a:t>针对性分析方法是针对不同隐密方法的嵌入机制所设计的分析方法，主要解决的问题是在已知嵌入方法的前提下，确定图像中所隐藏的秘密信息的长度（即嵌入容量）。</a:t>
            </a:r>
            <a:endParaRPr lang="en-US" altLang="zh-CN" sz="22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Fridrich 给出了用于针对性分析隐密方法的通用方法论。</a:t>
            </a:r>
          </a:p>
          <a:p>
            <a:pPr marL="180000" indent="504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一般说来要找到一个宏观统计量 S，该统计量与嵌入信息的长度之间有一种可预测的关系。这个统计量 S 可能依赖于几个未确定的参数，可以通过一些极值来估计这些参数，从而算出嵌入信息的长度 q。</a:t>
            </a:r>
          </a:p>
          <a:p>
            <a:pPr marL="0" indent="457200" algn="l">
              <a:lnSpc>
                <a:spcPct val="150000"/>
              </a:lnSpc>
              <a:spcBef>
                <a:spcPts val="600"/>
              </a:spcBef>
              <a:buSzTx/>
              <a:buFont typeface="Wingdings" panose="05000000000000000000" pitchFamily="2" charset="2"/>
              <a:buNone/>
            </a:pPr>
            <a:endParaRPr lang="zh-CN" altLang="en-US" sz="2400" b="1" dirty="0">
              <a:solidFill>
                <a:schemeClr val="tx1"/>
              </a:solidFill>
              <a:latin typeface="华文细黑" panose="02010600040101010101" pitchFamily="2" charset="-122"/>
              <a:ea typeface="华文细黑" panose="02010600040101010101" pitchFamily="2" charset="-122"/>
            </a:endParaRPr>
          </a:p>
        </p:txBody>
      </p:sp>
      <p:sp>
        <p:nvSpPr>
          <p:cNvPr id="61444" name="矩形 153603"/>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5" name="矩形 15360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6" name="矩形 15360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7" name="矩形 15360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8" name="矩形 153607"/>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9" name="矩形 15360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0" name="矩形 15360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1" name="矩形 153610"/>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2" name="矩形 15361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3" name="矩形 15361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4" name="矩形 1536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5" name="矩形 15361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6" name="矩形 15361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7" name="矩形 153616"/>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8" name="矩形 153617"/>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59" name="矩形 153618"/>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60" name="矩形 15361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61" name="矩形 153620"/>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62" name="矩形 15362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63" name="矩形 15362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64" name="矩形 1536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65" name="矩形 1536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65</a:t>
            </a:fld>
            <a:endParaRPr lang="zh-CN" altLang="en-US" sz="1400" b="0" dirty="0">
              <a:latin typeface="Times New Roman" panose="02020603050405020304" pitchFamily="18" charset="0"/>
              <a:ea typeface="宋体" panose="02010600030101010101" pitchFamily="2" charset="-122"/>
            </a:endParaRPr>
          </a:p>
        </p:txBody>
      </p:sp>
      <p:sp>
        <p:nvSpPr>
          <p:cNvPr id="154626" name="标题 15462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7.5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mj-lt"/>
                <a:ea typeface="华文细黑" panose="02010600040101010101" pitchFamily="2" charset="-122"/>
                <a:cs typeface="+mj-cs"/>
              </a:rPr>
              <a:t>数字内容隐秘分析取证</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62467" name="文本占位符 154626"/>
          <p:cNvSpPr>
            <a:spLocks noGrp="1"/>
          </p:cNvSpPr>
          <p:nvPr>
            <p:ph type="body" sz="half" idx="4294967295"/>
          </p:nvPr>
        </p:nvSpPr>
        <p:spPr>
          <a:xfrm>
            <a:off x="567694" y="1412776"/>
            <a:ext cx="8047806" cy="4464050"/>
          </a:xfrm>
        </p:spPr>
        <p:txBody>
          <a:bodyPr anchor="t">
            <a:normAutofit/>
          </a:bodyPr>
          <a:lstStyle/>
          <a:p>
            <a:pPr marL="609600" indent="-609600" algn="l" fontAlgn="base">
              <a:lnSpc>
                <a:spcPct val="100000"/>
              </a:lnSpc>
              <a:buSzTx/>
              <a:buFont typeface="Wingdings" panose="05000000000000000000" pitchFamily="2" charset="2"/>
            </a:pPr>
            <a:r>
              <a:rPr lang="en-US" altLang="en-US" sz="2800" b="1" dirty="0">
                <a:latin typeface="华文细黑" panose="02010600040101010101" pitchFamily="2" charset="-122"/>
                <a:ea typeface="华文细黑" panose="02010600040101010101" pitchFamily="2" charset="-122"/>
              </a:rPr>
              <a:t>常见隐密分析方法</a:t>
            </a:r>
          </a:p>
          <a:p>
            <a:pPr marL="609600" indent="-609600">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558000" algn="l">
              <a:lnSpc>
                <a:spcPct val="150000"/>
              </a:lnSpc>
              <a:spcBef>
                <a:spcPts val="600"/>
              </a:spcBef>
              <a:buSzTx/>
              <a:buFont typeface="Wingdings" panose="05000000000000000000" pitchFamily="2" charset="2"/>
              <a:buNone/>
            </a:pPr>
            <a:r>
              <a:rPr lang="zh-CN" altLang="en-US" sz="2200" b="1" dirty="0">
                <a:solidFill>
                  <a:schemeClr val="tx1"/>
                </a:solidFill>
                <a:latin typeface="华文细黑" panose="02010600040101010101" pitchFamily="2" charset="-122"/>
                <a:ea typeface="华文细黑" panose="02010600040101010101" pitchFamily="2" charset="-122"/>
              </a:rPr>
              <a:t>（3）解决其它问题的隐密分析取证方法</a:t>
            </a: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一般性和针对性的隐密分析方法只解决了隐密分析取证系统中的两个问题，即图像中是否隐藏有秘密信息以及如何确定隐藏秘密信息的容量。要达到隐密分析取证的最终目的还必须解决其它的问题:</a:t>
            </a:r>
            <a:endParaRPr lang="en-US" altLang="zh-CN" sz="2000" b="1" dirty="0">
              <a:solidFill>
                <a:schemeClr val="tx1"/>
              </a:solidFill>
              <a:latin typeface="华文细黑" panose="02010600040101010101" pitchFamily="2" charset="-122"/>
              <a:ea typeface="华文细黑" panose="02010600040101010101" pitchFamily="2" charset="-122"/>
            </a:endParaRPr>
          </a:p>
          <a:p>
            <a:pPr marL="180000" indent="504000" algn="l">
              <a:lnSpc>
                <a:spcPct val="150000"/>
              </a:lnSpc>
              <a:spcBef>
                <a:spcPts val="600"/>
              </a:spcBef>
              <a:buSzTx/>
              <a:buFont typeface="Wingdings" panose="05000000000000000000" pitchFamily="2" charset="2"/>
              <a:buNone/>
            </a:pPr>
            <a:r>
              <a:rPr lang="zh-CN" altLang="en-US" sz="2000" b="1" dirty="0">
                <a:solidFill>
                  <a:schemeClr val="tx1"/>
                </a:solidFill>
                <a:latin typeface="华文细黑" panose="02010600040101010101" pitchFamily="2" charset="-122"/>
                <a:ea typeface="华文细黑" panose="02010600040101010101" pitchFamily="2" charset="-122"/>
              </a:rPr>
              <a:t>确定隐藏方法或软件，寻找嵌入密钥，提取秘密信息。</a:t>
            </a:r>
            <a:endParaRPr lang="zh-CN" altLang="en-US" sz="2000" b="1" dirty="0">
              <a:latin typeface="华文细黑" panose="02010600040101010101" pitchFamily="2" charset="-122"/>
              <a:ea typeface="华文细黑" panose="02010600040101010101" pitchFamily="2" charset="-122"/>
            </a:endParaRPr>
          </a:p>
        </p:txBody>
      </p:sp>
      <p:sp>
        <p:nvSpPr>
          <p:cNvPr id="62468" name="矩形 154627"/>
          <p:cNvSpPr/>
          <p:nvPr/>
        </p:nvSpPr>
        <p:spPr>
          <a:xfrm>
            <a:off x="0" y="31051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69" name="矩形 15462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0" name="矩形 1546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1" name="矩形 15463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2" name="矩形 15463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3" name="矩形 15463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4" name="矩形 15463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5" name="矩形 15463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6" name="矩形 15463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7" name="矩形 15463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8" name="矩形 15463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9" name="矩形 15463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0" name="矩形 15463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1" name="矩形 154640"/>
          <p:cNvSpPr/>
          <p:nvPr/>
        </p:nvSpPr>
        <p:spPr>
          <a:xfrm>
            <a:off x="0" y="32242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2" name="矩形 154641"/>
          <p:cNvSpPr/>
          <p:nvPr/>
        </p:nvSpPr>
        <p:spPr>
          <a:xfrm>
            <a:off x="0" y="321945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3" name="矩形 154642"/>
          <p:cNvSpPr/>
          <p:nvPr/>
        </p:nvSpPr>
        <p:spPr>
          <a:xfrm>
            <a:off x="0" y="313848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4" name="矩形 1546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5" name="矩形 154644"/>
          <p:cNvSpPr/>
          <p:nvPr/>
        </p:nvSpPr>
        <p:spPr>
          <a:xfrm>
            <a:off x="0" y="331470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6" name="矩形 15464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7" name="矩形 15464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8" name="矩形 1546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89" name="矩形 15464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C778964-E64A-4BF0-BB7F-AAF5BCEB60FD}" type="slidenum">
              <a:rPr lang="en-US" altLang="zh-CN"/>
              <a:t>66</a:t>
            </a:fld>
            <a:endParaRPr lang="en-US" altLang="zh-CN"/>
          </a:p>
        </p:txBody>
      </p:sp>
      <p:sp>
        <p:nvSpPr>
          <p:cNvPr id="72706" name="Rectangle 2"/>
          <p:cNvSpPr>
            <a:spLocks noGrp="1" noChangeArrowheads="1"/>
          </p:cNvSpPr>
          <p:nvPr>
            <p:ph type="title"/>
          </p:nvPr>
        </p:nvSpPr>
        <p:spPr/>
        <p:txBody>
          <a:bodyPr/>
          <a:lstStyle/>
          <a:p>
            <a:r>
              <a:rPr lang="zh-CN" altLang="en-US" sz="3200" b="1" dirty="0">
                <a:sym typeface="+mn-ea"/>
              </a:rPr>
              <a:t>重点：图像取证</a:t>
            </a:r>
            <a:endParaRPr lang="zh-CN" altLang="en-US" sz="3200" b="1" dirty="0"/>
          </a:p>
        </p:txBody>
      </p:sp>
      <p:sp>
        <p:nvSpPr>
          <p:cNvPr id="72707" name="Rectangle 3"/>
          <p:cNvSpPr>
            <a:spLocks noGrp="1" noChangeArrowheads="1"/>
          </p:cNvSpPr>
          <p:nvPr>
            <p:ph type="body" idx="1"/>
          </p:nvPr>
        </p:nvSpPr>
        <p:spPr>
          <a:xfrm>
            <a:off x="1115616" y="1462088"/>
            <a:ext cx="7400762" cy="4714875"/>
          </a:xfrm>
        </p:spPr>
        <p:txBody>
          <a:bodyPr>
            <a:normAutofit fontScale="92500" lnSpcReduction="10000"/>
          </a:bodyPr>
          <a:lstStyle/>
          <a:p>
            <a:pPr marL="360000" indent="-324000">
              <a:lnSpc>
                <a:spcPct val="150000"/>
              </a:lnSpc>
            </a:pPr>
            <a:r>
              <a:rPr lang="zh-CN" altLang="en-US" sz="2400" dirty="0"/>
              <a:t>概论</a:t>
            </a:r>
          </a:p>
          <a:p>
            <a:pPr marL="360000" indent="-324000">
              <a:lnSpc>
                <a:spcPct val="150000"/>
              </a:lnSpc>
            </a:pPr>
            <a:r>
              <a:rPr lang="zh-CN" altLang="en-US" sz="2400" dirty="0"/>
              <a:t>数字图像篡改</a:t>
            </a:r>
          </a:p>
          <a:p>
            <a:pPr marL="360000" indent="-324000">
              <a:lnSpc>
                <a:spcPct val="150000"/>
              </a:lnSpc>
            </a:pPr>
            <a:r>
              <a:rPr lang="zh-CN" altLang="en-US" sz="2400" dirty="0"/>
              <a:t>数字图像盲取证</a:t>
            </a:r>
          </a:p>
          <a:p>
            <a:pPr marL="360000" indent="-324000">
              <a:lnSpc>
                <a:spcPct val="150000"/>
              </a:lnSpc>
            </a:pPr>
            <a:r>
              <a:rPr lang="zh-CN" altLang="en-US" sz="2400" dirty="0"/>
              <a:t>复制粘贴篡改操作取证</a:t>
            </a:r>
          </a:p>
          <a:p>
            <a:pPr marL="360000" indent="-324000">
              <a:lnSpc>
                <a:spcPct val="150000"/>
              </a:lnSpc>
            </a:pPr>
            <a:r>
              <a:rPr lang="zh-CN" altLang="en-US" sz="2400" dirty="0"/>
              <a:t>重压缩重采样取证</a:t>
            </a:r>
          </a:p>
          <a:p>
            <a:pPr marL="360000" indent="-324000">
              <a:lnSpc>
                <a:spcPct val="150000"/>
              </a:lnSpc>
            </a:pPr>
            <a:r>
              <a:rPr lang="zh-CN" altLang="en-US" sz="2400" dirty="0"/>
              <a:t>模糊润饰取证</a:t>
            </a:r>
          </a:p>
          <a:p>
            <a:pPr marL="360000" indent="-324000">
              <a:lnSpc>
                <a:spcPct val="150000"/>
              </a:lnSpc>
            </a:pPr>
            <a:r>
              <a:rPr lang="zh-CN" altLang="en-US" sz="2400" dirty="0"/>
              <a:t>图像获取设备取证</a:t>
            </a:r>
          </a:p>
          <a:p>
            <a:pPr marL="360000" indent="-324000">
              <a:lnSpc>
                <a:spcPct val="150000"/>
              </a:lnSpc>
            </a:pPr>
            <a:r>
              <a:rPr lang="zh-CN" altLang="en-US" sz="2400" dirty="0"/>
              <a:t>案例</a:t>
            </a:r>
            <a:r>
              <a:rPr lang="en-US" altLang="zh-CN" sz="2400" dirty="0">
                <a:latin typeface="Arial" panose="020B0604020202020204"/>
              </a:rPr>
              <a:t>——</a:t>
            </a:r>
            <a:r>
              <a:rPr lang="zh-CN" altLang="en-US" sz="2400" dirty="0"/>
              <a:t>广场鸽</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922E822-4B88-4601-9A6E-8D5DAEE3C967}" type="slidenum">
              <a:rPr lang="en-US" altLang="zh-CN"/>
              <a:t>67</a:t>
            </a:fld>
            <a:endParaRPr lang="en-US" altLang="zh-CN"/>
          </a:p>
        </p:txBody>
      </p:sp>
      <p:sp>
        <p:nvSpPr>
          <p:cNvPr id="6146" name="Rectangle 2"/>
          <p:cNvSpPr>
            <a:spLocks noGrp="1" noChangeArrowheads="1"/>
          </p:cNvSpPr>
          <p:nvPr>
            <p:ph type="title"/>
          </p:nvPr>
        </p:nvSpPr>
        <p:spPr/>
        <p:txBody>
          <a:bodyPr/>
          <a:lstStyle/>
          <a:p>
            <a:r>
              <a:rPr lang="zh-CN" altLang="en-US" sz="3200" b="1" dirty="0"/>
              <a:t>一、概论</a:t>
            </a:r>
          </a:p>
        </p:txBody>
      </p:sp>
      <p:sp>
        <p:nvSpPr>
          <p:cNvPr id="6147" name="Rectangle 3"/>
          <p:cNvSpPr>
            <a:spLocks noGrp="1" noChangeArrowheads="1"/>
          </p:cNvSpPr>
          <p:nvPr>
            <p:ph type="body" idx="1"/>
          </p:nvPr>
        </p:nvSpPr>
        <p:spPr/>
        <p:txBody>
          <a:bodyPr>
            <a:normAutofit/>
          </a:bodyPr>
          <a:lstStyle/>
          <a:p>
            <a:pPr marL="576000" indent="-558000" algn="l">
              <a:lnSpc>
                <a:spcPct val="150000"/>
              </a:lnSpc>
              <a:spcBef>
                <a:spcPts val="600"/>
              </a:spcBef>
              <a:buSzTx/>
            </a:pPr>
            <a:r>
              <a:rPr lang="zh-CN" altLang="en-US" sz="2200" b="1" dirty="0">
                <a:latin typeface="华文细黑" panose="02010600040101010101" pitchFamily="2" charset="-122"/>
                <a:ea typeface="华文细黑" panose="02010600040101010101" pitchFamily="2" charset="-122"/>
              </a:rPr>
              <a:t>数码相机和数字打印扫描设备的急剧增长和快速普及，使人们比以往任何时候更能接触到大量照片、图片——“读图时代”</a:t>
            </a:r>
          </a:p>
          <a:p>
            <a:pPr marL="576000" indent="-558000" algn="l">
              <a:lnSpc>
                <a:spcPct val="150000"/>
              </a:lnSpc>
              <a:spcBef>
                <a:spcPts val="600"/>
              </a:spcBef>
              <a:buSzTx/>
            </a:pPr>
            <a:r>
              <a:rPr lang="zh-CN" altLang="en-US" sz="2200" b="1" dirty="0">
                <a:latin typeface="华文细黑" panose="02010600040101010101" pitchFamily="2" charset="-122"/>
                <a:ea typeface="华文细黑" panose="02010600040101010101" pitchFamily="2" charset="-122"/>
              </a:rPr>
              <a:t>越来越多的图像处理和编辑软件如 Photoshop、ACDSee、iPhoto、美图秀秀、</a:t>
            </a:r>
            <a:r>
              <a:rPr lang="en-US" altLang="zh-CN" sz="2200" b="1" dirty="0" err="1">
                <a:latin typeface="华文细黑" panose="02010600040101010101" pitchFamily="2" charset="-122"/>
                <a:ea typeface="华文细黑" panose="02010600040101010101" pitchFamily="2" charset="-122"/>
              </a:rPr>
              <a:t>Picsew</a:t>
            </a:r>
            <a:r>
              <a:rPr lang="zh-CN" altLang="en-US" sz="2200" b="1" dirty="0">
                <a:latin typeface="华文细黑" panose="02010600040101010101" pitchFamily="2" charset="-122"/>
                <a:ea typeface="华文细黑" panose="02010600040101010101" pitchFamily="2" charset="-122"/>
              </a:rPr>
              <a:t> 等的广泛使用，使得修改、编辑以及存储数码照片变得越来越简单和有趣 </a:t>
            </a:r>
          </a:p>
          <a:p>
            <a:pPr marL="576000" indent="-558000" algn="l">
              <a:lnSpc>
                <a:spcPct val="150000"/>
              </a:lnSpc>
              <a:spcBef>
                <a:spcPts val="600"/>
              </a:spcBef>
              <a:buSzTx/>
            </a:pPr>
            <a:r>
              <a:rPr lang="zh-CN" altLang="en-US" sz="2200" b="1" dirty="0">
                <a:latin typeface="华文细黑" panose="02010600040101010101" pitchFamily="2" charset="-122"/>
                <a:ea typeface="华文细黑" panose="02010600040101010101" pitchFamily="2" charset="-122"/>
              </a:rPr>
              <a:t>图像处理编辑软件可以让任何一个普通的电脑使用者成为数码恶作剧者，或潜在的造假者</a:t>
            </a:r>
            <a:r>
              <a:rPr lang="zh-CN" altLang="en-US" sz="22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166E9E0-C155-4084-8A69-416762D9ABCD}" type="slidenum">
              <a:rPr lang="en-US" altLang="zh-CN"/>
              <a:t>68</a:t>
            </a:fld>
            <a:endParaRPr lang="en-US" altLang="zh-CN"/>
          </a:p>
        </p:txBody>
      </p:sp>
      <p:sp>
        <p:nvSpPr>
          <p:cNvPr id="7170" name="Rectangle 2"/>
          <p:cNvSpPr>
            <a:spLocks noGrp="1" noChangeArrowheads="1"/>
          </p:cNvSpPr>
          <p:nvPr>
            <p:ph type="title"/>
          </p:nvPr>
        </p:nvSpPr>
        <p:spPr/>
        <p:txBody>
          <a:bodyPr/>
          <a:lstStyle/>
          <a:p>
            <a:r>
              <a:rPr lang="en-US" altLang="zh-CN" sz="3200" b="1" dirty="0"/>
              <a:t>1</a:t>
            </a:r>
            <a:r>
              <a:rPr lang="zh-CN" altLang="en-US" sz="3200" b="1" dirty="0"/>
              <a:t>、数字图像篡改事件</a:t>
            </a:r>
          </a:p>
        </p:txBody>
      </p:sp>
      <p:sp>
        <p:nvSpPr>
          <p:cNvPr id="7171" name="Rectangle 3"/>
          <p:cNvSpPr>
            <a:spLocks noGrp="1" noChangeArrowheads="1"/>
          </p:cNvSpPr>
          <p:nvPr>
            <p:ph type="body" idx="1"/>
          </p:nvPr>
        </p:nvSpPr>
        <p:spPr>
          <a:xfrm>
            <a:off x="1043608" y="1462088"/>
            <a:ext cx="7472770" cy="4714875"/>
          </a:xfrm>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政治风波</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新闻失实</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恐怖活动秘密通信</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金融诈骗</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科学欺骗</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个人名誉损失</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36FA1E0F-0C45-4FD3-8B8C-DF7C95A46513}" type="slidenum">
              <a:rPr lang="en-US" altLang="zh-CN"/>
              <a:t>69</a:t>
            </a:fld>
            <a:endParaRPr lang="en-US" altLang="zh-CN"/>
          </a:p>
        </p:txBody>
      </p:sp>
      <p:pic>
        <p:nvPicPr>
          <p:cNvPr id="4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8" y="2928938"/>
            <a:ext cx="88995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ectangle 7"/>
          <p:cNvSpPr>
            <a:spLocks noChangeArrowheads="1"/>
          </p:cNvSpPr>
          <p:nvPr/>
        </p:nvSpPr>
        <p:spPr bwMode="auto">
          <a:xfrm>
            <a:off x="1163320" y="5643880"/>
            <a:ext cx="6574790" cy="1133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indent="457200" algn="l" defTabSz="685800" fontAlgn="auto">
              <a:lnSpc>
                <a:spcPct val="150000"/>
              </a:lnSpc>
              <a:spcBef>
                <a:spcPts val="600"/>
              </a:spcBef>
              <a:buClr>
                <a:schemeClr val="accent1"/>
              </a:buClr>
              <a:buSzTx/>
              <a:buNone/>
            </a:pPr>
            <a:r>
              <a:rPr lang="zh-CN" altLang="en-US" sz="2400" b="1" dirty="0"/>
              <a:t>2004 年美国总统大选期间合成照片政治风波 </a:t>
            </a:r>
          </a:p>
        </p:txBody>
      </p:sp>
      <p:sp>
        <p:nvSpPr>
          <p:cNvPr id="8198" name="Text Box 6"/>
          <p:cNvSpPr txBox="1">
            <a:spLocks noChangeArrowheads="1"/>
          </p:cNvSpPr>
          <p:nvPr/>
        </p:nvSpPr>
        <p:spPr bwMode="auto">
          <a:xfrm>
            <a:off x="382263" y="620688"/>
            <a:ext cx="8136904"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gn="l" defTabSz="685800" fontAlgn="auto">
              <a:lnSpc>
                <a:spcPct val="150000"/>
              </a:lnSpc>
              <a:spcBef>
                <a:spcPts val="600"/>
              </a:spcBef>
              <a:buClr>
                <a:schemeClr val="accent1"/>
              </a:buClr>
              <a:buSzTx/>
              <a:buNone/>
            </a:pPr>
            <a:r>
              <a:rPr lang="zh-CN" altLang="en-US" sz="2400" dirty="0"/>
              <a:t>2004年美国总统大选期间网络上广为流传着约翰·特里年轻时与反越战明星简·方达同台演出的照片，其引发的政治联想不言而喻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BED4C30-C2D9-46ED-BADE-8A95A9871517}" type="slidenum">
              <a:rPr lang="en-US" altLang="zh-CN"/>
              <a:t>70</a:t>
            </a:fld>
            <a:endParaRPr lang="en-US" altLang="zh-CN"/>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4800"/>
            <a:ext cx="6248400"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6"/>
          <p:cNvSpPr>
            <a:spLocks noChangeArrowheads="1"/>
          </p:cNvSpPr>
          <p:nvPr/>
        </p:nvSpPr>
        <p:spPr bwMode="auto">
          <a:xfrm>
            <a:off x="2286000" y="5317302"/>
            <a:ext cx="4014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dirty="0">
                <a:latin typeface="Arial" panose="020B0604020202020204" pitchFamily="34" charset="0"/>
              </a:rPr>
              <a:t>Internet</a:t>
            </a:r>
            <a:r>
              <a:rPr lang="zh-CN" altLang="en-US" dirty="0">
                <a:latin typeface="Arial" panose="020B0604020202020204" pitchFamily="34" charset="0"/>
              </a:rPr>
              <a:t>上的合成篡改图像</a:t>
            </a:r>
          </a:p>
        </p:txBody>
      </p:sp>
      <p:sp>
        <p:nvSpPr>
          <p:cNvPr id="9223" name="Rectangle 7"/>
          <p:cNvSpPr>
            <a:spLocks noChangeArrowheads="1"/>
          </p:cNvSpPr>
          <p:nvPr/>
        </p:nvSpPr>
        <p:spPr bwMode="auto">
          <a:xfrm>
            <a:off x="251520" y="5843269"/>
            <a:ext cx="8568952" cy="538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457200" algn="l" defTabSz="685800" fontAlgn="auto">
              <a:lnSpc>
                <a:spcPct val="150000"/>
              </a:lnSpc>
              <a:spcBef>
                <a:spcPts val="600"/>
              </a:spcBef>
              <a:buClr>
                <a:schemeClr val="accent1"/>
              </a:buClr>
              <a:buSzTx/>
              <a:buNone/>
            </a:pPr>
            <a:r>
              <a:rPr lang="zh-CN" altLang="en-US" sz="2200" dirty="0"/>
              <a:t>Internet 网上有人将克林顿和萨达姆的照片合成在白宫前握手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7CC47ADF-F578-4534-BB85-95946BBA9F4C}" type="slidenum">
              <a:rPr lang="en-US" altLang="zh-CN"/>
              <a:t>71</a:t>
            </a:fld>
            <a:endParaRPr lang="en-US" altLang="zh-CN"/>
          </a:p>
        </p:txBody>
      </p:sp>
      <p:pic>
        <p:nvPicPr>
          <p:cNvPr id="92164" name="Picture 4" descr="luosh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6019800"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Rectangle 5"/>
          <p:cNvSpPr>
            <a:spLocks noChangeArrowheads="1"/>
          </p:cNvSpPr>
          <p:nvPr/>
        </p:nvSpPr>
        <p:spPr bwMode="auto">
          <a:xfrm>
            <a:off x="1676400" y="5867400"/>
            <a:ext cx="338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t>洛杉矶时报伊拉克战场新闻失实</a:t>
            </a:r>
          </a:p>
        </p:txBody>
      </p:sp>
      <p:sp>
        <p:nvSpPr>
          <p:cNvPr id="92166" name="Rectangle 6"/>
          <p:cNvSpPr>
            <a:spLocks noChangeArrowheads="1"/>
          </p:cNvSpPr>
          <p:nvPr/>
        </p:nvSpPr>
        <p:spPr bwMode="auto">
          <a:xfrm>
            <a:off x="6477000" y="562610"/>
            <a:ext cx="2438400" cy="563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457200" algn="l" defTabSz="685800" fontAlgn="auto">
              <a:lnSpc>
                <a:spcPct val="150000"/>
              </a:lnSpc>
              <a:spcBef>
                <a:spcPts val="600"/>
              </a:spcBef>
              <a:buClr>
                <a:schemeClr val="accent1"/>
              </a:buClr>
              <a:buSzTx/>
              <a:buNone/>
            </a:pPr>
            <a:r>
              <a:rPr lang="zh-CN" altLang="en-US" dirty="0"/>
              <a:t>2003 年洛杉矶时报刊登了一组该报记者从伊拉克战场上发回的构图严谨的现场照片，被普遍认为具有角逐普利奖的实力，却被人指出这是一幅合成照片，时报立即调查更正并开除了这位有着 25 年从业经历的摄影记者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984A38D0-41EA-4D89-ACBF-760EE1BEECDD}" type="slidenum">
              <a:rPr lang="en-US" altLang="zh-CN"/>
              <a:t>72</a:t>
            </a:fld>
            <a:endParaRPr lang="en-US" altLang="zh-CN"/>
          </a:p>
        </p:txBody>
      </p:sp>
      <p:grpSp>
        <p:nvGrpSpPr>
          <p:cNvPr id="10244" name="Group 4"/>
          <p:cNvGrpSpPr/>
          <p:nvPr/>
        </p:nvGrpSpPr>
        <p:grpSpPr bwMode="auto">
          <a:xfrm>
            <a:off x="609600" y="2286000"/>
            <a:ext cx="7696200" cy="3352800"/>
            <a:chOff x="1980" y="6037"/>
            <a:chExt cx="8295" cy="3345"/>
          </a:xfrm>
        </p:grpSpPr>
        <p:pic>
          <p:nvPicPr>
            <p:cNvPr id="10245" name="Picture 5" descr="yinzhib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 y="6037"/>
              <a:ext cx="8295" cy="3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WordArt 6"/>
            <p:cNvSpPr>
              <a:spLocks noChangeArrowheads="1" noChangeShapeType="1" noTextEdit="1"/>
            </p:cNvSpPr>
            <p:nvPr/>
          </p:nvSpPr>
          <p:spPr bwMode="auto">
            <a:xfrm rot="5400000">
              <a:off x="8370" y="8261"/>
              <a:ext cx="570" cy="750"/>
            </a:xfrm>
            <a:prstGeom prst="rect">
              <a:avLst/>
            </a:prstGeom>
            <a:extLst>
              <a:ext uri="{91240B29-F687-4F45-9708-019B960494DF}">
                <a14:hiddenLine xmlns:a14="http://schemas.microsoft.com/office/drawing/2010/main" w="9525">
                  <a:solidFill>
                    <a:srgbClr val="000000"/>
                  </a:solidFill>
                  <a:round/>
                </a14:hiddenLine>
              </a:ext>
            </a:extLst>
          </p:spPr>
          <p:txBody>
            <a:bodyPr vert="eaVert" wrap="none" fromWordArt="1">
              <a:prstTxWarp prst="textCanUp">
                <a:avLst>
                  <a:gd name="adj" fmla="val 85713"/>
                </a:avLst>
              </a:prstTxWarp>
            </a:bodyPr>
            <a:lstStyle/>
            <a:p>
              <a:pPr algn="ctr" fontAlgn="auto"/>
              <a:r>
                <a:rPr lang="zh-CN" altLang="en-US" sz="2800" b="1" kern="10">
                  <a:solidFill>
                    <a:srgbClr val="FF0000"/>
                  </a:solidFill>
                  <a:effectLst>
                    <a:outerShdw dist="99190" dir="7788334" algn="ctr" rotWithShape="0">
                      <a:srgbClr val="000080">
                        <a:alpha val="80000"/>
                      </a:srgbClr>
                    </a:outerShdw>
                  </a:effectLst>
                  <a:latin typeface="宋体" panose="02010600030101010101" pitchFamily="2" charset="-122"/>
                  <a:ea typeface="宋体" panose="02010600030101010101" pitchFamily="2" charset="-122"/>
                </a:rPr>
                <a:t>？</a:t>
              </a:r>
            </a:p>
          </p:txBody>
        </p:sp>
      </p:grpSp>
      <p:sp>
        <p:nvSpPr>
          <p:cNvPr id="10247" name="Rectangle 7"/>
          <p:cNvSpPr>
            <a:spLocks noChangeArrowheads="1"/>
          </p:cNvSpPr>
          <p:nvPr/>
        </p:nvSpPr>
        <p:spPr bwMode="auto">
          <a:xfrm>
            <a:off x="2438400" y="5943600"/>
            <a:ext cx="3600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latin typeface="Arial" panose="020B0604020202020204" pitchFamily="34" charset="0"/>
              </a:rPr>
              <a:t>美国在伊拉克大兵的“硬纸板事件” </a:t>
            </a:r>
          </a:p>
        </p:txBody>
      </p:sp>
      <p:sp>
        <p:nvSpPr>
          <p:cNvPr id="10248" name="Rectangle 8"/>
          <p:cNvSpPr>
            <a:spLocks noChangeArrowheads="1"/>
          </p:cNvSpPr>
          <p:nvPr/>
        </p:nvSpPr>
        <p:spPr bwMode="auto">
          <a:xfrm>
            <a:off x="609601" y="237905"/>
            <a:ext cx="8077200" cy="16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612000">
              <a:lnSpc>
                <a:spcPct val="150000"/>
              </a:lnSpc>
            </a:pPr>
            <a:r>
              <a:rPr lang="zh-CN" altLang="en-US" sz="2400" dirty="0"/>
              <a:t>美国海军陆战队一等兵特德在伊拉克与当地小孩随手照的一张举着硬纸板的照片，由于硬纸板上的字被几易其稿，造成了极坏的政治影响，被五角大搂调查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91C7D7C6-3C97-4F14-893B-F09C34CC7F76}" type="slidenum">
              <a:rPr lang="en-US" altLang="zh-CN"/>
              <a:t>73</a:t>
            </a:fld>
            <a:endParaRPr lang="en-US" altLang="zh-CN"/>
          </a:p>
        </p:txBody>
      </p:sp>
      <p:grpSp>
        <p:nvGrpSpPr>
          <p:cNvPr id="11268" name="Group 4"/>
          <p:cNvGrpSpPr/>
          <p:nvPr/>
        </p:nvGrpSpPr>
        <p:grpSpPr bwMode="auto">
          <a:xfrm>
            <a:off x="457200" y="228600"/>
            <a:ext cx="7848600" cy="4114800"/>
            <a:chOff x="1800" y="2064"/>
            <a:chExt cx="8100" cy="3276"/>
          </a:xfrm>
        </p:grpSpPr>
        <p:pic>
          <p:nvPicPr>
            <p:cNvPr id="11269" name="Picture 5" descr="diyibaore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 y="2532"/>
              <a:ext cx="4500" cy="2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6" descr="jingjia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 y="2064"/>
              <a:ext cx="3600" cy="3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71" name="Rectangle 7"/>
          <p:cNvSpPr>
            <a:spLocks noChangeArrowheads="1"/>
          </p:cNvSpPr>
          <p:nvPr/>
        </p:nvSpPr>
        <p:spPr bwMode="auto">
          <a:xfrm>
            <a:off x="1828800" y="4495800"/>
            <a:ext cx="5200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latin typeface="Arial" panose="020B0604020202020204" pitchFamily="34" charset="0"/>
              </a:rPr>
              <a:t>爆炸当天发回图片（左）和“华赛”金奖作品（右） </a:t>
            </a:r>
          </a:p>
        </p:txBody>
      </p:sp>
      <p:sp>
        <p:nvSpPr>
          <p:cNvPr id="11272" name="Rectangle 8"/>
          <p:cNvSpPr>
            <a:spLocks noChangeArrowheads="1"/>
          </p:cNvSpPr>
          <p:nvPr/>
        </p:nvSpPr>
        <p:spPr bwMode="auto">
          <a:xfrm>
            <a:off x="457200" y="5010835"/>
            <a:ext cx="8291264" cy="1421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04000">
              <a:lnSpc>
                <a:spcPct val="150000"/>
              </a:lnSpc>
            </a:pPr>
            <a:r>
              <a:rPr lang="zh-CN" altLang="en-US" dirty="0"/>
              <a:t>2006 年第二届中国国际新闻摄影比赛（简称“华赛”）爆出了最大新闻：获得经济与科技新闻类单幅金奖的作品《中国农村城市化改革第一爆》疑为合成作品，经组委会认定后最终被取消金奖获奖资格。</a:t>
            </a:r>
            <a:r>
              <a:rPr lang="zh-CN" altLang="en-US"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94B20AE-3C6D-4BAE-A594-6BA590BA2487}" type="slidenum">
              <a:rPr lang="en-US" altLang="zh-CN"/>
              <a:t>74</a:t>
            </a:fld>
            <a:endParaRPr lang="en-US" altLang="zh-CN"/>
          </a:p>
        </p:txBody>
      </p:sp>
      <p:sp>
        <p:nvSpPr>
          <p:cNvPr id="13315" name="Rectangle 3"/>
          <p:cNvSpPr>
            <a:spLocks noGrp="1" noChangeArrowheads="1"/>
          </p:cNvSpPr>
          <p:nvPr>
            <p:ph type="body" idx="1"/>
          </p:nvPr>
        </p:nvSpPr>
        <p:spPr>
          <a:xfrm>
            <a:off x="539552" y="1462089"/>
            <a:ext cx="2952328" cy="4559200"/>
          </a:xfrm>
        </p:spPr>
        <p:txBody>
          <a:bodyPr>
            <a:normAutofit/>
          </a:bodyPr>
          <a:lstStyle/>
          <a:p>
            <a:pPr marL="0" indent="504000" algn="l">
              <a:lnSpc>
                <a:spcPct val="150000"/>
              </a:lnSpc>
              <a:spcBef>
                <a:spcPts val="600"/>
              </a:spcBef>
              <a:buSzTx/>
              <a:buNone/>
            </a:pPr>
            <a:r>
              <a:rPr lang="zh-CN" altLang="en-US" sz="2000" b="1" dirty="0">
                <a:latin typeface="华文细黑" panose="02010600040101010101" pitchFamily="2" charset="-122"/>
                <a:ea typeface="华文细黑" panose="02010600040101010101" pitchFamily="2" charset="-122"/>
              </a:rPr>
              <a:t>2007 年底至 2008年上半年，连续爆出的“华南虎”造假事件、“藏羚羊”照片事件和“广场鸽”照片造假更是打碎了不少人长期以来对影像真实性的信心</a:t>
            </a:r>
          </a:p>
        </p:txBody>
      </p:sp>
      <p:pic>
        <p:nvPicPr>
          <p:cNvPr id="5" name="Picture 5" descr="huananhu">
            <a:extLst>
              <a:ext uri="{FF2B5EF4-FFF2-40B4-BE49-F238E27FC236}">
                <a16:creationId xmlns:a16="http://schemas.microsoft.com/office/drawing/2014/main" id="{E9699BE4-8A92-47EB-810A-880EC851DB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138906"/>
            <a:ext cx="4329113"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32F3BC90-988C-4CBA-BEDC-5B65E69AECC5}" type="slidenum">
              <a:rPr lang="en-US" altLang="zh-CN"/>
              <a:t>75</a:t>
            </a:fld>
            <a:endParaRPr lang="en-US" altLang="zh-CN"/>
          </a:p>
        </p:txBody>
      </p:sp>
      <p:pic>
        <p:nvPicPr>
          <p:cNvPr id="93188" name="Picture 4" descr="http://news.xinhuanet.com/photo/2008-02/16/xin_29202051608271093180312.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28600" y="1066800"/>
            <a:ext cx="8686800"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C6677EC2-2AAF-4AFB-A1A4-A4E17F4A4C1B}" type="slidenum">
              <a:rPr lang="en-US" altLang="zh-CN"/>
              <a:t>76</a:t>
            </a:fld>
            <a:endParaRPr lang="en-US" altLang="zh-CN"/>
          </a:p>
        </p:txBody>
      </p:sp>
      <p:sp>
        <p:nvSpPr>
          <p:cNvPr id="94210" name="Rectangle 2"/>
          <p:cNvSpPr>
            <a:spLocks noGrp="1" noChangeArrowheads="1"/>
          </p:cNvSpPr>
          <p:nvPr>
            <p:ph type="title"/>
          </p:nvPr>
        </p:nvSpPr>
        <p:spPr/>
        <p:txBody>
          <a:bodyPr/>
          <a:lstStyle/>
          <a:p>
            <a:endParaRPr lang="zh-CN" altLang="zh-CN"/>
          </a:p>
        </p:txBody>
      </p:sp>
      <p:sp>
        <p:nvSpPr>
          <p:cNvPr id="94211" name="Rectangle 3"/>
          <p:cNvSpPr>
            <a:spLocks noGrp="1" noChangeArrowheads="1"/>
          </p:cNvSpPr>
          <p:nvPr>
            <p:ph type="body" idx="1"/>
          </p:nvPr>
        </p:nvSpPr>
        <p:spPr/>
        <p:txBody>
          <a:bodyPr/>
          <a:lstStyle/>
          <a:p>
            <a:endParaRPr lang="zh-CN" altLang="zh-CN"/>
          </a:p>
        </p:txBody>
      </p:sp>
      <p:pic>
        <p:nvPicPr>
          <p:cNvPr id="94212" name="Picture 4" descr="F:\周琳娜高教出版社教科书\数字图像取证(北邮编书）\广鸽场\无忌论坛 - 广场鸽事件最新进展——坚决拍死张飞鸽.files\513446_1205571711.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09991" y="171817"/>
            <a:ext cx="8575423" cy="6319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BE8CB2F-DDDC-4522-9E60-90D11B3CF395}" type="slidenum">
              <a:rPr lang="en-US" altLang="zh-CN"/>
              <a:t>77</a:t>
            </a:fld>
            <a:endParaRPr lang="en-US" altLang="zh-CN"/>
          </a:p>
        </p:txBody>
      </p:sp>
      <p:sp>
        <p:nvSpPr>
          <p:cNvPr id="14339" name="Rectangle 3"/>
          <p:cNvSpPr>
            <a:spLocks noGrp="1" noChangeArrowheads="1"/>
          </p:cNvSpPr>
          <p:nvPr>
            <p:ph type="body" idx="1"/>
          </p:nvPr>
        </p:nvSpPr>
        <p:spPr>
          <a:xfrm>
            <a:off x="628814" y="476672"/>
            <a:ext cx="7887564" cy="6120680"/>
          </a:xfrm>
        </p:spPr>
        <p:txBody>
          <a:bodyPr>
            <a:noAutofit/>
          </a:bodyPr>
          <a:lstStyle/>
          <a:p>
            <a:pPr marL="504000" indent="-504000">
              <a:lnSpc>
                <a:spcPct val="150000"/>
              </a:lnSpc>
              <a:spcBef>
                <a:spcPts val="600"/>
              </a:spcBef>
            </a:pPr>
            <a:r>
              <a:rPr lang="zh-CN" altLang="en-US" sz="2100" dirty="0"/>
              <a:t>科学论文中的图片应该准确地反映数据，但随着图像处理软件的出现，篡改数据或图片的现象越来越严重，成为不端行为的新现象；</a:t>
            </a:r>
          </a:p>
          <a:p>
            <a:pPr marL="504000" indent="-504000">
              <a:lnSpc>
                <a:spcPct val="150000"/>
              </a:lnSpc>
              <a:spcBef>
                <a:spcPts val="600"/>
              </a:spcBef>
            </a:pPr>
            <a:r>
              <a:rPr lang="zh-CN" altLang="en-US" sz="2100" dirty="0"/>
              <a:t>据</a:t>
            </a:r>
            <a:r>
              <a:rPr lang="en-US" altLang="zh-CN" sz="2100" dirty="0"/>
              <a:t>《</a:t>
            </a:r>
            <a:r>
              <a:rPr lang="zh-CN" altLang="en-US" sz="2100" dirty="0"/>
              <a:t>科学时报</a:t>
            </a:r>
            <a:r>
              <a:rPr lang="en-US" altLang="zh-CN" sz="2100" dirty="0"/>
              <a:t>》2006 </a:t>
            </a:r>
            <a:r>
              <a:rPr lang="zh-CN" altLang="en-US" sz="2100" dirty="0"/>
              <a:t>年 </a:t>
            </a:r>
            <a:r>
              <a:rPr lang="en-US" altLang="zh-CN" sz="2100" dirty="0"/>
              <a:t>7 </a:t>
            </a:r>
            <a:r>
              <a:rPr lang="zh-CN" altLang="en-US" sz="2100" dirty="0"/>
              <a:t>月 </a:t>
            </a:r>
            <a:r>
              <a:rPr lang="en-US" altLang="zh-CN" sz="2100" dirty="0"/>
              <a:t>10 </a:t>
            </a:r>
            <a:r>
              <a:rPr lang="zh-CN" altLang="en-US" sz="2100" dirty="0"/>
              <a:t>日报道，</a:t>
            </a:r>
            <a:r>
              <a:rPr lang="en-US" altLang="zh-CN" sz="2100" dirty="0"/>
              <a:t>《</a:t>
            </a:r>
            <a:r>
              <a:rPr lang="zh-CN" altLang="en-US" sz="2100" dirty="0"/>
              <a:t>自然</a:t>
            </a:r>
            <a:r>
              <a:rPr lang="en-US" altLang="zh-CN" sz="2100" dirty="0">
                <a:latin typeface="Arial" panose="020B0604020202020204"/>
              </a:rPr>
              <a:t>—</a:t>
            </a:r>
            <a:r>
              <a:rPr lang="zh-CN" altLang="en-US" sz="2100" dirty="0"/>
              <a:t>细胞生物学</a:t>
            </a:r>
            <a:r>
              <a:rPr lang="en-US" altLang="zh-CN" sz="2100" dirty="0"/>
              <a:t>》</a:t>
            </a:r>
            <a:r>
              <a:rPr lang="zh-CN" altLang="en-US" sz="2100" dirty="0"/>
              <a:t>的主编 </a:t>
            </a:r>
            <a:r>
              <a:rPr lang="en-US" altLang="zh-CN" sz="2100" dirty="0"/>
              <a:t>Bernd </a:t>
            </a:r>
            <a:r>
              <a:rPr lang="en-US" altLang="zh-CN" sz="2100" dirty="0" err="1"/>
              <a:t>Pulverer</a:t>
            </a:r>
            <a:r>
              <a:rPr lang="en-US" altLang="zh-CN" sz="2100" dirty="0"/>
              <a:t> </a:t>
            </a:r>
            <a:r>
              <a:rPr lang="zh-CN" altLang="en-US" sz="2100" dirty="0"/>
              <a:t>指出，</a:t>
            </a:r>
            <a:r>
              <a:rPr lang="en-US" altLang="zh-CN" sz="2100" dirty="0"/>
              <a:t>1989 </a:t>
            </a:r>
            <a:r>
              <a:rPr lang="zh-CN" altLang="en-US" sz="2100" dirty="0"/>
              <a:t>年，有关篡改图片的指控占不端行为指控量的 </a:t>
            </a:r>
            <a:r>
              <a:rPr lang="en-US" altLang="zh-CN" sz="2100" dirty="0"/>
              <a:t>2.5%</a:t>
            </a:r>
            <a:r>
              <a:rPr lang="zh-CN" altLang="en-US" sz="2100" dirty="0"/>
              <a:t>，到 </a:t>
            </a:r>
            <a:r>
              <a:rPr lang="en-US" altLang="zh-CN" sz="2100" dirty="0"/>
              <a:t>2001 </a:t>
            </a:r>
            <a:r>
              <a:rPr lang="zh-CN" altLang="en-US" sz="2100" dirty="0"/>
              <a:t>年，这个数据上升到 </a:t>
            </a:r>
            <a:r>
              <a:rPr lang="en-US" altLang="zh-CN" sz="2100" dirty="0"/>
              <a:t>26%</a:t>
            </a:r>
            <a:r>
              <a:rPr lang="zh-CN" altLang="en-US" sz="2100" dirty="0"/>
              <a:t>；</a:t>
            </a:r>
          </a:p>
          <a:p>
            <a:pPr marL="504000" indent="-504000">
              <a:lnSpc>
                <a:spcPct val="150000"/>
              </a:lnSpc>
              <a:spcBef>
                <a:spcPts val="600"/>
              </a:spcBef>
            </a:pPr>
            <a:r>
              <a:rPr lang="en-US" altLang="zh-CN" sz="2100" dirty="0"/>
              <a:t>《</a:t>
            </a:r>
            <a:r>
              <a:rPr lang="zh-CN" altLang="en-US" sz="2100" dirty="0"/>
              <a:t>细胞生物学期刊</a:t>
            </a:r>
            <a:r>
              <a:rPr lang="en-US" altLang="zh-CN" sz="2100" dirty="0"/>
              <a:t>》</a:t>
            </a:r>
            <a:r>
              <a:rPr lang="zh-CN" altLang="en-US" sz="2100" dirty="0"/>
              <a:t>曾估计在其收到的论文中，有 </a:t>
            </a:r>
            <a:r>
              <a:rPr lang="en-US" altLang="zh-CN" sz="2100" dirty="0"/>
              <a:t>20% </a:t>
            </a:r>
            <a:r>
              <a:rPr lang="zh-CN" altLang="en-US" sz="2100" dirty="0"/>
              <a:t>的论文含修改过的数据，而今天这一数据可能上升到 </a:t>
            </a:r>
            <a:r>
              <a:rPr lang="en-US" altLang="zh-CN" sz="2100" dirty="0"/>
              <a:t>25%</a:t>
            </a:r>
            <a:r>
              <a:rPr lang="zh-CN" altLang="en-US" sz="2100" dirty="0"/>
              <a:t>；</a:t>
            </a:r>
          </a:p>
          <a:p>
            <a:pPr marL="504000" indent="-504000">
              <a:lnSpc>
                <a:spcPct val="150000"/>
              </a:lnSpc>
              <a:spcBef>
                <a:spcPts val="600"/>
              </a:spcBef>
            </a:pPr>
            <a:r>
              <a:rPr lang="zh-CN" altLang="en-US" sz="2100" dirty="0"/>
              <a:t>如果用软件来增加图像中新的部分，蓄意在论文图表上编造实验中没有的数据，就演化成为作假行为，是一种严重的欺诈行为。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733F9D8-A735-4FE8-AE08-E8D74E68C0BD}" type="slidenum">
              <a:rPr lang="en-US" altLang="zh-CN"/>
              <a:t>78</a:t>
            </a:fld>
            <a:endParaRPr lang="en-US" altLang="zh-CN"/>
          </a:p>
        </p:txBody>
      </p:sp>
      <p:sp>
        <p:nvSpPr>
          <p:cNvPr id="95235" name="Rectangle 3"/>
          <p:cNvSpPr>
            <a:spLocks noGrp="1" noChangeArrowheads="1"/>
          </p:cNvSpPr>
          <p:nvPr>
            <p:ph type="body" idx="1"/>
          </p:nvPr>
        </p:nvSpPr>
        <p:spPr>
          <a:xfrm>
            <a:off x="628814" y="260649"/>
            <a:ext cx="7887564" cy="1637066"/>
          </a:xfrm>
        </p:spPr>
        <p:txBody>
          <a:bodyPr/>
          <a:lstStyle/>
          <a:p>
            <a:pPr marL="0" indent="558000" algn="l">
              <a:lnSpc>
                <a:spcPct val="150000"/>
              </a:lnSpc>
              <a:spcBef>
                <a:spcPts val="600"/>
              </a:spcBef>
              <a:buSzTx/>
              <a:buNone/>
            </a:pPr>
            <a:r>
              <a:rPr lang="zh-CN" altLang="en-US" sz="2200" b="1" dirty="0">
                <a:latin typeface="华文细黑" panose="02010600040101010101" pitchFamily="2" charset="-122"/>
                <a:ea typeface="华文细黑" panose="02010600040101010101" pitchFamily="2" charset="-122"/>
              </a:rPr>
              <a:t>美国科学家迈克尔·罗伯茨在 2006 年 12 月 7 日承认，自己执笔的一项研究报告存在造假问题，报告中的老鼠胚胎细胞图像属于伪造，他希望刊出此文的《科学》杂志撤回问题论文。 </a:t>
            </a:r>
          </a:p>
          <a:p>
            <a:endParaRPr lang="en-US" altLang="zh-CN" dirty="0"/>
          </a:p>
        </p:txBody>
      </p:sp>
      <p:pic>
        <p:nvPicPr>
          <p:cNvPr id="5" name="Picture 4">
            <a:extLst>
              <a:ext uri="{FF2B5EF4-FFF2-40B4-BE49-F238E27FC236}">
                <a16:creationId xmlns:a16="http://schemas.microsoft.com/office/drawing/2014/main" id="{97DC8E8E-FDF3-4440-8ADC-2F46640EC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897714"/>
            <a:ext cx="6974160" cy="4825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DBE33046-7768-4E1B-AFA6-230C0B6DD459}" type="slidenum">
              <a:rPr lang="en-US" altLang="zh-CN"/>
              <a:t>79</a:t>
            </a:fld>
            <a:endParaRPr lang="en-US" altLang="zh-CN"/>
          </a:p>
        </p:txBody>
      </p:sp>
      <p:sp>
        <p:nvSpPr>
          <p:cNvPr id="15363" name="Rectangle 3"/>
          <p:cNvSpPr>
            <a:spLocks noGrp="1" noChangeArrowheads="1"/>
          </p:cNvSpPr>
          <p:nvPr>
            <p:ph type="body" idx="1"/>
          </p:nvPr>
        </p:nvSpPr>
        <p:spPr>
          <a:xfrm>
            <a:off x="628814" y="404664"/>
            <a:ext cx="7887564" cy="5772299"/>
          </a:xfrm>
        </p:spPr>
        <p:txBody>
          <a:bodyPr>
            <a:normAutofit/>
          </a:bodyPr>
          <a:lstStyle/>
          <a:p>
            <a:pPr marL="504000" indent="-504000">
              <a:lnSpc>
                <a:spcPct val="150000"/>
              </a:lnSpc>
              <a:spcBef>
                <a:spcPts val="600"/>
              </a:spcBef>
            </a:pPr>
            <a:r>
              <a:rPr lang="zh-CN" altLang="en-US" sz="2200" b="1" dirty="0">
                <a:latin typeface="华文细黑" panose="02010600040101010101" pitchFamily="2" charset="-122"/>
                <a:ea typeface="华文细黑" panose="02010600040101010101" pitchFamily="2" charset="-122"/>
              </a:rPr>
              <a:t>美国 9.11 恐怖袭击事件发生前不久，“USA Today”有报道称在 1998 年两座东非美国大使馆的炸弹攻击事件中，拉登等人曾利用聊天室、色情 BBS 等网站隐藏恐怖攻击目标的地图和照片，并下达恐怖活动的指示。</a:t>
            </a:r>
          </a:p>
          <a:p>
            <a:pPr marL="504000" indent="-504000">
              <a:lnSpc>
                <a:spcPct val="150000"/>
              </a:lnSpc>
              <a:spcBef>
                <a:spcPts val="600"/>
              </a:spcBef>
            </a:pPr>
            <a:r>
              <a:rPr lang="zh-CN" altLang="en-US" sz="2200" b="1" dirty="0">
                <a:latin typeface="华文细黑" panose="02010600040101010101" pitchFamily="2" charset="-122"/>
                <a:ea typeface="华文细黑" panose="02010600040101010101" pitchFamily="2" charset="-122"/>
              </a:rPr>
              <a:t>在 9.11 事件发生之后，“Wired News”上也有文章指出恐怖分子在 eBay 和 Amazon 等拍卖网站上利用数字图像作为载体进行隐密通信。但是迄今为止还没有完备的技术手段能够证明这些消息的真实性。</a:t>
            </a:r>
            <a:r>
              <a:rPr lang="zh-CN" altLang="en-US" sz="2200" dirty="0"/>
              <a:t> </a:t>
            </a:r>
            <a:endParaRPr lang="en-US" altLang="zh-CN" sz="2200" dirty="0"/>
          </a:p>
          <a:p>
            <a:pPr marL="504000" indent="-504000">
              <a:lnSpc>
                <a:spcPct val="150000"/>
              </a:lnSpc>
              <a:spcBef>
                <a:spcPts val="600"/>
              </a:spcBef>
            </a:pPr>
            <a:r>
              <a:rPr lang="zh-CN" altLang="en-US" sz="2200" dirty="0"/>
              <a:t>必须面对的问题：数字图像正面临着被随意篡改和伪造的威胁，如何保证数字图片的真实性？如何进行认证？如何建立“数据警察”？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0339CFC-6391-4884-929E-43AC90321857}" type="slidenum">
              <a:rPr lang="en-US" altLang="zh-CN"/>
              <a:t>80</a:t>
            </a:fld>
            <a:endParaRPr lang="en-US" altLang="zh-CN"/>
          </a:p>
        </p:txBody>
      </p:sp>
      <p:pic>
        <p:nvPicPr>
          <p:cNvPr id="16388" name="Picture 4" descr="lade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3200"/>
            <a:ext cx="6934200"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Rectangle 6"/>
          <p:cNvSpPr>
            <a:spLocks noChangeArrowheads="1"/>
          </p:cNvSpPr>
          <p:nvPr/>
        </p:nvSpPr>
        <p:spPr bwMode="auto">
          <a:xfrm>
            <a:off x="3276600" y="6003102"/>
            <a:ext cx="21807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Arial" panose="020B0604020202020204" pitchFamily="34" charset="0"/>
              </a:rPr>
              <a:t>USA Today </a:t>
            </a:r>
            <a:r>
              <a:rPr lang="zh-CN" altLang="en-US" dirty="0">
                <a:latin typeface="Arial" panose="020B0604020202020204" pitchFamily="34" charset="0"/>
              </a:rPr>
              <a:t>报道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254DCF6-1434-44B4-AB10-E6F05A0903F6}" type="slidenum">
              <a:rPr lang="en-US" altLang="zh-CN"/>
              <a:t>81</a:t>
            </a:fld>
            <a:endParaRPr lang="en-US" altLang="zh-CN"/>
          </a:p>
        </p:txBody>
      </p:sp>
      <p:sp>
        <p:nvSpPr>
          <p:cNvPr id="18434" name="AutoShape 2"/>
          <p:cNvSpPr>
            <a:spLocks noGrp="1" noChangeAspect="1" noChangeArrowheads="1"/>
          </p:cNvSpPr>
          <p:nvPr>
            <p:ph type="title"/>
          </p:nvPr>
        </p:nvSpPr>
        <p:spPr/>
        <p:txBody>
          <a:bodyPr/>
          <a:lstStyle/>
          <a:p>
            <a:r>
              <a:rPr lang="en-US" altLang="zh-CN" sz="2800" b="1" dirty="0"/>
              <a:t>2</a:t>
            </a:r>
            <a:r>
              <a:rPr lang="zh-CN" altLang="en-US" sz="2800" b="1" dirty="0"/>
              <a:t>、数字图像取证技术</a:t>
            </a:r>
            <a:r>
              <a:rPr lang="en-US" altLang="zh-CN" sz="2800" b="1" dirty="0"/>
              <a:t>(Digital Image Forensics) </a:t>
            </a:r>
          </a:p>
        </p:txBody>
      </p:sp>
      <p:sp>
        <p:nvSpPr>
          <p:cNvPr id="18435" name="Rectangle 3"/>
          <p:cNvSpPr>
            <a:spLocks noGrp="1" noChangeArrowheads="1"/>
          </p:cNvSpPr>
          <p:nvPr>
            <p:ph type="body" idx="1"/>
          </p:nvPr>
        </p:nvSpPr>
        <p:spPr/>
        <p:txBody>
          <a:bodyPr>
            <a:normAutofit fontScale="92500"/>
          </a:bodyPr>
          <a:lstStyle/>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通过对图像统计特性的分析来判断数字图像内容的</a:t>
            </a:r>
            <a:r>
              <a:rPr lang="zh-CN" altLang="en-US" sz="2400" dirty="0">
                <a:solidFill>
                  <a:schemeClr val="accent1"/>
                </a:solidFill>
                <a:latin typeface="+mj-lt"/>
                <a:ea typeface="+mj-ea"/>
                <a:cs typeface="+mj-cs"/>
              </a:rPr>
              <a:t>真实性、完整性和原始性，</a:t>
            </a:r>
            <a:r>
              <a:rPr lang="zh-CN" altLang="en-US" sz="2400" b="1" dirty="0">
                <a:latin typeface="华文细黑" panose="02010600040101010101" pitchFamily="2" charset="-122"/>
                <a:ea typeface="华文细黑" panose="02010600040101010101" pitchFamily="2" charset="-122"/>
              </a:rPr>
              <a:t>也就是判断数字图像从被数码相机拍摄以后有没有经过篡改的技术</a:t>
            </a:r>
          </a:p>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它是计算机取证的一个分支，是对源于数字图像资源的数字证据进行确定、收集、识别、分析及出示法庭的过程</a:t>
            </a:r>
          </a:p>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不同于先前的计算机取证，数字图像取证主要是针对于数字图像内容的完整性和原始性，而不是对计算机文件或磁盘格式的取证</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C1758B7-7342-4605-B867-F1AD8AD75A9F}" type="slidenum">
              <a:rPr lang="en-US" altLang="zh-CN"/>
              <a:t>82</a:t>
            </a:fld>
            <a:endParaRPr lang="en-US" altLang="zh-CN"/>
          </a:p>
        </p:txBody>
      </p:sp>
      <p:sp>
        <p:nvSpPr>
          <p:cNvPr id="19458" name="Rectangle 2"/>
          <p:cNvSpPr>
            <a:spLocks noGrp="1" noChangeArrowheads="1"/>
          </p:cNvSpPr>
          <p:nvPr>
            <p:ph type="title"/>
          </p:nvPr>
        </p:nvSpPr>
        <p:spPr/>
        <p:txBody>
          <a:bodyPr/>
          <a:lstStyle/>
          <a:p>
            <a:r>
              <a:rPr lang="zh-CN" altLang="en-US" sz="3200" b="1" dirty="0"/>
              <a:t>数字图像取证分类</a:t>
            </a:r>
          </a:p>
        </p:txBody>
      </p:sp>
      <p:sp>
        <p:nvSpPr>
          <p:cNvPr id="19459" name="Rectangle 3"/>
          <p:cNvSpPr>
            <a:spLocks noGrp="1" noChangeArrowheads="1"/>
          </p:cNvSpPr>
          <p:nvPr>
            <p:ph type="body" idx="1"/>
          </p:nvPr>
        </p:nvSpPr>
        <p:spPr/>
        <p:txBody>
          <a:bodyPr>
            <a:normAutofit fontScale="92500"/>
          </a:bodyPr>
          <a:lstStyle/>
          <a:p>
            <a:pPr marL="0" indent="457200" algn="l">
              <a:lnSpc>
                <a:spcPct val="150000"/>
              </a:lnSpc>
              <a:spcBef>
                <a:spcPts val="600"/>
              </a:spcBef>
              <a:buSzTx/>
            </a:pPr>
            <a:r>
              <a:rPr lang="zh-CN" altLang="en-US" sz="2600" b="1" dirty="0">
                <a:latin typeface="华文细黑" panose="02010600040101010101" pitchFamily="2" charset="-122"/>
                <a:ea typeface="华文细黑" panose="02010600040101010101" pitchFamily="2" charset="-122"/>
              </a:rPr>
              <a:t>主动取证</a:t>
            </a:r>
          </a:p>
          <a:p>
            <a:pPr marL="0" lvl="1" indent="558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基于数字水印技术，如易碎数字水印技术和数字签名技术提供了很多验证数字篡改的方法，但这些方法都是通过提前向原始数字照片中嵌入验证信息实现的，属于主动取证。</a:t>
            </a:r>
          </a:p>
          <a:p>
            <a:pPr marL="0" indent="457200" algn="l">
              <a:lnSpc>
                <a:spcPct val="150000"/>
              </a:lnSpc>
              <a:spcBef>
                <a:spcPts val="600"/>
              </a:spcBef>
              <a:buSzTx/>
            </a:pPr>
            <a:r>
              <a:rPr lang="zh-CN" altLang="en-US" sz="2600" b="1" dirty="0">
                <a:latin typeface="华文细黑" panose="02010600040101010101" pitchFamily="2" charset="-122"/>
                <a:ea typeface="华文细黑" panose="02010600040101010101" pitchFamily="2" charset="-122"/>
              </a:rPr>
              <a:t>被动取证</a:t>
            </a:r>
          </a:p>
          <a:p>
            <a:pPr marL="0" lvl="1" indent="558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主动取证技术由于受到应用条件的限制，已经无法从根本上遏制图像篡改发展，现在数字图像取证更注重被动取证技术研究。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894392D-F9BD-450A-986B-12481B40C1B8}" type="slidenum">
              <a:rPr lang="en-US" altLang="zh-CN"/>
              <a:t>83</a:t>
            </a:fld>
            <a:endParaRPr lang="en-US" altLang="zh-CN"/>
          </a:p>
        </p:txBody>
      </p:sp>
      <p:sp>
        <p:nvSpPr>
          <p:cNvPr id="20482" name="Rectangle 2"/>
          <p:cNvSpPr>
            <a:spLocks noGrp="1" noChangeArrowheads="1"/>
          </p:cNvSpPr>
          <p:nvPr>
            <p:ph type="title"/>
          </p:nvPr>
        </p:nvSpPr>
        <p:spPr/>
        <p:txBody>
          <a:bodyPr/>
          <a:lstStyle/>
          <a:p>
            <a:r>
              <a:rPr lang="zh-CN" altLang="en-US" sz="3200" b="1" dirty="0"/>
              <a:t>数字图像取证分类</a:t>
            </a:r>
            <a:endParaRPr lang="zh-CN" altLang="zh-CN" sz="3200" b="1" dirty="0"/>
          </a:p>
        </p:txBody>
      </p:sp>
      <p:sp>
        <p:nvSpPr>
          <p:cNvPr id="20483" name="Rectangle 3"/>
          <p:cNvSpPr>
            <a:spLocks noGrp="1" noChangeArrowheads="1"/>
          </p:cNvSpPr>
          <p:nvPr>
            <p:ph type="body" idx="1"/>
          </p:nvPr>
        </p:nvSpPr>
        <p:spPr>
          <a:xfrm>
            <a:off x="467544" y="1230313"/>
            <a:ext cx="8352928" cy="5627687"/>
          </a:xfrm>
        </p:spPr>
        <p:txBody>
          <a:bodyPr>
            <a:normAutofit fontScale="92500"/>
          </a:bodyPr>
          <a:lstStyle/>
          <a:p>
            <a:pPr marL="0" indent="457200" algn="l">
              <a:lnSpc>
                <a:spcPct val="150000"/>
              </a:lnSpc>
              <a:spcBef>
                <a:spcPts val="600"/>
              </a:spcBef>
              <a:buSzTx/>
            </a:pPr>
            <a:r>
              <a:rPr lang="zh-CN" altLang="en-US" sz="2500" b="1" dirty="0">
                <a:latin typeface="华文细黑" panose="02010600040101010101" pitchFamily="2" charset="-122"/>
                <a:ea typeface="华文细黑" panose="02010600040101010101" pitchFamily="2" charset="-122"/>
              </a:rPr>
              <a:t>主动取证和被动取证，按其认证方法分又分可分为三小类：</a:t>
            </a:r>
          </a:p>
          <a:p>
            <a:pPr marL="702900" lvl="2" indent="-360000">
              <a:lnSpc>
                <a:spcPct val="150000"/>
              </a:lnSpc>
              <a:spcBef>
                <a:spcPts val="600"/>
              </a:spcBef>
              <a:buFont typeface="Wingdings" panose="05000000000000000000" pitchFamily="2" charset="2"/>
              <a:buChar char="Ø"/>
            </a:pPr>
            <a:r>
              <a:rPr lang="zh-CN" altLang="en-US" sz="1950" dirty="0"/>
              <a:t>基于数字水印的图像认证：在被保护的图像中预先嵌入脆弱水印，篡改图像将破坏水印而暴露篡改行为。</a:t>
            </a:r>
          </a:p>
          <a:p>
            <a:pPr marL="702900" lvl="2" indent="-360000">
              <a:lnSpc>
                <a:spcPct val="150000"/>
              </a:lnSpc>
              <a:spcBef>
                <a:spcPts val="600"/>
              </a:spcBef>
              <a:buFont typeface="Wingdings" panose="05000000000000000000" pitchFamily="2" charset="2"/>
              <a:buChar char="Ø"/>
            </a:pPr>
            <a:r>
              <a:rPr lang="zh-CN" altLang="en-US" sz="1950" dirty="0"/>
              <a:t>基于数字签名的图像认证：利用图像内容得到长度很短的认证码、数字签名或视觉摘要</a:t>
            </a:r>
            <a:r>
              <a:rPr lang="en-US" altLang="zh-CN" sz="1950" dirty="0"/>
              <a:t>(Visual Hash)</a:t>
            </a:r>
            <a:r>
              <a:rPr lang="zh-CN" altLang="en-US" sz="1950" dirty="0"/>
              <a:t>。属于半主动方法，虽然没有改动图像，但需预先产生辅助数据。</a:t>
            </a:r>
          </a:p>
          <a:p>
            <a:pPr lvl="3">
              <a:lnSpc>
                <a:spcPct val="150000"/>
              </a:lnSpc>
            </a:pPr>
            <a:r>
              <a:rPr lang="zh-CN" altLang="en-US" sz="1900" dirty="0"/>
              <a:t>认证码与数字签名：对任何改动都很敏感；</a:t>
            </a:r>
          </a:p>
          <a:p>
            <a:pPr lvl="3">
              <a:lnSpc>
                <a:spcPct val="150000"/>
              </a:lnSpc>
            </a:pPr>
            <a:r>
              <a:rPr lang="zh-CN" altLang="en-US" sz="1900" dirty="0"/>
              <a:t>视觉摘要（感知</a:t>
            </a:r>
            <a:r>
              <a:rPr lang="en-US" altLang="zh-CN" sz="1900" dirty="0"/>
              <a:t>Hash</a:t>
            </a:r>
            <a:r>
              <a:rPr lang="zh-CN" altLang="en-US" sz="1900" dirty="0"/>
              <a:t>）：仅对恶意篡改比较敏感，对压缩、滤波等合法处理不敏感。</a:t>
            </a:r>
          </a:p>
          <a:p>
            <a:pPr marL="702900" lvl="2" indent="-360000">
              <a:lnSpc>
                <a:spcPct val="150000"/>
              </a:lnSpc>
              <a:spcBef>
                <a:spcPts val="600"/>
              </a:spcBef>
              <a:buFont typeface="Wingdings" panose="05000000000000000000" pitchFamily="2" charset="2"/>
              <a:buChar char="Ø"/>
            </a:pPr>
            <a:r>
              <a:rPr lang="zh-CN" altLang="en-US" sz="1950" dirty="0"/>
              <a:t>完全被动认证：这类方法既不需要事先在图像中嵌入水印，也不依赖辅助数据，仅根据待认证的图像本身判断其是否经过篡改、合成、润饰等伪造处理。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DD21CBB-2E7B-4F21-B69E-9836096A6AA1}" type="slidenum">
              <a:rPr lang="en-US" altLang="zh-CN"/>
              <a:t>84</a:t>
            </a:fld>
            <a:endParaRPr lang="en-US" altLang="zh-CN"/>
          </a:p>
        </p:txBody>
      </p:sp>
      <p:sp>
        <p:nvSpPr>
          <p:cNvPr id="21506" name="Rectangle 2"/>
          <p:cNvSpPr>
            <a:spLocks noGrp="1" noChangeArrowheads="1"/>
          </p:cNvSpPr>
          <p:nvPr>
            <p:ph type="title"/>
          </p:nvPr>
        </p:nvSpPr>
        <p:spPr/>
        <p:txBody>
          <a:bodyPr/>
          <a:lstStyle/>
          <a:p>
            <a:r>
              <a:rPr lang="zh-CN" altLang="en-US" sz="3200" b="1" dirty="0"/>
              <a:t>二、数字图像篡改</a:t>
            </a:r>
          </a:p>
        </p:txBody>
      </p:sp>
      <p:sp>
        <p:nvSpPr>
          <p:cNvPr id="21507" name="Rectangle 3"/>
          <p:cNvSpPr>
            <a:spLocks noGrp="1" noChangeArrowheads="1"/>
          </p:cNvSpPr>
          <p:nvPr>
            <p:ph type="body" idx="1"/>
          </p:nvPr>
        </p:nvSpPr>
        <p:spPr>
          <a:xfrm>
            <a:off x="899592" y="1462088"/>
            <a:ext cx="7616786" cy="4714875"/>
          </a:xfrm>
        </p:spPr>
        <p:txBody>
          <a:bodyPr/>
          <a:lstStyle/>
          <a:p>
            <a:pPr marL="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真实性篡改</a:t>
            </a:r>
          </a:p>
          <a:p>
            <a:pPr marL="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完整性篡改</a:t>
            </a:r>
          </a:p>
          <a:p>
            <a:pPr marL="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原始性篡改</a:t>
            </a:r>
          </a:p>
          <a:p>
            <a:pPr marL="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版权篡改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3D84010D-F1C8-480F-A3E3-0D32B1A8D9F9}" type="slidenum">
              <a:rPr lang="en-US" altLang="zh-CN"/>
              <a:t>85</a:t>
            </a:fld>
            <a:endParaRPr lang="en-US" altLang="zh-CN"/>
          </a:p>
        </p:txBody>
      </p:sp>
      <p:sp>
        <p:nvSpPr>
          <p:cNvPr id="22530" name="Rectangle 2"/>
          <p:cNvSpPr>
            <a:spLocks noGrp="1" noChangeArrowheads="1"/>
          </p:cNvSpPr>
          <p:nvPr>
            <p:ph type="title"/>
          </p:nvPr>
        </p:nvSpPr>
        <p:spPr/>
        <p:txBody>
          <a:bodyPr/>
          <a:lstStyle/>
          <a:p>
            <a:r>
              <a:rPr lang="en-US" altLang="zh-CN" sz="3200" b="1" dirty="0"/>
              <a:t>1</a:t>
            </a:r>
            <a:r>
              <a:rPr lang="zh-CN" altLang="en-US" sz="3200" b="1" dirty="0"/>
              <a:t>、数字图像真实性篡改</a:t>
            </a:r>
          </a:p>
        </p:txBody>
      </p:sp>
      <p:sp>
        <p:nvSpPr>
          <p:cNvPr id="22531" name="Rectangle 3"/>
          <p:cNvSpPr>
            <a:spLocks noGrp="1" noChangeArrowheads="1"/>
          </p:cNvSpPr>
          <p:nvPr>
            <p:ph type="body" idx="1"/>
          </p:nvPr>
        </p:nvSpPr>
        <p:spPr>
          <a:xfrm>
            <a:off x="1115616" y="1462088"/>
            <a:ext cx="7400762" cy="4714875"/>
          </a:xfrm>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合成</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变种</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润饰</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增强</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计算机生成</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绘画</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3DEAADF-1B5D-473B-B5D9-8C3618F79431}" type="slidenum">
              <a:rPr lang="en-US" altLang="zh-CN"/>
              <a:t>86</a:t>
            </a:fld>
            <a:endParaRPr lang="en-US" altLang="zh-CN"/>
          </a:p>
        </p:txBody>
      </p:sp>
      <p:sp>
        <p:nvSpPr>
          <p:cNvPr id="23554" name="Rectangle 2"/>
          <p:cNvSpPr>
            <a:spLocks noGrp="1" noChangeArrowheads="1"/>
          </p:cNvSpPr>
          <p:nvPr>
            <p:ph type="title"/>
          </p:nvPr>
        </p:nvSpPr>
        <p:spPr/>
        <p:txBody>
          <a:bodyPr/>
          <a:lstStyle/>
          <a:p>
            <a:endParaRPr lang="zh-CN" altLang="zh-CN" dirty="0"/>
          </a:p>
        </p:txBody>
      </p:sp>
      <p:sp>
        <p:nvSpPr>
          <p:cNvPr id="23555"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800" b="1" dirty="0">
                <a:solidFill>
                  <a:schemeClr val="accent1"/>
                </a:solidFill>
                <a:latin typeface="华文细黑" panose="02010600040101010101" pitchFamily="2" charset="-122"/>
                <a:ea typeface="华文细黑" panose="02010600040101010101" pitchFamily="2" charset="-122"/>
              </a:rPr>
              <a:t>合成</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合成是由两幅或多幅数字图像通过复制其中一幅中的某一部分粘贴到另一幅图像中以造成某种假象，或者把一幅图像的某一部分复制粘贴到这幅图像的另一部分上以此来隐藏重要目标。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7C977C83-C7B8-4200-9ACA-A41623C2A59B}" type="slidenum">
              <a:rPr lang="en-US" altLang="zh-CN"/>
              <a:t>87</a:t>
            </a:fld>
            <a:endParaRPr lang="en-US" altLang="zh-CN"/>
          </a:p>
        </p:txBody>
      </p:sp>
      <p:sp>
        <p:nvSpPr>
          <p:cNvPr id="24578" name="Rectangle 2"/>
          <p:cNvSpPr>
            <a:spLocks noGrp="1" noChangeArrowheads="1"/>
          </p:cNvSpPr>
          <p:nvPr>
            <p:ph type="title"/>
          </p:nvPr>
        </p:nvSpPr>
        <p:spPr/>
        <p:txBody>
          <a:bodyPr/>
          <a:lstStyle/>
          <a:p>
            <a:endParaRPr lang="zh-CN" altLang="zh-CN"/>
          </a:p>
        </p:txBody>
      </p:sp>
      <p:sp>
        <p:nvSpPr>
          <p:cNvPr id="24579" name="Rectangle 3"/>
          <p:cNvSpPr>
            <a:spLocks noGrp="1" noChangeArrowheads="1"/>
          </p:cNvSpPr>
          <p:nvPr>
            <p:ph type="body" idx="1"/>
          </p:nvPr>
        </p:nvSpPr>
        <p:spPr/>
        <p:txBody>
          <a:bodyPr/>
          <a:lstStyle/>
          <a:p>
            <a:endParaRPr lang="zh-CN" altLang="zh-CN"/>
          </a:p>
        </p:txBody>
      </p:sp>
      <p:grpSp>
        <p:nvGrpSpPr>
          <p:cNvPr id="24580" name="Group 4"/>
          <p:cNvGrpSpPr/>
          <p:nvPr/>
        </p:nvGrpSpPr>
        <p:grpSpPr bwMode="auto">
          <a:xfrm>
            <a:off x="1524000" y="990600"/>
            <a:ext cx="6019800" cy="4114800"/>
            <a:chOff x="2157" y="3604"/>
            <a:chExt cx="7560" cy="5868"/>
          </a:xfrm>
        </p:grpSpPr>
        <p:pic>
          <p:nvPicPr>
            <p:cNvPr id="24581" name="Picture 5" descr="DSC005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 y="3604"/>
              <a:ext cx="3603"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6" descr="qim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 y="3604"/>
              <a:ext cx="3780" cy="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7" descr="DSC00598o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2" y="6500"/>
              <a:ext cx="4125" cy="2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584" name="Rectangle 8"/>
          <p:cNvSpPr>
            <a:spLocks noChangeArrowheads="1"/>
          </p:cNvSpPr>
          <p:nvPr/>
        </p:nvSpPr>
        <p:spPr bwMode="auto">
          <a:xfrm>
            <a:off x="3352800" y="5638800"/>
            <a:ext cx="1627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t>合成篡改图像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5315D138-FA92-402F-8A89-6C2D365463CE}" type="slidenum">
              <a:rPr lang="en-US" altLang="zh-CN"/>
              <a:t>88</a:t>
            </a:fld>
            <a:endParaRPr lang="en-US" altLang="zh-CN"/>
          </a:p>
        </p:txBody>
      </p:sp>
      <p:sp>
        <p:nvSpPr>
          <p:cNvPr id="25602" name="Rectangle 2"/>
          <p:cNvSpPr>
            <a:spLocks noGrp="1" noChangeArrowheads="1"/>
          </p:cNvSpPr>
          <p:nvPr>
            <p:ph type="title"/>
          </p:nvPr>
        </p:nvSpPr>
        <p:spPr/>
        <p:txBody>
          <a:bodyPr/>
          <a:lstStyle/>
          <a:p>
            <a:endParaRPr lang="zh-CN" altLang="zh-CN"/>
          </a:p>
        </p:txBody>
      </p:sp>
      <p:sp>
        <p:nvSpPr>
          <p:cNvPr id="25603" name="Rectangle 3"/>
          <p:cNvSpPr>
            <a:spLocks noGrp="1" noChangeArrowheads="1"/>
          </p:cNvSpPr>
          <p:nvPr>
            <p:ph type="body" idx="1"/>
          </p:nvPr>
        </p:nvSpPr>
        <p:spPr/>
        <p:txBody>
          <a:bodyPr/>
          <a:lstStyle/>
          <a:p>
            <a:endParaRPr lang="zh-CN" altLang="zh-CN"/>
          </a:p>
        </p:txBody>
      </p:sp>
      <p:grpSp>
        <p:nvGrpSpPr>
          <p:cNvPr id="25604" name="Group 4"/>
          <p:cNvGrpSpPr/>
          <p:nvPr/>
        </p:nvGrpSpPr>
        <p:grpSpPr bwMode="auto">
          <a:xfrm>
            <a:off x="539552" y="1462088"/>
            <a:ext cx="7560840" cy="3414713"/>
            <a:chOff x="1888" y="1885"/>
            <a:chExt cx="8242" cy="3154"/>
          </a:xfrm>
        </p:grpSpPr>
        <p:pic>
          <p:nvPicPr>
            <p:cNvPr id="25605" name="Picture 5" descr="mice%20cream%20sour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8" y="1885"/>
              <a:ext cx="4037" cy="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6" descr="280349LqTP_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0" y="1920"/>
              <a:ext cx="3920" cy="3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07" name="Rectangle 7"/>
          <p:cNvSpPr>
            <a:spLocks noChangeArrowheads="1"/>
          </p:cNvSpPr>
          <p:nvPr/>
        </p:nvSpPr>
        <p:spPr bwMode="auto">
          <a:xfrm>
            <a:off x="2209800" y="5317302"/>
            <a:ext cx="5562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dirty="0"/>
              <a:t>worth1000</a:t>
            </a:r>
            <a:r>
              <a:rPr lang="zh-CN" altLang="en-US" dirty="0"/>
              <a:t>网站上的合成篡改图像及其图像源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F06AD27-2DB8-4696-BE43-209977B1DF5B}" type="slidenum">
              <a:rPr lang="en-US" altLang="zh-CN"/>
              <a:t>89</a:t>
            </a:fld>
            <a:endParaRPr lang="en-US" altLang="zh-CN"/>
          </a:p>
        </p:txBody>
      </p:sp>
      <p:sp>
        <p:nvSpPr>
          <p:cNvPr id="30722" name="Rectangle 2"/>
          <p:cNvSpPr>
            <a:spLocks noGrp="1" noChangeArrowheads="1"/>
          </p:cNvSpPr>
          <p:nvPr>
            <p:ph type="title"/>
          </p:nvPr>
        </p:nvSpPr>
        <p:spPr/>
        <p:txBody>
          <a:bodyPr/>
          <a:lstStyle/>
          <a:p>
            <a:endParaRPr lang="zh-CN" altLang="zh-CN"/>
          </a:p>
        </p:txBody>
      </p:sp>
      <p:sp>
        <p:nvSpPr>
          <p:cNvPr id="30723"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800" b="1" dirty="0">
                <a:solidFill>
                  <a:schemeClr val="accent1"/>
                </a:solidFill>
                <a:latin typeface="华文细黑" panose="02010600040101010101" pitchFamily="2" charset="-122"/>
                <a:ea typeface="华文细黑" panose="02010600040101010101" pitchFamily="2" charset="-122"/>
              </a:rPr>
              <a:t>变种</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把一幅图像逐渐变成另一幅图像的技术。采用的方法是，分别找出原图像和目标图像上对应的特征点，然后以不同的权重叠加两幅图像，这样得到的图像就兼有两幅图像的特征。</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通常动画设计和计算机图像的生成中会用到变种篡改。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A61FA48-4373-474F-8B5D-33A384A4D4D6}" type="slidenum">
              <a:rPr lang="en-US" altLang="zh-CN"/>
              <a:t>90</a:t>
            </a:fld>
            <a:endParaRPr lang="en-US" altLang="zh-CN"/>
          </a:p>
        </p:txBody>
      </p:sp>
      <p:sp>
        <p:nvSpPr>
          <p:cNvPr id="31746" name="Rectangle 2"/>
          <p:cNvSpPr>
            <a:spLocks noGrp="1" noChangeArrowheads="1"/>
          </p:cNvSpPr>
          <p:nvPr>
            <p:ph type="title"/>
          </p:nvPr>
        </p:nvSpPr>
        <p:spPr/>
        <p:txBody>
          <a:bodyPr/>
          <a:lstStyle/>
          <a:p>
            <a:endParaRPr lang="zh-CN" altLang="zh-CN"/>
          </a:p>
        </p:txBody>
      </p:sp>
      <p:sp>
        <p:nvSpPr>
          <p:cNvPr id="31747" name="Rectangle 3"/>
          <p:cNvSpPr>
            <a:spLocks noGrp="1" noChangeArrowheads="1"/>
          </p:cNvSpPr>
          <p:nvPr>
            <p:ph type="body" idx="1"/>
          </p:nvPr>
        </p:nvSpPr>
        <p:spPr/>
        <p:txBody>
          <a:bodyPr/>
          <a:lstStyle/>
          <a:p>
            <a:endParaRPr lang="zh-CN" altLang="zh-CN"/>
          </a:p>
        </p:txBody>
      </p:sp>
      <p:pic>
        <p:nvPicPr>
          <p:cNvPr id="317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49262"/>
            <a:ext cx="6840760" cy="531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Rectangle 5"/>
          <p:cNvSpPr>
            <a:spLocks noChangeArrowheads="1"/>
          </p:cNvSpPr>
          <p:nvPr/>
        </p:nvSpPr>
        <p:spPr bwMode="auto">
          <a:xfrm>
            <a:off x="4211960" y="6042025"/>
            <a:ext cx="1627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变种篡改图像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3B38FA4-49E8-4AF0-8780-F1992EAF7150}" type="slidenum">
              <a:rPr lang="en-US" altLang="zh-CN"/>
              <a:t>91</a:t>
            </a:fld>
            <a:endParaRPr lang="en-US" altLang="zh-CN"/>
          </a:p>
        </p:txBody>
      </p:sp>
      <p:sp>
        <p:nvSpPr>
          <p:cNvPr id="32770" name="Rectangle 2"/>
          <p:cNvSpPr>
            <a:spLocks noGrp="1" noChangeArrowheads="1"/>
          </p:cNvSpPr>
          <p:nvPr>
            <p:ph type="title"/>
          </p:nvPr>
        </p:nvSpPr>
        <p:spPr/>
        <p:txBody>
          <a:bodyPr/>
          <a:lstStyle/>
          <a:p>
            <a:endParaRPr lang="zh-CN" altLang="zh-CN"/>
          </a:p>
        </p:txBody>
      </p:sp>
      <p:sp>
        <p:nvSpPr>
          <p:cNvPr id="32771"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800" b="1" dirty="0">
                <a:solidFill>
                  <a:schemeClr val="accent1"/>
                </a:solidFill>
                <a:latin typeface="华文细黑" panose="02010600040101010101" pitchFamily="2" charset="-122"/>
                <a:ea typeface="华文细黑" panose="02010600040101010101" pitchFamily="2" charset="-122"/>
              </a:rPr>
              <a:t>润饰 </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图像润饰一般是图像处理专家采用的一种图像修补操作，它在艺术照相中会经常用到。</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润饰还经常用于图像篡改后的扫痕，如在复制粘贴操作后，用模糊润饰来扫除拼接边缘的痕迹。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6A0C6C70-CCFD-49E9-8213-1B6500A19346}" type="slidenum">
              <a:rPr lang="en-US" altLang="zh-CN"/>
              <a:t>92</a:t>
            </a:fld>
            <a:endParaRPr lang="en-US" altLang="zh-CN"/>
          </a:p>
        </p:txBody>
      </p:sp>
      <p:sp>
        <p:nvSpPr>
          <p:cNvPr id="33794" name="Rectangle 2"/>
          <p:cNvSpPr>
            <a:spLocks noGrp="1" noChangeArrowheads="1"/>
          </p:cNvSpPr>
          <p:nvPr>
            <p:ph type="title"/>
          </p:nvPr>
        </p:nvSpPr>
        <p:spPr/>
        <p:txBody>
          <a:bodyPr/>
          <a:lstStyle/>
          <a:p>
            <a:endParaRPr lang="zh-CN" altLang="zh-CN" dirty="0"/>
          </a:p>
        </p:txBody>
      </p:sp>
      <p:sp>
        <p:nvSpPr>
          <p:cNvPr id="33795" name="Rectangle 3"/>
          <p:cNvSpPr>
            <a:spLocks noGrp="1" noChangeArrowheads="1"/>
          </p:cNvSpPr>
          <p:nvPr>
            <p:ph type="body" idx="1"/>
          </p:nvPr>
        </p:nvSpPr>
        <p:spPr/>
        <p:txBody>
          <a:bodyPr/>
          <a:lstStyle/>
          <a:p>
            <a:endParaRPr lang="zh-CN" altLang="zh-CN" dirty="0"/>
          </a:p>
        </p:txBody>
      </p:sp>
      <p:grpSp>
        <p:nvGrpSpPr>
          <p:cNvPr id="33796" name="Group 4"/>
          <p:cNvGrpSpPr/>
          <p:nvPr/>
        </p:nvGrpSpPr>
        <p:grpSpPr bwMode="auto">
          <a:xfrm>
            <a:off x="395536" y="764704"/>
            <a:ext cx="7704856" cy="4013671"/>
            <a:chOff x="3597" y="3312"/>
            <a:chExt cx="5425" cy="3231"/>
          </a:xfrm>
        </p:grpSpPr>
        <p:pic>
          <p:nvPicPr>
            <p:cNvPr id="33797" name="Picture 5" descr="ma4qi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 y="3312"/>
              <a:ext cx="2556" cy="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6" descr="ma4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 y="3312"/>
              <a:ext cx="2545" cy="3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799" name="Rectangle 7"/>
          <p:cNvSpPr>
            <a:spLocks noChangeArrowheads="1"/>
          </p:cNvSpPr>
          <p:nvPr/>
        </p:nvSpPr>
        <p:spPr bwMode="auto">
          <a:xfrm>
            <a:off x="2133600" y="5181600"/>
            <a:ext cx="41417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原始图像（左）和润饰篡改图像（右）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FAC34D9-9239-455F-A6EE-5295613B0D33}" type="slidenum">
              <a:rPr lang="en-US" altLang="zh-CN"/>
              <a:t>93</a:t>
            </a:fld>
            <a:endParaRPr lang="en-US" altLang="zh-CN"/>
          </a:p>
        </p:txBody>
      </p:sp>
      <p:sp>
        <p:nvSpPr>
          <p:cNvPr id="34818" name="Rectangle 2"/>
          <p:cNvSpPr>
            <a:spLocks noGrp="1" noChangeArrowheads="1"/>
          </p:cNvSpPr>
          <p:nvPr>
            <p:ph type="title"/>
          </p:nvPr>
        </p:nvSpPr>
        <p:spPr/>
        <p:txBody>
          <a:bodyPr/>
          <a:lstStyle/>
          <a:p>
            <a:endParaRPr lang="zh-CN" altLang="zh-CN"/>
          </a:p>
        </p:txBody>
      </p:sp>
      <p:sp>
        <p:nvSpPr>
          <p:cNvPr id="34819" name="Rectangle 3"/>
          <p:cNvSpPr>
            <a:spLocks noGrp="1" noChangeArrowheads="1"/>
          </p:cNvSpPr>
          <p:nvPr>
            <p:ph type="body" idx="1"/>
          </p:nvPr>
        </p:nvSpPr>
        <p:spPr/>
        <p:txBody>
          <a:bodyPr/>
          <a:lstStyle/>
          <a:p>
            <a:endParaRPr lang="zh-CN" altLang="zh-CN" dirty="0"/>
          </a:p>
        </p:txBody>
      </p:sp>
      <p:pic>
        <p:nvPicPr>
          <p:cNvPr id="34820" name="Picture 4" descr="http://news.xinhuanet.com/newmedia/2008-04/01/xin_12204050111253591735861.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445398" y="764704"/>
            <a:ext cx="7818908"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5"/>
          <p:cNvSpPr>
            <a:spLocks noChangeArrowheads="1"/>
          </p:cNvSpPr>
          <p:nvPr/>
        </p:nvSpPr>
        <p:spPr bwMode="auto">
          <a:xfrm>
            <a:off x="3733800" y="5334000"/>
            <a:ext cx="1627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t>润饰篡改案例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204182C-E88A-491C-A62E-C72B399DDDA5}" type="slidenum">
              <a:rPr lang="en-US" altLang="zh-CN"/>
              <a:t>94</a:t>
            </a:fld>
            <a:endParaRPr lang="en-US" altLang="zh-CN"/>
          </a:p>
        </p:txBody>
      </p:sp>
      <p:sp>
        <p:nvSpPr>
          <p:cNvPr id="35842" name="Rectangle 2"/>
          <p:cNvSpPr>
            <a:spLocks noGrp="1" noChangeArrowheads="1"/>
          </p:cNvSpPr>
          <p:nvPr>
            <p:ph type="title"/>
          </p:nvPr>
        </p:nvSpPr>
        <p:spPr/>
        <p:txBody>
          <a:bodyPr/>
          <a:lstStyle/>
          <a:p>
            <a:endParaRPr lang="zh-CN" altLang="zh-CN"/>
          </a:p>
        </p:txBody>
      </p:sp>
      <p:sp>
        <p:nvSpPr>
          <p:cNvPr id="35843"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800" b="1" dirty="0">
                <a:solidFill>
                  <a:schemeClr val="accent1"/>
                </a:solidFill>
                <a:latin typeface="华文细黑" panose="02010600040101010101" pitchFamily="2" charset="-122"/>
                <a:ea typeface="华文细黑" panose="02010600040101010101" pitchFamily="2" charset="-122"/>
              </a:rPr>
              <a:t>增强 </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通过改变图像特定部分的颜色、对比度、背景等来着重突出图像某部分内容，这种操作虽然不能显著的改变图像内容，但是它可以模糊或者突出某些细节，或者改变照片的明暗程度等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1751BBC-7618-46B1-AA44-60042EF208E7}" type="slidenum">
              <a:rPr lang="en-US" altLang="zh-CN"/>
              <a:t>95</a:t>
            </a:fld>
            <a:endParaRPr lang="en-US" altLang="zh-CN"/>
          </a:p>
        </p:txBody>
      </p:sp>
      <p:sp>
        <p:nvSpPr>
          <p:cNvPr id="36866" name="Rectangle 2"/>
          <p:cNvSpPr>
            <a:spLocks noGrp="1" noChangeArrowheads="1"/>
          </p:cNvSpPr>
          <p:nvPr>
            <p:ph type="title"/>
          </p:nvPr>
        </p:nvSpPr>
        <p:spPr/>
        <p:txBody>
          <a:bodyPr/>
          <a:lstStyle/>
          <a:p>
            <a:endParaRPr lang="zh-CN" altLang="zh-CN"/>
          </a:p>
        </p:txBody>
      </p:sp>
      <p:sp>
        <p:nvSpPr>
          <p:cNvPr id="36867" name="Rectangle 3"/>
          <p:cNvSpPr>
            <a:spLocks noGrp="1" noChangeArrowheads="1"/>
          </p:cNvSpPr>
          <p:nvPr>
            <p:ph type="body" idx="1"/>
          </p:nvPr>
        </p:nvSpPr>
        <p:spPr/>
        <p:txBody>
          <a:bodyPr/>
          <a:lstStyle/>
          <a:p>
            <a:endParaRPr lang="zh-CN" altLang="zh-CN"/>
          </a:p>
        </p:txBody>
      </p:sp>
      <p:pic>
        <p:nvPicPr>
          <p:cNvPr id="36868" name="Picture 4" descr="meo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17588"/>
            <a:ext cx="6656784" cy="508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Rectangle 5"/>
          <p:cNvSpPr>
            <a:spLocks noChangeArrowheads="1"/>
          </p:cNvSpPr>
          <p:nvPr/>
        </p:nvSpPr>
        <p:spPr bwMode="auto">
          <a:xfrm>
            <a:off x="4038600" y="5562600"/>
            <a:ext cx="1627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t>增强篡改图像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605D14C9-2822-49EA-B863-B248FAF6594A}" type="slidenum">
              <a:rPr lang="en-US" altLang="zh-CN"/>
              <a:t>96</a:t>
            </a:fld>
            <a:endParaRPr lang="en-US" altLang="zh-CN"/>
          </a:p>
        </p:txBody>
      </p:sp>
      <p:sp>
        <p:nvSpPr>
          <p:cNvPr id="37891" name="Rectangle 3"/>
          <p:cNvSpPr>
            <a:spLocks noGrp="1" noChangeArrowheads="1"/>
          </p:cNvSpPr>
          <p:nvPr>
            <p:ph type="body" idx="1"/>
          </p:nvPr>
        </p:nvSpPr>
        <p:spPr>
          <a:xfrm>
            <a:off x="628814" y="548680"/>
            <a:ext cx="7887564" cy="5904656"/>
          </a:xfrm>
        </p:spPr>
        <p:txBody>
          <a:bodyPr>
            <a:normAutofit fontScale="92500" lnSpcReduction="20000"/>
          </a:bodyPr>
          <a:lstStyle/>
          <a:p>
            <a:pPr marL="0" indent="457200" algn="l">
              <a:lnSpc>
                <a:spcPct val="170000"/>
              </a:lnSpc>
              <a:spcBef>
                <a:spcPts val="600"/>
              </a:spcBef>
              <a:buSzTx/>
            </a:pPr>
            <a:r>
              <a:rPr lang="zh-CN" altLang="en-US" sz="3000" b="1" dirty="0">
                <a:solidFill>
                  <a:schemeClr val="accent1"/>
                </a:solidFill>
                <a:latin typeface="华文细黑" panose="02010600040101010101" pitchFamily="2" charset="-122"/>
                <a:ea typeface="华文细黑" panose="02010600040101010101" pitchFamily="2" charset="-122"/>
              </a:rPr>
              <a:t>计算机生成</a:t>
            </a:r>
          </a:p>
          <a:p>
            <a:pPr marL="594900" lvl="1" indent="-342900">
              <a:lnSpc>
                <a:spcPct val="170000"/>
              </a:lnSpc>
              <a:buFont typeface="Wingdings" panose="05000000000000000000" pitchFamily="2" charset="2"/>
              <a:buChar char="Ø"/>
            </a:pPr>
            <a:r>
              <a:rPr lang="zh-CN" altLang="en-US" sz="2400" dirty="0"/>
              <a:t>从产生机理来看，</a:t>
            </a:r>
            <a:r>
              <a:rPr lang="en-US" altLang="zh-CN" sz="2400" dirty="0"/>
              <a:t>photo</a:t>
            </a:r>
            <a:r>
              <a:rPr lang="zh-CN" altLang="en-US" sz="2400" dirty="0"/>
              <a:t>与</a:t>
            </a:r>
            <a:r>
              <a:rPr lang="en-US" altLang="zh-CN" sz="2400" dirty="0"/>
              <a:t>CG (computer generated)</a:t>
            </a:r>
            <a:r>
              <a:rPr lang="zh-CN" altLang="en-US" sz="2400" dirty="0"/>
              <a:t>还是有很多的不同的：</a:t>
            </a:r>
          </a:p>
          <a:p>
            <a:pPr marL="882900" lvl="2" indent="-288000">
              <a:lnSpc>
                <a:spcPct val="170000"/>
              </a:lnSpc>
            </a:pPr>
            <a:r>
              <a:rPr lang="en-US" altLang="zh-CN" sz="2250" dirty="0"/>
              <a:t>photo</a:t>
            </a:r>
            <a:r>
              <a:rPr lang="zh-CN" altLang="en-US" sz="2250" dirty="0"/>
              <a:t>是从真实世界投影到图像设备的传感器上形成的照片，形成过程非常复杂；</a:t>
            </a:r>
          </a:p>
          <a:p>
            <a:pPr marL="882900" lvl="2" indent="-288000">
              <a:lnSpc>
                <a:spcPct val="170000"/>
              </a:lnSpc>
            </a:pPr>
            <a:r>
              <a:rPr lang="en-US" altLang="zh-CN" sz="2250" dirty="0"/>
              <a:t>CG</a:t>
            </a:r>
            <a:r>
              <a:rPr lang="zh-CN" altLang="en-US" sz="2250" dirty="0"/>
              <a:t>图是通过许多基本的图像处理步骤来粗略模拟</a:t>
            </a:r>
            <a:r>
              <a:rPr lang="en-US" altLang="zh-CN" sz="2250" dirty="0"/>
              <a:t>photo</a:t>
            </a:r>
            <a:r>
              <a:rPr lang="zh-CN" altLang="en-US" sz="2250" dirty="0"/>
              <a:t>的形成过程而得来的，不管有多么逼真，总是机器而非自然的产物，它与自然的</a:t>
            </a:r>
            <a:r>
              <a:rPr lang="en-US" altLang="zh-CN" sz="2250" dirty="0"/>
              <a:t>photo</a:t>
            </a:r>
            <a:r>
              <a:rPr lang="zh-CN" altLang="en-US" sz="2250" dirty="0"/>
              <a:t>图在图像的统计特征上是会有一些差异的（如直方图的连续性，色彩数量，细小纹理的复杂程度等），这些差异被很多技术用来区分两种图像的重要信息。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AB68016-0979-4D51-A43D-D583A30295AE}" type="slidenum">
              <a:rPr lang="en-US" altLang="zh-CN"/>
              <a:t>97</a:t>
            </a:fld>
            <a:endParaRPr lang="en-US" altLang="zh-CN"/>
          </a:p>
        </p:txBody>
      </p:sp>
      <p:sp>
        <p:nvSpPr>
          <p:cNvPr id="38914" name="Rectangle 2"/>
          <p:cNvSpPr>
            <a:spLocks noGrp="1" noChangeArrowheads="1"/>
          </p:cNvSpPr>
          <p:nvPr>
            <p:ph type="title"/>
          </p:nvPr>
        </p:nvSpPr>
        <p:spPr/>
        <p:txBody>
          <a:bodyPr/>
          <a:lstStyle/>
          <a:p>
            <a:endParaRPr lang="zh-CN" altLang="zh-CN" dirty="0"/>
          </a:p>
        </p:txBody>
      </p:sp>
      <p:sp>
        <p:nvSpPr>
          <p:cNvPr id="38915" name="Rectangle 3"/>
          <p:cNvSpPr>
            <a:spLocks noGrp="1" noChangeArrowheads="1"/>
          </p:cNvSpPr>
          <p:nvPr>
            <p:ph type="body" idx="1"/>
          </p:nvPr>
        </p:nvSpPr>
        <p:spPr/>
        <p:txBody>
          <a:bodyPr/>
          <a:lstStyle/>
          <a:p>
            <a:endParaRPr lang="zh-CN" altLang="zh-CN" dirty="0"/>
          </a:p>
        </p:txBody>
      </p:sp>
      <p:pic>
        <p:nvPicPr>
          <p:cNvPr id="389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11225"/>
            <a:ext cx="853440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Rectangle 5"/>
          <p:cNvSpPr>
            <a:spLocks noChangeArrowheads="1"/>
          </p:cNvSpPr>
          <p:nvPr/>
        </p:nvSpPr>
        <p:spPr bwMode="auto">
          <a:xfrm>
            <a:off x="3200400" y="5257800"/>
            <a:ext cx="3117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a:t>Photo</a:t>
            </a:r>
            <a:r>
              <a:rPr lang="zh-CN" altLang="en-US"/>
              <a:t>与计算机生成图的对比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0F4784F-F2D8-4782-930F-80F48E047C6D}" type="slidenum">
              <a:rPr lang="en-US" altLang="zh-CN"/>
              <a:t>98</a:t>
            </a:fld>
            <a:endParaRPr lang="en-US" altLang="zh-CN"/>
          </a:p>
        </p:txBody>
      </p:sp>
      <p:sp>
        <p:nvSpPr>
          <p:cNvPr id="39939" name="Rectangle 3"/>
          <p:cNvSpPr>
            <a:spLocks noGrp="1" noChangeArrowheads="1"/>
          </p:cNvSpPr>
          <p:nvPr>
            <p:ph type="body" idx="1"/>
          </p:nvPr>
        </p:nvSpPr>
        <p:spPr>
          <a:xfrm>
            <a:off x="628814" y="764704"/>
            <a:ext cx="7887564" cy="5412259"/>
          </a:xfrm>
        </p:spPr>
        <p:txBody>
          <a:bodyPr>
            <a:normAutofit fontScale="90000" lnSpcReduction="10000"/>
          </a:bodyPr>
          <a:lstStyle/>
          <a:p>
            <a:pPr marL="0" indent="457200" algn="l">
              <a:lnSpc>
                <a:spcPct val="150000"/>
              </a:lnSpc>
              <a:spcBef>
                <a:spcPts val="600"/>
              </a:spcBef>
              <a:buSzTx/>
            </a:pPr>
            <a:r>
              <a:rPr lang="zh-CN" altLang="en-US" sz="3100" b="1" dirty="0">
                <a:solidFill>
                  <a:schemeClr val="accent1"/>
                </a:solidFill>
                <a:latin typeface="华文细黑" panose="02010600040101010101" pitchFamily="2" charset="-122"/>
                <a:ea typeface="华文细黑" panose="02010600040101010101" pitchFamily="2" charset="-122"/>
              </a:rPr>
              <a:t>绘画 </a:t>
            </a:r>
          </a:p>
          <a:p>
            <a:pPr marL="0" lvl="1" indent="558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专业人员或者艺术家利用图像处理软件进行图像制作，这类图像往往跟真实场景的照片有较大差别，不会引起混淆。</a:t>
            </a:r>
          </a:p>
          <a:p>
            <a:pPr marL="0" lvl="1" indent="558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但是，由于目前扫描仪的精度越来越高，某些绘画或者打印制品经过扫描后所得到的数字图像也与自然图像或者计算机生成图像难以区分。</a:t>
            </a:r>
          </a:p>
          <a:p>
            <a:pPr marL="0" lvl="1" indent="558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而且人脸及指纹识别系统也应该具有识别自然生理特征图像和经过打印扫描之后的生理特征图像的能力，所以对绘画图像的识别也与计算机图像和自然图像的识别一样，应该纳入到数字图像取证的范围中来。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3B7DB5D-FEA3-4A53-9C0B-556B84ADE6F2}" type="slidenum">
              <a:rPr lang="en-US" altLang="zh-CN"/>
              <a:t>99</a:t>
            </a:fld>
            <a:endParaRPr lang="en-US" altLang="zh-CN"/>
          </a:p>
        </p:txBody>
      </p:sp>
      <p:sp>
        <p:nvSpPr>
          <p:cNvPr id="40962" name="Rectangle 2"/>
          <p:cNvSpPr>
            <a:spLocks noGrp="1" noChangeArrowheads="1"/>
          </p:cNvSpPr>
          <p:nvPr>
            <p:ph type="title"/>
          </p:nvPr>
        </p:nvSpPr>
        <p:spPr/>
        <p:txBody>
          <a:bodyPr/>
          <a:lstStyle/>
          <a:p>
            <a:endParaRPr lang="zh-CN" altLang="zh-CN"/>
          </a:p>
        </p:txBody>
      </p:sp>
      <p:sp>
        <p:nvSpPr>
          <p:cNvPr id="40963" name="Rectangle 3"/>
          <p:cNvSpPr>
            <a:spLocks noGrp="1" noChangeArrowheads="1"/>
          </p:cNvSpPr>
          <p:nvPr>
            <p:ph type="body" idx="1"/>
          </p:nvPr>
        </p:nvSpPr>
        <p:spPr/>
        <p:txBody>
          <a:bodyPr/>
          <a:lstStyle/>
          <a:p>
            <a:endParaRPr lang="zh-CN" altLang="zh-CN"/>
          </a:p>
        </p:txBody>
      </p:sp>
      <p:pic>
        <p:nvPicPr>
          <p:cNvPr id="40964" name="Picture 4" descr="pa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869449"/>
            <a:ext cx="8208912" cy="3797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5"/>
          <p:cNvSpPr>
            <a:spLocks noChangeArrowheads="1"/>
          </p:cNvSpPr>
          <p:nvPr/>
        </p:nvSpPr>
        <p:spPr bwMode="auto">
          <a:xfrm>
            <a:off x="2590800" y="4876800"/>
            <a:ext cx="41417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数字照片（左）和绘画图像（右）对比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60E43D9-F9C9-4083-84CC-1049D87220B6}" type="slidenum">
              <a:rPr lang="en-US" altLang="zh-CN"/>
              <a:t>100</a:t>
            </a:fld>
            <a:endParaRPr lang="en-US" altLang="zh-CN"/>
          </a:p>
        </p:txBody>
      </p:sp>
      <p:sp>
        <p:nvSpPr>
          <p:cNvPr id="41986" name="Rectangle 2"/>
          <p:cNvSpPr>
            <a:spLocks noGrp="1" noChangeArrowheads="1"/>
          </p:cNvSpPr>
          <p:nvPr>
            <p:ph type="title"/>
          </p:nvPr>
        </p:nvSpPr>
        <p:spPr/>
        <p:txBody>
          <a:bodyPr/>
          <a:lstStyle/>
          <a:p>
            <a:r>
              <a:rPr lang="en-US" altLang="zh-CN" sz="3200" b="1" dirty="0"/>
              <a:t>2</a:t>
            </a:r>
            <a:r>
              <a:rPr lang="zh-CN" altLang="en-US" sz="3200" b="1" dirty="0"/>
              <a:t>、数字图像完整性篡改 </a:t>
            </a:r>
          </a:p>
        </p:txBody>
      </p:sp>
      <p:sp>
        <p:nvSpPr>
          <p:cNvPr id="41987" name="Rectangle 3"/>
          <p:cNvSpPr>
            <a:spLocks noGrp="1" noChangeArrowheads="1"/>
          </p:cNvSpPr>
          <p:nvPr>
            <p:ph type="body" idx="1"/>
          </p:nvPr>
        </p:nvSpPr>
        <p:spPr/>
        <p:txBody>
          <a:bodyPr>
            <a:normAutofit/>
          </a:bodyPr>
          <a:lstStyle/>
          <a:p>
            <a:pPr indent="-504000">
              <a:lnSpc>
                <a:spcPct val="150000"/>
              </a:lnSpc>
            </a:pPr>
            <a:r>
              <a:rPr lang="zh-CN" altLang="en-US" sz="2400" b="1" dirty="0">
                <a:latin typeface="华文细黑" panose="02010600040101010101" pitchFamily="2" charset="-122"/>
                <a:ea typeface="华文细黑" panose="02010600040101010101" pitchFamily="2" charset="-122"/>
              </a:rPr>
              <a:t>对数字图像数据完整性的篡改</a:t>
            </a:r>
            <a:r>
              <a:rPr lang="zh-CN" altLang="en-US" sz="2400" dirty="0"/>
              <a:t> </a:t>
            </a:r>
          </a:p>
        </p:txBody>
      </p:sp>
      <p:sp>
        <p:nvSpPr>
          <p:cNvPr id="5" name="Rectangle 3">
            <a:extLst>
              <a:ext uri="{FF2B5EF4-FFF2-40B4-BE49-F238E27FC236}">
                <a16:creationId xmlns:a16="http://schemas.microsoft.com/office/drawing/2014/main" id="{FC3BEB50-BC9A-4DDF-8448-4768323DC1A8}"/>
              </a:ext>
            </a:extLst>
          </p:cNvPr>
          <p:cNvSpPr txBox="1">
            <a:spLocks noChangeArrowheads="1"/>
          </p:cNvSpPr>
          <p:nvPr/>
        </p:nvSpPr>
        <p:spPr>
          <a:xfrm>
            <a:off x="539552" y="2132856"/>
            <a:ext cx="7887564" cy="1379811"/>
          </a:xfrm>
          <a:prstGeom prst="rect">
            <a:avLst/>
          </a:prstGeom>
        </p:spPr>
        <p:txBody>
          <a:bodyPr vert="horz" lIns="91440" tIns="45720" rIns="91440" bIns="45720" rtlCol="0">
            <a:normAutofit/>
          </a:bodyPr>
          <a:lst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558000" fontAlgn="auto">
              <a:lnSpc>
                <a:spcPct val="150000"/>
              </a:lnSpc>
              <a:spcBef>
                <a:spcPts val="600"/>
              </a:spcBef>
              <a:spcAft>
                <a:spcPts val="0"/>
              </a:spcAft>
              <a:buFont typeface="Wingdings" panose="05000000000000000000" pitchFamily="2" charset="2"/>
              <a:buNone/>
            </a:pPr>
            <a:r>
              <a:rPr lang="zh-CN" altLang="en-US" sz="2000" b="0" dirty="0"/>
              <a:t>圣安尼奥河的画中利用河边小草的长短对应电报中摩尔斯码的点和划，隐藏了一封密信。 </a:t>
            </a:r>
          </a:p>
        </p:txBody>
      </p:sp>
      <p:pic>
        <p:nvPicPr>
          <p:cNvPr id="6" name="Picture 4" descr="圣安尼奥河的画1">
            <a:extLst>
              <a:ext uri="{FF2B5EF4-FFF2-40B4-BE49-F238E27FC236}">
                <a16:creationId xmlns:a16="http://schemas.microsoft.com/office/drawing/2014/main" id="{6776E3BD-9DB0-420F-A400-0B0D7DD2E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996952"/>
            <a:ext cx="5251648" cy="346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4403A99-F2AC-4E3F-A642-0254F115ED11}" type="slidenum">
              <a:rPr lang="en-US" altLang="zh-CN"/>
              <a:t>101</a:t>
            </a:fld>
            <a:endParaRPr lang="en-US" altLang="zh-CN"/>
          </a:p>
        </p:txBody>
      </p:sp>
      <p:sp>
        <p:nvSpPr>
          <p:cNvPr id="44034" name="Rectangle 2"/>
          <p:cNvSpPr>
            <a:spLocks noGrp="1" noChangeArrowheads="1"/>
          </p:cNvSpPr>
          <p:nvPr>
            <p:ph type="title"/>
          </p:nvPr>
        </p:nvSpPr>
        <p:spPr/>
        <p:txBody>
          <a:bodyPr/>
          <a:lstStyle/>
          <a:p>
            <a:endParaRPr lang="zh-CN" altLang="zh-CN"/>
          </a:p>
        </p:txBody>
      </p:sp>
      <p:sp>
        <p:nvSpPr>
          <p:cNvPr id="44035" name="Rectangle 3"/>
          <p:cNvSpPr>
            <a:spLocks noGrp="1" noChangeArrowheads="1"/>
          </p:cNvSpPr>
          <p:nvPr>
            <p:ph type="body" idx="1"/>
          </p:nvPr>
        </p:nvSpPr>
        <p:spPr/>
        <p:txBody>
          <a:bodyPr/>
          <a:lstStyle/>
          <a:p>
            <a:pPr marL="0" indent="558000">
              <a:lnSpc>
                <a:spcPct val="150000"/>
              </a:lnSpc>
              <a:spcBef>
                <a:spcPts val="600"/>
              </a:spcBef>
              <a:buNone/>
            </a:pPr>
            <a:r>
              <a:rPr lang="zh-CN" altLang="en-US" sz="2000" dirty="0"/>
              <a:t>著名小说</a:t>
            </a:r>
            <a:r>
              <a:rPr lang="en-US" altLang="zh-CN" sz="2000" dirty="0"/>
              <a:t>《</a:t>
            </a:r>
            <a:r>
              <a:rPr lang="zh-CN" altLang="en-US" sz="2000" dirty="0"/>
              <a:t>福尔摩斯探案集</a:t>
            </a:r>
            <a:r>
              <a:rPr lang="en-US" altLang="zh-CN" sz="2000" dirty="0"/>
              <a:t>》</a:t>
            </a:r>
            <a:r>
              <a:rPr lang="zh-CN" altLang="en-US" sz="2000" dirty="0"/>
              <a:t>中的跳舞的小人，则利用跳舞小人的各异姿势代表不同的字母，根据概率计算，其中挥动小旗的跳舞人代表二十六个英文字母中的最常用字母“</a:t>
            </a:r>
            <a:r>
              <a:rPr lang="en-US" altLang="zh-CN" sz="2000" dirty="0"/>
              <a:t>e</a:t>
            </a:r>
            <a:r>
              <a:rPr lang="zh-CN" altLang="en-US" sz="2000" dirty="0"/>
              <a:t>”。</a:t>
            </a:r>
            <a:endParaRPr lang="en-US" altLang="zh-CN" sz="2000" dirty="0"/>
          </a:p>
        </p:txBody>
      </p:sp>
      <p:pic>
        <p:nvPicPr>
          <p:cNvPr id="44036" name="Picture 4" descr="Scherlock Holmes跳舞人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429000"/>
            <a:ext cx="7620000"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0B0F92F-F347-40C9-9002-0B5490F1294E}" type="slidenum">
              <a:rPr lang="en-US" altLang="zh-CN"/>
              <a:t>102</a:t>
            </a:fld>
            <a:endParaRPr lang="en-US" altLang="zh-CN"/>
          </a:p>
        </p:txBody>
      </p:sp>
      <p:sp>
        <p:nvSpPr>
          <p:cNvPr id="45058" name="Rectangle 2"/>
          <p:cNvSpPr>
            <a:spLocks noGrp="1" noChangeArrowheads="1"/>
          </p:cNvSpPr>
          <p:nvPr>
            <p:ph type="title"/>
          </p:nvPr>
        </p:nvSpPr>
        <p:spPr/>
        <p:txBody>
          <a:bodyPr/>
          <a:lstStyle/>
          <a:p>
            <a:endParaRPr lang="zh-CN" altLang="zh-CN"/>
          </a:p>
        </p:txBody>
      </p:sp>
      <p:sp>
        <p:nvSpPr>
          <p:cNvPr id="45059" name="Rectangle 3"/>
          <p:cNvSpPr>
            <a:spLocks noGrp="1" noChangeArrowheads="1"/>
          </p:cNvSpPr>
          <p:nvPr>
            <p:ph type="body" idx="1"/>
          </p:nvPr>
        </p:nvSpPr>
        <p:spPr/>
        <p:txBody>
          <a:bodyPr/>
          <a:lstStyle/>
          <a:p>
            <a:endParaRPr lang="zh-CN" altLang="zh-CN"/>
          </a:p>
        </p:txBody>
      </p:sp>
      <p:pic>
        <p:nvPicPr>
          <p:cNvPr id="450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658" y="740952"/>
            <a:ext cx="8404806" cy="430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Rectangle 5"/>
          <p:cNvSpPr>
            <a:spLocks noChangeArrowheads="1"/>
          </p:cNvSpPr>
          <p:nvPr/>
        </p:nvSpPr>
        <p:spPr bwMode="auto">
          <a:xfrm>
            <a:off x="3352800" y="5562600"/>
            <a:ext cx="2460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图像数据</a:t>
            </a:r>
            <a:r>
              <a:rPr lang="en-US" altLang="zh-CN" dirty="0"/>
              <a:t>LSB</a:t>
            </a:r>
            <a:r>
              <a:rPr lang="zh-CN" altLang="en-US" dirty="0"/>
              <a:t>嵌入示例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0EBE39E-7B2D-470F-A8FE-5F16506A37B5}" type="slidenum">
              <a:rPr lang="en-US" altLang="zh-CN"/>
              <a:t>103</a:t>
            </a:fld>
            <a:endParaRPr lang="en-US" altLang="zh-CN"/>
          </a:p>
        </p:txBody>
      </p:sp>
      <p:sp>
        <p:nvSpPr>
          <p:cNvPr id="46082" name="Rectangle 2"/>
          <p:cNvSpPr>
            <a:spLocks noGrp="1" noChangeArrowheads="1"/>
          </p:cNvSpPr>
          <p:nvPr>
            <p:ph type="title"/>
          </p:nvPr>
        </p:nvSpPr>
        <p:spPr/>
        <p:txBody>
          <a:bodyPr/>
          <a:lstStyle/>
          <a:p>
            <a:pPr marL="838200" indent="-838200"/>
            <a:r>
              <a:rPr lang="en-US" altLang="zh-CN" sz="3200" b="1" dirty="0"/>
              <a:t>3</a:t>
            </a:r>
            <a:r>
              <a:rPr lang="zh-CN" altLang="en-US" sz="3200" b="1" dirty="0"/>
              <a:t>、数字图像原始性篡改</a:t>
            </a:r>
          </a:p>
        </p:txBody>
      </p:sp>
      <p:sp>
        <p:nvSpPr>
          <p:cNvPr id="46083" name="Rectangle 3"/>
          <p:cNvSpPr>
            <a:spLocks noGrp="1" noChangeArrowheads="1"/>
          </p:cNvSpPr>
          <p:nvPr>
            <p:ph type="body" idx="1"/>
          </p:nvPr>
        </p:nvSpPr>
        <p:spPr/>
        <p:txBody>
          <a:bodyPr/>
          <a:lstStyle/>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随着时代的进步，数字图像已经大量应用于新闻报道、科学研究、保险申诉调查、犯罪调查以及情报分析等重要领域，这就要求数字照片所拍摄反应的场景是真实世界的场景，而不是照片或图像等虚拟世界的成像，或为photoshop等图像处理软件处理后的结果。</a:t>
            </a: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对数字图像所拍摄场景的真实性和原始性的认证就成了我们数字取证的首要任务。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7C8F4F7D-0D54-4683-8F9B-35C0D4301013}" type="slidenum">
              <a:rPr lang="en-US" altLang="zh-CN"/>
              <a:t>104</a:t>
            </a:fld>
            <a:endParaRPr lang="en-US" altLang="zh-CN"/>
          </a:p>
        </p:txBody>
      </p:sp>
      <p:sp>
        <p:nvSpPr>
          <p:cNvPr id="47107" name="Rectangle 3"/>
          <p:cNvSpPr>
            <a:spLocks noGrp="1" noChangeArrowheads="1"/>
          </p:cNvSpPr>
          <p:nvPr>
            <p:ph type="body" idx="1"/>
          </p:nvPr>
        </p:nvSpPr>
        <p:spPr>
          <a:xfrm>
            <a:off x="628814" y="980728"/>
            <a:ext cx="7831618" cy="5196235"/>
          </a:xfrm>
        </p:spPr>
        <p:txBody>
          <a:bodyPr/>
          <a:lstStyle/>
          <a:p>
            <a:pPr marL="432000" indent="-432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数字图像原始性篡改指的是二次获取图像，即数字图像再经过一次数字获取处理后形成的新的数字图像，二次获取图像是相对于“现场”图像而言的。</a:t>
            </a:r>
          </a:p>
          <a:p>
            <a:pPr marL="432000" indent="-432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“现场”图像——景物内容经过一次图像获取设备获得。</a:t>
            </a:r>
          </a:p>
          <a:p>
            <a:pPr marL="432000" indent="-432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“二次获取”图像——景物内容经过两次以上图像获取设备获得，如照片的扫描图，照片的照片。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CC0CCFD-C07D-4037-B24B-E2EF2CEEA42C}" type="slidenum">
              <a:rPr lang="en-US" altLang="zh-CN"/>
              <a:t>105</a:t>
            </a:fld>
            <a:endParaRPr lang="en-US" altLang="zh-CN"/>
          </a:p>
        </p:txBody>
      </p:sp>
      <p:sp>
        <p:nvSpPr>
          <p:cNvPr id="48130" name="Rectangle 2"/>
          <p:cNvSpPr>
            <a:spLocks noGrp="1" noChangeArrowheads="1"/>
          </p:cNvSpPr>
          <p:nvPr>
            <p:ph type="title"/>
          </p:nvPr>
        </p:nvSpPr>
        <p:spPr/>
        <p:txBody>
          <a:bodyPr/>
          <a:lstStyle/>
          <a:p>
            <a:endParaRPr lang="zh-CN" altLang="zh-CN"/>
          </a:p>
        </p:txBody>
      </p:sp>
      <p:sp>
        <p:nvSpPr>
          <p:cNvPr id="48131" name="Rectangle 3"/>
          <p:cNvSpPr>
            <a:spLocks noGrp="1" noChangeArrowheads="1"/>
          </p:cNvSpPr>
          <p:nvPr>
            <p:ph type="body" idx="1"/>
          </p:nvPr>
        </p:nvSpPr>
        <p:spPr/>
        <p:txBody>
          <a:bodyPr/>
          <a:lstStyle/>
          <a:p>
            <a:endParaRPr lang="zh-CN" altLang="zh-CN" dirty="0"/>
          </a:p>
        </p:txBody>
      </p:sp>
      <p:grpSp>
        <p:nvGrpSpPr>
          <p:cNvPr id="48132" name="Group 4"/>
          <p:cNvGrpSpPr/>
          <p:nvPr/>
        </p:nvGrpSpPr>
        <p:grpSpPr bwMode="auto">
          <a:xfrm>
            <a:off x="1447800" y="1066800"/>
            <a:ext cx="6172200" cy="3124200"/>
            <a:chOff x="1797" y="1440"/>
            <a:chExt cx="8197" cy="4697"/>
          </a:xfrm>
        </p:grpSpPr>
        <p:pic>
          <p:nvPicPr>
            <p:cNvPr id="48133" name="Picture 5" descr="baby7okqingx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7" y="1440"/>
              <a:ext cx="4065" cy="4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6" descr="baby9okmohu2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 y="1440"/>
              <a:ext cx="4054" cy="4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135" name="Rectangle 7"/>
          <p:cNvSpPr>
            <a:spLocks noChangeArrowheads="1"/>
          </p:cNvSpPr>
          <p:nvPr/>
        </p:nvSpPr>
        <p:spPr bwMode="auto">
          <a:xfrm>
            <a:off x="1219200" y="4648200"/>
            <a:ext cx="7113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分辨率较高的原始照片（左）和经打印后扫描的二次获取图像（右）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7D590F4C-4CC3-4CB8-9916-1113883AC225}" type="slidenum">
              <a:rPr lang="en-US" altLang="zh-CN"/>
              <a:t>106</a:t>
            </a:fld>
            <a:endParaRPr lang="en-US" altLang="zh-CN"/>
          </a:p>
        </p:txBody>
      </p:sp>
      <p:sp>
        <p:nvSpPr>
          <p:cNvPr id="50178" name="Rectangle 2"/>
          <p:cNvSpPr>
            <a:spLocks noGrp="1" noChangeArrowheads="1"/>
          </p:cNvSpPr>
          <p:nvPr>
            <p:ph type="title"/>
          </p:nvPr>
        </p:nvSpPr>
        <p:spPr/>
        <p:txBody>
          <a:bodyPr/>
          <a:lstStyle/>
          <a:p>
            <a:endParaRPr lang="zh-CN" altLang="zh-CN"/>
          </a:p>
        </p:txBody>
      </p:sp>
      <p:sp>
        <p:nvSpPr>
          <p:cNvPr id="50179" name="Rectangle 3"/>
          <p:cNvSpPr>
            <a:spLocks noGrp="1" noChangeArrowheads="1"/>
          </p:cNvSpPr>
          <p:nvPr>
            <p:ph type="body" idx="1"/>
          </p:nvPr>
        </p:nvSpPr>
        <p:spPr/>
        <p:txBody>
          <a:bodyPr/>
          <a:lstStyle/>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自2007年10月至今一直受大众关注的华南虎照事件就属于数字图像原始性篡改取证范围，其取证的主要焦点在于数码华南虎照是否经过了二次获取，即虎照的原始现场是平面虎还是立体虎的问题。</a:t>
            </a:r>
            <a:endParaRPr lang="en-US" altLang="zh-CN" sz="24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rPr>
              <a:t>周正龙当时拍摄原始素材据说是一幅年画。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91742C5-18BF-4F3F-A9B8-ADB00ABB5B45}" type="slidenum">
              <a:rPr lang="en-US" altLang="zh-CN"/>
              <a:t>107</a:t>
            </a:fld>
            <a:endParaRPr lang="en-US" altLang="zh-CN"/>
          </a:p>
        </p:txBody>
      </p:sp>
      <p:sp>
        <p:nvSpPr>
          <p:cNvPr id="51202" name="Rectangle 2"/>
          <p:cNvSpPr>
            <a:spLocks noGrp="1" noChangeArrowheads="1"/>
          </p:cNvSpPr>
          <p:nvPr>
            <p:ph type="title"/>
          </p:nvPr>
        </p:nvSpPr>
        <p:spPr/>
        <p:txBody>
          <a:bodyPr/>
          <a:lstStyle/>
          <a:p>
            <a:r>
              <a:rPr lang="en-US" altLang="zh-CN" sz="3200" b="1" dirty="0"/>
              <a:t>4</a:t>
            </a:r>
            <a:r>
              <a:rPr lang="zh-CN" altLang="en-US" sz="3200" b="1" dirty="0"/>
              <a:t>、数字图像版权篡改 </a:t>
            </a:r>
          </a:p>
        </p:txBody>
      </p:sp>
      <p:sp>
        <p:nvSpPr>
          <p:cNvPr id="51203" name="Rectangle 3"/>
          <p:cNvSpPr>
            <a:spLocks noGrp="1" noChangeArrowheads="1"/>
          </p:cNvSpPr>
          <p:nvPr>
            <p:ph type="body" idx="1"/>
          </p:nvPr>
        </p:nvSpPr>
        <p:spPr/>
        <p:txBody>
          <a:bodyPr/>
          <a:lstStyle/>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主要改变的是图像的版权等一些额外附加信息，而并不改变图像内容信息和图像像素数据信息。</a:t>
            </a:r>
          </a:p>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相对这类篡改的取证主要依赖数字水印、数字指纹等事先向图像中先嵌入信息的主动取证技术。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E9A938E-BBC3-42BB-988A-A6AA51958C99}" type="slidenum">
              <a:rPr lang="en-US" altLang="zh-CN"/>
              <a:t>108</a:t>
            </a:fld>
            <a:endParaRPr lang="en-US" altLang="zh-CN"/>
          </a:p>
        </p:txBody>
      </p:sp>
      <p:sp>
        <p:nvSpPr>
          <p:cNvPr id="52226" name="Rectangle 2"/>
          <p:cNvSpPr>
            <a:spLocks noGrp="1" noChangeArrowheads="1"/>
          </p:cNvSpPr>
          <p:nvPr>
            <p:ph type="title"/>
          </p:nvPr>
        </p:nvSpPr>
        <p:spPr/>
        <p:txBody>
          <a:bodyPr/>
          <a:lstStyle/>
          <a:p>
            <a:r>
              <a:rPr lang="zh-CN" altLang="en-US" sz="3200" b="1" dirty="0"/>
              <a:t>三、数字图像盲取证 </a:t>
            </a:r>
          </a:p>
        </p:txBody>
      </p:sp>
      <p:sp>
        <p:nvSpPr>
          <p:cNvPr id="52227" name="Rectangle 3"/>
          <p:cNvSpPr>
            <a:spLocks noGrp="1" noChangeArrowheads="1"/>
          </p:cNvSpPr>
          <p:nvPr>
            <p:ph type="body" idx="1"/>
          </p:nvPr>
        </p:nvSpPr>
        <p:spPr>
          <a:xfrm>
            <a:off x="628814" y="1462088"/>
            <a:ext cx="7887564" cy="5029199"/>
          </a:xfrm>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什么是数字图像盲取证？</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数字图像盲取证（Blind Digital Image Forensics）是指在不依赖任何预签名提取或预嵌入信息的前提下，对图像的真伪和来源进行鉴别和取证。</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尽管多数篡改都不会引起人们视觉上的怀疑，但是图像篡改会不可避免的引起图像统计特性上的变化。</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图像取证技术通过检测图像统计特性的变化，来判断图像的原始性、真实性和完整性。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2EC0A3E-8321-48F3-B71D-E982FDBFE61B}" type="slidenum">
              <a:rPr lang="en-US" altLang="zh-CN"/>
              <a:t>109</a:t>
            </a:fld>
            <a:endParaRPr lang="en-US" altLang="zh-CN"/>
          </a:p>
        </p:txBody>
      </p:sp>
      <p:sp>
        <p:nvSpPr>
          <p:cNvPr id="53250" name="Rectangle 2"/>
          <p:cNvSpPr>
            <a:spLocks noGrp="1" noChangeArrowheads="1"/>
          </p:cNvSpPr>
          <p:nvPr>
            <p:ph type="title"/>
          </p:nvPr>
        </p:nvSpPr>
        <p:spPr/>
        <p:txBody>
          <a:bodyPr/>
          <a:lstStyle/>
          <a:p>
            <a:r>
              <a:rPr lang="zh-CN" altLang="en-US" sz="3200" b="1" dirty="0"/>
              <a:t>三、数字图像盲取证</a:t>
            </a:r>
            <a:endParaRPr lang="zh-CN" altLang="en-US" sz="3200" dirty="0"/>
          </a:p>
        </p:txBody>
      </p:sp>
      <p:sp>
        <p:nvSpPr>
          <p:cNvPr id="53251" name="Rectangle 3"/>
          <p:cNvSpPr>
            <a:spLocks noGrp="1" noChangeArrowheads="1"/>
          </p:cNvSpPr>
          <p:nvPr>
            <p:ph type="body" idx="1"/>
          </p:nvPr>
        </p:nvSpPr>
        <p:spPr/>
        <p:txBody>
          <a:bodyPr>
            <a:normAutofit fontScale="97500"/>
          </a:bodyPr>
          <a:lstStyle/>
          <a:p>
            <a:pPr marL="0" indent="457200" algn="l">
              <a:lnSpc>
                <a:spcPct val="150000"/>
              </a:lnSpc>
              <a:spcBef>
                <a:spcPts val="600"/>
              </a:spcBef>
              <a:buSzTx/>
            </a:pPr>
            <a:r>
              <a:rPr lang="zh-CN" altLang="en-US" sz="2500" b="1" dirty="0">
                <a:latin typeface="华文细黑" panose="02010600040101010101" pitchFamily="2" charset="-122"/>
                <a:ea typeface="华文细黑" panose="02010600040101010101" pitchFamily="2" charset="-122"/>
              </a:rPr>
              <a:t>数字图像盲取证要回答的问题包括：</a:t>
            </a:r>
          </a:p>
          <a:p>
            <a:pPr marL="0" lvl="1" indent="5580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这幅是否“原始”图像？还是被某种篡改伪造手段处理后的图像？如果它是被篡改伪造的图像，是被哪种手段篡改的？</a:t>
            </a:r>
          </a:p>
          <a:p>
            <a:pPr marL="0" lvl="1" indent="5580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这幅图像是如何产生的？是相机拍摄的，还是计算机生成的，还是从其他图像复制粘贴而来？如果是相机拍摄的，又是由哪种类型的相机拍摄的，什么时候，在哪儿拍摄的？</a:t>
            </a:r>
          </a:p>
          <a:p>
            <a:pPr marL="0" lvl="1" indent="5580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这幅图像是完整的吗？是否被嵌入了看不见的秘密信息？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CC03004-7FBB-4205-AF83-1F92125A51F4}" type="slidenum">
              <a:rPr lang="en-US" altLang="zh-CN"/>
              <a:t>110</a:t>
            </a:fld>
            <a:endParaRPr lang="en-US" altLang="zh-CN"/>
          </a:p>
        </p:txBody>
      </p:sp>
      <p:sp>
        <p:nvSpPr>
          <p:cNvPr id="54274" name="Rectangle 2"/>
          <p:cNvSpPr>
            <a:spLocks noGrp="1" noChangeArrowheads="1"/>
          </p:cNvSpPr>
          <p:nvPr>
            <p:ph type="title"/>
          </p:nvPr>
        </p:nvSpPr>
        <p:spPr/>
        <p:txBody>
          <a:bodyPr/>
          <a:lstStyle/>
          <a:p>
            <a:r>
              <a:rPr lang="zh-CN" altLang="en-US" sz="3200" b="1" dirty="0"/>
              <a:t>三、数字图像盲取证</a:t>
            </a:r>
            <a:endParaRPr lang="zh-CN" altLang="zh-CN" sz="3200" dirty="0"/>
          </a:p>
        </p:txBody>
      </p:sp>
      <p:sp>
        <p:nvSpPr>
          <p:cNvPr id="54275" name="Rectangle 3"/>
          <p:cNvSpPr>
            <a:spLocks noGrp="1" noChangeArrowheads="1"/>
          </p:cNvSpPr>
          <p:nvPr>
            <p:ph type="body" idx="1"/>
          </p:nvPr>
        </p:nvSpPr>
        <p:spPr/>
        <p:txBody>
          <a:bodyPr>
            <a:normAutofit/>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数字图像盲取证技术的分类：</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图像内容真实性鉴别（也称为防伪检测）：判断数字图像在最初获取之后是否遭受了任何形式的修改或处理。</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图像来源鉴别：判断生成图像的获取设备。这一类技术将图像与一系列具有共同特性的像源联系起来，以便于将图像匹配给某一类型的来源设备。</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图像隐密分析取证：针对图像的完整性篡改（隐写术）进行取证本是信息安全技术的一个分支。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00DCF08-1712-4F07-ADC8-7FBC498A7222}" type="slidenum">
              <a:rPr lang="en-US" altLang="zh-CN"/>
              <a:t>111</a:t>
            </a:fld>
            <a:endParaRPr lang="en-US" altLang="zh-CN"/>
          </a:p>
        </p:txBody>
      </p:sp>
      <p:sp>
        <p:nvSpPr>
          <p:cNvPr id="55298" name="Rectangle 2"/>
          <p:cNvSpPr>
            <a:spLocks noGrp="1" noChangeArrowheads="1"/>
          </p:cNvSpPr>
          <p:nvPr>
            <p:ph type="title"/>
          </p:nvPr>
        </p:nvSpPr>
        <p:spPr>
          <a:xfrm>
            <a:off x="236984" y="1052736"/>
            <a:ext cx="734616" cy="4267200"/>
          </a:xfrm>
        </p:spPr>
        <p:txBody>
          <a:bodyPr/>
          <a:lstStyle/>
          <a:p>
            <a:r>
              <a:rPr lang="zh-CN" altLang="en-US" dirty="0"/>
              <a:t>数字图像盲取证系统框架 </a:t>
            </a:r>
          </a:p>
        </p:txBody>
      </p:sp>
      <p:pic>
        <p:nvPicPr>
          <p:cNvPr id="55300" name="Picture 4" descr="myxito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0"/>
            <a:ext cx="7871792" cy="675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DAC660C1-FB9D-4B98-B7EB-F0E745E323D3}" type="slidenum">
              <a:rPr lang="en-US" altLang="zh-CN"/>
              <a:t>112</a:t>
            </a:fld>
            <a:endParaRPr lang="en-US" altLang="zh-CN"/>
          </a:p>
        </p:txBody>
      </p:sp>
      <p:sp>
        <p:nvSpPr>
          <p:cNvPr id="56322" name="Rectangle 2"/>
          <p:cNvSpPr>
            <a:spLocks noGrp="1" noChangeArrowheads="1"/>
          </p:cNvSpPr>
          <p:nvPr>
            <p:ph type="title"/>
          </p:nvPr>
        </p:nvSpPr>
        <p:spPr/>
        <p:txBody>
          <a:bodyPr/>
          <a:lstStyle/>
          <a:p>
            <a:r>
              <a:rPr lang="zh-CN" altLang="en-US" sz="3200" b="1" dirty="0"/>
              <a:t>三、数字图像盲取证</a:t>
            </a:r>
            <a:endParaRPr lang="zh-CN" altLang="zh-CN" sz="3200" b="1" dirty="0"/>
          </a:p>
        </p:txBody>
      </p:sp>
      <p:sp>
        <p:nvSpPr>
          <p:cNvPr id="56323"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数字图像盲取证的应用案例：</a:t>
            </a:r>
          </a:p>
          <a:p>
            <a:pPr marL="0" lvl="1" indent="612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如在2007年底相继爆出的“华南虎”事件、“广场鸽”事件和“藏羚羊”事件的数字照片取证中，由于事先无法向待取证照片中嵌入主动取证所需要的数字水印，所以相关事件的取证大多采用了被动盲取证的分析方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zh-CN" altLang="en-US" sz="3200" b="1" dirty="0"/>
              <a:t>三、数字图像盲取证</a:t>
            </a:r>
            <a:endParaRPr lang="zh-CN" altLang="zh-CN" sz="3200" b="1" dirty="0"/>
          </a:p>
        </p:txBody>
      </p:sp>
      <p:sp>
        <p:nvSpPr>
          <p:cNvPr id="97283" name="Rectangle 3"/>
          <p:cNvSpPr>
            <a:spLocks noGrp="1" noChangeArrowheads="1"/>
          </p:cNvSpPr>
          <p:nvPr>
            <p:ph idx="1"/>
          </p:nvPr>
        </p:nvSpPr>
        <p:spPr>
          <a:xfrm>
            <a:off x="628814" y="1340768"/>
            <a:ext cx="7887564" cy="5112568"/>
          </a:xfrm>
        </p:spPr>
        <p:txBody>
          <a:bodyPr>
            <a:normAutofit fontScale="92500" lnSpcReduction="20000"/>
          </a:bodyPr>
          <a:lstStyle/>
          <a:p>
            <a:pPr marL="0" indent="457200" algn="l">
              <a:lnSpc>
                <a:spcPct val="170000"/>
              </a:lnSpc>
              <a:spcBef>
                <a:spcPts val="600"/>
              </a:spcBef>
              <a:buSzTx/>
            </a:pPr>
            <a:r>
              <a:rPr lang="zh-CN" altLang="en-US" sz="2600" b="1" dirty="0">
                <a:latin typeface="华文细黑" panose="02010600040101010101" pitchFamily="2" charset="-122"/>
                <a:ea typeface="华文细黑" panose="02010600040101010101" pitchFamily="2" charset="-122"/>
              </a:rPr>
              <a:t>数字图像盲取证的应用案例：</a:t>
            </a:r>
          </a:p>
          <a:p>
            <a:pPr marL="0" indent="558000">
              <a:lnSpc>
                <a:spcPct val="150000"/>
              </a:lnSpc>
              <a:buNone/>
            </a:pPr>
            <a:r>
              <a:rPr lang="zh-CN" altLang="en-US" sz="2200" dirty="0"/>
              <a:t>摄影家协会数码影像鉴定中心：从摄影学和数码影像技术学两个方向分析；</a:t>
            </a:r>
          </a:p>
          <a:p>
            <a:pPr marL="0" indent="558000">
              <a:lnSpc>
                <a:spcPct val="150000"/>
              </a:lnSpc>
              <a:buNone/>
            </a:pPr>
            <a:r>
              <a:rPr lang="zh-CN" altLang="en-US" sz="2200" dirty="0"/>
              <a:t>华夏物证鉴定中心：从</a:t>
            </a:r>
            <a:r>
              <a:rPr lang="en-US" altLang="zh-CN" sz="2200" dirty="0"/>
              <a:t>40</a:t>
            </a:r>
            <a:r>
              <a:rPr lang="zh-CN" altLang="en-US" sz="2200" dirty="0"/>
              <a:t>张数码照片的属性和与年画虎纹理对比检测；</a:t>
            </a:r>
          </a:p>
          <a:p>
            <a:pPr marL="0" indent="558000">
              <a:lnSpc>
                <a:spcPct val="150000"/>
              </a:lnSpc>
              <a:buNone/>
            </a:pPr>
            <a:r>
              <a:rPr lang="zh-CN" altLang="en-US" sz="2200" dirty="0"/>
              <a:t>中山大学电子与通信工程系赖剑煌教授团队：通过</a:t>
            </a:r>
            <a:r>
              <a:rPr lang="zh-CN" altLang="en-US" sz="2200" dirty="0">
                <a:latin typeface="Arial" panose="020B0604020202020204"/>
              </a:rPr>
              <a:t>“</a:t>
            </a:r>
            <a:r>
              <a:rPr lang="zh-CN" altLang="en-US" sz="2200" dirty="0"/>
              <a:t>基于纹理特征点的几何参数相似性度量方法</a:t>
            </a:r>
            <a:r>
              <a:rPr lang="zh-CN" altLang="en-US" sz="2200" dirty="0">
                <a:latin typeface="Arial" panose="020B0604020202020204"/>
              </a:rPr>
              <a:t>”</a:t>
            </a:r>
            <a:r>
              <a:rPr lang="zh-CN" altLang="en-US" sz="2200" dirty="0"/>
              <a:t>分析取证；</a:t>
            </a:r>
          </a:p>
          <a:p>
            <a:pPr marL="0" indent="558000">
              <a:lnSpc>
                <a:spcPct val="150000"/>
              </a:lnSpc>
              <a:buNone/>
            </a:pPr>
            <a:r>
              <a:rPr lang="zh-CN" altLang="en-US" sz="2200" dirty="0"/>
              <a:t>中国刑科协指纹检验委员会刘持平：从拓扑学的角度也做出了同样的结论，认为从照片和年画</a:t>
            </a:r>
            <a:r>
              <a:rPr lang="zh-CN" altLang="en-US" sz="2200" dirty="0">
                <a:latin typeface="Arial" panose="020B0604020202020204"/>
              </a:rPr>
              <a:t>“</a:t>
            </a:r>
            <a:r>
              <a:rPr lang="zh-CN" altLang="en-US" sz="2200" dirty="0"/>
              <a:t>截取的老虎躯干部位图像的拓扑性质相同</a:t>
            </a:r>
            <a:r>
              <a:rPr lang="zh-CN" altLang="en-US" sz="2200" dirty="0">
                <a:latin typeface="Arial" panose="020B0604020202020204"/>
              </a:rPr>
              <a:t>”；</a:t>
            </a:r>
            <a:endParaRPr lang="zh-CN" altLang="en-US" sz="2200" dirty="0"/>
          </a:p>
          <a:p>
            <a:pPr marL="0" indent="558000">
              <a:lnSpc>
                <a:spcPct val="150000"/>
              </a:lnSpc>
              <a:buNone/>
            </a:pPr>
            <a:r>
              <a:rPr lang="zh-CN" altLang="en-US" sz="2200" dirty="0"/>
              <a:t>这</a:t>
            </a:r>
            <a:r>
              <a:rPr lang="en-US" altLang="zh-CN" sz="2200" dirty="0"/>
              <a:t>4</a:t>
            </a:r>
            <a:r>
              <a:rPr lang="zh-CN" altLang="en-US" sz="2200" dirty="0"/>
              <a:t>方取证所用方法都是数字图像盲取证的一个分支。 </a:t>
            </a:r>
          </a:p>
          <a:p>
            <a:pPr>
              <a:lnSpc>
                <a:spcPct val="90000"/>
              </a:lnSpc>
              <a:buFont typeface="Wingdings" panose="05000000000000000000" pitchFamily="2" charset="2"/>
              <a:buNone/>
            </a:pPr>
            <a:endParaRPr lang="en-US" altLang="zh-CN" sz="2400" dirty="0"/>
          </a:p>
        </p:txBody>
      </p:sp>
      <p:sp>
        <p:nvSpPr>
          <p:cNvPr id="4" name="灯片编号占位符 5"/>
          <p:cNvSpPr>
            <a:spLocks noGrp="1"/>
          </p:cNvSpPr>
          <p:nvPr>
            <p:ph type="sldNum" sz="quarter" idx="12"/>
          </p:nvPr>
        </p:nvSpPr>
        <p:spPr/>
        <p:txBody>
          <a:bodyPr/>
          <a:lstStyle/>
          <a:p>
            <a:fld id="{A91E7B25-51FB-4A96-A56F-56B6251BAEF9}" type="slidenum">
              <a:rPr lang="en-US" altLang="zh-CN"/>
              <a:t>113</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3C94E0E-9F25-438C-A206-0285EDF89DF7}" type="slidenum">
              <a:rPr lang="en-US" altLang="zh-CN"/>
              <a:t>114</a:t>
            </a:fld>
            <a:endParaRPr lang="en-US" altLang="zh-CN"/>
          </a:p>
        </p:txBody>
      </p:sp>
      <p:sp>
        <p:nvSpPr>
          <p:cNvPr id="57346" name="Rectangle 2"/>
          <p:cNvSpPr>
            <a:spLocks noGrp="1" noChangeArrowheads="1"/>
          </p:cNvSpPr>
          <p:nvPr>
            <p:ph type="title"/>
          </p:nvPr>
        </p:nvSpPr>
        <p:spPr/>
        <p:txBody>
          <a:bodyPr/>
          <a:lstStyle/>
          <a:p>
            <a:r>
              <a:rPr lang="zh-CN" altLang="en-US" sz="3200" b="1" dirty="0"/>
              <a:t>三、数字图像盲取证</a:t>
            </a:r>
            <a:r>
              <a:rPr lang="en-US" altLang="zh-CN" sz="3200" b="1" dirty="0"/>
              <a:t>-</a:t>
            </a:r>
            <a:r>
              <a:rPr lang="zh-CN" altLang="en-US" sz="3200" b="1" dirty="0"/>
              <a:t>研究方向</a:t>
            </a:r>
          </a:p>
        </p:txBody>
      </p:sp>
      <p:sp>
        <p:nvSpPr>
          <p:cNvPr id="57347" name="Rectangle 3"/>
          <p:cNvSpPr>
            <a:spLocks noGrp="1" noChangeArrowheads="1"/>
          </p:cNvSpPr>
          <p:nvPr>
            <p:ph type="body" idx="1"/>
          </p:nvPr>
        </p:nvSpPr>
        <p:spPr/>
        <p:txBody>
          <a:bodyPr>
            <a:normAutofit/>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1、图像篡改检测</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伪造者尽力伪造出逼真的图像，一般经历三个步骤：</a:t>
            </a:r>
          </a:p>
          <a:p>
            <a:pPr marL="0" lvl="2"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复制-黏贴操作，即图像合成操作；</a:t>
            </a:r>
          </a:p>
          <a:p>
            <a:pPr marL="0" lvl="2"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重采样、润饰、模糊操作（为了消除简单复制-黏贴造成的可视篡改痕迹的操作）；</a:t>
            </a:r>
          </a:p>
          <a:p>
            <a:pPr marL="0" lvl="2"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JPEG重压缩操作（对伪造好的图像进行重新存储所产生的操作）；</a:t>
            </a:r>
          </a:p>
          <a:p>
            <a:pPr marL="0" lvl="1" indent="558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因此，图像篡改检测相关研究也集中在这三个方面。</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3C94E0E-9F25-438C-A206-0285EDF89DF7}" type="slidenum">
              <a:rPr lang="en-US" altLang="zh-CN"/>
              <a:t>115</a:t>
            </a:fld>
            <a:endParaRPr lang="en-US" altLang="zh-CN"/>
          </a:p>
        </p:txBody>
      </p:sp>
      <p:sp>
        <p:nvSpPr>
          <p:cNvPr id="57346" name="Rectangle 2"/>
          <p:cNvSpPr>
            <a:spLocks noGrp="1" noChangeArrowheads="1"/>
          </p:cNvSpPr>
          <p:nvPr>
            <p:ph type="title"/>
          </p:nvPr>
        </p:nvSpPr>
        <p:spPr/>
        <p:txBody>
          <a:bodyPr/>
          <a:lstStyle/>
          <a:p>
            <a:r>
              <a:rPr lang="zh-CN" altLang="en-US" sz="3200" b="1" dirty="0"/>
              <a:t>三、数字图像盲取证</a:t>
            </a:r>
            <a:r>
              <a:rPr lang="en-US" altLang="zh-CN" sz="3200" b="1" dirty="0"/>
              <a:t>-</a:t>
            </a:r>
            <a:r>
              <a:rPr lang="zh-CN" altLang="en-US" sz="3200" b="1" dirty="0"/>
              <a:t>研究方向</a:t>
            </a:r>
          </a:p>
        </p:txBody>
      </p:sp>
      <p:sp>
        <p:nvSpPr>
          <p:cNvPr id="57347" name="Rectangle 3"/>
          <p:cNvSpPr>
            <a:spLocks noGrp="1" noChangeArrowheads="1"/>
          </p:cNvSpPr>
          <p:nvPr>
            <p:ph type="body" idx="1"/>
          </p:nvPr>
        </p:nvSpPr>
        <p:spPr>
          <a:xfrm>
            <a:off x="628814" y="1241667"/>
            <a:ext cx="7887564" cy="5222527"/>
          </a:xfrm>
        </p:spPr>
        <p:txBody>
          <a:bodyPr>
            <a:normAutofit fontScale="85000" lnSpcReduction="10000"/>
          </a:bodyPr>
          <a:lstStyle/>
          <a:p>
            <a:pPr marL="0" indent="457200" algn="l">
              <a:lnSpc>
                <a:spcPct val="150000"/>
              </a:lnSpc>
              <a:spcBef>
                <a:spcPts val="600"/>
              </a:spcBef>
              <a:buSzTx/>
            </a:pPr>
            <a:r>
              <a:rPr lang="zh-CN" altLang="en-US" sz="2800" b="1" dirty="0">
                <a:latin typeface="华文细黑" panose="02010600040101010101" pitchFamily="2" charset="-122"/>
                <a:ea typeface="华文细黑" panose="02010600040101010101" pitchFamily="2" charset="-122"/>
              </a:rPr>
              <a:t>1、图像篡改检测</a:t>
            </a:r>
          </a:p>
          <a:p>
            <a:pPr marL="0" lvl="1" indent="457200" algn="l">
              <a:lnSpc>
                <a:spcPct val="150000"/>
              </a:lnSpc>
              <a:spcBef>
                <a:spcPts val="600"/>
              </a:spcBef>
              <a:buClr>
                <a:schemeClr val="accent1"/>
              </a:buClr>
              <a:buSzTx/>
              <a:buFont typeface="Wingdings" panose="05000000000000000000" pitchFamily="2" charset="2"/>
              <a:buNone/>
            </a:pPr>
            <a:r>
              <a:rPr lang="zh-CN" altLang="en-US" sz="2500" b="1" dirty="0">
                <a:latin typeface="华文细黑" panose="02010600040101010101" pitchFamily="2" charset="-122"/>
                <a:ea typeface="华文细黑" panose="02010600040101010101" pitchFamily="2" charset="-122"/>
              </a:rPr>
              <a:t>1.1、复制粘贴操作检测 </a:t>
            </a:r>
          </a:p>
          <a:p>
            <a:pPr marL="0" lvl="2"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在数字图像的篡改操作中，复制粘贴（合成）是最简单也是最常用的图像伪造手段。</a:t>
            </a:r>
          </a:p>
          <a:p>
            <a:pPr marL="0" lvl="2"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复制粘贴分为在同一幅图像中和不同图像之间的操作两种。其中，由于同一幅图像中图像块的亮度、色彩度比较相似，进行复制粘贴不会引起明显的视觉变化。</a:t>
            </a:r>
            <a:endParaRPr lang="en-US" altLang="zh-CN" sz="2200" b="1" dirty="0">
              <a:latin typeface="华文细黑" panose="02010600040101010101" pitchFamily="2" charset="-122"/>
              <a:ea typeface="华文细黑" panose="02010600040101010101" pitchFamily="2" charset="-122"/>
            </a:endParaRPr>
          </a:p>
          <a:p>
            <a:pPr marL="0" lvl="2"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同幅图复制粘贴篡改方法也有较大的破绽，其最直接的检测方法是搜索待检图像中是否有完全相同的区域。</a:t>
            </a:r>
          </a:p>
          <a:p>
            <a:pPr marL="0" lvl="2"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但这种穷举搜索取证技术的缺点是计算量大，对自然噪声的鲁棒性差，解决这些问题需要确定合理的匹配块，并且需要快速的搜索算法。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6F840855-1DA3-43BB-98CB-C34F91D436A0}" type="slidenum">
              <a:rPr lang="en-US" altLang="zh-CN"/>
              <a:t>116</a:t>
            </a:fld>
            <a:endParaRPr lang="en-US" altLang="zh-CN"/>
          </a:p>
        </p:txBody>
      </p:sp>
      <p:sp>
        <p:nvSpPr>
          <p:cNvPr id="98306" name="Rectangle 2"/>
          <p:cNvSpPr>
            <a:spLocks noGrp="1" noChangeArrowheads="1"/>
          </p:cNvSpPr>
          <p:nvPr>
            <p:ph type="title"/>
          </p:nvPr>
        </p:nvSpPr>
        <p:spPr/>
        <p:txBody>
          <a:bodyPr/>
          <a:lstStyle/>
          <a:p>
            <a:r>
              <a:rPr lang="zh-CN" altLang="en-US" sz="3200" b="1" dirty="0"/>
              <a:t>三、数字图像盲取证</a:t>
            </a:r>
            <a:r>
              <a:rPr lang="en-US" altLang="zh-CN" sz="3200" b="1" dirty="0"/>
              <a:t>-</a:t>
            </a:r>
            <a:r>
              <a:rPr lang="zh-CN" altLang="en-US" sz="3200" b="1" dirty="0"/>
              <a:t>研究方向</a:t>
            </a:r>
            <a:endParaRPr lang="zh-CN" altLang="zh-CN" sz="3200" b="1" dirty="0"/>
          </a:p>
        </p:txBody>
      </p:sp>
      <p:sp>
        <p:nvSpPr>
          <p:cNvPr id="98307" name="Rectangle 3"/>
          <p:cNvSpPr>
            <a:spLocks noGrp="1" noChangeArrowheads="1"/>
          </p:cNvSpPr>
          <p:nvPr>
            <p:ph type="body" idx="1"/>
          </p:nvPr>
        </p:nvSpPr>
        <p:spPr>
          <a:xfrm>
            <a:off x="628814" y="1241668"/>
            <a:ext cx="7887564" cy="5355684"/>
          </a:xfrm>
        </p:spPr>
        <p:txBody>
          <a:bodyPr>
            <a:normAutofit fontScale="87500" lnSpcReduction="10000"/>
          </a:bodyPr>
          <a:lstStyle/>
          <a:p>
            <a:pPr marL="0" indent="457200" algn="l">
              <a:lnSpc>
                <a:spcPct val="150000"/>
              </a:lnSpc>
              <a:spcBef>
                <a:spcPts val="600"/>
              </a:spcBef>
              <a:buSzTx/>
            </a:pPr>
            <a:r>
              <a:rPr lang="zh-CN" altLang="en-US" sz="2700" b="1" dirty="0">
                <a:latin typeface="华文细黑" panose="02010600040101010101" pitchFamily="2" charset="-122"/>
                <a:ea typeface="华文细黑" panose="02010600040101010101" pitchFamily="2" charset="-122"/>
              </a:rPr>
              <a:t>1、图像篡改检测</a:t>
            </a:r>
          </a:p>
          <a:p>
            <a:pPr marL="0" lvl="1" indent="4572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1.1、复制粘贴操作检测 </a:t>
            </a:r>
          </a:p>
          <a:p>
            <a:pPr marL="0" lvl="2" indent="504000">
              <a:lnSpc>
                <a:spcPct val="150000"/>
              </a:lnSpc>
              <a:spcBef>
                <a:spcPts val="600"/>
              </a:spcBef>
              <a:buClr>
                <a:schemeClr val="accent1"/>
              </a:buClr>
              <a:buNone/>
            </a:pPr>
            <a:r>
              <a:rPr lang="zh-CN" altLang="en-US" sz="2300" b="1" dirty="0">
                <a:latin typeface="华文细黑" panose="02010600040101010101" pitchFamily="2" charset="-122"/>
                <a:ea typeface="华文细黑" panose="02010600040101010101" pitchFamily="2" charset="-122"/>
              </a:rPr>
              <a:t>不同图像之间的复制粘贴操作比在同一幅图像中的复制粘贴篡改应用更多，针对不同图像之间的复制粘贴操作，取证方法通常都是基于篡改区域与非篡改区域的光照方向不一致性、基于自然图像统计特征一致性（如自然图像内在连续性、相关性、一致性）等特点来设计的。</a:t>
            </a:r>
          </a:p>
          <a:p>
            <a:pPr marL="0" lvl="2" indent="5040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针对光照方向不一致性的数字图像盲取证技术的基本检测思想是：利用不同图像中的人、物或背景合成一幅新的图像时，虽然可以利用图像编辑和处理软件轻松地生成或去除一些阴影，但是很难编辑光照的方向。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6F840855-1DA3-43BB-98CB-C34F91D436A0}" type="slidenum">
              <a:rPr lang="en-US" altLang="zh-CN"/>
              <a:t>117</a:t>
            </a:fld>
            <a:endParaRPr lang="en-US" altLang="zh-CN"/>
          </a:p>
        </p:txBody>
      </p:sp>
      <p:sp>
        <p:nvSpPr>
          <p:cNvPr id="98306" name="Rectangle 2"/>
          <p:cNvSpPr>
            <a:spLocks noGrp="1" noChangeArrowheads="1"/>
          </p:cNvSpPr>
          <p:nvPr>
            <p:ph type="title"/>
          </p:nvPr>
        </p:nvSpPr>
        <p:spPr/>
        <p:txBody>
          <a:bodyPr/>
          <a:lstStyle/>
          <a:p>
            <a:r>
              <a:rPr lang="zh-CN" altLang="en-US" sz="3200" b="1" dirty="0"/>
              <a:t>三、数字图像盲取证</a:t>
            </a:r>
            <a:r>
              <a:rPr lang="en-US" altLang="zh-CN" sz="3200" b="1" dirty="0"/>
              <a:t>-</a:t>
            </a:r>
            <a:r>
              <a:rPr lang="zh-CN" altLang="en-US" sz="3200" b="1" dirty="0"/>
              <a:t>研究方向</a:t>
            </a:r>
            <a:endParaRPr lang="zh-CN" altLang="zh-CN" sz="3200" b="1" dirty="0"/>
          </a:p>
        </p:txBody>
      </p:sp>
      <p:sp>
        <p:nvSpPr>
          <p:cNvPr id="98307" name="Rectangle 3"/>
          <p:cNvSpPr>
            <a:spLocks noGrp="1" noChangeArrowheads="1"/>
          </p:cNvSpPr>
          <p:nvPr>
            <p:ph type="body" idx="1"/>
          </p:nvPr>
        </p:nvSpPr>
        <p:spPr>
          <a:xfrm>
            <a:off x="628814" y="1212081"/>
            <a:ext cx="7887564" cy="5225022"/>
          </a:xfrm>
        </p:spPr>
        <p:txBody>
          <a:bodyPr>
            <a:normAutofit fontScale="97500"/>
          </a:bodyPr>
          <a:lstStyle/>
          <a:p>
            <a:pPr marL="0" indent="457200" algn="l">
              <a:lnSpc>
                <a:spcPct val="150000"/>
              </a:lnSpc>
              <a:spcBef>
                <a:spcPts val="600"/>
              </a:spcBef>
              <a:buSzTx/>
            </a:pPr>
            <a:r>
              <a:rPr lang="zh-CN" altLang="en-US" sz="2500" b="1" dirty="0">
                <a:latin typeface="华文细黑" panose="02010600040101010101" pitchFamily="2" charset="-122"/>
                <a:ea typeface="华文细黑" panose="02010600040101010101" pitchFamily="2" charset="-122"/>
              </a:rPr>
              <a:t>1、图像篡改检测</a:t>
            </a:r>
          </a:p>
          <a:p>
            <a:pPr marL="0" lvl="1" indent="4572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1.1、复制粘贴操作检测 </a:t>
            </a:r>
          </a:p>
          <a:p>
            <a:pPr marL="0" lvl="2" indent="558000" algn="l">
              <a:lnSpc>
                <a:spcPct val="150000"/>
              </a:lnSpc>
              <a:spcBef>
                <a:spcPts val="600"/>
              </a:spcBef>
              <a:buClr>
                <a:schemeClr val="accent1"/>
              </a:buClr>
              <a:buSzTx/>
              <a:buFont typeface="Wingdings" panose="05000000000000000000" pitchFamily="2" charset="2"/>
              <a:buNone/>
            </a:pPr>
            <a:r>
              <a:rPr lang="zh-CN" altLang="en-US" sz="2100" b="1" dirty="0">
                <a:latin typeface="华文细黑" panose="02010600040101010101" pitchFamily="2" charset="-122"/>
                <a:ea typeface="华文细黑" panose="02010600040101010101" pitchFamily="2" charset="-122"/>
              </a:rPr>
              <a:t>一次拍摄形成的数字图像中各个物体所受的光照方向是一致的。因此，如果给定的一幅数字图像中存在所受光的光照方向不一致的物体，那么就说明该图像曾遭受过篡改操作。</a:t>
            </a:r>
          </a:p>
          <a:p>
            <a:pPr marL="0" lvl="2" indent="558000" algn="l">
              <a:lnSpc>
                <a:spcPct val="150000"/>
              </a:lnSpc>
              <a:spcBef>
                <a:spcPts val="600"/>
              </a:spcBef>
              <a:buClr>
                <a:schemeClr val="accent1"/>
              </a:buClr>
              <a:buSzTx/>
              <a:buFont typeface="Wingdings" panose="05000000000000000000" pitchFamily="2" charset="2"/>
              <a:buNone/>
            </a:pPr>
            <a:r>
              <a:rPr lang="zh-CN" altLang="en-US" sz="2100" b="1" dirty="0">
                <a:latin typeface="华文细黑" panose="02010600040101010101" pitchFamily="2" charset="-122"/>
                <a:ea typeface="华文细黑" panose="02010600040101010101" pitchFamily="2" charset="-122"/>
              </a:rPr>
              <a:t>利用图像内在连续性检测的基本思想是：在拍摄图像时，数码相机中设有的光学低通装置会对图像进行低通滤波，使得数字照片中的像素值具有连续的性质，而复制一粘贴以后，边界会产生不连续的变化，因此可以通过检测边界的这种不连续性来检测图像是否经过复制一粘贴。</a:t>
            </a:r>
          </a:p>
          <a:p>
            <a:pPr lvl="2">
              <a:lnSpc>
                <a:spcPct val="80000"/>
              </a:lnSpc>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sz="3200" b="1" dirty="0"/>
              <a:t>三、数字图像盲取证 </a:t>
            </a:r>
            <a:endParaRPr lang="zh-CN" altLang="zh-CN" sz="3200" b="1" dirty="0"/>
          </a:p>
        </p:txBody>
      </p:sp>
      <p:sp>
        <p:nvSpPr>
          <p:cNvPr id="58371" name="Rectangle 3"/>
          <p:cNvSpPr>
            <a:spLocks noGrp="1" noChangeArrowheads="1"/>
          </p:cNvSpPr>
          <p:nvPr>
            <p:ph idx="1"/>
          </p:nvPr>
        </p:nvSpPr>
        <p:spPr>
          <a:xfrm>
            <a:off x="628814" y="1462088"/>
            <a:ext cx="7887564" cy="4991248"/>
          </a:xfrm>
        </p:spPr>
        <p:txBody>
          <a:bodyPr>
            <a:normAutofit fontScale="87500"/>
          </a:bodyPr>
          <a:lstStyle/>
          <a:p>
            <a:r>
              <a:rPr lang="en-US" altLang="zh-CN" sz="2700" b="1" dirty="0"/>
              <a:t>1</a:t>
            </a:r>
            <a:r>
              <a:rPr lang="zh-CN" altLang="en-US" sz="2700" b="1" dirty="0"/>
              <a:t>、图像篡改检测</a:t>
            </a:r>
            <a:r>
              <a:rPr lang="en-US" altLang="zh-CN" sz="2700" dirty="0"/>
              <a:t>-</a:t>
            </a:r>
            <a:r>
              <a:rPr lang="zh-CN" altLang="en-US" sz="2700" dirty="0"/>
              <a:t>研究方向</a:t>
            </a:r>
            <a:endParaRPr lang="en-US" altLang="zh-CN" sz="2700" dirty="0"/>
          </a:p>
          <a:p>
            <a:pPr marL="0" lvl="1" indent="4572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1.2、重采样、模糊润饰操作检测</a:t>
            </a:r>
          </a:p>
          <a:p>
            <a:pPr marL="0" lvl="1" indent="4572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篡改者经过复制粘贴篡改操作后，为了消除伪造图像上的篡改痕迹，往往会对篡改部分进行如缩放、旋转、模糊等预先处理和润饰操作，会产生重采样、及模糊润饰的效果。</a:t>
            </a:r>
          </a:p>
          <a:p>
            <a:pPr marL="0" lvl="1" indent="457200" algn="l">
              <a:lnSpc>
                <a:spcPct val="150000"/>
              </a:lnSpc>
              <a:spcBef>
                <a:spcPts val="600"/>
              </a:spcBef>
              <a:buClr>
                <a:schemeClr val="accent1"/>
              </a:buClr>
              <a:buSzTx/>
              <a:buFont typeface="Wingdings" panose="05000000000000000000" pitchFamily="2" charset="2"/>
              <a:buNone/>
            </a:pPr>
            <a:r>
              <a:rPr lang="zh-CN" altLang="en-US" sz="2300" b="1" dirty="0">
                <a:latin typeface="华文细黑" panose="02010600040101010101" pitchFamily="2" charset="-122"/>
                <a:ea typeface="华文细黑" panose="02010600040101010101" pitchFamily="2" charset="-122"/>
              </a:rPr>
              <a:t>重采样：尽管这种痕迹不会引起视觉上的差别，但由于插值（上采样或下采样）的原因，经重采样后篡改图像块的像素与其周围像素之间会产生周期性的线性关系，即：其重采样部分的像素值会变成其周围像素的线性组合，并且所有重采样像素线性组合的系数相同。可以利用EM(Expectation Maximumation)算法检测这种相关性。</a:t>
            </a:r>
          </a:p>
        </p:txBody>
      </p:sp>
      <p:sp>
        <p:nvSpPr>
          <p:cNvPr id="4" name="灯片编号占位符 5"/>
          <p:cNvSpPr>
            <a:spLocks noGrp="1"/>
          </p:cNvSpPr>
          <p:nvPr>
            <p:ph type="sldNum" sz="quarter" idx="12"/>
          </p:nvPr>
        </p:nvSpPr>
        <p:spPr/>
        <p:txBody>
          <a:bodyPr/>
          <a:lstStyle/>
          <a:p>
            <a:fld id="{1BFBFD0E-B172-48AA-A4EB-A86536DB475E}" type="slidenum">
              <a:rPr lang="en-US" altLang="zh-CN"/>
              <a:t>118</a:t>
            </a:fld>
            <a:endParaRPr lang="en-US" altLang="zh-CN"/>
          </a:p>
        </p:txBody>
      </p:sp>
      <p:pic>
        <p:nvPicPr>
          <p:cNvPr id="583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3411" y="22285"/>
            <a:ext cx="3664710" cy="22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5873824"/>
            <a:ext cx="44862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083" y="114116"/>
            <a:ext cx="5105400" cy="2115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374"/>
                                        </p:tgtEl>
                                        <p:attrNameLst>
                                          <p:attrName>style.visibility</p:attrName>
                                        </p:attrNameLst>
                                      </p:cBhvr>
                                      <p:to>
                                        <p:strVal val="visible"/>
                                      </p:to>
                                    </p:set>
                                    <p:animEffect transition="in" filter="fade">
                                      <p:cBhvr>
                                        <p:cTn id="7" dur="1000"/>
                                        <p:tgtEl>
                                          <p:spTgt spid="583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372"/>
                                        </p:tgtEl>
                                        <p:attrNameLst>
                                          <p:attrName>style.visibility</p:attrName>
                                        </p:attrNameLst>
                                      </p:cBhvr>
                                      <p:to>
                                        <p:strVal val="visible"/>
                                      </p:to>
                                    </p:set>
                                    <p:animEffect transition="in" filter="fade">
                                      <p:cBhvr>
                                        <p:cTn id="12" dur="1000"/>
                                        <p:tgtEl>
                                          <p:spTgt spid="583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373"/>
                                        </p:tgtEl>
                                        <p:attrNameLst>
                                          <p:attrName>style.visibility</p:attrName>
                                        </p:attrNameLst>
                                      </p:cBhvr>
                                      <p:to>
                                        <p:strVal val="visible"/>
                                      </p:to>
                                    </p:set>
                                    <p:animEffect transition="in" filter="fade">
                                      <p:cBhvr>
                                        <p:cTn id="17" dur="1000"/>
                                        <p:tgtEl>
                                          <p:spTgt spid="58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BFBFD0E-B172-48AA-A4EB-A86536DB475E}" type="slidenum">
              <a:rPr lang="en-US" altLang="zh-CN"/>
              <a:t>119</a:t>
            </a:fld>
            <a:endParaRPr lang="en-US" altLang="zh-CN"/>
          </a:p>
        </p:txBody>
      </p:sp>
      <p:sp>
        <p:nvSpPr>
          <p:cNvPr id="58370"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endParaRPr lang="zh-CN" altLang="zh-CN" sz="3200" dirty="0"/>
          </a:p>
        </p:txBody>
      </p:sp>
      <p:sp>
        <p:nvSpPr>
          <p:cNvPr id="58371" name="Rectangle 3"/>
          <p:cNvSpPr>
            <a:spLocks noGrp="1" noChangeArrowheads="1"/>
          </p:cNvSpPr>
          <p:nvPr>
            <p:ph type="body" idx="1"/>
          </p:nvPr>
        </p:nvSpPr>
        <p:spPr>
          <a:xfrm>
            <a:off x="628814" y="1462088"/>
            <a:ext cx="7887564" cy="5029199"/>
          </a:xfrm>
        </p:spPr>
        <p:txBody>
          <a:bodyPr>
            <a:normAutofit fontScale="85000" lnSpcReduction="20000"/>
          </a:bodyPr>
          <a:lstStyle/>
          <a:p>
            <a:pPr marL="0" indent="457200" algn="l">
              <a:lnSpc>
                <a:spcPct val="150000"/>
              </a:lnSpc>
              <a:spcBef>
                <a:spcPts val="600"/>
              </a:spcBef>
              <a:buSzTx/>
            </a:pPr>
            <a:r>
              <a:rPr lang="zh-CN" altLang="en-US" sz="2800" b="1" dirty="0">
                <a:latin typeface="华文细黑" panose="02010600040101010101" pitchFamily="2" charset="-122"/>
                <a:ea typeface="华文细黑" panose="02010600040101010101" pitchFamily="2" charset="-122"/>
              </a:rPr>
              <a:t>1、图像篡改检测</a:t>
            </a:r>
          </a:p>
          <a:p>
            <a:pPr marL="0" lvl="1" indent="504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1.2、重采样、模糊润饰操作检测</a:t>
            </a:r>
          </a:p>
          <a:p>
            <a:pPr marL="0" lvl="1" indent="504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模糊润饰操作：模糊操作的基本原理是对图像的局部邻近像素值进行邻域灰度平均，其目的是为了将图像伪造所造成的拼接边缘淡化甚至消除。</a:t>
            </a:r>
          </a:p>
          <a:p>
            <a:pPr marL="0" lvl="1" indent="504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图像模糊实际上就是对图像在空域内进行模板处理，不同的模糊方法有着不同的模板类型。以图像处理软件AdobePhotosh CS3 Extended为例，用户可以选择多种模糊方法。用户在选定模糊区域之后可以直接选择模糊工具进行模糊，也可以选择滤镜中的表面模糊、动感模糊、方框模糊、高斯模糊等选项进行模糊。</a:t>
            </a:r>
          </a:p>
          <a:p>
            <a:pPr marL="0" lvl="1" indent="504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模糊检测方法已取得一些重要成果。</a:t>
            </a:r>
          </a:p>
          <a:p>
            <a:pPr lvl="1">
              <a:lnSpc>
                <a:spcPct val="90000"/>
              </a:lnSpc>
            </a:pP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39040D06-3B7F-45A6-A521-04C4D7A6FB3A}" type="slidenum">
              <a:rPr lang="en-US" altLang="zh-CN"/>
              <a:t>120</a:t>
            </a:fld>
            <a:endParaRPr lang="en-US" altLang="zh-CN"/>
          </a:p>
        </p:txBody>
      </p:sp>
      <p:sp>
        <p:nvSpPr>
          <p:cNvPr id="59394"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endParaRPr lang="zh-CN" altLang="zh-CN" sz="3200" dirty="0"/>
          </a:p>
        </p:txBody>
      </p:sp>
      <p:sp>
        <p:nvSpPr>
          <p:cNvPr id="59395" name="Rectangle 3"/>
          <p:cNvSpPr>
            <a:spLocks noGrp="1" noChangeArrowheads="1"/>
          </p:cNvSpPr>
          <p:nvPr>
            <p:ph type="body" idx="1"/>
          </p:nvPr>
        </p:nvSpPr>
        <p:spPr>
          <a:xfrm>
            <a:off x="628814" y="1407904"/>
            <a:ext cx="7887564" cy="5063256"/>
          </a:xfrm>
        </p:spPr>
        <p:txBody>
          <a:bodyPr>
            <a:normAutofit fontScale="92500"/>
          </a:bodyPr>
          <a:lstStyle/>
          <a:p>
            <a:pPr marL="0" indent="457200" algn="l">
              <a:lnSpc>
                <a:spcPct val="150000"/>
              </a:lnSpc>
              <a:spcBef>
                <a:spcPts val="600"/>
              </a:spcBef>
              <a:buSzTx/>
            </a:pPr>
            <a:r>
              <a:rPr lang="zh-CN" altLang="en-US" sz="2600" b="1" dirty="0">
                <a:latin typeface="华文细黑" panose="02010600040101010101" pitchFamily="2" charset="-122"/>
                <a:ea typeface="华文细黑" panose="02010600040101010101" pitchFamily="2" charset="-122"/>
              </a:rPr>
              <a:t>1、图像篡改检测</a:t>
            </a:r>
          </a:p>
          <a:p>
            <a:pPr marL="0" lvl="1" indent="558000" algn="l">
              <a:lnSpc>
                <a:spcPct val="150000"/>
              </a:lnSpc>
              <a:spcBef>
                <a:spcPts val="600"/>
              </a:spcBef>
              <a:buClr>
                <a:schemeClr val="accent1"/>
              </a:buClr>
              <a:buSzTx/>
              <a:buFont typeface="Wingdings" panose="05000000000000000000" pitchFamily="2" charset="2"/>
              <a:buNone/>
            </a:pPr>
            <a:r>
              <a:rPr lang="zh-CN" altLang="en-US" sz="2400" b="1" dirty="0">
                <a:latin typeface="华文细黑" panose="02010600040101010101" pitchFamily="2" charset="-122"/>
                <a:ea typeface="华文细黑" panose="02010600040101010101" pitchFamily="2" charset="-122"/>
              </a:rPr>
              <a:t>1.3、JPEG重压缩检测</a:t>
            </a:r>
          </a:p>
          <a:p>
            <a:pPr marL="180000" lvl="1"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篡改后的图像需要重新保存，若原始图像是JPEG格式，修改后仍旧保存为JPEG格式，则图像就经过了双重JPEG压缩，这是一种不可逆的有损压缩过程。</a:t>
            </a:r>
          </a:p>
          <a:p>
            <a:pPr marL="180000" lvl="1"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由于双重JPEG压缩对图像数据进行了两次量化，引入了一些单次JPEG压缩所没有的特征，通过统计检测能够发现图像是否经过了双重JPEG压缩。</a:t>
            </a:r>
          </a:p>
          <a:p>
            <a:pPr marL="180000" lvl="1" indent="504000" algn="l">
              <a:lnSpc>
                <a:spcPct val="150000"/>
              </a:lnSpc>
              <a:spcBef>
                <a:spcPts val="600"/>
              </a:spcBef>
              <a:buClr>
                <a:schemeClr val="accent1"/>
              </a:buClr>
              <a:buSzTx/>
              <a:buFont typeface="Wingdings" panose="05000000000000000000" pitchFamily="2" charset="2"/>
              <a:buNone/>
            </a:pPr>
            <a:r>
              <a:rPr lang="zh-CN" altLang="en-US" sz="2200" b="1" dirty="0">
                <a:latin typeface="华文细黑" panose="02010600040101010101" pitchFamily="2" charset="-122"/>
                <a:ea typeface="华文细黑" panose="02010600040101010101" pitchFamily="2" charset="-122"/>
              </a:rPr>
              <a:t>当然，双重JPEG压缩并不一定说明图像经过篡改，有些未经篡改的正常图像也有可能由于被重新保存而经历双重压缩。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CB55076-6177-4B13-8EAD-8855F81481BA}" type="slidenum">
              <a:rPr lang="en-US" altLang="zh-CN"/>
              <a:t>121</a:t>
            </a:fld>
            <a:endParaRPr lang="en-US" altLang="zh-CN"/>
          </a:p>
        </p:txBody>
      </p:sp>
      <p:sp>
        <p:nvSpPr>
          <p:cNvPr id="60418"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endParaRPr lang="zh-CN" altLang="zh-CN" sz="3200" dirty="0"/>
          </a:p>
        </p:txBody>
      </p:sp>
      <p:sp>
        <p:nvSpPr>
          <p:cNvPr id="60419" name="Rectangle 3"/>
          <p:cNvSpPr>
            <a:spLocks noGrp="1" noChangeArrowheads="1"/>
          </p:cNvSpPr>
          <p:nvPr>
            <p:ph type="body" idx="1"/>
          </p:nvPr>
        </p:nvSpPr>
        <p:spPr/>
        <p:txBody>
          <a:bodyPr/>
          <a:lstStyle/>
          <a:p>
            <a:endParaRPr lang="zh-CN" altLang="zh-CN" dirty="0"/>
          </a:p>
        </p:txBody>
      </p:sp>
      <p:pic>
        <p:nvPicPr>
          <p:cNvPr id="604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15" y="1412776"/>
            <a:ext cx="8749573" cy="4619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Rectangle 5"/>
          <p:cNvSpPr>
            <a:spLocks noChangeArrowheads="1"/>
          </p:cNvSpPr>
          <p:nvPr/>
        </p:nvSpPr>
        <p:spPr bwMode="auto">
          <a:xfrm>
            <a:off x="2819400" y="6237312"/>
            <a:ext cx="3684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数字图像内容真实性篡改取证分类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026CD43-F030-44BF-9FCD-B89340ED90E9}" type="slidenum">
              <a:rPr lang="en-US" altLang="zh-CN"/>
              <a:t>122</a:t>
            </a:fld>
            <a:endParaRPr lang="en-US" altLang="zh-CN"/>
          </a:p>
        </p:txBody>
      </p:sp>
      <p:sp>
        <p:nvSpPr>
          <p:cNvPr id="61442"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p>
        </p:txBody>
      </p:sp>
      <p:sp>
        <p:nvSpPr>
          <p:cNvPr id="61443" name="Rectangle 3"/>
          <p:cNvSpPr>
            <a:spLocks noGrp="1" noChangeArrowheads="1"/>
          </p:cNvSpPr>
          <p:nvPr>
            <p:ph type="body" idx="1"/>
          </p:nvPr>
        </p:nvSpPr>
        <p:spPr>
          <a:xfrm>
            <a:off x="628814" y="1340768"/>
            <a:ext cx="7887564" cy="5112568"/>
          </a:xfrm>
        </p:spPr>
        <p:txBody>
          <a:bodyPr>
            <a:normAutofit fontScale="97500" lnSpcReduction="10000"/>
          </a:bodyPr>
          <a:lstStyle/>
          <a:p>
            <a:pPr marL="0" indent="457200" algn="l">
              <a:lnSpc>
                <a:spcPct val="150000"/>
              </a:lnSpc>
              <a:spcBef>
                <a:spcPts val="600"/>
              </a:spcBef>
              <a:buSzTx/>
            </a:pPr>
            <a:r>
              <a:rPr lang="zh-CN" altLang="en-US" sz="2500" b="1" dirty="0">
                <a:latin typeface="华文细黑" panose="02010600040101010101" pitchFamily="2" charset="-122"/>
                <a:ea typeface="华文细黑" panose="02010600040101010101" pitchFamily="2" charset="-122"/>
              </a:rPr>
              <a:t>2、图像来源认证</a:t>
            </a:r>
          </a:p>
          <a:p>
            <a:pPr marL="0" lvl="1" indent="504000" algn="l">
              <a:lnSpc>
                <a:spcPct val="150000"/>
              </a:lnSpc>
              <a:spcBef>
                <a:spcPts val="600"/>
              </a:spcBef>
              <a:buClr>
                <a:schemeClr val="accent1"/>
              </a:buClr>
              <a:buSzTx/>
              <a:buFont typeface="Wingdings" panose="05000000000000000000" pitchFamily="2" charset="2"/>
              <a:buNone/>
            </a:pPr>
            <a:r>
              <a:rPr lang="zh-CN" altLang="en-US" sz="2100" b="1" dirty="0">
                <a:latin typeface="华文细黑" panose="02010600040101010101" pitchFamily="2" charset="-122"/>
                <a:ea typeface="华文细黑" panose="02010600040101010101" pitchFamily="2" charset="-122"/>
              </a:rPr>
              <a:t>图像来源认证：在不明图像来源的情况下，单从数字图像本身来判别它的生成设备（如数码相机、扫描仪、计算机）。 </a:t>
            </a:r>
          </a:p>
          <a:p>
            <a:pPr marL="0" lvl="1" indent="504000" algn="l">
              <a:lnSpc>
                <a:spcPct val="150000"/>
              </a:lnSpc>
              <a:spcBef>
                <a:spcPts val="600"/>
              </a:spcBef>
              <a:buClr>
                <a:schemeClr val="accent1"/>
              </a:buClr>
              <a:buSzTx/>
              <a:buFont typeface="Wingdings" panose="05000000000000000000" pitchFamily="2" charset="2"/>
              <a:buNone/>
            </a:pPr>
            <a:r>
              <a:rPr lang="zh-CN" altLang="en-US" sz="2100" b="1" dirty="0">
                <a:latin typeface="华文细黑" panose="02010600040101010101" pitchFamily="2" charset="-122"/>
                <a:ea typeface="华文细黑" panose="02010600040101010101" pitchFamily="2" charset="-122"/>
              </a:rPr>
              <a:t>不同生成设备产生的数字图像虽然在视觉上区别不大，但由于各种生成设备特征不同（如镜头、感光器件、打印机或扫描仪的零部件运动特征等），其生成的数字图像也会有不同的特征区别，通过分析提取这些能够区别图像来源的特征，建立特征库，试图对数字图像的来源进行盲认证。</a:t>
            </a:r>
            <a:endParaRPr lang="en-US" altLang="zh-CN" sz="2100" b="1" dirty="0">
              <a:latin typeface="华文细黑" panose="02010600040101010101" pitchFamily="2" charset="-122"/>
              <a:ea typeface="华文细黑" panose="02010600040101010101" pitchFamily="2" charset="-122"/>
            </a:endParaRPr>
          </a:p>
          <a:p>
            <a:pPr marL="0" lvl="1" indent="504000">
              <a:lnSpc>
                <a:spcPct val="150000"/>
              </a:lnSpc>
              <a:spcBef>
                <a:spcPts val="600"/>
              </a:spcBef>
              <a:buClr>
                <a:schemeClr val="accent1"/>
              </a:buClr>
              <a:buNone/>
            </a:pPr>
            <a:r>
              <a:rPr lang="zh-CN" altLang="en-US" sz="2000" b="1" dirty="0">
                <a:latin typeface="华文细黑" panose="02010600040101010101" pitchFamily="2" charset="-122"/>
                <a:ea typeface="华文细黑" panose="02010600040101010101" pitchFamily="2" charset="-122"/>
              </a:rPr>
              <a:t>为确保和鉴定数字图像内容的真实性以及来源的可靠性，对数码照片、计算机生成图像以及扫描图像的分类识别成为数字图像取证中需要研究的重要技术。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19E4A865-BFD0-4F37-86A6-A07B7045D41D}" type="slidenum">
              <a:rPr lang="en-US" altLang="zh-CN"/>
              <a:t>123</a:t>
            </a:fld>
            <a:endParaRPr lang="en-US" altLang="zh-CN"/>
          </a:p>
        </p:txBody>
      </p:sp>
      <p:sp>
        <p:nvSpPr>
          <p:cNvPr id="131074"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endParaRPr lang="zh-CN" altLang="zh-CN" sz="3200" dirty="0"/>
          </a:p>
        </p:txBody>
      </p:sp>
      <p:sp>
        <p:nvSpPr>
          <p:cNvPr id="131075"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2、图像来源认证</a:t>
            </a:r>
          </a:p>
          <a:p>
            <a:pPr marL="540000" lvl="1" indent="-360000">
              <a:lnSpc>
                <a:spcPct val="150000"/>
              </a:lnSpc>
              <a:spcBef>
                <a:spcPts val="600"/>
              </a:spcBef>
              <a:buFont typeface="Wingdings" panose="05000000000000000000" pitchFamily="2" charset="2"/>
              <a:buChar char="Ø"/>
            </a:pPr>
            <a:r>
              <a:rPr lang="zh-CN" altLang="en-US" sz="2400" b="1" dirty="0">
                <a:latin typeface="华文细黑" panose="02010600040101010101" pitchFamily="2" charset="-122"/>
                <a:ea typeface="华文细黑" panose="02010600040101010101" pitchFamily="2" charset="-122"/>
              </a:rPr>
              <a:t>三种来源生成图像从视觉上难以区分</a:t>
            </a:r>
            <a:r>
              <a:rPr lang="zh-CN" altLang="en-US" sz="2400" dirty="0"/>
              <a:t> </a:t>
            </a:r>
          </a:p>
        </p:txBody>
      </p:sp>
      <p:sp>
        <p:nvSpPr>
          <p:cNvPr id="131076" name="Rectangle 4"/>
          <p:cNvSpPr>
            <a:spLocks noChangeArrowheads="1"/>
          </p:cNvSpPr>
          <p:nvPr/>
        </p:nvSpPr>
        <p:spPr bwMode="auto">
          <a:xfrm>
            <a:off x="640437" y="5781893"/>
            <a:ext cx="81996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dirty="0"/>
              <a:t>数码照片（左）            计算机生成图像（中）         扫描图像（右）示例</a:t>
            </a:r>
          </a:p>
        </p:txBody>
      </p:sp>
      <p:grpSp>
        <p:nvGrpSpPr>
          <p:cNvPr id="131077" name="Group 5"/>
          <p:cNvGrpSpPr/>
          <p:nvPr/>
        </p:nvGrpSpPr>
        <p:grpSpPr bwMode="auto">
          <a:xfrm>
            <a:off x="251520" y="3036168"/>
            <a:ext cx="8712968" cy="2553072"/>
            <a:chOff x="1882" y="11158"/>
            <a:chExt cx="8156" cy="1905"/>
          </a:xfrm>
        </p:grpSpPr>
        <p:pic>
          <p:nvPicPr>
            <p:cNvPr id="131078" name="Picture 6" descr="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7" y="11158"/>
              <a:ext cx="2843" cy="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79" name="Picture 7" descr="3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 y="11159"/>
              <a:ext cx="2543" cy="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80" name="Picture 8" descr="1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0" y="11159"/>
              <a:ext cx="2628" cy="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7E43F8A7-F514-4A5B-B280-B633CC27A2CA}" type="slidenum">
              <a:rPr lang="en-US" altLang="zh-CN"/>
              <a:t>124</a:t>
            </a:fld>
            <a:endParaRPr lang="en-US" altLang="zh-CN"/>
          </a:p>
        </p:txBody>
      </p:sp>
      <p:sp>
        <p:nvSpPr>
          <p:cNvPr id="132098"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endParaRPr lang="zh-CN" altLang="zh-CN" sz="3200" dirty="0"/>
          </a:p>
        </p:txBody>
      </p:sp>
      <p:sp>
        <p:nvSpPr>
          <p:cNvPr id="132099"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2、图像来源认证</a:t>
            </a:r>
          </a:p>
          <a:p>
            <a:pPr marL="540000" lvl="1" indent="-360000">
              <a:lnSpc>
                <a:spcPct val="150000"/>
              </a:lnSpc>
              <a:spcBef>
                <a:spcPts val="600"/>
              </a:spcBef>
              <a:buFont typeface="Wingdings" panose="05000000000000000000" pitchFamily="2" charset="2"/>
              <a:buChar char="Ø"/>
            </a:pPr>
            <a:r>
              <a:rPr lang="zh-CN" altLang="en-US" sz="2400" b="1" dirty="0">
                <a:latin typeface="华文细黑" panose="02010600040101010101" pitchFamily="2" charset="-122"/>
                <a:ea typeface="华文细黑" panose="02010600040101010101" pitchFamily="2" charset="-122"/>
              </a:rPr>
              <a:t>数字照片获取设备特征的识别包括两大类</a:t>
            </a:r>
          </a:p>
          <a:p>
            <a:pPr marL="900000" lvl="2" indent="-360000">
              <a:lnSpc>
                <a:spcPct val="150000"/>
              </a:lnSpc>
              <a:spcBef>
                <a:spcPts val="600"/>
              </a:spcBef>
            </a:pPr>
            <a:r>
              <a:rPr lang="zh-CN" altLang="en-US" sz="2200" b="1" dirty="0">
                <a:latin typeface="华文细黑" panose="02010600040101010101" pitchFamily="2" charset="-122"/>
                <a:ea typeface="华文细黑" panose="02010600040101010101" pitchFamily="2" charset="-122"/>
              </a:rPr>
              <a:t>数码照片、计算机生成图、扫描图像的分类识别</a:t>
            </a:r>
          </a:p>
          <a:p>
            <a:pPr marL="900000" lvl="2" indent="-360000">
              <a:lnSpc>
                <a:spcPct val="150000"/>
              </a:lnSpc>
              <a:spcBef>
                <a:spcPts val="600"/>
              </a:spcBef>
            </a:pPr>
            <a:r>
              <a:rPr lang="zh-CN" altLang="en-US" sz="2200" b="1" dirty="0">
                <a:latin typeface="华文细黑" panose="02010600040101010101" pitchFamily="2" charset="-122"/>
                <a:ea typeface="华文细黑" panose="02010600040101010101" pitchFamily="2" charset="-122"/>
              </a:rPr>
              <a:t>不同品牌、不同类型的数码相机生成照片的分类识别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5"/>
          <p:cNvSpPr>
            <a:spLocks noGrp="1"/>
          </p:cNvSpPr>
          <p:nvPr>
            <p:ph type="sldNum" sz="quarter" idx="12"/>
          </p:nvPr>
        </p:nvSpPr>
        <p:spPr/>
        <p:txBody>
          <a:bodyPr/>
          <a:lstStyle/>
          <a:p>
            <a:fld id="{3451C8A3-51BD-4AD5-9FB8-47A166E8B609}" type="slidenum">
              <a:rPr lang="en-US" altLang="zh-CN"/>
              <a:t>125</a:t>
            </a:fld>
            <a:endParaRPr lang="en-US" altLang="zh-CN"/>
          </a:p>
        </p:txBody>
      </p:sp>
      <p:sp>
        <p:nvSpPr>
          <p:cNvPr id="140290"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endParaRPr lang="zh-CN" altLang="zh-CN" sz="3200" dirty="0"/>
          </a:p>
        </p:txBody>
      </p:sp>
      <p:sp>
        <p:nvSpPr>
          <p:cNvPr id="140291"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2、图像来源取证</a:t>
            </a:r>
          </a:p>
        </p:txBody>
      </p:sp>
      <p:grpSp>
        <p:nvGrpSpPr>
          <p:cNvPr id="140292" name="Group 4"/>
          <p:cNvGrpSpPr/>
          <p:nvPr/>
        </p:nvGrpSpPr>
        <p:grpSpPr bwMode="auto">
          <a:xfrm>
            <a:off x="1173940" y="2348880"/>
            <a:ext cx="7574523" cy="4055456"/>
            <a:chOff x="1860" y="5838"/>
            <a:chExt cx="7380" cy="4524"/>
          </a:xfrm>
        </p:grpSpPr>
        <p:sp>
          <p:nvSpPr>
            <p:cNvPr id="140293" name="Text Box 5"/>
            <p:cNvSpPr txBox="1">
              <a:spLocks noChangeArrowheads="1"/>
            </p:cNvSpPr>
            <p:nvPr/>
          </p:nvSpPr>
          <p:spPr bwMode="auto">
            <a:xfrm>
              <a:off x="1860" y="5838"/>
              <a:ext cx="7380" cy="4524"/>
            </a:xfrm>
            <a:prstGeom prst="rect">
              <a:avLst/>
            </a:prstGeom>
            <a:solidFill>
              <a:srgbClr val="FFFFFF"/>
            </a:solidFill>
            <a:ln w="9525">
              <a:solidFill>
                <a:srgbClr val="000000"/>
              </a:solidFill>
              <a:miter lim="800000"/>
            </a:ln>
          </p:spPr>
          <p:txBody>
            <a:bodyPr/>
            <a:lstStyle/>
            <a:p>
              <a:endParaRPr lang="zh-CN" altLang="zh-CN" sz="2800"/>
            </a:p>
          </p:txBody>
        </p:sp>
        <p:sp>
          <p:nvSpPr>
            <p:cNvPr id="140294" name="Text Box 6"/>
            <p:cNvSpPr txBox="1">
              <a:spLocks noChangeArrowheads="1"/>
            </p:cNvSpPr>
            <p:nvPr/>
          </p:nvSpPr>
          <p:spPr bwMode="auto">
            <a:xfrm>
              <a:off x="2160" y="6276"/>
              <a:ext cx="123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数码相机</a:t>
              </a:r>
              <a:endParaRPr lang="zh-CN" altLang="en-US" sz="2800"/>
            </a:p>
          </p:txBody>
        </p:sp>
        <p:sp>
          <p:nvSpPr>
            <p:cNvPr id="140295" name="Text Box 7"/>
            <p:cNvSpPr txBox="1">
              <a:spLocks noChangeArrowheads="1"/>
            </p:cNvSpPr>
            <p:nvPr/>
          </p:nvSpPr>
          <p:spPr bwMode="auto">
            <a:xfrm>
              <a:off x="2160" y="8148"/>
              <a:ext cx="108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计算机</a:t>
              </a:r>
              <a:endParaRPr lang="zh-CN" altLang="en-US" sz="2800"/>
            </a:p>
          </p:txBody>
        </p:sp>
        <p:sp>
          <p:nvSpPr>
            <p:cNvPr id="140296" name="Text Box 8"/>
            <p:cNvSpPr txBox="1">
              <a:spLocks noChangeArrowheads="1"/>
            </p:cNvSpPr>
            <p:nvPr/>
          </p:nvSpPr>
          <p:spPr bwMode="auto">
            <a:xfrm>
              <a:off x="2160" y="7212"/>
              <a:ext cx="108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扫描仪</a:t>
              </a:r>
              <a:endParaRPr lang="zh-CN" altLang="en-US" sz="2800"/>
            </a:p>
          </p:txBody>
        </p:sp>
        <p:sp>
          <p:nvSpPr>
            <p:cNvPr id="140297" name="Text Box 9"/>
            <p:cNvSpPr txBox="1">
              <a:spLocks noChangeArrowheads="1"/>
            </p:cNvSpPr>
            <p:nvPr/>
          </p:nvSpPr>
          <p:spPr bwMode="auto">
            <a:xfrm>
              <a:off x="2160" y="9084"/>
              <a:ext cx="126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其它设备</a:t>
              </a:r>
              <a:endParaRPr lang="zh-CN" altLang="en-US" sz="2800"/>
            </a:p>
          </p:txBody>
        </p:sp>
        <p:sp>
          <p:nvSpPr>
            <p:cNvPr id="140298" name="Line 10"/>
            <p:cNvSpPr>
              <a:spLocks noChangeShapeType="1"/>
            </p:cNvSpPr>
            <p:nvPr/>
          </p:nvSpPr>
          <p:spPr bwMode="auto">
            <a:xfrm>
              <a:off x="3420" y="6432"/>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299" name="Line 11"/>
            <p:cNvSpPr>
              <a:spLocks noChangeShapeType="1"/>
            </p:cNvSpPr>
            <p:nvPr/>
          </p:nvSpPr>
          <p:spPr bwMode="auto">
            <a:xfrm>
              <a:off x="3240" y="7458"/>
              <a:ext cx="5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00" name="Line 12"/>
            <p:cNvSpPr>
              <a:spLocks noChangeShapeType="1"/>
            </p:cNvSpPr>
            <p:nvPr/>
          </p:nvSpPr>
          <p:spPr bwMode="auto">
            <a:xfrm>
              <a:off x="3240" y="8370"/>
              <a:ext cx="5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01" name="Line 13"/>
            <p:cNvSpPr>
              <a:spLocks noChangeShapeType="1"/>
            </p:cNvSpPr>
            <p:nvPr/>
          </p:nvSpPr>
          <p:spPr bwMode="auto">
            <a:xfrm>
              <a:off x="3420" y="9321"/>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02" name="AutoShape 14"/>
            <p:cNvSpPr>
              <a:spLocks noChangeArrowheads="1"/>
            </p:cNvSpPr>
            <p:nvPr/>
          </p:nvSpPr>
          <p:spPr bwMode="auto">
            <a:xfrm>
              <a:off x="3780" y="6186"/>
              <a:ext cx="1080" cy="3432"/>
            </a:xfrm>
            <a:prstGeom prst="rightArrowCallout">
              <a:avLst>
                <a:gd name="adj1" fmla="val 79444"/>
                <a:gd name="adj2" fmla="val 79444"/>
                <a:gd name="adj3" fmla="val 16667"/>
                <a:gd name="adj4" fmla="val 66667"/>
              </a:avLst>
            </a:prstGeom>
            <a:solidFill>
              <a:srgbClr val="FFFFFF"/>
            </a:solidFill>
            <a:ln w="9525">
              <a:solidFill>
                <a:srgbClr val="000000"/>
              </a:solidFill>
              <a:miter lim="800000"/>
            </a:ln>
          </p:spPr>
          <p:txBody>
            <a:bodyPr/>
            <a:lstStyle/>
            <a:p>
              <a:endParaRPr lang="zh-CN" altLang="en-US"/>
            </a:p>
          </p:txBody>
        </p:sp>
        <p:sp>
          <p:nvSpPr>
            <p:cNvPr id="140303" name="Text Box 15"/>
            <p:cNvSpPr txBox="1">
              <a:spLocks noChangeArrowheads="1"/>
            </p:cNvSpPr>
            <p:nvPr/>
          </p:nvSpPr>
          <p:spPr bwMode="auto">
            <a:xfrm>
              <a:off x="3885" y="6276"/>
              <a:ext cx="599" cy="3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lstStyle/>
            <a:p>
              <a:pPr algn="ctr"/>
              <a:r>
                <a:rPr lang="zh-CN" altLang="en-US" sz="1600">
                  <a:latin typeface="Times New Roman" panose="02020603050405020304" pitchFamily="18" charset="0"/>
                </a:rPr>
                <a:t>数字图像</a:t>
              </a:r>
              <a:endParaRPr lang="zh-CN" altLang="en-US" sz="2800"/>
            </a:p>
          </p:txBody>
        </p:sp>
        <p:sp>
          <p:nvSpPr>
            <p:cNvPr id="140304" name="Text Box 16"/>
            <p:cNvSpPr txBox="1">
              <a:spLocks noChangeArrowheads="1"/>
            </p:cNvSpPr>
            <p:nvPr/>
          </p:nvSpPr>
          <p:spPr bwMode="auto">
            <a:xfrm>
              <a:off x="4860" y="6744"/>
              <a:ext cx="1620" cy="2184"/>
            </a:xfrm>
            <a:prstGeom prst="rect">
              <a:avLst/>
            </a:prstGeom>
            <a:solidFill>
              <a:srgbClr val="FFFFFF"/>
            </a:solidFill>
            <a:ln w="9525">
              <a:solidFill>
                <a:srgbClr val="000000"/>
              </a:solidFill>
              <a:miter lim="800000"/>
            </a:ln>
          </p:spPr>
          <p:txBody>
            <a:bodyPr/>
            <a:lstStyle/>
            <a:p>
              <a:pPr algn="just"/>
              <a:r>
                <a:rPr lang="en-US" altLang="zh-CN" sz="1600">
                  <a:latin typeface="Times New Roman" panose="02020603050405020304" pitchFamily="18" charset="0"/>
                </a:rPr>
                <a:t> </a:t>
              </a:r>
              <a:r>
                <a:rPr lang="en-US" altLang="zh-CN" sz="2000">
                  <a:latin typeface="Times New Roman" panose="02020603050405020304" pitchFamily="18" charset="0"/>
                </a:rPr>
                <a:t> </a:t>
              </a:r>
              <a:r>
                <a:rPr lang="zh-CN" altLang="en-US" sz="2000">
                  <a:latin typeface="Times New Roman" panose="02020603050405020304" pitchFamily="18" charset="0"/>
                </a:rPr>
                <a:t>特征库</a:t>
              </a:r>
            </a:p>
            <a:p>
              <a:pPr algn="just"/>
              <a:r>
                <a:rPr lang="zh-CN" altLang="en-US" sz="2000">
                  <a:latin typeface="Times New Roman" panose="02020603050405020304" pitchFamily="18" charset="0"/>
                </a:rPr>
                <a:t>进行图像来源认证</a:t>
              </a:r>
              <a:endParaRPr lang="zh-CN" altLang="en-US" sz="2800"/>
            </a:p>
          </p:txBody>
        </p:sp>
        <p:sp>
          <p:nvSpPr>
            <p:cNvPr id="140305" name="Text Box 17"/>
            <p:cNvSpPr txBox="1">
              <a:spLocks noChangeArrowheads="1"/>
            </p:cNvSpPr>
            <p:nvPr/>
          </p:nvSpPr>
          <p:spPr bwMode="auto">
            <a:xfrm>
              <a:off x="7575" y="6306"/>
              <a:ext cx="120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数码相机</a:t>
              </a:r>
              <a:endParaRPr lang="zh-CN" altLang="en-US" sz="2800"/>
            </a:p>
          </p:txBody>
        </p:sp>
        <p:sp>
          <p:nvSpPr>
            <p:cNvPr id="140306" name="Text Box 18"/>
            <p:cNvSpPr txBox="1">
              <a:spLocks noChangeArrowheads="1"/>
            </p:cNvSpPr>
            <p:nvPr/>
          </p:nvSpPr>
          <p:spPr bwMode="auto">
            <a:xfrm>
              <a:off x="7740" y="7152"/>
              <a:ext cx="99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扫描仪</a:t>
              </a:r>
              <a:endParaRPr lang="zh-CN" altLang="en-US" sz="2800"/>
            </a:p>
          </p:txBody>
        </p:sp>
        <p:sp>
          <p:nvSpPr>
            <p:cNvPr id="140307" name="Text Box 19"/>
            <p:cNvSpPr txBox="1">
              <a:spLocks noChangeArrowheads="1"/>
            </p:cNvSpPr>
            <p:nvPr/>
          </p:nvSpPr>
          <p:spPr bwMode="auto">
            <a:xfrm>
              <a:off x="7740" y="8088"/>
              <a:ext cx="990" cy="45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计算机</a:t>
              </a:r>
              <a:endParaRPr lang="zh-CN" altLang="en-US" sz="2800"/>
            </a:p>
          </p:txBody>
        </p:sp>
        <p:sp>
          <p:nvSpPr>
            <p:cNvPr id="140308" name="Text Box 20"/>
            <p:cNvSpPr txBox="1">
              <a:spLocks noChangeArrowheads="1"/>
            </p:cNvSpPr>
            <p:nvPr/>
          </p:nvSpPr>
          <p:spPr bwMode="auto">
            <a:xfrm>
              <a:off x="7560" y="9135"/>
              <a:ext cx="126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其它设备</a:t>
              </a:r>
              <a:endParaRPr lang="zh-CN" altLang="en-US" sz="2800"/>
            </a:p>
          </p:txBody>
        </p:sp>
        <p:sp>
          <p:nvSpPr>
            <p:cNvPr id="140309" name="AutoShape 21"/>
            <p:cNvSpPr>
              <a:spLocks noChangeArrowheads="1"/>
            </p:cNvSpPr>
            <p:nvPr/>
          </p:nvSpPr>
          <p:spPr bwMode="auto">
            <a:xfrm>
              <a:off x="6480" y="7680"/>
              <a:ext cx="360" cy="46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FF"/>
            </a:solidFill>
            <a:ln w="9525">
              <a:solidFill>
                <a:srgbClr val="000000"/>
              </a:solidFill>
              <a:miter lim="800000"/>
            </a:ln>
          </p:spPr>
          <p:txBody>
            <a:bodyPr/>
            <a:lstStyle/>
            <a:p>
              <a:endParaRPr lang="zh-CN" altLang="en-US"/>
            </a:p>
          </p:txBody>
        </p:sp>
        <p:sp>
          <p:nvSpPr>
            <p:cNvPr id="140310" name="Line 22"/>
            <p:cNvSpPr>
              <a:spLocks noChangeShapeType="1"/>
            </p:cNvSpPr>
            <p:nvPr/>
          </p:nvSpPr>
          <p:spPr bwMode="auto">
            <a:xfrm>
              <a:off x="6840" y="6588"/>
              <a:ext cx="0" cy="28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0311" name="Line 23"/>
            <p:cNvSpPr>
              <a:spLocks noChangeShapeType="1"/>
            </p:cNvSpPr>
            <p:nvPr/>
          </p:nvSpPr>
          <p:spPr bwMode="auto">
            <a:xfrm>
              <a:off x="6840" y="6588"/>
              <a:ext cx="72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12" name="Line 24"/>
            <p:cNvSpPr>
              <a:spLocks noChangeShapeType="1"/>
            </p:cNvSpPr>
            <p:nvPr/>
          </p:nvSpPr>
          <p:spPr bwMode="auto">
            <a:xfrm>
              <a:off x="6840" y="7368"/>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13" name="Line 25"/>
            <p:cNvSpPr>
              <a:spLocks noChangeShapeType="1"/>
            </p:cNvSpPr>
            <p:nvPr/>
          </p:nvSpPr>
          <p:spPr bwMode="auto">
            <a:xfrm>
              <a:off x="6840" y="83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14" name="Line 26"/>
            <p:cNvSpPr>
              <a:spLocks noChangeShapeType="1"/>
            </p:cNvSpPr>
            <p:nvPr/>
          </p:nvSpPr>
          <p:spPr bwMode="auto">
            <a:xfrm>
              <a:off x="6840" y="9396"/>
              <a:ext cx="72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0315" name="Text Box 27"/>
            <p:cNvSpPr txBox="1">
              <a:spLocks noChangeArrowheads="1"/>
            </p:cNvSpPr>
            <p:nvPr/>
          </p:nvSpPr>
          <p:spPr bwMode="auto">
            <a:xfrm>
              <a:off x="3960" y="9864"/>
              <a:ext cx="34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80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C4B974F-AB16-4EA7-A7A2-2B8E78AFAE7A}" type="slidenum">
              <a:rPr lang="en-US" altLang="zh-CN"/>
              <a:t>126</a:t>
            </a:fld>
            <a:endParaRPr lang="en-US" altLang="zh-CN"/>
          </a:p>
        </p:txBody>
      </p:sp>
      <p:sp>
        <p:nvSpPr>
          <p:cNvPr id="71682" name="Rectangle 2"/>
          <p:cNvSpPr>
            <a:spLocks noGrp="1" noChangeArrowheads="1"/>
          </p:cNvSpPr>
          <p:nvPr>
            <p:ph type="title"/>
          </p:nvPr>
        </p:nvSpPr>
        <p:spPr/>
        <p:txBody>
          <a:bodyPr/>
          <a:lstStyle/>
          <a:p>
            <a:r>
              <a:rPr lang="zh-CN" altLang="en-US" sz="3200" b="1" dirty="0"/>
              <a:t>三、数字图像盲取证</a:t>
            </a:r>
            <a:r>
              <a:rPr lang="en-US" altLang="zh-CN" sz="3200" dirty="0"/>
              <a:t>-</a:t>
            </a:r>
            <a:r>
              <a:rPr lang="zh-CN" altLang="en-US" sz="3200" dirty="0"/>
              <a:t>研究方向</a:t>
            </a:r>
          </a:p>
        </p:txBody>
      </p:sp>
      <p:sp>
        <p:nvSpPr>
          <p:cNvPr id="71683"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3、图像隐密分析检测</a:t>
            </a:r>
          </a:p>
          <a:p>
            <a:pPr marL="540000" lvl="1" indent="-36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回答上述数字图像取证的第三个问题：这幅图像是完整的吗？是否被嵌入了看不见的秘密信息？需要用到隐密分析取证。图像隐密分析技术本是信息安全技术的一个分支，也是数字图像完整性取证的一部分。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416487E-5079-4E30-B69B-048C8236B7FA}" type="slidenum">
              <a:rPr lang="en-US" altLang="zh-CN"/>
              <a:t>127</a:t>
            </a:fld>
            <a:endParaRPr lang="en-US" altLang="zh-CN"/>
          </a:p>
        </p:txBody>
      </p:sp>
      <p:sp>
        <p:nvSpPr>
          <p:cNvPr id="73730"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p>
        </p:txBody>
      </p:sp>
      <p:sp>
        <p:nvSpPr>
          <p:cNvPr id="73731" name="Rectangle 3"/>
          <p:cNvSpPr>
            <a:spLocks noGrp="1" noChangeArrowheads="1"/>
          </p:cNvSpPr>
          <p:nvPr>
            <p:ph type="body" idx="1"/>
          </p:nvPr>
        </p:nvSpPr>
        <p:spPr/>
        <p:txBody>
          <a:bodyPr>
            <a:normAutofit fontScale="92500"/>
          </a:bodyPr>
          <a:lstStyle/>
          <a:p>
            <a:pPr marL="0" indent="540000">
              <a:lnSpc>
                <a:spcPct val="150000"/>
              </a:lnSpc>
              <a:spcBef>
                <a:spcPts val="600"/>
              </a:spcBef>
            </a:pPr>
            <a:r>
              <a:rPr lang="zh-CN" altLang="en-US" sz="2600" b="1" dirty="0">
                <a:latin typeface="华文细黑" panose="02010600040101010101" pitchFamily="2" charset="-122"/>
                <a:ea typeface="华文细黑" panose="02010600040101010101" pitchFamily="2" charset="-122"/>
              </a:rPr>
              <a:t>同幅图复制粘贴篡改</a:t>
            </a:r>
            <a:r>
              <a:rPr lang="zh-CN" altLang="en-US" sz="2600" dirty="0"/>
              <a:t> </a:t>
            </a:r>
          </a:p>
          <a:p>
            <a:pPr marL="540000" lvl="1" indent="-360000">
              <a:lnSpc>
                <a:spcPct val="150000"/>
              </a:lnSpc>
              <a:spcBef>
                <a:spcPts val="600"/>
              </a:spcBef>
            </a:pPr>
            <a:r>
              <a:rPr lang="zh-CN" altLang="en-US" sz="2400" b="1" dirty="0">
                <a:latin typeface="华文细黑" panose="02010600040101010101" pitchFamily="2" charset="-122"/>
                <a:ea typeface="华文细黑" panose="02010600040101010101" pitchFamily="2" charset="-122"/>
              </a:rPr>
              <a:t>复制或粘贴一幅图像中的一部分以覆盖同一幅图像中的另一部分。</a:t>
            </a:r>
          </a:p>
          <a:p>
            <a:pPr marL="540000" lvl="1" indent="-360000">
              <a:lnSpc>
                <a:spcPct val="150000"/>
              </a:lnSpc>
              <a:spcBef>
                <a:spcPts val="600"/>
              </a:spcBef>
            </a:pPr>
            <a:r>
              <a:rPr lang="zh-CN" altLang="en-US" sz="2400" b="1" dirty="0">
                <a:latin typeface="华文细黑" panose="02010600040101010101" pitchFamily="2" charset="-122"/>
                <a:ea typeface="华文细黑" panose="02010600040101010101" pitchFamily="2" charset="-122"/>
              </a:rPr>
              <a:t>由于同一幅图的亮度、色彩一般不会有明显的变化，因此在同一幅图中进行复制粘贴操作不容易引起视觉上的怀疑。</a:t>
            </a:r>
          </a:p>
          <a:p>
            <a:pPr marL="540000" lvl="1" indent="-360000">
              <a:lnSpc>
                <a:spcPct val="150000"/>
              </a:lnSpc>
              <a:spcBef>
                <a:spcPts val="600"/>
              </a:spcBef>
            </a:pPr>
            <a:r>
              <a:rPr lang="zh-CN" altLang="en-US" sz="2400" b="1" dirty="0">
                <a:latin typeface="华文细黑" panose="02010600040101010101" pitchFamily="2" charset="-122"/>
                <a:ea typeface="华文细黑" panose="02010600040101010101" pitchFamily="2" charset="-122"/>
              </a:rPr>
              <a:t>同幅图复制粘贴的篡改拼接区域不明显，图像篡改部分将会很难被察觉，所以此类篡改一般为单一的复制粘贴篡改操作，不会再用模糊等润饰方法对边缘拼接区域进行处理。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F40C74DA-40B0-4E34-B1CB-E16D3D061C2B}" type="slidenum">
              <a:rPr lang="en-US" altLang="zh-CN"/>
              <a:t>128</a:t>
            </a:fld>
            <a:endParaRPr lang="en-US" altLang="zh-CN"/>
          </a:p>
        </p:txBody>
      </p:sp>
      <p:sp>
        <p:nvSpPr>
          <p:cNvPr id="74754" name="Rectangle 2"/>
          <p:cNvSpPr>
            <a:spLocks noGrp="1" noChangeArrowheads="1"/>
          </p:cNvSpPr>
          <p:nvPr>
            <p:ph type="title"/>
          </p:nvPr>
        </p:nvSpPr>
        <p:spPr/>
        <p:txBody>
          <a:bodyPr/>
          <a:lstStyle/>
          <a:p>
            <a:endParaRPr lang="zh-CN" altLang="zh-CN"/>
          </a:p>
        </p:txBody>
      </p:sp>
      <p:sp>
        <p:nvSpPr>
          <p:cNvPr id="74755" name="Rectangle 3"/>
          <p:cNvSpPr>
            <a:spLocks noGrp="1" noChangeArrowheads="1"/>
          </p:cNvSpPr>
          <p:nvPr>
            <p:ph type="body" idx="1"/>
          </p:nvPr>
        </p:nvSpPr>
        <p:spPr/>
        <p:txBody>
          <a:bodyPr/>
          <a:lstStyle/>
          <a:p>
            <a:endParaRPr lang="zh-CN" altLang="zh-CN" dirty="0"/>
          </a:p>
        </p:txBody>
      </p:sp>
      <p:grpSp>
        <p:nvGrpSpPr>
          <p:cNvPr id="74756" name="Group 4"/>
          <p:cNvGrpSpPr/>
          <p:nvPr/>
        </p:nvGrpSpPr>
        <p:grpSpPr bwMode="auto">
          <a:xfrm>
            <a:off x="971600" y="366713"/>
            <a:ext cx="7056784" cy="5168900"/>
            <a:chOff x="1815" y="1618"/>
            <a:chExt cx="8310" cy="7202"/>
          </a:xfrm>
        </p:grpSpPr>
        <p:grpSp>
          <p:nvGrpSpPr>
            <p:cNvPr id="74757" name="Group 5"/>
            <p:cNvGrpSpPr/>
            <p:nvPr/>
          </p:nvGrpSpPr>
          <p:grpSpPr bwMode="auto">
            <a:xfrm>
              <a:off x="1980" y="1618"/>
              <a:ext cx="7980" cy="3750"/>
              <a:chOff x="1965" y="8928"/>
              <a:chExt cx="7980" cy="3750"/>
            </a:xfrm>
          </p:grpSpPr>
          <p:pic>
            <p:nvPicPr>
              <p:cNvPr id="74758" name="Picture 6" descr="BABY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5" y="8928"/>
                <a:ext cx="3963" cy="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Picture 7" descr="BABY2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5" y="8928"/>
                <a:ext cx="3960" cy="3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476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5" y="5490"/>
              <a:ext cx="8310" cy="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4761" name="Rectangle 9"/>
          <p:cNvSpPr>
            <a:spLocks noChangeArrowheads="1"/>
          </p:cNvSpPr>
          <p:nvPr/>
        </p:nvSpPr>
        <p:spPr bwMode="auto">
          <a:xfrm>
            <a:off x="2819400" y="5715000"/>
            <a:ext cx="3913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t>用背景掩盖存在物体的复制粘贴操作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992CBA07-F6AA-44F1-8F1F-DFC0CB9A37E7}" type="slidenum">
              <a:rPr lang="en-US" altLang="zh-CN"/>
              <a:t>129</a:t>
            </a:fld>
            <a:endParaRPr lang="en-US" altLang="zh-CN"/>
          </a:p>
        </p:txBody>
      </p:sp>
      <p:sp>
        <p:nvSpPr>
          <p:cNvPr id="75778" name="Rectangle 2"/>
          <p:cNvSpPr>
            <a:spLocks noGrp="1" noChangeArrowheads="1"/>
          </p:cNvSpPr>
          <p:nvPr>
            <p:ph type="title"/>
          </p:nvPr>
        </p:nvSpPr>
        <p:spPr/>
        <p:txBody>
          <a:bodyPr/>
          <a:lstStyle/>
          <a:p>
            <a:endParaRPr lang="zh-CN" altLang="zh-CN"/>
          </a:p>
        </p:txBody>
      </p:sp>
      <p:sp>
        <p:nvSpPr>
          <p:cNvPr id="75779" name="Rectangle 3"/>
          <p:cNvSpPr>
            <a:spLocks noGrp="1" noChangeArrowheads="1"/>
          </p:cNvSpPr>
          <p:nvPr>
            <p:ph type="body" idx="1"/>
          </p:nvPr>
        </p:nvSpPr>
        <p:spPr/>
        <p:txBody>
          <a:bodyPr/>
          <a:lstStyle/>
          <a:p>
            <a:endParaRPr lang="zh-CN" altLang="zh-CN"/>
          </a:p>
        </p:txBody>
      </p:sp>
      <p:pic>
        <p:nvPicPr>
          <p:cNvPr id="75780" name="Picture 4" descr="fei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3" y="162254"/>
            <a:ext cx="7086307" cy="495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Rectangle 5"/>
          <p:cNvSpPr>
            <a:spLocks noChangeArrowheads="1"/>
          </p:cNvSpPr>
          <p:nvPr/>
        </p:nvSpPr>
        <p:spPr bwMode="auto">
          <a:xfrm>
            <a:off x="627622" y="5266997"/>
            <a:ext cx="7760802" cy="1354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478800">
              <a:lnSpc>
                <a:spcPct val="150000"/>
              </a:lnSpc>
            </a:pPr>
            <a:r>
              <a:rPr lang="zh-CN" altLang="en-US" sz="1900" dirty="0"/>
              <a:t>也有在同一幅图中复制粘贴物体而不是用背景来掩盖物体的例子，著名的“广场鸽”案例就是这样一个典型的例子，当然，这样的操作容易被人眼察觉到一幅图中有两个一模一样的物体。</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BDFA5F9-ED57-4DFA-8995-5495C094A1B5}" type="slidenum">
              <a:rPr lang="en-US" altLang="zh-CN"/>
              <a:t>130</a:t>
            </a:fld>
            <a:endParaRPr lang="en-US" altLang="zh-CN"/>
          </a:p>
        </p:txBody>
      </p:sp>
      <p:sp>
        <p:nvSpPr>
          <p:cNvPr id="76802"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76803" name="Rectangle 3"/>
          <p:cNvSpPr>
            <a:spLocks noGrp="1" noChangeArrowheads="1"/>
          </p:cNvSpPr>
          <p:nvPr>
            <p:ph type="body" idx="1"/>
          </p:nvPr>
        </p:nvSpPr>
        <p:spPr>
          <a:xfrm>
            <a:off x="628814" y="1462088"/>
            <a:ext cx="7887564" cy="4894262"/>
          </a:xfrm>
        </p:spPr>
        <p:txBody>
          <a:bodyPr>
            <a:normAutofit fontScale="92500" lnSpcReduction="10000"/>
          </a:bodyPr>
          <a:lstStyle/>
          <a:p>
            <a:pPr marL="0" indent="457200">
              <a:lnSpc>
                <a:spcPct val="160000"/>
              </a:lnSpc>
              <a:spcBef>
                <a:spcPts val="600"/>
              </a:spcBef>
            </a:pPr>
            <a:r>
              <a:rPr lang="zh-CN" altLang="en-US" sz="2600" b="1" dirty="0">
                <a:latin typeface="华文细黑" panose="02010600040101010101" pitchFamily="2" charset="-122"/>
                <a:ea typeface="华文细黑" panose="02010600040101010101" pitchFamily="2" charset="-122"/>
              </a:rPr>
              <a:t>不同图复制拼接篡改</a:t>
            </a:r>
            <a:r>
              <a:rPr lang="zh-CN" altLang="en-US" sz="2600" dirty="0"/>
              <a:t> </a:t>
            </a:r>
          </a:p>
          <a:p>
            <a:pPr marL="540000" lvl="1" indent="-360000">
              <a:lnSpc>
                <a:spcPct val="160000"/>
              </a:lnSpc>
              <a:spcBef>
                <a:spcPts val="600"/>
              </a:spcBef>
            </a:pPr>
            <a:r>
              <a:rPr lang="zh-CN" altLang="en-US" sz="2400" b="1" dirty="0">
                <a:latin typeface="华文细黑" panose="02010600040101010101" pitchFamily="2" charset="-122"/>
                <a:ea typeface="华文细黑" panose="02010600040101010101" pitchFamily="2" charset="-122"/>
              </a:rPr>
              <a:t>两张或多张图像中的人或物体的不同部分拼接到一起，以期达到伪装成是同一张照片的目的。</a:t>
            </a:r>
          </a:p>
          <a:p>
            <a:pPr marL="540000" lvl="1" indent="-360000">
              <a:lnSpc>
                <a:spcPct val="160000"/>
              </a:lnSpc>
              <a:spcBef>
                <a:spcPts val="600"/>
              </a:spcBef>
            </a:pPr>
            <a:r>
              <a:rPr lang="zh-CN" altLang="en-US" sz="2400" b="1" dirty="0">
                <a:latin typeface="华文细黑" panose="02010600040101010101" pitchFamily="2" charset="-122"/>
                <a:ea typeface="华文细黑" panose="02010600040101010101" pitchFamily="2" charset="-122"/>
              </a:rPr>
              <a:t>常见表现形式有“换头术”等，这也是一种应用较广泛的篡改方法。</a:t>
            </a:r>
          </a:p>
          <a:p>
            <a:pPr marL="540000" lvl="1" indent="-360000">
              <a:lnSpc>
                <a:spcPct val="160000"/>
              </a:lnSpc>
              <a:spcBef>
                <a:spcPts val="600"/>
              </a:spcBef>
            </a:pPr>
            <a:r>
              <a:rPr lang="zh-CN" altLang="en-US" sz="2400" b="1" dirty="0">
                <a:latin typeface="华文细黑" panose="02010600040101010101" pitchFamily="2" charset="-122"/>
                <a:ea typeface="华文细黑" panose="02010600040101010101" pitchFamily="2" charset="-122"/>
              </a:rPr>
              <a:t>由于多幅照片的亮度、色彩区别较大，在两幅或多幅照片图像之间进行复制粘贴操作的拼接边缘会比较明显，篡改者为了抹去篡改边缘的痕迹，大多都进行边缘模糊等润饰操作。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69AF948-DCB1-40C8-ACB7-3BCE1CA1C9A8}" type="slidenum">
              <a:rPr lang="en-US" altLang="zh-CN"/>
              <a:t>131</a:t>
            </a:fld>
            <a:endParaRPr lang="en-US" altLang="zh-CN"/>
          </a:p>
        </p:txBody>
      </p:sp>
      <p:sp>
        <p:nvSpPr>
          <p:cNvPr id="77826" name="Rectangle 2"/>
          <p:cNvSpPr>
            <a:spLocks noGrp="1" noChangeArrowheads="1"/>
          </p:cNvSpPr>
          <p:nvPr>
            <p:ph type="title"/>
          </p:nvPr>
        </p:nvSpPr>
        <p:spPr/>
        <p:txBody>
          <a:bodyPr/>
          <a:lstStyle/>
          <a:p>
            <a:endParaRPr lang="zh-CN" altLang="zh-CN"/>
          </a:p>
        </p:txBody>
      </p:sp>
      <p:sp>
        <p:nvSpPr>
          <p:cNvPr id="77827" name="Rectangle 3"/>
          <p:cNvSpPr>
            <a:spLocks noGrp="1" noChangeArrowheads="1"/>
          </p:cNvSpPr>
          <p:nvPr>
            <p:ph type="body" idx="1"/>
          </p:nvPr>
        </p:nvSpPr>
        <p:spPr/>
        <p:txBody>
          <a:bodyPr/>
          <a:lstStyle/>
          <a:p>
            <a:endParaRPr lang="zh-CN" altLang="zh-CN"/>
          </a:p>
        </p:txBody>
      </p:sp>
      <p:pic>
        <p:nvPicPr>
          <p:cNvPr id="77828" name="Picture 4" descr="5-3上"/>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66713"/>
            <a:ext cx="8208912" cy="5353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Rectangle 6"/>
          <p:cNvSpPr>
            <a:spLocks noChangeArrowheads="1"/>
          </p:cNvSpPr>
          <p:nvPr/>
        </p:nvSpPr>
        <p:spPr bwMode="auto">
          <a:xfrm>
            <a:off x="3131840" y="5951567"/>
            <a:ext cx="2541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不同图复制粘贴篡改图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4B8CEA0-540C-48A9-A419-3F50A66F9D15}" type="slidenum">
              <a:rPr lang="en-US" altLang="zh-CN"/>
              <a:t>132</a:t>
            </a:fld>
            <a:endParaRPr lang="en-US" altLang="zh-CN"/>
          </a:p>
        </p:txBody>
      </p:sp>
      <p:sp>
        <p:nvSpPr>
          <p:cNvPr id="100354" name="Rectangle 2"/>
          <p:cNvSpPr>
            <a:spLocks noGrp="1" noChangeArrowheads="1"/>
          </p:cNvSpPr>
          <p:nvPr>
            <p:ph type="title"/>
          </p:nvPr>
        </p:nvSpPr>
        <p:spPr/>
        <p:txBody>
          <a:bodyPr/>
          <a:lstStyle/>
          <a:p>
            <a:endParaRPr lang="zh-CN" altLang="zh-CN"/>
          </a:p>
        </p:txBody>
      </p:sp>
      <p:sp>
        <p:nvSpPr>
          <p:cNvPr id="100355" name="Rectangle 3"/>
          <p:cNvSpPr>
            <a:spLocks noGrp="1" noChangeArrowheads="1"/>
          </p:cNvSpPr>
          <p:nvPr>
            <p:ph type="body" idx="1"/>
          </p:nvPr>
        </p:nvSpPr>
        <p:spPr/>
        <p:txBody>
          <a:bodyPr/>
          <a:lstStyle/>
          <a:p>
            <a:endParaRPr lang="zh-CN" altLang="zh-CN"/>
          </a:p>
        </p:txBody>
      </p:sp>
      <p:pic>
        <p:nvPicPr>
          <p:cNvPr id="100356" name="Picture 4" descr="pinj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7619"/>
            <a:ext cx="8497904" cy="5424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Rectangle 5"/>
          <p:cNvSpPr>
            <a:spLocks noChangeArrowheads="1"/>
          </p:cNvSpPr>
          <p:nvPr/>
        </p:nvSpPr>
        <p:spPr bwMode="auto">
          <a:xfrm>
            <a:off x="3657600" y="5791200"/>
            <a:ext cx="2541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a:t>不同图复制粘贴篡改图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0B604B7-0D4E-4F3D-9FA4-9D68CEB03B48}" type="slidenum">
              <a:rPr lang="en-US" altLang="zh-CN"/>
              <a:t>133</a:t>
            </a:fld>
            <a:endParaRPr lang="en-US" altLang="zh-CN"/>
          </a:p>
        </p:txBody>
      </p:sp>
      <p:sp>
        <p:nvSpPr>
          <p:cNvPr id="78850"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p>
        </p:txBody>
      </p:sp>
      <p:sp>
        <p:nvSpPr>
          <p:cNvPr id="78851" name="Rectangle 3"/>
          <p:cNvSpPr>
            <a:spLocks noGrp="1" noChangeArrowheads="1"/>
          </p:cNvSpPr>
          <p:nvPr>
            <p:ph type="body" idx="1"/>
          </p:nvPr>
        </p:nvSpPr>
        <p:spPr/>
        <p:txBody>
          <a:bodyPr/>
          <a:lstStyle/>
          <a:p>
            <a:pPr marL="46800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遍历搜寻法：首先将图像分块，把每一图像块当成一个模板，遍历图像剩余部分，看是否存在跟模板完全一样的图像块，若存在，则增大图像块的大小，重新搜索，直到搜索不到完全相同的图像块为止。</a:t>
            </a:r>
          </a:p>
          <a:p>
            <a:pPr marL="540000" lvl="2" indent="457200">
              <a:lnSpc>
                <a:spcPct val="150000"/>
              </a:lnSpc>
              <a:spcBef>
                <a:spcPts val="600"/>
              </a:spcBef>
            </a:pPr>
            <a:r>
              <a:rPr lang="zh-CN" altLang="en-US" sz="2000" b="1" dirty="0">
                <a:latin typeface="华文细黑" panose="02010600040101010101" pitchFamily="2" charset="-122"/>
                <a:ea typeface="华文细黑" panose="02010600040101010101" pitchFamily="2" charset="-122"/>
              </a:rPr>
              <a:t>优点：理论简单，精确度高。</a:t>
            </a:r>
          </a:p>
          <a:p>
            <a:pPr marL="540000" lvl="2" indent="457200">
              <a:lnSpc>
                <a:spcPct val="150000"/>
              </a:lnSpc>
              <a:spcBef>
                <a:spcPts val="600"/>
              </a:spcBef>
            </a:pPr>
            <a:r>
              <a:rPr lang="zh-CN" altLang="en-US" sz="2000" b="1" dirty="0">
                <a:latin typeface="华文细黑" panose="02010600040101010101" pitchFamily="2" charset="-122"/>
                <a:ea typeface="华文细黑" panose="02010600040101010101" pitchFamily="2" charset="-122"/>
              </a:rPr>
              <a:t>缺点：运算量太大，对自然图像噪声的鲁棒性不好。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26EDDAF-F19B-4AFC-8336-8956A6F5F82D}" type="slidenum">
              <a:rPr lang="en-US" altLang="zh-CN"/>
              <a:t>134</a:t>
            </a:fld>
            <a:endParaRPr lang="en-US" altLang="zh-CN"/>
          </a:p>
        </p:txBody>
      </p:sp>
      <p:sp>
        <p:nvSpPr>
          <p:cNvPr id="101378"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101379" name="Rectangle 3"/>
          <p:cNvSpPr>
            <a:spLocks noGrp="1" noChangeArrowheads="1"/>
          </p:cNvSpPr>
          <p:nvPr>
            <p:ph type="body" idx="1"/>
          </p:nvPr>
        </p:nvSpPr>
        <p:spPr/>
        <p:txBody>
          <a:bodyPr/>
          <a:lstStyle/>
          <a:p>
            <a:pPr marL="46800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图像块自相关矩阵法：根据两个复制粘贴的图像块完全相同而具有很强的自相关性的原理进行搜寻。首先设定自相关判别阈值，再遍历搜寻所有图像块，如果搜寻到超过设定阈值的两个图像块，则认为这两个图像块中的一块是另一块的复制粘贴块。</a:t>
            </a:r>
          </a:p>
          <a:p>
            <a:pPr marL="540000" lvl="2" indent="457200">
              <a:lnSpc>
                <a:spcPct val="150000"/>
              </a:lnSpc>
              <a:spcBef>
                <a:spcPts val="600"/>
              </a:spcBef>
            </a:pPr>
            <a:r>
              <a:rPr lang="zh-CN" altLang="en-US" sz="2000" b="1" dirty="0">
                <a:latin typeface="华文细黑" panose="02010600040101010101" pitchFamily="2" charset="-122"/>
                <a:ea typeface="华文细黑" panose="02010600040101010101" pitchFamily="2" charset="-122"/>
              </a:rPr>
              <a:t>优点：运算量相对遍历搜寻法小</a:t>
            </a:r>
          </a:p>
          <a:p>
            <a:pPr marL="540000" lvl="2" indent="457200">
              <a:lnSpc>
                <a:spcPct val="150000"/>
              </a:lnSpc>
              <a:spcBef>
                <a:spcPts val="600"/>
              </a:spcBef>
            </a:pPr>
            <a:r>
              <a:rPr lang="zh-CN" altLang="en-US" sz="2000" b="1" dirty="0">
                <a:latin typeface="华文细黑" panose="02010600040101010101" pitchFamily="2" charset="-122"/>
                <a:ea typeface="华文细黑" panose="02010600040101010101" pitchFamily="2" charset="-122"/>
              </a:rPr>
              <a:t>缺点：只能检测出较大复制－粘贴图像块（很多文献提出约为原图1/4大小的图像块）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71A63B2-2E53-4606-97A6-28C30892242E}" type="slidenum">
              <a:rPr lang="en-US" altLang="zh-CN"/>
              <a:t>135</a:t>
            </a:fld>
            <a:endParaRPr lang="en-US" altLang="zh-CN"/>
          </a:p>
        </p:txBody>
      </p:sp>
      <p:sp>
        <p:nvSpPr>
          <p:cNvPr id="102402"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102403" name="Rectangle 3"/>
          <p:cNvSpPr>
            <a:spLocks noGrp="1" noChangeArrowheads="1"/>
          </p:cNvSpPr>
          <p:nvPr>
            <p:ph type="body" idx="1"/>
          </p:nvPr>
        </p:nvSpPr>
        <p:spPr>
          <a:xfrm>
            <a:off x="628814" y="1462088"/>
            <a:ext cx="7887564" cy="5135264"/>
          </a:xfrm>
        </p:spPr>
        <p:txBody>
          <a:bodyPr>
            <a:normAutofit fontScale="85000" lnSpcReduction="20000"/>
          </a:bodyPr>
          <a:lstStyle/>
          <a:p>
            <a:pPr marL="46800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图像块匹配法：首先将图像分成若干图像块，每一个图像块用一个矩阵表示，比较所有图像块矩阵，找出相同的图像块。分为精确匹配和模糊匹配两种。</a:t>
            </a:r>
          </a:p>
          <a:p>
            <a:pPr marL="540000" lvl="2" indent="457200">
              <a:lnSpc>
                <a:spcPct val="150000"/>
              </a:lnSpc>
              <a:spcBef>
                <a:spcPts val="600"/>
              </a:spcBef>
            </a:pPr>
            <a:r>
              <a:rPr lang="zh-CN" altLang="en-US" sz="2200" b="1" dirty="0">
                <a:latin typeface="华文细黑" panose="02010600040101010101" pitchFamily="2" charset="-122"/>
                <a:ea typeface="华文细黑" panose="02010600040101010101" pitchFamily="2" charset="-122"/>
              </a:rPr>
              <a:t>运算量比前面两种都小。</a:t>
            </a:r>
          </a:p>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方法：</a:t>
            </a:r>
          </a:p>
          <a:p>
            <a:pPr marL="540000" lvl="1" indent="457200">
              <a:lnSpc>
                <a:spcPct val="150000"/>
              </a:lnSpc>
              <a:spcBef>
                <a:spcPts val="600"/>
              </a:spcBef>
            </a:pPr>
            <a:r>
              <a:rPr lang="zh-CN" altLang="en-US" sz="2200" b="1" dirty="0">
                <a:latin typeface="华文细黑" panose="02010600040101010101" pitchFamily="2" charset="-122"/>
                <a:ea typeface="华文细黑" panose="02010600040101010101" pitchFamily="2" charset="-122"/>
              </a:rPr>
              <a:t>将图像分块，把每一块写成一个向量的形式，所有的图像块组成一个矩阵，对这个矩阵进行字典排序，找到完全相同（精确匹配）或基本相同（模糊匹配）的行或列，对应的像素位置即是复制粘贴块中的像素位置。</a:t>
            </a:r>
          </a:p>
          <a:p>
            <a:pPr marL="540000" lvl="1" indent="457200">
              <a:lnSpc>
                <a:spcPct val="150000"/>
              </a:lnSpc>
              <a:spcBef>
                <a:spcPts val="600"/>
              </a:spcBef>
            </a:pPr>
            <a:r>
              <a:rPr lang="zh-CN" altLang="en-US" sz="2200" b="1" dirty="0">
                <a:latin typeface="华文细黑" panose="02010600040101010101" pitchFamily="2" charset="-122"/>
                <a:ea typeface="华文细黑" panose="02010600040101010101" pitchFamily="2" charset="-122"/>
              </a:rPr>
              <a:t>为了避免图像中有可能存在少量相同微小图像块或者临近的相同微小块的干扰，要设置一个阈值，当在一定范围内相同的行（列）出现的次数大于阈值时才能判断为复制粘贴块。</a:t>
            </a:r>
          </a:p>
          <a:p>
            <a:pPr>
              <a:lnSpc>
                <a:spcPct val="80000"/>
              </a:lnSpc>
            </a:pPr>
            <a:endParaRPr lang="en-US" altLang="zh-CN" sz="2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71A63B2-2E53-4606-97A6-28C30892242E}" type="slidenum">
              <a:rPr lang="en-US" altLang="zh-CN"/>
              <a:t>136</a:t>
            </a:fld>
            <a:endParaRPr lang="en-US" altLang="zh-CN"/>
          </a:p>
        </p:txBody>
      </p:sp>
      <p:sp>
        <p:nvSpPr>
          <p:cNvPr id="102402"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102403" name="Rectangle 3"/>
          <p:cNvSpPr>
            <a:spLocks noGrp="1" noChangeArrowheads="1"/>
          </p:cNvSpPr>
          <p:nvPr>
            <p:ph type="body" idx="1"/>
          </p:nvPr>
        </p:nvSpPr>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图像块匹配法：</a:t>
            </a:r>
          </a:p>
          <a:p>
            <a:pPr marL="540000" lvl="2" indent="360000">
              <a:lnSpc>
                <a:spcPct val="150000"/>
              </a:lnSpc>
              <a:spcBef>
                <a:spcPts val="600"/>
              </a:spcBef>
            </a:pPr>
            <a:r>
              <a:rPr lang="zh-CN" altLang="en-US" sz="1950" b="1" dirty="0">
                <a:latin typeface="华文细黑" panose="02010600040101010101" pitchFamily="2" charset="-122"/>
                <a:ea typeface="华文细黑" panose="02010600040101010101" pitchFamily="2" charset="-122"/>
              </a:rPr>
              <a:t>例：Jessica Fridrich，基于量化DCT系数的模糊匹配法</a:t>
            </a:r>
          </a:p>
          <a:p>
            <a:pPr marL="1485900" lvl="3" indent="-457200">
              <a:lnSpc>
                <a:spcPct val="150000"/>
              </a:lnSpc>
              <a:spcBef>
                <a:spcPts val="600"/>
              </a:spcBef>
              <a:buFont typeface="+mj-ea"/>
              <a:buAutoNum type="circleNumDbPlain"/>
            </a:pPr>
            <a:r>
              <a:rPr lang="zh-CN" altLang="en-US" sz="2000" b="1" dirty="0">
                <a:latin typeface="华文细黑" panose="02010600040101010101" pitchFamily="2" charset="-122"/>
                <a:ea typeface="华文细黑" panose="02010600040101010101" pitchFamily="2" charset="-122"/>
              </a:rPr>
              <a:t>把图像分块；</a:t>
            </a:r>
          </a:p>
          <a:p>
            <a:pPr marL="1485900" lvl="3" indent="-457200">
              <a:lnSpc>
                <a:spcPct val="150000"/>
              </a:lnSpc>
              <a:spcBef>
                <a:spcPts val="600"/>
              </a:spcBef>
              <a:buFont typeface="+mj-ea"/>
              <a:buAutoNum type="circleNumDbPlain"/>
            </a:pPr>
            <a:r>
              <a:rPr lang="zh-CN" altLang="en-US" sz="2000" b="1" dirty="0">
                <a:latin typeface="华文细黑" panose="02010600040101010101" pitchFamily="2" charset="-122"/>
                <a:ea typeface="华文细黑" panose="02010600040101010101" pitchFamily="2" charset="-122"/>
              </a:rPr>
              <a:t>对每个图像块进行DCT变换，得到DCT系数矩阵；</a:t>
            </a:r>
          </a:p>
          <a:p>
            <a:pPr marL="1485900" lvl="3" indent="-457200">
              <a:lnSpc>
                <a:spcPct val="150000"/>
              </a:lnSpc>
              <a:spcBef>
                <a:spcPts val="600"/>
              </a:spcBef>
              <a:buFont typeface="+mj-ea"/>
              <a:buAutoNum type="circleNumDbPlain"/>
            </a:pPr>
            <a:r>
              <a:rPr lang="zh-CN" altLang="en-US" sz="2000" b="1" dirty="0">
                <a:latin typeface="华文细黑" panose="02010600040101010101" pitchFamily="2" charset="-122"/>
                <a:ea typeface="华文细黑" panose="02010600040101010101" pitchFamily="2" charset="-122"/>
              </a:rPr>
              <a:t>使用量化矩阵量化DCT系数；</a:t>
            </a:r>
          </a:p>
          <a:p>
            <a:pPr marL="1485900" lvl="3" indent="-457200">
              <a:lnSpc>
                <a:spcPct val="150000"/>
              </a:lnSpc>
              <a:spcBef>
                <a:spcPts val="600"/>
              </a:spcBef>
              <a:buFont typeface="+mj-ea"/>
              <a:buAutoNum type="circleNumDbPlain"/>
            </a:pPr>
            <a:r>
              <a:rPr lang="zh-CN" altLang="en-US" sz="2000" b="1" dirty="0">
                <a:latin typeface="华文细黑" panose="02010600040101010101" pitchFamily="2" charset="-122"/>
                <a:ea typeface="华文细黑" panose="02010600040101010101" pitchFamily="2" charset="-122"/>
              </a:rPr>
              <a:t>把量化DCT系数表示为向量；</a:t>
            </a:r>
          </a:p>
          <a:p>
            <a:pPr marL="1485900" lvl="3" indent="-457200">
              <a:lnSpc>
                <a:spcPct val="150000"/>
              </a:lnSpc>
              <a:spcBef>
                <a:spcPts val="600"/>
              </a:spcBef>
              <a:buFont typeface="+mj-ea"/>
              <a:buAutoNum type="circleNumDbPlain"/>
            </a:pPr>
            <a:r>
              <a:rPr lang="zh-CN" altLang="en-US" sz="2000" b="1" dirty="0">
                <a:latin typeface="华文细黑" panose="02010600040101010101" pitchFamily="2" charset="-122"/>
                <a:ea typeface="华文细黑" panose="02010600040101010101" pitchFamily="2" charset="-122"/>
              </a:rPr>
              <a:t>对所有图像块组成的向量矩阵，进行模糊匹配。</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B2BA607B-8355-4867-A9FC-379CD94659E4}" type="slidenum">
              <a:rPr lang="en-US" altLang="zh-CN"/>
              <a:t>137</a:t>
            </a:fld>
            <a:endParaRPr lang="en-US" altLang="zh-CN"/>
          </a:p>
        </p:txBody>
      </p:sp>
      <p:sp>
        <p:nvSpPr>
          <p:cNvPr id="79874"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79875" name="Rectangle 3"/>
          <p:cNvSpPr>
            <a:spLocks noGrp="1" noChangeArrowheads="1"/>
          </p:cNvSpPr>
          <p:nvPr>
            <p:ph type="body" idx="1"/>
          </p:nvPr>
        </p:nvSpPr>
        <p:spPr/>
        <p:txBody>
          <a:bodyPr/>
          <a:lstStyle/>
          <a:p>
            <a:endParaRPr lang="zh-CN" altLang="zh-CN" dirty="0"/>
          </a:p>
        </p:txBody>
      </p:sp>
      <p:grpSp>
        <p:nvGrpSpPr>
          <p:cNvPr id="79876" name="Group 4"/>
          <p:cNvGrpSpPr/>
          <p:nvPr/>
        </p:nvGrpSpPr>
        <p:grpSpPr bwMode="auto">
          <a:xfrm>
            <a:off x="304800" y="2387600"/>
            <a:ext cx="8610600" cy="3632200"/>
            <a:chOff x="1875" y="11736"/>
            <a:chExt cx="8126" cy="1980"/>
          </a:xfrm>
        </p:grpSpPr>
        <p:pic>
          <p:nvPicPr>
            <p:cNvPr id="79877" name="Picture 5" descr="DSC004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 y="11736"/>
              <a:ext cx="2591" cy="1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8" name="Picture 6" descr="DSC00412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0" y="11736"/>
              <a:ext cx="2640" cy="1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9" name="Picture 7" descr="DSC00412b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 y="11736"/>
              <a:ext cx="2681" cy="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4018D28-9A90-4E40-BAE5-0369C1C05DCA}" type="slidenum">
              <a:rPr lang="en-US" altLang="zh-CN"/>
              <a:t>138</a:t>
            </a:fld>
            <a:endParaRPr lang="en-US" altLang="zh-CN"/>
          </a:p>
        </p:txBody>
      </p:sp>
      <p:sp>
        <p:nvSpPr>
          <p:cNvPr id="80898"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80899" name="Rectangle 3"/>
          <p:cNvSpPr>
            <a:spLocks noGrp="1" noChangeArrowheads="1"/>
          </p:cNvSpPr>
          <p:nvPr>
            <p:ph type="body" idx="1"/>
          </p:nvPr>
        </p:nvSpPr>
        <p:spPr/>
        <p:txBody>
          <a:bodyPr/>
          <a:lstStyle/>
          <a:p>
            <a:endParaRPr lang="zh-CN" altLang="zh-CN"/>
          </a:p>
        </p:txBody>
      </p:sp>
      <p:pic>
        <p:nvPicPr>
          <p:cNvPr id="80901" name="Picture 5" descr="jeep_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47862"/>
            <a:ext cx="4000500" cy="2624138"/>
          </a:xfrm>
          <a:prstGeom prst="rect">
            <a:avLst/>
          </a:prstGeom>
          <a:noFill/>
          <a:extLst>
            <a:ext uri="{909E8E84-426E-40DD-AFC4-6F175D3DCCD1}">
              <a14:hiddenFill xmlns:a14="http://schemas.microsoft.com/office/drawing/2010/main">
                <a:solidFill>
                  <a:srgbClr val="FFFFFF"/>
                </a:solidFill>
              </a14:hiddenFill>
            </a:ext>
          </a:extLst>
        </p:spPr>
      </p:pic>
      <p:pic>
        <p:nvPicPr>
          <p:cNvPr id="80900" name="Picture 4" descr="jeep_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947862"/>
            <a:ext cx="3943350" cy="2609850"/>
          </a:xfrm>
          <a:prstGeom prst="rect">
            <a:avLst/>
          </a:prstGeom>
          <a:noFill/>
          <a:extLst>
            <a:ext uri="{909E8E84-426E-40DD-AFC4-6F175D3DCCD1}">
              <a14:hiddenFill xmlns:a14="http://schemas.microsoft.com/office/drawing/2010/main">
                <a:solidFill>
                  <a:srgbClr val="FFFFFF"/>
                </a:solidFill>
              </a14:hiddenFill>
            </a:ext>
          </a:extLst>
        </p:spPr>
      </p:pic>
      <p:sp>
        <p:nvSpPr>
          <p:cNvPr id="80902" name="Rectangle 6"/>
          <p:cNvSpPr>
            <a:spLocks noChangeArrowheads="1"/>
          </p:cNvSpPr>
          <p:nvPr/>
        </p:nvSpPr>
        <p:spPr bwMode="auto">
          <a:xfrm>
            <a:off x="0" y="1579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0903" name="Rectangle 7"/>
          <p:cNvSpPr>
            <a:spLocks noChangeArrowheads="1"/>
          </p:cNvSpPr>
          <p:nvPr/>
        </p:nvSpPr>
        <p:spPr bwMode="auto">
          <a:xfrm>
            <a:off x="2709863" y="4960938"/>
            <a:ext cx="3727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1900" dirty="0">
                <a:solidFill>
                  <a:srgbClr val="000000"/>
                </a:solidFill>
                <a:latin typeface="Calibri" panose="020F0502020204030204" charset="0"/>
                <a:ea typeface="楷体_GB2312" pitchFamily="49" charset="-122"/>
              </a:rPr>
              <a:t>原始</a:t>
            </a:r>
            <a:r>
              <a:rPr lang="en-US" altLang="zh-CN" sz="1900" dirty="0">
                <a:solidFill>
                  <a:srgbClr val="000000"/>
                </a:solidFill>
                <a:latin typeface="Calibri" panose="020F0502020204030204" charset="0"/>
                <a:ea typeface="楷体_GB2312" pitchFamily="49" charset="-122"/>
              </a:rPr>
              <a:t>Jeep</a:t>
            </a:r>
            <a:r>
              <a:rPr lang="zh-CN" altLang="en-US" sz="1900" dirty="0">
                <a:solidFill>
                  <a:srgbClr val="000000"/>
                </a:solidFill>
                <a:latin typeface="Calibri" panose="020F0502020204030204" charset="0"/>
                <a:ea typeface="楷体_GB2312" pitchFamily="49" charset="-122"/>
              </a:rPr>
              <a:t>图像和篡改后的</a:t>
            </a:r>
            <a:r>
              <a:rPr lang="en-US" altLang="zh-CN" sz="1900" dirty="0">
                <a:solidFill>
                  <a:srgbClr val="000000"/>
                </a:solidFill>
                <a:latin typeface="Calibri" panose="020F0502020204030204" charset="0"/>
                <a:ea typeface="楷体_GB2312" pitchFamily="49" charset="-122"/>
              </a:rPr>
              <a:t>Jeep</a:t>
            </a:r>
            <a:r>
              <a:rPr lang="zh-CN" altLang="en-US" sz="1900" dirty="0">
                <a:solidFill>
                  <a:srgbClr val="000000"/>
                </a:solidFill>
                <a:latin typeface="Calibri" panose="020F0502020204030204" charset="0"/>
                <a:ea typeface="楷体_GB2312" pitchFamily="49" charset="-122"/>
              </a:rPr>
              <a:t>图像</a:t>
            </a:r>
            <a:endParaRPr lang="zh-CN" altLang="en-US" sz="3200"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80DFF6A7-B7F5-4128-8BC7-8CDD0CEDB298}" type="slidenum">
              <a:rPr lang="en-US" altLang="zh-CN"/>
              <a:t>139</a:t>
            </a:fld>
            <a:endParaRPr lang="en-US" altLang="zh-CN"/>
          </a:p>
        </p:txBody>
      </p:sp>
      <p:sp>
        <p:nvSpPr>
          <p:cNvPr id="81922" name="Rectangle 2"/>
          <p:cNvSpPr>
            <a:spLocks noGrp="1" noChangeArrowheads="1"/>
          </p:cNvSpPr>
          <p:nvPr>
            <p:ph type="title"/>
          </p:nvPr>
        </p:nvSpPr>
        <p:spPr/>
        <p:txBody>
          <a:bodyPr/>
          <a:lstStyle/>
          <a:p>
            <a:r>
              <a:rPr lang="zh-CN" altLang="en-US" sz="3200" b="1" dirty="0"/>
              <a:t>四、复制粘贴篡改操作取证</a:t>
            </a:r>
            <a:r>
              <a:rPr lang="zh-CN" altLang="en-US" sz="3200" dirty="0"/>
              <a:t> </a:t>
            </a:r>
            <a:endParaRPr lang="zh-CN" altLang="zh-CN" sz="3200" dirty="0"/>
          </a:p>
        </p:txBody>
      </p:sp>
      <p:sp>
        <p:nvSpPr>
          <p:cNvPr id="81923" name="Rectangle 3"/>
          <p:cNvSpPr>
            <a:spLocks noGrp="1" noChangeArrowheads="1"/>
          </p:cNvSpPr>
          <p:nvPr>
            <p:ph type="body" idx="1"/>
          </p:nvPr>
        </p:nvSpPr>
        <p:spPr/>
        <p:txBody>
          <a:bodyPr/>
          <a:lstStyle/>
          <a:p>
            <a:endParaRPr lang="zh-CN" altLang="zh-CN"/>
          </a:p>
        </p:txBody>
      </p:sp>
      <p:sp>
        <p:nvSpPr>
          <p:cNvPr id="81927" name="Rectangle 7"/>
          <p:cNvSpPr>
            <a:spLocks noChangeArrowheads="1"/>
          </p:cNvSpPr>
          <p:nvPr/>
        </p:nvSpPr>
        <p:spPr bwMode="auto">
          <a:xfrm>
            <a:off x="0" y="2522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1924" name="Group 4"/>
          <p:cNvGrpSpPr/>
          <p:nvPr/>
        </p:nvGrpSpPr>
        <p:grpSpPr bwMode="auto">
          <a:xfrm>
            <a:off x="838200" y="2071687"/>
            <a:ext cx="7756525" cy="3228975"/>
            <a:chOff x="1805" y="5771"/>
            <a:chExt cx="8255" cy="2685"/>
          </a:xfrm>
        </p:grpSpPr>
        <p:pic>
          <p:nvPicPr>
            <p:cNvPr id="819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5" y="5771"/>
              <a:ext cx="4065" cy="2685"/>
            </a:xfrm>
            <a:prstGeom prst="rect">
              <a:avLst/>
            </a:prstGeom>
            <a:noFill/>
            <a:extLst>
              <a:ext uri="{909E8E84-426E-40DD-AFC4-6F175D3DCCD1}">
                <a14:hiddenFill xmlns:a14="http://schemas.microsoft.com/office/drawing/2010/main">
                  <a:solidFill>
                    <a:srgbClr val="FFFFFF"/>
                  </a:solidFill>
                </a14:hiddenFill>
              </a:ext>
            </a:extLst>
          </p:spPr>
        </p:pic>
        <p:pic>
          <p:nvPicPr>
            <p:cNvPr id="819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5" y="5771"/>
              <a:ext cx="4065" cy="2670"/>
            </a:xfrm>
            <a:prstGeom prst="rect">
              <a:avLst/>
            </a:prstGeom>
            <a:noFill/>
            <a:extLst>
              <a:ext uri="{909E8E84-426E-40DD-AFC4-6F175D3DCCD1}">
                <a14:hiddenFill xmlns:a14="http://schemas.microsoft.com/office/drawing/2010/main">
                  <a:solidFill>
                    <a:srgbClr val="FFFFFF"/>
                  </a:solidFill>
                </a14:hiddenFill>
              </a:ext>
            </a:extLst>
          </p:spPr>
        </p:pic>
      </p:grpSp>
      <p:sp>
        <p:nvSpPr>
          <p:cNvPr id="81929" name="Rectangle 9"/>
          <p:cNvSpPr>
            <a:spLocks noChangeArrowheads="1"/>
          </p:cNvSpPr>
          <p:nvPr/>
        </p:nvSpPr>
        <p:spPr bwMode="auto">
          <a:xfrm>
            <a:off x="2057400" y="5576887"/>
            <a:ext cx="5519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不同相关系数检测阈值</a:t>
            </a:r>
            <a:r>
              <a:rPr lang="en-US" altLang="zh-CN" dirty="0"/>
              <a:t>ρ</a:t>
            </a:r>
            <a:r>
              <a:rPr lang="zh-CN" altLang="en-US" dirty="0"/>
              <a:t>下的</a:t>
            </a:r>
            <a:r>
              <a:rPr lang="en-US" altLang="zh-CN" dirty="0"/>
              <a:t>Jeep</a:t>
            </a:r>
            <a:r>
              <a:rPr lang="zh-CN" altLang="en-US" dirty="0"/>
              <a:t>篡改图像检测结果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E47A72A-8078-4261-B0AC-DC3A63AF639E}" type="slidenum">
              <a:rPr lang="en-US" altLang="zh-CN"/>
              <a:t>140</a:t>
            </a:fld>
            <a:endParaRPr lang="en-US" altLang="zh-CN"/>
          </a:p>
        </p:txBody>
      </p:sp>
      <p:sp>
        <p:nvSpPr>
          <p:cNvPr id="82946" name="Rectangle 2"/>
          <p:cNvSpPr>
            <a:spLocks noGrp="1" noChangeArrowheads="1"/>
          </p:cNvSpPr>
          <p:nvPr>
            <p:ph type="title"/>
          </p:nvPr>
        </p:nvSpPr>
        <p:spPr/>
        <p:txBody>
          <a:bodyPr/>
          <a:lstStyle/>
          <a:p>
            <a:pPr marL="1117600" indent="-1117600"/>
            <a:r>
              <a:rPr lang="zh-CN" altLang="en-US" sz="3200" b="1" dirty="0"/>
              <a:t>五、重压缩重采样取证</a:t>
            </a:r>
          </a:p>
        </p:txBody>
      </p:sp>
      <p:sp>
        <p:nvSpPr>
          <p:cNvPr id="82947" name="Rectangle 3"/>
          <p:cNvSpPr>
            <a:spLocks noGrp="1" noChangeArrowheads="1"/>
          </p:cNvSpPr>
          <p:nvPr>
            <p:ph type="body" idx="1"/>
          </p:nvPr>
        </p:nvSpPr>
        <p:spPr>
          <a:xfrm>
            <a:off x="628814" y="1462088"/>
            <a:ext cx="7887564" cy="4894262"/>
          </a:xfrm>
        </p:spPr>
        <p:txBody>
          <a:bodyPr>
            <a:normAutofit/>
          </a:bodyPr>
          <a:lstStyle/>
          <a:p>
            <a:pPr marL="468000" indent="-457200" algn="l">
              <a:lnSpc>
                <a:spcPct val="150000"/>
              </a:lnSpc>
              <a:spcBef>
                <a:spcPts val="600"/>
              </a:spcBef>
              <a:buSzTx/>
            </a:pPr>
            <a:r>
              <a:rPr lang="zh-CN" altLang="en-US" sz="2200" b="1" dirty="0">
                <a:latin typeface="华文细黑" panose="02010600040101010101" pitchFamily="2" charset="-122"/>
                <a:ea typeface="华文细黑" panose="02010600040101010101" pitchFamily="2" charset="-122"/>
              </a:rPr>
              <a:t>数码相机拍摄的照片大都保存为JPEG格式，篡改时需要将JPEG图像转化为BMP图像，用图像处理软件进行篡改操作后再压缩成JPEG图像进行保存，因此图像就经过了双重JPEG压缩。</a:t>
            </a:r>
          </a:p>
          <a:p>
            <a:pPr marL="468000" indent="-457200" algn="l">
              <a:lnSpc>
                <a:spcPct val="150000"/>
              </a:lnSpc>
              <a:spcBef>
                <a:spcPts val="600"/>
              </a:spcBef>
              <a:buSzTx/>
            </a:pPr>
            <a:r>
              <a:rPr lang="zh-CN" altLang="en-US" sz="2200" b="1" dirty="0">
                <a:latin typeface="华文细黑" panose="02010600040101010101" pitchFamily="2" charset="-122"/>
                <a:ea typeface="华文细黑" panose="02010600040101010101" pitchFamily="2" charset="-122"/>
              </a:rPr>
              <a:t>Hany Farid指出，双重JPEG压缩会给图像引入一些单次JPEG压缩没有的特征。</a:t>
            </a:r>
          </a:p>
          <a:p>
            <a:pPr marL="468000" indent="-457200" algn="l">
              <a:lnSpc>
                <a:spcPct val="150000"/>
              </a:lnSpc>
              <a:spcBef>
                <a:spcPts val="600"/>
              </a:spcBef>
              <a:buSzTx/>
            </a:pPr>
            <a:r>
              <a:rPr lang="zh-CN" altLang="en-US" sz="2200" b="1" dirty="0">
                <a:latin typeface="华文细黑" panose="02010600040101010101" pitchFamily="2" charset="-122"/>
                <a:ea typeface="华文细黑" panose="02010600040101010101" pitchFamily="2" charset="-122"/>
              </a:rPr>
              <a:t>图像经过双重JPEG压缩并不代表其一定被篡改过（例如在放大缩小等正常操作后也会重存图像），但其可作为一种辅助手段，作为图像伪造检测时的一种间接证据。</a:t>
            </a:r>
            <a:r>
              <a:rPr lang="zh-CN" altLang="en-US" sz="22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40D99C3-3AAE-44F9-B459-813CDB6050A0}" type="slidenum">
              <a:rPr lang="en-US" altLang="zh-CN"/>
              <a:t>141</a:t>
            </a:fld>
            <a:endParaRPr lang="en-US" altLang="zh-CN"/>
          </a:p>
        </p:txBody>
      </p:sp>
      <p:sp>
        <p:nvSpPr>
          <p:cNvPr id="106498" name="Rectangle 2"/>
          <p:cNvSpPr>
            <a:spLocks noGrp="1" noChangeArrowheads="1"/>
          </p:cNvSpPr>
          <p:nvPr>
            <p:ph type="title"/>
          </p:nvPr>
        </p:nvSpPr>
        <p:spPr/>
        <p:txBody>
          <a:bodyPr/>
          <a:lstStyle/>
          <a:p>
            <a:r>
              <a:rPr lang="zh-CN" altLang="en-US" sz="3200" b="1" dirty="0"/>
              <a:t>五、重压缩重采样取证</a:t>
            </a:r>
            <a:endParaRPr lang="zh-CN" altLang="zh-CN" sz="3200" dirty="0"/>
          </a:p>
        </p:txBody>
      </p:sp>
      <p:sp>
        <p:nvSpPr>
          <p:cNvPr id="106499" name="Rectangle 3"/>
          <p:cNvSpPr>
            <a:spLocks noGrp="1" noChangeArrowheads="1"/>
          </p:cNvSpPr>
          <p:nvPr>
            <p:ph type="body" idx="1"/>
          </p:nvPr>
        </p:nvSpPr>
        <p:spPr>
          <a:xfrm>
            <a:off x="628814" y="1462088"/>
            <a:ext cx="7887564" cy="5029199"/>
          </a:xfrm>
        </p:spPr>
        <p:txBody>
          <a:bodyPr>
            <a:normAutofit/>
          </a:bodyPr>
          <a:lstStyle/>
          <a:p>
            <a:pPr marL="0" indent="457200">
              <a:lnSpc>
                <a:spcPct val="150000"/>
              </a:lnSpc>
              <a:spcBef>
                <a:spcPts val="600"/>
              </a:spcBef>
            </a:pPr>
            <a:r>
              <a:rPr lang="zh-CN" altLang="en-US" sz="2400" b="1" dirty="0">
                <a:latin typeface="华文细黑" panose="02010600040101010101" pitchFamily="2" charset="-122"/>
                <a:ea typeface="华文细黑" panose="02010600040101010101" pitchFamily="2" charset="-122"/>
              </a:rPr>
              <a:t>双重JPEG压缩取证</a:t>
            </a:r>
            <a:r>
              <a:rPr lang="zh-CN" altLang="en-US" dirty="0"/>
              <a:t> </a:t>
            </a:r>
          </a:p>
          <a:p>
            <a:pPr marL="540000" lvl="1" indent="-18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单次JPEG压缩时，用量化矩阵对DCT系数进行量化，得到量化DCT系数；</a:t>
            </a:r>
          </a:p>
          <a:p>
            <a:pPr marL="540000" lvl="1" indent="-18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重压缩时，先把量化DCT系数乘以原来的量化矩阵，再用新的量化矩阵来量化；</a:t>
            </a:r>
          </a:p>
          <a:p>
            <a:pPr marL="540000" lvl="1" indent="-18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这两种压缩后图像的DCT系数直方图是有变化的。</a:t>
            </a:r>
            <a:endParaRPr lang="en-US" altLang="zh-CN" sz="2000" b="1" dirty="0">
              <a:latin typeface="华文细黑" panose="02010600040101010101" pitchFamily="2" charset="-122"/>
              <a:ea typeface="华文细黑" panose="02010600040101010101" pitchFamily="2" charset="-122"/>
            </a:endParaRPr>
          </a:p>
          <a:p>
            <a:pPr marL="540000" lvl="1" indent="-18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美国SUNY Binghamton大学以Jessica Fridrich为核心的研究团队发现单次JPEG压缩后图像的DCT系数的直方图呈现类高斯分布，而双重JPEG压缩后，其DCT系数的某些值就会周期性的减少或消失，而且这些DCT系数值消失的规律与质量因子有关。</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sz="3200" b="1" dirty="0"/>
              <a:t>五、重压缩重采样取证</a:t>
            </a:r>
            <a:endParaRPr lang="zh-CN" altLang="zh-CN" sz="3200" dirty="0"/>
          </a:p>
        </p:txBody>
      </p:sp>
      <p:sp>
        <p:nvSpPr>
          <p:cNvPr id="106499" name="Rectangle 3"/>
          <p:cNvSpPr>
            <a:spLocks noGrp="1" noChangeArrowheads="1"/>
          </p:cNvSpPr>
          <p:nvPr>
            <p:ph sz="half" idx="1"/>
          </p:nvPr>
        </p:nvSpPr>
        <p:spPr>
          <a:xfrm>
            <a:off x="628690" y="1700809"/>
            <a:ext cx="4015318" cy="4476156"/>
          </a:xfrm>
        </p:spPr>
        <p:txBody>
          <a:bodyPr>
            <a:normAutofit/>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双重JPEG压缩取证</a:t>
            </a:r>
          </a:p>
          <a:p>
            <a:pPr marL="540000" lvl="1" indent="-36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如果初次压缩的量化矩阵与二次压缩量化矩阵相同（如图a)所示），那么经过双重JPEG压缩之后图像的DCT系数分布情况与经过一次JPEG压缩的图像的DCT系数分布情况相同。</a:t>
            </a:r>
          </a:p>
        </p:txBody>
      </p:sp>
      <p:sp>
        <p:nvSpPr>
          <p:cNvPr id="4" name="灯片编号占位符 5"/>
          <p:cNvSpPr>
            <a:spLocks noGrp="1"/>
          </p:cNvSpPr>
          <p:nvPr>
            <p:ph type="sldNum" sz="quarter" idx="12"/>
          </p:nvPr>
        </p:nvSpPr>
        <p:spPr/>
        <p:txBody>
          <a:bodyPr/>
          <a:lstStyle/>
          <a:p>
            <a:fld id="{040D99C3-3AAE-44F9-B459-813CDB6050A0}" type="slidenum">
              <a:rPr lang="en-US" altLang="zh-CN"/>
              <a:t>142</a:t>
            </a:fld>
            <a:endParaRPr lang="en-US" altLang="zh-CN"/>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902544"/>
            <a:ext cx="3302172" cy="339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sz="3200" b="1" dirty="0"/>
              <a:t>五、重压缩重采样取证</a:t>
            </a:r>
            <a:endParaRPr lang="zh-CN" altLang="zh-CN" sz="3200" dirty="0"/>
          </a:p>
        </p:txBody>
      </p:sp>
      <p:sp>
        <p:nvSpPr>
          <p:cNvPr id="106499" name="Rectangle 3"/>
          <p:cNvSpPr>
            <a:spLocks noGrp="1" noChangeArrowheads="1"/>
          </p:cNvSpPr>
          <p:nvPr>
            <p:ph sz="half" idx="1"/>
          </p:nvPr>
        </p:nvSpPr>
        <p:spPr>
          <a:xfrm>
            <a:off x="628690" y="1700808"/>
            <a:ext cx="3943310" cy="4351339"/>
          </a:xfrm>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双重JPEG压缩取证</a:t>
            </a:r>
          </a:p>
          <a:p>
            <a:pPr marL="540000" lvl="1" indent="-36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如果初次压缩的量化矩阵是二次压缩量化矩阵的倍数（如图b)所示），那么经过双重JPEG压缩之后图像的DCT系数分布图中DCT系数的1，3，5，7等奇数位置上的系数为零。</a:t>
            </a:r>
          </a:p>
        </p:txBody>
      </p:sp>
      <p:sp>
        <p:nvSpPr>
          <p:cNvPr id="4" name="灯片编号占位符 5"/>
          <p:cNvSpPr>
            <a:spLocks noGrp="1"/>
          </p:cNvSpPr>
          <p:nvPr>
            <p:ph type="sldNum" sz="quarter" idx="12"/>
          </p:nvPr>
        </p:nvSpPr>
        <p:spPr/>
        <p:txBody>
          <a:bodyPr/>
          <a:lstStyle/>
          <a:p>
            <a:fld id="{040D99C3-3AAE-44F9-B459-813CDB6050A0}" type="slidenum">
              <a:rPr lang="en-US" altLang="zh-CN"/>
              <a:t>143</a:t>
            </a:fld>
            <a:endParaRPr lang="en-US" altLang="zh-CN"/>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875428"/>
            <a:ext cx="3310137" cy="371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sz="3200" b="1" dirty="0"/>
              <a:t>五、重压缩重采样取证</a:t>
            </a:r>
            <a:endParaRPr lang="zh-CN" altLang="zh-CN" sz="3200" b="1" dirty="0"/>
          </a:p>
        </p:txBody>
      </p:sp>
      <p:sp>
        <p:nvSpPr>
          <p:cNvPr id="106499" name="Rectangle 3"/>
          <p:cNvSpPr>
            <a:spLocks noGrp="1" noChangeArrowheads="1"/>
          </p:cNvSpPr>
          <p:nvPr>
            <p:ph sz="half" idx="1"/>
          </p:nvPr>
        </p:nvSpPr>
        <p:spPr>
          <a:xfrm>
            <a:off x="628690" y="1705086"/>
            <a:ext cx="3943310" cy="4351339"/>
          </a:xfrm>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双重JPEG压缩取证</a:t>
            </a:r>
          </a:p>
          <a:p>
            <a:pPr marL="540000" lvl="1" indent="-36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如果初次压缩量化矩阵的每个元素都小于二次压缩量化矩阵的每个元素（如图c)所示），那么经过双重JPEG压缩之后图像的DCT系数分布图中会出现多峰现象。</a:t>
            </a:r>
          </a:p>
        </p:txBody>
      </p:sp>
      <p:sp>
        <p:nvSpPr>
          <p:cNvPr id="4" name="灯片编号占位符 5"/>
          <p:cNvSpPr>
            <a:spLocks noGrp="1"/>
          </p:cNvSpPr>
          <p:nvPr>
            <p:ph type="sldNum" sz="quarter" idx="12"/>
          </p:nvPr>
        </p:nvSpPr>
        <p:spPr/>
        <p:txBody>
          <a:bodyPr/>
          <a:lstStyle/>
          <a:p>
            <a:fld id="{040D99C3-3AAE-44F9-B459-813CDB6050A0}" type="slidenum">
              <a:rPr lang="en-US" altLang="zh-CN"/>
              <a:t>144</a:t>
            </a:fld>
            <a:endParaRPr lang="en-US" altLang="zh-CN"/>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6496" y="1916832"/>
            <a:ext cx="3233936" cy="3609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sz="3200" b="1" dirty="0"/>
              <a:t>五、重压缩重采样取证</a:t>
            </a:r>
            <a:endParaRPr lang="zh-CN" altLang="zh-CN" sz="3200" b="1" dirty="0"/>
          </a:p>
        </p:txBody>
      </p:sp>
      <p:sp>
        <p:nvSpPr>
          <p:cNvPr id="106499" name="Rectangle 3"/>
          <p:cNvSpPr>
            <a:spLocks noGrp="1" noChangeArrowheads="1"/>
          </p:cNvSpPr>
          <p:nvPr>
            <p:ph sz="half" idx="1"/>
          </p:nvPr>
        </p:nvSpPr>
        <p:spPr>
          <a:xfrm>
            <a:off x="628690" y="1700808"/>
            <a:ext cx="4015318" cy="4351339"/>
          </a:xfrm>
        </p:spPr>
        <p:txBody>
          <a:bodyPr/>
          <a:lstStyle/>
          <a:p>
            <a:pPr marL="0" indent="4572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双重JPEG压缩取证</a:t>
            </a:r>
          </a:p>
          <a:p>
            <a:pPr marL="540000" lvl="1" indent="-36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如果初次压缩量化矩阵的每个元素都大于二次压缩量化矩阵的每个元素（如图d)所示），那么经过双重JPEG压缩之后图像的DCT系数分布图中也会出现多峰现象。</a:t>
            </a:r>
          </a:p>
        </p:txBody>
      </p:sp>
      <p:sp>
        <p:nvSpPr>
          <p:cNvPr id="4" name="灯片编号占位符 5"/>
          <p:cNvSpPr>
            <a:spLocks noGrp="1"/>
          </p:cNvSpPr>
          <p:nvPr>
            <p:ph type="sldNum" sz="quarter" idx="12"/>
          </p:nvPr>
        </p:nvSpPr>
        <p:spPr/>
        <p:txBody>
          <a:bodyPr/>
          <a:lstStyle/>
          <a:p>
            <a:fld id="{040D99C3-3AAE-44F9-B459-813CDB6050A0}" type="slidenum">
              <a:rPr lang="en-US" altLang="zh-CN"/>
              <a:t>145</a:t>
            </a:fld>
            <a:endParaRPr lang="en-US" altLang="zh-CN"/>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680" y="1880947"/>
            <a:ext cx="3229744" cy="3636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sz="3200" b="1" dirty="0"/>
              <a:t>五、重压缩重采样取证</a:t>
            </a:r>
            <a:endParaRPr lang="zh-CN" altLang="zh-CN" sz="3200" b="1" dirty="0"/>
          </a:p>
        </p:txBody>
      </p:sp>
      <p:sp>
        <p:nvSpPr>
          <p:cNvPr id="106499" name="Rectangle 3"/>
          <p:cNvSpPr>
            <a:spLocks noGrp="1" noChangeArrowheads="1"/>
          </p:cNvSpPr>
          <p:nvPr>
            <p:ph idx="1"/>
          </p:nvPr>
        </p:nvSpPr>
        <p:spPr/>
        <p:txBody>
          <a:bodyPr/>
          <a:lstStyle/>
          <a:p>
            <a:pPr marL="0" indent="457200">
              <a:lnSpc>
                <a:spcPct val="150000"/>
              </a:lnSpc>
              <a:spcBef>
                <a:spcPts val="600"/>
              </a:spcBef>
            </a:pPr>
            <a:r>
              <a:rPr lang="zh-CN" altLang="en-US" sz="2400" b="1" dirty="0">
                <a:latin typeface="华文细黑" panose="02010600040101010101" pitchFamily="2" charset="-122"/>
                <a:ea typeface="华文细黑" panose="02010600040101010101" pitchFamily="2" charset="-122"/>
              </a:rPr>
              <a:t>双重JPEG压缩取证</a:t>
            </a:r>
            <a:endParaRPr lang="en-US" altLang="zh-CN" b="1" dirty="0"/>
          </a:p>
          <a:p>
            <a:pPr marL="540000" lvl="1" indent="-36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Hany Farid在实验中分别使用不同的质量因子将经过双重JPEG压缩的图像进行了第三次JPEG压缩，并根据新图像的DCT系数与待检测图像的DCT系数间的差值绘制出一个散点图，发现该图像中会出现两个明显的波谷，这两个波谷出现的位置分别是初次压缩的质量因子所对应的位置和二次压缩的质量因子所对应的位置。</a:t>
            </a:r>
          </a:p>
        </p:txBody>
      </p:sp>
      <p:sp>
        <p:nvSpPr>
          <p:cNvPr id="4" name="灯片编号占位符 5"/>
          <p:cNvSpPr>
            <a:spLocks noGrp="1"/>
          </p:cNvSpPr>
          <p:nvPr>
            <p:ph type="sldNum" sz="quarter" idx="12"/>
          </p:nvPr>
        </p:nvSpPr>
        <p:spPr/>
        <p:txBody>
          <a:bodyPr/>
          <a:lstStyle/>
          <a:p>
            <a:fld id="{040D99C3-3AAE-44F9-B459-813CDB6050A0}" type="slidenum">
              <a:rPr lang="en-US" altLang="zh-CN"/>
              <a:t>146</a:t>
            </a:fld>
            <a:endParaRPr lang="en-US" altLang="zh-CN"/>
          </a:p>
        </p:txBody>
      </p:sp>
      <p:pic>
        <p:nvPicPr>
          <p:cNvPr id="5" name="Picture 2">
            <a:extLst>
              <a:ext uri="{FF2B5EF4-FFF2-40B4-BE49-F238E27FC236}">
                <a16:creationId xmlns:a16="http://schemas.microsoft.com/office/drawing/2014/main" id="{D1551E35-EFE7-4D57-8C52-C0EBE2907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276872"/>
            <a:ext cx="7151657" cy="3666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35AA843-CFCB-4E27-AD25-7BB7A4C027A1}" type="slidenum">
              <a:rPr lang="en-US" altLang="zh-CN"/>
              <a:t>147</a:t>
            </a:fld>
            <a:endParaRPr lang="en-US" altLang="zh-CN"/>
          </a:p>
        </p:txBody>
      </p:sp>
      <p:sp>
        <p:nvSpPr>
          <p:cNvPr id="83970" name="Rectangle 2"/>
          <p:cNvSpPr>
            <a:spLocks noGrp="1" noChangeArrowheads="1"/>
          </p:cNvSpPr>
          <p:nvPr>
            <p:ph type="title"/>
          </p:nvPr>
        </p:nvSpPr>
        <p:spPr/>
        <p:txBody>
          <a:bodyPr/>
          <a:lstStyle/>
          <a:p>
            <a:r>
              <a:rPr lang="zh-CN" altLang="en-US" sz="3200" b="1" dirty="0"/>
              <a:t>六、模糊润饰取证</a:t>
            </a:r>
          </a:p>
        </p:txBody>
      </p:sp>
      <p:sp>
        <p:nvSpPr>
          <p:cNvPr id="83971" name="Rectangle 3"/>
          <p:cNvSpPr>
            <a:spLocks noGrp="1" noChangeArrowheads="1"/>
          </p:cNvSpPr>
          <p:nvPr>
            <p:ph type="body" idx="1"/>
          </p:nvPr>
        </p:nvSpPr>
        <p:spPr/>
        <p:txBody>
          <a:bodyPr>
            <a:normAutofit/>
          </a:bodyPr>
          <a:lstStyle/>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大多数图像篡改，都需进行拼接、粘贴等操作，为了消除在拼接边缘产生的视觉或统计上的畸变，一般会采用模糊、淡化、渐变等润饰操作进行后期处理，以消除拼接留下的人眼可察觉的伪造痕迹。</a:t>
            </a:r>
          </a:p>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对图像合成和润饰的检测是数字图像取证研究的重点。</a:t>
            </a:r>
            <a:r>
              <a:rPr lang="zh-CN" altLang="en-US" sz="24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08018AE-DA49-4344-8889-F94D4F42E424}" type="slidenum">
              <a:rPr lang="en-US" altLang="zh-CN"/>
              <a:t>148</a:t>
            </a:fld>
            <a:endParaRPr lang="en-US" altLang="zh-CN"/>
          </a:p>
        </p:txBody>
      </p:sp>
      <p:sp>
        <p:nvSpPr>
          <p:cNvPr id="109570" name="Rectangle 2"/>
          <p:cNvSpPr>
            <a:spLocks noGrp="1" noChangeArrowheads="1"/>
          </p:cNvSpPr>
          <p:nvPr>
            <p:ph type="title"/>
          </p:nvPr>
        </p:nvSpPr>
        <p:spPr/>
        <p:txBody>
          <a:bodyPr/>
          <a:lstStyle/>
          <a:p>
            <a:r>
              <a:rPr lang="zh-CN" altLang="en-US" sz="3200" b="1" dirty="0"/>
              <a:t>六、模糊润饰取证</a:t>
            </a:r>
            <a:endParaRPr lang="zh-CN" altLang="zh-CN" sz="3200" dirty="0"/>
          </a:p>
        </p:txBody>
      </p:sp>
      <p:sp>
        <p:nvSpPr>
          <p:cNvPr id="109571" name="Rectangle 3"/>
          <p:cNvSpPr>
            <a:spLocks noGrp="1" noChangeArrowheads="1"/>
          </p:cNvSpPr>
          <p:nvPr>
            <p:ph type="body" idx="1"/>
          </p:nvPr>
        </p:nvSpPr>
        <p:spPr/>
        <p:txBody>
          <a:bodyPr>
            <a:normAutofit/>
          </a:bodyPr>
          <a:lstStyle/>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从图像边缘特性出发，分析相机自然模糊和人工模糊的区别。</a:t>
            </a:r>
          </a:p>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通过某种图像处理方式对这种区别加以放大，试图对复制-粘贴操作后经过模糊润饰处理的数字图像篡改进行检测和定位。</a:t>
            </a:r>
            <a:r>
              <a:rPr lang="zh-CN" altLang="en-US" sz="24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3D6DA2F-73BF-4EDE-BCBC-6C334E8E3870}" type="slidenum">
              <a:rPr lang="en-US" altLang="zh-CN"/>
              <a:t>149</a:t>
            </a:fld>
            <a:endParaRPr lang="en-US" altLang="zh-CN"/>
          </a:p>
        </p:txBody>
      </p:sp>
      <p:sp>
        <p:nvSpPr>
          <p:cNvPr id="110594" name="Rectangle 2"/>
          <p:cNvSpPr>
            <a:spLocks noGrp="1" noChangeArrowheads="1"/>
          </p:cNvSpPr>
          <p:nvPr>
            <p:ph type="title"/>
          </p:nvPr>
        </p:nvSpPr>
        <p:spPr/>
        <p:txBody>
          <a:bodyPr/>
          <a:lstStyle/>
          <a:p>
            <a:r>
              <a:rPr lang="zh-CN" altLang="en-US" sz="3200" b="1" dirty="0"/>
              <a:t>六、模糊润饰取证</a:t>
            </a:r>
            <a:endParaRPr lang="zh-CN" altLang="zh-CN" sz="3200" dirty="0"/>
          </a:p>
        </p:txBody>
      </p:sp>
      <p:sp>
        <p:nvSpPr>
          <p:cNvPr id="110595" name="Rectangle 3"/>
          <p:cNvSpPr>
            <a:spLocks noGrp="1" noChangeArrowheads="1"/>
          </p:cNvSpPr>
          <p:nvPr>
            <p:ph type="body" idx="1"/>
          </p:nvPr>
        </p:nvSpPr>
        <p:spPr/>
        <p:txBody>
          <a:bodyPr/>
          <a:lstStyle/>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人工模糊操作的基本原理：对图像的局部邻近像素值进行邻域灰度平均，目的是为了将图像伪造所造成的拼接边缘淡化甚至消除。 </a:t>
            </a:r>
          </a:p>
          <a:p>
            <a:pPr marL="504000" indent="-504000" algn="l">
              <a:lnSpc>
                <a:spcPct val="150000"/>
              </a:lnSpc>
              <a:spcBef>
                <a:spcPts val="600"/>
              </a:spcBef>
              <a:buSzTx/>
            </a:pPr>
            <a:r>
              <a:rPr lang="zh-CN" altLang="en-US" sz="2400" b="1" dirty="0">
                <a:latin typeface="华文细黑" panose="02010600040101010101" pitchFamily="2" charset="-122"/>
                <a:ea typeface="华文细黑" panose="02010600040101010101" pitchFamily="2" charset="-122"/>
              </a:rPr>
              <a:t>用移动平均滤波对选定的图像区域进行运算而产生平滑的结果，不同的模糊模式可以通过选择不同的移动平均滤波函数和滤波窗的大小来实现。</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5"/>
          <p:cNvSpPr>
            <a:spLocks noGrp="1"/>
          </p:cNvSpPr>
          <p:nvPr>
            <p:ph type="sldNum" sz="quarter" idx="12"/>
          </p:nvPr>
        </p:nvSpPr>
        <p:spPr/>
        <p:txBody>
          <a:bodyPr/>
          <a:lstStyle/>
          <a:p>
            <a:fld id="{82AAC1CF-6AB8-44DC-9126-C6F387AEB0EA}" type="slidenum">
              <a:rPr lang="en-US" altLang="zh-CN"/>
              <a:t>150</a:t>
            </a:fld>
            <a:endParaRPr lang="en-US" altLang="zh-CN"/>
          </a:p>
        </p:txBody>
      </p:sp>
      <p:sp>
        <p:nvSpPr>
          <p:cNvPr id="111618" name="Rectangle 2"/>
          <p:cNvSpPr>
            <a:spLocks noGrp="1" noChangeArrowheads="1"/>
          </p:cNvSpPr>
          <p:nvPr>
            <p:ph type="title"/>
          </p:nvPr>
        </p:nvSpPr>
        <p:spPr/>
        <p:txBody>
          <a:bodyPr/>
          <a:lstStyle/>
          <a:p>
            <a:r>
              <a:rPr lang="zh-CN" altLang="en-US" sz="3200" b="1" dirty="0"/>
              <a:t>六、模糊润饰取证</a:t>
            </a:r>
            <a:endParaRPr lang="zh-CN" altLang="zh-CN" sz="3200" dirty="0"/>
          </a:p>
        </p:txBody>
      </p:sp>
      <p:sp>
        <p:nvSpPr>
          <p:cNvPr id="111619" name="Rectangle 3"/>
          <p:cNvSpPr>
            <a:spLocks noGrp="1" noChangeArrowheads="1"/>
          </p:cNvSpPr>
          <p:nvPr>
            <p:ph type="body" idx="1"/>
          </p:nvPr>
        </p:nvSpPr>
        <p:spPr/>
        <p:txBody>
          <a:bodyPr/>
          <a:lstStyle/>
          <a:p>
            <a:endParaRPr lang="zh-CN" altLang="zh-CN" dirty="0"/>
          </a:p>
        </p:txBody>
      </p:sp>
      <p:sp>
        <p:nvSpPr>
          <p:cNvPr id="111644" name="Rectangle 28"/>
          <p:cNvSpPr>
            <a:spLocks noChangeArrowheads="1"/>
          </p:cNvSpPr>
          <p:nvPr/>
        </p:nvSpPr>
        <p:spPr bwMode="auto">
          <a:xfrm>
            <a:off x="0" y="2465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111620" name="Group 4"/>
          <p:cNvGrpSpPr/>
          <p:nvPr/>
        </p:nvGrpSpPr>
        <p:grpSpPr bwMode="auto">
          <a:xfrm>
            <a:off x="609600" y="1905000"/>
            <a:ext cx="8001000" cy="3048000"/>
            <a:chOff x="2157" y="11518"/>
            <a:chExt cx="7923" cy="2810"/>
          </a:xfrm>
        </p:grpSpPr>
        <p:sp>
          <p:nvSpPr>
            <p:cNvPr id="111643" name="Text Box 27"/>
            <p:cNvSpPr txBox="1">
              <a:spLocks noChangeArrowheads="1"/>
            </p:cNvSpPr>
            <p:nvPr/>
          </p:nvSpPr>
          <p:spPr bwMode="auto">
            <a:xfrm>
              <a:off x="2160" y="11518"/>
              <a:ext cx="3780" cy="2808"/>
            </a:xfrm>
            <a:prstGeom prst="rect">
              <a:avLst/>
            </a:prstGeom>
            <a:solidFill>
              <a:srgbClr val="FFFFFF"/>
            </a:solidFill>
            <a:ln w="9525">
              <a:solidFill>
                <a:srgbClr val="000000"/>
              </a:solidFill>
              <a:miter lim="800000"/>
            </a:ln>
          </p:spPr>
          <p:txBody>
            <a:bodyPr/>
            <a:lstStyle/>
            <a:p>
              <a:endParaRPr lang="zh-CN" altLang="en-US"/>
            </a:p>
          </p:txBody>
        </p:sp>
        <p:sp>
          <p:nvSpPr>
            <p:cNvPr id="111642" name="Oval 26"/>
            <p:cNvSpPr>
              <a:spLocks noChangeArrowheads="1"/>
            </p:cNvSpPr>
            <p:nvPr/>
          </p:nvSpPr>
          <p:spPr bwMode="auto">
            <a:xfrm>
              <a:off x="3060" y="11986"/>
              <a:ext cx="1980" cy="1872"/>
            </a:xfrm>
            <a:prstGeom prst="ellipse">
              <a:avLst/>
            </a:prstGeom>
            <a:solidFill>
              <a:srgbClr val="FFFFFF"/>
            </a:solidFill>
            <a:ln w="9525">
              <a:solidFill>
                <a:srgbClr val="000000"/>
              </a:solidFill>
              <a:round/>
            </a:ln>
          </p:spPr>
          <p:txBody>
            <a:bodyPr/>
            <a:lstStyle/>
            <a:p>
              <a:endParaRPr lang="zh-CN" altLang="en-US"/>
            </a:p>
          </p:txBody>
        </p:sp>
        <p:sp>
          <p:nvSpPr>
            <p:cNvPr id="111641" name="Text Box 25"/>
            <p:cNvSpPr txBox="1">
              <a:spLocks noChangeArrowheads="1"/>
            </p:cNvSpPr>
            <p:nvPr/>
          </p:nvSpPr>
          <p:spPr bwMode="auto">
            <a:xfrm>
              <a:off x="3780" y="12454"/>
              <a:ext cx="10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600">
                  <a:latin typeface="Calibri" panose="020F0502020204030204" charset="0"/>
                </a:rPr>
                <a:t>模糊半径</a:t>
              </a:r>
              <a:endParaRPr lang="zh-CN" altLang="en-US" sz="3200">
                <a:latin typeface="Arial" panose="020B0604020202020204" pitchFamily="34" charset="0"/>
              </a:endParaRPr>
            </a:p>
          </p:txBody>
        </p:sp>
        <p:sp>
          <p:nvSpPr>
            <p:cNvPr id="111640" name="Text Box 24"/>
            <p:cNvSpPr txBox="1">
              <a:spLocks noChangeArrowheads="1"/>
            </p:cNvSpPr>
            <p:nvPr/>
          </p:nvSpPr>
          <p:spPr bwMode="auto">
            <a:xfrm>
              <a:off x="3405" y="12868"/>
              <a:ext cx="1275" cy="6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600">
                  <a:latin typeface="Calibri" panose="020F0502020204030204" charset="0"/>
                </a:rPr>
                <a:t>在模糊半径内等值模糊</a:t>
              </a:r>
              <a:endParaRPr lang="zh-CN" altLang="en-US" sz="3200">
                <a:latin typeface="Arial" panose="020B0604020202020204" pitchFamily="34" charset="0"/>
              </a:endParaRPr>
            </a:p>
          </p:txBody>
        </p:sp>
        <p:sp>
          <p:nvSpPr>
            <p:cNvPr id="111639" name="Text Box 23"/>
            <p:cNvSpPr txBox="1">
              <a:spLocks noChangeArrowheads="1"/>
            </p:cNvSpPr>
            <p:nvPr/>
          </p:nvSpPr>
          <p:spPr bwMode="auto">
            <a:xfrm>
              <a:off x="4680" y="13702"/>
              <a:ext cx="126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600">
                  <a:latin typeface="Calibri" panose="020F0502020204030204" charset="0"/>
                </a:rPr>
                <a:t>不进行模糊</a:t>
              </a:r>
              <a:endParaRPr lang="zh-CN" altLang="en-US" sz="3200">
                <a:latin typeface="Arial" panose="020B0604020202020204" pitchFamily="34" charset="0"/>
              </a:endParaRPr>
            </a:p>
          </p:txBody>
        </p:sp>
        <p:sp>
          <p:nvSpPr>
            <p:cNvPr id="111638" name="Line 22"/>
            <p:cNvSpPr>
              <a:spLocks noChangeShapeType="1"/>
            </p:cNvSpPr>
            <p:nvPr/>
          </p:nvSpPr>
          <p:spPr bwMode="auto">
            <a:xfrm>
              <a:off x="4140" y="12922"/>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37" name="Text Box 21"/>
            <p:cNvSpPr txBox="1">
              <a:spLocks noChangeArrowheads="1"/>
            </p:cNvSpPr>
            <p:nvPr/>
          </p:nvSpPr>
          <p:spPr bwMode="auto">
            <a:xfrm>
              <a:off x="6300" y="11518"/>
              <a:ext cx="3780" cy="2808"/>
            </a:xfrm>
            <a:prstGeom prst="rect">
              <a:avLst/>
            </a:prstGeom>
            <a:solidFill>
              <a:srgbClr val="FFFFFF"/>
            </a:solidFill>
            <a:ln w="9525">
              <a:solidFill>
                <a:srgbClr val="000000"/>
              </a:solidFill>
              <a:miter lim="800000"/>
            </a:ln>
          </p:spPr>
          <p:txBody>
            <a:bodyPr/>
            <a:lstStyle/>
            <a:p>
              <a:endParaRPr lang="zh-CN" altLang="en-US"/>
            </a:p>
          </p:txBody>
        </p:sp>
        <p:sp>
          <p:nvSpPr>
            <p:cNvPr id="111636" name="Line 20"/>
            <p:cNvSpPr>
              <a:spLocks noChangeShapeType="1"/>
            </p:cNvSpPr>
            <p:nvPr/>
          </p:nvSpPr>
          <p:spPr bwMode="auto">
            <a:xfrm>
              <a:off x="8280" y="12922"/>
              <a:ext cx="12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35" name="AutoShape 19"/>
            <p:cNvSpPr>
              <a:spLocks noChangeArrowheads="1"/>
            </p:cNvSpPr>
            <p:nvPr/>
          </p:nvSpPr>
          <p:spPr bwMode="auto">
            <a:xfrm>
              <a:off x="7710" y="12505"/>
              <a:ext cx="975" cy="825"/>
            </a:xfrm>
            <a:prstGeom prst="sun">
              <a:avLst>
                <a:gd name="adj" fmla="val 25000"/>
              </a:avLst>
            </a:prstGeom>
            <a:solidFill>
              <a:srgbClr val="FFFFFF"/>
            </a:solidFill>
            <a:ln w="9525">
              <a:solidFill>
                <a:srgbClr val="000000"/>
              </a:solidFill>
              <a:miter lim="800000"/>
            </a:ln>
          </p:spPr>
          <p:txBody>
            <a:bodyPr/>
            <a:lstStyle/>
            <a:p>
              <a:endParaRPr lang="zh-CN" altLang="en-US"/>
            </a:p>
          </p:txBody>
        </p:sp>
        <p:sp>
          <p:nvSpPr>
            <p:cNvPr id="111634" name="Line 18"/>
            <p:cNvSpPr>
              <a:spLocks noChangeShapeType="1"/>
            </p:cNvSpPr>
            <p:nvPr/>
          </p:nvSpPr>
          <p:spPr bwMode="auto">
            <a:xfrm>
              <a:off x="8355" y="13072"/>
              <a:ext cx="645" cy="47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33" name="Line 17"/>
            <p:cNvSpPr>
              <a:spLocks noChangeShapeType="1"/>
            </p:cNvSpPr>
            <p:nvPr/>
          </p:nvSpPr>
          <p:spPr bwMode="auto">
            <a:xfrm flipV="1">
              <a:off x="8280" y="12187"/>
              <a:ext cx="108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32" name="Line 16"/>
            <p:cNvSpPr>
              <a:spLocks noChangeShapeType="1"/>
            </p:cNvSpPr>
            <p:nvPr/>
          </p:nvSpPr>
          <p:spPr bwMode="auto">
            <a:xfrm flipV="1">
              <a:off x="8190" y="11785"/>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31" name="Line 15"/>
            <p:cNvSpPr>
              <a:spLocks noChangeShapeType="1"/>
            </p:cNvSpPr>
            <p:nvPr/>
          </p:nvSpPr>
          <p:spPr bwMode="auto">
            <a:xfrm flipH="1" flipV="1">
              <a:off x="7200" y="12142"/>
              <a:ext cx="855" cy="66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30" name="Line 14"/>
            <p:cNvSpPr>
              <a:spLocks noChangeShapeType="1"/>
            </p:cNvSpPr>
            <p:nvPr/>
          </p:nvSpPr>
          <p:spPr bwMode="auto">
            <a:xfrm flipH="1">
              <a:off x="6720" y="12937"/>
              <a:ext cx="12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9" name="Line 13"/>
            <p:cNvSpPr>
              <a:spLocks noChangeShapeType="1"/>
            </p:cNvSpPr>
            <p:nvPr/>
          </p:nvSpPr>
          <p:spPr bwMode="auto">
            <a:xfrm flipH="1">
              <a:off x="7380" y="13048"/>
              <a:ext cx="675" cy="49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8" name="Line 12"/>
            <p:cNvSpPr>
              <a:spLocks noChangeShapeType="1"/>
            </p:cNvSpPr>
            <p:nvPr/>
          </p:nvSpPr>
          <p:spPr bwMode="auto">
            <a:xfrm>
              <a:off x="8190" y="13078"/>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7" name="Text Box 11"/>
            <p:cNvSpPr txBox="1">
              <a:spLocks noChangeArrowheads="1"/>
            </p:cNvSpPr>
            <p:nvPr/>
          </p:nvSpPr>
          <p:spPr bwMode="auto">
            <a:xfrm>
              <a:off x="7800" y="12520"/>
              <a:ext cx="900" cy="468"/>
            </a:xfrm>
            <a:prstGeom prst="rect">
              <a:avLst/>
            </a:prstGeom>
            <a:solidFill>
              <a:srgbClr val="FFFFFF">
                <a:alpha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600">
                  <a:latin typeface="Calibri" panose="020F0502020204030204" charset="0"/>
                </a:rPr>
                <a:t>离焦点</a:t>
              </a:r>
              <a:endParaRPr lang="zh-CN" altLang="en-US" sz="3200">
                <a:latin typeface="Arial" panose="020B0604020202020204" pitchFamily="34" charset="0"/>
              </a:endParaRPr>
            </a:p>
          </p:txBody>
        </p:sp>
        <p:sp>
          <p:nvSpPr>
            <p:cNvPr id="111626" name="AutoShape 10"/>
            <p:cNvSpPr>
              <a:spLocks noChangeArrowheads="1"/>
            </p:cNvSpPr>
            <p:nvPr/>
          </p:nvSpPr>
          <p:spPr bwMode="auto">
            <a:xfrm>
              <a:off x="8100" y="12847"/>
              <a:ext cx="180" cy="156"/>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FF"/>
            </a:solidFill>
            <a:ln w="9525">
              <a:solidFill>
                <a:srgbClr val="000000"/>
              </a:solidFill>
              <a:round/>
            </a:ln>
          </p:spPr>
          <p:txBody>
            <a:bodyPr/>
            <a:lstStyle/>
            <a:p>
              <a:endParaRPr lang="zh-CN" altLang="en-US"/>
            </a:p>
          </p:txBody>
        </p:sp>
        <p:sp>
          <p:nvSpPr>
            <p:cNvPr id="111625" name="AutoShape 9"/>
            <p:cNvSpPr>
              <a:spLocks noChangeArrowheads="1"/>
            </p:cNvSpPr>
            <p:nvPr/>
          </p:nvSpPr>
          <p:spPr bwMode="auto">
            <a:xfrm>
              <a:off x="4680" y="11518"/>
              <a:ext cx="1260" cy="624"/>
            </a:xfrm>
            <a:prstGeom prst="wedgeRoundRectCallout">
              <a:avLst>
                <a:gd name="adj1" fmla="val -73176"/>
                <a:gd name="adj2" fmla="val 40065"/>
                <a:gd name="adj3" fmla="val 16667"/>
              </a:avLst>
            </a:prstGeom>
            <a:solidFill>
              <a:srgbClr val="FFFFFF"/>
            </a:solidFill>
            <a:ln w="9525">
              <a:solidFill>
                <a:srgbClr val="000000"/>
              </a:solidFill>
              <a:miter lim="800000"/>
            </a:ln>
          </p:spPr>
          <p:txBody>
            <a:bodyPr/>
            <a:lstStyle/>
            <a:p>
              <a:r>
                <a:rPr lang="zh-CN" altLang="en-US" sz="1600">
                  <a:latin typeface="Calibri" panose="020F0502020204030204" charset="0"/>
                </a:rPr>
                <a:t>有明确的模糊边界</a:t>
              </a:r>
              <a:endParaRPr lang="zh-CN" altLang="en-US" sz="3200">
                <a:latin typeface="Arial" panose="020B0604020202020204" pitchFamily="34" charset="0"/>
              </a:endParaRPr>
            </a:p>
          </p:txBody>
        </p:sp>
        <p:sp>
          <p:nvSpPr>
            <p:cNvPr id="111624" name="Text Box 8"/>
            <p:cNvSpPr txBox="1">
              <a:spLocks noChangeArrowheads="1"/>
            </p:cNvSpPr>
            <p:nvPr/>
          </p:nvSpPr>
          <p:spPr bwMode="auto">
            <a:xfrm>
              <a:off x="8280" y="13546"/>
              <a:ext cx="1080" cy="7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600">
                  <a:latin typeface="Calibri" panose="020F0502020204030204" charset="0"/>
                </a:rPr>
                <a:t>从离焦点向外扩散</a:t>
              </a:r>
              <a:endParaRPr lang="zh-CN" altLang="en-US" sz="3200">
                <a:latin typeface="Arial" panose="020B0604020202020204" pitchFamily="34" charset="0"/>
              </a:endParaRPr>
            </a:p>
          </p:txBody>
        </p:sp>
        <p:sp>
          <p:nvSpPr>
            <p:cNvPr id="111623" name="AutoShape 7"/>
            <p:cNvSpPr>
              <a:spLocks noChangeArrowheads="1"/>
            </p:cNvSpPr>
            <p:nvPr/>
          </p:nvSpPr>
          <p:spPr bwMode="auto">
            <a:xfrm>
              <a:off x="8505" y="11518"/>
              <a:ext cx="1440" cy="780"/>
            </a:xfrm>
            <a:prstGeom prst="wedgeEllipseCallout">
              <a:avLst>
                <a:gd name="adj1" fmla="val -60903"/>
                <a:gd name="adj2" fmla="val 20130"/>
              </a:avLst>
            </a:prstGeom>
            <a:solidFill>
              <a:srgbClr val="FFFFFF"/>
            </a:solidFill>
            <a:ln w="9525">
              <a:solidFill>
                <a:srgbClr val="000000"/>
              </a:solidFill>
              <a:miter lim="800000"/>
            </a:ln>
          </p:spPr>
          <p:txBody>
            <a:bodyPr/>
            <a:lstStyle/>
            <a:p>
              <a:r>
                <a:rPr lang="zh-CN" altLang="en-US" sz="1600">
                  <a:latin typeface="Calibri" panose="020F0502020204030204" charset="0"/>
                </a:rPr>
                <a:t>无明确的模糊边界</a:t>
              </a:r>
              <a:endParaRPr lang="zh-CN" altLang="en-US" sz="1900"/>
            </a:p>
            <a:p>
              <a:pPr eaLnBrk="0" hangingPunct="0"/>
              <a:endParaRPr lang="en-US" altLang="zh-CN" sz="3200">
                <a:latin typeface="Arial" panose="020B0604020202020204" pitchFamily="34" charset="0"/>
              </a:endParaRPr>
            </a:p>
          </p:txBody>
        </p:sp>
        <p:sp>
          <p:nvSpPr>
            <p:cNvPr id="111622" name="Text Box 6"/>
            <p:cNvSpPr txBox="1">
              <a:spLocks noChangeArrowheads="1"/>
            </p:cNvSpPr>
            <p:nvPr/>
          </p:nvSpPr>
          <p:spPr bwMode="auto">
            <a:xfrm>
              <a:off x="6300" y="13542"/>
              <a:ext cx="1080" cy="780"/>
            </a:xfrm>
            <a:prstGeom prst="rect">
              <a:avLst/>
            </a:prstGeom>
            <a:solidFill>
              <a:srgbClr val="FFFFFF"/>
            </a:solidFill>
            <a:ln w="9525">
              <a:solidFill>
                <a:srgbClr val="000000"/>
              </a:solidFill>
              <a:miter lim="800000"/>
            </a:ln>
          </p:spPr>
          <p:txBody>
            <a:bodyPr/>
            <a:lstStyle/>
            <a:p>
              <a:pPr algn="ctr"/>
              <a:r>
                <a:rPr lang="zh-CN" altLang="en-US" sz="1600">
                  <a:latin typeface="Calibri" panose="020F0502020204030204" charset="0"/>
                </a:rPr>
                <a:t>离焦模糊示意图</a:t>
              </a:r>
              <a:endParaRPr lang="zh-CN" altLang="en-US" sz="3200">
                <a:latin typeface="Arial" panose="020B0604020202020204" pitchFamily="34" charset="0"/>
              </a:endParaRPr>
            </a:p>
          </p:txBody>
        </p:sp>
        <p:sp>
          <p:nvSpPr>
            <p:cNvPr id="111621" name="Text Box 5"/>
            <p:cNvSpPr txBox="1">
              <a:spLocks noChangeArrowheads="1"/>
            </p:cNvSpPr>
            <p:nvPr/>
          </p:nvSpPr>
          <p:spPr bwMode="auto">
            <a:xfrm>
              <a:off x="2157" y="13548"/>
              <a:ext cx="1080" cy="780"/>
            </a:xfrm>
            <a:prstGeom prst="rect">
              <a:avLst/>
            </a:prstGeom>
            <a:solidFill>
              <a:srgbClr val="FFFFFF"/>
            </a:solidFill>
            <a:ln w="9525">
              <a:solidFill>
                <a:srgbClr val="000000"/>
              </a:solidFill>
              <a:miter lim="800000"/>
            </a:ln>
          </p:spPr>
          <p:txBody>
            <a:bodyPr/>
            <a:lstStyle/>
            <a:p>
              <a:pPr algn="ctr"/>
              <a:r>
                <a:rPr lang="zh-CN" altLang="en-US" sz="1600">
                  <a:latin typeface="Calibri" panose="020F0502020204030204" charset="0"/>
                </a:rPr>
                <a:t>人工模糊示意图</a:t>
              </a:r>
              <a:endParaRPr lang="zh-CN" altLang="en-US" sz="3200">
                <a:latin typeface="Arial" panose="020B0604020202020204" pitchFamily="34" charset="0"/>
              </a:endParaRPr>
            </a:p>
          </p:txBody>
        </p:sp>
      </p:grpSp>
      <p:sp>
        <p:nvSpPr>
          <p:cNvPr id="111656" name="Rectangle 40"/>
          <p:cNvSpPr>
            <a:spLocks noChangeArrowheads="1"/>
          </p:cNvSpPr>
          <p:nvPr/>
        </p:nvSpPr>
        <p:spPr bwMode="auto">
          <a:xfrm>
            <a:off x="2565400" y="5227638"/>
            <a:ext cx="404495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endParaRPr lang="en-US" altLang="zh-CN" sz="2000" dirty="0">
              <a:latin typeface="Calibri" panose="020F0502020204030204" charset="0"/>
              <a:cs typeface="Times New Roman" panose="02020603050405020304" pitchFamily="18" charset="0"/>
            </a:endParaRPr>
          </a:p>
          <a:p>
            <a:pPr algn="ctr" eaLnBrk="0" hangingPunct="0"/>
            <a:r>
              <a:rPr lang="zh-CN" altLang="en-US" sz="1900" dirty="0">
                <a:latin typeface="Calibri" panose="020F0502020204030204" charset="0"/>
                <a:ea typeface="楷体_GB2312" pitchFamily="49" charset="-122"/>
              </a:rPr>
              <a:t>人工模糊和相机离焦模糊对比示意图</a:t>
            </a:r>
            <a:endParaRPr lang="zh-CN" altLang="en-US" sz="3200"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sz="3200" b="1" dirty="0"/>
              <a:t>六、模糊润饰取证</a:t>
            </a:r>
            <a:endParaRPr lang="zh-CN" altLang="zh-CN" sz="3200" dirty="0"/>
          </a:p>
        </p:txBody>
      </p:sp>
      <p:sp>
        <p:nvSpPr>
          <p:cNvPr id="58371" name="Rectangle 3"/>
          <p:cNvSpPr>
            <a:spLocks noGrp="1" noChangeArrowheads="1"/>
          </p:cNvSpPr>
          <p:nvPr>
            <p:ph sz="half" idx="1"/>
          </p:nvPr>
        </p:nvSpPr>
        <p:spPr>
          <a:xfrm>
            <a:off x="539552" y="1494857"/>
            <a:ext cx="4464496" cy="5030487"/>
          </a:xfrm>
        </p:spPr>
        <p:txBody>
          <a:bodyPr>
            <a:normAutofit fontScale="87500" lnSpcReduction="20000"/>
          </a:bodyPr>
          <a:lstStyle/>
          <a:p>
            <a:pPr marL="504000" indent="-504000" algn="l">
              <a:lnSpc>
                <a:spcPct val="150000"/>
              </a:lnSpc>
              <a:spcBef>
                <a:spcPts val="600"/>
              </a:spcBef>
              <a:buSzTx/>
            </a:pPr>
            <a:r>
              <a:rPr lang="zh-CN" altLang="en-US" sz="2700" b="1" dirty="0">
                <a:latin typeface="华文细黑" panose="02010600040101010101" pitchFamily="2" charset="-122"/>
                <a:ea typeface="华文细黑" panose="02010600040101010101" pitchFamily="2" charset="-122"/>
              </a:rPr>
              <a:t>数字图像处理中经常使用的高斯模糊操作：</a:t>
            </a:r>
          </a:p>
          <a:p>
            <a:pPr marL="792000" lvl="2" indent="-360000">
              <a:lnSpc>
                <a:spcPct val="150000"/>
              </a:lnSpc>
              <a:spcBef>
                <a:spcPts val="600"/>
              </a:spcBef>
            </a:pPr>
            <a:r>
              <a:rPr lang="zh-CN" altLang="en-US" sz="2300" b="1" dirty="0">
                <a:latin typeface="华文细黑" panose="02010600040101010101" pitchFamily="2" charset="-122"/>
                <a:ea typeface="华文细黑" panose="02010600040101010101" pitchFamily="2" charset="-122"/>
              </a:rPr>
              <a:t>当sigma取值为1，滤波矩阵以及输出的像素表达式如右图所示。</a:t>
            </a:r>
          </a:p>
          <a:p>
            <a:pPr marL="792000" lvl="2" indent="-360000">
              <a:lnSpc>
                <a:spcPct val="150000"/>
              </a:lnSpc>
              <a:spcBef>
                <a:spcPts val="600"/>
              </a:spcBef>
            </a:pPr>
            <a:r>
              <a:rPr lang="zh-CN" altLang="en-US" sz="2300" dirty="0">
                <a:solidFill>
                  <a:srgbClr val="FF0000"/>
                </a:solidFill>
              </a:rPr>
              <a:t>图像高斯模糊操作在频域表现为低通滤波，这将会引起</a:t>
            </a:r>
            <a:r>
              <a:rPr lang="en-US" altLang="zh-CN" sz="2300" dirty="0">
                <a:solidFill>
                  <a:srgbClr val="FF0000"/>
                </a:solidFill>
              </a:rPr>
              <a:t>DCT</a:t>
            </a:r>
            <a:r>
              <a:rPr lang="zh-CN" altLang="en-US" sz="2300" dirty="0">
                <a:solidFill>
                  <a:srgbClr val="FF0000"/>
                </a:solidFill>
              </a:rPr>
              <a:t>域相邻系数分布的变化</a:t>
            </a:r>
            <a:r>
              <a:rPr lang="zh-CN" altLang="en-US" sz="2300" dirty="0"/>
              <a:t>。</a:t>
            </a:r>
            <a:endParaRPr lang="en-US" altLang="zh-CN" sz="2300" dirty="0"/>
          </a:p>
          <a:p>
            <a:pPr marL="792000" lvl="2" indent="-360000">
              <a:lnSpc>
                <a:spcPct val="150000"/>
              </a:lnSpc>
              <a:spcBef>
                <a:spcPts val="600"/>
              </a:spcBef>
            </a:pPr>
            <a:r>
              <a:rPr lang="zh-CN" altLang="en-US" sz="2300" b="1" dirty="0">
                <a:latin typeface="华文细黑" panose="02010600040101010101" pitchFamily="2" charset="-122"/>
                <a:ea typeface="华文细黑" panose="02010600040101010101" pitchFamily="2" charset="-122"/>
              </a:rPr>
              <a:t>利用这一特点，提取出能够准确表示该变化的特征，可以实现高斯模糊操作的有效检测。</a:t>
            </a:r>
          </a:p>
          <a:p>
            <a:pPr lvl="3"/>
            <a:endParaRPr lang="zh-CN" altLang="en-US" sz="1850" dirty="0"/>
          </a:p>
        </p:txBody>
      </p:sp>
      <p:sp>
        <p:nvSpPr>
          <p:cNvPr id="4" name="灯片编号占位符 5"/>
          <p:cNvSpPr>
            <a:spLocks noGrp="1"/>
          </p:cNvSpPr>
          <p:nvPr>
            <p:ph type="sldNum" sz="quarter" idx="12"/>
          </p:nvPr>
        </p:nvSpPr>
        <p:spPr/>
        <p:txBody>
          <a:bodyPr/>
          <a:lstStyle/>
          <a:p>
            <a:fld id="{1BFBFD0E-B172-48AA-A4EB-A86536DB475E}" type="slidenum">
              <a:rPr lang="en-US" altLang="zh-CN"/>
              <a:t>151</a:t>
            </a:fld>
            <a:endParaRPr lang="en-US" altLang="zh-CN"/>
          </a:p>
        </p:txBody>
      </p:sp>
      <p:pic>
        <p:nvPicPr>
          <p:cNvPr id="143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2467744"/>
            <a:ext cx="3497336" cy="192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673" y="5195887"/>
            <a:ext cx="8034750" cy="863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63"/>
                                        </p:tgtEl>
                                        <p:attrNameLst>
                                          <p:attrName>style.visibility</p:attrName>
                                        </p:attrNameLst>
                                      </p:cBhvr>
                                      <p:to>
                                        <p:strVal val="visible"/>
                                      </p:to>
                                    </p:set>
                                    <p:anim calcmode="lin" valueType="num">
                                      <p:cBhvr additive="base">
                                        <p:cTn id="7" dur="750" fill="hold"/>
                                        <p:tgtEl>
                                          <p:spTgt spid="143363"/>
                                        </p:tgtEl>
                                        <p:attrNameLst>
                                          <p:attrName>ppt_x</p:attrName>
                                        </p:attrNameLst>
                                      </p:cBhvr>
                                      <p:tavLst>
                                        <p:tav tm="0">
                                          <p:val>
                                            <p:strVal val="#ppt_x"/>
                                          </p:val>
                                        </p:tav>
                                        <p:tav tm="100000">
                                          <p:val>
                                            <p:strVal val="#ppt_x"/>
                                          </p:val>
                                        </p:tav>
                                      </p:tavLst>
                                    </p:anim>
                                    <p:anim calcmode="lin" valueType="num">
                                      <p:cBhvr additive="base">
                                        <p:cTn id="8" dur="750" fill="hold"/>
                                        <p:tgtEl>
                                          <p:spTgt spid="1433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433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BFBFD0E-B172-48AA-A4EB-A86536DB475E}" type="slidenum">
              <a:rPr lang="en-US" altLang="zh-CN"/>
              <a:t>152</a:t>
            </a:fld>
            <a:endParaRPr lang="en-US" altLang="zh-CN"/>
          </a:p>
        </p:txBody>
      </p:sp>
      <p:sp>
        <p:nvSpPr>
          <p:cNvPr id="58370" name="Rectangle 2"/>
          <p:cNvSpPr>
            <a:spLocks noGrp="1" noChangeArrowheads="1"/>
          </p:cNvSpPr>
          <p:nvPr>
            <p:ph type="title"/>
          </p:nvPr>
        </p:nvSpPr>
        <p:spPr/>
        <p:txBody>
          <a:bodyPr/>
          <a:lstStyle/>
          <a:p>
            <a:r>
              <a:rPr lang="zh-CN" altLang="en-US" sz="3200" b="1" dirty="0"/>
              <a:t>六、模糊润饰取证</a:t>
            </a:r>
            <a:endParaRPr lang="zh-CN" altLang="zh-CN" sz="3200" dirty="0"/>
          </a:p>
        </p:txBody>
      </p:sp>
      <p:sp>
        <p:nvSpPr>
          <p:cNvPr id="58371" name="Rectangle 3"/>
          <p:cNvSpPr>
            <a:spLocks noGrp="1" noChangeArrowheads="1"/>
          </p:cNvSpPr>
          <p:nvPr>
            <p:ph type="body" idx="1"/>
          </p:nvPr>
        </p:nvSpPr>
        <p:spPr/>
        <p:txBody>
          <a:bodyPr/>
          <a:lstStyle/>
          <a:p>
            <a:pPr marL="504000" indent="-504000">
              <a:lnSpc>
                <a:spcPct val="150000"/>
              </a:lnSpc>
              <a:spcBef>
                <a:spcPts val="600"/>
              </a:spcBef>
            </a:pPr>
            <a:r>
              <a:rPr lang="zh-CN" altLang="en-US" sz="2400" dirty="0"/>
              <a:t>数码相机直接拍摄的照片会在空域内呈现出一定的色彩局部一致性。</a:t>
            </a:r>
            <a:endParaRPr lang="en-US" altLang="zh-CN" sz="2400" dirty="0"/>
          </a:p>
          <a:p>
            <a:pPr marL="504000" indent="-504000">
              <a:lnSpc>
                <a:spcPct val="150000"/>
              </a:lnSpc>
              <a:spcBef>
                <a:spcPts val="600"/>
              </a:spcBef>
            </a:pPr>
            <a:r>
              <a:rPr lang="zh-CN" altLang="en-US" sz="2400" dirty="0"/>
              <a:t>在图像成像过程中，</a:t>
            </a:r>
            <a:r>
              <a:rPr lang="zh-CN" altLang="en-US" sz="2400" dirty="0">
                <a:solidFill>
                  <a:srgbClr val="FF0000"/>
                </a:solidFill>
              </a:rPr>
              <a:t>滤色阵列插值作用会使</a:t>
            </a:r>
            <a:r>
              <a:rPr lang="en-US" altLang="zh-CN" sz="2400" dirty="0">
                <a:solidFill>
                  <a:srgbClr val="FF0000"/>
                </a:solidFill>
              </a:rPr>
              <a:t>RGB</a:t>
            </a:r>
            <a:r>
              <a:rPr lang="zh-CN" altLang="en-US" sz="2400" dirty="0">
                <a:solidFill>
                  <a:srgbClr val="FF0000"/>
                </a:solidFill>
              </a:rPr>
              <a:t>三个分量在局部空间内分别建立联系，具有局部相关性</a:t>
            </a:r>
            <a:r>
              <a:rPr lang="zh-CN" altLang="en-US" sz="2400" dirty="0"/>
              <a:t>。</a:t>
            </a:r>
            <a:endParaRPr lang="en-US" altLang="zh-CN" sz="2400" dirty="0"/>
          </a:p>
          <a:p>
            <a:pPr marL="504000" indent="-504000">
              <a:lnSpc>
                <a:spcPct val="150000"/>
              </a:lnSpc>
              <a:spcBef>
                <a:spcPts val="600"/>
              </a:spcBef>
            </a:pPr>
            <a:r>
              <a:rPr lang="zh-CN" altLang="en-US" sz="2400" dirty="0"/>
              <a:t>而模糊操作对</a:t>
            </a:r>
            <a:r>
              <a:rPr lang="zh-CN" altLang="en-US" sz="2400" dirty="0">
                <a:solidFill>
                  <a:srgbClr val="FF0000"/>
                </a:solidFill>
              </a:rPr>
              <a:t>三个分量分别独立地进行了非线性均匀的修改，这会破坏原始数码图像的色彩局部一致性</a:t>
            </a:r>
            <a:r>
              <a:rPr lang="zh-CN" altLang="en-US" sz="2400" dirty="0"/>
              <a:t>。</a:t>
            </a:r>
            <a:endParaRPr lang="en-US" altLang="zh-CN" sz="2400" dirty="0"/>
          </a:p>
          <a:p>
            <a:pPr marL="504000" indent="-504000">
              <a:lnSpc>
                <a:spcPct val="150000"/>
              </a:lnSpc>
              <a:spcBef>
                <a:spcPts val="600"/>
              </a:spcBef>
            </a:pPr>
            <a:r>
              <a:rPr lang="zh-CN" altLang="en-US" sz="2400" dirty="0"/>
              <a:t>因此，利用这一特点提取出准确描述色彩局部一致性变化的特征可以很好地实现图像模糊的检测。</a:t>
            </a:r>
          </a:p>
          <a:p>
            <a:pPr lvl="1">
              <a:lnSpc>
                <a:spcPct val="90000"/>
              </a:lnSpc>
            </a:pP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p:cNvSpPr>
            <a:spLocks noGrp="1"/>
          </p:cNvSpPr>
          <p:nvPr>
            <p:ph type="sldNum" sz="quarter" idx="12"/>
          </p:nvPr>
        </p:nvSpPr>
        <p:spPr/>
        <p:txBody>
          <a:bodyPr/>
          <a:lstStyle/>
          <a:p>
            <a:fld id="{4B18C61E-9C99-49C5-B33F-0027559595D7}" type="slidenum">
              <a:rPr lang="en-US" altLang="zh-CN"/>
              <a:t>153</a:t>
            </a:fld>
            <a:endParaRPr lang="en-US" altLang="zh-CN"/>
          </a:p>
        </p:txBody>
      </p:sp>
      <p:sp>
        <p:nvSpPr>
          <p:cNvPr id="141314" name="Rectangle 2"/>
          <p:cNvSpPr>
            <a:spLocks noGrp="1" noChangeArrowheads="1"/>
          </p:cNvSpPr>
          <p:nvPr>
            <p:ph type="title"/>
          </p:nvPr>
        </p:nvSpPr>
        <p:spPr/>
        <p:txBody>
          <a:bodyPr/>
          <a:lstStyle/>
          <a:p>
            <a:r>
              <a:rPr lang="zh-CN" altLang="en-US" sz="3200" b="1" dirty="0"/>
              <a:t>七、图像获取设备取证</a:t>
            </a:r>
            <a:endParaRPr lang="zh-CN" altLang="zh-CN" sz="3200" dirty="0"/>
          </a:p>
        </p:txBody>
      </p:sp>
      <p:grpSp>
        <p:nvGrpSpPr>
          <p:cNvPr id="141316" name="Group 4"/>
          <p:cNvGrpSpPr/>
          <p:nvPr/>
        </p:nvGrpSpPr>
        <p:grpSpPr bwMode="auto">
          <a:xfrm>
            <a:off x="1691680" y="1628800"/>
            <a:ext cx="7128792" cy="4727550"/>
            <a:chOff x="1605" y="3405"/>
            <a:chExt cx="8280" cy="5000"/>
          </a:xfrm>
        </p:grpSpPr>
        <p:sp>
          <p:nvSpPr>
            <p:cNvPr id="141317" name="Text Box 5"/>
            <p:cNvSpPr txBox="1">
              <a:spLocks noChangeArrowheads="1"/>
            </p:cNvSpPr>
            <p:nvPr/>
          </p:nvSpPr>
          <p:spPr bwMode="auto">
            <a:xfrm>
              <a:off x="1605" y="3405"/>
              <a:ext cx="8280" cy="5000"/>
            </a:xfrm>
            <a:prstGeom prst="rect">
              <a:avLst/>
            </a:prstGeom>
            <a:solidFill>
              <a:srgbClr val="FFFFFF"/>
            </a:solidFill>
            <a:ln w="9525">
              <a:solidFill>
                <a:srgbClr val="000000"/>
              </a:solidFill>
              <a:miter lim="800000"/>
            </a:ln>
          </p:spPr>
          <p:txBody>
            <a:bodyPr/>
            <a:lstStyle/>
            <a:p>
              <a:pPr algn="just"/>
              <a:endParaRPr lang="zh-CN" altLang="zh-CN" sz="2800">
                <a:latin typeface="Times New Roman" panose="02020603050405020304" pitchFamily="18" charset="0"/>
              </a:endParaRPr>
            </a:p>
          </p:txBody>
        </p:sp>
        <p:grpSp>
          <p:nvGrpSpPr>
            <p:cNvPr id="141318" name="Group 6"/>
            <p:cNvGrpSpPr/>
            <p:nvPr/>
          </p:nvGrpSpPr>
          <p:grpSpPr bwMode="auto">
            <a:xfrm>
              <a:off x="2160" y="3666"/>
              <a:ext cx="7560" cy="4515"/>
              <a:chOff x="2160" y="3666"/>
              <a:chExt cx="7560" cy="4515"/>
            </a:xfrm>
          </p:grpSpPr>
          <p:sp>
            <p:nvSpPr>
              <p:cNvPr id="141319" name="Text Box 7"/>
              <p:cNvSpPr txBox="1">
                <a:spLocks noChangeArrowheads="1"/>
              </p:cNvSpPr>
              <p:nvPr/>
            </p:nvSpPr>
            <p:spPr bwMode="auto">
              <a:xfrm>
                <a:off x="2160" y="3813"/>
                <a:ext cx="1230" cy="1248"/>
              </a:xfrm>
              <a:prstGeom prst="rect">
                <a:avLst/>
              </a:prstGeom>
              <a:solidFill>
                <a:srgbClr val="FFFFFF"/>
              </a:solidFill>
              <a:ln w="9525">
                <a:solidFill>
                  <a:srgbClr val="000000"/>
                </a:solidFill>
                <a:miter lim="800000"/>
              </a:ln>
            </p:spPr>
            <p:txBody>
              <a:bodyPr/>
              <a:lstStyle/>
              <a:p>
                <a:pPr algn="ctr"/>
                <a:r>
                  <a:rPr lang="zh-CN" altLang="en-US" sz="1600" dirty="0">
                    <a:latin typeface="Times New Roman" panose="02020603050405020304" pitchFamily="18" charset="0"/>
                  </a:rPr>
                  <a:t>自然场景</a:t>
                </a:r>
              </a:p>
            </p:txBody>
          </p:sp>
          <p:sp>
            <p:nvSpPr>
              <p:cNvPr id="141320" name="Text Box 8"/>
              <p:cNvSpPr txBox="1">
                <a:spLocks noChangeArrowheads="1"/>
              </p:cNvSpPr>
              <p:nvPr/>
            </p:nvSpPr>
            <p:spPr bwMode="auto">
              <a:xfrm>
                <a:off x="3960" y="3813"/>
                <a:ext cx="1260" cy="1092"/>
              </a:xfrm>
              <a:prstGeom prst="rect">
                <a:avLst/>
              </a:prstGeom>
              <a:solidFill>
                <a:srgbClr val="FFFFFF"/>
              </a:solidFill>
              <a:ln w="9525">
                <a:solidFill>
                  <a:srgbClr val="000000"/>
                </a:solidFill>
                <a:miter lim="800000"/>
              </a:ln>
            </p:spPr>
            <p:txBody>
              <a:bodyPr/>
              <a:lstStyle/>
              <a:p>
                <a:pPr algn="ctr"/>
                <a:r>
                  <a:rPr lang="zh-CN" altLang="en-US" sz="1400">
                    <a:latin typeface="Times New Roman" panose="02020603050405020304" pitchFamily="18" charset="0"/>
                  </a:rPr>
                  <a:t>透镜失真及</a:t>
                </a:r>
              </a:p>
              <a:p>
                <a:pPr algn="ctr"/>
                <a:r>
                  <a:rPr lang="zh-CN" altLang="en-US" sz="1400">
                    <a:latin typeface="Times New Roman" panose="02020603050405020304" pitchFamily="18" charset="0"/>
                  </a:rPr>
                  <a:t>光学低通</a:t>
                </a:r>
                <a:endParaRPr lang="zh-CN" altLang="en-US" sz="2400"/>
              </a:p>
            </p:txBody>
          </p:sp>
          <p:sp>
            <p:nvSpPr>
              <p:cNvPr id="141321" name="Text Box 9"/>
              <p:cNvSpPr txBox="1">
                <a:spLocks noChangeArrowheads="1"/>
              </p:cNvSpPr>
              <p:nvPr/>
            </p:nvSpPr>
            <p:spPr bwMode="auto">
              <a:xfrm>
                <a:off x="5580" y="3813"/>
                <a:ext cx="2160" cy="1092"/>
              </a:xfrm>
              <a:prstGeom prst="rect">
                <a:avLst/>
              </a:prstGeom>
              <a:solidFill>
                <a:srgbClr val="FFFFFF"/>
              </a:solidFill>
              <a:ln w="9525">
                <a:solidFill>
                  <a:srgbClr val="000000"/>
                </a:solidFill>
                <a:miter lim="800000"/>
              </a:ln>
            </p:spPr>
            <p:txBody>
              <a:bodyPr/>
              <a:lstStyle/>
              <a:p>
                <a:pPr algn="just"/>
                <a:r>
                  <a:rPr lang="en-US" altLang="zh-CN" sz="1400">
                    <a:latin typeface="Times New Roman" panose="02020603050405020304" pitchFamily="18" charset="0"/>
                  </a:rPr>
                  <a:t>CCD</a:t>
                </a:r>
                <a:r>
                  <a:rPr lang="zh-CN" altLang="en-US" sz="1400">
                    <a:latin typeface="Times New Roman" panose="02020603050405020304" pitchFamily="18" charset="0"/>
                  </a:rPr>
                  <a:t>加性噪声、相机固有模式噪声、暗电流噪声、拍摄噪声</a:t>
                </a:r>
                <a:endParaRPr lang="zh-CN" altLang="en-US" sz="2400"/>
              </a:p>
            </p:txBody>
          </p:sp>
          <p:sp>
            <p:nvSpPr>
              <p:cNvPr id="141322" name="Text Box 10"/>
              <p:cNvSpPr txBox="1">
                <a:spLocks noChangeArrowheads="1"/>
              </p:cNvSpPr>
              <p:nvPr/>
            </p:nvSpPr>
            <p:spPr bwMode="auto">
              <a:xfrm>
                <a:off x="6555" y="5373"/>
                <a:ext cx="1170" cy="468"/>
              </a:xfrm>
              <a:prstGeom prst="rect">
                <a:avLst/>
              </a:prstGeom>
              <a:solidFill>
                <a:srgbClr val="FFFFFF"/>
              </a:solidFill>
              <a:ln w="9525">
                <a:solidFill>
                  <a:srgbClr val="000000"/>
                </a:solidFill>
                <a:miter lim="800000"/>
              </a:ln>
            </p:spPr>
            <p:txBody>
              <a:bodyPr/>
              <a:lstStyle/>
              <a:p>
                <a:pPr algn="just"/>
                <a:r>
                  <a:rPr lang="zh-CN" altLang="en-US" sz="1400">
                    <a:latin typeface="Times New Roman" panose="02020603050405020304" pitchFamily="18" charset="0"/>
                  </a:rPr>
                  <a:t>去马赛克</a:t>
                </a:r>
                <a:endParaRPr lang="zh-CN" altLang="en-US" sz="2400"/>
              </a:p>
            </p:txBody>
          </p:sp>
          <p:sp>
            <p:nvSpPr>
              <p:cNvPr id="141323" name="Text Box 11"/>
              <p:cNvSpPr txBox="1">
                <a:spLocks noChangeArrowheads="1"/>
              </p:cNvSpPr>
              <p:nvPr/>
            </p:nvSpPr>
            <p:spPr bwMode="auto">
              <a:xfrm>
                <a:off x="3960" y="5061"/>
                <a:ext cx="1260" cy="1092"/>
              </a:xfrm>
              <a:prstGeom prst="rect">
                <a:avLst/>
              </a:prstGeom>
              <a:solidFill>
                <a:srgbClr val="FFFFFF"/>
              </a:solidFill>
              <a:ln w="9525">
                <a:solidFill>
                  <a:srgbClr val="000000"/>
                </a:solidFill>
                <a:miter lim="800000"/>
              </a:ln>
            </p:spPr>
            <p:txBody>
              <a:bodyPr/>
              <a:lstStyle/>
              <a:p>
                <a:pPr algn="ctr"/>
                <a:r>
                  <a:rPr lang="zh-CN" altLang="en-US" sz="1400">
                    <a:latin typeface="Times New Roman" panose="02020603050405020304" pitchFamily="18" charset="0"/>
                  </a:rPr>
                  <a:t>白平衡</a:t>
                </a:r>
              </a:p>
              <a:p>
                <a:pPr algn="ctr"/>
                <a:r>
                  <a:rPr lang="zh-CN" altLang="en-US" sz="1400">
                    <a:latin typeface="Times New Roman" panose="02020603050405020304" pitchFamily="18" charset="0"/>
                  </a:rPr>
                  <a:t>及</a:t>
                </a:r>
              </a:p>
              <a:p>
                <a:pPr algn="ctr"/>
                <a:r>
                  <a:rPr lang="zh-CN" altLang="en-US" sz="1400">
                    <a:latin typeface="Times New Roman" panose="02020603050405020304" pitchFamily="18" charset="0"/>
                  </a:rPr>
                  <a:t>色彩处理</a:t>
                </a:r>
                <a:endParaRPr lang="zh-CN" altLang="en-US" sz="2400"/>
              </a:p>
            </p:txBody>
          </p:sp>
          <p:sp>
            <p:nvSpPr>
              <p:cNvPr id="141324" name="Text Box 12"/>
              <p:cNvSpPr txBox="1">
                <a:spLocks noChangeArrowheads="1"/>
              </p:cNvSpPr>
              <p:nvPr/>
            </p:nvSpPr>
            <p:spPr bwMode="auto">
              <a:xfrm>
                <a:off x="3960" y="6309"/>
                <a:ext cx="1260" cy="1092"/>
              </a:xfrm>
              <a:prstGeom prst="rect">
                <a:avLst/>
              </a:prstGeom>
              <a:solidFill>
                <a:srgbClr val="FFFFFF"/>
              </a:solidFill>
              <a:ln w="9525">
                <a:solidFill>
                  <a:srgbClr val="000000"/>
                </a:solidFill>
                <a:miter lim="800000"/>
              </a:ln>
            </p:spPr>
            <p:txBody>
              <a:bodyPr/>
              <a:lstStyle/>
              <a:p>
                <a:pPr algn="just"/>
                <a:r>
                  <a:rPr lang="zh-CN" altLang="en-US" sz="1400">
                    <a:latin typeface="Times New Roman" panose="02020603050405020304" pitchFamily="18" charset="0"/>
                  </a:rPr>
                  <a:t>图像锐化对比度增强等操作</a:t>
                </a:r>
                <a:endParaRPr lang="zh-CN" altLang="en-US" sz="2400"/>
              </a:p>
            </p:txBody>
          </p:sp>
          <p:sp>
            <p:nvSpPr>
              <p:cNvPr id="141325" name="AutoShape 13"/>
              <p:cNvSpPr>
                <a:spLocks noChangeArrowheads="1"/>
              </p:cNvSpPr>
              <p:nvPr/>
            </p:nvSpPr>
            <p:spPr bwMode="auto">
              <a:xfrm>
                <a:off x="3375" y="4281"/>
                <a:ext cx="600" cy="155"/>
              </a:xfrm>
              <a:prstGeom prst="rightArrow">
                <a:avLst>
                  <a:gd name="adj1" fmla="val 50000"/>
                  <a:gd name="adj2" fmla="val 96774"/>
                </a:avLst>
              </a:prstGeom>
              <a:solidFill>
                <a:srgbClr val="FFFFFF"/>
              </a:solidFill>
              <a:ln w="9525">
                <a:solidFill>
                  <a:srgbClr val="000000"/>
                </a:solidFill>
                <a:miter lim="800000"/>
              </a:ln>
            </p:spPr>
            <p:txBody>
              <a:bodyPr/>
              <a:lstStyle/>
              <a:p>
                <a:endParaRPr lang="zh-CN" altLang="en-US"/>
              </a:p>
            </p:txBody>
          </p:sp>
          <p:sp>
            <p:nvSpPr>
              <p:cNvPr id="141326" name="AutoShape 14"/>
              <p:cNvSpPr>
                <a:spLocks noChangeArrowheads="1"/>
              </p:cNvSpPr>
              <p:nvPr/>
            </p:nvSpPr>
            <p:spPr bwMode="auto">
              <a:xfrm>
                <a:off x="5220" y="4281"/>
                <a:ext cx="360" cy="156"/>
              </a:xfrm>
              <a:prstGeom prst="rightArrow">
                <a:avLst>
                  <a:gd name="adj1" fmla="val 50000"/>
                  <a:gd name="adj2" fmla="val 57692"/>
                </a:avLst>
              </a:prstGeom>
              <a:solidFill>
                <a:srgbClr val="FFFFFF"/>
              </a:solidFill>
              <a:ln w="9525">
                <a:solidFill>
                  <a:srgbClr val="000000"/>
                </a:solidFill>
                <a:miter lim="800000"/>
              </a:ln>
            </p:spPr>
            <p:txBody>
              <a:bodyPr/>
              <a:lstStyle/>
              <a:p>
                <a:endParaRPr lang="zh-CN" altLang="en-US"/>
              </a:p>
            </p:txBody>
          </p:sp>
          <p:sp>
            <p:nvSpPr>
              <p:cNvPr id="141327" name="AutoShape 15"/>
              <p:cNvSpPr>
                <a:spLocks noChangeArrowheads="1"/>
              </p:cNvSpPr>
              <p:nvPr/>
            </p:nvSpPr>
            <p:spPr bwMode="auto">
              <a:xfrm>
                <a:off x="7200" y="4905"/>
                <a:ext cx="180" cy="468"/>
              </a:xfrm>
              <a:prstGeom prst="downArrow">
                <a:avLst>
                  <a:gd name="adj1" fmla="val 50000"/>
                  <a:gd name="adj2" fmla="val 65000"/>
                </a:avLst>
              </a:prstGeom>
              <a:solidFill>
                <a:srgbClr val="FFFFFF"/>
              </a:solidFill>
              <a:ln w="9525">
                <a:solidFill>
                  <a:srgbClr val="000000"/>
                </a:solidFill>
                <a:miter lim="800000"/>
              </a:ln>
            </p:spPr>
            <p:txBody>
              <a:bodyPr vert="eaVert"/>
              <a:lstStyle/>
              <a:p>
                <a:endParaRPr lang="zh-CN" altLang="en-US"/>
              </a:p>
            </p:txBody>
          </p:sp>
          <p:sp>
            <p:nvSpPr>
              <p:cNvPr id="141328" name="Text Box 16"/>
              <p:cNvSpPr txBox="1">
                <a:spLocks noChangeArrowheads="1"/>
              </p:cNvSpPr>
              <p:nvPr/>
            </p:nvSpPr>
            <p:spPr bwMode="auto">
              <a:xfrm>
                <a:off x="5655" y="6465"/>
                <a:ext cx="765" cy="729"/>
              </a:xfrm>
              <a:prstGeom prst="rect">
                <a:avLst/>
              </a:prstGeom>
              <a:solidFill>
                <a:srgbClr val="FFFFFF"/>
              </a:solidFill>
              <a:ln w="9525">
                <a:solidFill>
                  <a:srgbClr val="000000"/>
                </a:solidFill>
                <a:miter lim="800000"/>
              </a:ln>
            </p:spPr>
            <p:txBody>
              <a:bodyPr/>
              <a:lstStyle/>
              <a:p>
                <a:pPr algn="ctr"/>
                <a:r>
                  <a:rPr lang="zh-CN" altLang="en-US" sz="1400">
                    <a:latin typeface="Times New Roman" panose="02020603050405020304" pitchFamily="18" charset="0"/>
                  </a:rPr>
                  <a:t>伽玛</a:t>
                </a:r>
              </a:p>
              <a:p>
                <a:pPr algn="ctr"/>
                <a:r>
                  <a:rPr lang="zh-CN" altLang="en-US" sz="1400">
                    <a:latin typeface="Times New Roman" panose="02020603050405020304" pitchFamily="18" charset="0"/>
                  </a:rPr>
                  <a:t>校正</a:t>
                </a:r>
                <a:endParaRPr lang="zh-CN" altLang="en-US" sz="2400"/>
              </a:p>
            </p:txBody>
          </p:sp>
          <p:sp>
            <p:nvSpPr>
              <p:cNvPr id="141329" name="Text Box 17"/>
              <p:cNvSpPr txBox="1">
                <a:spLocks noChangeArrowheads="1"/>
              </p:cNvSpPr>
              <p:nvPr/>
            </p:nvSpPr>
            <p:spPr bwMode="auto">
              <a:xfrm>
                <a:off x="6840" y="6465"/>
                <a:ext cx="825" cy="735"/>
              </a:xfrm>
              <a:prstGeom prst="rect">
                <a:avLst/>
              </a:prstGeom>
              <a:solidFill>
                <a:srgbClr val="FFFFFF"/>
              </a:solidFill>
              <a:ln w="9525">
                <a:solidFill>
                  <a:srgbClr val="000000"/>
                </a:solidFill>
                <a:miter lim="800000"/>
              </a:ln>
            </p:spPr>
            <p:txBody>
              <a:bodyPr/>
              <a:lstStyle/>
              <a:p>
                <a:pPr algn="ctr"/>
                <a:r>
                  <a:rPr lang="zh-CN" altLang="en-US" sz="1400">
                    <a:latin typeface="Times New Roman" panose="02020603050405020304" pitchFamily="18" charset="0"/>
                  </a:rPr>
                  <a:t>数据</a:t>
                </a:r>
              </a:p>
              <a:p>
                <a:pPr algn="ctr"/>
                <a:r>
                  <a:rPr lang="zh-CN" altLang="en-US" sz="1400">
                    <a:latin typeface="Times New Roman" panose="02020603050405020304" pitchFamily="18" charset="0"/>
                  </a:rPr>
                  <a:t>压缩</a:t>
                </a:r>
                <a:endParaRPr lang="zh-CN" altLang="en-US" sz="2400"/>
              </a:p>
            </p:txBody>
          </p:sp>
          <p:sp>
            <p:nvSpPr>
              <p:cNvPr id="141330" name="AutoShape 18"/>
              <p:cNvSpPr>
                <a:spLocks noChangeArrowheads="1"/>
              </p:cNvSpPr>
              <p:nvPr/>
            </p:nvSpPr>
            <p:spPr bwMode="auto">
              <a:xfrm>
                <a:off x="5250" y="5529"/>
                <a:ext cx="1290" cy="155"/>
              </a:xfrm>
              <a:prstGeom prst="leftArrow">
                <a:avLst>
                  <a:gd name="adj1" fmla="val 50000"/>
                  <a:gd name="adj2" fmla="val 208065"/>
                </a:avLst>
              </a:prstGeom>
              <a:solidFill>
                <a:srgbClr val="FFFFFF"/>
              </a:solidFill>
              <a:ln w="9525">
                <a:solidFill>
                  <a:srgbClr val="000000"/>
                </a:solidFill>
                <a:miter lim="800000"/>
              </a:ln>
            </p:spPr>
            <p:txBody>
              <a:bodyPr/>
              <a:lstStyle/>
              <a:p>
                <a:endParaRPr lang="zh-CN" altLang="en-US"/>
              </a:p>
            </p:txBody>
          </p:sp>
          <p:sp>
            <p:nvSpPr>
              <p:cNvPr id="141331" name="AutoShape 19"/>
              <p:cNvSpPr>
                <a:spLocks noChangeArrowheads="1"/>
              </p:cNvSpPr>
              <p:nvPr/>
            </p:nvSpPr>
            <p:spPr bwMode="auto">
              <a:xfrm>
                <a:off x="5220" y="6777"/>
                <a:ext cx="435" cy="155"/>
              </a:xfrm>
              <a:prstGeom prst="rightArrow">
                <a:avLst>
                  <a:gd name="adj1" fmla="val 50000"/>
                  <a:gd name="adj2" fmla="val 70161"/>
                </a:avLst>
              </a:prstGeom>
              <a:solidFill>
                <a:srgbClr val="FFFFFF"/>
              </a:solidFill>
              <a:ln w="9525">
                <a:solidFill>
                  <a:srgbClr val="000000"/>
                </a:solidFill>
                <a:miter lim="800000"/>
              </a:ln>
            </p:spPr>
            <p:txBody>
              <a:bodyPr/>
              <a:lstStyle/>
              <a:p>
                <a:endParaRPr lang="zh-CN" altLang="en-US"/>
              </a:p>
            </p:txBody>
          </p:sp>
          <p:sp>
            <p:nvSpPr>
              <p:cNvPr id="141332" name="AutoShape 20"/>
              <p:cNvSpPr>
                <a:spLocks noChangeArrowheads="1"/>
              </p:cNvSpPr>
              <p:nvPr/>
            </p:nvSpPr>
            <p:spPr bwMode="auto">
              <a:xfrm>
                <a:off x="6405" y="6777"/>
                <a:ext cx="435" cy="156"/>
              </a:xfrm>
              <a:prstGeom prst="rightArrow">
                <a:avLst>
                  <a:gd name="adj1" fmla="val 50000"/>
                  <a:gd name="adj2" fmla="val 69712"/>
                </a:avLst>
              </a:prstGeom>
              <a:solidFill>
                <a:srgbClr val="FFFFFF"/>
              </a:solidFill>
              <a:ln w="9525">
                <a:solidFill>
                  <a:srgbClr val="000000"/>
                </a:solidFill>
                <a:miter lim="800000"/>
              </a:ln>
            </p:spPr>
            <p:txBody>
              <a:bodyPr/>
              <a:lstStyle/>
              <a:p>
                <a:endParaRPr lang="zh-CN" altLang="en-US"/>
              </a:p>
            </p:txBody>
          </p:sp>
          <p:sp>
            <p:nvSpPr>
              <p:cNvPr id="141333" name="AutoShape 21"/>
              <p:cNvSpPr>
                <a:spLocks noChangeArrowheads="1"/>
              </p:cNvSpPr>
              <p:nvPr/>
            </p:nvSpPr>
            <p:spPr bwMode="auto">
              <a:xfrm>
                <a:off x="7680" y="6777"/>
                <a:ext cx="600" cy="155"/>
              </a:xfrm>
              <a:prstGeom prst="rightArrow">
                <a:avLst>
                  <a:gd name="adj1" fmla="val 50000"/>
                  <a:gd name="adj2" fmla="val 96774"/>
                </a:avLst>
              </a:prstGeom>
              <a:solidFill>
                <a:srgbClr val="FFFFFF"/>
              </a:solidFill>
              <a:ln w="9525">
                <a:solidFill>
                  <a:srgbClr val="000000"/>
                </a:solidFill>
                <a:miter lim="800000"/>
              </a:ln>
            </p:spPr>
            <p:txBody>
              <a:bodyPr/>
              <a:lstStyle/>
              <a:p>
                <a:endParaRPr lang="zh-CN" altLang="en-US"/>
              </a:p>
            </p:txBody>
          </p:sp>
          <p:sp>
            <p:nvSpPr>
              <p:cNvPr id="141334" name="Text Box 22"/>
              <p:cNvSpPr txBox="1">
                <a:spLocks noChangeArrowheads="1"/>
              </p:cNvSpPr>
              <p:nvPr/>
            </p:nvSpPr>
            <p:spPr bwMode="auto">
              <a:xfrm>
                <a:off x="8280" y="6465"/>
                <a:ext cx="1440" cy="1248"/>
              </a:xfrm>
              <a:prstGeom prst="rect">
                <a:avLst/>
              </a:prstGeom>
              <a:solidFill>
                <a:srgbClr val="FFFFFF"/>
              </a:solidFill>
              <a:ln w="9525">
                <a:solidFill>
                  <a:srgbClr val="000000"/>
                </a:solidFill>
                <a:miter lim="800000"/>
              </a:ln>
            </p:spPr>
            <p:txBody>
              <a:bodyPr/>
              <a:lstStyle/>
              <a:p>
                <a:pPr algn="ctr"/>
                <a:r>
                  <a:rPr lang="zh-CN" altLang="en-US" sz="1400" dirty="0">
                    <a:latin typeface="Times New Roman" panose="02020603050405020304" pitchFamily="18" charset="0"/>
                  </a:rPr>
                  <a:t>数字图像</a:t>
                </a:r>
              </a:p>
            </p:txBody>
          </p:sp>
          <p:sp>
            <p:nvSpPr>
              <p:cNvPr id="141335" name="Text Box 23"/>
              <p:cNvSpPr txBox="1">
                <a:spLocks noChangeArrowheads="1"/>
              </p:cNvSpPr>
              <p:nvPr/>
            </p:nvSpPr>
            <p:spPr bwMode="auto">
              <a:xfrm>
                <a:off x="3540" y="3666"/>
                <a:ext cx="4500" cy="4515"/>
              </a:xfrm>
              <a:prstGeom prst="rect">
                <a:avLst/>
              </a:prstGeom>
              <a:noFill/>
              <a:ln w="12700">
                <a:solidFill>
                  <a:srgbClr val="000000"/>
                </a:solidFill>
                <a:prstDash val="lgDash"/>
                <a:miter lim="800000"/>
              </a:ln>
              <a:extLst>
                <a:ext uri="{909E8E84-426E-40DD-AFC4-6F175D3DCCD1}">
                  <a14:hiddenFill xmlns:a14="http://schemas.microsoft.com/office/drawing/2010/main">
                    <a:solidFill>
                      <a:srgbClr val="FFFFFF">
                        <a:alpha val="50000"/>
                      </a:srgbClr>
                    </a:solidFill>
                  </a14:hiddenFill>
                </a:ext>
              </a:extLst>
            </p:spPr>
            <p:txBody>
              <a:bodyPr/>
              <a:lstStyle/>
              <a:p>
                <a:pPr algn="just"/>
                <a:endParaRPr lang="zh-CN" altLang="zh-CN" sz="4000"/>
              </a:p>
            </p:txBody>
          </p:sp>
        </p:grpSp>
      </p:grpSp>
      <p:sp>
        <p:nvSpPr>
          <p:cNvPr id="141336" name="Rectangle 24"/>
          <p:cNvSpPr>
            <a:spLocks noChangeArrowheads="1"/>
          </p:cNvSpPr>
          <p:nvPr/>
        </p:nvSpPr>
        <p:spPr bwMode="auto">
          <a:xfrm>
            <a:off x="722859" y="1863071"/>
            <a:ext cx="492443" cy="4014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nchor="ctr">
            <a:spAutoFit/>
          </a:bodyPr>
          <a:lstStyle/>
          <a:p>
            <a:r>
              <a:rPr lang="zh-CN" altLang="en-US" dirty="0"/>
              <a:t>数码相机生成照片过程图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CN" altLang="en-US" sz="3200" b="1" dirty="0"/>
              <a:t>七、图像获取设备取证</a:t>
            </a:r>
            <a:endParaRPr lang="zh-CN" altLang="en-US" sz="3200" dirty="0"/>
          </a:p>
        </p:txBody>
      </p:sp>
      <p:sp>
        <p:nvSpPr>
          <p:cNvPr id="142339" name="Rectangle 3"/>
          <p:cNvSpPr>
            <a:spLocks noGrp="1" noChangeArrowheads="1"/>
          </p:cNvSpPr>
          <p:nvPr>
            <p:ph idx="1"/>
          </p:nvPr>
        </p:nvSpPr>
        <p:spPr>
          <a:xfrm>
            <a:off x="628814" y="1462088"/>
            <a:ext cx="7887564" cy="5029199"/>
          </a:xfrm>
        </p:spPr>
        <p:txBody>
          <a:bodyPr>
            <a:normAutofit fontScale="92500" lnSpcReduction="10000"/>
          </a:bodyPr>
          <a:lstStyle/>
          <a:p>
            <a:pPr marL="540000" indent="-504000" algn="l">
              <a:lnSpc>
                <a:spcPct val="150000"/>
              </a:lnSpc>
              <a:spcBef>
                <a:spcPts val="600"/>
              </a:spcBef>
              <a:buSzTx/>
            </a:pPr>
            <a:r>
              <a:rPr lang="zh-CN" altLang="en-US" sz="2600" dirty="0"/>
              <a:t>数码相机图像来源认证</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由于不同品牌数字相机的镜头CCD、感光器件对获得信息的处理方式不同，其生成的数字图像特性也不相同，可以根据这些不同特性判别数字图像的相机来源。</a:t>
            </a:r>
          </a:p>
          <a:p>
            <a:pPr marL="1008000" lvl="2" indent="-360000">
              <a:lnSpc>
                <a:spcPct val="150000"/>
              </a:lnSpc>
              <a:spcBef>
                <a:spcPts val="600"/>
              </a:spcBef>
            </a:pPr>
            <a:r>
              <a:rPr lang="zh-CN" altLang="en-US" sz="2000" b="1" dirty="0">
                <a:latin typeface="华文细黑" panose="02010600040101010101" pitchFamily="2" charset="-122"/>
                <a:ea typeface="华文细黑" panose="02010600040101010101" pitchFamily="2" charset="-122"/>
                <a:cs typeface="+mn-cs"/>
              </a:rPr>
              <a:t>CCD（Charge-coupled Device）电荷耦合器件，能够把光学影像转化为数字信号，是一种用电荷量表示信号大小，用耦合方式传输信号的探测元件，具有自扫描、感受波谱范围宽、畸变小、体积小、重量轻、系统噪声低、功耗小、寿命长、可靠性高等一系列优点，并可做成集成度非常高的组合件。电荷耦合器件</a:t>
            </a:r>
            <a:r>
              <a:rPr lang="en-US" altLang="zh-CN" sz="2000" b="1" dirty="0">
                <a:latin typeface="华文细黑" panose="02010600040101010101" pitchFamily="2" charset="-122"/>
                <a:ea typeface="华文细黑" panose="02010600040101010101" pitchFamily="2" charset="-122"/>
                <a:cs typeface="+mn-cs"/>
              </a:rPr>
              <a:t>(CCD)</a:t>
            </a:r>
            <a:r>
              <a:rPr lang="zh-CN" altLang="en-US" sz="2000" b="1" dirty="0">
                <a:latin typeface="华文细黑" panose="02010600040101010101" pitchFamily="2" charset="-122"/>
                <a:ea typeface="华文细黑" panose="02010600040101010101" pitchFamily="2" charset="-122"/>
                <a:cs typeface="+mn-cs"/>
              </a:rPr>
              <a:t>是</a:t>
            </a:r>
            <a:r>
              <a:rPr lang="en-US" altLang="zh-CN" sz="2000" b="1" dirty="0">
                <a:latin typeface="华文细黑" panose="02010600040101010101" pitchFamily="2" charset="-122"/>
                <a:ea typeface="华文细黑" panose="02010600040101010101" pitchFamily="2" charset="-122"/>
                <a:cs typeface="+mn-cs"/>
              </a:rPr>
              <a:t>20</a:t>
            </a:r>
            <a:r>
              <a:rPr lang="zh-CN" altLang="en-US" sz="2000" b="1" dirty="0">
                <a:latin typeface="华文细黑" panose="02010600040101010101" pitchFamily="2" charset="-122"/>
                <a:ea typeface="华文细黑" panose="02010600040101010101" pitchFamily="2" charset="-122"/>
                <a:cs typeface="+mn-cs"/>
              </a:rPr>
              <a:t>世纪</a:t>
            </a:r>
            <a:r>
              <a:rPr lang="en-US" altLang="zh-CN" sz="2000" b="1" dirty="0">
                <a:latin typeface="华文细黑" panose="02010600040101010101" pitchFamily="2" charset="-122"/>
                <a:ea typeface="华文细黑" panose="02010600040101010101" pitchFamily="2" charset="-122"/>
                <a:cs typeface="+mn-cs"/>
              </a:rPr>
              <a:t>70</a:t>
            </a:r>
            <a:r>
              <a:rPr lang="zh-CN" altLang="en-US" sz="2000" b="1" dirty="0">
                <a:latin typeface="华文细黑" panose="02010600040101010101" pitchFamily="2" charset="-122"/>
                <a:ea typeface="华文细黑" panose="02010600040101010101" pitchFamily="2" charset="-122"/>
                <a:cs typeface="+mn-cs"/>
              </a:rPr>
              <a:t>年代初发展起来的一种新型半导体器件。 </a:t>
            </a:r>
          </a:p>
        </p:txBody>
      </p:sp>
      <p:sp>
        <p:nvSpPr>
          <p:cNvPr id="4" name="灯片编号占位符 5"/>
          <p:cNvSpPr>
            <a:spLocks noGrp="1"/>
          </p:cNvSpPr>
          <p:nvPr>
            <p:ph type="sldNum" sz="quarter" idx="12"/>
          </p:nvPr>
        </p:nvSpPr>
        <p:spPr/>
        <p:txBody>
          <a:bodyPr/>
          <a:lstStyle/>
          <a:p>
            <a:fld id="{EB4E9C55-851B-42F8-9D02-0822DF18128C}" type="slidenum">
              <a:rPr lang="en-US" altLang="zh-CN"/>
              <a:t>154</a:t>
            </a:fld>
            <a:endParaRPr lang="en-US" altLang="zh-CN"/>
          </a:p>
        </p:txBody>
      </p:sp>
      <p:pic>
        <p:nvPicPr>
          <p:cNvPr id="9218" name="Picture 2">
            <a:extLst>
              <a:ext uri="{FF2B5EF4-FFF2-40B4-BE49-F238E27FC236}">
                <a16:creationId xmlns:a16="http://schemas.microsoft.com/office/drawing/2014/main" id="{DE61A24A-C179-4C61-8FB0-3670DBFA7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4982" y="2060848"/>
            <a:ext cx="4772025" cy="3933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heel(1)">
                                      <p:cBhvr>
                                        <p:cTn id="7" dur="20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xit" presetSubtype="0" fill="hold" nodeType="clickEffect">
                                  <p:stCondLst>
                                    <p:cond delay="0"/>
                                  </p:stCondLst>
                                  <p:childTnLst>
                                    <p:animEffect transition="out" filter="wipe(down)">
                                      <p:cBhvr>
                                        <p:cTn id="11" dur="180" accel="50000">
                                          <p:stCondLst>
                                            <p:cond delay="1820"/>
                                          </p:stCondLst>
                                        </p:cTn>
                                        <p:tgtEl>
                                          <p:spTgt spid="9218"/>
                                        </p:tgtEl>
                                      </p:cBhvr>
                                    </p:animEffect>
                                    <p:anim calcmode="lin" valueType="num">
                                      <p:cBhvr>
                                        <p:cTn id="12" dur="1822" tmFilter="0,0; 0.14,0.31; 0.43,0.73; 0.71,0.91; 1.0,1.0">
                                          <p:stCondLst>
                                            <p:cond delay="0"/>
                                          </p:stCondLst>
                                        </p:cTn>
                                        <p:tgtEl>
                                          <p:spTgt spid="9218"/>
                                        </p:tgtEl>
                                        <p:attrNameLst>
                                          <p:attrName>ppt_x</p:attrName>
                                        </p:attrNameLst>
                                      </p:cBhvr>
                                      <p:tavLst>
                                        <p:tav tm="0">
                                          <p:val>
                                            <p:strVal val="ppt_x"/>
                                          </p:val>
                                        </p:tav>
                                        <p:tav tm="100000">
                                          <p:val>
                                            <p:strVal val="#ppt_x+0.25"/>
                                          </p:val>
                                        </p:tav>
                                      </p:tavLst>
                                    </p:anim>
                                    <p:anim calcmode="lin" valueType="num">
                                      <p:cBhvr>
                                        <p:cTn id="13" dur="178">
                                          <p:stCondLst>
                                            <p:cond delay="1822"/>
                                          </p:stCondLst>
                                        </p:cTn>
                                        <p:tgtEl>
                                          <p:spTgt spid="9218"/>
                                        </p:tgtEl>
                                        <p:attrNameLst>
                                          <p:attrName>ppt_x</p:attrName>
                                        </p:attrNameLst>
                                      </p:cBhvr>
                                      <p:tavLst>
                                        <p:tav tm="0">
                                          <p:val>
                                            <p:strVal val="ppt_x"/>
                                          </p:val>
                                        </p:tav>
                                        <p:tav tm="100000">
                                          <p:val>
                                            <p:strVal val="ppt_x"/>
                                          </p:val>
                                        </p:tav>
                                      </p:tavLst>
                                    </p:anim>
                                    <p:anim calcmode="lin" valueType="num">
                                      <p:cBhvr>
                                        <p:cTn id="14" dur="664" tmFilter="0.0,0.0;0.25,0.07;0.50,0.2;0.75,0.467;1.0,1.0">
                                          <p:stCondLst>
                                            <p:cond delay="0"/>
                                          </p:stCondLst>
                                        </p:cTn>
                                        <p:tgtEl>
                                          <p:spTgt spid="921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5" dur="664" tmFilter="0, 0; 0.125,0.2665; 0.25,0.4; 0.375,0.465; 0.5,0.5;  0.625,0.535; 0.75,0.6; 0.875,0.7335; 1,1">
                                          <p:stCondLst>
                                            <p:cond delay="664"/>
                                          </p:stCondLst>
                                        </p:cTn>
                                        <p:tgtEl>
                                          <p:spTgt spid="921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6" dur="332" tmFilter="0, 0; 0.125,0.2665; 0.25,0.4; 0.375,0.465; 0.5,0.5;  0.625,0.535; 0.75,0.6; 0.875,0.7335; 1,1">
                                          <p:stCondLst>
                                            <p:cond delay="1324"/>
                                          </p:stCondLst>
                                        </p:cTn>
                                        <p:tgtEl>
                                          <p:spTgt spid="921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7" dur="164" tmFilter="0, 0; 0.125,0.2665; 0.25,0.4; 0.375,0.465; 0.5,0.5;  0.625,0.535; 0.75,0.6; 0.875,0.7335; 1,1">
                                          <p:stCondLst>
                                            <p:cond delay="1656"/>
                                          </p:stCondLst>
                                        </p:cTn>
                                        <p:tgtEl>
                                          <p:spTgt spid="921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8" dur="180" accel="50000">
                                          <p:stCondLst>
                                            <p:cond delay="1820"/>
                                          </p:stCondLst>
                                        </p:cTn>
                                        <p:tgtEl>
                                          <p:spTgt spid="9218"/>
                                        </p:tgtEl>
                                        <p:attrNameLst>
                                          <p:attrName>ppt_y</p:attrName>
                                        </p:attrNameLst>
                                      </p:cBhvr>
                                      <p:tavLst>
                                        <p:tav tm="0">
                                          <p:val>
                                            <p:strVal val="ppt_y"/>
                                          </p:val>
                                        </p:tav>
                                        <p:tav tm="100000">
                                          <p:val>
                                            <p:strVal val="ppt_y+ppt_h"/>
                                          </p:val>
                                        </p:tav>
                                      </p:tavLst>
                                    </p:anim>
                                    <p:animScale>
                                      <p:cBhvr>
                                        <p:cTn id="19" dur="26">
                                          <p:stCondLst>
                                            <p:cond delay="620"/>
                                          </p:stCondLst>
                                        </p:cTn>
                                        <p:tgtEl>
                                          <p:spTgt spid="9218"/>
                                        </p:tgtEl>
                                      </p:cBhvr>
                                      <p:to x="100000" y="60000"/>
                                    </p:animScale>
                                    <p:animScale>
                                      <p:cBhvr>
                                        <p:cTn id="20" dur="166" decel="50000">
                                          <p:stCondLst>
                                            <p:cond delay="646"/>
                                          </p:stCondLst>
                                        </p:cTn>
                                        <p:tgtEl>
                                          <p:spTgt spid="9218"/>
                                        </p:tgtEl>
                                      </p:cBhvr>
                                      <p:to x="100000" y="100000"/>
                                    </p:animScale>
                                    <p:animScale>
                                      <p:cBhvr>
                                        <p:cTn id="21" dur="26">
                                          <p:stCondLst>
                                            <p:cond delay="1312"/>
                                          </p:stCondLst>
                                        </p:cTn>
                                        <p:tgtEl>
                                          <p:spTgt spid="9218"/>
                                        </p:tgtEl>
                                      </p:cBhvr>
                                      <p:to x="100000" y="80000"/>
                                    </p:animScale>
                                    <p:animScale>
                                      <p:cBhvr>
                                        <p:cTn id="22" dur="166" decel="50000">
                                          <p:stCondLst>
                                            <p:cond delay="1338"/>
                                          </p:stCondLst>
                                        </p:cTn>
                                        <p:tgtEl>
                                          <p:spTgt spid="9218"/>
                                        </p:tgtEl>
                                      </p:cBhvr>
                                      <p:to x="100000" y="100000"/>
                                    </p:animScale>
                                    <p:animScale>
                                      <p:cBhvr>
                                        <p:cTn id="23" dur="26">
                                          <p:stCondLst>
                                            <p:cond delay="1642"/>
                                          </p:stCondLst>
                                        </p:cTn>
                                        <p:tgtEl>
                                          <p:spTgt spid="9218"/>
                                        </p:tgtEl>
                                      </p:cBhvr>
                                      <p:to x="100000" y="90000"/>
                                    </p:animScale>
                                    <p:animScale>
                                      <p:cBhvr>
                                        <p:cTn id="24" dur="166" decel="50000">
                                          <p:stCondLst>
                                            <p:cond delay="1668"/>
                                          </p:stCondLst>
                                        </p:cTn>
                                        <p:tgtEl>
                                          <p:spTgt spid="9218"/>
                                        </p:tgtEl>
                                      </p:cBhvr>
                                      <p:to x="100000" y="100000"/>
                                    </p:animScale>
                                    <p:animScale>
                                      <p:cBhvr>
                                        <p:cTn id="25" dur="26">
                                          <p:stCondLst>
                                            <p:cond delay="1808"/>
                                          </p:stCondLst>
                                        </p:cTn>
                                        <p:tgtEl>
                                          <p:spTgt spid="9218"/>
                                        </p:tgtEl>
                                      </p:cBhvr>
                                      <p:to x="100000" y="95000"/>
                                    </p:animScale>
                                    <p:animScale>
                                      <p:cBhvr>
                                        <p:cTn id="26" dur="166" decel="50000">
                                          <p:stCondLst>
                                            <p:cond delay="1834"/>
                                          </p:stCondLst>
                                        </p:cTn>
                                        <p:tgtEl>
                                          <p:spTgt spid="9218"/>
                                        </p:tgtEl>
                                      </p:cBhvr>
                                      <p:to x="100000" y="100000"/>
                                    </p:animScale>
                                    <p:set>
                                      <p:cBhvr>
                                        <p:cTn id="27" dur="1" fill="hold">
                                          <p:stCondLst>
                                            <p:cond delay="1999"/>
                                          </p:stCondLst>
                                        </p:cTn>
                                        <p:tgtEl>
                                          <p:spTgt spid="92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CN" altLang="en-US" sz="3200" b="1" dirty="0"/>
              <a:t>七、图像获取设备取证</a:t>
            </a:r>
            <a:endParaRPr lang="zh-CN" altLang="en-US" sz="3200" dirty="0"/>
          </a:p>
        </p:txBody>
      </p:sp>
      <p:sp>
        <p:nvSpPr>
          <p:cNvPr id="142339" name="Rectangle 3"/>
          <p:cNvSpPr>
            <a:spLocks noGrp="1" noChangeArrowheads="1"/>
          </p:cNvSpPr>
          <p:nvPr>
            <p:ph idx="1"/>
          </p:nvPr>
        </p:nvSpPr>
        <p:spPr/>
        <p:txBody>
          <a:bodyPr/>
          <a:lstStyle/>
          <a:p>
            <a:pPr marL="504000" indent="-504000" algn="l">
              <a:lnSpc>
                <a:spcPct val="150000"/>
              </a:lnSpc>
              <a:spcBef>
                <a:spcPts val="600"/>
              </a:spcBef>
              <a:buSzTx/>
            </a:pPr>
            <a:r>
              <a:rPr lang="zh-CN" altLang="en-US" sz="2400" dirty="0"/>
              <a:t>基于自然场景的取证</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从相机拍摄图像的光照方向一致性进行取证。图中把数码相机拍摄的三维图像简化为二维模型，从获得的二维图像物体表面的光与影中近似地估计出拍摄场景的平行光和点光源的光照方向，其估计的误差范围在1～9度之间。</a:t>
            </a:r>
          </a:p>
        </p:txBody>
      </p:sp>
      <p:sp>
        <p:nvSpPr>
          <p:cNvPr id="4" name="灯片编号占位符 5"/>
          <p:cNvSpPr>
            <a:spLocks noGrp="1"/>
          </p:cNvSpPr>
          <p:nvPr>
            <p:ph type="sldNum" sz="quarter" idx="12"/>
          </p:nvPr>
        </p:nvSpPr>
        <p:spPr/>
        <p:txBody>
          <a:bodyPr/>
          <a:lstStyle/>
          <a:p>
            <a:fld id="{EB4E9C55-851B-42F8-9D02-0822DF18128C}" type="slidenum">
              <a:rPr lang="en-US" altLang="zh-CN"/>
              <a:t>155</a:t>
            </a:fld>
            <a:endParaRPr lang="en-US" altLang="zh-CN"/>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724400"/>
            <a:ext cx="6805026"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zh-CN" altLang="en-US" sz="3200" b="1" dirty="0"/>
              <a:t>七、图像获取设备取证</a:t>
            </a:r>
            <a:endParaRPr lang="zh-CN" altLang="en-US" sz="3200" dirty="0"/>
          </a:p>
        </p:txBody>
      </p:sp>
      <p:sp>
        <p:nvSpPr>
          <p:cNvPr id="5" name="内容占位符 4"/>
          <p:cNvSpPr>
            <a:spLocks noGrp="1"/>
          </p:cNvSpPr>
          <p:nvPr>
            <p:ph idx="1"/>
          </p:nvPr>
        </p:nvSpPr>
        <p:spPr>
          <a:xfrm>
            <a:off x="628814" y="1462088"/>
            <a:ext cx="7887564" cy="5135264"/>
          </a:xfrm>
        </p:spPr>
        <p:txBody>
          <a:bodyPr>
            <a:normAutofit fontScale="92500"/>
          </a:bodyPr>
          <a:lstStyle/>
          <a:p>
            <a:pPr marL="504000" indent="-504000">
              <a:lnSpc>
                <a:spcPct val="150000"/>
              </a:lnSpc>
              <a:spcBef>
                <a:spcPts val="600"/>
              </a:spcBef>
            </a:pPr>
            <a:r>
              <a:rPr lang="zh-CN" altLang="en-US" sz="2600" dirty="0"/>
              <a:t>颜色滤波阵列CFA插值</a:t>
            </a:r>
            <a:r>
              <a:rPr lang="zh-CN" altLang="en-US" sz="2600" b="1" dirty="0">
                <a:solidFill>
                  <a:srgbClr val="FF0000"/>
                </a:solidFill>
              </a:rPr>
              <a:t> </a:t>
            </a:r>
          </a:p>
          <a:p>
            <a:pPr marL="828000" lvl="1" indent="-540000">
              <a:lnSpc>
                <a:spcPct val="150000"/>
              </a:lnSpc>
              <a:spcBef>
                <a:spcPts val="600"/>
              </a:spcBef>
              <a:buFont typeface="Wingdings" panose="05000000000000000000" pitchFamily="2" charset="2"/>
              <a:buChar char="Ø"/>
            </a:pPr>
            <a:r>
              <a:rPr lang="zh-CN" altLang="en-US" sz="2400" b="1" dirty="0">
                <a:latin typeface="华文细黑" panose="02010600040101010101" pitchFamily="2" charset="-122"/>
                <a:ea typeface="华文细黑" panose="02010600040101010101" pitchFamily="2" charset="-122"/>
              </a:rPr>
              <a:t>由于数码相机在成像过程中每个像素实际上只得到了一种颜色的信息，其他颜色都必须在其周围像素颜色信息的基础上经过CFA插值得到，CFA插值使得数码相机生成的原始照片像素数据之间存在特殊的相关性，而图像的伪造篡改操作会破坏这种相关性。</a:t>
            </a:r>
          </a:p>
          <a:p>
            <a:pPr marL="828000" lvl="1" indent="-540000">
              <a:lnSpc>
                <a:spcPct val="150000"/>
              </a:lnSpc>
              <a:spcBef>
                <a:spcPts val="600"/>
              </a:spcBef>
              <a:buFont typeface="Wingdings" panose="05000000000000000000" pitchFamily="2" charset="2"/>
              <a:buChar char="Ø"/>
            </a:pPr>
            <a:r>
              <a:rPr lang="zh-CN" altLang="en-US" sz="2400" b="1" dirty="0">
                <a:latin typeface="华文细黑" panose="02010600040101010101" pitchFamily="2" charset="-122"/>
                <a:ea typeface="华文细黑" panose="02010600040101010101" pitchFamily="2" charset="-122"/>
              </a:rPr>
              <a:t>对数码相机CFA插值的检测还可以用于对数字图像来源进行分类认证，主要依据是不同的数码相机一般采用不同的CFA插值方法。</a:t>
            </a:r>
          </a:p>
        </p:txBody>
      </p:sp>
      <p:sp>
        <p:nvSpPr>
          <p:cNvPr id="4" name="灯片编号占位符 5"/>
          <p:cNvSpPr>
            <a:spLocks noGrp="1"/>
          </p:cNvSpPr>
          <p:nvPr>
            <p:ph type="sldNum" sz="quarter" idx="12"/>
          </p:nvPr>
        </p:nvSpPr>
        <p:spPr/>
        <p:txBody>
          <a:bodyPr/>
          <a:lstStyle/>
          <a:p>
            <a:fld id="{6275620C-7F24-4155-8287-24D06609FB2F}" type="slidenum">
              <a:rPr lang="en-US" altLang="zh-CN"/>
              <a:t>156</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zh-CN" altLang="en-US" sz="3200" b="1" dirty="0"/>
              <a:t>七、图像获取设备取证</a:t>
            </a:r>
            <a:endParaRPr lang="zh-CN" altLang="zh-CN" sz="3200" dirty="0"/>
          </a:p>
        </p:txBody>
      </p:sp>
      <p:sp>
        <p:nvSpPr>
          <p:cNvPr id="136195" name="Rectangle 3"/>
          <p:cNvSpPr>
            <a:spLocks noGrp="1" noChangeArrowheads="1"/>
          </p:cNvSpPr>
          <p:nvPr>
            <p:ph idx="1"/>
          </p:nvPr>
        </p:nvSpPr>
        <p:spPr>
          <a:xfrm>
            <a:off x="628814" y="1462088"/>
            <a:ext cx="7887564" cy="4894262"/>
          </a:xfrm>
        </p:spPr>
        <p:txBody>
          <a:bodyPr>
            <a:normAutofit/>
          </a:bodyPr>
          <a:lstStyle/>
          <a:p>
            <a:pPr marL="504000" indent="-504000" algn="l">
              <a:lnSpc>
                <a:spcPct val="150000"/>
              </a:lnSpc>
              <a:spcBef>
                <a:spcPts val="600"/>
              </a:spcBef>
              <a:buSzTx/>
            </a:pPr>
            <a:r>
              <a:rPr lang="zh-CN" altLang="en-US" sz="2400" dirty="0"/>
              <a:t>CCD噪声模式 </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数字图像获取设备CCD镜头或扫描透镜的模式噪声存在于每一张传感器生成的照片中。</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由于每个相机的CCD模式噪声都是不一样，Fridrich等提出基于CCD模式噪声的方法对数字图像的来源进行识别认证。</a:t>
            </a:r>
          </a:p>
          <a:p>
            <a:pPr marL="1170900" lvl="2" indent="-540000">
              <a:lnSpc>
                <a:spcPct val="150000"/>
              </a:lnSpc>
              <a:spcBef>
                <a:spcPts val="600"/>
              </a:spcBef>
            </a:pPr>
            <a:r>
              <a:rPr lang="zh-CN" altLang="en-US" sz="2000" b="1" dirty="0">
                <a:latin typeface="华文细黑" panose="02010600040101010101" pitchFamily="2" charset="-122"/>
                <a:ea typeface="华文细黑" panose="02010600040101010101" pitchFamily="2" charset="-122"/>
              </a:rPr>
              <a:t>其主要思路是：首先获得一部相机的参考模式噪声，然后提取待测图像中的噪声残余与参考模式噪声进行比对，缺少模式噪声的位置被怀疑为篡改区域</a:t>
            </a:r>
            <a:r>
              <a:rPr lang="zh-CN" altLang="en-US" sz="2000" dirty="0"/>
              <a:t>。</a:t>
            </a:r>
          </a:p>
          <a:p>
            <a:pPr lvl="1"/>
            <a:endParaRPr lang="zh-CN" altLang="en-US" dirty="0"/>
          </a:p>
        </p:txBody>
      </p:sp>
      <p:sp>
        <p:nvSpPr>
          <p:cNvPr id="4" name="灯片编号占位符 5"/>
          <p:cNvSpPr>
            <a:spLocks noGrp="1"/>
          </p:cNvSpPr>
          <p:nvPr>
            <p:ph type="sldNum" sz="quarter" idx="12"/>
          </p:nvPr>
        </p:nvSpPr>
        <p:spPr/>
        <p:txBody>
          <a:bodyPr/>
          <a:lstStyle/>
          <a:p>
            <a:fld id="{5303B4E5-02CF-4369-9B4C-5D797117502E}" type="slidenum">
              <a:rPr lang="en-US" altLang="zh-CN"/>
              <a:t>157</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dirty="0"/>
              <a:t>七、图像获取设备取证</a:t>
            </a:r>
            <a:endParaRPr lang="zh-CN" altLang="en-US" sz="3200" dirty="0"/>
          </a:p>
        </p:txBody>
      </p:sp>
      <p:sp>
        <p:nvSpPr>
          <p:cNvPr id="3" name="内容占位符 2"/>
          <p:cNvSpPr>
            <a:spLocks noGrp="1"/>
          </p:cNvSpPr>
          <p:nvPr>
            <p:ph idx="1"/>
          </p:nvPr>
        </p:nvSpPr>
        <p:spPr/>
        <p:txBody>
          <a:bodyPr/>
          <a:lstStyle/>
          <a:p>
            <a:pPr marL="504000" indent="-504000" algn="l">
              <a:lnSpc>
                <a:spcPct val="150000"/>
              </a:lnSpc>
              <a:spcBef>
                <a:spcPts val="600"/>
              </a:spcBef>
              <a:buSzTx/>
            </a:pPr>
            <a:r>
              <a:rPr lang="zh-CN" altLang="en-US" sz="2400" dirty="0"/>
              <a:t>光学镜头失真</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在拍摄图像时，由于光学镜头的失真作用，在光线经过光学镜头传输到感光器的过程中就会引入失真相差到最终生成的自然数字图像，整幅自然图像的相差具有一致性，而对图像的篡改操作会破坏这种一致性。</a:t>
            </a:r>
          </a:p>
        </p:txBody>
      </p:sp>
      <p:sp>
        <p:nvSpPr>
          <p:cNvPr id="4" name="灯片编号占位符 3"/>
          <p:cNvSpPr>
            <a:spLocks noGrp="1"/>
          </p:cNvSpPr>
          <p:nvPr>
            <p:ph type="sldNum" sz="quarter" idx="12"/>
          </p:nvPr>
        </p:nvSpPr>
        <p:spPr/>
        <p:txBody>
          <a:bodyPr/>
          <a:lstStyle/>
          <a:p>
            <a:fld id="{385A78FE-B9F0-43DE-9874-5B90A3B6141B}" type="slidenum">
              <a:rPr lang="en-US" altLang="zh-CN" smtClean="0"/>
              <a:t>158</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dirty="0"/>
              <a:t>七、图像获取设备取证</a:t>
            </a:r>
            <a:endParaRPr lang="zh-CN" altLang="en-US" sz="3200" dirty="0"/>
          </a:p>
        </p:txBody>
      </p:sp>
      <p:sp>
        <p:nvSpPr>
          <p:cNvPr id="3" name="内容占位符 2"/>
          <p:cNvSpPr>
            <a:spLocks noGrp="1"/>
          </p:cNvSpPr>
          <p:nvPr>
            <p:ph idx="1"/>
          </p:nvPr>
        </p:nvSpPr>
        <p:spPr>
          <a:xfrm>
            <a:off x="628814" y="1462088"/>
            <a:ext cx="7887564" cy="5029199"/>
          </a:xfrm>
        </p:spPr>
        <p:txBody>
          <a:bodyPr>
            <a:normAutofit/>
          </a:bodyPr>
          <a:lstStyle/>
          <a:p>
            <a:pPr marL="504000" indent="-504000">
              <a:lnSpc>
                <a:spcPct val="150000"/>
              </a:lnSpc>
              <a:spcBef>
                <a:spcPts val="600"/>
              </a:spcBef>
            </a:pPr>
            <a:r>
              <a:rPr lang="zh-CN" altLang="en-US" sz="2400" dirty="0"/>
              <a:t>伽玛校正与相机反应函数（C</a:t>
            </a:r>
            <a:r>
              <a:rPr lang="en-US" altLang="zh-CN" sz="2400" dirty="0"/>
              <a:t>RF</a:t>
            </a:r>
            <a:r>
              <a:rPr lang="zh-CN" altLang="en-US" sz="2400" dirty="0"/>
              <a:t>）</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很多数码相机在输出图像之前会对图像进行伽玛校正以纠正先前处理对图像亮度造成的非线性。HanyFarid利用伽玛校正在频域引入的特殊高阶相关性来近似估计不同相机的伽玛校正曲线。</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Shih一 FuChang提出的对数码相机系统的“相机反应函数”（CRF）曲线估计方法利用图像特有的几何不变量特征进行估计，以支持向量机分类，对图像进行来源认证。</a:t>
            </a:r>
          </a:p>
          <a:p>
            <a:endParaRPr lang="zh-CN" altLang="en-US" dirty="0"/>
          </a:p>
        </p:txBody>
      </p:sp>
      <p:sp>
        <p:nvSpPr>
          <p:cNvPr id="4" name="灯片编号占位符 3"/>
          <p:cNvSpPr>
            <a:spLocks noGrp="1"/>
          </p:cNvSpPr>
          <p:nvPr>
            <p:ph type="sldNum" sz="quarter" idx="12"/>
          </p:nvPr>
        </p:nvSpPr>
        <p:spPr/>
        <p:txBody>
          <a:bodyPr/>
          <a:lstStyle/>
          <a:p>
            <a:fld id="{385A78FE-B9F0-43DE-9874-5B90A3B6141B}" type="slidenum">
              <a:rPr lang="en-US" altLang="zh-CN" smtClean="0"/>
              <a:t>159</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B04075E-C34D-43B2-961A-86A3EC638311}" type="slidenum">
              <a:rPr lang="en-US" altLang="zh-CN"/>
              <a:t>160</a:t>
            </a:fld>
            <a:endParaRPr lang="en-US" altLang="zh-CN"/>
          </a:p>
        </p:txBody>
      </p:sp>
      <p:sp>
        <p:nvSpPr>
          <p:cNvPr id="123906" name="Rectangle 2"/>
          <p:cNvSpPr>
            <a:spLocks noGrp="1" noChangeArrowheads="1"/>
          </p:cNvSpPr>
          <p:nvPr>
            <p:ph type="title"/>
          </p:nvPr>
        </p:nvSpPr>
        <p:spPr/>
        <p:txBody>
          <a:bodyPr/>
          <a:lstStyle/>
          <a:p>
            <a:r>
              <a:rPr lang="zh-CN" altLang="en-US" sz="2800" b="1" dirty="0"/>
              <a:t>八、案例</a:t>
            </a:r>
            <a:r>
              <a:rPr lang="en-US" altLang="zh-CN" sz="2800" b="1" dirty="0">
                <a:latin typeface="Arial" panose="020B0604020202020204"/>
              </a:rPr>
              <a:t>——“</a:t>
            </a:r>
            <a:r>
              <a:rPr lang="zh-CN" altLang="en-US" sz="2800" b="1" dirty="0"/>
              <a:t>广场鸽</a:t>
            </a:r>
            <a:r>
              <a:rPr lang="zh-CN" altLang="en-US" sz="2800" b="1" dirty="0">
                <a:latin typeface="Arial" panose="020B0604020202020204"/>
              </a:rPr>
              <a:t>”</a:t>
            </a:r>
            <a:r>
              <a:rPr lang="zh-CN" altLang="en-US" sz="2800" b="1" dirty="0"/>
              <a:t>案件数字图像盲取证分析</a:t>
            </a:r>
            <a:r>
              <a:rPr lang="zh-CN" altLang="en-US" sz="2800" dirty="0"/>
              <a:t> </a:t>
            </a:r>
          </a:p>
        </p:txBody>
      </p:sp>
      <p:sp>
        <p:nvSpPr>
          <p:cNvPr id="123907" name="Rectangle 3"/>
          <p:cNvSpPr>
            <a:spLocks noGrp="1" noChangeArrowheads="1"/>
          </p:cNvSpPr>
          <p:nvPr>
            <p:ph type="body" idx="1"/>
          </p:nvPr>
        </p:nvSpPr>
        <p:spPr/>
        <p:txBody>
          <a:bodyPr/>
          <a:lstStyle/>
          <a:p>
            <a:pPr marL="504000" indent="-504000" algn="l">
              <a:lnSpc>
                <a:spcPct val="150000"/>
              </a:lnSpc>
              <a:spcBef>
                <a:spcPts val="600"/>
              </a:spcBef>
              <a:buSzTx/>
            </a:pPr>
            <a:r>
              <a:rPr lang="zh-CN" altLang="en-US" sz="2400" dirty="0"/>
              <a:t>首届华赛（中国国际新闻摄影比赛）自然及环保新闻金奖照片《广场鸽接种禽流感疫苗》，因为该图片中有两只极其相似的鸽子，而被指有合成造假之嫌。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8145A34B-0842-401E-B825-F7A79EAF8532}" type="slidenum">
              <a:rPr lang="en-US" altLang="zh-CN"/>
              <a:t>161</a:t>
            </a:fld>
            <a:endParaRPr lang="en-US" altLang="zh-CN"/>
          </a:p>
        </p:txBody>
      </p:sp>
      <p:sp>
        <p:nvSpPr>
          <p:cNvPr id="124930" name="Rectangle 2"/>
          <p:cNvSpPr>
            <a:spLocks noGrp="1" noChangeArrowheads="1"/>
          </p:cNvSpPr>
          <p:nvPr>
            <p:ph type="title"/>
          </p:nvPr>
        </p:nvSpPr>
        <p:spPr/>
        <p:txBody>
          <a:bodyPr/>
          <a:lstStyle/>
          <a:p>
            <a:r>
              <a:rPr lang="zh-CN" altLang="en-US" sz="2800" b="1" dirty="0"/>
              <a:t>八、案例</a:t>
            </a:r>
            <a:r>
              <a:rPr lang="en-US" altLang="zh-CN" sz="2800" b="1" dirty="0">
                <a:latin typeface="Arial" panose="020B0604020202020204"/>
              </a:rPr>
              <a:t>——“</a:t>
            </a:r>
            <a:r>
              <a:rPr lang="zh-CN" altLang="en-US" sz="2800" b="1" dirty="0"/>
              <a:t>广场鸽</a:t>
            </a:r>
            <a:r>
              <a:rPr lang="zh-CN" altLang="en-US" sz="2800" b="1" dirty="0">
                <a:latin typeface="Arial" panose="020B0604020202020204"/>
              </a:rPr>
              <a:t>”</a:t>
            </a:r>
            <a:r>
              <a:rPr lang="zh-CN" altLang="en-US" sz="2800" b="1" dirty="0"/>
              <a:t>案件数字图像盲取证分析</a:t>
            </a:r>
            <a:r>
              <a:rPr lang="zh-CN" altLang="en-US" sz="2800" dirty="0"/>
              <a:t> </a:t>
            </a:r>
            <a:endParaRPr lang="zh-CN" altLang="zh-CN" sz="2800" dirty="0"/>
          </a:p>
        </p:txBody>
      </p:sp>
      <p:sp>
        <p:nvSpPr>
          <p:cNvPr id="124931" name="Rectangle 3"/>
          <p:cNvSpPr>
            <a:spLocks noGrp="1" noChangeArrowheads="1"/>
          </p:cNvSpPr>
          <p:nvPr>
            <p:ph type="body" idx="1"/>
          </p:nvPr>
        </p:nvSpPr>
        <p:spPr/>
        <p:txBody>
          <a:bodyPr/>
          <a:lstStyle/>
          <a:p>
            <a:endParaRPr lang="zh-CN" altLang="zh-CN"/>
          </a:p>
        </p:txBody>
      </p:sp>
      <p:grpSp>
        <p:nvGrpSpPr>
          <p:cNvPr id="124932" name="Group 4"/>
          <p:cNvGrpSpPr/>
          <p:nvPr/>
        </p:nvGrpSpPr>
        <p:grpSpPr bwMode="auto">
          <a:xfrm>
            <a:off x="457200" y="2057400"/>
            <a:ext cx="8458200" cy="3546475"/>
            <a:chOff x="1720" y="5472"/>
            <a:chExt cx="8225" cy="2972"/>
          </a:xfrm>
        </p:grpSpPr>
        <p:pic>
          <p:nvPicPr>
            <p:cNvPr id="124933" name="Picture 5" descr="http://cimg20.163.com/cnews/2008/2/21/200802210310003e4f4.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720" y="5520"/>
              <a:ext cx="4177" cy="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4" name="Picture 6" descr="F:\周琳娜高教出版社教科书\数字图像取证(北邮编书）\广鸽场\无忌论坛 - 广场鸽事件最新进展——坚决拍死张飞鸽.files\513446_1205571711.jpg"/>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6045" y="5472"/>
              <a:ext cx="3900" cy="2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4935" name="Rectangle 7"/>
          <p:cNvSpPr>
            <a:spLocks noChangeArrowheads="1"/>
          </p:cNvSpPr>
          <p:nvPr/>
        </p:nvSpPr>
        <p:spPr bwMode="auto">
          <a:xfrm>
            <a:off x="838200" y="5867400"/>
            <a:ext cx="779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dirty="0">
                <a:latin typeface="Arial" panose="020B0604020202020204"/>
              </a:rPr>
              <a:t>“</a:t>
            </a:r>
            <a:r>
              <a:rPr lang="zh-CN" altLang="en-US" sz="2400" dirty="0"/>
              <a:t>广场鸽</a:t>
            </a:r>
            <a:r>
              <a:rPr lang="zh-CN" altLang="en-US" sz="2400" dirty="0">
                <a:latin typeface="Arial" panose="020B0604020202020204"/>
              </a:rPr>
              <a:t>”</a:t>
            </a:r>
            <a:r>
              <a:rPr lang="zh-CN" altLang="en-US" sz="2400" dirty="0"/>
              <a:t>照片事件（左）和网络上图解飞鸽的情况（右）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975D62C-73EE-4125-94E9-BD51DCCCCCBF}" type="slidenum">
              <a:rPr lang="en-US" altLang="zh-CN"/>
              <a:t>162</a:t>
            </a:fld>
            <a:endParaRPr lang="en-US" altLang="zh-CN"/>
          </a:p>
        </p:txBody>
      </p:sp>
      <p:sp>
        <p:nvSpPr>
          <p:cNvPr id="125954" name="Rectangle 2"/>
          <p:cNvSpPr>
            <a:spLocks noGrp="1" noChangeArrowheads="1"/>
          </p:cNvSpPr>
          <p:nvPr>
            <p:ph type="title"/>
          </p:nvPr>
        </p:nvSpPr>
        <p:spPr/>
        <p:txBody>
          <a:bodyPr/>
          <a:lstStyle/>
          <a:p>
            <a:r>
              <a:rPr lang="zh-CN" altLang="en-US" sz="2800" b="1" dirty="0"/>
              <a:t>八、案例</a:t>
            </a:r>
            <a:r>
              <a:rPr lang="en-US" altLang="zh-CN" sz="2800" b="1" dirty="0">
                <a:latin typeface="Arial" panose="020B0604020202020204"/>
              </a:rPr>
              <a:t>——“</a:t>
            </a:r>
            <a:r>
              <a:rPr lang="zh-CN" altLang="en-US" sz="2800" b="1" dirty="0"/>
              <a:t>广场鸽</a:t>
            </a:r>
            <a:r>
              <a:rPr lang="zh-CN" altLang="en-US" sz="2800" b="1" dirty="0">
                <a:latin typeface="Arial" panose="020B0604020202020204"/>
              </a:rPr>
              <a:t>”</a:t>
            </a:r>
            <a:r>
              <a:rPr lang="zh-CN" altLang="en-US" sz="2800" b="1" dirty="0"/>
              <a:t>案件数字图像盲取证分析</a:t>
            </a:r>
            <a:r>
              <a:rPr lang="zh-CN" altLang="en-US" sz="2800" dirty="0"/>
              <a:t> </a:t>
            </a:r>
            <a:endParaRPr lang="zh-CN" altLang="zh-CN" sz="2800" dirty="0"/>
          </a:p>
        </p:txBody>
      </p:sp>
      <p:sp>
        <p:nvSpPr>
          <p:cNvPr id="125955" name="Rectangle 3"/>
          <p:cNvSpPr>
            <a:spLocks noGrp="1" noChangeArrowheads="1"/>
          </p:cNvSpPr>
          <p:nvPr>
            <p:ph type="body" idx="1"/>
          </p:nvPr>
        </p:nvSpPr>
        <p:spPr/>
        <p:txBody>
          <a:bodyPr/>
          <a:lstStyle/>
          <a:p>
            <a:pPr marL="504000" indent="-504000">
              <a:lnSpc>
                <a:spcPct val="150000"/>
              </a:lnSpc>
              <a:spcBef>
                <a:spcPts val="600"/>
              </a:spcBef>
            </a:pPr>
            <a:r>
              <a:rPr lang="zh-CN" altLang="en-US" sz="2400" dirty="0"/>
              <a:t>基于相关性分析的伪造图像检测方法 </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将待检测的图像左侧鸽子，以及最右侧的鸽子提取出来，组成一幅640×640的BMP无损图像。提取左侧鸽子的翅膀和身躯，作为感兴趣区域进行检测。</a:t>
            </a:r>
            <a:r>
              <a:rPr lang="zh-CN" altLang="en-US" sz="22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AA8B96BB-4559-439B-9E96-44C25DFE8970}" type="slidenum">
              <a:rPr lang="en-US" altLang="zh-CN"/>
              <a:t>163</a:t>
            </a:fld>
            <a:endParaRPr lang="en-US" altLang="zh-CN"/>
          </a:p>
        </p:txBody>
      </p:sp>
      <p:sp>
        <p:nvSpPr>
          <p:cNvPr id="86018" name="Rectangle 2"/>
          <p:cNvSpPr>
            <a:spLocks noGrp="1" noChangeArrowheads="1"/>
          </p:cNvSpPr>
          <p:nvPr>
            <p:ph type="title"/>
          </p:nvPr>
        </p:nvSpPr>
        <p:spPr/>
        <p:txBody>
          <a:bodyPr/>
          <a:lstStyle/>
          <a:p>
            <a:r>
              <a:rPr lang="zh-CN" altLang="en-US" sz="2800" b="1" dirty="0"/>
              <a:t>八、案例</a:t>
            </a:r>
            <a:r>
              <a:rPr lang="en-US" altLang="zh-CN" sz="2800" b="1" dirty="0">
                <a:latin typeface="Arial" panose="020B0604020202020204"/>
              </a:rPr>
              <a:t>——“</a:t>
            </a:r>
            <a:r>
              <a:rPr lang="zh-CN" altLang="en-US" sz="2800" b="1" dirty="0"/>
              <a:t>广场鸽</a:t>
            </a:r>
            <a:r>
              <a:rPr lang="zh-CN" altLang="en-US" sz="2800" b="1" dirty="0">
                <a:latin typeface="Arial" panose="020B0604020202020204"/>
              </a:rPr>
              <a:t>”</a:t>
            </a:r>
            <a:r>
              <a:rPr lang="zh-CN" altLang="en-US" sz="2800" b="1" dirty="0"/>
              <a:t>案件数字图像盲取证分析</a:t>
            </a:r>
            <a:r>
              <a:rPr lang="zh-CN" altLang="en-US" sz="2800" dirty="0"/>
              <a:t> </a:t>
            </a:r>
            <a:endParaRPr lang="zh-CN" altLang="zh-CN" sz="2800" dirty="0"/>
          </a:p>
        </p:txBody>
      </p:sp>
      <p:sp>
        <p:nvSpPr>
          <p:cNvPr id="86019" name="Rectangle 3"/>
          <p:cNvSpPr>
            <a:spLocks noGrp="1" noChangeArrowheads="1"/>
          </p:cNvSpPr>
          <p:nvPr>
            <p:ph type="body" idx="1"/>
          </p:nvPr>
        </p:nvSpPr>
        <p:spPr/>
        <p:txBody>
          <a:bodyPr/>
          <a:lstStyle/>
          <a:p>
            <a:endParaRPr lang="zh-CN" altLang="zh-CN" dirty="0"/>
          </a:p>
        </p:txBody>
      </p:sp>
      <p:pic>
        <p:nvPicPr>
          <p:cNvPr id="86021" name="Picture 5" descr="te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00200"/>
            <a:ext cx="3124200" cy="3124200"/>
          </a:xfrm>
          <a:prstGeom prst="rect">
            <a:avLst/>
          </a:prstGeom>
          <a:noFill/>
          <a:extLst>
            <a:ext uri="{909E8E84-426E-40DD-AFC4-6F175D3DCCD1}">
              <a14:hiddenFill xmlns:a14="http://schemas.microsoft.com/office/drawing/2010/main">
                <a:solidFill>
                  <a:srgbClr val="FFFFFF"/>
                </a:solidFill>
              </a14:hiddenFill>
            </a:ext>
          </a:extLst>
        </p:spPr>
      </p:pic>
      <p:pic>
        <p:nvPicPr>
          <p:cNvPr id="86020" name="Picture 4" descr="r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600200"/>
            <a:ext cx="3124200" cy="3124200"/>
          </a:xfrm>
          <a:prstGeom prst="rect">
            <a:avLst/>
          </a:prstGeom>
          <a:noFill/>
          <a:extLst>
            <a:ext uri="{909E8E84-426E-40DD-AFC4-6F175D3DCCD1}">
              <a14:hiddenFill xmlns:a14="http://schemas.microsoft.com/office/drawing/2010/main">
                <a:solidFill>
                  <a:srgbClr val="FFFFFF"/>
                </a:solidFill>
              </a14:hiddenFill>
            </a:ext>
          </a:extLst>
        </p:spPr>
      </p:pic>
      <p:sp>
        <p:nvSpPr>
          <p:cNvPr id="86022" name="Rectangle 6"/>
          <p:cNvSpPr>
            <a:spLocks noChangeArrowheads="1"/>
          </p:cNvSpPr>
          <p:nvPr/>
        </p:nvSpPr>
        <p:spPr bwMode="auto">
          <a:xfrm>
            <a:off x="0" y="1198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23" name="Rectangle 7"/>
          <p:cNvSpPr>
            <a:spLocks noChangeArrowheads="1"/>
          </p:cNvSpPr>
          <p:nvPr/>
        </p:nvSpPr>
        <p:spPr bwMode="auto">
          <a:xfrm>
            <a:off x="1015594" y="5332383"/>
            <a:ext cx="71096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dirty="0">
                <a:latin typeface="Calibri" panose="020F0502020204030204" charset="0"/>
                <a:cs typeface="Times New Roman" panose="02020603050405020304" pitchFamily="18" charset="0"/>
              </a:rPr>
              <a:t>基于相关性分析的伪造图像检测方法（原图处理后）检测结果</a:t>
            </a:r>
            <a:endParaRPr lang="zh-CN" altLang="en-US" sz="3600" dirty="0">
              <a:latin typeface="Arial" panose="020B0604020202020204" pitchFamily="34" charset="0"/>
            </a:endParaRPr>
          </a:p>
        </p:txBody>
      </p:sp>
      <p:sp>
        <p:nvSpPr>
          <p:cNvPr id="86024" name="Rectangle 8"/>
          <p:cNvSpPr>
            <a:spLocks noChangeArrowheads="1"/>
          </p:cNvSpPr>
          <p:nvPr/>
        </p:nvSpPr>
        <p:spPr bwMode="auto">
          <a:xfrm>
            <a:off x="2971800" y="5851495"/>
            <a:ext cx="14173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dirty="0"/>
              <a:t>约为</a:t>
            </a:r>
            <a:r>
              <a:rPr lang="en-US" altLang="zh-CN" dirty="0"/>
              <a:t>1</a:t>
            </a:r>
            <a:r>
              <a:rPr lang="zh-CN" altLang="en-US" dirty="0"/>
              <a:t>小时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9DA299DC-D8FF-471F-B94A-3DCD3AE35E98}" type="slidenum">
              <a:rPr lang="en-US" altLang="zh-CN"/>
              <a:t>164</a:t>
            </a:fld>
            <a:endParaRPr lang="en-US" altLang="zh-CN"/>
          </a:p>
        </p:txBody>
      </p:sp>
      <p:sp>
        <p:nvSpPr>
          <p:cNvPr id="87042" name="Rectangle 2"/>
          <p:cNvSpPr>
            <a:spLocks noGrp="1" noChangeArrowheads="1"/>
          </p:cNvSpPr>
          <p:nvPr>
            <p:ph type="title"/>
          </p:nvPr>
        </p:nvSpPr>
        <p:spPr/>
        <p:txBody>
          <a:bodyPr/>
          <a:lstStyle/>
          <a:p>
            <a:r>
              <a:rPr lang="zh-CN" altLang="en-US" sz="2800" b="1" dirty="0"/>
              <a:t>八、案例</a:t>
            </a:r>
            <a:r>
              <a:rPr lang="en-US" altLang="zh-CN" sz="2800" b="1" dirty="0">
                <a:latin typeface="Arial" panose="020B0604020202020204"/>
              </a:rPr>
              <a:t>——“</a:t>
            </a:r>
            <a:r>
              <a:rPr lang="zh-CN" altLang="en-US" sz="2800" b="1" dirty="0"/>
              <a:t>广场鸽</a:t>
            </a:r>
            <a:r>
              <a:rPr lang="zh-CN" altLang="en-US" sz="2800" b="1" dirty="0">
                <a:latin typeface="Arial" panose="020B0604020202020204"/>
              </a:rPr>
              <a:t>”</a:t>
            </a:r>
            <a:r>
              <a:rPr lang="zh-CN" altLang="en-US" sz="2800" b="1" dirty="0"/>
              <a:t>案件数字图像盲取证分析</a:t>
            </a:r>
            <a:r>
              <a:rPr lang="zh-CN" altLang="en-US" sz="2800" dirty="0"/>
              <a:t> </a:t>
            </a:r>
            <a:endParaRPr lang="zh-CN" altLang="zh-CN" sz="2800" dirty="0"/>
          </a:p>
        </p:txBody>
      </p:sp>
      <p:sp>
        <p:nvSpPr>
          <p:cNvPr id="87043" name="Rectangle 3"/>
          <p:cNvSpPr>
            <a:spLocks noGrp="1" noChangeArrowheads="1"/>
          </p:cNvSpPr>
          <p:nvPr>
            <p:ph type="body" idx="1"/>
          </p:nvPr>
        </p:nvSpPr>
        <p:spPr/>
        <p:txBody>
          <a:bodyPr/>
          <a:lstStyle/>
          <a:p>
            <a:pPr marL="504000" indent="-504000" algn="l">
              <a:lnSpc>
                <a:spcPct val="150000"/>
              </a:lnSpc>
              <a:spcBef>
                <a:spcPts val="600"/>
              </a:spcBef>
              <a:buSzTx/>
            </a:pPr>
            <a:r>
              <a:rPr lang="zh-CN" altLang="en-US" sz="2400" dirty="0"/>
              <a:t>直接对原图进行检测</a:t>
            </a:r>
          </a:p>
          <a:p>
            <a:pPr marL="828000" lvl="1" indent="-540000">
              <a:lnSpc>
                <a:spcPct val="150000"/>
              </a:lnSpc>
              <a:spcBef>
                <a:spcPts val="600"/>
              </a:spcBef>
              <a:buFont typeface="Wingdings" panose="05000000000000000000" pitchFamily="2" charset="2"/>
              <a:buChar char="Ø"/>
            </a:pPr>
            <a:r>
              <a:rPr lang="zh-CN" altLang="en-US" sz="2200" b="1" dirty="0">
                <a:latin typeface="华文细黑" panose="02010600040101010101" pitchFamily="2" charset="-122"/>
                <a:ea typeface="华文细黑" panose="02010600040101010101" pitchFamily="2" charset="-122"/>
              </a:rPr>
              <a:t>约为26小时  </a:t>
            </a:r>
          </a:p>
        </p:txBody>
      </p:sp>
      <p:pic>
        <p:nvPicPr>
          <p:cNvPr id="87045" name="Picture 5" descr="广场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352800"/>
            <a:ext cx="4114800" cy="2882900"/>
          </a:xfrm>
          <a:prstGeom prst="rect">
            <a:avLst/>
          </a:prstGeom>
          <a:noFill/>
          <a:extLst>
            <a:ext uri="{909E8E84-426E-40DD-AFC4-6F175D3DCCD1}">
              <a14:hiddenFill xmlns:a14="http://schemas.microsoft.com/office/drawing/2010/main">
                <a:solidFill>
                  <a:srgbClr val="FFFFFF"/>
                </a:solidFill>
              </a14:hiddenFill>
            </a:ext>
          </a:extLst>
        </p:spPr>
      </p:pic>
      <p:pic>
        <p:nvPicPr>
          <p:cNvPr id="87044" name="Picture 4" descr="result_origi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400" y="3352800"/>
            <a:ext cx="4143375" cy="2895600"/>
          </a:xfrm>
          <a:prstGeom prst="rect">
            <a:avLst/>
          </a:prstGeom>
          <a:noFill/>
          <a:extLst>
            <a:ext uri="{909E8E84-426E-40DD-AFC4-6F175D3DCCD1}">
              <a14:hiddenFill xmlns:a14="http://schemas.microsoft.com/office/drawing/2010/main">
                <a:solidFill>
                  <a:srgbClr val="FFFFFF"/>
                </a:solidFill>
              </a14:hiddenFill>
            </a:ext>
          </a:extLst>
        </p:spPr>
      </p:pic>
      <p:sp>
        <p:nvSpPr>
          <p:cNvPr id="87046" name="Rectangle 6"/>
          <p:cNvSpPr>
            <a:spLocks noChangeArrowheads="1"/>
          </p:cNvSpPr>
          <p:nvPr/>
        </p:nvSpPr>
        <p:spPr bwMode="auto">
          <a:xfrm>
            <a:off x="0" y="1709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24BDF1C-AC36-4B2F-82F5-46EB5A8FDCFC}" type="slidenum">
              <a:rPr lang="en-US" altLang="zh-CN"/>
              <a:t>165</a:t>
            </a:fld>
            <a:endParaRPr lang="en-US" altLang="zh-CN"/>
          </a:p>
        </p:txBody>
      </p:sp>
      <p:sp>
        <p:nvSpPr>
          <p:cNvPr id="126978" name="Rectangle 2"/>
          <p:cNvSpPr>
            <a:spLocks noGrp="1" noChangeArrowheads="1"/>
          </p:cNvSpPr>
          <p:nvPr>
            <p:ph type="title"/>
          </p:nvPr>
        </p:nvSpPr>
        <p:spPr/>
        <p:txBody>
          <a:bodyPr/>
          <a:lstStyle/>
          <a:p>
            <a:r>
              <a:rPr lang="zh-CN" altLang="en-US" sz="3200" dirty="0"/>
              <a:t>小结</a:t>
            </a:r>
          </a:p>
        </p:txBody>
      </p:sp>
      <p:sp>
        <p:nvSpPr>
          <p:cNvPr id="126979" name="Rectangle 3"/>
          <p:cNvSpPr>
            <a:spLocks noGrp="1" noChangeArrowheads="1"/>
          </p:cNvSpPr>
          <p:nvPr>
            <p:ph type="body" idx="1"/>
          </p:nvPr>
        </p:nvSpPr>
        <p:spPr/>
        <p:txBody>
          <a:bodyPr/>
          <a:lstStyle/>
          <a:p>
            <a:pPr marL="504000" indent="-504000" algn="l">
              <a:lnSpc>
                <a:spcPct val="150000"/>
              </a:lnSpc>
              <a:spcBef>
                <a:spcPts val="600"/>
              </a:spcBef>
              <a:buSzTx/>
            </a:pPr>
            <a:r>
              <a:rPr lang="zh-CN" altLang="en-US" sz="2400" dirty="0"/>
              <a:t>数字图像取证是当前一个热点研究方向</a:t>
            </a:r>
          </a:p>
          <a:p>
            <a:pPr marL="504000" indent="-504000" algn="l">
              <a:lnSpc>
                <a:spcPct val="150000"/>
              </a:lnSpc>
              <a:spcBef>
                <a:spcPts val="600"/>
              </a:spcBef>
              <a:buSzTx/>
            </a:pPr>
            <a:r>
              <a:rPr lang="zh-CN" altLang="en-US" sz="2400" dirty="0"/>
              <a:t>相关研究在不断深入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166</a:t>
            </a:fld>
            <a:endParaRPr lang="zh-CN" altLang="en-US" sz="1400" b="0" dirty="0">
              <a:latin typeface="Times New Roman" panose="02020603050405020304" pitchFamily="18" charset="0"/>
              <a:ea typeface="宋体" panose="02010600030101010101" pitchFamily="2" charset="-122"/>
            </a:endParaRPr>
          </a:p>
        </p:txBody>
      </p:sp>
      <p:sp>
        <p:nvSpPr>
          <p:cNvPr id="108546" name="标题 1085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44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思考题</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endParaRPr kumimoji="0" lang="zh-CN" altLang="en-US" sz="4400" b="0" i="0" u="none" strike="noStrike" kern="1200" cap="none" spc="0" normalizeH="0" baseline="0" noProof="1">
              <a:solidFill>
                <a:schemeClr val="tx2"/>
              </a:solidFill>
              <a:effectLst>
                <a:outerShdw blurRad="38100" dist="38100" dir="2700000">
                  <a:srgbClr val="000000"/>
                </a:outerShdw>
              </a:effectLst>
              <a:latin typeface="+mj-lt"/>
              <a:ea typeface="+mj-ea"/>
              <a:cs typeface="+mj-cs"/>
            </a:endParaRPr>
          </a:p>
        </p:txBody>
      </p:sp>
      <p:sp>
        <p:nvSpPr>
          <p:cNvPr id="63491" name="文本占位符 108546"/>
          <p:cNvSpPr>
            <a:spLocks noGrp="1"/>
          </p:cNvSpPr>
          <p:nvPr>
            <p:ph type="body" sz="half" idx="4294967295"/>
          </p:nvPr>
        </p:nvSpPr>
        <p:spPr>
          <a:xfrm>
            <a:off x="431800" y="1196975"/>
            <a:ext cx="8712200" cy="5400675"/>
          </a:xfrm>
        </p:spPr>
        <p:txBody>
          <a:bodyPr anchor="t">
            <a:normAutofit fontScale="97500"/>
          </a:bodyPr>
          <a:lstStyle/>
          <a:p>
            <a:pPr marL="609600" indent="-609600">
              <a:lnSpc>
                <a:spcPct val="90000"/>
              </a:lnSpc>
              <a:buClr>
                <a:schemeClr val="accent2"/>
              </a:buClr>
              <a:buSzPct val="80000"/>
              <a:buFont typeface="Wingdings" panose="05000000000000000000" pitchFamily="2" charset="2"/>
              <a:buNone/>
            </a:pPr>
            <a:endParaRPr lang="en-US" altLang="zh-CN" sz="2400" dirty="0"/>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什么是数字取证？电子证据有什么特点？</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在各类存储介质中有哪些数据可以作为证据？</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数字取证原则有哪些？写出数字取证过程。</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网络取证有什么特点？请画出网络取证模型。</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写出IDS取证的具体步骤。</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利用蜜阱技术进行取证分析时，一般遵循哪些原则？</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模糊专家取证系统包含哪几个组件？</a:t>
            </a:r>
          </a:p>
          <a:p>
            <a:pPr marL="0" indent="504000" algn="l" fontAlgn="base">
              <a:lnSpc>
                <a:spcPct val="140000"/>
              </a:lnSpc>
              <a:spcBef>
                <a:spcPts val="600"/>
              </a:spcBef>
              <a:buClr>
                <a:schemeClr val="accent2"/>
              </a:buClr>
              <a:buSzPct val="80000"/>
              <a:buFont typeface="Wingdings" panose="05000000000000000000" pitchFamily="2" charset="2"/>
            </a:pPr>
            <a:r>
              <a:rPr lang="zh-CN" altLang="en-US" sz="2500" b="1" dirty="0">
                <a:ea typeface="华文细黑" panose="02010600040101010101" pitchFamily="2" charset="-122"/>
              </a:rPr>
              <a:t>归纳总结你知道的数字取证工具？</a:t>
            </a:r>
          </a:p>
        </p:txBody>
      </p:sp>
      <p:sp>
        <p:nvSpPr>
          <p:cNvPr id="63492" name="矩形 108547"/>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3" name="矩形 10854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4" name="矩形 1085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5" name="矩形 10855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6" name="矩形 10855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7" name="矩形 10855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8" name="矩形 10855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9" name="矩形 10855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500" name="矩形 10855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501" name="矩形 10855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502" name="矩形 10855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503" name="矩形 10855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504" name="矩形 10855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7645</TotalTime>
  <Words>18876</Words>
  <Application>Microsoft Office PowerPoint</Application>
  <PresentationFormat>全屏显示(4:3)</PresentationFormat>
  <Paragraphs>1136</Paragraphs>
  <Slides>166</Slides>
  <Notes>27</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1</vt:i4>
      </vt:variant>
      <vt:variant>
        <vt:lpstr>幻灯片标题</vt:lpstr>
      </vt:variant>
      <vt:variant>
        <vt:i4>166</vt:i4>
      </vt:variant>
    </vt:vector>
  </HeadingPairs>
  <TitlesOfParts>
    <vt:vector size="183" baseType="lpstr">
      <vt:lpstr>FrutigerNext LT Bold</vt:lpstr>
      <vt:lpstr>FrutigerNext LT Medium</vt:lpstr>
      <vt:lpstr>FrutigerNext LT Regular</vt:lpstr>
      <vt:lpstr>Helvetica Neue</vt:lpstr>
      <vt:lpstr>黑体</vt:lpstr>
      <vt:lpstr>华文细黑</vt:lpstr>
      <vt:lpstr>宋体</vt:lpstr>
      <vt:lpstr>微软雅黑</vt:lpstr>
      <vt:lpstr>Arial</vt:lpstr>
      <vt:lpstr>Calibri</vt:lpstr>
      <vt:lpstr>Times New Roman</vt:lpstr>
      <vt:lpstr>Wingdings</vt:lpstr>
      <vt:lpstr>1_Office 主题</vt:lpstr>
      <vt:lpstr>default</vt:lpstr>
      <vt:lpstr>2_自定义设计方案</vt:lpstr>
      <vt:lpstr>1_自定义设计方案</vt:lpstr>
      <vt:lpstr>Equation.DSMT4</vt:lpstr>
      <vt:lpstr>数字内容安全—数字取证技术</vt:lpstr>
      <vt:lpstr>本章内容</vt:lpstr>
      <vt:lpstr>学习目标</vt:lpstr>
      <vt:lpstr> 7.1   数字取证基本概念</vt:lpstr>
      <vt:lpstr> 7.1   数字取证基本概念</vt:lpstr>
      <vt:lpstr> 7.1   数字取证基本概念</vt:lpstr>
      <vt:lpstr> 7.1   数字取证基本概念</vt:lpstr>
      <vt:lpstr> 7.2   数字取证分类</vt:lpstr>
      <vt:lpstr> 7.2   数字取证分类</vt:lpstr>
      <vt:lpstr> 7.2   数字取证分类</vt:lpstr>
      <vt:lpstr> 7.2   数字取证分类</vt:lpstr>
      <vt:lpstr> 7.2   数字取证分类</vt:lpstr>
      <vt:lpstr> 7.2   数字取证分类</vt:lpstr>
      <vt:lpstr> 7.2   数字取证分类</vt:lpstr>
      <vt:lpstr> 7.2   数字取证分类</vt:lpstr>
      <vt:lpstr> 7.2   数字取证分类</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7.3  数字内容篡改取证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7.4  数字内容来源取证 </vt:lpstr>
      <vt:lpstr> 7.5  数字内容隐秘分析取证 </vt:lpstr>
      <vt:lpstr> 7.5  数字内容隐秘分析取证 </vt:lpstr>
      <vt:lpstr> 7.5  数字内容隐秘分析取证 </vt:lpstr>
      <vt:lpstr> 7.5  数字内容隐秘分析取证 </vt:lpstr>
      <vt:lpstr> 7.5  数字内容隐秘分析取证 </vt:lpstr>
      <vt:lpstr> 7.5  数字内容隐秘分析取证 </vt:lpstr>
      <vt:lpstr> 7.5  数字内容隐秘分析取证 </vt:lpstr>
      <vt:lpstr> 7.5  数字内容隐秘分析取证 </vt:lpstr>
      <vt:lpstr> 7.5  数字内容隐秘分析取证 </vt:lpstr>
      <vt:lpstr> 7.5  数字内容隐秘分析取证 </vt:lpstr>
      <vt:lpstr> 7.5  数字内容隐秘分析取证 </vt:lpstr>
      <vt:lpstr>重点：图像取证</vt:lpstr>
      <vt:lpstr>一、概论</vt:lpstr>
      <vt:lpstr>1、数字图像篡改事件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2、数字图像取证技术(Digital Image Forensics) </vt:lpstr>
      <vt:lpstr>数字图像取证分类</vt:lpstr>
      <vt:lpstr>数字图像取证分类</vt:lpstr>
      <vt:lpstr>二、数字图像篡改</vt:lpstr>
      <vt:lpstr>1、数字图像真实性篡改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2、数字图像完整性篡改 </vt:lpstr>
      <vt:lpstr>PowerPoint 演示文稿</vt:lpstr>
      <vt:lpstr>PowerPoint 演示文稿</vt:lpstr>
      <vt:lpstr>3、数字图像原始性篡改</vt:lpstr>
      <vt:lpstr>PowerPoint 演示文稿</vt:lpstr>
      <vt:lpstr>PowerPoint 演示文稿</vt:lpstr>
      <vt:lpstr>PowerPoint 演示文稿</vt:lpstr>
      <vt:lpstr>4、数字图像版权篡改 </vt:lpstr>
      <vt:lpstr>三、数字图像盲取证 </vt:lpstr>
      <vt:lpstr>三、数字图像盲取证</vt:lpstr>
      <vt:lpstr>三、数字图像盲取证</vt:lpstr>
      <vt:lpstr>数字图像盲取证系统框架 </vt:lpstr>
      <vt:lpstr>三、数字图像盲取证</vt:lpstr>
      <vt:lpstr>三、数字图像盲取证</vt:lpstr>
      <vt:lpstr>三、数字图像盲取证-研究方向</vt:lpstr>
      <vt:lpstr>三、数字图像盲取证-研究方向</vt:lpstr>
      <vt:lpstr>三、数字图像盲取证-研究方向</vt:lpstr>
      <vt:lpstr>三、数字图像盲取证-研究方向</vt:lpstr>
      <vt:lpstr>三、数字图像盲取证 </vt:lpstr>
      <vt:lpstr>三、数字图像盲取证-研究方向</vt:lpstr>
      <vt:lpstr>三、数字图像盲取证-研究方向</vt:lpstr>
      <vt:lpstr>三、数字图像盲取证-研究方向</vt:lpstr>
      <vt:lpstr>三、数字图像盲取证-研究方向</vt:lpstr>
      <vt:lpstr>三、数字图像盲取证-研究方向</vt:lpstr>
      <vt:lpstr>三、数字图像盲取证-研究方向</vt:lpstr>
      <vt:lpstr>三、数字图像盲取证-研究方向</vt:lpstr>
      <vt:lpstr>三、数字图像盲取证-研究方向</vt:lpstr>
      <vt:lpstr>四、复制粘贴篡改操作取证 </vt:lpstr>
      <vt:lpstr>PowerPoint 演示文稿</vt:lpstr>
      <vt:lpstr>PowerPoint 演示文稿</vt:lpstr>
      <vt:lpstr>四、复制粘贴篡改操作取证 </vt:lpstr>
      <vt:lpstr>PowerPoint 演示文稿</vt:lpstr>
      <vt:lpstr>PowerPoint 演示文稿</vt:lpstr>
      <vt:lpstr>四、复制粘贴篡改操作取证 </vt:lpstr>
      <vt:lpstr>四、复制粘贴篡改操作取证 </vt:lpstr>
      <vt:lpstr>四、复制粘贴篡改操作取证 </vt:lpstr>
      <vt:lpstr>四、复制粘贴篡改操作取证 </vt:lpstr>
      <vt:lpstr>四、复制粘贴篡改操作取证 </vt:lpstr>
      <vt:lpstr>四、复制粘贴篡改操作取证 </vt:lpstr>
      <vt:lpstr>四、复制粘贴篡改操作取证 </vt:lpstr>
      <vt:lpstr>五、重压缩重采样取证</vt:lpstr>
      <vt:lpstr>五、重压缩重采样取证</vt:lpstr>
      <vt:lpstr>五、重压缩重采样取证</vt:lpstr>
      <vt:lpstr>五、重压缩重采样取证</vt:lpstr>
      <vt:lpstr>五、重压缩重采样取证</vt:lpstr>
      <vt:lpstr>五、重压缩重采样取证</vt:lpstr>
      <vt:lpstr>五、重压缩重采样取证</vt:lpstr>
      <vt:lpstr>六、模糊润饰取证</vt:lpstr>
      <vt:lpstr>六、模糊润饰取证</vt:lpstr>
      <vt:lpstr>六、模糊润饰取证</vt:lpstr>
      <vt:lpstr>六、模糊润饰取证</vt:lpstr>
      <vt:lpstr>六、模糊润饰取证</vt:lpstr>
      <vt:lpstr>六、模糊润饰取证</vt:lpstr>
      <vt:lpstr>七、图像获取设备取证</vt:lpstr>
      <vt:lpstr>七、图像获取设备取证</vt:lpstr>
      <vt:lpstr>七、图像获取设备取证</vt:lpstr>
      <vt:lpstr>七、图像获取设备取证</vt:lpstr>
      <vt:lpstr>七、图像获取设备取证</vt:lpstr>
      <vt:lpstr>七、图像获取设备取证</vt:lpstr>
      <vt:lpstr>七、图像获取设备取证</vt:lpstr>
      <vt:lpstr>八、案例——“广场鸽”案件数字图像盲取证分析 </vt:lpstr>
      <vt:lpstr>八、案例——“广场鸽”案件数字图像盲取证分析 </vt:lpstr>
      <vt:lpstr>八、案例——“广场鸽”案件数字图像盲取证分析 </vt:lpstr>
      <vt:lpstr>八、案例——“广场鸽”案件数字图像盲取证分析 </vt:lpstr>
      <vt:lpstr>八、案例——“广场鸽”案件数字图像盲取证分析 </vt:lpstr>
      <vt:lpstr>小结</vt:lpstr>
      <vt:lpstr> 思考题 </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795</cp:revision>
  <dcterms:created xsi:type="dcterms:W3CDTF">2010-05-14T06:56:00Z</dcterms:created>
  <dcterms:modified xsi:type="dcterms:W3CDTF">2022-12-01T15:40:07Z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