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1"/>
  </p:notesMasterIdLst>
  <p:sldIdLst>
    <p:sldId id="456" r:id="rId2"/>
    <p:sldId id="457" r:id="rId3"/>
    <p:sldId id="458" r:id="rId4"/>
    <p:sldId id="459" r:id="rId5"/>
    <p:sldId id="460" r:id="rId6"/>
    <p:sldId id="461" r:id="rId7"/>
    <p:sldId id="462" r:id="rId8"/>
    <p:sldId id="463" r:id="rId9"/>
    <p:sldId id="464" r:id="rId10"/>
    <p:sldId id="465" r:id="rId11"/>
    <p:sldId id="466" r:id="rId12"/>
    <p:sldId id="467" r:id="rId13"/>
    <p:sldId id="468" r:id="rId14"/>
    <p:sldId id="469" r:id="rId15"/>
    <p:sldId id="470" r:id="rId16"/>
    <p:sldId id="471" r:id="rId17"/>
    <p:sldId id="472" r:id="rId18"/>
    <p:sldId id="473" r:id="rId19"/>
    <p:sldId id="474" r:id="rId20"/>
    <p:sldId id="475" r:id="rId21"/>
    <p:sldId id="476" r:id="rId22"/>
    <p:sldId id="477" r:id="rId23"/>
    <p:sldId id="478" r:id="rId24"/>
    <p:sldId id="479" r:id="rId25"/>
    <p:sldId id="480" r:id="rId26"/>
    <p:sldId id="481" r:id="rId27"/>
    <p:sldId id="483" r:id="rId28"/>
    <p:sldId id="484" r:id="rId29"/>
    <p:sldId id="485" r:id="rId30"/>
    <p:sldId id="486" r:id="rId31"/>
    <p:sldId id="487" r:id="rId32"/>
    <p:sldId id="528" r:id="rId33"/>
    <p:sldId id="488" r:id="rId34"/>
    <p:sldId id="489" r:id="rId35"/>
    <p:sldId id="490" r:id="rId36"/>
    <p:sldId id="491" r:id="rId37"/>
    <p:sldId id="493" r:id="rId38"/>
    <p:sldId id="494" r:id="rId39"/>
    <p:sldId id="495" r:id="rId40"/>
    <p:sldId id="496" r:id="rId41"/>
    <p:sldId id="497" r:id="rId42"/>
    <p:sldId id="498" r:id="rId43"/>
    <p:sldId id="499" r:id="rId44"/>
    <p:sldId id="500" r:id="rId45"/>
    <p:sldId id="501" r:id="rId46"/>
    <p:sldId id="502" r:id="rId47"/>
    <p:sldId id="503" r:id="rId48"/>
    <p:sldId id="504" r:id="rId49"/>
    <p:sldId id="505" r:id="rId50"/>
    <p:sldId id="506" r:id="rId51"/>
    <p:sldId id="507" r:id="rId52"/>
    <p:sldId id="508" r:id="rId53"/>
    <p:sldId id="509" r:id="rId54"/>
    <p:sldId id="510" r:id="rId55"/>
    <p:sldId id="511" r:id="rId56"/>
    <p:sldId id="512" r:id="rId57"/>
    <p:sldId id="515" r:id="rId58"/>
    <p:sldId id="516" r:id="rId59"/>
    <p:sldId id="517" r:id="rId60"/>
    <p:sldId id="518" r:id="rId61"/>
    <p:sldId id="519" r:id="rId62"/>
    <p:sldId id="520" r:id="rId63"/>
    <p:sldId id="521" r:id="rId64"/>
    <p:sldId id="522" r:id="rId65"/>
    <p:sldId id="523" r:id="rId66"/>
    <p:sldId id="524" r:id="rId67"/>
    <p:sldId id="527" r:id="rId68"/>
    <p:sldId id="526" r:id="rId69"/>
    <p:sldId id="313" r:id="rId70"/>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1DC"/>
    <a:srgbClr val="1F4EDA"/>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141" d="100"/>
          <a:sy n="141" d="100"/>
        </p:scale>
        <p:origin x="1135" y="3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4D582080-0A45-4D04-9633-E55E5968E6E5}"/>
    <pc:docChg chg="custSel modSld">
      <pc:chgData name="贾洪勇" userId="c61acc37-df11-4a3b-9efd-dde9ef084f5f" providerId="ADAL" clId="{4D582080-0A45-4D04-9633-E55E5968E6E5}" dt="2023-04-24T02:58:00.255" v="70"/>
      <pc:docMkLst>
        <pc:docMk/>
      </pc:docMkLst>
      <pc:sldChg chg="modSp mod">
        <pc:chgData name="贾洪勇" userId="c61acc37-df11-4a3b-9efd-dde9ef084f5f" providerId="ADAL" clId="{4D582080-0A45-4D04-9633-E55E5968E6E5}" dt="2023-04-17T05:16:07.523" v="1" actId="20577"/>
        <pc:sldMkLst>
          <pc:docMk/>
          <pc:sldMk cId="688131273" sldId="474"/>
        </pc:sldMkLst>
        <pc:spChg chg="mod">
          <ac:chgData name="贾洪勇" userId="c61acc37-df11-4a3b-9efd-dde9ef084f5f" providerId="ADAL" clId="{4D582080-0A45-4D04-9633-E55E5968E6E5}" dt="2023-04-17T05:16:07.523" v="1" actId="20577"/>
          <ac:spMkLst>
            <pc:docMk/>
            <pc:sldMk cId="688131273" sldId="474"/>
            <ac:spMk id="3" creationId="{9AB3D312-1581-3414-50B6-A8AEFEF2011B}"/>
          </ac:spMkLst>
        </pc:spChg>
      </pc:sldChg>
      <pc:sldChg chg="modSp mod">
        <pc:chgData name="贾洪勇" userId="c61acc37-df11-4a3b-9efd-dde9ef084f5f" providerId="ADAL" clId="{4D582080-0A45-4D04-9633-E55E5968E6E5}" dt="2023-04-17T05:21:37.088" v="3" actId="20577"/>
        <pc:sldMkLst>
          <pc:docMk/>
          <pc:sldMk cId="3313687572" sldId="477"/>
        </pc:sldMkLst>
        <pc:spChg chg="mod">
          <ac:chgData name="贾洪勇" userId="c61acc37-df11-4a3b-9efd-dde9ef084f5f" providerId="ADAL" clId="{4D582080-0A45-4D04-9633-E55E5968E6E5}" dt="2023-04-17T05:21:37.088" v="3" actId="20577"/>
          <ac:spMkLst>
            <pc:docMk/>
            <pc:sldMk cId="3313687572" sldId="477"/>
            <ac:spMk id="3" creationId="{31D9F99F-6658-82AD-B384-0DB3C902EAA3}"/>
          </ac:spMkLst>
        </pc:spChg>
      </pc:sldChg>
      <pc:sldChg chg="modSp mod">
        <pc:chgData name="贾洪勇" userId="c61acc37-df11-4a3b-9efd-dde9ef084f5f" providerId="ADAL" clId="{4D582080-0A45-4D04-9633-E55E5968E6E5}" dt="2023-04-17T05:22:48.168" v="6"/>
        <pc:sldMkLst>
          <pc:docMk/>
          <pc:sldMk cId="2911145803" sldId="478"/>
        </pc:sldMkLst>
        <pc:spChg chg="mod">
          <ac:chgData name="贾洪勇" userId="c61acc37-df11-4a3b-9efd-dde9ef084f5f" providerId="ADAL" clId="{4D582080-0A45-4D04-9633-E55E5968E6E5}" dt="2023-04-17T05:22:48.168" v="6"/>
          <ac:spMkLst>
            <pc:docMk/>
            <pc:sldMk cId="2911145803" sldId="478"/>
            <ac:spMk id="3" creationId="{3C470897-2AE9-C533-A179-EA6684DBB9D8}"/>
          </ac:spMkLst>
        </pc:spChg>
      </pc:sldChg>
      <pc:sldChg chg="modSp mod">
        <pc:chgData name="贾洪勇" userId="c61acc37-df11-4a3b-9efd-dde9ef084f5f" providerId="ADAL" clId="{4D582080-0A45-4D04-9633-E55E5968E6E5}" dt="2023-04-24T01:59:49.932" v="18"/>
        <pc:sldMkLst>
          <pc:docMk/>
          <pc:sldMk cId="1480697207" sldId="490"/>
        </pc:sldMkLst>
        <pc:spChg chg="mod">
          <ac:chgData name="贾洪勇" userId="c61acc37-df11-4a3b-9efd-dde9ef084f5f" providerId="ADAL" clId="{4D582080-0A45-4D04-9633-E55E5968E6E5}" dt="2023-04-24T01:59:49.932" v="18"/>
          <ac:spMkLst>
            <pc:docMk/>
            <pc:sldMk cId="1480697207" sldId="490"/>
            <ac:spMk id="3" creationId="{BD5F9003-7CB2-C50B-3243-08F3EE898163}"/>
          </ac:spMkLst>
        </pc:spChg>
      </pc:sldChg>
      <pc:sldChg chg="modSp mod">
        <pc:chgData name="贾洪勇" userId="c61acc37-df11-4a3b-9efd-dde9ef084f5f" providerId="ADAL" clId="{4D582080-0A45-4D04-9633-E55E5968E6E5}" dt="2023-04-24T02:24:26.834" v="20"/>
        <pc:sldMkLst>
          <pc:docMk/>
          <pc:sldMk cId="2486397889" sldId="498"/>
        </pc:sldMkLst>
        <pc:spChg chg="mod">
          <ac:chgData name="贾洪勇" userId="c61acc37-df11-4a3b-9efd-dde9ef084f5f" providerId="ADAL" clId="{4D582080-0A45-4D04-9633-E55E5968E6E5}" dt="2023-04-24T02:24:26.834" v="20"/>
          <ac:spMkLst>
            <pc:docMk/>
            <pc:sldMk cId="2486397889" sldId="498"/>
            <ac:spMk id="3" creationId="{F5C03C50-1287-AFA8-C35A-4258F2887F09}"/>
          </ac:spMkLst>
        </pc:spChg>
      </pc:sldChg>
      <pc:sldChg chg="modSp mod">
        <pc:chgData name="贾洪勇" userId="c61acc37-df11-4a3b-9efd-dde9ef084f5f" providerId="ADAL" clId="{4D582080-0A45-4D04-9633-E55E5968E6E5}" dt="2023-04-24T02:38:29.297" v="50"/>
        <pc:sldMkLst>
          <pc:docMk/>
          <pc:sldMk cId="1708862949" sldId="500"/>
        </pc:sldMkLst>
        <pc:spChg chg="mod">
          <ac:chgData name="贾洪勇" userId="c61acc37-df11-4a3b-9efd-dde9ef084f5f" providerId="ADAL" clId="{4D582080-0A45-4D04-9633-E55E5968E6E5}" dt="2023-04-24T02:38:29.297" v="50"/>
          <ac:spMkLst>
            <pc:docMk/>
            <pc:sldMk cId="1708862949" sldId="500"/>
            <ac:spMk id="3" creationId="{9AFBCA53-FC0F-342D-802B-0698964D13AB}"/>
          </ac:spMkLst>
        </pc:spChg>
      </pc:sldChg>
      <pc:sldChg chg="modSp mod">
        <pc:chgData name="贾洪勇" userId="c61acc37-df11-4a3b-9efd-dde9ef084f5f" providerId="ADAL" clId="{4D582080-0A45-4D04-9633-E55E5968E6E5}" dt="2023-04-24T02:43:56.586" v="53"/>
        <pc:sldMkLst>
          <pc:docMk/>
          <pc:sldMk cId="2062011685" sldId="504"/>
        </pc:sldMkLst>
        <pc:spChg chg="mod">
          <ac:chgData name="贾洪勇" userId="c61acc37-df11-4a3b-9efd-dde9ef084f5f" providerId="ADAL" clId="{4D582080-0A45-4D04-9633-E55E5968E6E5}" dt="2023-04-24T02:43:56.586" v="53"/>
          <ac:spMkLst>
            <pc:docMk/>
            <pc:sldMk cId="2062011685" sldId="504"/>
            <ac:spMk id="3" creationId="{6B738A7E-19B5-C0AD-9D31-5CAE938686E1}"/>
          </ac:spMkLst>
        </pc:spChg>
      </pc:sldChg>
      <pc:sldChg chg="modSp mod">
        <pc:chgData name="贾洪勇" userId="c61acc37-df11-4a3b-9efd-dde9ef084f5f" providerId="ADAL" clId="{4D582080-0A45-4D04-9633-E55E5968E6E5}" dt="2023-04-17T05:40:40.776" v="7" actId="207"/>
        <pc:sldMkLst>
          <pc:docMk/>
          <pc:sldMk cId="3505958866" sldId="507"/>
        </pc:sldMkLst>
        <pc:spChg chg="mod">
          <ac:chgData name="贾洪勇" userId="c61acc37-df11-4a3b-9efd-dde9ef084f5f" providerId="ADAL" clId="{4D582080-0A45-4D04-9633-E55E5968E6E5}" dt="2023-04-17T05:40:40.776" v="7" actId="207"/>
          <ac:spMkLst>
            <pc:docMk/>
            <pc:sldMk cId="3505958866" sldId="507"/>
            <ac:spMk id="3" creationId="{F51F2B74-A6E2-2565-5FA0-FE47D6177A83}"/>
          </ac:spMkLst>
        </pc:spChg>
      </pc:sldChg>
      <pc:sldChg chg="modSp mod">
        <pc:chgData name="贾洪勇" userId="c61acc37-df11-4a3b-9efd-dde9ef084f5f" providerId="ADAL" clId="{4D582080-0A45-4D04-9633-E55E5968E6E5}" dt="2023-04-17T05:44:01.636" v="9"/>
        <pc:sldMkLst>
          <pc:docMk/>
          <pc:sldMk cId="2380862723" sldId="516"/>
        </pc:sldMkLst>
        <pc:spChg chg="mod">
          <ac:chgData name="贾洪勇" userId="c61acc37-df11-4a3b-9efd-dde9ef084f5f" providerId="ADAL" clId="{4D582080-0A45-4D04-9633-E55E5968E6E5}" dt="2023-04-17T05:44:01.636" v="9"/>
          <ac:spMkLst>
            <pc:docMk/>
            <pc:sldMk cId="2380862723" sldId="516"/>
            <ac:spMk id="3" creationId="{F291F49D-3063-0B13-C9C4-3D4B0ECEA6F6}"/>
          </ac:spMkLst>
        </pc:spChg>
      </pc:sldChg>
      <pc:sldChg chg="modSp mod">
        <pc:chgData name="贾洪勇" userId="c61acc37-df11-4a3b-9efd-dde9ef084f5f" providerId="ADAL" clId="{4D582080-0A45-4D04-9633-E55E5968E6E5}" dt="2023-04-24T02:56:19.754" v="67" actId="6549"/>
        <pc:sldMkLst>
          <pc:docMk/>
          <pc:sldMk cId="1385111951" sldId="518"/>
        </pc:sldMkLst>
        <pc:spChg chg="mod">
          <ac:chgData name="贾洪勇" userId="c61acc37-df11-4a3b-9efd-dde9ef084f5f" providerId="ADAL" clId="{4D582080-0A45-4D04-9633-E55E5968E6E5}" dt="2023-04-24T02:56:19.754" v="67" actId="6549"/>
          <ac:spMkLst>
            <pc:docMk/>
            <pc:sldMk cId="1385111951" sldId="518"/>
            <ac:spMk id="3" creationId="{3594F062-1F6E-3C4E-155B-F4D851DC5D84}"/>
          </ac:spMkLst>
        </pc:spChg>
      </pc:sldChg>
      <pc:sldChg chg="modSp mod">
        <pc:chgData name="贾洪勇" userId="c61acc37-df11-4a3b-9efd-dde9ef084f5f" providerId="ADAL" clId="{4D582080-0A45-4D04-9633-E55E5968E6E5}" dt="2023-04-24T02:58:00.255" v="70"/>
        <pc:sldMkLst>
          <pc:docMk/>
          <pc:sldMk cId="3508912449" sldId="522"/>
        </pc:sldMkLst>
        <pc:spChg chg="mod">
          <ac:chgData name="贾洪勇" userId="c61acc37-df11-4a3b-9efd-dde9ef084f5f" providerId="ADAL" clId="{4D582080-0A45-4D04-9633-E55E5968E6E5}" dt="2023-04-24T02:58:00.255" v="70"/>
          <ac:spMkLst>
            <pc:docMk/>
            <pc:sldMk cId="3508912449" sldId="522"/>
            <ac:spMk id="3" creationId="{722FBB6E-7BC8-F21E-F84F-331516EF9C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lvl1pPr algn="just">
              <a:defRPr/>
            </a:lvl1pPr>
            <a:lvl2pPr algn="just">
              <a:defRPr/>
            </a:lvl2pPr>
            <a:lvl3pPr algn="just">
              <a:defRPr/>
            </a:lvl3pPr>
            <a:lvl4pPr algn="just">
              <a:defRPr/>
            </a:lvl4pPr>
            <a:lvl5pPr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1569660"/>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密码资源管理（三）</a:t>
            </a:r>
            <a:endParaRPr lang="en-US" altLang="zh-CN" sz="4800" b="1" dirty="0">
              <a:latin typeface="+mj-ea"/>
              <a:ea typeface="+mj-ea"/>
            </a:endParaRPr>
          </a:p>
          <a:p>
            <a:pPr algn="ctr"/>
            <a:r>
              <a:rPr lang="en-US" altLang="zh-CN" sz="4800" b="1" dirty="0">
                <a:latin typeface="+mj-ea"/>
                <a:ea typeface="+mj-ea"/>
              </a:rPr>
              <a:t>NV</a:t>
            </a:r>
            <a:r>
              <a:rPr lang="zh-CN" altLang="en-US" sz="4800" b="1" dirty="0">
                <a:latin typeface="+mj-ea"/>
                <a:ea typeface="+mj-ea"/>
              </a:rPr>
              <a:t>索引与</a:t>
            </a:r>
            <a:r>
              <a:rPr lang="en-US" altLang="zh-CN" sz="4800" b="1" dirty="0">
                <a:latin typeface="+mj-ea"/>
                <a:ea typeface="+mj-ea"/>
              </a:rPr>
              <a:t>PCR</a:t>
            </a:r>
            <a:endParaRPr lang="zh-CN" altLang="en-US" sz="4800" b="1" dirty="0">
              <a:latin typeface="+mj-ea"/>
              <a:ea typeface="+mj-ea"/>
            </a:endParaRP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925C2-7A10-2654-8CCC-897616515CB8}"/>
              </a:ext>
            </a:extLst>
          </p:cNvPr>
          <p:cNvSpPr>
            <a:spLocks noGrp="1"/>
          </p:cNvSpPr>
          <p:nvPr>
            <p:ph type="title"/>
          </p:nvPr>
        </p:nvSpPr>
        <p:spPr/>
        <p:txBody>
          <a:bodyPr/>
          <a:lstStyle/>
          <a:p>
            <a:r>
              <a:rPr lang="en-US" altLang="zh-CN" dirty="0"/>
              <a:t>TPM</a:t>
            </a:r>
            <a:r>
              <a:rPr lang="zh-CN" altLang="en-US" dirty="0"/>
              <a:t>非易失性存储</a:t>
            </a:r>
          </a:p>
        </p:txBody>
      </p:sp>
      <p:sp>
        <p:nvSpPr>
          <p:cNvPr id="3" name="内容占位符 2">
            <a:extLst>
              <a:ext uri="{FF2B5EF4-FFF2-40B4-BE49-F238E27FC236}">
                <a16:creationId xmlns:a16="http://schemas.microsoft.com/office/drawing/2014/main" id="{9FB32A3E-4638-5D6D-593D-7A6602B38204}"/>
              </a:ext>
            </a:extLst>
          </p:cNvPr>
          <p:cNvSpPr>
            <a:spLocks noGrp="1"/>
          </p:cNvSpPr>
          <p:nvPr>
            <p:ph idx="1"/>
          </p:nvPr>
        </p:nvSpPr>
        <p:spPr/>
        <p:txBody>
          <a:bodyPr/>
          <a:lstStyle/>
          <a:p>
            <a:pPr algn="just"/>
            <a:r>
              <a:rPr lang="en-US" altLang="zh-CN" dirty="0"/>
              <a:t>TPM</a:t>
            </a:r>
            <a:r>
              <a:rPr lang="zh-CN" altLang="en-US" dirty="0"/>
              <a:t>内部拥有一定数量的非易失性存储空间，可以用于存储可信平台自身的系统数据。这些数据包括授权值，种子，凭据以及</a:t>
            </a:r>
            <a:r>
              <a:rPr lang="en-US" altLang="zh-CN" dirty="0"/>
              <a:t>TPM</a:t>
            </a:r>
            <a:r>
              <a:rPr lang="zh-CN" altLang="en-US" dirty="0"/>
              <a:t>从不会暴露在安全边界之外的秘密数据。除此之外，这些数据还包括计数器，时钟，以及其他用户可以读取的数据。可以分为以下两种类型的数据：</a:t>
            </a:r>
            <a:endParaRPr lang="en-US" altLang="zh-CN" dirty="0"/>
          </a:p>
          <a:p>
            <a:pPr algn="just"/>
            <a:endParaRPr lang="zh-CN" altLang="en-US" dirty="0"/>
          </a:p>
          <a:p>
            <a:r>
              <a:rPr lang="en-US" altLang="zh-CN" dirty="0"/>
              <a:t>TPM</a:t>
            </a:r>
            <a:r>
              <a:rPr lang="zh-CN" altLang="en-US" dirty="0"/>
              <a:t>架构定义的数据结构。</a:t>
            </a:r>
            <a:endParaRPr lang="en-US" altLang="zh-CN" dirty="0"/>
          </a:p>
          <a:p>
            <a:endParaRPr lang="zh-CN" altLang="en-US" dirty="0"/>
          </a:p>
          <a:p>
            <a:r>
              <a:rPr lang="zh-CN" altLang="en-US" dirty="0"/>
              <a:t>用户或者平台相关的规范定义的非结构性数据。</a:t>
            </a:r>
            <a:endParaRPr lang="en-US" altLang="zh-CN" dirty="0"/>
          </a:p>
          <a:p>
            <a:pPr marL="0" indent="0" algn="just">
              <a:buNone/>
            </a:pPr>
            <a:r>
              <a:rPr lang="en-US" altLang="zh-CN" dirty="0"/>
              <a:t>       </a:t>
            </a:r>
            <a:endParaRPr lang="zh-CN" altLang="en-US" dirty="0"/>
          </a:p>
        </p:txBody>
      </p:sp>
      <p:sp>
        <p:nvSpPr>
          <p:cNvPr id="4" name="灯片编号占位符 3">
            <a:extLst>
              <a:ext uri="{FF2B5EF4-FFF2-40B4-BE49-F238E27FC236}">
                <a16:creationId xmlns:a16="http://schemas.microsoft.com/office/drawing/2014/main" id="{A9A71CB8-38AD-077F-9558-C424CDF12D7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20485684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A760A4-7BCE-576C-23BF-4A2A291DD887}"/>
              </a:ext>
            </a:extLst>
          </p:cNvPr>
          <p:cNvSpPr>
            <a:spLocks noGrp="1"/>
          </p:cNvSpPr>
          <p:nvPr>
            <p:ph type="title"/>
          </p:nvPr>
        </p:nvSpPr>
        <p:spPr/>
        <p:txBody>
          <a:bodyPr/>
          <a:lstStyle/>
          <a:p>
            <a:r>
              <a:rPr lang="zh-CN" altLang="en-US" dirty="0"/>
              <a:t>非易失性存储索引</a:t>
            </a:r>
          </a:p>
        </p:txBody>
      </p:sp>
      <p:sp>
        <p:nvSpPr>
          <p:cNvPr id="3" name="内容占位符 2">
            <a:extLst>
              <a:ext uri="{FF2B5EF4-FFF2-40B4-BE49-F238E27FC236}">
                <a16:creationId xmlns:a16="http://schemas.microsoft.com/office/drawing/2014/main" id="{98158783-5BD6-15F4-F8D0-30892823B48B}"/>
              </a:ext>
            </a:extLst>
          </p:cNvPr>
          <p:cNvSpPr>
            <a:spLocks noGrp="1"/>
          </p:cNvSpPr>
          <p:nvPr>
            <p:ph idx="1"/>
          </p:nvPr>
        </p:nvSpPr>
        <p:spPr/>
        <p:txBody>
          <a:bodyPr/>
          <a:lstStyle/>
          <a:p>
            <a:pPr algn="just"/>
            <a:r>
              <a:rPr lang="zh-CN" altLang="en-US" dirty="0"/>
              <a:t>计算机通过文件系统地址访问存储在硬盘上的文件，</a:t>
            </a:r>
            <a:r>
              <a:rPr lang="en-US" altLang="zh-CN" dirty="0"/>
              <a:t>TPM</a:t>
            </a:r>
            <a:r>
              <a:rPr lang="zh-CN" altLang="en-US" dirty="0"/>
              <a:t>通过</a:t>
            </a:r>
            <a:r>
              <a:rPr lang="en-US" altLang="zh-CN" dirty="0"/>
              <a:t>NV</a:t>
            </a:r>
            <a:r>
              <a:rPr lang="zh-CN" altLang="en-US" dirty="0"/>
              <a:t>索引访问存储在非易失性存储中的数据。</a:t>
            </a:r>
            <a:endParaRPr lang="en-US" altLang="zh-CN" dirty="0"/>
          </a:p>
          <a:p>
            <a:pPr algn="just"/>
            <a:r>
              <a:rPr lang="zh-CN" altLang="en-US" dirty="0"/>
              <a:t>文件系统能够对文件的访问施加访问控制，诸如读写等访问权限的设置。</a:t>
            </a:r>
            <a:r>
              <a:rPr lang="en-US" altLang="zh-CN" dirty="0"/>
              <a:t>TPM</a:t>
            </a:r>
            <a:r>
              <a:rPr lang="zh-CN" altLang="en-US" dirty="0"/>
              <a:t>通过设置索引的属性和状态来控制对指向区域数据的访问能力。</a:t>
            </a:r>
            <a:endParaRPr lang="en-US" altLang="zh-CN" dirty="0"/>
          </a:p>
          <a:p>
            <a:pPr algn="just"/>
            <a:r>
              <a:rPr lang="en-US" altLang="zh-CN" dirty="0"/>
              <a:t>TPM</a:t>
            </a:r>
            <a:r>
              <a:rPr lang="zh-CN" altLang="en-US" dirty="0"/>
              <a:t>可以基于多种方式实施对</a:t>
            </a:r>
            <a:r>
              <a:rPr lang="en-US" altLang="zh-CN" dirty="0"/>
              <a:t>NV</a:t>
            </a:r>
            <a:r>
              <a:rPr lang="zh-CN" altLang="en-US" dirty="0"/>
              <a:t>索引的访问控制，如</a:t>
            </a:r>
            <a:r>
              <a:rPr lang="en-US" altLang="zh-CN" dirty="0"/>
              <a:t>HMAC</a:t>
            </a:r>
            <a:r>
              <a:rPr lang="zh-CN" altLang="en-US" dirty="0"/>
              <a:t>，</a:t>
            </a:r>
            <a:r>
              <a:rPr lang="en-US" altLang="zh-CN" dirty="0"/>
              <a:t>PCR</a:t>
            </a:r>
            <a:r>
              <a:rPr lang="zh-CN" altLang="en-US" dirty="0"/>
              <a:t>，</a:t>
            </a:r>
            <a:r>
              <a:rPr lang="en-US" altLang="zh-CN" dirty="0"/>
              <a:t>locality</a:t>
            </a:r>
            <a:r>
              <a:rPr lang="zh-CN" altLang="en-US" dirty="0"/>
              <a:t>，和物理存在（</a:t>
            </a:r>
            <a:r>
              <a:rPr lang="en-US" altLang="zh-CN" dirty="0"/>
              <a:t>physical presence</a:t>
            </a:r>
            <a:r>
              <a:rPr lang="zh-CN" altLang="en-US" dirty="0"/>
              <a:t>）等多种形式的访问控制，还可提供索引的读写锁定机制。</a:t>
            </a:r>
            <a:endParaRPr lang="en-US" altLang="zh-CN" dirty="0"/>
          </a:p>
        </p:txBody>
      </p:sp>
      <p:sp>
        <p:nvSpPr>
          <p:cNvPr id="4" name="灯片编号占位符 3">
            <a:extLst>
              <a:ext uri="{FF2B5EF4-FFF2-40B4-BE49-F238E27FC236}">
                <a16:creationId xmlns:a16="http://schemas.microsoft.com/office/drawing/2014/main" id="{3CBC3FCA-DC48-E178-CFE6-07B8E89FDDD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0022752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96BFE8-355B-0A33-5FF9-E14372E21C87}"/>
              </a:ext>
            </a:extLst>
          </p:cNvPr>
          <p:cNvSpPr>
            <a:spLocks noGrp="1"/>
          </p:cNvSpPr>
          <p:nvPr>
            <p:ph type="title"/>
          </p:nvPr>
        </p:nvSpPr>
        <p:spPr/>
        <p:txBody>
          <a:bodyPr/>
          <a:lstStyle/>
          <a:p>
            <a:r>
              <a:rPr lang="en-US" altLang="zh-CN" dirty="0"/>
              <a:t>NV</a:t>
            </a:r>
            <a:r>
              <a:rPr lang="zh-CN" altLang="en-US" dirty="0"/>
              <a:t>索引的访问控制</a:t>
            </a:r>
          </a:p>
        </p:txBody>
      </p:sp>
      <p:sp>
        <p:nvSpPr>
          <p:cNvPr id="3" name="内容占位符 2">
            <a:extLst>
              <a:ext uri="{FF2B5EF4-FFF2-40B4-BE49-F238E27FC236}">
                <a16:creationId xmlns:a16="http://schemas.microsoft.com/office/drawing/2014/main" id="{C7450FCD-B876-BD1A-AB43-61DDBEF495A3}"/>
              </a:ext>
            </a:extLst>
          </p:cNvPr>
          <p:cNvSpPr>
            <a:spLocks noGrp="1"/>
          </p:cNvSpPr>
          <p:nvPr>
            <p:ph idx="1"/>
          </p:nvPr>
        </p:nvSpPr>
        <p:spPr/>
        <p:txBody>
          <a:bodyPr/>
          <a:lstStyle/>
          <a:p>
            <a:r>
              <a:rPr lang="zh-CN" altLang="en-US" dirty="0">
                <a:solidFill>
                  <a:srgbClr val="FF0000"/>
                </a:solidFill>
              </a:rPr>
              <a:t>未被初始化的索引不能访问</a:t>
            </a:r>
            <a:r>
              <a:rPr lang="zh-CN" altLang="en-US" dirty="0"/>
              <a:t>。索引有一个状态叫做“未初始化的，没有被写过”。在第一次写操作之前的读操作都将失败。在常用的</a:t>
            </a:r>
            <a:r>
              <a:rPr lang="en-US" altLang="zh-CN" dirty="0"/>
              <a:t>TPM</a:t>
            </a:r>
            <a:r>
              <a:rPr lang="zh-CN" altLang="en-US" dirty="0"/>
              <a:t>访问控制策略中不能使用具有这种状态的索引，这样可以向索引的使用者保证这个索引的值一定是被具有授权权限的一方初始化过的，而不是简单默认值或者未初始化值。</a:t>
            </a:r>
            <a:endParaRPr lang="en-US" altLang="zh-CN" dirty="0"/>
          </a:p>
          <a:p>
            <a:r>
              <a:rPr lang="zh-CN" altLang="en-US" dirty="0"/>
              <a:t>索引可以有授权值或者</a:t>
            </a:r>
            <a:r>
              <a:rPr lang="en-US" altLang="zh-CN" dirty="0"/>
              <a:t>policy</a:t>
            </a:r>
            <a:endParaRPr lang="zh-CN" altLang="en-US" dirty="0"/>
          </a:p>
          <a:p>
            <a:endParaRPr lang="zh-CN" altLang="en-US" dirty="0"/>
          </a:p>
        </p:txBody>
      </p:sp>
      <p:sp>
        <p:nvSpPr>
          <p:cNvPr id="4" name="灯片编号占位符 3">
            <a:extLst>
              <a:ext uri="{FF2B5EF4-FFF2-40B4-BE49-F238E27FC236}">
                <a16:creationId xmlns:a16="http://schemas.microsoft.com/office/drawing/2014/main" id="{DF7BB04C-E157-7EB9-4FF5-65218272E2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7384479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7DD45-EB6A-73B3-E886-119406FB1A10}"/>
              </a:ext>
            </a:extLst>
          </p:cNvPr>
          <p:cNvSpPr>
            <a:spLocks noGrp="1"/>
          </p:cNvSpPr>
          <p:nvPr>
            <p:ph type="title"/>
          </p:nvPr>
        </p:nvSpPr>
        <p:spPr/>
        <p:txBody>
          <a:bodyPr/>
          <a:lstStyle/>
          <a:p>
            <a:r>
              <a:rPr lang="en-US" altLang="zh-CN" dirty="0"/>
              <a:t>NV</a:t>
            </a:r>
            <a:r>
              <a:rPr lang="zh-CN" altLang="en-US" dirty="0"/>
              <a:t>索引数据类型</a:t>
            </a:r>
          </a:p>
        </p:txBody>
      </p:sp>
      <p:sp>
        <p:nvSpPr>
          <p:cNvPr id="3" name="内容占位符 2">
            <a:extLst>
              <a:ext uri="{FF2B5EF4-FFF2-40B4-BE49-F238E27FC236}">
                <a16:creationId xmlns:a16="http://schemas.microsoft.com/office/drawing/2014/main" id="{C9EEB2EA-E52A-17BD-B473-9769ED85456D}"/>
              </a:ext>
            </a:extLst>
          </p:cNvPr>
          <p:cNvSpPr>
            <a:spLocks noGrp="1"/>
          </p:cNvSpPr>
          <p:nvPr>
            <p:ph idx="1"/>
          </p:nvPr>
        </p:nvSpPr>
        <p:spPr/>
        <p:txBody>
          <a:bodyPr/>
          <a:lstStyle/>
          <a:p>
            <a:r>
              <a:rPr lang="en-US" altLang="zh-CN" dirty="0"/>
              <a:t>TPM</a:t>
            </a:r>
            <a:r>
              <a:rPr lang="zh-CN" altLang="en-US" dirty="0"/>
              <a:t>支持多种数据类型的</a:t>
            </a:r>
            <a:r>
              <a:rPr lang="en-US" altLang="zh-CN" dirty="0"/>
              <a:t>NV</a:t>
            </a:r>
            <a:r>
              <a:rPr lang="zh-CN" altLang="en-US" dirty="0"/>
              <a:t>索引。</a:t>
            </a:r>
            <a:r>
              <a:rPr lang="en-US" altLang="zh-CN" dirty="0"/>
              <a:t>TPM1.2</a:t>
            </a:r>
            <a:r>
              <a:rPr lang="zh-CN" altLang="en-US" dirty="0"/>
              <a:t>版本只支持非结构化数据（现在叫做普通数据）。</a:t>
            </a:r>
            <a:r>
              <a:rPr lang="en-US" altLang="zh-CN" dirty="0"/>
              <a:t>TPM2.0</a:t>
            </a:r>
            <a:r>
              <a:rPr lang="zh-CN" altLang="en-US" dirty="0"/>
              <a:t>增加了另外三种基本类型，所以一共有四种基本类型的索引：</a:t>
            </a:r>
          </a:p>
          <a:p>
            <a:r>
              <a:rPr lang="zh-CN" altLang="en-US" dirty="0"/>
              <a:t>普通索引</a:t>
            </a:r>
          </a:p>
          <a:p>
            <a:r>
              <a:rPr lang="zh-CN" altLang="en-US" dirty="0"/>
              <a:t>计数器索引</a:t>
            </a:r>
          </a:p>
          <a:p>
            <a:r>
              <a:rPr lang="zh-CN" altLang="en-US" dirty="0"/>
              <a:t>位字段索引</a:t>
            </a:r>
          </a:p>
          <a:p>
            <a:r>
              <a:rPr lang="zh-CN" altLang="en-US" dirty="0"/>
              <a:t>扩展索引</a:t>
            </a:r>
            <a:endParaRPr lang="en-US" altLang="zh-CN" dirty="0"/>
          </a:p>
          <a:p>
            <a:endParaRPr lang="en-US" altLang="zh-CN" dirty="0"/>
          </a:p>
          <a:p>
            <a:r>
              <a:rPr lang="en-US" altLang="zh-CN" dirty="0"/>
              <a:t>TPM2.0</a:t>
            </a:r>
            <a:r>
              <a:rPr lang="zh-CN" altLang="en-US" dirty="0"/>
              <a:t>还支持以上基本索引类型的混合，即混合索引。</a:t>
            </a:r>
          </a:p>
        </p:txBody>
      </p:sp>
      <p:sp>
        <p:nvSpPr>
          <p:cNvPr id="4" name="灯片编号占位符 3">
            <a:extLst>
              <a:ext uri="{FF2B5EF4-FFF2-40B4-BE49-F238E27FC236}">
                <a16:creationId xmlns:a16="http://schemas.microsoft.com/office/drawing/2014/main" id="{1B5AC2F3-58BF-FAE6-6419-BBA89A8855D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5321479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103B3-C250-ECB5-7959-2AE00E99DFB8}"/>
              </a:ext>
            </a:extLst>
          </p:cNvPr>
          <p:cNvSpPr>
            <a:spLocks noGrp="1"/>
          </p:cNvSpPr>
          <p:nvPr>
            <p:ph type="title"/>
          </p:nvPr>
        </p:nvSpPr>
        <p:spPr/>
        <p:txBody>
          <a:bodyPr/>
          <a:lstStyle/>
          <a:p>
            <a:r>
              <a:rPr lang="zh-CN" altLang="en-US" dirty="0">
                <a:solidFill>
                  <a:srgbClr val="FF0000"/>
                </a:solidFill>
              </a:rPr>
              <a:t>一、普通索引</a:t>
            </a:r>
          </a:p>
        </p:txBody>
      </p:sp>
      <p:sp>
        <p:nvSpPr>
          <p:cNvPr id="3" name="内容占位符 2">
            <a:extLst>
              <a:ext uri="{FF2B5EF4-FFF2-40B4-BE49-F238E27FC236}">
                <a16:creationId xmlns:a16="http://schemas.microsoft.com/office/drawing/2014/main" id="{84EC92FA-39A1-3A88-7773-5FD1E3930608}"/>
              </a:ext>
            </a:extLst>
          </p:cNvPr>
          <p:cNvSpPr>
            <a:spLocks noGrp="1"/>
          </p:cNvSpPr>
          <p:nvPr>
            <p:ph idx="1"/>
          </p:nvPr>
        </p:nvSpPr>
        <p:spPr/>
        <p:txBody>
          <a:bodyPr/>
          <a:lstStyle/>
          <a:p>
            <a:r>
              <a:rPr lang="zh-CN" altLang="en-US" dirty="0"/>
              <a:t>一个</a:t>
            </a:r>
            <a:r>
              <a:rPr lang="en-US" altLang="zh-CN" dirty="0"/>
              <a:t>NV</a:t>
            </a:r>
            <a:r>
              <a:rPr lang="zh-CN" altLang="en-US" dirty="0"/>
              <a:t>普通索引用于存储任意长度的非结构化数据。与计数器，位字段以及扩展索引不同的是，普通</a:t>
            </a:r>
            <a:r>
              <a:rPr lang="en-US" altLang="zh-CN" dirty="0"/>
              <a:t>NV</a:t>
            </a:r>
            <a:r>
              <a:rPr lang="zh-CN" altLang="en-US" dirty="0"/>
              <a:t>索引对所写入的数据类型没有限制。</a:t>
            </a:r>
          </a:p>
        </p:txBody>
      </p:sp>
      <p:sp>
        <p:nvSpPr>
          <p:cNvPr id="4" name="灯片编号占位符 3">
            <a:extLst>
              <a:ext uri="{FF2B5EF4-FFF2-40B4-BE49-F238E27FC236}">
                <a16:creationId xmlns:a16="http://schemas.microsoft.com/office/drawing/2014/main" id="{E99D13B4-B263-AEF3-1891-C770D978389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972019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95E7D1-6506-DB14-B968-B5193662D530}"/>
              </a:ext>
            </a:extLst>
          </p:cNvPr>
          <p:cNvSpPr>
            <a:spLocks noGrp="1"/>
          </p:cNvSpPr>
          <p:nvPr>
            <p:ph type="title"/>
          </p:nvPr>
        </p:nvSpPr>
        <p:spPr>
          <a:xfrm>
            <a:off x="381000" y="228600"/>
            <a:ext cx="6608944" cy="639763"/>
          </a:xfrm>
        </p:spPr>
        <p:txBody>
          <a:bodyPr/>
          <a:lstStyle/>
          <a:p>
            <a:r>
              <a:rPr lang="zh-CN" altLang="en-US" dirty="0">
                <a:solidFill>
                  <a:srgbClr val="FF0000"/>
                </a:solidFill>
              </a:rPr>
              <a:t>案例</a:t>
            </a:r>
            <a:r>
              <a:rPr lang="en-US" altLang="zh-CN" dirty="0">
                <a:solidFill>
                  <a:srgbClr val="FF0000"/>
                </a:solidFill>
              </a:rPr>
              <a:t>1</a:t>
            </a:r>
            <a:r>
              <a:rPr lang="zh-CN" altLang="en-US" dirty="0">
                <a:solidFill>
                  <a:srgbClr val="FF0000"/>
                </a:solidFill>
              </a:rPr>
              <a:t>：存储秘密信息</a:t>
            </a:r>
          </a:p>
        </p:txBody>
      </p:sp>
      <p:sp>
        <p:nvSpPr>
          <p:cNvPr id="3" name="内容占位符 2">
            <a:extLst>
              <a:ext uri="{FF2B5EF4-FFF2-40B4-BE49-F238E27FC236}">
                <a16:creationId xmlns:a16="http://schemas.microsoft.com/office/drawing/2014/main" id="{AEE86C86-1A4F-6EDA-D87B-951EBEB332CD}"/>
              </a:ext>
            </a:extLst>
          </p:cNvPr>
          <p:cNvSpPr>
            <a:spLocks noGrp="1"/>
          </p:cNvSpPr>
          <p:nvPr>
            <p:ph idx="1"/>
          </p:nvPr>
        </p:nvSpPr>
        <p:spPr/>
        <p:txBody>
          <a:bodyPr/>
          <a:lstStyle/>
          <a:p>
            <a:pPr algn="just"/>
            <a:r>
              <a:rPr lang="zh-CN" altLang="en-US" dirty="0"/>
              <a:t>假设一个可信平台在系统启动阶段需要用到一个</a:t>
            </a:r>
            <a:r>
              <a:rPr lang="en-US" altLang="zh-CN" dirty="0"/>
              <a:t>20</a:t>
            </a:r>
            <a:r>
              <a:rPr lang="zh-CN" altLang="en-US" dirty="0"/>
              <a:t>字节长的秘密信息，那么这个信息可以存储在一个</a:t>
            </a:r>
            <a:r>
              <a:rPr lang="en-US" altLang="zh-CN" dirty="0"/>
              <a:t>NV</a:t>
            </a:r>
            <a:r>
              <a:rPr lang="zh-CN" altLang="en-US" dirty="0"/>
              <a:t>普通索引中。索引的属性被设置为</a:t>
            </a:r>
            <a:r>
              <a:rPr lang="en-US" altLang="zh-CN" dirty="0"/>
              <a:t>TPMA_NV_PPREAD</a:t>
            </a:r>
            <a:r>
              <a:rPr lang="zh-CN" altLang="en-US" dirty="0"/>
              <a:t>，这表示读取这个索引需要平台授权。在系统启动时运行的平台软件知道平台的授权信息，所以这些软件可以读取这个秘密信息。这同时也确保一旦启动软件完成启动任务之后这个秘密信息再也不会被读取。因为系统启动之后的其他软件并不知道平台授权信息，也就不能读取秘密信息了。</a:t>
            </a:r>
          </a:p>
          <a:p>
            <a:pPr marL="0" indent="0">
              <a:buNone/>
            </a:pPr>
            <a:r>
              <a:rPr lang="zh-CN" altLang="en-US" dirty="0"/>
              <a:t>相关命令：</a:t>
            </a:r>
            <a:endParaRPr lang="en-US" altLang="zh-CN" dirty="0"/>
          </a:p>
          <a:p>
            <a:r>
              <a:rPr lang="en-US" altLang="zh-CN" dirty="0"/>
              <a:t>TPM2_NV_DefineSpace</a:t>
            </a:r>
            <a:r>
              <a:rPr lang="zh-CN" altLang="en-US" dirty="0"/>
              <a:t>：创建一个普通的索引，</a:t>
            </a:r>
            <a:r>
              <a:rPr lang="en-US" altLang="zh-CN" dirty="0"/>
              <a:t>NV</a:t>
            </a:r>
            <a:r>
              <a:rPr lang="zh-CN" altLang="en-US" dirty="0"/>
              <a:t>内存大小为</a:t>
            </a:r>
            <a:r>
              <a:rPr lang="en-US" altLang="zh-CN" dirty="0"/>
              <a:t>20</a:t>
            </a:r>
            <a:r>
              <a:rPr lang="zh-CN" altLang="en-US" dirty="0"/>
              <a:t>字节，并且需要平台授权读写。</a:t>
            </a:r>
          </a:p>
          <a:p>
            <a:r>
              <a:rPr lang="en-US" altLang="zh-CN" dirty="0"/>
              <a:t>TPM2_NV_Read</a:t>
            </a:r>
            <a:r>
              <a:rPr lang="zh-CN" altLang="en-US" dirty="0"/>
              <a:t>：使用平台授权信息读取信息。</a:t>
            </a:r>
          </a:p>
          <a:p>
            <a:endParaRPr lang="zh-CN" altLang="en-US" dirty="0"/>
          </a:p>
        </p:txBody>
      </p:sp>
      <p:sp>
        <p:nvSpPr>
          <p:cNvPr id="4" name="灯片编号占位符 3">
            <a:extLst>
              <a:ext uri="{FF2B5EF4-FFF2-40B4-BE49-F238E27FC236}">
                <a16:creationId xmlns:a16="http://schemas.microsoft.com/office/drawing/2014/main" id="{8F31B04B-0C16-3EF3-59C0-2A300860CB9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39184922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A16C7C-C290-90EE-B360-41F454B5EA32}"/>
              </a:ext>
            </a:extLst>
          </p:cNvPr>
          <p:cNvSpPr>
            <a:spLocks noGrp="1"/>
          </p:cNvSpPr>
          <p:nvPr>
            <p:ph type="title"/>
          </p:nvPr>
        </p:nvSpPr>
        <p:spPr/>
        <p:txBody>
          <a:bodyPr/>
          <a:lstStyle/>
          <a:p>
            <a:r>
              <a:rPr lang="zh-CN" altLang="en-US" dirty="0"/>
              <a:t>案例</a:t>
            </a:r>
            <a:r>
              <a:rPr lang="en-US" altLang="zh-CN" dirty="0"/>
              <a:t>2</a:t>
            </a:r>
            <a:r>
              <a:rPr lang="zh-CN" altLang="en-US" dirty="0"/>
              <a:t>：存储一个通用的口令</a:t>
            </a:r>
          </a:p>
        </p:txBody>
      </p:sp>
      <p:sp>
        <p:nvSpPr>
          <p:cNvPr id="3" name="内容占位符 2">
            <a:extLst>
              <a:ext uri="{FF2B5EF4-FFF2-40B4-BE49-F238E27FC236}">
                <a16:creationId xmlns:a16="http://schemas.microsoft.com/office/drawing/2014/main" id="{354DA0EE-E7EB-BA8A-D8F2-044A601E011F}"/>
              </a:ext>
            </a:extLst>
          </p:cNvPr>
          <p:cNvSpPr>
            <a:spLocks noGrp="1"/>
          </p:cNvSpPr>
          <p:nvPr>
            <p:ph idx="1"/>
          </p:nvPr>
        </p:nvSpPr>
        <p:spPr/>
        <p:txBody>
          <a:bodyPr/>
          <a:lstStyle/>
          <a:p>
            <a:r>
              <a:rPr lang="zh-CN" altLang="en-US" dirty="0"/>
              <a:t>假如一个用户使用某个策略创建了一组密钥，该策略规定，只有提供了一个正确的口令时才可以使用这些密钥。在这种情况下，可以采用普通索引存储该口令，这样密钥的创建者可以通过存储口令来授权所有密钥的访问。而且用户只需要对</a:t>
            </a:r>
            <a:r>
              <a:rPr lang="en-US" altLang="zh-CN" dirty="0"/>
              <a:t>NV</a:t>
            </a:r>
            <a:r>
              <a:rPr lang="zh-CN" altLang="en-US" dirty="0"/>
              <a:t>区域做一次写操作就可以修改所有相关密钥的口令。</a:t>
            </a:r>
            <a:endParaRPr lang="en-US" altLang="zh-CN" dirty="0"/>
          </a:p>
          <a:p>
            <a:endParaRPr lang="zh-CN" altLang="en-US" dirty="0"/>
          </a:p>
        </p:txBody>
      </p:sp>
      <p:sp>
        <p:nvSpPr>
          <p:cNvPr id="4" name="灯片编号占位符 3">
            <a:extLst>
              <a:ext uri="{FF2B5EF4-FFF2-40B4-BE49-F238E27FC236}">
                <a16:creationId xmlns:a16="http://schemas.microsoft.com/office/drawing/2014/main" id="{98FC201D-606C-4846-DD3C-7F8D1F01930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36506632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ABB210-8A60-9355-00E2-879A5FBCD80A}"/>
              </a:ext>
            </a:extLst>
          </p:cNvPr>
          <p:cNvSpPr>
            <a:spLocks noGrp="1"/>
          </p:cNvSpPr>
          <p:nvPr>
            <p:ph type="title"/>
          </p:nvPr>
        </p:nvSpPr>
        <p:spPr/>
        <p:txBody>
          <a:bodyPr/>
          <a:lstStyle/>
          <a:p>
            <a:r>
              <a:rPr lang="zh-CN" altLang="en-US" dirty="0"/>
              <a:t>存储通用口令相关命令</a:t>
            </a:r>
          </a:p>
        </p:txBody>
      </p:sp>
      <p:sp>
        <p:nvSpPr>
          <p:cNvPr id="3" name="内容占位符 2">
            <a:extLst>
              <a:ext uri="{FF2B5EF4-FFF2-40B4-BE49-F238E27FC236}">
                <a16:creationId xmlns:a16="http://schemas.microsoft.com/office/drawing/2014/main" id="{9A89333B-4F1B-06B4-7D7C-DEE45C60E3B2}"/>
              </a:ext>
            </a:extLst>
          </p:cNvPr>
          <p:cNvSpPr>
            <a:spLocks noGrp="1"/>
          </p:cNvSpPr>
          <p:nvPr>
            <p:ph idx="1"/>
          </p:nvPr>
        </p:nvSpPr>
        <p:spPr/>
        <p:txBody>
          <a:bodyPr/>
          <a:lstStyle/>
          <a:p>
            <a:r>
              <a:rPr lang="en-US" altLang="zh-CN" dirty="0"/>
              <a:t>1. TPM2_NV_DefineSpace</a:t>
            </a:r>
            <a:r>
              <a:rPr lang="zh-CN" altLang="en-US" dirty="0"/>
              <a:t>：普通索引，大小为</a:t>
            </a:r>
            <a:r>
              <a:rPr lang="en-US" altLang="zh-CN" dirty="0"/>
              <a:t>0</a:t>
            </a:r>
            <a:r>
              <a:rPr lang="zh-CN" altLang="en-US" dirty="0"/>
              <a:t>，因为这个应用案例中并不会实际使用</a:t>
            </a:r>
            <a:r>
              <a:rPr lang="en-US" altLang="zh-CN" dirty="0"/>
              <a:t>NV</a:t>
            </a:r>
            <a:r>
              <a:rPr lang="zh-CN" altLang="en-US" dirty="0"/>
              <a:t>内存，设置</a:t>
            </a:r>
            <a:r>
              <a:rPr lang="en-US" altLang="zh-CN" dirty="0"/>
              <a:t>NV</a:t>
            </a:r>
            <a:r>
              <a:rPr lang="zh-CN" altLang="en-US" dirty="0"/>
              <a:t>索引的授权值为一个通用口令，也就是用于修改密钥授权值的</a:t>
            </a:r>
            <a:r>
              <a:rPr lang="en-US" altLang="zh-CN" dirty="0"/>
              <a:t>policy</a:t>
            </a:r>
            <a:r>
              <a:rPr lang="zh-CN" altLang="en-US" dirty="0"/>
              <a:t>口令。</a:t>
            </a:r>
          </a:p>
          <a:p>
            <a:r>
              <a:rPr lang="en-US" altLang="zh-CN" dirty="0"/>
              <a:t>2. </a:t>
            </a:r>
            <a:r>
              <a:rPr lang="zh-CN" altLang="en-US" dirty="0"/>
              <a:t>创建一个通用</a:t>
            </a:r>
            <a:r>
              <a:rPr lang="en-US" altLang="zh-CN" dirty="0"/>
              <a:t>policy</a:t>
            </a:r>
            <a:r>
              <a:rPr lang="zh-CN" altLang="en-US" dirty="0"/>
              <a:t>：执行</a:t>
            </a:r>
            <a:r>
              <a:rPr lang="en-US" altLang="zh-CN" dirty="0"/>
              <a:t>TPM2_PolicySecret</a:t>
            </a:r>
            <a:r>
              <a:rPr lang="zh-CN" altLang="en-US" dirty="0"/>
              <a:t>，并用</a:t>
            </a:r>
            <a:r>
              <a:rPr lang="en-US" altLang="zh-CN" dirty="0"/>
              <a:t>NV</a:t>
            </a:r>
            <a:r>
              <a:rPr lang="zh-CN" altLang="en-US" dirty="0"/>
              <a:t>索引的名称作为参数。</a:t>
            </a:r>
          </a:p>
          <a:p>
            <a:r>
              <a:rPr lang="en-US" altLang="zh-CN" dirty="0"/>
              <a:t>3. TPM2_Create</a:t>
            </a:r>
            <a:r>
              <a:rPr lang="zh-CN" altLang="en-US" dirty="0"/>
              <a:t>：使用这个通用的</a:t>
            </a:r>
            <a:r>
              <a:rPr lang="en-US" altLang="zh-CN" dirty="0"/>
              <a:t>policy</a:t>
            </a:r>
            <a:r>
              <a:rPr lang="zh-CN" altLang="en-US" dirty="0"/>
              <a:t>创建多个密钥。</a:t>
            </a:r>
            <a:r>
              <a:rPr lang="en-US" altLang="zh-CN" dirty="0" err="1"/>
              <a:t>userWithAuth</a:t>
            </a:r>
            <a:r>
              <a:rPr lang="zh-CN" altLang="en-US" dirty="0"/>
              <a:t>属性为清除状态，这样就强制使用</a:t>
            </a:r>
            <a:r>
              <a:rPr lang="en-US" altLang="zh-CN" dirty="0"/>
              <a:t>policy</a:t>
            </a:r>
            <a:r>
              <a:rPr lang="zh-CN" altLang="en-US" dirty="0"/>
              <a:t>来授权密钥使用。</a:t>
            </a:r>
          </a:p>
          <a:p>
            <a:r>
              <a:rPr lang="en-US" altLang="zh-CN" dirty="0"/>
              <a:t>4. TPM2_NV_ChangeAuth</a:t>
            </a:r>
            <a:r>
              <a:rPr lang="zh-CN" altLang="en-US" dirty="0"/>
              <a:t>：使用当前</a:t>
            </a:r>
            <a:r>
              <a:rPr lang="en-US" altLang="zh-CN" dirty="0"/>
              <a:t>NV</a:t>
            </a:r>
            <a:r>
              <a:rPr lang="zh-CN" altLang="en-US" dirty="0"/>
              <a:t>索引的口令来一次性修改所有密钥的授权值。</a:t>
            </a:r>
          </a:p>
        </p:txBody>
      </p:sp>
      <p:sp>
        <p:nvSpPr>
          <p:cNvPr id="4" name="灯片编号占位符 3">
            <a:extLst>
              <a:ext uri="{FF2B5EF4-FFF2-40B4-BE49-F238E27FC236}">
                <a16:creationId xmlns:a16="http://schemas.microsoft.com/office/drawing/2014/main" id="{EB7BF3BE-C55A-267F-B582-731E2C49D9F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364817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86ED7-A06A-1ECB-E7C4-987813398EE1}"/>
              </a:ext>
            </a:extLst>
          </p:cNvPr>
          <p:cNvSpPr>
            <a:spLocks noGrp="1"/>
          </p:cNvSpPr>
          <p:nvPr>
            <p:ph type="title"/>
          </p:nvPr>
        </p:nvSpPr>
        <p:spPr/>
        <p:txBody>
          <a:bodyPr/>
          <a:lstStyle/>
          <a:p>
            <a:r>
              <a:rPr lang="zh-CN" altLang="en-US" dirty="0"/>
              <a:t>案例</a:t>
            </a:r>
            <a:r>
              <a:rPr lang="en-US" altLang="zh-CN" dirty="0"/>
              <a:t>3</a:t>
            </a:r>
            <a:r>
              <a:rPr lang="zh-CN" altLang="en-US" dirty="0"/>
              <a:t>：存储证书</a:t>
            </a:r>
          </a:p>
        </p:txBody>
      </p:sp>
      <p:sp>
        <p:nvSpPr>
          <p:cNvPr id="3" name="内容占位符 2">
            <a:extLst>
              <a:ext uri="{FF2B5EF4-FFF2-40B4-BE49-F238E27FC236}">
                <a16:creationId xmlns:a16="http://schemas.microsoft.com/office/drawing/2014/main" id="{FBAC1431-93D6-083A-42E3-CB20AB5A460E}"/>
              </a:ext>
            </a:extLst>
          </p:cNvPr>
          <p:cNvSpPr>
            <a:spLocks noGrp="1"/>
          </p:cNvSpPr>
          <p:nvPr>
            <p:ph idx="1"/>
          </p:nvPr>
        </p:nvSpPr>
        <p:spPr/>
        <p:txBody>
          <a:bodyPr/>
          <a:lstStyle/>
          <a:p>
            <a:r>
              <a:rPr lang="zh-CN" altLang="en-US" dirty="0"/>
              <a:t>一个平台</a:t>
            </a:r>
            <a:r>
              <a:rPr lang="en-US" altLang="zh-CN" dirty="0"/>
              <a:t>OEM</a:t>
            </a:r>
            <a:r>
              <a:rPr lang="zh-CN" altLang="en-US" dirty="0"/>
              <a:t>厂商会创建一个证书，这个证书会声明平台拥有一个固定的背书密钥，并且平台具备一定程度的安全保证。</a:t>
            </a:r>
            <a:r>
              <a:rPr lang="en-US" altLang="zh-CN" dirty="0"/>
              <a:t>OEM</a:t>
            </a:r>
            <a:r>
              <a:rPr lang="zh-CN" altLang="en-US" dirty="0"/>
              <a:t>会在平台生成阶段将证书存储在</a:t>
            </a:r>
            <a:r>
              <a:rPr lang="en-US" altLang="zh-CN" dirty="0"/>
              <a:t>NV</a:t>
            </a:r>
            <a:r>
              <a:rPr lang="zh-CN" altLang="en-US" dirty="0"/>
              <a:t>中。其中，这个</a:t>
            </a:r>
            <a:r>
              <a:rPr lang="en-US" altLang="zh-CN" dirty="0"/>
              <a:t>NV</a:t>
            </a:r>
            <a:r>
              <a:rPr lang="zh-CN" altLang="en-US" dirty="0"/>
              <a:t>区域的读操作是不受限制的。但是写操作需要</a:t>
            </a:r>
            <a:r>
              <a:rPr lang="en-US" altLang="zh-CN" dirty="0"/>
              <a:t>OEM</a:t>
            </a:r>
            <a:r>
              <a:rPr lang="zh-CN" altLang="en-US" dirty="0"/>
              <a:t>的</a:t>
            </a:r>
            <a:r>
              <a:rPr lang="en-US" altLang="zh-CN" dirty="0"/>
              <a:t>policy</a:t>
            </a:r>
            <a:r>
              <a:rPr lang="zh-CN" altLang="en-US" dirty="0"/>
              <a:t>，它用于</a:t>
            </a:r>
            <a:r>
              <a:rPr lang="en-US" altLang="zh-CN" dirty="0"/>
              <a:t>OEM</a:t>
            </a:r>
            <a:r>
              <a:rPr lang="zh-CN" altLang="en-US" dirty="0"/>
              <a:t>安全地更新证书。</a:t>
            </a:r>
          </a:p>
        </p:txBody>
      </p:sp>
      <p:sp>
        <p:nvSpPr>
          <p:cNvPr id="4" name="灯片编号占位符 3">
            <a:extLst>
              <a:ext uri="{FF2B5EF4-FFF2-40B4-BE49-F238E27FC236}">
                <a16:creationId xmlns:a16="http://schemas.microsoft.com/office/drawing/2014/main" id="{5753F7DA-84C9-9281-94EF-9C9850E3C93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24407957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A64B20-CC31-2F4E-82B5-6194F1DDA842}"/>
              </a:ext>
            </a:extLst>
          </p:cNvPr>
          <p:cNvSpPr>
            <a:spLocks noGrp="1"/>
          </p:cNvSpPr>
          <p:nvPr>
            <p:ph type="title"/>
          </p:nvPr>
        </p:nvSpPr>
        <p:spPr/>
        <p:txBody>
          <a:bodyPr/>
          <a:lstStyle/>
          <a:p>
            <a:r>
              <a:rPr lang="zh-CN" altLang="en-US" dirty="0"/>
              <a:t>存储证书命令</a:t>
            </a:r>
          </a:p>
        </p:txBody>
      </p:sp>
      <p:sp>
        <p:nvSpPr>
          <p:cNvPr id="3" name="内容占位符 2">
            <a:extLst>
              <a:ext uri="{FF2B5EF4-FFF2-40B4-BE49-F238E27FC236}">
                <a16:creationId xmlns:a16="http://schemas.microsoft.com/office/drawing/2014/main" id="{BB8360EC-B01D-5F6A-9BD7-71062827DF69}"/>
              </a:ext>
            </a:extLst>
          </p:cNvPr>
          <p:cNvSpPr>
            <a:spLocks noGrp="1"/>
          </p:cNvSpPr>
          <p:nvPr>
            <p:ph idx="1"/>
          </p:nvPr>
        </p:nvSpPr>
        <p:spPr/>
        <p:txBody>
          <a:bodyPr/>
          <a:lstStyle/>
          <a:p>
            <a:r>
              <a:rPr lang="en-US" altLang="zh-CN" dirty="0"/>
              <a:t>TPM2_NV_DefineSpace</a:t>
            </a:r>
            <a:r>
              <a:rPr lang="zh-CN" altLang="en-US" dirty="0"/>
              <a:t>：创建一个普通</a:t>
            </a:r>
            <a:r>
              <a:rPr lang="en-US" altLang="zh-CN" dirty="0"/>
              <a:t>NV</a:t>
            </a:r>
            <a:r>
              <a:rPr lang="zh-CN" altLang="en-US" dirty="0"/>
              <a:t>索引，大小与证书大小相等，写操作需要平台授权，读操作授权是一个空口令。</a:t>
            </a:r>
          </a:p>
          <a:p>
            <a:r>
              <a:rPr lang="en-US" altLang="zh-CN" dirty="0"/>
              <a:t>TPM2_NV_Write</a:t>
            </a:r>
            <a:r>
              <a:rPr lang="zh-CN" altLang="en-US" dirty="0"/>
              <a:t>：使用平台授权（</a:t>
            </a:r>
            <a:r>
              <a:rPr lang="en-US" altLang="zh-CN" dirty="0"/>
              <a:t>policy</a:t>
            </a:r>
            <a:r>
              <a:rPr lang="zh-CN" altLang="en-US" dirty="0"/>
              <a:t>）。</a:t>
            </a:r>
          </a:p>
          <a:p>
            <a:r>
              <a:rPr lang="en-US" altLang="zh-CN" dirty="0"/>
              <a:t>TPM2_NV_Read</a:t>
            </a:r>
            <a:r>
              <a:rPr lang="zh-CN" altLang="en-US" dirty="0"/>
              <a:t>：使用空口令授权。</a:t>
            </a:r>
          </a:p>
        </p:txBody>
      </p:sp>
      <p:sp>
        <p:nvSpPr>
          <p:cNvPr id="4" name="灯片编号占位符 3">
            <a:extLst>
              <a:ext uri="{FF2B5EF4-FFF2-40B4-BE49-F238E27FC236}">
                <a16:creationId xmlns:a16="http://schemas.microsoft.com/office/drawing/2014/main" id="{C0F89C34-FAA7-A4C7-7DA6-A8E692B5D64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23893512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D9A470-F54F-F111-3BFB-39C0EE45C14C}"/>
              </a:ext>
            </a:extLst>
          </p:cNvPr>
          <p:cNvSpPr>
            <a:spLocks noGrp="1"/>
          </p:cNvSpPr>
          <p:nvPr>
            <p:ph type="title"/>
          </p:nvPr>
        </p:nvSpPr>
        <p:spPr/>
        <p:txBody>
          <a:bodyPr/>
          <a:lstStyle/>
          <a:p>
            <a:r>
              <a:rPr lang="zh-CN" altLang="en-US" dirty="0"/>
              <a:t>案例</a:t>
            </a:r>
            <a:r>
              <a:rPr lang="en-US" altLang="zh-CN" dirty="0"/>
              <a:t>4</a:t>
            </a:r>
            <a:r>
              <a:rPr lang="zh-CN" altLang="en-US" dirty="0"/>
              <a:t>：存储密钥树根节点的公钥</a:t>
            </a:r>
          </a:p>
        </p:txBody>
      </p:sp>
      <p:sp>
        <p:nvSpPr>
          <p:cNvPr id="3" name="内容占位符 2">
            <a:extLst>
              <a:ext uri="{FF2B5EF4-FFF2-40B4-BE49-F238E27FC236}">
                <a16:creationId xmlns:a16="http://schemas.microsoft.com/office/drawing/2014/main" id="{0E54523A-F7D2-1221-5B5C-C09A3AF8785A}"/>
              </a:ext>
            </a:extLst>
          </p:cNvPr>
          <p:cNvSpPr>
            <a:spLocks noGrp="1"/>
          </p:cNvSpPr>
          <p:nvPr>
            <p:ph idx="1"/>
          </p:nvPr>
        </p:nvSpPr>
        <p:spPr/>
        <p:txBody>
          <a:bodyPr/>
          <a:lstStyle/>
          <a:p>
            <a:pPr algn="just"/>
            <a:r>
              <a:rPr lang="en-US" altLang="zh-CN" dirty="0"/>
              <a:t>IT</a:t>
            </a:r>
            <a:r>
              <a:rPr lang="zh-CN" altLang="en-US" dirty="0"/>
              <a:t>管理员可以将一个公钥的哈希值存储在</a:t>
            </a:r>
            <a:r>
              <a:rPr lang="en-US" altLang="zh-CN" dirty="0"/>
              <a:t>NV</a:t>
            </a:r>
            <a:r>
              <a:rPr lang="zh-CN" altLang="en-US" dirty="0"/>
              <a:t>中，这个</a:t>
            </a:r>
            <a:r>
              <a:rPr lang="en-US" altLang="zh-CN" dirty="0"/>
              <a:t>NV</a:t>
            </a:r>
            <a:r>
              <a:rPr lang="zh-CN" altLang="en-US" dirty="0"/>
              <a:t>可以被写锁定，从而防止其他用户修改。这个哈希值用于验证另外一个公钥，这“另外一个公钥”又进一步用于验证一些签名确实来自于这个</a:t>
            </a:r>
            <a:r>
              <a:rPr lang="en-US" altLang="zh-CN" dirty="0"/>
              <a:t>IT</a:t>
            </a:r>
            <a:r>
              <a:rPr lang="zh-CN" altLang="en-US" dirty="0"/>
              <a:t>组织。所以，这个</a:t>
            </a:r>
            <a:r>
              <a:rPr lang="en-US" altLang="zh-CN" dirty="0"/>
              <a:t>NV</a:t>
            </a:r>
            <a:r>
              <a:rPr lang="zh-CN" altLang="en-US" dirty="0"/>
              <a:t>中存储的是一个证书链中根证书的公钥的哈希值。</a:t>
            </a:r>
          </a:p>
          <a:p>
            <a:endParaRPr lang="zh-CN" altLang="en-US" dirty="0"/>
          </a:p>
        </p:txBody>
      </p:sp>
      <p:sp>
        <p:nvSpPr>
          <p:cNvPr id="4" name="灯片编号占位符 3">
            <a:extLst>
              <a:ext uri="{FF2B5EF4-FFF2-40B4-BE49-F238E27FC236}">
                <a16:creationId xmlns:a16="http://schemas.microsoft.com/office/drawing/2014/main" id="{0022FF67-0E08-3B03-9AE8-B99C05292BB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16395235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C398D6-A982-70EC-E38B-9466D9F1172A}"/>
              </a:ext>
            </a:extLst>
          </p:cNvPr>
          <p:cNvSpPr>
            <a:spLocks noGrp="1"/>
          </p:cNvSpPr>
          <p:nvPr>
            <p:ph type="title"/>
          </p:nvPr>
        </p:nvSpPr>
        <p:spPr/>
        <p:txBody>
          <a:bodyPr/>
          <a:lstStyle/>
          <a:p>
            <a:r>
              <a:rPr lang="zh-CN" altLang="en-US" dirty="0"/>
              <a:t>存储公钥命令</a:t>
            </a:r>
          </a:p>
        </p:txBody>
      </p:sp>
      <p:sp>
        <p:nvSpPr>
          <p:cNvPr id="3" name="内容占位符 2">
            <a:extLst>
              <a:ext uri="{FF2B5EF4-FFF2-40B4-BE49-F238E27FC236}">
                <a16:creationId xmlns:a16="http://schemas.microsoft.com/office/drawing/2014/main" id="{3C30530B-F249-F313-BC1C-9AC72E13782C}"/>
              </a:ext>
            </a:extLst>
          </p:cNvPr>
          <p:cNvSpPr>
            <a:spLocks noGrp="1"/>
          </p:cNvSpPr>
          <p:nvPr>
            <p:ph idx="1"/>
          </p:nvPr>
        </p:nvSpPr>
        <p:spPr/>
        <p:txBody>
          <a:bodyPr/>
          <a:lstStyle/>
          <a:p>
            <a:r>
              <a:rPr lang="en-US" altLang="zh-CN" dirty="0"/>
              <a:t>1. IT</a:t>
            </a:r>
            <a:r>
              <a:rPr lang="zh-CN" altLang="en-US" dirty="0"/>
              <a:t>组织创建一个签名密钥，并对它的公钥做哈希。</a:t>
            </a:r>
          </a:p>
          <a:p>
            <a:r>
              <a:rPr lang="en-US" altLang="zh-CN" dirty="0"/>
              <a:t>2. </a:t>
            </a:r>
            <a:r>
              <a:rPr lang="zh-CN" altLang="en-US" dirty="0"/>
              <a:t>创建一个读操作的</a:t>
            </a:r>
            <a:r>
              <a:rPr lang="en-US" altLang="zh-CN" dirty="0"/>
              <a:t>policy</a:t>
            </a:r>
            <a:r>
              <a:rPr lang="zh-CN" altLang="en-US" dirty="0"/>
              <a:t>：</a:t>
            </a:r>
            <a:r>
              <a:rPr lang="en-US" altLang="zh-CN" dirty="0"/>
              <a:t>TPM2_PolicyCommandCode</a:t>
            </a:r>
            <a:r>
              <a:rPr lang="zh-CN" altLang="en-US" dirty="0"/>
              <a:t>指定</a:t>
            </a:r>
            <a:r>
              <a:rPr lang="en-US" altLang="zh-CN" dirty="0"/>
              <a:t>TPM2_NV_READ</a:t>
            </a:r>
            <a:r>
              <a:rPr lang="zh-CN" altLang="en-US" dirty="0"/>
              <a:t>命令。这个</a:t>
            </a:r>
            <a:r>
              <a:rPr lang="en-US" altLang="zh-CN" dirty="0"/>
              <a:t>policy</a:t>
            </a:r>
            <a:r>
              <a:rPr lang="zh-CN" altLang="en-US" dirty="0"/>
              <a:t>允许任何人读取</a:t>
            </a:r>
            <a:r>
              <a:rPr lang="en-US" altLang="zh-CN" dirty="0"/>
              <a:t>NV</a:t>
            </a:r>
            <a:r>
              <a:rPr lang="zh-CN" altLang="en-US" dirty="0"/>
              <a:t>索引的信息，并且不用提供任何授权信息。</a:t>
            </a:r>
          </a:p>
          <a:p>
            <a:r>
              <a:rPr lang="en-US" altLang="zh-CN" dirty="0"/>
              <a:t>3. TPM2_NV_DefineSpace</a:t>
            </a:r>
            <a:r>
              <a:rPr lang="zh-CN" altLang="en-US" dirty="0"/>
              <a:t>：同样也是一个普通的索引，大小为哈希的大小，授权值为</a:t>
            </a:r>
            <a:r>
              <a:rPr lang="en-US" altLang="zh-CN" dirty="0"/>
              <a:t>IT</a:t>
            </a:r>
            <a:r>
              <a:rPr lang="zh-CN" altLang="en-US" dirty="0"/>
              <a:t>管理员的口令，口令用于写授权，读操作使用上述的</a:t>
            </a:r>
            <a:r>
              <a:rPr lang="en-US" altLang="zh-CN" dirty="0"/>
              <a:t>policy</a:t>
            </a:r>
            <a:r>
              <a:rPr lang="zh-CN" altLang="en-US" dirty="0"/>
              <a:t>。</a:t>
            </a:r>
          </a:p>
          <a:p>
            <a:r>
              <a:rPr lang="en-US" altLang="zh-CN" dirty="0"/>
              <a:t>4. </a:t>
            </a:r>
            <a:r>
              <a:rPr lang="en-US" altLang="zh-CN" dirty="0" err="1"/>
              <a:t>TPM_NV_Write</a:t>
            </a:r>
            <a:r>
              <a:rPr lang="zh-CN" altLang="en-US" dirty="0"/>
              <a:t>：使用</a:t>
            </a:r>
            <a:r>
              <a:rPr lang="en-US" altLang="zh-CN" dirty="0"/>
              <a:t>IT</a:t>
            </a:r>
            <a:r>
              <a:rPr lang="zh-CN" altLang="en-US" dirty="0"/>
              <a:t>管理员的授权口令授权</a:t>
            </a:r>
            <a:r>
              <a:rPr lang="en-US" altLang="zh-CN" dirty="0"/>
              <a:t>NV</a:t>
            </a:r>
            <a:r>
              <a:rPr lang="zh-CN" altLang="en-US" dirty="0"/>
              <a:t>写操作，将公钥的哈希值写入</a:t>
            </a:r>
            <a:r>
              <a:rPr lang="en-US" altLang="zh-CN" dirty="0"/>
              <a:t>NV</a:t>
            </a:r>
            <a:r>
              <a:rPr lang="zh-CN" altLang="en-US" dirty="0"/>
              <a:t>。</a:t>
            </a:r>
          </a:p>
        </p:txBody>
      </p:sp>
      <p:sp>
        <p:nvSpPr>
          <p:cNvPr id="4" name="灯片编号占位符 3">
            <a:extLst>
              <a:ext uri="{FF2B5EF4-FFF2-40B4-BE49-F238E27FC236}">
                <a16:creationId xmlns:a16="http://schemas.microsoft.com/office/drawing/2014/main" id="{406DDAD6-D263-822C-98D0-1CFE1E60491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17388307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77205-3F7E-18CB-FB77-8B0FA93E65AB}"/>
              </a:ext>
            </a:extLst>
          </p:cNvPr>
          <p:cNvSpPr>
            <a:spLocks noGrp="1"/>
          </p:cNvSpPr>
          <p:nvPr>
            <p:ph type="title"/>
          </p:nvPr>
        </p:nvSpPr>
        <p:spPr/>
        <p:txBody>
          <a:bodyPr/>
          <a:lstStyle/>
          <a:p>
            <a:r>
              <a:rPr lang="zh-CN" altLang="en-US" dirty="0"/>
              <a:t>验证签名操作</a:t>
            </a:r>
          </a:p>
        </p:txBody>
      </p:sp>
      <p:sp>
        <p:nvSpPr>
          <p:cNvPr id="3" name="内容占位符 2">
            <a:extLst>
              <a:ext uri="{FF2B5EF4-FFF2-40B4-BE49-F238E27FC236}">
                <a16:creationId xmlns:a16="http://schemas.microsoft.com/office/drawing/2014/main" id="{8227CE9B-4337-98C8-36C1-DC6065077CE0}"/>
              </a:ext>
            </a:extLst>
          </p:cNvPr>
          <p:cNvSpPr>
            <a:spLocks noGrp="1"/>
          </p:cNvSpPr>
          <p:nvPr>
            <p:ph idx="1"/>
          </p:nvPr>
        </p:nvSpPr>
        <p:spPr/>
        <p:txBody>
          <a:bodyPr/>
          <a:lstStyle/>
          <a:p>
            <a:r>
              <a:rPr lang="en-US" altLang="zh-CN" dirty="0"/>
              <a:t>1. TPM2_NV_Read</a:t>
            </a:r>
            <a:r>
              <a:rPr lang="zh-CN" altLang="en-US" dirty="0"/>
              <a:t>命令读取公钥的哈希值。</a:t>
            </a:r>
          </a:p>
          <a:p>
            <a:r>
              <a:rPr lang="en-US" altLang="zh-CN" dirty="0"/>
              <a:t>2. </a:t>
            </a:r>
            <a:r>
              <a:rPr lang="zh-CN" altLang="en-US" dirty="0"/>
              <a:t>验证根证书中公钥的哈希值（在一个应用中，被验证的实体中会包含一个完整的证书链）。</a:t>
            </a:r>
          </a:p>
          <a:p>
            <a:r>
              <a:rPr lang="en-US" altLang="zh-CN" dirty="0"/>
              <a:t>3. </a:t>
            </a:r>
            <a:r>
              <a:rPr lang="zh-CN" altLang="en-US" dirty="0"/>
              <a:t>使用公钥来验证签名。</a:t>
            </a:r>
          </a:p>
        </p:txBody>
      </p:sp>
      <p:sp>
        <p:nvSpPr>
          <p:cNvPr id="4" name="灯片编号占位符 3">
            <a:extLst>
              <a:ext uri="{FF2B5EF4-FFF2-40B4-BE49-F238E27FC236}">
                <a16:creationId xmlns:a16="http://schemas.microsoft.com/office/drawing/2014/main" id="{3CB9A688-7BCB-1E6C-F12B-E8B62D5E77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12118884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4C215-4B87-3C5D-A0C8-51C27C2ADD65}"/>
              </a:ext>
            </a:extLst>
          </p:cNvPr>
          <p:cNvSpPr>
            <a:spLocks noGrp="1"/>
          </p:cNvSpPr>
          <p:nvPr>
            <p:ph type="title"/>
          </p:nvPr>
        </p:nvSpPr>
        <p:spPr/>
        <p:txBody>
          <a:bodyPr/>
          <a:lstStyle/>
          <a:p>
            <a:r>
              <a:rPr lang="zh-CN" altLang="en-US" dirty="0"/>
              <a:t>案例</a:t>
            </a:r>
            <a:r>
              <a:rPr lang="en-US" altLang="zh-CN" dirty="0"/>
              <a:t>5</a:t>
            </a:r>
            <a:r>
              <a:rPr lang="zh-CN" altLang="en-US" dirty="0"/>
              <a:t>：存储一个</a:t>
            </a:r>
            <a:r>
              <a:rPr lang="en-US" altLang="zh-CN" dirty="0"/>
              <a:t>HMAC</a:t>
            </a:r>
            <a:r>
              <a:rPr lang="zh-CN" altLang="en-US" dirty="0"/>
              <a:t>密钥</a:t>
            </a:r>
          </a:p>
        </p:txBody>
      </p:sp>
      <p:sp>
        <p:nvSpPr>
          <p:cNvPr id="3" name="内容占位符 2">
            <a:extLst>
              <a:ext uri="{FF2B5EF4-FFF2-40B4-BE49-F238E27FC236}">
                <a16:creationId xmlns:a16="http://schemas.microsoft.com/office/drawing/2014/main" id="{D5BD4772-413E-BCF8-0939-950A0DB69052}"/>
              </a:ext>
            </a:extLst>
          </p:cNvPr>
          <p:cNvSpPr>
            <a:spLocks noGrp="1"/>
          </p:cNvSpPr>
          <p:nvPr>
            <p:ph idx="1"/>
          </p:nvPr>
        </p:nvSpPr>
        <p:spPr/>
        <p:txBody>
          <a:bodyPr/>
          <a:lstStyle/>
          <a:p>
            <a:r>
              <a:rPr lang="zh-CN" altLang="en-US" dirty="0"/>
              <a:t>在</a:t>
            </a:r>
            <a:r>
              <a:rPr lang="en-US" altLang="zh-CN" dirty="0"/>
              <a:t>Linux</a:t>
            </a:r>
            <a:r>
              <a:rPr lang="zh-CN" altLang="en-US" dirty="0"/>
              <a:t>系统的完整性测量架构（</a:t>
            </a:r>
            <a:r>
              <a:rPr lang="en-US" altLang="zh-CN" dirty="0"/>
              <a:t>Integrity Measurement Architecture</a:t>
            </a:r>
            <a:r>
              <a:rPr lang="zh-CN" altLang="en-US" dirty="0"/>
              <a:t>）的扩展验证模块（</a:t>
            </a:r>
            <a:r>
              <a:rPr lang="en-US" altLang="zh-CN" dirty="0"/>
              <a:t>Extended Verification Module</a:t>
            </a:r>
            <a:r>
              <a:rPr lang="zh-CN" altLang="en-US" dirty="0"/>
              <a:t>）中存储了一个</a:t>
            </a:r>
            <a:r>
              <a:rPr lang="en-US" altLang="zh-CN" dirty="0"/>
              <a:t>HMAC</a:t>
            </a:r>
            <a:r>
              <a:rPr lang="zh-CN" altLang="en-US" dirty="0"/>
              <a:t>密钥，这个密钥在启动早期就释放给内核，然后内核使用它验证文件的扩展属性。主要目的是看这些文件是否允许被内核加载或者使用。</a:t>
            </a:r>
          </a:p>
        </p:txBody>
      </p:sp>
      <p:sp>
        <p:nvSpPr>
          <p:cNvPr id="4" name="灯片编号占位符 3">
            <a:extLst>
              <a:ext uri="{FF2B5EF4-FFF2-40B4-BE49-F238E27FC236}">
                <a16:creationId xmlns:a16="http://schemas.microsoft.com/office/drawing/2014/main" id="{A58970B6-2A29-B261-75BF-5E0DCB9D93B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24853611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1F39F2-ECDA-CD83-8AE6-A4B5475EEA50}"/>
              </a:ext>
            </a:extLst>
          </p:cNvPr>
          <p:cNvSpPr>
            <a:spLocks noGrp="1"/>
          </p:cNvSpPr>
          <p:nvPr>
            <p:ph type="title"/>
          </p:nvPr>
        </p:nvSpPr>
        <p:spPr/>
        <p:txBody>
          <a:bodyPr/>
          <a:lstStyle/>
          <a:p>
            <a:r>
              <a:rPr lang="zh-CN" altLang="en-US" dirty="0"/>
              <a:t>相关操作命令</a:t>
            </a:r>
          </a:p>
        </p:txBody>
      </p:sp>
      <p:sp>
        <p:nvSpPr>
          <p:cNvPr id="3" name="内容占位符 2">
            <a:extLst>
              <a:ext uri="{FF2B5EF4-FFF2-40B4-BE49-F238E27FC236}">
                <a16:creationId xmlns:a16="http://schemas.microsoft.com/office/drawing/2014/main" id="{A268B8F3-43FA-263F-E301-B0E504E61489}"/>
              </a:ext>
            </a:extLst>
          </p:cNvPr>
          <p:cNvSpPr>
            <a:spLocks noGrp="1"/>
          </p:cNvSpPr>
          <p:nvPr>
            <p:ph idx="1"/>
          </p:nvPr>
        </p:nvSpPr>
        <p:spPr/>
        <p:txBody>
          <a:bodyPr/>
          <a:lstStyle/>
          <a:p>
            <a:r>
              <a:rPr lang="en-US" altLang="zh-CN" dirty="0"/>
              <a:t>TPM2_NV_DefineSpace</a:t>
            </a:r>
            <a:r>
              <a:rPr lang="zh-CN" altLang="en-US" dirty="0"/>
              <a:t>：普通</a:t>
            </a:r>
            <a:r>
              <a:rPr lang="en-US" altLang="zh-CN" dirty="0"/>
              <a:t>NV</a:t>
            </a:r>
            <a:r>
              <a:rPr lang="zh-CN" altLang="en-US" dirty="0"/>
              <a:t>索引，大小等于</a:t>
            </a:r>
            <a:r>
              <a:rPr lang="en-US" altLang="zh-CN" dirty="0"/>
              <a:t>HMAC</a:t>
            </a:r>
            <a:r>
              <a:rPr lang="zh-CN" altLang="en-US" dirty="0"/>
              <a:t>密钥的大小，</a:t>
            </a:r>
            <a:r>
              <a:rPr lang="en-US" altLang="zh-CN" dirty="0"/>
              <a:t>IT</a:t>
            </a:r>
            <a:r>
              <a:rPr lang="zh-CN" altLang="en-US" dirty="0"/>
              <a:t>管理员口令用于写操作，读操作仍然使用上一个案例中使用的任何人可以不用授权就读的</a:t>
            </a:r>
            <a:r>
              <a:rPr lang="en-US" altLang="zh-CN" dirty="0"/>
              <a:t>policy</a:t>
            </a:r>
            <a:r>
              <a:rPr lang="zh-CN" altLang="en-US" dirty="0"/>
              <a:t>。</a:t>
            </a:r>
          </a:p>
          <a:p>
            <a:r>
              <a:rPr lang="en-US" altLang="zh-CN" dirty="0"/>
              <a:t>TPM2_NV_Write</a:t>
            </a:r>
            <a:r>
              <a:rPr lang="zh-CN" altLang="en-US" dirty="0"/>
              <a:t>：使用</a:t>
            </a:r>
            <a:r>
              <a:rPr lang="en-US" altLang="zh-CN" dirty="0"/>
              <a:t>IT</a:t>
            </a:r>
            <a:r>
              <a:rPr lang="zh-CN" altLang="en-US" dirty="0"/>
              <a:t>管理员口令授权</a:t>
            </a:r>
            <a:r>
              <a:rPr lang="en-US" altLang="zh-CN" dirty="0"/>
              <a:t>NV</a:t>
            </a:r>
            <a:r>
              <a:rPr lang="zh-CN" altLang="en-US" dirty="0"/>
              <a:t>写操作，将</a:t>
            </a:r>
            <a:r>
              <a:rPr lang="en-US" altLang="zh-CN" dirty="0"/>
              <a:t>HMAC</a:t>
            </a:r>
            <a:r>
              <a:rPr lang="zh-CN" altLang="en-US" dirty="0"/>
              <a:t>密钥存储到</a:t>
            </a:r>
            <a:r>
              <a:rPr lang="en-US" altLang="zh-CN" dirty="0"/>
              <a:t>NV</a:t>
            </a:r>
            <a:r>
              <a:rPr lang="zh-CN" altLang="en-US" dirty="0"/>
              <a:t>中。</a:t>
            </a:r>
          </a:p>
          <a:p>
            <a:r>
              <a:rPr lang="en-US" altLang="zh-CN" dirty="0"/>
              <a:t>TPM2_NV_Read</a:t>
            </a:r>
            <a:r>
              <a:rPr lang="zh-CN" altLang="en-US" dirty="0"/>
              <a:t>：读取</a:t>
            </a:r>
            <a:r>
              <a:rPr lang="en-US" altLang="zh-CN" dirty="0"/>
              <a:t>HMAC</a:t>
            </a:r>
            <a:r>
              <a:rPr lang="zh-CN" altLang="en-US" dirty="0"/>
              <a:t>密钥。</a:t>
            </a:r>
          </a:p>
        </p:txBody>
      </p:sp>
      <p:sp>
        <p:nvSpPr>
          <p:cNvPr id="4" name="灯片编号占位符 3">
            <a:extLst>
              <a:ext uri="{FF2B5EF4-FFF2-40B4-BE49-F238E27FC236}">
                <a16:creationId xmlns:a16="http://schemas.microsoft.com/office/drawing/2014/main" id="{7ED1B26F-0FC6-3719-5D24-EA07309BAB2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41637753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23060E-1E05-52DB-38FE-44FC0B090532}"/>
              </a:ext>
            </a:extLst>
          </p:cNvPr>
          <p:cNvSpPr>
            <a:spLocks noGrp="1"/>
          </p:cNvSpPr>
          <p:nvPr>
            <p:ph type="title"/>
          </p:nvPr>
        </p:nvSpPr>
        <p:spPr/>
        <p:txBody>
          <a:bodyPr/>
          <a:lstStyle/>
          <a:p>
            <a:r>
              <a:rPr lang="en-US" altLang="zh-CN" dirty="0"/>
              <a:t> </a:t>
            </a:r>
            <a:r>
              <a:rPr lang="zh-CN" altLang="en-US" dirty="0"/>
              <a:t>二、</a:t>
            </a:r>
            <a:r>
              <a:rPr lang="en-US" altLang="zh-CN" dirty="0"/>
              <a:t>NV</a:t>
            </a:r>
            <a:r>
              <a:rPr lang="zh-CN" altLang="en-US" dirty="0"/>
              <a:t>计数器索引</a:t>
            </a:r>
          </a:p>
        </p:txBody>
      </p:sp>
      <p:sp>
        <p:nvSpPr>
          <p:cNvPr id="3" name="内容占位符 2">
            <a:extLst>
              <a:ext uri="{FF2B5EF4-FFF2-40B4-BE49-F238E27FC236}">
                <a16:creationId xmlns:a16="http://schemas.microsoft.com/office/drawing/2014/main" id="{326DDC92-72FC-8D2C-D3B9-66D058C8AB45}"/>
              </a:ext>
            </a:extLst>
          </p:cNvPr>
          <p:cNvSpPr>
            <a:spLocks noGrp="1"/>
          </p:cNvSpPr>
          <p:nvPr>
            <p:ph idx="1"/>
          </p:nvPr>
        </p:nvSpPr>
        <p:spPr/>
        <p:txBody>
          <a:bodyPr/>
          <a:lstStyle/>
          <a:p>
            <a:r>
              <a:rPr lang="en-US" altLang="zh-CN" dirty="0"/>
              <a:t>NV</a:t>
            </a:r>
            <a:r>
              <a:rPr lang="zh-CN" altLang="en-US" dirty="0"/>
              <a:t>计数器索引是一个只能增加的</a:t>
            </a:r>
            <a:r>
              <a:rPr lang="en-US" altLang="zh-CN" dirty="0"/>
              <a:t>64</a:t>
            </a:r>
            <a:r>
              <a:rPr lang="zh-CN" altLang="en-US" dirty="0"/>
              <a:t>位数值。在对一个</a:t>
            </a:r>
            <a:r>
              <a:rPr lang="en-US" altLang="zh-CN" dirty="0"/>
              <a:t>NV</a:t>
            </a:r>
            <a:r>
              <a:rPr lang="zh-CN" altLang="en-US" dirty="0"/>
              <a:t>计数值执行增加命令之前，这个计数值会被初始化为这个</a:t>
            </a:r>
            <a:r>
              <a:rPr lang="en-US" altLang="zh-CN" dirty="0"/>
              <a:t>TPM</a:t>
            </a:r>
            <a:r>
              <a:rPr lang="zh-CN" altLang="en-US" dirty="0"/>
              <a:t>上曾经出现过的最大</a:t>
            </a:r>
            <a:r>
              <a:rPr lang="en-US" altLang="zh-CN" dirty="0"/>
              <a:t>NV</a:t>
            </a:r>
            <a:r>
              <a:rPr lang="zh-CN" altLang="en-US" dirty="0"/>
              <a:t>计数值。这个值既包括当前存在的计数值也包括过去曾经定义的但是现在已经删除的计数值。这样一个计数器的计数值就永远不会被回滚，即使是被删除后重新创建也不行。</a:t>
            </a:r>
          </a:p>
        </p:txBody>
      </p:sp>
      <p:sp>
        <p:nvSpPr>
          <p:cNvPr id="4" name="灯片编号占位符 3">
            <a:extLst>
              <a:ext uri="{FF2B5EF4-FFF2-40B4-BE49-F238E27FC236}">
                <a16:creationId xmlns:a16="http://schemas.microsoft.com/office/drawing/2014/main" id="{55E93852-E7E3-BFDE-E321-986951A5100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6467042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996634-0B9A-23EA-B62F-4AE0E07A0DB5}"/>
              </a:ext>
            </a:extLst>
          </p:cNvPr>
          <p:cNvSpPr>
            <a:spLocks noGrp="1"/>
          </p:cNvSpPr>
          <p:nvPr>
            <p:ph type="title"/>
          </p:nvPr>
        </p:nvSpPr>
        <p:spPr>
          <a:xfrm>
            <a:off x="208658" y="228600"/>
            <a:ext cx="6321017" cy="639763"/>
          </a:xfrm>
        </p:spPr>
        <p:txBody>
          <a:bodyPr/>
          <a:lstStyle/>
          <a:p>
            <a:r>
              <a:rPr lang="zh-CN" altLang="en-US" dirty="0"/>
              <a:t>案例</a:t>
            </a:r>
            <a:r>
              <a:rPr lang="en-US" altLang="zh-CN" dirty="0"/>
              <a:t>1</a:t>
            </a:r>
            <a:r>
              <a:rPr lang="zh-CN" altLang="en-US" dirty="0"/>
              <a:t>：撤销一个密钥的访问权限</a:t>
            </a:r>
          </a:p>
        </p:txBody>
      </p:sp>
      <p:sp>
        <p:nvSpPr>
          <p:cNvPr id="3" name="内容占位符 2">
            <a:extLst>
              <a:ext uri="{FF2B5EF4-FFF2-40B4-BE49-F238E27FC236}">
                <a16:creationId xmlns:a16="http://schemas.microsoft.com/office/drawing/2014/main" id="{25AF2310-6CEB-BC08-6D85-D9BF2BDE87BD}"/>
              </a:ext>
            </a:extLst>
          </p:cNvPr>
          <p:cNvSpPr>
            <a:spLocks noGrp="1"/>
          </p:cNvSpPr>
          <p:nvPr>
            <p:ph idx="1"/>
          </p:nvPr>
        </p:nvSpPr>
        <p:spPr/>
        <p:txBody>
          <a:bodyPr/>
          <a:lstStyle/>
          <a:p>
            <a:pPr algn="just"/>
            <a:r>
              <a:rPr lang="zh-CN" altLang="en-US" dirty="0"/>
              <a:t>当密钥的所有者想撤销密钥的访问权限时，密钥在创建时使用</a:t>
            </a:r>
            <a:r>
              <a:rPr lang="en-US" altLang="zh-CN" dirty="0"/>
              <a:t>policy</a:t>
            </a:r>
            <a:r>
              <a:rPr lang="zh-CN" altLang="en-US" dirty="0"/>
              <a:t>作为授权方式，</a:t>
            </a:r>
            <a:r>
              <a:rPr lang="en-US" altLang="zh-CN" dirty="0"/>
              <a:t>policy</a:t>
            </a:r>
            <a:r>
              <a:rPr lang="zh-CN" altLang="en-US" dirty="0"/>
              <a:t>可以被设定为当一个</a:t>
            </a:r>
            <a:r>
              <a:rPr lang="en-US" altLang="zh-CN" dirty="0"/>
              <a:t>NV</a:t>
            </a:r>
            <a:r>
              <a:rPr lang="zh-CN" altLang="en-US" dirty="0"/>
              <a:t>计数器的值与当前值相同时（</a:t>
            </a:r>
            <a:r>
              <a:rPr lang="en-US" altLang="zh-CN" dirty="0"/>
              <a:t>NV</a:t>
            </a:r>
            <a:r>
              <a:rPr lang="zh-CN" altLang="en-US" dirty="0"/>
              <a:t>没有增加时）可以访问密钥。这样一来，只要增加</a:t>
            </a:r>
            <a:r>
              <a:rPr lang="en-US" altLang="zh-CN" dirty="0"/>
              <a:t>NV</a:t>
            </a:r>
            <a:r>
              <a:rPr lang="zh-CN" altLang="en-US" dirty="0"/>
              <a:t>计数器的值就可撤销密钥的访问权限。</a:t>
            </a:r>
          </a:p>
        </p:txBody>
      </p:sp>
      <p:sp>
        <p:nvSpPr>
          <p:cNvPr id="4" name="灯片编号占位符 3">
            <a:extLst>
              <a:ext uri="{FF2B5EF4-FFF2-40B4-BE49-F238E27FC236}">
                <a16:creationId xmlns:a16="http://schemas.microsoft.com/office/drawing/2014/main" id="{35ECD66C-2F87-0F2C-985C-97DACE08720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26207671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D9AA5B-E84D-9DD9-ECB1-D6B40E022637}"/>
              </a:ext>
            </a:extLst>
          </p:cNvPr>
          <p:cNvSpPr>
            <a:spLocks noGrp="1"/>
          </p:cNvSpPr>
          <p:nvPr>
            <p:ph type="title"/>
          </p:nvPr>
        </p:nvSpPr>
        <p:spPr/>
        <p:txBody>
          <a:bodyPr/>
          <a:lstStyle/>
          <a:p>
            <a:r>
              <a:rPr lang="zh-CN" altLang="en-US" dirty="0"/>
              <a:t>密钥撤销命令</a:t>
            </a:r>
          </a:p>
        </p:txBody>
      </p:sp>
      <p:sp>
        <p:nvSpPr>
          <p:cNvPr id="3" name="内容占位符 2">
            <a:extLst>
              <a:ext uri="{FF2B5EF4-FFF2-40B4-BE49-F238E27FC236}">
                <a16:creationId xmlns:a16="http://schemas.microsoft.com/office/drawing/2014/main" id="{9AB3D312-1581-3414-50B6-A8AEFEF2011B}"/>
              </a:ext>
            </a:extLst>
          </p:cNvPr>
          <p:cNvSpPr>
            <a:spLocks noGrp="1"/>
          </p:cNvSpPr>
          <p:nvPr>
            <p:ph idx="1"/>
          </p:nvPr>
        </p:nvSpPr>
        <p:spPr/>
        <p:txBody>
          <a:bodyPr/>
          <a:lstStyle/>
          <a:p>
            <a:pPr algn="just"/>
            <a:r>
              <a:rPr lang="en-US" altLang="zh-CN" dirty="0"/>
              <a:t>TPM2_NV_DefineSpace</a:t>
            </a:r>
            <a:r>
              <a:rPr lang="zh-CN" altLang="en-US" dirty="0"/>
              <a:t>：计数器索引，口令设置为密钥所有者的口令，并且口令用于写授权。读操作授权为</a:t>
            </a:r>
            <a:r>
              <a:rPr lang="en-US" altLang="zh-CN" dirty="0"/>
              <a:t>Policy</a:t>
            </a:r>
            <a:r>
              <a:rPr lang="zh-CN" altLang="en-US" dirty="0"/>
              <a:t>，</a:t>
            </a:r>
            <a:r>
              <a:rPr lang="en-US" altLang="zh-CN" dirty="0"/>
              <a:t>policy</a:t>
            </a:r>
            <a:r>
              <a:rPr lang="zh-CN" altLang="en-US" dirty="0"/>
              <a:t>执行</a:t>
            </a:r>
            <a:r>
              <a:rPr lang="en-US" altLang="zh-CN" dirty="0"/>
              <a:t>TPM2_PolicyCommandCode</a:t>
            </a:r>
            <a:r>
              <a:rPr lang="zh-CN" altLang="en-US" dirty="0"/>
              <a:t>并选择</a:t>
            </a:r>
            <a:r>
              <a:rPr lang="en-US" altLang="zh-CN" dirty="0"/>
              <a:t>TPM2_PolicyNV</a:t>
            </a:r>
            <a:r>
              <a:rPr lang="zh-CN" altLang="en-US" dirty="0"/>
              <a:t>命令。这个</a:t>
            </a:r>
            <a:r>
              <a:rPr lang="en-US" altLang="zh-CN" dirty="0"/>
              <a:t>policy</a:t>
            </a:r>
            <a:r>
              <a:rPr lang="zh-CN" altLang="en-US" dirty="0"/>
              <a:t>可以让任何人读取计数器的值。</a:t>
            </a:r>
          </a:p>
          <a:p>
            <a:pPr algn="just"/>
            <a:r>
              <a:rPr lang="en-US" altLang="zh-CN" dirty="0"/>
              <a:t>TPM2_Create</a:t>
            </a:r>
            <a:r>
              <a:rPr lang="zh-CN" altLang="en-US" dirty="0"/>
              <a:t>：创建一个密钥，密钥属性</a:t>
            </a:r>
            <a:r>
              <a:rPr lang="en-US" altLang="zh-CN" dirty="0" err="1"/>
              <a:t>userWityAuth</a:t>
            </a:r>
            <a:r>
              <a:rPr lang="zh-CN" altLang="en-US" dirty="0"/>
              <a:t>设置为</a:t>
            </a:r>
            <a:r>
              <a:rPr lang="en-US" altLang="zh-CN" dirty="0"/>
              <a:t>0</a:t>
            </a:r>
            <a:r>
              <a:rPr lang="zh-CN" altLang="en-US" dirty="0"/>
              <a:t>，这就说明必须使用</a:t>
            </a:r>
            <a:r>
              <a:rPr lang="en-US" altLang="zh-CN" dirty="0"/>
              <a:t>policy</a:t>
            </a:r>
            <a:r>
              <a:rPr lang="zh-CN" altLang="en-US" dirty="0"/>
              <a:t>授权密钥访问。</a:t>
            </a:r>
            <a:r>
              <a:rPr lang="en-US" altLang="zh-CN" dirty="0"/>
              <a:t>policy</a:t>
            </a:r>
            <a:r>
              <a:rPr lang="zh-CN" altLang="en-US" dirty="0"/>
              <a:t>创建使用</a:t>
            </a:r>
            <a:r>
              <a:rPr lang="en-US" altLang="zh-CN" dirty="0"/>
              <a:t>TPM2_PolicyNV</a:t>
            </a:r>
            <a:r>
              <a:rPr lang="zh-CN" altLang="en-US" dirty="0"/>
              <a:t>，参数为当前</a:t>
            </a:r>
            <a:r>
              <a:rPr lang="en-US" altLang="zh-CN" dirty="0"/>
              <a:t>NV</a:t>
            </a:r>
            <a:r>
              <a:rPr lang="zh-CN" altLang="en-US" dirty="0"/>
              <a:t>的值。</a:t>
            </a:r>
          </a:p>
          <a:p>
            <a:pPr algn="just"/>
            <a:r>
              <a:rPr lang="en-US" altLang="zh-CN" dirty="0"/>
              <a:t>TPM2_NV_Increment</a:t>
            </a:r>
            <a:r>
              <a:rPr lang="zh-CN" altLang="en-US" dirty="0"/>
              <a:t>：撤销密钥的使用（这个密钥撤销后，可以继续用该</a:t>
            </a:r>
            <a:r>
              <a:rPr lang="en-US" altLang="zh-CN" dirty="0"/>
              <a:t>NV</a:t>
            </a:r>
            <a:r>
              <a:rPr lang="zh-CN" altLang="en-US" dirty="0"/>
              <a:t>做类似的事情）</a:t>
            </a:r>
          </a:p>
        </p:txBody>
      </p:sp>
      <p:sp>
        <p:nvSpPr>
          <p:cNvPr id="4" name="灯片编号占位符 3">
            <a:extLst>
              <a:ext uri="{FF2B5EF4-FFF2-40B4-BE49-F238E27FC236}">
                <a16:creationId xmlns:a16="http://schemas.microsoft.com/office/drawing/2014/main" id="{854E8ECB-163D-4E0E-5550-7765B50D897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6881312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F3FD89-2902-ACB7-91FC-427F13C837AF}"/>
              </a:ext>
            </a:extLst>
          </p:cNvPr>
          <p:cNvSpPr>
            <a:spLocks noGrp="1"/>
          </p:cNvSpPr>
          <p:nvPr>
            <p:ph type="title"/>
          </p:nvPr>
        </p:nvSpPr>
        <p:spPr/>
        <p:txBody>
          <a:bodyPr/>
          <a:lstStyle/>
          <a:p>
            <a:r>
              <a:rPr lang="en-US" altLang="zh-CN" dirty="0"/>
              <a:t>NV</a:t>
            </a:r>
            <a:r>
              <a:rPr lang="zh-CN" altLang="en-US" dirty="0"/>
              <a:t>位字段索引</a:t>
            </a:r>
          </a:p>
        </p:txBody>
      </p:sp>
      <p:sp>
        <p:nvSpPr>
          <p:cNvPr id="3" name="内容占位符 2">
            <a:extLst>
              <a:ext uri="{FF2B5EF4-FFF2-40B4-BE49-F238E27FC236}">
                <a16:creationId xmlns:a16="http://schemas.microsoft.com/office/drawing/2014/main" id="{11D253A4-B5A7-6716-CD18-1A4E426A665E}"/>
              </a:ext>
            </a:extLst>
          </p:cNvPr>
          <p:cNvSpPr>
            <a:spLocks noGrp="1"/>
          </p:cNvSpPr>
          <p:nvPr>
            <p:ph idx="1"/>
          </p:nvPr>
        </p:nvSpPr>
        <p:spPr/>
        <p:txBody>
          <a:bodyPr/>
          <a:lstStyle/>
          <a:p>
            <a:pPr algn="just"/>
            <a:r>
              <a:rPr lang="zh-CN" altLang="en-US" dirty="0"/>
              <a:t>一个</a:t>
            </a:r>
            <a:r>
              <a:rPr lang="en-US" altLang="zh-CN" dirty="0"/>
              <a:t>NV</a:t>
            </a:r>
            <a:r>
              <a:rPr lang="zh-CN" altLang="en-US" dirty="0"/>
              <a:t>位字段包含</a:t>
            </a:r>
            <a:r>
              <a:rPr lang="en-US" altLang="zh-CN" dirty="0"/>
              <a:t>64</a:t>
            </a:r>
            <a:r>
              <a:rPr lang="zh-CN" altLang="en-US" dirty="0"/>
              <a:t>位，默认情况下全部初始化为</a:t>
            </a:r>
            <a:r>
              <a:rPr lang="en-US" altLang="zh-CN" dirty="0"/>
              <a:t>0</a:t>
            </a:r>
            <a:r>
              <a:rPr lang="zh-CN" altLang="en-US" dirty="0"/>
              <a:t>，但是也可以选择设置为</a:t>
            </a:r>
            <a:r>
              <a:rPr lang="en-US" altLang="zh-CN" dirty="0"/>
              <a:t>1</a:t>
            </a:r>
            <a:r>
              <a:rPr lang="zh-CN" altLang="en-US" dirty="0"/>
              <a:t>。位字段的某一位只能被写</a:t>
            </a:r>
            <a:r>
              <a:rPr lang="en-US" altLang="zh-CN" dirty="0"/>
              <a:t>1</a:t>
            </a:r>
            <a:r>
              <a:rPr lang="zh-CN" altLang="en-US" dirty="0"/>
              <a:t>而不能清</a:t>
            </a:r>
            <a:r>
              <a:rPr lang="en-US" altLang="zh-CN" dirty="0"/>
              <a:t>0</a:t>
            </a:r>
            <a:r>
              <a:rPr lang="zh-CN" altLang="en-US" dirty="0"/>
              <a:t>。</a:t>
            </a:r>
          </a:p>
        </p:txBody>
      </p:sp>
      <p:sp>
        <p:nvSpPr>
          <p:cNvPr id="4" name="灯片编号占位符 3">
            <a:extLst>
              <a:ext uri="{FF2B5EF4-FFF2-40B4-BE49-F238E27FC236}">
                <a16:creationId xmlns:a16="http://schemas.microsoft.com/office/drawing/2014/main" id="{9227B8BB-A5B6-2237-8ECF-21B014AA999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24753482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24FD6A-ED4A-B40C-AA6F-AC0E08519946}"/>
              </a:ext>
            </a:extLst>
          </p:cNvPr>
          <p:cNvSpPr>
            <a:spLocks noGrp="1"/>
          </p:cNvSpPr>
          <p:nvPr>
            <p:ph type="title"/>
          </p:nvPr>
        </p:nvSpPr>
        <p:spPr>
          <a:xfrm>
            <a:off x="381000" y="228600"/>
            <a:ext cx="6473932" cy="639763"/>
          </a:xfrm>
        </p:spPr>
        <p:txBody>
          <a:bodyPr/>
          <a:lstStyle/>
          <a:p>
            <a:r>
              <a:rPr lang="zh-CN" altLang="en-US" dirty="0"/>
              <a:t>应用案例：撤销多用户的共享密钥</a:t>
            </a:r>
          </a:p>
        </p:txBody>
      </p:sp>
      <p:sp>
        <p:nvSpPr>
          <p:cNvPr id="3" name="内容占位符 2">
            <a:extLst>
              <a:ext uri="{FF2B5EF4-FFF2-40B4-BE49-F238E27FC236}">
                <a16:creationId xmlns:a16="http://schemas.microsoft.com/office/drawing/2014/main" id="{77129517-F337-1992-53C0-46A1A572B718}"/>
              </a:ext>
            </a:extLst>
          </p:cNvPr>
          <p:cNvSpPr>
            <a:spLocks noGrp="1"/>
          </p:cNvSpPr>
          <p:nvPr>
            <p:ph idx="1"/>
          </p:nvPr>
        </p:nvSpPr>
        <p:spPr/>
        <p:txBody>
          <a:bodyPr/>
          <a:lstStyle/>
          <a:p>
            <a:pPr algn="just"/>
            <a:r>
              <a:rPr lang="zh-CN" altLang="en-US" dirty="0"/>
              <a:t>密钥持有者希望为多达</a:t>
            </a:r>
            <a:r>
              <a:rPr lang="en-US" altLang="zh-CN" dirty="0"/>
              <a:t>64</a:t>
            </a:r>
            <a:r>
              <a:rPr lang="zh-CN" altLang="en-US" dirty="0"/>
              <a:t>位用户授予和撤销对密钥的访问权限。密钥是由具有多达</a:t>
            </a:r>
            <a:r>
              <a:rPr lang="en-US" altLang="zh-CN" dirty="0"/>
              <a:t>64</a:t>
            </a:r>
            <a:r>
              <a:rPr lang="zh-CN" altLang="en-US" dirty="0"/>
              <a:t>个</a:t>
            </a:r>
            <a:r>
              <a:rPr lang="en-US" altLang="zh-CN" dirty="0"/>
              <a:t>OR</a:t>
            </a:r>
            <a:r>
              <a:rPr lang="zh-CN" altLang="en-US" dirty="0"/>
              <a:t>条件的策略创建的。每一个条件将一些特定的授权（例如生物特征或智能卡数字签名）与每个用户结合起来，并且清空指定位。通过设置非</a:t>
            </a:r>
            <a:r>
              <a:rPr lang="en-US" altLang="zh-CN" dirty="0"/>
              <a:t>NV</a:t>
            </a:r>
            <a:r>
              <a:rPr lang="zh-CN" altLang="en-US" dirty="0"/>
              <a:t>位字段中的位来撤销用户密钥。当设置</a:t>
            </a:r>
            <a:r>
              <a:rPr lang="en-US" altLang="zh-CN" dirty="0"/>
              <a:t>NV</a:t>
            </a:r>
            <a:r>
              <a:rPr lang="zh-CN" altLang="en-US" dirty="0"/>
              <a:t>位域的某一位之后就可以撤销对应用户对这个密钥的使用权限，因为他再也得不到正确的</a:t>
            </a:r>
            <a:r>
              <a:rPr lang="en-US" altLang="zh-CN" dirty="0"/>
              <a:t>policy</a:t>
            </a:r>
            <a:r>
              <a:rPr lang="zh-CN" altLang="en-US" dirty="0"/>
              <a:t>了。</a:t>
            </a:r>
          </a:p>
          <a:p>
            <a:endParaRPr lang="zh-CN" altLang="en-US" dirty="0"/>
          </a:p>
        </p:txBody>
      </p:sp>
      <p:sp>
        <p:nvSpPr>
          <p:cNvPr id="4" name="灯片编号占位符 3">
            <a:extLst>
              <a:ext uri="{FF2B5EF4-FFF2-40B4-BE49-F238E27FC236}">
                <a16:creationId xmlns:a16="http://schemas.microsoft.com/office/drawing/2014/main" id="{C2CC0796-0F34-2BE2-D082-AE87FF3A733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29762954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8E1688-6B8F-71C4-5D15-EB49F64FF9EF}"/>
              </a:ext>
            </a:extLst>
          </p:cNvPr>
          <p:cNvSpPr>
            <a:spLocks noGrp="1"/>
          </p:cNvSpPr>
          <p:nvPr>
            <p:ph type="title"/>
          </p:nvPr>
        </p:nvSpPr>
        <p:spPr/>
        <p:txBody>
          <a:bodyPr/>
          <a:lstStyle/>
          <a:p>
            <a:r>
              <a:rPr lang="zh-CN" altLang="en-US" dirty="0"/>
              <a:t>相关命令</a:t>
            </a:r>
          </a:p>
        </p:txBody>
      </p:sp>
      <p:sp>
        <p:nvSpPr>
          <p:cNvPr id="3" name="内容占位符 2">
            <a:extLst>
              <a:ext uri="{FF2B5EF4-FFF2-40B4-BE49-F238E27FC236}">
                <a16:creationId xmlns:a16="http://schemas.microsoft.com/office/drawing/2014/main" id="{31D9F99F-6658-82AD-B384-0DB3C902EAA3}"/>
              </a:ext>
            </a:extLst>
          </p:cNvPr>
          <p:cNvSpPr>
            <a:spLocks noGrp="1"/>
          </p:cNvSpPr>
          <p:nvPr>
            <p:ph idx="1"/>
          </p:nvPr>
        </p:nvSpPr>
        <p:spPr/>
        <p:txBody>
          <a:bodyPr/>
          <a:lstStyle/>
          <a:p>
            <a:pPr algn="just"/>
            <a:r>
              <a:rPr lang="en-US" altLang="zh-CN" dirty="0"/>
              <a:t>TPM2_NV_DefineSpace</a:t>
            </a:r>
            <a:r>
              <a:rPr lang="zh-CN" altLang="en-US" dirty="0"/>
              <a:t>：参数包括位字段索引，密钥持有者的口令，以及用于写操作的口令和用于读操作的策略。策略</a:t>
            </a:r>
            <a:r>
              <a:rPr lang="en-US" altLang="zh-CN" dirty="0"/>
              <a:t>TPM2_PolicyCommandCode</a:t>
            </a:r>
            <a:r>
              <a:rPr lang="zh-CN" altLang="en-US" dirty="0"/>
              <a:t>是由命令</a:t>
            </a:r>
            <a:r>
              <a:rPr lang="en-US" altLang="zh-CN" dirty="0"/>
              <a:t>TPM2_PolicyNV</a:t>
            </a:r>
            <a:r>
              <a:rPr lang="zh-CN" altLang="en-US" dirty="0"/>
              <a:t>创建的。该策略允许任何人在没有授权的情况下在策略中使用索引。</a:t>
            </a:r>
          </a:p>
          <a:p>
            <a:pPr algn="just"/>
            <a:r>
              <a:rPr lang="en-US" altLang="zh-CN" dirty="0"/>
              <a:t>TPM2_Create</a:t>
            </a:r>
            <a:r>
              <a:rPr lang="zh-CN" altLang="en-US" dirty="0"/>
              <a:t>：创建一个密钥，密钥属性</a:t>
            </a:r>
            <a:r>
              <a:rPr lang="en-US" altLang="zh-CN" dirty="0" err="1"/>
              <a:t>userWithAuth</a:t>
            </a:r>
            <a:r>
              <a:rPr lang="zh-CN" altLang="en-US" dirty="0"/>
              <a:t>设置为</a:t>
            </a:r>
            <a:r>
              <a:rPr lang="en-US" altLang="zh-CN" dirty="0"/>
              <a:t>0</a:t>
            </a:r>
            <a:r>
              <a:rPr lang="zh-CN" altLang="en-US" dirty="0"/>
              <a:t>，说明必须使用</a:t>
            </a:r>
            <a:r>
              <a:rPr lang="en-US" altLang="zh-CN" dirty="0"/>
              <a:t>policy</a:t>
            </a:r>
            <a:r>
              <a:rPr lang="zh-CN" altLang="en-US" dirty="0"/>
              <a:t>授权密钥访问。</a:t>
            </a:r>
            <a:r>
              <a:rPr lang="en-US" altLang="zh-CN" dirty="0"/>
              <a:t>policy</a:t>
            </a:r>
            <a:r>
              <a:rPr lang="zh-CN" altLang="en-US" dirty="0"/>
              <a:t>创建使用</a:t>
            </a:r>
            <a:r>
              <a:rPr lang="en-US" altLang="zh-CN" dirty="0"/>
              <a:t>TPM2_PolicyNV</a:t>
            </a:r>
            <a:r>
              <a:rPr lang="zh-CN" altLang="en-US" dirty="0"/>
              <a:t>，参数为</a:t>
            </a:r>
            <a:r>
              <a:rPr lang="en-US" altLang="zh-CN" dirty="0"/>
              <a:t>TPM_EO_BITCLEAR</a:t>
            </a:r>
            <a:r>
              <a:rPr lang="zh-CN" altLang="en-US" dirty="0"/>
              <a:t>。</a:t>
            </a:r>
          </a:p>
          <a:p>
            <a:pPr algn="just"/>
            <a:r>
              <a:rPr lang="en-US" altLang="zh-CN" dirty="0"/>
              <a:t>TPM2_NV_SetBits</a:t>
            </a:r>
            <a:r>
              <a:rPr lang="zh-CN" altLang="en-US" dirty="0"/>
              <a:t>：设置给某一个用户分配的</a:t>
            </a:r>
            <a:r>
              <a:rPr lang="en-US" altLang="zh-CN" dirty="0"/>
              <a:t>NV</a:t>
            </a:r>
            <a:r>
              <a:rPr lang="zh-CN" altLang="en-US" dirty="0"/>
              <a:t>索引位，这样就撤销了这个用户的使用权限。</a:t>
            </a:r>
          </a:p>
        </p:txBody>
      </p:sp>
      <p:sp>
        <p:nvSpPr>
          <p:cNvPr id="4" name="灯片编号占位符 3">
            <a:extLst>
              <a:ext uri="{FF2B5EF4-FFF2-40B4-BE49-F238E27FC236}">
                <a16:creationId xmlns:a16="http://schemas.microsoft.com/office/drawing/2014/main" id="{BC47E467-7D75-578A-C228-FDDD54FDAF0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33136875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78EC8-3013-3387-9466-FFF90B18D8A1}"/>
              </a:ext>
            </a:extLst>
          </p:cNvPr>
          <p:cNvSpPr>
            <a:spLocks noGrp="1"/>
          </p:cNvSpPr>
          <p:nvPr>
            <p:ph type="title"/>
          </p:nvPr>
        </p:nvSpPr>
        <p:spPr/>
        <p:txBody>
          <a:bodyPr/>
          <a:lstStyle/>
          <a:p>
            <a:r>
              <a:rPr lang="en-US" altLang="zh-CN" dirty="0"/>
              <a:t>NV</a:t>
            </a:r>
            <a:r>
              <a:rPr lang="zh-CN" altLang="en-US" dirty="0"/>
              <a:t>扩展索引</a:t>
            </a:r>
          </a:p>
        </p:txBody>
      </p:sp>
      <p:sp>
        <p:nvSpPr>
          <p:cNvPr id="3" name="内容占位符 2">
            <a:extLst>
              <a:ext uri="{FF2B5EF4-FFF2-40B4-BE49-F238E27FC236}">
                <a16:creationId xmlns:a16="http://schemas.microsoft.com/office/drawing/2014/main" id="{3C470897-2AE9-C533-A179-EA6684DBB9D8}"/>
              </a:ext>
            </a:extLst>
          </p:cNvPr>
          <p:cNvSpPr>
            <a:spLocks noGrp="1"/>
          </p:cNvSpPr>
          <p:nvPr>
            <p:ph idx="1"/>
          </p:nvPr>
        </p:nvSpPr>
        <p:spPr/>
        <p:txBody>
          <a:bodyPr/>
          <a:lstStyle/>
          <a:p>
            <a:pPr algn="just"/>
            <a:r>
              <a:rPr lang="zh-CN" altLang="en-US" dirty="0"/>
              <a:t>扩展索引是由特定的哈希算法定义的，并且有固定的索引生命期。索引对应</a:t>
            </a:r>
            <a:r>
              <a:rPr lang="en-US" altLang="zh-CN" dirty="0"/>
              <a:t>NV</a:t>
            </a:r>
            <a:r>
              <a:rPr lang="zh-CN" altLang="en-US" dirty="0"/>
              <a:t>区域的大小与哈希算法的输出相对应。</a:t>
            </a:r>
            <a:r>
              <a:rPr lang="en-US" altLang="zh-CN" dirty="0"/>
              <a:t>NV</a:t>
            </a:r>
            <a:r>
              <a:rPr lang="zh-CN" altLang="en-US" dirty="0"/>
              <a:t>区域会被初始化为全</a:t>
            </a:r>
            <a:r>
              <a:rPr lang="en-US" altLang="zh-CN" dirty="0"/>
              <a:t>0</a:t>
            </a:r>
            <a:r>
              <a:rPr lang="zh-CN" altLang="en-US" dirty="0"/>
              <a:t>。对这个</a:t>
            </a:r>
            <a:r>
              <a:rPr lang="en-US" altLang="zh-CN" dirty="0"/>
              <a:t>NV</a:t>
            </a:r>
            <a:r>
              <a:rPr lang="zh-CN" altLang="en-US" dirty="0"/>
              <a:t>区域的写操作是一个扩展操作，与</a:t>
            </a:r>
            <a:r>
              <a:rPr lang="en-US" altLang="zh-CN" dirty="0"/>
              <a:t>PCR</a:t>
            </a:r>
            <a:r>
              <a:rPr lang="zh-CN" altLang="en-US" dirty="0"/>
              <a:t>的操作类似。</a:t>
            </a:r>
          </a:p>
          <a:p>
            <a:endParaRPr lang="zh-CN" altLang="en-US" dirty="0"/>
          </a:p>
          <a:p>
            <a:pPr algn="just"/>
            <a:r>
              <a:rPr lang="zh-CN" altLang="en-US" dirty="0"/>
              <a:t>扩展索引最可能的应用案例就是与混合索引结合来创建灵活的</a:t>
            </a:r>
            <a:r>
              <a:rPr lang="en-US" altLang="zh-CN" dirty="0"/>
              <a:t>PCR</a:t>
            </a:r>
            <a:r>
              <a:rPr lang="zh-CN" altLang="en-US" dirty="0"/>
              <a:t>，后面的“混合索引”将会介绍。另外一个应用案例就是安全审计记录，因为扩展的操作可以创建一个无法篡改的密码保护历史记录。</a:t>
            </a:r>
            <a:endParaRPr lang="en-US" altLang="zh-CN" dirty="0"/>
          </a:p>
          <a:p>
            <a:pPr algn="just"/>
            <a:endParaRPr lang="en-US" altLang="zh-CN" dirty="0"/>
          </a:p>
          <a:p>
            <a:pPr algn="just"/>
            <a:r>
              <a:rPr lang="zh-CN" altLang="en-US" dirty="0">
                <a:solidFill>
                  <a:srgbClr val="FF0000"/>
                </a:solidFill>
              </a:rPr>
              <a:t>扩展索引本质上是一种哈希链。</a:t>
            </a:r>
          </a:p>
        </p:txBody>
      </p:sp>
      <p:sp>
        <p:nvSpPr>
          <p:cNvPr id="4" name="灯片编号占位符 3">
            <a:extLst>
              <a:ext uri="{FF2B5EF4-FFF2-40B4-BE49-F238E27FC236}">
                <a16:creationId xmlns:a16="http://schemas.microsoft.com/office/drawing/2014/main" id="{229B7DBF-681A-8C76-26E7-D286836E4D3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29111458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34C62E-7309-1074-ABBE-F4DAA6E9BC54}"/>
              </a:ext>
            </a:extLst>
          </p:cNvPr>
          <p:cNvSpPr>
            <a:spLocks noGrp="1"/>
          </p:cNvSpPr>
          <p:nvPr>
            <p:ph type="title"/>
          </p:nvPr>
        </p:nvSpPr>
        <p:spPr/>
        <p:txBody>
          <a:bodyPr/>
          <a:lstStyle/>
          <a:p>
            <a:r>
              <a:rPr lang="en-US" altLang="zh-CN" dirty="0"/>
              <a:t>CA</a:t>
            </a:r>
            <a:r>
              <a:rPr lang="zh-CN" altLang="en-US" dirty="0"/>
              <a:t>密钥使用的安全审计日志</a:t>
            </a:r>
          </a:p>
        </p:txBody>
      </p:sp>
      <p:sp>
        <p:nvSpPr>
          <p:cNvPr id="3" name="内容占位符 2">
            <a:extLst>
              <a:ext uri="{FF2B5EF4-FFF2-40B4-BE49-F238E27FC236}">
                <a16:creationId xmlns:a16="http://schemas.microsoft.com/office/drawing/2014/main" id="{686A7615-CB0E-C040-A4E1-AAB30FEA70BA}"/>
              </a:ext>
            </a:extLst>
          </p:cNvPr>
          <p:cNvSpPr>
            <a:spLocks noGrp="1"/>
          </p:cNvSpPr>
          <p:nvPr>
            <p:ph idx="1"/>
          </p:nvPr>
        </p:nvSpPr>
        <p:spPr/>
        <p:txBody>
          <a:bodyPr/>
          <a:lstStyle/>
          <a:p>
            <a:r>
              <a:rPr lang="zh-CN" altLang="en-US" dirty="0"/>
              <a:t>一个证书授权中心想要记录每次用来签署证书的密钥使用情况，同时也希望能够检测记录在磁盘上的日志是否已被更改。它就可以通过策略创建一个独占写权限的</a:t>
            </a:r>
            <a:r>
              <a:rPr lang="en-US" altLang="zh-CN" dirty="0"/>
              <a:t>NV</a:t>
            </a:r>
            <a:r>
              <a:rPr lang="zh-CN" altLang="en-US" dirty="0"/>
              <a:t>扩展索引。</a:t>
            </a:r>
          </a:p>
          <a:p>
            <a:endParaRPr lang="zh-CN" altLang="en-US" dirty="0"/>
          </a:p>
          <a:p>
            <a:r>
              <a:rPr lang="zh-CN" altLang="en-US" dirty="0"/>
              <a:t>每次</a:t>
            </a:r>
            <a:r>
              <a:rPr lang="en-US" altLang="zh-CN" dirty="0"/>
              <a:t>CA</a:t>
            </a:r>
            <a:r>
              <a:rPr lang="zh-CN" altLang="en-US" dirty="0"/>
              <a:t>签名一个新的证书时，它会记录证书并将证书的摘要扩展到</a:t>
            </a:r>
            <a:r>
              <a:rPr lang="en-US" altLang="zh-CN" dirty="0"/>
              <a:t>NV</a:t>
            </a:r>
            <a:r>
              <a:rPr lang="zh-CN" altLang="en-US" dirty="0"/>
              <a:t>索引中。为了验证最终的记录结果，</a:t>
            </a:r>
            <a:r>
              <a:rPr lang="en-US" altLang="zh-CN" dirty="0"/>
              <a:t>CA</a:t>
            </a:r>
            <a:r>
              <a:rPr lang="zh-CN" altLang="en-US" dirty="0"/>
              <a:t>会遍历证书并用扩展操作重新创建记录，然后与</a:t>
            </a:r>
            <a:r>
              <a:rPr lang="en-US" altLang="zh-CN" dirty="0"/>
              <a:t>NV</a:t>
            </a:r>
            <a:r>
              <a:rPr lang="zh-CN" altLang="en-US" dirty="0"/>
              <a:t>索引中的值进行比较。为了达到更加安全的目的，</a:t>
            </a:r>
            <a:r>
              <a:rPr lang="en-US" altLang="zh-CN" dirty="0"/>
              <a:t>CA</a:t>
            </a:r>
            <a:r>
              <a:rPr lang="zh-CN" altLang="en-US" dirty="0"/>
              <a:t>还可以越过</a:t>
            </a:r>
            <a:r>
              <a:rPr lang="en-US" altLang="zh-CN" dirty="0"/>
              <a:t>NV</a:t>
            </a:r>
            <a:r>
              <a:rPr lang="zh-CN" altLang="en-US" dirty="0"/>
              <a:t>索引值直接得到签名。</a:t>
            </a:r>
          </a:p>
        </p:txBody>
      </p:sp>
      <p:sp>
        <p:nvSpPr>
          <p:cNvPr id="4" name="灯片编号占位符 3">
            <a:extLst>
              <a:ext uri="{FF2B5EF4-FFF2-40B4-BE49-F238E27FC236}">
                <a16:creationId xmlns:a16="http://schemas.microsoft.com/office/drawing/2014/main" id="{E15E5364-A966-C06F-15DF-1E2FBD9C14F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37622098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CF9982-3622-1E5E-254A-6811604E04C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06B5A6A-4C9F-C2EA-EEDA-23378A0C2666}"/>
              </a:ext>
            </a:extLst>
          </p:cNvPr>
          <p:cNvSpPr>
            <a:spLocks noGrp="1"/>
          </p:cNvSpPr>
          <p:nvPr>
            <p:ph idx="1"/>
          </p:nvPr>
        </p:nvSpPr>
        <p:spPr/>
        <p:txBody>
          <a:bodyPr/>
          <a:lstStyle/>
          <a:p>
            <a:r>
              <a:rPr lang="en-US" altLang="zh-CN" dirty="0"/>
              <a:t>TPM2_NV_DefineSpace</a:t>
            </a:r>
            <a:r>
              <a:rPr lang="zh-CN" altLang="en-US" dirty="0"/>
              <a:t>：参数包括扩展索引、</a:t>
            </a:r>
            <a:r>
              <a:rPr lang="en-US" altLang="zh-CN" dirty="0"/>
              <a:t>CA</a:t>
            </a:r>
            <a:r>
              <a:rPr lang="zh-CN" altLang="en-US" dirty="0"/>
              <a:t>具有权限的写策略，以及任何人都可以读的</a:t>
            </a:r>
            <a:r>
              <a:rPr lang="en-US" altLang="zh-CN" dirty="0"/>
              <a:t>policy</a:t>
            </a:r>
            <a:r>
              <a:rPr lang="zh-CN" altLang="en-US" dirty="0"/>
              <a:t>，</a:t>
            </a:r>
            <a:r>
              <a:rPr lang="en-US" altLang="zh-CN" dirty="0"/>
              <a:t>CA</a:t>
            </a:r>
            <a:r>
              <a:rPr lang="zh-CN" altLang="en-US" dirty="0"/>
              <a:t>签发的证书、在审计日志中记录的证书、证书摘要。</a:t>
            </a:r>
            <a:endParaRPr lang="en-US" altLang="zh-CN" dirty="0"/>
          </a:p>
          <a:p>
            <a:endParaRPr lang="zh-CN" altLang="en-US" dirty="0"/>
          </a:p>
          <a:p>
            <a:r>
              <a:rPr lang="en-US" altLang="zh-CN" dirty="0"/>
              <a:t>TPM2_NV_Extend</a:t>
            </a:r>
            <a:r>
              <a:rPr lang="zh-CN" altLang="en-US" dirty="0"/>
              <a:t>：将摘要增加到</a:t>
            </a:r>
            <a:r>
              <a:rPr lang="en-US" altLang="zh-CN" dirty="0"/>
              <a:t>NV</a:t>
            </a:r>
            <a:r>
              <a:rPr lang="zh-CN" altLang="en-US" dirty="0"/>
              <a:t>审计日志。如果证书足够小，则可以直接扩展。但是由于在</a:t>
            </a:r>
            <a:r>
              <a:rPr lang="en-US" altLang="zh-CN" dirty="0"/>
              <a:t>TPM</a:t>
            </a:r>
            <a:r>
              <a:rPr lang="zh-CN" altLang="en-US" dirty="0"/>
              <a:t>之外做哈希可能会更快，因为只需要扩展一个摘要值即可。</a:t>
            </a:r>
          </a:p>
        </p:txBody>
      </p:sp>
      <p:sp>
        <p:nvSpPr>
          <p:cNvPr id="4" name="灯片编号占位符 3">
            <a:extLst>
              <a:ext uri="{FF2B5EF4-FFF2-40B4-BE49-F238E27FC236}">
                <a16:creationId xmlns:a16="http://schemas.microsoft.com/office/drawing/2014/main" id="{C9573590-2ED2-292C-1E9F-C62C56632C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19699567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03923-9338-E11F-C1A9-485A8CBD2E62}"/>
              </a:ext>
            </a:extLst>
          </p:cNvPr>
          <p:cNvSpPr>
            <a:spLocks noGrp="1"/>
          </p:cNvSpPr>
          <p:nvPr>
            <p:ph type="title"/>
          </p:nvPr>
        </p:nvSpPr>
        <p:spPr/>
        <p:txBody>
          <a:bodyPr/>
          <a:lstStyle/>
          <a:p>
            <a:r>
              <a:rPr lang="zh-CN" altLang="en-US" dirty="0"/>
              <a:t>混合索引</a:t>
            </a:r>
          </a:p>
        </p:txBody>
      </p:sp>
      <p:sp>
        <p:nvSpPr>
          <p:cNvPr id="3" name="内容占位符 2">
            <a:extLst>
              <a:ext uri="{FF2B5EF4-FFF2-40B4-BE49-F238E27FC236}">
                <a16:creationId xmlns:a16="http://schemas.microsoft.com/office/drawing/2014/main" id="{DD6F3B29-B2EA-16F0-2EE6-3733087535E8}"/>
              </a:ext>
            </a:extLst>
          </p:cNvPr>
          <p:cNvSpPr>
            <a:spLocks noGrp="1"/>
          </p:cNvSpPr>
          <p:nvPr>
            <p:ph idx="1"/>
          </p:nvPr>
        </p:nvSpPr>
        <p:spPr/>
        <p:txBody>
          <a:bodyPr/>
          <a:lstStyle/>
          <a:p>
            <a:r>
              <a:rPr lang="en-US" altLang="zh-CN" dirty="0"/>
              <a:t>TPM2.0</a:t>
            </a:r>
            <a:r>
              <a:rPr lang="zh-CN" altLang="en-US" dirty="0"/>
              <a:t>在</a:t>
            </a:r>
            <a:r>
              <a:rPr lang="en-US" altLang="zh-CN" dirty="0"/>
              <a:t>NV</a:t>
            </a:r>
            <a:r>
              <a:rPr lang="zh-CN" altLang="en-US" dirty="0"/>
              <a:t>方面的另外一个新特性就是混合索引。</a:t>
            </a:r>
            <a:r>
              <a:rPr lang="en-US" altLang="zh-CN" dirty="0"/>
              <a:t>NV</a:t>
            </a:r>
            <a:r>
              <a:rPr lang="zh-CN" altLang="en-US" dirty="0"/>
              <a:t>索引元数据（索引句柄，大小、属性、策略和口令）都是非易失性的，而混合索引数据是在易失性存储器中创建的。除了混合计数器（后面会介绍），索引数据只有在关闭</a:t>
            </a:r>
            <a:r>
              <a:rPr lang="en-US" altLang="zh-CN" dirty="0"/>
              <a:t>TPM</a:t>
            </a:r>
            <a:r>
              <a:rPr lang="zh-CN" altLang="en-US" dirty="0"/>
              <a:t>时才会被写到</a:t>
            </a:r>
            <a:r>
              <a:rPr lang="en-US" altLang="zh-CN" dirty="0"/>
              <a:t>NV</a:t>
            </a:r>
            <a:r>
              <a:rPr lang="zh-CN" altLang="en-US" dirty="0"/>
              <a:t>区域中。四种索引类型（普通，计数器，位字段，或者扩展）都可以成为混合索引。</a:t>
            </a:r>
            <a:endParaRPr lang="en-US" altLang="zh-CN" dirty="0"/>
          </a:p>
          <a:p>
            <a:endParaRPr lang="en-US" altLang="zh-CN" dirty="0"/>
          </a:p>
          <a:p>
            <a:r>
              <a:rPr lang="zh-CN" altLang="en-US" dirty="0"/>
              <a:t>当上层应用程序希望频繁写操作时，混合索引可能才是适用的。由于非易失性存储技术往往是带来存储介质的损耗（类似固态硬盘），</a:t>
            </a:r>
            <a:r>
              <a:rPr lang="en-US" altLang="zh-CN" dirty="0"/>
              <a:t>TPM</a:t>
            </a:r>
            <a:r>
              <a:rPr lang="zh-CN" altLang="en-US" dirty="0"/>
              <a:t>可以通过拒绝频繁写操作保护自己。而易失性存储器不存在耗损问题，因此可以根据需要编写混合索引。</a:t>
            </a:r>
            <a:endParaRPr lang="en-US" altLang="zh-CN" dirty="0"/>
          </a:p>
          <a:p>
            <a:r>
              <a:rPr lang="zh-CN" altLang="en-US" dirty="0">
                <a:solidFill>
                  <a:srgbClr val="FF0000"/>
                </a:solidFill>
              </a:rPr>
              <a:t>混合索引主要强调索引数据存储在易失性存储中。</a:t>
            </a:r>
          </a:p>
        </p:txBody>
      </p:sp>
      <p:sp>
        <p:nvSpPr>
          <p:cNvPr id="4" name="灯片编号占位符 3">
            <a:extLst>
              <a:ext uri="{FF2B5EF4-FFF2-40B4-BE49-F238E27FC236}">
                <a16:creationId xmlns:a16="http://schemas.microsoft.com/office/drawing/2014/main" id="{003B65BC-76AD-DFB4-5A58-B73122F156D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3313205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8F0661-3EC8-0E22-14E1-5FA0077FC2EE}"/>
              </a:ext>
            </a:extLst>
          </p:cNvPr>
          <p:cNvSpPr>
            <a:spLocks noGrp="1"/>
          </p:cNvSpPr>
          <p:nvPr>
            <p:ph type="title"/>
          </p:nvPr>
        </p:nvSpPr>
        <p:spPr/>
        <p:txBody>
          <a:bodyPr/>
          <a:lstStyle/>
          <a:p>
            <a:r>
              <a:rPr lang="zh-CN" altLang="en-US" dirty="0">
                <a:solidFill>
                  <a:srgbClr val="FF0000"/>
                </a:solidFill>
              </a:rPr>
              <a:t>案例：增加</a:t>
            </a:r>
            <a:r>
              <a:rPr lang="en-US" altLang="zh-CN" dirty="0">
                <a:solidFill>
                  <a:srgbClr val="FF0000"/>
                </a:solidFill>
              </a:rPr>
              <a:t>PCR</a:t>
            </a:r>
            <a:r>
              <a:rPr lang="zh-CN" altLang="en-US" dirty="0">
                <a:solidFill>
                  <a:srgbClr val="FF0000"/>
                </a:solidFill>
              </a:rPr>
              <a:t>数量</a:t>
            </a:r>
          </a:p>
        </p:txBody>
      </p:sp>
      <p:sp>
        <p:nvSpPr>
          <p:cNvPr id="3" name="内容占位符 2">
            <a:extLst>
              <a:ext uri="{FF2B5EF4-FFF2-40B4-BE49-F238E27FC236}">
                <a16:creationId xmlns:a16="http://schemas.microsoft.com/office/drawing/2014/main" id="{09E42F08-56B9-DC01-732A-4B3D9E22CC37}"/>
              </a:ext>
            </a:extLst>
          </p:cNvPr>
          <p:cNvSpPr>
            <a:spLocks noGrp="1"/>
          </p:cNvSpPr>
          <p:nvPr>
            <p:ph idx="1"/>
          </p:nvPr>
        </p:nvSpPr>
        <p:spPr/>
        <p:txBody>
          <a:bodyPr/>
          <a:lstStyle/>
          <a:p>
            <a:r>
              <a:rPr lang="en-US" altLang="zh-CN" dirty="0"/>
              <a:t>PC</a:t>
            </a:r>
            <a:r>
              <a:rPr lang="zh-CN" altLang="en-US" dirty="0"/>
              <a:t>客户端平台的</a:t>
            </a:r>
            <a:r>
              <a:rPr lang="en-US" altLang="zh-CN" dirty="0"/>
              <a:t>TPM</a:t>
            </a:r>
            <a:r>
              <a:rPr lang="zh-CN" altLang="en-US" dirty="0"/>
              <a:t>厂商通常只提供</a:t>
            </a:r>
            <a:r>
              <a:rPr lang="en-US" altLang="zh-CN" dirty="0"/>
              <a:t>24</a:t>
            </a:r>
            <a:r>
              <a:rPr lang="zh-CN" altLang="en-US" dirty="0"/>
              <a:t>个</a:t>
            </a:r>
            <a:r>
              <a:rPr lang="en-US" altLang="zh-CN" dirty="0"/>
              <a:t>PCR</a:t>
            </a:r>
            <a:r>
              <a:rPr lang="zh-CN" altLang="en-US" dirty="0"/>
              <a:t>，可以利用混合索引增加平台</a:t>
            </a:r>
            <a:r>
              <a:rPr lang="en-US" altLang="zh-CN" dirty="0"/>
              <a:t>PCR</a:t>
            </a:r>
            <a:r>
              <a:rPr lang="zh-CN" altLang="en-US" dirty="0"/>
              <a:t>的数量。因为对于</a:t>
            </a:r>
            <a:r>
              <a:rPr lang="en-US" altLang="zh-CN" dirty="0"/>
              <a:t>TPM</a:t>
            </a:r>
            <a:r>
              <a:rPr lang="zh-CN" altLang="en-US" dirty="0"/>
              <a:t>内置的</a:t>
            </a:r>
            <a:r>
              <a:rPr lang="en-US" altLang="zh-CN" dirty="0"/>
              <a:t>PCR</a:t>
            </a:r>
            <a:r>
              <a:rPr lang="zh-CN" altLang="en-US" dirty="0"/>
              <a:t>来说，</a:t>
            </a:r>
            <a:r>
              <a:rPr lang="en-US" altLang="zh-CN" dirty="0"/>
              <a:t>PCR</a:t>
            </a:r>
            <a:r>
              <a:rPr lang="zh-CN" altLang="en-US" dirty="0"/>
              <a:t>的索引在上电周期之间是保持不变的，但是</a:t>
            </a:r>
            <a:r>
              <a:rPr lang="en-US" altLang="zh-CN" dirty="0"/>
              <a:t>PCR</a:t>
            </a:r>
            <a:r>
              <a:rPr lang="zh-CN" altLang="en-US" dirty="0"/>
              <a:t>的值在重新上电后会被清零。这看起来和普通的易失性内存并没有本质区别，也就意味着可以利用易失性存储中的混合索引来模拟构造</a:t>
            </a:r>
            <a:r>
              <a:rPr lang="en-US" altLang="zh-CN" dirty="0"/>
              <a:t>PCR</a:t>
            </a:r>
            <a:r>
              <a:rPr lang="zh-CN" altLang="en-US" dirty="0"/>
              <a:t>。</a:t>
            </a:r>
            <a:endParaRPr lang="en-US" altLang="zh-CN" dirty="0"/>
          </a:p>
          <a:p>
            <a:r>
              <a:rPr lang="zh-CN" altLang="en-US" dirty="0"/>
              <a:t>操作命令：</a:t>
            </a:r>
            <a:endParaRPr lang="en-US" altLang="zh-CN" dirty="0"/>
          </a:p>
          <a:p>
            <a:r>
              <a:rPr lang="en-US" altLang="zh-CN" dirty="0"/>
              <a:t>TPM2_NV_DefineSpace</a:t>
            </a:r>
            <a:r>
              <a:rPr lang="zh-CN" altLang="en-US" dirty="0"/>
              <a:t>：参数包括混合索引，空口令。可以构造任何人可以读写的混合索引。</a:t>
            </a:r>
          </a:p>
          <a:p>
            <a:r>
              <a:rPr lang="en-US" altLang="zh-CN" dirty="0"/>
              <a:t>TPM2_NV_Extend</a:t>
            </a:r>
            <a:r>
              <a:rPr lang="zh-CN" altLang="en-US" dirty="0"/>
              <a:t>：等同于</a:t>
            </a:r>
            <a:r>
              <a:rPr lang="en-US" altLang="zh-CN" dirty="0"/>
              <a:t>TPM2_PCR_Extend.</a:t>
            </a:r>
            <a:endParaRPr lang="zh-CN" altLang="en-US" dirty="0"/>
          </a:p>
        </p:txBody>
      </p:sp>
      <p:sp>
        <p:nvSpPr>
          <p:cNvPr id="4" name="灯片编号占位符 3">
            <a:extLst>
              <a:ext uri="{FF2B5EF4-FFF2-40B4-BE49-F238E27FC236}">
                <a16:creationId xmlns:a16="http://schemas.microsoft.com/office/drawing/2014/main" id="{C3E4D150-32F2-6E23-FFC3-775DB1B76E8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408611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08B51-79A2-0311-CF87-B445B22F75A9}"/>
              </a:ext>
            </a:extLst>
          </p:cNvPr>
          <p:cNvSpPr>
            <a:spLocks noGrp="1"/>
          </p:cNvSpPr>
          <p:nvPr>
            <p:ph type="title"/>
          </p:nvPr>
        </p:nvSpPr>
        <p:spPr/>
        <p:txBody>
          <a:bodyPr/>
          <a:lstStyle/>
          <a:p>
            <a:r>
              <a:rPr lang="zh-CN" altLang="en-US" dirty="0"/>
              <a:t>案例：构造不同属性的</a:t>
            </a:r>
            <a:r>
              <a:rPr lang="en-US" altLang="zh-CN" dirty="0"/>
              <a:t>PCR</a:t>
            </a:r>
            <a:endParaRPr lang="zh-CN" altLang="en-US" dirty="0"/>
          </a:p>
        </p:txBody>
      </p:sp>
      <p:sp>
        <p:nvSpPr>
          <p:cNvPr id="3" name="内容占位符 2">
            <a:extLst>
              <a:ext uri="{FF2B5EF4-FFF2-40B4-BE49-F238E27FC236}">
                <a16:creationId xmlns:a16="http://schemas.microsoft.com/office/drawing/2014/main" id="{DCA608F2-A017-4AD0-3F97-F9E670BDAEA2}"/>
              </a:ext>
            </a:extLst>
          </p:cNvPr>
          <p:cNvSpPr>
            <a:spLocks noGrp="1"/>
          </p:cNvSpPr>
          <p:nvPr>
            <p:ph idx="1"/>
          </p:nvPr>
        </p:nvSpPr>
        <p:spPr/>
        <p:txBody>
          <a:bodyPr/>
          <a:lstStyle/>
          <a:p>
            <a:r>
              <a:rPr lang="zh-CN" altLang="en-US" dirty="0"/>
              <a:t>一个应用可能想要使用一个</a:t>
            </a:r>
            <a:r>
              <a:rPr lang="en-US" altLang="zh-CN" dirty="0"/>
              <a:t>PCR</a:t>
            </a:r>
            <a:r>
              <a:rPr lang="zh-CN" altLang="en-US" dirty="0"/>
              <a:t>，但是标准的</a:t>
            </a:r>
            <a:r>
              <a:rPr lang="en-US" altLang="zh-CN" dirty="0"/>
              <a:t>PCR</a:t>
            </a:r>
            <a:r>
              <a:rPr lang="zh-CN" altLang="en-US" dirty="0"/>
              <a:t>有平台设置的固定属性。比如说，操作系统可能想限制某一个</a:t>
            </a:r>
            <a:r>
              <a:rPr lang="en-US" altLang="zh-CN" dirty="0"/>
              <a:t>PCR</a:t>
            </a:r>
            <a:r>
              <a:rPr lang="zh-CN" altLang="en-US" dirty="0"/>
              <a:t>的访问，应用可能想限制</a:t>
            </a:r>
            <a:r>
              <a:rPr lang="en-US" altLang="zh-CN" dirty="0"/>
              <a:t>PCR</a:t>
            </a:r>
            <a:r>
              <a:rPr lang="zh-CN" altLang="en-US" dirty="0"/>
              <a:t>的授权，应用可能想用与当前</a:t>
            </a:r>
            <a:r>
              <a:rPr lang="en-US" altLang="zh-CN" dirty="0"/>
              <a:t>PCR</a:t>
            </a:r>
            <a:r>
              <a:rPr lang="zh-CN" altLang="en-US" dirty="0"/>
              <a:t>不同的哈希算法，或者应用想要限制只能通过扩展的</a:t>
            </a:r>
            <a:r>
              <a:rPr lang="en-US" altLang="zh-CN" dirty="0"/>
              <a:t>locality</a:t>
            </a:r>
            <a:r>
              <a:rPr lang="zh-CN" altLang="en-US" dirty="0"/>
              <a:t>来更新</a:t>
            </a:r>
            <a:r>
              <a:rPr lang="en-US" altLang="zh-CN" dirty="0"/>
              <a:t>PCR</a:t>
            </a:r>
            <a:r>
              <a:rPr lang="zh-CN" altLang="en-US" dirty="0"/>
              <a:t>。</a:t>
            </a:r>
          </a:p>
          <a:p>
            <a:endParaRPr lang="zh-CN" altLang="en-US" dirty="0"/>
          </a:p>
          <a:p>
            <a:r>
              <a:rPr lang="zh-CN" altLang="en-US" dirty="0"/>
              <a:t>这时，应用可以使用自己想要的属性创建一个混合扩展索引，然后把它当作</a:t>
            </a:r>
            <a:r>
              <a:rPr lang="en-US" altLang="zh-CN" dirty="0"/>
              <a:t>PCR</a:t>
            </a:r>
            <a:r>
              <a:rPr lang="zh-CN" altLang="en-US" dirty="0"/>
              <a:t>来使用，应用程序结束的时候可以直接删除这个索引。需要强调的是，因为索引是混合索引，所以扩展操作并不会占用</a:t>
            </a:r>
            <a:r>
              <a:rPr lang="en-US" altLang="zh-CN" dirty="0"/>
              <a:t>NV</a:t>
            </a:r>
            <a:r>
              <a:rPr lang="zh-CN" altLang="en-US" dirty="0"/>
              <a:t>内存，这避免了性能和</a:t>
            </a:r>
            <a:r>
              <a:rPr lang="en-US" altLang="zh-CN" dirty="0"/>
              <a:t>NV</a:t>
            </a:r>
            <a:r>
              <a:rPr lang="zh-CN" altLang="en-US" dirty="0"/>
              <a:t>内存写坏的问题。</a:t>
            </a:r>
          </a:p>
        </p:txBody>
      </p:sp>
      <p:sp>
        <p:nvSpPr>
          <p:cNvPr id="4" name="灯片编号占位符 3">
            <a:extLst>
              <a:ext uri="{FF2B5EF4-FFF2-40B4-BE49-F238E27FC236}">
                <a16:creationId xmlns:a16="http://schemas.microsoft.com/office/drawing/2014/main" id="{2E86EE34-C111-5B06-9175-34ED2581B11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2167574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1B289-9900-DF34-2DC0-BDF83D42CD3D}"/>
              </a:ext>
            </a:extLst>
          </p:cNvPr>
          <p:cNvSpPr>
            <a:spLocks noGrp="1"/>
          </p:cNvSpPr>
          <p:nvPr>
            <p:ph type="title"/>
          </p:nvPr>
        </p:nvSpPr>
        <p:spPr/>
        <p:txBody>
          <a:bodyPr/>
          <a:lstStyle/>
          <a:p>
            <a:r>
              <a:rPr lang="zh-CN" altLang="en-US" dirty="0"/>
              <a:t>操作命令</a:t>
            </a:r>
          </a:p>
        </p:txBody>
      </p:sp>
      <p:sp>
        <p:nvSpPr>
          <p:cNvPr id="3" name="内容占位符 2">
            <a:extLst>
              <a:ext uri="{FF2B5EF4-FFF2-40B4-BE49-F238E27FC236}">
                <a16:creationId xmlns:a16="http://schemas.microsoft.com/office/drawing/2014/main" id="{6D53E28A-2B86-6D61-3949-C1A2D73A4E85}"/>
              </a:ext>
            </a:extLst>
          </p:cNvPr>
          <p:cNvSpPr>
            <a:spLocks noGrp="1"/>
          </p:cNvSpPr>
          <p:nvPr>
            <p:ph idx="1"/>
          </p:nvPr>
        </p:nvSpPr>
        <p:spPr/>
        <p:txBody>
          <a:bodyPr/>
          <a:lstStyle/>
          <a:p>
            <a:r>
              <a:rPr lang="zh-CN" altLang="en-US" dirty="0"/>
              <a:t> </a:t>
            </a:r>
            <a:r>
              <a:rPr lang="en-US" altLang="zh-CN" dirty="0"/>
              <a:t>TPM2_NV_DefineSpace</a:t>
            </a:r>
            <a:r>
              <a:rPr lang="zh-CN" altLang="en-US" dirty="0"/>
              <a:t>：混合扩展索引，应用程序自己选择的哈希算法，使用应用程序相关的</a:t>
            </a:r>
            <a:r>
              <a:rPr lang="en-US" altLang="zh-CN" dirty="0"/>
              <a:t>policy</a:t>
            </a:r>
            <a:r>
              <a:rPr lang="zh-CN" altLang="en-US" dirty="0"/>
              <a:t>，可以增加更多的限制。</a:t>
            </a:r>
          </a:p>
          <a:p>
            <a:r>
              <a:rPr lang="en-US" altLang="zh-CN" dirty="0"/>
              <a:t>TPM2_NV_Extend</a:t>
            </a:r>
            <a:r>
              <a:rPr lang="zh-CN" altLang="en-US" dirty="0"/>
              <a:t>：应用程序按需操作。</a:t>
            </a:r>
          </a:p>
          <a:p>
            <a:r>
              <a:rPr lang="en-US" altLang="zh-CN" dirty="0"/>
              <a:t>TPM2_NV_UndefineSpace</a:t>
            </a:r>
            <a:r>
              <a:rPr lang="zh-CN" altLang="en-US" dirty="0"/>
              <a:t>：应用程序结束时执行。</a:t>
            </a:r>
          </a:p>
          <a:p>
            <a:r>
              <a:rPr lang="zh-CN" altLang="en-US" dirty="0"/>
              <a:t>这些</a:t>
            </a:r>
            <a:r>
              <a:rPr lang="en-US" altLang="zh-CN" dirty="0"/>
              <a:t>PCR</a:t>
            </a:r>
            <a:r>
              <a:rPr lang="zh-CN" altLang="en-US" dirty="0"/>
              <a:t>可以由读操作授权：授权可以是与平台不同的读写</a:t>
            </a:r>
            <a:r>
              <a:rPr lang="en-US" altLang="zh-CN" dirty="0"/>
              <a:t>policy</a:t>
            </a:r>
            <a:r>
              <a:rPr lang="zh-CN" altLang="en-US" dirty="0"/>
              <a:t>。这些</a:t>
            </a:r>
            <a:r>
              <a:rPr lang="en-US" altLang="zh-CN" dirty="0"/>
              <a:t>PCR</a:t>
            </a:r>
            <a:r>
              <a:rPr lang="zh-CN" altLang="en-US" dirty="0"/>
              <a:t>还可以用在虚拟</a:t>
            </a:r>
            <a:r>
              <a:rPr lang="en-US" altLang="zh-CN" dirty="0"/>
              <a:t>TPM</a:t>
            </a:r>
            <a:r>
              <a:rPr lang="zh-CN" altLang="en-US" dirty="0"/>
              <a:t>中，用于记录虚拟机助手的状态。</a:t>
            </a:r>
          </a:p>
        </p:txBody>
      </p:sp>
      <p:sp>
        <p:nvSpPr>
          <p:cNvPr id="4" name="灯片编号占位符 3">
            <a:extLst>
              <a:ext uri="{FF2B5EF4-FFF2-40B4-BE49-F238E27FC236}">
                <a16:creationId xmlns:a16="http://schemas.microsoft.com/office/drawing/2014/main" id="{95163EEE-48FB-8082-1F28-2D89652FF73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19007274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A56514-2590-8062-43CE-20AC84E5A67A}"/>
              </a:ext>
            </a:extLst>
          </p:cNvPr>
          <p:cNvSpPr>
            <a:spLocks noGrp="1"/>
          </p:cNvSpPr>
          <p:nvPr>
            <p:ph type="title"/>
          </p:nvPr>
        </p:nvSpPr>
        <p:spPr/>
        <p:txBody>
          <a:bodyPr/>
          <a:lstStyle/>
          <a:p>
            <a:r>
              <a:rPr lang="en-US" altLang="zh-CN" dirty="0"/>
              <a:t>NV</a:t>
            </a:r>
            <a:r>
              <a:rPr lang="zh-CN" altLang="en-US" dirty="0"/>
              <a:t>索引访问控制</a:t>
            </a:r>
          </a:p>
        </p:txBody>
      </p:sp>
      <p:sp>
        <p:nvSpPr>
          <p:cNvPr id="3" name="内容占位符 2">
            <a:extLst>
              <a:ext uri="{FF2B5EF4-FFF2-40B4-BE49-F238E27FC236}">
                <a16:creationId xmlns:a16="http://schemas.microsoft.com/office/drawing/2014/main" id="{5B60A872-BB0E-CF13-438D-38D5B1DA2F3D}"/>
              </a:ext>
            </a:extLst>
          </p:cNvPr>
          <p:cNvSpPr>
            <a:spLocks noGrp="1"/>
          </p:cNvSpPr>
          <p:nvPr>
            <p:ph idx="1"/>
          </p:nvPr>
        </p:nvSpPr>
        <p:spPr/>
        <p:txBody>
          <a:bodyPr/>
          <a:lstStyle/>
          <a:p>
            <a:r>
              <a:rPr lang="en-US" altLang="zh-CN" dirty="0"/>
              <a:t>NV</a:t>
            </a:r>
            <a:r>
              <a:rPr lang="zh-CN" altLang="en-US" dirty="0"/>
              <a:t>可能是普通索引、计数器索引，位字段或者扩展的索引，并且</a:t>
            </a:r>
            <a:r>
              <a:rPr lang="en-US" altLang="zh-CN" dirty="0"/>
              <a:t>NV</a:t>
            </a:r>
            <a:r>
              <a:rPr lang="zh-CN" altLang="en-US" dirty="0"/>
              <a:t>也可以是一个混合的索引。每个</a:t>
            </a:r>
            <a:r>
              <a:rPr lang="en-US" altLang="zh-CN" dirty="0"/>
              <a:t>NV</a:t>
            </a:r>
            <a:r>
              <a:rPr lang="zh-CN" altLang="en-US" dirty="0"/>
              <a:t>索引还有一个独特的控制功能，这个控制与其他</a:t>
            </a:r>
            <a:r>
              <a:rPr lang="en-US" altLang="zh-CN" dirty="0"/>
              <a:t>TPM</a:t>
            </a:r>
            <a:r>
              <a:rPr lang="zh-CN" altLang="en-US" dirty="0"/>
              <a:t>对象如密钥的控制不同。每一个索引的读写控制都可以被独立配置，控制可以是索引的</a:t>
            </a:r>
            <a:r>
              <a:rPr lang="en-US" altLang="zh-CN" dirty="0"/>
              <a:t>policy</a:t>
            </a:r>
            <a:r>
              <a:rPr lang="zh-CN" altLang="en-US" dirty="0"/>
              <a:t>，口令授权，或者是所有者的口令和授权。</a:t>
            </a:r>
            <a:endParaRPr lang="en-US" altLang="zh-CN" dirty="0"/>
          </a:p>
          <a:p>
            <a:r>
              <a:rPr lang="en-US" altLang="zh-CN" dirty="0"/>
              <a:t>TPM</a:t>
            </a:r>
            <a:r>
              <a:rPr lang="zh-CN" altLang="en-US" dirty="0"/>
              <a:t>还支持一组读写锁定机制。一个索引可以永久地写锁定。它也可以被读或者写锁定，直到</a:t>
            </a:r>
            <a:r>
              <a:rPr lang="en-US" altLang="zh-CN" dirty="0"/>
              <a:t>TPM</a:t>
            </a:r>
            <a:r>
              <a:rPr lang="zh-CN" altLang="en-US" dirty="0"/>
              <a:t>重启。一个索引也可以作为一组索引中的一员被一次性地锁定（全局锁定），同样是直到</a:t>
            </a:r>
            <a:r>
              <a:rPr lang="en-US" altLang="zh-CN" dirty="0"/>
              <a:t>TPM</a:t>
            </a:r>
            <a:r>
              <a:rPr lang="zh-CN" altLang="en-US" dirty="0"/>
              <a:t>重启后才能解锁。</a:t>
            </a:r>
            <a:endParaRPr lang="en-US" altLang="zh-CN" dirty="0"/>
          </a:p>
          <a:p>
            <a:r>
              <a:rPr lang="zh-CN" altLang="en-US" dirty="0"/>
              <a:t>许多</a:t>
            </a:r>
            <a:r>
              <a:rPr lang="en-US" altLang="zh-CN" dirty="0"/>
              <a:t>TPM</a:t>
            </a:r>
            <a:r>
              <a:rPr lang="zh-CN" altLang="en-US" dirty="0"/>
              <a:t>实体都受到字典攻击保护机制的保护。授权尝试失败达到一定次数之后，</a:t>
            </a:r>
            <a:r>
              <a:rPr lang="en-US" altLang="zh-CN" dirty="0"/>
              <a:t>TPM</a:t>
            </a:r>
            <a:r>
              <a:rPr lang="zh-CN" altLang="en-US" dirty="0"/>
              <a:t>就会拒绝执行授权，直到经过一定的时间之后才会解锁授权。一个</a:t>
            </a:r>
            <a:r>
              <a:rPr lang="en-US" altLang="zh-CN" dirty="0"/>
              <a:t>NV</a:t>
            </a:r>
            <a:r>
              <a:rPr lang="zh-CN" altLang="en-US" dirty="0"/>
              <a:t>索引也可以受到这样的保护，还可以通过配置索引的属性取消这种保护。</a:t>
            </a:r>
          </a:p>
        </p:txBody>
      </p:sp>
      <p:sp>
        <p:nvSpPr>
          <p:cNvPr id="4" name="灯片编号占位符 3">
            <a:extLst>
              <a:ext uri="{FF2B5EF4-FFF2-40B4-BE49-F238E27FC236}">
                <a16:creationId xmlns:a16="http://schemas.microsoft.com/office/drawing/2014/main" id="{2F53A1AE-F785-0487-0E57-38B8A48E0C5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25102923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6194C7-63D5-ACF9-7711-C66E1277CB3F}"/>
              </a:ext>
            </a:extLst>
          </p:cNvPr>
          <p:cNvSpPr>
            <a:spLocks noGrp="1"/>
          </p:cNvSpPr>
          <p:nvPr>
            <p:ph type="title"/>
          </p:nvPr>
        </p:nvSpPr>
        <p:spPr/>
        <p:txBody>
          <a:bodyPr/>
          <a:lstStyle/>
          <a:p>
            <a:r>
              <a:rPr lang="en-US" altLang="zh-CN" dirty="0"/>
              <a:t>NV</a:t>
            </a:r>
            <a:r>
              <a:rPr lang="zh-CN" altLang="en-US" dirty="0"/>
              <a:t>写操作</a:t>
            </a:r>
          </a:p>
        </p:txBody>
      </p:sp>
      <p:sp>
        <p:nvSpPr>
          <p:cNvPr id="3" name="内容占位符 2">
            <a:extLst>
              <a:ext uri="{FF2B5EF4-FFF2-40B4-BE49-F238E27FC236}">
                <a16:creationId xmlns:a16="http://schemas.microsoft.com/office/drawing/2014/main" id="{51BC50D1-1324-9B91-CD31-07273C7F7FB3}"/>
              </a:ext>
            </a:extLst>
          </p:cNvPr>
          <p:cNvSpPr>
            <a:spLocks noGrp="1"/>
          </p:cNvSpPr>
          <p:nvPr>
            <p:ph idx="1"/>
          </p:nvPr>
        </p:nvSpPr>
        <p:spPr/>
        <p:txBody>
          <a:bodyPr/>
          <a:lstStyle/>
          <a:p>
            <a:r>
              <a:rPr lang="zh-CN" altLang="en-US" dirty="0"/>
              <a:t>每一个</a:t>
            </a:r>
            <a:r>
              <a:rPr lang="en-US" altLang="zh-CN" dirty="0"/>
              <a:t>NV</a:t>
            </a:r>
            <a:r>
              <a:rPr lang="zh-CN" altLang="en-US" dirty="0"/>
              <a:t>索引在创建的时候都有一个隐含的属性：未被写过。在</a:t>
            </a:r>
            <a:r>
              <a:rPr lang="en-US" altLang="zh-CN" dirty="0"/>
              <a:t>TPM1.2</a:t>
            </a:r>
            <a:r>
              <a:rPr lang="zh-CN" altLang="en-US" dirty="0"/>
              <a:t>中，一个索引被创建时数据被初始化为全</a:t>
            </a:r>
            <a:r>
              <a:rPr lang="en-US" altLang="zh-CN" dirty="0"/>
              <a:t>0</a:t>
            </a:r>
            <a:r>
              <a:rPr lang="zh-CN" altLang="en-US" dirty="0"/>
              <a:t>。但从读取的数值来看并不能区分全零数据和未被写过的数据。在</a:t>
            </a:r>
            <a:r>
              <a:rPr lang="en-US" altLang="zh-CN" dirty="0"/>
              <a:t>TPM2.0</a:t>
            </a:r>
            <a:r>
              <a:rPr lang="zh-CN" altLang="en-US" dirty="0"/>
              <a:t>中，没有写过数据是一个独立的状态。一个</a:t>
            </a:r>
            <a:r>
              <a:rPr lang="en-US" altLang="zh-CN" dirty="0"/>
              <a:t>policy</a:t>
            </a:r>
            <a:r>
              <a:rPr lang="zh-CN" altLang="en-US" dirty="0"/>
              <a:t>可以制定索引必须或者必须没有被写过。</a:t>
            </a:r>
            <a:endParaRPr lang="en-US" altLang="zh-CN" dirty="0"/>
          </a:p>
        </p:txBody>
      </p:sp>
      <p:sp>
        <p:nvSpPr>
          <p:cNvPr id="4" name="灯片编号占位符 3">
            <a:extLst>
              <a:ext uri="{FF2B5EF4-FFF2-40B4-BE49-F238E27FC236}">
                <a16:creationId xmlns:a16="http://schemas.microsoft.com/office/drawing/2014/main" id="{AF2BE257-32E8-DEDA-25F0-0EC077986A5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3603423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3AE2F-89D2-41F7-C8BC-C14B84F68ECE}"/>
              </a:ext>
            </a:extLst>
          </p:cNvPr>
          <p:cNvSpPr>
            <a:spLocks noGrp="1"/>
          </p:cNvSpPr>
          <p:nvPr>
            <p:ph type="title"/>
          </p:nvPr>
        </p:nvSpPr>
        <p:spPr/>
        <p:txBody>
          <a:bodyPr/>
          <a:lstStyle/>
          <a:p>
            <a:r>
              <a:rPr lang="zh-CN" altLang="en-US" dirty="0"/>
              <a:t>案例：单次写</a:t>
            </a:r>
            <a:r>
              <a:rPr lang="en-US" altLang="zh-CN" dirty="0"/>
              <a:t>NV</a:t>
            </a:r>
            <a:r>
              <a:rPr lang="zh-CN" altLang="en-US" dirty="0"/>
              <a:t>索引</a:t>
            </a:r>
          </a:p>
        </p:txBody>
      </p:sp>
      <p:sp>
        <p:nvSpPr>
          <p:cNvPr id="3" name="内容占位符 2">
            <a:extLst>
              <a:ext uri="{FF2B5EF4-FFF2-40B4-BE49-F238E27FC236}">
                <a16:creationId xmlns:a16="http://schemas.microsoft.com/office/drawing/2014/main" id="{7559F85B-659E-9A83-2C29-60804F6A1D2A}"/>
              </a:ext>
            </a:extLst>
          </p:cNvPr>
          <p:cNvSpPr>
            <a:spLocks noGrp="1"/>
          </p:cNvSpPr>
          <p:nvPr>
            <p:ph idx="1"/>
          </p:nvPr>
        </p:nvSpPr>
        <p:spPr/>
        <p:txBody>
          <a:bodyPr/>
          <a:lstStyle/>
          <a:p>
            <a:r>
              <a:rPr lang="zh-CN" altLang="en-US" dirty="0"/>
              <a:t>在</a:t>
            </a:r>
            <a:r>
              <a:rPr lang="en-US" altLang="zh-CN" dirty="0"/>
              <a:t>TPM</a:t>
            </a:r>
            <a:r>
              <a:rPr lang="zh-CN" altLang="en-US" dirty="0"/>
              <a:t>初始配置的时候，</a:t>
            </a:r>
            <a:r>
              <a:rPr lang="en-US" altLang="zh-CN" dirty="0"/>
              <a:t>NV</a:t>
            </a:r>
            <a:r>
              <a:rPr lang="zh-CN" altLang="en-US" dirty="0"/>
              <a:t>索引的创建者可能会要求索引只能被写一次。一旦被写入后，任何知道正确口令的人都可以读取。</a:t>
            </a:r>
            <a:endParaRPr lang="en-US" altLang="zh-CN" dirty="0"/>
          </a:p>
          <a:p>
            <a:endParaRPr lang="zh-CN" altLang="en-US" dirty="0"/>
          </a:p>
          <a:p>
            <a:r>
              <a:rPr lang="zh-CN" altLang="en-US" dirty="0"/>
              <a:t>为了实现这个功能，可以创建一个具有两个条件的“或”策略，这个策略是两部分执行“或”操作的结果。第一部分保证只有在</a:t>
            </a:r>
            <a:r>
              <a:rPr lang="en-US" altLang="zh-CN" dirty="0"/>
              <a:t>NV</a:t>
            </a:r>
            <a:r>
              <a:rPr lang="zh-CN" altLang="en-US" dirty="0"/>
              <a:t>没有被写过时才能执行</a:t>
            </a:r>
            <a:r>
              <a:rPr lang="en-US" altLang="zh-CN" dirty="0"/>
              <a:t>NV Write</a:t>
            </a:r>
            <a:r>
              <a:rPr lang="zh-CN" altLang="en-US" dirty="0"/>
              <a:t>命令。第二部分则用于允许在提供口令的情况下执行读操作。</a:t>
            </a:r>
          </a:p>
          <a:p>
            <a:endParaRPr lang="zh-CN" altLang="en-US" dirty="0"/>
          </a:p>
        </p:txBody>
      </p:sp>
      <p:sp>
        <p:nvSpPr>
          <p:cNvPr id="4" name="灯片编号占位符 3">
            <a:extLst>
              <a:ext uri="{FF2B5EF4-FFF2-40B4-BE49-F238E27FC236}">
                <a16:creationId xmlns:a16="http://schemas.microsoft.com/office/drawing/2014/main" id="{0010AED9-21EF-2973-6971-77E825B16C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33269118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0D390-DE01-2753-F1EB-8C59B7B00A31}"/>
              </a:ext>
            </a:extLst>
          </p:cNvPr>
          <p:cNvSpPr>
            <a:spLocks noGrp="1"/>
          </p:cNvSpPr>
          <p:nvPr>
            <p:ph type="title"/>
          </p:nvPr>
        </p:nvSpPr>
        <p:spPr/>
        <p:txBody>
          <a:bodyPr/>
          <a:lstStyle/>
          <a:p>
            <a:r>
              <a:rPr lang="zh-CN" altLang="en-US" dirty="0"/>
              <a:t>操作命令</a:t>
            </a:r>
          </a:p>
        </p:txBody>
      </p:sp>
      <p:sp>
        <p:nvSpPr>
          <p:cNvPr id="3" name="内容占位符 2">
            <a:extLst>
              <a:ext uri="{FF2B5EF4-FFF2-40B4-BE49-F238E27FC236}">
                <a16:creationId xmlns:a16="http://schemas.microsoft.com/office/drawing/2014/main" id="{41F5063B-67C8-668D-0111-628F1E993382}"/>
              </a:ext>
            </a:extLst>
          </p:cNvPr>
          <p:cNvSpPr>
            <a:spLocks noGrp="1"/>
          </p:cNvSpPr>
          <p:nvPr>
            <p:ph idx="1"/>
          </p:nvPr>
        </p:nvSpPr>
        <p:spPr/>
        <p:txBody>
          <a:bodyPr/>
          <a:lstStyle/>
          <a:p>
            <a:r>
              <a:rPr lang="en-US" altLang="zh-CN" dirty="0"/>
              <a:t>1. </a:t>
            </a:r>
            <a:r>
              <a:rPr lang="zh-CN" altLang="en-US" dirty="0"/>
              <a:t>创建包含两个项目的</a:t>
            </a:r>
            <a:r>
              <a:rPr lang="en-US" altLang="zh-CN" dirty="0"/>
              <a:t>policy</a:t>
            </a:r>
            <a:r>
              <a:rPr lang="zh-CN" altLang="en-US" dirty="0"/>
              <a:t>：</a:t>
            </a:r>
          </a:p>
          <a:p>
            <a:r>
              <a:rPr lang="en-US" altLang="zh-CN" dirty="0"/>
              <a:t>TPM2_PolicyCommandCode(TPM2_NV_Write)</a:t>
            </a:r>
            <a:r>
              <a:rPr lang="zh-CN" altLang="en-US" dirty="0"/>
              <a:t>以及</a:t>
            </a:r>
            <a:r>
              <a:rPr lang="en-US" altLang="zh-CN" dirty="0"/>
              <a:t>TPM2_PolicyNvWritten(</a:t>
            </a:r>
            <a:r>
              <a:rPr lang="en-US" altLang="zh-CN" dirty="0" err="1"/>
              <a:t>writtenSet</a:t>
            </a:r>
            <a:r>
              <a:rPr lang="en-US" altLang="zh-CN" dirty="0"/>
              <a:t> clear)</a:t>
            </a:r>
            <a:r>
              <a:rPr lang="zh-CN" altLang="en-US" dirty="0"/>
              <a:t>。</a:t>
            </a:r>
          </a:p>
          <a:p>
            <a:r>
              <a:rPr lang="en-US" altLang="zh-CN" dirty="0"/>
              <a:t>TPM2_PolicyCommandCode(TPM2_NV_Read)</a:t>
            </a:r>
            <a:r>
              <a:rPr lang="zh-CN" altLang="en-US" dirty="0"/>
              <a:t>以及</a:t>
            </a:r>
            <a:r>
              <a:rPr lang="en-US" altLang="zh-CN" dirty="0"/>
              <a:t>TPM2_PolicyPassword</a:t>
            </a:r>
            <a:r>
              <a:rPr lang="zh-CN" altLang="en-US" dirty="0"/>
              <a:t>。</a:t>
            </a:r>
          </a:p>
          <a:p>
            <a:r>
              <a:rPr lang="en-US" altLang="zh-CN" dirty="0"/>
              <a:t>2. TPM2_NV_DefineSpace</a:t>
            </a:r>
            <a:r>
              <a:rPr lang="zh-CN" altLang="en-US" dirty="0"/>
              <a:t>，创建一个普通的索引，且具有可读写的策略。 </a:t>
            </a:r>
          </a:p>
        </p:txBody>
      </p:sp>
      <p:sp>
        <p:nvSpPr>
          <p:cNvPr id="4" name="灯片编号占位符 3">
            <a:extLst>
              <a:ext uri="{FF2B5EF4-FFF2-40B4-BE49-F238E27FC236}">
                <a16:creationId xmlns:a16="http://schemas.microsoft.com/office/drawing/2014/main" id="{46544F15-30FF-0709-2D44-5F1F2C4681A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5810214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4ABFBE-6323-5157-1605-A6F8A18B6089}"/>
              </a:ext>
            </a:extLst>
          </p:cNvPr>
          <p:cNvSpPr>
            <a:spLocks noGrp="1"/>
          </p:cNvSpPr>
          <p:nvPr>
            <p:ph type="title"/>
          </p:nvPr>
        </p:nvSpPr>
        <p:spPr/>
        <p:txBody>
          <a:bodyPr/>
          <a:lstStyle/>
          <a:p>
            <a:r>
              <a:rPr lang="en-US" altLang="zh-CN" dirty="0"/>
              <a:t>NV</a:t>
            </a:r>
            <a:r>
              <a:rPr lang="zh-CN" altLang="en-US" dirty="0"/>
              <a:t>索引的句柄值</a:t>
            </a:r>
          </a:p>
        </p:txBody>
      </p:sp>
      <p:sp>
        <p:nvSpPr>
          <p:cNvPr id="3" name="内容占位符 2">
            <a:extLst>
              <a:ext uri="{FF2B5EF4-FFF2-40B4-BE49-F238E27FC236}">
                <a16:creationId xmlns:a16="http://schemas.microsoft.com/office/drawing/2014/main" id="{11604AF3-5312-D533-5730-F020A9692267}"/>
              </a:ext>
            </a:extLst>
          </p:cNvPr>
          <p:cNvSpPr>
            <a:spLocks noGrp="1"/>
          </p:cNvSpPr>
          <p:nvPr>
            <p:ph idx="1"/>
          </p:nvPr>
        </p:nvSpPr>
        <p:spPr/>
        <p:txBody>
          <a:bodyPr/>
          <a:lstStyle/>
          <a:p>
            <a:r>
              <a:rPr lang="zh-CN" altLang="en-US" dirty="0"/>
              <a:t>当用户创建一个</a:t>
            </a:r>
            <a:r>
              <a:rPr lang="en-US" altLang="zh-CN" dirty="0"/>
              <a:t>NV</a:t>
            </a:r>
            <a:r>
              <a:rPr lang="zh-CN" altLang="en-US" dirty="0"/>
              <a:t>索引时，会为索引分配一个索引值。在</a:t>
            </a:r>
            <a:r>
              <a:rPr lang="en-US" altLang="zh-CN" dirty="0"/>
              <a:t>TPM1.2</a:t>
            </a:r>
            <a:r>
              <a:rPr lang="zh-CN" altLang="en-US" dirty="0"/>
              <a:t>中，这个值中的某些位有特殊的性质，比如说</a:t>
            </a:r>
            <a:r>
              <a:rPr lang="en-US" altLang="zh-CN" dirty="0"/>
              <a:t>D</a:t>
            </a:r>
            <a:r>
              <a:rPr lang="zh-CN" altLang="en-US" dirty="0"/>
              <a:t>位用于锁定。在</a:t>
            </a:r>
            <a:r>
              <a:rPr lang="en-US" altLang="zh-CN" dirty="0"/>
              <a:t>TPM2.0</a:t>
            </a:r>
            <a:r>
              <a:rPr lang="zh-CN" altLang="en-US" dirty="0"/>
              <a:t>软件规范中，</a:t>
            </a:r>
            <a:r>
              <a:rPr lang="en-US" altLang="zh-CN" dirty="0"/>
              <a:t>NV</a:t>
            </a:r>
            <a:r>
              <a:rPr lang="zh-CN" altLang="en-US" dirty="0"/>
              <a:t>索引值除了有一个整体上的范围之外没有对具体的位域定义特殊含义。</a:t>
            </a:r>
            <a:r>
              <a:rPr lang="en-US" altLang="zh-CN" dirty="0"/>
              <a:t>TPM</a:t>
            </a:r>
            <a:r>
              <a:rPr lang="zh-CN" altLang="en-US" dirty="0"/>
              <a:t>不会通过索引值来定义索引的属性。但是，一些平台相关的规范或者全局的</a:t>
            </a:r>
            <a:r>
              <a:rPr lang="en-US" altLang="zh-CN" dirty="0"/>
              <a:t>TCG</a:t>
            </a:r>
            <a:r>
              <a:rPr lang="zh-CN" altLang="en-US" dirty="0"/>
              <a:t>注册处可以制定特殊的索引值。</a:t>
            </a:r>
          </a:p>
          <a:p>
            <a:endParaRPr lang="zh-CN" altLang="en-US" dirty="0"/>
          </a:p>
          <a:p>
            <a:r>
              <a:rPr lang="zh-CN" altLang="en-US" dirty="0"/>
              <a:t>举例来说，</a:t>
            </a:r>
            <a:r>
              <a:rPr lang="en-US" altLang="zh-CN" dirty="0"/>
              <a:t>TCG</a:t>
            </a:r>
            <a:r>
              <a:rPr lang="zh-CN" altLang="en-US" dirty="0"/>
              <a:t>注册处会为</a:t>
            </a:r>
            <a:r>
              <a:rPr lang="en-US" altLang="zh-CN" dirty="0"/>
              <a:t>TPM</a:t>
            </a:r>
            <a:r>
              <a:rPr lang="zh-CN" altLang="en-US" dirty="0"/>
              <a:t>厂商（</a:t>
            </a:r>
            <a:r>
              <a:rPr lang="en-US" altLang="zh-CN" dirty="0"/>
              <a:t>0-0x3fffff</a:t>
            </a:r>
            <a:r>
              <a:rPr lang="zh-CN" altLang="en-US" dirty="0"/>
              <a:t>），平台厂商，以及背书和平台证书分配句柄。它还会为平台相关的规范保留句柄范围，比如</a:t>
            </a:r>
            <a:r>
              <a:rPr lang="en-US" altLang="zh-CN" dirty="0"/>
              <a:t>PC</a:t>
            </a:r>
            <a:r>
              <a:rPr lang="zh-CN" altLang="en-US" dirty="0"/>
              <a:t>客户端，服务器，移动，和嵌入式平台。所有这些范围都是根据惯例来分配的，</a:t>
            </a:r>
            <a:r>
              <a:rPr lang="en-US" altLang="zh-CN" dirty="0"/>
              <a:t>TPM</a:t>
            </a:r>
            <a:r>
              <a:rPr lang="zh-CN" altLang="en-US" dirty="0"/>
              <a:t>不能以任何形式强制它们。</a:t>
            </a:r>
          </a:p>
        </p:txBody>
      </p:sp>
      <p:sp>
        <p:nvSpPr>
          <p:cNvPr id="4" name="灯片编号占位符 3">
            <a:extLst>
              <a:ext uri="{FF2B5EF4-FFF2-40B4-BE49-F238E27FC236}">
                <a16:creationId xmlns:a16="http://schemas.microsoft.com/office/drawing/2014/main" id="{96DD66C1-53B9-1841-787C-8AE6048F20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8593769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CAA9C-3102-09D0-280F-3C3C9F9423F1}"/>
              </a:ext>
            </a:extLst>
          </p:cNvPr>
          <p:cNvSpPr>
            <a:spLocks noGrp="1"/>
          </p:cNvSpPr>
          <p:nvPr>
            <p:ph type="title"/>
          </p:nvPr>
        </p:nvSpPr>
        <p:spPr/>
        <p:txBody>
          <a:bodyPr/>
          <a:lstStyle/>
          <a:p>
            <a:r>
              <a:rPr lang="en-US" altLang="zh-CN" dirty="0"/>
              <a:t>NV</a:t>
            </a:r>
            <a:r>
              <a:rPr lang="zh-CN" altLang="en-US" dirty="0"/>
              <a:t>名称</a:t>
            </a:r>
          </a:p>
        </p:txBody>
      </p:sp>
      <p:sp>
        <p:nvSpPr>
          <p:cNvPr id="3" name="内容占位符 2">
            <a:extLst>
              <a:ext uri="{FF2B5EF4-FFF2-40B4-BE49-F238E27FC236}">
                <a16:creationId xmlns:a16="http://schemas.microsoft.com/office/drawing/2014/main" id="{BD5F9003-7CB2-C50B-3243-08F3EE898163}"/>
              </a:ext>
            </a:extLst>
          </p:cNvPr>
          <p:cNvSpPr>
            <a:spLocks noGrp="1"/>
          </p:cNvSpPr>
          <p:nvPr>
            <p:ph idx="1"/>
          </p:nvPr>
        </p:nvSpPr>
        <p:spPr/>
        <p:txBody>
          <a:bodyPr/>
          <a:lstStyle/>
          <a:p>
            <a:r>
              <a:rPr lang="en-US" altLang="zh-CN" dirty="0"/>
              <a:t>TPM</a:t>
            </a:r>
            <a:r>
              <a:rPr lang="zh-CN" altLang="en-US" dirty="0"/>
              <a:t>实体的名称决定了实体的唯一性，并可用于授权。对于</a:t>
            </a:r>
            <a:r>
              <a:rPr lang="en-US" altLang="zh-CN" dirty="0"/>
              <a:t>NV</a:t>
            </a:r>
            <a:r>
              <a:rPr lang="zh-CN" altLang="en-US" dirty="0"/>
              <a:t>索引来说，它的名称就是它公共区域的哈希，公共区域包含索引值（句柄），属性（包含是否已经被写过），策略和大小。</a:t>
            </a:r>
          </a:p>
          <a:p>
            <a:endParaRPr lang="zh-CN" altLang="en-US" dirty="0"/>
          </a:p>
          <a:p>
            <a:r>
              <a:rPr lang="en-US" altLang="zh-CN" dirty="0"/>
              <a:t>TPM2_PolicyNV</a:t>
            </a:r>
            <a:r>
              <a:rPr lang="zh-CN" altLang="en-US" dirty="0"/>
              <a:t>允许在策略中使用</a:t>
            </a:r>
            <a:r>
              <a:rPr lang="en-US" altLang="zh-CN" dirty="0"/>
              <a:t>NV</a:t>
            </a:r>
            <a:r>
              <a:rPr lang="zh-CN" altLang="en-US" dirty="0"/>
              <a:t>索引值。该策略可以以索引上的一系列逻辑运算和算术运算为基础。如果该策略仅仅基于</a:t>
            </a:r>
            <a:r>
              <a:rPr lang="en-US" altLang="zh-CN" dirty="0"/>
              <a:t>NV</a:t>
            </a:r>
            <a:r>
              <a:rPr lang="zh-CN" altLang="en-US" dirty="0"/>
              <a:t>索引的值，它将提供很低的安全性：攻击者可能会删除这个索引，并将其替换为其它访问控制策略。基于这个原因，</a:t>
            </a:r>
            <a:r>
              <a:rPr lang="en-US" altLang="zh-CN" dirty="0"/>
              <a:t>TPM2_PolicyNV</a:t>
            </a:r>
            <a:r>
              <a:rPr lang="zh-CN" altLang="en-US" dirty="0"/>
              <a:t>会使用索引的名称。</a:t>
            </a:r>
          </a:p>
        </p:txBody>
      </p:sp>
      <p:sp>
        <p:nvSpPr>
          <p:cNvPr id="4" name="灯片编号占位符 3">
            <a:extLst>
              <a:ext uri="{FF2B5EF4-FFF2-40B4-BE49-F238E27FC236}">
                <a16:creationId xmlns:a16="http://schemas.microsoft.com/office/drawing/2014/main" id="{8A65E327-3730-F1D6-C587-50AAB33D6C2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14806972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99AE9B-7DB7-F374-9978-EE915E5E3EF3}"/>
              </a:ext>
            </a:extLst>
          </p:cNvPr>
          <p:cNvSpPr>
            <a:spLocks noGrp="1"/>
          </p:cNvSpPr>
          <p:nvPr>
            <p:ph type="title"/>
          </p:nvPr>
        </p:nvSpPr>
        <p:spPr/>
        <p:txBody>
          <a:bodyPr/>
          <a:lstStyle/>
          <a:p>
            <a:r>
              <a:rPr lang="en-US" altLang="zh-CN" dirty="0"/>
              <a:t>NV</a:t>
            </a:r>
            <a:r>
              <a:rPr lang="zh-CN" altLang="en-US" dirty="0"/>
              <a:t>索引名称作用案例</a:t>
            </a:r>
          </a:p>
        </p:txBody>
      </p:sp>
      <p:sp>
        <p:nvSpPr>
          <p:cNvPr id="3" name="内容占位符 2">
            <a:extLst>
              <a:ext uri="{FF2B5EF4-FFF2-40B4-BE49-F238E27FC236}">
                <a16:creationId xmlns:a16="http://schemas.microsoft.com/office/drawing/2014/main" id="{A905FC71-F715-469A-37DA-ED2DA1908AEC}"/>
              </a:ext>
            </a:extLst>
          </p:cNvPr>
          <p:cNvSpPr>
            <a:spLocks noGrp="1"/>
          </p:cNvSpPr>
          <p:nvPr>
            <p:ph idx="1"/>
          </p:nvPr>
        </p:nvSpPr>
        <p:spPr>
          <a:xfrm>
            <a:off x="432511" y="1106178"/>
            <a:ext cx="8296656" cy="5410200"/>
          </a:xfrm>
        </p:spPr>
        <p:txBody>
          <a:bodyPr/>
          <a:lstStyle/>
          <a:p>
            <a:r>
              <a:rPr lang="zh-CN" altLang="en-US" dirty="0"/>
              <a:t>假设你创建了一个</a:t>
            </a:r>
            <a:r>
              <a:rPr lang="en-US" altLang="zh-CN" dirty="0"/>
              <a:t>NV</a:t>
            </a:r>
            <a:r>
              <a:rPr lang="zh-CN" altLang="en-US" dirty="0"/>
              <a:t>位字段索引用于密钥撤销。密钥的策略包含一个</a:t>
            </a:r>
            <a:r>
              <a:rPr lang="en-US" altLang="zh-CN" dirty="0"/>
              <a:t>TPM2_PolicyNV</a:t>
            </a:r>
            <a:r>
              <a:rPr lang="zh-CN" altLang="en-US" dirty="0"/>
              <a:t>条件，只有当</a:t>
            </a:r>
            <a:r>
              <a:rPr lang="en-US" altLang="zh-CN" dirty="0"/>
              <a:t>NV</a:t>
            </a:r>
            <a:r>
              <a:rPr lang="zh-CN" altLang="en-US" dirty="0"/>
              <a:t>的第</a:t>
            </a:r>
            <a:r>
              <a:rPr lang="en-US" altLang="zh-CN" dirty="0"/>
              <a:t>0</a:t>
            </a:r>
            <a:r>
              <a:rPr lang="zh-CN" altLang="en-US" dirty="0"/>
              <a:t>位是清除状态时才会满足策略。</a:t>
            </a:r>
            <a:r>
              <a:rPr lang="en-US" altLang="zh-CN" dirty="0"/>
              <a:t>NV</a:t>
            </a:r>
            <a:r>
              <a:rPr lang="zh-CN" altLang="en-US" dirty="0"/>
              <a:t>索引策略要求：只有私钥的所有者可以写这个索引（</a:t>
            </a:r>
            <a:r>
              <a:rPr lang="en-US" altLang="zh-CN" dirty="0"/>
              <a:t>TPM2_PolicySigned</a:t>
            </a:r>
            <a:r>
              <a:rPr lang="zh-CN" altLang="en-US" dirty="0"/>
              <a:t>）。为了撤销这个密钥，密钥的所有者需要签名一个随机值以满足</a:t>
            </a:r>
            <a:r>
              <a:rPr lang="en-US" altLang="zh-CN" dirty="0"/>
              <a:t>NV</a:t>
            </a:r>
            <a:r>
              <a:rPr lang="zh-CN" altLang="en-US" dirty="0"/>
              <a:t>索引策略，然后利用（</a:t>
            </a:r>
            <a:r>
              <a:rPr lang="en-US" altLang="zh-CN" dirty="0"/>
              <a:t>TPM2_NV_SetBits</a:t>
            </a:r>
            <a:r>
              <a:rPr lang="zh-CN" altLang="en-US" dirty="0"/>
              <a:t>）将第</a:t>
            </a:r>
            <a:r>
              <a:rPr lang="en-US" altLang="zh-CN" dirty="0"/>
              <a:t>0</a:t>
            </a:r>
            <a:r>
              <a:rPr lang="zh-CN" altLang="en-US" dirty="0"/>
              <a:t>位设置为</a:t>
            </a:r>
            <a:r>
              <a:rPr lang="en-US" altLang="zh-CN" dirty="0"/>
              <a:t>1</a:t>
            </a:r>
            <a:r>
              <a:rPr lang="zh-CN" altLang="en-US" dirty="0"/>
              <a:t>。</a:t>
            </a:r>
          </a:p>
          <a:p>
            <a:r>
              <a:rPr lang="zh-CN" altLang="en-US" dirty="0"/>
              <a:t>现在假设一个攻击者试图恢复密钥的访问权限。首先，攻击者不能清除</a:t>
            </a:r>
            <a:r>
              <a:rPr lang="en-US" altLang="zh-CN" dirty="0"/>
              <a:t>NV</a:t>
            </a:r>
            <a:r>
              <a:rPr lang="zh-CN" altLang="en-US" dirty="0"/>
              <a:t>索引的第</a:t>
            </a:r>
            <a:r>
              <a:rPr lang="en-US" altLang="zh-CN" dirty="0"/>
              <a:t>0</a:t>
            </a:r>
            <a:r>
              <a:rPr lang="zh-CN" altLang="en-US" dirty="0"/>
              <a:t>位，因为</a:t>
            </a:r>
            <a:r>
              <a:rPr lang="en-US" altLang="zh-CN" dirty="0"/>
              <a:t>NV</a:t>
            </a:r>
            <a:r>
              <a:rPr lang="zh-CN" altLang="en-US" dirty="0"/>
              <a:t>索引本身的特性决定了这些比特位只能被设置不能被清零。攻击者可能尝试其它的方法：删除这个索引然后重新创建一个名称与之前相同的索引。这个操作会因为策略</a:t>
            </a:r>
            <a:r>
              <a:rPr lang="en-US" altLang="zh-CN" dirty="0"/>
              <a:t>TPM2_PolicySigned</a:t>
            </a:r>
            <a:r>
              <a:rPr lang="zh-CN" altLang="en-US" dirty="0"/>
              <a:t>限制而失败。同时攻击者也不能重写</a:t>
            </a:r>
            <a:r>
              <a:rPr lang="en-US" altLang="zh-CN" dirty="0"/>
              <a:t>NV</a:t>
            </a:r>
            <a:r>
              <a:rPr lang="zh-CN" altLang="en-US" dirty="0"/>
              <a:t>索引，因为他们不能满足</a:t>
            </a:r>
            <a:r>
              <a:rPr lang="en-US" altLang="zh-CN" dirty="0"/>
              <a:t>NV</a:t>
            </a:r>
            <a:r>
              <a:rPr lang="zh-CN" altLang="en-US" dirty="0"/>
              <a:t>索引的策略。</a:t>
            </a:r>
          </a:p>
        </p:txBody>
      </p:sp>
      <p:sp>
        <p:nvSpPr>
          <p:cNvPr id="4" name="灯片编号占位符 3">
            <a:extLst>
              <a:ext uri="{FF2B5EF4-FFF2-40B4-BE49-F238E27FC236}">
                <a16:creationId xmlns:a16="http://schemas.microsoft.com/office/drawing/2014/main" id="{B6DF0F66-2F53-7F6F-FE68-18C4622BC04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3829307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B599EF-DB3E-1D25-2F83-45BC8BAE379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856D048-187E-E54B-3036-3DB3F49E173F}"/>
              </a:ext>
            </a:extLst>
          </p:cNvPr>
          <p:cNvSpPr>
            <a:spLocks noGrp="1"/>
          </p:cNvSpPr>
          <p:nvPr>
            <p:ph idx="1"/>
          </p:nvPr>
        </p:nvSpPr>
        <p:spPr/>
        <p:txBody>
          <a:bodyPr/>
          <a:lstStyle/>
          <a:p>
            <a:r>
              <a:rPr lang="zh-CN" altLang="en-US" dirty="0"/>
              <a:t>“删除和重新创建索引”的攻击方法不可行是因为以下两个</a:t>
            </a:r>
            <a:r>
              <a:rPr lang="en-US" altLang="zh-CN" dirty="0"/>
              <a:t>TPM</a:t>
            </a:r>
            <a:r>
              <a:rPr lang="zh-CN" altLang="en-US" dirty="0"/>
              <a:t>的特性：</a:t>
            </a:r>
          </a:p>
          <a:p>
            <a:r>
              <a:rPr lang="zh-CN" altLang="en-US" dirty="0"/>
              <a:t>如果</a:t>
            </a:r>
            <a:r>
              <a:rPr lang="en-US" altLang="zh-CN" dirty="0"/>
              <a:t>NV</a:t>
            </a:r>
            <a:r>
              <a:rPr lang="zh-CN" altLang="en-US" dirty="0"/>
              <a:t>索引没有被写过就不能用于策略。</a:t>
            </a:r>
          </a:p>
          <a:p>
            <a:r>
              <a:rPr lang="zh-CN" altLang="en-US" dirty="0"/>
              <a:t>策略中的</a:t>
            </a:r>
            <a:r>
              <a:rPr lang="en-US" altLang="zh-CN" dirty="0"/>
              <a:t>NV</a:t>
            </a:r>
            <a:r>
              <a:rPr lang="zh-CN" altLang="en-US" dirty="0"/>
              <a:t>索引使用完整名称（公共区域），而不仅仅是索引句柄。</a:t>
            </a:r>
          </a:p>
          <a:p>
            <a:endParaRPr lang="zh-CN" altLang="en-US" dirty="0"/>
          </a:p>
        </p:txBody>
      </p:sp>
      <p:sp>
        <p:nvSpPr>
          <p:cNvPr id="4" name="灯片编号占位符 3">
            <a:extLst>
              <a:ext uri="{FF2B5EF4-FFF2-40B4-BE49-F238E27FC236}">
                <a16:creationId xmlns:a16="http://schemas.microsoft.com/office/drawing/2014/main" id="{A00461FF-A832-DFC1-63C8-46E8102FF45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1402666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8AC53E-5390-0BAC-E798-C587C01FE6A6}"/>
              </a:ext>
            </a:extLst>
          </p:cNvPr>
          <p:cNvSpPr>
            <a:spLocks noGrp="1"/>
          </p:cNvSpPr>
          <p:nvPr>
            <p:ph type="title"/>
          </p:nvPr>
        </p:nvSpPr>
        <p:spPr/>
        <p:txBody>
          <a:bodyPr/>
          <a:lstStyle/>
          <a:p>
            <a:r>
              <a:rPr lang="en-US" altLang="zh-CN" dirty="0"/>
              <a:t>NV</a:t>
            </a:r>
            <a:r>
              <a:rPr lang="zh-CN" altLang="en-US" dirty="0"/>
              <a:t>口令</a:t>
            </a:r>
          </a:p>
        </p:txBody>
      </p:sp>
      <p:sp>
        <p:nvSpPr>
          <p:cNvPr id="3" name="内容占位符 2">
            <a:extLst>
              <a:ext uri="{FF2B5EF4-FFF2-40B4-BE49-F238E27FC236}">
                <a16:creationId xmlns:a16="http://schemas.microsoft.com/office/drawing/2014/main" id="{AF1D0362-8D3C-AB9C-0639-A229B7E13301}"/>
              </a:ext>
            </a:extLst>
          </p:cNvPr>
          <p:cNvSpPr>
            <a:spLocks noGrp="1"/>
          </p:cNvSpPr>
          <p:nvPr>
            <p:ph idx="1"/>
          </p:nvPr>
        </p:nvSpPr>
        <p:spPr/>
        <p:txBody>
          <a:bodyPr/>
          <a:lstStyle/>
          <a:p>
            <a:r>
              <a:rPr lang="en-US" altLang="zh-CN" dirty="0"/>
              <a:t>TPM</a:t>
            </a:r>
            <a:r>
              <a:rPr lang="zh-CN" altLang="en-US" dirty="0"/>
              <a:t>的微妙之处是用户并不能真正地改变一个</a:t>
            </a:r>
            <a:r>
              <a:rPr lang="en-US" altLang="zh-CN" dirty="0"/>
              <a:t>TPM</a:t>
            </a:r>
            <a:r>
              <a:rPr lang="zh-CN" altLang="en-US" dirty="0"/>
              <a:t>对象的口令。</a:t>
            </a:r>
            <a:r>
              <a:rPr lang="en-US" altLang="zh-CN" dirty="0"/>
              <a:t>TPM2_ObjectChangeAuth</a:t>
            </a:r>
            <a:r>
              <a:rPr lang="zh-CN" altLang="en-US" dirty="0"/>
              <a:t>命令可以使用新的口令创建一个</a:t>
            </a:r>
            <a:r>
              <a:rPr lang="en-US" altLang="zh-CN" dirty="0"/>
              <a:t>TPM</a:t>
            </a:r>
            <a:r>
              <a:rPr lang="zh-CN" altLang="en-US" dirty="0"/>
              <a:t>对象，但是原有的对象仍然存在。用户可以删除所有的对象副本，但是</a:t>
            </a:r>
            <a:r>
              <a:rPr lang="en-US" altLang="zh-CN" dirty="0"/>
              <a:t>TPM</a:t>
            </a:r>
            <a:r>
              <a:rPr lang="zh-CN" altLang="en-US" dirty="0"/>
              <a:t>并不会强制这样做。</a:t>
            </a:r>
          </a:p>
          <a:p>
            <a:endParaRPr lang="zh-CN" altLang="en-US" dirty="0"/>
          </a:p>
          <a:p>
            <a:r>
              <a:rPr lang="zh-CN" altLang="en-US" dirty="0"/>
              <a:t>但是</a:t>
            </a:r>
            <a:r>
              <a:rPr lang="en-US" altLang="zh-CN" dirty="0"/>
              <a:t>NV</a:t>
            </a:r>
            <a:r>
              <a:rPr lang="zh-CN" altLang="en-US" dirty="0"/>
              <a:t>索引并不会有这些奇怪的性质。索引仅仅存在于</a:t>
            </a:r>
            <a:r>
              <a:rPr lang="en-US" altLang="zh-CN" dirty="0"/>
              <a:t>TPM</a:t>
            </a:r>
            <a:r>
              <a:rPr lang="zh-CN" altLang="en-US" dirty="0"/>
              <a:t>中，它们的上下文不能被保存或者是以任何形式存储到</a:t>
            </a:r>
            <a:r>
              <a:rPr lang="en-US" altLang="zh-CN" dirty="0"/>
              <a:t>TPM</a:t>
            </a:r>
            <a:r>
              <a:rPr lang="zh-CN" altLang="en-US" dirty="0"/>
              <a:t>之外。因此，</a:t>
            </a:r>
            <a:r>
              <a:rPr lang="en-US" altLang="zh-CN" dirty="0"/>
              <a:t>TPM2_NV_ChangeAuth</a:t>
            </a:r>
            <a:r>
              <a:rPr lang="zh-CN" altLang="en-US" dirty="0"/>
              <a:t>可以改变</a:t>
            </a:r>
            <a:r>
              <a:rPr lang="en-US" altLang="zh-CN" dirty="0"/>
              <a:t>NV</a:t>
            </a:r>
            <a:r>
              <a:rPr lang="zh-CN" altLang="en-US" dirty="0"/>
              <a:t>对象的口令。</a:t>
            </a:r>
          </a:p>
        </p:txBody>
      </p:sp>
      <p:sp>
        <p:nvSpPr>
          <p:cNvPr id="4" name="灯片编号占位符 3">
            <a:extLst>
              <a:ext uri="{FF2B5EF4-FFF2-40B4-BE49-F238E27FC236}">
                <a16:creationId xmlns:a16="http://schemas.microsoft.com/office/drawing/2014/main" id="{E4B40664-880A-3025-766F-CCB5441351D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30987179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09CB01-042A-A4E4-1BF0-33410194973E}"/>
              </a:ext>
            </a:extLst>
          </p:cNvPr>
          <p:cNvSpPr>
            <a:spLocks noGrp="1"/>
          </p:cNvSpPr>
          <p:nvPr>
            <p:ph type="title"/>
          </p:nvPr>
        </p:nvSpPr>
        <p:spPr/>
        <p:txBody>
          <a:bodyPr/>
          <a:lstStyle/>
          <a:p>
            <a:r>
              <a:rPr lang="en-US" altLang="zh-CN" dirty="0"/>
              <a:t>NV</a:t>
            </a:r>
            <a:r>
              <a:rPr lang="zh-CN" altLang="en-US" dirty="0"/>
              <a:t>索引写操作命令</a:t>
            </a:r>
          </a:p>
        </p:txBody>
      </p:sp>
      <p:sp>
        <p:nvSpPr>
          <p:cNvPr id="3" name="内容占位符 2">
            <a:extLst>
              <a:ext uri="{FF2B5EF4-FFF2-40B4-BE49-F238E27FC236}">
                <a16:creationId xmlns:a16="http://schemas.microsoft.com/office/drawing/2014/main" id="{3A4B5DEE-2973-C626-26B5-E9EF7BD776CC}"/>
              </a:ext>
            </a:extLst>
          </p:cNvPr>
          <p:cNvSpPr>
            <a:spLocks noGrp="1"/>
          </p:cNvSpPr>
          <p:nvPr>
            <p:ph idx="1"/>
          </p:nvPr>
        </p:nvSpPr>
        <p:spPr/>
        <p:txBody>
          <a:bodyPr/>
          <a:lstStyle/>
          <a:p>
            <a:r>
              <a:rPr lang="en-US" altLang="zh-CN" dirty="0"/>
              <a:t>TPM2_NV_Write</a:t>
            </a:r>
            <a:r>
              <a:rPr lang="zh-CN" altLang="en-US" dirty="0"/>
              <a:t>用于写一个普通的</a:t>
            </a:r>
            <a:r>
              <a:rPr lang="en-US" altLang="zh-CN" dirty="0"/>
              <a:t>NV</a:t>
            </a:r>
            <a:r>
              <a:rPr lang="zh-CN" altLang="en-US" dirty="0"/>
              <a:t>索引。索引的属性决定是否可以写</a:t>
            </a:r>
            <a:r>
              <a:rPr lang="en-US" altLang="zh-CN" dirty="0"/>
              <a:t>NV</a:t>
            </a:r>
            <a:r>
              <a:rPr lang="zh-CN" altLang="en-US" dirty="0"/>
              <a:t>索引的部分内存空间。</a:t>
            </a:r>
          </a:p>
          <a:p>
            <a:r>
              <a:rPr lang="en-US" altLang="zh-CN" dirty="0"/>
              <a:t>TPM2_NV_Increment</a:t>
            </a:r>
            <a:r>
              <a:rPr lang="zh-CN" altLang="en-US" dirty="0"/>
              <a:t>用于增加一个</a:t>
            </a:r>
            <a:r>
              <a:rPr lang="en-US" altLang="zh-CN" dirty="0"/>
              <a:t>NV</a:t>
            </a:r>
            <a:r>
              <a:rPr lang="zh-CN" altLang="en-US" dirty="0"/>
              <a:t>计数器索引的值。根据</a:t>
            </a:r>
            <a:r>
              <a:rPr lang="en-US" altLang="zh-CN" dirty="0"/>
              <a:t>NV</a:t>
            </a:r>
            <a:r>
              <a:rPr lang="zh-CN" altLang="en-US" dirty="0"/>
              <a:t>索引属性和计数器当前的值，这个操作可能会产生一个向非易失性内存写数据的操作。</a:t>
            </a:r>
          </a:p>
          <a:p>
            <a:r>
              <a:rPr lang="en-US" altLang="zh-CN" dirty="0"/>
              <a:t>TPM2_NV_Extend</a:t>
            </a:r>
            <a:r>
              <a:rPr lang="zh-CN" altLang="en-US" dirty="0"/>
              <a:t>用于将任意数据（并不一定是哈希值）扩展到</a:t>
            </a:r>
            <a:r>
              <a:rPr lang="en-US" altLang="zh-CN" dirty="0"/>
              <a:t>NV</a:t>
            </a:r>
            <a:r>
              <a:rPr lang="zh-CN" altLang="en-US" dirty="0"/>
              <a:t>扩展索引中。</a:t>
            </a:r>
          </a:p>
          <a:p>
            <a:r>
              <a:rPr lang="en-US" altLang="zh-CN" dirty="0"/>
              <a:t>TPM2_NV_SetBits</a:t>
            </a:r>
            <a:r>
              <a:rPr lang="zh-CN" altLang="en-US" dirty="0"/>
              <a:t>用户设置</a:t>
            </a:r>
            <a:r>
              <a:rPr lang="en-US" altLang="zh-CN" dirty="0"/>
              <a:t>NV</a:t>
            </a:r>
            <a:r>
              <a:rPr lang="zh-CN" altLang="en-US" dirty="0"/>
              <a:t>位域索引的值。它会将命令输入值与当前值做</a:t>
            </a:r>
            <a:r>
              <a:rPr lang="en-US" altLang="zh-CN" dirty="0"/>
              <a:t>OR</a:t>
            </a:r>
            <a:r>
              <a:rPr lang="zh-CN" altLang="en-US" dirty="0"/>
              <a:t>操作。输入全</a:t>
            </a:r>
            <a:r>
              <a:rPr lang="en-US" altLang="zh-CN" dirty="0"/>
              <a:t>0</a:t>
            </a:r>
            <a:r>
              <a:rPr lang="zh-CN" altLang="en-US" dirty="0"/>
              <a:t>是合法并且有用的。它可以让索引变成被写过的同时被初始化为</a:t>
            </a:r>
            <a:r>
              <a:rPr lang="en-US" altLang="zh-CN" dirty="0"/>
              <a:t>0</a:t>
            </a:r>
            <a:r>
              <a:rPr lang="zh-CN" altLang="en-US" dirty="0"/>
              <a:t>。</a:t>
            </a:r>
          </a:p>
        </p:txBody>
      </p:sp>
      <p:sp>
        <p:nvSpPr>
          <p:cNvPr id="4" name="灯片编号占位符 3">
            <a:extLst>
              <a:ext uri="{FF2B5EF4-FFF2-40B4-BE49-F238E27FC236}">
                <a16:creationId xmlns:a16="http://schemas.microsoft.com/office/drawing/2014/main" id="{AECCA5A5-84C8-4017-7AF5-E042B85B1D6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38890837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32E1E-7381-A466-AE67-BC69613B2454}"/>
              </a:ext>
            </a:extLst>
          </p:cNvPr>
          <p:cNvSpPr>
            <a:spLocks noGrp="1"/>
          </p:cNvSpPr>
          <p:nvPr>
            <p:ph type="title"/>
          </p:nvPr>
        </p:nvSpPr>
        <p:spPr/>
        <p:txBody>
          <a:bodyPr/>
          <a:lstStyle/>
          <a:p>
            <a:r>
              <a:rPr lang="en-US" altLang="zh-CN" dirty="0"/>
              <a:t>NV</a:t>
            </a:r>
            <a:r>
              <a:rPr lang="zh-CN" altLang="en-US" dirty="0"/>
              <a:t>索引读操作命令</a:t>
            </a:r>
          </a:p>
        </p:txBody>
      </p:sp>
      <p:sp>
        <p:nvSpPr>
          <p:cNvPr id="3" name="内容占位符 2">
            <a:extLst>
              <a:ext uri="{FF2B5EF4-FFF2-40B4-BE49-F238E27FC236}">
                <a16:creationId xmlns:a16="http://schemas.microsoft.com/office/drawing/2014/main" id="{65EA3C88-F5EA-C97E-A1E6-675A96D5E905}"/>
              </a:ext>
            </a:extLst>
          </p:cNvPr>
          <p:cNvSpPr>
            <a:spLocks noGrp="1"/>
          </p:cNvSpPr>
          <p:nvPr>
            <p:ph idx="1"/>
          </p:nvPr>
        </p:nvSpPr>
        <p:spPr/>
        <p:txBody>
          <a:bodyPr/>
          <a:lstStyle/>
          <a:p>
            <a:r>
              <a:rPr lang="en-US" altLang="zh-CN" dirty="0"/>
              <a:t>TPM2_NV_Read</a:t>
            </a:r>
            <a:r>
              <a:rPr lang="zh-CN" altLang="en-US" dirty="0"/>
              <a:t>可以读取任意的</a:t>
            </a:r>
            <a:r>
              <a:rPr lang="en-US" altLang="zh-CN" dirty="0"/>
              <a:t>NV</a:t>
            </a:r>
            <a:r>
              <a:rPr lang="zh-CN" altLang="en-US" dirty="0"/>
              <a:t>索引对应的数据。一个读操作要求这个索引已经至少被写过一次。</a:t>
            </a:r>
            <a:r>
              <a:rPr lang="en-US" altLang="zh-CN" dirty="0"/>
              <a:t>TPM2_NV_ReadPublic</a:t>
            </a:r>
            <a:r>
              <a:rPr lang="zh-CN" altLang="en-US" dirty="0"/>
              <a:t>可以读取一个索引的公共数据。这个命令与会话审计特性结合之后，用户就可以获得一个</a:t>
            </a:r>
            <a:r>
              <a:rPr lang="en-US" altLang="zh-CN" dirty="0"/>
              <a:t>NV</a:t>
            </a:r>
            <a:r>
              <a:rPr lang="zh-CN" altLang="en-US" dirty="0"/>
              <a:t>索引公共区域的哈希值，从而证明它的属性。</a:t>
            </a:r>
          </a:p>
        </p:txBody>
      </p:sp>
      <p:sp>
        <p:nvSpPr>
          <p:cNvPr id="4" name="灯片编号占位符 3">
            <a:extLst>
              <a:ext uri="{FF2B5EF4-FFF2-40B4-BE49-F238E27FC236}">
                <a16:creationId xmlns:a16="http://schemas.microsoft.com/office/drawing/2014/main" id="{A9AAB855-39E2-87E9-6935-8AF6CF467C3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1945619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A88A8-4F1E-6516-65CE-170A790724D3}"/>
              </a:ext>
            </a:extLst>
          </p:cNvPr>
          <p:cNvSpPr>
            <a:spLocks noGrp="1"/>
          </p:cNvSpPr>
          <p:nvPr>
            <p:ph type="title"/>
          </p:nvPr>
        </p:nvSpPr>
        <p:spPr/>
        <p:txBody>
          <a:bodyPr/>
          <a:lstStyle/>
          <a:p>
            <a:r>
              <a:rPr lang="en-US" altLang="zh-CN" dirty="0"/>
              <a:t>NV</a:t>
            </a:r>
            <a:r>
              <a:rPr lang="zh-CN" altLang="en-US" dirty="0"/>
              <a:t>索引锁定命令</a:t>
            </a:r>
          </a:p>
        </p:txBody>
      </p:sp>
      <p:sp>
        <p:nvSpPr>
          <p:cNvPr id="3" name="内容占位符 2">
            <a:extLst>
              <a:ext uri="{FF2B5EF4-FFF2-40B4-BE49-F238E27FC236}">
                <a16:creationId xmlns:a16="http://schemas.microsoft.com/office/drawing/2014/main" id="{1C40F8EB-CA33-6FD8-C28E-9E946D0BBC27}"/>
              </a:ext>
            </a:extLst>
          </p:cNvPr>
          <p:cNvSpPr>
            <a:spLocks noGrp="1"/>
          </p:cNvSpPr>
          <p:nvPr>
            <p:ph idx="1"/>
          </p:nvPr>
        </p:nvSpPr>
        <p:spPr/>
        <p:txBody>
          <a:bodyPr/>
          <a:lstStyle/>
          <a:p>
            <a:r>
              <a:rPr lang="zh-CN" altLang="en-US" dirty="0"/>
              <a:t> </a:t>
            </a:r>
            <a:r>
              <a:rPr lang="en-US" altLang="zh-CN" dirty="0"/>
              <a:t>TPM2_NV_WriteLock</a:t>
            </a:r>
            <a:r>
              <a:rPr lang="zh-CN" altLang="en-US" dirty="0"/>
              <a:t>可以用于锁定一个索引，索引可以到</a:t>
            </a:r>
            <a:r>
              <a:rPr lang="en-US" altLang="zh-CN" dirty="0"/>
              <a:t>TPM</a:t>
            </a:r>
            <a:r>
              <a:rPr lang="zh-CN" altLang="en-US" dirty="0"/>
              <a:t>下次重启后结束或者永久性的。</a:t>
            </a:r>
          </a:p>
          <a:p>
            <a:r>
              <a:rPr lang="en-US" altLang="zh-CN" dirty="0"/>
              <a:t>TPM2_NV_GlobalWriteLock</a:t>
            </a:r>
            <a:r>
              <a:rPr lang="zh-CN" altLang="en-US" dirty="0"/>
              <a:t>可以锁定一组索引，同样是可以到</a:t>
            </a:r>
            <a:r>
              <a:rPr lang="en-US" altLang="zh-CN" dirty="0"/>
              <a:t>TPM</a:t>
            </a:r>
            <a:r>
              <a:rPr lang="zh-CN" altLang="en-US" dirty="0"/>
              <a:t>下次重启后结束或者永久锁定。</a:t>
            </a:r>
          </a:p>
          <a:p>
            <a:r>
              <a:rPr lang="en-US" altLang="zh-CN" dirty="0"/>
              <a:t>TPM2_NV_ReadLock</a:t>
            </a:r>
            <a:r>
              <a:rPr lang="zh-CN" altLang="en-US" dirty="0"/>
              <a:t>用于锁定索引的读操作，锁定之后索引只能在</a:t>
            </a:r>
            <a:r>
              <a:rPr lang="en-US" altLang="zh-CN" dirty="0"/>
              <a:t>TPM</a:t>
            </a:r>
            <a:r>
              <a:rPr lang="zh-CN" altLang="en-US" dirty="0"/>
              <a:t>重启之后才能被读取。</a:t>
            </a:r>
          </a:p>
          <a:p>
            <a:r>
              <a:rPr lang="en-US" altLang="zh-CN" dirty="0"/>
              <a:t>TPM2_NV_ChangeAuth</a:t>
            </a:r>
            <a:r>
              <a:rPr lang="zh-CN" altLang="en-US" dirty="0"/>
              <a:t>用户改变索引的口令。</a:t>
            </a:r>
            <a:r>
              <a:rPr lang="en-US" altLang="zh-CN" dirty="0"/>
              <a:t>TPM2_NV_Certify</a:t>
            </a:r>
            <a:r>
              <a:rPr lang="zh-CN" altLang="en-US" dirty="0"/>
              <a:t>可以为索引的数据创建一个签名。这个命令在</a:t>
            </a:r>
            <a:r>
              <a:rPr lang="en-US" altLang="zh-CN" dirty="0"/>
              <a:t>PC</a:t>
            </a:r>
            <a:r>
              <a:rPr lang="zh-CN" altLang="en-US" dirty="0"/>
              <a:t>客户端规范中是可选的。但是通过在审计会话中读取索引可以得到一个经过签名的审计摘要，这与</a:t>
            </a:r>
            <a:r>
              <a:rPr lang="en-US" altLang="zh-CN" dirty="0"/>
              <a:t>TPM2_NV_Certify</a:t>
            </a:r>
            <a:r>
              <a:rPr lang="zh-CN" altLang="en-US" dirty="0"/>
              <a:t>的结果类似。</a:t>
            </a:r>
          </a:p>
        </p:txBody>
      </p:sp>
      <p:sp>
        <p:nvSpPr>
          <p:cNvPr id="4" name="灯片编号占位符 3">
            <a:extLst>
              <a:ext uri="{FF2B5EF4-FFF2-40B4-BE49-F238E27FC236}">
                <a16:creationId xmlns:a16="http://schemas.microsoft.com/office/drawing/2014/main" id="{F5DC1E3B-A2DD-15A0-80A4-B4167AEE15F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38222428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85F746-8C90-FC2C-9B4F-99D894F2EACE}"/>
              </a:ext>
            </a:extLst>
          </p:cNvPr>
          <p:cNvSpPr>
            <a:spLocks noGrp="1"/>
          </p:cNvSpPr>
          <p:nvPr>
            <p:ph type="title"/>
          </p:nvPr>
        </p:nvSpPr>
        <p:spPr/>
        <p:txBody>
          <a:bodyPr/>
          <a:lstStyle/>
          <a:p>
            <a:r>
              <a:rPr lang="en-US" altLang="zh-CN" dirty="0"/>
              <a:t>NV</a:t>
            </a:r>
            <a:r>
              <a:rPr lang="zh-CN" altLang="en-US" dirty="0"/>
              <a:t>索引总结</a:t>
            </a:r>
          </a:p>
        </p:txBody>
      </p:sp>
      <p:sp>
        <p:nvSpPr>
          <p:cNvPr id="3" name="内容占位符 2">
            <a:extLst>
              <a:ext uri="{FF2B5EF4-FFF2-40B4-BE49-F238E27FC236}">
                <a16:creationId xmlns:a16="http://schemas.microsoft.com/office/drawing/2014/main" id="{F5C03C50-1287-AFA8-C35A-4258F2887F09}"/>
              </a:ext>
            </a:extLst>
          </p:cNvPr>
          <p:cNvSpPr>
            <a:spLocks noGrp="1"/>
          </p:cNvSpPr>
          <p:nvPr>
            <p:ph idx="1"/>
          </p:nvPr>
        </p:nvSpPr>
        <p:spPr/>
        <p:txBody>
          <a:bodyPr/>
          <a:lstStyle/>
          <a:p>
            <a:r>
              <a:rPr lang="en-US" altLang="zh-CN" dirty="0"/>
              <a:t>TPM2.0</a:t>
            </a:r>
            <a:r>
              <a:rPr lang="zh-CN" altLang="en-US" dirty="0"/>
              <a:t>有四种类型的</a:t>
            </a:r>
            <a:r>
              <a:rPr lang="en-US" altLang="zh-CN" dirty="0"/>
              <a:t>NV</a:t>
            </a:r>
            <a:r>
              <a:rPr lang="zh-CN" altLang="en-US" dirty="0"/>
              <a:t>索引：普通（非结构化的数据），位域，计数器，和扩展数据索引。可以使用标准的</a:t>
            </a:r>
            <a:r>
              <a:rPr lang="en-US" altLang="zh-CN" dirty="0"/>
              <a:t>TPM</a:t>
            </a:r>
            <a:r>
              <a:rPr lang="zh-CN" altLang="en-US" dirty="0"/>
              <a:t>口令或者策略控制来读取或写入索引。混合索引通常情况下只存在于易失性内存中，但是正常的</a:t>
            </a:r>
            <a:r>
              <a:rPr lang="en-US" altLang="zh-CN" dirty="0"/>
              <a:t>TPM</a:t>
            </a:r>
            <a:r>
              <a:rPr lang="zh-CN" altLang="en-US" dirty="0"/>
              <a:t>关闭时可以将其中的数据存储到非易失性内存中。这个特点可以避免产生性能和</a:t>
            </a:r>
            <a:r>
              <a:rPr lang="en-US" altLang="zh-CN" dirty="0"/>
              <a:t>NV</a:t>
            </a:r>
            <a:r>
              <a:rPr lang="zh-CN" altLang="en-US" dirty="0"/>
              <a:t>空间被写坏的问题。当一个索引被创建后，它具有一个没有被写过的状态。如果没有被写过，</a:t>
            </a:r>
            <a:r>
              <a:rPr lang="en-US" altLang="zh-CN" dirty="0"/>
              <a:t>NV</a:t>
            </a:r>
            <a:r>
              <a:rPr lang="zh-CN" altLang="en-US" dirty="0"/>
              <a:t>数据就不能被读取或者用于</a:t>
            </a:r>
            <a:r>
              <a:rPr lang="en-US" altLang="zh-CN" dirty="0"/>
              <a:t>policy</a:t>
            </a:r>
            <a:r>
              <a:rPr lang="zh-CN" altLang="en-US" dirty="0"/>
              <a:t>中，“未被写过”这个状态本身可以在策略中使用。</a:t>
            </a:r>
          </a:p>
        </p:txBody>
      </p:sp>
      <p:sp>
        <p:nvSpPr>
          <p:cNvPr id="4" name="灯片编号占位符 3">
            <a:extLst>
              <a:ext uri="{FF2B5EF4-FFF2-40B4-BE49-F238E27FC236}">
                <a16:creationId xmlns:a16="http://schemas.microsoft.com/office/drawing/2014/main" id="{9D978E9C-A77E-F750-72F0-9A0F03C5763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24863978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15183F-06FD-AD8A-51FA-DAA32E62275C}"/>
              </a:ext>
            </a:extLst>
          </p:cNvPr>
          <p:cNvSpPr>
            <a:spLocks noGrp="1"/>
          </p:cNvSpPr>
          <p:nvPr>
            <p:ph type="title"/>
          </p:nvPr>
        </p:nvSpPr>
        <p:spPr/>
        <p:txBody>
          <a:bodyPr/>
          <a:lstStyle/>
          <a:p>
            <a:r>
              <a:rPr lang="en-US" altLang="zh-CN" dirty="0"/>
              <a:t>NV</a:t>
            </a:r>
            <a:r>
              <a:rPr lang="zh-CN" altLang="en-US" dirty="0"/>
              <a:t>索引总结</a:t>
            </a:r>
          </a:p>
        </p:txBody>
      </p:sp>
      <p:sp>
        <p:nvSpPr>
          <p:cNvPr id="3" name="内容占位符 2">
            <a:extLst>
              <a:ext uri="{FF2B5EF4-FFF2-40B4-BE49-F238E27FC236}">
                <a16:creationId xmlns:a16="http://schemas.microsoft.com/office/drawing/2014/main" id="{528060AC-C420-C26C-AF2C-79ED005ADCE2}"/>
              </a:ext>
            </a:extLst>
          </p:cNvPr>
          <p:cNvSpPr>
            <a:spLocks noGrp="1"/>
          </p:cNvSpPr>
          <p:nvPr>
            <p:ph idx="1"/>
          </p:nvPr>
        </p:nvSpPr>
        <p:spPr/>
        <p:txBody>
          <a:bodyPr/>
          <a:lstStyle/>
          <a:p>
            <a:r>
              <a:rPr lang="zh-CN" altLang="en-US" dirty="0"/>
              <a:t>给</a:t>
            </a:r>
            <a:r>
              <a:rPr lang="en-US" altLang="zh-CN" dirty="0"/>
              <a:t>TPM</a:t>
            </a:r>
            <a:r>
              <a:rPr lang="zh-CN" altLang="en-US" dirty="0"/>
              <a:t>设备初始配置证书或者公钥是</a:t>
            </a:r>
            <a:r>
              <a:rPr lang="en-US" altLang="zh-CN" dirty="0"/>
              <a:t>NV</a:t>
            </a:r>
            <a:r>
              <a:rPr lang="zh-CN" altLang="en-US" dirty="0"/>
              <a:t>索引的基本应用。高级一点的应用是将</a:t>
            </a:r>
            <a:r>
              <a:rPr lang="en-US" altLang="zh-CN" dirty="0"/>
              <a:t>NV</a:t>
            </a:r>
            <a:r>
              <a:rPr lang="zh-CN" altLang="en-US" dirty="0"/>
              <a:t>授权信息应用于一个策略中，然后让多个</a:t>
            </a:r>
            <a:r>
              <a:rPr lang="en-US" altLang="zh-CN" dirty="0"/>
              <a:t>TPM</a:t>
            </a:r>
            <a:r>
              <a:rPr lang="zh-CN" altLang="en-US" dirty="0"/>
              <a:t>实体共享这个策略。一个使用位字段索引或者计数器索引的策略可被用于撤销密钥访问权限。一个扩展的索引提供与</a:t>
            </a:r>
            <a:r>
              <a:rPr lang="en-US" altLang="zh-CN" dirty="0"/>
              <a:t>PCR</a:t>
            </a:r>
            <a:r>
              <a:rPr lang="zh-CN" altLang="en-US" dirty="0"/>
              <a:t>相同的特性，它可以支持不同的算法，支持授权，并且具有相同的生命周期特性。</a:t>
            </a:r>
          </a:p>
          <a:p>
            <a:endParaRPr lang="zh-CN" altLang="en-US" dirty="0"/>
          </a:p>
          <a:p>
            <a:r>
              <a:rPr lang="en-US" altLang="zh-CN" dirty="0"/>
              <a:t>NV</a:t>
            </a:r>
            <a:r>
              <a:rPr lang="zh-CN" altLang="en-US" dirty="0"/>
              <a:t>索引有独立的几组命令和属性用于控制授权，读写锁定，以及字典攻击保护。</a:t>
            </a:r>
          </a:p>
        </p:txBody>
      </p:sp>
      <p:sp>
        <p:nvSpPr>
          <p:cNvPr id="4" name="灯片编号占位符 3">
            <a:extLst>
              <a:ext uri="{FF2B5EF4-FFF2-40B4-BE49-F238E27FC236}">
                <a16:creationId xmlns:a16="http://schemas.microsoft.com/office/drawing/2014/main" id="{225883B4-57B1-8366-0A80-6C8BDF92EC3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4260393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C4116-9AA5-862A-75CE-7AC74FFA8F80}"/>
              </a:ext>
            </a:extLst>
          </p:cNvPr>
          <p:cNvSpPr>
            <a:spLocks noGrp="1"/>
          </p:cNvSpPr>
          <p:nvPr>
            <p:ph type="title"/>
          </p:nvPr>
        </p:nvSpPr>
        <p:spPr/>
        <p:txBody>
          <a:bodyPr/>
          <a:lstStyle/>
          <a:p>
            <a:r>
              <a:rPr lang="en-US" altLang="zh-CN" dirty="0"/>
              <a:t>PCR</a:t>
            </a:r>
            <a:endParaRPr lang="zh-CN" altLang="en-US" dirty="0"/>
          </a:p>
        </p:txBody>
      </p:sp>
      <p:sp>
        <p:nvSpPr>
          <p:cNvPr id="3" name="内容占位符 2">
            <a:extLst>
              <a:ext uri="{FF2B5EF4-FFF2-40B4-BE49-F238E27FC236}">
                <a16:creationId xmlns:a16="http://schemas.microsoft.com/office/drawing/2014/main" id="{9AFBCA53-FC0F-342D-802B-0698964D13AB}"/>
              </a:ext>
            </a:extLst>
          </p:cNvPr>
          <p:cNvSpPr>
            <a:spLocks noGrp="1"/>
          </p:cNvSpPr>
          <p:nvPr>
            <p:ph idx="1"/>
          </p:nvPr>
        </p:nvSpPr>
        <p:spPr/>
        <p:txBody>
          <a:bodyPr/>
          <a:lstStyle/>
          <a:p>
            <a:r>
              <a:rPr lang="zh-CN" altLang="en-US" dirty="0"/>
              <a:t>平台配置寄存器是</a:t>
            </a:r>
            <a:r>
              <a:rPr lang="en-US" altLang="zh-CN" dirty="0"/>
              <a:t>TPM</a:t>
            </a:r>
            <a:r>
              <a:rPr lang="zh-CN" altLang="en-US" dirty="0"/>
              <a:t>必需的特性之一。它们最初的应用是用于提供一种密码学的方式记录（测量）软件的状态：包括平台上运行的软件和软件使用的配置数据。</a:t>
            </a:r>
            <a:r>
              <a:rPr lang="en-US" altLang="zh-CN" dirty="0"/>
              <a:t>PCR</a:t>
            </a:r>
            <a:r>
              <a:rPr lang="zh-CN" altLang="en-US" dirty="0"/>
              <a:t>的更新方法叫做扩展，扩展是一种单向的哈希操作，从而保证测量值不被篡改。可以通过读取这些</a:t>
            </a:r>
            <a:r>
              <a:rPr lang="en-US" altLang="zh-CN" dirty="0"/>
              <a:t>PCR</a:t>
            </a:r>
            <a:r>
              <a:rPr lang="zh-CN" altLang="en-US" dirty="0"/>
              <a:t>的值报告相关软件的状态。此外，这些</a:t>
            </a:r>
            <a:r>
              <a:rPr lang="en-US" altLang="zh-CN" dirty="0"/>
              <a:t>PCR</a:t>
            </a:r>
            <a:r>
              <a:rPr lang="zh-CN" altLang="en-US" dirty="0"/>
              <a:t>的值可以被签名然后用于更加安全的报告，这被称作认证（或者说引用）。</a:t>
            </a:r>
            <a:r>
              <a:rPr lang="en-US" altLang="zh-CN" dirty="0"/>
              <a:t>PCR</a:t>
            </a:r>
            <a:r>
              <a:rPr lang="zh-CN" altLang="en-US" dirty="0"/>
              <a:t>还可以被用于扩展的授权</a:t>
            </a:r>
            <a:r>
              <a:rPr lang="en-US" altLang="zh-CN" dirty="0"/>
              <a:t>policy</a:t>
            </a:r>
            <a:r>
              <a:rPr lang="zh-CN" altLang="en-US" dirty="0"/>
              <a:t>从而限制其他</a:t>
            </a:r>
            <a:r>
              <a:rPr lang="en-US" altLang="zh-CN" dirty="0"/>
              <a:t>TPM</a:t>
            </a:r>
            <a:r>
              <a:rPr lang="zh-CN" altLang="en-US" dirty="0"/>
              <a:t>对象的使用。</a:t>
            </a:r>
            <a:endParaRPr lang="en-US" altLang="zh-CN" dirty="0"/>
          </a:p>
          <a:p>
            <a:r>
              <a:rPr lang="en-US" altLang="zh-CN" dirty="0"/>
              <a:t>TPM</a:t>
            </a:r>
            <a:r>
              <a:rPr lang="zh-CN" altLang="en-US" dirty="0"/>
              <a:t>从来不对测量的结果做任何判定。单单根据</a:t>
            </a:r>
            <a:r>
              <a:rPr lang="en-US" altLang="zh-CN" dirty="0"/>
              <a:t>TPM</a:t>
            </a:r>
            <a:r>
              <a:rPr lang="zh-CN" altLang="en-US" dirty="0"/>
              <a:t>内部的信息来看，并不能确定测量结果的好坏，或者结果是否安全可信。在测量软件时，</a:t>
            </a:r>
            <a:r>
              <a:rPr lang="en-US" altLang="zh-CN" dirty="0"/>
              <a:t>TPM</a:t>
            </a:r>
            <a:r>
              <a:rPr lang="zh-CN" altLang="en-US" dirty="0"/>
              <a:t>仅仅用</a:t>
            </a:r>
            <a:r>
              <a:rPr lang="en-US" altLang="zh-CN" dirty="0"/>
              <a:t>PCR</a:t>
            </a:r>
            <a:r>
              <a:rPr lang="zh-CN" altLang="en-US" dirty="0"/>
              <a:t>来记录测量值。至于是否安全，这要到应用程序真正使用</a:t>
            </a:r>
            <a:r>
              <a:rPr lang="en-US" altLang="zh-CN" dirty="0"/>
              <a:t>PCR</a:t>
            </a:r>
            <a:r>
              <a:rPr lang="zh-CN" altLang="en-US" dirty="0"/>
              <a:t>用于</a:t>
            </a:r>
            <a:r>
              <a:rPr lang="en-US" altLang="zh-CN" dirty="0"/>
              <a:t>policy</a:t>
            </a:r>
            <a:r>
              <a:rPr lang="zh-CN" altLang="en-US" dirty="0"/>
              <a:t>授权的时候，或者是远程请求者请求一个签名认证（</a:t>
            </a:r>
            <a:r>
              <a:rPr lang="en-US" altLang="zh-CN" dirty="0"/>
              <a:t>quote</a:t>
            </a:r>
            <a:r>
              <a:rPr lang="zh-CN" altLang="en-US" dirty="0"/>
              <a:t>，引用）然后判定可信性。</a:t>
            </a:r>
          </a:p>
        </p:txBody>
      </p:sp>
      <p:sp>
        <p:nvSpPr>
          <p:cNvPr id="4" name="灯片编号占位符 3">
            <a:extLst>
              <a:ext uri="{FF2B5EF4-FFF2-40B4-BE49-F238E27FC236}">
                <a16:creationId xmlns:a16="http://schemas.microsoft.com/office/drawing/2014/main" id="{BED9C436-085F-0C07-66E4-8AFDE092F95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17088629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A54C9B-6927-EB9A-8B24-A9520BB2140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9FA43C4-20BC-67E9-4A6E-2A37C7A8D294}"/>
              </a:ext>
            </a:extLst>
          </p:cNvPr>
          <p:cNvSpPr>
            <a:spLocks noGrp="1"/>
          </p:cNvSpPr>
          <p:nvPr>
            <p:ph idx="1"/>
          </p:nvPr>
        </p:nvSpPr>
        <p:spPr/>
        <p:txBody>
          <a:bodyPr/>
          <a:lstStyle/>
          <a:p>
            <a:r>
              <a:rPr lang="en-US" altLang="zh-CN" dirty="0"/>
              <a:t>TPM2.0</a:t>
            </a:r>
            <a:r>
              <a:rPr lang="zh-CN" altLang="en-US" dirty="0"/>
              <a:t>新增加的关于</a:t>
            </a:r>
            <a:r>
              <a:rPr lang="en-US" altLang="zh-CN" dirty="0"/>
              <a:t>PCR</a:t>
            </a:r>
            <a:r>
              <a:rPr lang="zh-CN" altLang="en-US" dirty="0"/>
              <a:t>的特性是，</a:t>
            </a:r>
            <a:r>
              <a:rPr lang="en-US" altLang="zh-CN" dirty="0"/>
              <a:t>TPM</a:t>
            </a:r>
            <a:r>
              <a:rPr lang="zh-CN" altLang="en-US" dirty="0"/>
              <a:t>不再将</a:t>
            </a:r>
            <a:r>
              <a:rPr lang="en-US" altLang="zh-CN" dirty="0"/>
              <a:t>PCR</a:t>
            </a:r>
            <a:r>
              <a:rPr lang="zh-CN" altLang="en-US" dirty="0"/>
              <a:t>的哈希算法固定为</a:t>
            </a:r>
            <a:r>
              <a:rPr lang="en-US" altLang="zh-CN" dirty="0"/>
              <a:t>SHA-1</a:t>
            </a:r>
            <a:r>
              <a:rPr lang="zh-CN" altLang="en-US" dirty="0"/>
              <a:t>。哈希算法现在可以修改了。有一些</a:t>
            </a:r>
            <a:r>
              <a:rPr lang="en-US" altLang="zh-CN" dirty="0"/>
              <a:t>TPM</a:t>
            </a:r>
            <a:r>
              <a:rPr lang="zh-CN" altLang="en-US" dirty="0"/>
              <a:t>的实现包含</a:t>
            </a:r>
            <a:r>
              <a:rPr lang="en-US" altLang="zh-CN" dirty="0"/>
              <a:t>bank</a:t>
            </a:r>
            <a:r>
              <a:rPr lang="zh-CN" altLang="en-US" dirty="0"/>
              <a:t>的概念，每一个</a:t>
            </a:r>
            <a:r>
              <a:rPr lang="en-US" altLang="zh-CN" dirty="0"/>
              <a:t>bank</a:t>
            </a:r>
            <a:r>
              <a:rPr lang="zh-CN" altLang="en-US" dirty="0"/>
              <a:t>实现一种不同的算法。</a:t>
            </a:r>
          </a:p>
          <a:p>
            <a:endParaRPr lang="zh-CN" altLang="en-US" dirty="0"/>
          </a:p>
          <a:p>
            <a:r>
              <a:rPr lang="zh-CN" altLang="en-US" dirty="0"/>
              <a:t>一个</a:t>
            </a:r>
            <a:r>
              <a:rPr lang="en-US" altLang="zh-CN" dirty="0"/>
              <a:t>TPM</a:t>
            </a:r>
            <a:r>
              <a:rPr lang="zh-CN" altLang="en-US" dirty="0"/>
              <a:t>会实现一定数量的</a:t>
            </a:r>
            <a:r>
              <a:rPr lang="en-US" altLang="zh-CN" dirty="0"/>
              <a:t>PCR</a:t>
            </a:r>
            <a:r>
              <a:rPr lang="zh-CN" altLang="en-US" dirty="0"/>
              <a:t>：比如说，</a:t>
            </a:r>
            <a:r>
              <a:rPr lang="en-US" altLang="zh-CN" dirty="0"/>
              <a:t>PC</a:t>
            </a:r>
            <a:r>
              <a:rPr lang="zh-CN" altLang="en-US" dirty="0"/>
              <a:t>上使用的</a:t>
            </a:r>
            <a:r>
              <a:rPr lang="en-US" altLang="zh-CN" dirty="0"/>
              <a:t>TPM</a:t>
            </a:r>
            <a:r>
              <a:rPr lang="zh-CN" altLang="en-US" dirty="0"/>
              <a:t>实现了</a:t>
            </a:r>
            <a:r>
              <a:rPr lang="en-US" altLang="zh-CN" dirty="0"/>
              <a:t>24</a:t>
            </a:r>
            <a:r>
              <a:rPr lang="zh-CN" altLang="en-US" dirty="0"/>
              <a:t>个。这些</a:t>
            </a:r>
            <a:r>
              <a:rPr lang="en-US" altLang="zh-CN" dirty="0"/>
              <a:t>PCR</a:t>
            </a:r>
            <a:r>
              <a:rPr lang="zh-CN" altLang="en-US" dirty="0"/>
              <a:t>按照惯例被分配给各种各样的软件层使用，软件类型从早期启动代码到操作系统和应用。这些</a:t>
            </a:r>
            <a:r>
              <a:rPr lang="en-US" altLang="zh-CN" dirty="0"/>
              <a:t>PCR</a:t>
            </a:r>
            <a:r>
              <a:rPr lang="zh-CN" altLang="en-US" dirty="0"/>
              <a:t>的分配还可以分为以下两类：需要运行的软件（通常是偶数序号的</a:t>
            </a:r>
            <a:r>
              <a:rPr lang="en-US" altLang="zh-CN" dirty="0"/>
              <a:t>PCR</a:t>
            </a:r>
            <a:r>
              <a:rPr lang="zh-CN" altLang="en-US" dirty="0"/>
              <a:t>），和用于定制启动过程的配置文件（通常是奇数序号的</a:t>
            </a:r>
            <a:r>
              <a:rPr lang="en-US" altLang="zh-CN" dirty="0"/>
              <a:t>PCR</a:t>
            </a:r>
            <a:r>
              <a:rPr lang="zh-CN" altLang="en-US" dirty="0"/>
              <a:t>）。</a:t>
            </a:r>
          </a:p>
        </p:txBody>
      </p:sp>
      <p:sp>
        <p:nvSpPr>
          <p:cNvPr id="4" name="灯片编号占位符 3">
            <a:extLst>
              <a:ext uri="{FF2B5EF4-FFF2-40B4-BE49-F238E27FC236}">
                <a16:creationId xmlns:a16="http://schemas.microsoft.com/office/drawing/2014/main" id="{3C962898-F48B-6F92-DF88-60A9983592A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20069696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84C8A6-9A24-2557-B355-6C14BCE150D4}"/>
              </a:ext>
            </a:extLst>
          </p:cNvPr>
          <p:cNvSpPr>
            <a:spLocks noGrp="1"/>
          </p:cNvSpPr>
          <p:nvPr>
            <p:ph type="title"/>
          </p:nvPr>
        </p:nvSpPr>
        <p:spPr/>
        <p:txBody>
          <a:bodyPr/>
          <a:lstStyle/>
          <a:p>
            <a:r>
              <a:rPr lang="zh-CN" altLang="en-US" dirty="0"/>
              <a:t>平台配置寄存器</a:t>
            </a:r>
            <a:r>
              <a:rPr lang="en-US" altLang="zh-CN" dirty="0"/>
              <a:t>PCR</a:t>
            </a:r>
            <a:endParaRPr lang="zh-CN" altLang="en-US" dirty="0"/>
          </a:p>
        </p:txBody>
      </p:sp>
      <p:sp>
        <p:nvSpPr>
          <p:cNvPr id="3" name="内容占位符 2">
            <a:extLst>
              <a:ext uri="{FF2B5EF4-FFF2-40B4-BE49-F238E27FC236}">
                <a16:creationId xmlns:a16="http://schemas.microsoft.com/office/drawing/2014/main" id="{11789486-4E70-A5B0-7440-014ACAFA172D}"/>
              </a:ext>
            </a:extLst>
          </p:cNvPr>
          <p:cNvSpPr>
            <a:spLocks noGrp="1"/>
          </p:cNvSpPr>
          <p:nvPr>
            <p:ph idx="1"/>
          </p:nvPr>
        </p:nvSpPr>
        <p:spPr/>
        <p:txBody>
          <a:bodyPr/>
          <a:lstStyle/>
          <a:p>
            <a:r>
              <a:rPr lang="en-US" altLang="zh-CN" dirty="0"/>
              <a:t>PCR</a:t>
            </a:r>
            <a:r>
              <a:rPr lang="zh-CN" altLang="en-US" dirty="0"/>
              <a:t>最初的应用场景是用于表示平台软件的状态，重要软件运行到当前阶段时的历史信息（包括配置信息）。</a:t>
            </a:r>
            <a:r>
              <a:rPr lang="en-US" altLang="zh-CN" dirty="0">
                <a:solidFill>
                  <a:srgbClr val="FF0000"/>
                </a:solidFill>
              </a:rPr>
              <a:t>TPM</a:t>
            </a:r>
            <a:r>
              <a:rPr lang="zh-CN" altLang="en-US" dirty="0">
                <a:solidFill>
                  <a:srgbClr val="FF0000"/>
                </a:solidFill>
              </a:rPr>
              <a:t>上电时会初始化所有的</a:t>
            </a:r>
            <a:r>
              <a:rPr lang="en-US" altLang="zh-CN" dirty="0">
                <a:solidFill>
                  <a:srgbClr val="FF0000"/>
                </a:solidFill>
              </a:rPr>
              <a:t>PCR</a:t>
            </a:r>
            <a:r>
              <a:rPr lang="zh-CN" altLang="en-US" dirty="0"/>
              <a:t>，初始值由</a:t>
            </a:r>
            <a:r>
              <a:rPr lang="en-US" altLang="zh-CN" dirty="0"/>
              <a:t>TPM</a:t>
            </a:r>
            <a:r>
              <a:rPr lang="zh-CN" altLang="en-US" dirty="0"/>
              <a:t>平台相关的规范定义，通常是全</a:t>
            </a:r>
            <a:r>
              <a:rPr lang="en-US" altLang="zh-CN" dirty="0"/>
              <a:t>0</a:t>
            </a:r>
            <a:r>
              <a:rPr lang="zh-CN" altLang="en-US" dirty="0"/>
              <a:t>或者全</a:t>
            </a:r>
            <a:r>
              <a:rPr lang="en-US" altLang="zh-CN" dirty="0"/>
              <a:t>1</a:t>
            </a:r>
            <a:r>
              <a:rPr lang="zh-CN" altLang="en-US" dirty="0"/>
              <a:t>。命令调用者不能直接向</a:t>
            </a:r>
            <a:r>
              <a:rPr lang="en-US" altLang="zh-CN" dirty="0"/>
              <a:t>PCR</a:t>
            </a:r>
            <a:r>
              <a:rPr lang="zh-CN" altLang="en-US" dirty="0"/>
              <a:t>写值。相反，</a:t>
            </a:r>
            <a:r>
              <a:rPr lang="en-US" altLang="zh-CN" dirty="0"/>
              <a:t>PCR</a:t>
            </a:r>
            <a:r>
              <a:rPr lang="zh-CN" altLang="en-US" dirty="0"/>
              <a:t>值的更新是通过被称为“扩展”的操作来完成的，这是一种链接式的哈希运算。从密码学的角度来看，这个过程如下：</a:t>
            </a:r>
          </a:p>
          <a:p>
            <a:r>
              <a:rPr lang="en-US" altLang="zh-CN" dirty="0"/>
              <a:t>PCR new value = Digest of (PCR old value || data to extend)</a:t>
            </a:r>
          </a:p>
          <a:p>
            <a:r>
              <a:rPr lang="en-US" altLang="zh-CN" dirty="0"/>
              <a:t>TPM</a:t>
            </a:r>
            <a:r>
              <a:rPr lang="zh-CN" altLang="en-US" dirty="0"/>
              <a:t>将会把需要加进来的数据连接到旧的</a:t>
            </a:r>
            <a:r>
              <a:rPr lang="en-US" altLang="zh-CN" dirty="0"/>
              <a:t>PCR</a:t>
            </a:r>
            <a:r>
              <a:rPr lang="zh-CN" altLang="en-US" dirty="0"/>
              <a:t>值中。要被扩展到</a:t>
            </a:r>
            <a:r>
              <a:rPr lang="en-US" altLang="zh-CN" dirty="0"/>
              <a:t>PCR</a:t>
            </a:r>
            <a:r>
              <a:rPr lang="zh-CN" altLang="en-US" dirty="0"/>
              <a:t>中的数据几乎总是哈希值，尽管</a:t>
            </a:r>
            <a:r>
              <a:rPr lang="en-US" altLang="zh-CN" dirty="0"/>
              <a:t>TPM</a:t>
            </a:r>
            <a:r>
              <a:rPr lang="zh-CN" altLang="en-US" dirty="0"/>
              <a:t>并没有限制一定是哈希值。然后</a:t>
            </a:r>
            <a:r>
              <a:rPr lang="en-US" altLang="zh-CN" dirty="0"/>
              <a:t>TPM</a:t>
            </a:r>
            <a:r>
              <a:rPr lang="zh-CN" altLang="en-US" dirty="0"/>
              <a:t>会对这个刚刚连接好的值做哈希，然后将新的哈希值存储到</a:t>
            </a:r>
            <a:r>
              <a:rPr lang="en-US" altLang="zh-CN" dirty="0"/>
              <a:t>PCR</a:t>
            </a:r>
            <a:r>
              <a:rPr lang="zh-CN" altLang="en-US" dirty="0"/>
              <a:t>中。</a:t>
            </a:r>
          </a:p>
        </p:txBody>
      </p:sp>
      <p:sp>
        <p:nvSpPr>
          <p:cNvPr id="4" name="灯片编号占位符 3">
            <a:extLst>
              <a:ext uri="{FF2B5EF4-FFF2-40B4-BE49-F238E27FC236}">
                <a16:creationId xmlns:a16="http://schemas.microsoft.com/office/drawing/2014/main" id="{39ED4099-4B40-5826-3F29-1633EF492AF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29327020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F969A6-5D3D-9B49-57DC-7F5107BBD26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6B6904F-2178-A820-76AF-C3767C1EC206}"/>
              </a:ext>
            </a:extLst>
          </p:cNvPr>
          <p:cNvSpPr>
            <a:spLocks noGrp="1"/>
          </p:cNvSpPr>
          <p:nvPr>
            <p:ph idx="1"/>
          </p:nvPr>
        </p:nvSpPr>
        <p:spPr/>
        <p:txBody>
          <a:bodyPr/>
          <a:lstStyle/>
          <a:p>
            <a:r>
              <a:rPr lang="zh-CN" altLang="en-US" dirty="0"/>
              <a:t>系统重启以后，整个平台的运行由</a:t>
            </a:r>
            <a:r>
              <a:rPr lang="en-US" altLang="zh-CN" dirty="0"/>
              <a:t>CRTM</a:t>
            </a:r>
            <a:r>
              <a:rPr lang="zh-CN" altLang="en-US" dirty="0"/>
              <a:t>（</a:t>
            </a:r>
            <a:r>
              <a:rPr lang="en-US" altLang="zh-CN" dirty="0"/>
              <a:t>Core Root of Trust Measurement</a:t>
            </a:r>
            <a:r>
              <a:rPr lang="zh-CN" altLang="en-US" dirty="0"/>
              <a:t>）开始。</a:t>
            </a:r>
            <a:r>
              <a:rPr lang="en-US" altLang="zh-CN" dirty="0"/>
              <a:t>CRTM</a:t>
            </a:r>
            <a:r>
              <a:rPr lang="zh-CN" altLang="en-US" dirty="0"/>
              <a:t>会测量接下来将要运行的软件并将测量值扩展到一个偶数索引的</a:t>
            </a:r>
            <a:r>
              <a:rPr lang="en-US" altLang="zh-CN" dirty="0"/>
              <a:t>PCR</a:t>
            </a:r>
            <a:r>
              <a:rPr lang="zh-CN" altLang="en-US" dirty="0"/>
              <a:t>中。然后</a:t>
            </a:r>
            <a:r>
              <a:rPr lang="en-US" altLang="zh-CN" dirty="0"/>
              <a:t>CRTM</a:t>
            </a:r>
            <a:r>
              <a:rPr lang="zh-CN" altLang="en-US" dirty="0"/>
              <a:t>还会将软件的配置信息扩展到一个奇数索引的</a:t>
            </a:r>
            <a:r>
              <a:rPr lang="en-US" altLang="zh-CN" dirty="0"/>
              <a:t>PCR</a:t>
            </a:r>
            <a:r>
              <a:rPr lang="zh-CN" altLang="en-US" dirty="0"/>
              <a:t>中。这个被测量的软件，可能是</a:t>
            </a:r>
            <a:r>
              <a:rPr lang="en-US" altLang="zh-CN" dirty="0"/>
              <a:t>BIOS</a:t>
            </a:r>
            <a:r>
              <a:rPr lang="zh-CN" altLang="en-US" dirty="0"/>
              <a:t>，反过来又会测量和扩展它的下一级软件，这或许是</a:t>
            </a:r>
            <a:r>
              <a:rPr lang="en-US" altLang="zh-CN" dirty="0"/>
              <a:t>MBR</a:t>
            </a:r>
            <a:r>
              <a:rPr lang="zh-CN" altLang="en-US" dirty="0"/>
              <a:t>。这个测量链就这样继续下去直到测量完成早期的系统内核代码。在这个过程中，重要的安全配置文件也会被测量。</a:t>
            </a:r>
          </a:p>
          <a:p>
            <a:endParaRPr lang="zh-CN" altLang="en-US" dirty="0"/>
          </a:p>
          <a:p>
            <a:r>
              <a:rPr lang="zh-CN" altLang="en-US" dirty="0"/>
              <a:t>最终测量的结果就是</a:t>
            </a:r>
            <a:r>
              <a:rPr lang="en-US" altLang="zh-CN" dirty="0"/>
              <a:t>PCR</a:t>
            </a:r>
            <a:r>
              <a:rPr lang="zh-CN" altLang="en-US" dirty="0"/>
              <a:t>的值，它代表了所有扩展到</a:t>
            </a:r>
            <a:r>
              <a:rPr lang="en-US" altLang="zh-CN" dirty="0"/>
              <a:t>PCR</a:t>
            </a:r>
            <a:r>
              <a:rPr lang="zh-CN" altLang="en-US" dirty="0"/>
              <a:t>中的测量历史。因为安全摘要机制的单向属性，这些值是无法篡改的。</a:t>
            </a:r>
          </a:p>
        </p:txBody>
      </p:sp>
      <p:sp>
        <p:nvSpPr>
          <p:cNvPr id="4" name="灯片编号占位符 3">
            <a:extLst>
              <a:ext uri="{FF2B5EF4-FFF2-40B4-BE49-F238E27FC236}">
                <a16:creationId xmlns:a16="http://schemas.microsoft.com/office/drawing/2014/main" id="{ECBF4C5B-FD95-4495-6854-77E0DB02BE6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26809853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4919E-D31A-35CC-8238-990DB4DBAC8E}"/>
              </a:ext>
            </a:extLst>
          </p:cNvPr>
          <p:cNvSpPr>
            <a:spLocks noGrp="1"/>
          </p:cNvSpPr>
          <p:nvPr>
            <p:ph type="title"/>
          </p:nvPr>
        </p:nvSpPr>
        <p:spPr/>
        <p:txBody>
          <a:bodyPr/>
          <a:lstStyle/>
          <a:p>
            <a:r>
              <a:rPr lang="en-US" altLang="zh-CN" dirty="0"/>
              <a:t>PCR</a:t>
            </a:r>
            <a:r>
              <a:rPr lang="zh-CN" altLang="en-US" dirty="0"/>
              <a:t>的数量</a:t>
            </a:r>
          </a:p>
        </p:txBody>
      </p:sp>
      <p:sp>
        <p:nvSpPr>
          <p:cNvPr id="3" name="内容占位符 2">
            <a:extLst>
              <a:ext uri="{FF2B5EF4-FFF2-40B4-BE49-F238E27FC236}">
                <a16:creationId xmlns:a16="http://schemas.microsoft.com/office/drawing/2014/main" id="{6B738A7E-19B5-C0AD-9D31-5CAE938686E1}"/>
              </a:ext>
            </a:extLst>
          </p:cNvPr>
          <p:cNvSpPr>
            <a:spLocks noGrp="1"/>
          </p:cNvSpPr>
          <p:nvPr>
            <p:ph idx="1"/>
          </p:nvPr>
        </p:nvSpPr>
        <p:spPr/>
        <p:txBody>
          <a:bodyPr/>
          <a:lstStyle/>
          <a:p>
            <a:r>
              <a:rPr lang="zh-CN" altLang="en-US" dirty="0"/>
              <a:t>在实际应用中，一个</a:t>
            </a:r>
            <a:r>
              <a:rPr lang="en-US" altLang="zh-CN" dirty="0"/>
              <a:t>TPM</a:t>
            </a:r>
            <a:r>
              <a:rPr lang="zh-CN" altLang="en-US" dirty="0"/>
              <a:t>设备会有多个</a:t>
            </a:r>
            <a:r>
              <a:rPr lang="en-US" altLang="zh-CN" dirty="0"/>
              <a:t>PCR</a:t>
            </a:r>
            <a:r>
              <a:rPr lang="zh-CN" altLang="en-US" dirty="0"/>
              <a:t>。</a:t>
            </a:r>
            <a:r>
              <a:rPr lang="en-US" altLang="zh-CN" dirty="0"/>
              <a:t>PC</a:t>
            </a:r>
            <a:r>
              <a:rPr lang="zh-CN" altLang="en-US" dirty="0"/>
              <a:t>客户端平台要求</a:t>
            </a:r>
            <a:r>
              <a:rPr lang="en-US" altLang="zh-CN" dirty="0"/>
              <a:t>TPM</a:t>
            </a:r>
            <a:r>
              <a:rPr lang="zh-CN" altLang="en-US" dirty="0"/>
              <a:t>实现最少</a:t>
            </a:r>
            <a:r>
              <a:rPr lang="en-US" altLang="zh-CN" dirty="0"/>
              <a:t>24</a:t>
            </a:r>
            <a:r>
              <a:rPr lang="zh-CN" altLang="en-US" dirty="0"/>
              <a:t>个</a:t>
            </a:r>
            <a:r>
              <a:rPr lang="en-US" altLang="zh-CN" dirty="0"/>
              <a:t>PCR</a:t>
            </a:r>
            <a:r>
              <a:rPr lang="zh-CN" altLang="en-US" dirty="0"/>
              <a:t>，这也是</a:t>
            </a:r>
            <a:r>
              <a:rPr lang="en-US" altLang="zh-CN" dirty="0"/>
              <a:t>PC</a:t>
            </a:r>
            <a:r>
              <a:rPr lang="zh-CN" altLang="en-US" dirty="0"/>
              <a:t>平台实际具有的数量。自动化设备的</a:t>
            </a:r>
            <a:r>
              <a:rPr lang="en-US" altLang="zh-CN" dirty="0"/>
              <a:t>TPM</a:t>
            </a:r>
            <a:r>
              <a:rPr lang="zh-CN" altLang="en-US" dirty="0"/>
              <a:t>可能会有更多</a:t>
            </a:r>
            <a:r>
              <a:rPr lang="en-US" altLang="zh-CN" dirty="0"/>
              <a:t>PCR</a:t>
            </a:r>
            <a:r>
              <a:rPr lang="zh-CN" altLang="en-US" dirty="0"/>
              <a:t>。平台相关的</a:t>
            </a:r>
            <a:r>
              <a:rPr lang="en-US" altLang="zh-CN" dirty="0"/>
              <a:t>TPM</a:t>
            </a:r>
            <a:r>
              <a:rPr lang="zh-CN" altLang="en-US" dirty="0"/>
              <a:t>规范会指定</a:t>
            </a:r>
            <a:r>
              <a:rPr lang="en-US" altLang="zh-CN" dirty="0"/>
              <a:t>PCR</a:t>
            </a:r>
            <a:r>
              <a:rPr lang="zh-CN" altLang="en-US" dirty="0"/>
              <a:t>的属性，平台相关的软件规范规定各个</a:t>
            </a:r>
            <a:r>
              <a:rPr lang="en-US" altLang="zh-CN" dirty="0"/>
              <a:t>PCR</a:t>
            </a:r>
            <a:r>
              <a:rPr lang="zh-CN" altLang="en-US" dirty="0"/>
              <a:t>用于测量哪些软件。</a:t>
            </a:r>
          </a:p>
          <a:p>
            <a:endParaRPr lang="zh-CN" altLang="en-US" dirty="0"/>
          </a:p>
          <a:p>
            <a:r>
              <a:rPr lang="zh-CN" altLang="en-US" dirty="0"/>
              <a:t>平台相关的规范可能会给用户软件分配几个</a:t>
            </a:r>
            <a:r>
              <a:rPr lang="en-US" altLang="zh-CN" dirty="0"/>
              <a:t>PCR</a:t>
            </a:r>
            <a:r>
              <a:rPr lang="zh-CN" altLang="en-US" dirty="0"/>
              <a:t>。还有一个</a:t>
            </a:r>
            <a:r>
              <a:rPr lang="en-US" altLang="zh-CN" dirty="0"/>
              <a:t>PCR</a:t>
            </a:r>
            <a:r>
              <a:rPr lang="zh-CN" altLang="en-US" dirty="0"/>
              <a:t>（</a:t>
            </a:r>
            <a:r>
              <a:rPr lang="en-US" altLang="zh-CN" dirty="0"/>
              <a:t>16</a:t>
            </a:r>
            <a:r>
              <a:rPr lang="zh-CN" altLang="en-US" dirty="0"/>
              <a:t>），叫做调试</a:t>
            </a:r>
            <a:r>
              <a:rPr lang="en-US" altLang="zh-CN" dirty="0"/>
              <a:t>PCR</a:t>
            </a:r>
            <a:r>
              <a:rPr lang="zh-CN" altLang="en-US" dirty="0"/>
              <a:t>，用于软件测试。因为是调试的原因，这个</a:t>
            </a:r>
            <a:r>
              <a:rPr lang="en-US" altLang="zh-CN" dirty="0"/>
              <a:t>PCR</a:t>
            </a:r>
            <a:r>
              <a:rPr lang="zh-CN" altLang="en-US" dirty="0"/>
              <a:t>的值可以不在</a:t>
            </a:r>
            <a:r>
              <a:rPr lang="en-US" altLang="zh-CN" dirty="0"/>
              <a:t>TPM</a:t>
            </a:r>
            <a:r>
              <a:rPr lang="zh-CN" altLang="en-US" dirty="0"/>
              <a:t>重新上电的情况下复位。</a:t>
            </a:r>
          </a:p>
        </p:txBody>
      </p:sp>
      <p:sp>
        <p:nvSpPr>
          <p:cNvPr id="4" name="灯片编号占位符 3">
            <a:extLst>
              <a:ext uri="{FF2B5EF4-FFF2-40B4-BE49-F238E27FC236}">
                <a16:creationId xmlns:a16="http://schemas.microsoft.com/office/drawing/2014/main" id="{1D741B40-C386-B547-EE96-0A775293797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20620116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1E9C5-2B38-40D3-2F01-A3AE38BBD84A}"/>
              </a:ext>
            </a:extLst>
          </p:cNvPr>
          <p:cNvSpPr>
            <a:spLocks noGrp="1"/>
          </p:cNvSpPr>
          <p:nvPr>
            <p:ph type="title"/>
          </p:nvPr>
        </p:nvSpPr>
        <p:spPr/>
        <p:txBody>
          <a:bodyPr/>
          <a:lstStyle/>
          <a:p>
            <a:r>
              <a:rPr lang="en-US" altLang="zh-CN" dirty="0"/>
              <a:t>PCR</a:t>
            </a:r>
            <a:r>
              <a:rPr lang="zh-CN" altLang="en-US" dirty="0"/>
              <a:t>命令</a:t>
            </a:r>
          </a:p>
        </p:txBody>
      </p:sp>
      <p:sp>
        <p:nvSpPr>
          <p:cNvPr id="3" name="内容占位符 2">
            <a:extLst>
              <a:ext uri="{FF2B5EF4-FFF2-40B4-BE49-F238E27FC236}">
                <a16:creationId xmlns:a16="http://schemas.microsoft.com/office/drawing/2014/main" id="{C3093FBA-CA19-2397-3332-C8F67C601EAA}"/>
              </a:ext>
            </a:extLst>
          </p:cNvPr>
          <p:cNvSpPr>
            <a:spLocks noGrp="1"/>
          </p:cNvSpPr>
          <p:nvPr>
            <p:ph idx="1"/>
          </p:nvPr>
        </p:nvSpPr>
        <p:spPr/>
        <p:txBody>
          <a:bodyPr/>
          <a:lstStyle/>
          <a:p>
            <a:r>
              <a:rPr lang="en-US" altLang="zh-CN" dirty="0"/>
              <a:t>TPM2_PCR_Extend</a:t>
            </a:r>
            <a:r>
              <a:rPr lang="zh-CN" altLang="en-US" dirty="0"/>
              <a:t>：几乎是</a:t>
            </a:r>
            <a:r>
              <a:rPr lang="en-US" altLang="zh-CN" dirty="0"/>
              <a:t>PCR</a:t>
            </a:r>
            <a:r>
              <a:rPr lang="zh-CN" altLang="en-US" dirty="0"/>
              <a:t>最常用的命令，用户可以将一个摘要值扩展到（</a:t>
            </a:r>
            <a:r>
              <a:rPr lang="en-US" altLang="zh-CN" dirty="0"/>
              <a:t>extend</a:t>
            </a:r>
            <a:r>
              <a:rPr lang="zh-CN" altLang="en-US" dirty="0"/>
              <a:t>）到</a:t>
            </a:r>
            <a:r>
              <a:rPr lang="en-US" altLang="zh-CN" dirty="0"/>
              <a:t>PCR</a:t>
            </a:r>
            <a:r>
              <a:rPr lang="zh-CN" altLang="en-US" dirty="0"/>
              <a:t>中。</a:t>
            </a:r>
          </a:p>
          <a:p>
            <a:r>
              <a:rPr lang="en-US" altLang="zh-CN" dirty="0"/>
              <a:t>TPM2_PCR_Event</a:t>
            </a:r>
            <a:r>
              <a:rPr lang="zh-CN" altLang="en-US" dirty="0"/>
              <a:t>：让</a:t>
            </a:r>
            <a:r>
              <a:rPr lang="en-US" altLang="zh-CN" dirty="0"/>
              <a:t>TPM</a:t>
            </a:r>
            <a:r>
              <a:rPr lang="zh-CN" altLang="en-US" dirty="0"/>
              <a:t>来做哈希并将哈希值扩展到</a:t>
            </a:r>
            <a:r>
              <a:rPr lang="en-US" altLang="zh-CN" dirty="0"/>
              <a:t>PCR</a:t>
            </a:r>
            <a:r>
              <a:rPr lang="zh-CN" altLang="en-US" dirty="0"/>
              <a:t>中。这个命令要求输入消息的长度最长为</a:t>
            </a:r>
            <a:r>
              <a:rPr lang="en-US" altLang="zh-CN" dirty="0"/>
              <a:t>1024</a:t>
            </a:r>
            <a:r>
              <a:rPr lang="zh-CN" altLang="en-US" dirty="0"/>
              <a:t>字节，和上一个命令相比，多了一个哈希值计算。</a:t>
            </a:r>
          </a:p>
          <a:p>
            <a:r>
              <a:rPr lang="en-US" altLang="zh-CN" dirty="0" err="1"/>
              <a:t>TPM_PCR_Read</a:t>
            </a:r>
            <a:r>
              <a:rPr lang="zh-CN" altLang="en-US" dirty="0"/>
              <a:t>：读取一个</a:t>
            </a:r>
            <a:r>
              <a:rPr lang="en-US" altLang="zh-CN" dirty="0"/>
              <a:t>PCR</a:t>
            </a:r>
            <a:r>
              <a:rPr lang="zh-CN" altLang="en-US" dirty="0"/>
              <a:t>的值，这在我们后面要介绍的验证事件记录中很有用。</a:t>
            </a:r>
          </a:p>
          <a:p>
            <a:r>
              <a:rPr lang="en-US" altLang="zh-CN" dirty="0"/>
              <a:t>TPM2_PCR_Reset</a:t>
            </a:r>
            <a:r>
              <a:rPr lang="zh-CN" altLang="en-US" dirty="0"/>
              <a:t>：复位一个</a:t>
            </a:r>
            <a:r>
              <a:rPr lang="en-US" altLang="zh-CN" dirty="0"/>
              <a:t>PCR</a:t>
            </a:r>
            <a:r>
              <a:rPr lang="zh-CN" altLang="en-US" dirty="0"/>
              <a:t>，主要用于为用户层软件分配的</a:t>
            </a:r>
            <a:r>
              <a:rPr lang="en-US" altLang="zh-CN" dirty="0"/>
              <a:t>PCR</a:t>
            </a:r>
            <a:r>
              <a:rPr lang="zh-CN" altLang="en-US" dirty="0"/>
              <a:t>（比如前面刚刚介绍的</a:t>
            </a:r>
            <a:r>
              <a:rPr lang="en-US" altLang="zh-CN" dirty="0"/>
              <a:t>debug</a:t>
            </a:r>
            <a:r>
              <a:rPr lang="zh-CN" altLang="en-US" dirty="0"/>
              <a:t>用</a:t>
            </a:r>
            <a:r>
              <a:rPr lang="en-US" altLang="zh-CN" dirty="0"/>
              <a:t>PCR</a:t>
            </a:r>
            <a:r>
              <a:rPr lang="zh-CN" altLang="en-US" dirty="0"/>
              <a:t>）。大多数的</a:t>
            </a:r>
            <a:r>
              <a:rPr lang="en-US" altLang="zh-CN" dirty="0"/>
              <a:t>PCR</a:t>
            </a:r>
            <a:r>
              <a:rPr lang="zh-CN" altLang="en-US" dirty="0"/>
              <a:t>在</a:t>
            </a:r>
            <a:r>
              <a:rPr lang="en-US" altLang="zh-CN" dirty="0"/>
              <a:t>TPM</a:t>
            </a:r>
            <a:r>
              <a:rPr lang="zh-CN" altLang="en-US" dirty="0"/>
              <a:t>一个上电周期内是不允许被复位的。</a:t>
            </a:r>
          </a:p>
        </p:txBody>
      </p:sp>
      <p:sp>
        <p:nvSpPr>
          <p:cNvPr id="4" name="灯片编号占位符 3">
            <a:extLst>
              <a:ext uri="{FF2B5EF4-FFF2-40B4-BE49-F238E27FC236}">
                <a16:creationId xmlns:a16="http://schemas.microsoft.com/office/drawing/2014/main" id="{D38291C6-EB1C-C6D3-627B-423BC52D89E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27082995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AEDC6-2CA0-CE03-CF18-28A984B426FB}"/>
              </a:ext>
            </a:extLst>
          </p:cNvPr>
          <p:cNvSpPr>
            <a:spLocks noGrp="1"/>
          </p:cNvSpPr>
          <p:nvPr>
            <p:ph type="title"/>
          </p:nvPr>
        </p:nvSpPr>
        <p:spPr/>
        <p:txBody>
          <a:bodyPr/>
          <a:lstStyle/>
          <a:p>
            <a:r>
              <a:rPr lang="en-US" altLang="zh-CN" dirty="0"/>
              <a:t>PCR</a:t>
            </a:r>
            <a:r>
              <a:rPr lang="zh-CN" altLang="en-US" dirty="0"/>
              <a:t>命令</a:t>
            </a:r>
          </a:p>
        </p:txBody>
      </p:sp>
      <p:sp>
        <p:nvSpPr>
          <p:cNvPr id="3" name="内容占位符 2">
            <a:extLst>
              <a:ext uri="{FF2B5EF4-FFF2-40B4-BE49-F238E27FC236}">
                <a16:creationId xmlns:a16="http://schemas.microsoft.com/office/drawing/2014/main" id="{B52818BD-135B-F5FC-CB63-41C8F95C9916}"/>
              </a:ext>
            </a:extLst>
          </p:cNvPr>
          <p:cNvSpPr>
            <a:spLocks noGrp="1"/>
          </p:cNvSpPr>
          <p:nvPr>
            <p:ph idx="1"/>
          </p:nvPr>
        </p:nvSpPr>
        <p:spPr/>
        <p:txBody>
          <a:bodyPr/>
          <a:lstStyle/>
          <a:p>
            <a:r>
              <a:rPr lang="en-US" altLang="zh-CN" dirty="0" err="1"/>
              <a:t>TPM_PCR_Allocate</a:t>
            </a:r>
            <a:r>
              <a:rPr lang="zh-CN" altLang="en-US" dirty="0"/>
              <a:t>：为</a:t>
            </a:r>
            <a:r>
              <a:rPr lang="en-US" altLang="zh-CN" dirty="0"/>
              <a:t>PCR</a:t>
            </a:r>
            <a:r>
              <a:rPr lang="zh-CN" altLang="en-US" dirty="0"/>
              <a:t>设定哈希算法。如果需要修改默认的哈希算法，需要使用这个命令，并且大多数情况下只需要执行一次就足够了。</a:t>
            </a:r>
          </a:p>
          <a:p>
            <a:r>
              <a:rPr lang="en-US" altLang="zh-CN" dirty="0"/>
              <a:t>TPM2_PCR_SetAuthPolicy</a:t>
            </a:r>
            <a:r>
              <a:rPr lang="zh-CN" altLang="en-US" dirty="0"/>
              <a:t>：为一个</a:t>
            </a:r>
            <a:r>
              <a:rPr lang="en-US" altLang="zh-CN" dirty="0"/>
              <a:t>PCR</a:t>
            </a:r>
            <a:r>
              <a:rPr lang="zh-CN" altLang="en-US" dirty="0"/>
              <a:t>组设定一个授权</a:t>
            </a:r>
            <a:r>
              <a:rPr lang="en-US" altLang="zh-CN" dirty="0"/>
              <a:t>policy</a:t>
            </a:r>
            <a:r>
              <a:rPr lang="zh-CN" altLang="en-US" dirty="0"/>
              <a:t>。在</a:t>
            </a:r>
            <a:r>
              <a:rPr lang="en-US" altLang="zh-CN" dirty="0"/>
              <a:t>PC</a:t>
            </a:r>
            <a:r>
              <a:rPr lang="zh-CN" altLang="en-US" dirty="0"/>
              <a:t>客户端上并不需要这个命令。</a:t>
            </a:r>
          </a:p>
          <a:p>
            <a:r>
              <a:rPr lang="en-US" altLang="zh-CN" dirty="0"/>
              <a:t>TPM2_PCR_SetAuthValue</a:t>
            </a:r>
            <a:r>
              <a:rPr lang="zh-CN" altLang="en-US" dirty="0"/>
              <a:t>：为一个</a:t>
            </a:r>
            <a:r>
              <a:rPr lang="en-US" altLang="zh-CN" dirty="0"/>
              <a:t>PCR</a:t>
            </a:r>
            <a:r>
              <a:rPr lang="zh-CN" altLang="en-US" dirty="0"/>
              <a:t>组设定一个授权口令。在</a:t>
            </a:r>
            <a:r>
              <a:rPr lang="en-US" altLang="zh-CN" dirty="0"/>
              <a:t>PC</a:t>
            </a:r>
            <a:r>
              <a:rPr lang="zh-CN" altLang="en-US" dirty="0"/>
              <a:t>客户端上并不需要这个命令。</a:t>
            </a:r>
          </a:p>
          <a:p>
            <a:endParaRPr lang="zh-CN" altLang="en-US" dirty="0"/>
          </a:p>
        </p:txBody>
      </p:sp>
      <p:sp>
        <p:nvSpPr>
          <p:cNvPr id="4" name="灯片编号占位符 3">
            <a:extLst>
              <a:ext uri="{FF2B5EF4-FFF2-40B4-BE49-F238E27FC236}">
                <a16:creationId xmlns:a16="http://schemas.microsoft.com/office/drawing/2014/main" id="{D6B150C7-DB54-CA42-09DC-8C06863A48D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21907321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36BA4C-184A-9114-4BEA-FE55C48DDB18}"/>
              </a:ext>
            </a:extLst>
          </p:cNvPr>
          <p:cNvSpPr>
            <a:spLocks noGrp="1"/>
          </p:cNvSpPr>
          <p:nvPr>
            <p:ph type="title"/>
          </p:nvPr>
        </p:nvSpPr>
        <p:spPr/>
        <p:txBody>
          <a:bodyPr/>
          <a:lstStyle/>
          <a:p>
            <a:r>
              <a:rPr lang="en-US" altLang="zh-CN" dirty="0"/>
              <a:t>PCR</a:t>
            </a:r>
            <a:r>
              <a:rPr lang="zh-CN" altLang="en-US" dirty="0"/>
              <a:t>主要应用</a:t>
            </a:r>
            <a:r>
              <a:rPr lang="en-US" altLang="zh-CN" dirty="0"/>
              <a:t>---</a:t>
            </a:r>
            <a:r>
              <a:rPr lang="zh-CN" altLang="en-US" dirty="0"/>
              <a:t>授权</a:t>
            </a:r>
          </a:p>
        </p:txBody>
      </p:sp>
      <p:sp>
        <p:nvSpPr>
          <p:cNvPr id="3" name="内容占位符 2">
            <a:extLst>
              <a:ext uri="{FF2B5EF4-FFF2-40B4-BE49-F238E27FC236}">
                <a16:creationId xmlns:a16="http://schemas.microsoft.com/office/drawing/2014/main" id="{F51F2B74-A6E2-2565-5FA0-FE47D6177A83}"/>
              </a:ext>
            </a:extLst>
          </p:cNvPr>
          <p:cNvSpPr>
            <a:spLocks noGrp="1"/>
          </p:cNvSpPr>
          <p:nvPr>
            <p:ph idx="1"/>
          </p:nvPr>
        </p:nvSpPr>
        <p:spPr/>
        <p:txBody>
          <a:bodyPr/>
          <a:lstStyle/>
          <a:p>
            <a:r>
              <a:rPr lang="en-US" altLang="zh-CN" dirty="0"/>
              <a:t>PCR</a:t>
            </a:r>
            <a:r>
              <a:rPr lang="zh-CN" altLang="en-US" dirty="0"/>
              <a:t>的一个常用功能是授权。</a:t>
            </a:r>
            <a:endParaRPr lang="en-US" altLang="zh-CN" dirty="0"/>
          </a:p>
          <a:p>
            <a:r>
              <a:rPr lang="zh-CN" altLang="en-US" dirty="0"/>
              <a:t>一个</a:t>
            </a:r>
            <a:r>
              <a:rPr lang="en-US" altLang="zh-CN" dirty="0"/>
              <a:t>TPM</a:t>
            </a:r>
            <a:r>
              <a:rPr lang="zh-CN" altLang="en-US" dirty="0"/>
              <a:t>实体可以设置一个如下的</a:t>
            </a:r>
            <a:r>
              <a:rPr lang="en-US" altLang="zh-CN" dirty="0"/>
              <a:t>policy</a:t>
            </a:r>
            <a:r>
              <a:rPr lang="zh-CN" altLang="en-US" dirty="0"/>
              <a:t>：</a:t>
            </a:r>
            <a:r>
              <a:rPr lang="zh-CN" altLang="en-US" dirty="0">
                <a:solidFill>
                  <a:srgbClr val="FF0000"/>
                </a:solidFill>
              </a:rPr>
              <a:t>只有当特定的</a:t>
            </a:r>
            <a:r>
              <a:rPr lang="en-US" altLang="zh-CN" dirty="0">
                <a:solidFill>
                  <a:srgbClr val="FF0000"/>
                </a:solidFill>
              </a:rPr>
              <a:t>PCR</a:t>
            </a:r>
            <a:r>
              <a:rPr lang="zh-CN" altLang="en-US" dirty="0">
                <a:solidFill>
                  <a:srgbClr val="FF0000"/>
                </a:solidFill>
              </a:rPr>
              <a:t>的值是一个特定值时才允许使用这个</a:t>
            </a:r>
            <a:r>
              <a:rPr lang="en-US" altLang="zh-CN" dirty="0">
                <a:solidFill>
                  <a:srgbClr val="FF0000"/>
                </a:solidFill>
              </a:rPr>
              <a:t>TPM</a:t>
            </a:r>
            <a:r>
              <a:rPr lang="zh-CN" altLang="en-US" dirty="0">
                <a:solidFill>
                  <a:srgbClr val="FF0000"/>
                </a:solidFill>
              </a:rPr>
              <a:t>实体</a:t>
            </a:r>
            <a:r>
              <a:rPr lang="zh-CN" altLang="en-US" dirty="0"/>
              <a:t>。这个</a:t>
            </a:r>
            <a:r>
              <a:rPr lang="en-US" altLang="zh-CN" dirty="0"/>
              <a:t>policy</a:t>
            </a:r>
            <a:r>
              <a:rPr lang="zh-CN" altLang="en-US" dirty="0"/>
              <a:t>可以选择一组</a:t>
            </a:r>
            <a:r>
              <a:rPr lang="en-US" altLang="zh-CN" dirty="0"/>
              <a:t>PCR</a:t>
            </a:r>
            <a:r>
              <a:rPr lang="zh-CN" altLang="en-US" dirty="0"/>
              <a:t>，每个</a:t>
            </a:r>
            <a:r>
              <a:rPr lang="en-US" altLang="zh-CN" dirty="0"/>
              <a:t>PCR</a:t>
            </a:r>
            <a:r>
              <a:rPr lang="zh-CN" altLang="en-US" dirty="0"/>
              <a:t>制定不同的值。如果</a:t>
            </a:r>
            <a:r>
              <a:rPr lang="en-US" altLang="zh-CN" dirty="0"/>
              <a:t>PCR</a:t>
            </a:r>
            <a:r>
              <a:rPr lang="zh-CN" altLang="en-US" dirty="0"/>
              <a:t>的值与设定的值不同，</a:t>
            </a:r>
            <a:r>
              <a:rPr lang="en-US" altLang="zh-CN" dirty="0"/>
              <a:t>policy</a:t>
            </a:r>
            <a:r>
              <a:rPr lang="zh-CN" altLang="en-US" dirty="0"/>
              <a:t>就不会满足，因此相关的</a:t>
            </a:r>
            <a:r>
              <a:rPr lang="en-US" altLang="zh-CN" dirty="0"/>
              <a:t>TPM</a:t>
            </a:r>
            <a:r>
              <a:rPr lang="zh-CN" altLang="en-US" dirty="0"/>
              <a:t>实体就不能被访问。</a:t>
            </a:r>
          </a:p>
        </p:txBody>
      </p:sp>
      <p:sp>
        <p:nvSpPr>
          <p:cNvPr id="4" name="灯片编号占位符 3">
            <a:extLst>
              <a:ext uri="{FF2B5EF4-FFF2-40B4-BE49-F238E27FC236}">
                <a16:creationId xmlns:a16="http://schemas.microsoft.com/office/drawing/2014/main" id="{E9A28D3D-96D6-725C-DB16-85703A92038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35059588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1E4B74-7855-BDCA-2073-F347E2F4DECA}"/>
              </a:ext>
            </a:extLst>
          </p:cNvPr>
          <p:cNvSpPr>
            <a:spLocks noGrp="1"/>
          </p:cNvSpPr>
          <p:nvPr>
            <p:ph type="title"/>
          </p:nvPr>
        </p:nvSpPr>
        <p:spPr/>
        <p:txBody>
          <a:bodyPr/>
          <a:lstStyle/>
          <a:p>
            <a:r>
              <a:rPr lang="zh-CN" altLang="en-US" dirty="0"/>
              <a:t>案例：根据平台状态密封密钥</a:t>
            </a:r>
          </a:p>
        </p:txBody>
      </p:sp>
      <p:sp>
        <p:nvSpPr>
          <p:cNvPr id="3" name="内容占位符 2">
            <a:extLst>
              <a:ext uri="{FF2B5EF4-FFF2-40B4-BE49-F238E27FC236}">
                <a16:creationId xmlns:a16="http://schemas.microsoft.com/office/drawing/2014/main" id="{0AD52936-DBE6-77C5-633F-538E17CE647C}"/>
              </a:ext>
            </a:extLst>
          </p:cNvPr>
          <p:cNvSpPr>
            <a:spLocks noGrp="1"/>
          </p:cNvSpPr>
          <p:nvPr>
            <p:ph idx="1"/>
          </p:nvPr>
        </p:nvSpPr>
        <p:spPr/>
        <p:txBody>
          <a:bodyPr/>
          <a:lstStyle/>
          <a:p>
            <a:r>
              <a:rPr lang="zh-CN" altLang="en-US" dirty="0"/>
              <a:t>把全磁盘加密软件的密钥存储在</a:t>
            </a:r>
            <a:r>
              <a:rPr lang="en-US" altLang="zh-CN" dirty="0"/>
              <a:t>TPM</a:t>
            </a:r>
            <a:r>
              <a:rPr lang="zh-CN" altLang="en-US" dirty="0"/>
              <a:t>中比存储在磁盘上并且仅使用口令保护要安全很多。首先，</a:t>
            </a:r>
            <a:r>
              <a:rPr lang="en-US" altLang="zh-CN" dirty="0"/>
              <a:t>TPM</a:t>
            </a:r>
            <a:r>
              <a:rPr lang="zh-CN" altLang="en-US" dirty="0"/>
              <a:t>能够防止暴力攻击，这使得针对口令的暴力攻击不会成功。如果软件使用一个强度较弱的口令保护密钥，那这个密钥会很容易受到攻击。</a:t>
            </a:r>
            <a:endParaRPr lang="en-US" altLang="zh-CN" dirty="0"/>
          </a:p>
          <a:p>
            <a:r>
              <a:rPr lang="zh-CN" altLang="en-US" dirty="0"/>
              <a:t>将密钥存储在磁盘上很容被窃取。拿到硬盘也就意味着拿到了密钥。而如果使用</a:t>
            </a:r>
            <a:r>
              <a:rPr lang="en-US" altLang="zh-CN" dirty="0"/>
              <a:t>TPM</a:t>
            </a:r>
            <a:r>
              <a:rPr lang="zh-CN" altLang="en-US" dirty="0"/>
              <a:t>存储密钥，如果要想窃取密钥就需要窃取包含</a:t>
            </a:r>
            <a:r>
              <a:rPr lang="en-US" altLang="zh-CN" dirty="0"/>
              <a:t>TPM</a:t>
            </a:r>
            <a:r>
              <a:rPr lang="zh-CN" altLang="en-US" dirty="0"/>
              <a:t>的整个平台，或者至少先窃取硬盘和主板。</a:t>
            </a:r>
          </a:p>
        </p:txBody>
      </p:sp>
      <p:sp>
        <p:nvSpPr>
          <p:cNvPr id="4" name="灯片编号占位符 3">
            <a:extLst>
              <a:ext uri="{FF2B5EF4-FFF2-40B4-BE49-F238E27FC236}">
                <a16:creationId xmlns:a16="http://schemas.microsoft.com/office/drawing/2014/main" id="{2CCC7877-0F3F-B9EA-09BC-2B96B5119B9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33135189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A0A08-54C1-8577-14A5-3864ABD33E50}"/>
              </a:ext>
            </a:extLst>
          </p:cNvPr>
          <p:cNvSpPr>
            <a:spLocks noGrp="1"/>
          </p:cNvSpPr>
          <p:nvPr>
            <p:ph type="title"/>
          </p:nvPr>
        </p:nvSpPr>
        <p:spPr/>
        <p:txBody>
          <a:bodyPr/>
          <a:lstStyle/>
          <a:p>
            <a:r>
              <a:rPr lang="zh-CN" altLang="en-US" dirty="0"/>
              <a:t>根据平台状态密封密钥</a:t>
            </a:r>
          </a:p>
        </p:txBody>
      </p:sp>
      <p:sp>
        <p:nvSpPr>
          <p:cNvPr id="3" name="内容占位符 2">
            <a:extLst>
              <a:ext uri="{FF2B5EF4-FFF2-40B4-BE49-F238E27FC236}">
                <a16:creationId xmlns:a16="http://schemas.microsoft.com/office/drawing/2014/main" id="{8BD22434-FC92-CBB1-79AA-F5ACCE7A074E}"/>
              </a:ext>
            </a:extLst>
          </p:cNvPr>
          <p:cNvSpPr>
            <a:spLocks noGrp="1"/>
          </p:cNvSpPr>
          <p:nvPr>
            <p:ph idx="1"/>
          </p:nvPr>
        </p:nvSpPr>
        <p:spPr/>
        <p:txBody>
          <a:bodyPr/>
          <a:lstStyle/>
          <a:p>
            <a:r>
              <a:rPr lang="zh-CN" altLang="en-US" dirty="0"/>
              <a:t>密封（</a:t>
            </a:r>
            <a:r>
              <a:rPr lang="en-US" altLang="zh-CN" dirty="0"/>
              <a:t>sealing</a:t>
            </a:r>
            <a:r>
              <a:rPr lang="zh-CN" altLang="en-US" dirty="0"/>
              <a:t>）操作让密钥不仅可以被一个口令保护，还可以被一个策略保护。一个典型的策略会将密钥锁定在密封操作时的一个</a:t>
            </a:r>
            <a:r>
              <a:rPr lang="en-US" altLang="zh-CN" dirty="0"/>
              <a:t>PCR</a:t>
            </a:r>
            <a:r>
              <a:rPr lang="zh-CN" altLang="en-US" dirty="0"/>
              <a:t>值上（代表了软件的状态）。这个方案还假设系统启动的状态没有变化。任何事先植入的恶意软件都将在启动过程中被测量到</a:t>
            </a:r>
            <a:r>
              <a:rPr lang="en-US" altLang="zh-CN" dirty="0"/>
              <a:t>PCR</a:t>
            </a:r>
            <a:r>
              <a:rPr lang="zh-CN" altLang="en-US" dirty="0"/>
              <a:t>中，密钥会在不安全的状态下继续处于密封状态。</a:t>
            </a:r>
            <a:endParaRPr lang="en-US" altLang="zh-CN" dirty="0"/>
          </a:p>
          <a:p>
            <a:r>
              <a:rPr lang="zh-CN" altLang="en-US" dirty="0"/>
              <a:t>一个有较低可信度的公司可能会有一个自己的磁盘镜像，它可以将密钥密封到代表这个镜像状态的</a:t>
            </a:r>
            <a:r>
              <a:rPr lang="en-US" altLang="zh-CN" dirty="0"/>
              <a:t>PCR</a:t>
            </a:r>
            <a:r>
              <a:rPr lang="zh-CN" altLang="en-US" dirty="0"/>
              <a:t>中（可以理解为镜像启动以后</a:t>
            </a:r>
            <a:r>
              <a:rPr lang="en-US" altLang="zh-CN" dirty="0"/>
              <a:t>PCR</a:t>
            </a:r>
            <a:r>
              <a:rPr lang="zh-CN" altLang="en-US" dirty="0"/>
              <a:t>的值）。这些</a:t>
            </a:r>
            <a:r>
              <a:rPr lang="en-US" altLang="zh-CN" dirty="0"/>
              <a:t>PCR</a:t>
            </a:r>
            <a:r>
              <a:rPr lang="zh-CN" altLang="en-US" dirty="0"/>
              <a:t>的值可以在更安全的平台上事先被计算好。</a:t>
            </a:r>
            <a:endParaRPr lang="en-US" altLang="zh-CN" dirty="0"/>
          </a:p>
          <a:p>
            <a:r>
              <a:rPr lang="zh-CN" altLang="en-US" dirty="0"/>
              <a:t>一个更加复杂的方案是公司使用</a:t>
            </a:r>
            <a:r>
              <a:rPr lang="en-US" altLang="zh-CN" dirty="0"/>
              <a:t>TPM2_PolicyAuthorize</a:t>
            </a:r>
            <a:r>
              <a:rPr lang="zh-CN" altLang="en-US" dirty="0"/>
              <a:t>命令，并提供用于授权一组可信</a:t>
            </a:r>
            <a:r>
              <a:rPr lang="en-US" altLang="zh-CN" dirty="0"/>
              <a:t>PCR</a:t>
            </a:r>
            <a:r>
              <a:rPr lang="zh-CN" altLang="en-US" dirty="0"/>
              <a:t>值的凭据（</a:t>
            </a:r>
            <a:r>
              <a:rPr lang="en-US" altLang="zh-CN" dirty="0"/>
              <a:t>Tickets</a:t>
            </a:r>
            <a:r>
              <a:rPr lang="zh-CN" altLang="en-US" dirty="0"/>
              <a:t>）。</a:t>
            </a:r>
          </a:p>
        </p:txBody>
      </p:sp>
      <p:sp>
        <p:nvSpPr>
          <p:cNvPr id="4" name="灯片编号占位符 3">
            <a:extLst>
              <a:ext uri="{FF2B5EF4-FFF2-40B4-BE49-F238E27FC236}">
                <a16:creationId xmlns:a16="http://schemas.microsoft.com/office/drawing/2014/main" id="{0C903E9C-749B-8916-5888-7AF55042309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29274937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083FB-FEDD-ADD8-3BD8-B4A73373B610}"/>
              </a:ext>
            </a:extLst>
          </p:cNvPr>
          <p:cNvSpPr>
            <a:spLocks noGrp="1"/>
          </p:cNvSpPr>
          <p:nvPr>
            <p:ph type="title"/>
          </p:nvPr>
        </p:nvSpPr>
        <p:spPr/>
        <p:txBody>
          <a:bodyPr/>
          <a:lstStyle/>
          <a:p>
            <a:r>
              <a:rPr lang="zh-CN" altLang="en-US" dirty="0"/>
              <a:t>根据平台状态密封密钥</a:t>
            </a:r>
          </a:p>
        </p:txBody>
      </p:sp>
      <p:sp>
        <p:nvSpPr>
          <p:cNvPr id="3" name="内容占位符 2">
            <a:extLst>
              <a:ext uri="{FF2B5EF4-FFF2-40B4-BE49-F238E27FC236}">
                <a16:creationId xmlns:a16="http://schemas.microsoft.com/office/drawing/2014/main" id="{F25B429E-0279-FD2D-1378-9BA8B8AB8984}"/>
              </a:ext>
            </a:extLst>
          </p:cNvPr>
          <p:cNvSpPr>
            <a:spLocks noGrp="1"/>
          </p:cNvSpPr>
          <p:nvPr>
            <p:ph idx="1"/>
          </p:nvPr>
        </p:nvSpPr>
        <p:spPr/>
        <p:txBody>
          <a:bodyPr/>
          <a:lstStyle/>
          <a:p>
            <a:r>
              <a:rPr lang="zh-CN" altLang="en-US" dirty="0"/>
              <a:t>尽管普通口令也可以保护密钥，但是即使没有</a:t>
            </a:r>
            <a:r>
              <a:rPr lang="en-US" altLang="zh-CN" dirty="0"/>
              <a:t>TPM</a:t>
            </a:r>
            <a:r>
              <a:rPr lang="zh-CN" altLang="en-US" dirty="0"/>
              <a:t>密钥口令，这种</a:t>
            </a:r>
            <a:r>
              <a:rPr lang="en-US" altLang="zh-CN" dirty="0"/>
              <a:t>TPM</a:t>
            </a:r>
            <a:r>
              <a:rPr lang="zh-CN" altLang="en-US" dirty="0"/>
              <a:t>的保护也可以增加系统的安全性。攻击者可以在不提供</a:t>
            </a:r>
            <a:r>
              <a:rPr lang="en-US" altLang="zh-CN" dirty="0"/>
              <a:t>TPM</a:t>
            </a:r>
            <a:r>
              <a:rPr lang="zh-CN" altLang="en-US" dirty="0"/>
              <a:t>口令的情况下启动该平台，但是没有用户名和登录密码他是无法登录的。</a:t>
            </a:r>
            <a:endParaRPr lang="en-US" altLang="zh-CN" dirty="0"/>
          </a:p>
          <a:p>
            <a:r>
              <a:rPr lang="en-US" altLang="zh-CN" dirty="0"/>
              <a:t>OS</a:t>
            </a:r>
            <a:r>
              <a:rPr lang="zh-CN" altLang="en-US" dirty="0"/>
              <a:t>的安全特性可以用于保护数据。但是攻击者可以启动另外一个</a:t>
            </a:r>
            <a:r>
              <a:rPr lang="en-US" altLang="zh-CN" dirty="0"/>
              <a:t>OS</a:t>
            </a:r>
            <a:r>
              <a:rPr lang="zh-CN" altLang="en-US" dirty="0"/>
              <a:t>，比如通过</a:t>
            </a:r>
            <a:r>
              <a:rPr lang="en-US" altLang="zh-CN" dirty="0"/>
              <a:t>DVD</a:t>
            </a:r>
            <a:r>
              <a:rPr lang="zh-CN" altLang="en-US" dirty="0"/>
              <a:t>或者</a:t>
            </a:r>
            <a:r>
              <a:rPr lang="en-US" altLang="zh-CN" dirty="0"/>
              <a:t>USB</a:t>
            </a:r>
            <a:r>
              <a:rPr lang="zh-CN" altLang="en-US" dirty="0"/>
              <a:t>设备而不是硬盘启动，这样就可以越过</a:t>
            </a:r>
            <a:r>
              <a:rPr lang="en-US" altLang="zh-CN" dirty="0"/>
              <a:t>OS</a:t>
            </a:r>
            <a:r>
              <a:rPr lang="zh-CN" altLang="en-US" dirty="0"/>
              <a:t>登录的安全保护。</a:t>
            </a:r>
            <a:endParaRPr lang="en-US" altLang="zh-CN" dirty="0"/>
          </a:p>
          <a:p>
            <a:r>
              <a:rPr lang="zh-CN" altLang="en-US" dirty="0"/>
              <a:t>在使用</a:t>
            </a:r>
            <a:r>
              <a:rPr lang="en-US" altLang="zh-CN" dirty="0"/>
              <a:t>TPM</a:t>
            </a:r>
            <a:r>
              <a:rPr lang="zh-CN" altLang="en-US" dirty="0"/>
              <a:t>的情况下，这种不同的启动配置（不从硬盘启动）和不同的</a:t>
            </a:r>
            <a:r>
              <a:rPr lang="en-US" altLang="zh-CN" dirty="0"/>
              <a:t>OS</a:t>
            </a:r>
            <a:r>
              <a:rPr lang="zh-CN" altLang="en-US" dirty="0"/>
              <a:t>软件将会改变</a:t>
            </a:r>
            <a:r>
              <a:rPr lang="en-US" altLang="zh-CN" dirty="0"/>
              <a:t>PCR</a:t>
            </a:r>
            <a:r>
              <a:rPr lang="zh-CN" altLang="en-US" dirty="0"/>
              <a:t>的值。这些被改变过的</a:t>
            </a:r>
            <a:r>
              <a:rPr lang="en-US" altLang="zh-CN" dirty="0"/>
              <a:t>PCR</a:t>
            </a:r>
            <a:r>
              <a:rPr lang="zh-CN" altLang="en-US" dirty="0"/>
              <a:t>值不能和之前正确的</a:t>
            </a:r>
            <a:r>
              <a:rPr lang="en-US" altLang="zh-CN" dirty="0"/>
              <a:t>PCR</a:t>
            </a:r>
            <a:r>
              <a:rPr lang="zh-CN" altLang="en-US" dirty="0"/>
              <a:t>值匹配，所以</a:t>
            </a:r>
            <a:r>
              <a:rPr lang="en-US" altLang="zh-CN" dirty="0"/>
              <a:t>TPM</a:t>
            </a:r>
            <a:r>
              <a:rPr lang="zh-CN" altLang="en-US" dirty="0"/>
              <a:t>不会释放解密磁盘的密钥，进而硬盘上的数据文件也就不会被解密。</a:t>
            </a:r>
          </a:p>
        </p:txBody>
      </p:sp>
      <p:sp>
        <p:nvSpPr>
          <p:cNvPr id="4" name="灯片编号占位符 3">
            <a:extLst>
              <a:ext uri="{FF2B5EF4-FFF2-40B4-BE49-F238E27FC236}">
                <a16:creationId xmlns:a16="http://schemas.microsoft.com/office/drawing/2014/main" id="{7874516F-059A-2BFD-8F44-D1D622DF525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14087968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862BA-6381-5D88-A155-53BB1E835D12}"/>
              </a:ext>
            </a:extLst>
          </p:cNvPr>
          <p:cNvSpPr>
            <a:spLocks noGrp="1"/>
          </p:cNvSpPr>
          <p:nvPr>
            <p:ph type="title"/>
          </p:nvPr>
        </p:nvSpPr>
        <p:spPr/>
        <p:txBody>
          <a:bodyPr/>
          <a:lstStyle/>
          <a:p>
            <a:r>
              <a:rPr lang="zh-CN" altLang="en-US" dirty="0"/>
              <a:t>密封密钥操作步骤</a:t>
            </a:r>
          </a:p>
        </p:txBody>
      </p:sp>
      <p:sp>
        <p:nvSpPr>
          <p:cNvPr id="3" name="内容占位符 2">
            <a:extLst>
              <a:ext uri="{FF2B5EF4-FFF2-40B4-BE49-F238E27FC236}">
                <a16:creationId xmlns:a16="http://schemas.microsoft.com/office/drawing/2014/main" id="{33C4C554-C11B-5270-B833-53CD05CD4A4B}"/>
              </a:ext>
            </a:extLst>
          </p:cNvPr>
          <p:cNvSpPr>
            <a:spLocks noGrp="1"/>
          </p:cNvSpPr>
          <p:nvPr>
            <p:ph idx="1"/>
          </p:nvPr>
        </p:nvSpPr>
        <p:spPr/>
        <p:txBody>
          <a:bodyPr/>
          <a:lstStyle/>
          <a:p>
            <a:r>
              <a:rPr lang="en-US" altLang="zh-CN" dirty="0"/>
              <a:t>1. </a:t>
            </a:r>
            <a:r>
              <a:rPr lang="zh-CN" altLang="en-US" dirty="0"/>
              <a:t>构建一个</a:t>
            </a:r>
            <a:r>
              <a:rPr lang="en-US" altLang="zh-CN" dirty="0"/>
              <a:t>Policy</a:t>
            </a:r>
            <a:r>
              <a:rPr lang="zh-CN" altLang="en-US" dirty="0"/>
              <a:t>，使用</a:t>
            </a:r>
            <a:r>
              <a:rPr lang="en-US" altLang="zh-CN" dirty="0"/>
              <a:t>TPM2_PolicyPCR</a:t>
            </a:r>
            <a:r>
              <a:rPr lang="zh-CN" altLang="en-US" dirty="0"/>
              <a:t>，选择将来解封（</a:t>
            </a:r>
            <a:r>
              <a:rPr lang="en-US" altLang="zh-CN" dirty="0"/>
              <a:t>Unseal</a:t>
            </a:r>
            <a:r>
              <a:rPr lang="zh-CN" altLang="en-US" dirty="0"/>
              <a:t>）密钥时的</a:t>
            </a:r>
            <a:r>
              <a:rPr lang="en-US" altLang="zh-CN" dirty="0"/>
              <a:t>PCR</a:t>
            </a:r>
            <a:r>
              <a:rPr lang="zh-CN" altLang="en-US" dirty="0"/>
              <a:t>值作为输入。</a:t>
            </a:r>
          </a:p>
          <a:p>
            <a:r>
              <a:rPr lang="en-US" altLang="zh-CN" dirty="0"/>
              <a:t>2. </a:t>
            </a:r>
            <a:r>
              <a:rPr lang="zh-CN" altLang="en-US" dirty="0"/>
              <a:t>执行以下操作（与</a:t>
            </a:r>
            <a:r>
              <a:rPr lang="en-US" altLang="zh-CN" dirty="0"/>
              <a:t>TPM1.2</a:t>
            </a:r>
            <a:r>
              <a:rPr lang="zh-CN" altLang="en-US" dirty="0"/>
              <a:t>类似）</a:t>
            </a:r>
          </a:p>
          <a:p>
            <a:r>
              <a:rPr lang="zh-CN" altLang="en-US" dirty="0"/>
              <a:t>使用</a:t>
            </a:r>
            <a:r>
              <a:rPr lang="en-US" altLang="zh-CN" dirty="0"/>
              <a:t>TPM2_GetRandom</a:t>
            </a:r>
            <a:r>
              <a:rPr lang="zh-CN" altLang="en-US" dirty="0"/>
              <a:t>在</a:t>
            </a:r>
            <a:r>
              <a:rPr lang="en-US" altLang="zh-CN" dirty="0"/>
              <a:t>TPM</a:t>
            </a:r>
            <a:r>
              <a:rPr lang="zh-CN" altLang="en-US" dirty="0"/>
              <a:t>外部创建对称密钥。</a:t>
            </a:r>
          </a:p>
          <a:p>
            <a:r>
              <a:rPr lang="zh-CN" altLang="en-US" dirty="0"/>
              <a:t>使用</a:t>
            </a:r>
            <a:r>
              <a:rPr lang="en-US" altLang="zh-CN" dirty="0"/>
              <a:t>TPM2_Create</a:t>
            </a:r>
            <a:r>
              <a:rPr lang="zh-CN" altLang="en-US" dirty="0"/>
              <a:t>命令，根据指定的对称密钥和策略来创建密封对象。在</a:t>
            </a:r>
            <a:r>
              <a:rPr lang="en-US" altLang="zh-CN" dirty="0"/>
              <a:t>2.0</a:t>
            </a:r>
            <a:r>
              <a:rPr lang="zh-CN" altLang="en-US" dirty="0"/>
              <a:t>中，</a:t>
            </a:r>
            <a:r>
              <a:rPr lang="en-US" altLang="zh-CN" dirty="0"/>
              <a:t>TPM2_Create</a:t>
            </a:r>
            <a:r>
              <a:rPr lang="zh-CN" altLang="en-US" dirty="0"/>
              <a:t>只需要指定策略就可以了。</a:t>
            </a:r>
          </a:p>
        </p:txBody>
      </p:sp>
      <p:sp>
        <p:nvSpPr>
          <p:cNvPr id="4" name="灯片编号占位符 3">
            <a:extLst>
              <a:ext uri="{FF2B5EF4-FFF2-40B4-BE49-F238E27FC236}">
                <a16:creationId xmlns:a16="http://schemas.microsoft.com/office/drawing/2014/main" id="{7C1809F3-AEB2-1C71-F7F0-425508589C1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14770010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146663-97D9-190E-48AB-DCF61D02D6DA}"/>
              </a:ext>
            </a:extLst>
          </p:cNvPr>
          <p:cNvSpPr>
            <a:spLocks noGrp="1"/>
          </p:cNvSpPr>
          <p:nvPr>
            <p:ph type="title"/>
          </p:nvPr>
        </p:nvSpPr>
        <p:spPr/>
        <p:txBody>
          <a:bodyPr/>
          <a:lstStyle/>
          <a:p>
            <a:r>
              <a:rPr lang="zh-CN" altLang="en-US" dirty="0"/>
              <a:t>解封密钥</a:t>
            </a:r>
          </a:p>
        </p:txBody>
      </p:sp>
      <p:sp>
        <p:nvSpPr>
          <p:cNvPr id="3" name="内容占位符 2">
            <a:extLst>
              <a:ext uri="{FF2B5EF4-FFF2-40B4-BE49-F238E27FC236}">
                <a16:creationId xmlns:a16="http://schemas.microsoft.com/office/drawing/2014/main" id="{25ABA542-2C64-7810-9791-BC560B945726}"/>
              </a:ext>
            </a:extLst>
          </p:cNvPr>
          <p:cNvSpPr>
            <a:spLocks noGrp="1"/>
          </p:cNvSpPr>
          <p:nvPr>
            <p:ph idx="1"/>
          </p:nvPr>
        </p:nvSpPr>
        <p:spPr/>
        <p:txBody>
          <a:bodyPr/>
          <a:lstStyle/>
          <a:p>
            <a:r>
              <a:rPr lang="en-US" altLang="zh-CN" dirty="0"/>
              <a:t>TPM2_Load</a:t>
            </a:r>
            <a:r>
              <a:rPr lang="zh-CN" altLang="en-US" dirty="0"/>
              <a:t>加载</a:t>
            </a:r>
            <a:r>
              <a:rPr lang="en-US" altLang="zh-CN" dirty="0"/>
              <a:t>TPM2_Create</a:t>
            </a:r>
            <a:r>
              <a:rPr lang="zh-CN" altLang="en-US" dirty="0"/>
              <a:t>创建的对象。</a:t>
            </a:r>
          </a:p>
          <a:p>
            <a:r>
              <a:rPr lang="en-US" altLang="zh-CN" dirty="0"/>
              <a:t>TPM2_PolicyPCR</a:t>
            </a:r>
            <a:r>
              <a:rPr lang="zh-CN" altLang="en-US" dirty="0"/>
              <a:t>来满足</a:t>
            </a:r>
            <a:r>
              <a:rPr lang="en-US" altLang="zh-CN" dirty="0"/>
              <a:t>Policy</a:t>
            </a:r>
            <a:r>
              <a:rPr lang="zh-CN" altLang="en-US" dirty="0"/>
              <a:t>。</a:t>
            </a:r>
          </a:p>
          <a:p>
            <a:r>
              <a:rPr lang="en-US" altLang="zh-CN" dirty="0"/>
              <a:t>TPM2_Unseal</a:t>
            </a:r>
            <a:r>
              <a:rPr lang="zh-CN" altLang="en-US" dirty="0"/>
              <a:t>返回被密封的对称密钥。</a:t>
            </a:r>
          </a:p>
        </p:txBody>
      </p:sp>
      <p:sp>
        <p:nvSpPr>
          <p:cNvPr id="4" name="灯片编号占位符 3">
            <a:extLst>
              <a:ext uri="{FF2B5EF4-FFF2-40B4-BE49-F238E27FC236}">
                <a16:creationId xmlns:a16="http://schemas.microsoft.com/office/drawing/2014/main" id="{FFBB5A8D-C83B-BC8A-666F-A0481B854E6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Tree>
    <p:extLst>
      <p:ext uri="{BB962C8B-B14F-4D97-AF65-F5344CB8AC3E}">
        <p14:creationId xmlns:p14="http://schemas.microsoft.com/office/powerpoint/2010/main" val="6670219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8B7F8-E7EF-5A70-D8DA-523D6A27E6A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0453330-6D6F-40BA-32BE-A98BB994EBB3}"/>
              </a:ext>
            </a:extLst>
          </p:cNvPr>
          <p:cNvSpPr>
            <a:spLocks noGrp="1"/>
          </p:cNvSpPr>
          <p:nvPr>
            <p:ph idx="1"/>
          </p:nvPr>
        </p:nvSpPr>
        <p:spPr/>
        <p:txBody>
          <a:bodyPr/>
          <a:lstStyle/>
          <a:p>
            <a:r>
              <a:rPr lang="en-US" altLang="zh-CN" dirty="0"/>
              <a:t>PCR</a:t>
            </a:r>
            <a:r>
              <a:rPr lang="zh-CN" altLang="en-US" dirty="0"/>
              <a:t>的典型的应用就是将一个</a:t>
            </a:r>
            <a:r>
              <a:rPr lang="en-US" altLang="zh-CN" dirty="0"/>
              <a:t>TPM</a:t>
            </a:r>
            <a:r>
              <a:rPr lang="zh-CN" altLang="en-US" dirty="0"/>
              <a:t>实体的使用授权与平台软件的状态绑定，但是</a:t>
            </a:r>
            <a:r>
              <a:rPr lang="en-US" altLang="zh-CN" dirty="0"/>
              <a:t>PCR</a:t>
            </a:r>
            <a:r>
              <a:rPr lang="zh-CN" altLang="en-US" dirty="0"/>
              <a:t>还有其他可能的应用。比如说，可以将一个口令扩展到</a:t>
            </a:r>
            <a:r>
              <a:rPr lang="en-US" altLang="zh-CN" dirty="0"/>
              <a:t>PCR</a:t>
            </a:r>
            <a:r>
              <a:rPr lang="zh-CN" altLang="en-US" dirty="0"/>
              <a:t>中，从而解锁一个实体的访问。当不需要访问时，就把</a:t>
            </a:r>
            <a:r>
              <a:rPr lang="en-US" altLang="zh-CN" dirty="0"/>
              <a:t>PCR</a:t>
            </a:r>
            <a:r>
              <a:rPr lang="zh-CN" altLang="en-US" dirty="0"/>
              <a:t>复位（如果允许复位操作的话）或者扩展其他的值。</a:t>
            </a:r>
          </a:p>
        </p:txBody>
      </p:sp>
      <p:sp>
        <p:nvSpPr>
          <p:cNvPr id="4" name="灯片编号占位符 3">
            <a:extLst>
              <a:ext uri="{FF2B5EF4-FFF2-40B4-BE49-F238E27FC236}">
                <a16:creationId xmlns:a16="http://schemas.microsoft.com/office/drawing/2014/main" id="{891D73B5-E403-C0FD-4B53-638802F2984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Tree>
    <p:extLst>
      <p:ext uri="{BB962C8B-B14F-4D97-AF65-F5344CB8AC3E}">
        <p14:creationId xmlns:p14="http://schemas.microsoft.com/office/powerpoint/2010/main" val="3890272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E15F2E-9AC6-944B-86F6-4622B1DC85D0}"/>
              </a:ext>
            </a:extLst>
          </p:cNvPr>
          <p:cNvSpPr>
            <a:spLocks noGrp="1"/>
          </p:cNvSpPr>
          <p:nvPr>
            <p:ph type="title"/>
          </p:nvPr>
        </p:nvSpPr>
        <p:spPr/>
        <p:txBody>
          <a:bodyPr/>
          <a:lstStyle/>
          <a:p>
            <a:r>
              <a:rPr lang="en-US" altLang="zh-CN" dirty="0"/>
              <a:t>PCR</a:t>
            </a:r>
            <a:r>
              <a:rPr lang="zh-CN" altLang="en-US" dirty="0"/>
              <a:t>用于认证</a:t>
            </a:r>
          </a:p>
        </p:txBody>
      </p:sp>
      <p:sp>
        <p:nvSpPr>
          <p:cNvPr id="3" name="内容占位符 2">
            <a:extLst>
              <a:ext uri="{FF2B5EF4-FFF2-40B4-BE49-F238E27FC236}">
                <a16:creationId xmlns:a16="http://schemas.microsoft.com/office/drawing/2014/main" id="{F291F49D-3063-0B13-C9C4-3D4B0ECEA6F6}"/>
              </a:ext>
            </a:extLst>
          </p:cNvPr>
          <p:cNvSpPr>
            <a:spLocks noGrp="1"/>
          </p:cNvSpPr>
          <p:nvPr>
            <p:ph idx="1"/>
          </p:nvPr>
        </p:nvSpPr>
        <p:spPr/>
        <p:txBody>
          <a:bodyPr/>
          <a:lstStyle/>
          <a:p>
            <a:r>
              <a:rPr lang="en-US" altLang="zh-CN" dirty="0"/>
              <a:t>PCR</a:t>
            </a:r>
            <a:r>
              <a:rPr lang="zh-CN" altLang="en-US" dirty="0"/>
              <a:t>用于认证是一种高级的应用案例。在没有</a:t>
            </a:r>
            <a:r>
              <a:rPr lang="en-US" altLang="zh-CN" dirty="0"/>
              <a:t>TPM</a:t>
            </a:r>
            <a:r>
              <a:rPr lang="zh-CN" altLang="en-US" dirty="0"/>
              <a:t>的平台上，远程应用软件通常不能决定平台软件的状态。如果平台软件状态是通过软件来报告的，一旦这个软件被攻击，它就可以欺骗远程应用软件。</a:t>
            </a:r>
            <a:endParaRPr lang="en-US" altLang="zh-CN" dirty="0"/>
          </a:p>
          <a:p>
            <a:r>
              <a:rPr lang="en-US" altLang="zh-CN" dirty="0"/>
              <a:t>TPM</a:t>
            </a:r>
            <a:r>
              <a:rPr lang="zh-CN" altLang="en-US" dirty="0"/>
              <a:t>认证功能为软件状态提供基于密码学的证据。回想一下，我们曾今介绍过，大部分的</a:t>
            </a:r>
            <a:r>
              <a:rPr lang="en-US" altLang="zh-CN" dirty="0"/>
              <a:t>PCR</a:t>
            </a:r>
            <a:r>
              <a:rPr lang="zh-CN" altLang="en-US" dirty="0"/>
              <a:t>（除去</a:t>
            </a:r>
            <a:r>
              <a:rPr lang="en-US" altLang="zh-CN" dirty="0"/>
              <a:t>debug PCR</a:t>
            </a:r>
            <a:r>
              <a:rPr lang="zh-CN" altLang="en-US" dirty="0"/>
              <a:t>）中的测量状态是不能被撤销的。具体来说就是</a:t>
            </a:r>
            <a:r>
              <a:rPr lang="en-US" altLang="zh-CN" dirty="0"/>
              <a:t>PCR</a:t>
            </a:r>
            <a:r>
              <a:rPr lang="zh-CN" altLang="en-US" dirty="0"/>
              <a:t>不能被撤回到曾经的某一个值。认证的过程就是一个</a:t>
            </a:r>
            <a:r>
              <a:rPr lang="en-US" altLang="zh-CN" dirty="0"/>
              <a:t>TPM</a:t>
            </a:r>
            <a:r>
              <a:rPr lang="zh-CN" altLang="en-US" dirty="0"/>
              <a:t>引用证实（</a:t>
            </a:r>
            <a:r>
              <a:rPr lang="en-US" altLang="zh-CN" dirty="0"/>
              <a:t>Quote</a:t>
            </a:r>
            <a:r>
              <a:rPr lang="zh-CN" altLang="en-US" dirty="0"/>
              <a:t>）操作：将一组</a:t>
            </a:r>
            <a:r>
              <a:rPr lang="en-US" altLang="zh-CN" dirty="0"/>
              <a:t>PCR</a:t>
            </a:r>
            <a:r>
              <a:rPr lang="zh-CN" altLang="en-US" dirty="0"/>
              <a:t>的值做哈希，然后使用</a:t>
            </a:r>
            <a:r>
              <a:rPr lang="en-US" altLang="zh-CN" dirty="0"/>
              <a:t>TPM</a:t>
            </a:r>
            <a:r>
              <a:rPr lang="zh-CN" altLang="en-US" dirty="0"/>
              <a:t>密钥对哈希进行签名。如果远程一方可以验证这个用于签名的密钥确实来自一个真实的</a:t>
            </a:r>
            <a:r>
              <a:rPr lang="en-US" altLang="zh-CN" dirty="0"/>
              <a:t>TPM</a:t>
            </a:r>
            <a:r>
              <a:rPr lang="zh-CN" altLang="en-US" dirty="0"/>
              <a:t>，那就可以确认平台报告的</a:t>
            </a:r>
            <a:r>
              <a:rPr lang="en-US" altLang="zh-CN" dirty="0"/>
              <a:t>PCR</a:t>
            </a:r>
            <a:r>
              <a:rPr lang="zh-CN" altLang="en-US" dirty="0"/>
              <a:t>摘要没有被篡改过。在这个过程中，仅仅验证签名和签名密钥的证书是不够的。远程的一方接下来还要验证</a:t>
            </a:r>
            <a:r>
              <a:rPr lang="en-US" altLang="zh-CN" dirty="0"/>
              <a:t>PCR</a:t>
            </a:r>
            <a:r>
              <a:rPr lang="zh-CN" altLang="en-US" dirty="0"/>
              <a:t>的</a:t>
            </a:r>
            <a:r>
              <a:rPr lang="zh-CN" altLang="en-US"/>
              <a:t>摘要值是否能</a:t>
            </a:r>
            <a:r>
              <a:rPr lang="zh-CN" altLang="en-US" dirty="0"/>
              <a:t>与报告的</a:t>
            </a:r>
            <a:r>
              <a:rPr lang="en-US" altLang="zh-CN" dirty="0"/>
              <a:t>PCR</a:t>
            </a:r>
            <a:r>
              <a:rPr lang="zh-CN" altLang="en-US" dirty="0"/>
              <a:t>匹配。</a:t>
            </a:r>
          </a:p>
        </p:txBody>
      </p:sp>
      <p:sp>
        <p:nvSpPr>
          <p:cNvPr id="4" name="灯片编号占位符 3">
            <a:extLst>
              <a:ext uri="{FF2B5EF4-FFF2-40B4-BE49-F238E27FC236}">
                <a16:creationId xmlns:a16="http://schemas.microsoft.com/office/drawing/2014/main" id="{623A3D07-3E2E-2C71-B09F-BFC395B50F7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Tree>
    <p:extLst>
      <p:ext uri="{BB962C8B-B14F-4D97-AF65-F5344CB8AC3E}">
        <p14:creationId xmlns:p14="http://schemas.microsoft.com/office/powerpoint/2010/main" val="23808627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5B500-6AC1-BD89-1BAE-22D551E4689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83AD2F2-26B7-59B2-4D5F-9FEF3811755F}"/>
              </a:ext>
            </a:extLst>
          </p:cNvPr>
          <p:cNvSpPr>
            <a:spLocks noGrp="1"/>
          </p:cNvSpPr>
          <p:nvPr>
            <p:ph idx="1"/>
          </p:nvPr>
        </p:nvSpPr>
        <p:spPr/>
        <p:txBody>
          <a:bodyPr/>
          <a:lstStyle/>
          <a:p>
            <a:r>
              <a:rPr lang="zh-CN" altLang="en-US" dirty="0"/>
              <a:t>远程的一方还要读取一个事件记录，记录包含很多测量过的软件等信息，以及所有的测量值。然后会执行类似于</a:t>
            </a:r>
            <a:r>
              <a:rPr lang="en-US" altLang="zh-CN" dirty="0"/>
              <a:t>PCR Extend</a:t>
            </a:r>
            <a:r>
              <a:rPr lang="zh-CN" altLang="en-US" dirty="0"/>
              <a:t>的操作得到最终的哈希值，然后与报告过来的</a:t>
            </a:r>
            <a:r>
              <a:rPr lang="en-US" altLang="zh-CN" dirty="0"/>
              <a:t>PCR</a:t>
            </a:r>
            <a:r>
              <a:rPr lang="zh-CN" altLang="en-US" dirty="0"/>
              <a:t>值比较。这些操作仍然不算难，它仅仅包含了一些数学计算。</a:t>
            </a:r>
            <a:endParaRPr lang="en-US" altLang="zh-CN" dirty="0"/>
          </a:p>
          <a:p>
            <a:r>
              <a:rPr lang="zh-CN" altLang="en-US" dirty="0"/>
              <a:t>远程软件通过一个</a:t>
            </a:r>
            <a:r>
              <a:rPr lang="en-US" altLang="zh-CN" dirty="0"/>
              <a:t>TPM</a:t>
            </a:r>
            <a:r>
              <a:rPr lang="zh-CN" altLang="en-US" dirty="0"/>
              <a:t>签名过的哈希值了解了平台的软件状态。现在它需要决定这个软件的状态是否是安全的。这时候它需要将测量的哈希值与一个白名单比较，这就潜在地需要和第三方软件提商合作。</a:t>
            </a:r>
            <a:r>
              <a:rPr lang="en-US" altLang="zh-CN" dirty="0">
                <a:solidFill>
                  <a:srgbClr val="FF0000"/>
                </a:solidFill>
              </a:rPr>
              <a:t>PCR</a:t>
            </a:r>
            <a:r>
              <a:rPr lang="zh-CN" altLang="en-US" dirty="0">
                <a:solidFill>
                  <a:srgbClr val="FF0000"/>
                </a:solidFill>
              </a:rPr>
              <a:t>仅仅提供一种可信的用于表示平台软件状态的方法。但是它们本身并不会做关于软件是否安全的判定。</a:t>
            </a:r>
          </a:p>
        </p:txBody>
      </p:sp>
      <p:sp>
        <p:nvSpPr>
          <p:cNvPr id="4" name="灯片编号占位符 3">
            <a:extLst>
              <a:ext uri="{FF2B5EF4-FFF2-40B4-BE49-F238E27FC236}">
                <a16:creationId xmlns:a16="http://schemas.microsoft.com/office/drawing/2014/main" id="{C3017F8A-A248-5915-3833-C81760BE67D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Tree>
    <p:extLst>
      <p:ext uri="{BB962C8B-B14F-4D97-AF65-F5344CB8AC3E}">
        <p14:creationId xmlns:p14="http://schemas.microsoft.com/office/powerpoint/2010/main" val="41604028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E5A7E-31F2-E44D-8E06-350CA1EE4E32}"/>
              </a:ext>
            </a:extLst>
          </p:cNvPr>
          <p:cNvSpPr>
            <a:spLocks noGrp="1"/>
          </p:cNvSpPr>
          <p:nvPr>
            <p:ph type="title"/>
          </p:nvPr>
        </p:nvSpPr>
        <p:spPr/>
        <p:txBody>
          <a:bodyPr/>
          <a:lstStyle/>
          <a:p>
            <a:r>
              <a:rPr lang="zh-CN" altLang="en-US" dirty="0"/>
              <a:t>引用（</a:t>
            </a:r>
            <a:r>
              <a:rPr lang="en-US" altLang="zh-CN" dirty="0"/>
              <a:t>Quote</a:t>
            </a:r>
            <a:r>
              <a:rPr lang="zh-CN" altLang="en-US" dirty="0"/>
              <a:t>）应用</a:t>
            </a:r>
          </a:p>
        </p:txBody>
      </p:sp>
      <p:sp>
        <p:nvSpPr>
          <p:cNvPr id="3" name="内容占位符 2">
            <a:extLst>
              <a:ext uri="{FF2B5EF4-FFF2-40B4-BE49-F238E27FC236}">
                <a16:creationId xmlns:a16="http://schemas.microsoft.com/office/drawing/2014/main" id="{3594F062-1F6E-3C4E-155B-F4D851DC5D84}"/>
              </a:ext>
            </a:extLst>
          </p:cNvPr>
          <p:cNvSpPr>
            <a:spLocks noGrp="1"/>
          </p:cNvSpPr>
          <p:nvPr>
            <p:ph idx="1"/>
          </p:nvPr>
        </p:nvSpPr>
        <p:spPr/>
        <p:txBody>
          <a:bodyPr/>
          <a:lstStyle/>
          <a:p>
            <a:r>
              <a:rPr lang="zh-CN" altLang="en-US" dirty="0"/>
              <a:t>一个网络设备想要决定是否允许客户端平台连接一个网络。它需要知道客户端平台上运行的软件是否安装了完整的软件补丁（</a:t>
            </a:r>
            <a:r>
              <a:rPr lang="en-US" altLang="zh-CN" dirty="0"/>
              <a:t>patch</a:t>
            </a:r>
            <a:r>
              <a:rPr lang="zh-CN" altLang="en-US" dirty="0"/>
              <a:t>）。此时网络设备就可以引用</a:t>
            </a:r>
            <a:r>
              <a:rPr lang="en-US" altLang="zh-CN" dirty="0"/>
              <a:t>TPM</a:t>
            </a:r>
            <a:r>
              <a:rPr lang="zh-CN" altLang="en-US" dirty="0"/>
              <a:t>的</a:t>
            </a:r>
            <a:r>
              <a:rPr lang="en-US" altLang="zh-CN" dirty="0"/>
              <a:t>PCR</a:t>
            </a:r>
            <a:r>
              <a:rPr lang="zh-CN" altLang="en-US" dirty="0"/>
              <a:t>，然后与一个打过补丁的软件模块的（哈希）白名单比较。如果平台是正常的，它就允许连接网络。如果不是，平台的网络连接将被路由到一个特殊的</a:t>
            </a:r>
            <a:r>
              <a:rPr lang="en-US" altLang="zh-CN" dirty="0"/>
              <a:t>patch</a:t>
            </a:r>
            <a:r>
              <a:rPr lang="zh-CN" altLang="en-US" dirty="0"/>
              <a:t>服务器，但是不能访问网络。</a:t>
            </a:r>
            <a:endParaRPr lang="en-US" altLang="zh-CN" dirty="0"/>
          </a:p>
          <a:p>
            <a:r>
              <a:rPr lang="zh-CN" altLang="en-US" dirty="0"/>
              <a:t>开源的</a:t>
            </a:r>
            <a:r>
              <a:rPr lang="en-US" altLang="zh-CN" dirty="0"/>
              <a:t>VPN</a:t>
            </a:r>
            <a:r>
              <a:rPr lang="zh-CN" altLang="en-US" dirty="0"/>
              <a:t>解决方案</a:t>
            </a:r>
            <a:r>
              <a:rPr lang="en-US" altLang="zh-CN" dirty="0" err="1"/>
              <a:t>StrongSwan</a:t>
            </a:r>
            <a:r>
              <a:rPr lang="zh-CN" altLang="en-US" dirty="0"/>
              <a:t>可以使用</a:t>
            </a:r>
            <a:r>
              <a:rPr lang="en-US" altLang="zh-CN" dirty="0"/>
              <a:t>TCG TNC</a:t>
            </a:r>
            <a:r>
              <a:rPr lang="zh-CN" altLang="en-US" dirty="0"/>
              <a:t>标准，从而结合</a:t>
            </a:r>
            <a:r>
              <a:rPr lang="en-US" altLang="zh-CN" dirty="0"/>
              <a:t>TPM</a:t>
            </a:r>
            <a:r>
              <a:rPr lang="zh-CN" altLang="en-US" dirty="0"/>
              <a:t>引用和一个策略为</a:t>
            </a:r>
            <a:r>
              <a:rPr lang="en-US" altLang="zh-CN" dirty="0"/>
              <a:t>VPN</a:t>
            </a:r>
            <a:r>
              <a:rPr lang="zh-CN" altLang="en-US" dirty="0"/>
              <a:t>的连接实施访问控制。</a:t>
            </a:r>
            <a:endParaRPr lang="en-US" altLang="zh-CN" dirty="0"/>
          </a:p>
          <a:p>
            <a:pPr marL="0" indent="0">
              <a:buNone/>
            </a:pPr>
            <a:r>
              <a:rPr lang="zh-CN" altLang="en-US" sz="2800" dirty="0">
                <a:solidFill>
                  <a:srgbClr val="FF0000"/>
                </a:solidFill>
              </a:rPr>
              <a:t>从上述方法可以看出，“引用”作为</a:t>
            </a:r>
            <a:r>
              <a:rPr lang="en-US" altLang="zh-CN" sz="2800" dirty="0">
                <a:solidFill>
                  <a:srgbClr val="FF0000"/>
                </a:solidFill>
              </a:rPr>
              <a:t>TPM</a:t>
            </a:r>
            <a:r>
              <a:rPr lang="zh-CN" altLang="en-US" sz="2800" dirty="0">
                <a:solidFill>
                  <a:srgbClr val="FF0000"/>
                </a:solidFill>
              </a:rPr>
              <a:t>提供的一个安全特性，可以和其他安全手段结合起来，实现更加完善和安全的网络访问。</a:t>
            </a:r>
          </a:p>
        </p:txBody>
      </p:sp>
      <p:sp>
        <p:nvSpPr>
          <p:cNvPr id="4" name="灯片编号占位符 3">
            <a:extLst>
              <a:ext uri="{FF2B5EF4-FFF2-40B4-BE49-F238E27FC236}">
                <a16:creationId xmlns:a16="http://schemas.microsoft.com/office/drawing/2014/main" id="{355E23A5-08D7-430E-4994-E317059F6F7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60</a:t>
            </a:fld>
            <a:endParaRPr lang="en-US" altLang="zh-CN"/>
          </a:p>
        </p:txBody>
      </p:sp>
    </p:spTree>
    <p:extLst>
      <p:ext uri="{BB962C8B-B14F-4D97-AF65-F5344CB8AC3E}">
        <p14:creationId xmlns:p14="http://schemas.microsoft.com/office/powerpoint/2010/main" val="13851119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81FFFC-D167-80F6-C002-7C69042A9875}"/>
              </a:ext>
            </a:extLst>
          </p:cNvPr>
          <p:cNvSpPr>
            <a:spLocks noGrp="1"/>
          </p:cNvSpPr>
          <p:nvPr>
            <p:ph type="title"/>
          </p:nvPr>
        </p:nvSpPr>
        <p:spPr/>
        <p:txBody>
          <a:bodyPr/>
          <a:lstStyle/>
          <a:p>
            <a:r>
              <a:rPr lang="en-US" altLang="zh-CN" dirty="0"/>
              <a:t>PCR</a:t>
            </a:r>
            <a:r>
              <a:rPr lang="zh-CN" altLang="en-US" dirty="0"/>
              <a:t>引用详解</a:t>
            </a:r>
          </a:p>
        </p:txBody>
      </p:sp>
      <p:sp>
        <p:nvSpPr>
          <p:cNvPr id="3" name="内容占位符 2">
            <a:extLst>
              <a:ext uri="{FF2B5EF4-FFF2-40B4-BE49-F238E27FC236}">
                <a16:creationId xmlns:a16="http://schemas.microsoft.com/office/drawing/2014/main" id="{D4C9DCD0-AB59-7905-7A01-6E87F3A09F12}"/>
              </a:ext>
            </a:extLst>
          </p:cNvPr>
          <p:cNvSpPr>
            <a:spLocks noGrp="1"/>
          </p:cNvSpPr>
          <p:nvPr>
            <p:ph idx="1"/>
          </p:nvPr>
        </p:nvSpPr>
        <p:spPr/>
        <p:txBody>
          <a:bodyPr/>
          <a:lstStyle/>
          <a:p>
            <a:r>
              <a:rPr lang="zh-CN" altLang="en-US" dirty="0"/>
              <a:t>引用的数据结构</a:t>
            </a:r>
            <a:endParaRPr lang="en-US" altLang="zh-CN" dirty="0"/>
          </a:p>
          <a:p>
            <a:r>
              <a:rPr lang="zh-CN" altLang="en-US" dirty="0"/>
              <a:t>魔数</a:t>
            </a:r>
            <a:r>
              <a:rPr lang="en-US" altLang="zh-CN" dirty="0"/>
              <a:t>--TPM_GENERATED</a:t>
            </a:r>
            <a:r>
              <a:rPr lang="zh-CN" altLang="en-US" dirty="0"/>
              <a:t>：这可以阻止攻击者使用限制性的签名密钥对任意数据进行签名，然后声称这是一个</a:t>
            </a:r>
            <a:r>
              <a:rPr lang="en-US" altLang="zh-CN" dirty="0"/>
              <a:t>TPM</a:t>
            </a:r>
            <a:r>
              <a:rPr lang="zh-CN" altLang="en-US" dirty="0"/>
              <a:t>引用操作。</a:t>
            </a:r>
          </a:p>
          <a:p>
            <a:r>
              <a:rPr lang="zh-CN" altLang="en-US" dirty="0"/>
              <a:t>签名密钥的标识名称：尽管密钥的强度可能很大，但是却可能由算法较弱的父密钥保护。标识名称代表密钥的整个父辈密钥。</a:t>
            </a:r>
            <a:endParaRPr lang="en-US" altLang="zh-CN" dirty="0"/>
          </a:p>
          <a:p>
            <a:endParaRPr lang="zh-CN" altLang="en-US" dirty="0"/>
          </a:p>
          <a:p>
            <a:endParaRPr lang="zh-CN" altLang="en-US" dirty="0"/>
          </a:p>
        </p:txBody>
      </p:sp>
      <p:sp>
        <p:nvSpPr>
          <p:cNvPr id="4" name="灯片编号占位符 3">
            <a:extLst>
              <a:ext uri="{FF2B5EF4-FFF2-40B4-BE49-F238E27FC236}">
                <a16:creationId xmlns:a16="http://schemas.microsoft.com/office/drawing/2014/main" id="{BA5C6469-E03A-F390-33E3-C0CA3245833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61</a:t>
            </a:fld>
            <a:endParaRPr lang="en-US" altLang="zh-CN"/>
          </a:p>
        </p:txBody>
      </p:sp>
    </p:spTree>
    <p:extLst>
      <p:ext uri="{BB962C8B-B14F-4D97-AF65-F5344CB8AC3E}">
        <p14:creationId xmlns:p14="http://schemas.microsoft.com/office/powerpoint/2010/main" val="18713909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AF6A8C-44A5-CE7B-9670-BB4BD0C42A2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894B5EC-EE74-8D4E-FDE4-B3A1051ADDDE}"/>
              </a:ext>
            </a:extLst>
          </p:cNvPr>
          <p:cNvSpPr>
            <a:spLocks noGrp="1"/>
          </p:cNvSpPr>
          <p:nvPr>
            <p:ph idx="1"/>
          </p:nvPr>
        </p:nvSpPr>
        <p:spPr/>
        <p:txBody>
          <a:bodyPr/>
          <a:lstStyle/>
          <a:p>
            <a:r>
              <a:rPr lang="zh-CN" altLang="en-US" dirty="0"/>
              <a:t>由调用者提供的数据：该数据通常是抗重放攻击的随机数。这个随机数证明了该引用是最新的。</a:t>
            </a:r>
          </a:p>
          <a:p>
            <a:r>
              <a:rPr lang="en-US" altLang="zh-CN" dirty="0"/>
              <a:t>TPM</a:t>
            </a:r>
            <a:r>
              <a:rPr lang="zh-CN" altLang="en-US" dirty="0"/>
              <a:t>固件版本：包含在结构体中，以便验证者可以决定是否信任特定的</a:t>
            </a:r>
            <a:r>
              <a:rPr lang="en-US" altLang="zh-CN" dirty="0"/>
              <a:t>TPM</a:t>
            </a:r>
            <a:r>
              <a:rPr lang="zh-CN" altLang="en-US" dirty="0"/>
              <a:t>代码版本。</a:t>
            </a:r>
            <a:endParaRPr lang="en-US" altLang="zh-CN" dirty="0"/>
          </a:p>
          <a:p>
            <a:r>
              <a:rPr lang="en-US" altLang="zh-CN" dirty="0"/>
              <a:t>TPM</a:t>
            </a:r>
            <a:r>
              <a:rPr lang="zh-CN" altLang="en-US" dirty="0"/>
              <a:t>时钟状态：</a:t>
            </a:r>
            <a:r>
              <a:rPr lang="en-US" altLang="zh-CN" dirty="0" err="1"/>
              <a:t>resetCount</a:t>
            </a:r>
            <a:r>
              <a:rPr lang="zh-CN" altLang="en-US" dirty="0"/>
              <a:t>对于下一个应用案例很重要。当使用背书组织架构之外的密钥签名时，时钟信息会被混淆的。基于隐私保护的考虑，时钟信息被非背书组织架构下的密钥签名时，需要做混淆处理。因为认证申请者只需要知道</a:t>
            </a:r>
            <a:r>
              <a:rPr lang="en-US" altLang="zh-CN" dirty="0" err="1"/>
              <a:t>resetCount</a:t>
            </a:r>
            <a:r>
              <a:rPr lang="zh-CN" altLang="en-US" dirty="0"/>
              <a:t>是否已经改变，而不需要读具体的值。</a:t>
            </a:r>
          </a:p>
        </p:txBody>
      </p:sp>
      <p:sp>
        <p:nvSpPr>
          <p:cNvPr id="4" name="灯片编号占位符 3">
            <a:extLst>
              <a:ext uri="{FF2B5EF4-FFF2-40B4-BE49-F238E27FC236}">
                <a16:creationId xmlns:a16="http://schemas.microsoft.com/office/drawing/2014/main" id="{0FB4EDDC-24AD-7AE6-D0C2-C94C1C91FEB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62</a:t>
            </a:fld>
            <a:endParaRPr lang="en-US" altLang="zh-CN"/>
          </a:p>
        </p:txBody>
      </p:sp>
    </p:spTree>
    <p:extLst>
      <p:ext uri="{BB962C8B-B14F-4D97-AF65-F5344CB8AC3E}">
        <p14:creationId xmlns:p14="http://schemas.microsoft.com/office/powerpoint/2010/main" val="36409216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C9457F-783D-42B7-DD74-B1745B120506}"/>
              </a:ext>
            </a:extLst>
          </p:cNvPr>
          <p:cNvSpPr>
            <a:spLocks noGrp="1"/>
          </p:cNvSpPr>
          <p:nvPr>
            <p:ph type="title"/>
          </p:nvPr>
        </p:nvSpPr>
        <p:spPr/>
        <p:txBody>
          <a:bodyPr/>
          <a:lstStyle/>
          <a:p>
            <a:r>
              <a:rPr lang="zh-CN" altLang="en-US" dirty="0"/>
              <a:t>案例：检测交易过程中的重启</a:t>
            </a:r>
          </a:p>
        </p:txBody>
      </p:sp>
      <p:sp>
        <p:nvSpPr>
          <p:cNvPr id="3" name="内容占位符 2">
            <a:extLst>
              <a:ext uri="{FF2B5EF4-FFF2-40B4-BE49-F238E27FC236}">
                <a16:creationId xmlns:a16="http://schemas.microsoft.com/office/drawing/2014/main" id="{375DF8FF-9073-1E3C-5F95-73065C633BA8}"/>
              </a:ext>
            </a:extLst>
          </p:cNvPr>
          <p:cNvSpPr>
            <a:spLocks noGrp="1"/>
          </p:cNvSpPr>
          <p:nvPr>
            <p:ph idx="1"/>
          </p:nvPr>
        </p:nvSpPr>
        <p:spPr/>
        <p:txBody>
          <a:bodyPr/>
          <a:lstStyle/>
          <a:p>
            <a:r>
              <a:rPr lang="zh-CN" altLang="en-US" dirty="0"/>
              <a:t>一个正在进行金融交易的平台，监控设备每</a:t>
            </a:r>
            <a:r>
              <a:rPr lang="en-US" altLang="zh-CN" dirty="0"/>
              <a:t>15</a:t>
            </a:r>
            <a:r>
              <a:rPr lang="zh-CN" altLang="en-US" dirty="0"/>
              <a:t>分钟执行一次引用操作，以检测平台软件状态的变化。然后攻击者潜伏在引用操作执行中，重新启动平台至受破坏的软件，执行未经授权的交易，然后再次重新启动平台使之回到受信任状态，下一次正常的引用操作将显示相同的可信</a:t>
            </a:r>
            <a:r>
              <a:rPr lang="en-US" altLang="zh-CN" dirty="0"/>
              <a:t>PCR</a:t>
            </a:r>
            <a:r>
              <a:rPr lang="zh-CN" altLang="en-US" dirty="0"/>
              <a:t>值。但是，</a:t>
            </a:r>
            <a:r>
              <a:rPr lang="en-US" altLang="zh-CN" dirty="0" err="1"/>
              <a:t>resetCount</a:t>
            </a:r>
            <a:r>
              <a:rPr lang="zh-CN" altLang="en-US" dirty="0"/>
              <a:t>能够检测到重启的发生，并且会（通过</a:t>
            </a:r>
            <a:r>
              <a:rPr lang="en-US" altLang="zh-CN" dirty="0"/>
              <a:t>Quote</a:t>
            </a:r>
            <a:r>
              <a:rPr lang="zh-CN" altLang="en-US" dirty="0"/>
              <a:t>）报告给监听软件。</a:t>
            </a:r>
          </a:p>
        </p:txBody>
      </p:sp>
      <p:sp>
        <p:nvSpPr>
          <p:cNvPr id="4" name="灯片编号占位符 3">
            <a:extLst>
              <a:ext uri="{FF2B5EF4-FFF2-40B4-BE49-F238E27FC236}">
                <a16:creationId xmlns:a16="http://schemas.microsoft.com/office/drawing/2014/main" id="{23D6831A-AF16-D674-3721-CC5AF62E9BC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63</a:t>
            </a:fld>
            <a:endParaRPr lang="en-US" altLang="zh-CN"/>
          </a:p>
        </p:txBody>
      </p:sp>
    </p:spTree>
    <p:extLst>
      <p:ext uri="{BB962C8B-B14F-4D97-AF65-F5344CB8AC3E}">
        <p14:creationId xmlns:p14="http://schemas.microsoft.com/office/powerpoint/2010/main" val="2775973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D937E-B560-22E8-9CAD-D0C1322A0068}"/>
              </a:ext>
            </a:extLst>
          </p:cNvPr>
          <p:cNvSpPr>
            <a:spLocks noGrp="1"/>
          </p:cNvSpPr>
          <p:nvPr>
            <p:ph type="title"/>
          </p:nvPr>
        </p:nvSpPr>
        <p:spPr/>
        <p:txBody>
          <a:bodyPr/>
          <a:lstStyle/>
          <a:p>
            <a:r>
              <a:rPr lang="en-US" altLang="zh-CN" dirty="0"/>
              <a:t>PCR</a:t>
            </a:r>
            <a:r>
              <a:rPr lang="zh-CN" altLang="en-US" dirty="0"/>
              <a:t>属性</a:t>
            </a:r>
          </a:p>
        </p:txBody>
      </p:sp>
      <p:sp>
        <p:nvSpPr>
          <p:cNvPr id="3" name="内容占位符 2">
            <a:extLst>
              <a:ext uri="{FF2B5EF4-FFF2-40B4-BE49-F238E27FC236}">
                <a16:creationId xmlns:a16="http://schemas.microsoft.com/office/drawing/2014/main" id="{722FBB6E-7BC8-F21E-F84F-331516EF9C2C}"/>
              </a:ext>
            </a:extLst>
          </p:cNvPr>
          <p:cNvSpPr>
            <a:spLocks noGrp="1"/>
          </p:cNvSpPr>
          <p:nvPr>
            <p:ph idx="1"/>
          </p:nvPr>
        </p:nvSpPr>
        <p:spPr/>
        <p:txBody>
          <a:bodyPr/>
          <a:lstStyle/>
          <a:p>
            <a:r>
              <a:rPr lang="zh-CN" altLang="en-US" dirty="0"/>
              <a:t>每个</a:t>
            </a:r>
            <a:r>
              <a:rPr lang="en-US" altLang="zh-CN" dirty="0"/>
              <a:t>PCR</a:t>
            </a:r>
            <a:r>
              <a:rPr lang="zh-CN" altLang="en-US" dirty="0"/>
              <a:t>都具备一些属性。</a:t>
            </a:r>
            <a:r>
              <a:rPr lang="en-US" altLang="zh-CN" dirty="0"/>
              <a:t>TPM</a:t>
            </a:r>
            <a:r>
              <a:rPr lang="zh-CN" altLang="en-US" dirty="0"/>
              <a:t>软件库规范定义了这些属性，但是平台相关的规范最终决定哪个</a:t>
            </a:r>
            <a:r>
              <a:rPr lang="en-US" altLang="zh-CN" dirty="0"/>
              <a:t>PCR</a:t>
            </a:r>
            <a:r>
              <a:rPr lang="zh-CN" altLang="en-US" dirty="0"/>
              <a:t>拥有什么样的属性。通常来说，大部分的</a:t>
            </a:r>
            <a:r>
              <a:rPr lang="en-US" altLang="zh-CN" dirty="0"/>
              <a:t>PCR</a:t>
            </a:r>
            <a:r>
              <a:rPr lang="zh-CN" altLang="en-US" dirty="0"/>
              <a:t>都按照惯例分配给不同的特定软件来使用，但是也有一少部分没有被分配，它们是留给应用软件使用的。</a:t>
            </a:r>
            <a:endParaRPr lang="en-US" altLang="zh-CN" dirty="0"/>
          </a:p>
          <a:p>
            <a:r>
              <a:rPr lang="en-US" altLang="zh-CN" dirty="0"/>
              <a:t>PCR</a:t>
            </a:r>
            <a:r>
              <a:rPr lang="zh-CN" altLang="en-US" dirty="0"/>
              <a:t>的</a:t>
            </a:r>
            <a:r>
              <a:rPr lang="en-US" altLang="zh-CN" dirty="0"/>
              <a:t>Reset</a:t>
            </a:r>
            <a:r>
              <a:rPr lang="zh-CN" altLang="en-US" dirty="0"/>
              <a:t>属性用于表示</a:t>
            </a:r>
            <a:r>
              <a:rPr lang="en-US" altLang="zh-CN" dirty="0"/>
              <a:t>PCR</a:t>
            </a:r>
            <a:r>
              <a:rPr lang="zh-CN" altLang="en-US" dirty="0"/>
              <a:t>的值是否可以通过</a:t>
            </a:r>
            <a:r>
              <a:rPr lang="en-US" altLang="zh-CN" dirty="0"/>
              <a:t>TPM2_PCR_Reset</a:t>
            </a:r>
            <a:r>
              <a:rPr lang="zh-CN" altLang="en-US" dirty="0"/>
              <a:t>命令复位。通常来说复位值是全</a:t>
            </a:r>
            <a:r>
              <a:rPr lang="en-US" altLang="zh-CN" dirty="0"/>
              <a:t>0</a:t>
            </a:r>
            <a:r>
              <a:rPr lang="zh-CN" altLang="en-US" dirty="0"/>
              <a:t>。大多数的</a:t>
            </a:r>
            <a:r>
              <a:rPr lang="en-US" altLang="zh-CN" dirty="0"/>
              <a:t>PCR</a:t>
            </a:r>
            <a:r>
              <a:rPr lang="zh-CN" altLang="en-US" dirty="0"/>
              <a:t>是不能被复位的，因为允许复位将可能导致恶意软件将</a:t>
            </a:r>
            <a:r>
              <a:rPr lang="en-US" altLang="zh-CN" dirty="0"/>
              <a:t>PCR</a:t>
            </a:r>
            <a:r>
              <a:rPr lang="zh-CN" altLang="en-US" dirty="0"/>
              <a:t>复位成一个已知的正常状态。有一些</a:t>
            </a:r>
            <a:r>
              <a:rPr lang="en-US" altLang="zh-CN" dirty="0"/>
              <a:t>PCR</a:t>
            </a:r>
            <a:r>
              <a:rPr lang="zh-CN" altLang="en-US" dirty="0"/>
              <a:t>只能在特定的位置下被复位。</a:t>
            </a:r>
          </a:p>
        </p:txBody>
      </p:sp>
      <p:sp>
        <p:nvSpPr>
          <p:cNvPr id="4" name="灯片编号占位符 3">
            <a:extLst>
              <a:ext uri="{FF2B5EF4-FFF2-40B4-BE49-F238E27FC236}">
                <a16:creationId xmlns:a16="http://schemas.microsoft.com/office/drawing/2014/main" id="{3743A972-08D1-A429-3887-D1F39C4496B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64</a:t>
            </a:fld>
            <a:endParaRPr lang="en-US" altLang="zh-CN"/>
          </a:p>
        </p:txBody>
      </p:sp>
    </p:spTree>
    <p:extLst>
      <p:ext uri="{BB962C8B-B14F-4D97-AF65-F5344CB8AC3E}">
        <p14:creationId xmlns:p14="http://schemas.microsoft.com/office/powerpoint/2010/main" val="3508912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E66D0-F5A4-AF10-89F1-CECB18F60D20}"/>
              </a:ext>
            </a:extLst>
          </p:cNvPr>
          <p:cNvSpPr>
            <a:spLocks noGrp="1"/>
          </p:cNvSpPr>
          <p:nvPr>
            <p:ph type="title"/>
          </p:nvPr>
        </p:nvSpPr>
        <p:spPr/>
        <p:txBody>
          <a:bodyPr/>
          <a:lstStyle/>
          <a:p>
            <a:r>
              <a:rPr lang="en-US" altLang="zh-CN" dirty="0"/>
              <a:t>PCR</a:t>
            </a:r>
            <a:r>
              <a:rPr lang="zh-CN" altLang="en-US" dirty="0"/>
              <a:t>属性</a:t>
            </a:r>
          </a:p>
        </p:txBody>
      </p:sp>
      <p:sp>
        <p:nvSpPr>
          <p:cNvPr id="3" name="内容占位符 2">
            <a:extLst>
              <a:ext uri="{FF2B5EF4-FFF2-40B4-BE49-F238E27FC236}">
                <a16:creationId xmlns:a16="http://schemas.microsoft.com/office/drawing/2014/main" id="{A97F5A2F-CD2E-501E-0530-0856A8EF9ED8}"/>
              </a:ext>
            </a:extLst>
          </p:cNvPr>
          <p:cNvSpPr>
            <a:spLocks noGrp="1"/>
          </p:cNvSpPr>
          <p:nvPr>
            <p:ph idx="1"/>
          </p:nvPr>
        </p:nvSpPr>
        <p:spPr/>
        <p:txBody>
          <a:bodyPr/>
          <a:lstStyle/>
          <a:p>
            <a:r>
              <a:rPr lang="en-US" altLang="zh-CN" dirty="0"/>
              <a:t>PCR</a:t>
            </a:r>
            <a:r>
              <a:rPr lang="zh-CN" altLang="en-US" dirty="0"/>
              <a:t>的</a:t>
            </a:r>
            <a:r>
              <a:rPr lang="en-US" altLang="zh-CN" dirty="0"/>
              <a:t>Extend</a:t>
            </a:r>
            <a:r>
              <a:rPr lang="zh-CN" altLang="en-US" dirty="0"/>
              <a:t>属性用于表示一个</a:t>
            </a:r>
            <a:r>
              <a:rPr lang="en-US" altLang="zh-CN" dirty="0"/>
              <a:t>PCR</a:t>
            </a:r>
            <a:r>
              <a:rPr lang="zh-CN" altLang="en-US" dirty="0"/>
              <a:t>是否可以通过</a:t>
            </a:r>
            <a:r>
              <a:rPr lang="en-US" altLang="zh-CN" dirty="0"/>
              <a:t>TPM2_PCR_Extend</a:t>
            </a:r>
            <a:r>
              <a:rPr lang="zh-CN" altLang="en-US" dirty="0"/>
              <a:t>或者</a:t>
            </a:r>
            <a:r>
              <a:rPr lang="en-US" altLang="zh-CN" dirty="0"/>
              <a:t>TPM2_PCR_Event</a:t>
            </a:r>
            <a:r>
              <a:rPr lang="zh-CN" altLang="en-US" dirty="0"/>
              <a:t>命令来扩展它的值。很显然，如果一个</a:t>
            </a:r>
            <a:r>
              <a:rPr lang="en-US" altLang="zh-CN" dirty="0"/>
              <a:t>PCR</a:t>
            </a:r>
            <a:r>
              <a:rPr lang="zh-CN" altLang="en-US" dirty="0"/>
              <a:t>不能被扩展，那这个</a:t>
            </a:r>
            <a:r>
              <a:rPr lang="en-US" altLang="zh-CN" dirty="0"/>
              <a:t>PCR</a:t>
            </a:r>
            <a:r>
              <a:rPr lang="zh-CN" altLang="en-US" dirty="0"/>
              <a:t>就是没有任何用处的，只是有一些</a:t>
            </a:r>
            <a:r>
              <a:rPr lang="en-US" altLang="zh-CN" dirty="0"/>
              <a:t>PCR</a:t>
            </a:r>
            <a:r>
              <a:rPr lang="zh-CN" altLang="en-US" dirty="0"/>
              <a:t>只能在某些特定的</a:t>
            </a:r>
            <a:r>
              <a:rPr lang="en-US" altLang="zh-CN" dirty="0"/>
              <a:t>Locality</a:t>
            </a:r>
            <a:r>
              <a:rPr lang="zh-CN" altLang="en-US" dirty="0"/>
              <a:t>下被扩展。</a:t>
            </a:r>
          </a:p>
          <a:p>
            <a:r>
              <a:rPr lang="zh-CN" altLang="en-US" dirty="0"/>
              <a:t>通过</a:t>
            </a:r>
            <a:r>
              <a:rPr lang="en-US" altLang="zh-CN" dirty="0"/>
              <a:t>DRTM</a:t>
            </a:r>
            <a:r>
              <a:rPr lang="zh-CN" altLang="en-US" dirty="0"/>
              <a:t>来复位</a:t>
            </a:r>
            <a:r>
              <a:rPr lang="en-US" altLang="zh-CN" dirty="0"/>
              <a:t>PCR</a:t>
            </a:r>
            <a:r>
              <a:rPr lang="zh-CN" altLang="en-US" dirty="0"/>
              <a:t>的属性。它表明一个</a:t>
            </a:r>
            <a:r>
              <a:rPr lang="en-US" altLang="zh-CN" dirty="0"/>
              <a:t>PCR</a:t>
            </a:r>
            <a:r>
              <a:rPr lang="zh-CN" altLang="en-US" dirty="0"/>
              <a:t>是否可以通过直接向</a:t>
            </a:r>
            <a:r>
              <a:rPr lang="en-US" altLang="zh-CN" dirty="0"/>
              <a:t>TPM</a:t>
            </a:r>
            <a:r>
              <a:rPr lang="zh-CN" altLang="en-US" dirty="0"/>
              <a:t>的接口写数据来扩展它的值，而不是通过正常的</a:t>
            </a:r>
            <a:r>
              <a:rPr lang="en-US" altLang="zh-CN" dirty="0"/>
              <a:t>TPM</a:t>
            </a:r>
            <a:r>
              <a:rPr lang="zh-CN" altLang="en-US" dirty="0"/>
              <a:t>命令格式。这个属性既是平台相关的，又和具体的</a:t>
            </a:r>
            <a:r>
              <a:rPr lang="en-US" altLang="zh-CN" dirty="0"/>
              <a:t>TPM</a:t>
            </a:r>
            <a:r>
              <a:rPr lang="zh-CN" altLang="en-US" dirty="0"/>
              <a:t>硬件接口相关。这个属性通常在不同的</a:t>
            </a:r>
            <a:r>
              <a:rPr lang="en-US" altLang="zh-CN" dirty="0"/>
              <a:t>Locality</a:t>
            </a:r>
            <a:r>
              <a:rPr lang="zh-CN" altLang="en-US" dirty="0"/>
              <a:t>下有不同的设置。</a:t>
            </a:r>
          </a:p>
          <a:p>
            <a:r>
              <a:rPr lang="zh-CN" altLang="en-US" dirty="0"/>
              <a:t>当系统重启后使用</a:t>
            </a:r>
            <a:r>
              <a:rPr lang="en-US" altLang="zh-CN" dirty="0"/>
              <a:t>CLEAR</a:t>
            </a:r>
            <a:r>
              <a:rPr lang="zh-CN" altLang="en-US" dirty="0"/>
              <a:t>参数执行</a:t>
            </a:r>
            <a:r>
              <a:rPr lang="en-US" altLang="zh-CN" dirty="0"/>
              <a:t>TPM2_Startup</a:t>
            </a:r>
            <a:r>
              <a:rPr lang="zh-CN" altLang="en-US" dirty="0"/>
              <a:t>命令时，所有的</a:t>
            </a:r>
            <a:r>
              <a:rPr lang="en-US" altLang="zh-CN" dirty="0"/>
              <a:t>PCR</a:t>
            </a:r>
            <a:r>
              <a:rPr lang="zh-CN" altLang="en-US" dirty="0"/>
              <a:t>会被复位。大多数的</a:t>
            </a:r>
            <a:r>
              <a:rPr lang="en-US" altLang="zh-CN" dirty="0"/>
              <a:t>PCR</a:t>
            </a:r>
            <a:r>
              <a:rPr lang="zh-CN" altLang="en-US" dirty="0"/>
              <a:t>值会被复位成</a:t>
            </a:r>
            <a:r>
              <a:rPr lang="en-US" altLang="zh-CN" dirty="0"/>
              <a:t>0</a:t>
            </a:r>
            <a:r>
              <a:rPr lang="zh-CN" altLang="en-US" dirty="0"/>
              <a:t>，但是有一些是不同的值，比如说全</a:t>
            </a:r>
            <a:r>
              <a:rPr lang="en-US" altLang="zh-CN" dirty="0"/>
              <a:t>1</a:t>
            </a:r>
            <a:r>
              <a:rPr lang="zh-CN" altLang="en-US" dirty="0"/>
              <a:t>或者与执行</a:t>
            </a:r>
            <a:r>
              <a:rPr lang="en-US" altLang="zh-CN" dirty="0"/>
              <a:t>startup</a:t>
            </a:r>
            <a:r>
              <a:rPr lang="zh-CN" altLang="en-US" dirty="0"/>
              <a:t>命令时的</a:t>
            </a:r>
            <a:r>
              <a:rPr lang="en-US" altLang="zh-CN" dirty="0"/>
              <a:t>Locality</a:t>
            </a:r>
            <a:r>
              <a:rPr lang="zh-CN" altLang="en-US" dirty="0"/>
              <a:t>有关系。</a:t>
            </a:r>
          </a:p>
        </p:txBody>
      </p:sp>
      <p:sp>
        <p:nvSpPr>
          <p:cNvPr id="4" name="灯片编号占位符 3">
            <a:extLst>
              <a:ext uri="{FF2B5EF4-FFF2-40B4-BE49-F238E27FC236}">
                <a16:creationId xmlns:a16="http://schemas.microsoft.com/office/drawing/2014/main" id="{218CD85D-77BF-E8BF-F203-FC2B3C2C434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65</a:t>
            </a:fld>
            <a:endParaRPr lang="en-US" altLang="zh-CN"/>
          </a:p>
        </p:txBody>
      </p:sp>
    </p:spTree>
    <p:extLst>
      <p:ext uri="{BB962C8B-B14F-4D97-AF65-F5344CB8AC3E}">
        <p14:creationId xmlns:p14="http://schemas.microsoft.com/office/powerpoint/2010/main" val="31595126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6A2400-F6DA-A88C-3DDC-9588430899A4}"/>
              </a:ext>
            </a:extLst>
          </p:cNvPr>
          <p:cNvSpPr>
            <a:spLocks noGrp="1"/>
          </p:cNvSpPr>
          <p:nvPr>
            <p:ph type="title"/>
          </p:nvPr>
        </p:nvSpPr>
        <p:spPr/>
        <p:txBody>
          <a:bodyPr/>
          <a:lstStyle/>
          <a:p>
            <a:r>
              <a:rPr lang="en-US" altLang="zh-CN" dirty="0"/>
              <a:t>PCR</a:t>
            </a:r>
            <a:r>
              <a:rPr lang="zh-CN" altLang="en-US" dirty="0"/>
              <a:t>属性</a:t>
            </a:r>
          </a:p>
        </p:txBody>
      </p:sp>
      <p:sp>
        <p:nvSpPr>
          <p:cNvPr id="3" name="内容占位符 2">
            <a:extLst>
              <a:ext uri="{FF2B5EF4-FFF2-40B4-BE49-F238E27FC236}">
                <a16:creationId xmlns:a16="http://schemas.microsoft.com/office/drawing/2014/main" id="{A181A98F-ECDE-0550-ABCC-4C74A355E927}"/>
              </a:ext>
            </a:extLst>
          </p:cNvPr>
          <p:cNvSpPr>
            <a:spLocks noGrp="1"/>
          </p:cNvSpPr>
          <p:nvPr>
            <p:ph idx="1"/>
          </p:nvPr>
        </p:nvSpPr>
        <p:spPr/>
        <p:txBody>
          <a:bodyPr/>
          <a:lstStyle/>
          <a:p>
            <a:r>
              <a:rPr lang="en-US" altLang="zh-CN" dirty="0"/>
              <a:t>No Increment</a:t>
            </a:r>
            <a:r>
              <a:rPr lang="zh-CN" altLang="en-US" dirty="0"/>
              <a:t>属性是与</a:t>
            </a:r>
            <a:r>
              <a:rPr lang="en-US" altLang="zh-CN" dirty="0"/>
              <a:t>TPM2_PolicyPCR</a:t>
            </a:r>
            <a:r>
              <a:rPr lang="zh-CN" altLang="en-US" dirty="0"/>
              <a:t>绑定的。将一个</a:t>
            </a:r>
            <a:r>
              <a:rPr lang="en-US" altLang="zh-CN" dirty="0"/>
              <a:t>Policy</a:t>
            </a:r>
            <a:r>
              <a:rPr lang="zh-CN" altLang="en-US" dirty="0"/>
              <a:t>与</a:t>
            </a:r>
            <a:r>
              <a:rPr lang="en-US" altLang="zh-CN" dirty="0"/>
              <a:t>PCR</a:t>
            </a:r>
            <a:r>
              <a:rPr lang="zh-CN" altLang="en-US" dirty="0"/>
              <a:t>进行绑定是一个立即断言。</a:t>
            </a:r>
            <a:endParaRPr lang="en-US" altLang="zh-CN" dirty="0"/>
          </a:p>
          <a:p>
            <a:r>
              <a:rPr lang="zh-CN" altLang="en-US" dirty="0"/>
              <a:t>执行</a:t>
            </a:r>
            <a:r>
              <a:rPr lang="en-US" altLang="zh-CN" dirty="0"/>
              <a:t>TPM2_PolicyPCR</a:t>
            </a:r>
            <a:r>
              <a:rPr lang="zh-CN" altLang="en-US" dirty="0"/>
              <a:t>命令时，</a:t>
            </a:r>
            <a:r>
              <a:rPr lang="en-US" altLang="zh-CN" dirty="0"/>
              <a:t>PCR</a:t>
            </a:r>
            <a:r>
              <a:rPr lang="zh-CN" altLang="en-US" dirty="0"/>
              <a:t>当前的值会被增加到</a:t>
            </a:r>
            <a:r>
              <a:rPr lang="en-US" altLang="zh-CN" dirty="0"/>
              <a:t>Policy</a:t>
            </a:r>
            <a:r>
              <a:rPr lang="zh-CN" altLang="en-US" dirty="0"/>
              <a:t>会话的摘要中。但是，一个</a:t>
            </a:r>
            <a:r>
              <a:rPr lang="en-US" altLang="zh-CN" dirty="0"/>
              <a:t>PCR</a:t>
            </a:r>
            <a:r>
              <a:rPr lang="zh-CN" altLang="en-US" dirty="0"/>
              <a:t>在这个立即断言（</a:t>
            </a:r>
            <a:r>
              <a:rPr lang="en-US" altLang="zh-CN" dirty="0" err="1"/>
              <a:t>PolicyPCR</a:t>
            </a:r>
            <a:r>
              <a:rPr lang="zh-CN" altLang="en-US" dirty="0"/>
              <a:t>命令）之后有可能被改变，“正常”情况下，这样就会导致这个</a:t>
            </a:r>
            <a:r>
              <a:rPr lang="en-US" altLang="zh-CN" dirty="0"/>
              <a:t>policy</a:t>
            </a:r>
            <a:r>
              <a:rPr lang="zh-CN" altLang="en-US" dirty="0"/>
              <a:t>会话无效。“无效”是通过一个用于记录</a:t>
            </a:r>
            <a:r>
              <a:rPr lang="en-US" altLang="zh-CN" dirty="0"/>
              <a:t>PCR</a:t>
            </a:r>
            <a:r>
              <a:rPr lang="zh-CN" altLang="en-US" dirty="0"/>
              <a:t>值变化的计数器来实现的。</a:t>
            </a:r>
            <a:r>
              <a:rPr lang="en-US" altLang="zh-CN" dirty="0"/>
              <a:t>Policy</a:t>
            </a:r>
            <a:r>
              <a:rPr lang="zh-CN" altLang="en-US" dirty="0"/>
              <a:t>会话会记录执行</a:t>
            </a:r>
            <a:r>
              <a:rPr lang="en-US" altLang="zh-CN" dirty="0"/>
              <a:t>TPM2_PolicyPCR</a:t>
            </a:r>
            <a:r>
              <a:rPr lang="zh-CN" altLang="en-US" dirty="0"/>
              <a:t>命令时的计数值，然后在使用这个</a:t>
            </a:r>
            <a:r>
              <a:rPr lang="en-US" altLang="zh-CN" dirty="0"/>
              <a:t>policy</a:t>
            </a:r>
            <a:r>
              <a:rPr lang="zh-CN" altLang="en-US" dirty="0"/>
              <a:t>会话时检查它。如果计数值不相等，</a:t>
            </a:r>
            <a:r>
              <a:rPr lang="en-US" altLang="zh-CN" dirty="0"/>
              <a:t>TPM</a:t>
            </a:r>
            <a:r>
              <a:rPr lang="zh-CN" altLang="en-US" dirty="0"/>
              <a:t>就知道</a:t>
            </a:r>
            <a:r>
              <a:rPr lang="en-US" altLang="zh-CN" dirty="0"/>
              <a:t>PCR</a:t>
            </a:r>
            <a:r>
              <a:rPr lang="zh-CN" altLang="en-US" dirty="0"/>
              <a:t>的值已经改变了，</a:t>
            </a:r>
            <a:r>
              <a:rPr lang="en-US" altLang="zh-CN" dirty="0"/>
              <a:t>Policy</a:t>
            </a:r>
            <a:r>
              <a:rPr lang="zh-CN" altLang="en-US" dirty="0"/>
              <a:t>会话就会失败。</a:t>
            </a:r>
            <a:endParaRPr lang="en-US" altLang="zh-CN" dirty="0"/>
          </a:p>
          <a:p>
            <a:r>
              <a:rPr lang="zh-CN" altLang="en-US" dirty="0"/>
              <a:t>如果</a:t>
            </a:r>
            <a:r>
              <a:rPr lang="en-US" altLang="zh-CN" dirty="0"/>
              <a:t>No Increment</a:t>
            </a:r>
            <a:r>
              <a:rPr lang="zh-CN" altLang="en-US" dirty="0"/>
              <a:t>设置为真时，具有此属性的</a:t>
            </a:r>
            <a:r>
              <a:rPr lang="en-US" altLang="zh-CN" dirty="0"/>
              <a:t>PCR</a:t>
            </a:r>
            <a:r>
              <a:rPr lang="zh-CN" altLang="en-US" dirty="0"/>
              <a:t>改变时，不会增加计数值，因此不会使正在使用的策略会话无效。</a:t>
            </a:r>
          </a:p>
        </p:txBody>
      </p:sp>
      <p:sp>
        <p:nvSpPr>
          <p:cNvPr id="4" name="灯片编号占位符 3">
            <a:extLst>
              <a:ext uri="{FF2B5EF4-FFF2-40B4-BE49-F238E27FC236}">
                <a16:creationId xmlns:a16="http://schemas.microsoft.com/office/drawing/2014/main" id="{87A8A7AD-83CB-147E-BE70-5989B48A708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66</a:t>
            </a:fld>
            <a:endParaRPr lang="en-US" altLang="zh-CN"/>
          </a:p>
        </p:txBody>
      </p:sp>
    </p:spTree>
    <p:extLst>
      <p:ext uri="{BB962C8B-B14F-4D97-AF65-F5344CB8AC3E}">
        <p14:creationId xmlns:p14="http://schemas.microsoft.com/office/powerpoint/2010/main" val="8092804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F6942-1EC6-4D73-E247-1C0C5E56AE08}"/>
              </a:ext>
            </a:extLst>
          </p:cNvPr>
          <p:cNvSpPr>
            <a:spLocks noGrp="1"/>
          </p:cNvSpPr>
          <p:nvPr>
            <p:ph type="title"/>
          </p:nvPr>
        </p:nvSpPr>
        <p:spPr/>
        <p:txBody>
          <a:bodyPr/>
          <a:lstStyle/>
          <a:p>
            <a:r>
              <a:rPr lang="en-US" altLang="zh-CN" dirty="0"/>
              <a:t>PCR</a:t>
            </a:r>
            <a:r>
              <a:rPr lang="zh-CN" altLang="en-US" dirty="0"/>
              <a:t>算法</a:t>
            </a:r>
          </a:p>
        </p:txBody>
      </p:sp>
      <p:sp>
        <p:nvSpPr>
          <p:cNvPr id="3" name="内容占位符 2">
            <a:extLst>
              <a:ext uri="{FF2B5EF4-FFF2-40B4-BE49-F238E27FC236}">
                <a16:creationId xmlns:a16="http://schemas.microsoft.com/office/drawing/2014/main" id="{1757467C-D8E7-5659-0360-47EBC0DAAD34}"/>
              </a:ext>
            </a:extLst>
          </p:cNvPr>
          <p:cNvSpPr>
            <a:spLocks noGrp="1"/>
          </p:cNvSpPr>
          <p:nvPr>
            <p:ph idx="1"/>
          </p:nvPr>
        </p:nvSpPr>
        <p:spPr/>
        <p:txBody>
          <a:bodyPr/>
          <a:lstStyle/>
          <a:p>
            <a:r>
              <a:rPr lang="zh-CN" altLang="en-US" dirty="0"/>
              <a:t>促成</a:t>
            </a:r>
            <a:r>
              <a:rPr lang="en-US" altLang="zh-CN" dirty="0"/>
              <a:t>TPM2.0</a:t>
            </a:r>
            <a:r>
              <a:rPr lang="zh-CN" altLang="en-US" dirty="0"/>
              <a:t>的第一个需求就是去掉</a:t>
            </a:r>
            <a:r>
              <a:rPr lang="en-US" altLang="zh-CN" dirty="0"/>
              <a:t>TPM1.2</a:t>
            </a:r>
            <a:r>
              <a:rPr lang="zh-CN" altLang="en-US" dirty="0"/>
              <a:t>中固定的</a:t>
            </a:r>
            <a:r>
              <a:rPr lang="en-US" altLang="zh-CN" dirty="0"/>
              <a:t>SHA-1</a:t>
            </a:r>
            <a:r>
              <a:rPr lang="zh-CN" altLang="en-US" dirty="0"/>
              <a:t>哈希算法。因为</a:t>
            </a:r>
            <a:r>
              <a:rPr lang="en-US" altLang="zh-CN" dirty="0"/>
              <a:t>PCR</a:t>
            </a:r>
            <a:r>
              <a:rPr lang="zh-CN" altLang="en-US" dirty="0"/>
              <a:t>与哈希算法关系很紧密，</a:t>
            </a:r>
            <a:r>
              <a:rPr lang="en-US" altLang="zh-CN" dirty="0"/>
              <a:t>TPM2.0</a:t>
            </a:r>
            <a:r>
              <a:rPr lang="zh-CN" altLang="en-US" dirty="0"/>
              <a:t>通过</a:t>
            </a:r>
            <a:r>
              <a:rPr lang="en-US" altLang="zh-CN" dirty="0"/>
              <a:t>TPM2_PCR_Allocate</a:t>
            </a:r>
            <a:r>
              <a:rPr lang="zh-CN" altLang="en-US" dirty="0"/>
              <a:t>命令理论上为</a:t>
            </a:r>
            <a:r>
              <a:rPr lang="en-US" altLang="zh-CN" dirty="0"/>
              <a:t>PCR</a:t>
            </a:r>
            <a:r>
              <a:rPr lang="zh-CN" altLang="en-US" dirty="0"/>
              <a:t>提供了许多算法相关的可能性。</a:t>
            </a:r>
          </a:p>
          <a:p>
            <a:endParaRPr lang="zh-CN" altLang="en-US" dirty="0"/>
          </a:p>
          <a:p>
            <a:r>
              <a:rPr lang="zh-CN" altLang="en-US" dirty="0"/>
              <a:t>这里的关键词是“理论上”。</a:t>
            </a:r>
            <a:r>
              <a:rPr lang="en-US" altLang="zh-CN" dirty="0"/>
              <a:t>PCR</a:t>
            </a:r>
            <a:r>
              <a:rPr lang="zh-CN" altLang="en-US" dirty="0"/>
              <a:t>可以按照</a:t>
            </a:r>
            <a:r>
              <a:rPr lang="en-US" altLang="zh-CN" dirty="0"/>
              <a:t>bank</a:t>
            </a:r>
            <a:r>
              <a:rPr lang="zh-CN" altLang="en-US" dirty="0"/>
              <a:t>来分配，每一个</a:t>
            </a:r>
            <a:r>
              <a:rPr lang="en-US" altLang="zh-CN" dirty="0"/>
              <a:t>bank</a:t>
            </a:r>
            <a:r>
              <a:rPr lang="zh-CN" altLang="en-US" dirty="0"/>
              <a:t>对应一种哈希算法。这个命令允许</a:t>
            </a:r>
            <a:r>
              <a:rPr lang="en-US" altLang="zh-CN" dirty="0"/>
              <a:t>PCR</a:t>
            </a:r>
            <a:r>
              <a:rPr lang="zh-CN" altLang="en-US" dirty="0"/>
              <a:t>按照任意组合来分配，一个</a:t>
            </a:r>
            <a:r>
              <a:rPr lang="en-US" altLang="zh-CN" dirty="0"/>
              <a:t>PCR</a:t>
            </a:r>
            <a:r>
              <a:rPr lang="zh-CN" altLang="en-US" dirty="0"/>
              <a:t>可以被分配到多个</a:t>
            </a:r>
            <a:r>
              <a:rPr lang="en-US" altLang="zh-CN" dirty="0"/>
              <a:t>bank</a:t>
            </a:r>
            <a:r>
              <a:rPr lang="zh-CN" altLang="en-US" dirty="0"/>
              <a:t>中，并且可以有多种哈希算法。如果是具有多种算法，除去</a:t>
            </a:r>
            <a:r>
              <a:rPr lang="en-US" altLang="zh-CN" dirty="0"/>
              <a:t>PCR</a:t>
            </a:r>
            <a:r>
              <a:rPr lang="zh-CN" altLang="en-US" dirty="0"/>
              <a:t>索引和摘要值以外，</a:t>
            </a:r>
            <a:r>
              <a:rPr lang="en-US" altLang="zh-CN" dirty="0"/>
              <a:t>TPM2_Extend</a:t>
            </a:r>
            <a:r>
              <a:rPr lang="zh-CN" altLang="en-US" dirty="0"/>
              <a:t>命令还要提供哈希算法参数。如果输入的算法与</a:t>
            </a:r>
            <a:r>
              <a:rPr lang="en-US" altLang="zh-CN" dirty="0"/>
              <a:t>PCR</a:t>
            </a:r>
            <a:r>
              <a:rPr lang="zh-CN" altLang="en-US" dirty="0"/>
              <a:t>配置的所有算法都不匹配，这个命令将会被忽略。</a:t>
            </a:r>
          </a:p>
        </p:txBody>
      </p:sp>
      <p:sp>
        <p:nvSpPr>
          <p:cNvPr id="4" name="灯片编号占位符 3">
            <a:extLst>
              <a:ext uri="{FF2B5EF4-FFF2-40B4-BE49-F238E27FC236}">
                <a16:creationId xmlns:a16="http://schemas.microsoft.com/office/drawing/2014/main" id="{F12A0125-FB94-FB90-035A-852F3D9780C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67</a:t>
            </a:fld>
            <a:endParaRPr lang="en-US" altLang="zh-CN"/>
          </a:p>
        </p:txBody>
      </p:sp>
    </p:spTree>
    <p:extLst>
      <p:ext uri="{BB962C8B-B14F-4D97-AF65-F5344CB8AC3E}">
        <p14:creationId xmlns:p14="http://schemas.microsoft.com/office/powerpoint/2010/main" val="41418646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082581-9165-9870-F80E-126C7CFE975B}"/>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45482D94-8247-8696-4054-0F2527505832}"/>
              </a:ext>
            </a:extLst>
          </p:cNvPr>
          <p:cNvSpPr>
            <a:spLocks noGrp="1"/>
          </p:cNvSpPr>
          <p:nvPr>
            <p:ph idx="1"/>
          </p:nvPr>
        </p:nvSpPr>
        <p:spPr/>
        <p:txBody>
          <a:bodyPr/>
          <a:lstStyle/>
          <a:p>
            <a:r>
              <a:rPr lang="en-US" altLang="zh-CN" dirty="0"/>
              <a:t>PCR</a:t>
            </a:r>
            <a:r>
              <a:rPr lang="zh-CN" altLang="en-US" dirty="0"/>
              <a:t>有两个最基本的应用。通过一个签名的认证引用可以把</a:t>
            </a:r>
            <a:r>
              <a:rPr lang="en-US" altLang="zh-CN" dirty="0"/>
              <a:t>PCR</a:t>
            </a:r>
            <a:r>
              <a:rPr lang="zh-CN" altLang="en-US" dirty="0"/>
              <a:t>的值传递出去。据此可以判断平台的软件状态是否可信。</a:t>
            </a:r>
            <a:r>
              <a:rPr lang="en-US" altLang="zh-CN" dirty="0"/>
              <a:t>PCR</a:t>
            </a:r>
            <a:r>
              <a:rPr lang="zh-CN" altLang="en-US" dirty="0"/>
              <a:t>还可以用于策略，基于</a:t>
            </a:r>
            <a:r>
              <a:rPr lang="en-US" altLang="zh-CN" dirty="0"/>
              <a:t>PCR</a:t>
            </a:r>
            <a:r>
              <a:rPr lang="zh-CN" altLang="en-US" dirty="0"/>
              <a:t>的值来授权其他</a:t>
            </a:r>
            <a:r>
              <a:rPr lang="en-US" altLang="zh-CN" dirty="0"/>
              <a:t>TPM</a:t>
            </a:r>
            <a:r>
              <a:rPr lang="zh-CN" altLang="en-US" dirty="0"/>
              <a:t>对象的使用。相对于</a:t>
            </a:r>
            <a:r>
              <a:rPr lang="en-US" altLang="zh-CN" dirty="0"/>
              <a:t>TPM1.2</a:t>
            </a:r>
            <a:r>
              <a:rPr lang="zh-CN" altLang="en-US"/>
              <a:t>，</a:t>
            </a:r>
            <a:r>
              <a:rPr lang="en-US" altLang="zh-CN"/>
              <a:t>PCR</a:t>
            </a:r>
            <a:r>
              <a:rPr lang="zh-CN" altLang="en-US" dirty="0"/>
              <a:t>的算法被固定成</a:t>
            </a:r>
            <a:r>
              <a:rPr lang="en-US" altLang="zh-CN" dirty="0"/>
              <a:t>SHA-1</a:t>
            </a:r>
            <a:r>
              <a:rPr lang="zh-CN" altLang="en-US" dirty="0"/>
              <a:t>，</a:t>
            </a:r>
            <a:r>
              <a:rPr lang="en-US" altLang="zh-CN" dirty="0"/>
              <a:t>TPM2.0</a:t>
            </a:r>
            <a:r>
              <a:rPr lang="zh-CN" altLang="en-US" dirty="0"/>
              <a:t>做了改进，允许使用其他的哈希算法。</a:t>
            </a:r>
          </a:p>
        </p:txBody>
      </p:sp>
      <p:sp>
        <p:nvSpPr>
          <p:cNvPr id="4" name="灯片编号占位符 3">
            <a:extLst>
              <a:ext uri="{FF2B5EF4-FFF2-40B4-BE49-F238E27FC236}">
                <a16:creationId xmlns:a16="http://schemas.microsoft.com/office/drawing/2014/main" id="{AD66CF72-2FE6-04AE-F434-CC9708F1CC5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68</a:t>
            </a:fld>
            <a:endParaRPr lang="en-US" altLang="zh-CN"/>
          </a:p>
        </p:txBody>
      </p:sp>
    </p:spTree>
    <p:extLst>
      <p:ext uri="{BB962C8B-B14F-4D97-AF65-F5344CB8AC3E}">
        <p14:creationId xmlns:p14="http://schemas.microsoft.com/office/powerpoint/2010/main" val="33814752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8765</TotalTime>
  <Words>8067</Words>
  <Application>Microsoft Office PowerPoint</Application>
  <PresentationFormat>全屏显示(4:3)</PresentationFormat>
  <Paragraphs>314</Paragraphs>
  <Slides>69</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75" baseType="lpstr">
      <vt:lpstr>黑体</vt:lpstr>
      <vt:lpstr>Arial</vt:lpstr>
      <vt:lpstr>Times New Roman</vt:lpstr>
      <vt:lpstr>Wingdings</vt:lpstr>
      <vt:lpstr>默认设计模板</vt:lpstr>
      <vt:lpstr>剪辑</vt:lpstr>
      <vt:lpstr>PowerPoint 演示文稿</vt:lpstr>
      <vt:lpstr>TPM非易失性存储</vt:lpstr>
      <vt:lpstr>非易失性存储索引</vt:lpstr>
      <vt:lpstr>NV索引的访问控制</vt:lpstr>
      <vt:lpstr>NV索引数据类型</vt:lpstr>
      <vt:lpstr>一、普通索引</vt:lpstr>
      <vt:lpstr>案例1：存储秘密信息</vt:lpstr>
      <vt:lpstr>案例2：存储一个通用的口令</vt:lpstr>
      <vt:lpstr>存储通用口令相关命令</vt:lpstr>
      <vt:lpstr>案例3：存储证书</vt:lpstr>
      <vt:lpstr>存储证书命令</vt:lpstr>
      <vt:lpstr>案例4：存储密钥树根节点的公钥</vt:lpstr>
      <vt:lpstr>存储公钥命令</vt:lpstr>
      <vt:lpstr>验证签名操作</vt:lpstr>
      <vt:lpstr>案例5：存储一个HMAC密钥</vt:lpstr>
      <vt:lpstr>相关操作命令</vt:lpstr>
      <vt:lpstr> 二、NV计数器索引</vt:lpstr>
      <vt:lpstr>案例1：撤销一个密钥的访问权限</vt:lpstr>
      <vt:lpstr>密钥撤销命令</vt:lpstr>
      <vt:lpstr>NV位字段索引</vt:lpstr>
      <vt:lpstr>应用案例：撤销多用户的共享密钥</vt:lpstr>
      <vt:lpstr>相关命令</vt:lpstr>
      <vt:lpstr>NV扩展索引</vt:lpstr>
      <vt:lpstr>CA密钥使用的安全审计日志</vt:lpstr>
      <vt:lpstr>PowerPoint 演示文稿</vt:lpstr>
      <vt:lpstr>混合索引</vt:lpstr>
      <vt:lpstr>案例：增加PCR数量</vt:lpstr>
      <vt:lpstr>案例：构造不同属性的PCR</vt:lpstr>
      <vt:lpstr>操作命令</vt:lpstr>
      <vt:lpstr>NV索引访问控制</vt:lpstr>
      <vt:lpstr>NV写操作</vt:lpstr>
      <vt:lpstr>案例：单次写NV索引</vt:lpstr>
      <vt:lpstr>操作命令</vt:lpstr>
      <vt:lpstr>NV索引的句柄值</vt:lpstr>
      <vt:lpstr>NV名称</vt:lpstr>
      <vt:lpstr>NV索引名称作用案例</vt:lpstr>
      <vt:lpstr>PowerPoint 演示文稿</vt:lpstr>
      <vt:lpstr>NV口令</vt:lpstr>
      <vt:lpstr>NV索引写操作命令</vt:lpstr>
      <vt:lpstr>NV索引读操作命令</vt:lpstr>
      <vt:lpstr>NV索引锁定命令</vt:lpstr>
      <vt:lpstr>NV索引总结</vt:lpstr>
      <vt:lpstr>NV索引总结</vt:lpstr>
      <vt:lpstr>PCR</vt:lpstr>
      <vt:lpstr>PowerPoint 演示文稿</vt:lpstr>
      <vt:lpstr>平台配置寄存器PCR</vt:lpstr>
      <vt:lpstr>PowerPoint 演示文稿</vt:lpstr>
      <vt:lpstr>PCR的数量</vt:lpstr>
      <vt:lpstr>PCR命令</vt:lpstr>
      <vt:lpstr>PCR命令</vt:lpstr>
      <vt:lpstr>PCR主要应用---授权</vt:lpstr>
      <vt:lpstr>案例：根据平台状态密封密钥</vt:lpstr>
      <vt:lpstr>根据平台状态密封密钥</vt:lpstr>
      <vt:lpstr>根据平台状态密封密钥</vt:lpstr>
      <vt:lpstr>密封密钥操作步骤</vt:lpstr>
      <vt:lpstr>解封密钥</vt:lpstr>
      <vt:lpstr>PowerPoint 演示文稿</vt:lpstr>
      <vt:lpstr>PCR用于认证</vt:lpstr>
      <vt:lpstr>PowerPoint 演示文稿</vt:lpstr>
      <vt:lpstr>引用（Quote）应用</vt:lpstr>
      <vt:lpstr>PCR引用详解</vt:lpstr>
      <vt:lpstr>PowerPoint 演示文稿</vt:lpstr>
      <vt:lpstr>案例：检测交易过程中的重启</vt:lpstr>
      <vt:lpstr>PCR属性</vt:lpstr>
      <vt:lpstr>PCR属性</vt:lpstr>
      <vt:lpstr>PCR属性</vt:lpstr>
      <vt:lpstr>PCR算法</vt:lpstr>
      <vt:lpstr>总结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29</cp:revision>
  <cp:lastPrinted>1601-01-01T00:00:00Z</cp:lastPrinted>
  <dcterms:created xsi:type="dcterms:W3CDTF">1601-01-01T00:00:00Z</dcterms:created>
  <dcterms:modified xsi:type="dcterms:W3CDTF">2023-04-24T03:01:55Z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